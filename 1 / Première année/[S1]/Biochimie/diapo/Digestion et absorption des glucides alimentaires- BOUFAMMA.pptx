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 id="275" r:id="rId7"/>
    <p:sldId id="276" r:id="rId8"/>
    <p:sldId id="277" r:id="rId9"/>
    <p:sldId id="278" r:id="rId10"/>
    <p:sldId id="284" r:id="rId11"/>
    <p:sldId id="290" r:id="rId12"/>
    <p:sldId id="279" r:id="rId13"/>
    <p:sldId id="281" r:id="rId14"/>
    <p:sldId id="280" r:id="rId15"/>
    <p:sldId id="282" r:id="rId16"/>
    <p:sldId id="283" r:id="rId17"/>
    <p:sldId id="285" r:id="rId18"/>
    <p:sldId id="286" r:id="rId19"/>
    <p:sldId id="287" r:id="rId20"/>
    <p:sldId id="288" r:id="rId21"/>
    <p:sldId id="291" r:id="rId22"/>
    <p:sldId id="295" r:id="rId23"/>
    <p:sldId id="292" r:id="rId24"/>
    <p:sldId id="262" r:id="rId25"/>
    <p:sldId id="264" r:id="rId26"/>
    <p:sldId id="263" r:id="rId27"/>
    <p:sldId id="265" r:id="rId28"/>
    <p:sldId id="258" r:id="rId29"/>
    <p:sldId id="269" r:id="rId30"/>
    <p:sldId id="270" r:id="rId31"/>
    <p:sldId id="271" r:id="rId32"/>
    <p:sldId id="293" r:id="rId33"/>
    <p:sldId id="294" r:id="rId34"/>
    <p:sldId id="28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D2C8"/>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E269D01E-BC32-4049-B463-5C60D7B0CCD2}" styleName="Style à thème 2 - Accentuation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202B0CA-FC54-4496-8BCA-5EF66A818D29}" styleName="Style foncé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916" autoAdjust="0"/>
  </p:normalViewPr>
  <p:slideViewPr>
    <p:cSldViewPr snapToGrid="0">
      <p:cViewPr varScale="1">
        <p:scale>
          <a:sx n="98" d="100"/>
          <a:sy n="98" d="100"/>
        </p:scale>
        <p:origin x="1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781011C-7915-4CAA-9548-41D719A03ACB}" type="datetimeFigureOut">
              <a:rPr lang="fr-FR" smtClean="0"/>
              <a:t>19/01/2025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4012419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81011C-7915-4CAA-9548-41D719A03ACB}" type="datetimeFigureOut">
              <a:rPr lang="fr-FR" smtClean="0"/>
              <a:t>19/01/2025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2453800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81011C-7915-4CAA-9548-41D719A03ACB}" type="datetimeFigureOut">
              <a:rPr lang="fr-FR" smtClean="0"/>
              <a:t>19/01/2025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2828140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781011C-7915-4CAA-9548-41D719A03ACB}" type="datetimeFigureOut">
              <a:rPr lang="fr-FR" smtClean="0"/>
              <a:t>19/01/2025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2483962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781011C-7915-4CAA-9548-41D719A03ACB}" type="datetimeFigureOut">
              <a:rPr lang="fr-FR" smtClean="0"/>
              <a:t>19/01/2025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2289699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781011C-7915-4CAA-9548-41D719A03ACB}" type="datetimeFigureOut">
              <a:rPr lang="fr-FR" smtClean="0"/>
              <a:t>19/01/2025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1990507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1011C-7915-4CAA-9548-41D719A03ACB}" type="datetimeFigureOut">
              <a:rPr lang="fr-FR" smtClean="0"/>
              <a:t>19/01/2025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3643986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81011C-7915-4CAA-9548-41D719A03ACB}" type="datetimeFigureOut">
              <a:rPr lang="fr-FR" smtClean="0"/>
              <a:t>19/01/2025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3636217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81011C-7915-4CAA-9548-41D719A03ACB}" type="datetimeFigureOut">
              <a:rPr lang="fr-FR" smtClean="0"/>
              <a:t>19/01/2025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1466819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81011C-7915-4CAA-9548-41D719A03ACB}" type="datetimeFigureOut">
              <a:rPr lang="fr-FR" smtClean="0"/>
              <a:t>19/01/2025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1877285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81011C-7915-4CAA-9548-41D719A03ACB}" type="datetimeFigureOut">
              <a:rPr lang="fr-FR" smtClean="0"/>
              <a:t>19/01/2025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531C9A0-F6B2-4B29-8DD4-89ABA9EB41E5}"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2164670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81011C-7915-4CAA-9548-41D719A03ACB}" type="datetimeFigureOut">
              <a:rPr lang="fr-FR" smtClean="0"/>
              <a:t>19/01/2025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3842105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81011C-7915-4CAA-9548-41D719A03ACB}" type="datetimeFigureOut">
              <a:rPr lang="fr-FR" smtClean="0"/>
              <a:t>19/01/2025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531C9A0-F6B2-4B29-8DD4-89ABA9EB41E5}"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70833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81011C-7915-4CAA-9548-41D719A03ACB}" type="datetimeFigureOut">
              <a:rPr lang="fr-FR" smtClean="0"/>
              <a:t>19/01/2025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22294657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81011C-7915-4CAA-9548-41D719A03ACB}" type="datetimeFigureOut">
              <a:rPr lang="fr-FR" smtClean="0"/>
              <a:t>19/01/2025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269904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81011C-7915-4CAA-9548-41D719A03ACB}" type="datetimeFigureOut">
              <a:rPr lang="fr-FR" smtClean="0"/>
              <a:t>19/01/2025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531C9A0-F6B2-4B29-8DD4-89ABA9EB41E5}" type="slidenum">
              <a:rPr lang="fr-FR" smtClean="0"/>
              <a:t>‹N°›</a:t>
            </a:fld>
            <a:endParaRPr lang="fr-FR"/>
          </a:p>
        </p:txBody>
      </p:sp>
    </p:spTree>
    <p:extLst>
      <p:ext uri="{BB962C8B-B14F-4D97-AF65-F5344CB8AC3E}">
        <p14:creationId xmlns:p14="http://schemas.microsoft.com/office/powerpoint/2010/main" val="3945857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781011C-7915-4CAA-9548-41D719A03ACB}" type="datetimeFigureOut">
              <a:rPr lang="fr-FR" smtClean="0"/>
              <a:t>19/01/2025</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531C9A0-F6B2-4B29-8DD4-89ABA9EB41E5}" type="slidenum">
              <a:rPr lang="fr-FR" smtClean="0"/>
              <a:t>‹N°›</a:t>
            </a:fld>
            <a:endParaRPr lang="fr-FR"/>
          </a:p>
        </p:txBody>
      </p:sp>
    </p:spTree>
    <p:extLst>
      <p:ext uri="{BB962C8B-B14F-4D97-AF65-F5344CB8AC3E}">
        <p14:creationId xmlns:p14="http://schemas.microsoft.com/office/powerpoint/2010/main" val="1695821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7DA5A23-A15E-4431-99AD-9E5B47D03190}"/>
              </a:ext>
            </a:extLst>
          </p:cNvPr>
          <p:cNvSpPr txBox="1"/>
          <p:nvPr/>
        </p:nvSpPr>
        <p:spPr>
          <a:xfrm>
            <a:off x="1475509" y="207818"/>
            <a:ext cx="7751618" cy="1477328"/>
          </a:xfrm>
          <a:prstGeom prst="rect">
            <a:avLst/>
          </a:prstGeom>
          <a:noFill/>
        </p:spPr>
        <p:txBody>
          <a:bodyPr wrap="square" rtlCol="0">
            <a:spAutoFit/>
          </a:bodyPr>
          <a:lstStyle/>
          <a:p>
            <a:pPr algn="ctr"/>
            <a:r>
              <a:rPr lang="fr-CA" dirty="0"/>
              <a:t>République Algérienne Démocratique Et Populaire</a:t>
            </a:r>
          </a:p>
          <a:p>
            <a:pPr algn="ctr"/>
            <a:r>
              <a:rPr lang="fr-CA" dirty="0"/>
              <a:t>Ministère De L’enseignement Supérieur Et De La Recherche Scientifique </a:t>
            </a:r>
          </a:p>
          <a:p>
            <a:pPr algn="ctr"/>
            <a:r>
              <a:rPr lang="fr-CA" dirty="0"/>
              <a:t>Université de Constantine 3</a:t>
            </a:r>
          </a:p>
          <a:p>
            <a:pPr algn="ctr"/>
            <a:r>
              <a:rPr lang="fr-CA" dirty="0"/>
              <a:t>Faculté de médecine</a:t>
            </a:r>
          </a:p>
          <a:p>
            <a:pPr algn="ctr"/>
            <a:r>
              <a:rPr lang="fr-CA" dirty="0"/>
              <a:t>Département de médecine</a:t>
            </a:r>
          </a:p>
        </p:txBody>
      </p:sp>
      <p:sp>
        <p:nvSpPr>
          <p:cNvPr id="3" name="ZoneTexte 2">
            <a:extLst>
              <a:ext uri="{FF2B5EF4-FFF2-40B4-BE49-F238E27FC236}">
                <a16:creationId xmlns:a16="http://schemas.microsoft.com/office/drawing/2014/main" id="{7FD2A9A5-6822-4630-B633-0A383D483330}"/>
              </a:ext>
            </a:extLst>
          </p:cNvPr>
          <p:cNvSpPr txBox="1"/>
          <p:nvPr/>
        </p:nvSpPr>
        <p:spPr>
          <a:xfrm>
            <a:off x="961159" y="2644170"/>
            <a:ext cx="8780318" cy="1569660"/>
          </a:xfrm>
          <a:prstGeom prst="rect">
            <a:avLst/>
          </a:prstGeom>
          <a:noFill/>
        </p:spPr>
        <p:txBody>
          <a:bodyPr wrap="square" rtlCol="0">
            <a:spAutoFit/>
          </a:bodyPr>
          <a:lstStyle/>
          <a:p>
            <a:pPr algn="ctr"/>
            <a:r>
              <a:rPr lang="fr-CA" sz="4800" b="1" dirty="0">
                <a:solidFill>
                  <a:schemeClr val="accent1">
                    <a:lumMod val="50000"/>
                  </a:schemeClr>
                </a:solidFill>
              </a:rPr>
              <a:t>DIGESTION ET ABSORPTION DES GLUCIDES ALIMENTAIRES</a:t>
            </a:r>
            <a:endParaRPr lang="fr-FR" sz="4800" b="1" dirty="0">
              <a:solidFill>
                <a:schemeClr val="accent1">
                  <a:lumMod val="50000"/>
                </a:schemeClr>
              </a:solidFill>
            </a:endParaRPr>
          </a:p>
        </p:txBody>
      </p:sp>
      <p:sp>
        <p:nvSpPr>
          <p:cNvPr id="4" name="ZoneTexte 3">
            <a:extLst>
              <a:ext uri="{FF2B5EF4-FFF2-40B4-BE49-F238E27FC236}">
                <a16:creationId xmlns:a16="http://schemas.microsoft.com/office/drawing/2014/main" id="{87913866-3E2D-4A69-94B8-CA1275095069}"/>
              </a:ext>
            </a:extLst>
          </p:cNvPr>
          <p:cNvSpPr txBox="1"/>
          <p:nvPr/>
        </p:nvSpPr>
        <p:spPr>
          <a:xfrm>
            <a:off x="2483427" y="6280850"/>
            <a:ext cx="5091546" cy="369332"/>
          </a:xfrm>
          <a:prstGeom prst="rect">
            <a:avLst/>
          </a:prstGeom>
          <a:noFill/>
        </p:spPr>
        <p:txBody>
          <a:bodyPr wrap="square" rtlCol="0">
            <a:spAutoFit/>
          </a:bodyPr>
          <a:lstStyle/>
          <a:p>
            <a:pPr algn="ctr"/>
            <a:r>
              <a:rPr lang="fr-FR" b="1" dirty="0">
                <a:solidFill>
                  <a:schemeClr val="accent2">
                    <a:lumMod val="75000"/>
                  </a:schemeClr>
                </a:solidFill>
              </a:rPr>
              <a:t>2024/2025</a:t>
            </a:r>
            <a:r>
              <a:rPr lang="fr-FR" dirty="0"/>
              <a:t> </a:t>
            </a:r>
          </a:p>
        </p:txBody>
      </p:sp>
      <p:sp>
        <p:nvSpPr>
          <p:cNvPr id="5" name="ZoneTexte 4">
            <a:extLst>
              <a:ext uri="{FF2B5EF4-FFF2-40B4-BE49-F238E27FC236}">
                <a16:creationId xmlns:a16="http://schemas.microsoft.com/office/drawing/2014/main" id="{E71E40E2-872C-492A-816D-3B904EC294DD}"/>
              </a:ext>
            </a:extLst>
          </p:cNvPr>
          <p:cNvSpPr txBox="1"/>
          <p:nvPr/>
        </p:nvSpPr>
        <p:spPr>
          <a:xfrm>
            <a:off x="7439890" y="5579009"/>
            <a:ext cx="3241964" cy="369332"/>
          </a:xfrm>
          <a:prstGeom prst="rect">
            <a:avLst/>
          </a:prstGeom>
          <a:noFill/>
        </p:spPr>
        <p:txBody>
          <a:bodyPr wrap="square" rtlCol="0">
            <a:spAutoFit/>
          </a:bodyPr>
          <a:lstStyle/>
          <a:p>
            <a:r>
              <a:rPr lang="fr-FR" dirty="0"/>
              <a:t>Dr. A. BOUFAMMA</a:t>
            </a:r>
          </a:p>
        </p:txBody>
      </p:sp>
    </p:spTree>
    <p:extLst>
      <p:ext uri="{BB962C8B-B14F-4D97-AF65-F5344CB8AC3E}">
        <p14:creationId xmlns:p14="http://schemas.microsoft.com/office/powerpoint/2010/main" val="3854805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332509" y="2177891"/>
            <a:ext cx="10318173" cy="2251065"/>
          </a:xfrm>
          <a:prstGeom prst="rect">
            <a:avLst/>
          </a:prstGeom>
          <a:noFill/>
        </p:spPr>
        <p:txBody>
          <a:bodyPr wrap="square" rtlCol="0">
            <a:spAutoFit/>
          </a:bodyPr>
          <a:lstStyle/>
          <a:p>
            <a:pPr>
              <a:lnSpc>
                <a:spcPct val="150000"/>
              </a:lnSpc>
            </a:pPr>
            <a:r>
              <a:rPr lang="fr-CA" sz="2400" dirty="0">
                <a:latin typeface="Calibri" panose="020F0502020204030204" pitchFamily="34" charset="0"/>
                <a:cs typeface="Calibri" panose="020F0502020204030204" pitchFamily="34" charset="0"/>
              </a:rPr>
              <a:t>1 - Citer les enzymes qui interviennent dans la digestion des glucides;</a:t>
            </a:r>
          </a:p>
          <a:p>
            <a:pPr>
              <a:lnSpc>
                <a:spcPct val="150000"/>
              </a:lnSpc>
            </a:pPr>
            <a:r>
              <a:rPr lang="fr-CA" sz="2400" dirty="0">
                <a:latin typeface="Calibri" panose="020F0502020204030204" pitchFamily="34" charset="0"/>
                <a:cs typeface="Calibri" panose="020F0502020204030204" pitchFamily="34" charset="0"/>
              </a:rPr>
              <a:t>2 - Décrire le mécanisme d’absorption intestinale des glucides simples;</a:t>
            </a:r>
          </a:p>
          <a:p>
            <a:pPr>
              <a:lnSpc>
                <a:spcPct val="150000"/>
              </a:lnSpc>
            </a:pPr>
            <a:r>
              <a:rPr lang="fr-CA" sz="2400" dirty="0">
                <a:latin typeface="Calibri" panose="020F0502020204030204" pitchFamily="34" charset="0"/>
                <a:cs typeface="Calibri" panose="020F0502020204030204" pitchFamily="34" charset="0"/>
              </a:rPr>
              <a:t>3 - Décrire les différentes voies d’interconversion du fructose, du galactose et du mannose, pour leur entrée dans la voie glycolytique.</a:t>
            </a:r>
            <a:endParaRPr lang="fr-FR" sz="2400" dirty="0">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Objectifs du cours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5266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602673" y="1098553"/>
            <a:ext cx="8572500" cy="5575052"/>
          </a:xfrm>
          <a:prstGeom prst="rect">
            <a:avLst/>
          </a:prstGeom>
          <a:noFill/>
        </p:spPr>
        <p:txBody>
          <a:bodyPr wrap="square" rtlCol="0">
            <a:spAutoFit/>
          </a:bodyPr>
          <a:lstStyle/>
          <a:p>
            <a:pPr marL="514350" indent="-514350">
              <a:lnSpc>
                <a:spcPct val="150000"/>
              </a:lnSpc>
              <a:buAutoNum type="romanUcPeriod"/>
            </a:pPr>
            <a:r>
              <a:rPr lang="fr-CA" sz="2400" b="1" dirty="0">
                <a:latin typeface="Calibri" panose="020F0502020204030204" pitchFamily="34" charset="0"/>
                <a:cs typeface="Calibri" panose="020F0502020204030204" pitchFamily="34" charset="0"/>
              </a:rPr>
              <a:t>Introduction</a:t>
            </a:r>
          </a:p>
          <a:p>
            <a:pPr marL="514350" indent="-514350">
              <a:lnSpc>
                <a:spcPct val="150000"/>
              </a:lnSpc>
              <a:buAutoNum type="romanUcPeriod"/>
            </a:pPr>
            <a:r>
              <a:rPr lang="fr-CA" sz="2400" b="1" dirty="0">
                <a:latin typeface="Calibri" panose="020F0502020204030204" pitchFamily="34" charset="0"/>
                <a:cs typeface="Calibri" panose="020F0502020204030204" pitchFamily="34" charset="0"/>
              </a:rPr>
              <a:t>Notion de digestion </a:t>
            </a:r>
          </a:p>
          <a:p>
            <a:pPr>
              <a:lnSpc>
                <a:spcPct val="150000"/>
              </a:lnSpc>
            </a:pPr>
            <a:r>
              <a:rPr lang="fr-CA" sz="2400" b="1" dirty="0">
                <a:latin typeface="Calibri" panose="020F0502020204030204" pitchFamily="34" charset="0"/>
                <a:cs typeface="Calibri" panose="020F0502020204030204" pitchFamily="34" charset="0"/>
              </a:rPr>
              <a:t>III.   Les enzymes de digestion des glucides</a:t>
            </a:r>
          </a:p>
          <a:p>
            <a:pPr>
              <a:lnSpc>
                <a:spcPct val="150000"/>
              </a:lnSpc>
            </a:pPr>
            <a:r>
              <a:rPr lang="fr-CA" sz="2400" b="1" dirty="0">
                <a:latin typeface="Calibri" panose="020F0502020204030204" pitchFamily="34" charset="0"/>
                <a:cs typeface="Calibri" panose="020F0502020204030204" pitchFamily="34" charset="0"/>
              </a:rPr>
              <a:t>IV.   Étapes du digestion des glucides dans le tube digestif</a:t>
            </a:r>
          </a:p>
          <a:p>
            <a:pPr>
              <a:lnSpc>
                <a:spcPct val="150000"/>
              </a:lnSpc>
            </a:pPr>
            <a:r>
              <a:rPr lang="fr-CA" sz="2400" dirty="0">
                <a:latin typeface="Calibri" panose="020F0502020204030204" pitchFamily="34" charset="0"/>
                <a:cs typeface="Calibri" panose="020F0502020204030204" pitchFamily="34" charset="0"/>
              </a:rPr>
              <a:t>	1- au niveau de la lumière du tractus digestif</a:t>
            </a:r>
          </a:p>
          <a:p>
            <a:pPr>
              <a:lnSpc>
                <a:spcPct val="150000"/>
              </a:lnSpc>
            </a:pPr>
            <a:r>
              <a:rPr lang="fr-CA" sz="2400" dirty="0">
                <a:latin typeface="Calibri" panose="020F0502020204030204" pitchFamily="34" charset="0"/>
                <a:cs typeface="Calibri" panose="020F0502020204030204" pitchFamily="34" charset="0"/>
              </a:rPr>
              <a:t>	2- au niveau de la membrane intestinale</a:t>
            </a:r>
          </a:p>
          <a:p>
            <a:pPr>
              <a:lnSpc>
                <a:spcPct val="150000"/>
              </a:lnSpc>
            </a:pPr>
            <a:r>
              <a:rPr lang="fr-CA" sz="2400" b="1" dirty="0">
                <a:latin typeface="Calibri" panose="020F0502020204030204" pitchFamily="34" charset="0"/>
                <a:cs typeface="Calibri" panose="020F0502020204030204" pitchFamily="34" charset="0"/>
              </a:rPr>
              <a:t>V.   Absorption des glucides </a:t>
            </a:r>
          </a:p>
          <a:p>
            <a:pPr>
              <a:lnSpc>
                <a:spcPct val="150000"/>
              </a:lnSpc>
            </a:pPr>
            <a:r>
              <a:rPr lang="fr-CA" sz="2400" b="1" dirty="0">
                <a:latin typeface="Calibri" panose="020F0502020204030204" pitchFamily="34" charset="0"/>
                <a:cs typeface="Calibri" panose="020F0502020204030204" pitchFamily="34" charset="0"/>
              </a:rPr>
              <a:t>VI. Métabolisme du Fructose</a:t>
            </a:r>
          </a:p>
          <a:p>
            <a:pPr lvl="1" indent="-457200">
              <a:lnSpc>
                <a:spcPct val="150000"/>
              </a:lnSpc>
            </a:pPr>
            <a:r>
              <a:rPr lang="fr-CA" sz="2400" b="1" dirty="0">
                <a:latin typeface="Calibri" panose="020F0502020204030204" pitchFamily="34" charset="0"/>
                <a:cs typeface="Calibri" panose="020F0502020204030204" pitchFamily="34" charset="0"/>
              </a:rPr>
              <a:t>VII. Métabolisme du Galactose</a:t>
            </a:r>
          </a:p>
          <a:p>
            <a:pPr lvl="1" indent="-457200">
              <a:lnSpc>
                <a:spcPct val="150000"/>
              </a:lnSpc>
            </a:pPr>
            <a:r>
              <a:rPr lang="fr-CA" sz="2400" b="1" dirty="0">
                <a:latin typeface="Calibri" panose="020F0502020204030204" pitchFamily="34" charset="0"/>
                <a:cs typeface="Calibri" panose="020F0502020204030204" pitchFamily="34" charset="0"/>
              </a:rPr>
              <a:t>VIII. Métabolisme du Mannose</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Plan du cours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325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498765" y="1282948"/>
            <a:ext cx="9216736" cy="5575052"/>
          </a:xfrm>
          <a:prstGeom prst="rect">
            <a:avLst/>
          </a:prstGeom>
          <a:noFill/>
        </p:spPr>
        <p:txBody>
          <a:bodyPr wrap="square" rtlCol="0">
            <a:spAutoFit/>
          </a:bodyPr>
          <a:lstStyle/>
          <a:p>
            <a:pPr>
              <a:lnSpc>
                <a:spcPct val="150000"/>
              </a:lnSpc>
            </a:pPr>
            <a:r>
              <a:rPr lang="fr-CA" sz="2400" dirty="0">
                <a:latin typeface="Calibri" panose="020F0502020204030204" pitchFamily="34" charset="0"/>
                <a:cs typeface="Calibri" panose="020F0502020204030204" pitchFamily="34" charset="0"/>
              </a:rPr>
              <a:t>Les glucides sont des éléments importants du métabolisme. Afin d’arriver aux cellules, ils doivent pénétrer dans l’organisme et cela par l’alimentation.</a:t>
            </a:r>
          </a:p>
          <a:p>
            <a:pPr>
              <a:lnSpc>
                <a:spcPct val="150000"/>
              </a:lnSpc>
            </a:pPr>
            <a:r>
              <a:rPr lang="fr-CA" sz="2400" dirty="0">
                <a:latin typeface="Calibri" panose="020F0502020204030204" pitchFamily="34" charset="0"/>
                <a:cs typeface="Calibri" panose="020F0502020204030204" pitchFamily="34" charset="0"/>
              </a:rPr>
              <a:t>Les glucides présents dans les aliments sont souvent sous forme de diholosides (lactose, saccharose) ou de polyosides (amidon, glycogène) parfois sous forme de monosaccharides comme le galactose et le fructose.</a:t>
            </a:r>
          </a:p>
          <a:p>
            <a:pPr>
              <a:lnSpc>
                <a:spcPct val="150000"/>
              </a:lnSpc>
            </a:pPr>
            <a:r>
              <a:rPr lang="fr-CA" sz="2400" dirty="0">
                <a:latin typeface="Calibri" panose="020F0502020204030204" pitchFamily="34" charset="0"/>
                <a:cs typeface="Calibri" panose="020F0502020204030204" pitchFamily="34" charset="0"/>
              </a:rPr>
              <a:t>Seuls les oses peuvent être absorbés dans l’intestin par des mécanismes spécifiques de transport et traverser les membranes cellulaires des organismes.</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Introduction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9799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540328" y="1508268"/>
            <a:ext cx="9216736" cy="4467057"/>
          </a:xfrm>
          <a:prstGeom prst="rect">
            <a:avLst/>
          </a:prstGeom>
          <a:noFill/>
        </p:spPr>
        <p:txBody>
          <a:bodyPr wrap="square" rtlCol="0">
            <a:spAutoFit/>
          </a:bodyPr>
          <a:lstStyle/>
          <a:p>
            <a:pPr>
              <a:lnSpc>
                <a:spcPct val="150000"/>
              </a:lnSpc>
            </a:pPr>
            <a:r>
              <a:rPr lang="fr-CA" sz="2400" dirty="0">
                <a:latin typeface="Calibri" panose="020F0502020204030204" pitchFamily="34" charset="0"/>
                <a:cs typeface="Calibri" panose="020F0502020204030204" pitchFamily="34" charset="0"/>
              </a:rPr>
              <a:t>Après digestion, ces monosaccharides passent dans la circulation sanguine, pour être transportés dans différents tissus. Le métabolisme du fructose, du galactose et du mannose est assuré par leur transformation en intermédiaires de la glycolyse qui seront dégradés ensuite de la même manière que le glucose.</a:t>
            </a:r>
          </a:p>
          <a:p>
            <a:pPr>
              <a:lnSpc>
                <a:spcPct val="150000"/>
              </a:lnSpc>
            </a:pPr>
            <a:r>
              <a:rPr lang="fr-CA" sz="2400" dirty="0">
                <a:latin typeface="Calibri" panose="020F0502020204030204" pitchFamily="34" charset="0"/>
                <a:cs typeface="Calibri" panose="020F0502020204030204" pitchFamily="34" charset="0"/>
              </a:rPr>
              <a:t>Le foie est l'organe clé du métabolisme du fructose et du galactose alimentaire. Ces derniers ne sont cependant pas soumis à une régulation hormonale, contrairement au glucose.</a:t>
            </a:r>
            <a:endParaRPr lang="fr-FR" sz="2400" dirty="0">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Introduction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7275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540328" y="1508268"/>
            <a:ext cx="9216736" cy="1697068"/>
          </a:xfrm>
          <a:prstGeom prst="rect">
            <a:avLst/>
          </a:prstGeom>
          <a:noFill/>
        </p:spPr>
        <p:txBody>
          <a:bodyPr wrap="square" rtlCol="0">
            <a:spAutoFit/>
          </a:bodyPr>
          <a:lstStyle/>
          <a:p>
            <a:pPr>
              <a:lnSpc>
                <a:spcPct val="150000"/>
              </a:lnSpc>
            </a:pPr>
            <a:r>
              <a:rPr lang="fr-CA" sz="2400" dirty="0">
                <a:latin typeface="Calibri" panose="020F0502020204030204" pitchFamily="34" charset="0"/>
                <a:cs typeface="Calibri" panose="020F0502020204030204" pitchFamily="34" charset="0"/>
              </a:rPr>
              <a:t>C’est l’ensemble des transformations que subissent les aliments dans le tube digestif avant d'être assimilés.</a:t>
            </a:r>
          </a:p>
          <a:p>
            <a:pPr>
              <a:lnSpc>
                <a:spcPct val="150000"/>
              </a:lnSpc>
            </a:pPr>
            <a:r>
              <a:rPr lang="fr-CA" sz="2400" dirty="0">
                <a:latin typeface="Calibri" panose="020F0502020204030204" pitchFamily="34" charset="0"/>
                <a:cs typeface="Calibri" panose="020F0502020204030204" pitchFamily="34" charset="0"/>
              </a:rPr>
              <a:t>L’intestin grêle est le principal organe de la digestion.</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Notion de la digestion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3993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540328" y="1508268"/>
            <a:ext cx="9216736" cy="3913059"/>
          </a:xfrm>
          <a:prstGeom prst="rect">
            <a:avLst/>
          </a:prstGeom>
          <a:noFill/>
        </p:spPr>
        <p:txBody>
          <a:bodyPr wrap="square" rtlCol="0">
            <a:spAutoFit/>
          </a:bodyPr>
          <a:lstStyle/>
          <a:p>
            <a:pPr>
              <a:lnSpc>
                <a:spcPct val="150000"/>
              </a:lnSpc>
            </a:pPr>
            <a:r>
              <a:rPr lang="fr-CA" sz="2400" dirty="0">
                <a:latin typeface="Calibri" panose="020F0502020204030204" pitchFamily="34" charset="0"/>
                <a:cs typeface="Calibri" panose="020F0502020204030204" pitchFamily="34" charset="0"/>
              </a:rPr>
              <a:t>C’est la lyse des liaisons entre les oses par des enzymes situées dans la bouche, l'estomac et l'intestin.</a:t>
            </a:r>
          </a:p>
          <a:p>
            <a:pPr>
              <a:lnSpc>
                <a:spcPct val="150000"/>
              </a:lnSpc>
            </a:pPr>
            <a:endParaRPr lang="fr-CA" sz="2400" dirty="0">
              <a:latin typeface="Calibri" panose="020F0502020204030204" pitchFamily="34" charset="0"/>
              <a:cs typeface="Calibri" panose="020F0502020204030204" pitchFamily="34" charset="0"/>
            </a:endParaRPr>
          </a:p>
          <a:p>
            <a:pPr>
              <a:lnSpc>
                <a:spcPct val="150000"/>
              </a:lnSpc>
            </a:pPr>
            <a:r>
              <a:rPr lang="fr-CA" sz="2400" b="1" i="1" dirty="0">
                <a:solidFill>
                  <a:srgbClr val="002060"/>
                </a:solidFill>
                <a:latin typeface="Calibri" panose="020F0502020204030204" pitchFamily="34" charset="0"/>
                <a:cs typeface="Calibri" panose="020F0502020204030204" pitchFamily="34" charset="0"/>
              </a:rPr>
              <a:t>Index glycémique: </a:t>
            </a:r>
          </a:p>
          <a:p>
            <a:pPr>
              <a:lnSpc>
                <a:spcPct val="150000"/>
              </a:lnSpc>
            </a:pPr>
            <a:r>
              <a:rPr lang="fr-CA" sz="2400" b="1" i="1" dirty="0">
                <a:solidFill>
                  <a:srgbClr val="002060"/>
                </a:solidFill>
                <a:latin typeface="Calibri" panose="020F0502020204030204" pitchFamily="34" charset="0"/>
                <a:cs typeface="Calibri" panose="020F0502020204030204" pitchFamily="34" charset="0"/>
              </a:rPr>
              <a:t>Augmentation de la glycémie après l’ingestion d’une certaine dose d’un glucide comparée à l’augmentation de la glycémie après l’ingestion  de d’une dose équivalente de glucose. </a:t>
            </a:r>
            <a:endParaRPr lang="fr-FR" sz="2400" b="1" i="1" dirty="0">
              <a:solidFill>
                <a:srgbClr val="002060"/>
              </a:solidFill>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Notion de la digestion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alimentation ig bas - votre dieteticienne - valerie coureau">
            <a:extLst>
              <a:ext uri="{FF2B5EF4-FFF2-40B4-BE49-F238E27FC236}">
                <a16:creationId xmlns:a16="http://schemas.microsoft.com/office/drawing/2014/main" id="{5C1D8577-441C-457B-8273-39DE92CF67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531" y="2319934"/>
            <a:ext cx="6235430" cy="3737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353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arn(inVertical)">
                                      <p:cBhvr>
                                        <p:cTn id="7" dur="500"/>
                                        <p:tgtEl>
                                          <p:spTgt spid="2">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barn(inVertical)">
                                      <p:cBhvr>
                                        <p:cTn id="10" dur="500"/>
                                        <p:tgtEl>
                                          <p:spTgt spid="2">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animEffect transition="in" filter="barn(inVertical)">
                                      <p:cBhvr>
                                        <p:cTn id="15"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540328" y="1508268"/>
            <a:ext cx="9216736" cy="2989729"/>
          </a:xfrm>
          <a:prstGeom prst="rect">
            <a:avLst/>
          </a:prstGeom>
          <a:noFill/>
        </p:spPr>
        <p:txBody>
          <a:bodyPr wrap="square" rtlCol="0">
            <a:spAutoFit/>
          </a:bodyPr>
          <a:lstStyle/>
          <a:p>
            <a:pPr>
              <a:lnSpc>
                <a:spcPct val="150000"/>
              </a:lnSpc>
            </a:pPr>
            <a:r>
              <a:rPr lang="fr-CA" sz="3200" b="1" dirty="0">
                <a:solidFill>
                  <a:schemeClr val="accent1">
                    <a:lumMod val="75000"/>
                  </a:schemeClr>
                </a:solidFill>
                <a:latin typeface="Calibri" panose="020F0502020204030204" pitchFamily="34" charset="0"/>
                <a:cs typeface="Calibri" panose="020F0502020204030204" pitchFamily="34" charset="0"/>
              </a:rPr>
              <a:t>l’amylase salivaire </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Une alpha glucosidase </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enzyme produite par les glandes salivaires. </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Elle est inactive pour un pH &lt; 4.5 </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permet de digérer chez l’homme environ 50 à 70% de l’amidon.</a:t>
            </a:r>
            <a:endParaRPr lang="fr-FR" sz="2400" dirty="0">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Enzymes de la digestion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3956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540328" y="1508268"/>
            <a:ext cx="9216736" cy="3543727"/>
          </a:xfrm>
          <a:prstGeom prst="rect">
            <a:avLst/>
          </a:prstGeom>
          <a:noFill/>
        </p:spPr>
        <p:txBody>
          <a:bodyPr wrap="square" rtlCol="0">
            <a:spAutoFit/>
          </a:bodyPr>
          <a:lstStyle/>
          <a:p>
            <a:pPr>
              <a:lnSpc>
                <a:spcPct val="150000"/>
              </a:lnSpc>
            </a:pPr>
            <a:r>
              <a:rPr lang="fr-CA" sz="3200" b="1" dirty="0">
                <a:solidFill>
                  <a:schemeClr val="accent1">
                    <a:lumMod val="75000"/>
                  </a:schemeClr>
                </a:solidFill>
                <a:latin typeface="Calibri" panose="020F0502020204030204" pitchFamily="34" charset="0"/>
                <a:cs typeface="Calibri" panose="020F0502020204030204" pitchFamily="34" charset="0"/>
              </a:rPr>
              <a:t>l’amylase pancréatique  </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Une alpha glucosidase </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enzyme produite par le pancréas exocrine.</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Elle est plus puissante que l’amylase salivaire, digestion complète en 15 à 30 min.</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 dans la lumière de l’intestin au niveau du duodénum</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Enzymes de la digestion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5076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540328" y="1508268"/>
            <a:ext cx="9216736" cy="3543727"/>
          </a:xfrm>
          <a:prstGeom prst="rect">
            <a:avLst/>
          </a:prstGeom>
          <a:noFill/>
        </p:spPr>
        <p:txBody>
          <a:bodyPr wrap="square" rtlCol="0">
            <a:spAutoFit/>
          </a:bodyPr>
          <a:lstStyle/>
          <a:p>
            <a:pPr>
              <a:lnSpc>
                <a:spcPct val="150000"/>
              </a:lnSpc>
            </a:pPr>
            <a:r>
              <a:rPr lang="fr-CA" sz="3200" b="1" dirty="0">
                <a:solidFill>
                  <a:schemeClr val="accent1">
                    <a:lumMod val="75000"/>
                  </a:schemeClr>
                </a:solidFill>
                <a:latin typeface="Calibri" panose="020F0502020204030204" pitchFamily="34" charset="0"/>
                <a:cs typeface="Calibri" panose="020F0502020204030204" pitchFamily="34" charset="0"/>
              </a:rPr>
              <a:t>l’amylase salivaire et pancréatique  </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Hydrolyse au hasard toutes les liaisons α-1-4 de l’amidon sauf les plus extrêmes et celles proches des ponts des branchements. </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Production de molécules appelées les dextrines (oligosides branchés), qui aboutissent ensuite au maltose, puis au glucose.</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Les liaisons α-l-6 ne sont pas dégradées par ces enzymes.</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Enzymes de la digestion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Image 6">
            <a:extLst>
              <a:ext uri="{FF2B5EF4-FFF2-40B4-BE49-F238E27FC236}">
                <a16:creationId xmlns:a16="http://schemas.microsoft.com/office/drawing/2014/main" id="{AE81C85D-418E-40A4-B59D-51ADE3FCD994}"/>
              </a:ext>
            </a:extLst>
          </p:cNvPr>
          <p:cNvPicPr>
            <a:picLocks noChangeAspect="1"/>
          </p:cNvPicPr>
          <p:nvPr/>
        </p:nvPicPr>
        <p:blipFill>
          <a:blip r:embed="rId2"/>
          <a:stretch>
            <a:fillRect/>
          </a:stretch>
        </p:blipFill>
        <p:spPr>
          <a:xfrm>
            <a:off x="1357524" y="1222873"/>
            <a:ext cx="6624536" cy="5548713"/>
          </a:xfrm>
          <a:prstGeom prst="rect">
            <a:avLst/>
          </a:prstGeom>
        </p:spPr>
      </p:pic>
      <p:pic>
        <p:nvPicPr>
          <p:cNvPr id="6" name="Image 5">
            <a:extLst>
              <a:ext uri="{FF2B5EF4-FFF2-40B4-BE49-F238E27FC236}">
                <a16:creationId xmlns:a16="http://schemas.microsoft.com/office/drawing/2014/main" id="{4E7B5B5B-CCCD-4E8F-8B10-7A50461A496A}"/>
              </a:ext>
            </a:extLst>
          </p:cNvPr>
          <p:cNvPicPr>
            <a:picLocks noChangeAspect="1"/>
          </p:cNvPicPr>
          <p:nvPr/>
        </p:nvPicPr>
        <p:blipFill>
          <a:blip r:embed="rId3"/>
          <a:stretch>
            <a:fillRect/>
          </a:stretch>
        </p:blipFill>
        <p:spPr>
          <a:xfrm>
            <a:off x="1308333" y="2221178"/>
            <a:ext cx="6722918" cy="4077269"/>
          </a:xfrm>
          <a:prstGeom prst="rect">
            <a:avLst/>
          </a:prstGeom>
        </p:spPr>
      </p:pic>
    </p:spTree>
    <p:extLst>
      <p:ext uri="{BB962C8B-B14F-4D97-AF65-F5344CB8AC3E}">
        <p14:creationId xmlns:p14="http://schemas.microsoft.com/office/powerpoint/2010/main" val="223282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7"/>
                                        </p:tgtEl>
                                        <p:attrNameLst>
                                          <p:attrName>style.visibility</p:attrName>
                                        </p:attrNameLst>
                                      </p:cBhvr>
                                      <p:to>
                                        <p:strVal val="hidden"/>
                                      </p:to>
                                    </p:set>
                                  </p:childTnLst>
                                </p:cTn>
                              </p:par>
                              <p:par>
                                <p:cTn id="12" presetID="2" presetClass="entr" presetSubtype="4"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Enzymes de la digestion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Image 6">
            <a:extLst>
              <a:ext uri="{FF2B5EF4-FFF2-40B4-BE49-F238E27FC236}">
                <a16:creationId xmlns:a16="http://schemas.microsoft.com/office/drawing/2014/main" id="{4E2BAD22-38AC-488E-B091-E4512DD3C3EB}"/>
              </a:ext>
            </a:extLst>
          </p:cNvPr>
          <p:cNvPicPr>
            <a:picLocks noChangeAspect="1"/>
          </p:cNvPicPr>
          <p:nvPr/>
        </p:nvPicPr>
        <p:blipFill>
          <a:blip r:embed="rId2"/>
          <a:stretch>
            <a:fillRect/>
          </a:stretch>
        </p:blipFill>
        <p:spPr>
          <a:xfrm>
            <a:off x="1230986" y="1632550"/>
            <a:ext cx="7689278" cy="4466691"/>
          </a:xfrm>
          <a:prstGeom prst="rect">
            <a:avLst/>
          </a:prstGeom>
        </p:spPr>
      </p:pic>
    </p:spTree>
    <p:extLst>
      <p:ext uri="{BB962C8B-B14F-4D97-AF65-F5344CB8AC3E}">
        <p14:creationId xmlns:p14="http://schemas.microsoft.com/office/powerpoint/2010/main" val="3250725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540328" y="1508268"/>
            <a:ext cx="9216736" cy="2435731"/>
          </a:xfrm>
          <a:prstGeom prst="rect">
            <a:avLst/>
          </a:prstGeom>
          <a:noFill/>
        </p:spPr>
        <p:txBody>
          <a:bodyPr wrap="square" rtlCol="0">
            <a:spAutoFit/>
          </a:bodyPr>
          <a:lstStyle/>
          <a:p>
            <a:pPr>
              <a:lnSpc>
                <a:spcPct val="150000"/>
              </a:lnSpc>
            </a:pPr>
            <a:r>
              <a:rPr lang="fr-CA" sz="3200" b="1" dirty="0">
                <a:solidFill>
                  <a:schemeClr val="accent1">
                    <a:lumMod val="75000"/>
                  </a:schemeClr>
                </a:solidFill>
                <a:latin typeface="Calibri" panose="020F0502020204030204" pitchFamily="34" charset="0"/>
                <a:cs typeface="Calibri" panose="020F0502020204030204" pitchFamily="34" charset="0"/>
              </a:rPr>
              <a:t>l’</a:t>
            </a:r>
            <a:r>
              <a:rPr lang="fr-CA" sz="3200" b="1" dirty="0" err="1">
                <a:solidFill>
                  <a:schemeClr val="accent1">
                    <a:lumMod val="75000"/>
                  </a:schemeClr>
                </a:solidFill>
                <a:latin typeface="Calibri" panose="020F0502020204030204" pitchFamily="34" charset="0"/>
                <a:cs typeface="Calibri" panose="020F0502020204030204" pitchFamily="34" charset="0"/>
              </a:rPr>
              <a:t>amylo</a:t>
            </a:r>
            <a:r>
              <a:rPr lang="fr-CA" sz="3200" b="1" dirty="0">
                <a:solidFill>
                  <a:schemeClr val="accent1">
                    <a:lumMod val="75000"/>
                  </a:schemeClr>
                </a:solidFill>
                <a:latin typeface="Calibri" panose="020F0502020204030204" pitchFamily="34" charset="0"/>
                <a:cs typeface="Calibri" panose="020F0502020204030204" pitchFamily="34" charset="0"/>
              </a:rPr>
              <a:t>-</a:t>
            </a:r>
            <a:r>
              <a:rPr lang="el-GR" sz="3200" b="1" dirty="0">
                <a:solidFill>
                  <a:schemeClr val="accent1">
                    <a:lumMod val="75000"/>
                  </a:schemeClr>
                </a:solidFill>
                <a:latin typeface="Calibri" panose="020F0502020204030204" pitchFamily="34" charset="0"/>
                <a:cs typeface="Calibri" panose="020F0502020204030204" pitchFamily="34" charset="0"/>
              </a:rPr>
              <a:t>α-1,6-</a:t>
            </a:r>
            <a:r>
              <a:rPr lang="fr-CA" sz="3200" b="1" dirty="0">
                <a:solidFill>
                  <a:schemeClr val="accent1">
                    <a:lumMod val="75000"/>
                  </a:schemeClr>
                </a:solidFill>
                <a:latin typeface="Calibri" panose="020F0502020204030204" pitchFamily="34" charset="0"/>
                <a:cs typeface="Calibri" panose="020F0502020204030204" pitchFamily="34" charset="0"/>
              </a:rPr>
              <a:t>glucosidase (enzyme débranchante)</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sécrétée par les cellules de la muqueuse intestinale </a:t>
            </a:r>
          </a:p>
          <a:p>
            <a:pPr marL="342900" indent="-342900">
              <a:lnSpc>
                <a:spcPct val="150000"/>
              </a:lnSpc>
              <a:buFontTx/>
              <a:buChar char="-"/>
            </a:pPr>
            <a:r>
              <a:rPr lang="fr-CA" sz="2400" dirty="0">
                <a:latin typeface="Calibri" panose="020F0502020204030204" pitchFamily="34" charset="0"/>
                <a:cs typeface="Calibri" panose="020F0502020204030204" pitchFamily="34" charset="0"/>
              </a:rPr>
              <a:t>hydrolyse la liaison α-1,6-glucosidique.</a:t>
            </a:r>
          </a:p>
          <a:p>
            <a:pPr marL="342900" indent="-342900">
              <a:lnSpc>
                <a:spcPct val="150000"/>
              </a:lnSpc>
              <a:buFontTx/>
              <a:buChar char="-"/>
            </a:pPr>
            <a:r>
              <a:rPr lang="fr-CA" sz="2400" dirty="0" err="1">
                <a:latin typeface="Calibri" panose="020F0502020204030204" pitchFamily="34" charset="0"/>
                <a:cs typeface="Calibri" panose="020F0502020204030204" pitchFamily="34" charset="0"/>
              </a:rPr>
              <a:t>dextrinase</a:t>
            </a:r>
            <a:r>
              <a:rPr lang="fr-CA" sz="2400" dirty="0">
                <a:latin typeface="Calibri" panose="020F0502020204030204" pitchFamily="34" charset="0"/>
                <a:cs typeface="Calibri" panose="020F0502020204030204" pitchFamily="34" charset="0"/>
              </a:rPr>
              <a:t> qui permet l’hydrolyse des dextrines limites</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Enzymes de la digestion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066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332509" y="1518659"/>
            <a:ext cx="11315699" cy="4651723"/>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fr-CA" sz="3200" b="1" i="0" u="none" strike="noStrike" kern="1200" cap="none" spc="0" normalizeH="0" baseline="0" noProof="0" dirty="0">
                <a:ln>
                  <a:noFill/>
                </a:ln>
                <a:solidFill>
                  <a:srgbClr val="4472C4">
                    <a:lumMod val="75000"/>
                  </a:srgbClr>
                </a:solidFill>
                <a:effectLst/>
                <a:uLnTx/>
                <a:uFillTx/>
                <a:latin typeface="Calibri" panose="020F0502020204030204" pitchFamily="34" charset="0"/>
                <a:ea typeface="+mn-ea"/>
                <a:cs typeface="Calibri" panose="020F0502020204030204" pitchFamily="34" charset="0"/>
              </a:rPr>
              <a:t>Les </a:t>
            </a:r>
            <a:r>
              <a:rPr kumimoji="0" lang="fr-CA" sz="3200" b="1" i="0" u="none" strike="noStrike" kern="1200" cap="none" spc="0" normalizeH="0" baseline="0" noProof="0" dirty="0" err="1">
                <a:ln>
                  <a:noFill/>
                </a:ln>
                <a:solidFill>
                  <a:srgbClr val="4472C4">
                    <a:lumMod val="75000"/>
                  </a:srgbClr>
                </a:solidFill>
                <a:effectLst/>
                <a:uLnTx/>
                <a:uFillTx/>
                <a:latin typeface="Calibri" panose="020F0502020204030204" pitchFamily="34" charset="0"/>
                <a:ea typeface="+mn-ea"/>
                <a:cs typeface="Calibri" panose="020F0502020204030204" pitchFamily="34" charset="0"/>
              </a:rPr>
              <a:t>disaccharidases</a:t>
            </a:r>
            <a:r>
              <a:rPr kumimoji="0" lang="fr-CA" sz="3200" b="1" i="0" u="none" strike="noStrike" kern="1200" cap="none" spc="0" normalizeH="0" baseline="0" noProof="0" dirty="0">
                <a:ln>
                  <a:noFill/>
                </a:ln>
                <a:solidFill>
                  <a:srgbClr val="4472C4">
                    <a:lumMod val="75000"/>
                  </a:srgbClr>
                </a:solidFill>
                <a:effectLst/>
                <a:uLnTx/>
                <a:uFillTx/>
                <a:latin typeface="Calibri" panose="020F0502020204030204" pitchFamily="34" charset="0"/>
                <a:ea typeface="+mn-ea"/>
                <a:cs typeface="Calibri" panose="020F0502020204030204" pitchFamily="34" charset="0"/>
              </a:rPr>
              <a:t> intestinales </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agissent sur les disaccharides et sont présentes sur les membranes des entérocytes de la muqueuse intestinale.</a:t>
            </a:r>
          </a:p>
          <a:p>
            <a:pPr marL="342900" marR="0" lvl="0" indent="-342900" algn="l" defTabSz="457200" rtl="0" eaLnBrk="1" fontAlgn="auto" latinLnBrk="0" hangingPunct="1">
              <a:lnSpc>
                <a:spcPct val="150000"/>
              </a:lnSpc>
              <a:spcBef>
                <a:spcPts val="0"/>
              </a:spcBef>
              <a:spcAft>
                <a:spcPts val="0"/>
              </a:spcAft>
              <a:buClrTx/>
              <a:buSzTx/>
              <a:buFontTx/>
              <a:buChar char="-"/>
              <a:tabLst/>
              <a:defRPr/>
            </a:pPr>
            <a:r>
              <a:rPr kumimoji="0" lang="fr-CA" sz="2400" b="1" i="0" u="none" strike="noStrike" kern="1200" cap="none" spc="0" normalizeH="0" baseline="0" noProof="0" dirty="0">
                <a:ln>
                  <a:noFill/>
                </a:ln>
                <a:solidFill>
                  <a:srgbClr val="ED7D31">
                    <a:lumMod val="50000"/>
                  </a:srgbClr>
                </a:solidFill>
                <a:effectLst/>
                <a:uLnTx/>
                <a:uFillTx/>
                <a:latin typeface="Calibri" panose="020F0502020204030204" pitchFamily="34" charset="0"/>
                <a:ea typeface="+mn-ea"/>
                <a:cs typeface="Calibri" panose="020F0502020204030204" pitchFamily="34" charset="0"/>
              </a:rPr>
              <a:t>Maltase: </a:t>
            </a:r>
            <a:r>
              <a:rPr kumimoji="0" lang="el-GR" sz="2400" b="1" i="0" u="none" strike="noStrike" kern="1200" cap="none" spc="0" normalizeH="0" baseline="0" noProof="0" dirty="0">
                <a:ln>
                  <a:noFill/>
                </a:ln>
                <a:solidFill>
                  <a:srgbClr val="ED7D31">
                    <a:lumMod val="50000"/>
                  </a:srgbClr>
                </a:solidFill>
                <a:effectLst/>
                <a:uLnTx/>
                <a:uFillTx/>
                <a:latin typeface="Calibri" panose="020F0502020204030204" pitchFamily="34" charset="0"/>
                <a:ea typeface="+mn-ea"/>
                <a:cs typeface="Calibri" panose="020F0502020204030204" pitchFamily="34" charset="0"/>
              </a:rPr>
              <a:t>α-</a:t>
            </a:r>
            <a:r>
              <a:rPr kumimoji="0" lang="fr-CA" sz="2400" b="1" i="0" u="none" strike="noStrike" kern="1200" cap="none" spc="0" normalizeH="0" baseline="0" noProof="0" dirty="0">
                <a:ln>
                  <a:noFill/>
                </a:ln>
                <a:solidFill>
                  <a:srgbClr val="ED7D31">
                    <a:lumMod val="50000"/>
                  </a:srgbClr>
                </a:solidFill>
                <a:effectLst/>
                <a:uLnTx/>
                <a:uFillTx/>
                <a:latin typeface="Calibri" panose="020F0502020204030204" pitchFamily="34" charset="0"/>
                <a:ea typeface="+mn-ea"/>
                <a:cs typeface="Calibri" panose="020F0502020204030204" pitchFamily="34" charset="0"/>
              </a:rPr>
              <a:t>Glucosidase </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hydrolyse le maltose et </a:t>
            </a:r>
            <a:r>
              <a:rPr kumimoji="0" lang="fr-CA" sz="24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maltotriose</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en glucose.</a:t>
            </a:r>
          </a:p>
          <a:p>
            <a:pPr marL="342900" marR="0" lvl="0" indent="-342900" algn="l" defTabSz="457200" rtl="0" eaLnBrk="1" fontAlgn="auto" latinLnBrk="0" hangingPunct="1">
              <a:lnSpc>
                <a:spcPct val="150000"/>
              </a:lnSpc>
              <a:spcBef>
                <a:spcPts val="0"/>
              </a:spcBef>
              <a:spcAft>
                <a:spcPts val="0"/>
              </a:spcAft>
              <a:buClrTx/>
              <a:buSzTx/>
              <a:buFontTx/>
              <a:buChar char="-"/>
              <a:tabLst/>
              <a:defRPr/>
            </a:pPr>
            <a:r>
              <a:rPr kumimoji="0" lang="fr-CA" sz="2400" b="1" i="0" u="none" strike="noStrike" kern="1200" cap="none" spc="0" normalizeH="0" baseline="0" noProof="0" dirty="0">
                <a:ln>
                  <a:noFill/>
                </a:ln>
                <a:solidFill>
                  <a:srgbClr val="ED7D31">
                    <a:lumMod val="50000"/>
                  </a:srgbClr>
                </a:solidFill>
                <a:effectLst/>
                <a:uLnTx/>
                <a:uFillTx/>
                <a:latin typeface="Calibri" panose="020F0502020204030204" pitchFamily="34" charset="0"/>
                <a:ea typeface="+mn-ea"/>
                <a:cs typeface="Calibri" panose="020F0502020204030204" pitchFamily="34" charset="0"/>
              </a:rPr>
              <a:t>La saccharase</a:t>
            </a:r>
            <a:r>
              <a:rPr lang="fr-CA" sz="2400" b="1" dirty="0">
                <a:solidFill>
                  <a:prstClr val="black"/>
                </a:solidFill>
                <a:latin typeface="Calibri" panose="020F0502020204030204" pitchFamily="34" charset="0"/>
                <a:cs typeface="Calibri" panose="020F0502020204030204" pitchFamily="34" charset="0"/>
              </a:rPr>
              <a:t>: </a:t>
            </a:r>
            <a:r>
              <a:rPr kumimoji="0" lang="el-GR" sz="2400" b="1" i="0" u="none" strike="noStrike" kern="1200" cap="none" spc="0" normalizeH="0" baseline="0" noProof="0" dirty="0">
                <a:ln>
                  <a:noFill/>
                </a:ln>
                <a:solidFill>
                  <a:srgbClr val="ED7D31">
                    <a:lumMod val="50000"/>
                  </a:srgbClr>
                </a:solidFill>
                <a:effectLst/>
                <a:uLnTx/>
                <a:uFillTx/>
                <a:latin typeface="Calibri" panose="020F0502020204030204" pitchFamily="34" charset="0"/>
                <a:ea typeface="+mn-ea"/>
                <a:cs typeface="Calibri" panose="020F0502020204030204" pitchFamily="34" charset="0"/>
              </a:rPr>
              <a:t>β-</a:t>
            </a:r>
            <a:r>
              <a:rPr kumimoji="0" lang="fr-CA" sz="2400" b="1" i="0" u="none" strike="noStrike" kern="1200" cap="none" spc="0" normalizeH="0" baseline="0" noProof="0" dirty="0" err="1">
                <a:ln>
                  <a:noFill/>
                </a:ln>
                <a:solidFill>
                  <a:srgbClr val="ED7D31">
                    <a:lumMod val="50000"/>
                  </a:srgbClr>
                </a:solidFill>
                <a:effectLst/>
                <a:uLnTx/>
                <a:uFillTx/>
                <a:latin typeface="Calibri" panose="020F0502020204030204" pitchFamily="34" charset="0"/>
                <a:ea typeface="+mn-ea"/>
                <a:cs typeface="Calibri" panose="020F0502020204030204" pitchFamily="34" charset="0"/>
              </a:rPr>
              <a:t>fructosidase</a:t>
            </a:r>
            <a:r>
              <a:rPr kumimoji="0" lang="fr-CA" sz="2400" b="1" i="0" u="none" strike="noStrike" kern="1200" cap="none" spc="0" normalizeH="0" baseline="0" noProof="0" dirty="0">
                <a:ln>
                  <a:noFill/>
                </a:ln>
                <a:solidFill>
                  <a:srgbClr val="ED7D31">
                    <a:lumMod val="50000"/>
                  </a:srgbClr>
                </a:solidFill>
                <a:effectLst/>
                <a:uLnTx/>
                <a:uFillTx/>
                <a:latin typeface="Calibri" panose="020F0502020204030204" pitchFamily="34" charset="0"/>
                <a:ea typeface="+mn-ea"/>
                <a:cs typeface="Calibri" panose="020F0502020204030204" pitchFamily="34" charset="0"/>
              </a:rPr>
              <a:t> </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hydrolyse le saccharose (en glucose et fructose).</a:t>
            </a:r>
          </a:p>
          <a:p>
            <a:pPr marL="342900" marR="0" lvl="0" indent="-342900" algn="l" defTabSz="457200" rtl="0" eaLnBrk="1" fontAlgn="auto" latinLnBrk="0" hangingPunct="1">
              <a:lnSpc>
                <a:spcPct val="150000"/>
              </a:lnSpc>
              <a:spcBef>
                <a:spcPts val="0"/>
              </a:spcBef>
              <a:spcAft>
                <a:spcPts val="0"/>
              </a:spcAft>
              <a:buClrTx/>
              <a:buSzTx/>
              <a:buFontTx/>
              <a:buChar char="-"/>
              <a:tabLst/>
              <a:defRPr/>
            </a:pPr>
            <a:r>
              <a:rPr kumimoji="0" lang="fr-CA" sz="2400" b="1" i="0" u="none" strike="noStrike" kern="1200" cap="none" spc="0" normalizeH="0" baseline="0" noProof="0" dirty="0">
                <a:ln>
                  <a:noFill/>
                </a:ln>
                <a:solidFill>
                  <a:srgbClr val="ED7D31">
                    <a:lumMod val="50000"/>
                  </a:srgbClr>
                </a:solidFill>
                <a:effectLst/>
                <a:uLnTx/>
                <a:uFillTx/>
                <a:latin typeface="Calibri" panose="020F0502020204030204" pitchFamily="34" charset="0"/>
                <a:ea typeface="+mn-ea"/>
                <a:cs typeface="Calibri" panose="020F0502020204030204" pitchFamily="34" charset="0"/>
              </a:rPr>
              <a:t>La lactase </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r>
              <a:rPr kumimoji="0" lang="el-GR" sz="2400" b="1" i="0" u="none" strike="noStrike" kern="1200" cap="none" spc="0" normalizeH="0" baseline="0" noProof="0" dirty="0">
                <a:ln>
                  <a:noFill/>
                </a:ln>
                <a:solidFill>
                  <a:srgbClr val="ED7D31">
                    <a:lumMod val="50000"/>
                  </a:srgbClr>
                </a:solidFill>
                <a:effectLst/>
                <a:uLnTx/>
                <a:uFillTx/>
                <a:latin typeface="Calibri" panose="020F0502020204030204" pitchFamily="34" charset="0"/>
                <a:ea typeface="+mn-ea"/>
                <a:cs typeface="Calibri" panose="020F0502020204030204" pitchFamily="34" charset="0"/>
              </a:rPr>
              <a:t>β-</a:t>
            </a:r>
            <a:r>
              <a:rPr kumimoji="0" lang="fr-CA" sz="2400" b="1" i="0" u="none" strike="noStrike" kern="1200" cap="none" spc="0" normalizeH="0" baseline="0" noProof="0" dirty="0">
                <a:ln>
                  <a:noFill/>
                </a:ln>
                <a:solidFill>
                  <a:srgbClr val="ED7D31">
                    <a:lumMod val="50000"/>
                  </a:srgbClr>
                </a:solidFill>
                <a:effectLst/>
                <a:uLnTx/>
                <a:uFillTx/>
                <a:latin typeface="Calibri" panose="020F0502020204030204" pitchFamily="34" charset="0"/>
                <a:ea typeface="+mn-ea"/>
                <a:cs typeface="Calibri" panose="020F0502020204030204" pitchFamily="34" charset="0"/>
              </a:rPr>
              <a:t>galactosidase</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hydrolyse le lactose en galactose et glucose</a:t>
            </a:r>
          </a:p>
          <a:p>
            <a:pPr marR="0" lvl="0" algn="l" defTabSz="457200" rtl="0" eaLnBrk="1" fontAlgn="auto" latinLnBrk="0" hangingPunct="1">
              <a:lnSpc>
                <a:spcPct val="150000"/>
              </a:lnSpc>
              <a:spcBef>
                <a:spcPts val="0"/>
              </a:spcBef>
              <a:spcAft>
                <a:spcPts val="0"/>
              </a:spcAft>
              <a:buClrTx/>
              <a:buSzTx/>
              <a:tabLst/>
              <a:defRPr/>
            </a:pPr>
            <a:r>
              <a:rPr kumimoji="0" lang="fr-CA" sz="24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Rq</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Il n’</a:t>
            </a:r>
            <a:r>
              <a:rPr kumimoji="0" lang="fr-CA" sz="24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ya</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pas d’enzymes capables de digérer des polysaccharides avec des liaisons </a:t>
            </a:r>
            <a:r>
              <a:rPr kumimoji="0" lang="el-GR"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β-</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glucose.</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a:ln>
                  <a:noFill/>
                </a:ln>
                <a:solidFill>
                  <a:srgbClr val="ED7D31">
                    <a:lumMod val="75000"/>
                  </a:srgbClr>
                </a:solidFill>
                <a:effectLst/>
                <a:uLnTx/>
                <a:uFillTx/>
                <a:latin typeface="Trebuchet MS" panose="020B0603020202020204"/>
                <a:ea typeface="+mn-ea"/>
                <a:cs typeface="+mn-cs"/>
              </a:rPr>
              <a:t>Enzymes de la digestion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406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Étapes de la digestion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50B9DDC1-15E7-4BDB-AC05-4625FCAE385B}"/>
              </a:ext>
            </a:extLst>
          </p:cNvPr>
          <p:cNvSpPr txBox="1"/>
          <p:nvPr/>
        </p:nvSpPr>
        <p:spPr>
          <a:xfrm>
            <a:off x="0" y="1352842"/>
            <a:ext cx="9750287" cy="5575052"/>
          </a:xfrm>
          <a:prstGeom prst="rect">
            <a:avLst/>
          </a:prstGeom>
          <a:noFill/>
        </p:spPr>
        <p:txBody>
          <a:bodyPr wrap="square" rtlCol="0">
            <a:spAutoFit/>
          </a:bodyPr>
          <a:lstStyle/>
          <a:p>
            <a:pPr marL="342900" marR="0" lvl="0" indent="-342900" algn="l" defTabSz="457200" rtl="0" eaLnBrk="1" fontAlgn="auto" latinLnBrk="0" hangingPunct="1">
              <a:lnSpc>
                <a:spcPct val="150000"/>
              </a:lnSpc>
              <a:spcBef>
                <a:spcPts val="0"/>
              </a:spcBef>
              <a:spcAft>
                <a:spcPts val="0"/>
              </a:spcAft>
              <a:buClrTx/>
              <a:buSzTx/>
              <a:buFontTx/>
              <a:buChar char="-"/>
              <a:tabLst/>
              <a:defRPr/>
            </a:pP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Alpha amylase: inactivé par l’acidité gastrique, à ce stade, les glucides sont réduits à des chainons de  moins de 8 unités de </a:t>
            </a:r>
            <a:r>
              <a:rPr kumimoji="0" lang="fr-CA" sz="24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Glc</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p>
          <a:p>
            <a:pPr marL="342900" marR="0" lvl="0" indent="-342900" algn="l" defTabSz="457200" rtl="0" eaLnBrk="1" fontAlgn="auto" latinLnBrk="0" hangingPunct="1">
              <a:lnSpc>
                <a:spcPct val="150000"/>
              </a:lnSpc>
              <a:spcBef>
                <a:spcPts val="0"/>
              </a:spcBef>
              <a:spcAft>
                <a:spcPts val="0"/>
              </a:spcAft>
              <a:buClrTx/>
              <a:buSzTx/>
              <a:buFontTx/>
              <a:buChar char="-"/>
              <a:tabLst/>
              <a:defRPr/>
            </a:pP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Alpha amylase pancréatique prend le relai dans le duodénum. En dégradant les glucides en un mélange </a:t>
            </a:r>
            <a:r>
              <a:rPr lang="fr-CA" sz="2400" dirty="0">
                <a:solidFill>
                  <a:prstClr val="black"/>
                </a:solidFill>
                <a:latin typeface="Calibri" panose="020F0502020204030204" pitchFamily="34" charset="0"/>
                <a:cs typeface="Calibri" panose="020F0502020204030204" pitchFamily="34" charset="0"/>
              </a:rPr>
              <a:t>du disaccharide maltose, du </a:t>
            </a:r>
            <a:r>
              <a:rPr lang="fr-CA" sz="2400" dirty="0" err="1">
                <a:solidFill>
                  <a:prstClr val="black"/>
                </a:solidFill>
                <a:latin typeface="Calibri" panose="020F0502020204030204" pitchFamily="34" charset="0"/>
                <a:cs typeface="Calibri" panose="020F0502020204030204" pitchFamily="34" charset="0"/>
              </a:rPr>
              <a:t>trisaccharide</a:t>
            </a:r>
            <a:r>
              <a:rPr lang="fr-CA" sz="2400" dirty="0">
                <a:solidFill>
                  <a:prstClr val="black"/>
                </a:solidFill>
                <a:latin typeface="Calibri" panose="020F0502020204030204" pitchFamily="34" charset="0"/>
                <a:cs typeface="Calibri" panose="020F0502020204030204" pitchFamily="34" charset="0"/>
              </a:rPr>
              <a:t> </a:t>
            </a:r>
            <a:r>
              <a:rPr lang="fr-CA" sz="2400" dirty="0" err="1">
                <a:solidFill>
                  <a:prstClr val="black"/>
                </a:solidFill>
                <a:latin typeface="Calibri" panose="020F0502020204030204" pitchFamily="34" charset="0"/>
                <a:cs typeface="Calibri" panose="020F0502020204030204" pitchFamily="34" charset="0"/>
              </a:rPr>
              <a:t>maltotriose</a:t>
            </a:r>
            <a:r>
              <a:rPr lang="fr-CA" sz="2400" dirty="0">
                <a:solidFill>
                  <a:prstClr val="black"/>
                </a:solidFill>
                <a:latin typeface="Calibri" panose="020F0502020204030204" pitchFamily="34" charset="0"/>
                <a:cs typeface="Calibri" panose="020F0502020204030204" pitchFamily="34" charset="0"/>
              </a:rPr>
              <a:t>, et dextrines. </a:t>
            </a:r>
          </a:p>
          <a:p>
            <a:pPr marL="342900" marR="0" lvl="0" indent="-342900" algn="l" defTabSz="457200" rtl="0" eaLnBrk="1" fontAlgn="auto" latinLnBrk="0" hangingPunct="1">
              <a:lnSpc>
                <a:spcPct val="150000"/>
              </a:lnSpc>
              <a:spcBef>
                <a:spcPts val="0"/>
              </a:spcBef>
              <a:spcAft>
                <a:spcPts val="0"/>
              </a:spcAft>
              <a:buClrTx/>
              <a:buSzTx/>
              <a:buFontTx/>
              <a:buChar char="-"/>
              <a:tabLst/>
              <a:defRPr/>
            </a:pPr>
            <a:r>
              <a:rPr lang="fr-CA" sz="2400" dirty="0">
                <a:solidFill>
                  <a:prstClr val="black"/>
                </a:solidFill>
                <a:latin typeface="Calibri" panose="020F0502020204030204" pitchFamily="34" charset="0"/>
                <a:cs typeface="Calibri" panose="020F0502020204030204" pitchFamily="34" charset="0"/>
              </a:rPr>
              <a:t>Enzymes de la bordure en brosse: continue la dégradation des oligosaccharides:</a:t>
            </a:r>
          </a:p>
          <a:p>
            <a:pPr marL="800100" lvl="1" indent="-342900">
              <a:lnSpc>
                <a:spcPct val="150000"/>
              </a:lnSpc>
              <a:buFontTx/>
              <a:buChar char="-"/>
              <a:defRPr/>
            </a:pPr>
            <a:r>
              <a:rPr lang="fr-CA" sz="2400" dirty="0">
                <a:solidFill>
                  <a:prstClr val="black"/>
                </a:solidFill>
                <a:latin typeface="Calibri" panose="020F0502020204030204" pitchFamily="34" charset="0"/>
                <a:cs typeface="Calibri" panose="020F0502020204030204" pitchFamily="34" charset="0"/>
              </a:rPr>
              <a:t>La </a:t>
            </a:r>
            <a:r>
              <a:rPr lang="fr-CA" sz="2400" dirty="0" err="1">
                <a:solidFill>
                  <a:prstClr val="black"/>
                </a:solidFill>
                <a:latin typeface="Calibri" panose="020F0502020204030204" pitchFamily="34" charset="0"/>
                <a:cs typeface="Calibri" panose="020F0502020204030204" pitchFamily="34" charset="0"/>
              </a:rPr>
              <a:t>dextrinase</a:t>
            </a:r>
            <a:r>
              <a:rPr lang="fr-CA" sz="2400" dirty="0">
                <a:solidFill>
                  <a:prstClr val="black"/>
                </a:solidFill>
                <a:latin typeface="Calibri" panose="020F0502020204030204" pitchFamily="34" charset="0"/>
                <a:cs typeface="Calibri" panose="020F0502020204030204" pitchFamily="34" charset="0"/>
              </a:rPr>
              <a:t>: coupe les branchements des dextrines</a:t>
            </a:r>
          </a:p>
          <a:p>
            <a:pPr marL="800100" lvl="1" indent="-342900">
              <a:lnSpc>
                <a:spcPct val="150000"/>
              </a:lnSpc>
              <a:buFontTx/>
              <a:buChar char="-"/>
              <a:defRPr/>
            </a:pPr>
            <a:r>
              <a:rPr lang="fr-CA" sz="2400" dirty="0" err="1">
                <a:solidFill>
                  <a:prstClr val="black"/>
                </a:solidFill>
                <a:latin typeface="Calibri" panose="020F0502020204030204" pitchFamily="34" charset="0"/>
                <a:cs typeface="Calibri" panose="020F0502020204030204" pitchFamily="34" charset="0"/>
              </a:rPr>
              <a:t>Disacchaidases</a:t>
            </a:r>
            <a:r>
              <a:rPr lang="fr-CA" sz="2400" dirty="0">
                <a:solidFill>
                  <a:prstClr val="black"/>
                </a:solidFill>
                <a:latin typeface="Calibri" panose="020F0502020204030204" pitchFamily="34" charset="0"/>
                <a:cs typeface="Calibri" panose="020F0502020204030204" pitchFamily="34" charset="0"/>
              </a:rPr>
              <a:t>:  dégradent les disaccharides en monosaccharides, aptes à être absorbé. </a:t>
            </a:r>
            <a:endParaRPr lang="fr-FR" sz="2400" dirty="0">
              <a:solidFill>
                <a:prstClr val="black"/>
              </a:solidFill>
              <a:latin typeface="Calibri" panose="020F0502020204030204" pitchFamily="34" charset="0"/>
              <a:cs typeface="Calibri" panose="020F0502020204030204" pitchFamily="34" charset="0"/>
            </a:endParaRPr>
          </a:p>
        </p:txBody>
      </p:sp>
      <p:pic>
        <p:nvPicPr>
          <p:cNvPr id="6" name="Picture 2">
            <a:extLst>
              <a:ext uri="{FF2B5EF4-FFF2-40B4-BE49-F238E27FC236}">
                <a16:creationId xmlns:a16="http://schemas.microsoft.com/office/drawing/2014/main" id="{6D14931A-6B1C-400A-8A39-60E3392FFF48}"/>
              </a:ext>
            </a:extLst>
          </p:cNvPr>
          <p:cNvPicPr>
            <a:picLocks noGrp="1" noChangeAspect="1" noChangeArrowheads="1"/>
          </p:cNvPicPr>
          <p:nvPr/>
        </p:nvPicPr>
        <p:blipFill>
          <a:blip r:embed="rId2"/>
          <a:srcRect/>
          <a:stretch>
            <a:fillRect/>
          </a:stretch>
        </p:blipFill>
        <p:spPr bwMode="auto">
          <a:xfrm>
            <a:off x="290945" y="938066"/>
            <a:ext cx="9144000" cy="5798127"/>
          </a:xfrm>
          <a:prstGeom prst="rect">
            <a:avLst/>
          </a:prstGeom>
          <a:noFill/>
          <a:ln w="9525">
            <a:noFill/>
            <a:miter lim="800000"/>
            <a:headEnd/>
            <a:tailEnd/>
          </a:ln>
          <a:effectLst/>
        </p:spPr>
      </p:pic>
    </p:spTree>
    <p:extLst>
      <p:ext uri="{BB962C8B-B14F-4D97-AF65-F5344CB8AC3E}">
        <p14:creationId xmlns:p14="http://schemas.microsoft.com/office/powerpoint/2010/main" val="1406976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332509" y="1206932"/>
            <a:ext cx="11315699" cy="754694"/>
          </a:xfrm>
          <a:prstGeom prst="rect">
            <a:avLst/>
          </a:prstGeom>
          <a:noFill/>
        </p:spPr>
        <p:txBody>
          <a:bodyPr wrap="square" rtlCol="0">
            <a:spAutoFit/>
          </a:bodyPr>
          <a:lstStyle/>
          <a:p>
            <a:pPr>
              <a:lnSpc>
                <a:spcPct val="150000"/>
              </a:lnSpc>
            </a:pPr>
            <a:r>
              <a:rPr lang="fr-CA" sz="3200" b="1" dirty="0">
                <a:solidFill>
                  <a:schemeClr val="accent1">
                    <a:lumMod val="75000"/>
                  </a:schemeClr>
                </a:solidFill>
                <a:latin typeface="Calibri" panose="020F0502020204030204" pitchFamily="34" charset="0"/>
                <a:cs typeface="Calibri" panose="020F0502020204030204" pitchFamily="34" charset="0"/>
              </a:rPr>
              <a:t>1- digestion dans la lumière du tractus digestif</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Etapes de la digestion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Espace réservé du contenu 3">
            <a:extLst>
              <a:ext uri="{FF2B5EF4-FFF2-40B4-BE49-F238E27FC236}">
                <a16:creationId xmlns:a16="http://schemas.microsoft.com/office/drawing/2014/main" id="{692874F3-71C4-4B98-A835-3EE1A1351627}"/>
              </a:ext>
            </a:extLst>
          </p:cNvPr>
          <p:cNvPicPr>
            <a:picLocks noGrp="1"/>
          </p:cNvPicPr>
          <p:nvPr/>
        </p:nvPicPr>
        <p:blipFill>
          <a:blip r:embed="rId2"/>
          <a:stretch>
            <a:fillRect/>
          </a:stretch>
        </p:blipFill>
        <p:spPr bwMode="auto">
          <a:xfrm>
            <a:off x="1333499" y="2700290"/>
            <a:ext cx="7467600" cy="3616158"/>
          </a:xfrm>
          <a:prstGeom prst="rect">
            <a:avLst/>
          </a:prstGeom>
          <a:noFill/>
          <a:ln w="9525">
            <a:noFill/>
            <a:miter lim="800000"/>
            <a:headEnd/>
            <a:tailEnd/>
          </a:ln>
        </p:spPr>
      </p:pic>
    </p:spTree>
    <p:extLst>
      <p:ext uri="{BB962C8B-B14F-4D97-AF65-F5344CB8AC3E}">
        <p14:creationId xmlns:p14="http://schemas.microsoft.com/office/powerpoint/2010/main" val="1504133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332509" y="1206932"/>
            <a:ext cx="11315699" cy="754694"/>
          </a:xfrm>
          <a:prstGeom prst="rect">
            <a:avLst/>
          </a:prstGeom>
          <a:noFill/>
        </p:spPr>
        <p:txBody>
          <a:bodyPr wrap="square" rtlCol="0">
            <a:spAutoFit/>
          </a:bodyPr>
          <a:lstStyle/>
          <a:p>
            <a:pPr>
              <a:lnSpc>
                <a:spcPct val="150000"/>
              </a:lnSpc>
            </a:pPr>
            <a:r>
              <a:rPr lang="fr-CA" sz="3200" b="1" dirty="0">
                <a:solidFill>
                  <a:schemeClr val="accent1">
                    <a:lumMod val="75000"/>
                  </a:schemeClr>
                </a:solidFill>
                <a:latin typeface="Calibri" panose="020F0502020204030204" pitchFamily="34" charset="0"/>
                <a:cs typeface="Calibri" panose="020F0502020204030204" pitchFamily="34" charset="0"/>
              </a:rPr>
              <a:t>2- digestion dans la bordure en brosse intestinale</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Etapes de la digestion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Espace réservé du contenu 3">
            <a:extLst>
              <a:ext uri="{FF2B5EF4-FFF2-40B4-BE49-F238E27FC236}">
                <a16:creationId xmlns:a16="http://schemas.microsoft.com/office/drawing/2014/main" id="{FB0FE756-34CF-4151-9BFA-3A4C2A83D2DB}"/>
              </a:ext>
            </a:extLst>
          </p:cNvPr>
          <p:cNvPicPr>
            <a:picLocks noGrp="1"/>
          </p:cNvPicPr>
          <p:nvPr/>
        </p:nvPicPr>
        <p:blipFill>
          <a:blip r:embed="rId2"/>
          <a:stretch>
            <a:fillRect/>
          </a:stretch>
        </p:blipFill>
        <p:spPr bwMode="auto">
          <a:xfrm>
            <a:off x="1625269" y="2587335"/>
            <a:ext cx="6257143" cy="4137031"/>
          </a:xfrm>
          <a:prstGeom prst="rect">
            <a:avLst/>
          </a:prstGeom>
          <a:noFill/>
          <a:ln w="9525">
            <a:noFill/>
            <a:miter lim="800000"/>
            <a:headEnd/>
            <a:tailEnd/>
          </a:ln>
        </p:spPr>
      </p:pic>
    </p:spTree>
    <p:extLst>
      <p:ext uri="{BB962C8B-B14F-4D97-AF65-F5344CB8AC3E}">
        <p14:creationId xmlns:p14="http://schemas.microsoft.com/office/powerpoint/2010/main" val="1484472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770255" y="1018309"/>
            <a:ext cx="9579976" cy="3543727"/>
          </a:xfrm>
          <a:prstGeom prst="rect">
            <a:avLst/>
          </a:prstGeom>
          <a:noFill/>
        </p:spPr>
        <p:txBody>
          <a:bodyPr wrap="square" rtlCol="0">
            <a:spAutoFit/>
          </a:bodyPr>
          <a:lstStyle/>
          <a:p>
            <a:pPr>
              <a:lnSpc>
                <a:spcPct val="150000"/>
              </a:lnSpc>
            </a:pPr>
            <a:endParaRPr lang="fr-CA" sz="2400" dirty="0">
              <a:latin typeface="Calibri" panose="020F0502020204030204" pitchFamily="34" charset="0"/>
              <a:cs typeface="Calibri" panose="020F0502020204030204" pitchFamily="34" charset="0"/>
            </a:endParaRPr>
          </a:p>
          <a:p>
            <a:pPr marL="457200" indent="-457200">
              <a:lnSpc>
                <a:spcPct val="150000"/>
              </a:lnSpc>
              <a:buFont typeface="+mj-lt"/>
              <a:buAutoNum type="arabicPeriod"/>
            </a:pPr>
            <a:endParaRPr lang="fr-CA" sz="2400" dirty="0">
              <a:latin typeface="Calibri" panose="020F0502020204030204" pitchFamily="34" charset="0"/>
              <a:cs typeface="Calibri" panose="020F0502020204030204" pitchFamily="34" charset="0"/>
            </a:endParaRPr>
          </a:p>
          <a:p>
            <a:pPr marL="457200" indent="-457200">
              <a:lnSpc>
                <a:spcPct val="150000"/>
              </a:lnSpc>
              <a:buFont typeface="+mj-lt"/>
              <a:buAutoNum type="arabicPeriod"/>
            </a:pPr>
            <a:r>
              <a:rPr lang="fr-CA" sz="2800" b="1" dirty="0">
                <a:latin typeface="Calibri" panose="020F0502020204030204" pitchFamily="34" charset="0"/>
                <a:cs typeface="Calibri" panose="020F0502020204030204" pitchFamily="34" charset="0"/>
              </a:rPr>
              <a:t>SGLT : </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(Sodium-</a:t>
            </a:r>
            <a:r>
              <a:rPr kumimoji="0" lang="fr-CA" sz="24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dependent</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Glucose Transporter) </a:t>
            </a:r>
          </a:p>
          <a:p>
            <a:pPr lvl="2">
              <a:lnSpc>
                <a:spcPct val="150000"/>
              </a:lnSpc>
            </a:pPr>
            <a:r>
              <a:rPr lang="fr-CA" sz="2400" dirty="0">
                <a:solidFill>
                  <a:prstClr val="black"/>
                </a:solidFill>
                <a:latin typeface="Calibri" panose="020F0502020204030204" pitchFamily="34" charset="0"/>
                <a:cs typeface="Calibri" panose="020F0502020204030204" pitchFamily="34" charset="0"/>
              </a:rPr>
              <a:t>     </a:t>
            </a:r>
            <a:r>
              <a:rPr lang="fr-CA" sz="2400" dirty="0">
                <a:latin typeface="Calibri" panose="020F0502020204030204" pitchFamily="34" charset="0"/>
                <a:cs typeface="Calibri" panose="020F0502020204030204" pitchFamily="34" charset="0"/>
              </a:rPr>
              <a:t>Un transport actif secondaire couplé aux ions sodium</a:t>
            </a:r>
          </a:p>
          <a:p>
            <a:pPr marL="457200" indent="-457200">
              <a:lnSpc>
                <a:spcPct val="150000"/>
              </a:lnSpc>
              <a:buFont typeface="+mj-lt"/>
              <a:buAutoNum type="arabicPeriod"/>
            </a:pPr>
            <a:r>
              <a:rPr lang="fr-CA" sz="2800" b="1" dirty="0">
                <a:latin typeface="Calibri" panose="020F0502020204030204" pitchFamily="34" charset="0"/>
                <a:cs typeface="Calibri" panose="020F0502020204030204" pitchFamily="34" charset="0"/>
              </a:rPr>
              <a:t>GLUT : </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r>
              <a:rPr kumimoji="0" lang="fr-CA" sz="24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GLUcose</a:t>
            </a:r>
            <a:r>
              <a:rPr kumimoji="0" lang="fr-CA"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Transporter). </a:t>
            </a:r>
          </a:p>
          <a:p>
            <a:pPr lvl="2">
              <a:lnSpc>
                <a:spcPct val="150000"/>
              </a:lnSpc>
            </a:pPr>
            <a:r>
              <a:rPr lang="fr-CA" sz="2400" dirty="0">
                <a:solidFill>
                  <a:prstClr val="black"/>
                </a:solidFill>
                <a:latin typeface="Calibri" panose="020F0502020204030204" pitchFamily="34" charset="0"/>
                <a:cs typeface="Calibri" panose="020F0502020204030204" pitchFamily="34" charset="0"/>
              </a:rPr>
              <a:t>    </a:t>
            </a:r>
            <a:r>
              <a:rPr lang="fr-CA" sz="2400" dirty="0">
                <a:latin typeface="Calibri" panose="020F0502020204030204" pitchFamily="34" charset="0"/>
                <a:cs typeface="Calibri" panose="020F0502020204030204" pitchFamily="34" charset="0"/>
              </a:rPr>
              <a:t>Une diffusion facilitée grâce aux transporteurs </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Absorption intestinale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CEF6F91E-A0BC-40DA-9D52-8E444CDDE593}"/>
              </a:ext>
            </a:extLst>
          </p:cNvPr>
          <p:cNvPicPr>
            <a:picLocks noChangeAspect="1"/>
          </p:cNvPicPr>
          <p:nvPr/>
        </p:nvPicPr>
        <p:blipFill>
          <a:blip r:embed="rId2">
            <a:lum bright="-20000" contrast="40000"/>
          </a:blip>
          <a:stretch>
            <a:fillRect/>
          </a:stretch>
        </p:blipFill>
        <p:spPr>
          <a:xfrm>
            <a:off x="126460" y="1655363"/>
            <a:ext cx="10557164" cy="4451946"/>
          </a:xfrm>
          <a:prstGeom prst="rect">
            <a:avLst/>
          </a:prstGeom>
        </p:spPr>
      </p:pic>
    </p:spTree>
    <p:extLst>
      <p:ext uri="{BB962C8B-B14F-4D97-AF65-F5344CB8AC3E}">
        <p14:creationId xmlns:p14="http://schemas.microsoft.com/office/powerpoint/2010/main" val="3466755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332509" y="1518659"/>
            <a:ext cx="11315699" cy="3451394"/>
          </a:xfrm>
          <a:prstGeom prst="rect">
            <a:avLst/>
          </a:prstGeom>
          <a:noFill/>
        </p:spPr>
        <p:txBody>
          <a:bodyPr wrap="square" rtlCol="0">
            <a:spAutoFit/>
          </a:bodyPr>
          <a:lstStyle/>
          <a:p>
            <a:pPr>
              <a:lnSpc>
                <a:spcPct val="150000"/>
              </a:lnSpc>
            </a:pPr>
            <a:r>
              <a:rPr lang="fr-CA" sz="2800" b="1" dirty="0">
                <a:latin typeface="Calibri" panose="020F0502020204030204" pitchFamily="34" charset="0"/>
                <a:cs typeface="Calibri" panose="020F0502020204030204" pitchFamily="34" charset="0"/>
              </a:rPr>
              <a:t>Les transporteurs SGLT </a:t>
            </a:r>
          </a:p>
          <a:p>
            <a:pPr>
              <a:lnSpc>
                <a:spcPct val="150000"/>
              </a:lnSpc>
            </a:pPr>
            <a:r>
              <a:rPr lang="fr-CA" sz="2400" dirty="0">
                <a:latin typeface="Calibri" panose="020F0502020204030204" pitchFamily="34" charset="0"/>
                <a:cs typeface="Calibri" panose="020F0502020204030204" pitchFamily="34" charset="0"/>
              </a:rPr>
              <a:t>Les transporteurs SGLT permettent le passage du glucose et du galactose dans l'entérocyte (absorption intestinale) contre leur gradient de concentration.</a:t>
            </a:r>
          </a:p>
          <a:p>
            <a:pPr>
              <a:lnSpc>
                <a:spcPct val="150000"/>
              </a:lnSpc>
            </a:pPr>
            <a:r>
              <a:rPr lang="fr-CA" sz="2400" dirty="0">
                <a:latin typeface="Calibri" panose="020F0502020204030204" pitchFamily="34" charset="0"/>
                <a:cs typeface="Calibri" panose="020F0502020204030204" pitchFamily="34" charset="0"/>
              </a:rPr>
              <a:t> Le glucose est transporté conjointement au sodium d’abord par voie passive (sans utilisation d’ATP) , puis il </a:t>
            </a:r>
            <a:r>
              <a:rPr lang="fr-CA" sz="2400" dirty="0" err="1">
                <a:latin typeface="Calibri" panose="020F0502020204030204" pitchFamily="34" charset="0"/>
                <a:cs typeface="Calibri" panose="020F0502020204030204" pitchFamily="34" charset="0"/>
              </a:rPr>
              <a:t>ya</a:t>
            </a:r>
            <a:r>
              <a:rPr lang="fr-CA" sz="2400" dirty="0">
                <a:latin typeface="Calibri" panose="020F0502020204030204" pitchFamily="34" charset="0"/>
                <a:cs typeface="Calibri" panose="020F0502020204030204" pitchFamily="34" charset="0"/>
              </a:rPr>
              <a:t> expulsion du sodium de la cellule et une entrée du potassium en hydrolysant de l’ATP et cela, à fin de maintenir l’équilibre.</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Absorption intestinale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Image 6">
            <a:extLst>
              <a:ext uri="{FF2B5EF4-FFF2-40B4-BE49-F238E27FC236}">
                <a16:creationId xmlns:a16="http://schemas.microsoft.com/office/drawing/2014/main" id="{FBF5386B-FCDB-4099-BB48-7B11BC930639}"/>
              </a:ext>
            </a:extLst>
          </p:cNvPr>
          <p:cNvPicPr>
            <a:picLocks noChangeAspect="1"/>
          </p:cNvPicPr>
          <p:nvPr/>
        </p:nvPicPr>
        <p:blipFill>
          <a:blip r:embed="rId2"/>
          <a:stretch>
            <a:fillRect/>
          </a:stretch>
        </p:blipFill>
        <p:spPr>
          <a:xfrm>
            <a:off x="1303507" y="2182452"/>
            <a:ext cx="8131438" cy="4390615"/>
          </a:xfrm>
          <a:prstGeom prst="rect">
            <a:avLst/>
          </a:prstGeom>
        </p:spPr>
      </p:pic>
    </p:spTree>
    <p:extLst>
      <p:ext uri="{BB962C8B-B14F-4D97-AF65-F5344CB8AC3E}">
        <p14:creationId xmlns:p14="http://schemas.microsoft.com/office/powerpoint/2010/main" val="386571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332509" y="1518659"/>
            <a:ext cx="11315699" cy="1143070"/>
          </a:xfrm>
          <a:prstGeom prst="rect">
            <a:avLst/>
          </a:prstGeom>
          <a:noFill/>
        </p:spPr>
        <p:txBody>
          <a:bodyPr wrap="square" rtlCol="0">
            <a:spAutoFit/>
          </a:bodyPr>
          <a:lstStyle/>
          <a:p>
            <a:pPr>
              <a:lnSpc>
                <a:spcPct val="150000"/>
              </a:lnSpc>
            </a:pPr>
            <a:r>
              <a:rPr lang="fr-CA" sz="2400" dirty="0">
                <a:latin typeface="Calibri" panose="020F0502020204030204" pitchFamily="34" charset="0"/>
                <a:cs typeface="Calibri" panose="020F0502020204030204" pitchFamily="34" charset="0"/>
              </a:rPr>
              <a:t>Ces transporteurs sont localisés dans les bordures en brosse des entérocytes de l’intestin grêle (SGLT1 intestinal) et dans les cellules du tube proximal du rein (SGLT2 rénal).</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Absorption intestinale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9EBEF568-149E-4A2F-8A11-8F981F8BBD50}"/>
              </a:ext>
            </a:extLst>
          </p:cNvPr>
          <p:cNvPicPr>
            <a:picLocks noChangeAspect="1"/>
          </p:cNvPicPr>
          <p:nvPr/>
        </p:nvPicPr>
        <p:blipFill>
          <a:blip r:embed="rId2"/>
          <a:stretch>
            <a:fillRect/>
          </a:stretch>
        </p:blipFill>
        <p:spPr>
          <a:xfrm>
            <a:off x="2140527" y="2826327"/>
            <a:ext cx="6005946" cy="3903616"/>
          </a:xfrm>
          <a:prstGeom prst="rect">
            <a:avLst/>
          </a:prstGeom>
        </p:spPr>
      </p:pic>
    </p:spTree>
    <p:extLst>
      <p:ext uri="{BB962C8B-B14F-4D97-AF65-F5344CB8AC3E}">
        <p14:creationId xmlns:p14="http://schemas.microsoft.com/office/powerpoint/2010/main" val="1626159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438150" y="1098553"/>
            <a:ext cx="11315699" cy="2251065"/>
          </a:xfrm>
          <a:prstGeom prst="rect">
            <a:avLst/>
          </a:prstGeom>
          <a:noFill/>
        </p:spPr>
        <p:txBody>
          <a:bodyPr wrap="square" rtlCol="0">
            <a:spAutoFit/>
          </a:bodyPr>
          <a:lstStyle/>
          <a:p>
            <a:pPr>
              <a:lnSpc>
                <a:spcPct val="150000"/>
              </a:lnSpc>
            </a:pPr>
            <a:r>
              <a:rPr lang="fr-CA" sz="2400" b="1" dirty="0">
                <a:solidFill>
                  <a:srgbClr val="002060"/>
                </a:solidFill>
                <a:latin typeface="Calibri" panose="020F0502020204030204" pitchFamily="34" charset="0"/>
                <a:cs typeface="Calibri" panose="020F0502020204030204" pitchFamily="34" charset="0"/>
              </a:rPr>
              <a:t>Les transporteurs GLUT </a:t>
            </a:r>
          </a:p>
          <a:p>
            <a:pPr>
              <a:lnSpc>
                <a:spcPct val="150000"/>
              </a:lnSpc>
            </a:pPr>
            <a:r>
              <a:rPr lang="fr-CA" sz="2400" dirty="0">
                <a:latin typeface="Calibri" panose="020F0502020204030204" pitchFamily="34" charset="0"/>
                <a:cs typeface="Calibri" panose="020F0502020204030204" pitchFamily="34" charset="0"/>
              </a:rPr>
              <a:t>Les oses arrivent aux cellules cibles par voie sanguine</a:t>
            </a:r>
          </a:p>
          <a:p>
            <a:pPr>
              <a:lnSpc>
                <a:spcPct val="150000"/>
              </a:lnSpc>
            </a:pPr>
            <a:r>
              <a:rPr lang="fr-CA" sz="2400" dirty="0">
                <a:latin typeface="Calibri" panose="020F0502020204030204" pitchFamily="34" charset="0"/>
                <a:cs typeface="Calibri" panose="020F0502020204030204" pitchFamily="34" charset="0"/>
              </a:rPr>
              <a:t>Ils se solubilisent facilement dans le sang après leur sortie de l’intestin.</a:t>
            </a:r>
          </a:p>
          <a:p>
            <a:pPr>
              <a:lnSpc>
                <a:spcPct val="150000"/>
              </a:lnSpc>
            </a:pPr>
            <a:r>
              <a:rPr lang="fr-CA" sz="2400" dirty="0">
                <a:latin typeface="Calibri" panose="020F0502020204030204" pitchFamily="34" charset="0"/>
                <a:cs typeface="Calibri" panose="020F0502020204030204" pitchFamily="34" charset="0"/>
              </a:rPr>
              <a:t>Ils pénètrent dans les cellules par les transporteurs GLUT.</a:t>
            </a: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Absorption intestinale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4064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438150" y="1098553"/>
            <a:ext cx="11315699" cy="1143070"/>
          </a:xfrm>
          <a:prstGeom prst="rect">
            <a:avLst/>
          </a:prstGeom>
          <a:noFill/>
        </p:spPr>
        <p:txBody>
          <a:bodyPr wrap="square" rtlCol="0">
            <a:spAutoFit/>
          </a:bodyPr>
          <a:lstStyle/>
          <a:p>
            <a:pPr>
              <a:lnSpc>
                <a:spcPct val="150000"/>
              </a:lnSpc>
            </a:pPr>
            <a:r>
              <a:rPr lang="fr-CA" sz="2400" b="1" dirty="0">
                <a:solidFill>
                  <a:srgbClr val="002060"/>
                </a:solidFill>
                <a:latin typeface="Calibri" panose="020F0502020204030204" pitchFamily="34" charset="0"/>
                <a:cs typeface="Calibri" panose="020F0502020204030204" pitchFamily="34" charset="0"/>
              </a:rPr>
              <a:t>Les transporteurs GLUT </a:t>
            </a:r>
          </a:p>
          <a:p>
            <a:pPr>
              <a:lnSpc>
                <a:spcPct val="150000"/>
              </a:lnSpc>
            </a:pPr>
            <a:endParaRPr lang="fr-CA" sz="2400" dirty="0">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Absorption intestinale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au 3">
            <a:extLst>
              <a:ext uri="{FF2B5EF4-FFF2-40B4-BE49-F238E27FC236}">
                <a16:creationId xmlns:a16="http://schemas.microsoft.com/office/drawing/2014/main" id="{81FB1454-2320-46C7-8EAB-1871767E3B94}"/>
              </a:ext>
            </a:extLst>
          </p:cNvPr>
          <p:cNvGraphicFramePr>
            <a:graphicFrameLocks noGrp="1"/>
          </p:cNvGraphicFramePr>
          <p:nvPr>
            <p:extLst>
              <p:ext uri="{D42A27DB-BD31-4B8C-83A1-F6EECF244321}">
                <p14:modId xmlns:p14="http://schemas.microsoft.com/office/powerpoint/2010/main" val="308444013"/>
              </p:ext>
            </p:extLst>
          </p:nvPr>
        </p:nvGraphicFramePr>
        <p:xfrm>
          <a:off x="224141" y="206690"/>
          <a:ext cx="11635350" cy="6447027"/>
        </p:xfrm>
        <a:graphic>
          <a:graphicData uri="http://schemas.openxmlformats.org/drawingml/2006/table">
            <a:tbl>
              <a:tblPr firstRow="1" firstCol="1" bandRow="1">
                <a:tableStyleId>{5202B0CA-FC54-4496-8BCA-5EF66A818D29}</a:tableStyleId>
              </a:tblPr>
              <a:tblGrid>
                <a:gridCol w="1682480">
                  <a:extLst>
                    <a:ext uri="{9D8B030D-6E8A-4147-A177-3AD203B41FA5}">
                      <a16:colId xmlns:a16="http://schemas.microsoft.com/office/drawing/2014/main" val="4187477475"/>
                    </a:ext>
                  </a:extLst>
                </a:gridCol>
                <a:gridCol w="1867711">
                  <a:extLst>
                    <a:ext uri="{9D8B030D-6E8A-4147-A177-3AD203B41FA5}">
                      <a16:colId xmlns:a16="http://schemas.microsoft.com/office/drawing/2014/main" val="3754576598"/>
                    </a:ext>
                  </a:extLst>
                </a:gridCol>
                <a:gridCol w="3464849">
                  <a:extLst>
                    <a:ext uri="{9D8B030D-6E8A-4147-A177-3AD203B41FA5}">
                      <a16:colId xmlns:a16="http://schemas.microsoft.com/office/drawing/2014/main" val="1327620749"/>
                    </a:ext>
                  </a:extLst>
                </a:gridCol>
                <a:gridCol w="4620310">
                  <a:extLst>
                    <a:ext uri="{9D8B030D-6E8A-4147-A177-3AD203B41FA5}">
                      <a16:colId xmlns:a16="http://schemas.microsoft.com/office/drawing/2014/main" val="3332942411"/>
                    </a:ext>
                  </a:extLst>
                </a:gridCol>
              </a:tblGrid>
              <a:tr h="295385">
                <a:tc>
                  <a:txBody>
                    <a:bodyPr/>
                    <a:lstStyle/>
                    <a:p>
                      <a:pPr>
                        <a:lnSpc>
                          <a:spcPct val="115000"/>
                        </a:lnSpc>
                        <a:spcAft>
                          <a:spcPts val="1000"/>
                        </a:spcAft>
                      </a:pPr>
                      <a:r>
                        <a:rPr lang="fr-CA" sz="1800" dirty="0">
                          <a:solidFill>
                            <a:schemeClr val="bg1"/>
                          </a:solidFill>
                          <a:effectLst/>
                        </a:rPr>
                        <a:t>Transporteurs </a:t>
                      </a:r>
                      <a:endParaRPr lang="fr-DZ" sz="1400" dirty="0">
                        <a:solidFill>
                          <a:schemeClr val="bg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dirty="0">
                          <a:solidFill>
                            <a:schemeClr val="bg1"/>
                          </a:solidFill>
                          <a:effectLst/>
                        </a:rPr>
                        <a:t>Substrat </a:t>
                      </a:r>
                      <a:endParaRPr lang="fr-DZ" sz="1400" dirty="0">
                        <a:solidFill>
                          <a:schemeClr val="bg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dirty="0">
                          <a:solidFill>
                            <a:schemeClr val="bg1"/>
                          </a:solidFill>
                          <a:effectLst/>
                        </a:rPr>
                        <a:t>Localisation </a:t>
                      </a:r>
                      <a:endParaRPr lang="fr-DZ" sz="1400" dirty="0">
                        <a:solidFill>
                          <a:schemeClr val="bg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dirty="0">
                          <a:solidFill>
                            <a:schemeClr val="bg1"/>
                          </a:solidFill>
                          <a:effectLst/>
                        </a:rPr>
                        <a:t>Rôle </a:t>
                      </a:r>
                      <a:endParaRPr lang="fr-DZ" sz="1400" dirty="0">
                        <a:solidFill>
                          <a:schemeClr val="bg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extLst>
                  <a:ext uri="{0D108BD9-81ED-4DB2-BD59-A6C34878D82A}">
                    <a16:rowId xmlns:a16="http://schemas.microsoft.com/office/drawing/2014/main" val="1625850062"/>
                  </a:ext>
                </a:extLst>
              </a:tr>
              <a:tr h="1496238">
                <a:tc>
                  <a:txBody>
                    <a:bodyPr/>
                    <a:lstStyle/>
                    <a:p>
                      <a:pPr>
                        <a:lnSpc>
                          <a:spcPct val="115000"/>
                        </a:lnSpc>
                        <a:spcAft>
                          <a:spcPts val="1000"/>
                        </a:spcAft>
                      </a:pPr>
                      <a:r>
                        <a:rPr lang="fr-CA" sz="1800" dirty="0">
                          <a:solidFill>
                            <a:schemeClr val="tx1"/>
                          </a:solidFill>
                          <a:effectLst/>
                        </a:rPr>
                        <a:t>GLUT-1</a:t>
                      </a:r>
                      <a:endParaRPr lang="fr-DZ" sz="1400" dirty="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a:solidFill>
                            <a:schemeClr val="tx1"/>
                          </a:solidFill>
                          <a:effectLst/>
                        </a:rPr>
                        <a:t>Glucose Galactose Mannose Glucosamine   </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a:solidFill>
                            <a:schemeClr val="tx1"/>
                          </a:solidFill>
                          <a:effectLst/>
                        </a:rPr>
                        <a:t>Ubiquitaire : </a:t>
                      </a:r>
                      <a:endParaRPr lang="fr-DZ" sz="1400">
                        <a:solidFill>
                          <a:schemeClr val="tx1"/>
                        </a:solidFill>
                        <a:effectLst/>
                      </a:endParaRPr>
                    </a:p>
                    <a:p>
                      <a:pPr>
                        <a:lnSpc>
                          <a:spcPct val="115000"/>
                        </a:lnSpc>
                        <a:spcAft>
                          <a:spcPts val="1000"/>
                        </a:spcAft>
                      </a:pPr>
                      <a:r>
                        <a:rPr lang="fr-CA" sz="1800">
                          <a:solidFill>
                            <a:schemeClr val="tx1"/>
                          </a:solidFill>
                          <a:effectLst/>
                        </a:rPr>
                        <a:t>Érythrocytes +++</a:t>
                      </a:r>
                      <a:endParaRPr lang="fr-DZ" sz="1400">
                        <a:solidFill>
                          <a:schemeClr val="tx1"/>
                        </a:solidFill>
                        <a:effectLst/>
                      </a:endParaRPr>
                    </a:p>
                    <a:p>
                      <a:pPr>
                        <a:lnSpc>
                          <a:spcPct val="115000"/>
                        </a:lnSpc>
                        <a:spcAft>
                          <a:spcPts val="1000"/>
                        </a:spcAft>
                      </a:pPr>
                      <a:r>
                        <a:rPr lang="fr-CA" sz="1800">
                          <a:solidFill>
                            <a:schemeClr val="tx1"/>
                          </a:solidFill>
                          <a:effectLst/>
                        </a:rPr>
                        <a:t>Barrière hémato-encéphalique +++ </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dirty="0">
                          <a:solidFill>
                            <a:schemeClr val="tx1"/>
                          </a:solidFill>
                          <a:effectLst/>
                        </a:rPr>
                        <a:t>Transport de base </a:t>
                      </a:r>
                      <a:endParaRPr lang="fr-DZ" sz="1400" dirty="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extLst>
                  <a:ext uri="{0D108BD9-81ED-4DB2-BD59-A6C34878D82A}">
                    <a16:rowId xmlns:a16="http://schemas.microsoft.com/office/drawing/2014/main" val="2351662147"/>
                  </a:ext>
                </a:extLst>
              </a:tr>
              <a:tr h="2127410">
                <a:tc>
                  <a:txBody>
                    <a:bodyPr/>
                    <a:lstStyle/>
                    <a:p>
                      <a:pPr>
                        <a:lnSpc>
                          <a:spcPct val="115000"/>
                        </a:lnSpc>
                        <a:spcAft>
                          <a:spcPts val="1000"/>
                        </a:spcAft>
                      </a:pPr>
                      <a:r>
                        <a:rPr lang="fr-CA" sz="1800">
                          <a:solidFill>
                            <a:schemeClr val="tx1"/>
                          </a:solidFill>
                          <a:effectLst/>
                        </a:rPr>
                        <a:t>GLUT-2</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a:solidFill>
                            <a:schemeClr val="tx1"/>
                          </a:solidFill>
                          <a:effectLst/>
                        </a:rPr>
                        <a:t>Glucose, Mannose, fructose et galactose </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a:solidFill>
                            <a:schemeClr val="tx1"/>
                          </a:solidFill>
                          <a:effectLst/>
                        </a:rPr>
                        <a:t>Foie, Rein, cellule </a:t>
                      </a:r>
                      <a:r>
                        <a:rPr lang="en-US" sz="1800">
                          <a:solidFill>
                            <a:schemeClr val="tx1"/>
                          </a:solidFill>
                          <a:effectLst/>
                        </a:rPr>
                        <a:t>β</a:t>
                      </a:r>
                      <a:r>
                        <a:rPr lang="fr-CA" sz="1800">
                          <a:solidFill>
                            <a:schemeClr val="tx1"/>
                          </a:solidFill>
                          <a:effectLst/>
                        </a:rPr>
                        <a:t>de Langerhans (pancréas), entérocytes </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dirty="0">
                          <a:solidFill>
                            <a:schemeClr val="tx1"/>
                          </a:solidFill>
                          <a:effectLst/>
                        </a:rPr>
                        <a:t>Régulation de la sécrétion d’insuline</a:t>
                      </a:r>
                      <a:endParaRPr lang="fr-DZ" sz="1400" dirty="0">
                        <a:solidFill>
                          <a:schemeClr val="tx1"/>
                        </a:solidFill>
                        <a:effectLst/>
                      </a:endParaRPr>
                    </a:p>
                    <a:p>
                      <a:pPr>
                        <a:lnSpc>
                          <a:spcPct val="115000"/>
                        </a:lnSpc>
                        <a:spcAft>
                          <a:spcPts val="1000"/>
                        </a:spcAft>
                      </a:pPr>
                      <a:r>
                        <a:rPr lang="fr-CA" sz="1800" dirty="0">
                          <a:solidFill>
                            <a:schemeClr val="tx1"/>
                          </a:solidFill>
                          <a:effectLst/>
                        </a:rPr>
                        <a:t>Transport basolatéral dans les cellules épithéliales, absorption digestive et réabsorption rénale</a:t>
                      </a:r>
                      <a:endParaRPr lang="fr-DZ" sz="1400" dirty="0">
                        <a:solidFill>
                          <a:schemeClr val="tx1"/>
                        </a:solidFill>
                        <a:effectLst/>
                      </a:endParaRPr>
                    </a:p>
                    <a:p>
                      <a:pPr>
                        <a:lnSpc>
                          <a:spcPct val="115000"/>
                        </a:lnSpc>
                        <a:spcAft>
                          <a:spcPts val="1000"/>
                        </a:spcAft>
                      </a:pPr>
                      <a:r>
                        <a:rPr lang="fr-CA" sz="1800" dirty="0">
                          <a:solidFill>
                            <a:schemeClr val="tx1"/>
                          </a:solidFill>
                          <a:effectLst/>
                        </a:rPr>
                        <a:t>Relargage du glucose à partir du foie dans le sang</a:t>
                      </a:r>
                      <a:endParaRPr lang="fr-DZ" sz="1400" dirty="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extLst>
                  <a:ext uri="{0D108BD9-81ED-4DB2-BD59-A6C34878D82A}">
                    <a16:rowId xmlns:a16="http://schemas.microsoft.com/office/drawing/2014/main" val="2985282636"/>
                  </a:ext>
                </a:extLst>
              </a:tr>
              <a:tr h="926557">
                <a:tc>
                  <a:txBody>
                    <a:bodyPr/>
                    <a:lstStyle/>
                    <a:p>
                      <a:pPr>
                        <a:lnSpc>
                          <a:spcPct val="115000"/>
                        </a:lnSpc>
                        <a:spcAft>
                          <a:spcPts val="1000"/>
                        </a:spcAft>
                      </a:pPr>
                      <a:r>
                        <a:rPr lang="fr-CA" sz="1800" dirty="0">
                          <a:solidFill>
                            <a:schemeClr val="tx1"/>
                          </a:solidFill>
                          <a:effectLst/>
                        </a:rPr>
                        <a:t>GLUT-3</a:t>
                      </a:r>
                      <a:endParaRPr lang="fr-DZ" sz="1400" dirty="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a:solidFill>
                            <a:schemeClr val="tx1"/>
                          </a:solidFill>
                          <a:effectLst/>
                        </a:rPr>
                        <a:t>Glucose, Mannose, Galactose  </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a:solidFill>
                            <a:schemeClr val="tx1"/>
                          </a:solidFill>
                          <a:effectLst/>
                        </a:rPr>
                        <a:t>Neurones ++          Rein et placenta  </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dirty="0">
                          <a:solidFill>
                            <a:schemeClr val="tx1"/>
                          </a:solidFill>
                          <a:effectLst/>
                        </a:rPr>
                        <a:t>Transport de base </a:t>
                      </a:r>
                      <a:endParaRPr lang="fr-DZ" sz="1400" dirty="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extLst>
                  <a:ext uri="{0D108BD9-81ED-4DB2-BD59-A6C34878D82A}">
                    <a16:rowId xmlns:a16="http://schemas.microsoft.com/office/drawing/2014/main" val="847939658"/>
                  </a:ext>
                </a:extLst>
              </a:tr>
              <a:tr h="674880">
                <a:tc>
                  <a:txBody>
                    <a:bodyPr/>
                    <a:lstStyle/>
                    <a:p>
                      <a:pPr>
                        <a:lnSpc>
                          <a:spcPct val="115000"/>
                        </a:lnSpc>
                        <a:spcAft>
                          <a:spcPts val="1000"/>
                        </a:spcAft>
                      </a:pPr>
                      <a:r>
                        <a:rPr lang="fr-CA" sz="1800">
                          <a:solidFill>
                            <a:schemeClr val="tx1"/>
                          </a:solidFill>
                          <a:effectLst/>
                        </a:rPr>
                        <a:t>GLUT-4</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a:solidFill>
                            <a:schemeClr val="tx1"/>
                          </a:solidFill>
                          <a:effectLst/>
                        </a:rPr>
                        <a:t>Glucose </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a:solidFill>
                            <a:schemeClr val="tx1"/>
                          </a:solidFill>
                          <a:effectLst/>
                        </a:rPr>
                        <a:t>Adipocytes, Cellules musculaires </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a:solidFill>
                            <a:schemeClr val="tx1"/>
                          </a:solidFill>
                          <a:effectLst/>
                        </a:rPr>
                        <a:t>Transports insulinodépendants du glucose</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extLst>
                  <a:ext uri="{0D108BD9-81ED-4DB2-BD59-A6C34878D82A}">
                    <a16:rowId xmlns:a16="http://schemas.microsoft.com/office/drawing/2014/main" val="2818971668"/>
                  </a:ext>
                </a:extLst>
              </a:tr>
              <a:tr h="926557">
                <a:tc>
                  <a:txBody>
                    <a:bodyPr/>
                    <a:lstStyle/>
                    <a:p>
                      <a:pPr>
                        <a:lnSpc>
                          <a:spcPct val="115000"/>
                        </a:lnSpc>
                        <a:spcAft>
                          <a:spcPts val="1000"/>
                        </a:spcAft>
                      </a:pPr>
                      <a:r>
                        <a:rPr lang="fr-CA" sz="1800">
                          <a:solidFill>
                            <a:schemeClr val="tx1"/>
                          </a:solidFill>
                          <a:effectLst/>
                        </a:rPr>
                        <a:t>GLUT-5 </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a:solidFill>
                            <a:schemeClr val="tx1"/>
                          </a:solidFill>
                          <a:effectLst/>
                        </a:rPr>
                        <a:t>Fructose </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a:solidFill>
                            <a:schemeClr val="tx1"/>
                          </a:solidFill>
                          <a:effectLst/>
                        </a:rPr>
                        <a:t>Entérocytes, Testicules, sperme, Rein </a:t>
                      </a:r>
                      <a:endParaRPr lang="fr-DZ" sz="140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tc>
                  <a:txBody>
                    <a:bodyPr/>
                    <a:lstStyle/>
                    <a:p>
                      <a:pPr>
                        <a:lnSpc>
                          <a:spcPct val="115000"/>
                        </a:lnSpc>
                        <a:spcAft>
                          <a:spcPts val="1000"/>
                        </a:spcAft>
                      </a:pPr>
                      <a:r>
                        <a:rPr lang="fr-CA" sz="1800" dirty="0">
                          <a:solidFill>
                            <a:schemeClr val="tx1"/>
                          </a:solidFill>
                          <a:effectLst/>
                        </a:rPr>
                        <a:t>Transport du fructose </a:t>
                      </a:r>
                      <a:endParaRPr lang="fr-DZ" sz="1400" dirty="0">
                        <a:solidFill>
                          <a:schemeClr val="tx1"/>
                        </a:solidFill>
                        <a:effectLst/>
                        <a:latin typeface="Calibri" panose="020F0502020204030204" pitchFamily="34" charset="0"/>
                        <a:ea typeface="Times New Roman" panose="02020603050405020304" pitchFamily="18" charset="0"/>
                        <a:cs typeface="Arial" panose="020B0604020202020204" pitchFamily="34" charset="0"/>
                      </a:endParaRPr>
                    </a:p>
                  </a:txBody>
                  <a:tcPr marL="60165" marR="60165" marT="0" marB="0"/>
                </a:tc>
                <a:extLst>
                  <a:ext uri="{0D108BD9-81ED-4DB2-BD59-A6C34878D82A}">
                    <a16:rowId xmlns:a16="http://schemas.microsoft.com/office/drawing/2014/main" val="2147514600"/>
                  </a:ext>
                </a:extLst>
              </a:tr>
            </a:tbl>
          </a:graphicData>
        </a:graphic>
      </p:graphicFrame>
      <p:sp>
        <p:nvSpPr>
          <p:cNvPr id="6" name="Rectangle 5">
            <a:extLst>
              <a:ext uri="{FF2B5EF4-FFF2-40B4-BE49-F238E27FC236}">
                <a16:creationId xmlns:a16="http://schemas.microsoft.com/office/drawing/2014/main" id="{CE4FACCF-33B6-434A-84C9-A3421FAAB8A0}"/>
              </a:ext>
            </a:extLst>
          </p:cNvPr>
          <p:cNvSpPr/>
          <p:nvPr/>
        </p:nvSpPr>
        <p:spPr>
          <a:xfrm>
            <a:off x="224141" y="1974715"/>
            <a:ext cx="11635350" cy="214008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CFFF582D-E9AA-47CC-B57D-5769CF61CE01}"/>
              </a:ext>
            </a:extLst>
          </p:cNvPr>
          <p:cNvSpPr/>
          <p:nvPr/>
        </p:nvSpPr>
        <p:spPr>
          <a:xfrm>
            <a:off x="224141" y="4114790"/>
            <a:ext cx="11635350" cy="972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5FCF00B9-B37A-486E-B38F-A1373CD6FEAD}"/>
              </a:ext>
            </a:extLst>
          </p:cNvPr>
          <p:cNvSpPr/>
          <p:nvPr/>
        </p:nvSpPr>
        <p:spPr>
          <a:xfrm>
            <a:off x="224141" y="5053600"/>
            <a:ext cx="11635350" cy="71004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D6ABE7C0-33C4-49EE-825E-F0E5E77D2F8E}"/>
              </a:ext>
            </a:extLst>
          </p:cNvPr>
          <p:cNvSpPr/>
          <p:nvPr/>
        </p:nvSpPr>
        <p:spPr>
          <a:xfrm>
            <a:off x="224141" y="5735127"/>
            <a:ext cx="11635350" cy="214008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86305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xit" presetSubtype="4" fill="hold" grpId="1" nodeType="clickEffect">
                                  <p:stCondLst>
                                    <p:cond delay="0"/>
                                  </p:stCondLst>
                                  <p:childTnLst>
                                    <p:animEffect transition="out" filter="wipe(down)">
                                      <p:cBhvr>
                                        <p:cTn id="25" dur="500"/>
                                        <p:tgtEl>
                                          <p:spTgt spid="6"/>
                                        </p:tgtEl>
                                      </p:cBhvr>
                                    </p:animEffect>
                                    <p:set>
                                      <p:cBhvr>
                                        <p:cTn id="26" dur="1" fill="hold">
                                          <p:stCondLst>
                                            <p:cond delay="499"/>
                                          </p:stCondLst>
                                        </p:cTn>
                                        <p:tgtEl>
                                          <p:spTgt spid="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grpId="1" nodeType="clickEffect">
                                  <p:stCondLst>
                                    <p:cond delay="0"/>
                                  </p:stCondLst>
                                  <p:childTnLst>
                                    <p:animEffect transition="out" filter="wipe(down)">
                                      <p:cBhvr>
                                        <p:cTn id="30" dur="500"/>
                                        <p:tgtEl>
                                          <p:spTgt spid="7"/>
                                        </p:tgtEl>
                                      </p:cBhvr>
                                    </p:animEffect>
                                    <p:set>
                                      <p:cBhvr>
                                        <p:cTn id="31" dur="1" fill="hold">
                                          <p:stCondLst>
                                            <p:cond delay="499"/>
                                          </p:stCondLst>
                                        </p:cTn>
                                        <p:tgtEl>
                                          <p:spTgt spid="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4" fill="hold" grpId="1" nodeType="clickEffect">
                                  <p:stCondLst>
                                    <p:cond delay="0"/>
                                  </p:stCondLst>
                                  <p:childTnLst>
                                    <p:animEffect transition="out" filter="wipe(down)">
                                      <p:cBhvr>
                                        <p:cTn id="35" dur="500"/>
                                        <p:tgtEl>
                                          <p:spTgt spid="8"/>
                                        </p:tgtEl>
                                      </p:cBhvr>
                                    </p:animEffect>
                                    <p:set>
                                      <p:cBhvr>
                                        <p:cTn id="36" dur="1" fill="hold">
                                          <p:stCondLst>
                                            <p:cond delay="499"/>
                                          </p:stCondLst>
                                        </p:cTn>
                                        <p:tgtEl>
                                          <p:spTgt spid="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2" presetClass="exit" presetSubtype="4" fill="hold" grpId="1" nodeType="clickEffect">
                                  <p:stCondLst>
                                    <p:cond delay="0"/>
                                  </p:stCondLst>
                                  <p:childTnLst>
                                    <p:animEffect transition="out" filter="wipe(down)">
                                      <p:cBhvr>
                                        <p:cTn id="40" dur="500"/>
                                        <p:tgtEl>
                                          <p:spTgt spid="9"/>
                                        </p:tgtEl>
                                      </p:cBhvr>
                                    </p:animEffect>
                                    <p:set>
                                      <p:cBhvr>
                                        <p:cTn id="41"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Absorption intestinale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83DCED5C-9981-4C3C-9E43-26633220DC70}"/>
              </a:ext>
            </a:extLst>
          </p:cNvPr>
          <p:cNvPicPr>
            <a:picLocks noChangeAspect="1"/>
          </p:cNvPicPr>
          <p:nvPr/>
        </p:nvPicPr>
        <p:blipFill>
          <a:blip r:embed="rId2"/>
          <a:stretch>
            <a:fillRect/>
          </a:stretch>
        </p:blipFill>
        <p:spPr>
          <a:xfrm>
            <a:off x="332509" y="169334"/>
            <a:ext cx="11526982" cy="6491110"/>
          </a:xfrm>
          <a:prstGeom prst="rect">
            <a:avLst/>
          </a:prstGeom>
        </p:spPr>
      </p:pic>
      <p:sp>
        <p:nvSpPr>
          <p:cNvPr id="2" name="Rectangle 1">
            <a:extLst>
              <a:ext uri="{FF2B5EF4-FFF2-40B4-BE49-F238E27FC236}">
                <a16:creationId xmlns:a16="http://schemas.microsoft.com/office/drawing/2014/main" id="{74E81C1C-8C23-4013-9F2C-1199BC0FCD6A}"/>
              </a:ext>
            </a:extLst>
          </p:cNvPr>
          <p:cNvSpPr/>
          <p:nvPr/>
        </p:nvSpPr>
        <p:spPr>
          <a:xfrm>
            <a:off x="598311" y="2585157"/>
            <a:ext cx="2946399" cy="278835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2000" b="1" dirty="0"/>
              <a:t>Absorption des sucres </a:t>
            </a:r>
          </a:p>
          <a:p>
            <a:r>
              <a:rPr lang="fr-FR" sz="2000" b="1" dirty="0"/>
              <a:t>Bordure en brosse </a:t>
            </a:r>
          </a:p>
          <a:p>
            <a:pPr lvl="1"/>
            <a:r>
              <a:rPr lang="fr-FR" sz="2000" b="1" dirty="0"/>
              <a:t>SGLT1: </a:t>
            </a:r>
            <a:r>
              <a:rPr lang="fr-FR" sz="2000" b="1" dirty="0" err="1"/>
              <a:t>Glc</a:t>
            </a:r>
            <a:r>
              <a:rPr lang="fr-FR" sz="2000" b="1" dirty="0"/>
              <a:t>, Gal</a:t>
            </a:r>
          </a:p>
          <a:p>
            <a:pPr lvl="1"/>
            <a:r>
              <a:rPr lang="fr-FR" sz="2000" b="1" dirty="0"/>
              <a:t>GLUT5: </a:t>
            </a:r>
            <a:r>
              <a:rPr lang="fr-FR" sz="2000" b="1" dirty="0" err="1"/>
              <a:t>Fru</a:t>
            </a:r>
            <a:endParaRPr lang="fr-FR" sz="2000" b="1" dirty="0"/>
          </a:p>
          <a:p>
            <a:r>
              <a:rPr lang="fr-FR" sz="2000" b="1" dirty="0"/>
              <a:t>Membrane basolatérale: 	</a:t>
            </a:r>
          </a:p>
          <a:p>
            <a:r>
              <a:rPr lang="fr-FR" sz="2000" b="1" dirty="0"/>
              <a:t>	GLUT2 </a:t>
            </a:r>
          </a:p>
          <a:p>
            <a:pPr algn="ctr"/>
            <a:endParaRPr lang="fr-FR" dirty="0"/>
          </a:p>
        </p:txBody>
      </p:sp>
      <p:sp>
        <p:nvSpPr>
          <p:cNvPr id="7" name="Rectangle 6">
            <a:extLst>
              <a:ext uri="{FF2B5EF4-FFF2-40B4-BE49-F238E27FC236}">
                <a16:creationId xmlns:a16="http://schemas.microsoft.com/office/drawing/2014/main" id="{1A0B96EE-3E20-4D44-B0D6-F705D3B99E99}"/>
              </a:ext>
            </a:extLst>
          </p:cNvPr>
          <p:cNvSpPr/>
          <p:nvPr/>
        </p:nvSpPr>
        <p:spPr>
          <a:xfrm>
            <a:off x="1428045" y="645678"/>
            <a:ext cx="2252133" cy="7428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fr-FR" sz="2000" b="1" dirty="0"/>
          </a:p>
          <a:p>
            <a:pPr algn="ctr"/>
            <a:r>
              <a:rPr lang="fr-FR" sz="2000" b="1" dirty="0"/>
              <a:t>Foie: 	 GLUT2 </a:t>
            </a:r>
          </a:p>
          <a:p>
            <a:pPr algn="ctr"/>
            <a:endParaRPr lang="fr-FR" dirty="0"/>
          </a:p>
        </p:txBody>
      </p:sp>
      <p:sp>
        <p:nvSpPr>
          <p:cNvPr id="9" name="Rectangle 8">
            <a:extLst>
              <a:ext uri="{FF2B5EF4-FFF2-40B4-BE49-F238E27FC236}">
                <a16:creationId xmlns:a16="http://schemas.microsoft.com/office/drawing/2014/main" id="{884BF88B-F9C8-42EC-BF0D-C7553EE95ED6}"/>
              </a:ext>
            </a:extLst>
          </p:cNvPr>
          <p:cNvSpPr/>
          <p:nvPr/>
        </p:nvSpPr>
        <p:spPr>
          <a:xfrm>
            <a:off x="4481689" y="5468263"/>
            <a:ext cx="2652888" cy="7428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fr-FR" sz="2000" b="1" dirty="0"/>
          </a:p>
          <a:p>
            <a:pPr algn="ctr"/>
            <a:r>
              <a:rPr lang="fr-FR" sz="2000" b="1" dirty="0"/>
              <a:t>Pancréas : 	 GLUT2 </a:t>
            </a:r>
          </a:p>
          <a:p>
            <a:pPr algn="ctr"/>
            <a:endParaRPr lang="fr-FR" dirty="0"/>
          </a:p>
        </p:txBody>
      </p:sp>
      <p:sp>
        <p:nvSpPr>
          <p:cNvPr id="10" name="Rectangle 9">
            <a:extLst>
              <a:ext uri="{FF2B5EF4-FFF2-40B4-BE49-F238E27FC236}">
                <a16:creationId xmlns:a16="http://schemas.microsoft.com/office/drawing/2014/main" id="{F229FB07-2F42-467A-B01E-CE1D238139DD}"/>
              </a:ext>
            </a:extLst>
          </p:cNvPr>
          <p:cNvSpPr/>
          <p:nvPr/>
        </p:nvSpPr>
        <p:spPr>
          <a:xfrm>
            <a:off x="8257822" y="5271871"/>
            <a:ext cx="3335867" cy="11356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fr-FR" sz="2000" b="1" dirty="0"/>
          </a:p>
          <a:p>
            <a:pPr algn="ctr"/>
            <a:r>
              <a:rPr lang="fr-FR" sz="2000" b="1" dirty="0"/>
              <a:t>Rein   	 </a:t>
            </a:r>
          </a:p>
          <a:p>
            <a:pPr algn="ctr"/>
            <a:r>
              <a:rPr lang="fr-FR" sz="2000" b="1" dirty="0"/>
              <a:t>Coté apical:  SGLT2++/1</a:t>
            </a:r>
          </a:p>
          <a:p>
            <a:pPr algn="ctr"/>
            <a:r>
              <a:rPr lang="fr-FR" sz="2000" b="1" dirty="0"/>
              <a:t>Coté basolatérale: GLUT2 </a:t>
            </a:r>
          </a:p>
          <a:p>
            <a:pPr algn="ctr"/>
            <a:endParaRPr lang="fr-FR" dirty="0"/>
          </a:p>
        </p:txBody>
      </p:sp>
      <p:sp>
        <p:nvSpPr>
          <p:cNvPr id="11" name="Rectangle 10">
            <a:extLst>
              <a:ext uri="{FF2B5EF4-FFF2-40B4-BE49-F238E27FC236}">
                <a16:creationId xmlns:a16="http://schemas.microsoft.com/office/drawing/2014/main" id="{8D0D0783-F716-4781-AE18-8AD6974D2D79}"/>
              </a:ext>
            </a:extLst>
          </p:cNvPr>
          <p:cNvSpPr/>
          <p:nvPr/>
        </p:nvSpPr>
        <p:spPr>
          <a:xfrm>
            <a:off x="5311422" y="353291"/>
            <a:ext cx="2652888" cy="7428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fr-FR" sz="2000" b="1" dirty="0"/>
          </a:p>
          <a:p>
            <a:pPr algn="ctr"/>
            <a:r>
              <a:rPr lang="fr-FR" sz="2000" b="1" dirty="0"/>
              <a:t>Neurones : 	 GLUT3 </a:t>
            </a:r>
          </a:p>
          <a:p>
            <a:pPr algn="ctr"/>
            <a:endParaRPr lang="fr-FR" dirty="0"/>
          </a:p>
        </p:txBody>
      </p:sp>
      <p:sp>
        <p:nvSpPr>
          <p:cNvPr id="12" name="Rectangle 11">
            <a:extLst>
              <a:ext uri="{FF2B5EF4-FFF2-40B4-BE49-F238E27FC236}">
                <a16:creationId xmlns:a16="http://schemas.microsoft.com/office/drawing/2014/main" id="{0BF93C7D-1DA7-4812-9ED0-49A96DFD7912}"/>
              </a:ext>
            </a:extLst>
          </p:cNvPr>
          <p:cNvSpPr/>
          <p:nvPr/>
        </p:nvSpPr>
        <p:spPr>
          <a:xfrm>
            <a:off x="9061002" y="542282"/>
            <a:ext cx="2652888" cy="7428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fr-FR" sz="2000" b="1" dirty="0"/>
          </a:p>
          <a:p>
            <a:pPr algn="ctr"/>
            <a:r>
              <a:rPr lang="fr-FR" sz="2000" b="1" dirty="0"/>
              <a:t>GLUT4 :  muscle, cœur, adipocyte </a:t>
            </a:r>
          </a:p>
          <a:p>
            <a:pPr algn="ctr"/>
            <a:endParaRPr lang="fr-FR" dirty="0"/>
          </a:p>
        </p:txBody>
      </p:sp>
    </p:spTree>
    <p:extLst>
      <p:ext uri="{BB962C8B-B14F-4D97-AF65-F5344CB8AC3E}">
        <p14:creationId xmlns:p14="http://schemas.microsoft.com/office/powerpoint/2010/main" val="2357642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arn(inVertic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arn(inVertical)">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9" grpId="0" animBg="1"/>
      <p:bldP spid="10"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2C62005D-67D4-47DD-95A3-E28C7B85379E}"/>
              </a:ext>
            </a:extLst>
          </p:cNvPr>
          <p:cNvSpPr/>
          <p:nvPr/>
        </p:nvSpPr>
        <p:spPr>
          <a:xfrm>
            <a:off x="2244436" y="2722418"/>
            <a:ext cx="6629400" cy="1558637"/>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tx1"/>
                </a:solidFill>
              </a:rPr>
              <a:t>MÉTABOLISME DU FRUCTOSE </a:t>
            </a:r>
          </a:p>
        </p:txBody>
      </p:sp>
    </p:spTree>
    <p:extLst>
      <p:ext uri="{BB962C8B-B14F-4D97-AF65-F5344CB8AC3E}">
        <p14:creationId xmlns:p14="http://schemas.microsoft.com/office/powerpoint/2010/main" val="203843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540328" y="1508268"/>
            <a:ext cx="9216736" cy="1143070"/>
          </a:xfrm>
          <a:prstGeom prst="rect">
            <a:avLst/>
          </a:prstGeom>
          <a:noFill/>
        </p:spPr>
        <p:txBody>
          <a:bodyPr wrap="square" rtlCol="0">
            <a:spAutoFit/>
          </a:bodyPr>
          <a:lstStyle/>
          <a:p>
            <a:pPr>
              <a:lnSpc>
                <a:spcPct val="150000"/>
              </a:lnSpc>
            </a:pPr>
            <a:r>
              <a:rPr lang="fr-CA" sz="2400" b="1" dirty="0">
                <a:solidFill>
                  <a:schemeClr val="accent1">
                    <a:lumMod val="50000"/>
                  </a:schemeClr>
                </a:solidFill>
                <a:latin typeface="Calibri" panose="020F0502020204030204" pitchFamily="34" charset="0"/>
                <a:cs typeface="Calibri" panose="020F0502020204030204" pitchFamily="34" charset="0"/>
              </a:rPr>
              <a:t>Généralités sur le fructose </a:t>
            </a:r>
          </a:p>
          <a:p>
            <a:pPr>
              <a:lnSpc>
                <a:spcPct val="150000"/>
              </a:lnSpc>
            </a:pPr>
            <a:endParaRPr lang="fr-CA" sz="2400" b="1" dirty="0">
              <a:solidFill>
                <a:schemeClr val="accent1">
                  <a:lumMod val="50000"/>
                </a:schemeClr>
              </a:solidFill>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Métabolisme du fructose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85F458C5-505F-4E7C-9915-737DBA9BB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7179" y="2079803"/>
            <a:ext cx="7466353" cy="45053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D654DE1-63D1-455F-B08A-09233C11E4C1}"/>
              </a:ext>
            </a:extLst>
          </p:cNvPr>
          <p:cNvSpPr/>
          <p:nvPr/>
        </p:nvSpPr>
        <p:spPr>
          <a:xfrm>
            <a:off x="7138124" y="3448195"/>
            <a:ext cx="1932709" cy="19015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n w="0"/>
                <a:solidFill>
                  <a:schemeClr val="tx1"/>
                </a:solidFill>
                <a:effectLst>
                  <a:outerShdw blurRad="38100" dist="19050" dir="2700000" algn="tl" rotWithShape="0">
                    <a:schemeClr val="dk1">
                      <a:alpha val="40000"/>
                    </a:schemeClr>
                  </a:outerShdw>
                </a:effectLst>
              </a:rPr>
              <a:t>Pomme </a:t>
            </a:r>
          </a:p>
          <a:p>
            <a:pPr algn="ctr"/>
            <a:r>
              <a:rPr lang="fr-FR" dirty="0">
                <a:ln w="0"/>
                <a:solidFill>
                  <a:schemeClr val="tx1"/>
                </a:solidFill>
                <a:effectLst>
                  <a:outerShdw blurRad="38100" dist="19050" dir="2700000" algn="tl" rotWithShape="0">
                    <a:schemeClr val="dk1">
                      <a:alpha val="40000"/>
                    </a:schemeClr>
                  </a:outerShdw>
                </a:effectLst>
              </a:rPr>
              <a:t>Raisin</a:t>
            </a:r>
          </a:p>
          <a:p>
            <a:pPr algn="ctr"/>
            <a:r>
              <a:rPr lang="fr-FR" dirty="0">
                <a:ln w="0"/>
                <a:solidFill>
                  <a:schemeClr val="tx1"/>
                </a:solidFill>
                <a:effectLst>
                  <a:outerShdw blurRad="38100" dist="19050" dir="2700000" algn="tl" rotWithShape="0">
                    <a:schemeClr val="dk1">
                      <a:alpha val="40000"/>
                    </a:schemeClr>
                  </a:outerShdw>
                </a:effectLst>
              </a:rPr>
              <a:t>Poire </a:t>
            </a:r>
          </a:p>
          <a:p>
            <a:pPr algn="ctr"/>
            <a:r>
              <a:rPr lang="fr-FR" dirty="0">
                <a:ln w="0"/>
                <a:solidFill>
                  <a:schemeClr val="tx1"/>
                </a:solidFill>
                <a:effectLst>
                  <a:outerShdw blurRad="38100" dist="19050" dir="2700000" algn="tl" rotWithShape="0">
                    <a:schemeClr val="dk1">
                      <a:alpha val="40000"/>
                    </a:schemeClr>
                  </a:outerShdw>
                </a:effectLst>
              </a:rPr>
              <a:t> </a:t>
            </a:r>
          </a:p>
          <a:p>
            <a:pPr algn="ctr"/>
            <a:endParaRPr lang="fr-FR" dirty="0">
              <a:ln w="0"/>
              <a:solidFill>
                <a:schemeClr val="tx1"/>
              </a:solidFill>
              <a:effectLst>
                <a:outerShdw blurRad="38100" dist="19050" dir="2700000" algn="tl" rotWithShape="0">
                  <a:schemeClr val="dk1">
                    <a:alpha val="40000"/>
                  </a:schemeClr>
                </a:outerShdw>
              </a:effectLst>
            </a:endParaRPr>
          </a:p>
        </p:txBody>
      </p:sp>
      <p:pic>
        <p:nvPicPr>
          <p:cNvPr id="1028" name="Picture 4">
            <a:extLst>
              <a:ext uri="{FF2B5EF4-FFF2-40B4-BE49-F238E27FC236}">
                <a16:creationId xmlns:a16="http://schemas.microsoft.com/office/drawing/2014/main" id="{33C9C090-00E7-4EB3-966A-B40A60302D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2394" y="3529878"/>
            <a:ext cx="1628775" cy="144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753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5BBA198-41B8-473A-BBEF-BFD2D4DB18B0}"/>
              </a:ext>
            </a:extLst>
          </p:cNvPr>
          <p:cNvSpPr txBox="1"/>
          <p:nvPr/>
        </p:nvSpPr>
        <p:spPr>
          <a:xfrm>
            <a:off x="452004" y="1269278"/>
            <a:ext cx="9216736" cy="1143070"/>
          </a:xfrm>
          <a:prstGeom prst="rect">
            <a:avLst/>
          </a:prstGeom>
          <a:noFill/>
        </p:spPr>
        <p:txBody>
          <a:bodyPr wrap="square" rtlCol="0">
            <a:spAutoFit/>
          </a:bodyPr>
          <a:lstStyle/>
          <a:p>
            <a:pPr>
              <a:lnSpc>
                <a:spcPct val="150000"/>
              </a:lnSpc>
            </a:pPr>
            <a:r>
              <a:rPr lang="fr-CA" sz="2400" b="1" dirty="0">
                <a:solidFill>
                  <a:schemeClr val="accent1">
                    <a:lumMod val="50000"/>
                  </a:schemeClr>
                </a:solidFill>
                <a:latin typeface="Calibri" panose="020F0502020204030204" pitchFamily="34" charset="0"/>
                <a:cs typeface="Calibri" panose="020F0502020204030204" pitchFamily="34" charset="0"/>
              </a:rPr>
              <a:t>Généralités sur le fructose </a:t>
            </a:r>
          </a:p>
          <a:p>
            <a:pPr>
              <a:lnSpc>
                <a:spcPct val="150000"/>
              </a:lnSpc>
            </a:pPr>
            <a:endParaRPr lang="fr-CA" sz="2400" b="1" dirty="0">
              <a:solidFill>
                <a:schemeClr val="accent1">
                  <a:lumMod val="50000"/>
                </a:schemeClr>
              </a:solidFill>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Métabolisme du fructose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pic>
        <p:nvPicPr>
          <p:cNvPr id="2052" name="Picture 4">
            <a:extLst>
              <a:ext uri="{FF2B5EF4-FFF2-40B4-BE49-F238E27FC236}">
                <a16:creationId xmlns:a16="http://schemas.microsoft.com/office/drawing/2014/main" id="{DAE730C7-27EC-4648-B0D1-3FFF37CB12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677" y="2318794"/>
            <a:ext cx="8420100" cy="3520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7654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Métabolisme du fructose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C492E686-E172-4388-B036-F1281E01B07D}"/>
              </a:ext>
            </a:extLst>
          </p:cNvPr>
          <p:cNvSpPr txBox="1"/>
          <p:nvPr/>
        </p:nvSpPr>
        <p:spPr>
          <a:xfrm>
            <a:off x="452004" y="1269278"/>
            <a:ext cx="9216736" cy="589072"/>
          </a:xfrm>
          <a:prstGeom prst="rect">
            <a:avLst/>
          </a:prstGeom>
          <a:noFill/>
        </p:spPr>
        <p:txBody>
          <a:bodyPr wrap="square" rtlCol="0">
            <a:spAutoFit/>
          </a:bodyPr>
          <a:lstStyle/>
          <a:p>
            <a:pPr>
              <a:lnSpc>
                <a:spcPct val="150000"/>
              </a:lnSpc>
            </a:pPr>
            <a:r>
              <a:rPr lang="fr-CA" sz="2400" b="1" dirty="0">
                <a:solidFill>
                  <a:schemeClr val="accent1">
                    <a:lumMod val="50000"/>
                  </a:schemeClr>
                </a:solidFill>
                <a:latin typeface="Calibri" panose="020F0502020204030204" pitchFamily="34" charset="0"/>
                <a:cs typeface="Calibri" panose="020F0502020204030204" pitchFamily="34" charset="0"/>
              </a:rPr>
              <a:t>Métabolisme proprement dit </a:t>
            </a:r>
          </a:p>
        </p:txBody>
      </p:sp>
      <p:pic>
        <p:nvPicPr>
          <p:cNvPr id="3074" name="Picture 2">
            <a:extLst>
              <a:ext uri="{FF2B5EF4-FFF2-40B4-BE49-F238E27FC236}">
                <a16:creationId xmlns:a16="http://schemas.microsoft.com/office/drawing/2014/main" id="{CD20973F-889E-430D-86E2-B7C05651AA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0596" y="3200399"/>
            <a:ext cx="7429500" cy="1449421"/>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C3A1402B-A2F9-42DD-9B0F-68E5C0ED261E}"/>
              </a:ext>
            </a:extLst>
          </p:cNvPr>
          <p:cNvSpPr txBox="1"/>
          <p:nvPr/>
        </p:nvSpPr>
        <p:spPr>
          <a:xfrm>
            <a:off x="1039091" y="2109355"/>
            <a:ext cx="3158836" cy="369332"/>
          </a:xfrm>
          <a:prstGeom prst="rect">
            <a:avLst/>
          </a:prstGeom>
          <a:noFill/>
        </p:spPr>
        <p:txBody>
          <a:bodyPr wrap="square" rtlCol="0">
            <a:spAutoFit/>
          </a:bodyPr>
          <a:lstStyle/>
          <a:p>
            <a:r>
              <a:rPr lang="fr-FR" b="1" dirty="0"/>
              <a:t>Dans le muscle </a:t>
            </a:r>
          </a:p>
        </p:txBody>
      </p:sp>
      <p:sp>
        <p:nvSpPr>
          <p:cNvPr id="2" name="Flèche : courbe vers le bas 1">
            <a:extLst>
              <a:ext uri="{FF2B5EF4-FFF2-40B4-BE49-F238E27FC236}">
                <a16:creationId xmlns:a16="http://schemas.microsoft.com/office/drawing/2014/main" id="{06F4F70B-05F7-4180-AC75-CA03554D9027}"/>
              </a:ext>
            </a:extLst>
          </p:cNvPr>
          <p:cNvSpPr/>
          <p:nvPr/>
        </p:nvSpPr>
        <p:spPr>
          <a:xfrm>
            <a:off x="3287948" y="4182896"/>
            <a:ext cx="2033080" cy="719847"/>
          </a:xfrm>
          <a:prstGeom prst="curved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solidFill>
                <a:schemeClr val="tx1"/>
              </a:solidFill>
            </a:endParaRPr>
          </a:p>
        </p:txBody>
      </p:sp>
      <p:sp>
        <p:nvSpPr>
          <p:cNvPr id="4" name="ZoneTexte 3">
            <a:extLst>
              <a:ext uri="{FF2B5EF4-FFF2-40B4-BE49-F238E27FC236}">
                <a16:creationId xmlns:a16="http://schemas.microsoft.com/office/drawing/2014/main" id="{014CD5B5-0DA2-495D-AF9D-3E1D4E657AAF}"/>
              </a:ext>
            </a:extLst>
          </p:cNvPr>
          <p:cNvSpPr txBox="1"/>
          <p:nvPr/>
        </p:nvSpPr>
        <p:spPr>
          <a:xfrm>
            <a:off x="2490281" y="5116749"/>
            <a:ext cx="933855" cy="461665"/>
          </a:xfrm>
          <a:prstGeom prst="rect">
            <a:avLst/>
          </a:prstGeom>
          <a:noFill/>
        </p:spPr>
        <p:txBody>
          <a:bodyPr wrap="square" rtlCol="0">
            <a:spAutoFit/>
          </a:bodyPr>
          <a:lstStyle/>
          <a:p>
            <a:r>
              <a:rPr lang="fr-FR" sz="2400" dirty="0"/>
              <a:t>ATP </a:t>
            </a:r>
          </a:p>
        </p:txBody>
      </p:sp>
      <p:sp>
        <p:nvSpPr>
          <p:cNvPr id="9" name="ZoneTexte 8">
            <a:extLst>
              <a:ext uri="{FF2B5EF4-FFF2-40B4-BE49-F238E27FC236}">
                <a16:creationId xmlns:a16="http://schemas.microsoft.com/office/drawing/2014/main" id="{D56EE09F-1A04-47C9-B832-CCFF810405CD}"/>
              </a:ext>
            </a:extLst>
          </p:cNvPr>
          <p:cNvSpPr txBox="1"/>
          <p:nvPr/>
        </p:nvSpPr>
        <p:spPr>
          <a:xfrm>
            <a:off x="4883727" y="5127057"/>
            <a:ext cx="933855" cy="461665"/>
          </a:xfrm>
          <a:prstGeom prst="rect">
            <a:avLst/>
          </a:prstGeom>
          <a:noFill/>
        </p:spPr>
        <p:txBody>
          <a:bodyPr wrap="square" rtlCol="0">
            <a:spAutoFit/>
          </a:bodyPr>
          <a:lstStyle/>
          <a:p>
            <a:r>
              <a:rPr lang="fr-FR" sz="2400" dirty="0"/>
              <a:t>ADP </a:t>
            </a:r>
          </a:p>
        </p:txBody>
      </p:sp>
    </p:spTree>
    <p:extLst>
      <p:ext uri="{BB962C8B-B14F-4D97-AF65-F5344CB8AC3E}">
        <p14:creationId xmlns:p14="http://schemas.microsoft.com/office/powerpoint/2010/main" val="1256512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Métabolisme du fructose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C492E686-E172-4388-B036-F1281E01B07D}"/>
              </a:ext>
            </a:extLst>
          </p:cNvPr>
          <p:cNvSpPr txBox="1"/>
          <p:nvPr/>
        </p:nvSpPr>
        <p:spPr>
          <a:xfrm>
            <a:off x="452004" y="1269278"/>
            <a:ext cx="9216736" cy="589072"/>
          </a:xfrm>
          <a:prstGeom prst="rect">
            <a:avLst/>
          </a:prstGeom>
          <a:noFill/>
        </p:spPr>
        <p:txBody>
          <a:bodyPr wrap="square" rtlCol="0">
            <a:spAutoFit/>
          </a:bodyPr>
          <a:lstStyle/>
          <a:p>
            <a:pPr>
              <a:lnSpc>
                <a:spcPct val="150000"/>
              </a:lnSpc>
            </a:pPr>
            <a:r>
              <a:rPr lang="fr-CA" sz="2400" b="1" dirty="0">
                <a:solidFill>
                  <a:schemeClr val="accent1">
                    <a:lumMod val="50000"/>
                  </a:schemeClr>
                </a:solidFill>
                <a:latin typeface="Calibri" panose="020F0502020204030204" pitchFamily="34" charset="0"/>
                <a:cs typeface="Calibri" panose="020F0502020204030204" pitchFamily="34" charset="0"/>
              </a:rPr>
              <a:t>Métabolisme proprement dit </a:t>
            </a:r>
          </a:p>
        </p:txBody>
      </p:sp>
      <p:sp>
        <p:nvSpPr>
          <p:cNvPr id="7" name="ZoneTexte 6">
            <a:extLst>
              <a:ext uri="{FF2B5EF4-FFF2-40B4-BE49-F238E27FC236}">
                <a16:creationId xmlns:a16="http://schemas.microsoft.com/office/drawing/2014/main" id="{C3A1402B-A2F9-42DD-9B0F-68E5C0ED261E}"/>
              </a:ext>
            </a:extLst>
          </p:cNvPr>
          <p:cNvSpPr txBox="1"/>
          <p:nvPr/>
        </p:nvSpPr>
        <p:spPr>
          <a:xfrm>
            <a:off x="1039091" y="2109355"/>
            <a:ext cx="3158836" cy="369332"/>
          </a:xfrm>
          <a:prstGeom prst="rect">
            <a:avLst/>
          </a:prstGeom>
          <a:noFill/>
        </p:spPr>
        <p:txBody>
          <a:bodyPr wrap="square" rtlCol="0">
            <a:spAutoFit/>
          </a:bodyPr>
          <a:lstStyle/>
          <a:p>
            <a:r>
              <a:rPr lang="fr-FR" b="1" dirty="0"/>
              <a:t>Dans le foie </a:t>
            </a:r>
          </a:p>
        </p:txBody>
      </p:sp>
      <p:pic>
        <p:nvPicPr>
          <p:cNvPr id="4" name="Image 3">
            <a:extLst>
              <a:ext uri="{FF2B5EF4-FFF2-40B4-BE49-F238E27FC236}">
                <a16:creationId xmlns:a16="http://schemas.microsoft.com/office/drawing/2014/main" id="{44B3D9BD-DA79-43BD-8893-7F11DF36DDEB}"/>
              </a:ext>
            </a:extLst>
          </p:cNvPr>
          <p:cNvPicPr>
            <a:picLocks noChangeAspect="1"/>
          </p:cNvPicPr>
          <p:nvPr/>
        </p:nvPicPr>
        <p:blipFill>
          <a:blip r:embed="rId2">
            <a:lum bright="-20000" contrast="40000"/>
          </a:blip>
          <a:stretch>
            <a:fillRect/>
          </a:stretch>
        </p:blipFill>
        <p:spPr>
          <a:xfrm>
            <a:off x="332509" y="1045787"/>
            <a:ext cx="9892145" cy="5812213"/>
          </a:xfrm>
          <a:prstGeom prst="rect">
            <a:avLst/>
          </a:prstGeom>
        </p:spPr>
      </p:pic>
      <p:sp>
        <p:nvSpPr>
          <p:cNvPr id="14" name="Forme libre : forme 13">
            <a:extLst>
              <a:ext uri="{FF2B5EF4-FFF2-40B4-BE49-F238E27FC236}">
                <a16:creationId xmlns:a16="http://schemas.microsoft.com/office/drawing/2014/main" id="{52C93684-412F-4DC4-9F80-F9BCDFD46414}"/>
              </a:ext>
            </a:extLst>
          </p:cNvPr>
          <p:cNvSpPr/>
          <p:nvPr/>
        </p:nvSpPr>
        <p:spPr>
          <a:xfrm>
            <a:off x="3072809" y="1536284"/>
            <a:ext cx="2583712" cy="1664116"/>
          </a:xfrm>
          <a:custGeom>
            <a:avLst/>
            <a:gdLst>
              <a:gd name="connsiteX0" fmla="*/ 10633 w 2583712"/>
              <a:gd name="connsiteY0" fmla="*/ 1068693 h 1664116"/>
              <a:gd name="connsiteX1" fmla="*/ 10633 w 2583712"/>
              <a:gd name="connsiteY1" fmla="*/ 1068693 h 1664116"/>
              <a:gd name="connsiteX2" fmla="*/ 21265 w 2583712"/>
              <a:gd name="connsiteY2" fmla="*/ 941102 h 1664116"/>
              <a:gd name="connsiteX3" fmla="*/ 0 w 2583712"/>
              <a:gd name="connsiteY3" fmla="*/ 770981 h 1664116"/>
              <a:gd name="connsiteX4" fmla="*/ 21265 w 2583712"/>
              <a:gd name="connsiteY4" fmla="*/ 452004 h 1664116"/>
              <a:gd name="connsiteX5" fmla="*/ 31898 w 2583712"/>
              <a:gd name="connsiteY5" fmla="*/ 271251 h 1664116"/>
              <a:gd name="connsiteX6" fmla="*/ 85061 w 2583712"/>
              <a:gd name="connsiteY6" fmla="*/ 249986 h 1664116"/>
              <a:gd name="connsiteX7" fmla="*/ 138224 w 2583712"/>
              <a:gd name="connsiteY7" fmla="*/ 239353 h 1664116"/>
              <a:gd name="connsiteX8" fmla="*/ 233917 w 2583712"/>
              <a:gd name="connsiteY8" fmla="*/ 207456 h 1664116"/>
              <a:gd name="connsiteX9" fmla="*/ 265814 w 2583712"/>
              <a:gd name="connsiteY9" fmla="*/ 196823 h 1664116"/>
              <a:gd name="connsiteX10" fmla="*/ 404038 w 2583712"/>
              <a:gd name="connsiteY10" fmla="*/ 143660 h 1664116"/>
              <a:gd name="connsiteX11" fmla="*/ 478465 w 2583712"/>
              <a:gd name="connsiteY11" fmla="*/ 133028 h 1664116"/>
              <a:gd name="connsiteX12" fmla="*/ 520996 w 2583712"/>
              <a:gd name="connsiteY12" fmla="*/ 122395 h 1664116"/>
              <a:gd name="connsiteX13" fmla="*/ 659219 w 2583712"/>
              <a:gd name="connsiteY13" fmla="*/ 101130 h 1664116"/>
              <a:gd name="connsiteX14" fmla="*/ 978196 w 2583712"/>
              <a:gd name="connsiteY14" fmla="*/ 90497 h 1664116"/>
              <a:gd name="connsiteX15" fmla="*/ 978196 w 2583712"/>
              <a:gd name="connsiteY15" fmla="*/ 90497 h 1664116"/>
              <a:gd name="connsiteX16" fmla="*/ 1084521 w 2583712"/>
              <a:gd name="connsiteY16" fmla="*/ 47967 h 1664116"/>
              <a:gd name="connsiteX17" fmla="*/ 1913861 w 2583712"/>
              <a:gd name="connsiteY17" fmla="*/ 16069 h 1664116"/>
              <a:gd name="connsiteX18" fmla="*/ 2094614 w 2583712"/>
              <a:gd name="connsiteY18" fmla="*/ 37335 h 1664116"/>
              <a:gd name="connsiteX19" fmla="*/ 2222205 w 2583712"/>
              <a:gd name="connsiteY19" fmla="*/ 58600 h 1664116"/>
              <a:gd name="connsiteX20" fmla="*/ 2286000 w 2583712"/>
              <a:gd name="connsiteY20" fmla="*/ 90497 h 1664116"/>
              <a:gd name="connsiteX21" fmla="*/ 2339163 w 2583712"/>
              <a:gd name="connsiteY21" fmla="*/ 111763 h 1664116"/>
              <a:gd name="connsiteX22" fmla="*/ 2371061 w 2583712"/>
              <a:gd name="connsiteY22" fmla="*/ 133028 h 1664116"/>
              <a:gd name="connsiteX23" fmla="*/ 2424224 w 2583712"/>
              <a:gd name="connsiteY23" fmla="*/ 143660 h 1664116"/>
              <a:gd name="connsiteX24" fmla="*/ 2498651 w 2583712"/>
              <a:gd name="connsiteY24" fmla="*/ 196823 h 1664116"/>
              <a:gd name="connsiteX25" fmla="*/ 2541182 w 2583712"/>
              <a:gd name="connsiteY25" fmla="*/ 260618 h 1664116"/>
              <a:gd name="connsiteX26" fmla="*/ 2583712 w 2583712"/>
              <a:gd name="connsiteY26" fmla="*/ 345679 h 1664116"/>
              <a:gd name="connsiteX27" fmla="*/ 2541182 w 2583712"/>
              <a:gd name="connsiteY27" fmla="*/ 420107 h 1664116"/>
              <a:gd name="connsiteX28" fmla="*/ 2519917 w 2583712"/>
              <a:gd name="connsiteY28" fmla="*/ 462637 h 1664116"/>
              <a:gd name="connsiteX29" fmla="*/ 2434856 w 2583712"/>
              <a:gd name="connsiteY29" fmla="*/ 505167 h 1664116"/>
              <a:gd name="connsiteX30" fmla="*/ 2402958 w 2583712"/>
              <a:gd name="connsiteY30" fmla="*/ 526432 h 1664116"/>
              <a:gd name="connsiteX31" fmla="*/ 2339163 w 2583712"/>
              <a:gd name="connsiteY31" fmla="*/ 537065 h 1664116"/>
              <a:gd name="connsiteX32" fmla="*/ 2296633 w 2583712"/>
              <a:gd name="connsiteY32" fmla="*/ 547697 h 1664116"/>
              <a:gd name="connsiteX33" fmla="*/ 2222205 w 2583712"/>
              <a:gd name="connsiteY33" fmla="*/ 568963 h 1664116"/>
              <a:gd name="connsiteX34" fmla="*/ 2115879 w 2583712"/>
              <a:gd name="connsiteY34" fmla="*/ 622125 h 1664116"/>
              <a:gd name="connsiteX35" fmla="*/ 2052084 w 2583712"/>
              <a:gd name="connsiteY35" fmla="*/ 845409 h 1664116"/>
              <a:gd name="connsiteX36" fmla="*/ 2020186 w 2583712"/>
              <a:gd name="connsiteY36" fmla="*/ 887939 h 1664116"/>
              <a:gd name="connsiteX37" fmla="*/ 1988289 w 2583712"/>
              <a:gd name="connsiteY37" fmla="*/ 941102 h 1664116"/>
              <a:gd name="connsiteX38" fmla="*/ 1988289 w 2583712"/>
              <a:gd name="connsiteY38" fmla="*/ 941102 h 1664116"/>
              <a:gd name="connsiteX39" fmla="*/ 1988289 w 2583712"/>
              <a:gd name="connsiteY39" fmla="*/ 1323874 h 1664116"/>
              <a:gd name="connsiteX40" fmla="*/ 1967024 w 2583712"/>
              <a:gd name="connsiteY40" fmla="*/ 1355772 h 1664116"/>
              <a:gd name="connsiteX41" fmla="*/ 1881963 w 2583712"/>
              <a:gd name="connsiteY41" fmla="*/ 1440832 h 1664116"/>
              <a:gd name="connsiteX42" fmla="*/ 1818168 w 2583712"/>
              <a:gd name="connsiteY42" fmla="*/ 1462097 h 1664116"/>
              <a:gd name="connsiteX43" fmla="*/ 1754372 w 2583712"/>
              <a:gd name="connsiteY43" fmla="*/ 1547158 h 1664116"/>
              <a:gd name="connsiteX44" fmla="*/ 1690577 w 2583712"/>
              <a:gd name="connsiteY44" fmla="*/ 1589688 h 1664116"/>
              <a:gd name="connsiteX45" fmla="*/ 1637414 w 2583712"/>
              <a:gd name="connsiteY45" fmla="*/ 1610953 h 1664116"/>
              <a:gd name="connsiteX46" fmla="*/ 1456661 w 2583712"/>
              <a:gd name="connsiteY46" fmla="*/ 1664116 h 1664116"/>
              <a:gd name="connsiteX47" fmla="*/ 1116419 w 2583712"/>
              <a:gd name="connsiteY47" fmla="*/ 1653483 h 1664116"/>
              <a:gd name="connsiteX48" fmla="*/ 1052624 w 2583712"/>
              <a:gd name="connsiteY48" fmla="*/ 1632218 h 1664116"/>
              <a:gd name="connsiteX49" fmla="*/ 967563 w 2583712"/>
              <a:gd name="connsiteY49" fmla="*/ 1610953 h 1664116"/>
              <a:gd name="connsiteX50" fmla="*/ 818707 w 2583712"/>
              <a:gd name="connsiteY50" fmla="*/ 1568423 h 1664116"/>
              <a:gd name="connsiteX51" fmla="*/ 680484 w 2583712"/>
              <a:gd name="connsiteY51" fmla="*/ 1515260 h 1664116"/>
              <a:gd name="connsiteX52" fmla="*/ 648586 w 2583712"/>
              <a:gd name="connsiteY52" fmla="*/ 1493995 h 1664116"/>
              <a:gd name="connsiteX53" fmla="*/ 648586 w 2583712"/>
              <a:gd name="connsiteY53" fmla="*/ 1238814 h 1664116"/>
              <a:gd name="connsiteX54" fmla="*/ 574158 w 2583712"/>
              <a:gd name="connsiteY54" fmla="*/ 1217549 h 1664116"/>
              <a:gd name="connsiteX55" fmla="*/ 520996 w 2583712"/>
              <a:gd name="connsiteY55" fmla="*/ 1196283 h 1664116"/>
              <a:gd name="connsiteX56" fmla="*/ 425303 w 2583712"/>
              <a:gd name="connsiteY56" fmla="*/ 1175018 h 1664116"/>
              <a:gd name="connsiteX57" fmla="*/ 361507 w 2583712"/>
              <a:gd name="connsiteY57" fmla="*/ 1153753 h 1664116"/>
              <a:gd name="connsiteX58" fmla="*/ 361507 w 2583712"/>
              <a:gd name="connsiteY58" fmla="*/ 1153753 h 1664116"/>
              <a:gd name="connsiteX59" fmla="*/ 138224 w 2583712"/>
              <a:gd name="connsiteY59" fmla="*/ 1111223 h 1664116"/>
              <a:gd name="connsiteX60" fmla="*/ 95693 w 2583712"/>
              <a:gd name="connsiteY60" fmla="*/ 1100590 h 1664116"/>
              <a:gd name="connsiteX61" fmla="*/ 10633 w 2583712"/>
              <a:gd name="connsiteY61" fmla="*/ 1068693 h 1664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83712" h="1664116">
                <a:moveTo>
                  <a:pt x="10633" y="1068693"/>
                </a:moveTo>
                <a:lnTo>
                  <a:pt x="10633" y="1068693"/>
                </a:lnTo>
                <a:cubicBezTo>
                  <a:pt x="14177" y="1026163"/>
                  <a:pt x="21265" y="983780"/>
                  <a:pt x="21265" y="941102"/>
                </a:cubicBezTo>
                <a:cubicBezTo>
                  <a:pt x="21265" y="914293"/>
                  <a:pt x="4709" y="803941"/>
                  <a:pt x="0" y="770981"/>
                </a:cubicBezTo>
                <a:cubicBezTo>
                  <a:pt x="7088" y="664655"/>
                  <a:pt x="14477" y="558349"/>
                  <a:pt x="21265" y="452004"/>
                </a:cubicBezTo>
                <a:cubicBezTo>
                  <a:pt x="25110" y="391771"/>
                  <a:pt x="13723" y="328805"/>
                  <a:pt x="31898" y="271251"/>
                </a:cubicBezTo>
                <a:cubicBezTo>
                  <a:pt x="37645" y="253051"/>
                  <a:pt x="66780" y="255470"/>
                  <a:pt x="85061" y="249986"/>
                </a:cubicBezTo>
                <a:cubicBezTo>
                  <a:pt x="102371" y="244793"/>
                  <a:pt x="120847" y="244318"/>
                  <a:pt x="138224" y="239353"/>
                </a:cubicBezTo>
                <a:cubicBezTo>
                  <a:pt x="170553" y="230116"/>
                  <a:pt x="202019" y="218089"/>
                  <a:pt x="233917" y="207456"/>
                </a:cubicBezTo>
                <a:cubicBezTo>
                  <a:pt x="244549" y="203912"/>
                  <a:pt x="255353" y="200846"/>
                  <a:pt x="265814" y="196823"/>
                </a:cubicBezTo>
                <a:cubicBezTo>
                  <a:pt x="311889" y="179102"/>
                  <a:pt x="355169" y="150641"/>
                  <a:pt x="404038" y="143660"/>
                </a:cubicBezTo>
                <a:cubicBezTo>
                  <a:pt x="428847" y="140116"/>
                  <a:pt x="453808" y="137511"/>
                  <a:pt x="478465" y="133028"/>
                </a:cubicBezTo>
                <a:cubicBezTo>
                  <a:pt x="492843" y="130414"/>
                  <a:pt x="506666" y="125261"/>
                  <a:pt x="520996" y="122395"/>
                </a:cubicBezTo>
                <a:cubicBezTo>
                  <a:pt x="540298" y="118535"/>
                  <a:pt x="643909" y="102151"/>
                  <a:pt x="659219" y="101130"/>
                </a:cubicBezTo>
                <a:cubicBezTo>
                  <a:pt x="834872" y="89419"/>
                  <a:pt x="850660" y="90497"/>
                  <a:pt x="978196" y="90497"/>
                </a:cubicBezTo>
                <a:lnTo>
                  <a:pt x="978196" y="90497"/>
                </a:lnTo>
                <a:cubicBezTo>
                  <a:pt x="1013638" y="76320"/>
                  <a:pt x="1047424" y="56960"/>
                  <a:pt x="1084521" y="47967"/>
                </a:cubicBezTo>
                <a:cubicBezTo>
                  <a:pt x="1406362" y="-30055"/>
                  <a:pt x="1516820" y="8850"/>
                  <a:pt x="1913861" y="16069"/>
                </a:cubicBezTo>
                <a:cubicBezTo>
                  <a:pt x="2116161" y="32928"/>
                  <a:pt x="1975592" y="16331"/>
                  <a:pt x="2094614" y="37335"/>
                </a:cubicBezTo>
                <a:lnTo>
                  <a:pt x="2222205" y="58600"/>
                </a:lnTo>
                <a:cubicBezTo>
                  <a:pt x="2243470" y="69232"/>
                  <a:pt x="2264356" y="80659"/>
                  <a:pt x="2286000" y="90497"/>
                </a:cubicBezTo>
                <a:cubicBezTo>
                  <a:pt x="2303375" y="98395"/>
                  <a:pt x="2322092" y="103227"/>
                  <a:pt x="2339163" y="111763"/>
                </a:cubicBezTo>
                <a:cubicBezTo>
                  <a:pt x="2350593" y="117478"/>
                  <a:pt x="2359096" y="128541"/>
                  <a:pt x="2371061" y="133028"/>
                </a:cubicBezTo>
                <a:cubicBezTo>
                  <a:pt x="2387982" y="139373"/>
                  <a:pt x="2406503" y="140116"/>
                  <a:pt x="2424224" y="143660"/>
                </a:cubicBezTo>
                <a:cubicBezTo>
                  <a:pt x="2439742" y="154006"/>
                  <a:pt x="2489059" y="186032"/>
                  <a:pt x="2498651" y="196823"/>
                </a:cubicBezTo>
                <a:cubicBezTo>
                  <a:pt x="2515631" y="215925"/>
                  <a:pt x="2529752" y="237759"/>
                  <a:pt x="2541182" y="260618"/>
                </a:cubicBezTo>
                <a:lnTo>
                  <a:pt x="2583712" y="345679"/>
                </a:lnTo>
                <a:cubicBezTo>
                  <a:pt x="2562822" y="408346"/>
                  <a:pt x="2587160" y="346540"/>
                  <a:pt x="2541182" y="420107"/>
                </a:cubicBezTo>
                <a:cubicBezTo>
                  <a:pt x="2532782" y="433548"/>
                  <a:pt x="2530064" y="450461"/>
                  <a:pt x="2519917" y="462637"/>
                </a:cubicBezTo>
                <a:cubicBezTo>
                  <a:pt x="2502322" y="483751"/>
                  <a:pt x="2454803" y="495194"/>
                  <a:pt x="2434856" y="505167"/>
                </a:cubicBezTo>
                <a:cubicBezTo>
                  <a:pt x="2423426" y="510882"/>
                  <a:pt x="2415081" y="522391"/>
                  <a:pt x="2402958" y="526432"/>
                </a:cubicBezTo>
                <a:cubicBezTo>
                  <a:pt x="2382506" y="533249"/>
                  <a:pt x="2360303" y="532837"/>
                  <a:pt x="2339163" y="537065"/>
                </a:cubicBezTo>
                <a:cubicBezTo>
                  <a:pt x="2324834" y="539931"/>
                  <a:pt x="2310731" y="543852"/>
                  <a:pt x="2296633" y="547697"/>
                </a:cubicBezTo>
                <a:cubicBezTo>
                  <a:pt x="2271740" y="554486"/>
                  <a:pt x="2246064" y="559139"/>
                  <a:pt x="2222205" y="568963"/>
                </a:cubicBezTo>
                <a:cubicBezTo>
                  <a:pt x="2185564" y="584050"/>
                  <a:pt x="2115879" y="622125"/>
                  <a:pt x="2115879" y="622125"/>
                </a:cubicBezTo>
                <a:cubicBezTo>
                  <a:pt x="2095540" y="717040"/>
                  <a:pt x="2094815" y="767069"/>
                  <a:pt x="2052084" y="845409"/>
                </a:cubicBezTo>
                <a:cubicBezTo>
                  <a:pt x="2043598" y="860966"/>
                  <a:pt x="2030486" y="873519"/>
                  <a:pt x="2020186" y="887939"/>
                </a:cubicBezTo>
                <a:cubicBezTo>
                  <a:pt x="1998802" y="917876"/>
                  <a:pt x="2001983" y="913713"/>
                  <a:pt x="1988289" y="941102"/>
                </a:cubicBezTo>
                <a:lnTo>
                  <a:pt x="1988289" y="941102"/>
                </a:lnTo>
                <a:cubicBezTo>
                  <a:pt x="1989027" y="961780"/>
                  <a:pt x="2014377" y="1228214"/>
                  <a:pt x="1988289" y="1323874"/>
                </a:cubicBezTo>
                <a:cubicBezTo>
                  <a:pt x="1984927" y="1336203"/>
                  <a:pt x="1975620" y="1346316"/>
                  <a:pt x="1967024" y="1355772"/>
                </a:cubicBezTo>
                <a:cubicBezTo>
                  <a:pt x="1940051" y="1385442"/>
                  <a:pt x="1914592" y="1417526"/>
                  <a:pt x="1881963" y="1440832"/>
                </a:cubicBezTo>
                <a:cubicBezTo>
                  <a:pt x="1863723" y="1453861"/>
                  <a:pt x="1839433" y="1455009"/>
                  <a:pt x="1818168" y="1462097"/>
                </a:cubicBezTo>
                <a:cubicBezTo>
                  <a:pt x="1796903" y="1490451"/>
                  <a:pt x="1783862" y="1527498"/>
                  <a:pt x="1754372" y="1547158"/>
                </a:cubicBezTo>
                <a:cubicBezTo>
                  <a:pt x="1733107" y="1561335"/>
                  <a:pt x="1713014" y="1577450"/>
                  <a:pt x="1690577" y="1589688"/>
                </a:cubicBezTo>
                <a:cubicBezTo>
                  <a:pt x="1673821" y="1598827"/>
                  <a:pt x="1655388" y="1604534"/>
                  <a:pt x="1637414" y="1610953"/>
                </a:cubicBezTo>
                <a:cubicBezTo>
                  <a:pt x="1541418" y="1645237"/>
                  <a:pt x="1550503" y="1640655"/>
                  <a:pt x="1456661" y="1664116"/>
                </a:cubicBezTo>
                <a:cubicBezTo>
                  <a:pt x="1343247" y="1660572"/>
                  <a:pt x="1229536" y="1662413"/>
                  <a:pt x="1116419" y="1653483"/>
                </a:cubicBezTo>
                <a:cubicBezTo>
                  <a:pt x="1094073" y="1651719"/>
                  <a:pt x="1074177" y="1638376"/>
                  <a:pt x="1052624" y="1632218"/>
                </a:cubicBezTo>
                <a:cubicBezTo>
                  <a:pt x="1024522" y="1624189"/>
                  <a:pt x="996012" y="1617647"/>
                  <a:pt x="967563" y="1610953"/>
                </a:cubicBezTo>
                <a:cubicBezTo>
                  <a:pt x="790700" y="1569339"/>
                  <a:pt x="938738" y="1611291"/>
                  <a:pt x="818707" y="1568423"/>
                </a:cubicBezTo>
                <a:cubicBezTo>
                  <a:pt x="747012" y="1542818"/>
                  <a:pt x="734686" y="1546233"/>
                  <a:pt x="680484" y="1515260"/>
                </a:cubicBezTo>
                <a:cubicBezTo>
                  <a:pt x="669389" y="1508920"/>
                  <a:pt x="659219" y="1501083"/>
                  <a:pt x="648586" y="1493995"/>
                </a:cubicBezTo>
                <a:cubicBezTo>
                  <a:pt x="607023" y="1369306"/>
                  <a:pt x="624846" y="1452478"/>
                  <a:pt x="648586" y="1238814"/>
                </a:cubicBezTo>
                <a:cubicBezTo>
                  <a:pt x="623777" y="1231726"/>
                  <a:pt x="598636" y="1225709"/>
                  <a:pt x="574158" y="1217549"/>
                </a:cubicBezTo>
                <a:cubicBezTo>
                  <a:pt x="556052" y="1211513"/>
                  <a:pt x="539348" y="1201526"/>
                  <a:pt x="520996" y="1196283"/>
                </a:cubicBezTo>
                <a:cubicBezTo>
                  <a:pt x="489578" y="1187306"/>
                  <a:pt x="456722" y="1183995"/>
                  <a:pt x="425303" y="1175018"/>
                </a:cubicBezTo>
                <a:cubicBezTo>
                  <a:pt x="346268" y="1152437"/>
                  <a:pt x="395419" y="1153753"/>
                  <a:pt x="361507" y="1153753"/>
                </a:cubicBezTo>
                <a:lnTo>
                  <a:pt x="361507" y="1153753"/>
                </a:lnTo>
                <a:cubicBezTo>
                  <a:pt x="222244" y="1138280"/>
                  <a:pt x="296949" y="1150905"/>
                  <a:pt x="138224" y="1111223"/>
                </a:cubicBezTo>
                <a:lnTo>
                  <a:pt x="95693" y="1100590"/>
                </a:lnTo>
                <a:cubicBezTo>
                  <a:pt x="49153" y="1065686"/>
                  <a:pt x="24810" y="1074009"/>
                  <a:pt x="10633" y="1068693"/>
                </a:cubicBezTo>
                <a:close/>
              </a:path>
            </a:pathLst>
          </a:custGeom>
          <a:solidFill>
            <a:srgbClr val="EBD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orme libre : forme 14">
            <a:extLst>
              <a:ext uri="{FF2B5EF4-FFF2-40B4-BE49-F238E27FC236}">
                <a16:creationId xmlns:a16="http://schemas.microsoft.com/office/drawing/2014/main" id="{48A01F1F-F2DC-4375-9180-CB92A6BDAE6E}"/>
              </a:ext>
            </a:extLst>
          </p:cNvPr>
          <p:cNvSpPr/>
          <p:nvPr/>
        </p:nvSpPr>
        <p:spPr>
          <a:xfrm>
            <a:off x="5252484" y="1212112"/>
            <a:ext cx="2679404" cy="1903228"/>
          </a:xfrm>
          <a:custGeom>
            <a:avLst/>
            <a:gdLst>
              <a:gd name="connsiteX0" fmla="*/ 712381 w 2679404"/>
              <a:gd name="connsiteY0" fmla="*/ 903767 h 1903228"/>
              <a:gd name="connsiteX1" fmla="*/ 712381 w 2679404"/>
              <a:gd name="connsiteY1" fmla="*/ 903767 h 1903228"/>
              <a:gd name="connsiteX2" fmla="*/ 446567 w 2679404"/>
              <a:gd name="connsiteY2" fmla="*/ 893135 h 1903228"/>
              <a:gd name="connsiteX3" fmla="*/ 340242 w 2679404"/>
              <a:gd name="connsiteY3" fmla="*/ 903767 h 1903228"/>
              <a:gd name="connsiteX4" fmla="*/ 233916 w 2679404"/>
              <a:gd name="connsiteY4" fmla="*/ 925032 h 1903228"/>
              <a:gd name="connsiteX5" fmla="*/ 138223 w 2679404"/>
              <a:gd name="connsiteY5" fmla="*/ 956930 h 1903228"/>
              <a:gd name="connsiteX6" fmla="*/ 53163 w 2679404"/>
              <a:gd name="connsiteY6" fmla="*/ 999460 h 1903228"/>
              <a:gd name="connsiteX7" fmla="*/ 42530 w 2679404"/>
              <a:gd name="connsiteY7" fmla="*/ 1031358 h 1903228"/>
              <a:gd name="connsiteX8" fmla="*/ 10632 w 2679404"/>
              <a:gd name="connsiteY8" fmla="*/ 1073888 h 1903228"/>
              <a:gd name="connsiteX9" fmla="*/ 0 w 2679404"/>
              <a:gd name="connsiteY9" fmla="*/ 1158948 h 1903228"/>
              <a:gd name="connsiteX10" fmla="*/ 42530 w 2679404"/>
              <a:gd name="connsiteY10" fmla="*/ 1233376 h 1903228"/>
              <a:gd name="connsiteX11" fmla="*/ 127590 w 2679404"/>
              <a:gd name="connsiteY11" fmla="*/ 1275907 h 1903228"/>
              <a:gd name="connsiteX12" fmla="*/ 233916 w 2679404"/>
              <a:gd name="connsiteY12" fmla="*/ 1318437 h 1903228"/>
              <a:gd name="connsiteX13" fmla="*/ 425302 w 2679404"/>
              <a:gd name="connsiteY13" fmla="*/ 1329069 h 1903228"/>
              <a:gd name="connsiteX14" fmla="*/ 457200 w 2679404"/>
              <a:gd name="connsiteY14" fmla="*/ 1350335 h 1903228"/>
              <a:gd name="connsiteX15" fmla="*/ 510363 w 2679404"/>
              <a:gd name="connsiteY15" fmla="*/ 1403497 h 1903228"/>
              <a:gd name="connsiteX16" fmla="*/ 520995 w 2679404"/>
              <a:gd name="connsiteY16" fmla="*/ 1488558 h 1903228"/>
              <a:gd name="connsiteX17" fmla="*/ 542260 w 2679404"/>
              <a:gd name="connsiteY17" fmla="*/ 1573618 h 1903228"/>
              <a:gd name="connsiteX18" fmla="*/ 584790 w 2679404"/>
              <a:gd name="connsiteY18" fmla="*/ 1616148 h 1903228"/>
              <a:gd name="connsiteX19" fmla="*/ 616688 w 2679404"/>
              <a:gd name="connsiteY19" fmla="*/ 1616148 h 1903228"/>
              <a:gd name="connsiteX20" fmla="*/ 616688 w 2679404"/>
              <a:gd name="connsiteY20" fmla="*/ 1616148 h 1903228"/>
              <a:gd name="connsiteX21" fmla="*/ 776176 w 2679404"/>
              <a:gd name="connsiteY21" fmla="*/ 1754372 h 1903228"/>
              <a:gd name="connsiteX22" fmla="*/ 839972 w 2679404"/>
              <a:gd name="connsiteY22" fmla="*/ 1818167 h 1903228"/>
              <a:gd name="connsiteX23" fmla="*/ 882502 w 2679404"/>
              <a:gd name="connsiteY23" fmla="*/ 1860697 h 1903228"/>
              <a:gd name="connsiteX24" fmla="*/ 903767 w 2679404"/>
              <a:gd name="connsiteY24" fmla="*/ 1892595 h 1903228"/>
              <a:gd name="connsiteX25" fmla="*/ 956930 w 2679404"/>
              <a:gd name="connsiteY25" fmla="*/ 1903228 h 1903228"/>
              <a:gd name="connsiteX26" fmla="*/ 1190846 w 2679404"/>
              <a:gd name="connsiteY26" fmla="*/ 1881962 h 1903228"/>
              <a:gd name="connsiteX27" fmla="*/ 1222744 w 2679404"/>
              <a:gd name="connsiteY27" fmla="*/ 1871330 h 1903228"/>
              <a:gd name="connsiteX28" fmla="*/ 1722474 w 2679404"/>
              <a:gd name="connsiteY28" fmla="*/ 1881962 h 1903228"/>
              <a:gd name="connsiteX29" fmla="*/ 2073349 w 2679404"/>
              <a:gd name="connsiteY29" fmla="*/ 1892595 h 1903228"/>
              <a:gd name="connsiteX30" fmla="*/ 2402958 w 2679404"/>
              <a:gd name="connsiteY30" fmla="*/ 1871330 h 1903228"/>
              <a:gd name="connsiteX31" fmla="*/ 2498651 w 2679404"/>
              <a:gd name="connsiteY31" fmla="*/ 1828800 h 1903228"/>
              <a:gd name="connsiteX32" fmla="*/ 2530549 w 2679404"/>
              <a:gd name="connsiteY32" fmla="*/ 1818167 h 1903228"/>
              <a:gd name="connsiteX33" fmla="*/ 2573079 w 2679404"/>
              <a:gd name="connsiteY33" fmla="*/ 1796902 h 1903228"/>
              <a:gd name="connsiteX34" fmla="*/ 2604976 w 2679404"/>
              <a:gd name="connsiteY34" fmla="*/ 1754372 h 1903228"/>
              <a:gd name="connsiteX35" fmla="*/ 2679404 w 2679404"/>
              <a:gd name="connsiteY35" fmla="*/ 1509823 h 1903228"/>
              <a:gd name="connsiteX36" fmla="*/ 2604976 w 2679404"/>
              <a:gd name="connsiteY36" fmla="*/ 1392865 h 1903228"/>
              <a:gd name="connsiteX37" fmla="*/ 2317897 w 2679404"/>
              <a:gd name="connsiteY37" fmla="*/ 1339702 h 1903228"/>
              <a:gd name="connsiteX38" fmla="*/ 2264735 w 2679404"/>
              <a:gd name="connsiteY38" fmla="*/ 1190846 h 1903228"/>
              <a:gd name="connsiteX39" fmla="*/ 2243469 w 2679404"/>
              <a:gd name="connsiteY39" fmla="*/ 1020725 h 1903228"/>
              <a:gd name="connsiteX40" fmla="*/ 2254102 w 2679404"/>
              <a:gd name="connsiteY40" fmla="*/ 616688 h 1903228"/>
              <a:gd name="connsiteX41" fmla="*/ 2286000 w 2679404"/>
              <a:gd name="connsiteY41" fmla="*/ 552893 h 1903228"/>
              <a:gd name="connsiteX42" fmla="*/ 2307265 w 2679404"/>
              <a:gd name="connsiteY42" fmla="*/ 499730 h 1903228"/>
              <a:gd name="connsiteX43" fmla="*/ 2296632 w 2679404"/>
              <a:gd name="connsiteY43" fmla="*/ 393404 h 1903228"/>
              <a:gd name="connsiteX44" fmla="*/ 2264735 w 2679404"/>
              <a:gd name="connsiteY44" fmla="*/ 361507 h 1903228"/>
              <a:gd name="connsiteX45" fmla="*/ 2254102 w 2679404"/>
              <a:gd name="connsiteY45" fmla="*/ 308344 h 1903228"/>
              <a:gd name="connsiteX46" fmla="*/ 2211572 w 2679404"/>
              <a:gd name="connsiteY46" fmla="*/ 202018 h 1903228"/>
              <a:gd name="connsiteX47" fmla="*/ 2179674 w 2679404"/>
              <a:gd name="connsiteY47" fmla="*/ 127590 h 1903228"/>
              <a:gd name="connsiteX48" fmla="*/ 2158409 w 2679404"/>
              <a:gd name="connsiteY48" fmla="*/ 53162 h 1903228"/>
              <a:gd name="connsiteX49" fmla="*/ 2126511 w 2679404"/>
              <a:gd name="connsiteY49" fmla="*/ 42530 h 1903228"/>
              <a:gd name="connsiteX50" fmla="*/ 2062716 w 2679404"/>
              <a:gd name="connsiteY50" fmla="*/ 31897 h 1903228"/>
              <a:gd name="connsiteX51" fmla="*/ 1786269 w 2679404"/>
              <a:gd name="connsiteY51" fmla="*/ 21265 h 1903228"/>
              <a:gd name="connsiteX52" fmla="*/ 1626781 w 2679404"/>
              <a:gd name="connsiteY52" fmla="*/ 0 h 1903228"/>
              <a:gd name="connsiteX53" fmla="*/ 1446028 w 2679404"/>
              <a:gd name="connsiteY53" fmla="*/ 10632 h 1903228"/>
              <a:gd name="connsiteX54" fmla="*/ 1403497 w 2679404"/>
              <a:gd name="connsiteY54" fmla="*/ 31897 h 1903228"/>
              <a:gd name="connsiteX55" fmla="*/ 1360967 w 2679404"/>
              <a:gd name="connsiteY55" fmla="*/ 42530 h 1903228"/>
              <a:gd name="connsiteX56" fmla="*/ 1307804 w 2679404"/>
              <a:gd name="connsiteY56" fmla="*/ 74428 h 1903228"/>
              <a:gd name="connsiteX57" fmla="*/ 1116418 w 2679404"/>
              <a:gd name="connsiteY57" fmla="*/ 191386 h 1903228"/>
              <a:gd name="connsiteX58" fmla="*/ 1010093 w 2679404"/>
              <a:gd name="connsiteY58" fmla="*/ 276446 h 1903228"/>
              <a:gd name="connsiteX59" fmla="*/ 925032 w 2679404"/>
              <a:gd name="connsiteY59" fmla="*/ 404037 h 1903228"/>
              <a:gd name="connsiteX60" fmla="*/ 861237 w 2679404"/>
              <a:gd name="connsiteY60" fmla="*/ 489097 h 1903228"/>
              <a:gd name="connsiteX61" fmla="*/ 808074 w 2679404"/>
              <a:gd name="connsiteY61" fmla="*/ 616688 h 1903228"/>
              <a:gd name="connsiteX62" fmla="*/ 765544 w 2679404"/>
              <a:gd name="connsiteY62" fmla="*/ 712381 h 1903228"/>
              <a:gd name="connsiteX63" fmla="*/ 723014 w 2679404"/>
              <a:gd name="connsiteY63" fmla="*/ 797441 h 1903228"/>
              <a:gd name="connsiteX64" fmla="*/ 648586 w 2679404"/>
              <a:gd name="connsiteY64" fmla="*/ 903767 h 1903228"/>
              <a:gd name="connsiteX65" fmla="*/ 680483 w 2679404"/>
              <a:gd name="connsiteY65" fmla="*/ 914400 h 1903228"/>
              <a:gd name="connsiteX66" fmla="*/ 712381 w 2679404"/>
              <a:gd name="connsiteY66" fmla="*/ 903767 h 1903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679404" h="1903228">
                <a:moveTo>
                  <a:pt x="712381" y="903767"/>
                </a:moveTo>
                <a:lnTo>
                  <a:pt x="712381" y="903767"/>
                </a:lnTo>
                <a:cubicBezTo>
                  <a:pt x="623776" y="900223"/>
                  <a:pt x="535243" y="893135"/>
                  <a:pt x="446567" y="893135"/>
                </a:cubicBezTo>
                <a:cubicBezTo>
                  <a:pt x="410949" y="893135"/>
                  <a:pt x="375585" y="899349"/>
                  <a:pt x="340242" y="903767"/>
                </a:cubicBezTo>
                <a:cubicBezTo>
                  <a:pt x="309436" y="907618"/>
                  <a:pt x="265230" y="915397"/>
                  <a:pt x="233916" y="925032"/>
                </a:cubicBezTo>
                <a:cubicBezTo>
                  <a:pt x="201780" y="934920"/>
                  <a:pt x="166199" y="938279"/>
                  <a:pt x="138223" y="956930"/>
                </a:cubicBezTo>
                <a:cubicBezTo>
                  <a:pt x="90445" y="988782"/>
                  <a:pt x="118190" y="973449"/>
                  <a:pt x="53163" y="999460"/>
                </a:cubicBezTo>
                <a:cubicBezTo>
                  <a:pt x="49619" y="1010093"/>
                  <a:pt x="48091" y="1021627"/>
                  <a:pt x="42530" y="1031358"/>
                </a:cubicBezTo>
                <a:cubicBezTo>
                  <a:pt x="33738" y="1046744"/>
                  <a:pt x="16236" y="1057076"/>
                  <a:pt x="10632" y="1073888"/>
                </a:cubicBezTo>
                <a:cubicBezTo>
                  <a:pt x="1596" y="1100996"/>
                  <a:pt x="3544" y="1130595"/>
                  <a:pt x="0" y="1158948"/>
                </a:cubicBezTo>
                <a:cubicBezTo>
                  <a:pt x="6010" y="1170968"/>
                  <a:pt x="29379" y="1222104"/>
                  <a:pt x="42530" y="1233376"/>
                </a:cubicBezTo>
                <a:cubicBezTo>
                  <a:pt x="88741" y="1272985"/>
                  <a:pt x="85070" y="1257684"/>
                  <a:pt x="127590" y="1275907"/>
                </a:cubicBezTo>
                <a:cubicBezTo>
                  <a:pt x="166636" y="1292641"/>
                  <a:pt x="188365" y="1312743"/>
                  <a:pt x="233916" y="1318437"/>
                </a:cubicBezTo>
                <a:cubicBezTo>
                  <a:pt x="297316" y="1326362"/>
                  <a:pt x="361507" y="1325525"/>
                  <a:pt x="425302" y="1329069"/>
                </a:cubicBezTo>
                <a:cubicBezTo>
                  <a:pt x="435935" y="1336158"/>
                  <a:pt x="447583" y="1341920"/>
                  <a:pt x="457200" y="1350335"/>
                </a:cubicBezTo>
                <a:cubicBezTo>
                  <a:pt x="476060" y="1366838"/>
                  <a:pt x="510363" y="1403497"/>
                  <a:pt x="510363" y="1403497"/>
                </a:cubicBezTo>
                <a:cubicBezTo>
                  <a:pt x="513907" y="1431851"/>
                  <a:pt x="516650" y="1460316"/>
                  <a:pt x="520995" y="1488558"/>
                </a:cubicBezTo>
                <a:cubicBezTo>
                  <a:pt x="521782" y="1493672"/>
                  <a:pt x="533383" y="1561190"/>
                  <a:pt x="542260" y="1573618"/>
                </a:cubicBezTo>
                <a:cubicBezTo>
                  <a:pt x="553913" y="1589932"/>
                  <a:pt x="567383" y="1606201"/>
                  <a:pt x="584790" y="1616148"/>
                </a:cubicBezTo>
                <a:cubicBezTo>
                  <a:pt x="594022" y="1621423"/>
                  <a:pt x="606055" y="1616148"/>
                  <a:pt x="616688" y="1616148"/>
                </a:cubicBezTo>
                <a:lnTo>
                  <a:pt x="616688" y="1616148"/>
                </a:lnTo>
                <a:cubicBezTo>
                  <a:pt x="768298" y="1767761"/>
                  <a:pt x="577141" y="1581876"/>
                  <a:pt x="776176" y="1754372"/>
                </a:cubicBezTo>
                <a:cubicBezTo>
                  <a:pt x="798902" y="1774068"/>
                  <a:pt x="818707" y="1796902"/>
                  <a:pt x="839972" y="1818167"/>
                </a:cubicBezTo>
                <a:cubicBezTo>
                  <a:pt x="854149" y="1832344"/>
                  <a:pt x="871381" y="1844015"/>
                  <a:pt x="882502" y="1860697"/>
                </a:cubicBezTo>
                <a:cubicBezTo>
                  <a:pt x="889590" y="1871330"/>
                  <a:pt x="892672" y="1886255"/>
                  <a:pt x="903767" y="1892595"/>
                </a:cubicBezTo>
                <a:cubicBezTo>
                  <a:pt x="919458" y="1901561"/>
                  <a:pt x="939209" y="1899684"/>
                  <a:pt x="956930" y="1903228"/>
                </a:cubicBezTo>
                <a:cubicBezTo>
                  <a:pt x="1057611" y="1897305"/>
                  <a:pt x="1107877" y="1902704"/>
                  <a:pt x="1190846" y="1881962"/>
                </a:cubicBezTo>
                <a:cubicBezTo>
                  <a:pt x="1201719" y="1879244"/>
                  <a:pt x="1212111" y="1874874"/>
                  <a:pt x="1222744" y="1871330"/>
                </a:cubicBezTo>
                <a:lnTo>
                  <a:pt x="1722474" y="1881962"/>
                </a:lnTo>
                <a:cubicBezTo>
                  <a:pt x="1839449" y="1884886"/>
                  <a:pt x="1956351" y="1894423"/>
                  <a:pt x="2073349" y="1892595"/>
                </a:cubicBezTo>
                <a:cubicBezTo>
                  <a:pt x="2183434" y="1890875"/>
                  <a:pt x="2293088" y="1878418"/>
                  <a:pt x="2402958" y="1871330"/>
                </a:cubicBezTo>
                <a:cubicBezTo>
                  <a:pt x="2474811" y="1847378"/>
                  <a:pt x="2387921" y="1878013"/>
                  <a:pt x="2498651" y="1828800"/>
                </a:cubicBezTo>
                <a:cubicBezTo>
                  <a:pt x="2508893" y="1824248"/>
                  <a:pt x="2520247" y="1822582"/>
                  <a:pt x="2530549" y="1818167"/>
                </a:cubicBezTo>
                <a:cubicBezTo>
                  <a:pt x="2545117" y="1811923"/>
                  <a:pt x="2558902" y="1803990"/>
                  <a:pt x="2573079" y="1796902"/>
                </a:cubicBezTo>
                <a:cubicBezTo>
                  <a:pt x="2583711" y="1782725"/>
                  <a:pt x="2598519" y="1770874"/>
                  <a:pt x="2604976" y="1754372"/>
                </a:cubicBezTo>
                <a:cubicBezTo>
                  <a:pt x="2644325" y="1653813"/>
                  <a:pt x="2657615" y="1596984"/>
                  <a:pt x="2679404" y="1509823"/>
                </a:cubicBezTo>
                <a:cubicBezTo>
                  <a:pt x="2654595" y="1470837"/>
                  <a:pt x="2633526" y="1429201"/>
                  <a:pt x="2604976" y="1392865"/>
                </a:cubicBezTo>
                <a:cubicBezTo>
                  <a:pt x="2544591" y="1316012"/>
                  <a:pt x="2360295" y="1343389"/>
                  <a:pt x="2317897" y="1339702"/>
                </a:cubicBezTo>
                <a:cubicBezTo>
                  <a:pt x="2297088" y="1291146"/>
                  <a:pt x="2273100" y="1243824"/>
                  <a:pt x="2264735" y="1190846"/>
                </a:cubicBezTo>
                <a:cubicBezTo>
                  <a:pt x="2224122" y="933632"/>
                  <a:pt x="2274303" y="1144056"/>
                  <a:pt x="2243469" y="1020725"/>
                </a:cubicBezTo>
                <a:cubicBezTo>
                  <a:pt x="2247013" y="886046"/>
                  <a:pt x="2241904" y="750860"/>
                  <a:pt x="2254102" y="616688"/>
                </a:cubicBezTo>
                <a:cubicBezTo>
                  <a:pt x="2256255" y="593011"/>
                  <a:pt x="2276162" y="574537"/>
                  <a:pt x="2286000" y="552893"/>
                </a:cubicBezTo>
                <a:cubicBezTo>
                  <a:pt x="2293898" y="535518"/>
                  <a:pt x="2300177" y="517451"/>
                  <a:pt x="2307265" y="499730"/>
                </a:cubicBezTo>
                <a:cubicBezTo>
                  <a:pt x="2303721" y="464288"/>
                  <a:pt x="2307107" y="427448"/>
                  <a:pt x="2296632" y="393404"/>
                </a:cubicBezTo>
                <a:cubicBezTo>
                  <a:pt x="2292210" y="379033"/>
                  <a:pt x="2271459" y="374956"/>
                  <a:pt x="2264735" y="361507"/>
                </a:cubicBezTo>
                <a:cubicBezTo>
                  <a:pt x="2256653" y="345343"/>
                  <a:pt x="2258857" y="325779"/>
                  <a:pt x="2254102" y="308344"/>
                </a:cubicBezTo>
                <a:cubicBezTo>
                  <a:pt x="2229901" y="219608"/>
                  <a:pt x="2241393" y="271600"/>
                  <a:pt x="2211572" y="202018"/>
                </a:cubicBezTo>
                <a:cubicBezTo>
                  <a:pt x="2164632" y="92494"/>
                  <a:pt x="2250209" y="268663"/>
                  <a:pt x="2179674" y="127590"/>
                </a:cubicBezTo>
                <a:cubicBezTo>
                  <a:pt x="2179581" y="127220"/>
                  <a:pt x="2163495" y="58248"/>
                  <a:pt x="2158409" y="53162"/>
                </a:cubicBezTo>
                <a:cubicBezTo>
                  <a:pt x="2150484" y="45237"/>
                  <a:pt x="2137452" y="44961"/>
                  <a:pt x="2126511" y="42530"/>
                </a:cubicBezTo>
                <a:cubicBezTo>
                  <a:pt x="2105466" y="37853"/>
                  <a:pt x="2084232" y="33242"/>
                  <a:pt x="2062716" y="31897"/>
                </a:cubicBezTo>
                <a:cubicBezTo>
                  <a:pt x="1970678" y="26145"/>
                  <a:pt x="1878418" y="24809"/>
                  <a:pt x="1786269" y="21265"/>
                </a:cubicBezTo>
                <a:cubicBezTo>
                  <a:pt x="1767906" y="18642"/>
                  <a:pt x="1640533" y="0"/>
                  <a:pt x="1626781" y="0"/>
                </a:cubicBezTo>
                <a:cubicBezTo>
                  <a:pt x="1566426" y="0"/>
                  <a:pt x="1506279" y="7088"/>
                  <a:pt x="1446028" y="10632"/>
                </a:cubicBezTo>
                <a:cubicBezTo>
                  <a:pt x="1431851" y="17720"/>
                  <a:pt x="1418338" y="26332"/>
                  <a:pt x="1403497" y="31897"/>
                </a:cubicBezTo>
                <a:cubicBezTo>
                  <a:pt x="1389814" y="37028"/>
                  <a:pt x="1374321" y="36595"/>
                  <a:pt x="1360967" y="42530"/>
                </a:cubicBezTo>
                <a:cubicBezTo>
                  <a:pt x="1342082" y="50923"/>
                  <a:pt x="1325947" y="64532"/>
                  <a:pt x="1307804" y="74428"/>
                </a:cubicBezTo>
                <a:cubicBezTo>
                  <a:pt x="1193757" y="136635"/>
                  <a:pt x="1273537" y="77117"/>
                  <a:pt x="1116418" y="191386"/>
                </a:cubicBezTo>
                <a:cubicBezTo>
                  <a:pt x="1079712" y="218082"/>
                  <a:pt x="1040456" y="242710"/>
                  <a:pt x="1010093" y="276446"/>
                </a:cubicBezTo>
                <a:cubicBezTo>
                  <a:pt x="975899" y="314440"/>
                  <a:pt x="956963" y="364123"/>
                  <a:pt x="925032" y="404037"/>
                </a:cubicBezTo>
                <a:cubicBezTo>
                  <a:pt x="904584" y="429597"/>
                  <a:pt x="878161" y="459479"/>
                  <a:pt x="861237" y="489097"/>
                </a:cubicBezTo>
                <a:cubicBezTo>
                  <a:pt x="832376" y="539604"/>
                  <a:pt x="834178" y="553293"/>
                  <a:pt x="808074" y="616688"/>
                </a:cubicBezTo>
                <a:cubicBezTo>
                  <a:pt x="794783" y="648965"/>
                  <a:pt x="780407" y="680797"/>
                  <a:pt x="765544" y="712381"/>
                </a:cubicBezTo>
                <a:cubicBezTo>
                  <a:pt x="752046" y="741064"/>
                  <a:pt x="738742" y="769918"/>
                  <a:pt x="723014" y="797441"/>
                </a:cubicBezTo>
                <a:cubicBezTo>
                  <a:pt x="702072" y="834089"/>
                  <a:pt x="674033" y="869837"/>
                  <a:pt x="648586" y="903767"/>
                </a:cubicBezTo>
                <a:cubicBezTo>
                  <a:pt x="629224" y="961850"/>
                  <a:pt x="633184" y="924911"/>
                  <a:pt x="680483" y="914400"/>
                </a:cubicBezTo>
                <a:cubicBezTo>
                  <a:pt x="697782" y="910556"/>
                  <a:pt x="707065" y="905539"/>
                  <a:pt x="712381" y="903767"/>
                </a:cubicBezTo>
                <a:close/>
              </a:path>
            </a:pathLst>
          </a:custGeom>
          <a:solidFill>
            <a:srgbClr val="EBD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orme libre : forme 15">
            <a:extLst>
              <a:ext uri="{FF2B5EF4-FFF2-40B4-BE49-F238E27FC236}">
                <a16:creationId xmlns:a16="http://schemas.microsoft.com/office/drawing/2014/main" id="{C055307C-255D-430A-B495-C12C2CD343A3}"/>
              </a:ext>
            </a:extLst>
          </p:cNvPr>
          <p:cNvSpPr/>
          <p:nvPr/>
        </p:nvSpPr>
        <p:spPr>
          <a:xfrm>
            <a:off x="4976037" y="3040912"/>
            <a:ext cx="2690037" cy="3306725"/>
          </a:xfrm>
          <a:custGeom>
            <a:avLst/>
            <a:gdLst>
              <a:gd name="connsiteX0" fmla="*/ 1988289 w 2690037"/>
              <a:gd name="connsiteY0" fmla="*/ 233916 h 3306725"/>
              <a:gd name="connsiteX1" fmla="*/ 1988289 w 2690037"/>
              <a:gd name="connsiteY1" fmla="*/ 233916 h 3306725"/>
              <a:gd name="connsiteX2" fmla="*/ 1860698 w 2690037"/>
              <a:gd name="connsiteY2" fmla="*/ 127590 h 3306725"/>
              <a:gd name="connsiteX3" fmla="*/ 1828800 w 2690037"/>
              <a:gd name="connsiteY3" fmla="*/ 116958 h 3306725"/>
              <a:gd name="connsiteX4" fmla="*/ 1796903 w 2690037"/>
              <a:gd name="connsiteY4" fmla="*/ 95693 h 3306725"/>
              <a:gd name="connsiteX5" fmla="*/ 1754372 w 2690037"/>
              <a:gd name="connsiteY5" fmla="*/ 85060 h 3306725"/>
              <a:gd name="connsiteX6" fmla="*/ 1722475 w 2690037"/>
              <a:gd name="connsiteY6" fmla="*/ 74428 h 3306725"/>
              <a:gd name="connsiteX7" fmla="*/ 1648047 w 2690037"/>
              <a:gd name="connsiteY7" fmla="*/ 85060 h 3306725"/>
              <a:gd name="connsiteX8" fmla="*/ 1637414 w 2690037"/>
              <a:gd name="connsiteY8" fmla="*/ 127590 h 3306725"/>
              <a:gd name="connsiteX9" fmla="*/ 1541721 w 2690037"/>
              <a:gd name="connsiteY9" fmla="*/ 180753 h 3306725"/>
              <a:gd name="connsiteX10" fmla="*/ 1509823 w 2690037"/>
              <a:gd name="connsiteY10" fmla="*/ 148855 h 3306725"/>
              <a:gd name="connsiteX11" fmla="*/ 1382233 w 2690037"/>
              <a:gd name="connsiteY11" fmla="*/ 127590 h 3306725"/>
              <a:gd name="connsiteX12" fmla="*/ 1329070 w 2690037"/>
              <a:gd name="connsiteY12" fmla="*/ 116958 h 3306725"/>
              <a:gd name="connsiteX13" fmla="*/ 1116419 w 2690037"/>
              <a:gd name="connsiteY13" fmla="*/ 106325 h 3306725"/>
              <a:gd name="connsiteX14" fmla="*/ 1073889 w 2690037"/>
              <a:gd name="connsiteY14" fmla="*/ 95693 h 3306725"/>
              <a:gd name="connsiteX15" fmla="*/ 871870 w 2690037"/>
              <a:gd name="connsiteY15" fmla="*/ 63795 h 3306725"/>
              <a:gd name="connsiteX16" fmla="*/ 467833 w 2690037"/>
              <a:gd name="connsiteY16" fmla="*/ 0 h 3306725"/>
              <a:gd name="connsiteX17" fmla="*/ 404037 w 2690037"/>
              <a:gd name="connsiteY17" fmla="*/ 10632 h 3306725"/>
              <a:gd name="connsiteX18" fmla="*/ 265814 w 2690037"/>
              <a:gd name="connsiteY18" fmla="*/ 21265 h 3306725"/>
              <a:gd name="connsiteX19" fmla="*/ 106326 w 2690037"/>
              <a:gd name="connsiteY19" fmla="*/ 53162 h 3306725"/>
              <a:gd name="connsiteX20" fmla="*/ 42530 w 2690037"/>
              <a:gd name="connsiteY20" fmla="*/ 85060 h 3306725"/>
              <a:gd name="connsiteX21" fmla="*/ 0 w 2690037"/>
              <a:gd name="connsiteY21" fmla="*/ 191386 h 3306725"/>
              <a:gd name="connsiteX22" fmla="*/ 74428 w 2690037"/>
              <a:gd name="connsiteY22" fmla="*/ 329609 h 3306725"/>
              <a:gd name="connsiteX23" fmla="*/ 180754 w 2690037"/>
              <a:gd name="connsiteY23" fmla="*/ 340241 h 3306725"/>
              <a:gd name="connsiteX24" fmla="*/ 233916 w 2690037"/>
              <a:gd name="connsiteY24" fmla="*/ 372139 h 3306725"/>
              <a:gd name="connsiteX25" fmla="*/ 393405 w 2690037"/>
              <a:gd name="connsiteY25" fmla="*/ 425302 h 3306725"/>
              <a:gd name="connsiteX26" fmla="*/ 435935 w 2690037"/>
              <a:gd name="connsiteY26" fmla="*/ 446567 h 3306725"/>
              <a:gd name="connsiteX27" fmla="*/ 499730 w 2690037"/>
              <a:gd name="connsiteY27" fmla="*/ 489097 h 3306725"/>
              <a:gd name="connsiteX28" fmla="*/ 606056 w 2690037"/>
              <a:gd name="connsiteY28" fmla="*/ 520995 h 3306725"/>
              <a:gd name="connsiteX29" fmla="*/ 659219 w 2690037"/>
              <a:gd name="connsiteY29" fmla="*/ 542260 h 3306725"/>
              <a:gd name="connsiteX30" fmla="*/ 935665 w 2690037"/>
              <a:gd name="connsiteY30" fmla="*/ 563525 h 3306725"/>
              <a:gd name="connsiteX31" fmla="*/ 1020726 w 2690037"/>
              <a:gd name="connsiteY31" fmla="*/ 574158 h 3306725"/>
              <a:gd name="connsiteX32" fmla="*/ 1148316 w 2690037"/>
              <a:gd name="connsiteY32" fmla="*/ 808074 h 3306725"/>
              <a:gd name="connsiteX33" fmla="*/ 1169582 w 2690037"/>
              <a:gd name="connsiteY33" fmla="*/ 850604 h 3306725"/>
              <a:gd name="connsiteX34" fmla="*/ 1244010 w 2690037"/>
              <a:gd name="connsiteY34" fmla="*/ 861237 h 3306725"/>
              <a:gd name="connsiteX35" fmla="*/ 1297172 w 2690037"/>
              <a:gd name="connsiteY35" fmla="*/ 946297 h 3306725"/>
              <a:gd name="connsiteX36" fmla="*/ 1392865 w 2690037"/>
              <a:gd name="connsiteY36" fmla="*/ 1084521 h 3306725"/>
              <a:gd name="connsiteX37" fmla="*/ 1392865 w 2690037"/>
              <a:gd name="connsiteY37" fmla="*/ 1307804 h 3306725"/>
              <a:gd name="connsiteX38" fmla="*/ 1318437 w 2690037"/>
              <a:gd name="connsiteY38" fmla="*/ 1392865 h 3306725"/>
              <a:gd name="connsiteX39" fmla="*/ 1233377 w 2690037"/>
              <a:gd name="connsiteY39" fmla="*/ 1456660 h 3306725"/>
              <a:gd name="connsiteX40" fmla="*/ 1201479 w 2690037"/>
              <a:gd name="connsiteY40" fmla="*/ 1446028 h 3306725"/>
              <a:gd name="connsiteX41" fmla="*/ 1244010 w 2690037"/>
              <a:gd name="connsiteY41" fmla="*/ 1573618 h 3306725"/>
              <a:gd name="connsiteX42" fmla="*/ 1275907 w 2690037"/>
              <a:gd name="connsiteY42" fmla="*/ 1594883 h 3306725"/>
              <a:gd name="connsiteX43" fmla="*/ 1446028 w 2690037"/>
              <a:gd name="connsiteY43" fmla="*/ 1626781 h 3306725"/>
              <a:gd name="connsiteX44" fmla="*/ 1733107 w 2690037"/>
              <a:gd name="connsiteY44" fmla="*/ 1648046 h 3306725"/>
              <a:gd name="connsiteX45" fmla="*/ 1818168 w 2690037"/>
              <a:gd name="connsiteY45" fmla="*/ 1658679 h 3306725"/>
              <a:gd name="connsiteX46" fmla="*/ 1850065 w 2690037"/>
              <a:gd name="connsiteY46" fmla="*/ 1669311 h 3306725"/>
              <a:gd name="connsiteX47" fmla="*/ 1924493 w 2690037"/>
              <a:gd name="connsiteY47" fmla="*/ 1690576 h 3306725"/>
              <a:gd name="connsiteX48" fmla="*/ 1850065 w 2690037"/>
              <a:gd name="connsiteY48" fmla="*/ 1711841 h 3306725"/>
              <a:gd name="connsiteX49" fmla="*/ 1754372 w 2690037"/>
              <a:gd name="connsiteY49" fmla="*/ 1722474 h 3306725"/>
              <a:gd name="connsiteX50" fmla="*/ 1531089 w 2690037"/>
              <a:gd name="connsiteY50" fmla="*/ 1775637 h 3306725"/>
              <a:gd name="connsiteX51" fmla="*/ 1499191 w 2690037"/>
              <a:gd name="connsiteY51" fmla="*/ 1839432 h 3306725"/>
              <a:gd name="connsiteX52" fmla="*/ 1467293 w 2690037"/>
              <a:gd name="connsiteY52" fmla="*/ 2052083 h 3306725"/>
              <a:gd name="connsiteX53" fmla="*/ 1477926 w 2690037"/>
              <a:gd name="connsiteY53" fmla="*/ 2094614 h 3306725"/>
              <a:gd name="connsiteX54" fmla="*/ 1488558 w 2690037"/>
              <a:gd name="connsiteY54" fmla="*/ 2158409 h 3306725"/>
              <a:gd name="connsiteX55" fmla="*/ 1477926 w 2690037"/>
              <a:gd name="connsiteY55" fmla="*/ 2264735 h 3306725"/>
              <a:gd name="connsiteX56" fmla="*/ 1467293 w 2690037"/>
              <a:gd name="connsiteY56" fmla="*/ 2328530 h 3306725"/>
              <a:gd name="connsiteX57" fmla="*/ 1456661 w 2690037"/>
              <a:gd name="connsiteY57" fmla="*/ 2445488 h 3306725"/>
              <a:gd name="connsiteX58" fmla="*/ 1435396 w 2690037"/>
              <a:gd name="connsiteY58" fmla="*/ 2498651 h 3306725"/>
              <a:gd name="connsiteX59" fmla="*/ 1414130 w 2690037"/>
              <a:gd name="connsiteY59" fmla="*/ 2541181 h 3306725"/>
              <a:gd name="connsiteX60" fmla="*/ 1339703 w 2690037"/>
              <a:gd name="connsiteY60" fmla="*/ 2604976 h 3306725"/>
              <a:gd name="connsiteX61" fmla="*/ 1307805 w 2690037"/>
              <a:gd name="connsiteY61" fmla="*/ 2615609 h 3306725"/>
              <a:gd name="connsiteX62" fmla="*/ 1275907 w 2690037"/>
              <a:gd name="connsiteY62" fmla="*/ 2647507 h 3306725"/>
              <a:gd name="connsiteX63" fmla="*/ 1254642 w 2690037"/>
              <a:gd name="connsiteY63" fmla="*/ 2679404 h 3306725"/>
              <a:gd name="connsiteX64" fmla="*/ 1222744 w 2690037"/>
              <a:gd name="connsiteY64" fmla="*/ 2721935 h 3306725"/>
              <a:gd name="connsiteX65" fmla="*/ 1180214 w 2690037"/>
              <a:gd name="connsiteY65" fmla="*/ 2870790 h 3306725"/>
              <a:gd name="connsiteX66" fmla="*/ 1127051 w 2690037"/>
              <a:gd name="connsiteY66" fmla="*/ 3030279 h 3306725"/>
              <a:gd name="connsiteX67" fmla="*/ 1148316 w 2690037"/>
              <a:gd name="connsiteY67" fmla="*/ 3179135 h 3306725"/>
              <a:gd name="connsiteX68" fmla="*/ 1265275 w 2690037"/>
              <a:gd name="connsiteY68" fmla="*/ 3221665 h 3306725"/>
              <a:gd name="connsiteX69" fmla="*/ 1307805 w 2690037"/>
              <a:gd name="connsiteY69" fmla="*/ 3253562 h 3306725"/>
              <a:gd name="connsiteX70" fmla="*/ 1392865 w 2690037"/>
              <a:gd name="connsiteY70" fmla="*/ 3285460 h 3306725"/>
              <a:gd name="connsiteX71" fmla="*/ 1499191 w 2690037"/>
              <a:gd name="connsiteY71" fmla="*/ 3306725 h 3306725"/>
              <a:gd name="connsiteX72" fmla="*/ 1711842 w 2690037"/>
              <a:gd name="connsiteY72" fmla="*/ 3285460 h 3306725"/>
              <a:gd name="connsiteX73" fmla="*/ 1818168 w 2690037"/>
              <a:gd name="connsiteY73" fmla="*/ 3264195 h 3306725"/>
              <a:gd name="connsiteX74" fmla="*/ 2137144 w 2690037"/>
              <a:gd name="connsiteY74" fmla="*/ 3296093 h 3306725"/>
              <a:gd name="connsiteX75" fmla="*/ 2626242 w 2690037"/>
              <a:gd name="connsiteY75" fmla="*/ 3264195 h 3306725"/>
              <a:gd name="connsiteX76" fmla="*/ 2679405 w 2690037"/>
              <a:gd name="connsiteY76" fmla="*/ 3232297 h 3306725"/>
              <a:gd name="connsiteX77" fmla="*/ 2690037 w 2690037"/>
              <a:gd name="connsiteY77" fmla="*/ 3179135 h 3306725"/>
              <a:gd name="connsiteX78" fmla="*/ 2679405 w 2690037"/>
              <a:gd name="connsiteY78" fmla="*/ 3062176 h 3306725"/>
              <a:gd name="connsiteX79" fmla="*/ 2604977 w 2690037"/>
              <a:gd name="connsiteY79" fmla="*/ 2998381 h 3306725"/>
              <a:gd name="connsiteX80" fmla="*/ 2456121 w 2690037"/>
              <a:gd name="connsiteY80" fmla="*/ 2966483 h 3306725"/>
              <a:gd name="connsiteX81" fmla="*/ 2371061 w 2690037"/>
              <a:gd name="connsiteY81" fmla="*/ 2923953 h 3306725"/>
              <a:gd name="connsiteX82" fmla="*/ 2360428 w 2690037"/>
              <a:gd name="connsiteY82" fmla="*/ 2892055 h 3306725"/>
              <a:gd name="connsiteX83" fmla="*/ 2339163 w 2690037"/>
              <a:gd name="connsiteY83" fmla="*/ 2860158 h 3306725"/>
              <a:gd name="connsiteX84" fmla="*/ 2328530 w 2690037"/>
              <a:gd name="connsiteY84" fmla="*/ 2806995 h 3306725"/>
              <a:gd name="connsiteX85" fmla="*/ 2307265 w 2690037"/>
              <a:gd name="connsiteY85" fmla="*/ 2668772 h 3306725"/>
              <a:gd name="connsiteX86" fmla="*/ 2296633 w 2690037"/>
              <a:gd name="connsiteY86" fmla="*/ 2626241 h 3306725"/>
              <a:gd name="connsiteX87" fmla="*/ 2264735 w 2690037"/>
              <a:gd name="connsiteY87" fmla="*/ 2519916 h 3306725"/>
              <a:gd name="connsiteX88" fmla="*/ 2243470 w 2690037"/>
              <a:gd name="connsiteY88" fmla="*/ 2381693 h 3306725"/>
              <a:gd name="connsiteX89" fmla="*/ 2222205 w 2690037"/>
              <a:gd name="connsiteY89" fmla="*/ 2275367 h 3306725"/>
              <a:gd name="connsiteX90" fmla="*/ 2158410 w 2690037"/>
              <a:gd name="connsiteY90" fmla="*/ 2169041 h 3306725"/>
              <a:gd name="connsiteX91" fmla="*/ 2147777 w 2690037"/>
              <a:gd name="connsiteY91" fmla="*/ 2115879 h 3306725"/>
              <a:gd name="connsiteX92" fmla="*/ 2169042 w 2690037"/>
              <a:gd name="connsiteY92" fmla="*/ 2041451 h 3306725"/>
              <a:gd name="connsiteX93" fmla="*/ 2232837 w 2690037"/>
              <a:gd name="connsiteY93" fmla="*/ 1924493 h 3306725"/>
              <a:gd name="connsiteX94" fmla="*/ 2317898 w 2690037"/>
              <a:gd name="connsiteY94" fmla="*/ 1796902 h 3306725"/>
              <a:gd name="connsiteX95" fmla="*/ 2381693 w 2690037"/>
              <a:gd name="connsiteY95" fmla="*/ 1743739 h 3306725"/>
              <a:gd name="connsiteX96" fmla="*/ 2488019 w 2690037"/>
              <a:gd name="connsiteY96" fmla="*/ 1679944 h 3306725"/>
              <a:gd name="connsiteX97" fmla="*/ 2498651 w 2690037"/>
              <a:gd name="connsiteY97" fmla="*/ 1616148 h 3306725"/>
              <a:gd name="connsiteX98" fmla="*/ 2541182 w 2690037"/>
              <a:gd name="connsiteY98" fmla="*/ 1552353 h 3306725"/>
              <a:gd name="connsiteX99" fmla="*/ 2498651 w 2690037"/>
              <a:gd name="connsiteY99" fmla="*/ 1414130 h 3306725"/>
              <a:gd name="connsiteX100" fmla="*/ 2541182 w 2690037"/>
              <a:gd name="connsiteY100" fmla="*/ 1350335 h 3306725"/>
              <a:gd name="connsiteX101" fmla="*/ 2530549 w 2690037"/>
              <a:gd name="connsiteY101" fmla="*/ 1286539 h 3306725"/>
              <a:gd name="connsiteX102" fmla="*/ 2498651 w 2690037"/>
              <a:gd name="connsiteY102" fmla="*/ 1169581 h 3306725"/>
              <a:gd name="connsiteX103" fmla="*/ 2488019 w 2690037"/>
              <a:gd name="connsiteY103" fmla="*/ 1063255 h 3306725"/>
              <a:gd name="connsiteX104" fmla="*/ 2477386 w 2690037"/>
              <a:gd name="connsiteY104" fmla="*/ 1031358 h 3306725"/>
              <a:gd name="connsiteX105" fmla="*/ 2434856 w 2690037"/>
              <a:gd name="connsiteY105" fmla="*/ 861237 h 3306725"/>
              <a:gd name="connsiteX106" fmla="*/ 2381693 w 2690037"/>
              <a:gd name="connsiteY106" fmla="*/ 797441 h 3306725"/>
              <a:gd name="connsiteX107" fmla="*/ 2328530 w 2690037"/>
              <a:gd name="connsiteY107" fmla="*/ 723014 h 3306725"/>
              <a:gd name="connsiteX108" fmla="*/ 2275368 w 2690037"/>
              <a:gd name="connsiteY108" fmla="*/ 691116 h 3306725"/>
              <a:gd name="connsiteX109" fmla="*/ 2254103 w 2690037"/>
              <a:gd name="connsiteY109" fmla="*/ 648586 h 3306725"/>
              <a:gd name="connsiteX110" fmla="*/ 2232837 w 2690037"/>
              <a:gd name="connsiteY110" fmla="*/ 574158 h 3306725"/>
              <a:gd name="connsiteX111" fmla="*/ 2211572 w 2690037"/>
              <a:gd name="connsiteY111" fmla="*/ 489097 h 3306725"/>
              <a:gd name="connsiteX112" fmla="*/ 2190307 w 2690037"/>
              <a:gd name="connsiteY112" fmla="*/ 446567 h 3306725"/>
              <a:gd name="connsiteX113" fmla="*/ 2179675 w 2690037"/>
              <a:gd name="connsiteY113" fmla="*/ 404037 h 3306725"/>
              <a:gd name="connsiteX114" fmla="*/ 2200940 w 2690037"/>
              <a:gd name="connsiteY114" fmla="*/ 372139 h 3306725"/>
              <a:gd name="connsiteX115" fmla="*/ 2094614 w 2690037"/>
              <a:gd name="connsiteY115" fmla="*/ 276446 h 3306725"/>
              <a:gd name="connsiteX116" fmla="*/ 2062716 w 2690037"/>
              <a:gd name="connsiteY116" fmla="*/ 265814 h 3306725"/>
              <a:gd name="connsiteX117" fmla="*/ 1998921 w 2690037"/>
              <a:gd name="connsiteY117" fmla="*/ 233916 h 3306725"/>
              <a:gd name="connsiteX118" fmla="*/ 1988289 w 2690037"/>
              <a:gd name="connsiteY118" fmla="*/ 233916 h 330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2690037" h="3306725">
                <a:moveTo>
                  <a:pt x="1988289" y="233916"/>
                </a:moveTo>
                <a:lnTo>
                  <a:pt x="1988289" y="233916"/>
                </a:lnTo>
                <a:cubicBezTo>
                  <a:pt x="1980782" y="227347"/>
                  <a:pt x="1890617" y="144687"/>
                  <a:pt x="1860698" y="127590"/>
                </a:cubicBezTo>
                <a:cubicBezTo>
                  <a:pt x="1850967" y="122029"/>
                  <a:pt x="1839433" y="120502"/>
                  <a:pt x="1828800" y="116958"/>
                </a:cubicBezTo>
                <a:cubicBezTo>
                  <a:pt x="1818168" y="109870"/>
                  <a:pt x="1808648" y="100727"/>
                  <a:pt x="1796903" y="95693"/>
                </a:cubicBezTo>
                <a:cubicBezTo>
                  <a:pt x="1783471" y="89936"/>
                  <a:pt x="1768423" y="89075"/>
                  <a:pt x="1754372" y="85060"/>
                </a:cubicBezTo>
                <a:cubicBezTo>
                  <a:pt x="1743596" y="81981"/>
                  <a:pt x="1733107" y="77972"/>
                  <a:pt x="1722475" y="74428"/>
                </a:cubicBezTo>
                <a:cubicBezTo>
                  <a:pt x="1697666" y="77972"/>
                  <a:pt x="1669299" y="71778"/>
                  <a:pt x="1648047" y="85060"/>
                </a:cubicBezTo>
                <a:cubicBezTo>
                  <a:pt x="1635655" y="92805"/>
                  <a:pt x="1647037" y="116593"/>
                  <a:pt x="1637414" y="127590"/>
                </a:cubicBezTo>
                <a:cubicBezTo>
                  <a:pt x="1607303" y="162002"/>
                  <a:pt x="1579004" y="168326"/>
                  <a:pt x="1541721" y="180753"/>
                </a:cubicBezTo>
                <a:cubicBezTo>
                  <a:pt x="1531088" y="170120"/>
                  <a:pt x="1522879" y="156315"/>
                  <a:pt x="1509823" y="148855"/>
                </a:cubicBezTo>
                <a:cubicBezTo>
                  <a:pt x="1490132" y="137603"/>
                  <a:pt x="1382928" y="127697"/>
                  <a:pt x="1382233" y="127590"/>
                </a:cubicBezTo>
                <a:cubicBezTo>
                  <a:pt x="1364371" y="124842"/>
                  <a:pt x="1347084" y="118399"/>
                  <a:pt x="1329070" y="116958"/>
                </a:cubicBezTo>
                <a:cubicBezTo>
                  <a:pt x="1258324" y="111298"/>
                  <a:pt x="1187303" y="109869"/>
                  <a:pt x="1116419" y="106325"/>
                </a:cubicBezTo>
                <a:cubicBezTo>
                  <a:pt x="1102242" y="102781"/>
                  <a:pt x="1088286" y="98197"/>
                  <a:pt x="1073889" y="95693"/>
                </a:cubicBezTo>
                <a:cubicBezTo>
                  <a:pt x="1006723" y="84012"/>
                  <a:pt x="938611" y="77699"/>
                  <a:pt x="871870" y="63795"/>
                </a:cubicBezTo>
                <a:cubicBezTo>
                  <a:pt x="567990" y="486"/>
                  <a:pt x="703355" y="16822"/>
                  <a:pt x="467833" y="0"/>
                </a:cubicBezTo>
                <a:cubicBezTo>
                  <a:pt x="446568" y="3544"/>
                  <a:pt x="425477" y="8375"/>
                  <a:pt x="404037" y="10632"/>
                </a:cubicBezTo>
                <a:cubicBezTo>
                  <a:pt x="358080" y="15469"/>
                  <a:pt x="311560" y="14730"/>
                  <a:pt x="265814" y="21265"/>
                </a:cubicBezTo>
                <a:cubicBezTo>
                  <a:pt x="212143" y="28932"/>
                  <a:pt x="159489" y="42530"/>
                  <a:pt x="106326" y="53162"/>
                </a:cubicBezTo>
                <a:cubicBezTo>
                  <a:pt x="85061" y="63795"/>
                  <a:pt x="60423" y="69404"/>
                  <a:pt x="42530" y="85060"/>
                </a:cubicBezTo>
                <a:cubicBezTo>
                  <a:pt x="27805" y="97944"/>
                  <a:pt x="2851" y="182834"/>
                  <a:pt x="0" y="191386"/>
                </a:cubicBezTo>
                <a:cubicBezTo>
                  <a:pt x="24809" y="237460"/>
                  <a:pt x="34033" y="296343"/>
                  <a:pt x="74428" y="329609"/>
                </a:cubicBezTo>
                <a:cubicBezTo>
                  <a:pt x="101923" y="352252"/>
                  <a:pt x="146338" y="331063"/>
                  <a:pt x="180754" y="340241"/>
                </a:cubicBezTo>
                <a:cubicBezTo>
                  <a:pt x="200722" y="345566"/>
                  <a:pt x="214728" y="364464"/>
                  <a:pt x="233916" y="372139"/>
                </a:cubicBezTo>
                <a:cubicBezTo>
                  <a:pt x="285947" y="392951"/>
                  <a:pt x="343282" y="400241"/>
                  <a:pt x="393405" y="425302"/>
                </a:cubicBezTo>
                <a:cubicBezTo>
                  <a:pt x="407582" y="432390"/>
                  <a:pt x="422344" y="438412"/>
                  <a:pt x="435935" y="446567"/>
                </a:cubicBezTo>
                <a:cubicBezTo>
                  <a:pt x="457850" y="459716"/>
                  <a:pt x="476315" y="478853"/>
                  <a:pt x="499730" y="489097"/>
                </a:cubicBezTo>
                <a:cubicBezTo>
                  <a:pt x="533630" y="503928"/>
                  <a:pt x="570952" y="509294"/>
                  <a:pt x="606056" y="520995"/>
                </a:cubicBezTo>
                <a:cubicBezTo>
                  <a:pt x="624163" y="527031"/>
                  <a:pt x="640290" y="539818"/>
                  <a:pt x="659219" y="542260"/>
                </a:cubicBezTo>
                <a:cubicBezTo>
                  <a:pt x="750880" y="554087"/>
                  <a:pt x="843602" y="555402"/>
                  <a:pt x="935665" y="563525"/>
                </a:cubicBezTo>
                <a:cubicBezTo>
                  <a:pt x="964129" y="566037"/>
                  <a:pt x="992372" y="570614"/>
                  <a:pt x="1020726" y="574158"/>
                </a:cubicBezTo>
                <a:cubicBezTo>
                  <a:pt x="1083449" y="668241"/>
                  <a:pt x="1040526" y="601476"/>
                  <a:pt x="1148316" y="808074"/>
                </a:cubicBezTo>
                <a:cubicBezTo>
                  <a:pt x="1155648" y="822126"/>
                  <a:pt x="1153891" y="848362"/>
                  <a:pt x="1169582" y="850604"/>
                </a:cubicBezTo>
                <a:lnTo>
                  <a:pt x="1244010" y="861237"/>
                </a:lnTo>
                <a:cubicBezTo>
                  <a:pt x="1256023" y="881259"/>
                  <a:pt x="1280804" y="924473"/>
                  <a:pt x="1297172" y="946297"/>
                </a:cubicBezTo>
                <a:cubicBezTo>
                  <a:pt x="1387341" y="1066522"/>
                  <a:pt x="1351171" y="1001131"/>
                  <a:pt x="1392865" y="1084521"/>
                </a:cubicBezTo>
                <a:cubicBezTo>
                  <a:pt x="1403315" y="1157665"/>
                  <a:pt x="1419613" y="1234248"/>
                  <a:pt x="1392865" y="1307804"/>
                </a:cubicBezTo>
                <a:cubicBezTo>
                  <a:pt x="1379990" y="1343211"/>
                  <a:pt x="1345077" y="1366224"/>
                  <a:pt x="1318437" y="1392865"/>
                </a:cubicBezTo>
                <a:cubicBezTo>
                  <a:pt x="1293179" y="1418123"/>
                  <a:pt x="1262826" y="1437028"/>
                  <a:pt x="1233377" y="1456660"/>
                </a:cubicBezTo>
                <a:cubicBezTo>
                  <a:pt x="1222744" y="1453116"/>
                  <a:pt x="1202869" y="1434907"/>
                  <a:pt x="1201479" y="1446028"/>
                </a:cubicBezTo>
                <a:cubicBezTo>
                  <a:pt x="1197726" y="1476050"/>
                  <a:pt x="1215486" y="1545094"/>
                  <a:pt x="1244010" y="1573618"/>
                </a:cubicBezTo>
                <a:cubicBezTo>
                  <a:pt x="1253046" y="1582654"/>
                  <a:pt x="1264478" y="1589168"/>
                  <a:pt x="1275907" y="1594883"/>
                </a:cubicBezTo>
                <a:cubicBezTo>
                  <a:pt x="1343536" y="1628697"/>
                  <a:pt x="1354942" y="1618500"/>
                  <a:pt x="1446028" y="1626781"/>
                </a:cubicBezTo>
                <a:cubicBezTo>
                  <a:pt x="1585009" y="1654578"/>
                  <a:pt x="1441050" y="1628576"/>
                  <a:pt x="1733107" y="1648046"/>
                </a:cubicBezTo>
                <a:cubicBezTo>
                  <a:pt x="1761618" y="1649947"/>
                  <a:pt x="1789814" y="1655135"/>
                  <a:pt x="1818168" y="1658679"/>
                </a:cubicBezTo>
                <a:cubicBezTo>
                  <a:pt x="1828800" y="1662223"/>
                  <a:pt x="1839330" y="1666091"/>
                  <a:pt x="1850065" y="1669311"/>
                </a:cubicBezTo>
                <a:cubicBezTo>
                  <a:pt x="1874779" y="1676725"/>
                  <a:pt x="1924493" y="1664774"/>
                  <a:pt x="1924493" y="1690576"/>
                </a:cubicBezTo>
                <a:cubicBezTo>
                  <a:pt x="1924493" y="1716378"/>
                  <a:pt x="1875425" y="1707086"/>
                  <a:pt x="1850065" y="1711841"/>
                </a:cubicBezTo>
                <a:cubicBezTo>
                  <a:pt x="1818521" y="1717756"/>
                  <a:pt x="1786270" y="1718930"/>
                  <a:pt x="1754372" y="1722474"/>
                </a:cubicBezTo>
                <a:cubicBezTo>
                  <a:pt x="1616570" y="1825827"/>
                  <a:pt x="1889450" y="1632293"/>
                  <a:pt x="1531089" y="1775637"/>
                </a:cubicBezTo>
                <a:cubicBezTo>
                  <a:pt x="1509014" y="1784467"/>
                  <a:pt x="1509824" y="1818167"/>
                  <a:pt x="1499191" y="1839432"/>
                </a:cubicBezTo>
                <a:cubicBezTo>
                  <a:pt x="1480779" y="1922288"/>
                  <a:pt x="1467293" y="1963745"/>
                  <a:pt x="1467293" y="2052083"/>
                </a:cubicBezTo>
                <a:cubicBezTo>
                  <a:pt x="1467293" y="2066696"/>
                  <a:pt x="1475060" y="2080284"/>
                  <a:pt x="1477926" y="2094614"/>
                </a:cubicBezTo>
                <a:cubicBezTo>
                  <a:pt x="1482154" y="2115754"/>
                  <a:pt x="1485014" y="2137144"/>
                  <a:pt x="1488558" y="2158409"/>
                </a:cubicBezTo>
                <a:cubicBezTo>
                  <a:pt x="1485014" y="2193851"/>
                  <a:pt x="1482344" y="2229391"/>
                  <a:pt x="1477926" y="2264735"/>
                </a:cubicBezTo>
                <a:cubicBezTo>
                  <a:pt x="1475252" y="2286127"/>
                  <a:pt x="1469812" y="2307119"/>
                  <a:pt x="1467293" y="2328530"/>
                </a:cubicBezTo>
                <a:cubicBezTo>
                  <a:pt x="1462719" y="2367409"/>
                  <a:pt x="1463875" y="2407012"/>
                  <a:pt x="1456661" y="2445488"/>
                </a:cubicBezTo>
                <a:cubicBezTo>
                  <a:pt x="1453144" y="2464247"/>
                  <a:pt x="1443148" y="2481210"/>
                  <a:pt x="1435396" y="2498651"/>
                </a:cubicBezTo>
                <a:cubicBezTo>
                  <a:pt x="1428959" y="2513135"/>
                  <a:pt x="1423640" y="2528501"/>
                  <a:pt x="1414130" y="2541181"/>
                </a:cubicBezTo>
                <a:cubicBezTo>
                  <a:pt x="1398434" y="2562108"/>
                  <a:pt x="1365419" y="2592118"/>
                  <a:pt x="1339703" y="2604976"/>
                </a:cubicBezTo>
                <a:cubicBezTo>
                  <a:pt x="1329678" y="2609988"/>
                  <a:pt x="1318438" y="2612065"/>
                  <a:pt x="1307805" y="2615609"/>
                </a:cubicBezTo>
                <a:cubicBezTo>
                  <a:pt x="1297172" y="2626242"/>
                  <a:pt x="1285533" y="2635955"/>
                  <a:pt x="1275907" y="2647507"/>
                </a:cubicBezTo>
                <a:cubicBezTo>
                  <a:pt x="1267726" y="2657324"/>
                  <a:pt x="1262069" y="2669006"/>
                  <a:pt x="1254642" y="2679404"/>
                </a:cubicBezTo>
                <a:cubicBezTo>
                  <a:pt x="1244342" y="2693824"/>
                  <a:pt x="1233377" y="2707758"/>
                  <a:pt x="1222744" y="2721935"/>
                </a:cubicBezTo>
                <a:cubicBezTo>
                  <a:pt x="1208567" y="2771553"/>
                  <a:pt x="1198333" y="2822472"/>
                  <a:pt x="1180214" y="2870790"/>
                </a:cubicBezTo>
                <a:cubicBezTo>
                  <a:pt x="1139256" y="2980010"/>
                  <a:pt x="1156635" y="2926734"/>
                  <a:pt x="1127051" y="3030279"/>
                </a:cubicBezTo>
                <a:cubicBezTo>
                  <a:pt x="1134139" y="3079898"/>
                  <a:pt x="1118970" y="3138502"/>
                  <a:pt x="1148316" y="3179135"/>
                </a:cubicBezTo>
                <a:cubicBezTo>
                  <a:pt x="1172605" y="3212765"/>
                  <a:pt x="1227683" y="3204122"/>
                  <a:pt x="1265275" y="3221665"/>
                </a:cubicBezTo>
                <a:cubicBezTo>
                  <a:pt x="1281333" y="3229159"/>
                  <a:pt x="1292314" y="3244956"/>
                  <a:pt x="1307805" y="3253562"/>
                </a:cubicBezTo>
                <a:cubicBezTo>
                  <a:pt x="1314041" y="3257027"/>
                  <a:pt x="1376527" y="3281690"/>
                  <a:pt x="1392865" y="3285460"/>
                </a:cubicBezTo>
                <a:cubicBezTo>
                  <a:pt x="1428083" y="3293587"/>
                  <a:pt x="1499191" y="3306725"/>
                  <a:pt x="1499191" y="3306725"/>
                </a:cubicBezTo>
                <a:cubicBezTo>
                  <a:pt x="1570075" y="3299637"/>
                  <a:pt x="1641230" y="3294875"/>
                  <a:pt x="1711842" y="3285460"/>
                </a:cubicBezTo>
                <a:cubicBezTo>
                  <a:pt x="1747669" y="3280683"/>
                  <a:pt x="1782024" y="3264195"/>
                  <a:pt x="1818168" y="3264195"/>
                </a:cubicBezTo>
                <a:cubicBezTo>
                  <a:pt x="1923637" y="3264195"/>
                  <a:pt x="2031959" y="3281066"/>
                  <a:pt x="2137144" y="3296093"/>
                </a:cubicBezTo>
                <a:cubicBezTo>
                  <a:pt x="2230776" y="3293752"/>
                  <a:pt x="2483879" y="3328906"/>
                  <a:pt x="2626242" y="3264195"/>
                </a:cubicBezTo>
                <a:cubicBezTo>
                  <a:pt x="2645056" y="3255643"/>
                  <a:pt x="2661684" y="3242930"/>
                  <a:pt x="2679405" y="3232297"/>
                </a:cubicBezTo>
                <a:cubicBezTo>
                  <a:pt x="2682949" y="3214576"/>
                  <a:pt x="2690037" y="3197207"/>
                  <a:pt x="2690037" y="3179135"/>
                </a:cubicBezTo>
                <a:cubicBezTo>
                  <a:pt x="2690037" y="3139988"/>
                  <a:pt x="2688900" y="3100154"/>
                  <a:pt x="2679405" y="3062176"/>
                </a:cubicBezTo>
                <a:cubicBezTo>
                  <a:pt x="2662309" y="2993792"/>
                  <a:pt x="2651773" y="3015930"/>
                  <a:pt x="2604977" y="2998381"/>
                </a:cubicBezTo>
                <a:cubicBezTo>
                  <a:pt x="2496778" y="2957806"/>
                  <a:pt x="2654200" y="2986292"/>
                  <a:pt x="2456121" y="2966483"/>
                </a:cubicBezTo>
                <a:cubicBezTo>
                  <a:pt x="2417577" y="2956848"/>
                  <a:pt x="2399599" y="2958199"/>
                  <a:pt x="2371061" y="2923953"/>
                </a:cubicBezTo>
                <a:cubicBezTo>
                  <a:pt x="2363886" y="2915343"/>
                  <a:pt x="2365440" y="2902080"/>
                  <a:pt x="2360428" y="2892055"/>
                </a:cubicBezTo>
                <a:cubicBezTo>
                  <a:pt x="2354713" y="2880626"/>
                  <a:pt x="2346251" y="2870790"/>
                  <a:pt x="2339163" y="2860158"/>
                </a:cubicBezTo>
                <a:cubicBezTo>
                  <a:pt x="2335619" y="2842437"/>
                  <a:pt x="2331501" y="2824821"/>
                  <a:pt x="2328530" y="2806995"/>
                </a:cubicBezTo>
                <a:cubicBezTo>
                  <a:pt x="2318309" y="2745668"/>
                  <a:pt x="2319042" y="2727659"/>
                  <a:pt x="2307265" y="2668772"/>
                </a:cubicBezTo>
                <a:cubicBezTo>
                  <a:pt x="2304399" y="2654443"/>
                  <a:pt x="2300478" y="2640339"/>
                  <a:pt x="2296633" y="2626241"/>
                </a:cubicBezTo>
                <a:cubicBezTo>
                  <a:pt x="2278377" y="2559301"/>
                  <a:pt x="2280883" y="2568358"/>
                  <a:pt x="2264735" y="2519916"/>
                </a:cubicBezTo>
                <a:cubicBezTo>
                  <a:pt x="2246266" y="2353684"/>
                  <a:pt x="2264721" y="2480863"/>
                  <a:pt x="2243470" y="2381693"/>
                </a:cubicBezTo>
                <a:cubicBezTo>
                  <a:pt x="2235897" y="2346351"/>
                  <a:pt x="2232986" y="2309866"/>
                  <a:pt x="2222205" y="2275367"/>
                </a:cubicBezTo>
                <a:cubicBezTo>
                  <a:pt x="2207984" y="2229859"/>
                  <a:pt x="2185489" y="2205148"/>
                  <a:pt x="2158410" y="2169041"/>
                </a:cubicBezTo>
                <a:cubicBezTo>
                  <a:pt x="2154866" y="2151320"/>
                  <a:pt x="2146276" y="2133888"/>
                  <a:pt x="2147777" y="2115879"/>
                </a:cubicBezTo>
                <a:cubicBezTo>
                  <a:pt x="2149920" y="2090166"/>
                  <a:pt x="2159459" y="2065408"/>
                  <a:pt x="2169042" y="2041451"/>
                </a:cubicBezTo>
                <a:cubicBezTo>
                  <a:pt x="2217248" y="1920935"/>
                  <a:pt x="2194003" y="1992451"/>
                  <a:pt x="2232837" y="1924493"/>
                </a:cubicBezTo>
                <a:cubicBezTo>
                  <a:pt x="2271577" y="1856699"/>
                  <a:pt x="2240962" y="1880250"/>
                  <a:pt x="2317898" y="1796902"/>
                </a:cubicBezTo>
                <a:cubicBezTo>
                  <a:pt x="2336673" y="1776562"/>
                  <a:pt x="2358883" y="1759421"/>
                  <a:pt x="2381693" y="1743739"/>
                </a:cubicBezTo>
                <a:cubicBezTo>
                  <a:pt x="2415752" y="1720323"/>
                  <a:pt x="2452577" y="1701209"/>
                  <a:pt x="2488019" y="1679944"/>
                </a:cubicBezTo>
                <a:cubicBezTo>
                  <a:pt x="2491563" y="1658679"/>
                  <a:pt x="2490359" y="1636048"/>
                  <a:pt x="2498651" y="1616148"/>
                </a:cubicBezTo>
                <a:cubicBezTo>
                  <a:pt x="2508481" y="1592556"/>
                  <a:pt x="2535827" y="1577343"/>
                  <a:pt x="2541182" y="1552353"/>
                </a:cubicBezTo>
                <a:cubicBezTo>
                  <a:pt x="2554378" y="1490773"/>
                  <a:pt x="2526162" y="1459982"/>
                  <a:pt x="2498651" y="1414130"/>
                </a:cubicBezTo>
                <a:cubicBezTo>
                  <a:pt x="2469766" y="1298585"/>
                  <a:pt x="2492246" y="1448209"/>
                  <a:pt x="2541182" y="1350335"/>
                </a:cubicBezTo>
                <a:cubicBezTo>
                  <a:pt x="2550823" y="1331052"/>
                  <a:pt x="2535487" y="1307525"/>
                  <a:pt x="2530549" y="1286539"/>
                </a:cubicBezTo>
                <a:cubicBezTo>
                  <a:pt x="2521293" y="1247203"/>
                  <a:pt x="2509284" y="1208567"/>
                  <a:pt x="2498651" y="1169581"/>
                </a:cubicBezTo>
                <a:cubicBezTo>
                  <a:pt x="2495107" y="1134139"/>
                  <a:pt x="2493435" y="1098460"/>
                  <a:pt x="2488019" y="1063255"/>
                </a:cubicBezTo>
                <a:cubicBezTo>
                  <a:pt x="2486315" y="1052178"/>
                  <a:pt x="2479817" y="1042299"/>
                  <a:pt x="2477386" y="1031358"/>
                </a:cubicBezTo>
                <a:cubicBezTo>
                  <a:pt x="2459340" y="950151"/>
                  <a:pt x="2475234" y="955450"/>
                  <a:pt x="2434856" y="861237"/>
                </a:cubicBezTo>
                <a:cubicBezTo>
                  <a:pt x="2418156" y="822270"/>
                  <a:pt x="2403489" y="824686"/>
                  <a:pt x="2381693" y="797441"/>
                </a:cubicBezTo>
                <a:cubicBezTo>
                  <a:pt x="2364739" y="776249"/>
                  <a:pt x="2348485" y="740474"/>
                  <a:pt x="2328530" y="723014"/>
                </a:cubicBezTo>
                <a:cubicBezTo>
                  <a:pt x="2312977" y="709405"/>
                  <a:pt x="2293089" y="701749"/>
                  <a:pt x="2275368" y="691116"/>
                </a:cubicBezTo>
                <a:cubicBezTo>
                  <a:pt x="2268280" y="676939"/>
                  <a:pt x="2259520" y="663482"/>
                  <a:pt x="2254103" y="648586"/>
                </a:cubicBezTo>
                <a:cubicBezTo>
                  <a:pt x="2245285" y="624337"/>
                  <a:pt x="2239485" y="599089"/>
                  <a:pt x="2232837" y="574158"/>
                </a:cubicBezTo>
                <a:cubicBezTo>
                  <a:pt x="2225306" y="545919"/>
                  <a:pt x="2224642" y="515238"/>
                  <a:pt x="2211572" y="489097"/>
                </a:cubicBezTo>
                <a:lnTo>
                  <a:pt x="2190307" y="446567"/>
                </a:lnTo>
                <a:cubicBezTo>
                  <a:pt x="2186763" y="432390"/>
                  <a:pt x="2177608" y="418503"/>
                  <a:pt x="2179675" y="404037"/>
                </a:cubicBezTo>
                <a:cubicBezTo>
                  <a:pt x="2181482" y="391387"/>
                  <a:pt x="2206130" y="383816"/>
                  <a:pt x="2200940" y="372139"/>
                </a:cubicBezTo>
                <a:cubicBezTo>
                  <a:pt x="2193476" y="355344"/>
                  <a:pt x="2120625" y="291309"/>
                  <a:pt x="2094614" y="276446"/>
                </a:cubicBezTo>
                <a:cubicBezTo>
                  <a:pt x="2084883" y="270885"/>
                  <a:pt x="2073349" y="269358"/>
                  <a:pt x="2062716" y="265814"/>
                </a:cubicBezTo>
                <a:cubicBezTo>
                  <a:pt x="2004235" y="207330"/>
                  <a:pt x="2090364" y="286169"/>
                  <a:pt x="1998921" y="233916"/>
                </a:cubicBezTo>
                <a:cubicBezTo>
                  <a:pt x="1985865" y="226456"/>
                  <a:pt x="1990061" y="233916"/>
                  <a:pt x="1988289" y="233916"/>
                </a:cubicBezTo>
                <a:close/>
              </a:path>
            </a:pathLst>
          </a:custGeom>
          <a:solidFill>
            <a:srgbClr val="EBD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631F0DA3-CB35-4FC5-9C47-38F5325069CB}"/>
              </a:ext>
            </a:extLst>
          </p:cNvPr>
          <p:cNvSpPr/>
          <p:nvPr/>
        </p:nvSpPr>
        <p:spPr>
          <a:xfrm>
            <a:off x="3636335" y="3785191"/>
            <a:ext cx="2690037" cy="1658679"/>
          </a:xfrm>
          <a:custGeom>
            <a:avLst/>
            <a:gdLst>
              <a:gd name="connsiteX0" fmla="*/ 202018 w 2690037"/>
              <a:gd name="connsiteY0" fmla="*/ 308344 h 1658679"/>
              <a:gd name="connsiteX1" fmla="*/ 202018 w 2690037"/>
              <a:gd name="connsiteY1" fmla="*/ 308344 h 1658679"/>
              <a:gd name="connsiteX2" fmla="*/ 223284 w 2690037"/>
              <a:gd name="connsiteY2" fmla="*/ 510362 h 1658679"/>
              <a:gd name="connsiteX3" fmla="*/ 212651 w 2690037"/>
              <a:gd name="connsiteY3" fmla="*/ 648586 h 1658679"/>
              <a:gd name="connsiteX4" fmla="*/ 191386 w 2690037"/>
              <a:gd name="connsiteY4" fmla="*/ 786809 h 1658679"/>
              <a:gd name="connsiteX5" fmla="*/ 202018 w 2690037"/>
              <a:gd name="connsiteY5" fmla="*/ 946297 h 1658679"/>
              <a:gd name="connsiteX6" fmla="*/ 180753 w 2690037"/>
              <a:gd name="connsiteY6" fmla="*/ 988828 h 1658679"/>
              <a:gd name="connsiteX7" fmla="*/ 74428 w 2690037"/>
              <a:gd name="connsiteY7" fmla="*/ 1041990 h 1658679"/>
              <a:gd name="connsiteX8" fmla="*/ 10632 w 2690037"/>
              <a:gd name="connsiteY8" fmla="*/ 1127051 h 1658679"/>
              <a:gd name="connsiteX9" fmla="*/ 0 w 2690037"/>
              <a:gd name="connsiteY9" fmla="*/ 1180214 h 1658679"/>
              <a:gd name="connsiteX10" fmla="*/ 21265 w 2690037"/>
              <a:gd name="connsiteY10" fmla="*/ 1392865 h 1658679"/>
              <a:gd name="connsiteX11" fmla="*/ 31898 w 2690037"/>
              <a:gd name="connsiteY11" fmla="*/ 1456660 h 1658679"/>
              <a:gd name="connsiteX12" fmla="*/ 148856 w 2690037"/>
              <a:gd name="connsiteY12" fmla="*/ 1573618 h 1658679"/>
              <a:gd name="connsiteX13" fmla="*/ 212651 w 2690037"/>
              <a:gd name="connsiteY13" fmla="*/ 1616149 h 1658679"/>
              <a:gd name="connsiteX14" fmla="*/ 297712 w 2690037"/>
              <a:gd name="connsiteY14" fmla="*/ 1637414 h 1658679"/>
              <a:gd name="connsiteX15" fmla="*/ 520995 w 2690037"/>
              <a:gd name="connsiteY15" fmla="*/ 1658679 h 1658679"/>
              <a:gd name="connsiteX16" fmla="*/ 967563 w 2690037"/>
              <a:gd name="connsiteY16" fmla="*/ 1648046 h 1658679"/>
              <a:gd name="connsiteX17" fmla="*/ 1052623 w 2690037"/>
              <a:gd name="connsiteY17" fmla="*/ 1616149 h 1658679"/>
              <a:gd name="connsiteX18" fmla="*/ 1116418 w 2690037"/>
              <a:gd name="connsiteY18" fmla="*/ 1562986 h 1658679"/>
              <a:gd name="connsiteX19" fmla="*/ 1158949 w 2690037"/>
              <a:gd name="connsiteY19" fmla="*/ 1552353 h 1658679"/>
              <a:gd name="connsiteX20" fmla="*/ 1233377 w 2690037"/>
              <a:gd name="connsiteY20" fmla="*/ 1520456 h 1658679"/>
              <a:gd name="connsiteX21" fmla="*/ 1382232 w 2690037"/>
              <a:gd name="connsiteY21" fmla="*/ 1435395 h 1658679"/>
              <a:gd name="connsiteX22" fmla="*/ 1435395 w 2690037"/>
              <a:gd name="connsiteY22" fmla="*/ 1403497 h 1658679"/>
              <a:gd name="connsiteX23" fmla="*/ 1477925 w 2690037"/>
              <a:gd name="connsiteY23" fmla="*/ 1371600 h 1658679"/>
              <a:gd name="connsiteX24" fmla="*/ 1488558 w 2690037"/>
              <a:gd name="connsiteY24" fmla="*/ 1339702 h 1658679"/>
              <a:gd name="connsiteX25" fmla="*/ 1509823 w 2690037"/>
              <a:gd name="connsiteY25" fmla="*/ 1233376 h 1658679"/>
              <a:gd name="connsiteX26" fmla="*/ 1499191 w 2690037"/>
              <a:gd name="connsiteY26" fmla="*/ 1148316 h 1658679"/>
              <a:gd name="connsiteX27" fmla="*/ 1414130 w 2690037"/>
              <a:gd name="connsiteY27" fmla="*/ 1052623 h 1658679"/>
              <a:gd name="connsiteX28" fmla="*/ 1446028 w 2690037"/>
              <a:gd name="connsiteY28" fmla="*/ 999460 h 1658679"/>
              <a:gd name="connsiteX29" fmla="*/ 1594884 w 2690037"/>
              <a:gd name="connsiteY29" fmla="*/ 988828 h 1658679"/>
              <a:gd name="connsiteX30" fmla="*/ 1648046 w 2690037"/>
              <a:gd name="connsiteY30" fmla="*/ 999460 h 1658679"/>
              <a:gd name="connsiteX31" fmla="*/ 1733107 w 2690037"/>
              <a:gd name="connsiteY31" fmla="*/ 1031358 h 1658679"/>
              <a:gd name="connsiteX32" fmla="*/ 2158409 w 2690037"/>
              <a:gd name="connsiteY32" fmla="*/ 1020725 h 1658679"/>
              <a:gd name="connsiteX33" fmla="*/ 2211572 w 2690037"/>
              <a:gd name="connsiteY33" fmla="*/ 1010093 h 1658679"/>
              <a:gd name="connsiteX34" fmla="*/ 2286000 w 2690037"/>
              <a:gd name="connsiteY34" fmla="*/ 999460 h 1658679"/>
              <a:gd name="connsiteX35" fmla="*/ 2317898 w 2690037"/>
              <a:gd name="connsiteY35" fmla="*/ 988828 h 1658679"/>
              <a:gd name="connsiteX36" fmla="*/ 2413591 w 2690037"/>
              <a:gd name="connsiteY36" fmla="*/ 903767 h 1658679"/>
              <a:gd name="connsiteX37" fmla="*/ 2434856 w 2690037"/>
              <a:gd name="connsiteY37" fmla="*/ 861237 h 1658679"/>
              <a:gd name="connsiteX38" fmla="*/ 2456121 w 2690037"/>
              <a:gd name="connsiteY38" fmla="*/ 776176 h 1658679"/>
              <a:gd name="connsiteX39" fmla="*/ 2477386 w 2690037"/>
              <a:gd name="connsiteY39" fmla="*/ 744279 h 1658679"/>
              <a:gd name="connsiteX40" fmla="*/ 2498651 w 2690037"/>
              <a:gd name="connsiteY40" fmla="*/ 680483 h 1658679"/>
              <a:gd name="connsiteX41" fmla="*/ 2615609 w 2690037"/>
              <a:gd name="connsiteY41" fmla="*/ 616688 h 1658679"/>
              <a:gd name="connsiteX42" fmla="*/ 2626242 w 2690037"/>
              <a:gd name="connsiteY42" fmla="*/ 552893 h 1658679"/>
              <a:gd name="connsiteX43" fmla="*/ 2647507 w 2690037"/>
              <a:gd name="connsiteY43" fmla="*/ 510362 h 1658679"/>
              <a:gd name="connsiteX44" fmla="*/ 2690037 w 2690037"/>
              <a:gd name="connsiteY44" fmla="*/ 425302 h 1658679"/>
              <a:gd name="connsiteX45" fmla="*/ 2668772 w 2690037"/>
              <a:gd name="connsiteY45" fmla="*/ 361507 h 1658679"/>
              <a:gd name="connsiteX46" fmla="*/ 2636874 w 2690037"/>
              <a:gd name="connsiteY46" fmla="*/ 340242 h 1658679"/>
              <a:gd name="connsiteX47" fmla="*/ 2626242 w 2690037"/>
              <a:gd name="connsiteY47" fmla="*/ 308344 h 1658679"/>
              <a:gd name="connsiteX48" fmla="*/ 2604977 w 2690037"/>
              <a:gd name="connsiteY48" fmla="*/ 265814 h 1658679"/>
              <a:gd name="connsiteX49" fmla="*/ 2594344 w 2690037"/>
              <a:gd name="connsiteY49" fmla="*/ 233916 h 1658679"/>
              <a:gd name="connsiteX50" fmla="*/ 2562446 w 2690037"/>
              <a:gd name="connsiteY50" fmla="*/ 212651 h 1658679"/>
              <a:gd name="connsiteX51" fmla="*/ 2509284 w 2690037"/>
              <a:gd name="connsiteY51" fmla="*/ 148856 h 1658679"/>
              <a:gd name="connsiteX52" fmla="*/ 2498651 w 2690037"/>
              <a:gd name="connsiteY52" fmla="*/ 116958 h 1658679"/>
              <a:gd name="connsiteX53" fmla="*/ 2456121 w 2690037"/>
              <a:gd name="connsiteY53" fmla="*/ 85060 h 1658679"/>
              <a:gd name="connsiteX54" fmla="*/ 2392325 w 2690037"/>
              <a:gd name="connsiteY54" fmla="*/ 42530 h 1658679"/>
              <a:gd name="connsiteX55" fmla="*/ 2052084 w 2690037"/>
              <a:gd name="connsiteY55" fmla="*/ 0 h 1658679"/>
              <a:gd name="connsiteX56" fmla="*/ 1605516 w 2690037"/>
              <a:gd name="connsiteY56" fmla="*/ 31897 h 1658679"/>
              <a:gd name="connsiteX57" fmla="*/ 1477925 w 2690037"/>
              <a:gd name="connsiteY57" fmla="*/ 63795 h 1658679"/>
              <a:gd name="connsiteX58" fmla="*/ 1318437 w 2690037"/>
              <a:gd name="connsiteY58" fmla="*/ 159488 h 1658679"/>
              <a:gd name="connsiteX59" fmla="*/ 1265274 w 2690037"/>
              <a:gd name="connsiteY59" fmla="*/ 191386 h 1658679"/>
              <a:gd name="connsiteX60" fmla="*/ 988828 w 2690037"/>
              <a:gd name="connsiteY60" fmla="*/ 233916 h 1658679"/>
              <a:gd name="connsiteX61" fmla="*/ 478465 w 2690037"/>
              <a:gd name="connsiteY61" fmla="*/ 244549 h 1658679"/>
              <a:gd name="connsiteX62" fmla="*/ 435935 w 2690037"/>
              <a:gd name="connsiteY62" fmla="*/ 255181 h 1658679"/>
              <a:gd name="connsiteX63" fmla="*/ 308344 w 2690037"/>
              <a:gd name="connsiteY63" fmla="*/ 265814 h 1658679"/>
              <a:gd name="connsiteX64" fmla="*/ 212651 w 2690037"/>
              <a:gd name="connsiteY64" fmla="*/ 308344 h 1658679"/>
              <a:gd name="connsiteX65" fmla="*/ 202018 w 2690037"/>
              <a:gd name="connsiteY65" fmla="*/ 308344 h 165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690037" h="1658679">
                <a:moveTo>
                  <a:pt x="202018" y="308344"/>
                </a:moveTo>
                <a:lnTo>
                  <a:pt x="202018" y="308344"/>
                </a:lnTo>
                <a:cubicBezTo>
                  <a:pt x="204126" y="327316"/>
                  <a:pt x="223284" y="496537"/>
                  <a:pt x="223284" y="510362"/>
                </a:cubicBezTo>
                <a:cubicBezTo>
                  <a:pt x="223284" y="556573"/>
                  <a:pt x="217249" y="602605"/>
                  <a:pt x="212651" y="648586"/>
                </a:cubicBezTo>
                <a:cubicBezTo>
                  <a:pt x="209232" y="682776"/>
                  <a:pt x="197310" y="751266"/>
                  <a:pt x="191386" y="786809"/>
                </a:cubicBezTo>
                <a:cubicBezTo>
                  <a:pt x="194930" y="839972"/>
                  <a:pt x="204818" y="893090"/>
                  <a:pt x="202018" y="946297"/>
                </a:cubicBezTo>
                <a:cubicBezTo>
                  <a:pt x="201185" y="962125"/>
                  <a:pt x="193433" y="979318"/>
                  <a:pt x="180753" y="988828"/>
                </a:cubicBezTo>
                <a:cubicBezTo>
                  <a:pt x="149053" y="1012603"/>
                  <a:pt x="74428" y="1041990"/>
                  <a:pt x="74428" y="1041990"/>
                </a:cubicBezTo>
                <a:cubicBezTo>
                  <a:pt x="73429" y="1043239"/>
                  <a:pt x="16605" y="1111123"/>
                  <a:pt x="10632" y="1127051"/>
                </a:cubicBezTo>
                <a:cubicBezTo>
                  <a:pt x="4287" y="1143972"/>
                  <a:pt x="3544" y="1162493"/>
                  <a:pt x="0" y="1180214"/>
                </a:cubicBezTo>
                <a:cubicBezTo>
                  <a:pt x="7088" y="1251098"/>
                  <a:pt x="13099" y="1322097"/>
                  <a:pt x="21265" y="1392865"/>
                </a:cubicBezTo>
                <a:cubicBezTo>
                  <a:pt x="23736" y="1414281"/>
                  <a:pt x="25703" y="1436011"/>
                  <a:pt x="31898" y="1456660"/>
                </a:cubicBezTo>
                <a:cubicBezTo>
                  <a:pt x="49799" y="1516327"/>
                  <a:pt x="95304" y="1537916"/>
                  <a:pt x="148856" y="1573618"/>
                </a:cubicBezTo>
                <a:cubicBezTo>
                  <a:pt x="170121" y="1587795"/>
                  <a:pt x="189160" y="1606081"/>
                  <a:pt x="212651" y="1616149"/>
                </a:cubicBezTo>
                <a:cubicBezTo>
                  <a:pt x="239514" y="1627662"/>
                  <a:pt x="268986" y="1632028"/>
                  <a:pt x="297712" y="1637414"/>
                </a:cubicBezTo>
                <a:cubicBezTo>
                  <a:pt x="354624" y="1648085"/>
                  <a:pt x="473960" y="1655061"/>
                  <a:pt x="520995" y="1658679"/>
                </a:cubicBezTo>
                <a:lnTo>
                  <a:pt x="967563" y="1648046"/>
                </a:lnTo>
                <a:cubicBezTo>
                  <a:pt x="991639" y="1646999"/>
                  <a:pt x="1033717" y="1629383"/>
                  <a:pt x="1052623" y="1616149"/>
                </a:cubicBezTo>
                <a:cubicBezTo>
                  <a:pt x="1075300" y="1600275"/>
                  <a:pt x="1092682" y="1577228"/>
                  <a:pt x="1116418" y="1562986"/>
                </a:cubicBezTo>
                <a:cubicBezTo>
                  <a:pt x="1128949" y="1555467"/>
                  <a:pt x="1144772" y="1555897"/>
                  <a:pt x="1158949" y="1552353"/>
                </a:cubicBezTo>
                <a:cubicBezTo>
                  <a:pt x="1275053" y="1474949"/>
                  <a:pt x="1096056" y="1589116"/>
                  <a:pt x="1233377" y="1520456"/>
                </a:cubicBezTo>
                <a:cubicBezTo>
                  <a:pt x="1284492" y="1494899"/>
                  <a:pt x="1341821" y="1475804"/>
                  <a:pt x="1382232" y="1435395"/>
                </a:cubicBezTo>
                <a:cubicBezTo>
                  <a:pt x="1411423" y="1406205"/>
                  <a:pt x="1393988" y="1417300"/>
                  <a:pt x="1435395" y="1403497"/>
                </a:cubicBezTo>
                <a:cubicBezTo>
                  <a:pt x="1449572" y="1392865"/>
                  <a:pt x="1466580" y="1385213"/>
                  <a:pt x="1477925" y="1371600"/>
                </a:cubicBezTo>
                <a:cubicBezTo>
                  <a:pt x="1485100" y="1362990"/>
                  <a:pt x="1486360" y="1350692"/>
                  <a:pt x="1488558" y="1339702"/>
                </a:cubicBezTo>
                <a:cubicBezTo>
                  <a:pt x="1512996" y="1217517"/>
                  <a:pt x="1485802" y="1305445"/>
                  <a:pt x="1509823" y="1233376"/>
                </a:cubicBezTo>
                <a:cubicBezTo>
                  <a:pt x="1506279" y="1205023"/>
                  <a:pt x="1509803" y="1174846"/>
                  <a:pt x="1499191" y="1148316"/>
                </a:cubicBezTo>
                <a:cubicBezTo>
                  <a:pt x="1474955" y="1087725"/>
                  <a:pt x="1456158" y="1080642"/>
                  <a:pt x="1414130" y="1052623"/>
                </a:cubicBezTo>
                <a:cubicBezTo>
                  <a:pt x="1424763" y="1034902"/>
                  <a:pt x="1430475" y="1013069"/>
                  <a:pt x="1446028" y="999460"/>
                </a:cubicBezTo>
                <a:cubicBezTo>
                  <a:pt x="1488148" y="962606"/>
                  <a:pt x="1548899" y="982259"/>
                  <a:pt x="1594884" y="988828"/>
                </a:cubicBezTo>
                <a:cubicBezTo>
                  <a:pt x="1612774" y="991384"/>
                  <a:pt x="1630514" y="995077"/>
                  <a:pt x="1648046" y="999460"/>
                </a:cubicBezTo>
                <a:cubicBezTo>
                  <a:pt x="1670266" y="1005015"/>
                  <a:pt x="1716853" y="1024856"/>
                  <a:pt x="1733107" y="1031358"/>
                </a:cubicBezTo>
                <a:lnTo>
                  <a:pt x="2158409" y="1020725"/>
                </a:lnTo>
                <a:cubicBezTo>
                  <a:pt x="2176463" y="1019923"/>
                  <a:pt x="2193746" y="1013064"/>
                  <a:pt x="2211572" y="1010093"/>
                </a:cubicBezTo>
                <a:cubicBezTo>
                  <a:pt x="2236292" y="1005973"/>
                  <a:pt x="2261191" y="1003004"/>
                  <a:pt x="2286000" y="999460"/>
                </a:cubicBezTo>
                <a:cubicBezTo>
                  <a:pt x="2296633" y="995916"/>
                  <a:pt x="2308101" y="994271"/>
                  <a:pt x="2317898" y="988828"/>
                </a:cubicBezTo>
                <a:cubicBezTo>
                  <a:pt x="2370688" y="959500"/>
                  <a:pt x="2384212" y="950772"/>
                  <a:pt x="2413591" y="903767"/>
                </a:cubicBezTo>
                <a:cubicBezTo>
                  <a:pt x="2421992" y="890326"/>
                  <a:pt x="2427768" y="875414"/>
                  <a:pt x="2434856" y="861237"/>
                </a:cubicBezTo>
                <a:cubicBezTo>
                  <a:pt x="2441944" y="832883"/>
                  <a:pt x="2446133" y="803643"/>
                  <a:pt x="2456121" y="776176"/>
                </a:cubicBezTo>
                <a:cubicBezTo>
                  <a:pt x="2460488" y="764167"/>
                  <a:pt x="2472196" y="755956"/>
                  <a:pt x="2477386" y="744279"/>
                </a:cubicBezTo>
                <a:cubicBezTo>
                  <a:pt x="2486490" y="723795"/>
                  <a:pt x="2478602" y="690507"/>
                  <a:pt x="2498651" y="680483"/>
                </a:cubicBezTo>
                <a:cubicBezTo>
                  <a:pt x="2595141" y="632238"/>
                  <a:pt x="2557336" y="655537"/>
                  <a:pt x="2615609" y="616688"/>
                </a:cubicBezTo>
                <a:cubicBezTo>
                  <a:pt x="2619153" y="595423"/>
                  <a:pt x="2620047" y="573542"/>
                  <a:pt x="2626242" y="552893"/>
                </a:cubicBezTo>
                <a:cubicBezTo>
                  <a:pt x="2630797" y="537711"/>
                  <a:pt x="2641070" y="524846"/>
                  <a:pt x="2647507" y="510362"/>
                </a:cubicBezTo>
                <a:cubicBezTo>
                  <a:pt x="2682187" y="432331"/>
                  <a:pt x="2652381" y="481787"/>
                  <a:pt x="2690037" y="425302"/>
                </a:cubicBezTo>
                <a:cubicBezTo>
                  <a:pt x="2682949" y="404037"/>
                  <a:pt x="2680652" y="380515"/>
                  <a:pt x="2668772" y="361507"/>
                </a:cubicBezTo>
                <a:cubicBezTo>
                  <a:pt x="2661999" y="350671"/>
                  <a:pt x="2644857" y="350221"/>
                  <a:pt x="2636874" y="340242"/>
                </a:cubicBezTo>
                <a:cubicBezTo>
                  <a:pt x="2629873" y="331490"/>
                  <a:pt x="2630657" y="318646"/>
                  <a:pt x="2626242" y="308344"/>
                </a:cubicBezTo>
                <a:cubicBezTo>
                  <a:pt x="2619998" y="293776"/>
                  <a:pt x="2611221" y="280382"/>
                  <a:pt x="2604977" y="265814"/>
                </a:cubicBezTo>
                <a:cubicBezTo>
                  <a:pt x="2600562" y="255512"/>
                  <a:pt x="2601346" y="242668"/>
                  <a:pt x="2594344" y="233916"/>
                </a:cubicBezTo>
                <a:cubicBezTo>
                  <a:pt x="2586361" y="223937"/>
                  <a:pt x="2573079" y="219739"/>
                  <a:pt x="2562446" y="212651"/>
                </a:cubicBezTo>
                <a:cubicBezTo>
                  <a:pt x="2499172" y="54464"/>
                  <a:pt x="2581512" y="221084"/>
                  <a:pt x="2509284" y="148856"/>
                </a:cubicBezTo>
                <a:cubicBezTo>
                  <a:pt x="2501359" y="140931"/>
                  <a:pt x="2505826" y="125568"/>
                  <a:pt x="2498651" y="116958"/>
                </a:cubicBezTo>
                <a:cubicBezTo>
                  <a:pt x="2487306" y="103344"/>
                  <a:pt x="2470639" y="95222"/>
                  <a:pt x="2456121" y="85060"/>
                </a:cubicBezTo>
                <a:cubicBezTo>
                  <a:pt x="2435183" y="70404"/>
                  <a:pt x="2415184" y="53960"/>
                  <a:pt x="2392325" y="42530"/>
                </a:cubicBezTo>
                <a:cubicBezTo>
                  <a:pt x="2300522" y="-3371"/>
                  <a:pt x="2104851" y="4059"/>
                  <a:pt x="2052084" y="0"/>
                </a:cubicBezTo>
                <a:cubicBezTo>
                  <a:pt x="1752298" y="11103"/>
                  <a:pt x="1837022" y="-1176"/>
                  <a:pt x="1605516" y="31897"/>
                </a:cubicBezTo>
                <a:cubicBezTo>
                  <a:pt x="1565495" y="37614"/>
                  <a:pt x="1514464" y="44656"/>
                  <a:pt x="1477925" y="63795"/>
                </a:cubicBezTo>
                <a:cubicBezTo>
                  <a:pt x="1423005" y="92562"/>
                  <a:pt x="1371600" y="127590"/>
                  <a:pt x="1318437" y="159488"/>
                </a:cubicBezTo>
                <a:cubicBezTo>
                  <a:pt x="1300716" y="170121"/>
                  <a:pt x="1285539" y="187333"/>
                  <a:pt x="1265274" y="191386"/>
                </a:cubicBezTo>
                <a:cubicBezTo>
                  <a:pt x="1178651" y="208711"/>
                  <a:pt x="1075056" y="232120"/>
                  <a:pt x="988828" y="233916"/>
                </a:cubicBezTo>
                <a:lnTo>
                  <a:pt x="478465" y="244549"/>
                </a:lnTo>
                <a:cubicBezTo>
                  <a:pt x="464288" y="248093"/>
                  <a:pt x="450435" y="253368"/>
                  <a:pt x="435935" y="255181"/>
                </a:cubicBezTo>
                <a:cubicBezTo>
                  <a:pt x="393587" y="260474"/>
                  <a:pt x="350441" y="258798"/>
                  <a:pt x="308344" y="265814"/>
                </a:cubicBezTo>
                <a:cubicBezTo>
                  <a:pt x="266782" y="272741"/>
                  <a:pt x="243613" y="285123"/>
                  <a:pt x="212651" y="308344"/>
                </a:cubicBezTo>
                <a:cubicBezTo>
                  <a:pt x="208641" y="311351"/>
                  <a:pt x="203790" y="308344"/>
                  <a:pt x="202018" y="308344"/>
                </a:cubicBezTo>
                <a:close/>
              </a:path>
            </a:pathLst>
          </a:custGeom>
          <a:solidFill>
            <a:srgbClr val="EBD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Forme libre : forme 18">
            <a:extLst>
              <a:ext uri="{FF2B5EF4-FFF2-40B4-BE49-F238E27FC236}">
                <a16:creationId xmlns:a16="http://schemas.microsoft.com/office/drawing/2014/main" id="{BE16E929-5966-4F44-9250-50744AD3EFEB}"/>
              </a:ext>
            </a:extLst>
          </p:cNvPr>
          <p:cNvSpPr/>
          <p:nvPr/>
        </p:nvSpPr>
        <p:spPr>
          <a:xfrm>
            <a:off x="3062177" y="4508205"/>
            <a:ext cx="754911" cy="1190846"/>
          </a:xfrm>
          <a:custGeom>
            <a:avLst/>
            <a:gdLst>
              <a:gd name="connsiteX0" fmla="*/ 457200 w 754911"/>
              <a:gd name="connsiteY0" fmla="*/ 0 h 1190846"/>
              <a:gd name="connsiteX1" fmla="*/ 457200 w 754911"/>
              <a:gd name="connsiteY1" fmla="*/ 0 h 1190846"/>
              <a:gd name="connsiteX2" fmla="*/ 669851 w 754911"/>
              <a:gd name="connsiteY2" fmla="*/ 31897 h 1190846"/>
              <a:gd name="connsiteX3" fmla="*/ 680483 w 754911"/>
              <a:gd name="connsiteY3" fmla="*/ 63795 h 1190846"/>
              <a:gd name="connsiteX4" fmla="*/ 712381 w 754911"/>
              <a:gd name="connsiteY4" fmla="*/ 74428 h 1190846"/>
              <a:gd name="connsiteX5" fmla="*/ 754911 w 754911"/>
              <a:gd name="connsiteY5" fmla="*/ 95693 h 1190846"/>
              <a:gd name="connsiteX6" fmla="*/ 744279 w 754911"/>
              <a:gd name="connsiteY6" fmla="*/ 202018 h 1190846"/>
              <a:gd name="connsiteX7" fmla="*/ 712381 w 754911"/>
              <a:gd name="connsiteY7" fmla="*/ 223283 h 1190846"/>
              <a:gd name="connsiteX8" fmla="*/ 669851 w 754911"/>
              <a:gd name="connsiteY8" fmla="*/ 276446 h 1190846"/>
              <a:gd name="connsiteX9" fmla="*/ 595423 w 754911"/>
              <a:gd name="connsiteY9" fmla="*/ 425302 h 1190846"/>
              <a:gd name="connsiteX10" fmla="*/ 531628 w 754911"/>
              <a:gd name="connsiteY10" fmla="*/ 531628 h 1190846"/>
              <a:gd name="connsiteX11" fmla="*/ 489097 w 754911"/>
              <a:gd name="connsiteY11" fmla="*/ 637953 h 1190846"/>
              <a:gd name="connsiteX12" fmla="*/ 467832 w 754911"/>
              <a:gd name="connsiteY12" fmla="*/ 669851 h 1190846"/>
              <a:gd name="connsiteX13" fmla="*/ 446567 w 754911"/>
              <a:gd name="connsiteY13" fmla="*/ 733646 h 1190846"/>
              <a:gd name="connsiteX14" fmla="*/ 393404 w 754911"/>
              <a:gd name="connsiteY14" fmla="*/ 808074 h 1190846"/>
              <a:gd name="connsiteX15" fmla="*/ 372139 w 754911"/>
              <a:gd name="connsiteY15" fmla="*/ 839972 h 1190846"/>
              <a:gd name="connsiteX16" fmla="*/ 244549 w 754911"/>
              <a:gd name="connsiteY16" fmla="*/ 871869 h 1190846"/>
              <a:gd name="connsiteX17" fmla="*/ 148856 w 754911"/>
              <a:gd name="connsiteY17" fmla="*/ 925032 h 1190846"/>
              <a:gd name="connsiteX18" fmla="*/ 116958 w 754911"/>
              <a:gd name="connsiteY18" fmla="*/ 1020725 h 1190846"/>
              <a:gd name="connsiteX19" fmla="*/ 95693 w 754911"/>
              <a:gd name="connsiteY19" fmla="*/ 1073888 h 1190846"/>
              <a:gd name="connsiteX20" fmla="*/ 85060 w 754911"/>
              <a:gd name="connsiteY20" fmla="*/ 1105786 h 1190846"/>
              <a:gd name="connsiteX21" fmla="*/ 53163 w 754911"/>
              <a:gd name="connsiteY21" fmla="*/ 1137683 h 1190846"/>
              <a:gd name="connsiteX22" fmla="*/ 0 w 754911"/>
              <a:gd name="connsiteY22" fmla="*/ 1190846 h 1190846"/>
              <a:gd name="connsiteX23" fmla="*/ 31897 w 754911"/>
              <a:gd name="connsiteY23" fmla="*/ 595423 h 1190846"/>
              <a:gd name="connsiteX24" fmla="*/ 95693 w 754911"/>
              <a:gd name="connsiteY24" fmla="*/ 414669 h 1190846"/>
              <a:gd name="connsiteX25" fmla="*/ 127590 w 754911"/>
              <a:gd name="connsiteY25" fmla="*/ 308344 h 1190846"/>
              <a:gd name="connsiteX26" fmla="*/ 276446 w 754911"/>
              <a:gd name="connsiteY26" fmla="*/ 212651 h 1190846"/>
              <a:gd name="connsiteX27" fmla="*/ 318976 w 754911"/>
              <a:gd name="connsiteY27" fmla="*/ 170121 h 1190846"/>
              <a:gd name="connsiteX28" fmla="*/ 350874 w 754911"/>
              <a:gd name="connsiteY28" fmla="*/ 148855 h 1190846"/>
              <a:gd name="connsiteX29" fmla="*/ 393404 w 754911"/>
              <a:gd name="connsiteY29" fmla="*/ 116958 h 1190846"/>
              <a:gd name="connsiteX30" fmla="*/ 478465 w 754911"/>
              <a:gd name="connsiteY30" fmla="*/ 42530 h 1190846"/>
              <a:gd name="connsiteX31" fmla="*/ 457200 w 754911"/>
              <a:gd name="connsiteY31" fmla="*/ 0 h 1190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54911" h="1190846">
                <a:moveTo>
                  <a:pt x="457200" y="0"/>
                </a:moveTo>
                <a:lnTo>
                  <a:pt x="457200" y="0"/>
                </a:lnTo>
                <a:cubicBezTo>
                  <a:pt x="528084" y="10632"/>
                  <a:pt x="600932" y="12206"/>
                  <a:pt x="669851" y="31897"/>
                </a:cubicBezTo>
                <a:cubicBezTo>
                  <a:pt x="680628" y="34976"/>
                  <a:pt x="672558" y="55870"/>
                  <a:pt x="680483" y="63795"/>
                </a:cubicBezTo>
                <a:cubicBezTo>
                  <a:pt x="688408" y="71720"/>
                  <a:pt x="702079" y="70013"/>
                  <a:pt x="712381" y="74428"/>
                </a:cubicBezTo>
                <a:cubicBezTo>
                  <a:pt x="726949" y="80672"/>
                  <a:pt x="740734" y="88605"/>
                  <a:pt x="754911" y="95693"/>
                </a:cubicBezTo>
                <a:cubicBezTo>
                  <a:pt x="751367" y="131135"/>
                  <a:pt x="755543" y="168227"/>
                  <a:pt x="744279" y="202018"/>
                </a:cubicBezTo>
                <a:cubicBezTo>
                  <a:pt x="740238" y="214141"/>
                  <a:pt x="721417" y="214247"/>
                  <a:pt x="712381" y="223283"/>
                </a:cubicBezTo>
                <a:cubicBezTo>
                  <a:pt x="696334" y="239330"/>
                  <a:pt x="681221" y="256806"/>
                  <a:pt x="669851" y="276446"/>
                </a:cubicBezTo>
                <a:cubicBezTo>
                  <a:pt x="642056" y="324456"/>
                  <a:pt x="626195" y="379144"/>
                  <a:pt x="595423" y="425302"/>
                </a:cubicBezTo>
                <a:cubicBezTo>
                  <a:pt x="565184" y="470661"/>
                  <a:pt x="551247" y="485851"/>
                  <a:pt x="531628" y="531628"/>
                </a:cubicBezTo>
                <a:cubicBezTo>
                  <a:pt x="516591" y="566714"/>
                  <a:pt x="510271" y="606192"/>
                  <a:pt x="489097" y="637953"/>
                </a:cubicBezTo>
                <a:cubicBezTo>
                  <a:pt x="482009" y="648586"/>
                  <a:pt x="473022" y="658174"/>
                  <a:pt x="467832" y="669851"/>
                </a:cubicBezTo>
                <a:cubicBezTo>
                  <a:pt x="458728" y="690334"/>
                  <a:pt x="455671" y="713163"/>
                  <a:pt x="446567" y="733646"/>
                </a:cubicBezTo>
                <a:cubicBezTo>
                  <a:pt x="440670" y="746915"/>
                  <a:pt x="398027" y="801602"/>
                  <a:pt x="393404" y="808074"/>
                </a:cubicBezTo>
                <a:cubicBezTo>
                  <a:pt x="385976" y="818473"/>
                  <a:pt x="382538" y="832544"/>
                  <a:pt x="372139" y="839972"/>
                </a:cubicBezTo>
                <a:cubicBezTo>
                  <a:pt x="337745" y="864539"/>
                  <a:pt x="282673" y="866423"/>
                  <a:pt x="244549" y="871869"/>
                </a:cubicBezTo>
                <a:cubicBezTo>
                  <a:pt x="212651" y="889590"/>
                  <a:pt x="178367" y="903570"/>
                  <a:pt x="148856" y="925032"/>
                </a:cubicBezTo>
                <a:cubicBezTo>
                  <a:pt x="118373" y="947201"/>
                  <a:pt x="125065" y="990998"/>
                  <a:pt x="116958" y="1020725"/>
                </a:cubicBezTo>
                <a:cubicBezTo>
                  <a:pt x="111936" y="1039139"/>
                  <a:pt x="102395" y="1056017"/>
                  <a:pt x="95693" y="1073888"/>
                </a:cubicBezTo>
                <a:cubicBezTo>
                  <a:pt x="91758" y="1084382"/>
                  <a:pt x="91277" y="1096461"/>
                  <a:pt x="85060" y="1105786"/>
                </a:cubicBezTo>
                <a:cubicBezTo>
                  <a:pt x="76719" y="1118297"/>
                  <a:pt x="62789" y="1126132"/>
                  <a:pt x="53163" y="1137683"/>
                </a:cubicBezTo>
                <a:cubicBezTo>
                  <a:pt x="8860" y="1190846"/>
                  <a:pt x="58477" y="1151861"/>
                  <a:pt x="0" y="1190846"/>
                </a:cubicBezTo>
                <a:cubicBezTo>
                  <a:pt x="78548" y="955202"/>
                  <a:pt x="11065" y="1178717"/>
                  <a:pt x="31897" y="595423"/>
                </a:cubicBezTo>
                <a:cubicBezTo>
                  <a:pt x="34771" y="514952"/>
                  <a:pt x="63008" y="500467"/>
                  <a:pt x="95693" y="414669"/>
                </a:cubicBezTo>
                <a:cubicBezTo>
                  <a:pt x="108866" y="380091"/>
                  <a:pt x="102917" y="335920"/>
                  <a:pt x="127590" y="308344"/>
                </a:cubicBezTo>
                <a:cubicBezTo>
                  <a:pt x="166922" y="264384"/>
                  <a:pt x="228626" y="247187"/>
                  <a:pt x="276446" y="212651"/>
                </a:cubicBezTo>
                <a:cubicBezTo>
                  <a:pt x="292699" y="200913"/>
                  <a:pt x="303754" y="183169"/>
                  <a:pt x="318976" y="170121"/>
                </a:cubicBezTo>
                <a:cubicBezTo>
                  <a:pt x="328679" y="161804"/>
                  <a:pt x="340475" y="156283"/>
                  <a:pt x="350874" y="148855"/>
                </a:cubicBezTo>
                <a:cubicBezTo>
                  <a:pt x="365294" y="138555"/>
                  <a:pt x="378984" y="127258"/>
                  <a:pt x="393404" y="116958"/>
                </a:cubicBezTo>
                <a:cubicBezTo>
                  <a:pt x="438266" y="84914"/>
                  <a:pt x="431736" y="98606"/>
                  <a:pt x="478465" y="42530"/>
                </a:cubicBezTo>
                <a:cubicBezTo>
                  <a:pt x="480734" y="39807"/>
                  <a:pt x="460744" y="7088"/>
                  <a:pt x="457200" y="0"/>
                </a:cubicBezTo>
                <a:close/>
              </a:path>
            </a:pathLst>
          </a:custGeom>
          <a:solidFill>
            <a:srgbClr val="EBD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Forme libre : forme 19">
            <a:extLst>
              <a:ext uri="{FF2B5EF4-FFF2-40B4-BE49-F238E27FC236}">
                <a16:creationId xmlns:a16="http://schemas.microsoft.com/office/drawing/2014/main" id="{1F1E6FF2-AE5B-4BFA-B14A-8744F19D9729}"/>
              </a:ext>
            </a:extLst>
          </p:cNvPr>
          <p:cNvSpPr/>
          <p:nvPr/>
        </p:nvSpPr>
        <p:spPr>
          <a:xfrm>
            <a:off x="7355741" y="3274828"/>
            <a:ext cx="2395015" cy="1197569"/>
          </a:xfrm>
          <a:custGeom>
            <a:avLst/>
            <a:gdLst>
              <a:gd name="connsiteX0" fmla="*/ 65785 w 2395015"/>
              <a:gd name="connsiteY0" fmla="*/ 265814 h 1197569"/>
              <a:gd name="connsiteX1" fmla="*/ 65785 w 2395015"/>
              <a:gd name="connsiteY1" fmla="*/ 265814 h 1197569"/>
              <a:gd name="connsiteX2" fmla="*/ 44519 w 2395015"/>
              <a:gd name="connsiteY2" fmla="*/ 435935 h 1197569"/>
              <a:gd name="connsiteX3" fmla="*/ 87050 w 2395015"/>
              <a:gd name="connsiteY3" fmla="*/ 446567 h 1197569"/>
              <a:gd name="connsiteX4" fmla="*/ 118947 w 2395015"/>
              <a:gd name="connsiteY4" fmla="*/ 467832 h 1197569"/>
              <a:gd name="connsiteX5" fmla="*/ 140212 w 2395015"/>
              <a:gd name="connsiteY5" fmla="*/ 542260 h 1197569"/>
              <a:gd name="connsiteX6" fmla="*/ 129580 w 2395015"/>
              <a:gd name="connsiteY6" fmla="*/ 691116 h 1197569"/>
              <a:gd name="connsiteX7" fmla="*/ 140212 w 2395015"/>
              <a:gd name="connsiteY7" fmla="*/ 744279 h 1197569"/>
              <a:gd name="connsiteX8" fmla="*/ 182743 w 2395015"/>
              <a:gd name="connsiteY8" fmla="*/ 765544 h 1197569"/>
              <a:gd name="connsiteX9" fmla="*/ 172110 w 2395015"/>
              <a:gd name="connsiteY9" fmla="*/ 871870 h 1197569"/>
              <a:gd name="connsiteX10" fmla="*/ 161478 w 2395015"/>
              <a:gd name="connsiteY10" fmla="*/ 903767 h 1197569"/>
              <a:gd name="connsiteX11" fmla="*/ 150845 w 2395015"/>
              <a:gd name="connsiteY11" fmla="*/ 988828 h 1197569"/>
              <a:gd name="connsiteX12" fmla="*/ 193375 w 2395015"/>
              <a:gd name="connsiteY12" fmla="*/ 1084521 h 1197569"/>
              <a:gd name="connsiteX13" fmla="*/ 278436 w 2395015"/>
              <a:gd name="connsiteY13" fmla="*/ 1127051 h 1197569"/>
              <a:gd name="connsiteX14" fmla="*/ 352864 w 2395015"/>
              <a:gd name="connsiteY14" fmla="*/ 1148316 h 1197569"/>
              <a:gd name="connsiteX15" fmla="*/ 501719 w 2395015"/>
              <a:gd name="connsiteY15" fmla="*/ 1158949 h 1197569"/>
              <a:gd name="connsiteX16" fmla="*/ 629310 w 2395015"/>
              <a:gd name="connsiteY16" fmla="*/ 1169581 h 1197569"/>
              <a:gd name="connsiteX17" fmla="*/ 1118408 w 2395015"/>
              <a:gd name="connsiteY17" fmla="*/ 1180214 h 1197569"/>
              <a:gd name="connsiteX18" fmla="*/ 1150306 w 2395015"/>
              <a:gd name="connsiteY18" fmla="*/ 1169581 h 1197569"/>
              <a:gd name="connsiteX19" fmla="*/ 1214101 w 2395015"/>
              <a:gd name="connsiteY19" fmla="*/ 1158949 h 1197569"/>
              <a:gd name="connsiteX20" fmla="*/ 1245999 w 2395015"/>
              <a:gd name="connsiteY20" fmla="*/ 1148316 h 1197569"/>
              <a:gd name="connsiteX21" fmla="*/ 1320426 w 2395015"/>
              <a:gd name="connsiteY21" fmla="*/ 1031358 h 1197569"/>
              <a:gd name="connsiteX22" fmla="*/ 1384222 w 2395015"/>
              <a:gd name="connsiteY22" fmla="*/ 946298 h 1197569"/>
              <a:gd name="connsiteX23" fmla="*/ 1394854 w 2395015"/>
              <a:gd name="connsiteY23" fmla="*/ 861237 h 1197569"/>
              <a:gd name="connsiteX24" fmla="*/ 1416119 w 2395015"/>
              <a:gd name="connsiteY24" fmla="*/ 1052623 h 1197569"/>
              <a:gd name="connsiteX25" fmla="*/ 1479915 w 2395015"/>
              <a:gd name="connsiteY25" fmla="*/ 1116419 h 1197569"/>
              <a:gd name="connsiteX26" fmla="*/ 1618138 w 2395015"/>
              <a:gd name="connsiteY26" fmla="*/ 1169581 h 1197569"/>
              <a:gd name="connsiteX27" fmla="*/ 2192296 w 2395015"/>
              <a:gd name="connsiteY27" fmla="*/ 1116419 h 1197569"/>
              <a:gd name="connsiteX28" fmla="*/ 2298622 w 2395015"/>
              <a:gd name="connsiteY28" fmla="*/ 808074 h 1197569"/>
              <a:gd name="connsiteX29" fmla="*/ 2309254 w 2395015"/>
              <a:gd name="connsiteY29" fmla="*/ 754912 h 1197569"/>
              <a:gd name="connsiteX30" fmla="*/ 2373050 w 2395015"/>
              <a:gd name="connsiteY30" fmla="*/ 648586 h 1197569"/>
              <a:gd name="connsiteX31" fmla="*/ 2394315 w 2395015"/>
              <a:gd name="connsiteY31" fmla="*/ 489098 h 1197569"/>
              <a:gd name="connsiteX32" fmla="*/ 2362417 w 2395015"/>
              <a:gd name="connsiteY32" fmla="*/ 393405 h 1197569"/>
              <a:gd name="connsiteX33" fmla="*/ 2287989 w 2395015"/>
              <a:gd name="connsiteY33" fmla="*/ 287079 h 1197569"/>
              <a:gd name="connsiteX34" fmla="*/ 2256092 w 2395015"/>
              <a:gd name="connsiteY34" fmla="*/ 202019 h 1197569"/>
              <a:gd name="connsiteX35" fmla="*/ 2181664 w 2395015"/>
              <a:gd name="connsiteY35" fmla="*/ 63795 h 1197569"/>
              <a:gd name="connsiteX36" fmla="*/ 2064706 w 2395015"/>
              <a:gd name="connsiteY36" fmla="*/ 10632 h 1197569"/>
              <a:gd name="connsiteX37" fmla="*/ 1926482 w 2395015"/>
              <a:gd name="connsiteY37" fmla="*/ 0 h 1197569"/>
              <a:gd name="connsiteX38" fmla="*/ 1586240 w 2395015"/>
              <a:gd name="connsiteY38" fmla="*/ 31898 h 1197569"/>
              <a:gd name="connsiteX39" fmla="*/ 1448017 w 2395015"/>
              <a:gd name="connsiteY39" fmla="*/ 74428 h 1197569"/>
              <a:gd name="connsiteX40" fmla="*/ 735636 w 2395015"/>
              <a:gd name="connsiteY40" fmla="*/ 138223 h 1197569"/>
              <a:gd name="connsiteX41" fmla="*/ 639943 w 2395015"/>
              <a:gd name="connsiteY41" fmla="*/ 170121 h 1197569"/>
              <a:gd name="connsiteX42" fmla="*/ 406026 w 2395015"/>
              <a:gd name="connsiteY42" fmla="*/ 170121 h 1197569"/>
              <a:gd name="connsiteX43" fmla="*/ 204008 w 2395015"/>
              <a:gd name="connsiteY43" fmla="*/ 202019 h 1197569"/>
              <a:gd name="connsiteX44" fmla="*/ 172110 w 2395015"/>
              <a:gd name="connsiteY44" fmla="*/ 233916 h 1197569"/>
              <a:gd name="connsiteX45" fmla="*/ 140212 w 2395015"/>
              <a:gd name="connsiteY45" fmla="*/ 244549 h 1197569"/>
              <a:gd name="connsiteX46" fmla="*/ 87050 w 2395015"/>
              <a:gd name="connsiteY46" fmla="*/ 265814 h 1197569"/>
              <a:gd name="connsiteX47" fmla="*/ 65785 w 2395015"/>
              <a:gd name="connsiteY47" fmla="*/ 265814 h 1197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395015" h="1197569">
                <a:moveTo>
                  <a:pt x="65785" y="265814"/>
                </a:moveTo>
                <a:lnTo>
                  <a:pt x="65785" y="265814"/>
                </a:lnTo>
                <a:cubicBezTo>
                  <a:pt x="15245" y="417434"/>
                  <a:pt x="-41774" y="411280"/>
                  <a:pt x="44519" y="435935"/>
                </a:cubicBezTo>
                <a:cubicBezTo>
                  <a:pt x="58570" y="439950"/>
                  <a:pt x="72873" y="443023"/>
                  <a:pt x="87050" y="446567"/>
                </a:cubicBezTo>
                <a:cubicBezTo>
                  <a:pt x="97682" y="453655"/>
                  <a:pt x="110964" y="457854"/>
                  <a:pt x="118947" y="467832"/>
                </a:cubicBezTo>
                <a:cubicBezTo>
                  <a:pt x="124495" y="474767"/>
                  <a:pt x="139517" y="539478"/>
                  <a:pt x="140212" y="542260"/>
                </a:cubicBezTo>
                <a:cubicBezTo>
                  <a:pt x="113609" y="635369"/>
                  <a:pt x="113795" y="596405"/>
                  <a:pt x="129580" y="691116"/>
                </a:cubicBezTo>
                <a:cubicBezTo>
                  <a:pt x="132551" y="708942"/>
                  <a:pt x="129708" y="729573"/>
                  <a:pt x="140212" y="744279"/>
                </a:cubicBezTo>
                <a:cubicBezTo>
                  <a:pt x="149425" y="757177"/>
                  <a:pt x="168566" y="758456"/>
                  <a:pt x="182743" y="765544"/>
                </a:cubicBezTo>
                <a:cubicBezTo>
                  <a:pt x="179199" y="800986"/>
                  <a:pt x="177526" y="836665"/>
                  <a:pt x="172110" y="871870"/>
                </a:cubicBezTo>
                <a:cubicBezTo>
                  <a:pt x="170406" y="882947"/>
                  <a:pt x="163483" y="892740"/>
                  <a:pt x="161478" y="903767"/>
                </a:cubicBezTo>
                <a:cubicBezTo>
                  <a:pt x="156366" y="931880"/>
                  <a:pt x="154389" y="960474"/>
                  <a:pt x="150845" y="988828"/>
                </a:cubicBezTo>
                <a:cubicBezTo>
                  <a:pt x="161373" y="1020411"/>
                  <a:pt x="168101" y="1059247"/>
                  <a:pt x="193375" y="1084521"/>
                </a:cubicBezTo>
                <a:cubicBezTo>
                  <a:pt x="231221" y="1122367"/>
                  <a:pt x="232217" y="1114446"/>
                  <a:pt x="278436" y="1127051"/>
                </a:cubicBezTo>
                <a:cubicBezTo>
                  <a:pt x="303329" y="1133840"/>
                  <a:pt x="327321" y="1144667"/>
                  <a:pt x="352864" y="1148316"/>
                </a:cubicBezTo>
                <a:cubicBezTo>
                  <a:pt x="402109" y="1155351"/>
                  <a:pt x="452121" y="1155134"/>
                  <a:pt x="501719" y="1158949"/>
                </a:cubicBezTo>
                <a:lnTo>
                  <a:pt x="629310" y="1169581"/>
                </a:lnTo>
                <a:cubicBezTo>
                  <a:pt x="854870" y="1210592"/>
                  <a:pt x="748917" y="1199661"/>
                  <a:pt x="1118408" y="1180214"/>
                </a:cubicBezTo>
                <a:cubicBezTo>
                  <a:pt x="1129600" y="1179625"/>
                  <a:pt x="1139365" y="1172012"/>
                  <a:pt x="1150306" y="1169581"/>
                </a:cubicBezTo>
                <a:cubicBezTo>
                  <a:pt x="1171351" y="1164904"/>
                  <a:pt x="1192836" y="1162493"/>
                  <a:pt x="1214101" y="1158949"/>
                </a:cubicBezTo>
                <a:cubicBezTo>
                  <a:pt x="1224734" y="1155405"/>
                  <a:pt x="1236879" y="1154830"/>
                  <a:pt x="1245999" y="1148316"/>
                </a:cubicBezTo>
                <a:cubicBezTo>
                  <a:pt x="1301587" y="1108610"/>
                  <a:pt x="1288747" y="1094716"/>
                  <a:pt x="1320426" y="1031358"/>
                </a:cubicBezTo>
                <a:cubicBezTo>
                  <a:pt x="1331709" y="1008792"/>
                  <a:pt x="1373792" y="959335"/>
                  <a:pt x="1384222" y="946298"/>
                </a:cubicBezTo>
                <a:cubicBezTo>
                  <a:pt x="1387766" y="917944"/>
                  <a:pt x="1386643" y="833868"/>
                  <a:pt x="1394854" y="861237"/>
                </a:cubicBezTo>
                <a:cubicBezTo>
                  <a:pt x="1413298" y="922718"/>
                  <a:pt x="1395821" y="991729"/>
                  <a:pt x="1416119" y="1052623"/>
                </a:cubicBezTo>
                <a:cubicBezTo>
                  <a:pt x="1425629" y="1081153"/>
                  <a:pt x="1454892" y="1099737"/>
                  <a:pt x="1479915" y="1116419"/>
                </a:cubicBezTo>
                <a:cubicBezTo>
                  <a:pt x="1564562" y="1172850"/>
                  <a:pt x="1518409" y="1155335"/>
                  <a:pt x="1618138" y="1169581"/>
                </a:cubicBezTo>
                <a:cubicBezTo>
                  <a:pt x="1809524" y="1151860"/>
                  <a:pt x="2012451" y="1184230"/>
                  <a:pt x="2192296" y="1116419"/>
                </a:cubicBezTo>
                <a:cubicBezTo>
                  <a:pt x="2219640" y="1106109"/>
                  <a:pt x="2285157" y="861936"/>
                  <a:pt x="2298622" y="808074"/>
                </a:cubicBezTo>
                <a:cubicBezTo>
                  <a:pt x="2303005" y="790542"/>
                  <a:pt x="2301612" y="771288"/>
                  <a:pt x="2309254" y="754912"/>
                </a:cubicBezTo>
                <a:cubicBezTo>
                  <a:pt x="2326733" y="717457"/>
                  <a:pt x="2373050" y="648586"/>
                  <a:pt x="2373050" y="648586"/>
                </a:cubicBezTo>
                <a:cubicBezTo>
                  <a:pt x="2382185" y="602908"/>
                  <a:pt x="2398601" y="529814"/>
                  <a:pt x="2394315" y="489098"/>
                </a:cubicBezTo>
                <a:cubicBezTo>
                  <a:pt x="2390795" y="455660"/>
                  <a:pt x="2378240" y="423072"/>
                  <a:pt x="2362417" y="393405"/>
                </a:cubicBezTo>
                <a:cubicBezTo>
                  <a:pt x="2262483" y="206029"/>
                  <a:pt x="2342604" y="418157"/>
                  <a:pt x="2287989" y="287079"/>
                </a:cubicBezTo>
                <a:cubicBezTo>
                  <a:pt x="2276342" y="259127"/>
                  <a:pt x="2266170" y="230574"/>
                  <a:pt x="2256092" y="202019"/>
                </a:cubicBezTo>
                <a:cubicBezTo>
                  <a:pt x="2234917" y="142022"/>
                  <a:pt x="2237795" y="97474"/>
                  <a:pt x="2181664" y="63795"/>
                </a:cubicBezTo>
                <a:cubicBezTo>
                  <a:pt x="2144942" y="41762"/>
                  <a:pt x="2106252" y="21018"/>
                  <a:pt x="2064706" y="10632"/>
                </a:cubicBezTo>
                <a:cubicBezTo>
                  <a:pt x="2019875" y="-576"/>
                  <a:pt x="1972557" y="3544"/>
                  <a:pt x="1926482" y="0"/>
                </a:cubicBezTo>
                <a:cubicBezTo>
                  <a:pt x="1813068" y="10633"/>
                  <a:pt x="1698798" y="14389"/>
                  <a:pt x="1586240" y="31898"/>
                </a:cubicBezTo>
                <a:cubicBezTo>
                  <a:pt x="1538607" y="39308"/>
                  <a:pt x="1495662" y="67098"/>
                  <a:pt x="1448017" y="74428"/>
                </a:cubicBezTo>
                <a:cubicBezTo>
                  <a:pt x="1253976" y="104280"/>
                  <a:pt x="943103" y="123404"/>
                  <a:pt x="735636" y="138223"/>
                </a:cubicBezTo>
                <a:cubicBezTo>
                  <a:pt x="703738" y="148856"/>
                  <a:pt x="673109" y="164593"/>
                  <a:pt x="639943" y="170121"/>
                </a:cubicBezTo>
                <a:cubicBezTo>
                  <a:pt x="515057" y="190935"/>
                  <a:pt x="505162" y="184283"/>
                  <a:pt x="406026" y="170121"/>
                </a:cubicBezTo>
                <a:cubicBezTo>
                  <a:pt x="348468" y="174548"/>
                  <a:pt x="261673" y="169983"/>
                  <a:pt x="204008" y="202019"/>
                </a:cubicBezTo>
                <a:cubicBezTo>
                  <a:pt x="190864" y="209321"/>
                  <a:pt x="184621" y="225575"/>
                  <a:pt x="172110" y="233916"/>
                </a:cubicBezTo>
                <a:cubicBezTo>
                  <a:pt x="162784" y="240133"/>
                  <a:pt x="150706" y="240614"/>
                  <a:pt x="140212" y="244549"/>
                </a:cubicBezTo>
                <a:cubicBezTo>
                  <a:pt x="122341" y="251251"/>
                  <a:pt x="104921" y="259113"/>
                  <a:pt x="87050" y="265814"/>
                </a:cubicBezTo>
                <a:cubicBezTo>
                  <a:pt x="55709" y="277567"/>
                  <a:pt x="69329" y="265814"/>
                  <a:pt x="65785" y="265814"/>
                </a:cubicBezTo>
                <a:close/>
              </a:path>
            </a:pathLst>
          </a:custGeom>
          <a:solidFill>
            <a:srgbClr val="EBD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Forme libre : forme 20">
            <a:extLst>
              <a:ext uri="{FF2B5EF4-FFF2-40B4-BE49-F238E27FC236}">
                <a16:creationId xmlns:a16="http://schemas.microsoft.com/office/drawing/2014/main" id="{A50BEE29-BF65-4FDB-B2D5-9E2009559F3A}"/>
              </a:ext>
            </a:extLst>
          </p:cNvPr>
          <p:cNvSpPr/>
          <p:nvPr/>
        </p:nvSpPr>
        <p:spPr>
          <a:xfrm>
            <a:off x="8218967" y="4458591"/>
            <a:ext cx="1786270" cy="2133595"/>
          </a:xfrm>
          <a:custGeom>
            <a:avLst/>
            <a:gdLst>
              <a:gd name="connsiteX0" fmla="*/ 0 w 1786270"/>
              <a:gd name="connsiteY0" fmla="*/ 1782721 h 2183900"/>
              <a:gd name="connsiteX1" fmla="*/ 0 w 1786270"/>
              <a:gd name="connsiteY1" fmla="*/ 1782721 h 2183900"/>
              <a:gd name="connsiteX2" fmla="*/ 10633 w 1786270"/>
              <a:gd name="connsiteY2" fmla="*/ 1920944 h 2183900"/>
              <a:gd name="connsiteX3" fmla="*/ 21266 w 1786270"/>
              <a:gd name="connsiteY3" fmla="*/ 1963474 h 2183900"/>
              <a:gd name="connsiteX4" fmla="*/ 95693 w 1786270"/>
              <a:gd name="connsiteY4" fmla="*/ 1984739 h 2183900"/>
              <a:gd name="connsiteX5" fmla="*/ 138224 w 1786270"/>
              <a:gd name="connsiteY5" fmla="*/ 2027269 h 2183900"/>
              <a:gd name="connsiteX6" fmla="*/ 180754 w 1786270"/>
              <a:gd name="connsiteY6" fmla="*/ 2037902 h 2183900"/>
              <a:gd name="connsiteX7" fmla="*/ 244549 w 1786270"/>
              <a:gd name="connsiteY7" fmla="*/ 2069800 h 2183900"/>
              <a:gd name="connsiteX8" fmla="*/ 659219 w 1786270"/>
              <a:gd name="connsiteY8" fmla="*/ 2101697 h 2183900"/>
              <a:gd name="connsiteX9" fmla="*/ 829340 w 1786270"/>
              <a:gd name="connsiteY9" fmla="*/ 2165493 h 2183900"/>
              <a:gd name="connsiteX10" fmla="*/ 1041991 w 1786270"/>
              <a:gd name="connsiteY10" fmla="*/ 2144228 h 2183900"/>
              <a:gd name="connsiteX11" fmla="*/ 1127052 w 1786270"/>
              <a:gd name="connsiteY11" fmla="*/ 2133595 h 2183900"/>
              <a:gd name="connsiteX12" fmla="*/ 1201480 w 1786270"/>
              <a:gd name="connsiteY12" fmla="*/ 2122962 h 2183900"/>
              <a:gd name="connsiteX13" fmla="*/ 1360968 w 1786270"/>
              <a:gd name="connsiteY13" fmla="*/ 2080432 h 2183900"/>
              <a:gd name="connsiteX14" fmla="*/ 1414131 w 1786270"/>
              <a:gd name="connsiteY14" fmla="*/ 2069800 h 2183900"/>
              <a:gd name="connsiteX15" fmla="*/ 1605517 w 1786270"/>
              <a:gd name="connsiteY15" fmla="*/ 2059167 h 2183900"/>
              <a:gd name="connsiteX16" fmla="*/ 1733107 w 1786270"/>
              <a:gd name="connsiteY16" fmla="*/ 1931576 h 2183900"/>
              <a:gd name="connsiteX17" fmla="*/ 1754373 w 1786270"/>
              <a:gd name="connsiteY17" fmla="*/ 1889046 h 2183900"/>
              <a:gd name="connsiteX18" fmla="*/ 1775638 w 1786270"/>
              <a:gd name="connsiteY18" fmla="*/ 1857149 h 2183900"/>
              <a:gd name="connsiteX19" fmla="*/ 1786270 w 1786270"/>
              <a:gd name="connsiteY19" fmla="*/ 1697660 h 2183900"/>
              <a:gd name="connsiteX20" fmla="*/ 1775638 w 1786270"/>
              <a:gd name="connsiteY20" fmla="*/ 1410581 h 2183900"/>
              <a:gd name="connsiteX21" fmla="*/ 1754373 w 1786270"/>
              <a:gd name="connsiteY21" fmla="*/ 1272358 h 2183900"/>
              <a:gd name="connsiteX22" fmla="*/ 1743740 w 1786270"/>
              <a:gd name="connsiteY22" fmla="*/ 921483 h 2183900"/>
              <a:gd name="connsiteX23" fmla="*/ 1754373 w 1786270"/>
              <a:gd name="connsiteY23" fmla="*/ 591874 h 2183900"/>
              <a:gd name="connsiteX24" fmla="*/ 1765005 w 1786270"/>
              <a:gd name="connsiteY24" fmla="*/ 198469 h 2183900"/>
              <a:gd name="connsiteX25" fmla="*/ 1743740 w 1786270"/>
              <a:gd name="connsiteY25" fmla="*/ 102776 h 2183900"/>
              <a:gd name="connsiteX26" fmla="*/ 1711842 w 1786270"/>
              <a:gd name="connsiteY26" fmla="*/ 81511 h 2183900"/>
              <a:gd name="connsiteX27" fmla="*/ 1626782 w 1786270"/>
              <a:gd name="connsiteY27" fmla="*/ 49614 h 2183900"/>
              <a:gd name="connsiteX28" fmla="*/ 1329070 w 1786270"/>
              <a:gd name="connsiteY28" fmla="*/ 28349 h 2183900"/>
              <a:gd name="connsiteX29" fmla="*/ 1158949 w 1786270"/>
              <a:gd name="connsiteY29" fmla="*/ 17716 h 2183900"/>
              <a:gd name="connsiteX30" fmla="*/ 925033 w 1786270"/>
              <a:gd name="connsiteY30" fmla="*/ 17716 h 2183900"/>
              <a:gd name="connsiteX31" fmla="*/ 839973 w 1786270"/>
              <a:gd name="connsiteY31" fmla="*/ 49614 h 2183900"/>
              <a:gd name="connsiteX32" fmla="*/ 808075 w 1786270"/>
              <a:gd name="connsiteY32" fmla="*/ 60246 h 2183900"/>
              <a:gd name="connsiteX33" fmla="*/ 754912 w 1786270"/>
              <a:gd name="connsiteY33" fmla="*/ 81511 h 2183900"/>
              <a:gd name="connsiteX34" fmla="*/ 584791 w 1786270"/>
              <a:gd name="connsiteY34" fmla="*/ 113409 h 2183900"/>
              <a:gd name="connsiteX35" fmla="*/ 489098 w 1786270"/>
              <a:gd name="connsiteY35" fmla="*/ 177204 h 2183900"/>
              <a:gd name="connsiteX36" fmla="*/ 340242 w 1786270"/>
              <a:gd name="connsiteY36" fmla="*/ 272897 h 2183900"/>
              <a:gd name="connsiteX37" fmla="*/ 212652 w 1786270"/>
              <a:gd name="connsiteY37" fmla="*/ 326060 h 2183900"/>
              <a:gd name="connsiteX38" fmla="*/ 180754 w 1786270"/>
              <a:gd name="connsiteY38" fmla="*/ 411121 h 2183900"/>
              <a:gd name="connsiteX39" fmla="*/ 212652 w 1786270"/>
              <a:gd name="connsiteY39" fmla="*/ 485549 h 2183900"/>
              <a:gd name="connsiteX40" fmla="*/ 223284 w 1786270"/>
              <a:gd name="connsiteY40" fmla="*/ 517446 h 2183900"/>
              <a:gd name="connsiteX41" fmla="*/ 233917 w 1786270"/>
              <a:gd name="connsiteY41" fmla="*/ 559976 h 2183900"/>
              <a:gd name="connsiteX42" fmla="*/ 255182 w 1786270"/>
              <a:gd name="connsiteY42" fmla="*/ 581242 h 2183900"/>
              <a:gd name="connsiteX43" fmla="*/ 287080 w 1786270"/>
              <a:gd name="connsiteY43" fmla="*/ 623772 h 2183900"/>
              <a:gd name="connsiteX44" fmla="*/ 297712 w 1786270"/>
              <a:gd name="connsiteY44" fmla="*/ 666302 h 2183900"/>
              <a:gd name="connsiteX45" fmla="*/ 457200 w 1786270"/>
              <a:gd name="connsiteY45" fmla="*/ 698200 h 2183900"/>
              <a:gd name="connsiteX46" fmla="*/ 552893 w 1786270"/>
              <a:gd name="connsiteY46" fmla="*/ 708832 h 2183900"/>
              <a:gd name="connsiteX47" fmla="*/ 584791 w 1786270"/>
              <a:gd name="connsiteY47" fmla="*/ 719465 h 2183900"/>
              <a:gd name="connsiteX48" fmla="*/ 627321 w 1786270"/>
              <a:gd name="connsiteY48" fmla="*/ 730097 h 2183900"/>
              <a:gd name="connsiteX49" fmla="*/ 712382 w 1786270"/>
              <a:gd name="connsiteY49" fmla="*/ 783260 h 2183900"/>
              <a:gd name="connsiteX50" fmla="*/ 733647 w 1786270"/>
              <a:gd name="connsiteY50" fmla="*/ 1059707 h 2183900"/>
              <a:gd name="connsiteX51" fmla="*/ 712382 w 1786270"/>
              <a:gd name="connsiteY51" fmla="*/ 1134135 h 2183900"/>
              <a:gd name="connsiteX52" fmla="*/ 680484 w 1786270"/>
              <a:gd name="connsiteY52" fmla="*/ 1144767 h 2183900"/>
              <a:gd name="connsiteX53" fmla="*/ 542261 w 1786270"/>
              <a:gd name="connsiteY53" fmla="*/ 1155400 h 2183900"/>
              <a:gd name="connsiteX54" fmla="*/ 510363 w 1786270"/>
              <a:gd name="connsiteY54" fmla="*/ 1176665 h 2183900"/>
              <a:gd name="connsiteX55" fmla="*/ 478466 w 1786270"/>
              <a:gd name="connsiteY55" fmla="*/ 1187297 h 2183900"/>
              <a:gd name="connsiteX56" fmla="*/ 457200 w 1786270"/>
              <a:gd name="connsiteY56" fmla="*/ 1229828 h 2183900"/>
              <a:gd name="connsiteX57" fmla="*/ 446568 w 1786270"/>
              <a:gd name="connsiteY57" fmla="*/ 1399949 h 2183900"/>
              <a:gd name="connsiteX58" fmla="*/ 425303 w 1786270"/>
              <a:gd name="connsiteY58" fmla="*/ 1442479 h 2183900"/>
              <a:gd name="connsiteX59" fmla="*/ 414670 w 1786270"/>
              <a:gd name="connsiteY59" fmla="*/ 1485009 h 2183900"/>
              <a:gd name="connsiteX60" fmla="*/ 499731 w 1786270"/>
              <a:gd name="connsiteY60" fmla="*/ 1538172 h 2183900"/>
              <a:gd name="connsiteX61" fmla="*/ 489098 w 1786270"/>
              <a:gd name="connsiteY61" fmla="*/ 1570069 h 2183900"/>
              <a:gd name="connsiteX62" fmla="*/ 382773 w 1786270"/>
              <a:gd name="connsiteY62" fmla="*/ 1633865 h 2183900"/>
              <a:gd name="connsiteX63" fmla="*/ 202019 w 1786270"/>
              <a:gd name="connsiteY63" fmla="*/ 1655130 h 2183900"/>
              <a:gd name="connsiteX64" fmla="*/ 116959 w 1786270"/>
              <a:gd name="connsiteY64" fmla="*/ 1708293 h 2183900"/>
              <a:gd name="connsiteX65" fmla="*/ 53163 w 1786270"/>
              <a:gd name="connsiteY65" fmla="*/ 1750823 h 2183900"/>
              <a:gd name="connsiteX66" fmla="*/ 21266 w 1786270"/>
              <a:gd name="connsiteY66" fmla="*/ 1772088 h 2183900"/>
              <a:gd name="connsiteX67" fmla="*/ 0 w 1786270"/>
              <a:gd name="connsiteY67" fmla="*/ 1782721 h 218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786270" h="2183900">
                <a:moveTo>
                  <a:pt x="0" y="1782721"/>
                </a:moveTo>
                <a:lnTo>
                  <a:pt x="0" y="1782721"/>
                </a:lnTo>
                <a:cubicBezTo>
                  <a:pt x="3544" y="1828795"/>
                  <a:pt x="5233" y="1875050"/>
                  <a:pt x="10633" y="1920944"/>
                </a:cubicBezTo>
                <a:cubicBezTo>
                  <a:pt x="12340" y="1935457"/>
                  <a:pt x="9576" y="1954706"/>
                  <a:pt x="21266" y="1963474"/>
                </a:cubicBezTo>
                <a:cubicBezTo>
                  <a:pt x="41907" y="1978955"/>
                  <a:pt x="70884" y="1977651"/>
                  <a:pt x="95693" y="1984739"/>
                </a:cubicBezTo>
                <a:cubicBezTo>
                  <a:pt x="109870" y="1998916"/>
                  <a:pt x="121222" y="2016643"/>
                  <a:pt x="138224" y="2027269"/>
                </a:cubicBezTo>
                <a:cubicBezTo>
                  <a:pt x="150616" y="2035014"/>
                  <a:pt x="167186" y="2032475"/>
                  <a:pt x="180754" y="2037902"/>
                </a:cubicBezTo>
                <a:cubicBezTo>
                  <a:pt x="202829" y="2046732"/>
                  <a:pt x="220982" y="2066658"/>
                  <a:pt x="244549" y="2069800"/>
                </a:cubicBezTo>
                <a:cubicBezTo>
                  <a:pt x="381965" y="2088122"/>
                  <a:pt x="520996" y="2091065"/>
                  <a:pt x="659219" y="2101697"/>
                </a:cubicBezTo>
                <a:cubicBezTo>
                  <a:pt x="715926" y="2122962"/>
                  <a:pt x="769460" y="2156420"/>
                  <a:pt x="829340" y="2165493"/>
                </a:cubicBezTo>
                <a:cubicBezTo>
                  <a:pt x="1118371" y="2209286"/>
                  <a:pt x="934806" y="2163716"/>
                  <a:pt x="1041991" y="2144228"/>
                </a:cubicBezTo>
                <a:cubicBezTo>
                  <a:pt x="1070104" y="2139117"/>
                  <a:pt x="1098728" y="2137372"/>
                  <a:pt x="1127052" y="2133595"/>
                </a:cubicBezTo>
                <a:lnTo>
                  <a:pt x="1201480" y="2122962"/>
                </a:lnTo>
                <a:cubicBezTo>
                  <a:pt x="1261689" y="2102893"/>
                  <a:pt x="1274442" y="2097736"/>
                  <a:pt x="1360968" y="2080432"/>
                </a:cubicBezTo>
                <a:cubicBezTo>
                  <a:pt x="1378689" y="2076888"/>
                  <a:pt x="1396127" y="2071366"/>
                  <a:pt x="1414131" y="2069800"/>
                </a:cubicBezTo>
                <a:cubicBezTo>
                  <a:pt x="1477785" y="2064265"/>
                  <a:pt x="1541722" y="2062711"/>
                  <a:pt x="1605517" y="2059167"/>
                </a:cubicBezTo>
                <a:cubicBezTo>
                  <a:pt x="1669639" y="2016419"/>
                  <a:pt x="1656662" y="2028869"/>
                  <a:pt x="1733107" y="1931576"/>
                </a:cubicBezTo>
                <a:cubicBezTo>
                  <a:pt x="1742900" y="1919113"/>
                  <a:pt x="1746509" y="1902808"/>
                  <a:pt x="1754373" y="1889046"/>
                </a:cubicBezTo>
                <a:cubicBezTo>
                  <a:pt x="1760713" y="1877951"/>
                  <a:pt x="1768550" y="1867781"/>
                  <a:pt x="1775638" y="1857149"/>
                </a:cubicBezTo>
                <a:cubicBezTo>
                  <a:pt x="1779182" y="1803986"/>
                  <a:pt x="1786270" y="1750941"/>
                  <a:pt x="1786270" y="1697660"/>
                </a:cubicBezTo>
                <a:cubicBezTo>
                  <a:pt x="1786270" y="1601901"/>
                  <a:pt x="1781261" y="1506174"/>
                  <a:pt x="1775638" y="1410581"/>
                </a:cubicBezTo>
                <a:cubicBezTo>
                  <a:pt x="1774395" y="1389448"/>
                  <a:pt x="1758425" y="1296669"/>
                  <a:pt x="1754373" y="1272358"/>
                </a:cubicBezTo>
                <a:cubicBezTo>
                  <a:pt x="1750829" y="1155400"/>
                  <a:pt x="1743740" y="1038495"/>
                  <a:pt x="1743740" y="921483"/>
                </a:cubicBezTo>
                <a:cubicBezTo>
                  <a:pt x="1743740" y="811556"/>
                  <a:pt x="1751141" y="701753"/>
                  <a:pt x="1754373" y="591874"/>
                </a:cubicBezTo>
                <a:cubicBezTo>
                  <a:pt x="1758230" y="460748"/>
                  <a:pt x="1761461" y="329604"/>
                  <a:pt x="1765005" y="198469"/>
                </a:cubicBezTo>
                <a:cubicBezTo>
                  <a:pt x="1757917" y="166571"/>
                  <a:pt x="1757261" y="132523"/>
                  <a:pt x="1743740" y="102776"/>
                </a:cubicBezTo>
                <a:cubicBezTo>
                  <a:pt x="1738452" y="91143"/>
                  <a:pt x="1723475" y="86799"/>
                  <a:pt x="1711842" y="81511"/>
                </a:cubicBezTo>
                <a:cubicBezTo>
                  <a:pt x="1684275" y="68981"/>
                  <a:pt x="1655509" y="59190"/>
                  <a:pt x="1626782" y="49614"/>
                </a:cubicBezTo>
                <a:cubicBezTo>
                  <a:pt x="1537093" y="19718"/>
                  <a:pt x="1392421" y="31517"/>
                  <a:pt x="1329070" y="28349"/>
                </a:cubicBezTo>
                <a:cubicBezTo>
                  <a:pt x="1272323" y="25512"/>
                  <a:pt x="1215656" y="21260"/>
                  <a:pt x="1158949" y="17716"/>
                </a:cubicBezTo>
                <a:cubicBezTo>
                  <a:pt x="1065898" y="-5548"/>
                  <a:pt x="1080879" y="-6261"/>
                  <a:pt x="925033" y="17716"/>
                </a:cubicBezTo>
                <a:cubicBezTo>
                  <a:pt x="895104" y="22321"/>
                  <a:pt x="868431" y="39266"/>
                  <a:pt x="839973" y="49614"/>
                </a:cubicBezTo>
                <a:cubicBezTo>
                  <a:pt x="829440" y="53444"/>
                  <a:pt x="818569" y="56311"/>
                  <a:pt x="808075" y="60246"/>
                </a:cubicBezTo>
                <a:cubicBezTo>
                  <a:pt x="790204" y="66947"/>
                  <a:pt x="773479" y="77090"/>
                  <a:pt x="754912" y="81511"/>
                </a:cubicBezTo>
                <a:cubicBezTo>
                  <a:pt x="698786" y="94874"/>
                  <a:pt x="641498" y="102776"/>
                  <a:pt x="584791" y="113409"/>
                </a:cubicBezTo>
                <a:cubicBezTo>
                  <a:pt x="511653" y="186547"/>
                  <a:pt x="604966" y="99958"/>
                  <a:pt x="489098" y="177204"/>
                </a:cubicBezTo>
                <a:cubicBezTo>
                  <a:pt x="404819" y="233390"/>
                  <a:pt x="445631" y="237767"/>
                  <a:pt x="340242" y="272897"/>
                </a:cubicBezTo>
                <a:cubicBezTo>
                  <a:pt x="232426" y="308836"/>
                  <a:pt x="272525" y="286144"/>
                  <a:pt x="212652" y="326060"/>
                </a:cubicBezTo>
                <a:cubicBezTo>
                  <a:pt x="204740" y="341884"/>
                  <a:pt x="176893" y="389886"/>
                  <a:pt x="180754" y="411121"/>
                </a:cubicBezTo>
                <a:cubicBezTo>
                  <a:pt x="185583" y="437677"/>
                  <a:pt x="202628" y="460488"/>
                  <a:pt x="212652" y="485549"/>
                </a:cubicBezTo>
                <a:cubicBezTo>
                  <a:pt x="216814" y="495955"/>
                  <a:pt x="220205" y="506670"/>
                  <a:pt x="223284" y="517446"/>
                </a:cubicBezTo>
                <a:cubicBezTo>
                  <a:pt x="227299" y="531497"/>
                  <a:pt x="227382" y="546906"/>
                  <a:pt x="233917" y="559976"/>
                </a:cubicBezTo>
                <a:cubicBezTo>
                  <a:pt x="238400" y="568942"/>
                  <a:pt x="248764" y="573541"/>
                  <a:pt x="255182" y="581242"/>
                </a:cubicBezTo>
                <a:cubicBezTo>
                  <a:pt x="266527" y="594856"/>
                  <a:pt x="276447" y="609595"/>
                  <a:pt x="287080" y="623772"/>
                </a:cubicBezTo>
                <a:cubicBezTo>
                  <a:pt x="290624" y="637949"/>
                  <a:pt x="289606" y="654143"/>
                  <a:pt x="297712" y="666302"/>
                </a:cubicBezTo>
                <a:cubicBezTo>
                  <a:pt x="325488" y="707965"/>
                  <a:pt x="449235" y="697441"/>
                  <a:pt x="457200" y="698200"/>
                </a:cubicBezTo>
                <a:cubicBezTo>
                  <a:pt x="489149" y="701243"/>
                  <a:pt x="520995" y="705288"/>
                  <a:pt x="552893" y="708832"/>
                </a:cubicBezTo>
                <a:cubicBezTo>
                  <a:pt x="563526" y="712376"/>
                  <a:pt x="574014" y="716386"/>
                  <a:pt x="584791" y="719465"/>
                </a:cubicBezTo>
                <a:cubicBezTo>
                  <a:pt x="598842" y="723479"/>
                  <a:pt x="614929" y="722352"/>
                  <a:pt x="627321" y="730097"/>
                </a:cubicBezTo>
                <a:cubicBezTo>
                  <a:pt x="733048" y="796176"/>
                  <a:pt x="611872" y="758134"/>
                  <a:pt x="712382" y="783260"/>
                </a:cubicBezTo>
                <a:cubicBezTo>
                  <a:pt x="813034" y="850361"/>
                  <a:pt x="758683" y="801004"/>
                  <a:pt x="733647" y="1059707"/>
                </a:cubicBezTo>
                <a:cubicBezTo>
                  <a:pt x="731162" y="1085389"/>
                  <a:pt x="726057" y="1112255"/>
                  <a:pt x="712382" y="1134135"/>
                </a:cubicBezTo>
                <a:cubicBezTo>
                  <a:pt x="706442" y="1143639"/>
                  <a:pt x="691605" y="1143377"/>
                  <a:pt x="680484" y="1144767"/>
                </a:cubicBezTo>
                <a:cubicBezTo>
                  <a:pt x="634630" y="1150499"/>
                  <a:pt x="588335" y="1151856"/>
                  <a:pt x="542261" y="1155400"/>
                </a:cubicBezTo>
                <a:cubicBezTo>
                  <a:pt x="531628" y="1162488"/>
                  <a:pt x="521793" y="1170950"/>
                  <a:pt x="510363" y="1176665"/>
                </a:cubicBezTo>
                <a:cubicBezTo>
                  <a:pt x="500339" y="1181677"/>
                  <a:pt x="486391" y="1179372"/>
                  <a:pt x="478466" y="1187297"/>
                </a:cubicBezTo>
                <a:cubicBezTo>
                  <a:pt x="467258" y="1198505"/>
                  <a:pt x="464289" y="1215651"/>
                  <a:pt x="457200" y="1229828"/>
                </a:cubicBezTo>
                <a:cubicBezTo>
                  <a:pt x="453656" y="1286535"/>
                  <a:pt x="454996" y="1343760"/>
                  <a:pt x="446568" y="1399949"/>
                </a:cubicBezTo>
                <a:cubicBezTo>
                  <a:pt x="444217" y="1415624"/>
                  <a:pt x="430868" y="1427638"/>
                  <a:pt x="425303" y="1442479"/>
                </a:cubicBezTo>
                <a:cubicBezTo>
                  <a:pt x="420172" y="1456162"/>
                  <a:pt x="418214" y="1470832"/>
                  <a:pt x="414670" y="1485009"/>
                </a:cubicBezTo>
                <a:cubicBezTo>
                  <a:pt x="476396" y="1608462"/>
                  <a:pt x="378380" y="1441092"/>
                  <a:pt x="499731" y="1538172"/>
                </a:cubicBezTo>
                <a:cubicBezTo>
                  <a:pt x="508483" y="1545173"/>
                  <a:pt x="497772" y="1562972"/>
                  <a:pt x="489098" y="1570069"/>
                </a:cubicBezTo>
                <a:cubicBezTo>
                  <a:pt x="457109" y="1596242"/>
                  <a:pt x="423302" y="1625760"/>
                  <a:pt x="382773" y="1633865"/>
                </a:cubicBezTo>
                <a:cubicBezTo>
                  <a:pt x="287761" y="1652866"/>
                  <a:pt x="347619" y="1642996"/>
                  <a:pt x="202019" y="1655130"/>
                </a:cubicBezTo>
                <a:cubicBezTo>
                  <a:pt x="100998" y="1695538"/>
                  <a:pt x="189057" y="1652217"/>
                  <a:pt x="116959" y="1708293"/>
                </a:cubicBezTo>
                <a:cubicBezTo>
                  <a:pt x="96785" y="1723984"/>
                  <a:pt x="74428" y="1736646"/>
                  <a:pt x="53163" y="1750823"/>
                </a:cubicBezTo>
                <a:cubicBezTo>
                  <a:pt x="42531" y="1757911"/>
                  <a:pt x="21266" y="1759309"/>
                  <a:pt x="21266" y="1772088"/>
                </a:cubicBezTo>
                <a:lnTo>
                  <a:pt x="0" y="1782721"/>
                </a:lnTo>
                <a:close/>
              </a:path>
            </a:pathLst>
          </a:custGeom>
          <a:solidFill>
            <a:srgbClr val="EBD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Forme libre : forme 21">
            <a:extLst>
              <a:ext uri="{FF2B5EF4-FFF2-40B4-BE49-F238E27FC236}">
                <a16:creationId xmlns:a16="http://schemas.microsoft.com/office/drawing/2014/main" id="{E777396A-E809-4DA8-B764-E2B88F1BCEB6}"/>
              </a:ext>
            </a:extLst>
          </p:cNvPr>
          <p:cNvSpPr/>
          <p:nvPr/>
        </p:nvSpPr>
        <p:spPr>
          <a:xfrm>
            <a:off x="7333808" y="5018567"/>
            <a:ext cx="1469950" cy="1031359"/>
          </a:xfrm>
          <a:custGeom>
            <a:avLst/>
            <a:gdLst>
              <a:gd name="connsiteX0" fmla="*/ 2657 w 1469950"/>
              <a:gd name="connsiteY0" fmla="*/ 467833 h 1031359"/>
              <a:gd name="connsiteX1" fmla="*/ 2657 w 1469950"/>
              <a:gd name="connsiteY1" fmla="*/ 467833 h 1031359"/>
              <a:gd name="connsiteX2" fmla="*/ 45187 w 1469950"/>
              <a:gd name="connsiteY2" fmla="*/ 233917 h 1031359"/>
              <a:gd name="connsiteX3" fmla="*/ 151513 w 1469950"/>
              <a:gd name="connsiteY3" fmla="*/ 95693 h 1031359"/>
              <a:gd name="connsiteX4" fmla="*/ 364164 w 1469950"/>
              <a:gd name="connsiteY4" fmla="*/ 0 h 1031359"/>
              <a:gd name="connsiteX5" fmla="*/ 778834 w 1469950"/>
              <a:gd name="connsiteY5" fmla="*/ 31898 h 1031359"/>
              <a:gd name="connsiteX6" fmla="*/ 917057 w 1469950"/>
              <a:gd name="connsiteY6" fmla="*/ 53163 h 1031359"/>
              <a:gd name="connsiteX7" fmla="*/ 1002118 w 1469950"/>
              <a:gd name="connsiteY7" fmla="*/ 95693 h 1031359"/>
              <a:gd name="connsiteX8" fmla="*/ 1097811 w 1469950"/>
              <a:gd name="connsiteY8" fmla="*/ 148856 h 1031359"/>
              <a:gd name="connsiteX9" fmla="*/ 1363625 w 1469950"/>
              <a:gd name="connsiteY9" fmla="*/ 159489 h 1031359"/>
              <a:gd name="connsiteX10" fmla="*/ 1406155 w 1469950"/>
              <a:gd name="connsiteY10" fmla="*/ 223284 h 1031359"/>
              <a:gd name="connsiteX11" fmla="*/ 1469950 w 1469950"/>
              <a:gd name="connsiteY11" fmla="*/ 287080 h 1031359"/>
              <a:gd name="connsiteX12" fmla="*/ 1406155 w 1469950"/>
              <a:gd name="connsiteY12" fmla="*/ 340242 h 1031359"/>
              <a:gd name="connsiteX13" fmla="*/ 1374257 w 1469950"/>
              <a:gd name="connsiteY13" fmla="*/ 361507 h 1031359"/>
              <a:gd name="connsiteX14" fmla="*/ 1384890 w 1469950"/>
              <a:gd name="connsiteY14" fmla="*/ 414670 h 1031359"/>
              <a:gd name="connsiteX15" fmla="*/ 1352992 w 1469950"/>
              <a:gd name="connsiteY15" fmla="*/ 606056 h 1031359"/>
              <a:gd name="connsiteX16" fmla="*/ 1342359 w 1469950"/>
              <a:gd name="connsiteY16" fmla="*/ 637954 h 1031359"/>
              <a:gd name="connsiteX17" fmla="*/ 1289197 w 1469950"/>
              <a:gd name="connsiteY17" fmla="*/ 669852 h 1031359"/>
              <a:gd name="connsiteX18" fmla="*/ 1225401 w 1469950"/>
              <a:gd name="connsiteY18" fmla="*/ 723014 h 1031359"/>
              <a:gd name="connsiteX19" fmla="*/ 1214769 w 1469950"/>
              <a:gd name="connsiteY19" fmla="*/ 765545 h 1031359"/>
              <a:gd name="connsiteX20" fmla="*/ 1193504 w 1469950"/>
              <a:gd name="connsiteY20" fmla="*/ 829340 h 1031359"/>
              <a:gd name="connsiteX21" fmla="*/ 1182871 w 1469950"/>
              <a:gd name="connsiteY21" fmla="*/ 871870 h 1031359"/>
              <a:gd name="connsiteX22" fmla="*/ 1161606 w 1469950"/>
              <a:gd name="connsiteY22" fmla="*/ 914400 h 1031359"/>
              <a:gd name="connsiteX23" fmla="*/ 1129708 w 1469950"/>
              <a:gd name="connsiteY23" fmla="*/ 978196 h 1031359"/>
              <a:gd name="connsiteX24" fmla="*/ 1097811 w 1469950"/>
              <a:gd name="connsiteY24" fmla="*/ 988828 h 1031359"/>
              <a:gd name="connsiteX25" fmla="*/ 874527 w 1469950"/>
              <a:gd name="connsiteY25" fmla="*/ 1010093 h 1031359"/>
              <a:gd name="connsiteX26" fmla="*/ 746936 w 1469950"/>
              <a:gd name="connsiteY26" fmla="*/ 1031359 h 1031359"/>
              <a:gd name="connsiteX27" fmla="*/ 523652 w 1469950"/>
              <a:gd name="connsiteY27" fmla="*/ 1020726 h 1031359"/>
              <a:gd name="connsiteX28" fmla="*/ 449225 w 1469950"/>
              <a:gd name="connsiteY28" fmla="*/ 1010093 h 1031359"/>
              <a:gd name="connsiteX29" fmla="*/ 311001 w 1469950"/>
              <a:gd name="connsiteY29" fmla="*/ 999461 h 1031359"/>
              <a:gd name="connsiteX30" fmla="*/ 247206 w 1469950"/>
              <a:gd name="connsiteY30" fmla="*/ 988828 h 1031359"/>
              <a:gd name="connsiteX31" fmla="*/ 204676 w 1469950"/>
              <a:gd name="connsiteY31" fmla="*/ 967563 h 1031359"/>
              <a:gd name="connsiteX32" fmla="*/ 98350 w 1469950"/>
              <a:gd name="connsiteY32" fmla="*/ 935666 h 1031359"/>
              <a:gd name="connsiteX33" fmla="*/ 66452 w 1469950"/>
              <a:gd name="connsiteY33" fmla="*/ 914400 h 1031359"/>
              <a:gd name="connsiteX34" fmla="*/ 55820 w 1469950"/>
              <a:gd name="connsiteY34" fmla="*/ 850605 h 1031359"/>
              <a:gd name="connsiteX35" fmla="*/ 34555 w 1469950"/>
              <a:gd name="connsiteY35" fmla="*/ 786810 h 1031359"/>
              <a:gd name="connsiteX36" fmla="*/ 23922 w 1469950"/>
              <a:gd name="connsiteY36" fmla="*/ 701749 h 1031359"/>
              <a:gd name="connsiteX37" fmla="*/ 2657 w 1469950"/>
              <a:gd name="connsiteY37" fmla="*/ 659219 h 1031359"/>
              <a:gd name="connsiteX38" fmla="*/ 2657 w 1469950"/>
              <a:gd name="connsiteY38" fmla="*/ 467833 h 1031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69950" h="1031359">
                <a:moveTo>
                  <a:pt x="2657" y="467833"/>
                </a:moveTo>
                <a:lnTo>
                  <a:pt x="2657" y="467833"/>
                </a:lnTo>
                <a:cubicBezTo>
                  <a:pt x="16834" y="389861"/>
                  <a:pt x="15754" y="307499"/>
                  <a:pt x="45187" y="233917"/>
                </a:cubicBezTo>
                <a:cubicBezTo>
                  <a:pt x="66776" y="179945"/>
                  <a:pt x="106857" y="132906"/>
                  <a:pt x="151513" y="95693"/>
                </a:cubicBezTo>
                <a:cubicBezTo>
                  <a:pt x="207809" y="48780"/>
                  <a:pt x="293242" y="23642"/>
                  <a:pt x="364164" y="0"/>
                </a:cubicBezTo>
                <a:cubicBezTo>
                  <a:pt x="548691" y="36907"/>
                  <a:pt x="312468" y="-7793"/>
                  <a:pt x="778834" y="31898"/>
                </a:cubicBezTo>
                <a:cubicBezTo>
                  <a:pt x="825282" y="35851"/>
                  <a:pt x="870983" y="46075"/>
                  <a:pt x="917057" y="53163"/>
                </a:cubicBezTo>
                <a:cubicBezTo>
                  <a:pt x="945411" y="67340"/>
                  <a:pt x="974736" y="79720"/>
                  <a:pt x="1002118" y="95693"/>
                </a:cubicBezTo>
                <a:cubicBezTo>
                  <a:pt x="1112464" y="160062"/>
                  <a:pt x="971599" y="98372"/>
                  <a:pt x="1097811" y="148856"/>
                </a:cubicBezTo>
                <a:cubicBezTo>
                  <a:pt x="1186069" y="140031"/>
                  <a:pt x="1276394" y="122761"/>
                  <a:pt x="1363625" y="159489"/>
                </a:cubicBezTo>
                <a:cubicBezTo>
                  <a:pt x="1387180" y="169407"/>
                  <a:pt x="1391978" y="202019"/>
                  <a:pt x="1406155" y="223284"/>
                </a:cubicBezTo>
                <a:cubicBezTo>
                  <a:pt x="1437250" y="269927"/>
                  <a:pt x="1417196" y="247514"/>
                  <a:pt x="1469950" y="287080"/>
                </a:cubicBezTo>
                <a:cubicBezTo>
                  <a:pt x="1448685" y="304801"/>
                  <a:pt x="1428005" y="323248"/>
                  <a:pt x="1406155" y="340242"/>
                </a:cubicBezTo>
                <a:cubicBezTo>
                  <a:pt x="1396068" y="348087"/>
                  <a:pt x="1377768" y="349220"/>
                  <a:pt x="1374257" y="361507"/>
                </a:cubicBezTo>
                <a:cubicBezTo>
                  <a:pt x="1369292" y="378884"/>
                  <a:pt x="1381346" y="396949"/>
                  <a:pt x="1384890" y="414670"/>
                </a:cubicBezTo>
                <a:cubicBezTo>
                  <a:pt x="1374257" y="478465"/>
                  <a:pt x="1365094" y="542523"/>
                  <a:pt x="1352992" y="606056"/>
                </a:cubicBezTo>
                <a:cubicBezTo>
                  <a:pt x="1350895" y="617066"/>
                  <a:pt x="1350284" y="630029"/>
                  <a:pt x="1342359" y="637954"/>
                </a:cubicBezTo>
                <a:cubicBezTo>
                  <a:pt x="1327746" y="652567"/>
                  <a:pt x="1305730" y="657453"/>
                  <a:pt x="1289197" y="669852"/>
                </a:cubicBezTo>
                <a:cubicBezTo>
                  <a:pt x="1125491" y="792631"/>
                  <a:pt x="1374147" y="623851"/>
                  <a:pt x="1225401" y="723014"/>
                </a:cubicBezTo>
                <a:cubicBezTo>
                  <a:pt x="1221857" y="737191"/>
                  <a:pt x="1218968" y="751548"/>
                  <a:pt x="1214769" y="765545"/>
                </a:cubicBezTo>
                <a:cubicBezTo>
                  <a:pt x="1208328" y="787015"/>
                  <a:pt x="1198941" y="807594"/>
                  <a:pt x="1193504" y="829340"/>
                </a:cubicBezTo>
                <a:cubicBezTo>
                  <a:pt x="1189960" y="843517"/>
                  <a:pt x="1188002" y="858187"/>
                  <a:pt x="1182871" y="871870"/>
                </a:cubicBezTo>
                <a:cubicBezTo>
                  <a:pt x="1177306" y="886711"/>
                  <a:pt x="1167850" y="899832"/>
                  <a:pt x="1161606" y="914400"/>
                </a:cubicBezTo>
                <a:cubicBezTo>
                  <a:pt x="1151557" y="937848"/>
                  <a:pt x="1151917" y="960429"/>
                  <a:pt x="1129708" y="978196"/>
                </a:cubicBezTo>
                <a:cubicBezTo>
                  <a:pt x="1120957" y="985197"/>
                  <a:pt x="1108932" y="987438"/>
                  <a:pt x="1097811" y="988828"/>
                </a:cubicBezTo>
                <a:cubicBezTo>
                  <a:pt x="1023624" y="998101"/>
                  <a:pt x="948749" y="1001096"/>
                  <a:pt x="874527" y="1010093"/>
                </a:cubicBezTo>
                <a:cubicBezTo>
                  <a:pt x="831723" y="1015281"/>
                  <a:pt x="746936" y="1031359"/>
                  <a:pt x="746936" y="1031359"/>
                </a:cubicBezTo>
                <a:cubicBezTo>
                  <a:pt x="538035" y="989577"/>
                  <a:pt x="746130" y="1020726"/>
                  <a:pt x="523652" y="1020726"/>
                </a:cubicBezTo>
                <a:cubicBezTo>
                  <a:pt x="498591" y="1020726"/>
                  <a:pt x="474162" y="1012587"/>
                  <a:pt x="449225" y="1010093"/>
                </a:cubicBezTo>
                <a:cubicBezTo>
                  <a:pt x="403244" y="1005495"/>
                  <a:pt x="357076" y="1003005"/>
                  <a:pt x="311001" y="999461"/>
                </a:cubicBezTo>
                <a:cubicBezTo>
                  <a:pt x="289736" y="995917"/>
                  <a:pt x="267855" y="995023"/>
                  <a:pt x="247206" y="988828"/>
                </a:cubicBezTo>
                <a:cubicBezTo>
                  <a:pt x="232024" y="984273"/>
                  <a:pt x="219392" y="973449"/>
                  <a:pt x="204676" y="967563"/>
                </a:cubicBezTo>
                <a:cubicBezTo>
                  <a:pt x="161531" y="950305"/>
                  <a:pt x="140126" y="946110"/>
                  <a:pt x="98350" y="935666"/>
                </a:cubicBezTo>
                <a:cubicBezTo>
                  <a:pt x="87717" y="928577"/>
                  <a:pt x="72167" y="925830"/>
                  <a:pt x="66452" y="914400"/>
                </a:cubicBezTo>
                <a:cubicBezTo>
                  <a:pt x="56811" y="895118"/>
                  <a:pt x="61049" y="871520"/>
                  <a:pt x="55820" y="850605"/>
                </a:cubicBezTo>
                <a:cubicBezTo>
                  <a:pt x="50384" y="828859"/>
                  <a:pt x="41643" y="808075"/>
                  <a:pt x="34555" y="786810"/>
                </a:cubicBezTo>
                <a:cubicBezTo>
                  <a:pt x="31011" y="758456"/>
                  <a:pt x="30852" y="729470"/>
                  <a:pt x="23922" y="701749"/>
                </a:cubicBezTo>
                <a:cubicBezTo>
                  <a:pt x="20078" y="686372"/>
                  <a:pt x="3873" y="675022"/>
                  <a:pt x="2657" y="659219"/>
                </a:cubicBezTo>
                <a:cubicBezTo>
                  <a:pt x="-3323" y="581477"/>
                  <a:pt x="2657" y="499731"/>
                  <a:pt x="2657" y="467833"/>
                </a:cubicBezTo>
                <a:close/>
              </a:path>
            </a:pathLst>
          </a:custGeom>
          <a:solidFill>
            <a:srgbClr val="EBD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Forme libre : forme 22">
            <a:extLst>
              <a:ext uri="{FF2B5EF4-FFF2-40B4-BE49-F238E27FC236}">
                <a16:creationId xmlns:a16="http://schemas.microsoft.com/office/drawing/2014/main" id="{5CF97DC3-CD85-4771-B5CB-D91177C2C247}"/>
              </a:ext>
            </a:extLst>
          </p:cNvPr>
          <p:cNvSpPr/>
          <p:nvPr/>
        </p:nvSpPr>
        <p:spPr>
          <a:xfrm>
            <a:off x="5124893" y="4784651"/>
            <a:ext cx="1244232" cy="914400"/>
          </a:xfrm>
          <a:custGeom>
            <a:avLst/>
            <a:gdLst>
              <a:gd name="connsiteX0" fmla="*/ 0 w 1244232"/>
              <a:gd name="connsiteY0" fmla="*/ 0 h 914400"/>
              <a:gd name="connsiteX1" fmla="*/ 0 w 1244232"/>
              <a:gd name="connsiteY1" fmla="*/ 0 h 914400"/>
              <a:gd name="connsiteX2" fmla="*/ 180754 w 1244232"/>
              <a:gd name="connsiteY2" fmla="*/ 31898 h 914400"/>
              <a:gd name="connsiteX3" fmla="*/ 297712 w 1244232"/>
              <a:gd name="connsiteY3" fmla="*/ 53163 h 914400"/>
              <a:gd name="connsiteX4" fmla="*/ 648586 w 1244232"/>
              <a:gd name="connsiteY4" fmla="*/ 63796 h 914400"/>
              <a:gd name="connsiteX5" fmla="*/ 786809 w 1244232"/>
              <a:gd name="connsiteY5" fmla="*/ 95693 h 914400"/>
              <a:gd name="connsiteX6" fmla="*/ 893135 w 1244232"/>
              <a:gd name="connsiteY6" fmla="*/ 148856 h 914400"/>
              <a:gd name="connsiteX7" fmla="*/ 1052623 w 1244232"/>
              <a:gd name="connsiteY7" fmla="*/ 350875 h 914400"/>
              <a:gd name="connsiteX8" fmla="*/ 1105786 w 1244232"/>
              <a:gd name="connsiteY8" fmla="*/ 404037 h 914400"/>
              <a:gd name="connsiteX9" fmla="*/ 1116419 w 1244232"/>
              <a:gd name="connsiteY9" fmla="*/ 435935 h 914400"/>
              <a:gd name="connsiteX10" fmla="*/ 1137684 w 1244232"/>
              <a:gd name="connsiteY10" fmla="*/ 478465 h 914400"/>
              <a:gd name="connsiteX11" fmla="*/ 1222744 w 1244232"/>
              <a:gd name="connsiteY11" fmla="*/ 531628 h 914400"/>
              <a:gd name="connsiteX12" fmla="*/ 1244009 w 1244232"/>
              <a:gd name="connsiteY12" fmla="*/ 574158 h 914400"/>
              <a:gd name="connsiteX13" fmla="*/ 1233377 w 1244232"/>
              <a:gd name="connsiteY13" fmla="*/ 606056 h 914400"/>
              <a:gd name="connsiteX14" fmla="*/ 1201479 w 1244232"/>
              <a:gd name="connsiteY14" fmla="*/ 659219 h 914400"/>
              <a:gd name="connsiteX15" fmla="*/ 1180214 w 1244232"/>
              <a:gd name="connsiteY15" fmla="*/ 691116 h 914400"/>
              <a:gd name="connsiteX16" fmla="*/ 1158949 w 1244232"/>
              <a:gd name="connsiteY16" fmla="*/ 744279 h 914400"/>
              <a:gd name="connsiteX17" fmla="*/ 1105786 w 1244232"/>
              <a:gd name="connsiteY17" fmla="*/ 776177 h 914400"/>
              <a:gd name="connsiteX18" fmla="*/ 1073888 w 1244232"/>
              <a:gd name="connsiteY18" fmla="*/ 808075 h 914400"/>
              <a:gd name="connsiteX19" fmla="*/ 978195 w 1244232"/>
              <a:gd name="connsiteY19" fmla="*/ 861237 h 914400"/>
              <a:gd name="connsiteX20" fmla="*/ 882502 w 1244232"/>
              <a:gd name="connsiteY20" fmla="*/ 871870 h 914400"/>
              <a:gd name="connsiteX21" fmla="*/ 691116 w 1244232"/>
              <a:gd name="connsiteY21" fmla="*/ 861237 h 914400"/>
              <a:gd name="connsiteX22" fmla="*/ 563526 w 1244232"/>
              <a:gd name="connsiteY22" fmla="*/ 850605 h 914400"/>
              <a:gd name="connsiteX23" fmla="*/ 372140 w 1244232"/>
              <a:gd name="connsiteY23" fmla="*/ 861237 h 914400"/>
              <a:gd name="connsiteX24" fmla="*/ 138223 w 1244232"/>
              <a:gd name="connsiteY24" fmla="*/ 914400 h 914400"/>
              <a:gd name="connsiteX25" fmla="*/ 106326 w 1244232"/>
              <a:gd name="connsiteY25" fmla="*/ 903768 h 914400"/>
              <a:gd name="connsiteX26" fmla="*/ 85060 w 1244232"/>
              <a:gd name="connsiteY26" fmla="*/ 871870 h 914400"/>
              <a:gd name="connsiteX27" fmla="*/ 74428 w 1244232"/>
              <a:gd name="connsiteY27" fmla="*/ 637954 h 914400"/>
              <a:gd name="connsiteX28" fmla="*/ 63795 w 1244232"/>
              <a:gd name="connsiteY28" fmla="*/ 584791 h 914400"/>
              <a:gd name="connsiteX29" fmla="*/ 53163 w 1244232"/>
              <a:gd name="connsiteY29" fmla="*/ 212651 h 914400"/>
              <a:gd name="connsiteX30" fmla="*/ 21265 w 1244232"/>
              <a:gd name="connsiteY30" fmla="*/ 180754 h 914400"/>
              <a:gd name="connsiteX31" fmla="*/ 0 w 1244232"/>
              <a:gd name="connsiteY31" fmla="*/ 106326 h 914400"/>
              <a:gd name="connsiteX32" fmla="*/ 0 w 1244232"/>
              <a:gd name="connsiteY32"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44232" h="914400">
                <a:moveTo>
                  <a:pt x="0" y="0"/>
                </a:moveTo>
                <a:lnTo>
                  <a:pt x="0" y="0"/>
                </a:lnTo>
                <a:lnTo>
                  <a:pt x="180754" y="31898"/>
                </a:lnTo>
                <a:cubicBezTo>
                  <a:pt x="204921" y="36292"/>
                  <a:pt x="275900" y="52044"/>
                  <a:pt x="297712" y="53163"/>
                </a:cubicBezTo>
                <a:cubicBezTo>
                  <a:pt x="414570" y="59156"/>
                  <a:pt x="531628" y="60252"/>
                  <a:pt x="648586" y="63796"/>
                </a:cubicBezTo>
                <a:cubicBezTo>
                  <a:pt x="729306" y="73885"/>
                  <a:pt x="722665" y="65759"/>
                  <a:pt x="786809" y="95693"/>
                </a:cubicBezTo>
                <a:cubicBezTo>
                  <a:pt x="822717" y="112450"/>
                  <a:pt x="893135" y="148856"/>
                  <a:pt x="893135" y="148856"/>
                </a:cubicBezTo>
                <a:cubicBezTo>
                  <a:pt x="946298" y="216196"/>
                  <a:pt x="997698" y="284965"/>
                  <a:pt x="1052623" y="350875"/>
                </a:cubicBezTo>
                <a:cubicBezTo>
                  <a:pt x="1068667" y="370127"/>
                  <a:pt x="1090749" y="383988"/>
                  <a:pt x="1105786" y="404037"/>
                </a:cubicBezTo>
                <a:cubicBezTo>
                  <a:pt x="1112511" y="413003"/>
                  <a:pt x="1112004" y="425633"/>
                  <a:pt x="1116419" y="435935"/>
                </a:cubicBezTo>
                <a:cubicBezTo>
                  <a:pt x="1122663" y="450503"/>
                  <a:pt x="1128471" y="465567"/>
                  <a:pt x="1137684" y="478465"/>
                </a:cubicBezTo>
                <a:cubicBezTo>
                  <a:pt x="1164920" y="516597"/>
                  <a:pt x="1178666" y="513997"/>
                  <a:pt x="1222744" y="531628"/>
                </a:cubicBezTo>
                <a:cubicBezTo>
                  <a:pt x="1229832" y="545805"/>
                  <a:pt x="1241767" y="558467"/>
                  <a:pt x="1244009" y="574158"/>
                </a:cubicBezTo>
                <a:cubicBezTo>
                  <a:pt x="1245594" y="585253"/>
                  <a:pt x="1238389" y="596031"/>
                  <a:pt x="1233377" y="606056"/>
                </a:cubicBezTo>
                <a:cubicBezTo>
                  <a:pt x="1224135" y="624540"/>
                  <a:pt x="1212432" y="641694"/>
                  <a:pt x="1201479" y="659219"/>
                </a:cubicBezTo>
                <a:cubicBezTo>
                  <a:pt x="1194706" y="670055"/>
                  <a:pt x="1185929" y="679687"/>
                  <a:pt x="1180214" y="691116"/>
                </a:cubicBezTo>
                <a:cubicBezTo>
                  <a:pt x="1171678" y="708187"/>
                  <a:pt x="1171517" y="729915"/>
                  <a:pt x="1158949" y="744279"/>
                </a:cubicBezTo>
                <a:cubicBezTo>
                  <a:pt x="1145340" y="759832"/>
                  <a:pt x="1122319" y="763777"/>
                  <a:pt x="1105786" y="776177"/>
                </a:cubicBezTo>
                <a:cubicBezTo>
                  <a:pt x="1093757" y="785199"/>
                  <a:pt x="1085917" y="799053"/>
                  <a:pt x="1073888" y="808075"/>
                </a:cubicBezTo>
                <a:cubicBezTo>
                  <a:pt x="1067666" y="812741"/>
                  <a:pt x="992783" y="857871"/>
                  <a:pt x="978195" y="861237"/>
                </a:cubicBezTo>
                <a:cubicBezTo>
                  <a:pt x="946923" y="868454"/>
                  <a:pt x="914400" y="868326"/>
                  <a:pt x="882502" y="871870"/>
                </a:cubicBezTo>
                <a:lnTo>
                  <a:pt x="691116" y="861237"/>
                </a:lnTo>
                <a:cubicBezTo>
                  <a:pt x="648533" y="858398"/>
                  <a:pt x="606203" y="850605"/>
                  <a:pt x="563526" y="850605"/>
                </a:cubicBezTo>
                <a:cubicBezTo>
                  <a:pt x="499632" y="850605"/>
                  <a:pt x="435935" y="857693"/>
                  <a:pt x="372140" y="861237"/>
                </a:cubicBezTo>
                <a:cubicBezTo>
                  <a:pt x="210758" y="915032"/>
                  <a:pt x="289158" y="899307"/>
                  <a:pt x="138223" y="914400"/>
                </a:cubicBezTo>
                <a:cubicBezTo>
                  <a:pt x="127591" y="910856"/>
                  <a:pt x="115078" y="910769"/>
                  <a:pt x="106326" y="903768"/>
                </a:cubicBezTo>
                <a:cubicBezTo>
                  <a:pt x="96347" y="895785"/>
                  <a:pt x="86583" y="884558"/>
                  <a:pt x="85060" y="871870"/>
                </a:cubicBezTo>
                <a:cubicBezTo>
                  <a:pt x="75760" y="794373"/>
                  <a:pt x="80194" y="715793"/>
                  <a:pt x="74428" y="637954"/>
                </a:cubicBezTo>
                <a:cubicBezTo>
                  <a:pt x="73093" y="619931"/>
                  <a:pt x="67339" y="602512"/>
                  <a:pt x="63795" y="584791"/>
                </a:cubicBezTo>
                <a:cubicBezTo>
                  <a:pt x="87078" y="410171"/>
                  <a:pt x="102979" y="403614"/>
                  <a:pt x="53163" y="212651"/>
                </a:cubicBezTo>
                <a:cubicBezTo>
                  <a:pt x="49367" y="198101"/>
                  <a:pt x="31898" y="191386"/>
                  <a:pt x="21265" y="180754"/>
                </a:cubicBezTo>
                <a:cubicBezTo>
                  <a:pt x="16252" y="165715"/>
                  <a:pt x="0" y="119672"/>
                  <a:pt x="0" y="106326"/>
                </a:cubicBezTo>
                <a:cubicBezTo>
                  <a:pt x="0" y="81265"/>
                  <a:pt x="10633" y="31898"/>
                  <a:pt x="0" y="0"/>
                </a:cubicBezTo>
                <a:close/>
              </a:path>
            </a:pathLst>
          </a:custGeom>
          <a:solidFill>
            <a:srgbClr val="EBD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Groupe 9">
            <a:extLst>
              <a:ext uri="{FF2B5EF4-FFF2-40B4-BE49-F238E27FC236}">
                <a16:creationId xmlns:a16="http://schemas.microsoft.com/office/drawing/2014/main" id="{CFA7BBD0-0C8A-4CD2-B715-9A3333A43556}"/>
              </a:ext>
            </a:extLst>
          </p:cNvPr>
          <p:cNvGrpSpPr/>
          <p:nvPr/>
        </p:nvGrpSpPr>
        <p:grpSpPr>
          <a:xfrm>
            <a:off x="2559408" y="1014614"/>
            <a:ext cx="7665246" cy="5964382"/>
            <a:chOff x="2576898" y="1018309"/>
            <a:chExt cx="7665246" cy="5964382"/>
          </a:xfrm>
          <a:solidFill>
            <a:schemeClr val="bg1"/>
          </a:solidFill>
        </p:grpSpPr>
        <p:sp>
          <p:nvSpPr>
            <p:cNvPr id="8" name="Forme libre : forme 7">
              <a:extLst>
                <a:ext uri="{FF2B5EF4-FFF2-40B4-BE49-F238E27FC236}">
                  <a16:creationId xmlns:a16="http://schemas.microsoft.com/office/drawing/2014/main" id="{1D3A8842-468F-4961-831A-4E00BE123F12}"/>
                </a:ext>
              </a:extLst>
            </p:cNvPr>
            <p:cNvSpPr/>
            <p:nvPr/>
          </p:nvSpPr>
          <p:spPr>
            <a:xfrm>
              <a:off x="2576898" y="1018309"/>
              <a:ext cx="7665246" cy="5964382"/>
            </a:xfrm>
            <a:custGeom>
              <a:avLst/>
              <a:gdLst>
                <a:gd name="connsiteX0" fmla="*/ 228647 w 7665246"/>
                <a:gd name="connsiteY0" fmla="*/ 1402773 h 5964382"/>
                <a:gd name="connsiteX1" fmla="*/ 228647 w 7665246"/>
                <a:gd name="connsiteY1" fmla="*/ 1402773 h 5964382"/>
                <a:gd name="connsiteX2" fmla="*/ 20829 w 7665246"/>
                <a:gd name="connsiteY2" fmla="*/ 1278082 h 5964382"/>
                <a:gd name="connsiteX3" fmla="*/ 20829 w 7665246"/>
                <a:gd name="connsiteY3" fmla="*/ 1205346 h 5964382"/>
                <a:gd name="connsiteX4" fmla="*/ 52002 w 7665246"/>
                <a:gd name="connsiteY4" fmla="*/ 1194955 h 5964382"/>
                <a:gd name="connsiteX5" fmla="*/ 155911 w 7665246"/>
                <a:gd name="connsiteY5" fmla="*/ 1184564 h 5964382"/>
                <a:gd name="connsiteX6" fmla="*/ 228647 w 7665246"/>
                <a:gd name="connsiteY6" fmla="*/ 1163782 h 5964382"/>
                <a:gd name="connsiteX7" fmla="*/ 332557 w 7665246"/>
                <a:gd name="connsiteY7" fmla="*/ 1153391 h 5964382"/>
                <a:gd name="connsiteX8" fmla="*/ 384511 w 7665246"/>
                <a:gd name="connsiteY8" fmla="*/ 945573 h 5964382"/>
                <a:gd name="connsiteX9" fmla="*/ 415684 w 7665246"/>
                <a:gd name="connsiteY9" fmla="*/ 862446 h 5964382"/>
                <a:gd name="connsiteX10" fmla="*/ 457247 w 7665246"/>
                <a:gd name="connsiteY10" fmla="*/ 831273 h 5964382"/>
                <a:gd name="connsiteX11" fmla="*/ 488420 w 7665246"/>
                <a:gd name="connsiteY11" fmla="*/ 768927 h 5964382"/>
                <a:gd name="connsiteX12" fmla="*/ 446857 w 7665246"/>
                <a:gd name="connsiteY12" fmla="*/ 602673 h 5964382"/>
                <a:gd name="connsiteX13" fmla="*/ 478029 w 7665246"/>
                <a:gd name="connsiteY13" fmla="*/ 72736 h 5964382"/>
                <a:gd name="connsiteX14" fmla="*/ 633893 w 7665246"/>
                <a:gd name="connsiteY14" fmla="*/ 72736 h 5964382"/>
                <a:gd name="connsiteX15" fmla="*/ 644284 w 7665246"/>
                <a:gd name="connsiteY15" fmla="*/ 72736 h 5964382"/>
                <a:gd name="connsiteX16" fmla="*/ 831320 w 7665246"/>
                <a:gd name="connsiteY16" fmla="*/ 93518 h 5964382"/>
                <a:gd name="connsiteX17" fmla="*/ 1132657 w 7665246"/>
                <a:gd name="connsiteY17" fmla="*/ 72736 h 5964382"/>
                <a:gd name="connsiteX18" fmla="*/ 1330084 w 7665246"/>
                <a:gd name="connsiteY18" fmla="*/ 51955 h 5964382"/>
                <a:gd name="connsiteX19" fmla="*/ 1382038 w 7665246"/>
                <a:gd name="connsiteY19" fmla="*/ 41564 h 5964382"/>
                <a:gd name="connsiteX20" fmla="*/ 1496338 w 7665246"/>
                <a:gd name="connsiteY20" fmla="*/ 20782 h 5964382"/>
                <a:gd name="connsiteX21" fmla="*/ 1569075 w 7665246"/>
                <a:gd name="connsiteY21" fmla="*/ 31173 h 5964382"/>
                <a:gd name="connsiteX22" fmla="*/ 1662593 w 7665246"/>
                <a:gd name="connsiteY22" fmla="*/ 51955 h 5964382"/>
                <a:gd name="connsiteX23" fmla="*/ 1963929 w 7665246"/>
                <a:gd name="connsiteY23" fmla="*/ 72736 h 5964382"/>
                <a:gd name="connsiteX24" fmla="*/ 1963929 w 7665246"/>
                <a:gd name="connsiteY24" fmla="*/ 72736 h 5964382"/>
                <a:gd name="connsiteX25" fmla="*/ 2306829 w 7665246"/>
                <a:gd name="connsiteY25" fmla="*/ 62346 h 5964382"/>
                <a:gd name="connsiteX26" fmla="*/ 2566602 w 7665246"/>
                <a:gd name="connsiteY26" fmla="*/ 51955 h 5964382"/>
                <a:gd name="connsiteX27" fmla="*/ 2805593 w 7665246"/>
                <a:gd name="connsiteY27" fmla="*/ 62346 h 5964382"/>
                <a:gd name="connsiteX28" fmla="*/ 2888720 w 7665246"/>
                <a:gd name="connsiteY28" fmla="*/ 72736 h 5964382"/>
                <a:gd name="connsiteX29" fmla="*/ 2961457 w 7665246"/>
                <a:gd name="connsiteY29" fmla="*/ 93518 h 5964382"/>
                <a:gd name="connsiteX30" fmla="*/ 3190057 w 7665246"/>
                <a:gd name="connsiteY30" fmla="*/ 93518 h 5964382"/>
                <a:gd name="connsiteX31" fmla="*/ 3190057 w 7665246"/>
                <a:gd name="connsiteY31" fmla="*/ 93518 h 5964382"/>
                <a:gd name="connsiteX32" fmla="*/ 3813511 w 7665246"/>
                <a:gd name="connsiteY32" fmla="*/ 114300 h 5964382"/>
                <a:gd name="connsiteX33" fmla="*/ 4083675 w 7665246"/>
                <a:gd name="connsiteY33" fmla="*/ 135082 h 5964382"/>
                <a:gd name="connsiteX34" fmla="*/ 4270711 w 7665246"/>
                <a:gd name="connsiteY34" fmla="*/ 145473 h 5964382"/>
                <a:gd name="connsiteX35" fmla="*/ 4520093 w 7665246"/>
                <a:gd name="connsiteY35" fmla="*/ 187036 h 5964382"/>
                <a:gd name="connsiteX36" fmla="*/ 4540875 w 7665246"/>
                <a:gd name="connsiteY36" fmla="*/ 176646 h 5964382"/>
                <a:gd name="connsiteX37" fmla="*/ 4956511 w 7665246"/>
                <a:gd name="connsiteY37" fmla="*/ 103909 h 5964382"/>
                <a:gd name="connsiteX38" fmla="*/ 5029247 w 7665246"/>
                <a:gd name="connsiteY38" fmla="*/ 124691 h 5964382"/>
                <a:gd name="connsiteX39" fmla="*/ 5081202 w 7665246"/>
                <a:gd name="connsiteY39" fmla="*/ 135082 h 5964382"/>
                <a:gd name="connsiteX40" fmla="*/ 4935729 w 7665246"/>
                <a:gd name="connsiteY40" fmla="*/ 41564 h 5964382"/>
                <a:gd name="connsiteX41" fmla="*/ 4811038 w 7665246"/>
                <a:gd name="connsiteY41" fmla="*/ 62346 h 5964382"/>
                <a:gd name="connsiteX42" fmla="*/ 4613611 w 7665246"/>
                <a:gd name="connsiteY42" fmla="*/ 124691 h 5964382"/>
                <a:gd name="connsiteX43" fmla="*/ 4540875 w 7665246"/>
                <a:gd name="connsiteY43" fmla="*/ 135082 h 5964382"/>
                <a:gd name="connsiteX44" fmla="*/ 3979766 w 7665246"/>
                <a:gd name="connsiteY44" fmla="*/ 145473 h 5964382"/>
                <a:gd name="connsiteX45" fmla="*/ 3948593 w 7665246"/>
                <a:gd name="connsiteY45" fmla="*/ 103909 h 5964382"/>
                <a:gd name="connsiteX46" fmla="*/ 4135629 w 7665246"/>
                <a:gd name="connsiteY46" fmla="*/ 0 h 5964382"/>
                <a:gd name="connsiteX47" fmla="*/ 4166802 w 7665246"/>
                <a:gd name="connsiteY47" fmla="*/ 72736 h 5964382"/>
                <a:gd name="connsiteX48" fmla="*/ 4197975 w 7665246"/>
                <a:gd name="connsiteY48" fmla="*/ 83127 h 5964382"/>
                <a:gd name="connsiteX49" fmla="*/ 4374620 w 7665246"/>
                <a:gd name="connsiteY49" fmla="*/ 51955 h 5964382"/>
                <a:gd name="connsiteX50" fmla="*/ 4478529 w 7665246"/>
                <a:gd name="connsiteY50" fmla="*/ 41564 h 5964382"/>
                <a:gd name="connsiteX51" fmla="*/ 4655175 w 7665246"/>
                <a:gd name="connsiteY51" fmla="*/ 31173 h 5964382"/>
                <a:gd name="connsiteX52" fmla="*/ 4790257 w 7665246"/>
                <a:gd name="connsiteY52" fmla="*/ 20782 h 5964382"/>
                <a:gd name="connsiteX53" fmla="*/ 4977293 w 7665246"/>
                <a:gd name="connsiteY53" fmla="*/ 31173 h 5964382"/>
                <a:gd name="connsiteX54" fmla="*/ 5133157 w 7665246"/>
                <a:gd name="connsiteY54" fmla="*/ 62346 h 5964382"/>
                <a:gd name="connsiteX55" fmla="*/ 5444884 w 7665246"/>
                <a:gd name="connsiteY55" fmla="*/ 72736 h 5964382"/>
                <a:gd name="connsiteX56" fmla="*/ 5444884 w 7665246"/>
                <a:gd name="connsiteY56" fmla="*/ 72736 h 5964382"/>
                <a:gd name="connsiteX57" fmla="*/ 6307329 w 7665246"/>
                <a:gd name="connsiteY57" fmla="*/ 41564 h 5964382"/>
                <a:gd name="connsiteX58" fmla="*/ 6359284 w 7665246"/>
                <a:gd name="connsiteY58" fmla="*/ 31173 h 5964382"/>
                <a:gd name="connsiteX59" fmla="*/ 6608666 w 7665246"/>
                <a:gd name="connsiteY59" fmla="*/ 31173 h 5964382"/>
                <a:gd name="connsiteX60" fmla="*/ 6671011 w 7665246"/>
                <a:gd name="connsiteY60" fmla="*/ 31173 h 5964382"/>
                <a:gd name="connsiteX61" fmla="*/ 6878829 w 7665246"/>
                <a:gd name="connsiteY61" fmla="*/ 41564 h 5964382"/>
                <a:gd name="connsiteX62" fmla="*/ 6910002 w 7665246"/>
                <a:gd name="connsiteY62" fmla="*/ 51955 h 5964382"/>
                <a:gd name="connsiteX63" fmla="*/ 6993129 w 7665246"/>
                <a:gd name="connsiteY63" fmla="*/ 62346 h 5964382"/>
                <a:gd name="connsiteX64" fmla="*/ 7065866 w 7665246"/>
                <a:gd name="connsiteY64" fmla="*/ 72736 h 5964382"/>
                <a:gd name="connsiteX65" fmla="*/ 7211338 w 7665246"/>
                <a:gd name="connsiteY65" fmla="*/ 51955 h 5964382"/>
                <a:gd name="connsiteX66" fmla="*/ 7273684 w 7665246"/>
                <a:gd name="connsiteY66" fmla="*/ 31173 h 5964382"/>
                <a:gd name="connsiteX67" fmla="*/ 7367202 w 7665246"/>
                <a:gd name="connsiteY67" fmla="*/ 20782 h 5964382"/>
                <a:gd name="connsiteX68" fmla="*/ 7419157 w 7665246"/>
                <a:gd name="connsiteY68" fmla="*/ 10391 h 5964382"/>
                <a:gd name="connsiteX69" fmla="*/ 7491893 w 7665246"/>
                <a:gd name="connsiteY69" fmla="*/ 20782 h 5964382"/>
                <a:gd name="connsiteX70" fmla="*/ 7523066 w 7665246"/>
                <a:gd name="connsiteY70" fmla="*/ 31173 h 5964382"/>
                <a:gd name="connsiteX71" fmla="*/ 7533457 w 7665246"/>
                <a:gd name="connsiteY71" fmla="*/ 83127 h 5964382"/>
                <a:gd name="connsiteX72" fmla="*/ 7606193 w 7665246"/>
                <a:gd name="connsiteY72" fmla="*/ 238991 h 5964382"/>
                <a:gd name="connsiteX73" fmla="*/ 7606193 w 7665246"/>
                <a:gd name="connsiteY73" fmla="*/ 166255 h 5964382"/>
                <a:gd name="connsiteX74" fmla="*/ 7595802 w 7665246"/>
                <a:gd name="connsiteY74" fmla="*/ 20782 h 5964382"/>
                <a:gd name="connsiteX75" fmla="*/ 7491893 w 7665246"/>
                <a:gd name="connsiteY75" fmla="*/ 31173 h 5964382"/>
                <a:gd name="connsiteX76" fmla="*/ 7575020 w 7665246"/>
                <a:gd name="connsiteY76" fmla="*/ 41564 h 5964382"/>
                <a:gd name="connsiteX77" fmla="*/ 7637366 w 7665246"/>
                <a:gd name="connsiteY77" fmla="*/ 62346 h 5964382"/>
                <a:gd name="connsiteX78" fmla="*/ 7658147 w 7665246"/>
                <a:gd name="connsiteY78" fmla="*/ 103909 h 5964382"/>
                <a:gd name="connsiteX79" fmla="*/ 7616584 w 7665246"/>
                <a:gd name="connsiteY79" fmla="*/ 561109 h 5964382"/>
                <a:gd name="connsiteX80" fmla="*/ 7616584 w 7665246"/>
                <a:gd name="connsiteY80" fmla="*/ 810491 h 5964382"/>
                <a:gd name="connsiteX81" fmla="*/ 7616584 w 7665246"/>
                <a:gd name="connsiteY81" fmla="*/ 810491 h 5964382"/>
                <a:gd name="connsiteX82" fmla="*/ 7387984 w 7665246"/>
                <a:gd name="connsiteY82" fmla="*/ 1839191 h 5964382"/>
                <a:gd name="connsiteX83" fmla="*/ 7325638 w 7665246"/>
                <a:gd name="connsiteY83" fmla="*/ 2566555 h 5964382"/>
                <a:gd name="connsiteX84" fmla="*/ 7346420 w 7665246"/>
                <a:gd name="connsiteY84" fmla="*/ 2556164 h 5964382"/>
                <a:gd name="connsiteX85" fmla="*/ 7356811 w 7665246"/>
                <a:gd name="connsiteY85" fmla="*/ 2774373 h 5964382"/>
                <a:gd name="connsiteX86" fmla="*/ 7450329 w 7665246"/>
                <a:gd name="connsiteY86" fmla="*/ 2847109 h 5964382"/>
                <a:gd name="connsiteX87" fmla="*/ 7533457 w 7665246"/>
                <a:gd name="connsiteY87" fmla="*/ 3023755 h 5964382"/>
                <a:gd name="connsiteX88" fmla="*/ 7543847 w 7665246"/>
                <a:gd name="connsiteY88" fmla="*/ 3782291 h 5964382"/>
                <a:gd name="connsiteX89" fmla="*/ 7543847 w 7665246"/>
                <a:gd name="connsiteY89" fmla="*/ 3782291 h 5964382"/>
                <a:gd name="connsiteX90" fmla="*/ 7419157 w 7665246"/>
                <a:gd name="connsiteY90" fmla="*/ 5320146 h 5964382"/>
                <a:gd name="connsiteX91" fmla="*/ 7460720 w 7665246"/>
                <a:gd name="connsiteY91" fmla="*/ 5424055 h 5964382"/>
                <a:gd name="connsiteX92" fmla="*/ 7387984 w 7665246"/>
                <a:gd name="connsiteY92" fmla="*/ 5517573 h 5964382"/>
                <a:gd name="connsiteX93" fmla="*/ 7367202 w 7665246"/>
                <a:gd name="connsiteY93" fmla="*/ 5548746 h 5964382"/>
                <a:gd name="connsiteX94" fmla="*/ 7336029 w 7665246"/>
                <a:gd name="connsiteY94" fmla="*/ 5590309 h 5964382"/>
                <a:gd name="connsiteX95" fmla="*/ 7294466 w 7665246"/>
                <a:gd name="connsiteY95" fmla="*/ 5611091 h 5964382"/>
                <a:gd name="connsiteX96" fmla="*/ 7408766 w 7665246"/>
                <a:gd name="connsiteY96" fmla="*/ 5631873 h 5964382"/>
                <a:gd name="connsiteX97" fmla="*/ 7460720 w 7665246"/>
                <a:gd name="connsiteY97" fmla="*/ 5652655 h 5964382"/>
                <a:gd name="connsiteX98" fmla="*/ 7387984 w 7665246"/>
                <a:gd name="connsiteY98" fmla="*/ 5704609 h 5964382"/>
                <a:gd name="connsiteX99" fmla="*/ 7138602 w 7665246"/>
                <a:gd name="connsiteY99" fmla="*/ 5746173 h 5964382"/>
                <a:gd name="connsiteX100" fmla="*/ 6432020 w 7665246"/>
                <a:gd name="connsiteY100" fmla="*/ 5787736 h 5964382"/>
                <a:gd name="connsiteX101" fmla="*/ 6109902 w 7665246"/>
                <a:gd name="connsiteY101" fmla="*/ 5818909 h 5964382"/>
                <a:gd name="connsiteX102" fmla="*/ 5777393 w 7665246"/>
                <a:gd name="connsiteY102" fmla="*/ 5839691 h 5964382"/>
                <a:gd name="connsiteX103" fmla="*/ 4852602 w 7665246"/>
                <a:gd name="connsiteY103" fmla="*/ 5766955 h 5964382"/>
                <a:gd name="connsiteX104" fmla="*/ 4499311 w 7665246"/>
                <a:gd name="connsiteY104" fmla="*/ 5756564 h 5964382"/>
                <a:gd name="connsiteX105" fmla="*/ 3470611 w 7665246"/>
                <a:gd name="connsiteY105" fmla="*/ 5912427 h 5964382"/>
                <a:gd name="connsiteX106" fmla="*/ 3034193 w 7665246"/>
                <a:gd name="connsiteY106" fmla="*/ 5964382 h 5964382"/>
                <a:gd name="connsiteX107" fmla="*/ 1693766 w 7665246"/>
                <a:gd name="connsiteY107" fmla="*/ 5953991 h 5964382"/>
                <a:gd name="connsiteX108" fmla="*/ 1018357 w 7665246"/>
                <a:gd name="connsiteY108" fmla="*/ 5891646 h 5964382"/>
                <a:gd name="connsiteX109" fmla="*/ 862493 w 7665246"/>
                <a:gd name="connsiteY109" fmla="*/ 5850082 h 5964382"/>
                <a:gd name="connsiteX110" fmla="*/ 768975 w 7665246"/>
                <a:gd name="connsiteY110" fmla="*/ 5818909 h 5964382"/>
                <a:gd name="connsiteX111" fmla="*/ 748193 w 7665246"/>
                <a:gd name="connsiteY111" fmla="*/ 5766955 h 5964382"/>
                <a:gd name="connsiteX112" fmla="*/ 717020 w 7665246"/>
                <a:gd name="connsiteY112" fmla="*/ 5704609 h 5964382"/>
                <a:gd name="connsiteX113" fmla="*/ 654675 w 7665246"/>
                <a:gd name="connsiteY113" fmla="*/ 5663046 h 5964382"/>
                <a:gd name="connsiteX114" fmla="*/ 436466 w 7665246"/>
                <a:gd name="connsiteY114" fmla="*/ 5621482 h 5964382"/>
                <a:gd name="connsiteX115" fmla="*/ 374120 w 7665246"/>
                <a:gd name="connsiteY115" fmla="*/ 5559136 h 5964382"/>
                <a:gd name="connsiteX116" fmla="*/ 405293 w 7665246"/>
                <a:gd name="connsiteY116" fmla="*/ 5361709 h 5964382"/>
                <a:gd name="connsiteX117" fmla="*/ 374120 w 7665246"/>
                <a:gd name="connsiteY117" fmla="*/ 5257800 h 5964382"/>
                <a:gd name="connsiteX118" fmla="*/ 332557 w 7665246"/>
                <a:gd name="connsiteY118" fmla="*/ 5081155 h 5964382"/>
                <a:gd name="connsiteX119" fmla="*/ 311775 w 7665246"/>
                <a:gd name="connsiteY119" fmla="*/ 5018809 h 5964382"/>
                <a:gd name="connsiteX120" fmla="*/ 270211 w 7665246"/>
                <a:gd name="connsiteY120" fmla="*/ 4956464 h 5964382"/>
                <a:gd name="connsiteX121" fmla="*/ 218257 w 7665246"/>
                <a:gd name="connsiteY121" fmla="*/ 4925291 h 5964382"/>
                <a:gd name="connsiteX122" fmla="*/ 93566 w 7665246"/>
                <a:gd name="connsiteY122" fmla="*/ 4914900 h 5964382"/>
                <a:gd name="connsiteX123" fmla="*/ 62393 w 7665246"/>
                <a:gd name="connsiteY123" fmla="*/ 4883727 h 5964382"/>
                <a:gd name="connsiteX124" fmla="*/ 31220 w 7665246"/>
                <a:gd name="connsiteY124" fmla="*/ 4873336 h 5964382"/>
                <a:gd name="connsiteX125" fmla="*/ 83175 w 7665246"/>
                <a:gd name="connsiteY125" fmla="*/ 4759036 h 5964382"/>
                <a:gd name="connsiteX126" fmla="*/ 124738 w 7665246"/>
                <a:gd name="connsiteY126" fmla="*/ 4738255 h 5964382"/>
                <a:gd name="connsiteX127" fmla="*/ 155911 w 7665246"/>
                <a:gd name="connsiteY127" fmla="*/ 4696691 h 5964382"/>
                <a:gd name="connsiteX128" fmla="*/ 166302 w 7665246"/>
                <a:gd name="connsiteY128" fmla="*/ 4665518 h 5964382"/>
                <a:gd name="connsiteX129" fmla="*/ 311775 w 7665246"/>
                <a:gd name="connsiteY129" fmla="*/ 4572000 h 5964382"/>
                <a:gd name="connsiteX130" fmla="*/ 436466 w 7665246"/>
                <a:gd name="connsiteY130" fmla="*/ 4478482 h 5964382"/>
                <a:gd name="connsiteX131" fmla="*/ 457247 w 7665246"/>
                <a:gd name="connsiteY131" fmla="*/ 4405746 h 5964382"/>
                <a:gd name="connsiteX132" fmla="*/ 478029 w 7665246"/>
                <a:gd name="connsiteY132" fmla="*/ 4343400 h 5964382"/>
                <a:gd name="connsiteX133" fmla="*/ 509202 w 7665246"/>
                <a:gd name="connsiteY133" fmla="*/ 3667991 h 5964382"/>
                <a:gd name="connsiteX134" fmla="*/ 550766 w 7665246"/>
                <a:gd name="connsiteY134" fmla="*/ 3262746 h 5964382"/>
                <a:gd name="connsiteX135" fmla="*/ 550766 w 7665246"/>
                <a:gd name="connsiteY135" fmla="*/ 3262746 h 5964382"/>
                <a:gd name="connsiteX136" fmla="*/ 519593 w 7665246"/>
                <a:gd name="connsiteY136" fmla="*/ 2909455 h 5964382"/>
                <a:gd name="connsiteX137" fmla="*/ 509202 w 7665246"/>
                <a:gd name="connsiteY137" fmla="*/ 2649682 h 5964382"/>
                <a:gd name="connsiteX138" fmla="*/ 498811 w 7665246"/>
                <a:gd name="connsiteY138" fmla="*/ 2587336 h 5964382"/>
                <a:gd name="connsiteX139" fmla="*/ 488420 w 7665246"/>
                <a:gd name="connsiteY139" fmla="*/ 2286000 h 5964382"/>
                <a:gd name="connsiteX140" fmla="*/ 467638 w 7665246"/>
                <a:gd name="connsiteY140" fmla="*/ 1859973 h 5964382"/>
                <a:gd name="connsiteX141" fmla="*/ 457247 w 7665246"/>
                <a:gd name="connsiteY141" fmla="*/ 1766455 h 5964382"/>
                <a:gd name="connsiteX142" fmla="*/ 446857 w 7665246"/>
                <a:gd name="connsiteY142" fmla="*/ 1641764 h 5964382"/>
                <a:gd name="connsiteX143" fmla="*/ 426075 w 7665246"/>
                <a:gd name="connsiteY143" fmla="*/ 1537855 h 5964382"/>
                <a:gd name="connsiteX144" fmla="*/ 415684 w 7665246"/>
                <a:gd name="connsiteY144" fmla="*/ 1506682 h 5964382"/>
                <a:gd name="connsiteX145" fmla="*/ 353338 w 7665246"/>
                <a:gd name="connsiteY145" fmla="*/ 1444336 h 5964382"/>
                <a:gd name="connsiteX146" fmla="*/ 259820 w 7665246"/>
                <a:gd name="connsiteY146" fmla="*/ 1413164 h 5964382"/>
                <a:gd name="connsiteX147" fmla="*/ 228647 w 7665246"/>
                <a:gd name="connsiteY147" fmla="*/ 1402773 h 596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7665246" h="5964382">
                  <a:moveTo>
                    <a:pt x="228647" y="1402773"/>
                  </a:moveTo>
                  <a:lnTo>
                    <a:pt x="228647" y="1402773"/>
                  </a:lnTo>
                  <a:cubicBezTo>
                    <a:pt x="159374" y="1361209"/>
                    <a:pt x="87576" y="1323591"/>
                    <a:pt x="20829" y="1278082"/>
                  </a:cubicBezTo>
                  <a:cubicBezTo>
                    <a:pt x="-10196" y="1256929"/>
                    <a:pt x="-3491" y="1229666"/>
                    <a:pt x="20829" y="1205346"/>
                  </a:cubicBezTo>
                  <a:cubicBezTo>
                    <a:pt x="28574" y="1197601"/>
                    <a:pt x="41176" y="1196621"/>
                    <a:pt x="52002" y="1194955"/>
                  </a:cubicBezTo>
                  <a:cubicBezTo>
                    <a:pt x="86406" y="1189662"/>
                    <a:pt x="121275" y="1188028"/>
                    <a:pt x="155911" y="1184564"/>
                  </a:cubicBezTo>
                  <a:cubicBezTo>
                    <a:pt x="178115" y="1177163"/>
                    <a:pt x="205816" y="1167044"/>
                    <a:pt x="228647" y="1163782"/>
                  </a:cubicBezTo>
                  <a:cubicBezTo>
                    <a:pt x="263107" y="1158859"/>
                    <a:pt x="297920" y="1156855"/>
                    <a:pt x="332557" y="1153391"/>
                  </a:cubicBezTo>
                  <a:cubicBezTo>
                    <a:pt x="346395" y="1093425"/>
                    <a:pt x="363586" y="1008347"/>
                    <a:pt x="384511" y="945573"/>
                  </a:cubicBezTo>
                  <a:cubicBezTo>
                    <a:pt x="393869" y="917498"/>
                    <a:pt x="399796" y="887413"/>
                    <a:pt x="415684" y="862446"/>
                  </a:cubicBezTo>
                  <a:cubicBezTo>
                    <a:pt x="424982" y="847835"/>
                    <a:pt x="443393" y="841664"/>
                    <a:pt x="457247" y="831273"/>
                  </a:cubicBezTo>
                  <a:cubicBezTo>
                    <a:pt x="467638" y="810491"/>
                    <a:pt x="486971" y="792117"/>
                    <a:pt x="488420" y="768927"/>
                  </a:cubicBezTo>
                  <a:cubicBezTo>
                    <a:pt x="491060" y="726693"/>
                    <a:pt x="461618" y="646957"/>
                    <a:pt x="446857" y="602673"/>
                  </a:cubicBezTo>
                  <a:cubicBezTo>
                    <a:pt x="449872" y="539353"/>
                    <a:pt x="470034" y="86845"/>
                    <a:pt x="478029" y="72736"/>
                  </a:cubicBezTo>
                  <a:cubicBezTo>
                    <a:pt x="503643" y="27534"/>
                    <a:pt x="581938" y="72736"/>
                    <a:pt x="633893" y="72736"/>
                  </a:cubicBezTo>
                  <a:lnTo>
                    <a:pt x="644284" y="72736"/>
                  </a:lnTo>
                  <a:cubicBezTo>
                    <a:pt x="706629" y="79663"/>
                    <a:pt x="768613" y="91868"/>
                    <a:pt x="831320" y="93518"/>
                  </a:cubicBezTo>
                  <a:cubicBezTo>
                    <a:pt x="947734" y="96582"/>
                    <a:pt x="1025703" y="83994"/>
                    <a:pt x="1132657" y="72736"/>
                  </a:cubicBezTo>
                  <a:lnTo>
                    <a:pt x="1330084" y="51955"/>
                  </a:lnTo>
                  <a:cubicBezTo>
                    <a:pt x="1347567" y="49457"/>
                    <a:pt x="1364662" y="44723"/>
                    <a:pt x="1382038" y="41564"/>
                  </a:cubicBezTo>
                  <a:cubicBezTo>
                    <a:pt x="1528276" y="14975"/>
                    <a:pt x="1368005" y="46449"/>
                    <a:pt x="1496338" y="20782"/>
                  </a:cubicBezTo>
                  <a:cubicBezTo>
                    <a:pt x="1520584" y="24246"/>
                    <a:pt x="1544978" y="26792"/>
                    <a:pt x="1569075" y="31173"/>
                  </a:cubicBezTo>
                  <a:cubicBezTo>
                    <a:pt x="1607797" y="38213"/>
                    <a:pt x="1621338" y="48205"/>
                    <a:pt x="1662593" y="51955"/>
                  </a:cubicBezTo>
                  <a:cubicBezTo>
                    <a:pt x="1762863" y="61070"/>
                    <a:pt x="1863245" y="72736"/>
                    <a:pt x="1963929" y="72736"/>
                  </a:cubicBezTo>
                  <a:lnTo>
                    <a:pt x="1963929" y="72736"/>
                  </a:lnTo>
                  <a:lnTo>
                    <a:pt x="2306829" y="62346"/>
                  </a:lnTo>
                  <a:cubicBezTo>
                    <a:pt x="2393438" y="59360"/>
                    <a:pt x="2479942" y="51955"/>
                    <a:pt x="2566602" y="51955"/>
                  </a:cubicBezTo>
                  <a:cubicBezTo>
                    <a:pt x="2646341" y="51955"/>
                    <a:pt x="2725929" y="58882"/>
                    <a:pt x="2805593" y="62346"/>
                  </a:cubicBezTo>
                  <a:cubicBezTo>
                    <a:pt x="2833302" y="65809"/>
                    <a:pt x="2861338" y="67260"/>
                    <a:pt x="2888720" y="72736"/>
                  </a:cubicBezTo>
                  <a:cubicBezTo>
                    <a:pt x="2913446" y="77681"/>
                    <a:pt x="2936301" y="91783"/>
                    <a:pt x="2961457" y="93518"/>
                  </a:cubicBezTo>
                  <a:cubicBezTo>
                    <a:pt x="3037476" y="98761"/>
                    <a:pt x="3113857" y="93518"/>
                    <a:pt x="3190057" y="93518"/>
                  </a:cubicBezTo>
                  <a:lnTo>
                    <a:pt x="3190057" y="93518"/>
                  </a:lnTo>
                  <a:lnTo>
                    <a:pt x="3813511" y="114300"/>
                  </a:lnTo>
                  <a:cubicBezTo>
                    <a:pt x="3903734" y="118496"/>
                    <a:pt x="3993564" y="128938"/>
                    <a:pt x="4083675" y="135082"/>
                  </a:cubicBezTo>
                  <a:cubicBezTo>
                    <a:pt x="4145972" y="139330"/>
                    <a:pt x="4208366" y="142009"/>
                    <a:pt x="4270711" y="145473"/>
                  </a:cubicBezTo>
                  <a:lnTo>
                    <a:pt x="4520093" y="187036"/>
                  </a:lnTo>
                  <a:lnTo>
                    <a:pt x="4540875" y="176646"/>
                  </a:lnTo>
                  <a:cubicBezTo>
                    <a:pt x="4671445" y="147630"/>
                    <a:pt x="4823025" y="108512"/>
                    <a:pt x="4956511" y="103909"/>
                  </a:cubicBezTo>
                  <a:cubicBezTo>
                    <a:pt x="4981712" y="103040"/>
                    <a:pt x="5004784" y="118575"/>
                    <a:pt x="5029247" y="124691"/>
                  </a:cubicBezTo>
                  <a:cubicBezTo>
                    <a:pt x="5046381" y="128975"/>
                    <a:pt x="5063884" y="131618"/>
                    <a:pt x="5081202" y="135082"/>
                  </a:cubicBezTo>
                  <a:cubicBezTo>
                    <a:pt x="5032711" y="103909"/>
                    <a:pt x="4991393" y="56550"/>
                    <a:pt x="4935729" y="41564"/>
                  </a:cubicBezTo>
                  <a:cubicBezTo>
                    <a:pt x="4895041" y="30610"/>
                    <a:pt x="4852213" y="53395"/>
                    <a:pt x="4811038" y="62346"/>
                  </a:cubicBezTo>
                  <a:cubicBezTo>
                    <a:pt x="4476244" y="135126"/>
                    <a:pt x="4877549" y="54307"/>
                    <a:pt x="4613611" y="124691"/>
                  </a:cubicBezTo>
                  <a:cubicBezTo>
                    <a:pt x="4589946" y="131002"/>
                    <a:pt x="4565353" y="134279"/>
                    <a:pt x="4540875" y="135082"/>
                  </a:cubicBezTo>
                  <a:cubicBezTo>
                    <a:pt x="4353907" y="141212"/>
                    <a:pt x="4166802" y="142009"/>
                    <a:pt x="3979766" y="145473"/>
                  </a:cubicBezTo>
                  <a:cubicBezTo>
                    <a:pt x="3961247" y="148560"/>
                    <a:pt x="3845471" y="184115"/>
                    <a:pt x="3948593" y="103909"/>
                  </a:cubicBezTo>
                  <a:cubicBezTo>
                    <a:pt x="4047744" y="26791"/>
                    <a:pt x="4058927" y="25568"/>
                    <a:pt x="4135629" y="0"/>
                  </a:cubicBezTo>
                  <a:cubicBezTo>
                    <a:pt x="4141839" y="18630"/>
                    <a:pt x="4153961" y="59896"/>
                    <a:pt x="4166802" y="72736"/>
                  </a:cubicBezTo>
                  <a:cubicBezTo>
                    <a:pt x="4174547" y="80481"/>
                    <a:pt x="4187584" y="79663"/>
                    <a:pt x="4197975" y="83127"/>
                  </a:cubicBezTo>
                  <a:cubicBezTo>
                    <a:pt x="4536423" y="49282"/>
                    <a:pt x="4116691" y="97471"/>
                    <a:pt x="4374620" y="51955"/>
                  </a:cubicBezTo>
                  <a:cubicBezTo>
                    <a:pt x="4408899" y="45906"/>
                    <a:pt x="4443815" y="44135"/>
                    <a:pt x="4478529" y="41564"/>
                  </a:cubicBezTo>
                  <a:cubicBezTo>
                    <a:pt x="4537352" y="37207"/>
                    <a:pt x="4596322" y="35097"/>
                    <a:pt x="4655175" y="31173"/>
                  </a:cubicBezTo>
                  <a:cubicBezTo>
                    <a:pt x="4700235" y="28169"/>
                    <a:pt x="4745230" y="24246"/>
                    <a:pt x="4790257" y="20782"/>
                  </a:cubicBezTo>
                  <a:cubicBezTo>
                    <a:pt x="4852602" y="24246"/>
                    <a:pt x="4915305" y="23659"/>
                    <a:pt x="4977293" y="31173"/>
                  </a:cubicBezTo>
                  <a:cubicBezTo>
                    <a:pt x="5029892" y="37549"/>
                    <a:pt x="5080737" y="54637"/>
                    <a:pt x="5133157" y="62346"/>
                  </a:cubicBezTo>
                  <a:cubicBezTo>
                    <a:pt x="5327271" y="90892"/>
                    <a:pt x="5288595" y="86944"/>
                    <a:pt x="5444884" y="72736"/>
                  </a:cubicBezTo>
                  <a:lnTo>
                    <a:pt x="5444884" y="72736"/>
                  </a:lnTo>
                  <a:cubicBezTo>
                    <a:pt x="5833602" y="37401"/>
                    <a:pt x="5351622" y="78800"/>
                    <a:pt x="6307329" y="41564"/>
                  </a:cubicBezTo>
                  <a:cubicBezTo>
                    <a:pt x="6324977" y="40876"/>
                    <a:pt x="6341633" y="31782"/>
                    <a:pt x="6359284" y="31173"/>
                  </a:cubicBezTo>
                  <a:cubicBezTo>
                    <a:pt x="6442362" y="28308"/>
                    <a:pt x="6525539" y="31173"/>
                    <a:pt x="6608666" y="31173"/>
                  </a:cubicBezTo>
                  <a:lnTo>
                    <a:pt x="6671011" y="31173"/>
                  </a:lnTo>
                  <a:cubicBezTo>
                    <a:pt x="6740284" y="34637"/>
                    <a:pt x="6809731" y="35555"/>
                    <a:pt x="6878829" y="41564"/>
                  </a:cubicBezTo>
                  <a:cubicBezTo>
                    <a:pt x="6889741" y="42513"/>
                    <a:pt x="6899226" y="49996"/>
                    <a:pt x="6910002" y="51955"/>
                  </a:cubicBezTo>
                  <a:cubicBezTo>
                    <a:pt x="6937476" y="56950"/>
                    <a:pt x="6965449" y="58656"/>
                    <a:pt x="6993129" y="62346"/>
                  </a:cubicBezTo>
                  <a:lnTo>
                    <a:pt x="7065866" y="72736"/>
                  </a:lnTo>
                  <a:cubicBezTo>
                    <a:pt x="7110845" y="67739"/>
                    <a:pt x="7165844" y="64362"/>
                    <a:pt x="7211338" y="51955"/>
                  </a:cubicBezTo>
                  <a:cubicBezTo>
                    <a:pt x="7232472" y="46191"/>
                    <a:pt x="7252203" y="35469"/>
                    <a:pt x="7273684" y="31173"/>
                  </a:cubicBezTo>
                  <a:cubicBezTo>
                    <a:pt x="7304439" y="25022"/>
                    <a:pt x="7336153" y="25218"/>
                    <a:pt x="7367202" y="20782"/>
                  </a:cubicBezTo>
                  <a:cubicBezTo>
                    <a:pt x="7384686" y="18284"/>
                    <a:pt x="7401839" y="13855"/>
                    <a:pt x="7419157" y="10391"/>
                  </a:cubicBezTo>
                  <a:cubicBezTo>
                    <a:pt x="7443402" y="13855"/>
                    <a:pt x="7467877" y="15979"/>
                    <a:pt x="7491893" y="20782"/>
                  </a:cubicBezTo>
                  <a:cubicBezTo>
                    <a:pt x="7502633" y="22930"/>
                    <a:pt x="7516990" y="22060"/>
                    <a:pt x="7523066" y="31173"/>
                  </a:cubicBezTo>
                  <a:cubicBezTo>
                    <a:pt x="7532863" y="45868"/>
                    <a:pt x="7528962" y="66048"/>
                    <a:pt x="7533457" y="83127"/>
                  </a:cubicBezTo>
                  <a:cubicBezTo>
                    <a:pt x="7574172" y="237846"/>
                    <a:pt x="7528014" y="212931"/>
                    <a:pt x="7606193" y="238991"/>
                  </a:cubicBezTo>
                  <a:cubicBezTo>
                    <a:pt x="7627793" y="152592"/>
                    <a:pt x="7614541" y="237212"/>
                    <a:pt x="7606193" y="166255"/>
                  </a:cubicBezTo>
                  <a:cubicBezTo>
                    <a:pt x="7600513" y="117973"/>
                    <a:pt x="7599266" y="69273"/>
                    <a:pt x="7595802" y="20782"/>
                  </a:cubicBezTo>
                  <a:cubicBezTo>
                    <a:pt x="7561166" y="24246"/>
                    <a:pt x="7516507" y="6559"/>
                    <a:pt x="7491893" y="31173"/>
                  </a:cubicBezTo>
                  <a:cubicBezTo>
                    <a:pt x="7472147" y="50919"/>
                    <a:pt x="7547715" y="35713"/>
                    <a:pt x="7575020" y="41564"/>
                  </a:cubicBezTo>
                  <a:cubicBezTo>
                    <a:pt x="7596440" y="46154"/>
                    <a:pt x="7637366" y="62346"/>
                    <a:pt x="7637366" y="62346"/>
                  </a:cubicBezTo>
                  <a:cubicBezTo>
                    <a:pt x="7644293" y="76200"/>
                    <a:pt x="7657678" y="88427"/>
                    <a:pt x="7658147" y="103909"/>
                  </a:cubicBezTo>
                  <a:cubicBezTo>
                    <a:pt x="7679183" y="798103"/>
                    <a:pt x="7649938" y="127505"/>
                    <a:pt x="7616584" y="561109"/>
                  </a:cubicBezTo>
                  <a:cubicBezTo>
                    <a:pt x="7610208" y="643991"/>
                    <a:pt x="7616584" y="727364"/>
                    <a:pt x="7616584" y="810491"/>
                  </a:cubicBezTo>
                  <a:lnTo>
                    <a:pt x="7616584" y="810491"/>
                  </a:lnTo>
                  <a:cubicBezTo>
                    <a:pt x="7504252" y="1203650"/>
                    <a:pt x="7514417" y="1155302"/>
                    <a:pt x="7387984" y="1839191"/>
                  </a:cubicBezTo>
                  <a:cubicBezTo>
                    <a:pt x="7345614" y="2068376"/>
                    <a:pt x="7338479" y="2335422"/>
                    <a:pt x="7325638" y="2566555"/>
                  </a:cubicBezTo>
                  <a:lnTo>
                    <a:pt x="7346420" y="2556164"/>
                  </a:lnTo>
                  <a:cubicBezTo>
                    <a:pt x="7349884" y="2628900"/>
                    <a:pt x="7332319" y="2705797"/>
                    <a:pt x="7356811" y="2774373"/>
                  </a:cubicBezTo>
                  <a:cubicBezTo>
                    <a:pt x="7370093" y="2811564"/>
                    <a:pt x="7428423" y="2814250"/>
                    <a:pt x="7450329" y="2847109"/>
                  </a:cubicBezTo>
                  <a:cubicBezTo>
                    <a:pt x="7514381" y="2943187"/>
                    <a:pt x="7483357" y="2885982"/>
                    <a:pt x="7533457" y="3023755"/>
                  </a:cubicBezTo>
                  <a:cubicBezTo>
                    <a:pt x="7548282" y="3498204"/>
                    <a:pt x="7543847" y="3245374"/>
                    <a:pt x="7543847" y="3782291"/>
                  </a:cubicBezTo>
                  <a:lnTo>
                    <a:pt x="7543847" y="3782291"/>
                  </a:lnTo>
                  <a:cubicBezTo>
                    <a:pt x="7528590" y="3945537"/>
                    <a:pt x="7419157" y="4938737"/>
                    <a:pt x="7419157" y="5320146"/>
                  </a:cubicBezTo>
                  <a:cubicBezTo>
                    <a:pt x="7419157" y="5345828"/>
                    <a:pt x="7448300" y="5399215"/>
                    <a:pt x="7460720" y="5424055"/>
                  </a:cubicBezTo>
                  <a:cubicBezTo>
                    <a:pt x="7436475" y="5455228"/>
                    <a:pt x="7409890" y="5484714"/>
                    <a:pt x="7387984" y="5517573"/>
                  </a:cubicBezTo>
                  <a:cubicBezTo>
                    <a:pt x="7381057" y="5527964"/>
                    <a:pt x="7374461" y="5538584"/>
                    <a:pt x="7367202" y="5548746"/>
                  </a:cubicBezTo>
                  <a:cubicBezTo>
                    <a:pt x="7357136" y="5562838"/>
                    <a:pt x="7349178" y="5579039"/>
                    <a:pt x="7336029" y="5590309"/>
                  </a:cubicBezTo>
                  <a:cubicBezTo>
                    <a:pt x="7324268" y="5600390"/>
                    <a:pt x="7308320" y="5604164"/>
                    <a:pt x="7294466" y="5611091"/>
                  </a:cubicBezTo>
                  <a:cubicBezTo>
                    <a:pt x="7332566" y="5618018"/>
                    <a:pt x="7371198" y="5622481"/>
                    <a:pt x="7408766" y="5631873"/>
                  </a:cubicBezTo>
                  <a:cubicBezTo>
                    <a:pt x="7426861" y="5636397"/>
                    <a:pt x="7465844" y="5634721"/>
                    <a:pt x="7460720" y="5652655"/>
                  </a:cubicBezTo>
                  <a:cubicBezTo>
                    <a:pt x="7452535" y="5681304"/>
                    <a:pt x="7416598" y="5696302"/>
                    <a:pt x="7387984" y="5704609"/>
                  </a:cubicBezTo>
                  <a:cubicBezTo>
                    <a:pt x="7307052" y="5728105"/>
                    <a:pt x="7222559" y="5738872"/>
                    <a:pt x="7138602" y="5746173"/>
                  </a:cubicBezTo>
                  <a:cubicBezTo>
                    <a:pt x="6903555" y="5766612"/>
                    <a:pt x="6667367" y="5771095"/>
                    <a:pt x="6432020" y="5787736"/>
                  </a:cubicBezTo>
                  <a:cubicBezTo>
                    <a:pt x="6324414" y="5795344"/>
                    <a:pt x="6217438" y="5810374"/>
                    <a:pt x="6109902" y="5818909"/>
                  </a:cubicBezTo>
                  <a:cubicBezTo>
                    <a:pt x="5999198" y="5827695"/>
                    <a:pt x="5888229" y="5832764"/>
                    <a:pt x="5777393" y="5839691"/>
                  </a:cubicBezTo>
                  <a:lnTo>
                    <a:pt x="4852602" y="5766955"/>
                  </a:lnTo>
                  <a:cubicBezTo>
                    <a:pt x="4734955" y="5760681"/>
                    <a:pt x="4617075" y="5760028"/>
                    <a:pt x="4499311" y="5756564"/>
                  </a:cubicBezTo>
                  <a:cubicBezTo>
                    <a:pt x="3936791" y="5810138"/>
                    <a:pt x="4621773" y="5739753"/>
                    <a:pt x="3470611" y="5912427"/>
                  </a:cubicBezTo>
                  <a:cubicBezTo>
                    <a:pt x="3325732" y="5934159"/>
                    <a:pt x="3179666" y="5947064"/>
                    <a:pt x="3034193" y="5964382"/>
                  </a:cubicBezTo>
                  <a:cubicBezTo>
                    <a:pt x="1972120" y="5909916"/>
                    <a:pt x="3560483" y="5982933"/>
                    <a:pt x="1693766" y="5953991"/>
                  </a:cubicBezTo>
                  <a:cubicBezTo>
                    <a:pt x="1502921" y="5951032"/>
                    <a:pt x="1219173" y="5914817"/>
                    <a:pt x="1018357" y="5891646"/>
                  </a:cubicBezTo>
                  <a:cubicBezTo>
                    <a:pt x="966402" y="5877791"/>
                    <a:pt x="914112" y="5865138"/>
                    <a:pt x="862493" y="5850082"/>
                  </a:cubicBezTo>
                  <a:cubicBezTo>
                    <a:pt x="830948" y="5840881"/>
                    <a:pt x="795549" y="5838236"/>
                    <a:pt x="768975" y="5818909"/>
                  </a:cubicBezTo>
                  <a:cubicBezTo>
                    <a:pt x="753890" y="5807938"/>
                    <a:pt x="755911" y="5783935"/>
                    <a:pt x="748193" y="5766955"/>
                  </a:cubicBezTo>
                  <a:cubicBezTo>
                    <a:pt x="738578" y="5745803"/>
                    <a:pt x="732563" y="5721879"/>
                    <a:pt x="717020" y="5704609"/>
                  </a:cubicBezTo>
                  <a:cubicBezTo>
                    <a:pt x="700312" y="5686044"/>
                    <a:pt x="676666" y="5674887"/>
                    <a:pt x="654675" y="5663046"/>
                  </a:cubicBezTo>
                  <a:cubicBezTo>
                    <a:pt x="564882" y="5614696"/>
                    <a:pt x="557333" y="5630115"/>
                    <a:pt x="436466" y="5621482"/>
                  </a:cubicBezTo>
                  <a:cubicBezTo>
                    <a:pt x="417752" y="5609006"/>
                    <a:pt x="375526" y="5585851"/>
                    <a:pt x="374120" y="5559136"/>
                  </a:cubicBezTo>
                  <a:cubicBezTo>
                    <a:pt x="370670" y="5493594"/>
                    <a:pt x="389306" y="5425656"/>
                    <a:pt x="405293" y="5361709"/>
                  </a:cubicBezTo>
                  <a:cubicBezTo>
                    <a:pt x="394902" y="5327073"/>
                    <a:pt x="382496" y="5292978"/>
                    <a:pt x="374120" y="5257800"/>
                  </a:cubicBezTo>
                  <a:cubicBezTo>
                    <a:pt x="322661" y="5041674"/>
                    <a:pt x="380720" y="5225647"/>
                    <a:pt x="332557" y="5081155"/>
                  </a:cubicBezTo>
                  <a:lnTo>
                    <a:pt x="311775" y="5018809"/>
                  </a:lnTo>
                  <a:cubicBezTo>
                    <a:pt x="299960" y="4983364"/>
                    <a:pt x="304805" y="4982410"/>
                    <a:pt x="270211" y="4956464"/>
                  </a:cubicBezTo>
                  <a:cubicBezTo>
                    <a:pt x="254054" y="4944346"/>
                    <a:pt x="237916" y="4929917"/>
                    <a:pt x="218257" y="4925291"/>
                  </a:cubicBezTo>
                  <a:cubicBezTo>
                    <a:pt x="177658" y="4915738"/>
                    <a:pt x="135130" y="4918364"/>
                    <a:pt x="93566" y="4914900"/>
                  </a:cubicBezTo>
                  <a:cubicBezTo>
                    <a:pt x="83175" y="4904509"/>
                    <a:pt x="74620" y="4891878"/>
                    <a:pt x="62393" y="4883727"/>
                  </a:cubicBezTo>
                  <a:cubicBezTo>
                    <a:pt x="53279" y="4877651"/>
                    <a:pt x="32579" y="4884204"/>
                    <a:pt x="31220" y="4873336"/>
                  </a:cubicBezTo>
                  <a:cubicBezTo>
                    <a:pt x="27224" y="4841368"/>
                    <a:pt x="57158" y="4781336"/>
                    <a:pt x="83175" y="4759036"/>
                  </a:cubicBezTo>
                  <a:cubicBezTo>
                    <a:pt x="94936" y="4748956"/>
                    <a:pt x="110884" y="4745182"/>
                    <a:pt x="124738" y="4738255"/>
                  </a:cubicBezTo>
                  <a:cubicBezTo>
                    <a:pt x="135129" y="4724400"/>
                    <a:pt x="147319" y="4711728"/>
                    <a:pt x="155911" y="4696691"/>
                  </a:cubicBezTo>
                  <a:cubicBezTo>
                    <a:pt x="161345" y="4687181"/>
                    <a:pt x="157749" y="4672360"/>
                    <a:pt x="166302" y="4665518"/>
                  </a:cubicBezTo>
                  <a:cubicBezTo>
                    <a:pt x="211316" y="4629507"/>
                    <a:pt x="264378" y="4604813"/>
                    <a:pt x="311775" y="4572000"/>
                  </a:cubicBezTo>
                  <a:cubicBezTo>
                    <a:pt x="354492" y="4542427"/>
                    <a:pt x="394902" y="4509655"/>
                    <a:pt x="436466" y="4478482"/>
                  </a:cubicBezTo>
                  <a:cubicBezTo>
                    <a:pt x="443393" y="4454237"/>
                    <a:pt x="449832" y="4429846"/>
                    <a:pt x="457247" y="4405746"/>
                  </a:cubicBezTo>
                  <a:cubicBezTo>
                    <a:pt x="463689" y="4384809"/>
                    <a:pt x="478029" y="4343400"/>
                    <a:pt x="478029" y="4343400"/>
                  </a:cubicBezTo>
                  <a:cubicBezTo>
                    <a:pt x="479311" y="4311345"/>
                    <a:pt x="493765" y="3834706"/>
                    <a:pt x="509202" y="3667991"/>
                  </a:cubicBezTo>
                  <a:cubicBezTo>
                    <a:pt x="521722" y="3532779"/>
                    <a:pt x="536911" y="3397828"/>
                    <a:pt x="550766" y="3262746"/>
                  </a:cubicBezTo>
                  <a:lnTo>
                    <a:pt x="550766" y="3262746"/>
                  </a:lnTo>
                  <a:cubicBezTo>
                    <a:pt x="528769" y="2943790"/>
                    <a:pt x="549730" y="3060138"/>
                    <a:pt x="519593" y="2909455"/>
                  </a:cubicBezTo>
                  <a:cubicBezTo>
                    <a:pt x="516129" y="2822864"/>
                    <a:pt x="514781" y="2736162"/>
                    <a:pt x="509202" y="2649682"/>
                  </a:cubicBezTo>
                  <a:cubicBezTo>
                    <a:pt x="507846" y="2628657"/>
                    <a:pt x="500013" y="2608370"/>
                    <a:pt x="498811" y="2587336"/>
                  </a:cubicBezTo>
                  <a:cubicBezTo>
                    <a:pt x="493077" y="2486995"/>
                    <a:pt x="492723" y="2386413"/>
                    <a:pt x="488420" y="2286000"/>
                  </a:cubicBezTo>
                  <a:cubicBezTo>
                    <a:pt x="482332" y="2143953"/>
                    <a:pt x="483339" y="2001281"/>
                    <a:pt x="467638" y="1859973"/>
                  </a:cubicBezTo>
                  <a:cubicBezTo>
                    <a:pt x="464174" y="1828800"/>
                    <a:pt x="460221" y="1797678"/>
                    <a:pt x="457247" y="1766455"/>
                  </a:cubicBezTo>
                  <a:cubicBezTo>
                    <a:pt x="453293" y="1724935"/>
                    <a:pt x="452492" y="1683089"/>
                    <a:pt x="446857" y="1641764"/>
                  </a:cubicBezTo>
                  <a:cubicBezTo>
                    <a:pt x="442085" y="1606766"/>
                    <a:pt x="437245" y="1571365"/>
                    <a:pt x="426075" y="1537855"/>
                  </a:cubicBezTo>
                  <a:cubicBezTo>
                    <a:pt x="422611" y="1527464"/>
                    <a:pt x="422409" y="1515328"/>
                    <a:pt x="415684" y="1506682"/>
                  </a:cubicBezTo>
                  <a:cubicBezTo>
                    <a:pt x="397640" y="1483483"/>
                    <a:pt x="380626" y="1455251"/>
                    <a:pt x="353338" y="1444336"/>
                  </a:cubicBezTo>
                  <a:cubicBezTo>
                    <a:pt x="263772" y="1408511"/>
                    <a:pt x="338124" y="1435537"/>
                    <a:pt x="259820" y="1413164"/>
                  </a:cubicBezTo>
                  <a:cubicBezTo>
                    <a:pt x="225361" y="1403319"/>
                    <a:pt x="233842" y="1404505"/>
                    <a:pt x="228647" y="1402773"/>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53656826-6A04-4583-B513-8EFDBECA31E2}"/>
                </a:ext>
              </a:extLst>
            </p:cNvPr>
            <p:cNvSpPr/>
            <p:nvPr/>
          </p:nvSpPr>
          <p:spPr>
            <a:xfrm>
              <a:off x="3044536" y="1098553"/>
              <a:ext cx="7180117" cy="575944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414374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nodeType="clickEffect">
                                  <p:stCondLst>
                                    <p:cond delay="0"/>
                                  </p:stCondLst>
                                  <p:childTnLst>
                                    <p:animEffect transition="out" filter="barn(inVertical)">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6" presetClass="exit" presetSubtype="21" fill="hold" grpId="0" nodeType="clickEffect">
                                  <p:stCondLst>
                                    <p:cond delay="0"/>
                                  </p:stCondLst>
                                  <p:childTnLst>
                                    <p:animEffect transition="out" filter="barn(inVertical)">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6" presetClass="exit" presetSubtype="21" fill="hold" grpId="0" nodeType="clickEffect">
                                  <p:stCondLst>
                                    <p:cond delay="0"/>
                                  </p:stCondLst>
                                  <p:childTnLst>
                                    <p:animEffect transition="out" filter="barn(inVertical)">
                                      <p:cBhvr>
                                        <p:cTn id="16" dur="500"/>
                                        <p:tgtEl>
                                          <p:spTgt spid="15"/>
                                        </p:tgtEl>
                                      </p:cBhvr>
                                    </p:animEffect>
                                    <p:set>
                                      <p:cBhvr>
                                        <p:cTn id="17" dur="1" fill="hold">
                                          <p:stCondLst>
                                            <p:cond delay="499"/>
                                          </p:stCondLst>
                                        </p:cTn>
                                        <p:tgtEl>
                                          <p:spTgt spid="1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6" presetClass="exit" presetSubtype="21" fill="hold" grpId="0" nodeType="clickEffect">
                                  <p:stCondLst>
                                    <p:cond delay="0"/>
                                  </p:stCondLst>
                                  <p:childTnLst>
                                    <p:animEffect transition="out" filter="barn(inVertical)">
                                      <p:cBhvr>
                                        <p:cTn id="21" dur="500"/>
                                        <p:tgtEl>
                                          <p:spTgt spid="16"/>
                                        </p:tgtEl>
                                      </p:cBhvr>
                                    </p:animEffect>
                                    <p:set>
                                      <p:cBhvr>
                                        <p:cTn id="22" dur="1" fill="hold">
                                          <p:stCondLst>
                                            <p:cond delay="499"/>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6" presetClass="exit" presetSubtype="21" fill="hold" grpId="0" nodeType="clickEffect">
                                  <p:stCondLst>
                                    <p:cond delay="0"/>
                                  </p:stCondLst>
                                  <p:childTnLst>
                                    <p:animEffect transition="out" filter="barn(inVertical)">
                                      <p:cBhvr>
                                        <p:cTn id="26" dur="500"/>
                                        <p:tgtEl>
                                          <p:spTgt spid="18"/>
                                        </p:tgtEl>
                                      </p:cBhvr>
                                    </p:animEffect>
                                    <p:set>
                                      <p:cBhvr>
                                        <p:cTn id="27" dur="1" fill="hold">
                                          <p:stCondLst>
                                            <p:cond delay="499"/>
                                          </p:stCondLst>
                                        </p:cTn>
                                        <p:tgtEl>
                                          <p:spTgt spid="1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6" presetClass="exit" presetSubtype="21" fill="hold" grpId="0" nodeType="clickEffect">
                                  <p:stCondLst>
                                    <p:cond delay="0"/>
                                  </p:stCondLst>
                                  <p:childTnLst>
                                    <p:animEffect transition="out" filter="barn(inVertical)">
                                      <p:cBhvr>
                                        <p:cTn id="31" dur="500"/>
                                        <p:tgtEl>
                                          <p:spTgt spid="23"/>
                                        </p:tgtEl>
                                      </p:cBhvr>
                                    </p:animEffect>
                                    <p:set>
                                      <p:cBhvr>
                                        <p:cTn id="32" dur="1" fill="hold">
                                          <p:stCondLst>
                                            <p:cond delay="499"/>
                                          </p:stCondLst>
                                        </p:cTn>
                                        <p:tgtEl>
                                          <p:spTgt spid="2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6" presetClass="exit" presetSubtype="21" fill="hold" grpId="0" nodeType="clickEffect">
                                  <p:stCondLst>
                                    <p:cond delay="0"/>
                                  </p:stCondLst>
                                  <p:childTnLst>
                                    <p:animEffect transition="out" filter="barn(inVertical)">
                                      <p:cBhvr>
                                        <p:cTn id="36" dur="500"/>
                                        <p:tgtEl>
                                          <p:spTgt spid="19"/>
                                        </p:tgtEl>
                                      </p:cBhvr>
                                    </p:animEffect>
                                    <p:set>
                                      <p:cBhvr>
                                        <p:cTn id="37"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8" grpId="0" animBg="1"/>
      <p:bldP spid="19" grpId="0" animBg="1"/>
      <p:bldP spid="2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2C62005D-67D4-47DD-95A3-E28C7B85379E}"/>
              </a:ext>
            </a:extLst>
          </p:cNvPr>
          <p:cNvSpPr/>
          <p:nvPr/>
        </p:nvSpPr>
        <p:spPr>
          <a:xfrm>
            <a:off x="2244436" y="2722418"/>
            <a:ext cx="6629400" cy="1558637"/>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tx1"/>
                </a:solidFill>
              </a:rPr>
              <a:t>MÉTABOLISME DU GALACTOSE </a:t>
            </a:r>
          </a:p>
        </p:txBody>
      </p:sp>
    </p:spTree>
    <p:extLst>
      <p:ext uri="{BB962C8B-B14F-4D97-AF65-F5344CB8AC3E}">
        <p14:creationId xmlns:p14="http://schemas.microsoft.com/office/powerpoint/2010/main" val="1478586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Métabolisme du galactose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C492E686-E172-4388-B036-F1281E01B07D}"/>
              </a:ext>
            </a:extLst>
          </p:cNvPr>
          <p:cNvSpPr txBox="1"/>
          <p:nvPr/>
        </p:nvSpPr>
        <p:spPr>
          <a:xfrm>
            <a:off x="452004" y="1269278"/>
            <a:ext cx="9216736" cy="589072"/>
          </a:xfrm>
          <a:prstGeom prst="rect">
            <a:avLst/>
          </a:prstGeom>
          <a:noFill/>
        </p:spPr>
        <p:txBody>
          <a:bodyPr wrap="square" rtlCol="0">
            <a:spAutoFit/>
          </a:bodyPr>
          <a:lstStyle/>
          <a:p>
            <a:pPr>
              <a:lnSpc>
                <a:spcPct val="150000"/>
              </a:lnSpc>
            </a:pPr>
            <a:r>
              <a:rPr lang="fr-CA" sz="2400" b="1" dirty="0">
                <a:solidFill>
                  <a:schemeClr val="accent1">
                    <a:lumMod val="50000"/>
                  </a:schemeClr>
                </a:solidFill>
                <a:latin typeface="Calibri" panose="020F0502020204030204" pitchFamily="34" charset="0"/>
                <a:cs typeface="Calibri" panose="020F0502020204030204" pitchFamily="34" charset="0"/>
              </a:rPr>
              <a:t>Généralité sur le galactose </a:t>
            </a:r>
          </a:p>
        </p:txBody>
      </p:sp>
      <p:sp>
        <p:nvSpPr>
          <p:cNvPr id="7" name="ZoneTexte 6">
            <a:extLst>
              <a:ext uri="{FF2B5EF4-FFF2-40B4-BE49-F238E27FC236}">
                <a16:creationId xmlns:a16="http://schemas.microsoft.com/office/drawing/2014/main" id="{C3A1402B-A2F9-42DD-9B0F-68E5C0ED261E}"/>
              </a:ext>
            </a:extLst>
          </p:cNvPr>
          <p:cNvSpPr txBox="1"/>
          <p:nvPr/>
        </p:nvSpPr>
        <p:spPr>
          <a:xfrm>
            <a:off x="491856" y="1858350"/>
            <a:ext cx="8629649" cy="3970318"/>
          </a:xfrm>
          <a:prstGeom prst="rect">
            <a:avLst/>
          </a:prstGeom>
          <a:noFill/>
        </p:spPr>
        <p:txBody>
          <a:bodyPr wrap="square" rtlCol="0">
            <a:spAutoFit/>
          </a:bodyPr>
          <a:lstStyle/>
          <a:p>
            <a:endParaRPr lang="fr-CA" b="1" dirty="0"/>
          </a:p>
          <a:p>
            <a:endParaRPr lang="fr-CA" b="1" dirty="0"/>
          </a:p>
          <a:p>
            <a:endParaRPr lang="fr-CA" sz="2400" dirty="0">
              <a:latin typeface="Calibri" panose="020F0502020204030204" pitchFamily="34" charset="0"/>
              <a:cs typeface="Calibri" panose="020F0502020204030204" pitchFamily="34" charset="0"/>
            </a:endParaRPr>
          </a:p>
          <a:p>
            <a:r>
              <a:rPr lang="fr-CA" sz="2400" dirty="0">
                <a:latin typeface="Calibri" panose="020F0502020204030204" pitchFamily="34" charset="0"/>
                <a:cs typeface="Calibri" panose="020F0502020204030204" pitchFamily="34" charset="0"/>
              </a:rPr>
              <a:t>o GLUT2 : sortie de l’entérocyte, et entrée dans l’hépatocyte</a:t>
            </a:r>
          </a:p>
          <a:p>
            <a:r>
              <a:rPr lang="fr-CA" sz="2400" dirty="0">
                <a:latin typeface="Calibri" panose="020F0502020204030204" pitchFamily="34" charset="0"/>
                <a:cs typeface="Calibri" panose="020F0502020204030204" pitchFamily="34" charset="0"/>
              </a:rPr>
              <a:t>o GLUT1 : entrée dans toutes les cellules</a:t>
            </a:r>
          </a:p>
          <a:p>
            <a:endParaRPr lang="fr-CA" sz="2400" dirty="0">
              <a:latin typeface="Calibri" panose="020F0502020204030204" pitchFamily="34" charset="0"/>
              <a:cs typeface="Calibri" panose="020F0502020204030204" pitchFamily="34" charset="0"/>
            </a:endParaRPr>
          </a:p>
          <a:p>
            <a:r>
              <a:rPr lang="fr-CA" sz="2400" dirty="0">
                <a:latin typeface="Calibri" panose="020F0502020204030204" pitchFamily="34" charset="0"/>
                <a:cs typeface="Calibri" panose="020F0502020204030204" pitchFamily="34" charset="0"/>
              </a:rPr>
              <a:t>Intérêt du galactose comme un précurseur de synthèse du lactose dans la glande mammaire au cours de la lactation, et des glycolipides (cérébrosides) et des glycoprotéines.</a:t>
            </a:r>
          </a:p>
          <a:p>
            <a:r>
              <a:rPr lang="fr-CA" sz="2400" dirty="0">
                <a:latin typeface="Calibri" panose="020F0502020204030204" pitchFamily="34" charset="0"/>
                <a:cs typeface="Calibri" panose="020F0502020204030204" pitchFamily="34" charset="0"/>
              </a:rPr>
              <a:t>Son métabolisme est surtout hépatique, rejoint la glycolyse au niveau du glucose-6-phosphate.</a:t>
            </a:r>
            <a:endParaRPr lang="fr-FR" sz="2400" dirty="0">
              <a:latin typeface="Calibri" panose="020F0502020204030204" pitchFamily="34" charset="0"/>
              <a:cs typeface="Calibri" panose="020F0502020204030204" pitchFamily="34" charset="0"/>
            </a:endParaRPr>
          </a:p>
        </p:txBody>
      </p:sp>
      <p:pic>
        <p:nvPicPr>
          <p:cNvPr id="4" name="Image 3">
            <a:extLst>
              <a:ext uri="{FF2B5EF4-FFF2-40B4-BE49-F238E27FC236}">
                <a16:creationId xmlns:a16="http://schemas.microsoft.com/office/drawing/2014/main" id="{761538EE-B1B2-4200-811E-7FB78E453B69}"/>
              </a:ext>
            </a:extLst>
          </p:cNvPr>
          <p:cNvPicPr>
            <a:picLocks noChangeAspect="1"/>
          </p:cNvPicPr>
          <p:nvPr/>
        </p:nvPicPr>
        <p:blipFill>
          <a:blip r:embed="rId2"/>
          <a:stretch>
            <a:fillRect/>
          </a:stretch>
        </p:blipFill>
        <p:spPr>
          <a:xfrm>
            <a:off x="1828800" y="1142202"/>
            <a:ext cx="6682901" cy="5715798"/>
          </a:xfrm>
          <a:prstGeom prst="rect">
            <a:avLst/>
          </a:prstGeom>
        </p:spPr>
      </p:pic>
    </p:spTree>
    <p:extLst>
      <p:ext uri="{BB962C8B-B14F-4D97-AF65-F5344CB8AC3E}">
        <p14:creationId xmlns:p14="http://schemas.microsoft.com/office/powerpoint/2010/main" val="58312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Métabolisme du galactose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C492E686-E172-4388-B036-F1281E01B07D}"/>
              </a:ext>
            </a:extLst>
          </p:cNvPr>
          <p:cNvSpPr txBox="1"/>
          <p:nvPr/>
        </p:nvSpPr>
        <p:spPr>
          <a:xfrm>
            <a:off x="452004" y="1269278"/>
            <a:ext cx="9216736" cy="589072"/>
          </a:xfrm>
          <a:prstGeom prst="rect">
            <a:avLst/>
          </a:prstGeom>
          <a:noFill/>
        </p:spPr>
        <p:txBody>
          <a:bodyPr wrap="square" rtlCol="0">
            <a:spAutoFit/>
          </a:bodyPr>
          <a:lstStyle/>
          <a:p>
            <a:pPr>
              <a:lnSpc>
                <a:spcPct val="150000"/>
              </a:lnSpc>
            </a:pPr>
            <a:r>
              <a:rPr lang="fr-CA" sz="2400" b="1" dirty="0">
                <a:solidFill>
                  <a:schemeClr val="accent1">
                    <a:lumMod val="50000"/>
                  </a:schemeClr>
                </a:solidFill>
                <a:latin typeface="Calibri" panose="020F0502020204030204" pitchFamily="34" charset="0"/>
                <a:cs typeface="Calibri" panose="020F0502020204030204" pitchFamily="34" charset="0"/>
              </a:rPr>
              <a:t>Généralité sur le galactose </a:t>
            </a:r>
          </a:p>
        </p:txBody>
      </p:sp>
      <p:sp>
        <p:nvSpPr>
          <p:cNvPr id="7" name="ZoneTexte 6">
            <a:extLst>
              <a:ext uri="{FF2B5EF4-FFF2-40B4-BE49-F238E27FC236}">
                <a16:creationId xmlns:a16="http://schemas.microsoft.com/office/drawing/2014/main" id="{C3A1402B-A2F9-42DD-9B0F-68E5C0ED261E}"/>
              </a:ext>
            </a:extLst>
          </p:cNvPr>
          <p:cNvSpPr txBox="1"/>
          <p:nvPr/>
        </p:nvSpPr>
        <p:spPr>
          <a:xfrm>
            <a:off x="568902" y="2011567"/>
            <a:ext cx="8629649" cy="1200329"/>
          </a:xfrm>
          <a:prstGeom prst="rect">
            <a:avLst/>
          </a:prstGeom>
          <a:noFill/>
        </p:spPr>
        <p:txBody>
          <a:bodyPr wrap="square" rtlCol="0">
            <a:spAutoFit/>
          </a:bodyPr>
          <a:lstStyle/>
          <a:p>
            <a:endParaRPr lang="fr-CA" b="1" dirty="0"/>
          </a:p>
          <a:p>
            <a:endParaRPr lang="fr-CA" b="1" dirty="0"/>
          </a:p>
          <a:p>
            <a:endParaRPr lang="fr-CA" b="1" dirty="0"/>
          </a:p>
          <a:p>
            <a:endParaRPr lang="fr-CA" b="1" dirty="0"/>
          </a:p>
        </p:txBody>
      </p:sp>
      <p:pic>
        <p:nvPicPr>
          <p:cNvPr id="8" name="Image 7">
            <a:extLst>
              <a:ext uri="{FF2B5EF4-FFF2-40B4-BE49-F238E27FC236}">
                <a16:creationId xmlns:a16="http://schemas.microsoft.com/office/drawing/2014/main" id="{79FB9539-6A80-4A15-A350-011B21B1F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126" y="2348778"/>
            <a:ext cx="8353425" cy="3324225"/>
          </a:xfrm>
          <a:prstGeom prst="rect">
            <a:avLst/>
          </a:prstGeom>
        </p:spPr>
      </p:pic>
    </p:spTree>
    <p:extLst>
      <p:ext uri="{BB962C8B-B14F-4D97-AF65-F5344CB8AC3E}">
        <p14:creationId xmlns:p14="http://schemas.microsoft.com/office/powerpoint/2010/main" val="2455944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dirty="0">
                <a:solidFill>
                  <a:schemeClr val="accent2">
                    <a:lumMod val="75000"/>
                  </a:schemeClr>
                </a:solidFill>
              </a:rPr>
              <a:t>Métabolisme du galactose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C492E686-E172-4388-B036-F1281E01B07D}"/>
              </a:ext>
            </a:extLst>
          </p:cNvPr>
          <p:cNvSpPr txBox="1"/>
          <p:nvPr/>
        </p:nvSpPr>
        <p:spPr>
          <a:xfrm>
            <a:off x="452004" y="1269278"/>
            <a:ext cx="9216736" cy="589072"/>
          </a:xfrm>
          <a:prstGeom prst="rect">
            <a:avLst/>
          </a:prstGeom>
          <a:noFill/>
        </p:spPr>
        <p:txBody>
          <a:bodyPr wrap="square" rtlCol="0">
            <a:spAutoFit/>
          </a:bodyPr>
          <a:lstStyle/>
          <a:p>
            <a:pPr>
              <a:lnSpc>
                <a:spcPct val="150000"/>
              </a:lnSpc>
            </a:pPr>
            <a:r>
              <a:rPr lang="fr-CA" sz="2400" b="1" dirty="0">
                <a:solidFill>
                  <a:schemeClr val="accent1">
                    <a:lumMod val="50000"/>
                  </a:schemeClr>
                </a:solidFill>
                <a:latin typeface="Calibri" panose="020F0502020204030204" pitchFamily="34" charset="0"/>
                <a:cs typeface="Calibri" panose="020F0502020204030204" pitchFamily="34" charset="0"/>
              </a:rPr>
              <a:t>Généralité sur le galactose </a:t>
            </a:r>
          </a:p>
        </p:txBody>
      </p:sp>
      <p:sp>
        <p:nvSpPr>
          <p:cNvPr id="7" name="ZoneTexte 6">
            <a:extLst>
              <a:ext uri="{FF2B5EF4-FFF2-40B4-BE49-F238E27FC236}">
                <a16:creationId xmlns:a16="http://schemas.microsoft.com/office/drawing/2014/main" id="{C3A1402B-A2F9-42DD-9B0F-68E5C0ED261E}"/>
              </a:ext>
            </a:extLst>
          </p:cNvPr>
          <p:cNvSpPr txBox="1"/>
          <p:nvPr/>
        </p:nvSpPr>
        <p:spPr>
          <a:xfrm>
            <a:off x="568902" y="2011567"/>
            <a:ext cx="8629649" cy="1200329"/>
          </a:xfrm>
          <a:prstGeom prst="rect">
            <a:avLst/>
          </a:prstGeom>
          <a:noFill/>
        </p:spPr>
        <p:txBody>
          <a:bodyPr wrap="square" rtlCol="0">
            <a:spAutoFit/>
          </a:bodyPr>
          <a:lstStyle/>
          <a:p>
            <a:endParaRPr lang="fr-CA" b="1" dirty="0"/>
          </a:p>
          <a:p>
            <a:endParaRPr lang="fr-CA" b="1" dirty="0"/>
          </a:p>
          <a:p>
            <a:endParaRPr lang="fr-CA" b="1" dirty="0"/>
          </a:p>
          <a:p>
            <a:endParaRPr lang="fr-CA" b="1" dirty="0"/>
          </a:p>
        </p:txBody>
      </p:sp>
      <p:pic>
        <p:nvPicPr>
          <p:cNvPr id="4" name="Image 3">
            <a:extLst>
              <a:ext uri="{FF2B5EF4-FFF2-40B4-BE49-F238E27FC236}">
                <a16:creationId xmlns:a16="http://schemas.microsoft.com/office/drawing/2014/main" id="{10D2A563-D858-4474-B98B-ADC0FE1555E0}"/>
              </a:ext>
            </a:extLst>
          </p:cNvPr>
          <p:cNvPicPr>
            <a:picLocks noChangeAspect="1"/>
          </p:cNvPicPr>
          <p:nvPr/>
        </p:nvPicPr>
        <p:blipFill>
          <a:blip r:embed="rId2">
            <a:lum bright="-20000" contrast="40000"/>
          </a:blip>
          <a:stretch>
            <a:fillRect/>
          </a:stretch>
        </p:blipFill>
        <p:spPr>
          <a:xfrm>
            <a:off x="452004" y="1186007"/>
            <a:ext cx="8990734" cy="5537232"/>
          </a:xfrm>
          <a:prstGeom prst="rect">
            <a:avLst/>
          </a:prstGeom>
        </p:spPr>
      </p:pic>
      <p:sp>
        <p:nvSpPr>
          <p:cNvPr id="9" name="Rectangle 8">
            <a:extLst>
              <a:ext uri="{FF2B5EF4-FFF2-40B4-BE49-F238E27FC236}">
                <a16:creationId xmlns:a16="http://schemas.microsoft.com/office/drawing/2014/main" id="{B042BF55-26FF-40F9-A6A1-4763851F480E}"/>
              </a:ext>
            </a:extLst>
          </p:cNvPr>
          <p:cNvSpPr/>
          <p:nvPr/>
        </p:nvSpPr>
        <p:spPr>
          <a:xfrm>
            <a:off x="1953491" y="1269278"/>
            <a:ext cx="2815936" cy="1370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orme libre : forme 9">
            <a:extLst>
              <a:ext uri="{FF2B5EF4-FFF2-40B4-BE49-F238E27FC236}">
                <a16:creationId xmlns:a16="http://schemas.microsoft.com/office/drawing/2014/main" id="{FE3DCC97-6AC9-4D08-8C79-90D8A0B3B9DD}"/>
              </a:ext>
            </a:extLst>
          </p:cNvPr>
          <p:cNvSpPr/>
          <p:nvPr/>
        </p:nvSpPr>
        <p:spPr>
          <a:xfrm>
            <a:off x="2575490" y="1111827"/>
            <a:ext cx="6994537" cy="3459747"/>
          </a:xfrm>
          <a:custGeom>
            <a:avLst/>
            <a:gdLst>
              <a:gd name="connsiteX0" fmla="*/ 2173155 w 6994537"/>
              <a:gd name="connsiteY0" fmla="*/ 1018309 h 3459747"/>
              <a:gd name="connsiteX1" fmla="*/ 2173155 w 6994537"/>
              <a:gd name="connsiteY1" fmla="*/ 1018309 h 3459747"/>
              <a:gd name="connsiteX2" fmla="*/ 2183546 w 6994537"/>
              <a:gd name="connsiteY2" fmla="*/ 924791 h 3459747"/>
              <a:gd name="connsiteX3" fmla="*/ 2412146 w 6994537"/>
              <a:gd name="connsiteY3" fmla="*/ 904009 h 3459747"/>
              <a:gd name="connsiteX4" fmla="*/ 2630355 w 6994537"/>
              <a:gd name="connsiteY4" fmla="*/ 904009 h 3459747"/>
              <a:gd name="connsiteX5" fmla="*/ 2630355 w 6994537"/>
              <a:gd name="connsiteY5" fmla="*/ 904009 h 3459747"/>
              <a:gd name="connsiteX6" fmla="*/ 2744655 w 6994537"/>
              <a:gd name="connsiteY6" fmla="*/ 644237 h 3459747"/>
              <a:gd name="connsiteX7" fmla="*/ 2765437 w 6994537"/>
              <a:gd name="connsiteY7" fmla="*/ 613064 h 3459747"/>
              <a:gd name="connsiteX8" fmla="*/ 2796610 w 6994537"/>
              <a:gd name="connsiteY8" fmla="*/ 581891 h 3459747"/>
              <a:gd name="connsiteX9" fmla="*/ 2858955 w 6994537"/>
              <a:gd name="connsiteY9" fmla="*/ 374073 h 3459747"/>
              <a:gd name="connsiteX10" fmla="*/ 2900519 w 6994537"/>
              <a:gd name="connsiteY10" fmla="*/ 270164 h 3459747"/>
              <a:gd name="connsiteX11" fmla="*/ 2983646 w 6994537"/>
              <a:gd name="connsiteY11" fmla="*/ 249382 h 3459747"/>
              <a:gd name="connsiteX12" fmla="*/ 3056383 w 6994537"/>
              <a:gd name="connsiteY12" fmla="*/ 218209 h 3459747"/>
              <a:gd name="connsiteX13" fmla="*/ 3087555 w 6994537"/>
              <a:gd name="connsiteY13" fmla="*/ 197428 h 3459747"/>
              <a:gd name="connsiteX14" fmla="*/ 3129119 w 6994537"/>
              <a:gd name="connsiteY14" fmla="*/ 187037 h 3459747"/>
              <a:gd name="connsiteX15" fmla="*/ 3181074 w 6994537"/>
              <a:gd name="connsiteY15" fmla="*/ 176646 h 3459747"/>
              <a:gd name="connsiteX16" fmla="*/ 3336937 w 6994537"/>
              <a:gd name="connsiteY16" fmla="*/ 166255 h 3459747"/>
              <a:gd name="connsiteX17" fmla="*/ 3336937 w 6994537"/>
              <a:gd name="connsiteY17" fmla="*/ 166255 h 3459747"/>
              <a:gd name="connsiteX18" fmla="*/ 3648665 w 6994537"/>
              <a:gd name="connsiteY18" fmla="*/ 62346 h 3459747"/>
              <a:gd name="connsiteX19" fmla="*/ 3762965 w 6994537"/>
              <a:gd name="connsiteY19" fmla="*/ 41564 h 3459747"/>
              <a:gd name="connsiteX20" fmla="*/ 3950001 w 6994537"/>
              <a:gd name="connsiteY20" fmla="*/ 0 h 3459747"/>
              <a:gd name="connsiteX21" fmla="*/ 4365637 w 6994537"/>
              <a:gd name="connsiteY21" fmla="*/ 72737 h 3459747"/>
              <a:gd name="connsiteX22" fmla="*/ 4625410 w 6994537"/>
              <a:gd name="connsiteY22" fmla="*/ 135082 h 3459747"/>
              <a:gd name="connsiteX23" fmla="*/ 4698146 w 6994537"/>
              <a:gd name="connsiteY23" fmla="*/ 155864 h 3459747"/>
              <a:gd name="connsiteX24" fmla="*/ 4895574 w 6994537"/>
              <a:gd name="connsiteY24" fmla="*/ 259773 h 3459747"/>
              <a:gd name="connsiteX25" fmla="*/ 4895574 w 6994537"/>
              <a:gd name="connsiteY25" fmla="*/ 259773 h 3459747"/>
              <a:gd name="connsiteX26" fmla="*/ 5529419 w 6994537"/>
              <a:gd name="connsiteY26" fmla="*/ 342900 h 3459747"/>
              <a:gd name="connsiteX27" fmla="*/ 5882710 w 6994537"/>
              <a:gd name="connsiteY27" fmla="*/ 529937 h 3459747"/>
              <a:gd name="connsiteX28" fmla="*/ 6287955 w 6994537"/>
              <a:gd name="connsiteY28" fmla="*/ 779318 h 3459747"/>
              <a:gd name="connsiteX29" fmla="*/ 6495774 w 6994537"/>
              <a:gd name="connsiteY29" fmla="*/ 945573 h 3459747"/>
              <a:gd name="connsiteX30" fmla="*/ 6807501 w 6994537"/>
              <a:gd name="connsiteY30" fmla="*/ 1444337 h 3459747"/>
              <a:gd name="connsiteX31" fmla="*/ 6880237 w 6994537"/>
              <a:gd name="connsiteY31" fmla="*/ 1579418 h 3459747"/>
              <a:gd name="connsiteX32" fmla="*/ 6963365 w 6994537"/>
              <a:gd name="connsiteY32" fmla="*/ 1714500 h 3459747"/>
              <a:gd name="connsiteX33" fmla="*/ 6994537 w 6994537"/>
              <a:gd name="connsiteY33" fmla="*/ 1797628 h 3459747"/>
              <a:gd name="connsiteX34" fmla="*/ 6984146 w 6994537"/>
              <a:gd name="connsiteY34" fmla="*/ 2140528 h 3459747"/>
              <a:gd name="connsiteX35" fmla="*/ 6932192 w 6994537"/>
              <a:gd name="connsiteY35" fmla="*/ 2327564 h 3459747"/>
              <a:gd name="connsiteX36" fmla="*/ 6869846 w 6994537"/>
              <a:gd name="connsiteY36" fmla="*/ 2462646 h 3459747"/>
              <a:gd name="connsiteX37" fmla="*/ 6807501 w 6994537"/>
              <a:gd name="connsiteY37" fmla="*/ 2576946 h 3459747"/>
              <a:gd name="connsiteX38" fmla="*/ 6693201 w 6994537"/>
              <a:gd name="connsiteY38" fmla="*/ 2763982 h 3459747"/>
              <a:gd name="connsiteX39" fmla="*/ 6506165 w 6994537"/>
              <a:gd name="connsiteY39" fmla="*/ 3127664 h 3459747"/>
              <a:gd name="connsiteX40" fmla="*/ 6381474 w 6994537"/>
              <a:gd name="connsiteY40" fmla="*/ 3158837 h 3459747"/>
              <a:gd name="connsiteX41" fmla="*/ 6308737 w 6994537"/>
              <a:gd name="connsiteY41" fmla="*/ 3190009 h 3459747"/>
              <a:gd name="connsiteX42" fmla="*/ 6215219 w 6994537"/>
              <a:gd name="connsiteY42" fmla="*/ 3200400 h 3459747"/>
              <a:gd name="connsiteX43" fmla="*/ 6048965 w 6994537"/>
              <a:gd name="connsiteY43" fmla="*/ 3241964 h 3459747"/>
              <a:gd name="connsiteX44" fmla="*/ 5965837 w 6994537"/>
              <a:gd name="connsiteY44" fmla="*/ 3262746 h 3459747"/>
              <a:gd name="connsiteX45" fmla="*/ 5820365 w 6994537"/>
              <a:gd name="connsiteY45" fmla="*/ 3304309 h 3459747"/>
              <a:gd name="connsiteX46" fmla="*/ 5196910 w 6994537"/>
              <a:gd name="connsiteY46" fmla="*/ 3366655 h 3459747"/>
              <a:gd name="connsiteX47" fmla="*/ 4303292 w 6994537"/>
              <a:gd name="connsiteY47" fmla="*/ 3408218 h 3459747"/>
              <a:gd name="connsiteX48" fmla="*/ 4157819 w 6994537"/>
              <a:gd name="connsiteY48" fmla="*/ 3335482 h 3459747"/>
              <a:gd name="connsiteX49" fmla="*/ 3804528 w 6994537"/>
              <a:gd name="connsiteY49" fmla="*/ 3283528 h 3459747"/>
              <a:gd name="connsiteX50" fmla="*/ 3575928 w 6994537"/>
              <a:gd name="connsiteY50" fmla="*/ 3293918 h 3459747"/>
              <a:gd name="connsiteX51" fmla="*/ 3368110 w 6994537"/>
              <a:gd name="connsiteY51" fmla="*/ 3366655 h 3459747"/>
              <a:gd name="connsiteX52" fmla="*/ 3284983 w 6994537"/>
              <a:gd name="connsiteY52" fmla="*/ 3408218 h 3459747"/>
              <a:gd name="connsiteX53" fmla="*/ 3139510 w 6994537"/>
              <a:gd name="connsiteY53" fmla="*/ 3429000 h 3459747"/>
              <a:gd name="connsiteX54" fmla="*/ 3077165 w 6994537"/>
              <a:gd name="connsiteY54" fmla="*/ 3439391 h 3459747"/>
              <a:gd name="connsiteX55" fmla="*/ 2848565 w 6994537"/>
              <a:gd name="connsiteY55" fmla="*/ 3304309 h 3459747"/>
              <a:gd name="connsiteX56" fmla="*/ 2786219 w 6994537"/>
              <a:gd name="connsiteY56" fmla="*/ 3252355 h 3459747"/>
              <a:gd name="connsiteX57" fmla="*/ 2682310 w 6994537"/>
              <a:gd name="connsiteY57" fmla="*/ 3221182 h 3459747"/>
              <a:gd name="connsiteX58" fmla="*/ 2630355 w 6994537"/>
              <a:gd name="connsiteY58" fmla="*/ 3200400 h 3459747"/>
              <a:gd name="connsiteX59" fmla="*/ 2547228 w 6994537"/>
              <a:gd name="connsiteY59" fmla="*/ 3179618 h 3459747"/>
              <a:gd name="connsiteX60" fmla="*/ 2484883 w 6994537"/>
              <a:gd name="connsiteY60" fmla="*/ 3190009 h 3459747"/>
              <a:gd name="connsiteX61" fmla="*/ 2464101 w 6994537"/>
              <a:gd name="connsiteY61" fmla="*/ 3221182 h 3459747"/>
              <a:gd name="connsiteX62" fmla="*/ 2432928 w 6994537"/>
              <a:gd name="connsiteY62" fmla="*/ 3231573 h 3459747"/>
              <a:gd name="connsiteX63" fmla="*/ 2360192 w 6994537"/>
              <a:gd name="connsiteY63" fmla="*/ 3293918 h 3459747"/>
              <a:gd name="connsiteX64" fmla="*/ 2277065 w 6994537"/>
              <a:gd name="connsiteY64" fmla="*/ 3314700 h 3459747"/>
              <a:gd name="connsiteX65" fmla="*/ 2183546 w 6994537"/>
              <a:gd name="connsiteY65" fmla="*/ 3356264 h 3459747"/>
              <a:gd name="connsiteX66" fmla="*/ 1466574 w 6994537"/>
              <a:gd name="connsiteY66" fmla="*/ 3345873 h 3459747"/>
              <a:gd name="connsiteX67" fmla="*/ 1425010 w 6994537"/>
              <a:gd name="connsiteY67" fmla="*/ 3314700 h 3459747"/>
              <a:gd name="connsiteX68" fmla="*/ 1373055 w 6994537"/>
              <a:gd name="connsiteY68" fmla="*/ 3293918 h 3459747"/>
              <a:gd name="connsiteX69" fmla="*/ 1269146 w 6994537"/>
              <a:gd name="connsiteY69" fmla="*/ 3304309 h 3459747"/>
              <a:gd name="connsiteX70" fmla="*/ 1134065 w 6994537"/>
              <a:gd name="connsiteY70" fmla="*/ 3314700 h 3459747"/>
              <a:gd name="connsiteX71" fmla="*/ 1082110 w 6994537"/>
              <a:gd name="connsiteY71" fmla="*/ 3335482 h 3459747"/>
              <a:gd name="connsiteX72" fmla="*/ 1030155 w 6994537"/>
              <a:gd name="connsiteY72" fmla="*/ 3345873 h 3459747"/>
              <a:gd name="connsiteX73" fmla="*/ 947028 w 6994537"/>
              <a:gd name="connsiteY73" fmla="*/ 3366655 h 3459747"/>
              <a:gd name="connsiteX74" fmla="*/ 489828 w 6994537"/>
              <a:gd name="connsiteY74" fmla="*/ 3377046 h 3459747"/>
              <a:gd name="connsiteX75" fmla="*/ 333965 w 6994537"/>
              <a:gd name="connsiteY75" fmla="*/ 3397828 h 3459747"/>
              <a:gd name="connsiteX76" fmla="*/ 250837 w 6994537"/>
              <a:gd name="connsiteY76" fmla="*/ 3408218 h 3459747"/>
              <a:gd name="connsiteX77" fmla="*/ 115755 w 6994537"/>
              <a:gd name="connsiteY77" fmla="*/ 3397828 h 3459747"/>
              <a:gd name="connsiteX78" fmla="*/ 105365 w 6994537"/>
              <a:gd name="connsiteY78" fmla="*/ 3366655 h 3459747"/>
              <a:gd name="connsiteX79" fmla="*/ 32628 w 6994537"/>
              <a:gd name="connsiteY79" fmla="*/ 3252355 h 3459747"/>
              <a:gd name="connsiteX80" fmla="*/ 11846 w 6994537"/>
              <a:gd name="connsiteY80" fmla="*/ 3200400 h 3459747"/>
              <a:gd name="connsiteX81" fmla="*/ 1455 w 6994537"/>
              <a:gd name="connsiteY81" fmla="*/ 3075709 h 3459747"/>
              <a:gd name="connsiteX82" fmla="*/ 115755 w 6994537"/>
              <a:gd name="connsiteY82" fmla="*/ 2805546 h 3459747"/>
              <a:gd name="connsiteX83" fmla="*/ 333965 w 6994537"/>
              <a:gd name="connsiteY83" fmla="*/ 2566555 h 3459747"/>
              <a:gd name="connsiteX84" fmla="*/ 375528 w 6994537"/>
              <a:gd name="connsiteY84" fmla="*/ 2524991 h 3459747"/>
              <a:gd name="connsiteX85" fmla="*/ 489828 w 6994537"/>
              <a:gd name="connsiteY85" fmla="*/ 2389909 h 3459747"/>
              <a:gd name="connsiteX86" fmla="*/ 531392 w 6994537"/>
              <a:gd name="connsiteY86" fmla="*/ 2358737 h 3459747"/>
              <a:gd name="connsiteX87" fmla="*/ 583346 w 6994537"/>
              <a:gd name="connsiteY87" fmla="*/ 2296391 h 3459747"/>
              <a:gd name="connsiteX88" fmla="*/ 687255 w 6994537"/>
              <a:gd name="connsiteY88" fmla="*/ 2150918 h 3459747"/>
              <a:gd name="connsiteX89" fmla="*/ 843119 w 6994537"/>
              <a:gd name="connsiteY89" fmla="*/ 2026228 h 3459747"/>
              <a:gd name="connsiteX90" fmla="*/ 915855 w 6994537"/>
              <a:gd name="connsiteY90" fmla="*/ 1974273 h 3459747"/>
              <a:gd name="connsiteX91" fmla="*/ 1123674 w 6994537"/>
              <a:gd name="connsiteY91" fmla="*/ 1963882 h 3459747"/>
              <a:gd name="connsiteX92" fmla="*/ 1570483 w 6994537"/>
              <a:gd name="connsiteY92" fmla="*/ 1974273 h 3459747"/>
              <a:gd name="connsiteX93" fmla="*/ 1664001 w 6994537"/>
              <a:gd name="connsiteY93" fmla="*/ 2005446 h 3459747"/>
              <a:gd name="connsiteX94" fmla="*/ 1705565 w 6994537"/>
              <a:gd name="connsiteY94" fmla="*/ 2015837 h 3459747"/>
              <a:gd name="connsiteX95" fmla="*/ 1996510 w 6994537"/>
              <a:gd name="connsiteY95" fmla="*/ 2005446 h 3459747"/>
              <a:gd name="connsiteX96" fmla="*/ 2038074 w 6994537"/>
              <a:gd name="connsiteY96" fmla="*/ 1995055 h 3459747"/>
              <a:gd name="connsiteX97" fmla="*/ 2069246 w 6994537"/>
              <a:gd name="connsiteY97" fmla="*/ 1963882 h 3459747"/>
              <a:gd name="connsiteX98" fmla="*/ 2110810 w 6994537"/>
              <a:gd name="connsiteY98" fmla="*/ 1932709 h 3459747"/>
              <a:gd name="connsiteX99" fmla="*/ 2141983 w 6994537"/>
              <a:gd name="connsiteY99" fmla="*/ 1766455 h 3459747"/>
              <a:gd name="connsiteX100" fmla="*/ 2173155 w 6994537"/>
              <a:gd name="connsiteY100" fmla="*/ 1724891 h 3459747"/>
              <a:gd name="connsiteX101" fmla="*/ 2193937 w 6994537"/>
              <a:gd name="connsiteY101" fmla="*/ 1683328 h 3459747"/>
              <a:gd name="connsiteX102" fmla="*/ 2214719 w 6994537"/>
              <a:gd name="connsiteY102" fmla="*/ 1652155 h 3459747"/>
              <a:gd name="connsiteX103" fmla="*/ 2225110 w 6994537"/>
              <a:gd name="connsiteY103" fmla="*/ 1620982 h 3459747"/>
              <a:gd name="connsiteX104" fmla="*/ 2256283 w 6994537"/>
              <a:gd name="connsiteY104" fmla="*/ 1589809 h 3459747"/>
              <a:gd name="connsiteX105" fmla="*/ 2256283 w 6994537"/>
              <a:gd name="connsiteY105" fmla="*/ 1350818 h 3459747"/>
              <a:gd name="connsiteX106" fmla="*/ 2225110 w 6994537"/>
              <a:gd name="connsiteY106" fmla="*/ 1267691 h 3459747"/>
              <a:gd name="connsiteX107" fmla="*/ 2214719 w 6994537"/>
              <a:gd name="connsiteY107" fmla="*/ 1236518 h 3459747"/>
              <a:gd name="connsiteX108" fmla="*/ 2204328 w 6994537"/>
              <a:gd name="connsiteY108" fmla="*/ 976746 h 3459747"/>
              <a:gd name="connsiteX109" fmla="*/ 2173155 w 6994537"/>
              <a:gd name="connsiteY109" fmla="*/ 1018309 h 3459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6994537" h="3459747">
                <a:moveTo>
                  <a:pt x="2173155" y="1018309"/>
                </a:moveTo>
                <a:lnTo>
                  <a:pt x="2173155" y="1018309"/>
                </a:lnTo>
                <a:cubicBezTo>
                  <a:pt x="2176619" y="987136"/>
                  <a:pt x="2175939" y="955219"/>
                  <a:pt x="2183546" y="924791"/>
                </a:cubicBezTo>
                <a:cubicBezTo>
                  <a:pt x="2206244" y="834000"/>
                  <a:pt x="2394892" y="903588"/>
                  <a:pt x="2412146" y="904009"/>
                </a:cubicBezTo>
                <a:cubicBezTo>
                  <a:pt x="2484861" y="905783"/>
                  <a:pt x="2557619" y="904009"/>
                  <a:pt x="2630355" y="904009"/>
                </a:cubicBezTo>
                <a:lnTo>
                  <a:pt x="2630355" y="904009"/>
                </a:lnTo>
                <a:cubicBezTo>
                  <a:pt x="2688714" y="740606"/>
                  <a:pt x="2664559" y="784405"/>
                  <a:pt x="2744655" y="644237"/>
                </a:cubicBezTo>
                <a:cubicBezTo>
                  <a:pt x="2750851" y="633394"/>
                  <a:pt x="2757442" y="622658"/>
                  <a:pt x="2765437" y="613064"/>
                </a:cubicBezTo>
                <a:cubicBezTo>
                  <a:pt x="2774845" y="601775"/>
                  <a:pt x="2786219" y="592282"/>
                  <a:pt x="2796610" y="581891"/>
                </a:cubicBezTo>
                <a:cubicBezTo>
                  <a:pt x="2813936" y="518362"/>
                  <a:pt x="2834010" y="436435"/>
                  <a:pt x="2858955" y="374073"/>
                </a:cubicBezTo>
                <a:cubicBezTo>
                  <a:pt x="2872810" y="339437"/>
                  <a:pt x="2874141" y="296542"/>
                  <a:pt x="2900519" y="270164"/>
                </a:cubicBezTo>
                <a:cubicBezTo>
                  <a:pt x="2920715" y="249968"/>
                  <a:pt x="2956550" y="258414"/>
                  <a:pt x="2983646" y="249382"/>
                </a:cubicBezTo>
                <a:cubicBezTo>
                  <a:pt x="3008671" y="241040"/>
                  <a:pt x="3032789" y="230006"/>
                  <a:pt x="3056383" y="218209"/>
                </a:cubicBezTo>
                <a:cubicBezTo>
                  <a:pt x="3067553" y="212624"/>
                  <a:pt x="3076077" y="202347"/>
                  <a:pt x="3087555" y="197428"/>
                </a:cubicBezTo>
                <a:cubicBezTo>
                  <a:pt x="3100681" y="191803"/>
                  <a:pt x="3115178" y="190135"/>
                  <a:pt x="3129119" y="187037"/>
                </a:cubicBezTo>
                <a:cubicBezTo>
                  <a:pt x="3146360" y="183206"/>
                  <a:pt x="3163510" y="178495"/>
                  <a:pt x="3181074" y="176646"/>
                </a:cubicBezTo>
                <a:cubicBezTo>
                  <a:pt x="3282132" y="166008"/>
                  <a:pt x="3281342" y="166255"/>
                  <a:pt x="3336937" y="166255"/>
                </a:cubicBezTo>
                <a:lnTo>
                  <a:pt x="3336937" y="166255"/>
                </a:lnTo>
                <a:cubicBezTo>
                  <a:pt x="3452700" y="122844"/>
                  <a:pt x="3505995" y="101256"/>
                  <a:pt x="3648665" y="62346"/>
                </a:cubicBezTo>
                <a:cubicBezTo>
                  <a:pt x="3686025" y="52157"/>
                  <a:pt x="3725397" y="50956"/>
                  <a:pt x="3762965" y="41564"/>
                </a:cubicBezTo>
                <a:cubicBezTo>
                  <a:pt x="3960202" y="-7746"/>
                  <a:pt x="3753225" y="21864"/>
                  <a:pt x="3950001" y="0"/>
                </a:cubicBezTo>
                <a:cubicBezTo>
                  <a:pt x="4473464" y="45519"/>
                  <a:pt x="3940865" y="-16687"/>
                  <a:pt x="4365637" y="72737"/>
                </a:cubicBezTo>
                <a:cubicBezTo>
                  <a:pt x="4686692" y="140326"/>
                  <a:pt x="4465978" y="86025"/>
                  <a:pt x="4625410" y="135082"/>
                </a:cubicBezTo>
                <a:cubicBezTo>
                  <a:pt x="4649510" y="142498"/>
                  <a:pt x="4674645" y="146725"/>
                  <a:pt x="4698146" y="155864"/>
                </a:cubicBezTo>
                <a:cubicBezTo>
                  <a:pt x="4802140" y="196306"/>
                  <a:pt x="4808229" y="205182"/>
                  <a:pt x="4895574" y="259773"/>
                </a:cubicBezTo>
                <a:lnTo>
                  <a:pt x="4895574" y="259773"/>
                </a:lnTo>
                <a:cubicBezTo>
                  <a:pt x="5106856" y="287482"/>
                  <a:pt x="5323887" y="286649"/>
                  <a:pt x="5529419" y="342900"/>
                </a:cubicBezTo>
                <a:cubicBezTo>
                  <a:pt x="5657941" y="378075"/>
                  <a:pt x="5765907" y="465810"/>
                  <a:pt x="5882710" y="529937"/>
                </a:cubicBezTo>
                <a:cubicBezTo>
                  <a:pt x="5956287" y="570332"/>
                  <a:pt x="6240922" y="741691"/>
                  <a:pt x="6287955" y="779318"/>
                </a:cubicBezTo>
                <a:lnTo>
                  <a:pt x="6495774" y="945573"/>
                </a:lnTo>
                <a:cubicBezTo>
                  <a:pt x="6599683" y="1111828"/>
                  <a:pt x="6705824" y="1276708"/>
                  <a:pt x="6807501" y="1444337"/>
                </a:cubicBezTo>
                <a:cubicBezTo>
                  <a:pt x="6834023" y="1488062"/>
                  <a:pt x="6854614" y="1535160"/>
                  <a:pt x="6880237" y="1579418"/>
                </a:cubicBezTo>
                <a:cubicBezTo>
                  <a:pt x="6922867" y="1653051"/>
                  <a:pt x="6925535" y="1633436"/>
                  <a:pt x="6963365" y="1714500"/>
                </a:cubicBezTo>
                <a:cubicBezTo>
                  <a:pt x="6975880" y="1741317"/>
                  <a:pt x="6984146" y="1769919"/>
                  <a:pt x="6994537" y="1797628"/>
                </a:cubicBezTo>
                <a:cubicBezTo>
                  <a:pt x="6991073" y="1911928"/>
                  <a:pt x="6997507" y="2026959"/>
                  <a:pt x="6984146" y="2140528"/>
                </a:cubicBezTo>
                <a:cubicBezTo>
                  <a:pt x="6976586" y="2204791"/>
                  <a:pt x="6951221" y="2265719"/>
                  <a:pt x="6932192" y="2327564"/>
                </a:cubicBezTo>
                <a:cubicBezTo>
                  <a:pt x="6903958" y="2419323"/>
                  <a:pt x="6909399" y="2392330"/>
                  <a:pt x="6869846" y="2462646"/>
                </a:cubicBezTo>
                <a:cubicBezTo>
                  <a:pt x="6848569" y="2500472"/>
                  <a:pt x="6829449" y="2539506"/>
                  <a:pt x="6807501" y="2576946"/>
                </a:cubicBezTo>
                <a:cubicBezTo>
                  <a:pt x="6770550" y="2639979"/>
                  <a:pt x="6728273" y="2699884"/>
                  <a:pt x="6693201" y="2763982"/>
                </a:cubicBezTo>
                <a:cubicBezTo>
                  <a:pt x="6627766" y="2883570"/>
                  <a:pt x="6590634" y="3020669"/>
                  <a:pt x="6506165" y="3127664"/>
                </a:cubicBezTo>
                <a:cubicBezTo>
                  <a:pt x="6479618" y="3161291"/>
                  <a:pt x="6420853" y="3141961"/>
                  <a:pt x="6381474" y="3158837"/>
                </a:cubicBezTo>
                <a:cubicBezTo>
                  <a:pt x="6357228" y="3169228"/>
                  <a:pt x="6334328" y="3183611"/>
                  <a:pt x="6308737" y="3190009"/>
                </a:cubicBezTo>
                <a:cubicBezTo>
                  <a:pt x="6278309" y="3197616"/>
                  <a:pt x="6246157" y="3195244"/>
                  <a:pt x="6215219" y="3200400"/>
                </a:cubicBezTo>
                <a:cubicBezTo>
                  <a:pt x="6137761" y="3213310"/>
                  <a:pt x="6120287" y="3222945"/>
                  <a:pt x="6048965" y="3241964"/>
                </a:cubicBezTo>
                <a:cubicBezTo>
                  <a:pt x="6021367" y="3249323"/>
                  <a:pt x="5993300" y="3254899"/>
                  <a:pt x="5965837" y="3262746"/>
                </a:cubicBezTo>
                <a:cubicBezTo>
                  <a:pt x="5880235" y="3287204"/>
                  <a:pt x="5919738" y="3285199"/>
                  <a:pt x="5820365" y="3304309"/>
                </a:cubicBezTo>
                <a:cubicBezTo>
                  <a:pt x="5559652" y="3354445"/>
                  <a:pt x="5534430" y="3342546"/>
                  <a:pt x="5196910" y="3366655"/>
                </a:cubicBezTo>
                <a:cubicBezTo>
                  <a:pt x="4766608" y="3467902"/>
                  <a:pt x="4816676" y="3493782"/>
                  <a:pt x="4303292" y="3408218"/>
                </a:cubicBezTo>
                <a:cubicBezTo>
                  <a:pt x="4249815" y="3399305"/>
                  <a:pt x="4208509" y="3354709"/>
                  <a:pt x="4157819" y="3335482"/>
                </a:cubicBezTo>
                <a:cubicBezTo>
                  <a:pt x="4013978" y="3280922"/>
                  <a:pt x="3962877" y="3291861"/>
                  <a:pt x="3804528" y="3283528"/>
                </a:cubicBezTo>
                <a:cubicBezTo>
                  <a:pt x="3728328" y="3286991"/>
                  <a:pt x="3651395" y="3282820"/>
                  <a:pt x="3575928" y="3293918"/>
                </a:cubicBezTo>
                <a:cubicBezTo>
                  <a:pt x="3560689" y="3296159"/>
                  <a:pt x="3399366" y="3352981"/>
                  <a:pt x="3368110" y="3366655"/>
                </a:cubicBezTo>
                <a:cubicBezTo>
                  <a:pt x="3339728" y="3379072"/>
                  <a:pt x="3314373" y="3398421"/>
                  <a:pt x="3284983" y="3408218"/>
                </a:cubicBezTo>
                <a:cubicBezTo>
                  <a:pt x="3213072" y="3432188"/>
                  <a:pt x="3280240" y="3412443"/>
                  <a:pt x="3139510" y="3429000"/>
                </a:cubicBezTo>
                <a:cubicBezTo>
                  <a:pt x="3118586" y="3431462"/>
                  <a:pt x="3097947" y="3435927"/>
                  <a:pt x="3077165" y="3439391"/>
                </a:cubicBezTo>
                <a:cubicBezTo>
                  <a:pt x="2966355" y="3411688"/>
                  <a:pt x="3029402" y="3432401"/>
                  <a:pt x="2848565" y="3304309"/>
                </a:cubicBezTo>
                <a:cubicBezTo>
                  <a:pt x="2826490" y="3288673"/>
                  <a:pt x="2809042" y="3266878"/>
                  <a:pt x="2786219" y="3252355"/>
                </a:cubicBezTo>
                <a:cubicBezTo>
                  <a:pt x="2743841" y="3225387"/>
                  <a:pt x="2727961" y="3234877"/>
                  <a:pt x="2682310" y="3221182"/>
                </a:cubicBezTo>
                <a:cubicBezTo>
                  <a:pt x="2664444" y="3215822"/>
                  <a:pt x="2648183" y="3205885"/>
                  <a:pt x="2630355" y="3200400"/>
                </a:cubicBezTo>
                <a:cubicBezTo>
                  <a:pt x="2603056" y="3192000"/>
                  <a:pt x="2547228" y="3179618"/>
                  <a:pt x="2547228" y="3179618"/>
                </a:cubicBezTo>
                <a:cubicBezTo>
                  <a:pt x="2526446" y="3183082"/>
                  <a:pt x="2503727" y="3180587"/>
                  <a:pt x="2484883" y="3190009"/>
                </a:cubicBezTo>
                <a:cubicBezTo>
                  <a:pt x="2473713" y="3195594"/>
                  <a:pt x="2473853" y="3213381"/>
                  <a:pt x="2464101" y="3221182"/>
                </a:cubicBezTo>
                <a:cubicBezTo>
                  <a:pt x="2455548" y="3228024"/>
                  <a:pt x="2443319" y="3228109"/>
                  <a:pt x="2432928" y="3231573"/>
                </a:cubicBezTo>
                <a:cubicBezTo>
                  <a:pt x="2408425" y="3268327"/>
                  <a:pt x="2410755" y="3274471"/>
                  <a:pt x="2360192" y="3293918"/>
                </a:cubicBezTo>
                <a:cubicBezTo>
                  <a:pt x="2333534" y="3304171"/>
                  <a:pt x="2302611" y="3301927"/>
                  <a:pt x="2277065" y="3314700"/>
                </a:cubicBezTo>
                <a:cubicBezTo>
                  <a:pt x="2218818" y="3343824"/>
                  <a:pt x="2249883" y="3329729"/>
                  <a:pt x="2183546" y="3356264"/>
                </a:cubicBezTo>
                <a:lnTo>
                  <a:pt x="1466574" y="3345873"/>
                </a:lnTo>
                <a:cubicBezTo>
                  <a:pt x="1449282" y="3344925"/>
                  <a:pt x="1440149" y="3323111"/>
                  <a:pt x="1425010" y="3314700"/>
                </a:cubicBezTo>
                <a:cubicBezTo>
                  <a:pt x="1408705" y="3305642"/>
                  <a:pt x="1390373" y="3300845"/>
                  <a:pt x="1373055" y="3293918"/>
                </a:cubicBezTo>
                <a:lnTo>
                  <a:pt x="1269146" y="3304309"/>
                </a:lnTo>
                <a:cubicBezTo>
                  <a:pt x="1224156" y="3308221"/>
                  <a:pt x="1178611" y="3307276"/>
                  <a:pt x="1134065" y="3314700"/>
                </a:cubicBezTo>
                <a:cubicBezTo>
                  <a:pt x="1115666" y="3317766"/>
                  <a:pt x="1099976" y="3330122"/>
                  <a:pt x="1082110" y="3335482"/>
                </a:cubicBezTo>
                <a:cubicBezTo>
                  <a:pt x="1065194" y="3340557"/>
                  <a:pt x="1047364" y="3341902"/>
                  <a:pt x="1030155" y="3345873"/>
                </a:cubicBezTo>
                <a:cubicBezTo>
                  <a:pt x="1002325" y="3352295"/>
                  <a:pt x="975542" y="3365010"/>
                  <a:pt x="947028" y="3366655"/>
                </a:cubicBezTo>
                <a:cubicBezTo>
                  <a:pt x="794842" y="3375435"/>
                  <a:pt x="642228" y="3373582"/>
                  <a:pt x="489828" y="3377046"/>
                </a:cubicBezTo>
                <a:lnTo>
                  <a:pt x="333965" y="3397828"/>
                </a:lnTo>
                <a:lnTo>
                  <a:pt x="250837" y="3408218"/>
                </a:lnTo>
                <a:cubicBezTo>
                  <a:pt x="205810" y="3404755"/>
                  <a:pt x="159178" y="3410234"/>
                  <a:pt x="115755" y="3397828"/>
                </a:cubicBezTo>
                <a:cubicBezTo>
                  <a:pt x="105223" y="3394819"/>
                  <a:pt x="109813" y="3376664"/>
                  <a:pt x="105365" y="3366655"/>
                </a:cubicBezTo>
                <a:cubicBezTo>
                  <a:pt x="74548" y="3297315"/>
                  <a:pt x="78900" y="3310194"/>
                  <a:pt x="32628" y="3252355"/>
                </a:cubicBezTo>
                <a:cubicBezTo>
                  <a:pt x="25701" y="3235037"/>
                  <a:pt x="15088" y="3218769"/>
                  <a:pt x="11846" y="3200400"/>
                </a:cubicBezTo>
                <a:cubicBezTo>
                  <a:pt x="4598" y="3159327"/>
                  <a:pt x="-3326" y="3117142"/>
                  <a:pt x="1455" y="3075709"/>
                </a:cubicBezTo>
                <a:cubicBezTo>
                  <a:pt x="11635" y="2987484"/>
                  <a:pt x="60166" y="2875032"/>
                  <a:pt x="115755" y="2805546"/>
                </a:cubicBezTo>
                <a:cubicBezTo>
                  <a:pt x="183144" y="2721310"/>
                  <a:pt x="260674" y="2645709"/>
                  <a:pt x="333965" y="2566555"/>
                </a:cubicBezTo>
                <a:cubicBezTo>
                  <a:pt x="347277" y="2552178"/>
                  <a:pt x="362872" y="2539948"/>
                  <a:pt x="375528" y="2524991"/>
                </a:cubicBezTo>
                <a:cubicBezTo>
                  <a:pt x="413628" y="2479964"/>
                  <a:pt x="449487" y="2432940"/>
                  <a:pt x="489828" y="2389909"/>
                </a:cubicBezTo>
                <a:cubicBezTo>
                  <a:pt x="501673" y="2377275"/>
                  <a:pt x="519146" y="2370983"/>
                  <a:pt x="531392" y="2358737"/>
                </a:cubicBezTo>
                <a:cubicBezTo>
                  <a:pt x="550521" y="2339608"/>
                  <a:pt x="567115" y="2318033"/>
                  <a:pt x="583346" y="2296391"/>
                </a:cubicBezTo>
                <a:cubicBezTo>
                  <a:pt x="619100" y="2248718"/>
                  <a:pt x="640722" y="2188144"/>
                  <a:pt x="687255" y="2150918"/>
                </a:cubicBezTo>
                <a:cubicBezTo>
                  <a:pt x="739210" y="2109355"/>
                  <a:pt x="790471" y="2066910"/>
                  <a:pt x="843119" y="2026228"/>
                </a:cubicBezTo>
                <a:cubicBezTo>
                  <a:pt x="866696" y="2008010"/>
                  <a:pt x="886769" y="1980737"/>
                  <a:pt x="915855" y="1974273"/>
                </a:cubicBezTo>
                <a:cubicBezTo>
                  <a:pt x="983563" y="1959227"/>
                  <a:pt x="1054401" y="1967346"/>
                  <a:pt x="1123674" y="1963882"/>
                </a:cubicBezTo>
                <a:cubicBezTo>
                  <a:pt x="1272610" y="1967346"/>
                  <a:pt x="1421945" y="1962847"/>
                  <a:pt x="1570483" y="1974273"/>
                </a:cubicBezTo>
                <a:cubicBezTo>
                  <a:pt x="1603245" y="1976793"/>
                  <a:pt x="1632123" y="1997477"/>
                  <a:pt x="1664001" y="2005446"/>
                </a:cubicBezTo>
                <a:lnTo>
                  <a:pt x="1705565" y="2015837"/>
                </a:lnTo>
                <a:cubicBezTo>
                  <a:pt x="1802547" y="2012373"/>
                  <a:pt x="1899655" y="2011499"/>
                  <a:pt x="1996510" y="2005446"/>
                </a:cubicBezTo>
                <a:cubicBezTo>
                  <a:pt x="2010763" y="2004555"/>
                  <a:pt x="2025675" y="2002140"/>
                  <a:pt x="2038074" y="1995055"/>
                </a:cubicBezTo>
                <a:cubicBezTo>
                  <a:pt x="2050833" y="1987764"/>
                  <a:pt x="2058089" y="1973445"/>
                  <a:pt x="2069246" y="1963882"/>
                </a:cubicBezTo>
                <a:cubicBezTo>
                  <a:pt x="2082395" y="1952611"/>
                  <a:pt x="2096955" y="1943100"/>
                  <a:pt x="2110810" y="1932709"/>
                </a:cubicBezTo>
                <a:cubicBezTo>
                  <a:pt x="2116792" y="1896820"/>
                  <a:pt x="2134197" y="1788255"/>
                  <a:pt x="2141983" y="1766455"/>
                </a:cubicBezTo>
                <a:cubicBezTo>
                  <a:pt x="2147808" y="1750146"/>
                  <a:pt x="2163976" y="1739577"/>
                  <a:pt x="2173155" y="1724891"/>
                </a:cubicBezTo>
                <a:cubicBezTo>
                  <a:pt x="2181364" y="1711756"/>
                  <a:pt x="2186252" y="1696777"/>
                  <a:pt x="2193937" y="1683328"/>
                </a:cubicBezTo>
                <a:cubicBezTo>
                  <a:pt x="2200133" y="1672485"/>
                  <a:pt x="2209134" y="1663325"/>
                  <a:pt x="2214719" y="1652155"/>
                </a:cubicBezTo>
                <a:cubicBezTo>
                  <a:pt x="2219617" y="1642358"/>
                  <a:pt x="2219034" y="1630096"/>
                  <a:pt x="2225110" y="1620982"/>
                </a:cubicBezTo>
                <a:cubicBezTo>
                  <a:pt x="2233261" y="1608755"/>
                  <a:pt x="2245892" y="1600200"/>
                  <a:pt x="2256283" y="1589809"/>
                </a:cubicBezTo>
                <a:cubicBezTo>
                  <a:pt x="2269780" y="1468338"/>
                  <a:pt x="2272416" y="1496012"/>
                  <a:pt x="2256283" y="1350818"/>
                </a:cubicBezTo>
                <a:cubicBezTo>
                  <a:pt x="2251494" y="1307715"/>
                  <a:pt x="2242127" y="1307398"/>
                  <a:pt x="2225110" y="1267691"/>
                </a:cubicBezTo>
                <a:cubicBezTo>
                  <a:pt x="2220795" y="1257624"/>
                  <a:pt x="2218183" y="1246909"/>
                  <a:pt x="2214719" y="1236518"/>
                </a:cubicBezTo>
                <a:cubicBezTo>
                  <a:pt x="2199938" y="1073926"/>
                  <a:pt x="2204328" y="1160475"/>
                  <a:pt x="2204328" y="976746"/>
                </a:cubicBezTo>
                <a:lnTo>
                  <a:pt x="2173155" y="101830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orme libre : forme 10">
            <a:extLst>
              <a:ext uri="{FF2B5EF4-FFF2-40B4-BE49-F238E27FC236}">
                <a16:creationId xmlns:a16="http://schemas.microsoft.com/office/drawing/2014/main" id="{D74D4912-F3EA-4444-9803-29620EBBC142}"/>
              </a:ext>
            </a:extLst>
          </p:cNvPr>
          <p:cNvSpPr/>
          <p:nvPr/>
        </p:nvSpPr>
        <p:spPr>
          <a:xfrm>
            <a:off x="2951018" y="4269606"/>
            <a:ext cx="2691246" cy="2432530"/>
          </a:xfrm>
          <a:custGeom>
            <a:avLst/>
            <a:gdLst>
              <a:gd name="connsiteX0" fmla="*/ 716973 w 2691246"/>
              <a:gd name="connsiteY0" fmla="*/ 167312 h 2432530"/>
              <a:gd name="connsiteX1" fmla="*/ 716973 w 2691246"/>
              <a:gd name="connsiteY1" fmla="*/ 167312 h 2432530"/>
              <a:gd name="connsiteX2" fmla="*/ 831273 w 2691246"/>
              <a:gd name="connsiteY2" fmla="*/ 32230 h 2432530"/>
              <a:gd name="connsiteX3" fmla="*/ 862446 w 2691246"/>
              <a:gd name="connsiteY3" fmla="*/ 1058 h 2432530"/>
              <a:gd name="connsiteX4" fmla="*/ 924791 w 2691246"/>
              <a:gd name="connsiteY4" fmla="*/ 11449 h 2432530"/>
              <a:gd name="connsiteX5" fmla="*/ 966355 w 2691246"/>
              <a:gd name="connsiteY5" fmla="*/ 94576 h 2432530"/>
              <a:gd name="connsiteX6" fmla="*/ 1007918 w 2691246"/>
              <a:gd name="connsiteY6" fmla="*/ 146530 h 2432530"/>
              <a:gd name="connsiteX7" fmla="*/ 1070264 w 2691246"/>
              <a:gd name="connsiteY7" fmla="*/ 156921 h 2432530"/>
              <a:gd name="connsiteX8" fmla="*/ 1143000 w 2691246"/>
              <a:gd name="connsiteY8" fmla="*/ 208876 h 2432530"/>
              <a:gd name="connsiteX9" fmla="*/ 1392382 w 2691246"/>
              <a:gd name="connsiteY9" fmla="*/ 250439 h 2432530"/>
              <a:gd name="connsiteX10" fmla="*/ 1485900 w 2691246"/>
              <a:gd name="connsiteY10" fmla="*/ 271221 h 2432530"/>
              <a:gd name="connsiteX11" fmla="*/ 1631373 w 2691246"/>
              <a:gd name="connsiteY11" fmla="*/ 354349 h 2432530"/>
              <a:gd name="connsiteX12" fmla="*/ 1714500 w 2691246"/>
              <a:gd name="connsiteY12" fmla="*/ 416694 h 2432530"/>
              <a:gd name="connsiteX13" fmla="*/ 1756064 w 2691246"/>
              <a:gd name="connsiteY13" fmla="*/ 427085 h 2432530"/>
              <a:gd name="connsiteX14" fmla="*/ 1880755 w 2691246"/>
              <a:gd name="connsiteY14" fmla="*/ 437476 h 2432530"/>
              <a:gd name="connsiteX15" fmla="*/ 1932709 w 2691246"/>
              <a:gd name="connsiteY15" fmla="*/ 447867 h 2432530"/>
              <a:gd name="connsiteX16" fmla="*/ 1995055 w 2691246"/>
              <a:gd name="connsiteY16" fmla="*/ 468649 h 2432530"/>
              <a:gd name="connsiteX17" fmla="*/ 2098964 w 2691246"/>
              <a:gd name="connsiteY17" fmla="*/ 447867 h 2432530"/>
              <a:gd name="connsiteX18" fmla="*/ 2130137 w 2691246"/>
              <a:gd name="connsiteY18" fmla="*/ 416694 h 2432530"/>
              <a:gd name="connsiteX19" fmla="*/ 2182091 w 2691246"/>
              <a:gd name="connsiteY19" fmla="*/ 406303 h 2432530"/>
              <a:gd name="connsiteX20" fmla="*/ 2254827 w 2691246"/>
              <a:gd name="connsiteY20" fmla="*/ 427085 h 2432530"/>
              <a:gd name="connsiteX21" fmla="*/ 2317173 w 2691246"/>
              <a:gd name="connsiteY21" fmla="*/ 447867 h 2432530"/>
              <a:gd name="connsiteX22" fmla="*/ 2400300 w 2691246"/>
              <a:gd name="connsiteY22" fmla="*/ 458258 h 2432530"/>
              <a:gd name="connsiteX23" fmla="*/ 2452255 w 2691246"/>
              <a:gd name="connsiteY23" fmla="*/ 468649 h 2432530"/>
              <a:gd name="connsiteX24" fmla="*/ 2514600 w 2691246"/>
              <a:gd name="connsiteY24" fmla="*/ 593339 h 2432530"/>
              <a:gd name="connsiteX25" fmla="*/ 2545773 w 2691246"/>
              <a:gd name="connsiteY25" fmla="*/ 655685 h 2432530"/>
              <a:gd name="connsiteX26" fmla="*/ 2618509 w 2691246"/>
              <a:gd name="connsiteY26" fmla="*/ 686858 h 2432530"/>
              <a:gd name="connsiteX27" fmla="*/ 2691246 w 2691246"/>
              <a:gd name="connsiteY27" fmla="*/ 718030 h 2432530"/>
              <a:gd name="connsiteX28" fmla="*/ 2649682 w 2691246"/>
              <a:gd name="connsiteY28" fmla="*/ 759594 h 2432530"/>
              <a:gd name="connsiteX29" fmla="*/ 2587337 w 2691246"/>
              <a:gd name="connsiteY29" fmla="*/ 853112 h 2432530"/>
              <a:gd name="connsiteX30" fmla="*/ 2524991 w 2691246"/>
              <a:gd name="connsiteY30" fmla="*/ 884285 h 2432530"/>
              <a:gd name="connsiteX31" fmla="*/ 2441864 w 2691246"/>
              <a:gd name="connsiteY31" fmla="*/ 977803 h 2432530"/>
              <a:gd name="connsiteX32" fmla="*/ 2358737 w 2691246"/>
              <a:gd name="connsiteY32" fmla="*/ 1019367 h 2432530"/>
              <a:gd name="connsiteX33" fmla="*/ 2327564 w 2691246"/>
              <a:gd name="connsiteY33" fmla="*/ 1060930 h 2432530"/>
              <a:gd name="connsiteX34" fmla="*/ 2254827 w 2691246"/>
              <a:gd name="connsiteY34" fmla="*/ 1071321 h 2432530"/>
              <a:gd name="connsiteX35" fmla="*/ 1932709 w 2691246"/>
              <a:gd name="connsiteY35" fmla="*/ 1060930 h 2432530"/>
              <a:gd name="connsiteX36" fmla="*/ 1797627 w 2691246"/>
              <a:gd name="connsiteY36" fmla="*/ 1040149 h 2432530"/>
              <a:gd name="connsiteX37" fmla="*/ 1745673 w 2691246"/>
              <a:gd name="connsiteY37" fmla="*/ 1019367 h 2432530"/>
              <a:gd name="connsiteX38" fmla="*/ 1714500 w 2691246"/>
              <a:gd name="connsiteY38" fmla="*/ 1008976 h 2432530"/>
              <a:gd name="connsiteX39" fmla="*/ 1579418 w 2691246"/>
              <a:gd name="connsiteY39" fmla="*/ 1050539 h 2432530"/>
              <a:gd name="connsiteX40" fmla="*/ 1558637 w 2691246"/>
              <a:gd name="connsiteY40" fmla="*/ 1102494 h 2432530"/>
              <a:gd name="connsiteX41" fmla="*/ 1600200 w 2691246"/>
              <a:gd name="connsiteY41" fmla="*/ 1144058 h 2432530"/>
              <a:gd name="connsiteX42" fmla="*/ 1610591 w 2691246"/>
              <a:gd name="connsiteY42" fmla="*/ 1175230 h 2432530"/>
              <a:gd name="connsiteX43" fmla="*/ 1558637 w 2691246"/>
              <a:gd name="connsiteY43" fmla="*/ 1403830 h 2432530"/>
              <a:gd name="connsiteX44" fmla="*/ 1569027 w 2691246"/>
              <a:gd name="connsiteY44" fmla="*/ 1476567 h 2432530"/>
              <a:gd name="connsiteX45" fmla="*/ 1579418 w 2691246"/>
              <a:gd name="connsiteY45" fmla="*/ 1507739 h 2432530"/>
              <a:gd name="connsiteX46" fmla="*/ 1589809 w 2691246"/>
              <a:gd name="connsiteY46" fmla="*/ 1570085 h 2432530"/>
              <a:gd name="connsiteX47" fmla="*/ 1620982 w 2691246"/>
              <a:gd name="connsiteY47" fmla="*/ 1590867 h 2432530"/>
              <a:gd name="connsiteX48" fmla="*/ 1662546 w 2691246"/>
              <a:gd name="connsiteY48" fmla="*/ 1642821 h 2432530"/>
              <a:gd name="connsiteX49" fmla="*/ 1693718 w 2691246"/>
              <a:gd name="connsiteY49" fmla="*/ 1736339 h 2432530"/>
              <a:gd name="connsiteX50" fmla="*/ 1704109 w 2691246"/>
              <a:gd name="connsiteY50" fmla="*/ 1767512 h 2432530"/>
              <a:gd name="connsiteX51" fmla="*/ 1745673 w 2691246"/>
              <a:gd name="connsiteY51" fmla="*/ 1809076 h 2432530"/>
              <a:gd name="connsiteX52" fmla="*/ 1735282 w 2691246"/>
              <a:gd name="connsiteY52" fmla="*/ 2141585 h 2432530"/>
              <a:gd name="connsiteX53" fmla="*/ 1693718 w 2691246"/>
              <a:gd name="connsiteY53" fmla="*/ 2193539 h 2432530"/>
              <a:gd name="connsiteX54" fmla="*/ 1672937 w 2691246"/>
              <a:gd name="connsiteY54" fmla="*/ 2224712 h 2432530"/>
              <a:gd name="connsiteX55" fmla="*/ 1641764 w 2691246"/>
              <a:gd name="connsiteY55" fmla="*/ 2235103 h 2432530"/>
              <a:gd name="connsiteX56" fmla="*/ 1600200 w 2691246"/>
              <a:gd name="connsiteY56" fmla="*/ 2266276 h 2432530"/>
              <a:gd name="connsiteX57" fmla="*/ 1569027 w 2691246"/>
              <a:gd name="connsiteY57" fmla="*/ 2276667 h 2432530"/>
              <a:gd name="connsiteX58" fmla="*/ 1517073 w 2691246"/>
              <a:gd name="connsiteY58" fmla="*/ 2307839 h 2432530"/>
              <a:gd name="connsiteX59" fmla="*/ 1413164 w 2691246"/>
              <a:gd name="connsiteY59" fmla="*/ 2318230 h 2432530"/>
              <a:gd name="connsiteX60" fmla="*/ 1381991 w 2691246"/>
              <a:gd name="connsiteY60" fmla="*/ 2328621 h 2432530"/>
              <a:gd name="connsiteX61" fmla="*/ 1278082 w 2691246"/>
              <a:gd name="connsiteY61" fmla="*/ 2349403 h 2432530"/>
              <a:gd name="connsiteX62" fmla="*/ 1028700 w 2691246"/>
              <a:gd name="connsiteY62" fmla="*/ 2401358 h 2432530"/>
              <a:gd name="connsiteX63" fmla="*/ 883227 w 2691246"/>
              <a:gd name="connsiteY63" fmla="*/ 2422139 h 2432530"/>
              <a:gd name="connsiteX64" fmla="*/ 561109 w 2691246"/>
              <a:gd name="connsiteY64" fmla="*/ 2432530 h 2432530"/>
              <a:gd name="connsiteX65" fmla="*/ 394855 w 2691246"/>
              <a:gd name="connsiteY65" fmla="*/ 2411749 h 2432530"/>
              <a:gd name="connsiteX66" fmla="*/ 342900 w 2691246"/>
              <a:gd name="connsiteY66" fmla="*/ 2380576 h 2432530"/>
              <a:gd name="connsiteX67" fmla="*/ 301337 w 2691246"/>
              <a:gd name="connsiteY67" fmla="*/ 2359794 h 2432530"/>
              <a:gd name="connsiteX68" fmla="*/ 249382 w 2691246"/>
              <a:gd name="connsiteY68" fmla="*/ 2349403 h 2432530"/>
              <a:gd name="connsiteX69" fmla="*/ 207818 w 2691246"/>
              <a:gd name="connsiteY69" fmla="*/ 2339012 h 2432530"/>
              <a:gd name="connsiteX70" fmla="*/ 166255 w 2691246"/>
              <a:gd name="connsiteY70" fmla="*/ 2318230 h 2432530"/>
              <a:gd name="connsiteX71" fmla="*/ 83127 w 2691246"/>
              <a:gd name="connsiteY71" fmla="*/ 2307839 h 2432530"/>
              <a:gd name="connsiteX72" fmla="*/ 41564 w 2691246"/>
              <a:gd name="connsiteY72" fmla="*/ 2297449 h 2432530"/>
              <a:gd name="connsiteX73" fmla="*/ 31173 w 2691246"/>
              <a:gd name="connsiteY73" fmla="*/ 2266276 h 2432530"/>
              <a:gd name="connsiteX74" fmla="*/ 10391 w 2691246"/>
              <a:gd name="connsiteY74" fmla="*/ 2235103 h 2432530"/>
              <a:gd name="connsiteX75" fmla="*/ 0 w 2691246"/>
              <a:gd name="connsiteY75" fmla="*/ 2037676 h 2432530"/>
              <a:gd name="connsiteX76" fmla="*/ 31173 w 2691246"/>
              <a:gd name="connsiteY76" fmla="*/ 1746730 h 2432530"/>
              <a:gd name="connsiteX77" fmla="*/ 41564 w 2691246"/>
              <a:gd name="connsiteY77" fmla="*/ 1694776 h 2432530"/>
              <a:gd name="connsiteX78" fmla="*/ 124691 w 2691246"/>
              <a:gd name="connsiteY78" fmla="*/ 1538912 h 2432530"/>
              <a:gd name="connsiteX79" fmla="*/ 176646 w 2691246"/>
              <a:gd name="connsiteY79" fmla="*/ 1206403 h 2432530"/>
              <a:gd name="connsiteX80" fmla="*/ 197427 w 2691246"/>
              <a:gd name="connsiteY80" fmla="*/ 1040149 h 2432530"/>
              <a:gd name="connsiteX81" fmla="*/ 270164 w 2691246"/>
              <a:gd name="connsiteY81" fmla="*/ 925849 h 2432530"/>
              <a:gd name="connsiteX82" fmla="*/ 311727 w 2691246"/>
              <a:gd name="connsiteY82" fmla="*/ 853112 h 2432530"/>
              <a:gd name="connsiteX83" fmla="*/ 436418 w 2691246"/>
              <a:gd name="connsiteY83" fmla="*/ 769985 h 2432530"/>
              <a:gd name="connsiteX84" fmla="*/ 488373 w 2691246"/>
              <a:gd name="connsiteY84" fmla="*/ 738812 h 2432530"/>
              <a:gd name="connsiteX85" fmla="*/ 654627 w 2691246"/>
              <a:gd name="connsiteY85" fmla="*/ 447867 h 2432530"/>
              <a:gd name="connsiteX86" fmla="*/ 665018 w 2691246"/>
              <a:gd name="connsiteY86" fmla="*/ 375130 h 2432530"/>
              <a:gd name="connsiteX87" fmla="*/ 685800 w 2691246"/>
              <a:gd name="connsiteY87" fmla="*/ 333567 h 2432530"/>
              <a:gd name="connsiteX88" fmla="*/ 716973 w 2691246"/>
              <a:gd name="connsiteY88" fmla="*/ 250439 h 2432530"/>
              <a:gd name="connsiteX89" fmla="*/ 716973 w 2691246"/>
              <a:gd name="connsiteY89" fmla="*/ 167312 h 243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691246" h="2432530">
                <a:moveTo>
                  <a:pt x="716973" y="167312"/>
                </a:moveTo>
                <a:lnTo>
                  <a:pt x="716973" y="167312"/>
                </a:lnTo>
                <a:cubicBezTo>
                  <a:pt x="755073" y="122285"/>
                  <a:pt x="792432" y="76620"/>
                  <a:pt x="831273" y="32230"/>
                </a:cubicBezTo>
                <a:cubicBezTo>
                  <a:pt x="840950" y="21171"/>
                  <a:pt x="848101" y="4246"/>
                  <a:pt x="862446" y="1058"/>
                </a:cubicBezTo>
                <a:cubicBezTo>
                  <a:pt x="883013" y="-3512"/>
                  <a:pt x="904009" y="7985"/>
                  <a:pt x="924791" y="11449"/>
                </a:cubicBezTo>
                <a:cubicBezTo>
                  <a:pt x="953489" y="54494"/>
                  <a:pt x="944566" y="36473"/>
                  <a:pt x="966355" y="94576"/>
                </a:cubicBezTo>
                <a:cubicBezTo>
                  <a:pt x="977696" y="124819"/>
                  <a:pt x="971052" y="134242"/>
                  <a:pt x="1007918" y="146530"/>
                </a:cubicBezTo>
                <a:cubicBezTo>
                  <a:pt x="1027906" y="153192"/>
                  <a:pt x="1049482" y="153457"/>
                  <a:pt x="1070264" y="156921"/>
                </a:cubicBezTo>
                <a:cubicBezTo>
                  <a:pt x="1094509" y="174239"/>
                  <a:pt x="1114386" y="200569"/>
                  <a:pt x="1143000" y="208876"/>
                </a:cubicBezTo>
                <a:cubicBezTo>
                  <a:pt x="1223932" y="232372"/>
                  <a:pt x="1310115" y="232157"/>
                  <a:pt x="1392382" y="250439"/>
                </a:cubicBezTo>
                <a:lnTo>
                  <a:pt x="1485900" y="271221"/>
                </a:lnTo>
                <a:cubicBezTo>
                  <a:pt x="1534391" y="298930"/>
                  <a:pt x="1586693" y="320839"/>
                  <a:pt x="1631373" y="354349"/>
                </a:cubicBezTo>
                <a:cubicBezTo>
                  <a:pt x="1659082" y="375131"/>
                  <a:pt x="1684582" y="399242"/>
                  <a:pt x="1714500" y="416694"/>
                </a:cubicBezTo>
                <a:cubicBezTo>
                  <a:pt x="1726836" y="423890"/>
                  <a:pt x="1741893" y="425314"/>
                  <a:pt x="1756064" y="427085"/>
                </a:cubicBezTo>
                <a:cubicBezTo>
                  <a:pt x="1797450" y="432258"/>
                  <a:pt x="1839191" y="434012"/>
                  <a:pt x="1880755" y="437476"/>
                </a:cubicBezTo>
                <a:cubicBezTo>
                  <a:pt x="1898073" y="440940"/>
                  <a:pt x="1915670" y="443220"/>
                  <a:pt x="1932709" y="447867"/>
                </a:cubicBezTo>
                <a:cubicBezTo>
                  <a:pt x="1953843" y="453631"/>
                  <a:pt x="1995055" y="468649"/>
                  <a:pt x="1995055" y="468649"/>
                </a:cubicBezTo>
                <a:cubicBezTo>
                  <a:pt x="2029691" y="461722"/>
                  <a:pt x="2065996" y="460547"/>
                  <a:pt x="2098964" y="447867"/>
                </a:cubicBezTo>
                <a:cubicBezTo>
                  <a:pt x="2112680" y="442592"/>
                  <a:pt x="2116993" y="423266"/>
                  <a:pt x="2130137" y="416694"/>
                </a:cubicBezTo>
                <a:cubicBezTo>
                  <a:pt x="2145933" y="408796"/>
                  <a:pt x="2164773" y="409767"/>
                  <a:pt x="2182091" y="406303"/>
                </a:cubicBezTo>
                <a:cubicBezTo>
                  <a:pt x="2206336" y="413230"/>
                  <a:pt x="2230727" y="419669"/>
                  <a:pt x="2254827" y="427085"/>
                </a:cubicBezTo>
                <a:cubicBezTo>
                  <a:pt x="2275764" y="433527"/>
                  <a:pt x="2295753" y="443277"/>
                  <a:pt x="2317173" y="447867"/>
                </a:cubicBezTo>
                <a:cubicBezTo>
                  <a:pt x="2344478" y="453718"/>
                  <a:pt x="2372700" y="454012"/>
                  <a:pt x="2400300" y="458258"/>
                </a:cubicBezTo>
                <a:cubicBezTo>
                  <a:pt x="2417756" y="460944"/>
                  <a:pt x="2434937" y="465185"/>
                  <a:pt x="2452255" y="468649"/>
                </a:cubicBezTo>
                <a:cubicBezTo>
                  <a:pt x="2494805" y="532472"/>
                  <a:pt x="2460192" y="476750"/>
                  <a:pt x="2514600" y="593339"/>
                </a:cubicBezTo>
                <a:cubicBezTo>
                  <a:pt x="2524426" y="614394"/>
                  <a:pt x="2531832" y="637097"/>
                  <a:pt x="2545773" y="655685"/>
                </a:cubicBezTo>
                <a:cubicBezTo>
                  <a:pt x="2564728" y="680959"/>
                  <a:pt x="2592389" y="677360"/>
                  <a:pt x="2618509" y="686858"/>
                </a:cubicBezTo>
                <a:cubicBezTo>
                  <a:pt x="2643299" y="695873"/>
                  <a:pt x="2667000" y="707639"/>
                  <a:pt x="2691246" y="718030"/>
                </a:cubicBezTo>
                <a:cubicBezTo>
                  <a:pt x="2677391" y="731885"/>
                  <a:pt x="2660918" y="743542"/>
                  <a:pt x="2649682" y="759594"/>
                </a:cubicBezTo>
                <a:cubicBezTo>
                  <a:pt x="2616560" y="806910"/>
                  <a:pt x="2632014" y="823327"/>
                  <a:pt x="2587337" y="853112"/>
                </a:cubicBezTo>
                <a:cubicBezTo>
                  <a:pt x="2568004" y="866001"/>
                  <a:pt x="2545773" y="873894"/>
                  <a:pt x="2524991" y="884285"/>
                </a:cubicBezTo>
                <a:cubicBezTo>
                  <a:pt x="2508218" y="905251"/>
                  <a:pt x="2466394" y="961449"/>
                  <a:pt x="2441864" y="977803"/>
                </a:cubicBezTo>
                <a:cubicBezTo>
                  <a:pt x="2416087" y="994988"/>
                  <a:pt x="2386446" y="1005512"/>
                  <a:pt x="2358737" y="1019367"/>
                </a:cubicBezTo>
                <a:cubicBezTo>
                  <a:pt x="2348346" y="1033221"/>
                  <a:pt x="2343054" y="1053185"/>
                  <a:pt x="2327564" y="1060930"/>
                </a:cubicBezTo>
                <a:cubicBezTo>
                  <a:pt x="2305658" y="1071883"/>
                  <a:pt x="2279319" y="1071321"/>
                  <a:pt x="2254827" y="1071321"/>
                </a:cubicBezTo>
                <a:cubicBezTo>
                  <a:pt x="2147398" y="1071321"/>
                  <a:pt x="2040082" y="1064394"/>
                  <a:pt x="1932709" y="1060930"/>
                </a:cubicBezTo>
                <a:cubicBezTo>
                  <a:pt x="1841423" y="1030500"/>
                  <a:pt x="1998535" y="1080330"/>
                  <a:pt x="1797627" y="1040149"/>
                </a:cubicBezTo>
                <a:cubicBezTo>
                  <a:pt x="1779337" y="1036491"/>
                  <a:pt x="1763137" y="1025916"/>
                  <a:pt x="1745673" y="1019367"/>
                </a:cubicBezTo>
                <a:cubicBezTo>
                  <a:pt x="1735417" y="1015521"/>
                  <a:pt x="1724891" y="1012440"/>
                  <a:pt x="1714500" y="1008976"/>
                </a:cubicBezTo>
                <a:cubicBezTo>
                  <a:pt x="1648832" y="1015543"/>
                  <a:pt x="1612889" y="996985"/>
                  <a:pt x="1579418" y="1050539"/>
                </a:cubicBezTo>
                <a:cubicBezTo>
                  <a:pt x="1569532" y="1066356"/>
                  <a:pt x="1565564" y="1085176"/>
                  <a:pt x="1558637" y="1102494"/>
                </a:cubicBezTo>
                <a:cubicBezTo>
                  <a:pt x="1572491" y="1116349"/>
                  <a:pt x="1588812" y="1128114"/>
                  <a:pt x="1600200" y="1144058"/>
                </a:cubicBezTo>
                <a:cubicBezTo>
                  <a:pt x="1606566" y="1152971"/>
                  <a:pt x="1612071" y="1164378"/>
                  <a:pt x="1610591" y="1175230"/>
                </a:cubicBezTo>
                <a:cubicBezTo>
                  <a:pt x="1592895" y="1304996"/>
                  <a:pt x="1586038" y="1321622"/>
                  <a:pt x="1558637" y="1403830"/>
                </a:cubicBezTo>
                <a:cubicBezTo>
                  <a:pt x="1562100" y="1428076"/>
                  <a:pt x="1564224" y="1452551"/>
                  <a:pt x="1569027" y="1476567"/>
                </a:cubicBezTo>
                <a:cubicBezTo>
                  <a:pt x="1571175" y="1487307"/>
                  <a:pt x="1577042" y="1497047"/>
                  <a:pt x="1579418" y="1507739"/>
                </a:cubicBezTo>
                <a:cubicBezTo>
                  <a:pt x="1583988" y="1528306"/>
                  <a:pt x="1580387" y="1551241"/>
                  <a:pt x="1589809" y="1570085"/>
                </a:cubicBezTo>
                <a:cubicBezTo>
                  <a:pt x="1595394" y="1581255"/>
                  <a:pt x="1612151" y="1582036"/>
                  <a:pt x="1620982" y="1590867"/>
                </a:cubicBezTo>
                <a:cubicBezTo>
                  <a:pt x="1636664" y="1606549"/>
                  <a:pt x="1648691" y="1625503"/>
                  <a:pt x="1662546" y="1642821"/>
                </a:cubicBezTo>
                <a:cubicBezTo>
                  <a:pt x="1680062" y="1730402"/>
                  <a:pt x="1661454" y="1661055"/>
                  <a:pt x="1693718" y="1736339"/>
                </a:cubicBezTo>
                <a:cubicBezTo>
                  <a:pt x="1698033" y="1746406"/>
                  <a:pt x="1697743" y="1758599"/>
                  <a:pt x="1704109" y="1767512"/>
                </a:cubicBezTo>
                <a:cubicBezTo>
                  <a:pt x="1715497" y="1783456"/>
                  <a:pt x="1731818" y="1795221"/>
                  <a:pt x="1745673" y="1809076"/>
                </a:cubicBezTo>
                <a:cubicBezTo>
                  <a:pt x="1769933" y="1954635"/>
                  <a:pt x="1761879" y="1875612"/>
                  <a:pt x="1735282" y="2141585"/>
                </a:cubicBezTo>
                <a:cubicBezTo>
                  <a:pt x="1730333" y="2191076"/>
                  <a:pt x="1732228" y="2180703"/>
                  <a:pt x="1693718" y="2193539"/>
                </a:cubicBezTo>
                <a:cubicBezTo>
                  <a:pt x="1686791" y="2203930"/>
                  <a:pt x="1682689" y="2216911"/>
                  <a:pt x="1672937" y="2224712"/>
                </a:cubicBezTo>
                <a:cubicBezTo>
                  <a:pt x="1664384" y="2231554"/>
                  <a:pt x="1651274" y="2229669"/>
                  <a:pt x="1641764" y="2235103"/>
                </a:cubicBezTo>
                <a:cubicBezTo>
                  <a:pt x="1626727" y="2243695"/>
                  <a:pt x="1615237" y="2257684"/>
                  <a:pt x="1600200" y="2266276"/>
                </a:cubicBezTo>
                <a:cubicBezTo>
                  <a:pt x="1590690" y="2271710"/>
                  <a:pt x="1578824" y="2271769"/>
                  <a:pt x="1569027" y="2276667"/>
                </a:cubicBezTo>
                <a:cubicBezTo>
                  <a:pt x="1550963" y="2285699"/>
                  <a:pt x="1536587" y="2302635"/>
                  <a:pt x="1517073" y="2307839"/>
                </a:cubicBezTo>
                <a:cubicBezTo>
                  <a:pt x="1483439" y="2316808"/>
                  <a:pt x="1447800" y="2314766"/>
                  <a:pt x="1413164" y="2318230"/>
                </a:cubicBezTo>
                <a:cubicBezTo>
                  <a:pt x="1402773" y="2321694"/>
                  <a:pt x="1392683" y="2326245"/>
                  <a:pt x="1381991" y="2328621"/>
                </a:cubicBezTo>
                <a:cubicBezTo>
                  <a:pt x="1309772" y="2344670"/>
                  <a:pt x="1337230" y="2331658"/>
                  <a:pt x="1278082" y="2349403"/>
                </a:cubicBezTo>
                <a:cubicBezTo>
                  <a:pt x="1140789" y="2390591"/>
                  <a:pt x="1280583" y="2365376"/>
                  <a:pt x="1028700" y="2401358"/>
                </a:cubicBezTo>
                <a:cubicBezTo>
                  <a:pt x="980209" y="2408285"/>
                  <a:pt x="932185" y="2420560"/>
                  <a:pt x="883227" y="2422139"/>
                </a:cubicBezTo>
                <a:lnTo>
                  <a:pt x="561109" y="2432530"/>
                </a:lnTo>
                <a:cubicBezTo>
                  <a:pt x="505691" y="2425603"/>
                  <a:pt x="449186" y="2424685"/>
                  <a:pt x="394855" y="2411749"/>
                </a:cubicBezTo>
                <a:cubicBezTo>
                  <a:pt x="375208" y="2407071"/>
                  <a:pt x="360555" y="2390384"/>
                  <a:pt x="342900" y="2380576"/>
                </a:cubicBezTo>
                <a:cubicBezTo>
                  <a:pt x="329360" y="2373053"/>
                  <a:pt x="316032" y="2364692"/>
                  <a:pt x="301337" y="2359794"/>
                </a:cubicBezTo>
                <a:cubicBezTo>
                  <a:pt x="284582" y="2354209"/>
                  <a:pt x="266623" y="2353234"/>
                  <a:pt x="249382" y="2349403"/>
                </a:cubicBezTo>
                <a:cubicBezTo>
                  <a:pt x="235441" y="2346305"/>
                  <a:pt x="221673" y="2342476"/>
                  <a:pt x="207818" y="2339012"/>
                </a:cubicBezTo>
                <a:cubicBezTo>
                  <a:pt x="193964" y="2332085"/>
                  <a:pt x="181282" y="2321987"/>
                  <a:pt x="166255" y="2318230"/>
                </a:cubicBezTo>
                <a:cubicBezTo>
                  <a:pt x="139164" y="2311457"/>
                  <a:pt x="110672" y="2312430"/>
                  <a:pt x="83127" y="2307839"/>
                </a:cubicBezTo>
                <a:cubicBezTo>
                  <a:pt x="69041" y="2305491"/>
                  <a:pt x="55418" y="2300912"/>
                  <a:pt x="41564" y="2297449"/>
                </a:cubicBezTo>
                <a:cubicBezTo>
                  <a:pt x="38100" y="2287058"/>
                  <a:pt x="36071" y="2276073"/>
                  <a:pt x="31173" y="2266276"/>
                </a:cubicBezTo>
                <a:cubicBezTo>
                  <a:pt x="25588" y="2255106"/>
                  <a:pt x="12078" y="2247477"/>
                  <a:pt x="10391" y="2235103"/>
                </a:cubicBezTo>
                <a:cubicBezTo>
                  <a:pt x="1487" y="2169807"/>
                  <a:pt x="3464" y="2103485"/>
                  <a:pt x="0" y="2037676"/>
                </a:cubicBezTo>
                <a:cubicBezTo>
                  <a:pt x="11599" y="1863692"/>
                  <a:pt x="4068" y="1909359"/>
                  <a:pt x="31173" y="1746730"/>
                </a:cubicBezTo>
                <a:cubicBezTo>
                  <a:pt x="34076" y="1729309"/>
                  <a:pt x="35624" y="1711408"/>
                  <a:pt x="41564" y="1694776"/>
                </a:cubicBezTo>
                <a:cubicBezTo>
                  <a:pt x="71396" y="1611247"/>
                  <a:pt x="80221" y="1605616"/>
                  <a:pt x="124691" y="1538912"/>
                </a:cubicBezTo>
                <a:cubicBezTo>
                  <a:pt x="151131" y="1380273"/>
                  <a:pt x="156834" y="1354994"/>
                  <a:pt x="176646" y="1206403"/>
                </a:cubicBezTo>
                <a:cubicBezTo>
                  <a:pt x="184027" y="1151044"/>
                  <a:pt x="186977" y="1095012"/>
                  <a:pt x="197427" y="1040149"/>
                </a:cubicBezTo>
                <a:cubicBezTo>
                  <a:pt x="208808" y="980398"/>
                  <a:pt x="234473" y="977402"/>
                  <a:pt x="270164" y="925849"/>
                </a:cubicBezTo>
                <a:cubicBezTo>
                  <a:pt x="286059" y="902889"/>
                  <a:pt x="293850" y="874564"/>
                  <a:pt x="311727" y="853112"/>
                </a:cubicBezTo>
                <a:cubicBezTo>
                  <a:pt x="353992" y="802393"/>
                  <a:pt x="382455" y="799420"/>
                  <a:pt x="436418" y="769985"/>
                </a:cubicBezTo>
                <a:cubicBezTo>
                  <a:pt x="454148" y="760314"/>
                  <a:pt x="471055" y="749203"/>
                  <a:pt x="488373" y="738812"/>
                </a:cubicBezTo>
                <a:cubicBezTo>
                  <a:pt x="666308" y="501566"/>
                  <a:pt x="631783" y="619202"/>
                  <a:pt x="654627" y="447867"/>
                </a:cubicBezTo>
                <a:cubicBezTo>
                  <a:pt x="657864" y="423590"/>
                  <a:pt x="658574" y="398759"/>
                  <a:pt x="665018" y="375130"/>
                </a:cubicBezTo>
                <a:cubicBezTo>
                  <a:pt x="669094" y="360186"/>
                  <a:pt x="679842" y="347865"/>
                  <a:pt x="685800" y="333567"/>
                </a:cubicBezTo>
                <a:cubicBezTo>
                  <a:pt x="697182" y="306250"/>
                  <a:pt x="705315" y="277640"/>
                  <a:pt x="716973" y="250439"/>
                </a:cubicBezTo>
                <a:cubicBezTo>
                  <a:pt x="749695" y="174088"/>
                  <a:pt x="716973" y="181166"/>
                  <a:pt x="716973" y="16731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orme libre : forme 11">
            <a:extLst>
              <a:ext uri="{FF2B5EF4-FFF2-40B4-BE49-F238E27FC236}">
                <a16:creationId xmlns:a16="http://schemas.microsoft.com/office/drawing/2014/main" id="{2822AF5E-B143-4775-A651-6A63499915CA}"/>
              </a:ext>
            </a:extLst>
          </p:cNvPr>
          <p:cNvSpPr/>
          <p:nvPr/>
        </p:nvSpPr>
        <p:spPr>
          <a:xfrm>
            <a:off x="4547834" y="5070764"/>
            <a:ext cx="2580330" cy="1465764"/>
          </a:xfrm>
          <a:custGeom>
            <a:avLst/>
            <a:gdLst>
              <a:gd name="connsiteX0" fmla="*/ 44948 w 2580330"/>
              <a:gd name="connsiteY0" fmla="*/ 592281 h 1465764"/>
              <a:gd name="connsiteX1" fmla="*/ 44948 w 2580330"/>
              <a:gd name="connsiteY1" fmla="*/ 592281 h 1465764"/>
              <a:gd name="connsiteX2" fmla="*/ 3384 w 2580330"/>
              <a:gd name="connsiteY2" fmla="*/ 675409 h 1465764"/>
              <a:gd name="connsiteX3" fmla="*/ 13775 w 2580330"/>
              <a:gd name="connsiteY3" fmla="*/ 789709 h 1465764"/>
              <a:gd name="connsiteX4" fmla="*/ 76121 w 2580330"/>
              <a:gd name="connsiteY4" fmla="*/ 841663 h 1465764"/>
              <a:gd name="connsiteX5" fmla="*/ 138466 w 2580330"/>
              <a:gd name="connsiteY5" fmla="*/ 862445 h 1465764"/>
              <a:gd name="connsiteX6" fmla="*/ 325502 w 2580330"/>
              <a:gd name="connsiteY6" fmla="*/ 904009 h 1465764"/>
              <a:gd name="connsiteX7" fmla="*/ 543711 w 2580330"/>
              <a:gd name="connsiteY7" fmla="*/ 1028700 h 1465764"/>
              <a:gd name="connsiteX8" fmla="*/ 616448 w 2580330"/>
              <a:gd name="connsiteY8" fmla="*/ 1059872 h 1465764"/>
              <a:gd name="connsiteX9" fmla="*/ 720357 w 2580330"/>
              <a:gd name="connsiteY9" fmla="*/ 1111827 h 1465764"/>
              <a:gd name="connsiteX10" fmla="*/ 855439 w 2580330"/>
              <a:gd name="connsiteY10" fmla="*/ 1184563 h 1465764"/>
              <a:gd name="connsiteX11" fmla="*/ 969739 w 2580330"/>
              <a:gd name="connsiteY11" fmla="*/ 1278081 h 1465764"/>
              <a:gd name="connsiteX12" fmla="*/ 1052866 w 2580330"/>
              <a:gd name="connsiteY12" fmla="*/ 1361209 h 1465764"/>
              <a:gd name="connsiteX13" fmla="*/ 1312639 w 2580330"/>
              <a:gd name="connsiteY13" fmla="*/ 1402772 h 1465764"/>
              <a:gd name="connsiteX14" fmla="*/ 1551630 w 2580330"/>
              <a:gd name="connsiteY14" fmla="*/ 1444336 h 1465764"/>
              <a:gd name="connsiteX15" fmla="*/ 1613975 w 2580330"/>
              <a:gd name="connsiteY15" fmla="*/ 1465118 h 1465764"/>
              <a:gd name="connsiteX16" fmla="*/ 1749057 w 2580330"/>
              <a:gd name="connsiteY16" fmla="*/ 1454727 h 1465764"/>
              <a:gd name="connsiteX17" fmla="*/ 1832184 w 2580330"/>
              <a:gd name="connsiteY17" fmla="*/ 1423554 h 1465764"/>
              <a:gd name="connsiteX18" fmla="*/ 1904921 w 2580330"/>
              <a:gd name="connsiteY18" fmla="*/ 1402772 h 1465764"/>
              <a:gd name="connsiteX19" fmla="*/ 1967266 w 2580330"/>
              <a:gd name="connsiteY19" fmla="*/ 1392381 h 1465764"/>
              <a:gd name="connsiteX20" fmla="*/ 2123130 w 2580330"/>
              <a:gd name="connsiteY20" fmla="*/ 1361209 h 1465764"/>
              <a:gd name="connsiteX21" fmla="*/ 2320557 w 2580330"/>
              <a:gd name="connsiteY21" fmla="*/ 1205345 h 1465764"/>
              <a:gd name="connsiteX22" fmla="*/ 2403684 w 2580330"/>
              <a:gd name="connsiteY22" fmla="*/ 1091045 h 1465764"/>
              <a:gd name="connsiteX23" fmla="*/ 2434857 w 2580330"/>
              <a:gd name="connsiteY23" fmla="*/ 1018309 h 1465764"/>
              <a:gd name="connsiteX24" fmla="*/ 2580330 w 2580330"/>
              <a:gd name="connsiteY24" fmla="*/ 935181 h 1465764"/>
              <a:gd name="connsiteX25" fmla="*/ 2569939 w 2580330"/>
              <a:gd name="connsiteY25" fmla="*/ 665018 h 1465764"/>
              <a:gd name="connsiteX26" fmla="*/ 2559548 w 2580330"/>
              <a:gd name="connsiteY26" fmla="*/ 540327 h 1465764"/>
              <a:gd name="connsiteX27" fmla="*/ 2414075 w 2580330"/>
              <a:gd name="connsiteY27" fmla="*/ 446809 h 1465764"/>
              <a:gd name="connsiteX28" fmla="*/ 2289384 w 2580330"/>
              <a:gd name="connsiteY28" fmla="*/ 301336 h 1465764"/>
              <a:gd name="connsiteX29" fmla="*/ 2227039 w 2580330"/>
              <a:gd name="connsiteY29" fmla="*/ 238991 h 1465764"/>
              <a:gd name="connsiteX30" fmla="*/ 2133521 w 2580330"/>
              <a:gd name="connsiteY30" fmla="*/ 93518 h 1465764"/>
              <a:gd name="connsiteX31" fmla="*/ 2081566 w 2580330"/>
              <a:gd name="connsiteY31" fmla="*/ 62345 h 1465764"/>
              <a:gd name="connsiteX32" fmla="*/ 2050393 w 2580330"/>
              <a:gd name="connsiteY32" fmla="*/ 51954 h 1465764"/>
              <a:gd name="connsiteX33" fmla="*/ 1790621 w 2580330"/>
              <a:gd name="connsiteY33" fmla="*/ 41563 h 1465764"/>
              <a:gd name="connsiteX34" fmla="*/ 1728275 w 2580330"/>
              <a:gd name="connsiteY34" fmla="*/ 31172 h 1465764"/>
              <a:gd name="connsiteX35" fmla="*/ 1499675 w 2580330"/>
              <a:gd name="connsiteY35" fmla="*/ 0 h 1465764"/>
              <a:gd name="connsiteX36" fmla="*/ 1125602 w 2580330"/>
              <a:gd name="connsiteY36" fmla="*/ 31172 h 1465764"/>
              <a:gd name="connsiteX37" fmla="*/ 980130 w 2580330"/>
              <a:gd name="connsiteY37" fmla="*/ 93518 h 1465764"/>
              <a:gd name="connsiteX38" fmla="*/ 751530 w 2580330"/>
              <a:gd name="connsiteY38" fmla="*/ 218209 h 1465764"/>
              <a:gd name="connsiteX39" fmla="*/ 720357 w 2580330"/>
              <a:gd name="connsiteY39" fmla="*/ 249381 h 1465764"/>
              <a:gd name="connsiteX40" fmla="*/ 678793 w 2580330"/>
              <a:gd name="connsiteY40" fmla="*/ 311727 h 1465764"/>
              <a:gd name="connsiteX41" fmla="*/ 637230 w 2580330"/>
              <a:gd name="connsiteY41" fmla="*/ 363681 h 1465764"/>
              <a:gd name="connsiteX42" fmla="*/ 626839 w 2580330"/>
              <a:gd name="connsiteY42" fmla="*/ 436418 h 1465764"/>
              <a:gd name="connsiteX43" fmla="*/ 616448 w 2580330"/>
              <a:gd name="connsiteY43" fmla="*/ 498763 h 1465764"/>
              <a:gd name="connsiteX44" fmla="*/ 574884 w 2580330"/>
              <a:gd name="connsiteY44" fmla="*/ 519545 h 1465764"/>
              <a:gd name="connsiteX45" fmla="*/ 522930 w 2580330"/>
              <a:gd name="connsiteY45" fmla="*/ 561109 h 1465764"/>
              <a:gd name="connsiteX46" fmla="*/ 491757 w 2580330"/>
              <a:gd name="connsiteY46" fmla="*/ 571500 h 1465764"/>
              <a:gd name="connsiteX47" fmla="*/ 460584 w 2580330"/>
              <a:gd name="connsiteY47" fmla="*/ 592281 h 1465764"/>
              <a:gd name="connsiteX48" fmla="*/ 159248 w 2580330"/>
              <a:gd name="connsiteY48" fmla="*/ 561109 h 1465764"/>
              <a:gd name="connsiteX49" fmla="*/ 65730 w 2580330"/>
              <a:gd name="connsiteY49" fmla="*/ 602672 h 1465764"/>
              <a:gd name="connsiteX50" fmla="*/ 13775 w 2580330"/>
              <a:gd name="connsiteY50" fmla="*/ 654627 h 1465764"/>
              <a:gd name="connsiteX51" fmla="*/ 44948 w 2580330"/>
              <a:gd name="connsiteY51" fmla="*/ 592281 h 146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580330" h="1465764">
                <a:moveTo>
                  <a:pt x="44948" y="592281"/>
                </a:moveTo>
                <a:lnTo>
                  <a:pt x="44948" y="592281"/>
                </a:lnTo>
                <a:cubicBezTo>
                  <a:pt x="31093" y="619990"/>
                  <a:pt x="8216" y="644808"/>
                  <a:pt x="3384" y="675409"/>
                </a:cubicBezTo>
                <a:cubicBezTo>
                  <a:pt x="-2583" y="713198"/>
                  <a:pt x="-1559" y="754660"/>
                  <a:pt x="13775" y="789709"/>
                </a:cubicBezTo>
                <a:cubicBezTo>
                  <a:pt x="24618" y="814493"/>
                  <a:pt x="52754" y="828032"/>
                  <a:pt x="76121" y="841663"/>
                </a:cubicBezTo>
                <a:cubicBezTo>
                  <a:pt x="95043" y="852701"/>
                  <a:pt x="117214" y="857132"/>
                  <a:pt x="138466" y="862445"/>
                </a:cubicBezTo>
                <a:cubicBezTo>
                  <a:pt x="200425" y="877935"/>
                  <a:pt x="263157" y="890154"/>
                  <a:pt x="325502" y="904009"/>
                </a:cubicBezTo>
                <a:cubicBezTo>
                  <a:pt x="653123" y="1067818"/>
                  <a:pt x="182954" y="828280"/>
                  <a:pt x="543711" y="1028700"/>
                </a:cubicBezTo>
                <a:cubicBezTo>
                  <a:pt x="566770" y="1041510"/>
                  <a:pt x="592580" y="1048640"/>
                  <a:pt x="616448" y="1059872"/>
                </a:cubicBezTo>
                <a:cubicBezTo>
                  <a:pt x="651487" y="1076361"/>
                  <a:pt x="686024" y="1093914"/>
                  <a:pt x="720357" y="1111827"/>
                </a:cubicBezTo>
                <a:cubicBezTo>
                  <a:pt x="765697" y="1135483"/>
                  <a:pt x="815859" y="1152179"/>
                  <a:pt x="855439" y="1184563"/>
                </a:cubicBezTo>
                <a:cubicBezTo>
                  <a:pt x="893539" y="1215736"/>
                  <a:pt x="933053" y="1245256"/>
                  <a:pt x="969739" y="1278081"/>
                </a:cubicBezTo>
                <a:cubicBezTo>
                  <a:pt x="998942" y="1304211"/>
                  <a:pt x="1016039" y="1347817"/>
                  <a:pt x="1052866" y="1361209"/>
                </a:cubicBezTo>
                <a:cubicBezTo>
                  <a:pt x="1135279" y="1391177"/>
                  <a:pt x="1226475" y="1386471"/>
                  <a:pt x="1312639" y="1402772"/>
                </a:cubicBezTo>
                <a:cubicBezTo>
                  <a:pt x="1574569" y="1452326"/>
                  <a:pt x="1305256" y="1421938"/>
                  <a:pt x="1551630" y="1444336"/>
                </a:cubicBezTo>
                <a:cubicBezTo>
                  <a:pt x="1572412" y="1451263"/>
                  <a:pt x="1592099" y="1463967"/>
                  <a:pt x="1613975" y="1465118"/>
                </a:cubicBezTo>
                <a:cubicBezTo>
                  <a:pt x="1659073" y="1467492"/>
                  <a:pt x="1704694" y="1463177"/>
                  <a:pt x="1749057" y="1454727"/>
                </a:cubicBezTo>
                <a:cubicBezTo>
                  <a:pt x="1778128" y="1449190"/>
                  <a:pt x="1804109" y="1432912"/>
                  <a:pt x="1832184" y="1423554"/>
                </a:cubicBezTo>
                <a:cubicBezTo>
                  <a:pt x="1856106" y="1415580"/>
                  <a:pt x="1880351" y="1408442"/>
                  <a:pt x="1904921" y="1402772"/>
                </a:cubicBezTo>
                <a:cubicBezTo>
                  <a:pt x="1925450" y="1398035"/>
                  <a:pt x="1946570" y="1396323"/>
                  <a:pt x="1967266" y="1392381"/>
                </a:cubicBezTo>
                <a:lnTo>
                  <a:pt x="2123130" y="1361209"/>
                </a:lnTo>
                <a:cubicBezTo>
                  <a:pt x="2205101" y="1306561"/>
                  <a:pt x="2251386" y="1282201"/>
                  <a:pt x="2320557" y="1205345"/>
                </a:cubicBezTo>
                <a:cubicBezTo>
                  <a:pt x="2352072" y="1170328"/>
                  <a:pt x="2379118" y="1131244"/>
                  <a:pt x="2403684" y="1091045"/>
                </a:cubicBezTo>
                <a:cubicBezTo>
                  <a:pt x="2417439" y="1068537"/>
                  <a:pt x="2417970" y="1038573"/>
                  <a:pt x="2434857" y="1018309"/>
                </a:cubicBezTo>
                <a:cubicBezTo>
                  <a:pt x="2469747" y="976441"/>
                  <a:pt x="2532716" y="955587"/>
                  <a:pt x="2580330" y="935181"/>
                </a:cubicBezTo>
                <a:cubicBezTo>
                  <a:pt x="2576866" y="845127"/>
                  <a:pt x="2574676" y="755014"/>
                  <a:pt x="2569939" y="665018"/>
                </a:cubicBezTo>
                <a:cubicBezTo>
                  <a:pt x="2567747" y="623368"/>
                  <a:pt x="2576487" y="578440"/>
                  <a:pt x="2559548" y="540327"/>
                </a:cubicBezTo>
                <a:cubicBezTo>
                  <a:pt x="2537721" y="491216"/>
                  <a:pt x="2457566" y="465448"/>
                  <a:pt x="2414075" y="446809"/>
                </a:cubicBezTo>
                <a:cubicBezTo>
                  <a:pt x="2220995" y="253726"/>
                  <a:pt x="2447536" y="488242"/>
                  <a:pt x="2289384" y="301336"/>
                </a:cubicBezTo>
                <a:cubicBezTo>
                  <a:pt x="2270400" y="278900"/>
                  <a:pt x="2244419" y="262691"/>
                  <a:pt x="2227039" y="238991"/>
                </a:cubicBezTo>
                <a:cubicBezTo>
                  <a:pt x="2184741" y="181312"/>
                  <a:pt x="2184657" y="138972"/>
                  <a:pt x="2133521" y="93518"/>
                </a:cubicBezTo>
                <a:cubicBezTo>
                  <a:pt x="2118426" y="80100"/>
                  <a:pt x="2099630" y="71377"/>
                  <a:pt x="2081566" y="62345"/>
                </a:cubicBezTo>
                <a:cubicBezTo>
                  <a:pt x="2071769" y="57447"/>
                  <a:pt x="2061318" y="52734"/>
                  <a:pt x="2050393" y="51954"/>
                </a:cubicBezTo>
                <a:cubicBezTo>
                  <a:pt x="1963953" y="45780"/>
                  <a:pt x="1877212" y="45027"/>
                  <a:pt x="1790621" y="41563"/>
                </a:cubicBezTo>
                <a:lnTo>
                  <a:pt x="1728275" y="31172"/>
                </a:lnTo>
                <a:cubicBezTo>
                  <a:pt x="1604644" y="12628"/>
                  <a:pt x="1603196" y="12940"/>
                  <a:pt x="1499675" y="0"/>
                </a:cubicBezTo>
                <a:cubicBezTo>
                  <a:pt x="1406184" y="3463"/>
                  <a:pt x="1235753" y="-7141"/>
                  <a:pt x="1125602" y="31172"/>
                </a:cubicBezTo>
                <a:cubicBezTo>
                  <a:pt x="1075774" y="48504"/>
                  <a:pt x="1027317" y="69925"/>
                  <a:pt x="980130" y="93518"/>
                </a:cubicBezTo>
                <a:cubicBezTo>
                  <a:pt x="902495" y="132336"/>
                  <a:pt x="812907" y="156834"/>
                  <a:pt x="751530" y="218209"/>
                </a:cubicBezTo>
                <a:cubicBezTo>
                  <a:pt x="741139" y="228600"/>
                  <a:pt x="729379" y="237782"/>
                  <a:pt x="720357" y="249381"/>
                </a:cubicBezTo>
                <a:cubicBezTo>
                  <a:pt x="705023" y="269096"/>
                  <a:pt x="693484" y="291527"/>
                  <a:pt x="678793" y="311727"/>
                </a:cubicBezTo>
                <a:cubicBezTo>
                  <a:pt x="665749" y="329663"/>
                  <a:pt x="651084" y="346363"/>
                  <a:pt x="637230" y="363681"/>
                </a:cubicBezTo>
                <a:cubicBezTo>
                  <a:pt x="633766" y="387927"/>
                  <a:pt x="630563" y="412211"/>
                  <a:pt x="626839" y="436418"/>
                </a:cubicBezTo>
                <a:cubicBezTo>
                  <a:pt x="623635" y="457241"/>
                  <a:pt x="627614" y="480897"/>
                  <a:pt x="616448" y="498763"/>
                </a:cubicBezTo>
                <a:cubicBezTo>
                  <a:pt x="608238" y="511898"/>
                  <a:pt x="587772" y="510953"/>
                  <a:pt x="574884" y="519545"/>
                </a:cubicBezTo>
                <a:cubicBezTo>
                  <a:pt x="556431" y="531847"/>
                  <a:pt x="541737" y="549355"/>
                  <a:pt x="522930" y="561109"/>
                </a:cubicBezTo>
                <a:cubicBezTo>
                  <a:pt x="513642" y="566914"/>
                  <a:pt x="501554" y="566602"/>
                  <a:pt x="491757" y="571500"/>
                </a:cubicBezTo>
                <a:cubicBezTo>
                  <a:pt x="480587" y="577085"/>
                  <a:pt x="470975" y="585354"/>
                  <a:pt x="460584" y="592281"/>
                </a:cubicBezTo>
                <a:cubicBezTo>
                  <a:pt x="222011" y="544567"/>
                  <a:pt x="322978" y="542917"/>
                  <a:pt x="159248" y="561109"/>
                </a:cubicBezTo>
                <a:cubicBezTo>
                  <a:pt x="147710" y="565724"/>
                  <a:pt x="78470" y="591752"/>
                  <a:pt x="65730" y="602672"/>
                </a:cubicBezTo>
                <a:cubicBezTo>
                  <a:pt x="-17850" y="674312"/>
                  <a:pt x="71406" y="625811"/>
                  <a:pt x="13775" y="654627"/>
                </a:cubicBezTo>
                <a:lnTo>
                  <a:pt x="44948" y="59228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00868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6" presetClass="exit" presetSubtype="21" fill="hold" grpId="0" nodeType="clickEffect">
                                  <p:stCondLst>
                                    <p:cond delay="0"/>
                                  </p:stCondLst>
                                  <p:childTnLst>
                                    <p:animEffect transition="out" filter="barn(inVertical)">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6" presetClass="exit" presetSubtype="21" fill="hold" grpId="0" nodeType="clickEffect">
                                  <p:stCondLst>
                                    <p:cond delay="0"/>
                                  </p:stCondLst>
                                  <p:childTnLst>
                                    <p:animEffect transition="out" filter="barn(inVertical)">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6" presetClass="exit" presetSubtype="21" fill="hold" grpId="0" nodeType="clickEffect">
                                  <p:stCondLst>
                                    <p:cond delay="0"/>
                                  </p:stCondLst>
                                  <p:childTnLst>
                                    <p:animEffect transition="out" filter="barn(inVertical)">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2C62005D-67D4-47DD-95A3-E28C7B85379E}"/>
              </a:ext>
            </a:extLst>
          </p:cNvPr>
          <p:cNvSpPr/>
          <p:nvPr/>
        </p:nvSpPr>
        <p:spPr>
          <a:xfrm>
            <a:off x="2244436" y="2722418"/>
            <a:ext cx="6629400" cy="1558637"/>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dirty="0">
                <a:ln>
                  <a:noFill/>
                </a:ln>
                <a:solidFill>
                  <a:prstClr val="black"/>
                </a:solidFill>
                <a:effectLst/>
                <a:uLnTx/>
                <a:uFillTx/>
                <a:latin typeface="Trebuchet MS" panose="020B0603020202020204"/>
                <a:ea typeface="+mn-ea"/>
                <a:cs typeface="+mn-cs"/>
              </a:rPr>
              <a:t>MÉTABOLISME DU </a:t>
            </a:r>
            <a:r>
              <a:rPr lang="fr-FR" sz="3600" b="1" dirty="0">
                <a:solidFill>
                  <a:prstClr val="black"/>
                </a:solidFill>
                <a:latin typeface="Trebuchet MS" panose="020B0603020202020204"/>
              </a:rPr>
              <a:t>MANNOSE</a:t>
            </a:r>
            <a:endParaRPr kumimoji="0" lang="fr-FR" sz="3600" b="1"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396875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a:ln>
                  <a:noFill/>
                </a:ln>
                <a:solidFill>
                  <a:srgbClr val="ED7D31">
                    <a:lumMod val="75000"/>
                  </a:srgbClr>
                </a:solidFill>
                <a:effectLst/>
                <a:uLnTx/>
                <a:uFillTx/>
                <a:latin typeface="Trebuchet MS" panose="020B0603020202020204"/>
                <a:ea typeface="+mn-ea"/>
                <a:cs typeface="+mn-cs"/>
              </a:rPr>
              <a:t>Métabolisme du </a:t>
            </a:r>
            <a:r>
              <a:rPr lang="fr-FR" sz="3200" b="1" dirty="0">
                <a:solidFill>
                  <a:srgbClr val="ED7D31">
                    <a:lumMod val="75000"/>
                  </a:srgbClr>
                </a:solidFill>
                <a:latin typeface="Trebuchet MS" panose="020B0603020202020204"/>
              </a:rPr>
              <a:t>mannose </a:t>
            </a:r>
            <a:r>
              <a:rPr kumimoji="0" lang="fr-FR" sz="3200" b="1" i="0" u="none" strike="noStrike" kern="1200" cap="none" spc="0" normalizeH="0" baseline="0" noProof="0" dirty="0">
                <a:ln>
                  <a:noFill/>
                </a:ln>
                <a:solidFill>
                  <a:srgbClr val="ED7D31">
                    <a:lumMod val="75000"/>
                  </a:srgbClr>
                </a:solidFill>
                <a:effectLst/>
                <a:uLnTx/>
                <a:uFillTx/>
                <a:latin typeface="Trebuchet MS" panose="020B0603020202020204"/>
                <a:ea typeface="+mn-ea"/>
                <a:cs typeface="+mn-cs"/>
              </a:rPr>
              <a:t>   </a:t>
            </a: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C492E686-E172-4388-B036-F1281E01B07D}"/>
              </a:ext>
            </a:extLst>
          </p:cNvPr>
          <p:cNvSpPr txBox="1"/>
          <p:nvPr/>
        </p:nvSpPr>
        <p:spPr>
          <a:xfrm>
            <a:off x="474582" y="1303144"/>
            <a:ext cx="9216736" cy="3913059"/>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endParaRPr lang="fr-CA" sz="2400" b="1" dirty="0">
              <a:solidFill>
                <a:srgbClr val="4472C4">
                  <a:lumMod val="50000"/>
                </a:srgbClr>
              </a:solidFill>
              <a:latin typeface="Calibri" panose="020F0502020204030204" pitchFamily="34" charset="0"/>
              <a:cs typeface="Calibri" panose="020F050202020403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fr-CA" sz="2400" i="0" u="none" strike="noStrike" kern="1200" cap="none" spc="0" normalizeH="0" baseline="0" noProof="0" dirty="0">
                <a:ln>
                  <a:noFill/>
                </a:ln>
                <a:solidFill>
                  <a:srgbClr val="4472C4">
                    <a:lumMod val="50000"/>
                  </a:srgbClr>
                </a:solidFill>
                <a:effectLst/>
                <a:uLnTx/>
                <a:uFillTx/>
                <a:latin typeface="Calibri" panose="020F0502020204030204" pitchFamily="34" charset="0"/>
                <a:ea typeface="+mn-ea"/>
                <a:cs typeface="Calibri" panose="020F0502020204030204" pitchFamily="34" charset="0"/>
              </a:rPr>
              <a:t> Le catabolisme du mannose commence par une phosphorylation de cet ose en mannose 6-phosphate, réaction catalysée par l'hexokinase :</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fr-CA" sz="2400" i="0" u="none" strike="noStrike" kern="1200" cap="none" spc="0" normalizeH="0" baseline="0" noProof="0" dirty="0">
                <a:ln>
                  <a:noFill/>
                </a:ln>
                <a:solidFill>
                  <a:srgbClr val="4472C4">
                    <a:lumMod val="50000"/>
                  </a:srgbClr>
                </a:solidFill>
                <a:effectLst/>
                <a:uLnTx/>
                <a:uFillTx/>
                <a:latin typeface="Calibri" panose="020F0502020204030204" pitchFamily="34" charset="0"/>
                <a:ea typeface="+mn-ea"/>
                <a:cs typeface="Calibri" panose="020F0502020204030204" pitchFamily="34" charset="0"/>
              </a:rPr>
              <a:t>		mannose + ATP            HK                 </a:t>
            </a:r>
            <a:r>
              <a:rPr kumimoji="0" lang="fr-CA" sz="2400" b="0" i="0" u="none" strike="noStrike" kern="1200" cap="none" spc="0" normalizeH="0" baseline="0" noProof="0" dirty="0">
                <a:ln>
                  <a:noFill/>
                </a:ln>
                <a:solidFill>
                  <a:srgbClr val="4472C4">
                    <a:lumMod val="50000"/>
                  </a:srgbClr>
                </a:solidFill>
                <a:effectLst/>
                <a:uLnTx/>
                <a:uFillTx/>
                <a:latin typeface="Calibri" panose="020F0502020204030204" pitchFamily="34" charset="0"/>
                <a:ea typeface="+mn-ea"/>
                <a:cs typeface="Calibri" panose="020F0502020204030204" pitchFamily="34" charset="0"/>
              </a:rPr>
              <a:t>mannose-6-P + ADP</a:t>
            </a:r>
            <a:endParaRPr kumimoji="0" lang="fr-CA" sz="2400" i="0" u="none" strike="noStrike" kern="1200" cap="none" spc="0" normalizeH="0" baseline="0" noProof="0" dirty="0">
              <a:ln>
                <a:noFill/>
              </a:ln>
              <a:solidFill>
                <a:srgbClr val="4472C4">
                  <a:lumMod val="50000"/>
                </a:srgbClr>
              </a:solidFill>
              <a:effectLst/>
              <a:uLnTx/>
              <a:uFillTx/>
              <a:latin typeface="Calibri" panose="020F0502020204030204" pitchFamily="34" charset="0"/>
              <a:ea typeface="+mn-ea"/>
              <a:cs typeface="Calibri" panose="020F050202020403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fr-CA" sz="2400" i="0" u="none" strike="noStrike" kern="1200" cap="none" spc="0" normalizeH="0" baseline="0" noProof="0" dirty="0">
                <a:ln>
                  <a:noFill/>
                </a:ln>
                <a:solidFill>
                  <a:srgbClr val="4472C4">
                    <a:lumMod val="50000"/>
                  </a:srgbClr>
                </a:solidFill>
                <a:effectLst/>
                <a:uLnTx/>
                <a:uFillTx/>
                <a:latin typeface="Calibri" panose="020F0502020204030204" pitchFamily="34" charset="0"/>
                <a:ea typeface="+mn-ea"/>
                <a:cs typeface="Calibri" panose="020F0502020204030204" pitchFamily="34" charset="0"/>
              </a:rPr>
              <a:t>Puis, le mannose 6-phosphate est converti en fructose-6-phosphate par une mannose6-phosphate isomérase :</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fr-CA" sz="2400" i="0" u="none" strike="noStrike" kern="1200" cap="none" spc="0" normalizeH="0" baseline="0" noProof="0" dirty="0">
                <a:ln>
                  <a:noFill/>
                </a:ln>
                <a:solidFill>
                  <a:srgbClr val="4472C4">
                    <a:lumMod val="50000"/>
                  </a:srgbClr>
                </a:solidFill>
                <a:effectLst/>
                <a:uLnTx/>
                <a:uFillTx/>
                <a:latin typeface="Calibri" panose="020F0502020204030204" pitchFamily="34" charset="0"/>
                <a:ea typeface="+mn-ea"/>
                <a:cs typeface="Calibri" panose="020F0502020204030204" pitchFamily="34" charset="0"/>
              </a:rPr>
              <a:t>		</a:t>
            </a:r>
            <a:r>
              <a:rPr kumimoji="0" lang="fr-CA" sz="2400" b="0" i="0" u="none" strike="noStrike" kern="1200" cap="none" spc="0" normalizeH="0" baseline="0" noProof="0" dirty="0">
                <a:ln>
                  <a:noFill/>
                </a:ln>
                <a:solidFill>
                  <a:srgbClr val="4472C4">
                    <a:lumMod val="50000"/>
                  </a:srgbClr>
                </a:solidFill>
                <a:effectLst/>
                <a:uLnTx/>
                <a:uFillTx/>
                <a:latin typeface="Calibri" panose="020F0502020204030204" pitchFamily="34" charset="0"/>
                <a:ea typeface="+mn-ea"/>
                <a:cs typeface="Calibri" panose="020F0502020204030204" pitchFamily="34" charset="0"/>
              </a:rPr>
              <a:t> mannose-6-P                                    </a:t>
            </a:r>
            <a:r>
              <a:rPr kumimoji="0" lang="fr-CA" sz="2400" i="0" u="none" strike="noStrike" kern="1200" cap="none" spc="0" normalizeH="0" baseline="0" noProof="0" dirty="0">
                <a:ln>
                  <a:noFill/>
                </a:ln>
                <a:solidFill>
                  <a:srgbClr val="4472C4">
                    <a:lumMod val="50000"/>
                  </a:srgbClr>
                </a:solidFill>
                <a:effectLst/>
                <a:uLnTx/>
                <a:uFillTx/>
                <a:latin typeface="Calibri" panose="020F0502020204030204" pitchFamily="34" charset="0"/>
                <a:ea typeface="+mn-ea"/>
                <a:cs typeface="Calibri" panose="020F0502020204030204" pitchFamily="34" charset="0"/>
              </a:rPr>
              <a:t>fructose-6-P</a:t>
            </a:r>
          </a:p>
        </p:txBody>
      </p:sp>
      <p:cxnSp>
        <p:nvCxnSpPr>
          <p:cNvPr id="8" name="Connecteur droit avec flèche 7">
            <a:extLst>
              <a:ext uri="{FF2B5EF4-FFF2-40B4-BE49-F238E27FC236}">
                <a16:creationId xmlns:a16="http://schemas.microsoft.com/office/drawing/2014/main" id="{CBDDA23E-577A-474D-A86F-B770ADF1045C}"/>
              </a:ext>
            </a:extLst>
          </p:cNvPr>
          <p:cNvCxnSpPr/>
          <p:nvPr/>
        </p:nvCxnSpPr>
        <p:spPr>
          <a:xfrm>
            <a:off x="3544711" y="3318933"/>
            <a:ext cx="190782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65285D2D-B31B-4955-A4DF-DB81D19F639E}"/>
              </a:ext>
            </a:extLst>
          </p:cNvPr>
          <p:cNvCxnSpPr/>
          <p:nvPr/>
        </p:nvCxnSpPr>
        <p:spPr>
          <a:xfrm>
            <a:off x="3544711" y="4972755"/>
            <a:ext cx="190782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822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barn(inVertical)">
                                      <p:cBhvr>
                                        <p:cTn id="10" dur="500"/>
                                        <p:tgtEl>
                                          <p:spTgt spid="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barn(inVertical)">
                                      <p:cBhvr>
                                        <p:cTn id="15" dur="500"/>
                                        <p:tgtEl>
                                          <p:spTgt spid="6">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6">
                                            <p:txEl>
                                              <p:pRg st="4" end="4"/>
                                            </p:txEl>
                                          </p:spTgt>
                                        </p:tgtEl>
                                        <p:attrNameLst>
                                          <p:attrName>style.visibility</p:attrName>
                                        </p:attrNameLst>
                                      </p:cBhvr>
                                      <p:to>
                                        <p:strVal val="visible"/>
                                      </p:to>
                                    </p:set>
                                    <p:animEffect transition="in" filter="barn(inVertical)">
                                      <p:cBhvr>
                                        <p:cTn id="20" dur="500"/>
                                        <p:tgtEl>
                                          <p:spTgt spid="6">
                                            <p:txEl>
                                              <p:pRg st="4" end="4"/>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inVertical)">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3A9DF91-E9E5-4372-AC09-8B0E88AE3310}"/>
              </a:ext>
            </a:extLst>
          </p:cNvPr>
          <p:cNvSpPr txBox="1"/>
          <p:nvPr/>
        </p:nvSpPr>
        <p:spPr>
          <a:xfrm>
            <a:off x="332509" y="353291"/>
            <a:ext cx="8842664" cy="584775"/>
          </a:xfrm>
          <a:prstGeom prst="rect">
            <a:avLst/>
          </a:prstGeom>
          <a:noFill/>
        </p:spPr>
        <p:txBody>
          <a:bodyPr wrap="square" rtlCol="0">
            <a:spAutoFit/>
          </a:bodyPr>
          <a:lstStyle/>
          <a:p>
            <a:r>
              <a:rPr lang="fr-FR" sz="3200" b="1">
                <a:solidFill>
                  <a:schemeClr val="accent2">
                    <a:lumMod val="75000"/>
                  </a:schemeClr>
                </a:solidFill>
              </a:rPr>
              <a:t>Conclusion </a:t>
            </a:r>
            <a:endParaRPr lang="fr-FR" sz="3200" b="1" dirty="0">
              <a:solidFill>
                <a:schemeClr val="accent2">
                  <a:lumMod val="75000"/>
                </a:schemeClr>
              </a:solidFill>
            </a:endParaRPr>
          </a:p>
        </p:txBody>
      </p:sp>
      <p:cxnSp>
        <p:nvCxnSpPr>
          <p:cNvPr id="5" name="Connecteur droit 4">
            <a:extLst>
              <a:ext uri="{FF2B5EF4-FFF2-40B4-BE49-F238E27FC236}">
                <a16:creationId xmlns:a16="http://schemas.microsoft.com/office/drawing/2014/main" id="{894CC638-74C8-487B-A21E-EB5DD9F4FF23}"/>
              </a:ext>
            </a:extLst>
          </p:cNvPr>
          <p:cNvCxnSpPr/>
          <p:nvPr/>
        </p:nvCxnSpPr>
        <p:spPr>
          <a:xfrm>
            <a:off x="332509" y="1018309"/>
            <a:ext cx="91024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9859885"/>
      </p:ext>
    </p:extLst>
  </p:cSld>
  <p:clrMapOvr>
    <a:masterClrMapping/>
  </p:clrMapOvr>
</p:sld>
</file>

<file path=ppt/theme/theme1.xml><?xml version="1.0" encoding="utf-8"?>
<a:theme xmlns:a="http://schemas.openxmlformats.org/drawingml/2006/main" name="Facet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erre givré">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1169</TotalTime>
  <Words>1292</Words>
  <Application>Microsoft Office PowerPoint</Application>
  <PresentationFormat>Grand écran</PresentationFormat>
  <Paragraphs>189</Paragraphs>
  <Slides>34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34</vt:i4>
      </vt:variant>
    </vt:vector>
  </HeadingPairs>
  <TitlesOfParts>
    <vt:vector size="39" baseType="lpstr">
      <vt:lpstr>Arial</vt:lpstr>
      <vt:lpstr>Calibri</vt:lpstr>
      <vt:lpstr>Trebuchet MS</vt:lpstr>
      <vt:lpstr>Wingdings 3</vt:lpstr>
      <vt:lpstr>Facette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Aya Boufama</dc:creator>
  <cp:lastModifiedBy>Aya Boufama</cp:lastModifiedBy>
  <cp:revision>177</cp:revision>
  <dcterms:created xsi:type="dcterms:W3CDTF">2024-10-21T13:14:48Z</dcterms:created>
  <dcterms:modified xsi:type="dcterms:W3CDTF">2025-01-19T21:51:22Z</dcterms:modified>
</cp:coreProperties>
</file>