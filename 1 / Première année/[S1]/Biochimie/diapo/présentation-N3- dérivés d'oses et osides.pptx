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73"/>
  </p:notesMasterIdLst>
  <p:sldIdLst>
    <p:sldId id="256" r:id="rId2"/>
    <p:sldId id="258" r:id="rId3"/>
    <p:sldId id="303" r:id="rId4"/>
    <p:sldId id="312" r:id="rId5"/>
    <p:sldId id="313" r:id="rId6"/>
    <p:sldId id="341" r:id="rId7"/>
    <p:sldId id="342" r:id="rId8"/>
    <p:sldId id="343" r:id="rId9"/>
    <p:sldId id="344" r:id="rId10"/>
    <p:sldId id="405" r:id="rId11"/>
    <p:sldId id="345" r:id="rId12"/>
    <p:sldId id="346" r:id="rId13"/>
    <p:sldId id="347" r:id="rId14"/>
    <p:sldId id="348" r:id="rId15"/>
    <p:sldId id="349" r:id="rId16"/>
    <p:sldId id="406" r:id="rId17"/>
    <p:sldId id="410" r:id="rId18"/>
    <p:sldId id="358" r:id="rId19"/>
    <p:sldId id="411" r:id="rId20"/>
    <p:sldId id="359" r:id="rId21"/>
    <p:sldId id="360" r:id="rId22"/>
    <p:sldId id="361" r:id="rId23"/>
    <p:sldId id="362" r:id="rId24"/>
    <p:sldId id="363" r:id="rId25"/>
    <p:sldId id="364" r:id="rId26"/>
    <p:sldId id="409" r:id="rId27"/>
    <p:sldId id="365" r:id="rId28"/>
    <p:sldId id="412" r:id="rId29"/>
    <p:sldId id="366" r:id="rId30"/>
    <p:sldId id="413" r:id="rId31"/>
    <p:sldId id="369" r:id="rId32"/>
    <p:sldId id="415" r:id="rId33"/>
    <p:sldId id="414" r:id="rId34"/>
    <p:sldId id="371" r:id="rId35"/>
    <p:sldId id="372" r:id="rId36"/>
    <p:sldId id="416" r:id="rId37"/>
    <p:sldId id="374" r:id="rId38"/>
    <p:sldId id="417" r:id="rId39"/>
    <p:sldId id="375" r:id="rId40"/>
    <p:sldId id="419" r:id="rId41"/>
    <p:sldId id="418" r:id="rId42"/>
    <p:sldId id="378" r:id="rId43"/>
    <p:sldId id="420" r:id="rId44"/>
    <p:sldId id="381" r:id="rId45"/>
    <p:sldId id="421" r:id="rId46"/>
    <p:sldId id="383" r:id="rId47"/>
    <p:sldId id="407" r:id="rId48"/>
    <p:sldId id="422" r:id="rId49"/>
    <p:sldId id="384" r:id="rId50"/>
    <p:sldId id="423" r:id="rId51"/>
    <p:sldId id="424" r:id="rId52"/>
    <p:sldId id="385" r:id="rId53"/>
    <p:sldId id="386" r:id="rId54"/>
    <p:sldId id="387" r:id="rId55"/>
    <p:sldId id="388" r:id="rId56"/>
    <p:sldId id="389" r:id="rId57"/>
    <p:sldId id="390" r:id="rId58"/>
    <p:sldId id="408" r:id="rId59"/>
    <p:sldId id="425" r:id="rId60"/>
    <p:sldId id="392" r:id="rId61"/>
    <p:sldId id="394" r:id="rId62"/>
    <p:sldId id="395" r:id="rId63"/>
    <p:sldId id="396" r:id="rId64"/>
    <p:sldId id="397" r:id="rId65"/>
    <p:sldId id="398" r:id="rId66"/>
    <p:sldId id="426" r:id="rId67"/>
    <p:sldId id="400" r:id="rId68"/>
    <p:sldId id="403" r:id="rId69"/>
    <p:sldId id="402" r:id="rId70"/>
    <p:sldId id="401" r:id="rId71"/>
    <p:sldId id="404"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DE7979"/>
    <a:srgbClr val="E8F6FC"/>
    <a:srgbClr val="EDF9F6"/>
    <a:srgbClr val="DAF2EB"/>
    <a:srgbClr val="E0F4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23" autoAdjust="0"/>
    <p:restoredTop sz="94203" autoAdjust="0"/>
  </p:normalViewPr>
  <p:slideViewPr>
    <p:cSldViewPr snapToGrid="0">
      <p:cViewPr varScale="1">
        <p:scale>
          <a:sx n="92" d="100"/>
          <a:sy n="92" d="100"/>
        </p:scale>
        <p:origin x="1242" y="66"/>
      </p:cViewPr>
      <p:guideLst>
        <p:guide orient="horz" pos="2160"/>
        <p:guide pos="2857"/>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1" Type="http://schemas.openxmlformats.org/officeDocument/2006/relationships/image" Target="../media/image2.jpg"/></Relationships>
</file>

<file path=ppt/diagrams/_rels/data2.xml.rels><?xml version="1.0" encoding="UTF-8" standalone="yes"?>
<Relationships xmlns="http://schemas.openxmlformats.org/package/2006/relationships"><Relationship Id="rId1" Type="http://schemas.openxmlformats.org/officeDocument/2006/relationships/image" Target="../media/image3.jpg"/></Relationships>
</file>

<file path=ppt/diagrams/_rels/drawing1.xml.rels><?xml version="1.0" encoding="UTF-8" standalone="yes"?>
<Relationships xmlns="http://schemas.openxmlformats.org/package/2006/relationships"><Relationship Id="rId1" Type="http://schemas.openxmlformats.org/officeDocument/2006/relationships/image" Target="../media/image2.jpg"/></Relationships>
</file>

<file path=ppt/diagrams/_rels/drawing2.xml.rels><?xml version="1.0" encoding="UTF-8" standalone="yes"?>
<Relationships xmlns="http://schemas.openxmlformats.org/package/2006/relationships"><Relationship Id="rId1" Type="http://schemas.openxmlformats.org/officeDocument/2006/relationships/image" Target="../media/image3.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A88E2A-E13C-4FF5-B62E-D4917B87A79D}"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42CD1E75-439C-4ADE-B223-F566F985779F}">
      <dgm:prSet phldrT="[Texte]" phldr="1"/>
      <dgm:spPr/>
      <dgm:t>
        <a:bodyPr/>
        <a:lstStyle/>
        <a:p>
          <a:endParaRPr lang="fr-DZ"/>
        </a:p>
      </dgm:t>
    </dgm:pt>
    <dgm:pt modelId="{51A6C575-3915-4FD8-A94C-1C42127621EB}" type="parTrans" cxnId="{67A9758B-92CD-458B-B7F8-3ECCC4DDEB87}">
      <dgm:prSet/>
      <dgm:spPr/>
      <dgm:t>
        <a:bodyPr/>
        <a:lstStyle/>
        <a:p>
          <a:endParaRPr lang="fr-DZ"/>
        </a:p>
      </dgm:t>
    </dgm:pt>
    <dgm:pt modelId="{8A6B2A80-5E81-49FF-95E7-35A1A9D6B8E0}" type="sibTrans" cxnId="{67A9758B-92CD-458B-B7F8-3ECCC4DDEB87}">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endParaRPr lang="fr-DZ"/>
        </a:p>
      </dgm:t>
    </dgm:pt>
    <dgm:pt modelId="{E9E0FC93-48C1-4489-A0D5-8A859652061D}" type="pres">
      <dgm:prSet presAssocID="{BDA88E2A-E13C-4FF5-B62E-D4917B87A79D}" presName="Name0" presStyleCnt="0">
        <dgm:presLayoutVars>
          <dgm:chMax val="7"/>
          <dgm:chPref val="7"/>
          <dgm:dir/>
        </dgm:presLayoutVars>
      </dgm:prSet>
      <dgm:spPr/>
    </dgm:pt>
    <dgm:pt modelId="{973748A6-6965-41A9-847C-BB758549035B}" type="pres">
      <dgm:prSet presAssocID="{BDA88E2A-E13C-4FF5-B62E-D4917B87A79D}" presName="Name1" presStyleCnt="0"/>
      <dgm:spPr/>
    </dgm:pt>
    <dgm:pt modelId="{96F56542-AEFD-4259-BD35-E613C5D85EE5}" type="pres">
      <dgm:prSet presAssocID="{8A6B2A80-5E81-49FF-95E7-35A1A9D6B8E0}" presName="picture_1" presStyleCnt="0"/>
      <dgm:spPr/>
    </dgm:pt>
    <dgm:pt modelId="{CBA7BE10-B74E-440E-B384-CACF250538F8}" type="pres">
      <dgm:prSet presAssocID="{8A6B2A80-5E81-49FF-95E7-35A1A9D6B8E0}" presName="pictureRepeatNode" presStyleLbl="alignImgPlace1" presStyleIdx="0" presStyleCnt="1" custScaleX="184000" custScaleY="200000" custLinFactNeighborX="28727" custLinFactNeighborY="-15096"/>
      <dgm:spPr/>
    </dgm:pt>
    <dgm:pt modelId="{9F110FC9-674C-403D-A287-DBA103BA9EEA}" type="pres">
      <dgm:prSet presAssocID="{42CD1E75-439C-4ADE-B223-F566F985779F}" presName="text_1" presStyleLbl="node1" presStyleIdx="0" presStyleCnt="0">
        <dgm:presLayoutVars>
          <dgm:bulletEnabled val="1"/>
        </dgm:presLayoutVars>
      </dgm:prSet>
      <dgm:spPr/>
    </dgm:pt>
  </dgm:ptLst>
  <dgm:cxnLst>
    <dgm:cxn modelId="{89EDBE76-264E-4AF7-A16C-6FE9ABE94D83}" type="presOf" srcId="{42CD1E75-439C-4ADE-B223-F566F985779F}" destId="{9F110FC9-674C-403D-A287-DBA103BA9EEA}" srcOrd="0" destOrd="0" presId="urn:microsoft.com/office/officeart/2008/layout/CircularPictureCallout"/>
    <dgm:cxn modelId="{DB8D7A7E-6189-4BF5-81E7-44A9EFE975A7}" type="presOf" srcId="{BDA88E2A-E13C-4FF5-B62E-D4917B87A79D}" destId="{E9E0FC93-48C1-4489-A0D5-8A859652061D}" srcOrd="0" destOrd="0" presId="urn:microsoft.com/office/officeart/2008/layout/CircularPictureCallout"/>
    <dgm:cxn modelId="{67A9758B-92CD-458B-B7F8-3ECCC4DDEB87}" srcId="{BDA88E2A-E13C-4FF5-B62E-D4917B87A79D}" destId="{42CD1E75-439C-4ADE-B223-F566F985779F}" srcOrd="0" destOrd="0" parTransId="{51A6C575-3915-4FD8-A94C-1C42127621EB}" sibTransId="{8A6B2A80-5E81-49FF-95E7-35A1A9D6B8E0}"/>
    <dgm:cxn modelId="{EA314DBA-2408-49BF-9D87-34FEC8CD3EE0}" type="presOf" srcId="{8A6B2A80-5E81-49FF-95E7-35A1A9D6B8E0}" destId="{CBA7BE10-B74E-440E-B384-CACF250538F8}" srcOrd="0" destOrd="0" presId="urn:microsoft.com/office/officeart/2008/layout/CircularPictureCallout"/>
    <dgm:cxn modelId="{CDAA9388-1FDE-476E-9949-10984B4C03F6}" type="presParOf" srcId="{E9E0FC93-48C1-4489-A0D5-8A859652061D}" destId="{973748A6-6965-41A9-847C-BB758549035B}" srcOrd="0" destOrd="0" presId="urn:microsoft.com/office/officeart/2008/layout/CircularPictureCallout"/>
    <dgm:cxn modelId="{5BCA9B84-CE38-4299-8C89-4BED6EDCD0A2}" type="presParOf" srcId="{973748A6-6965-41A9-847C-BB758549035B}" destId="{96F56542-AEFD-4259-BD35-E613C5D85EE5}" srcOrd="0" destOrd="0" presId="urn:microsoft.com/office/officeart/2008/layout/CircularPictureCallout"/>
    <dgm:cxn modelId="{02451F78-757A-4EAB-80FC-5C6CAE88DCC2}" type="presParOf" srcId="{96F56542-AEFD-4259-BD35-E613C5D85EE5}" destId="{CBA7BE10-B74E-440E-B384-CACF250538F8}" srcOrd="0" destOrd="0" presId="urn:microsoft.com/office/officeart/2008/layout/CircularPictureCallout"/>
    <dgm:cxn modelId="{5F0B4952-F87E-409C-8477-9FF2F9FEFB17}" type="presParOf" srcId="{973748A6-6965-41A9-847C-BB758549035B}" destId="{9F110FC9-674C-403D-A287-DBA103BA9EEA}"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2732DF-322E-4D2D-9E85-ED7945AD502B}"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597B47A9-D6AB-47B5-9574-6F9205DB0E7A}">
      <dgm:prSet phldrT="[Texte]" phldr="1"/>
      <dgm:spPr/>
      <dgm:t>
        <a:bodyPr/>
        <a:lstStyle/>
        <a:p>
          <a:endParaRPr lang="fr-DZ"/>
        </a:p>
      </dgm:t>
    </dgm:pt>
    <dgm:pt modelId="{108B59E6-C5D9-4A12-963D-525DCBD86130}" type="parTrans" cxnId="{9B8A9C0F-965A-4ED5-A034-BCD75243EF74}">
      <dgm:prSet/>
      <dgm:spPr/>
      <dgm:t>
        <a:bodyPr/>
        <a:lstStyle/>
        <a:p>
          <a:endParaRPr lang="fr-DZ"/>
        </a:p>
      </dgm:t>
    </dgm:pt>
    <dgm:pt modelId="{AF7C62ED-970E-4F7A-9193-B952F948A147}" type="sibTrans" cxnId="{9B8A9C0F-965A-4ED5-A034-BCD75243EF74}">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20000" r="-20000"/>
          </a:stretch>
        </a:blipFill>
      </dgm:spPr>
      <dgm:t>
        <a:bodyPr/>
        <a:lstStyle/>
        <a:p>
          <a:endParaRPr lang="fr-DZ"/>
        </a:p>
      </dgm:t>
    </dgm:pt>
    <dgm:pt modelId="{A5C115CC-38D2-43ED-B82F-22E8A8E4A075}" type="pres">
      <dgm:prSet presAssocID="{D02732DF-322E-4D2D-9E85-ED7945AD502B}" presName="Name0" presStyleCnt="0">
        <dgm:presLayoutVars>
          <dgm:chMax val="7"/>
          <dgm:chPref val="7"/>
          <dgm:dir/>
        </dgm:presLayoutVars>
      </dgm:prSet>
      <dgm:spPr/>
    </dgm:pt>
    <dgm:pt modelId="{3570F879-0BAD-4EB6-909F-FEFC48981634}" type="pres">
      <dgm:prSet presAssocID="{D02732DF-322E-4D2D-9E85-ED7945AD502B}" presName="Name1" presStyleCnt="0"/>
      <dgm:spPr/>
    </dgm:pt>
    <dgm:pt modelId="{3B340197-73AE-423A-AD1E-55F697570B82}" type="pres">
      <dgm:prSet presAssocID="{AF7C62ED-970E-4F7A-9193-B952F948A147}" presName="picture_1" presStyleCnt="0"/>
      <dgm:spPr/>
    </dgm:pt>
    <dgm:pt modelId="{26DC73AC-D7CF-4704-B5E9-E6A2399AF970}" type="pres">
      <dgm:prSet presAssocID="{AF7C62ED-970E-4F7A-9193-B952F948A147}" presName="pictureRepeatNode" presStyleLbl="alignImgPlace1" presStyleIdx="0" presStyleCnt="1" custScaleX="167122" custScaleY="142105" custLinFactNeighborX="-17259"/>
      <dgm:spPr/>
    </dgm:pt>
    <dgm:pt modelId="{36B19D73-4FE7-4999-8FDF-BEF664321DE0}" type="pres">
      <dgm:prSet presAssocID="{597B47A9-D6AB-47B5-9574-6F9205DB0E7A}" presName="text_1" presStyleLbl="node1" presStyleIdx="0" presStyleCnt="0">
        <dgm:presLayoutVars>
          <dgm:bulletEnabled val="1"/>
        </dgm:presLayoutVars>
      </dgm:prSet>
      <dgm:spPr/>
    </dgm:pt>
  </dgm:ptLst>
  <dgm:cxnLst>
    <dgm:cxn modelId="{9B8A9C0F-965A-4ED5-A034-BCD75243EF74}" srcId="{D02732DF-322E-4D2D-9E85-ED7945AD502B}" destId="{597B47A9-D6AB-47B5-9574-6F9205DB0E7A}" srcOrd="0" destOrd="0" parTransId="{108B59E6-C5D9-4A12-963D-525DCBD86130}" sibTransId="{AF7C62ED-970E-4F7A-9193-B952F948A147}"/>
    <dgm:cxn modelId="{1858927C-3E33-4BBB-91A4-C8452DC529DE}" type="presOf" srcId="{AF7C62ED-970E-4F7A-9193-B952F948A147}" destId="{26DC73AC-D7CF-4704-B5E9-E6A2399AF970}" srcOrd="0" destOrd="0" presId="urn:microsoft.com/office/officeart/2008/layout/CircularPictureCallout"/>
    <dgm:cxn modelId="{DA4ABCF2-9016-4C23-9003-BC8196175FC0}" type="presOf" srcId="{D02732DF-322E-4D2D-9E85-ED7945AD502B}" destId="{A5C115CC-38D2-43ED-B82F-22E8A8E4A075}" srcOrd="0" destOrd="0" presId="urn:microsoft.com/office/officeart/2008/layout/CircularPictureCallout"/>
    <dgm:cxn modelId="{4FDC22FA-C247-4093-B676-D25F84702584}" type="presOf" srcId="{597B47A9-D6AB-47B5-9574-6F9205DB0E7A}" destId="{36B19D73-4FE7-4999-8FDF-BEF664321DE0}" srcOrd="0" destOrd="0" presId="urn:microsoft.com/office/officeart/2008/layout/CircularPictureCallout"/>
    <dgm:cxn modelId="{733D27A9-2507-471C-9839-F219628D1B19}" type="presParOf" srcId="{A5C115CC-38D2-43ED-B82F-22E8A8E4A075}" destId="{3570F879-0BAD-4EB6-909F-FEFC48981634}" srcOrd="0" destOrd="0" presId="urn:microsoft.com/office/officeart/2008/layout/CircularPictureCallout"/>
    <dgm:cxn modelId="{2CE6E88B-1EF5-488A-8FBF-63D2848DB396}" type="presParOf" srcId="{3570F879-0BAD-4EB6-909F-FEFC48981634}" destId="{3B340197-73AE-423A-AD1E-55F697570B82}" srcOrd="0" destOrd="0" presId="urn:microsoft.com/office/officeart/2008/layout/CircularPictureCallout"/>
    <dgm:cxn modelId="{DD94D2B2-9686-4886-9B72-4A27D5C00964}" type="presParOf" srcId="{3B340197-73AE-423A-AD1E-55F697570B82}" destId="{26DC73AC-D7CF-4704-B5E9-E6A2399AF970}" srcOrd="0" destOrd="0" presId="urn:microsoft.com/office/officeart/2008/layout/CircularPictureCallout"/>
    <dgm:cxn modelId="{A6C301D8-5C00-483A-90DB-2820C67E84A5}" type="presParOf" srcId="{3570F879-0BAD-4EB6-909F-FEFC48981634}" destId="{36B19D73-4FE7-4999-8FDF-BEF664321DE0}" srcOrd="1" destOrd="0" presId="urn:microsoft.com/office/officeart/2008/layout/CircularPictureCallou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28956-717F-4A29-AF80-52D16B2B7225}"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fr-FR"/>
        </a:p>
      </dgm:t>
    </dgm:pt>
    <dgm:pt modelId="{08D6E124-B0B8-436B-A74A-359CC62232AE}">
      <dgm:prSet/>
      <dgm:spPr/>
      <dgm:t>
        <a:bodyPr/>
        <a:lstStyle/>
        <a:p>
          <a:r>
            <a:rPr lang="fr-CA" b="1"/>
            <a:t>Le glycogènes</a:t>
          </a:r>
          <a:endParaRPr lang="fr-DZ"/>
        </a:p>
      </dgm:t>
    </dgm:pt>
    <dgm:pt modelId="{7E757BF8-59A6-4876-9B57-7C8AA2FEEB6F}" type="parTrans" cxnId="{A2284DC1-F436-4F75-B5CD-63854497A992}">
      <dgm:prSet/>
      <dgm:spPr/>
      <dgm:t>
        <a:bodyPr/>
        <a:lstStyle/>
        <a:p>
          <a:endParaRPr lang="fr-FR"/>
        </a:p>
      </dgm:t>
    </dgm:pt>
    <dgm:pt modelId="{DE971480-D008-446B-9B48-6E0B6F2FB4B1}" type="sibTrans" cxnId="{A2284DC1-F436-4F75-B5CD-63854497A992}">
      <dgm:prSet/>
      <dgm:spPr/>
      <dgm:t>
        <a:bodyPr/>
        <a:lstStyle/>
        <a:p>
          <a:endParaRPr lang="fr-FR"/>
        </a:p>
      </dgm:t>
    </dgm:pt>
    <dgm:pt modelId="{FDF1A5B9-D8C4-4F8E-B442-0C681202C6E9}">
      <dgm:prSet/>
      <dgm:spPr/>
      <dgm:t>
        <a:bodyPr/>
        <a:lstStyle/>
        <a:p>
          <a:r>
            <a:rPr lang="fr-CA" b="1"/>
            <a:t>L’amidon</a:t>
          </a:r>
          <a:endParaRPr lang="fr-DZ"/>
        </a:p>
      </dgm:t>
    </dgm:pt>
    <dgm:pt modelId="{8CBBA6A4-E7E2-4F66-9EF4-4A0622EB5039}" type="parTrans" cxnId="{C38E2EAB-9D9B-416F-AE36-0BE2762303A0}">
      <dgm:prSet/>
      <dgm:spPr/>
      <dgm:t>
        <a:bodyPr/>
        <a:lstStyle/>
        <a:p>
          <a:endParaRPr lang="fr-FR"/>
        </a:p>
      </dgm:t>
    </dgm:pt>
    <dgm:pt modelId="{00E4083D-370D-48E6-AA9E-6F3F56705B82}" type="sibTrans" cxnId="{C38E2EAB-9D9B-416F-AE36-0BE2762303A0}">
      <dgm:prSet/>
      <dgm:spPr/>
      <dgm:t>
        <a:bodyPr/>
        <a:lstStyle/>
        <a:p>
          <a:endParaRPr lang="fr-FR"/>
        </a:p>
      </dgm:t>
    </dgm:pt>
    <dgm:pt modelId="{A17B2282-10E5-4863-905C-C800A69AD96C}">
      <dgm:prSet/>
      <dgm:spPr/>
      <dgm:t>
        <a:bodyPr/>
        <a:lstStyle/>
        <a:p>
          <a:r>
            <a:rPr lang="fr-CA" b="1"/>
            <a:t>Le cellulose</a:t>
          </a:r>
          <a:endParaRPr lang="fr-DZ"/>
        </a:p>
      </dgm:t>
    </dgm:pt>
    <dgm:pt modelId="{F580937A-6571-49AC-B738-9901F3A5C672}" type="parTrans" cxnId="{0D5B7E60-0157-4AC6-9CF8-A2B7ED7F0A66}">
      <dgm:prSet/>
      <dgm:spPr/>
      <dgm:t>
        <a:bodyPr/>
        <a:lstStyle/>
        <a:p>
          <a:endParaRPr lang="fr-FR"/>
        </a:p>
      </dgm:t>
    </dgm:pt>
    <dgm:pt modelId="{672BA718-09DC-47E2-8D81-A377CBC669DF}" type="sibTrans" cxnId="{0D5B7E60-0157-4AC6-9CF8-A2B7ED7F0A66}">
      <dgm:prSet/>
      <dgm:spPr/>
      <dgm:t>
        <a:bodyPr/>
        <a:lstStyle/>
        <a:p>
          <a:endParaRPr lang="fr-FR"/>
        </a:p>
      </dgm:t>
    </dgm:pt>
    <dgm:pt modelId="{3CFFA925-B661-4DE4-B18C-1F7AD426C83F}" type="pres">
      <dgm:prSet presAssocID="{31428956-717F-4A29-AF80-52D16B2B7225}" presName="hierChild1" presStyleCnt="0">
        <dgm:presLayoutVars>
          <dgm:orgChart val="1"/>
          <dgm:chPref val="1"/>
          <dgm:dir/>
          <dgm:animOne val="branch"/>
          <dgm:animLvl val="lvl"/>
          <dgm:resizeHandles/>
        </dgm:presLayoutVars>
      </dgm:prSet>
      <dgm:spPr/>
    </dgm:pt>
    <dgm:pt modelId="{76CDC0EE-E274-466C-B109-E1D11804D695}" type="pres">
      <dgm:prSet presAssocID="{08D6E124-B0B8-436B-A74A-359CC62232AE}" presName="hierRoot1" presStyleCnt="0">
        <dgm:presLayoutVars>
          <dgm:hierBranch val="init"/>
        </dgm:presLayoutVars>
      </dgm:prSet>
      <dgm:spPr/>
    </dgm:pt>
    <dgm:pt modelId="{2AFDCAF7-F8CE-4F2B-AD22-09E62ED75F8B}" type="pres">
      <dgm:prSet presAssocID="{08D6E124-B0B8-436B-A74A-359CC62232AE}" presName="rootComposite1" presStyleCnt="0"/>
      <dgm:spPr/>
    </dgm:pt>
    <dgm:pt modelId="{0BD7B6E6-7FE6-4337-AD7B-3CF52608B7ED}" type="pres">
      <dgm:prSet presAssocID="{08D6E124-B0B8-436B-A74A-359CC62232AE}" presName="rootText1" presStyleLbl="node0" presStyleIdx="0" presStyleCnt="3">
        <dgm:presLayoutVars>
          <dgm:chPref val="3"/>
        </dgm:presLayoutVars>
      </dgm:prSet>
      <dgm:spPr/>
    </dgm:pt>
    <dgm:pt modelId="{1D00BC99-3553-4B56-8FFA-35D4B8AD54EC}" type="pres">
      <dgm:prSet presAssocID="{08D6E124-B0B8-436B-A74A-359CC62232AE}" presName="rootConnector1" presStyleLbl="node1" presStyleIdx="0" presStyleCnt="0"/>
      <dgm:spPr/>
    </dgm:pt>
    <dgm:pt modelId="{EF5660C4-90F4-4DF5-B218-F517A370BC76}" type="pres">
      <dgm:prSet presAssocID="{08D6E124-B0B8-436B-A74A-359CC62232AE}" presName="hierChild2" presStyleCnt="0"/>
      <dgm:spPr/>
    </dgm:pt>
    <dgm:pt modelId="{B5917789-FCD9-41B5-9790-D276E85A4BE6}" type="pres">
      <dgm:prSet presAssocID="{08D6E124-B0B8-436B-A74A-359CC62232AE}" presName="hierChild3" presStyleCnt="0"/>
      <dgm:spPr/>
    </dgm:pt>
    <dgm:pt modelId="{71DCF419-D517-418E-A408-9B1DEA1DFE2E}" type="pres">
      <dgm:prSet presAssocID="{FDF1A5B9-D8C4-4F8E-B442-0C681202C6E9}" presName="hierRoot1" presStyleCnt="0">
        <dgm:presLayoutVars>
          <dgm:hierBranch val="init"/>
        </dgm:presLayoutVars>
      </dgm:prSet>
      <dgm:spPr/>
    </dgm:pt>
    <dgm:pt modelId="{DE29A7F7-3A85-4614-B11C-EBE55DD78CE4}" type="pres">
      <dgm:prSet presAssocID="{FDF1A5B9-D8C4-4F8E-B442-0C681202C6E9}" presName="rootComposite1" presStyleCnt="0"/>
      <dgm:spPr/>
    </dgm:pt>
    <dgm:pt modelId="{9FFBD333-2B81-46EB-9792-F8680B1CF138}" type="pres">
      <dgm:prSet presAssocID="{FDF1A5B9-D8C4-4F8E-B442-0C681202C6E9}" presName="rootText1" presStyleLbl="node0" presStyleIdx="1" presStyleCnt="3">
        <dgm:presLayoutVars>
          <dgm:chPref val="3"/>
        </dgm:presLayoutVars>
      </dgm:prSet>
      <dgm:spPr/>
    </dgm:pt>
    <dgm:pt modelId="{473FDEF0-478A-43AF-A096-89AAAA7C10A4}" type="pres">
      <dgm:prSet presAssocID="{FDF1A5B9-D8C4-4F8E-B442-0C681202C6E9}" presName="rootConnector1" presStyleLbl="node1" presStyleIdx="0" presStyleCnt="0"/>
      <dgm:spPr/>
    </dgm:pt>
    <dgm:pt modelId="{D4C7E832-DB26-4DB4-847C-5167EA054C7E}" type="pres">
      <dgm:prSet presAssocID="{FDF1A5B9-D8C4-4F8E-B442-0C681202C6E9}" presName="hierChild2" presStyleCnt="0"/>
      <dgm:spPr/>
    </dgm:pt>
    <dgm:pt modelId="{24A77E8C-0ED3-41BF-B9D2-2D3E0B29DC22}" type="pres">
      <dgm:prSet presAssocID="{FDF1A5B9-D8C4-4F8E-B442-0C681202C6E9}" presName="hierChild3" presStyleCnt="0"/>
      <dgm:spPr/>
    </dgm:pt>
    <dgm:pt modelId="{D0413961-BD57-4F25-BCD6-5A04626BB339}" type="pres">
      <dgm:prSet presAssocID="{A17B2282-10E5-4863-905C-C800A69AD96C}" presName="hierRoot1" presStyleCnt="0">
        <dgm:presLayoutVars>
          <dgm:hierBranch val="init"/>
        </dgm:presLayoutVars>
      </dgm:prSet>
      <dgm:spPr/>
    </dgm:pt>
    <dgm:pt modelId="{47540AC3-BCCB-4F36-A5A6-D2A319C60984}" type="pres">
      <dgm:prSet presAssocID="{A17B2282-10E5-4863-905C-C800A69AD96C}" presName="rootComposite1" presStyleCnt="0"/>
      <dgm:spPr/>
    </dgm:pt>
    <dgm:pt modelId="{89098556-FCD9-497D-A351-34BA65994AD7}" type="pres">
      <dgm:prSet presAssocID="{A17B2282-10E5-4863-905C-C800A69AD96C}" presName="rootText1" presStyleLbl="node0" presStyleIdx="2" presStyleCnt="3">
        <dgm:presLayoutVars>
          <dgm:chPref val="3"/>
        </dgm:presLayoutVars>
      </dgm:prSet>
      <dgm:spPr/>
    </dgm:pt>
    <dgm:pt modelId="{8FDF1151-68D1-45F9-82BA-AB2A37620521}" type="pres">
      <dgm:prSet presAssocID="{A17B2282-10E5-4863-905C-C800A69AD96C}" presName="rootConnector1" presStyleLbl="node1" presStyleIdx="0" presStyleCnt="0"/>
      <dgm:spPr/>
    </dgm:pt>
    <dgm:pt modelId="{18B07525-30BF-4CBB-A479-22BC049E6A1D}" type="pres">
      <dgm:prSet presAssocID="{A17B2282-10E5-4863-905C-C800A69AD96C}" presName="hierChild2" presStyleCnt="0"/>
      <dgm:spPr/>
    </dgm:pt>
    <dgm:pt modelId="{F83E2808-0BEA-49FE-8E54-4A2790103295}" type="pres">
      <dgm:prSet presAssocID="{A17B2282-10E5-4863-905C-C800A69AD96C}" presName="hierChild3" presStyleCnt="0"/>
      <dgm:spPr/>
    </dgm:pt>
  </dgm:ptLst>
  <dgm:cxnLst>
    <dgm:cxn modelId="{B1A4E11B-F427-4A07-8A43-189CFD43D45A}" type="presOf" srcId="{A17B2282-10E5-4863-905C-C800A69AD96C}" destId="{89098556-FCD9-497D-A351-34BA65994AD7}" srcOrd="0" destOrd="0" presId="urn:microsoft.com/office/officeart/2005/8/layout/orgChart1"/>
    <dgm:cxn modelId="{0D5B7E60-0157-4AC6-9CF8-A2B7ED7F0A66}" srcId="{31428956-717F-4A29-AF80-52D16B2B7225}" destId="{A17B2282-10E5-4863-905C-C800A69AD96C}" srcOrd="2" destOrd="0" parTransId="{F580937A-6571-49AC-B738-9901F3A5C672}" sibTransId="{672BA718-09DC-47E2-8D81-A377CBC669DF}"/>
    <dgm:cxn modelId="{0D817A72-5F6F-468B-8A20-9E5C267123DA}" type="presOf" srcId="{A17B2282-10E5-4863-905C-C800A69AD96C}" destId="{8FDF1151-68D1-45F9-82BA-AB2A37620521}" srcOrd="1" destOrd="0" presId="urn:microsoft.com/office/officeart/2005/8/layout/orgChart1"/>
    <dgm:cxn modelId="{FDA09C77-DB5F-484C-A71D-23DA8D4BEDD5}" type="presOf" srcId="{08D6E124-B0B8-436B-A74A-359CC62232AE}" destId="{0BD7B6E6-7FE6-4337-AD7B-3CF52608B7ED}" srcOrd="0" destOrd="0" presId="urn:microsoft.com/office/officeart/2005/8/layout/orgChart1"/>
    <dgm:cxn modelId="{C6D7CA7F-6B18-442C-8B5E-15C1E0BF0E05}" type="presOf" srcId="{08D6E124-B0B8-436B-A74A-359CC62232AE}" destId="{1D00BC99-3553-4B56-8FFA-35D4B8AD54EC}" srcOrd="1" destOrd="0" presId="urn:microsoft.com/office/officeart/2005/8/layout/orgChart1"/>
    <dgm:cxn modelId="{82BB5D83-FF66-4073-9676-050BB7C09A1B}" type="presOf" srcId="{31428956-717F-4A29-AF80-52D16B2B7225}" destId="{3CFFA925-B661-4DE4-B18C-1F7AD426C83F}" srcOrd="0" destOrd="0" presId="urn:microsoft.com/office/officeart/2005/8/layout/orgChart1"/>
    <dgm:cxn modelId="{73D3CB9E-DFD6-4456-85C5-157122922824}" type="presOf" srcId="{FDF1A5B9-D8C4-4F8E-B442-0C681202C6E9}" destId="{9FFBD333-2B81-46EB-9792-F8680B1CF138}" srcOrd="0" destOrd="0" presId="urn:microsoft.com/office/officeart/2005/8/layout/orgChart1"/>
    <dgm:cxn modelId="{C38E2EAB-9D9B-416F-AE36-0BE2762303A0}" srcId="{31428956-717F-4A29-AF80-52D16B2B7225}" destId="{FDF1A5B9-D8C4-4F8E-B442-0C681202C6E9}" srcOrd="1" destOrd="0" parTransId="{8CBBA6A4-E7E2-4F66-9EF4-4A0622EB5039}" sibTransId="{00E4083D-370D-48E6-AA9E-6F3F56705B82}"/>
    <dgm:cxn modelId="{A2284DC1-F436-4F75-B5CD-63854497A992}" srcId="{31428956-717F-4A29-AF80-52D16B2B7225}" destId="{08D6E124-B0B8-436B-A74A-359CC62232AE}" srcOrd="0" destOrd="0" parTransId="{7E757BF8-59A6-4876-9B57-7C8AA2FEEB6F}" sibTransId="{DE971480-D008-446B-9B48-6E0B6F2FB4B1}"/>
    <dgm:cxn modelId="{6CABBEE9-FC2D-4C59-9D45-2E424306C730}" type="presOf" srcId="{FDF1A5B9-D8C4-4F8E-B442-0C681202C6E9}" destId="{473FDEF0-478A-43AF-A096-89AAAA7C10A4}" srcOrd="1" destOrd="0" presId="urn:microsoft.com/office/officeart/2005/8/layout/orgChart1"/>
    <dgm:cxn modelId="{2298BDB2-801D-40F3-A636-13403D042DA8}" type="presParOf" srcId="{3CFFA925-B661-4DE4-B18C-1F7AD426C83F}" destId="{76CDC0EE-E274-466C-B109-E1D11804D695}" srcOrd="0" destOrd="0" presId="urn:microsoft.com/office/officeart/2005/8/layout/orgChart1"/>
    <dgm:cxn modelId="{779A78BA-DB1B-4CF7-BFE9-562DEC8C4DF2}" type="presParOf" srcId="{76CDC0EE-E274-466C-B109-E1D11804D695}" destId="{2AFDCAF7-F8CE-4F2B-AD22-09E62ED75F8B}" srcOrd="0" destOrd="0" presId="urn:microsoft.com/office/officeart/2005/8/layout/orgChart1"/>
    <dgm:cxn modelId="{B798F974-5F57-42F0-89FC-198ACA4C641F}" type="presParOf" srcId="{2AFDCAF7-F8CE-4F2B-AD22-09E62ED75F8B}" destId="{0BD7B6E6-7FE6-4337-AD7B-3CF52608B7ED}" srcOrd="0" destOrd="0" presId="urn:microsoft.com/office/officeart/2005/8/layout/orgChart1"/>
    <dgm:cxn modelId="{7F451321-DBA6-4673-AFBD-9A7F5E00B978}" type="presParOf" srcId="{2AFDCAF7-F8CE-4F2B-AD22-09E62ED75F8B}" destId="{1D00BC99-3553-4B56-8FFA-35D4B8AD54EC}" srcOrd="1" destOrd="0" presId="urn:microsoft.com/office/officeart/2005/8/layout/orgChart1"/>
    <dgm:cxn modelId="{9A5F5EE3-DE0D-4CAF-A524-D8C79091B16C}" type="presParOf" srcId="{76CDC0EE-E274-466C-B109-E1D11804D695}" destId="{EF5660C4-90F4-4DF5-B218-F517A370BC76}" srcOrd="1" destOrd="0" presId="urn:microsoft.com/office/officeart/2005/8/layout/orgChart1"/>
    <dgm:cxn modelId="{87BFE0BD-7611-4164-8379-A85EFC48361C}" type="presParOf" srcId="{76CDC0EE-E274-466C-B109-E1D11804D695}" destId="{B5917789-FCD9-41B5-9790-D276E85A4BE6}" srcOrd="2" destOrd="0" presId="urn:microsoft.com/office/officeart/2005/8/layout/orgChart1"/>
    <dgm:cxn modelId="{DD324131-7F3F-4031-A7EC-A7E07FB6B145}" type="presParOf" srcId="{3CFFA925-B661-4DE4-B18C-1F7AD426C83F}" destId="{71DCF419-D517-418E-A408-9B1DEA1DFE2E}" srcOrd="1" destOrd="0" presId="urn:microsoft.com/office/officeart/2005/8/layout/orgChart1"/>
    <dgm:cxn modelId="{2F633EE1-5B6B-4569-8908-025B006336E7}" type="presParOf" srcId="{71DCF419-D517-418E-A408-9B1DEA1DFE2E}" destId="{DE29A7F7-3A85-4614-B11C-EBE55DD78CE4}" srcOrd="0" destOrd="0" presId="urn:microsoft.com/office/officeart/2005/8/layout/orgChart1"/>
    <dgm:cxn modelId="{B55E9EAC-0205-4BD1-B47A-151A6F53728E}" type="presParOf" srcId="{DE29A7F7-3A85-4614-B11C-EBE55DD78CE4}" destId="{9FFBD333-2B81-46EB-9792-F8680B1CF138}" srcOrd="0" destOrd="0" presId="urn:microsoft.com/office/officeart/2005/8/layout/orgChart1"/>
    <dgm:cxn modelId="{DB35F62D-4F5D-43D7-98DB-4E77212C3A24}" type="presParOf" srcId="{DE29A7F7-3A85-4614-B11C-EBE55DD78CE4}" destId="{473FDEF0-478A-43AF-A096-89AAAA7C10A4}" srcOrd="1" destOrd="0" presId="urn:microsoft.com/office/officeart/2005/8/layout/orgChart1"/>
    <dgm:cxn modelId="{4DDEF919-90C7-4EB6-864D-A3752E1E29C1}" type="presParOf" srcId="{71DCF419-D517-418E-A408-9B1DEA1DFE2E}" destId="{D4C7E832-DB26-4DB4-847C-5167EA054C7E}" srcOrd="1" destOrd="0" presId="urn:microsoft.com/office/officeart/2005/8/layout/orgChart1"/>
    <dgm:cxn modelId="{DD62F059-F299-4095-B3E5-3C405000F34F}" type="presParOf" srcId="{71DCF419-D517-418E-A408-9B1DEA1DFE2E}" destId="{24A77E8C-0ED3-41BF-B9D2-2D3E0B29DC22}" srcOrd="2" destOrd="0" presId="urn:microsoft.com/office/officeart/2005/8/layout/orgChart1"/>
    <dgm:cxn modelId="{81973EB4-E677-45F9-97A5-8BF9FF2CA1AF}" type="presParOf" srcId="{3CFFA925-B661-4DE4-B18C-1F7AD426C83F}" destId="{D0413961-BD57-4F25-BCD6-5A04626BB339}" srcOrd="2" destOrd="0" presId="urn:microsoft.com/office/officeart/2005/8/layout/orgChart1"/>
    <dgm:cxn modelId="{845D6B91-2B4C-4DF3-B6BC-7FB87230B3D4}" type="presParOf" srcId="{D0413961-BD57-4F25-BCD6-5A04626BB339}" destId="{47540AC3-BCCB-4F36-A5A6-D2A319C60984}" srcOrd="0" destOrd="0" presId="urn:microsoft.com/office/officeart/2005/8/layout/orgChart1"/>
    <dgm:cxn modelId="{71C562EE-BD3D-4F22-B91B-7DE2F6363A88}" type="presParOf" srcId="{47540AC3-BCCB-4F36-A5A6-D2A319C60984}" destId="{89098556-FCD9-497D-A351-34BA65994AD7}" srcOrd="0" destOrd="0" presId="urn:microsoft.com/office/officeart/2005/8/layout/orgChart1"/>
    <dgm:cxn modelId="{A706AB12-520C-46E6-B44A-9AE97E22FFF0}" type="presParOf" srcId="{47540AC3-BCCB-4F36-A5A6-D2A319C60984}" destId="{8FDF1151-68D1-45F9-82BA-AB2A37620521}" srcOrd="1" destOrd="0" presId="urn:microsoft.com/office/officeart/2005/8/layout/orgChart1"/>
    <dgm:cxn modelId="{F13F6175-62EA-4DDE-9D39-2AD7F8F66FF2}" type="presParOf" srcId="{D0413961-BD57-4F25-BCD6-5A04626BB339}" destId="{18B07525-30BF-4CBB-A479-22BC049E6A1D}" srcOrd="1" destOrd="0" presId="urn:microsoft.com/office/officeart/2005/8/layout/orgChart1"/>
    <dgm:cxn modelId="{E780F310-8687-4903-8C81-CB3D6417EB89}" type="presParOf" srcId="{D0413961-BD57-4F25-BCD6-5A04626BB339}" destId="{F83E2808-0BEA-49FE-8E54-4A2790103295}"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A7BE10-B74E-440E-B384-CACF250538F8}">
      <dsp:nvSpPr>
        <dsp:cNvPr id="0" name=""/>
        <dsp:cNvSpPr/>
      </dsp:nvSpPr>
      <dsp:spPr>
        <a:xfrm>
          <a:off x="152400" y="0"/>
          <a:ext cx="1752600" cy="190500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110FC9-674C-403D-A287-DBA103BA9EEA}">
      <dsp:nvSpPr>
        <dsp:cNvPr id="0" name=""/>
        <dsp:cNvSpPr/>
      </dsp:nvSpPr>
      <dsp:spPr>
        <a:xfrm>
          <a:off x="647700" y="982027"/>
          <a:ext cx="609600" cy="314325"/>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endParaRPr lang="fr-DZ" sz="1800" kern="1200"/>
        </a:p>
      </dsp:txBody>
      <dsp:txXfrm>
        <a:off x="647700" y="982027"/>
        <a:ext cx="609600" cy="3143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C73AC-D7CF-4704-B5E9-E6A2399AF970}">
      <dsp:nvSpPr>
        <dsp:cNvPr id="0" name=""/>
        <dsp:cNvSpPr/>
      </dsp:nvSpPr>
      <dsp:spPr>
        <a:xfrm>
          <a:off x="0" y="1"/>
          <a:ext cx="2117143" cy="180022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0" r="-2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B19D73-4FE7-4999-8FDF-BEF664321DE0}">
      <dsp:nvSpPr>
        <dsp:cNvPr id="0" name=""/>
        <dsp:cNvSpPr/>
      </dsp:nvSpPr>
      <dsp:spPr>
        <a:xfrm>
          <a:off x="861441" y="939384"/>
          <a:ext cx="810768" cy="418052"/>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1066800">
            <a:lnSpc>
              <a:spcPct val="90000"/>
            </a:lnSpc>
            <a:spcBef>
              <a:spcPct val="0"/>
            </a:spcBef>
            <a:spcAft>
              <a:spcPct val="35000"/>
            </a:spcAft>
            <a:buNone/>
          </a:pPr>
          <a:endParaRPr lang="fr-DZ" sz="2400" kern="1200"/>
        </a:p>
      </dsp:txBody>
      <dsp:txXfrm>
        <a:off x="861441" y="939384"/>
        <a:ext cx="810768" cy="4180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D7B6E6-7FE6-4337-AD7B-3CF52608B7ED}">
      <dsp:nvSpPr>
        <dsp:cNvPr id="0" name=""/>
        <dsp:cNvSpPr/>
      </dsp:nvSpPr>
      <dsp:spPr>
        <a:xfrm>
          <a:off x="467" y="72169"/>
          <a:ext cx="2035212" cy="101760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fr-CA" sz="3300" b="1" kern="1200"/>
            <a:t>Le glycogènes</a:t>
          </a:r>
          <a:endParaRPr lang="fr-DZ" sz="3300" kern="1200"/>
        </a:p>
      </dsp:txBody>
      <dsp:txXfrm>
        <a:off x="467" y="72169"/>
        <a:ext cx="2035212" cy="1017606"/>
      </dsp:txXfrm>
    </dsp:sp>
    <dsp:sp modelId="{9FFBD333-2B81-46EB-9792-F8680B1CF138}">
      <dsp:nvSpPr>
        <dsp:cNvPr id="0" name=""/>
        <dsp:cNvSpPr/>
      </dsp:nvSpPr>
      <dsp:spPr>
        <a:xfrm>
          <a:off x="2463075" y="72169"/>
          <a:ext cx="2035212" cy="101760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fr-CA" sz="3300" b="1" kern="1200"/>
            <a:t>L’amidon</a:t>
          </a:r>
          <a:endParaRPr lang="fr-DZ" sz="3300" kern="1200"/>
        </a:p>
      </dsp:txBody>
      <dsp:txXfrm>
        <a:off x="2463075" y="72169"/>
        <a:ext cx="2035212" cy="1017606"/>
      </dsp:txXfrm>
    </dsp:sp>
    <dsp:sp modelId="{89098556-FCD9-497D-A351-34BA65994AD7}">
      <dsp:nvSpPr>
        <dsp:cNvPr id="0" name=""/>
        <dsp:cNvSpPr/>
      </dsp:nvSpPr>
      <dsp:spPr>
        <a:xfrm>
          <a:off x="4925682" y="72169"/>
          <a:ext cx="2035212" cy="101760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fr-CA" sz="3300" b="1" kern="1200"/>
            <a:t>Le cellulose</a:t>
          </a:r>
          <a:endParaRPr lang="fr-DZ" sz="3300" kern="1200"/>
        </a:p>
      </dsp:txBody>
      <dsp:txXfrm>
        <a:off x="4925682" y="72169"/>
        <a:ext cx="2035212" cy="101760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DZ"/>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0858C-22B7-4F97-B6B9-1934A2B98F56}" type="datetimeFigureOut">
              <a:rPr lang="fr-DZ" smtClean="0"/>
              <a:t>15/12/2024</a:t>
            </a:fld>
            <a:endParaRPr lang="fr-DZ"/>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DZ"/>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DZ"/>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DZ"/>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3E51DA-5251-4542-B4D4-BF7FC97F1659}" type="slidenum">
              <a:rPr lang="fr-DZ" smtClean="0"/>
              <a:t>‹N°›</a:t>
            </a:fld>
            <a:endParaRPr lang="fr-DZ"/>
          </a:p>
        </p:txBody>
      </p:sp>
    </p:spTree>
    <p:extLst>
      <p:ext uri="{BB962C8B-B14F-4D97-AF65-F5344CB8AC3E}">
        <p14:creationId xmlns:p14="http://schemas.microsoft.com/office/powerpoint/2010/main" val="1949497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5</a:t>
            </a:fld>
            <a:endParaRPr lang="fr-DZ"/>
          </a:p>
        </p:txBody>
      </p:sp>
    </p:spTree>
    <p:extLst>
      <p:ext uri="{BB962C8B-B14F-4D97-AF65-F5344CB8AC3E}">
        <p14:creationId xmlns:p14="http://schemas.microsoft.com/office/powerpoint/2010/main" val="639690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6</a:t>
            </a:fld>
            <a:endParaRPr lang="fr-DZ"/>
          </a:p>
        </p:txBody>
      </p:sp>
    </p:spTree>
    <p:extLst>
      <p:ext uri="{BB962C8B-B14F-4D97-AF65-F5344CB8AC3E}">
        <p14:creationId xmlns:p14="http://schemas.microsoft.com/office/powerpoint/2010/main" val="3338964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7</a:t>
            </a:fld>
            <a:endParaRPr lang="fr-DZ"/>
          </a:p>
        </p:txBody>
      </p:sp>
    </p:spTree>
    <p:extLst>
      <p:ext uri="{BB962C8B-B14F-4D97-AF65-F5344CB8AC3E}">
        <p14:creationId xmlns:p14="http://schemas.microsoft.com/office/powerpoint/2010/main" val="2299238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8</a:t>
            </a:fld>
            <a:endParaRPr lang="fr-DZ"/>
          </a:p>
        </p:txBody>
      </p:sp>
    </p:spTree>
    <p:extLst>
      <p:ext uri="{BB962C8B-B14F-4D97-AF65-F5344CB8AC3E}">
        <p14:creationId xmlns:p14="http://schemas.microsoft.com/office/powerpoint/2010/main" val="2810664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9</a:t>
            </a:fld>
            <a:endParaRPr lang="fr-DZ"/>
          </a:p>
        </p:txBody>
      </p:sp>
    </p:spTree>
    <p:extLst>
      <p:ext uri="{BB962C8B-B14F-4D97-AF65-F5344CB8AC3E}">
        <p14:creationId xmlns:p14="http://schemas.microsoft.com/office/powerpoint/2010/main" val="297289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10</a:t>
            </a:fld>
            <a:endParaRPr lang="fr-DZ"/>
          </a:p>
        </p:txBody>
      </p:sp>
    </p:spTree>
    <p:extLst>
      <p:ext uri="{BB962C8B-B14F-4D97-AF65-F5344CB8AC3E}">
        <p14:creationId xmlns:p14="http://schemas.microsoft.com/office/powerpoint/2010/main" val="349321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fld id="{123E51DA-5251-4542-B4D4-BF7FC97F1659}" type="slidenum">
              <a:rPr lang="fr-DZ" smtClean="0"/>
              <a:t>11</a:t>
            </a:fld>
            <a:endParaRPr lang="fr-DZ"/>
          </a:p>
        </p:txBody>
      </p:sp>
    </p:spTree>
    <p:extLst>
      <p:ext uri="{BB962C8B-B14F-4D97-AF65-F5344CB8AC3E}">
        <p14:creationId xmlns:p14="http://schemas.microsoft.com/office/powerpoint/2010/main" val="90185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3634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209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1986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03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3533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031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970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3474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70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7608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885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3198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27917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0114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601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3162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2154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4958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6446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9844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2132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82061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46187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5721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6879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77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56281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919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0949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41696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923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4122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68335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85403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17164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1379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10625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23778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13873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02853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2066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78416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90943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87994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8845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Ici to </a:t>
            </a:r>
            <a:r>
              <a:rPr lang="fr-CA" dirty="0" err="1"/>
              <a:t>be</a:t>
            </a:r>
            <a:r>
              <a:rPr lang="fr-CA" dirty="0"/>
              <a:t> </a:t>
            </a:r>
            <a:r>
              <a:rPr lang="fr-CA" dirty="0" err="1"/>
              <a:t>continued</a:t>
            </a:r>
            <a:r>
              <a:rPr lang="fr-CA"/>
              <a:t> </a:t>
            </a:r>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50233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8080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55006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17178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61232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71984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24805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24633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79413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5512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758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68886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DZ"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E51DA-5251-4542-B4D4-BF7FC97F1659}" type="slidenum">
              <a:rPr kumimoji="0" lang="fr-D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fr-D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566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fr-FR"/>
              <a:t>Modifiez le style du titre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12055A1F-7D51-4AE2-83EB-8817DB3F8117}" type="datetimeFigureOut">
              <a:rPr lang="fr-DZ" smtClean="0"/>
              <a:t>15/12/2024</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6B0F7D1-5CE4-4B46-88D4-A8B808DDE8DB}" type="slidenum">
              <a:rPr lang="fr-DZ" smtClean="0"/>
              <a:t>‹N°›</a:t>
            </a:fld>
            <a:endParaRPr lang="fr-DZ"/>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617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55A1F-7D51-4AE2-83EB-8817DB3F8117}" type="datetimeFigureOut">
              <a:rPr lang="fr-DZ" smtClean="0"/>
              <a:t>15/12/2024</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2388617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fr-FR"/>
              <a:t>Modifiez le style du titre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055A1F-7D51-4AE2-83EB-8817DB3F8117}" type="datetimeFigureOut">
              <a:rPr lang="fr-DZ" smtClean="0"/>
              <a:t>15/12/2024</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6B0F7D1-5CE4-4B46-88D4-A8B808DDE8DB}" type="slidenum">
              <a:rPr lang="fr-DZ" smtClean="0"/>
              <a:t>‹N°›</a:t>
            </a:fld>
            <a:endParaRPr lang="fr-DZ"/>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034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fr-FR"/>
              <a:t>Modifiez le style du titre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2055A1F-7D51-4AE2-83EB-8817DB3F8117}" type="datetimeFigureOut">
              <a:rPr lang="fr-DZ" smtClean="0"/>
              <a:t>15/12/2024</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2931401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fr-FR"/>
              <a:t>Modifiez le style du titre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768096" y="2967788"/>
            <a:ext cx="356616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FR"/>
              <a:t>Cliquez pour modifier les styles du texte du masque</a:t>
            </a:r>
          </a:p>
        </p:txBody>
      </p:sp>
      <p:sp>
        <p:nvSpPr>
          <p:cNvPr id="6" name="Content Placeholder 5"/>
          <p:cNvSpPr>
            <a:spLocks noGrp="1"/>
          </p:cNvSpPr>
          <p:nvPr>
            <p:ph sz="quarter" idx="4"/>
          </p:nvPr>
        </p:nvSpPr>
        <p:spPr>
          <a:xfrm>
            <a:off x="4491990" y="2967788"/>
            <a:ext cx="356616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2055A1F-7D51-4AE2-83EB-8817DB3F8117}" type="datetimeFigureOut">
              <a:rPr lang="fr-DZ" smtClean="0"/>
              <a:t>15/12/2024</a:t>
            </a:fld>
            <a:endParaRPr lang="fr-DZ"/>
          </a:p>
        </p:txBody>
      </p:sp>
      <p:sp>
        <p:nvSpPr>
          <p:cNvPr id="8" name="Footer Placeholder 7"/>
          <p:cNvSpPr>
            <a:spLocks noGrp="1"/>
          </p:cNvSpPr>
          <p:nvPr>
            <p:ph type="ftr" sz="quarter" idx="11"/>
          </p:nvPr>
        </p:nvSpPr>
        <p:spPr/>
        <p:txBody>
          <a:bodyPr/>
          <a:lstStyle/>
          <a:p>
            <a:endParaRPr lang="fr-DZ"/>
          </a:p>
        </p:txBody>
      </p:sp>
      <p:sp>
        <p:nvSpPr>
          <p:cNvPr id="9" name="Slide Number Placeholder 8"/>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1385287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2055A1F-7D51-4AE2-83EB-8817DB3F8117}" type="datetimeFigureOut">
              <a:rPr lang="fr-DZ" smtClean="0"/>
              <a:t>15/12/2024</a:t>
            </a:fld>
            <a:endParaRPr lang="fr-DZ"/>
          </a:p>
        </p:txBody>
      </p:sp>
      <p:sp>
        <p:nvSpPr>
          <p:cNvPr id="4" name="Footer Placeholder 3"/>
          <p:cNvSpPr>
            <a:spLocks noGrp="1"/>
          </p:cNvSpPr>
          <p:nvPr>
            <p:ph type="ftr" sz="quarter" idx="11"/>
          </p:nvPr>
        </p:nvSpPr>
        <p:spPr/>
        <p:txBody>
          <a:bodyPr/>
          <a:lstStyle/>
          <a:p>
            <a:endParaRPr lang="fr-DZ"/>
          </a:p>
        </p:txBody>
      </p:sp>
      <p:sp>
        <p:nvSpPr>
          <p:cNvPr id="5" name="Slide Number Placeholder 4"/>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128145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55A1F-7D51-4AE2-83EB-8817DB3F8117}" type="datetimeFigureOut">
              <a:rPr lang="fr-DZ" smtClean="0"/>
              <a:t>15/12/2024</a:t>
            </a:fld>
            <a:endParaRPr lang="fr-DZ"/>
          </a:p>
        </p:txBody>
      </p:sp>
      <p:sp>
        <p:nvSpPr>
          <p:cNvPr id="3" name="Footer Placeholder 2"/>
          <p:cNvSpPr>
            <a:spLocks noGrp="1"/>
          </p:cNvSpPr>
          <p:nvPr>
            <p:ph type="ftr" sz="quarter" idx="11"/>
          </p:nvPr>
        </p:nvSpPr>
        <p:spPr/>
        <p:txBody>
          <a:bodyPr/>
          <a:lstStyle/>
          <a:p>
            <a:endParaRPr lang="fr-DZ"/>
          </a:p>
        </p:txBody>
      </p:sp>
      <p:sp>
        <p:nvSpPr>
          <p:cNvPr id="4" name="Slide Number Placeholder 3"/>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773120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fr-FR"/>
              <a:t>Modifiez le style du titre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2055A1F-7D51-4AE2-83EB-8817DB3F8117}" type="datetimeFigureOut">
              <a:rPr lang="fr-DZ" smtClean="0"/>
              <a:t>15/12/2024</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579193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2055A1F-7D51-4AE2-83EB-8817DB3F8117}" type="datetimeFigureOut">
              <a:rPr lang="fr-DZ" smtClean="0"/>
              <a:t>15/12/2024</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6B0F7D1-5CE4-4B46-88D4-A8B808DDE8DB}" type="slidenum">
              <a:rPr lang="fr-DZ" smtClean="0"/>
              <a:t>‹N°›</a:t>
            </a:fld>
            <a:endParaRPr lang="fr-DZ"/>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760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55A1F-7D51-4AE2-83EB-8817DB3F8117}" type="datetimeFigureOut">
              <a:rPr lang="fr-DZ" smtClean="0"/>
              <a:t>15/12/2024</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6B0F7D1-5CE4-4B46-88D4-A8B808DDE8DB}" type="slidenum">
              <a:rPr lang="fr-DZ" smtClean="0"/>
              <a:t>‹N°›</a:t>
            </a:fld>
            <a:endParaRPr lang="fr-DZ"/>
          </a:p>
        </p:txBody>
      </p:sp>
    </p:spTree>
    <p:extLst>
      <p:ext uri="{BB962C8B-B14F-4D97-AF65-F5344CB8AC3E}">
        <p14:creationId xmlns:p14="http://schemas.microsoft.com/office/powerpoint/2010/main" val="425844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2055A1F-7D51-4AE2-83EB-8817DB3F8117}" type="datetimeFigureOut">
              <a:rPr lang="fr-DZ" smtClean="0"/>
              <a:t>15/12/2024</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6B0F7D1-5CE4-4B46-88D4-A8B808DDE8DB}" type="slidenum">
              <a:rPr lang="fr-DZ" smtClean="0"/>
              <a:t>‹N°›</a:t>
            </a:fld>
            <a:endParaRPr lang="fr-DZ"/>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131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2055A1F-7D51-4AE2-83EB-8817DB3F8117}" type="datetimeFigureOut">
              <a:rPr lang="fr-DZ" smtClean="0"/>
              <a:t>15/12/2024</a:t>
            </a:fld>
            <a:endParaRPr lang="fr-DZ"/>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fr-DZ"/>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6B0F7D1-5CE4-4B46-88D4-A8B808DDE8DB}" type="slidenum">
              <a:rPr lang="fr-DZ" smtClean="0"/>
              <a:t>‹N°›</a:t>
            </a:fld>
            <a:endParaRPr lang="fr-DZ"/>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743418"/>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1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25.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png"/><Relationship Id="rId7" Type="http://schemas.openxmlformats.org/officeDocument/2006/relationships/diagramQuickStyle" Target="../diagrams/quickStyle3.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5.png"/><Relationship Id="rId9" Type="http://schemas.microsoft.com/office/2007/relationships/diagramDrawing" Target="../diagrams/drawing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6.wdp"/><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8.emf"/><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microsoft.com/office/2007/relationships/hdphoto" Target="../media/hdphoto7.wdp"/><Relationship Id="rId5" Type="http://schemas.openxmlformats.org/officeDocument/2006/relationships/image" Target="../media/image29.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7.xml"/><Relationship Id="rId5" Type="http://schemas.openxmlformats.org/officeDocument/2006/relationships/image" Target="../media/image46.emf"/><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C81C865-FFB3-4C5D-97A3-EEB9B8B58479}"/>
              </a:ext>
            </a:extLst>
          </p:cNvPr>
          <p:cNvSpPr/>
          <p:nvPr/>
        </p:nvSpPr>
        <p:spPr>
          <a:xfrm>
            <a:off x="467591" y="2059337"/>
            <a:ext cx="8323118" cy="26869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DZ"/>
          </a:p>
        </p:txBody>
      </p:sp>
      <p:sp>
        <p:nvSpPr>
          <p:cNvPr id="2" name="ZoneTexte 1">
            <a:extLst>
              <a:ext uri="{FF2B5EF4-FFF2-40B4-BE49-F238E27FC236}">
                <a16:creationId xmlns:a16="http://schemas.microsoft.com/office/drawing/2014/main" id="{79705326-FB62-4BF1-9092-6FC992B3E9A4}"/>
              </a:ext>
            </a:extLst>
          </p:cNvPr>
          <p:cNvSpPr txBox="1"/>
          <p:nvPr/>
        </p:nvSpPr>
        <p:spPr>
          <a:xfrm>
            <a:off x="353291" y="2687197"/>
            <a:ext cx="8593282" cy="707886"/>
          </a:xfrm>
          <a:prstGeom prst="rect">
            <a:avLst/>
          </a:prstGeom>
          <a:noFill/>
          <a:ln w="28575">
            <a:noFill/>
          </a:ln>
        </p:spPr>
        <p:txBody>
          <a:bodyPr wrap="square" rtlCol="0">
            <a:spAutoFit/>
          </a:bodyPr>
          <a:lstStyle/>
          <a:p>
            <a:pPr algn="ctr"/>
            <a:r>
              <a:rPr lang="fr-CA" sz="4000" b="1" dirty="0">
                <a:ln w="0"/>
                <a:effectLst>
                  <a:outerShdw blurRad="38100" dist="19050" dir="2700000" algn="tl" rotWithShape="0">
                    <a:schemeClr val="dk1">
                      <a:alpha val="40000"/>
                    </a:schemeClr>
                  </a:outerShdw>
                </a:effectLst>
                <a:cs typeface="Arial" panose="020B0604020202020204" pitchFamily="34" charset="0"/>
              </a:rPr>
              <a:t>DERIVES D’OSES ET OSIDES </a:t>
            </a:r>
            <a:endParaRPr lang="fr-DZ" sz="4000" b="1" dirty="0">
              <a:ln w="0"/>
              <a:effectLst>
                <a:outerShdw blurRad="38100" dist="19050" dir="2700000" algn="tl" rotWithShape="0">
                  <a:schemeClr val="dk1">
                    <a:alpha val="40000"/>
                  </a:schemeClr>
                </a:outerShdw>
              </a:effectLst>
              <a:cs typeface="Arial" panose="020B0604020202020204" pitchFamily="34" charset="0"/>
            </a:endParaRPr>
          </a:p>
        </p:txBody>
      </p:sp>
      <p:sp>
        <p:nvSpPr>
          <p:cNvPr id="3" name="ZoneTexte 2">
            <a:extLst>
              <a:ext uri="{FF2B5EF4-FFF2-40B4-BE49-F238E27FC236}">
                <a16:creationId xmlns:a16="http://schemas.microsoft.com/office/drawing/2014/main" id="{C6FF2CB2-6C96-4130-9114-D292A5842417}"/>
              </a:ext>
            </a:extLst>
          </p:cNvPr>
          <p:cNvSpPr txBox="1"/>
          <p:nvPr/>
        </p:nvSpPr>
        <p:spPr>
          <a:xfrm>
            <a:off x="6437167" y="5120120"/>
            <a:ext cx="2072987" cy="307777"/>
          </a:xfrm>
          <a:prstGeom prst="rect">
            <a:avLst/>
          </a:prstGeom>
          <a:noFill/>
        </p:spPr>
        <p:txBody>
          <a:bodyPr wrap="square" rtlCol="0">
            <a:spAutoFit/>
          </a:bodyPr>
          <a:lstStyle/>
          <a:p>
            <a:r>
              <a:rPr lang="fr-CA" sz="1400" b="1" i="1" dirty="0"/>
              <a:t>Dr. A BOUFAMMA </a:t>
            </a:r>
            <a:endParaRPr lang="fr-DZ" sz="1400" b="1" i="1" dirty="0"/>
          </a:p>
        </p:txBody>
      </p:sp>
      <p:sp>
        <p:nvSpPr>
          <p:cNvPr id="4" name="ZoneTexte 3">
            <a:extLst>
              <a:ext uri="{FF2B5EF4-FFF2-40B4-BE49-F238E27FC236}">
                <a16:creationId xmlns:a16="http://schemas.microsoft.com/office/drawing/2014/main" id="{FDD3572D-4B81-402D-9036-D0BF4C423654}"/>
              </a:ext>
            </a:extLst>
          </p:cNvPr>
          <p:cNvSpPr txBox="1"/>
          <p:nvPr/>
        </p:nvSpPr>
        <p:spPr>
          <a:xfrm>
            <a:off x="3138054" y="5813541"/>
            <a:ext cx="2867891" cy="646331"/>
          </a:xfrm>
          <a:prstGeom prst="rect">
            <a:avLst/>
          </a:prstGeom>
          <a:noFill/>
        </p:spPr>
        <p:txBody>
          <a:bodyPr wrap="square" rtlCol="0">
            <a:spAutoFit/>
          </a:bodyPr>
          <a:lstStyle/>
          <a:p>
            <a:pPr algn="ctr"/>
            <a:r>
              <a:rPr lang="fr-CA" b="1" i="1" dirty="0"/>
              <a:t>Année universitaire 2024/2025</a:t>
            </a:r>
            <a:r>
              <a:rPr lang="fr-CA" sz="1350" dirty="0"/>
              <a:t> </a:t>
            </a:r>
            <a:endParaRPr lang="fr-DZ" sz="1350" dirty="0"/>
          </a:p>
        </p:txBody>
      </p:sp>
      <p:sp>
        <p:nvSpPr>
          <p:cNvPr id="5" name="ZoneTexte 4">
            <a:extLst>
              <a:ext uri="{FF2B5EF4-FFF2-40B4-BE49-F238E27FC236}">
                <a16:creationId xmlns:a16="http://schemas.microsoft.com/office/drawing/2014/main" id="{B7116935-00F1-47AC-8388-0F6DF10D03DF}"/>
              </a:ext>
            </a:extLst>
          </p:cNvPr>
          <p:cNvSpPr txBox="1"/>
          <p:nvPr/>
        </p:nvSpPr>
        <p:spPr>
          <a:xfrm>
            <a:off x="467591" y="380905"/>
            <a:ext cx="8323118" cy="923330"/>
          </a:xfrm>
          <a:prstGeom prst="rect">
            <a:avLst/>
          </a:prstGeom>
          <a:noFill/>
          <a:ln>
            <a:solidFill>
              <a:schemeClr val="tx1"/>
            </a:solidFill>
          </a:ln>
        </p:spPr>
        <p:txBody>
          <a:bodyPr wrap="square" rtlCol="0">
            <a:spAutoFit/>
          </a:bodyPr>
          <a:lstStyle/>
          <a:p>
            <a:pPr algn="ctr"/>
            <a:r>
              <a:rPr lang="fr-CA" b="1" dirty="0"/>
              <a:t>République algérienne Démocratique et populaire </a:t>
            </a:r>
          </a:p>
          <a:p>
            <a:pPr algn="ctr"/>
            <a:r>
              <a:rPr lang="fr-CA" b="1" dirty="0"/>
              <a:t>Université de Constantine 3</a:t>
            </a:r>
          </a:p>
          <a:p>
            <a:pPr algn="ctr"/>
            <a:r>
              <a:rPr lang="fr-CA" b="1" dirty="0"/>
              <a:t>Faculté de Médecin Pr </a:t>
            </a:r>
            <a:r>
              <a:rPr lang="fr-CA" b="1" dirty="0" err="1"/>
              <a:t>Bensmail</a:t>
            </a:r>
            <a:endParaRPr lang="fr-DZ" b="1" dirty="0"/>
          </a:p>
        </p:txBody>
      </p:sp>
      <p:graphicFrame>
        <p:nvGraphicFramePr>
          <p:cNvPr id="9" name="Diagramme 8">
            <a:extLst>
              <a:ext uri="{FF2B5EF4-FFF2-40B4-BE49-F238E27FC236}">
                <a16:creationId xmlns:a16="http://schemas.microsoft.com/office/drawing/2014/main" id="{BF17C6BF-D3E8-47B8-B43B-50C6FB7B8CA1}"/>
              </a:ext>
            </a:extLst>
          </p:cNvPr>
          <p:cNvGraphicFramePr/>
          <p:nvPr>
            <p:extLst>
              <p:ext uri="{D42A27DB-BD31-4B8C-83A1-F6EECF244321}">
                <p14:modId xmlns:p14="http://schemas.microsoft.com/office/powerpoint/2010/main" val="390323563"/>
              </p:ext>
            </p:extLst>
          </p:nvPr>
        </p:nvGraphicFramePr>
        <p:xfrm>
          <a:off x="7239000" y="-167120"/>
          <a:ext cx="1905000" cy="190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me 11">
            <a:extLst>
              <a:ext uri="{FF2B5EF4-FFF2-40B4-BE49-F238E27FC236}">
                <a16:creationId xmlns:a16="http://schemas.microsoft.com/office/drawing/2014/main" id="{E532D29B-B006-4A5A-A28E-41C4811CF38E}"/>
              </a:ext>
            </a:extLst>
          </p:cNvPr>
          <p:cNvGraphicFramePr/>
          <p:nvPr>
            <p:extLst>
              <p:ext uri="{D42A27DB-BD31-4B8C-83A1-F6EECF244321}">
                <p14:modId xmlns:p14="http://schemas.microsoft.com/office/powerpoint/2010/main" val="324187235"/>
              </p:ext>
            </p:extLst>
          </p:nvPr>
        </p:nvGraphicFramePr>
        <p:xfrm>
          <a:off x="52821" y="-114733"/>
          <a:ext cx="2533650" cy="18002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14" name="Connecteur droit 13">
            <a:extLst>
              <a:ext uri="{FF2B5EF4-FFF2-40B4-BE49-F238E27FC236}">
                <a16:creationId xmlns:a16="http://schemas.microsoft.com/office/drawing/2014/main" id="{3EAD99A1-AD52-41EF-ADA3-82A4B38AECDD}"/>
              </a:ext>
            </a:extLst>
          </p:cNvPr>
          <p:cNvCxnSpPr/>
          <p:nvPr/>
        </p:nvCxnSpPr>
        <p:spPr>
          <a:xfrm>
            <a:off x="353291" y="2059337"/>
            <a:ext cx="832311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3A3E6557-3BBB-4F9A-9D70-2251E5AD0422}"/>
              </a:ext>
            </a:extLst>
          </p:cNvPr>
          <p:cNvPicPr>
            <a:picLocks noChangeAspect="1"/>
          </p:cNvPicPr>
          <p:nvPr/>
        </p:nvPicPr>
        <p:blipFill>
          <a:blip r:embed="rId12"/>
          <a:stretch>
            <a:fillRect/>
          </a:stretch>
        </p:blipFill>
        <p:spPr>
          <a:xfrm>
            <a:off x="449980" y="4537517"/>
            <a:ext cx="8358340" cy="54869"/>
          </a:xfrm>
          <a:prstGeom prst="rect">
            <a:avLst/>
          </a:prstGeom>
        </p:spPr>
      </p:pic>
    </p:spTree>
    <p:extLst>
      <p:ext uri="{BB962C8B-B14F-4D97-AF65-F5344CB8AC3E}">
        <p14:creationId xmlns:p14="http://schemas.microsoft.com/office/powerpoint/2010/main" val="392264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7B2F17B-46DA-42AC-AB12-6C674187810F}"/>
              </a:ext>
            </a:extLst>
          </p:cNvPr>
          <p:cNvSpPr txBox="1"/>
          <p:nvPr/>
        </p:nvSpPr>
        <p:spPr>
          <a:xfrm>
            <a:off x="901411" y="2114549"/>
            <a:ext cx="7832148" cy="3141501"/>
          </a:xfrm>
          <a:prstGeom prst="rect">
            <a:avLst/>
          </a:prstGeom>
          <a:noFill/>
        </p:spPr>
        <p:txBody>
          <a:bodyPr wrap="square" rtlCol="0">
            <a:spAutoFit/>
          </a:bodyPr>
          <a:lstStyle/>
          <a:p>
            <a:pPr>
              <a:lnSpc>
                <a:spcPct val="115000"/>
              </a:lnSpc>
              <a:spcAft>
                <a:spcPts val="600"/>
              </a:spcAft>
            </a:pPr>
            <a:r>
              <a:rPr lang="fr-CA" sz="1350" dirty="0">
                <a:latin typeface="Calibri" panose="020F0502020204030204" pitchFamily="34" charset="0"/>
                <a:ea typeface="Calibri" panose="020F0502020204030204" pitchFamily="34" charset="0"/>
                <a:cs typeface="Arial" panose="020B0604020202020204" pitchFamily="34" charset="0"/>
              </a:rPr>
              <a:t> </a:t>
            </a:r>
            <a:endParaRPr lang="fr-DZ" sz="2000" b="1"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a:lnSpc>
                <a:spcPct val="115000"/>
              </a:lnSpc>
              <a:spcAft>
                <a:spcPts val="600"/>
              </a:spcAft>
              <a:buFont typeface="+mj-lt"/>
              <a:buAutoNum type="arabicPeriod"/>
            </a:pPr>
            <a:endParaRPr lang="fr-CA" sz="2000" b="1"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a:lnSpc>
                <a:spcPct val="115000"/>
              </a:lnSpc>
              <a:spcAft>
                <a:spcPts val="600"/>
              </a:spcAft>
              <a:buFont typeface="+mj-lt"/>
              <a:buAutoNum type="arabicPeriod"/>
            </a:pPr>
            <a:r>
              <a:rPr lang="fr-CA" sz="2000" b="1" dirty="0">
                <a:latin typeface="Times New Roman" panose="02020603050405020304" pitchFamily="18" charset="0"/>
                <a:ea typeface="Calibri" panose="020F0502020204030204" pitchFamily="34" charset="0"/>
                <a:cs typeface="Times New Roman" panose="02020603050405020304" pitchFamily="18" charset="0"/>
              </a:rPr>
              <a:t>Définir les composés apparentés aux glucides </a:t>
            </a:r>
          </a:p>
          <a:p>
            <a:pPr marL="257175" indent="-257175">
              <a:lnSpc>
                <a:spcPct val="115000"/>
              </a:lnSpc>
              <a:spcAft>
                <a:spcPts val="600"/>
              </a:spcAft>
              <a:buFont typeface="+mj-lt"/>
              <a:buAutoNum type="arabicPeriod"/>
            </a:pPr>
            <a:r>
              <a:rPr lang="fr-CA" sz="2000" b="1" dirty="0">
                <a:latin typeface="Times New Roman" panose="02020603050405020304" pitchFamily="18" charset="0"/>
                <a:ea typeface="Calibri" panose="020F0502020204030204" pitchFamily="34" charset="0"/>
                <a:cs typeface="Times New Roman" panose="02020603050405020304" pitchFamily="18" charset="0"/>
              </a:rPr>
              <a:t>Classer les glucides complexes en holosides et hétérosides</a:t>
            </a:r>
          </a:p>
          <a:p>
            <a:pPr marL="257175" indent="-257175">
              <a:lnSpc>
                <a:spcPct val="115000"/>
              </a:lnSpc>
              <a:spcAft>
                <a:spcPts val="600"/>
              </a:spcAft>
              <a:buFont typeface="+mj-lt"/>
              <a:buAutoNum type="arabicPeriod"/>
            </a:pPr>
            <a:r>
              <a:rPr lang="fr-CA" sz="2000" b="1" dirty="0">
                <a:latin typeface="Times New Roman" panose="02020603050405020304" pitchFamily="18" charset="0"/>
                <a:ea typeface="Calibri" panose="020F0502020204030204" pitchFamily="34" charset="0"/>
                <a:cs typeface="Times New Roman" panose="02020603050405020304" pitchFamily="18" charset="0"/>
              </a:rPr>
              <a:t>Comprendre les rôles des glucides selon leur caractéristiques structurales </a:t>
            </a:r>
          </a:p>
          <a:p>
            <a:pPr marL="257175" indent="-257175">
              <a:lnSpc>
                <a:spcPct val="115000"/>
              </a:lnSpc>
              <a:spcAft>
                <a:spcPts val="600"/>
              </a:spcAft>
              <a:buFont typeface="+mj-lt"/>
              <a:buAutoNum type="arabicPeriod"/>
            </a:pPr>
            <a:endParaRPr lang="fr-DZ"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a:lnSpc>
                <a:spcPct val="115000"/>
              </a:lnSpc>
              <a:spcAft>
                <a:spcPts val="600"/>
              </a:spcAft>
            </a:pPr>
            <a:r>
              <a:rPr lang="fr-CA" sz="1350" dirty="0">
                <a:latin typeface="Calibri" panose="020F0502020204030204" pitchFamily="34" charset="0"/>
                <a:ea typeface="Calibri" panose="020F0502020204030204" pitchFamily="34" charset="0"/>
                <a:cs typeface="Arial" panose="020B0604020202020204" pitchFamily="34" charset="0"/>
              </a:rPr>
              <a:t> </a:t>
            </a:r>
            <a:endParaRPr lang="fr-DZ" sz="1350" dirty="0">
              <a:latin typeface="Calibri" panose="020F0502020204030204" pitchFamily="34" charset="0"/>
              <a:ea typeface="Calibri" panose="020F0502020204030204" pitchFamily="34" charset="0"/>
              <a:cs typeface="Arial" panose="020B0604020202020204" pitchFamily="34" charset="0"/>
            </a:endParaRPr>
          </a:p>
        </p:txBody>
      </p:sp>
      <p:cxnSp>
        <p:nvCxnSpPr>
          <p:cNvPr id="3" name="Connecteur droit 2">
            <a:extLst>
              <a:ext uri="{FF2B5EF4-FFF2-40B4-BE49-F238E27FC236}">
                <a16:creationId xmlns:a16="http://schemas.microsoft.com/office/drawing/2014/main" id="{F7B75BB2-B54E-4DDB-A1A7-B7FD29BDAA0A}"/>
              </a:ext>
            </a:extLst>
          </p:cNvPr>
          <p:cNvCxnSpPr/>
          <p:nvPr/>
        </p:nvCxnSpPr>
        <p:spPr>
          <a:xfrm>
            <a:off x="410441" y="1009856"/>
            <a:ext cx="832311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ZoneTexte 3">
            <a:extLst>
              <a:ext uri="{FF2B5EF4-FFF2-40B4-BE49-F238E27FC236}">
                <a16:creationId xmlns:a16="http://schemas.microsoft.com/office/drawing/2014/main" id="{7D5D3DE0-6CE9-4962-8347-67BFF7A2B382}"/>
              </a:ext>
            </a:extLst>
          </p:cNvPr>
          <p:cNvSpPr txBox="1"/>
          <p:nvPr/>
        </p:nvSpPr>
        <p:spPr>
          <a:xfrm>
            <a:off x="1911927" y="363682"/>
            <a:ext cx="5122718" cy="539571"/>
          </a:xfrm>
          <a:prstGeom prst="rect">
            <a:avLst/>
          </a:prstGeom>
          <a:noFill/>
        </p:spPr>
        <p:txBody>
          <a:bodyPr wrap="square" rtlCol="0">
            <a:spAutoFit/>
          </a:bodyPr>
          <a:lstStyle/>
          <a:p>
            <a:pPr marL="0" marR="0" lvl="0" indent="0" algn="ctr" defTabSz="457200" rtl="0" eaLnBrk="1" fontAlgn="auto" latinLnBrk="0" hangingPunct="1">
              <a:lnSpc>
                <a:spcPct val="115000"/>
              </a:lnSpc>
              <a:spcBef>
                <a:spcPts val="0"/>
              </a:spcBef>
              <a:spcAft>
                <a:spcPts val="600"/>
              </a:spcAft>
              <a:buClrTx/>
              <a:buSzTx/>
              <a:buFontTx/>
              <a:buNone/>
              <a:tabLst/>
              <a:defRPr/>
            </a:pPr>
            <a:r>
              <a:rPr lang="fr-CA" sz="2700" b="1" dirty="0">
                <a:solidFill>
                  <a:srgbClr val="FF0000"/>
                </a:solidFill>
                <a:latin typeface="Tw Cen MT" panose="020B0602020104020603"/>
              </a:rPr>
              <a:t>OBJECTIFS</a:t>
            </a:r>
            <a:r>
              <a:rPr kumimoji="0" lang="fr-CA" sz="21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Arial" panose="020B0604020202020204" pitchFamily="34" charset="0"/>
              </a:rPr>
              <a:t> </a:t>
            </a:r>
            <a:r>
              <a:rPr lang="fr-CA" sz="2700" b="1" dirty="0">
                <a:solidFill>
                  <a:srgbClr val="FF0000"/>
                </a:solidFill>
                <a:latin typeface="Tw Cen MT" panose="020B0602020104020603"/>
              </a:rPr>
              <a:t>DU</a:t>
            </a:r>
            <a:r>
              <a:rPr kumimoji="0" lang="fr-CA" sz="21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Arial" panose="020B0604020202020204" pitchFamily="34" charset="0"/>
              </a:rPr>
              <a:t> </a:t>
            </a:r>
            <a:r>
              <a:rPr lang="fr-CA" sz="2700" b="1" dirty="0">
                <a:solidFill>
                  <a:srgbClr val="FF0000"/>
                </a:solidFill>
                <a:latin typeface="Tw Cen MT" panose="020B0602020104020603"/>
              </a:rPr>
              <a:t>COURS</a:t>
            </a:r>
            <a:r>
              <a:rPr kumimoji="0" lang="fr-CA" sz="21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Arial" panose="020B0604020202020204" pitchFamily="34" charset="0"/>
              </a:rPr>
              <a:t>  </a:t>
            </a:r>
            <a:endParaRPr kumimoji="0" lang="fr-DZ" sz="21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Arial" panose="020B0604020202020204" pitchFamily="34" charset="0"/>
            </a:endParaRPr>
          </a:p>
        </p:txBody>
      </p:sp>
      <p:cxnSp>
        <p:nvCxnSpPr>
          <p:cNvPr id="7" name="Connecteur droit 6">
            <a:extLst>
              <a:ext uri="{FF2B5EF4-FFF2-40B4-BE49-F238E27FC236}">
                <a16:creationId xmlns:a16="http://schemas.microsoft.com/office/drawing/2014/main" id="{175BCA90-8423-4D34-910D-6150F4138016}"/>
              </a:ext>
            </a:extLst>
          </p:cNvPr>
          <p:cNvCxnSpPr/>
          <p:nvPr/>
        </p:nvCxnSpPr>
        <p:spPr>
          <a:xfrm>
            <a:off x="410441" y="6596701"/>
            <a:ext cx="832311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589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FFF087-7BF5-4631-BD66-35BD386536B8}"/>
              </a:ext>
            </a:extLst>
          </p:cNvPr>
          <p:cNvSpPr txBox="1"/>
          <p:nvPr/>
        </p:nvSpPr>
        <p:spPr>
          <a:xfrm>
            <a:off x="654625" y="778236"/>
            <a:ext cx="8717973" cy="5624617"/>
          </a:xfrm>
          <a:prstGeom prst="rect">
            <a:avLst/>
          </a:prstGeom>
          <a:noFill/>
        </p:spPr>
        <p:txBody>
          <a:bodyPr wrap="square" rtlCol="0">
            <a:spAutoFit/>
          </a:bodyPr>
          <a:lstStyle/>
          <a:p>
            <a:r>
              <a:rPr lang="fr-CA" sz="1600" dirty="0"/>
              <a:t>	</a:t>
            </a:r>
          </a:p>
          <a:p>
            <a:pPr>
              <a:lnSpc>
                <a:spcPct val="150000"/>
              </a:lnSpc>
            </a:pPr>
            <a:r>
              <a:rPr lang="fr-CA" sz="2000" b="1" dirty="0">
                <a:solidFill>
                  <a:srgbClr val="FF0000"/>
                </a:solidFill>
              </a:rPr>
              <a:t>I.	Introduction</a:t>
            </a:r>
          </a:p>
          <a:p>
            <a:pPr>
              <a:lnSpc>
                <a:spcPct val="150000"/>
              </a:lnSpc>
            </a:pPr>
            <a:r>
              <a:rPr lang="fr-CA" sz="2000" b="1" dirty="0">
                <a:solidFill>
                  <a:srgbClr val="FF0000"/>
                </a:solidFill>
              </a:rPr>
              <a:t>II.	Les dérives d’ose</a:t>
            </a:r>
          </a:p>
          <a:p>
            <a:pPr>
              <a:lnSpc>
                <a:spcPct val="150000"/>
              </a:lnSpc>
            </a:pPr>
            <a:r>
              <a:rPr lang="fr-CA" sz="2000" b="1" dirty="0">
                <a:solidFill>
                  <a:srgbClr val="FF0000"/>
                </a:solidFill>
              </a:rPr>
              <a:t>III.	Les osides</a:t>
            </a:r>
          </a:p>
          <a:p>
            <a:pPr lvl="1">
              <a:lnSpc>
                <a:spcPct val="150000"/>
              </a:lnSpc>
            </a:pPr>
            <a:r>
              <a:rPr lang="fr-CA" sz="2000" b="1" dirty="0">
                <a:solidFill>
                  <a:schemeClr val="accent6">
                    <a:lumMod val="75000"/>
                  </a:schemeClr>
                </a:solidFill>
              </a:rPr>
              <a:t>III. 1	Définition</a:t>
            </a:r>
          </a:p>
          <a:p>
            <a:pPr lvl="1">
              <a:lnSpc>
                <a:spcPct val="150000"/>
              </a:lnSpc>
            </a:pPr>
            <a:r>
              <a:rPr lang="fr-CA" sz="2000" b="1" dirty="0">
                <a:solidFill>
                  <a:schemeClr val="accent6">
                    <a:lumMod val="75000"/>
                  </a:schemeClr>
                </a:solidFill>
              </a:rPr>
              <a:t>III. 2	La liaison glycosidique</a:t>
            </a:r>
          </a:p>
          <a:p>
            <a:pPr lvl="1">
              <a:lnSpc>
                <a:spcPct val="150000"/>
              </a:lnSpc>
            </a:pPr>
            <a:r>
              <a:rPr lang="fr-CA" sz="2000" b="1" dirty="0">
                <a:solidFill>
                  <a:schemeClr val="accent6">
                    <a:lumMod val="75000"/>
                  </a:schemeClr>
                </a:solidFill>
              </a:rPr>
              <a:t>III. 3	Les holosides</a:t>
            </a:r>
          </a:p>
          <a:p>
            <a:pPr lvl="2">
              <a:lnSpc>
                <a:spcPct val="150000"/>
              </a:lnSpc>
            </a:pPr>
            <a:r>
              <a:rPr lang="fr-CA" sz="2000" b="1" dirty="0"/>
              <a:t>III.4.1	Les oligosides</a:t>
            </a:r>
          </a:p>
          <a:p>
            <a:pPr lvl="2">
              <a:lnSpc>
                <a:spcPct val="150000"/>
              </a:lnSpc>
            </a:pPr>
            <a:r>
              <a:rPr lang="fr-CA" sz="2000" b="1" dirty="0"/>
              <a:t>III.4.2	Les polyholosides ou polysaccharides</a:t>
            </a:r>
          </a:p>
          <a:p>
            <a:pPr lvl="1">
              <a:lnSpc>
                <a:spcPct val="150000"/>
              </a:lnSpc>
            </a:pPr>
            <a:r>
              <a:rPr lang="fr-CA" sz="2000" b="1" dirty="0">
                <a:solidFill>
                  <a:schemeClr val="accent6">
                    <a:lumMod val="75000"/>
                  </a:schemeClr>
                </a:solidFill>
              </a:rPr>
              <a:t>III. 4	Les hétérosides</a:t>
            </a:r>
          </a:p>
          <a:p>
            <a:pPr lvl="2">
              <a:lnSpc>
                <a:spcPct val="150000"/>
              </a:lnSpc>
            </a:pPr>
            <a:r>
              <a:rPr lang="fr-CA" sz="2000" b="1" dirty="0"/>
              <a:t>III.4.1	Hétéro-oligosides</a:t>
            </a:r>
          </a:p>
          <a:p>
            <a:pPr lvl="2">
              <a:lnSpc>
                <a:spcPct val="150000"/>
              </a:lnSpc>
            </a:pPr>
            <a:r>
              <a:rPr lang="fr-CA" sz="2000" b="1" dirty="0"/>
              <a:t>III.4.2	glycoconjugués</a:t>
            </a:r>
          </a:p>
          <a:p>
            <a:endParaRPr lang="fr-CA" sz="1350" dirty="0"/>
          </a:p>
        </p:txBody>
      </p:sp>
      <p:sp>
        <p:nvSpPr>
          <p:cNvPr id="4" name="ZoneTexte 3">
            <a:extLst>
              <a:ext uri="{FF2B5EF4-FFF2-40B4-BE49-F238E27FC236}">
                <a16:creationId xmlns:a16="http://schemas.microsoft.com/office/drawing/2014/main" id="{FC8B603C-B39C-4FCD-A842-E0FD6049F479}"/>
              </a:ext>
            </a:extLst>
          </p:cNvPr>
          <p:cNvSpPr txBox="1"/>
          <p:nvPr/>
        </p:nvSpPr>
        <p:spPr>
          <a:xfrm>
            <a:off x="1496291" y="317705"/>
            <a:ext cx="5964382"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PLAN DU COURS </a:t>
            </a:r>
          </a:p>
        </p:txBody>
      </p:sp>
      <p:grpSp>
        <p:nvGrpSpPr>
          <p:cNvPr id="8" name="Groupe 7">
            <a:extLst>
              <a:ext uri="{FF2B5EF4-FFF2-40B4-BE49-F238E27FC236}">
                <a16:creationId xmlns:a16="http://schemas.microsoft.com/office/drawing/2014/main" id="{A33EF5A4-0BB3-4490-BAE4-9CEDB340AED5}"/>
              </a:ext>
            </a:extLst>
          </p:cNvPr>
          <p:cNvGrpSpPr/>
          <p:nvPr/>
        </p:nvGrpSpPr>
        <p:grpSpPr>
          <a:xfrm>
            <a:off x="392830" y="990874"/>
            <a:ext cx="8502964" cy="5634787"/>
            <a:chOff x="392830" y="990874"/>
            <a:chExt cx="8502964" cy="5634787"/>
          </a:xfrm>
        </p:grpSpPr>
        <p:pic>
          <p:nvPicPr>
            <p:cNvPr id="3" name="Image 2">
              <a:extLst>
                <a:ext uri="{FF2B5EF4-FFF2-40B4-BE49-F238E27FC236}">
                  <a16:creationId xmlns:a16="http://schemas.microsoft.com/office/drawing/2014/main" id="{45413931-F538-4FD2-B6A7-56C3AC4F1DF0}"/>
                </a:ext>
              </a:extLst>
            </p:cNvPr>
            <p:cNvPicPr>
              <a:picLocks noChangeAspect="1"/>
            </p:cNvPicPr>
            <p:nvPr/>
          </p:nvPicPr>
          <p:blipFill>
            <a:blip r:embed="rId2"/>
            <a:stretch>
              <a:fillRect/>
            </a:stretch>
          </p:blipFill>
          <p:spPr>
            <a:xfrm>
              <a:off x="392830" y="990874"/>
              <a:ext cx="8358340" cy="54869"/>
            </a:xfrm>
            <a:prstGeom prst="rect">
              <a:avLst/>
            </a:prstGeom>
          </p:spPr>
        </p:pic>
        <p:pic>
          <p:nvPicPr>
            <p:cNvPr id="5" name="Image 4">
              <a:extLst>
                <a:ext uri="{FF2B5EF4-FFF2-40B4-BE49-F238E27FC236}">
                  <a16:creationId xmlns:a16="http://schemas.microsoft.com/office/drawing/2014/main" id="{CBF3142A-7443-4D53-8A85-184AED802112}"/>
                </a:ext>
              </a:extLst>
            </p:cNvPr>
            <p:cNvPicPr>
              <a:picLocks noChangeAspect="1"/>
            </p:cNvPicPr>
            <p:nvPr/>
          </p:nvPicPr>
          <p:blipFill>
            <a:blip r:embed="rId3"/>
            <a:stretch>
              <a:fillRect/>
            </a:stretch>
          </p:blipFill>
          <p:spPr>
            <a:xfrm>
              <a:off x="531357" y="6570792"/>
              <a:ext cx="8364437" cy="54869"/>
            </a:xfrm>
            <a:prstGeom prst="rect">
              <a:avLst/>
            </a:prstGeom>
          </p:spPr>
        </p:pic>
      </p:grpSp>
      <p:graphicFrame>
        <p:nvGraphicFramePr>
          <p:cNvPr id="6" name="Tableau 6">
            <a:extLst>
              <a:ext uri="{FF2B5EF4-FFF2-40B4-BE49-F238E27FC236}">
                <a16:creationId xmlns:a16="http://schemas.microsoft.com/office/drawing/2014/main" id="{3E20617A-8B5E-4AB7-8646-F9937E332867}"/>
              </a:ext>
            </a:extLst>
          </p:cNvPr>
          <p:cNvGraphicFramePr>
            <a:graphicFrameLocks noGrp="1"/>
          </p:cNvGraphicFramePr>
          <p:nvPr>
            <p:extLst>
              <p:ext uri="{D42A27DB-BD31-4B8C-83A1-F6EECF244321}">
                <p14:modId xmlns:p14="http://schemas.microsoft.com/office/powerpoint/2010/main" val="3336934094"/>
              </p:ext>
            </p:extLst>
          </p:nvPr>
        </p:nvGraphicFramePr>
        <p:xfrm>
          <a:off x="-7951" y="1045741"/>
          <a:ext cx="419100" cy="1915670"/>
        </p:xfrm>
        <a:graphic>
          <a:graphicData uri="http://schemas.openxmlformats.org/drawingml/2006/table">
            <a:tbl>
              <a:tblPr firstRow="1" bandRow="1">
                <a:tableStyleId>{69CF1AB2-1976-4502-BF36-3FF5EA218861}</a:tableStyleId>
              </a:tblPr>
              <a:tblGrid>
                <a:gridCol w="419100">
                  <a:extLst>
                    <a:ext uri="{9D8B030D-6E8A-4147-A177-3AD203B41FA5}">
                      <a16:colId xmlns:a16="http://schemas.microsoft.com/office/drawing/2014/main" val="3619309182"/>
                    </a:ext>
                  </a:extLst>
                </a:gridCol>
              </a:tblGrid>
              <a:tr h="383134">
                <a:tc>
                  <a:txBody>
                    <a:bodyPr/>
                    <a:lstStyle/>
                    <a:p>
                      <a:endParaRPr lang="fr-DZ"/>
                    </a:p>
                  </a:txBody>
                  <a:tcPr/>
                </a:tc>
                <a:extLst>
                  <a:ext uri="{0D108BD9-81ED-4DB2-BD59-A6C34878D82A}">
                    <a16:rowId xmlns:a16="http://schemas.microsoft.com/office/drawing/2014/main" val="3879384576"/>
                  </a:ext>
                </a:extLst>
              </a:tr>
              <a:tr h="383134">
                <a:tc>
                  <a:txBody>
                    <a:bodyPr/>
                    <a:lstStyle/>
                    <a:p>
                      <a:endParaRPr lang="fr-DZ"/>
                    </a:p>
                  </a:txBody>
                  <a:tcPr/>
                </a:tc>
                <a:extLst>
                  <a:ext uri="{0D108BD9-81ED-4DB2-BD59-A6C34878D82A}">
                    <a16:rowId xmlns:a16="http://schemas.microsoft.com/office/drawing/2014/main" val="1691639637"/>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3073571996"/>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1779648454"/>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1936786764"/>
                  </a:ext>
                </a:extLst>
              </a:tr>
            </a:tbl>
          </a:graphicData>
        </a:graphic>
      </p:graphicFrame>
      <p:graphicFrame>
        <p:nvGraphicFramePr>
          <p:cNvPr id="7" name="Tableau 8">
            <a:extLst>
              <a:ext uri="{FF2B5EF4-FFF2-40B4-BE49-F238E27FC236}">
                <a16:creationId xmlns:a16="http://schemas.microsoft.com/office/drawing/2014/main" id="{96BB2FAE-6F97-4BF6-AD3F-1F7404F730A6}"/>
              </a:ext>
            </a:extLst>
          </p:cNvPr>
          <p:cNvGraphicFramePr>
            <a:graphicFrameLocks noGrp="1"/>
          </p:cNvGraphicFramePr>
          <p:nvPr>
            <p:extLst>
              <p:ext uri="{D42A27DB-BD31-4B8C-83A1-F6EECF244321}">
                <p14:modId xmlns:p14="http://schemas.microsoft.com/office/powerpoint/2010/main" val="2497576454"/>
              </p:ext>
            </p:extLst>
          </p:nvPr>
        </p:nvGraphicFramePr>
        <p:xfrm>
          <a:off x="-4487" y="2961409"/>
          <a:ext cx="419100" cy="3609384"/>
        </p:xfrm>
        <a:graphic>
          <a:graphicData uri="http://schemas.openxmlformats.org/drawingml/2006/table">
            <a:tbl>
              <a:tblPr firstRow="1" bandRow="1">
                <a:tableStyleId>{C4B1156A-380E-4F78-BDF5-A606A8083BF9}</a:tableStyleId>
              </a:tblPr>
              <a:tblGrid>
                <a:gridCol w="419100">
                  <a:extLst>
                    <a:ext uri="{9D8B030D-6E8A-4147-A177-3AD203B41FA5}">
                      <a16:colId xmlns:a16="http://schemas.microsoft.com/office/drawing/2014/main" val="3245011596"/>
                    </a:ext>
                  </a:extLst>
                </a:gridCol>
              </a:tblGrid>
              <a:tr h="401043">
                <a:tc>
                  <a:txBody>
                    <a:bodyPr/>
                    <a:lstStyle/>
                    <a:p>
                      <a:endParaRPr lang="fr-DZ" dirty="0"/>
                    </a:p>
                  </a:txBody>
                  <a:tcPr>
                    <a:solidFill>
                      <a:schemeClr val="accent2">
                        <a:lumMod val="20000"/>
                        <a:lumOff val="80000"/>
                      </a:schemeClr>
                    </a:solidFill>
                  </a:tcPr>
                </a:tc>
                <a:extLst>
                  <a:ext uri="{0D108BD9-81ED-4DB2-BD59-A6C34878D82A}">
                    <a16:rowId xmlns:a16="http://schemas.microsoft.com/office/drawing/2014/main" val="4190180022"/>
                  </a:ext>
                </a:extLst>
              </a:tr>
              <a:tr h="401043">
                <a:tc>
                  <a:txBody>
                    <a:bodyPr/>
                    <a:lstStyle/>
                    <a:p>
                      <a:endParaRPr lang="fr-DZ"/>
                    </a:p>
                  </a:txBody>
                  <a:tcPr/>
                </a:tc>
                <a:extLst>
                  <a:ext uri="{0D108BD9-81ED-4DB2-BD59-A6C34878D82A}">
                    <a16:rowId xmlns:a16="http://schemas.microsoft.com/office/drawing/2014/main" val="3688348984"/>
                  </a:ext>
                </a:extLst>
              </a:tr>
              <a:tr h="401043">
                <a:tc>
                  <a:txBody>
                    <a:bodyPr/>
                    <a:lstStyle/>
                    <a:p>
                      <a:endParaRPr lang="fr-DZ"/>
                    </a:p>
                  </a:txBody>
                  <a:tcPr/>
                </a:tc>
                <a:extLst>
                  <a:ext uri="{0D108BD9-81ED-4DB2-BD59-A6C34878D82A}">
                    <a16:rowId xmlns:a16="http://schemas.microsoft.com/office/drawing/2014/main" val="2296508526"/>
                  </a:ext>
                </a:extLst>
              </a:tr>
              <a:tr h="2005212">
                <a:tc>
                  <a:txBody>
                    <a:bodyPr/>
                    <a:lstStyle/>
                    <a:p>
                      <a:endParaRPr lang="fr-DZ" dirty="0"/>
                    </a:p>
                  </a:txBody>
                  <a:tcPr/>
                </a:tc>
                <a:extLst>
                  <a:ext uri="{0D108BD9-81ED-4DB2-BD59-A6C34878D82A}">
                    <a16:rowId xmlns:a16="http://schemas.microsoft.com/office/drawing/2014/main" val="1885236026"/>
                  </a:ext>
                </a:extLst>
              </a:tr>
              <a:tr h="401043">
                <a:tc>
                  <a:txBody>
                    <a:bodyPr/>
                    <a:lstStyle/>
                    <a:p>
                      <a:endParaRPr lang="fr-DZ" dirty="0"/>
                    </a:p>
                  </a:txBody>
                  <a:tcPr/>
                </a:tc>
                <a:extLst>
                  <a:ext uri="{0D108BD9-81ED-4DB2-BD59-A6C34878D82A}">
                    <a16:rowId xmlns:a16="http://schemas.microsoft.com/office/drawing/2014/main" val="2445847537"/>
                  </a:ext>
                </a:extLst>
              </a:tr>
            </a:tbl>
          </a:graphicData>
        </a:graphic>
      </p:graphicFrame>
    </p:spTree>
    <p:extLst>
      <p:ext uri="{BB962C8B-B14F-4D97-AF65-F5344CB8AC3E}">
        <p14:creationId xmlns:p14="http://schemas.microsoft.com/office/powerpoint/2010/main" val="732433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92830" y="296532"/>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INTRODUCTION</a:t>
            </a:r>
            <a:r>
              <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rPr>
              <a:t> </a:t>
            </a:r>
          </a:p>
        </p:txBody>
      </p:sp>
      <p:grpSp>
        <p:nvGrpSpPr>
          <p:cNvPr id="6" name="Groupe 5">
            <a:extLst>
              <a:ext uri="{FF2B5EF4-FFF2-40B4-BE49-F238E27FC236}">
                <a16:creationId xmlns:a16="http://schemas.microsoft.com/office/drawing/2014/main" id="{D4B3550B-6903-4A0D-9D73-839972CFECE1}"/>
              </a:ext>
            </a:extLst>
          </p:cNvPr>
          <p:cNvGrpSpPr/>
          <p:nvPr/>
        </p:nvGrpSpPr>
        <p:grpSpPr>
          <a:xfrm>
            <a:off x="392830" y="990874"/>
            <a:ext cx="8502964" cy="5634787"/>
            <a:chOff x="392830" y="990874"/>
            <a:chExt cx="8502964" cy="5634787"/>
          </a:xfrm>
        </p:grpSpPr>
        <p:pic>
          <p:nvPicPr>
            <p:cNvPr id="7" name="Image 6">
              <a:extLst>
                <a:ext uri="{FF2B5EF4-FFF2-40B4-BE49-F238E27FC236}">
                  <a16:creationId xmlns:a16="http://schemas.microsoft.com/office/drawing/2014/main" id="{94AEF664-929D-4DD0-8D60-0914E21DCDC6}"/>
                </a:ext>
              </a:extLst>
            </p:cNvPr>
            <p:cNvPicPr>
              <a:picLocks noChangeAspect="1"/>
            </p:cNvPicPr>
            <p:nvPr/>
          </p:nvPicPr>
          <p:blipFill>
            <a:blip r:embed="rId2"/>
            <a:stretch>
              <a:fillRect/>
            </a:stretch>
          </p:blipFill>
          <p:spPr>
            <a:xfrm>
              <a:off x="392830" y="990874"/>
              <a:ext cx="8358340" cy="54869"/>
            </a:xfrm>
            <a:prstGeom prst="rect">
              <a:avLst/>
            </a:prstGeom>
          </p:spPr>
        </p:pic>
        <p:pic>
          <p:nvPicPr>
            <p:cNvPr id="8" name="Image 7">
              <a:extLst>
                <a:ext uri="{FF2B5EF4-FFF2-40B4-BE49-F238E27FC236}">
                  <a16:creationId xmlns:a16="http://schemas.microsoft.com/office/drawing/2014/main" id="{9C049546-1A77-4218-9023-B0AAB1581D1D}"/>
                </a:ext>
              </a:extLst>
            </p:cNvPr>
            <p:cNvPicPr>
              <a:picLocks noChangeAspect="1"/>
            </p:cNvPicPr>
            <p:nvPr/>
          </p:nvPicPr>
          <p:blipFill>
            <a:blip r:embed="rId3"/>
            <a:stretch>
              <a:fillRect/>
            </a:stretch>
          </p:blipFill>
          <p:spPr>
            <a:xfrm>
              <a:off x="531357" y="6570792"/>
              <a:ext cx="8364437" cy="54869"/>
            </a:xfrm>
            <a:prstGeom prst="rect">
              <a:avLst/>
            </a:prstGeom>
          </p:spPr>
        </p:pic>
      </p:grpSp>
      <p:sp>
        <p:nvSpPr>
          <p:cNvPr id="2" name="ZoneTexte 1">
            <a:extLst>
              <a:ext uri="{FF2B5EF4-FFF2-40B4-BE49-F238E27FC236}">
                <a16:creationId xmlns:a16="http://schemas.microsoft.com/office/drawing/2014/main" id="{32ABFE2C-E632-438B-BF8F-E96E43AA4CC3}"/>
              </a:ext>
            </a:extLst>
          </p:cNvPr>
          <p:cNvSpPr txBox="1"/>
          <p:nvPr/>
        </p:nvSpPr>
        <p:spPr>
          <a:xfrm>
            <a:off x="292953" y="1310602"/>
            <a:ext cx="8841243" cy="5018810"/>
          </a:xfrm>
          <a:prstGeom prst="rect">
            <a:avLst/>
          </a:prstGeom>
          <a:noFill/>
        </p:spPr>
        <p:txBody>
          <a:bodyPr wrap="square" rtlCol="0">
            <a:spAutoFit/>
          </a:bodyPr>
          <a:lstStyle/>
          <a:p>
            <a:pPr>
              <a:lnSpc>
                <a:spcPct val="150000"/>
              </a:lnSpc>
            </a:pPr>
            <a:r>
              <a:rPr lang="fr-CA" sz="2400" b="1" dirty="0"/>
              <a:t>Dans la nature, en plus des sucres simples (ou oses), ces derniers peuvent s'associer entre eux ou avec d'autres biomolécules pour former des glucides complexes appelés osides. L'union des monosaccharides résulte de la formation d'une liaison osidique. Les osides sont omniprésents et jouent des rôles essentiels, notamment dans la réserve énergétique, la structure cellulaire et la reconnaissance antigénique. La présence d'une partie aglycone au sein d'un oside lui confère des propriétés supplémentaires, indispensables à son rôle biologique.</a:t>
            </a:r>
            <a:endParaRPr lang="fr-FR" sz="2400" b="1" dirty="0"/>
          </a:p>
        </p:txBody>
      </p:sp>
    </p:spTree>
    <p:extLst>
      <p:ext uri="{BB962C8B-B14F-4D97-AF65-F5344CB8AC3E}">
        <p14:creationId xmlns:p14="http://schemas.microsoft.com/office/powerpoint/2010/main" val="249449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1868380"/>
            <a:ext cx="8650370" cy="1278940"/>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Ou sucre </a:t>
            </a:r>
            <a:r>
              <a:rPr lang="fr-CA" b="1" dirty="0" err="1">
                <a:latin typeface="Times New Roman" panose="02020603050405020304" pitchFamily="18" charset="0"/>
                <a:cs typeface="Arial" panose="020B0604020202020204" pitchFamily="34" charset="0"/>
              </a:rPr>
              <a:t>désoxy</a:t>
            </a:r>
            <a:r>
              <a:rPr lang="fr-CA" b="1" dirty="0">
                <a:latin typeface="Times New Roman" panose="02020603050405020304" pitchFamily="18" charset="0"/>
                <a:cs typeface="Arial" panose="020B0604020202020204" pitchFamily="34" charset="0"/>
              </a:rPr>
              <a:t>, est un sucre dont un groupement OH a été remplacé par un H hydrogène.</a:t>
            </a:r>
          </a:p>
          <a:p>
            <a:pPr>
              <a:lnSpc>
                <a:spcPct val="115000"/>
              </a:lnSpc>
              <a:spcBef>
                <a:spcPts val="1200"/>
              </a:spcBef>
              <a:spcAft>
                <a:spcPts val="800"/>
              </a:spcAft>
            </a:pPr>
            <a:endParaRPr lang="fr-CA" b="1" dirty="0">
              <a:latin typeface="Times New Roman" panose="02020603050405020304" pitchFamily="18" charset="0"/>
              <a:cs typeface="Arial" panose="020B0604020202020204" pitchFamily="34" charset="0"/>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r>
              <a:rPr lang="fr-CA" sz="2400" b="1" dirty="0">
                <a:solidFill>
                  <a:srgbClr val="C00000"/>
                </a:solidFill>
              </a:rPr>
              <a:t>1/ LES DÉSOXYOSES </a:t>
            </a:r>
          </a:p>
          <a:p>
            <a:endParaRPr lang="fr-DZ" sz="2400" dirty="0"/>
          </a:p>
        </p:txBody>
      </p:sp>
      <p:pic>
        <p:nvPicPr>
          <p:cNvPr id="3" name="Image 2">
            <a:extLst>
              <a:ext uri="{FF2B5EF4-FFF2-40B4-BE49-F238E27FC236}">
                <a16:creationId xmlns:a16="http://schemas.microsoft.com/office/drawing/2014/main" id="{19AF5F9C-A6DF-4486-A4C1-1EB190756D95}"/>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Lst>
          </a:blip>
          <a:stretch>
            <a:fillRect/>
          </a:stretch>
        </p:blipFill>
        <p:spPr>
          <a:xfrm>
            <a:off x="0" y="2813247"/>
            <a:ext cx="9593076" cy="3467297"/>
          </a:xfrm>
          <a:prstGeom prst="rect">
            <a:avLst/>
          </a:prstGeom>
        </p:spPr>
      </p:pic>
      <p:sp>
        <p:nvSpPr>
          <p:cNvPr id="4" name="Rectangle 3">
            <a:extLst>
              <a:ext uri="{FF2B5EF4-FFF2-40B4-BE49-F238E27FC236}">
                <a16:creationId xmlns:a16="http://schemas.microsoft.com/office/drawing/2014/main" id="{225238A5-4A0F-450A-9647-66F6F8FAAC38}"/>
              </a:ext>
            </a:extLst>
          </p:cNvPr>
          <p:cNvSpPr/>
          <p:nvPr/>
        </p:nvSpPr>
        <p:spPr>
          <a:xfrm>
            <a:off x="1392382" y="4135582"/>
            <a:ext cx="529936" cy="10673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EE8AADC9-FADE-43C9-89C4-9C72BA8E65A5}"/>
              </a:ext>
            </a:extLst>
          </p:cNvPr>
          <p:cNvSpPr/>
          <p:nvPr/>
        </p:nvSpPr>
        <p:spPr>
          <a:xfrm>
            <a:off x="7413914" y="3710681"/>
            <a:ext cx="529936" cy="3815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D1827D7-7C2B-44C9-8048-B7516B4B08A8}"/>
              </a:ext>
            </a:extLst>
          </p:cNvPr>
          <p:cNvSpPr/>
          <p:nvPr/>
        </p:nvSpPr>
        <p:spPr>
          <a:xfrm>
            <a:off x="4029724" y="3765682"/>
            <a:ext cx="529936" cy="439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2671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1868380"/>
            <a:ext cx="8650370" cy="385362"/>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Sont des composés issus de l’oxydation de l’alcool primaire de l’ose en acide. </a:t>
            </a: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r>
              <a:rPr lang="fr-CA" sz="2400" b="1" dirty="0">
                <a:solidFill>
                  <a:srgbClr val="C00000"/>
                </a:solidFill>
              </a:rPr>
              <a:t>2/ LES ACIDES URONIQUES  </a:t>
            </a:r>
          </a:p>
          <a:p>
            <a:endParaRPr lang="fr-DZ" sz="2400" dirty="0"/>
          </a:p>
        </p:txBody>
      </p:sp>
      <p:pic>
        <p:nvPicPr>
          <p:cNvPr id="4" name="Image 3">
            <a:extLst>
              <a:ext uri="{FF2B5EF4-FFF2-40B4-BE49-F238E27FC236}">
                <a16:creationId xmlns:a16="http://schemas.microsoft.com/office/drawing/2014/main" id="{D01C11CD-82EB-4B29-8CB1-A2A45F49CEBD}"/>
              </a:ext>
            </a:extLst>
          </p:cNvPr>
          <p:cNvPicPr>
            <a:picLocks noChangeAspect="1"/>
          </p:cNvPicPr>
          <p:nvPr/>
        </p:nvPicPr>
        <p:blipFill>
          <a:blip r:embed="rId5"/>
          <a:stretch>
            <a:fillRect/>
          </a:stretch>
        </p:blipFill>
        <p:spPr>
          <a:xfrm>
            <a:off x="1093682" y="2368089"/>
            <a:ext cx="6402020" cy="2344659"/>
          </a:xfrm>
          <a:prstGeom prst="rect">
            <a:avLst/>
          </a:prstGeom>
        </p:spPr>
      </p:pic>
      <p:sp>
        <p:nvSpPr>
          <p:cNvPr id="6" name="ZoneTexte 5">
            <a:extLst>
              <a:ext uri="{FF2B5EF4-FFF2-40B4-BE49-F238E27FC236}">
                <a16:creationId xmlns:a16="http://schemas.microsoft.com/office/drawing/2014/main" id="{A05337EF-1F2A-4020-A385-32B0B80D498D}"/>
              </a:ext>
            </a:extLst>
          </p:cNvPr>
          <p:cNvSpPr txBox="1"/>
          <p:nvPr/>
        </p:nvSpPr>
        <p:spPr>
          <a:xfrm>
            <a:off x="321514" y="4721736"/>
            <a:ext cx="8358340" cy="1289071"/>
          </a:xfrm>
          <a:prstGeom prst="rect">
            <a:avLst/>
          </a:prstGeom>
          <a:noFill/>
        </p:spPr>
        <p:txBody>
          <a:bodyPr wrap="square" rtlCol="0">
            <a:spAutoFit/>
          </a:bodyPr>
          <a:lstStyle/>
          <a:p>
            <a:pPr>
              <a:lnSpc>
                <a:spcPct val="150000"/>
              </a:lnSpc>
            </a:pPr>
            <a:r>
              <a:rPr lang="fr-CA" b="1" dirty="0">
                <a:latin typeface="Times New Roman" panose="02020603050405020304" pitchFamily="18" charset="0"/>
                <a:cs typeface="Arial" panose="020B0604020202020204" pitchFamily="34" charset="0"/>
              </a:rPr>
              <a:t>L’acide glucuronique est un agent de conjugaison. </a:t>
            </a:r>
          </a:p>
          <a:p>
            <a:pPr>
              <a:lnSpc>
                <a:spcPct val="150000"/>
              </a:lnSpc>
            </a:pPr>
            <a:r>
              <a:rPr lang="fr-CA" b="1" dirty="0">
                <a:latin typeface="Times New Roman" panose="02020603050405020304" pitchFamily="18" charset="0"/>
                <a:cs typeface="Arial" panose="020B0604020202020204" pitchFamily="34" charset="0"/>
              </a:rPr>
              <a:t>La </a:t>
            </a:r>
            <a:r>
              <a:rPr lang="fr-CA" b="1" dirty="0" err="1">
                <a:latin typeface="Times New Roman" panose="02020603050405020304" pitchFamily="18" charset="0"/>
                <a:cs typeface="Arial" panose="020B0604020202020204" pitchFamily="34" charset="0"/>
              </a:rPr>
              <a:t>glucuroconjugaison</a:t>
            </a:r>
            <a:r>
              <a:rPr lang="fr-CA" b="1" dirty="0">
                <a:latin typeface="Times New Roman" panose="02020603050405020304" pitchFamily="18" charset="0"/>
                <a:cs typeface="Arial" panose="020B0604020202020204" pitchFamily="34" charset="0"/>
              </a:rPr>
              <a:t> est un processus de détoxification. </a:t>
            </a:r>
          </a:p>
          <a:p>
            <a:pPr>
              <a:lnSpc>
                <a:spcPct val="150000"/>
              </a:lnSpc>
            </a:pPr>
            <a:r>
              <a:rPr lang="fr-CA" b="1" dirty="0">
                <a:latin typeface="Times New Roman" panose="02020603050405020304" pitchFamily="18" charset="0"/>
                <a:cs typeface="Arial" panose="020B0604020202020204" pitchFamily="34" charset="0"/>
              </a:rPr>
              <a:t>l est également présent dans des polymères appelés mucopolysaccharides. </a:t>
            </a:r>
          </a:p>
        </p:txBody>
      </p:sp>
    </p:spTree>
    <p:extLst>
      <p:ext uri="{BB962C8B-B14F-4D97-AF65-F5344CB8AC3E}">
        <p14:creationId xmlns:p14="http://schemas.microsoft.com/office/powerpoint/2010/main" val="363875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1868380"/>
            <a:ext cx="8650370" cy="1022459"/>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Ces molécules présentent toutes les propriétés chimiques des oses auxquelles s'ajoutent celles de l'amine primaire (équilibre acido-basique, formation d'amides avec les acides...).</a:t>
            </a: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r>
              <a:rPr lang="fr-CA" sz="2400" b="1" dirty="0">
                <a:solidFill>
                  <a:srgbClr val="C00000"/>
                </a:solidFill>
              </a:rPr>
              <a:t>3/ LES OSAMINES </a:t>
            </a:r>
          </a:p>
          <a:p>
            <a:endParaRPr lang="fr-DZ" sz="2400" dirty="0"/>
          </a:p>
        </p:txBody>
      </p:sp>
      <p:pic>
        <p:nvPicPr>
          <p:cNvPr id="3" name="Image 2">
            <a:extLst>
              <a:ext uri="{FF2B5EF4-FFF2-40B4-BE49-F238E27FC236}">
                <a16:creationId xmlns:a16="http://schemas.microsoft.com/office/drawing/2014/main" id="{B4E22824-9DDE-4822-8B59-E285B628219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136740" y="2769948"/>
            <a:ext cx="7352634" cy="3750780"/>
          </a:xfrm>
          <a:prstGeom prst="rect">
            <a:avLst/>
          </a:prstGeom>
        </p:spPr>
      </p:pic>
      <p:sp>
        <p:nvSpPr>
          <p:cNvPr id="11" name="Rectangle 10">
            <a:extLst>
              <a:ext uri="{FF2B5EF4-FFF2-40B4-BE49-F238E27FC236}">
                <a16:creationId xmlns:a16="http://schemas.microsoft.com/office/drawing/2014/main" id="{C47A3443-4903-4D11-8636-F55F7CB13B48}"/>
              </a:ext>
            </a:extLst>
          </p:cNvPr>
          <p:cNvSpPr/>
          <p:nvPr/>
        </p:nvSpPr>
        <p:spPr>
          <a:xfrm>
            <a:off x="6993081" y="4111663"/>
            <a:ext cx="633845" cy="10912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78A1BB85-9A93-4F9E-A22A-3B7059FD95D4}"/>
              </a:ext>
            </a:extLst>
          </p:cNvPr>
          <p:cNvSpPr/>
          <p:nvPr/>
        </p:nvSpPr>
        <p:spPr>
          <a:xfrm>
            <a:off x="2947554" y="4042064"/>
            <a:ext cx="710046" cy="11608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4428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2016268"/>
            <a:ext cx="8650370" cy="1022459"/>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a:t>
            </a:r>
            <a:r>
              <a:rPr lang="fr-CA" b="1" dirty="0" err="1">
                <a:latin typeface="Times New Roman" panose="02020603050405020304" pitchFamily="18" charset="0"/>
                <a:cs typeface="Arial" panose="020B0604020202020204" pitchFamily="34" charset="0"/>
              </a:rPr>
              <a:t>MurNAc</a:t>
            </a:r>
            <a:r>
              <a:rPr lang="fr-CA" b="1" dirty="0">
                <a:latin typeface="Times New Roman" panose="02020603050405020304" pitchFamily="18" charset="0"/>
                <a:cs typeface="Arial" panose="020B0604020202020204" pitchFamily="34" charset="0"/>
              </a:rPr>
              <a:t> = 3-lactyl-N-acétylglucosamine). Avec la N-</a:t>
            </a:r>
            <a:r>
              <a:rPr lang="fr-CA" b="1" dirty="0" err="1">
                <a:latin typeface="Times New Roman" panose="02020603050405020304" pitchFamily="18" charset="0"/>
                <a:cs typeface="Arial" panose="020B0604020202020204" pitchFamily="34" charset="0"/>
              </a:rPr>
              <a:t>acétyl</a:t>
            </a:r>
            <a:r>
              <a:rPr lang="fr-CA" b="1" dirty="0">
                <a:latin typeface="Times New Roman" panose="02020603050405020304" pitchFamily="18" charset="0"/>
                <a:cs typeface="Arial" panose="020B0604020202020204" pitchFamily="34" charset="0"/>
              </a:rPr>
              <a:t>-D-glucosamine, il entre dans la composition de la muréine, polysaccharide de structure constitutif des peptidoglycanes des parois des bactéries. </a:t>
            </a: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4063"/>
            <a:ext cx="8015288" cy="1200329"/>
          </a:xfrm>
          <a:prstGeom prst="rect">
            <a:avLst/>
          </a:prstGeom>
          <a:noFill/>
        </p:spPr>
        <p:txBody>
          <a:bodyPr wrap="square" rtlCol="0">
            <a:spAutoFit/>
          </a:bodyPr>
          <a:lstStyle/>
          <a:p>
            <a:r>
              <a:rPr lang="fr-CA" sz="2400" b="1" dirty="0">
                <a:solidFill>
                  <a:srgbClr val="C00000"/>
                </a:solidFill>
              </a:rPr>
              <a:t>4/ ACIDE N-ACETYLMURAMIQUE </a:t>
            </a:r>
          </a:p>
          <a:p>
            <a:endParaRPr lang="fr-CA" sz="2400" b="1" dirty="0">
              <a:solidFill>
                <a:srgbClr val="C00000"/>
              </a:solidFill>
            </a:endParaRPr>
          </a:p>
          <a:p>
            <a:endParaRPr lang="fr-DZ" sz="2400" dirty="0"/>
          </a:p>
        </p:txBody>
      </p:sp>
      <p:pic>
        <p:nvPicPr>
          <p:cNvPr id="4" name="Image 3">
            <a:extLst>
              <a:ext uri="{FF2B5EF4-FFF2-40B4-BE49-F238E27FC236}">
                <a16:creationId xmlns:a16="http://schemas.microsoft.com/office/drawing/2014/main" id="{8CCDC3D5-C582-4A19-AD77-C5E9B37E6EAA}"/>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730610" y="3012929"/>
            <a:ext cx="7128163" cy="3215406"/>
          </a:xfrm>
          <a:prstGeom prst="rect">
            <a:avLst/>
          </a:prstGeom>
        </p:spPr>
      </p:pic>
      <p:sp>
        <p:nvSpPr>
          <p:cNvPr id="12" name="Forme libre : forme 11">
            <a:extLst>
              <a:ext uri="{FF2B5EF4-FFF2-40B4-BE49-F238E27FC236}">
                <a16:creationId xmlns:a16="http://schemas.microsoft.com/office/drawing/2014/main" id="{05D7B368-10EA-45BD-9621-921187E2AFA1}"/>
              </a:ext>
            </a:extLst>
          </p:cNvPr>
          <p:cNvSpPr/>
          <p:nvPr/>
        </p:nvSpPr>
        <p:spPr>
          <a:xfrm>
            <a:off x="4114800" y="3819274"/>
            <a:ext cx="2141620" cy="1260833"/>
          </a:xfrm>
          <a:custGeom>
            <a:avLst/>
            <a:gdLst>
              <a:gd name="connsiteX0" fmla="*/ 0 w 2141620"/>
              <a:gd name="connsiteY0" fmla="*/ 0 h 1260833"/>
              <a:gd name="connsiteX1" fmla="*/ 673768 w 2141620"/>
              <a:gd name="connsiteY1" fmla="*/ 0 h 1260833"/>
              <a:gd name="connsiteX2" fmla="*/ 673768 w 2141620"/>
              <a:gd name="connsiteY2" fmla="*/ 596315 h 1260833"/>
              <a:gd name="connsiteX3" fmla="*/ 2141620 w 2141620"/>
              <a:gd name="connsiteY3" fmla="*/ 596315 h 1260833"/>
              <a:gd name="connsiteX4" fmla="*/ 2141620 w 2141620"/>
              <a:gd name="connsiteY4" fmla="*/ 1260833 h 1260833"/>
              <a:gd name="connsiteX5" fmla="*/ 0 w 2141620"/>
              <a:gd name="connsiteY5" fmla="*/ 1260833 h 1260833"/>
              <a:gd name="connsiteX6" fmla="*/ 0 w 2141620"/>
              <a:gd name="connsiteY6" fmla="*/ 1246021 h 1260833"/>
              <a:gd name="connsiteX7" fmla="*/ 0 w 2141620"/>
              <a:gd name="connsiteY7" fmla="*/ 596315 h 126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620" h="1260833">
                <a:moveTo>
                  <a:pt x="0" y="0"/>
                </a:moveTo>
                <a:lnTo>
                  <a:pt x="673768" y="0"/>
                </a:lnTo>
                <a:lnTo>
                  <a:pt x="673768" y="596315"/>
                </a:lnTo>
                <a:lnTo>
                  <a:pt x="2141620" y="596315"/>
                </a:lnTo>
                <a:lnTo>
                  <a:pt x="2141620" y="1260833"/>
                </a:lnTo>
                <a:lnTo>
                  <a:pt x="0" y="1260833"/>
                </a:lnTo>
                <a:lnTo>
                  <a:pt x="0" y="1246021"/>
                </a:lnTo>
                <a:lnTo>
                  <a:pt x="0" y="596315"/>
                </a:lnTo>
                <a:close/>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orme libre : forme 13">
            <a:extLst>
              <a:ext uri="{FF2B5EF4-FFF2-40B4-BE49-F238E27FC236}">
                <a16:creationId xmlns:a16="http://schemas.microsoft.com/office/drawing/2014/main" id="{A7E2D177-2A24-4FE9-8D8A-107F925BD4BE}"/>
              </a:ext>
            </a:extLst>
          </p:cNvPr>
          <p:cNvSpPr/>
          <p:nvPr/>
        </p:nvSpPr>
        <p:spPr>
          <a:xfrm rot="20514167">
            <a:off x="2642541" y="3854299"/>
            <a:ext cx="2565584" cy="2399033"/>
          </a:xfrm>
          <a:custGeom>
            <a:avLst/>
            <a:gdLst>
              <a:gd name="connsiteX0" fmla="*/ 1410211 w 2565584"/>
              <a:gd name="connsiteY0" fmla="*/ 0 h 2399033"/>
              <a:gd name="connsiteX1" fmla="*/ 1410211 w 2565584"/>
              <a:gd name="connsiteY1" fmla="*/ 1379811 h 2399033"/>
              <a:gd name="connsiteX2" fmla="*/ 2565584 w 2565584"/>
              <a:gd name="connsiteY2" fmla="*/ 1757383 h 2399033"/>
              <a:gd name="connsiteX3" fmla="*/ 2355895 w 2565584"/>
              <a:gd name="connsiteY3" fmla="*/ 2399033 h 2399033"/>
              <a:gd name="connsiteX4" fmla="*/ 0 w 2565584"/>
              <a:gd name="connsiteY4" fmla="*/ 1629134 h 2399033"/>
              <a:gd name="connsiteX5" fmla="*/ 209689 w 2565584"/>
              <a:gd name="connsiteY5" fmla="*/ 987485 h 2399033"/>
              <a:gd name="connsiteX6" fmla="*/ 798707 w 2565584"/>
              <a:gd name="connsiteY6" fmla="*/ 1179974 h 2399033"/>
              <a:gd name="connsiteX7" fmla="*/ 798707 w 2565584"/>
              <a:gd name="connsiteY7" fmla="*/ 0 h 2399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5584" h="2399033">
                <a:moveTo>
                  <a:pt x="1410211" y="0"/>
                </a:moveTo>
                <a:lnTo>
                  <a:pt x="1410211" y="1379811"/>
                </a:lnTo>
                <a:lnTo>
                  <a:pt x="2565584" y="1757383"/>
                </a:lnTo>
                <a:lnTo>
                  <a:pt x="2355895" y="2399033"/>
                </a:lnTo>
                <a:lnTo>
                  <a:pt x="0" y="1629134"/>
                </a:lnTo>
                <a:lnTo>
                  <a:pt x="209689" y="987485"/>
                </a:lnTo>
                <a:lnTo>
                  <a:pt x="798707" y="1179974"/>
                </a:lnTo>
                <a:lnTo>
                  <a:pt x="798707" y="0"/>
                </a:ln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Tree>
    <p:extLst>
      <p:ext uri="{BB962C8B-B14F-4D97-AF65-F5344CB8AC3E}">
        <p14:creationId xmlns:p14="http://schemas.microsoft.com/office/powerpoint/2010/main" val="238211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2264638"/>
            <a:ext cx="8650370" cy="1278940"/>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NANA, dérivé de la N-</a:t>
            </a:r>
            <a:r>
              <a:rPr lang="fr-CA" b="1" dirty="0" err="1">
                <a:latin typeface="Times New Roman" panose="02020603050405020304" pitchFamily="18" charset="0"/>
                <a:cs typeface="Arial" panose="020B0604020202020204" pitchFamily="34" charset="0"/>
              </a:rPr>
              <a:t>acétylmannosamine</a:t>
            </a:r>
            <a:r>
              <a:rPr lang="fr-CA" b="1" dirty="0">
                <a:latin typeface="Times New Roman" panose="02020603050405020304" pitchFamily="18" charset="0"/>
                <a:cs typeface="Arial" panose="020B0604020202020204" pitchFamily="34" charset="0"/>
              </a:rPr>
              <a:t> et du pyruvate. Est présent dans les oligosaccharides des glycoprotéines et des glycolipides. </a:t>
            </a:r>
          </a:p>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L’acide N-</a:t>
            </a:r>
            <a:r>
              <a:rPr lang="fr-CA" b="1" dirty="0" err="1">
                <a:latin typeface="Times New Roman" panose="02020603050405020304" pitchFamily="18" charset="0"/>
                <a:cs typeface="Arial" panose="020B0604020202020204" pitchFamily="34" charset="0"/>
              </a:rPr>
              <a:t>acétyleneuraminique</a:t>
            </a:r>
            <a:r>
              <a:rPr lang="fr-CA" b="1" dirty="0">
                <a:latin typeface="Times New Roman" panose="02020603050405020304" pitchFamily="18" charset="0"/>
                <a:cs typeface="Arial" panose="020B0604020202020204" pitchFamily="34" charset="0"/>
              </a:rPr>
              <a:t> et ses dérivés sont souvent dénommés </a:t>
            </a:r>
            <a:r>
              <a:rPr lang="fr-CA" b="1" dirty="0">
                <a:solidFill>
                  <a:srgbClr val="FF0000"/>
                </a:solidFill>
                <a:latin typeface="Times New Roman" panose="02020603050405020304" pitchFamily="18" charset="0"/>
                <a:cs typeface="Arial" panose="020B0604020202020204" pitchFamily="34" charset="0"/>
              </a:rPr>
              <a:t>acides sialiques. </a:t>
            </a: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r>
              <a:rPr lang="fr-CA" sz="2400" b="1" dirty="0">
                <a:solidFill>
                  <a:srgbClr val="C00000"/>
                </a:solidFill>
              </a:rPr>
              <a:t>5/ ACIDE N-ACETYLNEURAMINIQUE </a:t>
            </a:r>
          </a:p>
          <a:p>
            <a:endParaRPr lang="fr-CA" sz="2400" b="1" dirty="0">
              <a:solidFill>
                <a:srgbClr val="C00000"/>
              </a:solidFill>
            </a:endParaRPr>
          </a:p>
          <a:p>
            <a:endParaRPr lang="fr-DZ" sz="2400" dirty="0"/>
          </a:p>
        </p:txBody>
      </p:sp>
      <p:pic>
        <p:nvPicPr>
          <p:cNvPr id="6" name="Image 5">
            <a:extLst>
              <a:ext uri="{FF2B5EF4-FFF2-40B4-BE49-F238E27FC236}">
                <a16:creationId xmlns:a16="http://schemas.microsoft.com/office/drawing/2014/main" id="{1AA7F1B1-467A-4C84-A9E1-474ABBB516B3}"/>
              </a:ext>
            </a:extLst>
          </p:cNvPr>
          <p:cNvPicPr>
            <a:picLocks noChangeAspect="1"/>
          </p:cNvPicPr>
          <p:nvPr/>
        </p:nvPicPr>
        <p:blipFill>
          <a:blip r:embed="rId5"/>
          <a:stretch>
            <a:fillRect/>
          </a:stretch>
        </p:blipFill>
        <p:spPr>
          <a:xfrm>
            <a:off x="841664" y="1045743"/>
            <a:ext cx="7663869" cy="5470179"/>
          </a:xfrm>
          <a:prstGeom prst="rect">
            <a:avLst/>
          </a:prstGeom>
        </p:spPr>
      </p:pic>
      <p:sp>
        <p:nvSpPr>
          <p:cNvPr id="3" name="Rectangle 2">
            <a:extLst>
              <a:ext uri="{FF2B5EF4-FFF2-40B4-BE49-F238E27FC236}">
                <a16:creationId xmlns:a16="http://schemas.microsoft.com/office/drawing/2014/main" id="{89820ACD-0F0D-43AB-B61C-FB9D5EED8EFB}"/>
              </a:ext>
            </a:extLst>
          </p:cNvPr>
          <p:cNvSpPr/>
          <p:nvPr/>
        </p:nvSpPr>
        <p:spPr>
          <a:xfrm>
            <a:off x="3188367" y="1192039"/>
            <a:ext cx="1287379" cy="8714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orme libre : forme 11">
            <a:extLst>
              <a:ext uri="{FF2B5EF4-FFF2-40B4-BE49-F238E27FC236}">
                <a16:creationId xmlns:a16="http://schemas.microsoft.com/office/drawing/2014/main" id="{FA6849E2-E34F-4880-A652-1BF5F28519D1}"/>
              </a:ext>
            </a:extLst>
          </p:cNvPr>
          <p:cNvSpPr/>
          <p:nvPr/>
        </p:nvSpPr>
        <p:spPr>
          <a:xfrm>
            <a:off x="1491915" y="2060084"/>
            <a:ext cx="2947735" cy="522671"/>
          </a:xfrm>
          <a:custGeom>
            <a:avLst/>
            <a:gdLst>
              <a:gd name="connsiteX0" fmla="*/ 830177 w 2947735"/>
              <a:gd name="connsiteY0" fmla="*/ 0 h 522671"/>
              <a:gd name="connsiteX1" fmla="*/ 1191124 w 2947735"/>
              <a:gd name="connsiteY1" fmla="*/ 0 h 522671"/>
              <a:gd name="connsiteX2" fmla="*/ 1191124 w 2947735"/>
              <a:gd name="connsiteY2" fmla="*/ 216586 h 522671"/>
              <a:gd name="connsiteX3" fmla="*/ 2947735 w 2947735"/>
              <a:gd name="connsiteY3" fmla="*/ 216586 h 522671"/>
              <a:gd name="connsiteX4" fmla="*/ 2947735 w 2947735"/>
              <a:gd name="connsiteY4" fmla="*/ 522671 h 522671"/>
              <a:gd name="connsiteX5" fmla="*/ 0 w 2947735"/>
              <a:gd name="connsiteY5" fmla="*/ 522671 h 522671"/>
              <a:gd name="connsiteX6" fmla="*/ 0 w 2947735"/>
              <a:gd name="connsiteY6" fmla="*/ 216586 h 522671"/>
              <a:gd name="connsiteX7" fmla="*/ 830177 w 2947735"/>
              <a:gd name="connsiteY7" fmla="*/ 216586 h 52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7735" h="522671">
                <a:moveTo>
                  <a:pt x="830177" y="0"/>
                </a:moveTo>
                <a:lnTo>
                  <a:pt x="1191124" y="0"/>
                </a:lnTo>
                <a:lnTo>
                  <a:pt x="1191124" y="216586"/>
                </a:lnTo>
                <a:lnTo>
                  <a:pt x="2947735" y="216586"/>
                </a:lnTo>
                <a:lnTo>
                  <a:pt x="2947735" y="522671"/>
                </a:lnTo>
                <a:lnTo>
                  <a:pt x="0" y="522671"/>
                </a:lnTo>
                <a:lnTo>
                  <a:pt x="0" y="216586"/>
                </a:lnTo>
                <a:lnTo>
                  <a:pt x="830177" y="216586"/>
                </a:ln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Rectangle 12">
            <a:extLst>
              <a:ext uri="{FF2B5EF4-FFF2-40B4-BE49-F238E27FC236}">
                <a16:creationId xmlns:a16="http://schemas.microsoft.com/office/drawing/2014/main" id="{5AD2EFB7-D6E9-4D92-B6CB-E64473957E6E}"/>
              </a:ext>
            </a:extLst>
          </p:cNvPr>
          <p:cNvSpPr/>
          <p:nvPr/>
        </p:nvSpPr>
        <p:spPr>
          <a:xfrm>
            <a:off x="1034714" y="4214424"/>
            <a:ext cx="6882063" cy="2328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C47F0F4-DEA7-4133-8AF6-DB53D2AD3125}"/>
              </a:ext>
            </a:extLst>
          </p:cNvPr>
          <p:cNvSpPr/>
          <p:nvPr/>
        </p:nvSpPr>
        <p:spPr>
          <a:xfrm>
            <a:off x="1335505" y="4762473"/>
            <a:ext cx="1732548" cy="4832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1E51E336-D188-4506-8496-719FFB58D57B}"/>
              </a:ext>
            </a:extLst>
          </p:cNvPr>
          <p:cNvSpPr/>
          <p:nvPr/>
        </p:nvSpPr>
        <p:spPr>
          <a:xfrm>
            <a:off x="3188367" y="5090686"/>
            <a:ext cx="373527" cy="2994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0423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inVertical)">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sp>
        <p:nvSpPr>
          <p:cNvPr id="2" name="ZoneTexte 1">
            <a:extLst>
              <a:ext uri="{FF2B5EF4-FFF2-40B4-BE49-F238E27FC236}">
                <a16:creationId xmlns:a16="http://schemas.microsoft.com/office/drawing/2014/main" id="{9273A123-A1C7-4B12-86DB-146731BCFE8D}"/>
              </a:ext>
            </a:extLst>
          </p:cNvPr>
          <p:cNvSpPr txBox="1"/>
          <p:nvPr/>
        </p:nvSpPr>
        <p:spPr>
          <a:xfrm>
            <a:off x="287048" y="2264638"/>
            <a:ext cx="8650370" cy="1597489"/>
          </a:xfrm>
          <a:prstGeom prst="rect">
            <a:avLst/>
          </a:prstGeom>
          <a:noFill/>
        </p:spPr>
        <p:txBody>
          <a:bodyPr wrap="square" rtlCol="0">
            <a:spAutoFit/>
          </a:bodyPr>
          <a:lstStyle/>
          <a:p>
            <a:pPr>
              <a:lnSpc>
                <a:spcPct val="115000"/>
              </a:lnSpc>
              <a:spcBef>
                <a:spcPts val="1200"/>
              </a:spcBef>
              <a:spcAft>
                <a:spcPts val="800"/>
              </a:spcAft>
            </a:pPr>
            <a:r>
              <a:rPr lang="fr-CA" b="1" dirty="0">
                <a:latin typeface="Times New Roman" panose="02020603050405020304" pitchFamily="18" charset="0"/>
                <a:cs typeface="Arial" panose="020B0604020202020204" pitchFamily="34" charset="0"/>
              </a:rPr>
              <a:t>Produits de réduction des oses, l’exemple le plus fréquent est le glycérol.</a:t>
            </a:r>
          </a:p>
          <a:p>
            <a:pPr>
              <a:lnSpc>
                <a:spcPct val="115000"/>
              </a:lnSpc>
              <a:spcBef>
                <a:spcPts val="1200"/>
              </a:spcBef>
              <a:spcAft>
                <a:spcPts val="800"/>
              </a:spcAft>
            </a:pPr>
            <a:r>
              <a:rPr lang="fr-CA" b="1" dirty="0">
                <a:solidFill>
                  <a:srgbClr val="FF0000"/>
                </a:solidFill>
                <a:latin typeface="Times New Roman" panose="02020603050405020304" pitchFamily="18" charset="0"/>
                <a:cs typeface="Arial" panose="020B0604020202020204" pitchFamily="34" charset="0"/>
              </a:rPr>
              <a:t>Le glycérol </a:t>
            </a:r>
            <a:r>
              <a:rPr lang="fr-CA" b="1" dirty="0">
                <a:latin typeface="Times New Roman" panose="02020603050405020304" pitchFamily="18" charset="0"/>
                <a:cs typeface="Arial" panose="020B0604020202020204" pitchFamily="34" charset="0"/>
              </a:rPr>
              <a:t>est un constituant important des triglycérides, il est obtenu à partir de la réduction de la dihydroxyacétone et du glycéraldéhyde. Ces derniers sont des intermédiaires de la glycolyse.</a:t>
            </a:r>
            <a:endParaRPr lang="fr-CA" b="1" dirty="0">
              <a:solidFill>
                <a:srgbClr val="FF0000"/>
              </a:solidFill>
              <a:latin typeface="Times New Roman" panose="02020603050405020304" pitchFamily="18" charset="0"/>
              <a:cs typeface="Arial" panose="020B0604020202020204" pitchFamily="34" charset="0"/>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r>
              <a:rPr lang="fr-CA" sz="2400" b="1" dirty="0">
                <a:solidFill>
                  <a:srgbClr val="C00000"/>
                </a:solidFill>
              </a:rPr>
              <a:t>5/ LES POLYOLS </a:t>
            </a:r>
          </a:p>
          <a:p>
            <a:endParaRPr lang="fr-CA" sz="2400" b="1" dirty="0">
              <a:solidFill>
                <a:srgbClr val="C00000"/>
              </a:solidFill>
            </a:endParaRPr>
          </a:p>
          <a:p>
            <a:endParaRPr lang="fr-DZ" sz="2400" dirty="0"/>
          </a:p>
        </p:txBody>
      </p:sp>
      <p:pic>
        <p:nvPicPr>
          <p:cNvPr id="4" name="Image 3">
            <a:extLst>
              <a:ext uri="{FF2B5EF4-FFF2-40B4-BE49-F238E27FC236}">
                <a16:creationId xmlns:a16="http://schemas.microsoft.com/office/drawing/2014/main" id="{FF5E5299-9AB8-4D52-AF6A-585EF1030B3B}"/>
              </a:ext>
            </a:extLst>
          </p:cNvPr>
          <p:cNvPicPr>
            <a:picLocks noChangeAspect="1"/>
          </p:cNvPicPr>
          <p:nvPr/>
        </p:nvPicPr>
        <p:blipFill>
          <a:blip r:embed="rId5"/>
          <a:stretch>
            <a:fillRect/>
          </a:stretch>
        </p:blipFill>
        <p:spPr>
          <a:xfrm>
            <a:off x="5400243" y="3778124"/>
            <a:ext cx="2604437" cy="2672033"/>
          </a:xfrm>
          <a:prstGeom prst="rect">
            <a:avLst/>
          </a:prstGeom>
        </p:spPr>
      </p:pic>
      <p:pic>
        <p:nvPicPr>
          <p:cNvPr id="12" name="Image 11">
            <a:extLst>
              <a:ext uri="{FF2B5EF4-FFF2-40B4-BE49-F238E27FC236}">
                <a16:creationId xmlns:a16="http://schemas.microsoft.com/office/drawing/2014/main" id="{C65D7E55-E1F3-4421-A647-979057051813}"/>
              </a:ext>
            </a:extLst>
          </p:cNvPr>
          <p:cNvPicPr>
            <a:picLocks noChangeAspect="1"/>
          </p:cNvPicPr>
          <p:nvPr/>
        </p:nvPicPr>
        <p:blipFill>
          <a:blip r:embed="rId6"/>
          <a:stretch>
            <a:fillRect/>
          </a:stretch>
        </p:blipFill>
        <p:spPr>
          <a:xfrm>
            <a:off x="1113931" y="3862517"/>
            <a:ext cx="3599644" cy="2588029"/>
          </a:xfrm>
          <a:prstGeom prst="rect">
            <a:avLst/>
          </a:prstGeom>
        </p:spPr>
      </p:pic>
    </p:spTree>
    <p:extLst>
      <p:ext uri="{BB962C8B-B14F-4D97-AF65-F5344CB8AC3E}">
        <p14:creationId xmlns:p14="http://schemas.microsoft.com/office/powerpoint/2010/main" val="320030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715581"/>
          </a:xfrm>
          <a:prstGeom prst="rect">
            <a:avLst/>
          </a:prstGeom>
          <a:noFill/>
        </p:spPr>
        <p:txBody>
          <a:bodyPr wrap="square" rtlCol="0">
            <a:spAutoFit/>
          </a:bodyPr>
          <a:lstStyle/>
          <a:p>
            <a:r>
              <a:rPr lang="fr-CA" sz="2700" b="1" dirty="0">
                <a:solidFill>
                  <a:srgbClr val="FF0000"/>
                </a:solidFill>
              </a:rPr>
              <a:t>LES DERIVES D’OSES </a:t>
            </a:r>
          </a:p>
          <a:p>
            <a:r>
              <a:rPr lang="fr-CA" sz="1350" dirty="0"/>
              <a:t> </a:t>
            </a: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r>
              <a:rPr lang="fr-CA" sz="2400" b="1" dirty="0">
                <a:solidFill>
                  <a:srgbClr val="C00000"/>
                </a:solidFill>
              </a:rPr>
              <a:t>6/ ACIDE </a:t>
            </a:r>
            <a:r>
              <a:rPr lang="fr-CA" sz="2400" b="1">
                <a:solidFill>
                  <a:srgbClr val="C00000"/>
                </a:solidFill>
              </a:rPr>
              <a:t>ASCORBIQUE OU VITAMINE C </a:t>
            </a:r>
            <a:endParaRPr lang="fr-CA" sz="2400" b="1" dirty="0">
              <a:solidFill>
                <a:srgbClr val="C00000"/>
              </a:solidFill>
            </a:endParaRPr>
          </a:p>
          <a:p>
            <a:endParaRPr lang="fr-CA" sz="2400" b="1" dirty="0">
              <a:solidFill>
                <a:srgbClr val="C00000"/>
              </a:solidFill>
            </a:endParaRPr>
          </a:p>
          <a:p>
            <a:endParaRPr lang="fr-DZ" sz="2400" dirty="0"/>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45588"/>
            <a:ext cx="8502964" cy="2862322"/>
          </a:xfrm>
          <a:prstGeom prst="rect">
            <a:avLst/>
          </a:prstGeom>
          <a:noFill/>
        </p:spPr>
        <p:txBody>
          <a:bodyPr wrap="square" rtlCol="0">
            <a:spAutoFit/>
          </a:bodyPr>
          <a:lstStyle/>
          <a:p>
            <a:r>
              <a:rPr lang="fr-CA" sz="2000" b="1" dirty="0">
                <a:latin typeface="Times New Roman" panose="02020603050405020304" pitchFamily="18" charset="0"/>
                <a:cs typeface="Times New Roman" panose="02020603050405020304" pitchFamily="18" charset="0"/>
              </a:rPr>
              <a:t>Qui est une lactone de l’acide 2-céto L </a:t>
            </a:r>
            <a:r>
              <a:rPr lang="fr-CA" sz="2000" b="1" dirty="0" err="1">
                <a:latin typeface="Times New Roman" panose="02020603050405020304" pitchFamily="18" charset="0"/>
                <a:cs typeface="Times New Roman" panose="02020603050405020304" pitchFamily="18" charset="0"/>
              </a:rPr>
              <a:t>gulonique</a:t>
            </a:r>
            <a:r>
              <a:rPr lang="fr-CA" sz="2000" b="1" dirty="0">
                <a:latin typeface="Times New Roman" panose="02020603050405020304" pitchFamily="18" charset="0"/>
                <a:cs typeface="Times New Roman" panose="02020603050405020304" pitchFamily="18" charset="0"/>
              </a:rPr>
              <a:t> (le </a:t>
            </a:r>
            <a:r>
              <a:rPr lang="fr-CA" sz="2000" b="1" dirty="0" err="1">
                <a:latin typeface="Times New Roman" panose="02020603050405020304" pitchFamily="18" charset="0"/>
                <a:cs typeface="Times New Roman" panose="02020603050405020304" pitchFamily="18" charset="0"/>
              </a:rPr>
              <a:t>gulose</a:t>
            </a:r>
            <a:r>
              <a:rPr lang="fr-CA" sz="2000" b="1" dirty="0">
                <a:latin typeface="Times New Roman" panose="02020603050405020304" pitchFamily="18" charset="0"/>
                <a:cs typeface="Times New Roman" panose="02020603050405020304" pitchFamily="18" charset="0"/>
              </a:rPr>
              <a:t> est un isomère du glucose)</a:t>
            </a:r>
          </a:p>
          <a:p>
            <a:r>
              <a:rPr lang="fr-CA" sz="2000" b="1" dirty="0">
                <a:latin typeface="Times New Roman" panose="02020603050405020304" pitchFamily="18" charset="0"/>
                <a:cs typeface="Times New Roman" panose="02020603050405020304" pitchFamily="18" charset="0"/>
              </a:rPr>
              <a:t>Un </a:t>
            </a:r>
            <a:r>
              <a:rPr lang="fr-CA" sz="2000" b="1" dirty="0">
                <a:solidFill>
                  <a:srgbClr val="FF0000"/>
                </a:solidFill>
                <a:latin typeface="Times New Roman" panose="02020603050405020304" pitchFamily="18" charset="0"/>
                <a:cs typeface="Times New Roman" panose="02020603050405020304" pitchFamily="18" charset="0"/>
              </a:rPr>
              <a:t>puissant réducteur </a:t>
            </a:r>
            <a:r>
              <a:rPr lang="fr-CA" sz="2000" b="1" dirty="0">
                <a:latin typeface="Times New Roman" panose="02020603050405020304" pitchFamily="18" charset="0"/>
                <a:cs typeface="Times New Roman" panose="02020603050405020304" pitchFamily="18" charset="0"/>
              </a:rPr>
              <a:t>synthétisé par les végétaux au cours du métabolisme glucidique. </a:t>
            </a:r>
          </a:p>
          <a:p>
            <a:r>
              <a:rPr lang="fr-CA" sz="2000" b="1" dirty="0">
                <a:latin typeface="Times New Roman" panose="02020603050405020304" pitchFamily="18" charset="0"/>
                <a:cs typeface="Times New Roman" panose="02020603050405020304" pitchFamily="18" charset="0"/>
              </a:rPr>
              <a:t>L’homme ne peut réaliser cette synthèse, c’est pourquoi ce dérivé est une </a:t>
            </a:r>
            <a:r>
              <a:rPr lang="fr-CA" sz="2000" b="1" dirty="0">
                <a:solidFill>
                  <a:srgbClr val="FF0000"/>
                </a:solidFill>
                <a:latin typeface="Times New Roman" panose="02020603050405020304" pitchFamily="18" charset="0"/>
                <a:cs typeface="Times New Roman" panose="02020603050405020304" pitchFamily="18" charset="0"/>
              </a:rPr>
              <a:t>vitamine. </a:t>
            </a:r>
          </a:p>
          <a:p>
            <a:r>
              <a:rPr lang="fr-CA" sz="2000" b="1" dirty="0">
                <a:latin typeface="Times New Roman" panose="02020603050405020304" pitchFamily="18" charset="0"/>
                <a:cs typeface="Times New Roman" panose="02020603050405020304" pitchFamily="18" charset="0"/>
              </a:rPr>
              <a:t>La carence prolongée du Vitamine C dans le régime d’homme est responsable du </a:t>
            </a:r>
            <a:r>
              <a:rPr lang="fr-CA" sz="2000" b="1" dirty="0">
                <a:solidFill>
                  <a:srgbClr val="FF0000"/>
                </a:solidFill>
                <a:latin typeface="Times New Roman" panose="02020603050405020304" pitchFamily="18" charset="0"/>
                <a:cs typeface="Times New Roman" panose="02020603050405020304" pitchFamily="18" charset="0"/>
              </a:rPr>
              <a:t>Scorbut</a:t>
            </a:r>
            <a:r>
              <a:rPr lang="fr-CA" sz="2000" b="1" dirty="0">
                <a:latin typeface="Times New Roman" panose="02020603050405020304" pitchFamily="18" charset="0"/>
                <a:cs typeface="Times New Roman" panose="02020603050405020304" pitchFamily="18" charset="0"/>
              </a:rPr>
              <a:t>, qui est une déficience de synthèse de collagène (</a:t>
            </a:r>
            <a:r>
              <a:rPr lang="fr-CA" sz="2000" b="1" dirty="0" err="1">
                <a:latin typeface="Times New Roman" panose="02020603050405020304" pitchFamily="18" charset="0"/>
                <a:cs typeface="Times New Roman" panose="02020603050405020304" pitchFamily="18" charset="0"/>
              </a:rPr>
              <a:t>hémmoragies</a:t>
            </a:r>
            <a:r>
              <a:rPr lang="fr-CA" sz="2000" b="1" dirty="0">
                <a:latin typeface="Times New Roman" panose="02020603050405020304" pitchFamily="18" charset="0"/>
                <a:cs typeface="Times New Roman" panose="02020603050405020304" pitchFamily="18" charset="0"/>
              </a:rPr>
              <a:t>, chute des dents..). </a:t>
            </a:r>
          </a:p>
        </p:txBody>
      </p:sp>
      <p:pic>
        <p:nvPicPr>
          <p:cNvPr id="11" name="Image 10">
            <a:extLst>
              <a:ext uri="{FF2B5EF4-FFF2-40B4-BE49-F238E27FC236}">
                <a16:creationId xmlns:a16="http://schemas.microsoft.com/office/drawing/2014/main" id="{C39A9ED4-22D4-4E1F-A7D6-809CB665BFC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93001" y="2813391"/>
            <a:ext cx="6029600" cy="2921054"/>
          </a:xfrm>
          <a:prstGeom prst="rect">
            <a:avLst/>
          </a:prstGeom>
          <a:noFill/>
        </p:spPr>
      </p:pic>
      <p:pic>
        <p:nvPicPr>
          <p:cNvPr id="4" name="Image 3">
            <a:extLst>
              <a:ext uri="{FF2B5EF4-FFF2-40B4-BE49-F238E27FC236}">
                <a16:creationId xmlns:a16="http://schemas.microsoft.com/office/drawing/2014/main" id="{82277DD4-006D-4BFF-B88E-DBFAA64F76E4}"/>
              </a:ext>
            </a:extLst>
          </p:cNvPr>
          <p:cNvPicPr>
            <a:picLocks noChangeAspect="1"/>
          </p:cNvPicPr>
          <p:nvPr/>
        </p:nvPicPr>
        <p:blipFill>
          <a:blip r:embed="rId6"/>
          <a:stretch>
            <a:fillRect/>
          </a:stretch>
        </p:blipFill>
        <p:spPr>
          <a:xfrm>
            <a:off x="531357" y="2808625"/>
            <a:ext cx="1461644" cy="2985498"/>
          </a:xfrm>
          <a:prstGeom prst="rect">
            <a:avLst/>
          </a:prstGeom>
        </p:spPr>
      </p:pic>
      <p:pic>
        <p:nvPicPr>
          <p:cNvPr id="1026" name="Picture 2">
            <a:extLst>
              <a:ext uri="{FF2B5EF4-FFF2-40B4-BE49-F238E27FC236}">
                <a16:creationId xmlns:a16="http://schemas.microsoft.com/office/drawing/2014/main" id="{0EB11D33-BCED-490E-AF6E-932B8713D7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3001" y="3073452"/>
            <a:ext cx="5113421" cy="3027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70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Vertical)">
                                      <p:cBhvr>
                                        <p:cTn id="1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FFF087-7BF5-4631-BD66-35BD386536B8}"/>
              </a:ext>
            </a:extLst>
          </p:cNvPr>
          <p:cNvSpPr txBox="1"/>
          <p:nvPr/>
        </p:nvSpPr>
        <p:spPr>
          <a:xfrm>
            <a:off x="654625" y="778236"/>
            <a:ext cx="8717973" cy="562461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600" b="0" i="0" u="none" strike="noStrike" kern="1200" cap="none" spc="0" normalizeH="0" baseline="0" noProof="0" dirty="0">
                <a:ln>
                  <a:noFill/>
                </a:ln>
                <a:solidFill>
                  <a:prstClr val="black"/>
                </a:solidFill>
                <a:effectLst/>
                <a:uLnTx/>
                <a:uFillTx/>
                <a:latin typeface="Tw Cen MT" panose="020B0602020104020603"/>
                <a:ea typeface="+mn-ea"/>
                <a:cs typeface="+mn-cs"/>
              </a:rPr>
              <a:t>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FF0000"/>
                </a:solidFill>
                <a:effectLst/>
                <a:uLnTx/>
                <a:uFillTx/>
                <a:latin typeface="Tw Cen MT" panose="020B0602020104020603"/>
                <a:ea typeface="+mn-ea"/>
                <a:cs typeface="+mn-cs"/>
              </a:rPr>
              <a:t>I.	Introduction</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FF0000"/>
                </a:solidFill>
                <a:effectLst/>
                <a:uLnTx/>
                <a:uFillTx/>
                <a:latin typeface="Tw Cen MT" panose="020B0602020104020603"/>
                <a:ea typeface="+mn-ea"/>
                <a:cs typeface="+mn-cs"/>
              </a:rPr>
              <a:t>II.	Les dérives d’ose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FF0000"/>
                </a:solidFill>
                <a:effectLst/>
                <a:uLnTx/>
                <a:uFillTx/>
                <a:latin typeface="Tw Cen MT" panose="020B0602020104020603"/>
                <a:ea typeface="+mn-ea"/>
                <a:cs typeface="+mn-cs"/>
              </a:rPr>
              <a:t>III.	Les osides</a:t>
            </a:r>
          </a:p>
          <a:p>
            <a:pPr marL="457200" marR="0" lvl="1"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62A39F">
                    <a:lumMod val="75000"/>
                  </a:srgbClr>
                </a:solidFill>
                <a:effectLst/>
                <a:uLnTx/>
                <a:uFillTx/>
                <a:latin typeface="Tw Cen MT" panose="020B0602020104020603"/>
                <a:ea typeface="+mn-ea"/>
                <a:cs typeface="+mn-cs"/>
              </a:rPr>
              <a:t>III. 1	Définition</a:t>
            </a:r>
          </a:p>
          <a:p>
            <a:pPr marL="457200" marR="0" lvl="1"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62A39F">
                    <a:lumMod val="75000"/>
                  </a:srgbClr>
                </a:solidFill>
                <a:effectLst/>
                <a:uLnTx/>
                <a:uFillTx/>
                <a:latin typeface="Tw Cen MT" panose="020B0602020104020603"/>
                <a:ea typeface="+mn-ea"/>
                <a:cs typeface="+mn-cs"/>
              </a:rPr>
              <a:t>III. 2	La liaison glycosidique</a:t>
            </a:r>
          </a:p>
          <a:p>
            <a:pPr marL="457200" marR="0" lvl="1"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62A39F">
                    <a:lumMod val="75000"/>
                  </a:srgbClr>
                </a:solidFill>
                <a:effectLst/>
                <a:uLnTx/>
                <a:uFillTx/>
                <a:latin typeface="Tw Cen MT" panose="020B0602020104020603"/>
                <a:ea typeface="+mn-ea"/>
                <a:cs typeface="+mn-cs"/>
              </a:rPr>
              <a:t>III. 3	Les holosides</a:t>
            </a:r>
          </a:p>
          <a:p>
            <a:pPr marL="914400" marR="0" lvl="2"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w Cen MT" panose="020B0602020104020603"/>
                <a:ea typeface="+mn-ea"/>
                <a:cs typeface="+mn-cs"/>
              </a:rPr>
              <a:t>III.4.1	Les oligosides</a:t>
            </a:r>
          </a:p>
          <a:p>
            <a:pPr marL="914400" marR="0" lvl="2"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w Cen MT" panose="020B0602020104020603"/>
                <a:ea typeface="+mn-ea"/>
                <a:cs typeface="+mn-cs"/>
              </a:rPr>
              <a:t>III.4.2	Les polyholosides ou polysaccharides</a:t>
            </a:r>
          </a:p>
          <a:p>
            <a:pPr marL="457200" marR="0" lvl="1"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62A39F">
                    <a:lumMod val="75000"/>
                  </a:srgbClr>
                </a:solidFill>
                <a:effectLst/>
                <a:uLnTx/>
                <a:uFillTx/>
                <a:latin typeface="Tw Cen MT" panose="020B0602020104020603"/>
                <a:ea typeface="+mn-ea"/>
                <a:cs typeface="+mn-cs"/>
              </a:rPr>
              <a:t>III. 4	Les hétérosides</a:t>
            </a:r>
          </a:p>
          <a:p>
            <a:pPr marL="914400" marR="0" lvl="2"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w Cen MT" panose="020B0602020104020603"/>
                <a:ea typeface="+mn-ea"/>
                <a:cs typeface="+mn-cs"/>
              </a:rPr>
              <a:t>III.4.1	Hétéro-oligosides</a:t>
            </a:r>
          </a:p>
          <a:p>
            <a:pPr marL="914400" marR="0" lvl="2" indent="0" algn="l" defTabSz="457200" rtl="0" eaLnBrk="1" fontAlgn="auto" latinLnBrk="0" hangingPunct="1">
              <a:lnSpc>
                <a:spcPct val="15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w Cen MT" panose="020B0602020104020603"/>
                <a:ea typeface="+mn-ea"/>
                <a:cs typeface="+mn-cs"/>
              </a:rPr>
              <a:t>III.4.2	glycoconjugués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FC8B603C-B39C-4FCD-A842-E0FD6049F479}"/>
              </a:ext>
            </a:extLst>
          </p:cNvPr>
          <p:cNvSpPr txBox="1"/>
          <p:nvPr/>
        </p:nvSpPr>
        <p:spPr>
          <a:xfrm>
            <a:off x="1496291" y="317705"/>
            <a:ext cx="5964382" cy="5078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PLAN DU COURS </a:t>
            </a:r>
          </a:p>
        </p:txBody>
      </p:sp>
      <p:grpSp>
        <p:nvGrpSpPr>
          <p:cNvPr id="8" name="Groupe 7">
            <a:extLst>
              <a:ext uri="{FF2B5EF4-FFF2-40B4-BE49-F238E27FC236}">
                <a16:creationId xmlns:a16="http://schemas.microsoft.com/office/drawing/2014/main" id="{A33EF5A4-0BB3-4490-BAE4-9CEDB340AED5}"/>
              </a:ext>
            </a:extLst>
          </p:cNvPr>
          <p:cNvGrpSpPr/>
          <p:nvPr/>
        </p:nvGrpSpPr>
        <p:grpSpPr>
          <a:xfrm>
            <a:off x="392830" y="990874"/>
            <a:ext cx="8502964" cy="5634787"/>
            <a:chOff x="392830" y="990874"/>
            <a:chExt cx="8502964" cy="5634787"/>
          </a:xfrm>
        </p:grpSpPr>
        <p:pic>
          <p:nvPicPr>
            <p:cNvPr id="3" name="Image 2">
              <a:extLst>
                <a:ext uri="{FF2B5EF4-FFF2-40B4-BE49-F238E27FC236}">
                  <a16:creationId xmlns:a16="http://schemas.microsoft.com/office/drawing/2014/main" id="{45413931-F538-4FD2-B6A7-56C3AC4F1DF0}"/>
                </a:ext>
              </a:extLst>
            </p:cNvPr>
            <p:cNvPicPr>
              <a:picLocks noChangeAspect="1"/>
            </p:cNvPicPr>
            <p:nvPr/>
          </p:nvPicPr>
          <p:blipFill>
            <a:blip r:embed="rId2"/>
            <a:stretch>
              <a:fillRect/>
            </a:stretch>
          </p:blipFill>
          <p:spPr>
            <a:xfrm>
              <a:off x="392830" y="990874"/>
              <a:ext cx="8358340" cy="54869"/>
            </a:xfrm>
            <a:prstGeom prst="rect">
              <a:avLst/>
            </a:prstGeom>
          </p:spPr>
        </p:pic>
        <p:pic>
          <p:nvPicPr>
            <p:cNvPr id="5" name="Image 4">
              <a:extLst>
                <a:ext uri="{FF2B5EF4-FFF2-40B4-BE49-F238E27FC236}">
                  <a16:creationId xmlns:a16="http://schemas.microsoft.com/office/drawing/2014/main" id="{CBF3142A-7443-4D53-8A85-184AED802112}"/>
                </a:ext>
              </a:extLst>
            </p:cNvPr>
            <p:cNvPicPr>
              <a:picLocks noChangeAspect="1"/>
            </p:cNvPicPr>
            <p:nvPr/>
          </p:nvPicPr>
          <p:blipFill>
            <a:blip r:embed="rId3"/>
            <a:stretch>
              <a:fillRect/>
            </a:stretch>
          </p:blipFill>
          <p:spPr>
            <a:xfrm>
              <a:off x="531357" y="6570792"/>
              <a:ext cx="8364437" cy="54869"/>
            </a:xfrm>
            <a:prstGeom prst="rect">
              <a:avLst/>
            </a:prstGeom>
          </p:spPr>
        </p:pic>
      </p:grpSp>
      <p:graphicFrame>
        <p:nvGraphicFramePr>
          <p:cNvPr id="6" name="Tableau 6">
            <a:extLst>
              <a:ext uri="{FF2B5EF4-FFF2-40B4-BE49-F238E27FC236}">
                <a16:creationId xmlns:a16="http://schemas.microsoft.com/office/drawing/2014/main" id="{3E20617A-8B5E-4AB7-8646-F9937E332867}"/>
              </a:ext>
            </a:extLst>
          </p:cNvPr>
          <p:cNvGraphicFramePr>
            <a:graphicFrameLocks noGrp="1"/>
          </p:cNvGraphicFramePr>
          <p:nvPr/>
        </p:nvGraphicFramePr>
        <p:xfrm>
          <a:off x="-7951" y="1045741"/>
          <a:ext cx="419100" cy="1915670"/>
        </p:xfrm>
        <a:graphic>
          <a:graphicData uri="http://schemas.openxmlformats.org/drawingml/2006/table">
            <a:tbl>
              <a:tblPr firstRow="1" bandRow="1">
                <a:tableStyleId>{69CF1AB2-1976-4502-BF36-3FF5EA218861}</a:tableStyleId>
              </a:tblPr>
              <a:tblGrid>
                <a:gridCol w="419100">
                  <a:extLst>
                    <a:ext uri="{9D8B030D-6E8A-4147-A177-3AD203B41FA5}">
                      <a16:colId xmlns:a16="http://schemas.microsoft.com/office/drawing/2014/main" val="3619309182"/>
                    </a:ext>
                  </a:extLst>
                </a:gridCol>
              </a:tblGrid>
              <a:tr h="383134">
                <a:tc>
                  <a:txBody>
                    <a:bodyPr/>
                    <a:lstStyle/>
                    <a:p>
                      <a:endParaRPr lang="fr-DZ"/>
                    </a:p>
                  </a:txBody>
                  <a:tcPr/>
                </a:tc>
                <a:extLst>
                  <a:ext uri="{0D108BD9-81ED-4DB2-BD59-A6C34878D82A}">
                    <a16:rowId xmlns:a16="http://schemas.microsoft.com/office/drawing/2014/main" val="3879384576"/>
                  </a:ext>
                </a:extLst>
              </a:tr>
              <a:tr h="383134">
                <a:tc>
                  <a:txBody>
                    <a:bodyPr/>
                    <a:lstStyle/>
                    <a:p>
                      <a:endParaRPr lang="fr-DZ"/>
                    </a:p>
                  </a:txBody>
                  <a:tcPr/>
                </a:tc>
                <a:extLst>
                  <a:ext uri="{0D108BD9-81ED-4DB2-BD59-A6C34878D82A}">
                    <a16:rowId xmlns:a16="http://schemas.microsoft.com/office/drawing/2014/main" val="1691639637"/>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3073571996"/>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1779648454"/>
                  </a:ext>
                </a:extLst>
              </a:tr>
              <a:tr h="383134">
                <a:tc>
                  <a:txBody>
                    <a:bodyPr/>
                    <a:lstStyle/>
                    <a:p>
                      <a:endParaRPr lang="fr-DZ" dirty="0"/>
                    </a:p>
                  </a:txBody>
                  <a:tcPr>
                    <a:solidFill>
                      <a:schemeClr val="accent5">
                        <a:lumMod val="20000"/>
                        <a:lumOff val="80000"/>
                      </a:schemeClr>
                    </a:solidFill>
                  </a:tcPr>
                </a:tc>
                <a:extLst>
                  <a:ext uri="{0D108BD9-81ED-4DB2-BD59-A6C34878D82A}">
                    <a16:rowId xmlns:a16="http://schemas.microsoft.com/office/drawing/2014/main" val="1936786764"/>
                  </a:ext>
                </a:extLst>
              </a:tr>
            </a:tbl>
          </a:graphicData>
        </a:graphic>
      </p:graphicFrame>
      <p:graphicFrame>
        <p:nvGraphicFramePr>
          <p:cNvPr id="7" name="Tableau 8">
            <a:extLst>
              <a:ext uri="{FF2B5EF4-FFF2-40B4-BE49-F238E27FC236}">
                <a16:creationId xmlns:a16="http://schemas.microsoft.com/office/drawing/2014/main" id="{96BB2FAE-6F97-4BF6-AD3F-1F7404F730A6}"/>
              </a:ext>
            </a:extLst>
          </p:cNvPr>
          <p:cNvGraphicFramePr>
            <a:graphicFrameLocks noGrp="1"/>
          </p:cNvGraphicFramePr>
          <p:nvPr/>
        </p:nvGraphicFramePr>
        <p:xfrm>
          <a:off x="-4487" y="2961409"/>
          <a:ext cx="419100" cy="3609384"/>
        </p:xfrm>
        <a:graphic>
          <a:graphicData uri="http://schemas.openxmlformats.org/drawingml/2006/table">
            <a:tbl>
              <a:tblPr firstRow="1" bandRow="1">
                <a:tableStyleId>{C4B1156A-380E-4F78-BDF5-A606A8083BF9}</a:tableStyleId>
              </a:tblPr>
              <a:tblGrid>
                <a:gridCol w="419100">
                  <a:extLst>
                    <a:ext uri="{9D8B030D-6E8A-4147-A177-3AD203B41FA5}">
                      <a16:colId xmlns:a16="http://schemas.microsoft.com/office/drawing/2014/main" val="3245011596"/>
                    </a:ext>
                  </a:extLst>
                </a:gridCol>
              </a:tblGrid>
              <a:tr h="401043">
                <a:tc>
                  <a:txBody>
                    <a:bodyPr/>
                    <a:lstStyle/>
                    <a:p>
                      <a:endParaRPr lang="fr-DZ" dirty="0"/>
                    </a:p>
                  </a:txBody>
                  <a:tcPr>
                    <a:solidFill>
                      <a:schemeClr val="accent2">
                        <a:lumMod val="20000"/>
                        <a:lumOff val="80000"/>
                      </a:schemeClr>
                    </a:solidFill>
                  </a:tcPr>
                </a:tc>
                <a:extLst>
                  <a:ext uri="{0D108BD9-81ED-4DB2-BD59-A6C34878D82A}">
                    <a16:rowId xmlns:a16="http://schemas.microsoft.com/office/drawing/2014/main" val="4190180022"/>
                  </a:ext>
                </a:extLst>
              </a:tr>
              <a:tr h="401043">
                <a:tc>
                  <a:txBody>
                    <a:bodyPr/>
                    <a:lstStyle/>
                    <a:p>
                      <a:endParaRPr lang="fr-DZ"/>
                    </a:p>
                  </a:txBody>
                  <a:tcPr/>
                </a:tc>
                <a:extLst>
                  <a:ext uri="{0D108BD9-81ED-4DB2-BD59-A6C34878D82A}">
                    <a16:rowId xmlns:a16="http://schemas.microsoft.com/office/drawing/2014/main" val="3688348984"/>
                  </a:ext>
                </a:extLst>
              </a:tr>
              <a:tr h="401043">
                <a:tc>
                  <a:txBody>
                    <a:bodyPr/>
                    <a:lstStyle/>
                    <a:p>
                      <a:endParaRPr lang="fr-DZ"/>
                    </a:p>
                  </a:txBody>
                  <a:tcPr/>
                </a:tc>
                <a:extLst>
                  <a:ext uri="{0D108BD9-81ED-4DB2-BD59-A6C34878D82A}">
                    <a16:rowId xmlns:a16="http://schemas.microsoft.com/office/drawing/2014/main" val="2296508526"/>
                  </a:ext>
                </a:extLst>
              </a:tr>
              <a:tr h="2005212">
                <a:tc>
                  <a:txBody>
                    <a:bodyPr/>
                    <a:lstStyle/>
                    <a:p>
                      <a:endParaRPr lang="fr-DZ" dirty="0"/>
                    </a:p>
                  </a:txBody>
                  <a:tcPr/>
                </a:tc>
                <a:extLst>
                  <a:ext uri="{0D108BD9-81ED-4DB2-BD59-A6C34878D82A}">
                    <a16:rowId xmlns:a16="http://schemas.microsoft.com/office/drawing/2014/main" val="1885236026"/>
                  </a:ext>
                </a:extLst>
              </a:tr>
              <a:tr h="401043">
                <a:tc>
                  <a:txBody>
                    <a:bodyPr/>
                    <a:lstStyle/>
                    <a:p>
                      <a:endParaRPr lang="fr-DZ" dirty="0"/>
                    </a:p>
                  </a:txBody>
                  <a:tcPr/>
                </a:tc>
                <a:extLst>
                  <a:ext uri="{0D108BD9-81ED-4DB2-BD59-A6C34878D82A}">
                    <a16:rowId xmlns:a16="http://schemas.microsoft.com/office/drawing/2014/main" val="2445847537"/>
                  </a:ext>
                </a:extLst>
              </a:tr>
            </a:tbl>
          </a:graphicData>
        </a:graphic>
      </p:graphicFrame>
    </p:spTree>
    <p:extLst>
      <p:ext uri="{BB962C8B-B14F-4D97-AF65-F5344CB8AC3E}">
        <p14:creationId xmlns:p14="http://schemas.microsoft.com/office/powerpoint/2010/main" val="961416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2400" b="1" dirty="0">
                <a:solidFill>
                  <a:srgbClr val="C00000"/>
                </a:solidFill>
                <a:latin typeface="Tw Cen MT" panose="020B0602020104020603"/>
              </a:rPr>
              <a:t>1</a:t>
            </a: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 DEFINITION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45588"/>
            <a:ext cx="8502964"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Sont définis comme des substances dont l’hydrolyse libère un ou plusieurs oses, cela implique la condensation des sucres par la formation d’une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liaison osidique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(ou glycosidique), on distingue: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1"/>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Les holosides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dont l’hydrolyse ne libère que des oses.</a:t>
            </a:r>
          </a:p>
          <a:p>
            <a:pPr lvl="1"/>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Les hétérosides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dont l’hydrolyse libère outre des oses, des substances non-glucidiques (aglycone).</a:t>
            </a:r>
          </a:p>
        </p:txBody>
      </p:sp>
      <p:pic>
        <p:nvPicPr>
          <p:cNvPr id="2" name="Image 1">
            <a:extLst>
              <a:ext uri="{FF2B5EF4-FFF2-40B4-BE49-F238E27FC236}">
                <a16:creationId xmlns:a16="http://schemas.microsoft.com/office/drawing/2014/main" id="{17AA263F-2D3A-4911-8CED-0F3DFFA5E352}"/>
              </a:ext>
            </a:extLst>
          </p:cNvPr>
          <p:cNvPicPr>
            <a:picLocks noChangeAspect="1"/>
          </p:cNvPicPr>
          <p:nvPr/>
        </p:nvPicPr>
        <p:blipFill>
          <a:blip r:embed="rId5"/>
          <a:stretch>
            <a:fillRect/>
          </a:stretch>
        </p:blipFill>
        <p:spPr>
          <a:xfrm>
            <a:off x="178942" y="1045744"/>
            <a:ext cx="8678010" cy="5470180"/>
          </a:xfrm>
          <a:prstGeom prst="rect">
            <a:avLst/>
          </a:prstGeom>
        </p:spPr>
      </p:pic>
      <p:pic>
        <p:nvPicPr>
          <p:cNvPr id="12" name="Image 11">
            <a:extLst>
              <a:ext uri="{FF2B5EF4-FFF2-40B4-BE49-F238E27FC236}">
                <a16:creationId xmlns:a16="http://schemas.microsoft.com/office/drawing/2014/main" id="{AE4CF41F-FA67-4B19-AE0E-7A2FF4F0CE65}"/>
              </a:ext>
            </a:extLst>
          </p:cNvPr>
          <p:cNvPicPr>
            <a:picLocks noChangeAspect="1"/>
          </p:cNvPicPr>
          <p:nvPr/>
        </p:nvPicPr>
        <p:blipFill>
          <a:blip r:embed="rId6"/>
          <a:stretch>
            <a:fillRect/>
          </a:stretch>
        </p:blipFill>
        <p:spPr>
          <a:xfrm>
            <a:off x="-1891145" y="1028925"/>
            <a:ext cx="10964336" cy="5545382"/>
          </a:xfrm>
          <a:prstGeom prst="rect">
            <a:avLst/>
          </a:prstGeom>
        </p:spPr>
      </p:pic>
    </p:spTree>
    <p:extLst>
      <p:ext uri="{BB962C8B-B14F-4D97-AF65-F5344CB8AC3E}">
        <p14:creationId xmlns:p14="http://schemas.microsoft.com/office/powerpoint/2010/main" val="223619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par>
                                <p:cTn id="14" presetID="53" presetClass="exit" presetSubtype="32" fill="hold" nodeType="withEffect">
                                  <p:stCondLst>
                                    <p:cond delay="0"/>
                                  </p:stCondLst>
                                  <p:childTnLst>
                                    <p:anim calcmode="lin" valueType="num">
                                      <p:cBhvr>
                                        <p:cTn id="15" dur="500"/>
                                        <p:tgtEl>
                                          <p:spTgt spid="2"/>
                                        </p:tgtEl>
                                        <p:attrNameLst>
                                          <p:attrName>ppt_w</p:attrName>
                                        </p:attrNameLst>
                                      </p:cBhvr>
                                      <p:tavLst>
                                        <p:tav tm="0">
                                          <p:val>
                                            <p:strVal val="ppt_w"/>
                                          </p:val>
                                        </p:tav>
                                        <p:tav tm="100000">
                                          <p:val>
                                            <p:fltVal val="0"/>
                                          </p:val>
                                        </p:tav>
                                      </p:tavLst>
                                    </p:anim>
                                    <p:anim calcmode="lin" valueType="num">
                                      <p:cBhvr>
                                        <p:cTn id="16" dur="500"/>
                                        <p:tgtEl>
                                          <p:spTgt spid="2"/>
                                        </p:tgtEl>
                                        <p:attrNameLst>
                                          <p:attrName>ppt_h</p:attrName>
                                        </p:attrNameLst>
                                      </p:cBhvr>
                                      <p:tavLst>
                                        <p:tav tm="0">
                                          <p:val>
                                            <p:strVal val="ppt_h"/>
                                          </p:val>
                                        </p:tav>
                                        <p:tav tm="100000">
                                          <p:val>
                                            <p:fltVal val="0"/>
                                          </p:val>
                                        </p:tav>
                                      </p:tavLst>
                                    </p:anim>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2/ LA LIAISON GLYCOSIDIQUE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45588"/>
            <a:ext cx="8502964" cy="34778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Cette liaison osidique est le résultat de la condensation d’un OH réducteur (OH hémiacétalique) d’un ose porté par le carbone anomérique (en C1 pour les aldoses et le C2 pour les cétoses) en position </a:t>
            </a:r>
            <a:r>
              <a:rPr kumimoji="0" lang="el-GR"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α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ou </a:t>
            </a:r>
            <a:r>
              <a:rPr kumimoji="0" lang="el-GR"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β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avec l’un des hydroxyles OH d’un autre ose, anomérique ou non, avec départ d’une molécule d’eau.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Trois types de liaisons peuvent se former : </a:t>
            </a:r>
          </a:p>
          <a:p>
            <a:pPr lvl="1">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OH hémiacétalique + OH alcool primaire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(diholoside réducteur, 1 OH hémiacétalique libre)</a:t>
            </a:r>
          </a:p>
          <a:p>
            <a:pPr lvl="1">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OH hémiacétalique + OH alcool secondaire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(diholoside réducteur)</a:t>
            </a:r>
          </a:p>
          <a:p>
            <a:pPr lvl="1">
              <a:defRPr/>
            </a:pP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CA"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OH hémiacétalique + OH hémiacétalique </a:t>
            </a:r>
            <a:r>
              <a:rPr kumimoji="0" lang="fr-CA"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(diholoside non réducteur, pas de OH hémiacétalique libre) </a:t>
            </a:r>
          </a:p>
        </p:txBody>
      </p:sp>
      <p:pic>
        <p:nvPicPr>
          <p:cNvPr id="4" name="Image 3">
            <a:extLst>
              <a:ext uri="{FF2B5EF4-FFF2-40B4-BE49-F238E27FC236}">
                <a16:creationId xmlns:a16="http://schemas.microsoft.com/office/drawing/2014/main" id="{920388A1-AD22-47D2-9122-E44321A15652}"/>
              </a:ext>
            </a:extLst>
          </p:cNvPr>
          <p:cNvPicPr>
            <a:picLocks noChangeAspect="1"/>
          </p:cNvPicPr>
          <p:nvPr/>
        </p:nvPicPr>
        <p:blipFill>
          <a:blip r:embed="rId5"/>
          <a:stretch>
            <a:fillRect/>
          </a:stretch>
        </p:blipFill>
        <p:spPr>
          <a:xfrm>
            <a:off x="1251442" y="3429000"/>
            <a:ext cx="6496492" cy="2438126"/>
          </a:xfrm>
          <a:prstGeom prst="rect">
            <a:avLst/>
          </a:prstGeom>
        </p:spPr>
      </p:pic>
    </p:spTree>
    <p:extLst>
      <p:ext uri="{BB962C8B-B14F-4D97-AF65-F5344CB8AC3E}">
        <p14:creationId xmlns:p14="http://schemas.microsoft.com/office/powerpoint/2010/main" val="220446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2/ LA LIAISON GLYCOSIDIQUE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45588"/>
            <a:ext cx="8502964" cy="3016210"/>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b="1" u="sng" dirty="0">
                <a:solidFill>
                  <a:schemeClr val="accent2">
                    <a:lumMod val="75000"/>
                  </a:schemeClr>
                </a:solidFill>
                <a:latin typeface="Times New Roman" panose="02020603050405020304" pitchFamily="18" charset="0"/>
                <a:cs typeface="Times New Roman" panose="02020603050405020304" pitchFamily="18" charset="0"/>
              </a:rPr>
              <a:t>Nomenclature </a:t>
            </a:r>
          </a:p>
          <a:p>
            <a:pPr lvl="0">
              <a:defRPr/>
            </a:pPr>
            <a:endParaRPr lang="fr-CA" sz="2000" b="1" dirty="0">
              <a:latin typeface="Times New Roman" panose="02020603050405020304" pitchFamily="18" charset="0"/>
              <a:cs typeface="Times New Roman" panose="02020603050405020304" pitchFamily="18" charset="0"/>
            </a:endParaRPr>
          </a:p>
          <a:p>
            <a:pPr lvl="0">
              <a:defRPr/>
            </a:pPr>
            <a:r>
              <a:rPr lang="fr-CA" sz="2000" b="1" dirty="0">
                <a:latin typeface="Times New Roman" panose="02020603050405020304" pitchFamily="18" charset="0"/>
                <a:cs typeface="Times New Roman" panose="02020603050405020304" pitchFamily="18" charset="0"/>
              </a:rPr>
              <a:t>Elle est définie par:</a:t>
            </a:r>
          </a:p>
          <a:p>
            <a:pPr marL="800100" lvl="1" indent="-342900">
              <a:lnSpc>
                <a:spcPct val="150000"/>
              </a:lnSpc>
              <a:buFontTx/>
              <a:buChar char="-"/>
              <a:defRPr/>
            </a:pPr>
            <a:r>
              <a:rPr lang="fr-CA" sz="2000" b="1" dirty="0">
                <a:latin typeface="Times New Roman" panose="02020603050405020304" pitchFamily="18" charset="0"/>
                <a:cs typeface="Times New Roman" panose="02020603050405020304" pitchFamily="18" charset="0"/>
              </a:rPr>
              <a:t>les oses, </a:t>
            </a:r>
          </a:p>
          <a:p>
            <a:pPr marL="800100" lvl="1" indent="-342900">
              <a:lnSpc>
                <a:spcPct val="150000"/>
              </a:lnSpc>
              <a:buFontTx/>
              <a:buChar char="-"/>
              <a:defRPr/>
            </a:pPr>
            <a:r>
              <a:rPr lang="fr-CA" sz="2000" b="1" dirty="0">
                <a:latin typeface="Times New Roman" panose="02020603050405020304" pitchFamily="18" charset="0"/>
                <a:cs typeface="Times New Roman" panose="02020603050405020304" pitchFamily="18" charset="0"/>
              </a:rPr>
              <a:t>l’</a:t>
            </a:r>
            <a:r>
              <a:rPr lang="fr-CA" sz="2000" b="1" dirty="0" err="1">
                <a:latin typeface="Times New Roman" panose="02020603050405020304" pitchFamily="18" charset="0"/>
                <a:cs typeface="Times New Roman" panose="02020603050405020304" pitchFamily="18" charset="0"/>
              </a:rPr>
              <a:t>anomèrie</a:t>
            </a:r>
            <a:r>
              <a:rPr lang="fr-CA" sz="2000" b="1" dirty="0">
                <a:latin typeface="Times New Roman" panose="02020603050405020304" pitchFamily="18" charset="0"/>
                <a:cs typeface="Times New Roman" panose="02020603050405020304" pitchFamily="18" charset="0"/>
              </a:rPr>
              <a:t> de l’ose engageant sa fonction hémiacétalique (à gauche)</a:t>
            </a:r>
          </a:p>
          <a:p>
            <a:pPr marL="800100" lvl="1" indent="-342900">
              <a:lnSpc>
                <a:spcPct val="150000"/>
              </a:lnSpc>
              <a:buFontTx/>
              <a:buChar char="-"/>
              <a:defRPr/>
            </a:pPr>
            <a:r>
              <a:rPr lang="fr-CA" sz="2000" b="1" dirty="0">
                <a:latin typeface="Times New Roman" panose="02020603050405020304" pitchFamily="18" charset="0"/>
                <a:cs typeface="Times New Roman" panose="02020603050405020304" pitchFamily="18" charset="0"/>
              </a:rPr>
              <a:t>les numéro des atomes de C engagés dans la liaison. </a:t>
            </a:r>
          </a:p>
          <a:p>
            <a:pPr lvl="0">
              <a:defRPr/>
            </a:pPr>
            <a:endParaRPr lang="fr-CA" sz="2000" b="1" dirty="0">
              <a:latin typeface="Times New Roman" panose="02020603050405020304" pitchFamily="18" charset="0"/>
              <a:cs typeface="Times New Roman" panose="02020603050405020304" pitchFamily="18" charset="0"/>
            </a:endParaRPr>
          </a:p>
          <a:p>
            <a:pPr marR="0" lvl="0" algn="l" defTabSz="457200" rtl="0" eaLnBrk="1" fontAlgn="auto" latinLnBrk="0" hangingPunct="1">
              <a:lnSpc>
                <a:spcPct val="100000"/>
              </a:lnSpc>
              <a:spcBef>
                <a:spcPts val="0"/>
              </a:spcBef>
              <a:spcAft>
                <a:spcPts val="0"/>
              </a:spcAft>
              <a:buClrTx/>
              <a:buSzTx/>
              <a:tabLst/>
              <a:defRPr/>
            </a:pPr>
            <a:endParaRPr kumimoji="0" lang="fr-CA" sz="2000" b="1" i="0" u="sng"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977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2/ LA LIAISON GLYCOSIDIQUE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45588"/>
            <a:ext cx="8502964" cy="4247317"/>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b="1" u="sng" dirty="0">
                <a:solidFill>
                  <a:schemeClr val="accent2">
                    <a:lumMod val="75000"/>
                  </a:schemeClr>
                </a:solidFill>
                <a:latin typeface="Times New Roman" panose="02020603050405020304" pitchFamily="18" charset="0"/>
                <a:cs typeface="Times New Roman" panose="02020603050405020304" pitchFamily="18" charset="0"/>
              </a:rPr>
              <a:t>Nomenclature </a:t>
            </a:r>
          </a:p>
          <a:p>
            <a:pPr lvl="0">
              <a:defRPr/>
            </a:pPr>
            <a:endParaRPr lang="fr-CA" sz="2000" b="1" dirty="0">
              <a:latin typeface="Times New Roman" panose="02020603050405020304" pitchFamily="18" charset="0"/>
              <a:cs typeface="Times New Roman" panose="02020603050405020304" pitchFamily="18" charset="0"/>
            </a:endParaRPr>
          </a:p>
          <a:p>
            <a:pPr lvl="0">
              <a:lnSpc>
                <a:spcPct val="150000"/>
              </a:lnSpc>
              <a:defRPr/>
            </a:pPr>
            <a:r>
              <a:rPr lang="fr-CA" sz="2000" b="1" dirty="0">
                <a:latin typeface="Times New Roman" panose="02020603050405020304" pitchFamily="18" charset="0"/>
                <a:cs typeface="Times New Roman" panose="02020603050405020304" pitchFamily="18" charset="0"/>
              </a:rPr>
              <a:t>Les suffixes suivants sont utilisés pour identifier la nature de l’hydroxyle engagé dans la liaison osidique : </a:t>
            </a:r>
          </a:p>
          <a:p>
            <a:pPr lvl="1">
              <a:lnSpc>
                <a:spcPct val="150000"/>
              </a:lnSpc>
              <a:defRPr/>
            </a:pPr>
            <a:r>
              <a:rPr lang="fr-CA" sz="2000" b="1" dirty="0">
                <a:latin typeface="Times New Roman" panose="02020603050405020304" pitchFamily="18" charset="0"/>
                <a:cs typeface="Times New Roman" panose="02020603050405020304" pitchFamily="18" charset="0"/>
              </a:rPr>
              <a:t>-	</a:t>
            </a:r>
            <a:r>
              <a:rPr lang="fr-CA" sz="2000" b="1" dirty="0" err="1">
                <a:solidFill>
                  <a:srgbClr val="FF0000"/>
                </a:solidFill>
                <a:latin typeface="Times New Roman" panose="02020603050405020304" pitchFamily="18" charset="0"/>
                <a:cs typeface="Times New Roman" panose="02020603050405020304" pitchFamily="18" charset="0"/>
              </a:rPr>
              <a:t>Osyl</a:t>
            </a:r>
            <a:r>
              <a:rPr lang="fr-CA" sz="2000" b="1" dirty="0">
                <a:latin typeface="Times New Roman" panose="02020603050405020304" pitchFamily="18" charset="0"/>
                <a:cs typeface="Times New Roman" panose="02020603050405020304" pitchFamily="18" charset="0"/>
              </a:rPr>
              <a:t> ou </a:t>
            </a:r>
            <a:r>
              <a:rPr lang="fr-CA" sz="2000" b="1" dirty="0" err="1">
                <a:solidFill>
                  <a:srgbClr val="FF0000"/>
                </a:solidFill>
                <a:latin typeface="Times New Roman" panose="02020603050405020304" pitchFamily="18" charset="0"/>
                <a:cs typeface="Times New Roman" panose="02020603050405020304" pitchFamily="18" charset="0"/>
              </a:rPr>
              <a:t>Osido</a:t>
            </a:r>
            <a:r>
              <a:rPr lang="fr-CA" sz="2000" b="1" dirty="0">
                <a:latin typeface="Times New Roman" panose="02020603050405020304" pitchFamily="18" charset="0"/>
                <a:cs typeface="Times New Roman" panose="02020603050405020304" pitchFamily="18" charset="0"/>
              </a:rPr>
              <a:t>: cela signifie que la fonction hémiacétalique du premier ose est engagé dans la liaison osidique.</a:t>
            </a:r>
          </a:p>
          <a:p>
            <a:pPr lvl="1">
              <a:lnSpc>
                <a:spcPct val="150000"/>
              </a:lnSpc>
              <a:defRPr/>
            </a:pPr>
            <a:r>
              <a:rPr lang="fr-CA" sz="2000" b="1" dirty="0">
                <a:latin typeface="Times New Roman" panose="02020603050405020304" pitchFamily="18" charset="0"/>
                <a:cs typeface="Times New Roman" panose="02020603050405020304" pitchFamily="18" charset="0"/>
              </a:rPr>
              <a:t>-	</a:t>
            </a:r>
            <a:r>
              <a:rPr lang="fr-CA" sz="2000" b="1" dirty="0">
                <a:solidFill>
                  <a:srgbClr val="FF0000"/>
                </a:solidFill>
                <a:latin typeface="Times New Roman" panose="02020603050405020304" pitchFamily="18" charset="0"/>
                <a:cs typeface="Times New Roman" panose="02020603050405020304" pitchFamily="18" charset="0"/>
              </a:rPr>
              <a:t>Ose</a:t>
            </a:r>
            <a:r>
              <a:rPr lang="fr-CA" sz="2000" b="1" dirty="0">
                <a:latin typeface="Times New Roman" panose="02020603050405020304" pitchFamily="18" charset="0"/>
                <a:cs typeface="Times New Roman" panose="02020603050405020304" pitchFamily="18" charset="0"/>
              </a:rPr>
              <a:t> : cela signifie que la fonction hémiacétalique de l’ose est libre</a:t>
            </a:r>
          </a:p>
          <a:p>
            <a:pPr lvl="1">
              <a:lnSpc>
                <a:spcPct val="150000"/>
              </a:lnSpc>
              <a:defRPr/>
            </a:pPr>
            <a:r>
              <a:rPr lang="fr-CA" sz="2000" b="1" dirty="0">
                <a:latin typeface="Times New Roman" panose="02020603050405020304" pitchFamily="18" charset="0"/>
                <a:cs typeface="Times New Roman" panose="02020603050405020304" pitchFamily="18" charset="0"/>
              </a:rPr>
              <a:t>-	</a:t>
            </a:r>
            <a:r>
              <a:rPr lang="fr-CA" sz="2000" b="1" dirty="0">
                <a:solidFill>
                  <a:srgbClr val="FF0000"/>
                </a:solidFill>
                <a:latin typeface="Times New Roman" panose="02020603050405020304" pitchFamily="18" charset="0"/>
                <a:cs typeface="Times New Roman" panose="02020603050405020304" pitchFamily="18" charset="0"/>
              </a:rPr>
              <a:t>Oside</a:t>
            </a:r>
            <a:r>
              <a:rPr lang="fr-CA" sz="2000" b="1" dirty="0">
                <a:latin typeface="Times New Roman" panose="02020603050405020304" pitchFamily="18" charset="0"/>
                <a:cs typeface="Times New Roman" panose="02020603050405020304" pitchFamily="18" charset="0"/>
              </a:rPr>
              <a:t> : cela signifie que la fonction hémiacétalique du dernier ose est engagée dans la liaison osidique. </a:t>
            </a:r>
          </a:p>
          <a:p>
            <a:pPr marR="0" lvl="0" algn="l" defTabSz="457200" rtl="0" eaLnBrk="1" fontAlgn="auto" latinLnBrk="0" hangingPunct="1">
              <a:lnSpc>
                <a:spcPct val="100000"/>
              </a:lnSpc>
              <a:spcBef>
                <a:spcPts val="0"/>
              </a:spcBef>
              <a:spcAft>
                <a:spcPts val="0"/>
              </a:spcAft>
              <a:buClrTx/>
              <a:buSzTx/>
              <a:tabLst/>
              <a:defRPr/>
            </a:pPr>
            <a:endParaRPr kumimoji="0" lang="fr-CA" sz="2000" b="1" i="0" u="sng"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endParaRPr>
          </a:p>
        </p:txBody>
      </p:sp>
      <p:pic>
        <p:nvPicPr>
          <p:cNvPr id="2" name="Image 1">
            <a:extLst>
              <a:ext uri="{FF2B5EF4-FFF2-40B4-BE49-F238E27FC236}">
                <a16:creationId xmlns:a16="http://schemas.microsoft.com/office/drawing/2014/main" id="{AAF8FF54-2BBA-411D-A4F6-CE5A3212E6E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0" y="1772283"/>
            <a:ext cx="8996011" cy="4603251"/>
          </a:xfrm>
          <a:prstGeom prst="rect">
            <a:avLst/>
          </a:prstGeom>
        </p:spPr>
      </p:pic>
      <p:sp>
        <p:nvSpPr>
          <p:cNvPr id="6" name="Rectangle 5">
            <a:extLst>
              <a:ext uri="{FF2B5EF4-FFF2-40B4-BE49-F238E27FC236}">
                <a16:creationId xmlns:a16="http://schemas.microsoft.com/office/drawing/2014/main" id="{D9FDC55E-6150-4C3F-ABD7-59B0F17C6D44}"/>
              </a:ext>
            </a:extLst>
          </p:cNvPr>
          <p:cNvSpPr/>
          <p:nvPr/>
        </p:nvSpPr>
        <p:spPr>
          <a:xfrm>
            <a:off x="4922874" y="1852147"/>
            <a:ext cx="3867138" cy="446851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347724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115847" y="3023437"/>
            <a:ext cx="8015288"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LES HOLOSIDES </a:t>
            </a:r>
            <a:endParaRPr kumimoji="0" lang="fr-CA" sz="4800" b="1" i="0" u="none" strike="noStrike" kern="1200" cap="none" spc="0" normalizeH="0" baseline="0" noProof="0" dirty="0">
              <a:ln>
                <a:noFill/>
              </a:ln>
              <a:solidFill>
                <a:srgbClr val="C00000"/>
              </a:solidFill>
              <a:effectLst/>
              <a:uLnTx/>
              <a:uFillTx/>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944608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3" name="ZoneTexte 2">
            <a:extLst>
              <a:ext uri="{FF2B5EF4-FFF2-40B4-BE49-F238E27FC236}">
                <a16:creationId xmlns:a16="http://schemas.microsoft.com/office/drawing/2014/main" id="{984EDBFA-0DFE-4FFD-BFAF-90B5BF97BFD0}"/>
              </a:ext>
            </a:extLst>
          </p:cNvPr>
          <p:cNvSpPr txBox="1"/>
          <p:nvPr/>
        </p:nvSpPr>
        <p:spPr>
          <a:xfrm>
            <a:off x="248206" y="1914415"/>
            <a:ext cx="8502964" cy="3170099"/>
          </a:xfrm>
          <a:prstGeom prst="rect">
            <a:avLst/>
          </a:prstGeom>
          <a:noFill/>
        </p:spPr>
        <p:txBody>
          <a:bodyPr wrap="square" rtlCol="0">
            <a:spAutoFit/>
          </a:bodyPr>
          <a:lstStyle/>
          <a:p>
            <a:pPr>
              <a:defRPr/>
            </a:pP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Liaison de </a:t>
            </a: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n molécules d’oses </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par des liaisons osidiques, la taille varie selon le nombre d’oses constitutifs :</a:t>
            </a:r>
          </a:p>
          <a:p>
            <a:pPr>
              <a:defRPr/>
            </a:pPr>
            <a:endPar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defRPr/>
            </a:pP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Oligosides </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n= 2…jusqu’à quelques dizaines d’oses.</a:t>
            </a:r>
          </a:p>
          <a:p>
            <a:pPr marL="800100" lvl="1" indent="-342900">
              <a:buFont typeface="Wingdings" panose="05000000000000000000" pitchFamily="2" charset="2"/>
              <a:buChar char="q"/>
              <a:defRPr/>
            </a:pP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Polyosides</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 </a:t>
            </a: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polyholosides</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a:t>
            </a: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polysaccharides</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 jusqu’à 3000 oses.</a:t>
            </a:r>
          </a:p>
          <a:p>
            <a:pPr lvl="2">
              <a:defRPr/>
            </a:pPr>
            <a:r>
              <a:rPr lang="fr-CA" sz="2000" b="1" dirty="0">
                <a:latin typeface="Times New Roman" panose="02020603050405020304" pitchFamily="18" charset="0"/>
                <a:cs typeface="Times New Roman" panose="02020603050405020304" pitchFamily="18" charset="0"/>
              </a:rPr>
              <a:t>	</a:t>
            </a:r>
          </a:p>
          <a:p>
            <a:pPr marL="1257300" lvl="2" indent="-342900">
              <a:buFont typeface="Wingdings" panose="05000000000000000000" pitchFamily="2" charset="2"/>
              <a:buChar char="Ø"/>
              <a:defRPr/>
            </a:pP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Polyholosides Homogènes </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ou </a:t>
            </a: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Homopolysaccharides</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 	polymérisation d’un seul type d’ose.</a:t>
            </a:r>
          </a:p>
          <a:p>
            <a:pPr marL="1257300" lvl="2" indent="-342900">
              <a:buFont typeface="Wingdings" panose="05000000000000000000" pitchFamily="2" charset="2"/>
              <a:buChar char="Ø"/>
              <a:defRPr/>
            </a:pP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Polyholosides hétérogènes </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ou </a:t>
            </a:r>
            <a:r>
              <a:rPr kumimoji="0" lang="fr-CA" sz="20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Hétéropolysaccharides</a:t>
            </a:r>
            <a:r>
              <a:rPr kumimoji="0" lang="fr-CA" sz="2000" b="1" i="0"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 : polymérisation de plusieurs variétés d’oses.</a:t>
            </a:r>
          </a:p>
        </p:txBody>
      </p:sp>
      <p:pic>
        <p:nvPicPr>
          <p:cNvPr id="2" name="Image 1">
            <a:extLst>
              <a:ext uri="{FF2B5EF4-FFF2-40B4-BE49-F238E27FC236}">
                <a16:creationId xmlns:a16="http://schemas.microsoft.com/office/drawing/2014/main" id="{407C50CB-35D5-4F7A-8877-A8EFBF729D1F}"/>
              </a:ext>
            </a:extLst>
          </p:cNvPr>
          <p:cNvPicPr>
            <a:picLocks noChangeAspect="1"/>
          </p:cNvPicPr>
          <p:nvPr/>
        </p:nvPicPr>
        <p:blipFill>
          <a:blip r:embed="rId5"/>
          <a:stretch>
            <a:fillRect/>
          </a:stretch>
        </p:blipFill>
        <p:spPr>
          <a:xfrm>
            <a:off x="1481859" y="2331624"/>
            <a:ext cx="6180281" cy="4020906"/>
          </a:xfrm>
          <a:prstGeom prst="rect">
            <a:avLst/>
          </a:prstGeom>
        </p:spPr>
      </p:pic>
    </p:spTree>
    <p:extLst>
      <p:ext uri="{BB962C8B-B14F-4D97-AF65-F5344CB8AC3E}">
        <p14:creationId xmlns:p14="http://schemas.microsoft.com/office/powerpoint/2010/main" val="390067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128712" y="2154704"/>
            <a:ext cx="8015288" cy="304698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3/ LES HOLOSIDES</a:t>
            </a:r>
          </a:p>
          <a:p>
            <a:pPr>
              <a:defRPr/>
            </a:pPr>
            <a:r>
              <a:rPr lang="fr-CA" sz="4800" b="1" dirty="0">
                <a:solidFill>
                  <a:srgbClr val="C00000"/>
                </a:solidFill>
                <a:latin typeface="Tw Cen MT" panose="020B0602020104020603"/>
              </a:rPr>
              <a:t> 			</a:t>
            </a:r>
            <a:r>
              <a:rPr kumimoji="0" lang="fr-CA" sz="48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513341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447238"/>
            <a:ext cx="8358340" cy="1938992"/>
          </a:xfrm>
          <a:prstGeom prst="rect">
            <a:avLst/>
          </a:prstGeom>
          <a:noFill/>
        </p:spPr>
        <p:txBody>
          <a:bodyPr wrap="square" rtlCol="0">
            <a:spAutoFit/>
          </a:bodyPr>
          <a:lstStyle/>
          <a:p>
            <a:r>
              <a:rPr lang="fr-CA" sz="2000" b="1" dirty="0">
                <a:latin typeface="Times New Roman" panose="02020603050405020304" pitchFamily="18" charset="0"/>
                <a:cs typeface="Times New Roman" panose="02020603050405020304" pitchFamily="18" charset="0"/>
              </a:rPr>
              <a:t> </a:t>
            </a:r>
          </a:p>
          <a:p>
            <a:r>
              <a:rPr lang="fr-CA" sz="2000" b="1" dirty="0">
                <a:latin typeface="Times New Roman" panose="02020603050405020304" pitchFamily="18" charset="0"/>
                <a:cs typeface="Times New Roman" panose="02020603050405020304" pitchFamily="18" charset="0"/>
              </a:rPr>
              <a:t>Selon le mode d’association, les uns sont </a:t>
            </a:r>
            <a:r>
              <a:rPr lang="fr-CA" sz="2000" b="1" dirty="0">
                <a:solidFill>
                  <a:srgbClr val="FF0000"/>
                </a:solidFill>
                <a:latin typeface="Times New Roman" panose="02020603050405020304" pitchFamily="18" charset="0"/>
                <a:cs typeface="Times New Roman" panose="02020603050405020304" pitchFamily="18" charset="0"/>
              </a:rPr>
              <a:t>réducteurs </a:t>
            </a:r>
            <a:r>
              <a:rPr lang="fr-CA" sz="2000" b="1" dirty="0">
                <a:latin typeface="Times New Roman" panose="02020603050405020304" pitchFamily="18" charset="0"/>
                <a:cs typeface="Times New Roman" panose="02020603050405020304" pitchFamily="18" charset="0"/>
              </a:rPr>
              <a:t>avec un OH hémiacétalique libre, les autres dites </a:t>
            </a:r>
            <a:r>
              <a:rPr lang="fr-CA" sz="2000" b="1" dirty="0">
                <a:solidFill>
                  <a:srgbClr val="FF0000"/>
                </a:solidFill>
                <a:latin typeface="Times New Roman" panose="02020603050405020304" pitchFamily="18" charset="0"/>
                <a:cs typeface="Times New Roman" panose="02020603050405020304" pitchFamily="18" charset="0"/>
              </a:rPr>
              <a:t>non réducteurs</a:t>
            </a:r>
            <a:r>
              <a:rPr lang="fr-CA" sz="2000" b="1" dirty="0">
                <a:latin typeface="Times New Roman" panose="02020603050405020304" pitchFamily="18" charset="0"/>
                <a:cs typeface="Times New Roman" panose="02020603050405020304" pitchFamily="18" charset="0"/>
              </a:rPr>
              <a:t>. </a:t>
            </a:r>
          </a:p>
          <a:p>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Les oligosides sont classés d’après le nombre de résidus en diholosides, </a:t>
            </a:r>
            <a:r>
              <a:rPr lang="fr-CA" sz="2000" b="1" dirty="0" err="1">
                <a:latin typeface="Times New Roman" panose="02020603050405020304" pitchFamily="18" charset="0"/>
                <a:cs typeface="Times New Roman" panose="02020603050405020304" pitchFamily="18" charset="0"/>
              </a:rPr>
              <a:t>triholosides</a:t>
            </a:r>
            <a:r>
              <a:rPr lang="fr-CA" sz="2000" b="1" dirty="0">
                <a:latin typeface="Times New Roman" panose="02020603050405020304" pitchFamily="18" charset="0"/>
                <a:cs typeface="Times New Roman" panose="02020603050405020304" pitchFamily="18" charset="0"/>
              </a:rPr>
              <a:t>, </a:t>
            </a:r>
            <a:r>
              <a:rPr lang="fr-CA" sz="2000" b="1" dirty="0" err="1">
                <a:latin typeface="Times New Roman" panose="02020603050405020304" pitchFamily="18" charset="0"/>
                <a:cs typeface="Times New Roman" panose="02020603050405020304" pitchFamily="18" charset="0"/>
              </a:rPr>
              <a:t>tétraholosides</a:t>
            </a:r>
            <a:r>
              <a:rPr lang="fr-CA" sz="2000" b="1" dirty="0">
                <a:latin typeface="Times New Roman" panose="02020603050405020304" pitchFamily="18" charset="0"/>
                <a:cs typeface="Times New Roman" panose="02020603050405020304" pitchFamily="18" charset="0"/>
              </a:rPr>
              <a:t> .. etc. </a:t>
            </a:r>
          </a:p>
        </p:txBody>
      </p:sp>
    </p:spTree>
    <p:extLst>
      <p:ext uri="{BB962C8B-B14F-4D97-AF65-F5344CB8AC3E}">
        <p14:creationId xmlns:p14="http://schemas.microsoft.com/office/powerpoint/2010/main" val="1062124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447238"/>
            <a:ext cx="8358340" cy="1938992"/>
          </a:xfrm>
          <a:prstGeom prst="rect">
            <a:avLst/>
          </a:prstGeom>
          <a:noFill/>
        </p:spPr>
        <p:txBody>
          <a:bodyPr wrap="square" rtlCol="0">
            <a:spAutoFit/>
          </a:bodyPr>
          <a:lstStyle/>
          <a:p>
            <a:r>
              <a:rPr lang="fr-CA" sz="2000" b="1" dirty="0">
                <a:solidFill>
                  <a:schemeClr val="accent6">
                    <a:lumMod val="75000"/>
                  </a:schemeClr>
                </a:solidFill>
                <a:latin typeface="Times New Roman" panose="02020603050405020304" pitchFamily="18" charset="0"/>
                <a:cs typeface="Times New Roman" panose="02020603050405020304" pitchFamily="18" charset="0"/>
              </a:rPr>
              <a:t>Principaux disaccharides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Selon la nature de la liaison on a deux types:</a:t>
            </a:r>
          </a:p>
          <a:p>
            <a:endParaRPr lang="fr-CA" sz="20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fr-CA" sz="2000" b="1" dirty="0">
                <a:solidFill>
                  <a:srgbClr val="FF0000"/>
                </a:solidFill>
                <a:latin typeface="Times New Roman" panose="02020603050405020304" pitchFamily="18" charset="0"/>
                <a:cs typeface="Times New Roman" panose="02020603050405020304" pitchFamily="18" charset="0"/>
              </a:rPr>
              <a:t>Réducteurs: </a:t>
            </a:r>
            <a:r>
              <a:rPr lang="fr-CA" sz="2000" b="1" dirty="0">
                <a:latin typeface="Times New Roman" panose="02020603050405020304" pitchFamily="18" charset="0"/>
                <a:cs typeface="Times New Roman" panose="02020603050405020304" pitchFamily="18" charset="0"/>
              </a:rPr>
              <a:t>oside-ose</a:t>
            </a:r>
          </a:p>
          <a:p>
            <a:pPr marL="800100" lvl="1" indent="-342900">
              <a:buFont typeface="Wingdings" panose="05000000000000000000" pitchFamily="2" charset="2"/>
              <a:buChar char="v"/>
            </a:pPr>
            <a:r>
              <a:rPr lang="fr-CA" sz="2000" b="1" dirty="0">
                <a:solidFill>
                  <a:srgbClr val="FF0000"/>
                </a:solidFill>
                <a:latin typeface="Times New Roman" panose="02020603050405020304" pitchFamily="18" charset="0"/>
                <a:cs typeface="Times New Roman" panose="02020603050405020304" pitchFamily="18" charset="0"/>
              </a:rPr>
              <a:t>Non réducteurs: </a:t>
            </a:r>
            <a:r>
              <a:rPr lang="fr-CA" sz="2000" b="1" dirty="0" err="1">
                <a:latin typeface="Times New Roman" panose="02020603050405020304" pitchFamily="18" charset="0"/>
                <a:cs typeface="Times New Roman" panose="02020603050405020304" pitchFamily="18" charset="0"/>
              </a:rPr>
              <a:t>osido</a:t>
            </a:r>
            <a:r>
              <a:rPr lang="fr-CA" sz="2000" b="1" dirty="0">
                <a:latin typeface="Times New Roman" panose="02020603050405020304" pitchFamily="18" charset="0"/>
                <a:cs typeface="Times New Roman" panose="02020603050405020304" pitchFamily="18" charset="0"/>
              </a:rPr>
              <a:t>-oside </a:t>
            </a:r>
          </a:p>
        </p:txBody>
      </p:sp>
    </p:spTree>
    <p:extLst>
      <p:ext uri="{BB962C8B-B14F-4D97-AF65-F5344CB8AC3E}">
        <p14:creationId xmlns:p14="http://schemas.microsoft.com/office/powerpoint/2010/main" val="2328982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93149"/>
            <a:ext cx="8358340" cy="2554545"/>
          </a:xfrm>
          <a:prstGeom prst="rect">
            <a:avLst/>
          </a:prstGeom>
          <a:noFill/>
        </p:spPr>
        <p:txBody>
          <a:bodyPr wrap="square" rtlCol="0">
            <a:spAutoFit/>
          </a:bodyPr>
          <a:lstStyle/>
          <a:p>
            <a:r>
              <a:rPr lang="fr-CA" sz="2000" b="1" dirty="0">
                <a:solidFill>
                  <a:srgbClr val="DE7979"/>
                </a:solidFill>
                <a:latin typeface="Times New Roman" panose="02020603050405020304" pitchFamily="18" charset="0"/>
                <a:cs typeface="Times New Roman" panose="02020603050405020304" pitchFamily="18" charset="0"/>
              </a:rPr>
              <a:t>Principaux disaccharides :  disaccharides non réducteurs (</a:t>
            </a:r>
            <a:r>
              <a:rPr lang="fr-CA" sz="2000" b="1" dirty="0" err="1">
                <a:solidFill>
                  <a:srgbClr val="DE7979"/>
                </a:solidFill>
                <a:latin typeface="Times New Roman" panose="02020603050405020304" pitchFamily="18" charset="0"/>
                <a:cs typeface="Times New Roman" panose="02020603050405020304" pitchFamily="18" charset="0"/>
              </a:rPr>
              <a:t>osido</a:t>
            </a:r>
            <a:r>
              <a:rPr lang="fr-CA" sz="2000" b="1" dirty="0">
                <a:solidFill>
                  <a:srgbClr val="DE7979"/>
                </a:solidFill>
                <a:latin typeface="Times New Roman" panose="02020603050405020304" pitchFamily="18" charset="0"/>
                <a:cs typeface="Times New Roman" panose="02020603050405020304" pitchFamily="18" charset="0"/>
              </a:rPr>
              <a:t>-oside) </a:t>
            </a:r>
          </a:p>
          <a:p>
            <a:endParaRPr lang="fr-CA" sz="2000" b="1" dirty="0">
              <a:solidFill>
                <a:srgbClr val="DE7979"/>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La liaison osidique inclut deux OH hémiacétaliques. De ce fait, ils ne présentent pas toutes les propriétés des oses:</a:t>
            </a:r>
          </a:p>
          <a:p>
            <a:pPr marL="342900" indent="-342900">
              <a:buFontTx/>
              <a:buChar char="-"/>
            </a:pPr>
            <a:r>
              <a:rPr lang="fr-CA" sz="2000" b="1" dirty="0">
                <a:latin typeface="Times New Roman" panose="02020603050405020304" pitchFamily="18" charset="0"/>
                <a:cs typeface="Times New Roman" panose="02020603050405020304" pitchFamily="18" charset="0"/>
              </a:rPr>
              <a:t>non réducteurs, </a:t>
            </a:r>
          </a:p>
          <a:p>
            <a:pPr marL="342900" indent="-342900">
              <a:buFontTx/>
              <a:buChar char="-"/>
            </a:pPr>
            <a:r>
              <a:rPr lang="fr-CA" sz="2000" b="1" dirty="0">
                <a:latin typeface="Times New Roman" panose="02020603050405020304" pitchFamily="18" charset="0"/>
                <a:cs typeface="Times New Roman" panose="02020603050405020304" pitchFamily="18" charset="0"/>
              </a:rPr>
              <a:t>et ne présentent pas de mutarotation. </a:t>
            </a:r>
          </a:p>
          <a:p>
            <a:r>
              <a:rPr lang="fr-CA" sz="2000" b="1" dirty="0">
                <a:latin typeface="Times New Roman" panose="02020603050405020304" pitchFamily="18" charset="0"/>
                <a:cs typeface="Times New Roman" panose="02020603050405020304" pitchFamily="18" charset="0"/>
              </a:rPr>
              <a:t>Les OH hémiacétaliques sont bloqués.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374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83553"/>
            <a:ext cx="8358340" cy="2554545"/>
          </a:xfrm>
          <a:prstGeom prst="rect">
            <a:avLst/>
          </a:prstGeom>
          <a:noFill/>
        </p:spPr>
        <p:txBody>
          <a:bodyPr wrap="square" rtlCol="0">
            <a:spAutoFit/>
          </a:bodyPr>
          <a:lstStyle/>
          <a:p>
            <a:r>
              <a:rPr lang="fr-CA" sz="2000" b="1" dirty="0">
                <a:solidFill>
                  <a:srgbClr val="C00000"/>
                </a:solidFill>
                <a:latin typeface="Times New Roman" panose="02020603050405020304" pitchFamily="18" charset="0"/>
                <a:cs typeface="Times New Roman" panose="02020603050405020304" pitchFamily="18" charset="0"/>
              </a:rPr>
              <a:t>Principaux disaccharides :  disaccharides non réducteurs (</a:t>
            </a:r>
            <a:r>
              <a:rPr lang="fr-CA" sz="2000" b="1" dirty="0" err="1">
                <a:solidFill>
                  <a:srgbClr val="C00000"/>
                </a:solidFill>
                <a:latin typeface="Times New Roman" panose="02020603050405020304" pitchFamily="18" charset="0"/>
                <a:cs typeface="Times New Roman" panose="02020603050405020304" pitchFamily="18" charset="0"/>
              </a:rPr>
              <a:t>osido</a:t>
            </a:r>
            <a:r>
              <a:rPr lang="fr-CA" sz="2000" b="1" dirty="0">
                <a:solidFill>
                  <a:srgbClr val="C00000"/>
                </a:solidFill>
                <a:latin typeface="Times New Roman" panose="02020603050405020304" pitchFamily="18" charset="0"/>
                <a:cs typeface="Times New Roman" panose="02020603050405020304" pitchFamily="18" charset="0"/>
              </a:rPr>
              <a:t>-oside)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CA" sz="2000" b="1" dirty="0">
                <a:solidFill>
                  <a:srgbClr val="FF0000"/>
                </a:solidFill>
                <a:latin typeface="Times New Roman" panose="02020603050405020304" pitchFamily="18" charset="0"/>
                <a:cs typeface="Times New Roman" panose="02020603050405020304" pitchFamily="18" charset="0"/>
              </a:rPr>
              <a:t>Le Saccharose ou sucrose </a:t>
            </a:r>
          </a:p>
          <a:p>
            <a:r>
              <a:rPr lang="fr-CA" sz="2000" b="1" dirty="0">
                <a:latin typeface="Times New Roman" panose="02020603050405020304" pitchFamily="18" charset="0"/>
                <a:cs typeface="Times New Roman" panose="02020603050405020304" pitchFamily="18" charset="0"/>
              </a:rPr>
              <a:t>Sucre de canne et de table, très répandu dans tous les végétaux en particulier les betteraves.</a:t>
            </a:r>
          </a:p>
          <a:p>
            <a:r>
              <a:rPr lang="fr-CA" sz="2000" b="1" dirty="0">
                <a:latin typeface="Times New Roman" panose="02020603050405020304" pitchFamily="18" charset="0"/>
                <a:cs typeface="Times New Roman" panose="02020603050405020304" pitchFamily="18" charset="0"/>
              </a:rPr>
              <a:t>Nomenclature :  </a:t>
            </a:r>
            <a:r>
              <a:rPr lang="el-GR" sz="2000" b="1" dirty="0">
                <a:latin typeface="Times New Roman" panose="02020603050405020304" pitchFamily="18" charset="0"/>
                <a:cs typeface="Times New Roman" panose="02020603050405020304" pitchFamily="18" charset="0"/>
              </a:rPr>
              <a:t>α-</a:t>
            </a:r>
            <a:r>
              <a:rPr lang="fr-CA" sz="2000" b="1" dirty="0">
                <a:latin typeface="Times New Roman" panose="02020603050405020304" pitchFamily="18" charset="0"/>
                <a:cs typeface="Times New Roman" panose="02020603050405020304" pitchFamily="18" charset="0"/>
              </a:rPr>
              <a:t>D-glucopyranosyl (1 -&gt; 2) </a:t>
            </a:r>
            <a:r>
              <a:rPr lang="el-GR" sz="2000" b="1" dirty="0">
                <a:latin typeface="Times New Roman" panose="02020603050405020304" pitchFamily="18" charset="0"/>
                <a:cs typeface="Times New Roman" panose="02020603050405020304" pitchFamily="18" charset="0"/>
              </a:rPr>
              <a:t>β-</a:t>
            </a:r>
            <a:r>
              <a:rPr lang="fr-CA" sz="2000" b="1" dirty="0">
                <a:latin typeface="Times New Roman" panose="02020603050405020304" pitchFamily="18" charset="0"/>
                <a:cs typeface="Times New Roman" panose="02020603050405020304" pitchFamily="18" charset="0"/>
              </a:rPr>
              <a:t>D-</a:t>
            </a:r>
            <a:r>
              <a:rPr lang="fr-CA" sz="2000" b="1" dirty="0" err="1">
                <a:latin typeface="Times New Roman" panose="02020603050405020304" pitchFamily="18" charset="0"/>
                <a:cs typeface="Times New Roman" panose="02020603050405020304" pitchFamily="18" charset="0"/>
              </a:rPr>
              <a:t>fructofuranoside</a:t>
            </a:r>
            <a:r>
              <a:rPr lang="fr-CA" sz="2000" b="1" dirty="0">
                <a:latin typeface="Times New Roman" panose="02020603050405020304" pitchFamily="18" charset="0"/>
                <a:cs typeface="Times New Roman" panose="02020603050405020304" pitchFamily="18" charset="0"/>
              </a:rPr>
              <a:t>. </a:t>
            </a:r>
          </a:p>
          <a:p>
            <a:endParaRPr lang="fr-CA" sz="2000" b="1" dirty="0">
              <a:latin typeface="Times New Roman" panose="02020603050405020304" pitchFamily="18" charset="0"/>
              <a:cs typeface="Times New Roman" panose="02020603050405020304" pitchFamily="18" charset="0"/>
            </a:endParaRP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967C0D6A-C993-46D9-B1A1-F55464347778}"/>
              </a:ext>
            </a:extLst>
          </p:cNvPr>
          <p:cNvPicPr>
            <a:picLocks noChangeAspect="1"/>
          </p:cNvPicPr>
          <p:nvPr/>
        </p:nvPicPr>
        <p:blipFill>
          <a:blip r:embed="rId5"/>
          <a:stretch>
            <a:fillRect/>
          </a:stretch>
        </p:blipFill>
        <p:spPr>
          <a:xfrm>
            <a:off x="1537018" y="4096933"/>
            <a:ext cx="5792008" cy="2343790"/>
          </a:xfrm>
          <a:prstGeom prst="rect">
            <a:avLst/>
          </a:prstGeom>
        </p:spPr>
      </p:pic>
    </p:spTree>
    <p:extLst>
      <p:ext uri="{BB962C8B-B14F-4D97-AF65-F5344CB8AC3E}">
        <p14:creationId xmlns:p14="http://schemas.microsoft.com/office/powerpoint/2010/main" val="3588533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83553"/>
            <a:ext cx="8358340" cy="2246769"/>
          </a:xfrm>
          <a:prstGeom prst="rect">
            <a:avLst/>
          </a:prstGeom>
          <a:noFill/>
        </p:spPr>
        <p:txBody>
          <a:bodyPr wrap="square" rtlCol="0">
            <a:spAutoFit/>
          </a:bodyPr>
          <a:lstStyle/>
          <a:p>
            <a:r>
              <a:rPr lang="fr-CA" sz="2000" b="1" dirty="0">
                <a:solidFill>
                  <a:srgbClr val="C00000"/>
                </a:solidFill>
                <a:latin typeface="Times New Roman" panose="02020603050405020304" pitchFamily="18" charset="0"/>
                <a:cs typeface="Times New Roman" panose="02020603050405020304" pitchFamily="18" charset="0"/>
              </a:rPr>
              <a:t>Principaux disaccharides :  disaccharides réducteurs (</a:t>
            </a:r>
            <a:r>
              <a:rPr lang="fr-CA" sz="2000" b="1" dirty="0" err="1">
                <a:solidFill>
                  <a:srgbClr val="C00000"/>
                </a:solidFill>
                <a:latin typeface="Times New Roman" panose="02020603050405020304" pitchFamily="18" charset="0"/>
                <a:cs typeface="Times New Roman" panose="02020603050405020304" pitchFamily="18" charset="0"/>
              </a:rPr>
              <a:t>osido</a:t>
            </a:r>
            <a:r>
              <a:rPr lang="fr-CA" sz="2000" b="1" dirty="0">
                <a:solidFill>
                  <a:srgbClr val="C00000"/>
                </a:solidFill>
                <a:latin typeface="Times New Roman" panose="02020603050405020304" pitchFamily="18" charset="0"/>
                <a:cs typeface="Times New Roman" panose="02020603050405020304" pitchFamily="18" charset="0"/>
              </a:rPr>
              <a:t>-ose)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La liaison osidique inclut un hydroxyle hémiacétalique et un hydroxyle alcoolique. </a:t>
            </a:r>
          </a:p>
          <a:p>
            <a:r>
              <a:rPr lang="fr-CA" sz="2000" b="1" dirty="0">
                <a:latin typeface="Times New Roman" panose="02020603050405020304" pitchFamily="18" charset="0"/>
                <a:cs typeface="Times New Roman" panose="02020603050405020304" pitchFamily="18" charset="0"/>
              </a:rPr>
              <a:t>En plus de la mutarotation, les diholosides réducteurs présentent les mêmes propriétés des oses.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469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73162"/>
            <a:ext cx="8621856" cy="4708981"/>
          </a:xfrm>
          <a:prstGeom prst="rect">
            <a:avLst/>
          </a:prstGeom>
          <a:noFill/>
        </p:spPr>
        <p:txBody>
          <a:bodyPr wrap="square" rtlCol="0">
            <a:spAutoFit/>
          </a:bodyPr>
          <a:lstStyle/>
          <a:p>
            <a:r>
              <a:rPr lang="fr-CA" sz="2000" b="1" dirty="0">
                <a:solidFill>
                  <a:schemeClr val="accent6">
                    <a:lumMod val="75000"/>
                  </a:schemeClr>
                </a:solidFill>
                <a:latin typeface="Times New Roman" panose="02020603050405020304" pitchFamily="18" charset="0"/>
                <a:cs typeface="Times New Roman" panose="02020603050405020304" pitchFamily="18" charset="0"/>
              </a:rPr>
              <a:t>Principaux disaccharides :  disaccharides réducteurs (</a:t>
            </a:r>
            <a:r>
              <a:rPr lang="fr-CA" sz="2000" b="1" dirty="0" err="1">
                <a:solidFill>
                  <a:schemeClr val="accent6">
                    <a:lumMod val="75000"/>
                  </a:schemeClr>
                </a:solidFill>
                <a:latin typeface="Times New Roman" panose="02020603050405020304" pitchFamily="18" charset="0"/>
                <a:cs typeface="Times New Roman" panose="02020603050405020304" pitchFamily="18" charset="0"/>
              </a:rPr>
              <a:t>osido</a:t>
            </a:r>
            <a:r>
              <a:rPr lang="fr-CA" sz="2000" b="1" dirty="0">
                <a:solidFill>
                  <a:schemeClr val="accent6">
                    <a:lumMod val="75000"/>
                  </a:schemeClr>
                </a:solidFill>
                <a:latin typeface="Times New Roman" panose="02020603050405020304" pitchFamily="18" charset="0"/>
                <a:cs typeface="Times New Roman" panose="02020603050405020304" pitchFamily="18" charset="0"/>
              </a:rPr>
              <a:t>-ose)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CA" sz="2000" b="1" dirty="0">
                <a:solidFill>
                  <a:srgbClr val="FF0000"/>
                </a:solidFill>
                <a:latin typeface="Times New Roman" panose="02020603050405020304" pitchFamily="18" charset="0"/>
                <a:cs typeface="Times New Roman" panose="02020603050405020304" pitchFamily="18" charset="0"/>
              </a:rPr>
              <a:t>Maltose </a:t>
            </a:r>
          </a:p>
          <a:p>
            <a:r>
              <a:rPr lang="fr-CA" sz="2000" b="1" dirty="0">
                <a:latin typeface="Times New Roman" panose="02020603050405020304" pitchFamily="18" charset="0"/>
                <a:cs typeface="Times New Roman" panose="02020603050405020304" pitchFamily="18" charset="0"/>
              </a:rPr>
              <a:t>Produit d’hydrolyse, des polyholosides (Glycogène et amidon) par l’amylase.</a:t>
            </a:r>
          </a:p>
          <a:p>
            <a:r>
              <a:rPr lang="fr-CA" sz="2000" b="1" dirty="0">
                <a:latin typeface="Times New Roman" panose="02020603050405020304" pitchFamily="18" charset="0"/>
                <a:cs typeface="Times New Roman" panose="02020603050405020304" pitchFamily="18" charset="0"/>
              </a:rPr>
              <a:t>L’action de la Maltase « </a:t>
            </a:r>
            <a:r>
              <a:rPr lang="el-GR" sz="2000" b="1" dirty="0">
                <a:latin typeface="Times New Roman" panose="02020603050405020304" pitchFamily="18" charset="0"/>
                <a:cs typeface="Times New Roman" panose="02020603050405020304" pitchFamily="18" charset="0"/>
              </a:rPr>
              <a:t>α-</a:t>
            </a:r>
            <a:r>
              <a:rPr lang="fr-CA" sz="2000" b="1" dirty="0">
                <a:latin typeface="Times New Roman" panose="02020603050405020304" pitchFamily="18" charset="0"/>
                <a:cs typeface="Times New Roman" panose="02020603050405020304" pitchFamily="18" charset="0"/>
              </a:rPr>
              <a:t>glucosidase » libère les deux molécules du glucose.</a:t>
            </a:r>
          </a:p>
          <a:p>
            <a:r>
              <a:rPr lang="fr-CA" sz="2000" b="1" dirty="0">
                <a:latin typeface="Times New Roman" panose="02020603050405020304" pitchFamily="18" charset="0"/>
                <a:cs typeface="Times New Roman" panose="02020603050405020304" pitchFamily="18" charset="0"/>
              </a:rPr>
              <a:t>Nomenclature : </a:t>
            </a:r>
            <a:r>
              <a:rPr lang="el-GR" sz="2000" b="1" dirty="0">
                <a:latin typeface="Times New Roman" panose="02020603050405020304" pitchFamily="18" charset="0"/>
                <a:cs typeface="Times New Roman" panose="02020603050405020304" pitchFamily="18" charset="0"/>
              </a:rPr>
              <a:t>α-</a:t>
            </a:r>
            <a:r>
              <a:rPr lang="fr-CA" sz="2000" b="1" dirty="0">
                <a:latin typeface="Times New Roman" panose="02020603050405020304" pitchFamily="18" charset="0"/>
                <a:cs typeface="Times New Roman" panose="02020603050405020304" pitchFamily="18" charset="0"/>
              </a:rPr>
              <a:t>D-glucopyranosyl (1 -&gt;4) D-glucopyranose. </a:t>
            </a:r>
          </a:p>
          <a:p>
            <a:pPr marL="342900" indent="-342900">
              <a:buFont typeface="Wingdings" panose="05000000000000000000" pitchFamily="2" charset="2"/>
              <a:buChar char="q"/>
            </a:pPr>
            <a:r>
              <a:rPr lang="fr-CA" sz="2000" b="1" dirty="0">
                <a:solidFill>
                  <a:srgbClr val="FF0000"/>
                </a:solidFill>
                <a:latin typeface="Times New Roman" panose="02020603050405020304" pitchFamily="18" charset="0"/>
                <a:cs typeface="Times New Roman" panose="02020603050405020304" pitchFamily="18" charset="0"/>
              </a:rPr>
              <a:t>Lactose</a:t>
            </a:r>
          </a:p>
          <a:p>
            <a:r>
              <a:rPr lang="fr-CA" sz="2000" b="1" dirty="0">
                <a:latin typeface="Times New Roman" panose="02020603050405020304" pitchFamily="18" charset="0"/>
                <a:cs typeface="Times New Roman" panose="02020603050405020304" pitchFamily="18" charset="0"/>
              </a:rPr>
              <a:t>Présent dans le lait de tous les mammifères</a:t>
            </a:r>
            <a:r>
              <a:rPr lang="el-GR" sz="2000" b="1" dirty="0">
                <a:latin typeface="Times New Roman" panose="02020603050405020304" pitchFamily="18" charset="0"/>
                <a:cs typeface="Times New Roman" panose="02020603050405020304" pitchFamily="18" charset="0"/>
              </a:rPr>
              <a:t>.</a:t>
            </a:r>
          </a:p>
          <a:p>
            <a:r>
              <a:rPr lang="fr-CA" sz="2000" b="1" dirty="0">
                <a:latin typeface="Times New Roman" panose="02020603050405020304" pitchFamily="18" charset="0"/>
                <a:cs typeface="Times New Roman" panose="02020603050405020304" pitchFamily="18" charset="0"/>
              </a:rPr>
              <a:t>Hydrolysé par la </a:t>
            </a:r>
            <a:r>
              <a:rPr lang="el-GR" sz="2000" b="1" dirty="0">
                <a:latin typeface="Times New Roman" panose="02020603050405020304" pitchFamily="18" charset="0"/>
                <a:cs typeface="Times New Roman" panose="02020603050405020304" pitchFamily="18" charset="0"/>
              </a:rPr>
              <a:t>β-</a:t>
            </a:r>
            <a:r>
              <a:rPr lang="fr-CA" sz="2000" b="1" dirty="0">
                <a:latin typeface="Times New Roman" panose="02020603050405020304" pitchFamily="18" charset="0"/>
                <a:cs typeface="Times New Roman" panose="02020603050405020304" pitchFamily="18" charset="0"/>
              </a:rPr>
              <a:t>D Galactosidase « lactase » intestinale, </a:t>
            </a:r>
          </a:p>
          <a:p>
            <a:r>
              <a:rPr lang="fr-CA" sz="2000" b="1" dirty="0">
                <a:latin typeface="Times New Roman" panose="02020603050405020304" pitchFamily="18" charset="0"/>
                <a:cs typeface="Times New Roman" panose="02020603050405020304" pitchFamily="18" charset="0"/>
              </a:rPr>
              <a:t>Nomenclature : </a:t>
            </a:r>
            <a:r>
              <a:rPr lang="el-GR" sz="2000" b="1" dirty="0">
                <a:latin typeface="Times New Roman" panose="02020603050405020304" pitchFamily="18" charset="0"/>
                <a:cs typeface="Times New Roman" panose="02020603050405020304" pitchFamily="18" charset="0"/>
              </a:rPr>
              <a:t>β-</a:t>
            </a:r>
            <a:r>
              <a:rPr lang="fr-CA" sz="2000" b="1" dirty="0">
                <a:latin typeface="Times New Roman" panose="02020603050405020304" pitchFamily="18" charset="0"/>
                <a:cs typeface="Times New Roman" panose="02020603050405020304" pitchFamily="18" charset="0"/>
              </a:rPr>
              <a:t>D-galactopyranosyl (1-&gt; 4) D- glucopyranose. </a:t>
            </a:r>
          </a:p>
          <a:p>
            <a:pPr marL="342900" indent="-342900">
              <a:buFont typeface="Wingdings" panose="05000000000000000000" pitchFamily="2" charset="2"/>
              <a:buChar char="q"/>
            </a:pPr>
            <a:r>
              <a:rPr lang="fr-CA" sz="2000" b="1" dirty="0" err="1">
                <a:solidFill>
                  <a:srgbClr val="FF0000"/>
                </a:solidFill>
                <a:latin typeface="Times New Roman" panose="02020603050405020304" pitchFamily="18" charset="0"/>
                <a:cs typeface="Times New Roman" panose="02020603050405020304" pitchFamily="18" charset="0"/>
              </a:rPr>
              <a:t>Isomaltose</a:t>
            </a:r>
            <a:r>
              <a:rPr lang="fr-CA" sz="2000" b="1" dirty="0">
                <a:solidFill>
                  <a:srgbClr val="FF0000"/>
                </a:solidFill>
                <a:latin typeface="Times New Roman" panose="02020603050405020304" pitchFamily="18" charset="0"/>
                <a:cs typeface="Times New Roman" panose="02020603050405020304" pitchFamily="18" charset="0"/>
              </a:rPr>
              <a:t> </a:t>
            </a:r>
          </a:p>
          <a:p>
            <a:r>
              <a:rPr lang="fr-CA" sz="2000" b="1" dirty="0">
                <a:latin typeface="Times New Roman" panose="02020603050405020304" pitchFamily="18" charset="0"/>
                <a:cs typeface="Times New Roman" panose="02020603050405020304" pitchFamily="18" charset="0"/>
              </a:rPr>
              <a:t>Issue de la dégradation du glycogène et amidon, formé de 2 molécules de D-glucose reliées par une liaison </a:t>
            </a:r>
            <a:r>
              <a:rPr lang="el-GR" sz="2000" b="1" dirty="0">
                <a:latin typeface="Times New Roman" panose="02020603050405020304" pitchFamily="18" charset="0"/>
                <a:cs typeface="Times New Roman" panose="02020603050405020304" pitchFamily="18" charset="0"/>
              </a:rPr>
              <a:t>α (1-&gt; 6).</a:t>
            </a:r>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Nomenclature : </a:t>
            </a:r>
            <a:r>
              <a:rPr lang="el-GR" sz="2000" b="1" dirty="0">
                <a:latin typeface="Times New Roman" panose="02020603050405020304" pitchFamily="18" charset="0"/>
                <a:cs typeface="Times New Roman" panose="02020603050405020304" pitchFamily="18" charset="0"/>
              </a:rPr>
              <a:t>α-</a:t>
            </a:r>
            <a:r>
              <a:rPr lang="fr-CA" sz="2000" b="1" dirty="0">
                <a:latin typeface="Times New Roman" panose="02020603050405020304" pitchFamily="18" charset="0"/>
                <a:cs typeface="Times New Roman" panose="02020603050405020304" pitchFamily="18" charset="0"/>
              </a:rPr>
              <a:t>D-glucopyranosyl (1 -&gt; 6) D-glucopyranose. </a:t>
            </a:r>
            <a:endParaRPr lang="el-GR" sz="2000" b="1" dirty="0">
              <a:latin typeface="Times New Roman" panose="02020603050405020304" pitchFamily="18" charset="0"/>
              <a:cs typeface="Times New Roman" panose="02020603050405020304" pitchFamily="18" charset="0"/>
            </a:endParaRP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76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arn(inVertical)">
                                      <p:cBhvr>
                                        <p:cTn id="7" dur="500"/>
                                        <p:tgtEl>
                                          <p:spTgt spid="4">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barn(inVertical)">
                                      <p:cBhvr>
                                        <p:cTn id="10" dur="500"/>
                                        <p:tgtEl>
                                          <p:spTgt spid="4">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barn(inVertical)">
                                      <p:cBhvr>
                                        <p:cTn id="13" dur="500"/>
                                        <p:tgtEl>
                                          <p:spTgt spid="4">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barn(inVertical)">
                                      <p:cBhvr>
                                        <p:cTn id="16" dur="500"/>
                                        <p:tgtEl>
                                          <p:spTgt spid="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barn(inVertical)">
                                      <p:cBhvr>
                                        <p:cTn id="21" dur="500"/>
                                        <p:tgtEl>
                                          <p:spTgt spid="4">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barn(inVertical)">
                                      <p:cBhvr>
                                        <p:cTn id="24" dur="500"/>
                                        <p:tgtEl>
                                          <p:spTgt spid="4">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barn(inVertical)">
                                      <p:cBhvr>
                                        <p:cTn id="27" dur="500"/>
                                        <p:tgtEl>
                                          <p:spTgt spid="4">
                                            <p:txEl>
                                              <p:pRg st="8" end="8"/>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4">
                                            <p:txEl>
                                              <p:pRg st="9" end="9"/>
                                            </p:txEl>
                                          </p:spTgt>
                                        </p:tgtEl>
                                        <p:attrNameLst>
                                          <p:attrName>style.visibility</p:attrName>
                                        </p:attrNameLst>
                                      </p:cBhvr>
                                      <p:to>
                                        <p:strVal val="visible"/>
                                      </p:to>
                                    </p:set>
                                    <p:animEffect transition="in" filter="barn(inVertical)">
                                      <p:cBhvr>
                                        <p:cTn id="30" dur="500"/>
                                        <p:tgtEl>
                                          <p:spTgt spid="4">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animEffect transition="in" filter="barn(inVertical)">
                                      <p:cBhvr>
                                        <p:cTn id="35" dur="500"/>
                                        <p:tgtEl>
                                          <p:spTgt spid="4">
                                            <p:txEl>
                                              <p:pRg st="10" end="10"/>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4">
                                            <p:txEl>
                                              <p:pRg st="11" end="11"/>
                                            </p:txEl>
                                          </p:spTgt>
                                        </p:tgtEl>
                                        <p:attrNameLst>
                                          <p:attrName>style.visibility</p:attrName>
                                        </p:attrNameLst>
                                      </p:cBhvr>
                                      <p:to>
                                        <p:strVal val="visible"/>
                                      </p:to>
                                    </p:set>
                                    <p:animEffect transition="in" filter="barn(inVertical)">
                                      <p:cBhvr>
                                        <p:cTn id="38" dur="500"/>
                                        <p:tgtEl>
                                          <p:spTgt spid="4">
                                            <p:txEl>
                                              <p:pRg st="11" end="11"/>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animEffect transition="in" filter="barn(inVertical)">
                                      <p:cBhvr>
                                        <p:cTn id="41"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pic>
        <p:nvPicPr>
          <p:cNvPr id="2" name="Image 1">
            <a:extLst>
              <a:ext uri="{FF2B5EF4-FFF2-40B4-BE49-F238E27FC236}">
                <a16:creationId xmlns:a16="http://schemas.microsoft.com/office/drawing/2014/main" id="{64211441-F70A-45A7-A34F-A8233915C792}"/>
              </a:ext>
            </a:extLst>
          </p:cNvPr>
          <p:cNvPicPr>
            <a:picLocks noChangeAspect="1"/>
          </p:cNvPicPr>
          <p:nvPr/>
        </p:nvPicPr>
        <p:blipFill>
          <a:blip r:embed="rId5"/>
          <a:stretch>
            <a:fillRect/>
          </a:stretch>
        </p:blipFill>
        <p:spPr>
          <a:xfrm>
            <a:off x="392830" y="2073162"/>
            <a:ext cx="4481917" cy="4486336"/>
          </a:xfrm>
          <a:prstGeom prst="rect">
            <a:avLst/>
          </a:prstGeom>
        </p:spPr>
      </p:pic>
      <p:pic>
        <p:nvPicPr>
          <p:cNvPr id="6" name="Image 5">
            <a:extLst>
              <a:ext uri="{FF2B5EF4-FFF2-40B4-BE49-F238E27FC236}">
                <a16:creationId xmlns:a16="http://schemas.microsoft.com/office/drawing/2014/main" id="{F1990DAB-C67D-4B04-B3B4-21FC6C12A81B}"/>
              </a:ext>
            </a:extLst>
          </p:cNvPr>
          <p:cNvPicPr>
            <a:picLocks noChangeAspect="1"/>
          </p:cNvPicPr>
          <p:nvPr/>
        </p:nvPicPr>
        <p:blipFill>
          <a:blip r:embed="rId6"/>
          <a:stretch>
            <a:fillRect/>
          </a:stretch>
        </p:blipFill>
        <p:spPr>
          <a:xfrm>
            <a:off x="4616167" y="2150844"/>
            <a:ext cx="4481916" cy="2147179"/>
          </a:xfrm>
          <a:prstGeom prst="rect">
            <a:avLst/>
          </a:prstGeom>
        </p:spPr>
      </p:pic>
      <p:sp>
        <p:nvSpPr>
          <p:cNvPr id="11" name="Rectangle 10">
            <a:extLst>
              <a:ext uri="{FF2B5EF4-FFF2-40B4-BE49-F238E27FC236}">
                <a16:creationId xmlns:a16="http://schemas.microsoft.com/office/drawing/2014/main" id="{8B27CC26-3907-49FF-8043-5B91ECC2029E}"/>
              </a:ext>
            </a:extLst>
          </p:cNvPr>
          <p:cNvSpPr/>
          <p:nvPr/>
        </p:nvSpPr>
        <p:spPr>
          <a:xfrm>
            <a:off x="4773486" y="2134235"/>
            <a:ext cx="4276469" cy="21471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A7524FEB-3CAF-49F4-BD17-7C0573AB00A3}"/>
              </a:ext>
            </a:extLst>
          </p:cNvPr>
          <p:cNvSpPr/>
          <p:nvPr/>
        </p:nvSpPr>
        <p:spPr>
          <a:xfrm>
            <a:off x="392830" y="2134235"/>
            <a:ext cx="4293125" cy="214717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24E1CEAD-E2F0-451F-82A7-372BE9A55417}"/>
              </a:ext>
            </a:extLst>
          </p:cNvPr>
          <p:cNvSpPr/>
          <p:nvPr/>
        </p:nvSpPr>
        <p:spPr>
          <a:xfrm>
            <a:off x="287048" y="4431289"/>
            <a:ext cx="4481917" cy="20507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3128CA6B-ECF9-44AB-BC5F-351536B964BA}"/>
              </a:ext>
            </a:extLst>
          </p:cNvPr>
          <p:cNvPicPr>
            <a:picLocks noChangeAspect="1"/>
          </p:cNvPicPr>
          <p:nvPr/>
        </p:nvPicPr>
        <p:blipFill>
          <a:blip r:embed="rId7"/>
          <a:stretch>
            <a:fillRect/>
          </a:stretch>
        </p:blipFill>
        <p:spPr>
          <a:xfrm>
            <a:off x="1804737" y="4431289"/>
            <a:ext cx="5173579" cy="2073340"/>
          </a:xfrm>
          <a:prstGeom prst="rect">
            <a:avLst/>
          </a:prstGeom>
        </p:spPr>
      </p:pic>
      <p:sp>
        <p:nvSpPr>
          <p:cNvPr id="3" name="Rectangle 2">
            <a:extLst>
              <a:ext uri="{FF2B5EF4-FFF2-40B4-BE49-F238E27FC236}">
                <a16:creationId xmlns:a16="http://schemas.microsoft.com/office/drawing/2014/main" id="{F35AA82B-87E8-465F-B735-78B7411B5AD2}"/>
              </a:ext>
            </a:extLst>
          </p:cNvPr>
          <p:cNvSpPr/>
          <p:nvPr/>
        </p:nvSpPr>
        <p:spPr>
          <a:xfrm>
            <a:off x="1696453" y="4408255"/>
            <a:ext cx="5281863" cy="20890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0820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inVertic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arn(inVertic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arn(inVertical)">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3.1) Les 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73162"/>
            <a:ext cx="8621856" cy="2554545"/>
          </a:xfrm>
          <a:prstGeom prst="rect">
            <a:avLst/>
          </a:prstGeom>
          <a:noFill/>
        </p:spPr>
        <p:txBody>
          <a:bodyPr wrap="square" rtlCol="0">
            <a:spAutoFit/>
          </a:bodyPr>
          <a:lstStyle/>
          <a:p>
            <a:r>
              <a:rPr lang="fr-CA" sz="2000" b="1" dirty="0">
                <a:solidFill>
                  <a:schemeClr val="accent6">
                    <a:lumMod val="75000"/>
                  </a:schemeClr>
                </a:solidFill>
                <a:latin typeface="Times New Roman" panose="02020603050405020304" pitchFamily="18" charset="0"/>
                <a:cs typeface="Times New Roman" panose="02020603050405020304" pitchFamily="18" charset="0"/>
              </a:rPr>
              <a:t>Autres oligosaccharides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fr-CA" sz="2000" b="1" dirty="0">
                <a:solidFill>
                  <a:srgbClr val="FF0000"/>
                </a:solidFill>
                <a:latin typeface="Times New Roman" panose="02020603050405020304" pitchFamily="18" charset="0"/>
                <a:cs typeface="Times New Roman" panose="02020603050405020304" pitchFamily="18" charset="0"/>
              </a:rPr>
              <a:t>La raffinose </a:t>
            </a:r>
          </a:p>
          <a:p>
            <a:endParaRPr lang="fr-CA" sz="2000" b="1" dirty="0">
              <a:solidFill>
                <a:srgbClr val="FF0000"/>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Un </a:t>
            </a:r>
            <a:r>
              <a:rPr lang="fr-CA" sz="2000" b="1" dirty="0" err="1">
                <a:latin typeface="Times New Roman" panose="02020603050405020304" pitchFamily="18" charset="0"/>
                <a:cs typeface="Times New Roman" panose="02020603050405020304" pitchFamily="18" charset="0"/>
              </a:rPr>
              <a:t>trisaccharide</a:t>
            </a:r>
            <a:r>
              <a:rPr lang="fr-CA" sz="2000" b="1" dirty="0">
                <a:latin typeface="Times New Roman" panose="02020603050405020304" pitchFamily="18" charset="0"/>
                <a:cs typeface="Times New Roman" panose="02020603050405020304" pitchFamily="18" charset="0"/>
              </a:rPr>
              <a:t> qui accompagne le saccharose dans les racines de betterave. Ce sucre non réducteur peut être considérer comme </a:t>
            </a:r>
            <a:r>
              <a:rPr lang="fr-CA" sz="2000" b="1" dirty="0">
                <a:solidFill>
                  <a:srgbClr val="FF0000"/>
                </a:solidFill>
                <a:latin typeface="Times New Roman" panose="02020603050405020304" pitchFamily="18" charset="0"/>
                <a:cs typeface="Times New Roman" panose="02020603050405020304" pitchFamily="18" charset="0"/>
              </a:rPr>
              <a:t>une galactoside du saccharose. </a:t>
            </a:r>
          </a:p>
          <a:p>
            <a:endParaRPr lang="fr-CA" sz="20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4C34FBB3-BDF8-4314-AAEC-89E694466310}"/>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082603" y="2382386"/>
            <a:ext cx="6978793" cy="4067771"/>
          </a:xfrm>
          <a:prstGeom prst="rect">
            <a:avLst/>
          </a:prstGeom>
        </p:spPr>
      </p:pic>
      <p:sp>
        <p:nvSpPr>
          <p:cNvPr id="11" name="Forme libre : forme 10">
            <a:extLst>
              <a:ext uri="{FF2B5EF4-FFF2-40B4-BE49-F238E27FC236}">
                <a16:creationId xmlns:a16="http://schemas.microsoft.com/office/drawing/2014/main" id="{B2583FA8-18CD-43EE-922A-C68796E11C18}"/>
              </a:ext>
            </a:extLst>
          </p:cNvPr>
          <p:cNvSpPr/>
          <p:nvPr/>
        </p:nvSpPr>
        <p:spPr>
          <a:xfrm>
            <a:off x="1528011" y="2447238"/>
            <a:ext cx="2298031" cy="1342709"/>
          </a:xfrm>
          <a:custGeom>
            <a:avLst/>
            <a:gdLst>
              <a:gd name="connsiteX0" fmla="*/ 0 w 2298031"/>
              <a:gd name="connsiteY0" fmla="*/ 0 h 1342709"/>
              <a:gd name="connsiteX1" fmla="*/ 1949115 w 2298031"/>
              <a:gd name="connsiteY1" fmla="*/ 0 h 1342709"/>
              <a:gd name="connsiteX2" fmla="*/ 1949115 w 2298031"/>
              <a:gd name="connsiteY2" fmla="*/ 541590 h 1342709"/>
              <a:gd name="connsiteX3" fmla="*/ 2298031 w 2298031"/>
              <a:gd name="connsiteY3" fmla="*/ 541590 h 1342709"/>
              <a:gd name="connsiteX4" fmla="*/ 2298031 w 2298031"/>
              <a:gd name="connsiteY4" fmla="*/ 1174267 h 1342709"/>
              <a:gd name="connsiteX5" fmla="*/ 1949115 w 2298031"/>
              <a:gd name="connsiteY5" fmla="*/ 1174267 h 1342709"/>
              <a:gd name="connsiteX6" fmla="*/ 1949115 w 2298031"/>
              <a:gd name="connsiteY6" fmla="*/ 1342709 h 1342709"/>
              <a:gd name="connsiteX7" fmla="*/ 0 w 2298031"/>
              <a:gd name="connsiteY7" fmla="*/ 1342709 h 1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8031" h="1342709">
                <a:moveTo>
                  <a:pt x="0" y="0"/>
                </a:moveTo>
                <a:lnTo>
                  <a:pt x="1949115" y="0"/>
                </a:lnTo>
                <a:lnTo>
                  <a:pt x="1949115" y="541590"/>
                </a:lnTo>
                <a:lnTo>
                  <a:pt x="2298031" y="541590"/>
                </a:lnTo>
                <a:lnTo>
                  <a:pt x="2298031" y="1174267"/>
                </a:lnTo>
                <a:lnTo>
                  <a:pt x="1949115" y="1174267"/>
                </a:lnTo>
                <a:lnTo>
                  <a:pt x="1949115" y="1342709"/>
                </a:lnTo>
                <a:lnTo>
                  <a:pt x="0" y="1342709"/>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orme libre : forme 13">
            <a:extLst>
              <a:ext uri="{FF2B5EF4-FFF2-40B4-BE49-F238E27FC236}">
                <a16:creationId xmlns:a16="http://schemas.microsoft.com/office/drawing/2014/main" id="{DDA91219-F8C4-4320-BC4D-FC69A94B26C9}"/>
              </a:ext>
            </a:extLst>
          </p:cNvPr>
          <p:cNvSpPr/>
          <p:nvPr/>
        </p:nvSpPr>
        <p:spPr>
          <a:xfrm>
            <a:off x="1287071" y="4692559"/>
            <a:ext cx="4187297" cy="761401"/>
          </a:xfrm>
          <a:custGeom>
            <a:avLst/>
            <a:gdLst>
              <a:gd name="connsiteX0" fmla="*/ 0 w 4187297"/>
              <a:gd name="connsiteY0" fmla="*/ 0 h 761401"/>
              <a:gd name="connsiteX1" fmla="*/ 2105834 w 4187297"/>
              <a:gd name="connsiteY1" fmla="*/ 0 h 761401"/>
              <a:gd name="connsiteX2" fmla="*/ 2105834 w 4187297"/>
              <a:gd name="connsiteY2" fmla="*/ 244372 h 761401"/>
              <a:gd name="connsiteX3" fmla="*/ 4187297 w 4187297"/>
              <a:gd name="connsiteY3" fmla="*/ 244372 h 761401"/>
              <a:gd name="connsiteX4" fmla="*/ 4187297 w 4187297"/>
              <a:gd name="connsiteY4" fmla="*/ 761401 h 761401"/>
              <a:gd name="connsiteX5" fmla="*/ 2105834 w 4187297"/>
              <a:gd name="connsiteY5" fmla="*/ 761401 h 761401"/>
              <a:gd name="connsiteX6" fmla="*/ 1937392 w 4187297"/>
              <a:gd name="connsiteY6" fmla="*/ 761401 h 761401"/>
              <a:gd name="connsiteX7" fmla="*/ 0 w 4187297"/>
              <a:gd name="connsiteY7" fmla="*/ 761401 h 76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7297" h="761401">
                <a:moveTo>
                  <a:pt x="0" y="0"/>
                </a:moveTo>
                <a:lnTo>
                  <a:pt x="2105834" y="0"/>
                </a:lnTo>
                <a:lnTo>
                  <a:pt x="2105834" y="244372"/>
                </a:lnTo>
                <a:lnTo>
                  <a:pt x="4187297" y="244372"/>
                </a:lnTo>
                <a:lnTo>
                  <a:pt x="4187297" y="761401"/>
                </a:lnTo>
                <a:lnTo>
                  <a:pt x="2105834" y="761401"/>
                </a:lnTo>
                <a:lnTo>
                  <a:pt x="1937392" y="761401"/>
                </a:lnTo>
                <a:lnTo>
                  <a:pt x="0" y="761401"/>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Tree>
    <p:extLst>
      <p:ext uri="{BB962C8B-B14F-4D97-AF65-F5344CB8AC3E}">
        <p14:creationId xmlns:p14="http://schemas.microsoft.com/office/powerpoint/2010/main" val="407276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Vertic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arn(inVertical)">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128712" y="2154704"/>
            <a:ext cx="8015288" cy="304698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3/ LES HOLOSIDES</a:t>
            </a:r>
          </a:p>
          <a:p>
            <a:pPr>
              <a:defRPr/>
            </a:pPr>
            <a:r>
              <a:rPr lang="fr-CA" sz="4800" b="1" dirty="0">
                <a:solidFill>
                  <a:srgbClr val="C00000"/>
                </a:solidFill>
                <a:latin typeface="Tw Cen MT" panose="020B0602020104020603"/>
              </a:rPr>
              <a:t> 			</a:t>
            </a:r>
            <a:r>
              <a:rPr kumimoji="0" lang="fr-CA" sz="48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4800" b="1" dirty="0">
                <a:solidFill>
                  <a:schemeClr val="accent2">
                    <a:lumMod val="75000"/>
                  </a:schemeClr>
                </a:solidFill>
                <a:latin typeface="Tw Cen MT" panose="020B0602020104020603"/>
              </a:rPr>
              <a:t>polyholosides</a:t>
            </a:r>
            <a:endParaRPr kumimoji="0" lang="fr-CA" sz="48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923298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073162"/>
            <a:ext cx="8621856" cy="1015663"/>
          </a:xfrm>
          <a:prstGeom prst="rect">
            <a:avLst/>
          </a:prstGeom>
          <a:noFill/>
        </p:spPr>
        <p:txBody>
          <a:bodyPr wrap="square" rtlCol="0">
            <a:spAutoFit/>
          </a:bodyPr>
          <a:lstStyle/>
          <a:p>
            <a:r>
              <a:rPr lang="fr-CA" sz="2000" b="1" dirty="0">
                <a:latin typeface="Times New Roman" panose="02020603050405020304" pitchFamily="18" charset="0"/>
                <a:cs typeface="Times New Roman" panose="02020603050405020304" pitchFamily="18" charset="0"/>
              </a:rPr>
              <a:t>Unités d’oses &gt; 10 </a:t>
            </a:r>
          </a:p>
          <a:p>
            <a:r>
              <a:rPr lang="fr-CA" sz="2000" b="1" dirty="0">
                <a:latin typeface="Times New Roman" panose="02020603050405020304" pitchFamily="18" charset="0"/>
                <a:cs typeface="Times New Roman" panose="02020603050405020304" pitchFamily="18" charset="0"/>
              </a:rPr>
              <a:t>2 classifications: </a:t>
            </a:r>
          </a:p>
          <a:p>
            <a:endParaRPr lang="fr-CA" sz="2000" b="1" dirty="0">
              <a:latin typeface="Times New Roman" panose="02020603050405020304" pitchFamily="18" charset="0"/>
              <a:cs typeface="Times New Roman" panose="02020603050405020304" pitchFamily="18" charset="0"/>
            </a:endParaRPr>
          </a:p>
        </p:txBody>
      </p:sp>
      <p:sp>
        <p:nvSpPr>
          <p:cNvPr id="11" name="Forme libre : forme 10">
            <a:extLst>
              <a:ext uri="{FF2B5EF4-FFF2-40B4-BE49-F238E27FC236}">
                <a16:creationId xmlns:a16="http://schemas.microsoft.com/office/drawing/2014/main" id="{A284F546-36B6-48FD-BED0-FC9C1B65FB31}"/>
              </a:ext>
            </a:extLst>
          </p:cNvPr>
          <p:cNvSpPr/>
          <p:nvPr/>
        </p:nvSpPr>
        <p:spPr>
          <a:xfrm>
            <a:off x="376670" y="2993802"/>
            <a:ext cx="8519123" cy="547559"/>
          </a:xfrm>
          <a:custGeom>
            <a:avLst/>
            <a:gdLst>
              <a:gd name="connsiteX0" fmla="*/ 0 w 8519123"/>
              <a:gd name="connsiteY0" fmla="*/ 91262 h 547559"/>
              <a:gd name="connsiteX1" fmla="*/ 91262 w 8519123"/>
              <a:gd name="connsiteY1" fmla="*/ 0 h 547559"/>
              <a:gd name="connsiteX2" fmla="*/ 8427861 w 8519123"/>
              <a:gd name="connsiteY2" fmla="*/ 0 h 547559"/>
              <a:gd name="connsiteX3" fmla="*/ 8519123 w 8519123"/>
              <a:gd name="connsiteY3" fmla="*/ 91262 h 547559"/>
              <a:gd name="connsiteX4" fmla="*/ 8519123 w 8519123"/>
              <a:gd name="connsiteY4" fmla="*/ 456297 h 547559"/>
              <a:gd name="connsiteX5" fmla="*/ 8427861 w 8519123"/>
              <a:gd name="connsiteY5" fmla="*/ 547559 h 547559"/>
              <a:gd name="connsiteX6" fmla="*/ 91262 w 8519123"/>
              <a:gd name="connsiteY6" fmla="*/ 547559 h 547559"/>
              <a:gd name="connsiteX7" fmla="*/ 0 w 8519123"/>
              <a:gd name="connsiteY7" fmla="*/ 456297 h 547559"/>
              <a:gd name="connsiteX8" fmla="*/ 0 w 8519123"/>
              <a:gd name="connsiteY8" fmla="*/ 91262 h 54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19123" h="547559">
                <a:moveTo>
                  <a:pt x="0" y="91262"/>
                </a:moveTo>
                <a:cubicBezTo>
                  <a:pt x="0" y="40859"/>
                  <a:pt x="40859" y="0"/>
                  <a:pt x="91262" y="0"/>
                </a:cubicBezTo>
                <a:lnTo>
                  <a:pt x="8427861" y="0"/>
                </a:lnTo>
                <a:cubicBezTo>
                  <a:pt x="8478264" y="0"/>
                  <a:pt x="8519123" y="40859"/>
                  <a:pt x="8519123" y="91262"/>
                </a:cubicBezTo>
                <a:lnTo>
                  <a:pt x="8519123" y="456297"/>
                </a:lnTo>
                <a:cubicBezTo>
                  <a:pt x="8519123" y="506700"/>
                  <a:pt x="8478264" y="547559"/>
                  <a:pt x="8427861" y="547559"/>
                </a:cubicBezTo>
                <a:lnTo>
                  <a:pt x="91262" y="547559"/>
                </a:lnTo>
                <a:cubicBezTo>
                  <a:pt x="40859" y="547559"/>
                  <a:pt x="0" y="506700"/>
                  <a:pt x="0" y="456297"/>
                </a:cubicBezTo>
                <a:lnTo>
                  <a:pt x="0" y="912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8170" tIns="118170" rIns="118170" bIns="118170" numCol="1" spcCol="1270" anchor="ctr" anchorCtr="0">
            <a:noAutofit/>
          </a:bodyPr>
          <a:lstStyle/>
          <a:p>
            <a:pPr marL="0" lvl="0" indent="0" algn="l" defTabSz="1066800">
              <a:lnSpc>
                <a:spcPct val="90000"/>
              </a:lnSpc>
              <a:spcBef>
                <a:spcPct val="0"/>
              </a:spcBef>
              <a:spcAft>
                <a:spcPct val="35000"/>
              </a:spcAft>
              <a:buNone/>
            </a:pPr>
            <a:r>
              <a:rPr lang="fr-CA" sz="2400" b="1" i="0" kern="1200" baseline="0"/>
              <a:t>1/ selon la fonction occupée</a:t>
            </a:r>
            <a:endParaRPr lang="fr-DZ" sz="2400" kern="1200"/>
          </a:p>
        </p:txBody>
      </p:sp>
      <p:sp>
        <p:nvSpPr>
          <p:cNvPr id="12" name="Forme libre : forme 11">
            <a:extLst>
              <a:ext uri="{FF2B5EF4-FFF2-40B4-BE49-F238E27FC236}">
                <a16:creationId xmlns:a16="http://schemas.microsoft.com/office/drawing/2014/main" id="{CBD4C36F-F1C1-4136-AC54-7A7DCE0F1192}"/>
              </a:ext>
            </a:extLst>
          </p:cNvPr>
          <p:cNvSpPr/>
          <p:nvPr/>
        </p:nvSpPr>
        <p:spPr>
          <a:xfrm>
            <a:off x="376670" y="3541362"/>
            <a:ext cx="8519123" cy="1142640"/>
          </a:xfrm>
          <a:custGeom>
            <a:avLst/>
            <a:gdLst>
              <a:gd name="connsiteX0" fmla="*/ 0 w 8519123"/>
              <a:gd name="connsiteY0" fmla="*/ 0 h 1142640"/>
              <a:gd name="connsiteX1" fmla="*/ 8519123 w 8519123"/>
              <a:gd name="connsiteY1" fmla="*/ 0 h 1142640"/>
              <a:gd name="connsiteX2" fmla="*/ 8519123 w 8519123"/>
              <a:gd name="connsiteY2" fmla="*/ 1142640 h 1142640"/>
              <a:gd name="connsiteX3" fmla="*/ 0 w 8519123"/>
              <a:gd name="connsiteY3" fmla="*/ 1142640 h 1142640"/>
              <a:gd name="connsiteX4" fmla="*/ 0 w 8519123"/>
              <a:gd name="connsiteY4" fmla="*/ 0 h 1142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9123" h="1142640">
                <a:moveTo>
                  <a:pt x="0" y="0"/>
                </a:moveTo>
                <a:lnTo>
                  <a:pt x="8519123" y="0"/>
                </a:lnTo>
                <a:lnTo>
                  <a:pt x="8519123" y="1142640"/>
                </a:lnTo>
                <a:lnTo>
                  <a:pt x="0" y="11426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0482"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CA" sz="1900" b="1" i="0" kern="1200" baseline="0" dirty="0">
                <a:solidFill>
                  <a:srgbClr val="FF0000"/>
                </a:solidFill>
              </a:rPr>
              <a:t>Polyosides de réserve : </a:t>
            </a:r>
            <a:r>
              <a:rPr lang="fr-CA" sz="1900" b="1" i="0" kern="1200" baseline="0" dirty="0"/>
              <a:t>Ces derniers sont unis par des liaisons glycosidiques de type α. </a:t>
            </a:r>
            <a:endParaRPr lang="fr-DZ" sz="1900" kern="1200" dirty="0"/>
          </a:p>
          <a:p>
            <a:pPr marL="171450" lvl="1" indent="-171450" algn="l" defTabSz="844550">
              <a:lnSpc>
                <a:spcPct val="90000"/>
              </a:lnSpc>
              <a:spcBef>
                <a:spcPct val="0"/>
              </a:spcBef>
              <a:spcAft>
                <a:spcPct val="20000"/>
              </a:spcAft>
              <a:buChar char="•"/>
            </a:pPr>
            <a:r>
              <a:rPr lang="fr-CA" sz="1900" b="1" i="0" kern="1200" baseline="0" dirty="0">
                <a:solidFill>
                  <a:srgbClr val="FF0000"/>
                </a:solidFill>
              </a:rPr>
              <a:t>Polyosides de structure:  </a:t>
            </a:r>
            <a:r>
              <a:rPr lang="fr-CA" sz="1900" b="1" i="0" kern="1200" baseline="0" dirty="0"/>
              <a:t>les unités d’ose sont souvent unies par des liaisons glycosidiques en position β.</a:t>
            </a:r>
            <a:endParaRPr lang="fr-DZ" sz="1900" kern="1200" dirty="0"/>
          </a:p>
        </p:txBody>
      </p:sp>
      <p:sp>
        <p:nvSpPr>
          <p:cNvPr id="13" name="Forme libre : forme 12">
            <a:extLst>
              <a:ext uri="{FF2B5EF4-FFF2-40B4-BE49-F238E27FC236}">
                <a16:creationId xmlns:a16="http://schemas.microsoft.com/office/drawing/2014/main" id="{6DD2EEED-F6EB-4378-ABF7-C44BA6D4AC12}"/>
              </a:ext>
            </a:extLst>
          </p:cNvPr>
          <p:cNvSpPr/>
          <p:nvPr/>
        </p:nvSpPr>
        <p:spPr>
          <a:xfrm>
            <a:off x="376670" y="4684003"/>
            <a:ext cx="8519123" cy="547559"/>
          </a:xfrm>
          <a:custGeom>
            <a:avLst/>
            <a:gdLst>
              <a:gd name="connsiteX0" fmla="*/ 0 w 8519123"/>
              <a:gd name="connsiteY0" fmla="*/ 91262 h 547559"/>
              <a:gd name="connsiteX1" fmla="*/ 91262 w 8519123"/>
              <a:gd name="connsiteY1" fmla="*/ 0 h 547559"/>
              <a:gd name="connsiteX2" fmla="*/ 8427861 w 8519123"/>
              <a:gd name="connsiteY2" fmla="*/ 0 h 547559"/>
              <a:gd name="connsiteX3" fmla="*/ 8519123 w 8519123"/>
              <a:gd name="connsiteY3" fmla="*/ 91262 h 547559"/>
              <a:gd name="connsiteX4" fmla="*/ 8519123 w 8519123"/>
              <a:gd name="connsiteY4" fmla="*/ 456297 h 547559"/>
              <a:gd name="connsiteX5" fmla="*/ 8427861 w 8519123"/>
              <a:gd name="connsiteY5" fmla="*/ 547559 h 547559"/>
              <a:gd name="connsiteX6" fmla="*/ 91262 w 8519123"/>
              <a:gd name="connsiteY6" fmla="*/ 547559 h 547559"/>
              <a:gd name="connsiteX7" fmla="*/ 0 w 8519123"/>
              <a:gd name="connsiteY7" fmla="*/ 456297 h 547559"/>
              <a:gd name="connsiteX8" fmla="*/ 0 w 8519123"/>
              <a:gd name="connsiteY8" fmla="*/ 91262 h 54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19123" h="547559">
                <a:moveTo>
                  <a:pt x="0" y="91262"/>
                </a:moveTo>
                <a:cubicBezTo>
                  <a:pt x="0" y="40859"/>
                  <a:pt x="40859" y="0"/>
                  <a:pt x="91262" y="0"/>
                </a:cubicBezTo>
                <a:lnTo>
                  <a:pt x="8427861" y="0"/>
                </a:lnTo>
                <a:cubicBezTo>
                  <a:pt x="8478264" y="0"/>
                  <a:pt x="8519123" y="40859"/>
                  <a:pt x="8519123" y="91262"/>
                </a:cubicBezTo>
                <a:lnTo>
                  <a:pt x="8519123" y="456297"/>
                </a:lnTo>
                <a:cubicBezTo>
                  <a:pt x="8519123" y="506700"/>
                  <a:pt x="8478264" y="547559"/>
                  <a:pt x="8427861" y="547559"/>
                </a:cubicBezTo>
                <a:lnTo>
                  <a:pt x="91262" y="547559"/>
                </a:lnTo>
                <a:cubicBezTo>
                  <a:pt x="40859" y="547559"/>
                  <a:pt x="0" y="506700"/>
                  <a:pt x="0" y="456297"/>
                </a:cubicBezTo>
                <a:lnTo>
                  <a:pt x="0" y="912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8170" tIns="118170" rIns="118170" bIns="118170" numCol="1" spcCol="1270" anchor="ctr" anchorCtr="0">
            <a:noAutofit/>
          </a:bodyPr>
          <a:lstStyle/>
          <a:p>
            <a:pPr marL="0" lvl="0" indent="0" algn="l" defTabSz="1066800">
              <a:lnSpc>
                <a:spcPct val="90000"/>
              </a:lnSpc>
              <a:spcBef>
                <a:spcPct val="0"/>
              </a:spcBef>
              <a:spcAft>
                <a:spcPct val="35000"/>
              </a:spcAft>
              <a:buNone/>
            </a:pPr>
            <a:r>
              <a:rPr lang="fr-CA" sz="2400" b="1" i="0" kern="1200" baseline="0"/>
              <a:t>2/ selon la natures des oses constitutifs </a:t>
            </a:r>
            <a:endParaRPr lang="fr-DZ" sz="2400" kern="1200"/>
          </a:p>
        </p:txBody>
      </p:sp>
      <p:sp>
        <p:nvSpPr>
          <p:cNvPr id="14" name="Forme libre : forme 13">
            <a:extLst>
              <a:ext uri="{FF2B5EF4-FFF2-40B4-BE49-F238E27FC236}">
                <a16:creationId xmlns:a16="http://schemas.microsoft.com/office/drawing/2014/main" id="{BC56221B-901F-418F-BE9D-762C0D8FBD58}"/>
              </a:ext>
            </a:extLst>
          </p:cNvPr>
          <p:cNvSpPr/>
          <p:nvPr/>
        </p:nvSpPr>
        <p:spPr>
          <a:xfrm>
            <a:off x="376670" y="5231562"/>
            <a:ext cx="8519123" cy="596160"/>
          </a:xfrm>
          <a:custGeom>
            <a:avLst/>
            <a:gdLst>
              <a:gd name="connsiteX0" fmla="*/ 0 w 8519123"/>
              <a:gd name="connsiteY0" fmla="*/ 0 h 596160"/>
              <a:gd name="connsiteX1" fmla="*/ 8519123 w 8519123"/>
              <a:gd name="connsiteY1" fmla="*/ 0 h 596160"/>
              <a:gd name="connsiteX2" fmla="*/ 8519123 w 8519123"/>
              <a:gd name="connsiteY2" fmla="*/ 596160 h 596160"/>
              <a:gd name="connsiteX3" fmla="*/ 0 w 8519123"/>
              <a:gd name="connsiteY3" fmla="*/ 596160 h 596160"/>
              <a:gd name="connsiteX4" fmla="*/ 0 w 8519123"/>
              <a:gd name="connsiteY4" fmla="*/ 0 h 596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9123" h="596160">
                <a:moveTo>
                  <a:pt x="0" y="0"/>
                </a:moveTo>
                <a:lnTo>
                  <a:pt x="8519123" y="0"/>
                </a:lnTo>
                <a:lnTo>
                  <a:pt x="8519123" y="596160"/>
                </a:lnTo>
                <a:lnTo>
                  <a:pt x="0" y="5961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0482"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CA" sz="1900" b="1" i="0" kern="1200" baseline="0" dirty="0">
                <a:solidFill>
                  <a:srgbClr val="FF0000"/>
                </a:solidFill>
              </a:rPr>
              <a:t>Homopolysaccharides</a:t>
            </a:r>
            <a:endParaRPr lang="fr-DZ" sz="1900" kern="1200" dirty="0">
              <a:solidFill>
                <a:srgbClr val="FF0000"/>
              </a:solidFill>
            </a:endParaRPr>
          </a:p>
          <a:p>
            <a:pPr marL="171450" lvl="1" indent="-171450" algn="l" defTabSz="844550">
              <a:lnSpc>
                <a:spcPct val="90000"/>
              </a:lnSpc>
              <a:spcBef>
                <a:spcPct val="0"/>
              </a:spcBef>
              <a:spcAft>
                <a:spcPct val="20000"/>
              </a:spcAft>
              <a:buChar char="•"/>
            </a:pPr>
            <a:r>
              <a:rPr lang="fr-CA" sz="1900" b="1" i="0" kern="1200" baseline="0" dirty="0">
                <a:solidFill>
                  <a:srgbClr val="FF0000"/>
                </a:solidFill>
              </a:rPr>
              <a:t>Hétéropolysaccharides</a:t>
            </a:r>
            <a:r>
              <a:rPr lang="fr-CA" sz="1900" b="1" i="0" kern="1200" baseline="0" dirty="0"/>
              <a:t>  </a:t>
            </a:r>
            <a:endParaRPr lang="fr-DZ" sz="1900" kern="1200" dirty="0"/>
          </a:p>
        </p:txBody>
      </p:sp>
    </p:spTree>
    <p:extLst>
      <p:ext uri="{BB962C8B-B14F-4D97-AF65-F5344CB8AC3E}">
        <p14:creationId xmlns:p14="http://schemas.microsoft.com/office/powerpoint/2010/main" val="337036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425378" y="2081474"/>
            <a:ext cx="8911127" cy="45243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3/ LES HOLOSIDES</a:t>
            </a:r>
          </a:p>
          <a:p>
            <a:pPr>
              <a:defRPr/>
            </a:pPr>
            <a:r>
              <a:rPr lang="fr-CA" sz="4800" b="1" dirty="0">
                <a:solidFill>
                  <a:srgbClr val="C00000"/>
                </a:solidFill>
                <a:latin typeface="Tw Cen MT" panose="020B0602020104020603"/>
              </a:rPr>
              <a:t> 			</a:t>
            </a:r>
            <a:r>
              <a:rPr kumimoji="0" lang="fr-CA" sz="48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4800" b="1" dirty="0">
                <a:solidFill>
                  <a:schemeClr val="accent2">
                    <a:lumMod val="75000"/>
                  </a:schemeClr>
                </a:solidFill>
                <a:latin typeface="Tw Cen MT" panose="020B0602020104020603"/>
              </a:rPr>
              <a:t>polyholosides</a:t>
            </a:r>
            <a:endParaRPr kumimoji="0" lang="fr-CA" sz="48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endParaRPr>
          </a:p>
          <a:p>
            <a:pPr>
              <a:defRPr/>
            </a:pPr>
            <a:r>
              <a:rPr lang="fr-CA" sz="4800" b="1" dirty="0">
                <a:solidFill>
                  <a:srgbClr val="FF0000"/>
                </a:solidFill>
                <a:latin typeface="Times New Roman" panose="02020603050405020304" pitchFamily="18" charset="0"/>
                <a:cs typeface="Times New Roman" panose="02020603050405020304" pitchFamily="18" charset="0"/>
              </a:rPr>
              <a:t>					1- Polyholosides 														homogènes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541879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51727"/>
            <a:ext cx="8621856" cy="1323439"/>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Polyholosides homogènes de réserves: glucosanes et </a:t>
            </a:r>
            <a:r>
              <a:rPr lang="fr-CA" sz="2000" b="1" dirty="0" err="1">
                <a:solidFill>
                  <a:srgbClr val="FF0000"/>
                </a:solidFill>
                <a:latin typeface="Times New Roman" panose="02020603050405020304" pitchFamily="18" charset="0"/>
                <a:cs typeface="Times New Roman" panose="02020603050405020304" pitchFamily="18" charset="0"/>
              </a:rPr>
              <a:t>fructosanes</a:t>
            </a:r>
            <a:r>
              <a:rPr lang="fr-CA" sz="2000" b="1" dirty="0">
                <a:solidFill>
                  <a:srgbClr val="FF0000"/>
                </a:solidFill>
                <a:latin typeface="Times New Roman" panose="02020603050405020304" pitchFamily="18" charset="0"/>
                <a:cs typeface="Times New Roman" panose="02020603050405020304" pitchFamily="18" charset="0"/>
              </a:rPr>
              <a:t> </a:t>
            </a: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5" name="Diagramme 14">
            <a:extLst>
              <a:ext uri="{FF2B5EF4-FFF2-40B4-BE49-F238E27FC236}">
                <a16:creationId xmlns:a16="http://schemas.microsoft.com/office/drawing/2014/main" id="{6DEEE0AD-02C6-44A1-B936-87DA10CB398D}"/>
              </a:ext>
            </a:extLst>
          </p:cNvPr>
          <p:cNvGraphicFramePr/>
          <p:nvPr>
            <p:extLst>
              <p:ext uri="{D42A27DB-BD31-4B8C-83A1-F6EECF244321}">
                <p14:modId xmlns:p14="http://schemas.microsoft.com/office/powerpoint/2010/main" val="1523278601"/>
              </p:ext>
            </p:extLst>
          </p:nvPr>
        </p:nvGraphicFramePr>
        <p:xfrm>
          <a:off x="1323474" y="3266165"/>
          <a:ext cx="6961363" cy="116194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8645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51727"/>
            <a:ext cx="8621856" cy="4708981"/>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Polyholosides homogènes de réserves: glucosanes et </a:t>
            </a:r>
            <a:r>
              <a:rPr lang="fr-CA" sz="2000" b="1" dirty="0" err="1">
                <a:solidFill>
                  <a:srgbClr val="FF0000"/>
                </a:solidFill>
                <a:latin typeface="Times New Roman" panose="02020603050405020304" pitchFamily="18" charset="0"/>
                <a:cs typeface="Times New Roman" panose="02020603050405020304" pitchFamily="18" charset="0"/>
              </a:rPr>
              <a:t>fructosanes</a:t>
            </a:r>
            <a:r>
              <a:rPr lang="fr-CA" sz="2000" b="1" dirty="0">
                <a:solidFill>
                  <a:srgbClr val="FF0000"/>
                </a:solidFill>
                <a:latin typeface="Times New Roman" panose="02020603050405020304" pitchFamily="18" charset="0"/>
                <a:cs typeface="Times New Roman" panose="02020603050405020304" pitchFamily="18" charset="0"/>
              </a:rPr>
              <a:t> </a:t>
            </a:r>
          </a:p>
          <a:p>
            <a:endParaRPr lang="fr-CA" sz="2000" b="1" dirty="0">
              <a:solidFill>
                <a:srgbClr val="FF0000"/>
              </a:solidFill>
              <a:latin typeface="Times New Roman" panose="02020603050405020304" pitchFamily="18" charset="0"/>
              <a:cs typeface="Times New Roman" panose="02020603050405020304" pitchFamily="18" charset="0"/>
            </a:endParaRPr>
          </a:p>
          <a:p>
            <a:pPr marL="2628900" lvl="5" indent="-342900">
              <a:buFont typeface="Wingdings" panose="05000000000000000000" pitchFamily="2" charset="2"/>
              <a:buChar char="q"/>
            </a:pPr>
            <a:r>
              <a:rPr lang="fr-CA" sz="2000" b="1" dirty="0">
                <a:solidFill>
                  <a:schemeClr val="tx2"/>
                </a:solidFill>
                <a:latin typeface="Times New Roman" panose="02020603050405020304" pitchFamily="18" charset="0"/>
                <a:cs typeface="Times New Roman" panose="02020603050405020304" pitchFamily="18" charset="0"/>
              </a:rPr>
              <a:t>Le glycogènes </a:t>
            </a:r>
          </a:p>
          <a:p>
            <a:pPr marL="342900" indent="-342900">
              <a:buFont typeface="Arial" panose="020B0604020202020204" pitchFamily="34" charset="0"/>
              <a:buChar char="•"/>
            </a:pPr>
            <a:r>
              <a:rPr lang="fr-CA" sz="2000" b="1" dirty="0">
                <a:latin typeface="Times New Roman" panose="02020603050405020304" pitchFamily="18" charset="0"/>
                <a:cs typeface="Times New Roman" panose="02020603050405020304" pitchFamily="18" charset="0"/>
              </a:rPr>
              <a:t>structure:</a:t>
            </a:r>
          </a:p>
          <a:p>
            <a:r>
              <a:rPr lang="fr-CA" sz="2000" b="1" dirty="0">
                <a:latin typeface="Times New Roman" panose="02020603050405020304" pitchFamily="18" charset="0"/>
                <a:cs typeface="Times New Roman" panose="02020603050405020304" pitchFamily="18" charset="0"/>
              </a:rPr>
              <a:t>homopolysaccharide ramifié de D-glucose (n &gt; 50 000). Qui sont unies par des liaisons O-glycosidique:</a:t>
            </a:r>
          </a:p>
          <a:p>
            <a:pPr marL="1257300" lvl="2" indent="-342900">
              <a:buFontTx/>
              <a:buChar char="-"/>
            </a:pPr>
            <a:r>
              <a:rPr lang="fr-CA" sz="2000" b="1" dirty="0">
                <a:latin typeface="Times New Roman" panose="02020603050405020304" pitchFamily="18" charset="0"/>
                <a:cs typeface="Times New Roman" panose="02020603050405020304" pitchFamily="18" charset="0"/>
              </a:rPr>
              <a:t>intrachaine (α 1-&gt; 4) </a:t>
            </a:r>
          </a:p>
          <a:p>
            <a:pPr marL="1257300" lvl="2" indent="-342900">
              <a:buFontTx/>
              <a:buChar char="-"/>
            </a:pPr>
            <a:r>
              <a:rPr lang="fr-CA" sz="2000" b="1" dirty="0" err="1">
                <a:latin typeface="Times New Roman" panose="02020603050405020304" pitchFamily="18" charset="0"/>
                <a:cs typeface="Times New Roman" panose="02020603050405020304" pitchFamily="18" charset="0"/>
              </a:rPr>
              <a:t>interchaine</a:t>
            </a:r>
            <a:r>
              <a:rPr lang="fr-CA" sz="2000" b="1" dirty="0">
                <a:latin typeface="Times New Roman" panose="02020603050405020304" pitchFamily="18" charset="0"/>
                <a:cs typeface="Times New Roman" panose="02020603050405020304" pitchFamily="18" charset="0"/>
              </a:rPr>
              <a:t> (α 1-&gt; 6)</a:t>
            </a:r>
          </a:p>
          <a:p>
            <a:r>
              <a:rPr lang="fr-CA" sz="2000" b="1" dirty="0">
                <a:latin typeface="Times New Roman" panose="02020603050405020304" pitchFamily="18" charset="0"/>
                <a:cs typeface="Times New Roman" panose="02020603050405020304" pitchFamily="18" charset="0"/>
              </a:rPr>
              <a:t>Les ramifications sont fréquentes, environ tous les 10 résidus de glucose.</a:t>
            </a:r>
          </a:p>
          <a:p>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Une glycogène avec n ramifications compte:</a:t>
            </a:r>
          </a:p>
          <a:p>
            <a:pPr marL="342900" indent="-342900">
              <a:buFontTx/>
              <a:buChar char="-"/>
            </a:pPr>
            <a:r>
              <a:rPr lang="fr-CA" sz="2000" b="1" dirty="0">
                <a:latin typeface="Times New Roman" panose="02020603050405020304" pitchFamily="18" charset="0"/>
                <a:cs typeface="Times New Roman" panose="02020603050405020304" pitchFamily="18" charset="0"/>
              </a:rPr>
              <a:t>1 extrémité réductrice</a:t>
            </a:r>
          </a:p>
          <a:p>
            <a:pPr marL="342900" indent="-342900">
              <a:buFontTx/>
              <a:buChar char="-"/>
            </a:pPr>
            <a:r>
              <a:rPr lang="fr-CA" sz="2000" b="1" dirty="0">
                <a:latin typeface="Times New Roman" panose="02020603050405020304" pitchFamily="18" charset="0"/>
                <a:cs typeface="Times New Roman" panose="02020603050405020304" pitchFamily="18" charset="0"/>
              </a:rPr>
              <a:t>n+1 extrémités non réductrices </a:t>
            </a:r>
          </a:p>
          <a:p>
            <a:endParaRPr lang="fr-CA"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790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51727"/>
            <a:ext cx="8621856" cy="4708981"/>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Polyholosides homogènes de réserves: glucosanes et </a:t>
            </a:r>
            <a:r>
              <a:rPr lang="fr-CA" sz="2000" b="1" dirty="0" err="1">
                <a:solidFill>
                  <a:srgbClr val="FF0000"/>
                </a:solidFill>
                <a:latin typeface="Times New Roman" panose="02020603050405020304" pitchFamily="18" charset="0"/>
                <a:cs typeface="Times New Roman" panose="02020603050405020304" pitchFamily="18" charset="0"/>
              </a:rPr>
              <a:t>fructosanes</a:t>
            </a:r>
            <a:r>
              <a:rPr lang="fr-CA" sz="2000" b="1" dirty="0">
                <a:solidFill>
                  <a:srgbClr val="FF0000"/>
                </a:solidFill>
                <a:latin typeface="Times New Roman" panose="02020603050405020304" pitchFamily="18" charset="0"/>
                <a:cs typeface="Times New Roman" panose="02020603050405020304" pitchFamily="18" charset="0"/>
              </a:rPr>
              <a:t> </a:t>
            </a:r>
          </a:p>
          <a:p>
            <a:endParaRPr lang="fr-CA" sz="2000" b="1" dirty="0">
              <a:solidFill>
                <a:srgbClr val="FF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CA" sz="2000" b="1" dirty="0">
                <a:solidFill>
                  <a:schemeClr val="tx2"/>
                </a:solidFill>
                <a:latin typeface="Times New Roman" panose="02020603050405020304" pitchFamily="18" charset="0"/>
                <a:cs typeface="Times New Roman" panose="02020603050405020304" pitchFamily="18" charset="0"/>
              </a:rPr>
              <a:t>Le glycogènes:  </a:t>
            </a:r>
          </a:p>
          <a:p>
            <a:pPr marL="342900" indent="-342900">
              <a:buFont typeface="Arial" panose="020B0604020202020204" pitchFamily="34" charset="0"/>
              <a:buChar char="•"/>
            </a:pPr>
            <a:r>
              <a:rPr lang="fr-CA" sz="2000" b="1" dirty="0">
                <a:latin typeface="Times New Roman" panose="02020603050405020304" pitchFamily="18" charset="0"/>
                <a:cs typeface="Times New Roman" panose="02020603050405020304" pitchFamily="18" charset="0"/>
              </a:rPr>
              <a:t>structure:</a:t>
            </a:r>
          </a:p>
          <a:p>
            <a:r>
              <a:rPr lang="fr-CA" sz="2000" b="1" dirty="0">
                <a:latin typeface="Times New Roman" panose="02020603050405020304" pitchFamily="18" charset="0"/>
                <a:cs typeface="Times New Roman" panose="02020603050405020304" pitchFamily="18" charset="0"/>
              </a:rPr>
              <a:t>homopolysaccharide ramifié de D-glucose (n &gt; 50 000). Qui sont unies par des liaisons O-glycosidique:</a:t>
            </a:r>
          </a:p>
          <a:p>
            <a:pPr marL="1257300" lvl="2" indent="-342900">
              <a:buFontTx/>
              <a:buChar char="-"/>
            </a:pPr>
            <a:r>
              <a:rPr lang="fr-CA" sz="2000" b="1" dirty="0">
                <a:latin typeface="Times New Roman" panose="02020603050405020304" pitchFamily="18" charset="0"/>
                <a:cs typeface="Times New Roman" panose="02020603050405020304" pitchFamily="18" charset="0"/>
              </a:rPr>
              <a:t>intrachaine (α 1-&gt; 4) </a:t>
            </a:r>
          </a:p>
          <a:p>
            <a:pPr marL="1257300" lvl="2" indent="-342900">
              <a:buFontTx/>
              <a:buChar char="-"/>
            </a:pPr>
            <a:r>
              <a:rPr lang="fr-CA" sz="2000" b="1" dirty="0" err="1">
                <a:latin typeface="Times New Roman" panose="02020603050405020304" pitchFamily="18" charset="0"/>
                <a:cs typeface="Times New Roman" panose="02020603050405020304" pitchFamily="18" charset="0"/>
              </a:rPr>
              <a:t>interchaine</a:t>
            </a:r>
            <a:r>
              <a:rPr lang="fr-CA" sz="2000" b="1" dirty="0">
                <a:latin typeface="Times New Roman" panose="02020603050405020304" pitchFamily="18" charset="0"/>
                <a:cs typeface="Times New Roman" panose="02020603050405020304" pitchFamily="18" charset="0"/>
              </a:rPr>
              <a:t> (α 1-&gt; 6)</a:t>
            </a:r>
          </a:p>
          <a:p>
            <a:r>
              <a:rPr lang="fr-CA" sz="2000" b="1" dirty="0">
                <a:latin typeface="Times New Roman" panose="02020603050405020304" pitchFamily="18" charset="0"/>
                <a:cs typeface="Times New Roman" panose="02020603050405020304" pitchFamily="18" charset="0"/>
              </a:rPr>
              <a:t>Les ramifications sont fréquentes, environ tous les 10 résidus de glucose.</a:t>
            </a:r>
          </a:p>
          <a:p>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Une glycogène avec n ramifications compte:</a:t>
            </a:r>
          </a:p>
          <a:p>
            <a:pPr marL="342900" indent="-342900">
              <a:buFontTx/>
              <a:buChar char="-"/>
            </a:pPr>
            <a:r>
              <a:rPr lang="fr-CA" sz="2000" b="1" dirty="0">
                <a:latin typeface="Times New Roman" panose="02020603050405020304" pitchFamily="18" charset="0"/>
                <a:cs typeface="Times New Roman" panose="02020603050405020304" pitchFamily="18" charset="0"/>
              </a:rPr>
              <a:t>1 extrémité réductrice</a:t>
            </a:r>
          </a:p>
          <a:p>
            <a:pPr marL="342900" indent="-342900">
              <a:buFontTx/>
              <a:buChar char="-"/>
            </a:pPr>
            <a:r>
              <a:rPr lang="fr-CA" sz="2000" b="1" dirty="0">
                <a:latin typeface="Times New Roman" panose="02020603050405020304" pitchFamily="18" charset="0"/>
                <a:cs typeface="Times New Roman" panose="02020603050405020304" pitchFamily="18" charset="0"/>
              </a:rPr>
              <a:t>n+1 extrémités non réductrices </a:t>
            </a:r>
          </a:p>
          <a:p>
            <a:endParaRPr lang="fr-CA" sz="2000" b="1" dirty="0">
              <a:solidFill>
                <a:srgbClr val="FF0000"/>
              </a:solidFill>
              <a:latin typeface="Times New Roman" panose="02020603050405020304" pitchFamily="18" charset="0"/>
              <a:cs typeface="Times New Roman" panose="02020603050405020304" pitchFamily="18" charset="0"/>
            </a:endParaRPr>
          </a:p>
        </p:txBody>
      </p:sp>
      <p:pic>
        <p:nvPicPr>
          <p:cNvPr id="2" name="Image 1">
            <a:extLst>
              <a:ext uri="{FF2B5EF4-FFF2-40B4-BE49-F238E27FC236}">
                <a16:creationId xmlns:a16="http://schemas.microsoft.com/office/drawing/2014/main" id="{A1550882-B0F1-4AE7-95C9-465368D74246}"/>
              </a:ext>
            </a:extLst>
          </p:cNvPr>
          <p:cNvPicPr>
            <a:picLocks noChangeAspect="1"/>
          </p:cNvPicPr>
          <p:nvPr/>
        </p:nvPicPr>
        <p:blipFill>
          <a:blip r:embed="rId5"/>
          <a:stretch>
            <a:fillRect/>
          </a:stretch>
        </p:blipFill>
        <p:spPr>
          <a:xfrm>
            <a:off x="930378" y="3114518"/>
            <a:ext cx="7283244" cy="3335639"/>
          </a:xfrm>
          <a:prstGeom prst="rect">
            <a:avLst/>
          </a:prstGeom>
        </p:spPr>
      </p:pic>
      <p:pic>
        <p:nvPicPr>
          <p:cNvPr id="3" name="Image 2">
            <a:extLst>
              <a:ext uri="{FF2B5EF4-FFF2-40B4-BE49-F238E27FC236}">
                <a16:creationId xmlns:a16="http://schemas.microsoft.com/office/drawing/2014/main" id="{89FA8ED2-076C-4AFD-A514-54F23FECDC8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72736" y="3048752"/>
            <a:ext cx="8998527" cy="3456274"/>
          </a:xfrm>
          <a:prstGeom prst="rect">
            <a:avLst/>
          </a:prstGeom>
        </p:spPr>
      </p:pic>
      <p:sp>
        <p:nvSpPr>
          <p:cNvPr id="6" name="Ellipse 5">
            <a:extLst>
              <a:ext uri="{FF2B5EF4-FFF2-40B4-BE49-F238E27FC236}">
                <a16:creationId xmlns:a16="http://schemas.microsoft.com/office/drawing/2014/main" id="{72BCD5D5-C1BF-43B9-BD13-1BF3C36FC1A5}"/>
              </a:ext>
            </a:extLst>
          </p:cNvPr>
          <p:cNvSpPr/>
          <p:nvPr/>
        </p:nvSpPr>
        <p:spPr>
          <a:xfrm>
            <a:off x="6116350" y="3612616"/>
            <a:ext cx="1007918" cy="155863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5315070-F2C8-42A3-8982-19FAF4013640}"/>
              </a:ext>
            </a:extLst>
          </p:cNvPr>
          <p:cNvSpPr/>
          <p:nvPr/>
        </p:nvSpPr>
        <p:spPr>
          <a:xfrm>
            <a:off x="7174016" y="5320145"/>
            <a:ext cx="1007918" cy="7897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CAD4D2F8-C35E-4F2D-9B4E-725B5100CC69}"/>
              </a:ext>
            </a:extLst>
          </p:cNvPr>
          <p:cNvSpPr/>
          <p:nvPr/>
        </p:nvSpPr>
        <p:spPr>
          <a:xfrm>
            <a:off x="72736" y="5320145"/>
            <a:ext cx="1007918" cy="78971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D21BB07B-93BA-4A50-94FA-9F12CE8C41C4}"/>
              </a:ext>
            </a:extLst>
          </p:cNvPr>
          <p:cNvSpPr/>
          <p:nvPr/>
        </p:nvSpPr>
        <p:spPr>
          <a:xfrm>
            <a:off x="1935287" y="3761509"/>
            <a:ext cx="1007918" cy="66501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3543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inVertic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51727"/>
            <a:ext cx="8621856" cy="5940088"/>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Polyholosides homogènes de réserves: glucosanes et </a:t>
            </a:r>
            <a:r>
              <a:rPr lang="fr-CA" sz="2000" b="1" dirty="0" err="1">
                <a:solidFill>
                  <a:srgbClr val="FF0000"/>
                </a:solidFill>
                <a:latin typeface="Times New Roman" panose="02020603050405020304" pitchFamily="18" charset="0"/>
                <a:cs typeface="Times New Roman" panose="02020603050405020304" pitchFamily="18" charset="0"/>
              </a:rPr>
              <a:t>fructosanes</a:t>
            </a:r>
            <a:r>
              <a:rPr lang="fr-CA" sz="2000" b="1" dirty="0">
                <a:solidFill>
                  <a:srgbClr val="FF0000"/>
                </a:solidFill>
                <a:latin typeface="Times New Roman" panose="02020603050405020304" pitchFamily="18" charset="0"/>
                <a:cs typeface="Times New Roman" panose="02020603050405020304" pitchFamily="18" charset="0"/>
              </a:rPr>
              <a:t> </a:t>
            </a:r>
          </a:p>
          <a:p>
            <a:endParaRPr lang="fr-CA" sz="2000" b="1" dirty="0">
              <a:solidFill>
                <a:srgbClr val="FF0000"/>
              </a:solidFill>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q"/>
            </a:pPr>
            <a:r>
              <a:rPr lang="fr-CA" sz="2000" b="1" dirty="0">
                <a:solidFill>
                  <a:schemeClr val="tx2"/>
                </a:solidFill>
                <a:latin typeface="Times New Roman" panose="02020603050405020304" pitchFamily="18" charset="0"/>
                <a:cs typeface="Times New Roman" panose="02020603050405020304" pitchFamily="18" charset="0"/>
              </a:rPr>
              <a:t>Le glycogènes </a:t>
            </a:r>
          </a:p>
          <a:p>
            <a:endParaRPr lang="fr-CA" sz="2000" b="1" dirty="0">
              <a:solidFill>
                <a:schemeClr val="tx2"/>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Caractérisation: </a:t>
            </a:r>
          </a:p>
          <a:p>
            <a:pPr marL="800100" lvl="1" indent="-342900">
              <a:buFont typeface="Wingdings" panose="05000000000000000000" pitchFamily="2" charset="2"/>
              <a:buChar char="ü"/>
            </a:pPr>
            <a:r>
              <a:rPr lang="fr-CA" sz="2000" b="1" dirty="0">
                <a:latin typeface="Times New Roman" panose="02020603050405020304" pitchFamily="18" charset="0"/>
                <a:cs typeface="Times New Roman" panose="02020603050405020304" pitchFamily="18" charset="0"/>
              </a:rPr>
              <a:t>Soluble dans l’eau</a:t>
            </a:r>
          </a:p>
          <a:p>
            <a:pPr marL="800100" lvl="1" indent="-342900">
              <a:buFont typeface="Wingdings" panose="05000000000000000000" pitchFamily="2" charset="2"/>
              <a:buChar char="ü"/>
            </a:pPr>
            <a:r>
              <a:rPr lang="fr-CA" sz="2000" b="1" dirty="0">
                <a:latin typeface="Times New Roman" panose="02020603050405020304" pitchFamily="18" charset="0"/>
                <a:cs typeface="Times New Roman" panose="02020603050405020304" pitchFamily="18" charset="0"/>
              </a:rPr>
              <a:t>Avec l’iode = </a:t>
            </a:r>
            <a:r>
              <a:rPr lang="en-US" sz="2000" b="1" dirty="0">
                <a:latin typeface="Times New Roman" panose="02020603050405020304" pitchFamily="18" charset="0"/>
                <a:cs typeface="Times New Roman" panose="02020603050405020304" pitchFamily="18" charset="0"/>
              </a:rPr>
              <a:t>&gt;  coloration </a:t>
            </a:r>
            <a:r>
              <a:rPr lang="en-US" sz="2000" b="1" dirty="0" err="1">
                <a:latin typeface="Times New Roman" panose="02020603050405020304" pitchFamily="18" charset="0"/>
                <a:cs typeface="Times New Roman" panose="02020603050405020304" pitchFamily="18" charset="0"/>
              </a:rPr>
              <a:t>brun</a:t>
            </a:r>
            <a:r>
              <a:rPr lang="en-US" sz="2000" b="1" dirty="0">
                <a:latin typeface="Times New Roman" panose="02020603050405020304" pitchFamily="18" charset="0"/>
                <a:cs typeface="Times New Roman" panose="02020603050405020304" pitchFamily="18" charset="0"/>
              </a:rPr>
              <a:t>-acajou</a:t>
            </a:r>
          </a:p>
          <a:p>
            <a:pPr marL="800100" lvl="1"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Non </a:t>
            </a:r>
            <a:r>
              <a:rPr lang="fr-FR" sz="2000" b="1" dirty="0">
                <a:latin typeface="Times New Roman" panose="02020603050405020304" pitchFamily="18" charset="0"/>
                <a:cs typeface="Times New Roman" panose="02020603050405020304" pitchFamily="18" charset="0"/>
              </a:rPr>
              <a:t>réducteur</a:t>
            </a:r>
          </a:p>
          <a:p>
            <a:pPr marL="800100" lvl="1" indent="-342900">
              <a:buFont typeface="Wingdings" panose="05000000000000000000" pitchFamily="2" charset="2"/>
              <a:buChar char="ü"/>
            </a:pPr>
            <a:r>
              <a:rPr lang="en-US" sz="2000" b="1" dirty="0" err="1">
                <a:latin typeface="Times New Roman" panose="02020603050405020304" pitchFamily="18" charset="0"/>
                <a:cs typeface="Times New Roman" panose="02020603050405020304" pitchFamily="18" charset="0"/>
              </a:rPr>
              <a:t>Dégradé</a:t>
            </a:r>
            <a:r>
              <a:rPr lang="en-US" sz="2000" b="1" dirty="0">
                <a:latin typeface="Times New Roman" panose="02020603050405020304" pitchFamily="18" charset="0"/>
                <a:cs typeface="Times New Roman" panose="02020603050405020304" pitchFamily="18" charset="0"/>
              </a:rPr>
              <a:t> par </a:t>
            </a:r>
            <a:r>
              <a:rPr lang="en-US" sz="2000" b="1" dirty="0" err="1">
                <a:latin typeface="Times New Roman" panose="02020603050405020304" pitchFamily="18" charset="0"/>
                <a:cs typeface="Times New Roman" panose="02020603050405020304" pitchFamily="18" charset="0"/>
              </a:rPr>
              <a:t>l’amylase</a:t>
            </a:r>
            <a:r>
              <a:rPr lang="en-US" sz="2000" b="1" dirty="0">
                <a:latin typeface="Times New Roman" panose="02020603050405020304" pitchFamily="18" charset="0"/>
                <a:cs typeface="Times New Roman" panose="02020603050405020304" pitchFamily="18" charset="0"/>
              </a:rPr>
              <a:t> </a:t>
            </a:r>
          </a:p>
          <a:p>
            <a:pPr marL="800100" lvl="1" indent="-342900">
              <a:buFont typeface="Wingdings" panose="05000000000000000000" pitchFamily="2" charset="2"/>
              <a:buChar char="ü"/>
            </a:pP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Lo</a:t>
            </a:r>
            <a:r>
              <a:rPr lang="fr-CA" sz="2000" b="1" dirty="0" err="1">
                <a:latin typeface="Times New Roman" panose="02020603050405020304" pitchFamily="18" charset="0"/>
                <a:cs typeface="Times New Roman" panose="02020603050405020304" pitchFamily="18" charset="0"/>
              </a:rPr>
              <a:t>calisation</a:t>
            </a:r>
            <a:r>
              <a:rPr lang="fr-CA" sz="2000" b="1" dirty="0">
                <a:latin typeface="Times New Roman" panose="02020603050405020304" pitchFamily="18" charset="0"/>
                <a:cs typeface="Times New Roman" panose="02020603050405020304" pitchFamily="18" charset="0"/>
              </a:rPr>
              <a:t>:</a:t>
            </a:r>
          </a:p>
          <a:p>
            <a:r>
              <a:rPr lang="fr-CA" sz="2000" b="1" dirty="0">
                <a:latin typeface="Times New Roman" panose="02020603050405020304" pitchFamily="18" charset="0"/>
                <a:cs typeface="Times New Roman" panose="02020603050405020304" pitchFamily="18" charset="0"/>
              </a:rPr>
              <a:t>Foie et muscle sous forme des granules métaboliquement actives</a:t>
            </a: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p:txBody>
      </p:sp>
      <p:pic>
        <p:nvPicPr>
          <p:cNvPr id="12" name="Image 11">
            <a:extLst>
              <a:ext uri="{FF2B5EF4-FFF2-40B4-BE49-F238E27FC236}">
                <a16:creationId xmlns:a16="http://schemas.microsoft.com/office/drawing/2014/main" id="{E3C2374B-A7DA-42EB-8603-F1C437FE6C7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71505" y="2774016"/>
            <a:ext cx="3340200" cy="2560723"/>
          </a:xfrm>
          <a:prstGeom prst="rect">
            <a:avLst/>
          </a:prstGeom>
          <a:noFill/>
          <a:ln>
            <a:noFill/>
          </a:ln>
        </p:spPr>
      </p:pic>
    </p:spTree>
    <p:extLst>
      <p:ext uri="{BB962C8B-B14F-4D97-AF65-F5344CB8AC3E}">
        <p14:creationId xmlns:p14="http://schemas.microsoft.com/office/powerpoint/2010/main" val="98688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41336"/>
            <a:ext cx="8621856" cy="3785652"/>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	Polyholosides homogènes de réserves: glucosanes et </a:t>
            </a:r>
            <a:r>
              <a:rPr lang="fr-CA" sz="2000" b="1" dirty="0" err="1">
                <a:solidFill>
                  <a:srgbClr val="FF0000"/>
                </a:solidFill>
                <a:latin typeface="Times New Roman" panose="02020603050405020304" pitchFamily="18" charset="0"/>
                <a:cs typeface="Times New Roman" panose="02020603050405020304" pitchFamily="18" charset="0"/>
              </a:rPr>
              <a:t>fructosanes</a:t>
            </a:r>
            <a:r>
              <a:rPr lang="fr-CA" sz="2000" b="1" dirty="0">
                <a:solidFill>
                  <a:srgbClr val="FF0000"/>
                </a:solidFill>
                <a:latin typeface="Times New Roman" panose="02020603050405020304" pitchFamily="18" charset="0"/>
                <a:cs typeface="Times New Roman" panose="02020603050405020304" pitchFamily="18" charset="0"/>
              </a:rPr>
              <a:t> </a:t>
            </a:r>
          </a:p>
          <a:p>
            <a:endParaRPr lang="fr-CA" sz="2000" b="1" dirty="0">
              <a:solidFill>
                <a:srgbClr val="FF0000"/>
              </a:solidFill>
              <a:latin typeface="Times New Roman" panose="02020603050405020304" pitchFamily="18" charset="0"/>
              <a:cs typeface="Times New Roman" panose="02020603050405020304" pitchFamily="18" charset="0"/>
            </a:endParaRPr>
          </a:p>
          <a:p>
            <a:pPr marL="2628900" lvl="5" indent="-342900">
              <a:buFont typeface="Wingdings" panose="05000000000000000000" pitchFamily="2" charset="2"/>
              <a:buChar char="q"/>
            </a:pPr>
            <a:r>
              <a:rPr lang="fr-CA" sz="2000" b="1" dirty="0">
                <a:solidFill>
                  <a:schemeClr val="tx2"/>
                </a:solidFill>
                <a:latin typeface="Times New Roman" panose="02020603050405020304" pitchFamily="18" charset="0"/>
                <a:cs typeface="Times New Roman" panose="02020603050405020304" pitchFamily="18" charset="0"/>
              </a:rPr>
              <a:t>L’amidon  </a:t>
            </a:r>
          </a:p>
          <a:p>
            <a:endParaRPr lang="fr-CA" sz="2000" b="1" dirty="0">
              <a:solidFill>
                <a:schemeClr val="tx2"/>
              </a:solidFill>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l’amidon est un mélange de deux homopolysaccharides :</a:t>
            </a: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p:txBody>
      </p:sp>
      <p:sp>
        <p:nvSpPr>
          <p:cNvPr id="15" name="Forme libre : forme 14">
            <a:extLst>
              <a:ext uri="{FF2B5EF4-FFF2-40B4-BE49-F238E27FC236}">
                <a16:creationId xmlns:a16="http://schemas.microsoft.com/office/drawing/2014/main" id="{A6BC16BE-4209-482D-86BC-00838072652E}"/>
              </a:ext>
            </a:extLst>
          </p:cNvPr>
          <p:cNvSpPr/>
          <p:nvPr/>
        </p:nvSpPr>
        <p:spPr>
          <a:xfrm>
            <a:off x="1948095" y="4254460"/>
            <a:ext cx="6585429" cy="900788"/>
          </a:xfrm>
          <a:custGeom>
            <a:avLst/>
            <a:gdLst>
              <a:gd name="connsiteX0" fmla="*/ 150134 w 900787"/>
              <a:gd name="connsiteY0" fmla="*/ 0 h 6585428"/>
              <a:gd name="connsiteX1" fmla="*/ 750653 w 900787"/>
              <a:gd name="connsiteY1" fmla="*/ 0 h 6585428"/>
              <a:gd name="connsiteX2" fmla="*/ 900787 w 900787"/>
              <a:gd name="connsiteY2" fmla="*/ 150134 h 6585428"/>
              <a:gd name="connsiteX3" fmla="*/ 900787 w 900787"/>
              <a:gd name="connsiteY3" fmla="*/ 6585428 h 6585428"/>
              <a:gd name="connsiteX4" fmla="*/ 900787 w 900787"/>
              <a:gd name="connsiteY4" fmla="*/ 6585428 h 6585428"/>
              <a:gd name="connsiteX5" fmla="*/ 0 w 900787"/>
              <a:gd name="connsiteY5" fmla="*/ 6585428 h 6585428"/>
              <a:gd name="connsiteX6" fmla="*/ 0 w 900787"/>
              <a:gd name="connsiteY6" fmla="*/ 6585428 h 6585428"/>
              <a:gd name="connsiteX7" fmla="*/ 0 w 900787"/>
              <a:gd name="connsiteY7" fmla="*/ 150134 h 6585428"/>
              <a:gd name="connsiteX8" fmla="*/ 150134 w 900787"/>
              <a:gd name="connsiteY8" fmla="*/ 0 h 658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0787" h="6585428">
                <a:moveTo>
                  <a:pt x="900787" y="1097594"/>
                </a:moveTo>
                <a:lnTo>
                  <a:pt x="900787" y="5487834"/>
                </a:lnTo>
                <a:cubicBezTo>
                  <a:pt x="900787" y="6094018"/>
                  <a:pt x="891593" y="6585424"/>
                  <a:pt x="880251" y="6585424"/>
                </a:cubicBezTo>
                <a:lnTo>
                  <a:pt x="0" y="6585424"/>
                </a:lnTo>
                <a:lnTo>
                  <a:pt x="0" y="6585424"/>
                </a:lnTo>
                <a:lnTo>
                  <a:pt x="0" y="4"/>
                </a:lnTo>
                <a:lnTo>
                  <a:pt x="0" y="4"/>
                </a:lnTo>
                <a:lnTo>
                  <a:pt x="880251" y="4"/>
                </a:lnTo>
                <a:cubicBezTo>
                  <a:pt x="891593" y="4"/>
                  <a:pt x="900787" y="491410"/>
                  <a:pt x="900787" y="10975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8581" tIns="78263" rIns="112553" bIns="78264" numCol="1" spcCol="1270" anchor="ctr" anchorCtr="0">
            <a:noAutofit/>
          </a:bodyPr>
          <a:lstStyle/>
          <a:p>
            <a:pPr marL="171450" lvl="1" indent="-171450" algn="l" defTabSz="800100">
              <a:lnSpc>
                <a:spcPct val="90000"/>
              </a:lnSpc>
              <a:spcBef>
                <a:spcPct val="0"/>
              </a:spcBef>
              <a:spcAft>
                <a:spcPct val="15000"/>
              </a:spcAft>
              <a:buChar char="•"/>
            </a:pPr>
            <a:r>
              <a:rPr lang="fr-CA" sz="1800" b="1" kern="1200" dirty="0"/>
              <a:t>linéaire </a:t>
            </a:r>
          </a:p>
          <a:p>
            <a:pPr marL="171450" lvl="1" indent="-171450" algn="l" defTabSz="800100">
              <a:lnSpc>
                <a:spcPct val="90000"/>
              </a:lnSpc>
              <a:spcBef>
                <a:spcPct val="0"/>
              </a:spcBef>
              <a:spcAft>
                <a:spcPct val="15000"/>
              </a:spcAft>
              <a:buChar char="•"/>
            </a:pPr>
            <a:r>
              <a:rPr lang="fr-CA" sz="1800" b="1" kern="1200" dirty="0"/>
              <a:t>unités D-glucose (n &gt; 1000) </a:t>
            </a:r>
          </a:p>
          <a:p>
            <a:pPr marL="171450" lvl="1" indent="-171450" algn="l" defTabSz="800100">
              <a:lnSpc>
                <a:spcPct val="90000"/>
              </a:lnSpc>
              <a:spcBef>
                <a:spcPct val="0"/>
              </a:spcBef>
              <a:spcAft>
                <a:spcPct val="15000"/>
              </a:spcAft>
              <a:buChar char="•"/>
            </a:pPr>
            <a:r>
              <a:rPr lang="fr-CA" sz="1800" b="1" kern="1200" dirty="0"/>
              <a:t>liaisons O-glycosidiques (α 1-&gt; 4), </a:t>
            </a:r>
            <a:endParaRPr lang="fr-DZ" sz="1800" kern="1200" dirty="0"/>
          </a:p>
        </p:txBody>
      </p:sp>
      <p:sp>
        <p:nvSpPr>
          <p:cNvPr id="16" name="Forme libre : forme 15">
            <a:extLst>
              <a:ext uri="{FF2B5EF4-FFF2-40B4-BE49-F238E27FC236}">
                <a16:creationId xmlns:a16="http://schemas.microsoft.com/office/drawing/2014/main" id="{D38CE61A-57AA-4E21-BE26-6CAA0B767B73}"/>
              </a:ext>
            </a:extLst>
          </p:cNvPr>
          <p:cNvSpPr/>
          <p:nvPr/>
        </p:nvSpPr>
        <p:spPr>
          <a:xfrm>
            <a:off x="65814" y="4141861"/>
            <a:ext cx="1882281" cy="1125984"/>
          </a:xfrm>
          <a:custGeom>
            <a:avLst/>
            <a:gdLst>
              <a:gd name="connsiteX0" fmla="*/ 0 w 1882281"/>
              <a:gd name="connsiteY0" fmla="*/ 187668 h 1125984"/>
              <a:gd name="connsiteX1" fmla="*/ 187668 w 1882281"/>
              <a:gd name="connsiteY1" fmla="*/ 0 h 1125984"/>
              <a:gd name="connsiteX2" fmla="*/ 1694613 w 1882281"/>
              <a:gd name="connsiteY2" fmla="*/ 0 h 1125984"/>
              <a:gd name="connsiteX3" fmla="*/ 1882281 w 1882281"/>
              <a:gd name="connsiteY3" fmla="*/ 187668 h 1125984"/>
              <a:gd name="connsiteX4" fmla="*/ 1882281 w 1882281"/>
              <a:gd name="connsiteY4" fmla="*/ 938316 h 1125984"/>
              <a:gd name="connsiteX5" fmla="*/ 1694613 w 1882281"/>
              <a:gd name="connsiteY5" fmla="*/ 1125984 h 1125984"/>
              <a:gd name="connsiteX6" fmla="*/ 187668 w 1882281"/>
              <a:gd name="connsiteY6" fmla="*/ 1125984 h 1125984"/>
              <a:gd name="connsiteX7" fmla="*/ 0 w 1882281"/>
              <a:gd name="connsiteY7" fmla="*/ 938316 h 1125984"/>
              <a:gd name="connsiteX8" fmla="*/ 0 w 1882281"/>
              <a:gd name="connsiteY8" fmla="*/ 187668 h 1125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2281" h="1125984">
                <a:moveTo>
                  <a:pt x="0" y="187668"/>
                </a:moveTo>
                <a:cubicBezTo>
                  <a:pt x="0" y="84022"/>
                  <a:pt x="84022" y="0"/>
                  <a:pt x="187668" y="0"/>
                </a:cubicBezTo>
                <a:lnTo>
                  <a:pt x="1694613" y="0"/>
                </a:lnTo>
                <a:cubicBezTo>
                  <a:pt x="1798259" y="0"/>
                  <a:pt x="1882281" y="84022"/>
                  <a:pt x="1882281" y="187668"/>
                </a:cubicBezTo>
                <a:lnTo>
                  <a:pt x="1882281" y="938316"/>
                </a:lnTo>
                <a:cubicBezTo>
                  <a:pt x="1882281" y="1041962"/>
                  <a:pt x="1798259" y="1125984"/>
                  <a:pt x="1694613" y="1125984"/>
                </a:cubicBezTo>
                <a:lnTo>
                  <a:pt x="187668" y="1125984"/>
                </a:lnTo>
                <a:cubicBezTo>
                  <a:pt x="84022" y="1125984"/>
                  <a:pt x="0" y="1041962"/>
                  <a:pt x="0" y="938316"/>
                </a:cubicBezTo>
                <a:lnTo>
                  <a:pt x="0" y="18766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356" tIns="91161" rIns="127356" bIns="91161" numCol="1" spcCol="1270" anchor="ctr" anchorCtr="0">
            <a:noAutofit/>
          </a:bodyPr>
          <a:lstStyle/>
          <a:p>
            <a:pPr marL="0" lvl="0" indent="0" algn="ctr" defTabSz="844550">
              <a:lnSpc>
                <a:spcPct val="90000"/>
              </a:lnSpc>
              <a:spcBef>
                <a:spcPct val="0"/>
              </a:spcBef>
              <a:spcAft>
                <a:spcPct val="35000"/>
              </a:spcAft>
              <a:buNone/>
            </a:pPr>
            <a:r>
              <a:rPr lang="fr-CA" sz="1900" b="1" kern="1200" dirty="0"/>
              <a:t>L’amylose </a:t>
            </a:r>
            <a:endParaRPr lang="fr-DZ" sz="1900" kern="1200" dirty="0"/>
          </a:p>
        </p:txBody>
      </p:sp>
      <p:sp>
        <p:nvSpPr>
          <p:cNvPr id="17" name="Forme libre : forme 16">
            <a:extLst>
              <a:ext uri="{FF2B5EF4-FFF2-40B4-BE49-F238E27FC236}">
                <a16:creationId xmlns:a16="http://schemas.microsoft.com/office/drawing/2014/main" id="{4E0FD7FF-B42E-4B14-B41A-80A13BF36CA1}"/>
              </a:ext>
            </a:extLst>
          </p:cNvPr>
          <p:cNvSpPr/>
          <p:nvPr/>
        </p:nvSpPr>
        <p:spPr>
          <a:xfrm>
            <a:off x="1973174" y="5436743"/>
            <a:ext cx="6770629" cy="900788"/>
          </a:xfrm>
          <a:custGeom>
            <a:avLst/>
            <a:gdLst>
              <a:gd name="connsiteX0" fmla="*/ 150134 w 900787"/>
              <a:gd name="connsiteY0" fmla="*/ 0 h 6770628"/>
              <a:gd name="connsiteX1" fmla="*/ 750653 w 900787"/>
              <a:gd name="connsiteY1" fmla="*/ 0 h 6770628"/>
              <a:gd name="connsiteX2" fmla="*/ 900787 w 900787"/>
              <a:gd name="connsiteY2" fmla="*/ 150134 h 6770628"/>
              <a:gd name="connsiteX3" fmla="*/ 900787 w 900787"/>
              <a:gd name="connsiteY3" fmla="*/ 6770628 h 6770628"/>
              <a:gd name="connsiteX4" fmla="*/ 900787 w 900787"/>
              <a:gd name="connsiteY4" fmla="*/ 6770628 h 6770628"/>
              <a:gd name="connsiteX5" fmla="*/ 0 w 900787"/>
              <a:gd name="connsiteY5" fmla="*/ 6770628 h 6770628"/>
              <a:gd name="connsiteX6" fmla="*/ 0 w 900787"/>
              <a:gd name="connsiteY6" fmla="*/ 6770628 h 6770628"/>
              <a:gd name="connsiteX7" fmla="*/ 0 w 900787"/>
              <a:gd name="connsiteY7" fmla="*/ 150134 h 6770628"/>
              <a:gd name="connsiteX8" fmla="*/ 150134 w 900787"/>
              <a:gd name="connsiteY8" fmla="*/ 0 h 67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0787" h="6770628">
                <a:moveTo>
                  <a:pt x="900787" y="1128462"/>
                </a:moveTo>
                <a:lnTo>
                  <a:pt x="900787" y="5642166"/>
                </a:lnTo>
                <a:cubicBezTo>
                  <a:pt x="900787" y="6265398"/>
                  <a:pt x="891844" y="6770624"/>
                  <a:pt x="880813" y="6770624"/>
                </a:cubicBezTo>
                <a:lnTo>
                  <a:pt x="0" y="6770624"/>
                </a:lnTo>
                <a:lnTo>
                  <a:pt x="0" y="6770624"/>
                </a:lnTo>
                <a:lnTo>
                  <a:pt x="0" y="4"/>
                </a:lnTo>
                <a:lnTo>
                  <a:pt x="0" y="4"/>
                </a:lnTo>
                <a:lnTo>
                  <a:pt x="880813" y="4"/>
                </a:lnTo>
                <a:cubicBezTo>
                  <a:pt x="891844" y="4"/>
                  <a:pt x="900787" y="505230"/>
                  <a:pt x="900787" y="1128462"/>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8581" tIns="78263" rIns="112553" bIns="78264" numCol="1" spcCol="1270" anchor="ctr" anchorCtr="0">
            <a:noAutofit/>
          </a:bodyPr>
          <a:lstStyle/>
          <a:p>
            <a:pPr marL="171450" lvl="1" indent="-171450" algn="l" defTabSz="800100">
              <a:lnSpc>
                <a:spcPct val="90000"/>
              </a:lnSpc>
              <a:spcBef>
                <a:spcPct val="0"/>
              </a:spcBef>
              <a:spcAft>
                <a:spcPct val="15000"/>
              </a:spcAft>
              <a:buChar char="•"/>
            </a:pPr>
            <a:r>
              <a:rPr lang="fr-CA" sz="1800" b="1" kern="1200" dirty="0"/>
              <a:t>ramifié de structure arborescente comparable à celle de glycogène. Au nombre d’unités (n &gt; 10 000) </a:t>
            </a:r>
          </a:p>
          <a:p>
            <a:pPr marL="171450" lvl="1" indent="-171450" algn="l" defTabSz="800100">
              <a:lnSpc>
                <a:spcPct val="90000"/>
              </a:lnSpc>
              <a:spcBef>
                <a:spcPct val="0"/>
              </a:spcBef>
              <a:spcAft>
                <a:spcPct val="15000"/>
              </a:spcAft>
              <a:buChar char="•"/>
            </a:pPr>
            <a:r>
              <a:rPr lang="fr-CA" sz="1800" b="1" kern="1200" dirty="0"/>
              <a:t>(en moyenne un branchement toutes les 20 unités). </a:t>
            </a:r>
            <a:endParaRPr lang="fr-DZ" sz="1800" kern="1200" dirty="0"/>
          </a:p>
        </p:txBody>
      </p:sp>
      <p:sp>
        <p:nvSpPr>
          <p:cNvPr id="18" name="Forme libre : forme 17">
            <a:extLst>
              <a:ext uri="{FF2B5EF4-FFF2-40B4-BE49-F238E27FC236}">
                <a16:creationId xmlns:a16="http://schemas.microsoft.com/office/drawing/2014/main" id="{62F312B0-6ABF-4489-B11B-9177A2A00812}"/>
              </a:ext>
            </a:extLst>
          </p:cNvPr>
          <p:cNvSpPr/>
          <p:nvPr/>
        </p:nvSpPr>
        <p:spPr>
          <a:xfrm>
            <a:off x="65814" y="5324144"/>
            <a:ext cx="1907361" cy="1125984"/>
          </a:xfrm>
          <a:custGeom>
            <a:avLst/>
            <a:gdLst>
              <a:gd name="connsiteX0" fmla="*/ 0 w 1907361"/>
              <a:gd name="connsiteY0" fmla="*/ 187668 h 1125984"/>
              <a:gd name="connsiteX1" fmla="*/ 187668 w 1907361"/>
              <a:gd name="connsiteY1" fmla="*/ 0 h 1125984"/>
              <a:gd name="connsiteX2" fmla="*/ 1719693 w 1907361"/>
              <a:gd name="connsiteY2" fmla="*/ 0 h 1125984"/>
              <a:gd name="connsiteX3" fmla="*/ 1907361 w 1907361"/>
              <a:gd name="connsiteY3" fmla="*/ 187668 h 1125984"/>
              <a:gd name="connsiteX4" fmla="*/ 1907361 w 1907361"/>
              <a:gd name="connsiteY4" fmla="*/ 938316 h 1125984"/>
              <a:gd name="connsiteX5" fmla="*/ 1719693 w 1907361"/>
              <a:gd name="connsiteY5" fmla="*/ 1125984 h 1125984"/>
              <a:gd name="connsiteX6" fmla="*/ 187668 w 1907361"/>
              <a:gd name="connsiteY6" fmla="*/ 1125984 h 1125984"/>
              <a:gd name="connsiteX7" fmla="*/ 0 w 1907361"/>
              <a:gd name="connsiteY7" fmla="*/ 938316 h 1125984"/>
              <a:gd name="connsiteX8" fmla="*/ 0 w 1907361"/>
              <a:gd name="connsiteY8" fmla="*/ 187668 h 1125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361" h="1125984">
                <a:moveTo>
                  <a:pt x="0" y="187668"/>
                </a:moveTo>
                <a:cubicBezTo>
                  <a:pt x="0" y="84022"/>
                  <a:pt x="84022" y="0"/>
                  <a:pt x="187668" y="0"/>
                </a:cubicBezTo>
                <a:lnTo>
                  <a:pt x="1719693" y="0"/>
                </a:lnTo>
                <a:cubicBezTo>
                  <a:pt x="1823339" y="0"/>
                  <a:pt x="1907361" y="84022"/>
                  <a:pt x="1907361" y="187668"/>
                </a:cubicBezTo>
                <a:lnTo>
                  <a:pt x="1907361" y="938316"/>
                </a:lnTo>
                <a:cubicBezTo>
                  <a:pt x="1907361" y="1041962"/>
                  <a:pt x="1823339" y="1125984"/>
                  <a:pt x="1719693" y="1125984"/>
                </a:cubicBezTo>
                <a:lnTo>
                  <a:pt x="187668" y="1125984"/>
                </a:lnTo>
                <a:cubicBezTo>
                  <a:pt x="84022" y="1125984"/>
                  <a:pt x="0" y="1041962"/>
                  <a:pt x="0" y="938316"/>
                </a:cubicBezTo>
                <a:lnTo>
                  <a:pt x="0" y="18766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356" tIns="91161" rIns="127356" bIns="91161" numCol="1" spcCol="1270" anchor="ctr" anchorCtr="0">
            <a:noAutofit/>
          </a:bodyPr>
          <a:lstStyle/>
          <a:p>
            <a:pPr marL="0" lvl="0" indent="0" algn="ctr" defTabSz="844550">
              <a:lnSpc>
                <a:spcPct val="90000"/>
              </a:lnSpc>
              <a:spcBef>
                <a:spcPct val="0"/>
              </a:spcBef>
              <a:spcAft>
                <a:spcPct val="35000"/>
              </a:spcAft>
              <a:buNone/>
            </a:pPr>
            <a:r>
              <a:rPr lang="fr-CA" sz="1900" b="1" kern="1200" dirty="0"/>
              <a:t>L’amylopectine </a:t>
            </a:r>
            <a:endParaRPr lang="fr-DZ" sz="1900" kern="1200" dirty="0"/>
          </a:p>
        </p:txBody>
      </p:sp>
    </p:spTree>
    <p:extLst>
      <p:ext uri="{BB962C8B-B14F-4D97-AF65-F5344CB8AC3E}">
        <p14:creationId xmlns:p14="http://schemas.microsoft.com/office/powerpoint/2010/main" val="134619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arn(inVertical)">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pic>
        <p:nvPicPr>
          <p:cNvPr id="2" name="Image 1">
            <a:extLst>
              <a:ext uri="{FF2B5EF4-FFF2-40B4-BE49-F238E27FC236}">
                <a16:creationId xmlns:a16="http://schemas.microsoft.com/office/drawing/2014/main" id="{D4D566EB-4AD0-41BA-A5BC-D48D82C453D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588892" y="2278524"/>
            <a:ext cx="7827744" cy="4171633"/>
          </a:xfrm>
          <a:prstGeom prst="rect">
            <a:avLst/>
          </a:prstGeom>
        </p:spPr>
      </p:pic>
      <p:sp>
        <p:nvSpPr>
          <p:cNvPr id="3" name="Rectangle 2">
            <a:extLst>
              <a:ext uri="{FF2B5EF4-FFF2-40B4-BE49-F238E27FC236}">
                <a16:creationId xmlns:a16="http://schemas.microsoft.com/office/drawing/2014/main" id="{0DD95F9E-1EE7-48F3-939D-56F2268D8C6F}"/>
              </a:ext>
            </a:extLst>
          </p:cNvPr>
          <p:cNvSpPr/>
          <p:nvPr/>
        </p:nvSpPr>
        <p:spPr>
          <a:xfrm>
            <a:off x="2951018" y="2566555"/>
            <a:ext cx="789709" cy="6338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02456426-032F-4BC1-8D1D-B6520B50931D}"/>
              </a:ext>
            </a:extLst>
          </p:cNvPr>
          <p:cNvSpPr/>
          <p:nvPr/>
        </p:nvSpPr>
        <p:spPr>
          <a:xfrm>
            <a:off x="2680855" y="3869137"/>
            <a:ext cx="665017" cy="12458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2844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41336"/>
            <a:ext cx="8621856" cy="5324535"/>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1- Polyholosides homogènes</a:t>
            </a:r>
          </a:p>
          <a:p>
            <a:r>
              <a:rPr lang="fr-CA" sz="2000" b="1" dirty="0">
                <a:solidFill>
                  <a:srgbClr val="FF0000"/>
                </a:solidFill>
                <a:latin typeface="Times New Roman" panose="02020603050405020304" pitchFamily="18" charset="0"/>
                <a:cs typeface="Times New Roman" panose="02020603050405020304" pitchFamily="18" charset="0"/>
              </a:rPr>
              <a:t>Polyholosides homogènes de structure:</a:t>
            </a:r>
          </a:p>
          <a:p>
            <a:endParaRPr lang="fr-CA" sz="2000" b="1" dirty="0">
              <a:solidFill>
                <a:srgbClr val="FF0000"/>
              </a:solidFill>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q"/>
            </a:pPr>
            <a:r>
              <a:rPr lang="fr-CA" sz="2000" b="1" dirty="0">
                <a:solidFill>
                  <a:schemeClr val="tx2"/>
                </a:solidFill>
                <a:latin typeface="Times New Roman" panose="02020603050405020304" pitchFamily="18" charset="0"/>
                <a:cs typeface="Times New Roman" panose="02020603050405020304" pitchFamily="18" charset="0"/>
              </a:rPr>
              <a:t>La cellulose :  </a:t>
            </a:r>
          </a:p>
          <a:p>
            <a:r>
              <a:rPr lang="fr-CA" sz="2000" b="1" dirty="0">
                <a:latin typeface="Times New Roman" panose="02020603050405020304" pitchFamily="18" charset="0"/>
                <a:cs typeface="Times New Roman" panose="02020603050405020304" pitchFamily="18" charset="0"/>
              </a:rPr>
              <a:t>La cellulose est une homopolysaccharide linéaire formé par la condensation de plus de 10 000 unités de D-glucose par des liaisons (β 1 -&gt; 4).</a:t>
            </a:r>
          </a:p>
          <a:p>
            <a:r>
              <a:rPr lang="fr-CA" sz="2000" b="1" dirty="0">
                <a:latin typeface="Times New Roman" panose="02020603050405020304" pitchFamily="18" charset="0"/>
                <a:cs typeface="Times New Roman" panose="02020603050405020304" pitchFamily="18" charset="0"/>
              </a:rPr>
              <a:t>Ces macromolécules s’organisent en complexes fibrillaires rigides stabilisés par des liaisons H.</a:t>
            </a:r>
          </a:p>
          <a:p>
            <a:endParaRPr lang="fr-CA" sz="2000" b="1" dirty="0">
              <a:latin typeface="Times New Roman" panose="02020603050405020304" pitchFamily="18" charset="0"/>
              <a:cs typeface="Times New Roman" panose="02020603050405020304" pitchFamily="18" charset="0"/>
            </a:endParaRPr>
          </a:p>
          <a:p>
            <a:r>
              <a:rPr lang="fr-CA" sz="2000" dirty="0">
                <a:latin typeface="Times New Roman" panose="02020603050405020304" pitchFamily="18" charset="0"/>
                <a:cs typeface="Times New Roman" panose="02020603050405020304" pitchFamily="18" charset="0"/>
              </a:rPr>
              <a:t> </a:t>
            </a:r>
          </a:p>
          <a:p>
            <a:r>
              <a:rPr lang="fr-CA" sz="2000" b="1" dirty="0">
                <a:latin typeface="Times New Roman" panose="02020603050405020304" pitchFamily="18" charset="0"/>
                <a:cs typeface="Times New Roman" panose="02020603050405020304" pitchFamily="18" charset="0"/>
              </a:rPr>
              <a:t>L’homme est incapable de digérer la cellulose car il est dépourvu d’enzymes actifs sur les liaisons β-glycosidiques. </a:t>
            </a: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p:txBody>
      </p:sp>
      <p:pic>
        <p:nvPicPr>
          <p:cNvPr id="13" name="Image 12">
            <a:extLst>
              <a:ext uri="{FF2B5EF4-FFF2-40B4-BE49-F238E27FC236}">
                <a16:creationId xmlns:a16="http://schemas.microsoft.com/office/drawing/2014/main" id="{8CFA617A-7E78-4CD3-B613-A5279E0E0182}"/>
              </a:ext>
            </a:extLst>
          </p:cNvPr>
          <p:cNvPicPr>
            <a:picLocks noChangeAspect="1"/>
          </p:cNvPicPr>
          <p:nvPr/>
        </p:nvPicPr>
        <p:blipFill>
          <a:blip r:embed="rId5"/>
          <a:stretch>
            <a:fillRect/>
          </a:stretch>
        </p:blipFill>
        <p:spPr>
          <a:xfrm>
            <a:off x="1163784" y="1940169"/>
            <a:ext cx="6515098" cy="4518203"/>
          </a:xfrm>
          <a:prstGeom prst="rect">
            <a:avLst/>
          </a:prstGeom>
        </p:spPr>
      </p:pic>
      <p:pic>
        <p:nvPicPr>
          <p:cNvPr id="2" name="Image 1">
            <a:extLst>
              <a:ext uri="{FF2B5EF4-FFF2-40B4-BE49-F238E27FC236}">
                <a16:creationId xmlns:a16="http://schemas.microsoft.com/office/drawing/2014/main" id="{B67903D6-3E79-4E0F-8ECD-52391CE1C1AF}"/>
              </a:ext>
            </a:extLst>
          </p:cNvPr>
          <p:cNvPicPr>
            <a:picLocks noChangeAspect="1"/>
          </p:cNvPicPr>
          <p:nvPr/>
        </p:nvPicPr>
        <p:blipFill>
          <a:blip r:embed="rId6"/>
          <a:stretch>
            <a:fillRect/>
          </a:stretch>
        </p:blipFill>
        <p:spPr>
          <a:xfrm>
            <a:off x="1049482" y="2223655"/>
            <a:ext cx="6930735" cy="4347137"/>
          </a:xfrm>
          <a:prstGeom prst="rect">
            <a:avLst/>
          </a:prstGeom>
        </p:spPr>
      </p:pic>
    </p:spTree>
    <p:extLst>
      <p:ext uri="{BB962C8B-B14F-4D97-AF65-F5344CB8AC3E}">
        <p14:creationId xmlns:p14="http://schemas.microsoft.com/office/powerpoint/2010/main" val="136508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425378" y="2081474"/>
            <a:ext cx="8911127" cy="45243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kumimoji="0" lang="fr-CA" sz="4800" b="1" i="0" u="none" strike="noStrike" kern="1200" cap="none" spc="0" normalizeH="0" baseline="0" noProof="0" dirty="0">
                <a:ln>
                  <a:noFill/>
                </a:ln>
                <a:solidFill>
                  <a:srgbClr val="2683C6">
                    <a:lumMod val="75000"/>
                  </a:srgbClr>
                </a:solidFill>
                <a:effectLst/>
                <a:uLnTx/>
                <a:uFillTx/>
                <a:latin typeface="Tw Cen MT" panose="020B0602020104020603"/>
                <a:ea typeface="+mn-ea"/>
                <a:cs typeface="+mn-cs"/>
              </a:rPr>
              <a:t>3.2) Les polyholosides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 Polyholosides 														hétérogènes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683117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3/ LES HOLOSIDES </a:t>
            </a:r>
          </a:p>
          <a:p>
            <a:pPr lvl="4">
              <a:defRPr/>
            </a:pP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3.2) Les </a:t>
            </a:r>
            <a:r>
              <a:rPr lang="fr-CA" sz="2400" b="1" dirty="0">
                <a:solidFill>
                  <a:schemeClr val="accent2">
                    <a:lumMod val="75000"/>
                  </a:schemeClr>
                </a:solidFill>
                <a:latin typeface="Tw Cen MT" panose="020B0602020104020603"/>
              </a:rPr>
              <a:t>polyholosides ou polysaccharides </a:t>
            </a:r>
            <a:r>
              <a:rPr kumimoji="0" lang="fr-CA" sz="2400" b="1" i="0" u="none" strike="noStrike" kern="1200" cap="none" spc="0" normalizeH="0" baseline="0" noProof="0" dirty="0">
                <a:ln>
                  <a:noFill/>
                </a:ln>
                <a:solidFill>
                  <a:schemeClr val="accent2">
                    <a:lumMod val="75000"/>
                  </a:schemeClr>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376671" y="2141336"/>
            <a:ext cx="8621856" cy="5016758"/>
          </a:xfrm>
          <a:prstGeom prst="rect">
            <a:avLst/>
          </a:prstGeom>
          <a:noFill/>
        </p:spPr>
        <p:txBody>
          <a:bodyPr wrap="square" rtlCol="0">
            <a:spAutoFit/>
          </a:bodyPr>
          <a:lstStyle/>
          <a:p>
            <a:r>
              <a:rPr lang="fr-CA" sz="2000" b="1" dirty="0">
                <a:solidFill>
                  <a:srgbClr val="FF0000"/>
                </a:solidFill>
                <a:latin typeface="Times New Roman" panose="02020603050405020304" pitchFamily="18" charset="0"/>
                <a:cs typeface="Times New Roman" panose="02020603050405020304" pitchFamily="18" charset="0"/>
              </a:rPr>
              <a:t>2- Polyholosides hétérogènes </a:t>
            </a:r>
          </a:p>
          <a:p>
            <a:r>
              <a:rPr lang="fr-CA" sz="2000" b="1" dirty="0">
                <a:solidFill>
                  <a:schemeClr val="tx2"/>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q"/>
            </a:pPr>
            <a:r>
              <a:rPr lang="fr-CA" sz="2000" b="1" dirty="0">
                <a:solidFill>
                  <a:srgbClr val="FF0000"/>
                </a:solidFill>
                <a:latin typeface="Times New Roman" panose="02020603050405020304" pitchFamily="18" charset="0"/>
                <a:cs typeface="Times New Roman" panose="02020603050405020304" pitchFamily="18" charset="0"/>
              </a:rPr>
              <a:t>Les gommes : </a:t>
            </a:r>
            <a:r>
              <a:rPr lang="fr-CA" sz="2000" b="1" dirty="0">
                <a:latin typeface="Times New Roman" panose="02020603050405020304" pitchFamily="18" charset="0"/>
                <a:cs typeface="Times New Roman" panose="02020603050405020304" pitchFamily="18" charset="0"/>
              </a:rPr>
              <a:t>partie hydrophile des sécrétions des gommiers comme les acacias, sont des </a:t>
            </a:r>
            <a:r>
              <a:rPr lang="fr-CA" sz="2000" b="1" dirty="0" err="1">
                <a:latin typeface="Times New Roman" panose="02020603050405020304" pitchFamily="18" charset="0"/>
                <a:cs typeface="Times New Roman" panose="02020603050405020304" pitchFamily="18" charset="0"/>
              </a:rPr>
              <a:t>galactoarabanes</a:t>
            </a:r>
            <a:r>
              <a:rPr lang="fr-CA" sz="2000" b="1" dirty="0">
                <a:latin typeface="Times New Roman" panose="02020603050405020304" pitchFamily="18" charset="0"/>
                <a:cs typeface="Times New Roman" panose="02020603050405020304" pitchFamily="18" charset="0"/>
              </a:rPr>
              <a:t> très ramifiés. :galactose, </a:t>
            </a:r>
            <a:r>
              <a:rPr lang="fr-CA" sz="2000" b="1" dirty="0" err="1">
                <a:latin typeface="Times New Roman" panose="02020603050405020304" pitchFamily="18" charset="0"/>
                <a:cs typeface="Times New Roman" panose="02020603050405020304" pitchFamily="18" charset="0"/>
              </a:rPr>
              <a:t>L-arabinose</a:t>
            </a:r>
            <a:r>
              <a:rPr lang="fr-CA" sz="2000" b="1" dirty="0">
                <a:latin typeface="Times New Roman" panose="02020603050405020304" pitchFamily="18" charset="0"/>
                <a:cs typeface="Times New Roman" panose="02020603050405020304" pitchFamily="18" charset="0"/>
              </a:rPr>
              <a:t>, L-rhamnose, et de l’acide glucuronique.</a:t>
            </a:r>
          </a:p>
          <a:p>
            <a:endParaRPr lang="fr-CA"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CA" sz="2000" b="1" dirty="0">
                <a:solidFill>
                  <a:srgbClr val="FF0000"/>
                </a:solidFill>
                <a:latin typeface="Times New Roman" panose="02020603050405020304" pitchFamily="18" charset="0"/>
                <a:cs typeface="Times New Roman" panose="02020603050405020304" pitchFamily="18" charset="0"/>
              </a:rPr>
              <a:t>L’</a:t>
            </a:r>
            <a:r>
              <a:rPr lang="fr-CA" sz="2000" b="1" dirty="0" err="1">
                <a:solidFill>
                  <a:srgbClr val="FF0000"/>
                </a:solidFill>
                <a:latin typeface="Times New Roman" panose="02020603050405020304" pitchFamily="18" charset="0"/>
                <a:cs typeface="Times New Roman" panose="02020603050405020304" pitchFamily="18" charset="0"/>
              </a:rPr>
              <a:t>agare-agare</a:t>
            </a:r>
            <a:r>
              <a:rPr lang="fr-CA" sz="2000" b="1" dirty="0">
                <a:solidFill>
                  <a:srgbClr val="FF0000"/>
                </a:solidFill>
                <a:latin typeface="Times New Roman" panose="02020603050405020304" pitchFamily="18" charset="0"/>
                <a:cs typeface="Times New Roman" panose="02020603050405020304" pitchFamily="18" charset="0"/>
              </a:rPr>
              <a:t> ou gélose : </a:t>
            </a:r>
            <a:r>
              <a:rPr lang="fr-CA" sz="2000" b="1" dirty="0">
                <a:latin typeface="Times New Roman" panose="02020603050405020304" pitchFamily="18" charset="0"/>
                <a:cs typeface="Times New Roman" panose="02020603050405020304" pitchFamily="18" charset="0"/>
              </a:rPr>
              <a:t>extrait d’algues rouges (polyoside complexe de D et L-galactose irrégulièrement sulfaté). Très utilisés en microbiologie pour la préparation de milieux de culture gélifiés. </a:t>
            </a:r>
          </a:p>
          <a:p>
            <a:endParaRPr lang="fr-CA" sz="2000" b="1" dirty="0">
              <a:latin typeface="Times New Roman" panose="02020603050405020304" pitchFamily="18" charset="0"/>
              <a:cs typeface="Times New Roman" panose="02020603050405020304" pitchFamily="18" charset="0"/>
            </a:endParaRPr>
          </a:p>
          <a:p>
            <a:endParaRPr lang="fr-CA" sz="2000" b="1" dirty="0">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a:p>
            <a:endParaRPr lang="fr-CA" sz="2000" b="1" dirty="0">
              <a:solidFill>
                <a:srgbClr val="FF0000"/>
              </a:solidFill>
              <a:latin typeface="Times New Roman" panose="02020603050405020304" pitchFamily="18" charset="0"/>
              <a:cs typeface="Times New Roman" panose="02020603050405020304" pitchFamily="18" charset="0"/>
            </a:endParaRPr>
          </a:p>
        </p:txBody>
      </p:sp>
      <p:pic>
        <p:nvPicPr>
          <p:cNvPr id="1026" name="Picture 2" descr="Gomme naturelle — Wikipédia">
            <a:extLst>
              <a:ext uri="{FF2B5EF4-FFF2-40B4-BE49-F238E27FC236}">
                <a16:creationId xmlns:a16="http://schemas.microsoft.com/office/drawing/2014/main" id="{AEA73660-4D69-47FB-B1AF-488B207B75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3022" y="2568625"/>
            <a:ext cx="3541922" cy="25125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cacia gommier, arbre ressource du Sahel - Le blog de Johanna Van MEEL">
            <a:extLst>
              <a:ext uri="{FF2B5EF4-FFF2-40B4-BE49-F238E27FC236}">
                <a16:creationId xmlns:a16="http://schemas.microsoft.com/office/drawing/2014/main" id="{B2CFF8DB-7991-407B-A3F4-5F79CEC2B3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964" y="2568625"/>
            <a:ext cx="3356342" cy="2472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967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par>
                                <p:cTn id="8" presetID="16" presetClass="entr" presetSubtype="21"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Effect transition="in" filter="barn(inVertical)">
                                      <p:cBhvr>
                                        <p:cTn id="10" dur="500"/>
                                        <p:tgtEl>
                                          <p:spTgt spid="102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712757" y="2779305"/>
            <a:ext cx="8911127" cy="230832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834977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287048" y="1609996"/>
            <a:ext cx="8964756" cy="1938992"/>
          </a:xfrm>
          <a:prstGeom prst="rect">
            <a:avLst/>
          </a:prstGeom>
          <a:noFill/>
        </p:spPr>
        <p:txBody>
          <a:bodyPr wrap="square" rtlCol="0">
            <a:spAutoFit/>
          </a:bodyPr>
          <a:lstStyle/>
          <a:p>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Ils résultent d’une liaison osidique entre :</a:t>
            </a:r>
          </a:p>
          <a:p>
            <a:pPr marL="800100" lvl="1" indent="-342900">
              <a:buFont typeface="Wingdings" panose="05000000000000000000" pitchFamily="2" charset="2"/>
              <a:buChar char="v"/>
            </a:pPr>
            <a:r>
              <a:rPr lang="fr-CA" sz="2000" b="1" dirty="0">
                <a:latin typeface="Times New Roman" panose="02020603050405020304" pitchFamily="18" charset="0"/>
                <a:cs typeface="Times New Roman" panose="02020603050405020304" pitchFamily="18" charset="0"/>
              </a:rPr>
              <a:t>La fonction hémiacétalique d’un ose ou d’un oside</a:t>
            </a:r>
          </a:p>
          <a:p>
            <a:pPr marL="800100" lvl="1" indent="-342900">
              <a:buFont typeface="Wingdings" panose="05000000000000000000" pitchFamily="2" charset="2"/>
              <a:buChar char="v"/>
            </a:pPr>
            <a:r>
              <a:rPr lang="fr-CA" sz="2000" b="1" dirty="0">
                <a:latin typeface="Times New Roman" panose="02020603050405020304" pitchFamily="18" charset="0"/>
                <a:cs typeface="Times New Roman" panose="02020603050405020304" pitchFamily="18" charset="0"/>
              </a:rPr>
              <a:t>D’une molécule non glucidique ou aglycone, de nature variée, dont dépend les propriétés caractéristiques de l’hétéroside. </a:t>
            </a:r>
          </a:p>
          <a:p>
            <a:endParaRPr lang="fr-CA" sz="2000" b="1" dirty="0">
              <a:latin typeface="Times New Roman" panose="02020603050405020304" pitchFamily="18" charset="0"/>
              <a:cs typeface="Times New Roman" panose="02020603050405020304" pitchFamily="18" charset="0"/>
            </a:endParaRPr>
          </a:p>
        </p:txBody>
      </p:sp>
      <p:sp>
        <p:nvSpPr>
          <p:cNvPr id="11" name="Forme libre : forme 10">
            <a:extLst>
              <a:ext uri="{FF2B5EF4-FFF2-40B4-BE49-F238E27FC236}">
                <a16:creationId xmlns:a16="http://schemas.microsoft.com/office/drawing/2014/main" id="{6D43347A-D408-4791-8713-855F8659B393}"/>
              </a:ext>
            </a:extLst>
          </p:cNvPr>
          <p:cNvSpPr/>
          <p:nvPr/>
        </p:nvSpPr>
        <p:spPr>
          <a:xfrm>
            <a:off x="809043" y="3708092"/>
            <a:ext cx="2263075" cy="1131537"/>
          </a:xfrm>
          <a:custGeom>
            <a:avLst/>
            <a:gdLst>
              <a:gd name="connsiteX0" fmla="*/ 0 w 2263075"/>
              <a:gd name="connsiteY0" fmla="*/ 113154 h 1131537"/>
              <a:gd name="connsiteX1" fmla="*/ 113154 w 2263075"/>
              <a:gd name="connsiteY1" fmla="*/ 0 h 1131537"/>
              <a:gd name="connsiteX2" fmla="*/ 2149921 w 2263075"/>
              <a:gd name="connsiteY2" fmla="*/ 0 h 1131537"/>
              <a:gd name="connsiteX3" fmla="*/ 2263075 w 2263075"/>
              <a:gd name="connsiteY3" fmla="*/ 113154 h 1131537"/>
              <a:gd name="connsiteX4" fmla="*/ 2263075 w 2263075"/>
              <a:gd name="connsiteY4" fmla="*/ 1018383 h 1131537"/>
              <a:gd name="connsiteX5" fmla="*/ 2149921 w 2263075"/>
              <a:gd name="connsiteY5" fmla="*/ 1131537 h 1131537"/>
              <a:gd name="connsiteX6" fmla="*/ 113154 w 2263075"/>
              <a:gd name="connsiteY6" fmla="*/ 1131537 h 1131537"/>
              <a:gd name="connsiteX7" fmla="*/ 0 w 2263075"/>
              <a:gd name="connsiteY7" fmla="*/ 1018383 h 1131537"/>
              <a:gd name="connsiteX8" fmla="*/ 0 w 2263075"/>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3075" h="1131537">
                <a:moveTo>
                  <a:pt x="0" y="113154"/>
                </a:moveTo>
                <a:cubicBezTo>
                  <a:pt x="0" y="50661"/>
                  <a:pt x="50661" y="0"/>
                  <a:pt x="113154" y="0"/>
                </a:cubicBezTo>
                <a:lnTo>
                  <a:pt x="2149921" y="0"/>
                </a:lnTo>
                <a:cubicBezTo>
                  <a:pt x="2212414" y="0"/>
                  <a:pt x="2263075" y="50661"/>
                  <a:pt x="2263075" y="113154"/>
                </a:cubicBezTo>
                <a:lnTo>
                  <a:pt x="2263075" y="1018383"/>
                </a:lnTo>
                <a:cubicBezTo>
                  <a:pt x="2263075" y="1080876"/>
                  <a:pt x="2212414" y="1131537"/>
                  <a:pt x="2149921" y="1131537"/>
                </a:cubicBezTo>
                <a:lnTo>
                  <a:pt x="113154" y="1131537"/>
                </a:lnTo>
                <a:cubicBezTo>
                  <a:pt x="50661" y="1131537"/>
                  <a:pt x="0" y="1080876"/>
                  <a:pt x="0" y="1018383"/>
                </a:cubicBezTo>
                <a:lnTo>
                  <a:pt x="0" y="113154"/>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627" tIns="80132" rIns="103627" bIns="80132" numCol="1" spcCol="1270" anchor="ctr" anchorCtr="0">
            <a:noAutofit/>
          </a:bodyPr>
          <a:lstStyle/>
          <a:p>
            <a:pPr marL="0" lvl="0" indent="0" algn="ctr" defTabSz="1644650">
              <a:lnSpc>
                <a:spcPct val="90000"/>
              </a:lnSpc>
              <a:spcBef>
                <a:spcPct val="0"/>
              </a:spcBef>
              <a:spcAft>
                <a:spcPct val="35000"/>
              </a:spcAft>
              <a:buNone/>
            </a:pPr>
            <a:r>
              <a:rPr lang="fr-CA" sz="3700" b="1" kern="1200" dirty="0"/>
              <a:t>O-hétéroside</a:t>
            </a:r>
            <a:endParaRPr lang="fr-DZ" sz="3700" kern="1200" dirty="0"/>
          </a:p>
        </p:txBody>
      </p:sp>
      <p:sp>
        <p:nvSpPr>
          <p:cNvPr id="12" name="Forme libre : forme 11">
            <a:extLst>
              <a:ext uri="{FF2B5EF4-FFF2-40B4-BE49-F238E27FC236}">
                <a16:creationId xmlns:a16="http://schemas.microsoft.com/office/drawing/2014/main" id="{4F1B6A68-F67C-45B7-BD58-B52219E01547}"/>
              </a:ext>
            </a:extLst>
          </p:cNvPr>
          <p:cNvSpPr/>
          <p:nvPr/>
        </p:nvSpPr>
        <p:spPr>
          <a:xfrm>
            <a:off x="1035351" y="4839630"/>
            <a:ext cx="226307" cy="848653"/>
          </a:xfrm>
          <a:custGeom>
            <a:avLst/>
            <a:gdLst/>
            <a:ahLst/>
            <a:cxnLst/>
            <a:rect l="0" t="0" r="0" b="0"/>
            <a:pathLst>
              <a:path>
                <a:moveTo>
                  <a:pt x="0" y="0"/>
                </a:moveTo>
                <a:lnTo>
                  <a:pt x="0" y="848653"/>
                </a:lnTo>
                <a:lnTo>
                  <a:pt x="226307" y="848653"/>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3" name="Forme libre : forme 12">
            <a:extLst>
              <a:ext uri="{FF2B5EF4-FFF2-40B4-BE49-F238E27FC236}">
                <a16:creationId xmlns:a16="http://schemas.microsoft.com/office/drawing/2014/main" id="{B03B6CE8-1601-4EF7-BCD5-41B631FEBD53}"/>
              </a:ext>
            </a:extLst>
          </p:cNvPr>
          <p:cNvSpPr/>
          <p:nvPr/>
        </p:nvSpPr>
        <p:spPr>
          <a:xfrm>
            <a:off x="1261658" y="5122514"/>
            <a:ext cx="1810460" cy="1131537"/>
          </a:xfrm>
          <a:custGeom>
            <a:avLst/>
            <a:gdLst>
              <a:gd name="connsiteX0" fmla="*/ 0 w 1810460"/>
              <a:gd name="connsiteY0" fmla="*/ 113154 h 1131537"/>
              <a:gd name="connsiteX1" fmla="*/ 113154 w 1810460"/>
              <a:gd name="connsiteY1" fmla="*/ 0 h 1131537"/>
              <a:gd name="connsiteX2" fmla="*/ 1697306 w 1810460"/>
              <a:gd name="connsiteY2" fmla="*/ 0 h 1131537"/>
              <a:gd name="connsiteX3" fmla="*/ 1810460 w 1810460"/>
              <a:gd name="connsiteY3" fmla="*/ 113154 h 1131537"/>
              <a:gd name="connsiteX4" fmla="*/ 1810460 w 1810460"/>
              <a:gd name="connsiteY4" fmla="*/ 1018383 h 1131537"/>
              <a:gd name="connsiteX5" fmla="*/ 1697306 w 1810460"/>
              <a:gd name="connsiteY5" fmla="*/ 1131537 h 1131537"/>
              <a:gd name="connsiteX6" fmla="*/ 113154 w 1810460"/>
              <a:gd name="connsiteY6" fmla="*/ 1131537 h 1131537"/>
              <a:gd name="connsiteX7" fmla="*/ 0 w 1810460"/>
              <a:gd name="connsiteY7" fmla="*/ 1018383 h 1131537"/>
              <a:gd name="connsiteX8" fmla="*/ 0 w 1810460"/>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0460" h="1131537">
                <a:moveTo>
                  <a:pt x="0" y="113154"/>
                </a:moveTo>
                <a:cubicBezTo>
                  <a:pt x="0" y="50661"/>
                  <a:pt x="50661" y="0"/>
                  <a:pt x="113154" y="0"/>
                </a:cubicBezTo>
                <a:lnTo>
                  <a:pt x="1697306" y="0"/>
                </a:lnTo>
                <a:cubicBezTo>
                  <a:pt x="1759799" y="0"/>
                  <a:pt x="1810460" y="50661"/>
                  <a:pt x="1810460" y="113154"/>
                </a:cubicBezTo>
                <a:lnTo>
                  <a:pt x="1810460" y="1018383"/>
                </a:lnTo>
                <a:cubicBezTo>
                  <a:pt x="1810460" y="1080876"/>
                  <a:pt x="1759799" y="1131537"/>
                  <a:pt x="1697306" y="1131537"/>
                </a:cubicBezTo>
                <a:lnTo>
                  <a:pt x="113154" y="1131537"/>
                </a:lnTo>
                <a:cubicBezTo>
                  <a:pt x="50661" y="1131537"/>
                  <a:pt x="0" y="1080876"/>
                  <a:pt x="0" y="1018383"/>
                </a:cubicBezTo>
                <a:lnTo>
                  <a:pt x="0" y="113154"/>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672" tIns="66162" rIns="82672" bIns="66162" numCol="1" spcCol="1270" anchor="ctr" anchorCtr="0">
            <a:noAutofit/>
          </a:bodyPr>
          <a:lstStyle/>
          <a:p>
            <a:pPr marL="0" lvl="0" indent="0" algn="ctr" defTabSz="1155700">
              <a:lnSpc>
                <a:spcPct val="90000"/>
              </a:lnSpc>
              <a:spcBef>
                <a:spcPct val="0"/>
              </a:spcBef>
              <a:spcAft>
                <a:spcPct val="35000"/>
              </a:spcAft>
              <a:buNone/>
            </a:pPr>
            <a:r>
              <a:rPr lang="fr-CA" sz="2600" b="1" kern="1200"/>
              <a:t>Par un-OH (alcool ou phénol) </a:t>
            </a:r>
            <a:endParaRPr lang="fr-DZ" sz="2600" kern="1200"/>
          </a:p>
        </p:txBody>
      </p:sp>
      <p:sp>
        <p:nvSpPr>
          <p:cNvPr id="14" name="Forme libre : forme 13">
            <a:extLst>
              <a:ext uri="{FF2B5EF4-FFF2-40B4-BE49-F238E27FC236}">
                <a16:creationId xmlns:a16="http://schemas.microsoft.com/office/drawing/2014/main" id="{F2554F2D-470A-4A3F-9022-2925B7404D53}"/>
              </a:ext>
            </a:extLst>
          </p:cNvPr>
          <p:cNvSpPr/>
          <p:nvPr/>
        </p:nvSpPr>
        <p:spPr>
          <a:xfrm>
            <a:off x="3637888" y="3708092"/>
            <a:ext cx="2263075" cy="1131537"/>
          </a:xfrm>
          <a:custGeom>
            <a:avLst/>
            <a:gdLst>
              <a:gd name="connsiteX0" fmla="*/ 0 w 2263075"/>
              <a:gd name="connsiteY0" fmla="*/ 113154 h 1131537"/>
              <a:gd name="connsiteX1" fmla="*/ 113154 w 2263075"/>
              <a:gd name="connsiteY1" fmla="*/ 0 h 1131537"/>
              <a:gd name="connsiteX2" fmla="*/ 2149921 w 2263075"/>
              <a:gd name="connsiteY2" fmla="*/ 0 h 1131537"/>
              <a:gd name="connsiteX3" fmla="*/ 2263075 w 2263075"/>
              <a:gd name="connsiteY3" fmla="*/ 113154 h 1131537"/>
              <a:gd name="connsiteX4" fmla="*/ 2263075 w 2263075"/>
              <a:gd name="connsiteY4" fmla="*/ 1018383 h 1131537"/>
              <a:gd name="connsiteX5" fmla="*/ 2149921 w 2263075"/>
              <a:gd name="connsiteY5" fmla="*/ 1131537 h 1131537"/>
              <a:gd name="connsiteX6" fmla="*/ 113154 w 2263075"/>
              <a:gd name="connsiteY6" fmla="*/ 1131537 h 1131537"/>
              <a:gd name="connsiteX7" fmla="*/ 0 w 2263075"/>
              <a:gd name="connsiteY7" fmla="*/ 1018383 h 1131537"/>
              <a:gd name="connsiteX8" fmla="*/ 0 w 2263075"/>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3075" h="1131537">
                <a:moveTo>
                  <a:pt x="0" y="113154"/>
                </a:moveTo>
                <a:cubicBezTo>
                  <a:pt x="0" y="50661"/>
                  <a:pt x="50661" y="0"/>
                  <a:pt x="113154" y="0"/>
                </a:cubicBezTo>
                <a:lnTo>
                  <a:pt x="2149921" y="0"/>
                </a:lnTo>
                <a:cubicBezTo>
                  <a:pt x="2212414" y="0"/>
                  <a:pt x="2263075" y="50661"/>
                  <a:pt x="2263075" y="113154"/>
                </a:cubicBezTo>
                <a:lnTo>
                  <a:pt x="2263075" y="1018383"/>
                </a:lnTo>
                <a:cubicBezTo>
                  <a:pt x="2263075" y="1080876"/>
                  <a:pt x="2212414" y="1131537"/>
                  <a:pt x="2149921" y="1131537"/>
                </a:cubicBezTo>
                <a:lnTo>
                  <a:pt x="113154" y="1131537"/>
                </a:lnTo>
                <a:cubicBezTo>
                  <a:pt x="50661" y="1131537"/>
                  <a:pt x="0" y="1080876"/>
                  <a:pt x="0" y="1018383"/>
                </a:cubicBezTo>
                <a:lnTo>
                  <a:pt x="0" y="113154"/>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3627" tIns="80132" rIns="103627" bIns="80132" numCol="1" spcCol="1270" anchor="ctr" anchorCtr="0">
            <a:noAutofit/>
          </a:bodyPr>
          <a:lstStyle/>
          <a:p>
            <a:pPr marL="0" lvl="0" indent="0" algn="ctr" defTabSz="1644650">
              <a:lnSpc>
                <a:spcPct val="90000"/>
              </a:lnSpc>
              <a:spcBef>
                <a:spcPct val="0"/>
              </a:spcBef>
              <a:spcAft>
                <a:spcPct val="35000"/>
              </a:spcAft>
              <a:buNone/>
            </a:pPr>
            <a:r>
              <a:rPr lang="fr-CA" sz="3700" b="1" kern="1200" dirty="0"/>
              <a:t>S-hétéroside</a:t>
            </a:r>
            <a:endParaRPr lang="fr-DZ" sz="3700" kern="1200" dirty="0"/>
          </a:p>
        </p:txBody>
      </p:sp>
      <p:sp>
        <p:nvSpPr>
          <p:cNvPr id="15" name="Forme libre : forme 14">
            <a:extLst>
              <a:ext uri="{FF2B5EF4-FFF2-40B4-BE49-F238E27FC236}">
                <a16:creationId xmlns:a16="http://schemas.microsoft.com/office/drawing/2014/main" id="{0DBC832B-391A-46B4-BE14-A84061EEFD27}"/>
              </a:ext>
            </a:extLst>
          </p:cNvPr>
          <p:cNvSpPr/>
          <p:nvPr/>
        </p:nvSpPr>
        <p:spPr>
          <a:xfrm>
            <a:off x="3864195" y="4839630"/>
            <a:ext cx="226307" cy="848653"/>
          </a:xfrm>
          <a:custGeom>
            <a:avLst/>
            <a:gdLst/>
            <a:ahLst/>
            <a:cxnLst/>
            <a:rect l="0" t="0" r="0" b="0"/>
            <a:pathLst>
              <a:path>
                <a:moveTo>
                  <a:pt x="0" y="0"/>
                </a:moveTo>
                <a:lnTo>
                  <a:pt x="0" y="848653"/>
                </a:lnTo>
                <a:lnTo>
                  <a:pt x="226307" y="848653"/>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6" name="Forme libre : forme 15">
            <a:extLst>
              <a:ext uri="{FF2B5EF4-FFF2-40B4-BE49-F238E27FC236}">
                <a16:creationId xmlns:a16="http://schemas.microsoft.com/office/drawing/2014/main" id="{F2EB794D-EDBE-4830-9DA8-9C34D0524027}"/>
              </a:ext>
            </a:extLst>
          </p:cNvPr>
          <p:cNvSpPr/>
          <p:nvPr/>
        </p:nvSpPr>
        <p:spPr>
          <a:xfrm>
            <a:off x="4090503" y="5122514"/>
            <a:ext cx="1810460" cy="1131537"/>
          </a:xfrm>
          <a:custGeom>
            <a:avLst/>
            <a:gdLst>
              <a:gd name="connsiteX0" fmla="*/ 0 w 1810460"/>
              <a:gd name="connsiteY0" fmla="*/ 113154 h 1131537"/>
              <a:gd name="connsiteX1" fmla="*/ 113154 w 1810460"/>
              <a:gd name="connsiteY1" fmla="*/ 0 h 1131537"/>
              <a:gd name="connsiteX2" fmla="*/ 1697306 w 1810460"/>
              <a:gd name="connsiteY2" fmla="*/ 0 h 1131537"/>
              <a:gd name="connsiteX3" fmla="*/ 1810460 w 1810460"/>
              <a:gd name="connsiteY3" fmla="*/ 113154 h 1131537"/>
              <a:gd name="connsiteX4" fmla="*/ 1810460 w 1810460"/>
              <a:gd name="connsiteY4" fmla="*/ 1018383 h 1131537"/>
              <a:gd name="connsiteX5" fmla="*/ 1697306 w 1810460"/>
              <a:gd name="connsiteY5" fmla="*/ 1131537 h 1131537"/>
              <a:gd name="connsiteX6" fmla="*/ 113154 w 1810460"/>
              <a:gd name="connsiteY6" fmla="*/ 1131537 h 1131537"/>
              <a:gd name="connsiteX7" fmla="*/ 0 w 1810460"/>
              <a:gd name="connsiteY7" fmla="*/ 1018383 h 1131537"/>
              <a:gd name="connsiteX8" fmla="*/ 0 w 1810460"/>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0460" h="1131537">
                <a:moveTo>
                  <a:pt x="0" y="113154"/>
                </a:moveTo>
                <a:cubicBezTo>
                  <a:pt x="0" y="50661"/>
                  <a:pt x="50661" y="0"/>
                  <a:pt x="113154" y="0"/>
                </a:cubicBezTo>
                <a:lnTo>
                  <a:pt x="1697306" y="0"/>
                </a:lnTo>
                <a:cubicBezTo>
                  <a:pt x="1759799" y="0"/>
                  <a:pt x="1810460" y="50661"/>
                  <a:pt x="1810460" y="113154"/>
                </a:cubicBezTo>
                <a:lnTo>
                  <a:pt x="1810460" y="1018383"/>
                </a:lnTo>
                <a:cubicBezTo>
                  <a:pt x="1810460" y="1080876"/>
                  <a:pt x="1759799" y="1131537"/>
                  <a:pt x="1697306" y="1131537"/>
                </a:cubicBezTo>
                <a:lnTo>
                  <a:pt x="113154" y="1131537"/>
                </a:lnTo>
                <a:cubicBezTo>
                  <a:pt x="50661" y="1131537"/>
                  <a:pt x="0" y="1080876"/>
                  <a:pt x="0" y="1018383"/>
                </a:cubicBezTo>
                <a:lnTo>
                  <a:pt x="0" y="113154"/>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672" tIns="66162" rIns="82672" bIns="66162" numCol="1" spcCol="1270" anchor="ctr" anchorCtr="0">
            <a:noAutofit/>
          </a:bodyPr>
          <a:lstStyle/>
          <a:p>
            <a:pPr marL="0" lvl="0" indent="0" algn="ctr" defTabSz="1155700">
              <a:lnSpc>
                <a:spcPct val="90000"/>
              </a:lnSpc>
              <a:spcBef>
                <a:spcPct val="0"/>
              </a:spcBef>
              <a:spcAft>
                <a:spcPct val="35000"/>
              </a:spcAft>
              <a:buNone/>
            </a:pPr>
            <a:r>
              <a:rPr lang="fr-CA" sz="2600" b="1" kern="1200"/>
              <a:t>Par un -SH (thiol) </a:t>
            </a:r>
            <a:endParaRPr lang="fr-DZ" sz="2600" kern="1200"/>
          </a:p>
        </p:txBody>
      </p:sp>
      <p:sp>
        <p:nvSpPr>
          <p:cNvPr id="17" name="Forme libre : forme 16">
            <a:extLst>
              <a:ext uri="{FF2B5EF4-FFF2-40B4-BE49-F238E27FC236}">
                <a16:creationId xmlns:a16="http://schemas.microsoft.com/office/drawing/2014/main" id="{F20BE689-D226-41FA-B1C2-7F1E6387B57D}"/>
              </a:ext>
            </a:extLst>
          </p:cNvPr>
          <p:cNvSpPr/>
          <p:nvPr/>
        </p:nvSpPr>
        <p:spPr>
          <a:xfrm>
            <a:off x="6466732" y="3708092"/>
            <a:ext cx="2263075" cy="1131537"/>
          </a:xfrm>
          <a:custGeom>
            <a:avLst/>
            <a:gdLst>
              <a:gd name="connsiteX0" fmla="*/ 0 w 2263075"/>
              <a:gd name="connsiteY0" fmla="*/ 113154 h 1131537"/>
              <a:gd name="connsiteX1" fmla="*/ 113154 w 2263075"/>
              <a:gd name="connsiteY1" fmla="*/ 0 h 1131537"/>
              <a:gd name="connsiteX2" fmla="*/ 2149921 w 2263075"/>
              <a:gd name="connsiteY2" fmla="*/ 0 h 1131537"/>
              <a:gd name="connsiteX3" fmla="*/ 2263075 w 2263075"/>
              <a:gd name="connsiteY3" fmla="*/ 113154 h 1131537"/>
              <a:gd name="connsiteX4" fmla="*/ 2263075 w 2263075"/>
              <a:gd name="connsiteY4" fmla="*/ 1018383 h 1131537"/>
              <a:gd name="connsiteX5" fmla="*/ 2149921 w 2263075"/>
              <a:gd name="connsiteY5" fmla="*/ 1131537 h 1131537"/>
              <a:gd name="connsiteX6" fmla="*/ 113154 w 2263075"/>
              <a:gd name="connsiteY6" fmla="*/ 1131537 h 1131537"/>
              <a:gd name="connsiteX7" fmla="*/ 0 w 2263075"/>
              <a:gd name="connsiteY7" fmla="*/ 1018383 h 1131537"/>
              <a:gd name="connsiteX8" fmla="*/ 0 w 2263075"/>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3075" h="1131537">
                <a:moveTo>
                  <a:pt x="0" y="113154"/>
                </a:moveTo>
                <a:cubicBezTo>
                  <a:pt x="0" y="50661"/>
                  <a:pt x="50661" y="0"/>
                  <a:pt x="113154" y="0"/>
                </a:cubicBezTo>
                <a:lnTo>
                  <a:pt x="2149921" y="0"/>
                </a:lnTo>
                <a:cubicBezTo>
                  <a:pt x="2212414" y="0"/>
                  <a:pt x="2263075" y="50661"/>
                  <a:pt x="2263075" y="113154"/>
                </a:cubicBezTo>
                <a:lnTo>
                  <a:pt x="2263075" y="1018383"/>
                </a:lnTo>
                <a:cubicBezTo>
                  <a:pt x="2263075" y="1080876"/>
                  <a:pt x="2212414" y="1131537"/>
                  <a:pt x="2149921" y="1131537"/>
                </a:cubicBezTo>
                <a:lnTo>
                  <a:pt x="113154" y="1131537"/>
                </a:lnTo>
                <a:cubicBezTo>
                  <a:pt x="50661" y="1131537"/>
                  <a:pt x="0" y="1080876"/>
                  <a:pt x="0" y="1018383"/>
                </a:cubicBezTo>
                <a:lnTo>
                  <a:pt x="0" y="11315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03627" tIns="80132" rIns="103627" bIns="80132" numCol="1" spcCol="1270" anchor="ctr" anchorCtr="0">
            <a:noAutofit/>
          </a:bodyPr>
          <a:lstStyle/>
          <a:p>
            <a:pPr marL="0" lvl="0" indent="0" algn="ctr" defTabSz="1644650">
              <a:lnSpc>
                <a:spcPct val="90000"/>
              </a:lnSpc>
              <a:spcBef>
                <a:spcPct val="0"/>
              </a:spcBef>
              <a:spcAft>
                <a:spcPct val="35000"/>
              </a:spcAft>
              <a:buNone/>
            </a:pPr>
            <a:r>
              <a:rPr lang="fr-CA" sz="3700" b="1" kern="1200" dirty="0"/>
              <a:t>N-hétéroside</a:t>
            </a:r>
            <a:endParaRPr lang="fr-DZ" sz="3700" kern="1200" dirty="0"/>
          </a:p>
        </p:txBody>
      </p:sp>
      <p:sp>
        <p:nvSpPr>
          <p:cNvPr id="18" name="Forme libre : forme 17">
            <a:extLst>
              <a:ext uri="{FF2B5EF4-FFF2-40B4-BE49-F238E27FC236}">
                <a16:creationId xmlns:a16="http://schemas.microsoft.com/office/drawing/2014/main" id="{1BC774E1-6ADC-4619-B71C-8570036361EA}"/>
              </a:ext>
            </a:extLst>
          </p:cNvPr>
          <p:cNvSpPr/>
          <p:nvPr/>
        </p:nvSpPr>
        <p:spPr>
          <a:xfrm>
            <a:off x="6693040" y="4839630"/>
            <a:ext cx="226307" cy="848653"/>
          </a:xfrm>
          <a:custGeom>
            <a:avLst/>
            <a:gdLst/>
            <a:ahLst/>
            <a:cxnLst/>
            <a:rect l="0" t="0" r="0" b="0"/>
            <a:pathLst>
              <a:path>
                <a:moveTo>
                  <a:pt x="0" y="0"/>
                </a:moveTo>
                <a:lnTo>
                  <a:pt x="0" y="848653"/>
                </a:lnTo>
                <a:lnTo>
                  <a:pt x="226307" y="848653"/>
                </a:lnTo>
              </a:path>
            </a:pathLst>
          </a:custGeom>
          <a:noFill/>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9" name="Forme libre : forme 18">
            <a:extLst>
              <a:ext uri="{FF2B5EF4-FFF2-40B4-BE49-F238E27FC236}">
                <a16:creationId xmlns:a16="http://schemas.microsoft.com/office/drawing/2014/main" id="{C2272380-D5D2-48BB-964E-0549896237CB}"/>
              </a:ext>
            </a:extLst>
          </p:cNvPr>
          <p:cNvSpPr/>
          <p:nvPr/>
        </p:nvSpPr>
        <p:spPr>
          <a:xfrm>
            <a:off x="6919347" y="5122514"/>
            <a:ext cx="1810460" cy="1131537"/>
          </a:xfrm>
          <a:custGeom>
            <a:avLst/>
            <a:gdLst>
              <a:gd name="connsiteX0" fmla="*/ 0 w 1810460"/>
              <a:gd name="connsiteY0" fmla="*/ 113154 h 1131537"/>
              <a:gd name="connsiteX1" fmla="*/ 113154 w 1810460"/>
              <a:gd name="connsiteY1" fmla="*/ 0 h 1131537"/>
              <a:gd name="connsiteX2" fmla="*/ 1697306 w 1810460"/>
              <a:gd name="connsiteY2" fmla="*/ 0 h 1131537"/>
              <a:gd name="connsiteX3" fmla="*/ 1810460 w 1810460"/>
              <a:gd name="connsiteY3" fmla="*/ 113154 h 1131537"/>
              <a:gd name="connsiteX4" fmla="*/ 1810460 w 1810460"/>
              <a:gd name="connsiteY4" fmla="*/ 1018383 h 1131537"/>
              <a:gd name="connsiteX5" fmla="*/ 1697306 w 1810460"/>
              <a:gd name="connsiteY5" fmla="*/ 1131537 h 1131537"/>
              <a:gd name="connsiteX6" fmla="*/ 113154 w 1810460"/>
              <a:gd name="connsiteY6" fmla="*/ 1131537 h 1131537"/>
              <a:gd name="connsiteX7" fmla="*/ 0 w 1810460"/>
              <a:gd name="connsiteY7" fmla="*/ 1018383 h 1131537"/>
              <a:gd name="connsiteX8" fmla="*/ 0 w 1810460"/>
              <a:gd name="connsiteY8" fmla="*/ 113154 h 1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0460" h="1131537">
                <a:moveTo>
                  <a:pt x="0" y="113154"/>
                </a:moveTo>
                <a:cubicBezTo>
                  <a:pt x="0" y="50661"/>
                  <a:pt x="50661" y="0"/>
                  <a:pt x="113154" y="0"/>
                </a:cubicBezTo>
                <a:lnTo>
                  <a:pt x="1697306" y="0"/>
                </a:lnTo>
                <a:cubicBezTo>
                  <a:pt x="1759799" y="0"/>
                  <a:pt x="1810460" y="50661"/>
                  <a:pt x="1810460" y="113154"/>
                </a:cubicBezTo>
                <a:lnTo>
                  <a:pt x="1810460" y="1018383"/>
                </a:lnTo>
                <a:cubicBezTo>
                  <a:pt x="1810460" y="1080876"/>
                  <a:pt x="1759799" y="1131537"/>
                  <a:pt x="1697306" y="1131537"/>
                </a:cubicBezTo>
                <a:lnTo>
                  <a:pt x="113154" y="1131537"/>
                </a:lnTo>
                <a:cubicBezTo>
                  <a:pt x="50661" y="1131537"/>
                  <a:pt x="0" y="1080876"/>
                  <a:pt x="0" y="1018383"/>
                </a:cubicBezTo>
                <a:lnTo>
                  <a:pt x="0" y="113154"/>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672" tIns="66162" rIns="82672" bIns="66162" numCol="1" spcCol="1270" anchor="ctr" anchorCtr="0">
            <a:noAutofit/>
          </a:bodyPr>
          <a:lstStyle/>
          <a:p>
            <a:pPr marL="0" lvl="0" indent="0" algn="ctr" defTabSz="1155700">
              <a:lnSpc>
                <a:spcPct val="90000"/>
              </a:lnSpc>
              <a:spcBef>
                <a:spcPct val="0"/>
              </a:spcBef>
              <a:spcAft>
                <a:spcPct val="35000"/>
              </a:spcAft>
              <a:buNone/>
            </a:pPr>
            <a:r>
              <a:rPr lang="fr-CA" sz="2600" b="1" kern="1200"/>
              <a:t>Par un -NH2 (amine) </a:t>
            </a:r>
            <a:endParaRPr lang="fr-DZ" sz="2600" kern="1200"/>
          </a:p>
        </p:txBody>
      </p:sp>
    </p:spTree>
    <p:extLst>
      <p:ext uri="{BB962C8B-B14F-4D97-AF65-F5344CB8AC3E}">
        <p14:creationId xmlns:p14="http://schemas.microsoft.com/office/powerpoint/2010/main" val="234239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inVertic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par>
                                <p:cTn id="27" presetID="16" presetClass="entr" presetSubtype="21"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arn(inVertical)">
                                      <p:cBhvr>
                                        <p:cTn id="29" dur="500"/>
                                        <p:tgtEl>
                                          <p:spTgt spid="15"/>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arn(inVertic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arn(inVertical)">
                                      <p:cBhvr>
                                        <p:cTn id="37" dur="500"/>
                                        <p:tgtEl>
                                          <p:spTgt spid="17"/>
                                        </p:tgtEl>
                                      </p:cBhvr>
                                    </p:animEffect>
                                  </p:childTnLst>
                                </p:cTn>
                              </p:par>
                              <p:par>
                                <p:cTn id="38" presetID="16" presetClass="entr" presetSubtype="2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arn(inVertical)">
                                      <p:cBhvr>
                                        <p:cTn id="40" dur="500"/>
                                        <p:tgtEl>
                                          <p:spTgt spid="18"/>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arn(inVertical)">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6" grpId="0" animBg="1"/>
      <p:bldP spid="17" grpId="0" animBg="1"/>
      <p:bldP spid="1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79244" y="2221303"/>
            <a:ext cx="8964756" cy="1938992"/>
          </a:xfrm>
          <a:prstGeom prst="rect">
            <a:avLst/>
          </a:prstGeom>
          <a:noFill/>
        </p:spPr>
        <p:txBody>
          <a:bodyPr wrap="square" rtlCol="0">
            <a:spAutoFit/>
          </a:bodyPr>
          <a:lstStyle/>
          <a:p>
            <a:r>
              <a:rPr lang="fr-CA" sz="2000" b="1" dirty="0">
                <a:latin typeface="Times New Roman" panose="02020603050405020304" pitchFamily="18" charset="0"/>
                <a:cs typeface="Times New Roman" panose="02020603050405020304" pitchFamily="18" charset="0"/>
              </a:rPr>
              <a:t> Les hétérosides sont des molécules issues de l’association covalente de glucides avec d’autres types de molécules non glucidiques (aglycone).</a:t>
            </a:r>
          </a:p>
          <a:p>
            <a:endParaRPr lang="fr-CA" sz="2000" b="1" dirty="0">
              <a:latin typeface="Times New Roman" panose="02020603050405020304" pitchFamily="18" charset="0"/>
              <a:cs typeface="Times New Roman" panose="02020603050405020304" pitchFamily="18" charset="0"/>
            </a:endParaRPr>
          </a:p>
          <a:p>
            <a:r>
              <a:rPr lang="fr-CA" sz="2000" b="1" dirty="0">
                <a:latin typeface="Times New Roman" panose="02020603050405020304" pitchFamily="18" charset="0"/>
                <a:cs typeface="Times New Roman" panose="02020603050405020304" pitchFamily="18" charset="0"/>
              </a:rPr>
              <a:t>Il y en a deux types: </a:t>
            </a:r>
          </a:p>
          <a:p>
            <a:pPr marL="800100" lvl="1" indent="-342900">
              <a:buFontTx/>
              <a:buChar char="-"/>
            </a:pPr>
            <a:r>
              <a:rPr lang="fr-CA" sz="2000" b="1" dirty="0">
                <a:latin typeface="Times New Roman" panose="02020603050405020304" pitchFamily="18" charset="0"/>
                <a:cs typeface="Times New Roman" panose="02020603050405020304" pitchFamily="18" charset="0"/>
              </a:rPr>
              <a:t>Les hétéro-oligosides </a:t>
            </a:r>
          </a:p>
          <a:p>
            <a:pPr marL="800100" lvl="1" indent="-342900">
              <a:buFontTx/>
              <a:buChar char="-"/>
            </a:pPr>
            <a:r>
              <a:rPr lang="fr-CA" sz="2000" b="1" dirty="0">
                <a:latin typeface="Times New Roman" panose="02020603050405020304" pitchFamily="18" charset="0"/>
                <a:cs typeface="Times New Roman" panose="02020603050405020304" pitchFamily="18" charset="0"/>
              </a:rPr>
              <a:t>Les glycoconjugués </a:t>
            </a:r>
          </a:p>
        </p:txBody>
      </p:sp>
    </p:spTree>
    <p:extLst>
      <p:ext uri="{BB962C8B-B14F-4D97-AF65-F5344CB8AC3E}">
        <p14:creationId xmlns:p14="http://schemas.microsoft.com/office/powerpoint/2010/main" val="29848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267588" y="2073911"/>
            <a:ext cx="8911127" cy="45243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CA" sz="4800" b="1" dirty="0">
              <a:solidFill>
                <a:srgbClr val="C0000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a:t>
            </a:r>
          </a:p>
          <a:p>
            <a:pPr>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lang="fr-CA" sz="4800" b="1" dirty="0">
                <a:solidFill>
                  <a:srgbClr val="002060"/>
                </a:solidFill>
                <a:latin typeface="Times New Roman" panose="02020603050405020304" pitchFamily="18" charset="0"/>
                <a:cs typeface="Times New Roman" panose="02020603050405020304" pitchFamily="18" charset="0"/>
              </a:rPr>
              <a:t>1/ Les hétéro-oligosides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021940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1/ Les hétéro-oligosides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392830" y="2307237"/>
            <a:ext cx="8219813" cy="1631216"/>
          </a:xfrm>
          <a:prstGeom prst="rect">
            <a:avLst/>
          </a:prstGeom>
          <a:noFill/>
        </p:spPr>
        <p:txBody>
          <a:bodyPr wrap="square" rtlCol="0">
            <a:spAutoFit/>
          </a:bodyPr>
          <a:lstStyle/>
          <a:p>
            <a:pPr marL="457200" indent="-457200">
              <a:buFont typeface="+mj-lt"/>
              <a:buAutoNum type="alphaLcPeriod" startAt="2"/>
            </a:pPr>
            <a:r>
              <a:rPr lang="fr-FR" sz="2000" b="1" dirty="0">
                <a:solidFill>
                  <a:srgbClr val="FF0000"/>
                </a:solidFill>
              </a:rPr>
              <a:t>Les N-hétérosides:</a:t>
            </a:r>
          </a:p>
          <a:p>
            <a:endParaRPr lang="fr-FR" sz="2000" b="1" dirty="0">
              <a:solidFill>
                <a:srgbClr val="FF0000"/>
              </a:solidFill>
            </a:endParaRPr>
          </a:p>
          <a:p>
            <a:r>
              <a:rPr lang="fr-CA" sz="2000" b="1" dirty="0"/>
              <a:t>Ce sont presque exclusivement des dérivés du ribose et du désoxyribose formants les nucléosides. Leurs esters phosphoriques, appelés nucléotides, sont les monomères constitutifs des acides nucléiques. </a:t>
            </a:r>
            <a:endParaRPr lang="fr-FR" sz="2000" b="1" dirty="0"/>
          </a:p>
        </p:txBody>
      </p:sp>
      <p:pic>
        <p:nvPicPr>
          <p:cNvPr id="12" name="Image 11">
            <a:extLst>
              <a:ext uri="{FF2B5EF4-FFF2-40B4-BE49-F238E27FC236}">
                <a16:creationId xmlns:a16="http://schemas.microsoft.com/office/drawing/2014/main" id="{64CEAE03-8699-4DDF-B560-6ACCE0103888}"/>
              </a:ext>
            </a:extLst>
          </p:cNvPr>
          <p:cNvPicPr>
            <a:picLocks noChangeAspect="1"/>
          </p:cNvPicPr>
          <p:nvPr/>
        </p:nvPicPr>
        <p:blipFill>
          <a:blip r:embed="rId5"/>
          <a:stretch>
            <a:fillRect/>
          </a:stretch>
        </p:blipFill>
        <p:spPr>
          <a:xfrm>
            <a:off x="1787236" y="2821762"/>
            <a:ext cx="5382491" cy="3603147"/>
          </a:xfrm>
          <a:prstGeom prst="rect">
            <a:avLst/>
          </a:prstGeom>
        </p:spPr>
      </p:pic>
    </p:spTree>
    <p:extLst>
      <p:ext uri="{BB962C8B-B14F-4D97-AF65-F5344CB8AC3E}">
        <p14:creationId xmlns:p14="http://schemas.microsoft.com/office/powerpoint/2010/main" val="401148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267588" y="2073911"/>
            <a:ext cx="8911127" cy="526297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CA" sz="4800" b="1" dirty="0">
              <a:solidFill>
                <a:srgbClr val="C0000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a:t>
            </a:r>
          </a:p>
          <a:p>
            <a:pPr>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lang="fr-CA" sz="4800" b="1" dirty="0">
                <a:solidFill>
                  <a:srgbClr val="002060"/>
                </a:solidFill>
                <a:latin typeface="Times New Roman" panose="02020603050405020304" pitchFamily="18" charset="0"/>
                <a:cs typeface="Times New Roman" panose="02020603050405020304" pitchFamily="18" charset="0"/>
              </a:rPr>
              <a:t>2/ Les glycoconjugués  </a:t>
            </a:r>
          </a:p>
          <a:p>
            <a:pPr>
              <a:defRPr/>
            </a:pPr>
            <a:endParaRPr lang="fr-CA" sz="4800" b="1" dirty="0">
              <a:solidFill>
                <a:srgbClr val="002060"/>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1175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465566" y="1837531"/>
            <a:ext cx="8678434" cy="1323439"/>
          </a:xfrm>
          <a:prstGeom prst="rect">
            <a:avLst/>
          </a:prstGeom>
          <a:noFill/>
        </p:spPr>
        <p:txBody>
          <a:bodyPr wrap="square" rtlCol="0">
            <a:spAutoFit/>
          </a:bodyPr>
          <a:lstStyle/>
          <a:p>
            <a:endParaRPr lang="fr-FR" sz="2000" b="1" dirty="0">
              <a:solidFill>
                <a:srgbClr val="FF0000"/>
              </a:solidFill>
            </a:endParaRPr>
          </a:p>
          <a:p>
            <a:r>
              <a:rPr lang="fr-CA" sz="2000" b="1" dirty="0"/>
              <a:t>On désigne sous le terme de glycoconjugués les glycoprotéines et les glycolipides. </a:t>
            </a:r>
          </a:p>
          <a:p>
            <a:r>
              <a:rPr lang="fr-CA" sz="2000" b="1" dirty="0"/>
              <a:t>Dans les associations avec les protéines, on distingue : </a:t>
            </a:r>
          </a:p>
        </p:txBody>
      </p:sp>
      <p:sp>
        <p:nvSpPr>
          <p:cNvPr id="12" name="Forme libre : forme 11">
            <a:extLst>
              <a:ext uri="{FF2B5EF4-FFF2-40B4-BE49-F238E27FC236}">
                <a16:creationId xmlns:a16="http://schemas.microsoft.com/office/drawing/2014/main" id="{3BF2E261-7E39-4935-ADB1-C6AA12A91488}"/>
              </a:ext>
            </a:extLst>
          </p:cNvPr>
          <p:cNvSpPr/>
          <p:nvPr/>
        </p:nvSpPr>
        <p:spPr>
          <a:xfrm>
            <a:off x="252032" y="2529082"/>
            <a:ext cx="1954866" cy="781946"/>
          </a:xfrm>
          <a:custGeom>
            <a:avLst/>
            <a:gdLst>
              <a:gd name="connsiteX0" fmla="*/ 0 w 1954866"/>
              <a:gd name="connsiteY0" fmla="*/ 0 h 781946"/>
              <a:gd name="connsiteX1" fmla="*/ 1954866 w 1954866"/>
              <a:gd name="connsiteY1" fmla="*/ 0 h 781946"/>
              <a:gd name="connsiteX2" fmla="*/ 1954866 w 1954866"/>
              <a:gd name="connsiteY2" fmla="*/ 781946 h 781946"/>
              <a:gd name="connsiteX3" fmla="*/ 0 w 1954866"/>
              <a:gd name="connsiteY3" fmla="*/ 781946 h 781946"/>
              <a:gd name="connsiteX4" fmla="*/ 0 w 1954866"/>
              <a:gd name="connsiteY4" fmla="*/ 0 h 78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781946">
                <a:moveTo>
                  <a:pt x="0" y="0"/>
                </a:moveTo>
                <a:lnTo>
                  <a:pt x="1954866" y="0"/>
                </a:lnTo>
                <a:lnTo>
                  <a:pt x="1954866" y="781946"/>
                </a:lnTo>
                <a:lnTo>
                  <a:pt x="0" y="781946"/>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CA" sz="1800" b="1" kern="1200" dirty="0"/>
              <a:t>protéoglycanes </a:t>
            </a:r>
            <a:endParaRPr lang="fr-DZ" sz="1800" kern="1200" dirty="0"/>
          </a:p>
        </p:txBody>
      </p:sp>
      <p:sp>
        <p:nvSpPr>
          <p:cNvPr id="13" name="Forme libre : forme 12">
            <a:extLst>
              <a:ext uri="{FF2B5EF4-FFF2-40B4-BE49-F238E27FC236}">
                <a16:creationId xmlns:a16="http://schemas.microsoft.com/office/drawing/2014/main" id="{2A7599A5-DC35-4714-B98C-26B89F6807F8}"/>
              </a:ext>
            </a:extLst>
          </p:cNvPr>
          <p:cNvSpPr/>
          <p:nvPr/>
        </p:nvSpPr>
        <p:spPr>
          <a:xfrm>
            <a:off x="252032" y="3311028"/>
            <a:ext cx="1954866" cy="2810880"/>
          </a:xfrm>
          <a:custGeom>
            <a:avLst/>
            <a:gdLst>
              <a:gd name="connsiteX0" fmla="*/ 0 w 1954866"/>
              <a:gd name="connsiteY0" fmla="*/ 0 h 2810880"/>
              <a:gd name="connsiteX1" fmla="*/ 1954866 w 1954866"/>
              <a:gd name="connsiteY1" fmla="*/ 0 h 2810880"/>
              <a:gd name="connsiteX2" fmla="*/ 1954866 w 1954866"/>
              <a:gd name="connsiteY2" fmla="*/ 2810880 h 2810880"/>
              <a:gd name="connsiteX3" fmla="*/ 0 w 1954866"/>
              <a:gd name="connsiteY3" fmla="*/ 2810880 h 2810880"/>
              <a:gd name="connsiteX4" fmla="*/ 0 w 1954866"/>
              <a:gd name="connsiteY4" fmla="*/ 0 h 28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2810880">
                <a:moveTo>
                  <a:pt x="0" y="0"/>
                </a:moveTo>
                <a:lnTo>
                  <a:pt x="1954866" y="0"/>
                </a:lnTo>
                <a:lnTo>
                  <a:pt x="1954866" y="2810880"/>
                </a:lnTo>
                <a:lnTo>
                  <a:pt x="0" y="2810880"/>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CA" sz="1800" b="1" kern="1200" dirty="0"/>
              <a:t>Partie glucidique très longue (mucopolysaccharides) </a:t>
            </a:r>
          </a:p>
          <a:p>
            <a:pPr marL="171450" lvl="1" indent="-171450" algn="l" defTabSz="800100">
              <a:lnSpc>
                <a:spcPct val="90000"/>
              </a:lnSpc>
              <a:spcBef>
                <a:spcPct val="0"/>
              </a:spcBef>
              <a:spcAft>
                <a:spcPct val="15000"/>
              </a:spcAft>
              <a:buChar char="•"/>
            </a:pPr>
            <a:r>
              <a:rPr lang="fr-CA" sz="1800" b="1" kern="1200" dirty="0"/>
              <a:t>fraction minoritaire de protéine (5% environ).</a:t>
            </a:r>
            <a:endParaRPr lang="fr-DZ" sz="1800" kern="1200" dirty="0"/>
          </a:p>
        </p:txBody>
      </p:sp>
      <p:sp>
        <p:nvSpPr>
          <p:cNvPr id="14" name="Forme libre : forme 13">
            <a:extLst>
              <a:ext uri="{FF2B5EF4-FFF2-40B4-BE49-F238E27FC236}">
                <a16:creationId xmlns:a16="http://schemas.microsoft.com/office/drawing/2014/main" id="{9606B518-6F28-4ECC-B842-0D80F138C835}"/>
              </a:ext>
            </a:extLst>
          </p:cNvPr>
          <p:cNvSpPr/>
          <p:nvPr/>
        </p:nvSpPr>
        <p:spPr>
          <a:xfrm>
            <a:off x="2480580" y="2529082"/>
            <a:ext cx="1954866" cy="781946"/>
          </a:xfrm>
          <a:custGeom>
            <a:avLst/>
            <a:gdLst>
              <a:gd name="connsiteX0" fmla="*/ 0 w 1954866"/>
              <a:gd name="connsiteY0" fmla="*/ 0 h 781946"/>
              <a:gd name="connsiteX1" fmla="*/ 1954866 w 1954866"/>
              <a:gd name="connsiteY1" fmla="*/ 0 h 781946"/>
              <a:gd name="connsiteX2" fmla="*/ 1954866 w 1954866"/>
              <a:gd name="connsiteY2" fmla="*/ 781946 h 781946"/>
              <a:gd name="connsiteX3" fmla="*/ 0 w 1954866"/>
              <a:gd name="connsiteY3" fmla="*/ 781946 h 781946"/>
              <a:gd name="connsiteX4" fmla="*/ 0 w 1954866"/>
              <a:gd name="connsiteY4" fmla="*/ 0 h 78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781946">
                <a:moveTo>
                  <a:pt x="0" y="0"/>
                </a:moveTo>
                <a:lnTo>
                  <a:pt x="1954866" y="0"/>
                </a:lnTo>
                <a:lnTo>
                  <a:pt x="1954866" y="781946"/>
                </a:lnTo>
                <a:lnTo>
                  <a:pt x="0" y="781946"/>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CA" sz="1800" b="1" kern="1200" dirty="0"/>
              <a:t>glycoprotéines </a:t>
            </a:r>
            <a:endParaRPr lang="fr-DZ" sz="1800" kern="1200" dirty="0"/>
          </a:p>
        </p:txBody>
      </p:sp>
      <p:sp>
        <p:nvSpPr>
          <p:cNvPr id="15" name="Forme libre : forme 14">
            <a:extLst>
              <a:ext uri="{FF2B5EF4-FFF2-40B4-BE49-F238E27FC236}">
                <a16:creationId xmlns:a16="http://schemas.microsoft.com/office/drawing/2014/main" id="{A9F70900-12EB-44A1-A2EA-5B949103F1D6}"/>
              </a:ext>
            </a:extLst>
          </p:cNvPr>
          <p:cNvSpPr/>
          <p:nvPr/>
        </p:nvSpPr>
        <p:spPr>
          <a:xfrm>
            <a:off x="2480580" y="3311028"/>
            <a:ext cx="1954866" cy="2810880"/>
          </a:xfrm>
          <a:custGeom>
            <a:avLst/>
            <a:gdLst>
              <a:gd name="connsiteX0" fmla="*/ 0 w 1954866"/>
              <a:gd name="connsiteY0" fmla="*/ 0 h 2810880"/>
              <a:gd name="connsiteX1" fmla="*/ 1954866 w 1954866"/>
              <a:gd name="connsiteY1" fmla="*/ 0 h 2810880"/>
              <a:gd name="connsiteX2" fmla="*/ 1954866 w 1954866"/>
              <a:gd name="connsiteY2" fmla="*/ 2810880 h 2810880"/>
              <a:gd name="connsiteX3" fmla="*/ 0 w 1954866"/>
              <a:gd name="connsiteY3" fmla="*/ 2810880 h 2810880"/>
              <a:gd name="connsiteX4" fmla="*/ 0 w 1954866"/>
              <a:gd name="connsiteY4" fmla="*/ 0 h 28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2810880">
                <a:moveTo>
                  <a:pt x="0" y="0"/>
                </a:moveTo>
                <a:lnTo>
                  <a:pt x="1954866" y="0"/>
                </a:lnTo>
                <a:lnTo>
                  <a:pt x="1954866" y="2810880"/>
                </a:lnTo>
                <a:lnTo>
                  <a:pt x="0" y="2810880"/>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CA" sz="1800" b="1" kern="1200" dirty="0"/>
              <a:t>protéines sur lesquelles sont greffées des chaines glucidiques courtes, souvent ramifiées, qui ne représentent que 1 à 50%. </a:t>
            </a:r>
            <a:endParaRPr lang="fr-DZ" sz="1800" kern="1200" dirty="0"/>
          </a:p>
        </p:txBody>
      </p:sp>
      <p:sp>
        <p:nvSpPr>
          <p:cNvPr id="16" name="Forme libre : forme 15">
            <a:extLst>
              <a:ext uri="{FF2B5EF4-FFF2-40B4-BE49-F238E27FC236}">
                <a16:creationId xmlns:a16="http://schemas.microsoft.com/office/drawing/2014/main" id="{E7D9A266-673B-476B-BF7E-6B8DCBCD9984}"/>
              </a:ext>
            </a:extLst>
          </p:cNvPr>
          <p:cNvSpPr/>
          <p:nvPr/>
        </p:nvSpPr>
        <p:spPr>
          <a:xfrm>
            <a:off x="4709128" y="2529082"/>
            <a:ext cx="1954866" cy="781946"/>
          </a:xfrm>
          <a:custGeom>
            <a:avLst/>
            <a:gdLst>
              <a:gd name="connsiteX0" fmla="*/ 0 w 1954866"/>
              <a:gd name="connsiteY0" fmla="*/ 0 h 781946"/>
              <a:gd name="connsiteX1" fmla="*/ 1954866 w 1954866"/>
              <a:gd name="connsiteY1" fmla="*/ 0 h 781946"/>
              <a:gd name="connsiteX2" fmla="*/ 1954866 w 1954866"/>
              <a:gd name="connsiteY2" fmla="*/ 781946 h 781946"/>
              <a:gd name="connsiteX3" fmla="*/ 0 w 1954866"/>
              <a:gd name="connsiteY3" fmla="*/ 781946 h 781946"/>
              <a:gd name="connsiteX4" fmla="*/ 0 w 1954866"/>
              <a:gd name="connsiteY4" fmla="*/ 0 h 78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781946">
                <a:moveTo>
                  <a:pt x="0" y="0"/>
                </a:moveTo>
                <a:lnTo>
                  <a:pt x="1954866" y="0"/>
                </a:lnTo>
                <a:lnTo>
                  <a:pt x="1954866" y="781946"/>
                </a:lnTo>
                <a:lnTo>
                  <a:pt x="0" y="781946"/>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CA" sz="1800" b="1" kern="1200" dirty="0"/>
              <a:t>peptidoglycanes </a:t>
            </a:r>
            <a:endParaRPr lang="fr-DZ" sz="1800" kern="1200" dirty="0"/>
          </a:p>
        </p:txBody>
      </p:sp>
      <p:sp>
        <p:nvSpPr>
          <p:cNvPr id="17" name="Forme libre : forme 16">
            <a:extLst>
              <a:ext uri="{FF2B5EF4-FFF2-40B4-BE49-F238E27FC236}">
                <a16:creationId xmlns:a16="http://schemas.microsoft.com/office/drawing/2014/main" id="{30F4C368-DE02-42A2-93D1-778ABC54FB02}"/>
              </a:ext>
            </a:extLst>
          </p:cNvPr>
          <p:cNvSpPr/>
          <p:nvPr/>
        </p:nvSpPr>
        <p:spPr>
          <a:xfrm>
            <a:off x="4709128" y="3311028"/>
            <a:ext cx="1954866" cy="2810880"/>
          </a:xfrm>
          <a:custGeom>
            <a:avLst/>
            <a:gdLst>
              <a:gd name="connsiteX0" fmla="*/ 0 w 1954866"/>
              <a:gd name="connsiteY0" fmla="*/ 0 h 2810880"/>
              <a:gd name="connsiteX1" fmla="*/ 1954866 w 1954866"/>
              <a:gd name="connsiteY1" fmla="*/ 0 h 2810880"/>
              <a:gd name="connsiteX2" fmla="*/ 1954866 w 1954866"/>
              <a:gd name="connsiteY2" fmla="*/ 2810880 h 2810880"/>
              <a:gd name="connsiteX3" fmla="*/ 0 w 1954866"/>
              <a:gd name="connsiteY3" fmla="*/ 2810880 h 2810880"/>
              <a:gd name="connsiteX4" fmla="*/ 0 w 1954866"/>
              <a:gd name="connsiteY4" fmla="*/ 0 h 28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2810880">
                <a:moveTo>
                  <a:pt x="0" y="0"/>
                </a:moveTo>
                <a:lnTo>
                  <a:pt x="1954866" y="0"/>
                </a:lnTo>
                <a:lnTo>
                  <a:pt x="1954866" y="2810880"/>
                </a:lnTo>
                <a:lnTo>
                  <a:pt x="0" y="2810880"/>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CA" sz="1800" b="1" kern="1200" dirty="0"/>
              <a:t>réseau de polyosides reliés par de nombreux petits peptides. </a:t>
            </a:r>
            <a:endParaRPr lang="fr-DZ" sz="1800" kern="1200" dirty="0"/>
          </a:p>
        </p:txBody>
      </p:sp>
      <p:sp>
        <p:nvSpPr>
          <p:cNvPr id="18" name="Forme libre : forme 17">
            <a:extLst>
              <a:ext uri="{FF2B5EF4-FFF2-40B4-BE49-F238E27FC236}">
                <a16:creationId xmlns:a16="http://schemas.microsoft.com/office/drawing/2014/main" id="{4FE83550-1873-472F-94C4-7B4803976093}"/>
              </a:ext>
            </a:extLst>
          </p:cNvPr>
          <p:cNvSpPr/>
          <p:nvPr/>
        </p:nvSpPr>
        <p:spPr>
          <a:xfrm>
            <a:off x="6937676" y="2529082"/>
            <a:ext cx="1954866" cy="781946"/>
          </a:xfrm>
          <a:custGeom>
            <a:avLst/>
            <a:gdLst>
              <a:gd name="connsiteX0" fmla="*/ 0 w 1954866"/>
              <a:gd name="connsiteY0" fmla="*/ 0 h 781946"/>
              <a:gd name="connsiteX1" fmla="*/ 1954866 w 1954866"/>
              <a:gd name="connsiteY1" fmla="*/ 0 h 781946"/>
              <a:gd name="connsiteX2" fmla="*/ 1954866 w 1954866"/>
              <a:gd name="connsiteY2" fmla="*/ 781946 h 781946"/>
              <a:gd name="connsiteX3" fmla="*/ 0 w 1954866"/>
              <a:gd name="connsiteY3" fmla="*/ 781946 h 781946"/>
              <a:gd name="connsiteX4" fmla="*/ 0 w 1954866"/>
              <a:gd name="connsiteY4" fmla="*/ 0 h 78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781946">
                <a:moveTo>
                  <a:pt x="0" y="0"/>
                </a:moveTo>
                <a:lnTo>
                  <a:pt x="1954866" y="0"/>
                </a:lnTo>
                <a:lnTo>
                  <a:pt x="1954866" y="781946"/>
                </a:lnTo>
                <a:lnTo>
                  <a:pt x="0" y="781946"/>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fr-CA" sz="1800" b="1" kern="1200" dirty="0"/>
              <a:t>protéines glyquées </a:t>
            </a:r>
            <a:endParaRPr lang="fr-DZ" sz="1800" kern="1200" dirty="0"/>
          </a:p>
        </p:txBody>
      </p:sp>
      <p:sp>
        <p:nvSpPr>
          <p:cNvPr id="19" name="Forme libre : forme 18">
            <a:extLst>
              <a:ext uri="{FF2B5EF4-FFF2-40B4-BE49-F238E27FC236}">
                <a16:creationId xmlns:a16="http://schemas.microsoft.com/office/drawing/2014/main" id="{4674F9C4-0FED-4C60-B6FF-4491D4479B7D}"/>
              </a:ext>
            </a:extLst>
          </p:cNvPr>
          <p:cNvSpPr/>
          <p:nvPr/>
        </p:nvSpPr>
        <p:spPr>
          <a:xfrm>
            <a:off x="6937676" y="3311028"/>
            <a:ext cx="1954866" cy="2810880"/>
          </a:xfrm>
          <a:custGeom>
            <a:avLst/>
            <a:gdLst>
              <a:gd name="connsiteX0" fmla="*/ 0 w 1954866"/>
              <a:gd name="connsiteY0" fmla="*/ 0 h 2810880"/>
              <a:gd name="connsiteX1" fmla="*/ 1954866 w 1954866"/>
              <a:gd name="connsiteY1" fmla="*/ 0 h 2810880"/>
              <a:gd name="connsiteX2" fmla="*/ 1954866 w 1954866"/>
              <a:gd name="connsiteY2" fmla="*/ 2810880 h 2810880"/>
              <a:gd name="connsiteX3" fmla="*/ 0 w 1954866"/>
              <a:gd name="connsiteY3" fmla="*/ 2810880 h 2810880"/>
              <a:gd name="connsiteX4" fmla="*/ 0 w 1954866"/>
              <a:gd name="connsiteY4" fmla="*/ 0 h 28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66" h="2810880">
                <a:moveTo>
                  <a:pt x="0" y="0"/>
                </a:moveTo>
                <a:lnTo>
                  <a:pt x="1954866" y="0"/>
                </a:lnTo>
                <a:lnTo>
                  <a:pt x="1954866" y="2810880"/>
                </a:lnTo>
                <a:lnTo>
                  <a:pt x="0" y="2810880"/>
                </a:lnTo>
                <a:lnTo>
                  <a:pt x="0" y="0"/>
                </a:ln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fr-CA" sz="1800" b="1" kern="1200" dirty="0"/>
              <a:t>fixation d’une unité glucose sur des protéines plasmatiques en cas d’hyperglycémie associée au diabète insulinique. </a:t>
            </a:r>
            <a:endParaRPr lang="fr-DZ" sz="1800" kern="1200" dirty="0"/>
          </a:p>
        </p:txBody>
      </p:sp>
    </p:spTree>
    <p:extLst>
      <p:ext uri="{BB962C8B-B14F-4D97-AF65-F5344CB8AC3E}">
        <p14:creationId xmlns:p14="http://schemas.microsoft.com/office/powerpoint/2010/main" val="1523520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down)">
                                      <p:cBhvr>
                                        <p:cTn id="31" dur="500"/>
                                        <p:tgtEl>
                                          <p:spTgt spid="19"/>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17360" y="2473099"/>
            <a:ext cx="8678434" cy="1631216"/>
          </a:xfrm>
          <a:prstGeom prst="rect">
            <a:avLst/>
          </a:prstGeom>
          <a:noFill/>
        </p:spPr>
        <p:txBody>
          <a:bodyPr wrap="square" rtlCol="0">
            <a:spAutoFit/>
          </a:bodyPr>
          <a:lstStyle/>
          <a:p>
            <a:r>
              <a:rPr lang="fr-FR" sz="2000" b="1" dirty="0"/>
              <a:t>Dans toutes les classes des glycoprotéines, la partie glycane est attachée à la partie protéiques soit: </a:t>
            </a:r>
          </a:p>
          <a:p>
            <a:pPr marL="342900" indent="-342900">
              <a:buFontTx/>
              <a:buChar char="-"/>
            </a:pPr>
            <a:r>
              <a:rPr lang="fr-FR" sz="2000" b="1" dirty="0"/>
              <a:t>Au N de l’amide porté par l’asparagine = liaison N- glycosidique</a:t>
            </a:r>
          </a:p>
          <a:p>
            <a:pPr marL="342900" indent="-342900">
              <a:buFontTx/>
              <a:buChar char="-"/>
            </a:pPr>
            <a:r>
              <a:rPr lang="fr-FR" sz="2000" b="1" dirty="0"/>
              <a:t>À l’O de OH paré par la sérine ou thréonine = liaison O- glycosidique </a:t>
            </a:r>
          </a:p>
          <a:p>
            <a:r>
              <a:rPr lang="fr-FR" sz="2000" b="1" dirty="0"/>
              <a:t>Selon un processus de glycosylation </a:t>
            </a:r>
          </a:p>
        </p:txBody>
      </p:sp>
      <p:pic>
        <p:nvPicPr>
          <p:cNvPr id="6" name="Image 5">
            <a:extLst>
              <a:ext uri="{FF2B5EF4-FFF2-40B4-BE49-F238E27FC236}">
                <a16:creationId xmlns:a16="http://schemas.microsoft.com/office/drawing/2014/main" id="{7409EE69-B547-4145-90CB-18A83A713795}"/>
              </a:ext>
            </a:extLst>
          </p:cNvPr>
          <p:cNvPicPr>
            <a:picLocks noChangeAspect="1"/>
          </p:cNvPicPr>
          <p:nvPr/>
        </p:nvPicPr>
        <p:blipFill>
          <a:blip r:embed="rId5"/>
          <a:stretch>
            <a:fillRect/>
          </a:stretch>
        </p:blipFill>
        <p:spPr>
          <a:xfrm>
            <a:off x="1789178" y="1651860"/>
            <a:ext cx="5534797" cy="4887007"/>
          </a:xfrm>
          <a:prstGeom prst="rect">
            <a:avLst/>
          </a:prstGeom>
        </p:spPr>
      </p:pic>
    </p:spTree>
    <p:extLst>
      <p:ext uri="{BB962C8B-B14F-4D97-AF65-F5344CB8AC3E}">
        <p14:creationId xmlns:p14="http://schemas.microsoft.com/office/powerpoint/2010/main" val="372060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267588" y="2073911"/>
            <a:ext cx="8911127" cy="67403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CA" sz="4800" b="1" dirty="0">
              <a:solidFill>
                <a:srgbClr val="C0000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a:t>
            </a:r>
          </a:p>
          <a:p>
            <a:pPr>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lang="fr-CA" sz="4800" b="1" dirty="0">
                <a:solidFill>
                  <a:srgbClr val="002060"/>
                </a:solidFill>
                <a:latin typeface="Times New Roman" panose="02020603050405020304" pitchFamily="18" charset="0"/>
                <a:cs typeface="Times New Roman" panose="02020603050405020304" pitchFamily="18" charset="0"/>
              </a:rPr>
              <a:t>2/ Les glycoconjugués</a:t>
            </a:r>
          </a:p>
          <a:p>
            <a:pPr>
              <a:defRPr/>
            </a:pPr>
            <a:r>
              <a:rPr lang="fr-CA" sz="4800" b="1" dirty="0">
                <a:solidFill>
                  <a:srgbClr val="002060"/>
                </a:solidFill>
                <a:latin typeface="Times New Roman" panose="02020603050405020304" pitchFamily="18" charset="0"/>
                <a:cs typeface="Times New Roman" panose="02020603050405020304" pitchFamily="18" charset="0"/>
              </a:rPr>
              <a:t> 					</a:t>
            </a:r>
            <a:r>
              <a:rPr lang="fr-CA" sz="4000" b="1" dirty="0">
                <a:solidFill>
                  <a:srgbClr val="FF0000"/>
                </a:solidFill>
                <a:latin typeface="Times New Roman" panose="02020603050405020304" pitchFamily="18" charset="0"/>
                <a:cs typeface="Times New Roman" panose="02020603050405020304" pitchFamily="18" charset="0"/>
              </a:rPr>
              <a:t>2.</a:t>
            </a:r>
            <a:r>
              <a:rPr lang="fr-CA" sz="4000" b="1" dirty="0">
                <a:solidFill>
                  <a:srgbClr val="FF0000"/>
                </a:solidFill>
              </a:rPr>
              <a:t>1/ les protéoglycanes </a:t>
            </a:r>
            <a:endParaRPr lang="fr-CA" sz="4800" b="1" dirty="0">
              <a:solidFill>
                <a:srgbClr val="FF0000"/>
              </a:solidFill>
            </a:endParaRPr>
          </a:p>
          <a:p>
            <a:pPr>
              <a:defRPr/>
            </a:pPr>
            <a:r>
              <a:rPr lang="fr-CA" sz="4800" b="1" dirty="0">
                <a:solidFill>
                  <a:srgbClr val="002060"/>
                </a:solidFill>
                <a:latin typeface="Times New Roman" panose="02020603050405020304" pitchFamily="18" charset="0"/>
                <a:cs typeface="Times New Roman" panose="02020603050405020304" pitchFamily="18" charset="0"/>
              </a:rPr>
              <a:t> </a:t>
            </a:r>
          </a:p>
          <a:p>
            <a:pPr>
              <a:defRPr/>
            </a:pPr>
            <a:endParaRPr lang="fr-CA" sz="4800" b="1" dirty="0">
              <a:solidFill>
                <a:srgbClr val="002060"/>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2742059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1631216"/>
          </a:xfrm>
          <a:prstGeom prst="rect">
            <a:avLst/>
          </a:prstGeom>
          <a:noFill/>
        </p:spPr>
        <p:txBody>
          <a:bodyPr wrap="square" rtlCol="0">
            <a:spAutoFit/>
          </a:bodyPr>
          <a:lstStyle/>
          <a:p>
            <a:r>
              <a:rPr lang="fr-CA" sz="2000" b="1" dirty="0">
                <a:solidFill>
                  <a:srgbClr val="FF0000"/>
                </a:solidFill>
              </a:rPr>
              <a:t>1/ les protéoglycanes </a:t>
            </a:r>
          </a:p>
          <a:p>
            <a:r>
              <a:rPr lang="fr-CA" sz="2000" b="1" dirty="0"/>
              <a:t>Très hétérogènes et très volumineuses, </a:t>
            </a:r>
          </a:p>
          <a:p>
            <a:r>
              <a:rPr lang="fr-CA" sz="2000" b="1" dirty="0"/>
              <a:t>Protéine (minoritaire) + polymère glucidique majoritaire (GAG/ MPS)</a:t>
            </a:r>
          </a:p>
          <a:p>
            <a:endParaRPr lang="fr-CA" sz="2000" b="1" dirty="0"/>
          </a:p>
          <a:p>
            <a:endParaRPr lang="fr-CA" sz="2000" b="1" dirty="0"/>
          </a:p>
        </p:txBody>
      </p:sp>
      <p:sp>
        <p:nvSpPr>
          <p:cNvPr id="3" name="ZoneTexte 2">
            <a:extLst>
              <a:ext uri="{FF2B5EF4-FFF2-40B4-BE49-F238E27FC236}">
                <a16:creationId xmlns:a16="http://schemas.microsoft.com/office/drawing/2014/main" id="{2D16DC40-CBE6-482B-8A9C-12F45B62995C}"/>
              </a:ext>
            </a:extLst>
          </p:cNvPr>
          <p:cNvSpPr txBox="1"/>
          <p:nvPr/>
        </p:nvSpPr>
        <p:spPr>
          <a:xfrm>
            <a:off x="392830" y="3182761"/>
            <a:ext cx="8280000" cy="1015663"/>
          </a:xfrm>
          <a:prstGeom prst="rect">
            <a:avLst/>
          </a:prstGeom>
          <a:noFill/>
        </p:spPr>
        <p:txBody>
          <a:bodyPr wrap="square" rtlCol="0">
            <a:spAutoFit/>
          </a:bodyPr>
          <a:lstStyle/>
          <a:p>
            <a:r>
              <a:rPr lang="fr-CA" sz="2000" b="1" dirty="0">
                <a:solidFill>
                  <a:srgbClr val="FF0000"/>
                </a:solidFill>
              </a:rPr>
              <a:t>GAG: </a:t>
            </a:r>
          </a:p>
          <a:p>
            <a:pPr marL="342900" indent="-342900">
              <a:buFontTx/>
              <a:buChar char="-"/>
            </a:pPr>
            <a:r>
              <a:rPr lang="fr-CA" sz="2000" b="1" dirty="0"/>
              <a:t>hétéropolysaccharide, linéaire, sous-unités disaccharidiques, formées généralement :</a:t>
            </a:r>
          </a:p>
        </p:txBody>
      </p:sp>
      <p:sp>
        <p:nvSpPr>
          <p:cNvPr id="16" name="Forme libre : forme 15">
            <a:extLst>
              <a:ext uri="{FF2B5EF4-FFF2-40B4-BE49-F238E27FC236}">
                <a16:creationId xmlns:a16="http://schemas.microsoft.com/office/drawing/2014/main" id="{F445121D-92FF-47D2-82BF-2E788A702370}"/>
              </a:ext>
            </a:extLst>
          </p:cNvPr>
          <p:cNvSpPr/>
          <p:nvPr/>
        </p:nvSpPr>
        <p:spPr>
          <a:xfrm>
            <a:off x="392830" y="4233069"/>
            <a:ext cx="8572652" cy="509059"/>
          </a:xfrm>
          <a:custGeom>
            <a:avLst/>
            <a:gdLst>
              <a:gd name="connsiteX0" fmla="*/ 0 w 8572652"/>
              <a:gd name="connsiteY0" fmla="*/ 84845 h 509059"/>
              <a:gd name="connsiteX1" fmla="*/ 84845 w 8572652"/>
              <a:gd name="connsiteY1" fmla="*/ 0 h 509059"/>
              <a:gd name="connsiteX2" fmla="*/ 8487807 w 8572652"/>
              <a:gd name="connsiteY2" fmla="*/ 0 h 509059"/>
              <a:gd name="connsiteX3" fmla="*/ 8572652 w 8572652"/>
              <a:gd name="connsiteY3" fmla="*/ 84845 h 509059"/>
              <a:gd name="connsiteX4" fmla="*/ 8572652 w 8572652"/>
              <a:gd name="connsiteY4" fmla="*/ 424214 h 509059"/>
              <a:gd name="connsiteX5" fmla="*/ 8487807 w 8572652"/>
              <a:gd name="connsiteY5" fmla="*/ 509059 h 509059"/>
              <a:gd name="connsiteX6" fmla="*/ 84845 w 8572652"/>
              <a:gd name="connsiteY6" fmla="*/ 509059 h 509059"/>
              <a:gd name="connsiteX7" fmla="*/ 0 w 8572652"/>
              <a:gd name="connsiteY7" fmla="*/ 424214 h 509059"/>
              <a:gd name="connsiteX8" fmla="*/ 0 w 8572652"/>
              <a:gd name="connsiteY8" fmla="*/ 84845 h 50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72652" h="509059">
                <a:moveTo>
                  <a:pt x="0" y="84845"/>
                </a:moveTo>
                <a:cubicBezTo>
                  <a:pt x="0" y="37986"/>
                  <a:pt x="37986" y="0"/>
                  <a:pt x="84845" y="0"/>
                </a:cubicBezTo>
                <a:lnTo>
                  <a:pt x="8487807" y="0"/>
                </a:lnTo>
                <a:cubicBezTo>
                  <a:pt x="8534666" y="0"/>
                  <a:pt x="8572652" y="37986"/>
                  <a:pt x="8572652" y="84845"/>
                </a:cubicBezTo>
                <a:lnTo>
                  <a:pt x="8572652" y="424214"/>
                </a:lnTo>
                <a:cubicBezTo>
                  <a:pt x="8572652" y="471073"/>
                  <a:pt x="8534666" y="509059"/>
                  <a:pt x="8487807" y="509059"/>
                </a:cubicBezTo>
                <a:lnTo>
                  <a:pt x="84845" y="509059"/>
                </a:lnTo>
                <a:cubicBezTo>
                  <a:pt x="37986" y="509059"/>
                  <a:pt x="0" y="471073"/>
                  <a:pt x="0" y="424214"/>
                </a:cubicBezTo>
                <a:lnTo>
                  <a:pt x="0" y="84845"/>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860" tIns="104860" rIns="104860" bIns="104860" numCol="1" spcCol="1270" anchor="ctr" anchorCtr="0">
            <a:noAutofit/>
          </a:bodyPr>
          <a:lstStyle/>
          <a:p>
            <a:pPr marL="0" lvl="0" indent="0" algn="l" defTabSz="933450">
              <a:lnSpc>
                <a:spcPct val="90000"/>
              </a:lnSpc>
              <a:spcBef>
                <a:spcPct val="0"/>
              </a:spcBef>
              <a:spcAft>
                <a:spcPct val="35000"/>
              </a:spcAft>
              <a:buNone/>
            </a:pPr>
            <a:r>
              <a:rPr lang="fr-CA" sz="2100" b="1" kern="1200" dirty="0"/>
              <a:t>-	Une hexosamine, souvent acétylée; sulfatée ou non :  </a:t>
            </a:r>
            <a:endParaRPr lang="fr-DZ" sz="2100" kern="1200" dirty="0"/>
          </a:p>
        </p:txBody>
      </p:sp>
      <p:sp>
        <p:nvSpPr>
          <p:cNvPr id="17" name="Forme libre : forme 16">
            <a:extLst>
              <a:ext uri="{FF2B5EF4-FFF2-40B4-BE49-F238E27FC236}">
                <a16:creationId xmlns:a16="http://schemas.microsoft.com/office/drawing/2014/main" id="{195785FB-1832-4DBB-8D33-417FE383D1D8}"/>
              </a:ext>
            </a:extLst>
          </p:cNvPr>
          <p:cNvSpPr/>
          <p:nvPr/>
        </p:nvSpPr>
        <p:spPr>
          <a:xfrm>
            <a:off x="392830" y="4742129"/>
            <a:ext cx="8751170" cy="499904"/>
          </a:xfrm>
          <a:custGeom>
            <a:avLst/>
            <a:gdLst>
              <a:gd name="connsiteX0" fmla="*/ 0 w 8572652"/>
              <a:gd name="connsiteY0" fmla="*/ 0 h 499904"/>
              <a:gd name="connsiteX1" fmla="*/ 8572652 w 8572652"/>
              <a:gd name="connsiteY1" fmla="*/ 0 h 499904"/>
              <a:gd name="connsiteX2" fmla="*/ 8572652 w 8572652"/>
              <a:gd name="connsiteY2" fmla="*/ 499904 h 499904"/>
              <a:gd name="connsiteX3" fmla="*/ 0 w 8572652"/>
              <a:gd name="connsiteY3" fmla="*/ 499904 h 499904"/>
              <a:gd name="connsiteX4" fmla="*/ 0 w 8572652"/>
              <a:gd name="connsiteY4" fmla="*/ 0 h 499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652" h="499904">
                <a:moveTo>
                  <a:pt x="0" y="0"/>
                </a:moveTo>
                <a:lnTo>
                  <a:pt x="8572652" y="0"/>
                </a:lnTo>
                <a:lnTo>
                  <a:pt x="8572652" y="499904"/>
                </a:lnTo>
                <a:lnTo>
                  <a:pt x="0" y="4999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218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fr-CA" sz="2000" b="1" kern="1200" dirty="0"/>
              <a:t>N-acétylglucosamine (GlcNAc)</a:t>
            </a:r>
            <a:r>
              <a:rPr lang="fr-FR" sz="2000" dirty="0"/>
              <a:t>     </a:t>
            </a:r>
            <a:r>
              <a:rPr lang="fr-CA" sz="2000" b="1" kern="1200" dirty="0"/>
              <a:t>Ou    </a:t>
            </a:r>
            <a:r>
              <a:rPr lang="fr-CA" sz="2000" b="1" kern="1200" dirty="0" err="1"/>
              <a:t>N-acétylegalactosamine</a:t>
            </a:r>
            <a:r>
              <a:rPr lang="fr-CA" sz="2000" b="1" kern="1200" dirty="0"/>
              <a:t> (</a:t>
            </a:r>
            <a:r>
              <a:rPr lang="fr-CA" sz="2000" b="1" kern="1200" dirty="0" err="1"/>
              <a:t>GalNAc</a:t>
            </a:r>
            <a:r>
              <a:rPr lang="fr-CA" sz="2000" b="1" kern="1200" dirty="0"/>
              <a:t>)</a:t>
            </a:r>
            <a:endParaRPr lang="fr-DZ" kern="1200" dirty="0"/>
          </a:p>
        </p:txBody>
      </p:sp>
      <p:sp>
        <p:nvSpPr>
          <p:cNvPr id="18" name="Forme libre : forme 17">
            <a:extLst>
              <a:ext uri="{FF2B5EF4-FFF2-40B4-BE49-F238E27FC236}">
                <a16:creationId xmlns:a16="http://schemas.microsoft.com/office/drawing/2014/main" id="{3E078BAE-2E99-4E1B-8865-F1309F480F4C}"/>
              </a:ext>
            </a:extLst>
          </p:cNvPr>
          <p:cNvSpPr/>
          <p:nvPr/>
        </p:nvSpPr>
        <p:spPr>
          <a:xfrm>
            <a:off x="392830" y="5242034"/>
            <a:ext cx="8572652" cy="509059"/>
          </a:xfrm>
          <a:custGeom>
            <a:avLst/>
            <a:gdLst>
              <a:gd name="connsiteX0" fmla="*/ 0 w 8572652"/>
              <a:gd name="connsiteY0" fmla="*/ 84845 h 509059"/>
              <a:gd name="connsiteX1" fmla="*/ 84845 w 8572652"/>
              <a:gd name="connsiteY1" fmla="*/ 0 h 509059"/>
              <a:gd name="connsiteX2" fmla="*/ 8487807 w 8572652"/>
              <a:gd name="connsiteY2" fmla="*/ 0 h 509059"/>
              <a:gd name="connsiteX3" fmla="*/ 8572652 w 8572652"/>
              <a:gd name="connsiteY3" fmla="*/ 84845 h 509059"/>
              <a:gd name="connsiteX4" fmla="*/ 8572652 w 8572652"/>
              <a:gd name="connsiteY4" fmla="*/ 424214 h 509059"/>
              <a:gd name="connsiteX5" fmla="*/ 8487807 w 8572652"/>
              <a:gd name="connsiteY5" fmla="*/ 509059 h 509059"/>
              <a:gd name="connsiteX6" fmla="*/ 84845 w 8572652"/>
              <a:gd name="connsiteY6" fmla="*/ 509059 h 509059"/>
              <a:gd name="connsiteX7" fmla="*/ 0 w 8572652"/>
              <a:gd name="connsiteY7" fmla="*/ 424214 h 509059"/>
              <a:gd name="connsiteX8" fmla="*/ 0 w 8572652"/>
              <a:gd name="connsiteY8" fmla="*/ 84845 h 50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72652" h="509059">
                <a:moveTo>
                  <a:pt x="0" y="84845"/>
                </a:moveTo>
                <a:cubicBezTo>
                  <a:pt x="0" y="37986"/>
                  <a:pt x="37986" y="0"/>
                  <a:pt x="84845" y="0"/>
                </a:cubicBezTo>
                <a:lnTo>
                  <a:pt x="8487807" y="0"/>
                </a:lnTo>
                <a:cubicBezTo>
                  <a:pt x="8534666" y="0"/>
                  <a:pt x="8572652" y="37986"/>
                  <a:pt x="8572652" y="84845"/>
                </a:cubicBezTo>
                <a:lnTo>
                  <a:pt x="8572652" y="424214"/>
                </a:lnTo>
                <a:cubicBezTo>
                  <a:pt x="8572652" y="471073"/>
                  <a:pt x="8534666" y="509059"/>
                  <a:pt x="8487807" y="509059"/>
                </a:cubicBezTo>
                <a:lnTo>
                  <a:pt x="84845" y="509059"/>
                </a:lnTo>
                <a:cubicBezTo>
                  <a:pt x="37986" y="509059"/>
                  <a:pt x="0" y="471073"/>
                  <a:pt x="0" y="424214"/>
                </a:cubicBezTo>
                <a:lnTo>
                  <a:pt x="0" y="84845"/>
                </a:lnTo>
                <a:close/>
              </a:path>
            </a:pathLst>
          </a:custGeom>
        </p:spPr>
        <p:style>
          <a:lnRef idx="2">
            <a:schemeClr val="lt1">
              <a:hueOff val="0"/>
              <a:satOff val="0"/>
              <a:lumOff val="0"/>
              <a:alphaOff val="0"/>
            </a:schemeClr>
          </a:lnRef>
          <a:fillRef idx="1">
            <a:schemeClr val="accent3">
              <a:hueOff val="-617032"/>
              <a:satOff val="-10836"/>
              <a:lumOff val="-196"/>
              <a:alphaOff val="0"/>
            </a:schemeClr>
          </a:fillRef>
          <a:effectRef idx="0">
            <a:schemeClr val="accent3">
              <a:hueOff val="-617032"/>
              <a:satOff val="-10836"/>
              <a:lumOff val="-196"/>
              <a:alphaOff val="0"/>
            </a:schemeClr>
          </a:effectRef>
          <a:fontRef idx="minor">
            <a:schemeClr val="lt1"/>
          </a:fontRef>
        </p:style>
        <p:txBody>
          <a:bodyPr spcFirstLastPara="0" vert="horz" wrap="square" lIns="104860" tIns="104860" rIns="104860" bIns="104860" numCol="1" spcCol="1270" anchor="ctr" anchorCtr="0">
            <a:noAutofit/>
          </a:bodyPr>
          <a:lstStyle/>
          <a:p>
            <a:pPr marL="0" lvl="0" indent="0" algn="l" defTabSz="933450">
              <a:lnSpc>
                <a:spcPct val="90000"/>
              </a:lnSpc>
              <a:spcBef>
                <a:spcPct val="0"/>
              </a:spcBef>
              <a:spcAft>
                <a:spcPct val="35000"/>
              </a:spcAft>
              <a:buNone/>
            </a:pPr>
            <a:r>
              <a:rPr lang="fr-CA" sz="2100" b="1" kern="1200" dirty="0"/>
              <a:t>-	Et d’un acide </a:t>
            </a:r>
            <a:r>
              <a:rPr lang="fr-CA" sz="2100" b="1" kern="1200" dirty="0" err="1"/>
              <a:t>hexuronique</a:t>
            </a:r>
            <a:r>
              <a:rPr lang="fr-CA" sz="2100" b="1" kern="1200" dirty="0"/>
              <a:t> : </a:t>
            </a:r>
            <a:endParaRPr lang="fr-DZ" sz="2100" kern="1200" dirty="0"/>
          </a:p>
        </p:txBody>
      </p:sp>
      <p:sp>
        <p:nvSpPr>
          <p:cNvPr id="19" name="Forme libre : forme 18">
            <a:extLst>
              <a:ext uri="{FF2B5EF4-FFF2-40B4-BE49-F238E27FC236}">
                <a16:creationId xmlns:a16="http://schemas.microsoft.com/office/drawing/2014/main" id="{054CDCEC-E50D-44EF-9A7A-5D20AB06A554}"/>
              </a:ext>
            </a:extLst>
          </p:cNvPr>
          <p:cNvSpPr/>
          <p:nvPr/>
        </p:nvSpPr>
        <p:spPr>
          <a:xfrm>
            <a:off x="392830" y="5751094"/>
            <a:ext cx="8572652" cy="499904"/>
          </a:xfrm>
          <a:custGeom>
            <a:avLst/>
            <a:gdLst>
              <a:gd name="connsiteX0" fmla="*/ 0 w 8572652"/>
              <a:gd name="connsiteY0" fmla="*/ 0 h 499904"/>
              <a:gd name="connsiteX1" fmla="*/ 8572652 w 8572652"/>
              <a:gd name="connsiteY1" fmla="*/ 0 h 499904"/>
              <a:gd name="connsiteX2" fmla="*/ 8572652 w 8572652"/>
              <a:gd name="connsiteY2" fmla="*/ 499904 h 499904"/>
              <a:gd name="connsiteX3" fmla="*/ 0 w 8572652"/>
              <a:gd name="connsiteY3" fmla="*/ 499904 h 499904"/>
              <a:gd name="connsiteX4" fmla="*/ 0 w 8572652"/>
              <a:gd name="connsiteY4" fmla="*/ 0 h 499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652" h="499904">
                <a:moveTo>
                  <a:pt x="0" y="0"/>
                </a:moveTo>
                <a:lnTo>
                  <a:pt x="8572652" y="0"/>
                </a:lnTo>
                <a:lnTo>
                  <a:pt x="8572652" y="499904"/>
                </a:lnTo>
                <a:lnTo>
                  <a:pt x="0" y="4999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218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fr-CA" sz="2000" b="1" dirty="0"/>
              <a:t>Acide glucuronique </a:t>
            </a:r>
            <a:r>
              <a:rPr lang="fr-FR" sz="2000" b="1" dirty="0"/>
              <a:t>                     </a:t>
            </a:r>
            <a:r>
              <a:rPr lang="fr-CA" sz="2000" b="1" dirty="0"/>
              <a:t>Ou     acide iduronique</a:t>
            </a:r>
            <a:endParaRPr lang="fr-DZ" sz="2000" b="1" dirty="0"/>
          </a:p>
        </p:txBody>
      </p:sp>
      <p:sp>
        <p:nvSpPr>
          <p:cNvPr id="20" name="Forme libre : forme 19">
            <a:extLst>
              <a:ext uri="{FF2B5EF4-FFF2-40B4-BE49-F238E27FC236}">
                <a16:creationId xmlns:a16="http://schemas.microsoft.com/office/drawing/2014/main" id="{4BD112A2-9A6B-43D0-BA7A-71EA44860607}"/>
              </a:ext>
            </a:extLst>
          </p:cNvPr>
          <p:cNvSpPr/>
          <p:nvPr/>
        </p:nvSpPr>
        <p:spPr>
          <a:xfrm>
            <a:off x="392830" y="6250999"/>
            <a:ext cx="8572652" cy="509059"/>
          </a:xfrm>
          <a:custGeom>
            <a:avLst/>
            <a:gdLst>
              <a:gd name="connsiteX0" fmla="*/ 0 w 8572652"/>
              <a:gd name="connsiteY0" fmla="*/ 84845 h 509059"/>
              <a:gd name="connsiteX1" fmla="*/ 84845 w 8572652"/>
              <a:gd name="connsiteY1" fmla="*/ 0 h 509059"/>
              <a:gd name="connsiteX2" fmla="*/ 8487807 w 8572652"/>
              <a:gd name="connsiteY2" fmla="*/ 0 h 509059"/>
              <a:gd name="connsiteX3" fmla="*/ 8572652 w 8572652"/>
              <a:gd name="connsiteY3" fmla="*/ 84845 h 509059"/>
              <a:gd name="connsiteX4" fmla="*/ 8572652 w 8572652"/>
              <a:gd name="connsiteY4" fmla="*/ 424214 h 509059"/>
              <a:gd name="connsiteX5" fmla="*/ 8487807 w 8572652"/>
              <a:gd name="connsiteY5" fmla="*/ 509059 h 509059"/>
              <a:gd name="connsiteX6" fmla="*/ 84845 w 8572652"/>
              <a:gd name="connsiteY6" fmla="*/ 509059 h 509059"/>
              <a:gd name="connsiteX7" fmla="*/ 0 w 8572652"/>
              <a:gd name="connsiteY7" fmla="*/ 424214 h 509059"/>
              <a:gd name="connsiteX8" fmla="*/ 0 w 8572652"/>
              <a:gd name="connsiteY8" fmla="*/ 84845 h 50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72652" h="509059">
                <a:moveTo>
                  <a:pt x="0" y="84845"/>
                </a:moveTo>
                <a:cubicBezTo>
                  <a:pt x="0" y="37986"/>
                  <a:pt x="37986" y="0"/>
                  <a:pt x="84845" y="0"/>
                </a:cubicBezTo>
                <a:lnTo>
                  <a:pt x="8487807" y="0"/>
                </a:lnTo>
                <a:cubicBezTo>
                  <a:pt x="8534666" y="0"/>
                  <a:pt x="8572652" y="37986"/>
                  <a:pt x="8572652" y="84845"/>
                </a:cubicBezTo>
                <a:lnTo>
                  <a:pt x="8572652" y="424214"/>
                </a:lnTo>
                <a:cubicBezTo>
                  <a:pt x="8572652" y="471073"/>
                  <a:pt x="8534666" y="509059"/>
                  <a:pt x="8487807" y="509059"/>
                </a:cubicBezTo>
                <a:lnTo>
                  <a:pt x="84845" y="509059"/>
                </a:lnTo>
                <a:cubicBezTo>
                  <a:pt x="37986" y="509059"/>
                  <a:pt x="0" y="471073"/>
                  <a:pt x="0" y="424214"/>
                </a:cubicBezTo>
                <a:lnTo>
                  <a:pt x="0" y="84845"/>
                </a:lnTo>
                <a:close/>
              </a:path>
            </a:pathLst>
          </a:custGeom>
        </p:spPr>
        <p:style>
          <a:lnRef idx="2">
            <a:schemeClr val="lt1">
              <a:hueOff val="0"/>
              <a:satOff val="0"/>
              <a:lumOff val="0"/>
              <a:alphaOff val="0"/>
            </a:schemeClr>
          </a:lnRef>
          <a:fillRef idx="1">
            <a:schemeClr val="accent3">
              <a:hueOff val="-1234063"/>
              <a:satOff val="-21671"/>
              <a:lumOff val="-392"/>
              <a:alphaOff val="0"/>
            </a:schemeClr>
          </a:fillRef>
          <a:effectRef idx="0">
            <a:schemeClr val="accent3">
              <a:hueOff val="-1234063"/>
              <a:satOff val="-21671"/>
              <a:lumOff val="-392"/>
              <a:alphaOff val="0"/>
            </a:schemeClr>
          </a:effectRef>
          <a:fontRef idx="minor">
            <a:schemeClr val="lt1"/>
          </a:fontRef>
        </p:style>
        <p:txBody>
          <a:bodyPr spcFirstLastPara="0" vert="horz" wrap="square" lIns="104860" tIns="104860" rIns="104860" bIns="104860" numCol="1" spcCol="1270" anchor="ctr" anchorCtr="0">
            <a:noAutofit/>
          </a:bodyPr>
          <a:lstStyle/>
          <a:p>
            <a:pPr marL="0" lvl="0" indent="0" algn="l" defTabSz="933450">
              <a:lnSpc>
                <a:spcPct val="90000"/>
              </a:lnSpc>
              <a:spcBef>
                <a:spcPct val="0"/>
              </a:spcBef>
              <a:spcAft>
                <a:spcPct val="35000"/>
              </a:spcAft>
              <a:buNone/>
            </a:pPr>
            <a:r>
              <a:rPr lang="fr-CA" sz="2100" b="1" kern="1200"/>
              <a:t>- Ils sont liés par des liaisons (β1- &gt;4) et (β1-&gt; 3).</a:t>
            </a:r>
            <a:endParaRPr lang="fr-DZ" sz="2100" kern="1200"/>
          </a:p>
        </p:txBody>
      </p:sp>
    </p:spTree>
    <p:extLst>
      <p:ext uri="{BB962C8B-B14F-4D97-AF65-F5344CB8AC3E}">
        <p14:creationId xmlns:p14="http://schemas.microsoft.com/office/powerpoint/2010/main" val="238837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animBg="1"/>
      <p:bldP spid="19" grpId="0"/>
      <p:bldP spid="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pic>
        <p:nvPicPr>
          <p:cNvPr id="6" name="Image 5">
            <a:extLst>
              <a:ext uri="{FF2B5EF4-FFF2-40B4-BE49-F238E27FC236}">
                <a16:creationId xmlns:a16="http://schemas.microsoft.com/office/drawing/2014/main" id="{7CEA02E8-94E7-49A1-A69C-7613488377CE}"/>
              </a:ext>
            </a:extLst>
          </p:cNvPr>
          <p:cNvPicPr>
            <a:picLocks noChangeAspect="1"/>
          </p:cNvPicPr>
          <p:nvPr/>
        </p:nvPicPr>
        <p:blipFill>
          <a:blip r:embed="rId5"/>
          <a:stretch>
            <a:fillRect/>
          </a:stretch>
        </p:blipFill>
        <p:spPr>
          <a:xfrm>
            <a:off x="376671" y="1120943"/>
            <a:ext cx="8015288" cy="5372850"/>
          </a:xfrm>
          <a:prstGeom prst="rect">
            <a:avLst/>
          </a:prstGeom>
        </p:spPr>
      </p:pic>
    </p:spTree>
    <p:extLst>
      <p:ext uri="{BB962C8B-B14F-4D97-AF65-F5344CB8AC3E}">
        <p14:creationId xmlns:p14="http://schemas.microsoft.com/office/powerpoint/2010/main" val="233131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12" name="Forme libre : forme 11">
            <a:extLst>
              <a:ext uri="{FF2B5EF4-FFF2-40B4-BE49-F238E27FC236}">
                <a16:creationId xmlns:a16="http://schemas.microsoft.com/office/drawing/2014/main" id="{C33C7F60-CFC4-4439-BC72-70A2FBB11D92}"/>
              </a:ext>
            </a:extLst>
          </p:cNvPr>
          <p:cNvSpPr/>
          <p:nvPr/>
        </p:nvSpPr>
        <p:spPr>
          <a:xfrm>
            <a:off x="3242607" y="2694017"/>
            <a:ext cx="5441897" cy="1542236"/>
          </a:xfrm>
          <a:custGeom>
            <a:avLst/>
            <a:gdLst>
              <a:gd name="connsiteX0" fmla="*/ 207094 w 1242539"/>
              <a:gd name="connsiteY0" fmla="*/ 0 h 5441896"/>
              <a:gd name="connsiteX1" fmla="*/ 1035445 w 1242539"/>
              <a:gd name="connsiteY1" fmla="*/ 0 h 5441896"/>
              <a:gd name="connsiteX2" fmla="*/ 1242539 w 1242539"/>
              <a:gd name="connsiteY2" fmla="*/ 207094 h 5441896"/>
              <a:gd name="connsiteX3" fmla="*/ 1242539 w 1242539"/>
              <a:gd name="connsiteY3" fmla="*/ 5441896 h 5441896"/>
              <a:gd name="connsiteX4" fmla="*/ 1242539 w 1242539"/>
              <a:gd name="connsiteY4" fmla="*/ 5441896 h 5441896"/>
              <a:gd name="connsiteX5" fmla="*/ 0 w 1242539"/>
              <a:gd name="connsiteY5" fmla="*/ 5441896 h 5441896"/>
              <a:gd name="connsiteX6" fmla="*/ 0 w 1242539"/>
              <a:gd name="connsiteY6" fmla="*/ 5441896 h 5441896"/>
              <a:gd name="connsiteX7" fmla="*/ 0 w 1242539"/>
              <a:gd name="connsiteY7" fmla="*/ 207094 h 5441896"/>
              <a:gd name="connsiteX8" fmla="*/ 207094 w 1242539"/>
              <a:gd name="connsiteY8" fmla="*/ 0 h 544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539" h="5441896">
                <a:moveTo>
                  <a:pt x="1242539" y="907002"/>
                </a:moveTo>
                <a:lnTo>
                  <a:pt x="1242539" y="4534894"/>
                </a:lnTo>
                <a:cubicBezTo>
                  <a:pt x="1242539" y="5035817"/>
                  <a:pt x="1221369" y="5441894"/>
                  <a:pt x="1195253" y="5441894"/>
                </a:cubicBezTo>
                <a:lnTo>
                  <a:pt x="0" y="5441894"/>
                </a:lnTo>
                <a:lnTo>
                  <a:pt x="0" y="5441894"/>
                </a:lnTo>
                <a:lnTo>
                  <a:pt x="0" y="2"/>
                </a:lnTo>
                <a:lnTo>
                  <a:pt x="0" y="2"/>
                </a:lnTo>
                <a:lnTo>
                  <a:pt x="1195253" y="2"/>
                </a:lnTo>
                <a:cubicBezTo>
                  <a:pt x="1221369" y="2"/>
                  <a:pt x="1242539" y="406079"/>
                  <a:pt x="1242539" y="907002"/>
                </a:cubicBez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247651" tIns="184481" rIns="308306" bIns="184482" numCol="1" spcCol="1270" anchor="ctr" anchorCtr="0">
            <a:noAutofit/>
          </a:bodyPr>
          <a:lstStyle/>
          <a:p>
            <a:pPr marL="228600" lvl="1" indent="-228600" algn="l" defTabSz="1066800">
              <a:lnSpc>
                <a:spcPct val="90000"/>
              </a:lnSpc>
              <a:spcBef>
                <a:spcPct val="0"/>
              </a:spcBef>
              <a:spcAft>
                <a:spcPct val="15000"/>
              </a:spcAft>
              <a:buChar char="•"/>
            </a:pPr>
            <a:r>
              <a:rPr lang="fr-FR" sz="2400" kern="1200" dirty="0"/>
              <a:t>acide hyaluronique </a:t>
            </a:r>
            <a:endParaRPr lang="fr-DZ" sz="2400" kern="1200" dirty="0"/>
          </a:p>
          <a:p>
            <a:pPr marL="228600" lvl="1" indent="-228600" algn="l" defTabSz="1066800">
              <a:lnSpc>
                <a:spcPct val="90000"/>
              </a:lnSpc>
              <a:spcBef>
                <a:spcPct val="0"/>
              </a:spcBef>
              <a:spcAft>
                <a:spcPct val="15000"/>
              </a:spcAft>
              <a:buChar char="•"/>
            </a:pPr>
            <a:r>
              <a:rPr lang="fr-FR" sz="2400" kern="1200" dirty="0"/>
              <a:t>dermatane/ dermatane sulfate</a:t>
            </a:r>
            <a:endParaRPr lang="fr-DZ" sz="2400" kern="1200" dirty="0"/>
          </a:p>
          <a:p>
            <a:pPr marL="228600" lvl="1" indent="-228600" algn="l" defTabSz="1066800">
              <a:lnSpc>
                <a:spcPct val="90000"/>
              </a:lnSpc>
              <a:spcBef>
                <a:spcPct val="0"/>
              </a:spcBef>
              <a:spcAft>
                <a:spcPct val="15000"/>
              </a:spcAft>
              <a:buChar char="•"/>
            </a:pPr>
            <a:r>
              <a:rPr lang="fr-FR" sz="2400" kern="1200" dirty="0"/>
              <a:t>chondroïtine sulfate </a:t>
            </a:r>
            <a:endParaRPr lang="fr-DZ" sz="2400" kern="1200" dirty="0"/>
          </a:p>
          <a:p>
            <a:pPr marL="228600" lvl="1" indent="-228600" algn="l" defTabSz="1066800">
              <a:lnSpc>
                <a:spcPct val="90000"/>
              </a:lnSpc>
              <a:spcBef>
                <a:spcPct val="0"/>
              </a:spcBef>
              <a:spcAft>
                <a:spcPct val="15000"/>
              </a:spcAft>
              <a:buChar char="•"/>
            </a:pPr>
            <a:r>
              <a:rPr lang="fr-FR" sz="2400" kern="1200" dirty="0"/>
              <a:t>kératane/ kératane sulfate </a:t>
            </a:r>
            <a:endParaRPr lang="fr-DZ" sz="2400" kern="1200" dirty="0"/>
          </a:p>
        </p:txBody>
      </p:sp>
      <p:sp>
        <p:nvSpPr>
          <p:cNvPr id="13" name="Forme libre : forme 12">
            <a:extLst>
              <a:ext uri="{FF2B5EF4-FFF2-40B4-BE49-F238E27FC236}">
                <a16:creationId xmlns:a16="http://schemas.microsoft.com/office/drawing/2014/main" id="{52348A13-21E9-46EF-B355-81A5186977A1}"/>
              </a:ext>
            </a:extLst>
          </p:cNvPr>
          <p:cNvSpPr/>
          <p:nvPr/>
        </p:nvSpPr>
        <p:spPr>
          <a:xfrm>
            <a:off x="181540" y="2683080"/>
            <a:ext cx="3061067" cy="1553173"/>
          </a:xfrm>
          <a:custGeom>
            <a:avLst/>
            <a:gdLst>
              <a:gd name="connsiteX0" fmla="*/ 0 w 3061067"/>
              <a:gd name="connsiteY0" fmla="*/ 258867 h 1553173"/>
              <a:gd name="connsiteX1" fmla="*/ 258867 w 3061067"/>
              <a:gd name="connsiteY1" fmla="*/ 0 h 1553173"/>
              <a:gd name="connsiteX2" fmla="*/ 2802200 w 3061067"/>
              <a:gd name="connsiteY2" fmla="*/ 0 h 1553173"/>
              <a:gd name="connsiteX3" fmla="*/ 3061067 w 3061067"/>
              <a:gd name="connsiteY3" fmla="*/ 258867 h 1553173"/>
              <a:gd name="connsiteX4" fmla="*/ 3061067 w 3061067"/>
              <a:gd name="connsiteY4" fmla="*/ 1294306 h 1553173"/>
              <a:gd name="connsiteX5" fmla="*/ 2802200 w 3061067"/>
              <a:gd name="connsiteY5" fmla="*/ 1553173 h 1553173"/>
              <a:gd name="connsiteX6" fmla="*/ 258867 w 3061067"/>
              <a:gd name="connsiteY6" fmla="*/ 1553173 h 1553173"/>
              <a:gd name="connsiteX7" fmla="*/ 0 w 3061067"/>
              <a:gd name="connsiteY7" fmla="*/ 1294306 h 1553173"/>
              <a:gd name="connsiteX8" fmla="*/ 0 w 3061067"/>
              <a:gd name="connsiteY8" fmla="*/ 258867 h 155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1067" h="1553173">
                <a:moveTo>
                  <a:pt x="0" y="258867"/>
                </a:moveTo>
                <a:cubicBezTo>
                  <a:pt x="0" y="115899"/>
                  <a:pt x="115899" y="0"/>
                  <a:pt x="258867" y="0"/>
                </a:cubicBezTo>
                <a:lnTo>
                  <a:pt x="2802200" y="0"/>
                </a:lnTo>
                <a:cubicBezTo>
                  <a:pt x="2945168" y="0"/>
                  <a:pt x="3061067" y="115899"/>
                  <a:pt x="3061067" y="258867"/>
                </a:cubicBezTo>
                <a:lnTo>
                  <a:pt x="3061067" y="1294306"/>
                </a:lnTo>
                <a:cubicBezTo>
                  <a:pt x="3061067" y="1437274"/>
                  <a:pt x="2945168" y="1553173"/>
                  <a:pt x="2802200" y="1553173"/>
                </a:cubicBezTo>
                <a:lnTo>
                  <a:pt x="258867" y="1553173"/>
                </a:lnTo>
                <a:cubicBezTo>
                  <a:pt x="115899" y="1553173"/>
                  <a:pt x="0" y="1437274"/>
                  <a:pt x="0" y="1294306"/>
                </a:cubicBezTo>
                <a:lnTo>
                  <a:pt x="0" y="25886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8220" tIns="152020" rIns="228220" bIns="152020" numCol="1" spcCol="1270" anchor="ctr" anchorCtr="0">
            <a:noAutofit/>
          </a:bodyPr>
          <a:lstStyle/>
          <a:p>
            <a:pPr marL="0" lvl="0" indent="0" algn="ctr" defTabSz="1778000">
              <a:lnSpc>
                <a:spcPct val="90000"/>
              </a:lnSpc>
              <a:spcBef>
                <a:spcPct val="0"/>
              </a:spcBef>
              <a:spcAft>
                <a:spcPct val="35000"/>
              </a:spcAft>
              <a:buNone/>
            </a:pPr>
            <a:r>
              <a:rPr lang="fr-FR" sz="4000" kern="1200" dirty="0"/>
              <a:t>GAG de structure</a:t>
            </a:r>
            <a:endParaRPr lang="fr-DZ" sz="4000" kern="1200" dirty="0"/>
          </a:p>
        </p:txBody>
      </p:sp>
      <p:sp>
        <p:nvSpPr>
          <p:cNvPr id="14" name="Forme libre : forme 13">
            <a:extLst>
              <a:ext uri="{FF2B5EF4-FFF2-40B4-BE49-F238E27FC236}">
                <a16:creationId xmlns:a16="http://schemas.microsoft.com/office/drawing/2014/main" id="{D1894CF8-DFCC-4483-927C-E09E5F3D0CFE}"/>
              </a:ext>
            </a:extLst>
          </p:cNvPr>
          <p:cNvSpPr/>
          <p:nvPr/>
        </p:nvSpPr>
        <p:spPr>
          <a:xfrm>
            <a:off x="3242607" y="4469230"/>
            <a:ext cx="5441897" cy="1542236"/>
          </a:xfrm>
          <a:custGeom>
            <a:avLst/>
            <a:gdLst>
              <a:gd name="connsiteX0" fmla="*/ 207094 w 1242539"/>
              <a:gd name="connsiteY0" fmla="*/ 0 h 5441896"/>
              <a:gd name="connsiteX1" fmla="*/ 1035445 w 1242539"/>
              <a:gd name="connsiteY1" fmla="*/ 0 h 5441896"/>
              <a:gd name="connsiteX2" fmla="*/ 1242539 w 1242539"/>
              <a:gd name="connsiteY2" fmla="*/ 207094 h 5441896"/>
              <a:gd name="connsiteX3" fmla="*/ 1242539 w 1242539"/>
              <a:gd name="connsiteY3" fmla="*/ 5441896 h 5441896"/>
              <a:gd name="connsiteX4" fmla="*/ 1242539 w 1242539"/>
              <a:gd name="connsiteY4" fmla="*/ 5441896 h 5441896"/>
              <a:gd name="connsiteX5" fmla="*/ 0 w 1242539"/>
              <a:gd name="connsiteY5" fmla="*/ 5441896 h 5441896"/>
              <a:gd name="connsiteX6" fmla="*/ 0 w 1242539"/>
              <a:gd name="connsiteY6" fmla="*/ 5441896 h 5441896"/>
              <a:gd name="connsiteX7" fmla="*/ 0 w 1242539"/>
              <a:gd name="connsiteY7" fmla="*/ 207094 h 5441896"/>
              <a:gd name="connsiteX8" fmla="*/ 207094 w 1242539"/>
              <a:gd name="connsiteY8" fmla="*/ 0 h 544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539" h="5441896">
                <a:moveTo>
                  <a:pt x="1242539" y="907002"/>
                </a:moveTo>
                <a:lnTo>
                  <a:pt x="1242539" y="4534894"/>
                </a:lnTo>
                <a:cubicBezTo>
                  <a:pt x="1242539" y="5035817"/>
                  <a:pt x="1221369" y="5441894"/>
                  <a:pt x="1195253" y="5441894"/>
                </a:cubicBezTo>
                <a:lnTo>
                  <a:pt x="0" y="5441894"/>
                </a:lnTo>
                <a:lnTo>
                  <a:pt x="0" y="5441894"/>
                </a:lnTo>
                <a:lnTo>
                  <a:pt x="0" y="2"/>
                </a:lnTo>
                <a:lnTo>
                  <a:pt x="0" y="2"/>
                </a:lnTo>
                <a:lnTo>
                  <a:pt x="1195253" y="2"/>
                </a:lnTo>
                <a:cubicBezTo>
                  <a:pt x="1221369" y="2"/>
                  <a:pt x="1242539" y="406079"/>
                  <a:pt x="1242539" y="907002"/>
                </a:cubicBezTo>
                <a:close/>
              </a:path>
            </a:pathLst>
          </a:custGeom>
        </p:spPr>
        <p:style>
          <a:lnRef idx="2">
            <a:schemeClr val="accent2">
              <a:tint val="40000"/>
              <a:alpha val="90000"/>
              <a:hueOff val="-1841865"/>
              <a:satOff val="12270"/>
              <a:lumOff val="1122"/>
              <a:alphaOff val="0"/>
            </a:schemeClr>
          </a:lnRef>
          <a:fillRef idx="1">
            <a:schemeClr val="accent2">
              <a:tint val="40000"/>
              <a:alpha val="90000"/>
              <a:hueOff val="-1841865"/>
              <a:satOff val="12270"/>
              <a:lumOff val="1122"/>
              <a:alphaOff val="0"/>
            </a:schemeClr>
          </a:fillRef>
          <a:effectRef idx="0">
            <a:schemeClr val="accent2">
              <a:tint val="40000"/>
              <a:alpha val="90000"/>
              <a:hueOff val="-1841865"/>
              <a:satOff val="12270"/>
              <a:lumOff val="1122"/>
              <a:alphaOff val="0"/>
            </a:schemeClr>
          </a:effectRef>
          <a:fontRef idx="minor">
            <a:schemeClr val="dk1">
              <a:hueOff val="0"/>
              <a:satOff val="0"/>
              <a:lumOff val="0"/>
              <a:alphaOff val="0"/>
            </a:schemeClr>
          </a:fontRef>
        </p:style>
        <p:txBody>
          <a:bodyPr spcFirstLastPara="0" vert="horz" wrap="square" lIns="247651" tIns="184481" rIns="308306" bIns="184482" numCol="1" spcCol="1270" anchor="ctr" anchorCtr="0">
            <a:noAutofit/>
          </a:bodyPr>
          <a:lstStyle/>
          <a:p>
            <a:pPr marL="228600" lvl="1" indent="-228600" algn="l" defTabSz="1066800">
              <a:lnSpc>
                <a:spcPct val="90000"/>
              </a:lnSpc>
              <a:spcBef>
                <a:spcPct val="0"/>
              </a:spcBef>
              <a:spcAft>
                <a:spcPct val="15000"/>
              </a:spcAft>
              <a:buChar char="•"/>
            </a:pPr>
            <a:r>
              <a:rPr lang="fr-FR" sz="2400" kern="1200" dirty="0"/>
              <a:t>héparine</a:t>
            </a:r>
            <a:r>
              <a:rPr lang="fr-FR" sz="6500" kern="1200" dirty="0"/>
              <a:t> </a:t>
            </a:r>
            <a:endParaRPr lang="fr-DZ" sz="6500" kern="1200" dirty="0"/>
          </a:p>
        </p:txBody>
      </p:sp>
      <p:sp>
        <p:nvSpPr>
          <p:cNvPr id="15" name="Forme libre : forme 14">
            <a:extLst>
              <a:ext uri="{FF2B5EF4-FFF2-40B4-BE49-F238E27FC236}">
                <a16:creationId xmlns:a16="http://schemas.microsoft.com/office/drawing/2014/main" id="{87C47B97-8DC8-4397-8350-370FEE636DCB}"/>
              </a:ext>
            </a:extLst>
          </p:cNvPr>
          <p:cNvSpPr/>
          <p:nvPr/>
        </p:nvSpPr>
        <p:spPr>
          <a:xfrm>
            <a:off x="181540" y="4482361"/>
            <a:ext cx="3061067" cy="1553173"/>
          </a:xfrm>
          <a:custGeom>
            <a:avLst/>
            <a:gdLst>
              <a:gd name="connsiteX0" fmla="*/ 0 w 3061067"/>
              <a:gd name="connsiteY0" fmla="*/ 258867 h 1553173"/>
              <a:gd name="connsiteX1" fmla="*/ 258867 w 3061067"/>
              <a:gd name="connsiteY1" fmla="*/ 0 h 1553173"/>
              <a:gd name="connsiteX2" fmla="*/ 2802200 w 3061067"/>
              <a:gd name="connsiteY2" fmla="*/ 0 h 1553173"/>
              <a:gd name="connsiteX3" fmla="*/ 3061067 w 3061067"/>
              <a:gd name="connsiteY3" fmla="*/ 258867 h 1553173"/>
              <a:gd name="connsiteX4" fmla="*/ 3061067 w 3061067"/>
              <a:gd name="connsiteY4" fmla="*/ 1294306 h 1553173"/>
              <a:gd name="connsiteX5" fmla="*/ 2802200 w 3061067"/>
              <a:gd name="connsiteY5" fmla="*/ 1553173 h 1553173"/>
              <a:gd name="connsiteX6" fmla="*/ 258867 w 3061067"/>
              <a:gd name="connsiteY6" fmla="*/ 1553173 h 1553173"/>
              <a:gd name="connsiteX7" fmla="*/ 0 w 3061067"/>
              <a:gd name="connsiteY7" fmla="*/ 1294306 h 1553173"/>
              <a:gd name="connsiteX8" fmla="*/ 0 w 3061067"/>
              <a:gd name="connsiteY8" fmla="*/ 258867 h 155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1067" h="1553173">
                <a:moveTo>
                  <a:pt x="0" y="258867"/>
                </a:moveTo>
                <a:cubicBezTo>
                  <a:pt x="0" y="115899"/>
                  <a:pt x="115899" y="0"/>
                  <a:pt x="258867" y="0"/>
                </a:cubicBezTo>
                <a:lnTo>
                  <a:pt x="2802200" y="0"/>
                </a:lnTo>
                <a:cubicBezTo>
                  <a:pt x="2945168" y="0"/>
                  <a:pt x="3061067" y="115899"/>
                  <a:pt x="3061067" y="258867"/>
                </a:cubicBezTo>
                <a:lnTo>
                  <a:pt x="3061067" y="1294306"/>
                </a:lnTo>
                <a:cubicBezTo>
                  <a:pt x="3061067" y="1437274"/>
                  <a:pt x="2945168" y="1553173"/>
                  <a:pt x="2802200" y="1553173"/>
                </a:cubicBezTo>
                <a:lnTo>
                  <a:pt x="258867" y="1553173"/>
                </a:lnTo>
                <a:cubicBezTo>
                  <a:pt x="115899" y="1553173"/>
                  <a:pt x="0" y="1437274"/>
                  <a:pt x="0" y="1294306"/>
                </a:cubicBezTo>
                <a:lnTo>
                  <a:pt x="0" y="258867"/>
                </a:lnTo>
                <a:close/>
              </a:path>
            </a:pathLst>
          </a:custGeom>
        </p:spPr>
        <p:style>
          <a:lnRef idx="2">
            <a:schemeClr val="lt1">
              <a:hueOff val="0"/>
              <a:satOff val="0"/>
              <a:lumOff val="0"/>
              <a:alphaOff val="0"/>
            </a:schemeClr>
          </a:lnRef>
          <a:fillRef idx="1">
            <a:schemeClr val="accent2">
              <a:hueOff val="-1323373"/>
              <a:satOff val="1492"/>
              <a:lumOff val="3530"/>
              <a:alphaOff val="0"/>
            </a:schemeClr>
          </a:fillRef>
          <a:effectRef idx="0">
            <a:schemeClr val="accent2">
              <a:hueOff val="-1323373"/>
              <a:satOff val="1492"/>
              <a:lumOff val="3530"/>
              <a:alphaOff val="0"/>
            </a:schemeClr>
          </a:effectRef>
          <a:fontRef idx="minor">
            <a:schemeClr val="lt1"/>
          </a:fontRef>
        </p:style>
        <p:txBody>
          <a:bodyPr spcFirstLastPara="0" vert="horz" wrap="square" lIns="228220" tIns="152020" rIns="228220" bIns="152020" numCol="1" spcCol="1270" anchor="ctr" anchorCtr="0">
            <a:noAutofit/>
          </a:bodyPr>
          <a:lstStyle/>
          <a:p>
            <a:pPr marL="0" lvl="0" indent="0" algn="ctr" defTabSz="1778000">
              <a:lnSpc>
                <a:spcPct val="90000"/>
              </a:lnSpc>
              <a:spcBef>
                <a:spcPct val="0"/>
              </a:spcBef>
              <a:spcAft>
                <a:spcPct val="35000"/>
              </a:spcAft>
              <a:buNone/>
            </a:pPr>
            <a:r>
              <a:rPr lang="fr-FR" sz="4000" kern="1200" dirty="0"/>
              <a:t>GAG de sécrétion </a:t>
            </a:r>
            <a:endParaRPr lang="fr-DZ" sz="4000" kern="1200" dirty="0"/>
          </a:p>
        </p:txBody>
      </p:sp>
    </p:spTree>
    <p:extLst>
      <p:ext uri="{BB962C8B-B14F-4D97-AF65-F5344CB8AC3E}">
        <p14:creationId xmlns:p14="http://schemas.microsoft.com/office/powerpoint/2010/main" val="22481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1323439"/>
          </a:xfrm>
          <a:prstGeom prst="rect">
            <a:avLst/>
          </a:prstGeom>
          <a:noFill/>
        </p:spPr>
        <p:txBody>
          <a:bodyPr wrap="square" rtlCol="0">
            <a:spAutoFit/>
          </a:bodyPr>
          <a:lstStyle/>
          <a:p>
            <a:r>
              <a:rPr lang="fr-CA" sz="2000" b="1" dirty="0">
                <a:solidFill>
                  <a:srgbClr val="FF0000"/>
                </a:solidFill>
              </a:rPr>
              <a:t>1/ les protéoglycanes</a:t>
            </a:r>
            <a:endParaRPr lang="fr-FR" sz="2000" b="1" dirty="0">
              <a:solidFill>
                <a:srgbClr val="FF0000"/>
              </a:solidFill>
            </a:endParaRPr>
          </a:p>
          <a:p>
            <a:r>
              <a:rPr lang="fr-CA" sz="2000" b="1" dirty="0"/>
              <a:t>						A: GAG de structure</a:t>
            </a:r>
          </a:p>
          <a:p>
            <a:r>
              <a:rPr lang="fr-CA" sz="2000" b="1" dirty="0"/>
              <a:t> Sont des molécules étirées et rigides, </a:t>
            </a:r>
            <a:r>
              <a:rPr lang="fr-CA" sz="2000" b="1" dirty="0" err="1"/>
              <a:t>polyanionique</a:t>
            </a:r>
            <a:r>
              <a:rPr lang="fr-CA" sz="2000" b="1" dirty="0"/>
              <a:t>, très hydrophiles qui entrent dans la composition de la matrice extracellulaire. </a:t>
            </a:r>
          </a:p>
        </p:txBody>
      </p:sp>
    </p:spTree>
    <p:extLst>
      <p:ext uri="{BB962C8B-B14F-4D97-AF65-F5344CB8AC3E}">
        <p14:creationId xmlns:p14="http://schemas.microsoft.com/office/powerpoint/2010/main" val="8357341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4170372"/>
          </a:xfrm>
          <a:prstGeom prst="rect">
            <a:avLst/>
          </a:prstGeom>
          <a:noFill/>
        </p:spPr>
        <p:txBody>
          <a:bodyPr wrap="square" rtlCol="0">
            <a:spAutoFit/>
          </a:bodyPr>
          <a:lstStyle/>
          <a:p>
            <a:r>
              <a:rPr lang="fr-CA" sz="2000" b="1" dirty="0">
                <a:solidFill>
                  <a:srgbClr val="FF0000"/>
                </a:solidFill>
              </a:rPr>
              <a:t>1/ les protéoglycanes et mucopolysaccharides </a:t>
            </a:r>
            <a:endParaRPr lang="fr-FR" sz="2000" b="1" dirty="0">
              <a:solidFill>
                <a:srgbClr val="FF0000"/>
              </a:solidFill>
            </a:endParaRPr>
          </a:p>
          <a:p>
            <a:r>
              <a:rPr lang="fr-CA" sz="2000" b="1" dirty="0"/>
              <a:t>						A: GAG de structure</a:t>
            </a:r>
          </a:p>
          <a:p>
            <a:pPr marL="342900" indent="-342900">
              <a:buFont typeface="Wingdings" panose="05000000000000000000" pitchFamily="2" charset="2"/>
              <a:buChar char="v"/>
            </a:pPr>
            <a:r>
              <a:rPr lang="fr-CA" sz="2000" b="1" dirty="0">
                <a:solidFill>
                  <a:srgbClr val="7030A0"/>
                </a:solidFill>
              </a:rPr>
              <a:t>L’acide hyaluronique </a:t>
            </a:r>
          </a:p>
          <a:p>
            <a:pPr>
              <a:spcBef>
                <a:spcPts val="600"/>
              </a:spcBef>
            </a:pPr>
            <a:r>
              <a:rPr lang="fr-CA" sz="2000" b="1" dirty="0"/>
              <a:t>C’est le plus simple des glycosaminoglycanes, </a:t>
            </a:r>
          </a:p>
          <a:p>
            <a:r>
              <a:rPr lang="fr-CA" sz="2000" b="1" dirty="0"/>
              <a:t>L’unité disaccharidiques (l’acide </a:t>
            </a:r>
            <a:r>
              <a:rPr lang="fr-CA" sz="2000" b="1" dirty="0" err="1"/>
              <a:t>hyalobiuronique</a:t>
            </a:r>
            <a:r>
              <a:rPr lang="fr-CA" sz="2000" b="1" dirty="0"/>
              <a:t>) : </a:t>
            </a:r>
          </a:p>
          <a:p>
            <a:r>
              <a:rPr lang="fr-CA" sz="2000" b="1" dirty="0"/>
              <a:t>			acide glucuronique (β1- 3) </a:t>
            </a:r>
            <a:r>
              <a:rPr lang="fr-CA" sz="2000" b="1" dirty="0" err="1"/>
              <a:t>N-acétyle</a:t>
            </a:r>
            <a:r>
              <a:rPr lang="fr-CA" sz="2000" b="1" dirty="0"/>
              <a:t> D-</a:t>
            </a:r>
            <a:r>
              <a:rPr lang="fr-CA" sz="2000" b="1" dirty="0" err="1"/>
              <a:t>glucosmine</a:t>
            </a:r>
            <a:r>
              <a:rPr lang="fr-CA" sz="2000" b="1" dirty="0"/>
              <a:t> </a:t>
            </a:r>
            <a:r>
              <a:rPr lang="el-GR" sz="2000" b="1" dirty="0"/>
              <a:t>(β1- 4). </a:t>
            </a:r>
            <a:r>
              <a:rPr lang="fr-CA" sz="2000" b="1" dirty="0"/>
              <a:t>. </a:t>
            </a:r>
          </a:p>
          <a:p>
            <a:endParaRPr lang="fr-CA" sz="2000" b="1" dirty="0"/>
          </a:p>
          <a:p>
            <a:r>
              <a:rPr lang="fr-CA" sz="2000" b="1" dirty="0"/>
              <a:t>L’acide hyaluronique présente les exceptions suivantes :</a:t>
            </a:r>
          </a:p>
          <a:p>
            <a:r>
              <a:rPr lang="fr-CA" sz="2000" b="1" dirty="0"/>
              <a:t>-	Non sulfaté</a:t>
            </a:r>
          </a:p>
          <a:p>
            <a:r>
              <a:rPr lang="fr-CA" sz="2000" b="1" dirty="0"/>
              <a:t>-	La fraction </a:t>
            </a:r>
            <a:r>
              <a:rPr lang="fr-CA" sz="2000" b="1" dirty="0" err="1"/>
              <a:t>polyosidique</a:t>
            </a:r>
            <a:r>
              <a:rPr lang="fr-CA" sz="2000" b="1" dirty="0"/>
              <a:t> est liée à la fraction protéique par des liaisons ionique et non covalente. </a:t>
            </a:r>
          </a:p>
          <a:p>
            <a:endParaRPr lang="fr-CA" sz="2000" b="1" dirty="0"/>
          </a:p>
          <a:p>
            <a:endParaRPr lang="fr-CA" sz="2000" b="1" dirty="0"/>
          </a:p>
        </p:txBody>
      </p:sp>
      <p:grpSp>
        <p:nvGrpSpPr>
          <p:cNvPr id="11" name="Groupe 10">
            <a:extLst>
              <a:ext uri="{FF2B5EF4-FFF2-40B4-BE49-F238E27FC236}">
                <a16:creationId xmlns:a16="http://schemas.microsoft.com/office/drawing/2014/main" id="{A2EE99EC-49A5-46EF-B73D-FC0C6182BB47}"/>
              </a:ext>
            </a:extLst>
          </p:cNvPr>
          <p:cNvGrpSpPr/>
          <p:nvPr/>
        </p:nvGrpSpPr>
        <p:grpSpPr>
          <a:xfrm>
            <a:off x="1470313" y="3182943"/>
            <a:ext cx="6203373" cy="2895325"/>
            <a:chOff x="6190504" y="2121138"/>
            <a:chExt cx="2953496" cy="1879361"/>
          </a:xfrm>
        </p:grpSpPr>
        <p:sp>
          <p:nvSpPr>
            <p:cNvPr id="6" name="Rectangle 5">
              <a:extLst>
                <a:ext uri="{FF2B5EF4-FFF2-40B4-BE49-F238E27FC236}">
                  <a16:creationId xmlns:a16="http://schemas.microsoft.com/office/drawing/2014/main" id="{A0767CDC-8D18-43FF-BEA3-96D6D0281EC3}"/>
                </a:ext>
              </a:extLst>
            </p:cNvPr>
            <p:cNvSpPr/>
            <p:nvPr/>
          </p:nvSpPr>
          <p:spPr>
            <a:xfrm>
              <a:off x="6190504" y="2121138"/>
              <a:ext cx="2953496" cy="18793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pic>
          <p:nvPicPr>
            <p:cNvPr id="3" name="Image 2">
              <a:extLst>
                <a:ext uri="{FF2B5EF4-FFF2-40B4-BE49-F238E27FC236}">
                  <a16:creationId xmlns:a16="http://schemas.microsoft.com/office/drawing/2014/main" id="{8D82737C-8891-4B46-ADAC-D93AA864998E}"/>
                </a:ext>
              </a:extLst>
            </p:cNvPr>
            <p:cNvPicPr>
              <a:picLocks noChangeAspect="1"/>
            </p:cNvPicPr>
            <p:nvPr/>
          </p:nvPicPr>
          <p:blipFill>
            <a:blip r:embed="rId5"/>
            <a:stretch>
              <a:fillRect/>
            </a:stretch>
          </p:blipFill>
          <p:spPr>
            <a:xfrm>
              <a:off x="6190504" y="2121139"/>
              <a:ext cx="2840982" cy="1725318"/>
            </a:xfrm>
            <a:prstGeom prst="rect">
              <a:avLst/>
            </a:prstGeom>
          </p:spPr>
        </p:pic>
      </p:grpSp>
    </p:spTree>
    <p:extLst>
      <p:ext uri="{BB962C8B-B14F-4D97-AF65-F5344CB8AC3E}">
        <p14:creationId xmlns:p14="http://schemas.microsoft.com/office/powerpoint/2010/main" val="179182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4170372"/>
          </a:xfrm>
          <a:prstGeom prst="rect">
            <a:avLst/>
          </a:prstGeom>
          <a:noFill/>
        </p:spPr>
        <p:txBody>
          <a:bodyPr wrap="square" rtlCol="0">
            <a:spAutoFit/>
          </a:bodyPr>
          <a:lstStyle/>
          <a:p>
            <a:r>
              <a:rPr lang="fr-CA" sz="2000" b="1" dirty="0">
                <a:solidFill>
                  <a:srgbClr val="FF0000"/>
                </a:solidFill>
              </a:rPr>
              <a:t>1/ les protéoglycanes et mucopolysaccharides </a:t>
            </a:r>
            <a:endParaRPr lang="fr-FR" sz="2000" b="1" dirty="0">
              <a:solidFill>
                <a:srgbClr val="FF0000"/>
              </a:solidFill>
            </a:endParaRPr>
          </a:p>
          <a:p>
            <a:r>
              <a:rPr lang="fr-CA" sz="2000" b="1" dirty="0"/>
              <a:t>						A: GAG de structure</a:t>
            </a:r>
          </a:p>
          <a:p>
            <a:pPr marL="342900" indent="-342900">
              <a:buFont typeface="Wingdings" panose="05000000000000000000" pitchFamily="2" charset="2"/>
              <a:buChar char="v"/>
            </a:pPr>
            <a:r>
              <a:rPr lang="fr-CA" sz="2000" b="1" dirty="0">
                <a:solidFill>
                  <a:srgbClr val="7030A0"/>
                </a:solidFill>
              </a:rPr>
              <a:t>L’acide hyaluronique </a:t>
            </a:r>
          </a:p>
          <a:p>
            <a:endParaRPr lang="fr-CA" sz="2000" b="1" dirty="0"/>
          </a:p>
          <a:p>
            <a:r>
              <a:rPr lang="fr-CA" sz="2000" b="1" u="sng" dirty="0"/>
              <a:t>Rôle biologique :  </a:t>
            </a:r>
            <a:r>
              <a:rPr lang="fr-CA" sz="2000" b="1" dirty="0"/>
              <a:t>il forme une solution visqueuse qui :</a:t>
            </a:r>
          </a:p>
          <a:p>
            <a:pPr marL="800100" lvl="1" indent="-342900">
              <a:spcBef>
                <a:spcPts val="600"/>
              </a:spcBef>
              <a:buFontTx/>
              <a:buChar char="-"/>
            </a:pPr>
            <a:r>
              <a:rPr lang="fr-CA" sz="2000" b="1" dirty="0"/>
              <a:t>Maintien l’hydratation extracellulaire. </a:t>
            </a:r>
          </a:p>
          <a:p>
            <a:pPr marL="800100" lvl="1" indent="-342900">
              <a:buFontTx/>
              <a:buChar char="-"/>
            </a:pPr>
            <a:r>
              <a:rPr lang="fr-CA" sz="2000" b="1" dirty="0"/>
              <a:t>S’oppose à la diffusion de substances étrangères </a:t>
            </a:r>
          </a:p>
          <a:p>
            <a:pPr marL="800100" lvl="1" indent="-342900">
              <a:buFontTx/>
              <a:buChar char="-"/>
            </a:pPr>
            <a:r>
              <a:rPr lang="fr-CA" sz="2000" b="1" dirty="0"/>
              <a:t>Rôle lubrifiant dans les articulations </a:t>
            </a:r>
          </a:p>
          <a:p>
            <a:pPr marL="800100" lvl="1" indent="-342900">
              <a:buFontTx/>
              <a:buChar char="-"/>
            </a:pPr>
            <a:endParaRPr lang="fr-CA" sz="2000" b="1" dirty="0"/>
          </a:p>
          <a:p>
            <a:r>
              <a:rPr lang="fr-CA" sz="2000" b="1" dirty="0"/>
              <a:t>La </a:t>
            </a:r>
            <a:r>
              <a:rPr lang="fr-CA" sz="2000" b="1" dirty="0">
                <a:solidFill>
                  <a:srgbClr val="FF0000"/>
                </a:solidFill>
              </a:rPr>
              <a:t>hyaluronidase</a:t>
            </a:r>
            <a:r>
              <a:rPr lang="fr-CA" sz="2000" b="1" dirty="0"/>
              <a:t>, enzyme présente dans les bactéries, le venin de serpent et le sperme où il facilite la pénétration du spermatozoïde dans l’ovule lors de la fécondation en hydrolysant l’enveloppe de l’ovule. </a:t>
            </a:r>
          </a:p>
          <a:p>
            <a:endParaRPr lang="fr-CA" sz="2000" b="1" dirty="0"/>
          </a:p>
        </p:txBody>
      </p:sp>
    </p:spTree>
    <p:extLst>
      <p:ext uri="{BB962C8B-B14F-4D97-AF65-F5344CB8AC3E}">
        <p14:creationId xmlns:p14="http://schemas.microsoft.com/office/powerpoint/2010/main" val="3780060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4324261"/>
          </a:xfrm>
          <a:prstGeom prst="rect">
            <a:avLst/>
          </a:prstGeom>
          <a:noFill/>
        </p:spPr>
        <p:txBody>
          <a:bodyPr wrap="square" rtlCol="0">
            <a:spAutoFit/>
          </a:bodyPr>
          <a:lstStyle/>
          <a:p>
            <a:r>
              <a:rPr lang="fr-CA" sz="2000" b="1" dirty="0">
                <a:solidFill>
                  <a:srgbClr val="FF0000"/>
                </a:solidFill>
              </a:rPr>
              <a:t>1/ les protéoglycanes et mucopolysaccharides </a:t>
            </a:r>
            <a:endParaRPr lang="fr-FR" sz="2000" b="1" dirty="0">
              <a:solidFill>
                <a:srgbClr val="FF0000"/>
              </a:solidFill>
            </a:endParaRPr>
          </a:p>
          <a:p>
            <a:r>
              <a:rPr lang="fr-CA" sz="2000" b="1" dirty="0"/>
              <a:t>						A: GAG de structure</a:t>
            </a:r>
          </a:p>
          <a:p>
            <a:pPr marL="342900" indent="-342900">
              <a:buFont typeface="Wingdings" panose="05000000000000000000" pitchFamily="2" charset="2"/>
              <a:buChar char="v"/>
            </a:pPr>
            <a:r>
              <a:rPr lang="fr-CA" sz="2000" b="1" dirty="0">
                <a:solidFill>
                  <a:srgbClr val="7030A0"/>
                </a:solidFill>
              </a:rPr>
              <a:t>Les chondroïtines et chondroïtines sulfate </a:t>
            </a:r>
            <a:endParaRPr lang="fr-CA" sz="2000" b="1" dirty="0"/>
          </a:p>
          <a:p>
            <a:pPr>
              <a:spcBef>
                <a:spcPts val="600"/>
              </a:spcBef>
            </a:pPr>
            <a:r>
              <a:rPr lang="fr-CA" sz="2000" b="1" dirty="0"/>
              <a:t>sous-unité disaccharidique suivante : </a:t>
            </a:r>
          </a:p>
          <a:p>
            <a:pPr>
              <a:spcBef>
                <a:spcPts val="600"/>
              </a:spcBef>
            </a:pPr>
            <a:r>
              <a:rPr lang="fr-CA" sz="2000" b="1" dirty="0"/>
              <a:t>		(Acide D-glucuronique </a:t>
            </a:r>
            <a:r>
              <a:rPr lang="el-GR" sz="2000" b="1" dirty="0"/>
              <a:t>β</a:t>
            </a:r>
            <a:r>
              <a:rPr lang="fr-CA" sz="2000" b="1" dirty="0"/>
              <a:t>(</a:t>
            </a:r>
            <a:r>
              <a:rPr lang="el-GR" sz="2000" b="1" dirty="0"/>
              <a:t>1- 3</a:t>
            </a:r>
            <a:r>
              <a:rPr lang="fr-CA" sz="2000" b="1" dirty="0"/>
              <a:t>) N-</a:t>
            </a:r>
            <a:r>
              <a:rPr lang="fr-CA" sz="2000" b="1" dirty="0" err="1"/>
              <a:t>acétyl</a:t>
            </a:r>
            <a:r>
              <a:rPr lang="fr-CA" sz="2000" b="1" dirty="0"/>
              <a:t> D galactosamine </a:t>
            </a:r>
            <a:r>
              <a:rPr lang="el-GR" sz="2000" b="1" dirty="0"/>
              <a:t>β</a:t>
            </a:r>
            <a:r>
              <a:rPr lang="fr-CA" sz="2000" b="1" dirty="0"/>
              <a:t>(</a:t>
            </a:r>
            <a:r>
              <a:rPr lang="el-GR" sz="2000" b="1" dirty="0"/>
              <a:t>1- 4) </a:t>
            </a:r>
            <a:r>
              <a:rPr lang="fr-CA" sz="2000" b="1" dirty="0"/>
              <a:t>) n</a:t>
            </a:r>
          </a:p>
          <a:p>
            <a:pPr>
              <a:spcBef>
                <a:spcPts val="600"/>
              </a:spcBef>
            </a:pPr>
            <a:r>
              <a:rPr lang="fr-CA" sz="2000" b="1" dirty="0"/>
              <a:t>Les OH en C-4 ou en C-6 du </a:t>
            </a:r>
            <a:r>
              <a:rPr lang="fr-CA" sz="2000" b="1" dirty="0" err="1"/>
              <a:t>GalNAc</a:t>
            </a:r>
            <a:r>
              <a:rPr lang="fr-CA" sz="2000" b="1" dirty="0"/>
              <a:t> peuvent être sulfatés:</a:t>
            </a:r>
          </a:p>
          <a:p>
            <a:pPr marL="1257300" lvl="2" indent="-342900">
              <a:spcBef>
                <a:spcPts val="600"/>
              </a:spcBef>
              <a:buFontTx/>
              <a:buChar char="-"/>
            </a:pPr>
            <a:r>
              <a:rPr lang="fr-CA" sz="2000" b="1" dirty="0"/>
              <a:t>Chondroïtine -4-sulfate </a:t>
            </a:r>
          </a:p>
          <a:p>
            <a:pPr marL="1257300" lvl="2" indent="-342900">
              <a:spcBef>
                <a:spcPts val="600"/>
              </a:spcBef>
              <a:buFontTx/>
              <a:buChar char="-"/>
            </a:pPr>
            <a:r>
              <a:rPr lang="fr-CA" sz="2000" b="1" dirty="0"/>
              <a:t>Chondroitine-6-sulfates. </a:t>
            </a:r>
          </a:p>
          <a:p>
            <a:pPr>
              <a:spcBef>
                <a:spcPts val="600"/>
              </a:spcBef>
            </a:pPr>
            <a:r>
              <a:rPr lang="fr-CA" sz="2000" b="1" dirty="0"/>
              <a:t>Ils sont unis à la fraction protéique par des liaisons O-glycosidiques par l’intermédiaires d’un motif </a:t>
            </a:r>
            <a:r>
              <a:rPr lang="fr-CA" sz="2000" b="1" dirty="0" err="1"/>
              <a:t>trisaccharidique</a:t>
            </a:r>
            <a:r>
              <a:rPr lang="fr-CA" sz="2000" b="1" dirty="0"/>
              <a:t> constant (sérine ou thréonine – </a:t>
            </a:r>
            <a:r>
              <a:rPr lang="fr-CA" sz="2000" b="1" dirty="0" err="1"/>
              <a:t>xyl</a:t>
            </a:r>
            <a:r>
              <a:rPr lang="fr-CA" sz="2000" b="1" dirty="0"/>
              <a:t>-</a:t>
            </a:r>
            <a:r>
              <a:rPr lang="fr-CA" sz="2000" b="1" dirty="0" err="1"/>
              <a:t>Gal-Gal</a:t>
            </a:r>
            <a:r>
              <a:rPr lang="fr-CA" sz="2000" b="1" dirty="0"/>
              <a:t>). </a:t>
            </a:r>
          </a:p>
          <a:p>
            <a:pPr>
              <a:spcBef>
                <a:spcPts val="600"/>
              </a:spcBef>
            </a:pPr>
            <a:r>
              <a:rPr lang="fr-CA" sz="2000" b="1" dirty="0"/>
              <a:t>Localisation: cartilage et la corné </a:t>
            </a:r>
          </a:p>
        </p:txBody>
      </p:sp>
      <p:pic>
        <p:nvPicPr>
          <p:cNvPr id="6" name="Image 5">
            <a:extLst>
              <a:ext uri="{FF2B5EF4-FFF2-40B4-BE49-F238E27FC236}">
                <a16:creationId xmlns:a16="http://schemas.microsoft.com/office/drawing/2014/main" id="{4A712A3C-9FA5-4645-99FF-CDE99B896590}"/>
              </a:ext>
            </a:extLst>
          </p:cNvPr>
          <p:cNvPicPr>
            <a:picLocks noChangeAspect="1"/>
          </p:cNvPicPr>
          <p:nvPr/>
        </p:nvPicPr>
        <p:blipFill>
          <a:blip r:embed="rId5"/>
          <a:stretch>
            <a:fillRect/>
          </a:stretch>
        </p:blipFill>
        <p:spPr>
          <a:xfrm>
            <a:off x="922671" y="2777257"/>
            <a:ext cx="7020701" cy="3661185"/>
          </a:xfrm>
          <a:prstGeom prst="rect">
            <a:avLst/>
          </a:prstGeom>
        </p:spPr>
      </p:pic>
    </p:spTree>
    <p:extLst>
      <p:ext uri="{BB962C8B-B14F-4D97-AF65-F5344CB8AC3E}">
        <p14:creationId xmlns:p14="http://schemas.microsoft.com/office/powerpoint/2010/main" val="64478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2554545"/>
          </a:xfrm>
          <a:prstGeom prst="rect">
            <a:avLst/>
          </a:prstGeom>
          <a:noFill/>
        </p:spPr>
        <p:txBody>
          <a:bodyPr wrap="square" rtlCol="0">
            <a:spAutoFit/>
          </a:bodyPr>
          <a:lstStyle/>
          <a:p>
            <a:r>
              <a:rPr lang="fr-CA" sz="2000" b="1" dirty="0">
                <a:solidFill>
                  <a:srgbClr val="FF0000"/>
                </a:solidFill>
              </a:rPr>
              <a:t>1/ les protéoglycanes et mucopolysaccharides </a:t>
            </a:r>
            <a:endParaRPr lang="fr-FR" sz="2000" b="1" dirty="0">
              <a:solidFill>
                <a:srgbClr val="FF0000"/>
              </a:solidFill>
            </a:endParaRPr>
          </a:p>
          <a:p>
            <a:r>
              <a:rPr lang="fr-CA" sz="2000" b="1" dirty="0"/>
              <a:t>						A: GAG de structure</a:t>
            </a:r>
          </a:p>
          <a:p>
            <a:pPr marL="342900" indent="-342900">
              <a:buFont typeface="Wingdings" panose="05000000000000000000" pitchFamily="2" charset="2"/>
              <a:buChar char="v"/>
            </a:pPr>
            <a:r>
              <a:rPr lang="fr-CA" sz="2000" b="1" dirty="0">
                <a:solidFill>
                  <a:srgbClr val="7030A0"/>
                </a:solidFill>
              </a:rPr>
              <a:t>Kératane-sulfate</a:t>
            </a:r>
            <a:endParaRPr lang="fr-CA" sz="2000" b="1" dirty="0"/>
          </a:p>
          <a:p>
            <a:pPr>
              <a:spcBef>
                <a:spcPts val="600"/>
              </a:spcBef>
            </a:pPr>
            <a:r>
              <a:rPr lang="fr-CA" sz="2000" b="1" dirty="0"/>
              <a:t>Cet glycosaminoglycanne ne contenant pas d’acide uronique</a:t>
            </a:r>
          </a:p>
          <a:p>
            <a:pPr>
              <a:spcBef>
                <a:spcPts val="600"/>
              </a:spcBef>
            </a:pPr>
            <a:r>
              <a:rPr lang="fr-CA" sz="2000" b="1" dirty="0"/>
              <a:t>Ils sont unis à la fraction protéique soit par :</a:t>
            </a:r>
          </a:p>
          <a:p>
            <a:pPr marL="800100" lvl="1" indent="-342900">
              <a:spcBef>
                <a:spcPts val="600"/>
              </a:spcBef>
              <a:buFontTx/>
              <a:buChar char="-"/>
            </a:pPr>
            <a:r>
              <a:rPr lang="fr-CA" sz="2000" b="1" dirty="0"/>
              <a:t>une liaison N-glycosidique (type1) </a:t>
            </a:r>
          </a:p>
          <a:p>
            <a:pPr marL="800100" lvl="1" indent="-342900">
              <a:spcBef>
                <a:spcPts val="600"/>
              </a:spcBef>
              <a:buFontTx/>
              <a:buChar char="-"/>
            </a:pPr>
            <a:r>
              <a:rPr lang="fr-CA" sz="2000" b="1" dirty="0"/>
              <a:t>ou O-glycosidique (type2). </a:t>
            </a:r>
          </a:p>
        </p:txBody>
      </p:sp>
      <p:pic>
        <p:nvPicPr>
          <p:cNvPr id="6" name="Image 5">
            <a:extLst>
              <a:ext uri="{FF2B5EF4-FFF2-40B4-BE49-F238E27FC236}">
                <a16:creationId xmlns:a16="http://schemas.microsoft.com/office/drawing/2014/main" id="{025DD84A-A6E2-4EDA-8DDD-87A0D3965545}"/>
              </a:ext>
            </a:extLst>
          </p:cNvPr>
          <p:cNvPicPr>
            <a:picLocks noChangeAspect="1"/>
          </p:cNvPicPr>
          <p:nvPr/>
        </p:nvPicPr>
        <p:blipFill>
          <a:blip r:embed="rId5"/>
          <a:stretch>
            <a:fillRect/>
          </a:stretch>
        </p:blipFill>
        <p:spPr>
          <a:xfrm>
            <a:off x="1368831" y="2817740"/>
            <a:ext cx="5851722" cy="3606556"/>
          </a:xfrm>
          <a:prstGeom prst="rect">
            <a:avLst/>
          </a:prstGeom>
        </p:spPr>
      </p:pic>
    </p:spTree>
    <p:extLst>
      <p:ext uri="{BB962C8B-B14F-4D97-AF65-F5344CB8AC3E}">
        <p14:creationId xmlns:p14="http://schemas.microsoft.com/office/powerpoint/2010/main" val="186869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3631763"/>
          </a:xfrm>
          <a:prstGeom prst="rect">
            <a:avLst/>
          </a:prstGeom>
          <a:noFill/>
        </p:spPr>
        <p:txBody>
          <a:bodyPr wrap="square" rtlCol="0">
            <a:spAutoFit/>
          </a:bodyPr>
          <a:lstStyle/>
          <a:p>
            <a:r>
              <a:rPr lang="fr-CA" sz="2000" b="1" dirty="0">
                <a:solidFill>
                  <a:srgbClr val="FF0000"/>
                </a:solidFill>
              </a:rPr>
              <a:t>1/ les protéoglycanes et mucopolysaccharides </a:t>
            </a:r>
            <a:endParaRPr lang="fr-FR" sz="2000" b="1" dirty="0">
              <a:solidFill>
                <a:srgbClr val="FF0000"/>
              </a:solidFill>
            </a:endParaRPr>
          </a:p>
          <a:p>
            <a:r>
              <a:rPr lang="fr-CA" sz="2000" b="1" dirty="0"/>
              <a:t>						B: GAG de sécrétion</a:t>
            </a:r>
          </a:p>
          <a:p>
            <a:pPr marL="342900" indent="-342900">
              <a:buFont typeface="Wingdings" panose="05000000000000000000" pitchFamily="2" charset="2"/>
              <a:buChar char="v"/>
            </a:pPr>
            <a:r>
              <a:rPr lang="fr-CA" sz="2000" b="1" dirty="0">
                <a:solidFill>
                  <a:srgbClr val="7030A0"/>
                </a:solidFill>
              </a:rPr>
              <a:t>L’héparine </a:t>
            </a:r>
            <a:endParaRPr lang="fr-CA" sz="2000" b="1" dirty="0"/>
          </a:p>
          <a:p>
            <a:pPr>
              <a:spcBef>
                <a:spcPts val="600"/>
              </a:spcBef>
            </a:pPr>
            <a:r>
              <a:rPr lang="fr-CA" sz="2000" b="1" dirty="0"/>
              <a:t>Le degré de sulfatation variable, </a:t>
            </a:r>
          </a:p>
          <a:p>
            <a:pPr>
              <a:spcBef>
                <a:spcPts val="600"/>
              </a:spcBef>
            </a:pPr>
            <a:r>
              <a:rPr lang="fr-CA" sz="2000" b="1" dirty="0"/>
              <a:t>Unité disaccharidique: </a:t>
            </a:r>
          </a:p>
          <a:p>
            <a:pPr>
              <a:spcBef>
                <a:spcPts val="600"/>
              </a:spcBef>
            </a:pPr>
            <a:r>
              <a:rPr lang="fr-CA" sz="2000" b="1" dirty="0"/>
              <a:t>			</a:t>
            </a:r>
            <a:r>
              <a:rPr lang="fr-CA" sz="2000" b="1" dirty="0" err="1"/>
              <a:t>GlcN</a:t>
            </a:r>
            <a:r>
              <a:rPr lang="fr-CA" sz="2000" b="1" dirty="0"/>
              <a:t> (</a:t>
            </a:r>
            <a:r>
              <a:rPr lang="el-GR" sz="2000" b="1" dirty="0">
                <a:latin typeface="Times New Roman" panose="02020603050405020304" pitchFamily="18" charset="0"/>
                <a:cs typeface="Times New Roman" panose="02020603050405020304" pitchFamily="18" charset="0"/>
              </a:rPr>
              <a:t>β</a:t>
            </a:r>
            <a:r>
              <a:rPr lang="fr-CA" sz="2000" b="1" dirty="0">
                <a:latin typeface="Times New Roman" panose="02020603050405020304" pitchFamily="18" charset="0"/>
                <a:cs typeface="Times New Roman" panose="02020603050405020304" pitchFamily="18" charset="0"/>
              </a:rPr>
              <a:t>1-4) </a:t>
            </a:r>
            <a:r>
              <a:rPr lang="fr-CA" sz="2000" b="1" dirty="0" err="1">
                <a:latin typeface="Times New Roman" panose="02020603050405020304" pitchFamily="18" charset="0"/>
                <a:cs typeface="Times New Roman" panose="02020603050405020304" pitchFamily="18" charset="0"/>
              </a:rPr>
              <a:t>GlcUA</a:t>
            </a:r>
            <a:r>
              <a:rPr lang="fr-CA" sz="2000" b="1" dirty="0">
                <a:latin typeface="Times New Roman" panose="02020603050405020304" pitchFamily="18" charset="0"/>
                <a:cs typeface="Times New Roman" panose="02020603050405020304" pitchFamily="18" charset="0"/>
              </a:rPr>
              <a:t> ou </a:t>
            </a:r>
            <a:r>
              <a:rPr lang="fr-CA" sz="2000" b="1" dirty="0" err="1">
                <a:latin typeface="Times New Roman" panose="02020603050405020304" pitchFamily="18" charset="0"/>
                <a:cs typeface="Times New Roman" panose="02020603050405020304" pitchFamily="18" charset="0"/>
              </a:rPr>
              <a:t>IdUA</a:t>
            </a:r>
            <a:r>
              <a:rPr lang="fr-CA" sz="2000" b="1" dirty="0">
                <a:latin typeface="Times New Roman" panose="02020603050405020304" pitchFamily="18" charset="0"/>
                <a:cs typeface="Times New Roman" panose="02020603050405020304" pitchFamily="18" charset="0"/>
              </a:rPr>
              <a:t> (</a:t>
            </a:r>
            <a:r>
              <a:rPr lang="el-GR" sz="2000" b="1" dirty="0">
                <a:latin typeface="Times New Roman" panose="02020603050405020304" pitchFamily="18" charset="0"/>
                <a:cs typeface="Times New Roman" panose="02020603050405020304" pitchFamily="18" charset="0"/>
              </a:rPr>
              <a:t>β</a:t>
            </a:r>
            <a:r>
              <a:rPr lang="fr-CA" sz="2000" b="1" dirty="0">
                <a:latin typeface="Times New Roman" panose="02020603050405020304" pitchFamily="18" charset="0"/>
                <a:cs typeface="Times New Roman" panose="02020603050405020304" pitchFamily="18" charset="0"/>
              </a:rPr>
              <a:t>1-3) </a:t>
            </a:r>
            <a:r>
              <a:rPr lang="fr-CA" sz="2000" b="1" dirty="0"/>
              <a:t>		</a:t>
            </a:r>
          </a:p>
          <a:p>
            <a:pPr>
              <a:spcBef>
                <a:spcPts val="1200"/>
              </a:spcBef>
            </a:pPr>
            <a:r>
              <a:rPr lang="fr-CA" sz="2000" b="1" dirty="0"/>
              <a:t>Rôle biologique:</a:t>
            </a:r>
          </a:p>
          <a:p>
            <a:pPr>
              <a:spcBef>
                <a:spcPts val="600"/>
              </a:spcBef>
            </a:pPr>
            <a:r>
              <a:rPr lang="fr-CA" sz="2000" b="1" dirty="0"/>
              <a:t>C’est un anticoagulant physiologique qui est se trouve presque exclusivement dans les granules intracellulaires des mastocytes qui bordent les parois artérielles, notamment dans le foie, les poumons et la peau. </a:t>
            </a:r>
          </a:p>
        </p:txBody>
      </p:sp>
      <p:pic>
        <p:nvPicPr>
          <p:cNvPr id="6" name="Image 5">
            <a:extLst>
              <a:ext uri="{FF2B5EF4-FFF2-40B4-BE49-F238E27FC236}">
                <a16:creationId xmlns:a16="http://schemas.microsoft.com/office/drawing/2014/main" id="{8CEF379A-597B-488E-A062-29FD5029472E}"/>
              </a:ext>
            </a:extLst>
          </p:cNvPr>
          <p:cNvPicPr>
            <a:picLocks noChangeAspect="1"/>
          </p:cNvPicPr>
          <p:nvPr/>
        </p:nvPicPr>
        <p:blipFill>
          <a:blip r:embed="rId5"/>
          <a:stretch>
            <a:fillRect/>
          </a:stretch>
        </p:blipFill>
        <p:spPr>
          <a:xfrm>
            <a:off x="1208592" y="2468995"/>
            <a:ext cx="6172200" cy="3689373"/>
          </a:xfrm>
          <a:prstGeom prst="rect">
            <a:avLst/>
          </a:prstGeom>
        </p:spPr>
      </p:pic>
    </p:spTree>
    <p:extLst>
      <p:ext uri="{BB962C8B-B14F-4D97-AF65-F5344CB8AC3E}">
        <p14:creationId xmlns:p14="http://schemas.microsoft.com/office/powerpoint/2010/main" val="410737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78434" cy="707886"/>
          </a:xfrm>
          <a:prstGeom prst="rect">
            <a:avLst/>
          </a:prstGeom>
          <a:noFill/>
        </p:spPr>
        <p:txBody>
          <a:bodyPr wrap="square" rtlCol="0">
            <a:spAutoFit/>
          </a:bodyPr>
          <a:lstStyle/>
          <a:p>
            <a:r>
              <a:rPr lang="fr-CA" sz="2000" b="1" dirty="0">
                <a:solidFill>
                  <a:srgbClr val="FF0000"/>
                </a:solidFill>
              </a:rPr>
              <a:t>1/ les protéoglycanes</a:t>
            </a:r>
            <a:endParaRPr lang="fr-FR" sz="2000" b="1" dirty="0">
              <a:solidFill>
                <a:srgbClr val="FF0000"/>
              </a:solidFill>
            </a:endParaRPr>
          </a:p>
          <a:p>
            <a:r>
              <a:rPr lang="fr-CA" sz="2000" b="1" dirty="0"/>
              <a:t>						</a:t>
            </a:r>
          </a:p>
        </p:txBody>
      </p:sp>
      <p:pic>
        <p:nvPicPr>
          <p:cNvPr id="11" name="Image 10">
            <a:extLst>
              <a:ext uri="{FF2B5EF4-FFF2-40B4-BE49-F238E27FC236}">
                <a16:creationId xmlns:a16="http://schemas.microsoft.com/office/drawing/2014/main" id="{8976C45C-147E-4D96-A931-C7C37FC0B10E}"/>
              </a:ext>
            </a:extLst>
          </p:cNvPr>
          <p:cNvPicPr>
            <a:picLocks noChangeAspect="1"/>
          </p:cNvPicPr>
          <p:nvPr/>
        </p:nvPicPr>
        <p:blipFill>
          <a:blip r:embed="rId5"/>
          <a:stretch>
            <a:fillRect/>
          </a:stretch>
        </p:blipFill>
        <p:spPr>
          <a:xfrm>
            <a:off x="0" y="1246909"/>
            <a:ext cx="4925112" cy="5153744"/>
          </a:xfrm>
          <a:prstGeom prst="rect">
            <a:avLst/>
          </a:prstGeom>
        </p:spPr>
      </p:pic>
      <p:pic>
        <p:nvPicPr>
          <p:cNvPr id="13" name="Image 12">
            <a:extLst>
              <a:ext uri="{FF2B5EF4-FFF2-40B4-BE49-F238E27FC236}">
                <a16:creationId xmlns:a16="http://schemas.microsoft.com/office/drawing/2014/main" id="{1CD86E71-DDCA-4564-8821-6A20B2E97AF0}"/>
              </a:ext>
            </a:extLst>
          </p:cNvPr>
          <p:cNvPicPr>
            <a:picLocks noChangeAspect="1"/>
          </p:cNvPicPr>
          <p:nvPr/>
        </p:nvPicPr>
        <p:blipFill>
          <a:blip r:embed="rId6"/>
          <a:stretch>
            <a:fillRect/>
          </a:stretch>
        </p:blipFill>
        <p:spPr>
          <a:xfrm>
            <a:off x="4925112" y="1215882"/>
            <a:ext cx="4218888" cy="5334744"/>
          </a:xfrm>
          <a:prstGeom prst="rect">
            <a:avLst/>
          </a:prstGeom>
        </p:spPr>
      </p:pic>
      <p:sp>
        <p:nvSpPr>
          <p:cNvPr id="14" name="Rectangle 13">
            <a:extLst>
              <a:ext uri="{FF2B5EF4-FFF2-40B4-BE49-F238E27FC236}">
                <a16:creationId xmlns:a16="http://schemas.microsoft.com/office/drawing/2014/main" id="{2C39B50E-5DA5-410F-9833-40EA5CA4DEF4}"/>
              </a:ext>
            </a:extLst>
          </p:cNvPr>
          <p:cNvSpPr/>
          <p:nvPr/>
        </p:nvSpPr>
        <p:spPr>
          <a:xfrm>
            <a:off x="7025276" y="1376978"/>
            <a:ext cx="1002305" cy="50236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7413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267588" y="2073911"/>
            <a:ext cx="8911127" cy="67403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CA" sz="4800" b="1" dirty="0">
              <a:solidFill>
                <a:srgbClr val="C0000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a:t>
            </a:r>
          </a:p>
          <a:p>
            <a:pPr>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lang="fr-CA" sz="4800" b="1" dirty="0">
                <a:solidFill>
                  <a:srgbClr val="002060"/>
                </a:solidFill>
                <a:latin typeface="Times New Roman" panose="02020603050405020304" pitchFamily="18" charset="0"/>
                <a:cs typeface="Times New Roman" panose="02020603050405020304" pitchFamily="18" charset="0"/>
              </a:rPr>
              <a:t>2/ Les glycoconjugués</a:t>
            </a:r>
          </a:p>
          <a:p>
            <a:pPr>
              <a:defRPr/>
            </a:pPr>
            <a:r>
              <a:rPr lang="fr-CA" sz="4800" b="1" dirty="0">
                <a:solidFill>
                  <a:srgbClr val="002060"/>
                </a:solidFill>
                <a:latin typeface="Times New Roman" panose="02020603050405020304" pitchFamily="18" charset="0"/>
                <a:cs typeface="Times New Roman" panose="02020603050405020304" pitchFamily="18" charset="0"/>
              </a:rPr>
              <a:t> 					</a:t>
            </a:r>
            <a:r>
              <a:rPr lang="fr-CA" sz="4000" b="1" dirty="0">
                <a:solidFill>
                  <a:srgbClr val="FF0000"/>
                </a:solidFill>
                <a:latin typeface="Times New Roman" panose="02020603050405020304" pitchFamily="18" charset="0"/>
                <a:cs typeface="Times New Roman" panose="02020603050405020304" pitchFamily="18" charset="0"/>
              </a:rPr>
              <a:t>2.2</a:t>
            </a:r>
            <a:r>
              <a:rPr lang="fr-CA" sz="4000" b="1" dirty="0">
                <a:solidFill>
                  <a:srgbClr val="FF0000"/>
                </a:solidFill>
              </a:rPr>
              <a:t>/ les glycoprotéines  </a:t>
            </a:r>
            <a:endParaRPr lang="fr-CA" sz="4800" b="1" dirty="0">
              <a:solidFill>
                <a:srgbClr val="FF0000"/>
              </a:solidFill>
            </a:endParaRPr>
          </a:p>
          <a:p>
            <a:pPr>
              <a:defRPr/>
            </a:pPr>
            <a:r>
              <a:rPr lang="fr-CA" sz="4800" b="1" dirty="0">
                <a:solidFill>
                  <a:srgbClr val="002060"/>
                </a:solidFill>
                <a:latin typeface="Times New Roman" panose="02020603050405020304" pitchFamily="18" charset="0"/>
                <a:cs typeface="Times New Roman" panose="02020603050405020304" pitchFamily="18" charset="0"/>
              </a:rPr>
              <a:t> </a:t>
            </a:r>
          </a:p>
          <a:p>
            <a:pPr>
              <a:defRPr/>
            </a:pPr>
            <a:endParaRPr lang="fr-CA" sz="4800" b="1" dirty="0">
              <a:solidFill>
                <a:srgbClr val="002060"/>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1194930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964756" cy="2862322"/>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r>
              <a:rPr lang="fr-CA" sz="2000" b="1" dirty="0"/>
              <a:t>Une partie protéique majoritaire + une partie glucidique qui varie de 5% à 50%  </a:t>
            </a:r>
          </a:p>
          <a:p>
            <a:pPr>
              <a:spcBef>
                <a:spcPts val="600"/>
              </a:spcBef>
            </a:pPr>
            <a:endParaRPr lang="fr-CA" sz="2000" b="1" dirty="0"/>
          </a:p>
          <a:p>
            <a:pPr>
              <a:spcBef>
                <a:spcPts val="600"/>
              </a:spcBef>
            </a:pPr>
            <a:r>
              <a:rPr lang="fr-CA" sz="2000" b="1" dirty="0"/>
              <a:t>La fraction glucidique est:</a:t>
            </a:r>
          </a:p>
          <a:p>
            <a:pPr marL="342900" indent="-342900">
              <a:spcBef>
                <a:spcPts val="600"/>
              </a:spcBef>
              <a:buFontTx/>
              <a:buChar char="-"/>
            </a:pPr>
            <a:r>
              <a:rPr lang="fr-CA" sz="2000" b="1" dirty="0"/>
              <a:t>une </a:t>
            </a:r>
            <a:r>
              <a:rPr lang="fr-CA" sz="2000" b="1" dirty="0">
                <a:solidFill>
                  <a:srgbClr val="FF0000"/>
                </a:solidFill>
              </a:rPr>
              <a:t>chaine polysaccharidique courte </a:t>
            </a:r>
            <a:r>
              <a:rPr lang="fr-CA" sz="2000" b="1" dirty="0"/>
              <a:t>et souvent </a:t>
            </a:r>
            <a:r>
              <a:rPr lang="fr-CA" sz="2000" b="1" dirty="0">
                <a:solidFill>
                  <a:srgbClr val="FF0000"/>
                </a:solidFill>
              </a:rPr>
              <a:t>ramifiées</a:t>
            </a:r>
            <a:r>
              <a:rPr lang="fr-CA" sz="2000" b="1" dirty="0"/>
              <a:t>.  </a:t>
            </a:r>
          </a:p>
          <a:p>
            <a:pPr marL="342900" indent="-342900">
              <a:spcBef>
                <a:spcPts val="600"/>
              </a:spcBef>
              <a:buFontTx/>
              <a:buChar char="-"/>
            </a:pPr>
            <a:r>
              <a:rPr lang="fr-CA" sz="2000" b="1" dirty="0"/>
              <a:t>Elle est liée à la fraction protéique par une </a:t>
            </a:r>
            <a:r>
              <a:rPr lang="fr-CA" sz="2000" b="1" dirty="0">
                <a:solidFill>
                  <a:srgbClr val="FF0000"/>
                </a:solidFill>
              </a:rPr>
              <a:t>liaison covalente </a:t>
            </a:r>
            <a:r>
              <a:rPr lang="fr-CA" sz="2000" b="1" dirty="0"/>
              <a:t>dans une séquence particulière reconnues par des enzymes spécifiques.  </a:t>
            </a:r>
          </a:p>
        </p:txBody>
      </p:sp>
    </p:spTree>
    <p:extLst>
      <p:ext uri="{BB962C8B-B14F-4D97-AF65-F5344CB8AC3E}">
        <p14:creationId xmlns:p14="http://schemas.microsoft.com/office/powerpoint/2010/main" val="5129097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3016210"/>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pPr marL="342900" indent="-342900">
              <a:buFont typeface="Wingdings" panose="05000000000000000000" pitchFamily="2" charset="2"/>
              <a:buChar char="q"/>
            </a:pPr>
            <a:r>
              <a:rPr lang="fr-CA" sz="2000" b="1" dirty="0"/>
              <a:t>O-glycoprotéines</a:t>
            </a:r>
          </a:p>
          <a:p>
            <a:pPr>
              <a:spcBef>
                <a:spcPts val="1200"/>
              </a:spcBef>
            </a:pPr>
            <a:r>
              <a:rPr lang="fr-CA" sz="2000" b="1" dirty="0"/>
              <a:t>La liaison O-glycosidique implique les fonctions suivantes:</a:t>
            </a:r>
          </a:p>
          <a:p>
            <a:pPr marL="800100" lvl="1" indent="-342900">
              <a:spcBef>
                <a:spcPts val="1200"/>
              </a:spcBef>
              <a:buFontTx/>
              <a:buChar char="-"/>
            </a:pPr>
            <a:r>
              <a:rPr lang="fr-CA" sz="2000" b="1" dirty="0"/>
              <a:t>la fonction hémiacétalique de l’ose terminal (</a:t>
            </a:r>
            <a:r>
              <a:rPr lang="fr-CA" sz="2000" b="1" dirty="0" err="1"/>
              <a:t>N-acétylGalactosamine</a:t>
            </a:r>
            <a:r>
              <a:rPr lang="fr-CA" sz="2000" b="1" dirty="0"/>
              <a:t> ou mannose) </a:t>
            </a:r>
          </a:p>
          <a:p>
            <a:pPr marL="800100" lvl="1" indent="-342900">
              <a:spcBef>
                <a:spcPts val="1200"/>
              </a:spcBef>
              <a:buFontTx/>
              <a:buChar char="-"/>
            </a:pPr>
            <a:r>
              <a:rPr lang="fr-CA" sz="2000" b="1" dirty="0"/>
              <a:t>et la fonction OH d’un Acide aminé de la protéine (sérine ou thréonine) ou l’</a:t>
            </a:r>
            <a:r>
              <a:rPr lang="fr-CA" sz="2000" b="1" dirty="0" err="1"/>
              <a:t>hydroxyllysine</a:t>
            </a:r>
            <a:r>
              <a:rPr lang="fr-CA" sz="2000" b="1" dirty="0"/>
              <a:t> dans le collagène. </a:t>
            </a:r>
          </a:p>
        </p:txBody>
      </p:sp>
    </p:spTree>
    <p:extLst>
      <p:ext uri="{BB962C8B-B14F-4D97-AF65-F5344CB8AC3E}">
        <p14:creationId xmlns:p14="http://schemas.microsoft.com/office/powerpoint/2010/main" val="20600734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2862322"/>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pPr marL="342900" indent="-342900">
              <a:buFont typeface="Wingdings" panose="05000000000000000000" pitchFamily="2" charset="2"/>
              <a:buChar char="q"/>
            </a:pPr>
            <a:r>
              <a:rPr lang="fr-CA" sz="2000" b="1" dirty="0"/>
              <a:t> N-glycoprotéines</a:t>
            </a:r>
          </a:p>
          <a:p>
            <a:endParaRPr lang="fr-CA" sz="2000" b="1" dirty="0"/>
          </a:p>
          <a:p>
            <a:r>
              <a:rPr lang="fr-CA" sz="2000" b="1" dirty="0"/>
              <a:t>La liaison N-glycosidique s’établit entre:</a:t>
            </a:r>
          </a:p>
          <a:p>
            <a:endParaRPr lang="fr-CA" sz="2000" b="1" dirty="0"/>
          </a:p>
          <a:p>
            <a:pPr marL="342900" indent="-342900">
              <a:buFontTx/>
              <a:buChar char="-"/>
            </a:pPr>
            <a:r>
              <a:rPr lang="fr-CA" sz="2000" b="1" dirty="0"/>
              <a:t>la fonction hémiacétalique de l’ose terminal qui est presque toujours la </a:t>
            </a:r>
            <a:r>
              <a:rPr lang="fr-CA" sz="2000" b="1" dirty="0">
                <a:solidFill>
                  <a:srgbClr val="FF0000"/>
                </a:solidFill>
              </a:rPr>
              <a:t>N-acétylglucosamine </a:t>
            </a:r>
          </a:p>
          <a:p>
            <a:pPr marL="342900" indent="-342900">
              <a:buFontTx/>
              <a:buChar char="-"/>
            </a:pPr>
            <a:r>
              <a:rPr lang="fr-CA" sz="2000" b="1" dirty="0"/>
              <a:t>et l’azote de la </a:t>
            </a:r>
            <a:r>
              <a:rPr lang="fr-CA" sz="2000" b="1" dirty="0">
                <a:solidFill>
                  <a:srgbClr val="FF0000"/>
                </a:solidFill>
              </a:rPr>
              <a:t>fonction amide </a:t>
            </a:r>
            <a:r>
              <a:rPr lang="fr-CA" sz="2000" b="1" dirty="0"/>
              <a:t>de l’</a:t>
            </a:r>
            <a:r>
              <a:rPr lang="fr-CA" sz="2000" b="1" dirty="0">
                <a:solidFill>
                  <a:srgbClr val="FF0000"/>
                </a:solidFill>
              </a:rPr>
              <a:t>asparagine</a:t>
            </a:r>
            <a:r>
              <a:rPr lang="fr-CA" sz="2000" b="1" dirty="0"/>
              <a:t>.</a:t>
            </a:r>
          </a:p>
        </p:txBody>
      </p:sp>
      <p:pic>
        <p:nvPicPr>
          <p:cNvPr id="6" name="Image 5">
            <a:extLst>
              <a:ext uri="{FF2B5EF4-FFF2-40B4-BE49-F238E27FC236}">
                <a16:creationId xmlns:a16="http://schemas.microsoft.com/office/drawing/2014/main" id="{655770DF-89F5-44EF-8B08-138618816780}"/>
              </a:ext>
            </a:extLst>
          </p:cNvPr>
          <p:cNvPicPr>
            <a:picLocks noChangeAspect="1"/>
          </p:cNvPicPr>
          <p:nvPr/>
        </p:nvPicPr>
        <p:blipFill>
          <a:blip r:embed="rId5"/>
          <a:stretch>
            <a:fillRect/>
          </a:stretch>
        </p:blipFill>
        <p:spPr>
          <a:xfrm>
            <a:off x="287048" y="1258307"/>
            <a:ext cx="8464121" cy="5191850"/>
          </a:xfrm>
          <a:prstGeom prst="rect">
            <a:avLst/>
          </a:prstGeom>
        </p:spPr>
      </p:pic>
    </p:spTree>
    <p:extLst>
      <p:ext uri="{BB962C8B-B14F-4D97-AF65-F5344CB8AC3E}">
        <p14:creationId xmlns:p14="http://schemas.microsoft.com/office/powerpoint/2010/main" val="334844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3170099"/>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r>
              <a:rPr lang="fr-CA" sz="2000" b="1" dirty="0"/>
              <a:t>Les </a:t>
            </a:r>
            <a:r>
              <a:rPr lang="fr-CA" sz="2000" b="1" dirty="0">
                <a:solidFill>
                  <a:srgbClr val="FF0000"/>
                </a:solidFill>
              </a:rPr>
              <a:t>chaines oligosaccharidiques </a:t>
            </a:r>
            <a:r>
              <a:rPr lang="fr-CA" sz="2000" b="1" dirty="0"/>
              <a:t>des glycoprotéines comprennent : </a:t>
            </a:r>
          </a:p>
          <a:p>
            <a:endParaRPr lang="fr-CA" sz="2000" b="1" dirty="0"/>
          </a:p>
          <a:p>
            <a:pPr lvl="1"/>
            <a:r>
              <a:rPr lang="fr-CA" sz="2000" b="1" dirty="0"/>
              <a:t>-	</a:t>
            </a:r>
            <a:r>
              <a:rPr lang="fr-CA" sz="2000" b="1" i="1" dirty="0">
                <a:solidFill>
                  <a:srgbClr val="FF0000"/>
                </a:solidFill>
              </a:rPr>
              <a:t>Des oses : </a:t>
            </a:r>
            <a:r>
              <a:rPr lang="fr-CA" sz="2000" b="1" dirty="0"/>
              <a:t>xylose, galactose, mannose et très rarement le glucose. </a:t>
            </a:r>
          </a:p>
          <a:p>
            <a:pPr lvl="1"/>
            <a:r>
              <a:rPr lang="fr-CA" sz="2000" b="1" dirty="0"/>
              <a:t>-	</a:t>
            </a:r>
            <a:r>
              <a:rPr lang="fr-CA" sz="2000" b="1" i="1" dirty="0">
                <a:solidFill>
                  <a:srgbClr val="FF0000"/>
                </a:solidFill>
              </a:rPr>
              <a:t>Des 6-désoxyose : </a:t>
            </a:r>
            <a:r>
              <a:rPr lang="fr-CA" sz="2000" b="1" dirty="0"/>
              <a:t>la fucose (6-désoxygalactose)</a:t>
            </a:r>
          </a:p>
          <a:p>
            <a:pPr lvl="1"/>
            <a:r>
              <a:rPr lang="fr-CA" sz="2000" b="1" dirty="0"/>
              <a:t>-	</a:t>
            </a:r>
            <a:r>
              <a:rPr lang="fr-CA" sz="2000" b="1" i="1" dirty="0">
                <a:solidFill>
                  <a:srgbClr val="FF0000"/>
                </a:solidFill>
              </a:rPr>
              <a:t>Hexosamines : </a:t>
            </a:r>
            <a:r>
              <a:rPr lang="fr-CA" sz="2000" b="1" dirty="0" err="1"/>
              <a:t>GalNac</a:t>
            </a:r>
            <a:r>
              <a:rPr lang="fr-CA" sz="2000" b="1" dirty="0"/>
              <a:t> et GlcNAc</a:t>
            </a:r>
          </a:p>
          <a:p>
            <a:pPr lvl="1"/>
            <a:r>
              <a:rPr lang="fr-CA" sz="2000" b="1" dirty="0"/>
              <a:t>-	</a:t>
            </a:r>
            <a:r>
              <a:rPr lang="fr-CA" sz="2000" b="1" i="1" dirty="0">
                <a:solidFill>
                  <a:srgbClr val="FF0000"/>
                </a:solidFill>
              </a:rPr>
              <a:t>Acide </a:t>
            </a:r>
            <a:r>
              <a:rPr lang="fr-CA" sz="2000" b="1" i="1" dirty="0" err="1">
                <a:solidFill>
                  <a:srgbClr val="FF0000"/>
                </a:solidFill>
              </a:rPr>
              <a:t>acétyl</a:t>
            </a:r>
            <a:r>
              <a:rPr lang="fr-CA" sz="2000" b="1" i="1" dirty="0">
                <a:solidFill>
                  <a:srgbClr val="FF0000"/>
                </a:solidFill>
              </a:rPr>
              <a:t> neuraminique </a:t>
            </a:r>
            <a:r>
              <a:rPr lang="fr-CA" sz="2000" b="1" dirty="0"/>
              <a:t>(NANA / Acide sialique) souvent terminal qui donne leur caractère acide aux glycoprotéines. </a:t>
            </a:r>
          </a:p>
          <a:p>
            <a:endParaRPr lang="fr-CA" sz="2000" b="1" dirty="0"/>
          </a:p>
        </p:txBody>
      </p:sp>
    </p:spTree>
    <p:extLst>
      <p:ext uri="{BB962C8B-B14F-4D97-AF65-F5344CB8AC3E}">
        <p14:creationId xmlns:p14="http://schemas.microsoft.com/office/powerpoint/2010/main" val="8241082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3170099"/>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r>
              <a:rPr lang="fr-CA" sz="2000" b="1" dirty="0"/>
              <a:t>Rôle biologique des fractions glucidiques</a:t>
            </a:r>
          </a:p>
          <a:p>
            <a:endParaRPr lang="fr-CA" sz="2000" b="1" dirty="0"/>
          </a:p>
          <a:p>
            <a:pPr lvl="1"/>
            <a:r>
              <a:rPr lang="fr-CA" sz="2000" b="1" dirty="0"/>
              <a:t>-	Interaction cellule- cellule</a:t>
            </a:r>
          </a:p>
          <a:p>
            <a:pPr lvl="1"/>
            <a:r>
              <a:rPr lang="fr-CA" sz="2000" b="1" dirty="0"/>
              <a:t>-	Protection contre les protéases</a:t>
            </a:r>
          </a:p>
          <a:p>
            <a:pPr lvl="1"/>
            <a:r>
              <a:rPr lang="fr-CA" sz="2000" b="1" dirty="0"/>
              <a:t>-	Augmente l’hydrosolubilité des protéines sécrétés</a:t>
            </a:r>
          </a:p>
          <a:p>
            <a:pPr lvl="1"/>
            <a:r>
              <a:rPr lang="fr-CA" sz="2000" b="1" dirty="0"/>
              <a:t>-	Repliement des protéines en sa conformation fonctionnelle</a:t>
            </a:r>
          </a:p>
          <a:p>
            <a:endParaRPr lang="fr-CA" sz="2000" b="1" dirty="0"/>
          </a:p>
          <a:p>
            <a:endParaRPr lang="fr-CA" sz="2000" b="1" dirty="0"/>
          </a:p>
        </p:txBody>
      </p:sp>
    </p:spTree>
    <p:extLst>
      <p:ext uri="{BB962C8B-B14F-4D97-AF65-F5344CB8AC3E}">
        <p14:creationId xmlns:p14="http://schemas.microsoft.com/office/powerpoint/2010/main" val="3969768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4862870"/>
          </a:xfrm>
          <a:prstGeom prst="rect">
            <a:avLst/>
          </a:prstGeom>
          <a:noFill/>
        </p:spPr>
        <p:txBody>
          <a:bodyPr wrap="square" rtlCol="0">
            <a:spAutoFit/>
          </a:bodyPr>
          <a:lstStyle/>
          <a:p>
            <a:r>
              <a:rPr lang="fr-CA" sz="2000" b="1" dirty="0">
                <a:solidFill>
                  <a:srgbClr val="FF0000"/>
                </a:solidFill>
              </a:rPr>
              <a:t>2/ les glycoprotéines </a:t>
            </a:r>
            <a:endParaRPr lang="fr-FR" sz="2000" b="1" dirty="0">
              <a:solidFill>
                <a:srgbClr val="FF0000"/>
              </a:solidFill>
            </a:endParaRPr>
          </a:p>
          <a:p>
            <a:r>
              <a:rPr lang="fr-CA" sz="2000" b="1" dirty="0"/>
              <a:t>						</a:t>
            </a:r>
          </a:p>
          <a:p>
            <a:pPr marL="342900" indent="-342900">
              <a:buFont typeface="Wingdings" panose="05000000000000000000" pitchFamily="2" charset="2"/>
              <a:buChar char="v"/>
            </a:pPr>
            <a:r>
              <a:rPr lang="fr-CA" sz="2000" b="1" dirty="0">
                <a:solidFill>
                  <a:srgbClr val="7030A0"/>
                </a:solidFill>
              </a:rPr>
              <a:t>Antigène des groupe sanguin ABO </a:t>
            </a:r>
          </a:p>
          <a:p>
            <a:pPr>
              <a:spcBef>
                <a:spcPts val="1200"/>
              </a:spcBef>
            </a:pPr>
            <a:r>
              <a:rPr lang="fr-CA" sz="2000" b="1" dirty="0"/>
              <a:t>L’antigène H est la structure de base, présent chez les individus de type O.</a:t>
            </a:r>
          </a:p>
          <a:p>
            <a:r>
              <a:rPr lang="fr-CA" sz="2000" b="1" dirty="0"/>
              <a:t>L’antigène A diffère de H par la présence d’un dérivé N-</a:t>
            </a:r>
            <a:r>
              <a:rPr lang="fr-CA" sz="2000" b="1" dirty="0" err="1"/>
              <a:t>acétyl</a:t>
            </a:r>
            <a:r>
              <a:rPr lang="fr-CA" sz="2000" b="1" dirty="0"/>
              <a:t> d-galactosamine terminal.</a:t>
            </a:r>
          </a:p>
          <a:p>
            <a:r>
              <a:rPr lang="fr-CA" sz="2000" b="1" dirty="0"/>
              <a:t>L’antigène B diffère de H par la présence d’un dérivé D-galactose terminal. </a:t>
            </a:r>
          </a:p>
          <a:p>
            <a:endParaRPr lang="fr-CA" sz="2000" b="1" dirty="0"/>
          </a:p>
          <a:p>
            <a:pPr marL="342900" indent="-342900">
              <a:buFont typeface="Wingdings" panose="05000000000000000000" pitchFamily="2" charset="2"/>
              <a:buChar char="v"/>
            </a:pPr>
            <a:r>
              <a:rPr lang="fr-CA" sz="2000" b="1" dirty="0">
                <a:solidFill>
                  <a:srgbClr val="7030A0"/>
                </a:solidFill>
              </a:rPr>
              <a:t>Glycoprotéines sérique : </a:t>
            </a:r>
            <a:r>
              <a:rPr lang="fr-CA" sz="2000" b="1" dirty="0" err="1"/>
              <a:t>orosomucoides</a:t>
            </a:r>
            <a:r>
              <a:rPr lang="fr-CA" sz="2000" b="1" dirty="0"/>
              <a:t>, haptoglobine, </a:t>
            </a:r>
            <a:r>
              <a:rPr lang="fr-CA" sz="2000" b="1" dirty="0" err="1"/>
              <a:t>céruloplasmine</a:t>
            </a:r>
            <a:r>
              <a:rPr lang="fr-CA" sz="2000" b="1" dirty="0"/>
              <a:t>, transferrine… </a:t>
            </a:r>
          </a:p>
          <a:p>
            <a:endParaRPr lang="fr-CA" sz="2000" b="1" dirty="0"/>
          </a:p>
          <a:p>
            <a:pPr marL="342900" indent="-342900">
              <a:buFont typeface="Wingdings" panose="05000000000000000000" pitchFamily="2" charset="2"/>
              <a:buChar char="v"/>
            </a:pPr>
            <a:r>
              <a:rPr lang="fr-CA" sz="2000" b="1" dirty="0">
                <a:solidFill>
                  <a:srgbClr val="7030A0"/>
                </a:solidFill>
              </a:rPr>
              <a:t>Glycoprotéines hormonales : </a:t>
            </a:r>
            <a:r>
              <a:rPr lang="fr-CA" sz="2000" b="1" dirty="0"/>
              <a:t>LH, FSH,TSH</a:t>
            </a:r>
          </a:p>
          <a:p>
            <a:endParaRPr lang="fr-CA" sz="2000" b="1" dirty="0"/>
          </a:p>
          <a:p>
            <a:endParaRPr lang="fr-CA" sz="2000" b="1" dirty="0"/>
          </a:p>
          <a:p>
            <a:endParaRPr lang="fr-CA" sz="2000" b="1" dirty="0"/>
          </a:p>
        </p:txBody>
      </p:sp>
      <p:pic>
        <p:nvPicPr>
          <p:cNvPr id="3" name="Image 2">
            <a:extLst>
              <a:ext uri="{FF2B5EF4-FFF2-40B4-BE49-F238E27FC236}">
                <a16:creationId xmlns:a16="http://schemas.microsoft.com/office/drawing/2014/main" id="{52C11368-DD76-4F03-82DA-DD301DD435E3}"/>
              </a:ext>
            </a:extLst>
          </p:cNvPr>
          <p:cNvPicPr>
            <a:picLocks noChangeAspect="1"/>
          </p:cNvPicPr>
          <p:nvPr/>
        </p:nvPicPr>
        <p:blipFill>
          <a:blip r:embed="rId5"/>
          <a:stretch>
            <a:fillRect/>
          </a:stretch>
        </p:blipFill>
        <p:spPr>
          <a:xfrm>
            <a:off x="1294966" y="3124009"/>
            <a:ext cx="5999451" cy="3095393"/>
          </a:xfrm>
          <a:prstGeom prst="rect">
            <a:avLst/>
          </a:prstGeom>
        </p:spPr>
      </p:pic>
    </p:spTree>
    <p:extLst>
      <p:ext uri="{BB962C8B-B14F-4D97-AF65-F5344CB8AC3E}">
        <p14:creationId xmlns:p14="http://schemas.microsoft.com/office/powerpoint/2010/main" val="824834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1267588" y="2073911"/>
            <a:ext cx="8911127" cy="67403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CA" sz="4800" b="1" dirty="0">
              <a:solidFill>
                <a:srgbClr val="C00000"/>
              </a:solidFill>
              <a:latin typeface="Tw Cen MT" panose="020B06020201040206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CA" sz="4800" b="1" dirty="0">
                <a:solidFill>
                  <a:srgbClr val="C00000"/>
                </a:solidFill>
                <a:latin typeface="Tw Cen MT" panose="020B0602020104020603"/>
              </a:rPr>
              <a:t>4</a:t>
            </a: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LES HETEROSIDES</a:t>
            </a:r>
          </a:p>
          <a:p>
            <a:pPr>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r>
              <a:rPr lang="fr-CA" sz="4800" b="1" dirty="0">
                <a:solidFill>
                  <a:srgbClr val="002060"/>
                </a:solidFill>
                <a:latin typeface="Times New Roman" panose="02020603050405020304" pitchFamily="18" charset="0"/>
                <a:cs typeface="Times New Roman" panose="02020603050405020304" pitchFamily="18" charset="0"/>
              </a:rPr>
              <a:t>2/ Les glycoconjugués</a:t>
            </a:r>
          </a:p>
          <a:p>
            <a:pPr>
              <a:defRPr/>
            </a:pPr>
            <a:r>
              <a:rPr lang="fr-CA" sz="4800" b="1" dirty="0">
                <a:solidFill>
                  <a:srgbClr val="002060"/>
                </a:solidFill>
                <a:latin typeface="Times New Roman" panose="02020603050405020304" pitchFamily="18" charset="0"/>
                <a:cs typeface="Times New Roman" panose="02020603050405020304" pitchFamily="18" charset="0"/>
              </a:rPr>
              <a:t> 					</a:t>
            </a:r>
            <a:r>
              <a:rPr lang="fr-CA" sz="4000" b="1" dirty="0">
                <a:solidFill>
                  <a:srgbClr val="FF0000"/>
                </a:solidFill>
                <a:latin typeface="Times New Roman" panose="02020603050405020304" pitchFamily="18" charset="0"/>
                <a:cs typeface="Times New Roman" panose="02020603050405020304" pitchFamily="18" charset="0"/>
              </a:rPr>
              <a:t>2.3</a:t>
            </a:r>
            <a:r>
              <a:rPr lang="fr-CA" sz="4000" b="1" dirty="0">
                <a:solidFill>
                  <a:srgbClr val="FF0000"/>
                </a:solidFill>
              </a:rPr>
              <a:t>/ les glycolipides  </a:t>
            </a:r>
            <a:endParaRPr lang="fr-CA" sz="4800" b="1" dirty="0">
              <a:solidFill>
                <a:srgbClr val="FF0000"/>
              </a:solidFill>
            </a:endParaRPr>
          </a:p>
          <a:p>
            <a:pPr>
              <a:defRPr/>
            </a:pPr>
            <a:r>
              <a:rPr lang="fr-CA" sz="4800" b="1" dirty="0">
                <a:solidFill>
                  <a:srgbClr val="002060"/>
                </a:solidFill>
                <a:latin typeface="Times New Roman" panose="02020603050405020304" pitchFamily="18" charset="0"/>
                <a:cs typeface="Times New Roman" panose="02020603050405020304" pitchFamily="18" charset="0"/>
              </a:rPr>
              <a:t> </a:t>
            </a:r>
          </a:p>
          <a:p>
            <a:pPr>
              <a:defRPr/>
            </a:pPr>
            <a:endParaRPr lang="fr-CA" sz="4800" b="1" dirty="0">
              <a:solidFill>
                <a:srgbClr val="002060"/>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4800" b="1" i="0" u="none" strike="noStrike" kern="1200" cap="none" spc="0" normalizeH="0" baseline="0" noProof="0" dirty="0">
                <a:ln>
                  <a:noFill/>
                </a:ln>
                <a:solidFill>
                  <a:srgbClr val="C00000"/>
                </a:solidFill>
                <a:effectLst/>
                <a:uLnTx/>
                <a:uFillTx/>
                <a:latin typeface="Tw Cen MT" panose="020B06020201040206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1723606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4401205"/>
          </a:xfrm>
          <a:prstGeom prst="rect">
            <a:avLst/>
          </a:prstGeom>
          <a:noFill/>
        </p:spPr>
        <p:txBody>
          <a:bodyPr wrap="square" rtlCol="0">
            <a:spAutoFit/>
          </a:bodyPr>
          <a:lstStyle/>
          <a:p>
            <a:r>
              <a:rPr lang="fr-CA" sz="2000" b="1" dirty="0">
                <a:solidFill>
                  <a:srgbClr val="FF0000"/>
                </a:solidFill>
              </a:rPr>
              <a:t>3/ les glycolipides  </a:t>
            </a:r>
            <a:endParaRPr lang="fr-FR" sz="2000" b="1" dirty="0">
              <a:solidFill>
                <a:srgbClr val="FF0000"/>
              </a:solidFill>
            </a:endParaRPr>
          </a:p>
          <a:p>
            <a:r>
              <a:rPr lang="fr-CA" sz="2000" b="1" dirty="0"/>
              <a:t>						</a:t>
            </a:r>
          </a:p>
          <a:p>
            <a:r>
              <a:rPr lang="fr-CA" sz="2000" b="1" dirty="0"/>
              <a:t>Ce sont des lipides qui contiennent des oses</a:t>
            </a:r>
          </a:p>
          <a:p>
            <a:r>
              <a:rPr lang="fr-CA" sz="2000" b="1" dirty="0"/>
              <a:t>Ils sont constitués par liaison covalente entre une chaine osidique et un lipide. La molécule ainsi formée possède deux pôles:</a:t>
            </a:r>
          </a:p>
          <a:p>
            <a:endParaRPr lang="fr-CA" sz="2000" b="1" dirty="0"/>
          </a:p>
          <a:p>
            <a:pPr lvl="2"/>
            <a:r>
              <a:rPr lang="fr-CA" sz="2000" b="1" dirty="0"/>
              <a:t>1- un pole hydrophiles: partie glucidique</a:t>
            </a:r>
          </a:p>
          <a:p>
            <a:pPr lvl="2"/>
            <a:r>
              <a:rPr lang="fr-CA" sz="2000" b="1" dirty="0"/>
              <a:t>2- un pole hydrophobe: partie lipidique </a:t>
            </a:r>
          </a:p>
          <a:p>
            <a:r>
              <a:rPr lang="fr-CA" sz="2000" b="1" dirty="0"/>
              <a:t>Donc la molécule est dite amphiphile</a:t>
            </a:r>
          </a:p>
          <a:p>
            <a:r>
              <a:rPr lang="fr-CA" sz="2000" b="1" dirty="0"/>
              <a:t> </a:t>
            </a:r>
          </a:p>
          <a:p>
            <a:r>
              <a:rPr lang="fr-CA" sz="2000" b="1" dirty="0"/>
              <a:t> on distingue deux catégories de glycolipide selon la nature de la partie lipidique: </a:t>
            </a:r>
          </a:p>
          <a:p>
            <a:pPr lvl="3"/>
            <a:r>
              <a:rPr lang="fr-CA" sz="2000" b="1" dirty="0" err="1">
                <a:solidFill>
                  <a:srgbClr val="FF0000"/>
                </a:solidFill>
              </a:rPr>
              <a:t>Glycéroglycolipide</a:t>
            </a:r>
            <a:endParaRPr lang="fr-CA" sz="2000" b="1" dirty="0">
              <a:solidFill>
                <a:srgbClr val="FF0000"/>
              </a:solidFill>
            </a:endParaRPr>
          </a:p>
          <a:p>
            <a:pPr lvl="3"/>
            <a:r>
              <a:rPr lang="fr-CA" sz="2000" b="1" dirty="0">
                <a:solidFill>
                  <a:srgbClr val="FF0000"/>
                </a:solidFill>
              </a:rPr>
              <a:t>Glycosphingolipide </a:t>
            </a:r>
            <a:r>
              <a:rPr lang="fr-CA" sz="2000" b="1" dirty="0"/>
              <a:t>				</a:t>
            </a:r>
          </a:p>
        </p:txBody>
      </p:sp>
    </p:spTree>
    <p:extLst>
      <p:ext uri="{BB962C8B-B14F-4D97-AF65-F5344CB8AC3E}">
        <p14:creationId xmlns:p14="http://schemas.microsoft.com/office/powerpoint/2010/main" val="33473247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4401205"/>
          </a:xfrm>
          <a:prstGeom prst="rect">
            <a:avLst/>
          </a:prstGeom>
          <a:noFill/>
        </p:spPr>
        <p:txBody>
          <a:bodyPr wrap="square" rtlCol="0">
            <a:spAutoFit/>
          </a:bodyPr>
          <a:lstStyle/>
          <a:p>
            <a:r>
              <a:rPr lang="fr-CA" sz="2000" b="1" dirty="0">
                <a:solidFill>
                  <a:srgbClr val="FF0000"/>
                </a:solidFill>
              </a:rPr>
              <a:t>3/ les glycolipides  </a:t>
            </a:r>
            <a:r>
              <a:rPr lang="fr-CA" sz="2000" b="1" dirty="0"/>
              <a:t>		</a:t>
            </a:r>
          </a:p>
          <a:p>
            <a:pPr lvl="3"/>
            <a:r>
              <a:rPr lang="fr-CA" sz="2000" b="1" dirty="0">
                <a:solidFill>
                  <a:srgbClr val="7030A0"/>
                </a:solidFill>
              </a:rPr>
              <a:t>4.1- </a:t>
            </a:r>
            <a:r>
              <a:rPr lang="fr-CA" sz="2000" b="1" dirty="0" err="1">
                <a:solidFill>
                  <a:srgbClr val="7030A0"/>
                </a:solidFill>
              </a:rPr>
              <a:t>Glycéroglycolipide</a:t>
            </a:r>
            <a:endParaRPr lang="fr-CA" sz="2000" b="1" dirty="0">
              <a:solidFill>
                <a:srgbClr val="7030A0"/>
              </a:solidFill>
            </a:endParaRPr>
          </a:p>
          <a:p>
            <a:pPr lvl="3"/>
            <a:r>
              <a:rPr lang="fr-CA" sz="2000" b="1" dirty="0"/>
              <a:t>			</a:t>
            </a:r>
          </a:p>
          <a:p>
            <a:r>
              <a:rPr lang="fr-CA" sz="2000" b="1" dirty="0"/>
              <a:t>Les </a:t>
            </a:r>
            <a:r>
              <a:rPr lang="fr-CA" sz="2000" b="1" dirty="0" err="1"/>
              <a:t>glycérglycolipides</a:t>
            </a:r>
            <a:r>
              <a:rPr lang="fr-CA" sz="2000" b="1" dirty="0"/>
              <a:t> sont constitués de :</a:t>
            </a:r>
          </a:p>
          <a:p>
            <a:endParaRPr lang="fr-CA" sz="2000" b="1" dirty="0"/>
          </a:p>
          <a:p>
            <a:pPr marL="800100" lvl="1" indent="-342900">
              <a:buFont typeface="Wingdings" panose="05000000000000000000" pitchFamily="2" charset="2"/>
              <a:buChar char="q"/>
            </a:pPr>
            <a:r>
              <a:rPr lang="fr-CA" sz="2000" b="1" dirty="0"/>
              <a:t>Partie aglycone lipidique: diacylglycérol</a:t>
            </a:r>
          </a:p>
          <a:p>
            <a:pPr marL="2171700" lvl="4" indent="-342900">
              <a:buFont typeface="Wingdings" panose="05000000000000000000" pitchFamily="2" charset="2"/>
              <a:buChar char="v"/>
            </a:pPr>
            <a:r>
              <a:rPr lang="fr-CA" sz="2000" b="1" dirty="0"/>
              <a:t>Glycérol</a:t>
            </a:r>
          </a:p>
          <a:p>
            <a:pPr marL="2171700" lvl="4" indent="-342900">
              <a:buFont typeface="Wingdings" panose="05000000000000000000" pitchFamily="2" charset="2"/>
              <a:buChar char="v"/>
            </a:pPr>
            <a:r>
              <a:rPr lang="fr-CA" sz="2000" b="1" dirty="0"/>
              <a:t>2 AG </a:t>
            </a:r>
          </a:p>
          <a:p>
            <a:pPr marL="800100" lvl="1" indent="-342900">
              <a:buFont typeface="Wingdings" panose="05000000000000000000" pitchFamily="2" charset="2"/>
              <a:buChar char="q"/>
            </a:pPr>
            <a:r>
              <a:rPr lang="fr-CA" sz="2000" b="1" dirty="0"/>
              <a:t>Partie </a:t>
            </a:r>
            <a:r>
              <a:rPr lang="fr-CA" sz="2000" b="1" dirty="0" err="1"/>
              <a:t>glycone</a:t>
            </a:r>
            <a:r>
              <a:rPr lang="fr-CA" sz="2000" b="1" dirty="0"/>
              <a:t>: un monosaccharide ou une chaine d’oligoside  </a:t>
            </a:r>
          </a:p>
          <a:p>
            <a:endParaRPr lang="fr-CA" sz="2000" b="1" dirty="0"/>
          </a:p>
          <a:p>
            <a:r>
              <a:rPr lang="fr-CA" sz="2000" b="1" dirty="0"/>
              <a:t>Ces </a:t>
            </a:r>
            <a:r>
              <a:rPr lang="fr-CA" sz="2000" b="1" dirty="0" err="1"/>
              <a:t>glycéroglycolipides</a:t>
            </a:r>
            <a:r>
              <a:rPr lang="fr-CA" sz="2000" b="1" dirty="0"/>
              <a:t> sont abondants dans les membranes des plantes (en particulier dans les membranes des thylacoïdes des chloroplastes), et de certaines bactéries. </a:t>
            </a:r>
          </a:p>
          <a:p>
            <a:r>
              <a:rPr lang="fr-CA" sz="2000" b="1" dirty="0"/>
              <a:t>Ex: 1,2-diacyl-[β-D-galactosyl-1'-3]-glycérol	</a:t>
            </a:r>
          </a:p>
        </p:txBody>
      </p:sp>
      <p:pic>
        <p:nvPicPr>
          <p:cNvPr id="3" name="Image 2">
            <a:extLst>
              <a:ext uri="{FF2B5EF4-FFF2-40B4-BE49-F238E27FC236}">
                <a16:creationId xmlns:a16="http://schemas.microsoft.com/office/drawing/2014/main" id="{52603045-D7E0-4EF4-8BD2-4253DD52E63B}"/>
              </a:ext>
            </a:extLst>
          </p:cNvPr>
          <p:cNvPicPr>
            <a:picLocks noChangeAspect="1"/>
          </p:cNvPicPr>
          <p:nvPr/>
        </p:nvPicPr>
        <p:blipFill>
          <a:blip r:embed="rId5"/>
          <a:stretch>
            <a:fillRect/>
          </a:stretch>
        </p:blipFill>
        <p:spPr>
          <a:xfrm>
            <a:off x="1722157" y="3126797"/>
            <a:ext cx="5442808" cy="3086966"/>
          </a:xfrm>
          <a:prstGeom prst="rect">
            <a:avLst/>
          </a:prstGeom>
        </p:spPr>
      </p:pic>
    </p:spTree>
    <p:extLst>
      <p:ext uri="{BB962C8B-B14F-4D97-AF65-F5344CB8AC3E}">
        <p14:creationId xmlns:p14="http://schemas.microsoft.com/office/powerpoint/2010/main" val="234391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2554545"/>
          </a:xfrm>
          <a:prstGeom prst="rect">
            <a:avLst/>
          </a:prstGeom>
          <a:noFill/>
        </p:spPr>
        <p:txBody>
          <a:bodyPr wrap="square" rtlCol="0">
            <a:spAutoFit/>
          </a:bodyPr>
          <a:lstStyle/>
          <a:p>
            <a:r>
              <a:rPr lang="fr-CA" sz="2000" b="1" dirty="0">
                <a:solidFill>
                  <a:srgbClr val="FF0000"/>
                </a:solidFill>
              </a:rPr>
              <a:t>3/ les glycolipides  </a:t>
            </a:r>
            <a:endParaRPr lang="fr-FR" sz="2000" b="1" dirty="0">
              <a:solidFill>
                <a:srgbClr val="FF0000"/>
              </a:solidFill>
            </a:endParaRPr>
          </a:p>
          <a:p>
            <a:r>
              <a:rPr lang="fr-CA" sz="2000" b="1" dirty="0"/>
              <a:t>						</a:t>
            </a:r>
          </a:p>
          <a:p>
            <a:r>
              <a:rPr lang="fr-CA" sz="2000" b="1" dirty="0"/>
              <a:t>Ce sont des lipides qui contiennent des oses</a:t>
            </a:r>
          </a:p>
          <a:p>
            <a:r>
              <a:rPr lang="fr-CA" sz="2000" b="1" dirty="0"/>
              <a:t>Ils sont formées de: </a:t>
            </a:r>
          </a:p>
          <a:p>
            <a:pPr marL="800100" lvl="1" indent="-342900">
              <a:buFont typeface="Wingdings" panose="05000000000000000000" pitchFamily="2" charset="2"/>
              <a:buChar char="v"/>
            </a:pPr>
            <a:r>
              <a:rPr lang="fr-CA" sz="2000" b="1" dirty="0"/>
              <a:t>La partie aglycone: un lipide = la céramide, constitué de sphingosine + Acide gras </a:t>
            </a:r>
          </a:p>
          <a:p>
            <a:pPr marL="800100" lvl="1" indent="-342900">
              <a:buFont typeface="Wingdings" panose="05000000000000000000" pitchFamily="2" charset="2"/>
              <a:buChar char="v"/>
            </a:pPr>
            <a:r>
              <a:rPr lang="fr-CA" sz="2000" b="1" dirty="0"/>
              <a:t>et une partie glycane </a:t>
            </a:r>
          </a:p>
          <a:p>
            <a:pPr lvl="2"/>
            <a:r>
              <a:rPr lang="fr-CA" sz="2000" b="1" dirty="0"/>
              <a:t>				</a:t>
            </a:r>
          </a:p>
        </p:txBody>
      </p:sp>
      <p:pic>
        <p:nvPicPr>
          <p:cNvPr id="6" name="Image 5">
            <a:extLst>
              <a:ext uri="{FF2B5EF4-FFF2-40B4-BE49-F238E27FC236}">
                <a16:creationId xmlns:a16="http://schemas.microsoft.com/office/drawing/2014/main" id="{1971D929-2713-4F17-B154-AF2F99DB0C04}"/>
              </a:ext>
            </a:extLst>
          </p:cNvPr>
          <p:cNvPicPr>
            <a:picLocks noChangeAspect="1"/>
          </p:cNvPicPr>
          <p:nvPr/>
        </p:nvPicPr>
        <p:blipFill>
          <a:blip r:embed="rId5">
            <a:lum bright="-20000" contrast="40000"/>
          </a:blip>
          <a:stretch>
            <a:fillRect/>
          </a:stretch>
        </p:blipFill>
        <p:spPr>
          <a:xfrm>
            <a:off x="1057767" y="2563131"/>
            <a:ext cx="6496424" cy="3756166"/>
          </a:xfrm>
          <a:prstGeom prst="rect">
            <a:avLst/>
          </a:prstGeom>
        </p:spPr>
      </p:pic>
    </p:spTree>
    <p:extLst>
      <p:ext uri="{BB962C8B-B14F-4D97-AF65-F5344CB8AC3E}">
        <p14:creationId xmlns:p14="http://schemas.microsoft.com/office/powerpoint/2010/main" val="38767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3A33161-EF41-4CF6-9E3F-8EE3FDAA4466}"/>
              </a:ext>
            </a:extLst>
          </p:cNvPr>
          <p:cNvSpPr txBox="1"/>
          <p:nvPr/>
        </p:nvSpPr>
        <p:spPr>
          <a:xfrm>
            <a:off x="376671" y="407843"/>
            <a:ext cx="8112703"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700" b="1" i="0" u="none" strike="noStrike" kern="1200" cap="none" spc="0" normalizeH="0" baseline="0" noProof="0" dirty="0">
                <a:ln>
                  <a:noFill/>
                </a:ln>
                <a:solidFill>
                  <a:srgbClr val="FF0000"/>
                </a:solidFill>
                <a:effectLst/>
                <a:uLnTx/>
                <a:uFillTx/>
                <a:latin typeface="Tw Cen MT" panose="020B0602020104020603"/>
                <a:ea typeface="+mn-ea"/>
                <a:cs typeface="+mn-cs"/>
              </a:rPr>
              <a:t>LES OSIDES </a:t>
            </a:r>
            <a:endParaRPr kumimoji="0" lang="fr-CA" sz="135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10" name="ZoneTexte 9">
            <a:extLst>
              <a:ext uri="{FF2B5EF4-FFF2-40B4-BE49-F238E27FC236}">
                <a16:creationId xmlns:a16="http://schemas.microsoft.com/office/drawing/2014/main" id="{634DC5C2-FE03-4901-B072-BF54F3A066B0}"/>
              </a:ext>
            </a:extLst>
          </p:cNvPr>
          <p:cNvSpPr txBox="1"/>
          <p:nvPr/>
        </p:nvSpPr>
        <p:spPr>
          <a:xfrm>
            <a:off x="287048" y="1246909"/>
            <a:ext cx="801528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C00000"/>
                </a:solidFill>
                <a:effectLst/>
                <a:uLnTx/>
                <a:uFillTx/>
                <a:latin typeface="Tw Cen MT" panose="020B0602020104020603"/>
                <a:ea typeface="+mn-ea"/>
                <a:cs typeface="+mn-cs"/>
              </a:rPr>
              <a:t>4/ LES HETEROSIDES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DZ" sz="2400" b="0" i="0" u="none" strike="noStrike" kern="1200" cap="none" spc="0" normalizeH="0" baseline="0" noProof="0" dirty="0">
              <a:ln>
                <a:noFill/>
              </a:ln>
              <a:solidFill>
                <a:prstClr val="black"/>
              </a:solidFill>
              <a:effectLst/>
              <a:uLnTx/>
              <a:uFillTx/>
              <a:latin typeface="Tw Cen MT" panose="020B0602020104020603"/>
              <a:ea typeface="+mn-ea"/>
              <a:cs typeface="+mn-cs"/>
            </a:endParaRPr>
          </a:p>
        </p:txBody>
      </p:sp>
      <p:sp>
        <p:nvSpPr>
          <p:cNvPr id="4" name="ZoneTexte 3">
            <a:extLst>
              <a:ext uri="{FF2B5EF4-FFF2-40B4-BE49-F238E27FC236}">
                <a16:creationId xmlns:a16="http://schemas.microsoft.com/office/drawing/2014/main" id="{8F4D2D63-8429-4B5C-95A3-BAEDE5EC5126}"/>
              </a:ext>
            </a:extLst>
          </p:cNvPr>
          <p:cNvSpPr txBox="1"/>
          <p:nvPr/>
        </p:nvSpPr>
        <p:spPr>
          <a:xfrm>
            <a:off x="1513176" y="1376978"/>
            <a:ext cx="8964756" cy="707886"/>
          </a:xfrm>
          <a:prstGeom prst="rect">
            <a:avLst/>
          </a:prstGeom>
          <a:noFill/>
        </p:spPr>
        <p:txBody>
          <a:bodyPr wrap="square" rtlCol="0">
            <a:spAutoFit/>
          </a:bodyPr>
          <a:lstStyle/>
          <a:p>
            <a:pPr marL="800100" lvl="1" indent="-342900">
              <a:buFontTx/>
              <a:buChar char="-"/>
            </a:pPr>
            <a:endParaRPr lang="fr-CA" sz="2000" b="1" dirty="0">
              <a:latin typeface="Times New Roman" panose="02020603050405020304" pitchFamily="18" charset="0"/>
              <a:cs typeface="Times New Roman" panose="02020603050405020304" pitchFamily="18" charset="0"/>
            </a:endParaRPr>
          </a:p>
          <a:p>
            <a:pPr lvl="3"/>
            <a:r>
              <a:rPr lang="fr-CA" sz="2000" b="1" dirty="0">
                <a:solidFill>
                  <a:srgbClr val="002060"/>
                </a:solidFill>
                <a:latin typeface="Times New Roman" panose="02020603050405020304" pitchFamily="18" charset="0"/>
                <a:cs typeface="Times New Roman" panose="02020603050405020304" pitchFamily="18" charset="0"/>
              </a:rPr>
              <a:t>2/ Les glycoconjugués  </a:t>
            </a:r>
          </a:p>
        </p:txBody>
      </p:sp>
      <p:sp>
        <p:nvSpPr>
          <p:cNvPr id="2" name="ZoneTexte 1">
            <a:extLst>
              <a:ext uri="{FF2B5EF4-FFF2-40B4-BE49-F238E27FC236}">
                <a16:creationId xmlns:a16="http://schemas.microsoft.com/office/drawing/2014/main" id="{F3C17359-5DE1-445B-82CF-21374FF6D081}"/>
              </a:ext>
            </a:extLst>
          </p:cNvPr>
          <p:cNvSpPr txBox="1"/>
          <p:nvPr/>
        </p:nvSpPr>
        <p:spPr>
          <a:xfrm>
            <a:off x="287048" y="2114181"/>
            <a:ext cx="8608746" cy="2246769"/>
          </a:xfrm>
          <a:prstGeom prst="rect">
            <a:avLst/>
          </a:prstGeom>
          <a:noFill/>
        </p:spPr>
        <p:txBody>
          <a:bodyPr wrap="square" rtlCol="0">
            <a:spAutoFit/>
          </a:bodyPr>
          <a:lstStyle/>
          <a:p>
            <a:r>
              <a:rPr lang="fr-CA" sz="2000" b="1">
                <a:solidFill>
                  <a:srgbClr val="FF0000"/>
                </a:solidFill>
              </a:rPr>
              <a:t>3/ </a:t>
            </a:r>
            <a:r>
              <a:rPr lang="fr-CA" sz="2000" b="1" dirty="0">
                <a:solidFill>
                  <a:srgbClr val="FF0000"/>
                </a:solidFill>
              </a:rPr>
              <a:t>les glycolipides  </a:t>
            </a:r>
            <a:endParaRPr lang="fr-FR" sz="2000" b="1" dirty="0">
              <a:solidFill>
                <a:srgbClr val="FF0000"/>
              </a:solidFill>
            </a:endParaRPr>
          </a:p>
          <a:p>
            <a:r>
              <a:rPr lang="fr-CA" sz="2000" b="1" dirty="0"/>
              <a:t>	Le céramide lorsqu’il se lie par une liaison O-glycosidique à un ou plusieurs oses, donne les sphingoglycolipides :		</a:t>
            </a:r>
          </a:p>
          <a:p>
            <a:r>
              <a:rPr lang="fr-CA" sz="2000" b="1" dirty="0"/>
              <a:t>		</a:t>
            </a:r>
          </a:p>
          <a:p>
            <a:r>
              <a:rPr lang="fr-CA" sz="2000" b="1" dirty="0">
                <a:solidFill>
                  <a:srgbClr val="7030A0"/>
                </a:solidFill>
              </a:rPr>
              <a:t>Rôle biologique: </a:t>
            </a:r>
          </a:p>
          <a:p>
            <a:r>
              <a:rPr lang="fr-CA" sz="2000" b="1" dirty="0"/>
              <a:t>Portées par le feuillet externe de la membrane des cellules de SNC, où elles interviennent dans la reconnaissance cellulaire. </a:t>
            </a:r>
            <a:endParaRPr lang="fr-CA" sz="2000" b="1" dirty="0">
              <a:solidFill>
                <a:srgbClr val="FF0000"/>
              </a:solidFill>
            </a:endParaRPr>
          </a:p>
        </p:txBody>
      </p:sp>
    </p:spTree>
    <p:extLst>
      <p:ext uri="{BB962C8B-B14F-4D97-AF65-F5344CB8AC3E}">
        <p14:creationId xmlns:p14="http://schemas.microsoft.com/office/powerpoint/2010/main" val="13825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83B74D3E-0C1B-4DC6-B140-DB1C150E2178}"/>
              </a:ext>
            </a:extLst>
          </p:cNvPr>
          <p:cNvGrpSpPr/>
          <p:nvPr/>
        </p:nvGrpSpPr>
        <p:grpSpPr>
          <a:xfrm>
            <a:off x="392830" y="990874"/>
            <a:ext cx="8502964" cy="5634787"/>
            <a:chOff x="392830" y="990874"/>
            <a:chExt cx="8502964" cy="5634787"/>
          </a:xfrm>
        </p:grpSpPr>
        <p:pic>
          <p:nvPicPr>
            <p:cNvPr id="8" name="Image 7">
              <a:extLst>
                <a:ext uri="{FF2B5EF4-FFF2-40B4-BE49-F238E27FC236}">
                  <a16:creationId xmlns:a16="http://schemas.microsoft.com/office/drawing/2014/main" id="{4BFB0BDA-2D64-443C-9C03-7C87B0311ABA}"/>
                </a:ext>
              </a:extLst>
            </p:cNvPr>
            <p:cNvPicPr>
              <a:picLocks noChangeAspect="1"/>
            </p:cNvPicPr>
            <p:nvPr/>
          </p:nvPicPr>
          <p:blipFill>
            <a:blip r:embed="rId3"/>
            <a:stretch>
              <a:fillRect/>
            </a:stretch>
          </p:blipFill>
          <p:spPr>
            <a:xfrm>
              <a:off x="392830" y="990874"/>
              <a:ext cx="8358340" cy="54869"/>
            </a:xfrm>
            <a:prstGeom prst="rect">
              <a:avLst/>
            </a:prstGeom>
          </p:spPr>
        </p:pic>
        <p:pic>
          <p:nvPicPr>
            <p:cNvPr id="9" name="Image 8">
              <a:extLst>
                <a:ext uri="{FF2B5EF4-FFF2-40B4-BE49-F238E27FC236}">
                  <a16:creationId xmlns:a16="http://schemas.microsoft.com/office/drawing/2014/main" id="{D20B3051-75B0-4365-B6EA-F1C080EB8170}"/>
                </a:ext>
              </a:extLst>
            </p:cNvPr>
            <p:cNvPicPr>
              <a:picLocks noChangeAspect="1"/>
            </p:cNvPicPr>
            <p:nvPr/>
          </p:nvPicPr>
          <p:blipFill>
            <a:blip r:embed="rId4"/>
            <a:stretch>
              <a:fillRect/>
            </a:stretch>
          </p:blipFill>
          <p:spPr>
            <a:xfrm>
              <a:off x="531357" y="6570792"/>
              <a:ext cx="8364437" cy="54869"/>
            </a:xfrm>
            <a:prstGeom prst="rect">
              <a:avLst/>
            </a:prstGeom>
          </p:spPr>
        </p:pic>
      </p:grpSp>
      <p:sp>
        <p:nvSpPr>
          <p:cNvPr id="2" name="ZoneTexte 1">
            <a:extLst>
              <a:ext uri="{FF2B5EF4-FFF2-40B4-BE49-F238E27FC236}">
                <a16:creationId xmlns:a16="http://schemas.microsoft.com/office/drawing/2014/main" id="{F3C17359-5DE1-445B-82CF-21374FF6D081}"/>
              </a:ext>
            </a:extLst>
          </p:cNvPr>
          <p:cNvSpPr txBox="1"/>
          <p:nvPr/>
        </p:nvSpPr>
        <p:spPr>
          <a:xfrm>
            <a:off x="142424" y="3075057"/>
            <a:ext cx="8608746" cy="707886"/>
          </a:xfrm>
          <a:prstGeom prst="rect">
            <a:avLst/>
          </a:prstGeom>
          <a:noFill/>
        </p:spPr>
        <p:txBody>
          <a:bodyPr wrap="square" rtlCol="0">
            <a:spAutoFit/>
          </a:bodyPr>
          <a:lstStyle/>
          <a:p>
            <a:pPr algn="ctr"/>
            <a:r>
              <a:rPr lang="fr-CA" sz="4000" b="1" dirty="0">
                <a:solidFill>
                  <a:srgbClr val="FF0000"/>
                </a:solidFill>
              </a:rPr>
              <a:t>MERCI POUR VOTRE ATTENTION </a:t>
            </a:r>
          </a:p>
        </p:txBody>
      </p:sp>
    </p:spTree>
    <p:extLst>
      <p:ext uri="{BB962C8B-B14F-4D97-AF65-F5344CB8AC3E}">
        <p14:creationId xmlns:p14="http://schemas.microsoft.com/office/powerpoint/2010/main" val="154148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2">
                                            <p:txEl>
                                              <p:pRg st="0" end="0"/>
                                            </p:txEl>
                                          </p:spTgt>
                                        </p:tgtEl>
                                        <p:attrNameLst>
                                          <p:attrName>style.color</p:attrName>
                                        </p:attrNameLst>
                                      </p:cBhvr>
                                      <p:to>
                                        <a:schemeClr val="bg1"/>
                                      </p:to>
                                    </p:animClr>
                                    <p:animClr clrSpc="rgb" dir="cw">
                                      <p:cBhvr>
                                        <p:cTn id="7" dur="250" autoRev="1" fill="remove"/>
                                        <p:tgtEl>
                                          <p:spTgt spid="2">
                                            <p:txEl>
                                              <p:pRg st="0" end="0"/>
                                            </p:txEl>
                                          </p:spTgt>
                                        </p:tgtEl>
                                        <p:attrNameLst>
                                          <p:attrName>fillcolor</p:attrName>
                                        </p:attrNameLst>
                                      </p:cBhvr>
                                      <p:to>
                                        <a:schemeClr val="bg1"/>
                                      </p:to>
                                    </p:animClr>
                                    <p:set>
                                      <p:cBhvr>
                                        <p:cTn id="8" dur="250" autoRev="1" fill="remove"/>
                                        <p:tgtEl>
                                          <p:spTgt spid="2">
                                            <p:txEl>
                                              <p:pRg st="0" end="0"/>
                                            </p:txEl>
                                          </p:spTgt>
                                        </p:tgtEl>
                                        <p:attrNameLst>
                                          <p:attrName>fill.type</p:attrName>
                                        </p:attrNameLst>
                                      </p:cBhvr>
                                      <p:to>
                                        <p:strVal val="solid"/>
                                      </p:to>
                                    </p:set>
                                    <p:set>
                                      <p:cBhvr>
                                        <p:cTn id="9" dur="250" autoRev="1" fill="remove"/>
                                        <p:tgtEl>
                                          <p:spTgt spid="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é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2577</TotalTime>
  <Words>3908</Words>
  <Application>Microsoft Office PowerPoint</Application>
  <PresentationFormat>Affichage à l'écran (4:3)</PresentationFormat>
  <Paragraphs>717</Paragraphs>
  <Slides>71</Slides>
  <Notes>66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71</vt:i4>
      </vt:variant>
    </vt:vector>
  </HeadingPairs>
  <TitlesOfParts>
    <vt:vector size="79" baseType="lpstr">
      <vt:lpstr>Arial</vt:lpstr>
      <vt:lpstr>Calibri</vt:lpstr>
      <vt:lpstr>Times New Roman</vt:lpstr>
      <vt:lpstr>Tw Cen MT</vt:lpstr>
      <vt:lpstr>Tw Cen MT Condensed</vt:lpstr>
      <vt:lpstr>Wingdings</vt:lpstr>
      <vt:lpstr>Wingdings 3</vt:lpstr>
      <vt:lpstr>Intégral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Aya Boufama</dc:creator>
  <cp:lastModifiedBy>Aya Boufama</cp:lastModifiedBy>
  <cp:revision>681</cp:revision>
  <dcterms:created xsi:type="dcterms:W3CDTF">2024-09-15T07:53:12Z</dcterms:created>
  <dcterms:modified xsi:type="dcterms:W3CDTF">2024-12-15T14:59:06Z</dcterms:modified>
</cp:coreProperties>
</file>