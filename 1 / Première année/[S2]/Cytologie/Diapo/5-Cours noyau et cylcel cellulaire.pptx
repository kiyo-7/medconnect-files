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9" r:id="rId2"/>
    <p:sldId id="318" r:id="rId3"/>
    <p:sldId id="310" r:id="rId4"/>
    <p:sldId id="311" r:id="rId5"/>
    <p:sldId id="313" r:id="rId6"/>
    <p:sldId id="314" r:id="rId7"/>
    <p:sldId id="277" r:id="rId8"/>
    <p:sldId id="257" r:id="rId9"/>
    <p:sldId id="270" r:id="rId10"/>
    <p:sldId id="315" r:id="rId11"/>
    <p:sldId id="273" r:id="rId12"/>
    <p:sldId id="305" r:id="rId13"/>
    <p:sldId id="272" r:id="rId14"/>
    <p:sldId id="279" r:id="rId15"/>
    <p:sldId id="280" r:id="rId16"/>
    <p:sldId id="281" r:id="rId17"/>
    <p:sldId id="258" r:id="rId18"/>
    <p:sldId id="282" r:id="rId19"/>
    <p:sldId id="283" r:id="rId20"/>
    <p:sldId id="284" r:id="rId21"/>
    <p:sldId id="285" r:id="rId22"/>
    <p:sldId id="286" r:id="rId23"/>
    <p:sldId id="259" r:id="rId24"/>
    <p:sldId id="288" r:id="rId25"/>
    <p:sldId id="319" r:id="rId2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E9AEA9F5-5E8E-433F-A55F-B54C76BC885D}">
          <p14:sldIdLst/>
        </p14:section>
        <p14:section name="Untitled Section" id="{0D9CC065-FD41-4FB0-86D9-B0B5442EEE0E}">
          <p14:sldIdLst>
            <p14:sldId id="309"/>
            <p14:sldId id="318"/>
            <p14:sldId id="310"/>
            <p14:sldId id="311"/>
            <p14:sldId id="313"/>
            <p14:sldId id="314"/>
            <p14:sldId id="277"/>
            <p14:sldId id="257"/>
            <p14:sldId id="270"/>
            <p14:sldId id="315"/>
            <p14:sldId id="273"/>
            <p14:sldId id="305"/>
            <p14:sldId id="272"/>
            <p14:sldId id="279"/>
            <p14:sldId id="280"/>
            <p14:sldId id="281"/>
            <p14:sldId id="258"/>
            <p14:sldId id="282"/>
            <p14:sldId id="283"/>
            <p14:sldId id="284"/>
            <p14:sldId id="285"/>
            <p14:sldId id="286"/>
            <p14:sldId id="259"/>
            <p14:sldId id="288"/>
            <p14:sldId id="3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7EB50-159B-4063-88D3-6253F61A3532}" type="datetimeFigureOut">
              <a:rPr lang="fr-FR" smtClean="0"/>
              <a:pPr/>
              <a:t>24/05/2025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FD83C-BE9E-4E59-A536-FA00BF39E4D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7EB50-159B-4063-88D3-6253F61A3532}" type="datetimeFigureOut">
              <a:rPr lang="fr-FR" smtClean="0"/>
              <a:pPr/>
              <a:t>24/05/2025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FD83C-BE9E-4E59-A536-FA00BF39E4D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7EB50-159B-4063-88D3-6253F61A3532}" type="datetimeFigureOut">
              <a:rPr lang="fr-FR" smtClean="0"/>
              <a:pPr/>
              <a:t>24/05/2025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FD83C-BE9E-4E59-A536-FA00BF39E4D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7EB50-159B-4063-88D3-6253F61A3532}" type="datetimeFigureOut">
              <a:rPr lang="fr-FR" smtClean="0"/>
              <a:pPr/>
              <a:t>24/05/2025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FD83C-BE9E-4E59-A536-FA00BF39E4D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7EB50-159B-4063-88D3-6253F61A3532}" type="datetimeFigureOut">
              <a:rPr lang="fr-FR" smtClean="0"/>
              <a:pPr/>
              <a:t>24/05/2025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FD83C-BE9E-4E59-A536-FA00BF39E4D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7EB50-159B-4063-88D3-6253F61A3532}" type="datetimeFigureOut">
              <a:rPr lang="fr-FR" smtClean="0"/>
              <a:pPr/>
              <a:t>24/05/2025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FD83C-BE9E-4E59-A536-FA00BF39E4D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7EB50-159B-4063-88D3-6253F61A3532}" type="datetimeFigureOut">
              <a:rPr lang="fr-FR" smtClean="0"/>
              <a:pPr/>
              <a:t>24/05/2025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FD83C-BE9E-4E59-A536-FA00BF39E4D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7EB50-159B-4063-88D3-6253F61A3532}" type="datetimeFigureOut">
              <a:rPr lang="fr-FR" smtClean="0"/>
              <a:pPr/>
              <a:t>24/05/2025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FD83C-BE9E-4E59-A536-FA00BF39E4D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7EB50-159B-4063-88D3-6253F61A3532}" type="datetimeFigureOut">
              <a:rPr lang="fr-FR" smtClean="0"/>
              <a:pPr/>
              <a:t>24/05/2025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FD83C-BE9E-4E59-A536-FA00BF39E4D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7EB50-159B-4063-88D3-6253F61A3532}" type="datetimeFigureOut">
              <a:rPr lang="fr-FR" smtClean="0"/>
              <a:pPr/>
              <a:t>24/05/2025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FD83C-BE9E-4E59-A536-FA00BF39E4D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7EB50-159B-4063-88D3-6253F61A3532}" type="datetimeFigureOut">
              <a:rPr lang="fr-FR" smtClean="0"/>
              <a:pPr/>
              <a:t>24/05/2025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FD83C-BE9E-4E59-A536-FA00BF39E4D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F7EB50-159B-4063-88D3-6253F61A3532}" type="datetimeFigureOut">
              <a:rPr lang="fr-FR" smtClean="0"/>
              <a:pPr/>
              <a:t>24/05/2025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FD83C-BE9E-4E59-A536-FA00BF39E4D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fr.wikipedia.org/wiki/ARN_ribosomique_28S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fr.wikipedia.org/wiki/ARN_ribosomique_18S" TargetMode="External"/><Relationship Id="rId4" Type="http://schemas.openxmlformats.org/officeDocument/2006/relationships/hyperlink" Target="https://fr.wikipedia.org/wiki/ARN_ribosomique_5,8S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fr.wikipedia.org/wiki/Cellule_(biologie)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012687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29879" y="1268760"/>
            <a:ext cx="8352928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4800" b="1" dirty="0" smtClean="0">
                <a:latin typeface="Times New Roman" pitchFamily="18" charset="0"/>
                <a:cs typeface="Times New Roman" pitchFamily="18" charset="0"/>
              </a:rPr>
              <a:t>LE NOYAU CELLULAIRE</a:t>
            </a:r>
            <a:endParaRPr kumimoji="0" lang="fr-FR" sz="48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500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5" y="-297"/>
            <a:ext cx="9010669" cy="685859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012687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15627" y="742049"/>
            <a:ext cx="6624736" cy="64633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3600" b="1" dirty="0" smtClean="0">
                <a:latin typeface="Times New Roman" pitchFamily="18" charset="0"/>
                <a:cs typeface="Times New Roman" pitchFamily="18" charset="0"/>
              </a:rPr>
              <a:t>1. Généralités sur le noyau</a:t>
            </a:r>
            <a:endParaRPr kumimoji="0" lang="fr-FR" sz="36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81589" y="1529002"/>
            <a:ext cx="3363179" cy="175432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3600" b="1" dirty="0" smtClean="0">
                <a:latin typeface="Times New Roman" pitchFamily="18" charset="0"/>
                <a:cs typeface="Times New Roman" pitchFamily="18" charset="0"/>
              </a:rPr>
              <a:t>2. Organisation générale du noyau </a:t>
            </a:r>
            <a:endParaRPr kumimoji="0" lang="fr-FR" sz="36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3509415" y="1542778"/>
            <a:ext cx="5112568" cy="64633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3600" b="1" dirty="0" smtClean="0">
                <a:latin typeface="Times New Roman" pitchFamily="18" charset="0"/>
                <a:cs typeface="Times New Roman" pitchFamily="18" charset="0"/>
              </a:rPr>
              <a:t>2.1. Enveloppe Nucléaire</a:t>
            </a:r>
            <a:endParaRPr kumimoji="0" lang="fr-FR" sz="36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3517977" y="2968051"/>
            <a:ext cx="5112568" cy="64633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3600" b="1" dirty="0" smtClean="0">
                <a:latin typeface="Times New Roman" pitchFamily="18" charset="0"/>
                <a:cs typeface="Times New Roman" pitchFamily="18" charset="0"/>
              </a:rPr>
              <a:t>2.3. Echange P.N/cytosol</a:t>
            </a:r>
            <a:endParaRPr kumimoji="0" lang="fr-FR" sz="36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3509415" y="2261830"/>
            <a:ext cx="5112568" cy="64633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3600" b="1" dirty="0" smtClean="0">
                <a:latin typeface="Times New Roman" pitchFamily="18" charset="0"/>
                <a:cs typeface="Times New Roman" pitchFamily="18" charset="0"/>
              </a:rPr>
              <a:t>2.2. Pore Nucléaire</a:t>
            </a:r>
            <a:endParaRPr kumimoji="0" lang="fr-FR" sz="36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3519287" y="3692990"/>
            <a:ext cx="5112568" cy="64633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3600" b="1" dirty="0" smtClean="0">
                <a:latin typeface="Times New Roman" pitchFamily="18" charset="0"/>
                <a:cs typeface="Times New Roman" pitchFamily="18" charset="0"/>
              </a:rPr>
              <a:t>2.4. Le nucléole</a:t>
            </a:r>
            <a:endParaRPr kumimoji="0" lang="fr-FR" sz="36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3517977" y="4393324"/>
            <a:ext cx="5112568" cy="64633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3600" b="1" dirty="0" smtClean="0">
                <a:latin typeface="Times New Roman" pitchFamily="18" charset="0"/>
                <a:cs typeface="Times New Roman" pitchFamily="18" charset="0"/>
              </a:rPr>
              <a:t>2.5. La chromatine</a:t>
            </a:r>
            <a:endParaRPr kumimoji="0" lang="fr-FR" sz="36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1619233" y="18519"/>
            <a:ext cx="5112568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3600" b="1" dirty="0" smtClean="0">
                <a:latin typeface="Times New Roman" pitchFamily="18" charset="0"/>
                <a:cs typeface="Times New Roman" pitchFamily="18" charset="0"/>
              </a:rPr>
              <a:t>Plan du cours</a:t>
            </a:r>
            <a:endParaRPr kumimoji="0" lang="fr-FR" sz="36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88809" y="5229881"/>
            <a:ext cx="6401912" cy="64633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3600" b="1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fr-FR" sz="3600" b="1" dirty="0" smtClean="0">
                <a:latin typeface="Times New Roman" pitchFamily="18" charset="0"/>
                <a:cs typeface="Times New Roman" pitchFamily="18" charset="0"/>
              </a:rPr>
              <a:t>. Les phases du cycle cellulaire</a:t>
            </a:r>
            <a:endParaRPr kumimoji="0" lang="fr-FR" sz="36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110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012687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  <p:pic>
        <p:nvPicPr>
          <p:cNvPr id="3" name="Picture 4" descr="Image associé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1052736"/>
            <a:ext cx="8424936" cy="5472608"/>
          </a:xfrm>
          <a:prstGeom prst="rect">
            <a:avLst/>
          </a:prstGeom>
          <a:noFill/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03534" y="190133"/>
            <a:ext cx="6624736" cy="64633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3600" b="1" dirty="0" smtClean="0">
                <a:latin typeface="Times New Roman" pitchFamily="18" charset="0"/>
                <a:cs typeface="Times New Roman" pitchFamily="18" charset="0"/>
              </a:rPr>
              <a:t>1. Généralités sur le noyau</a:t>
            </a:r>
            <a:endParaRPr kumimoji="0" lang="fr-FR" sz="36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887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012687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  <p:pic>
        <p:nvPicPr>
          <p:cNvPr id="3" name="Picture 2" descr="Résultat de recherche d'images pour &quot;nombre de noyau cellulaire hepatocyte&quot;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890" y="548680"/>
            <a:ext cx="8524905" cy="5949281"/>
          </a:xfrm>
          <a:prstGeom prst="rect">
            <a:avLst/>
          </a:prstGeom>
          <a:noFill/>
        </p:spPr>
      </p:pic>
      <p:sp>
        <p:nvSpPr>
          <p:cNvPr id="4" name="ZoneTexte 4"/>
          <p:cNvSpPr txBox="1"/>
          <p:nvPr/>
        </p:nvSpPr>
        <p:spPr>
          <a:xfrm>
            <a:off x="755576" y="1340768"/>
            <a:ext cx="6912768" cy="52322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fr-FR" sz="2800" b="1" dirty="0" smtClean="0"/>
              <a:t>Variation du nombre de noyaux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2997519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Image associé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6618" y="819703"/>
            <a:ext cx="3888432" cy="2376263"/>
          </a:xfrm>
          <a:prstGeom prst="rect">
            <a:avLst/>
          </a:prstGeom>
          <a:noFill/>
        </p:spPr>
      </p:pic>
      <p:sp>
        <p:nvSpPr>
          <p:cNvPr id="5" name="ZoneTexte 4"/>
          <p:cNvSpPr txBox="1"/>
          <p:nvPr/>
        </p:nvSpPr>
        <p:spPr>
          <a:xfrm>
            <a:off x="2447764" y="143053"/>
            <a:ext cx="4824536" cy="52322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fr-FR" sz="2800" b="1" dirty="0" smtClean="0"/>
              <a:t>Variation des formes du noyau</a:t>
            </a:r>
            <a:endParaRPr lang="fr-FR" sz="2800" b="1" dirty="0"/>
          </a:p>
        </p:txBody>
      </p:sp>
      <p:pic>
        <p:nvPicPr>
          <p:cNvPr id="33796" name="Picture 4" descr="Image associé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0634" y="3621523"/>
            <a:ext cx="3600400" cy="2376264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5172642" y="3043078"/>
            <a:ext cx="3672408" cy="6480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Cellules cubiques, noyau sphérique 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33772" y="6023984"/>
            <a:ext cx="3672408" cy="6480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Granulocyte , noyau polylobé </a:t>
            </a:r>
            <a:endParaRPr lang="fr-FR" b="1" dirty="0">
              <a:solidFill>
                <a:schemeClr val="tx1"/>
              </a:solidFill>
            </a:endParaRPr>
          </a:p>
        </p:txBody>
      </p:sp>
      <p:pic>
        <p:nvPicPr>
          <p:cNvPr id="33798" name="Picture 6" descr="Résultat de recherche d'images pour &quot;noyau neutrophiles&quot;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8342" y="4149960"/>
            <a:ext cx="3312368" cy="2017990"/>
          </a:xfrm>
          <a:prstGeom prst="rect">
            <a:avLst/>
          </a:prstGeom>
          <a:noFill/>
        </p:spPr>
      </p:pic>
      <p:sp>
        <p:nvSpPr>
          <p:cNvPr id="10" name="Rectangle 9"/>
          <p:cNvSpPr/>
          <p:nvPr/>
        </p:nvSpPr>
        <p:spPr>
          <a:xfrm>
            <a:off x="5004048" y="5843914"/>
            <a:ext cx="3672408" cy="6480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Cellules prismatique, noyau ovoïde 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61764" y="853845"/>
            <a:ext cx="4794854" cy="31085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2800" dirty="0"/>
              <a:t>Formes variables 5 à 6 </a:t>
            </a:r>
            <a:r>
              <a:rPr lang="el-GR" sz="2800" dirty="0"/>
              <a:t>μ</a:t>
            </a:r>
            <a:r>
              <a:rPr lang="fr-FR" sz="2800" dirty="0"/>
              <a:t>m de diamètre </a:t>
            </a:r>
            <a:endParaRPr lang="fr-FR" sz="2800" dirty="0" smtClean="0"/>
          </a:p>
          <a:p>
            <a:pPr marL="457200" indent="-457200">
              <a:buFontTx/>
              <a:buChar char="-"/>
            </a:pPr>
            <a:r>
              <a:rPr lang="fr-FR" sz="2800" dirty="0" smtClean="0"/>
              <a:t>Arrondi </a:t>
            </a:r>
            <a:r>
              <a:rPr lang="fr-FR" sz="2800" dirty="0"/>
              <a:t>: neurones, hépatocytes, … </a:t>
            </a:r>
            <a:endParaRPr lang="fr-FR" sz="2800" dirty="0" smtClean="0"/>
          </a:p>
          <a:p>
            <a:pPr marL="457200" indent="-457200">
              <a:buFontTx/>
              <a:buChar char="-"/>
            </a:pPr>
            <a:r>
              <a:rPr lang="fr-FR" sz="2800" dirty="0" smtClean="0"/>
              <a:t>- </a:t>
            </a:r>
            <a:r>
              <a:rPr lang="fr-FR" sz="2800" dirty="0"/>
              <a:t>Ovoïde : cellules musculaires, fibroblastes, … - Polylobé : polynucléaires </a:t>
            </a:r>
          </a:p>
        </p:txBody>
      </p:sp>
    </p:spTree>
    <p:extLst>
      <p:ext uri="{BB962C8B-B14F-4D97-AF65-F5344CB8AC3E}">
        <p14:creationId xmlns:p14="http://schemas.microsoft.com/office/powerpoint/2010/main" val="3733434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Le réseau du reticulum endoplasmique dans les cellules. Représentation... |  Download Scientific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548680"/>
            <a:ext cx="8096250" cy="6309320"/>
          </a:xfrm>
          <a:prstGeom prst="rect">
            <a:avLst/>
          </a:prstGeom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55575" y="127234"/>
            <a:ext cx="6192688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Low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1. Organisation</a:t>
            </a:r>
            <a:r>
              <a:rPr kumimoji="0" lang="fr-FR" sz="3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générale du noyau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94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Image associé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80728"/>
            <a:ext cx="9144000" cy="5705873"/>
          </a:xfrm>
          <a:prstGeom prst="rect">
            <a:avLst/>
          </a:prstGeom>
          <a:noFill/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187624" y="373887"/>
            <a:ext cx="6192688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Low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1. Organisation</a:t>
            </a:r>
            <a:r>
              <a:rPr kumimoji="0" lang="fr-FR" sz="3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générale du noyau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611560" y="188640"/>
            <a:ext cx="7272808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Organisation générale du noyau</a:t>
            </a:r>
            <a:endParaRPr lang="fr-FR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6" descr="Image associé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052736"/>
            <a:ext cx="828092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associé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3146460"/>
            <a:ext cx="4968552" cy="3494829"/>
          </a:xfrm>
          <a:prstGeom prst="rect">
            <a:avLst/>
          </a:prstGeom>
          <a:noFill/>
        </p:spPr>
      </p:pic>
      <p:sp>
        <p:nvSpPr>
          <p:cNvPr id="5" name="ZoneTexte 4"/>
          <p:cNvSpPr txBox="1"/>
          <p:nvPr/>
        </p:nvSpPr>
        <p:spPr>
          <a:xfrm>
            <a:off x="0" y="52675"/>
            <a:ext cx="8992718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2.1. Enveloppe nucléaire, organisation et structure</a:t>
            </a:r>
            <a:endParaRPr lang="fr-FR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ccolade ouvrante 5"/>
          <p:cNvSpPr/>
          <p:nvPr/>
        </p:nvSpPr>
        <p:spPr>
          <a:xfrm>
            <a:off x="539552" y="3645024"/>
            <a:ext cx="432048" cy="1296144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-36512" y="3789040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 smtClean="0"/>
              <a:t>Enveloppe </a:t>
            </a:r>
          </a:p>
          <a:p>
            <a:r>
              <a:rPr lang="fr-FR" sz="1200" b="1" dirty="0" smtClean="0"/>
              <a:t>nucléaire </a:t>
            </a:r>
            <a:endParaRPr lang="fr-FR" sz="1200" b="1" dirty="0"/>
          </a:p>
        </p:txBody>
      </p:sp>
      <p:pic>
        <p:nvPicPr>
          <p:cNvPr id="8" name="Picture 4" descr="Résultat de recherche d'images pour &quot;enveloppe nucléaire structure&quot;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23928" y="1124744"/>
            <a:ext cx="5220072" cy="5733256"/>
          </a:xfrm>
          <a:prstGeom prst="rect">
            <a:avLst/>
          </a:prstGeom>
          <a:noFill/>
        </p:spPr>
      </p:pic>
      <p:sp>
        <p:nvSpPr>
          <p:cNvPr id="9" name="Organigramme : Connecteur 8"/>
          <p:cNvSpPr/>
          <p:nvPr/>
        </p:nvSpPr>
        <p:spPr>
          <a:xfrm>
            <a:off x="7236296" y="4653136"/>
            <a:ext cx="72008" cy="7200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Organigramme : Connecteur 9"/>
          <p:cNvSpPr/>
          <p:nvPr/>
        </p:nvSpPr>
        <p:spPr>
          <a:xfrm>
            <a:off x="6444208" y="4805536"/>
            <a:ext cx="72008" cy="7200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Organigramme : Connecteur 10"/>
          <p:cNvSpPr/>
          <p:nvPr/>
        </p:nvSpPr>
        <p:spPr>
          <a:xfrm>
            <a:off x="5652120" y="4957936"/>
            <a:ext cx="72008" cy="7200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Organigramme : Connecteur 11"/>
          <p:cNvSpPr/>
          <p:nvPr/>
        </p:nvSpPr>
        <p:spPr>
          <a:xfrm>
            <a:off x="2051720" y="3501008"/>
            <a:ext cx="72008" cy="7200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Organigramme : Connecteur 12"/>
          <p:cNvSpPr/>
          <p:nvPr/>
        </p:nvSpPr>
        <p:spPr>
          <a:xfrm>
            <a:off x="5220072" y="5262736"/>
            <a:ext cx="72008" cy="7200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Organigramme : Connecteur 13"/>
          <p:cNvSpPr/>
          <p:nvPr/>
        </p:nvSpPr>
        <p:spPr>
          <a:xfrm>
            <a:off x="7092280" y="5229200"/>
            <a:ext cx="72008" cy="7200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" name="Connecteur droit 15"/>
          <p:cNvCxnSpPr>
            <a:stCxn id="10" idx="5"/>
          </p:cNvCxnSpPr>
          <p:nvPr/>
        </p:nvCxnSpPr>
        <p:spPr>
          <a:xfrm>
            <a:off x="6505671" y="4866999"/>
            <a:ext cx="1378697" cy="21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668344" y="4581128"/>
            <a:ext cx="1224136" cy="504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Ribosome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18" name="Organigramme : Connecteur 17"/>
          <p:cNvSpPr/>
          <p:nvPr/>
        </p:nvSpPr>
        <p:spPr>
          <a:xfrm>
            <a:off x="5004048" y="4797152"/>
            <a:ext cx="72008" cy="7200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/>
          <p:cNvSpPr/>
          <p:nvPr/>
        </p:nvSpPr>
        <p:spPr>
          <a:xfrm>
            <a:off x="1259632" y="2564904"/>
            <a:ext cx="1224136" cy="504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Ribosome</a:t>
            </a:r>
            <a:endParaRPr lang="fr-FR" b="1" dirty="0">
              <a:solidFill>
                <a:schemeClr val="tx1"/>
              </a:solidFill>
            </a:endParaRPr>
          </a:p>
        </p:txBody>
      </p:sp>
      <p:cxnSp>
        <p:nvCxnSpPr>
          <p:cNvPr id="21" name="Connecteur droit 20"/>
          <p:cNvCxnSpPr>
            <a:endCxn id="12" idx="2"/>
          </p:cNvCxnSpPr>
          <p:nvPr/>
        </p:nvCxnSpPr>
        <p:spPr>
          <a:xfrm>
            <a:off x="1619672" y="2996952"/>
            <a:ext cx="432048" cy="5400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rganigramme : Connecteur 21"/>
          <p:cNvSpPr/>
          <p:nvPr/>
        </p:nvSpPr>
        <p:spPr>
          <a:xfrm>
            <a:off x="1547664" y="3501008"/>
            <a:ext cx="72008" cy="7200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Organigramme : Connecteur 22"/>
          <p:cNvSpPr/>
          <p:nvPr/>
        </p:nvSpPr>
        <p:spPr>
          <a:xfrm>
            <a:off x="3203848" y="3501008"/>
            <a:ext cx="72008" cy="7200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548680"/>
            <a:ext cx="8784976" cy="5976664"/>
          </a:xfrm>
          <a:prstGeom prst="rect">
            <a:avLst/>
          </a:prstGeom>
        </p:spPr>
      </p:pic>
      <p:sp>
        <p:nvSpPr>
          <p:cNvPr id="3" name="ZoneTexte 4"/>
          <p:cNvSpPr txBox="1"/>
          <p:nvPr/>
        </p:nvSpPr>
        <p:spPr>
          <a:xfrm>
            <a:off x="107504" y="116632"/>
            <a:ext cx="8992718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2.1. Enveloppe nucléaire, organisation et structure</a:t>
            </a:r>
            <a:endParaRPr lang="fr-FR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63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00" name="Picture 4" descr="Résultat de recherche d'images pour &quot;pore nucléaire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908720"/>
            <a:ext cx="9036496" cy="5949280"/>
          </a:xfrm>
          <a:prstGeom prst="rect">
            <a:avLst/>
          </a:prstGeom>
          <a:noFill/>
        </p:spPr>
      </p:pic>
      <p:sp>
        <p:nvSpPr>
          <p:cNvPr id="6" name="ZoneTexte 5"/>
          <p:cNvSpPr txBox="1"/>
          <p:nvPr/>
        </p:nvSpPr>
        <p:spPr>
          <a:xfrm>
            <a:off x="43167" y="70593"/>
            <a:ext cx="8881086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2.2.Organisation moléculaire d’un pore nucléaire </a:t>
            </a:r>
            <a:endParaRPr lang="fr-FR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onnecteur droit avec flèche 9"/>
          <p:cNvCxnSpPr/>
          <p:nvPr/>
        </p:nvCxnSpPr>
        <p:spPr>
          <a:xfrm flipH="1">
            <a:off x="2987824" y="1772816"/>
            <a:ext cx="1152128" cy="136815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/>
          <p:cNvSpPr txBox="1"/>
          <p:nvPr/>
        </p:nvSpPr>
        <p:spPr>
          <a:xfrm>
            <a:off x="3563888" y="1412776"/>
            <a:ext cx="2073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Anneau cytosolique</a:t>
            </a:r>
            <a:endParaRPr lang="fr-FR" b="1" dirty="0"/>
          </a:p>
        </p:txBody>
      </p:sp>
      <p:sp>
        <p:nvSpPr>
          <p:cNvPr id="12" name="ZoneTexte 11"/>
          <p:cNvSpPr txBox="1"/>
          <p:nvPr/>
        </p:nvSpPr>
        <p:spPr>
          <a:xfrm>
            <a:off x="0" y="5517232"/>
            <a:ext cx="1855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Anneau nucléaire</a:t>
            </a:r>
            <a:endParaRPr lang="fr-FR" b="1" dirty="0"/>
          </a:p>
        </p:txBody>
      </p:sp>
      <p:cxnSp>
        <p:nvCxnSpPr>
          <p:cNvPr id="13" name="Connecteur droit avec flèche 12"/>
          <p:cNvCxnSpPr/>
          <p:nvPr/>
        </p:nvCxnSpPr>
        <p:spPr>
          <a:xfrm flipV="1">
            <a:off x="1331640" y="4437112"/>
            <a:ext cx="1008112" cy="115212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899592" y="2492896"/>
            <a:ext cx="1512168" cy="136815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/>
          <p:cNvSpPr txBox="1"/>
          <p:nvPr/>
        </p:nvSpPr>
        <p:spPr>
          <a:xfrm>
            <a:off x="0" y="2132856"/>
            <a:ext cx="14713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Transporteur </a:t>
            </a:r>
          </a:p>
          <a:p>
            <a:r>
              <a:rPr lang="fr-FR" b="1" dirty="0" smtClean="0"/>
              <a:t>central</a:t>
            </a:r>
            <a:endParaRPr lang="fr-FR" b="1" dirty="0"/>
          </a:p>
        </p:txBody>
      </p:sp>
      <p:sp>
        <p:nvSpPr>
          <p:cNvPr id="22" name="Rectangle 21"/>
          <p:cNvSpPr/>
          <p:nvPr/>
        </p:nvSpPr>
        <p:spPr>
          <a:xfrm>
            <a:off x="1187624" y="1484784"/>
            <a:ext cx="2448272" cy="3600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Cytosol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123728" y="5733256"/>
            <a:ext cx="2448272" cy="3600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Nucléoplasme</a:t>
            </a:r>
            <a:endParaRPr lang="fr-FR" b="1" dirty="0">
              <a:solidFill>
                <a:schemeClr val="tx1"/>
              </a:solidFill>
            </a:endParaRPr>
          </a:p>
        </p:txBody>
      </p:sp>
      <p:cxnSp>
        <p:nvCxnSpPr>
          <p:cNvPr id="24" name="Connecteur droit avec flèche 23"/>
          <p:cNvCxnSpPr/>
          <p:nvPr/>
        </p:nvCxnSpPr>
        <p:spPr>
          <a:xfrm flipH="1">
            <a:off x="2771800" y="5301208"/>
            <a:ext cx="432048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 rot="10800000" flipV="1">
            <a:off x="3203849" y="5034777"/>
            <a:ext cx="1543779" cy="55446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Petit anneau nucléaire</a:t>
            </a:r>
            <a:endParaRPr lang="fr-FR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394"/>
            <a:ext cx="9144000" cy="6344974"/>
          </a:xfrm>
          <a:prstGeom prst="rect">
            <a:avLst/>
          </a:prstGeom>
        </p:spPr>
      </p:pic>
      <p:sp>
        <p:nvSpPr>
          <p:cNvPr id="5" name="ZoneTexte 5"/>
          <p:cNvSpPr txBox="1"/>
          <p:nvPr/>
        </p:nvSpPr>
        <p:spPr>
          <a:xfrm>
            <a:off x="43167" y="70593"/>
            <a:ext cx="8881086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2.2.Organisation moléculaire d’un pore nucléaire </a:t>
            </a:r>
            <a:endParaRPr lang="fr-FR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120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6" name="Picture 4" descr="Résultat de recherche d'images pour &quot;transport de molécules pore nucléaire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" name="ZoneTexte 5"/>
          <p:cNvSpPr txBox="1"/>
          <p:nvPr/>
        </p:nvSpPr>
        <p:spPr>
          <a:xfrm>
            <a:off x="43167" y="70593"/>
            <a:ext cx="5680961" cy="1077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2.2.Organisation moléculaire d’un pore nucléaire </a:t>
            </a:r>
            <a:endParaRPr lang="fr-FR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4" name="Picture 4" descr="Image associé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16926"/>
            <a:ext cx="9144000" cy="6165304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12" name="Rectangle 11"/>
          <p:cNvSpPr/>
          <p:nvPr/>
        </p:nvSpPr>
        <p:spPr>
          <a:xfrm>
            <a:off x="3859540" y="4704141"/>
            <a:ext cx="1504548" cy="72008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Molécule  avec  NES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067944" y="5424220"/>
            <a:ext cx="601432" cy="309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0" y="5733256"/>
            <a:ext cx="1187624" cy="112474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Protéine libérée dans le noyau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971616" y="1124744"/>
            <a:ext cx="1172384" cy="136815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Protéine libérée dans le cytosol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580112" y="764704"/>
            <a:ext cx="2304256" cy="69269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Exportine libre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020272" y="5445224"/>
            <a:ext cx="2123728" cy="119675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Exportine+ </a:t>
            </a:r>
            <a:r>
              <a:rPr lang="fr-FR" b="1" dirty="0" err="1" smtClean="0">
                <a:solidFill>
                  <a:schemeClr val="tx1"/>
                </a:solidFill>
              </a:rPr>
              <a:t>Ran</a:t>
            </a:r>
            <a:r>
              <a:rPr lang="fr-FR" b="1" dirty="0" smtClean="0">
                <a:solidFill>
                  <a:schemeClr val="tx1"/>
                </a:solidFill>
              </a:rPr>
              <a:t>-GTP+molécule  à transporter 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5240" y="1457400"/>
            <a:ext cx="1100376" cy="12515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Protéine avec  NLS+ </a:t>
            </a:r>
            <a:r>
              <a:rPr lang="fr-FR" sz="1600" b="1" dirty="0" smtClean="0">
                <a:solidFill>
                  <a:schemeClr val="tx1"/>
                </a:solidFill>
              </a:rPr>
              <a:t>importine</a:t>
            </a:r>
            <a:endParaRPr lang="fr-FR" sz="1600" b="1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868144" y="2780928"/>
            <a:ext cx="144016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/>
          <p:cNvSpPr/>
          <p:nvPr/>
        </p:nvSpPr>
        <p:spPr>
          <a:xfrm>
            <a:off x="2627784" y="4509120"/>
            <a:ext cx="144016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/>
          <p:cNvSpPr/>
          <p:nvPr/>
        </p:nvSpPr>
        <p:spPr>
          <a:xfrm>
            <a:off x="1835696" y="2852936"/>
            <a:ext cx="144016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/>
          <p:cNvSpPr/>
          <p:nvPr/>
        </p:nvSpPr>
        <p:spPr>
          <a:xfrm>
            <a:off x="1259632" y="764704"/>
            <a:ext cx="2304256" cy="58477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Importine libre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15240" y="116632"/>
            <a:ext cx="912876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2.3. Mécanisme d’échanges entre le cytosol et le noyau</a:t>
            </a:r>
            <a:endParaRPr lang="fr-F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15616" y="1988840"/>
            <a:ext cx="288032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3347864" y="1457400"/>
            <a:ext cx="2232248" cy="5314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Dissociation de </a:t>
            </a:r>
            <a:r>
              <a:rPr lang="fr-FR" b="1" dirty="0" err="1" smtClean="0">
                <a:solidFill>
                  <a:schemeClr val="tx1"/>
                </a:solidFill>
              </a:rPr>
              <a:t>Ran</a:t>
            </a:r>
            <a:r>
              <a:rPr lang="fr-FR" b="1" dirty="0" smtClean="0">
                <a:solidFill>
                  <a:schemeClr val="tx1"/>
                </a:solidFill>
              </a:rPr>
              <a:t>-GDP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987824" y="5776302"/>
            <a:ext cx="2016224" cy="5314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Fixation de </a:t>
            </a:r>
            <a:r>
              <a:rPr lang="fr-FR" b="1" dirty="0" err="1" smtClean="0">
                <a:solidFill>
                  <a:schemeClr val="tx1"/>
                </a:solidFill>
              </a:rPr>
              <a:t>Ran</a:t>
            </a:r>
            <a:r>
              <a:rPr lang="fr-FR" b="1" dirty="0" smtClean="0">
                <a:solidFill>
                  <a:schemeClr val="tx1"/>
                </a:solidFill>
              </a:rPr>
              <a:t>-GTP</a:t>
            </a:r>
            <a:endParaRPr lang="fr-FR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70" name="Picture 6" descr="Résultat de recherche d'images pour &quot;importine exportine pore nucléaire Ran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75656" y="188640"/>
            <a:ext cx="5184576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2.4.  Le nucléole </a:t>
            </a:r>
            <a:endParaRPr lang="fr-FR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894" name="Picture 6" descr="Résultat de recherche d'images pour &quot;le nucléole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340768"/>
            <a:ext cx="7848872" cy="468052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Image associé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681162"/>
            <a:ext cx="8892480" cy="4916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611560" y="116632"/>
            <a:ext cx="5184576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2.4.  Le nucléole </a:t>
            </a:r>
            <a:endParaRPr lang="fr-FR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 associé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412776"/>
            <a:ext cx="8820472" cy="5472608"/>
          </a:xfrm>
          <a:prstGeom prst="rect">
            <a:avLst/>
          </a:prstGeom>
          <a:noFill/>
        </p:spPr>
      </p:pic>
      <p:sp>
        <p:nvSpPr>
          <p:cNvPr id="38913" name="Rectangle 1"/>
          <p:cNvSpPr>
            <a:spLocks noChangeArrowheads="1"/>
          </p:cNvSpPr>
          <p:nvPr/>
        </p:nvSpPr>
        <p:spPr bwMode="auto">
          <a:xfrm>
            <a:off x="899592" y="669734"/>
            <a:ext cx="568863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Les composants biochimiques du nucl</a:t>
            </a:r>
            <a:r>
              <a:rPr kumimoji="0" 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ole sont des ARN, de l</a:t>
            </a:r>
            <a:r>
              <a:rPr kumimoji="0" 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’</a:t>
            </a:r>
            <a:r>
              <a:rPr kumimoji="0" 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ADN et des prot</a:t>
            </a:r>
            <a:r>
              <a:rPr kumimoji="0" 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ines.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Les </a:t>
            </a:r>
            <a:r>
              <a:rPr kumimoji="0" lang="fr-FR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hlinkClick r:id="rId3" tooltip="ARN ribosomique 28S"/>
              </a:rPr>
              <a:t>ARNr</a:t>
            </a:r>
            <a:r>
              <a:rPr kumimoji="0" 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hlinkClick r:id="rId3" tooltip="ARN ribosomique 28S"/>
              </a:rPr>
              <a:t> 28S</a:t>
            </a:r>
            <a:r>
              <a:rPr kumimoji="0" 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, </a:t>
            </a:r>
            <a:r>
              <a:rPr kumimoji="0" lang="fr-FR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hlinkClick r:id="rId4" tooltip="ARN ribosomique 5,8S"/>
              </a:rPr>
              <a:t>ARNr</a:t>
            </a:r>
            <a:r>
              <a:rPr kumimoji="0" 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hlinkClick r:id="rId4" tooltip="ARN ribosomique 5,8S"/>
              </a:rPr>
              <a:t> 5,8S</a:t>
            </a:r>
            <a:r>
              <a:rPr kumimoji="0" 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 et </a:t>
            </a:r>
            <a:r>
              <a:rPr kumimoji="0" lang="fr-FR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hlinkClick r:id="rId5" tooltip="ARN ribosomique 18S"/>
              </a:rPr>
              <a:t>ARNr</a:t>
            </a:r>
            <a:r>
              <a:rPr kumimoji="0" 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  <a:hlinkClick r:id="rId5" tooltip="ARN ribosomique 18S"/>
              </a:rPr>
              <a:t> 18S</a:t>
            </a:r>
            <a:r>
              <a:rPr kumimoji="0" 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 </a:t>
            </a:r>
            <a:r>
              <a:rPr kumimoji="0" 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1151620" y="23403"/>
            <a:ext cx="5184576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2.4.  Le nucléole </a:t>
            </a:r>
            <a:endParaRPr lang="fr-FR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 descr="Image associé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80728"/>
            <a:ext cx="9144000" cy="5877272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107504" y="188640"/>
            <a:ext cx="5832648" cy="7920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2.5. La Chromatine</a:t>
            </a:r>
            <a:endParaRPr lang="fr-FR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0" y="5932349"/>
            <a:ext cx="3275856" cy="584775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Low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zones actives d</a:t>
            </a: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’</a:t>
            </a: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ADN (forte transcription g</a:t>
            </a: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nique).</a:t>
            </a:r>
            <a:endParaRPr kumimoji="0" lang="fr-FR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7504" y="2204864"/>
            <a:ext cx="2448272" cy="646331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fr-FR" b="1" dirty="0" smtClean="0"/>
              <a:t>zones inactives d’ADN (non transcrites). </a:t>
            </a:r>
            <a:endParaRPr 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6916403" y="4653136"/>
            <a:ext cx="2227597" cy="64633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fr-FR" b="1" dirty="0" smtClean="0"/>
              <a:t>Octamère: H2A, H2B, </a:t>
            </a:r>
          </a:p>
          <a:p>
            <a:r>
              <a:rPr lang="fr-FR" b="1" dirty="0" smtClean="0"/>
              <a:t>H3, H4.</a:t>
            </a:r>
            <a:endParaRPr lang="fr-FR" b="1" dirty="0"/>
          </a:p>
        </p:txBody>
      </p:sp>
      <p:pic>
        <p:nvPicPr>
          <p:cNvPr id="40966" name="Picture 6" descr="Résultat de recherche d'images pour &quot;octamère d'histone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764704"/>
            <a:ext cx="5904656" cy="3024336"/>
          </a:xfrm>
          <a:prstGeom prst="rect">
            <a:avLst/>
          </a:prstGeom>
          <a:noFill/>
        </p:spPr>
      </p:pic>
      <p:pic>
        <p:nvPicPr>
          <p:cNvPr id="40968" name="Picture 8" descr="Résultat de recherche d'images pour &quot;octamère d'histone&quot;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4149080"/>
            <a:ext cx="4941168" cy="2533651"/>
          </a:xfrm>
          <a:prstGeom prst="rect">
            <a:avLst/>
          </a:prstGeom>
          <a:noFill/>
        </p:spPr>
      </p:pic>
      <p:sp>
        <p:nvSpPr>
          <p:cNvPr id="9" name="Rectangle 8"/>
          <p:cNvSpPr/>
          <p:nvPr/>
        </p:nvSpPr>
        <p:spPr>
          <a:xfrm>
            <a:off x="467544" y="116632"/>
            <a:ext cx="5328592" cy="5760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</a:rPr>
              <a:t>Structure de la Chromatine</a:t>
            </a:r>
            <a:endParaRPr lang="fr-FR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associé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048" y="0"/>
            <a:ext cx="8603432" cy="68580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971600" y="188640"/>
            <a:ext cx="7560840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fr-FR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Les phases du cycle cellulaire </a:t>
            </a:r>
            <a:endParaRPr lang="fr-F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1520" y="1484784"/>
            <a:ext cx="889248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u="sng" dirty="0" smtClean="0"/>
              <a:t>Définition</a:t>
            </a:r>
            <a:r>
              <a:rPr lang="fr-FR" sz="2800" dirty="0" smtClean="0"/>
              <a:t>: Le cycle cellulaire est l'ensemble des étapes qui constituent et délimitent la vie d'une </a:t>
            </a:r>
            <a:r>
              <a:rPr lang="fr-FR" sz="2800" dirty="0" smtClean="0">
                <a:hlinkClick r:id="rId2" tooltip="Cellule (biologie)"/>
              </a:rPr>
              <a:t>cellule</a:t>
            </a:r>
            <a:r>
              <a:rPr lang="fr-FR" sz="2800" dirty="0" smtClean="0"/>
              <a:t>. Il comprend l’interphase qui regroupe les phases G1, S, G2 et la phase M ou phase de division.</a:t>
            </a:r>
          </a:p>
          <a:p>
            <a:endParaRPr lang="fr-FR" sz="2800" dirty="0" smtClean="0"/>
          </a:p>
          <a:p>
            <a:r>
              <a:rPr lang="fr-FR" sz="2800" dirty="0" smtClean="0"/>
              <a:t>Durée du cycle cellulaire: Extrêmement variable.</a:t>
            </a:r>
          </a:p>
          <a:p>
            <a:r>
              <a:rPr lang="fr-FR" sz="2800" dirty="0" smtClean="0"/>
              <a:t>Exemple: Quelques mois à un an pour la cellule hépatique.</a:t>
            </a:r>
          </a:p>
          <a:p>
            <a:r>
              <a:rPr lang="fr-FR" sz="2800" dirty="0" smtClean="0"/>
              <a:t>Quelques heures pour les cellules épithéliales.</a:t>
            </a:r>
          </a:p>
          <a:p>
            <a:endParaRPr lang="fr-FR" sz="2800" dirty="0" smtClean="0"/>
          </a:p>
          <a:p>
            <a:endParaRPr lang="fr-FR" sz="2800" dirty="0" smtClean="0"/>
          </a:p>
          <a:p>
            <a:r>
              <a:rPr lang="fr-FR" sz="2800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http://www.snv.jussieu.fr/bmedia/cyclecellBM/images/cycle3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484784"/>
            <a:ext cx="7776864" cy="489654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6" name="ZoneTexte 5"/>
          <p:cNvSpPr txBox="1"/>
          <p:nvPr/>
        </p:nvSpPr>
        <p:spPr>
          <a:xfrm>
            <a:off x="899592" y="404664"/>
            <a:ext cx="6586675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Les quartes phases du cycle cellulaire </a:t>
            </a:r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RÃ©sultat de recherche d'images pour &quot;phases du cycle cellulaire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124744"/>
            <a:ext cx="8136904" cy="5256584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323528" y="188640"/>
            <a:ext cx="8424936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F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 de la quantité d'ADN dans une cellule au cours d'un cycle cellulaire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Quantité d'adn et cycle cellulaire | Annaba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7263"/>
            <a:ext cx="8568952" cy="518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043608" y="4149080"/>
            <a:ext cx="1368152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rgbClr val="FF0000"/>
                </a:solidFill>
              </a:rPr>
              <a:t>G1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699792" y="3499551"/>
            <a:ext cx="720080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 smtClean="0">
                <a:solidFill>
                  <a:srgbClr val="FF0000"/>
                </a:solidFill>
              </a:rPr>
              <a:t>S</a:t>
            </a:r>
            <a:endParaRPr lang="fr-FR" sz="3200" b="1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39952" y="2636912"/>
            <a:ext cx="720080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 smtClean="0">
                <a:solidFill>
                  <a:srgbClr val="FF0000"/>
                </a:solidFill>
              </a:rPr>
              <a:t>G2</a:t>
            </a:r>
            <a:endParaRPr lang="fr-FR" sz="3200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81925" y="4059947"/>
            <a:ext cx="1368152" cy="5760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FF0000"/>
                </a:solidFill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302630600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2982</TotalTime>
  <Words>306</Words>
  <Application>Microsoft Office PowerPoint</Application>
  <PresentationFormat>Affichage à l'écran (4:3)</PresentationFormat>
  <Paragraphs>74</Paragraphs>
  <Slides>25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9" baseType="lpstr">
      <vt:lpstr>Arial</vt:lpstr>
      <vt:lpstr>Calibri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HP</dc:creator>
  <cp:lastModifiedBy>Amel</cp:lastModifiedBy>
  <cp:revision>152</cp:revision>
  <dcterms:created xsi:type="dcterms:W3CDTF">2018-03-16T09:27:50Z</dcterms:created>
  <dcterms:modified xsi:type="dcterms:W3CDTF">2025-05-24T19:33:10Z</dcterms:modified>
</cp:coreProperties>
</file>