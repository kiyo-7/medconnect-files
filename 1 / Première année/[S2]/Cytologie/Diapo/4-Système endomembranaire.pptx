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6" r:id="rId2"/>
    <p:sldId id="287" r:id="rId3"/>
    <p:sldId id="257" r:id="rId4"/>
    <p:sldId id="260" r:id="rId5"/>
    <p:sldId id="263" r:id="rId6"/>
    <p:sldId id="288" r:id="rId7"/>
    <p:sldId id="258" r:id="rId8"/>
    <p:sldId id="302" r:id="rId9"/>
    <p:sldId id="259" r:id="rId10"/>
    <p:sldId id="309" r:id="rId11"/>
    <p:sldId id="294" r:id="rId12"/>
    <p:sldId id="293" r:id="rId13"/>
    <p:sldId id="286" r:id="rId14"/>
    <p:sldId id="270" r:id="rId15"/>
    <p:sldId id="271" r:id="rId16"/>
    <p:sldId id="280" r:id="rId17"/>
    <p:sldId id="292" r:id="rId18"/>
    <p:sldId id="296" r:id="rId19"/>
    <p:sldId id="272" r:id="rId20"/>
    <p:sldId id="295" r:id="rId21"/>
    <p:sldId id="303" r:id="rId22"/>
    <p:sldId id="264" r:id="rId23"/>
    <p:sldId id="297" r:id="rId24"/>
    <p:sldId id="266" r:id="rId25"/>
    <p:sldId id="298" r:id="rId26"/>
    <p:sldId id="269" r:id="rId27"/>
    <p:sldId id="299" r:id="rId28"/>
    <p:sldId id="300" r:id="rId29"/>
    <p:sldId id="306" r:id="rId30"/>
    <p:sldId id="308" r:id="rId31"/>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386"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603B5E-5671-4FEE-9A57-93B6F61D9DE4}" type="datetimeFigureOut">
              <a:rPr lang="fr-FR" smtClean="0"/>
              <a:t>16/05/2025</a:t>
            </a:fld>
            <a:endParaRPr lang="fr-FR"/>
          </a:p>
        </p:txBody>
      </p:sp>
      <p:sp>
        <p:nvSpPr>
          <p:cNvPr id="4" name="Espace réservé de l'image des diapositives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4A7515-4376-49FF-95BA-1E27116154B2}" type="slidenum">
              <a:rPr lang="fr-FR" smtClean="0"/>
              <a:t>‹N°›</a:t>
            </a:fld>
            <a:endParaRPr lang="fr-FR"/>
          </a:p>
        </p:txBody>
      </p:sp>
    </p:spTree>
    <p:extLst>
      <p:ext uri="{BB962C8B-B14F-4D97-AF65-F5344CB8AC3E}">
        <p14:creationId xmlns:p14="http://schemas.microsoft.com/office/powerpoint/2010/main" val="37868784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484A7515-4376-49FF-95BA-1E27116154B2}" type="slidenum">
              <a:rPr lang="fr-FR" smtClean="0"/>
              <a:t>7</a:t>
            </a:fld>
            <a:endParaRPr lang="fr-FR"/>
          </a:p>
        </p:txBody>
      </p:sp>
    </p:spTree>
    <p:extLst>
      <p:ext uri="{BB962C8B-B14F-4D97-AF65-F5344CB8AC3E}">
        <p14:creationId xmlns:p14="http://schemas.microsoft.com/office/powerpoint/2010/main" val="5095712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484A7515-4376-49FF-95BA-1E27116154B2}" type="slidenum">
              <a:rPr lang="fr-FR" smtClean="0"/>
              <a:t>14</a:t>
            </a:fld>
            <a:endParaRPr lang="fr-FR"/>
          </a:p>
        </p:txBody>
      </p:sp>
    </p:spTree>
    <p:extLst>
      <p:ext uri="{BB962C8B-B14F-4D97-AF65-F5344CB8AC3E}">
        <p14:creationId xmlns:p14="http://schemas.microsoft.com/office/powerpoint/2010/main" val="19179803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smtClean="0"/>
              <a:t>Cliquez pour modifier le style du titre</a:t>
            </a:r>
            <a:endParaRPr lang="fr-F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Cliquez pour modifier le style des sous-titres du masque</a:t>
            </a:r>
            <a:endParaRPr lang="fr-FR"/>
          </a:p>
        </p:txBody>
      </p:sp>
      <p:sp>
        <p:nvSpPr>
          <p:cNvPr id="4" name="Espace réservé de la date 3"/>
          <p:cNvSpPr>
            <a:spLocks noGrp="1"/>
          </p:cNvSpPr>
          <p:nvPr>
            <p:ph type="dt" sz="half" idx="10"/>
          </p:nvPr>
        </p:nvSpPr>
        <p:spPr/>
        <p:txBody>
          <a:bodyPr/>
          <a:lstStyle/>
          <a:p>
            <a:fld id="{3BEBB9F3-2C1C-4F92-BD80-CB2ACFA67679}" type="datetimeFigureOut">
              <a:rPr lang="fr-FR" smtClean="0"/>
              <a:pPr/>
              <a:t>16/05/2025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A3663697-2842-4C79-920D-89C99CB07579}" type="slidenum">
              <a:rPr lang="fr-FR" smtClean="0"/>
              <a:pPr/>
              <a:t>‹N°›</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3BEBB9F3-2C1C-4F92-BD80-CB2ACFA67679}" type="datetimeFigureOut">
              <a:rPr lang="fr-FR" smtClean="0"/>
              <a:pPr/>
              <a:t>16/05/2025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A3663697-2842-4C79-920D-89C99CB07579}" type="slidenum">
              <a:rPr lang="fr-FR" smtClean="0"/>
              <a:pPr/>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smtClean="0"/>
              <a:t>Cliquez pour modifier le style du titre</a:t>
            </a:r>
            <a:endParaRPr lang="fr-F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Cliquez pour modifier les styles du texte du masque</a:t>
            </a:r>
          </a:p>
        </p:txBody>
      </p:sp>
      <p:sp>
        <p:nvSpPr>
          <p:cNvPr id="4" name="Espace réservé de la date 3"/>
          <p:cNvSpPr>
            <a:spLocks noGrp="1"/>
          </p:cNvSpPr>
          <p:nvPr>
            <p:ph type="dt" sz="half" idx="10"/>
          </p:nvPr>
        </p:nvSpPr>
        <p:spPr/>
        <p:txBody>
          <a:bodyPr/>
          <a:lstStyle/>
          <a:p>
            <a:fld id="{3BEBB9F3-2C1C-4F92-BD80-CB2ACFA67679}" type="datetimeFigureOut">
              <a:rPr lang="fr-FR" smtClean="0"/>
              <a:pPr/>
              <a:t>16/05/2025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A3663697-2842-4C79-920D-89C99CB07579}" type="slidenum">
              <a:rPr lang="fr-FR" smtClean="0"/>
              <a:pPr/>
              <a:t>‹N°›</a:t>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4"/>
          <p:cNvSpPr>
            <a:spLocks noGrp="1"/>
          </p:cNvSpPr>
          <p:nvPr>
            <p:ph type="dt" sz="half" idx="10"/>
          </p:nvPr>
        </p:nvSpPr>
        <p:spPr/>
        <p:txBody>
          <a:bodyPr/>
          <a:lstStyle/>
          <a:p>
            <a:fld id="{3BEBB9F3-2C1C-4F92-BD80-CB2ACFA67679}" type="datetimeFigureOut">
              <a:rPr lang="fr-FR" smtClean="0"/>
              <a:pPr/>
              <a:t>16/05/2025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A3663697-2842-4C79-920D-89C99CB07579}" type="slidenum">
              <a:rPr lang="fr-FR" smtClean="0"/>
              <a:pPr/>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smtClean="0"/>
              <a:t>Cliquez pour modifier le style du titre</a:t>
            </a:r>
            <a:endParaRPr lang="fr-F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Espace réservé de la date 6"/>
          <p:cNvSpPr>
            <a:spLocks noGrp="1"/>
          </p:cNvSpPr>
          <p:nvPr>
            <p:ph type="dt" sz="half" idx="10"/>
          </p:nvPr>
        </p:nvSpPr>
        <p:spPr/>
        <p:txBody>
          <a:bodyPr/>
          <a:lstStyle/>
          <a:p>
            <a:fld id="{3BEBB9F3-2C1C-4F92-BD80-CB2ACFA67679}" type="datetimeFigureOut">
              <a:rPr lang="fr-FR" smtClean="0"/>
              <a:pPr/>
              <a:t>16/05/2025</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A3663697-2842-4C79-920D-89C99CB07579}" type="slidenum">
              <a:rPr lang="fr-FR" smtClean="0"/>
              <a:pPr/>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e la date 2"/>
          <p:cNvSpPr>
            <a:spLocks noGrp="1"/>
          </p:cNvSpPr>
          <p:nvPr>
            <p:ph type="dt" sz="half" idx="10"/>
          </p:nvPr>
        </p:nvSpPr>
        <p:spPr/>
        <p:txBody>
          <a:bodyPr/>
          <a:lstStyle/>
          <a:p>
            <a:fld id="{3BEBB9F3-2C1C-4F92-BD80-CB2ACFA67679}" type="datetimeFigureOut">
              <a:rPr lang="fr-FR" smtClean="0"/>
              <a:pPr/>
              <a:t>16/05/2025</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A3663697-2842-4C79-920D-89C99CB07579}" type="slidenum">
              <a:rPr lang="fr-FR" smtClean="0"/>
              <a:pP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3BEBB9F3-2C1C-4F92-BD80-CB2ACFA67679}" type="datetimeFigureOut">
              <a:rPr lang="fr-FR" smtClean="0"/>
              <a:pPr/>
              <a:t>16/05/2025</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A3663697-2842-4C79-920D-89C99CB07579}" type="slidenum">
              <a:rPr lang="fr-FR" smtClean="0"/>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smtClean="0"/>
              <a:t>Cliquez pour modifier le style du titre</a:t>
            </a:r>
            <a:endParaRPr lang="fr-F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Espace réservé de la date 4"/>
          <p:cNvSpPr>
            <a:spLocks noGrp="1"/>
          </p:cNvSpPr>
          <p:nvPr>
            <p:ph type="dt" sz="half" idx="10"/>
          </p:nvPr>
        </p:nvSpPr>
        <p:spPr/>
        <p:txBody>
          <a:bodyPr/>
          <a:lstStyle/>
          <a:p>
            <a:fld id="{3BEBB9F3-2C1C-4F92-BD80-CB2ACFA67679}" type="datetimeFigureOut">
              <a:rPr lang="fr-FR" smtClean="0"/>
              <a:pPr/>
              <a:t>16/05/2025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A3663697-2842-4C79-920D-89C99CB07579}" type="slidenum">
              <a:rPr lang="fr-FR" smtClean="0"/>
              <a:pPr/>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smtClean="0"/>
              <a:t>Cliquez pour modifier le style du titre</a:t>
            </a:r>
            <a:endParaRPr lang="fr-F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Espace réservé de la date 4"/>
          <p:cNvSpPr>
            <a:spLocks noGrp="1"/>
          </p:cNvSpPr>
          <p:nvPr>
            <p:ph type="dt" sz="half" idx="10"/>
          </p:nvPr>
        </p:nvSpPr>
        <p:spPr/>
        <p:txBody>
          <a:bodyPr/>
          <a:lstStyle/>
          <a:p>
            <a:fld id="{3BEBB9F3-2C1C-4F92-BD80-CB2ACFA67679}" type="datetimeFigureOut">
              <a:rPr lang="fr-FR" smtClean="0"/>
              <a:pPr/>
              <a:t>16/05/2025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A3663697-2842-4C79-920D-89C99CB07579}" type="slidenum">
              <a:rPr lang="fr-FR" smtClean="0"/>
              <a:pPr/>
              <a:t>‹N°›</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3BEBB9F3-2C1C-4F92-BD80-CB2ACFA67679}" type="datetimeFigureOut">
              <a:rPr lang="fr-FR" smtClean="0"/>
              <a:pPr/>
              <a:t>16/05/2025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A3663697-2842-4C79-920D-89C99CB07579}" type="slidenum">
              <a:rPr lang="fr-FR" smtClean="0"/>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smtClean="0"/>
              <a:t>Cliquez pour modifier le style du titre</a:t>
            </a:r>
            <a:endParaRPr lang="fr-F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3BEBB9F3-2C1C-4F92-BD80-CB2ACFA67679}" type="datetimeFigureOut">
              <a:rPr lang="fr-FR" smtClean="0"/>
              <a:pPr/>
              <a:t>16/05/2025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A3663697-2842-4C79-920D-89C99CB07579}" type="slidenum">
              <a:rPr lang="fr-FR" smtClean="0"/>
              <a:pPr/>
              <a:t>‹N°›</a:t>
            </a:fld>
            <a:endParaRPr lang="fr-F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re 1"/>
          <p:cNvSpPr>
            <a:spLocks noGrp="1"/>
          </p:cNvSpPr>
          <p:nvPr>
            <p:ph type="title"/>
          </p:nvPr>
        </p:nvSpPr>
        <p:spPr>
          <a:xfrm>
            <a:off x="457404" y="275070"/>
            <a:ext cx="8229192" cy="1142039"/>
          </a:xfrm>
          <a:prstGeom prst="rect">
            <a:avLst/>
          </a:prstGeom>
        </p:spPr>
        <p:txBody>
          <a:bodyPr/>
          <a:lstStyle/>
          <a:p>
            <a:r>
              <a:rPr lang="fr-FR" smtClean="0"/>
              <a:t>Cliquez pour modifier le style du titre</a:t>
            </a:r>
            <a:endParaRPr lang="fr-FR"/>
          </a:p>
        </p:txBody>
      </p:sp>
      <p:sp>
        <p:nvSpPr>
          <p:cNvPr id="3" name="Espace réservé du texte 2"/>
          <p:cNvSpPr>
            <a:spLocks noGrp="1"/>
          </p:cNvSpPr>
          <p:nvPr>
            <p:ph type="body" idx="1"/>
          </p:nvPr>
        </p:nvSpPr>
        <p:spPr>
          <a:xfrm>
            <a:off x="457404" y="1600008"/>
            <a:ext cx="8229192" cy="4526395"/>
          </a:xfrm>
          <a:prstGeom prst="rect">
            <a:avLst/>
          </a:prstGeo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smtClean="0"/>
              <a:t>Cliquez pour modifier le style du titre</a:t>
            </a:r>
            <a:endParaRPr lang="fr-F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EBB9F3-2C1C-4F92-BD80-CB2ACFA67679}" type="datetimeFigureOut">
              <a:rPr lang="fr-FR" smtClean="0"/>
              <a:pPr/>
              <a:t>16/05/2025</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3663697-2842-4C79-920D-89C99CB07579}" type="slidenum">
              <a:rPr lang="fr-FR" smtClean="0"/>
              <a:pPr/>
              <a:t>‹N°›</a:t>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hyperlink" Target="http://biochimej.univ-angers.fr/Page2/COURS/7RelStructFonction/2Biochimie/1SyntheseProteines/1SyntheseProt.htm" TargetMode="External"/><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hyperlink" Target="http://biochimej.univ-angers.fr/Page2/COURS/3CoursdeBiochSTRUCT/2GLUCIDES/1Glucides.htm" TargetMode="External"/></Relationships>
</file>

<file path=ppt/slides/_rels/slide1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73037"/>
            <a:ext cx="7772400" cy="2941649"/>
          </a:xfrm>
        </p:spPr>
        <p:txBody>
          <a:bodyPr>
            <a:noAutofit/>
          </a:bodyPr>
          <a:lstStyle/>
          <a:p>
            <a:r>
              <a:rPr lang="fr-FR" sz="6000" b="1" dirty="0" smtClean="0">
                <a:latin typeface="Arial" pitchFamily="34" charset="0"/>
                <a:cs typeface="Arial" pitchFamily="34" charset="0"/>
              </a:rPr>
              <a:t>Le  Système </a:t>
            </a:r>
            <a:r>
              <a:rPr lang="fr-FR" sz="6000" b="1" dirty="0" err="1" smtClean="0">
                <a:latin typeface="Arial" pitchFamily="34" charset="0"/>
                <a:cs typeface="Arial" pitchFamily="34" charset="0"/>
              </a:rPr>
              <a:t>Endomembranaire</a:t>
            </a:r>
            <a:r>
              <a:rPr lang="fr-FR" sz="6000" b="1" dirty="0" smtClean="0">
                <a:latin typeface="Arial" pitchFamily="34" charset="0"/>
                <a:cs typeface="Arial" pitchFamily="34" charset="0"/>
              </a:rPr>
              <a:t> </a:t>
            </a:r>
            <a:endParaRPr lang="fr-FR" sz="6000" b="1" dirty="0">
              <a:latin typeface="Arial" pitchFamily="34" charset="0"/>
              <a:cs typeface="Arial" pitchFamily="34" charset="0"/>
            </a:endParaRPr>
          </a:p>
        </p:txBody>
      </p:sp>
      <p:pic>
        <p:nvPicPr>
          <p:cNvPr id="11268" name="Picture 4" descr="https://encrypted-tbn3.gstatic.com/images?q=tbn:ANd9GcQisT-lrrlE1CjaEHBykxmPfpT93ofjlbwr9mfbbVrYTfwVuUpsAg"/>
          <p:cNvPicPr>
            <a:picLocks noChangeAspect="1" noChangeArrowheads="1"/>
          </p:cNvPicPr>
          <p:nvPr/>
        </p:nvPicPr>
        <p:blipFill>
          <a:blip r:embed="rId2" cstate="print"/>
          <a:srcRect/>
          <a:stretch>
            <a:fillRect/>
          </a:stretch>
        </p:blipFill>
        <p:spPr bwMode="auto">
          <a:xfrm>
            <a:off x="428596" y="3429000"/>
            <a:ext cx="8286808" cy="3214710"/>
          </a:xfrm>
          <a:prstGeom prst="rect">
            <a:avLst/>
          </a:prstGeom>
          <a:noFill/>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520" y="523701"/>
            <a:ext cx="8568952" cy="6001643"/>
          </a:xfrm>
          <a:prstGeom prst="rect">
            <a:avLst/>
          </a:prstGeom>
        </p:spPr>
        <p:txBody>
          <a:bodyPr wrap="square">
            <a:spAutoFit/>
          </a:bodyPr>
          <a:lstStyle/>
          <a:p>
            <a:pPr marL="457200" indent="-457200" algn="just">
              <a:buFont typeface="Arial" panose="020B0604020202020204" pitchFamily="34" charset="0"/>
              <a:buChar char="•"/>
            </a:pPr>
            <a:r>
              <a:rPr lang="fr-FR" sz="2400" dirty="0" smtClean="0">
                <a:latin typeface="Century Schoolbook" panose="02040604050505020304" pitchFamily="18" charset="0"/>
              </a:rPr>
              <a:t>le </a:t>
            </a:r>
            <a:r>
              <a:rPr lang="fr-FR" sz="2400" dirty="0">
                <a:latin typeface="Century Schoolbook" panose="02040604050505020304" pitchFamily="18" charset="0"/>
              </a:rPr>
              <a:t>système </a:t>
            </a:r>
            <a:r>
              <a:rPr lang="fr-FR" sz="2400" dirty="0" err="1">
                <a:latin typeface="Century Schoolbook" panose="02040604050505020304" pitchFamily="18" charset="0"/>
              </a:rPr>
              <a:t>endomembranaire</a:t>
            </a:r>
            <a:r>
              <a:rPr lang="fr-FR" sz="2400" dirty="0">
                <a:latin typeface="Century Schoolbook" panose="02040604050505020304" pitchFamily="18" charset="0"/>
              </a:rPr>
              <a:t> est l'ensemble des cavités cytoplasmiques limitées par des membranes inter-communicantes entre elles par l'intermédiaire de vésicules ou canalicules. </a:t>
            </a:r>
          </a:p>
          <a:p>
            <a:pPr marL="457200" indent="-457200" algn="just">
              <a:buFont typeface="Arial" panose="020B0604020202020204" pitchFamily="34" charset="0"/>
              <a:buChar char="•"/>
            </a:pPr>
            <a:r>
              <a:rPr lang="fr-FR" sz="2400" dirty="0" smtClean="0">
                <a:latin typeface="Century Schoolbook" panose="02040604050505020304" pitchFamily="18" charset="0"/>
              </a:rPr>
              <a:t>Ces </a:t>
            </a:r>
            <a:r>
              <a:rPr lang="fr-FR" sz="2400" dirty="0">
                <a:latin typeface="Century Schoolbook" panose="02040604050505020304" pitchFamily="18" charset="0"/>
              </a:rPr>
              <a:t>organites existent uniquement dans les cellules </a:t>
            </a:r>
            <a:r>
              <a:rPr lang="fr-FR" sz="2400" dirty="0" smtClean="0">
                <a:latin typeface="Century Schoolbook" panose="02040604050505020304" pitchFamily="18" charset="0"/>
              </a:rPr>
              <a:t>eucaryotes.</a:t>
            </a:r>
          </a:p>
          <a:p>
            <a:pPr algn="just"/>
            <a:endParaRPr lang="fr-FR" sz="2400" dirty="0" smtClean="0">
              <a:latin typeface="Century Schoolbook" panose="02040604050505020304" pitchFamily="18" charset="0"/>
            </a:endParaRPr>
          </a:p>
          <a:p>
            <a:pPr marL="342900" indent="-342900" algn="just">
              <a:buFont typeface="Arial" panose="020B0604020202020204" pitchFamily="34" charset="0"/>
              <a:buChar char="•"/>
            </a:pPr>
            <a:r>
              <a:rPr lang="fr-FR" sz="2400" dirty="0" smtClean="0">
                <a:latin typeface="Century Schoolbook" panose="02040604050505020304" pitchFamily="18" charset="0"/>
              </a:rPr>
              <a:t>Les </a:t>
            </a:r>
            <a:r>
              <a:rPr lang="fr-FR" sz="2400" dirty="0">
                <a:latin typeface="Century Schoolbook" panose="02040604050505020304" pitchFamily="18" charset="0"/>
              </a:rPr>
              <a:t>différents compartiments de ce système sont: </a:t>
            </a:r>
          </a:p>
          <a:p>
            <a:pPr algn="just"/>
            <a:r>
              <a:rPr lang="fr-FR" sz="2400" dirty="0" smtClean="0">
                <a:latin typeface="Century Schoolbook" panose="02040604050505020304" pitchFamily="18" charset="0"/>
              </a:rPr>
              <a:t>* Le </a:t>
            </a:r>
            <a:r>
              <a:rPr lang="fr-FR" sz="2400" dirty="0">
                <a:latin typeface="Century Schoolbook" panose="02040604050505020304" pitchFamily="18" charset="0"/>
              </a:rPr>
              <a:t>réticulum endoplasmique  </a:t>
            </a:r>
            <a:endParaRPr lang="fr-FR" sz="2400" dirty="0" smtClean="0">
              <a:latin typeface="Century Schoolbook" panose="02040604050505020304" pitchFamily="18" charset="0"/>
            </a:endParaRPr>
          </a:p>
          <a:p>
            <a:pPr algn="just"/>
            <a:r>
              <a:rPr lang="fr-FR" sz="2400" dirty="0" smtClean="0">
                <a:latin typeface="Century Schoolbook" panose="02040604050505020304" pitchFamily="18" charset="0"/>
              </a:rPr>
              <a:t>* L’appareil </a:t>
            </a:r>
            <a:r>
              <a:rPr lang="fr-FR" sz="2400" dirty="0">
                <a:latin typeface="Century Schoolbook" panose="02040604050505020304" pitchFamily="18" charset="0"/>
              </a:rPr>
              <a:t>de Golgi   </a:t>
            </a:r>
            <a:r>
              <a:rPr lang="fr-FR" sz="2400" dirty="0" smtClean="0">
                <a:latin typeface="Century Schoolbook" panose="02040604050505020304" pitchFamily="18" charset="0"/>
              </a:rPr>
              <a:t> </a:t>
            </a:r>
            <a:endParaRPr lang="fr-FR" sz="2400" dirty="0">
              <a:latin typeface="Century Schoolbook" panose="02040604050505020304" pitchFamily="18" charset="0"/>
            </a:endParaRPr>
          </a:p>
          <a:p>
            <a:pPr algn="just"/>
            <a:r>
              <a:rPr lang="fr-FR" sz="2400" dirty="0" smtClean="0">
                <a:latin typeface="Century Schoolbook" panose="02040604050505020304" pitchFamily="18" charset="0"/>
              </a:rPr>
              <a:t>* Les </a:t>
            </a:r>
            <a:r>
              <a:rPr lang="fr-FR" sz="2400" dirty="0" err="1" smtClean="0">
                <a:latin typeface="Century Schoolbook" panose="02040604050505020304" pitchFamily="18" charset="0"/>
              </a:rPr>
              <a:t>endosomes</a:t>
            </a:r>
            <a:r>
              <a:rPr lang="fr-FR" sz="2400" dirty="0" smtClean="0">
                <a:latin typeface="Century Schoolbook" panose="02040604050505020304" pitchFamily="18" charset="0"/>
              </a:rPr>
              <a:t> </a:t>
            </a:r>
          </a:p>
          <a:p>
            <a:pPr algn="just"/>
            <a:r>
              <a:rPr lang="fr-FR" sz="2400" dirty="0" smtClean="0">
                <a:latin typeface="Century Schoolbook" panose="02040604050505020304" pitchFamily="18" charset="0"/>
              </a:rPr>
              <a:t>* Les </a:t>
            </a:r>
            <a:r>
              <a:rPr lang="fr-FR" sz="2400" dirty="0">
                <a:latin typeface="Century Schoolbook" panose="02040604050505020304" pitchFamily="18" charset="0"/>
              </a:rPr>
              <a:t>lysosomes </a:t>
            </a:r>
            <a:endParaRPr lang="fr-FR" sz="2400" dirty="0" smtClean="0">
              <a:latin typeface="Century Schoolbook" panose="02040604050505020304" pitchFamily="18" charset="0"/>
            </a:endParaRPr>
          </a:p>
          <a:p>
            <a:pPr marL="457200" indent="-457200" algn="just">
              <a:buFont typeface="Arial" panose="020B0604020202020204" pitchFamily="34" charset="0"/>
              <a:buChar char="•"/>
            </a:pPr>
            <a:endParaRPr lang="fr-FR" sz="2400" dirty="0">
              <a:latin typeface="Century Schoolbook" panose="02040604050505020304" pitchFamily="18" charset="0"/>
            </a:endParaRPr>
          </a:p>
          <a:p>
            <a:pPr marL="457200" indent="-457200" algn="just">
              <a:buFont typeface="Arial" panose="020B0604020202020204" pitchFamily="34" charset="0"/>
              <a:buChar char="•"/>
            </a:pPr>
            <a:endParaRPr lang="fr-FR" sz="2400" dirty="0" smtClean="0">
              <a:latin typeface="Century Schoolbook" panose="02040604050505020304" pitchFamily="18" charset="0"/>
            </a:endParaRPr>
          </a:p>
          <a:p>
            <a:pPr algn="just"/>
            <a:r>
              <a:rPr lang="fr-FR" sz="2400" dirty="0" smtClean="0">
                <a:latin typeface="Century Schoolbook" panose="02040604050505020304" pitchFamily="18" charset="0"/>
              </a:rPr>
              <a:t>Nb</a:t>
            </a:r>
            <a:r>
              <a:rPr lang="fr-FR" sz="2400" dirty="0">
                <a:latin typeface="Century Schoolbook" panose="02040604050505020304" pitchFamily="18" charset="0"/>
              </a:rPr>
              <a:t>: les mitochondries et les peroxysomes ne font pas partie de ce système </a:t>
            </a:r>
          </a:p>
        </p:txBody>
      </p:sp>
    </p:spTree>
    <p:extLst>
      <p:ext uri="{BB962C8B-B14F-4D97-AF65-F5344CB8AC3E}">
        <p14:creationId xmlns:p14="http://schemas.microsoft.com/office/powerpoint/2010/main" val="6393475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jpg"/>
          <p:cNvPicPr/>
          <p:nvPr/>
        </p:nvPicPr>
        <p:blipFill rotWithShape="1">
          <a:blip r:embed="rId2" cstate="print"/>
          <a:srcRect r="52600"/>
          <a:stretch/>
        </p:blipFill>
        <p:spPr>
          <a:xfrm>
            <a:off x="393463" y="3861048"/>
            <a:ext cx="3927950" cy="2894773"/>
          </a:xfrm>
          <a:prstGeom prst="rect">
            <a:avLst/>
          </a:prstGeom>
        </p:spPr>
      </p:pic>
      <p:sp>
        <p:nvSpPr>
          <p:cNvPr id="5" name="Rectangle 4"/>
          <p:cNvSpPr/>
          <p:nvPr/>
        </p:nvSpPr>
        <p:spPr>
          <a:xfrm>
            <a:off x="71438" y="3241011"/>
            <a:ext cx="4572000" cy="637097"/>
          </a:xfrm>
          <a:prstGeom prst="rect">
            <a:avLst/>
          </a:prstGeom>
        </p:spPr>
        <p:txBody>
          <a:bodyPr wrap="square">
            <a:spAutoFit/>
          </a:bodyPr>
          <a:lstStyle/>
          <a:p>
            <a:pPr marL="411480">
              <a:lnSpc>
                <a:spcPct val="80639"/>
              </a:lnSpc>
            </a:pPr>
            <a:r>
              <a:rPr lang="fr-FR" sz="2000" b="1" spc="0" dirty="0" smtClean="0">
                <a:solidFill>
                  <a:srgbClr val="000000"/>
                </a:solidFill>
                <a:latin typeface="Arial" pitchFamily="34" charset="0"/>
                <a:cs typeface="Arial" pitchFamily="34" charset="0"/>
              </a:rPr>
              <a:t>Observation de la cellule</a:t>
            </a:r>
          </a:p>
          <a:p>
            <a:pPr marL="411480">
              <a:lnSpc>
                <a:spcPct val="95999"/>
              </a:lnSpc>
              <a:spcAft>
                <a:spcPts val="540"/>
              </a:spcAft>
            </a:pPr>
            <a:r>
              <a:rPr lang="fr-FR" sz="2000" b="1" spc="0" dirty="0" smtClean="0">
                <a:solidFill>
                  <a:srgbClr val="000000"/>
                </a:solidFill>
                <a:latin typeface="Arial" pitchFamily="34" charset="0"/>
                <a:cs typeface="Arial" pitchFamily="34" charset="0"/>
              </a:rPr>
              <a:t>au Microscope électronique</a:t>
            </a:r>
            <a:endParaRPr lang="fr-FR" sz="2000" b="1" spc="0" dirty="0">
              <a:solidFill>
                <a:srgbClr val="000000"/>
              </a:solidFill>
              <a:latin typeface="Arial" pitchFamily="34" charset="0"/>
              <a:cs typeface="Arial" pitchFamily="34" charset="0"/>
            </a:endParaRPr>
          </a:p>
        </p:txBody>
      </p:sp>
      <p:sp>
        <p:nvSpPr>
          <p:cNvPr id="6" name="Rectangle 5"/>
          <p:cNvSpPr/>
          <p:nvPr/>
        </p:nvSpPr>
        <p:spPr>
          <a:xfrm>
            <a:off x="235532" y="10432"/>
            <a:ext cx="8568952" cy="3785652"/>
          </a:xfrm>
          <a:prstGeom prst="rect">
            <a:avLst/>
          </a:prstGeom>
        </p:spPr>
        <p:txBody>
          <a:bodyPr wrap="square">
            <a:spAutoFit/>
          </a:bodyPr>
          <a:lstStyle/>
          <a:p>
            <a:pPr algn="ctr">
              <a:lnSpc>
                <a:spcPct val="150000"/>
              </a:lnSpc>
              <a:spcAft>
                <a:spcPts val="0"/>
              </a:spcAft>
            </a:pPr>
            <a:r>
              <a:rPr lang="fr-FR" b="1" dirty="0">
                <a:latin typeface="Century Schoolbook" panose="02040604050505020304" pitchFamily="18" charset="0"/>
                <a:ea typeface="Times New Roman" panose="02020603050405020304" pitchFamily="18" charset="0"/>
                <a:cs typeface="Times New Roman" panose="02020603050405020304" pitchFamily="18" charset="0"/>
              </a:rPr>
              <a:t>Le réticulum endoplasmique   </a:t>
            </a:r>
            <a:endParaRPr lang="fr-FR" b="1" dirty="0" smtClean="0">
              <a:latin typeface="Century Schoolbook" panose="02040604050505020304" pitchFamily="18" charset="0"/>
              <a:ea typeface="Times New Roman" panose="02020603050405020304" pitchFamily="18" charset="0"/>
              <a:cs typeface="Times New Roman" panose="02020603050405020304" pitchFamily="18" charset="0"/>
            </a:endParaRPr>
          </a:p>
          <a:p>
            <a:pPr algn="just">
              <a:lnSpc>
                <a:spcPct val="150000"/>
              </a:lnSpc>
            </a:pPr>
            <a:r>
              <a:rPr lang="fr-FR" dirty="0" smtClean="0">
                <a:latin typeface="Century Schoolbook" panose="02040604050505020304" pitchFamily="18" charset="0"/>
                <a:ea typeface="Times New Roman" panose="02020603050405020304" pitchFamily="18" charset="0"/>
                <a:cs typeface="Times New Roman" panose="02020603050405020304" pitchFamily="18" charset="0"/>
              </a:rPr>
              <a:t>Est </a:t>
            </a:r>
            <a:r>
              <a:rPr lang="fr-FR" dirty="0">
                <a:latin typeface="Century Schoolbook" panose="02040604050505020304" pitchFamily="18" charset="0"/>
                <a:ea typeface="Times New Roman" panose="02020603050405020304" pitchFamily="18" charset="0"/>
                <a:cs typeface="Times New Roman" panose="02020603050405020304" pitchFamily="18" charset="0"/>
              </a:rPr>
              <a:t>un organite prépondérant occupant environs 20% du volume cellulaire chez les eucaryotes. Isolé du cytosol par une membrane qui forme un feuillet continu délimitant un espace interne « lumière ou citerne » et créant un réseau de </a:t>
            </a:r>
            <a:r>
              <a:rPr lang="fr-FR" dirty="0" smtClean="0">
                <a:latin typeface="Century Schoolbook" panose="02040604050505020304" pitchFamily="18" charset="0"/>
                <a:ea typeface="Times New Roman" panose="02020603050405020304" pitchFamily="18" charset="0"/>
                <a:cs typeface="Times New Roman" panose="02020603050405020304" pitchFamily="18" charset="0"/>
              </a:rPr>
              <a:t>cavités ou de </a:t>
            </a:r>
            <a:r>
              <a:rPr lang="fr-FR" dirty="0">
                <a:latin typeface="Century Schoolbook" panose="02040604050505020304" pitchFamily="18" charset="0"/>
                <a:ea typeface="Times New Roman" panose="02020603050405020304" pitchFamily="18" charset="0"/>
                <a:cs typeface="Times New Roman" panose="02020603050405020304" pitchFamily="18" charset="0"/>
              </a:rPr>
              <a:t>vésicules </a:t>
            </a:r>
            <a:r>
              <a:rPr lang="fr-FR" dirty="0" smtClean="0">
                <a:latin typeface="Century Schoolbook" panose="02040604050505020304" pitchFamily="18" charset="0"/>
                <a:ea typeface="Times New Roman" panose="02020603050405020304" pitchFamily="18" charset="0"/>
                <a:cs typeface="Times New Roman" panose="02020603050405020304" pitchFamily="18" charset="0"/>
              </a:rPr>
              <a:t>plus </a:t>
            </a:r>
            <a:r>
              <a:rPr lang="fr-FR" dirty="0">
                <a:latin typeface="Century Schoolbook" panose="02040604050505020304" pitchFamily="18" charset="0"/>
                <a:ea typeface="Times New Roman" panose="02020603050405020304" pitchFamily="18" charset="0"/>
                <a:cs typeface="Times New Roman" panose="02020603050405020304" pitchFamily="18" charset="0"/>
              </a:rPr>
              <a:t>ou moins dilatés communiquant entre elles. </a:t>
            </a:r>
            <a:r>
              <a:rPr lang="fr-FR" dirty="0"/>
              <a:t>L’observation au microscope </a:t>
            </a:r>
            <a:r>
              <a:rPr lang="fr-FR" dirty="0" smtClean="0"/>
              <a:t>électronique montre </a:t>
            </a:r>
            <a:r>
              <a:rPr lang="fr-FR" dirty="0"/>
              <a:t>une continuité entre la membrane réticulaire et l’enveloppe nucléaire. </a:t>
            </a:r>
          </a:p>
          <a:p>
            <a:pPr algn="just">
              <a:lnSpc>
                <a:spcPct val="150000"/>
              </a:lnSpc>
              <a:spcAft>
                <a:spcPts val="0"/>
              </a:spcAft>
            </a:pPr>
            <a:endParaRPr lang="fr-FR" sz="1600" dirty="0">
              <a:latin typeface="Calibri" panose="020F0502020204030204" pitchFamily="34" charset="0"/>
              <a:ea typeface="Times New Roman" panose="02020603050405020304" pitchFamily="18" charset="0"/>
              <a:cs typeface="Times New Roman" panose="02020603050405020304" pitchFamily="18" charset="0"/>
            </a:endParaRPr>
          </a:p>
          <a:p>
            <a:pPr algn="just">
              <a:lnSpc>
                <a:spcPct val="150000"/>
              </a:lnSpc>
              <a:spcAft>
                <a:spcPts val="0"/>
              </a:spcAft>
            </a:pPr>
            <a:r>
              <a:rPr lang="fr-FR" dirty="0">
                <a:latin typeface="Century Schoolbook" panose="02040604050505020304" pitchFamily="18" charset="0"/>
                <a:ea typeface="Times New Roman" panose="02020603050405020304" pitchFamily="18" charset="0"/>
                <a:cs typeface="Times New Roman" panose="02020603050405020304" pitchFamily="18" charset="0"/>
              </a:rPr>
              <a:t> </a:t>
            </a:r>
            <a:endParaRPr lang="fr-FR" sz="1600" dirty="0">
              <a:effectLst/>
              <a:latin typeface="Calibri" panose="020F0502020204030204" pitchFamily="34" charset="0"/>
              <a:ea typeface="Times New Roman" panose="02020603050405020304" pitchFamily="18" charset="0"/>
              <a:cs typeface="Times New Roman" panose="02020603050405020304" pitchFamily="18" charset="0"/>
            </a:endParaRPr>
          </a:p>
        </p:txBody>
      </p:sp>
      <p:pic>
        <p:nvPicPr>
          <p:cNvPr id="7" name="Picture 4" descr="http://lesbeauxjardins.com/cours/botanique/2-cytologie/reticulum.gif"/>
          <p:cNvPicPr>
            <a:picLocks noChangeAspect="1" noChangeArrowheads="1"/>
          </p:cNvPicPr>
          <p:nvPr/>
        </p:nvPicPr>
        <p:blipFill>
          <a:blip r:embed="rId3" cstate="print"/>
          <a:srcRect l="3090" t="22105" r="4994"/>
          <a:stretch>
            <a:fillRect/>
          </a:stretch>
        </p:blipFill>
        <p:spPr bwMode="auto">
          <a:xfrm>
            <a:off x="4788024" y="3241011"/>
            <a:ext cx="4032448" cy="3514810"/>
          </a:xfrm>
          <a:prstGeom prst="rect">
            <a:avLst/>
          </a:prstGeom>
          <a:noFill/>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Espace réservé du texte 38"/>
          <p:cNvSpPr>
            <a:spLocks noGrp="1"/>
          </p:cNvSpPr>
          <p:nvPr>
            <p:ph type="body" idx="4294967295"/>
          </p:nvPr>
        </p:nvSpPr>
        <p:spPr>
          <a:xfrm>
            <a:off x="571472" y="357166"/>
            <a:ext cx="8219691" cy="778258"/>
          </a:xfrm>
          <a:prstGeom prst="rect">
            <a:avLst/>
          </a:prstGeom>
          <a:noFill/>
          <a:ln w="0" cmpd="sng">
            <a:noFill/>
            <a:prstDash val="solid"/>
          </a:ln>
        </p:spPr>
        <p:txBody>
          <a:bodyPr lIns="0" tIns="0" rIns="0" bIns="0" anchor="t">
            <a:normAutofit/>
          </a:bodyPr>
          <a:lstStyle/>
          <a:p>
            <a:pPr marL="1763238" indent="0">
              <a:lnSpc>
                <a:spcPct val="82559"/>
              </a:lnSpc>
              <a:spcAft>
                <a:spcPts val="2051"/>
              </a:spcAft>
              <a:buNone/>
            </a:pPr>
            <a:r>
              <a:rPr lang="fr-FR" sz="4000" b="1" dirty="0" smtClean="0">
                <a:solidFill>
                  <a:srgbClr val="D83804"/>
                </a:solidFill>
                <a:latin typeface="Arial" panose="22635452340000000000" pitchFamily="2"/>
              </a:rPr>
              <a:t>REL </a:t>
            </a:r>
            <a:r>
              <a:rPr lang="fr-FR" sz="4000" b="1" dirty="0">
                <a:solidFill>
                  <a:srgbClr val="D83804"/>
                </a:solidFill>
                <a:latin typeface="Arial" panose="22635452340000000000" pitchFamily="2"/>
              </a:rPr>
              <a:t>et REG</a:t>
            </a:r>
          </a:p>
        </p:txBody>
      </p:sp>
      <p:sp>
        <p:nvSpPr>
          <p:cNvPr id="40" name="Espace réservé du texte 39"/>
          <p:cNvSpPr>
            <a:spLocks noGrp="1"/>
          </p:cNvSpPr>
          <p:nvPr>
            <p:ph type="body" idx="4294967295"/>
          </p:nvPr>
        </p:nvSpPr>
        <p:spPr>
          <a:xfrm>
            <a:off x="563000" y="1224705"/>
            <a:ext cx="8219691" cy="271324"/>
          </a:xfrm>
          <a:prstGeom prst="rect">
            <a:avLst/>
          </a:prstGeom>
          <a:noFill/>
          <a:ln w="0" cmpd="sng">
            <a:noFill/>
            <a:prstDash val="solid"/>
          </a:ln>
        </p:spPr>
        <p:txBody>
          <a:bodyPr lIns="0" tIns="0" rIns="0" bIns="0" anchor="t"/>
          <a:lstStyle/>
          <a:p>
            <a:pPr marL="4528315" indent="0">
              <a:lnSpc>
                <a:spcPct val="95999"/>
              </a:lnSpc>
              <a:spcAft>
                <a:spcPts val="473"/>
              </a:spcAft>
              <a:buNone/>
            </a:pPr>
            <a:r>
              <a:rPr lang="fr-FR" sz="1400" b="1" i="1" spc="-18" dirty="0">
                <a:solidFill>
                  <a:srgbClr val="000000"/>
                </a:solidFill>
                <a:latin typeface="Arial" panose="22635452340000000000" pitchFamily="2"/>
              </a:rPr>
              <a:t>O</a:t>
            </a:r>
            <a:r>
              <a:rPr lang="fr-FR" sz="1400" b="1" i="1" spc="-18" dirty="0" smtClean="0">
                <a:solidFill>
                  <a:srgbClr val="000000"/>
                </a:solidFill>
                <a:latin typeface="Arial" panose="22635452340000000000" pitchFamily="2"/>
              </a:rPr>
              <a:t>bservation </a:t>
            </a:r>
            <a:r>
              <a:rPr lang="fr-FR" sz="1400" b="1" i="1" spc="-18" dirty="0">
                <a:solidFill>
                  <a:srgbClr val="000000"/>
                </a:solidFill>
                <a:latin typeface="Arial" panose="22635452340000000000" pitchFamily="2"/>
              </a:rPr>
              <a:t>au microscope électronique</a:t>
            </a:r>
          </a:p>
        </p:txBody>
      </p:sp>
      <p:graphicFrame>
        <p:nvGraphicFramePr>
          <p:cNvPr id="43" name="table 43"/>
          <p:cNvGraphicFramePr>
            <a:graphicFrameLocks noGrp="1"/>
          </p:cNvGraphicFramePr>
          <p:nvPr/>
        </p:nvGraphicFramePr>
        <p:xfrm>
          <a:off x="214282" y="1496029"/>
          <a:ext cx="8568410" cy="5274986"/>
        </p:xfrm>
        <a:graphic>
          <a:graphicData uri="http://schemas.openxmlformats.org/drawingml/2006/table">
            <a:tbl>
              <a:tblPr/>
              <a:tblGrid>
                <a:gridCol w="4302881"/>
                <a:gridCol w="4265529"/>
              </a:tblGrid>
              <a:tr h="4940871">
                <a:tc>
                  <a:txBody>
                    <a:bodyPr/>
                    <a:lstStyle/>
                    <a:p>
                      <a:pPr marL="0" marR="0" indent="411480" algn="l">
                        <a:lnSpc>
                          <a:spcPct val="95999"/>
                        </a:lnSpc>
                        <a:spcBef>
                          <a:spcPts val="3960"/>
                        </a:spcBef>
                        <a:spcAft>
                          <a:spcPts val="0"/>
                        </a:spcAft>
                        <a:buFont typeface="Symbol"/>
                        <a:buNone/>
                      </a:pPr>
                      <a:r>
                        <a:rPr lang="fr-FR" sz="2400" b="1" spc="80" dirty="0">
                          <a:solidFill>
                            <a:srgbClr val="000000"/>
                          </a:solidFill>
                          <a:latin typeface="Arial" pitchFamily="34" charset="0"/>
                          <a:cs typeface="Arial" pitchFamily="34" charset="0"/>
                        </a:rPr>
                        <a:t>2 types de réticulum </a:t>
                      </a:r>
                      <a:r>
                        <a:rPr lang="fr-FR" sz="2400" b="1" spc="80" dirty="0" smtClean="0">
                          <a:solidFill>
                            <a:srgbClr val="000000"/>
                          </a:solidFill>
                          <a:latin typeface="Arial" pitchFamily="34" charset="0"/>
                          <a:cs typeface="Arial" pitchFamily="34" charset="0"/>
                        </a:rPr>
                        <a:t>sont</a:t>
                      </a:r>
                      <a:r>
                        <a:rPr lang="fr-FR" sz="2400" b="1" spc="80" baseline="0" dirty="0" smtClean="0">
                          <a:solidFill>
                            <a:srgbClr val="000000"/>
                          </a:solidFill>
                          <a:latin typeface="Arial" pitchFamily="34" charset="0"/>
                          <a:cs typeface="Arial" pitchFamily="34" charset="0"/>
                        </a:rPr>
                        <a:t> </a:t>
                      </a:r>
                      <a:r>
                        <a:rPr lang="fr-FR" sz="2400" b="1" spc="0" dirty="0" smtClean="0">
                          <a:solidFill>
                            <a:srgbClr val="000000"/>
                          </a:solidFill>
                          <a:latin typeface="Arial" pitchFamily="34" charset="0"/>
                          <a:cs typeface="Arial" pitchFamily="34" charset="0"/>
                        </a:rPr>
                        <a:t>définis</a:t>
                      </a:r>
                      <a:r>
                        <a:rPr lang="fr-FR" sz="2400" b="1" spc="0" dirty="0">
                          <a:solidFill>
                            <a:srgbClr val="000000"/>
                          </a:solidFill>
                          <a:latin typeface="Arial" pitchFamily="34" charset="0"/>
                          <a:cs typeface="Arial" pitchFamily="34" charset="0"/>
                        </a:rPr>
                        <a:t>:</a:t>
                      </a:r>
                    </a:p>
                    <a:p>
                      <a:pPr marL="0" marR="0" indent="411480" algn="l">
                        <a:lnSpc>
                          <a:spcPct val="95999"/>
                        </a:lnSpc>
                        <a:spcBef>
                          <a:spcPts val="4320"/>
                        </a:spcBef>
                        <a:spcAft>
                          <a:spcPts val="0"/>
                        </a:spcAft>
                        <a:buFont typeface="Symbol"/>
                        <a:buChar char="·"/>
                      </a:pPr>
                      <a:r>
                        <a:rPr lang="fr-FR" sz="1900" b="1" spc="240" dirty="0">
                          <a:solidFill>
                            <a:srgbClr val="000000"/>
                          </a:solidFill>
                          <a:latin typeface="Arial" pitchFamily="34" charset="0"/>
                          <a:cs typeface="Arial" pitchFamily="34" charset="0"/>
                        </a:rPr>
                        <a:t>Le Réticulum Endoplasmique</a:t>
                      </a:r>
                    </a:p>
                    <a:p>
                      <a:pPr marL="342900" marR="0" indent="0" algn="l">
                        <a:lnSpc>
                          <a:spcPct val="95999"/>
                        </a:lnSpc>
                        <a:spcBef>
                          <a:spcPts val="0"/>
                        </a:spcBef>
                        <a:spcAft>
                          <a:spcPts val="0"/>
                        </a:spcAft>
                      </a:pPr>
                      <a:r>
                        <a:rPr lang="fr-FR" sz="1900" b="1" spc="10" dirty="0">
                          <a:solidFill>
                            <a:srgbClr val="000000"/>
                          </a:solidFill>
                          <a:latin typeface="Arial" pitchFamily="34" charset="0"/>
                          <a:cs typeface="Arial" pitchFamily="34" charset="0"/>
                        </a:rPr>
                        <a:t>Lisse (REL)</a:t>
                      </a:r>
                    </a:p>
                    <a:p>
                      <a:pPr marL="0" marR="0" indent="411480" algn="l">
                        <a:lnSpc>
                          <a:spcPct val="95999"/>
                        </a:lnSpc>
                        <a:spcBef>
                          <a:spcPts val="3960"/>
                        </a:spcBef>
                        <a:spcAft>
                          <a:spcPts val="0"/>
                        </a:spcAft>
                        <a:buFont typeface="Symbol"/>
                        <a:buChar char="·"/>
                      </a:pPr>
                      <a:r>
                        <a:rPr lang="fr-FR" sz="1900" b="1" spc="240" dirty="0">
                          <a:solidFill>
                            <a:srgbClr val="000000"/>
                          </a:solidFill>
                          <a:latin typeface="Arial" pitchFamily="34" charset="0"/>
                          <a:cs typeface="Arial" pitchFamily="34" charset="0"/>
                        </a:rPr>
                        <a:t>Le Réticulum Endoplasmique</a:t>
                      </a:r>
                    </a:p>
                    <a:p>
                      <a:pPr marL="342900" marR="0" indent="0" algn="l">
                        <a:lnSpc>
                          <a:spcPct val="95999"/>
                        </a:lnSpc>
                        <a:spcBef>
                          <a:spcPts val="0"/>
                        </a:spcBef>
                        <a:spcAft>
                          <a:spcPts val="0"/>
                        </a:spcAft>
                      </a:pPr>
                      <a:r>
                        <a:rPr lang="fr-FR" sz="1900" b="1" spc="60" dirty="0">
                          <a:solidFill>
                            <a:srgbClr val="000000"/>
                          </a:solidFill>
                          <a:latin typeface="Arial" pitchFamily="34" charset="0"/>
                          <a:cs typeface="Arial" pitchFamily="34" charset="0"/>
                        </a:rPr>
                        <a:t>Granuleux (REG) qui comporte</a:t>
                      </a:r>
                    </a:p>
                    <a:p>
                      <a:pPr marL="342900" marR="0" indent="0" algn="l">
                        <a:lnSpc>
                          <a:spcPct val="77759"/>
                        </a:lnSpc>
                        <a:spcBef>
                          <a:spcPts val="360"/>
                        </a:spcBef>
                        <a:spcAft>
                          <a:spcPts val="0"/>
                        </a:spcAft>
                      </a:pPr>
                      <a:r>
                        <a:rPr lang="fr-FR" sz="1900" b="1" spc="0" dirty="0">
                          <a:solidFill>
                            <a:srgbClr val="000000"/>
                          </a:solidFill>
                          <a:latin typeface="Arial" pitchFamily="34" charset="0"/>
                          <a:cs typeface="Arial" pitchFamily="34" charset="0"/>
                        </a:rPr>
                        <a:t>des ribosomes</a:t>
                      </a:r>
                    </a:p>
                  </a:txBody>
                  <a:tcPr marL="0" marR="0" marT="0" marB="0">
                    <a:lnL w="0" cmpd="sng">
                      <a:noFill/>
                      <a:prstDash val="solid"/>
                    </a:lnL>
                    <a:lnR w="0" cmpd="sng">
                      <a:noFill/>
                      <a:prstDash val="solid"/>
                    </a:lnR>
                    <a:lnT w="0" cmpd="sng">
                      <a:noFill/>
                      <a:prstDash val="solid"/>
                    </a:lnT>
                    <a:lnB w="0" cmpd="sng">
                      <a:noFill/>
                      <a:prstDash val="solid"/>
                    </a:lnB>
                  </a:tcPr>
                </a:tc>
                <a:tc>
                  <a:txBody>
                    <a:bodyPr/>
                    <a:lstStyle/>
                    <a:p>
                      <a:pPr algn="l"/>
                      <a:r>
                        <a:rPr lang="en-US" sz="100" dirty="0"/>
                        <a:t> </a:t>
                      </a:r>
                    </a:p>
                  </a:txBody>
                  <a:tcPr marL="0" marR="0" marT="0" marB="0">
                    <a:lnL w="0" cmpd="sng">
                      <a:noFill/>
                      <a:prstDash val="solid"/>
                    </a:lnL>
                    <a:lnR w="0" cmpd="sng">
                      <a:noFill/>
                      <a:prstDash val="solid"/>
                    </a:lnR>
                    <a:lnT w="0" cmpd="sng">
                      <a:noFill/>
                      <a:prstDash val="solid"/>
                    </a:lnT>
                    <a:lnB w="0" cmpd="sng">
                      <a:noFill/>
                      <a:prstDash val="solid"/>
                    </a:lnB>
                  </a:tcPr>
                </a:tc>
              </a:tr>
              <a:tr h="334115">
                <a:tc>
                  <a:txBody>
                    <a:bodyPr/>
                    <a:lstStyle/>
                    <a:p>
                      <a:pPr algn="l"/>
                      <a:r>
                        <a:rPr lang="en-US" sz="100"/>
                        <a:t> </a:t>
                      </a:r>
                    </a:p>
                  </a:txBody>
                  <a:tcPr marL="0" marR="0" marT="0" marB="0">
                    <a:lnL w="0" cmpd="sng">
                      <a:noFill/>
                      <a:prstDash val="solid"/>
                    </a:lnL>
                    <a:lnR w="0" cmpd="sng">
                      <a:noFill/>
                      <a:prstDash val="solid"/>
                    </a:lnR>
                    <a:lnT w="0" cmpd="sng">
                      <a:noFill/>
                      <a:prstDash val="solid"/>
                    </a:lnT>
                    <a:lnB w="0" cmpd="sng">
                      <a:noFill/>
                      <a:prstDash val="solid"/>
                    </a:lnB>
                  </a:tcPr>
                </a:tc>
                <a:tc>
                  <a:txBody>
                    <a:bodyPr/>
                    <a:lstStyle/>
                    <a:p>
                      <a:pPr marL="0" marR="2865755" indent="0" algn="r">
                        <a:lnSpc>
                          <a:spcPct val="95999"/>
                        </a:lnSpc>
                        <a:spcBef>
                          <a:spcPts val="0"/>
                        </a:spcBef>
                        <a:spcAft>
                          <a:spcPts val="0"/>
                        </a:spcAft>
                      </a:pPr>
                      <a:endParaRPr lang="fr-FR" sz="1400" b="1" i="1" spc="-10" dirty="0">
                        <a:solidFill>
                          <a:srgbClr val="000000"/>
                        </a:solidFill>
                        <a:latin typeface="Arial" panose="22635452340000000000" pitchFamily="2"/>
                      </a:endParaRPr>
                    </a:p>
                  </a:txBody>
                  <a:tcPr marL="0" marR="0" marT="0" marB="0" anchor="ctr">
                    <a:lnL w="0" cmpd="sng">
                      <a:noFill/>
                      <a:prstDash val="solid"/>
                    </a:lnL>
                    <a:lnR w="0" cmpd="sng">
                      <a:noFill/>
                      <a:prstDash val="solid"/>
                    </a:lnR>
                    <a:lnT w="0" cmpd="sng">
                      <a:noFill/>
                      <a:prstDash val="solid"/>
                    </a:lnT>
                    <a:lnB w="0" cmpd="sng">
                      <a:noFill/>
                      <a:prstDash val="solid"/>
                    </a:lnB>
                  </a:tcPr>
                </a:tc>
              </a:tr>
            </a:tbl>
          </a:graphicData>
        </a:graphic>
      </p:graphicFrame>
      <p:pic>
        <p:nvPicPr>
          <p:cNvPr id="44" name="Image.jpg"/>
          <p:cNvPicPr/>
          <p:nvPr/>
        </p:nvPicPr>
        <p:blipFill>
          <a:blip r:embed="rId2" cstate="print"/>
          <a:stretch>
            <a:fillRect/>
          </a:stretch>
        </p:blipFill>
        <p:spPr>
          <a:xfrm>
            <a:off x="4714876" y="1571612"/>
            <a:ext cx="4083786" cy="4940871"/>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1" name="Rectangle 13"/>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2062" name="Rectangle 14"/>
          <p:cNvSpPr>
            <a:spLocks noChangeArrowheads="1"/>
          </p:cNvSpPr>
          <p:nvPr/>
        </p:nvSpPr>
        <p:spPr bwMode="auto">
          <a:xfrm>
            <a:off x="96045" y="2559932"/>
            <a:ext cx="2749471" cy="92333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fr-FR"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Membrane RE granuleux</a:t>
            </a:r>
          </a:p>
          <a:p>
            <a:pPr marL="0" marR="0" lvl="0" indent="0" algn="l" defTabSz="914400" rtl="0" eaLnBrk="1" fontAlgn="base" latinLnBrk="0" hangingPunct="1">
              <a:lnSpc>
                <a:spcPct val="150000"/>
              </a:lnSpc>
              <a:spcBef>
                <a:spcPct val="0"/>
              </a:spcBef>
              <a:spcAft>
                <a:spcPct val="0"/>
              </a:spcAft>
              <a:buClrTx/>
              <a:buSzTx/>
              <a:buFontTx/>
              <a:buNone/>
              <a:tabLst/>
            </a:pPr>
            <a:r>
              <a:rPr kumimoji="0" lang="fr-FR" i="0" strike="noStrike" cap="none" normalizeH="0" baseline="0" dirty="0" smtClean="0">
                <a:ln>
                  <a:noFill/>
                </a:ln>
                <a:solidFill>
                  <a:schemeClr val="tx1"/>
                </a:solidFill>
                <a:effectLst/>
                <a:latin typeface="Arial" pitchFamily="34" charset="0"/>
                <a:ea typeface="Times New Roman" pitchFamily="18" charset="0"/>
                <a:cs typeface="Arial" pitchFamily="34" charset="0"/>
              </a:rPr>
              <a:t>Membrane RE lisse</a:t>
            </a:r>
            <a:endParaRPr kumimoji="0" lang="fr-FR" i="0" strike="noStrike" cap="none" normalizeH="0" baseline="0" dirty="0" smtClean="0">
              <a:ln>
                <a:noFill/>
              </a:ln>
              <a:solidFill>
                <a:schemeClr val="tx1"/>
              </a:solidFill>
              <a:effectLst/>
              <a:latin typeface="Arial" pitchFamily="34" charset="0"/>
              <a:cs typeface="Arial" pitchFamily="34" charset="0"/>
            </a:endParaRPr>
          </a:p>
        </p:txBody>
      </p:sp>
      <p:sp>
        <p:nvSpPr>
          <p:cNvPr id="2063" name="Rectangle 15"/>
          <p:cNvSpPr>
            <a:spLocks noChangeArrowheads="1"/>
          </p:cNvSpPr>
          <p:nvPr/>
        </p:nvSpPr>
        <p:spPr bwMode="auto">
          <a:xfrm>
            <a:off x="3851920" y="1263808"/>
            <a:ext cx="4434547" cy="22467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182563" algn="l" defTabSz="914400" rtl="0" eaLnBrk="1" fontAlgn="base" latinLnBrk="0" hangingPunct="1">
              <a:lnSpc>
                <a:spcPct val="100000"/>
              </a:lnSpc>
              <a:spcBef>
                <a:spcPct val="0"/>
              </a:spcBef>
              <a:spcAft>
                <a:spcPct val="0"/>
              </a:spcAft>
              <a:buClrTx/>
              <a:buSzTx/>
              <a:buFontTx/>
              <a:buNone/>
              <a:tabLst>
                <a:tab pos="957263" algn="r"/>
                <a:tab pos="3575050" algn="r"/>
              </a:tabLst>
            </a:pPr>
            <a:endParaRPr kumimoji="0" lang="fr-FR" sz="1700" b="1"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marL="0" marR="0" lvl="0" indent="182563" algn="l" defTabSz="914400" rtl="0" eaLnBrk="1" fontAlgn="base" latinLnBrk="0" hangingPunct="1">
              <a:lnSpc>
                <a:spcPct val="100000"/>
              </a:lnSpc>
              <a:spcBef>
                <a:spcPct val="0"/>
              </a:spcBef>
              <a:spcAft>
                <a:spcPct val="0"/>
              </a:spcAft>
              <a:buClrTx/>
              <a:buSzTx/>
              <a:buFontTx/>
              <a:buNone/>
              <a:tabLst>
                <a:tab pos="957263" algn="r"/>
                <a:tab pos="3575050" algn="r"/>
              </a:tabLst>
            </a:pPr>
            <a:endParaRPr lang="fr-FR" sz="1700" b="1" dirty="0" smtClean="0">
              <a:latin typeface="Arial" pitchFamily="34" charset="0"/>
              <a:ea typeface="Times New Roman" pitchFamily="18" charset="0"/>
              <a:cs typeface="Arial" pitchFamily="34" charset="0"/>
            </a:endParaRPr>
          </a:p>
          <a:p>
            <a:pPr marL="0" marR="0" lvl="0" indent="182563" algn="l" defTabSz="914400" rtl="0" eaLnBrk="1" fontAlgn="base" latinLnBrk="0" hangingPunct="1">
              <a:lnSpc>
                <a:spcPct val="100000"/>
              </a:lnSpc>
              <a:spcBef>
                <a:spcPct val="0"/>
              </a:spcBef>
              <a:spcAft>
                <a:spcPct val="0"/>
              </a:spcAft>
              <a:buClrTx/>
              <a:buSzTx/>
              <a:buFontTx/>
              <a:buNone/>
              <a:tabLst>
                <a:tab pos="957263" algn="r"/>
                <a:tab pos="3575050" algn="r"/>
              </a:tabLst>
            </a:pPr>
            <a:endParaRPr kumimoji="0" lang="fr-FR" sz="800" b="1"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marL="0" marR="0" lvl="0" indent="182563" algn="l" defTabSz="914400" rtl="0" eaLnBrk="0" fontAlgn="base" latinLnBrk="0" hangingPunct="0">
              <a:lnSpc>
                <a:spcPct val="100000"/>
              </a:lnSpc>
              <a:spcBef>
                <a:spcPct val="0"/>
              </a:spcBef>
              <a:spcAft>
                <a:spcPct val="0"/>
              </a:spcAft>
              <a:buClrTx/>
              <a:buSzTx/>
              <a:buFontTx/>
              <a:buNone/>
              <a:tabLst>
                <a:tab pos="957263" algn="r"/>
                <a:tab pos="3575050" algn="r"/>
              </a:tabLst>
            </a:pPr>
            <a:r>
              <a:rPr kumimoji="0" lang="fr-FR" b="1"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a:t>
            </a:r>
            <a:r>
              <a:rPr kumimoji="0" lang="fr-FR"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CELLULE </a:t>
            </a:r>
            <a:endParaRPr kumimoji="0" lang="fr-FR" i="0" u="none" strike="noStrike" cap="none" normalizeH="0" baseline="0" dirty="0" smtClean="0">
              <a:ln>
                <a:noFill/>
              </a:ln>
              <a:solidFill>
                <a:schemeClr val="tx1"/>
              </a:solidFill>
              <a:effectLst/>
              <a:latin typeface="Arial" pitchFamily="34" charset="0"/>
              <a:cs typeface="Arial" pitchFamily="34" charset="0"/>
            </a:endParaRPr>
          </a:p>
          <a:p>
            <a:pPr marL="0" marR="0" lvl="0" indent="182563" algn="l" defTabSz="914400" rtl="0" eaLnBrk="0" fontAlgn="base" latinLnBrk="0" hangingPunct="0">
              <a:lnSpc>
                <a:spcPct val="100000"/>
              </a:lnSpc>
              <a:spcBef>
                <a:spcPct val="0"/>
              </a:spcBef>
              <a:spcAft>
                <a:spcPct val="0"/>
              </a:spcAft>
              <a:buClrTx/>
              <a:buSzTx/>
              <a:buFontTx/>
              <a:buNone/>
              <a:tabLst>
                <a:tab pos="957263" algn="r"/>
                <a:tab pos="3575050" algn="r"/>
              </a:tabLst>
            </a:pPr>
            <a:r>
              <a:rPr kumimoji="0" lang="fr-FR" sz="160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HEPATOCYTE	                 PANCREATIQUE</a:t>
            </a:r>
            <a:endParaRPr kumimoji="0" lang="fr-FR" sz="1600" i="0" u="none" strike="noStrike" cap="none" normalizeH="0" baseline="0" dirty="0" smtClean="0">
              <a:ln>
                <a:noFill/>
              </a:ln>
              <a:solidFill>
                <a:schemeClr val="tx1"/>
              </a:solidFill>
              <a:effectLst/>
              <a:latin typeface="Arial" pitchFamily="34" charset="0"/>
              <a:cs typeface="Arial" pitchFamily="34" charset="0"/>
            </a:endParaRPr>
          </a:p>
          <a:p>
            <a:pPr marL="0" marR="0" lvl="0" indent="182563" algn="l" defTabSz="914400" rtl="0" eaLnBrk="0" fontAlgn="base" latinLnBrk="0" hangingPunct="0">
              <a:lnSpc>
                <a:spcPct val="100000"/>
              </a:lnSpc>
              <a:spcBef>
                <a:spcPct val="0"/>
              </a:spcBef>
              <a:spcAft>
                <a:spcPct val="0"/>
              </a:spcAft>
              <a:buClrTx/>
              <a:buSzTx/>
              <a:buFontTx/>
              <a:buNone/>
              <a:tabLst>
                <a:tab pos="957263" algn="r"/>
                <a:tab pos="3575050" algn="r"/>
              </a:tabLst>
            </a:pPr>
            <a:r>
              <a:rPr kumimoji="0" lang="fr-FR" sz="160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a:t>
            </a:r>
            <a:endParaRPr kumimoji="0" lang="fr-FR" sz="1600" i="0" u="none" strike="noStrike" cap="none" normalizeH="0" baseline="0" dirty="0" smtClean="0">
              <a:ln>
                <a:noFill/>
              </a:ln>
              <a:solidFill>
                <a:schemeClr val="tx1"/>
              </a:solidFill>
              <a:effectLst/>
              <a:latin typeface="Arial" pitchFamily="34" charset="0"/>
              <a:cs typeface="Arial" pitchFamily="34" charset="0"/>
            </a:endParaRPr>
          </a:p>
          <a:p>
            <a:pPr marL="0" marR="0" lvl="0" indent="182563" algn="l" defTabSz="914400" rtl="0" eaLnBrk="0" fontAlgn="base" latinLnBrk="0" hangingPunct="0">
              <a:lnSpc>
                <a:spcPct val="100000"/>
              </a:lnSpc>
              <a:spcBef>
                <a:spcPct val="0"/>
              </a:spcBef>
              <a:spcAft>
                <a:spcPct val="0"/>
              </a:spcAft>
              <a:buClrTx/>
              <a:buSzTx/>
              <a:buFontTx/>
              <a:buNone/>
              <a:tabLst>
                <a:tab pos="957263" algn="r"/>
                <a:tab pos="3575050" algn="r"/>
              </a:tabLst>
            </a:pPr>
            <a:r>
              <a:rPr kumimoji="0" lang="fr-FR" sz="160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35	60</a:t>
            </a:r>
            <a:endParaRPr kumimoji="0" lang="fr-FR" sz="1600" i="0" u="none" strike="noStrike" cap="none" normalizeH="0" baseline="0" dirty="0" smtClean="0">
              <a:ln>
                <a:noFill/>
              </a:ln>
              <a:solidFill>
                <a:schemeClr val="tx1"/>
              </a:solidFill>
              <a:effectLst/>
              <a:latin typeface="Arial" pitchFamily="34" charset="0"/>
              <a:cs typeface="Arial" pitchFamily="34" charset="0"/>
            </a:endParaRPr>
          </a:p>
          <a:p>
            <a:pPr marL="0" marR="0" lvl="0" indent="182563" algn="l" defTabSz="914400" rtl="0" eaLnBrk="0" fontAlgn="base" latinLnBrk="0" hangingPunct="0">
              <a:lnSpc>
                <a:spcPct val="100000"/>
              </a:lnSpc>
              <a:spcBef>
                <a:spcPct val="0"/>
              </a:spcBef>
              <a:spcAft>
                <a:spcPct val="0"/>
              </a:spcAft>
              <a:buClrTx/>
              <a:buSzTx/>
              <a:buFontTx/>
              <a:buNone/>
              <a:tabLst>
                <a:tab pos="957263" algn="r"/>
                <a:tab pos="3575050" algn="r"/>
              </a:tabLst>
            </a:pPr>
            <a:r>
              <a:rPr kumimoji="0" lang="fr-FR" sz="160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a:t>
            </a:r>
          </a:p>
          <a:p>
            <a:pPr marL="0" marR="0" lvl="0" indent="182563" algn="l" defTabSz="914400" rtl="0" eaLnBrk="0" fontAlgn="base" latinLnBrk="0" hangingPunct="0">
              <a:lnSpc>
                <a:spcPct val="100000"/>
              </a:lnSpc>
              <a:spcBef>
                <a:spcPct val="0"/>
              </a:spcBef>
              <a:spcAft>
                <a:spcPct val="0"/>
              </a:spcAft>
              <a:buClrTx/>
              <a:buSzTx/>
              <a:buFontTx/>
              <a:buNone/>
              <a:tabLst>
                <a:tab pos="957263" algn="r"/>
                <a:tab pos="3575050" algn="r"/>
              </a:tabLst>
            </a:pPr>
            <a:r>
              <a:rPr lang="fr-FR" sz="1600" dirty="0" smtClean="0">
                <a:latin typeface="Arial" pitchFamily="34" charset="0"/>
                <a:ea typeface="Times New Roman" pitchFamily="18" charset="0"/>
                <a:cs typeface="Arial" pitchFamily="34" charset="0"/>
              </a:rPr>
              <a:t>         </a:t>
            </a:r>
            <a:r>
              <a:rPr kumimoji="0" lang="fr-FR" sz="160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16	                                          </a:t>
            </a:r>
            <a:r>
              <a:rPr kumimoji="0" lang="fr-FR" sz="1600" i="0" strike="noStrike" cap="none" normalizeH="0" baseline="0" dirty="0" smtClean="0">
                <a:ln>
                  <a:noFill/>
                </a:ln>
                <a:solidFill>
                  <a:schemeClr val="tx1"/>
                </a:solidFill>
                <a:effectLst/>
                <a:latin typeface="Arial" pitchFamily="34" charset="0"/>
                <a:ea typeface="Times New Roman" pitchFamily="18" charset="0"/>
                <a:cs typeface="Arial" pitchFamily="34" charset="0"/>
              </a:rPr>
              <a:t>&lt;1 </a:t>
            </a:r>
            <a:endParaRPr kumimoji="0" lang="fr-FR" sz="1600" i="0" strike="noStrike" cap="none" normalizeH="0" baseline="0" dirty="0" smtClean="0">
              <a:ln>
                <a:noFill/>
              </a:ln>
              <a:solidFill>
                <a:schemeClr val="tx1"/>
              </a:solidFill>
              <a:effectLst/>
              <a:latin typeface="Arial" pitchFamily="34" charset="0"/>
              <a:cs typeface="Arial" pitchFamily="34" charset="0"/>
            </a:endParaRPr>
          </a:p>
        </p:txBody>
      </p:sp>
      <p:sp>
        <p:nvSpPr>
          <p:cNvPr id="19" name="Rectangle 18"/>
          <p:cNvSpPr/>
          <p:nvPr/>
        </p:nvSpPr>
        <p:spPr>
          <a:xfrm>
            <a:off x="827584" y="57090"/>
            <a:ext cx="8572560" cy="400110"/>
          </a:xfrm>
          <a:prstGeom prst="rect">
            <a:avLst/>
          </a:prstGeom>
        </p:spPr>
        <p:txBody>
          <a:bodyPr wrap="square">
            <a:spAutoFit/>
          </a:bodyPr>
          <a:lstStyle/>
          <a:p>
            <a:pPr lvl="0" indent="182563" eaLnBrk="0" fontAlgn="base" hangingPunct="0">
              <a:spcBef>
                <a:spcPct val="0"/>
              </a:spcBef>
              <a:spcAft>
                <a:spcPct val="0"/>
              </a:spcAft>
              <a:tabLst>
                <a:tab pos="957263" algn="r"/>
                <a:tab pos="3575050" algn="r"/>
              </a:tabLst>
            </a:pPr>
            <a:r>
              <a:rPr lang="fr-FR" sz="2000" b="1" dirty="0" smtClean="0">
                <a:latin typeface="Arial" pitchFamily="34" charset="0"/>
                <a:ea typeface="Times New Roman" pitchFamily="18" charset="0"/>
                <a:cs typeface="Arial" pitchFamily="34" charset="0"/>
              </a:rPr>
              <a:t>POURCENTAGE DES MEMBRANES CELLULAIRES</a:t>
            </a:r>
            <a:endParaRPr lang="fr-FR" sz="2000" dirty="0" smtClean="0">
              <a:latin typeface="Arial" pitchFamily="34" charset="0"/>
              <a:cs typeface="Arial" pitchFamily="34" charset="0"/>
            </a:endParaRPr>
          </a:p>
        </p:txBody>
      </p:sp>
      <p:pic>
        <p:nvPicPr>
          <p:cNvPr id="20" name="Picture 4" descr="http://lesbeauxjardins.com/cours/botanique/2-cytologie/reticulum.gif"/>
          <p:cNvPicPr>
            <a:picLocks noChangeAspect="1" noChangeArrowheads="1"/>
          </p:cNvPicPr>
          <p:nvPr/>
        </p:nvPicPr>
        <p:blipFill>
          <a:blip r:embed="rId2" cstate="print"/>
          <a:srcRect l="3090" t="22105" r="4994"/>
          <a:stretch>
            <a:fillRect/>
          </a:stretch>
        </p:blipFill>
        <p:spPr bwMode="auto">
          <a:xfrm>
            <a:off x="392877" y="3717031"/>
            <a:ext cx="8358246" cy="2880751"/>
          </a:xfrm>
          <a:prstGeom prst="rect">
            <a:avLst/>
          </a:prstGeom>
          <a:noFill/>
        </p:spPr>
      </p:pic>
      <p:sp>
        <p:nvSpPr>
          <p:cNvPr id="2" name="Rectangle 1"/>
          <p:cNvSpPr/>
          <p:nvPr/>
        </p:nvSpPr>
        <p:spPr>
          <a:xfrm>
            <a:off x="251520" y="476672"/>
            <a:ext cx="8640960" cy="1323439"/>
          </a:xfrm>
          <a:prstGeom prst="rect">
            <a:avLst/>
          </a:prstGeom>
        </p:spPr>
        <p:txBody>
          <a:bodyPr wrap="square">
            <a:spAutoFit/>
          </a:bodyPr>
          <a:lstStyle/>
          <a:p>
            <a:pPr algn="just"/>
            <a:r>
              <a:rPr lang="fr-FR" sz="2000" dirty="0"/>
              <a:t>Le REG et le REL peuvent coexister dans une même cellule et peuvent communiquer entre eux (cellule hépatique). En cas de  synthèse active des </a:t>
            </a:r>
            <a:r>
              <a:rPr lang="fr-FR" sz="2000" dirty="0" smtClean="0"/>
              <a:t>protéines, le </a:t>
            </a:r>
            <a:r>
              <a:rPr lang="fr-FR" sz="2000" dirty="0"/>
              <a:t>REG est généralement très développé (</a:t>
            </a:r>
            <a:r>
              <a:rPr lang="fr-FR" sz="2000" dirty="0" smtClean="0"/>
              <a:t>cellules du </a:t>
            </a:r>
            <a:r>
              <a:rPr lang="fr-FR" sz="2000" dirty="0"/>
              <a:t>pancréas). En cas de métabolisme lipidique important le REL est très abondant (cellule hépatique). </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7504" y="-34798"/>
            <a:ext cx="8496944" cy="4062651"/>
          </a:xfrm>
          <a:prstGeom prst="rect">
            <a:avLst/>
          </a:prstGeom>
        </p:spPr>
        <p:txBody>
          <a:bodyPr wrap="square">
            <a:spAutoFit/>
          </a:bodyPr>
          <a:lstStyle/>
          <a:p>
            <a:pPr algn="ctr"/>
            <a:r>
              <a:rPr lang="fr-FR" sz="2400" b="1" dirty="0" smtClean="0"/>
              <a:t>La composition chimique du RE </a:t>
            </a:r>
          </a:p>
          <a:p>
            <a:pPr algn="just"/>
            <a:endParaRPr lang="fr-FR" sz="2400" b="1" u="sng" dirty="0"/>
          </a:p>
          <a:p>
            <a:pPr algn="just"/>
            <a:r>
              <a:rPr lang="fr-FR" sz="2400" dirty="0"/>
              <a:t>  Les études biochimiques réalisées sur la membrane réticulaire après isolement par centrifugation  ont montré  qu’elle renferme (70%) de protéines généralement des enzymes et (30%) de lipides. La membrane réticulaire présente une asymétrie très marquée puisque sur la face </a:t>
            </a:r>
            <a:r>
              <a:rPr lang="fr-FR" sz="2400" dirty="0" err="1"/>
              <a:t>cytosolique</a:t>
            </a:r>
            <a:r>
              <a:rPr lang="fr-FR" sz="2400" dirty="0"/>
              <a:t> on trouve : cytochrome b5, cytochrome P450 réductase et l’ATPase Ca</a:t>
            </a:r>
            <a:r>
              <a:rPr lang="fr-FR" sz="2400" dirty="0" smtClean="0"/>
              <a:t>++ dépendante</a:t>
            </a:r>
            <a:r>
              <a:rPr lang="fr-FR" sz="2400" dirty="0"/>
              <a:t>. </a:t>
            </a:r>
            <a:endParaRPr lang="fr-FR" sz="2400" dirty="0" smtClean="0"/>
          </a:p>
          <a:p>
            <a:pPr algn="just"/>
            <a:r>
              <a:rPr lang="fr-FR" sz="2400" dirty="0" smtClean="0"/>
              <a:t>Sur </a:t>
            </a:r>
            <a:r>
              <a:rPr lang="fr-FR" sz="2400" dirty="0"/>
              <a:t>la face </a:t>
            </a:r>
            <a:r>
              <a:rPr lang="fr-FR" sz="2400" dirty="0" err="1"/>
              <a:t>luminale</a:t>
            </a:r>
            <a:r>
              <a:rPr lang="fr-FR" sz="2400" dirty="0"/>
              <a:t> on a : la glucose-6-phosphatase, β </a:t>
            </a:r>
            <a:r>
              <a:rPr lang="fr-FR" sz="2400" dirty="0" err="1"/>
              <a:t>glucuronidase</a:t>
            </a:r>
            <a:r>
              <a:rPr lang="fr-FR" sz="2400" dirty="0"/>
              <a:t> et des </a:t>
            </a:r>
            <a:r>
              <a:rPr lang="fr-FR" sz="2400" dirty="0" err="1"/>
              <a:t>glycosyl</a:t>
            </a:r>
            <a:r>
              <a:rPr lang="fr-FR" sz="2400" dirty="0"/>
              <a:t> transférases. </a:t>
            </a:r>
          </a:p>
          <a:p>
            <a:pPr algn="just"/>
            <a:endParaRPr lang="fr-FR" dirty="0"/>
          </a:p>
        </p:txBody>
      </p:sp>
      <p:pic>
        <p:nvPicPr>
          <p:cNvPr id="3" name="Image.jpg"/>
          <p:cNvPicPr/>
          <p:nvPr/>
        </p:nvPicPr>
        <p:blipFill rotWithShape="1">
          <a:blip r:embed="rId2" cstate="print"/>
          <a:srcRect t="10991" r="74192" b="12330"/>
          <a:stretch/>
        </p:blipFill>
        <p:spPr>
          <a:xfrm>
            <a:off x="2123728" y="4003576"/>
            <a:ext cx="4968552" cy="2664296"/>
          </a:xfrm>
          <a:prstGeom prst="rect">
            <a:avLst/>
          </a:prstGeom>
        </p:spPr>
      </p:pic>
    </p:spTree>
    <p:extLst>
      <p:ext uri="{BB962C8B-B14F-4D97-AF65-F5344CB8AC3E}">
        <p14:creationId xmlns:p14="http://schemas.microsoft.com/office/powerpoint/2010/main" val="133920751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http://tp-svt.pagesperso-orange.fr/arn_fichiers/proteine2.jpg"/>
          <p:cNvPicPr>
            <a:picLocks noChangeAspect="1" noChangeArrowheads="1"/>
          </p:cNvPicPr>
          <p:nvPr/>
        </p:nvPicPr>
        <p:blipFill>
          <a:blip r:embed="rId3" cstate="print"/>
          <a:srcRect/>
          <a:stretch>
            <a:fillRect/>
          </a:stretch>
        </p:blipFill>
        <p:spPr bwMode="auto">
          <a:xfrm>
            <a:off x="642910" y="1000108"/>
            <a:ext cx="7786742" cy="5429288"/>
          </a:xfrm>
          <a:prstGeom prst="rect">
            <a:avLst/>
          </a:prstGeom>
          <a:noFill/>
        </p:spPr>
      </p:pic>
      <p:sp>
        <p:nvSpPr>
          <p:cNvPr id="4" name="Rectangle 3"/>
          <p:cNvSpPr/>
          <p:nvPr/>
        </p:nvSpPr>
        <p:spPr>
          <a:xfrm>
            <a:off x="928662" y="170988"/>
            <a:ext cx="7529946" cy="523220"/>
          </a:xfrm>
          <a:prstGeom prst="rect">
            <a:avLst/>
          </a:prstGeom>
        </p:spPr>
        <p:txBody>
          <a:bodyPr wrap="none">
            <a:spAutoFit/>
          </a:bodyPr>
          <a:lstStyle/>
          <a:p>
            <a:r>
              <a:rPr lang="fr-FR" sz="2800" b="1" spc="-70" dirty="0" smtClean="0">
                <a:solidFill>
                  <a:srgbClr val="000000"/>
                </a:solidFill>
                <a:latin typeface="Arial" panose="22635452340000000000" pitchFamily="2"/>
              </a:rPr>
              <a:t>Rôle du REG dans la synthèse des protéines </a:t>
            </a:r>
            <a:endParaRPr lang="fr-FR" sz="28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rotWithShape="1">
          <a:blip r:embed="rId2"/>
          <a:srcRect l="24351" t="19688" r="29715" b="12391"/>
          <a:stretch/>
        </p:blipFill>
        <p:spPr>
          <a:xfrm>
            <a:off x="251520" y="980728"/>
            <a:ext cx="8712968" cy="5688632"/>
          </a:xfrm>
          <a:prstGeom prst="rect">
            <a:avLst/>
          </a:prstGeom>
        </p:spPr>
      </p:pic>
      <p:pic>
        <p:nvPicPr>
          <p:cNvPr id="3" name="Image 2"/>
          <p:cNvPicPr>
            <a:picLocks noChangeAspect="1"/>
          </p:cNvPicPr>
          <p:nvPr/>
        </p:nvPicPr>
        <p:blipFill>
          <a:blip r:embed="rId3"/>
          <a:stretch>
            <a:fillRect/>
          </a:stretch>
        </p:blipFill>
        <p:spPr>
          <a:xfrm>
            <a:off x="1187624" y="230855"/>
            <a:ext cx="6912768" cy="749873"/>
          </a:xfrm>
          <a:prstGeom prst="rect">
            <a:avLst/>
          </a:prstGeom>
        </p:spPr>
      </p:pic>
    </p:spTree>
    <p:extLst>
      <p:ext uri="{BB962C8B-B14F-4D97-AF65-F5344CB8AC3E}">
        <p14:creationId xmlns:p14="http://schemas.microsoft.com/office/powerpoint/2010/main" val="206615936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3" name="Picture 1"/>
          <p:cNvPicPr>
            <a:picLocks noChangeAspect="1" noChangeArrowheads="1"/>
          </p:cNvPicPr>
          <p:nvPr/>
        </p:nvPicPr>
        <p:blipFill rotWithShape="1">
          <a:blip r:embed="rId2" cstate="print"/>
          <a:srcRect t="80018" b="15452"/>
          <a:stretch/>
        </p:blipFill>
        <p:spPr bwMode="auto">
          <a:xfrm>
            <a:off x="35496" y="5256075"/>
            <a:ext cx="10081120" cy="333165"/>
          </a:xfrm>
          <a:prstGeom prst="rect">
            <a:avLst/>
          </a:prstGeom>
          <a:noFill/>
          <a:ln w="9525">
            <a:noFill/>
            <a:miter lim="800000"/>
            <a:headEnd/>
            <a:tailEnd/>
          </a:ln>
          <a:effectLst/>
        </p:spPr>
      </p:pic>
      <p:pic>
        <p:nvPicPr>
          <p:cNvPr id="3" name="Picture 1"/>
          <p:cNvPicPr>
            <a:picLocks noChangeAspect="1" noChangeArrowheads="1"/>
          </p:cNvPicPr>
          <p:nvPr/>
        </p:nvPicPr>
        <p:blipFill rotWithShape="1">
          <a:blip r:embed="rId2" cstate="print"/>
          <a:srcRect b="25645"/>
          <a:stretch/>
        </p:blipFill>
        <p:spPr bwMode="auto">
          <a:xfrm>
            <a:off x="214282" y="285728"/>
            <a:ext cx="8715436" cy="4727448"/>
          </a:xfrm>
          <a:prstGeom prst="rect">
            <a:avLst/>
          </a:prstGeom>
          <a:noFill/>
          <a:ln w="9525">
            <a:noFill/>
            <a:miter lim="800000"/>
            <a:headEnd/>
            <a:tailEnd/>
          </a:ln>
          <a:effectLst/>
        </p:spPr>
      </p:pic>
      <p:pic>
        <p:nvPicPr>
          <p:cNvPr id="4" name="Picture 1"/>
          <p:cNvPicPr>
            <a:picLocks noChangeAspect="1" noChangeArrowheads="1"/>
          </p:cNvPicPr>
          <p:nvPr/>
        </p:nvPicPr>
        <p:blipFill rotWithShape="1">
          <a:blip r:embed="rId2" cstate="print"/>
          <a:srcRect t="84548"/>
          <a:stretch/>
        </p:blipFill>
        <p:spPr bwMode="auto">
          <a:xfrm>
            <a:off x="-252536" y="5661248"/>
            <a:ext cx="9182254" cy="98246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descr="Protéines. Transport et adressage"/>
          <p:cNvPicPr>
            <a:picLocks noChangeAspect="1" noChangeArrowheads="1"/>
          </p:cNvPicPr>
          <p:nvPr/>
        </p:nvPicPr>
        <p:blipFill>
          <a:blip r:embed="rId2" cstate="print"/>
          <a:srcRect/>
          <a:stretch>
            <a:fillRect/>
          </a:stretch>
        </p:blipFill>
        <p:spPr bwMode="auto">
          <a:xfrm>
            <a:off x="251520" y="980728"/>
            <a:ext cx="8892480" cy="5184576"/>
          </a:xfrm>
          <a:prstGeom prst="rect">
            <a:avLst/>
          </a:prstGeom>
          <a:noFill/>
        </p:spPr>
      </p:pic>
    </p:spTree>
    <p:extLst>
      <p:ext uri="{BB962C8B-B14F-4D97-AF65-F5344CB8AC3E}">
        <p14:creationId xmlns:p14="http://schemas.microsoft.com/office/powerpoint/2010/main" val="29976672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363268"/>
            <a:ext cx="9144000" cy="5874044"/>
          </a:xfrm>
          <a:prstGeom prst="rect">
            <a:avLst/>
          </a:prstGeom>
        </p:spPr>
        <p:txBody>
          <a:bodyPr wrap="square">
            <a:spAutoFit/>
          </a:bodyPr>
          <a:lstStyle/>
          <a:p>
            <a:pPr algn="just">
              <a:lnSpc>
                <a:spcPct val="150000"/>
              </a:lnSpc>
              <a:spcAft>
                <a:spcPts val="0"/>
              </a:spcAft>
              <a:tabLst>
                <a:tab pos="5941060" algn="l"/>
              </a:tabLst>
            </a:pPr>
            <a:r>
              <a:rPr lang="fr-FR" sz="1400" b="1" dirty="0">
                <a:latin typeface="Century Schoolbook" panose="02040604050505020304" pitchFamily="18" charset="0"/>
                <a:ea typeface="Times New Roman" panose="02020603050405020304" pitchFamily="18" charset="0"/>
                <a:cs typeface="Times New Roman" panose="02020603050405020304" pitchFamily="18" charset="0"/>
              </a:rPr>
              <a:t>La synthèse protéique </a:t>
            </a:r>
            <a:r>
              <a:rPr lang="fr-FR" sz="1400" dirty="0">
                <a:latin typeface="Century Schoolbook" panose="02040604050505020304" pitchFamily="18" charset="0"/>
                <a:ea typeface="Times New Roman" panose="02020603050405020304" pitchFamily="18" charset="0"/>
                <a:cs typeface="Times New Roman" panose="02020603050405020304" pitchFamily="18" charset="0"/>
              </a:rPr>
              <a:t>commence au niveau du noyau, où la phase de transcription a lieu, à la suite de laquelle un ARNm est libéré dans le cytosol. Parmi tous les ribosomes certains seulement ayant commencés la synthèse des protéines à l’état libre dans le hyaloplasme, sont aiguillés vers les membranes du réticulum ; à partir de ce moment, la destinée des protéines fabriquées par ces ribosomes est fixée et seul un nombre réduit de compartiments leur sera accessible.</a:t>
            </a:r>
            <a:endParaRPr lang="fr-FR" sz="1400" dirty="0">
              <a:latin typeface="Calibri" panose="020F0502020204030204" pitchFamily="34" charset="0"/>
              <a:ea typeface="Times New Roman" panose="02020603050405020304" pitchFamily="18" charset="0"/>
              <a:cs typeface="Times New Roman" panose="02020603050405020304" pitchFamily="18" charset="0"/>
            </a:endParaRPr>
          </a:p>
          <a:p>
            <a:pPr marL="285750" indent="-285750" algn="just">
              <a:lnSpc>
                <a:spcPct val="150000"/>
              </a:lnSpc>
              <a:spcAft>
                <a:spcPts val="0"/>
              </a:spcAft>
              <a:buFont typeface="Arial" panose="020B0604020202020204" pitchFamily="34" charset="0"/>
              <a:buChar char="•"/>
              <a:tabLst>
                <a:tab pos="5941060" algn="l"/>
              </a:tabLst>
            </a:pPr>
            <a:r>
              <a:rPr lang="fr-FR" sz="1400" dirty="0">
                <a:latin typeface="Century Schoolbook" panose="02040604050505020304" pitchFamily="18" charset="0"/>
                <a:ea typeface="Times New Roman" panose="02020603050405020304" pitchFamily="18" charset="0"/>
                <a:cs typeface="Times New Roman" panose="02020603050405020304" pitchFamily="18" charset="0"/>
              </a:rPr>
              <a:t>La deuxième étape débute par la fixation de l’ARNm par son extrémité 5’ au niveau de son site sur le ribosome libre, cet ARNm possède sur son extrémité 5’ après le codon AUG une séquence nucléotidique spéciale qui une fois traduite donne la formation du peptide à résidu hydrophobe nommé le peptide signal. </a:t>
            </a:r>
          </a:p>
          <a:p>
            <a:pPr marL="285750" indent="-285750" algn="just">
              <a:lnSpc>
                <a:spcPct val="150000"/>
              </a:lnSpc>
              <a:spcAft>
                <a:spcPts val="0"/>
              </a:spcAft>
              <a:buFont typeface="Arial" panose="020B0604020202020204" pitchFamily="34" charset="0"/>
              <a:buChar char="•"/>
              <a:tabLst>
                <a:tab pos="5941060" algn="l"/>
              </a:tabLst>
            </a:pPr>
            <a:r>
              <a:rPr lang="fr-FR" sz="1400" dirty="0">
                <a:latin typeface="Century Schoolbook" panose="02040604050505020304" pitchFamily="18" charset="0"/>
                <a:ea typeface="Times New Roman" panose="02020603050405020304" pitchFamily="18" charset="0"/>
                <a:cs typeface="Times New Roman" panose="02020603050405020304" pitchFamily="18" charset="0"/>
              </a:rPr>
              <a:t>Un composé actif appelé la particule de reconnaissance du signal (SRP) se fixe à la partie N terminal du peptide signal en bloquant la synthèse protéique, le complexe SRP-peptide signal se dirige vers la membrane du RE où il se fixe à un récepteur de la </a:t>
            </a:r>
            <a:r>
              <a:rPr lang="fr-FR" sz="1400" dirty="0" smtClean="0">
                <a:latin typeface="Century Schoolbook" panose="02040604050505020304" pitchFamily="18" charset="0"/>
                <a:ea typeface="Times New Roman" panose="02020603050405020304" pitchFamily="18" charset="0"/>
                <a:cs typeface="Times New Roman" panose="02020603050405020304" pitchFamily="18" charset="0"/>
              </a:rPr>
              <a:t>SRP. </a:t>
            </a:r>
            <a:r>
              <a:rPr lang="fr-FR" sz="1400" dirty="0">
                <a:latin typeface="Century Schoolbook" panose="02040604050505020304" pitchFamily="18" charset="0"/>
                <a:ea typeface="Times New Roman" panose="02020603050405020304" pitchFamily="18" charset="0"/>
                <a:cs typeface="Times New Roman" panose="02020603050405020304" pitchFamily="18" charset="0"/>
              </a:rPr>
              <a:t>Après contact, la SRP est dissociée du complexe et se libère dans le cytosol. </a:t>
            </a:r>
            <a:endParaRPr lang="fr-FR" sz="1400" dirty="0">
              <a:latin typeface="Calibri" panose="020F0502020204030204" pitchFamily="34" charset="0"/>
              <a:ea typeface="Times New Roman" panose="02020603050405020304" pitchFamily="18" charset="0"/>
              <a:cs typeface="Times New Roman" panose="02020603050405020304" pitchFamily="18" charset="0"/>
            </a:endParaRPr>
          </a:p>
          <a:p>
            <a:pPr marL="285750" indent="-285750" algn="just">
              <a:lnSpc>
                <a:spcPct val="150000"/>
              </a:lnSpc>
              <a:spcAft>
                <a:spcPts val="0"/>
              </a:spcAft>
              <a:buFont typeface="Arial" panose="020B0604020202020204" pitchFamily="34" charset="0"/>
              <a:buChar char="•"/>
              <a:tabLst>
                <a:tab pos="5941060" algn="l"/>
              </a:tabLst>
            </a:pPr>
            <a:r>
              <a:rPr lang="fr-FR" sz="1400" dirty="0">
                <a:latin typeface="Century Schoolbook" panose="02040604050505020304" pitchFamily="18" charset="0"/>
                <a:ea typeface="Times New Roman" panose="02020603050405020304" pitchFamily="18" charset="0"/>
                <a:cs typeface="Times New Roman" panose="02020603050405020304" pitchFamily="18" charset="0"/>
              </a:rPr>
              <a:t>La synthèse protéique reprend et la protéine en cours de synthèse pénètre et assure la translocation à travers la double couche lipidique du ribosome. </a:t>
            </a:r>
            <a:endParaRPr lang="fr-FR" sz="1400" dirty="0">
              <a:latin typeface="Calibri" panose="020F0502020204030204" pitchFamily="34" charset="0"/>
              <a:ea typeface="Times New Roman" panose="02020603050405020304" pitchFamily="18" charset="0"/>
              <a:cs typeface="Times New Roman" panose="02020603050405020304" pitchFamily="18" charset="0"/>
            </a:endParaRPr>
          </a:p>
          <a:p>
            <a:pPr marL="285750" indent="-285750" algn="just">
              <a:lnSpc>
                <a:spcPct val="150000"/>
              </a:lnSpc>
              <a:spcAft>
                <a:spcPts val="0"/>
              </a:spcAft>
              <a:buFont typeface="Arial" panose="020B0604020202020204" pitchFamily="34" charset="0"/>
              <a:buChar char="•"/>
              <a:tabLst>
                <a:tab pos="5941060" algn="l"/>
              </a:tabLst>
            </a:pPr>
            <a:r>
              <a:rPr lang="fr-FR" sz="1400" dirty="0">
                <a:latin typeface="Century Schoolbook" panose="02040604050505020304" pitchFamily="18" charset="0"/>
                <a:ea typeface="Times New Roman" panose="02020603050405020304" pitchFamily="18" charset="0"/>
                <a:cs typeface="Times New Roman" panose="02020603050405020304" pitchFamily="18" charset="0"/>
              </a:rPr>
              <a:t>Une fois que la protéine traverse le port ; des peptidases coupent le peptide signal de la protéine, ensuite il est dégradé par des protéases du RE. A la fin la protéine synthétisée est libérée dans la lumière du RE où elle acquiert </a:t>
            </a:r>
            <a:r>
              <a:rPr lang="fr-FR" sz="1400" dirty="0" smtClean="0">
                <a:latin typeface="Century Schoolbook" panose="02040604050505020304" pitchFamily="18" charset="0"/>
                <a:ea typeface="Times New Roman" panose="02020603050405020304" pitchFamily="18" charset="0"/>
                <a:cs typeface="Times New Roman" panose="02020603050405020304" pitchFamily="18" charset="0"/>
              </a:rPr>
              <a:t>sa forme tridimensionnelle.</a:t>
            </a:r>
            <a:endParaRPr lang="fr-FR" sz="1400" dirty="0"/>
          </a:p>
        </p:txBody>
      </p:sp>
    </p:spTree>
    <p:extLst>
      <p:ext uri="{BB962C8B-B14F-4D97-AF65-F5344CB8AC3E}">
        <p14:creationId xmlns:p14="http://schemas.microsoft.com/office/powerpoint/2010/main" val="427581617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b="8434"/>
          <a:stretch>
            <a:fillRect/>
          </a:stretch>
        </p:blipFill>
        <p:spPr bwMode="auto">
          <a:xfrm>
            <a:off x="539552" y="1052736"/>
            <a:ext cx="8064895" cy="5616624"/>
          </a:xfrm>
          <a:prstGeom prst="rect">
            <a:avLst/>
          </a:prstGeom>
          <a:noFill/>
          <a:ln w="9525">
            <a:noFill/>
            <a:miter lim="800000"/>
            <a:headEnd/>
            <a:tailEnd/>
          </a:ln>
        </p:spPr>
      </p:pic>
      <p:sp>
        <p:nvSpPr>
          <p:cNvPr id="3" name="ZoneTexte 2"/>
          <p:cNvSpPr txBox="1"/>
          <p:nvPr/>
        </p:nvSpPr>
        <p:spPr>
          <a:xfrm>
            <a:off x="2699792" y="169476"/>
            <a:ext cx="3240360" cy="523220"/>
          </a:xfrm>
          <a:prstGeom prst="rect">
            <a:avLst/>
          </a:prstGeom>
          <a:noFill/>
          <a:ln w="28575">
            <a:solidFill>
              <a:schemeClr val="tx1"/>
            </a:solidFill>
          </a:ln>
        </p:spPr>
        <p:txBody>
          <a:bodyPr wrap="square" rtlCol="0">
            <a:spAutoFit/>
          </a:bodyPr>
          <a:lstStyle/>
          <a:p>
            <a:pPr algn="ctr"/>
            <a:r>
              <a:rPr lang="fr-FR" sz="2800" b="1" dirty="0" smtClean="0"/>
              <a:t>Les ribosomes</a:t>
            </a:r>
            <a:endParaRPr lang="fr-FR" sz="2800" b="1" dirty="0"/>
          </a:p>
        </p:txBody>
      </p:sp>
    </p:spTree>
    <p:extLst>
      <p:ext uri="{BB962C8B-B14F-4D97-AF65-F5344CB8AC3E}">
        <p14:creationId xmlns:p14="http://schemas.microsoft.com/office/powerpoint/2010/main" val="299527431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rotWithShape="1">
          <a:blip r:embed="rId2" cstate="print"/>
          <a:srcRect t="72857" b="1428"/>
          <a:stretch/>
        </p:blipFill>
        <p:spPr bwMode="auto">
          <a:xfrm>
            <a:off x="539552" y="4725145"/>
            <a:ext cx="7776864" cy="1296144"/>
          </a:xfrm>
          <a:prstGeom prst="rect">
            <a:avLst/>
          </a:prstGeom>
          <a:noFill/>
          <a:ln w="9525">
            <a:noFill/>
            <a:miter lim="800000"/>
            <a:headEnd/>
            <a:tailEnd/>
          </a:ln>
        </p:spPr>
      </p:pic>
      <p:pic>
        <p:nvPicPr>
          <p:cNvPr id="3" name="Picture 2"/>
          <p:cNvPicPr>
            <a:picLocks noChangeAspect="1" noChangeArrowheads="1"/>
          </p:cNvPicPr>
          <p:nvPr/>
        </p:nvPicPr>
        <p:blipFill rotWithShape="1">
          <a:blip r:embed="rId2" cstate="print"/>
          <a:srcRect b="40000"/>
          <a:stretch/>
        </p:blipFill>
        <p:spPr bwMode="auto">
          <a:xfrm>
            <a:off x="1763688" y="1340768"/>
            <a:ext cx="5544616" cy="3024336"/>
          </a:xfrm>
          <a:prstGeom prst="rect">
            <a:avLst/>
          </a:prstGeom>
          <a:noFill/>
          <a:ln w="9525">
            <a:noFill/>
            <a:miter lim="800000"/>
            <a:headEnd/>
            <a:tailEnd/>
          </a:ln>
        </p:spPr>
      </p:pic>
      <p:sp>
        <p:nvSpPr>
          <p:cNvPr id="4" name="ZoneTexte 3"/>
          <p:cNvSpPr txBox="1"/>
          <p:nvPr/>
        </p:nvSpPr>
        <p:spPr>
          <a:xfrm>
            <a:off x="971600" y="169476"/>
            <a:ext cx="6912768" cy="523220"/>
          </a:xfrm>
          <a:prstGeom prst="rect">
            <a:avLst/>
          </a:prstGeom>
          <a:noFill/>
          <a:ln w="28575">
            <a:solidFill>
              <a:schemeClr val="tx1"/>
            </a:solidFill>
          </a:ln>
        </p:spPr>
        <p:txBody>
          <a:bodyPr wrap="square" rtlCol="0">
            <a:spAutoFit/>
          </a:bodyPr>
          <a:lstStyle/>
          <a:p>
            <a:pPr algn="ctr"/>
            <a:r>
              <a:rPr lang="fr-FR" sz="2800" b="1" dirty="0" smtClean="0"/>
              <a:t>La particule de reconnaissance du signal</a:t>
            </a:r>
            <a:endParaRPr lang="fr-FR" sz="2800" b="1"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biochimej.univ-angers.fr/Page2/COURS/7RelStructFonction/2Biochimie/2ModifPOSTtraduc/8Glycosylation/2Figures/4SynthAvecDolichol.gif"/>
          <p:cNvPicPr>
            <a:picLocks noChangeAspect="1" noChangeArrowheads="1"/>
          </p:cNvPicPr>
          <p:nvPr/>
        </p:nvPicPr>
        <p:blipFill>
          <a:blip r:embed="rId3" cstate="print"/>
          <a:srcRect/>
          <a:stretch>
            <a:fillRect/>
          </a:stretch>
        </p:blipFill>
        <p:spPr bwMode="auto">
          <a:xfrm>
            <a:off x="500034" y="176195"/>
            <a:ext cx="8143932" cy="3609995"/>
          </a:xfrm>
          <a:prstGeom prst="rect">
            <a:avLst/>
          </a:prstGeom>
          <a:noFill/>
        </p:spPr>
      </p:pic>
      <p:sp>
        <p:nvSpPr>
          <p:cNvPr id="4" name="ZoneTexte 3"/>
          <p:cNvSpPr txBox="1"/>
          <p:nvPr/>
        </p:nvSpPr>
        <p:spPr>
          <a:xfrm>
            <a:off x="142844" y="3790141"/>
            <a:ext cx="8929718" cy="3139321"/>
          </a:xfrm>
          <a:prstGeom prst="rect">
            <a:avLst/>
          </a:prstGeom>
          <a:noFill/>
        </p:spPr>
        <p:txBody>
          <a:bodyPr wrap="square" rtlCol="0">
            <a:spAutoFit/>
          </a:bodyPr>
          <a:lstStyle/>
          <a:p>
            <a:pPr algn="just"/>
            <a:r>
              <a:rPr lang="fr-FR" dirty="0" smtClean="0"/>
              <a:t>Les polysaccharides attachés via une liaison N-</a:t>
            </a:r>
            <a:r>
              <a:rPr lang="fr-FR" dirty="0" err="1" smtClean="0"/>
              <a:t>glycosidique</a:t>
            </a:r>
            <a:r>
              <a:rPr lang="fr-FR" dirty="0" smtClean="0"/>
              <a:t> proviennent d'une molécule précurseur contenant 14 oses : la N-</a:t>
            </a:r>
            <a:r>
              <a:rPr lang="fr-FR" dirty="0" err="1" smtClean="0"/>
              <a:t>acétylglucosamine</a:t>
            </a:r>
            <a:r>
              <a:rPr lang="fr-FR" dirty="0" smtClean="0"/>
              <a:t> (</a:t>
            </a:r>
            <a:r>
              <a:rPr lang="fr-FR" dirty="0" err="1" smtClean="0"/>
              <a:t>GlcNAc</a:t>
            </a:r>
            <a:r>
              <a:rPr lang="fr-FR" dirty="0" smtClean="0"/>
              <a:t>), le mannose (Man) et le glucose (</a:t>
            </a:r>
            <a:r>
              <a:rPr lang="fr-FR" dirty="0" err="1" smtClean="0"/>
              <a:t>Glc</a:t>
            </a:r>
            <a:r>
              <a:rPr lang="fr-FR" dirty="0" smtClean="0"/>
              <a:t>).</a:t>
            </a:r>
          </a:p>
          <a:p>
            <a:pPr algn="just"/>
            <a:r>
              <a:rPr lang="fr-FR" dirty="0" smtClean="0"/>
              <a:t>Ces oses sont ajoutés successivement au </a:t>
            </a:r>
            <a:r>
              <a:rPr lang="fr-FR" dirty="0" err="1" smtClean="0"/>
              <a:t>dolichol</a:t>
            </a:r>
            <a:r>
              <a:rPr lang="fr-FR" dirty="0" smtClean="0"/>
              <a:t>, un lipide </a:t>
            </a:r>
            <a:r>
              <a:rPr lang="fr-FR" dirty="0" err="1" smtClean="0"/>
              <a:t>isoprénoïde</a:t>
            </a:r>
            <a:r>
              <a:rPr lang="fr-FR" dirty="0" smtClean="0"/>
              <a:t> enchâssé dans la membrane du réticulum endoplasmique. </a:t>
            </a:r>
          </a:p>
          <a:p>
            <a:pPr algn="just"/>
            <a:r>
              <a:rPr lang="fr-FR" dirty="0" smtClean="0"/>
              <a:t>Les 7 premiers oses sont apportés par des sucres-nucléotides (UDP-oses et GDP-oses) dans le cytoplasme et attachés au </a:t>
            </a:r>
            <a:r>
              <a:rPr lang="fr-FR" dirty="0" err="1" smtClean="0"/>
              <a:t>dolichol</a:t>
            </a:r>
            <a:r>
              <a:rPr lang="fr-FR" dirty="0" smtClean="0"/>
              <a:t> via une liaison pyrophosphate (PP). </a:t>
            </a:r>
          </a:p>
          <a:p>
            <a:pPr algn="just"/>
            <a:r>
              <a:rPr lang="fr-FR" dirty="0" smtClean="0"/>
              <a:t>Après que l'intermédiaire de Man</a:t>
            </a:r>
            <a:r>
              <a:rPr lang="fr-FR" baseline="-25000" dirty="0" smtClean="0"/>
              <a:t>5</a:t>
            </a:r>
            <a:r>
              <a:rPr lang="fr-FR" dirty="0" smtClean="0"/>
              <a:t>GlcNAc</a:t>
            </a:r>
            <a:r>
              <a:rPr lang="fr-FR" baseline="-25000" dirty="0" smtClean="0"/>
              <a:t>2</a:t>
            </a:r>
            <a:r>
              <a:rPr lang="fr-FR" dirty="0" smtClean="0"/>
              <a:t>-PP-</a:t>
            </a:r>
            <a:r>
              <a:rPr lang="fr-FR" dirty="0" err="1" smtClean="0"/>
              <a:t>dolichol</a:t>
            </a:r>
            <a:r>
              <a:rPr lang="fr-FR" dirty="0" smtClean="0"/>
              <a:t> soit formé, le complexe entier bascule dans le lumen du réticulum endoplasmique.</a:t>
            </a:r>
          </a:p>
          <a:p>
            <a:pPr algn="just"/>
            <a:r>
              <a:rPr lang="fr-FR" dirty="0" smtClean="0"/>
              <a:t>Les 7 oses terminaux sont apportés par des molécules de Man-P-</a:t>
            </a:r>
            <a:r>
              <a:rPr lang="fr-FR" dirty="0" err="1" smtClean="0"/>
              <a:t>dolichol</a:t>
            </a:r>
            <a:r>
              <a:rPr lang="fr-FR" dirty="0" smtClean="0"/>
              <a:t> et de </a:t>
            </a:r>
            <a:r>
              <a:rPr lang="fr-FR" dirty="0" err="1" smtClean="0"/>
              <a:t>Glc</a:t>
            </a:r>
            <a:r>
              <a:rPr lang="fr-FR" dirty="0" smtClean="0"/>
              <a:t>-P-</a:t>
            </a:r>
            <a:r>
              <a:rPr lang="fr-FR" dirty="0" err="1" smtClean="0"/>
              <a:t>dolichol</a:t>
            </a:r>
            <a:r>
              <a:rPr lang="fr-FR" dirty="0" smtClean="0"/>
              <a:t> pour former le </a:t>
            </a:r>
            <a:r>
              <a:rPr lang="fr-FR" dirty="0" err="1" smtClean="0"/>
              <a:t>glycane</a:t>
            </a:r>
            <a:r>
              <a:rPr lang="fr-FR" dirty="0" smtClean="0"/>
              <a:t> précurseur Gcl</a:t>
            </a:r>
            <a:r>
              <a:rPr lang="fr-FR" baseline="-25000" dirty="0" smtClean="0"/>
              <a:t>3</a:t>
            </a:r>
            <a:r>
              <a:rPr lang="fr-FR" dirty="0" smtClean="0"/>
              <a:t>Man</a:t>
            </a:r>
            <a:r>
              <a:rPr lang="fr-FR" baseline="-25000" dirty="0" smtClean="0"/>
              <a:t>9</a:t>
            </a:r>
            <a:r>
              <a:rPr lang="fr-FR" dirty="0" smtClean="0"/>
              <a:t>GlcNAc</a:t>
            </a:r>
            <a:r>
              <a:rPr lang="fr-FR" baseline="-25000" dirty="0" smtClean="0"/>
              <a:t>2</a:t>
            </a:r>
            <a:r>
              <a:rPr lang="fr-FR" dirty="0" smtClean="0"/>
              <a:t>-PP-</a:t>
            </a:r>
            <a:r>
              <a:rPr lang="fr-FR" dirty="0" err="1" smtClean="0"/>
              <a:t>dolichol</a:t>
            </a:r>
            <a:r>
              <a:rPr lang="fr-FR" dirty="0" smtClean="0"/>
              <a:t>.</a:t>
            </a:r>
            <a:endParaRPr lang="fr-FR" dirty="0"/>
          </a:p>
        </p:txBody>
      </p:sp>
      <p:sp>
        <p:nvSpPr>
          <p:cNvPr id="5" name="ZoneTexte 4"/>
          <p:cNvSpPr txBox="1"/>
          <p:nvPr/>
        </p:nvSpPr>
        <p:spPr>
          <a:xfrm>
            <a:off x="142876" y="0"/>
            <a:ext cx="3357554" cy="523220"/>
          </a:xfrm>
          <a:prstGeom prst="rect">
            <a:avLst/>
          </a:prstGeom>
          <a:noFill/>
        </p:spPr>
        <p:txBody>
          <a:bodyPr wrap="square" rtlCol="0">
            <a:spAutoFit/>
          </a:bodyPr>
          <a:lstStyle/>
          <a:p>
            <a:r>
              <a:rPr lang="fr-FR" sz="2800" dirty="0" smtClean="0"/>
              <a:t>La N-</a:t>
            </a:r>
            <a:r>
              <a:rPr lang="fr-FR" sz="2800" dirty="0" err="1" smtClean="0"/>
              <a:t>glycosylation</a:t>
            </a:r>
            <a:endParaRPr lang="fr-FR" sz="28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p:cNvPicPr>
            <a:picLocks noChangeAspect="1" noChangeArrowheads="1"/>
          </p:cNvPicPr>
          <p:nvPr/>
        </p:nvPicPr>
        <p:blipFill>
          <a:blip r:embed="rId2" cstate="print"/>
          <a:srcRect/>
          <a:stretch>
            <a:fillRect/>
          </a:stretch>
        </p:blipFill>
        <p:spPr bwMode="auto">
          <a:xfrm>
            <a:off x="357158" y="1928802"/>
            <a:ext cx="8358246" cy="4286279"/>
          </a:xfrm>
          <a:prstGeom prst="rect">
            <a:avLst/>
          </a:prstGeom>
          <a:noFill/>
          <a:ln w="9525">
            <a:noFill/>
            <a:miter lim="800000"/>
            <a:headEnd/>
            <a:tailEnd/>
          </a:ln>
          <a:effectLst/>
        </p:spPr>
      </p:pic>
      <p:sp>
        <p:nvSpPr>
          <p:cNvPr id="3" name="Rectangle 2"/>
          <p:cNvSpPr/>
          <p:nvPr/>
        </p:nvSpPr>
        <p:spPr>
          <a:xfrm>
            <a:off x="357158" y="103038"/>
            <a:ext cx="8429684" cy="1754326"/>
          </a:xfrm>
          <a:prstGeom prst="rect">
            <a:avLst/>
          </a:prstGeom>
        </p:spPr>
        <p:txBody>
          <a:bodyPr wrap="square">
            <a:spAutoFit/>
          </a:bodyPr>
          <a:lstStyle/>
          <a:p>
            <a:r>
              <a:rPr lang="fr-FR" dirty="0" smtClean="0"/>
              <a:t>La N-</a:t>
            </a:r>
            <a:r>
              <a:rPr lang="fr-FR" dirty="0" err="1" smtClean="0"/>
              <a:t>glycosylation</a:t>
            </a:r>
            <a:r>
              <a:rPr lang="fr-FR" dirty="0" smtClean="0"/>
              <a:t> est essentiellement </a:t>
            </a:r>
            <a:r>
              <a:rPr lang="fr-FR" dirty="0" err="1" smtClean="0"/>
              <a:t>co</a:t>
            </a:r>
            <a:r>
              <a:rPr lang="fr-FR" dirty="0" smtClean="0"/>
              <a:t>-traductionnelle : en effet, le </a:t>
            </a:r>
            <a:r>
              <a:rPr lang="fr-FR" dirty="0" err="1" smtClean="0"/>
              <a:t>glycane</a:t>
            </a:r>
            <a:r>
              <a:rPr lang="fr-FR" dirty="0" smtClean="0"/>
              <a:t> est attaché à la chaîne polypeptidique en cours de </a:t>
            </a:r>
            <a:r>
              <a:rPr lang="fr-FR" dirty="0" smtClean="0">
                <a:hlinkClick r:id="rId3"/>
              </a:rPr>
              <a:t>biosynthèse</a:t>
            </a:r>
            <a:r>
              <a:rPr lang="fr-FR" dirty="0" smtClean="0"/>
              <a:t> et pendant son transport dans le réticulum endoplasmique. </a:t>
            </a:r>
          </a:p>
          <a:p>
            <a:r>
              <a:rPr lang="fr-FR" dirty="0" smtClean="0"/>
              <a:t>Le N signifie que le </a:t>
            </a:r>
            <a:r>
              <a:rPr lang="fr-FR" dirty="0" err="1" smtClean="0"/>
              <a:t>glycane</a:t>
            </a:r>
            <a:r>
              <a:rPr lang="fr-FR" dirty="0" smtClean="0"/>
              <a:t> est attaché de manière covalente à l'azote du groupement amide d'une asparagine (motif </a:t>
            </a:r>
            <a:r>
              <a:rPr lang="fr-FR" dirty="0" err="1" smtClean="0"/>
              <a:t>Asn</a:t>
            </a:r>
            <a:r>
              <a:rPr lang="fr-FR" dirty="0" smtClean="0"/>
              <a:t>-X-[</a:t>
            </a:r>
            <a:r>
              <a:rPr lang="fr-FR" dirty="0" err="1" smtClean="0"/>
              <a:t>Ser</a:t>
            </a:r>
            <a:r>
              <a:rPr lang="fr-FR" dirty="0" smtClean="0"/>
              <a:t>/</a:t>
            </a:r>
            <a:r>
              <a:rPr lang="fr-FR" dirty="0" err="1" smtClean="0"/>
              <a:t>Thr</a:t>
            </a:r>
            <a:r>
              <a:rPr lang="fr-FR" dirty="0" smtClean="0"/>
              <a:t>]).</a:t>
            </a:r>
          </a:p>
          <a:p>
            <a:r>
              <a:rPr lang="fr-FR" dirty="0" smtClean="0"/>
              <a:t>Le sucre immédiatement attachés à l'asparagine est la </a:t>
            </a:r>
            <a:r>
              <a:rPr lang="fr-FR" dirty="0" smtClean="0">
                <a:hlinkClick r:id="rId4"/>
              </a:rPr>
              <a:t>N-</a:t>
            </a:r>
            <a:r>
              <a:rPr lang="fr-FR" dirty="0" err="1" smtClean="0">
                <a:hlinkClick r:id="rId4"/>
              </a:rPr>
              <a:t>acétylglucosamine</a:t>
            </a:r>
            <a:r>
              <a:rPr lang="fr-FR" dirty="0" smtClean="0"/>
              <a:t>.</a:t>
            </a:r>
            <a:endParaRPr lang="fr-FR"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www.facbio.com/content/images/stories/bio/Organites/FBOG_NGlycosyl.jpg"/>
          <p:cNvPicPr>
            <a:picLocks noChangeAspect="1" noChangeArrowheads="1"/>
          </p:cNvPicPr>
          <p:nvPr/>
        </p:nvPicPr>
        <p:blipFill>
          <a:blip r:embed="rId2" cstate="print"/>
          <a:srcRect/>
          <a:stretch>
            <a:fillRect/>
          </a:stretch>
        </p:blipFill>
        <p:spPr bwMode="auto">
          <a:xfrm>
            <a:off x="785786" y="571480"/>
            <a:ext cx="7643866" cy="5929354"/>
          </a:xfrm>
          <a:prstGeom prst="rect">
            <a:avLst/>
          </a:prstGeom>
          <a:noFill/>
        </p:spPr>
      </p:pic>
      <p:pic>
        <p:nvPicPr>
          <p:cNvPr id="3" name="Picture 2" descr="http://www.facbio.com/content/images/stories/bio/Organites/FBOG_NGlycosyl.jpg"/>
          <p:cNvPicPr>
            <a:picLocks noChangeAspect="1" noChangeArrowheads="1"/>
          </p:cNvPicPr>
          <p:nvPr/>
        </p:nvPicPr>
        <p:blipFill rotWithShape="1">
          <a:blip r:embed="rId2" cstate="print"/>
          <a:srcRect l="40003" t="90556" r="57171" b="5800"/>
          <a:stretch/>
        </p:blipFill>
        <p:spPr bwMode="auto">
          <a:xfrm>
            <a:off x="7308304" y="778352"/>
            <a:ext cx="216024" cy="216024"/>
          </a:xfrm>
          <a:prstGeom prst="rect">
            <a:avLst/>
          </a:prstGeom>
          <a:noFill/>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N glycosylation N-acetylglucosamine asparagine"/>
          <p:cNvPicPr>
            <a:picLocks noChangeAspect="1" noChangeArrowheads="1"/>
          </p:cNvPicPr>
          <p:nvPr/>
        </p:nvPicPr>
        <p:blipFill>
          <a:blip r:embed="rId2" cstate="print"/>
          <a:srcRect/>
          <a:stretch>
            <a:fillRect/>
          </a:stretch>
        </p:blipFill>
        <p:spPr bwMode="auto">
          <a:xfrm>
            <a:off x="827584" y="2705687"/>
            <a:ext cx="7429552" cy="4036099"/>
          </a:xfrm>
          <a:prstGeom prst="rect">
            <a:avLst/>
          </a:prstGeom>
          <a:noFill/>
        </p:spPr>
      </p:pic>
      <p:sp>
        <p:nvSpPr>
          <p:cNvPr id="3" name="Rectangle 2"/>
          <p:cNvSpPr/>
          <p:nvPr/>
        </p:nvSpPr>
        <p:spPr>
          <a:xfrm>
            <a:off x="437904" y="767152"/>
            <a:ext cx="8208912" cy="1754326"/>
          </a:xfrm>
          <a:prstGeom prst="rect">
            <a:avLst/>
          </a:prstGeom>
        </p:spPr>
        <p:txBody>
          <a:bodyPr wrap="square">
            <a:spAutoFit/>
          </a:bodyPr>
          <a:lstStyle/>
          <a:p>
            <a:r>
              <a:rPr lang="fr-FR" dirty="0"/>
              <a:t>La découverte de cet organite revient au biologiste italien </a:t>
            </a:r>
            <a:r>
              <a:rPr lang="fr-FR" dirty="0" err="1"/>
              <a:t>Camillo</a:t>
            </a:r>
            <a:r>
              <a:rPr lang="fr-FR" dirty="0"/>
              <a:t> GOLGI « prix Nobel 1906) ». Il est constitué d’un ensemble de citernes ou saccules aplatis parallèles associés à des vésicules de sécrétion. Les saccules d’un </a:t>
            </a:r>
            <a:r>
              <a:rPr lang="fr-FR" dirty="0" err="1"/>
              <a:t>dictyosome</a:t>
            </a:r>
            <a:r>
              <a:rPr lang="fr-FR" dirty="0"/>
              <a:t> sont au nombre de 4 à 6 et il peut y avoir une connexion entre les lumières de deux saccules voisins. L’appareil de golgi est très développé chez les cellules spécialisées dans la sécrétion comme c’est le cas chez les </a:t>
            </a:r>
            <a:r>
              <a:rPr lang="fr-FR" dirty="0" smtClean="0"/>
              <a:t>cellules </a:t>
            </a:r>
            <a:r>
              <a:rPr lang="fr-FR" dirty="0"/>
              <a:t>de l’épithélium intestinales. </a:t>
            </a:r>
          </a:p>
        </p:txBody>
      </p:sp>
      <p:sp>
        <p:nvSpPr>
          <p:cNvPr id="4" name="Rectangle 3"/>
          <p:cNvSpPr/>
          <p:nvPr/>
        </p:nvSpPr>
        <p:spPr>
          <a:xfrm>
            <a:off x="611560" y="121278"/>
            <a:ext cx="2462982" cy="461665"/>
          </a:xfrm>
          <a:prstGeom prst="rect">
            <a:avLst/>
          </a:prstGeom>
        </p:spPr>
        <p:txBody>
          <a:bodyPr wrap="none">
            <a:spAutoFit/>
          </a:bodyPr>
          <a:lstStyle/>
          <a:p>
            <a:r>
              <a:rPr lang="fr-FR" sz="2400" b="1" dirty="0"/>
              <a:t>L’appareil de golgi</a:t>
            </a:r>
          </a:p>
        </p:txBody>
      </p:sp>
    </p:spTree>
    <p:extLst>
      <p:ext uri="{BB962C8B-B14F-4D97-AF65-F5344CB8AC3E}">
        <p14:creationId xmlns:p14="http://schemas.microsoft.com/office/powerpoint/2010/main" val="133180242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67544" y="4797152"/>
            <a:ext cx="8136904" cy="1754326"/>
          </a:xfrm>
          <a:prstGeom prst="rect">
            <a:avLst/>
          </a:prstGeom>
        </p:spPr>
        <p:txBody>
          <a:bodyPr wrap="square">
            <a:spAutoFit/>
          </a:bodyPr>
          <a:lstStyle/>
          <a:p>
            <a:r>
              <a:rPr lang="fr-FR" dirty="0"/>
              <a:t>Une face externe ou face cis au voisinage du RE. A ce niveau il y a bourgeonnement d’une région spécialisée du RE pour donner des vésicules de transition. Ces derniers vont passer à travers le réseau cis golgien et fusionner avec un type membranaire selon leur contenu.  Une face interne ou face </a:t>
            </a:r>
            <a:r>
              <a:rPr lang="fr-FR" dirty="0" err="1"/>
              <a:t>trans</a:t>
            </a:r>
            <a:r>
              <a:rPr lang="fr-FR" dirty="0"/>
              <a:t> formée de saccules plus dilatés. A sa périphérie se trouve un réseau </a:t>
            </a:r>
            <a:r>
              <a:rPr lang="fr-FR" dirty="0" err="1"/>
              <a:t>trans</a:t>
            </a:r>
            <a:r>
              <a:rPr lang="fr-FR" dirty="0"/>
              <a:t> golgien par le quel sortent les molécules soit vers les lysosomes ou les vésicules de sécrétion ou la surface </a:t>
            </a:r>
            <a:r>
              <a:rPr lang="fr-FR" dirty="0" smtClean="0"/>
              <a:t>cellulaire</a:t>
            </a:r>
            <a:endParaRPr lang="fr-FR" dirty="0"/>
          </a:p>
        </p:txBody>
      </p:sp>
      <p:pic>
        <p:nvPicPr>
          <p:cNvPr id="3" name="Image 2"/>
          <p:cNvPicPr>
            <a:picLocks noChangeAspect="1"/>
          </p:cNvPicPr>
          <p:nvPr/>
        </p:nvPicPr>
        <p:blipFill rotWithShape="1">
          <a:blip r:embed="rId2"/>
          <a:srcRect l="32290" t="31297" r="32290" b="28344"/>
          <a:stretch/>
        </p:blipFill>
        <p:spPr>
          <a:xfrm>
            <a:off x="467544" y="620688"/>
            <a:ext cx="8136904" cy="3816424"/>
          </a:xfrm>
          <a:prstGeom prst="rect">
            <a:avLst/>
          </a:prstGeom>
        </p:spPr>
      </p:pic>
    </p:spTree>
    <p:extLst>
      <p:ext uri="{BB962C8B-B14F-4D97-AF65-F5344CB8AC3E}">
        <p14:creationId xmlns:p14="http://schemas.microsoft.com/office/powerpoint/2010/main" val="368172419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500166" y="214290"/>
            <a:ext cx="2809102" cy="523220"/>
          </a:xfrm>
          <a:prstGeom prst="rect">
            <a:avLst/>
          </a:prstGeom>
        </p:spPr>
        <p:txBody>
          <a:bodyPr wrap="none">
            <a:spAutoFit/>
          </a:bodyPr>
          <a:lstStyle/>
          <a:p>
            <a:r>
              <a:rPr lang="fr-FR" sz="2800" u="sng" dirty="0" smtClean="0"/>
              <a:t>La O-</a:t>
            </a:r>
            <a:r>
              <a:rPr lang="fr-FR" sz="2800" u="sng" dirty="0" err="1" smtClean="0"/>
              <a:t>glycosylation</a:t>
            </a:r>
            <a:endParaRPr lang="fr-FR" sz="2800" u="sng" dirty="0"/>
          </a:p>
        </p:txBody>
      </p:sp>
      <p:pic>
        <p:nvPicPr>
          <p:cNvPr id="13314" name="Picture 2" descr="Résultat de recherche d'images pour &quot;appareil de golgi&quot;"/>
          <p:cNvPicPr>
            <a:picLocks noChangeAspect="1" noChangeArrowheads="1"/>
          </p:cNvPicPr>
          <p:nvPr/>
        </p:nvPicPr>
        <p:blipFill>
          <a:blip r:embed="rId2" cstate="print"/>
          <a:srcRect l="6977"/>
          <a:stretch>
            <a:fillRect/>
          </a:stretch>
        </p:blipFill>
        <p:spPr bwMode="auto">
          <a:xfrm>
            <a:off x="1187624" y="3645024"/>
            <a:ext cx="6527648" cy="2712934"/>
          </a:xfrm>
          <a:prstGeom prst="rect">
            <a:avLst/>
          </a:prstGeom>
          <a:noFill/>
        </p:spPr>
      </p:pic>
      <p:sp>
        <p:nvSpPr>
          <p:cNvPr id="4" name="Rectangle 3"/>
          <p:cNvSpPr/>
          <p:nvPr/>
        </p:nvSpPr>
        <p:spPr>
          <a:xfrm>
            <a:off x="467544" y="1124744"/>
            <a:ext cx="8031836" cy="2246769"/>
          </a:xfrm>
          <a:prstGeom prst="rect">
            <a:avLst/>
          </a:prstGeom>
        </p:spPr>
        <p:txBody>
          <a:bodyPr wrap="square">
            <a:spAutoFit/>
          </a:bodyPr>
          <a:lstStyle/>
          <a:p>
            <a:pPr algn="just"/>
            <a:r>
              <a:rPr lang="fr-FR" sz="2000" dirty="0"/>
              <a:t>Se déroule dans l’appareil de golgi, plus exactement dans les saccules médians et </a:t>
            </a:r>
            <a:r>
              <a:rPr lang="fr-FR" sz="2000" dirty="0" err="1"/>
              <a:t>trans</a:t>
            </a:r>
            <a:r>
              <a:rPr lang="fr-FR" sz="2000" dirty="0"/>
              <a:t>. Dans cette glycosylation, la chaîne </a:t>
            </a:r>
            <a:r>
              <a:rPr lang="fr-FR" sz="2000" dirty="0" err="1"/>
              <a:t>glycosylée</a:t>
            </a:r>
            <a:r>
              <a:rPr lang="fr-FR" sz="2000" dirty="0"/>
              <a:t> est transférée sur l’oxygène porté par l’acide aminé sérine ou thréonine de la protéine par une O-</a:t>
            </a:r>
            <a:r>
              <a:rPr lang="fr-FR" sz="2000" dirty="0" err="1"/>
              <a:t>glycosyltransférase</a:t>
            </a:r>
            <a:r>
              <a:rPr lang="fr-FR" sz="2000" dirty="0"/>
              <a:t>.  </a:t>
            </a:r>
          </a:p>
          <a:p>
            <a:pPr algn="just"/>
            <a:r>
              <a:rPr lang="fr-FR" sz="2000" dirty="0"/>
              <a:t>Contrairement à la N-glycosylation, la chaîne </a:t>
            </a:r>
            <a:r>
              <a:rPr lang="fr-FR" sz="2000" dirty="0" err="1"/>
              <a:t>oligosaccharidique</a:t>
            </a:r>
            <a:r>
              <a:rPr lang="fr-FR" sz="2000" dirty="0"/>
              <a:t> est très variable et n'est pas obligatoirement liée par un groupement N-</a:t>
            </a:r>
            <a:r>
              <a:rPr lang="fr-FR" sz="2000" dirty="0" err="1"/>
              <a:t>acétyl</a:t>
            </a:r>
            <a:r>
              <a:rPr lang="fr-FR" sz="2000" dirty="0"/>
              <a:t> glucosamine. </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p:nvPr/>
        </p:nvPicPr>
        <p:blipFill>
          <a:blip r:embed="rId2">
            <a:extLst>
              <a:ext uri="{28A0092B-C50C-407E-A947-70E740481C1C}">
                <a14:useLocalDpi xmlns:a14="http://schemas.microsoft.com/office/drawing/2010/main" val="0"/>
              </a:ext>
            </a:extLst>
          </a:blip>
          <a:srcRect/>
          <a:stretch>
            <a:fillRect/>
          </a:stretch>
        </p:blipFill>
        <p:spPr bwMode="auto">
          <a:xfrm>
            <a:off x="0" y="332656"/>
            <a:ext cx="8928991" cy="3885778"/>
          </a:xfrm>
          <a:prstGeom prst="rect">
            <a:avLst/>
          </a:prstGeom>
          <a:noFill/>
        </p:spPr>
      </p:pic>
      <p:sp>
        <p:nvSpPr>
          <p:cNvPr id="3" name="Rectangle 2"/>
          <p:cNvSpPr/>
          <p:nvPr/>
        </p:nvSpPr>
        <p:spPr>
          <a:xfrm>
            <a:off x="0" y="4509120"/>
            <a:ext cx="8928991" cy="1676741"/>
          </a:xfrm>
          <a:prstGeom prst="rect">
            <a:avLst/>
          </a:prstGeom>
        </p:spPr>
        <p:txBody>
          <a:bodyPr wrap="square">
            <a:spAutoFit/>
          </a:bodyPr>
          <a:lstStyle/>
          <a:p>
            <a:pPr>
              <a:lnSpc>
                <a:spcPct val="107000"/>
              </a:lnSpc>
              <a:spcAft>
                <a:spcPts val="800"/>
              </a:spcAft>
              <a:tabLst>
                <a:tab pos="581025" algn="l"/>
              </a:tabLst>
            </a:pPr>
            <a:r>
              <a:rPr lang="fr-FR" dirty="0" smtClean="0">
                <a:latin typeface="Times New Roman" panose="02020603050405020304" pitchFamily="18" charset="0"/>
                <a:ea typeface="Calibri" panose="020F0502020204030204" pitchFamily="34" charset="0"/>
                <a:cs typeface="Arial" panose="020B0604020202020204" pitchFamily="34" charset="0"/>
              </a:rPr>
              <a:t> </a:t>
            </a:r>
            <a:r>
              <a:rPr lang="fr-FR" b="1" dirty="0">
                <a:latin typeface="Times New Roman" panose="02020603050405020304" pitchFamily="18" charset="0"/>
                <a:ea typeface="Calibri" panose="020F0502020204030204" pitchFamily="34" charset="0"/>
                <a:cs typeface="Arial" panose="020B0604020202020204" pitchFamily="34" charset="0"/>
              </a:rPr>
              <a:t>Étiquetage des hydrolases dans l’appareil de Golgi et adressage vers les lysosomes</a:t>
            </a:r>
            <a:endParaRPr lang="fr-FR" sz="1600" b="1"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tabLst>
                <a:tab pos="581025" algn="l"/>
              </a:tabLst>
            </a:pPr>
            <a:r>
              <a:rPr lang="fr-FR" dirty="0">
                <a:latin typeface="Times New Roman" panose="02020603050405020304" pitchFamily="18" charset="0"/>
                <a:ea typeface="Calibri" panose="020F0502020204030204" pitchFamily="34" charset="0"/>
                <a:cs typeface="Arial" panose="020B0604020202020204" pitchFamily="34" charset="0"/>
              </a:rPr>
              <a:t>Les étapes principales sont : (1) le marquage du mannose avec un groupement phosphate ; (2) la liaison de la protéine au récepteur du mannose 6-P ; (3) le transport vers un </a:t>
            </a:r>
            <a:r>
              <a:rPr lang="fr-FR" dirty="0" err="1">
                <a:latin typeface="Times New Roman" panose="02020603050405020304" pitchFamily="18" charset="0"/>
                <a:ea typeface="Calibri" panose="020F0502020204030204" pitchFamily="34" charset="0"/>
                <a:cs typeface="Arial" panose="020B0604020202020204" pitchFamily="34" charset="0"/>
              </a:rPr>
              <a:t>endosome</a:t>
            </a:r>
            <a:r>
              <a:rPr lang="fr-FR" dirty="0">
                <a:latin typeface="Times New Roman" panose="02020603050405020304" pitchFamily="18" charset="0"/>
                <a:ea typeface="Calibri" panose="020F0502020204030204" pitchFamily="34" charset="0"/>
                <a:cs typeface="Arial" panose="020B0604020202020204" pitchFamily="34" charset="0"/>
              </a:rPr>
              <a:t> ; (4) la dissociation de la protéine de son récepteur ; (5) le recyclage des récepteurs libérés vers les saccules </a:t>
            </a:r>
            <a:r>
              <a:rPr lang="fr-FR" dirty="0" err="1">
                <a:latin typeface="Times New Roman" panose="02020603050405020304" pitchFamily="18" charset="0"/>
                <a:ea typeface="Calibri" panose="020F0502020204030204" pitchFamily="34" charset="0"/>
                <a:cs typeface="Arial" panose="020B0604020202020204" pitchFamily="34" charset="0"/>
              </a:rPr>
              <a:t>transgolgiens</a:t>
            </a:r>
            <a:r>
              <a:rPr lang="fr-FR" dirty="0">
                <a:latin typeface="Times New Roman" panose="02020603050405020304" pitchFamily="18" charset="0"/>
                <a:ea typeface="Calibri" panose="020F0502020204030204" pitchFamily="34" charset="0"/>
                <a:cs typeface="Arial" panose="020B0604020202020204" pitchFamily="34" charset="0"/>
              </a:rPr>
              <a:t>.</a:t>
            </a:r>
            <a:endParaRPr lang="fr-FR" sz="16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37296071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5536" y="1196752"/>
            <a:ext cx="8424936" cy="4801314"/>
          </a:xfrm>
          <a:prstGeom prst="rect">
            <a:avLst/>
          </a:prstGeom>
        </p:spPr>
        <p:txBody>
          <a:bodyPr wrap="square">
            <a:spAutoFit/>
          </a:bodyPr>
          <a:lstStyle/>
          <a:p>
            <a:r>
              <a:rPr lang="fr-FR" dirty="0"/>
              <a:t>Elle se produit dans les saccules Cis de l’appareil de Golgi et se déroule en plusieurs étapes :</a:t>
            </a:r>
          </a:p>
          <a:p>
            <a:r>
              <a:rPr lang="fr-FR" dirty="0"/>
              <a:t>-	Le marquage des mannoses par des </a:t>
            </a:r>
            <a:r>
              <a:rPr lang="fr-FR" dirty="0" err="1"/>
              <a:t>phospho</a:t>
            </a:r>
            <a:r>
              <a:rPr lang="fr-FR" dirty="0"/>
              <a:t>-transférases (par l’ajout d’un groupement phosphate sur le 6ème Carbonne d’un ou de plusieurs mannoses).</a:t>
            </a:r>
          </a:p>
          <a:p>
            <a:r>
              <a:rPr lang="fr-FR" dirty="0"/>
              <a:t>Une fois marqué, les enzymes ne pourront plus subir de modifications enzymatiques dans le reste du golgi. </a:t>
            </a:r>
          </a:p>
          <a:p>
            <a:r>
              <a:rPr lang="fr-FR" dirty="0"/>
              <a:t>- Les enzymes porteuses du mannose 6P sont reconnues par leurs récepteurs spécifiques au niveau de TGN.</a:t>
            </a:r>
          </a:p>
          <a:p>
            <a:r>
              <a:rPr lang="fr-FR" dirty="0"/>
              <a:t>- Formation de vésicules recouvertes de </a:t>
            </a:r>
            <a:r>
              <a:rPr lang="fr-FR" dirty="0" err="1"/>
              <a:t>clathrine</a:t>
            </a:r>
            <a:r>
              <a:rPr lang="fr-FR" dirty="0"/>
              <a:t> qui bourgeonnent à partir de TGN.</a:t>
            </a:r>
          </a:p>
          <a:p>
            <a:r>
              <a:rPr lang="fr-FR" dirty="0"/>
              <a:t>- Elimination de revêtement de </a:t>
            </a:r>
            <a:r>
              <a:rPr lang="fr-FR" dirty="0" err="1"/>
              <a:t>clathrine</a:t>
            </a:r>
            <a:r>
              <a:rPr lang="fr-FR" dirty="0"/>
              <a:t> de la vésicule après son bourgeonnement.</a:t>
            </a:r>
          </a:p>
          <a:p>
            <a:r>
              <a:rPr lang="fr-FR" dirty="0"/>
              <a:t>- Fusion des vésicules avec l’</a:t>
            </a:r>
            <a:r>
              <a:rPr lang="fr-FR" dirty="0" err="1"/>
              <a:t>endolysosome</a:t>
            </a:r>
            <a:r>
              <a:rPr lang="fr-FR" dirty="0"/>
              <a:t>.</a:t>
            </a:r>
          </a:p>
          <a:p>
            <a:r>
              <a:rPr lang="fr-FR" dirty="0"/>
              <a:t>Sous l’effet du PH acide de l’</a:t>
            </a:r>
            <a:r>
              <a:rPr lang="fr-FR" dirty="0" err="1"/>
              <a:t>endolysosome</a:t>
            </a:r>
            <a:r>
              <a:rPr lang="fr-FR" dirty="0"/>
              <a:t>, la protéine se détache de son récepteur :</a:t>
            </a:r>
          </a:p>
          <a:p>
            <a:r>
              <a:rPr lang="fr-FR" dirty="0"/>
              <a:t>- Les enzymes deviennent matures après élimination du groupement phosphate par des phosphatases.</a:t>
            </a:r>
          </a:p>
          <a:p>
            <a:r>
              <a:rPr lang="fr-FR" dirty="0"/>
              <a:t>- Les récepteurs du mannose 6P libres sont recycles vers l’appareil de </a:t>
            </a:r>
            <a:r>
              <a:rPr lang="fr-FR" dirty="0" err="1"/>
              <a:t>Goli</a:t>
            </a:r>
            <a:r>
              <a:rPr lang="fr-FR" dirty="0"/>
              <a:t> (vésicule à </a:t>
            </a:r>
            <a:r>
              <a:rPr lang="fr-FR" dirty="0" err="1"/>
              <a:t>clathrine</a:t>
            </a:r>
            <a:r>
              <a:rPr lang="fr-FR" dirty="0"/>
              <a:t>).  </a:t>
            </a:r>
          </a:p>
          <a:p>
            <a:endParaRPr lang="fr-FR" dirty="0"/>
          </a:p>
        </p:txBody>
      </p:sp>
    </p:spTree>
    <p:extLst>
      <p:ext uri="{BB962C8B-B14F-4D97-AF65-F5344CB8AC3E}">
        <p14:creationId xmlns:p14="http://schemas.microsoft.com/office/powerpoint/2010/main" val="237736406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9" name="Rectangle 1"/>
          <p:cNvSpPr>
            <a:spLocks noChangeArrowheads="1"/>
          </p:cNvSpPr>
          <p:nvPr/>
        </p:nvSpPr>
        <p:spPr bwMode="auto">
          <a:xfrm>
            <a:off x="142844" y="373684"/>
            <a:ext cx="9001156" cy="572464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tab pos="639763" algn="l"/>
              </a:tabLst>
            </a:pPr>
            <a:r>
              <a:rPr kumimoji="0" lang="fr-FR" sz="2800" b="1" i="0" u="none" strike="noStrike" cap="none" normalizeH="0" baseline="0" dirty="0" smtClean="0">
                <a:ln>
                  <a:noFill/>
                </a:ln>
                <a:effectLst/>
                <a:latin typeface="Arial" pitchFamily="34" charset="0"/>
                <a:ea typeface="Times New Roman" pitchFamily="18" charset="0"/>
                <a:cs typeface="Arial" pitchFamily="34" charset="0"/>
              </a:rPr>
              <a:t>Rôle du Réticulum Endoplasmique Lisse</a:t>
            </a:r>
            <a:endParaRPr kumimoji="0" lang="fr-FR" sz="2800" b="0" i="0" u="none" strike="noStrike" cap="none" normalizeH="0" baseline="0" dirty="0" smtClean="0">
              <a:ln>
                <a:noFill/>
              </a:ln>
              <a:effectLst/>
              <a:latin typeface="Arial" pitchFamily="34" charset="0"/>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tab pos="639763" algn="l"/>
              </a:tabLst>
            </a:pPr>
            <a:r>
              <a:rPr kumimoji="0" lang="fr-FR" sz="2800" b="1" i="0" u="none" strike="noStrike" cap="none" normalizeH="0" baseline="0" dirty="0" smtClean="0">
                <a:ln>
                  <a:noFill/>
                </a:ln>
                <a:effectLst/>
                <a:latin typeface="Arial" pitchFamily="34" charset="0"/>
                <a:ea typeface="Times New Roman" pitchFamily="18" charset="0"/>
                <a:cs typeface="Arial" pitchFamily="34" charset="0"/>
              </a:rPr>
              <a:t>dans la synthèse lipidique</a:t>
            </a:r>
          </a:p>
          <a:p>
            <a:pPr marL="0" marR="0" lvl="0" indent="0" algn="ctr" defTabSz="914400" rtl="0" eaLnBrk="0" fontAlgn="base" latinLnBrk="0" hangingPunct="0">
              <a:lnSpc>
                <a:spcPct val="100000"/>
              </a:lnSpc>
              <a:spcBef>
                <a:spcPct val="0"/>
              </a:spcBef>
              <a:spcAft>
                <a:spcPct val="0"/>
              </a:spcAft>
              <a:buClrTx/>
              <a:buSzTx/>
              <a:buFontTx/>
              <a:buNone/>
              <a:tabLst>
                <a:tab pos="639763" algn="l"/>
              </a:tabLst>
            </a:pPr>
            <a:endParaRPr lang="fr-FR" sz="2800" b="1" dirty="0" smtClean="0">
              <a:latin typeface="Arial" pitchFamily="34" charset="0"/>
              <a:ea typeface="Times New Roman" pitchFamily="18" charset="0"/>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tab pos="639763" algn="l"/>
              </a:tabLst>
            </a:pPr>
            <a:endParaRPr kumimoji="0" lang="fr-FR" sz="2800" b="1" i="0" u="none" strike="noStrike" cap="none" normalizeH="0" baseline="0" dirty="0" smtClean="0">
              <a:ln>
                <a:noFill/>
              </a:ln>
              <a:effectLst/>
              <a:latin typeface="Arial" pitchFamily="34" charset="0"/>
              <a:ea typeface="Times New Roman" pitchFamily="18" charset="0"/>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tab pos="639763" algn="l"/>
              </a:tabLst>
            </a:pPr>
            <a:endParaRPr lang="fr-FR" sz="2800" b="1" dirty="0" smtClean="0">
              <a:latin typeface="Arial" pitchFamily="34" charset="0"/>
              <a:ea typeface="Times New Roman" pitchFamily="18" charset="0"/>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tab pos="639763" algn="l"/>
              </a:tabLst>
            </a:pPr>
            <a:endParaRPr kumimoji="0" lang="fr-FR" sz="2800" b="1" i="0" u="none" strike="noStrike" cap="none" normalizeH="0" baseline="0" dirty="0" smtClean="0">
              <a:ln>
                <a:noFill/>
              </a:ln>
              <a:effectLst/>
              <a:latin typeface="Arial" pitchFamily="34" charset="0"/>
              <a:ea typeface="Times New Roman" pitchFamily="18" charset="0"/>
              <a:cs typeface="Arial" pitchFamily="34" charset="0"/>
            </a:endParaRPr>
          </a:p>
          <a:p>
            <a:pPr marL="0" marR="0" lvl="0" indent="0" algn="ctr" defTabSz="914400" rtl="0" eaLnBrk="0" fontAlgn="base" latinLnBrk="0" hangingPunct="0">
              <a:lnSpc>
                <a:spcPct val="150000"/>
              </a:lnSpc>
              <a:spcBef>
                <a:spcPct val="0"/>
              </a:spcBef>
              <a:spcAft>
                <a:spcPct val="0"/>
              </a:spcAft>
              <a:buClrTx/>
              <a:buSzTx/>
              <a:buFontTx/>
              <a:buNone/>
              <a:tabLst>
                <a:tab pos="639763" algn="l"/>
              </a:tabLst>
            </a:pPr>
            <a:endParaRPr kumimoji="0" lang="fr-FR" sz="2800" b="0" i="0" u="none" strike="noStrike" cap="none" normalizeH="0" baseline="0" dirty="0" smtClean="0">
              <a:ln>
                <a:noFill/>
              </a:ln>
              <a:effectLst/>
              <a:latin typeface="Arial" pitchFamily="34" charset="0"/>
              <a:cs typeface="Arial" pitchFamily="34" charset="0"/>
            </a:endParaRPr>
          </a:p>
          <a:p>
            <a:pPr marL="0" marR="0" lvl="0" indent="0" algn="ctr" defTabSz="914400" rtl="0" eaLnBrk="0" fontAlgn="base" latinLnBrk="0" hangingPunct="0">
              <a:lnSpc>
                <a:spcPct val="150000"/>
              </a:lnSpc>
              <a:spcBef>
                <a:spcPct val="0"/>
              </a:spcBef>
              <a:spcAft>
                <a:spcPct val="0"/>
              </a:spcAft>
              <a:buClrTx/>
              <a:buSzTx/>
              <a:buFontTx/>
              <a:buNone/>
              <a:tabLst>
                <a:tab pos="639763" algn="l"/>
              </a:tabLst>
            </a:pPr>
            <a:r>
              <a:rPr lang="fr-FR" sz="2400" b="1" dirty="0" smtClean="0">
                <a:latin typeface="Arial" pitchFamily="34" charset="0"/>
                <a:cs typeface="Arial" pitchFamily="34" charset="0"/>
              </a:rPr>
              <a:t>« M</a:t>
            </a:r>
            <a:r>
              <a:rPr kumimoji="0" lang="fr-FR" sz="2400" b="1" i="0" u="none" strike="noStrike" cap="none" normalizeH="0" baseline="0" dirty="0" smtClean="0">
                <a:ln>
                  <a:noFill/>
                </a:ln>
                <a:effectLst/>
                <a:latin typeface="Arial" pitchFamily="34" charset="0"/>
                <a:cs typeface="Arial" pitchFamily="34" charset="0"/>
              </a:rPr>
              <a:t>embrane </a:t>
            </a:r>
            <a:r>
              <a:rPr kumimoji="0" lang="fr-FR" sz="2400" b="1" i="0" u="none" strike="noStrike" cap="none" normalizeH="0" baseline="0" dirty="0" err="1" smtClean="0">
                <a:ln>
                  <a:noFill/>
                </a:ln>
                <a:effectLst/>
                <a:latin typeface="Arial" pitchFamily="34" charset="0"/>
                <a:cs typeface="Arial" pitchFamily="34" charset="0"/>
              </a:rPr>
              <a:t>autofabriquante</a:t>
            </a:r>
            <a:r>
              <a:rPr kumimoji="0" lang="fr-FR" sz="2400" b="1" i="0" u="none" strike="noStrike" cap="none" normalizeH="0" baseline="0" dirty="0" smtClean="0">
                <a:ln>
                  <a:noFill/>
                </a:ln>
                <a:effectLst/>
                <a:latin typeface="Arial" pitchFamily="34" charset="0"/>
                <a:cs typeface="Arial" pitchFamily="34" charset="0"/>
              </a:rPr>
              <a:t> ou biogénique »</a:t>
            </a:r>
          </a:p>
          <a:p>
            <a:pPr marL="0" marR="0" lvl="0" indent="0" algn="l" defTabSz="914400" rtl="0" eaLnBrk="0" fontAlgn="base" latinLnBrk="0" hangingPunct="0">
              <a:lnSpc>
                <a:spcPct val="150000"/>
              </a:lnSpc>
              <a:spcBef>
                <a:spcPct val="0"/>
              </a:spcBef>
              <a:spcAft>
                <a:spcPct val="0"/>
              </a:spcAft>
              <a:buClrTx/>
              <a:buSzTx/>
              <a:buFontTx/>
              <a:buChar char="•"/>
              <a:tabLst>
                <a:tab pos="639763" algn="l"/>
              </a:tabLst>
            </a:pPr>
            <a:r>
              <a:rPr kumimoji="0" lang="fr-FR" sz="2000" b="1"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Assemblage des bicouches lipidiques dans le </a:t>
            </a:r>
            <a:r>
              <a:rPr kumimoji="0" lang="fr-FR" sz="2000" b="1" i="0" u="none" strike="noStrike" cap="none" normalizeH="0" baseline="0" dirty="0" smtClean="0">
                <a:ln>
                  <a:noFill/>
                </a:ln>
                <a:solidFill>
                  <a:schemeClr val="tx1"/>
                </a:solidFill>
                <a:effectLst/>
                <a:latin typeface="Arial" pitchFamily="34" charset="0"/>
                <a:ea typeface="Times New Roman" pitchFamily="18" charset="0"/>
                <a:cs typeface="Verdana" pitchFamily="34" charset="0"/>
              </a:rPr>
              <a:t>RE </a:t>
            </a:r>
            <a:r>
              <a:rPr kumimoji="0" lang="fr-FR" sz="2000" b="1"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avec</a:t>
            </a:r>
            <a:r>
              <a:rPr lang="fr-FR" sz="2000" dirty="0" smtClean="0">
                <a:latin typeface="Arial" pitchFamily="34" charset="0"/>
                <a:cs typeface="Arial" pitchFamily="34" charset="0"/>
              </a:rPr>
              <a:t> </a:t>
            </a:r>
            <a:r>
              <a:rPr kumimoji="0" lang="fr-FR" sz="2000" b="1"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synthèse de toutes les classes majeures de lipides, phospholipides et cholestérol </a:t>
            </a:r>
          </a:p>
          <a:p>
            <a:pPr marL="0" marR="0" lvl="0" indent="0" algn="l" defTabSz="914400" rtl="0" eaLnBrk="0" fontAlgn="base" latinLnBrk="0" hangingPunct="0">
              <a:lnSpc>
                <a:spcPct val="150000"/>
              </a:lnSpc>
              <a:spcBef>
                <a:spcPct val="0"/>
              </a:spcBef>
              <a:spcAft>
                <a:spcPct val="0"/>
              </a:spcAft>
              <a:buClrTx/>
              <a:buSzTx/>
              <a:tabLst>
                <a:tab pos="639763" algn="l"/>
              </a:tabLst>
            </a:pPr>
            <a:r>
              <a:rPr kumimoji="0" lang="fr-FR" sz="2000" b="1"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du coté </a:t>
            </a:r>
            <a:r>
              <a:rPr kumimoji="0" lang="fr-FR" sz="2000" b="1" i="0" u="none" strike="noStrike" cap="none" normalizeH="0" baseline="0" dirty="0" err="1" smtClean="0">
                <a:ln>
                  <a:noFill/>
                </a:ln>
                <a:solidFill>
                  <a:schemeClr val="tx1"/>
                </a:solidFill>
                <a:effectLst/>
                <a:latin typeface="Arial" pitchFamily="34" charset="0"/>
                <a:ea typeface="Times New Roman" pitchFamily="18" charset="0"/>
                <a:cs typeface="Arial" pitchFamily="34" charset="0"/>
              </a:rPr>
              <a:t>cytosolique</a:t>
            </a:r>
            <a:r>
              <a:rPr kumimoji="0" lang="fr-FR" sz="2000" b="1"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a:t>
            </a:r>
            <a:endParaRPr kumimoji="0" lang="fr-FR" sz="20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tab pos="639763" algn="l"/>
              </a:tabLst>
            </a:pPr>
            <a:r>
              <a:rPr kumimoji="0" lang="fr-FR" sz="2000" b="1"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Source de lipides pour la membrane externe de la mitochondrie.</a:t>
            </a:r>
            <a:endParaRPr kumimoji="0" lang="fr-FR" sz="2000" b="0" i="0" u="none" strike="noStrike" cap="none" normalizeH="0" baseline="0" dirty="0" smtClean="0">
              <a:ln>
                <a:noFill/>
              </a:ln>
              <a:solidFill>
                <a:schemeClr val="tx1"/>
              </a:solidFill>
              <a:effectLst/>
              <a:latin typeface="Arial" pitchFamily="34" charset="0"/>
              <a:cs typeface="Arial" pitchFamily="34" charset="0"/>
            </a:endParaRPr>
          </a:p>
        </p:txBody>
      </p:sp>
      <p:pic>
        <p:nvPicPr>
          <p:cNvPr id="3" name="Image.jpg"/>
          <p:cNvPicPr/>
          <p:nvPr/>
        </p:nvPicPr>
        <p:blipFill>
          <a:blip r:embed="rId2" cstate="print"/>
          <a:srcRect l="57727" b="58070"/>
          <a:stretch>
            <a:fillRect/>
          </a:stretch>
        </p:blipFill>
        <p:spPr>
          <a:xfrm>
            <a:off x="2143108" y="1357298"/>
            <a:ext cx="5441108" cy="2071702"/>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rotWithShape="1">
          <a:blip r:embed="rId2"/>
          <a:srcRect l="21775" t="22439" r="23435" b="11609"/>
          <a:stretch/>
        </p:blipFill>
        <p:spPr>
          <a:xfrm>
            <a:off x="395536" y="692696"/>
            <a:ext cx="8136904" cy="5544616"/>
          </a:xfrm>
          <a:prstGeom prst="rect">
            <a:avLst/>
          </a:prstGeom>
        </p:spPr>
      </p:pic>
    </p:spTree>
    <p:extLst>
      <p:ext uri="{BB962C8B-B14F-4D97-AF65-F5344CB8AC3E}">
        <p14:creationId xmlns:p14="http://schemas.microsoft.com/office/powerpoint/2010/main" val="361998123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2910" y="71414"/>
            <a:ext cx="8143932" cy="6924973"/>
          </a:xfrm>
          <a:prstGeom prst="rect">
            <a:avLst/>
          </a:prstGeom>
        </p:spPr>
        <p:txBody>
          <a:bodyPr wrap="square">
            <a:spAutoFit/>
          </a:bodyPr>
          <a:lstStyle/>
          <a:p>
            <a:r>
              <a:rPr lang="fr-FR" sz="2400" b="1" dirty="0" smtClean="0">
                <a:latin typeface="Arial" pitchFamily="34" charset="0"/>
                <a:cs typeface="Arial" pitchFamily="34" charset="0"/>
              </a:rPr>
              <a:t>Exemple : Biosynthèse de la </a:t>
            </a:r>
            <a:r>
              <a:rPr lang="fr-FR" sz="2400" b="1" dirty="0" err="1" smtClean="0">
                <a:latin typeface="Arial" pitchFamily="34" charset="0"/>
                <a:cs typeface="Arial" pitchFamily="34" charset="0"/>
              </a:rPr>
              <a:t>phosphatidylcholine</a:t>
            </a:r>
            <a:r>
              <a:rPr lang="fr-FR" sz="2400" b="1" dirty="0" smtClean="0">
                <a:latin typeface="Arial" pitchFamily="34" charset="0"/>
                <a:cs typeface="Arial" pitchFamily="34" charset="0"/>
              </a:rPr>
              <a:t> </a:t>
            </a:r>
          </a:p>
          <a:p>
            <a:pPr>
              <a:lnSpc>
                <a:spcPct val="150000"/>
              </a:lnSpc>
            </a:pPr>
            <a:endParaRPr lang="fr-FR" sz="2400" b="1" dirty="0" smtClean="0"/>
          </a:p>
          <a:p>
            <a:pPr>
              <a:lnSpc>
                <a:spcPct val="150000"/>
              </a:lnSpc>
            </a:pPr>
            <a:endParaRPr lang="fr-FR" sz="2400" b="1" dirty="0" smtClean="0"/>
          </a:p>
          <a:p>
            <a:pPr>
              <a:lnSpc>
                <a:spcPct val="150000"/>
              </a:lnSpc>
            </a:pPr>
            <a:endParaRPr lang="fr-FR" sz="2400" b="1" dirty="0" smtClean="0"/>
          </a:p>
          <a:p>
            <a:pPr>
              <a:lnSpc>
                <a:spcPct val="150000"/>
              </a:lnSpc>
            </a:pPr>
            <a:endParaRPr lang="fr-FR" sz="2400" b="1" dirty="0" smtClean="0"/>
          </a:p>
          <a:p>
            <a:pPr>
              <a:lnSpc>
                <a:spcPct val="150000"/>
              </a:lnSpc>
            </a:pPr>
            <a:endParaRPr lang="fr-FR" sz="2400" b="1" dirty="0" smtClean="0"/>
          </a:p>
          <a:p>
            <a:pPr>
              <a:lnSpc>
                <a:spcPct val="150000"/>
              </a:lnSpc>
            </a:pPr>
            <a:endParaRPr lang="fr-FR" sz="2400" b="1" dirty="0" smtClean="0"/>
          </a:p>
          <a:p>
            <a:pPr>
              <a:lnSpc>
                <a:spcPct val="150000"/>
              </a:lnSpc>
            </a:pPr>
            <a:endParaRPr lang="fr-FR" sz="2400" b="1" dirty="0" smtClean="0"/>
          </a:p>
          <a:p>
            <a:pPr>
              <a:lnSpc>
                <a:spcPct val="150000"/>
              </a:lnSpc>
            </a:pPr>
            <a:endParaRPr lang="fr-FR" sz="2400" b="1" dirty="0" smtClean="0"/>
          </a:p>
          <a:p>
            <a:pPr>
              <a:lnSpc>
                <a:spcPct val="150000"/>
              </a:lnSpc>
            </a:pPr>
            <a:endParaRPr lang="fr-FR" sz="2400" b="1" dirty="0" smtClean="0"/>
          </a:p>
          <a:p>
            <a:pPr>
              <a:lnSpc>
                <a:spcPct val="150000"/>
              </a:lnSpc>
            </a:pPr>
            <a:endParaRPr lang="fr-FR" sz="2000" b="1" dirty="0" smtClean="0"/>
          </a:p>
          <a:p>
            <a:pPr>
              <a:lnSpc>
                <a:spcPct val="150000"/>
              </a:lnSpc>
            </a:pPr>
            <a:endParaRPr lang="fr-FR" sz="2000" b="1" dirty="0" smtClean="0"/>
          </a:p>
          <a:p>
            <a:pPr>
              <a:lnSpc>
                <a:spcPct val="150000"/>
              </a:lnSpc>
            </a:pPr>
            <a:endParaRPr lang="fr-FR" sz="2400" dirty="0">
              <a:latin typeface="Arial" pitchFamily="34" charset="0"/>
              <a:cs typeface="Arial" pitchFamily="34" charset="0"/>
            </a:endParaRPr>
          </a:p>
        </p:txBody>
      </p:sp>
      <p:pic>
        <p:nvPicPr>
          <p:cNvPr id="2049" name="Picture 1"/>
          <p:cNvPicPr>
            <a:picLocks noChangeAspect="1" noChangeArrowheads="1"/>
          </p:cNvPicPr>
          <p:nvPr/>
        </p:nvPicPr>
        <p:blipFill>
          <a:blip r:embed="rId2" cstate="print"/>
          <a:srcRect t="1282"/>
          <a:stretch>
            <a:fillRect/>
          </a:stretch>
        </p:blipFill>
        <p:spPr bwMode="auto">
          <a:xfrm>
            <a:off x="0" y="616978"/>
            <a:ext cx="9143999" cy="4071310"/>
          </a:xfrm>
          <a:prstGeom prst="rect">
            <a:avLst/>
          </a:prstGeom>
          <a:noFill/>
          <a:ln w="9525">
            <a:noFill/>
            <a:miter lim="800000"/>
            <a:headEnd/>
            <a:tailEnd/>
          </a:ln>
          <a:effectLst/>
        </p:spPr>
      </p:pic>
      <p:sp>
        <p:nvSpPr>
          <p:cNvPr id="3" name="Rectangle 2"/>
          <p:cNvSpPr/>
          <p:nvPr/>
        </p:nvSpPr>
        <p:spPr>
          <a:xfrm>
            <a:off x="285753" y="4826675"/>
            <a:ext cx="8678735" cy="2031325"/>
          </a:xfrm>
          <a:prstGeom prst="rect">
            <a:avLst/>
          </a:prstGeom>
        </p:spPr>
        <p:txBody>
          <a:bodyPr wrap="square">
            <a:spAutoFit/>
          </a:bodyPr>
          <a:lstStyle/>
          <a:p>
            <a:r>
              <a:rPr lang="fr-FR" dirty="0"/>
              <a:t>1. Deux </a:t>
            </a:r>
            <a:r>
              <a:rPr lang="fr-FR" dirty="0" err="1"/>
              <a:t>acyl-CoA</a:t>
            </a:r>
            <a:r>
              <a:rPr lang="fr-FR" dirty="0"/>
              <a:t> sont tout d’abord fixés successivement à un glycérol-phosphate par</a:t>
            </a:r>
          </a:p>
          <a:p>
            <a:r>
              <a:rPr lang="fr-FR" dirty="0"/>
              <a:t>l’</a:t>
            </a:r>
            <a:r>
              <a:rPr lang="fr-FR" dirty="0" err="1"/>
              <a:t>acyl</a:t>
            </a:r>
            <a:r>
              <a:rPr lang="fr-FR" dirty="0"/>
              <a:t>-transférase tout en libérant les </a:t>
            </a:r>
            <a:r>
              <a:rPr lang="fr-FR" dirty="0" err="1"/>
              <a:t>CoA</a:t>
            </a:r>
            <a:r>
              <a:rPr lang="fr-FR" dirty="0"/>
              <a:t> (acylation): obtention d’un acide</a:t>
            </a:r>
          </a:p>
          <a:p>
            <a:r>
              <a:rPr lang="fr-FR" dirty="0" err="1"/>
              <a:t>phosphatidique</a:t>
            </a:r>
            <a:r>
              <a:rPr lang="fr-FR" dirty="0"/>
              <a:t>.</a:t>
            </a:r>
          </a:p>
          <a:p>
            <a:r>
              <a:rPr lang="fr-FR" dirty="0"/>
              <a:t>2. Une phosphatase </a:t>
            </a:r>
            <a:r>
              <a:rPr lang="fr-FR" dirty="0" err="1"/>
              <a:t>déphosphoryle</a:t>
            </a:r>
            <a:r>
              <a:rPr lang="fr-FR" dirty="0"/>
              <a:t> l’acide </a:t>
            </a:r>
            <a:r>
              <a:rPr lang="fr-FR" dirty="0" err="1"/>
              <a:t>phosphatidique</a:t>
            </a:r>
            <a:r>
              <a:rPr lang="fr-FR" dirty="0"/>
              <a:t>: obtention d’un</a:t>
            </a:r>
          </a:p>
          <a:p>
            <a:r>
              <a:rPr lang="fr-FR" dirty="0" err="1"/>
              <a:t>diacylglycérol</a:t>
            </a:r>
            <a:r>
              <a:rPr lang="fr-FR" dirty="0"/>
              <a:t> (DAG).</a:t>
            </a:r>
          </a:p>
          <a:p>
            <a:r>
              <a:rPr lang="fr-FR" dirty="0"/>
              <a:t>3. Ajout de la </a:t>
            </a:r>
            <a:r>
              <a:rPr lang="fr-FR" dirty="0" err="1"/>
              <a:t>phosphocholine</a:t>
            </a:r>
            <a:r>
              <a:rPr lang="fr-FR" dirty="0"/>
              <a:t> au DAG par la choline-</a:t>
            </a:r>
            <a:r>
              <a:rPr lang="fr-FR" dirty="0" err="1"/>
              <a:t>phosphotransférase</a:t>
            </a:r>
            <a:endParaRPr lang="fr-FR" dirty="0"/>
          </a:p>
          <a:p>
            <a:r>
              <a:rPr lang="fr-FR" dirty="0"/>
              <a:t>....obtention de la </a:t>
            </a:r>
            <a:r>
              <a:rPr lang="fr-FR" dirty="0" err="1"/>
              <a:t>phosphatidylcholine</a:t>
            </a:r>
            <a:r>
              <a:rPr lang="fr-FR" dirty="0"/>
              <a:t>.</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rotWithShape="1">
          <a:blip r:embed="rId2"/>
          <a:srcRect l="21774" t="37203" r="22882" b="38188"/>
          <a:stretch/>
        </p:blipFill>
        <p:spPr>
          <a:xfrm>
            <a:off x="323528" y="332656"/>
            <a:ext cx="8424936" cy="1800200"/>
          </a:xfrm>
          <a:prstGeom prst="rect">
            <a:avLst/>
          </a:prstGeom>
        </p:spPr>
      </p:pic>
      <p:pic>
        <p:nvPicPr>
          <p:cNvPr id="3" name="Image 2"/>
          <p:cNvPicPr>
            <a:picLocks noChangeAspect="1"/>
          </p:cNvPicPr>
          <p:nvPr/>
        </p:nvPicPr>
        <p:blipFill rotWithShape="1">
          <a:blip r:embed="rId3"/>
          <a:srcRect t="16291"/>
          <a:stretch/>
        </p:blipFill>
        <p:spPr>
          <a:xfrm>
            <a:off x="1649290" y="3356992"/>
            <a:ext cx="5773412" cy="2219942"/>
          </a:xfrm>
          <a:prstGeom prst="rect">
            <a:avLst/>
          </a:prstGeom>
        </p:spPr>
      </p:pic>
    </p:spTree>
    <p:extLst>
      <p:ext uri="{BB962C8B-B14F-4D97-AF65-F5344CB8AC3E}">
        <p14:creationId xmlns:p14="http://schemas.microsoft.com/office/powerpoint/2010/main" val="235671806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p:cNvPicPr>
            <a:picLocks noChangeAspect="1" noChangeArrowheads="1"/>
          </p:cNvPicPr>
          <p:nvPr/>
        </p:nvPicPr>
        <p:blipFill rotWithShape="1">
          <a:blip r:embed="rId2" cstate="print"/>
          <a:srcRect b="31525"/>
          <a:stretch/>
        </p:blipFill>
        <p:spPr bwMode="auto">
          <a:xfrm>
            <a:off x="971600" y="3429000"/>
            <a:ext cx="7215238" cy="3360436"/>
          </a:xfrm>
          <a:prstGeom prst="rect">
            <a:avLst/>
          </a:prstGeom>
          <a:noFill/>
          <a:ln w="9525">
            <a:noFill/>
            <a:miter lim="800000"/>
            <a:headEnd/>
            <a:tailEnd/>
          </a:ln>
          <a:effectLst/>
        </p:spPr>
      </p:pic>
      <p:pic>
        <p:nvPicPr>
          <p:cNvPr id="2" name="Image 1"/>
          <p:cNvPicPr>
            <a:picLocks noChangeAspect="1"/>
          </p:cNvPicPr>
          <p:nvPr/>
        </p:nvPicPr>
        <p:blipFill rotWithShape="1">
          <a:blip r:embed="rId3"/>
          <a:srcRect l="21775" t="39172" r="23435" b="11610"/>
          <a:stretch/>
        </p:blipFill>
        <p:spPr>
          <a:xfrm>
            <a:off x="222735" y="0"/>
            <a:ext cx="8712968" cy="3236916"/>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rotWithShape="1">
          <a:blip r:embed="rId2"/>
          <a:srcRect l="22329" t="22439" r="23434" b="11609"/>
          <a:stretch/>
        </p:blipFill>
        <p:spPr>
          <a:xfrm>
            <a:off x="179512" y="260648"/>
            <a:ext cx="8712968" cy="5976664"/>
          </a:xfrm>
          <a:prstGeom prst="rect">
            <a:avLst/>
          </a:prstGeom>
        </p:spPr>
      </p:pic>
    </p:spTree>
    <p:extLst>
      <p:ext uri="{BB962C8B-B14F-4D97-AF65-F5344CB8AC3E}">
        <p14:creationId xmlns:p14="http://schemas.microsoft.com/office/powerpoint/2010/main" val="223370545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332656"/>
            <a:ext cx="8568952" cy="4247317"/>
          </a:xfrm>
          <a:prstGeom prst="rect">
            <a:avLst/>
          </a:prstGeom>
        </p:spPr>
        <p:txBody>
          <a:bodyPr wrap="square">
            <a:spAutoFit/>
          </a:bodyPr>
          <a:lstStyle/>
          <a:p>
            <a:r>
              <a:rPr lang="fr-FR" dirty="0"/>
              <a:t>la sécrétion contrôlée : s’appelle aussi sécrétion discontinue, et c’est une sécrétion sélective, qui est régulée par des signaux intra ou extracellulaires, elle concerne seulement les cellules sécrétrices. Exemple : sécrétion des hormones, enzymes de digestion etc…</a:t>
            </a:r>
          </a:p>
          <a:p>
            <a:r>
              <a:rPr lang="fr-FR" dirty="0"/>
              <a:t>Il faut noter également que le produit destiné : aux lysosomes, et à la sécrétion contrôlée, est emballé souvent dans des vésicules de transport recouvertes de </a:t>
            </a:r>
            <a:r>
              <a:rPr lang="fr-FR" dirty="0" err="1" smtClean="0"/>
              <a:t>clathrine</a:t>
            </a:r>
            <a:r>
              <a:rPr lang="fr-FR" dirty="0" smtClean="0"/>
              <a:t>.</a:t>
            </a:r>
            <a:endParaRPr lang="fr-FR" dirty="0"/>
          </a:p>
          <a:p>
            <a:r>
              <a:rPr lang="fr-FR" dirty="0"/>
              <a:t>La sécrétion constitutive : est une sécrétion qui se réalise d’une manière permanente et sans intervention de signaux. Elle concerne presque tous les types cellulaires. Exemple : renouvellement des constituants membranaires, renouvellement des constituants de la matrice extracellulaire. </a:t>
            </a:r>
          </a:p>
          <a:p>
            <a:r>
              <a:rPr lang="fr-FR" dirty="0"/>
              <a:t>Le produit destiné à la sécrétion constitutive est emballé dans des vésicules recouvertes de </a:t>
            </a:r>
            <a:r>
              <a:rPr lang="fr-FR" dirty="0" err="1"/>
              <a:t>coatoméres</a:t>
            </a:r>
            <a:r>
              <a:rPr lang="fr-FR" dirty="0"/>
              <a:t> (COPI). </a:t>
            </a:r>
            <a:endParaRPr lang="fr-FR" dirty="0" smtClean="0"/>
          </a:p>
          <a:p>
            <a:r>
              <a:rPr lang="fr-FR" dirty="0" smtClean="0"/>
              <a:t>Transport antérograde: RE vers AG c’est les COP2</a:t>
            </a:r>
          </a:p>
          <a:p>
            <a:r>
              <a:rPr lang="fr-FR" dirty="0"/>
              <a:t>Transport </a:t>
            </a:r>
            <a:r>
              <a:rPr lang="fr-FR" dirty="0" smtClean="0"/>
              <a:t>rétrograde</a:t>
            </a:r>
            <a:r>
              <a:rPr lang="fr-FR" dirty="0"/>
              <a:t>: </a:t>
            </a:r>
            <a:r>
              <a:rPr lang="fr-FR" dirty="0" smtClean="0"/>
              <a:t>AG vers RE </a:t>
            </a:r>
            <a:r>
              <a:rPr lang="fr-FR" dirty="0"/>
              <a:t>c’est les </a:t>
            </a:r>
            <a:r>
              <a:rPr lang="fr-FR" dirty="0" smtClean="0"/>
              <a:t>COP1</a:t>
            </a:r>
            <a:endParaRPr lang="fr-FR" dirty="0"/>
          </a:p>
          <a:p>
            <a:endParaRPr lang="fr-FR" dirty="0"/>
          </a:p>
        </p:txBody>
      </p:sp>
    </p:spTree>
    <p:extLst>
      <p:ext uri="{BB962C8B-B14F-4D97-AF65-F5344CB8AC3E}">
        <p14:creationId xmlns:p14="http://schemas.microsoft.com/office/powerpoint/2010/main" val="302824014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9552" y="1484784"/>
            <a:ext cx="8064896" cy="4247317"/>
          </a:xfrm>
          <a:prstGeom prst="rect">
            <a:avLst/>
          </a:prstGeom>
        </p:spPr>
        <p:txBody>
          <a:bodyPr wrap="square">
            <a:spAutoFit/>
          </a:bodyPr>
          <a:lstStyle/>
          <a:p>
            <a:pPr algn="just"/>
            <a:r>
              <a:rPr lang="fr-FR" dirty="0"/>
              <a:t>Les </a:t>
            </a:r>
            <a:r>
              <a:rPr lang="fr-FR" b="1" dirty="0" err="1"/>
              <a:t>endosomes</a:t>
            </a:r>
            <a:r>
              <a:rPr lang="fr-FR" dirty="0"/>
              <a:t> sont des compartiments membranaires que l'on retrouve à l'intérieur des </a:t>
            </a:r>
            <a:r>
              <a:rPr lang="fr-FR" dirty="0" smtClean="0"/>
              <a:t>cellules eucaryotes. </a:t>
            </a:r>
            <a:r>
              <a:rPr lang="fr-FR" dirty="0"/>
              <a:t>C'est un </a:t>
            </a:r>
            <a:r>
              <a:rPr lang="fr-FR" dirty="0" smtClean="0"/>
              <a:t>organite de </a:t>
            </a:r>
            <a:r>
              <a:rPr lang="fr-FR" dirty="0"/>
              <a:t>la voie de transport membranaire </a:t>
            </a:r>
            <a:r>
              <a:rPr lang="fr-FR" dirty="0" err="1"/>
              <a:t>endocytaire</a:t>
            </a:r>
            <a:r>
              <a:rPr lang="fr-FR" dirty="0"/>
              <a:t> provenant du réseau </a:t>
            </a:r>
            <a:r>
              <a:rPr lang="fr-FR" dirty="0" err="1" smtClean="0"/>
              <a:t>trans</a:t>
            </a:r>
            <a:r>
              <a:rPr lang="fr-FR" dirty="0" smtClean="0"/>
              <a:t> golgien</a:t>
            </a:r>
            <a:r>
              <a:rPr lang="fr-FR" dirty="0"/>
              <a:t> : </a:t>
            </a:r>
            <a:endParaRPr lang="fr-FR" dirty="0" smtClean="0"/>
          </a:p>
          <a:p>
            <a:pPr algn="just"/>
            <a:endParaRPr lang="fr-FR" dirty="0"/>
          </a:p>
          <a:p>
            <a:pPr marL="285750" indent="-285750" algn="just">
              <a:buFont typeface="Arial" panose="020B0604020202020204" pitchFamily="34" charset="0"/>
              <a:buChar char="•"/>
            </a:pPr>
            <a:r>
              <a:rPr lang="fr-FR" dirty="0" smtClean="0"/>
              <a:t>les vésicules d‘endocytose </a:t>
            </a:r>
            <a:r>
              <a:rPr lang="fr-FR" dirty="0"/>
              <a:t>s'y accrochent et fusionnent pour </a:t>
            </a:r>
            <a:r>
              <a:rPr lang="fr-FR" dirty="0" err="1"/>
              <a:t>relarguer</a:t>
            </a:r>
            <a:r>
              <a:rPr lang="fr-FR" dirty="0"/>
              <a:t> leur contenu. Les molécules ou </a:t>
            </a:r>
            <a:r>
              <a:rPr lang="fr-FR" dirty="0" smtClean="0"/>
              <a:t>ligands internalisés </a:t>
            </a:r>
            <a:r>
              <a:rPr lang="fr-FR" dirty="0"/>
              <a:t>de la </a:t>
            </a:r>
            <a:r>
              <a:rPr lang="fr-FR" dirty="0" smtClean="0"/>
              <a:t>membrane plasmique(contenus </a:t>
            </a:r>
            <a:r>
              <a:rPr lang="fr-FR" dirty="0"/>
              <a:t>dans ces vésicules) peuvent suivre cette voie jusqu'aux </a:t>
            </a:r>
            <a:r>
              <a:rPr lang="fr-FR" dirty="0" smtClean="0"/>
              <a:t>lysosomes pour </a:t>
            </a:r>
            <a:r>
              <a:rPr lang="fr-FR" dirty="0"/>
              <a:t>être </a:t>
            </a:r>
            <a:r>
              <a:rPr lang="fr-FR" dirty="0" smtClean="0"/>
              <a:t>dégradés. </a:t>
            </a:r>
          </a:p>
          <a:p>
            <a:pPr algn="just"/>
            <a:endParaRPr lang="fr-FR" dirty="0" smtClean="0"/>
          </a:p>
          <a:p>
            <a:pPr marL="285750" indent="-285750" algn="just">
              <a:buFont typeface="Arial" panose="020B0604020202020204" pitchFamily="34" charset="0"/>
              <a:buChar char="•"/>
            </a:pPr>
            <a:r>
              <a:rPr lang="fr-FR" dirty="0" smtClean="0"/>
              <a:t>Les </a:t>
            </a:r>
            <a:r>
              <a:rPr lang="fr-FR" dirty="0"/>
              <a:t>molécules sont également transportées vers les </a:t>
            </a:r>
            <a:r>
              <a:rPr lang="fr-FR" dirty="0" err="1"/>
              <a:t>endosomes</a:t>
            </a:r>
            <a:r>
              <a:rPr lang="fr-FR" dirty="0"/>
              <a:t> à partir du réseau </a:t>
            </a:r>
            <a:r>
              <a:rPr lang="fr-FR" dirty="0" err="1"/>
              <a:t>trans</a:t>
            </a:r>
            <a:r>
              <a:rPr lang="fr-FR" dirty="0"/>
              <a:t>-Golgi et soit continuent vers les lysosomes, soit sont recyclées vers l'appareil de Golgi. </a:t>
            </a:r>
          </a:p>
          <a:p>
            <a:pPr algn="just"/>
            <a:endParaRPr lang="fr-FR" dirty="0" smtClean="0"/>
          </a:p>
          <a:p>
            <a:pPr algn="just"/>
            <a:r>
              <a:rPr lang="fr-FR" dirty="0" smtClean="0"/>
              <a:t>Les </a:t>
            </a:r>
            <a:r>
              <a:rPr lang="fr-FR" dirty="0" err="1"/>
              <a:t>endosomes</a:t>
            </a:r>
            <a:r>
              <a:rPr lang="fr-FR" dirty="0"/>
              <a:t> peuvent être classés en </a:t>
            </a:r>
            <a:r>
              <a:rPr lang="fr-FR" dirty="0" smtClean="0"/>
              <a:t>2 catégories</a:t>
            </a:r>
            <a:r>
              <a:rPr lang="fr-FR" dirty="0"/>
              <a:t> : </a:t>
            </a:r>
            <a:r>
              <a:rPr lang="fr-FR" dirty="0" smtClean="0"/>
              <a:t>précoces ou </a:t>
            </a:r>
            <a:r>
              <a:rPr lang="fr-FR" dirty="0"/>
              <a:t>tardifs, en fonction de leur stade de </a:t>
            </a:r>
            <a:r>
              <a:rPr lang="fr-FR" dirty="0" smtClean="0"/>
              <a:t>post-internalisation.</a:t>
            </a:r>
            <a:endParaRPr lang="fr-FR" dirty="0"/>
          </a:p>
        </p:txBody>
      </p:sp>
      <p:sp>
        <p:nvSpPr>
          <p:cNvPr id="3" name="Rectangle 2"/>
          <p:cNvSpPr/>
          <p:nvPr/>
        </p:nvSpPr>
        <p:spPr>
          <a:xfrm>
            <a:off x="3275856" y="620688"/>
            <a:ext cx="2826415" cy="584775"/>
          </a:xfrm>
          <a:prstGeom prst="rect">
            <a:avLst/>
          </a:prstGeom>
          <a:ln w="28575">
            <a:solidFill>
              <a:schemeClr val="tx1"/>
            </a:solidFill>
          </a:ln>
        </p:spPr>
        <p:txBody>
          <a:bodyPr wrap="none">
            <a:spAutoFit/>
          </a:bodyPr>
          <a:lstStyle/>
          <a:p>
            <a:r>
              <a:rPr lang="fr-FR" sz="3200" dirty="0"/>
              <a:t>Les </a:t>
            </a:r>
            <a:r>
              <a:rPr lang="fr-FR" sz="3200" dirty="0" smtClean="0"/>
              <a:t>Endosomes </a:t>
            </a:r>
            <a:endParaRPr lang="fr-FR" sz="3200" dirty="0"/>
          </a:p>
        </p:txBody>
      </p:sp>
    </p:spTree>
    <p:extLst>
      <p:ext uri="{BB962C8B-B14F-4D97-AF65-F5344CB8AC3E}">
        <p14:creationId xmlns:p14="http://schemas.microsoft.com/office/powerpoint/2010/main" val="284569934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0"/>
            <a:ext cx="8856984" cy="6832640"/>
          </a:xfrm>
          <a:prstGeom prst="rect">
            <a:avLst/>
          </a:prstGeom>
        </p:spPr>
        <p:txBody>
          <a:bodyPr wrap="square">
            <a:spAutoFit/>
          </a:bodyPr>
          <a:lstStyle/>
          <a:p>
            <a:r>
              <a:rPr lang="fr-FR" b="1" dirty="0" err="1"/>
              <a:t>Endosome</a:t>
            </a:r>
            <a:r>
              <a:rPr lang="fr-FR" b="1" dirty="0"/>
              <a:t> </a:t>
            </a:r>
            <a:r>
              <a:rPr lang="fr-FR" b="1" dirty="0" smtClean="0"/>
              <a:t>précoce</a:t>
            </a:r>
            <a:endParaRPr lang="fr-FR" dirty="0"/>
          </a:p>
          <a:p>
            <a:pPr algn="just"/>
            <a:r>
              <a:rPr lang="fr-FR" sz="2000" dirty="0"/>
              <a:t>Les </a:t>
            </a:r>
            <a:r>
              <a:rPr lang="fr-FR" sz="2000" dirty="0" err="1"/>
              <a:t>endosomes</a:t>
            </a:r>
            <a:r>
              <a:rPr lang="fr-FR" sz="2000" dirty="0"/>
              <a:t> précoces sont des organites </a:t>
            </a:r>
            <a:r>
              <a:rPr lang="fr-FR" sz="2000" dirty="0" smtClean="0"/>
              <a:t>situé </a:t>
            </a:r>
            <a:r>
              <a:rPr lang="fr-FR" sz="2000" dirty="0"/>
              <a:t>à la périphérie de la </a:t>
            </a:r>
            <a:r>
              <a:rPr lang="fr-FR" sz="2000" dirty="0" smtClean="0"/>
              <a:t>cellule, ils reçoivent </a:t>
            </a:r>
            <a:r>
              <a:rPr lang="fr-FR" sz="2000" dirty="0"/>
              <a:t>des macromolécules et des solutés de l'environnement extracellulaire. La fonction principale des </a:t>
            </a:r>
            <a:r>
              <a:rPr lang="fr-FR" sz="2000" dirty="0" err="1"/>
              <a:t>endosomes</a:t>
            </a:r>
            <a:r>
              <a:rPr lang="fr-FR" sz="2000" dirty="0"/>
              <a:t> précoces est de trier ces cargaisons dans les compartiments de recyclage et de dégradation de la cellule</a:t>
            </a:r>
            <a:r>
              <a:rPr lang="fr-FR" sz="2000" dirty="0" smtClean="0"/>
              <a:t>.</a:t>
            </a:r>
          </a:p>
          <a:p>
            <a:pPr algn="just"/>
            <a:r>
              <a:rPr lang="fr-FR" sz="2000" dirty="0" smtClean="0"/>
              <a:t>Ils ont un pH </a:t>
            </a:r>
            <a:r>
              <a:rPr lang="fr-FR" sz="2000" dirty="0"/>
              <a:t>égal à 6, car dans </a:t>
            </a:r>
            <a:r>
              <a:rPr lang="fr-FR" sz="2000" dirty="0" smtClean="0"/>
              <a:t>leurs membrane</a:t>
            </a:r>
            <a:r>
              <a:rPr lang="fr-FR" sz="2000" dirty="0"/>
              <a:t>, </a:t>
            </a:r>
            <a:r>
              <a:rPr lang="fr-FR" sz="2000" dirty="0" smtClean="0"/>
              <a:t>ils possèdent </a:t>
            </a:r>
            <a:r>
              <a:rPr lang="fr-FR" sz="2000" dirty="0"/>
              <a:t>une pompe à protons ATPase qui transporte des ions hydrogènes H+ du cytosol vers l'intérieur des </a:t>
            </a:r>
            <a:r>
              <a:rPr lang="fr-FR" sz="2000" dirty="0" err="1" smtClean="0"/>
              <a:t>endosomes</a:t>
            </a:r>
            <a:r>
              <a:rPr lang="fr-FR" sz="2000" dirty="0" smtClean="0"/>
              <a:t>, ce </a:t>
            </a:r>
            <a:r>
              <a:rPr lang="fr-FR" sz="2000" dirty="0"/>
              <a:t>qui provoque la dissociation de la plupart des ligands </a:t>
            </a:r>
            <a:r>
              <a:rPr lang="fr-FR" sz="2000" dirty="0" err="1"/>
              <a:t>endocytés</a:t>
            </a:r>
            <a:r>
              <a:rPr lang="fr-FR" sz="2000" dirty="0"/>
              <a:t> encore fixés à leurs récepteurs. . </a:t>
            </a:r>
          </a:p>
          <a:p>
            <a:pPr algn="just"/>
            <a:r>
              <a:rPr lang="fr-FR" sz="2000" dirty="0" smtClean="0"/>
              <a:t>Une </a:t>
            </a:r>
            <a:r>
              <a:rPr lang="fr-FR" sz="2000" dirty="0"/>
              <a:t>fois dans l'</a:t>
            </a:r>
            <a:r>
              <a:rPr lang="fr-FR" sz="2000" dirty="0" err="1"/>
              <a:t>endosome</a:t>
            </a:r>
            <a:r>
              <a:rPr lang="fr-FR" sz="2000" dirty="0"/>
              <a:t> précoce, le matériau </a:t>
            </a:r>
            <a:r>
              <a:rPr lang="fr-FR" sz="2000" dirty="0" err="1"/>
              <a:t>endocité</a:t>
            </a:r>
            <a:r>
              <a:rPr lang="fr-FR" sz="2000" dirty="0"/>
              <a:t> peut suivre deux voies :</a:t>
            </a:r>
          </a:p>
          <a:p>
            <a:pPr algn="just"/>
            <a:endParaRPr lang="fr-FR" sz="2000" dirty="0" smtClean="0"/>
          </a:p>
          <a:p>
            <a:pPr marL="342900" indent="-342900" algn="just">
              <a:buFont typeface="Arial" panose="020B0604020202020204" pitchFamily="34" charset="0"/>
              <a:buChar char="•"/>
            </a:pPr>
            <a:r>
              <a:rPr lang="fr-FR" sz="2000" dirty="0" smtClean="0"/>
              <a:t>Etre recyclé </a:t>
            </a:r>
            <a:r>
              <a:rPr lang="fr-FR" sz="2000" dirty="0"/>
              <a:t>au moyen du recyclage des </a:t>
            </a:r>
            <a:r>
              <a:rPr lang="fr-FR" sz="2000" dirty="0" smtClean="0"/>
              <a:t>vésicules </a:t>
            </a:r>
            <a:r>
              <a:rPr lang="fr-FR" sz="2000" dirty="0"/>
              <a:t>et retourner au </a:t>
            </a:r>
            <a:r>
              <a:rPr lang="fr-FR" sz="2000" dirty="0" smtClean="0"/>
              <a:t>domaine membranaire.</a:t>
            </a:r>
          </a:p>
          <a:p>
            <a:pPr marL="342900" indent="-342900" algn="just">
              <a:buFont typeface="Arial" panose="020B0604020202020204" pitchFamily="34" charset="0"/>
              <a:buChar char="•"/>
            </a:pPr>
            <a:r>
              <a:rPr lang="fr-FR" sz="2000" dirty="0" smtClean="0"/>
              <a:t>Suivre </a:t>
            </a:r>
            <a:r>
              <a:rPr lang="fr-FR" sz="2000" dirty="0"/>
              <a:t>le chemin de l'</a:t>
            </a:r>
            <a:r>
              <a:rPr lang="fr-FR" sz="2000" dirty="0" err="1"/>
              <a:t>endosome</a:t>
            </a:r>
            <a:r>
              <a:rPr lang="fr-FR" sz="2000" dirty="0"/>
              <a:t> tardif pour être dégradé</a:t>
            </a:r>
            <a:r>
              <a:rPr lang="fr-FR" sz="2000" dirty="0" smtClean="0"/>
              <a:t>.</a:t>
            </a:r>
          </a:p>
          <a:p>
            <a:pPr marL="342900" indent="-342900" algn="just">
              <a:buFont typeface="Arial" panose="020B0604020202020204" pitchFamily="34" charset="0"/>
              <a:buChar char="•"/>
            </a:pPr>
            <a:endParaRPr lang="fr-FR" sz="2000" dirty="0"/>
          </a:p>
          <a:p>
            <a:pPr algn="just"/>
            <a:r>
              <a:rPr lang="fr-FR" sz="2000" b="1" dirty="0" err="1" smtClean="0"/>
              <a:t>Endosome</a:t>
            </a:r>
            <a:r>
              <a:rPr lang="fr-FR" sz="2000" b="1" dirty="0"/>
              <a:t> </a:t>
            </a:r>
            <a:r>
              <a:rPr lang="fr-FR" sz="2000" b="1" dirty="0" smtClean="0"/>
              <a:t>tardif</a:t>
            </a:r>
            <a:r>
              <a:rPr lang="fr-FR" sz="2000" dirty="0" smtClean="0"/>
              <a:t> </a:t>
            </a:r>
          </a:p>
          <a:p>
            <a:pPr algn="just"/>
            <a:r>
              <a:rPr lang="fr-FR" sz="2000" dirty="0" smtClean="0"/>
              <a:t>Le </a:t>
            </a:r>
            <a:r>
              <a:rPr lang="fr-FR" sz="2000" dirty="0"/>
              <a:t>pH est maintenant tombé à 5,0 et la teneur en hydrolases est très </a:t>
            </a:r>
            <a:r>
              <a:rPr lang="fr-FR" sz="2000" dirty="0" smtClean="0"/>
              <a:t>haute.</a:t>
            </a:r>
            <a:endParaRPr lang="fr-FR" sz="2000" dirty="0"/>
          </a:p>
          <a:p>
            <a:pPr algn="just"/>
            <a:r>
              <a:rPr lang="fr-FR" sz="2000" dirty="0"/>
              <a:t>Les </a:t>
            </a:r>
            <a:r>
              <a:rPr lang="fr-FR" sz="2000" dirty="0" err="1"/>
              <a:t>endosomes</a:t>
            </a:r>
            <a:r>
              <a:rPr lang="fr-FR" sz="2000" dirty="0"/>
              <a:t> </a:t>
            </a:r>
            <a:r>
              <a:rPr lang="fr-FR" sz="2000" dirty="0" smtClean="0"/>
              <a:t>tardifs se </a:t>
            </a:r>
            <a:r>
              <a:rPr lang="fr-FR" sz="2000" dirty="0"/>
              <a:t>trouvent dans les régions </a:t>
            </a:r>
            <a:r>
              <a:rPr lang="fr-FR" sz="2000" dirty="0" err="1"/>
              <a:t>juxtanucléaires</a:t>
            </a:r>
            <a:r>
              <a:rPr lang="fr-FR" sz="2000" dirty="0"/>
              <a:t> et concentrés au centre organisateur des microtubules. Ils constituent un poste de tri important dans la voie </a:t>
            </a:r>
            <a:r>
              <a:rPr lang="fr-FR" sz="2000" dirty="0" err="1"/>
              <a:t>endocytaire</a:t>
            </a:r>
            <a:r>
              <a:rPr lang="fr-FR" sz="2000" dirty="0"/>
              <a:t>. </a:t>
            </a:r>
            <a:endParaRPr lang="fr-FR" sz="2000" dirty="0" smtClean="0"/>
          </a:p>
          <a:p>
            <a:pPr algn="just"/>
            <a:r>
              <a:rPr lang="fr-FR" sz="2000" dirty="0" smtClean="0"/>
              <a:t>Le </a:t>
            </a:r>
            <a:r>
              <a:rPr lang="fr-FR" sz="2000" dirty="0"/>
              <a:t>recyclage vers la membrane plasmique et vers l'appareil de Golgi intervient dans les </a:t>
            </a:r>
            <a:r>
              <a:rPr lang="fr-FR" sz="2000" dirty="0" err="1"/>
              <a:t>endosomes</a:t>
            </a:r>
            <a:r>
              <a:rPr lang="fr-FR" sz="2000" dirty="0"/>
              <a:t> tardifs.</a:t>
            </a:r>
          </a:p>
        </p:txBody>
      </p:sp>
    </p:spTree>
    <p:extLst>
      <p:ext uri="{BB962C8B-B14F-4D97-AF65-F5344CB8AC3E}">
        <p14:creationId xmlns:p14="http://schemas.microsoft.com/office/powerpoint/2010/main" val="3758028468"/>
      </p:ext>
    </p:extLst>
  </p:cSld>
  <p:clrMapOvr>
    <a:masterClrMapping/>
  </p:clrMapOvr>
  <p:timing>
    <p:tnLst>
      <p:par>
        <p:cTn id="1" dur="indefinite" restart="never" nodeType="tmRoot"/>
      </p:par>
    </p:tn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11790</TotalTime>
  <Words>1404</Words>
  <Application>Microsoft Office PowerPoint</Application>
  <PresentationFormat>Affichage à l'écran (4:3)</PresentationFormat>
  <Paragraphs>137</Paragraphs>
  <Slides>30</Slides>
  <Notes>2</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30</vt:i4>
      </vt:variant>
    </vt:vector>
  </HeadingPairs>
  <TitlesOfParts>
    <vt:vector size="37" baseType="lpstr">
      <vt:lpstr>Arial</vt:lpstr>
      <vt:lpstr>Calibri</vt:lpstr>
      <vt:lpstr>Century Schoolbook</vt:lpstr>
      <vt:lpstr>Symbol</vt:lpstr>
      <vt:lpstr>Times New Roman</vt:lpstr>
      <vt:lpstr>Verdana</vt:lpstr>
      <vt:lpstr>Thème Office</vt:lpstr>
      <vt:lpstr>Le  Système Endomembranaire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RETICULUM ENDOPLASMIQUE  &amp;  APPAREIL DE GOLGI</dc:title>
  <dc:creator>user</dc:creator>
  <cp:lastModifiedBy>Amel</cp:lastModifiedBy>
  <cp:revision>194</cp:revision>
  <dcterms:created xsi:type="dcterms:W3CDTF">2014-04-14T17:02:35Z</dcterms:created>
  <dcterms:modified xsi:type="dcterms:W3CDTF">2025-05-16T18:04:39Z</dcterms:modified>
</cp:coreProperties>
</file>