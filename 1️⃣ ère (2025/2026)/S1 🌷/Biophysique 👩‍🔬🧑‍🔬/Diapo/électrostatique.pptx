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42_B0C97FEC.xml" ContentType="application/vnd.ms-powerpoint.comment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76"/>
  </p:notesMasterIdLst>
  <p:sldIdLst>
    <p:sldId id="365" r:id="rId2"/>
    <p:sldId id="323" r:id="rId3"/>
    <p:sldId id="366" r:id="rId4"/>
    <p:sldId id="322" r:id="rId5"/>
    <p:sldId id="396" r:id="rId6"/>
    <p:sldId id="321" r:id="rId7"/>
    <p:sldId id="319" r:id="rId8"/>
    <p:sldId id="397" r:id="rId9"/>
    <p:sldId id="324" r:id="rId10"/>
    <p:sldId id="328" r:id="rId11"/>
    <p:sldId id="327" r:id="rId12"/>
    <p:sldId id="329" r:id="rId13"/>
    <p:sldId id="343" r:id="rId14"/>
    <p:sldId id="326" r:id="rId15"/>
    <p:sldId id="330" r:id="rId16"/>
    <p:sldId id="367" r:id="rId17"/>
    <p:sldId id="368" r:id="rId18"/>
    <p:sldId id="332" r:id="rId19"/>
    <p:sldId id="384" r:id="rId20"/>
    <p:sldId id="385" r:id="rId21"/>
    <p:sldId id="386" r:id="rId22"/>
    <p:sldId id="387" r:id="rId23"/>
    <p:sldId id="388" r:id="rId24"/>
    <p:sldId id="333" r:id="rId25"/>
    <p:sldId id="335" r:id="rId26"/>
    <p:sldId id="390" r:id="rId27"/>
    <p:sldId id="391" r:id="rId28"/>
    <p:sldId id="336" r:id="rId29"/>
    <p:sldId id="337" r:id="rId30"/>
    <p:sldId id="338" r:id="rId31"/>
    <p:sldId id="398" r:id="rId32"/>
    <p:sldId id="339" r:id="rId33"/>
    <p:sldId id="392" r:id="rId34"/>
    <p:sldId id="393" r:id="rId35"/>
    <p:sldId id="395" r:id="rId36"/>
    <p:sldId id="340" r:id="rId37"/>
    <p:sldId id="341" r:id="rId38"/>
    <p:sldId id="342" r:id="rId39"/>
    <p:sldId id="345" r:id="rId40"/>
    <p:sldId id="346" r:id="rId41"/>
    <p:sldId id="347" r:id="rId42"/>
    <p:sldId id="399" r:id="rId43"/>
    <p:sldId id="400" r:id="rId44"/>
    <p:sldId id="401" r:id="rId45"/>
    <p:sldId id="348" r:id="rId46"/>
    <p:sldId id="349" r:id="rId47"/>
    <p:sldId id="351" r:id="rId48"/>
    <p:sldId id="353" r:id="rId49"/>
    <p:sldId id="354" r:id="rId50"/>
    <p:sldId id="355" r:id="rId51"/>
    <p:sldId id="403" r:id="rId52"/>
    <p:sldId id="404" r:id="rId53"/>
    <p:sldId id="352" r:id="rId54"/>
    <p:sldId id="356" r:id="rId55"/>
    <p:sldId id="357" r:id="rId56"/>
    <p:sldId id="358" r:id="rId57"/>
    <p:sldId id="359" r:id="rId58"/>
    <p:sldId id="360" r:id="rId59"/>
    <p:sldId id="361" r:id="rId60"/>
    <p:sldId id="362" r:id="rId61"/>
    <p:sldId id="363" r:id="rId62"/>
    <p:sldId id="344" r:id="rId63"/>
    <p:sldId id="364" r:id="rId64"/>
    <p:sldId id="369" r:id="rId65"/>
    <p:sldId id="380" r:id="rId66"/>
    <p:sldId id="381" r:id="rId67"/>
    <p:sldId id="382" r:id="rId68"/>
    <p:sldId id="383" r:id="rId69"/>
    <p:sldId id="405" r:id="rId70"/>
    <p:sldId id="406" r:id="rId71"/>
    <p:sldId id="407" r:id="rId72"/>
    <p:sldId id="408" r:id="rId73"/>
    <p:sldId id="409" r:id="rId74"/>
    <p:sldId id="410" r:id="rId75"/>
  </p:sldIdLst>
  <p:sldSz cx="12192000" cy="6858000"/>
  <p:notesSz cx="6858000" cy="9144000"/>
  <p:defaultTextStyle>
    <a:defPPr>
      <a:defRPr lang="fr-D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476FAD-0E1D-3FA8-E00E-A276F85A20B4}" name="Halima Allouache" initials="HA" userId="0875032ff6782b0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2998" autoAdjust="0"/>
  </p:normalViewPr>
  <p:slideViewPr>
    <p:cSldViewPr snapToGrid="0">
      <p:cViewPr varScale="1">
        <p:scale>
          <a:sx n="59" d="100"/>
          <a:sy n="59" d="100"/>
        </p:scale>
        <p:origin x="960" y="48"/>
      </p:cViewPr>
      <p:guideLst/>
    </p:cSldViewPr>
  </p:slideViewPr>
  <p:outlineViewPr>
    <p:cViewPr>
      <p:scale>
        <a:sx n="33" d="100"/>
        <a:sy n="33" d="100"/>
      </p:scale>
      <p:origin x="0" y="-100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omments/modernComment_142_B0C97FEC.xml><?xml version="1.0" encoding="utf-8"?>
<p188:cmLst xmlns:a="http://schemas.openxmlformats.org/drawingml/2006/main" xmlns:r="http://schemas.openxmlformats.org/officeDocument/2006/relationships" xmlns:p188="http://schemas.microsoft.com/office/powerpoint/2018/8/main">
  <p188:cm id="{3785077D-B2CE-484B-806D-A7C8FEF5EF46}" authorId="{0A476FAD-0E1D-3FA8-E00E-A276F85A20B4}" created="2025-10-09T10:21:35.455">
    <pc:sldMkLst xmlns:pc="http://schemas.microsoft.com/office/powerpoint/2013/main/command">
      <pc:docMk/>
      <pc:sldMk cId="2965995500" sldId="322"/>
    </pc:sldMkLst>
    <p188:txBody>
      <a:bodyPr/>
      <a:lstStyle/>
      <a:p>
        <a:r>
          <a:rPr lang="fr-FR"/>
          <a:t> Les quatre forces fondamentales (ou interactions) de la nature sont :
L'interaction forte (qui lie les quarks et les nucléons dans le noyau).
L'interaction électromagnétique (qui inclut les interactions électriques et magnétiques).
L'interaction faible (responsable de la désintégration radioactive).
L'interaction gravitationnelle (ou gravité).</a:t>
        </a:r>
      </a:p>
    </p188:txBody>
    <p188:extLst>
      <p:ext xmlns:p="http://schemas.openxmlformats.org/presentationml/2006/main" uri="{57CB4572-C831-44C2-8A1C-0ADB6CCDFE69}">
        <p223:reactions xmlns:p223="http://schemas.microsoft.com/office/powerpoint/2022/03/main">
          <p223:rxn type="👍">
            <p223:instance time="2025-10-09T10:23:47.986" authorId="{0A476FAD-0E1D-3FA8-E00E-A276F85A20B4}"/>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12FCCB-C142-4874-8A31-C0D34ACEB84D}" type="datetimeFigureOut">
              <a:rPr lang="fr-FR" smtClean="0"/>
              <a:t>25/11/2025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3A2342-4E33-4F33-ABA8-2621B3178D1A}" type="slidenum">
              <a:rPr lang="fr-FR" smtClean="0"/>
              <a:t>‹N°›</a:t>
            </a:fld>
            <a:endParaRPr lang="fr-FR"/>
          </a:p>
        </p:txBody>
      </p:sp>
    </p:spTree>
    <p:extLst>
      <p:ext uri="{BB962C8B-B14F-4D97-AF65-F5344CB8AC3E}">
        <p14:creationId xmlns:p14="http://schemas.microsoft.com/office/powerpoint/2010/main" val="5307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Les quatre forces fondamentales sont :1.gravitation 2.Interation électromagnétique 3.Intération nucléaire fort 4.intéretion nucléaire faible</a:t>
            </a:r>
          </a:p>
        </p:txBody>
      </p:sp>
      <p:sp>
        <p:nvSpPr>
          <p:cNvPr id="4" name="Espace réservé du numéro de diapositive 3"/>
          <p:cNvSpPr>
            <a:spLocks noGrp="1"/>
          </p:cNvSpPr>
          <p:nvPr>
            <p:ph type="sldNum" sz="quarter" idx="5"/>
          </p:nvPr>
        </p:nvSpPr>
        <p:spPr/>
        <p:txBody>
          <a:bodyPr/>
          <a:lstStyle/>
          <a:p>
            <a:fld id="{A23A2342-4E33-4F33-ABA8-2621B3178D1A}" type="slidenum">
              <a:rPr lang="fr-FR" smtClean="0"/>
              <a:t>4</a:t>
            </a:fld>
            <a:endParaRPr lang="fr-FR"/>
          </a:p>
        </p:txBody>
      </p:sp>
    </p:spTree>
    <p:extLst>
      <p:ext uri="{BB962C8B-B14F-4D97-AF65-F5344CB8AC3E}">
        <p14:creationId xmlns:p14="http://schemas.microsoft.com/office/powerpoint/2010/main" val="2744281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23A2342-4E33-4F33-ABA8-2621B3178D1A}" type="slidenum">
              <a:rPr lang="fr-FR" smtClean="0"/>
              <a:t>29</a:t>
            </a:fld>
            <a:endParaRPr lang="fr-FR"/>
          </a:p>
        </p:txBody>
      </p:sp>
    </p:spTree>
    <p:extLst>
      <p:ext uri="{BB962C8B-B14F-4D97-AF65-F5344CB8AC3E}">
        <p14:creationId xmlns:p14="http://schemas.microsoft.com/office/powerpoint/2010/main" val="37325287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Diapositive de titre">
    <p:spTree>
      <p:nvGrpSpPr>
        <p:cNvPr id="1" name="Shape 12"/>
        <p:cNvGrpSpPr/>
        <p:nvPr/>
      </p:nvGrpSpPr>
      <p:grpSpPr>
        <a:xfrm>
          <a:off x="0" y="0"/>
          <a:ext cx="0" cy="0"/>
          <a:chOff x="0" y="0"/>
          <a:chExt cx="0" cy="0"/>
        </a:xfrm>
      </p:grpSpPr>
      <p:pic>
        <p:nvPicPr>
          <p:cNvPr id="13" name="Google Shape;13;p2" descr="C1-HD-BTM.png"/>
          <p:cNvPicPr preferRelativeResize="0"/>
          <p:nvPr/>
        </p:nvPicPr>
        <p:blipFill rotWithShape="1">
          <a:blip r:embed="rId2">
            <a:alphaModFix/>
          </a:blip>
          <a:srcRect/>
          <a:stretch/>
        </p:blipFill>
        <p:spPr>
          <a:xfrm>
            <a:off x="0" y="4375151"/>
            <a:ext cx="12192000" cy="2482851"/>
          </a:xfrm>
          <a:prstGeom prst="rect">
            <a:avLst/>
          </a:prstGeom>
          <a:noFill/>
          <a:ln>
            <a:noFill/>
          </a:ln>
        </p:spPr>
      </p:pic>
      <p:sp>
        <p:nvSpPr>
          <p:cNvPr id="14" name="Google Shape;14;p2"/>
          <p:cNvSpPr txBox="1">
            <a:spLocks noGrp="1"/>
          </p:cNvSpPr>
          <p:nvPr>
            <p:ph type="ctrTitle"/>
          </p:nvPr>
        </p:nvSpPr>
        <p:spPr>
          <a:xfrm>
            <a:off x="1371600" y="1803405"/>
            <a:ext cx="9448800" cy="18252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4500"/>
              <a:buFont typeface="Century Gothic"/>
              <a:buNone/>
              <a:defRPr sz="6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 name="Google Shape;15;p2"/>
          <p:cNvSpPr txBox="1">
            <a:spLocks noGrp="1"/>
          </p:cNvSpPr>
          <p:nvPr>
            <p:ph type="subTitle" idx="1"/>
          </p:nvPr>
        </p:nvSpPr>
        <p:spPr>
          <a:xfrm>
            <a:off x="1371600" y="3632201"/>
            <a:ext cx="9448800" cy="6856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1067"/>
              </a:spcBef>
              <a:spcAft>
                <a:spcPts val="0"/>
              </a:spcAft>
              <a:buClr>
                <a:schemeClr val="lt1"/>
              </a:buClr>
              <a:buSzPts val="1500"/>
              <a:buNone/>
              <a:defRPr sz="2000"/>
            </a:lvl1pPr>
            <a:lvl2pPr lvl="1" algn="ctr">
              <a:lnSpc>
                <a:spcPct val="90000"/>
              </a:lnSpc>
              <a:spcBef>
                <a:spcPts val="533"/>
              </a:spcBef>
              <a:spcAft>
                <a:spcPts val="0"/>
              </a:spcAft>
              <a:buClr>
                <a:schemeClr val="lt1"/>
              </a:buClr>
              <a:buSzPts val="1500"/>
              <a:buNone/>
              <a:defRPr sz="2000"/>
            </a:lvl2pPr>
            <a:lvl3pPr lvl="2" algn="ctr">
              <a:lnSpc>
                <a:spcPct val="90000"/>
              </a:lnSpc>
              <a:spcBef>
                <a:spcPts val="533"/>
              </a:spcBef>
              <a:spcAft>
                <a:spcPts val="0"/>
              </a:spcAft>
              <a:buClr>
                <a:schemeClr val="lt1"/>
              </a:buClr>
              <a:buSzPts val="1400"/>
              <a:buNone/>
              <a:defRPr sz="1867"/>
            </a:lvl3pPr>
            <a:lvl4pPr lvl="3" algn="ctr">
              <a:lnSpc>
                <a:spcPct val="90000"/>
              </a:lnSpc>
              <a:spcBef>
                <a:spcPts val="533"/>
              </a:spcBef>
              <a:spcAft>
                <a:spcPts val="0"/>
              </a:spcAft>
              <a:buClr>
                <a:schemeClr val="lt1"/>
              </a:buClr>
              <a:buSzPts val="1200"/>
              <a:buNone/>
              <a:defRPr sz="1600"/>
            </a:lvl4pPr>
            <a:lvl5pPr lvl="4" algn="ctr">
              <a:lnSpc>
                <a:spcPct val="90000"/>
              </a:lnSpc>
              <a:spcBef>
                <a:spcPts val="533"/>
              </a:spcBef>
              <a:spcAft>
                <a:spcPts val="0"/>
              </a:spcAft>
              <a:buClr>
                <a:schemeClr val="lt1"/>
              </a:buClr>
              <a:buSzPts val="1200"/>
              <a:buNone/>
              <a:defRPr sz="1600"/>
            </a:lvl5pPr>
            <a:lvl6pPr lvl="5" algn="ctr">
              <a:lnSpc>
                <a:spcPct val="90000"/>
              </a:lnSpc>
              <a:spcBef>
                <a:spcPts val="533"/>
              </a:spcBef>
              <a:spcAft>
                <a:spcPts val="0"/>
              </a:spcAft>
              <a:buClr>
                <a:schemeClr val="lt1"/>
              </a:buClr>
              <a:buSzPts val="1200"/>
              <a:buNone/>
              <a:defRPr sz="1600"/>
            </a:lvl6pPr>
            <a:lvl7pPr lvl="6" algn="ctr">
              <a:lnSpc>
                <a:spcPct val="90000"/>
              </a:lnSpc>
              <a:spcBef>
                <a:spcPts val="533"/>
              </a:spcBef>
              <a:spcAft>
                <a:spcPts val="0"/>
              </a:spcAft>
              <a:buClr>
                <a:schemeClr val="lt1"/>
              </a:buClr>
              <a:buSzPts val="1200"/>
              <a:buNone/>
              <a:defRPr sz="1600"/>
            </a:lvl7pPr>
            <a:lvl8pPr lvl="7" algn="ctr">
              <a:lnSpc>
                <a:spcPct val="90000"/>
              </a:lnSpc>
              <a:spcBef>
                <a:spcPts val="533"/>
              </a:spcBef>
              <a:spcAft>
                <a:spcPts val="0"/>
              </a:spcAft>
              <a:buClr>
                <a:schemeClr val="lt1"/>
              </a:buClr>
              <a:buSzPts val="1200"/>
              <a:buNone/>
              <a:defRPr sz="1600"/>
            </a:lvl8pPr>
            <a:lvl9pPr lvl="8" algn="ctr">
              <a:lnSpc>
                <a:spcPct val="90000"/>
              </a:lnSpc>
              <a:spcBef>
                <a:spcPts val="533"/>
              </a:spcBef>
              <a:spcAft>
                <a:spcPts val="0"/>
              </a:spcAft>
              <a:buClr>
                <a:schemeClr val="lt1"/>
              </a:buClr>
              <a:buSzPts val="1200"/>
              <a:buNone/>
              <a:defRPr sz="1600"/>
            </a:lvl9pPr>
          </a:lstStyle>
          <a:p>
            <a:endParaRPr/>
          </a:p>
        </p:txBody>
      </p:sp>
      <p:sp>
        <p:nvSpPr>
          <p:cNvPr id="16" name="Google Shape;16;p2"/>
          <p:cNvSpPr txBox="1">
            <a:spLocks noGrp="1"/>
          </p:cNvSpPr>
          <p:nvPr>
            <p:ph type="dt" idx="10"/>
          </p:nvPr>
        </p:nvSpPr>
        <p:spPr>
          <a:xfrm>
            <a:off x="7909561" y="4314328"/>
            <a:ext cx="2910800" cy="3748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7" name="Google Shape;17;p2"/>
          <p:cNvSpPr txBox="1">
            <a:spLocks noGrp="1"/>
          </p:cNvSpPr>
          <p:nvPr>
            <p:ph type="ftr" idx="11"/>
          </p:nvPr>
        </p:nvSpPr>
        <p:spPr>
          <a:xfrm>
            <a:off x="1371600" y="4323845"/>
            <a:ext cx="64008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8" name="Google Shape;18;p2"/>
          <p:cNvSpPr txBox="1">
            <a:spLocks noGrp="1"/>
          </p:cNvSpPr>
          <p:nvPr>
            <p:ph type="sldNum" idx="12"/>
          </p:nvPr>
        </p:nvSpPr>
        <p:spPr>
          <a:xfrm>
            <a:off x="8077200" y="1430867"/>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3844375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re de section" type="secHead">
  <p:cSld name="Titre de section">
    <p:spTree>
      <p:nvGrpSpPr>
        <p:cNvPr id="1" name="Shape 30"/>
        <p:cNvGrpSpPr/>
        <p:nvPr/>
      </p:nvGrpSpPr>
      <p:grpSpPr>
        <a:xfrm>
          <a:off x="0" y="0"/>
          <a:ext cx="0" cy="0"/>
          <a:chOff x="0" y="0"/>
          <a:chExt cx="0" cy="0"/>
        </a:xfrm>
      </p:grpSpPr>
      <p:pic>
        <p:nvPicPr>
          <p:cNvPr id="31" name="Google Shape;31;p5" descr="C1-HD-BTM.png"/>
          <p:cNvPicPr preferRelativeResize="0"/>
          <p:nvPr/>
        </p:nvPicPr>
        <p:blipFill rotWithShape="1">
          <a:blip r:embed="rId2">
            <a:alphaModFix/>
          </a:blip>
          <a:srcRect/>
          <a:stretch/>
        </p:blipFill>
        <p:spPr>
          <a:xfrm>
            <a:off x="0" y="4375151"/>
            <a:ext cx="12192000" cy="2482851"/>
          </a:xfrm>
          <a:prstGeom prst="rect">
            <a:avLst/>
          </a:prstGeom>
          <a:noFill/>
          <a:ln>
            <a:noFill/>
          </a:ln>
        </p:spPr>
      </p:pic>
      <p:sp>
        <p:nvSpPr>
          <p:cNvPr id="32" name="Google Shape;32;p5"/>
          <p:cNvSpPr txBox="1">
            <a:spLocks noGrp="1"/>
          </p:cNvSpPr>
          <p:nvPr>
            <p:ph type="title"/>
          </p:nvPr>
        </p:nvSpPr>
        <p:spPr>
          <a:xfrm>
            <a:off x="685800" y="753533"/>
            <a:ext cx="10820400" cy="2802000"/>
          </a:xfrm>
          <a:prstGeom prst="rect">
            <a:avLst/>
          </a:prstGeom>
          <a:noFill/>
          <a:ln>
            <a:noFill/>
          </a:ln>
        </p:spPr>
        <p:txBody>
          <a:bodyPr spcFirstLastPara="1" wrap="square" lIns="68575" tIns="34275" rIns="68575" bIns="34275" anchor="b" anchorCtr="0">
            <a:normAutofit/>
          </a:bodyPr>
          <a:lstStyle>
            <a:lvl1pPr lvl="0" algn="r">
              <a:lnSpc>
                <a:spcPct val="90000"/>
              </a:lnSpc>
              <a:spcBef>
                <a:spcPts val="0"/>
              </a:spcBef>
              <a:spcAft>
                <a:spcPts val="0"/>
              </a:spcAft>
              <a:buClr>
                <a:schemeClr val="lt1"/>
              </a:buClr>
              <a:buSzPts val="3000"/>
              <a:buFont typeface="Century Gothic"/>
              <a:buNone/>
              <a:defRPr sz="4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3" name="Google Shape;33;p5"/>
          <p:cNvSpPr txBox="1">
            <a:spLocks noGrp="1"/>
          </p:cNvSpPr>
          <p:nvPr>
            <p:ph type="body" idx="1"/>
          </p:nvPr>
        </p:nvSpPr>
        <p:spPr>
          <a:xfrm>
            <a:off x="1024467" y="3641725"/>
            <a:ext cx="10490400" cy="955600"/>
          </a:xfrm>
          <a:prstGeom prst="rect">
            <a:avLst/>
          </a:prstGeom>
          <a:noFill/>
          <a:ln>
            <a:noFill/>
          </a:ln>
        </p:spPr>
        <p:txBody>
          <a:bodyPr spcFirstLastPara="1" wrap="square" lIns="68575" tIns="34275" rIns="68575" bIns="34275" anchor="t" anchorCtr="0">
            <a:normAutofit/>
          </a:bodyPr>
          <a:lstStyle>
            <a:lvl1pPr marL="609585" lvl="0" indent="-304792" algn="r">
              <a:lnSpc>
                <a:spcPct val="90000"/>
              </a:lnSpc>
              <a:spcBef>
                <a:spcPts val="1067"/>
              </a:spcBef>
              <a:spcAft>
                <a:spcPts val="0"/>
              </a:spcAft>
              <a:buClr>
                <a:schemeClr val="lt1"/>
              </a:buClr>
              <a:buSzPts val="1700"/>
              <a:buNone/>
              <a:defRPr sz="2267">
                <a:solidFill>
                  <a:schemeClr val="lt1"/>
                </a:solidFill>
              </a:defRPr>
            </a:lvl1pPr>
            <a:lvl2pPr marL="1219170" lvl="1" indent="-304792" algn="l">
              <a:lnSpc>
                <a:spcPct val="90000"/>
              </a:lnSpc>
              <a:spcBef>
                <a:spcPts val="533"/>
              </a:spcBef>
              <a:spcAft>
                <a:spcPts val="0"/>
              </a:spcAft>
              <a:buClr>
                <a:schemeClr val="lt1"/>
              </a:buClr>
              <a:buSzPts val="1500"/>
              <a:buNone/>
              <a:defRPr sz="2000">
                <a:solidFill>
                  <a:schemeClr val="lt1"/>
                </a:solidFill>
              </a:defRPr>
            </a:lvl2pPr>
            <a:lvl3pPr marL="1828754" lvl="2" indent="-304792" algn="l">
              <a:lnSpc>
                <a:spcPct val="90000"/>
              </a:lnSpc>
              <a:spcBef>
                <a:spcPts val="533"/>
              </a:spcBef>
              <a:spcAft>
                <a:spcPts val="0"/>
              </a:spcAft>
              <a:buClr>
                <a:schemeClr val="lt1"/>
              </a:buClr>
              <a:buSzPts val="1400"/>
              <a:buNone/>
              <a:defRPr sz="1867">
                <a:solidFill>
                  <a:schemeClr val="lt1"/>
                </a:solidFill>
              </a:defRPr>
            </a:lvl3pPr>
            <a:lvl4pPr marL="2438339" lvl="3" indent="-304792" algn="l">
              <a:lnSpc>
                <a:spcPct val="90000"/>
              </a:lnSpc>
              <a:spcBef>
                <a:spcPts val="533"/>
              </a:spcBef>
              <a:spcAft>
                <a:spcPts val="0"/>
              </a:spcAft>
              <a:buClr>
                <a:schemeClr val="lt1"/>
              </a:buClr>
              <a:buSzPts val="1200"/>
              <a:buNone/>
              <a:defRPr sz="1600">
                <a:solidFill>
                  <a:schemeClr val="lt1"/>
                </a:solidFill>
              </a:defRPr>
            </a:lvl4pPr>
            <a:lvl5pPr marL="3047924" lvl="4" indent="-304792" algn="l">
              <a:lnSpc>
                <a:spcPct val="90000"/>
              </a:lnSpc>
              <a:spcBef>
                <a:spcPts val="533"/>
              </a:spcBef>
              <a:spcAft>
                <a:spcPts val="0"/>
              </a:spcAft>
              <a:buClr>
                <a:schemeClr val="lt1"/>
              </a:buClr>
              <a:buSzPts val="1200"/>
              <a:buNone/>
              <a:defRPr sz="1600">
                <a:solidFill>
                  <a:schemeClr val="lt1"/>
                </a:solidFill>
              </a:defRPr>
            </a:lvl5pPr>
            <a:lvl6pPr marL="3657509" lvl="5" indent="-304792" algn="l">
              <a:lnSpc>
                <a:spcPct val="90000"/>
              </a:lnSpc>
              <a:spcBef>
                <a:spcPts val="533"/>
              </a:spcBef>
              <a:spcAft>
                <a:spcPts val="0"/>
              </a:spcAft>
              <a:buClr>
                <a:schemeClr val="lt1"/>
              </a:buClr>
              <a:buSzPts val="1200"/>
              <a:buNone/>
              <a:defRPr sz="1600">
                <a:solidFill>
                  <a:schemeClr val="lt1"/>
                </a:solidFill>
              </a:defRPr>
            </a:lvl6pPr>
            <a:lvl7pPr marL="4267093" lvl="6" indent="-304792" algn="l">
              <a:lnSpc>
                <a:spcPct val="90000"/>
              </a:lnSpc>
              <a:spcBef>
                <a:spcPts val="533"/>
              </a:spcBef>
              <a:spcAft>
                <a:spcPts val="0"/>
              </a:spcAft>
              <a:buClr>
                <a:schemeClr val="lt1"/>
              </a:buClr>
              <a:buSzPts val="1200"/>
              <a:buNone/>
              <a:defRPr sz="1600">
                <a:solidFill>
                  <a:schemeClr val="lt1"/>
                </a:solidFill>
              </a:defRPr>
            </a:lvl7pPr>
            <a:lvl8pPr marL="4876678" lvl="7" indent="-304792" algn="l">
              <a:lnSpc>
                <a:spcPct val="90000"/>
              </a:lnSpc>
              <a:spcBef>
                <a:spcPts val="533"/>
              </a:spcBef>
              <a:spcAft>
                <a:spcPts val="0"/>
              </a:spcAft>
              <a:buClr>
                <a:schemeClr val="lt1"/>
              </a:buClr>
              <a:buSzPts val="1200"/>
              <a:buNone/>
              <a:defRPr sz="1600">
                <a:solidFill>
                  <a:schemeClr val="lt1"/>
                </a:solidFill>
              </a:defRPr>
            </a:lvl8pPr>
            <a:lvl9pPr marL="5486263" lvl="8" indent="-304792" algn="l">
              <a:lnSpc>
                <a:spcPct val="90000"/>
              </a:lnSpc>
              <a:spcBef>
                <a:spcPts val="533"/>
              </a:spcBef>
              <a:spcAft>
                <a:spcPts val="0"/>
              </a:spcAft>
              <a:buClr>
                <a:schemeClr val="lt1"/>
              </a:buClr>
              <a:buSzPts val="1200"/>
              <a:buNone/>
              <a:defRPr sz="1600">
                <a:solidFill>
                  <a:schemeClr val="lt1"/>
                </a:solidFill>
              </a:defRPr>
            </a:lvl9pPr>
          </a:lstStyle>
          <a:p>
            <a:endParaRPr/>
          </a:p>
        </p:txBody>
      </p:sp>
      <p:sp>
        <p:nvSpPr>
          <p:cNvPr id="34" name="Google Shape;34;p5"/>
          <p:cNvSpPr txBox="1">
            <a:spLocks noGrp="1"/>
          </p:cNvSpPr>
          <p:nvPr>
            <p:ph type="dt" idx="10"/>
          </p:nvPr>
        </p:nvSpPr>
        <p:spPr>
          <a:xfrm>
            <a:off x="7814452" y="381000"/>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35" name="Google Shape;35;p5"/>
          <p:cNvSpPr txBox="1">
            <a:spLocks noGrp="1"/>
          </p:cNvSpPr>
          <p:nvPr>
            <p:ph type="ftr" idx="11"/>
          </p:nvPr>
        </p:nvSpPr>
        <p:spPr>
          <a:xfrm>
            <a:off x="685800" y="381001"/>
            <a:ext cx="6991600" cy="364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36" name="Google Shape;36;p5"/>
          <p:cNvSpPr txBox="1">
            <a:spLocks noGrp="1"/>
          </p:cNvSpPr>
          <p:nvPr>
            <p:ph type="sldNum" idx="12"/>
          </p:nvPr>
        </p:nvSpPr>
        <p:spPr>
          <a:xfrm>
            <a:off x="10862452" y="381000"/>
            <a:ext cx="6436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3566378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aison" type="twoTxTwoObj">
  <p:cSld name="Comparaison">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2895600" y="762000"/>
            <a:ext cx="8610400" cy="12956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6" name="Google Shape;46;p7"/>
          <p:cNvSpPr txBox="1">
            <a:spLocks noGrp="1"/>
          </p:cNvSpPr>
          <p:nvPr>
            <p:ph type="body" idx="1"/>
          </p:nvPr>
        </p:nvSpPr>
        <p:spPr>
          <a:xfrm>
            <a:off x="914409" y="2183801"/>
            <a:ext cx="5080000" cy="824000"/>
          </a:xfrm>
          <a:prstGeom prst="rect">
            <a:avLst/>
          </a:prstGeom>
          <a:noFill/>
          <a:ln>
            <a:noFill/>
          </a:ln>
        </p:spPr>
        <p:txBody>
          <a:bodyPr spcFirstLastPara="1" wrap="square" lIns="68575" tIns="34275" rIns="68575" bIns="34275" anchor="b" anchorCtr="0">
            <a:normAutofit/>
          </a:bodyPr>
          <a:lstStyle>
            <a:lvl1pPr marL="609585" lvl="0" indent="-304792" algn="l">
              <a:lnSpc>
                <a:spcPct val="90000"/>
              </a:lnSpc>
              <a:spcBef>
                <a:spcPts val="1067"/>
              </a:spcBef>
              <a:spcAft>
                <a:spcPts val="0"/>
              </a:spcAft>
              <a:buClr>
                <a:schemeClr val="lt1"/>
              </a:buClr>
              <a:buSzPts val="2100"/>
              <a:buNone/>
              <a:defRPr sz="2800" b="0">
                <a:solidFill>
                  <a:schemeClr val="lt1"/>
                </a:solidFill>
              </a:defRPr>
            </a:lvl1pPr>
            <a:lvl2pPr marL="1219170" lvl="1" indent="-304792" algn="l">
              <a:lnSpc>
                <a:spcPct val="90000"/>
              </a:lnSpc>
              <a:spcBef>
                <a:spcPts val="533"/>
              </a:spcBef>
              <a:spcAft>
                <a:spcPts val="0"/>
              </a:spcAft>
              <a:buClr>
                <a:schemeClr val="lt1"/>
              </a:buClr>
              <a:buSzPts val="1500"/>
              <a:buNone/>
              <a:defRPr sz="2000" b="1"/>
            </a:lvl2pPr>
            <a:lvl3pPr marL="1828754" lvl="2" indent="-304792" algn="l">
              <a:lnSpc>
                <a:spcPct val="90000"/>
              </a:lnSpc>
              <a:spcBef>
                <a:spcPts val="533"/>
              </a:spcBef>
              <a:spcAft>
                <a:spcPts val="0"/>
              </a:spcAft>
              <a:buClr>
                <a:schemeClr val="lt1"/>
              </a:buClr>
              <a:buSzPts val="1400"/>
              <a:buNone/>
              <a:defRPr sz="1867" b="1"/>
            </a:lvl3pPr>
            <a:lvl4pPr marL="2438339" lvl="3" indent="-304792" algn="l">
              <a:lnSpc>
                <a:spcPct val="90000"/>
              </a:lnSpc>
              <a:spcBef>
                <a:spcPts val="533"/>
              </a:spcBef>
              <a:spcAft>
                <a:spcPts val="0"/>
              </a:spcAft>
              <a:buClr>
                <a:schemeClr val="lt1"/>
              </a:buClr>
              <a:buSzPts val="1200"/>
              <a:buNone/>
              <a:defRPr sz="1600" b="1"/>
            </a:lvl4pPr>
            <a:lvl5pPr marL="3047924" lvl="4" indent="-304792" algn="l">
              <a:lnSpc>
                <a:spcPct val="90000"/>
              </a:lnSpc>
              <a:spcBef>
                <a:spcPts val="533"/>
              </a:spcBef>
              <a:spcAft>
                <a:spcPts val="0"/>
              </a:spcAft>
              <a:buClr>
                <a:schemeClr val="lt1"/>
              </a:buClr>
              <a:buSzPts val="1200"/>
              <a:buNone/>
              <a:defRPr sz="1600" b="1"/>
            </a:lvl5pPr>
            <a:lvl6pPr marL="3657509" lvl="5" indent="-304792" algn="l">
              <a:lnSpc>
                <a:spcPct val="90000"/>
              </a:lnSpc>
              <a:spcBef>
                <a:spcPts val="533"/>
              </a:spcBef>
              <a:spcAft>
                <a:spcPts val="0"/>
              </a:spcAft>
              <a:buClr>
                <a:schemeClr val="lt1"/>
              </a:buClr>
              <a:buSzPts val="1200"/>
              <a:buNone/>
              <a:defRPr sz="1600" b="1"/>
            </a:lvl6pPr>
            <a:lvl7pPr marL="4267093" lvl="6" indent="-304792" algn="l">
              <a:lnSpc>
                <a:spcPct val="90000"/>
              </a:lnSpc>
              <a:spcBef>
                <a:spcPts val="533"/>
              </a:spcBef>
              <a:spcAft>
                <a:spcPts val="0"/>
              </a:spcAft>
              <a:buClr>
                <a:schemeClr val="lt1"/>
              </a:buClr>
              <a:buSzPts val="1200"/>
              <a:buNone/>
              <a:defRPr sz="1600" b="1"/>
            </a:lvl7pPr>
            <a:lvl8pPr marL="4876678" lvl="7" indent="-304792" algn="l">
              <a:lnSpc>
                <a:spcPct val="90000"/>
              </a:lnSpc>
              <a:spcBef>
                <a:spcPts val="533"/>
              </a:spcBef>
              <a:spcAft>
                <a:spcPts val="0"/>
              </a:spcAft>
              <a:buClr>
                <a:schemeClr val="lt1"/>
              </a:buClr>
              <a:buSzPts val="1200"/>
              <a:buNone/>
              <a:defRPr sz="1600" b="1"/>
            </a:lvl8pPr>
            <a:lvl9pPr marL="5486263" lvl="8" indent="-304792" algn="l">
              <a:lnSpc>
                <a:spcPct val="90000"/>
              </a:lnSpc>
              <a:spcBef>
                <a:spcPts val="533"/>
              </a:spcBef>
              <a:spcAft>
                <a:spcPts val="0"/>
              </a:spcAft>
              <a:buClr>
                <a:schemeClr val="lt1"/>
              </a:buClr>
              <a:buSzPts val="1200"/>
              <a:buNone/>
              <a:defRPr sz="1600" b="1"/>
            </a:lvl9pPr>
          </a:lstStyle>
          <a:p>
            <a:endParaRPr/>
          </a:p>
        </p:txBody>
      </p:sp>
      <p:sp>
        <p:nvSpPr>
          <p:cNvPr id="47" name="Google Shape;47;p7"/>
          <p:cNvSpPr txBox="1">
            <a:spLocks noGrp="1"/>
          </p:cNvSpPr>
          <p:nvPr>
            <p:ph type="body" idx="2"/>
          </p:nvPr>
        </p:nvSpPr>
        <p:spPr>
          <a:xfrm>
            <a:off x="685800" y="3132667"/>
            <a:ext cx="5311600" cy="3086000"/>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48" name="Google Shape;48;p7"/>
          <p:cNvSpPr txBox="1">
            <a:spLocks noGrp="1"/>
          </p:cNvSpPr>
          <p:nvPr>
            <p:ph type="body" idx="3"/>
          </p:nvPr>
        </p:nvSpPr>
        <p:spPr>
          <a:xfrm>
            <a:off x="6400800" y="2183801"/>
            <a:ext cx="5105200" cy="824000"/>
          </a:xfrm>
          <a:prstGeom prst="rect">
            <a:avLst/>
          </a:prstGeom>
          <a:noFill/>
          <a:ln>
            <a:noFill/>
          </a:ln>
        </p:spPr>
        <p:txBody>
          <a:bodyPr spcFirstLastPara="1" wrap="square" lIns="68575" tIns="34275" rIns="68575" bIns="34275" anchor="b" anchorCtr="0">
            <a:normAutofit/>
          </a:bodyPr>
          <a:lstStyle>
            <a:lvl1pPr marL="609585" lvl="0" indent="-304792" algn="l">
              <a:lnSpc>
                <a:spcPct val="90000"/>
              </a:lnSpc>
              <a:spcBef>
                <a:spcPts val="1067"/>
              </a:spcBef>
              <a:spcAft>
                <a:spcPts val="0"/>
              </a:spcAft>
              <a:buClr>
                <a:schemeClr val="lt1"/>
              </a:buClr>
              <a:buSzPts val="2100"/>
              <a:buNone/>
              <a:defRPr sz="2800" b="0">
                <a:solidFill>
                  <a:schemeClr val="lt1"/>
                </a:solidFill>
              </a:defRPr>
            </a:lvl1pPr>
            <a:lvl2pPr marL="1219170" lvl="1" indent="-304792" algn="l">
              <a:lnSpc>
                <a:spcPct val="90000"/>
              </a:lnSpc>
              <a:spcBef>
                <a:spcPts val="533"/>
              </a:spcBef>
              <a:spcAft>
                <a:spcPts val="0"/>
              </a:spcAft>
              <a:buClr>
                <a:schemeClr val="lt1"/>
              </a:buClr>
              <a:buSzPts val="1500"/>
              <a:buNone/>
              <a:defRPr sz="2000" b="1"/>
            </a:lvl2pPr>
            <a:lvl3pPr marL="1828754" lvl="2" indent="-304792" algn="l">
              <a:lnSpc>
                <a:spcPct val="90000"/>
              </a:lnSpc>
              <a:spcBef>
                <a:spcPts val="533"/>
              </a:spcBef>
              <a:spcAft>
                <a:spcPts val="0"/>
              </a:spcAft>
              <a:buClr>
                <a:schemeClr val="lt1"/>
              </a:buClr>
              <a:buSzPts val="1400"/>
              <a:buNone/>
              <a:defRPr sz="1867" b="1"/>
            </a:lvl3pPr>
            <a:lvl4pPr marL="2438339" lvl="3" indent="-304792" algn="l">
              <a:lnSpc>
                <a:spcPct val="90000"/>
              </a:lnSpc>
              <a:spcBef>
                <a:spcPts val="533"/>
              </a:spcBef>
              <a:spcAft>
                <a:spcPts val="0"/>
              </a:spcAft>
              <a:buClr>
                <a:schemeClr val="lt1"/>
              </a:buClr>
              <a:buSzPts val="1200"/>
              <a:buNone/>
              <a:defRPr sz="1600" b="1"/>
            </a:lvl4pPr>
            <a:lvl5pPr marL="3047924" lvl="4" indent="-304792" algn="l">
              <a:lnSpc>
                <a:spcPct val="90000"/>
              </a:lnSpc>
              <a:spcBef>
                <a:spcPts val="533"/>
              </a:spcBef>
              <a:spcAft>
                <a:spcPts val="0"/>
              </a:spcAft>
              <a:buClr>
                <a:schemeClr val="lt1"/>
              </a:buClr>
              <a:buSzPts val="1200"/>
              <a:buNone/>
              <a:defRPr sz="1600" b="1"/>
            </a:lvl5pPr>
            <a:lvl6pPr marL="3657509" lvl="5" indent="-304792" algn="l">
              <a:lnSpc>
                <a:spcPct val="90000"/>
              </a:lnSpc>
              <a:spcBef>
                <a:spcPts val="533"/>
              </a:spcBef>
              <a:spcAft>
                <a:spcPts val="0"/>
              </a:spcAft>
              <a:buClr>
                <a:schemeClr val="lt1"/>
              </a:buClr>
              <a:buSzPts val="1200"/>
              <a:buNone/>
              <a:defRPr sz="1600" b="1"/>
            </a:lvl6pPr>
            <a:lvl7pPr marL="4267093" lvl="6" indent="-304792" algn="l">
              <a:lnSpc>
                <a:spcPct val="90000"/>
              </a:lnSpc>
              <a:spcBef>
                <a:spcPts val="533"/>
              </a:spcBef>
              <a:spcAft>
                <a:spcPts val="0"/>
              </a:spcAft>
              <a:buClr>
                <a:schemeClr val="lt1"/>
              </a:buClr>
              <a:buSzPts val="1200"/>
              <a:buNone/>
              <a:defRPr sz="1600" b="1"/>
            </a:lvl7pPr>
            <a:lvl8pPr marL="4876678" lvl="7" indent="-304792" algn="l">
              <a:lnSpc>
                <a:spcPct val="90000"/>
              </a:lnSpc>
              <a:spcBef>
                <a:spcPts val="533"/>
              </a:spcBef>
              <a:spcAft>
                <a:spcPts val="0"/>
              </a:spcAft>
              <a:buClr>
                <a:schemeClr val="lt1"/>
              </a:buClr>
              <a:buSzPts val="1200"/>
              <a:buNone/>
              <a:defRPr sz="1600" b="1"/>
            </a:lvl8pPr>
            <a:lvl9pPr marL="5486263" lvl="8" indent="-304792" algn="l">
              <a:lnSpc>
                <a:spcPct val="90000"/>
              </a:lnSpc>
              <a:spcBef>
                <a:spcPts val="533"/>
              </a:spcBef>
              <a:spcAft>
                <a:spcPts val="0"/>
              </a:spcAft>
              <a:buClr>
                <a:schemeClr val="lt1"/>
              </a:buClr>
              <a:buSzPts val="1200"/>
              <a:buNone/>
              <a:defRPr sz="1600" b="1"/>
            </a:lvl9pPr>
          </a:lstStyle>
          <a:p>
            <a:endParaRPr/>
          </a:p>
        </p:txBody>
      </p:sp>
      <p:sp>
        <p:nvSpPr>
          <p:cNvPr id="49" name="Google Shape;49;p7"/>
          <p:cNvSpPr txBox="1">
            <a:spLocks noGrp="1"/>
          </p:cNvSpPr>
          <p:nvPr>
            <p:ph type="body" idx="4"/>
          </p:nvPr>
        </p:nvSpPr>
        <p:spPr>
          <a:xfrm>
            <a:off x="6172200" y="3132667"/>
            <a:ext cx="5334000" cy="3086000"/>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50" name="Google Shape;50;p7"/>
          <p:cNvSpPr txBox="1">
            <a:spLocks noGrp="1"/>
          </p:cNvSpPr>
          <p:nvPr>
            <p:ph type="dt" idx="10"/>
          </p:nvPr>
        </p:nvSpPr>
        <p:spPr>
          <a:xfrm>
            <a:off x="8595360" y="6356351"/>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51" name="Google Shape;51;p7"/>
          <p:cNvSpPr txBox="1">
            <a:spLocks noGrp="1"/>
          </p:cNvSpPr>
          <p:nvPr>
            <p:ph type="ftr" idx="11"/>
          </p:nvPr>
        </p:nvSpPr>
        <p:spPr>
          <a:xfrm>
            <a:off x="685800" y="6355845"/>
            <a:ext cx="77724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52" name="Google Shape;52;p7"/>
          <p:cNvSpPr txBox="1">
            <a:spLocks noGrp="1"/>
          </p:cNvSpPr>
          <p:nvPr>
            <p:ph type="sldNum" idx="12"/>
          </p:nvPr>
        </p:nvSpPr>
        <p:spPr>
          <a:xfrm>
            <a:off x="8763000" y="381000"/>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1765610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u avec légende" type="objTx">
  <p:cSld name="Contenu avec légende">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85800" y="1524000"/>
            <a:ext cx="4114800" cy="1600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400"/>
              <a:buFont typeface="Century Gothic"/>
              <a:buNone/>
              <a:defRPr sz="32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9" name="Google Shape;59;p9"/>
          <p:cNvSpPr txBox="1">
            <a:spLocks noGrp="1"/>
          </p:cNvSpPr>
          <p:nvPr>
            <p:ph type="body" idx="1"/>
          </p:nvPr>
        </p:nvSpPr>
        <p:spPr>
          <a:xfrm>
            <a:off x="4995583" y="746759"/>
            <a:ext cx="6510800" cy="5472000"/>
          </a:xfrm>
          <a:prstGeom prst="rect">
            <a:avLst/>
          </a:prstGeom>
          <a:noFill/>
          <a:ln>
            <a:noFill/>
          </a:ln>
        </p:spPr>
        <p:txBody>
          <a:bodyPr spcFirstLastPara="1" wrap="square" lIns="68575" tIns="34275" rIns="68575" bIns="34275" anchor="ctr"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60" name="Google Shape;60;p9"/>
          <p:cNvSpPr txBox="1">
            <a:spLocks noGrp="1"/>
          </p:cNvSpPr>
          <p:nvPr>
            <p:ph type="body" idx="2"/>
          </p:nvPr>
        </p:nvSpPr>
        <p:spPr>
          <a:xfrm>
            <a:off x="685800" y="3124199"/>
            <a:ext cx="4114800" cy="3094400"/>
          </a:xfrm>
          <a:prstGeom prst="rect">
            <a:avLst/>
          </a:prstGeom>
          <a:noFill/>
          <a:ln>
            <a:noFill/>
          </a:ln>
        </p:spPr>
        <p:txBody>
          <a:bodyPr spcFirstLastPara="1" wrap="square" lIns="68575" tIns="34275" rIns="68575" bIns="34275" anchor="t" anchorCtr="0">
            <a:normAutofit/>
          </a:bodyPr>
          <a:lstStyle>
            <a:lvl1pPr marL="609585" lvl="0" indent="-304792" algn="l">
              <a:lnSpc>
                <a:spcPct val="90000"/>
              </a:lnSpc>
              <a:spcBef>
                <a:spcPts val="1067"/>
              </a:spcBef>
              <a:spcAft>
                <a:spcPts val="0"/>
              </a:spcAft>
              <a:buClr>
                <a:schemeClr val="lt1"/>
              </a:buClr>
              <a:buSzPts val="1200"/>
              <a:buNone/>
              <a:defRPr sz="1600"/>
            </a:lvl1pPr>
            <a:lvl2pPr marL="1219170" lvl="1" indent="-304792" algn="l">
              <a:lnSpc>
                <a:spcPct val="90000"/>
              </a:lnSpc>
              <a:spcBef>
                <a:spcPts val="533"/>
              </a:spcBef>
              <a:spcAft>
                <a:spcPts val="0"/>
              </a:spcAft>
              <a:buClr>
                <a:schemeClr val="lt1"/>
              </a:buClr>
              <a:buSzPts val="1100"/>
              <a:buNone/>
              <a:defRPr sz="1467"/>
            </a:lvl2pPr>
            <a:lvl3pPr marL="1828754" lvl="2" indent="-304792" algn="l">
              <a:lnSpc>
                <a:spcPct val="90000"/>
              </a:lnSpc>
              <a:spcBef>
                <a:spcPts val="533"/>
              </a:spcBef>
              <a:spcAft>
                <a:spcPts val="0"/>
              </a:spcAft>
              <a:buClr>
                <a:schemeClr val="lt1"/>
              </a:buClr>
              <a:buSzPts val="900"/>
              <a:buNone/>
              <a:defRPr sz="1200"/>
            </a:lvl3pPr>
            <a:lvl4pPr marL="2438339" lvl="3" indent="-304792" algn="l">
              <a:lnSpc>
                <a:spcPct val="90000"/>
              </a:lnSpc>
              <a:spcBef>
                <a:spcPts val="533"/>
              </a:spcBef>
              <a:spcAft>
                <a:spcPts val="0"/>
              </a:spcAft>
              <a:buClr>
                <a:schemeClr val="lt1"/>
              </a:buClr>
              <a:buSzPts val="800"/>
              <a:buNone/>
              <a:defRPr sz="1067"/>
            </a:lvl4pPr>
            <a:lvl5pPr marL="3047924" lvl="4" indent="-304792" algn="l">
              <a:lnSpc>
                <a:spcPct val="90000"/>
              </a:lnSpc>
              <a:spcBef>
                <a:spcPts val="533"/>
              </a:spcBef>
              <a:spcAft>
                <a:spcPts val="0"/>
              </a:spcAft>
              <a:buClr>
                <a:schemeClr val="lt1"/>
              </a:buClr>
              <a:buSzPts val="800"/>
              <a:buNone/>
              <a:defRPr sz="1067"/>
            </a:lvl5pPr>
            <a:lvl6pPr marL="3657509" lvl="5" indent="-304792" algn="l">
              <a:lnSpc>
                <a:spcPct val="90000"/>
              </a:lnSpc>
              <a:spcBef>
                <a:spcPts val="533"/>
              </a:spcBef>
              <a:spcAft>
                <a:spcPts val="0"/>
              </a:spcAft>
              <a:buClr>
                <a:schemeClr val="lt1"/>
              </a:buClr>
              <a:buSzPts val="800"/>
              <a:buNone/>
              <a:defRPr sz="1067"/>
            </a:lvl6pPr>
            <a:lvl7pPr marL="4267093" lvl="6" indent="-304792" algn="l">
              <a:lnSpc>
                <a:spcPct val="90000"/>
              </a:lnSpc>
              <a:spcBef>
                <a:spcPts val="533"/>
              </a:spcBef>
              <a:spcAft>
                <a:spcPts val="0"/>
              </a:spcAft>
              <a:buClr>
                <a:schemeClr val="lt1"/>
              </a:buClr>
              <a:buSzPts val="800"/>
              <a:buNone/>
              <a:defRPr sz="1067"/>
            </a:lvl7pPr>
            <a:lvl8pPr marL="4876678" lvl="7" indent="-304792" algn="l">
              <a:lnSpc>
                <a:spcPct val="90000"/>
              </a:lnSpc>
              <a:spcBef>
                <a:spcPts val="533"/>
              </a:spcBef>
              <a:spcAft>
                <a:spcPts val="0"/>
              </a:spcAft>
              <a:buClr>
                <a:schemeClr val="lt1"/>
              </a:buClr>
              <a:buSzPts val="800"/>
              <a:buNone/>
              <a:defRPr sz="1067"/>
            </a:lvl8pPr>
            <a:lvl9pPr marL="5486263" lvl="8" indent="-304792" algn="l">
              <a:lnSpc>
                <a:spcPct val="90000"/>
              </a:lnSpc>
              <a:spcBef>
                <a:spcPts val="533"/>
              </a:spcBef>
              <a:spcAft>
                <a:spcPts val="0"/>
              </a:spcAft>
              <a:buClr>
                <a:schemeClr val="lt1"/>
              </a:buClr>
              <a:buSzPts val="800"/>
              <a:buNone/>
              <a:defRPr sz="1067"/>
            </a:lvl9pPr>
          </a:lstStyle>
          <a:p>
            <a:endParaRPr/>
          </a:p>
        </p:txBody>
      </p:sp>
      <p:sp>
        <p:nvSpPr>
          <p:cNvPr id="61" name="Google Shape;61;p9"/>
          <p:cNvSpPr txBox="1">
            <a:spLocks noGrp="1"/>
          </p:cNvSpPr>
          <p:nvPr>
            <p:ph type="dt" idx="10"/>
          </p:nvPr>
        </p:nvSpPr>
        <p:spPr>
          <a:xfrm>
            <a:off x="8595360" y="6356351"/>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62" name="Google Shape;62;p9"/>
          <p:cNvSpPr txBox="1">
            <a:spLocks noGrp="1"/>
          </p:cNvSpPr>
          <p:nvPr>
            <p:ph type="ftr" idx="11"/>
          </p:nvPr>
        </p:nvSpPr>
        <p:spPr>
          <a:xfrm>
            <a:off x="685800" y="6355845"/>
            <a:ext cx="77724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63" name="Google Shape;63;p9"/>
          <p:cNvSpPr txBox="1">
            <a:spLocks noGrp="1"/>
          </p:cNvSpPr>
          <p:nvPr>
            <p:ph type="sldNum" idx="12"/>
          </p:nvPr>
        </p:nvSpPr>
        <p:spPr>
          <a:xfrm>
            <a:off x="8763000" y="381000"/>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3214008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mage avec légende" type="picTx">
  <p:cSld name="Image avec légende">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685800" y="1524000"/>
            <a:ext cx="6873200" cy="1600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400"/>
              <a:buFont typeface="Century Gothic"/>
              <a:buNone/>
              <a:defRPr sz="32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0"/>
          <p:cNvSpPr>
            <a:spLocks noGrp="1"/>
          </p:cNvSpPr>
          <p:nvPr>
            <p:ph type="pic" idx="2"/>
          </p:nvPr>
        </p:nvSpPr>
        <p:spPr>
          <a:xfrm>
            <a:off x="7861239" y="751241"/>
            <a:ext cx="3644800" cy="5467600"/>
          </a:xfrm>
          <a:prstGeom prst="rect">
            <a:avLst/>
          </a:prstGeom>
          <a:noFill/>
          <a:ln>
            <a:noFill/>
          </a:ln>
        </p:spPr>
        <p:txBody>
          <a:bodyPr/>
          <a:lstStyle/>
          <a:p>
            <a:endParaRPr lang="fr-DZ" dirty="0"/>
          </a:p>
        </p:txBody>
      </p:sp>
      <p:sp>
        <p:nvSpPr>
          <p:cNvPr id="67" name="Google Shape;67;p10"/>
          <p:cNvSpPr txBox="1">
            <a:spLocks noGrp="1"/>
          </p:cNvSpPr>
          <p:nvPr>
            <p:ph type="body" idx="1"/>
          </p:nvPr>
        </p:nvSpPr>
        <p:spPr>
          <a:xfrm>
            <a:off x="685800" y="3124199"/>
            <a:ext cx="6873200" cy="3094400"/>
          </a:xfrm>
          <a:prstGeom prst="rect">
            <a:avLst/>
          </a:prstGeom>
          <a:noFill/>
          <a:ln>
            <a:noFill/>
          </a:ln>
        </p:spPr>
        <p:txBody>
          <a:bodyPr spcFirstLastPara="1" wrap="square" lIns="68575" tIns="34275" rIns="68575" bIns="34275" anchor="t" anchorCtr="0">
            <a:normAutofit/>
          </a:bodyPr>
          <a:lstStyle>
            <a:lvl1pPr marL="609585" lvl="0" indent="-304792" algn="l">
              <a:lnSpc>
                <a:spcPct val="90000"/>
              </a:lnSpc>
              <a:spcBef>
                <a:spcPts val="1067"/>
              </a:spcBef>
              <a:spcAft>
                <a:spcPts val="0"/>
              </a:spcAft>
              <a:buClr>
                <a:schemeClr val="lt1"/>
              </a:buClr>
              <a:buSzPts val="1200"/>
              <a:buNone/>
              <a:defRPr sz="1600"/>
            </a:lvl1pPr>
            <a:lvl2pPr marL="1219170" lvl="1" indent="-304792" algn="l">
              <a:lnSpc>
                <a:spcPct val="90000"/>
              </a:lnSpc>
              <a:spcBef>
                <a:spcPts val="533"/>
              </a:spcBef>
              <a:spcAft>
                <a:spcPts val="0"/>
              </a:spcAft>
              <a:buClr>
                <a:schemeClr val="lt1"/>
              </a:buClr>
              <a:buSzPts val="1100"/>
              <a:buNone/>
              <a:defRPr sz="1467"/>
            </a:lvl2pPr>
            <a:lvl3pPr marL="1828754" lvl="2" indent="-304792" algn="l">
              <a:lnSpc>
                <a:spcPct val="90000"/>
              </a:lnSpc>
              <a:spcBef>
                <a:spcPts val="533"/>
              </a:spcBef>
              <a:spcAft>
                <a:spcPts val="0"/>
              </a:spcAft>
              <a:buClr>
                <a:schemeClr val="lt1"/>
              </a:buClr>
              <a:buSzPts val="900"/>
              <a:buNone/>
              <a:defRPr sz="1200"/>
            </a:lvl3pPr>
            <a:lvl4pPr marL="2438339" lvl="3" indent="-304792" algn="l">
              <a:lnSpc>
                <a:spcPct val="90000"/>
              </a:lnSpc>
              <a:spcBef>
                <a:spcPts val="533"/>
              </a:spcBef>
              <a:spcAft>
                <a:spcPts val="0"/>
              </a:spcAft>
              <a:buClr>
                <a:schemeClr val="lt1"/>
              </a:buClr>
              <a:buSzPts val="800"/>
              <a:buNone/>
              <a:defRPr sz="1067"/>
            </a:lvl4pPr>
            <a:lvl5pPr marL="3047924" lvl="4" indent="-304792" algn="l">
              <a:lnSpc>
                <a:spcPct val="90000"/>
              </a:lnSpc>
              <a:spcBef>
                <a:spcPts val="533"/>
              </a:spcBef>
              <a:spcAft>
                <a:spcPts val="0"/>
              </a:spcAft>
              <a:buClr>
                <a:schemeClr val="lt1"/>
              </a:buClr>
              <a:buSzPts val="800"/>
              <a:buNone/>
              <a:defRPr sz="1067"/>
            </a:lvl5pPr>
            <a:lvl6pPr marL="3657509" lvl="5" indent="-304792" algn="l">
              <a:lnSpc>
                <a:spcPct val="90000"/>
              </a:lnSpc>
              <a:spcBef>
                <a:spcPts val="533"/>
              </a:spcBef>
              <a:spcAft>
                <a:spcPts val="0"/>
              </a:spcAft>
              <a:buClr>
                <a:schemeClr val="lt1"/>
              </a:buClr>
              <a:buSzPts val="800"/>
              <a:buNone/>
              <a:defRPr sz="1067"/>
            </a:lvl6pPr>
            <a:lvl7pPr marL="4267093" lvl="6" indent="-304792" algn="l">
              <a:lnSpc>
                <a:spcPct val="90000"/>
              </a:lnSpc>
              <a:spcBef>
                <a:spcPts val="533"/>
              </a:spcBef>
              <a:spcAft>
                <a:spcPts val="0"/>
              </a:spcAft>
              <a:buClr>
                <a:schemeClr val="lt1"/>
              </a:buClr>
              <a:buSzPts val="800"/>
              <a:buNone/>
              <a:defRPr sz="1067"/>
            </a:lvl7pPr>
            <a:lvl8pPr marL="4876678" lvl="7" indent="-304792" algn="l">
              <a:lnSpc>
                <a:spcPct val="90000"/>
              </a:lnSpc>
              <a:spcBef>
                <a:spcPts val="533"/>
              </a:spcBef>
              <a:spcAft>
                <a:spcPts val="0"/>
              </a:spcAft>
              <a:buClr>
                <a:schemeClr val="lt1"/>
              </a:buClr>
              <a:buSzPts val="800"/>
              <a:buNone/>
              <a:defRPr sz="1067"/>
            </a:lvl8pPr>
            <a:lvl9pPr marL="5486263" lvl="8" indent="-304792" algn="l">
              <a:lnSpc>
                <a:spcPct val="90000"/>
              </a:lnSpc>
              <a:spcBef>
                <a:spcPts val="533"/>
              </a:spcBef>
              <a:spcAft>
                <a:spcPts val="0"/>
              </a:spcAft>
              <a:buClr>
                <a:schemeClr val="lt1"/>
              </a:buClr>
              <a:buSzPts val="800"/>
              <a:buNone/>
              <a:defRPr sz="1067"/>
            </a:lvl9pPr>
          </a:lstStyle>
          <a:p>
            <a:endParaRPr/>
          </a:p>
        </p:txBody>
      </p:sp>
      <p:sp>
        <p:nvSpPr>
          <p:cNvPr id="68" name="Google Shape;68;p10"/>
          <p:cNvSpPr txBox="1">
            <a:spLocks noGrp="1"/>
          </p:cNvSpPr>
          <p:nvPr>
            <p:ph type="dt" idx="10"/>
          </p:nvPr>
        </p:nvSpPr>
        <p:spPr>
          <a:xfrm>
            <a:off x="8595360" y="6356351"/>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69" name="Google Shape;69;p10"/>
          <p:cNvSpPr txBox="1">
            <a:spLocks noGrp="1"/>
          </p:cNvSpPr>
          <p:nvPr>
            <p:ph type="ftr" idx="11"/>
          </p:nvPr>
        </p:nvSpPr>
        <p:spPr>
          <a:xfrm>
            <a:off x="685800" y="6355845"/>
            <a:ext cx="77724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0" name="Google Shape;70;p10"/>
          <p:cNvSpPr txBox="1">
            <a:spLocks noGrp="1"/>
          </p:cNvSpPr>
          <p:nvPr>
            <p:ph type="sldNum" idx="12"/>
          </p:nvPr>
        </p:nvSpPr>
        <p:spPr>
          <a:xfrm>
            <a:off x="8763000" y="381000"/>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3375721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re et légende">
  <p:cSld name="Titre et légende">
    <p:spTree>
      <p:nvGrpSpPr>
        <p:cNvPr id="1" name="Shape 78"/>
        <p:cNvGrpSpPr/>
        <p:nvPr/>
      </p:nvGrpSpPr>
      <p:grpSpPr>
        <a:xfrm>
          <a:off x="0" y="0"/>
          <a:ext cx="0" cy="0"/>
          <a:chOff x="0" y="0"/>
          <a:chExt cx="0" cy="0"/>
        </a:xfrm>
      </p:grpSpPr>
      <p:pic>
        <p:nvPicPr>
          <p:cNvPr id="79" name="Google Shape;79;p12" descr="C1-HD-BTM.png"/>
          <p:cNvPicPr preferRelativeResize="0"/>
          <p:nvPr/>
        </p:nvPicPr>
        <p:blipFill rotWithShape="1">
          <a:blip r:embed="rId2">
            <a:alphaModFix/>
          </a:blip>
          <a:srcRect/>
          <a:stretch/>
        </p:blipFill>
        <p:spPr>
          <a:xfrm>
            <a:off x="0" y="4375151"/>
            <a:ext cx="12192000" cy="2482851"/>
          </a:xfrm>
          <a:prstGeom prst="rect">
            <a:avLst/>
          </a:prstGeom>
          <a:noFill/>
          <a:ln>
            <a:noFill/>
          </a:ln>
        </p:spPr>
      </p:pic>
      <p:sp>
        <p:nvSpPr>
          <p:cNvPr id="80" name="Google Shape;80;p12"/>
          <p:cNvSpPr txBox="1">
            <a:spLocks noGrp="1"/>
          </p:cNvSpPr>
          <p:nvPr>
            <p:ph type="title"/>
          </p:nvPr>
        </p:nvSpPr>
        <p:spPr>
          <a:xfrm>
            <a:off x="685800" y="753532"/>
            <a:ext cx="10820400" cy="28024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lt1"/>
              </a:buClr>
              <a:buSzPts val="2400"/>
              <a:buFont typeface="Century Gothic"/>
              <a:buNone/>
              <a:defRPr sz="32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1" name="Google Shape;81;p12"/>
          <p:cNvSpPr txBox="1">
            <a:spLocks noGrp="1"/>
          </p:cNvSpPr>
          <p:nvPr>
            <p:ph type="body" idx="1"/>
          </p:nvPr>
        </p:nvSpPr>
        <p:spPr>
          <a:xfrm>
            <a:off x="1024467" y="3649133"/>
            <a:ext cx="10130400" cy="999200"/>
          </a:xfrm>
          <a:prstGeom prst="rect">
            <a:avLst/>
          </a:prstGeom>
          <a:noFill/>
          <a:ln>
            <a:noFill/>
          </a:ln>
        </p:spPr>
        <p:txBody>
          <a:bodyPr spcFirstLastPara="1" wrap="square" lIns="68575" tIns="34275" rIns="68575" bIns="34275" anchor="ctr" anchorCtr="0">
            <a:normAutofit/>
          </a:bodyPr>
          <a:lstStyle>
            <a:lvl1pPr marL="609585" lvl="0" indent="-304792" algn="l">
              <a:lnSpc>
                <a:spcPct val="90000"/>
              </a:lnSpc>
              <a:spcBef>
                <a:spcPts val="1067"/>
              </a:spcBef>
              <a:spcAft>
                <a:spcPts val="0"/>
              </a:spcAft>
              <a:buClr>
                <a:schemeClr val="lt1"/>
              </a:buClr>
              <a:buSzPts val="1200"/>
              <a:buNone/>
              <a:defRPr sz="1600"/>
            </a:lvl1pPr>
            <a:lvl2pPr marL="1219170" lvl="1" indent="-304792" algn="l">
              <a:lnSpc>
                <a:spcPct val="90000"/>
              </a:lnSpc>
              <a:spcBef>
                <a:spcPts val="533"/>
              </a:spcBef>
              <a:spcAft>
                <a:spcPts val="0"/>
              </a:spcAft>
              <a:buClr>
                <a:schemeClr val="lt1"/>
              </a:buClr>
              <a:buSzPts val="1100"/>
              <a:buNone/>
              <a:defRPr sz="1467"/>
            </a:lvl2pPr>
            <a:lvl3pPr marL="1828754" lvl="2" indent="-304792" algn="l">
              <a:lnSpc>
                <a:spcPct val="90000"/>
              </a:lnSpc>
              <a:spcBef>
                <a:spcPts val="533"/>
              </a:spcBef>
              <a:spcAft>
                <a:spcPts val="0"/>
              </a:spcAft>
              <a:buClr>
                <a:schemeClr val="lt1"/>
              </a:buClr>
              <a:buSzPts val="900"/>
              <a:buNone/>
              <a:defRPr sz="1200"/>
            </a:lvl3pPr>
            <a:lvl4pPr marL="2438339" lvl="3" indent="-304792" algn="l">
              <a:lnSpc>
                <a:spcPct val="90000"/>
              </a:lnSpc>
              <a:spcBef>
                <a:spcPts val="533"/>
              </a:spcBef>
              <a:spcAft>
                <a:spcPts val="0"/>
              </a:spcAft>
              <a:buClr>
                <a:schemeClr val="lt1"/>
              </a:buClr>
              <a:buSzPts val="800"/>
              <a:buNone/>
              <a:defRPr sz="1067"/>
            </a:lvl4pPr>
            <a:lvl5pPr marL="3047924" lvl="4" indent="-304792" algn="l">
              <a:lnSpc>
                <a:spcPct val="90000"/>
              </a:lnSpc>
              <a:spcBef>
                <a:spcPts val="533"/>
              </a:spcBef>
              <a:spcAft>
                <a:spcPts val="0"/>
              </a:spcAft>
              <a:buClr>
                <a:schemeClr val="lt1"/>
              </a:buClr>
              <a:buSzPts val="800"/>
              <a:buNone/>
              <a:defRPr sz="1067"/>
            </a:lvl5pPr>
            <a:lvl6pPr marL="3657509" lvl="5" indent="-304792" algn="l">
              <a:lnSpc>
                <a:spcPct val="90000"/>
              </a:lnSpc>
              <a:spcBef>
                <a:spcPts val="533"/>
              </a:spcBef>
              <a:spcAft>
                <a:spcPts val="0"/>
              </a:spcAft>
              <a:buClr>
                <a:schemeClr val="lt1"/>
              </a:buClr>
              <a:buSzPts val="800"/>
              <a:buNone/>
              <a:defRPr sz="1067"/>
            </a:lvl6pPr>
            <a:lvl7pPr marL="4267093" lvl="6" indent="-304792" algn="l">
              <a:lnSpc>
                <a:spcPct val="90000"/>
              </a:lnSpc>
              <a:spcBef>
                <a:spcPts val="533"/>
              </a:spcBef>
              <a:spcAft>
                <a:spcPts val="0"/>
              </a:spcAft>
              <a:buClr>
                <a:schemeClr val="lt1"/>
              </a:buClr>
              <a:buSzPts val="800"/>
              <a:buNone/>
              <a:defRPr sz="1067"/>
            </a:lvl7pPr>
            <a:lvl8pPr marL="4876678" lvl="7" indent="-304792" algn="l">
              <a:lnSpc>
                <a:spcPct val="90000"/>
              </a:lnSpc>
              <a:spcBef>
                <a:spcPts val="533"/>
              </a:spcBef>
              <a:spcAft>
                <a:spcPts val="0"/>
              </a:spcAft>
              <a:buClr>
                <a:schemeClr val="lt1"/>
              </a:buClr>
              <a:buSzPts val="800"/>
              <a:buNone/>
              <a:defRPr sz="1067"/>
            </a:lvl8pPr>
            <a:lvl9pPr marL="5486263" lvl="8" indent="-304792" algn="l">
              <a:lnSpc>
                <a:spcPct val="90000"/>
              </a:lnSpc>
              <a:spcBef>
                <a:spcPts val="533"/>
              </a:spcBef>
              <a:spcAft>
                <a:spcPts val="0"/>
              </a:spcAft>
              <a:buClr>
                <a:schemeClr val="lt1"/>
              </a:buClr>
              <a:buSzPts val="800"/>
              <a:buNone/>
              <a:defRPr sz="1067"/>
            </a:lvl9pPr>
          </a:lstStyle>
          <a:p>
            <a:endParaRPr/>
          </a:p>
        </p:txBody>
      </p:sp>
      <p:sp>
        <p:nvSpPr>
          <p:cNvPr id="82" name="Google Shape;82;p12"/>
          <p:cNvSpPr txBox="1">
            <a:spLocks noGrp="1"/>
          </p:cNvSpPr>
          <p:nvPr>
            <p:ph type="dt" idx="10"/>
          </p:nvPr>
        </p:nvSpPr>
        <p:spPr>
          <a:xfrm>
            <a:off x="7814452" y="381000"/>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83" name="Google Shape;83;p12"/>
          <p:cNvSpPr txBox="1">
            <a:spLocks noGrp="1"/>
          </p:cNvSpPr>
          <p:nvPr>
            <p:ph type="ftr" idx="11"/>
          </p:nvPr>
        </p:nvSpPr>
        <p:spPr>
          <a:xfrm>
            <a:off x="685800" y="379941"/>
            <a:ext cx="69916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84" name="Google Shape;84;p12"/>
          <p:cNvSpPr txBox="1">
            <a:spLocks noGrp="1"/>
          </p:cNvSpPr>
          <p:nvPr>
            <p:ph type="sldNum" idx="12"/>
          </p:nvPr>
        </p:nvSpPr>
        <p:spPr>
          <a:xfrm>
            <a:off x="10862452" y="381000"/>
            <a:ext cx="6436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3157220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itation avec légende">
  <p:cSld name="Citation avec légende">
    <p:spTree>
      <p:nvGrpSpPr>
        <p:cNvPr id="1" name="Shape 85"/>
        <p:cNvGrpSpPr/>
        <p:nvPr/>
      </p:nvGrpSpPr>
      <p:grpSpPr>
        <a:xfrm>
          <a:off x="0" y="0"/>
          <a:ext cx="0" cy="0"/>
          <a:chOff x="0" y="0"/>
          <a:chExt cx="0" cy="0"/>
        </a:xfrm>
      </p:grpSpPr>
      <p:pic>
        <p:nvPicPr>
          <p:cNvPr id="86" name="Google Shape;86;p13" descr="C1-HD-BTM.png"/>
          <p:cNvPicPr preferRelativeResize="0"/>
          <p:nvPr/>
        </p:nvPicPr>
        <p:blipFill rotWithShape="1">
          <a:blip r:embed="rId2">
            <a:alphaModFix/>
          </a:blip>
          <a:srcRect/>
          <a:stretch/>
        </p:blipFill>
        <p:spPr>
          <a:xfrm>
            <a:off x="0" y="4375151"/>
            <a:ext cx="12192000" cy="2482851"/>
          </a:xfrm>
          <a:prstGeom prst="rect">
            <a:avLst/>
          </a:prstGeom>
          <a:noFill/>
          <a:ln>
            <a:noFill/>
          </a:ln>
        </p:spPr>
      </p:pic>
      <p:sp>
        <p:nvSpPr>
          <p:cNvPr id="87" name="Google Shape;87;p13"/>
          <p:cNvSpPr txBox="1">
            <a:spLocks noGrp="1"/>
          </p:cNvSpPr>
          <p:nvPr>
            <p:ph type="title"/>
          </p:nvPr>
        </p:nvSpPr>
        <p:spPr>
          <a:xfrm>
            <a:off x="1024467" y="753533"/>
            <a:ext cx="10151600" cy="26044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lt1"/>
              </a:buClr>
              <a:buSzPts val="2400"/>
              <a:buFont typeface="Century Gothic"/>
              <a:buNone/>
              <a:defRPr sz="32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8" name="Google Shape;88;p13"/>
          <p:cNvSpPr txBox="1">
            <a:spLocks noGrp="1"/>
          </p:cNvSpPr>
          <p:nvPr>
            <p:ph type="body" idx="1"/>
          </p:nvPr>
        </p:nvSpPr>
        <p:spPr>
          <a:xfrm>
            <a:off x="1303865" y="3365556"/>
            <a:ext cx="9592800" cy="444400"/>
          </a:xfrm>
          <a:prstGeom prst="rect">
            <a:avLst/>
          </a:prstGeom>
          <a:noFill/>
          <a:ln>
            <a:noFill/>
          </a:ln>
        </p:spPr>
        <p:txBody>
          <a:bodyPr spcFirstLastPara="1" wrap="square" lIns="68575" tIns="34275" rIns="68575" bIns="34275" anchor="t" anchorCtr="0">
            <a:normAutofit/>
          </a:bodyPr>
          <a:lstStyle>
            <a:lvl1pPr marL="609585" lvl="0" indent="-304792" algn="l">
              <a:lnSpc>
                <a:spcPct val="90000"/>
              </a:lnSpc>
              <a:spcBef>
                <a:spcPts val="1067"/>
              </a:spcBef>
              <a:spcAft>
                <a:spcPts val="0"/>
              </a:spcAft>
              <a:buClr>
                <a:schemeClr val="lt1"/>
              </a:buClr>
              <a:buSzPts val="1100"/>
              <a:buNone/>
              <a:defRPr sz="1467"/>
            </a:lvl1pPr>
            <a:lvl2pPr marL="1219170" lvl="1" indent="-304792" algn="l">
              <a:lnSpc>
                <a:spcPct val="90000"/>
              </a:lnSpc>
              <a:spcBef>
                <a:spcPts val="533"/>
              </a:spcBef>
              <a:spcAft>
                <a:spcPts val="0"/>
              </a:spcAft>
              <a:buClr>
                <a:schemeClr val="lt1"/>
              </a:buClr>
              <a:buSzPts val="1100"/>
              <a:buNone/>
              <a:defRPr sz="1467"/>
            </a:lvl2pPr>
            <a:lvl3pPr marL="1828754" lvl="2" indent="-304792" algn="l">
              <a:lnSpc>
                <a:spcPct val="90000"/>
              </a:lnSpc>
              <a:spcBef>
                <a:spcPts val="533"/>
              </a:spcBef>
              <a:spcAft>
                <a:spcPts val="0"/>
              </a:spcAft>
              <a:buClr>
                <a:schemeClr val="lt1"/>
              </a:buClr>
              <a:buSzPts val="900"/>
              <a:buNone/>
              <a:defRPr sz="1200"/>
            </a:lvl3pPr>
            <a:lvl4pPr marL="2438339" lvl="3" indent="-304792" algn="l">
              <a:lnSpc>
                <a:spcPct val="90000"/>
              </a:lnSpc>
              <a:spcBef>
                <a:spcPts val="533"/>
              </a:spcBef>
              <a:spcAft>
                <a:spcPts val="0"/>
              </a:spcAft>
              <a:buClr>
                <a:schemeClr val="lt1"/>
              </a:buClr>
              <a:buSzPts val="800"/>
              <a:buNone/>
              <a:defRPr sz="1067"/>
            </a:lvl4pPr>
            <a:lvl5pPr marL="3047924" lvl="4" indent="-304792" algn="l">
              <a:lnSpc>
                <a:spcPct val="90000"/>
              </a:lnSpc>
              <a:spcBef>
                <a:spcPts val="533"/>
              </a:spcBef>
              <a:spcAft>
                <a:spcPts val="0"/>
              </a:spcAft>
              <a:buClr>
                <a:schemeClr val="lt1"/>
              </a:buClr>
              <a:buSzPts val="800"/>
              <a:buNone/>
              <a:defRPr sz="1067"/>
            </a:lvl5pPr>
            <a:lvl6pPr marL="3657509" lvl="5" indent="-304792" algn="l">
              <a:lnSpc>
                <a:spcPct val="90000"/>
              </a:lnSpc>
              <a:spcBef>
                <a:spcPts val="533"/>
              </a:spcBef>
              <a:spcAft>
                <a:spcPts val="0"/>
              </a:spcAft>
              <a:buClr>
                <a:schemeClr val="lt1"/>
              </a:buClr>
              <a:buSzPts val="800"/>
              <a:buNone/>
              <a:defRPr sz="1067"/>
            </a:lvl6pPr>
            <a:lvl7pPr marL="4267093" lvl="6" indent="-304792" algn="l">
              <a:lnSpc>
                <a:spcPct val="90000"/>
              </a:lnSpc>
              <a:spcBef>
                <a:spcPts val="533"/>
              </a:spcBef>
              <a:spcAft>
                <a:spcPts val="0"/>
              </a:spcAft>
              <a:buClr>
                <a:schemeClr val="lt1"/>
              </a:buClr>
              <a:buSzPts val="800"/>
              <a:buNone/>
              <a:defRPr sz="1067"/>
            </a:lvl7pPr>
            <a:lvl8pPr marL="4876678" lvl="7" indent="-304792" algn="l">
              <a:lnSpc>
                <a:spcPct val="90000"/>
              </a:lnSpc>
              <a:spcBef>
                <a:spcPts val="533"/>
              </a:spcBef>
              <a:spcAft>
                <a:spcPts val="0"/>
              </a:spcAft>
              <a:buClr>
                <a:schemeClr val="lt1"/>
              </a:buClr>
              <a:buSzPts val="800"/>
              <a:buNone/>
              <a:defRPr sz="1067"/>
            </a:lvl8pPr>
            <a:lvl9pPr marL="5486263" lvl="8" indent="-304792" algn="l">
              <a:lnSpc>
                <a:spcPct val="90000"/>
              </a:lnSpc>
              <a:spcBef>
                <a:spcPts val="533"/>
              </a:spcBef>
              <a:spcAft>
                <a:spcPts val="0"/>
              </a:spcAft>
              <a:buClr>
                <a:schemeClr val="lt1"/>
              </a:buClr>
              <a:buSzPts val="800"/>
              <a:buNone/>
              <a:defRPr sz="1067"/>
            </a:lvl9pPr>
          </a:lstStyle>
          <a:p>
            <a:endParaRPr/>
          </a:p>
        </p:txBody>
      </p:sp>
      <p:sp>
        <p:nvSpPr>
          <p:cNvPr id="89" name="Google Shape;89;p13"/>
          <p:cNvSpPr txBox="1">
            <a:spLocks noGrp="1"/>
          </p:cNvSpPr>
          <p:nvPr>
            <p:ph type="body" idx="2"/>
          </p:nvPr>
        </p:nvSpPr>
        <p:spPr>
          <a:xfrm>
            <a:off x="1024467" y="3959863"/>
            <a:ext cx="10151600" cy="680000"/>
          </a:xfrm>
          <a:prstGeom prst="rect">
            <a:avLst/>
          </a:prstGeom>
          <a:noFill/>
          <a:ln>
            <a:noFill/>
          </a:ln>
        </p:spPr>
        <p:txBody>
          <a:bodyPr spcFirstLastPara="1" wrap="square" lIns="68575" tIns="34275" rIns="68575" bIns="34275" anchor="ctr" anchorCtr="0">
            <a:normAutofit/>
          </a:bodyPr>
          <a:lstStyle>
            <a:lvl1pPr marL="609585" lvl="0" indent="-304792" algn="l">
              <a:lnSpc>
                <a:spcPct val="90000"/>
              </a:lnSpc>
              <a:spcBef>
                <a:spcPts val="1067"/>
              </a:spcBef>
              <a:spcAft>
                <a:spcPts val="0"/>
              </a:spcAft>
              <a:buClr>
                <a:schemeClr val="lt1"/>
              </a:buClr>
              <a:buSzPts val="1200"/>
              <a:buNone/>
              <a:defRPr sz="1600"/>
            </a:lvl1pPr>
            <a:lvl2pPr marL="1219170" lvl="1" indent="-304792" algn="l">
              <a:lnSpc>
                <a:spcPct val="90000"/>
              </a:lnSpc>
              <a:spcBef>
                <a:spcPts val="533"/>
              </a:spcBef>
              <a:spcAft>
                <a:spcPts val="0"/>
              </a:spcAft>
              <a:buClr>
                <a:schemeClr val="lt1"/>
              </a:buClr>
              <a:buSzPts val="1100"/>
              <a:buNone/>
              <a:defRPr sz="1467"/>
            </a:lvl2pPr>
            <a:lvl3pPr marL="1828754" lvl="2" indent="-304792" algn="l">
              <a:lnSpc>
                <a:spcPct val="90000"/>
              </a:lnSpc>
              <a:spcBef>
                <a:spcPts val="533"/>
              </a:spcBef>
              <a:spcAft>
                <a:spcPts val="0"/>
              </a:spcAft>
              <a:buClr>
                <a:schemeClr val="lt1"/>
              </a:buClr>
              <a:buSzPts val="900"/>
              <a:buNone/>
              <a:defRPr sz="1200"/>
            </a:lvl3pPr>
            <a:lvl4pPr marL="2438339" lvl="3" indent="-304792" algn="l">
              <a:lnSpc>
                <a:spcPct val="90000"/>
              </a:lnSpc>
              <a:spcBef>
                <a:spcPts val="533"/>
              </a:spcBef>
              <a:spcAft>
                <a:spcPts val="0"/>
              </a:spcAft>
              <a:buClr>
                <a:schemeClr val="lt1"/>
              </a:buClr>
              <a:buSzPts val="800"/>
              <a:buNone/>
              <a:defRPr sz="1067"/>
            </a:lvl4pPr>
            <a:lvl5pPr marL="3047924" lvl="4" indent="-304792" algn="l">
              <a:lnSpc>
                <a:spcPct val="90000"/>
              </a:lnSpc>
              <a:spcBef>
                <a:spcPts val="533"/>
              </a:spcBef>
              <a:spcAft>
                <a:spcPts val="0"/>
              </a:spcAft>
              <a:buClr>
                <a:schemeClr val="lt1"/>
              </a:buClr>
              <a:buSzPts val="800"/>
              <a:buNone/>
              <a:defRPr sz="1067"/>
            </a:lvl5pPr>
            <a:lvl6pPr marL="3657509" lvl="5" indent="-304792" algn="l">
              <a:lnSpc>
                <a:spcPct val="90000"/>
              </a:lnSpc>
              <a:spcBef>
                <a:spcPts val="533"/>
              </a:spcBef>
              <a:spcAft>
                <a:spcPts val="0"/>
              </a:spcAft>
              <a:buClr>
                <a:schemeClr val="lt1"/>
              </a:buClr>
              <a:buSzPts val="800"/>
              <a:buNone/>
              <a:defRPr sz="1067"/>
            </a:lvl6pPr>
            <a:lvl7pPr marL="4267093" lvl="6" indent="-304792" algn="l">
              <a:lnSpc>
                <a:spcPct val="90000"/>
              </a:lnSpc>
              <a:spcBef>
                <a:spcPts val="533"/>
              </a:spcBef>
              <a:spcAft>
                <a:spcPts val="0"/>
              </a:spcAft>
              <a:buClr>
                <a:schemeClr val="lt1"/>
              </a:buClr>
              <a:buSzPts val="800"/>
              <a:buNone/>
              <a:defRPr sz="1067"/>
            </a:lvl7pPr>
            <a:lvl8pPr marL="4876678" lvl="7" indent="-304792" algn="l">
              <a:lnSpc>
                <a:spcPct val="90000"/>
              </a:lnSpc>
              <a:spcBef>
                <a:spcPts val="533"/>
              </a:spcBef>
              <a:spcAft>
                <a:spcPts val="0"/>
              </a:spcAft>
              <a:buClr>
                <a:schemeClr val="lt1"/>
              </a:buClr>
              <a:buSzPts val="800"/>
              <a:buNone/>
              <a:defRPr sz="1067"/>
            </a:lvl8pPr>
            <a:lvl9pPr marL="5486263" lvl="8" indent="-304792" algn="l">
              <a:lnSpc>
                <a:spcPct val="90000"/>
              </a:lnSpc>
              <a:spcBef>
                <a:spcPts val="533"/>
              </a:spcBef>
              <a:spcAft>
                <a:spcPts val="0"/>
              </a:spcAft>
              <a:buClr>
                <a:schemeClr val="lt1"/>
              </a:buClr>
              <a:buSzPts val="800"/>
              <a:buNone/>
              <a:defRPr sz="1067"/>
            </a:lvl9pPr>
          </a:lstStyle>
          <a:p>
            <a:endParaRPr/>
          </a:p>
        </p:txBody>
      </p:sp>
      <p:sp>
        <p:nvSpPr>
          <p:cNvPr id="90" name="Google Shape;90;p13"/>
          <p:cNvSpPr txBox="1">
            <a:spLocks noGrp="1"/>
          </p:cNvSpPr>
          <p:nvPr>
            <p:ph type="dt" idx="10"/>
          </p:nvPr>
        </p:nvSpPr>
        <p:spPr>
          <a:xfrm>
            <a:off x="7814452" y="381000"/>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91" name="Google Shape;91;p13"/>
          <p:cNvSpPr txBox="1">
            <a:spLocks noGrp="1"/>
          </p:cNvSpPr>
          <p:nvPr>
            <p:ph type="ftr" idx="11"/>
          </p:nvPr>
        </p:nvSpPr>
        <p:spPr>
          <a:xfrm>
            <a:off x="685800" y="379941"/>
            <a:ext cx="69916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92" name="Google Shape;92;p13"/>
          <p:cNvSpPr txBox="1">
            <a:spLocks noGrp="1"/>
          </p:cNvSpPr>
          <p:nvPr>
            <p:ph type="sldNum" idx="12"/>
          </p:nvPr>
        </p:nvSpPr>
        <p:spPr>
          <a:xfrm>
            <a:off x="10862452" y="381000"/>
            <a:ext cx="6436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
        <p:nvSpPr>
          <p:cNvPr id="93" name="Google Shape;93;p13"/>
          <p:cNvSpPr txBox="1"/>
          <p:nvPr/>
        </p:nvSpPr>
        <p:spPr>
          <a:xfrm>
            <a:off x="476251" y="933451"/>
            <a:ext cx="609600" cy="584800"/>
          </a:xfrm>
          <a:prstGeom prst="rect">
            <a:avLst/>
          </a:prstGeom>
          <a:noFill/>
          <a:ln>
            <a:noFill/>
          </a:ln>
        </p:spPr>
        <p:txBody>
          <a:bodyPr spcFirstLastPara="1" wrap="square" lIns="91433" tIns="45700" rIns="91433" bIns="45700" anchor="ctr" anchorCtr="0">
            <a:noAutofit/>
          </a:bodyPr>
          <a:lstStyle/>
          <a:p>
            <a:pPr marL="0" marR="0" lvl="0" indent="0" algn="l" rtl="0">
              <a:spcBef>
                <a:spcPts val="0"/>
              </a:spcBef>
              <a:spcAft>
                <a:spcPts val="0"/>
              </a:spcAft>
              <a:buClr>
                <a:schemeClr val="lt1"/>
              </a:buClr>
              <a:buSzPts val="6000"/>
              <a:buFont typeface="Century Gothic"/>
              <a:buNone/>
            </a:pPr>
            <a:r>
              <a:rPr lang="fr" sz="8000" b="0" i="0" u="none" strike="noStrike" cap="none">
                <a:solidFill>
                  <a:schemeClr val="lt1"/>
                </a:solidFill>
                <a:latin typeface="Century Gothic"/>
                <a:ea typeface="Century Gothic"/>
                <a:cs typeface="Century Gothic"/>
                <a:sym typeface="Century Gothic"/>
              </a:rPr>
              <a:t>“</a:t>
            </a:r>
            <a:endParaRPr sz="1467" dirty="0"/>
          </a:p>
        </p:txBody>
      </p:sp>
      <p:sp>
        <p:nvSpPr>
          <p:cNvPr id="94" name="Google Shape;94;p13"/>
          <p:cNvSpPr txBox="1"/>
          <p:nvPr/>
        </p:nvSpPr>
        <p:spPr>
          <a:xfrm>
            <a:off x="10984229" y="2701291"/>
            <a:ext cx="609600" cy="584800"/>
          </a:xfrm>
          <a:prstGeom prst="rect">
            <a:avLst/>
          </a:prstGeom>
          <a:noFill/>
          <a:ln>
            <a:noFill/>
          </a:ln>
        </p:spPr>
        <p:txBody>
          <a:bodyPr spcFirstLastPara="1" wrap="square" lIns="91433" tIns="45700" rIns="91433" bIns="45700" anchor="ctr" anchorCtr="0">
            <a:noAutofit/>
          </a:bodyPr>
          <a:lstStyle/>
          <a:p>
            <a:pPr marL="0" marR="0" lvl="0" indent="0" algn="r" rtl="0">
              <a:spcBef>
                <a:spcPts val="0"/>
              </a:spcBef>
              <a:spcAft>
                <a:spcPts val="0"/>
              </a:spcAft>
              <a:buClr>
                <a:schemeClr val="lt1"/>
              </a:buClr>
              <a:buSzPts val="6000"/>
              <a:buFont typeface="Century Gothic"/>
              <a:buNone/>
            </a:pPr>
            <a:r>
              <a:rPr lang="fr" sz="8000" b="0" i="0" u="none" strike="noStrike" cap="none">
                <a:solidFill>
                  <a:schemeClr val="lt1"/>
                </a:solidFill>
                <a:latin typeface="Century Gothic"/>
                <a:ea typeface="Century Gothic"/>
                <a:cs typeface="Century Gothic"/>
                <a:sym typeface="Century Gothic"/>
              </a:rPr>
              <a:t>”</a:t>
            </a:r>
            <a:endParaRPr sz="1467" dirty="0"/>
          </a:p>
        </p:txBody>
      </p:sp>
    </p:spTree>
    <p:extLst>
      <p:ext uri="{BB962C8B-B14F-4D97-AF65-F5344CB8AC3E}">
        <p14:creationId xmlns:p14="http://schemas.microsoft.com/office/powerpoint/2010/main" val="2611214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arte nom">
  <p:cSld name="Carte nom">
    <p:spTree>
      <p:nvGrpSpPr>
        <p:cNvPr id="1" name="Shape 95"/>
        <p:cNvGrpSpPr/>
        <p:nvPr/>
      </p:nvGrpSpPr>
      <p:grpSpPr>
        <a:xfrm>
          <a:off x="0" y="0"/>
          <a:ext cx="0" cy="0"/>
          <a:chOff x="0" y="0"/>
          <a:chExt cx="0" cy="0"/>
        </a:xfrm>
      </p:grpSpPr>
      <p:pic>
        <p:nvPicPr>
          <p:cNvPr id="96" name="Google Shape;96;p14" descr="C1-HD-BTM.png"/>
          <p:cNvPicPr preferRelativeResize="0"/>
          <p:nvPr/>
        </p:nvPicPr>
        <p:blipFill rotWithShape="1">
          <a:blip r:embed="rId2">
            <a:alphaModFix/>
          </a:blip>
          <a:srcRect/>
          <a:stretch/>
        </p:blipFill>
        <p:spPr>
          <a:xfrm>
            <a:off x="0" y="4375151"/>
            <a:ext cx="12192000" cy="2482851"/>
          </a:xfrm>
          <a:prstGeom prst="rect">
            <a:avLst/>
          </a:prstGeom>
          <a:noFill/>
          <a:ln>
            <a:noFill/>
          </a:ln>
        </p:spPr>
      </p:pic>
      <p:sp>
        <p:nvSpPr>
          <p:cNvPr id="97" name="Google Shape;97;p14"/>
          <p:cNvSpPr txBox="1">
            <a:spLocks noGrp="1"/>
          </p:cNvSpPr>
          <p:nvPr>
            <p:ph type="title"/>
          </p:nvPr>
        </p:nvSpPr>
        <p:spPr>
          <a:xfrm>
            <a:off x="1024495" y="1124701"/>
            <a:ext cx="10146000" cy="2512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400"/>
              <a:buFont typeface="Century Gothic"/>
              <a:buNone/>
              <a:defRPr sz="32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8" name="Google Shape;98;p14"/>
          <p:cNvSpPr txBox="1">
            <a:spLocks noGrp="1"/>
          </p:cNvSpPr>
          <p:nvPr>
            <p:ph type="body" idx="1"/>
          </p:nvPr>
        </p:nvSpPr>
        <p:spPr>
          <a:xfrm>
            <a:off x="1024467" y="3648315"/>
            <a:ext cx="10144800" cy="1000000"/>
          </a:xfrm>
          <a:prstGeom prst="rect">
            <a:avLst/>
          </a:prstGeom>
          <a:noFill/>
          <a:ln>
            <a:noFill/>
          </a:ln>
        </p:spPr>
        <p:txBody>
          <a:bodyPr spcFirstLastPara="1" wrap="square" lIns="68575" tIns="34275" rIns="68575" bIns="34275" anchor="t" anchorCtr="0">
            <a:normAutofit/>
          </a:bodyPr>
          <a:lstStyle>
            <a:lvl1pPr marL="609585" lvl="0" indent="-304792" algn="l">
              <a:lnSpc>
                <a:spcPct val="90000"/>
              </a:lnSpc>
              <a:spcBef>
                <a:spcPts val="1067"/>
              </a:spcBef>
              <a:spcAft>
                <a:spcPts val="0"/>
              </a:spcAft>
              <a:buClr>
                <a:schemeClr val="lt1"/>
              </a:buClr>
              <a:buSzPts val="1200"/>
              <a:buNone/>
              <a:defRPr sz="1600"/>
            </a:lvl1pPr>
            <a:lvl2pPr marL="1219170" lvl="1" indent="-304792" algn="l">
              <a:lnSpc>
                <a:spcPct val="90000"/>
              </a:lnSpc>
              <a:spcBef>
                <a:spcPts val="533"/>
              </a:spcBef>
              <a:spcAft>
                <a:spcPts val="0"/>
              </a:spcAft>
              <a:buClr>
                <a:schemeClr val="lt1"/>
              </a:buClr>
              <a:buSzPts val="1100"/>
              <a:buNone/>
              <a:defRPr sz="1467"/>
            </a:lvl2pPr>
            <a:lvl3pPr marL="1828754" lvl="2" indent="-304792" algn="l">
              <a:lnSpc>
                <a:spcPct val="90000"/>
              </a:lnSpc>
              <a:spcBef>
                <a:spcPts val="533"/>
              </a:spcBef>
              <a:spcAft>
                <a:spcPts val="0"/>
              </a:spcAft>
              <a:buClr>
                <a:schemeClr val="lt1"/>
              </a:buClr>
              <a:buSzPts val="900"/>
              <a:buNone/>
              <a:defRPr sz="1200"/>
            </a:lvl3pPr>
            <a:lvl4pPr marL="2438339" lvl="3" indent="-304792" algn="l">
              <a:lnSpc>
                <a:spcPct val="90000"/>
              </a:lnSpc>
              <a:spcBef>
                <a:spcPts val="533"/>
              </a:spcBef>
              <a:spcAft>
                <a:spcPts val="0"/>
              </a:spcAft>
              <a:buClr>
                <a:schemeClr val="lt1"/>
              </a:buClr>
              <a:buSzPts val="800"/>
              <a:buNone/>
              <a:defRPr sz="1067"/>
            </a:lvl4pPr>
            <a:lvl5pPr marL="3047924" lvl="4" indent="-304792" algn="l">
              <a:lnSpc>
                <a:spcPct val="90000"/>
              </a:lnSpc>
              <a:spcBef>
                <a:spcPts val="533"/>
              </a:spcBef>
              <a:spcAft>
                <a:spcPts val="0"/>
              </a:spcAft>
              <a:buClr>
                <a:schemeClr val="lt1"/>
              </a:buClr>
              <a:buSzPts val="800"/>
              <a:buNone/>
              <a:defRPr sz="1067"/>
            </a:lvl5pPr>
            <a:lvl6pPr marL="3657509" lvl="5" indent="-304792" algn="l">
              <a:lnSpc>
                <a:spcPct val="90000"/>
              </a:lnSpc>
              <a:spcBef>
                <a:spcPts val="533"/>
              </a:spcBef>
              <a:spcAft>
                <a:spcPts val="0"/>
              </a:spcAft>
              <a:buClr>
                <a:schemeClr val="lt1"/>
              </a:buClr>
              <a:buSzPts val="800"/>
              <a:buNone/>
              <a:defRPr sz="1067"/>
            </a:lvl6pPr>
            <a:lvl7pPr marL="4267093" lvl="6" indent="-304792" algn="l">
              <a:lnSpc>
                <a:spcPct val="90000"/>
              </a:lnSpc>
              <a:spcBef>
                <a:spcPts val="533"/>
              </a:spcBef>
              <a:spcAft>
                <a:spcPts val="0"/>
              </a:spcAft>
              <a:buClr>
                <a:schemeClr val="lt1"/>
              </a:buClr>
              <a:buSzPts val="800"/>
              <a:buNone/>
              <a:defRPr sz="1067"/>
            </a:lvl7pPr>
            <a:lvl8pPr marL="4876678" lvl="7" indent="-304792" algn="l">
              <a:lnSpc>
                <a:spcPct val="90000"/>
              </a:lnSpc>
              <a:spcBef>
                <a:spcPts val="533"/>
              </a:spcBef>
              <a:spcAft>
                <a:spcPts val="0"/>
              </a:spcAft>
              <a:buClr>
                <a:schemeClr val="lt1"/>
              </a:buClr>
              <a:buSzPts val="800"/>
              <a:buNone/>
              <a:defRPr sz="1067"/>
            </a:lvl8pPr>
            <a:lvl9pPr marL="5486263" lvl="8" indent="-304792" algn="l">
              <a:lnSpc>
                <a:spcPct val="90000"/>
              </a:lnSpc>
              <a:spcBef>
                <a:spcPts val="533"/>
              </a:spcBef>
              <a:spcAft>
                <a:spcPts val="0"/>
              </a:spcAft>
              <a:buClr>
                <a:schemeClr val="lt1"/>
              </a:buClr>
              <a:buSzPts val="800"/>
              <a:buNone/>
              <a:defRPr sz="1067"/>
            </a:lvl9pPr>
          </a:lstStyle>
          <a:p>
            <a:endParaRPr/>
          </a:p>
        </p:txBody>
      </p:sp>
      <p:sp>
        <p:nvSpPr>
          <p:cNvPr id="99" name="Google Shape;99;p14"/>
          <p:cNvSpPr txBox="1">
            <a:spLocks noGrp="1"/>
          </p:cNvSpPr>
          <p:nvPr>
            <p:ph type="dt" idx="10"/>
          </p:nvPr>
        </p:nvSpPr>
        <p:spPr>
          <a:xfrm>
            <a:off x="7814452" y="378883"/>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00" name="Google Shape;100;p14"/>
          <p:cNvSpPr txBox="1">
            <a:spLocks noGrp="1"/>
          </p:cNvSpPr>
          <p:nvPr>
            <p:ph type="ftr" idx="11"/>
          </p:nvPr>
        </p:nvSpPr>
        <p:spPr>
          <a:xfrm>
            <a:off x="685800" y="378883"/>
            <a:ext cx="69916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01" name="Google Shape;101;p14"/>
          <p:cNvSpPr txBox="1">
            <a:spLocks noGrp="1"/>
          </p:cNvSpPr>
          <p:nvPr>
            <p:ph type="sldNum" idx="12"/>
          </p:nvPr>
        </p:nvSpPr>
        <p:spPr>
          <a:xfrm>
            <a:off x="10862452" y="381000"/>
            <a:ext cx="6436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1492548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lonnes d’image">
  <p:cSld name="3 colonnes d’image">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2895600" y="762000"/>
            <a:ext cx="8610400" cy="12956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16"/>
          <p:cNvSpPr txBox="1">
            <a:spLocks noGrp="1"/>
          </p:cNvSpPr>
          <p:nvPr>
            <p:ph type="body" idx="1"/>
          </p:nvPr>
        </p:nvSpPr>
        <p:spPr>
          <a:xfrm>
            <a:off x="688619" y="4191000"/>
            <a:ext cx="3451600" cy="682800"/>
          </a:xfrm>
          <a:prstGeom prst="rect">
            <a:avLst/>
          </a:prstGeom>
          <a:noFill/>
          <a:ln>
            <a:noFill/>
          </a:ln>
        </p:spPr>
        <p:txBody>
          <a:bodyPr spcFirstLastPara="1" wrap="square" lIns="68575" tIns="34275" rIns="68575" bIns="34275" anchor="b" anchorCtr="0">
            <a:noAutofit/>
          </a:bodyPr>
          <a:lstStyle>
            <a:lvl1pPr marL="609585" lvl="0" indent="-304792" algn="l">
              <a:lnSpc>
                <a:spcPct val="90000"/>
              </a:lnSpc>
              <a:spcBef>
                <a:spcPts val="1067"/>
              </a:spcBef>
              <a:spcAft>
                <a:spcPts val="0"/>
              </a:spcAft>
              <a:buClr>
                <a:schemeClr val="lt1"/>
              </a:buClr>
              <a:buSzPts val="1800"/>
              <a:buNone/>
              <a:defRPr sz="2400" b="0">
                <a:solidFill>
                  <a:schemeClr val="lt1"/>
                </a:solidFill>
              </a:defRPr>
            </a:lvl1pPr>
            <a:lvl2pPr marL="1219170" lvl="1" indent="-304792" algn="l">
              <a:lnSpc>
                <a:spcPct val="90000"/>
              </a:lnSpc>
              <a:spcBef>
                <a:spcPts val="533"/>
              </a:spcBef>
              <a:spcAft>
                <a:spcPts val="0"/>
              </a:spcAft>
              <a:buClr>
                <a:schemeClr val="lt1"/>
              </a:buClr>
              <a:buSzPts val="1500"/>
              <a:buNone/>
              <a:defRPr sz="2000" b="1"/>
            </a:lvl2pPr>
            <a:lvl3pPr marL="1828754" lvl="2" indent="-304792" algn="l">
              <a:lnSpc>
                <a:spcPct val="90000"/>
              </a:lnSpc>
              <a:spcBef>
                <a:spcPts val="533"/>
              </a:spcBef>
              <a:spcAft>
                <a:spcPts val="0"/>
              </a:spcAft>
              <a:buClr>
                <a:schemeClr val="lt1"/>
              </a:buClr>
              <a:buSzPts val="1400"/>
              <a:buNone/>
              <a:defRPr sz="1867" b="1"/>
            </a:lvl3pPr>
            <a:lvl4pPr marL="2438339" lvl="3" indent="-304792" algn="l">
              <a:lnSpc>
                <a:spcPct val="90000"/>
              </a:lnSpc>
              <a:spcBef>
                <a:spcPts val="533"/>
              </a:spcBef>
              <a:spcAft>
                <a:spcPts val="0"/>
              </a:spcAft>
              <a:buClr>
                <a:schemeClr val="lt1"/>
              </a:buClr>
              <a:buSzPts val="1200"/>
              <a:buNone/>
              <a:defRPr sz="1600" b="1"/>
            </a:lvl4pPr>
            <a:lvl5pPr marL="3047924" lvl="4" indent="-304792" algn="l">
              <a:lnSpc>
                <a:spcPct val="90000"/>
              </a:lnSpc>
              <a:spcBef>
                <a:spcPts val="533"/>
              </a:spcBef>
              <a:spcAft>
                <a:spcPts val="0"/>
              </a:spcAft>
              <a:buClr>
                <a:schemeClr val="lt1"/>
              </a:buClr>
              <a:buSzPts val="1200"/>
              <a:buNone/>
              <a:defRPr sz="1600" b="1"/>
            </a:lvl5pPr>
            <a:lvl6pPr marL="3657509" lvl="5" indent="-304792" algn="l">
              <a:lnSpc>
                <a:spcPct val="90000"/>
              </a:lnSpc>
              <a:spcBef>
                <a:spcPts val="533"/>
              </a:spcBef>
              <a:spcAft>
                <a:spcPts val="0"/>
              </a:spcAft>
              <a:buClr>
                <a:schemeClr val="lt1"/>
              </a:buClr>
              <a:buSzPts val="1200"/>
              <a:buNone/>
              <a:defRPr sz="1600" b="1"/>
            </a:lvl6pPr>
            <a:lvl7pPr marL="4267093" lvl="6" indent="-304792" algn="l">
              <a:lnSpc>
                <a:spcPct val="90000"/>
              </a:lnSpc>
              <a:spcBef>
                <a:spcPts val="533"/>
              </a:spcBef>
              <a:spcAft>
                <a:spcPts val="0"/>
              </a:spcAft>
              <a:buClr>
                <a:schemeClr val="lt1"/>
              </a:buClr>
              <a:buSzPts val="1200"/>
              <a:buNone/>
              <a:defRPr sz="1600" b="1"/>
            </a:lvl7pPr>
            <a:lvl8pPr marL="4876678" lvl="7" indent="-304792" algn="l">
              <a:lnSpc>
                <a:spcPct val="90000"/>
              </a:lnSpc>
              <a:spcBef>
                <a:spcPts val="533"/>
              </a:spcBef>
              <a:spcAft>
                <a:spcPts val="0"/>
              </a:spcAft>
              <a:buClr>
                <a:schemeClr val="lt1"/>
              </a:buClr>
              <a:buSzPts val="1200"/>
              <a:buNone/>
              <a:defRPr sz="1600" b="1"/>
            </a:lvl8pPr>
            <a:lvl9pPr marL="5486263" lvl="8" indent="-304792" algn="l">
              <a:lnSpc>
                <a:spcPct val="90000"/>
              </a:lnSpc>
              <a:spcBef>
                <a:spcPts val="533"/>
              </a:spcBef>
              <a:spcAft>
                <a:spcPts val="0"/>
              </a:spcAft>
              <a:buClr>
                <a:schemeClr val="lt1"/>
              </a:buClr>
              <a:buSzPts val="1200"/>
              <a:buNone/>
              <a:defRPr sz="1600" b="1"/>
            </a:lvl9pPr>
          </a:lstStyle>
          <a:p>
            <a:endParaRPr/>
          </a:p>
        </p:txBody>
      </p:sp>
      <p:sp>
        <p:nvSpPr>
          <p:cNvPr id="116" name="Google Shape;116;p16"/>
          <p:cNvSpPr>
            <a:spLocks noGrp="1"/>
          </p:cNvSpPr>
          <p:nvPr>
            <p:ph type="pic" idx="2"/>
          </p:nvPr>
        </p:nvSpPr>
        <p:spPr>
          <a:xfrm>
            <a:off x="688619" y="2362200"/>
            <a:ext cx="3451600" cy="1524000"/>
          </a:xfrm>
          <a:prstGeom prst="roundRect">
            <a:avLst>
              <a:gd name="adj" fmla="val 0"/>
            </a:avLst>
          </a:prstGeom>
          <a:noFill/>
          <a:ln>
            <a:noFill/>
          </a:ln>
          <a:effectLst>
            <a:outerShdw blurRad="38100" dist="38100" dir="5400000" algn="tl" rotWithShape="0">
              <a:srgbClr val="000000">
                <a:alpha val="42745"/>
              </a:srgbClr>
            </a:outerShdw>
          </a:effectLst>
        </p:spPr>
        <p:txBody>
          <a:bodyPr/>
          <a:lstStyle/>
          <a:p>
            <a:endParaRPr lang="fr-DZ"/>
          </a:p>
        </p:txBody>
      </p:sp>
      <p:sp>
        <p:nvSpPr>
          <p:cNvPr id="117" name="Google Shape;117;p16"/>
          <p:cNvSpPr txBox="1">
            <a:spLocks noGrp="1"/>
          </p:cNvSpPr>
          <p:nvPr>
            <p:ph type="body" idx="3"/>
          </p:nvPr>
        </p:nvSpPr>
        <p:spPr>
          <a:xfrm>
            <a:off x="688619" y="4873764"/>
            <a:ext cx="3451600" cy="1344800"/>
          </a:xfrm>
          <a:prstGeom prst="rect">
            <a:avLst/>
          </a:prstGeom>
          <a:noFill/>
          <a:ln>
            <a:noFill/>
          </a:ln>
        </p:spPr>
        <p:txBody>
          <a:bodyPr spcFirstLastPara="1" wrap="square" lIns="68575" tIns="34275" rIns="68575" bIns="34275" anchor="t" anchorCtr="0">
            <a:normAutofit/>
          </a:bodyPr>
          <a:lstStyle>
            <a:lvl1pPr marL="609585" lvl="0" indent="-304792" algn="l">
              <a:lnSpc>
                <a:spcPct val="90000"/>
              </a:lnSpc>
              <a:spcBef>
                <a:spcPts val="1067"/>
              </a:spcBef>
              <a:spcAft>
                <a:spcPts val="0"/>
              </a:spcAft>
              <a:buClr>
                <a:schemeClr val="lt1"/>
              </a:buClr>
              <a:buSzPts val="1100"/>
              <a:buNone/>
              <a:defRPr sz="1467"/>
            </a:lvl1pPr>
            <a:lvl2pPr marL="1219170" lvl="1" indent="-304792" algn="l">
              <a:lnSpc>
                <a:spcPct val="90000"/>
              </a:lnSpc>
              <a:spcBef>
                <a:spcPts val="533"/>
              </a:spcBef>
              <a:spcAft>
                <a:spcPts val="0"/>
              </a:spcAft>
              <a:buClr>
                <a:schemeClr val="lt1"/>
              </a:buClr>
              <a:buSzPts val="900"/>
              <a:buNone/>
              <a:defRPr sz="1200"/>
            </a:lvl2pPr>
            <a:lvl3pPr marL="1828754" lvl="2" indent="-304792" algn="l">
              <a:lnSpc>
                <a:spcPct val="90000"/>
              </a:lnSpc>
              <a:spcBef>
                <a:spcPts val="533"/>
              </a:spcBef>
              <a:spcAft>
                <a:spcPts val="0"/>
              </a:spcAft>
              <a:buClr>
                <a:schemeClr val="lt1"/>
              </a:buClr>
              <a:buSzPts val="800"/>
              <a:buNone/>
              <a:defRPr sz="1067"/>
            </a:lvl3pPr>
            <a:lvl4pPr marL="2438339" lvl="3" indent="-304792" algn="l">
              <a:lnSpc>
                <a:spcPct val="90000"/>
              </a:lnSpc>
              <a:spcBef>
                <a:spcPts val="533"/>
              </a:spcBef>
              <a:spcAft>
                <a:spcPts val="0"/>
              </a:spcAft>
              <a:buClr>
                <a:schemeClr val="lt1"/>
              </a:buClr>
              <a:buSzPts val="700"/>
              <a:buNone/>
              <a:defRPr sz="933"/>
            </a:lvl4pPr>
            <a:lvl5pPr marL="3047924" lvl="4" indent="-304792" algn="l">
              <a:lnSpc>
                <a:spcPct val="90000"/>
              </a:lnSpc>
              <a:spcBef>
                <a:spcPts val="533"/>
              </a:spcBef>
              <a:spcAft>
                <a:spcPts val="0"/>
              </a:spcAft>
              <a:buClr>
                <a:schemeClr val="lt1"/>
              </a:buClr>
              <a:buSzPts val="700"/>
              <a:buNone/>
              <a:defRPr sz="933"/>
            </a:lvl5pPr>
            <a:lvl6pPr marL="3657509" lvl="5" indent="-304792" algn="l">
              <a:lnSpc>
                <a:spcPct val="90000"/>
              </a:lnSpc>
              <a:spcBef>
                <a:spcPts val="533"/>
              </a:spcBef>
              <a:spcAft>
                <a:spcPts val="0"/>
              </a:spcAft>
              <a:buClr>
                <a:schemeClr val="lt1"/>
              </a:buClr>
              <a:buSzPts val="700"/>
              <a:buNone/>
              <a:defRPr sz="933"/>
            </a:lvl6pPr>
            <a:lvl7pPr marL="4267093" lvl="6" indent="-304792" algn="l">
              <a:lnSpc>
                <a:spcPct val="90000"/>
              </a:lnSpc>
              <a:spcBef>
                <a:spcPts val="533"/>
              </a:spcBef>
              <a:spcAft>
                <a:spcPts val="0"/>
              </a:spcAft>
              <a:buClr>
                <a:schemeClr val="lt1"/>
              </a:buClr>
              <a:buSzPts val="700"/>
              <a:buNone/>
              <a:defRPr sz="933"/>
            </a:lvl7pPr>
            <a:lvl8pPr marL="4876678" lvl="7" indent="-304792" algn="l">
              <a:lnSpc>
                <a:spcPct val="90000"/>
              </a:lnSpc>
              <a:spcBef>
                <a:spcPts val="533"/>
              </a:spcBef>
              <a:spcAft>
                <a:spcPts val="0"/>
              </a:spcAft>
              <a:buClr>
                <a:schemeClr val="lt1"/>
              </a:buClr>
              <a:buSzPts val="700"/>
              <a:buNone/>
              <a:defRPr sz="933"/>
            </a:lvl8pPr>
            <a:lvl9pPr marL="5486263" lvl="8" indent="-304792" algn="l">
              <a:lnSpc>
                <a:spcPct val="90000"/>
              </a:lnSpc>
              <a:spcBef>
                <a:spcPts val="533"/>
              </a:spcBef>
              <a:spcAft>
                <a:spcPts val="0"/>
              </a:spcAft>
              <a:buClr>
                <a:schemeClr val="lt1"/>
              </a:buClr>
              <a:buSzPts val="700"/>
              <a:buNone/>
              <a:defRPr sz="933"/>
            </a:lvl9pPr>
          </a:lstStyle>
          <a:p>
            <a:endParaRPr/>
          </a:p>
        </p:txBody>
      </p:sp>
      <p:sp>
        <p:nvSpPr>
          <p:cNvPr id="118" name="Google Shape;118;p16"/>
          <p:cNvSpPr txBox="1">
            <a:spLocks noGrp="1"/>
          </p:cNvSpPr>
          <p:nvPr>
            <p:ph type="body" idx="4"/>
          </p:nvPr>
        </p:nvSpPr>
        <p:spPr>
          <a:xfrm>
            <a:off x="4374263" y="4191000"/>
            <a:ext cx="3448800" cy="682800"/>
          </a:xfrm>
          <a:prstGeom prst="rect">
            <a:avLst/>
          </a:prstGeom>
          <a:noFill/>
          <a:ln>
            <a:noFill/>
          </a:ln>
        </p:spPr>
        <p:txBody>
          <a:bodyPr spcFirstLastPara="1" wrap="square" lIns="68575" tIns="34275" rIns="68575" bIns="34275" anchor="b" anchorCtr="0">
            <a:noAutofit/>
          </a:bodyPr>
          <a:lstStyle>
            <a:lvl1pPr marL="609585" lvl="0" indent="-304792" algn="l">
              <a:lnSpc>
                <a:spcPct val="90000"/>
              </a:lnSpc>
              <a:spcBef>
                <a:spcPts val="1067"/>
              </a:spcBef>
              <a:spcAft>
                <a:spcPts val="0"/>
              </a:spcAft>
              <a:buClr>
                <a:schemeClr val="lt1"/>
              </a:buClr>
              <a:buSzPts val="1800"/>
              <a:buNone/>
              <a:defRPr sz="2400" b="0">
                <a:solidFill>
                  <a:schemeClr val="lt1"/>
                </a:solidFill>
              </a:defRPr>
            </a:lvl1pPr>
            <a:lvl2pPr marL="1219170" lvl="1" indent="-304792" algn="l">
              <a:lnSpc>
                <a:spcPct val="90000"/>
              </a:lnSpc>
              <a:spcBef>
                <a:spcPts val="533"/>
              </a:spcBef>
              <a:spcAft>
                <a:spcPts val="0"/>
              </a:spcAft>
              <a:buClr>
                <a:schemeClr val="lt1"/>
              </a:buClr>
              <a:buSzPts val="1500"/>
              <a:buNone/>
              <a:defRPr sz="2000" b="1"/>
            </a:lvl2pPr>
            <a:lvl3pPr marL="1828754" lvl="2" indent="-304792" algn="l">
              <a:lnSpc>
                <a:spcPct val="90000"/>
              </a:lnSpc>
              <a:spcBef>
                <a:spcPts val="533"/>
              </a:spcBef>
              <a:spcAft>
                <a:spcPts val="0"/>
              </a:spcAft>
              <a:buClr>
                <a:schemeClr val="lt1"/>
              </a:buClr>
              <a:buSzPts val="1400"/>
              <a:buNone/>
              <a:defRPr sz="1867" b="1"/>
            </a:lvl3pPr>
            <a:lvl4pPr marL="2438339" lvl="3" indent="-304792" algn="l">
              <a:lnSpc>
                <a:spcPct val="90000"/>
              </a:lnSpc>
              <a:spcBef>
                <a:spcPts val="533"/>
              </a:spcBef>
              <a:spcAft>
                <a:spcPts val="0"/>
              </a:spcAft>
              <a:buClr>
                <a:schemeClr val="lt1"/>
              </a:buClr>
              <a:buSzPts val="1200"/>
              <a:buNone/>
              <a:defRPr sz="1600" b="1"/>
            </a:lvl4pPr>
            <a:lvl5pPr marL="3047924" lvl="4" indent="-304792" algn="l">
              <a:lnSpc>
                <a:spcPct val="90000"/>
              </a:lnSpc>
              <a:spcBef>
                <a:spcPts val="533"/>
              </a:spcBef>
              <a:spcAft>
                <a:spcPts val="0"/>
              </a:spcAft>
              <a:buClr>
                <a:schemeClr val="lt1"/>
              </a:buClr>
              <a:buSzPts val="1200"/>
              <a:buNone/>
              <a:defRPr sz="1600" b="1"/>
            </a:lvl5pPr>
            <a:lvl6pPr marL="3657509" lvl="5" indent="-304792" algn="l">
              <a:lnSpc>
                <a:spcPct val="90000"/>
              </a:lnSpc>
              <a:spcBef>
                <a:spcPts val="533"/>
              </a:spcBef>
              <a:spcAft>
                <a:spcPts val="0"/>
              </a:spcAft>
              <a:buClr>
                <a:schemeClr val="lt1"/>
              </a:buClr>
              <a:buSzPts val="1200"/>
              <a:buNone/>
              <a:defRPr sz="1600" b="1"/>
            </a:lvl6pPr>
            <a:lvl7pPr marL="4267093" lvl="6" indent="-304792" algn="l">
              <a:lnSpc>
                <a:spcPct val="90000"/>
              </a:lnSpc>
              <a:spcBef>
                <a:spcPts val="533"/>
              </a:spcBef>
              <a:spcAft>
                <a:spcPts val="0"/>
              </a:spcAft>
              <a:buClr>
                <a:schemeClr val="lt1"/>
              </a:buClr>
              <a:buSzPts val="1200"/>
              <a:buNone/>
              <a:defRPr sz="1600" b="1"/>
            </a:lvl7pPr>
            <a:lvl8pPr marL="4876678" lvl="7" indent="-304792" algn="l">
              <a:lnSpc>
                <a:spcPct val="90000"/>
              </a:lnSpc>
              <a:spcBef>
                <a:spcPts val="533"/>
              </a:spcBef>
              <a:spcAft>
                <a:spcPts val="0"/>
              </a:spcAft>
              <a:buClr>
                <a:schemeClr val="lt1"/>
              </a:buClr>
              <a:buSzPts val="1200"/>
              <a:buNone/>
              <a:defRPr sz="1600" b="1"/>
            </a:lvl8pPr>
            <a:lvl9pPr marL="5486263" lvl="8" indent="-304792" algn="l">
              <a:lnSpc>
                <a:spcPct val="90000"/>
              </a:lnSpc>
              <a:spcBef>
                <a:spcPts val="533"/>
              </a:spcBef>
              <a:spcAft>
                <a:spcPts val="0"/>
              </a:spcAft>
              <a:buClr>
                <a:schemeClr val="lt1"/>
              </a:buClr>
              <a:buSzPts val="1200"/>
              <a:buNone/>
              <a:defRPr sz="1600" b="1"/>
            </a:lvl9pPr>
          </a:lstStyle>
          <a:p>
            <a:endParaRPr/>
          </a:p>
        </p:txBody>
      </p:sp>
      <p:sp>
        <p:nvSpPr>
          <p:cNvPr id="119" name="Google Shape;119;p16"/>
          <p:cNvSpPr>
            <a:spLocks noGrp="1"/>
          </p:cNvSpPr>
          <p:nvPr>
            <p:ph type="pic" idx="5"/>
          </p:nvPr>
        </p:nvSpPr>
        <p:spPr>
          <a:xfrm>
            <a:off x="4374263" y="2362200"/>
            <a:ext cx="3448800" cy="1524000"/>
          </a:xfrm>
          <a:prstGeom prst="roundRect">
            <a:avLst>
              <a:gd name="adj" fmla="val 0"/>
            </a:avLst>
          </a:prstGeom>
          <a:noFill/>
          <a:ln>
            <a:noFill/>
          </a:ln>
          <a:effectLst>
            <a:outerShdw blurRad="38100" dist="38100" dir="5400000" algn="tl" rotWithShape="0">
              <a:srgbClr val="000000">
                <a:alpha val="42745"/>
              </a:srgbClr>
            </a:outerShdw>
          </a:effectLst>
        </p:spPr>
        <p:txBody>
          <a:bodyPr/>
          <a:lstStyle/>
          <a:p>
            <a:endParaRPr lang="fr-DZ"/>
          </a:p>
        </p:txBody>
      </p:sp>
      <p:sp>
        <p:nvSpPr>
          <p:cNvPr id="120" name="Google Shape;120;p16"/>
          <p:cNvSpPr txBox="1">
            <a:spLocks noGrp="1"/>
          </p:cNvSpPr>
          <p:nvPr>
            <p:ph type="body" idx="6"/>
          </p:nvPr>
        </p:nvSpPr>
        <p:spPr>
          <a:xfrm>
            <a:off x="4374264" y="4873763"/>
            <a:ext cx="3448800" cy="1344800"/>
          </a:xfrm>
          <a:prstGeom prst="rect">
            <a:avLst/>
          </a:prstGeom>
          <a:noFill/>
          <a:ln>
            <a:noFill/>
          </a:ln>
        </p:spPr>
        <p:txBody>
          <a:bodyPr spcFirstLastPara="1" wrap="square" lIns="68575" tIns="34275" rIns="68575" bIns="34275" anchor="t" anchorCtr="0">
            <a:normAutofit/>
          </a:bodyPr>
          <a:lstStyle>
            <a:lvl1pPr marL="609585" lvl="0" indent="-304792" algn="l">
              <a:lnSpc>
                <a:spcPct val="90000"/>
              </a:lnSpc>
              <a:spcBef>
                <a:spcPts val="1067"/>
              </a:spcBef>
              <a:spcAft>
                <a:spcPts val="0"/>
              </a:spcAft>
              <a:buClr>
                <a:schemeClr val="lt1"/>
              </a:buClr>
              <a:buSzPts val="1100"/>
              <a:buNone/>
              <a:defRPr sz="1467"/>
            </a:lvl1pPr>
            <a:lvl2pPr marL="1219170" lvl="1" indent="-304792" algn="l">
              <a:lnSpc>
                <a:spcPct val="90000"/>
              </a:lnSpc>
              <a:spcBef>
                <a:spcPts val="533"/>
              </a:spcBef>
              <a:spcAft>
                <a:spcPts val="0"/>
              </a:spcAft>
              <a:buClr>
                <a:schemeClr val="lt1"/>
              </a:buClr>
              <a:buSzPts val="900"/>
              <a:buNone/>
              <a:defRPr sz="1200"/>
            </a:lvl2pPr>
            <a:lvl3pPr marL="1828754" lvl="2" indent="-304792" algn="l">
              <a:lnSpc>
                <a:spcPct val="90000"/>
              </a:lnSpc>
              <a:spcBef>
                <a:spcPts val="533"/>
              </a:spcBef>
              <a:spcAft>
                <a:spcPts val="0"/>
              </a:spcAft>
              <a:buClr>
                <a:schemeClr val="lt1"/>
              </a:buClr>
              <a:buSzPts val="800"/>
              <a:buNone/>
              <a:defRPr sz="1067"/>
            </a:lvl3pPr>
            <a:lvl4pPr marL="2438339" lvl="3" indent="-304792" algn="l">
              <a:lnSpc>
                <a:spcPct val="90000"/>
              </a:lnSpc>
              <a:spcBef>
                <a:spcPts val="533"/>
              </a:spcBef>
              <a:spcAft>
                <a:spcPts val="0"/>
              </a:spcAft>
              <a:buClr>
                <a:schemeClr val="lt1"/>
              </a:buClr>
              <a:buSzPts val="700"/>
              <a:buNone/>
              <a:defRPr sz="933"/>
            </a:lvl4pPr>
            <a:lvl5pPr marL="3047924" lvl="4" indent="-304792" algn="l">
              <a:lnSpc>
                <a:spcPct val="90000"/>
              </a:lnSpc>
              <a:spcBef>
                <a:spcPts val="533"/>
              </a:spcBef>
              <a:spcAft>
                <a:spcPts val="0"/>
              </a:spcAft>
              <a:buClr>
                <a:schemeClr val="lt1"/>
              </a:buClr>
              <a:buSzPts val="700"/>
              <a:buNone/>
              <a:defRPr sz="933"/>
            </a:lvl5pPr>
            <a:lvl6pPr marL="3657509" lvl="5" indent="-304792" algn="l">
              <a:lnSpc>
                <a:spcPct val="90000"/>
              </a:lnSpc>
              <a:spcBef>
                <a:spcPts val="533"/>
              </a:spcBef>
              <a:spcAft>
                <a:spcPts val="0"/>
              </a:spcAft>
              <a:buClr>
                <a:schemeClr val="lt1"/>
              </a:buClr>
              <a:buSzPts val="700"/>
              <a:buNone/>
              <a:defRPr sz="933"/>
            </a:lvl6pPr>
            <a:lvl7pPr marL="4267093" lvl="6" indent="-304792" algn="l">
              <a:lnSpc>
                <a:spcPct val="90000"/>
              </a:lnSpc>
              <a:spcBef>
                <a:spcPts val="533"/>
              </a:spcBef>
              <a:spcAft>
                <a:spcPts val="0"/>
              </a:spcAft>
              <a:buClr>
                <a:schemeClr val="lt1"/>
              </a:buClr>
              <a:buSzPts val="700"/>
              <a:buNone/>
              <a:defRPr sz="933"/>
            </a:lvl7pPr>
            <a:lvl8pPr marL="4876678" lvl="7" indent="-304792" algn="l">
              <a:lnSpc>
                <a:spcPct val="90000"/>
              </a:lnSpc>
              <a:spcBef>
                <a:spcPts val="533"/>
              </a:spcBef>
              <a:spcAft>
                <a:spcPts val="0"/>
              </a:spcAft>
              <a:buClr>
                <a:schemeClr val="lt1"/>
              </a:buClr>
              <a:buSzPts val="700"/>
              <a:buNone/>
              <a:defRPr sz="933"/>
            </a:lvl8pPr>
            <a:lvl9pPr marL="5486263" lvl="8" indent="-304792" algn="l">
              <a:lnSpc>
                <a:spcPct val="90000"/>
              </a:lnSpc>
              <a:spcBef>
                <a:spcPts val="533"/>
              </a:spcBef>
              <a:spcAft>
                <a:spcPts val="0"/>
              </a:spcAft>
              <a:buClr>
                <a:schemeClr val="lt1"/>
              </a:buClr>
              <a:buSzPts val="700"/>
              <a:buNone/>
              <a:defRPr sz="933"/>
            </a:lvl9pPr>
          </a:lstStyle>
          <a:p>
            <a:endParaRPr/>
          </a:p>
        </p:txBody>
      </p:sp>
      <p:sp>
        <p:nvSpPr>
          <p:cNvPr id="121" name="Google Shape;121;p16"/>
          <p:cNvSpPr txBox="1">
            <a:spLocks noGrp="1"/>
          </p:cNvSpPr>
          <p:nvPr>
            <p:ph type="body" idx="7"/>
          </p:nvPr>
        </p:nvSpPr>
        <p:spPr>
          <a:xfrm>
            <a:off x="8049731" y="4191000"/>
            <a:ext cx="3456400" cy="682800"/>
          </a:xfrm>
          <a:prstGeom prst="rect">
            <a:avLst/>
          </a:prstGeom>
          <a:noFill/>
          <a:ln>
            <a:noFill/>
          </a:ln>
        </p:spPr>
        <p:txBody>
          <a:bodyPr spcFirstLastPara="1" wrap="square" lIns="68575" tIns="34275" rIns="68575" bIns="34275" anchor="b" anchorCtr="0">
            <a:noAutofit/>
          </a:bodyPr>
          <a:lstStyle>
            <a:lvl1pPr marL="609585" lvl="0" indent="-304792" algn="l">
              <a:lnSpc>
                <a:spcPct val="90000"/>
              </a:lnSpc>
              <a:spcBef>
                <a:spcPts val="1067"/>
              </a:spcBef>
              <a:spcAft>
                <a:spcPts val="0"/>
              </a:spcAft>
              <a:buClr>
                <a:schemeClr val="lt1"/>
              </a:buClr>
              <a:buSzPts val="1800"/>
              <a:buNone/>
              <a:defRPr sz="2400" b="0">
                <a:solidFill>
                  <a:schemeClr val="lt1"/>
                </a:solidFill>
              </a:defRPr>
            </a:lvl1pPr>
            <a:lvl2pPr marL="1219170" lvl="1" indent="-304792" algn="l">
              <a:lnSpc>
                <a:spcPct val="90000"/>
              </a:lnSpc>
              <a:spcBef>
                <a:spcPts val="533"/>
              </a:spcBef>
              <a:spcAft>
                <a:spcPts val="0"/>
              </a:spcAft>
              <a:buClr>
                <a:schemeClr val="lt1"/>
              </a:buClr>
              <a:buSzPts val="1500"/>
              <a:buNone/>
              <a:defRPr sz="2000" b="1"/>
            </a:lvl2pPr>
            <a:lvl3pPr marL="1828754" lvl="2" indent="-304792" algn="l">
              <a:lnSpc>
                <a:spcPct val="90000"/>
              </a:lnSpc>
              <a:spcBef>
                <a:spcPts val="533"/>
              </a:spcBef>
              <a:spcAft>
                <a:spcPts val="0"/>
              </a:spcAft>
              <a:buClr>
                <a:schemeClr val="lt1"/>
              </a:buClr>
              <a:buSzPts val="1400"/>
              <a:buNone/>
              <a:defRPr sz="1867" b="1"/>
            </a:lvl3pPr>
            <a:lvl4pPr marL="2438339" lvl="3" indent="-304792" algn="l">
              <a:lnSpc>
                <a:spcPct val="90000"/>
              </a:lnSpc>
              <a:spcBef>
                <a:spcPts val="533"/>
              </a:spcBef>
              <a:spcAft>
                <a:spcPts val="0"/>
              </a:spcAft>
              <a:buClr>
                <a:schemeClr val="lt1"/>
              </a:buClr>
              <a:buSzPts val="1200"/>
              <a:buNone/>
              <a:defRPr sz="1600" b="1"/>
            </a:lvl4pPr>
            <a:lvl5pPr marL="3047924" lvl="4" indent="-304792" algn="l">
              <a:lnSpc>
                <a:spcPct val="90000"/>
              </a:lnSpc>
              <a:spcBef>
                <a:spcPts val="533"/>
              </a:spcBef>
              <a:spcAft>
                <a:spcPts val="0"/>
              </a:spcAft>
              <a:buClr>
                <a:schemeClr val="lt1"/>
              </a:buClr>
              <a:buSzPts val="1200"/>
              <a:buNone/>
              <a:defRPr sz="1600" b="1"/>
            </a:lvl5pPr>
            <a:lvl6pPr marL="3657509" lvl="5" indent="-304792" algn="l">
              <a:lnSpc>
                <a:spcPct val="90000"/>
              </a:lnSpc>
              <a:spcBef>
                <a:spcPts val="533"/>
              </a:spcBef>
              <a:spcAft>
                <a:spcPts val="0"/>
              </a:spcAft>
              <a:buClr>
                <a:schemeClr val="lt1"/>
              </a:buClr>
              <a:buSzPts val="1200"/>
              <a:buNone/>
              <a:defRPr sz="1600" b="1"/>
            </a:lvl6pPr>
            <a:lvl7pPr marL="4267093" lvl="6" indent="-304792" algn="l">
              <a:lnSpc>
                <a:spcPct val="90000"/>
              </a:lnSpc>
              <a:spcBef>
                <a:spcPts val="533"/>
              </a:spcBef>
              <a:spcAft>
                <a:spcPts val="0"/>
              </a:spcAft>
              <a:buClr>
                <a:schemeClr val="lt1"/>
              </a:buClr>
              <a:buSzPts val="1200"/>
              <a:buNone/>
              <a:defRPr sz="1600" b="1"/>
            </a:lvl7pPr>
            <a:lvl8pPr marL="4876678" lvl="7" indent="-304792" algn="l">
              <a:lnSpc>
                <a:spcPct val="90000"/>
              </a:lnSpc>
              <a:spcBef>
                <a:spcPts val="533"/>
              </a:spcBef>
              <a:spcAft>
                <a:spcPts val="0"/>
              </a:spcAft>
              <a:buClr>
                <a:schemeClr val="lt1"/>
              </a:buClr>
              <a:buSzPts val="1200"/>
              <a:buNone/>
              <a:defRPr sz="1600" b="1"/>
            </a:lvl8pPr>
            <a:lvl9pPr marL="5486263" lvl="8" indent="-304792" algn="l">
              <a:lnSpc>
                <a:spcPct val="90000"/>
              </a:lnSpc>
              <a:spcBef>
                <a:spcPts val="533"/>
              </a:spcBef>
              <a:spcAft>
                <a:spcPts val="0"/>
              </a:spcAft>
              <a:buClr>
                <a:schemeClr val="lt1"/>
              </a:buClr>
              <a:buSzPts val="1200"/>
              <a:buNone/>
              <a:defRPr sz="1600" b="1"/>
            </a:lvl9pPr>
          </a:lstStyle>
          <a:p>
            <a:endParaRPr/>
          </a:p>
        </p:txBody>
      </p:sp>
      <p:sp>
        <p:nvSpPr>
          <p:cNvPr id="122" name="Google Shape;122;p16"/>
          <p:cNvSpPr>
            <a:spLocks noGrp="1"/>
          </p:cNvSpPr>
          <p:nvPr>
            <p:ph type="pic" idx="8"/>
          </p:nvPr>
        </p:nvSpPr>
        <p:spPr>
          <a:xfrm>
            <a:off x="8049855" y="2362200"/>
            <a:ext cx="3448000" cy="1524000"/>
          </a:xfrm>
          <a:prstGeom prst="roundRect">
            <a:avLst>
              <a:gd name="adj" fmla="val 0"/>
            </a:avLst>
          </a:prstGeom>
          <a:noFill/>
          <a:ln>
            <a:noFill/>
          </a:ln>
          <a:effectLst>
            <a:outerShdw blurRad="38100" dist="38100" dir="5400000" algn="tl" rotWithShape="0">
              <a:srgbClr val="000000">
                <a:alpha val="42745"/>
              </a:srgbClr>
            </a:outerShdw>
          </a:effectLst>
        </p:spPr>
        <p:txBody>
          <a:bodyPr/>
          <a:lstStyle/>
          <a:p>
            <a:endParaRPr lang="fr-DZ"/>
          </a:p>
        </p:txBody>
      </p:sp>
      <p:sp>
        <p:nvSpPr>
          <p:cNvPr id="123" name="Google Shape;123;p16"/>
          <p:cNvSpPr txBox="1">
            <a:spLocks noGrp="1"/>
          </p:cNvSpPr>
          <p:nvPr>
            <p:ph type="body" idx="9"/>
          </p:nvPr>
        </p:nvSpPr>
        <p:spPr>
          <a:xfrm>
            <a:off x="8049731" y="4873761"/>
            <a:ext cx="3452400" cy="1344800"/>
          </a:xfrm>
          <a:prstGeom prst="rect">
            <a:avLst/>
          </a:prstGeom>
          <a:noFill/>
          <a:ln>
            <a:noFill/>
          </a:ln>
        </p:spPr>
        <p:txBody>
          <a:bodyPr spcFirstLastPara="1" wrap="square" lIns="68575" tIns="34275" rIns="68575" bIns="34275" anchor="t" anchorCtr="0">
            <a:normAutofit/>
          </a:bodyPr>
          <a:lstStyle>
            <a:lvl1pPr marL="609585" lvl="0" indent="-304792" algn="l">
              <a:lnSpc>
                <a:spcPct val="90000"/>
              </a:lnSpc>
              <a:spcBef>
                <a:spcPts val="1067"/>
              </a:spcBef>
              <a:spcAft>
                <a:spcPts val="0"/>
              </a:spcAft>
              <a:buClr>
                <a:schemeClr val="lt1"/>
              </a:buClr>
              <a:buSzPts val="1100"/>
              <a:buNone/>
              <a:defRPr sz="1467"/>
            </a:lvl1pPr>
            <a:lvl2pPr marL="1219170" lvl="1" indent="-304792" algn="l">
              <a:lnSpc>
                <a:spcPct val="90000"/>
              </a:lnSpc>
              <a:spcBef>
                <a:spcPts val="533"/>
              </a:spcBef>
              <a:spcAft>
                <a:spcPts val="0"/>
              </a:spcAft>
              <a:buClr>
                <a:schemeClr val="lt1"/>
              </a:buClr>
              <a:buSzPts val="900"/>
              <a:buNone/>
              <a:defRPr sz="1200"/>
            </a:lvl2pPr>
            <a:lvl3pPr marL="1828754" lvl="2" indent="-304792" algn="l">
              <a:lnSpc>
                <a:spcPct val="90000"/>
              </a:lnSpc>
              <a:spcBef>
                <a:spcPts val="533"/>
              </a:spcBef>
              <a:spcAft>
                <a:spcPts val="0"/>
              </a:spcAft>
              <a:buClr>
                <a:schemeClr val="lt1"/>
              </a:buClr>
              <a:buSzPts val="800"/>
              <a:buNone/>
              <a:defRPr sz="1067"/>
            </a:lvl3pPr>
            <a:lvl4pPr marL="2438339" lvl="3" indent="-304792" algn="l">
              <a:lnSpc>
                <a:spcPct val="90000"/>
              </a:lnSpc>
              <a:spcBef>
                <a:spcPts val="533"/>
              </a:spcBef>
              <a:spcAft>
                <a:spcPts val="0"/>
              </a:spcAft>
              <a:buClr>
                <a:schemeClr val="lt1"/>
              </a:buClr>
              <a:buSzPts val="700"/>
              <a:buNone/>
              <a:defRPr sz="933"/>
            </a:lvl4pPr>
            <a:lvl5pPr marL="3047924" lvl="4" indent="-304792" algn="l">
              <a:lnSpc>
                <a:spcPct val="90000"/>
              </a:lnSpc>
              <a:spcBef>
                <a:spcPts val="533"/>
              </a:spcBef>
              <a:spcAft>
                <a:spcPts val="0"/>
              </a:spcAft>
              <a:buClr>
                <a:schemeClr val="lt1"/>
              </a:buClr>
              <a:buSzPts val="700"/>
              <a:buNone/>
              <a:defRPr sz="933"/>
            </a:lvl5pPr>
            <a:lvl6pPr marL="3657509" lvl="5" indent="-304792" algn="l">
              <a:lnSpc>
                <a:spcPct val="90000"/>
              </a:lnSpc>
              <a:spcBef>
                <a:spcPts val="533"/>
              </a:spcBef>
              <a:spcAft>
                <a:spcPts val="0"/>
              </a:spcAft>
              <a:buClr>
                <a:schemeClr val="lt1"/>
              </a:buClr>
              <a:buSzPts val="700"/>
              <a:buNone/>
              <a:defRPr sz="933"/>
            </a:lvl6pPr>
            <a:lvl7pPr marL="4267093" lvl="6" indent="-304792" algn="l">
              <a:lnSpc>
                <a:spcPct val="90000"/>
              </a:lnSpc>
              <a:spcBef>
                <a:spcPts val="533"/>
              </a:spcBef>
              <a:spcAft>
                <a:spcPts val="0"/>
              </a:spcAft>
              <a:buClr>
                <a:schemeClr val="lt1"/>
              </a:buClr>
              <a:buSzPts val="700"/>
              <a:buNone/>
              <a:defRPr sz="933"/>
            </a:lvl7pPr>
            <a:lvl8pPr marL="4876678" lvl="7" indent="-304792" algn="l">
              <a:lnSpc>
                <a:spcPct val="90000"/>
              </a:lnSpc>
              <a:spcBef>
                <a:spcPts val="533"/>
              </a:spcBef>
              <a:spcAft>
                <a:spcPts val="0"/>
              </a:spcAft>
              <a:buClr>
                <a:schemeClr val="lt1"/>
              </a:buClr>
              <a:buSzPts val="700"/>
              <a:buNone/>
              <a:defRPr sz="933"/>
            </a:lvl8pPr>
            <a:lvl9pPr marL="5486263" lvl="8" indent="-304792" algn="l">
              <a:lnSpc>
                <a:spcPct val="90000"/>
              </a:lnSpc>
              <a:spcBef>
                <a:spcPts val="533"/>
              </a:spcBef>
              <a:spcAft>
                <a:spcPts val="0"/>
              </a:spcAft>
              <a:buClr>
                <a:schemeClr val="lt1"/>
              </a:buClr>
              <a:buSzPts val="700"/>
              <a:buNone/>
              <a:defRPr sz="933"/>
            </a:lvl9pPr>
          </a:lstStyle>
          <a:p>
            <a:endParaRPr/>
          </a:p>
        </p:txBody>
      </p:sp>
      <p:sp>
        <p:nvSpPr>
          <p:cNvPr id="124" name="Google Shape;124;p16"/>
          <p:cNvSpPr txBox="1">
            <a:spLocks noGrp="1"/>
          </p:cNvSpPr>
          <p:nvPr>
            <p:ph type="dt" idx="10"/>
          </p:nvPr>
        </p:nvSpPr>
        <p:spPr>
          <a:xfrm>
            <a:off x="8595360" y="6356351"/>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25" name="Google Shape;125;p16"/>
          <p:cNvSpPr txBox="1">
            <a:spLocks noGrp="1"/>
          </p:cNvSpPr>
          <p:nvPr>
            <p:ph type="ftr" idx="11"/>
          </p:nvPr>
        </p:nvSpPr>
        <p:spPr>
          <a:xfrm>
            <a:off x="685800" y="6355845"/>
            <a:ext cx="77724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26" name="Google Shape;126;p16"/>
          <p:cNvSpPr txBox="1">
            <a:spLocks noGrp="1"/>
          </p:cNvSpPr>
          <p:nvPr>
            <p:ph type="sldNum" idx="12"/>
          </p:nvPr>
        </p:nvSpPr>
        <p:spPr>
          <a:xfrm>
            <a:off x="8763000" y="381000"/>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3894214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vertical" type="vertTx">
  <p:cSld name="Titre et texte vertical">
    <p:spTree>
      <p:nvGrpSpPr>
        <p:cNvPr id="1" name="Shape 127"/>
        <p:cNvGrpSpPr/>
        <p:nvPr/>
      </p:nvGrpSpPr>
      <p:grpSpPr>
        <a:xfrm>
          <a:off x="0" y="0"/>
          <a:ext cx="0" cy="0"/>
          <a:chOff x="0" y="0"/>
          <a:chExt cx="0" cy="0"/>
        </a:xfrm>
      </p:grpSpPr>
      <p:sp>
        <p:nvSpPr>
          <p:cNvPr id="128" name="Google Shape;128;p17"/>
          <p:cNvSpPr txBox="1">
            <a:spLocks noGrp="1"/>
          </p:cNvSpPr>
          <p:nvPr>
            <p:ph type="title"/>
          </p:nvPr>
        </p:nvSpPr>
        <p:spPr>
          <a:xfrm>
            <a:off x="2895600" y="764373"/>
            <a:ext cx="8610400" cy="12932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9" name="Google Shape;129;p17"/>
          <p:cNvSpPr txBox="1">
            <a:spLocks noGrp="1"/>
          </p:cNvSpPr>
          <p:nvPr>
            <p:ph type="body" idx="1"/>
          </p:nvPr>
        </p:nvSpPr>
        <p:spPr>
          <a:xfrm rot="5400000">
            <a:off x="4084000" y="-1203641"/>
            <a:ext cx="4024000" cy="10820400"/>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130" name="Google Shape;130;p17"/>
          <p:cNvSpPr txBox="1">
            <a:spLocks noGrp="1"/>
          </p:cNvSpPr>
          <p:nvPr>
            <p:ph type="dt" idx="10"/>
          </p:nvPr>
        </p:nvSpPr>
        <p:spPr>
          <a:xfrm>
            <a:off x="8595360" y="6356351"/>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31" name="Google Shape;131;p17"/>
          <p:cNvSpPr txBox="1">
            <a:spLocks noGrp="1"/>
          </p:cNvSpPr>
          <p:nvPr>
            <p:ph type="ftr" idx="11"/>
          </p:nvPr>
        </p:nvSpPr>
        <p:spPr>
          <a:xfrm>
            <a:off x="685800" y="6355845"/>
            <a:ext cx="77724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32" name="Google Shape;132;p17"/>
          <p:cNvSpPr txBox="1">
            <a:spLocks noGrp="1"/>
          </p:cNvSpPr>
          <p:nvPr>
            <p:ph type="sldNum" idx="12"/>
          </p:nvPr>
        </p:nvSpPr>
        <p:spPr>
          <a:xfrm>
            <a:off x="8763000" y="381000"/>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1286241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re vertical et texte" type="vertTitleAndTx">
  <p:cSld name="Titre vertical et texte">
    <p:spTree>
      <p:nvGrpSpPr>
        <p:cNvPr id="1" name="Shape 133"/>
        <p:cNvGrpSpPr/>
        <p:nvPr/>
      </p:nvGrpSpPr>
      <p:grpSpPr>
        <a:xfrm>
          <a:off x="0" y="0"/>
          <a:ext cx="0" cy="0"/>
          <a:chOff x="0" y="0"/>
          <a:chExt cx="0" cy="0"/>
        </a:xfrm>
      </p:grpSpPr>
      <p:pic>
        <p:nvPicPr>
          <p:cNvPr id="134" name="Google Shape;134;p18" descr="C1-HD-BTM.png"/>
          <p:cNvPicPr preferRelativeResize="0"/>
          <p:nvPr/>
        </p:nvPicPr>
        <p:blipFill rotWithShape="1">
          <a:blip r:embed="rId2">
            <a:alphaModFix/>
          </a:blip>
          <a:srcRect/>
          <a:stretch/>
        </p:blipFill>
        <p:spPr>
          <a:xfrm>
            <a:off x="0" y="4375151"/>
            <a:ext cx="12192000" cy="2482851"/>
          </a:xfrm>
          <a:prstGeom prst="rect">
            <a:avLst/>
          </a:prstGeom>
          <a:noFill/>
          <a:ln>
            <a:noFill/>
          </a:ln>
        </p:spPr>
      </p:pic>
      <p:sp>
        <p:nvSpPr>
          <p:cNvPr id="135" name="Google Shape;135;p18"/>
          <p:cNvSpPr txBox="1">
            <a:spLocks noGrp="1"/>
          </p:cNvSpPr>
          <p:nvPr>
            <p:ph type="title"/>
          </p:nvPr>
        </p:nvSpPr>
        <p:spPr>
          <a:xfrm rot="5400000">
            <a:off x="8525800" y="1667867"/>
            <a:ext cx="3903200" cy="2057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lt1"/>
              </a:buClr>
              <a:buSzPts val="3000"/>
              <a:buFont typeface="Century Gothic"/>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6" name="Google Shape;136;p18"/>
          <p:cNvSpPr txBox="1">
            <a:spLocks noGrp="1"/>
          </p:cNvSpPr>
          <p:nvPr>
            <p:ph type="body" idx="1"/>
          </p:nvPr>
        </p:nvSpPr>
        <p:spPr>
          <a:xfrm rot="5400000">
            <a:off x="3174867" y="-1405533"/>
            <a:ext cx="3903200" cy="8204400"/>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137" name="Google Shape;137;p18"/>
          <p:cNvSpPr txBox="1">
            <a:spLocks noGrp="1"/>
          </p:cNvSpPr>
          <p:nvPr>
            <p:ph type="dt" idx="10"/>
          </p:nvPr>
        </p:nvSpPr>
        <p:spPr>
          <a:xfrm>
            <a:off x="7814452" y="379941"/>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38" name="Google Shape;138;p18"/>
          <p:cNvSpPr txBox="1">
            <a:spLocks noGrp="1"/>
          </p:cNvSpPr>
          <p:nvPr>
            <p:ph type="ftr" idx="11"/>
          </p:nvPr>
        </p:nvSpPr>
        <p:spPr>
          <a:xfrm>
            <a:off x="685800" y="381000"/>
            <a:ext cx="69916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39" name="Google Shape;139;p18"/>
          <p:cNvSpPr txBox="1">
            <a:spLocks noGrp="1"/>
          </p:cNvSpPr>
          <p:nvPr>
            <p:ph type="sldNum" idx="12"/>
          </p:nvPr>
        </p:nvSpPr>
        <p:spPr>
          <a:xfrm>
            <a:off x="10862452" y="381000"/>
            <a:ext cx="6436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84170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Texte et 2 contenus" type="txAndTwoObj">
  <p:cSld name="Titre. Texte et 2 contenus">
    <p:spTree>
      <p:nvGrpSpPr>
        <p:cNvPr id="1" name="Shape 140"/>
        <p:cNvGrpSpPr/>
        <p:nvPr/>
      </p:nvGrpSpPr>
      <p:grpSpPr>
        <a:xfrm>
          <a:off x="0" y="0"/>
          <a:ext cx="0" cy="0"/>
          <a:chOff x="0" y="0"/>
          <a:chExt cx="0" cy="0"/>
        </a:xfrm>
      </p:grpSpPr>
      <p:sp>
        <p:nvSpPr>
          <p:cNvPr id="141" name="Google Shape;141;p19"/>
          <p:cNvSpPr txBox="1">
            <a:spLocks noGrp="1"/>
          </p:cNvSpPr>
          <p:nvPr>
            <p:ph type="title"/>
          </p:nvPr>
        </p:nvSpPr>
        <p:spPr>
          <a:xfrm>
            <a:off x="609600" y="274637"/>
            <a:ext cx="10972800" cy="11432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42" name="Google Shape;142;p19"/>
          <p:cNvSpPr txBox="1">
            <a:spLocks noGrp="1"/>
          </p:cNvSpPr>
          <p:nvPr>
            <p:ph type="body" idx="1"/>
          </p:nvPr>
        </p:nvSpPr>
        <p:spPr>
          <a:xfrm>
            <a:off x="609600" y="1600201"/>
            <a:ext cx="5384800" cy="4526000"/>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143" name="Google Shape;143;p19"/>
          <p:cNvSpPr txBox="1">
            <a:spLocks noGrp="1"/>
          </p:cNvSpPr>
          <p:nvPr>
            <p:ph type="body" idx="2"/>
          </p:nvPr>
        </p:nvSpPr>
        <p:spPr>
          <a:xfrm>
            <a:off x="6197600" y="1600200"/>
            <a:ext cx="5384800" cy="2186000"/>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144" name="Google Shape;144;p19"/>
          <p:cNvSpPr txBox="1">
            <a:spLocks noGrp="1"/>
          </p:cNvSpPr>
          <p:nvPr>
            <p:ph type="body" idx="3"/>
          </p:nvPr>
        </p:nvSpPr>
        <p:spPr>
          <a:xfrm>
            <a:off x="6197600" y="3938589"/>
            <a:ext cx="5384800" cy="2187600"/>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145" name="Google Shape;145;p19"/>
          <p:cNvSpPr txBox="1">
            <a:spLocks noGrp="1"/>
          </p:cNvSpPr>
          <p:nvPr>
            <p:ph type="dt" idx="10"/>
          </p:nvPr>
        </p:nvSpPr>
        <p:spPr>
          <a:xfrm>
            <a:off x="8595360" y="6356351"/>
            <a:ext cx="2910800" cy="3652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46" name="Google Shape;146;p19"/>
          <p:cNvSpPr txBox="1">
            <a:spLocks noGrp="1"/>
          </p:cNvSpPr>
          <p:nvPr>
            <p:ph type="sldNum" idx="12"/>
          </p:nvPr>
        </p:nvSpPr>
        <p:spPr>
          <a:xfrm>
            <a:off x="8763000" y="381000"/>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u="none" strike="noStrike" cap="none">
                <a:solidFill>
                  <a:schemeClr val="lt1"/>
                </a:solidFill>
                <a:latin typeface="Century Gothic"/>
                <a:ea typeface="Century Gothic"/>
                <a:cs typeface="Century Gothic"/>
                <a:sym typeface="Century Gothic"/>
              </a:defRPr>
            </a:lvl1pPr>
            <a:lvl2pPr marL="0" lvl="1" indent="0" algn="r">
              <a:spcBef>
                <a:spcPts val="0"/>
              </a:spcBef>
              <a:buNone/>
              <a:defRPr sz="1067" b="0" i="0" u="none" strike="noStrike" cap="none">
                <a:solidFill>
                  <a:schemeClr val="lt1"/>
                </a:solidFill>
                <a:latin typeface="Century Gothic"/>
                <a:ea typeface="Century Gothic"/>
                <a:cs typeface="Century Gothic"/>
                <a:sym typeface="Century Gothic"/>
              </a:defRPr>
            </a:lvl2pPr>
            <a:lvl3pPr marL="0" lvl="2" indent="0" algn="r">
              <a:spcBef>
                <a:spcPts val="0"/>
              </a:spcBef>
              <a:buNone/>
              <a:defRPr sz="1067" b="0" i="0" u="none" strike="noStrike" cap="none">
                <a:solidFill>
                  <a:schemeClr val="lt1"/>
                </a:solidFill>
                <a:latin typeface="Century Gothic"/>
                <a:ea typeface="Century Gothic"/>
                <a:cs typeface="Century Gothic"/>
                <a:sym typeface="Century Gothic"/>
              </a:defRPr>
            </a:lvl3pPr>
            <a:lvl4pPr marL="0" lvl="3" indent="0" algn="r">
              <a:spcBef>
                <a:spcPts val="0"/>
              </a:spcBef>
              <a:buNone/>
              <a:defRPr sz="1067" b="0" i="0" u="none" strike="noStrike" cap="none">
                <a:solidFill>
                  <a:schemeClr val="lt1"/>
                </a:solidFill>
                <a:latin typeface="Century Gothic"/>
                <a:ea typeface="Century Gothic"/>
                <a:cs typeface="Century Gothic"/>
                <a:sym typeface="Century Gothic"/>
              </a:defRPr>
            </a:lvl4pPr>
            <a:lvl5pPr marL="0" lvl="4" indent="0" algn="r">
              <a:spcBef>
                <a:spcPts val="0"/>
              </a:spcBef>
              <a:buNone/>
              <a:defRPr sz="1067" b="0" i="0" u="none" strike="noStrike" cap="none">
                <a:solidFill>
                  <a:schemeClr val="lt1"/>
                </a:solidFill>
                <a:latin typeface="Century Gothic"/>
                <a:ea typeface="Century Gothic"/>
                <a:cs typeface="Century Gothic"/>
                <a:sym typeface="Century Gothic"/>
              </a:defRPr>
            </a:lvl5pPr>
            <a:lvl6pPr marL="0" lvl="5" indent="0" algn="r">
              <a:spcBef>
                <a:spcPts val="0"/>
              </a:spcBef>
              <a:buNone/>
              <a:defRPr sz="1067" b="0" i="0" u="none" strike="noStrike" cap="none">
                <a:solidFill>
                  <a:schemeClr val="lt1"/>
                </a:solidFill>
                <a:latin typeface="Century Gothic"/>
                <a:ea typeface="Century Gothic"/>
                <a:cs typeface="Century Gothic"/>
                <a:sym typeface="Century Gothic"/>
              </a:defRPr>
            </a:lvl6pPr>
            <a:lvl7pPr marL="0" lvl="6" indent="0" algn="r">
              <a:spcBef>
                <a:spcPts val="0"/>
              </a:spcBef>
              <a:buNone/>
              <a:defRPr sz="1067" b="0" i="0" u="none" strike="noStrike" cap="none">
                <a:solidFill>
                  <a:schemeClr val="lt1"/>
                </a:solidFill>
                <a:latin typeface="Century Gothic"/>
                <a:ea typeface="Century Gothic"/>
                <a:cs typeface="Century Gothic"/>
                <a:sym typeface="Century Gothic"/>
              </a:defRPr>
            </a:lvl7pPr>
            <a:lvl8pPr marL="0" lvl="7" indent="0" algn="r">
              <a:spcBef>
                <a:spcPts val="0"/>
              </a:spcBef>
              <a:buNone/>
              <a:defRPr sz="1067" b="0" i="0" u="none" strike="noStrike" cap="none">
                <a:solidFill>
                  <a:schemeClr val="lt1"/>
                </a:solidFill>
                <a:latin typeface="Century Gothic"/>
                <a:ea typeface="Century Gothic"/>
                <a:cs typeface="Century Gothic"/>
                <a:sym typeface="Century Gothic"/>
              </a:defRPr>
            </a:lvl8pPr>
            <a:lvl9pPr marL="0" lvl="8" indent="0" algn="r">
              <a:spcBef>
                <a:spcPts val="0"/>
              </a:spcBef>
              <a:buNone/>
              <a:defRPr sz="1067" b="0" i="0" u="none" strike="noStrike" cap="none">
                <a:solidFill>
                  <a:schemeClr val="lt1"/>
                </a:solidFill>
                <a:latin typeface="Century Gothic"/>
                <a:ea typeface="Century Gothic"/>
                <a:cs typeface="Century Gothic"/>
                <a:sym typeface="Century Gothic"/>
              </a:defRPr>
            </a:lvl9pPr>
          </a:lstStyle>
          <a:p>
            <a:fld id="{00000000-1234-1234-1234-123412341234}" type="slidenum">
              <a:rPr lang="en-US" smtClean="0"/>
              <a:pPr/>
              <a:t>‹N°›</a:t>
            </a:fld>
            <a:endParaRPr lang="en-US" dirty="0"/>
          </a:p>
        </p:txBody>
      </p:sp>
      <p:sp>
        <p:nvSpPr>
          <p:cNvPr id="147" name="Google Shape;147;p19"/>
          <p:cNvSpPr txBox="1">
            <a:spLocks noGrp="1"/>
          </p:cNvSpPr>
          <p:nvPr>
            <p:ph type="ftr" idx="11"/>
          </p:nvPr>
        </p:nvSpPr>
        <p:spPr>
          <a:xfrm>
            <a:off x="685800" y="6355845"/>
            <a:ext cx="77724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Tree>
    <p:extLst>
      <p:ext uri="{BB962C8B-B14F-4D97-AF65-F5344CB8AC3E}">
        <p14:creationId xmlns:p14="http://schemas.microsoft.com/office/powerpoint/2010/main" val="606364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Contenu et 2 contenus" type="objAndTwoObj">
  <p:cSld name="Titre. Contenu et 2 contenus">
    <p:spTree>
      <p:nvGrpSpPr>
        <p:cNvPr id="1" name="Shape 148"/>
        <p:cNvGrpSpPr/>
        <p:nvPr/>
      </p:nvGrpSpPr>
      <p:grpSpPr>
        <a:xfrm>
          <a:off x="0" y="0"/>
          <a:ext cx="0" cy="0"/>
          <a:chOff x="0" y="0"/>
          <a:chExt cx="0" cy="0"/>
        </a:xfrm>
      </p:grpSpPr>
      <p:sp>
        <p:nvSpPr>
          <p:cNvPr id="149" name="Google Shape;149;p20"/>
          <p:cNvSpPr txBox="1">
            <a:spLocks noGrp="1"/>
          </p:cNvSpPr>
          <p:nvPr>
            <p:ph type="title"/>
          </p:nvPr>
        </p:nvSpPr>
        <p:spPr>
          <a:xfrm>
            <a:off x="609600" y="381000"/>
            <a:ext cx="10972800" cy="13716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0" name="Google Shape;150;p20"/>
          <p:cNvSpPr txBox="1">
            <a:spLocks noGrp="1"/>
          </p:cNvSpPr>
          <p:nvPr>
            <p:ph type="body" idx="1"/>
          </p:nvPr>
        </p:nvSpPr>
        <p:spPr>
          <a:xfrm>
            <a:off x="609600" y="1981200"/>
            <a:ext cx="5384800" cy="4114800"/>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151" name="Google Shape;151;p20"/>
          <p:cNvSpPr txBox="1">
            <a:spLocks noGrp="1"/>
          </p:cNvSpPr>
          <p:nvPr>
            <p:ph type="body" idx="2"/>
          </p:nvPr>
        </p:nvSpPr>
        <p:spPr>
          <a:xfrm>
            <a:off x="6197600" y="1981200"/>
            <a:ext cx="5384800" cy="1981200"/>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152" name="Google Shape;152;p20"/>
          <p:cNvSpPr txBox="1">
            <a:spLocks noGrp="1"/>
          </p:cNvSpPr>
          <p:nvPr>
            <p:ph type="body" idx="3"/>
          </p:nvPr>
        </p:nvSpPr>
        <p:spPr>
          <a:xfrm>
            <a:off x="6197600" y="4114800"/>
            <a:ext cx="5384800" cy="1981200"/>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lt1"/>
              </a:buClr>
              <a:buSzPts val="1400"/>
              <a:buChar char="•"/>
              <a:defRPr/>
            </a:lvl1pPr>
            <a:lvl2pPr marL="1219170" lvl="1" indent="-423323" algn="l">
              <a:lnSpc>
                <a:spcPct val="90000"/>
              </a:lnSpc>
              <a:spcBef>
                <a:spcPts val="533"/>
              </a:spcBef>
              <a:spcAft>
                <a:spcPts val="0"/>
              </a:spcAft>
              <a:buClr>
                <a:schemeClr val="lt1"/>
              </a:buClr>
              <a:buSzPts val="1400"/>
              <a:buChar char="•"/>
              <a:defRPr/>
            </a:lvl2pPr>
            <a:lvl3pPr marL="1828754" lvl="2" indent="-423323" algn="l">
              <a:lnSpc>
                <a:spcPct val="90000"/>
              </a:lnSpc>
              <a:spcBef>
                <a:spcPts val="533"/>
              </a:spcBef>
              <a:spcAft>
                <a:spcPts val="0"/>
              </a:spcAft>
              <a:buClr>
                <a:schemeClr val="lt1"/>
              </a:buClr>
              <a:buSzPts val="1400"/>
              <a:buChar char="•"/>
              <a:defRPr/>
            </a:lvl3pPr>
            <a:lvl4pPr marL="2438339" lvl="3" indent="-423323" algn="l">
              <a:lnSpc>
                <a:spcPct val="90000"/>
              </a:lnSpc>
              <a:spcBef>
                <a:spcPts val="533"/>
              </a:spcBef>
              <a:spcAft>
                <a:spcPts val="0"/>
              </a:spcAft>
              <a:buClr>
                <a:schemeClr val="lt1"/>
              </a:buClr>
              <a:buSzPts val="1400"/>
              <a:buChar char="•"/>
              <a:defRPr/>
            </a:lvl4pPr>
            <a:lvl5pPr marL="3047924" lvl="4" indent="-423323" algn="l">
              <a:lnSpc>
                <a:spcPct val="90000"/>
              </a:lnSpc>
              <a:spcBef>
                <a:spcPts val="533"/>
              </a:spcBef>
              <a:spcAft>
                <a:spcPts val="0"/>
              </a:spcAft>
              <a:buClr>
                <a:schemeClr val="lt1"/>
              </a:buClr>
              <a:buSzPts val="1400"/>
              <a:buChar char="•"/>
              <a:defRPr/>
            </a:lvl5pPr>
            <a:lvl6pPr marL="3657509" lvl="5" indent="-423323" algn="l">
              <a:lnSpc>
                <a:spcPct val="90000"/>
              </a:lnSpc>
              <a:spcBef>
                <a:spcPts val="533"/>
              </a:spcBef>
              <a:spcAft>
                <a:spcPts val="0"/>
              </a:spcAft>
              <a:buClr>
                <a:schemeClr val="lt1"/>
              </a:buClr>
              <a:buSzPts val="1400"/>
              <a:buChar char="•"/>
              <a:defRPr/>
            </a:lvl6pPr>
            <a:lvl7pPr marL="4267093" lvl="6" indent="-423323" algn="l">
              <a:lnSpc>
                <a:spcPct val="90000"/>
              </a:lnSpc>
              <a:spcBef>
                <a:spcPts val="533"/>
              </a:spcBef>
              <a:spcAft>
                <a:spcPts val="0"/>
              </a:spcAft>
              <a:buClr>
                <a:schemeClr val="lt1"/>
              </a:buClr>
              <a:buSzPts val="1400"/>
              <a:buChar char="•"/>
              <a:defRPr/>
            </a:lvl7pPr>
            <a:lvl8pPr marL="4876678" lvl="7" indent="-423323" algn="l">
              <a:lnSpc>
                <a:spcPct val="90000"/>
              </a:lnSpc>
              <a:spcBef>
                <a:spcPts val="533"/>
              </a:spcBef>
              <a:spcAft>
                <a:spcPts val="0"/>
              </a:spcAft>
              <a:buClr>
                <a:schemeClr val="lt1"/>
              </a:buClr>
              <a:buSzPts val="1400"/>
              <a:buChar char="•"/>
              <a:defRPr/>
            </a:lvl8pPr>
            <a:lvl9pPr marL="5486263" lvl="8" indent="-423323" algn="l">
              <a:lnSpc>
                <a:spcPct val="90000"/>
              </a:lnSpc>
              <a:spcBef>
                <a:spcPts val="533"/>
              </a:spcBef>
              <a:spcAft>
                <a:spcPts val="0"/>
              </a:spcAft>
              <a:buClr>
                <a:schemeClr val="lt1"/>
              </a:buClr>
              <a:buSzPts val="1400"/>
              <a:buChar char="•"/>
              <a:defRPr/>
            </a:lvl9pPr>
          </a:lstStyle>
          <a:p>
            <a:endParaRPr/>
          </a:p>
        </p:txBody>
      </p:sp>
      <p:sp>
        <p:nvSpPr>
          <p:cNvPr id="153" name="Google Shape;153;p20"/>
          <p:cNvSpPr txBox="1">
            <a:spLocks noGrp="1"/>
          </p:cNvSpPr>
          <p:nvPr>
            <p:ph type="dt" idx="10"/>
          </p:nvPr>
        </p:nvSpPr>
        <p:spPr>
          <a:xfrm>
            <a:off x="609600" y="6245225"/>
            <a:ext cx="2844800" cy="4764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54" name="Google Shape;154;p20"/>
          <p:cNvSpPr txBox="1">
            <a:spLocks noGrp="1"/>
          </p:cNvSpPr>
          <p:nvPr>
            <p:ph type="ftr" idx="11"/>
          </p:nvPr>
        </p:nvSpPr>
        <p:spPr>
          <a:xfrm>
            <a:off x="4165600" y="6245225"/>
            <a:ext cx="3860800" cy="4764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55" name="Google Shape;155;p20"/>
          <p:cNvSpPr txBox="1">
            <a:spLocks noGrp="1"/>
          </p:cNvSpPr>
          <p:nvPr>
            <p:ph type="sldNum" idx="12"/>
          </p:nvPr>
        </p:nvSpPr>
        <p:spPr>
          <a:xfrm>
            <a:off x="8737600" y="6245225"/>
            <a:ext cx="2844800" cy="4764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u="none" strike="noStrike" cap="none">
                <a:solidFill>
                  <a:schemeClr val="lt1"/>
                </a:solidFill>
                <a:latin typeface="Century Gothic"/>
                <a:ea typeface="Century Gothic"/>
                <a:cs typeface="Century Gothic"/>
                <a:sym typeface="Century Gothic"/>
              </a:defRPr>
            </a:lvl1pPr>
            <a:lvl2pPr marL="0" lvl="1" indent="0" algn="r">
              <a:spcBef>
                <a:spcPts val="0"/>
              </a:spcBef>
              <a:buNone/>
              <a:defRPr sz="1067" b="0" i="0" u="none" strike="noStrike" cap="none">
                <a:solidFill>
                  <a:schemeClr val="lt1"/>
                </a:solidFill>
                <a:latin typeface="Century Gothic"/>
                <a:ea typeface="Century Gothic"/>
                <a:cs typeface="Century Gothic"/>
                <a:sym typeface="Century Gothic"/>
              </a:defRPr>
            </a:lvl2pPr>
            <a:lvl3pPr marL="0" lvl="2" indent="0" algn="r">
              <a:spcBef>
                <a:spcPts val="0"/>
              </a:spcBef>
              <a:buNone/>
              <a:defRPr sz="1067" b="0" i="0" u="none" strike="noStrike" cap="none">
                <a:solidFill>
                  <a:schemeClr val="lt1"/>
                </a:solidFill>
                <a:latin typeface="Century Gothic"/>
                <a:ea typeface="Century Gothic"/>
                <a:cs typeface="Century Gothic"/>
                <a:sym typeface="Century Gothic"/>
              </a:defRPr>
            </a:lvl3pPr>
            <a:lvl4pPr marL="0" lvl="3" indent="0" algn="r">
              <a:spcBef>
                <a:spcPts val="0"/>
              </a:spcBef>
              <a:buNone/>
              <a:defRPr sz="1067" b="0" i="0" u="none" strike="noStrike" cap="none">
                <a:solidFill>
                  <a:schemeClr val="lt1"/>
                </a:solidFill>
                <a:latin typeface="Century Gothic"/>
                <a:ea typeface="Century Gothic"/>
                <a:cs typeface="Century Gothic"/>
                <a:sym typeface="Century Gothic"/>
              </a:defRPr>
            </a:lvl4pPr>
            <a:lvl5pPr marL="0" lvl="4" indent="0" algn="r">
              <a:spcBef>
                <a:spcPts val="0"/>
              </a:spcBef>
              <a:buNone/>
              <a:defRPr sz="1067" b="0" i="0" u="none" strike="noStrike" cap="none">
                <a:solidFill>
                  <a:schemeClr val="lt1"/>
                </a:solidFill>
                <a:latin typeface="Century Gothic"/>
                <a:ea typeface="Century Gothic"/>
                <a:cs typeface="Century Gothic"/>
                <a:sym typeface="Century Gothic"/>
              </a:defRPr>
            </a:lvl5pPr>
            <a:lvl6pPr marL="0" lvl="5" indent="0" algn="r">
              <a:spcBef>
                <a:spcPts val="0"/>
              </a:spcBef>
              <a:buNone/>
              <a:defRPr sz="1067" b="0" i="0" u="none" strike="noStrike" cap="none">
                <a:solidFill>
                  <a:schemeClr val="lt1"/>
                </a:solidFill>
                <a:latin typeface="Century Gothic"/>
                <a:ea typeface="Century Gothic"/>
                <a:cs typeface="Century Gothic"/>
                <a:sym typeface="Century Gothic"/>
              </a:defRPr>
            </a:lvl6pPr>
            <a:lvl7pPr marL="0" lvl="6" indent="0" algn="r">
              <a:spcBef>
                <a:spcPts val="0"/>
              </a:spcBef>
              <a:buNone/>
              <a:defRPr sz="1067" b="0" i="0" u="none" strike="noStrike" cap="none">
                <a:solidFill>
                  <a:schemeClr val="lt1"/>
                </a:solidFill>
                <a:latin typeface="Century Gothic"/>
                <a:ea typeface="Century Gothic"/>
                <a:cs typeface="Century Gothic"/>
                <a:sym typeface="Century Gothic"/>
              </a:defRPr>
            </a:lvl7pPr>
            <a:lvl8pPr marL="0" lvl="7" indent="0" algn="r">
              <a:spcBef>
                <a:spcPts val="0"/>
              </a:spcBef>
              <a:buNone/>
              <a:defRPr sz="1067" b="0" i="0" u="none" strike="noStrike" cap="none">
                <a:solidFill>
                  <a:schemeClr val="lt1"/>
                </a:solidFill>
                <a:latin typeface="Century Gothic"/>
                <a:ea typeface="Century Gothic"/>
                <a:cs typeface="Century Gothic"/>
                <a:sym typeface="Century Gothic"/>
              </a:defRPr>
            </a:lvl8pPr>
            <a:lvl9pPr marL="0" lvl="8" indent="0" algn="r">
              <a:spcBef>
                <a:spcPts val="0"/>
              </a:spcBef>
              <a:buNone/>
              <a:defRPr sz="1067" b="0" i="0" u="none" strike="noStrike" cap="none">
                <a:solidFill>
                  <a:schemeClr val="lt1"/>
                </a:solidFill>
                <a:latin typeface="Century Gothic"/>
                <a:ea typeface="Century Gothic"/>
                <a:cs typeface="Century Gothic"/>
                <a:sym typeface="Century Gothic"/>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78135960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 descr="C1-HD-TOP.png"/>
          <p:cNvPicPr preferRelativeResize="0"/>
          <p:nvPr/>
        </p:nvPicPr>
        <p:blipFill rotWithShape="1">
          <a:blip r:embed="rId15">
            <a:alphaModFix/>
          </a:blip>
          <a:srcRect/>
          <a:stretch/>
        </p:blipFill>
        <p:spPr>
          <a:xfrm>
            <a:off x="0" y="0"/>
            <a:ext cx="12192000" cy="1441451"/>
          </a:xfrm>
          <a:prstGeom prst="rect">
            <a:avLst/>
          </a:prstGeom>
          <a:noFill/>
          <a:ln>
            <a:noFill/>
          </a:ln>
        </p:spPr>
      </p:pic>
      <p:sp>
        <p:nvSpPr>
          <p:cNvPr id="7" name="Google Shape;7;p1"/>
          <p:cNvSpPr txBox="1">
            <a:spLocks noGrp="1"/>
          </p:cNvSpPr>
          <p:nvPr>
            <p:ph type="title"/>
          </p:nvPr>
        </p:nvSpPr>
        <p:spPr>
          <a:xfrm>
            <a:off x="2895600" y="764373"/>
            <a:ext cx="8610400" cy="1293200"/>
          </a:xfrm>
          <a:prstGeom prst="rect">
            <a:avLst/>
          </a:prstGeom>
          <a:noFill/>
          <a:ln>
            <a:noFill/>
          </a:ln>
        </p:spPr>
        <p:txBody>
          <a:bodyPr spcFirstLastPara="1" wrap="square" lIns="68575" tIns="34275" rIns="68575" bIns="34275" anchor="ctr" anchorCtr="0">
            <a:normAutofit/>
          </a:bodyPr>
          <a:lstStyle>
            <a:lvl1pPr marR="0" lvl="0" algn="r" rtl="0">
              <a:lnSpc>
                <a:spcPct val="90000"/>
              </a:lnSpc>
              <a:spcBef>
                <a:spcPts val="0"/>
              </a:spcBef>
              <a:spcAft>
                <a:spcPts val="0"/>
              </a:spcAft>
              <a:buClr>
                <a:schemeClr val="lt1"/>
              </a:buClr>
              <a:buSzPts val="3000"/>
              <a:buFont typeface="Century Gothic"/>
              <a:buNone/>
              <a:defRPr sz="3000" b="0" i="0" u="none" strike="noStrike" cap="none">
                <a:solidFill>
                  <a:schemeClr val="lt1"/>
                </a:solidFill>
                <a:latin typeface="Century Gothic"/>
                <a:ea typeface="Century Gothic"/>
                <a:cs typeface="Century Gothic"/>
                <a:sym typeface="Century Gothic"/>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8" name="Google Shape;8;p1"/>
          <p:cNvSpPr txBox="1">
            <a:spLocks noGrp="1"/>
          </p:cNvSpPr>
          <p:nvPr>
            <p:ph type="body" idx="1"/>
          </p:nvPr>
        </p:nvSpPr>
        <p:spPr>
          <a:xfrm>
            <a:off x="685800" y="2194560"/>
            <a:ext cx="10820400" cy="4024000"/>
          </a:xfrm>
          <a:prstGeom prst="rect">
            <a:avLst/>
          </a:prstGeom>
          <a:noFill/>
          <a:ln>
            <a:noFill/>
          </a:ln>
        </p:spPr>
        <p:txBody>
          <a:bodyPr spcFirstLastPara="1" wrap="square" lIns="68575" tIns="34275" rIns="68575" bIns="34275" anchor="t" anchorCtr="0">
            <a:normAutofit/>
          </a:bodyPr>
          <a:lstStyle>
            <a:lvl1pPr marL="457200" marR="0" lvl="0" indent="-336550" algn="l" rtl="0">
              <a:lnSpc>
                <a:spcPct val="90000"/>
              </a:lnSpc>
              <a:spcBef>
                <a:spcPts val="800"/>
              </a:spcBef>
              <a:spcAft>
                <a:spcPts val="0"/>
              </a:spcAft>
              <a:buClr>
                <a:schemeClr val="lt1"/>
              </a:buClr>
              <a:buSzPts val="1700"/>
              <a:buFont typeface="Arial"/>
              <a:buChar char="•"/>
              <a:defRPr sz="1700" b="0" i="0" u="none" strike="noStrike" cap="none">
                <a:solidFill>
                  <a:schemeClr val="lt1"/>
                </a:solidFill>
                <a:latin typeface="Century Gothic"/>
                <a:ea typeface="Century Gothic"/>
                <a:cs typeface="Century Gothic"/>
                <a:sym typeface="Century Gothic"/>
              </a:defRPr>
            </a:lvl1pPr>
            <a:lvl2pPr marL="914400" marR="0" lvl="1"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Century Gothic"/>
                <a:ea typeface="Century Gothic"/>
                <a:cs typeface="Century Gothic"/>
                <a:sym typeface="Century Gothic"/>
              </a:defRPr>
            </a:lvl2pPr>
            <a:lvl3pPr marL="1371600" marR="0" lvl="2"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Century Gothic"/>
                <a:ea typeface="Century Gothic"/>
                <a:cs typeface="Century Gothic"/>
                <a:sym typeface="Century Gothic"/>
              </a:defRPr>
            </a:lvl3pPr>
            <a:lvl4pPr marL="1828800" marR="0" lvl="3"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4pPr>
            <a:lvl5pPr marL="2286000" marR="0" lvl="4"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5pPr>
            <a:lvl6pPr marL="2743200" marR="0" lvl="5"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6pPr>
            <a:lvl7pPr marL="3200400" marR="0" lvl="6"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7pPr>
            <a:lvl8pPr marL="3657600" marR="0" lvl="7"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8pPr>
            <a:lvl9pPr marL="4114800" marR="0" lvl="8"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
          <p:cNvSpPr txBox="1">
            <a:spLocks noGrp="1"/>
          </p:cNvSpPr>
          <p:nvPr>
            <p:ph type="dt" idx="10"/>
          </p:nvPr>
        </p:nvSpPr>
        <p:spPr>
          <a:xfrm>
            <a:off x="8595360" y="6356351"/>
            <a:ext cx="2910800" cy="365200"/>
          </a:xfrm>
          <a:prstGeom prst="rect">
            <a:avLst/>
          </a:prstGeom>
          <a:noFill/>
          <a:ln>
            <a:noFill/>
          </a:ln>
        </p:spPr>
        <p:txBody>
          <a:bodyPr spcFirstLastPara="1" wrap="square" lIns="68575" tIns="34275" rIns="68575" bIns="34275" anchor="ctr" anchorCtr="0">
            <a:noAutofit/>
          </a:bodyPr>
          <a:lstStyle>
            <a:lvl1pPr marR="0" lvl="0" algn="r" rtl="0">
              <a:spcBef>
                <a:spcPts val="0"/>
              </a:spcBef>
              <a:spcAft>
                <a:spcPts val="0"/>
              </a:spcAft>
              <a:buSzPts val="1100"/>
              <a:buNone/>
              <a:defRPr sz="1067"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9pPr>
          </a:lstStyle>
          <a:p>
            <a:endParaRPr dirty="0"/>
          </a:p>
        </p:txBody>
      </p:sp>
      <p:sp>
        <p:nvSpPr>
          <p:cNvPr id="10" name="Google Shape;10;p1"/>
          <p:cNvSpPr txBox="1">
            <a:spLocks noGrp="1"/>
          </p:cNvSpPr>
          <p:nvPr>
            <p:ph type="ftr" idx="11"/>
          </p:nvPr>
        </p:nvSpPr>
        <p:spPr>
          <a:xfrm>
            <a:off x="685800" y="6355845"/>
            <a:ext cx="7772400" cy="3652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1067"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100"/>
              <a:buNone/>
              <a:defRPr sz="1867" b="0" i="0" u="none" strike="noStrike" cap="none">
                <a:solidFill>
                  <a:schemeClr val="lt1"/>
                </a:solidFill>
                <a:latin typeface="Century Gothic"/>
                <a:ea typeface="Century Gothic"/>
                <a:cs typeface="Century Gothic"/>
                <a:sym typeface="Century Gothic"/>
              </a:defRPr>
            </a:lvl9pPr>
          </a:lstStyle>
          <a:p>
            <a:endParaRPr dirty="0"/>
          </a:p>
        </p:txBody>
      </p:sp>
      <p:sp>
        <p:nvSpPr>
          <p:cNvPr id="11" name="Google Shape;11;p1"/>
          <p:cNvSpPr txBox="1">
            <a:spLocks noGrp="1"/>
          </p:cNvSpPr>
          <p:nvPr>
            <p:ph type="sldNum" idx="12"/>
          </p:nvPr>
        </p:nvSpPr>
        <p:spPr>
          <a:xfrm>
            <a:off x="8763000" y="381000"/>
            <a:ext cx="2743200" cy="3652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067" b="0" i="0" u="none" strike="noStrike" cap="none">
                <a:solidFill>
                  <a:schemeClr val="lt1"/>
                </a:solidFill>
                <a:latin typeface="Century Gothic"/>
                <a:ea typeface="Century Gothic"/>
                <a:cs typeface="Century Gothic"/>
                <a:sym typeface="Century Gothic"/>
              </a:defRPr>
            </a:lvl1pPr>
            <a:lvl2pPr marL="0" marR="0" lvl="1" indent="0" algn="r" rtl="0">
              <a:spcBef>
                <a:spcPts val="0"/>
              </a:spcBef>
              <a:buNone/>
              <a:defRPr sz="1067" b="0" i="0" u="none" strike="noStrike" cap="none">
                <a:solidFill>
                  <a:schemeClr val="lt1"/>
                </a:solidFill>
                <a:latin typeface="Century Gothic"/>
                <a:ea typeface="Century Gothic"/>
                <a:cs typeface="Century Gothic"/>
                <a:sym typeface="Century Gothic"/>
              </a:defRPr>
            </a:lvl2pPr>
            <a:lvl3pPr marL="0" marR="0" lvl="2" indent="0" algn="r" rtl="0">
              <a:spcBef>
                <a:spcPts val="0"/>
              </a:spcBef>
              <a:buNone/>
              <a:defRPr sz="1067" b="0" i="0" u="none" strike="noStrike" cap="none">
                <a:solidFill>
                  <a:schemeClr val="lt1"/>
                </a:solidFill>
                <a:latin typeface="Century Gothic"/>
                <a:ea typeface="Century Gothic"/>
                <a:cs typeface="Century Gothic"/>
                <a:sym typeface="Century Gothic"/>
              </a:defRPr>
            </a:lvl3pPr>
            <a:lvl4pPr marL="0" marR="0" lvl="3" indent="0" algn="r" rtl="0">
              <a:spcBef>
                <a:spcPts val="0"/>
              </a:spcBef>
              <a:buNone/>
              <a:defRPr sz="1067" b="0" i="0" u="none" strike="noStrike" cap="none">
                <a:solidFill>
                  <a:schemeClr val="lt1"/>
                </a:solidFill>
                <a:latin typeface="Century Gothic"/>
                <a:ea typeface="Century Gothic"/>
                <a:cs typeface="Century Gothic"/>
                <a:sym typeface="Century Gothic"/>
              </a:defRPr>
            </a:lvl4pPr>
            <a:lvl5pPr marL="0" marR="0" lvl="4" indent="0" algn="r" rtl="0">
              <a:spcBef>
                <a:spcPts val="0"/>
              </a:spcBef>
              <a:buNone/>
              <a:defRPr sz="1067" b="0" i="0" u="none" strike="noStrike" cap="none">
                <a:solidFill>
                  <a:schemeClr val="lt1"/>
                </a:solidFill>
                <a:latin typeface="Century Gothic"/>
                <a:ea typeface="Century Gothic"/>
                <a:cs typeface="Century Gothic"/>
                <a:sym typeface="Century Gothic"/>
              </a:defRPr>
            </a:lvl5pPr>
            <a:lvl6pPr marL="0" marR="0" lvl="5" indent="0" algn="r" rtl="0">
              <a:spcBef>
                <a:spcPts val="0"/>
              </a:spcBef>
              <a:buNone/>
              <a:defRPr sz="1067" b="0" i="0" u="none" strike="noStrike" cap="none">
                <a:solidFill>
                  <a:schemeClr val="lt1"/>
                </a:solidFill>
                <a:latin typeface="Century Gothic"/>
                <a:ea typeface="Century Gothic"/>
                <a:cs typeface="Century Gothic"/>
                <a:sym typeface="Century Gothic"/>
              </a:defRPr>
            </a:lvl6pPr>
            <a:lvl7pPr marL="0" marR="0" lvl="6" indent="0" algn="r" rtl="0">
              <a:spcBef>
                <a:spcPts val="0"/>
              </a:spcBef>
              <a:buNone/>
              <a:defRPr sz="1067" b="0" i="0" u="none" strike="noStrike" cap="none">
                <a:solidFill>
                  <a:schemeClr val="lt1"/>
                </a:solidFill>
                <a:latin typeface="Century Gothic"/>
                <a:ea typeface="Century Gothic"/>
                <a:cs typeface="Century Gothic"/>
                <a:sym typeface="Century Gothic"/>
              </a:defRPr>
            </a:lvl7pPr>
            <a:lvl8pPr marL="0" marR="0" lvl="7" indent="0" algn="r" rtl="0">
              <a:spcBef>
                <a:spcPts val="0"/>
              </a:spcBef>
              <a:buNone/>
              <a:defRPr sz="1067" b="0" i="0" u="none" strike="noStrike" cap="none">
                <a:solidFill>
                  <a:schemeClr val="lt1"/>
                </a:solidFill>
                <a:latin typeface="Century Gothic"/>
                <a:ea typeface="Century Gothic"/>
                <a:cs typeface="Century Gothic"/>
                <a:sym typeface="Century Gothic"/>
              </a:defRPr>
            </a:lvl8pPr>
            <a:lvl9pPr marL="0" marR="0" lvl="8" indent="0" algn="r" rtl="0">
              <a:spcBef>
                <a:spcPts val="0"/>
              </a:spcBef>
              <a:buNone/>
              <a:defRPr sz="1067" b="0" i="0" u="none" strike="noStrike" cap="none">
                <a:solidFill>
                  <a:schemeClr val="lt1"/>
                </a:solidFill>
                <a:latin typeface="Century Gothic"/>
                <a:ea typeface="Century Gothic"/>
                <a:cs typeface="Century Gothic"/>
                <a:sym typeface="Century Gothic"/>
              </a:defRPr>
            </a:lvl9pPr>
          </a:lstStyle>
          <a:p>
            <a:fld id="{00000000-1234-1234-1234-123412341234}" type="slidenum">
              <a:rPr lang="en-US" smtClean="0"/>
              <a:pPr/>
              <a:t>‹N°›</a:t>
            </a:fld>
            <a:endParaRPr lang="en-US" dirty="0"/>
          </a:p>
        </p:txBody>
      </p:sp>
    </p:spTree>
    <p:extLst>
      <p:ext uri="{BB962C8B-B14F-4D97-AF65-F5344CB8AC3E}">
        <p14:creationId xmlns:p14="http://schemas.microsoft.com/office/powerpoint/2010/main" val="2340390500"/>
      </p:ext>
    </p:extLst>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42_B0C97FEC.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8.gi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30.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7.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5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48.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48.gif"/><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6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7941EFE7-5CFB-80FF-B2D4-3605A840D2CD}"/>
              </a:ext>
            </a:extLst>
          </p:cNvPr>
          <p:cNvSpPr>
            <a:spLocks noGrp="1" noChangeArrowheads="1"/>
          </p:cNvSpPr>
          <p:nvPr>
            <p:ph type="title"/>
          </p:nvPr>
        </p:nvSpPr>
        <p:spPr bwMode="auto">
          <a:xfrm>
            <a:off x="576943" y="2119418"/>
            <a:ext cx="10341429"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fr-FR" sz="6600" b="1" i="0" u="none" strike="noStrike" cap="none" normalizeH="0" baseline="0" noProof="0" dirty="0">
                <a:ln>
                  <a:noFill/>
                </a:ln>
                <a:solidFill>
                  <a:srgbClr val="FFC000"/>
                </a:solidFill>
                <a:effectLst/>
                <a:latin typeface="Times New Roman" panose="02020603050405020304" pitchFamily="18" charset="0"/>
                <a:cs typeface="Times New Roman" panose="02020603050405020304" pitchFamily="18" charset="0"/>
              </a:rPr>
              <a:t>Électrostatique</a:t>
            </a:r>
            <a:r>
              <a:rPr kumimoji="0" lang="fr-FR" sz="6600" b="0" i="0" u="none" strike="noStrike" cap="none" normalizeH="0" baseline="0" noProof="0" dirty="0">
                <a:ln>
                  <a:noFill/>
                </a:ln>
                <a:solidFill>
                  <a:srgbClr val="FFC000"/>
                </a:solidFill>
                <a:effectLst/>
                <a:latin typeface="Times New Roman" panose="02020603050405020304" pitchFamily="18" charset="0"/>
                <a:cs typeface="Times New Roman" panose="02020603050405020304" pitchFamily="18" charset="0"/>
              </a:rPr>
              <a:t> →</a:t>
            </a:r>
            <a:r>
              <a:rPr kumimoji="0" lang="fr-FR" sz="5400" b="0"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 </a:t>
            </a:r>
            <a:br>
              <a:rPr kumimoji="0" lang="fr-FR" sz="5400" b="0"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br>
            <a:r>
              <a:rPr kumimoji="0" lang="fr-FR" sz="5400" b="0"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a:t>
            </a:r>
            <a:r>
              <a:rPr kumimoji="0" lang="fr-FR" sz="6600" b="0" i="0" u="none" strike="noStrike" cap="none" normalizeH="0" baseline="0" noProof="0" dirty="0">
                <a:ln>
                  <a:noFill/>
                </a:ln>
                <a:solidFill>
                  <a:srgbClr val="FFC000"/>
                </a:solidFill>
                <a:effectLst/>
                <a:latin typeface="Times New Roman" panose="02020603050405020304" pitchFamily="18" charset="0"/>
                <a:cs typeface="Times New Roman" panose="02020603050405020304" pitchFamily="18" charset="0"/>
              </a:rPr>
              <a:t> </a:t>
            </a:r>
            <a:r>
              <a:rPr kumimoji="0" lang="fr-FR" sz="6600" b="1" i="0" u="none" strike="noStrike" cap="none" normalizeH="0" baseline="0" noProof="0" dirty="0" err="1">
                <a:ln>
                  <a:noFill/>
                </a:ln>
                <a:solidFill>
                  <a:schemeClr val="accent1"/>
                </a:solidFill>
                <a:effectLst/>
                <a:latin typeface="Times New Roman" panose="02020603050405020304" pitchFamily="18" charset="0"/>
                <a:cs typeface="Times New Roman" panose="02020603050405020304" pitchFamily="18" charset="0"/>
              </a:rPr>
              <a:t>Electrostatics</a:t>
            </a:r>
            <a:endParaRPr kumimoji="0" lang="fr-FR" sz="6600" b="0" i="0" u="none" strike="noStrike" cap="none" normalizeH="0" baseline="0" noProof="0" dirty="0">
              <a:ln>
                <a:noFill/>
              </a:ln>
              <a:solidFill>
                <a:schemeClr val="accent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3016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6DD862-4D17-A38B-B506-ABCF6BE82035}"/>
              </a:ext>
            </a:extLst>
          </p:cNvPr>
          <p:cNvSpPr>
            <a:spLocks noGrp="1"/>
          </p:cNvSpPr>
          <p:nvPr>
            <p:ph type="title"/>
          </p:nvPr>
        </p:nvSpPr>
        <p:spPr>
          <a:xfrm>
            <a:off x="947056" y="2090058"/>
            <a:ext cx="10994573" cy="4637314"/>
          </a:xfrm>
        </p:spPr>
        <p:txBody>
          <a:bodyPr>
            <a:normAutofit fontScale="90000"/>
          </a:bodyPr>
          <a:lstStyle/>
          <a:p>
            <a:pPr algn="l">
              <a:lnSpc>
                <a:spcPct val="150000"/>
              </a:lnSpc>
            </a:pPr>
            <a:r>
              <a:rPr lang="fr-FR" noProof="0" dirty="0">
                <a:solidFill>
                  <a:schemeClr val="bg1"/>
                </a:solidFill>
                <a:latin typeface="Times New Roman" panose="02020603050405020304" pitchFamily="18" charset="0"/>
                <a:cs typeface="Times New Roman" panose="02020603050405020304" pitchFamily="18" charset="0"/>
              </a:rPr>
              <a:t>A. Loi de Coulomb, superposition des forces.</a:t>
            </a:r>
            <a:br>
              <a:rPr lang="fr-FR" noProof="0" dirty="0">
                <a:solidFill>
                  <a:schemeClr val="bg1"/>
                </a:solidFill>
                <a:latin typeface="Times New Roman" panose="02020603050405020304" pitchFamily="18" charset="0"/>
                <a:cs typeface="Times New Roman" panose="02020603050405020304" pitchFamily="18" charset="0"/>
              </a:rPr>
            </a:br>
            <a:r>
              <a:rPr lang="fr-FR" noProof="0" dirty="0">
                <a:solidFill>
                  <a:schemeClr val="bg1"/>
                </a:solidFill>
                <a:latin typeface="Times New Roman" panose="02020603050405020304" pitchFamily="18" charset="0"/>
                <a:cs typeface="Times New Roman" panose="02020603050405020304" pitchFamily="18" charset="0"/>
              </a:rPr>
              <a:t>B. Champ électrique et potentiel électrique.</a:t>
            </a:r>
            <a:br>
              <a:rPr lang="fr-FR" noProof="0" dirty="0">
                <a:solidFill>
                  <a:schemeClr val="bg1"/>
                </a:solidFill>
                <a:latin typeface="Times New Roman" panose="02020603050405020304" pitchFamily="18" charset="0"/>
                <a:cs typeface="Times New Roman" panose="02020603050405020304" pitchFamily="18" charset="0"/>
              </a:rPr>
            </a:br>
            <a:r>
              <a:rPr lang="fr-FR" noProof="0" dirty="0">
                <a:solidFill>
                  <a:schemeClr val="bg1"/>
                </a:solidFill>
                <a:latin typeface="Times New Roman" panose="02020603050405020304" pitchFamily="18" charset="0"/>
                <a:cs typeface="Times New Roman" panose="02020603050405020304" pitchFamily="18" charset="0"/>
              </a:rPr>
              <a:t>C. Dipôle électrique, moments dipolaires.</a:t>
            </a:r>
            <a:br>
              <a:rPr lang="fr-FR" noProof="0" dirty="0">
                <a:solidFill>
                  <a:schemeClr val="bg1"/>
                </a:solidFill>
                <a:latin typeface="Times New Roman" panose="02020603050405020304" pitchFamily="18" charset="0"/>
                <a:cs typeface="Times New Roman" panose="02020603050405020304" pitchFamily="18" charset="0"/>
              </a:rPr>
            </a:br>
            <a:r>
              <a:rPr lang="fr-FR" noProof="0" dirty="0">
                <a:solidFill>
                  <a:schemeClr val="bg1"/>
                </a:solidFill>
                <a:latin typeface="Times New Roman" panose="02020603050405020304" pitchFamily="18" charset="0"/>
                <a:cs typeface="Times New Roman" panose="02020603050405020304" pitchFamily="18" charset="0"/>
              </a:rPr>
              <a:t>D. Modélisation des membranes comme systèmes chargés.</a:t>
            </a:r>
            <a:br>
              <a:rPr lang="fr-FR" noProof="0" dirty="0">
                <a:solidFill>
                  <a:schemeClr val="bg1"/>
                </a:solidFill>
                <a:latin typeface="Times New Roman" panose="02020603050405020304" pitchFamily="18" charset="0"/>
                <a:cs typeface="Times New Roman" panose="02020603050405020304" pitchFamily="18" charset="0"/>
              </a:rPr>
            </a:br>
            <a:r>
              <a:rPr lang="fr-FR" noProof="0" dirty="0">
                <a:solidFill>
                  <a:schemeClr val="bg1"/>
                </a:solidFill>
                <a:latin typeface="Times New Roman" panose="02020603050405020304" pitchFamily="18" charset="0"/>
                <a:cs typeface="Times New Roman" panose="02020603050405020304" pitchFamily="18" charset="0"/>
              </a:rPr>
              <a:t>E. </a:t>
            </a:r>
            <a:r>
              <a:rPr kumimoji="0" lang="fr-FR" sz="4000" i="0" u="none" strike="noStrike" kern="0" cap="none" spc="0" normalizeH="0" baseline="0" noProof="0" dirty="0">
                <a:ln>
                  <a:noFill/>
                </a:ln>
                <a:solidFill>
                  <a:schemeClr val="bg1"/>
                </a:solidFill>
                <a:effectLst/>
                <a:uLnTx/>
                <a:uFillTx/>
                <a:latin typeface="Times New Roman" panose="02020603050405020304" pitchFamily="18" charset="0"/>
                <a:ea typeface="Times New Roman" panose="02020603050405020304" pitchFamily="18" charset="0"/>
                <a:sym typeface="Century Gothic"/>
              </a:rPr>
              <a:t>Conducteurs, isolants et condensateurs</a:t>
            </a:r>
            <a:br>
              <a:rPr lang="fr-FR" sz="2400" noProof="0" dirty="0"/>
            </a:br>
            <a:endParaRPr lang="fr-FR" sz="2400" noProof="0" dirty="0"/>
          </a:p>
        </p:txBody>
      </p:sp>
      <p:sp>
        <p:nvSpPr>
          <p:cNvPr id="3" name="ZoneTexte 2">
            <a:extLst>
              <a:ext uri="{FF2B5EF4-FFF2-40B4-BE49-F238E27FC236}">
                <a16:creationId xmlns:a16="http://schemas.microsoft.com/office/drawing/2014/main" id="{C570EFCE-05E5-E8BD-CC5E-5847246A8B67}"/>
              </a:ext>
            </a:extLst>
          </p:cNvPr>
          <p:cNvSpPr txBox="1"/>
          <p:nvPr/>
        </p:nvSpPr>
        <p:spPr>
          <a:xfrm>
            <a:off x="3526971" y="925286"/>
            <a:ext cx="5355771" cy="769441"/>
          </a:xfrm>
          <a:prstGeom prst="rect">
            <a:avLst/>
          </a:prstGeom>
          <a:noFill/>
        </p:spPr>
        <p:txBody>
          <a:bodyPr wrap="square" rtlCol="0">
            <a:spAutoFit/>
          </a:bodyPr>
          <a:lstStyle/>
          <a:p>
            <a:r>
              <a:rPr kumimoji="0" lang="fr-FR" sz="4400" b="1" i="0" u="none" strike="noStrike" kern="0" cap="none" spc="0" normalizeH="0" baseline="0" noProof="0" dirty="0">
                <a:ln>
                  <a:noFill/>
                </a:ln>
                <a:solidFill>
                  <a:srgbClr val="FFC000"/>
                </a:solidFill>
                <a:effectLst/>
                <a:uLnTx/>
                <a:uFillTx/>
                <a:latin typeface="Times New Roman" panose="02020603050405020304" pitchFamily="18" charset="0"/>
                <a:cs typeface="Times New Roman" panose="02020603050405020304" pitchFamily="18" charset="0"/>
                <a:sym typeface="Century Gothic"/>
              </a:rPr>
              <a:t>Plan du cours</a:t>
            </a:r>
            <a:endParaRPr lang="fr-FR" sz="2000" b="1" noProof="0" dirty="0">
              <a:solidFill>
                <a:srgbClr val="FFC000"/>
              </a:solidFill>
            </a:endParaRPr>
          </a:p>
        </p:txBody>
      </p:sp>
    </p:spTree>
    <p:extLst>
      <p:ext uri="{BB962C8B-B14F-4D97-AF65-F5344CB8AC3E}">
        <p14:creationId xmlns:p14="http://schemas.microsoft.com/office/powerpoint/2010/main" val="1098678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E17297-C134-F544-2D60-2107A68522A6}"/>
              </a:ext>
            </a:extLst>
          </p:cNvPr>
          <p:cNvSpPr>
            <a:spLocks noGrp="1"/>
          </p:cNvSpPr>
          <p:nvPr>
            <p:ph type="title"/>
          </p:nvPr>
        </p:nvSpPr>
        <p:spPr>
          <a:xfrm>
            <a:off x="685800" y="753533"/>
            <a:ext cx="10820400" cy="1107924"/>
          </a:xfrm>
        </p:spPr>
        <p:txBody>
          <a:bodyPr>
            <a:normAutofit/>
          </a:bodyPr>
          <a:lstStyle/>
          <a:p>
            <a:pPr algn="ctr"/>
            <a:r>
              <a:rPr lang="fr-FR" sz="4800" b="1" noProof="0" dirty="0">
                <a:solidFill>
                  <a:srgbClr val="FFC000"/>
                </a:solidFill>
                <a:latin typeface="Times New Roman" panose="02020603050405020304" pitchFamily="18" charset="0"/>
                <a:cs typeface="Times New Roman" panose="02020603050405020304" pitchFamily="18" charset="0"/>
              </a:rPr>
              <a:t>Course </a:t>
            </a:r>
            <a:r>
              <a:rPr lang="fr-FR" sz="4800" b="1" noProof="0" dirty="0" err="1">
                <a:solidFill>
                  <a:srgbClr val="FFC000"/>
                </a:solidFill>
                <a:latin typeface="Times New Roman" panose="02020603050405020304" pitchFamily="18" charset="0"/>
                <a:cs typeface="Times New Roman" panose="02020603050405020304" pitchFamily="18" charset="0"/>
              </a:rPr>
              <a:t>Outline</a:t>
            </a:r>
            <a:endParaRPr lang="fr-FR" sz="4800" b="1" noProof="0" dirty="0">
              <a:solidFill>
                <a:srgbClr val="FFC000"/>
              </a:solidFill>
              <a:latin typeface="Times New Roman" panose="02020603050405020304" pitchFamily="18" charset="0"/>
              <a:cs typeface="Times New Roman" panose="02020603050405020304" pitchFamily="18" charset="0"/>
            </a:endParaRPr>
          </a:p>
        </p:txBody>
      </p:sp>
      <p:sp>
        <p:nvSpPr>
          <p:cNvPr id="3" name="Espace réservé du texte 2">
            <a:extLst>
              <a:ext uri="{FF2B5EF4-FFF2-40B4-BE49-F238E27FC236}">
                <a16:creationId xmlns:a16="http://schemas.microsoft.com/office/drawing/2014/main" id="{79DACD79-98B7-DD5B-B266-414DEC3CFD6C}"/>
              </a:ext>
            </a:extLst>
          </p:cNvPr>
          <p:cNvSpPr>
            <a:spLocks noGrp="1"/>
          </p:cNvSpPr>
          <p:nvPr>
            <p:ph type="body" idx="1"/>
          </p:nvPr>
        </p:nvSpPr>
        <p:spPr>
          <a:xfrm>
            <a:off x="1024467" y="2111828"/>
            <a:ext cx="10490400" cy="3766457"/>
          </a:xfrm>
        </p:spPr>
        <p:txBody>
          <a:bodyPr>
            <a:normAutofit/>
          </a:bodyPr>
          <a:lstStyle/>
          <a:p>
            <a:pPr marL="1047743" indent="-742950" algn="l">
              <a:buAutoNum type="alphaUcPeriod"/>
            </a:pPr>
            <a:r>
              <a:rPr lang="fr-FR" sz="4000" noProof="0" dirty="0" err="1">
                <a:latin typeface="Times New Roman" panose="02020603050405020304" pitchFamily="18" charset="0"/>
                <a:cs typeface="Times New Roman" panose="02020603050405020304" pitchFamily="18" charset="0"/>
              </a:rPr>
              <a:t>Coulomb’s</a:t>
            </a:r>
            <a:r>
              <a:rPr lang="fr-FR" sz="4000" noProof="0" dirty="0">
                <a:latin typeface="Times New Roman" panose="02020603050405020304" pitchFamily="18" charset="0"/>
                <a:cs typeface="Times New Roman" panose="02020603050405020304" pitchFamily="18" charset="0"/>
              </a:rPr>
              <a:t> </a:t>
            </a:r>
            <a:r>
              <a:rPr lang="fr-FR" sz="4000" noProof="0" dirty="0" err="1">
                <a:latin typeface="Times New Roman" panose="02020603050405020304" pitchFamily="18" charset="0"/>
                <a:cs typeface="Times New Roman" panose="02020603050405020304" pitchFamily="18" charset="0"/>
              </a:rPr>
              <a:t>law</a:t>
            </a:r>
            <a:r>
              <a:rPr lang="fr-FR" sz="4000" noProof="0" dirty="0">
                <a:latin typeface="Times New Roman" panose="02020603050405020304" pitchFamily="18" charset="0"/>
                <a:cs typeface="Times New Roman" panose="02020603050405020304" pitchFamily="18" charset="0"/>
              </a:rPr>
              <a:t> and superposition of forces.</a:t>
            </a:r>
          </a:p>
          <a:p>
            <a:pPr marL="1047743" indent="-742950" algn="l">
              <a:buAutoNum type="alphaUcPeriod"/>
            </a:pPr>
            <a:r>
              <a:rPr lang="fr-FR" sz="4000" noProof="0" dirty="0">
                <a:latin typeface="Times New Roman" panose="02020603050405020304" pitchFamily="18" charset="0"/>
                <a:cs typeface="Times New Roman" panose="02020603050405020304" pitchFamily="18" charset="0"/>
              </a:rPr>
              <a:t>Electric </a:t>
            </a:r>
            <a:r>
              <a:rPr lang="fr-FR" sz="4000" noProof="0" dirty="0" err="1">
                <a:latin typeface="Times New Roman" panose="02020603050405020304" pitchFamily="18" charset="0"/>
                <a:cs typeface="Times New Roman" panose="02020603050405020304" pitchFamily="18" charset="0"/>
              </a:rPr>
              <a:t>field</a:t>
            </a:r>
            <a:r>
              <a:rPr lang="fr-FR" sz="4000" noProof="0" dirty="0">
                <a:latin typeface="Times New Roman" panose="02020603050405020304" pitchFamily="18" charset="0"/>
                <a:cs typeface="Times New Roman" panose="02020603050405020304" pitchFamily="18" charset="0"/>
              </a:rPr>
              <a:t> and </a:t>
            </a:r>
            <a:r>
              <a:rPr lang="fr-FR" sz="4000" noProof="0" dirty="0" err="1">
                <a:latin typeface="Times New Roman" panose="02020603050405020304" pitchFamily="18" charset="0"/>
                <a:cs typeface="Times New Roman" panose="02020603050405020304" pitchFamily="18" charset="0"/>
              </a:rPr>
              <a:t>electric</a:t>
            </a:r>
            <a:r>
              <a:rPr lang="fr-FR" sz="4000" noProof="0" dirty="0">
                <a:latin typeface="Times New Roman" panose="02020603050405020304" pitchFamily="18" charset="0"/>
                <a:cs typeface="Times New Roman" panose="02020603050405020304" pitchFamily="18" charset="0"/>
              </a:rPr>
              <a:t> </a:t>
            </a:r>
            <a:r>
              <a:rPr lang="fr-FR" sz="4000" noProof="0" dirty="0" err="1">
                <a:latin typeface="Times New Roman" panose="02020603050405020304" pitchFamily="18" charset="0"/>
                <a:cs typeface="Times New Roman" panose="02020603050405020304" pitchFamily="18" charset="0"/>
              </a:rPr>
              <a:t>potential</a:t>
            </a:r>
            <a:endParaRPr lang="fr-FR" sz="4000" noProof="0" dirty="0">
              <a:latin typeface="Times New Roman" panose="02020603050405020304" pitchFamily="18" charset="0"/>
              <a:cs typeface="Times New Roman" panose="02020603050405020304" pitchFamily="18" charset="0"/>
            </a:endParaRPr>
          </a:p>
          <a:p>
            <a:pPr marL="1047743" indent="-742950" algn="l">
              <a:buAutoNum type="alphaUcPeriod"/>
            </a:pPr>
            <a:r>
              <a:rPr lang="fr-FR" sz="4000" noProof="0" dirty="0">
                <a:latin typeface="Times New Roman" panose="02020603050405020304" pitchFamily="18" charset="0"/>
                <a:cs typeface="Times New Roman" panose="02020603050405020304" pitchFamily="18" charset="0"/>
              </a:rPr>
              <a:t>Electric </a:t>
            </a:r>
            <a:r>
              <a:rPr lang="fr-FR" sz="4000" noProof="0" dirty="0" err="1">
                <a:latin typeface="Times New Roman" panose="02020603050405020304" pitchFamily="18" charset="0"/>
                <a:cs typeface="Times New Roman" panose="02020603050405020304" pitchFamily="18" charset="0"/>
              </a:rPr>
              <a:t>dipole</a:t>
            </a:r>
            <a:r>
              <a:rPr lang="fr-FR" sz="4000" noProof="0" dirty="0">
                <a:latin typeface="Times New Roman" panose="02020603050405020304" pitchFamily="18" charset="0"/>
                <a:cs typeface="Times New Roman" panose="02020603050405020304" pitchFamily="18" charset="0"/>
              </a:rPr>
              <a:t> and </a:t>
            </a:r>
            <a:r>
              <a:rPr lang="fr-FR" sz="4000" noProof="0" dirty="0" err="1">
                <a:latin typeface="Times New Roman" panose="02020603050405020304" pitchFamily="18" charset="0"/>
                <a:cs typeface="Times New Roman" panose="02020603050405020304" pitchFamily="18" charset="0"/>
              </a:rPr>
              <a:t>dipole</a:t>
            </a:r>
            <a:r>
              <a:rPr lang="fr-FR" sz="4000" noProof="0" dirty="0">
                <a:latin typeface="Times New Roman" panose="02020603050405020304" pitchFamily="18" charset="0"/>
                <a:cs typeface="Times New Roman" panose="02020603050405020304" pitchFamily="18" charset="0"/>
              </a:rPr>
              <a:t> moments</a:t>
            </a:r>
          </a:p>
          <a:p>
            <a:pPr marL="1047743" indent="-742950" algn="l">
              <a:buAutoNum type="alphaUcPeriod"/>
            </a:pPr>
            <a:r>
              <a:rPr lang="fr-FR" sz="4000" noProof="0" dirty="0">
                <a:latin typeface="Times New Roman" panose="02020603050405020304" pitchFamily="18" charset="0"/>
                <a:cs typeface="Times New Roman" panose="02020603050405020304" pitchFamily="18" charset="0"/>
              </a:rPr>
              <a:t>Modeling membranes as </a:t>
            </a:r>
            <a:r>
              <a:rPr lang="fr-FR" sz="4000" noProof="0" dirty="0" err="1">
                <a:latin typeface="Times New Roman" panose="02020603050405020304" pitchFamily="18" charset="0"/>
                <a:cs typeface="Times New Roman" panose="02020603050405020304" pitchFamily="18" charset="0"/>
              </a:rPr>
              <a:t>charged</a:t>
            </a:r>
            <a:r>
              <a:rPr lang="fr-FR" sz="4000" noProof="0" dirty="0">
                <a:latin typeface="Times New Roman" panose="02020603050405020304" pitchFamily="18" charset="0"/>
                <a:cs typeface="Times New Roman" panose="02020603050405020304" pitchFamily="18" charset="0"/>
              </a:rPr>
              <a:t> </a:t>
            </a:r>
            <a:r>
              <a:rPr lang="fr-FR" sz="4000" noProof="0" dirty="0" err="1">
                <a:latin typeface="Times New Roman" panose="02020603050405020304" pitchFamily="18" charset="0"/>
                <a:cs typeface="Times New Roman" panose="02020603050405020304" pitchFamily="18" charset="0"/>
              </a:rPr>
              <a:t>systems</a:t>
            </a:r>
            <a:endParaRPr lang="fr-FR" sz="4000" noProof="0" dirty="0">
              <a:latin typeface="Times New Roman" panose="02020603050405020304" pitchFamily="18" charset="0"/>
              <a:cs typeface="Times New Roman" panose="02020603050405020304" pitchFamily="18" charset="0"/>
            </a:endParaRPr>
          </a:p>
          <a:p>
            <a:pPr marL="1047743" indent="-742950" algn="l">
              <a:buAutoNum type="alphaUcPeriod"/>
            </a:pPr>
            <a:r>
              <a:rPr lang="fr-FR" sz="4000" noProof="0" dirty="0" err="1">
                <a:latin typeface="Times New Roman" panose="02020603050405020304" pitchFamily="18" charset="0"/>
                <a:cs typeface="Times New Roman" panose="02020603050405020304" pitchFamily="18" charset="0"/>
              </a:rPr>
              <a:t>Conductors</a:t>
            </a:r>
            <a:r>
              <a:rPr lang="fr-FR" sz="4000" noProof="0" dirty="0">
                <a:latin typeface="Times New Roman" panose="02020603050405020304" pitchFamily="18" charset="0"/>
                <a:cs typeface="Times New Roman" panose="02020603050405020304" pitchFamily="18" charset="0"/>
              </a:rPr>
              <a:t>, </a:t>
            </a:r>
            <a:r>
              <a:rPr lang="fr-FR" sz="4000" noProof="0" dirty="0" err="1">
                <a:latin typeface="Times New Roman" panose="02020603050405020304" pitchFamily="18" charset="0"/>
                <a:cs typeface="Times New Roman" panose="02020603050405020304" pitchFamily="18" charset="0"/>
              </a:rPr>
              <a:t>Isolators</a:t>
            </a:r>
            <a:r>
              <a:rPr lang="fr-FR" sz="4000" noProof="0" dirty="0">
                <a:latin typeface="Times New Roman" panose="02020603050405020304" pitchFamily="18" charset="0"/>
                <a:cs typeface="Times New Roman" panose="02020603050405020304" pitchFamily="18" charset="0"/>
              </a:rPr>
              <a:t> and </a:t>
            </a:r>
            <a:r>
              <a:rPr lang="fr-FR" sz="4000" noProof="0" dirty="0" err="1">
                <a:latin typeface="Times New Roman" panose="02020603050405020304" pitchFamily="18" charset="0"/>
                <a:cs typeface="Times New Roman" panose="02020603050405020304" pitchFamily="18" charset="0"/>
              </a:rPr>
              <a:t>capacitors</a:t>
            </a:r>
            <a:endParaRPr lang="fr-FR" sz="4000" noProof="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8902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D15E12-D811-368F-0235-39BFE695C568}"/>
              </a:ext>
            </a:extLst>
          </p:cNvPr>
          <p:cNvSpPr>
            <a:spLocks noGrp="1"/>
          </p:cNvSpPr>
          <p:nvPr>
            <p:ph type="ctrTitle"/>
          </p:nvPr>
        </p:nvSpPr>
        <p:spPr>
          <a:xfrm>
            <a:off x="1262742" y="482602"/>
            <a:ext cx="9448800" cy="1103079"/>
          </a:xfrm>
        </p:spPr>
        <p:txBody>
          <a:bodyPr>
            <a:normAutofit/>
          </a:bodyPr>
          <a:lstStyle/>
          <a:p>
            <a:pPr algn="ctr"/>
            <a:r>
              <a:rPr lang="fr-FR" sz="5867" noProof="0" dirty="0">
                <a:solidFill>
                  <a:srgbClr val="FFC000"/>
                </a:solidFill>
                <a:latin typeface="Times New Roman" panose="02020603050405020304" pitchFamily="18" charset="0"/>
                <a:cs typeface="Times New Roman" panose="02020603050405020304" pitchFamily="18" charset="0"/>
              </a:rPr>
              <a:t>Introduction</a:t>
            </a:r>
            <a:endParaRPr lang="fr-FR" noProof="0" dirty="0">
              <a:solidFill>
                <a:srgbClr val="FFC000"/>
              </a:solidFill>
            </a:endParaRPr>
          </a:p>
        </p:txBody>
      </p:sp>
      <p:sp>
        <p:nvSpPr>
          <p:cNvPr id="3" name="Sous-titre 2">
            <a:extLst>
              <a:ext uri="{FF2B5EF4-FFF2-40B4-BE49-F238E27FC236}">
                <a16:creationId xmlns:a16="http://schemas.microsoft.com/office/drawing/2014/main" id="{72F91581-6613-137C-8DC5-7BADDE9981F3}"/>
              </a:ext>
            </a:extLst>
          </p:cNvPr>
          <p:cNvSpPr>
            <a:spLocks noGrp="1"/>
          </p:cNvSpPr>
          <p:nvPr>
            <p:ph type="subTitle" idx="1"/>
          </p:nvPr>
        </p:nvSpPr>
        <p:spPr>
          <a:xfrm>
            <a:off x="674913" y="1585681"/>
            <a:ext cx="11092543" cy="4891319"/>
          </a:xfrm>
        </p:spPr>
        <p:txBody>
          <a:bodyPr>
            <a:normAutofit/>
          </a:bodyPr>
          <a:lstStyle/>
          <a:p>
            <a:pPr>
              <a:lnSpc>
                <a:spcPct val="100000"/>
              </a:lnSpc>
              <a:buNone/>
            </a:pPr>
            <a:r>
              <a:rPr lang="fr-FR" sz="3600" b="1" u="sng" noProof="0" dirty="0">
                <a:solidFill>
                  <a:srgbClr val="FFC000"/>
                </a:solidFill>
                <a:latin typeface="Times New Roman" panose="02020603050405020304" pitchFamily="18" charset="0"/>
                <a:ea typeface="Times New Roman" panose="02020603050405020304" pitchFamily="18" charset="0"/>
              </a:rPr>
              <a:t>L’électrostatique: </a:t>
            </a:r>
            <a:r>
              <a:rPr lang="fr-FR" sz="3600" noProof="0" dirty="0">
                <a:latin typeface="Times New Roman" panose="02020603050405020304" pitchFamily="18" charset="0"/>
                <a:ea typeface="Times New Roman" panose="02020603050405020304" pitchFamily="18" charset="0"/>
              </a:rPr>
              <a:t>est la branche de la physique qui</a:t>
            </a:r>
          </a:p>
          <a:p>
            <a:pPr>
              <a:lnSpc>
                <a:spcPct val="100000"/>
              </a:lnSpc>
              <a:buNone/>
            </a:pPr>
            <a:r>
              <a:rPr lang="fr-FR" sz="3600" noProof="0" dirty="0">
                <a:latin typeface="Times New Roman" panose="02020603050405020304" pitchFamily="18" charset="0"/>
                <a:ea typeface="Times New Roman" panose="02020603050405020304" pitchFamily="18" charset="0"/>
              </a:rPr>
              <a:t>étudie les </a:t>
            </a:r>
            <a:r>
              <a:rPr lang="fr-FR" sz="3600" u="sng" noProof="0" dirty="0">
                <a:latin typeface="Times New Roman" panose="02020603050405020304" pitchFamily="18" charset="0"/>
                <a:ea typeface="Times New Roman" panose="02020603050405020304" pitchFamily="18" charset="0"/>
              </a:rPr>
              <a:t>charges électriques </a:t>
            </a:r>
            <a:r>
              <a:rPr lang="fr-FR" sz="3600" b="1" noProof="0" dirty="0">
                <a:solidFill>
                  <a:srgbClr val="FF0000"/>
                </a:solidFill>
                <a:latin typeface="Times New Roman" panose="02020603050405020304" pitchFamily="18" charset="0"/>
                <a:ea typeface="Times New Roman" panose="02020603050405020304" pitchFamily="18" charset="0"/>
              </a:rPr>
              <a:t>au repos</a:t>
            </a:r>
            <a:r>
              <a:rPr lang="fr-FR" sz="3600" noProof="0" dirty="0">
                <a:latin typeface="Times New Roman" panose="02020603050405020304" pitchFamily="18" charset="0"/>
                <a:ea typeface="Times New Roman" panose="02020603050405020304" pitchFamily="18" charset="0"/>
              </a:rPr>
              <a:t>. </a:t>
            </a:r>
          </a:p>
          <a:p>
            <a:pPr>
              <a:lnSpc>
                <a:spcPct val="100000"/>
              </a:lnSpc>
              <a:buNone/>
            </a:pPr>
            <a:r>
              <a:rPr lang="fr-FR" sz="3600" noProof="0" dirty="0">
                <a:latin typeface="Times New Roman" panose="02020603050405020304" pitchFamily="18" charset="0"/>
                <a:ea typeface="Times New Roman" panose="02020603050405020304" pitchFamily="18" charset="0"/>
              </a:rPr>
              <a:t>Autrement dit, on ne s’intéresse </a:t>
            </a:r>
            <a:r>
              <a:rPr lang="fr-FR" sz="3600" noProof="0" dirty="0">
                <a:solidFill>
                  <a:srgbClr val="00B0F0"/>
                </a:solidFill>
                <a:latin typeface="Times New Roman" panose="02020603050405020304" pitchFamily="18" charset="0"/>
                <a:ea typeface="Times New Roman" panose="02020603050405020304" pitchFamily="18" charset="0"/>
              </a:rPr>
              <a:t>pas</a:t>
            </a:r>
            <a:r>
              <a:rPr lang="fr-FR" sz="3600" noProof="0" dirty="0">
                <a:latin typeface="Times New Roman" panose="02020603050405020304" pitchFamily="18" charset="0"/>
                <a:ea typeface="Times New Roman" panose="02020603050405020304" pitchFamily="18" charset="0"/>
              </a:rPr>
              <a:t> aux </a:t>
            </a:r>
            <a:r>
              <a:rPr lang="fr-FR" sz="3600" noProof="0" dirty="0">
                <a:solidFill>
                  <a:srgbClr val="00B0F0"/>
                </a:solidFill>
                <a:latin typeface="Times New Roman" panose="02020603050405020304" pitchFamily="18" charset="0"/>
                <a:ea typeface="Times New Roman" panose="02020603050405020304" pitchFamily="18" charset="0"/>
              </a:rPr>
              <a:t>courant</a:t>
            </a:r>
            <a:r>
              <a:rPr lang="fr-FR" sz="3600" noProof="0" dirty="0">
                <a:latin typeface="Times New Roman" panose="02020603050405020304" pitchFamily="18" charset="0"/>
                <a:ea typeface="Times New Roman" panose="02020603050405020304" pitchFamily="18" charset="0"/>
              </a:rPr>
              <a:t> (</a:t>
            </a:r>
            <a:r>
              <a:rPr lang="fr-FR" sz="3600" noProof="0" dirty="0">
                <a:solidFill>
                  <a:srgbClr val="00B0F0"/>
                </a:solidFill>
                <a:latin typeface="Times New Roman" panose="02020603050405020304" pitchFamily="18" charset="0"/>
                <a:ea typeface="Times New Roman" panose="02020603050405020304" pitchFamily="18" charset="0"/>
              </a:rPr>
              <a:t>charges</a:t>
            </a:r>
          </a:p>
          <a:p>
            <a:pPr>
              <a:lnSpc>
                <a:spcPct val="100000"/>
              </a:lnSpc>
              <a:buNone/>
            </a:pPr>
            <a:r>
              <a:rPr lang="fr-FR" sz="3600" noProof="0" dirty="0">
                <a:solidFill>
                  <a:srgbClr val="00B0F0"/>
                </a:solidFill>
                <a:latin typeface="Times New Roman" panose="02020603050405020304" pitchFamily="18" charset="0"/>
                <a:ea typeface="Times New Roman" panose="02020603050405020304" pitchFamily="18" charset="0"/>
              </a:rPr>
              <a:t>en mouvement</a:t>
            </a:r>
            <a:r>
              <a:rPr lang="fr-FR" sz="3600" noProof="0" dirty="0">
                <a:latin typeface="Times New Roman" panose="02020603050405020304" pitchFamily="18" charset="0"/>
                <a:ea typeface="Times New Roman" panose="02020603050405020304" pitchFamily="18" charset="0"/>
              </a:rPr>
              <a:t>), </a:t>
            </a:r>
            <a:r>
              <a:rPr lang="fr-FR" sz="3600" u="sng" noProof="0" dirty="0">
                <a:latin typeface="Times New Roman" panose="02020603050405020304" pitchFamily="18" charset="0"/>
                <a:ea typeface="Times New Roman" panose="02020603050405020304" pitchFamily="18" charset="0"/>
              </a:rPr>
              <a:t>mais</a:t>
            </a:r>
            <a:r>
              <a:rPr lang="fr-FR" sz="3600" noProof="0" dirty="0">
                <a:latin typeface="Times New Roman" panose="02020603050405020304" pitchFamily="18" charset="0"/>
                <a:ea typeface="Times New Roman" panose="02020603050405020304" pitchFamily="18" charset="0"/>
              </a:rPr>
              <a:t> aux effets produits par des charges</a:t>
            </a:r>
          </a:p>
          <a:p>
            <a:pPr>
              <a:lnSpc>
                <a:spcPct val="100000"/>
              </a:lnSpc>
              <a:buNone/>
            </a:pPr>
            <a:r>
              <a:rPr lang="fr-FR" sz="3600" noProof="0" dirty="0">
                <a:solidFill>
                  <a:srgbClr val="FF0000"/>
                </a:solidFill>
                <a:latin typeface="Times New Roman" panose="02020603050405020304" pitchFamily="18" charset="0"/>
                <a:ea typeface="Times New Roman" panose="02020603050405020304" pitchFamily="18" charset="0"/>
              </a:rPr>
              <a:t>fixes dans l’espace</a:t>
            </a:r>
            <a:r>
              <a:rPr lang="fr-FR" sz="3600" noProof="0" dirty="0">
                <a:latin typeface="Times New Roman" panose="02020603050405020304" pitchFamily="18" charset="0"/>
                <a:ea typeface="Times New Roman" panose="02020603050405020304" pitchFamily="18" charset="0"/>
              </a:rPr>
              <a:t>.</a:t>
            </a:r>
          </a:p>
          <a:p>
            <a:pPr>
              <a:lnSpc>
                <a:spcPct val="100000"/>
              </a:lnSpc>
              <a:buNone/>
            </a:pPr>
            <a:r>
              <a:rPr lang="fr-FR" sz="3600" kern="0" noProof="0" dirty="0">
                <a:effectLst/>
                <a:latin typeface="Times New Roman" panose="02020603050405020304" pitchFamily="18" charset="0"/>
                <a:ea typeface="Times New Roman" panose="02020603050405020304" pitchFamily="18" charset="0"/>
              </a:rPr>
              <a:t>		</a:t>
            </a:r>
            <a:r>
              <a:rPr lang="fr-FR" sz="3600" kern="0" noProof="0" dirty="0">
                <a:effectLst/>
                <a:latin typeface="Segoe UI Emoji" panose="020B0502040204020203" pitchFamily="34" charset="0"/>
                <a:ea typeface="Times New Roman" panose="02020603050405020304" pitchFamily="18" charset="0"/>
                <a:cs typeface="Segoe UI Emoji" panose="020B0502040204020203" pitchFamily="34" charset="0"/>
              </a:rPr>
              <a:t>👉</a:t>
            </a:r>
            <a:r>
              <a:rPr lang="fr-FR" sz="3600" kern="0" noProof="0" dirty="0">
                <a:effectLst/>
                <a:latin typeface="Times New Roman" panose="02020603050405020304" pitchFamily="18" charset="0"/>
                <a:ea typeface="Times New Roman" panose="02020603050405020304" pitchFamily="18" charset="0"/>
              </a:rPr>
              <a:t>Les interactions électriques sont, avec la gravité,</a:t>
            </a:r>
          </a:p>
          <a:p>
            <a:pPr>
              <a:lnSpc>
                <a:spcPct val="100000"/>
              </a:lnSpc>
              <a:buNone/>
            </a:pPr>
            <a:r>
              <a:rPr lang="fr-FR" sz="3600" kern="0" noProof="0" dirty="0">
                <a:effectLst/>
                <a:latin typeface="Times New Roman" panose="02020603050405020304" pitchFamily="18" charset="0"/>
                <a:ea typeface="Times New Roman" panose="02020603050405020304" pitchFamily="18" charset="0"/>
              </a:rPr>
              <a:t>l’une des quatre forces fondamentales de la nature.</a:t>
            </a:r>
            <a:endParaRPr lang="fr-FR" sz="3600" noProof="0" dirty="0">
              <a:latin typeface="Times New Roman" panose="02020603050405020304" pitchFamily="18" charset="0"/>
              <a:ea typeface="Times New Roman" panose="02020603050405020304" pitchFamily="18" charset="0"/>
            </a:endParaRPr>
          </a:p>
          <a:p>
            <a:endParaRPr lang="fr-FR" noProof="0" dirty="0"/>
          </a:p>
        </p:txBody>
      </p:sp>
    </p:spTree>
    <p:extLst>
      <p:ext uri="{BB962C8B-B14F-4D97-AF65-F5344CB8AC3E}">
        <p14:creationId xmlns:p14="http://schemas.microsoft.com/office/powerpoint/2010/main" val="2965995500"/>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5AC99D-ECC3-DE85-6D73-EB3F240C750D}"/>
              </a:ext>
            </a:extLst>
          </p:cNvPr>
          <p:cNvSpPr>
            <a:spLocks noGrp="1"/>
          </p:cNvSpPr>
          <p:nvPr>
            <p:ph type="title"/>
          </p:nvPr>
        </p:nvSpPr>
        <p:spPr>
          <a:xfrm>
            <a:off x="685800" y="231019"/>
            <a:ext cx="10820400" cy="1238553"/>
          </a:xfrm>
        </p:spPr>
        <p:txBody>
          <a:bodyPr>
            <a:normAutofit/>
          </a:bodyPr>
          <a:lstStyle/>
          <a:p>
            <a:pPr algn="ctr"/>
            <a:r>
              <a:rPr lang="fr-FR" sz="4800" noProof="0" dirty="0" err="1">
                <a:solidFill>
                  <a:srgbClr val="FFC000"/>
                </a:solidFill>
                <a:latin typeface="Times New Roman" panose="02020603050405020304" pitchFamily="18" charset="0"/>
                <a:cs typeface="Times New Roman" panose="02020603050405020304" pitchFamily="18" charset="0"/>
              </a:rPr>
              <a:t>Introdution</a:t>
            </a:r>
            <a:endParaRPr lang="fr-FR" sz="4800" noProof="0" dirty="0">
              <a:solidFill>
                <a:srgbClr val="FFC000"/>
              </a:solidFill>
              <a:latin typeface="Times New Roman" panose="02020603050405020304" pitchFamily="18" charset="0"/>
              <a:cs typeface="Times New Roman" panose="02020603050405020304" pitchFamily="18" charset="0"/>
            </a:endParaRPr>
          </a:p>
        </p:txBody>
      </p:sp>
      <p:sp>
        <p:nvSpPr>
          <p:cNvPr id="3" name="Espace réservé du texte 2">
            <a:extLst>
              <a:ext uri="{FF2B5EF4-FFF2-40B4-BE49-F238E27FC236}">
                <a16:creationId xmlns:a16="http://schemas.microsoft.com/office/drawing/2014/main" id="{58498ED3-9253-7EEA-BDBE-3082DF8FE473}"/>
              </a:ext>
            </a:extLst>
          </p:cNvPr>
          <p:cNvSpPr>
            <a:spLocks noGrp="1"/>
          </p:cNvSpPr>
          <p:nvPr>
            <p:ph type="body" idx="1"/>
          </p:nvPr>
        </p:nvSpPr>
        <p:spPr>
          <a:xfrm>
            <a:off x="685800" y="1774372"/>
            <a:ext cx="10829067" cy="4852610"/>
          </a:xfrm>
        </p:spPr>
        <p:txBody>
          <a:bodyPr>
            <a:normAutofit/>
          </a:bodyPr>
          <a:lstStyle/>
          <a:p>
            <a:pPr algn="l">
              <a:buNone/>
            </a:pPr>
            <a:r>
              <a:rPr lang="fr-FR" sz="28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Electrostatics</a:t>
            </a: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is</a:t>
            </a:r>
            <a:r>
              <a:rPr lang="fr-FR" sz="3500" noProof="0" dirty="0">
                <a:latin typeface="Times New Roman" panose="02020603050405020304" pitchFamily="18" charset="0"/>
                <a:cs typeface="Times New Roman" panose="02020603050405020304" pitchFamily="18" charset="0"/>
              </a:rPr>
              <a:t> the </a:t>
            </a:r>
            <a:r>
              <a:rPr lang="fr-FR" sz="3500" noProof="0" dirty="0" err="1">
                <a:latin typeface="Times New Roman" panose="02020603050405020304" pitchFamily="18" charset="0"/>
                <a:cs typeface="Times New Roman" panose="02020603050405020304" pitchFamily="18" charset="0"/>
              </a:rPr>
              <a:t>branch</a:t>
            </a:r>
            <a:r>
              <a:rPr lang="fr-FR" sz="3500" noProof="0" dirty="0">
                <a:latin typeface="Times New Roman" panose="02020603050405020304" pitchFamily="18" charset="0"/>
                <a:cs typeface="Times New Roman" panose="02020603050405020304" pitchFamily="18" charset="0"/>
              </a:rPr>
              <a:t> of </a:t>
            </a:r>
            <a:r>
              <a:rPr lang="fr-FR" sz="3500" noProof="0" dirty="0" err="1">
                <a:latin typeface="Times New Roman" panose="02020603050405020304" pitchFamily="18" charset="0"/>
                <a:cs typeface="Times New Roman" panose="02020603050405020304" pitchFamily="18" charset="0"/>
              </a:rPr>
              <a:t>physics</a:t>
            </a: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that</a:t>
            </a: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studies</a:t>
            </a:r>
            <a:endParaRPr lang="fr-FR" sz="3500" noProof="0" dirty="0">
              <a:latin typeface="Times New Roman" panose="02020603050405020304" pitchFamily="18" charset="0"/>
              <a:cs typeface="Times New Roman" panose="02020603050405020304" pitchFamily="18" charset="0"/>
            </a:endParaRPr>
          </a:p>
          <a:p>
            <a:pPr algn="l">
              <a:buNone/>
            </a:pPr>
            <a:r>
              <a:rPr lang="fr-FR" sz="3500" noProof="0" dirty="0" err="1">
                <a:latin typeface="Times New Roman" panose="02020603050405020304" pitchFamily="18" charset="0"/>
                <a:cs typeface="Times New Roman" panose="02020603050405020304" pitchFamily="18" charset="0"/>
              </a:rPr>
              <a:t>electric</a:t>
            </a:r>
            <a:r>
              <a:rPr lang="fr-FR" sz="3500" noProof="0" dirty="0">
                <a:latin typeface="Times New Roman" panose="02020603050405020304" pitchFamily="18" charset="0"/>
                <a:cs typeface="Times New Roman" panose="02020603050405020304" pitchFamily="18" charset="0"/>
              </a:rPr>
              <a:t> charges </a:t>
            </a:r>
            <a:r>
              <a:rPr lang="fr-FR" sz="3500" noProof="0" dirty="0">
                <a:solidFill>
                  <a:srgbClr val="FF0000"/>
                </a:solidFill>
                <a:latin typeface="Times New Roman" panose="02020603050405020304" pitchFamily="18" charset="0"/>
                <a:cs typeface="Times New Roman" panose="02020603050405020304" pitchFamily="18" charset="0"/>
              </a:rPr>
              <a:t>at </a:t>
            </a:r>
            <a:r>
              <a:rPr lang="fr-FR" sz="3500" noProof="0" dirty="0" err="1">
                <a:solidFill>
                  <a:srgbClr val="FF0000"/>
                </a:solidFill>
                <a:latin typeface="Times New Roman" panose="02020603050405020304" pitchFamily="18" charset="0"/>
                <a:cs typeface="Times New Roman" panose="02020603050405020304" pitchFamily="18" charset="0"/>
              </a:rPr>
              <a:t>rest</a:t>
            </a:r>
            <a:r>
              <a:rPr lang="fr-FR" sz="3500" noProof="0" dirty="0">
                <a:solidFill>
                  <a:srgbClr val="FF0000"/>
                </a:solidFill>
                <a:latin typeface="Times New Roman" panose="02020603050405020304" pitchFamily="18" charset="0"/>
                <a:cs typeface="Times New Roman" panose="02020603050405020304" pitchFamily="18" charset="0"/>
              </a:rPr>
              <a:t>.</a:t>
            </a:r>
          </a:p>
          <a:p>
            <a:pPr algn="l">
              <a:buNone/>
            </a:pPr>
            <a:r>
              <a:rPr lang="fr-FR" sz="3500" noProof="0" dirty="0">
                <a:solidFill>
                  <a:srgbClr val="FF0000"/>
                </a:solidFill>
                <a:latin typeface="Times New Roman" panose="02020603050405020304" pitchFamily="18" charset="0"/>
                <a:cs typeface="Times New Roman" panose="02020603050405020304" pitchFamily="18" charset="0"/>
              </a:rPr>
              <a:t>	</a:t>
            </a:r>
            <a:r>
              <a:rPr lang="fr-FR" sz="3500" noProof="0" dirty="0">
                <a:latin typeface="Times New Roman" panose="02020603050405020304" pitchFamily="18" charset="0"/>
                <a:cs typeface="Times New Roman" panose="02020603050405020304" pitchFamily="18" charset="0"/>
              </a:rPr>
              <a:t>In </a:t>
            </a:r>
            <a:r>
              <a:rPr lang="fr-FR" sz="3500" noProof="0" dirty="0" err="1">
                <a:latin typeface="Times New Roman" panose="02020603050405020304" pitchFamily="18" charset="0"/>
                <a:cs typeface="Times New Roman" panose="02020603050405020304" pitchFamily="18" charset="0"/>
              </a:rPr>
              <a:t>other</a:t>
            </a: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words</a:t>
            </a: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it</a:t>
            </a: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does</a:t>
            </a:r>
            <a:r>
              <a:rPr lang="fr-FR" sz="3500" noProof="0" dirty="0">
                <a:latin typeface="Times New Roman" panose="02020603050405020304" pitchFamily="18" charset="0"/>
                <a:cs typeface="Times New Roman" panose="02020603050405020304" pitchFamily="18" charset="0"/>
              </a:rPr>
              <a:t> not deal </a:t>
            </a:r>
            <a:r>
              <a:rPr lang="fr-FR" sz="3500" noProof="0" dirty="0" err="1">
                <a:latin typeface="Times New Roman" panose="02020603050405020304" pitchFamily="18" charset="0"/>
                <a:cs typeface="Times New Roman" panose="02020603050405020304" pitchFamily="18" charset="0"/>
              </a:rPr>
              <a:t>with</a:t>
            </a: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currents</a:t>
            </a:r>
            <a:r>
              <a:rPr lang="fr-FR" sz="3500" noProof="0" dirty="0">
                <a:latin typeface="Times New Roman" panose="02020603050405020304" pitchFamily="18" charset="0"/>
                <a:cs typeface="Times New Roman" panose="02020603050405020304" pitchFamily="18" charset="0"/>
              </a:rPr>
              <a:t> (charges in</a:t>
            </a:r>
          </a:p>
          <a:p>
            <a:pPr algn="l">
              <a:buNone/>
            </a:pPr>
            <a:r>
              <a:rPr lang="fr-FR" sz="3500" noProof="0" dirty="0">
                <a:latin typeface="Times New Roman" panose="02020603050405020304" pitchFamily="18" charset="0"/>
                <a:cs typeface="Times New Roman" panose="02020603050405020304" pitchFamily="18" charset="0"/>
              </a:rPr>
              <a:t>motion),but </a:t>
            </a:r>
            <a:r>
              <a:rPr lang="fr-FR" sz="3500" noProof="0" dirty="0" err="1">
                <a:latin typeface="Times New Roman" panose="02020603050405020304" pitchFamily="18" charset="0"/>
                <a:cs typeface="Times New Roman" panose="02020603050405020304" pitchFamily="18" charset="0"/>
              </a:rPr>
              <a:t>with</a:t>
            </a:r>
            <a:r>
              <a:rPr lang="fr-FR" sz="3500" noProof="0" dirty="0">
                <a:latin typeface="Times New Roman" panose="02020603050405020304" pitchFamily="18" charset="0"/>
                <a:cs typeface="Times New Roman" panose="02020603050405020304" pitchFamily="18" charset="0"/>
              </a:rPr>
              <a:t> the </a:t>
            </a:r>
            <a:r>
              <a:rPr lang="fr-FR" sz="3500" noProof="0" dirty="0" err="1">
                <a:latin typeface="Times New Roman" panose="02020603050405020304" pitchFamily="18" charset="0"/>
                <a:cs typeface="Times New Roman" panose="02020603050405020304" pitchFamily="18" charset="0"/>
              </a:rPr>
              <a:t>effects</a:t>
            </a: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produced</a:t>
            </a:r>
            <a:r>
              <a:rPr lang="fr-FR" sz="3500" noProof="0" dirty="0">
                <a:latin typeface="Times New Roman" panose="02020603050405020304" pitchFamily="18" charset="0"/>
                <a:cs typeface="Times New Roman" panose="02020603050405020304" pitchFamily="18" charset="0"/>
              </a:rPr>
              <a:t> by charges </a:t>
            </a:r>
            <a:r>
              <a:rPr lang="fr-FR" sz="3500" noProof="0" dirty="0" err="1">
                <a:latin typeface="Times New Roman" panose="02020603050405020304" pitchFamily="18" charset="0"/>
                <a:cs typeface="Times New Roman" panose="02020603050405020304" pitchFamily="18" charset="0"/>
              </a:rPr>
              <a:t>that</a:t>
            </a:r>
            <a:r>
              <a:rPr lang="fr-FR" sz="3500" noProof="0" dirty="0">
                <a:latin typeface="Times New Roman" panose="02020603050405020304" pitchFamily="18" charset="0"/>
                <a:cs typeface="Times New Roman" panose="02020603050405020304" pitchFamily="18" charset="0"/>
              </a:rPr>
              <a:t> are </a:t>
            </a:r>
            <a:r>
              <a:rPr lang="fr-FR" sz="3500" noProof="0" dirty="0" err="1">
                <a:solidFill>
                  <a:srgbClr val="FF0000"/>
                </a:solidFill>
                <a:latin typeface="Times New Roman" panose="02020603050405020304" pitchFamily="18" charset="0"/>
                <a:cs typeface="Times New Roman" panose="02020603050405020304" pitchFamily="18" charset="0"/>
              </a:rPr>
              <a:t>fixed</a:t>
            </a:r>
            <a:r>
              <a:rPr lang="fr-FR" sz="3500" noProof="0" dirty="0">
                <a:solidFill>
                  <a:srgbClr val="FF0000"/>
                </a:solidFill>
                <a:latin typeface="Times New Roman" panose="02020603050405020304" pitchFamily="18" charset="0"/>
                <a:cs typeface="Times New Roman" panose="02020603050405020304" pitchFamily="18" charset="0"/>
              </a:rPr>
              <a:t> in </a:t>
            </a:r>
            <a:r>
              <a:rPr lang="fr-FR" sz="3500" noProof="0" dirty="0" err="1">
                <a:solidFill>
                  <a:srgbClr val="FF0000"/>
                </a:solidFill>
                <a:latin typeface="Times New Roman" panose="02020603050405020304" pitchFamily="18" charset="0"/>
                <a:cs typeface="Times New Roman" panose="02020603050405020304" pitchFamily="18" charset="0"/>
              </a:rPr>
              <a:t>space</a:t>
            </a:r>
            <a:r>
              <a:rPr lang="fr-FR" sz="3500" noProof="0" dirty="0">
                <a:solidFill>
                  <a:srgbClr val="FF0000"/>
                </a:solidFill>
                <a:latin typeface="Times New Roman" panose="02020603050405020304" pitchFamily="18" charset="0"/>
                <a:cs typeface="Times New Roman" panose="02020603050405020304" pitchFamily="18" charset="0"/>
              </a:rPr>
              <a:t>.</a:t>
            </a:r>
          </a:p>
          <a:p>
            <a:pPr algn="l">
              <a:buNone/>
            </a:pP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Electrical</a:t>
            </a:r>
            <a:r>
              <a:rPr lang="fr-FR" sz="3500" noProof="0" dirty="0">
                <a:latin typeface="Times New Roman" panose="02020603050405020304" pitchFamily="18" charset="0"/>
                <a:cs typeface="Times New Roman" panose="02020603050405020304" pitchFamily="18" charset="0"/>
              </a:rPr>
              <a:t> interactions are, </a:t>
            </a:r>
            <a:r>
              <a:rPr lang="fr-FR" sz="3500" noProof="0" dirty="0" err="1">
                <a:latin typeface="Times New Roman" panose="02020603050405020304" pitchFamily="18" charset="0"/>
                <a:cs typeface="Times New Roman" panose="02020603050405020304" pitchFamily="18" charset="0"/>
              </a:rPr>
              <a:t>along</a:t>
            </a: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with</a:t>
            </a:r>
            <a:r>
              <a:rPr lang="fr-FR" sz="3500" noProof="0" dirty="0">
                <a:latin typeface="Times New Roman" panose="02020603050405020304" pitchFamily="18" charset="0"/>
                <a:cs typeface="Times New Roman" panose="02020603050405020304" pitchFamily="18" charset="0"/>
              </a:rPr>
              <a:t> </a:t>
            </a:r>
            <a:r>
              <a:rPr lang="fr-FR" sz="3500" noProof="0" dirty="0" err="1">
                <a:latin typeface="Times New Roman" panose="02020603050405020304" pitchFamily="18" charset="0"/>
                <a:cs typeface="Times New Roman" panose="02020603050405020304" pitchFamily="18" charset="0"/>
              </a:rPr>
              <a:t>gravity</a:t>
            </a:r>
            <a:r>
              <a:rPr lang="fr-FR" sz="3500" noProof="0" dirty="0">
                <a:latin typeface="Times New Roman" panose="02020603050405020304" pitchFamily="18" charset="0"/>
                <a:cs typeface="Times New Roman" panose="02020603050405020304" pitchFamily="18" charset="0"/>
              </a:rPr>
              <a:t>, one of</a:t>
            </a:r>
          </a:p>
          <a:p>
            <a:pPr algn="l">
              <a:buNone/>
            </a:pPr>
            <a:r>
              <a:rPr lang="fr-FR" sz="3500" noProof="0" dirty="0">
                <a:latin typeface="Times New Roman" panose="02020603050405020304" pitchFamily="18" charset="0"/>
                <a:cs typeface="Times New Roman" panose="02020603050405020304" pitchFamily="18" charset="0"/>
              </a:rPr>
              <a:t>the four </a:t>
            </a:r>
            <a:r>
              <a:rPr lang="fr-FR" sz="3500" noProof="0" dirty="0" err="1">
                <a:latin typeface="Times New Roman" panose="02020603050405020304" pitchFamily="18" charset="0"/>
                <a:cs typeface="Times New Roman" panose="02020603050405020304" pitchFamily="18" charset="0"/>
              </a:rPr>
              <a:t>fundamental</a:t>
            </a:r>
            <a:r>
              <a:rPr lang="fr-FR" sz="3500" noProof="0" dirty="0">
                <a:latin typeface="Times New Roman" panose="02020603050405020304" pitchFamily="18" charset="0"/>
                <a:cs typeface="Times New Roman" panose="02020603050405020304" pitchFamily="18" charset="0"/>
              </a:rPr>
              <a:t> forces of nature.</a:t>
            </a:r>
          </a:p>
          <a:p>
            <a:endParaRPr lang="fr-FR" noProof="0" dirty="0"/>
          </a:p>
        </p:txBody>
      </p:sp>
    </p:spTree>
    <p:extLst>
      <p:ext uri="{BB962C8B-B14F-4D97-AF65-F5344CB8AC3E}">
        <p14:creationId xmlns:p14="http://schemas.microsoft.com/office/powerpoint/2010/main" val="346669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4C637F-8AE4-8ABE-353E-02618BFF06F0}"/>
              </a:ext>
            </a:extLst>
          </p:cNvPr>
          <p:cNvSpPr>
            <a:spLocks noGrp="1"/>
          </p:cNvSpPr>
          <p:nvPr>
            <p:ph type="title"/>
          </p:nvPr>
        </p:nvSpPr>
        <p:spPr>
          <a:xfrm>
            <a:off x="468085" y="228599"/>
            <a:ext cx="11723915" cy="1262744"/>
          </a:xfrm>
        </p:spPr>
        <p:txBody>
          <a:bodyPr>
            <a:noAutofit/>
          </a:bodyPr>
          <a:lstStyle/>
          <a:p>
            <a:pPr marL="609585" marR="0" lvl="0" indent="-304792" algn="ctr" defTabSz="914400" rtl="0" eaLnBrk="1" fontAlgn="auto" latinLnBrk="0" hangingPunct="1">
              <a:lnSpc>
                <a:spcPct val="115000"/>
              </a:lnSpc>
              <a:spcBef>
                <a:spcPts val="1067"/>
              </a:spcBef>
              <a:spcAft>
                <a:spcPts val="1067"/>
              </a:spcAft>
              <a:buClr>
                <a:srgbClr val="FFFFFF"/>
              </a:buClr>
              <a:buSzPts val="1700"/>
              <a:buFont typeface="Arial"/>
              <a:buNone/>
              <a:tabLst/>
              <a:defRPr/>
            </a:pPr>
            <a:r>
              <a:rPr lang="fr-FR" sz="4800" b="1" noProof="0" dirty="0">
                <a:solidFill>
                  <a:srgbClr val="FFC000"/>
                </a:solidFill>
                <a:latin typeface="Times New Roman" panose="02020603050405020304" pitchFamily="18" charset="0"/>
                <a:cs typeface="Times New Roman" panose="02020603050405020304" pitchFamily="18" charset="0"/>
              </a:rPr>
              <a:t>A. Loi de coulomb </a:t>
            </a:r>
            <a:r>
              <a:rPr kumimoji="0" lang="fr-FR" sz="3600" b="0"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a:t>
            </a:r>
            <a:r>
              <a:rPr lang="fr-FR" sz="4800" b="1" noProof="0" dirty="0">
                <a:solidFill>
                  <a:schemeClr val="accent1"/>
                </a:solidFill>
                <a:latin typeface="Times New Roman" panose="02020603050405020304" pitchFamily="18" charset="0"/>
                <a:cs typeface="Times New Roman" panose="02020603050405020304" pitchFamily="18" charset="0"/>
              </a:rPr>
              <a:t>A. </a:t>
            </a:r>
            <a:r>
              <a:rPr lang="fr-FR" sz="4800" b="1" noProof="0" dirty="0" err="1">
                <a:solidFill>
                  <a:schemeClr val="accent1"/>
                </a:solidFill>
                <a:latin typeface="Times New Roman" panose="02020603050405020304" pitchFamily="18" charset="0"/>
                <a:cs typeface="Times New Roman" panose="02020603050405020304" pitchFamily="18" charset="0"/>
              </a:rPr>
              <a:t>Coulomb's</a:t>
            </a:r>
            <a:r>
              <a:rPr lang="fr-FR" sz="4800" b="1" noProof="0" dirty="0">
                <a:solidFill>
                  <a:schemeClr val="accent1"/>
                </a:solidFill>
                <a:latin typeface="Times New Roman" panose="02020603050405020304" pitchFamily="18" charset="0"/>
                <a:cs typeface="Times New Roman" panose="02020603050405020304" pitchFamily="18" charset="0"/>
              </a:rPr>
              <a:t> Law"</a:t>
            </a:r>
            <a:endParaRPr lang="fr-FR" sz="4400" noProof="0" dirty="0">
              <a:solidFill>
                <a:schemeClr val="accent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58704B10-8C4C-1D81-4197-159E57959552}"/>
                  </a:ext>
                </a:extLst>
              </p:cNvPr>
              <p:cNvSpPr>
                <a:spLocks noGrp="1"/>
              </p:cNvSpPr>
              <p:nvPr>
                <p:ph type="body" idx="1"/>
              </p:nvPr>
            </p:nvSpPr>
            <p:spPr>
              <a:xfrm>
                <a:off x="239487" y="1338944"/>
                <a:ext cx="6238564" cy="5214256"/>
              </a:xfrm>
            </p:spPr>
            <p:txBody>
              <a:bodyPr>
                <a:normAutofit/>
              </a:bodyPr>
              <a:lstStyle/>
              <a:p>
                <a:pPr marL="0" indent="0" algn="l">
                  <a:lnSpc>
                    <a:spcPct val="115000"/>
                  </a:lnSpc>
                  <a:spcAft>
                    <a:spcPts val="1333"/>
                  </a:spcAft>
                  <a:buSzPts val="1000"/>
                  <a:tabLst>
                    <a:tab pos="609585" algn="l"/>
                  </a:tabLst>
                </a:pPr>
                <a:r>
                  <a:rPr lang="fr-FR" sz="3200" b="1" noProof="0" dirty="0">
                    <a:solidFill>
                      <a:srgbClr val="92D050"/>
                    </a:solidFill>
                    <a:latin typeface="Times New Roman" panose="02020603050405020304" pitchFamily="18" charset="0"/>
                    <a:ea typeface="Times New Roman" panose="02020603050405020304" pitchFamily="18" charset="0"/>
                    <a:cs typeface="Arial" panose="020B0604020202020204" pitchFamily="34" charset="0"/>
                  </a:rPr>
                  <a:t>Définition</a:t>
                </a:r>
                <a:r>
                  <a:rPr lang="fr-FR" sz="3200" noProof="0" dirty="0">
                    <a:solidFill>
                      <a:srgbClr val="92D050"/>
                    </a:solidFill>
                    <a:latin typeface="Times New Roman" panose="02020603050405020304" pitchFamily="18" charset="0"/>
                    <a:ea typeface="Times New Roman" panose="02020603050405020304" pitchFamily="18" charset="0"/>
                    <a:cs typeface="Arial" panose="020B0604020202020204" pitchFamily="34" charset="0"/>
                  </a:rPr>
                  <a:t> : </a:t>
                </a:r>
                <a:r>
                  <a:rPr lang="fr-FR" sz="3200" noProof="0" dirty="0">
                    <a:latin typeface="Times New Roman" panose="02020603050405020304" pitchFamily="18" charset="0"/>
                    <a:ea typeface="Times New Roman" panose="02020603050405020304" pitchFamily="18" charset="0"/>
                    <a:cs typeface="Arial" panose="020B0604020202020204" pitchFamily="34" charset="0"/>
                  </a:rPr>
                  <a:t>Deux charges ponctuelles ​ q</a:t>
                </a:r>
                <a:r>
                  <a:rPr lang="fr-FR" sz="3200" baseline="-25000" noProof="0" dirty="0">
                    <a:latin typeface="Times New Roman" panose="02020603050405020304" pitchFamily="18" charset="0"/>
                    <a:ea typeface="Times New Roman" panose="02020603050405020304" pitchFamily="18" charset="0"/>
                    <a:cs typeface="Arial" panose="020B0604020202020204" pitchFamily="34" charset="0"/>
                  </a:rPr>
                  <a:t>1</a:t>
                </a:r>
                <a:r>
                  <a:rPr lang="fr-FR" sz="3200" noProof="0" dirty="0">
                    <a:latin typeface="Times New Roman" panose="02020603050405020304" pitchFamily="18" charset="0"/>
                    <a:ea typeface="Times New Roman" panose="02020603050405020304" pitchFamily="18" charset="0"/>
                    <a:cs typeface="Arial" panose="020B0604020202020204" pitchFamily="34" charset="0"/>
                  </a:rPr>
                  <a:t> et q</a:t>
                </a:r>
                <a:r>
                  <a:rPr lang="fr-FR" sz="3200" baseline="-25000" noProof="0" dirty="0">
                    <a:latin typeface="Times New Roman" panose="02020603050405020304" pitchFamily="18" charset="0"/>
                    <a:ea typeface="Times New Roman" panose="02020603050405020304" pitchFamily="18" charset="0"/>
                    <a:cs typeface="Arial" panose="020B0604020202020204" pitchFamily="34" charset="0"/>
                  </a:rPr>
                  <a:t>2</a:t>
                </a:r>
                <a:r>
                  <a:rPr lang="fr-FR" sz="3200" noProof="0" dirty="0">
                    <a:latin typeface="Times New Roman" panose="02020603050405020304" pitchFamily="18" charset="0"/>
                    <a:ea typeface="Times New Roman" panose="02020603050405020304" pitchFamily="18" charset="0"/>
                    <a:cs typeface="Arial" panose="020B0604020202020204" pitchFamily="34" charset="0"/>
                  </a:rPr>
                  <a:t> séparées par une distance r, exercent l’une sur l’autre une force appelée </a:t>
                </a:r>
                <a:r>
                  <a:rPr lang="fr-FR" sz="3200" b="1" i="1" noProof="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Force de coulomb</a:t>
                </a:r>
                <a:endParaRPr lang="fr-FR" sz="3200" b="1" i="1" noProof="0" dirty="0">
                  <a:solidFill>
                    <a:srgbClr val="FF0000"/>
                  </a:solidFill>
                  <a:latin typeface="Cambria" panose="02040503050406030204" pitchFamily="18" charset="0"/>
                  <a:ea typeface="MS Mincho" panose="02020609040205080304" pitchFamily="49" charset="-128"/>
                  <a:cs typeface="Arial" panose="020B0604020202020204" pitchFamily="34" charset="0"/>
                </a:endParaRPr>
              </a:p>
              <a:p>
                <a:pPr marL="0" indent="0" algn="l">
                  <a:lnSpc>
                    <a:spcPct val="115000"/>
                  </a:lnSpc>
                  <a:spcAft>
                    <a:spcPts val="1333"/>
                  </a:spcAft>
                  <a:buSzPts val="1000"/>
                  <a:tabLst>
                    <a:tab pos="609585" algn="l"/>
                  </a:tabLst>
                </a:pPr>
                <a:r>
                  <a:rPr lang="fr-FR" sz="3200" b="1" noProof="0" dirty="0" err="1">
                    <a:solidFill>
                      <a:srgbClr val="00B050"/>
                    </a:solidFill>
                    <a:latin typeface="Times New Roman" panose="02020603050405020304" pitchFamily="18" charset="0"/>
                    <a:cs typeface="Times New Roman" panose="02020603050405020304" pitchFamily="18" charset="0"/>
                  </a:rPr>
                  <a:t>Definition</a:t>
                </a:r>
                <a:r>
                  <a:rPr lang="fr-FR" sz="3200" noProof="0" dirty="0">
                    <a:latin typeface="Times New Roman" panose="02020603050405020304" pitchFamily="18" charset="0"/>
                    <a:cs typeface="Times New Roman" panose="02020603050405020304" pitchFamily="18" charset="0"/>
                  </a:rPr>
                  <a:t>: </a:t>
                </a:r>
                <a:r>
                  <a:rPr lang="fr-FR" sz="3200" noProof="0" dirty="0" err="1">
                    <a:latin typeface="Times New Roman" panose="02020603050405020304" pitchFamily="18" charset="0"/>
                    <a:cs typeface="Times New Roman" panose="02020603050405020304" pitchFamily="18" charset="0"/>
                  </a:rPr>
                  <a:t>Two</a:t>
                </a:r>
                <a:r>
                  <a:rPr lang="fr-FR" sz="3200" noProof="0" dirty="0">
                    <a:latin typeface="Times New Roman" panose="02020603050405020304" pitchFamily="18" charset="0"/>
                    <a:cs typeface="Times New Roman" panose="02020603050405020304" pitchFamily="18" charset="0"/>
                  </a:rPr>
                  <a:t>-point charges </a:t>
                </a:r>
                <a14:m>
                  <m:oMath xmlns:m="http://schemas.openxmlformats.org/officeDocument/2006/math">
                    <m:sSub>
                      <m:sSubPr>
                        <m:ctrlPr>
                          <a:rPr lang="fr-FR" sz="3200" i="1" noProof="0" smtClean="0">
                            <a:latin typeface="Cambria Math" panose="02040503050406030204" pitchFamily="18" charset="0"/>
                            <a:cs typeface="+mj-cs"/>
                          </a:rPr>
                        </m:ctrlPr>
                      </m:sSubPr>
                      <m:e>
                        <m:r>
                          <a:rPr lang="fr-FR" sz="3200" i="1" noProof="0" smtClean="0">
                            <a:latin typeface="Cambria Math" panose="02040503050406030204" pitchFamily="18" charset="0"/>
                            <a:cs typeface="+mj-cs"/>
                          </a:rPr>
                          <m:t>𝑞</m:t>
                        </m:r>
                      </m:e>
                      <m:sub>
                        <m:r>
                          <a:rPr lang="fr-FR" sz="3200" i="0" noProof="0" smtClean="0">
                            <a:latin typeface="Cambria Math" panose="02040503050406030204" pitchFamily="18" charset="0"/>
                            <a:cs typeface="+mj-cs"/>
                          </a:rPr>
                          <m:t>1</m:t>
                        </m:r>
                      </m:sub>
                    </m:sSub>
                  </m:oMath>
                </a14:m>
                <a:r>
                  <a:rPr lang="fr-FR" sz="3200" noProof="0" dirty="0">
                    <a:latin typeface="Times New Roman" panose="02020603050405020304" pitchFamily="18" charset="0"/>
                    <a:cs typeface="Times New Roman" panose="02020603050405020304" pitchFamily="18" charset="0"/>
                  </a:rPr>
                  <a:t>and </a:t>
                </a:r>
                <a14:m>
                  <m:oMath xmlns:m="http://schemas.openxmlformats.org/officeDocument/2006/math">
                    <m:sSub>
                      <m:sSubPr>
                        <m:ctrlPr>
                          <a:rPr lang="fr-FR" sz="3200" i="1" noProof="0" smtClean="0">
                            <a:latin typeface="Cambria Math" panose="02040503050406030204" pitchFamily="18" charset="0"/>
                            <a:cs typeface="+mj-cs"/>
                          </a:rPr>
                        </m:ctrlPr>
                      </m:sSubPr>
                      <m:e>
                        <m:r>
                          <a:rPr lang="fr-FR" sz="3200" i="1" noProof="0" smtClean="0">
                            <a:latin typeface="Cambria Math" panose="02040503050406030204" pitchFamily="18" charset="0"/>
                            <a:cs typeface="+mj-cs"/>
                          </a:rPr>
                          <m:t>𝑞</m:t>
                        </m:r>
                      </m:e>
                      <m:sub>
                        <m:r>
                          <a:rPr lang="fr-FR" sz="3200" i="0" noProof="0" smtClean="0">
                            <a:latin typeface="Cambria Math" panose="02040503050406030204" pitchFamily="18" charset="0"/>
                            <a:cs typeface="+mj-cs"/>
                          </a:rPr>
                          <m:t>2</m:t>
                        </m:r>
                      </m:sub>
                    </m:sSub>
                  </m:oMath>
                </a14:m>
                <a:r>
                  <a:rPr lang="fr-FR" sz="3200" noProof="0" dirty="0">
                    <a:latin typeface="Times New Roman" panose="02020603050405020304" pitchFamily="18" charset="0"/>
                    <a:cs typeface="Times New Roman" panose="02020603050405020304" pitchFamily="18" charset="0"/>
                  </a:rPr>
                  <a:t>, </a:t>
                </a:r>
                <a:r>
                  <a:rPr lang="fr-FR" sz="3200" noProof="0" dirty="0" err="1">
                    <a:latin typeface="Times New Roman" panose="02020603050405020304" pitchFamily="18" charset="0"/>
                    <a:cs typeface="Times New Roman" panose="02020603050405020304" pitchFamily="18" charset="0"/>
                  </a:rPr>
                  <a:t>separated</a:t>
                </a:r>
                <a:r>
                  <a:rPr lang="fr-FR" sz="3200" noProof="0" dirty="0">
                    <a:latin typeface="Times New Roman" panose="02020603050405020304" pitchFamily="18" charset="0"/>
                    <a:cs typeface="Times New Roman" panose="02020603050405020304" pitchFamily="18" charset="0"/>
                  </a:rPr>
                  <a:t> by a distance </a:t>
                </a:r>
                <a14:m>
                  <m:oMath xmlns:m="http://schemas.openxmlformats.org/officeDocument/2006/math">
                    <m:r>
                      <a:rPr lang="fr-FR" sz="3200" i="1" noProof="0" smtClean="0">
                        <a:latin typeface="Cambria Math" panose="02040503050406030204" pitchFamily="18" charset="0"/>
                        <a:cs typeface="+mj-cs"/>
                      </a:rPr>
                      <m:t>𝑟</m:t>
                    </m:r>
                  </m:oMath>
                </a14:m>
                <a:r>
                  <a:rPr lang="fr-FR" sz="3200" noProof="0" dirty="0">
                    <a:latin typeface="Times New Roman" panose="02020603050405020304" pitchFamily="18" charset="0"/>
                    <a:cs typeface="Times New Roman" panose="02020603050405020304" pitchFamily="18" charset="0"/>
                  </a:rPr>
                  <a:t>, </a:t>
                </a:r>
                <a:r>
                  <a:rPr lang="fr-FR" sz="3200" noProof="0" dirty="0" err="1">
                    <a:latin typeface="Times New Roman" panose="02020603050405020304" pitchFamily="18" charset="0"/>
                    <a:cs typeface="Times New Roman" panose="02020603050405020304" pitchFamily="18" charset="0"/>
                  </a:rPr>
                  <a:t>exert</a:t>
                </a:r>
                <a:r>
                  <a:rPr lang="fr-FR" sz="3200" noProof="0" dirty="0">
                    <a:latin typeface="Times New Roman" panose="02020603050405020304" pitchFamily="18" charset="0"/>
                    <a:cs typeface="Times New Roman" panose="02020603050405020304" pitchFamily="18" charset="0"/>
                  </a:rPr>
                  <a:t> on </a:t>
                </a:r>
                <a:r>
                  <a:rPr lang="fr-FR" sz="3200" noProof="0" dirty="0" err="1">
                    <a:latin typeface="Times New Roman" panose="02020603050405020304" pitchFamily="18" charset="0"/>
                    <a:cs typeface="Times New Roman" panose="02020603050405020304" pitchFamily="18" charset="0"/>
                  </a:rPr>
                  <a:t>each</a:t>
                </a:r>
                <a:r>
                  <a:rPr lang="fr-FR" sz="3200" noProof="0" dirty="0">
                    <a:latin typeface="Times New Roman" panose="02020603050405020304" pitchFamily="18" charset="0"/>
                    <a:cs typeface="Times New Roman" panose="02020603050405020304" pitchFamily="18" charset="0"/>
                  </a:rPr>
                  <a:t> </a:t>
                </a:r>
                <a:r>
                  <a:rPr lang="fr-FR" sz="3200" noProof="0" dirty="0" err="1">
                    <a:latin typeface="Times New Roman" panose="02020603050405020304" pitchFamily="18" charset="0"/>
                    <a:cs typeface="Times New Roman" panose="02020603050405020304" pitchFamily="18" charset="0"/>
                  </a:rPr>
                  <a:t>other</a:t>
                </a:r>
                <a:r>
                  <a:rPr lang="fr-FR" sz="3200" noProof="0" dirty="0">
                    <a:latin typeface="Times New Roman" panose="02020603050405020304" pitchFamily="18" charset="0"/>
                    <a:cs typeface="Times New Roman" panose="02020603050405020304" pitchFamily="18" charset="0"/>
                  </a:rPr>
                  <a:t> a force </a:t>
                </a:r>
                <a:r>
                  <a:rPr lang="fr-FR" sz="3200" noProof="0" dirty="0" err="1">
                    <a:latin typeface="Times New Roman" panose="02020603050405020304" pitchFamily="18" charset="0"/>
                    <a:cs typeface="Times New Roman" panose="02020603050405020304" pitchFamily="18" charset="0"/>
                  </a:rPr>
                  <a:t>called</a:t>
                </a:r>
                <a:r>
                  <a:rPr lang="fr-FR" sz="3200" noProof="0" dirty="0">
                    <a:latin typeface="Times New Roman" panose="02020603050405020304" pitchFamily="18" charset="0"/>
                    <a:cs typeface="Times New Roman" panose="02020603050405020304" pitchFamily="18" charset="0"/>
                  </a:rPr>
                  <a:t> the </a:t>
                </a:r>
                <a:r>
                  <a:rPr lang="fr-FR" sz="3200" b="1" noProof="0" dirty="0">
                    <a:solidFill>
                      <a:srgbClr val="00B0F0"/>
                    </a:solidFill>
                    <a:latin typeface="Times New Roman" panose="02020603050405020304" pitchFamily="18" charset="0"/>
                    <a:cs typeface="Times New Roman" panose="02020603050405020304" pitchFamily="18" charset="0"/>
                  </a:rPr>
                  <a:t>Coulomb force</a:t>
                </a:r>
                <a:endParaRPr lang="fr-FR" sz="3200" noProof="0" dirty="0">
                  <a:solidFill>
                    <a:srgbClr val="00B0F0"/>
                  </a:solidFill>
                  <a:latin typeface="Times New Roman" panose="02020603050405020304" pitchFamily="18" charset="0"/>
                  <a:cs typeface="Times New Roman" panose="02020603050405020304" pitchFamily="18" charset="0"/>
                </a:endParaRPr>
              </a:p>
            </p:txBody>
          </p:sp>
        </mc:Choice>
        <mc:Fallback xmlns="">
          <p:sp>
            <p:nvSpPr>
              <p:cNvPr id="3" name="Espace réservé du texte 2">
                <a:extLst>
                  <a:ext uri="{FF2B5EF4-FFF2-40B4-BE49-F238E27FC236}">
                    <a16:creationId xmlns:a16="http://schemas.microsoft.com/office/drawing/2014/main" id="{58704B10-8C4C-1D81-4197-159E57959552}"/>
                  </a:ext>
                </a:extLst>
              </p:cNvPr>
              <p:cNvSpPr>
                <a:spLocks noGrp="1" noRot="1" noChangeAspect="1" noMove="1" noResize="1" noEditPoints="1" noAdjustHandles="1" noChangeArrowheads="1" noChangeShapeType="1" noTextEdit="1"/>
              </p:cNvSpPr>
              <p:nvPr>
                <p:ph type="body" idx="1"/>
              </p:nvPr>
            </p:nvSpPr>
            <p:spPr>
              <a:xfrm>
                <a:off x="239487" y="1338944"/>
                <a:ext cx="6238564" cy="5214256"/>
              </a:xfrm>
              <a:blipFill>
                <a:blip r:embed="rId2"/>
                <a:stretch>
                  <a:fillRect l="-2832" r="-4297"/>
                </a:stretch>
              </a:blipFill>
            </p:spPr>
            <p:txBody>
              <a:bodyPr/>
              <a:lstStyle/>
              <a:p>
                <a:r>
                  <a:rPr lang="fr-DZ">
                    <a:noFill/>
                  </a:rPr>
                  <a:t> </a:t>
                </a:r>
              </a:p>
            </p:txBody>
          </p:sp>
        </mc:Fallback>
      </mc:AlternateContent>
      <p:pic>
        <p:nvPicPr>
          <p:cNvPr id="1034" name="Picture 10" descr="Charles de Coulomb - online presentation">
            <a:extLst>
              <a:ext uri="{FF2B5EF4-FFF2-40B4-BE49-F238E27FC236}">
                <a16:creationId xmlns:a16="http://schemas.microsoft.com/office/drawing/2014/main" id="{CD2012F3-A3D3-0735-A3BD-60ABF60FC1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8050" y="1611087"/>
            <a:ext cx="6438758" cy="4757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257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DAEE76-FC15-7F07-57DC-98EA18FF88E3}"/>
              </a:ext>
            </a:extLst>
          </p:cNvPr>
          <p:cNvSpPr>
            <a:spLocks noGrp="1"/>
          </p:cNvSpPr>
          <p:nvPr>
            <p:ph type="title"/>
          </p:nvPr>
        </p:nvSpPr>
        <p:spPr>
          <a:xfrm>
            <a:off x="772379" y="2177142"/>
            <a:ext cx="10831791" cy="3472543"/>
          </a:xfrm>
        </p:spPr>
        <p:txBody>
          <a:bodyPr>
            <a:normAutofit/>
          </a:bodyPr>
          <a:lstStyle/>
          <a:p>
            <a:pPr algn="l"/>
            <a:r>
              <a:rPr lang="fr-FR" sz="3600" noProof="0" dirty="0">
                <a:latin typeface="Times New Roman" panose="02020603050405020304" pitchFamily="18" charset="0"/>
                <a:ea typeface="MS Mincho" panose="02020609040205080304" pitchFamily="49" charset="-128"/>
              </a:rPr>
              <a:t>- L’interaction électrique existe entre deux charges ponctuelles (</a:t>
            </a:r>
            <a:r>
              <a:rPr lang="fr-FR" sz="3600" noProof="0" dirty="0">
                <a:latin typeface="Times New Roman" panose="02020603050405020304" pitchFamily="18" charset="0"/>
                <a:ea typeface="Times New Roman" panose="02020603050405020304" pitchFamily="18" charset="0"/>
              </a:rPr>
              <a:t>q</a:t>
            </a:r>
            <a:r>
              <a:rPr lang="fr-FR" sz="3600" baseline="-25000" noProof="0" dirty="0">
                <a:latin typeface="Times New Roman" panose="02020603050405020304" pitchFamily="18" charset="0"/>
                <a:ea typeface="Times New Roman" panose="02020603050405020304" pitchFamily="18" charset="0"/>
              </a:rPr>
              <a:t>1</a:t>
            </a:r>
            <a:r>
              <a:rPr lang="fr-FR" sz="3600" noProof="0" dirty="0">
                <a:latin typeface="Times New Roman" panose="02020603050405020304" pitchFamily="18" charset="0"/>
                <a:ea typeface="Times New Roman" panose="02020603050405020304" pitchFamily="18" charset="0"/>
              </a:rPr>
              <a:t> et q</a:t>
            </a:r>
            <a:r>
              <a:rPr lang="fr-FR" sz="3600" baseline="-25000" noProof="0" dirty="0">
                <a:latin typeface="Times New Roman" panose="02020603050405020304" pitchFamily="18" charset="0"/>
                <a:ea typeface="Times New Roman" panose="02020603050405020304" pitchFamily="18" charset="0"/>
              </a:rPr>
              <a:t>2</a:t>
            </a:r>
            <a:r>
              <a:rPr lang="fr-FR" sz="3600" noProof="0" dirty="0">
                <a:latin typeface="Times New Roman" panose="02020603050405020304" pitchFamily="18" charset="0"/>
                <a:ea typeface="Times New Roman" panose="02020603050405020304" pitchFamily="18" charset="0"/>
              </a:rPr>
              <a:t> </a:t>
            </a:r>
            <a:r>
              <a:rPr lang="fr-FR" sz="3600" noProof="0" dirty="0">
                <a:latin typeface="Times New Roman" panose="02020603050405020304" pitchFamily="18" charset="0"/>
                <a:ea typeface="MS Mincho" panose="02020609040205080304" pitchFamily="49" charset="-128"/>
              </a:rPr>
              <a:t>).</a:t>
            </a:r>
            <a:br>
              <a:rPr lang="fr-FR" sz="3600" noProof="0" dirty="0">
                <a:latin typeface="Times New Roman" panose="02020603050405020304" pitchFamily="18" charset="0"/>
                <a:ea typeface="MS Mincho" panose="02020609040205080304" pitchFamily="49" charset="-128"/>
              </a:rPr>
            </a:br>
            <a:r>
              <a:rPr lang="fr-FR" sz="3600" noProof="0" dirty="0">
                <a:latin typeface="Times New Roman" panose="02020603050405020304" pitchFamily="18" charset="0"/>
                <a:ea typeface="MS Mincho" panose="02020609040205080304" pitchFamily="49" charset="-128"/>
              </a:rPr>
              <a:t>- Intensité de la force :</a:t>
            </a:r>
            <a:br>
              <a:rPr lang="fr-FR" sz="3600" noProof="0" dirty="0">
                <a:latin typeface="Times New Roman" panose="02020603050405020304" pitchFamily="18" charset="0"/>
                <a:ea typeface="MS Mincho" panose="02020609040205080304" pitchFamily="49" charset="-128"/>
              </a:rPr>
            </a:br>
            <a:r>
              <a:rPr lang="fr-FR" sz="3600" noProof="0" dirty="0">
                <a:latin typeface="Times New Roman" panose="02020603050405020304" pitchFamily="18" charset="0"/>
                <a:ea typeface="MS Mincho" panose="02020609040205080304" pitchFamily="49" charset="-128"/>
              </a:rPr>
              <a:t>  * </a:t>
            </a:r>
            <a:r>
              <a:rPr lang="fr-FR" sz="3600" noProof="0" dirty="0">
                <a:solidFill>
                  <a:srgbClr val="FFC000"/>
                </a:solidFill>
                <a:latin typeface="Times New Roman" panose="02020603050405020304" pitchFamily="18" charset="0"/>
                <a:ea typeface="MS Mincho" panose="02020609040205080304" pitchFamily="49" charset="-128"/>
              </a:rPr>
              <a:t>Proportionnelle</a:t>
            </a:r>
            <a:r>
              <a:rPr lang="fr-FR" sz="3600" noProof="0" dirty="0">
                <a:latin typeface="Times New Roman" panose="02020603050405020304" pitchFamily="18" charset="0"/>
                <a:ea typeface="MS Mincho" panose="02020609040205080304" pitchFamily="49" charset="-128"/>
              </a:rPr>
              <a:t> au </a:t>
            </a:r>
            <a:r>
              <a:rPr lang="fr-FR" sz="3600" u="sng" noProof="0" dirty="0">
                <a:latin typeface="Times New Roman" panose="02020603050405020304" pitchFamily="18" charset="0"/>
                <a:ea typeface="MS Mincho" panose="02020609040205080304" pitchFamily="49" charset="-128"/>
              </a:rPr>
              <a:t>produit des charges</a:t>
            </a:r>
            <a:r>
              <a:rPr lang="fr-FR" sz="3600" noProof="0" dirty="0">
                <a:latin typeface="Times New Roman" panose="02020603050405020304" pitchFamily="18" charset="0"/>
                <a:ea typeface="MS Mincho" panose="02020609040205080304" pitchFamily="49" charset="-128"/>
              </a:rPr>
              <a:t>.</a:t>
            </a:r>
            <a:br>
              <a:rPr lang="fr-FR" sz="3600" noProof="0" dirty="0">
                <a:latin typeface="Times New Roman" panose="02020603050405020304" pitchFamily="18" charset="0"/>
                <a:ea typeface="MS Mincho" panose="02020609040205080304" pitchFamily="49" charset="-128"/>
              </a:rPr>
            </a:br>
            <a:r>
              <a:rPr lang="fr-FR" sz="3600" noProof="0" dirty="0">
                <a:latin typeface="Times New Roman" panose="02020603050405020304" pitchFamily="18" charset="0"/>
                <a:ea typeface="MS Mincho" panose="02020609040205080304" pitchFamily="49" charset="-128"/>
              </a:rPr>
              <a:t>  * </a:t>
            </a:r>
            <a:r>
              <a:rPr lang="fr-FR" sz="3600" noProof="0" dirty="0">
                <a:solidFill>
                  <a:srgbClr val="C00000"/>
                </a:solidFill>
                <a:latin typeface="Times New Roman" panose="02020603050405020304" pitchFamily="18" charset="0"/>
                <a:ea typeface="MS Mincho" panose="02020609040205080304" pitchFamily="49" charset="-128"/>
              </a:rPr>
              <a:t>Inversement</a:t>
            </a:r>
            <a:r>
              <a:rPr lang="fr-FR" sz="3600" noProof="0" dirty="0">
                <a:latin typeface="Times New Roman" panose="02020603050405020304" pitchFamily="18" charset="0"/>
                <a:ea typeface="MS Mincho" panose="02020609040205080304" pitchFamily="49" charset="-128"/>
              </a:rPr>
              <a:t> proportionnelle au </a:t>
            </a:r>
            <a:r>
              <a:rPr lang="fr-FR" sz="3600" u="sng" noProof="0" dirty="0">
                <a:latin typeface="Times New Roman" panose="02020603050405020304" pitchFamily="18" charset="0"/>
                <a:ea typeface="MS Mincho" panose="02020609040205080304" pitchFamily="49" charset="-128"/>
              </a:rPr>
              <a:t>carré de la distance qui les sépare.</a:t>
            </a:r>
            <a:endParaRPr lang="fr-FR" sz="3600" u="sng" noProof="0" dirty="0"/>
          </a:p>
        </p:txBody>
      </p:sp>
      <p:sp>
        <p:nvSpPr>
          <p:cNvPr id="3" name="Espace réservé du texte 2">
            <a:extLst>
              <a:ext uri="{FF2B5EF4-FFF2-40B4-BE49-F238E27FC236}">
                <a16:creationId xmlns:a16="http://schemas.microsoft.com/office/drawing/2014/main" id="{C0654B22-D266-82E8-48D2-32F64C334E76}"/>
              </a:ext>
            </a:extLst>
          </p:cNvPr>
          <p:cNvSpPr>
            <a:spLocks noGrp="1"/>
          </p:cNvSpPr>
          <p:nvPr>
            <p:ph type="body" idx="1"/>
          </p:nvPr>
        </p:nvSpPr>
        <p:spPr>
          <a:xfrm>
            <a:off x="850800" y="1088573"/>
            <a:ext cx="10490400" cy="968827"/>
          </a:xfrm>
        </p:spPr>
        <p:txBody>
          <a:bodyPr>
            <a:normAutofit/>
          </a:bodyPr>
          <a:lstStyle/>
          <a:p>
            <a:pPr algn="ctr"/>
            <a:r>
              <a:rPr lang="fr-FR" sz="4267" b="1" noProof="0" dirty="0" err="1">
                <a:solidFill>
                  <a:srgbClr val="FFC000"/>
                </a:solidFill>
                <a:latin typeface="Times New Roman" panose="02020603050405020304" pitchFamily="18" charset="0"/>
                <a:ea typeface="MS Mincho" panose="02020609040205080304" pitchFamily="49" charset="-128"/>
              </a:rPr>
              <a:t>A.Loi</a:t>
            </a:r>
            <a:r>
              <a:rPr lang="fr-FR" sz="4267" b="1" noProof="0" dirty="0">
                <a:solidFill>
                  <a:srgbClr val="FFC000"/>
                </a:solidFill>
                <a:latin typeface="Times New Roman" panose="02020603050405020304" pitchFamily="18" charset="0"/>
                <a:ea typeface="MS Mincho" panose="02020609040205080304" pitchFamily="49" charset="-128"/>
              </a:rPr>
              <a:t> de Coulomb 1. Énoncé qualitatif</a:t>
            </a:r>
            <a:endParaRPr lang="fr-FR" sz="4267" b="1" noProof="0" dirty="0">
              <a:solidFill>
                <a:srgbClr val="FFC000"/>
              </a:solidFill>
            </a:endParaRPr>
          </a:p>
        </p:txBody>
      </p:sp>
    </p:spTree>
    <p:extLst>
      <p:ext uri="{BB962C8B-B14F-4D97-AF65-F5344CB8AC3E}">
        <p14:creationId xmlns:p14="http://schemas.microsoft.com/office/powerpoint/2010/main" val="1567123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173113-BE77-589C-4F4B-CB061551BBA4}"/>
              </a:ext>
            </a:extLst>
          </p:cNvPr>
          <p:cNvSpPr>
            <a:spLocks noGrp="1"/>
          </p:cNvSpPr>
          <p:nvPr>
            <p:ph type="title"/>
          </p:nvPr>
        </p:nvSpPr>
        <p:spPr>
          <a:xfrm>
            <a:off x="685800" y="753533"/>
            <a:ext cx="10820400" cy="944638"/>
          </a:xfrm>
        </p:spPr>
        <p:txBody>
          <a:bodyPr>
            <a:normAutofit/>
          </a:bodyPr>
          <a:lstStyle/>
          <a:p>
            <a:pPr marL="609585" marR="0" lvl="0" indent="-304792" algn="ctr" defTabSz="914400" rtl="0" eaLnBrk="1" fontAlgn="auto" latinLnBrk="0" hangingPunct="1">
              <a:lnSpc>
                <a:spcPct val="90000"/>
              </a:lnSpc>
              <a:spcBef>
                <a:spcPts val="1067"/>
              </a:spcBef>
              <a:spcAft>
                <a:spcPts val="0"/>
              </a:spcAft>
              <a:tabLst/>
              <a:defRPr/>
            </a:pPr>
            <a:r>
              <a:rPr kumimoji="0" lang="fr-FR" b="0"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 </a:t>
            </a:r>
            <a:r>
              <a:rPr kumimoji="0" lang="fr-FR" b="1" i="0" u="none" strike="noStrike" kern="0" cap="none" spc="0" normalizeH="0" baseline="0" noProof="0" dirty="0">
                <a:ln>
                  <a:noFill/>
                </a:ln>
                <a:solidFill>
                  <a:srgbClr val="01D17D"/>
                </a:solidFill>
                <a:effectLst/>
                <a:uLnTx/>
                <a:uFillTx/>
                <a:latin typeface="Times New Roman" panose="02020603050405020304" pitchFamily="18" charset="0"/>
                <a:cs typeface="Times New Roman" panose="02020603050405020304" pitchFamily="18" charset="0"/>
                <a:sym typeface="Century Gothic"/>
              </a:rPr>
              <a:t>"</a:t>
            </a:r>
            <a:r>
              <a:rPr kumimoji="0" lang="fr-FR" b="1" i="0" u="none" strike="noStrike" kern="0" cap="none" spc="0" normalizeH="0" baseline="0" noProof="0" dirty="0" err="1">
                <a:ln>
                  <a:noFill/>
                </a:ln>
                <a:solidFill>
                  <a:srgbClr val="01D17D"/>
                </a:solidFill>
                <a:effectLst/>
                <a:uLnTx/>
                <a:uFillTx/>
                <a:latin typeface="Times New Roman" panose="02020603050405020304" pitchFamily="18" charset="0"/>
                <a:cs typeface="Times New Roman" panose="02020603050405020304" pitchFamily="18" charset="0"/>
                <a:sym typeface="Century Gothic"/>
              </a:rPr>
              <a:t>Coulomb's</a:t>
            </a:r>
            <a:r>
              <a:rPr kumimoji="0" lang="fr-FR" b="1" i="0" u="none" strike="noStrike" kern="0" cap="none" spc="0" normalizeH="0" baseline="0" noProof="0" dirty="0">
                <a:ln>
                  <a:noFill/>
                </a:ln>
                <a:solidFill>
                  <a:srgbClr val="01D17D"/>
                </a:solidFill>
                <a:effectLst/>
                <a:uLnTx/>
                <a:uFillTx/>
                <a:latin typeface="Times New Roman" panose="02020603050405020304" pitchFamily="18" charset="0"/>
                <a:cs typeface="Times New Roman" panose="02020603050405020304" pitchFamily="18" charset="0"/>
                <a:sym typeface="Century Gothic"/>
              </a:rPr>
              <a:t> Law 1. Qualitative </a:t>
            </a:r>
            <a:r>
              <a:rPr kumimoji="0" lang="fr-FR" b="1" i="0" u="none" strike="noStrike" kern="0" cap="none" spc="0" normalizeH="0" baseline="0" noProof="0" dirty="0" err="1">
                <a:ln>
                  <a:noFill/>
                </a:ln>
                <a:solidFill>
                  <a:srgbClr val="01D17D"/>
                </a:solidFill>
                <a:effectLst/>
                <a:uLnTx/>
                <a:uFillTx/>
                <a:latin typeface="Times New Roman" panose="02020603050405020304" pitchFamily="18" charset="0"/>
                <a:cs typeface="Times New Roman" panose="02020603050405020304" pitchFamily="18" charset="0"/>
                <a:sym typeface="Century Gothic"/>
              </a:rPr>
              <a:t>Statement</a:t>
            </a:r>
            <a:r>
              <a:rPr kumimoji="0" lang="fr-FR" b="1" i="0" u="none" strike="noStrike" kern="0" cap="none" spc="0" normalizeH="0" baseline="0" noProof="0" dirty="0">
                <a:ln>
                  <a:noFill/>
                </a:ln>
                <a:solidFill>
                  <a:srgbClr val="01D17D"/>
                </a:solidFill>
                <a:effectLst/>
                <a:uLnTx/>
                <a:uFillTx/>
                <a:latin typeface="Times New Roman" panose="02020603050405020304" pitchFamily="18" charset="0"/>
                <a:cs typeface="Times New Roman" panose="02020603050405020304" pitchFamily="18" charset="0"/>
                <a:sym typeface="Century Gothic"/>
              </a:rPr>
              <a:t>"</a:t>
            </a:r>
            <a:endParaRPr lang="fr-FR" noProof="0" dirty="0"/>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5BF907CF-0F6F-43A6-3FAB-C73F412FA48D}"/>
                  </a:ext>
                </a:extLst>
              </p:cNvPr>
              <p:cNvSpPr>
                <a:spLocks noGrp="1"/>
              </p:cNvSpPr>
              <p:nvPr>
                <p:ph type="body" idx="1"/>
              </p:nvPr>
            </p:nvSpPr>
            <p:spPr>
              <a:xfrm>
                <a:off x="1" y="2215696"/>
                <a:ext cx="12279086" cy="2791734"/>
              </a:xfrm>
            </p:spPr>
            <p:txBody>
              <a:bodyPr>
                <a:normAutofit lnSpcReduction="10000"/>
              </a:bodyPr>
              <a:lstStyle/>
              <a:p>
                <a:pPr algn="l">
                  <a:buNone/>
                </a:pPr>
                <a:r>
                  <a:rPr lang="fr-FR" sz="3200" noProof="0" dirty="0">
                    <a:latin typeface="Times New Roman" panose="02020603050405020304" pitchFamily="18" charset="0"/>
                    <a:cs typeface="Times New Roman" panose="02020603050405020304" pitchFamily="18" charset="0"/>
                  </a:rPr>
                  <a:t>– The </a:t>
                </a:r>
                <a:r>
                  <a:rPr lang="fr-FR" sz="3200" noProof="0" dirty="0" err="1">
                    <a:latin typeface="Times New Roman" panose="02020603050405020304" pitchFamily="18" charset="0"/>
                    <a:cs typeface="Times New Roman" panose="02020603050405020304" pitchFamily="18" charset="0"/>
                  </a:rPr>
                  <a:t>electric</a:t>
                </a:r>
                <a:r>
                  <a:rPr lang="fr-FR" sz="3200" noProof="0" dirty="0">
                    <a:latin typeface="Times New Roman" panose="02020603050405020304" pitchFamily="18" charset="0"/>
                    <a:cs typeface="Times New Roman" panose="02020603050405020304" pitchFamily="18" charset="0"/>
                  </a:rPr>
                  <a:t> interaction </a:t>
                </a:r>
                <a:r>
                  <a:rPr lang="fr-FR" sz="3200" noProof="0" dirty="0" err="1">
                    <a:latin typeface="Times New Roman" panose="02020603050405020304" pitchFamily="18" charset="0"/>
                    <a:cs typeface="Times New Roman" panose="02020603050405020304" pitchFamily="18" charset="0"/>
                  </a:rPr>
                  <a:t>exists</a:t>
                </a:r>
                <a:r>
                  <a:rPr lang="fr-FR" sz="3200" noProof="0" dirty="0">
                    <a:latin typeface="Times New Roman" panose="02020603050405020304" pitchFamily="18" charset="0"/>
                    <a:cs typeface="Times New Roman" panose="02020603050405020304" pitchFamily="18" charset="0"/>
                  </a:rPr>
                  <a:t> </a:t>
                </a:r>
                <a:r>
                  <a:rPr lang="fr-FR" sz="3200" noProof="0" dirty="0" err="1">
                    <a:latin typeface="Times New Roman" panose="02020603050405020304" pitchFamily="18" charset="0"/>
                    <a:cs typeface="Times New Roman" panose="02020603050405020304" pitchFamily="18" charset="0"/>
                  </a:rPr>
                  <a:t>between</a:t>
                </a:r>
                <a:r>
                  <a:rPr lang="fr-FR" sz="3200" noProof="0" dirty="0">
                    <a:latin typeface="Times New Roman" panose="02020603050405020304" pitchFamily="18" charset="0"/>
                    <a:cs typeface="Times New Roman" panose="02020603050405020304" pitchFamily="18" charset="0"/>
                  </a:rPr>
                  <a:t> </a:t>
                </a:r>
                <a:r>
                  <a:rPr lang="fr-FR" sz="3200" noProof="0" dirty="0" err="1">
                    <a:latin typeface="Times New Roman" panose="02020603050405020304" pitchFamily="18" charset="0"/>
                    <a:cs typeface="Times New Roman" panose="02020603050405020304" pitchFamily="18" charset="0"/>
                  </a:rPr>
                  <a:t>two</a:t>
                </a:r>
                <a:r>
                  <a:rPr lang="fr-FR" sz="3200" noProof="0" dirty="0">
                    <a:latin typeface="Times New Roman" panose="02020603050405020304" pitchFamily="18" charset="0"/>
                    <a:cs typeface="Times New Roman" panose="02020603050405020304" pitchFamily="18" charset="0"/>
                  </a:rPr>
                  <a:t>-point charges </a:t>
                </a:r>
                <a:r>
                  <a:rPr lang="fr-FR" sz="3200" noProof="0" dirty="0">
                    <a:solidFill>
                      <a:schemeClr val="accent3"/>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fr-FR" sz="3200" i="1" noProof="0" smtClean="0">
                            <a:solidFill>
                              <a:schemeClr val="accent3"/>
                            </a:solidFill>
                            <a:latin typeface="Cambria Math" panose="02040503050406030204" pitchFamily="18" charset="0"/>
                          </a:rPr>
                        </m:ctrlPr>
                      </m:sSubPr>
                      <m:e>
                        <m:r>
                          <a:rPr lang="fr-FR" sz="3200" i="1" noProof="0" smtClean="0">
                            <a:solidFill>
                              <a:schemeClr val="accent3"/>
                            </a:solidFill>
                            <a:latin typeface="Cambria Math" panose="02040503050406030204" pitchFamily="18" charset="0"/>
                          </a:rPr>
                          <m:t>𝑞</m:t>
                        </m:r>
                      </m:e>
                      <m:sub>
                        <m:r>
                          <a:rPr lang="fr-FR" sz="3200" i="0" noProof="0" smtClean="0">
                            <a:solidFill>
                              <a:schemeClr val="accent3"/>
                            </a:solidFill>
                            <a:latin typeface="Cambria Math" panose="02040503050406030204" pitchFamily="18" charset="0"/>
                          </a:rPr>
                          <m:t>1</m:t>
                        </m:r>
                      </m:sub>
                    </m:sSub>
                  </m:oMath>
                </a14:m>
                <a:r>
                  <a:rPr lang="fr-FR" sz="3200" noProof="0" dirty="0">
                    <a:solidFill>
                      <a:schemeClr val="accent3"/>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fr-FR" sz="3200" i="1" noProof="0" smtClean="0">
                            <a:solidFill>
                              <a:schemeClr val="accent3"/>
                            </a:solidFill>
                            <a:latin typeface="Cambria Math" panose="02040503050406030204" pitchFamily="18" charset="0"/>
                          </a:rPr>
                        </m:ctrlPr>
                      </m:sSubPr>
                      <m:e>
                        <m:r>
                          <a:rPr lang="fr-FR" sz="3200" i="1" noProof="0" smtClean="0">
                            <a:solidFill>
                              <a:schemeClr val="accent3"/>
                            </a:solidFill>
                            <a:latin typeface="Cambria Math" panose="02040503050406030204" pitchFamily="18" charset="0"/>
                          </a:rPr>
                          <m:t>𝑞</m:t>
                        </m:r>
                      </m:e>
                      <m:sub>
                        <m:r>
                          <a:rPr lang="fr-FR" sz="3200" i="0" noProof="0" smtClean="0">
                            <a:solidFill>
                              <a:schemeClr val="accent3"/>
                            </a:solidFill>
                            <a:latin typeface="Cambria Math" panose="02040503050406030204" pitchFamily="18" charset="0"/>
                          </a:rPr>
                          <m:t>2</m:t>
                        </m:r>
                      </m:sub>
                    </m:sSub>
                    <m:r>
                      <a:rPr lang="fr-FR" sz="3200" b="0" i="0" noProof="0" smtClean="0">
                        <a:solidFill>
                          <a:schemeClr val="accent3"/>
                        </a:solidFill>
                        <a:latin typeface="Cambria Math" panose="02040503050406030204" pitchFamily="18" charset="0"/>
                      </a:rPr>
                      <m:t>)</m:t>
                    </m:r>
                  </m:oMath>
                </a14:m>
                <a:endParaRPr lang="fr-FR" sz="3200" noProof="0" dirty="0">
                  <a:latin typeface="Times New Roman" panose="02020603050405020304" pitchFamily="18" charset="0"/>
                  <a:cs typeface="Times New Roman" panose="02020603050405020304" pitchFamily="18" charset="0"/>
                </a:endParaRPr>
              </a:p>
              <a:p>
                <a:pPr algn="l">
                  <a:buNone/>
                </a:pPr>
                <a:r>
                  <a:rPr lang="fr-FR" sz="3200" noProof="0" dirty="0">
                    <a:latin typeface="Times New Roman" panose="02020603050405020304" pitchFamily="18" charset="0"/>
                    <a:cs typeface="Times New Roman" panose="02020603050405020304" pitchFamily="18" charset="0"/>
                  </a:rPr>
                  <a:t>– </a:t>
                </a:r>
                <a:r>
                  <a:rPr lang="fr-FR" sz="3200" noProof="0" dirty="0" err="1">
                    <a:latin typeface="Times New Roman" panose="02020603050405020304" pitchFamily="18" charset="0"/>
                    <a:cs typeface="Times New Roman" panose="02020603050405020304" pitchFamily="18" charset="0"/>
                  </a:rPr>
                  <a:t>Intensity</a:t>
                </a:r>
                <a:r>
                  <a:rPr lang="fr-FR" sz="3200" noProof="0" dirty="0">
                    <a:latin typeface="Times New Roman" panose="02020603050405020304" pitchFamily="18" charset="0"/>
                    <a:cs typeface="Times New Roman" panose="02020603050405020304" pitchFamily="18" charset="0"/>
                  </a:rPr>
                  <a:t> of the force:</a:t>
                </a:r>
              </a:p>
              <a:p>
                <a:pPr algn="l">
                  <a:buNone/>
                </a:pPr>
                <a:r>
                  <a:rPr lang="fr-FR" sz="3200" noProof="0" dirty="0">
                    <a:latin typeface="Times New Roman" panose="02020603050405020304" pitchFamily="18" charset="0"/>
                    <a:cs typeface="Times New Roman" panose="02020603050405020304" pitchFamily="18" charset="0"/>
                  </a:rPr>
                  <a:t>    * It </a:t>
                </a:r>
                <a:r>
                  <a:rPr lang="fr-FR" sz="3200" noProof="0" dirty="0" err="1">
                    <a:solidFill>
                      <a:schemeClr val="accent3"/>
                    </a:solidFill>
                    <a:latin typeface="Times New Roman" panose="02020603050405020304" pitchFamily="18" charset="0"/>
                    <a:cs typeface="Times New Roman" panose="02020603050405020304" pitchFamily="18" charset="0"/>
                  </a:rPr>
                  <a:t>is</a:t>
                </a:r>
                <a:r>
                  <a:rPr lang="fr-FR" sz="3200" noProof="0" dirty="0">
                    <a:solidFill>
                      <a:schemeClr val="accent3"/>
                    </a:solidFill>
                    <a:latin typeface="Times New Roman" panose="02020603050405020304" pitchFamily="18" charset="0"/>
                    <a:cs typeface="Times New Roman" panose="02020603050405020304" pitchFamily="18" charset="0"/>
                  </a:rPr>
                  <a:t> </a:t>
                </a:r>
                <a:r>
                  <a:rPr lang="fr-FR" sz="3200" noProof="0" dirty="0" err="1">
                    <a:solidFill>
                      <a:schemeClr val="accent3"/>
                    </a:solidFill>
                    <a:latin typeface="Times New Roman" panose="02020603050405020304" pitchFamily="18" charset="0"/>
                    <a:cs typeface="Times New Roman" panose="02020603050405020304" pitchFamily="18" charset="0"/>
                  </a:rPr>
                  <a:t>proportional</a:t>
                </a:r>
                <a:r>
                  <a:rPr lang="fr-FR" sz="3200" noProof="0" dirty="0">
                    <a:solidFill>
                      <a:schemeClr val="accent3"/>
                    </a:solidFill>
                    <a:latin typeface="Times New Roman" panose="02020603050405020304" pitchFamily="18" charset="0"/>
                    <a:cs typeface="Times New Roman" panose="02020603050405020304" pitchFamily="18" charset="0"/>
                  </a:rPr>
                  <a:t> </a:t>
                </a:r>
                <a:r>
                  <a:rPr lang="fr-FR" sz="3200" noProof="0" dirty="0">
                    <a:latin typeface="Times New Roman" panose="02020603050405020304" pitchFamily="18" charset="0"/>
                    <a:cs typeface="Times New Roman" panose="02020603050405020304" pitchFamily="18" charset="0"/>
                  </a:rPr>
                  <a:t>to the </a:t>
                </a:r>
                <a:r>
                  <a:rPr lang="fr-FR" sz="3200" u="sng" noProof="0" dirty="0" err="1">
                    <a:latin typeface="Times New Roman" panose="02020603050405020304" pitchFamily="18" charset="0"/>
                    <a:cs typeface="Times New Roman" panose="02020603050405020304" pitchFamily="18" charset="0"/>
                  </a:rPr>
                  <a:t>product</a:t>
                </a:r>
                <a:r>
                  <a:rPr lang="fr-FR" sz="3200" u="sng" noProof="0" dirty="0">
                    <a:latin typeface="Times New Roman" panose="02020603050405020304" pitchFamily="18" charset="0"/>
                    <a:cs typeface="Times New Roman" panose="02020603050405020304" pitchFamily="18" charset="0"/>
                  </a:rPr>
                  <a:t> of the charges</a:t>
                </a:r>
                <a:r>
                  <a:rPr lang="fr-FR" sz="3200" noProof="0" dirty="0">
                    <a:latin typeface="Times New Roman" panose="02020603050405020304" pitchFamily="18" charset="0"/>
                    <a:cs typeface="Times New Roman" panose="02020603050405020304" pitchFamily="18" charset="0"/>
                  </a:rPr>
                  <a:t>.</a:t>
                </a:r>
              </a:p>
              <a:p>
                <a:pPr algn="l">
                  <a:buNone/>
                </a:pPr>
                <a:r>
                  <a:rPr lang="fr-FR" sz="3200" noProof="0" dirty="0">
                    <a:latin typeface="Times New Roman" panose="02020603050405020304" pitchFamily="18" charset="0"/>
                    <a:cs typeface="Times New Roman" panose="02020603050405020304" pitchFamily="18" charset="0"/>
                  </a:rPr>
                  <a:t>    * It </a:t>
                </a:r>
                <a:r>
                  <a:rPr lang="fr-FR" sz="3200" noProof="0" dirty="0" err="1">
                    <a:latin typeface="Times New Roman" panose="02020603050405020304" pitchFamily="18" charset="0"/>
                    <a:cs typeface="Times New Roman" panose="02020603050405020304" pitchFamily="18" charset="0"/>
                  </a:rPr>
                  <a:t>is</a:t>
                </a:r>
                <a:r>
                  <a:rPr lang="fr-FR" sz="3200" noProof="0" dirty="0">
                    <a:latin typeface="Times New Roman" panose="02020603050405020304" pitchFamily="18" charset="0"/>
                    <a:cs typeface="Times New Roman" panose="02020603050405020304" pitchFamily="18" charset="0"/>
                  </a:rPr>
                  <a:t> </a:t>
                </a:r>
                <a:r>
                  <a:rPr lang="fr-FR" sz="3200" noProof="0" dirty="0" err="1">
                    <a:solidFill>
                      <a:srgbClr val="C00000"/>
                    </a:solidFill>
                    <a:latin typeface="Times New Roman" panose="02020603050405020304" pitchFamily="18" charset="0"/>
                    <a:cs typeface="Times New Roman" panose="02020603050405020304" pitchFamily="18" charset="0"/>
                  </a:rPr>
                  <a:t>inversely</a:t>
                </a:r>
                <a:r>
                  <a:rPr lang="fr-FR" sz="3200" noProof="0" dirty="0">
                    <a:latin typeface="Times New Roman" panose="02020603050405020304" pitchFamily="18" charset="0"/>
                    <a:cs typeface="Times New Roman" panose="02020603050405020304" pitchFamily="18" charset="0"/>
                  </a:rPr>
                  <a:t> </a:t>
                </a:r>
                <a:r>
                  <a:rPr lang="fr-FR" sz="3200" noProof="0" dirty="0" err="1">
                    <a:latin typeface="Times New Roman" panose="02020603050405020304" pitchFamily="18" charset="0"/>
                    <a:cs typeface="Times New Roman" panose="02020603050405020304" pitchFamily="18" charset="0"/>
                  </a:rPr>
                  <a:t>proportional</a:t>
                </a:r>
                <a:r>
                  <a:rPr lang="fr-FR" sz="3200" noProof="0" dirty="0">
                    <a:latin typeface="Times New Roman" panose="02020603050405020304" pitchFamily="18" charset="0"/>
                    <a:cs typeface="Times New Roman" panose="02020603050405020304" pitchFamily="18" charset="0"/>
                  </a:rPr>
                  <a:t> to the </a:t>
                </a:r>
                <a:r>
                  <a:rPr lang="fr-FR" sz="3200" u="sng" noProof="0" dirty="0">
                    <a:latin typeface="Times New Roman" panose="02020603050405020304" pitchFamily="18" charset="0"/>
                    <a:cs typeface="Times New Roman" panose="02020603050405020304" pitchFamily="18" charset="0"/>
                  </a:rPr>
                  <a:t>square of the distance </a:t>
                </a:r>
                <a:r>
                  <a:rPr lang="fr-FR" sz="3200" u="sng" noProof="0" dirty="0" err="1">
                    <a:latin typeface="Times New Roman" panose="02020603050405020304" pitchFamily="18" charset="0"/>
                    <a:cs typeface="Times New Roman" panose="02020603050405020304" pitchFamily="18" charset="0"/>
                  </a:rPr>
                  <a:t>between</a:t>
                </a:r>
                <a:endParaRPr lang="fr-FR" sz="3200" u="sng" noProof="0" dirty="0">
                  <a:latin typeface="Times New Roman" panose="02020603050405020304" pitchFamily="18" charset="0"/>
                  <a:cs typeface="Times New Roman" panose="02020603050405020304" pitchFamily="18" charset="0"/>
                </a:endParaRPr>
              </a:p>
              <a:p>
                <a:pPr algn="l">
                  <a:buNone/>
                </a:pPr>
                <a:r>
                  <a:rPr lang="fr-FR" sz="3200" u="sng" noProof="0" dirty="0" err="1">
                    <a:latin typeface="Times New Roman" panose="02020603050405020304" pitchFamily="18" charset="0"/>
                    <a:cs typeface="Times New Roman" panose="02020603050405020304" pitchFamily="18" charset="0"/>
                  </a:rPr>
                  <a:t>them</a:t>
                </a:r>
                <a:r>
                  <a:rPr lang="fr-FR" sz="3200" noProof="0" dirty="0">
                    <a:latin typeface="Times New Roman" panose="02020603050405020304" pitchFamily="18" charset="0"/>
                    <a:cs typeface="Times New Roman" panose="02020603050405020304" pitchFamily="18" charset="0"/>
                  </a:rPr>
                  <a:t>.</a:t>
                </a:r>
              </a:p>
              <a:p>
                <a:endParaRPr lang="fr-FR" sz="2800" noProof="0" dirty="0">
                  <a:latin typeface="Times New Roman" panose="02020603050405020304" pitchFamily="18" charset="0"/>
                  <a:cs typeface="Times New Roman" panose="02020603050405020304" pitchFamily="18" charset="0"/>
                </a:endParaRPr>
              </a:p>
            </p:txBody>
          </p:sp>
        </mc:Choice>
        <mc:Fallback xmlns="">
          <p:sp>
            <p:nvSpPr>
              <p:cNvPr id="3" name="Espace réservé du texte 2">
                <a:extLst>
                  <a:ext uri="{FF2B5EF4-FFF2-40B4-BE49-F238E27FC236}">
                    <a16:creationId xmlns:a16="http://schemas.microsoft.com/office/drawing/2014/main" id="{5BF907CF-0F6F-43A6-3FAB-C73F412FA48D}"/>
                  </a:ext>
                </a:extLst>
              </p:cNvPr>
              <p:cNvSpPr>
                <a:spLocks noGrp="1" noRot="1" noChangeAspect="1" noMove="1" noResize="1" noEditPoints="1" noAdjustHandles="1" noChangeArrowheads="1" noChangeShapeType="1" noTextEdit="1"/>
              </p:cNvSpPr>
              <p:nvPr>
                <p:ph type="body" idx="1"/>
              </p:nvPr>
            </p:nvSpPr>
            <p:spPr>
              <a:xfrm>
                <a:off x="1" y="2215696"/>
                <a:ext cx="12279086" cy="2791734"/>
              </a:xfrm>
              <a:blipFill>
                <a:blip r:embed="rId2"/>
                <a:stretch>
                  <a:fillRect t="-1747" b="-5022"/>
                </a:stretch>
              </a:blipFill>
            </p:spPr>
            <p:txBody>
              <a:bodyPr/>
              <a:lstStyle/>
              <a:p>
                <a:r>
                  <a:rPr lang="fr-DZ">
                    <a:noFill/>
                  </a:rPr>
                  <a:t> </a:t>
                </a:r>
              </a:p>
            </p:txBody>
          </p:sp>
        </mc:Fallback>
      </mc:AlternateContent>
    </p:spTree>
    <p:extLst>
      <p:ext uri="{BB962C8B-B14F-4D97-AF65-F5344CB8AC3E}">
        <p14:creationId xmlns:p14="http://schemas.microsoft.com/office/powerpoint/2010/main" val="14082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980E6C-5FA1-E0A7-D4DD-187E41542A7A}"/>
              </a:ext>
            </a:extLst>
          </p:cNvPr>
          <p:cNvSpPr>
            <a:spLocks noGrp="1"/>
          </p:cNvSpPr>
          <p:nvPr>
            <p:ph type="title"/>
          </p:nvPr>
        </p:nvSpPr>
        <p:spPr>
          <a:xfrm>
            <a:off x="457200" y="350763"/>
            <a:ext cx="10820400" cy="933752"/>
          </a:xfrm>
        </p:spPr>
        <p:txBody>
          <a:bodyPr>
            <a:normAutofit fontScale="90000"/>
          </a:bodyPr>
          <a:lstStyle/>
          <a:p>
            <a:pPr algn="ctr"/>
            <a:r>
              <a:rPr lang="fr-FR" sz="3733" b="1" noProof="0" dirty="0" err="1">
                <a:solidFill>
                  <a:srgbClr val="FFC000"/>
                </a:solidFill>
                <a:latin typeface="Times New Roman" panose="02020603050405020304" pitchFamily="18" charset="0"/>
                <a:ea typeface="MS Mincho" panose="02020609040205080304" pitchFamily="49" charset="-128"/>
              </a:rPr>
              <a:t>A.Loi</a:t>
            </a:r>
            <a:r>
              <a:rPr lang="fr-FR" sz="3733" b="1" noProof="0" dirty="0">
                <a:solidFill>
                  <a:srgbClr val="FFC000"/>
                </a:solidFill>
                <a:latin typeface="Times New Roman" panose="02020603050405020304" pitchFamily="18" charset="0"/>
                <a:ea typeface="MS Mincho" panose="02020609040205080304" pitchFamily="49" charset="-128"/>
              </a:rPr>
              <a:t> de Coulomb (</a:t>
            </a:r>
            <a:r>
              <a:rPr lang="fr-FR" sz="4267" b="1" noProof="0" dirty="0">
                <a:solidFill>
                  <a:srgbClr val="FFC000"/>
                </a:solidFill>
                <a:latin typeface="Times New Roman" panose="02020603050405020304" pitchFamily="18" charset="0"/>
                <a:ea typeface="MS Mincho" panose="02020609040205080304" pitchFamily="49" charset="-128"/>
              </a:rPr>
              <a:t>2. Expression mathématique)</a:t>
            </a:r>
            <a:br>
              <a:rPr lang="fr-FR" sz="4267" b="1" noProof="0" dirty="0">
                <a:solidFill>
                  <a:srgbClr val="FFC000"/>
                </a:solidFill>
                <a:latin typeface="Times New Roman" panose="02020603050405020304" pitchFamily="18" charset="0"/>
                <a:ea typeface="MS Mincho" panose="02020609040205080304" pitchFamily="49" charset="-128"/>
              </a:rPr>
            </a:br>
            <a:r>
              <a:rPr kumimoji="0" lang="fr-FR" sz="3600" b="1"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a:t>
            </a:r>
            <a:r>
              <a:rPr lang="fr-FR" b="1" noProof="0" dirty="0"/>
              <a:t> </a:t>
            </a:r>
            <a:r>
              <a:rPr lang="fr-FR" b="1" noProof="0" dirty="0">
                <a:solidFill>
                  <a:schemeClr val="accent1"/>
                </a:solidFill>
                <a:latin typeface="Times New Roman" panose="02020603050405020304" pitchFamily="18" charset="0"/>
                <a:cs typeface="Times New Roman" panose="02020603050405020304" pitchFamily="18" charset="0"/>
              </a:rPr>
              <a:t>"</a:t>
            </a:r>
            <a:r>
              <a:rPr lang="fr-FR" b="1" noProof="0" dirty="0" err="1">
                <a:solidFill>
                  <a:schemeClr val="accent1"/>
                </a:solidFill>
                <a:latin typeface="Times New Roman" panose="02020603050405020304" pitchFamily="18" charset="0"/>
                <a:cs typeface="Times New Roman" panose="02020603050405020304" pitchFamily="18" charset="0"/>
              </a:rPr>
              <a:t>Coulomb's</a:t>
            </a:r>
            <a:r>
              <a:rPr lang="fr-FR" b="1" noProof="0" dirty="0">
                <a:solidFill>
                  <a:schemeClr val="accent1"/>
                </a:solidFill>
                <a:latin typeface="Times New Roman" panose="02020603050405020304" pitchFamily="18" charset="0"/>
                <a:cs typeface="Times New Roman" panose="02020603050405020304" pitchFamily="18" charset="0"/>
              </a:rPr>
              <a:t> Law (2. </a:t>
            </a:r>
            <a:r>
              <a:rPr lang="fr-FR" b="1" noProof="0" dirty="0" err="1">
                <a:solidFill>
                  <a:schemeClr val="accent1"/>
                </a:solidFill>
                <a:latin typeface="Times New Roman" panose="02020603050405020304" pitchFamily="18" charset="0"/>
                <a:cs typeface="Times New Roman" panose="02020603050405020304" pitchFamily="18" charset="0"/>
              </a:rPr>
              <a:t>Mathematical</a:t>
            </a:r>
            <a:r>
              <a:rPr lang="fr-FR" b="1" noProof="0" dirty="0">
                <a:solidFill>
                  <a:schemeClr val="accent1"/>
                </a:solidFill>
                <a:latin typeface="Times New Roman" panose="02020603050405020304" pitchFamily="18" charset="0"/>
                <a:cs typeface="Times New Roman" panose="02020603050405020304" pitchFamily="18" charset="0"/>
              </a:rPr>
              <a:t> Expression)"</a:t>
            </a: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68B7BD69-CC67-7E0F-29B0-4374F7DC2972}"/>
                  </a:ext>
                </a:extLst>
              </p:cNvPr>
              <p:cNvSpPr>
                <a:spLocks noGrp="1"/>
              </p:cNvSpPr>
              <p:nvPr>
                <p:ph type="body" idx="1"/>
              </p:nvPr>
            </p:nvSpPr>
            <p:spPr>
              <a:xfrm>
                <a:off x="0" y="1589313"/>
                <a:ext cx="12192000" cy="4917923"/>
              </a:xfrm>
              <a:solidFill>
                <a:schemeClr val="accent5">
                  <a:lumMod val="75000"/>
                </a:schemeClr>
              </a:solidFill>
              <a:scene3d>
                <a:camera prst="orthographicFront"/>
                <a:lightRig rig="threePt" dir="t"/>
              </a:scene3d>
              <a:sp3d>
                <a:bevelT prst="relaxedInset"/>
              </a:sp3d>
            </p:spPr>
            <p:txBody>
              <a:bodyPr>
                <a:normAutofit lnSpcReduction="10000"/>
              </a:bodyPr>
              <a:lstStyle/>
              <a:p>
                <a:pPr algn="ctr"/>
                <a:r>
                  <a:rPr lang="fr-FR" sz="4133" b="1" i="1" noProof="0" dirty="0">
                    <a:solidFill>
                      <a:schemeClr val="accent2"/>
                    </a:solidFill>
                  </a:rPr>
                  <a:t>👉 </a:t>
                </a:r>
                <a14:m>
                  <m:oMath xmlns:m="http://schemas.openxmlformats.org/officeDocument/2006/math">
                    <m:r>
                      <a:rPr lang="fr-FR" sz="4800" b="1" i="1" noProof="0" smtClean="0">
                        <a:solidFill>
                          <a:srgbClr val="FFC000"/>
                        </a:solidFill>
                        <a:latin typeface="Cambria Math" panose="02040503050406030204" pitchFamily="18" charset="0"/>
                      </a:rPr>
                      <m:t>𝑭</m:t>
                    </m:r>
                    <m:r>
                      <a:rPr lang="fr-FR" sz="4800" b="1" i="1" noProof="0" smtClean="0">
                        <a:solidFill>
                          <a:srgbClr val="FFC000"/>
                        </a:solidFill>
                        <a:latin typeface="Cambria Math" panose="02040503050406030204" pitchFamily="18" charset="0"/>
                      </a:rPr>
                      <m:t>=</m:t>
                    </m:r>
                    <m:r>
                      <m:rPr>
                        <m:nor/>
                      </m:rPr>
                      <a:rPr lang="fr-FR" sz="4800" b="1" noProof="0">
                        <a:solidFill>
                          <a:srgbClr val="FFC000"/>
                        </a:solidFill>
                        <a:latin typeface="Times New Roman" panose="02020603050405020304" pitchFamily="18" charset="0"/>
                        <a:ea typeface="Aptos" panose="020B0004020202020204" pitchFamily="34" charset="0"/>
                      </a:rPr>
                      <m:t>k</m:t>
                    </m:r>
                    <m:r>
                      <m:rPr>
                        <m:nor/>
                      </m:rPr>
                      <a:rPr lang="fr-FR" sz="4800" b="1" baseline="-25000" noProof="0">
                        <a:solidFill>
                          <a:srgbClr val="FFC000"/>
                        </a:solidFill>
                        <a:latin typeface="Times New Roman" panose="02020603050405020304" pitchFamily="18" charset="0"/>
                        <a:ea typeface="Aptos" panose="020B0004020202020204" pitchFamily="34" charset="0"/>
                      </a:rPr>
                      <m:t>e</m:t>
                    </m:r>
                    <m:f>
                      <m:fPr>
                        <m:ctrlPr>
                          <a:rPr lang="fr-FR" sz="4800" b="1" i="1" noProof="0" smtClean="0">
                            <a:solidFill>
                              <a:srgbClr val="FFC000"/>
                            </a:solidFill>
                            <a:latin typeface="Cambria Math" panose="02040503050406030204" pitchFamily="18" charset="0"/>
                          </a:rPr>
                        </m:ctrlPr>
                      </m:fPr>
                      <m:num>
                        <m:r>
                          <a:rPr lang="fr-FR" sz="4800" b="1" i="1" noProof="0">
                            <a:solidFill>
                              <a:srgbClr val="FFC000"/>
                            </a:solidFill>
                            <a:latin typeface="Cambria Math" panose="02040503050406030204" pitchFamily="18" charset="0"/>
                          </a:rPr>
                          <m:t>(</m:t>
                        </m:r>
                        <m:sSub>
                          <m:sSubPr>
                            <m:ctrlPr>
                              <a:rPr lang="fr-FR" sz="4800" b="1" i="1" noProof="0" smtClean="0">
                                <a:solidFill>
                                  <a:srgbClr val="FFC000"/>
                                </a:solidFill>
                                <a:latin typeface="Cambria Math" panose="02040503050406030204" pitchFamily="18" charset="0"/>
                              </a:rPr>
                            </m:ctrlPr>
                          </m:sSubPr>
                          <m:e>
                            <m:r>
                              <a:rPr lang="fr-FR" sz="4800" b="1" i="1" noProof="0">
                                <a:solidFill>
                                  <a:srgbClr val="FFC000"/>
                                </a:solidFill>
                                <a:latin typeface="Cambria Math" panose="02040503050406030204" pitchFamily="18" charset="0"/>
                              </a:rPr>
                              <m:t>𝒒</m:t>
                            </m:r>
                          </m:e>
                          <m:sub>
                            <m:r>
                              <a:rPr lang="fr-FR" sz="4800" b="1" i="1" noProof="0">
                                <a:solidFill>
                                  <a:srgbClr val="FFC000"/>
                                </a:solidFill>
                                <a:latin typeface="Cambria Math" panose="02040503050406030204" pitchFamily="18" charset="0"/>
                              </a:rPr>
                              <m:t>𝟏</m:t>
                            </m:r>
                          </m:sub>
                        </m:sSub>
                        <m:r>
                          <a:rPr lang="fr-FR" sz="4800" b="1" i="1" noProof="0">
                            <a:solidFill>
                              <a:srgbClr val="FFC000"/>
                            </a:solidFill>
                            <a:latin typeface="Cambria Math" panose="02040503050406030204" pitchFamily="18" charset="0"/>
                          </a:rPr>
                          <m:t>∗</m:t>
                        </m:r>
                        <m:sSub>
                          <m:sSubPr>
                            <m:ctrlPr>
                              <a:rPr lang="fr-FR" sz="4800" b="1" i="1" noProof="0" smtClean="0">
                                <a:solidFill>
                                  <a:srgbClr val="FFC000"/>
                                </a:solidFill>
                                <a:latin typeface="Cambria Math" panose="02040503050406030204" pitchFamily="18" charset="0"/>
                              </a:rPr>
                            </m:ctrlPr>
                          </m:sSubPr>
                          <m:e>
                            <m:r>
                              <a:rPr lang="fr-FR" sz="4800" b="1" i="1" noProof="0">
                                <a:solidFill>
                                  <a:srgbClr val="FFC000"/>
                                </a:solidFill>
                                <a:latin typeface="Cambria Math" panose="02040503050406030204" pitchFamily="18" charset="0"/>
                              </a:rPr>
                              <m:t>𝒒</m:t>
                            </m:r>
                          </m:e>
                          <m:sub>
                            <m:r>
                              <a:rPr lang="fr-FR" sz="4800" b="1" i="1" noProof="0">
                                <a:solidFill>
                                  <a:srgbClr val="FFC000"/>
                                </a:solidFill>
                                <a:latin typeface="Cambria Math" panose="02040503050406030204" pitchFamily="18" charset="0"/>
                              </a:rPr>
                              <m:t>𝟐</m:t>
                            </m:r>
                          </m:sub>
                        </m:sSub>
                        <m:r>
                          <a:rPr lang="fr-FR" sz="4800" b="1" i="1" noProof="0">
                            <a:solidFill>
                              <a:srgbClr val="FFC000"/>
                            </a:solidFill>
                            <a:latin typeface="Cambria Math" panose="02040503050406030204" pitchFamily="18" charset="0"/>
                          </a:rPr>
                          <m:t>)</m:t>
                        </m:r>
                      </m:num>
                      <m:den>
                        <m:sSup>
                          <m:sSupPr>
                            <m:ctrlPr>
                              <a:rPr lang="fr-FR" sz="4800" b="1" i="1" noProof="0" smtClean="0">
                                <a:solidFill>
                                  <a:srgbClr val="FFC000"/>
                                </a:solidFill>
                                <a:latin typeface="Cambria Math" panose="02040503050406030204" pitchFamily="18" charset="0"/>
                              </a:rPr>
                            </m:ctrlPr>
                          </m:sSupPr>
                          <m:e>
                            <m:r>
                              <a:rPr lang="fr-FR" sz="4800" b="1" i="1" noProof="0">
                                <a:solidFill>
                                  <a:srgbClr val="FFC000"/>
                                </a:solidFill>
                                <a:latin typeface="Cambria Math" panose="02040503050406030204" pitchFamily="18" charset="0"/>
                              </a:rPr>
                              <m:t>𝒓</m:t>
                            </m:r>
                          </m:e>
                          <m:sup>
                            <m:r>
                              <a:rPr lang="fr-FR" sz="4800" b="1" i="1" noProof="0">
                                <a:solidFill>
                                  <a:srgbClr val="FFC000"/>
                                </a:solidFill>
                                <a:latin typeface="Cambria Math" panose="02040503050406030204" pitchFamily="18" charset="0"/>
                              </a:rPr>
                              <m:t>𝟐</m:t>
                            </m:r>
                          </m:sup>
                        </m:sSup>
                      </m:den>
                    </m:f>
                  </m:oMath>
                </a14:m>
                <a:endParaRPr lang="fr-FR" sz="4800" noProof="0" dirty="0"/>
              </a:p>
              <a:p>
                <a:pPr marL="914377" indent="-609585" algn="l">
                  <a:lnSpc>
                    <a:spcPct val="120000"/>
                  </a:lnSpc>
                  <a:spcAft>
                    <a:spcPts val="1333"/>
                  </a:spcAft>
                  <a:buFont typeface="Wingdings" panose="05000000000000000000" pitchFamily="2" charset="2"/>
                  <a:buChar char="v"/>
                </a:pPr>
                <a:r>
                  <a:rPr lang="fr-FR" sz="2800" b="1" i="1" noProof="0" dirty="0">
                    <a:solidFill>
                      <a:schemeClr val="accent3"/>
                    </a:solidFill>
                    <a:latin typeface="Times New Roman" panose="02020603050405020304" pitchFamily="18" charset="0"/>
                    <a:ea typeface="MS Mincho" panose="02020609040205080304" pitchFamily="49" charset="-128"/>
                    <a:cs typeface="Arial" panose="020B0604020202020204" pitchFamily="34" charset="0"/>
                  </a:rPr>
                  <a:t>F</a:t>
                </a:r>
                <a:r>
                  <a:rPr lang="fr-FR" sz="2800" i="1" noProof="0" dirty="0">
                    <a:latin typeface="Times New Roman" panose="02020603050405020304" pitchFamily="18" charset="0"/>
                    <a:ea typeface="MS Mincho" panose="02020609040205080304" pitchFamily="49" charset="-128"/>
                    <a:cs typeface="Arial" panose="020B0604020202020204" pitchFamily="34" charset="0"/>
                  </a:rPr>
                  <a:t> : Force électrostatique (N, Newton)  </a:t>
                </a:r>
                <a:r>
                  <a:rPr lang="fr-FR" sz="2800" b="1" i="1" noProof="0" dirty="0">
                    <a:solidFill>
                      <a:schemeClr val="accent1"/>
                    </a:solidFill>
                    <a:latin typeface="Times New Roman" panose="02020603050405020304" pitchFamily="18" charset="0"/>
                    <a:ea typeface="MS Mincho" panose="02020609040205080304" pitchFamily="49" charset="-128"/>
                    <a:cs typeface="Arial" panose="020B0604020202020204" pitchFamily="34" charset="0"/>
                  </a:rPr>
                  <a:t>«  </a:t>
                </a:r>
                <a:r>
                  <a:rPr lang="fr-FR" sz="2800" b="1" i="1" noProof="0" dirty="0" err="1">
                    <a:solidFill>
                      <a:schemeClr val="accent1"/>
                    </a:solidFill>
                    <a:latin typeface="Times New Roman" panose="02020603050405020304" pitchFamily="18" charset="0"/>
                    <a:ea typeface="MS Mincho" panose="02020609040205080304" pitchFamily="49" charset="-128"/>
                    <a:cs typeface="Arial" panose="020B0604020202020204" pitchFamily="34" charset="0"/>
                  </a:rPr>
                  <a:t>Electrostatic</a:t>
                </a:r>
                <a:r>
                  <a:rPr lang="fr-FR" sz="2800" b="1" i="1" noProof="0" dirty="0">
                    <a:solidFill>
                      <a:schemeClr val="accent1"/>
                    </a:solidFill>
                    <a:latin typeface="Times New Roman" panose="02020603050405020304" pitchFamily="18" charset="0"/>
                    <a:ea typeface="MS Mincho" panose="02020609040205080304" pitchFamily="49" charset="-128"/>
                    <a:cs typeface="Arial" panose="020B0604020202020204" pitchFamily="34" charset="0"/>
                  </a:rPr>
                  <a:t> force (N, Newton) »</a:t>
                </a:r>
              </a:p>
              <a:p>
                <a:pPr marL="914377" indent="-609585" algn="l">
                  <a:lnSpc>
                    <a:spcPct val="120000"/>
                  </a:lnSpc>
                  <a:spcAft>
                    <a:spcPts val="1333"/>
                  </a:spcAft>
                  <a:buFont typeface="Wingdings" panose="05000000000000000000" pitchFamily="2" charset="2"/>
                  <a:buChar char="v"/>
                </a:pPr>
                <a:r>
                  <a:rPr lang="fr-FR" sz="2800" i="1" noProof="0" dirty="0">
                    <a:latin typeface="Times New Roman" panose="02020603050405020304" pitchFamily="18" charset="0"/>
                    <a:ea typeface="MS Mincho" panose="02020609040205080304" pitchFamily="49" charset="-128"/>
                    <a:cs typeface="Arial" panose="020B0604020202020204" pitchFamily="34" charset="0"/>
                  </a:rPr>
                  <a:t>q1, q2 : charges électriques (C, Coulomb) </a:t>
                </a:r>
                <a:r>
                  <a:rPr lang="fr-FR" sz="2800" b="1" i="1" noProof="0" dirty="0">
                    <a:solidFill>
                      <a:schemeClr val="accent1"/>
                    </a:solidFill>
                    <a:latin typeface="Times New Roman" panose="02020603050405020304" pitchFamily="18" charset="0"/>
                    <a:ea typeface="MS Mincho" panose="02020609040205080304" pitchFamily="49" charset="-128"/>
                    <a:cs typeface="Arial" panose="020B0604020202020204" pitchFamily="34" charset="0"/>
                  </a:rPr>
                  <a:t>« Electric charges (C, Coulomb) »</a:t>
                </a:r>
              </a:p>
              <a:p>
                <a:pPr marL="914377" indent="-609585" algn="l">
                  <a:lnSpc>
                    <a:spcPct val="120000"/>
                  </a:lnSpc>
                  <a:spcAft>
                    <a:spcPts val="1333"/>
                  </a:spcAft>
                  <a:buFont typeface="Wingdings" panose="05000000000000000000" pitchFamily="2" charset="2"/>
                  <a:buChar char="v"/>
                </a:pPr>
                <a:r>
                  <a:rPr lang="fr-FR" sz="2800" i="1" noProof="0" dirty="0">
                    <a:latin typeface="Times New Roman" panose="02020603050405020304" pitchFamily="18" charset="0"/>
                    <a:ea typeface="MS Mincho" panose="02020609040205080304" pitchFamily="49" charset="-128"/>
                    <a:cs typeface="Arial" panose="020B0604020202020204" pitchFamily="34" charset="0"/>
                  </a:rPr>
                  <a:t>r : distance entre les deux charges (m)  </a:t>
                </a:r>
                <a:r>
                  <a:rPr lang="fr-FR" sz="2800" b="1" i="1" noProof="0" dirty="0">
                    <a:solidFill>
                      <a:schemeClr val="accent1"/>
                    </a:solidFill>
                    <a:latin typeface="Times New Roman" panose="02020603050405020304" pitchFamily="18" charset="0"/>
                    <a:ea typeface="MS Mincho" panose="02020609040205080304" pitchFamily="49" charset="-128"/>
                    <a:cs typeface="Arial" panose="020B0604020202020204" pitchFamily="34" charset="0"/>
                  </a:rPr>
                  <a:t>« Distance </a:t>
                </a:r>
                <a:r>
                  <a:rPr lang="fr-FR" sz="2800" b="1" i="1" noProof="0" dirty="0" err="1">
                    <a:solidFill>
                      <a:schemeClr val="accent1"/>
                    </a:solidFill>
                    <a:latin typeface="Times New Roman" panose="02020603050405020304" pitchFamily="18" charset="0"/>
                    <a:ea typeface="MS Mincho" panose="02020609040205080304" pitchFamily="49" charset="-128"/>
                    <a:cs typeface="Arial" panose="020B0604020202020204" pitchFamily="34" charset="0"/>
                  </a:rPr>
                  <a:t>between</a:t>
                </a:r>
                <a:r>
                  <a:rPr lang="fr-FR" sz="2800" b="1" i="1" noProof="0" dirty="0">
                    <a:solidFill>
                      <a:schemeClr val="accent1"/>
                    </a:solidFill>
                    <a:latin typeface="Times New Roman" panose="02020603050405020304" pitchFamily="18" charset="0"/>
                    <a:ea typeface="MS Mincho" panose="02020609040205080304" pitchFamily="49" charset="-128"/>
                    <a:cs typeface="Arial" panose="020B0604020202020204" pitchFamily="34" charset="0"/>
                  </a:rPr>
                  <a:t> the </a:t>
                </a:r>
                <a:r>
                  <a:rPr lang="fr-FR" sz="2800" b="1" i="1" noProof="0" dirty="0" err="1">
                    <a:solidFill>
                      <a:schemeClr val="accent1"/>
                    </a:solidFill>
                    <a:latin typeface="Times New Roman" panose="02020603050405020304" pitchFamily="18" charset="0"/>
                    <a:ea typeface="MS Mincho" panose="02020609040205080304" pitchFamily="49" charset="-128"/>
                    <a:cs typeface="Arial" panose="020B0604020202020204" pitchFamily="34" charset="0"/>
                  </a:rPr>
                  <a:t>two</a:t>
                </a:r>
                <a:r>
                  <a:rPr lang="fr-FR" sz="2800" b="1" i="1" noProof="0" dirty="0">
                    <a:solidFill>
                      <a:schemeClr val="accent1"/>
                    </a:solidFill>
                    <a:latin typeface="Times New Roman" panose="02020603050405020304" pitchFamily="18" charset="0"/>
                    <a:ea typeface="MS Mincho" panose="02020609040205080304" pitchFamily="49" charset="-128"/>
                    <a:cs typeface="Arial" panose="020B0604020202020204" pitchFamily="34" charset="0"/>
                  </a:rPr>
                  <a:t> charges (m) »</a:t>
                </a:r>
              </a:p>
              <a:p>
                <a:pPr marL="914377" indent="-609585" algn="l">
                  <a:lnSpc>
                    <a:spcPct val="120000"/>
                  </a:lnSpc>
                  <a:spcAft>
                    <a:spcPts val="1333"/>
                  </a:spcAft>
                  <a:buFont typeface="Wingdings" panose="05000000000000000000" pitchFamily="2" charset="2"/>
                  <a:buChar char="v"/>
                </a:pPr>
                <a:r>
                  <a:rPr lang="fr-FR" sz="2800" i="1" noProof="0" dirty="0" err="1">
                    <a:latin typeface="Times New Roman" panose="02020603050405020304" pitchFamily="18" charset="0"/>
                    <a:ea typeface="MS Mincho" panose="02020609040205080304" pitchFamily="49" charset="-128"/>
                    <a:cs typeface="Arial" panose="020B0604020202020204" pitchFamily="34" charset="0"/>
                  </a:rPr>
                  <a:t>ke</a:t>
                </a:r>
                <a:r>
                  <a:rPr lang="fr-FR" sz="2800" i="1" noProof="0" dirty="0">
                    <a:latin typeface="Times New Roman" panose="02020603050405020304" pitchFamily="18" charset="0"/>
                    <a:ea typeface="MS Mincho" panose="02020609040205080304" pitchFamily="49" charset="-128"/>
                    <a:cs typeface="Arial" panose="020B0604020202020204" pitchFamily="34" charset="0"/>
                  </a:rPr>
                  <a:t> : Constante de Coulomb </a:t>
                </a:r>
                <a:r>
                  <a:rPr lang="fr-FR" sz="2800" b="1" i="1" noProof="0" dirty="0">
                    <a:solidFill>
                      <a:schemeClr val="accent1"/>
                    </a:solidFill>
                    <a:latin typeface="Times New Roman" panose="02020603050405020304" pitchFamily="18" charset="0"/>
                    <a:ea typeface="MS Mincho" panose="02020609040205080304" pitchFamily="49" charset="-128"/>
                    <a:cs typeface="Arial" panose="020B0604020202020204" pitchFamily="34" charset="0"/>
                  </a:rPr>
                  <a:t>« </a:t>
                </a:r>
                <a:r>
                  <a:rPr lang="fr-FR" sz="2800" b="1" i="1" noProof="0" dirty="0" err="1">
                    <a:solidFill>
                      <a:schemeClr val="accent1"/>
                    </a:solidFill>
                    <a:latin typeface="Times New Roman" panose="02020603050405020304" pitchFamily="18" charset="0"/>
                    <a:ea typeface="MS Mincho" panose="02020609040205080304" pitchFamily="49" charset="-128"/>
                    <a:cs typeface="Arial" panose="020B0604020202020204" pitchFamily="34" charset="0"/>
                  </a:rPr>
                  <a:t>Coulomb's</a:t>
                </a:r>
                <a:r>
                  <a:rPr lang="fr-FR" sz="2800" b="1" i="1" noProof="0" dirty="0">
                    <a:solidFill>
                      <a:schemeClr val="accent1"/>
                    </a:solidFill>
                    <a:latin typeface="Times New Roman" panose="02020603050405020304" pitchFamily="18" charset="0"/>
                    <a:ea typeface="MS Mincho" panose="02020609040205080304" pitchFamily="49" charset="-128"/>
                    <a:cs typeface="Arial" panose="020B0604020202020204" pitchFamily="34" charset="0"/>
                  </a:rPr>
                  <a:t> constant »</a:t>
                </a:r>
                <a:endParaRPr lang="fr-FR" sz="1600" b="1" noProof="0" dirty="0">
                  <a:solidFill>
                    <a:schemeClr val="accent1"/>
                  </a:solidFill>
                </a:endParaRPr>
              </a:p>
            </p:txBody>
          </p:sp>
        </mc:Choice>
        <mc:Fallback xmlns="">
          <p:sp>
            <p:nvSpPr>
              <p:cNvPr id="3" name="Espace réservé du texte 2">
                <a:extLst>
                  <a:ext uri="{FF2B5EF4-FFF2-40B4-BE49-F238E27FC236}">
                    <a16:creationId xmlns:a16="http://schemas.microsoft.com/office/drawing/2014/main" id="{68B7BD69-CC67-7E0F-29B0-4374F7DC2972}"/>
                  </a:ext>
                </a:extLst>
              </p:cNvPr>
              <p:cNvSpPr>
                <a:spLocks noGrp="1" noRot="1" noChangeAspect="1" noMove="1" noResize="1" noEditPoints="1" noAdjustHandles="1" noChangeArrowheads="1" noChangeShapeType="1" noTextEdit="1"/>
              </p:cNvSpPr>
              <p:nvPr>
                <p:ph type="body" idx="1"/>
              </p:nvPr>
            </p:nvSpPr>
            <p:spPr>
              <a:xfrm>
                <a:off x="0" y="1589313"/>
                <a:ext cx="12192000" cy="4917923"/>
              </a:xfrm>
              <a:blipFill>
                <a:blip r:embed="rId2"/>
                <a:stretch>
                  <a:fillRect r="-648"/>
                </a:stretch>
              </a:blipFill>
            </p:spPr>
            <p:txBody>
              <a:bodyPr/>
              <a:lstStyle/>
              <a:p>
                <a:r>
                  <a:rPr lang="fr-DZ">
                    <a:noFill/>
                  </a:rPr>
                  <a:t> </a:t>
                </a:r>
              </a:p>
            </p:txBody>
          </p:sp>
        </mc:Fallback>
      </mc:AlternateContent>
    </p:spTree>
    <p:extLst>
      <p:ext uri="{BB962C8B-B14F-4D97-AF65-F5344CB8AC3E}">
        <p14:creationId xmlns:p14="http://schemas.microsoft.com/office/powerpoint/2010/main" val="3497400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A893C0-79C0-9EE9-4F3F-E01EC218102D}"/>
              </a:ext>
            </a:extLst>
          </p:cNvPr>
          <p:cNvSpPr>
            <a:spLocks noGrp="1"/>
          </p:cNvSpPr>
          <p:nvPr>
            <p:ph type="title"/>
          </p:nvPr>
        </p:nvSpPr>
        <p:spPr>
          <a:xfrm>
            <a:off x="685800" y="753533"/>
            <a:ext cx="10820400" cy="955600"/>
          </a:xfrm>
        </p:spPr>
        <p:txBody>
          <a:bodyPr>
            <a:normAutofit fontScale="90000"/>
          </a:bodyPr>
          <a:lstStyle/>
          <a:p>
            <a:pPr>
              <a:buNone/>
            </a:pPr>
            <a:r>
              <a:rPr lang="fr-FR" sz="4267" b="1"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t>Constante de Coulomb </a:t>
            </a:r>
            <a:r>
              <a:rPr kumimoji="0" lang="fr-FR" sz="3600" b="0"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 👉</a:t>
            </a:r>
            <a:r>
              <a:rPr lang="fr-FR" sz="4267"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t> </a:t>
            </a:r>
            <a:r>
              <a:rPr lang="fr-FR" b="1" noProof="0" dirty="0">
                <a:solidFill>
                  <a:schemeClr val="accent1"/>
                </a:solidFill>
                <a:latin typeface="Times New Roman" panose="02020603050405020304" pitchFamily="18" charset="0"/>
                <a:cs typeface="Times New Roman" panose="02020603050405020304" pitchFamily="18" charset="0"/>
              </a:rPr>
              <a:t>"Coulomb constant"</a:t>
            </a:r>
            <a:br>
              <a:rPr lang="fr-FR" noProof="0" dirty="0"/>
            </a:br>
            <a:endParaRPr lang="fr-FR"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48B60D21-2C27-696D-EA46-7DDC9BD07E64}"/>
                  </a:ext>
                </a:extLst>
              </p:cNvPr>
              <p:cNvSpPr>
                <a:spLocks noGrp="1"/>
              </p:cNvSpPr>
              <p:nvPr>
                <p:ph type="body" idx="1"/>
              </p:nvPr>
            </p:nvSpPr>
            <p:spPr>
              <a:xfrm>
                <a:off x="685800" y="2057400"/>
                <a:ext cx="10829067" cy="4047067"/>
              </a:xfrm>
            </p:spPr>
            <p:txBody>
              <a:bodyPr>
                <a:normAutofit/>
              </a:bodyPr>
              <a:lstStyle/>
              <a:p>
                <a:pPr algn="l">
                  <a:lnSpc>
                    <a:spcPct val="115000"/>
                  </a:lnSpc>
                  <a:spcAft>
                    <a:spcPts val="1067"/>
                  </a:spcAft>
                </a:pPr>
                <a:r>
                  <a:rPr lang="fr-FR" sz="3200" i="1" kern="100" noProof="0" dirty="0">
                    <a:latin typeface="Times New Roman" panose="02020603050405020304" pitchFamily="18" charset="0"/>
                    <a:ea typeface="Aptos" panose="020B0004020202020204" pitchFamily="34" charset="0"/>
                    <a:cs typeface="Arial" panose="020B0604020202020204" pitchFamily="34" charset="0"/>
                  </a:rPr>
                  <a:t>souvent notée </a:t>
                </a:r>
                <a:r>
                  <a:rPr lang="fr-FR" sz="3733" b="1" i="1" kern="100" noProof="0" dirty="0">
                    <a:solidFill>
                      <a:srgbClr val="0070C0"/>
                    </a:solidFill>
                    <a:ea typeface="Aptos" panose="020B0004020202020204" pitchFamily="34" charset="0"/>
                    <a:cs typeface="Times New Roman" panose="02020603050405020304" pitchFamily="18" charset="0"/>
                  </a:rPr>
                  <a:t> </a:t>
                </a:r>
                <a14:m>
                  <m:oMath xmlns:m="http://schemas.openxmlformats.org/officeDocument/2006/math">
                    <m:sSub>
                      <m:sSubPr>
                        <m:ctrlPr>
                          <a:rPr lang="fr-FR" sz="3733" b="1" i="1" kern="100" noProof="0" smtClean="0">
                            <a:solidFill>
                              <a:srgbClr val="FFC000"/>
                            </a:solidFill>
                            <a:latin typeface="Cambria Math" panose="02040503050406030204" pitchFamily="18" charset="0"/>
                            <a:ea typeface="Aptos" panose="020B0004020202020204" pitchFamily="34" charset="0"/>
                            <a:cs typeface="Times New Roman" panose="02020603050405020304" pitchFamily="18" charset="0"/>
                          </a:rPr>
                        </m:ctrlPr>
                      </m:sSubPr>
                      <m:e>
                        <m:r>
                          <a:rPr lang="fr-FR" sz="3733" b="1" i="1" kern="100" noProof="0" smtClean="0">
                            <a:solidFill>
                              <a:srgbClr val="FFC000"/>
                            </a:solidFill>
                            <a:latin typeface="Cambria Math" panose="02040503050406030204" pitchFamily="18" charset="0"/>
                            <a:ea typeface="Aptos" panose="020B0004020202020204" pitchFamily="34" charset="0"/>
                            <a:cs typeface="Times New Roman" panose="02020603050405020304" pitchFamily="18" charset="0"/>
                          </a:rPr>
                          <m:t>𝒌</m:t>
                        </m:r>
                      </m:e>
                      <m:sub>
                        <m:r>
                          <a:rPr lang="fr-FR" sz="3733" b="1" i="1" kern="100" noProof="0" smtClean="0">
                            <a:solidFill>
                              <a:srgbClr val="FFC000"/>
                            </a:solidFill>
                            <a:latin typeface="Cambria Math" panose="02040503050406030204" pitchFamily="18" charset="0"/>
                            <a:ea typeface="Aptos" panose="020B0004020202020204" pitchFamily="34" charset="0"/>
                            <a:cs typeface="Times New Roman" panose="02020603050405020304" pitchFamily="18" charset="0"/>
                          </a:rPr>
                          <m:t>𝒆</m:t>
                        </m:r>
                      </m:sub>
                    </m:sSub>
                  </m:oMath>
                </a14:m>
                <a:r>
                  <a:rPr lang="fr-FR" sz="3200" i="1" kern="100" noProof="0" dirty="0">
                    <a:latin typeface="Times New Roman" panose="02020603050405020304" pitchFamily="18" charset="0"/>
                    <a:ea typeface="Aptos" panose="020B0004020202020204" pitchFamily="34" charset="0"/>
                    <a:cs typeface="Arial" panose="020B0604020202020204" pitchFamily="34" charset="0"/>
                  </a:rPr>
                  <a:t>, est une constante fondamentale</a:t>
                </a:r>
              </a:p>
              <a:p>
                <a:pPr algn="ctr">
                  <a:lnSpc>
                    <a:spcPct val="115000"/>
                  </a:lnSpc>
                  <a:spcAft>
                    <a:spcPts val="1067"/>
                  </a:spcAft>
                </a:pPr>
                <a:r>
                  <a:rPr lang="fr-FR" sz="3200" b="1" kern="100" noProof="0" dirty="0">
                    <a:solidFill>
                      <a:srgbClr val="92D050"/>
                    </a:solidFill>
                    <a:latin typeface="Times New Roman" panose="02020603050405020304" pitchFamily="18" charset="0"/>
                    <a:ea typeface="Aptos" panose="020B0004020202020204" pitchFamily="34" charset="0"/>
                    <a:cs typeface="Arial" panose="020B0604020202020204" pitchFamily="34" charset="0"/>
                  </a:rPr>
                  <a:t>k = 8,987 551 792 3 × 10⁹ N·m²·C⁻²</a:t>
                </a:r>
                <a:r>
                  <a:rPr lang="fr-FR" sz="3200" b="1" kern="100" noProof="0" dirty="0">
                    <a:latin typeface="Times New Roman" panose="02020603050405020304" pitchFamily="18" charset="0"/>
                    <a:ea typeface="Aptos" panose="020B0004020202020204" pitchFamily="34" charset="0"/>
                    <a:cs typeface="Arial" panose="020B0604020202020204" pitchFamily="34" charset="0"/>
                  </a:rPr>
                  <a:t> </a:t>
                </a:r>
                <a:r>
                  <a:rPr lang="fr-FR" sz="3200" b="1" kern="100" noProof="0" dirty="0">
                    <a:solidFill>
                      <a:srgbClr val="92D050"/>
                    </a:solidFill>
                    <a:latin typeface="Times New Roman" panose="02020603050405020304" pitchFamily="18" charset="0"/>
                    <a:ea typeface="Aptos" panose="020B0004020202020204" pitchFamily="34" charset="0"/>
                    <a:cs typeface="Arial" panose="020B0604020202020204" pitchFamily="34" charset="0"/>
                  </a:rPr>
                  <a:t>≈ 9 × 10⁹ N·m²·C⁻²</a:t>
                </a:r>
                <a:r>
                  <a:rPr lang="fr-FR" sz="3200" kern="100" noProof="0" dirty="0">
                    <a:solidFill>
                      <a:srgbClr val="92D050"/>
                    </a:solidFill>
                    <a:latin typeface="Aptos" panose="020B0004020202020204" pitchFamily="34" charset="0"/>
                    <a:ea typeface="Aptos" panose="020B0004020202020204" pitchFamily="34" charset="0"/>
                    <a:cs typeface="Arial" panose="020B0604020202020204" pitchFamily="34" charset="0"/>
                  </a:rPr>
                  <a:t>  </a:t>
                </a:r>
              </a:p>
              <a:p>
                <a:pPr algn="ctr">
                  <a:lnSpc>
                    <a:spcPct val="115000"/>
                  </a:lnSpc>
                  <a:spcAft>
                    <a:spcPts val="1067"/>
                  </a:spcAft>
                </a:pPr>
                <a:endParaRPr lang="fr-FR" sz="3200" kern="100" noProof="0" dirty="0">
                  <a:latin typeface="Segoe UI Emoji" panose="020B0502040204020203" pitchFamily="34" charset="0"/>
                  <a:ea typeface="Aptos" panose="020B0004020202020204" pitchFamily="34" charset="0"/>
                  <a:cs typeface="Segoe UI Emoji" panose="020B0502040204020203" pitchFamily="34" charset="0"/>
                </a:endParaRPr>
              </a:p>
              <a:p>
                <a:pPr algn="l">
                  <a:lnSpc>
                    <a:spcPct val="115000"/>
                  </a:lnSpc>
                  <a:spcAft>
                    <a:spcPts val="1067"/>
                  </a:spcAft>
                </a:pPr>
                <a:r>
                  <a:rPr lang="fr-FR" sz="3200" kern="100" noProof="0" dirty="0">
                    <a:latin typeface="Segoe UI Emoji" panose="020B0502040204020203" pitchFamily="34" charset="0"/>
                    <a:ea typeface="Aptos" panose="020B0004020202020204" pitchFamily="34" charset="0"/>
                    <a:cs typeface="Segoe UI Emoji" panose="020B0502040204020203" pitchFamily="34" charset="0"/>
                  </a:rPr>
                  <a:t>                                👉</a:t>
                </a:r>
                <a:endParaRPr lang="fr-FR" sz="3200" kern="100" noProof="0" dirty="0">
                  <a:latin typeface="Aptos" panose="020B0004020202020204" pitchFamily="34" charset="0"/>
                  <a:ea typeface="Aptos" panose="020B0004020202020204" pitchFamily="34" charset="0"/>
                  <a:cs typeface="Arial" panose="020B0604020202020204" pitchFamily="34" charset="0"/>
                </a:endParaRPr>
              </a:p>
              <a:p>
                <a:endParaRPr lang="fr-FR" noProof="0" dirty="0"/>
              </a:p>
            </p:txBody>
          </p:sp>
        </mc:Choice>
        <mc:Fallback xmlns="">
          <p:sp>
            <p:nvSpPr>
              <p:cNvPr id="3" name="Espace réservé du texte 2">
                <a:extLst>
                  <a:ext uri="{FF2B5EF4-FFF2-40B4-BE49-F238E27FC236}">
                    <a16:creationId xmlns:a16="http://schemas.microsoft.com/office/drawing/2014/main" id="{48B60D21-2C27-696D-EA46-7DDC9BD07E64}"/>
                  </a:ext>
                </a:extLst>
              </p:cNvPr>
              <p:cNvSpPr>
                <a:spLocks noGrp="1" noRot="1" noChangeAspect="1" noMove="1" noResize="1" noEditPoints="1" noAdjustHandles="1" noChangeArrowheads="1" noChangeShapeType="1" noTextEdit="1"/>
              </p:cNvSpPr>
              <p:nvPr>
                <p:ph type="body" idx="1"/>
              </p:nvPr>
            </p:nvSpPr>
            <p:spPr>
              <a:xfrm>
                <a:off x="685800" y="2057400"/>
                <a:ext cx="10829067" cy="4047067"/>
              </a:xfrm>
              <a:blipFill>
                <a:blip r:embed="rId2"/>
                <a:stretch>
                  <a:fillRect/>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BA4EFAC-3732-8CC1-84DF-55F1D9A7B7C7}"/>
                  </a:ext>
                </a:extLst>
              </p:cNvPr>
              <p:cNvSpPr/>
              <p:nvPr/>
            </p:nvSpPr>
            <p:spPr>
              <a:xfrm>
                <a:off x="5431971" y="4637313"/>
                <a:ext cx="2830286" cy="11103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FR" sz="3200" b="1" i="1" kern="100" noProof="0" smtClean="0">
                              <a:solidFill>
                                <a:schemeClr val="tx1"/>
                              </a:solidFill>
                              <a:latin typeface="Cambria Math" panose="02040503050406030204" pitchFamily="18" charset="0"/>
                              <a:ea typeface="Aptos" panose="020B0004020202020204" pitchFamily="34" charset="0"/>
                              <a:cs typeface="Times New Roman" panose="02020603050405020304" pitchFamily="18" charset="0"/>
                            </a:rPr>
                          </m:ctrlPr>
                        </m:sSubPr>
                        <m:e>
                          <m:r>
                            <a:rPr lang="fr-FR" sz="3200" b="1" i="1" kern="100" noProof="0" smtClean="0">
                              <a:solidFill>
                                <a:schemeClr val="tx1"/>
                              </a:solidFill>
                              <a:latin typeface="Cambria Math" panose="02040503050406030204" pitchFamily="18" charset="0"/>
                              <a:ea typeface="Aptos" panose="020B0004020202020204" pitchFamily="34" charset="0"/>
                              <a:cs typeface="Times New Roman" panose="02020603050405020304" pitchFamily="18" charset="0"/>
                            </a:rPr>
                            <m:t>𝒌</m:t>
                          </m:r>
                        </m:e>
                        <m:sub>
                          <m:r>
                            <a:rPr lang="fr-FR" sz="3200" b="1" i="1" kern="100" noProof="0" smtClean="0">
                              <a:solidFill>
                                <a:schemeClr val="tx1"/>
                              </a:solidFill>
                              <a:latin typeface="Cambria Math" panose="02040503050406030204" pitchFamily="18" charset="0"/>
                              <a:ea typeface="Aptos" panose="020B0004020202020204" pitchFamily="34" charset="0"/>
                              <a:cs typeface="Times New Roman" panose="02020603050405020304" pitchFamily="18" charset="0"/>
                            </a:rPr>
                            <m:t>𝒆</m:t>
                          </m:r>
                        </m:sub>
                      </m:sSub>
                      <m:r>
                        <a:rPr lang="fr-FR" sz="3200" b="1" i="1" kern="100" noProof="0" smtClean="0">
                          <a:solidFill>
                            <a:schemeClr val="tx1"/>
                          </a:solidFill>
                          <a:latin typeface="Cambria Math" panose="02040503050406030204" pitchFamily="18" charset="0"/>
                          <a:ea typeface="Aptos" panose="020B0004020202020204" pitchFamily="34" charset="0"/>
                          <a:cs typeface="Times New Roman" panose="02020603050405020304" pitchFamily="18" charset="0"/>
                        </a:rPr>
                        <m:t>=</m:t>
                      </m:r>
                      <m:f>
                        <m:fPr>
                          <m:ctrlPr>
                            <a:rPr lang="fr-FR" sz="3200" b="1" i="1" kern="100" noProof="0" smtClean="0">
                              <a:solidFill>
                                <a:schemeClr val="tx1"/>
                              </a:solidFill>
                              <a:latin typeface="Cambria Math" panose="02040503050406030204" pitchFamily="18" charset="0"/>
                              <a:ea typeface="Aptos" panose="020B0004020202020204" pitchFamily="34" charset="0"/>
                              <a:cs typeface="Times New Roman" panose="02020603050405020304" pitchFamily="18" charset="0"/>
                            </a:rPr>
                          </m:ctrlPr>
                        </m:fPr>
                        <m:num>
                          <m:r>
                            <a:rPr lang="fr-FR" sz="3200" b="1" i="1" kern="100" noProof="0" smtClean="0">
                              <a:solidFill>
                                <a:schemeClr val="tx1"/>
                              </a:solidFill>
                              <a:latin typeface="Cambria Math" panose="02040503050406030204" pitchFamily="18" charset="0"/>
                              <a:ea typeface="Aptos" panose="020B0004020202020204" pitchFamily="34" charset="0"/>
                              <a:cs typeface="Times New Roman" panose="02020603050405020304" pitchFamily="18" charset="0"/>
                            </a:rPr>
                            <m:t>𝟏</m:t>
                          </m:r>
                        </m:num>
                        <m:den>
                          <m:r>
                            <a:rPr lang="fr-FR" sz="3200" b="1" i="1" kern="100" noProof="0" smtClean="0">
                              <a:solidFill>
                                <a:schemeClr val="tx1"/>
                              </a:solidFill>
                              <a:latin typeface="Cambria Math" panose="02040503050406030204" pitchFamily="18" charset="0"/>
                              <a:ea typeface="Aptos" panose="020B0004020202020204" pitchFamily="34" charset="0"/>
                              <a:cs typeface="Times New Roman" panose="02020603050405020304" pitchFamily="18" charset="0"/>
                            </a:rPr>
                            <m:t>𝟒</m:t>
                          </m:r>
                          <m:r>
                            <a:rPr lang="fr-FR" sz="3200" b="1" i="1" kern="100" noProof="0" smtClean="0">
                              <a:solidFill>
                                <a:schemeClr val="tx1"/>
                              </a:solidFill>
                              <a:latin typeface="Cambria Math" panose="02040503050406030204" pitchFamily="18" charset="0"/>
                              <a:ea typeface="Aptos" panose="020B0004020202020204" pitchFamily="34" charset="0"/>
                              <a:cs typeface="Times New Roman" panose="02020603050405020304" pitchFamily="18" charset="0"/>
                            </a:rPr>
                            <m:t>𝝅𝜺</m:t>
                          </m:r>
                        </m:den>
                      </m:f>
                    </m:oMath>
                  </m:oMathPara>
                </a14:m>
                <a:endParaRPr lang="fr-FR" noProof="0" dirty="0"/>
              </a:p>
            </p:txBody>
          </p:sp>
        </mc:Choice>
        <mc:Fallback xmlns="">
          <p:sp>
            <p:nvSpPr>
              <p:cNvPr id="4" name="Rectangle 3">
                <a:extLst>
                  <a:ext uri="{FF2B5EF4-FFF2-40B4-BE49-F238E27FC236}">
                    <a16:creationId xmlns:a16="http://schemas.microsoft.com/office/drawing/2014/main" id="{0BA4EFAC-3732-8CC1-84DF-55F1D9A7B7C7}"/>
                  </a:ext>
                </a:extLst>
              </p:cNvPr>
              <p:cNvSpPr>
                <a:spLocks noRot="1" noChangeAspect="1" noMove="1" noResize="1" noEditPoints="1" noAdjustHandles="1" noChangeArrowheads="1" noChangeShapeType="1" noTextEdit="1"/>
              </p:cNvSpPr>
              <p:nvPr/>
            </p:nvSpPr>
            <p:spPr>
              <a:xfrm>
                <a:off x="5431971" y="4637313"/>
                <a:ext cx="2830286" cy="1110343"/>
              </a:xfrm>
              <a:prstGeom prst="rect">
                <a:avLst/>
              </a:prstGeom>
              <a:blipFill>
                <a:blip r:embed="rId3"/>
                <a:stretch>
                  <a:fillRect/>
                </a:stretch>
              </a:blipFill>
            </p:spPr>
            <p:txBody>
              <a:bodyPr/>
              <a:lstStyle/>
              <a:p>
                <a:r>
                  <a:rPr lang="fr-DZ">
                    <a:noFill/>
                  </a:rPr>
                  <a:t> </a:t>
                </a:r>
              </a:p>
            </p:txBody>
          </p:sp>
        </mc:Fallback>
      </mc:AlternateContent>
    </p:spTree>
    <p:extLst>
      <p:ext uri="{BB962C8B-B14F-4D97-AF65-F5344CB8AC3E}">
        <p14:creationId xmlns:p14="http://schemas.microsoft.com/office/powerpoint/2010/main" val="2028204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56EDBA74-8FDA-36E1-0CB3-09C3C08F0BAD}"/>
                  </a:ext>
                </a:extLst>
              </p:cNvPr>
              <p:cNvSpPr>
                <a:spLocks noGrp="1"/>
              </p:cNvSpPr>
              <p:nvPr>
                <p:ph type="title"/>
              </p:nvPr>
            </p:nvSpPr>
            <p:spPr>
              <a:xfrm>
                <a:off x="870857" y="0"/>
                <a:ext cx="10820400" cy="921051"/>
              </a:xfrm>
            </p:spPr>
            <p:txBody>
              <a:bodyPr>
                <a:normAutofit/>
              </a:bodyPr>
              <a:lstStyle/>
              <a:p>
                <a:pPr algn="ctr"/>
                <a:r>
                  <a:rPr lang="fr-FR" sz="4267" b="1" noProof="0" dirty="0">
                    <a:solidFill>
                      <a:srgbClr val="FFC000"/>
                    </a:solidFill>
                    <a:latin typeface="Times New Roman" panose="02020603050405020304" pitchFamily="18" charset="0"/>
                    <a:cs typeface="Times New Roman" panose="02020603050405020304" pitchFamily="18" charset="0"/>
                  </a:rPr>
                  <a:t>La permittivité </a:t>
                </a:r>
                <a:r>
                  <a:rPr lang="fr-FR" sz="3200" kern="100" noProof="0" dirty="0">
                    <a:solidFill>
                      <a:srgbClr val="FFFFFF"/>
                    </a:solidFill>
                    <a:latin typeface="Segoe UI Emoji" panose="020B0502040204020203" pitchFamily="34" charset="0"/>
                    <a:ea typeface="Aptos" panose="020B0004020202020204" pitchFamily="34" charset="0"/>
                    <a:cs typeface="Segoe UI Emoji" panose="020B0502040204020203" pitchFamily="34" charset="0"/>
                  </a:rPr>
                  <a:t>👉 </a:t>
                </a:r>
                <a:r>
                  <a:rPr lang="fr-FR" sz="4400" b="1" noProof="0" dirty="0">
                    <a:solidFill>
                      <a:schemeClr val="accent1"/>
                    </a:solidFill>
                    <a:latin typeface="Times New Roman" panose="02020603050405020304" pitchFamily="18" charset="0"/>
                    <a:cs typeface="Times New Roman" panose="02020603050405020304" pitchFamily="18" charset="0"/>
                  </a:rPr>
                  <a:t>"</a:t>
                </a:r>
                <a:r>
                  <a:rPr lang="fr-FR" sz="4400" b="1" noProof="0" dirty="0" err="1">
                    <a:solidFill>
                      <a:schemeClr val="accent1"/>
                    </a:solidFill>
                    <a:latin typeface="Times New Roman" panose="02020603050405020304" pitchFamily="18" charset="0"/>
                    <a:cs typeface="Times New Roman" panose="02020603050405020304" pitchFamily="18" charset="0"/>
                  </a:rPr>
                  <a:t>Permittivity</a:t>
                </a:r>
                <a:r>
                  <a:rPr lang="fr-FR" sz="4400" b="1" noProof="0" dirty="0">
                    <a:solidFill>
                      <a:schemeClr val="accent1"/>
                    </a:solidFill>
                    <a:latin typeface="Times New Roman" panose="02020603050405020304" pitchFamily="18" charset="0"/>
                    <a:cs typeface="Times New Roman" panose="02020603050405020304" pitchFamily="18" charset="0"/>
                  </a:rPr>
                  <a:t>"</a:t>
                </a:r>
                <a:r>
                  <a:rPr lang="fr-FR" sz="4267" b="1" noProof="0" dirty="0">
                    <a:solidFill>
                      <a:schemeClr val="accent1"/>
                    </a:solidFill>
                    <a:latin typeface="Times New Roman" panose="02020603050405020304" pitchFamily="18" charset="0"/>
                    <a:cs typeface="Times New Roman" panose="02020603050405020304" pitchFamily="18" charset="0"/>
                  </a:rPr>
                  <a:t> </a:t>
                </a:r>
                <a:r>
                  <a:rPr lang="fr-FR" sz="4267" b="1" noProof="0" dirty="0">
                    <a:solidFill>
                      <a:srgbClr val="FFC000"/>
                    </a:solidFill>
                    <a:latin typeface="Times New Roman" panose="02020603050405020304" pitchFamily="18" charset="0"/>
                    <a:cs typeface="Times New Roman" panose="02020603050405020304" pitchFamily="18" charset="0"/>
                  </a:rPr>
                  <a:t>𝜀</a:t>
                </a:r>
                <a:r>
                  <a:rPr lang="fr-FR" sz="4267" b="1" noProof="0" dirty="0">
                    <a:solidFill>
                      <a:srgbClr val="FFC000"/>
                    </a:solidFill>
                    <a:cs typeface="+mj-cs"/>
                  </a:rPr>
                  <a:t> </a:t>
                </a:r>
                <a14:m>
                  <m:oMath xmlns:m="http://schemas.openxmlformats.org/officeDocument/2006/math">
                    <m:r>
                      <a:rPr lang="fr-FR" sz="4267" b="1" noProof="0" smtClean="0">
                        <a:solidFill>
                          <a:srgbClr val="FFC000"/>
                        </a:solidFill>
                        <a:latin typeface="Cambria Math" panose="02040503050406030204" pitchFamily="18" charset="0"/>
                        <a:cs typeface="+mj-cs"/>
                      </a:rPr>
                      <m:t>=</m:t>
                    </m:r>
                    <m:sSub>
                      <m:sSubPr>
                        <m:ctrlPr>
                          <a:rPr lang="fr-FR" sz="4267" b="1" i="1" noProof="0" smtClean="0">
                            <a:solidFill>
                              <a:srgbClr val="FFC000"/>
                            </a:solidFill>
                            <a:latin typeface="Cambria Math" panose="02040503050406030204" pitchFamily="18" charset="0"/>
                            <a:cs typeface="+mj-cs"/>
                          </a:rPr>
                        </m:ctrlPr>
                      </m:sSubPr>
                      <m:e>
                        <m:r>
                          <a:rPr lang="fr-FR" sz="4267" b="1" i="1" noProof="0" smtClean="0">
                            <a:solidFill>
                              <a:srgbClr val="FFC000"/>
                            </a:solidFill>
                            <a:latin typeface="Cambria Math" panose="02040503050406030204" pitchFamily="18" charset="0"/>
                            <a:cs typeface="+mj-cs"/>
                          </a:rPr>
                          <m:t>𝜺</m:t>
                        </m:r>
                      </m:e>
                      <m:sub>
                        <m:r>
                          <a:rPr lang="fr-FR" sz="4267" b="1" i="1" noProof="0" smtClean="0">
                            <a:solidFill>
                              <a:srgbClr val="FFC000"/>
                            </a:solidFill>
                            <a:latin typeface="Cambria Math" panose="02040503050406030204" pitchFamily="18" charset="0"/>
                            <a:cs typeface="+mj-cs"/>
                          </a:rPr>
                          <m:t>𝒓</m:t>
                        </m:r>
                      </m:sub>
                    </m:sSub>
                    <m:r>
                      <m:rPr>
                        <m:nor/>
                      </m:rPr>
                      <a:rPr lang="fr-FR" sz="4267" b="1" i="1" noProof="0" smtClean="0">
                        <a:solidFill>
                          <a:srgbClr val="FFC000"/>
                        </a:solidFill>
                        <a:latin typeface="Cambria Math" panose="02040503050406030204" pitchFamily="18" charset="0"/>
                        <a:cs typeface="Times New Roman" panose="02020603050405020304" pitchFamily="18" charset="0"/>
                      </a:rPr>
                      <m:t> </m:t>
                    </m:r>
                    <m:sSub>
                      <m:sSubPr>
                        <m:ctrlPr>
                          <a:rPr lang="fr-FR" sz="4267" b="1" i="1" noProof="0" smtClean="0">
                            <a:solidFill>
                              <a:srgbClr val="FFC000"/>
                            </a:solidFill>
                            <a:latin typeface="Cambria Math" panose="02040503050406030204" pitchFamily="18" charset="0"/>
                            <a:cs typeface="+mj-cs"/>
                          </a:rPr>
                        </m:ctrlPr>
                      </m:sSubPr>
                      <m:e>
                        <m:r>
                          <a:rPr lang="fr-FR" sz="4267" b="1" i="1" noProof="0" smtClean="0">
                            <a:solidFill>
                              <a:srgbClr val="FFC000"/>
                            </a:solidFill>
                            <a:latin typeface="Cambria Math" panose="02040503050406030204" pitchFamily="18" charset="0"/>
                            <a:cs typeface="+mj-cs"/>
                          </a:rPr>
                          <m:t>𝜺</m:t>
                        </m:r>
                      </m:e>
                      <m:sub>
                        <m:r>
                          <a:rPr lang="fr-FR" sz="4267" b="1" i="1" noProof="0" smtClean="0">
                            <a:solidFill>
                              <a:srgbClr val="FFC000"/>
                            </a:solidFill>
                            <a:latin typeface="Cambria Math" panose="02040503050406030204" pitchFamily="18" charset="0"/>
                            <a:cs typeface="+mj-cs"/>
                          </a:rPr>
                          <m:t>𝟎</m:t>
                        </m:r>
                      </m:sub>
                    </m:sSub>
                  </m:oMath>
                </a14:m>
                <a:endParaRPr lang="fr-FR" sz="4267" b="1" noProof="0" dirty="0">
                  <a:solidFill>
                    <a:srgbClr val="FFC000"/>
                  </a:solidFill>
                  <a:latin typeface="Times New Roman" panose="02020603050405020304" pitchFamily="18" charset="0"/>
                  <a:cs typeface="Times New Roman" panose="02020603050405020304" pitchFamily="18" charset="0"/>
                </a:endParaRPr>
              </a:p>
            </p:txBody>
          </p:sp>
        </mc:Choice>
        <mc:Fallback xmlns="">
          <p:sp>
            <p:nvSpPr>
              <p:cNvPr id="2" name="Titre 1">
                <a:extLst>
                  <a:ext uri="{FF2B5EF4-FFF2-40B4-BE49-F238E27FC236}">
                    <a16:creationId xmlns:a16="http://schemas.microsoft.com/office/drawing/2014/main" id="{56EDBA74-8FDA-36E1-0CB3-09C3C08F0BAD}"/>
                  </a:ext>
                </a:extLst>
              </p:cNvPr>
              <p:cNvSpPr>
                <a:spLocks noGrp="1" noRot="1" noChangeAspect="1" noMove="1" noResize="1" noEditPoints="1" noAdjustHandles="1" noChangeArrowheads="1" noChangeShapeType="1" noTextEdit="1"/>
              </p:cNvSpPr>
              <p:nvPr>
                <p:ph type="title"/>
              </p:nvPr>
            </p:nvSpPr>
            <p:spPr>
              <a:xfrm>
                <a:off x="870857" y="0"/>
                <a:ext cx="10820400" cy="921051"/>
              </a:xfrm>
              <a:blipFill>
                <a:blip r:embed="rId2"/>
                <a:stretch>
                  <a:fillRect b="-33775"/>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142A3EE2-7433-A55C-3C71-23B67CAC068A}"/>
                  </a:ext>
                </a:extLst>
              </p:cNvPr>
              <p:cNvSpPr>
                <a:spLocks noGrp="1"/>
              </p:cNvSpPr>
              <p:nvPr>
                <p:ph type="body" idx="1"/>
              </p:nvPr>
            </p:nvSpPr>
            <p:spPr>
              <a:xfrm>
                <a:off x="283029" y="1088574"/>
                <a:ext cx="11625942" cy="4571998"/>
              </a:xfrm>
              <a:solidFill>
                <a:schemeClr val="accent1">
                  <a:lumMod val="75000"/>
                </a:schemeClr>
              </a:solidFill>
            </p:spPr>
            <p:txBody>
              <a:bodyPr>
                <a:normAutofit/>
              </a:bodyPr>
              <a:lstStyle/>
              <a:p>
                <a:pPr algn="l">
                  <a:buNone/>
                </a:pPr>
                <a:r>
                  <a:rPr lang="fr-FR" sz="3200" i="1" noProof="0" dirty="0">
                    <a:latin typeface="Times New Roman" panose="02020603050405020304" pitchFamily="18" charset="0"/>
                    <a:cs typeface="Times New Roman" panose="02020603050405020304" pitchFamily="18" charset="0"/>
                  </a:rPr>
                  <a:t>Une grandeur physique qui traduit la capacité d’un milieu à</a:t>
                </a:r>
              </a:p>
              <a:p>
                <a:pPr algn="l">
                  <a:buNone/>
                </a:pPr>
                <a:r>
                  <a:rPr lang="fr-FR" sz="3200" i="1" noProof="0" dirty="0">
                    <a:latin typeface="Times New Roman" panose="02020603050405020304" pitchFamily="18" charset="0"/>
                    <a:cs typeface="Times New Roman" panose="02020603050405020304" pitchFamily="18" charset="0"/>
                  </a:rPr>
                  <a:t>laisser passer un champ électrique tout en s’y opposant</a:t>
                </a:r>
              </a:p>
              <a:p>
                <a:pPr algn="l">
                  <a:buNone/>
                </a:pPr>
                <a:r>
                  <a:rPr lang="fr-FR" sz="3200" i="1" noProof="0" dirty="0">
                    <a:latin typeface="Times New Roman" panose="02020603050405020304" pitchFamily="18" charset="0"/>
                    <a:cs typeface="Times New Roman" panose="02020603050405020304" pitchFamily="18" charset="0"/>
                  </a:rPr>
                  <a:t>partiellement.</a:t>
                </a:r>
              </a:p>
              <a:p>
                <a:pPr marL="761993" indent="-457200" algn="l">
                  <a:buFont typeface="Wingdings" panose="05000000000000000000" pitchFamily="2" charset="2"/>
                  <a:buChar char="Ø"/>
                </a:pPr>
                <a:r>
                  <a:rPr lang="fr-FR" sz="3200" b="1" i="1" noProof="0" dirty="0">
                    <a:solidFill>
                      <a:schemeClr val="tx1"/>
                    </a:solidFill>
                    <a:latin typeface="Times New Roman" panose="02020603050405020304" pitchFamily="18" charset="0"/>
                    <a:cs typeface="Times New Roman" panose="02020603050405020304" pitchFamily="18" charset="0"/>
                  </a:rPr>
                  <a:t>Permittivité du vide </a:t>
                </a:r>
                <a14:m>
                  <m:oMath xmlns:m="http://schemas.openxmlformats.org/officeDocument/2006/math">
                    <m:sSub>
                      <m:sSubPr>
                        <m:ctrlPr>
                          <a:rPr lang="fr-FR" sz="3200" b="1" i="1" noProof="0" smtClean="0">
                            <a:solidFill>
                              <a:schemeClr val="tx1"/>
                            </a:solidFill>
                            <a:latin typeface="Cambria Math" panose="02040503050406030204" pitchFamily="18" charset="0"/>
                            <a:cs typeface="+mj-cs"/>
                          </a:rPr>
                        </m:ctrlPr>
                      </m:sSubPr>
                      <m:e>
                        <m:r>
                          <a:rPr lang="fr-FR" sz="3200" b="1" i="1" noProof="0" smtClean="0">
                            <a:solidFill>
                              <a:schemeClr val="tx1"/>
                            </a:solidFill>
                            <a:latin typeface="Cambria Math" panose="02040503050406030204" pitchFamily="18" charset="0"/>
                            <a:cs typeface="+mj-cs"/>
                          </a:rPr>
                          <m:t>𝜺</m:t>
                        </m:r>
                      </m:e>
                      <m:sub>
                        <m:r>
                          <a:rPr lang="fr-FR" sz="3200" b="1" i="1" noProof="0" smtClean="0">
                            <a:solidFill>
                              <a:schemeClr val="tx1"/>
                            </a:solidFill>
                            <a:latin typeface="Cambria Math" panose="02040503050406030204" pitchFamily="18" charset="0"/>
                            <a:cs typeface="+mj-cs"/>
                          </a:rPr>
                          <m:t>𝟎</m:t>
                        </m:r>
                      </m:sub>
                    </m:sSub>
                  </m:oMath>
                </a14:m>
                <a:r>
                  <a:rPr lang="fr-FR" sz="3200" i="1" noProof="0" dirty="0">
                    <a:solidFill>
                      <a:srgbClr val="FFC000"/>
                    </a:solidFill>
                    <a:latin typeface="Times New Roman" panose="02020603050405020304" pitchFamily="18" charset="0"/>
                    <a:cs typeface="Times New Roman" panose="02020603050405020304" pitchFamily="18" charset="0"/>
                  </a:rPr>
                  <a:t>:  </a:t>
                </a:r>
                <a:r>
                  <a:rPr lang="fr-FR" sz="3200" i="1" noProof="0" dirty="0">
                    <a:latin typeface="Times New Roman" panose="02020603050405020304" pitchFamily="18" charset="0"/>
                    <a:cs typeface="Times New Roman" panose="02020603050405020304" pitchFamily="18" charset="0"/>
                  </a:rPr>
                  <a:t>Constante universelle qui fixe l’intensité de l’interaction électrostatique dans le vide.</a:t>
                </a:r>
              </a:p>
              <a:p>
                <a:pPr marL="761993" indent="-457200" algn="l">
                  <a:buFont typeface="Wingdings" panose="05000000000000000000" pitchFamily="2" charset="2"/>
                  <a:buChar char="Ø"/>
                </a:pPr>
                <a:r>
                  <a:rPr lang="fr-FR" sz="3200" b="1" i="1" noProof="0" dirty="0">
                    <a:solidFill>
                      <a:schemeClr val="tx1"/>
                    </a:solidFill>
                    <a:latin typeface="Times New Roman" panose="02020603050405020304" pitchFamily="18" charset="0"/>
                    <a:cs typeface="Times New Roman" panose="02020603050405020304" pitchFamily="18" charset="0"/>
                  </a:rPr>
                  <a:t>Permittivité relative</a:t>
                </a:r>
                <a:r>
                  <a:rPr lang="fr-FR" sz="3200" i="1" noProof="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fr-FR" sz="3200" i="1" noProof="0" smtClean="0">
                            <a:solidFill>
                              <a:schemeClr val="tx1"/>
                            </a:solidFill>
                            <a:latin typeface="Cambria Math" panose="02040503050406030204" pitchFamily="18" charset="0"/>
                            <a:cs typeface="+mj-cs"/>
                          </a:rPr>
                        </m:ctrlPr>
                      </m:sSubPr>
                      <m:e>
                        <m:r>
                          <a:rPr lang="fr-FR" sz="3200" i="1" noProof="0" smtClean="0">
                            <a:solidFill>
                              <a:schemeClr val="tx1"/>
                            </a:solidFill>
                            <a:latin typeface="Cambria Math" panose="02040503050406030204" pitchFamily="18" charset="0"/>
                            <a:cs typeface="+mj-cs"/>
                          </a:rPr>
                          <m:t>𝜀</m:t>
                        </m:r>
                      </m:e>
                      <m:sub>
                        <m:r>
                          <a:rPr lang="fr-FR" sz="3200" i="1" noProof="0" smtClean="0">
                            <a:solidFill>
                              <a:schemeClr val="tx1"/>
                            </a:solidFill>
                            <a:latin typeface="Cambria Math" panose="02040503050406030204" pitchFamily="18" charset="0"/>
                            <a:cs typeface="+mj-cs"/>
                          </a:rPr>
                          <m:t>𝑟</m:t>
                        </m:r>
                      </m:sub>
                    </m:sSub>
                  </m:oMath>
                </a14:m>
                <a:r>
                  <a:rPr lang="fr-FR" sz="3200" i="1" noProof="0" dirty="0">
                    <a:solidFill>
                      <a:schemeClr val="tx1"/>
                    </a:solidFill>
                    <a:latin typeface="Times New Roman" panose="02020603050405020304" pitchFamily="18" charset="0"/>
                    <a:cs typeface="Times New Roman" panose="02020603050405020304" pitchFamily="18" charset="0"/>
                  </a:rPr>
                  <a:t>: </a:t>
                </a:r>
                <a:r>
                  <a:rPr lang="fr-FR" sz="3200" i="1" noProof="0" dirty="0">
                    <a:latin typeface="Times New Roman" panose="02020603050405020304" pitchFamily="18" charset="0"/>
                    <a:cs typeface="Times New Roman" panose="02020603050405020304" pitchFamily="18" charset="0"/>
                  </a:rPr>
                  <a:t>Facteur </a:t>
                </a:r>
                <a:r>
                  <a:rPr lang="fr-FR" sz="3200" b="1" i="1" u="sng" noProof="0" dirty="0">
                    <a:solidFill>
                      <a:schemeClr val="tx1"/>
                    </a:solidFill>
                    <a:latin typeface="Times New Roman" panose="02020603050405020304" pitchFamily="18" charset="0"/>
                    <a:cs typeface="Times New Roman" panose="02020603050405020304" pitchFamily="18" charset="0"/>
                  </a:rPr>
                  <a:t>sans dimension </a:t>
                </a:r>
                <a:r>
                  <a:rPr lang="fr-FR" sz="3200" i="1" noProof="0" dirty="0">
                    <a:latin typeface="Times New Roman" panose="02020603050405020304" pitchFamily="18" charset="0"/>
                    <a:cs typeface="Times New Roman" panose="02020603050405020304" pitchFamily="18" charset="0"/>
                  </a:rPr>
                  <a:t>qui indique </a:t>
                </a:r>
              </a:p>
              <a:p>
                <a:pPr marL="304793" indent="0" algn="l"/>
                <a:r>
                  <a:rPr lang="fr-FR" sz="3200" i="1" noProof="0" dirty="0">
                    <a:latin typeface="Times New Roman" panose="02020603050405020304" pitchFamily="18" charset="0"/>
                    <a:cs typeface="Times New Roman" panose="02020603050405020304" pitchFamily="18" charset="0"/>
                  </a:rPr>
                  <a:t>combien le champ est réduit dans un matériau par rapport au vide.</a:t>
                </a:r>
              </a:p>
              <a:p>
                <a:pPr marL="761993" indent="-457200" algn="l">
                  <a:buFont typeface="Wingdings" panose="05000000000000000000" pitchFamily="2" charset="2"/>
                  <a:buChar char="Ø"/>
                </a:pPr>
                <a:r>
                  <a:rPr lang="fr-FR" sz="3200" b="1" i="1" u="sng" noProof="0" dirty="0">
                    <a:latin typeface="Times New Roman" panose="02020603050405020304" pitchFamily="18" charset="0"/>
                    <a:cs typeface="Times New Roman" panose="02020603050405020304" pitchFamily="18" charset="0"/>
                  </a:rPr>
                  <a:t>Permittivité absolue du milieu</a:t>
                </a:r>
                <a:r>
                  <a:rPr lang="fr-FR" sz="3200" i="1" u="sng" noProof="0" dirty="0">
                    <a:latin typeface="Times New Roman" panose="02020603050405020304" pitchFamily="18" charset="0"/>
                    <a:cs typeface="Times New Roman" panose="02020603050405020304" pitchFamily="18" charset="0"/>
                  </a:rPr>
                  <a:t> </a:t>
                </a:r>
                <a:r>
                  <a:rPr lang="fr-FR" sz="3200" i="1" u="sng" noProof="0" dirty="0">
                    <a:solidFill>
                      <a:schemeClr val="bg1"/>
                    </a:solidFill>
                    <a:latin typeface="Times New Roman" panose="02020603050405020304" pitchFamily="18" charset="0"/>
                    <a:cs typeface="Times New Roman" panose="02020603050405020304" pitchFamily="18" charset="0"/>
                  </a:rPr>
                  <a:t>:</a:t>
                </a:r>
                <a:endParaRPr lang="fr-FR" sz="4267" b="1" noProof="0" dirty="0">
                  <a:cs typeface="+mj-cs"/>
                </a:endParaRPr>
              </a:p>
              <a:p>
                <a:endParaRPr lang="fr-FR" noProof="0" dirty="0"/>
              </a:p>
            </p:txBody>
          </p:sp>
        </mc:Choice>
        <mc:Fallback xmlns="">
          <p:sp>
            <p:nvSpPr>
              <p:cNvPr id="3" name="Espace réservé du texte 2">
                <a:extLst>
                  <a:ext uri="{FF2B5EF4-FFF2-40B4-BE49-F238E27FC236}">
                    <a16:creationId xmlns:a16="http://schemas.microsoft.com/office/drawing/2014/main" id="{142A3EE2-7433-A55C-3C71-23B67CAC068A}"/>
                  </a:ext>
                </a:extLst>
              </p:cNvPr>
              <p:cNvSpPr>
                <a:spLocks noGrp="1" noRot="1" noChangeAspect="1" noMove="1" noResize="1" noEditPoints="1" noAdjustHandles="1" noChangeArrowheads="1" noChangeShapeType="1" noTextEdit="1"/>
              </p:cNvSpPr>
              <p:nvPr>
                <p:ph type="body" idx="1"/>
              </p:nvPr>
            </p:nvSpPr>
            <p:spPr>
              <a:xfrm>
                <a:off x="283029" y="1088574"/>
                <a:ext cx="11625942" cy="4571998"/>
              </a:xfrm>
              <a:blipFill>
                <a:blip r:embed="rId3"/>
                <a:stretch>
                  <a:fillRect t="-133" r="-1887" b="-4267"/>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65B7EF8-14EE-27CB-8A1F-0EAEEDB85FDD}"/>
                  </a:ext>
                </a:extLst>
              </p:cNvPr>
              <p:cNvSpPr/>
              <p:nvPr/>
            </p:nvSpPr>
            <p:spPr>
              <a:xfrm>
                <a:off x="6542312" y="5660572"/>
                <a:ext cx="2362200" cy="9210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3600" b="1" i="1" noProof="0" smtClean="0">
                          <a:solidFill>
                            <a:srgbClr val="002060"/>
                          </a:solidFill>
                          <a:latin typeface="Cambria Math" panose="02040503050406030204" pitchFamily="18" charset="0"/>
                          <a:cs typeface="+mj-cs"/>
                        </a:rPr>
                        <m:t>𝜺</m:t>
                      </m:r>
                      <m:r>
                        <a:rPr lang="fr-FR" sz="3600" b="1" noProof="0" smtClean="0">
                          <a:solidFill>
                            <a:srgbClr val="002060"/>
                          </a:solidFill>
                          <a:latin typeface="Cambria Math" panose="02040503050406030204" pitchFamily="18" charset="0"/>
                          <a:cs typeface="+mj-cs"/>
                        </a:rPr>
                        <m:t>=</m:t>
                      </m:r>
                      <m:sSub>
                        <m:sSubPr>
                          <m:ctrlPr>
                            <a:rPr lang="fr-FR" sz="3600" b="1" i="1" noProof="0" smtClean="0">
                              <a:solidFill>
                                <a:srgbClr val="002060"/>
                              </a:solidFill>
                              <a:latin typeface="Cambria Math" panose="02040503050406030204" pitchFamily="18" charset="0"/>
                              <a:cs typeface="+mj-cs"/>
                            </a:rPr>
                          </m:ctrlPr>
                        </m:sSubPr>
                        <m:e>
                          <m:r>
                            <a:rPr lang="fr-FR" sz="3600" b="1" i="1" noProof="0" smtClean="0">
                              <a:solidFill>
                                <a:srgbClr val="002060"/>
                              </a:solidFill>
                              <a:latin typeface="Cambria Math" panose="02040503050406030204" pitchFamily="18" charset="0"/>
                              <a:cs typeface="+mj-cs"/>
                            </a:rPr>
                            <m:t>𝜺</m:t>
                          </m:r>
                        </m:e>
                        <m:sub>
                          <m:r>
                            <a:rPr lang="fr-FR" sz="3600" b="1" i="1" noProof="0" smtClean="0">
                              <a:solidFill>
                                <a:srgbClr val="002060"/>
                              </a:solidFill>
                              <a:latin typeface="Cambria Math" panose="02040503050406030204" pitchFamily="18" charset="0"/>
                              <a:cs typeface="+mj-cs"/>
                            </a:rPr>
                            <m:t>𝒓</m:t>
                          </m:r>
                        </m:sub>
                      </m:sSub>
                      <m:r>
                        <m:rPr>
                          <m:nor/>
                        </m:rPr>
                        <a:rPr lang="fr-FR" sz="3600" b="1" i="1" noProof="0" smtClean="0">
                          <a:solidFill>
                            <a:srgbClr val="002060"/>
                          </a:solidFill>
                          <a:latin typeface="Cambria Math" panose="02040503050406030204" pitchFamily="18" charset="0"/>
                          <a:cs typeface="+mj-cs"/>
                        </a:rPr>
                        <m:t> </m:t>
                      </m:r>
                      <m:sSub>
                        <m:sSubPr>
                          <m:ctrlPr>
                            <a:rPr lang="fr-FR" sz="3600" b="1" i="1" noProof="0" smtClean="0">
                              <a:solidFill>
                                <a:srgbClr val="002060"/>
                              </a:solidFill>
                              <a:latin typeface="Cambria Math" panose="02040503050406030204" pitchFamily="18" charset="0"/>
                              <a:cs typeface="+mj-cs"/>
                            </a:rPr>
                          </m:ctrlPr>
                        </m:sSubPr>
                        <m:e>
                          <m:r>
                            <a:rPr lang="fr-FR" sz="3600" b="1" i="1" noProof="0" smtClean="0">
                              <a:solidFill>
                                <a:srgbClr val="002060"/>
                              </a:solidFill>
                              <a:latin typeface="Cambria Math" panose="02040503050406030204" pitchFamily="18" charset="0"/>
                              <a:cs typeface="+mj-cs"/>
                            </a:rPr>
                            <m:t>𝜺</m:t>
                          </m:r>
                        </m:e>
                        <m:sub>
                          <m:r>
                            <a:rPr lang="fr-FR" sz="3600" b="1" noProof="0" smtClean="0">
                              <a:solidFill>
                                <a:srgbClr val="002060"/>
                              </a:solidFill>
                              <a:latin typeface="Cambria Math" panose="02040503050406030204" pitchFamily="18" charset="0"/>
                              <a:cs typeface="+mj-cs"/>
                            </a:rPr>
                            <m:t>𝟎</m:t>
                          </m:r>
                        </m:sub>
                      </m:sSub>
                    </m:oMath>
                  </m:oMathPara>
                </a14:m>
                <a:endParaRPr lang="fr-FR" noProof="0" dirty="0"/>
              </a:p>
            </p:txBody>
          </p:sp>
        </mc:Choice>
        <mc:Fallback xmlns="">
          <p:sp>
            <p:nvSpPr>
              <p:cNvPr id="4" name="Rectangle 3">
                <a:extLst>
                  <a:ext uri="{FF2B5EF4-FFF2-40B4-BE49-F238E27FC236}">
                    <a16:creationId xmlns:a16="http://schemas.microsoft.com/office/drawing/2014/main" id="{B65B7EF8-14EE-27CB-8A1F-0EAEEDB85FDD}"/>
                  </a:ext>
                </a:extLst>
              </p:cNvPr>
              <p:cNvSpPr>
                <a:spLocks noRot="1" noChangeAspect="1" noMove="1" noResize="1" noEditPoints="1" noAdjustHandles="1" noChangeArrowheads="1" noChangeShapeType="1" noTextEdit="1"/>
              </p:cNvSpPr>
              <p:nvPr/>
            </p:nvSpPr>
            <p:spPr>
              <a:xfrm>
                <a:off x="6542312" y="5660572"/>
                <a:ext cx="2362200" cy="921051"/>
              </a:xfrm>
              <a:prstGeom prst="rect">
                <a:avLst/>
              </a:prstGeom>
              <a:blipFill>
                <a:blip r:embed="rId4"/>
                <a:stretch>
                  <a:fillRect/>
                </a:stretch>
              </a:blipFill>
            </p:spPr>
            <p:txBody>
              <a:bodyPr/>
              <a:lstStyle/>
              <a:p>
                <a:r>
                  <a:rPr lang="fr-DZ">
                    <a:noFill/>
                  </a:rPr>
                  <a:t> </a:t>
                </a:r>
              </a:p>
            </p:txBody>
          </p:sp>
        </mc:Fallback>
      </mc:AlternateContent>
    </p:spTree>
    <p:extLst>
      <p:ext uri="{BB962C8B-B14F-4D97-AF65-F5344CB8AC3E}">
        <p14:creationId xmlns:p14="http://schemas.microsoft.com/office/powerpoint/2010/main" val="1849121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3FF81-C4A9-E7FD-33D4-293FC3C391A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DBAED31-1CDF-76B3-03AF-0E2223D826C7}"/>
              </a:ext>
            </a:extLst>
          </p:cNvPr>
          <p:cNvSpPr>
            <a:spLocks noGrp="1"/>
          </p:cNvSpPr>
          <p:nvPr>
            <p:ph type="title"/>
          </p:nvPr>
        </p:nvSpPr>
        <p:spPr>
          <a:xfrm>
            <a:off x="685800" y="753534"/>
            <a:ext cx="10820400" cy="1118809"/>
          </a:xfrm>
        </p:spPr>
        <p:txBody>
          <a:bodyPr/>
          <a:lstStyle/>
          <a:p>
            <a:pPr algn="ctr"/>
            <a:r>
              <a:rPr lang="fr-FR" sz="4800" b="1" noProof="0" dirty="0">
                <a:solidFill>
                  <a:srgbClr val="FFC000"/>
                </a:solidFill>
                <a:latin typeface="Times New Roman" panose="02020603050405020304" pitchFamily="18" charset="0"/>
                <a:cs typeface="Times New Roman" panose="02020603050405020304" pitchFamily="18" charset="0"/>
              </a:rPr>
              <a:t>Loi de coulomb</a:t>
            </a:r>
            <a:r>
              <a:rPr kumimoji="0" lang="fr-FR" sz="3200" b="1"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 👉</a:t>
            </a:r>
            <a:r>
              <a:rPr kumimoji="0" lang="fr-FR" sz="3600" b="1" i="0" u="none" strike="noStrike" kern="0" cap="none" spc="0" normalizeH="0" baseline="0" noProof="0" dirty="0">
                <a:ln>
                  <a:noFill/>
                </a:ln>
                <a:solidFill>
                  <a:srgbClr val="FFFFFF"/>
                </a:solidFill>
                <a:effectLst/>
                <a:uLnTx/>
                <a:uFillTx/>
                <a:latin typeface="Century Gothic"/>
                <a:sym typeface="Century Gothic"/>
              </a:rPr>
              <a:t> </a:t>
            </a:r>
            <a:r>
              <a:rPr kumimoji="0" lang="fr-FR" sz="3600" b="1" i="0" u="none" strike="noStrike" kern="0" cap="none" spc="0" normalizeH="0" baseline="0" noProof="0" dirty="0">
                <a:ln>
                  <a:noFill/>
                </a:ln>
                <a:solidFill>
                  <a:srgbClr val="01D17D"/>
                </a:solidFill>
                <a:effectLst/>
                <a:uLnTx/>
                <a:uFillTx/>
                <a:latin typeface="Times New Roman" panose="02020603050405020304" pitchFamily="18" charset="0"/>
                <a:cs typeface="Times New Roman" panose="02020603050405020304" pitchFamily="18" charset="0"/>
                <a:sym typeface="Century Gothic"/>
              </a:rPr>
              <a:t>"</a:t>
            </a:r>
            <a:r>
              <a:rPr kumimoji="0" lang="fr-FR" sz="3600" b="1" i="0" u="none" strike="noStrike" kern="0" cap="none" spc="0" normalizeH="0" baseline="0" noProof="0" dirty="0" err="1">
                <a:ln>
                  <a:noFill/>
                </a:ln>
                <a:solidFill>
                  <a:srgbClr val="01D17D"/>
                </a:solidFill>
                <a:effectLst/>
                <a:uLnTx/>
                <a:uFillTx/>
                <a:latin typeface="Times New Roman" panose="02020603050405020304" pitchFamily="18" charset="0"/>
                <a:cs typeface="Times New Roman" panose="02020603050405020304" pitchFamily="18" charset="0"/>
                <a:sym typeface="Century Gothic"/>
              </a:rPr>
              <a:t>Coulomb's</a:t>
            </a:r>
            <a:r>
              <a:rPr kumimoji="0" lang="fr-FR" sz="3600" b="1" i="0" u="none" strike="noStrike" kern="0" cap="none" spc="0" normalizeH="0" baseline="0" noProof="0" dirty="0">
                <a:ln>
                  <a:noFill/>
                </a:ln>
                <a:solidFill>
                  <a:srgbClr val="01D17D"/>
                </a:solidFill>
                <a:effectLst/>
                <a:uLnTx/>
                <a:uFillTx/>
                <a:latin typeface="Times New Roman" panose="02020603050405020304" pitchFamily="18" charset="0"/>
                <a:cs typeface="Times New Roman" panose="02020603050405020304" pitchFamily="18" charset="0"/>
                <a:sym typeface="Century Gothic"/>
              </a:rPr>
              <a:t> Law </a:t>
            </a:r>
            <a:endParaRPr lang="fr-FR" b="1" noProof="0" dirty="0"/>
          </a:p>
        </p:txBody>
      </p:sp>
      <p:sp>
        <p:nvSpPr>
          <p:cNvPr id="3" name="Espace réservé du texte 2">
            <a:extLst>
              <a:ext uri="{FF2B5EF4-FFF2-40B4-BE49-F238E27FC236}">
                <a16:creationId xmlns:a16="http://schemas.microsoft.com/office/drawing/2014/main" id="{73B0F57E-551B-3C6A-E4E1-12D2C7217DC3}"/>
              </a:ext>
            </a:extLst>
          </p:cNvPr>
          <p:cNvSpPr>
            <a:spLocks noGrp="1"/>
          </p:cNvSpPr>
          <p:nvPr>
            <p:ph type="body" idx="1"/>
          </p:nvPr>
        </p:nvSpPr>
        <p:spPr>
          <a:xfrm>
            <a:off x="694467" y="1872343"/>
            <a:ext cx="10820400" cy="4049485"/>
          </a:xfrm>
        </p:spPr>
        <p:txBody>
          <a:bodyPr/>
          <a:lstStyle/>
          <a:p>
            <a:pPr algn="l">
              <a:lnSpc>
                <a:spcPct val="115000"/>
              </a:lnSpc>
              <a:spcAft>
                <a:spcPts val="1333"/>
              </a:spcAft>
            </a:pPr>
            <a:r>
              <a:rPr lang="fr-FR" sz="3200" noProof="0" dirty="0">
                <a:latin typeface="Segoe UI Emoji" panose="020B0502040204020203" pitchFamily="34" charset="0"/>
                <a:ea typeface="MS Mincho" panose="02020609040205080304" pitchFamily="49" charset="-128"/>
                <a:cs typeface="Segoe UI Emoji" panose="020B0502040204020203" pitchFamily="34" charset="0"/>
              </a:rPr>
              <a:t>👉</a:t>
            </a:r>
            <a:r>
              <a:rPr lang="fr-FR" sz="3200" noProof="0" dirty="0">
                <a:latin typeface="Times New Roman" panose="02020603050405020304" pitchFamily="18" charset="0"/>
                <a:ea typeface="MS Mincho" panose="02020609040205080304" pitchFamily="49" charset="-128"/>
                <a:cs typeface="Arial" panose="020B0604020202020204" pitchFamily="34" charset="0"/>
              </a:rPr>
              <a:t> </a:t>
            </a:r>
            <a:r>
              <a:rPr lang="fr-FR" sz="3200" i="1" noProof="0" dirty="0">
                <a:latin typeface="Times New Roman" panose="02020603050405020304" pitchFamily="18" charset="0"/>
                <a:ea typeface="MS Mincho" panose="02020609040205080304" pitchFamily="49" charset="-128"/>
                <a:cs typeface="Arial" panose="020B0604020202020204" pitchFamily="34" charset="0"/>
              </a:rPr>
              <a:t>Interprétation :</a:t>
            </a:r>
            <a:br>
              <a:rPr lang="fr-FR" sz="3200" i="1" noProof="0" dirty="0">
                <a:latin typeface="Times New Roman" panose="02020603050405020304" pitchFamily="18" charset="0"/>
                <a:ea typeface="MS Mincho" panose="02020609040205080304" pitchFamily="49" charset="-128"/>
                <a:cs typeface="Arial" panose="020B0604020202020204" pitchFamily="34" charset="0"/>
              </a:rPr>
            </a:br>
            <a:r>
              <a:rPr lang="fr-FR" sz="3200" i="1" noProof="0" dirty="0">
                <a:latin typeface="Times New Roman" panose="02020603050405020304" pitchFamily="18" charset="0"/>
                <a:ea typeface="MS Mincho" panose="02020609040205080304" pitchFamily="49" charset="-128"/>
                <a:cs typeface="Arial" panose="020B0604020202020204" pitchFamily="34" charset="0"/>
              </a:rPr>
              <a:t>- Charges de même signe → force répulsive</a:t>
            </a:r>
            <a:br>
              <a:rPr lang="fr-FR" sz="3200" i="1" noProof="0" dirty="0">
                <a:latin typeface="Times New Roman" panose="02020603050405020304" pitchFamily="18" charset="0"/>
                <a:ea typeface="MS Mincho" panose="02020609040205080304" pitchFamily="49" charset="-128"/>
                <a:cs typeface="Arial" panose="020B0604020202020204" pitchFamily="34" charset="0"/>
              </a:rPr>
            </a:br>
            <a:r>
              <a:rPr lang="fr-FR" sz="3200" i="1" noProof="0" dirty="0">
                <a:latin typeface="Times New Roman" panose="02020603050405020304" pitchFamily="18" charset="0"/>
                <a:ea typeface="MS Mincho" panose="02020609040205080304" pitchFamily="49" charset="-128"/>
                <a:cs typeface="Arial" panose="020B0604020202020204" pitchFamily="34" charset="0"/>
              </a:rPr>
              <a:t>- Charges de signes opposés → force attractive</a:t>
            </a:r>
            <a:endParaRPr lang="fr-FR" sz="3200" i="1" noProof="0" dirty="0">
              <a:latin typeface="Calibri" panose="020F0502020204030204" pitchFamily="34" charset="0"/>
              <a:ea typeface="MS Mincho" panose="02020609040205080304" pitchFamily="49" charset="-128"/>
              <a:cs typeface="Arial" panose="020B0604020202020204" pitchFamily="34" charset="0"/>
            </a:endParaRPr>
          </a:p>
          <a:p>
            <a:endParaRPr lang="fr-FR" noProof="0" dirty="0"/>
          </a:p>
        </p:txBody>
      </p:sp>
      <p:pic>
        <p:nvPicPr>
          <p:cNvPr id="2050" name="Picture 2" descr="Forces résultantes de l'interaction entre deux charges ponctuelles (de... |  Download Scientific Diagram">
            <a:extLst>
              <a:ext uri="{FF2B5EF4-FFF2-40B4-BE49-F238E27FC236}">
                <a16:creationId xmlns:a16="http://schemas.microsoft.com/office/drawing/2014/main" id="{1CE59339-DD2B-8102-04AF-26A6A33C81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9772" y="3809999"/>
            <a:ext cx="5323114" cy="4049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7320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au 3">
                <a:extLst>
                  <a:ext uri="{FF2B5EF4-FFF2-40B4-BE49-F238E27FC236}">
                    <a16:creationId xmlns:a16="http://schemas.microsoft.com/office/drawing/2014/main" id="{4E2F6A51-066E-6D83-6122-200D908190D5}"/>
                  </a:ext>
                </a:extLst>
              </p:cNvPr>
              <p:cNvGraphicFramePr>
                <a:graphicFrameLocks noGrp="1"/>
              </p:cNvGraphicFramePr>
              <p:nvPr>
                <p:extLst>
                  <p:ext uri="{D42A27DB-BD31-4B8C-83A1-F6EECF244321}">
                    <p14:modId xmlns:p14="http://schemas.microsoft.com/office/powerpoint/2010/main" val="3110651057"/>
                  </p:ext>
                </p:extLst>
              </p:nvPr>
            </p:nvGraphicFramePr>
            <p:xfrm>
              <a:off x="478972" y="2002420"/>
              <a:ext cx="11440886" cy="4538327"/>
            </p:xfrm>
            <a:graphic>
              <a:graphicData uri="http://schemas.openxmlformats.org/drawingml/2006/table">
                <a:tbl>
                  <a:tblPr firstRow="1" firstCol="1" bandRow="1">
                    <a:tableStyleId>{5C22544A-7EE6-4342-B048-85BDC9FD1C3A}</a:tableStyleId>
                  </a:tblPr>
                  <a:tblGrid>
                    <a:gridCol w="3750634">
                      <a:extLst>
                        <a:ext uri="{9D8B030D-6E8A-4147-A177-3AD203B41FA5}">
                          <a16:colId xmlns:a16="http://schemas.microsoft.com/office/drawing/2014/main" val="2470040771"/>
                        </a:ext>
                      </a:extLst>
                    </a:gridCol>
                    <a:gridCol w="3845126">
                      <a:extLst>
                        <a:ext uri="{9D8B030D-6E8A-4147-A177-3AD203B41FA5}">
                          <a16:colId xmlns:a16="http://schemas.microsoft.com/office/drawing/2014/main" val="493551875"/>
                        </a:ext>
                      </a:extLst>
                    </a:gridCol>
                    <a:gridCol w="3845126">
                      <a:extLst>
                        <a:ext uri="{9D8B030D-6E8A-4147-A177-3AD203B41FA5}">
                          <a16:colId xmlns:a16="http://schemas.microsoft.com/office/drawing/2014/main" val="1095079305"/>
                        </a:ext>
                      </a:extLst>
                    </a:gridCol>
                  </a:tblGrid>
                  <a:tr h="873279">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Propriété / </a:t>
                          </a:r>
                          <a:r>
                            <a:rPr lang="fr-FR" sz="2400" kern="0" noProof="0" dirty="0" err="1">
                              <a:solidFill>
                                <a:schemeClr val="tx1"/>
                              </a:solidFill>
                              <a:effectLst/>
                              <a:latin typeface="Times New Roman" panose="02020603050405020304" pitchFamily="18" charset="0"/>
                              <a:cs typeface="Times New Roman" panose="02020603050405020304" pitchFamily="18" charset="0"/>
                            </a:rPr>
                            <a:t>Property</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Gravité / Gravity</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Électricité / </a:t>
                          </a:r>
                          <a:r>
                            <a:rPr lang="fr-FR" sz="2400" kern="0" noProof="0" dirty="0" err="1">
                              <a:solidFill>
                                <a:schemeClr val="tx1"/>
                              </a:solidFill>
                              <a:effectLst/>
                              <a:latin typeface="Times New Roman" panose="02020603050405020304" pitchFamily="18" charset="0"/>
                              <a:cs typeface="Times New Roman" panose="02020603050405020304" pitchFamily="18" charset="0"/>
                            </a:rPr>
                            <a:t>Electricity</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17516431"/>
                      </a:ext>
                    </a:extLst>
                  </a:tr>
                  <a:tr h="800695">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Type de charge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Masse (toujours +)</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Charge (+ ou −)</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31600925"/>
                      </a:ext>
                    </a:extLst>
                  </a:tr>
                  <a:tr h="800695">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Nature de la force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Toujours attractive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Attractive ou répulsive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61589620"/>
                      </a:ext>
                    </a:extLst>
                  </a:tr>
                  <a:tr h="1237078">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Constante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fr-FR" sz="2400" kern="0" noProof="0" smtClean="0">
                                    <a:solidFill>
                                      <a:schemeClr val="tx1"/>
                                    </a:solidFill>
                                    <a:effectLst/>
                                    <a:latin typeface="Cambria Math" panose="02040503050406030204" pitchFamily="18" charset="0"/>
                                  </a:rPr>
                                  <m:t>   </m:t>
                                </m:r>
                                <m:r>
                                  <a:rPr lang="fr-FR" sz="2400" kern="0" noProof="0" smtClean="0">
                                    <a:solidFill>
                                      <a:schemeClr val="tx1"/>
                                    </a:solidFill>
                                    <a:effectLst/>
                                    <a:latin typeface="Cambria Math" panose="02040503050406030204" pitchFamily="18" charset="0"/>
                                  </a:rPr>
                                  <m:t>𝐺</m:t>
                                </m:r>
                                <m:r>
                                  <a:rPr lang="fr-FR" sz="2400" kern="0" noProof="0" smtClean="0">
                                    <a:solidFill>
                                      <a:schemeClr val="tx1"/>
                                    </a:solidFill>
                                    <a:effectLst/>
                                    <a:latin typeface="Cambria Math" panose="02040503050406030204" pitchFamily="18" charset="0"/>
                                  </a:rPr>
                                  <m:t>=6.67×</m:t>
                                </m:r>
                                <m:sSup>
                                  <m:sSupPr>
                                    <m:ctrlPr>
                                      <a:rPr lang="fr-FR" sz="2400" i="1" kern="0" noProof="0" smtClean="0">
                                        <a:solidFill>
                                          <a:schemeClr val="tx1"/>
                                        </a:solidFill>
                                        <a:effectLst/>
                                        <a:latin typeface="Cambria Math" panose="02040503050406030204" pitchFamily="18" charset="0"/>
                                      </a:rPr>
                                    </m:ctrlPr>
                                  </m:sSupPr>
                                  <m:e>
                                    <m:r>
                                      <a:rPr lang="fr-FR" sz="2400" kern="0" noProof="0" smtClean="0">
                                        <a:solidFill>
                                          <a:schemeClr val="tx1"/>
                                        </a:solidFill>
                                        <a:effectLst/>
                                        <a:latin typeface="Cambria Math" panose="02040503050406030204" pitchFamily="18" charset="0"/>
                                      </a:rPr>
                                      <m:t>10</m:t>
                                    </m:r>
                                  </m:e>
                                  <m:sup>
                                    <m:r>
                                      <a:rPr lang="fr-FR" sz="2400" kern="0" noProof="0" smtClean="0">
                                        <a:solidFill>
                                          <a:schemeClr val="tx1"/>
                                        </a:solidFill>
                                        <a:effectLst/>
                                        <a:latin typeface="Cambria Math" panose="02040503050406030204" pitchFamily="18" charset="0"/>
                                      </a:rPr>
                                      <m:t>−11</m:t>
                                    </m:r>
                                  </m:sup>
                                </m:sSup>
                              </m:oMath>
                            </m:oMathPara>
                          </a14:m>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fr-FR" sz="2400" kern="0" noProof="0" smtClean="0">
                                    <a:solidFill>
                                      <a:schemeClr val="tx1"/>
                                    </a:solidFill>
                                    <a:effectLst/>
                                    <a:latin typeface="Cambria Math" panose="02040503050406030204" pitchFamily="18" charset="0"/>
                                  </a:rPr>
                                  <m:t>     </m:t>
                                </m:r>
                                <m:r>
                                  <a:rPr lang="fr-FR" sz="2400" kern="0" noProof="0" smtClean="0">
                                    <a:solidFill>
                                      <a:schemeClr val="tx1"/>
                                    </a:solidFill>
                                    <a:effectLst/>
                                    <a:latin typeface="Cambria Math" panose="02040503050406030204" pitchFamily="18" charset="0"/>
                                  </a:rPr>
                                  <m:t>𝑘</m:t>
                                </m:r>
                                <m:r>
                                  <a:rPr lang="fr-FR" sz="2400" kern="0" noProof="0" smtClean="0">
                                    <a:solidFill>
                                      <a:schemeClr val="tx1"/>
                                    </a:solidFill>
                                    <a:effectLst/>
                                    <a:latin typeface="Cambria Math" panose="02040503050406030204" pitchFamily="18" charset="0"/>
                                  </a:rPr>
                                  <m:t>=9×</m:t>
                                </m:r>
                                <m:sSup>
                                  <m:sSupPr>
                                    <m:ctrlPr>
                                      <a:rPr lang="fr-FR" sz="2400" i="1" kern="0" noProof="0" smtClean="0">
                                        <a:solidFill>
                                          <a:schemeClr val="tx1"/>
                                        </a:solidFill>
                                        <a:effectLst/>
                                        <a:latin typeface="Cambria Math" panose="02040503050406030204" pitchFamily="18" charset="0"/>
                                      </a:rPr>
                                    </m:ctrlPr>
                                  </m:sSupPr>
                                  <m:e>
                                    <m:r>
                                      <a:rPr lang="fr-FR" sz="2400" kern="0" noProof="0" smtClean="0">
                                        <a:solidFill>
                                          <a:schemeClr val="tx1"/>
                                        </a:solidFill>
                                        <a:effectLst/>
                                        <a:latin typeface="Cambria Math" panose="02040503050406030204" pitchFamily="18" charset="0"/>
                                      </a:rPr>
                                      <m:t>10</m:t>
                                    </m:r>
                                  </m:e>
                                  <m:sup>
                                    <m:r>
                                      <a:rPr lang="fr-FR" sz="2400" kern="0" noProof="0" smtClean="0">
                                        <a:solidFill>
                                          <a:schemeClr val="tx1"/>
                                        </a:solidFill>
                                        <a:effectLst/>
                                        <a:latin typeface="Cambria Math" panose="02040503050406030204" pitchFamily="18" charset="0"/>
                                      </a:rPr>
                                      <m:t>9</m:t>
                                    </m:r>
                                  </m:sup>
                                </m:sSup>
                              </m:oMath>
                            </m:oMathPara>
                          </a14:m>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00244316"/>
                      </a:ext>
                    </a:extLst>
                  </a:tr>
                  <a:tr h="800695">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Intensité relative « petits particules »            </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Très faible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Très forte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62108907"/>
                      </a:ext>
                    </a:extLst>
                  </a:tr>
                </a:tbl>
              </a:graphicData>
            </a:graphic>
          </p:graphicFrame>
        </mc:Choice>
        <mc:Fallback xmlns="">
          <p:graphicFrame>
            <p:nvGraphicFramePr>
              <p:cNvPr id="4" name="Tableau 3">
                <a:extLst>
                  <a:ext uri="{FF2B5EF4-FFF2-40B4-BE49-F238E27FC236}">
                    <a16:creationId xmlns:a16="http://schemas.microsoft.com/office/drawing/2014/main" id="{4E2F6A51-066E-6D83-6122-200D908190D5}"/>
                  </a:ext>
                </a:extLst>
              </p:cNvPr>
              <p:cNvGraphicFramePr>
                <a:graphicFrameLocks noGrp="1"/>
              </p:cNvGraphicFramePr>
              <p:nvPr>
                <p:extLst>
                  <p:ext uri="{D42A27DB-BD31-4B8C-83A1-F6EECF244321}">
                    <p14:modId xmlns:p14="http://schemas.microsoft.com/office/powerpoint/2010/main" val="3110651057"/>
                  </p:ext>
                </p:extLst>
              </p:nvPr>
            </p:nvGraphicFramePr>
            <p:xfrm>
              <a:off x="478972" y="2002420"/>
              <a:ext cx="11440886" cy="4538327"/>
            </p:xfrm>
            <a:graphic>
              <a:graphicData uri="http://schemas.openxmlformats.org/drawingml/2006/table">
                <a:tbl>
                  <a:tblPr firstRow="1" firstCol="1" bandRow="1">
                    <a:tableStyleId>{5C22544A-7EE6-4342-B048-85BDC9FD1C3A}</a:tableStyleId>
                  </a:tblPr>
                  <a:tblGrid>
                    <a:gridCol w="3750634">
                      <a:extLst>
                        <a:ext uri="{9D8B030D-6E8A-4147-A177-3AD203B41FA5}">
                          <a16:colId xmlns:a16="http://schemas.microsoft.com/office/drawing/2014/main" val="2470040771"/>
                        </a:ext>
                      </a:extLst>
                    </a:gridCol>
                    <a:gridCol w="3845126">
                      <a:extLst>
                        <a:ext uri="{9D8B030D-6E8A-4147-A177-3AD203B41FA5}">
                          <a16:colId xmlns:a16="http://schemas.microsoft.com/office/drawing/2014/main" val="493551875"/>
                        </a:ext>
                      </a:extLst>
                    </a:gridCol>
                    <a:gridCol w="3845126">
                      <a:extLst>
                        <a:ext uri="{9D8B030D-6E8A-4147-A177-3AD203B41FA5}">
                          <a16:colId xmlns:a16="http://schemas.microsoft.com/office/drawing/2014/main" val="1095079305"/>
                        </a:ext>
                      </a:extLst>
                    </a:gridCol>
                  </a:tblGrid>
                  <a:tr h="873279">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Propriété / </a:t>
                          </a:r>
                          <a:r>
                            <a:rPr lang="fr-FR" sz="2400" kern="0" noProof="0" dirty="0" err="1">
                              <a:solidFill>
                                <a:schemeClr val="tx1"/>
                              </a:solidFill>
                              <a:effectLst/>
                              <a:latin typeface="Times New Roman" panose="02020603050405020304" pitchFamily="18" charset="0"/>
                              <a:cs typeface="Times New Roman" panose="02020603050405020304" pitchFamily="18" charset="0"/>
                            </a:rPr>
                            <a:t>Property</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Gravité / Gravity</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Électricité / </a:t>
                          </a:r>
                          <a:r>
                            <a:rPr lang="fr-FR" sz="2400" kern="0" noProof="0" dirty="0" err="1">
                              <a:solidFill>
                                <a:schemeClr val="tx1"/>
                              </a:solidFill>
                              <a:effectLst/>
                              <a:latin typeface="Times New Roman" panose="02020603050405020304" pitchFamily="18" charset="0"/>
                              <a:cs typeface="Times New Roman" panose="02020603050405020304" pitchFamily="18" charset="0"/>
                            </a:rPr>
                            <a:t>Electricity</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17516431"/>
                      </a:ext>
                    </a:extLst>
                  </a:tr>
                  <a:tr h="800695">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Type de charge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Masse (toujours +)</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Charge (+ ou −)</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31600925"/>
                      </a:ext>
                    </a:extLst>
                  </a:tr>
                  <a:tr h="800695">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Nature de la force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Toujours attractive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Attractive ou répulsive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61589620"/>
                      </a:ext>
                    </a:extLst>
                  </a:tr>
                  <a:tr h="1237078">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Constante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endParaRPr lang="fr-DZ"/>
                        </a:p>
                      </a:txBody>
                      <a:tcPr marL="9525" marR="9525" marT="9525" marB="9525" anchor="ctr">
                        <a:blipFill>
                          <a:blip r:embed="rId2"/>
                          <a:stretch>
                            <a:fillRect l="-97781" t="-200493" r="-100634" b="-81281"/>
                          </a:stretch>
                        </a:blipFill>
                      </a:tcPr>
                    </a:tc>
                    <a:tc>
                      <a:txBody>
                        <a:bodyPr/>
                        <a:lstStyle/>
                        <a:p>
                          <a:endParaRPr lang="fr-DZ"/>
                        </a:p>
                      </a:txBody>
                      <a:tcPr marL="9525" marR="9525" marT="9525" marB="9525" anchor="ctr">
                        <a:blipFill>
                          <a:blip r:embed="rId2"/>
                          <a:stretch>
                            <a:fillRect l="-197781" t="-200493" r="-634" b="-81281"/>
                          </a:stretch>
                        </a:blipFill>
                      </a:tcPr>
                    </a:tc>
                    <a:extLst>
                      <a:ext uri="{0D108BD9-81ED-4DB2-BD59-A6C34878D82A}">
                        <a16:rowId xmlns:a16="http://schemas.microsoft.com/office/drawing/2014/main" val="2600244316"/>
                      </a:ext>
                    </a:extLst>
                  </a:tr>
                  <a:tr h="826580">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Intensité relative « petits particules »            </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Très faible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FR" sz="2400" kern="0" noProof="0" dirty="0">
                              <a:solidFill>
                                <a:schemeClr val="tx1"/>
                              </a:solidFill>
                              <a:effectLst/>
                              <a:latin typeface="Times New Roman" panose="02020603050405020304" pitchFamily="18" charset="0"/>
                              <a:cs typeface="Times New Roman" panose="02020603050405020304" pitchFamily="18" charset="0"/>
                            </a:rPr>
                            <a:t>               Très forte</a:t>
                          </a:r>
                          <a:endParaRPr lang="fr-FR" sz="2400" kern="10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62108907"/>
                      </a:ext>
                    </a:extLst>
                  </a:tr>
                </a:tbl>
              </a:graphicData>
            </a:graphic>
          </p:graphicFrame>
        </mc:Fallback>
      </mc:AlternateContent>
      <p:sp>
        <p:nvSpPr>
          <p:cNvPr id="5" name="Rectangle 1">
            <a:extLst>
              <a:ext uri="{FF2B5EF4-FFF2-40B4-BE49-F238E27FC236}">
                <a16:creationId xmlns:a16="http://schemas.microsoft.com/office/drawing/2014/main" id="{2CC77A7F-0BFF-58EC-6301-2F3E63867BBD}"/>
              </a:ext>
            </a:extLst>
          </p:cNvPr>
          <p:cNvSpPr>
            <a:spLocks noChangeArrowheads="1"/>
          </p:cNvSpPr>
          <p:nvPr/>
        </p:nvSpPr>
        <p:spPr bwMode="auto">
          <a:xfrm>
            <a:off x="740780" y="343138"/>
            <a:ext cx="1089604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sz="3200" b="1" i="0" u="none" strike="noStrike" cap="none" normalizeH="0" baseline="0" noProof="0" dirty="0">
                <a:ln>
                  <a:noFill/>
                </a:ln>
                <a:solidFill>
                  <a:srgbClr val="FFC000"/>
                </a:solidFill>
                <a:effectLst/>
                <a:latin typeface="Times New Roman" panose="02020603050405020304" pitchFamily="18" charset="0"/>
                <a:ea typeface="Times New Roman" panose="02020603050405020304" pitchFamily="18" charset="0"/>
                <a:cs typeface="Times New Roman" panose="02020603050405020304" pitchFamily="18" charset="0"/>
              </a:rPr>
              <a:t>Comparaison avec la gravitation </a:t>
            </a:r>
            <a:endParaRPr lang="fr-FR" sz="3200" b="1"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sz="3200" b="1"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a:t>
            </a:r>
            <a:r>
              <a:rPr kumimoji="0" lang="fr-FR" sz="3200" b="1" i="0" u="none" strike="noStrike" cap="none" normalizeH="0" baseline="0" noProof="0" dirty="0">
                <a:ln>
                  <a:noFill/>
                </a:ln>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sz="3200" b="1" i="0" u="none" strike="noStrike" cap="none" normalizeH="0" baseline="0" noProof="0" dirty="0" err="1">
                <a:ln>
                  <a:noFill/>
                </a:ln>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Comparison</a:t>
            </a:r>
            <a:r>
              <a:rPr kumimoji="0" lang="fr-FR" sz="3200" b="1" i="0" u="none" strike="noStrike" cap="none" normalizeH="0" baseline="0" noProof="0" dirty="0">
                <a:ln>
                  <a:noFill/>
                </a:ln>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sz="3200" b="1" i="0" u="none" strike="noStrike" cap="none" normalizeH="0" baseline="0" noProof="0" dirty="0" err="1">
                <a:ln>
                  <a:noFill/>
                </a:ln>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with</a:t>
            </a:r>
            <a:r>
              <a:rPr kumimoji="0" lang="fr-FR" sz="3200" b="1" i="0" u="none" strike="noStrike" cap="none" normalizeH="0" baseline="0" noProof="0" dirty="0">
                <a:ln>
                  <a:noFill/>
                </a:ln>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Gravitation</a:t>
            </a:r>
            <a:endParaRPr kumimoji="0" lang="fr-FR" sz="3200" b="0" i="0" u="none" strike="noStrike" cap="none" normalizeH="0" baseline="0" noProof="0" dirty="0">
              <a:ln>
                <a:noFill/>
              </a:ln>
              <a:solidFill>
                <a:srgbClr val="00B05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2232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E2FAE8-713F-26D1-FFE1-B062FFB3A703}"/>
              </a:ext>
            </a:extLst>
          </p:cNvPr>
          <p:cNvSpPr>
            <a:spLocks noGrp="1"/>
          </p:cNvSpPr>
          <p:nvPr>
            <p:ph type="title"/>
          </p:nvPr>
        </p:nvSpPr>
        <p:spPr>
          <a:xfrm>
            <a:off x="677132" y="108858"/>
            <a:ext cx="10820400" cy="1447800"/>
          </a:xfrm>
        </p:spPr>
        <p:txBody>
          <a:bodyPr>
            <a:noAutofit/>
          </a:bodyPr>
          <a:lstStyle/>
          <a:p>
            <a:pPr algn="ctr"/>
            <a: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3.La superposition des forces :</a:t>
            </a:r>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kumimoji="0" lang="fr-FR" sz="3200" b="1"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 👉</a:t>
            </a:r>
            <a:r>
              <a:rPr lang="fr-FR" sz="2000" noProof="0" dirty="0"/>
              <a:t> </a:t>
            </a:r>
            <a:r>
              <a:rPr lang="fr-FR" b="1" noProof="0" dirty="0">
                <a:solidFill>
                  <a:schemeClr val="accent1"/>
                </a:solidFill>
                <a:latin typeface="Times New Roman" panose="02020603050405020304" pitchFamily="18" charset="0"/>
                <a:cs typeface="Times New Roman" panose="02020603050405020304" pitchFamily="18" charset="0"/>
              </a:rPr>
              <a:t>Superposition of forces:</a:t>
            </a:r>
            <a:r>
              <a:rPr lang="fr-FR" sz="6600" b="1" noProof="0"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fr-FR" sz="3733" b="1" noProof="0" dirty="0">
              <a:solidFill>
                <a:schemeClr val="accent1"/>
              </a:solidFill>
              <a:latin typeface="Times New Roman" panose="02020603050405020304" pitchFamily="18" charset="0"/>
              <a:cs typeface="Times New Roman" panose="02020603050405020304" pitchFamily="18" charset="0"/>
            </a:endParaRPr>
          </a:p>
        </p:txBody>
      </p:sp>
      <p:sp>
        <p:nvSpPr>
          <p:cNvPr id="3" name="Espace réservé du texte 2">
            <a:extLst>
              <a:ext uri="{FF2B5EF4-FFF2-40B4-BE49-F238E27FC236}">
                <a16:creationId xmlns:a16="http://schemas.microsoft.com/office/drawing/2014/main" id="{022BC3E1-BBAF-0496-EB17-199F343ED6A7}"/>
              </a:ext>
            </a:extLst>
          </p:cNvPr>
          <p:cNvSpPr>
            <a:spLocks noGrp="1"/>
          </p:cNvSpPr>
          <p:nvPr>
            <p:ph type="body" idx="1"/>
          </p:nvPr>
        </p:nvSpPr>
        <p:spPr>
          <a:xfrm>
            <a:off x="677132" y="1970313"/>
            <a:ext cx="10959695" cy="4648202"/>
          </a:xfrm>
        </p:spPr>
        <p:txBody>
          <a:bodyPr>
            <a:normAutofit/>
          </a:bodyPr>
          <a:lstStyle/>
          <a:p>
            <a:pPr algn="l">
              <a:lnSpc>
                <a:spcPct val="115000"/>
              </a:lnSpc>
              <a:spcAft>
                <a:spcPts val="1067"/>
              </a:spcAft>
            </a:pPr>
            <a:r>
              <a:rPr lang="fr-FR" sz="3733" b="1" i="1" u="sng" noProof="0" dirty="0">
                <a:solidFill>
                  <a:srgbClr val="FFC000"/>
                </a:solidFill>
                <a:latin typeface="Cambria Math" panose="02040503050406030204" pitchFamily="18" charset="0"/>
                <a:ea typeface="Times New Roman" panose="02020603050405020304" pitchFamily="18" charset="0"/>
                <a:cs typeface="Times New Roman" panose="02020603050405020304" pitchFamily="18" charset="0"/>
              </a:rPr>
              <a:t>Principe de superposition : </a:t>
            </a:r>
            <a:r>
              <a:rPr lang="fr-FR" sz="3733" b="1" i="1" noProof="0" dirty="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a:t>La force totale exercée</a:t>
            </a:r>
          </a:p>
          <a:p>
            <a:pPr algn="l">
              <a:lnSpc>
                <a:spcPct val="115000"/>
              </a:lnSpc>
              <a:spcAft>
                <a:spcPts val="1067"/>
              </a:spcAft>
            </a:pPr>
            <a:r>
              <a:rPr lang="fr-FR" sz="3733" b="1" i="1" noProof="0" dirty="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a:t>sur une charge est la </a:t>
            </a:r>
            <a:r>
              <a:rPr lang="fr-FR" sz="3733" b="1" i="1" noProof="0" dirty="0">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a:t>somme vectorielle </a:t>
            </a:r>
            <a:r>
              <a:rPr lang="fr-FR" sz="3733" b="1" i="1" noProof="0" dirty="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a:t>des forces</a:t>
            </a:r>
          </a:p>
          <a:p>
            <a:pPr algn="l">
              <a:lnSpc>
                <a:spcPct val="115000"/>
              </a:lnSpc>
              <a:spcAft>
                <a:spcPts val="1067"/>
              </a:spcAft>
            </a:pPr>
            <a:r>
              <a:rPr lang="fr-FR" sz="3733" b="1" i="1" noProof="0" dirty="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a:t>produites par chacune des autres charges prises</a:t>
            </a:r>
          </a:p>
          <a:p>
            <a:pPr algn="l">
              <a:lnSpc>
                <a:spcPct val="115000"/>
              </a:lnSpc>
              <a:spcAft>
                <a:spcPts val="1067"/>
              </a:spcAft>
            </a:pPr>
            <a:r>
              <a:rPr lang="fr-FR" sz="3733" b="1" i="1" noProof="0" dirty="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a:t>individuellement.</a:t>
            </a:r>
          </a:p>
          <a:p>
            <a:pPr algn="ctr">
              <a:lnSpc>
                <a:spcPct val="115000"/>
              </a:lnSpc>
              <a:spcAft>
                <a:spcPts val="1067"/>
              </a:spcAft>
            </a:pPr>
            <a:endParaRPr lang="fr-FR" sz="2400" b="1" kern="100" noProof="0" dirty="0">
              <a:latin typeface="Aptos" panose="020B0004020202020204" pitchFamily="34" charset="0"/>
              <a:ea typeface="Aptos" panose="020B0004020202020204" pitchFamily="34" charset="0"/>
              <a:cs typeface="Arial" panose="020B0604020202020204" pitchFamily="34" charset="0"/>
            </a:endParaRPr>
          </a:p>
          <a:p>
            <a:pPr algn="l"/>
            <a:endParaRPr lang="fr-FR" noProof="0" dirty="0"/>
          </a:p>
        </p:txBody>
      </p:sp>
      <mc:AlternateContent xmlns:mc="http://schemas.openxmlformats.org/markup-compatibility/2006" xmlns:a14="http://schemas.microsoft.com/office/drawing/2010/main">
        <mc:Choice Requires="a14">
          <p:sp>
            <p:nvSpPr>
              <p:cNvPr id="4" name="Rectangle : coins arrondis 3">
                <a:extLst>
                  <a:ext uri="{FF2B5EF4-FFF2-40B4-BE49-F238E27FC236}">
                    <a16:creationId xmlns:a16="http://schemas.microsoft.com/office/drawing/2014/main" id="{63FD827E-FF9F-D466-4318-CBB627994989}"/>
                  </a:ext>
                </a:extLst>
              </p:cNvPr>
              <p:cNvSpPr/>
              <p:nvPr/>
            </p:nvSpPr>
            <p:spPr>
              <a:xfrm>
                <a:off x="4887685" y="4865916"/>
                <a:ext cx="3439886" cy="124097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𝑭</m:t>
                              </m:r>
                            </m:e>
                            <m:sub>
                              <m: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𝒕𝒐𝒕</m:t>
                              </m:r>
                            </m:sub>
                          </m:sSub>
                        </m:e>
                      </m:acc>
                      <m: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subSup"/>
                          <m:ctrlP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𝒊</m:t>
                          </m:r>
                          <m: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m:t>
                          </m:r>
                          <m: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𝟎</m:t>
                          </m:r>
                        </m:sub>
                        <m:sup>
                          <m: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𝒏</m:t>
                          </m:r>
                        </m:sup>
                        <m:e>
                          <m:sSub>
                            <m:sSubPr>
                              <m:ctrlP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𝑭</m:t>
                                  </m:r>
                                </m:e>
                              </m:acc>
                            </m:e>
                            <m:sub>
                              <m:r>
                                <a:rPr lang="fr-FR" sz="3600"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𝒊</m:t>
                              </m:r>
                            </m:sub>
                          </m:sSub>
                        </m:e>
                      </m:nary>
                    </m:oMath>
                  </m:oMathPara>
                </a14:m>
                <a:endParaRPr lang="fr-FR" noProof="0" dirty="0">
                  <a:ln w="0"/>
                  <a:solidFill>
                    <a:schemeClr val="tx1"/>
                  </a:solidFill>
                  <a:effectLst>
                    <a:outerShdw blurRad="38100" dist="19050" dir="2700000" algn="tl" rotWithShape="0">
                      <a:schemeClr val="dk1">
                        <a:alpha val="40000"/>
                      </a:schemeClr>
                    </a:outerShdw>
                  </a:effectLst>
                </a:endParaRPr>
              </a:p>
            </p:txBody>
          </p:sp>
        </mc:Choice>
        <mc:Fallback xmlns="">
          <p:sp>
            <p:nvSpPr>
              <p:cNvPr id="4" name="Rectangle : coins arrondis 3">
                <a:extLst>
                  <a:ext uri="{FF2B5EF4-FFF2-40B4-BE49-F238E27FC236}">
                    <a16:creationId xmlns:a16="http://schemas.microsoft.com/office/drawing/2014/main" id="{63FD827E-FF9F-D466-4318-CBB627994989}"/>
                  </a:ext>
                </a:extLst>
              </p:cNvPr>
              <p:cNvSpPr>
                <a:spLocks noRot="1" noChangeAspect="1" noMove="1" noResize="1" noEditPoints="1" noAdjustHandles="1" noChangeArrowheads="1" noChangeShapeType="1" noTextEdit="1"/>
              </p:cNvSpPr>
              <p:nvPr/>
            </p:nvSpPr>
            <p:spPr>
              <a:xfrm>
                <a:off x="4887685" y="4865916"/>
                <a:ext cx="3439886" cy="1240972"/>
              </a:xfrm>
              <a:prstGeom prst="roundRect">
                <a:avLst/>
              </a:prstGeom>
              <a:blipFill>
                <a:blip r:embed="rId2"/>
                <a:stretch>
                  <a:fillRect/>
                </a:stretch>
              </a:blipFill>
            </p:spPr>
            <p:txBody>
              <a:bodyPr/>
              <a:lstStyle/>
              <a:p>
                <a:r>
                  <a:rPr lang="fr-DZ">
                    <a:noFill/>
                  </a:rPr>
                  <a:t> </a:t>
                </a:r>
              </a:p>
            </p:txBody>
          </p:sp>
        </mc:Fallback>
      </mc:AlternateContent>
    </p:spTree>
    <p:extLst>
      <p:ext uri="{BB962C8B-B14F-4D97-AF65-F5344CB8AC3E}">
        <p14:creationId xmlns:p14="http://schemas.microsoft.com/office/powerpoint/2010/main" val="3544003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5BE2F5-7E90-7922-5DE1-C4AED613597E}"/>
              </a:ext>
            </a:extLst>
          </p:cNvPr>
          <p:cNvSpPr>
            <a:spLocks noGrp="1"/>
          </p:cNvSpPr>
          <p:nvPr>
            <p:ph type="title"/>
          </p:nvPr>
        </p:nvSpPr>
        <p:spPr>
          <a:xfrm>
            <a:off x="119743" y="0"/>
            <a:ext cx="12072258" cy="1709133"/>
          </a:xfrm>
        </p:spPr>
        <p:txBody>
          <a:bodyPr>
            <a:normAutofit fontScale="90000"/>
          </a:bodyPr>
          <a:lstStyle/>
          <a:p>
            <a:pPr algn="l"/>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br>
              <a:rPr lang="fr-FR" sz="42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3.La superposition des forces </a:t>
            </a:r>
            <a:r>
              <a:rPr kumimoji="0" lang="fr-FR" sz="3600" b="0"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 </a:t>
            </a:r>
            <a:r>
              <a:rPr lang="fr-FR" b="1" noProof="0" dirty="0">
                <a:solidFill>
                  <a:srgbClr val="00B050"/>
                </a:solidFill>
                <a:latin typeface="Times New Roman" panose="02020603050405020304" pitchFamily="18" charset="0"/>
                <a:cs typeface="Times New Roman" panose="02020603050405020304" pitchFamily="18" charset="0"/>
              </a:rPr>
              <a:t>The superposition of forces</a:t>
            </a:r>
            <a:br>
              <a:rPr lang="fr-FR" b="1"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br>
            <a:r>
              <a:rPr lang="fr-FR" b="1"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   </a:t>
            </a:r>
            <a:br>
              <a:rPr lang="fr-FR" b="1"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br>
            <a:r>
              <a:rPr lang="fr-FR" b="1"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b="1" i="1" noProof="0" dirty="0">
                <a:solidFill>
                  <a:srgbClr val="92D050"/>
                </a:solidFill>
                <a:latin typeface="Times New Roman" panose="02020603050405020304" pitchFamily="18" charset="0"/>
                <a:ea typeface="Times New Roman" panose="02020603050405020304" pitchFamily="18" charset="0"/>
                <a:cs typeface="Times New Roman" panose="02020603050405020304" pitchFamily="18" charset="0"/>
              </a:rPr>
              <a:t>Application </a:t>
            </a:r>
            <a:r>
              <a:rPr lang="fr-FR" sz="4900" b="1" i="1" noProof="0" dirty="0">
                <a:solidFill>
                  <a:srgbClr val="92D050"/>
                </a:solidFill>
                <a:latin typeface="Times New Roman" panose="02020603050405020304" pitchFamily="18" charset="0"/>
                <a:ea typeface="Times New Roman" panose="02020603050405020304" pitchFamily="18" charset="0"/>
                <a:cs typeface="Times New Roman" panose="02020603050405020304" pitchFamily="18" charset="0"/>
              </a:rPr>
              <a:t>:</a:t>
            </a:r>
            <a:endParaRPr lang="fr-FR" i="1" noProof="0" dirty="0">
              <a:solidFill>
                <a:srgbClr val="92D050"/>
              </a:solidFill>
              <a:latin typeface="Times New Roman" panose="02020603050405020304" pitchFamily="18" charset="0"/>
              <a:cs typeface="Times New Roman" panose="02020603050405020304" pitchFamily="18" charset="0"/>
            </a:endParaRPr>
          </a:p>
        </p:txBody>
      </p:sp>
      <p:sp>
        <p:nvSpPr>
          <p:cNvPr id="3" name="Espace réservé du texte 2">
            <a:extLst>
              <a:ext uri="{FF2B5EF4-FFF2-40B4-BE49-F238E27FC236}">
                <a16:creationId xmlns:a16="http://schemas.microsoft.com/office/drawing/2014/main" id="{76911CAE-4D0D-21DF-58D0-D3815C99948D}"/>
              </a:ext>
            </a:extLst>
          </p:cNvPr>
          <p:cNvSpPr>
            <a:spLocks noGrp="1"/>
          </p:cNvSpPr>
          <p:nvPr>
            <p:ph type="body" idx="1"/>
          </p:nvPr>
        </p:nvSpPr>
        <p:spPr>
          <a:xfrm>
            <a:off x="694467" y="1611086"/>
            <a:ext cx="10820400" cy="4493381"/>
          </a:xfrm>
        </p:spPr>
        <p:txBody>
          <a:bodyPr>
            <a:normAutofit/>
          </a:bodyPr>
          <a:lstStyle/>
          <a:p>
            <a:pPr marL="0" indent="0" algn="l">
              <a:lnSpc>
                <a:spcPct val="115000"/>
              </a:lnSpc>
              <a:spcAft>
                <a:spcPts val="1067"/>
              </a:spcAft>
              <a:buSzPts val="1000"/>
              <a:tabLst>
                <a:tab pos="609585" algn="l"/>
              </a:tabLst>
            </a:pPr>
            <a:r>
              <a:rPr lang="fr-FR" sz="3600" noProof="0" dirty="0">
                <a:latin typeface="Segoe UI Emoji" panose="020B0502040204020203" pitchFamily="34" charset="0"/>
                <a:ea typeface="Times New Roman" panose="02020603050405020304" pitchFamily="18" charset="0"/>
                <a:cs typeface="Segoe UI Emoji" panose="020B0502040204020203" pitchFamily="34" charset="0"/>
              </a:rPr>
              <a:t>👉</a:t>
            </a:r>
            <a:r>
              <a:rPr lang="fr-FR" sz="3600" b="1" i="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Forces colinéaires </a:t>
            </a:r>
            <a:r>
              <a:rPr lang="fr-FR" sz="3600" noProof="0" dirty="0">
                <a:solidFill>
                  <a:schemeClr val="accent6"/>
                </a:solidFill>
              </a:rPr>
              <a:t>→</a:t>
            </a:r>
            <a:r>
              <a:rPr lang="fr-FR" sz="3600" noProof="0" dirty="0"/>
              <a:t> </a:t>
            </a:r>
            <a:r>
              <a:rPr lang="fr-FR" sz="3600" b="1" i="1" noProof="0" dirty="0" err="1">
                <a:solidFill>
                  <a:schemeClr val="accent1"/>
                </a:solidFill>
                <a:latin typeface="Times New Roman" panose="02020603050405020304" pitchFamily="18" charset="0"/>
                <a:cs typeface="Times New Roman" panose="02020603050405020304" pitchFamily="18" charset="0"/>
              </a:rPr>
              <a:t>Colinear</a:t>
            </a:r>
            <a:r>
              <a:rPr lang="fr-FR" sz="3600" b="1" i="1" noProof="0" dirty="0">
                <a:solidFill>
                  <a:schemeClr val="accent1"/>
                </a:solidFill>
                <a:latin typeface="Times New Roman" panose="02020603050405020304" pitchFamily="18" charset="0"/>
                <a:cs typeface="Times New Roman" panose="02020603050405020304" pitchFamily="18" charset="0"/>
              </a:rPr>
              <a:t> forces                    </a:t>
            </a:r>
            <a:r>
              <a:rPr lang="fr-FR" sz="3600" i="1" noProof="0" dirty="0">
                <a:latin typeface="Times New Roman" panose="02020603050405020304" pitchFamily="18" charset="0"/>
                <a:ea typeface="Times New Roman" panose="02020603050405020304" pitchFamily="18" charset="0"/>
                <a:cs typeface="Arial" panose="020B0604020202020204" pitchFamily="34" charset="0"/>
              </a:rPr>
              <a:t>(sur </a:t>
            </a:r>
            <a:r>
              <a:rPr lang="fr-FR" sz="3600" i="1" u="sng" noProof="0" dirty="0">
                <a:latin typeface="Times New Roman" panose="02020603050405020304" pitchFamily="18" charset="0"/>
                <a:ea typeface="Times New Roman" panose="02020603050405020304" pitchFamily="18" charset="0"/>
                <a:cs typeface="Arial" panose="020B0604020202020204" pitchFamily="34" charset="0"/>
              </a:rPr>
              <a:t>la même droite</a:t>
            </a:r>
            <a:r>
              <a:rPr lang="fr-FR" sz="3600" i="1" noProof="0" dirty="0">
                <a:latin typeface="Times New Roman" panose="02020603050405020304" pitchFamily="18" charset="0"/>
                <a:ea typeface="Times New Roman" panose="02020603050405020304" pitchFamily="18" charset="0"/>
                <a:cs typeface="Arial" panose="020B0604020202020204" pitchFamily="34" charset="0"/>
              </a:rPr>
              <a:t>), </a:t>
            </a:r>
            <a:r>
              <a:rPr lang="fr-FR" sz="3600" noProof="0" dirty="0">
                <a:latin typeface="Times New Roman" panose="02020603050405020304" pitchFamily="18" charset="0"/>
                <a:ea typeface="Times New Roman" panose="02020603050405020304" pitchFamily="18" charset="0"/>
                <a:cs typeface="Arial" panose="020B0604020202020204" pitchFamily="34" charset="0"/>
              </a:rPr>
              <a:t>on additionne algébriquement les valeurs (attention aux signes).</a:t>
            </a:r>
          </a:p>
          <a:p>
            <a:endParaRPr lang="fr-FR" noProof="0" dirty="0"/>
          </a:p>
        </p:txBody>
      </p:sp>
      <p:pic>
        <p:nvPicPr>
          <p:cNvPr id="4" name="Image 3">
            <a:extLst>
              <a:ext uri="{FF2B5EF4-FFF2-40B4-BE49-F238E27FC236}">
                <a16:creationId xmlns:a16="http://schemas.microsoft.com/office/drawing/2014/main" id="{150A0FB4-9DDA-DB0B-9060-3EDD8158ADCF}"/>
              </a:ext>
            </a:extLst>
          </p:cNvPr>
          <p:cNvPicPr>
            <a:picLocks noChangeAspect="1"/>
          </p:cNvPicPr>
          <p:nvPr/>
        </p:nvPicPr>
        <p:blipFill>
          <a:blip r:embed="rId2"/>
          <a:stretch>
            <a:fillRect/>
          </a:stretch>
        </p:blipFill>
        <p:spPr>
          <a:xfrm>
            <a:off x="3483428" y="3755571"/>
            <a:ext cx="5802994" cy="2264228"/>
          </a:xfrm>
          <a:prstGeom prst="rect">
            <a:avLst/>
          </a:prstGeom>
        </p:spPr>
      </p:pic>
    </p:spTree>
    <p:extLst>
      <p:ext uri="{BB962C8B-B14F-4D97-AF65-F5344CB8AC3E}">
        <p14:creationId xmlns:p14="http://schemas.microsoft.com/office/powerpoint/2010/main" val="1580238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24BB5EE2-049E-AA46-69C3-C760D2921AC4}"/>
              </a:ext>
            </a:extLst>
          </p:cNvPr>
          <p:cNvSpPr>
            <a:spLocks noGrp="1"/>
          </p:cNvSpPr>
          <p:nvPr>
            <p:ph type="body" idx="1"/>
          </p:nvPr>
        </p:nvSpPr>
        <p:spPr>
          <a:xfrm>
            <a:off x="0" y="0"/>
            <a:ext cx="12192000" cy="6858000"/>
          </a:xfrm>
          <a:solidFill>
            <a:srgbClr val="002060"/>
          </a:solidFill>
          <a:ln>
            <a:solidFill>
              <a:schemeClr val="tx1"/>
            </a:solidFill>
          </a:ln>
        </p:spPr>
        <p:txBody>
          <a:bodyPr>
            <a:normAutofit/>
          </a:bodyPr>
          <a:lstStyle/>
          <a:p>
            <a:pPr algn="l">
              <a:lnSpc>
                <a:spcPct val="115000"/>
              </a:lnSpc>
              <a:spcBef>
                <a:spcPts val="2400"/>
              </a:spcBef>
              <a:buNone/>
            </a:pPr>
            <a:r>
              <a:rPr lang="fr-FR" sz="3600" b="1" kern="0" noProof="0" dirty="0">
                <a:solidFill>
                  <a:schemeClr val="accent3"/>
                </a:solidFill>
                <a:effectLst/>
                <a:latin typeface="Times New Roman" panose="02020603050405020304" pitchFamily="18" charset="0"/>
                <a:ea typeface="MS Gothic" panose="020B0609070205080204" pitchFamily="49" charset="-128"/>
                <a:cs typeface="Times New Roman" panose="02020603050405020304" pitchFamily="18" charset="0"/>
              </a:rPr>
              <a:t>Exercice 1 — Force entre deux charges (Coulomb)</a:t>
            </a:r>
            <a:endParaRPr lang="fr-FR" sz="3600" b="1" kern="0" noProof="0" dirty="0">
              <a:solidFill>
                <a:schemeClr val="accent3"/>
              </a:solidFill>
              <a:effectLst/>
              <a:latin typeface="Calibri" panose="020F0502020204030204" pitchFamily="34" charset="0"/>
              <a:ea typeface="MS Gothic" panose="020B0609070205080204" pitchFamily="49" charset="-128"/>
              <a:cs typeface="Times New Roman" panose="02020603050405020304" pitchFamily="18" charset="0"/>
            </a:endParaRPr>
          </a:p>
          <a:p>
            <a:pPr algn="l">
              <a:lnSpc>
                <a:spcPct val="115000"/>
              </a:lnSpc>
              <a:spcAft>
                <a:spcPts val="1000"/>
              </a:spcAft>
              <a:buNone/>
            </a:pPr>
            <a:r>
              <a:rPr lang="fr-FR" sz="2800" noProof="0" dirty="0">
                <a:effectLst/>
                <a:latin typeface="Times New Roman" panose="02020603050405020304" pitchFamily="18" charset="0"/>
                <a:ea typeface="MS Mincho" panose="02020609040205080304" pitchFamily="49" charset="-128"/>
                <a:cs typeface="Times New Roman" panose="02020603050405020304" pitchFamily="18" charset="0"/>
              </a:rPr>
              <a:t>Deux charges ponctuelles </a:t>
            </a:r>
            <a:r>
              <a:rPr lang="fr-FR" sz="2800" b="1" noProof="0" dirty="0">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q</a:t>
            </a:r>
            <a:r>
              <a:rPr lang="fr-FR" sz="2800" b="1" baseline="-25000" noProof="0" dirty="0">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1</a:t>
            </a:r>
            <a:r>
              <a:rPr lang="fr-FR" sz="2800" b="1" noProof="0" dirty="0">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 = +1,0 </a:t>
            </a:r>
            <a:r>
              <a:rPr lang="fr-FR" sz="2800" b="1" noProof="0" dirty="0" err="1">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μC</a:t>
            </a:r>
            <a:r>
              <a:rPr lang="fr-FR" sz="2800" b="1" noProof="0" dirty="0">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fr-FR" sz="2800" noProof="0" dirty="0">
                <a:effectLst/>
                <a:latin typeface="Times New Roman" panose="02020603050405020304" pitchFamily="18" charset="0"/>
                <a:ea typeface="MS Mincho" panose="02020609040205080304" pitchFamily="49" charset="-128"/>
                <a:cs typeface="Times New Roman" panose="02020603050405020304" pitchFamily="18" charset="0"/>
              </a:rPr>
              <a:t>et </a:t>
            </a:r>
            <a:r>
              <a:rPr lang="fr-FR" sz="2800" b="1" noProof="0" dirty="0">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q</a:t>
            </a:r>
            <a:r>
              <a:rPr lang="fr-FR" sz="2800" b="1" baseline="-25000" noProof="0" dirty="0">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2</a:t>
            </a:r>
            <a:r>
              <a:rPr lang="fr-FR" sz="2800" b="1" noProof="0" dirty="0">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 = -2,0 </a:t>
            </a:r>
            <a:r>
              <a:rPr lang="fr-FR" sz="2800" b="1" noProof="0" dirty="0" err="1">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μC</a:t>
            </a:r>
            <a:r>
              <a:rPr lang="fr-FR" sz="2800" noProof="0" dirty="0">
                <a:effectLst/>
                <a:latin typeface="Times New Roman" panose="02020603050405020304" pitchFamily="18" charset="0"/>
                <a:ea typeface="MS Mincho" panose="02020609040205080304" pitchFamily="49" charset="-128"/>
                <a:cs typeface="Times New Roman" panose="02020603050405020304" pitchFamily="18" charset="0"/>
              </a:rPr>
              <a:t> sont séparées par une</a:t>
            </a:r>
          </a:p>
          <a:p>
            <a:pPr algn="l">
              <a:lnSpc>
                <a:spcPct val="115000"/>
              </a:lnSpc>
              <a:spcAft>
                <a:spcPts val="1000"/>
              </a:spcAft>
              <a:buNone/>
            </a:pPr>
            <a:r>
              <a:rPr lang="fr-FR" sz="2800" noProof="0" dirty="0">
                <a:effectLst/>
                <a:latin typeface="Times New Roman" panose="02020603050405020304" pitchFamily="18" charset="0"/>
                <a:ea typeface="MS Mincho" panose="02020609040205080304" pitchFamily="49" charset="-128"/>
                <a:cs typeface="Times New Roman" panose="02020603050405020304" pitchFamily="18" charset="0"/>
              </a:rPr>
              <a:t>distance </a:t>
            </a:r>
            <a:r>
              <a:rPr lang="fr-FR" sz="2800" b="1" noProof="0" dirty="0">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r = 0,50 m</a:t>
            </a:r>
            <a:r>
              <a:rPr lang="fr-FR" sz="2800" noProof="0" dirty="0">
                <a:effectLst/>
                <a:latin typeface="Times New Roman" panose="02020603050405020304" pitchFamily="18" charset="0"/>
                <a:ea typeface="MS Mincho" panose="02020609040205080304" pitchFamily="49" charset="-128"/>
                <a:cs typeface="Times New Roman" panose="02020603050405020304" pitchFamily="18" charset="0"/>
              </a:rPr>
              <a:t>. Calcule la force électrique exercée entre elles (</a:t>
            </a:r>
            <a:r>
              <a:rPr lang="fr-FR" sz="2800" u="sng" noProof="0" dirty="0">
                <a:effectLst/>
                <a:latin typeface="Times New Roman" panose="02020603050405020304" pitchFamily="18" charset="0"/>
                <a:ea typeface="MS Mincho" panose="02020609040205080304" pitchFamily="49" charset="-128"/>
                <a:cs typeface="Times New Roman" panose="02020603050405020304" pitchFamily="18" charset="0"/>
              </a:rPr>
              <a:t>module et</a:t>
            </a:r>
          </a:p>
          <a:p>
            <a:pPr algn="l">
              <a:lnSpc>
                <a:spcPct val="115000"/>
              </a:lnSpc>
              <a:spcAft>
                <a:spcPts val="1000"/>
              </a:spcAft>
              <a:buNone/>
            </a:pPr>
            <a:r>
              <a:rPr lang="fr-FR" sz="2800" u="sng" noProof="0" dirty="0">
                <a:effectLst/>
                <a:latin typeface="Times New Roman" panose="02020603050405020304" pitchFamily="18" charset="0"/>
                <a:ea typeface="MS Mincho" panose="02020609040205080304" pitchFamily="49" charset="-128"/>
                <a:cs typeface="Times New Roman" panose="02020603050405020304" pitchFamily="18" charset="0"/>
              </a:rPr>
              <a:t>direction</a:t>
            </a:r>
            <a:r>
              <a:rPr lang="fr-FR" sz="2800" noProof="0" dirty="0">
                <a:effectLst/>
                <a:latin typeface="Times New Roman" panose="02020603050405020304" pitchFamily="18" charset="0"/>
                <a:ea typeface="MS Mincho" panose="02020609040205080304" pitchFamily="49" charset="-128"/>
                <a:cs typeface="Times New Roman" panose="02020603050405020304" pitchFamily="18" charset="0"/>
              </a:rPr>
              <a:t>). Utilise  </a:t>
            </a:r>
            <a:r>
              <a:rPr lang="fr-FR" sz="2800" noProof="0" dirty="0">
                <a:solidFill>
                  <a:srgbClr val="FFFF00"/>
                </a:solidFill>
                <a:effectLst/>
                <a:latin typeface="Times New Roman" panose="02020603050405020304" pitchFamily="18" charset="0"/>
                <a:ea typeface="MS Mincho" panose="02020609040205080304" pitchFamily="49" charset="-128"/>
                <a:cs typeface="Times New Roman" panose="02020603050405020304" pitchFamily="18" charset="0"/>
              </a:rPr>
              <a:t>k = 8,9875517923×10⁹ N·m²/C²</a:t>
            </a:r>
            <a:r>
              <a:rPr lang="fr-FR" sz="2800" noProof="0" dirty="0">
                <a:effectLst/>
                <a:latin typeface="Times New Roman" panose="02020603050405020304" pitchFamily="18" charset="0"/>
                <a:ea typeface="MS Mincho" panose="02020609040205080304" pitchFamily="49" charset="-128"/>
                <a:cs typeface="Times New Roman" panose="02020603050405020304" pitchFamily="18" charset="0"/>
              </a:rPr>
              <a:t>.</a:t>
            </a:r>
            <a:endParaRPr lang="fr-FR" sz="2800" noProof="0" dirty="0">
              <a:effectLst/>
              <a:latin typeface="Times New Roman" panose="02020603050405020304" pitchFamily="18" charset="0"/>
              <a:ea typeface="MS Mincho" panose="02020609040205080304" pitchFamily="49" charset="-128"/>
              <a:cs typeface="Arial" panose="020B0604020202020204" pitchFamily="34" charset="0"/>
            </a:endParaRPr>
          </a:p>
          <a:p>
            <a:pPr algn="l">
              <a:lnSpc>
                <a:spcPct val="115000"/>
              </a:lnSpc>
              <a:spcAft>
                <a:spcPts val="1000"/>
              </a:spcAft>
              <a:buNone/>
            </a:pPr>
            <a:r>
              <a:rPr lang="fr-FR" sz="2800" noProof="0" dirty="0">
                <a:effectLst/>
                <a:latin typeface="Times New Roman" panose="02020603050405020304" pitchFamily="18" charset="0"/>
                <a:ea typeface="MS Mincho" panose="02020609040205080304" pitchFamily="49" charset="-128"/>
                <a:cs typeface="Arial" panose="020B0604020202020204" pitchFamily="34" charset="0"/>
              </a:rPr>
              <a:t>Solution :</a:t>
            </a:r>
            <a:r>
              <a:rPr lang="fr-FR" sz="2800" b="1" noProof="0" dirty="0">
                <a:solidFill>
                  <a:srgbClr val="F9FAFB"/>
                </a:solidFill>
                <a:effectLst/>
                <a:latin typeface="Segoe UI" panose="020B0502040204020203" pitchFamily="34" charset="0"/>
                <a:ea typeface="Times New Roman" panose="02020603050405020304" pitchFamily="18" charset="0"/>
                <a:cs typeface="Arial" panose="020B0604020202020204" pitchFamily="34" charset="0"/>
              </a:rPr>
              <a:t> </a:t>
            </a:r>
            <a:r>
              <a:rPr lang="fr-FR" sz="2800" b="1" noProof="0" dirty="0">
                <a:effectLst/>
                <a:latin typeface="Times New Roman" panose="02020603050405020304" pitchFamily="18" charset="0"/>
                <a:ea typeface="MS Mincho" panose="02020609040205080304" pitchFamily="49" charset="-128"/>
                <a:cs typeface="Arial" panose="020B0604020202020204" pitchFamily="34" charset="0"/>
              </a:rPr>
              <a:t>1. Données :</a:t>
            </a:r>
            <a:endParaRPr lang="fr-FR" sz="2800" noProof="0" dirty="0">
              <a:effectLst/>
              <a:latin typeface="Times New Roman" panose="02020603050405020304" pitchFamily="18" charset="0"/>
              <a:ea typeface="MS Mincho" panose="02020609040205080304" pitchFamily="49" charset="-128"/>
              <a:cs typeface="Arial" panose="020B0604020202020204" pitchFamily="34" charset="0"/>
            </a:endParaRPr>
          </a:p>
          <a:p>
            <a:pPr marL="342900" lvl="0" indent="-342900" algn="l">
              <a:lnSpc>
                <a:spcPct val="115000"/>
              </a:lnSpc>
              <a:buFont typeface="Wingdings" panose="05000000000000000000" pitchFamily="2" charset="2"/>
              <a:buChar char=""/>
            </a:pPr>
            <a:r>
              <a:rPr lang="fr-FR" sz="2800" noProof="0" dirty="0">
                <a:effectLst/>
                <a:latin typeface="Times New Roman" panose="02020603050405020304" pitchFamily="18" charset="0"/>
                <a:ea typeface="MS Mincho" panose="02020609040205080304" pitchFamily="49" charset="-128"/>
                <a:cs typeface="Arial" panose="020B0604020202020204" pitchFamily="34" charset="0"/>
              </a:rPr>
              <a:t>     q</a:t>
            </a:r>
            <a:r>
              <a:rPr lang="fr-FR" sz="2800" baseline="-25000" noProof="0" dirty="0">
                <a:effectLst/>
                <a:latin typeface="Times New Roman" panose="02020603050405020304" pitchFamily="18" charset="0"/>
                <a:ea typeface="MS Mincho" panose="02020609040205080304" pitchFamily="49" charset="-128"/>
                <a:cs typeface="Arial" panose="020B0604020202020204" pitchFamily="34" charset="0"/>
              </a:rPr>
              <a:t>1</a:t>
            </a:r>
            <a:r>
              <a:rPr lang="fr-FR" sz="2800" noProof="0" dirty="0">
                <a:effectLst/>
                <a:latin typeface="Times New Roman" panose="02020603050405020304" pitchFamily="18" charset="0"/>
                <a:ea typeface="MS Mincho" panose="02020609040205080304" pitchFamily="49" charset="-128"/>
                <a:cs typeface="Arial" panose="020B0604020202020204" pitchFamily="34" charset="0"/>
              </a:rPr>
              <a:t> = +1,0 </a:t>
            </a:r>
            <a:r>
              <a:rPr lang="fr-FR" sz="2800" noProof="0" dirty="0" err="1">
                <a:effectLst/>
                <a:latin typeface="Times New Roman" panose="02020603050405020304" pitchFamily="18" charset="0"/>
                <a:ea typeface="MS Mincho" panose="02020609040205080304" pitchFamily="49" charset="-128"/>
                <a:cs typeface="Arial" panose="020B0604020202020204" pitchFamily="34" charset="0"/>
              </a:rPr>
              <a:t>μC</a:t>
            </a:r>
            <a:endParaRPr lang="fr-FR" sz="2800" noProof="0" dirty="0">
              <a:effectLst/>
              <a:latin typeface="Times New Roman" panose="02020603050405020304" pitchFamily="18" charset="0"/>
              <a:ea typeface="MS Mincho" panose="02020609040205080304" pitchFamily="49" charset="-128"/>
              <a:cs typeface="Arial" panose="020B0604020202020204" pitchFamily="34" charset="0"/>
            </a:endParaRPr>
          </a:p>
          <a:p>
            <a:pPr marL="342900" lvl="0" indent="-342900" algn="l">
              <a:lnSpc>
                <a:spcPct val="115000"/>
              </a:lnSpc>
              <a:buFont typeface="Wingdings" panose="05000000000000000000" pitchFamily="2" charset="2"/>
              <a:buChar char=""/>
            </a:pPr>
            <a:r>
              <a:rPr lang="fr-FR" sz="2800" noProof="0" dirty="0">
                <a:effectLst/>
                <a:latin typeface="Times New Roman" panose="02020603050405020304" pitchFamily="18" charset="0"/>
                <a:ea typeface="MS Mincho" panose="02020609040205080304" pitchFamily="49" charset="-128"/>
                <a:cs typeface="Arial" panose="020B0604020202020204" pitchFamily="34" charset="0"/>
              </a:rPr>
              <a:t>     q</a:t>
            </a:r>
            <a:r>
              <a:rPr lang="fr-FR" sz="2800" baseline="-25000" noProof="0" dirty="0">
                <a:effectLst/>
                <a:latin typeface="Times New Roman" panose="02020603050405020304" pitchFamily="18" charset="0"/>
                <a:ea typeface="MS Mincho" panose="02020609040205080304" pitchFamily="49" charset="-128"/>
                <a:cs typeface="Arial" panose="020B0604020202020204" pitchFamily="34" charset="0"/>
              </a:rPr>
              <a:t>2</a:t>
            </a:r>
            <a:r>
              <a:rPr lang="fr-FR" sz="2800" noProof="0" dirty="0">
                <a:effectLst/>
                <a:latin typeface="Times New Roman" panose="02020603050405020304" pitchFamily="18" charset="0"/>
                <a:ea typeface="MS Mincho" panose="02020609040205080304" pitchFamily="49" charset="-128"/>
                <a:cs typeface="Arial" panose="020B0604020202020204" pitchFamily="34" charset="0"/>
              </a:rPr>
              <a:t> = -2,0 </a:t>
            </a:r>
            <a:r>
              <a:rPr lang="fr-FR" sz="2800" noProof="0" dirty="0" err="1">
                <a:effectLst/>
                <a:latin typeface="Times New Roman" panose="02020603050405020304" pitchFamily="18" charset="0"/>
                <a:ea typeface="MS Mincho" panose="02020609040205080304" pitchFamily="49" charset="-128"/>
                <a:cs typeface="Arial" panose="020B0604020202020204" pitchFamily="34" charset="0"/>
              </a:rPr>
              <a:t>μC</a:t>
            </a:r>
            <a:endParaRPr lang="fr-FR" sz="2800" noProof="0" dirty="0">
              <a:effectLst/>
              <a:latin typeface="Times New Roman" panose="02020603050405020304" pitchFamily="18" charset="0"/>
              <a:ea typeface="MS Mincho" panose="02020609040205080304" pitchFamily="49" charset="-128"/>
              <a:cs typeface="Arial" panose="020B0604020202020204" pitchFamily="34" charset="0"/>
            </a:endParaRPr>
          </a:p>
          <a:p>
            <a:pPr marL="342900" lvl="0" indent="-342900" algn="l">
              <a:lnSpc>
                <a:spcPct val="115000"/>
              </a:lnSpc>
              <a:buFont typeface="Wingdings" panose="05000000000000000000" pitchFamily="2" charset="2"/>
              <a:buChar char=""/>
            </a:pPr>
            <a:r>
              <a:rPr lang="fr-FR" sz="2800" noProof="0" dirty="0">
                <a:effectLst/>
                <a:latin typeface="Times New Roman" panose="02020603050405020304" pitchFamily="18" charset="0"/>
                <a:ea typeface="MS Mincho" panose="02020609040205080304" pitchFamily="49" charset="-128"/>
                <a:cs typeface="Times New Roman" panose="02020603050405020304" pitchFamily="18" charset="0"/>
              </a:rPr>
              <a:t>r = 0,50 m</a:t>
            </a:r>
            <a:endParaRPr lang="fr-FR" sz="2800" noProof="0" dirty="0">
              <a:effectLst/>
              <a:latin typeface="Times New Roman" panose="02020603050405020304" pitchFamily="18" charset="0"/>
              <a:ea typeface="MS Mincho" panose="02020609040205080304" pitchFamily="49" charset="-128"/>
              <a:cs typeface="Arial" panose="020B0604020202020204" pitchFamily="34" charset="0"/>
            </a:endParaRPr>
          </a:p>
          <a:p>
            <a:pPr marL="342900" lvl="0" indent="-342900" algn="l">
              <a:lnSpc>
                <a:spcPct val="115000"/>
              </a:lnSpc>
              <a:spcAft>
                <a:spcPts val="1000"/>
              </a:spcAft>
              <a:buFont typeface="Wingdings" panose="05000000000000000000" pitchFamily="2" charset="2"/>
              <a:buChar char=""/>
            </a:pPr>
            <a:r>
              <a:rPr lang="fr-FR" sz="2800" noProof="0" dirty="0">
                <a:effectLst/>
                <a:latin typeface="Times New Roman" panose="02020603050405020304" pitchFamily="18" charset="0"/>
                <a:ea typeface="MS Mincho" panose="02020609040205080304" pitchFamily="49" charset="-128"/>
                <a:cs typeface="Times New Roman" panose="02020603050405020304" pitchFamily="18" charset="0"/>
              </a:rPr>
              <a:t>k = 8,9875517923×10⁹ N·m²/C².</a:t>
            </a:r>
            <a:endParaRPr lang="fr-FR" sz="2400" noProof="0" dirty="0"/>
          </a:p>
        </p:txBody>
      </p:sp>
      <p:sp>
        <p:nvSpPr>
          <p:cNvPr id="2" name="Ellipse 1">
            <a:extLst>
              <a:ext uri="{FF2B5EF4-FFF2-40B4-BE49-F238E27FC236}">
                <a16:creationId xmlns:a16="http://schemas.microsoft.com/office/drawing/2014/main" id="{00C3B946-37A6-83D1-2B52-92520EB638C0}"/>
              </a:ext>
            </a:extLst>
          </p:cNvPr>
          <p:cNvSpPr/>
          <p:nvPr/>
        </p:nvSpPr>
        <p:spPr>
          <a:xfrm>
            <a:off x="381000" y="4278087"/>
            <a:ext cx="195943" cy="2286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noProof="0" dirty="0"/>
          </a:p>
        </p:txBody>
      </p:sp>
      <p:sp>
        <p:nvSpPr>
          <p:cNvPr id="4" name="Ellipse 3">
            <a:extLst>
              <a:ext uri="{FF2B5EF4-FFF2-40B4-BE49-F238E27FC236}">
                <a16:creationId xmlns:a16="http://schemas.microsoft.com/office/drawing/2014/main" id="{BD124700-C60A-4516-3841-B5D242F28080}"/>
              </a:ext>
            </a:extLst>
          </p:cNvPr>
          <p:cNvSpPr/>
          <p:nvPr/>
        </p:nvSpPr>
        <p:spPr>
          <a:xfrm>
            <a:off x="304799" y="4724400"/>
            <a:ext cx="435429" cy="451757"/>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fr-FR" noProof="0" dirty="0"/>
          </a:p>
        </p:txBody>
      </p:sp>
    </p:spTree>
    <p:extLst>
      <p:ext uri="{BB962C8B-B14F-4D97-AF65-F5344CB8AC3E}">
        <p14:creationId xmlns:p14="http://schemas.microsoft.com/office/powerpoint/2010/main" val="529327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481D550D-F232-0C36-B3AB-74AE604EF13B}"/>
                  </a:ext>
                </a:extLst>
              </p:cNvPr>
              <p:cNvSpPr>
                <a:spLocks noGrp="1"/>
              </p:cNvSpPr>
              <p:nvPr>
                <p:ph type="body" idx="1"/>
              </p:nvPr>
            </p:nvSpPr>
            <p:spPr>
              <a:xfrm>
                <a:off x="0" y="0"/>
                <a:ext cx="12191999" cy="6858000"/>
              </a:xfrm>
              <a:solidFill>
                <a:srgbClr val="002060"/>
              </a:solidFill>
            </p:spPr>
            <p:txBody>
              <a:bodyPr>
                <a:normAutofit fontScale="92500" lnSpcReduction="20000"/>
              </a:bodyPr>
              <a:lstStyle/>
              <a:p>
                <a:pPr algn="l">
                  <a:lnSpc>
                    <a:spcPct val="115000"/>
                  </a:lnSpc>
                  <a:spcAft>
                    <a:spcPts val="1000"/>
                  </a:spcAft>
                  <a:buNone/>
                </a:pPr>
                <a:r>
                  <a:rPr lang="fr-FR" sz="2600" b="1" noProof="0" dirty="0">
                    <a:effectLst/>
                    <a:latin typeface="Times New Roman" panose="02020603050405020304" pitchFamily="18" charset="0"/>
                    <a:ea typeface="MS Mincho" panose="02020609040205080304" pitchFamily="49" charset="-128"/>
                    <a:cs typeface="Arial" panose="020B0604020202020204" pitchFamily="34" charset="0"/>
                  </a:rPr>
                  <a:t>2. Formule de la loi de Coulomb : </a:t>
                </a:r>
                <a14:m>
                  <m:oMath xmlns:m="http://schemas.openxmlformats.org/officeDocument/2006/math">
                    <m: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𝑭</m:t>
                    </m:r>
                    <m: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m:t>
                    </m:r>
                    <m: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𝒌</m:t>
                    </m:r>
                    <m:f>
                      <m:fPr>
                        <m:ctrlP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ctrlPr>
                      </m:fPr>
                      <m:num>
                        <m:r>
                          <a:rPr lang="fr-FR" sz="3000" b="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m:t>
                        </m:r>
                        <m:sSub>
                          <m:sSubPr>
                            <m:ctrlP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ctrlPr>
                          </m:sSubPr>
                          <m:e>
                            <m: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𝒒</m:t>
                            </m:r>
                          </m:e>
                          <m:sub>
                            <m: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𝟏</m:t>
                            </m:r>
                          </m:sub>
                        </m:sSub>
                        <m:sSub>
                          <m:sSubPr>
                            <m:ctrlP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ctrlPr>
                          </m:sSubPr>
                          <m:e>
                            <m: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𝒒</m:t>
                            </m:r>
                          </m:e>
                          <m:sub>
                            <m: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𝟐</m:t>
                            </m:r>
                          </m:sub>
                        </m:sSub>
                        <m:r>
                          <a:rPr lang="fr-FR" sz="3000" b="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m:t>
                        </m:r>
                      </m:num>
                      <m:den>
                        <m:sSup>
                          <m:sSupPr>
                            <m:ctrlP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ctrlPr>
                          </m:sSupPr>
                          <m:e>
                            <m: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𝒓</m:t>
                            </m:r>
                          </m:e>
                          <m:sup>
                            <m:r>
                              <a:rPr lang="fr-FR" sz="3000" b="1" i="1" noProof="0" smtClean="0">
                                <a:solidFill>
                                  <a:schemeClr val="accent2"/>
                                </a:solidFill>
                                <a:effectLst/>
                                <a:latin typeface="Cambria Math" panose="02040503050406030204" pitchFamily="18" charset="0"/>
                                <a:ea typeface="MS Mincho" panose="02020609040205080304" pitchFamily="49" charset="-128"/>
                                <a:cs typeface="Arial" panose="020B0604020202020204" pitchFamily="34" charset="0"/>
                              </a:rPr>
                              <m:t>𝟐</m:t>
                            </m:r>
                          </m:sup>
                        </m:sSup>
                      </m:den>
                    </m:f>
                  </m:oMath>
                </a14:m>
                <a:endParaRPr lang="fr-FR" sz="2600" noProof="0" dirty="0">
                  <a:effectLst/>
                  <a:latin typeface="Times New Roman" panose="02020603050405020304" pitchFamily="18" charset="0"/>
                  <a:ea typeface="MS Mincho" panose="02020609040205080304" pitchFamily="49" charset="-128"/>
                  <a:cs typeface="Arial" panose="020B0604020202020204" pitchFamily="34" charset="0"/>
                </a:endParaRPr>
              </a:p>
              <a:p>
                <a:pPr algn="l">
                  <a:lnSpc>
                    <a:spcPct val="115000"/>
                  </a:lnSpc>
                  <a:spcAft>
                    <a:spcPts val="1000"/>
                  </a:spcAft>
                  <a:buNone/>
                </a:pPr>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On prend la valeur absolue des charges pour le </a:t>
                </a:r>
                <a:r>
                  <a:rPr lang="fr-FR" sz="2600" b="1" noProof="0" dirty="0">
                    <a:effectLst/>
                    <a:latin typeface="Times New Roman" panose="02020603050405020304" pitchFamily="18" charset="0"/>
                    <a:ea typeface="MS Mincho" panose="02020609040205080304" pitchFamily="49" charset="-128"/>
                    <a:cs typeface="Arial" panose="020B0604020202020204" pitchFamily="34" charset="0"/>
                  </a:rPr>
                  <a:t>module</a:t>
                </a:r>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 de la force.</a:t>
                </a:r>
              </a:p>
              <a:p>
                <a:pPr algn="l">
                  <a:lnSpc>
                    <a:spcPct val="115000"/>
                  </a:lnSpc>
                  <a:spcAft>
                    <a:spcPts val="1000"/>
                  </a:spcAft>
                  <a:buNone/>
                </a:pPr>
                <a:r>
                  <a:rPr lang="fr-FR" sz="2600" b="1" noProof="0" dirty="0">
                    <a:effectLst/>
                    <a:latin typeface="Times New Roman" panose="02020603050405020304" pitchFamily="18" charset="0"/>
                    <a:ea typeface="MS Mincho" panose="02020609040205080304" pitchFamily="49" charset="-128"/>
                    <a:cs typeface="Arial" panose="020B0604020202020204" pitchFamily="34" charset="0"/>
                  </a:rPr>
                  <a:t>3. Calcul du module :   </a:t>
                </a:r>
                <a14:m>
                  <m:oMath xmlns:m="http://schemas.openxmlformats.org/officeDocument/2006/math">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𝐹</m:t>
                    </m:r>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m:t>
                    </m:r>
                    <m:r>
                      <a:rPr lang="fr-FR" sz="2600" noProof="0" smtClean="0">
                        <a:effectLst/>
                        <a:latin typeface="Cambria Math" panose="02040503050406030204" pitchFamily="18" charset="0"/>
                        <a:ea typeface="MS Mincho" panose="02020609040205080304" pitchFamily="49" charset="-128"/>
                        <a:cs typeface="Arial" panose="020B0604020202020204" pitchFamily="34" charset="0"/>
                      </a:rPr>
                      <m:t>7,190</m:t>
                    </m:r>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m:t>
                    </m:r>
                    <m:sSup>
                      <m:sSupPr>
                        <m:ctrlP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ctrlPr>
                      </m:sSupPr>
                      <m:e>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10</m:t>
                        </m:r>
                      </m:e>
                      <m:sup>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−2</m:t>
                        </m:r>
                      </m:sup>
                    </m:sSup>
                    <m:r>
                      <m:rPr>
                        <m:nor/>
                      </m:rPr>
                      <a:rPr lang="fr-FR" sz="2600" noProof="0" smtClean="0">
                        <a:effectLst/>
                        <a:latin typeface="Times New Roman" panose="02020603050405020304" pitchFamily="18" charset="0"/>
                        <a:ea typeface="MS Mincho" panose="02020609040205080304" pitchFamily="49" charset="-128"/>
                        <a:cs typeface="Arial" panose="020B0604020202020204" pitchFamily="34" charset="0"/>
                      </a:rPr>
                      <m:t> 					</m:t>
                    </m:r>
                    <m:r>
                      <m:rPr>
                        <m:sty m:val="p"/>
                      </m:rPr>
                      <a:rPr lang="fr-FR" sz="2600" noProof="0" smtClean="0">
                        <a:effectLst/>
                        <a:latin typeface="Cambria Math" panose="02040503050406030204" pitchFamily="18" charset="0"/>
                        <a:ea typeface="MS Mincho" panose="02020609040205080304" pitchFamily="49" charset="-128"/>
                        <a:cs typeface="Arial" panose="020B0604020202020204" pitchFamily="34" charset="0"/>
                      </a:rPr>
                      <m:t>N</m:t>
                    </m:r>
                  </m:oMath>
                </a14:m>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 Soit environ</a:t>
                </a:r>
              </a:p>
              <a:p>
                <a:pPr algn="l">
                  <a:lnSpc>
                    <a:spcPct val="115000"/>
                  </a:lnSpc>
                  <a:spcAft>
                    <a:spcPts val="1000"/>
                  </a:spcAft>
                  <a:buNone/>
                </a:pPr>
                <a:r>
                  <a:rPr lang="fr-FR" sz="2600" b="1" noProof="0" dirty="0">
                    <a:effectLst/>
                    <a:latin typeface="Times New Roman" panose="02020603050405020304" pitchFamily="18" charset="0"/>
                    <a:ea typeface="MS Mincho" panose="02020609040205080304" pitchFamily="49" charset="-128"/>
                    <a:cs typeface="Arial" panose="020B0604020202020204" pitchFamily="34" charset="0"/>
                  </a:rPr>
                  <a:t>4. Direction et sens : </a:t>
                </a:r>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Les charges sont de signes opposés (</a:t>
                </a:r>
                <a14:m>
                  <m:oMath xmlns:m="http://schemas.openxmlformats.org/officeDocument/2006/math">
                    <m:sSub>
                      <m:sSubPr>
                        <m:ctrlP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ctrlPr>
                      </m:sSubPr>
                      <m:e>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𝑞</m:t>
                        </m:r>
                      </m:e>
                      <m:sub>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1</m:t>
                        </m:r>
                      </m:sub>
                    </m:sSub>
                  </m:oMath>
                </a14:m>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 positive, </a:t>
                </a:r>
                <a14:m>
                  <m:oMath xmlns:m="http://schemas.openxmlformats.org/officeDocument/2006/math">
                    <m:sSub>
                      <m:sSubPr>
                        <m:ctrlP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ctrlPr>
                      </m:sSubPr>
                      <m:e>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𝑞</m:t>
                        </m:r>
                      </m:e>
                      <m:sub>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2</m:t>
                        </m:r>
                      </m:sub>
                    </m:sSub>
                  </m:oMath>
                </a14:m>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 négative),</a:t>
                </a:r>
              </a:p>
              <a:p>
                <a:pPr algn="l">
                  <a:lnSpc>
                    <a:spcPct val="115000"/>
                  </a:lnSpc>
                  <a:spcAft>
                    <a:spcPts val="1000"/>
                  </a:spcAft>
                  <a:buNone/>
                </a:pPr>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donc elles </a:t>
                </a:r>
                <a:r>
                  <a:rPr lang="fr-FR" sz="2600" b="1" noProof="0" dirty="0">
                    <a:effectLst/>
                    <a:latin typeface="Times New Roman" panose="02020603050405020304" pitchFamily="18" charset="0"/>
                    <a:ea typeface="MS Mincho" panose="02020609040205080304" pitchFamily="49" charset="-128"/>
                    <a:cs typeface="Arial" panose="020B0604020202020204" pitchFamily="34" charset="0"/>
                  </a:rPr>
                  <a:t>s’attirent</a:t>
                </a:r>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a:t>
                </a:r>
              </a:p>
              <a:p>
                <a:pPr algn="l">
                  <a:lnSpc>
                    <a:spcPct val="115000"/>
                  </a:lnSpc>
                  <a:spcAft>
                    <a:spcPts val="1000"/>
                  </a:spcAft>
                  <a:buNone/>
                </a:pPr>
                <a:endParaRPr lang="fr-FR" sz="2600" noProof="0" dirty="0">
                  <a:effectLst/>
                  <a:latin typeface="Times New Roman" panose="02020603050405020304" pitchFamily="18" charset="0"/>
                  <a:ea typeface="MS Mincho" panose="02020609040205080304" pitchFamily="49" charset="-128"/>
                  <a:cs typeface="Arial" panose="020B0604020202020204" pitchFamily="34" charset="0"/>
                </a:endParaRPr>
              </a:p>
              <a:p>
                <a:pPr algn="l">
                  <a:lnSpc>
                    <a:spcPct val="115000"/>
                  </a:lnSpc>
                  <a:spcAft>
                    <a:spcPts val="1000"/>
                  </a:spcAft>
                  <a:buNone/>
                </a:pPr>
                <a:endParaRPr lang="fr-FR" sz="2600" noProof="0" dirty="0">
                  <a:latin typeface="Times New Roman" panose="02020603050405020304" pitchFamily="18" charset="0"/>
                  <a:ea typeface="MS Mincho" panose="02020609040205080304" pitchFamily="49" charset="-128"/>
                  <a:cs typeface="Arial" panose="020B0604020202020204" pitchFamily="34" charset="0"/>
                </a:endParaRPr>
              </a:p>
              <a:p>
                <a:pPr algn="l">
                  <a:lnSpc>
                    <a:spcPct val="115000"/>
                  </a:lnSpc>
                  <a:spcAft>
                    <a:spcPts val="1000"/>
                  </a:spcAft>
                  <a:buNone/>
                </a:pPr>
                <a:endParaRPr lang="fr-FR" sz="2600" noProof="0" dirty="0">
                  <a:effectLst/>
                  <a:latin typeface="Times New Roman" panose="02020603050405020304" pitchFamily="18" charset="0"/>
                  <a:ea typeface="MS Mincho" panose="02020609040205080304" pitchFamily="49" charset="-128"/>
                  <a:cs typeface="Arial" panose="020B0604020202020204" pitchFamily="34" charset="0"/>
                </a:endParaRPr>
              </a:p>
              <a:p>
                <a:pPr algn="l">
                  <a:lnSpc>
                    <a:spcPct val="115000"/>
                  </a:lnSpc>
                  <a:spcAft>
                    <a:spcPts val="1000"/>
                  </a:spcAft>
                  <a:buNone/>
                </a:pPr>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La force sur </a:t>
                </a:r>
                <a14:m>
                  <m:oMath xmlns:m="http://schemas.openxmlformats.org/officeDocument/2006/math">
                    <m:sSub>
                      <m:sSubPr>
                        <m:ctrlP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ctrlPr>
                      </m:sSubPr>
                      <m:e>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𝑞</m:t>
                        </m:r>
                      </m:e>
                      <m:sub>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1</m:t>
                        </m:r>
                      </m:sub>
                    </m:sSub>
                  </m:oMath>
                </a14:m>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 est dirigée vers </a:t>
                </a:r>
                <a14:m>
                  <m:oMath xmlns:m="http://schemas.openxmlformats.org/officeDocument/2006/math">
                    <m:sSub>
                      <m:sSubPr>
                        <m:ctrlP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ctrlPr>
                      </m:sSubPr>
                      <m:e>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𝑞</m:t>
                        </m:r>
                      </m:e>
                      <m:sub>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2</m:t>
                        </m:r>
                      </m:sub>
                    </m:sSub>
                  </m:oMath>
                </a14:m>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 et la force sur </a:t>
                </a:r>
                <a14:m>
                  <m:oMath xmlns:m="http://schemas.openxmlformats.org/officeDocument/2006/math">
                    <m:sSub>
                      <m:sSubPr>
                        <m:ctrlP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ctrlPr>
                      </m:sSubPr>
                      <m:e>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𝑞</m:t>
                        </m:r>
                      </m:e>
                      <m:sub>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2</m:t>
                        </m:r>
                      </m:sub>
                    </m:sSub>
                  </m:oMath>
                </a14:m>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 est dirigée vers </a:t>
                </a:r>
                <a14:m>
                  <m:oMath xmlns:m="http://schemas.openxmlformats.org/officeDocument/2006/math">
                    <m:sSub>
                      <m:sSubPr>
                        <m:ctrlP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ctrlPr>
                      </m:sSubPr>
                      <m:e>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𝑞</m:t>
                        </m:r>
                      </m:e>
                      <m:sub>
                        <m:r>
                          <a:rPr lang="fr-FR" sz="2600" i="1" noProof="0" smtClean="0">
                            <a:effectLst/>
                            <a:latin typeface="Cambria Math" panose="02040503050406030204" pitchFamily="18" charset="0"/>
                            <a:ea typeface="MS Mincho" panose="02020609040205080304" pitchFamily="49" charset="-128"/>
                            <a:cs typeface="Arial" panose="020B0604020202020204" pitchFamily="34" charset="0"/>
                          </a:rPr>
                          <m:t>1</m:t>
                        </m:r>
                      </m:sub>
                    </m:sSub>
                  </m:oMath>
                </a14:m>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 (selon la droite les</a:t>
                </a:r>
              </a:p>
              <a:p>
                <a:pPr algn="l">
                  <a:lnSpc>
                    <a:spcPct val="115000"/>
                  </a:lnSpc>
                  <a:spcAft>
                    <a:spcPts val="1000"/>
                  </a:spcAft>
                  <a:buNone/>
                </a:pPr>
                <a:r>
                  <a:rPr lang="fr-FR" sz="2600" noProof="0" dirty="0">
                    <a:effectLst/>
                    <a:latin typeface="Times New Roman" panose="02020603050405020304" pitchFamily="18" charset="0"/>
                    <a:ea typeface="MS Mincho" panose="02020609040205080304" pitchFamily="49" charset="-128"/>
                    <a:cs typeface="Arial" panose="020B0604020202020204" pitchFamily="34" charset="0"/>
                  </a:rPr>
                  <a:t>joignant). </a:t>
                </a:r>
                <a:r>
                  <a:rPr lang="fr-FR" sz="3000" b="1" noProof="0" dirty="0">
                    <a:solidFill>
                      <a:srgbClr val="FFFF00"/>
                    </a:solidFill>
                    <a:effectLst/>
                    <a:latin typeface="Times New Roman" panose="02020603050405020304" pitchFamily="18" charset="0"/>
                    <a:ea typeface="MS Mincho" panose="02020609040205080304" pitchFamily="49" charset="-128"/>
                    <a:cs typeface="Arial" panose="020B0604020202020204" pitchFamily="34" charset="0"/>
                  </a:rPr>
                  <a:t>Force attractive le long de la droite reliant les deux charges.</a:t>
                </a:r>
              </a:p>
              <a:p>
                <a:endParaRPr lang="fr-FR" noProof="0" dirty="0"/>
              </a:p>
            </p:txBody>
          </p:sp>
        </mc:Choice>
        <mc:Fallback xmlns="">
          <p:sp>
            <p:nvSpPr>
              <p:cNvPr id="3" name="Espace réservé du texte 2">
                <a:extLst>
                  <a:ext uri="{FF2B5EF4-FFF2-40B4-BE49-F238E27FC236}">
                    <a16:creationId xmlns:a16="http://schemas.microsoft.com/office/drawing/2014/main" id="{481D550D-F232-0C36-B3AB-74AE604EF13B}"/>
                  </a:ext>
                </a:extLst>
              </p:cNvPr>
              <p:cNvSpPr>
                <a:spLocks noGrp="1" noRot="1" noChangeAspect="1" noMove="1" noResize="1" noEditPoints="1" noAdjustHandles="1" noChangeArrowheads="1" noChangeShapeType="1" noTextEdit="1"/>
              </p:cNvSpPr>
              <p:nvPr>
                <p:ph type="body" idx="1"/>
              </p:nvPr>
            </p:nvSpPr>
            <p:spPr>
              <a:xfrm>
                <a:off x="0" y="0"/>
                <a:ext cx="12191999" cy="6858000"/>
              </a:xfrm>
              <a:blipFill>
                <a:blip r:embed="rId2"/>
                <a:stretch>
                  <a:fillRect/>
                </a:stretch>
              </a:blipFill>
            </p:spPr>
            <p:txBody>
              <a:bodyPr/>
              <a:lstStyle/>
              <a:p>
                <a:r>
                  <a:rPr lang="fr-DZ">
                    <a:noFill/>
                  </a:rPr>
                  <a:t> </a:t>
                </a:r>
              </a:p>
            </p:txBody>
          </p:sp>
        </mc:Fallback>
      </mc:AlternateContent>
      <p:pic>
        <p:nvPicPr>
          <p:cNvPr id="4" name="Image 3">
            <a:extLst>
              <a:ext uri="{FF2B5EF4-FFF2-40B4-BE49-F238E27FC236}">
                <a16:creationId xmlns:a16="http://schemas.microsoft.com/office/drawing/2014/main" id="{400FD474-B8F3-334E-AB92-B7C1D7E8E4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80279" y="2775858"/>
            <a:ext cx="4034654" cy="2525486"/>
          </a:xfrm>
          <a:prstGeom prst="rect">
            <a:avLst/>
          </a:prstGeom>
          <a:noFill/>
        </p:spPr>
      </p:pic>
      <mc:AlternateContent xmlns:mc="http://schemas.openxmlformats.org/markup-compatibility/2006" xmlns:a14="http://schemas.microsoft.com/office/drawing/2010/main">
        <mc:Choice Requires="a14">
          <p:sp>
            <p:nvSpPr>
              <p:cNvPr id="9" name="Rectangle : coins arrondis 8">
                <a:extLst>
                  <a:ext uri="{FF2B5EF4-FFF2-40B4-BE49-F238E27FC236}">
                    <a16:creationId xmlns:a16="http://schemas.microsoft.com/office/drawing/2014/main" id="{720D8B11-A7AE-BA09-2B49-2AEFA18A2C45}"/>
                  </a:ext>
                </a:extLst>
              </p:cNvPr>
              <p:cNvSpPr/>
              <p:nvPr/>
            </p:nvSpPr>
            <p:spPr>
              <a:xfrm>
                <a:off x="8164285" y="1382486"/>
                <a:ext cx="2536371" cy="7728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2400" b="1"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MS Mincho" panose="02020609040205080304" pitchFamily="49" charset="-128"/>
                          <a:cs typeface="Arial" panose="020B0604020202020204" pitchFamily="34" charset="0"/>
                        </a:rPr>
                        <m:t>𝑭</m:t>
                      </m:r>
                      <m:r>
                        <a:rPr lang="fr-FR" sz="2400" b="1"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MS Mincho" panose="02020609040205080304" pitchFamily="49" charset="-128"/>
                          <a:cs typeface="Arial" panose="020B0604020202020204" pitchFamily="34" charset="0"/>
                        </a:rPr>
                        <m:t>≈</m:t>
                      </m:r>
                      <m:r>
                        <a:rPr lang="fr-FR" sz="2400" b="1"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MS Mincho" panose="02020609040205080304" pitchFamily="49" charset="-128"/>
                          <a:cs typeface="Arial" panose="020B0604020202020204" pitchFamily="34" charset="0"/>
                        </a:rPr>
                        <m:t>𝟎</m:t>
                      </m:r>
                      <m:r>
                        <a:rPr lang="fr-FR" sz="2400" b="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MS Mincho" panose="02020609040205080304" pitchFamily="49" charset="-128"/>
                          <a:cs typeface="Arial" panose="020B0604020202020204" pitchFamily="34" charset="0"/>
                        </a:rPr>
                        <m:t>,</m:t>
                      </m:r>
                      <m:r>
                        <a:rPr lang="fr-FR" sz="2400" b="1"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MS Mincho" panose="02020609040205080304" pitchFamily="49" charset="-128"/>
                          <a:cs typeface="Arial" panose="020B0604020202020204" pitchFamily="34" charset="0"/>
                        </a:rPr>
                        <m:t>𝟎𝟕𝟐</m:t>
                      </m:r>
                      <m:r>
                        <m:rPr>
                          <m:nor/>
                        </m:rPr>
                        <a:rPr lang="fr-FR" sz="2400" b="1" noProof="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MS Mincho" panose="02020609040205080304" pitchFamily="49" charset="-128"/>
                          <a:cs typeface="Arial" panose="020B0604020202020204" pitchFamily="34" charset="0"/>
                        </a:rPr>
                        <m:t> 					</m:t>
                      </m:r>
                      <m:r>
                        <a:rPr lang="fr-FR" sz="2400" b="1" i="1"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MS Mincho" panose="02020609040205080304" pitchFamily="49" charset="-128"/>
                          <a:cs typeface="Arial" panose="020B0604020202020204" pitchFamily="34" charset="0"/>
                        </a:rPr>
                        <m:t>𝐍</m:t>
                      </m:r>
                    </m:oMath>
                  </m:oMathPara>
                </a14:m>
                <a:endParaRPr lang="fr-FR" b="1" noProof="0" dirty="0">
                  <a:ln w="0"/>
                  <a:solidFill>
                    <a:schemeClr val="tx1"/>
                  </a:solidFill>
                  <a:effectLst>
                    <a:outerShdw blurRad="38100" dist="19050" dir="2700000" algn="tl" rotWithShape="0">
                      <a:schemeClr val="dk1">
                        <a:alpha val="40000"/>
                      </a:schemeClr>
                    </a:outerShdw>
                  </a:effectLst>
                </a:endParaRPr>
              </a:p>
            </p:txBody>
          </p:sp>
        </mc:Choice>
        <mc:Fallback xmlns="">
          <p:sp>
            <p:nvSpPr>
              <p:cNvPr id="9" name="Rectangle : coins arrondis 8">
                <a:extLst>
                  <a:ext uri="{FF2B5EF4-FFF2-40B4-BE49-F238E27FC236}">
                    <a16:creationId xmlns:a16="http://schemas.microsoft.com/office/drawing/2014/main" id="{720D8B11-A7AE-BA09-2B49-2AEFA18A2C45}"/>
                  </a:ext>
                </a:extLst>
              </p:cNvPr>
              <p:cNvSpPr>
                <a:spLocks noRot="1" noChangeAspect="1" noMove="1" noResize="1" noEditPoints="1" noAdjustHandles="1" noChangeArrowheads="1" noChangeShapeType="1" noTextEdit="1"/>
              </p:cNvSpPr>
              <p:nvPr/>
            </p:nvSpPr>
            <p:spPr>
              <a:xfrm>
                <a:off x="8164285" y="1382486"/>
                <a:ext cx="2536371" cy="772886"/>
              </a:xfrm>
              <a:prstGeom prst="roundRect">
                <a:avLst/>
              </a:prstGeom>
              <a:blipFill>
                <a:blip r:embed="rId4"/>
                <a:stretch>
                  <a:fillRect/>
                </a:stretch>
              </a:blipFill>
            </p:spPr>
            <p:txBody>
              <a:bodyPr/>
              <a:lstStyle/>
              <a:p>
                <a:r>
                  <a:rPr lang="fr-DZ">
                    <a:noFill/>
                  </a:rPr>
                  <a:t> </a:t>
                </a:r>
              </a:p>
            </p:txBody>
          </p:sp>
        </mc:Fallback>
      </mc:AlternateContent>
      <p:sp>
        <p:nvSpPr>
          <p:cNvPr id="2" name="Flèche : droite 1">
            <a:extLst>
              <a:ext uri="{FF2B5EF4-FFF2-40B4-BE49-F238E27FC236}">
                <a16:creationId xmlns:a16="http://schemas.microsoft.com/office/drawing/2014/main" id="{46E553A0-1493-A24F-B13C-91BA4E0B9F16}"/>
              </a:ext>
            </a:extLst>
          </p:cNvPr>
          <p:cNvSpPr/>
          <p:nvPr/>
        </p:nvSpPr>
        <p:spPr>
          <a:xfrm>
            <a:off x="4724399" y="3406139"/>
            <a:ext cx="824322"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 name="Flèche : gauche 4">
            <a:extLst>
              <a:ext uri="{FF2B5EF4-FFF2-40B4-BE49-F238E27FC236}">
                <a16:creationId xmlns:a16="http://schemas.microsoft.com/office/drawing/2014/main" id="{38C55FE6-5744-DD91-C674-DFF09A1C2D74}"/>
              </a:ext>
            </a:extLst>
          </p:cNvPr>
          <p:cNvSpPr/>
          <p:nvPr/>
        </p:nvSpPr>
        <p:spPr>
          <a:xfrm>
            <a:off x="5996803" y="3406140"/>
            <a:ext cx="824322"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 name="Ellipse 9">
            <a:extLst>
              <a:ext uri="{FF2B5EF4-FFF2-40B4-BE49-F238E27FC236}">
                <a16:creationId xmlns:a16="http://schemas.microsoft.com/office/drawing/2014/main" id="{A4707299-0A44-6418-B4AF-E620343E583D}"/>
              </a:ext>
            </a:extLst>
          </p:cNvPr>
          <p:cNvSpPr/>
          <p:nvPr/>
        </p:nvSpPr>
        <p:spPr>
          <a:xfrm>
            <a:off x="5196090" y="3614056"/>
            <a:ext cx="250372" cy="261257"/>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noProof="0" dirty="0"/>
          </a:p>
        </p:txBody>
      </p:sp>
      <p:sp>
        <p:nvSpPr>
          <p:cNvPr id="11" name="Ellipse 10">
            <a:extLst>
              <a:ext uri="{FF2B5EF4-FFF2-40B4-BE49-F238E27FC236}">
                <a16:creationId xmlns:a16="http://schemas.microsoft.com/office/drawing/2014/main" id="{410C379B-EB3E-052E-517B-97BAF110618F}"/>
              </a:ext>
            </a:extLst>
          </p:cNvPr>
          <p:cNvSpPr/>
          <p:nvPr/>
        </p:nvSpPr>
        <p:spPr>
          <a:xfrm>
            <a:off x="6168524" y="3614057"/>
            <a:ext cx="198394" cy="26125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noProof="0" dirty="0"/>
          </a:p>
        </p:txBody>
      </p:sp>
      <p:cxnSp>
        <p:nvCxnSpPr>
          <p:cNvPr id="15" name="Connecteur droit avec flèche 14">
            <a:extLst>
              <a:ext uri="{FF2B5EF4-FFF2-40B4-BE49-F238E27FC236}">
                <a16:creationId xmlns:a16="http://schemas.microsoft.com/office/drawing/2014/main" id="{CB79E8D4-5600-1F4B-B648-CDFECAA5089C}"/>
              </a:ext>
            </a:extLst>
          </p:cNvPr>
          <p:cNvCxnSpPr/>
          <p:nvPr/>
        </p:nvCxnSpPr>
        <p:spPr>
          <a:xfrm>
            <a:off x="4724399" y="3614057"/>
            <a:ext cx="224245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3275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24657-49B0-8989-463C-897FA8878497}"/>
              </a:ext>
            </a:extLst>
          </p:cNvPr>
          <p:cNvSpPr>
            <a:spLocks noGrp="1"/>
          </p:cNvSpPr>
          <p:nvPr>
            <p:ph type="title"/>
          </p:nvPr>
        </p:nvSpPr>
        <p:spPr>
          <a:xfrm>
            <a:off x="685800" y="217715"/>
            <a:ext cx="6873200" cy="1894114"/>
          </a:xfrm>
        </p:spPr>
        <p:txBody>
          <a:bodyPr>
            <a:normAutofit/>
          </a:bodyPr>
          <a:lstStyle/>
          <a:p>
            <a:r>
              <a:rPr lang="fr-FR" sz="38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3.La superposition des forces </a:t>
            </a:r>
            <a:r>
              <a:rPr kumimoji="0" lang="fr-FR" sz="3200" b="0"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 </a:t>
            </a:r>
            <a:r>
              <a:rPr kumimoji="0" lang="fr-FR" sz="3600" b="1" i="0" u="none" strike="noStrike" kern="0" cap="none" spc="0" normalizeH="0" baseline="0" noProof="0" dirty="0">
                <a:ln>
                  <a:noFill/>
                </a:ln>
                <a:solidFill>
                  <a:srgbClr val="00B050"/>
                </a:solidFill>
                <a:effectLst/>
                <a:uLnTx/>
                <a:uFillTx/>
                <a:latin typeface="Times New Roman" panose="02020603050405020304" pitchFamily="18" charset="0"/>
                <a:cs typeface="Times New Roman" panose="02020603050405020304" pitchFamily="18" charset="0"/>
                <a:sym typeface="Century Gothic"/>
              </a:rPr>
              <a:t>The superposition of forces</a:t>
            </a:r>
            <a:br>
              <a:rPr lang="fr-FR" sz="3867"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lang="fr-FR" sz="3867" b="1" i="1" noProof="0" dirty="0">
                <a:solidFill>
                  <a:srgbClr val="92D050"/>
                </a:solidFill>
                <a:latin typeface="Times New Roman" panose="02020603050405020304" pitchFamily="18" charset="0"/>
                <a:ea typeface="Times New Roman" panose="02020603050405020304" pitchFamily="18" charset="0"/>
                <a:cs typeface="Arial" panose="020B0604020202020204" pitchFamily="34" charset="0"/>
              </a:rPr>
              <a:t>Application :</a:t>
            </a:r>
            <a:endParaRPr lang="fr-FR" noProof="0" dirty="0"/>
          </a:p>
        </p:txBody>
      </p:sp>
      <p:pic>
        <p:nvPicPr>
          <p:cNvPr id="9" name="Image 8">
            <a:extLst>
              <a:ext uri="{FF2B5EF4-FFF2-40B4-BE49-F238E27FC236}">
                <a16:creationId xmlns:a16="http://schemas.microsoft.com/office/drawing/2014/main" id="{1E628C42-88D3-0CC1-300A-F1F22847217D}"/>
              </a:ext>
            </a:extLst>
          </p:cNvPr>
          <p:cNvPicPr>
            <a:picLocks noChangeAspect="1"/>
          </p:cNvPicPr>
          <p:nvPr/>
        </p:nvPicPr>
        <p:blipFill>
          <a:blip r:embed="rId2"/>
          <a:stretch>
            <a:fillRect/>
          </a:stretch>
        </p:blipFill>
        <p:spPr>
          <a:xfrm>
            <a:off x="7721423" y="3734001"/>
            <a:ext cx="4064352" cy="2389839"/>
          </a:xfrm>
          <a:prstGeom prst="rect">
            <a:avLst/>
          </a:prstGeom>
        </p:spPr>
      </p:pic>
      <p:sp>
        <p:nvSpPr>
          <p:cNvPr id="4" name="Espace réservé du texte 3">
            <a:extLst>
              <a:ext uri="{FF2B5EF4-FFF2-40B4-BE49-F238E27FC236}">
                <a16:creationId xmlns:a16="http://schemas.microsoft.com/office/drawing/2014/main" id="{D6C3D280-3D10-F88A-407E-F226D3C99693}"/>
              </a:ext>
            </a:extLst>
          </p:cNvPr>
          <p:cNvSpPr>
            <a:spLocks noGrp="1"/>
          </p:cNvSpPr>
          <p:nvPr>
            <p:ph type="body" idx="1"/>
          </p:nvPr>
        </p:nvSpPr>
        <p:spPr>
          <a:xfrm>
            <a:off x="685800" y="2416628"/>
            <a:ext cx="6873200" cy="3801971"/>
          </a:xfrm>
        </p:spPr>
        <p:txBody>
          <a:bodyPr>
            <a:normAutofit/>
          </a:bodyPr>
          <a:lstStyle/>
          <a:p>
            <a:pPr marL="0" indent="0" defTabSz="1219170">
              <a:lnSpc>
                <a:spcPct val="115000"/>
              </a:lnSpc>
              <a:spcAft>
                <a:spcPts val="1067"/>
              </a:spcAft>
              <a:buClr>
                <a:srgbClr val="FFFFFF"/>
              </a:buClr>
              <a:buSzPts val="1000"/>
              <a:tabLst>
                <a:tab pos="609585" algn="l"/>
              </a:tabLst>
              <a:defRPr/>
            </a:pPr>
            <a:r>
              <a:rPr lang="fr-FR" sz="3600" noProof="0" dirty="0">
                <a:solidFill>
                  <a:srgbClr val="FFFFFF"/>
                </a:solidFill>
                <a:latin typeface="Times New Roman" panose="02020603050405020304" pitchFamily="18" charset="0"/>
                <a:ea typeface="Times New Roman" panose="02020603050405020304" pitchFamily="18" charset="0"/>
                <a:cs typeface="Times New Roman" panose="02020603050405020304" pitchFamily="18" charset="0"/>
              </a:rPr>
              <a:t>👉</a:t>
            </a:r>
            <a:r>
              <a:rPr lang="fr-FR" sz="3600" i="1"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Forces </a:t>
            </a:r>
            <a:r>
              <a:rPr lang="fr-FR" sz="3600" b="1" i="1" u="sng"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non colinéaires</a:t>
            </a:r>
            <a:r>
              <a:rPr lang="fr-FR" sz="3600" noProof="0" dirty="0">
                <a:latin typeface="Times New Roman" panose="02020603050405020304" pitchFamily="18" charset="0"/>
                <a:cs typeface="Times New Roman" panose="02020603050405020304" pitchFamily="18" charset="0"/>
              </a:rPr>
              <a:t> → </a:t>
            </a:r>
            <a:r>
              <a:rPr lang="fr-FR" sz="3600" b="1" i="1" noProof="0" dirty="0">
                <a:solidFill>
                  <a:srgbClr val="00B050"/>
                </a:solidFill>
                <a:latin typeface="Times New Roman" panose="02020603050405020304" pitchFamily="18" charset="0"/>
                <a:cs typeface="Times New Roman" panose="02020603050405020304" pitchFamily="18" charset="0"/>
              </a:rPr>
              <a:t>Non-</a:t>
            </a:r>
            <a:r>
              <a:rPr lang="fr-FR" sz="3600" b="1" i="1" noProof="0" dirty="0" err="1">
                <a:solidFill>
                  <a:srgbClr val="00B050"/>
                </a:solidFill>
                <a:latin typeface="Times New Roman" panose="02020603050405020304" pitchFamily="18" charset="0"/>
                <a:cs typeface="Times New Roman" panose="02020603050405020304" pitchFamily="18" charset="0"/>
              </a:rPr>
              <a:t>colinear</a:t>
            </a:r>
            <a:r>
              <a:rPr lang="fr-FR" sz="3600" b="1" i="1" noProof="0" dirty="0">
                <a:solidFill>
                  <a:srgbClr val="00B050"/>
                </a:solidFill>
                <a:latin typeface="Times New Roman" panose="02020603050405020304" pitchFamily="18" charset="0"/>
                <a:cs typeface="Times New Roman" panose="02020603050405020304" pitchFamily="18" charset="0"/>
              </a:rPr>
              <a:t> forces</a:t>
            </a:r>
            <a:r>
              <a:rPr lang="fr-FR" sz="3600" i="1" u="sng"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sz="3600" i="1" noProof="0" dirty="0">
                <a:solidFill>
                  <a:srgbClr val="FFFFFF"/>
                </a:solidFill>
                <a:latin typeface="Times New Roman" panose="02020603050405020304" pitchFamily="18" charset="0"/>
                <a:ea typeface="Times New Roman" panose="02020603050405020304" pitchFamily="18" charset="0"/>
                <a:cs typeface="Times New Roman" panose="02020603050405020304" pitchFamily="18" charset="0"/>
              </a:rPr>
              <a:t>, il faut faire une </a:t>
            </a:r>
            <a:r>
              <a:rPr lang="fr-FR" sz="3600" b="1" i="1" u="sng" noProof="0" dirty="0">
                <a:solidFill>
                  <a:srgbClr val="92D050"/>
                </a:solidFill>
                <a:latin typeface="Times New Roman" panose="02020603050405020304" pitchFamily="18" charset="0"/>
                <a:ea typeface="Times New Roman" panose="02020603050405020304" pitchFamily="18" charset="0"/>
                <a:cs typeface="Times New Roman" panose="02020603050405020304" pitchFamily="18" charset="0"/>
              </a:rPr>
              <a:t>somme vectorielle</a:t>
            </a:r>
            <a:r>
              <a:rPr lang="fr-FR" sz="3600" i="1" noProof="0" dirty="0">
                <a:solidFill>
                  <a:srgbClr val="92D050"/>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sz="3600" i="1" noProof="0" dirty="0">
                <a:solidFill>
                  <a:srgbClr val="FFFFFF"/>
                </a:solidFill>
                <a:latin typeface="Times New Roman" panose="02020603050405020304" pitchFamily="18" charset="0"/>
                <a:ea typeface="Times New Roman" panose="02020603050405020304" pitchFamily="18" charset="0"/>
                <a:cs typeface="Times New Roman" panose="02020603050405020304" pitchFamily="18" charset="0"/>
              </a:rPr>
              <a:t>(par la règle du </a:t>
            </a:r>
            <a:r>
              <a:rPr lang="fr-FR" sz="3600" b="1" i="1" noProof="0" dirty="0">
                <a:solidFill>
                  <a:srgbClr val="92D050"/>
                </a:solidFill>
                <a:latin typeface="Times New Roman" panose="02020603050405020304" pitchFamily="18" charset="0"/>
                <a:ea typeface="Times New Roman" panose="02020603050405020304" pitchFamily="18" charset="0"/>
                <a:cs typeface="Times New Roman" panose="02020603050405020304" pitchFamily="18" charset="0"/>
              </a:rPr>
              <a:t>parallélogramme</a:t>
            </a:r>
            <a:r>
              <a:rPr lang="fr-FR" sz="3600" i="1" noProof="0" dirty="0">
                <a:solidFill>
                  <a:srgbClr val="FFFFFF"/>
                </a:solidFill>
                <a:latin typeface="Times New Roman" panose="02020603050405020304" pitchFamily="18" charset="0"/>
                <a:ea typeface="Times New Roman" panose="02020603050405020304" pitchFamily="18" charset="0"/>
                <a:cs typeface="Times New Roman" panose="02020603050405020304" pitchFamily="18" charset="0"/>
              </a:rPr>
              <a:t> ou en utilisant les composantes).</a:t>
            </a:r>
            <a:endParaRPr lang="fr-FR" sz="3600" i="1" kern="100" noProof="0" dirty="0">
              <a:solidFill>
                <a:srgbClr val="FFFFFF"/>
              </a:solidFill>
              <a:latin typeface="Times New Roman" panose="02020603050405020304" pitchFamily="18" charset="0"/>
              <a:ea typeface="Aptos" panose="020B0004020202020204" pitchFamily="34" charset="0"/>
              <a:cs typeface="Times New Roman" panose="02020603050405020304" pitchFamily="18" charset="0"/>
            </a:endParaRPr>
          </a:p>
          <a:p>
            <a:endParaRPr lang="fr-FR" noProof="0" dirty="0"/>
          </a:p>
        </p:txBody>
      </p:sp>
      <p:pic>
        <p:nvPicPr>
          <p:cNvPr id="8" name="Image 7">
            <a:extLst>
              <a:ext uri="{FF2B5EF4-FFF2-40B4-BE49-F238E27FC236}">
                <a16:creationId xmlns:a16="http://schemas.microsoft.com/office/drawing/2014/main" id="{39098A0D-7A62-3C99-F01A-DCEBDBDD5304}"/>
              </a:ext>
            </a:extLst>
          </p:cNvPr>
          <p:cNvPicPr>
            <a:picLocks noChangeAspect="1"/>
          </p:cNvPicPr>
          <p:nvPr/>
        </p:nvPicPr>
        <p:blipFill>
          <a:blip r:embed="rId3"/>
          <a:stretch>
            <a:fillRect/>
          </a:stretch>
        </p:blipFill>
        <p:spPr>
          <a:xfrm>
            <a:off x="7721423" y="734162"/>
            <a:ext cx="4064352" cy="2389839"/>
          </a:xfrm>
          <a:prstGeom prst="rect">
            <a:avLst/>
          </a:prstGeom>
        </p:spPr>
      </p:pic>
    </p:spTree>
    <p:extLst>
      <p:ext uri="{BB962C8B-B14F-4D97-AF65-F5344CB8AC3E}">
        <p14:creationId xmlns:p14="http://schemas.microsoft.com/office/powerpoint/2010/main" val="2401024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7AF85924-E1E7-1ABB-65E7-9C83562FFFA3}"/>
                  </a:ext>
                </a:extLst>
              </p:cNvPr>
              <p:cNvSpPr>
                <a:spLocks noGrp="1"/>
              </p:cNvSpPr>
              <p:nvPr>
                <p:ph type="body" idx="1"/>
              </p:nvPr>
            </p:nvSpPr>
            <p:spPr>
              <a:xfrm>
                <a:off x="0" y="0"/>
                <a:ext cx="12192000" cy="6858000"/>
              </a:xfrm>
              <a:solidFill>
                <a:srgbClr val="002060"/>
              </a:solidFill>
            </p:spPr>
            <p:txBody>
              <a:bodyPr>
                <a:normAutofit lnSpcReduction="10000"/>
              </a:bodyPr>
              <a:lstStyle/>
              <a:p>
                <a:pPr algn="l">
                  <a:buNone/>
                </a:pPr>
                <a:r>
                  <a:rPr lang="fr-FR" sz="2800" b="1" noProof="0" dirty="0">
                    <a:solidFill>
                      <a:schemeClr val="accent3"/>
                    </a:solidFill>
                    <a:latin typeface="Times New Roman" panose="02020603050405020304" pitchFamily="18" charset="0"/>
                    <a:cs typeface="Times New Roman" panose="02020603050405020304" pitchFamily="18" charset="0"/>
                  </a:rPr>
                  <a:t>Exercice : </a:t>
                </a:r>
                <a:r>
                  <a:rPr lang="fr-FR" sz="2800" noProof="0" dirty="0">
                    <a:solidFill>
                      <a:schemeClr val="accent3"/>
                    </a:solidFill>
                    <a:latin typeface="Times New Roman" panose="02020603050405020304" pitchFamily="18" charset="0"/>
                    <a:cs typeface="Times New Roman" panose="02020603050405020304" pitchFamily="18" charset="0"/>
                  </a:rPr>
                  <a:t>Superposition de forces non-colinéaires   “Globule rouge dans un</a:t>
                </a:r>
              </a:p>
              <a:p>
                <a:pPr algn="l">
                  <a:buNone/>
                </a:pPr>
                <a:r>
                  <a:rPr lang="fr-FR" sz="2800" noProof="0" dirty="0">
                    <a:solidFill>
                      <a:schemeClr val="accent3"/>
                    </a:solidFill>
                    <a:latin typeface="Times New Roman" panose="02020603050405020304" pitchFamily="18" charset="0"/>
                    <a:cs typeface="Times New Roman" panose="02020603050405020304" pitchFamily="18" charset="0"/>
                  </a:rPr>
                  <a:t>Capillaire”</a:t>
                </a:r>
              </a:p>
              <a:p>
                <a:pPr algn="l">
                  <a:buNone/>
                </a:pPr>
                <a:r>
                  <a:rPr lang="fr-FR" sz="2800" noProof="0" dirty="0">
                    <a:latin typeface="Times New Roman" panose="02020603050405020304" pitchFamily="18" charset="0"/>
                    <a:cs typeface="Times New Roman" panose="02020603050405020304" pitchFamily="18" charset="0"/>
                  </a:rPr>
                  <a:t>Un globule rouge se trouve dans un capillaire. Deux forces agissent</a:t>
                </a:r>
              </a:p>
              <a:p>
                <a:pPr algn="l">
                  <a:buNone/>
                </a:pPr>
                <a:r>
                  <a:rPr lang="fr-FR" sz="2800" noProof="0" dirty="0">
                    <a:latin typeface="Times New Roman" panose="02020603050405020304" pitchFamily="18" charset="0"/>
                    <a:cs typeface="Times New Roman" panose="02020603050405020304" pitchFamily="18" charset="0"/>
                  </a:rPr>
                  <a:t>simultanément sur lui :</a:t>
                </a:r>
              </a:p>
              <a:p>
                <a:pPr marL="304793" indent="0" algn="l"/>
                <a:r>
                  <a:rPr lang="fr-FR" sz="2800" noProof="0" dirty="0">
                    <a:latin typeface="Times New Roman" panose="02020603050405020304" pitchFamily="18" charset="0"/>
                    <a:cs typeface="Times New Roman" panose="02020603050405020304" pitchFamily="18" charset="0"/>
                  </a:rPr>
                  <a:t>1. Une force de cisaillement du sang due à l’écoulement : </a:t>
                </a:r>
                <a14:m>
                  <m:oMath xmlns:m="http://schemas.openxmlformats.org/officeDocument/2006/math">
                    <m:acc>
                      <m:accPr>
                        <m:chr m:val="⃗"/>
                        <m:ctrlPr>
                          <a:rPr lang="fr-FR" sz="2800" b="1" i="1" noProof="0" smtClean="0">
                            <a:solidFill>
                              <a:schemeClr val="accent3"/>
                            </a:solidFill>
                            <a:latin typeface="Cambria Math" panose="02040503050406030204" pitchFamily="18" charset="0"/>
                          </a:rPr>
                        </m:ctrlPr>
                      </m:accPr>
                      <m:e>
                        <m:sSub>
                          <m:sSubPr>
                            <m:ctrlPr>
                              <a:rPr lang="fr-FR" sz="2800" b="1" i="1" noProof="0" smtClean="0">
                                <a:solidFill>
                                  <a:schemeClr val="accent3"/>
                                </a:solidFill>
                                <a:latin typeface="Cambria Math" panose="02040503050406030204" pitchFamily="18" charset="0"/>
                              </a:rPr>
                            </m:ctrlPr>
                          </m:sSubPr>
                          <m:e>
                            <m:r>
                              <a:rPr lang="fr-FR" sz="2800" b="1" i="1" noProof="0" smtClean="0">
                                <a:solidFill>
                                  <a:schemeClr val="accent3"/>
                                </a:solidFill>
                                <a:latin typeface="Cambria Math" panose="02040503050406030204" pitchFamily="18" charset="0"/>
                              </a:rPr>
                              <m:t>𝑭</m:t>
                            </m:r>
                          </m:e>
                          <m:sub>
                            <m:r>
                              <a:rPr lang="fr-FR" sz="2800" b="1" i="0" noProof="0" smtClean="0">
                                <a:solidFill>
                                  <a:schemeClr val="accent3"/>
                                </a:solidFill>
                                <a:latin typeface="Cambria Math" panose="02040503050406030204" pitchFamily="18" charset="0"/>
                              </a:rPr>
                              <m:t>𝟏</m:t>
                            </m:r>
                          </m:sub>
                        </m:sSub>
                      </m:e>
                    </m:acc>
                    <m:r>
                      <a:rPr lang="fr-FR" sz="2800" b="1" i="0" noProof="0" smtClean="0">
                        <a:solidFill>
                          <a:schemeClr val="accent3"/>
                        </a:solidFill>
                        <a:latin typeface="Cambria Math" panose="02040503050406030204" pitchFamily="18" charset="0"/>
                      </a:rPr>
                      <m:t>=</m:t>
                    </m:r>
                    <m:r>
                      <a:rPr lang="fr-FR" sz="2800" b="1" i="0" noProof="0" smtClean="0">
                        <a:solidFill>
                          <a:schemeClr val="accent3"/>
                        </a:solidFill>
                        <a:latin typeface="Cambria Math" panose="02040503050406030204" pitchFamily="18" charset="0"/>
                      </a:rPr>
                      <m:t>𝟒</m:t>
                    </m:r>
                    <m:r>
                      <m:rPr>
                        <m:nor/>
                      </m:rPr>
                      <a:rPr lang="fr-FR" sz="2800" b="1" i="1" noProof="0" smtClean="0">
                        <a:solidFill>
                          <a:schemeClr val="accent3"/>
                        </a:solidFill>
                        <a:latin typeface="Times New Roman" panose="02020603050405020304" pitchFamily="18" charset="0"/>
                        <a:cs typeface="Times New Roman" panose="02020603050405020304" pitchFamily="18" charset="0"/>
                      </a:rPr>
                      <m:t> </m:t>
                    </m:r>
                    <m:r>
                      <m:rPr>
                        <m:nor/>
                      </m:rPr>
                      <a:rPr lang="fr-FR" sz="2800" b="1" i="1" noProof="0" smtClean="0">
                        <a:solidFill>
                          <a:schemeClr val="accent3"/>
                        </a:solidFill>
                        <a:latin typeface="Times New Roman" panose="02020603050405020304" pitchFamily="18" charset="0"/>
                        <a:cs typeface="Times New Roman" panose="02020603050405020304" pitchFamily="18" charset="0"/>
                      </a:rPr>
                      <m:t>pN</m:t>
                    </m:r>
                  </m:oMath>
                </a14:m>
                <a:r>
                  <a:rPr lang="fr-FR" sz="2800" b="1" noProof="0" dirty="0">
                    <a:solidFill>
                      <a:schemeClr val="accent3"/>
                    </a:solidFill>
                    <a:latin typeface="Times New Roman" panose="02020603050405020304" pitchFamily="18" charset="0"/>
                    <a:cs typeface="Times New Roman" panose="02020603050405020304" pitchFamily="18" charset="0"/>
                  </a:rPr>
                  <a:t> </a:t>
                </a:r>
                <a:r>
                  <a:rPr lang="fr-FR" sz="2800" noProof="0" dirty="0">
                    <a:latin typeface="Times New Roman" panose="02020603050405020304" pitchFamily="18" charset="0"/>
                    <a:cs typeface="Times New Roman" panose="02020603050405020304" pitchFamily="18" charset="0"/>
                  </a:rPr>
                  <a:t>dirigée horizontalement vers la droite.</a:t>
                </a:r>
              </a:p>
              <a:p>
                <a:pPr marL="304793" indent="0" algn="l"/>
                <a:r>
                  <a:rPr lang="fr-FR" sz="2800" noProof="0" dirty="0">
                    <a:latin typeface="Times New Roman" panose="02020603050405020304" pitchFamily="18" charset="0"/>
                    <a:cs typeface="Times New Roman" panose="02020603050405020304" pitchFamily="18" charset="0"/>
                  </a:rPr>
                  <a:t>2. Une force électrique locale provoquée par une région chargée sur la</a:t>
                </a:r>
              </a:p>
              <a:p>
                <a:pPr marL="304793" indent="0" algn="l"/>
                <a:r>
                  <a:rPr lang="fr-FR" sz="2800" noProof="0" dirty="0">
                    <a:latin typeface="Times New Roman" panose="02020603050405020304" pitchFamily="18" charset="0"/>
                    <a:cs typeface="Times New Roman" panose="02020603050405020304" pitchFamily="18" charset="0"/>
                  </a:rPr>
                  <a:t>membrane d’un autre globule :</a:t>
                </a:r>
                <a14:m>
                  <m:oMath xmlns:m="http://schemas.openxmlformats.org/officeDocument/2006/math">
                    <m:acc>
                      <m:accPr>
                        <m:chr m:val="⃗"/>
                        <m:ctrlPr>
                          <a:rPr lang="fr-FR" sz="2800" b="1" i="1" noProof="0" smtClean="0">
                            <a:solidFill>
                              <a:schemeClr val="accent3"/>
                            </a:solidFill>
                            <a:latin typeface="Cambria Math" panose="02040503050406030204" pitchFamily="18" charset="0"/>
                          </a:rPr>
                        </m:ctrlPr>
                      </m:accPr>
                      <m:e>
                        <m:sSub>
                          <m:sSubPr>
                            <m:ctrlPr>
                              <a:rPr lang="fr-FR" sz="2800" b="1" i="1" noProof="0" smtClean="0">
                                <a:solidFill>
                                  <a:schemeClr val="accent3"/>
                                </a:solidFill>
                                <a:latin typeface="Cambria Math" panose="02040503050406030204" pitchFamily="18" charset="0"/>
                              </a:rPr>
                            </m:ctrlPr>
                          </m:sSubPr>
                          <m:e>
                            <m:r>
                              <a:rPr lang="fr-FR" sz="2800" b="1" i="1" noProof="0" smtClean="0">
                                <a:solidFill>
                                  <a:schemeClr val="accent3"/>
                                </a:solidFill>
                                <a:latin typeface="Cambria Math" panose="02040503050406030204" pitchFamily="18" charset="0"/>
                              </a:rPr>
                              <m:t>  </m:t>
                            </m:r>
                            <m:r>
                              <a:rPr lang="fr-FR" sz="2800" b="1" i="1" noProof="0" smtClean="0">
                                <a:solidFill>
                                  <a:schemeClr val="accent3"/>
                                </a:solidFill>
                                <a:latin typeface="Cambria Math" panose="02040503050406030204" pitchFamily="18" charset="0"/>
                              </a:rPr>
                              <m:t>𝑭</m:t>
                            </m:r>
                          </m:e>
                          <m:sub>
                            <m:r>
                              <a:rPr lang="fr-FR" sz="2800" b="1" i="0" noProof="0" smtClean="0">
                                <a:solidFill>
                                  <a:schemeClr val="accent3"/>
                                </a:solidFill>
                                <a:latin typeface="Cambria Math" panose="02040503050406030204" pitchFamily="18" charset="0"/>
                              </a:rPr>
                              <m:t>𝟐</m:t>
                            </m:r>
                          </m:sub>
                        </m:sSub>
                      </m:e>
                    </m:acc>
                    <m:r>
                      <a:rPr lang="fr-FR" sz="2800" b="1" i="0" noProof="0" smtClean="0">
                        <a:solidFill>
                          <a:schemeClr val="accent3"/>
                        </a:solidFill>
                        <a:latin typeface="Cambria Math" panose="02040503050406030204" pitchFamily="18" charset="0"/>
                      </a:rPr>
                      <m:t>=</m:t>
                    </m:r>
                    <m:r>
                      <a:rPr lang="fr-FR" sz="2800" b="1" i="0" noProof="0" smtClean="0">
                        <a:solidFill>
                          <a:schemeClr val="accent3"/>
                        </a:solidFill>
                        <a:latin typeface="Cambria Math" panose="02040503050406030204" pitchFamily="18" charset="0"/>
                      </a:rPr>
                      <m:t>𝟑</m:t>
                    </m:r>
                    <m:r>
                      <m:rPr>
                        <m:nor/>
                      </m:rPr>
                      <a:rPr lang="fr-FR" sz="2800" b="1" i="1" noProof="0" smtClean="0">
                        <a:solidFill>
                          <a:schemeClr val="accent3"/>
                        </a:solidFill>
                        <a:latin typeface="Times New Roman" panose="02020603050405020304" pitchFamily="18" charset="0"/>
                        <a:cs typeface="Times New Roman" panose="02020603050405020304" pitchFamily="18" charset="0"/>
                      </a:rPr>
                      <m:t> </m:t>
                    </m:r>
                    <m:r>
                      <m:rPr>
                        <m:nor/>
                      </m:rPr>
                      <a:rPr lang="fr-FR" sz="2800" b="1" i="1" noProof="0" smtClean="0">
                        <a:solidFill>
                          <a:schemeClr val="accent3"/>
                        </a:solidFill>
                        <a:latin typeface="Times New Roman" panose="02020603050405020304" pitchFamily="18" charset="0"/>
                        <a:cs typeface="Times New Roman" panose="02020603050405020304" pitchFamily="18" charset="0"/>
                      </a:rPr>
                      <m:t>pN</m:t>
                    </m:r>
                  </m:oMath>
                </a14:m>
                <a:r>
                  <a:rPr lang="fr-FR" sz="2800" noProof="0" dirty="0">
                    <a:latin typeface="Times New Roman" panose="02020603050405020304" pitchFamily="18" charset="0"/>
                    <a:cs typeface="Times New Roman" panose="02020603050405020304" pitchFamily="18" charset="0"/>
                  </a:rPr>
                  <a:t> dirigée verticalement vers le haut.</a:t>
                </a:r>
              </a:p>
              <a:p>
                <a:pPr algn="l">
                  <a:buNone/>
                </a:pPr>
                <a:r>
                  <a:rPr lang="fr-FR" sz="2800" noProof="0" dirty="0">
                    <a:latin typeface="Times New Roman" panose="02020603050405020304" pitchFamily="18" charset="0"/>
                    <a:cs typeface="Times New Roman" panose="02020603050405020304" pitchFamily="18" charset="0"/>
                  </a:rPr>
                  <a:t>Les deux forces ne sont pas colinéaires.</a:t>
                </a:r>
              </a:p>
              <a:p>
                <a:pPr algn="l">
                  <a:buNone/>
                </a:pPr>
                <a:r>
                  <a:rPr lang="fr-FR" sz="2800" b="1" noProof="0" dirty="0">
                    <a:latin typeface="Times New Roman" panose="02020603050405020304" pitchFamily="18" charset="0"/>
                    <a:cs typeface="Times New Roman" panose="02020603050405020304" pitchFamily="18" charset="0"/>
                  </a:rPr>
                  <a:t>Questions :</a:t>
                </a:r>
                <a:endParaRPr lang="fr-FR" sz="2800" noProof="0" dirty="0">
                  <a:latin typeface="Times New Roman" panose="02020603050405020304" pitchFamily="18" charset="0"/>
                  <a:cs typeface="Times New Roman" panose="02020603050405020304" pitchFamily="18" charset="0"/>
                </a:endParaRPr>
              </a:p>
              <a:p>
                <a:pPr marL="819143" indent="-514350" algn="l">
                  <a:buAutoNum type="alphaLcParenR"/>
                </a:pPr>
                <a:r>
                  <a:rPr lang="fr-FR" sz="2800" noProof="0" dirty="0">
                    <a:latin typeface="Times New Roman" panose="02020603050405020304" pitchFamily="18" charset="0"/>
                    <a:cs typeface="Times New Roman" panose="02020603050405020304" pitchFamily="18" charset="0"/>
                  </a:rPr>
                  <a:t>Représenter les deux forces sur un schéma (règle du parallélogramme).</a:t>
                </a:r>
              </a:p>
              <a:p>
                <a:pPr marL="819143" indent="-514350" algn="l">
                  <a:buAutoNum type="alphaLcParenR"/>
                </a:pPr>
                <a:r>
                  <a:rPr lang="fr-FR" sz="2800" noProof="0" dirty="0">
                    <a:latin typeface="Times New Roman" panose="02020603050405020304" pitchFamily="18" charset="0"/>
                    <a:cs typeface="Times New Roman" panose="02020603050405020304" pitchFamily="18" charset="0"/>
                  </a:rPr>
                  <a:t>Calculer la </a:t>
                </a:r>
                <a:r>
                  <a:rPr lang="fr-FR" sz="2800" b="1" noProof="0" dirty="0">
                    <a:latin typeface="Times New Roman" panose="02020603050405020304" pitchFamily="18" charset="0"/>
                    <a:cs typeface="Times New Roman" panose="02020603050405020304" pitchFamily="18" charset="0"/>
                  </a:rPr>
                  <a:t>force résultante</a:t>
                </a:r>
                <a:r>
                  <a:rPr lang="fr-FR" sz="2800" noProof="0"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fr-FR" sz="2800" i="1" noProof="0" smtClean="0">
                            <a:latin typeface="Cambria Math" panose="02040503050406030204" pitchFamily="18" charset="0"/>
                          </a:rPr>
                        </m:ctrlPr>
                      </m:accPr>
                      <m:e>
                        <m:sSub>
                          <m:sSubPr>
                            <m:ctrlPr>
                              <a:rPr lang="fr-FR" sz="2800" i="1" noProof="0" smtClean="0">
                                <a:latin typeface="Cambria Math" panose="02040503050406030204" pitchFamily="18" charset="0"/>
                              </a:rPr>
                            </m:ctrlPr>
                          </m:sSubPr>
                          <m:e>
                            <m:r>
                              <a:rPr lang="fr-FR" sz="2800" i="1" noProof="0" smtClean="0">
                                <a:latin typeface="Cambria Math" panose="02040503050406030204" pitchFamily="18" charset="0"/>
                              </a:rPr>
                              <m:t>𝐹</m:t>
                            </m:r>
                          </m:e>
                          <m:sub>
                            <m:r>
                              <a:rPr lang="fr-FR" sz="2800" i="1" noProof="0" smtClean="0">
                                <a:latin typeface="Cambria Math" panose="02040503050406030204" pitchFamily="18" charset="0"/>
                              </a:rPr>
                              <m:t>𝑅</m:t>
                            </m:r>
                          </m:sub>
                        </m:sSub>
                      </m:e>
                    </m:acc>
                  </m:oMath>
                </a14:m>
                <a:r>
                  <a:rPr lang="fr-FR" sz="2800" noProof="0" dirty="0">
                    <a:latin typeface="Times New Roman" panose="02020603050405020304" pitchFamily="18" charset="0"/>
                    <a:cs typeface="Times New Roman" panose="02020603050405020304" pitchFamily="18" charset="0"/>
                  </a:rPr>
                  <a:t>.</a:t>
                </a:r>
              </a:p>
              <a:p>
                <a:pPr marL="819143" indent="-514350" algn="l">
                  <a:buAutoNum type="alphaLcParenR"/>
                </a:pPr>
                <a:r>
                  <a:rPr lang="fr-FR" sz="2800" noProof="0" dirty="0">
                    <a:latin typeface="Times New Roman" panose="02020603050405020304" pitchFamily="18" charset="0"/>
                    <a:cs typeface="Times New Roman" panose="02020603050405020304" pitchFamily="18" charset="0"/>
                  </a:rPr>
                  <a:t>Déterminer la </a:t>
                </a:r>
                <a:r>
                  <a:rPr lang="fr-FR" sz="2800" b="1" noProof="0" dirty="0">
                    <a:latin typeface="Times New Roman" panose="02020603050405020304" pitchFamily="18" charset="0"/>
                    <a:cs typeface="Times New Roman" panose="02020603050405020304" pitchFamily="18" charset="0"/>
                  </a:rPr>
                  <a:t>direction</a:t>
                </a:r>
                <a:r>
                  <a:rPr lang="fr-FR" sz="2800" noProof="0" dirty="0">
                    <a:latin typeface="Times New Roman" panose="02020603050405020304" pitchFamily="18" charset="0"/>
                    <a:cs typeface="Times New Roman" panose="02020603050405020304" pitchFamily="18" charset="0"/>
                  </a:rPr>
                  <a:t> du mouvement du globule rouge (angle par rapport à l’horizontale).</a:t>
                </a:r>
              </a:p>
              <a:p>
                <a:pPr algn="l">
                  <a:buNone/>
                </a:pPr>
                <a:endParaRPr lang="fr-FR" sz="2800" noProof="0" dirty="0">
                  <a:latin typeface="Times New Roman" panose="02020603050405020304" pitchFamily="18" charset="0"/>
                  <a:cs typeface="Times New Roman" panose="02020603050405020304" pitchFamily="18" charset="0"/>
                </a:endParaRPr>
              </a:p>
              <a:p>
                <a:endParaRPr lang="fr-FR" noProof="0" dirty="0"/>
              </a:p>
            </p:txBody>
          </p:sp>
        </mc:Choice>
        <mc:Fallback xmlns="">
          <p:sp>
            <p:nvSpPr>
              <p:cNvPr id="3" name="Espace réservé du texte 2">
                <a:extLst>
                  <a:ext uri="{FF2B5EF4-FFF2-40B4-BE49-F238E27FC236}">
                    <a16:creationId xmlns:a16="http://schemas.microsoft.com/office/drawing/2014/main" id="{7AF85924-E1E7-1ABB-65E7-9C83562FFFA3}"/>
                  </a:ext>
                </a:extLst>
              </p:cNvPr>
              <p:cNvSpPr>
                <a:spLocks noGrp="1" noRot="1" noChangeAspect="1" noMove="1" noResize="1" noEditPoints="1" noAdjustHandles="1" noChangeArrowheads="1" noChangeShapeType="1" noTextEdit="1"/>
              </p:cNvSpPr>
              <p:nvPr>
                <p:ph type="body" idx="1"/>
              </p:nvPr>
            </p:nvSpPr>
            <p:spPr>
              <a:xfrm>
                <a:off x="0" y="0"/>
                <a:ext cx="12192000" cy="6858000"/>
              </a:xfrm>
              <a:blipFill>
                <a:blip r:embed="rId2"/>
                <a:stretch>
                  <a:fillRect t="-267"/>
                </a:stretch>
              </a:blipFill>
            </p:spPr>
            <p:txBody>
              <a:bodyPr/>
              <a:lstStyle/>
              <a:p>
                <a:r>
                  <a:rPr lang="fr-DZ">
                    <a:noFill/>
                  </a:rPr>
                  <a:t> </a:t>
                </a:r>
              </a:p>
            </p:txBody>
          </p:sp>
        </mc:Fallback>
      </mc:AlternateContent>
    </p:spTree>
    <p:extLst>
      <p:ext uri="{BB962C8B-B14F-4D97-AF65-F5344CB8AC3E}">
        <p14:creationId xmlns:p14="http://schemas.microsoft.com/office/powerpoint/2010/main" val="775159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A1632E77-27E4-B531-8B9A-5E9882642364}"/>
              </a:ext>
            </a:extLst>
          </p:cNvPr>
          <p:cNvPicPr>
            <a:picLocks noChangeAspect="1"/>
          </p:cNvPicPr>
          <p:nvPr/>
        </p:nvPicPr>
        <p:blipFill>
          <a:blip r:embed="rId2"/>
          <a:stretch>
            <a:fillRect/>
          </a:stretch>
        </p:blipFill>
        <p:spPr>
          <a:xfrm>
            <a:off x="952500" y="0"/>
            <a:ext cx="10287000" cy="6858000"/>
          </a:xfrm>
          <a:prstGeom prst="rect">
            <a:avLst/>
          </a:prstGeom>
        </p:spPr>
      </p:pic>
      <p:sp>
        <p:nvSpPr>
          <p:cNvPr id="6" name="ZoneTexte 5">
            <a:extLst>
              <a:ext uri="{FF2B5EF4-FFF2-40B4-BE49-F238E27FC236}">
                <a16:creationId xmlns:a16="http://schemas.microsoft.com/office/drawing/2014/main" id="{4FC3BF42-749D-D5C2-8BBC-BFE50547C832}"/>
              </a:ext>
            </a:extLst>
          </p:cNvPr>
          <p:cNvSpPr txBox="1"/>
          <p:nvPr/>
        </p:nvSpPr>
        <p:spPr>
          <a:xfrm>
            <a:off x="5595257" y="3603562"/>
            <a:ext cx="500743" cy="584775"/>
          </a:xfrm>
          <a:prstGeom prst="rect">
            <a:avLst/>
          </a:prstGeom>
          <a:noFill/>
        </p:spPr>
        <p:txBody>
          <a:bodyPr wrap="square">
            <a:spAutoFit/>
          </a:bodyPr>
          <a:lstStyle/>
          <a:p>
            <a:r>
              <a:rPr lang="fr-FR" sz="3200" b="1" noProof="0" dirty="0"/>
              <a:t>𝜃</a:t>
            </a:r>
          </a:p>
        </p:txBody>
      </p:sp>
      <p:pic>
        <p:nvPicPr>
          <p:cNvPr id="3" name="Image 2">
            <a:extLst>
              <a:ext uri="{FF2B5EF4-FFF2-40B4-BE49-F238E27FC236}">
                <a16:creationId xmlns:a16="http://schemas.microsoft.com/office/drawing/2014/main" id="{09A71783-CD8A-8CEA-167C-BC087D93A852}"/>
              </a:ext>
            </a:extLst>
          </p:cNvPr>
          <p:cNvPicPr>
            <a:picLocks noChangeAspect="1"/>
          </p:cNvPicPr>
          <p:nvPr/>
        </p:nvPicPr>
        <p:blipFill>
          <a:blip r:embed="rId3"/>
          <a:stretch>
            <a:fillRect/>
          </a:stretch>
        </p:blipFill>
        <p:spPr>
          <a:xfrm>
            <a:off x="6096000" y="3002243"/>
            <a:ext cx="1048603" cy="853514"/>
          </a:xfrm>
          <a:prstGeom prst="rect">
            <a:avLst/>
          </a:prstGeom>
        </p:spPr>
      </p:pic>
    </p:spTree>
    <p:extLst>
      <p:ext uri="{BB962C8B-B14F-4D97-AF65-F5344CB8AC3E}">
        <p14:creationId xmlns:p14="http://schemas.microsoft.com/office/powerpoint/2010/main" val="1079757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èche : haut 5">
            <a:extLst>
              <a:ext uri="{FF2B5EF4-FFF2-40B4-BE49-F238E27FC236}">
                <a16:creationId xmlns:a16="http://schemas.microsoft.com/office/drawing/2014/main" id="{EA94C941-9EB8-98AC-7390-8203D8ED3A1A}"/>
              </a:ext>
            </a:extLst>
          </p:cNvPr>
          <p:cNvSpPr/>
          <p:nvPr/>
        </p:nvSpPr>
        <p:spPr>
          <a:xfrm>
            <a:off x="6014357" y="2209800"/>
            <a:ext cx="163286" cy="2253343"/>
          </a:xfrm>
          <a:prstGeom prst="up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 name="Flèche : droite 3">
            <a:extLst>
              <a:ext uri="{FF2B5EF4-FFF2-40B4-BE49-F238E27FC236}">
                <a16:creationId xmlns:a16="http://schemas.microsoft.com/office/drawing/2014/main" id="{D68F21DD-03DD-BD4A-FCDE-C36E2CC07504}"/>
              </a:ext>
            </a:extLst>
          </p:cNvPr>
          <p:cNvSpPr/>
          <p:nvPr/>
        </p:nvSpPr>
        <p:spPr>
          <a:xfrm>
            <a:off x="6096000" y="4354286"/>
            <a:ext cx="2884714" cy="1850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8" name="Connecteur droit 7">
            <a:extLst>
              <a:ext uri="{FF2B5EF4-FFF2-40B4-BE49-F238E27FC236}">
                <a16:creationId xmlns:a16="http://schemas.microsoft.com/office/drawing/2014/main" id="{D3A1FE26-4BCC-736F-D8BD-1FB833562A52}"/>
              </a:ext>
            </a:extLst>
          </p:cNvPr>
          <p:cNvCxnSpPr>
            <a:cxnSpLocks/>
          </p:cNvCxnSpPr>
          <p:nvPr/>
        </p:nvCxnSpPr>
        <p:spPr>
          <a:xfrm>
            <a:off x="6096000" y="2209800"/>
            <a:ext cx="2862943"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2" name="Connecteur droit 11">
            <a:extLst>
              <a:ext uri="{FF2B5EF4-FFF2-40B4-BE49-F238E27FC236}">
                <a16:creationId xmlns:a16="http://schemas.microsoft.com/office/drawing/2014/main" id="{644EFF19-9738-C609-2039-53B2C3F9C77E}"/>
              </a:ext>
            </a:extLst>
          </p:cNvPr>
          <p:cNvCxnSpPr>
            <a:stCxn id="4" idx="3"/>
          </p:cNvCxnSpPr>
          <p:nvPr/>
        </p:nvCxnSpPr>
        <p:spPr>
          <a:xfrm flipH="1" flipV="1">
            <a:off x="8958943" y="2209800"/>
            <a:ext cx="21771" cy="2237015"/>
          </a:xfrm>
          <a:prstGeom prst="line">
            <a:avLst/>
          </a:prstGeom>
        </p:spPr>
        <p:style>
          <a:lnRef idx="1">
            <a:schemeClr val="accent4"/>
          </a:lnRef>
          <a:fillRef idx="0">
            <a:schemeClr val="accent4"/>
          </a:fillRef>
          <a:effectRef idx="0">
            <a:schemeClr val="accent4"/>
          </a:effectRef>
          <a:fontRef idx="minor">
            <a:schemeClr val="tx1"/>
          </a:fontRef>
        </p:style>
      </p:cxnSp>
      <p:cxnSp>
        <p:nvCxnSpPr>
          <p:cNvPr id="16" name="Connecteur droit avec flèche 15">
            <a:extLst>
              <a:ext uri="{FF2B5EF4-FFF2-40B4-BE49-F238E27FC236}">
                <a16:creationId xmlns:a16="http://schemas.microsoft.com/office/drawing/2014/main" id="{B8FEA429-A05F-5F26-0ACB-EE2782CE94AD}"/>
              </a:ext>
            </a:extLst>
          </p:cNvPr>
          <p:cNvCxnSpPr>
            <a:cxnSpLocks/>
          </p:cNvCxnSpPr>
          <p:nvPr/>
        </p:nvCxnSpPr>
        <p:spPr>
          <a:xfrm flipV="1">
            <a:off x="6079672" y="2217963"/>
            <a:ext cx="2862943" cy="223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B13DB663-069B-2098-BCA6-EE19C8C1A46F}"/>
                  </a:ext>
                </a:extLst>
              </p:cNvPr>
              <p:cNvSpPr/>
              <p:nvPr/>
            </p:nvSpPr>
            <p:spPr>
              <a:xfrm>
                <a:off x="7717971" y="4615543"/>
                <a:ext cx="1948543" cy="609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fr-FR" sz="2400"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ctrlPr>
                        </m:accPr>
                        <m:e>
                          <m:sSub>
                            <m:sSubPr>
                              <m:ctrlPr>
                                <a:rPr lang="fr-FR" sz="2400"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ctrlPr>
                            </m:sSubPr>
                            <m:e>
                              <m:r>
                                <a:rPr lang="fr-FR" sz="2400" b="0"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𝐹</m:t>
                              </m:r>
                            </m:e>
                            <m:sub>
                              <m:r>
                                <a:rPr lang="fr-FR" sz="2400" b="0"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1</m:t>
                              </m:r>
                            </m:sub>
                          </m:sSub>
                        </m:e>
                      </m:acc>
                      <m:r>
                        <a:rPr lang="fr-FR" sz="2400" b="0"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m:t>
                      </m:r>
                      <m:r>
                        <a:rPr lang="fr-FR" sz="2400" b="0"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4</m:t>
                      </m:r>
                      <m:r>
                        <m:rPr>
                          <m:nor/>
                        </m:rPr>
                        <a:rPr lang="fr-FR" sz="2400" i="1" kern="0" noProof="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Century Gothic"/>
                        </a:rPr>
                        <m:t> </m:t>
                      </m:r>
                      <m:r>
                        <m:rPr>
                          <m:nor/>
                        </m:rPr>
                        <a:rPr lang="fr-FR" sz="2400" i="1" kern="0" noProof="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Century Gothic"/>
                        </a:rPr>
                        <m:t>pN</m:t>
                      </m:r>
                    </m:oMath>
                  </m:oMathPara>
                </a14:m>
                <a:endParaRPr lang="fr-FR" noProof="0" dirty="0"/>
              </a:p>
            </p:txBody>
          </p:sp>
        </mc:Choice>
        <mc:Fallback xmlns="">
          <p:sp>
            <p:nvSpPr>
              <p:cNvPr id="19" name="Rectangle 18">
                <a:extLst>
                  <a:ext uri="{FF2B5EF4-FFF2-40B4-BE49-F238E27FC236}">
                    <a16:creationId xmlns:a16="http://schemas.microsoft.com/office/drawing/2014/main" id="{B13DB663-069B-2098-BCA6-EE19C8C1A46F}"/>
                  </a:ext>
                </a:extLst>
              </p:cNvPr>
              <p:cNvSpPr>
                <a:spLocks noRot="1" noChangeAspect="1" noMove="1" noResize="1" noEditPoints="1" noAdjustHandles="1" noChangeArrowheads="1" noChangeShapeType="1" noTextEdit="1"/>
              </p:cNvSpPr>
              <p:nvPr/>
            </p:nvSpPr>
            <p:spPr>
              <a:xfrm>
                <a:off x="7717971" y="4615543"/>
                <a:ext cx="1948543" cy="609600"/>
              </a:xfrm>
              <a:prstGeom prst="rect">
                <a:avLst/>
              </a:prstGeom>
              <a:blipFill>
                <a:blip r:embed="rId2"/>
                <a:stretch>
                  <a:fillRect/>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50D46828-B03B-02E5-51E7-A0F3134AED89}"/>
                  </a:ext>
                </a:extLst>
              </p:cNvPr>
              <p:cNvSpPr/>
              <p:nvPr/>
            </p:nvSpPr>
            <p:spPr>
              <a:xfrm>
                <a:off x="4223657" y="2217963"/>
                <a:ext cx="1752601" cy="56878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kumimoji="0" lang="fr-FR" sz="2600" b="0" i="1" u="none" strike="noStrike" kern="0" cap="none" spc="0" normalizeH="0" baseline="0" noProof="0" smtClean="0">
                              <a:ln>
                                <a:noFill/>
                              </a:ln>
                              <a:solidFill>
                                <a:schemeClr val="tx1"/>
                              </a:solidFill>
                              <a:effectLst/>
                              <a:uLnTx/>
                              <a:uFillTx/>
                              <a:latin typeface="Cambria Math" panose="02040503050406030204" pitchFamily="18" charset="0"/>
                              <a:sym typeface="Century Gothic"/>
                            </a:rPr>
                          </m:ctrlPr>
                        </m:accPr>
                        <m:e>
                          <m:sSub>
                            <m:sSubPr>
                              <m:ctrlPr>
                                <a:rPr kumimoji="0" lang="fr-FR" sz="2600" b="0" i="1" u="none" strike="noStrike" kern="0" cap="none" spc="0" normalizeH="0" baseline="0" noProof="0" smtClean="0">
                                  <a:ln>
                                    <a:noFill/>
                                  </a:ln>
                                  <a:solidFill>
                                    <a:schemeClr val="tx1"/>
                                  </a:solidFill>
                                  <a:effectLst/>
                                  <a:uLnTx/>
                                  <a:uFillTx/>
                                  <a:latin typeface="Cambria Math" panose="02040503050406030204" pitchFamily="18" charset="0"/>
                                  <a:sym typeface="Century Gothic"/>
                                </a:rPr>
                              </m:ctrlPr>
                            </m:sSubPr>
                            <m:e>
                              <m:r>
                                <a:rPr kumimoji="0" lang="fr-FR" sz="2600" b="0" i="1" u="none" strike="noStrike" kern="0" cap="none" spc="0" normalizeH="0" baseline="0" noProof="0" smtClean="0">
                                  <a:ln>
                                    <a:noFill/>
                                  </a:ln>
                                  <a:solidFill>
                                    <a:schemeClr val="tx1"/>
                                  </a:solidFill>
                                  <a:effectLst/>
                                  <a:uLnTx/>
                                  <a:uFillTx/>
                                  <a:latin typeface="Cambria Math" panose="02040503050406030204" pitchFamily="18" charset="0"/>
                                  <a:sym typeface="Century Gothic"/>
                                </a:rPr>
                                <m:t>  </m:t>
                              </m:r>
                              <m:r>
                                <a:rPr kumimoji="0" lang="fr-FR" sz="2600" b="0" i="1" u="none" strike="noStrike" kern="0" cap="none" spc="0" normalizeH="0" baseline="0" noProof="0" smtClean="0">
                                  <a:ln>
                                    <a:noFill/>
                                  </a:ln>
                                  <a:solidFill>
                                    <a:schemeClr val="tx1"/>
                                  </a:solidFill>
                                  <a:effectLst/>
                                  <a:uLnTx/>
                                  <a:uFillTx/>
                                  <a:latin typeface="Cambria Math" panose="02040503050406030204" pitchFamily="18" charset="0"/>
                                  <a:sym typeface="Century Gothic"/>
                                </a:rPr>
                                <m:t>𝐹</m:t>
                              </m:r>
                            </m:e>
                            <m:sub>
                              <m:r>
                                <a:rPr kumimoji="0" lang="fr-FR" sz="2600" b="0" i="0" u="none" strike="noStrike" kern="0" cap="none" spc="0" normalizeH="0" baseline="0" noProof="0" smtClean="0">
                                  <a:ln>
                                    <a:noFill/>
                                  </a:ln>
                                  <a:solidFill>
                                    <a:schemeClr val="tx1"/>
                                  </a:solidFill>
                                  <a:effectLst/>
                                  <a:uLnTx/>
                                  <a:uFillTx/>
                                  <a:latin typeface="Cambria Math" panose="02040503050406030204" pitchFamily="18" charset="0"/>
                                  <a:sym typeface="Century Gothic"/>
                                </a:rPr>
                                <m:t>2</m:t>
                              </m:r>
                            </m:sub>
                          </m:sSub>
                        </m:e>
                      </m:acc>
                      <m:r>
                        <a:rPr kumimoji="0" lang="fr-FR" sz="2600" b="0" i="0" u="none" strike="noStrike" kern="0" cap="none" spc="0" normalizeH="0" baseline="0" noProof="0" smtClean="0">
                          <a:ln>
                            <a:noFill/>
                          </a:ln>
                          <a:solidFill>
                            <a:schemeClr val="tx1"/>
                          </a:solidFill>
                          <a:effectLst/>
                          <a:uLnTx/>
                          <a:uFillTx/>
                          <a:latin typeface="Cambria Math" panose="02040503050406030204" pitchFamily="18" charset="0"/>
                          <a:sym typeface="Century Gothic"/>
                        </a:rPr>
                        <m:t>=3</m:t>
                      </m:r>
                      <m:r>
                        <m:rPr>
                          <m:nor/>
                        </m:rPr>
                        <a:rPr kumimoji="0" lang="fr-FR" sz="2600" b="0" i="1" u="none" strike="noStrike" kern="0" cap="none" spc="0" normalizeH="0" baseline="0" noProof="0" smtClean="0">
                          <a:ln>
                            <a:noFill/>
                          </a:ln>
                          <a:solidFill>
                            <a:schemeClr val="tx1"/>
                          </a:solidFill>
                          <a:effectLst/>
                          <a:uLnTx/>
                          <a:uFillTx/>
                          <a:latin typeface="Times New Roman" panose="02020603050405020304" pitchFamily="18" charset="0"/>
                          <a:cs typeface="Times New Roman" panose="02020603050405020304" pitchFamily="18" charset="0"/>
                          <a:sym typeface="Century Gothic"/>
                        </a:rPr>
                        <m:t> </m:t>
                      </m:r>
                      <m:r>
                        <m:rPr>
                          <m:nor/>
                        </m:rPr>
                        <a:rPr kumimoji="0" lang="fr-FR" sz="2600" b="0" i="1" u="none" strike="noStrike" kern="0" cap="none" spc="0" normalizeH="0" baseline="0" noProof="0" smtClean="0">
                          <a:ln>
                            <a:noFill/>
                          </a:ln>
                          <a:solidFill>
                            <a:schemeClr val="tx1"/>
                          </a:solidFill>
                          <a:effectLst/>
                          <a:uLnTx/>
                          <a:uFillTx/>
                          <a:latin typeface="Times New Roman" panose="02020603050405020304" pitchFamily="18" charset="0"/>
                          <a:cs typeface="Times New Roman" panose="02020603050405020304" pitchFamily="18" charset="0"/>
                          <a:sym typeface="Century Gothic"/>
                        </a:rPr>
                        <m:t>pN</m:t>
                      </m:r>
                    </m:oMath>
                  </m:oMathPara>
                </a14:m>
                <a:endParaRPr lang="fr-FR" noProof="0" dirty="0"/>
              </a:p>
            </p:txBody>
          </p:sp>
        </mc:Choice>
        <mc:Fallback xmlns="">
          <p:sp>
            <p:nvSpPr>
              <p:cNvPr id="21" name="Rectangle 20">
                <a:extLst>
                  <a:ext uri="{FF2B5EF4-FFF2-40B4-BE49-F238E27FC236}">
                    <a16:creationId xmlns:a16="http://schemas.microsoft.com/office/drawing/2014/main" id="{50D46828-B03B-02E5-51E7-A0F3134AED89}"/>
                  </a:ext>
                </a:extLst>
              </p:cNvPr>
              <p:cNvSpPr>
                <a:spLocks noRot="1" noChangeAspect="1" noMove="1" noResize="1" noEditPoints="1" noAdjustHandles="1" noChangeArrowheads="1" noChangeShapeType="1" noTextEdit="1"/>
              </p:cNvSpPr>
              <p:nvPr/>
            </p:nvSpPr>
            <p:spPr>
              <a:xfrm>
                <a:off x="4223657" y="2217963"/>
                <a:ext cx="1752601" cy="568780"/>
              </a:xfrm>
              <a:prstGeom prst="rect">
                <a:avLst/>
              </a:prstGeom>
              <a:blipFill>
                <a:blip r:embed="rId3"/>
                <a:stretch>
                  <a:fillRect/>
                </a:stretch>
              </a:blipFill>
            </p:spPr>
            <p:txBody>
              <a:bodyPr/>
              <a:lstStyle/>
              <a:p>
                <a:r>
                  <a:rPr lang="fr-DZ">
                    <a:noFill/>
                  </a:rPr>
                  <a:t> </a:t>
                </a:r>
              </a:p>
            </p:txBody>
          </p:sp>
        </mc:Fallback>
      </mc:AlternateContent>
      <p:cxnSp>
        <p:nvCxnSpPr>
          <p:cNvPr id="23" name="Connecteur droit 22">
            <a:extLst>
              <a:ext uri="{FF2B5EF4-FFF2-40B4-BE49-F238E27FC236}">
                <a16:creationId xmlns:a16="http://schemas.microsoft.com/office/drawing/2014/main" id="{228A1323-4F7C-7506-1639-2AD495311679}"/>
              </a:ext>
            </a:extLst>
          </p:cNvPr>
          <p:cNvCxnSpPr>
            <a:cxnSpLocks/>
          </p:cNvCxnSpPr>
          <p:nvPr/>
        </p:nvCxnSpPr>
        <p:spPr>
          <a:xfrm>
            <a:off x="6079672" y="4005943"/>
            <a:ext cx="5714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1EB9CA28-C6C1-0986-1E14-56B053EE0C7C}"/>
              </a:ext>
            </a:extLst>
          </p:cNvPr>
          <p:cNvCxnSpPr/>
          <p:nvPr/>
        </p:nvCxnSpPr>
        <p:spPr>
          <a:xfrm>
            <a:off x="6651171" y="4005943"/>
            <a:ext cx="0" cy="4572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81C40089-30B2-752A-3603-BDCDBD167541}"/>
                  </a:ext>
                </a:extLst>
              </p:cNvPr>
              <p:cNvSpPr txBox="1"/>
              <p:nvPr/>
            </p:nvSpPr>
            <p:spPr>
              <a:xfrm>
                <a:off x="6613072" y="3862039"/>
                <a:ext cx="661107"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fr-FR" sz="3200" b="0" i="1" u="none" strike="noStrike" kern="0" cap="none" spc="0" normalizeH="0" baseline="0" noProof="0" smtClean="0">
                          <a:ln>
                            <a:noFill/>
                          </a:ln>
                          <a:solidFill>
                            <a:srgbClr val="FFFFFF"/>
                          </a:solidFill>
                          <a:effectLst/>
                          <a:uLnTx/>
                          <a:uFillTx/>
                          <a:latin typeface="Cambria Math" panose="02040503050406030204" pitchFamily="18" charset="0"/>
                          <a:sym typeface="Century Gothic"/>
                        </a:rPr>
                        <m:t>𝜃</m:t>
                      </m:r>
                    </m:oMath>
                  </m:oMathPara>
                </a14:m>
                <a:endParaRPr lang="fr-FR" noProof="0" dirty="0"/>
              </a:p>
            </p:txBody>
          </p:sp>
        </mc:Choice>
        <mc:Fallback xmlns="">
          <p:sp>
            <p:nvSpPr>
              <p:cNvPr id="30" name="ZoneTexte 29">
                <a:extLst>
                  <a:ext uri="{FF2B5EF4-FFF2-40B4-BE49-F238E27FC236}">
                    <a16:creationId xmlns:a16="http://schemas.microsoft.com/office/drawing/2014/main" id="{81C40089-30B2-752A-3603-BDCDBD167541}"/>
                  </a:ext>
                </a:extLst>
              </p:cNvPr>
              <p:cNvSpPr txBox="1">
                <a:spLocks noRot="1" noChangeAspect="1" noMove="1" noResize="1" noEditPoints="1" noAdjustHandles="1" noChangeArrowheads="1" noChangeShapeType="1" noTextEdit="1"/>
              </p:cNvSpPr>
              <p:nvPr/>
            </p:nvSpPr>
            <p:spPr>
              <a:xfrm>
                <a:off x="6613072" y="3862039"/>
                <a:ext cx="661107" cy="584775"/>
              </a:xfrm>
              <a:prstGeom prst="rect">
                <a:avLst/>
              </a:prstGeom>
              <a:blipFill>
                <a:blip r:embed="rId4"/>
                <a:stretch>
                  <a:fillRect/>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11157589-1D9C-252A-EA6D-5AF450CA09F0}"/>
                  </a:ext>
                </a:extLst>
              </p:cNvPr>
              <p:cNvSpPr txBox="1"/>
              <p:nvPr/>
            </p:nvSpPr>
            <p:spPr>
              <a:xfrm>
                <a:off x="892630" y="3244334"/>
                <a:ext cx="4256314" cy="523220"/>
              </a:xfrm>
              <a:prstGeom prst="rect">
                <a:avLst/>
              </a:prstGeom>
              <a:noFill/>
            </p:spPr>
            <p:txBody>
              <a:bodyPr wrap="square">
                <a:spAutoFit/>
              </a:bodyPr>
              <a:lstStyle/>
              <a:p>
                <a:r>
                  <a:rPr lang="fr-FR" sz="2800" i="1" noProof="0" dirty="0">
                    <a:solidFill>
                      <a:schemeClr val="bg1"/>
                    </a:solidFill>
                    <a:latin typeface="Times New Roman" panose="02020603050405020304" pitchFamily="18" charset="0"/>
                    <a:cs typeface="Times New Roman" panose="02020603050405020304" pitchFamily="18" charset="0"/>
                  </a:rPr>
                  <a:t>1 </a:t>
                </a:r>
                <a:r>
                  <a:rPr lang="fr-FR" sz="2800" i="1" noProof="0" dirty="0" err="1">
                    <a:solidFill>
                      <a:schemeClr val="bg1"/>
                    </a:solidFill>
                    <a:latin typeface="Times New Roman" panose="02020603050405020304" pitchFamily="18" charset="0"/>
                    <a:cs typeface="Times New Roman" panose="02020603050405020304" pitchFamily="18" charset="0"/>
                  </a:rPr>
                  <a:t>pN</a:t>
                </a:r>
                <a:r>
                  <a:rPr lang="fr-FR" sz="2800" i="1" noProof="0" dirty="0">
                    <a:solidFill>
                      <a:schemeClr val="bg1"/>
                    </a:solidFill>
                    <a:latin typeface="Times New Roman" panose="02020603050405020304" pitchFamily="18" charset="0"/>
                    <a:cs typeface="Times New Roman" panose="02020603050405020304" pitchFamily="18" charset="0"/>
                  </a:rPr>
                  <a:t> = </a:t>
                </a:r>
                <a14:m>
                  <m:oMath xmlns:m="http://schemas.openxmlformats.org/officeDocument/2006/math">
                    <m:r>
                      <a:rPr lang="fr-FR" sz="2800" i="1" noProof="0" smtClean="0">
                        <a:solidFill>
                          <a:schemeClr val="bg1"/>
                        </a:solidFill>
                        <a:latin typeface="Cambria Math" panose="02040503050406030204" pitchFamily="18" charset="0"/>
                        <a:cs typeface="+mj-cs"/>
                      </a:rPr>
                      <m:t>1×</m:t>
                    </m:r>
                    <m:sSup>
                      <m:sSupPr>
                        <m:ctrlPr>
                          <a:rPr lang="fr-FR" sz="2800" i="1" noProof="0" smtClean="0">
                            <a:solidFill>
                              <a:schemeClr val="bg1"/>
                            </a:solidFill>
                            <a:latin typeface="Cambria Math" panose="02040503050406030204" pitchFamily="18" charset="0"/>
                            <a:cs typeface="+mj-cs"/>
                          </a:rPr>
                        </m:ctrlPr>
                      </m:sSupPr>
                      <m:e>
                        <m:r>
                          <a:rPr lang="fr-FR" sz="2800" i="1" noProof="0" smtClean="0">
                            <a:solidFill>
                              <a:schemeClr val="bg1"/>
                            </a:solidFill>
                            <a:latin typeface="Cambria Math" panose="02040503050406030204" pitchFamily="18" charset="0"/>
                            <a:cs typeface="+mj-cs"/>
                          </a:rPr>
                          <m:t>10</m:t>
                        </m:r>
                      </m:e>
                      <m:sup>
                        <m:r>
                          <a:rPr lang="fr-FR" sz="2800" i="1" noProof="0" smtClean="0">
                            <a:solidFill>
                              <a:schemeClr val="bg1"/>
                            </a:solidFill>
                            <a:latin typeface="Cambria Math" panose="02040503050406030204" pitchFamily="18" charset="0"/>
                            <a:cs typeface="+mj-cs"/>
                          </a:rPr>
                          <m:t>−12</m:t>
                        </m:r>
                      </m:sup>
                    </m:sSup>
                  </m:oMath>
                </a14:m>
                <a:r>
                  <a:rPr lang="fr-FR" sz="2800" i="1" noProof="0" dirty="0">
                    <a:solidFill>
                      <a:schemeClr val="bg1"/>
                    </a:solidFill>
                    <a:latin typeface="Times New Roman" panose="02020603050405020304" pitchFamily="18" charset="0"/>
                    <a:cs typeface="Times New Roman" panose="02020603050405020304" pitchFamily="18" charset="0"/>
                  </a:rPr>
                  <a:t>newton</a:t>
                </a:r>
              </a:p>
            </p:txBody>
          </p:sp>
        </mc:Choice>
        <mc:Fallback xmlns="">
          <p:sp>
            <p:nvSpPr>
              <p:cNvPr id="32" name="ZoneTexte 31">
                <a:extLst>
                  <a:ext uri="{FF2B5EF4-FFF2-40B4-BE49-F238E27FC236}">
                    <a16:creationId xmlns:a16="http://schemas.microsoft.com/office/drawing/2014/main" id="{11157589-1D9C-252A-EA6D-5AF450CA09F0}"/>
                  </a:ext>
                </a:extLst>
              </p:cNvPr>
              <p:cNvSpPr txBox="1">
                <a:spLocks noRot="1" noChangeAspect="1" noMove="1" noResize="1" noEditPoints="1" noAdjustHandles="1" noChangeArrowheads="1" noChangeShapeType="1" noTextEdit="1"/>
              </p:cNvSpPr>
              <p:nvPr/>
            </p:nvSpPr>
            <p:spPr>
              <a:xfrm>
                <a:off x="892630" y="3244334"/>
                <a:ext cx="4256314" cy="523220"/>
              </a:xfrm>
              <a:prstGeom prst="rect">
                <a:avLst/>
              </a:prstGeom>
              <a:blipFill>
                <a:blip r:embed="rId5"/>
                <a:stretch>
                  <a:fillRect l="-2861" t="-11628" b="-31395"/>
                </a:stretch>
              </a:blipFill>
            </p:spPr>
            <p:txBody>
              <a:bodyPr/>
              <a:lstStyle/>
              <a:p>
                <a:r>
                  <a:rPr lang="fr-DZ">
                    <a:noFill/>
                  </a:rPr>
                  <a:t> </a:t>
                </a:r>
              </a:p>
            </p:txBody>
          </p:sp>
        </mc:Fallback>
      </mc:AlternateContent>
    </p:spTree>
    <p:extLst>
      <p:ext uri="{BB962C8B-B14F-4D97-AF65-F5344CB8AC3E}">
        <p14:creationId xmlns:p14="http://schemas.microsoft.com/office/powerpoint/2010/main" val="54947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CA8FB7AD-1751-3937-D8EE-B7AD33729044}"/>
                  </a:ext>
                </a:extLst>
              </p:cNvPr>
              <p:cNvSpPr>
                <a:spLocks noGrp="1"/>
              </p:cNvSpPr>
              <p:nvPr>
                <p:ph type="body" idx="1"/>
              </p:nvPr>
            </p:nvSpPr>
            <p:spPr>
              <a:xfrm>
                <a:off x="0" y="9184"/>
                <a:ext cx="12192000" cy="6848816"/>
              </a:xfrm>
              <a:solidFill>
                <a:srgbClr val="002060"/>
              </a:solidFill>
            </p:spPr>
            <p:txBody>
              <a:bodyPr/>
              <a:lstStyle/>
              <a:p>
                <a:pPr algn="l">
                  <a:buNone/>
                </a:pPr>
                <a:r>
                  <a:rPr lang="fr-FR" sz="3200" b="1" noProof="0" dirty="0">
                    <a:solidFill>
                      <a:srgbClr val="FFFF00"/>
                    </a:solidFill>
                    <a:latin typeface="Times New Roman" panose="02020603050405020304" pitchFamily="18" charset="0"/>
                    <a:cs typeface="Times New Roman" panose="02020603050405020304" pitchFamily="18" charset="0"/>
                  </a:rPr>
                  <a:t>Correction :</a:t>
                </a:r>
                <a:endParaRPr lang="fr-FR" sz="3200" noProof="0" dirty="0">
                  <a:solidFill>
                    <a:srgbClr val="FFFF00"/>
                  </a:solidFill>
                  <a:latin typeface="Times New Roman" panose="02020603050405020304" pitchFamily="18" charset="0"/>
                  <a:cs typeface="Times New Roman" panose="02020603050405020304" pitchFamily="18" charset="0"/>
                </a:endParaRPr>
              </a:p>
              <a:p>
                <a:pPr algn="l">
                  <a:buNone/>
                </a:pPr>
                <a:r>
                  <a:rPr lang="fr-FR" sz="3200" noProof="0" dirty="0">
                    <a:latin typeface="Times New Roman" panose="02020603050405020304" pitchFamily="18" charset="0"/>
                    <a:cs typeface="Times New Roman" panose="02020603050405020304" pitchFamily="18" charset="0"/>
                  </a:rPr>
                  <a:t>a) Le schéma montre les deux forces perpendiculaires. </a:t>
                </a:r>
              </a:p>
              <a:p>
                <a:pPr algn="l">
                  <a:buNone/>
                </a:pPr>
                <a:r>
                  <a:rPr lang="fr-FR" sz="3200" noProof="0" dirty="0">
                    <a:latin typeface="Times New Roman" panose="02020603050405020304" pitchFamily="18" charset="0"/>
                    <a:cs typeface="Times New Roman" panose="02020603050405020304" pitchFamily="18" charset="0"/>
                  </a:rPr>
                  <a:t>La diagonale du </a:t>
                </a:r>
                <a:r>
                  <a:rPr lang="fr-FR" sz="3200" noProof="0" dirty="0" err="1">
                    <a:latin typeface="Times New Roman" panose="02020603050405020304" pitchFamily="18" charset="0"/>
                    <a:cs typeface="Times New Roman" panose="02020603050405020304" pitchFamily="18" charset="0"/>
                  </a:rPr>
                  <a:t>parallelograms</a:t>
                </a:r>
                <a:r>
                  <a:rPr lang="fr-FR" sz="3200" noProof="0" dirty="0">
                    <a:latin typeface="Times New Roman" panose="02020603050405020304" pitchFamily="18" charset="0"/>
                    <a:cs typeface="Times New Roman" panose="02020603050405020304" pitchFamily="18" charset="0"/>
                  </a:rPr>
                  <a:t> représente la résultante.</a:t>
                </a:r>
              </a:p>
              <a:p>
                <a:pPr algn="l">
                  <a:buNone/>
                </a:pPr>
                <a:r>
                  <a:rPr lang="fr-FR" sz="3200" noProof="0" dirty="0">
                    <a:latin typeface="Times New Roman" panose="02020603050405020304" pitchFamily="18" charset="0"/>
                    <a:cs typeface="Times New Roman" panose="02020603050405020304" pitchFamily="18" charset="0"/>
                  </a:rPr>
                  <a:t>b) Valeur de la résultante :</a:t>
                </a:r>
              </a:p>
              <a:p>
                <a:pPr algn="l">
                  <a:buNone/>
                </a:pPr>
                <a14:m>
                  <m:oMathPara xmlns:m="http://schemas.openxmlformats.org/officeDocument/2006/math">
                    <m:oMathParaPr>
                      <m:jc m:val="centerGroup"/>
                    </m:oMathParaPr>
                    <m:oMath xmlns:m="http://schemas.openxmlformats.org/officeDocument/2006/math">
                      <m:sSub>
                        <m:sSubPr>
                          <m:ctrlPr>
                            <a:rPr lang="fr-FR" sz="3200" i="1" noProof="0" smtClean="0">
                              <a:latin typeface="Cambria Math" panose="02040503050406030204" pitchFamily="18" charset="0"/>
                            </a:rPr>
                          </m:ctrlPr>
                        </m:sSubPr>
                        <m:e>
                          <m:r>
                            <a:rPr lang="fr-FR" sz="3200" i="1" noProof="0" smtClean="0">
                              <a:latin typeface="Cambria Math" panose="02040503050406030204" pitchFamily="18" charset="0"/>
                            </a:rPr>
                            <m:t>𝐹</m:t>
                          </m:r>
                        </m:e>
                        <m:sub>
                          <m:r>
                            <a:rPr lang="fr-FR" sz="3200" i="1" noProof="0" smtClean="0">
                              <a:latin typeface="Cambria Math" panose="02040503050406030204" pitchFamily="18" charset="0"/>
                            </a:rPr>
                            <m:t>𝑅</m:t>
                          </m:r>
                        </m:sub>
                      </m:sSub>
                      <m:r>
                        <a:rPr lang="fr-FR" sz="3200" i="0" noProof="0" smtClean="0">
                          <a:latin typeface="Cambria Math" panose="02040503050406030204" pitchFamily="18" charset="0"/>
                        </a:rPr>
                        <m:t>=</m:t>
                      </m:r>
                      <m:rad>
                        <m:radPr>
                          <m:degHide m:val="on"/>
                          <m:ctrlPr>
                            <a:rPr lang="fr-FR" sz="3200" i="1" noProof="0" smtClean="0">
                              <a:latin typeface="Cambria Math" panose="02040503050406030204" pitchFamily="18" charset="0"/>
                            </a:rPr>
                          </m:ctrlPr>
                        </m:radPr>
                        <m:deg/>
                        <m:e>
                          <m:sSubSup>
                            <m:sSubSupPr>
                              <m:ctrlPr>
                                <a:rPr lang="fr-FR" sz="3200" i="1" noProof="0" smtClean="0">
                                  <a:latin typeface="Cambria Math" panose="02040503050406030204" pitchFamily="18" charset="0"/>
                                </a:rPr>
                              </m:ctrlPr>
                            </m:sSubSupPr>
                            <m:e>
                              <m:r>
                                <a:rPr lang="fr-FR" sz="3200" i="1" noProof="0" smtClean="0">
                                  <a:latin typeface="Cambria Math" panose="02040503050406030204" pitchFamily="18" charset="0"/>
                                </a:rPr>
                                <m:t>𝐹</m:t>
                              </m:r>
                            </m:e>
                            <m:sub>
                              <m:r>
                                <a:rPr lang="fr-FR" sz="3200" i="0" noProof="0" smtClean="0">
                                  <a:latin typeface="Cambria Math" panose="02040503050406030204" pitchFamily="18" charset="0"/>
                                </a:rPr>
                                <m:t>1</m:t>
                              </m:r>
                            </m:sub>
                            <m:sup>
                              <m:r>
                                <a:rPr lang="fr-FR" sz="3200" i="0" noProof="0" smtClean="0">
                                  <a:latin typeface="Cambria Math" panose="02040503050406030204" pitchFamily="18" charset="0"/>
                                </a:rPr>
                                <m:t>2</m:t>
                              </m:r>
                            </m:sup>
                          </m:sSubSup>
                          <m:r>
                            <a:rPr lang="fr-FR" sz="3200" i="0" noProof="0" smtClean="0">
                              <a:latin typeface="Cambria Math" panose="02040503050406030204" pitchFamily="18" charset="0"/>
                            </a:rPr>
                            <m:t>+</m:t>
                          </m:r>
                          <m:sSubSup>
                            <m:sSubSupPr>
                              <m:ctrlPr>
                                <a:rPr lang="fr-FR" sz="3200" i="1" noProof="0" smtClean="0">
                                  <a:latin typeface="Cambria Math" panose="02040503050406030204" pitchFamily="18" charset="0"/>
                                </a:rPr>
                              </m:ctrlPr>
                            </m:sSubSupPr>
                            <m:e>
                              <m:r>
                                <a:rPr lang="fr-FR" sz="3200" i="1" noProof="0" smtClean="0">
                                  <a:latin typeface="Cambria Math" panose="02040503050406030204" pitchFamily="18" charset="0"/>
                                </a:rPr>
                                <m:t>𝐹</m:t>
                              </m:r>
                            </m:e>
                            <m:sub>
                              <m:r>
                                <a:rPr lang="fr-FR" sz="3200" i="0" noProof="0" smtClean="0">
                                  <a:latin typeface="Cambria Math" panose="02040503050406030204" pitchFamily="18" charset="0"/>
                                </a:rPr>
                                <m:t>2</m:t>
                              </m:r>
                            </m:sub>
                            <m:sup>
                              <m:r>
                                <a:rPr lang="fr-FR" sz="3200" i="0" noProof="0" smtClean="0">
                                  <a:latin typeface="Cambria Math" panose="02040503050406030204" pitchFamily="18" charset="0"/>
                                </a:rPr>
                                <m:t>2</m:t>
                              </m:r>
                            </m:sup>
                          </m:sSubSup>
                        </m:e>
                      </m:rad>
                      <m:r>
                        <a:rPr lang="fr-FR" sz="3200" i="0" noProof="0" smtClean="0">
                          <a:latin typeface="Cambria Math" panose="02040503050406030204" pitchFamily="18" charset="0"/>
                        </a:rPr>
                        <m:t>=</m:t>
                      </m:r>
                      <m:rad>
                        <m:radPr>
                          <m:degHide m:val="on"/>
                          <m:ctrlPr>
                            <a:rPr lang="fr-FR" sz="3200" i="1" noProof="0" smtClean="0">
                              <a:latin typeface="Cambria Math" panose="02040503050406030204" pitchFamily="18" charset="0"/>
                            </a:rPr>
                          </m:ctrlPr>
                        </m:radPr>
                        <m:deg/>
                        <m:e>
                          <m:sSup>
                            <m:sSupPr>
                              <m:ctrlPr>
                                <a:rPr lang="fr-FR" sz="3200" i="1" noProof="0" smtClean="0">
                                  <a:latin typeface="Cambria Math" panose="02040503050406030204" pitchFamily="18" charset="0"/>
                                </a:rPr>
                              </m:ctrlPr>
                            </m:sSupPr>
                            <m:e>
                              <m:r>
                                <a:rPr lang="fr-FR" sz="3200" i="0" noProof="0" smtClean="0">
                                  <a:latin typeface="Cambria Math" panose="02040503050406030204" pitchFamily="18" charset="0"/>
                                </a:rPr>
                                <m:t>4</m:t>
                              </m:r>
                            </m:e>
                            <m:sup>
                              <m:r>
                                <a:rPr lang="fr-FR" sz="3200" i="0" noProof="0" smtClean="0">
                                  <a:latin typeface="Cambria Math" panose="02040503050406030204" pitchFamily="18" charset="0"/>
                                </a:rPr>
                                <m:t>2</m:t>
                              </m:r>
                            </m:sup>
                          </m:sSup>
                          <m:r>
                            <a:rPr lang="fr-FR" sz="3200" i="0" noProof="0" smtClean="0">
                              <a:latin typeface="Cambria Math" panose="02040503050406030204" pitchFamily="18" charset="0"/>
                            </a:rPr>
                            <m:t>+</m:t>
                          </m:r>
                          <m:sSup>
                            <m:sSupPr>
                              <m:ctrlPr>
                                <a:rPr lang="fr-FR" sz="3200" i="1" noProof="0" smtClean="0">
                                  <a:latin typeface="Cambria Math" panose="02040503050406030204" pitchFamily="18" charset="0"/>
                                </a:rPr>
                              </m:ctrlPr>
                            </m:sSupPr>
                            <m:e>
                              <m:r>
                                <a:rPr lang="fr-FR" sz="3200" i="0" noProof="0" smtClean="0">
                                  <a:latin typeface="Cambria Math" panose="02040503050406030204" pitchFamily="18" charset="0"/>
                                </a:rPr>
                                <m:t>3</m:t>
                              </m:r>
                            </m:e>
                            <m:sup>
                              <m:r>
                                <a:rPr lang="fr-FR" sz="3200" i="0" noProof="0" smtClean="0">
                                  <a:latin typeface="Cambria Math" panose="02040503050406030204" pitchFamily="18" charset="0"/>
                                </a:rPr>
                                <m:t>2</m:t>
                              </m:r>
                            </m:sup>
                          </m:sSup>
                        </m:e>
                      </m:rad>
                      <m:r>
                        <a:rPr lang="fr-FR" sz="3200" i="0" noProof="0" smtClean="0">
                          <a:latin typeface="Cambria Math" panose="02040503050406030204" pitchFamily="18" charset="0"/>
                        </a:rPr>
                        <m:t>=5</m:t>
                      </m:r>
                      <m:r>
                        <m:rPr>
                          <m:nor/>
                        </m:rPr>
                        <a:rPr lang="fr-FR" sz="3200" b="0" i="1" noProof="0" smtClean="0">
                          <a:latin typeface="Times New Roman" panose="02020603050405020304" pitchFamily="18" charset="0"/>
                          <a:cs typeface="Times New Roman" panose="02020603050405020304" pitchFamily="18" charset="0"/>
                        </a:rPr>
                        <m:t> </m:t>
                      </m:r>
                      <m:r>
                        <m:rPr>
                          <m:nor/>
                        </m:rPr>
                        <a:rPr lang="fr-FR" sz="3200" b="0" i="1" noProof="0" smtClean="0">
                          <a:latin typeface="Times New Roman" panose="02020603050405020304" pitchFamily="18" charset="0"/>
                          <a:cs typeface="Times New Roman" panose="02020603050405020304" pitchFamily="18" charset="0"/>
                        </a:rPr>
                        <m:t>pN</m:t>
                      </m:r>
                    </m:oMath>
                  </m:oMathPara>
                </a14:m>
                <a:endParaRPr lang="fr-FR" sz="3200" b="0" noProof="0" dirty="0">
                  <a:latin typeface="Times New Roman" panose="02020603050405020304" pitchFamily="18" charset="0"/>
                  <a:cs typeface="Times New Roman" panose="02020603050405020304" pitchFamily="18" charset="0"/>
                </a:endParaRPr>
              </a:p>
              <a:p>
                <a:pPr algn="l">
                  <a:buNone/>
                </a:pPr>
                <a:r>
                  <a:rPr lang="fr-FR" sz="3200" noProof="0" dirty="0">
                    <a:latin typeface="Times New Roman" panose="02020603050405020304" pitchFamily="18" charset="0"/>
                    <a:cs typeface="Times New Roman" panose="02020603050405020304" pitchFamily="18" charset="0"/>
                  </a:rPr>
                  <a:t>c) Angle avec l’horizontale :</a:t>
                </a:r>
                <a:r>
                  <a:rPr lang="fr-FR" sz="2400" noProof="0" dirty="0"/>
                  <a:t> </a:t>
                </a:r>
                <a:r>
                  <a:rPr lang="fr-FR" sz="3200" noProof="0" dirty="0">
                    <a:latin typeface="Times New Roman" panose="02020603050405020304" pitchFamily="18" charset="0"/>
                    <a:cs typeface="Times New Roman" panose="02020603050405020304" pitchFamily="18" charset="0"/>
                  </a:rPr>
                  <a:t>tan(θ)=</a:t>
                </a:r>
                <a14:m>
                  <m:oMath xmlns:m="http://schemas.openxmlformats.org/officeDocument/2006/math">
                    <m:f>
                      <m:fPr>
                        <m:ctrlPr>
                          <a:rPr lang="fr-FR" sz="3200" i="1" noProof="0" smtClean="0">
                            <a:latin typeface="Cambria Math" panose="02040503050406030204" pitchFamily="18" charset="0"/>
                            <a:cs typeface="Times New Roman" panose="02020603050405020304" pitchFamily="18" charset="0"/>
                          </a:rPr>
                        </m:ctrlPr>
                      </m:fPr>
                      <m:num>
                        <m:r>
                          <a:rPr lang="fr-FR" sz="3200" b="0" i="1" noProof="0" smtClean="0">
                            <a:latin typeface="Cambria Math" panose="02040503050406030204" pitchFamily="18" charset="0"/>
                            <a:cs typeface="Times New Roman" panose="02020603050405020304" pitchFamily="18" charset="0"/>
                          </a:rPr>
                          <m:t>𝐶𝑜𝑡</m:t>
                        </m:r>
                        <m:r>
                          <a:rPr lang="fr-FR" sz="3200" b="0" i="1" noProof="0" smtClean="0">
                            <a:latin typeface="Cambria Math" panose="02040503050406030204" pitchFamily="18" charset="0"/>
                            <a:cs typeface="Times New Roman" panose="02020603050405020304" pitchFamily="18" charset="0"/>
                          </a:rPr>
                          <m:t>é </m:t>
                        </m:r>
                        <m:r>
                          <a:rPr lang="fr-FR" sz="3200" b="0" i="1" noProof="0" smtClean="0">
                            <a:latin typeface="Cambria Math" panose="02040503050406030204" pitchFamily="18" charset="0"/>
                            <a:cs typeface="Times New Roman" panose="02020603050405020304" pitchFamily="18" charset="0"/>
                          </a:rPr>
                          <m:t>𝑜𝑝𝑝𝑜𝑠</m:t>
                        </m:r>
                        <m:r>
                          <a:rPr lang="fr-FR" sz="3200" b="0" i="1" noProof="0" smtClean="0">
                            <a:latin typeface="Cambria Math" panose="02040503050406030204" pitchFamily="18" charset="0"/>
                            <a:cs typeface="Times New Roman" panose="02020603050405020304" pitchFamily="18" charset="0"/>
                          </a:rPr>
                          <m:t>é</m:t>
                        </m:r>
                      </m:num>
                      <m:den>
                        <m:r>
                          <a:rPr lang="fr-FR" sz="3200" b="0" i="1" noProof="0" smtClean="0">
                            <a:latin typeface="Cambria Math" panose="02040503050406030204" pitchFamily="18" charset="0"/>
                            <a:cs typeface="Times New Roman" panose="02020603050405020304" pitchFamily="18" charset="0"/>
                          </a:rPr>
                          <m:t>𝐶𝑜𝑡</m:t>
                        </m:r>
                        <m:r>
                          <a:rPr lang="fr-FR" sz="3200" b="0" i="1" noProof="0" smtClean="0">
                            <a:latin typeface="Cambria Math" panose="02040503050406030204" pitchFamily="18" charset="0"/>
                            <a:cs typeface="Times New Roman" panose="02020603050405020304" pitchFamily="18" charset="0"/>
                          </a:rPr>
                          <m:t>é </m:t>
                        </m:r>
                        <m:r>
                          <a:rPr lang="fr-FR" sz="3200" b="0" i="1" noProof="0" smtClean="0">
                            <a:latin typeface="Cambria Math" panose="02040503050406030204" pitchFamily="18" charset="0"/>
                            <a:cs typeface="Times New Roman" panose="02020603050405020304" pitchFamily="18" charset="0"/>
                          </a:rPr>
                          <m:t>𝑎𝑑𝑗𝑎𝑐𝑒𝑛𝑡</m:t>
                        </m:r>
                      </m:den>
                    </m:f>
                  </m:oMath>
                </a14:m>
                <a:r>
                  <a:rPr lang="fr-FR" sz="3200" noProof="0" dirty="0">
                    <a:latin typeface="Times New Roman" panose="02020603050405020304" pitchFamily="18" charset="0"/>
                    <a:cs typeface="Times New Roman" panose="02020603050405020304" pitchFamily="18" charset="0"/>
                  </a:rPr>
                  <a:t> = </a:t>
                </a:r>
                <a14:m>
                  <m:oMath xmlns:m="http://schemas.openxmlformats.org/officeDocument/2006/math">
                    <m:f>
                      <m:fPr>
                        <m:ctrlPr>
                          <a:rPr lang="fr-FR" sz="3600" i="1" noProof="0" smtClean="0">
                            <a:latin typeface="Cambria Math" panose="02040503050406030204" pitchFamily="18" charset="0"/>
                            <a:cs typeface="Times New Roman" panose="02020603050405020304" pitchFamily="18" charset="0"/>
                          </a:rPr>
                        </m:ctrlPr>
                      </m:fPr>
                      <m:num>
                        <m:sSub>
                          <m:sSubPr>
                            <m:ctrlPr>
                              <a:rPr lang="fr-FR" sz="3600" i="1" noProof="0" smtClean="0">
                                <a:latin typeface="Cambria Math" panose="02040503050406030204" pitchFamily="18" charset="0"/>
                                <a:cs typeface="Times New Roman" panose="02020603050405020304" pitchFamily="18" charset="0"/>
                              </a:rPr>
                            </m:ctrlPr>
                          </m:sSubPr>
                          <m:e>
                            <m:r>
                              <a:rPr lang="fr-FR" sz="3600" b="0" i="1" noProof="0" smtClean="0">
                                <a:latin typeface="Cambria Math" panose="02040503050406030204" pitchFamily="18" charset="0"/>
                                <a:cs typeface="Times New Roman" panose="02020603050405020304" pitchFamily="18" charset="0"/>
                              </a:rPr>
                              <m:t>𝐹</m:t>
                            </m:r>
                          </m:e>
                          <m:sub>
                            <m:r>
                              <a:rPr lang="fr-FR" sz="3600" b="0" i="1" noProof="0" smtClean="0">
                                <a:latin typeface="Cambria Math" panose="02040503050406030204" pitchFamily="18" charset="0"/>
                                <a:cs typeface="Times New Roman" panose="02020603050405020304" pitchFamily="18" charset="0"/>
                              </a:rPr>
                              <m:t>2</m:t>
                            </m:r>
                          </m:sub>
                        </m:sSub>
                      </m:num>
                      <m:den>
                        <m:sSub>
                          <m:sSubPr>
                            <m:ctrlPr>
                              <a:rPr lang="fr-FR" sz="3600" i="1" noProof="0" smtClean="0">
                                <a:latin typeface="Cambria Math" panose="02040503050406030204" pitchFamily="18" charset="0"/>
                                <a:cs typeface="Times New Roman" panose="02020603050405020304" pitchFamily="18" charset="0"/>
                              </a:rPr>
                            </m:ctrlPr>
                          </m:sSubPr>
                          <m:e>
                            <m:r>
                              <a:rPr lang="fr-FR" sz="3600" b="0" i="1" noProof="0" smtClean="0">
                                <a:latin typeface="Cambria Math" panose="02040503050406030204" pitchFamily="18" charset="0"/>
                                <a:cs typeface="Times New Roman" panose="02020603050405020304" pitchFamily="18" charset="0"/>
                              </a:rPr>
                              <m:t>𝐹</m:t>
                            </m:r>
                          </m:e>
                          <m:sub>
                            <m:r>
                              <a:rPr lang="fr-FR" sz="3600" b="0" i="1" noProof="0" smtClean="0">
                                <a:latin typeface="Cambria Math" panose="02040503050406030204" pitchFamily="18" charset="0"/>
                                <a:cs typeface="Times New Roman" panose="02020603050405020304" pitchFamily="18" charset="0"/>
                              </a:rPr>
                              <m:t>1</m:t>
                            </m:r>
                          </m:sub>
                        </m:sSub>
                      </m:den>
                    </m:f>
                  </m:oMath>
                </a14:m>
                <a:r>
                  <a:rPr lang="fr-FR" sz="3600" noProof="0" dirty="0">
                    <a:latin typeface="Times New Roman" panose="02020603050405020304" pitchFamily="18" charset="0"/>
                    <a:cs typeface="Times New Roman" panose="02020603050405020304" pitchFamily="18" charset="0"/>
                  </a:rPr>
                  <a:t>=  </a:t>
                </a:r>
                <a14:m>
                  <m:oMath xmlns:m="http://schemas.openxmlformats.org/officeDocument/2006/math">
                    <m:f>
                      <m:fPr>
                        <m:ctrlPr>
                          <a:rPr lang="fr-FR" sz="3600" i="1" noProof="0" smtClean="0">
                            <a:latin typeface="Cambria Math" panose="02040503050406030204" pitchFamily="18" charset="0"/>
                            <a:cs typeface="Times New Roman" panose="02020603050405020304" pitchFamily="18" charset="0"/>
                          </a:rPr>
                        </m:ctrlPr>
                      </m:fPr>
                      <m:num>
                        <m:r>
                          <a:rPr lang="fr-FR" sz="3600" b="0" i="1" noProof="0" smtClean="0">
                            <a:latin typeface="Cambria Math" panose="02040503050406030204" pitchFamily="18" charset="0"/>
                            <a:cs typeface="Times New Roman" panose="02020603050405020304" pitchFamily="18" charset="0"/>
                          </a:rPr>
                          <m:t>3</m:t>
                        </m:r>
                      </m:num>
                      <m:den>
                        <m:r>
                          <a:rPr lang="fr-FR" sz="3600" b="0" i="1" noProof="0" smtClean="0">
                            <a:latin typeface="Cambria Math" panose="02040503050406030204" pitchFamily="18" charset="0"/>
                            <a:cs typeface="Times New Roman" panose="02020603050405020304" pitchFamily="18" charset="0"/>
                          </a:rPr>
                          <m:t>4</m:t>
                        </m:r>
                      </m:den>
                    </m:f>
                  </m:oMath>
                </a14:m>
                <a:r>
                  <a:rPr lang="fr-FR" sz="3600" noProof="0" dirty="0">
                    <a:latin typeface="Times New Roman" panose="02020603050405020304" pitchFamily="18" charset="0"/>
                    <a:cs typeface="Times New Roman" panose="02020603050405020304" pitchFamily="18" charset="0"/>
                  </a:rPr>
                  <a:t> </a:t>
                </a:r>
                <a:r>
                  <a:rPr lang="fr-FR" sz="3200" noProof="0" dirty="0">
                    <a:latin typeface="Times New Roman" panose="02020603050405020304" pitchFamily="18" charset="0"/>
                    <a:cs typeface="Times New Roman" panose="02020603050405020304" pitchFamily="18" charset="0"/>
                  </a:rPr>
                  <a:t>=0,75          et   arctan0,75 = 36,87</a:t>
                </a:r>
                <a14:m>
                  <m:oMath xmlns:m="http://schemas.openxmlformats.org/officeDocument/2006/math">
                    <m:r>
                      <a:rPr lang="fr-FR" sz="3200" i="1" noProof="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fr-FR" sz="3200" noProof="0" dirty="0">
                    <a:latin typeface="Times New Roman" panose="02020603050405020304" pitchFamily="18" charset="0"/>
                    <a:cs typeface="Times New Roman" panose="02020603050405020304" pitchFamily="18" charset="0"/>
                  </a:rPr>
                  <a:t>37°</a:t>
                </a:r>
                <a:r>
                  <a:rPr lang="fr-FR" sz="3200" noProof="0" dirty="0">
                    <a:latin typeface="Cambria Math" panose="02040503050406030204" pitchFamily="18" charset="0"/>
                    <a:ea typeface="Cambria Math" panose="02040503050406030204" pitchFamily="18" charset="0"/>
                    <a:cs typeface="Times New Roman" panose="02020603050405020304" pitchFamily="18" charset="0"/>
                  </a:rPr>
                  <a:t>⇒θ</a:t>
                </a:r>
                <a14:m>
                  <m:oMath xmlns:m="http://schemas.openxmlformats.org/officeDocument/2006/math">
                    <m:r>
                      <a:rPr lang="fr-FR" sz="3200" i="1" noProof="0" smtClean="0">
                        <a:latin typeface="Cambria Math" panose="02040503050406030204" pitchFamily="18" charset="0"/>
                        <a:ea typeface="Cambria Math" panose="02040503050406030204" pitchFamily="18" charset="0"/>
                        <a:cs typeface="Times New Roman" panose="02020603050405020304" pitchFamily="18" charset="0"/>
                      </a:rPr>
                      <m:t>≈</m:t>
                    </m:r>
                    <m:r>
                      <a:rPr lang="fr-FR" sz="3200" b="0" i="1" noProof="0" smtClean="0">
                        <a:latin typeface="Cambria Math" panose="02040503050406030204" pitchFamily="18" charset="0"/>
                        <a:ea typeface="Cambria Math" panose="02040503050406030204" pitchFamily="18" charset="0"/>
                        <a:cs typeface="Times New Roman" panose="02020603050405020304" pitchFamily="18" charset="0"/>
                      </a:rPr>
                      <m:t>37°</m:t>
                    </m:r>
                  </m:oMath>
                </a14:m>
                <a:endParaRPr lang="fr-FR" sz="3200" noProof="0" dirty="0">
                  <a:latin typeface="Cambria Math" panose="02040503050406030204" pitchFamily="18" charset="0"/>
                  <a:ea typeface="Cambria Math" panose="02040503050406030204" pitchFamily="18" charset="0"/>
                  <a:cs typeface="Times New Roman" panose="02020603050405020304" pitchFamily="18" charset="0"/>
                </a:endParaRPr>
              </a:p>
              <a:p>
                <a:pPr algn="l">
                  <a:buNone/>
                </a:pPr>
                <a:r>
                  <a:rPr lang="fr-FR" sz="3200" noProof="0" dirty="0">
                    <a:solidFill>
                      <a:srgbClr val="FFFF00"/>
                    </a:solidFill>
                    <a:latin typeface="Times New Roman" panose="02020603050405020304" pitchFamily="18" charset="0"/>
                    <a:cs typeface="Times New Roman" panose="02020603050405020304" pitchFamily="18" charset="0"/>
                  </a:rPr>
                  <a:t>Conclusion : </a:t>
                </a:r>
                <a:r>
                  <a:rPr lang="fr-FR" sz="3200" noProof="0" dirty="0">
                    <a:latin typeface="Times New Roman" panose="02020603050405020304" pitchFamily="18" charset="0"/>
                    <a:cs typeface="Times New Roman" panose="02020603050405020304" pitchFamily="18" charset="0"/>
                  </a:rPr>
                  <a:t>Le globule rouge se déplace avec une force totale de</a:t>
                </a:r>
              </a:p>
              <a:p>
                <a:pPr algn="l">
                  <a:buNone/>
                </a:pPr>
                <a:r>
                  <a:rPr lang="fr-FR" sz="3200" noProof="0" dirty="0">
                    <a:latin typeface="Times New Roman" panose="02020603050405020304" pitchFamily="18" charset="0"/>
                    <a:cs typeface="Times New Roman" panose="02020603050405020304" pitchFamily="18" charset="0"/>
                  </a:rPr>
                  <a:t>5 </a:t>
                </a:r>
                <a:r>
                  <a:rPr lang="fr-FR" sz="3200" noProof="0" dirty="0" err="1">
                    <a:latin typeface="Times New Roman" panose="02020603050405020304" pitchFamily="18" charset="0"/>
                    <a:cs typeface="Times New Roman" panose="02020603050405020304" pitchFamily="18" charset="0"/>
                  </a:rPr>
                  <a:t>pN</a:t>
                </a:r>
                <a:r>
                  <a:rPr lang="fr-FR" sz="3200" noProof="0" dirty="0">
                    <a:latin typeface="Times New Roman" panose="02020603050405020304" pitchFamily="18" charset="0"/>
                    <a:cs typeface="Times New Roman" panose="02020603050405020304" pitchFamily="18" charset="0"/>
                  </a:rPr>
                  <a:t>, inclinée d’environ 37° au-dessus de l’horizontale</a:t>
                </a:r>
              </a:p>
              <a:p>
                <a:pPr algn="l"/>
                <a:endParaRPr lang="fr-FR" noProof="0" dirty="0"/>
              </a:p>
            </p:txBody>
          </p:sp>
        </mc:Choice>
        <mc:Fallback xmlns="">
          <p:sp>
            <p:nvSpPr>
              <p:cNvPr id="3" name="Espace réservé du texte 2">
                <a:extLst>
                  <a:ext uri="{FF2B5EF4-FFF2-40B4-BE49-F238E27FC236}">
                    <a16:creationId xmlns:a16="http://schemas.microsoft.com/office/drawing/2014/main" id="{CA8FB7AD-1751-3937-D8EE-B7AD33729044}"/>
                  </a:ext>
                </a:extLst>
              </p:cNvPr>
              <p:cNvSpPr>
                <a:spLocks noGrp="1" noRot="1" noChangeAspect="1" noMove="1" noResize="1" noEditPoints="1" noAdjustHandles="1" noChangeArrowheads="1" noChangeShapeType="1" noTextEdit="1"/>
              </p:cNvSpPr>
              <p:nvPr>
                <p:ph type="body" idx="1"/>
              </p:nvPr>
            </p:nvSpPr>
            <p:spPr>
              <a:xfrm>
                <a:off x="0" y="9184"/>
                <a:ext cx="12192000" cy="6848816"/>
              </a:xfrm>
              <a:blipFill>
                <a:blip r:embed="rId2"/>
                <a:stretch>
                  <a:fillRect t="-89"/>
                </a:stretch>
              </a:blipFill>
            </p:spPr>
            <p:txBody>
              <a:bodyPr/>
              <a:lstStyle/>
              <a:p>
                <a:r>
                  <a:rPr lang="fr-DZ">
                    <a:noFill/>
                  </a:rPr>
                  <a:t> </a:t>
                </a:r>
              </a:p>
            </p:txBody>
          </p:sp>
        </mc:Fallback>
      </mc:AlternateContent>
      <p:sp>
        <p:nvSpPr>
          <p:cNvPr id="2" name="Rectangle 1">
            <a:extLst>
              <a:ext uri="{FF2B5EF4-FFF2-40B4-BE49-F238E27FC236}">
                <a16:creationId xmlns:a16="http://schemas.microsoft.com/office/drawing/2014/main" id="{D2E90780-D75E-17E0-2593-0E577FC32D5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800" b="0" i="0" u="none" strike="noStrike" cap="none" normalizeH="0" baseline="0" noProof="0" dirty="0">
                <a:ln>
                  <a:noFill/>
                </a:ln>
                <a:solidFill>
                  <a:schemeClr val="tx1"/>
                </a:solidFill>
                <a:effectLst/>
                <a:latin typeface="Google Sans Text"/>
              </a:rPr>
              <a:t>$$\tan(\alpha) = \frac{\</a:t>
            </a:r>
            <a:r>
              <a:rPr kumimoji="0" lang="fr-FR" sz="1800" b="0" i="0" u="none" strike="noStrike" cap="none" normalizeH="0" baseline="0" noProof="0" dirty="0" err="1">
                <a:ln>
                  <a:noFill/>
                </a:ln>
                <a:solidFill>
                  <a:schemeClr val="tx1"/>
                </a:solidFill>
                <a:effectLst/>
                <a:latin typeface="Google Sans Text"/>
              </a:rPr>
              <a:t>text</a:t>
            </a:r>
            <a:r>
              <a:rPr kumimoji="0" lang="fr-FR" sz="1800" b="0" i="0" u="none" strike="noStrike" cap="none" normalizeH="0" baseline="0" noProof="0" dirty="0">
                <a:ln>
                  <a:noFill/>
                </a:ln>
                <a:solidFill>
                  <a:schemeClr val="tx1"/>
                </a:solidFill>
                <a:effectLst/>
                <a:latin typeface="Google Sans Text"/>
              </a:rPr>
              <a:t>{côté opposé}}{\</a:t>
            </a:r>
            <a:r>
              <a:rPr kumimoji="0" lang="fr-FR" sz="1800" b="0" i="0" u="none" strike="noStrike" cap="none" normalizeH="0" baseline="0" noProof="0" dirty="0" err="1">
                <a:ln>
                  <a:noFill/>
                </a:ln>
                <a:solidFill>
                  <a:schemeClr val="tx1"/>
                </a:solidFill>
                <a:effectLst/>
                <a:latin typeface="Google Sans Text"/>
              </a:rPr>
              <a:t>text</a:t>
            </a:r>
            <a:r>
              <a:rPr kumimoji="0" lang="fr-FR" sz="1800" b="0" i="0" u="none" strike="noStrike" cap="none" normalizeH="0" baseline="0" noProof="0" dirty="0">
                <a:ln>
                  <a:noFill/>
                </a:ln>
                <a:solidFill>
                  <a:schemeClr val="tx1"/>
                </a:solidFill>
                <a:effectLst/>
                <a:latin typeface="Google Sans Text"/>
              </a:rPr>
              <a:t>{côté adjacent}} = \frac{F_2}{F_1}$$</a:t>
            </a:r>
            <a:endParaRPr kumimoji="0" lang="fr-FR" sz="1800" b="0" i="0" u="none" strike="noStrike" cap="none" normalizeH="0" baseline="0" noProof="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AA7F3C59-3864-4FDD-AB7F-925297DDD930}"/>
              </a:ext>
            </a:extLst>
          </p:cNvPr>
          <p:cNvSpPr>
            <a:spLocks noChangeArrowheads="1"/>
          </p:cNvSpPr>
          <p:nvPr/>
        </p:nvSpPr>
        <p:spPr bwMode="auto">
          <a:xfrm>
            <a:off x="152400" y="-9182"/>
            <a:ext cx="35458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800" b="0" i="0" u="none" strike="noStrike" cap="none" normalizeH="0" baseline="0" noProof="0" dirty="0">
                <a:ln>
                  <a:noFill/>
                </a:ln>
                <a:solidFill>
                  <a:schemeClr val="tx1"/>
                </a:solidFill>
                <a:effectLst/>
                <a:latin typeface="Cambria Math" panose="02040503050406030204" pitchFamily="18" charset="0"/>
                <a:ea typeface="Cambria Math" panose="02040503050406030204" pitchFamily="18" charset="0"/>
              </a:rPr>
              <a:t>≈</a:t>
            </a:r>
            <a:endParaRPr kumimoji="0" lang="fr-FR" sz="1800" b="0" i="0" u="none" strike="noStrike" cap="none" normalizeH="0" baseline="0" noProof="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5665E91B-A5B8-2794-EEF2-06D31309E51F}"/>
              </a:ext>
            </a:extLst>
          </p:cNvPr>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800" b="0" i="0" u="none" strike="noStrike" cap="none" normalizeH="0" baseline="0" noProof="0" dirty="0">
                <a:ln>
                  <a:noFill/>
                </a:ln>
                <a:solidFill>
                  <a:schemeClr val="tx1"/>
                </a:solidFill>
                <a:effectLst/>
                <a:latin typeface="Google Sans Text"/>
              </a:rPr>
              <a:t>$$\tan(\alpha) = \frac{\</a:t>
            </a:r>
            <a:r>
              <a:rPr kumimoji="0" lang="fr-FR" sz="1800" b="0" i="0" u="none" strike="noStrike" cap="none" normalizeH="0" baseline="0" noProof="0" dirty="0" err="1">
                <a:ln>
                  <a:noFill/>
                </a:ln>
                <a:solidFill>
                  <a:schemeClr val="tx1"/>
                </a:solidFill>
                <a:effectLst/>
                <a:latin typeface="Google Sans Text"/>
              </a:rPr>
              <a:t>text</a:t>
            </a:r>
            <a:r>
              <a:rPr kumimoji="0" lang="fr-FR" sz="1800" b="0" i="0" u="none" strike="noStrike" cap="none" normalizeH="0" baseline="0" noProof="0" dirty="0">
                <a:ln>
                  <a:noFill/>
                </a:ln>
                <a:solidFill>
                  <a:schemeClr val="tx1"/>
                </a:solidFill>
                <a:effectLst/>
                <a:latin typeface="Google Sans Text"/>
              </a:rPr>
              <a:t>{côté opposé}}{\</a:t>
            </a:r>
            <a:r>
              <a:rPr kumimoji="0" lang="fr-FR" sz="1800" b="0" i="0" u="none" strike="noStrike" cap="none" normalizeH="0" baseline="0" noProof="0" dirty="0" err="1">
                <a:ln>
                  <a:noFill/>
                </a:ln>
                <a:solidFill>
                  <a:schemeClr val="tx1"/>
                </a:solidFill>
                <a:effectLst/>
                <a:latin typeface="Google Sans Text"/>
              </a:rPr>
              <a:t>text</a:t>
            </a:r>
            <a:r>
              <a:rPr kumimoji="0" lang="fr-FR" sz="1800" b="0" i="0" u="none" strike="noStrike" cap="none" normalizeH="0" baseline="0" noProof="0" dirty="0">
                <a:ln>
                  <a:noFill/>
                </a:ln>
                <a:solidFill>
                  <a:schemeClr val="tx1"/>
                </a:solidFill>
                <a:effectLst/>
                <a:latin typeface="Google Sans Text"/>
              </a:rPr>
              <a:t>{côté adjacent}} = \frac{F_2}{F_1}$$</a:t>
            </a:r>
            <a:endParaRPr kumimoji="0" lang="fr-FR" sz="1800" b="0" i="0" u="none" strike="noStrike" cap="none" normalizeH="0" baseline="0" noProof="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2313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54C2-1FB6-B317-F0A1-737281BB5668}"/>
            </a:ext>
          </a:extLst>
        </p:cNvPr>
        <p:cNvGrpSpPr/>
        <p:nvPr/>
      </p:nvGrpSpPr>
      <p:grpSpPr>
        <a:xfrm>
          <a:off x="0" y="0"/>
          <a:ext cx="0" cy="0"/>
          <a:chOff x="0" y="0"/>
          <a:chExt cx="0" cy="0"/>
        </a:xfrm>
      </p:grpSpPr>
      <p:sp>
        <p:nvSpPr>
          <p:cNvPr id="6" name="Flèche : haut 5">
            <a:extLst>
              <a:ext uri="{FF2B5EF4-FFF2-40B4-BE49-F238E27FC236}">
                <a16:creationId xmlns:a16="http://schemas.microsoft.com/office/drawing/2014/main" id="{3E5C5FBB-9BAB-6545-DFA9-E0467C3B9B06}"/>
              </a:ext>
            </a:extLst>
          </p:cNvPr>
          <p:cNvSpPr/>
          <p:nvPr/>
        </p:nvSpPr>
        <p:spPr>
          <a:xfrm>
            <a:off x="6014357" y="2209800"/>
            <a:ext cx="163286" cy="2253343"/>
          </a:xfrm>
          <a:prstGeom prst="up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4" name="Flèche : droite 3">
            <a:extLst>
              <a:ext uri="{FF2B5EF4-FFF2-40B4-BE49-F238E27FC236}">
                <a16:creationId xmlns:a16="http://schemas.microsoft.com/office/drawing/2014/main" id="{BA8B6D56-516D-B40F-A9C2-6D25BA5A13B9}"/>
              </a:ext>
            </a:extLst>
          </p:cNvPr>
          <p:cNvSpPr/>
          <p:nvPr/>
        </p:nvSpPr>
        <p:spPr>
          <a:xfrm>
            <a:off x="6096000" y="4354286"/>
            <a:ext cx="2884714" cy="1850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8" name="Connecteur droit 7">
            <a:extLst>
              <a:ext uri="{FF2B5EF4-FFF2-40B4-BE49-F238E27FC236}">
                <a16:creationId xmlns:a16="http://schemas.microsoft.com/office/drawing/2014/main" id="{8CCA2356-5AC3-D666-359B-2ADA8019B5AF}"/>
              </a:ext>
            </a:extLst>
          </p:cNvPr>
          <p:cNvCxnSpPr>
            <a:cxnSpLocks/>
          </p:cNvCxnSpPr>
          <p:nvPr/>
        </p:nvCxnSpPr>
        <p:spPr>
          <a:xfrm>
            <a:off x="6096000" y="2209800"/>
            <a:ext cx="2862943"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2" name="Connecteur droit 11">
            <a:extLst>
              <a:ext uri="{FF2B5EF4-FFF2-40B4-BE49-F238E27FC236}">
                <a16:creationId xmlns:a16="http://schemas.microsoft.com/office/drawing/2014/main" id="{3B0E7B4D-D41B-745D-B436-B080EDC88235}"/>
              </a:ext>
            </a:extLst>
          </p:cNvPr>
          <p:cNvCxnSpPr>
            <a:stCxn id="4" idx="3"/>
          </p:cNvCxnSpPr>
          <p:nvPr/>
        </p:nvCxnSpPr>
        <p:spPr>
          <a:xfrm flipH="1" flipV="1">
            <a:off x="8958943" y="2209800"/>
            <a:ext cx="21771" cy="2237015"/>
          </a:xfrm>
          <a:prstGeom prst="line">
            <a:avLst/>
          </a:prstGeom>
        </p:spPr>
        <p:style>
          <a:lnRef idx="1">
            <a:schemeClr val="accent4"/>
          </a:lnRef>
          <a:fillRef idx="0">
            <a:schemeClr val="accent4"/>
          </a:fillRef>
          <a:effectRef idx="0">
            <a:schemeClr val="accent4"/>
          </a:effectRef>
          <a:fontRef idx="minor">
            <a:schemeClr val="tx1"/>
          </a:fontRef>
        </p:style>
      </p:cxnSp>
      <p:cxnSp>
        <p:nvCxnSpPr>
          <p:cNvPr id="16" name="Connecteur droit avec flèche 15">
            <a:extLst>
              <a:ext uri="{FF2B5EF4-FFF2-40B4-BE49-F238E27FC236}">
                <a16:creationId xmlns:a16="http://schemas.microsoft.com/office/drawing/2014/main" id="{62E79995-32DB-614C-73D6-2B5513A41FE0}"/>
              </a:ext>
            </a:extLst>
          </p:cNvPr>
          <p:cNvCxnSpPr>
            <a:cxnSpLocks/>
          </p:cNvCxnSpPr>
          <p:nvPr/>
        </p:nvCxnSpPr>
        <p:spPr>
          <a:xfrm flipV="1">
            <a:off x="6079672" y="2217963"/>
            <a:ext cx="2862943" cy="223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380B4932-904E-F933-530A-2A5FCB3942B1}"/>
                  </a:ext>
                </a:extLst>
              </p:cNvPr>
              <p:cNvSpPr/>
              <p:nvPr/>
            </p:nvSpPr>
            <p:spPr>
              <a:xfrm>
                <a:off x="7717971" y="4615543"/>
                <a:ext cx="1948543" cy="609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fr-FR" sz="2400" b="0" i="1" u="none" strike="noStrike" kern="0" cap="none" spc="0" normalizeH="0" baseline="0" noProof="0" smtClean="0">
                              <a:ln w="0"/>
                              <a:solidFill>
                                <a:srgbClr val="000000"/>
                              </a:solidFill>
                              <a:effectLst>
                                <a:outerShdw blurRad="38100" dist="19050" dir="2700000" algn="tl" rotWithShape="0">
                                  <a:srgbClr val="000000">
                                    <a:alpha val="40000"/>
                                  </a:srgbClr>
                                </a:outerShdw>
                              </a:effectLst>
                              <a:uLnTx/>
                              <a:uFillTx/>
                              <a:latin typeface="Cambria Math" panose="02040503050406030204" pitchFamily="18" charset="0"/>
                              <a:ea typeface="+mn-ea"/>
                              <a:sym typeface="Century Gothic"/>
                            </a:rPr>
                          </m:ctrlPr>
                        </m:accPr>
                        <m:e>
                          <m:sSub>
                            <m:sSubPr>
                              <m:ctrlPr>
                                <a:rPr kumimoji="0" lang="fr-FR" sz="2400" b="0" i="1" u="none" strike="noStrike" kern="0" cap="none" spc="0" normalizeH="0" baseline="0" noProof="0" smtClean="0">
                                  <a:ln w="0"/>
                                  <a:solidFill>
                                    <a:srgbClr val="000000"/>
                                  </a:solidFill>
                                  <a:effectLst>
                                    <a:outerShdw blurRad="38100" dist="19050" dir="2700000" algn="tl" rotWithShape="0">
                                      <a:srgbClr val="000000">
                                        <a:alpha val="40000"/>
                                      </a:srgbClr>
                                    </a:outerShdw>
                                  </a:effectLst>
                                  <a:uLnTx/>
                                  <a:uFillTx/>
                                  <a:latin typeface="Cambria Math" panose="02040503050406030204" pitchFamily="18" charset="0"/>
                                  <a:ea typeface="+mn-ea"/>
                                  <a:sym typeface="Century Gothic"/>
                                </a:rPr>
                              </m:ctrlPr>
                            </m:sSubPr>
                            <m:e>
                              <m:r>
                                <a:rPr kumimoji="0" lang="fr-FR" sz="2400" b="0" i="1" u="none" strike="noStrike" kern="0" cap="none" spc="0" normalizeH="0" baseline="0" noProof="0" smtClean="0">
                                  <a:ln w="0"/>
                                  <a:solidFill>
                                    <a:srgbClr val="000000"/>
                                  </a:solidFill>
                                  <a:effectLst>
                                    <a:outerShdw blurRad="38100" dist="19050" dir="2700000" algn="tl" rotWithShape="0">
                                      <a:srgbClr val="000000">
                                        <a:alpha val="40000"/>
                                      </a:srgbClr>
                                    </a:outerShdw>
                                  </a:effectLst>
                                  <a:uLnTx/>
                                  <a:uFillTx/>
                                  <a:latin typeface="Cambria Math" panose="02040503050406030204" pitchFamily="18" charset="0"/>
                                  <a:ea typeface="+mn-ea"/>
                                  <a:sym typeface="Century Gothic"/>
                                </a:rPr>
                                <m:t>𝐹</m:t>
                              </m:r>
                            </m:e>
                            <m:sub>
                              <m:r>
                                <a:rPr kumimoji="0" lang="fr-FR" sz="2400" b="0" i="1" u="none" strike="noStrike" kern="0" cap="none" spc="0" normalizeH="0" baseline="0" noProof="0" smtClean="0">
                                  <a:ln w="0"/>
                                  <a:solidFill>
                                    <a:srgbClr val="000000"/>
                                  </a:solidFill>
                                  <a:effectLst>
                                    <a:outerShdw blurRad="38100" dist="19050" dir="2700000" algn="tl" rotWithShape="0">
                                      <a:srgbClr val="000000">
                                        <a:alpha val="40000"/>
                                      </a:srgbClr>
                                    </a:outerShdw>
                                  </a:effectLst>
                                  <a:uLnTx/>
                                  <a:uFillTx/>
                                  <a:latin typeface="Cambria Math" panose="02040503050406030204" pitchFamily="18" charset="0"/>
                                  <a:ea typeface="+mn-ea"/>
                                  <a:sym typeface="Century Gothic"/>
                                </a:rPr>
                                <m:t>1</m:t>
                              </m:r>
                            </m:sub>
                          </m:sSub>
                        </m:e>
                      </m:acc>
                      <m:r>
                        <a:rPr kumimoji="0" lang="fr-FR" sz="2400" b="0" i="0" u="none" strike="noStrike" kern="0" cap="none" spc="0" normalizeH="0" baseline="0" noProof="0" smtClean="0">
                          <a:ln w="0"/>
                          <a:solidFill>
                            <a:srgbClr val="000000"/>
                          </a:solidFill>
                          <a:effectLst>
                            <a:outerShdw blurRad="38100" dist="19050" dir="2700000" algn="tl" rotWithShape="0">
                              <a:srgbClr val="000000">
                                <a:alpha val="40000"/>
                              </a:srgbClr>
                            </a:outerShdw>
                          </a:effectLst>
                          <a:uLnTx/>
                          <a:uFillTx/>
                          <a:latin typeface="Cambria Math" panose="02040503050406030204" pitchFamily="18" charset="0"/>
                          <a:ea typeface="+mn-ea"/>
                          <a:sym typeface="Century Gothic"/>
                        </a:rPr>
                        <m:t>=</m:t>
                      </m:r>
                      <m:r>
                        <a:rPr kumimoji="0" lang="fr-FR" sz="2400" b="0" i="1" u="none" strike="noStrike" kern="0" cap="none" spc="0" normalizeH="0" baseline="0" noProof="0" smtClean="0">
                          <a:ln w="0"/>
                          <a:solidFill>
                            <a:srgbClr val="000000"/>
                          </a:solidFill>
                          <a:effectLst>
                            <a:outerShdw blurRad="38100" dist="19050" dir="2700000" algn="tl" rotWithShape="0">
                              <a:srgbClr val="000000">
                                <a:alpha val="40000"/>
                              </a:srgbClr>
                            </a:outerShdw>
                          </a:effectLst>
                          <a:uLnTx/>
                          <a:uFillTx/>
                          <a:latin typeface="Cambria Math" panose="02040503050406030204" pitchFamily="18" charset="0"/>
                          <a:ea typeface="+mn-ea"/>
                          <a:sym typeface="Century Gothic"/>
                        </a:rPr>
                        <m:t>4</m:t>
                      </m:r>
                      <m:r>
                        <m:rPr>
                          <m:nor/>
                        </m:rPr>
                        <a:rPr kumimoji="0" lang="fr-FR" sz="2400" b="0" i="1" u="none" strike="noStrike" kern="0" cap="none" spc="0" normalizeH="0" baseline="0" noProof="0" smtClean="0">
                          <a:ln w="0"/>
                          <a:solidFill>
                            <a:srgbClr val="000000"/>
                          </a:solidFill>
                          <a:effectLst>
                            <a:outerShdw blurRad="38100" dist="19050" dir="2700000" algn="tl" rotWithShape="0">
                              <a:srgbClr val="000000">
                                <a:alpha val="40000"/>
                              </a:srgbClr>
                            </a:outerShdw>
                          </a:effectLst>
                          <a:uLnTx/>
                          <a:uFillTx/>
                          <a:latin typeface="Times New Roman" panose="02020603050405020304" pitchFamily="18" charset="0"/>
                          <a:ea typeface="+mn-ea"/>
                          <a:cs typeface="Times New Roman" panose="02020603050405020304" pitchFamily="18" charset="0"/>
                          <a:sym typeface="Century Gothic"/>
                        </a:rPr>
                        <m:t> </m:t>
                      </m:r>
                      <m:r>
                        <m:rPr>
                          <m:nor/>
                        </m:rPr>
                        <a:rPr kumimoji="0" lang="fr-FR" sz="2400" b="0" i="1" u="none" strike="noStrike" kern="0" cap="none" spc="0" normalizeH="0" baseline="0" noProof="0" smtClean="0">
                          <a:ln w="0"/>
                          <a:solidFill>
                            <a:srgbClr val="000000"/>
                          </a:solidFill>
                          <a:effectLst>
                            <a:outerShdw blurRad="38100" dist="19050" dir="2700000" algn="tl" rotWithShape="0">
                              <a:srgbClr val="000000">
                                <a:alpha val="40000"/>
                              </a:srgbClr>
                            </a:outerShdw>
                          </a:effectLst>
                          <a:uLnTx/>
                          <a:uFillTx/>
                          <a:latin typeface="Times New Roman" panose="02020603050405020304" pitchFamily="18" charset="0"/>
                          <a:ea typeface="+mn-ea"/>
                          <a:cs typeface="Times New Roman" panose="02020603050405020304" pitchFamily="18" charset="0"/>
                          <a:sym typeface="Century Gothic"/>
                        </a:rPr>
                        <m:t>pN</m:t>
                      </m:r>
                    </m:oMath>
                  </m:oMathPara>
                </a14:m>
                <a:endParaRPr kumimoji="0" lang="fr-FR" sz="1800" b="0" i="0" u="none" strike="noStrike" kern="1200" cap="none" spc="0" normalizeH="0" baseline="0" noProof="0" dirty="0">
                  <a:ln>
                    <a:noFill/>
                  </a:ln>
                  <a:solidFill>
                    <a:srgbClr val="FFFFFF"/>
                  </a:solidFill>
                  <a:effectLst/>
                  <a:uLnTx/>
                  <a:uFillTx/>
                  <a:latin typeface="Arial"/>
                  <a:ea typeface="+mn-ea"/>
                  <a:cs typeface="+mn-cs"/>
                </a:endParaRPr>
              </a:p>
            </p:txBody>
          </p:sp>
        </mc:Choice>
        <mc:Fallback xmlns="">
          <p:sp>
            <p:nvSpPr>
              <p:cNvPr id="19" name="Rectangle 18">
                <a:extLst>
                  <a:ext uri="{FF2B5EF4-FFF2-40B4-BE49-F238E27FC236}">
                    <a16:creationId xmlns:a16="http://schemas.microsoft.com/office/drawing/2014/main" id="{380B4932-904E-F933-530A-2A5FCB3942B1}"/>
                  </a:ext>
                </a:extLst>
              </p:cNvPr>
              <p:cNvSpPr>
                <a:spLocks noRot="1" noChangeAspect="1" noMove="1" noResize="1" noEditPoints="1" noAdjustHandles="1" noChangeArrowheads="1" noChangeShapeType="1" noTextEdit="1"/>
              </p:cNvSpPr>
              <p:nvPr/>
            </p:nvSpPr>
            <p:spPr>
              <a:xfrm>
                <a:off x="7717971" y="4615543"/>
                <a:ext cx="1948543" cy="609600"/>
              </a:xfrm>
              <a:prstGeom prst="rect">
                <a:avLst/>
              </a:prstGeom>
              <a:blipFill>
                <a:blip r:embed="rId2"/>
                <a:stretch>
                  <a:fillRect/>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FB36DBB8-744D-7E01-D38A-B5B930A59300}"/>
                  </a:ext>
                </a:extLst>
              </p:cNvPr>
              <p:cNvSpPr/>
              <p:nvPr/>
            </p:nvSpPr>
            <p:spPr>
              <a:xfrm>
                <a:off x="4223657" y="2217963"/>
                <a:ext cx="1752601" cy="56878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fr-FR" sz="2600" b="0" i="1" u="none" strike="noStrike" kern="0" cap="none" spc="0" normalizeH="0" baseline="0" noProof="0" smtClean="0">
                              <a:ln>
                                <a:noFill/>
                              </a:ln>
                              <a:solidFill>
                                <a:srgbClr val="000000"/>
                              </a:solidFill>
                              <a:effectLst/>
                              <a:uLnTx/>
                              <a:uFillTx/>
                              <a:latin typeface="Cambria Math" panose="02040503050406030204" pitchFamily="18" charset="0"/>
                              <a:ea typeface="+mn-ea"/>
                              <a:sym typeface="Century Gothic"/>
                            </a:rPr>
                          </m:ctrlPr>
                        </m:accPr>
                        <m:e>
                          <m:sSub>
                            <m:sSubPr>
                              <m:ctrlPr>
                                <a:rPr kumimoji="0" lang="fr-FR" sz="2600" b="0" i="1" u="none" strike="noStrike" kern="0" cap="none" spc="0" normalizeH="0" baseline="0" noProof="0" smtClean="0">
                                  <a:ln>
                                    <a:noFill/>
                                  </a:ln>
                                  <a:solidFill>
                                    <a:srgbClr val="000000"/>
                                  </a:solidFill>
                                  <a:effectLst/>
                                  <a:uLnTx/>
                                  <a:uFillTx/>
                                  <a:latin typeface="Cambria Math" panose="02040503050406030204" pitchFamily="18" charset="0"/>
                                  <a:ea typeface="+mn-ea"/>
                                  <a:sym typeface="Century Gothic"/>
                                </a:rPr>
                              </m:ctrlPr>
                            </m:sSubPr>
                            <m:e>
                              <m:r>
                                <a:rPr kumimoji="0" lang="fr-FR" sz="26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mn-cs"/>
                                  <a:sym typeface="Century Gothic"/>
                                </a:rPr>
                                <m:t>  </m:t>
                              </m:r>
                              <m:r>
                                <a:rPr kumimoji="0" lang="fr-FR" sz="2600" b="0" i="1" u="none" strike="noStrike" kern="0" cap="none" spc="0" normalizeH="0" baseline="0" noProof="0" smtClean="0">
                                  <a:ln>
                                    <a:noFill/>
                                  </a:ln>
                                  <a:solidFill>
                                    <a:srgbClr val="000000"/>
                                  </a:solidFill>
                                  <a:effectLst/>
                                  <a:uLnTx/>
                                  <a:uFillTx/>
                                  <a:latin typeface="Cambria Math" panose="02040503050406030204" pitchFamily="18" charset="0"/>
                                  <a:ea typeface="+mn-ea"/>
                                  <a:sym typeface="Century Gothic"/>
                                </a:rPr>
                                <m:t>𝐹</m:t>
                              </m:r>
                            </m:e>
                            <m:sub>
                              <m:r>
                                <a:rPr kumimoji="0" lang="fr-FR" sz="2600" b="0" i="0" u="none" strike="noStrike" kern="0" cap="none" spc="0" normalizeH="0" baseline="0" noProof="0" smtClean="0">
                                  <a:ln>
                                    <a:noFill/>
                                  </a:ln>
                                  <a:solidFill>
                                    <a:srgbClr val="000000"/>
                                  </a:solidFill>
                                  <a:effectLst/>
                                  <a:uLnTx/>
                                  <a:uFillTx/>
                                  <a:latin typeface="Cambria Math" panose="02040503050406030204" pitchFamily="18" charset="0"/>
                                  <a:ea typeface="+mn-ea"/>
                                  <a:sym typeface="Century Gothic"/>
                                </a:rPr>
                                <m:t>2</m:t>
                              </m:r>
                            </m:sub>
                          </m:sSub>
                        </m:e>
                      </m:acc>
                      <m:r>
                        <a:rPr kumimoji="0" lang="fr-FR" sz="2600" b="0" i="0" u="none" strike="noStrike" kern="0" cap="none" spc="0" normalizeH="0" baseline="0" noProof="0" smtClean="0">
                          <a:ln>
                            <a:noFill/>
                          </a:ln>
                          <a:solidFill>
                            <a:srgbClr val="000000"/>
                          </a:solidFill>
                          <a:effectLst/>
                          <a:uLnTx/>
                          <a:uFillTx/>
                          <a:latin typeface="Cambria Math" panose="02040503050406030204" pitchFamily="18" charset="0"/>
                          <a:ea typeface="+mn-ea"/>
                          <a:sym typeface="Century Gothic"/>
                        </a:rPr>
                        <m:t>=</m:t>
                      </m:r>
                      <m:r>
                        <a:rPr kumimoji="0" lang="fr-FR" sz="2600" b="0" i="0" u="none" strike="noStrike" kern="0" cap="none" spc="0" normalizeH="0" baseline="0" noProof="0" smtClean="0">
                          <a:ln>
                            <a:noFill/>
                          </a:ln>
                          <a:solidFill>
                            <a:srgbClr val="000000"/>
                          </a:solidFill>
                          <a:effectLst/>
                          <a:uLnTx/>
                          <a:uFillTx/>
                          <a:latin typeface="Cambria Math" panose="02040503050406030204" pitchFamily="18" charset="0"/>
                          <a:ea typeface="+mn-ea"/>
                          <a:sym typeface="Century Gothic"/>
                        </a:rPr>
                        <m:t>3</m:t>
                      </m:r>
                      <m:r>
                        <m:rPr>
                          <m:nor/>
                        </m:rPr>
                        <a:rPr kumimoji="0" lang="fr-FR" sz="2600" b="0" i="1"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Century Gothic"/>
                        </a:rPr>
                        <m:t> </m:t>
                      </m:r>
                      <m:r>
                        <m:rPr>
                          <m:nor/>
                        </m:rPr>
                        <a:rPr kumimoji="0" lang="fr-FR" sz="2600" b="0" i="1"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Century Gothic"/>
                        </a:rPr>
                        <m:t>pN</m:t>
                      </m:r>
                    </m:oMath>
                  </m:oMathPara>
                </a14:m>
                <a:endParaRPr kumimoji="0" lang="fr-FR" sz="1800" b="0" i="0" u="none" strike="noStrike" kern="1200" cap="none" spc="0" normalizeH="0" baseline="0" noProof="0" dirty="0">
                  <a:ln>
                    <a:noFill/>
                  </a:ln>
                  <a:solidFill>
                    <a:srgbClr val="FFFFFF"/>
                  </a:solidFill>
                  <a:effectLst/>
                  <a:uLnTx/>
                  <a:uFillTx/>
                  <a:latin typeface="Arial"/>
                  <a:ea typeface="+mn-ea"/>
                  <a:cs typeface="+mn-cs"/>
                </a:endParaRPr>
              </a:p>
            </p:txBody>
          </p:sp>
        </mc:Choice>
        <mc:Fallback xmlns="">
          <p:sp>
            <p:nvSpPr>
              <p:cNvPr id="21" name="Rectangle 20">
                <a:extLst>
                  <a:ext uri="{FF2B5EF4-FFF2-40B4-BE49-F238E27FC236}">
                    <a16:creationId xmlns:a16="http://schemas.microsoft.com/office/drawing/2014/main" id="{FB36DBB8-744D-7E01-D38A-B5B930A59300}"/>
                  </a:ext>
                </a:extLst>
              </p:cNvPr>
              <p:cNvSpPr>
                <a:spLocks noRot="1" noChangeAspect="1" noMove="1" noResize="1" noEditPoints="1" noAdjustHandles="1" noChangeArrowheads="1" noChangeShapeType="1" noTextEdit="1"/>
              </p:cNvSpPr>
              <p:nvPr/>
            </p:nvSpPr>
            <p:spPr>
              <a:xfrm>
                <a:off x="4223657" y="2217963"/>
                <a:ext cx="1752601" cy="568780"/>
              </a:xfrm>
              <a:prstGeom prst="rect">
                <a:avLst/>
              </a:prstGeom>
              <a:blipFill>
                <a:blip r:embed="rId3"/>
                <a:stretch>
                  <a:fillRect/>
                </a:stretch>
              </a:blipFill>
            </p:spPr>
            <p:txBody>
              <a:bodyPr/>
              <a:lstStyle/>
              <a:p>
                <a:r>
                  <a:rPr lang="fr-DZ">
                    <a:noFill/>
                  </a:rPr>
                  <a:t> </a:t>
                </a:r>
              </a:p>
            </p:txBody>
          </p:sp>
        </mc:Fallback>
      </mc:AlternateContent>
      <p:cxnSp>
        <p:nvCxnSpPr>
          <p:cNvPr id="23" name="Connecteur droit 22">
            <a:extLst>
              <a:ext uri="{FF2B5EF4-FFF2-40B4-BE49-F238E27FC236}">
                <a16:creationId xmlns:a16="http://schemas.microsoft.com/office/drawing/2014/main" id="{088D1A9B-272C-ABBC-B1F2-3C35390429B9}"/>
              </a:ext>
            </a:extLst>
          </p:cNvPr>
          <p:cNvCxnSpPr>
            <a:cxnSpLocks/>
          </p:cNvCxnSpPr>
          <p:nvPr/>
        </p:nvCxnSpPr>
        <p:spPr>
          <a:xfrm>
            <a:off x="6079672" y="4005943"/>
            <a:ext cx="5714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652A8C01-AE4B-1675-0069-5A05EF4BB803}"/>
              </a:ext>
            </a:extLst>
          </p:cNvPr>
          <p:cNvCxnSpPr/>
          <p:nvPr/>
        </p:nvCxnSpPr>
        <p:spPr>
          <a:xfrm>
            <a:off x="6651171" y="4005943"/>
            <a:ext cx="0" cy="4572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90875FA9-33B2-14A7-2D7B-D2686D452997}"/>
                  </a:ext>
                </a:extLst>
              </p:cNvPr>
              <p:cNvSpPr txBox="1"/>
              <p:nvPr/>
            </p:nvSpPr>
            <p:spPr>
              <a:xfrm>
                <a:off x="6613072" y="3862039"/>
                <a:ext cx="1594757" cy="461665"/>
              </a:xfrm>
              <a:prstGeom prst="rect">
                <a:avLst/>
              </a:prstGeom>
              <a:noFill/>
            </p:spPr>
            <p:txBody>
              <a:bodyPr wrap="square">
                <a:spAutoFit/>
              </a:bodyPr>
              <a:lstStyle/>
              <a:p>
                <a:pPr lvl="0"/>
                <a14:m>
                  <m:oMathPara xmlns:m="http://schemas.openxmlformats.org/officeDocument/2006/math">
                    <m:oMathParaPr>
                      <m:jc m:val="centerGroup"/>
                    </m:oMathParaPr>
                    <m:oMath xmlns:m="http://schemas.openxmlformats.org/officeDocument/2006/math">
                      <m:r>
                        <m:rPr>
                          <m:sty m:val="p"/>
                        </m:rPr>
                        <a:rPr lang="fr-FR" sz="2400" i="1" kern="0" noProof="0" smtClean="0">
                          <a:solidFill>
                            <a:srgbClr val="FFFFFF"/>
                          </a:solidFill>
                          <a:latin typeface="Cambria Math" panose="02040503050406030204" pitchFamily="18" charset="0"/>
                          <a:ea typeface="Cambria Math" panose="02040503050406030204" pitchFamily="18" charset="0"/>
                          <a:sym typeface="Century Gothic"/>
                        </a:rPr>
                        <m:t>θ</m:t>
                      </m:r>
                      <m:r>
                        <a:rPr lang="fr-FR" sz="2400" kern="0" noProof="0" smtClean="0">
                          <a:solidFill>
                            <a:srgbClr val="FFFFFF"/>
                          </a:solidFill>
                          <a:latin typeface="Cambria Math" panose="02040503050406030204" pitchFamily="18" charset="0"/>
                          <a:sym typeface="Century Gothic"/>
                        </a:rPr>
                        <m:t>≈</m:t>
                      </m:r>
                      <m:sSup>
                        <m:sSupPr>
                          <m:ctrlPr>
                            <a:rPr lang="fr-FR" sz="2400" i="1" kern="0" noProof="0" smtClean="0">
                              <a:solidFill>
                                <a:srgbClr val="FFFFFF"/>
                              </a:solidFill>
                              <a:latin typeface="Cambria Math" panose="02040503050406030204" pitchFamily="18" charset="0"/>
                              <a:sym typeface="Century Gothic"/>
                            </a:rPr>
                          </m:ctrlPr>
                        </m:sSupPr>
                        <m:e>
                          <m:r>
                            <a:rPr lang="fr-FR" sz="2400" kern="0" noProof="0" smtClean="0">
                              <a:solidFill>
                                <a:srgbClr val="FFFFFF"/>
                              </a:solidFill>
                              <a:latin typeface="Cambria Math" panose="02040503050406030204" pitchFamily="18" charset="0"/>
                              <a:sym typeface="Century Gothic"/>
                            </a:rPr>
                            <m:t>37</m:t>
                          </m:r>
                        </m:e>
                        <m:sup>
                          <m:r>
                            <a:rPr lang="fr-FR" sz="2400" kern="0" noProof="0" smtClean="0">
                              <a:solidFill>
                                <a:srgbClr val="FFFFFF"/>
                              </a:solidFill>
                              <a:latin typeface="Cambria Math" panose="02040503050406030204" pitchFamily="18" charset="0"/>
                              <a:sym typeface="Century Gothic"/>
                            </a:rPr>
                            <m:t>∘</m:t>
                          </m:r>
                        </m:sup>
                      </m:sSup>
                    </m:oMath>
                  </m:oMathPara>
                </a14:m>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0" name="ZoneTexte 29">
                <a:extLst>
                  <a:ext uri="{FF2B5EF4-FFF2-40B4-BE49-F238E27FC236}">
                    <a16:creationId xmlns:a16="http://schemas.microsoft.com/office/drawing/2014/main" id="{90875FA9-33B2-14A7-2D7B-D2686D452997}"/>
                  </a:ext>
                </a:extLst>
              </p:cNvPr>
              <p:cNvSpPr txBox="1">
                <a:spLocks noRot="1" noChangeAspect="1" noMove="1" noResize="1" noEditPoints="1" noAdjustHandles="1" noChangeArrowheads="1" noChangeShapeType="1" noTextEdit="1"/>
              </p:cNvSpPr>
              <p:nvPr/>
            </p:nvSpPr>
            <p:spPr>
              <a:xfrm>
                <a:off x="6613072" y="3862039"/>
                <a:ext cx="1594757" cy="461665"/>
              </a:xfrm>
              <a:prstGeom prst="rect">
                <a:avLst/>
              </a:prstGeom>
              <a:blipFill>
                <a:blip r:embed="rId4"/>
                <a:stretch>
                  <a:fillRect/>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937C3C4D-1833-D38E-8C77-7BDDD28C2156}"/>
                  </a:ext>
                </a:extLst>
              </p:cNvPr>
              <p:cNvSpPr/>
              <p:nvPr/>
            </p:nvSpPr>
            <p:spPr>
              <a:xfrm>
                <a:off x="6365421" y="2827562"/>
                <a:ext cx="3301093" cy="83003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ctrlPr>
                        </m:sSubPr>
                        <m:e>
                          <m: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𝑭</m:t>
                          </m:r>
                        </m:e>
                        <m:sub>
                          <m: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𝑹</m:t>
                          </m:r>
                        </m:sub>
                      </m:sSub>
                      <m:r>
                        <a:rPr lang="fr-FR" sz="2400" b="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m:t>
                      </m:r>
                      <m:rad>
                        <m:radPr>
                          <m:degHide m:val="on"/>
                          <m:ctrlP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ctrlPr>
                        </m:radPr>
                        <m:deg/>
                        <m:e>
                          <m:sSubSup>
                            <m:sSubSupPr>
                              <m:ctrlP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ctrlPr>
                            </m:sSubSupPr>
                            <m:e>
                              <m: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𝑭</m:t>
                              </m:r>
                            </m:e>
                            <m:sub>
                              <m: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𝟏</m:t>
                              </m:r>
                            </m:sub>
                            <m:sup>
                              <m: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𝟐</m:t>
                              </m:r>
                            </m:sup>
                          </m:sSubSup>
                          <m:r>
                            <a:rPr lang="fr-FR" sz="2400" b="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m:t>
                          </m:r>
                          <m:sSubSup>
                            <m:sSubSupPr>
                              <m:ctrlP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ctrlPr>
                            </m:sSubSupPr>
                            <m:e>
                              <m: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𝑭</m:t>
                              </m:r>
                            </m:e>
                            <m:sub>
                              <m: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𝟐</m:t>
                              </m:r>
                            </m:sub>
                            <m:sup>
                              <m: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𝟐</m:t>
                              </m:r>
                            </m:sup>
                          </m:sSubSup>
                        </m:e>
                      </m:rad>
                      <m:r>
                        <a:rPr lang="fr-FR" sz="2400" b="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m:t>
                      </m:r>
                      <m:r>
                        <a:rPr lang="fr-FR" sz="2400" b="1" i="1" kern="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sym typeface="Century Gothic"/>
                        </a:rPr>
                        <m:t>𝟓</m:t>
                      </m:r>
                      <m:r>
                        <m:rPr>
                          <m:nor/>
                        </m:rPr>
                        <a:rPr lang="fr-FR" sz="2400" b="1" i="1" kern="0" noProof="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Century Gothic"/>
                        </a:rPr>
                        <m:t> </m:t>
                      </m:r>
                      <m:r>
                        <m:rPr>
                          <m:nor/>
                        </m:rPr>
                        <a:rPr lang="fr-FR" sz="2400" b="1" i="1" kern="0" noProof="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Century Gothic"/>
                        </a:rPr>
                        <m:t>pN</m:t>
                      </m:r>
                    </m:oMath>
                  </m:oMathPara>
                </a14:m>
                <a:endParaRPr lang="fr-FR" b="1" noProof="0" dirty="0"/>
              </a:p>
            </p:txBody>
          </p:sp>
        </mc:Choice>
        <mc:Fallback xmlns="">
          <p:sp>
            <p:nvSpPr>
              <p:cNvPr id="7" name="Rectangle 6">
                <a:extLst>
                  <a:ext uri="{FF2B5EF4-FFF2-40B4-BE49-F238E27FC236}">
                    <a16:creationId xmlns:a16="http://schemas.microsoft.com/office/drawing/2014/main" id="{937C3C4D-1833-D38E-8C77-7BDDD28C2156}"/>
                  </a:ext>
                </a:extLst>
              </p:cNvPr>
              <p:cNvSpPr>
                <a:spLocks noRot="1" noChangeAspect="1" noMove="1" noResize="1" noEditPoints="1" noAdjustHandles="1" noChangeArrowheads="1" noChangeShapeType="1" noTextEdit="1"/>
              </p:cNvSpPr>
              <p:nvPr/>
            </p:nvSpPr>
            <p:spPr>
              <a:xfrm>
                <a:off x="6365421" y="2827562"/>
                <a:ext cx="3301093" cy="830037"/>
              </a:xfrm>
              <a:prstGeom prst="rect">
                <a:avLst/>
              </a:prstGeom>
              <a:blipFill>
                <a:blip r:embed="rId5"/>
                <a:stretch>
                  <a:fillRect/>
                </a:stretch>
              </a:blipFill>
            </p:spPr>
            <p:txBody>
              <a:bodyPr/>
              <a:lstStyle/>
              <a:p>
                <a:r>
                  <a:rPr lang="fr-DZ">
                    <a:noFill/>
                  </a:rPr>
                  <a:t> </a:t>
                </a:r>
              </a:p>
            </p:txBody>
          </p:sp>
        </mc:Fallback>
      </mc:AlternateContent>
    </p:spTree>
    <p:extLst>
      <p:ext uri="{BB962C8B-B14F-4D97-AF65-F5344CB8AC3E}">
        <p14:creationId xmlns:p14="http://schemas.microsoft.com/office/powerpoint/2010/main" val="3893399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ED027C-10BF-DA9D-420A-DD7B68B1849E}"/>
              </a:ext>
            </a:extLst>
          </p:cNvPr>
          <p:cNvSpPr>
            <a:spLocks noGrp="1"/>
          </p:cNvSpPr>
          <p:nvPr>
            <p:ph type="ctrTitle"/>
          </p:nvPr>
        </p:nvSpPr>
        <p:spPr>
          <a:xfrm>
            <a:off x="707572" y="217715"/>
            <a:ext cx="10167257" cy="1817914"/>
          </a:xfrm>
        </p:spPr>
        <p:txBody>
          <a:bodyPr>
            <a:normAutofit/>
          </a:bodyPr>
          <a:lstStyle/>
          <a:p>
            <a:pPr algn="ctr"/>
            <a:r>
              <a:rPr lang="fr-FR" sz="4000" b="1" noProof="0" dirty="0">
                <a:solidFill>
                  <a:srgbClr val="FFC000"/>
                </a:solidFill>
                <a:latin typeface="Times New Roman" panose="02020603050405020304" pitchFamily="18" charset="0"/>
                <a:cs typeface="Times New Roman" panose="02020603050405020304" pitchFamily="18" charset="0"/>
              </a:rPr>
              <a:t>B. Champ électrique et potentiel électrique.</a:t>
            </a:r>
            <a:br>
              <a:rPr lang="fr-FR" sz="4000" b="1" noProof="0" dirty="0">
                <a:solidFill>
                  <a:srgbClr val="FFC000"/>
                </a:solidFill>
                <a:latin typeface="Times New Roman" panose="02020603050405020304" pitchFamily="18" charset="0"/>
                <a:cs typeface="Times New Roman" panose="02020603050405020304" pitchFamily="18" charset="0"/>
              </a:rPr>
            </a:br>
            <a:r>
              <a:rPr lang="fr-FR" sz="4000" noProof="0" dirty="0">
                <a:solidFill>
                  <a:srgbClr val="FFFFFF"/>
                </a:solidFill>
                <a:latin typeface="Segoe UI Emoji" panose="020B0502040204020203" pitchFamily="34" charset="0"/>
                <a:ea typeface="Times New Roman" panose="02020603050405020304" pitchFamily="18" charset="0"/>
                <a:cs typeface="Segoe UI Emoji" panose="020B0502040204020203" pitchFamily="34" charset="0"/>
              </a:rPr>
              <a:t>👉</a:t>
            </a:r>
            <a:r>
              <a:rPr lang="fr-FR" sz="4000" b="1" noProof="0" dirty="0">
                <a:solidFill>
                  <a:srgbClr val="00B050"/>
                </a:solidFill>
                <a:latin typeface="Times New Roman" panose="02020603050405020304" pitchFamily="18" charset="0"/>
                <a:cs typeface="Times New Roman" panose="02020603050405020304" pitchFamily="18" charset="0"/>
              </a:rPr>
              <a:t>Electric </a:t>
            </a:r>
            <a:r>
              <a:rPr lang="fr-FR" sz="4000" b="1" noProof="0" dirty="0" err="1">
                <a:solidFill>
                  <a:srgbClr val="00B050"/>
                </a:solidFill>
                <a:latin typeface="Times New Roman" panose="02020603050405020304" pitchFamily="18" charset="0"/>
                <a:cs typeface="Times New Roman" panose="02020603050405020304" pitchFamily="18" charset="0"/>
              </a:rPr>
              <a:t>field</a:t>
            </a:r>
            <a:r>
              <a:rPr lang="fr-FR" sz="4000" b="1" noProof="0" dirty="0">
                <a:solidFill>
                  <a:srgbClr val="00B050"/>
                </a:solidFill>
                <a:latin typeface="Times New Roman" panose="02020603050405020304" pitchFamily="18" charset="0"/>
                <a:cs typeface="Times New Roman" panose="02020603050405020304" pitchFamily="18" charset="0"/>
              </a:rPr>
              <a:t> and </a:t>
            </a:r>
            <a:r>
              <a:rPr lang="fr-FR" sz="4000" b="1" noProof="0" dirty="0" err="1">
                <a:solidFill>
                  <a:srgbClr val="00B050"/>
                </a:solidFill>
                <a:latin typeface="Times New Roman" panose="02020603050405020304" pitchFamily="18" charset="0"/>
                <a:cs typeface="Times New Roman" panose="02020603050405020304" pitchFamily="18" charset="0"/>
              </a:rPr>
              <a:t>electric</a:t>
            </a:r>
            <a:r>
              <a:rPr lang="fr-FR" sz="4000" b="1" noProof="0" dirty="0">
                <a:solidFill>
                  <a:srgbClr val="00B050"/>
                </a:solidFill>
                <a:latin typeface="Times New Roman" panose="02020603050405020304" pitchFamily="18" charset="0"/>
                <a:cs typeface="Times New Roman" panose="02020603050405020304" pitchFamily="18" charset="0"/>
              </a:rPr>
              <a:t> </a:t>
            </a:r>
            <a:r>
              <a:rPr lang="fr-FR" sz="4000" b="1" noProof="0" dirty="0" err="1">
                <a:solidFill>
                  <a:srgbClr val="00B050"/>
                </a:solidFill>
                <a:latin typeface="Times New Roman" panose="02020603050405020304" pitchFamily="18" charset="0"/>
                <a:cs typeface="Times New Roman" panose="02020603050405020304" pitchFamily="18" charset="0"/>
              </a:rPr>
              <a:t>potential</a:t>
            </a:r>
            <a:endParaRPr lang="fr-FR" sz="4000" b="1" noProof="0" dirty="0">
              <a:solidFill>
                <a:srgbClr val="00B050"/>
              </a:solidFill>
              <a:latin typeface="Times New Roman" panose="02020603050405020304" pitchFamily="18" charset="0"/>
              <a:cs typeface="Times New Roman" panose="02020603050405020304" pitchFamily="18" charset="0"/>
            </a:endParaRPr>
          </a:p>
        </p:txBody>
      </p:sp>
      <p:sp>
        <p:nvSpPr>
          <p:cNvPr id="3" name="Sous-titre 2">
            <a:extLst>
              <a:ext uri="{FF2B5EF4-FFF2-40B4-BE49-F238E27FC236}">
                <a16:creationId xmlns:a16="http://schemas.microsoft.com/office/drawing/2014/main" id="{24954DFF-9B0B-B35D-344A-1131ABE48AE2}"/>
              </a:ext>
            </a:extLst>
          </p:cNvPr>
          <p:cNvSpPr>
            <a:spLocks noGrp="1"/>
          </p:cNvSpPr>
          <p:nvPr>
            <p:ph type="subTitle" idx="1"/>
          </p:nvPr>
        </p:nvSpPr>
        <p:spPr>
          <a:xfrm>
            <a:off x="435429" y="2035630"/>
            <a:ext cx="10994571" cy="4463142"/>
          </a:xfrm>
        </p:spPr>
        <p:txBody>
          <a:bodyPr>
            <a:normAutofit/>
          </a:bodyPr>
          <a:lstStyle/>
          <a:p>
            <a:pPr>
              <a:lnSpc>
                <a:spcPct val="150000"/>
              </a:lnSpc>
            </a:pPr>
            <a:r>
              <a:rPr lang="fr-FR" sz="3200" noProof="0" dirty="0">
                <a:latin typeface="Times New Roman" panose="02020603050405020304" pitchFamily="18" charset="0"/>
                <a:cs typeface="Times New Roman" panose="02020603050405020304" pitchFamily="18" charset="0"/>
              </a:rPr>
              <a:t>Le champ électrique est une grandeur vectorielle </a:t>
            </a:r>
          </a:p>
          <a:p>
            <a:pPr marL="577850" indent="-457200">
              <a:lnSpc>
                <a:spcPct val="150000"/>
              </a:lnSpc>
              <a:buFont typeface="Wingdings" panose="05000000000000000000" pitchFamily="2" charset="2"/>
              <a:buChar char="Ø"/>
            </a:pPr>
            <a:r>
              <a:rPr lang="fr-FR" sz="3200" noProof="0" dirty="0">
                <a:solidFill>
                  <a:schemeClr val="bg1"/>
                </a:solidFill>
                <a:latin typeface="Times New Roman" panose="02020603050405020304" pitchFamily="18" charset="0"/>
                <a:cs typeface="Times New Roman" panose="02020603050405020304" pitchFamily="18" charset="0"/>
              </a:rPr>
              <a:t>Décrit l'influence d'une ou plusieurs charges électriques sur l'espace qui les entoure, </a:t>
            </a:r>
          </a:p>
          <a:p>
            <a:pPr marL="577850" indent="-457200">
              <a:lnSpc>
                <a:spcPct val="150000"/>
              </a:lnSpc>
              <a:buFont typeface="Wingdings" panose="05000000000000000000" pitchFamily="2" charset="2"/>
              <a:buChar char="Ø"/>
            </a:pPr>
            <a:r>
              <a:rPr lang="fr-FR" sz="3200" noProof="0" dirty="0">
                <a:latin typeface="Times New Roman" panose="02020603050405020304" pitchFamily="18" charset="0"/>
                <a:cs typeface="Times New Roman" panose="02020603050405020304" pitchFamily="18" charset="0"/>
              </a:rPr>
              <a:t>Déterminant la force qui s'exercerait sur toute autre charge y étant placée.</a:t>
            </a:r>
            <a:endParaRPr lang="fr-FR" sz="2800" noProof="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9071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A145F3B3-9DD2-D07E-087A-2AD9616E06B2}"/>
                  </a:ext>
                </a:extLst>
              </p:cNvPr>
              <p:cNvSpPr>
                <a:spLocks noGrp="1"/>
              </p:cNvSpPr>
              <p:nvPr>
                <p:ph type="title"/>
              </p:nvPr>
            </p:nvSpPr>
            <p:spPr>
              <a:xfrm>
                <a:off x="685799" y="218470"/>
                <a:ext cx="11005457" cy="1260324"/>
              </a:xfrm>
            </p:spPr>
            <p:txBody>
              <a:bodyPr>
                <a:normAutofit fontScale="90000"/>
              </a:bodyPr>
              <a:lstStyle/>
              <a:p>
                <a:pPr algn="ctr"/>
                <a:r>
                  <a:rPr lang="fr-FR" sz="4800" b="1" noProof="0" dirty="0">
                    <a:solidFill>
                      <a:srgbClr val="FFC000"/>
                    </a:solidFill>
                    <a:latin typeface="Times New Roman" panose="02020603050405020304" pitchFamily="18" charset="0"/>
                    <a:ea typeface="MS Mincho" panose="02020609040205080304" pitchFamily="49" charset="-128"/>
                    <a:cs typeface="Arial" panose="020B0604020202020204" pitchFamily="34" charset="0"/>
                  </a:rPr>
                  <a:t>B.1. Le champ électrique </a:t>
                </a:r>
                <a:r>
                  <a:rPr lang="fr-FR" noProof="0" dirty="0">
                    <a:solidFill>
                      <a:srgbClr val="FFFFFF"/>
                    </a:solidFill>
                    <a:latin typeface="Segoe UI Emoji" panose="020B0502040204020203" pitchFamily="34" charset="0"/>
                    <a:ea typeface="Times New Roman" panose="02020603050405020304" pitchFamily="18" charset="0"/>
                    <a:cs typeface="Segoe UI Emoji" panose="020B0502040204020203" pitchFamily="34" charset="0"/>
                  </a:rPr>
                  <a:t>👉</a:t>
                </a:r>
                <a:r>
                  <a:rPr lang="fr-FR" sz="4800" b="1" noProof="0" dirty="0">
                    <a:solidFill>
                      <a:srgbClr val="FFC000"/>
                    </a:solidFill>
                    <a:latin typeface="Times New Roman" panose="02020603050405020304" pitchFamily="18" charset="0"/>
                    <a:ea typeface="MS Mincho" panose="02020609040205080304" pitchFamily="49" charset="-128"/>
                    <a:cs typeface="Arial" panose="020B0604020202020204" pitchFamily="34" charset="0"/>
                  </a:rPr>
                  <a:t> </a:t>
                </a:r>
                <a:r>
                  <a:rPr lang="fr-FR" sz="4800" b="1" noProof="0" dirty="0">
                    <a:solidFill>
                      <a:srgbClr val="00B050"/>
                    </a:solidFill>
                    <a:latin typeface="Times New Roman" panose="02020603050405020304" pitchFamily="18" charset="0"/>
                    <a:ea typeface="MS Mincho" panose="02020609040205080304" pitchFamily="49" charset="-128"/>
                    <a:cs typeface="Arial" panose="020B0604020202020204" pitchFamily="34" charset="0"/>
                  </a:rPr>
                  <a:t>Electric </a:t>
                </a:r>
                <a:r>
                  <a:rPr lang="fr-FR" sz="4800" b="1" noProof="0" dirty="0" err="1">
                    <a:solidFill>
                      <a:srgbClr val="00B050"/>
                    </a:solidFill>
                    <a:latin typeface="Times New Roman" panose="02020603050405020304" pitchFamily="18" charset="0"/>
                    <a:ea typeface="MS Mincho" panose="02020609040205080304" pitchFamily="49" charset="-128"/>
                    <a:cs typeface="Arial" panose="020B0604020202020204" pitchFamily="34" charset="0"/>
                  </a:rPr>
                  <a:t>field</a:t>
                </a:r>
                <a:r>
                  <a:rPr lang="fr-FR" sz="4800" b="1" noProof="0" dirty="0">
                    <a:effectLst/>
                    <a:cs typeface="Times New Roman" panose="02020603050405020304" pitchFamily="18" charset="0"/>
                  </a:rPr>
                  <a:t> </a:t>
                </a:r>
                <a:r>
                  <a:rPr lang="fr-FR" sz="4800" b="1" noProof="0" dirty="0">
                    <a:solidFill>
                      <a:srgbClr val="FFC000"/>
                    </a:solidFill>
                    <a:effectLst/>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fr-FR" sz="4800" b="1" i="1" noProof="0" smtClean="0">
                            <a:solidFill>
                              <a:srgbClr val="FFC000"/>
                            </a:solidFill>
                            <a:effectLst/>
                            <a:latin typeface="Cambria Math" panose="02040503050406030204" pitchFamily="18" charset="0"/>
                            <a:cs typeface="Times New Roman" panose="02020603050405020304" pitchFamily="18" charset="0"/>
                          </a:rPr>
                        </m:ctrlPr>
                      </m:accPr>
                      <m:e>
                        <m:r>
                          <a:rPr lang="fr-FR" sz="4800" b="1" i="1"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𝑬</m:t>
                        </m:r>
                      </m:e>
                    </m:acc>
                  </m:oMath>
                </a14:m>
                <a:r>
                  <a:rPr lang="fr-FR" sz="4800" b="1" noProof="0" dirty="0">
                    <a:solidFill>
                      <a:srgbClr val="FFC000"/>
                    </a:solidFill>
                    <a:effectLst/>
                    <a:latin typeface="Times New Roman" panose="02020603050405020304" pitchFamily="18" charset="0"/>
                    <a:ea typeface="Aptos" panose="020B0004020202020204" pitchFamily="34" charset="0"/>
                  </a:rPr>
                  <a:t> </a:t>
                </a:r>
                <a:r>
                  <a:rPr lang="fr-FR" sz="4800" b="1" noProof="0" dirty="0">
                    <a:solidFill>
                      <a:srgbClr val="FFC000"/>
                    </a:solidFill>
                    <a:latin typeface="Times New Roman" panose="02020603050405020304" pitchFamily="18" charset="0"/>
                    <a:ea typeface="MS Mincho" panose="02020609040205080304" pitchFamily="49" charset="-128"/>
                    <a:cs typeface="Arial" panose="020B0604020202020204" pitchFamily="34" charset="0"/>
                  </a:rPr>
                  <a:t>)</a:t>
                </a:r>
                <a:br>
                  <a:rPr lang="fr-FR" sz="4800" b="1" noProof="0" dirty="0">
                    <a:solidFill>
                      <a:srgbClr val="FFC000"/>
                    </a:solidFill>
                    <a:latin typeface="Times New Roman" panose="02020603050405020304" pitchFamily="18" charset="0"/>
                    <a:ea typeface="MS Mincho" panose="02020609040205080304" pitchFamily="49" charset="-128"/>
                    <a:cs typeface="Arial" panose="020B0604020202020204" pitchFamily="34" charset="0"/>
                  </a:rPr>
                </a:br>
                <a:r>
                  <a:rPr lang="fr-FR" sz="4800" b="1" noProof="0" dirty="0">
                    <a:solidFill>
                      <a:srgbClr val="FFC000"/>
                    </a:solidFill>
                    <a:latin typeface="Times New Roman" panose="02020603050405020304" pitchFamily="18" charset="0"/>
                    <a:ea typeface="MS Mincho" panose="02020609040205080304" pitchFamily="49" charset="-128"/>
                    <a:cs typeface="Arial" panose="020B0604020202020204" pitchFamily="34" charset="0"/>
                  </a:rPr>
                  <a:t>a. </a:t>
                </a:r>
                <a:r>
                  <a:rPr lang="fr-FR" sz="4800" b="1" noProof="0" dirty="0" err="1">
                    <a:solidFill>
                      <a:srgbClr val="FFC000"/>
                    </a:solidFill>
                    <a:latin typeface="Times New Roman" panose="02020603050405020304" pitchFamily="18" charset="0"/>
                    <a:ea typeface="MS Mincho" panose="02020609040205080304" pitchFamily="49" charset="-128"/>
                    <a:cs typeface="Arial" panose="020B0604020202020204" pitchFamily="34" charset="0"/>
                  </a:rPr>
                  <a:t>Definition</a:t>
                </a:r>
                <a:r>
                  <a:rPr lang="fr-FR" sz="4800" b="1" noProof="0" dirty="0">
                    <a:solidFill>
                      <a:srgbClr val="FFC000"/>
                    </a:solidFill>
                    <a:latin typeface="Times New Roman" panose="02020603050405020304" pitchFamily="18" charset="0"/>
                    <a:ea typeface="MS Mincho" panose="02020609040205080304" pitchFamily="49" charset="-128"/>
                    <a:cs typeface="Arial" panose="020B0604020202020204" pitchFamily="34" charset="0"/>
                  </a:rPr>
                  <a:t> </a:t>
                </a:r>
                <a:endParaRPr lang="fr-FR" sz="4800" b="1" noProof="0" dirty="0">
                  <a:solidFill>
                    <a:srgbClr val="FFC000"/>
                  </a:solidFill>
                </a:endParaRPr>
              </a:p>
            </p:txBody>
          </p:sp>
        </mc:Choice>
        <mc:Fallback xmlns="">
          <p:sp>
            <p:nvSpPr>
              <p:cNvPr id="2" name="Titre 1">
                <a:extLst>
                  <a:ext uri="{FF2B5EF4-FFF2-40B4-BE49-F238E27FC236}">
                    <a16:creationId xmlns:a16="http://schemas.microsoft.com/office/drawing/2014/main" id="{A145F3B3-9DD2-D07E-087A-2AD9616E06B2}"/>
                  </a:ext>
                </a:extLst>
              </p:cNvPr>
              <p:cNvSpPr>
                <a:spLocks noGrp="1" noRot="1" noChangeAspect="1" noMove="1" noResize="1" noEditPoints="1" noAdjustHandles="1" noChangeArrowheads="1" noChangeShapeType="1" noTextEdit="1"/>
              </p:cNvSpPr>
              <p:nvPr>
                <p:ph type="title"/>
              </p:nvPr>
            </p:nvSpPr>
            <p:spPr>
              <a:xfrm>
                <a:off x="685799" y="218470"/>
                <a:ext cx="11005457" cy="1260324"/>
              </a:xfrm>
              <a:blipFill>
                <a:blip r:embed="rId2"/>
                <a:stretch>
                  <a:fillRect l="-1717" t="-14976" r="-1661" b="-23671"/>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D1B59083-E627-ED8D-4A3C-CA25BCC85131}"/>
                  </a:ext>
                </a:extLst>
              </p:cNvPr>
              <p:cNvSpPr>
                <a:spLocks noGrp="1"/>
              </p:cNvSpPr>
              <p:nvPr>
                <p:ph type="body" idx="1"/>
              </p:nvPr>
            </p:nvSpPr>
            <p:spPr>
              <a:xfrm>
                <a:off x="76200" y="1883229"/>
                <a:ext cx="12115800" cy="3875314"/>
              </a:xfrm>
            </p:spPr>
            <p:txBody>
              <a:bodyPr>
                <a:normAutofit/>
              </a:bodyPr>
              <a:lstStyle/>
              <a:p>
                <a:pPr algn="l">
                  <a:lnSpc>
                    <a:spcPct val="115000"/>
                  </a:lnSpc>
                  <a:spcAft>
                    <a:spcPts val="1000"/>
                  </a:spcAft>
                </a:pPr>
                <a:r>
                  <a:rPr lang="fr-FR" sz="3200" noProof="0" dirty="0">
                    <a:effectLst/>
                    <a:latin typeface="Times New Roman" panose="02020603050405020304" pitchFamily="18" charset="0"/>
                    <a:ea typeface="MS Mincho" panose="02020609040205080304" pitchFamily="49" charset="-128"/>
                    <a:cs typeface="Arial" panose="020B0604020202020204" pitchFamily="34" charset="0"/>
                  </a:rPr>
                  <a:t>En un point :il est défini comme la force</a:t>
                </a:r>
                <a:r>
                  <a:rPr kumimoji="0" lang="fr-FR" sz="3600" b="0" i="0" u="none" strike="noStrike" kern="100" cap="none" spc="0" normalizeH="0" baseline="0" noProof="0" dirty="0">
                    <a:ln>
                      <a:noFill/>
                    </a:ln>
                    <a:solidFill>
                      <a:srgbClr val="FFC000"/>
                    </a:solidFill>
                    <a:effectLst/>
                    <a:uLnTx/>
                    <a:uFillTx/>
                    <a:ea typeface="Aptos" panose="020B0004020202020204" pitchFamily="34" charset="0"/>
                    <a:cs typeface="Times New Roman" panose="02020603050405020304" pitchFamily="18" charset="0"/>
                    <a:sym typeface="Century Gothic"/>
                  </a:rPr>
                  <a:t> </a:t>
                </a:r>
                <a14:m>
                  <m:oMath xmlns:m="http://schemas.openxmlformats.org/officeDocument/2006/math">
                    <m:acc>
                      <m:accPr>
                        <m:chr m:val="⃗"/>
                        <m:ctrlPr>
                          <a:rPr kumimoji="0" lang="fr-FR" sz="3600" b="0" i="1" u="none" strike="noStrike" kern="100" cap="none" spc="0" normalizeH="0" baseline="0" noProof="0" smtClean="0">
                            <a:ln>
                              <a:noFill/>
                            </a:ln>
                            <a:solidFill>
                              <a:srgbClr val="FFC000"/>
                            </a:solidFill>
                            <a:effectLst/>
                            <a:uLnTx/>
                            <a:uFillTx/>
                            <a:latin typeface="Cambria Math" panose="02040503050406030204" pitchFamily="18" charset="0"/>
                            <a:ea typeface="Aptos" panose="020B0004020202020204" pitchFamily="34" charset="0"/>
                            <a:cs typeface="Times New Roman" panose="02020603050405020304" pitchFamily="18" charset="0"/>
                            <a:sym typeface="Century Gothic"/>
                          </a:rPr>
                        </m:ctrlPr>
                      </m:accPr>
                      <m:e>
                        <m:r>
                          <a:rPr kumimoji="0" lang="fr-FR" sz="3600" b="0" i="1" u="none" strike="noStrike" kern="100" cap="none" spc="0" normalizeH="0" baseline="0" noProof="0" smtClean="0">
                            <a:ln>
                              <a:noFill/>
                            </a:ln>
                            <a:solidFill>
                              <a:srgbClr val="FFC000"/>
                            </a:solidFill>
                            <a:effectLst/>
                            <a:uLnTx/>
                            <a:uFillTx/>
                            <a:latin typeface="Cambria Math" panose="02040503050406030204" pitchFamily="18" charset="0"/>
                            <a:ea typeface="Aptos" panose="020B0004020202020204" pitchFamily="34" charset="0"/>
                            <a:cs typeface="Times New Roman" panose="02020603050405020304" pitchFamily="18" charset="0"/>
                            <a:sym typeface="Century Gothic"/>
                          </a:rPr>
                          <m:t>𝐹</m:t>
                        </m:r>
                      </m:e>
                    </m:acc>
                  </m:oMath>
                </a14:m>
                <a:r>
                  <a:rPr lang="fr-FR" sz="3200" noProof="0" dirty="0">
                    <a:effectLst/>
                    <a:latin typeface="Times New Roman" panose="02020603050405020304" pitchFamily="18" charset="0"/>
                    <a:ea typeface="MS Mincho" panose="02020609040205080304" pitchFamily="49" charset="-128"/>
                    <a:cs typeface="Arial" panose="020B0604020202020204" pitchFamily="34" charset="0"/>
                  </a:rPr>
                  <a:t> par unité de charge test</a:t>
                </a:r>
                <a:r>
                  <a:rPr lang="fr-FR" sz="3600" kern="100" noProof="0" dirty="0">
                    <a:solidFill>
                      <a:srgbClr val="FFC000"/>
                    </a:solidFill>
                    <a:ea typeface="Aptos" panose="020B0004020202020204" pitchFamily="34" charset="0"/>
                    <a:cs typeface="Times New Roman" panose="02020603050405020304" pitchFamily="18" charset="0"/>
                  </a:rPr>
                  <a:t> </a:t>
                </a:r>
                <a14:m>
                  <m:oMath xmlns:m="http://schemas.openxmlformats.org/officeDocument/2006/math">
                    <m:sSub>
                      <m:sSubPr>
                        <m:ctrlPr>
                          <a:rPr lang="fr-FR" sz="3600" i="1" kern="100" noProof="0" smtClean="0">
                            <a:solidFill>
                              <a:srgbClr val="FFC000"/>
                            </a:solidFill>
                            <a:latin typeface="Cambria Math" panose="02040503050406030204" pitchFamily="18" charset="0"/>
                            <a:ea typeface="Aptos" panose="020B0004020202020204" pitchFamily="34" charset="0"/>
                            <a:cs typeface="Times New Roman" panose="02020603050405020304" pitchFamily="18" charset="0"/>
                          </a:rPr>
                        </m:ctrlPr>
                      </m:sSubPr>
                      <m:e>
                        <m:r>
                          <a:rPr lang="fr-FR" sz="3600" i="1" kern="100" noProof="0" smtClean="0">
                            <a:solidFill>
                              <a:srgbClr val="FFC000"/>
                            </a:solidFill>
                            <a:latin typeface="Cambria Math" panose="02040503050406030204" pitchFamily="18" charset="0"/>
                            <a:ea typeface="Aptos" panose="020B0004020202020204" pitchFamily="34" charset="0"/>
                            <a:cs typeface="Times New Roman" panose="02020603050405020304" pitchFamily="18" charset="0"/>
                          </a:rPr>
                          <m:t>𝑞</m:t>
                        </m:r>
                      </m:e>
                      <m:sub>
                        <m:r>
                          <a:rPr lang="fr-FR" sz="3600" i="1" kern="100" noProof="0" smtClean="0">
                            <a:solidFill>
                              <a:srgbClr val="FFC000"/>
                            </a:solidFill>
                            <a:latin typeface="Cambria Math" panose="02040503050406030204" pitchFamily="18" charset="0"/>
                            <a:ea typeface="Aptos" panose="020B0004020202020204" pitchFamily="34" charset="0"/>
                            <a:cs typeface="Times New Roman" panose="02020603050405020304" pitchFamily="18" charset="0"/>
                          </a:rPr>
                          <m:t>0</m:t>
                        </m:r>
                      </m:sub>
                    </m:sSub>
                    <m:r>
                      <a:rPr lang="fr-FR" sz="3600" i="1" kern="100" noProof="0" smtClean="0">
                        <a:solidFill>
                          <a:srgbClr val="FFC000"/>
                        </a:solidFill>
                        <a:latin typeface="Cambria Math" panose="02040503050406030204" pitchFamily="18" charset="0"/>
                        <a:ea typeface="Aptos" panose="020B0004020202020204" pitchFamily="34" charset="0"/>
                        <a:cs typeface="Times New Roman" panose="02020603050405020304" pitchFamily="18" charset="0"/>
                      </a:rPr>
                      <m:t> </m:t>
                    </m:r>
                  </m:oMath>
                </a14:m>
                <a:r>
                  <a:rPr lang="fr-FR" sz="2800" noProof="0" dirty="0">
                    <a:effectLst/>
                    <a:latin typeface="Times New Roman" panose="02020603050405020304" pitchFamily="18" charset="0"/>
                    <a:ea typeface="MS Mincho" panose="02020609040205080304" pitchFamily="49" charset="-128"/>
                    <a:cs typeface="Arial" panose="020B0604020202020204" pitchFamily="34" charset="0"/>
                  </a:rPr>
                  <a:t> </a:t>
                </a:r>
                <a:endParaRPr lang="fr-FR" sz="2800" noProof="0" dirty="0">
                  <a:effectLst/>
                  <a:latin typeface="Calibri" panose="020F0502020204030204" pitchFamily="34" charset="0"/>
                  <a:ea typeface="MS Mincho" panose="02020609040205080304" pitchFamily="49" charset="-128"/>
                  <a:cs typeface="Arial" panose="020B0604020202020204" pitchFamily="34" charset="0"/>
                </a:endParaRPr>
              </a:p>
              <a:p>
                <a:pPr>
                  <a:lnSpc>
                    <a:spcPct val="115000"/>
                  </a:lnSpc>
                  <a:spcAft>
                    <a:spcPts val="800"/>
                  </a:spcAft>
                  <a:buNone/>
                </a:pPr>
                <a14:m>
                  <m:oMathPara xmlns:m="http://schemas.openxmlformats.org/officeDocument/2006/math">
                    <m:oMathParaPr>
                      <m:jc m:val="center"/>
                    </m:oMathParaPr>
                    <m:oMath xmlns:m="http://schemas.openxmlformats.org/officeDocument/2006/math">
                      <m:acc>
                        <m:accPr>
                          <m:chr m:val="⃗"/>
                          <m:ctrlP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accPr>
                        <m:e>
                          <m: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𝐸</m:t>
                          </m:r>
                        </m:e>
                      </m:acc>
                      <m: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m:t>
                      </m:r>
                      <m:f>
                        <m:fPr>
                          <m:ctrlP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fPr>
                        <m:num>
                          <m:acc>
                            <m:accPr>
                              <m:chr m:val="⃗"/>
                              <m:ctrlP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accPr>
                            <m:e>
                              <m: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𝐹</m:t>
                              </m:r>
                            </m:e>
                          </m:acc>
                        </m:num>
                        <m:den>
                          <m:sSub>
                            <m:sSubPr>
                              <m:ctrlP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𝑞</m:t>
                              </m:r>
                            </m:e>
                            <m:sub>
                              <m: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0</m:t>
                              </m:r>
                            </m:sub>
                          </m:sSub>
                        </m:den>
                      </m:f>
                    </m:oMath>
                  </m:oMathPara>
                </a14:m>
                <a:endParaRPr lang="fr-FR" sz="2400" kern="100" noProof="0" dirty="0">
                  <a:effectLst/>
                  <a:latin typeface="Aptos" panose="020B0004020202020204" pitchFamily="34" charset="0"/>
                  <a:ea typeface="Aptos" panose="020B0004020202020204" pitchFamily="34" charset="0"/>
                  <a:cs typeface="Arial" panose="020B0604020202020204" pitchFamily="34" charset="0"/>
                </a:endParaRPr>
              </a:p>
              <a:p>
                <a:pPr algn="l"/>
                <a:endParaRPr lang="fr-FR" noProof="0" dirty="0"/>
              </a:p>
            </p:txBody>
          </p:sp>
        </mc:Choice>
        <mc:Fallback xmlns="">
          <p:sp>
            <p:nvSpPr>
              <p:cNvPr id="3" name="Espace réservé du texte 2">
                <a:extLst>
                  <a:ext uri="{FF2B5EF4-FFF2-40B4-BE49-F238E27FC236}">
                    <a16:creationId xmlns:a16="http://schemas.microsoft.com/office/drawing/2014/main" id="{D1B59083-E627-ED8D-4A3C-CA25BCC85131}"/>
                  </a:ext>
                </a:extLst>
              </p:cNvPr>
              <p:cNvSpPr>
                <a:spLocks noGrp="1" noRot="1" noChangeAspect="1" noMove="1" noResize="1" noEditPoints="1" noAdjustHandles="1" noChangeArrowheads="1" noChangeShapeType="1" noTextEdit="1"/>
              </p:cNvSpPr>
              <p:nvPr>
                <p:ph type="body" idx="1"/>
              </p:nvPr>
            </p:nvSpPr>
            <p:spPr>
              <a:xfrm>
                <a:off x="76200" y="1883229"/>
                <a:ext cx="12115800" cy="3875314"/>
              </a:xfrm>
              <a:blipFill>
                <a:blip r:embed="rId3"/>
                <a:stretch>
                  <a:fillRect/>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A885DFA6-DEC5-8A6D-06F8-1B4DA45855A7}"/>
                  </a:ext>
                </a:extLst>
              </p:cNvPr>
              <p:cNvSpPr txBox="1"/>
              <p:nvPr/>
            </p:nvSpPr>
            <p:spPr>
              <a:xfrm>
                <a:off x="859971" y="4178932"/>
                <a:ext cx="11168742" cy="1262012"/>
              </a:xfrm>
              <a:prstGeom prst="rect">
                <a:avLst/>
              </a:prstGeom>
              <a:noFill/>
            </p:spPr>
            <p:txBody>
              <a:bodyPr wrap="square">
                <a:spAutoFit/>
              </a:bodyPr>
              <a:lstStyle/>
              <a:p>
                <a:pPr lvl="0">
                  <a:lnSpc>
                    <a:spcPct val="115000"/>
                  </a:lnSpc>
                  <a:spcAft>
                    <a:spcPts val="800"/>
                  </a:spcAft>
                  <a:buSzPts val="1000"/>
                  <a:tabLst>
                    <a:tab pos="457200" algn="l"/>
                  </a:tabLst>
                </a:pPr>
                <a14:m>
                  <m:oMath xmlns:m="http://schemas.openxmlformats.org/officeDocument/2006/math">
                    <m:acc>
                      <m:accPr>
                        <m:chr m:val="⃗"/>
                        <m:ctrlP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accPr>
                      <m:e>
                        <m:r>
                          <a:rPr lang="fr-FR" sz="3200"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𝐸</m:t>
                        </m:r>
                      </m:e>
                    </m:acc>
                  </m:oMath>
                </a14:m>
                <a:r>
                  <a:rPr lang="fr-FR" sz="3200" kern="100" noProof="0" dirty="0">
                    <a:solidFill>
                      <a:srgbClr val="FFC000"/>
                    </a:solidFill>
                    <a:effectLst/>
                    <a:latin typeface="Times New Roman" panose="02020603050405020304" pitchFamily="18" charset="0"/>
                    <a:ea typeface="Aptos" panose="020B0004020202020204" pitchFamily="34" charset="0"/>
                    <a:cs typeface="Arial" panose="020B0604020202020204" pitchFamily="34" charset="0"/>
                  </a:rPr>
                  <a:t> </a:t>
                </a:r>
                <a:r>
                  <a:rPr lang="fr-FR" sz="3200" kern="100" noProof="0" dirty="0">
                    <a:solidFill>
                      <a:schemeClr val="bg1"/>
                    </a:solidFill>
                    <a:effectLst/>
                    <a:latin typeface="Times New Roman" panose="02020603050405020304" pitchFamily="18" charset="0"/>
                    <a:ea typeface="Aptos" panose="020B0004020202020204" pitchFamily="34" charset="0"/>
                    <a:cs typeface="Arial" panose="020B0604020202020204" pitchFamily="34" charset="0"/>
                  </a:rPr>
                  <a:t>: Vecteur champ électrique (en Newtons par Coulomb, </a:t>
                </a:r>
                <a:r>
                  <a:rPr lang="fr-FR" sz="3200" b="1" kern="100" noProof="0" dirty="0">
                    <a:solidFill>
                      <a:srgbClr val="FFC000"/>
                    </a:solidFill>
                    <a:effectLst/>
                    <a:latin typeface="Times New Roman" panose="02020603050405020304" pitchFamily="18" charset="0"/>
                    <a:ea typeface="Aptos" panose="020B0004020202020204" pitchFamily="34" charset="0"/>
                    <a:cs typeface="Arial" panose="020B0604020202020204" pitchFamily="34" charset="0"/>
                  </a:rPr>
                  <a:t>N/C</a:t>
                </a:r>
                <a:r>
                  <a:rPr lang="fr-FR" sz="3200" kern="100" noProof="0" dirty="0">
                    <a:solidFill>
                      <a:schemeClr val="bg1"/>
                    </a:solidFill>
                    <a:effectLst/>
                    <a:latin typeface="Times New Roman" panose="02020603050405020304" pitchFamily="18" charset="0"/>
                    <a:ea typeface="Aptos" panose="020B0004020202020204" pitchFamily="34" charset="0"/>
                    <a:cs typeface="Arial" panose="020B0604020202020204" pitchFamily="34" charset="0"/>
                  </a:rPr>
                  <a:t>, ou plus souvent en Volts par mètre, </a:t>
                </a:r>
                <a:r>
                  <a:rPr lang="fr-FR" sz="3200" b="1" kern="100" noProof="0" dirty="0">
                    <a:solidFill>
                      <a:srgbClr val="FFC000"/>
                    </a:solidFill>
                    <a:effectLst/>
                    <a:latin typeface="Times New Roman" panose="02020603050405020304" pitchFamily="18" charset="0"/>
                    <a:ea typeface="Aptos" panose="020B0004020202020204" pitchFamily="34" charset="0"/>
                    <a:cs typeface="Arial" panose="020B0604020202020204" pitchFamily="34" charset="0"/>
                  </a:rPr>
                  <a:t>V/m</a:t>
                </a:r>
                <a:r>
                  <a:rPr lang="fr-FR" sz="3200" kern="100" noProof="0" dirty="0">
                    <a:solidFill>
                      <a:schemeClr val="bg1"/>
                    </a:solidFill>
                    <a:effectLst/>
                    <a:latin typeface="Times New Roman" panose="02020603050405020304" pitchFamily="18" charset="0"/>
                    <a:ea typeface="Aptos" panose="020B0004020202020204" pitchFamily="34" charset="0"/>
                    <a:cs typeface="Arial" panose="020B0604020202020204" pitchFamily="34" charset="0"/>
                  </a:rPr>
                  <a:t>).</a:t>
                </a:r>
                <a:endParaRPr lang="fr-FR" sz="1800" kern="100" noProof="0" dirty="0">
                  <a:effectLst/>
                  <a:latin typeface="Aptos" panose="020B0004020202020204" pitchFamily="34" charset="0"/>
                  <a:ea typeface="Aptos" panose="020B0004020202020204" pitchFamily="34" charset="0"/>
                  <a:cs typeface="Arial" panose="020B0604020202020204" pitchFamily="34" charset="0"/>
                </a:endParaRPr>
              </a:p>
            </p:txBody>
          </p:sp>
        </mc:Choice>
        <mc:Fallback xmlns="">
          <p:sp>
            <p:nvSpPr>
              <p:cNvPr id="7" name="ZoneTexte 6">
                <a:extLst>
                  <a:ext uri="{FF2B5EF4-FFF2-40B4-BE49-F238E27FC236}">
                    <a16:creationId xmlns:a16="http://schemas.microsoft.com/office/drawing/2014/main" id="{A885DFA6-DEC5-8A6D-06F8-1B4DA45855A7}"/>
                  </a:ext>
                </a:extLst>
              </p:cNvPr>
              <p:cNvSpPr txBox="1">
                <a:spLocks noRot="1" noChangeAspect="1" noMove="1" noResize="1" noEditPoints="1" noAdjustHandles="1" noChangeArrowheads="1" noChangeShapeType="1" noTextEdit="1"/>
              </p:cNvSpPr>
              <p:nvPr/>
            </p:nvSpPr>
            <p:spPr>
              <a:xfrm>
                <a:off x="859971" y="4178932"/>
                <a:ext cx="11168742" cy="1262012"/>
              </a:xfrm>
              <a:prstGeom prst="rect">
                <a:avLst/>
              </a:prstGeom>
              <a:blipFill>
                <a:blip r:embed="rId4"/>
                <a:stretch>
                  <a:fillRect l="-1365" t="-483" b="-13527"/>
                </a:stretch>
              </a:blipFill>
            </p:spPr>
            <p:txBody>
              <a:bodyPr/>
              <a:lstStyle/>
              <a:p>
                <a:r>
                  <a:rPr lang="fr-DZ">
                    <a:noFill/>
                  </a:rPr>
                  <a:t> </a:t>
                </a:r>
              </a:p>
            </p:txBody>
          </p:sp>
        </mc:Fallback>
      </mc:AlternateContent>
    </p:spTree>
    <p:extLst>
      <p:ext uri="{BB962C8B-B14F-4D97-AF65-F5344CB8AC3E}">
        <p14:creationId xmlns:p14="http://schemas.microsoft.com/office/powerpoint/2010/main" val="955296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A126D-8B8E-FD1C-A22A-3F7BFF498FB4}"/>
              </a:ext>
            </a:extLst>
          </p:cNvPr>
          <p:cNvSpPr>
            <a:spLocks noGrp="1"/>
          </p:cNvSpPr>
          <p:nvPr>
            <p:ph type="title"/>
          </p:nvPr>
        </p:nvSpPr>
        <p:spPr>
          <a:xfrm>
            <a:off x="-119743" y="78617"/>
            <a:ext cx="7351107" cy="1902583"/>
          </a:xfrm>
        </p:spPr>
        <p:txBody>
          <a:bodyPr>
            <a:normAutofit/>
          </a:bodyPr>
          <a:lstStyle/>
          <a:p>
            <a:pPr algn="ctr"/>
            <a:r>
              <a:rPr lang="fr-FR" b="1" noProof="0" dirty="0" err="1">
                <a:solidFill>
                  <a:schemeClr val="accent4"/>
                </a:solidFill>
                <a:latin typeface="Times New Roman" panose="02020603050405020304" pitchFamily="18" charset="0"/>
                <a:cs typeface="Times New Roman" panose="02020603050405020304" pitchFamily="18" charset="0"/>
              </a:rPr>
              <a:t>b.Direction</a:t>
            </a:r>
            <a:r>
              <a:rPr lang="fr-FR" b="1" noProof="0" dirty="0">
                <a:solidFill>
                  <a:schemeClr val="accent4"/>
                </a:solidFill>
                <a:latin typeface="Times New Roman" panose="02020603050405020304" pitchFamily="18" charset="0"/>
                <a:cs typeface="Times New Roman" panose="02020603050405020304" pitchFamily="18" charset="0"/>
              </a:rPr>
              <a:t> du champ électrique</a:t>
            </a:r>
            <a:br>
              <a:rPr lang="fr-FR" b="1" noProof="0" dirty="0">
                <a:solidFill>
                  <a:schemeClr val="accent4"/>
                </a:solidFill>
                <a:latin typeface="Times New Roman" panose="02020603050405020304" pitchFamily="18" charset="0"/>
                <a:cs typeface="Times New Roman" panose="02020603050405020304" pitchFamily="18" charset="0"/>
              </a:rPr>
            </a:br>
            <a:r>
              <a:rPr kumimoji="0" lang="fr-FR" sz="36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fr-FR" b="1" i="1" noProof="0" dirty="0">
                <a:solidFill>
                  <a:schemeClr val="accent1"/>
                </a:solidFill>
                <a:effectLst/>
                <a:latin typeface="Times New Roman" panose="02020603050405020304" pitchFamily="18" charset="0"/>
                <a:cs typeface="Times New Roman" panose="02020603050405020304" pitchFamily="18" charset="0"/>
              </a:rPr>
              <a:t>Direction of the </a:t>
            </a:r>
            <a:r>
              <a:rPr lang="fr-FR" b="1" i="1" noProof="0" dirty="0" err="1">
                <a:solidFill>
                  <a:schemeClr val="accent1"/>
                </a:solidFill>
                <a:effectLst/>
                <a:latin typeface="Times New Roman" panose="02020603050405020304" pitchFamily="18" charset="0"/>
                <a:cs typeface="Times New Roman" panose="02020603050405020304" pitchFamily="18" charset="0"/>
              </a:rPr>
              <a:t>electric</a:t>
            </a:r>
            <a:r>
              <a:rPr lang="fr-FR" b="1" i="1" noProof="0" dirty="0">
                <a:solidFill>
                  <a:schemeClr val="accent1"/>
                </a:solidFill>
                <a:effectLst/>
                <a:latin typeface="Times New Roman" panose="02020603050405020304" pitchFamily="18" charset="0"/>
                <a:cs typeface="Times New Roman" panose="02020603050405020304" pitchFamily="18" charset="0"/>
              </a:rPr>
              <a:t> </a:t>
            </a:r>
            <a:r>
              <a:rPr lang="fr-FR" b="1" i="1" noProof="0" dirty="0" err="1">
                <a:solidFill>
                  <a:schemeClr val="accent1"/>
                </a:solidFill>
                <a:effectLst/>
                <a:latin typeface="Times New Roman" panose="02020603050405020304" pitchFamily="18" charset="0"/>
                <a:cs typeface="Times New Roman" panose="02020603050405020304" pitchFamily="18" charset="0"/>
              </a:rPr>
              <a:t>field</a:t>
            </a:r>
            <a:endParaRPr lang="fr-FR" b="1" i="1" noProof="0" dirty="0">
              <a:solidFill>
                <a:schemeClr val="accent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09B64B63-883C-6DFE-EB5A-82B22CD10048}"/>
                  </a:ext>
                </a:extLst>
              </p:cNvPr>
              <p:cNvSpPr>
                <a:spLocks noGrp="1"/>
              </p:cNvSpPr>
              <p:nvPr>
                <p:ph type="body" idx="1"/>
              </p:nvPr>
            </p:nvSpPr>
            <p:spPr>
              <a:xfrm>
                <a:off x="293914" y="1966380"/>
                <a:ext cx="11604171" cy="5246914"/>
              </a:xfrm>
            </p:spPr>
            <p:txBody>
              <a:bodyPr>
                <a:normAutofit/>
              </a:bodyPr>
              <a:lstStyle/>
              <a:p>
                <a:pPr algn="l">
                  <a:buNone/>
                </a:pPr>
                <a:r>
                  <a:rPr lang="fr-FR" sz="2800" noProof="0" dirty="0">
                    <a:latin typeface="Times New Roman" panose="02020603050405020304" pitchFamily="18" charset="0"/>
                    <a:cs typeface="Times New Roman" panose="02020603050405020304" pitchFamily="18" charset="0"/>
                  </a:rPr>
                  <a:t>La direction du champ électrique dépend du signe de la charge qui</a:t>
                </a:r>
              </a:p>
              <a:p>
                <a:pPr algn="l">
                  <a:buNone/>
                </a:pPr>
                <a:r>
                  <a:rPr lang="fr-FR" sz="2800" noProof="0" dirty="0">
                    <a:latin typeface="Times New Roman" panose="02020603050405020304" pitchFamily="18" charset="0"/>
                    <a:cs typeface="Times New Roman" panose="02020603050405020304" pitchFamily="18" charset="0"/>
                  </a:rPr>
                  <a:t>crée le champ :</a:t>
                </a:r>
              </a:p>
              <a:p>
                <a:pPr algn="l">
                  <a:buFont typeface="+mj-lt"/>
                  <a:buAutoNum type="arabicPeriod"/>
                </a:pPr>
                <a:r>
                  <a:rPr lang="fr-FR" sz="2800" noProof="0" dirty="0">
                    <a:latin typeface="Times New Roman" panose="02020603050405020304" pitchFamily="18" charset="0"/>
                    <a:cs typeface="Times New Roman" panose="02020603050405020304" pitchFamily="18" charset="0"/>
                  </a:rPr>
                  <a:t>Pour une charge positive : le champ électrique s’éloigne de la charge.</a:t>
                </a:r>
              </a:p>
              <a:p>
                <a:pPr algn="l">
                  <a:buFont typeface="+mj-lt"/>
                  <a:buAutoNum type="arabicPeriod"/>
                </a:pPr>
                <a:r>
                  <a:rPr lang="fr-FR" sz="2800" noProof="0" dirty="0">
                    <a:latin typeface="Times New Roman" panose="02020603050405020304" pitchFamily="18" charset="0"/>
                    <a:cs typeface="Times New Roman" panose="02020603050405020304" pitchFamily="18" charset="0"/>
                  </a:rPr>
                  <a:t>Pour une charge négative : le champ électrique se dirige vers la charge.</a:t>
                </a:r>
              </a:p>
              <a:p>
                <a:pPr algn="l"/>
                <a:r>
                  <a:rPr lang="fr-FR" sz="3200" noProof="0" dirty="0">
                    <a:latin typeface="Times New Roman" panose="02020603050405020304" pitchFamily="18" charset="0"/>
                    <a:cs typeface="Times New Roman" panose="02020603050405020304" pitchFamily="18" charset="0"/>
                  </a:rPr>
                  <a:t>En général, le champ électrique </a:t>
                </a:r>
                <a14:m>
                  <m:oMath xmlns:m="http://schemas.openxmlformats.org/officeDocument/2006/math">
                    <m:acc>
                      <m:accPr>
                        <m:chr m:val="⃗"/>
                        <m:ctrlPr>
                          <a:rPr lang="fr-FR" sz="2400" i="1" noProof="0" smtClean="0">
                            <a:latin typeface="Cambria Math" panose="02040503050406030204" pitchFamily="18" charset="0"/>
                            <a:cs typeface="+mj-cs"/>
                          </a:rPr>
                        </m:ctrlPr>
                      </m:accPr>
                      <m:e>
                        <m:r>
                          <a:rPr lang="fr-FR" sz="2400" i="1" noProof="0" smtClean="0">
                            <a:latin typeface="Cambria Math" panose="02040503050406030204" pitchFamily="18" charset="0"/>
                            <a:cs typeface="+mj-cs"/>
                          </a:rPr>
                          <m:t>𝐸</m:t>
                        </m:r>
                      </m:e>
                    </m:acc>
                  </m:oMath>
                </a14:m>
                <a:r>
                  <a:rPr lang="fr-FR" sz="3200" noProof="0" dirty="0">
                    <a:latin typeface="Times New Roman" panose="02020603050405020304" pitchFamily="18" charset="0"/>
                    <a:cs typeface="Times New Roman" panose="02020603050405020304" pitchFamily="18" charset="0"/>
                  </a:rPr>
                  <a:t> en un point donné est toujours</a:t>
                </a:r>
              </a:p>
              <a:p>
                <a:pPr algn="l"/>
                <a:r>
                  <a:rPr lang="fr-FR" sz="3200" noProof="0" dirty="0">
                    <a:latin typeface="Times New Roman" panose="02020603050405020304" pitchFamily="18" charset="0"/>
                    <a:cs typeface="Times New Roman" panose="02020603050405020304" pitchFamily="18" charset="0"/>
                  </a:rPr>
                  <a:t>tangent aux lignes de champ électrique en ce point, et sa direction</a:t>
                </a:r>
              </a:p>
              <a:p>
                <a:pPr algn="l"/>
                <a:r>
                  <a:rPr lang="fr-FR" sz="3200" noProof="0" dirty="0">
                    <a:latin typeface="Times New Roman" panose="02020603050405020304" pitchFamily="18" charset="0"/>
                    <a:cs typeface="Times New Roman" panose="02020603050405020304" pitchFamily="18" charset="0"/>
                  </a:rPr>
                  <a:t>correspond à celle de la force qu’une charge test positive subirait </a:t>
                </a:r>
              </a:p>
              <a:p>
                <a:pPr algn="l"/>
                <a:r>
                  <a:rPr lang="fr-FR" sz="3200" noProof="0" dirty="0">
                    <a:latin typeface="Times New Roman" panose="02020603050405020304" pitchFamily="18" charset="0"/>
                    <a:cs typeface="Times New Roman" panose="02020603050405020304" pitchFamily="18" charset="0"/>
                  </a:rPr>
                  <a:t>si elle était placée à cet endroit</a:t>
                </a:r>
                <a:r>
                  <a:rPr lang="fr-FR" sz="2800" noProof="0" dirty="0"/>
                  <a:t>.</a:t>
                </a:r>
                <a:endParaRPr lang="fr-FR" noProof="0" dirty="0">
                  <a:solidFill>
                    <a:schemeClr val="tx2"/>
                  </a:solidFill>
                  <a:latin typeface="Times New Roman" panose="02020603050405020304" pitchFamily="18" charset="0"/>
                  <a:cs typeface="Times New Roman" panose="02020603050405020304" pitchFamily="18" charset="0"/>
                </a:endParaRPr>
              </a:p>
            </p:txBody>
          </p:sp>
        </mc:Choice>
        <mc:Fallback xmlns="">
          <p:sp>
            <p:nvSpPr>
              <p:cNvPr id="3" name="Espace réservé du texte 2">
                <a:extLst>
                  <a:ext uri="{FF2B5EF4-FFF2-40B4-BE49-F238E27FC236}">
                    <a16:creationId xmlns:a16="http://schemas.microsoft.com/office/drawing/2014/main" id="{09B64B63-883C-6DFE-EB5A-82B22CD10048}"/>
                  </a:ext>
                </a:extLst>
              </p:cNvPr>
              <p:cNvSpPr>
                <a:spLocks noGrp="1" noRot="1" noChangeAspect="1" noMove="1" noResize="1" noEditPoints="1" noAdjustHandles="1" noChangeArrowheads="1" noChangeShapeType="1" noTextEdit="1"/>
              </p:cNvSpPr>
              <p:nvPr>
                <p:ph type="body" idx="1"/>
              </p:nvPr>
            </p:nvSpPr>
            <p:spPr>
              <a:xfrm>
                <a:off x="293914" y="1966380"/>
                <a:ext cx="11604171" cy="5246914"/>
              </a:xfrm>
              <a:blipFill>
                <a:blip r:embed="rId2"/>
                <a:stretch>
                  <a:fillRect/>
                </a:stretch>
              </a:blipFill>
            </p:spPr>
            <p:txBody>
              <a:bodyPr/>
              <a:lstStyle/>
              <a:p>
                <a:r>
                  <a:rPr lang="fr-DZ">
                    <a:noFill/>
                  </a:rPr>
                  <a:t> </a:t>
                </a:r>
              </a:p>
            </p:txBody>
          </p:sp>
        </mc:Fallback>
      </mc:AlternateContent>
      <p:pic>
        <p:nvPicPr>
          <p:cNvPr id="4" name="Image 3">
            <a:extLst>
              <a:ext uri="{FF2B5EF4-FFF2-40B4-BE49-F238E27FC236}">
                <a16:creationId xmlns:a16="http://schemas.microsoft.com/office/drawing/2014/main" id="{53B7B4FD-7520-DB6C-F304-97688CE3385F}"/>
              </a:ext>
            </a:extLst>
          </p:cNvPr>
          <p:cNvPicPr>
            <a:picLocks noChangeAspect="1"/>
          </p:cNvPicPr>
          <p:nvPr/>
        </p:nvPicPr>
        <p:blipFill>
          <a:blip r:embed="rId3"/>
          <a:stretch>
            <a:fillRect/>
          </a:stretch>
        </p:blipFill>
        <p:spPr>
          <a:xfrm>
            <a:off x="7021287" y="78617"/>
            <a:ext cx="5047720" cy="2072820"/>
          </a:xfrm>
          <a:prstGeom prst="rect">
            <a:avLst/>
          </a:prstGeom>
        </p:spPr>
      </p:pic>
    </p:spTree>
    <p:extLst>
      <p:ext uri="{BB962C8B-B14F-4D97-AF65-F5344CB8AC3E}">
        <p14:creationId xmlns:p14="http://schemas.microsoft.com/office/powerpoint/2010/main" val="3506922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3601BF59-9C19-316B-8D60-4090021FA954}"/>
              </a:ext>
            </a:extLst>
          </p:cNvPr>
          <p:cNvPicPr>
            <a:picLocks noChangeAspect="1"/>
          </p:cNvPicPr>
          <p:nvPr/>
        </p:nvPicPr>
        <p:blipFill>
          <a:blip r:embed="rId2"/>
          <a:stretch>
            <a:fillRect/>
          </a:stretch>
        </p:blipFill>
        <p:spPr>
          <a:xfrm>
            <a:off x="2098876" y="0"/>
            <a:ext cx="4572000" cy="6858000"/>
          </a:xfrm>
          <a:prstGeom prst="rect">
            <a:avLst/>
          </a:prstGeom>
        </p:spPr>
      </p:pic>
      <p:pic>
        <p:nvPicPr>
          <p:cNvPr id="2" name="Image 1">
            <a:extLst>
              <a:ext uri="{FF2B5EF4-FFF2-40B4-BE49-F238E27FC236}">
                <a16:creationId xmlns:a16="http://schemas.microsoft.com/office/drawing/2014/main" id="{969AB034-111D-D759-8003-4B36F86D2FE3}"/>
              </a:ext>
            </a:extLst>
          </p:cNvPr>
          <p:cNvPicPr>
            <a:picLocks noChangeAspect="1"/>
          </p:cNvPicPr>
          <p:nvPr/>
        </p:nvPicPr>
        <p:blipFill>
          <a:blip r:embed="rId3"/>
          <a:stretch>
            <a:fillRect/>
          </a:stretch>
        </p:blipFill>
        <p:spPr>
          <a:xfrm>
            <a:off x="8071414" y="1510104"/>
            <a:ext cx="4120586" cy="3837792"/>
          </a:xfrm>
          <a:prstGeom prst="rect">
            <a:avLst/>
          </a:prstGeom>
        </p:spPr>
      </p:pic>
    </p:spTree>
    <p:extLst>
      <p:ext uri="{BB962C8B-B14F-4D97-AF65-F5344CB8AC3E}">
        <p14:creationId xmlns:p14="http://schemas.microsoft.com/office/powerpoint/2010/main" val="4147284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43D0A7-B373-AE2C-687B-785AF1423E43}"/>
              </a:ext>
            </a:extLst>
          </p:cNvPr>
          <p:cNvSpPr>
            <a:spLocks noGrp="1"/>
          </p:cNvSpPr>
          <p:nvPr>
            <p:ph type="title"/>
          </p:nvPr>
        </p:nvSpPr>
        <p:spPr>
          <a:xfrm>
            <a:off x="685800" y="753248"/>
            <a:ext cx="10820400" cy="1110342"/>
          </a:xfrm>
        </p:spPr>
        <p:txBody>
          <a:bodyPr>
            <a:normAutofit fontScale="90000"/>
          </a:bodyPr>
          <a:lstStyle/>
          <a:p>
            <a:pPr algn="ctr">
              <a:lnSpc>
                <a:spcPct val="115000"/>
              </a:lnSpc>
              <a:spcAft>
                <a:spcPts val="800"/>
              </a:spcAft>
            </a:pPr>
            <a:r>
              <a:rPr lang="fr-FR" sz="4000" b="1" kern="100" noProof="0" dirty="0">
                <a:solidFill>
                  <a:srgbClr val="0070C0"/>
                </a:solidFill>
                <a:effectLst/>
                <a:latin typeface="Times New Roman" panose="02020603050405020304" pitchFamily="18" charset="0"/>
                <a:ea typeface="Aptos" panose="020B0004020202020204" pitchFamily="34" charset="0"/>
                <a:cs typeface="Arial" panose="020B0604020202020204" pitchFamily="34" charset="0"/>
              </a:rPr>
              <a:t> </a:t>
            </a:r>
            <a:r>
              <a:rPr lang="fr-FR" sz="4000" b="1" kern="100" noProof="0" dirty="0">
                <a:solidFill>
                  <a:srgbClr val="FFC000"/>
                </a:solidFill>
                <a:effectLst/>
                <a:latin typeface="Times New Roman" panose="02020603050405020304" pitchFamily="18" charset="0"/>
                <a:ea typeface="Aptos" panose="020B0004020202020204" pitchFamily="34" charset="0"/>
                <a:cs typeface="Arial" panose="020B0604020202020204" pitchFamily="34" charset="0"/>
              </a:rPr>
              <a:t>c. Les Lignes de Champ Électrique</a:t>
            </a:r>
            <a:br>
              <a:rPr lang="fr-FR" sz="4000" b="1" kern="100" noProof="0" dirty="0">
                <a:solidFill>
                  <a:srgbClr val="FFC000"/>
                </a:solidFill>
                <a:effectLst/>
                <a:latin typeface="Times New Roman" panose="02020603050405020304" pitchFamily="18" charset="0"/>
                <a:ea typeface="Aptos" panose="020B0004020202020204" pitchFamily="34" charset="0"/>
                <a:cs typeface="Arial" panose="020B0604020202020204" pitchFamily="34" charset="0"/>
              </a:rPr>
            </a:br>
            <a:r>
              <a:rPr kumimoji="0" lang="fr-FR" sz="40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a:t>
            </a:r>
            <a:r>
              <a:rPr lang="fr-FR" b="0" i="0" noProof="0" dirty="0">
                <a:solidFill>
                  <a:schemeClr val="accent1"/>
                </a:solidFill>
                <a:effectLst/>
                <a:latin typeface="Times New Roman" panose="02020603050405020304" pitchFamily="18" charset="0"/>
                <a:cs typeface="Times New Roman" panose="02020603050405020304" pitchFamily="18" charset="0"/>
              </a:rPr>
              <a:t>Electric </a:t>
            </a:r>
            <a:r>
              <a:rPr lang="fr-FR" b="0" i="0" noProof="0" dirty="0" err="1">
                <a:solidFill>
                  <a:schemeClr val="accent1"/>
                </a:solidFill>
                <a:effectLst/>
                <a:latin typeface="Times New Roman" panose="02020603050405020304" pitchFamily="18" charset="0"/>
                <a:cs typeface="Times New Roman" panose="02020603050405020304" pitchFamily="18" charset="0"/>
              </a:rPr>
              <a:t>field</a:t>
            </a:r>
            <a:r>
              <a:rPr lang="fr-FR" b="0" i="0" noProof="0" dirty="0">
                <a:solidFill>
                  <a:schemeClr val="accent1"/>
                </a:solidFill>
                <a:effectLst/>
                <a:latin typeface="Times New Roman" panose="02020603050405020304" pitchFamily="18" charset="0"/>
                <a:cs typeface="Times New Roman" panose="02020603050405020304" pitchFamily="18" charset="0"/>
              </a:rPr>
              <a:t> line</a:t>
            </a:r>
            <a:endParaRPr lang="fr-FR" noProof="0" dirty="0">
              <a:solidFill>
                <a:schemeClr val="accent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1AAB1F2E-BFBF-A50C-2D89-A495BCEC8F77}"/>
                  </a:ext>
                </a:extLst>
              </p:cNvPr>
              <p:cNvSpPr>
                <a:spLocks noGrp="1"/>
              </p:cNvSpPr>
              <p:nvPr>
                <p:ph type="body" idx="1"/>
              </p:nvPr>
            </p:nvSpPr>
            <p:spPr>
              <a:xfrm>
                <a:off x="272143" y="2188029"/>
                <a:ext cx="5529943" cy="3516086"/>
              </a:xfrm>
            </p:spPr>
            <p:txBody>
              <a:bodyPr/>
              <a:lstStyle/>
              <a:p>
                <a:pPr algn="l"/>
                <a:r>
                  <a:rPr kumimoji="0" lang="fr-FR" sz="3600" b="0" i="0" u="none" strike="noStrike" kern="100" cap="none" spc="0" normalizeH="0" baseline="0" noProof="0" dirty="0">
                    <a:ln>
                      <a:noFill/>
                    </a:ln>
                    <a:solidFill>
                      <a:srgbClr val="FFFFFF"/>
                    </a:solidFill>
                    <a:effectLst/>
                    <a:uLnTx/>
                    <a:uFillTx/>
                    <a:latin typeface="Times New Roman" panose="02020603050405020304" pitchFamily="18" charset="0"/>
                    <a:ea typeface="Aptos" panose="020B0004020202020204" pitchFamily="34" charset="0"/>
                    <a:cs typeface="Arial" panose="020B0604020202020204" pitchFamily="34" charset="0"/>
                    <a:sym typeface="Century Gothic"/>
                  </a:rPr>
                  <a:t>une courbe qui, en chacun</a:t>
                </a:r>
              </a:p>
              <a:p>
                <a:pPr algn="l"/>
                <a:r>
                  <a:rPr kumimoji="0" lang="fr-FR" sz="3600" b="0" i="0" u="none" strike="noStrike" kern="100" cap="none" spc="0" normalizeH="0" baseline="0" noProof="0" dirty="0">
                    <a:ln>
                      <a:noFill/>
                    </a:ln>
                    <a:solidFill>
                      <a:srgbClr val="FFFFFF"/>
                    </a:solidFill>
                    <a:effectLst/>
                    <a:uLnTx/>
                    <a:uFillTx/>
                    <a:latin typeface="Times New Roman" panose="02020603050405020304" pitchFamily="18" charset="0"/>
                    <a:ea typeface="Aptos" panose="020B0004020202020204" pitchFamily="34" charset="0"/>
                    <a:cs typeface="Arial" panose="020B0604020202020204" pitchFamily="34" charset="0"/>
                    <a:sym typeface="Century Gothic"/>
                  </a:rPr>
                  <a:t>de ses points est </a:t>
                </a:r>
                <a:r>
                  <a:rPr kumimoji="0" lang="fr-FR" sz="3600" b="0" i="0" u="none" strike="noStrike" kern="100" cap="none" spc="0" normalizeH="0" baseline="0" noProof="0" dirty="0">
                    <a:ln>
                      <a:noFill/>
                    </a:ln>
                    <a:solidFill>
                      <a:srgbClr val="FFC000"/>
                    </a:solidFill>
                    <a:effectLst/>
                    <a:uLnTx/>
                    <a:uFillTx/>
                    <a:latin typeface="Times New Roman" panose="02020603050405020304" pitchFamily="18" charset="0"/>
                    <a:ea typeface="Aptos" panose="020B0004020202020204" pitchFamily="34" charset="0"/>
                    <a:cs typeface="Arial" panose="020B0604020202020204" pitchFamily="34" charset="0"/>
                    <a:sym typeface="Century Gothic"/>
                  </a:rPr>
                  <a:t>tangente</a:t>
                </a:r>
              </a:p>
              <a:p>
                <a:pPr algn="l"/>
                <a:r>
                  <a:rPr kumimoji="0" lang="fr-FR" sz="3600" b="0" i="0" u="none" strike="noStrike" kern="100" cap="none" spc="0" normalizeH="0" baseline="0" noProof="0" dirty="0">
                    <a:ln>
                      <a:noFill/>
                    </a:ln>
                    <a:solidFill>
                      <a:srgbClr val="FFFFFF"/>
                    </a:solidFill>
                    <a:effectLst/>
                    <a:uLnTx/>
                    <a:uFillTx/>
                    <a:latin typeface="Times New Roman" panose="02020603050405020304" pitchFamily="18" charset="0"/>
                    <a:ea typeface="Aptos" panose="020B0004020202020204" pitchFamily="34" charset="0"/>
                    <a:cs typeface="Arial" panose="020B0604020202020204" pitchFamily="34" charset="0"/>
                    <a:sym typeface="Century Gothic"/>
                  </a:rPr>
                  <a:t>au vecteur </a:t>
                </a:r>
                <a:r>
                  <a:rPr kumimoji="0" lang="fr-FR" sz="3600" b="0" i="0" u="none" strike="noStrike" kern="100" cap="none" spc="0" normalizeH="0" baseline="0" noProof="0" dirty="0">
                    <a:ln>
                      <a:noFill/>
                    </a:ln>
                    <a:solidFill>
                      <a:srgbClr val="FFC000"/>
                    </a:solidFill>
                    <a:effectLst/>
                    <a:uLnTx/>
                    <a:uFillTx/>
                    <a:latin typeface="Times New Roman" panose="02020603050405020304" pitchFamily="18" charset="0"/>
                    <a:ea typeface="Aptos" panose="020B0004020202020204" pitchFamily="34" charset="0"/>
                    <a:cs typeface="Arial" panose="020B0604020202020204" pitchFamily="34" charset="0"/>
                    <a:sym typeface="Century Gothic"/>
                  </a:rPr>
                  <a:t>champ</a:t>
                </a:r>
              </a:p>
              <a:p>
                <a:pPr algn="l"/>
                <a:r>
                  <a:rPr kumimoji="0" lang="fr-FR" sz="3600" b="0" i="0" u="none" strike="noStrike" kern="100" cap="none" spc="0" normalizeH="0" baseline="0" noProof="0" dirty="0">
                    <a:ln>
                      <a:noFill/>
                    </a:ln>
                    <a:solidFill>
                      <a:srgbClr val="FFC000"/>
                    </a:solidFill>
                    <a:effectLst/>
                    <a:uLnTx/>
                    <a:uFillTx/>
                    <a:latin typeface="Times New Roman" panose="02020603050405020304" pitchFamily="18" charset="0"/>
                    <a:ea typeface="Aptos" panose="020B0004020202020204" pitchFamily="34" charset="0"/>
                    <a:cs typeface="Arial" panose="020B0604020202020204" pitchFamily="34" charset="0"/>
                    <a:sym typeface="Century Gothic"/>
                  </a:rPr>
                  <a:t>électrique </a:t>
                </a:r>
                <a14:m>
                  <m:oMath xmlns:m="http://schemas.openxmlformats.org/officeDocument/2006/math">
                    <m:acc>
                      <m:accPr>
                        <m:chr m:val="⃗"/>
                        <m:ctrlPr>
                          <a:rPr kumimoji="0" lang="fr-FR" sz="3600" b="0" i="1" u="none" strike="noStrike" kern="100" cap="none" spc="0" normalizeH="0" baseline="0" noProof="0" smtClean="0">
                            <a:ln>
                              <a:noFill/>
                            </a:ln>
                            <a:solidFill>
                              <a:srgbClr val="FFC000"/>
                            </a:solidFill>
                            <a:effectLst/>
                            <a:uLnTx/>
                            <a:uFillTx/>
                            <a:latin typeface="Cambria Math" panose="02040503050406030204" pitchFamily="18" charset="0"/>
                            <a:ea typeface="Aptos" panose="020B0004020202020204" pitchFamily="34" charset="0"/>
                            <a:cs typeface="Times New Roman" panose="02020603050405020304" pitchFamily="18" charset="0"/>
                            <a:sym typeface="Century Gothic"/>
                          </a:rPr>
                        </m:ctrlPr>
                      </m:accPr>
                      <m:e>
                        <m:r>
                          <a:rPr kumimoji="0" lang="fr-FR" sz="3600" b="0" i="1" u="none" strike="noStrike" kern="100" cap="none" spc="0" normalizeH="0" baseline="0" noProof="0" smtClean="0">
                            <a:ln>
                              <a:noFill/>
                            </a:ln>
                            <a:solidFill>
                              <a:srgbClr val="FFC000"/>
                            </a:solidFill>
                            <a:effectLst/>
                            <a:uLnTx/>
                            <a:uFillTx/>
                            <a:latin typeface="Cambria Math" panose="02040503050406030204" pitchFamily="18" charset="0"/>
                            <a:ea typeface="Aptos" panose="020B0004020202020204" pitchFamily="34" charset="0"/>
                            <a:cs typeface="Times New Roman" panose="02020603050405020304" pitchFamily="18" charset="0"/>
                            <a:sym typeface="Century Gothic"/>
                          </a:rPr>
                          <m:t>𝐸</m:t>
                        </m:r>
                      </m:e>
                    </m:acc>
                  </m:oMath>
                </a14:m>
                <a:endParaRPr lang="fr-FR" noProof="0" dirty="0"/>
              </a:p>
            </p:txBody>
          </p:sp>
        </mc:Choice>
        <mc:Fallback xmlns="">
          <p:sp>
            <p:nvSpPr>
              <p:cNvPr id="3" name="Espace réservé du texte 2">
                <a:extLst>
                  <a:ext uri="{FF2B5EF4-FFF2-40B4-BE49-F238E27FC236}">
                    <a16:creationId xmlns:a16="http://schemas.microsoft.com/office/drawing/2014/main" id="{1AAB1F2E-BFBF-A50C-2D89-A495BCEC8F77}"/>
                  </a:ext>
                </a:extLst>
              </p:cNvPr>
              <p:cNvSpPr>
                <a:spLocks noGrp="1" noRot="1" noChangeAspect="1" noMove="1" noResize="1" noEditPoints="1" noAdjustHandles="1" noChangeArrowheads="1" noChangeShapeType="1" noTextEdit="1"/>
              </p:cNvSpPr>
              <p:nvPr>
                <p:ph type="body" idx="1"/>
              </p:nvPr>
            </p:nvSpPr>
            <p:spPr>
              <a:xfrm>
                <a:off x="272143" y="2188029"/>
                <a:ext cx="5529943" cy="3516086"/>
              </a:xfrm>
              <a:blipFill>
                <a:blip r:embed="rId2"/>
                <a:stretch>
                  <a:fillRect t="-693"/>
                </a:stretch>
              </a:blipFill>
            </p:spPr>
            <p:txBody>
              <a:bodyPr/>
              <a:lstStyle/>
              <a:p>
                <a:r>
                  <a:rPr lang="fr-DZ">
                    <a:noFill/>
                  </a:rPr>
                  <a:t> </a:t>
                </a:r>
              </a:p>
            </p:txBody>
          </p:sp>
        </mc:Fallback>
      </mc:AlternateContent>
      <p:pic>
        <p:nvPicPr>
          <p:cNvPr id="4" name="Image 3">
            <a:extLst>
              <a:ext uri="{FF2B5EF4-FFF2-40B4-BE49-F238E27FC236}">
                <a16:creationId xmlns:a16="http://schemas.microsoft.com/office/drawing/2014/main" id="{F6600643-F23B-588B-EE62-043D9AB81B4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02278" y="3283223"/>
            <a:ext cx="4992375" cy="962206"/>
          </a:xfrm>
          <a:prstGeom prst="rect">
            <a:avLst/>
          </a:prstGeom>
          <a:noFill/>
        </p:spPr>
      </p:pic>
      <p:pic>
        <p:nvPicPr>
          <p:cNvPr id="6" name="Image 5">
            <a:extLst>
              <a:ext uri="{FF2B5EF4-FFF2-40B4-BE49-F238E27FC236}">
                <a16:creationId xmlns:a16="http://schemas.microsoft.com/office/drawing/2014/main" id="{FAF4D010-DAE1-DD0A-92F4-98735ED39729}"/>
              </a:ext>
            </a:extLst>
          </p:cNvPr>
          <p:cNvPicPr>
            <a:picLocks noChangeAspect="1"/>
          </p:cNvPicPr>
          <p:nvPr/>
        </p:nvPicPr>
        <p:blipFill>
          <a:blip r:embed="rId4"/>
          <a:stretch>
            <a:fillRect/>
          </a:stretch>
        </p:blipFill>
        <p:spPr>
          <a:xfrm>
            <a:off x="6389916" y="2770959"/>
            <a:ext cx="4494749" cy="1986733"/>
          </a:xfrm>
          <a:prstGeom prst="rect">
            <a:avLst/>
          </a:prstGeom>
        </p:spPr>
      </p:pic>
    </p:spTree>
    <p:extLst>
      <p:ext uri="{BB962C8B-B14F-4D97-AF65-F5344CB8AC3E}">
        <p14:creationId xmlns:p14="http://schemas.microsoft.com/office/powerpoint/2010/main" val="2096780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EFEA7D-F0D6-5E9E-0022-BC643CC3E67B}"/>
              </a:ext>
            </a:extLst>
          </p:cNvPr>
          <p:cNvSpPr>
            <a:spLocks noGrp="1"/>
          </p:cNvSpPr>
          <p:nvPr>
            <p:ph type="title"/>
          </p:nvPr>
        </p:nvSpPr>
        <p:spPr>
          <a:xfrm>
            <a:off x="685800" y="753533"/>
            <a:ext cx="10820400" cy="1240520"/>
          </a:xfrm>
        </p:spPr>
        <p:txBody>
          <a:bodyPr>
            <a:normAutofit/>
          </a:bodyPr>
          <a:lstStyle/>
          <a:p>
            <a:pPr algn="ctr"/>
            <a:r>
              <a:rPr kumimoji="0" lang="fr-FR" sz="4000" b="1" i="0" u="none" strike="noStrike" kern="100" cap="none" spc="0" normalizeH="0" baseline="0" noProof="0" dirty="0">
                <a:ln>
                  <a:noFill/>
                </a:ln>
                <a:solidFill>
                  <a:srgbClr val="FFC000"/>
                </a:solidFill>
                <a:effectLst/>
                <a:uLnTx/>
                <a:uFillTx/>
                <a:latin typeface="Times New Roman" panose="02020603050405020304" pitchFamily="18" charset="0"/>
                <a:ea typeface="Aptos" panose="020B0004020202020204" pitchFamily="34" charset="0"/>
                <a:cs typeface="Arial" panose="020B0604020202020204" pitchFamily="34" charset="0"/>
                <a:sym typeface="Century Gothic"/>
              </a:rPr>
              <a:t>c. Les Lignes de Champ Électrique</a:t>
            </a:r>
            <a:br>
              <a:rPr kumimoji="0" lang="fr-FR" sz="4000" b="1" i="0" u="none" strike="noStrike" kern="100" cap="none" spc="0" normalizeH="0" baseline="0" noProof="0" dirty="0">
                <a:ln>
                  <a:noFill/>
                </a:ln>
                <a:solidFill>
                  <a:srgbClr val="FFC000"/>
                </a:solidFill>
                <a:effectLst/>
                <a:uLnTx/>
                <a:uFillTx/>
                <a:latin typeface="Times New Roman" panose="02020603050405020304" pitchFamily="18" charset="0"/>
                <a:ea typeface="Aptos" panose="020B0004020202020204" pitchFamily="34" charset="0"/>
                <a:cs typeface="Arial" panose="020B0604020202020204" pitchFamily="34" charset="0"/>
                <a:sym typeface="Century Gothic"/>
              </a:rPr>
            </a:br>
            <a:r>
              <a:rPr kumimoji="0" lang="fr-FR" sz="40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a:t>
            </a:r>
            <a:r>
              <a:rPr kumimoji="0" lang="fr-FR" sz="4000" b="1" i="0" u="none" strike="noStrike" kern="0" cap="none" spc="0" normalizeH="0" baseline="0" noProof="0" dirty="0">
                <a:ln>
                  <a:noFill/>
                </a:ln>
                <a:solidFill>
                  <a:srgbClr val="01D17D"/>
                </a:solidFill>
                <a:effectLst/>
                <a:uLnTx/>
                <a:uFillTx/>
                <a:latin typeface="Times New Roman" panose="02020603050405020304" pitchFamily="18" charset="0"/>
                <a:cs typeface="Times New Roman" panose="02020603050405020304" pitchFamily="18" charset="0"/>
                <a:sym typeface="Century Gothic"/>
              </a:rPr>
              <a:t>Electric </a:t>
            </a:r>
            <a:r>
              <a:rPr kumimoji="0" lang="fr-FR" sz="4000" b="1" i="0" u="none" strike="noStrike" kern="0" cap="none" spc="0" normalizeH="0" baseline="0" noProof="0" dirty="0" err="1">
                <a:ln>
                  <a:noFill/>
                </a:ln>
                <a:solidFill>
                  <a:srgbClr val="01D17D"/>
                </a:solidFill>
                <a:effectLst/>
                <a:uLnTx/>
                <a:uFillTx/>
                <a:latin typeface="Times New Roman" panose="02020603050405020304" pitchFamily="18" charset="0"/>
                <a:cs typeface="Times New Roman" panose="02020603050405020304" pitchFamily="18" charset="0"/>
                <a:sym typeface="Century Gothic"/>
              </a:rPr>
              <a:t>field</a:t>
            </a:r>
            <a:r>
              <a:rPr kumimoji="0" lang="fr-FR" sz="4000" b="1" i="0" u="none" strike="noStrike" kern="0" cap="none" spc="0" normalizeH="0" baseline="0" noProof="0" dirty="0">
                <a:ln>
                  <a:noFill/>
                </a:ln>
                <a:solidFill>
                  <a:srgbClr val="01D17D"/>
                </a:solidFill>
                <a:effectLst/>
                <a:uLnTx/>
                <a:uFillTx/>
                <a:latin typeface="Times New Roman" panose="02020603050405020304" pitchFamily="18" charset="0"/>
                <a:cs typeface="Times New Roman" panose="02020603050405020304" pitchFamily="18" charset="0"/>
                <a:sym typeface="Century Gothic"/>
              </a:rPr>
              <a:t> line</a:t>
            </a:r>
            <a:endParaRPr lang="fr-FR" b="1" noProof="0" dirty="0"/>
          </a:p>
        </p:txBody>
      </p:sp>
      <p:sp>
        <p:nvSpPr>
          <p:cNvPr id="3" name="Espace réservé du texte 2">
            <a:extLst>
              <a:ext uri="{FF2B5EF4-FFF2-40B4-BE49-F238E27FC236}">
                <a16:creationId xmlns:a16="http://schemas.microsoft.com/office/drawing/2014/main" id="{495D54D3-CA9E-99AD-C984-C94274CB2664}"/>
              </a:ext>
            </a:extLst>
          </p:cNvPr>
          <p:cNvSpPr>
            <a:spLocks noGrp="1"/>
          </p:cNvSpPr>
          <p:nvPr>
            <p:ph type="body" idx="1"/>
          </p:nvPr>
        </p:nvSpPr>
        <p:spPr>
          <a:xfrm>
            <a:off x="587829" y="2275114"/>
            <a:ext cx="10927038" cy="4288972"/>
          </a:xfrm>
        </p:spPr>
        <p:txBody>
          <a:bodyPr>
            <a:normAutofit/>
          </a:bodyPr>
          <a:lstStyle/>
          <a:p>
            <a:pPr marL="342900" lvl="0" indent="-342900" algn="l">
              <a:lnSpc>
                <a:spcPct val="115000"/>
              </a:lnSpc>
              <a:buFont typeface="Wingdings" panose="05000000000000000000" pitchFamily="2" charset="2"/>
              <a:buChar char=""/>
            </a:pPr>
            <a:r>
              <a:rPr lang="fr-FR" sz="3200" b="1" kern="100" noProof="0" dirty="0">
                <a:solidFill>
                  <a:srgbClr val="00B0F0"/>
                </a:solidFill>
                <a:effectLst/>
                <a:latin typeface="Times New Roman" panose="02020603050405020304" pitchFamily="18" charset="0"/>
                <a:ea typeface="Aptos" panose="020B0004020202020204" pitchFamily="34" charset="0"/>
                <a:cs typeface="Arial" panose="020B0604020202020204" pitchFamily="34" charset="0"/>
              </a:rPr>
              <a:t>Sens :</a:t>
            </a:r>
            <a:r>
              <a:rPr lang="fr-FR" sz="3200" kern="100" noProof="0" dirty="0">
                <a:solidFill>
                  <a:srgbClr val="00B0F0"/>
                </a:solidFill>
                <a:effectLst/>
                <a:latin typeface="Times New Roman" panose="02020603050405020304" pitchFamily="18" charset="0"/>
                <a:ea typeface="Aptos" panose="020B0004020202020204" pitchFamily="34" charset="0"/>
                <a:cs typeface="Arial" panose="020B0604020202020204" pitchFamily="34" charset="0"/>
              </a:rPr>
              <a:t> </a:t>
            </a:r>
            <a:r>
              <a:rPr lang="fr-FR" sz="3200" kern="100" noProof="0" dirty="0">
                <a:effectLst/>
                <a:latin typeface="Times New Roman" panose="02020603050405020304" pitchFamily="18" charset="0"/>
                <a:ea typeface="Aptos" panose="020B0004020202020204" pitchFamily="34" charset="0"/>
                <a:cs typeface="Arial" panose="020B0604020202020204" pitchFamily="34" charset="0"/>
              </a:rPr>
              <a:t>Les lignes de champ partent toujours des </a:t>
            </a:r>
            <a:r>
              <a:rPr lang="fr-FR" sz="3200" b="1" kern="100" noProof="0" dirty="0">
                <a:solidFill>
                  <a:srgbClr val="FF0000"/>
                </a:solidFill>
                <a:effectLst/>
                <a:latin typeface="Times New Roman" panose="02020603050405020304" pitchFamily="18" charset="0"/>
                <a:ea typeface="Aptos" panose="020B0004020202020204" pitchFamily="34" charset="0"/>
                <a:cs typeface="Arial" panose="020B0604020202020204" pitchFamily="34" charset="0"/>
              </a:rPr>
              <a:t>charges positives</a:t>
            </a:r>
            <a:r>
              <a:rPr lang="fr-FR" sz="3200" kern="100" noProof="0" dirty="0">
                <a:solidFill>
                  <a:srgbClr val="FF0000"/>
                </a:solidFill>
                <a:effectLst/>
                <a:latin typeface="Times New Roman" panose="02020603050405020304" pitchFamily="18" charset="0"/>
                <a:ea typeface="Aptos" panose="020B0004020202020204" pitchFamily="34" charset="0"/>
                <a:cs typeface="Arial" panose="020B0604020202020204" pitchFamily="34" charset="0"/>
              </a:rPr>
              <a:t> </a:t>
            </a:r>
            <a:r>
              <a:rPr lang="fr-FR" sz="3200" kern="100" noProof="0" dirty="0">
                <a:effectLst/>
                <a:latin typeface="Times New Roman" panose="02020603050405020304" pitchFamily="18" charset="0"/>
                <a:ea typeface="Aptos" panose="020B0004020202020204" pitchFamily="34" charset="0"/>
                <a:cs typeface="Arial" panose="020B0604020202020204" pitchFamily="34" charset="0"/>
              </a:rPr>
              <a:t>et vont vers les </a:t>
            </a:r>
            <a:r>
              <a:rPr lang="fr-FR" sz="3200" b="1" kern="100" noProof="0" dirty="0">
                <a:solidFill>
                  <a:srgbClr val="92D050"/>
                </a:solidFill>
                <a:effectLst/>
                <a:latin typeface="Times New Roman" panose="02020603050405020304" pitchFamily="18" charset="0"/>
                <a:ea typeface="Aptos" panose="020B0004020202020204" pitchFamily="34" charset="0"/>
                <a:cs typeface="Arial" panose="020B0604020202020204" pitchFamily="34" charset="0"/>
              </a:rPr>
              <a:t>charges négatives</a:t>
            </a:r>
            <a:r>
              <a:rPr lang="fr-FR" sz="3200" kern="100" noProof="0" dirty="0">
                <a:effectLst/>
                <a:latin typeface="Times New Roman" panose="02020603050405020304" pitchFamily="18" charset="0"/>
                <a:ea typeface="Aptos" panose="020B0004020202020204" pitchFamily="34" charset="0"/>
                <a:cs typeface="Arial" panose="020B0604020202020204" pitchFamily="34" charset="0"/>
              </a:rPr>
              <a:t>.</a:t>
            </a: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a:lnSpc>
                <a:spcPct val="115000"/>
              </a:lnSpc>
              <a:spcAft>
                <a:spcPts val="800"/>
              </a:spcAft>
              <a:buFont typeface="Wingdings" panose="05000000000000000000" pitchFamily="2" charset="2"/>
              <a:buChar char=""/>
            </a:pPr>
            <a:r>
              <a:rPr lang="fr-FR" sz="3200" b="1" kern="100" noProof="0" dirty="0">
                <a:solidFill>
                  <a:srgbClr val="00B0F0"/>
                </a:solidFill>
                <a:effectLst/>
                <a:latin typeface="Times New Roman" panose="02020603050405020304" pitchFamily="18" charset="0"/>
                <a:ea typeface="Aptos" panose="020B0004020202020204" pitchFamily="34" charset="0"/>
                <a:cs typeface="Arial" panose="020B0604020202020204" pitchFamily="34" charset="0"/>
              </a:rPr>
              <a:t>Intensité </a:t>
            </a:r>
            <a:r>
              <a:rPr lang="fr-FR" sz="3200" b="1" kern="100" noProof="0" dirty="0">
                <a:effectLst/>
                <a:latin typeface="Times New Roman" panose="02020603050405020304" pitchFamily="18" charset="0"/>
                <a:ea typeface="Aptos" panose="020B0004020202020204" pitchFamily="34" charset="0"/>
                <a:cs typeface="Arial" panose="020B0604020202020204" pitchFamily="34" charset="0"/>
              </a:rPr>
              <a:t>:</a:t>
            </a:r>
            <a:r>
              <a:rPr lang="fr-FR" sz="3200" kern="100" noProof="0" dirty="0">
                <a:effectLst/>
                <a:latin typeface="Times New Roman" panose="02020603050405020304" pitchFamily="18" charset="0"/>
                <a:ea typeface="Aptos" panose="020B0004020202020204" pitchFamily="34" charset="0"/>
                <a:cs typeface="Arial" panose="020B0604020202020204" pitchFamily="34" charset="0"/>
              </a:rPr>
              <a:t> Plus les lignes sont </a:t>
            </a:r>
            <a:r>
              <a:rPr lang="fr-FR" sz="3200" b="1" kern="100" noProof="0" dirty="0">
                <a:effectLst/>
                <a:latin typeface="Times New Roman" panose="02020603050405020304" pitchFamily="18" charset="0"/>
                <a:ea typeface="Aptos" panose="020B0004020202020204" pitchFamily="34" charset="0"/>
                <a:cs typeface="Arial" panose="020B0604020202020204" pitchFamily="34" charset="0"/>
              </a:rPr>
              <a:t>serrées</a:t>
            </a:r>
            <a:r>
              <a:rPr lang="fr-FR" sz="3200" kern="100" noProof="0" dirty="0">
                <a:effectLst/>
                <a:latin typeface="Times New Roman" panose="02020603050405020304" pitchFamily="18" charset="0"/>
                <a:ea typeface="Aptos" panose="020B0004020202020204" pitchFamily="34" charset="0"/>
                <a:cs typeface="Arial" panose="020B0604020202020204" pitchFamily="34" charset="0"/>
              </a:rPr>
              <a:t> (denses), plus le champ est intense. Là où les lignes sont espacées, le champ est faible.</a:t>
            </a:r>
          </a:p>
          <a:p>
            <a:pPr marL="342900" lvl="0" indent="-342900" algn="l">
              <a:lnSpc>
                <a:spcPct val="115000"/>
              </a:lnSpc>
              <a:spcAft>
                <a:spcPts val="800"/>
              </a:spcAft>
              <a:buFont typeface="Wingdings" panose="05000000000000000000" pitchFamily="2" charset="2"/>
              <a:buChar char=""/>
            </a:pPr>
            <a:r>
              <a:rPr lang="fr-FR" sz="3200" kern="100" noProof="0" dirty="0">
                <a:solidFill>
                  <a:srgbClr val="00B0F0"/>
                </a:solidFill>
                <a:effectLst/>
                <a:latin typeface="Times New Roman" panose="02020603050405020304" pitchFamily="18" charset="0"/>
                <a:ea typeface="Aptos" panose="020B0004020202020204" pitchFamily="34" charset="0"/>
                <a:cs typeface="Arial" panose="020B0604020202020204" pitchFamily="34" charset="0"/>
              </a:rPr>
              <a:t>Intersection </a:t>
            </a:r>
            <a:r>
              <a:rPr lang="fr-FR" sz="3200" kern="100" noProof="0" dirty="0">
                <a:effectLst/>
                <a:latin typeface="Times New Roman" panose="02020603050405020304" pitchFamily="18" charset="0"/>
                <a:ea typeface="Aptos" panose="020B0004020202020204" pitchFamily="34" charset="0"/>
                <a:cs typeface="Arial" panose="020B0604020202020204" pitchFamily="34" charset="0"/>
              </a:rPr>
              <a:t>:Les lignes de champ ne se croisent jamais, car le champ électrique en un point a une </a:t>
            </a:r>
            <a:r>
              <a:rPr lang="fr-FR" sz="3200" b="1" u="sng" kern="100" noProof="0" dirty="0">
                <a:solidFill>
                  <a:schemeClr val="bg1"/>
                </a:solidFill>
                <a:effectLst/>
                <a:latin typeface="Times New Roman" panose="02020603050405020304" pitchFamily="18" charset="0"/>
                <a:ea typeface="Aptos" panose="020B0004020202020204" pitchFamily="34" charset="0"/>
                <a:cs typeface="Arial" panose="020B0604020202020204" pitchFamily="34" charset="0"/>
              </a:rPr>
              <a:t>direction unique</a:t>
            </a:r>
            <a:r>
              <a:rPr lang="fr-FR" sz="3200" kern="100" noProof="0" dirty="0">
                <a:effectLst/>
                <a:latin typeface="Times New Roman" panose="02020603050405020304" pitchFamily="18" charset="0"/>
                <a:ea typeface="Aptos" panose="020B0004020202020204" pitchFamily="34" charset="0"/>
                <a:cs typeface="Arial" panose="020B0604020202020204" pitchFamily="34" charset="0"/>
              </a:rPr>
              <a:t>.</a:t>
            </a:r>
          </a:p>
          <a:p>
            <a:endParaRPr lang="fr-FR" noProof="0" dirty="0"/>
          </a:p>
        </p:txBody>
      </p:sp>
    </p:spTree>
    <p:extLst>
      <p:ext uri="{BB962C8B-B14F-4D97-AF65-F5344CB8AC3E}">
        <p14:creationId xmlns:p14="http://schemas.microsoft.com/office/powerpoint/2010/main" val="12093273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B69B206D-F5A2-F5B3-6DA0-6A05EA2A44B5}"/>
              </a:ext>
            </a:extLst>
          </p:cNvPr>
          <p:cNvPicPr>
            <a:picLocks noChangeAspect="1"/>
          </p:cNvPicPr>
          <p:nvPr/>
        </p:nvPicPr>
        <p:blipFill>
          <a:blip r:embed="rId2"/>
          <a:stretch>
            <a:fillRect/>
          </a:stretch>
        </p:blipFill>
        <p:spPr>
          <a:xfrm>
            <a:off x="0" y="152401"/>
            <a:ext cx="12192000" cy="6019800"/>
          </a:xfrm>
          <a:prstGeom prst="rect">
            <a:avLst/>
          </a:prstGeom>
        </p:spPr>
      </p:pic>
    </p:spTree>
    <p:extLst>
      <p:ext uri="{BB962C8B-B14F-4D97-AF65-F5344CB8AC3E}">
        <p14:creationId xmlns:p14="http://schemas.microsoft.com/office/powerpoint/2010/main" val="1058745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F4CDE1-4B33-8F48-B863-DED51DFEB18D}"/>
              </a:ext>
            </a:extLst>
          </p:cNvPr>
          <p:cNvSpPr>
            <a:spLocks noGrp="1"/>
          </p:cNvSpPr>
          <p:nvPr>
            <p:ph type="title"/>
          </p:nvPr>
        </p:nvSpPr>
        <p:spPr>
          <a:xfrm>
            <a:off x="685800" y="753533"/>
            <a:ext cx="10820400" cy="1350689"/>
          </a:xfrm>
        </p:spPr>
        <p:txBody>
          <a:bodyPr/>
          <a:lstStyle/>
          <a:p>
            <a:pPr algn="ctr"/>
            <a:r>
              <a:rPr lang="fr-FR" b="1"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t>d. Champ uniforme. </a:t>
            </a:r>
            <a:br>
              <a:rPr lang="fr-FR" b="1"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br>
            <a:r>
              <a:rPr kumimoji="0" lang="fr-FR" sz="36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fr-FR" b="1" kern="100" noProof="0" dirty="0">
                <a:solidFill>
                  <a:schemeClr val="accent1"/>
                </a:solidFill>
                <a:latin typeface="Times New Roman" panose="02020603050405020304" pitchFamily="18" charset="0"/>
                <a:ea typeface="Aptos" panose="020B0004020202020204" pitchFamily="34" charset="0"/>
                <a:cs typeface="Arial" panose="020B0604020202020204" pitchFamily="34" charset="0"/>
              </a:rPr>
              <a:t>Uniform </a:t>
            </a:r>
            <a:r>
              <a:rPr lang="fr-FR" b="1" kern="100" noProof="0" dirty="0" err="1">
                <a:solidFill>
                  <a:schemeClr val="accent1"/>
                </a:solidFill>
                <a:latin typeface="Times New Roman" panose="02020603050405020304" pitchFamily="18" charset="0"/>
                <a:ea typeface="Aptos" panose="020B0004020202020204" pitchFamily="34" charset="0"/>
                <a:cs typeface="Arial" panose="020B0604020202020204" pitchFamily="34" charset="0"/>
              </a:rPr>
              <a:t>field</a:t>
            </a:r>
            <a:endParaRPr lang="fr-FR" noProof="0" dirty="0">
              <a:solidFill>
                <a:schemeClr val="accent1"/>
              </a:solidFill>
            </a:endParaRPr>
          </a:p>
        </p:txBody>
      </p:sp>
      <p:sp>
        <p:nvSpPr>
          <p:cNvPr id="3" name="Espace réservé du texte 2">
            <a:extLst>
              <a:ext uri="{FF2B5EF4-FFF2-40B4-BE49-F238E27FC236}">
                <a16:creationId xmlns:a16="http://schemas.microsoft.com/office/drawing/2014/main" id="{4B486D69-F9E1-CFCC-0A96-D310430A6059}"/>
              </a:ext>
            </a:extLst>
          </p:cNvPr>
          <p:cNvSpPr>
            <a:spLocks noGrp="1"/>
          </p:cNvSpPr>
          <p:nvPr>
            <p:ph type="body" idx="1"/>
          </p:nvPr>
        </p:nvSpPr>
        <p:spPr>
          <a:xfrm>
            <a:off x="473725" y="2467778"/>
            <a:ext cx="11041142" cy="3811836"/>
          </a:xfrm>
        </p:spPr>
        <p:txBody>
          <a:bodyPr>
            <a:normAutofit/>
          </a:bodyPr>
          <a:lstStyle/>
          <a:p>
            <a:pPr algn="l">
              <a:lnSpc>
                <a:spcPct val="115000"/>
              </a:lnSpc>
              <a:spcAft>
                <a:spcPts val="800"/>
              </a:spcAft>
              <a:buNone/>
            </a:pPr>
            <a:r>
              <a:rPr lang="fr-FR" sz="2400" b="1" kern="100" noProof="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	</a:t>
            </a:r>
            <a:r>
              <a:rPr lang="fr-FR" sz="3200" b="1" kern="100" noProof="0" dirty="0">
                <a:solidFill>
                  <a:srgbClr val="215E99"/>
                </a:solidFill>
                <a:effectLst/>
                <a:latin typeface="Times New Roman" panose="02020603050405020304" pitchFamily="18" charset="0"/>
                <a:ea typeface="Aptos" panose="020B0004020202020204" pitchFamily="34" charset="0"/>
                <a:cs typeface="Arial" panose="020B0604020202020204" pitchFamily="34" charset="0"/>
              </a:rPr>
              <a:t> </a:t>
            </a:r>
            <a:r>
              <a:rPr lang="fr-FR" sz="3200" kern="100" noProof="0" dirty="0">
                <a:effectLst/>
                <a:latin typeface="Times New Roman" panose="02020603050405020304" pitchFamily="18" charset="0"/>
                <a:ea typeface="Aptos" panose="020B0004020202020204" pitchFamily="34" charset="0"/>
                <a:cs typeface="Arial" panose="020B0604020202020204" pitchFamily="34" charset="0"/>
              </a:rPr>
              <a:t>  	Un champ électrique est uniforme dans une région de l’espace, si le vecteur champ est le même en tous les points de cette région, (même direction, même sens, même module). Lorsque le champ est uniforme       les lignes de champ sont rectilignes et parallèles.</a:t>
            </a: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p:sp>
        <p:nvSpPr>
          <p:cNvPr id="4" name="Flèche : double flèche horizontale 3">
            <a:extLst>
              <a:ext uri="{FF2B5EF4-FFF2-40B4-BE49-F238E27FC236}">
                <a16:creationId xmlns:a16="http://schemas.microsoft.com/office/drawing/2014/main" id="{4621805F-F1BF-F7A9-9990-1A62E78D14DD}"/>
              </a:ext>
            </a:extLst>
          </p:cNvPr>
          <p:cNvSpPr/>
          <p:nvPr/>
        </p:nvSpPr>
        <p:spPr>
          <a:xfrm>
            <a:off x="6290632" y="4494881"/>
            <a:ext cx="583894" cy="264405"/>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Tree>
    <p:extLst>
      <p:ext uri="{BB962C8B-B14F-4D97-AF65-F5344CB8AC3E}">
        <p14:creationId xmlns:p14="http://schemas.microsoft.com/office/powerpoint/2010/main" val="8435029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584243-A90A-4C08-42B2-13873A6E6D51}"/>
              </a:ext>
            </a:extLst>
          </p:cNvPr>
          <p:cNvSpPr>
            <a:spLocks noGrp="1"/>
          </p:cNvSpPr>
          <p:nvPr>
            <p:ph type="title"/>
          </p:nvPr>
        </p:nvSpPr>
        <p:spPr>
          <a:xfrm>
            <a:off x="782662" y="10811"/>
            <a:ext cx="10820400" cy="1295476"/>
          </a:xfrm>
        </p:spPr>
        <p:txBody>
          <a:bodyPr>
            <a:normAutofit/>
          </a:bodyPr>
          <a:lstStyle/>
          <a:p>
            <a:pPr algn="ctr"/>
            <a:r>
              <a:rPr lang="fr-FR" sz="4400" b="1"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t>e. Superposition des champs électriques</a:t>
            </a:r>
            <a:br>
              <a:rPr lang="fr-FR" sz="4400" b="1"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br>
            <a:r>
              <a:rPr kumimoji="0" lang="fr-FR" sz="36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fr-FR" b="1" noProof="0" dirty="0">
                <a:solidFill>
                  <a:srgbClr val="00B050"/>
                </a:solidFill>
                <a:latin typeface="Times New Roman" panose="02020603050405020304" pitchFamily="18" charset="0"/>
                <a:cs typeface="Times New Roman" panose="02020603050405020304" pitchFamily="18" charset="0"/>
              </a:rPr>
              <a:t>Superposition of Electric Fields</a:t>
            </a:r>
            <a:endParaRPr lang="fr-FR" noProof="0" dirty="0"/>
          </a:p>
        </p:txBody>
      </p:sp>
      <p:sp>
        <p:nvSpPr>
          <p:cNvPr id="3" name="Espace réservé du texte 2">
            <a:extLst>
              <a:ext uri="{FF2B5EF4-FFF2-40B4-BE49-F238E27FC236}">
                <a16:creationId xmlns:a16="http://schemas.microsoft.com/office/drawing/2014/main" id="{96DA13D3-8373-F1EA-3F75-4757061E6875}"/>
              </a:ext>
            </a:extLst>
          </p:cNvPr>
          <p:cNvSpPr>
            <a:spLocks noGrp="1"/>
          </p:cNvSpPr>
          <p:nvPr>
            <p:ph type="body" idx="1"/>
          </p:nvPr>
        </p:nvSpPr>
        <p:spPr>
          <a:xfrm>
            <a:off x="217714" y="1502230"/>
            <a:ext cx="11832771" cy="5355770"/>
          </a:xfrm>
        </p:spPr>
        <p:txBody>
          <a:bodyPr>
            <a:normAutofit fontScale="92500" lnSpcReduction="10000"/>
          </a:bodyPr>
          <a:lstStyle/>
          <a:p>
            <a:pPr algn="l">
              <a:lnSpc>
                <a:spcPct val="115000"/>
              </a:lnSpc>
              <a:spcAft>
                <a:spcPts val="800"/>
              </a:spcAft>
              <a:buNone/>
            </a:pPr>
            <a:r>
              <a:rPr lang="fr-FR" sz="2400" kern="100" noProof="0" dirty="0">
                <a:effectLst/>
                <a:latin typeface="Times New Roman" panose="02020603050405020304" pitchFamily="18" charset="0"/>
                <a:ea typeface="Aptos" panose="020B0004020202020204" pitchFamily="34" charset="0"/>
                <a:cs typeface="Arial" panose="020B0604020202020204" pitchFamily="34" charset="0"/>
              </a:rPr>
              <a:t>		</a:t>
            </a:r>
            <a:r>
              <a:rPr lang="fr-FR" sz="2800" kern="100" noProof="0" dirty="0">
                <a:effectLst/>
                <a:latin typeface="Times New Roman" panose="02020603050405020304" pitchFamily="18" charset="0"/>
                <a:ea typeface="Aptos" panose="020B0004020202020204" pitchFamily="34" charset="0"/>
                <a:cs typeface="Arial" panose="020B0604020202020204" pitchFamily="34" charset="0"/>
              </a:rPr>
              <a:t>Lorsque plusieurs charges électriques sont présentes, le champ électrique total en un point </a:t>
            </a:r>
            <a:r>
              <a:rPr lang="fr-FR" sz="2800" kern="100" noProof="0" dirty="0">
                <a:solidFill>
                  <a:srgbClr val="FFC000"/>
                </a:solidFill>
                <a:effectLst/>
                <a:latin typeface="Times New Roman" panose="02020603050405020304" pitchFamily="18" charset="0"/>
                <a:ea typeface="Aptos" panose="020B0004020202020204" pitchFamily="34" charset="0"/>
                <a:cs typeface="Arial" panose="020B0604020202020204" pitchFamily="34" charset="0"/>
              </a:rPr>
              <a:t>M</a:t>
            </a:r>
            <a:r>
              <a:rPr lang="fr-FR" sz="2800" kern="100" noProof="0" dirty="0">
                <a:effectLst/>
                <a:latin typeface="Times New Roman" panose="02020603050405020304" pitchFamily="18" charset="0"/>
                <a:ea typeface="Aptos" panose="020B0004020202020204" pitchFamily="34" charset="0"/>
                <a:cs typeface="Arial" panose="020B0604020202020204" pitchFamily="34" charset="0"/>
              </a:rPr>
              <a:t> est la somme vectorielle des champs individuels créés par chaque charge, comme si elle était seule</a:t>
            </a:r>
            <a:r>
              <a:rPr lang="fr-FR" sz="2400" kern="100" noProof="0" dirty="0">
                <a:effectLst/>
                <a:latin typeface="Times New Roman" panose="02020603050405020304" pitchFamily="18" charset="0"/>
                <a:ea typeface="Aptos" panose="020B0004020202020204" pitchFamily="34" charset="0"/>
                <a:cs typeface="Arial" panose="020B0604020202020204" pitchFamily="34" charset="0"/>
              </a:rPr>
              <a:t>.   </a:t>
            </a:r>
          </a:p>
          <a:p>
            <a:pPr algn="l">
              <a:lnSpc>
                <a:spcPct val="115000"/>
              </a:lnSpc>
              <a:spcAft>
                <a:spcPts val="800"/>
              </a:spcAft>
              <a:buNone/>
            </a:pPr>
            <a:endParaRPr kumimoji="0" lang="fr-FR" sz="4267"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endParaRPr>
          </a:p>
          <a:p>
            <a:pPr algn="l">
              <a:lnSpc>
                <a:spcPct val="115000"/>
              </a:lnSpc>
              <a:spcAft>
                <a:spcPts val="800"/>
              </a:spcAft>
              <a:buNone/>
            </a:pPr>
            <a:endParaRPr kumimoji="0" lang="fr-FR" sz="4267"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endParaRPr>
          </a:p>
          <a:p>
            <a:pPr algn="l">
              <a:lnSpc>
                <a:spcPct val="115000"/>
              </a:lnSpc>
              <a:spcAft>
                <a:spcPts val="800"/>
              </a:spcAft>
              <a:buNone/>
            </a:pPr>
            <a:endParaRPr kumimoji="0" lang="fr-FR" sz="4267"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endParaRPr>
          </a:p>
          <a:p>
            <a:pPr algn="l">
              <a:lnSpc>
                <a:spcPct val="115000"/>
              </a:lnSpc>
              <a:spcAft>
                <a:spcPts val="800"/>
              </a:spcAft>
              <a:buNone/>
            </a:pPr>
            <a:r>
              <a:rPr kumimoji="0" lang="fr-FR" sz="47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fr-FR" sz="2800" kern="100" noProof="0" dirty="0">
                <a:effectLst/>
                <a:latin typeface="Times New Roman" panose="02020603050405020304" pitchFamily="18" charset="0"/>
                <a:ea typeface="Aptos" panose="020B0004020202020204" pitchFamily="34" charset="0"/>
                <a:cs typeface="Arial" panose="020B0604020202020204" pitchFamily="34" charset="0"/>
              </a:rPr>
              <a:t>Mathématiquement :</a:t>
            </a:r>
            <a:endParaRPr lang="fr-FR" sz="24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p:pic>
        <p:nvPicPr>
          <p:cNvPr id="4" name="Image 3">
            <a:extLst>
              <a:ext uri="{FF2B5EF4-FFF2-40B4-BE49-F238E27FC236}">
                <a16:creationId xmlns:a16="http://schemas.microsoft.com/office/drawing/2014/main" id="{65004288-BD5E-020D-B1DE-225DF61094E9}"/>
              </a:ext>
            </a:extLst>
          </p:cNvPr>
          <p:cNvPicPr>
            <a:picLocks noChangeAspect="1"/>
          </p:cNvPicPr>
          <p:nvPr/>
        </p:nvPicPr>
        <p:blipFill>
          <a:blip r:embed="rId2"/>
          <a:stretch>
            <a:fillRect/>
          </a:stretch>
        </p:blipFill>
        <p:spPr>
          <a:xfrm>
            <a:off x="6192862" y="2993648"/>
            <a:ext cx="4027714" cy="2558065"/>
          </a:xfrm>
          <a:prstGeom prst="rect">
            <a:avLst/>
          </a:prstGeom>
        </p:spPr>
      </p:pic>
      <p:pic>
        <p:nvPicPr>
          <p:cNvPr id="5" name="Image 4">
            <a:extLst>
              <a:ext uri="{FF2B5EF4-FFF2-40B4-BE49-F238E27FC236}">
                <a16:creationId xmlns:a16="http://schemas.microsoft.com/office/drawing/2014/main" id="{13496512-E0BC-65B8-1C81-324F88A5DE3C}"/>
              </a:ext>
            </a:extLst>
          </p:cNvPr>
          <p:cNvPicPr>
            <a:picLocks noChangeAspect="1"/>
          </p:cNvPicPr>
          <p:nvPr/>
        </p:nvPicPr>
        <p:blipFill>
          <a:blip r:embed="rId3"/>
          <a:stretch>
            <a:fillRect/>
          </a:stretch>
        </p:blipFill>
        <p:spPr>
          <a:xfrm>
            <a:off x="1654628" y="2993648"/>
            <a:ext cx="3785116" cy="2558064"/>
          </a:xfrm>
          <a:prstGeom prst="rect">
            <a:avLst/>
          </a:prstGeom>
          <a:solidFill>
            <a:schemeClr val="bg1"/>
          </a:solidFill>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07DD94E-1010-0D7D-DFAA-A34D3DC3159C}"/>
                  </a:ext>
                </a:extLst>
              </p:cNvPr>
              <p:cNvSpPr/>
              <p:nvPr/>
            </p:nvSpPr>
            <p:spPr>
              <a:xfrm>
                <a:off x="4452257" y="5747657"/>
                <a:ext cx="7739743" cy="79465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accPr>
                        <m:e>
                          <m:sSub>
                            <m:sSubPr>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𝑬</m:t>
                              </m:r>
                            </m:e>
                            <m:sub>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𝒕𝒐𝒕𝒂𝒍</m:t>
                              </m:r>
                            </m:sub>
                          </m:sSub>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m:t>
                          </m:r>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𝑴</m:t>
                          </m:r>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m:t>
                          </m:r>
                        </m:e>
                      </m:acc>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m:t>
                      </m:r>
                      <m:acc>
                        <m:accPr>
                          <m:chr m:val="⃗"/>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accPr>
                        <m:e>
                          <m:sSub>
                            <m:sSubPr>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𝑬</m:t>
                              </m:r>
                            </m:e>
                            <m:sub>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𝟏</m:t>
                              </m:r>
                            </m:sub>
                          </m:sSub>
                          <m:d>
                            <m:dPr>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dPr>
                            <m:e>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𝑴</m:t>
                              </m:r>
                            </m:e>
                          </m:d>
                        </m:e>
                      </m:acc>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m:t>
                      </m:r>
                      <m:acc>
                        <m:accPr>
                          <m:chr m:val="⃗"/>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accPr>
                        <m:e>
                          <m:sSub>
                            <m:sSubPr>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𝑬</m:t>
                              </m:r>
                            </m:e>
                            <m:sub>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𝟐</m:t>
                              </m:r>
                            </m:sub>
                          </m:sSub>
                          <m:d>
                            <m:dPr>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dPr>
                            <m:e>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𝑴</m:t>
                              </m:r>
                            </m:e>
                          </m:d>
                        </m:e>
                      </m:acc>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m:t>
                      </m:r>
                      <m:acc>
                        <m:accPr>
                          <m:chr m:val="⃗"/>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accPr>
                        <m:e>
                          <m:sSub>
                            <m:sSubPr>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𝑬</m:t>
                              </m:r>
                            </m:e>
                            <m:sub>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𝟑</m:t>
                              </m:r>
                            </m:sub>
                          </m:sSub>
                          <m:d>
                            <m:dPr>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dPr>
                            <m:e>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𝑴</m:t>
                              </m:r>
                            </m:e>
                          </m:d>
                        </m:e>
                      </m:acc>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m:t>
                      </m:r>
                      <m:acc>
                        <m:accPr>
                          <m:chr m:val="⃗"/>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accPr>
                        <m:e>
                          <m:sSub>
                            <m:sSubPr>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𝑬</m:t>
                              </m:r>
                            </m:e>
                            <m:sub>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𝒏</m:t>
                              </m:r>
                            </m:sub>
                          </m:sSub>
                          <m:d>
                            <m:dPr>
                              <m:ctrlP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dPr>
                            <m:e>
                              <m:r>
                                <a:rPr lang="fr-FR" sz="24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𝑴</m:t>
                              </m:r>
                            </m:e>
                          </m:d>
                        </m:e>
                      </m:acc>
                    </m:oMath>
                  </m:oMathPara>
                </a14:m>
                <a:endParaRPr lang="fr-FR" b="1" noProof="0" dirty="0">
                  <a:ln w="0"/>
                  <a:solidFill>
                    <a:schemeClr val="tx1"/>
                  </a:solidFill>
                  <a:effectLst>
                    <a:outerShdw blurRad="38100" dist="19050" dir="2700000" algn="tl" rotWithShape="0">
                      <a:schemeClr val="dk1">
                        <a:alpha val="40000"/>
                      </a:schemeClr>
                    </a:outerShdw>
                  </a:effectLst>
                </a:endParaRPr>
              </a:p>
            </p:txBody>
          </p:sp>
        </mc:Choice>
        <mc:Fallback xmlns="">
          <p:sp>
            <p:nvSpPr>
              <p:cNvPr id="6" name="Rectangle 5">
                <a:extLst>
                  <a:ext uri="{FF2B5EF4-FFF2-40B4-BE49-F238E27FC236}">
                    <a16:creationId xmlns:a16="http://schemas.microsoft.com/office/drawing/2014/main" id="{C07DD94E-1010-0D7D-DFAA-A34D3DC3159C}"/>
                  </a:ext>
                </a:extLst>
              </p:cNvPr>
              <p:cNvSpPr>
                <a:spLocks noRot="1" noChangeAspect="1" noMove="1" noResize="1" noEditPoints="1" noAdjustHandles="1" noChangeArrowheads="1" noChangeShapeType="1" noTextEdit="1"/>
              </p:cNvSpPr>
              <p:nvPr/>
            </p:nvSpPr>
            <p:spPr>
              <a:xfrm>
                <a:off x="4452257" y="5747657"/>
                <a:ext cx="7739743" cy="794657"/>
              </a:xfrm>
              <a:prstGeom prst="rect">
                <a:avLst/>
              </a:prstGeom>
              <a:blipFill>
                <a:blip r:embed="rId4"/>
                <a:stretch>
                  <a:fillRect/>
                </a:stretch>
              </a:blipFill>
            </p:spPr>
            <p:txBody>
              <a:bodyPr/>
              <a:lstStyle/>
              <a:p>
                <a:r>
                  <a:rPr lang="fr-DZ">
                    <a:noFill/>
                  </a:rPr>
                  <a:t> </a:t>
                </a:r>
              </a:p>
            </p:txBody>
          </p:sp>
        </mc:Fallback>
      </mc:AlternateContent>
    </p:spTree>
    <p:extLst>
      <p:ext uri="{BB962C8B-B14F-4D97-AF65-F5344CB8AC3E}">
        <p14:creationId xmlns:p14="http://schemas.microsoft.com/office/powerpoint/2010/main" val="1668355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E5AB7E1B-13C3-C690-E853-5F29ABE7DBD0}"/>
                  </a:ext>
                </a:extLst>
              </p:cNvPr>
              <p:cNvSpPr>
                <a:spLocks noGrp="1"/>
              </p:cNvSpPr>
              <p:nvPr>
                <p:ph type="body" idx="1"/>
              </p:nvPr>
            </p:nvSpPr>
            <p:spPr>
              <a:xfrm>
                <a:off x="594381" y="1402480"/>
                <a:ext cx="11003238" cy="4053039"/>
              </a:xfrm>
              <a:solidFill>
                <a:srgbClr val="002060"/>
              </a:solidFill>
            </p:spPr>
            <p:txBody>
              <a:bodyPr/>
              <a:lstStyle/>
              <a:p>
                <a:pPr algn="l">
                  <a:buNone/>
                </a:pPr>
                <a:r>
                  <a:rPr lang="fr-FR" sz="3200" b="1" noProof="0" dirty="0">
                    <a:solidFill>
                      <a:srgbClr val="FFC000"/>
                    </a:solidFill>
                    <a:latin typeface="Times New Roman" panose="02020603050405020304" pitchFamily="18" charset="0"/>
                    <a:cs typeface="Times New Roman" panose="02020603050405020304" pitchFamily="18" charset="0"/>
                  </a:rPr>
                  <a:t>Exemple </a:t>
                </a:r>
                <a:r>
                  <a:rPr lang="fr-FR" sz="3200" b="1" noProof="0" dirty="0">
                    <a:latin typeface="Times New Roman" panose="02020603050405020304" pitchFamily="18" charset="0"/>
                    <a:cs typeface="Times New Roman" panose="02020603050405020304" pitchFamily="18" charset="0"/>
                  </a:rPr>
                  <a:t>: Calcul du champ électrique au milieu de deux</a:t>
                </a:r>
              </a:p>
              <a:p>
                <a:pPr algn="l">
                  <a:buNone/>
                </a:pPr>
                <a:r>
                  <a:rPr lang="fr-FR" sz="3200" b="1" noProof="0" dirty="0">
                    <a:latin typeface="Times New Roman" panose="02020603050405020304" pitchFamily="18" charset="0"/>
                    <a:cs typeface="Times New Roman" panose="02020603050405020304" pitchFamily="18" charset="0"/>
                  </a:rPr>
                  <a:t>charges</a:t>
                </a:r>
                <a:endParaRPr lang="fr-FR" sz="3200" noProof="0" dirty="0">
                  <a:latin typeface="Times New Roman" panose="02020603050405020304" pitchFamily="18" charset="0"/>
                  <a:cs typeface="Times New Roman" panose="02020603050405020304" pitchFamily="18" charset="0"/>
                </a:endParaRPr>
              </a:p>
              <a:p>
                <a:pPr algn="l">
                  <a:buNone/>
                </a:pPr>
                <a:r>
                  <a:rPr lang="fr-FR" sz="3200" noProof="0" dirty="0">
                    <a:latin typeface="Times New Roman" panose="02020603050405020304" pitchFamily="18" charset="0"/>
                    <a:cs typeface="Times New Roman" panose="02020603050405020304" pitchFamily="18" charset="0"/>
                  </a:rPr>
                  <a:t>On considère deux charges ponctuelles :</a:t>
                </a:r>
              </a:p>
              <a:p>
                <a:pPr algn="l">
                  <a:buNone/>
                </a:pPr>
                <a14:m>
                  <m:oMathPara xmlns:m="http://schemas.openxmlformats.org/officeDocument/2006/math">
                    <m:oMathParaPr>
                      <m:jc m:val="centerGroup"/>
                    </m:oMathParaPr>
                    <m:oMath xmlns:m="http://schemas.openxmlformats.org/officeDocument/2006/math">
                      <m:sSub>
                        <m:sSubPr>
                          <m:ctrlPr>
                            <a:rPr lang="fr-FR" sz="3200" i="1" noProof="0" smtClean="0">
                              <a:latin typeface="Cambria Math" panose="02040503050406030204" pitchFamily="18" charset="0"/>
                            </a:rPr>
                          </m:ctrlPr>
                        </m:sSubPr>
                        <m:e>
                          <m:r>
                            <a:rPr lang="fr-FR" sz="3200" i="1" noProof="0" smtClean="0">
                              <a:latin typeface="Cambria Math" panose="02040503050406030204" pitchFamily="18" charset="0"/>
                            </a:rPr>
                            <m:t>𝑞</m:t>
                          </m:r>
                        </m:e>
                        <m:sub>
                          <m:r>
                            <a:rPr lang="fr-FR" sz="3200" i="0" noProof="0" smtClean="0">
                              <a:latin typeface="Cambria Math" panose="02040503050406030204" pitchFamily="18" charset="0"/>
                            </a:rPr>
                            <m:t>1</m:t>
                          </m:r>
                        </m:sub>
                      </m:sSub>
                      <m:r>
                        <a:rPr lang="fr-FR" sz="3200" i="0" noProof="0" smtClean="0">
                          <a:latin typeface="Cambria Math" panose="02040503050406030204" pitchFamily="18" charset="0"/>
                        </a:rPr>
                        <m:t>=+</m:t>
                      </m:r>
                      <m:r>
                        <a:rPr lang="fr-FR" sz="3200" i="0" noProof="0" smtClean="0">
                          <a:latin typeface="Cambria Math" panose="02040503050406030204" pitchFamily="18" charset="0"/>
                        </a:rPr>
                        <m:t>2</m:t>
                      </m:r>
                      <m:r>
                        <m:rPr>
                          <m:nor/>
                        </m:rPr>
                        <a:rPr lang="fr-FR" sz="3200" b="0" i="1" noProof="0" smtClean="0">
                          <a:latin typeface="Times New Roman" panose="02020603050405020304" pitchFamily="18" charset="0"/>
                          <a:cs typeface="Times New Roman" panose="02020603050405020304" pitchFamily="18" charset="0"/>
                        </a:rPr>
                        <m:t> </m:t>
                      </m:r>
                      <m:r>
                        <a:rPr lang="fr-FR" sz="3200" b="0" i="1" noProof="0" smtClean="0">
                          <a:latin typeface="Cambria Math" panose="02040503050406030204" pitchFamily="18" charset="0"/>
                        </a:rPr>
                        <m:t>𝜇</m:t>
                      </m:r>
                      <m:r>
                        <a:rPr lang="fr-FR" sz="3200" b="0" i="1" noProof="0" smtClean="0">
                          <a:latin typeface="Cambria Math" panose="02040503050406030204" pitchFamily="18" charset="0"/>
                        </a:rPr>
                        <m:t>𝐶</m:t>
                      </m:r>
                      <m:r>
                        <a:rPr lang="fr-FR" sz="3200" b="0" i="0" noProof="0" smtClean="0">
                          <a:latin typeface="Cambria Math" panose="02040503050406030204" pitchFamily="18" charset="0"/>
                        </a:rPr>
                        <m:t> </m:t>
                      </m:r>
                      <m:r>
                        <m:rPr>
                          <m:nor/>
                        </m:rPr>
                        <a:rPr lang="fr-FR" sz="3200" b="0" i="1" noProof="0" smtClean="0">
                          <a:latin typeface="Times New Roman" panose="02020603050405020304" pitchFamily="18" charset="0"/>
                          <a:cs typeface="Times New Roman" panose="02020603050405020304" pitchFamily="18" charset="0"/>
                        </a:rPr>
                        <m:t>et</m:t>
                      </m:r>
                      <m:r>
                        <a:rPr lang="fr-FR" sz="3200" b="0" i="0" noProof="0" smtClean="0">
                          <a:latin typeface="Cambria Math" panose="02040503050406030204" pitchFamily="18" charset="0"/>
                        </a:rPr>
                        <m:t> </m:t>
                      </m:r>
                      <m:sSub>
                        <m:sSubPr>
                          <m:ctrlPr>
                            <a:rPr lang="fr-FR" sz="3200" b="0" i="1" noProof="0" smtClean="0">
                              <a:latin typeface="Cambria Math" panose="02040503050406030204" pitchFamily="18" charset="0"/>
                            </a:rPr>
                          </m:ctrlPr>
                        </m:sSubPr>
                        <m:e>
                          <m:r>
                            <a:rPr lang="fr-FR" sz="3200" b="0" i="1" noProof="0" smtClean="0">
                              <a:latin typeface="Cambria Math" panose="02040503050406030204" pitchFamily="18" charset="0"/>
                            </a:rPr>
                            <m:t>𝑞</m:t>
                          </m:r>
                        </m:e>
                        <m:sub>
                          <m:r>
                            <a:rPr lang="fr-FR" sz="3200" b="0" i="0" noProof="0" smtClean="0">
                              <a:latin typeface="Cambria Math" panose="02040503050406030204" pitchFamily="18" charset="0"/>
                            </a:rPr>
                            <m:t>2</m:t>
                          </m:r>
                        </m:sub>
                      </m:sSub>
                      <m:r>
                        <a:rPr lang="fr-FR" sz="3200" b="0" i="0" noProof="0" smtClean="0">
                          <a:latin typeface="Cambria Math" panose="02040503050406030204" pitchFamily="18" charset="0"/>
                        </a:rPr>
                        <m:t>=−</m:t>
                      </m:r>
                      <m:r>
                        <a:rPr lang="fr-FR" sz="3200" b="0" i="0" noProof="0" smtClean="0">
                          <a:latin typeface="Cambria Math" panose="02040503050406030204" pitchFamily="18" charset="0"/>
                        </a:rPr>
                        <m:t>3</m:t>
                      </m:r>
                      <m:r>
                        <m:rPr>
                          <m:nor/>
                        </m:rPr>
                        <a:rPr lang="fr-FR" sz="3200" b="0" i="1" noProof="0" smtClean="0">
                          <a:latin typeface="Times New Roman" panose="02020603050405020304" pitchFamily="18" charset="0"/>
                          <a:cs typeface="Times New Roman" panose="02020603050405020304" pitchFamily="18" charset="0"/>
                        </a:rPr>
                        <m:t> </m:t>
                      </m:r>
                      <m:r>
                        <a:rPr lang="fr-FR" sz="3200" b="0" i="1" noProof="0" smtClean="0">
                          <a:latin typeface="Cambria Math" panose="02040503050406030204" pitchFamily="18" charset="0"/>
                        </a:rPr>
                        <m:t>𝜇</m:t>
                      </m:r>
                      <m:r>
                        <a:rPr lang="fr-FR" sz="3200" b="0" i="1" noProof="0" smtClean="0">
                          <a:latin typeface="Cambria Math" panose="02040503050406030204" pitchFamily="18" charset="0"/>
                        </a:rPr>
                        <m:t>𝐶</m:t>
                      </m:r>
                    </m:oMath>
                  </m:oMathPara>
                </a14:m>
                <a:endParaRPr lang="fr-FR" sz="3200" b="0" noProof="0" dirty="0">
                  <a:latin typeface="Times New Roman" panose="02020603050405020304" pitchFamily="18" charset="0"/>
                  <a:cs typeface="Times New Roman" panose="02020603050405020304" pitchFamily="18" charset="0"/>
                </a:endParaRPr>
              </a:p>
              <a:p>
                <a:pPr algn="l">
                  <a:buNone/>
                </a:pPr>
                <a:r>
                  <a:rPr lang="fr-FR" sz="3200" noProof="0" dirty="0">
                    <a:latin typeface="Times New Roman" panose="02020603050405020304" pitchFamily="18" charset="0"/>
                    <a:cs typeface="Times New Roman" panose="02020603050405020304" pitchFamily="18" charset="0"/>
                  </a:rPr>
                  <a:t>placées sur un axe, avec une distance </a:t>
                </a:r>
                <a14:m>
                  <m:oMath xmlns:m="http://schemas.openxmlformats.org/officeDocument/2006/math">
                    <m:r>
                      <a:rPr lang="fr-FR" sz="3200" i="1" noProof="0" smtClean="0">
                        <a:latin typeface="Cambria Math" panose="02040503050406030204" pitchFamily="18" charset="0"/>
                      </a:rPr>
                      <m:t>𝑑</m:t>
                    </m:r>
                    <m:r>
                      <a:rPr lang="fr-FR" sz="3200" b="0" i="1" noProof="0" smtClean="0">
                        <a:latin typeface="Cambria Math" panose="02040503050406030204" pitchFamily="18" charset="0"/>
                      </a:rPr>
                      <m:t> </m:t>
                    </m:r>
                  </m:oMath>
                </a14:m>
                <a:r>
                  <a:rPr lang="fr-FR" sz="3200" noProof="0" dirty="0">
                    <a:latin typeface="Times New Roman" panose="02020603050405020304" pitchFamily="18" charset="0"/>
                    <a:cs typeface="Times New Roman" panose="02020603050405020304" pitchFamily="18" charset="0"/>
                  </a:rPr>
                  <a:t>entre elles. </a:t>
                </a:r>
              </a:p>
              <a:p>
                <a:pPr algn="l">
                  <a:buNone/>
                </a:pPr>
                <a:r>
                  <a:rPr lang="fr-FR" sz="3200" noProof="0" dirty="0">
                    <a:latin typeface="Times New Roman" panose="02020603050405020304" pitchFamily="18" charset="0"/>
                    <a:cs typeface="Times New Roman" panose="02020603050405020304" pitchFamily="18" charset="0"/>
                  </a:rPr>
                  <a:t>On veut calculer le champ électrique au point P, situé</a:t>
                </a:r>
              </a:p>
              <a:p>
                <a:pPr algn="l">
                  <a:buNone/>
                </a:pPr>
                <a:r>
                  <a:rPr lang="fr-FR" sz="3200" noProof="0" dirty="0">
                    <a:latin typeface="Times New Roman" panose="02020603050405020304" pitchFamily="18" charset="0"/>
                    <a:cs typeface="Times New Roman" panose="02020603050405020304" pitchFamily="18" charset="0"/>
                  </a:rPr>
                  <a:t>exactement au milieu de </a:t>
                </a:r>
                <a14:m>
                  <m:oMath xmlns:m="http://schemas.openxmlformats.org/officeDocument/2006/math">
                    <m:sSub>
                      <m:sSubPr>
                        <m:ctrlPr>
                          <a:rPr lang="fr-FR" sz="3200" i="1" noProof="0" smtClean="0">
                            <a:latin typeface="Cambria Math" panose="02040503050406030204" pitchFamily="18" charset="0"/>
                          </a:rPr>
                        </m:ctrlPr>
                      </m:sSubPr>
                      <m:e>
                        <m:r>
                          <a:rPr lang="fr-FR" sz="3200" b="0" i="1" noProof="0" smtClean="0">
                            <a:latin typeface="Cambria Math" panose="02040503050406030204" pitchFamily="18" charset="0"/>
                          </a:rPr>
                          <m:t>𝑞</m:t>
                        </m:r>
                      </m:e>
                      <m:sub>
                        <m:r>
                          <a:rPr lang="fr-FR" sz="3200" b="0" i="0" noProof="0" smtClean="0">
                            <a:latin typeface="Cambria Math" panose="02040503050406030204" pitchFamily="18" charset="0"/>
                          </a:rPr>
                          <m:t>1</m:t>
                        </m:r>
                      </m:sub>
                    </m:sSub>
                  </m:oMath>
                </a14:m>
                <a:r>
                  <a:rPr lang="fr-FR" sz="3200" noProof="0" dirty="0">
                    <a:latin typeface="Times New Roman" panose="02020603050405020304" pitchFamily="18" charset="0"/>
                    <a:cs typeface="Times New Roman" panose="02020603050405020304" pitchFamily="18" charset="0"/>
                  </a:rPr>
                  <a:t>et </a:t>
                </a:r>
                <a14:m>
                  <m:oMath xmlns:m="http://schemas.openxmlformats.org/officeDocument/2006/math">
                    <m:sSub>
                      <m:sSubPr>
                        <m:ctrlPr>
                          <a:rPr lang="fr-FR" sz="3200" i="1" noProof="0" smtClean="0">
                            <a:latin typeface="Cambria Math" panose="02040503050406030204" pitchFamily="18" charset="0"/>
                          </a:rPr>
                        </m:ctrlPr>
                      </m:sSubPr>
                      <m:e>
                        <m:r>
                          <a:rPr lang="fr-FR" sz="3200" b="0" i="1" noProof="0" smtClean="0">
                            <a:latin typeface="Cambria Math" panose="02040503050406030204" pitchFamily="18" charset="0"/>
                          </a:rPr>
                          <m:t>𝑞</m:t>
                        </m:r>
                      </m:e>
                      <m:sub>
                        <m:r>
                          <a:rPr lang="fr-FR" sz="3200" b="0" i="0" noProof="0" smtClean="0">
                            <a:latin typeface="Cambria Math" panose="02040503050406030204" pitchFamily="18" charset="0"/>
                          </a:rPr>
                          <m:t>2</m:t>
                        </m:r>
                      </m:sub>
                    </m:sSub>
                  </m:oMath>
                </a14:m>
                <a:r>
                  <a:rPr lang="fr-FR" sz="3200" noProof="0" dirty="0">
                    <a:latin typeface="Times New Roman" panose="02020603050405020304" pitchFamily="18" charset="0"/>
                    <a:cs typeface="Times New Roman" panose="02020603050405020304" pitchFamily="18" charset="0"/>
                  </a:rPr>
                  <a:t>.</a:t>
                </a:r>
              </a:p>
              <a:p>
                <a:endParaRPr lang="fr-FR" noProof="0" dirty="0"/>
              </a:p>
            </p:txBody>
          </p:sp>
        </mc:Choice>
        <mc:Fallback xmlns="">
          <p:sp>
            <p:nvSpPr>
              <p:cNvPr id="3" name="Espace réservé du texte 2">
                <a:extLst>
                  <a:ext uri="{FF2B5EF4-FFF2-40B4-BE49-F238E27FC236}">
                    <a16:creationId xmlns:a16="http://schemas.microsoft.com/office/drawing/2014/main" id="{E5AB7E1B-13C3-C690-E853-5F29ABE7DBD0}"/>
                  </a:ext>
                </a:extLst>
              </p:cNvPr>
              <p:cNvSpPr>
                <a:spLocks noGrp="1" noRot="1" noChangeAspect="1" noMove="1" noResize="1" noEditPoints="1" noAdjustHandles="1" noChangeArrowheads="1" noChangeShapeType="1" noTextEdit="1"/>
              </p:cNvSpPr>
              <p:nvPr>
                <p:ph type="body" idx="1"/>
              </p:nvPr>
            </p:nvSpPr>
            <p:spPr>
              <a:xfrm>
                <a:off x="594381" y="1402480"/>
                <a:ext cx="11003238" cy="4053039"/>
              </a:xfrm>
              <a:blipFill>
                <a:blip r:embed="rId2"/>
                <a:stretch>
                  <a:fillRect t="-150" b="-3308"/>
                </a:stretch>
              </a:blipFill>
            </p:spPr>
            <p:txBody>
              <a:bodyPr/>
              <a:lstStyle/>
              <a:p>
                <a:r>
                  <a:rPr lang="fr-DZ">
                    <a:noFill/>
                  </a:rPr>
                  <a:t> </a:t>
                </a:r>
              </a:p>
            </p:txBody>
          </p:sp>
        </mc:Fallback>
      </mc:AlternateContent>
    </p:spTree>
    <p:extLst>
      <p:ext uri="{BB962C8B-B14F-4D97-AF65-F5344CB8AC3E}">
        <p14:creationId xmlns:p14="http://schemas.microsoft.com/office/powerpoint/2010/main" val="16076159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9FB55705-B49A-1959-9085-DAE95F32A3FF}"/>
                  </a:ext>
                </a:extLst>
              </p:cNvPr>
              <p:cNvSpPr txBox="1"/>
              <p:nvPr/>
            </p:nvSpPr>
            <p:spPr>
              <a:xfrm>
                <a:off x="4691743" y="4337957"/>
                <a:ext cx="892629" cy="461665"/>
              </a:xfrm>
              <a:prstGeom prst="rect">
                <a:avLst/>
              </a:prstGeom>
              <a:noFill/>
            </p:spPr>
            <p:txBody>
              <a:bodyPr wrap="square" rtlCol="0">
                <a:spAutoFit/>
              </a:bodyPr>
              <a:lstStyle/>
              <a:p>
                <a:r>
                  <a:rPr lang="fr-FR" sz="2400" b="1" i="1" noProof="0" dirty="0">
                    <a:solidFill>
                      <a:schemeClr val="tx1"/>
                    </a:solidFill>
                  </a:rPr>
                  <a:t>2</a:t>
                </a:r>
                <a14:m>
                  <m:oMath xmlns:m="http://schemas.openxmlformats.org/officeDocument/2006/math">
                    <m:r>
                      <a:rPr lang="fr-FR" sz="2400" b="1" i="1" noProof="0" smtClean="0">
                        <a:solidFill>
                          <a:schemeClr val="tx1"/>
                        </a:solidFill>
                        <a:latin typeface="Cambria Math" panose="02040503050406030204" pitchFamily="18" charset="0"/>
                        <a:ea typeface="Cambria Math" panose="02040503050406030204" pitchFamily="18" charset="0"/>
                      </a:rPr>
                      <m:t>𝝁</m:t>
                    </m:r>
                    <m:r>
                      <a:rPr lang="fr-FR" sz="2400" b="1" i="1" noProof="0" smtClean="0">
                        <a:solidFill>
                          <a:schemeClr val="tx1"/>
                        </a:solidFill>
                        <a:latin typeface="Cambria Math" panose="02040503050406030204" pitchFamily="18" charset="0"/>
                        <a:ea typeface="Cambria Math" panose="02040503050406030204" pitchFamily="18" charset="0"/>
                      </a:rPr>
                      <m:t>𝑪</m:t>
                    </m:r>
                  </m:oMath>
                </a14:m>
                <a:endParaRPr lang="fr-FR" sz="2400" b="1" i="1" noProof="0" dirty="0">
                  <a:solidFill>
                    <a:schemeClr val="tx1"/>
                  </a:solidFill>
                </a:endParaRPr>
              </a:p>
            </p:txBody>
          </p:sp>
        </mc:Choice>
        <mc:Fallback xmlns="">
          <p:sp>
            <p:nvSpPr>
              <p:cNvPr id="5" name="ZoneTexte 4">
                <a:extLst>
                  <a:ext uri="{FF2B5EF4-FFF2-40B4-BE49-F238E27FC236}">
                    <a16:creationId xmlns:a16="http://schemas.microsoft.com/office/drawing/2014/main" id="{9FB55705-B49A-1959-9085-DAE95F32A3FF}"/>
                  </a:ext>
                </a:extLst>
              </p:cNvPr>
              <p:cNvSpPr txBox="1">
                <a:spLocks noRot="1" noChangeAspect="1" noMove="1" noResize="1" noEditPoints="1" noAdjustHandles="1" noChangeArrowheads="1" noChangeShapeType="1" noTextEdit="1"/>
              </p:cNvSpPr>
              <p:nvPr/>
            </p:nvSpPr>
            <p:spPr>
              <a:xfrm>
                <a:off x="4691743" y="4337957"/>
                <a:ext cx="892629" cy="461665"/>
              </a:xfrm>
              <a:prstGeom prst="rect">
                <a:avLst/>
              </a:prstGeom>
              <a:blipFill>
                <a:blip r:embed="rId2"/>
                <a:stretch>
                  <a:fillRect l="-10959" t="-9333" b="-32000"/>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CF72E510-672B-D52A-0D98-F1D2AAAC03DA}"/>
                  </a:ext>
                </a:extLst>
              </p:cNvPr>
              <p:cNvSpPr txBox="1"/>
              <p:nvPr/>
            </p:nvSpPr>
            <p:spPr>
              <a:xfrm>
                <a:off x="0" y="1074233"/>
                <a:ext cx="12192000" cy="5134547"/>
              </a:xfrm>
              <a:prstGeom prst="rect">
                <a:avLst/>
              </a:prstGeom>
              <a:solidFill>
                <a:srgbClr val="0070C0"/>
              </a:solidFill>
            </p:spPr>
            <p:txBody>
              <a:bodyPr wrap="square" rtlCol="0">
                <a:spAutoFit/>
              </a:bodyPr>
              <a:lstStyle/>
              <a:p>
                <a:pPr>
                  <a:buNone/>
                </a:pPr>
                <a:r>
                  <a:rPr lang="fr-FR" sz="2800" b="1" noProof="0" dirty="0">
                    <a:cs typeface="+mj-cs"/>
                  </a:rPr>
                  <a:t>1️⃣</a:t>
                </a:r>
                <a:r>
                  <a:rPr lang="fr-FR" sz="2800" b="1" i="1" noProof="0" dirty="0">
                    <a:solidFill>
                      <a:schemeClr val="bg1"/>
                    </a:solidFill>
                    <a:latin typeface="Times New Roman" panose="02020603050405020304" pitchFamily="18" charset="0"/>
                    <a:cs typeface="Times New Roman" panose="02020603050405020304" pitchFamily="18" charset="0"/>
                  </a:rPr>
                  <a:t> </a:t>
                </a:r>
                <a:r>
                  <a:rPr lang="fr-FR" sz="2800" b="1" noProof="0" dirty="0">
                    <a:solidFill>
                      <a:srgbClr val="002060"/>
                    </a:solidFill>
                    <a:latin typeface="Times New Roman" panose="02020603050405020304" pitchFamily="18" charset="0"/>
                    <a:cs typeface="Times New Roman" panose="02020603050405020304" pitchFamily="18" charset="0"/>
                  </a:rPr>
                  <a:t>Principe de superposition :</a:t>
                </a:r>
                <a:endParaRPr lang="fr-FR" sz="2800" noProof="0" dirty="0">
                  <a:solidFill>
                    <a:srgbClr val="002060"/>
                  </a:solidFill>
                  <a:latin typeface="Times New Roman" panose="02020603050405020304" pitchFamily="18" charset="0"/>
                  <a:cs typeface="Times New Roman" panose="02020603050405020304" pitchFamily="18" charset="0"/>
                </a:endParaRPr>
              </a:p>
              <a:p>
                <a:pPr>
                  <a:buNone/>
                </a:pPr>
                <a:r>
                  <a:rPr lang="fr-FR" sz="2800" noProof="0" dirty="0">
                    <a:solidFill>
                      <a:schemeClr val="bg1"/>
                    </a:solidFill>
                    <a:latin typeface="Times New Roman" panose="02020603050405020304" pitchFamily="18" charset="0"/>
                    <a:cs typeface="Times New Roman" panose="02020603050405020304" pitchFamily="18" charset="0"/>
                  </a:rPr>
                  <a:t>Le champ électrique total est la somme vectorielle des champs créés par chaque charge :</a:t>
                </a:r>
              </a:p>
              <a:p>
                <a:pPr>
                  <a:buNone/>
                </a:pPr>
                <a:r>
                  <a:rPr lang="fr-FR" sz="2800" noProof="0" dirty="0">
                    <a:solidFill>
                      <a:schemeClr val="bg1"/>
                    </a:solidFill>
                    <a:cs typeface="+mj-cs"/>
                  </a:rPr>
                  <a:t>                   </a:t>
                </a: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acc>
                          <m:accPr>
                            <m:chr m:val="⃗"/>
                            <m:ctrlPr>
                              <a:rPr lang="fr-FR" sz="2800" i="1" noProof="0" smtClean="0">
                                <a:solidFill>
                                  <a:schemeClr val="bg1"/>
                                </a:solidFill>
                                <a:latin typeface="Cambria Math" panose="02040503050406030204" pitchFamily="18" charset="0"/>
                                <a:cs typeface="+mj-cs"/>
                              </a:rPr>
                            </m:ctrlPr>
                          </m:accPr>
                          <m:e>
                            <m:r>
                              <m:rPr>
                                <m:sty m:val="p"/>
                              </m:rPr>
                              <a:rPr lang="fr-FR" sz="2800" i="0" noProof="0" smtClean="0">
                                <a:solidFill>
                                  <a:schemeClr val="bg1"/>
                                </a:solidFill>
                                <a:latin typeface="Cambria Math" panose="02040503050406030204" pitchFamily="18" charset="0"/>
                                <a:cs typeface="+mj-cs"/>
                              </a:rPr>
                              <m:t>E</m:t>
                            </m:r>
                          </m:e>
                        </m:acc>
                      </m:e>
                      <m:sub>
                        <m:r>
                          <m:rPr>
                            <m:nor/>
                          </m:rPr>
                          <a:rPr lang="fr-FR" sz="2800" b="0" noProof="0" smtClean="0">
                            <a:solidFill>
                              <a:schemeClr val="bg1"/>
                            </a:solidFill>
                            <a:latin typeface="Times New Roman" panose="02020603050405020304" pitchFamily="18" charset="0"/>
                            <a:cs typeface="Times New Roman" panose="02020603050405020304" pitchFamily="18" charset="0"/>
                          </a:rPr>
                          <m:t>total</m:t>
                        </m:r>
                      </m:sub>
                    </m:sSub>
                    <m:r>
                      <a:rPr lang="fr-FR" sz="2800" b="0" i="0" noProof="0" smtClean="0">
                        <a:solidFill>
                          <a:schemeClr val="bg1"/>
                        </a:solidFill>
                        <a:latin typeface="Cambria Math" panose="02040503050406030204" pitchFamily="18" charset="0"/>
                        <a:cs typeface="+mj-cs"/>
                      </a:rPr>
                      <m:t>=</m:t>
                    </m:r>
                    <m:sSub>
                      <m:sSubPr>
                        <m:ctrlPr>
                          <a:rPr lang="fr-FR" sz="2800" b="0" i="1" noProof="0" smtClean="0">
                            <a:solidFill>
                              <a:schemeClr val="bg1"/>
                            </a:solidFill>
                            <a:latin typeface="Cambria Math" panose="02040503050406030204" pitchFamily="18" charset="0"/>
                            <a:cs typeface="+mj-cs"/>
                          </a:rPr>
                        </m:ctrlPr>
                      </m:sSubPr>
                      <m:e>
                        <m:acc>
                          <m:accPr>
                            <m:chr m:val="⃗"/>
                            <m:ctrlPr>
                              <a:rPr lang="fr-FR" sz="2800" b="0" i="1" noProof="0" smtClean="0">
                                <a:solidFill>
                                  <a:schemeClr val="bg1"/>
                                </a:solidFill>
                                <a:latin typeface="Cambria Math" panose="02040503050406030204" pitchFamily="18" charset="0"/>
                                <a:cs typeface="+mj-cs"/>
                              </a:rPr>
                            </m:ctrlPr>
                          </m:accPr>
                          <m:e>
                            <m:r>
                              <m:rPr>
                                <m:sty m:val="p"/>
                              </m:rPr>
                              <a:rPr lang="fr-FR" sz="2800" b="0" i="0" noProof="0" smtClean="0">
                                <a:solidFill>
                                  <a:schemeClr val="bg1"/>
                                </a:solidFill>
                                <a:latin typeface="Cambria Math" panose="02040503050406030204" pitchFamily="18" charset="0"/>
                                <a:cs typeface="+mj-cs"/>
                              </a:rPr>
                              <m:t>E</m:t>
                            </m:r>
                          </m:e>
                        </m:acc>
                      </m:e>
                      <m:sub>
                        <m:r>
                          <a:rPr lang="fr-FR" sz="2800" b="0" i="0" noProof="0" smtClean="0">
                            <a:solidFill>
                              <a:schemeClr val="bg1"/>
                            </a:solidFill>
                            <a:latin typeface="Cambria Math" panose="02040503050406030204" pitchFamily="18" charset="0"/>
                            <a:cs typeface="+mj-cs"/>
                          </a:rPr>
                          <m:t>1</m:t>
                        </m:r>
                      </m:sub>
                    </m:sSub>
                    <m:r>
                      <a:rPr lang="fr-FR" sz="2800" b="0" i="0" noProof="0" smtClean="0">
                        <a:solidFill>
                          <a:schemeClr val="bg1"/>
                        </a:solidFill>
                        <a:latin typeface="Cambria Math" panose="02040503050406030204" pitchFamily="18" charset="0"/>
                        <a:cs typeface="+mj-cs"/>
                      </a:rPr>
                      <m:t>+</m:t>
                    </m:r>
                    <m:sSub>
                      <m:sSubPr>
                        <m:ctrlPr>
                          <a:rPr lang="fr-FR" sz="2800" b="0" i="1" noProof="0" smtClean="0">
                            <a:solidFill>
                              <a:schemeClr val="bg1"/>
                            </a:solidFill>
                            <a:latin typeface="Cambria Math" panose="02040503050406030204" pitchFamily="18" charset="0"/>
                            <a:cs typeface="+mj-cs"/>
                          </a:rPr>
                        </m:ctrlPr>
                      </m:sSubPr>
                      <m:e>
                        <m:acc>
                          <m:accPr>
                            <m:chr m:val="⃗"/>
                            <m:ctrlPr>
                              <a:rPr lang="fr-FR" sz="2800" b="0" i="1" noProof="0" smtClean="0">
                                <a:solidFill>
                                  <a:schemeClr val="bg1"/>
                                </a:solidFill>
                                <a:latin typeface="Cambria Math" panose="02040503050406030204" pitchFamily="18" charset="0"/>
                                <a:cs typeface="+mj-cs"/>
                              </a:rPr>
                            </m:ctrlPr>
                          </m:accPr>
                          <m:e>
                            <m:r>
                              <m:rPr>
                                <m:sty m:val="p"/>
                              </m:rPr>
                              <a:rPr lang="fr-FR" sz="2800" b="0" i="0" noProof="0" smtClean="0">
                                <a:solidFill>
                                  <a:schemeClr val="bg1"/>
                                </a:solidFill>
                                <a:latin typeface="Cambria Math" panose="02040503050406030204" pitchFamily="18" charset="0"/>
                                <a:cs typeface="+mj-cs"/>
                              </a:rPr>
                              <m:t>E</m:t>
                            </m:r>
                          </m:e>
                        </m:acc>
                      </m:e>
                      <m:sub>
                        <m:r>
                          <a:rPr lang="fr-FR" sz="2800" b="0" i="0" noProof="0" smtClean="0">
                            <a:solidFill>
                              <a:schemeClr val="bg1"/>
                            </a:solidFill>
                            <a:latin typeface="Cambria Math" panose="02040503050406030204" pitchFamily="18" charset="0"/>
                            <a:cs typeface="+mj-cs"/>
                          </a:rPr>
                          <m:t>2</m:t>
                        </m:r>
                      </m:sub>
                    </m:sSub>
                  </m:oMath>
                </a14:m>
                <a:endParaRPr lang="fr-FR" sz="2800" b="0" noProof="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fr-FR" sz="2800" noProof="0" dirty="0">
                    <a:solidFill>
                      <a:schemeClr val="bg1"/>
                    </a:solidFill>
                    <a:cs typeface="+mj-cs"/>
                  </a:rPr>
                  <a:t>  </a:t>
                </a:r>
                <a14:m>
                  <m:oMath xmlns:m="http://schemas.openxmlformats.org/officeDocument/2006/math">
                    <m:r>
                      <a:rPr lang="fr-FR" sz="2800" b="0" i="0" noProof="0" smtClean="0">
                        <a:solidFill>
                          <a:schemeClr val="bg1"/>
                        </a:solidFill>
                        <a:latin typeface="Cambria Math" panose="02040503050406030204" pitchFamily="18" charset="0"/>
                        <a:cs typeface="+mj-cs"/>
                      </a:rPr>
                      <m:t>  </m:t>
                    </m:r>
                    <m:sSub>
                      <m:sSubPr>
                        <m:ctrlPr>
                          <a:rPr lang="fr-FR" sz="2800" i="1" noProof="0" smtClean="0">
                            <a:solidFill>
                              <a:schemeClr val="bg1"/>
                            </a:solidFill>
                            <a:latin typeface="Cambria Math" panose="02040503050406030204" pitchFamily="18" charset="0"/>
                            <a:cs typeface="+mj-cs"/>
                          </a:rPr>
                        </m:ctrlPr>
                      </m:sSubPr>
                      <m:e>
                        <m:acc>
                          <m:accPr>
                            <m:chr m:val="⃗"/>
                            <m:ctrlPr>
                              <a:rPr lang="fr-FR" sz="2800" i="1" noProof="0" smtClean="0">
                                <a:solidFill>
                                  <a:schemeClr val="bg1"/>
                                </a:solidFill>
                                <a:latin typeface="Cambria Math" panose="02040503050406030204" pitchFamily="18" charset="0"/>
                                <a:cs typeface="+mj-cs"/>
                              </a:rPr>
                            </m:ctrlPr>
                          </m:accPr>
                          <m:e>
                            <m:r>
                              <m:rPr>
                                <m:sty m:val="p"/>
                              </m:rPr>
                              <a:rPr lang="fr-FR" sz="2800" i="0" noProof="0" smtClean="0">
                                <a:solidFill>
                                  <a:schemeClr val="bg1"/>
                                </a:solidFill>
                                <a:latin typeface="Cambria Math" panose="02040503050406030204" pitchFamily="18" charset="0"/>
                                <a:cs typeface="+mj-cs"/>
                              </a:rPr>
                              <m:t>E</m:t>
                            </m:r>
                          </m:e>
                        </m:acc>
                      </m:e>
                      <m:sub>
                        <m:r>
                          <a:rPr lang="fr-FR" sz="2800" i="0" noProof="0" smtClean="0">
                            <a:solidFill>
                              <a:schemeClr val="bg1"/>
                            </a:solidFill>
                            <a:latin typeface="Cambria Math" panose="02040503050406030204" pitchFamily="18" charset="0"/>
                            <a:cs typeface="+mj-cs"/>
                          </a:rPr>
                          <m:t>1</m:t>
                        </m:r>
                      </m:sub>
                    </m:sSub>
                  </m:oMath>
                </a14:m>
                <a:r>
                  <a:rPr lang="fr-FR" sz="2800" noProof="0" dirty="0">
                    <a:solidFill>
                      <a:schemeClr val="bg1"/>
                    </a:solidFill>
                    <a:latin typeface="Times New Roman" panose="02020603050405020304" pitchFamily="18" charset="0"/>
                    <a:cs typeface="Times New Roman" panose="02020603050405020304" pitchFamily="18" charset="0"/>
                  </a:rPr>
                  <a:t>: champ dû à </a:t>
                </a: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r>
                          <m:rPr>
                            <m:sty m:val="p"/>
                          </m:rPr>
                          <a:rPr lang="fr-FR" sz="2800" i="0" noProof="0" smtClean="0">
                            <a:solidFill>
                              <a:schemeClr val="bg1"/>
                            </a:solidFill>
                            <a:latin typeface="Cambria Math" panose="02040503050406030204" pitchFamily="18" charset="0"/>
                            <a:cs typeface="+mj-cs"/>
                          </a:rPr>
                          <m:t>q</m:t>
                        </m:r>
                      </m:e>
                      <m:sub>
                        <m:r>
                          <a:rPr lang="fr-FR" sz="2800" i="0" noProof="0" smtClean="0">
                            <a:solidFill>
                              <a:schemeClr val="bg1"/>
                            </a:solidFill>
                            <a:latin typeface="Cambria Math" panose="02040503050406030204" pitchFamily="18" charset="0"/>
                            <a:cs typeface="+mj-cs"/>
                          </a:rPr>
                          <m:t>1</m:t>
                        </m:r>
                      </m:sub>
                    </m:sSub>
                  </m:oMath>
                </a14:m>
                <a:endParaRPr lang="fr-FR" sz="2800" noProof="0"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14:m>
                  <m:oMath xmlns:m="http://schemas.openxmlformats.org/officeDocument/2006/math">
                    <m:r>
                      <a:rPr lang="fr-FR" sz="2800" b="0" i="1" noProof="0" smtClean="0">
                        <a:solidFill>
                          <a:schemeClr val="bg1"/>
                        </a:solidFill>
                        <a:latin typeface="Cambria Math" panose="02040503050406030204" pitchFamily="18" charset="0"/>
                        <a:cs typeface="+mj-cs"/>
                      </a:rPr>
                      <m:t>     </m:t>
                    </m:r>
                    <m:sSub>
                      <m:sSubPr>
                        <m:ctrlPr>
                          <a:rPr lang="fr-FR" sz="2800" i="1" noProof="0" smtClean="0">
                            <a:solidFill>
                              <a:schemeClr val="bg1"/>
                            </a:solidFill>
                            <a:latin typeface="Cambria Math" panose="02040503050406030204" pitchFamily="18" charset="0"/>
                            <a:cs typeface="+mj-cs"/>
                          </a:rPr>
                        </m:ctrlPr>
                      </m:sSubPr>
                      <m:e>
                        <m:acc>
                          <m:accPr>
                            <m:chr m:val="⃗"/>
                            <m:ctrlPr>
                              <a:rPr lang="fr-FR" sz="2800" i="1" noProof="0" smtClean="0">
                                <a:solidFill>
                                  <a:schemeClr val="bg1"/>
                                </a:solidFill>
                                <a:latin typeface="Cambria Math" panose="02040503050406030204" pitchFamily="18" charset="0"/>
                                <a:cs typeface="+mj-cs"/>
                              </a:rPr>
                            </m:ctrlPr>
                          </m:accPr>
                          <m:e>
                            <m:r>
                              <m:rPr>
                                <m:sty m:val="p"/>
                              </m:rPr>
                              <a:rPr lang="fr-FR" sz="2800" i="0" noProof="0" smtClean="0">
                                <a:solidFill>
                                  <a:schemeClr val="bg1"/>
                                </a:solidFill>
                                <a:latin typeface="Cambria Math" panose="02040503050406030204" pitchFamily="18" charset="0"/>
                                <a:cs typeface="+mj-cs"/>
                              </a:rPr>
                              <m:t>E</m:t>
                            </m:r>
                          </m:e>
                        </m:acc>
                      </m:e>
                      <m:sub>
                        <m:r>
                          <a:rPr lang="fr-FR" sz="2800" i="0" noProof="0" smtClean="0">
                            <a:solidFill>
                              <a:schemeClr val="bg1"/>
                            </a:solidFill>
                            <a:latin typeface="Cambria Math" panose="02040503050406030204" pitchFamily="18" charset="0"/>
                            <a:cs typeface="+mj-cs"/>
                          </a:rPr>
                          <m:t>2</m:t>
                        </m:r>
                      </m:sub>
                    </m:sSub>
                  </m:oMath>
                </a14:m>
                <a:r>
                  <a:rPr lang="fr-FR" sz="2800" noProof="0" dirty="0">
                    <a:solidFill>
                      <a:schemeClr val="bg1"/>
                    </a:solidFill>
                    <a:latin typeface="Times New Roman" panose="02020603050405020304" pitchFamily="18" charset="0"/>
                    <a:cs typeface="Times New Roman" panose="02020603050405020304" pitchFamily="18" charset="0"/>
                  </a:rPr>
                  <a:t>: champ dû à </a:t>
                </a: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r>
                          <m:rPr>
                            <m:sty m:val="p"/>
                          </m:rPr>
                          <a:rPr lang="fr-FR" sz="2800" i="0" noProof="0" smtClean="0">
                            <a:solidFill>
                              <a:schemeClr val="bg1"/>
                            </a:solidFill>
                            <a:latin typeface="Cambria Math" panose="02040503050406030204" pitchFamily="18" charset="0"/>
                            <a:cs typeface="+mj-cs"/>
                          </a:rPr>
                          <m:t>q</m:t>
                        </m:r>
                      </m:e>
                      <m:sub>
                        <m:r>
                          <a:rPr lang="fr-FR" sz="2800" i="0" noProof="0" smtClean="0">
                            <a:solidFill>
                              <a:schemeClr val="bg1"/>
                            </a:solidFill>
                            <a:latin typeface="Cambria Math" panose="02040503050406030204" pitchFamily="18" charset="0"/>
                            <a:cs typeface="+mj-cs"/>
                          </a:rPr>
                          <m:t>2</m:t>
                        </m:r>
                      </m:sub>
                    </m:sSub>
                  </m:oMath>
                </a14:m>
                <a:endParaRPr lang="fr-FR" sz="2800" noProof="0" dirty="0">
                  <a:solidFill>
                    <a:schemeClr val="bg1"/>
                  </a:solidFill>
                  <a:latin typeface="Times New Roman" panose="02020603050405020304" pitchFamily="18" charset="0"/>
                  <a:cs typeface="Times New Roman" panose="02020603050405020304" pitchFamily="18" charset="0"/>
                </a:endParaRPr>
              </a:p>
              <a:p>
                <a:pPr>
                  <a:buNone/>
                </a:pPr>
                <a:r>
                  <a:rPr lang="fr-FR" sz="2800" noProof="0" dirty="0"/>
                  <a:t>2️⃣</a:t>
                </a:r>
                <a:r>
                  <a:rPr lang="fr-FR" sz="2800" b="1" noProof="0" dirty="0">
                    <a:solidFill>
                      <a:srgbClr val="002060"/>
                    </a:solidFill>
                    <a:latin typeface="Times New Roman" panose="02020603050405020304" pitchFamily="18" charset="0"/>
                    <a:cs typeface="Times New Roman" panose="02020603050405020304" pitchFamily="18" charset="0"/>
                  </a:rPr>
                  <a:t>Direction des champs :</a:t>
                </a:r>
                <a:endParaRPr lang="fr-FR" sz="2800" noProof="0" dirty="0">
                  <a:solidFill>
                    <a:srgbClr val="00206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acc>
                          <m:accPr>
                            <m:chr m:val="⃗"/>
                            <m:ctrlPr>
                              <a:rPr lang="fr-FR" sz="2800" i="1" noProof="0" smtClean="0">
                                <a:solidFill>
                                  <a:schemeClr val="bg1"/>
                                </a:solidFill>
                                <a:latin typeface="Cambria Math" panose="02040503050406030204" pitchFamily="18" charset="0"/>
                                <a:cs typeface="+mj-cs"/>
                              </a:rPr>
                            </m:ctrlPr>
                          </m:accPr>
                          <m:e>
                            <m:r>
                              <a:rPr lang="fr-FR" sz="2800" i="1" noProof="0" smtClean="0">
                                <a:solidFill>
                                  <a:schemeClr val="bg1"/>
                                </a:solidFill>
                                <a:latin typeface="Cambria Math" panose="02040503050406030204" pitchFamily="18" charset="0"/>
                                <a:cs typeface="+mj-cs"/>
                              </a:rPr>
                              <m:t>𝐸</m:t>
                            </m:r>
                          </m:e>
                        </m:acc>
                      </m:e>
                      <m:sub>
                        <m:r>
                          <a:rPr lang="fr-FR" sz="2800" i="0" noProof="0" smtClean="0">
                            <a:solidFill>
                              <a:schemeClr val="bg1"/>
                            </a:solidFill>
                            <a:latin typeface="Cambria Math" panose="02040503050406030204" pitchFamily="18" charset="0"/>
                            <a:cs typeface="+mj-cs"/>
                          </a:rPr>
                          <m:t>1</m:t>
                        </m:r>
                      </m:sub>
                    </m:sSub>
                  </m:oMath>
                </a14:m>
                <a:r>
                  <a:rPr lang="fr-FR" sz="2800" noProof="0" dirty="0">
                    <a:solidFill>
                      <a:schemeClr val="bg1"/>
                    </a:solidFill>
                    <a:latin typeface="Times New Roman" panose="02020603050405020304" pitchFamily="18" charset="0"/>
                    <a:cs typeface="Times New Roman" panose="02020603050405020304" pitchFamily="18" charset="0"/>
                  </a:rPr>
                  <a:t>: </a:t>
                </a:r>
                <a:r>
                  <a:rPr lang="fr-FR" sz="2800" b="1" noProof="0" dirty="0">
                    <a:solidFill>
                      <a:schemeClr val="bg1"/>
                    </a:solidFill>
                    <a:latin typeface="Times New Roman" panose="02020603050405020304" pitchFamily="18" charset="0"/>
                    <a:cs typeface="Times New Roman" panose="02020603050405020304" pitchFamily="18" charset="0"/>
                  </a:rPr>
                  <a:t>loin de </a:t>
                </a: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r>
                          <a:rPr lang="fr-FR" sz="2800" i="1" noProof="0" smtClean="0">
                            <a:solidFill>
                              <a:schemeClr val="bg1"/>
                            </a:solidFill>
                            <a:latin typeface="Cambria Math" panose="02040503050406030204" pitchFamily="18" charset="0"/>
                            <a:cs typeface="+mj-cs"/>
                          </a:rPr>
                          <m:t>𝑞</m:t>
                        </m:r>
                      </m:e>
                      <m:sub>
                        <m:r>
                          <a:rPr lang="fr-FR" sz="2800" i="0" noProof="0" smtClean="0">
                            <a:solidFill>
                              <a:schemeClr val="bg1"/>
                            </a:solidFill>
                            <a:latin typeface="Cambria Math" panose="02040503050406030204" pitchFamily="18" charset="0"/>
                            <a:cs typeface="+mj-cs"/>
                          </a:rPr>
                          <m:t>1</m:t>
                        </m:r>
                      </m:sub>
                    </m:sSub>
                  </m:oMath>
                </a14:m>
                <a:r>
                  <a:rPr lang="fr-FR" sz="2800" noProof="0" dirty="0">
                    <a:solidFill>
                      <a:schemeClr val="bg1"/>
                    </a:solidFill>
                    <a:latin typeface="Times New Roman" panose="02020603050405020304" pitchFamily="18" charset="0"/>
                    <a:cs typeface="Times New Roman" panose="02020603050405020304" pitchFamily="18" charset="0"/>
                  </a:rPr>
                  <a:t>(car </a:t>
                </a: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r>
                          <a:rPr lang="fr-FR" sz="2800" i="1" noProof="0" smtClean="0">
                            <a:solidFill>
                              <a:schemeClr val="bg1"/>
                            </a:solidFill>
                            <a:latin typeface="Cambria Math" panose="02040503050406030204" pitchFamily="18" charset="0"/>
                            <a:cs typeface="+mj-cs"/>
                          </a:rPr>
                          <m:t>𝑞</m:t>
                        </m:r>
                      </m:e>
                      <m:sub>
                        <m:r>
                          <a:rPr lang="fr-FR" sz="2800" i="0" noProof="0" smtClean="0">
                            <a:solidFill>
                              <a:schemeClr val="bg1"/>
                            </a:solidFill>
                            <a:latin typeface="Cambria Math" panose="02040503050406030204" pitchFamily="18" charset="0"/>
                            <a:cs typeface="+mj-cs"/>
                          </a:rPr>
                          <m:t>1</m:t>
                        </m:r>
                      </m:sub>
                    </m:sSub>
                  </m:oMath>
                </a14:m>
                <a:r>
                  <a:rPr lang="fr-FR" sz="2800" noProof="0" dirty="0">
                    <a:solidFill>
                      <a:schemeClr val="bg1"/>
                    </a:solidFill>
                    <a:latin typeface="Times New Roman" panose="02020603050405020304" pitchFamily="18" charset="0"/>
                    <a:cs typeface="Times New Roman" panose="02020603050405020304" pitchFamily="18" charset="0"/>
                  </a:rPr>
                  <a:t>est positive)</a:t>
                </a:r>
              </a:p>
              <a:p>
                <a:pPr>
                  <a:buFont typeface="Arial" panose="020B0604020202020204" pitchFamily="34" charset="0"/>
                  <a:buChar char="•"/>
                </a:pP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acc>
                          <m:accPr>
                            <m:chr m:val="⃗"/>
                            <m:ctrlPr>
                              <a:rPr lang="fr-FR" sz="2800" i="1" noProof="0" smtClean="0">
                                <a:solidFill>
                                  <a:schemeClr val="bg1"/>
                                </a:solidFill>
                                <a:latin typeface="Cambria Math" panose="02040503050406030204" pitchFamily="18" charset="0"/>
                                <a:cs typeface="+mj-cs"/>
                              </a:rPr>
                            </m:ctrlPr>
                          </m:accPr>
                          <m:e>
                            <m:r>
                              <a:rPr lang="fr-FR" sz="2800" i="1" noProof="0" smtClean="0">
                                <a:solidFill>
                                  <a:schemeClr val="bg1"/>
                                </a:solidFill>
                                <a:latin typeface="Cambria Math" panose="02040503050406030204" pitchFamily="18" charset="0"/>
                                <a:cs typeface="+mj-cs"/>
                              </a:rPr>
                              <m:t>𝐸</m:t>
                            </m:r>
                          </m:e>
                        </m:acc>
                      </m:e>
                      <m:sub>
                        <m:r>
                          <a:rPr lang="fr-FR" sz="2800" i="0" noProof="0" smtClean="0">
                            <a:solidFill>
                              <a:schemeClr val="bg1"/>
                            </a:solidFill>
                            <a:latin typeface="Cambria Math" panose="02040503050406030204" pitchFamily="18" charset="0"/>
                            <a:cs typeface="+mj-cs"/>
                          </a:rPr>
                          <m:t>2</m:t>
                        </m:r>
                      </m:sub>
                    </m:sSub>
                  </m:oMath>
                </a14:m>
                <a:r>
                  <a:rPr lang="fr-FR" sz="2800" noProof="0" dirty="0">
                    <a:solidFill>
                      <a:schemeClr val="bg1"/>
                    </a:solidFill>
                    <a:latin typeface="Times New Roman" panose="02020603050405020304" pitchFamily="18" charset="0"/>
                    <a:cs typeface="Times New Roman" panose="02020603050405020304" pitchFamily="18" charset="0"/>
                  </a:rPr>
                  <a:t>: </a:t>
                </a:r>
                <a:r>
                  <a:rPr lang="fr-FR" sz="2800" b="1" noProof="0" dirty="0">
                    <a:solidFill>
                      <a:schemeClr val="bg1"/>
                    </a:solidFill>
                    <a:latin typeface="Times New Roman" panose="02020603050405020304" pitchFamily="18" charset="0"/>
                    <a:cs typeface="Times New Roman" panose="02020603050405020304" pitchFamily="18" charset="0"/>
                  </a:rPr>
                  <a:t>vers </a:t>
                </a: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r>
                          <a:rPr lang="fr-FR" sz="2800" i="1" noProof="0" smtClean="0">
                            <a:solidFill>
                              <a:schemeClr val="bg1"/>
                            </a:solidFill>
                            <a:latin typeface="Cambria Math" panose="02040503050406030204" pitchFamily="18" charset="0"/>
                            <a:cs typeface="+mj-cs"/>
                          </a:rPr>
                          <m:t>𝑞</m:t>
                        </m:r>
                      </m:e>
                      <m:sub>
                        <m:r>
                          <a:rPr lang="fr-FR" sz="2800" i="0" noProof="0" smtClean="0">
                            <a:solidFill>
                              <a:schemeClr val="bg1"/>
                            </a:solidFill>
                            <a:latin typeface="Cambria Math" panose="02040503050406030204" pitchFamily="18" charset="0"/>
                            <a:cs typeface="+mj-cs"/>
                          </a:rPr>
                          <m:t>2</m:t>
                        </m:r>
                      </m:sub>
                    </m:sSub>
                  </m:oMath>
                </a14:m>
                <a:r>
                  <a:rPr lang="fr-FR" sz="2800" noProof="0" dirty="0">
                    <a:solidFill>
                      <a:schemeClr val="bg1"/>
                    </a:solidFill>
                    <a:latin typeface="Times New Roman" panose="02020603050405020304" pitchFamily="18" charset="0"/>
                    <a:cs typeface="Times New Roman" panose="02020603050405020304" pitchFamily="18" charset="0"/>
                  </a:rPr>
                  <a:t>(car </a:t>
                </a: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r>
                          <a:rPr lang="fr-FR" sz="2800" i="1" noProof="0" smtClean="0">
                            <a:solidFill>
                              <a:schemeClr val="bg1"/>
                            </a:solidFill>
                            <a:latin typeface="Cambria Math" panose="02040503050406030204" pitchFamily="18" charset="0"/>
                            <a:cs typeface="+mj-cs"/>
                          </a:rPr>
                          <m:t>𝑞</m:t>
                        </m:r>
                      </m:e>
                      <m:sub>
                        <m:r>
                          <a:rPr lang="fr-FR" sz="2800" i="0" noProof="0" smtClean="0">
                            <a:solidFill>
                              <a:schemeClr val="bg1"/>
                            </a:solidFill>
                            <a:latin typeface="Cambria Math" panose="02040503050406030204" pitchFamily="18" charset="0"/>
                            <a:cs typeface="+mj-cs"/>
                          </a:rPr>
                          <m:t>2</m:t>
                        </m:r>
                      </m:sub>
                    </m:sSub>
                  </m:oMath>
                </a14:m>
                <a:r>
                  <a:rPr lang="fr-FR" sz="2800" noProof="0" dirty="0">
                    <a:solidFill>
                      <a:schemeClr val="bg1"/>
                    </a:solidFill>
                    <a:latin typeface="Times New Roman" panose="02020603050405020304" pitchFamily="18" charset="0"/>
                    <a:cs typeface="Times New Roman" panose="02020603050405020304" pitchFamily="18" charset="0"/>
                  </a:rPr>
                  <a:t>est négative)</a:t>
                </a:r>
              </a:p>
              <a:p>
                <a:pPr>
                  <a:buNone/>
                </a:pPr>
                <a:r>
                  <a:rPr lang="fr-FR" sz="2800" noProof="0" dirty="0">
                    <a:solidFill>
                      <a:schemeClr val="bg1"/>
                    </a:solidFill>
                    <a:latin typeface="Times New Roman" panose="02020603050405020304" pitchFamily="18" charset="0"/>
                    <a:cs typeface="Times New Roman" panose="02020603050405020304" pitchFamily="18" charset="0"/>
                  </a:rPr>
                  <a:t>Comme le point P est au milieu, les deux champs sont </a:t>
                </a:r>
                <a:r>
                  <a:rPr lang="fr-FR" sz="2800" b="1" noProof="0" dirty="0">
                    <a:solidFill>
                      <a:schemeClr val="bg1"/>
                    </a:solidFill>
                    <a:latin typeface="Times New Roman" panose="02020603050405020304" pitchFamily="18" charset="0"/>
                    <a:cs typeface="Times New Roman" panose="02020603050405020304" pitchFamily="18" charset="0"/>
                  </a:rPr>
                  <a:t>dans la même direction</a:t>
                </a:r>
                <a:r>
                  <a:rPr lang="fr-FR" sz="2800" noProof="0" dirty="0">
                    <a:solidFill>
                      <a:schemeClr val="bg1"/>
                    </a:solidFill>
                    <a:latin typeface="Times New Roman" panose="02020603050405020304" pitchFamily="18" charset="0"/>
                    <a:cs typeface="Times New Roman" panose="02020603050405020304" pitchFamily="18" charset="0"/>
                  </a:rPr>
                  <a:t> (de </a:t>
                </a: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r>
                          <a:rPr lang="fr-FR" sz="2800" i="1" noProof="0" smtClean="0">
                            <a:solidFill>
                              <a:schemeClr val="bg1"/>
                            </a:solidFill>
                            <a:latin typeface="Cambria Math" panose="02040503050406030204" pitchFamily="18" charset="0"/>
                            <a:cs typeface="+mj-cs"/>
                          </a:rPr>
                          <m:t>𝑞</m:t>
                        </m:r>
                      </m:e>
                      <m:sub>
                        <m:r>
                          <a:rPr lang="fr-FR" sz="2800" i="0" noProof="0" smtClean="0">
                            <a:solidFill>
                              <a:schemeClr val="bg1"/>
                            </a:solidFill>
                            <a:latin typeface="Cambria Math" panose="02040503050406030204" pitchFamily="18" charset="0"/>
                            <a:cs typeface="+mj-cs"/>
                          </a:rPr>
                          <m:t>1</m:t>
                        </m:r>
                      </m:sub>
                    </m:sSub>
                  </m:oMath>
                </a14:m>
                <a:r>
                  <a:rPr lang="fr-FR" sz="2800" noProof="0" dirty="0">
                    <a:solidFill>
                      <a:schemeClr val="bg1"/>
                    </a:solidFill>
                    <a:latin typeface="Times New Roman" panose="02020603050405020304" pitchFamily="18" charset="0"/>
                    <a:cs typeface="Times New Roman" panose="02020603050405020304" pitchFamily="18" charset="0"/>
                  </a:rPr>
                  <a:t>vers </a:t>
                </a:r>
                <a14:m>
                  <m:oMath xmlns:m="http://schemas.openxmlformats.org/officeDocument/2006/math">
                    <m:sSub>
                      <m:sSubPr>
                        <m:ctrlPr>
                          <a:rPr lang="fr-FR" sz="2800" i="1" noProof="0" smtClean="0">
                            <a:solidFill>
                              <a:schemeClr val="bg1"/>
                            </a:solidFill>
                            <a:latin typeface="Cambria Math" panose="02040503050406030204" pitchFamily="18" charset="0"/>
                            <a:cs typeface="+mj-cs"/>
                          </a:rPr>
                        </m:ctrlPr>
                      </m:sSubPr>
                      <m:e>
                        <m:r>
                          <a:rPr lang="fr-FR" sz="2800" i="1" noProof="0" smtClean="0">
                            <a:solidFill>
                              <a:schemeClr val="bg1"/>
                            </a:solidFill>
                            <a:latin typeface="Cambria Math" panose="02040503050406030204" pitchFamily="18" charset="0"/>
                            <a:cs typeface="+mj-cs"/>
                          </a:rPr>
                          <m:t>𝑞</m:t>
                        </m:r>
                      </m:e>
                      <m:sub>
                        <m:r>
                          <a:rPr lang="fr-FR" sz="2800" i="0" noProof="0" smtClean="0">
                            <a:solidFill>
                              <a:schemeClr val="bg1"/>
                            </a:solidFill>
                            <a:latin typeface="Cambria Math" panose="02040503050406030204" pitchFamily="18" charset="0"/>
                            <a:cs typeface="+mj-cs"/>
                          </a:rPr>
                          <m:t>2</m:t>
                        </m:r>
                      </m:sub>
                    </m:sSub>
                  </m:oMath>
                </a14:m>
                <a:r>
                  <a:rPr lang="fr-FR" sz="2400" noProof="0" dirty="0">
                    <a:solidFill>
                      <a:schemeClr val="bg1"/>
                    </a:solidFill>
                    <a:latin typeface="Times New Roman" panose="02020603050405020304" pitchFamily="18" charset="0"/>
                    <a:cs typeface="Times New Roman" panose="02020603050405020304" pitchFamily="18" charset="0"/>
                  </a:rPr>
                  <a:t>)</a:t>
                </a:r>
              </a:p>
            </p:txBody>
          </p:sp>
        </mc:Choice>
        <mc:Fallback xmlns="">
          <p:sp>
            <p:nvSpPr>
              <p:cNvPr id="6" name="ZoneTexte 5">
                <a:extLst>
                  <a:ext uri="{FF2B5EF4-FFF2-40B4-BE49-F238E27FC236}">
                    <a16:creationId xmlns:a16="http://schemas.microsoft.com/office/drawing/2014/main" id="{CF72E510-672B-D52A-0D98-F1D2AAAC03DA}"/>
                  </a:ext>
                </a:extLst>
              </p:cNvPr>
              <p:cNvSpPr txBox="1">
                <a:spLocks noRot="1" noChangeAspect="1" noMove="1" noResize="1" noEditPoints="1" noAdjustHandles="1" noChangeArrowheads="1" noChangeShapeType="1" noTextEdit="1"/>
              </p:cNvSpPr>
              <p:nvPr/>
            </p:nvSpPr>
            <p:spPr>
              <a:xfrm>
                <a:off x="0" y="1074233"/>
                <a:ext cx="12192000" cy="5134547"/>
              </a:xfrm>
              <a:prstGeom prst="rect">
                <a:avLst/>
              </a:prstGeom>
              <a:blipFill>
                <a:blip r:embed="rId3"/>
                <a:stretch>
                  <a:fillRect l="-1000" t="-1305" r="-350" b="-2254"/>
                </a:stretch>
              </a:blipFill>
            </p:spPr>
            <p:txBody>
              <a:bodyPr/>
              <a:lstStyle/>
              <a:p>
                <a:r>
                  <a:rPr lang="fr-DZ">
                    <a:noFill/>
                  </a:rPr>
                  <a:t> </a:t>
                </a:r>
              </a:p>
            </p:txBody>
          </p:sp>
        </mc:Fallback>
      </mc:AlternateContent>
      <p:pic>
        <p:nvPicPr>
          <p:cNvPr id="2" name="Image 1">
            <a:extLst>
              <a:ext uri="{FF2B5EF4-FFF2-40B4-BE49-F238E27FC236}">
                <a16:creationId xmlns:a16="http://schemas.microsoft.com/office/drawing/2014/main" id="{75F08B04-CCCA-6269-2A30-D0B23E940369}"/>
              </a:ext>
            </a:extLst>
          </p:cNvPr>
          <p:cNvPicPr>
            <a:picLocks noChangeAspect="1"/>
          </p:cNvPicPr>
          <p:nvPr/>
        </p:nvPicPr>
        <p:blipFill>
          <a:blip r:embed="rId4"/>
          <a:stretch>
            <a:fillRect/>
          </a:stretch>
        </p:blipFill>
        <p:spPr>
          <a:xfrm>
            <a:off x="6607630" y="2046514"/>
            <a:ext cx="5203369" cy="3211286"/>
          </a:xfrm>
          <a:prstGeom prst="rect">
            <a:avLst/>
          </a:prstGeom>
        </p:spPr>
      </p:pic>
    </p:spTree>
    <p:extLst>
      <p:ext uri="{BB962C8B-B14F-4D97-AF65-F5344CB8AC3E}">
        <p14:creationId xmlns:p14="http://schemas.microsoft.com/office/powerpoint/2010/main" val="41267853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73BDFEF8-BB56-451A-BE2D-E8992F1F4240}"/>
                  </a:ext>
                </a:extLst>
              </p:cNvPr>
              <p:cNvSpPr>
                <a:spLocks noGrp="1"/>
              </p:cNvSpPr>
              <p:nvPr>
                <p:ph type="body" idx="1"/>
              </p:nvPr>
            </p:nvSpPr>
            <p:spPr>
              <a:xfrm>
                <a:off x="1" y="0"/>
                <a:ext cx="12192000" cy="6858000"/>
              </a:xfrm>
              <a:solidFill>
                <a:srgbClr val="0070C0"/>
              </a:solidFill>
            </p:spPr>
            <p:txBody>
              <a:bodyPr>
                <a:normAutofit fontScale="92500" lnSpcReduction="10000"/>
              </a:bodyPr>
              <a:lstStyle/>
              <a:p>
                <a:pPr algn="l">
                  <a:buNone/>
                </a:pPr>
                <a:r>
                  <a:rPr lang="fr-FR" sz="2800" b="1" noProof="0" dirty="0">
                    <a:latin typeface="Times New Roman" panose="02020603050405020304" pitchFamily="18" charset="0"/>
                    <a:cs typeface="Times New Roman" panose="02020603050405020304" pitchFamily="18" charset="0"/>
                  </a:rPr>
                  <a:t>3️⃣ </a:t>
                </a:r>
                <a:r>
                  <a:rPr lang="fr-FR" sz="2800" b="1" noProof="0" dirty="0">
                    <a:solidFill>
                      <a:srgbClr val="002060"/>
                    </a:solidFill>
                    <a:latin typeface="Times New Roman" panose="02020603050405020304" pitchFamily="18" charset="0"/>
                    <a:cs typeface="Times New Roman" panose="02020603050405020304" pitchFamily="18" charset="0"/>
                  </a:rPr>
                  <a:t>Calcul de la magnitude :</a:t>
                </a:r>
                <a:endParaRPr lang="fr-FR" sz="2800" noProof="0" dirty="0">
                  <a:solidFill>
                    <a:srgbClr val="002060"/>
                  </a:solidFill>
                  <a:latin typeface="Times New Roman" panose="02020603050405020304" pitchFamily="18" charset="0"/>
                  <a:cs typeface="Times New Roman" panose="02020603050405020304" pitchFamily="18" charset="0"/>
                </a:endParaRPr>
              </a:p>
              <a:p>
                <a:pPr algn="l">
                  <a:buNone/>
                </a:pPr>
                <a:r>
                  <a:rPr lang="fr-FR" sz="2800" noProof="0" dirty="0">
                    <a:latin typeface="Times New Roman" panose="02020603050405020304" pitchFamily="18" charset="0"/>
                    <a:cs typeface="Times New Roman" panose="02020603050405020304" pitchFamily="18" charset="0"/>
                  </a:rPr>
                  <a:t>Formule du champ électrique créé par une charge ponctuelle :</a:t>
                </a:r>
              </a:p>
              <a:p>
                <a:pPr algn="l">
                  <a:buNone/>
                </a:pPr>
                <a14:m>
                  <m:oMathPara xmlns:m="http://schemas.openxmlformats.org/officeDocument/2006/math">
                    <m:oMathParaPr>
                      <m:jc m:val="centerGroup"/>
                    </m:oMathParaPr>
                    <m:oMath xmlns:m="http://schemas.openxmlformats.org/officeDocument/2006/math">
                      <m:r>
                        <a:rPr lang="fr-FR" sz="2800" i="1" noProof="0" smtClean="0">
                          <a:latin typeface="Cambria Math" panose="02040503050406030204" pitchFamily="18" charset="0"/>
                        </a:rPr>
                        <m:t>𝐸</m:t>
                      </m:r>
                      <m:r>
                        <a:rPr lang="fr-FR" sz="2800" i="0" noProof="0" smtClean="0">
                          <a:latin typeface="Cambria Math" panose="02040503050406030204" pitchFamily="18" charset="0"/>
                        </a:rPr>
                        <m:t>=</m:t>
                      </m:r>
                      <m:r>
                        <a:rPr lang="fr-FR" sz="2800" i="1" noProof="0" smtClean="0">
                          <a:latin typeface="Cambria Math" panose="02040503050406030204" pitchFamily="18" charset="0"/>
                        </a:rPr>
                        <m:t>𝑘</m:t>
                      </m:r>
                      <m:f>
                        <m:fPr>
                          <m:ctrlPr>
                            <a:rPr lang="fr-FR" sz="2800" i="1" noProof="0" smtClean="0">
                              <a:latin typeface="Cambria Math" panose="02040503050406030204" pitchFamily="18" charset="0"/>
                            </a:rPr>
                          </m:ctrlPr>
                        </m:fPr>
                        <m:num>
                          <m:r>
                            <a:rPr lang="fr-FR" sz="2800" i="0" noProof="0" smtClean="0">
                              <a:latin typeface="Cambria Math" panose="02040503050406030204" pitchFamily="18" charset="0"/>
                            </a:rPr>
                            <m:t>∣</m:t>
                          </m:r>
                          <m:r>
                            <a:rPr lang="fr-FR" sz="2800" i="1" noProof="0" smtClean="0">
                              <a:latin typeface="Cambria Math" panose="02040503050406030204" pitchFamily="18" charset="0"/>
                            </a:rPr>
                            <m:t>𝑞</m:t>
                          </m:r>
                          <m:r>
                            <a:rPr lang="fr-FR" sz="2800" i="0" noProof="0" smtClean="0">
                              <a:latin typeface="Cambria Math" panose="02040503050406030204" pitchFamily="18" charset="0"/>
                            </a:rPr>
                            <m:t>∣</m:t>
                          </m:r>
                        </m:num>
                        <m:den>
                          <m:sSup>
                            <m:sSupPr>
                              <m:ctrlPr>
                                <a:rPr lang="fr-FR" sz="2800" i="1" noProof="0" smtClean="0">
                                  <a:latin typeface="Cambria Math" panose="02040503050406030204" pitchFamily="18" charset="0"/>
                                </a:rPr>
                              </m:ctrlPr>
                            </m:sSupPr>
                            <m:e>
                              <m:r>
                                <a:rPr lang="fr-FR" sz="2800" i="1" noProof="0" smtClean="0">
                                  <a:latin typeface="Cambria Math" panose="02040503050406030204" pitchFamily="18" charset="0"/>
                                </a:rPr>
                                <m:t>𝑟</m:t>
                              </m:r>
                            </m:e>
                            <m:sup>
                              <m:r>
                                <a:rPr lang="fr-FR" sz="2800" i="0" noProof="0" smtClean="0">
                                  <a:latin typeface="Cambria Math" panose="02040503050406030204" pitchFamily="18" charset="0"/>
                                </a:rPr>
                                <m:t>2</m:t>
                              </m:r>
                            </m:sup>
                          </m:sSup>
                        </m:den>
                      </m:f>
                    </m:oMath>
                  </m:oMathPara>
                </a14:m>
                <a:endParaRPr lang="fr-FR" sz="2800" noProof="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14:m>
                  <m:oMath xmlns:m="http://schemas.openxmlformats.org/officeDocument/2006/math">
                    <m:r>
                      <a:rPr lang="fr-FR" sz="2800" i="1" noProof="0" smtClean="0">
                        <a:latin typeface="Cambria Math" panose="02040503050406030204" pitchFamily="18" charset="0"/>
                      </a:rPr>
                      <m:t>𝑘</m:t>
                    </m:r>
                    <m:r>
                      <a:rPr lang="fr-FR" sz="2800" i="0" noProof="0" smtClean="0">
                        <a:latin typeface="Cambria Math" panose="02040503050406030204" pitchFamily="18" charset="0"/>
                      </a:rPr>
                      <m:t>≈</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9 </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 </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10</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⁹ </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N</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m</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²</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C</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m:t>
                    </m:r>
                    <m:r>
                      <m:rPr>
                        <m:nor/>
                      </m:rPr>
                      <a:rPr lang="fr-FR" sz="2800" b="1" kern="100" noProof="0" smtClean="0">
                        <a:solidFill>
                          <a:srgbClr val="92D050"/>
                        </a:solidFill>
                        <a:latin typeface="Times New Roman" panose="02020603050405020304" pitchFamily="18" charset="0"/>
                        <a:ea typeface="Aptos" panose="020B0004020202020204" pitchFamily="34" charset="0"/>
                        <a:cs typeface="Times New Roman" panose="02020603050405020304" pitchFamily="18" charset="0"/>
                      </a:rPr>
                      <m:t>²</m:t>
                    </m:r>
                  </m:oMath>
                </a14:m>
                <a:endParaRPr lang="fr-FR" sz="2800" noProof="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14:m>
                  <m:oMath xmlns:m="http://schemas.openxmlformats.org/officeDocument/2006/math">
                    <m:r>
                      <a:rPr lang="fr-FR" sz="2800" i="1" noProof="0" smtClean="0">
                        <a:latin typeface="Cambria Math" panose="02040503050406030204" pitchFamily="18" charset="0"/>
                      </a:rPr>
                      <m:t>𝑟</m:t>
                    </m:r>
                  </m:oMath>
                </a14:m>
                <a:r>
                  <a:rPr lang="fr-FR" sz="2800" noProof="0" dirty="0">
                    <a:latin typeface="Times New Roman" panose="02020603050405020304" pitchFamily="18" charset="0"/>
                    <a:cs typeface="Times New Roman" panose="02020603050405020304" pitchFamily="18" charset="0"/>
                  </a:rPr>
                  <a:t>: distance de la charge au point P</a:t>
                </a:r>
              </a:p>
              <a:p>
                <a:pPr algn="l">
                  <a:buNone/>
                </a:pPr>
                <a:r>
                  <a:rPr lang="fr-FR" sz="2800" noProof="0" dirty="0">
                    <a:latin typeface="Times New Roman" panose="02020603050405020304" pitchFamily="18" charset="0"/>
                    <a:cs typeface="Times New Roman" panose="02020603050405020304" pitchFamily="18" charset="0"/>
                  </a:rPr>
                  <a:t>Ici, </a:t>
                </a:r>
                <a14:m>
                  <m:oMath xmlns:m="http://schemas.openxmlformats.org/officeDocument/2006/math">
                    <m:r>
                      <a:rPr lang="fr-FR" sz="2800" i="1" noProof="0" smtClean="0">
                        <a:latin typeface="Cambria Math" panose="02040503050406030204" pitchFamily="18" charset="0"/>
                      </a:rPr>
                      <m:t>𝑟</m:t>
                    </m:r>
                    <m:r>
                      <a:rPr lang="fr-FR" sz="2800" i="0" noProof="0" smtClean="0">
                        <a:latin typeface="Cambria Math" panose="02040503050406030204" pitchFamily="18" charset="0"/>
                      </a:rPr>
                      <m:t>=</m:t>
                    </m:r>
                    <m:r>
                      <a:rPr lang="fr-FR" sz="2800" i="1" noProof="0" smtClean="0">
                        <a:latin typeface="Cambria Math" panose="02040503050406030204" pitchFamily="18" charset="0"/>
                      </a:rPr>
                      <m:t>𝑑</m:t>
                    </m:r>
                    <m:r>
                      <a:rPr lang="fr-FR" sz="2800" i="0" noProof="0" smtClean="0">
                        <a:latin typeface="Cambria Math" panose="02040503050406030204" pitchFamily="18" charset="0"/>
                      </a:rPr>
                      <m:t>/</m:t>
                    </m:r>
                    <m:r>
                      <a:rPr lang="fr-FR" sz="2800" i="0" noProof="0" smtClean="0">
                        <a:latin typeface="Cambria Math" panose="02040503050406030204" pitchFamily="18" charset="0"/>
                      </a:rPr>
                      <m:t>2</m:t>
                    </m:r>
                  </m:oMath>
                </a14:m>
                <a:r>
                  <a:rPr lang="fr-FR" sz="2800" noProof="0" dirty="0">
                    <a:latin typeface="Times New Roman" panose="02020603050405020304" pitchFamily="18" charset="0"/>
                    <a:cs typeface="Times New Roman" panose="02020603050405020304" pitchFamily="18" charset="0"/>
                  </a:rPr>
                  <a:t>. Donc :</a:t>
                </a:r>
              </a:p>
              <a:p>
                <a:pPr algn="l">
                  <a:buNone/>
                </a:pPr>
                <a14:m>
                  <m:oMathPara xmlns:m="http://schemas.openxmlformats.org/officeDocument/2006/math">
                    <m:oMathParaPr>
                      <m:jc m:val="centerGroup"/>
                    </m:oMathParaPr>
                    <m:oMath xmlns:m="http://schemas.openxmlformats.org/officeDocument/2006/math">
                      <m:sSub>
                        <m:sSubPr>
                          <m:ctrlPr>
                            <a:rPr lang="fr-FR" sz="2800" i="1" noProof="0" smtClean="0">
                              <a:latin typeface="Cambria Math" panose="02040503050406030204" pitchFamily="18" charset="0"/>
                            </a:rPr>
                          </m:ctrlPr>
                        </m:sSubPr>
                        <m:e>
                          <m:r>
                            <a:rPr lang="fr-FR" sz="2800" i="1" noProof="0" smtClean="0">
                              <a:latin typeface="Cambria Math" panose="02040503050406030204" pitchFamily="18" charset="0"/>
                            </a:rPr>
                            <m:t>𝐸</m:t>
                          </m:r>
                        </m:e>
                        <m:sub>
                          <m:r>
                            <a:rPr lang="fr-FR" sz="2800" i="0" noProof="0" smtClean="0">
                              <a:latin typeface="Cambria Math" panose="02040503050406030204" pitchFamily="18" charset="0"/>
                            </a:rPr>
                            <m:t>1</m:t>
                          </m:r>
                        </m:sub>
                      </m:sSub>
                      <m:r>
                        <a:rPr lang="fr-FR" sz="2800" i="0" noProof="0" smtClean="0">
                          <a:latin typeface="Cambria Math" panose="02040503050406030204" pitchFamily="18" charset="0"/>
                        </a:rPr>
                        <m:t>=</m:t>
                      </m:r>
                      <m:r>
                        <a:rPr lang="fr-FR" sz="2800" i="1" noProof="0" smtClean="0">
                          <a:latin typeface="Cambria Math" panose="02040503050406030204" pitchFamily="18" charset="0"/>
                        </a:rPr>
                        <m:t>𝑘</m:t>
                      </m:r>
                      <m:f>
                        <m:fPr>
                          <m:ctrlPr>
                            <a:rPr lang="fr-FR" sz="2800" i="1" noProof="0" smtClean="0">
                              <a:latin typeface="Cambria Math" panose="02040503050406030204" pitchFamily="18" charset="0"/>
                            </a:rPr>
                          </m:ctrlPr>
                        </m:fPr>
                        <m:num>
                          <m:r>
                            <a:rPr lang="fr-FR" sz="2800" i="0" noProof="0" smtClean="0">
                              <a:latin typeface="Cambria Math" panose="02040503050406030204" pitchFamily="18" charset="0"/>
                            </a:rPr>
                            <m:t>2</m:t>
                          </m:r>
                          <m:r>
                            <a:rPr lang="fr-FR" sz="2800" i="0" noProof="0" smtClean="0">
                              <a:latin typeface="Cambria Math" panose="02040503050406030204" pitchFamily="18" charset="0"/>
                            </a:rPr>
                            <m:t>×</m:t>
                          </m:r>
                          <m:sSup>
                            <m:sSupPr>
                              <m:ctrlPr>
                                <a:rPr lang="fr-FR" sz="2800" i="1" noProof="0" smtClean="0">
                                  <a:latin typeface="Cambria Math" panose="02040503050406030204" pitchFamily="18" charset="0"/>
                                </a:rPr>
                              </m:ctrlPr>
                            </m:sSupPr>
                            <m:e>
                              <m:r>
                                <a:rPr lang="fr-FR" sz="2800" i="0" noProof="0" smtClean="0">
                                  <a:latin typeface="Cambria Math" panose="02040503050406030204" pitchFamily="18" charset="0"/>
                                </a:rPr>
                                <m:t>10</m:t>
                              </m:r>
                            </m:e>
                            <m:sup>
                              <m:r>
                                <a:rPr lang="fr-FR" sz="2800" i="0" noProof="0" smtClean="0">
                                  <a:latin typeface="Cambria Math" panose="02040503050406030204" pitchFamily="18" charset="0"/>
                                </a:rPr>
                                <m:t>−</m:t>
                              </m:r>
                              <m:r>
                                <a:rPr lang="fr-FR" sz="2800" i="0" noProof="0" smtClean="0">
                                  <a:latin typeface="Cambria Math" panose="02040503050406030204" pitchFamily="18" charset="0"/>
                                </a:rPr>
                                <m:t>6</m:t>
                              </m:r>
                            </m:sup>
                          </m:sSup>
                        </m:num>
                        <m:den>
                          <m:d>
                            <m:dPr>
                              <m:endChr m:val=""/>
                              <m:ctrlPr>
                                <a:rPr lang="fr-FR" sz="2800" i="1" noProof="0" smtClean="0">
                                  <a:latin typeface="Cambria Math" panose="02040503050406030204" pitchFamily="18" charset="0"/>
                                </a:rPr>
                              </m:ctrlPr>
                            </m:dPr>
                            <m:e>
                              <m:r>
                                <a:rPr lang="fr-FR" sz="2800" i="1" noProof="0" smtClean="0">
                                  <a:latin typeface="Cambria Math" panose="02040503050406030204" pitchFamily="18" charset="0"/>
                                </a:rPr>
                                <m:t>𝑑</m:t>
                              </m:r>
                              <m:r>
                                <a:rPr lang="fr-FR" sz="2800" i="0" noProof="0" smtClean="0">
                                  <a:latin typeface="Cambria Math" panose="02040503050406030204" pitchFamily="18" charset="0"/>
                                </a:rPr>
                                <m:t>/</m:t>
                              </m:r>
                              <m:r>
                                <a:rPr lang="fr-FR" sz="2800" i="0" noProof="0" smtClean="0">
                                  <a:latin typeface="Cambria Math" panose="02040503050406030204" pitchFamily="18" charset="0"/>
                                </a:rPr>
                                <m:t>2</m:t>
                              </m:r>
                              <m:sSup>
                                <m:sSupPr>
                                  <m:ctrlPr>
                                    <a:rPr lang="fr-FR" sz="2800" i="1" noProof="0" smtClean="0">
                                      <a:latin typeface="Cambria Math" panose="02040503050406030204" pitchFamily="18" charset="0"/>
                                    </a:rPr>
                                  </m:ctrlPr>
                                </m:sSupPr>
                                <m:e>
                                  <m:d>
                                    <m:dPr>
                                      <m:begChr m:val=""/>
                                      <m:endChr m:val=""/>
                                      <m:ctrlPr>
                                        <a:rPr lang="fr-FR" sz="2800" i="1" noProof="0" smtClean="0">
                                          <a:latin typeface="Cambria Math" panose="02040503050406030204" pitchFamily="18" charset="0"/>
                                        </a:rPr>
                                      </m:ctrlPr>
                                    </m:dPr>
                                    <m:e>
                                      <m:r>
                                        <a:rPr lang="fr-FR" sz="2800" i="0" noProof="0" smtClean="0">
                                          <a:latin typeface="Cambria Math" panose="02040503050406030204" pitchFamily="18" charset="0"/>
                                        </a:rPr>
                                        <m:t>)</m:t>
                                      </m:r>
                                    </m:e>
                                  </m:d>
                                </m:e>
                                <m:sup>
                                  <m:r>
                                    <a:rPr lang="fr-FR" sz="2800" i="0" noProof="0" smtClean="0">
                                      <a:latin typeface="Cambria Math" panose="02040503050406030204" pitchFamily="18" charset="0"/>
                                    </a:rPr>
                                    <m:t>2</m:t>
                                  </m:r>
                                </m:sup>
                              </m:sSup>
                            </m:e>
                          </m:d>
                        </m:den>
                      </m:f>
                      <m:r>
                        <a:rPr lang="fr-FR" sz="2800" i="0" noProof="0" smtClean="0">
                          <a:latin typeface="Cambria Math" panose="02040503050406030204" pitchFamily="18" charset="0"/>
                        </a:rPr>
                        <m:t>=</m:t>
                      </m:r>
                      <m:r>
                        <a:rPr lang="fr-FR" sz="2800" i="1" noProof="0" smtClean="0">
                          <a:latin typeface="Cambria Math" panose="02040503050406030204" pitchFamily="18" charset="0"/>
                        </a:rPr>
                        <m:t>𝑘</m:t>
                      </m:r>
                      <m:f>
                        <m:fPr>
                          <m:ctrlPr>
                            <a:rPr lang="fr-FR" sz="2800" i="1" noProof="0" smtClean="0">
                              <a:latin typeface="Cambria Math" panose="02040503050406030204" pitchFamily="18" charset="0"/>
                            </a:rPr>
                          </m:ctrlPr>
                        </m:fPr>
                        <m:num>
                          <m:r>
                            <a:rPr lang="fr-FR" sz="2800" i="0" noProof="0" smtClean="0">
                              <a:latin typeface="Cambria Math" panose="02040503050406030204" pitchFamily="18" charset="0"/>
                            </a:rPr>
                            <m:t>8</m:t>
                          </m:r>
                          <m:r>
                            <a:rPr lang="fr-FR" sz="2800" i="0" noProof="0" smtClean="0">
                              <a:latin typeface="Cambria Math" panose="02040503050406030204" pitchFamily="18" charset="0"/>
                            </a:rPr>
                            <m:t>×</m:t>
                          </m:r>
                          <m:sSup>
                            <m:sSupPr>
                              <m:ctrlPr>
                                <a:rPr lang="fr-FR" sz="2800" i="1" noProof="0" smtClean="0">
                                  <a:latin typeface="Cambria Math" panose="02040503050406030204" pitchFamily="18" charset="0"/>
                                </a:rPr>
                              </m:ctrlPr>
                            </m:sSupPr>
                            <m:e>
                              <m:r>
                                <a:rPr lang="fr-FR" sz="2800" i="0" noProof="0" smtClean="0">
                                  <a:latin typeface="Cambria Math" panose="02040503050406030204" pitchFamily="18" charset="0"/>
                                </a:rPr>
                                <m:t>10</m:t>
                              </m:r>
                            </m:e>
                            <m:sup>
                              <m:r>
                                <a:rPr lang="fr-FR" sz="2800" i="0" noProof="0" smtClean="0">
                                  <a:latin typeface="Cambria Math" panose="02040503050406030204" pitchFamily="18" charset="0"/>
                                </a:rPr>
                                <m:t>−</m:t>
                              </m:r>
                              <m:r>
                                <a:rPr lang="fr-FR" sz="2800" i="0" noProof="0" smtClean="0">
                                  <a:latin typeface="Cambria Math" panose="02040503050406030204" pitchFamily="18" charset="0"/>
                                </a:rPr>
                                <m:t>6</m:t>
                              </m:r>
                            </m:sup>
                          </m:sSup>
                        </m:num>
                        <m:den>
                          <m:sSup>
                            <m:sSupPr>
                              <m:ctrlPr>
                                <a:rPr lang="fr-FR" sz="2800" i="1" noProof="0" smtClean="0">
                                  <a:latin typeface="Cambria Math" panose="02040503050406030204" pitchFamily="18" charset="0"/>
                                </a:rPr>
                              </m:ctrlPr>
                            </m:sSupPr>
                            <m:e>
                              <m:r>
                                <a:rPr lang="fr-FR" sz="2800" i="1" noProof="0" smtClean="0">
                                  <a:latin typeface="Cambria Math" panose="02040503050406030204" pitchFamily="18" charset="0"/>
                                </a:rPr>
                                <m:t>𝑑</m:t>
                              </m:r>
                            </m:e>
                            <m:sup>
                              <m:r>
                                <a:rPr lang="fr-FR" sz="2800" i="0" noProof="0" smtClean="0">
                                  <a:latin typeface="Cambria Math" panose="02040503050406030204" pitchFamily="18" charset="0"/>
                                </a:rPr>
                                <m:t>2</m:t>
                              </m:r>
                            </m:sup>
                          </m:sSup>
                        </m:den>
                      </m:f>
                    </m:oMath>
                  </m:oMathPara>
                </a14:m>
                <a:endParaRPr lang="fr-FR" sz="2800" noProof="0" dirty="0">
                  <a:latin typeface="Times New Roman" panose="02020603050405020304" pitchFamily="18" charset="0"/>
                  <a:cs typeface="Times New Roman" panose="02020603050405020304" pitchFamily="18" charset="0"/>
                </a:endParaRPr>
              </a:p>
              <a:p>
                <a:pPr algn="l">
                  <a:buNone/>
                </a:pPr>
                <a14:m>
                  <m:oMathPara xmlns:m="http://schemas.openxmlformats.org/officeDocument/2006/math">
                    <m:oMathParaPr>
                      <m:jc m:val="centerGroup"/>
                    </m:oMathParaPr>
                    <m:oMath xmlns:m="http://schemas.openxmlformats.org/officeDocument/2006/math">
                      <m:sSub>
                        <m:sSubPr>
                          <m:ctrlPr>
                            <a:rPr lang="fr-FR" sz="2800" i="1" noProof="0" smtClean="0">
                              <a:latin typeface="Cambria Math" panose="02040503050406030204" pitchFamily="18" charset="0"/>
                            </a:rPr>
                          </m:ctrlPr>
                        </m:sSubPr>
                        <m:e>
                          <m:r>
                            <a:rPr lang="fr-FR" sz="2800" i="1" noProof="0" smtClean="0">
                              <a:latin typeface="Cambria Math" panose="02040503050406030204" pitchFamily="18" charset="0"/>
                            </a:rPr>
                            <m:t>𝐸</m:t>
                          </m:r>
                        </m:e>
                        <m:sub>
                          <m:r>
                            <a:rPr lang="fr-FR" sz="2800" i="0" noProof="0" smtClean="0">
                              <a:latin typeface="Cambria Math" panose="02040503050406030204" pitchFamily="18" charset="0"/>
                            </a:rPr>
                            <m:t>2</m:t>
                          </m:r>
                        </m:sub>
                      </m:sSub>
                      <m:r>
                        <a:rPr lang="fr-FR" sz="2800" i="0" noProof="0" smtClean="0">
                          <a:latin typeface="Cambria Math" panose="02040503050406030204" pitchFamily="18" charset="0"/>
                        </a:rPr>
                        <m:t>=</m:t>
                      </m:r>
                      <m:r>
                        <a:rPr lang="fr-FR" sz="2800" i="1" noProof="0" smtClean="0">
                          <a:latin typeface="Cambria Math" panose="02040503050406030204" pitchFamily="18" charset="0"/>
                        </a:rPr>
                        <m:t>𝑘</m:t>
                      </m:r>
                      <m:f>
                        <m:fPr>
                          <m:ctrlPr>
                            <a:rPr lang="fr-FR" sz="2800" i="1" noProof="0" smtClean="0">
                              <a:latin typeface="Cambria Math" panose="02040503050406030204" pitchFamily="18" charset="0"/>
                            </a:rPr>
                          </m:ctrlPr>
                        </m:fPr>
                        <m:num>
                          <m:r>
                            <a:rPr lang="fr-FR" sz="2800" i="0" noProof="0" smtClean="0">
                              <a:latin typeface="Cambria Math" panose="02040503050406030204" pitchFamily="18" charset="0"/>
                            </a:rPr>
                            <m:t>3</m:t>
                          </m:r>
                          <m:r>
                            <a:rPr lang="fr-FR" sz="2800" i="0" noProof="0" smtClean="0">
                              <a:latin typeface="Cambria Math" panose="02040503050406030204" pitchFamily="18" charset="0"/>
                            </a:rPr>
                            <m:t>×</m:t>
                          </m:r>
                          <m:sSup>
                            <m:sSupPr>
                              <m:ctrlPr>
                                <a:rPr lang="fr-FR" sz="2800" i="1" noProof="0" smtClean="0">
                                  <a:latin typeface="Cambria Math" panose="02040503050406030204" pitchFamily="18" charset="0"/>
                                </a:rPr>
                              </m:ctrlPr>
                            </m:sSupPr>
                            <m:e>
                              <m:r>
                                <a:rPr lang="fr-FR" sz="2800" i="0" noProof="0" smtClean="0">
                                  <a:latin typeface="Cambria Math" panose="02040503050406030204" pitchFamily="18" charset="0"/>
                                </a:rPr>
                                <m:t>10</m:t>
                              </m:r>
                            </m:e>
                            <m:sup>
                              <m:r>
                                <a:rPr lang="fr-FR" sz="2800" i="0" noProof="0" smtClean="0">
                                  <a:latin typeface="Cambria Math" panose="02040503050406030204" pitchFamily="18" charset="0"/>
                                </a:rPr>
                                <m:t>−</m:t>
                              </m:r>
                              <m:r>
                                <a:rPr lang="fr-FR" sz="2800" i="0" noProof="0" smtClean="0">
                                  <a:latin typeface="Cambria Math" panose="02040503050406030204" pitchFamily="18" charset="0"/>
                                </a:rPr>
                                <m:t>6</m:t>
                              </m:r>
                            </m:sup>
                          </m:sSup>
                        </m:num>
                        <m:den>
                          <m:d>
                            <m:dPr>
                              <m:endChr m:val=""/>
                              <m:ctrlPr>
                                <a:rPr lang="fr-FR" sz="2800" i="1" noProof="0" smtClean="0">
                                  <a:latin typeface="Cambria Math" panose="02040503050406030204" pitchFamily="18" charset="0"/>
                                </a:rPr>
                              </m:ctrlPr>
                            </m:dPr>
                            <m:e>
                              <m:r>
                                <a:rPr lang="fr-FR" sz="2800" i="1" noProof="0" smtClean="0">
                                  <a:latin typeface="Cambria Math" panose="02040503050406030204" pitchFamily="18" charset="0"/>
                                </a:rPr>
                                <m:t>𝑑</m:t>
                              </m:r>
                              <m:r>
                                <a:rPr lang="fr-FR" sz="2800" i="0" noProof="0" smtClean="0">
                                  <a:latin typeface="Cambria Math" panose="02040503050406030204" pitchFamily="18" charset="0"/>
                                </a:rPr>
                                <m:t>/</m:t>
                              </m:r>
                              <m:r>
                                <a:rPr lang="fr-FR" sz="2800" i="0" noProof="0" smtClean="0">
                                  <a:latin typeface="Cambria Math" panose="02040503050406030204" pitchFamily="18" charset="0"/>
                                </a:rPr>
                                <m:t>2</m:t>
                              </m:r>
                              <m:sSup>
                                <m:sSupPr>
                                  <m:ctrlPr>
                                    <a:rPr lang="fr-FR" sz="2800" i="1" noProof="0" smtClean="0">
                                      <a:latin typeface="Cambria Math" panose="02040503050406030204" pitchFamily="18" charset="0"/>
                                    </a:rPr>
                                  </m:ctrlPr>
                                </m:sSupPr>
                                <m:e>
                                  <m:d>
                                    <m:dPr>
                                      <m:begChr m:val=""/>
                                      <m:endChr m:val=""/>
                                      <m:ctrlPr>
                                        <a:rPr lang="fr-FR" sz="2800" i="1" noProof="0" smtClean="0">
                                          <a:latin typeface="Cambria Math" panose="02040503050406030204" pitchFamily="18" charset="0"/>
                                        </a:rPr>
                                      </m:ctrlPr>
                                    </m:dPr>
                                    <m:e>
                                      <m:r>
                                        <a:rPr lang="fr-FR" sz="2800" i="0" noProof="0" smtClean="0">
                                          <a:latin typeface="Cambria Math" panose="02040503050406030204" pitchFamily="18" charset="0"/>
                                        </a:rPr>
                                        <m:t>)</m:t>
                                      </m:r>
                                    </m:e>
                                  </m:d>
                                </m:e>
                                <m:sup>
                                  <m:r>
                                    <a:rPr lang="fr-FR" sz="2800" i="0" noProof="0" smtClean="0">
                                      <a:latin typeface="Cambria Math" panose="02040503050406030204" pitchFamily="18" charset="0"/>
                                    </a:rPr>
                                    <m:t>2</m:t>
                                  </m:r>
                                </m:sup>
                              </m:sSup>
                            </m:e>
                          </m:d>
                        </m:den>
                      </m:f>
                      <m:r>
                        <a:rPr lang="fr-FR" sz="2800" i="0" noProof="0" smtClean="0">
                          <a:latin typeface="Cambria Math" panose="02040503050406030204" pitchFamily="18" charset="0"/>
                        </a:rPr>
                        <m:t>=</m:t>
                      </m:r>
                      <m:r>
                        <a:rPr lang="fr-FR" sz="2800" i="1" noProof="0" smtClean="0">
                          <a:latin typeface="Cambria Math" panose="02040503050406030204" pitchFamily="18" charset="0"/>
                        </a:rPr>
                        <m:t>𝑘</m:t>
                      </m:r>
                      <m:f>
                        <m:fPr>
                          <m:ctrlPr>
                            <a:rPr lang="fr-FR" sz="2800" i="1" noProof="0" smtClean="0">
                              <a:latin typeface="Cambria Math" panose="02040503050406030204" pitchFamily="18" charset="0"/>
                            </a:rPr>
                          </m:ctrlPr>
                        </m:fPr>
                        <m:num>
                          <m:r>
                            <a:rPr lang="fr-FR" sz="2800" i="0" noProof="0" smtClean="0">
                              <a:latin typeface="Cambria Math" panose="02040503050406030204" pitchFamily="18" charset="0"/>
                            </a:rPr>
                            <m:t>12</m:t>
                          </m:r>
                          <m:r>
                            <a:rPr lang="fr-FR" sz="2800" i="0" noProof="0" smtClean="0">
                              <a:latin typeface="Cambria Math" panose="02040503050406030204" pitchFamily="18" charset="0"/>
                            </a:rPr>
                            <m:t>×</m:t>
                          </m:r>
                          <m:sSup>
                            <m:sSupPr>
                              <m:ctrlPr>
                                <a:rPr lang="fr-FR" sz="2800" i="1" noProof="0" smtClean="0">
                                  <a:latin typeface="Cambria Math" panose="02040503050406030204" pitchFamily="18" charset="0"/>
                                </a:rPr>
                              </m:ctrlPr>
                            </m:sSupPr>
                            <m:e>
                              <m:r>
                                <a:rPr lang="fr-FR" sz="2800" i="0" noProof="0" smtClean="0">
                                  <a:latin typeface="Cambria Math" panose="02040503050406030204" pitchFamily="18" charset="0"/>
                                </a:rPr>
                                <m:t>10</m:t>
                              </m:r>
                            </m:e>
                            <m:sup>
                              <m:r>
                                <a:rPr lang="fr-FR" sz="2800" i="0" noProof="0" smtClean="0">
                                  <a:latin typeface="Cambria Math" panose="02040503050406030204" pitchFamily="18" charset="0"/>
                                </a:rPr>
                                <m:t>−</m:t>
                              </m:r>
                              <m:r>
                                <a:rPr lang="fr-FR" sz="2800" i="0" noProof="0" smtClean="0">
                                  <a:latin typeface="Cambria Math" panose="02040503050406030204" pitchFamily="18" charset="0"/>
                                </a:rPr>
                                <m:t>6</m:t>
                              </m:r>
                            </m:sup>
                          </m:sSup>
                        </m:num>
                        <m:den>
                          <m:sSup>
                            <m:sSupPr>
                              <m:ctrlPr>
                                <a:rPr lang="fr-FR" sz="2800" i="1" noProof="0" smtClean="0">
                                  <a:latin typeface="Cambria Math" panose="02040503050406030204" pitchFamily="18" charset="0"/>
                                </a:rPr>
                              </m:ctrlPr>
                            </m:sSupPr>
                            <m:e>
                              <m:r>
                                <a:rPr lang="fr-FR" sz="2800" i="1" noProof="0" smtClean="0">
                                  <a:latin typeface="Cambria Math" panose="02040503050406030204" pitchFamily="18" charset="0"/>
                                </a:rPr>
                                <m:t>𝑑</m:t>
                              </m:r>
                            </m:e>
                            <m:sup>
                              <m:r>
                                <a:rPr lang="fr-FR" sz="2800" i="0" noProof="0" smtClean="0">
                                  <a:latin typeface="Cambria Math" panose="02040503050406030204" pitchFamily="18" charset="0"/>
                                </a:rPr>
                                <m:t>2</m:t>
                              </m:r>
                            </m:sup>
                          </m:sSup>
                        </m:den>
                      </m:f>
                    </m:oMath>
                  </m:oMathPara>
                </a14:m>
                <a:br>
                  <a:rPr lang="fr-FR" sz="2800" noProof="0" dirty="0">
                    <a:latin typeface="Times New Roman" panose="02020603050405020304" pitchFamily="18" charset="0"/>
                    <a:cs typeface="Times New Roman" panose="02020603050405020304" pitchFamily="18" charset="0"/>
                  </a:rPr>
                </a:br>
                <a:r>
                  <a:rPr lang="fr-FR" sz="2800" b="1" noProof="0" dirty="0">
                    <a:latin typeface="Times New Roman" panose="02020603050405020304" pitchFamily="18" charset="0"/>
                    <a:cs typeface="Times New Roman" panose="02020603050405020304" pitchFamily="18" charset="0"/>
                  </a:rPr>
                  <a:t>4️⃣ </a:t>
                </a:r>
                <a:r>
                  <a:rPr lang="fr-FR" sz="2800" b="1" noProof="0" dirty="0">
                    <a:solidFill>
                      <a:srgbClr val="002060"/>
                    </a:solidFill>
                    <a:latin typeface="Times New Roman" panose="02020603050405020304" pitchFamily="18" charset="0"/>
                    <a:cs typeface="Times New Roman" panose="02020603050405020304" pitchFamily="18" charset="0"/>
                  </a:rPr>
                  <a:t>Champ total :</a:t>
                </a:r>
                <a:endParaRPr lang="fr-FR" sz="2800" noProof="0" dirty="0">
                  <a:solidFill>
                    <a:srgbClr val="002060"/>
                  </a:solidFill>
                  <a:latin typeface="Times New Roman" panose="02020603050405020304" pitchFamily="18" charset="0"/>
                  <a:cs typeface="Times New Roman" panose="02020603050405020304" pitchFamily="18" charset="0"/>
                </a:endParaRPr>
              </a:p>
              <a:p>
                <a:pPr algn="l">
                  <a:buNone/>
                </a:pPr>
                <a14:m>
                  <m:oMathPara xmlns:m="http://schemas.openxmlformats.org/officeDocument/2006/math">
                    <m:oMathParaPr>
                      <m:jc m:val="centerGroup"/>
                    </m:oMathParaPr>
                    <m:oMath xmlns:m="http://schemas.openxmlformats.org/officeDocument/2006/math">
                      <m:sSub>
                        <m:sSubPr>
                          <m:ctrlPr>
                            <a:rPr lang="fr-FR" sz="2800" i="1" noProof="0" smtClean="0">
                              <a:latin typeface="Cambria Math" panose="02040503050406030204" pitchFamily="18" charset="0"/>
                            </a:rPr>
                          </m:ctrlPr>
                        </m:sSubPr>
                        <m:e>
                          <m:r>
                            <a:rPr lang="fr-FR" sz="2800" i="1" noProof="0" smtClean="0">
                              <a:latin typeface="Cambria Math" panose="02040503050406030204" pitchFamily="18" charset="0"/>
                            </a:rPr>
                            <m:t>𝐸</m:t>
                          </m:r>
                        </m:e>
                        <m:sub>
                          <m:r>
                            <m:rPr>
                              <m:nor/>
                            </m:rPr>
                            <a:rPr lang="fr-FR" sz="2800" b="0" i="1" noProof="0" smtClean="0">
                              <a:latin typeface="Times New Roman" panose="02020603050405020304" pitchFamily="18" charset="0"/>
                              <a:cs typeface="Times New Roman" panose="02020603050405020304" pitchFamily="18" charset="0"/>
                            </a:rPr>
                            <m:t>total</m:t>
                          </m:r>
                        </m:sub>
                      </m:sSub>
                      <m:r>
                        <a:rPr lang="fr-FR" sz="2800" b="0" i="0" noProof="0" smtClean="0">
                          <a:latin typeface="Cambria Math" panose="02040503050406030204" pitchFamily="18" charset="0"/>
                        </a:rPr>
                        <m:t>=</m:t>
                      </m:r>
                      <m:sSub>
                        <m:sSubPr>
                          <m:ctrlPr>
                            <a:rPr lang="fr-FR" sz="2800" b="0" i="1" noProof="0" smtClean="0">
                              <a:latin typeface="Cambria Math" panose="02040503050406030204" pitchFamily="18" charset="0"/>
                            </a:rPr>
                          </m:ctrlPr>
                        </m:sSubPr>
                        <m:e>
                          <m:r>
                            <a:rPr lang="fr-FR" sz="2800" b="0" i="1" noProof="0" smtClean="0">
                              <a:latin typeface="Cambria Math" panose="02040503050406030204" pitchFamily="18" charset="0"/>
                            </a:rPr>
                            <m:t>𝐸</m:t>
                          </m:r>
                        </m:e>
                        <m:sub>
                          <m:r>
                            <a:rPr lang="fr-FR" sz="2800" b="0" i="0" noProof="0" smtClean="0">
                              <a:latin typeface="Cambria Math" panose="02040503050406030204" pitchFamily="18" charset="0"/>
                            </a:rPr>
                            <m:t>1</m:t>
                          </m:r>
                        </m:sub>
                      </m:sSub>
                      <m:r>
                        <a:rPr lang="fr-FR" sz="2800" b="0" i="0" noProof="0" smtClean="0">
                          <a:latin typeface="Cambria Math" panose="02040503050406030204" pitchFamily="18" charset="0"/>
                        </a:rPr>
                        <m:t>+</m:t>
                      </m:r>
                      <m:sSub>
                        <m:sSubPr>
                          <m:ctrlPr>
                            <a:rPr lang="fr-FR" sz="2800" b="0" i="1" noProof="0" smtClean="0">
                              <a:latin typeface="Cambria Math" panose="02040503050406030204" pitchFamily="18" charset="0"/>
                            </a:rPr>
                          </m:ctrlPr>
                        </m:sSubPr>
                        <m:e>
                          <m:r>
                            <a:rPr lang="fr-FR" sz="2800" b="0" i="1" noProof="0" smtClean="0">
                              <a:latin typeface="Cambria Math" panose="02040503050406030204" pitchFamily="18" charset="0"/>
                            </a:rPr>
                            <m:t>𝐸</m:t>
                          </m:r>
                        </m:e>
                        <m:sub>
                          <m:r>
                            <a:rPr lang="fr-FR" sz="2800" b="0" i="0" noProof="0" smtClean="0">
                              <a:latin typeface="Cambria Math" panose="02040503050406030204" pitchFamily="18" charset="0"/>
                            </a:rPr>
                            <m:t>2</m:t>
                          </m:r>
                        </m:sub>
                      </m:sSub>
                      <m:r>
                        <a:rPr lang="fr-FR" sz="2800" b="0" i="0" noProof="0" smtClean="0">
                          <a:latin typeface="Cambria Math" panose="02040503050406030204" pitchFamily="18" charset="0"/>
                        </a:rPr>
                        <m:t>=</m:t>
                      </m:r>
                      <m:r>
                        <a:rPr lang="fr-FR" sz="2800" b="0" i="1" noProof="0" smtClean="0">
                          <a:latin typeface="Cambria Math" panose="02040503050406030204" pitchFamily="18" charset="0"/>
                        </a:rPr>
                        <m:t>𝑘</m:t>
                      </m:r>
                      <m:f>
                        <m:fPr>
                          <m:ctrlPr>
                            <a:rPr lang="fr-FR" sz="2800" b="0" i="1" noProof="0" smtClean="0">
                              <a:latin typeface="Cambria Math" panose="02040503050406030204" pitchFamily="18" charset="0"/>
                            </a:rPr>
                          </m:ctrlPr>
                        </m:fPr>
                        <m:num>
                          <m:r>
                            <a:rPr lang="fr-FR" sz="2800" b="0" i="0" noProof="0" smtClean="0">
                              <a:latin typeface="Cambria Math" panose="02040503050406030204" pitchFamily="18" charset="0"/>
                            </a:rPr>
                            <m:t>8</m:t>
                          </m:r>
                          <m:r>
                            <a:rPr lang="fr-FR" sz="2800" b="0" i="0" noProof="0" smtClean="0">
                              <a:latin typeface="Cambria Math" panose="02040503050406030204" pitchFamily="18" charset="0"/>
                            </a:rPr>
                            <m:t>×</m:t>
                          </m:r>
                          <m:sSup>
                            <m:sSupPr>
                              <m:ctrlPr>
                                <a:rPr lang="fr-FR" sz="2800" b="0" i="1" noProof="0" smtClean="0">
                                  <a:latin typeface="Cambria Math" panose="02040503050406030204" pitchFamily="18" charset="0"/>
                                </a:rPr>
                              </m:ctrlPr>
                            </m:sSupPr>
                            <m:e>
                              <m:r>
                                <a:rPr lang="fr-FR" sz="2800" b="0" i="0" noProof="0" smtClean="0">
                                  <a:latin typeface="Cambria Math" panose="02040503050406030204" pitchFamily="18" charset="0"/>
                                </a:rPr>
                                <m:t>10</m:t>
                              </m:r>
                            </m:e>
                            <m:sup>
                              <m:r>
                                <a:rPr lang="fr-FR" sz="2800" b="0" i="0" noProof="0" smtClean="0">
                                  <a:latin typeface="Cambria Math" panose="02040503050406030204" pitchFamily="18" charset="0"/>
                                </a:rPr>
                                <m:t>−</m:t>
                              </m:r>
                              <m:r>
                                <a:rPr lang="fr-FR" sz="2800" b="0" i="0" noProof="0" smtClean="0">
                                  <a:latin typeface="Cambria Math" panose="02040503050406030204" pitchFamily="18" charset="0"/>
                                </a:rPr>
                                <m:t>6</m:t>
                              </m:r>
                            </m:sup>
                          </m:sSup>
                          <m:r>
                            <a:rPr lang="fr-FR" sz="2800" b="0" i="0" noProof="0" smtClean="0">
                              <a:latin typeface="Cambria Math" panose="02040503050406030204" pitchFamily="18" charset="0"/>
                            </a:rPr>
                            <m:t>+</m:t>
                          </m:r>
                          <m:r>
                            <a:rPr lang="fr-FR" sz="2800" b="0" i="0" noProof="0" smtClean="0">
                              <a:latin typeface="Cambria Math" panose="02040503050406030204" pitchFamily="18" charset="0"/>
                            </a:rPr>
                            <m:t>12</m:t>
                          </m:r>
                          <m:r>
                            <a:rPr lang="fr-FR" sz="2800" b="0" i="0" noProof="0" smtClean="0">
                              <a:latin typeface="Cambria Math" panose="02040503050406030204" pitchFamily="18" charset="0"/>
                            </a:rPr>
                            <m:t>×</m:t>
                          </m:r>
                          <m:sSup>
                            <m:sSupPr>
                              <m:ctrlPr>
                                <a:rPr lang="fr-FR" sz="2800" b="0" i="1" noProof="0" smtClean="0">
                                  <a:latin typeface="Cambria Math" panose="02040503050406030204" pitchFamily="18" charset="0"/>
                                </a:rPr>
                              </m:ctrlPr>
                            </m:sSupPr>
                            <m:e>
                              <m:r>
                                <a:rPr lang="fr-FR" sz="2800" b="0" i="0" noProof="0" smtClean="0">
                                  <a:latin typeface="Cambria Math" panose="02040503050406030204" pitchFamily="18" charset="0"/>
                                </a:rPr>
                                <m:t>10</m:t>
                              </m:r>
                            </m:e>
                            <m:sup>
                              <m:r>
                                <a:rPr lang="fr-FR" sz="2800" b="0" i="0" noProof="0" smtClean="0">
                                  <a:latin typeface="Cambria Math" panose="02040503050406030204" pitchFamily="18" charset="0"/>
                                </a:rPr>
                                <m:t>−</m:t>
                              </m:r>
                              <m:r>
                                <a:rPr lang="fr-FR" sz="2800" b="0" i="0" noProof="0" smtClean="0">
                                  <a:latin typeface="Cambria Math" panose="02040503050406030204" pitchFamily="18" charset="0"/>
                                </a:rPr>
                                <m:t>6</m:t>
                              </m:r>
                            </m:sup>
                          </m:sSup>
                        </m:num>
                        <m:den>
                          <m:sSup>
                            <m:sSupPr>
                              <m:ctrlPr>
                                <a:rPr lang="fr-FR" sz="2800" b="0" i="1" noProof="0" smtClean="0">
                                  <a:latin typeface="Cambria Math" panose="02040503050406030204" pitchFamily="18" charset="0"/>
                                </a:rPr>
                              </m:ctrlPr>
                            </m:sSupPr>
                            <m:e>
                              <m:r>
                                <a:rPr lang="fr-FR" sz="2800" b="0" i="1" noProof="0" smtClean="0">
                                  <a:latin typeface="Cambria Math" panose="02040503050406030204" pitchFamily="18" charset="0"/>
                                </a:rPr>
                                <m:t>𝑑</m:t>
                              </m:r>
                            </m:e>
                            <m:sup>
                              <m:r>
                                <a:rPr lang="fr-FR" sz="2800" b="0" i="0" noProof="0" smtClean="0">
                                  <a:latin typeface="Cambria Math" panose="02040503050406030204" pitchFamily="18" charset="0"/>
                                </a:rPr>
                                <m:t>2</m:t>
                              </m:r>
                            </m:sup>
                          </m:sSup>
                        </m:den>
                      </m:f>
                      <m:r>
                        <a:rPr lang="fr-FR" sz="2800" b="0" i="0" noProof="0" smtClean="0">
                          <a:latin typeface="Cambria Math" panose="02040503050406030204" pitchFamily="18" charset="0"/>
                        </a:rPr>
                        <m:t>=</m:t>
                      </m:r>
                      <m:r>
                        <a:rPr lang="fr-FR" sz="2800" b="0" i="1" noProof="0" smtClean="0">
                          <a:latin typeface="Cambria Math" panose="02040503050406030204" pitchFamily="18" charset="0"/>
                        </a:rPr>
                        <m:t>𝑘</m:t>
                      </m:r>
                      <m:f>
                        <m:fPr>
                          <m:ctrlPr>
                            <a:rPr lang="fr-FR" sz="2800" b="0" i="1" noProof="0" smtClean="0">
                              <a:latin typeface="Cambria Math" panose="02040503050406030204" pitchFamily="18" charset="0"/>
                            </a:rPr>
                          </m:ctrlPr>
                        </m:fPr>
                        <m:num>
                          <m:r>
                            <a:rPr lang="fr-FR" sz="2800" b="0" i="0" noProof="0" smtClean="0">
                              <a:latin typeface="Cambria Math" panose="02040503050406030204" pitchFamily="18" charset="0"/>
                            </a:rPr>
                            <m:t>20</m:t>
                          </m:r>
                          <m:r>
                            <a:rPr lang="fr-FR" sz="2800" b="0" i="0" noProof="0" smtClean="0">
                              <a:latin typeface="Cambria Math" panose="02040503050406030204" pitchFamily="18" charset="0"/>
                            </a:rPr>
                            <m:t>×</m:t>
                          </m:r>
                          <m:sSup>
                            <m:sSupPr>
                              <m:ctrlPr>
                                <a:rPr lang="fr-FR" sz="2800" b="0" i="1" noProof="0" smtClean="0">
                                  <a:latin typeface="Cambria Math" panose="02040503050406030204" pitchFamily="18" charset="0"/>
                                </a:rPr>
                              </m:ctrlPr>
                            </m:sSupPr>
                            <m:e>
                              <m:r>
                                <a:rPr lang="fr-FR" sz="2800" b="0" i="0" noProof="0" smtClean="0">
                                  <a:latin typeface="Cambria Math" panose="02040503050406030204" pitchFamily="18" charset="0"/>
                                </a:rPr>
                                <m:t>10</m:t>
                              </m:r>
                            </m:e>
                            <m:sup>
                              <m:r>
                                <a:rPr lang="fr-FR" sz="2800" b="0" i="0" noProof="0" smtClean="0">
                                  <a:latin typeface="Cambria Math" panose="02040503050406030204" pitchFamily="18" charset="0"/>
                                </a:rPr>
                                <m:t>−</m:t>
                              </m:r>
                              <m:r>
                                <a:rPr lang="fr-FR" sz="2800" b="0" i="0" noProof="0" smtClean="0">
                                  <a:latin typeface="Cambria Math" panose="02040503050406030204" pitchFamily="18" charset="0"/>
                                </a:rPr>
                                <m:t>6</m:t>
                              </m:r>
                            </m:sup>
                          </m:sSup>
                        </m:num>
                        <m:den>
                          <m:sSup>
                            <m:sSupPr>
                              <m:ctrlPr>
                                <a:rPr lang="fr-FR" sz="2800" b="0" i="1" noProof="0" smtClean="0">
                                  <a:latin typeface="Cambria Math" panose="02040503050406030204" pitchFamily="18" charset="0"/>
                                </a:rPr>
                              </m:ctrlPr>
                            </m:sSupPr>
                            <m:e>
                              <m:r>
                                <a:rPr lang="fr-FR" sz="2800" b="0" i="1" noProof="0" smtClean="0">
                                  <a:latin typeface="Cambria Math" panose="02040503050406030204" pitchFamily="18" charset="0"/>
                                </a:rPr>
                                <m:t>𝑑</m:t>
                              </m:r>
                            </m:e>
                            <m:sup>
                              <m:r>
                                <a:rPr lang="fr-FR" sz="2800" b="0" i="0" noProof="0" smtClean="0">
                                  <a:latin typeface="Cambria Math" panose="02040503050406030204" pitchFamily="18" charset="0"/>
                                </a:rPr>
                                <m:t>2</m:t>
                              </m:r>
                            </m:sup>
                          </m:sSup>
                        </m:den>
                      </m:f>
                    </m:oMath>
                  </m:oMathPara>
                </a14:m>
                <a:endParaRPr lang="fr-FR" sz="2800" b="0" noProof="0" dirty="0">
                  <a:latin typeface="Times New Roman" panose="02020603050405020304" pitchFamily="18" charset="0"/>
                  <a:cs typeface="Times New Roman" panose="02020603050405020304" pitchFamily="18" charset="0"/>
                </a:endParaRPr>
              </a:p>
              <a:p>
                <a:pPr algn="l">
                  <a:buNone/>
                </a:pPr>
                <a:r>
                  <a:rPr lang="fr-FR" sz="2800" b="1" noProof="0" dirty="0">
                    <a:latin typeface="Times New Roman" panose="02020603050405020304" pitchFamily="18" charset="0"/>
                    <a:cs typeface="Times New Roman" panose="02020603050405020304" pitchFamily="18" charset="0"/>
                  </a:rPr>
                  <a:t>Direction :</a:t>
                </a:r>
                <a:r>
                  <a:rPr lang="fr-FR" sz="2800" noProof="0" dirty="0">
                    <a:latin typeface="Times New Roman" panose="02020603050405020304" pitchFamily="18" charset="0"/>
                    <a:cs typeface="Times New Roman" panose="02020603050405020304" pitchFamily="18" charset="0"/>
                  </a:rPr>
                  <a:t> de </a:t>
                </a:r>
                <a14:m>
                  <m:oMath xmlns:m="http://schemas.openxmlformats.org/officeDocument/2006/math">
                    <m:sSub>
                      <m:sSubPr>
                        <m:ctrlPr>
                          <a:rPr lang="fr-FR" sz="2800" i="1" noProof="0" smtClean="0">
                            <a:latin typeface="Cambria Math" panose="02040503050406030204" pitchFamily="18" charset="0"/>
                          </a:rPr>
                        </m:ctrlPr>
                      </m:sSubPr>
                      <m:e>
                        <m:r>
                          <a:rPr lang="fr-FR" sz="2800" i="1" noProof="0" smtClean="0">
                            <a:latin typeface="Cambria Math" panose="02040503050406030204" pitchFamily="18" charset="0"/>
                          </a:rPr>
                          <m:t>𝑞</m:t>
                        </m:r>
                      </m:e>
                      <m:sub>
                        <m:r>
                          <a:rPr lang="fr-FR" sz="2800" i="0" noProof="0" smtClean="0">
                            <a:latin typeface="Cambria Math" panose="02040503050406030204" pitchFamily="18" charset="0"/>
                          </a:rPr>
                          <m:t>1</m:t>
                        </m:r>
                      </m:sub>
                    </m:sSub>
                  </m:oMath>
                </a14:m>
                <a:r>
                  <a:rPr lang="fr-FR" sz="2800" noProof="0" dirty="0">
                    <a:latin typeface="Times New Roman" panose="02020603050405020304" pitchFamily="18" charset="0"/>
                    <a:cs typeface="Times New Roman" panose="02020603050405020304" pitchFamily="18" charset="0"/>
                  </a:rPr>
                  <a:t>vers </a:t>
                </a:r>
                <a14:m>
                  <m:oMath xmlns:m="http://schemas.openxmlformats.org/officeDocument/2006/math">
                    <m:sSub>
                      <m:sSubPr>
                        <m:ctrlPr>
                          <a:rPr lang="fr-FR" sz="2800" i="1" noProof="0" smtClean="0">
                            <a:latin typeface="Cambria Math" panose="02040503050406030204" pitchFamily="18" charset="0"/>
                          </a:rPr>
                        </m:ctrlPr>
                      </m:sSubPr>
                      <m:e>
                        <m:r>
                          <a:rPr lang="fr-FR" sz="2800" i="1" noProof="0" smtClean="0">
                            <a:latin typeface="Cambria Math" panose="02040503050406030204" pitchFamily="18" charset="0"/>
                          </a:rPr>
                          <m:t>𝑞</m:t>
                        </m:r>
                      </m:e>
                      <m:sub>
                        <m:r>
                          <a:rPr lang="fr-FR" sz="2800" i="0" noProof="0" smtClean="0">
                            <a:latin typeface="Cambria Math" panose="02040503050406030204" pitchFamily="18" charset="0"/>
                          </a:rPr>
                          <m:t>2</m:t>
                        </m:r>
                      </m:sub>
                    </m:sSub>
                  </m:oMath>
                </a14:m>
                <a:endParaRPr lang="fr-FR" sz="2800" noProof="0" dirty="0">
                  <a:latin typeface="Times New Roman" panose="02020603050405020304" pitchFamily="18" charset="0"/>
                  <a:cs typeface="Times New Roman" panose="02020603050405020304" pitchFamily="18" charset="0"/>
                </a:endParaRPr>
              </a:p>
              <a:p>
                <a:endParaRPr lang="fr-FR" noProof="0" dirty="0"/>
              </a:p>
            </p:txBody>
          </p:sp>
        </mc:Choice>
        <mc:Fallback xmlns="">
          <p:sp>
            <p:nvSpPr>
              <p:cNvPr id="3" name="Espace réservé du texte 2">
                <a:extLst>
                  <a:ext uri="{FF2B5EF4-FFF2-40B4-BE49-F238E27FC236}">
                    <a16:creationId xmlns:a16="http://schemas.microsoft.com/office/drawing/2014/main" id="{73BDFEF8-BB56-451A-BE2D-E8992F1F4240}"/>
                  </a:ext>
                </a:extLst>
              </p:cNvPr>
              <p:cNvSpPr>
                <a:spLocks noGrp="1" noRot="1" noChangeAspect="1" noMove="1" noResize="1" noEditPoints="1" noAdjustHandles="1" noChangeArrowheads="1" noChangeShapeType="1" noTextEdit="1"/>
              </p:cNvSpPr>
              <p:nvPr>
                <p:ph type="body" idx="1"/>
              </p:nvPr>
            </p:nvSpPr>
            <p:spPr>
              <a:xfrm>
                <a:off x="1" y="0"/>
                <a:ext cx="12192000" cy="6858000"/>
              </a:xfrm>
              <a:blipFill>
                <a:blip r:embed="rId2"/>
                <a:stretch>
                  <a:fillRect t="-89"/>
                </a:stretch>
              </a:blipFill>
            </p:spPr>
            <p:txBody>
              <a:bodyPr/>
              <a:lstStyle/>
              <a:p>
                <a:r>
                  <a:rPr lang="fr-DZ">
                    <a:noFill/>
                  </a:rPr>
                  <a:t> </a:t>
                </a:r>
              </a:p>
            </p:txBody>
          </p:sp>
        </mc:Fallback>
      </mc:AlternateContent>
    </p:spTree>
    <p:extLst>
      <p:ext uri="{BB962C8B-B14F-4D97-AF65-F5344CB8AC3E}">
        <p14:creationId xmlns:p14="http://schemas.microsoft.com/office/powerpoint/2010/main" val="2681541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78D49D02-D58D-720E-A84E-75A40C10C20A}"/>
                  </a:ext>
                </a:extLst>
              </p:cNvPr>
              <p:cNvSpPr>
                <a:spLocks noGrp="1"/>
              </p:cNvSpPr>
              <p:nvPr>
                <p:ph type="title"/>
              </p:nvPr>
            </p:nvSpPr>
            <p:spPr>
              <a:xfrm>
                <a:off x="685800" y="261258"/>
                <a:ext cx="10829066" cy="1371599"/>
              </a:xfrm>
            </p:spPr>
            <p:txBody>
              <a:bodyPr>
                <a:normAutofit/>
              </a:bodyPr>
              <a:lstStyle/>
              <a:p>
                <a:pPr algn="ctr"/>
                <a:r>
                  <a:rPr lang="fr-FR" b="1"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t>B.1 Le potentiel électrostatique V</a:t>
                </a:r>
                <a:br>
                  <a:rPr lang="fr-FR" sz="3200"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r>
                  <a:rPr lang="fr-FR" sz="3600" dirty="0">
                    <a:solidFill>
                      <a:srgbClr val="FFFFFF"/>
                    </a:solidFill>
                    <a:latin typeface="Segoe UI Emoji" panose="020B0502040204020203" pitchFamily="34" charset="0"/>
                    <a:ea typeface="Times New Roman" panose="02020603050405020304" pitchFamily="18" charset="0"/>
                    <a:cs typeface="Segoe UI Emoji" panose="020B0502040204020203" pitchFamily="34" charset="0"/>
                  </a:rPr>
                  <a:t>👉 </a:t>
                </a:r>
                <a:r>
                  <a:rPr lang="fr-FR" b="1" noProof="0" dirty="0">
                    <a:solidFill>
                      <a:srgbClr val="00B050"/>
                    </a:solidFill>
                    <a:latin typeface="Times New Roman" panose="02020603050405020304" pitchFamily="18" charset="0"/>
                    <a:cs typeface="Times New Roman" panose="02020603050405020304" pitchFamily="18" charset="0"/>
                  </a:rPr>
                  <a:t>The </a:t>
                </a:r>
                <a:r>
                  <a:rPr lang="fr-FR" b="1" noProof="0" dirty="0" err="1">
                    <a:solidFill>
                      <a:srgbClr val="00B050"/>
                    </a:solidFill>
                    <a:latin typeface="Times New Roman" panose="02020603050405020304" pitchFamily="18" charset="0"/>
                    <a:cs typeface="Times New Roman" panose="02020603050405020304" pitchFamily="18" charset="0"/>
                  </a:rPr>
                  <a:t>Electrostatic</a:t>
                </a:r>
                <a:r>
                  <a:rPr lang="fr-FR" b="1" noProof="0" dirty="0">
                    <a:solidFill>
                      <a:srgbClr val="00B050"/>
                    </a:solidFill>
                    <a:latin typeface="Times New Roman" panose="02020603050405020304" pitchFamily="18" charset="0"/>
                    <a:cs typeface="Times New Roman" panose="02020603050405020304" pitchFamily="18" charset="0"/>
                  </a:rPr>
                  <a:t> </a:t>
                </a:r>
                <a:r>
                  <a:rPr lang="fr-FR" b="1" noProof="0" dirty="0" err="1">
                    <a:solidFill>
                      <a:srgbClr val="00B050"/>
                    </a:solidFill>
                    <a:latin typeface="Times New Roman" panose="02020603050405020304" pitchFamily="18" charset="0"/>
                    <a:cs typeface="Times New Roman" panose="02020603050405020304" pitchFamily="18" charset="0"/>
                  </a:rPr>
                  <a:t>Potential</a:t>
                </a:r>
                <a:r>
                  <a:rPr lang="fr-FR" b="1" noProof="0" dirty="0">
                    <a:solidFill>
                      <a:srgbClr val="00B050"/>
                    </a:solidFill>
                    <a:latin typeface="Times New Roman" panose="02020603050405020304" pitchFamily="18" charset="0"/>
                    <a:cs typeface="Times New Roman" panose="02020603050405020304" pitchFamily="18" charset="0"/>
                  </a:rPr>
                  <a:t> </a:t>
                </a:r>
                <a14:m>
                  <m:oMath xmlns:m="http://schemas.openxmlformats.org/officeDocument/2006/math">
                    <m:r>
                      <a:rPr lang="fr-FR" b="1" i="1" noProof="0" smtClean="0">
                        <a:solidFill>
                          <a:srgbClr val="00B050"/>
                        </a:solidFill>
                        <a:latin typeface="Cambria Math" panose="02040503050406030204" pitchFamily="18" charset="0"/>
                      </a:rPr>
                      <m:t>𝑽</m:t>
                    </m:r>
                  </m:oMath>
                </a14:m>
                <a:endParaRPr lang="fr-FR" noProof="0" dirty="0">
                  <a:solidFill>
                    <a:srgbClr val="FFC000"/>
                  </a:solidFill>
                </a:endParaRPr>
              </a:p>
            </p:txBody>
          </p:sp>
        </mc:Choice>
        <mc:Fallback xmlns="">
          <p:sp>
            <p:nvSpPr>
              <p:cNvPr id="2" name="Titre 1">
                <a:extLst>
                  <a:ext uri="{FF2B5EF4-FFF2-40B4-BE49-F238E27FC236}">
                    <a16:creationId xmlns:a16="http://schemas.microsoft.com/office/drawing/2014/main" id="{78D49D02-D58D-720E-A84E-75A40C10C20A}"/>
                  </a:ext>
                </a:extLst>
              </p:cNvPr>
              <p:cNvSpPr>
                <a:spLocks noGrp="1" noRot="1" noChangeAspect="1" noMove="1" noResize="1" noEditPoints="1" noAdjustHandles="1" noChangeArrowheads="1" noChangeShapeType="1" noTextEdit="1"/>
              </p:cNvSpPr>
              <p:nvPr>
                <p:ph type="title"/>
              </p:nvPr>
            </p:nvSpPr>
            <p:spPr>
              <a:xfrm>
                <a:off x="685800" y="261258"/>
                <a:ext cx="10829066" cy="1371599"/>
              </a:xfrm>
              <a:blipFill>
                <a:blip r:embed="rId2"/>
                <a:stretch>
                  <a:fillRect b="-20444"/>
                </a:stretch>
              </a:blipFill>
            </p:spPr>
            <p:txBody>
              <a:bodyPr/>
              <a:lstStyle/>
              <a:p>
                <a:r>
                  <a:rPr lang="fr-FR">
                    <a:noFill/>
                  </a:rPr>
                  <a:t> </a:t>
                </a:r>
              </a:p>
            </p:txBody>
          </p:sp>
        </mc:Fallback>
      </mc:AlternateContent>
      <p:sp>
        <p:nvSpPr>
          <p:cNvPr id="3" name="Espace réservé du texte 2">
            <a:extLst>
              <a:ext uri="{FF2B5EF4-FFF2-40B4-BE49-F238E27FC236}">
                <a16:creationId xmlns:a16="http://schemas.microsoft.com/office/drawing/2014/main" id="{1E6EE7CD-4329-B245-C522-EDA65F72DDEB}"/>
              </a:ext>
            </a:extLst>
          </p:cNvPr>
          <p:cNvSpPr>
            <a:spLocks noGrp="1"/>
          </p:cNvSpPr>
          <p:nvPr>
            <p:ph type="body" idx="1"/>
          </p:nvPr>
        </p:nvSpPr>
        <p:spPr>
          <a:xfrm>
            <a:off x="261256" y="1981200"/>
            <a:ext cx="11253611" cy="4528457"/>
          </a:xfrm>
          <a:solidFill>
            <a:srgbClr val="C00000"/>
          </a:solidFill>
          <a:scene3d>
            <a:camera prst="orthographicFront"/>
            <a:lightRig rig="threePt" dir="t"/>
          </a:scene3d>
          <a:sp3d>
            <a:bevelT w="114300" prst="artDeco"/>
          </a:sp3d>
        </p:spPr>
        <p:txBody>
          <a:bodyPr>
            <a:normAutofit/>
          </a:bodyPr>
          <a:lstStyle/>
          <a:p>
            <a:pPr algn="l">
              <a:lnSpc>
                <a:spcPct val="115000"/>
              </a:lnSpc>
              <a:spcAft>
                <a:spcPts val="800"/>
              </a:spcAft>
              <a:buNone/>
            </a:pPr>
            <a:r>
              <a:rPr lang="fr-FR" sz="2400" kern="100" noProof="0" dirty="0">
                <a:effectLst/>
                <a:latin typeface="Times New Roman" panose="02020603050405020304" pitchFamily="18" charset="0"/>
                <a:ea typeface="Aptos" panose="020B0004020202020204" pitchFamily="34" charset="0"/>
                <a:cs typeface="Arial" panose="020B0604020202020204" pitchFamily="34" charset="0"/>
              </a:rPr>
              <a:t>	</a:t>
            </a:r>
            <a:r>
              <a:rPr kumimoji="0" lang="fr-FR" sz="3600" b="1" i="0" u="none" strike="noStrike" kern="100" cap="none" spc="0" normalizeH="0" baseline="0" noProof="0" dirty="0">
                <a:ln>
                  <a:noFill/>
                </a:ln>
                <a:solidFill>
                  <a:srgbClr val="FFFF00"/>
                </a:solidFill>
                <a:effectLst/>
                <a:uLnTx/>
                <a:uFillTx/>
                <a:latin typeface="Times New Roman" panose="02020603050405020304" pitchFamily="18" charset="0"/>
                <a:ea typeface="Aptos" panose="020B0004020202020204" pitchFamily="34" charset="0"/>
                <a:cs typeface="Arial" panose="020B0604020202020204" pitchFamily="34" charset="0"/>
                <a:sym typeface="Century Gothic"/>
              </a:rPr>
              <a:t>1. Définition : </a:t>
            </a:r>
            <a:r>
              <a:rPr lang="fr-FR" sz="2800" kern="100" noProof="0" dirty="0">
                <a:effectLst/>
                <a:latin typeface="Times New Roman" panose="02020603050405020304" pitchFamily="18" charset="0"/>
                <a:ea typeface="Aptos" panose="020B0004020202020204" pitchFamily="34" charset="0"/>
                <a:cs typeface="Arial" panose="020B0604020202020204" pitchFamily="34" charset="0"/>
              </a:rPr>
              <a:t>Le potentiel électrostatique V en un point de l’espace est </a:t>
            </a:r>
            <a:r>
              <a:rPr lang="fr-FR" sz="2800" b="1" kern="100" noProof="0" dirty="0">
                <a:solidFill>
                  <a:srgbClr val="FFFF00"/>
                </a:solidFill>
                <a:effectLst/>
                <a:latin typeface="Times New Roman" panose="02020603050405020304" pitchFamily="18" charset="0"/>
                <a:ea typeface="Aptos" panose="020B0004020202020204" pitchFamily="34" charset="0"/>
                <a:cs typeface="Arial" panose="020B0604020202020204" pitchFamily="34" charset="0"/>
              </a:rPr>
              <a:t>l’énergie potentielle électrique U(Ep)</a:t>
            </a:r>
            <a:r>
              <a:rPr lang="fr-FR" sz="2800" kern="100" noProof="0" dirty="0">
                <a:solidFill>
                  <a:srgbClr val="FFFF00"/>
                </a:solidFill>
                <a:effectLst/>
                <a:latin typeface="Times New Roman" panose="02020603050405020304" pitchFamily="18" charset="0"/>
                <a:ea typeface="Aptos" panose="020B0004020202020204" pitchFamily="34" charset="0"/>
                <a:cs typeface="Arial" panose="020B0604020202020204" pitchFamily="34" charset="0"/>
              </a:rPr>
              <a:t> </a:t>
            </a:r>
            <a:r>
              <a:rPr lang="fr-FR" sz="2800" kern="100" noProof="0" dirty="0">
                <a:effectLst/>
                <a:latin typeface="Times New Roman" panose="02020603050405020304" pitchFamily="18" charset="0"/>
                <a:ea typeface="Aptos" panose="020B0004020202020204" pitchFamily="34" charset="0"/>
                <a:cs typeface="Arial" panose="020B0604020202020204" pitchFamily="34" charset="0"/>
              </a:rPr>
              <a:t>par unité de charge qu’aurait une charge test q</a:t>
            </a:r>
            <a:r>
              <a:rPr lang="fr-FR" sz="2800" kern="100" baseline="-25000" noProof="0" dirty="0">
                <a:effectLst/>
                <a:latin typeface="Times New Roman" panose="02020603050405020304" pitchFamily="18" charset="0"/>
                <a:ea typeface="Aptos" panose="020B0004020202020204" pitchFamily="34" charset="0"/>
                <a:cs typeface="Arial" panose="020B0604020202020204" pitchFamily="34" charset="0"/>
              </a:rPr>
              <a:t>0</a:t>
            </a:r>
            <a:r>
              <a:rPr lang="fr-FR" sz="2800" kern="100" noProof="0" dirty="0">
                <a:effectLst/>
                <a:latin typeface="Times New Roman" panose="02020603050405020304" pitchFamily="18" charset="0"/>
                <a:ea typeface="Aptos" panose="020B0004020202020204" pitchFamily="34" charset="0"/>
                <a:cs typeface="Arial" panose="020B0604020202020204" pitchFamily="34" charset="0"/>
              </a:rPr>
              <a:t> placée en ce point :</a:t>
            </a:r>
            <a:endParaRPr lang="fr-FR" sz="2800" i="1" kern="100" noProof="0" dirty="0">
              <a:solidFill>
                <a:srgbClr val="FFC000"/>
              </a:solidFill>
              <a:effectLst/>
              <a:latin typeface="Cambria Math" panose="02040503050406030204" pitchFamily="18" charset="0"/>
              <a:ea typeface="Aptos" panose="020B0004020202020204" pitchFamily="34" charset="0"/>
              <a:cs typeface="Times New Roman" panose="02020603050405020304" pitchFamily="18" charset="0"/>
            </a:endParaRPr>
          </a:p>
          <a:p>
            <a:pPr algn="just">
              <a:lnSpc>
                <a:spcPct val="115000"/>
              </a:lnSpc>
              <a:spcAft>
                <a:spcPts val="800"/>
              </a:spcAft>
              <a:buNone/>
            </a:pP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algn="just">
              <a:lnSpc>
                <a:spcPct val="115000"/>
              </a:lnSpc>
              <a:spcAft>
                <a:spcPts val="800"/>
              </a:spcAft>
            </a:pPr>
            <a:r>
              <a:rPr lang="fr-FR" sz="2800" kern="100" noProof="0" dirty="0">
                <a:effectLst/>
                <a:latin typeface="Times New Roman" panose="02020603050405020304" pitchFamily="18" charset="0"/>
                <a:ea typeface="Aptos" panose="020B0004020202020204" pitchFamily="34" charset="0"/>
                <a:cs typeface="Arial" panose="020B0604020202020204" pitchFamily="34" charset="0"/>
              </a:rPr>
              <a:t>Où U est l’énergie potentielle électrique de la charge q</a:t>
            </a:r>
            <a:r>
              <a:rPr lang="fr-FR" sz="2800" kern="100" baseline="-25000" noProof="0" dirty="0">
                <a:effectLst/>
                <a:latin typeface="Times New Roman" panose="02020603050405020304" pitchFamily="18" charset="0"/>
                <a:ea typeface="Aptos" panose="020B0004020202020204" pitchFamily="34" charset="0"/>
                <a:cs typeface="Arial" panose="020B0604020202020204" pitchFamily="34" charset="0"/>
              </a:rPr>
              <a:t>0</a:t>
            </a:r>
            <a:r>
              <a:rPr lang="fr-FR" sz="2800" kern="100" noProof="0" dirty="0">
                <a:effectLst/>
                <a:latin typeface="Times New Roman" panose="02020603050405020304" pitchFamily="18" charset="0"/>
                <a:ea typeface="Aptos" panose="020B0004020202020204" pitchFamily="34" charset="0"/>
                <a:cs typeface="Arial" panose="020B0604020202020204" pitchFamily="34" charset="0"/>
              </a:rPr>
              <a:t>​.Unité :                     </a:t>
            </a:r>
          </a:p>
          <a:p>
            <a:pPr algn="just">
              <a:lnSpc>
                <a:spcPct val="115000"/>
              </a:lnSpc>
              <a:spcAft>
                <a:spcPts val="800"/>
              </a:spcAft>
            </a:pPr>
            <a:r>
              <a:rPr lang="fr-FR" sz="2800" kern="100" noProof="0" dirty="0">
                <a:effectLst/>
                <a:latin typeface="Times New Roman" panose="02020603050405020304" pitchFamily="18" charset="0"/>
                <a:ea typeface="Aptos" panose="020B0004020202020204" pitchFamily="34" charset="0"/>
                <a:cs typeface="Arial" panose="020B0604020202020204" pitchFamily="34" charset="0"/>
              </a:rPr>
              <a:t> volt (V) = (joule par coulomb) </a:t>
            </a:r>
            <a:r>
              <a:rPr lang="fr-FR" sz="4267" noProof="0" dirty="0">
                <a:solidFill>
                  <a:srgbClr val="FFFFFF"/>
                </a:solidFill>
                <a:latin typeface="Segoe UI Emoji" panose="020B0502040204020203" pitchFamily="34" charset="0"/>
                <a:ea typeface="Times New Roman" panose="02020603050405020304" pitchFamily="18" charset="0"/>
                <a:cs typeface="Segoe UI Emoji" panose="020B0502040204020203" pitchFamily="34" charset="0"/>
              </a:rPr>
              <a:t>👉</a:t>
            </a:r>
            <a:endParaRPr lang="fr-FR" sz="2400" b="1"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mc:AlternateContent xmlns:mc="http://schemas.openxmlformats.org/markup-compatibility/2006" xmlns:a14="http://schemas.microsoft.com/office/drawing/2010/main">
        <mc:Choice Requires="a14">
          <p:sp>
            <p:nvSpPr>
              <p:cNvPr id="4" name="Rectangle : coins arrondis 3">
                <a:extLst>
                  <a:ext uri="{FF2B5EF4-FFF2-40B4-BE49-F238E27FC236}">
                    <a16:creationId xmlns:a16="http://schemas.microsoft.com/office/drawing/2014/main" id="{17E26311-676F-382E-EEE4-7D82E44B97D8}"/>
                  </a:ext>
                </a:extLst>
              </p:cNvPr>
              <p:cNvSpPr/>
              <p:nvPr/>
            </p:nvSpPr>
            <p:spPr>
              <a:xfrm>
                <a:off x="6346371" y="5529943"/>
                <a:ext cx="2318657" cy="8817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2800"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𝟏</m:t>
                      </m:r>
                      <m:r>
                        <a:rPr lang="fr-FR" sz="2800"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𝑽</m:t>
                      </m:r>
                      <m:r>
                        <a:rPr lang="fr-FR" sz="2800"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m:t>
                      </m:r>
                      <m:r>
                        <a:rPr lang="fr-FR" sz="2800"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𝟏</m:t>
                      </m:r>
                      <m:f>
                        <m:fPr>
                          <m:ctrlPr>
                            <a:rPr lang="fr-FR" sz="2800"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fPr>
                        <m:num>
                          <m:r>
                            <a:rPr lang="fr-FR" sz="2800"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𝑱</m:t>
                          </m:r>
                        </m:num>
                        <m:den>
                          <m:r>
                            <a:rPr lang="fr-FR" sz="2800"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𝑪</m:t>
                          </m:r>
                        </m:den>
                      </m:f>
                    </m:oMath>
                  </m:oMathPara>
                </a14:m>
                <a:endParaRPr lang="fr-FR" noProof="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mc:Choice>
        <mc:Fallback xmlns="">
          <p:sp>
            <p:nvSpPr>
              <p:cNvPr id="4" name="Rectangle : coins arrondis 3">
                <a:extLst>
                  <a:ext uri="{FF2B5EF4-FFF2-40B4-BE49-F238E27FC236}">
                    <a16:creationId xmlns:a16="http://schemas.microsoft.com/office/drawing/2014/main" id="{17E26311-676F-382E-EEE4-7D82E44B97D8}"/>
                  </a:ext>
                </a:extLst>
              </p:cNvPr>
              <p:cNvSpPr>
                <a:spLocks noRot="1" noChangeAspect="1" noMove="1" noResize="1" noEditPoints="1" noAdjustHandles="1" noChangeArrowheads="1" noChangeShapeType="1" noTextEdit="1"/>
              </p:cNvSpPr>
              <p:nvPr/>
            </p:nvSpPr>
            <p:spPr>
              <a:xfrm>
                <a:off x="6346371" y="5529943"/>
                <a:ext cx="2318657" cy="881743"/>
              </a:xfrm>
              <a:prstGeom prst="roundRect">
                <a:avLst/>
              </a:prstGeom>
              <a:blipFill>
                <a:blip r:embed="rId3"/>
                <a:stretch>
                  <a:fillRect/>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5" name="Rectangle : coins arrondis 4">
                <a:extLst>
                  <a:ext uri="{FF2B5EF4-FFF2-40B4-BE49-F238E27FC236}">
                    <a16:creationId xmlns:a16="http://schemas.microsoft.com/office/drawing/2014/main" id="{7D5F405A-CCDD-80C5-2DB2-F66FDE0D3894}"/>
                  </a:ext>
                </a:extLst>
              </p:cNvPr>
              <p:cNvSpPr/>
              <p:nvPr/>
            </p:nvSpPr>
            <p:spPr>
              <a:xfrm>
                <a:off x="6770914" y="3429000"/>
                <a:ext cx="2090057" cy="11321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28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𝑽</m:t>
                      </m:r>
                      <m:r>
                        <a:rPr lang="fr-FR" sz="28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m:t>
                      </m:r>
                      <m:f>
                        <m:fPr>
                          <m:ctrlPr>
                            <a:rPr lang="fr-FR" sz="28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fPr>
                        <m:num>
                          <m:r>
                            <a:rPr lang="fr-FR" sz="28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𝑼</m:t>
                          </m:r>
                        </m:num>
                        <m:den>
                          <m:sSub>
                            <m:sSubPr>
                              <m:ctrlPr>
                                <a:rPr lang="fr-FR" sz="28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𝒒</m:t>
                              </m:r>
                            </m:e>
                            <m:sub>
                              <m:r>
                                <a:rPr lang="fr-FR" sz="2800" b="1" i="1" kern="100" noProof="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Aptos" panose="020B0004020202020204" pitchFamily="34" charset="0"/>
                                  <a:cs typeface="Times New Roman" panose="02020603050405020304" pitchFamily="18" charset="0"/>
                                </a:rPr>
                                <m:t>𝟎</m:t>
                              </m:r>
                            </m:sub>
                          </m:sSub>
                        </m:den>
                      </m:f>
                    </m:oMath>
                  </m:oMathPara>
                </a14:m>
                <a:endParaRPr lang="fr-FR" b="1" noProof="0" dirty="0"/>
              </a:p>
            </p:txBody>
          </p:sp>
        </mc:Choice>
        <mc:Fallback xmlns="">
          <p:sp>
            <p:nvSpPr>
              <p:cNvPr id="5" name="Rectangle : coins arrondis 4">
                <a:extLst>
                  <a:ext uri="{FF2B5EF4-FFF2-40B4-BE49-F238E27FC236}">
                    <a16:creationId xmlns:a16="http://schemas.microsoft.com/office/drawing/2014/main" id="{7D5F405A-CCDD-80C5-2DB2-F66FDE0D3894}"/>
                  </a:ext>
                </a:extLst>
              </p:cNvPr>
              <p:cNvSpPr>
                <a:spLocks noRot="1" noChangeAspect="1" noMove="1" noResize="1" noEditPoints="1" noAdjustHandles="1" noChangeArrowheads="1" noChangeShapeType="1" noTextEdit="1"/>
              </p:cNvSpPr>
              <p:nvPr/>
            </p:nvSpPr>
            <p:spPr>
              <a:xfrm>
                <a:off x="6770914" y="3429000"/>
                <a:ext cx="2090057" cy="1132115"/>
              </a:xfrm>
              <a:prstGeom prst="roundRect">
                <a:avLst/>
              </a:prstGeom>
              <a:blipFill>
                <a:blip r:embed="rId4"/>
                <a:stretch>
                  <a:fillRect/>
                </a:stretch>
              </a:blipFill>
            </p:spPr>
            <p:txBody>
              <a:bodyPr/>
              <a:lstStyle/>
              <a:p>
                <a:r>
                  <a:rPr lang="fr-DZ">
                    <a:noFill/>
                  </a:rPr>
                  <a:t> </a:t>
                </a:r>
              </a:p>
            </p:txBody>
          </p:sp>
        </mc:Fallback>
      </mc:AlternateContent>
    </p:spTree>
    <p:extLst>
      <p:ext uri="{BB962C8B-B14F-4D97-AF65-F5344CB8AC3E}">
        <p14:creationId xmlns:p14="http://schemas.microsoft.com/office/powerpoint/2010/main" val="25787329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4FAC48-CFCC-F4EB-B3B1-56AE79F3EC7B}"/>
              </a:ext>
            </a:extLst>
          </p:cNvPr>
          <p:cNvSpPr>
            <a:spLocks noGrp="1"/>
          </p:cNvSpPr>
          <p:nvPr>
            <p:ph type="title"/>
          </p:nvPr>
        </p:nvSpPr>
        <p:spPr>
          <a:xfrm>
            <a:off x="957943" y="740229"/>
            <a:ext cx="10820400" cy="1208314"/>
          </a:xfrm>
        </p:spPr>
        <p:txBody>
          <a:bodyPr>
            <a:normAutofit fontScale="90000"/>
          </a:bodyPr>
          <a:lstStyle/>
          <a:p>
            <a:pPr algn="ctr"/>
            <a:br>
              <a:rPr lang="fr-FR" b="1"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br>
            <a:br>
              <a:rPr lang="fr-FR" b="1"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br>
            <a:r>
              <a:rPr lang="fr-FR" b="1"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t>B.2 L’énergie potentielle 👉</a:t>
            </a:r>
            <a:r>
              <a:rPr lang="fr-FR" b="1" noProof="0" dirty="0" err="1">
                <a:solidFill>
                  <a:srgbClr val="00B050"/>
                </a:solidFill>
                <a:latin typeface="Times New Roman" panose="02020603050405020304" pitchFamily="18" charset="0"/>
                <a:cs typeface="Times New Roman" panose="02020603050405020304" pitchFamily="18" charset="0"/>
              </a:rPr>
              <a:t>Potential</a:t>
            </a:r>
            <a:r>
              <a:rPr lang="fr-FR" b="1" noProof="0" dirty="0">
                <a:solidFill>
                  <a:srgbClr val="00B050"/>
                </a:solidFill>
                <a:latin typeface="Times New Roman" panose="02020603050405020304" pitchFamily="18" charset="0"/>
                <a:cs typeface="Times New Roman" panose="02020603050405020304" pitchFamily="18" charset="0"/>
              </a:rPr>
              <a:t> Energy</a:t>
            </a:r>
            <a:br>
              <a:rPr lang="fr-FR"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endParaRPr lang="fr-FR" noProof="0" dirty="0">
              <a:solidFill>
                <a:srgbClr val="FFC000"/>
              </a:solidFill>
            </a:endParaRPr>
          </a:p>
        </p:txBody>
      </p:sp>
      <p:sp>
        <p:nvSpPr>
          <p:cNvPr id="3" name="Espace réservé du texte 2">
            <a:extLst>
              <a:ext uri="{FF2B5EF4-FFF2-40B4-BE49-F238E27FC236}">
                <a16:creationId xmlns:a16="http://schemas.microsoft.com/office/drawing/2014/main" id="{221777C8-4FBB-A13A-E3F1-6BBD1C3DDC0D}"/>
              </a:ext>
            </a:extLst>
          </p:cNvPr>
          <p:cNvSpPr>
            <a:spLocks noGrp="1"/>
          </p:cNvSpPr>
          <p:nvPr>
            <p:ph type="body" idx="1"/>
          </p:nvPr>
        </p:nvSpPr>
        <p:spPr>
          <a:xfrm>
            <a:off x="422324" y="2035628"/>
            <a:ext cx="11356019" cy="3581400"/>
          </a:xfrm>
          <a:solidFill>
            <a:srgbClr val="C00000"/>
          </a:solidFill>
          <a:scene3d>
            <a:camera prst="orthographicFront"/>
            <a:lightRig rig="threePt" dir="t"/>
          </a:scene3d>
          <a:sp3d>
            <a:bevelT w="114300" prst="artDeco"/>
          </a:sp3d>
        </p:spPr>
        <p:txBody>
          <a:bodyPr>
            <a:normAutofit lnSpcReduction="10000"/>
          </a:bodyPr>
          <a:lstStyle/>
          <a:p>
            <a:pPr algn="l">
              <a:lnSpc>
                <a:spcPct val="115000"/>
              </a:lnSpc>
              <a:spcAft>
                <a:spcPts val="800"/>
              </a:spcAft>
              <a:buNone/>
            </a:pPr>
            <a:r>
              <a:rPr lang="fr-FR" sz="28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2800" kern="0" noProof="0" dirty="0">
                <a:solidFill>
                  <a:srgbClr val="FFC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800" b="1" kern="0" noProof="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Définition : </a:t>
            </a:r>
            <a:r>
              <a:rPr lang="fr-FR" sz="28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L’énergie potentielle électrique </a:t>
            </a:r>
            <a:r>
              <a:rPr lang="fr-FR" sz="2800" b="1" kern="0" noProof="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U</a:t>
            </a:r>
            <a:r>
              <a:rPr lang="fr-FR" sz="28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 d’une charge </a:t>
            </a:r>
            <a:r>
              <a:rPr lang="fr-FR" sz="2800" b="1" kern="0" noProof="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q</a:t>
            </a:r>
            <a:r>
              <a:rPr lang="fr-FR" sz="2800" kern="0" noProof="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8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placée</a:t>
            </a:r>
          </a:p>
          <a:p>
            <a:pPr algn="l">
              <a:lnSpc>
                <a:spcPct val="115000"/>
              </a:lnSpc>
              <a:spcAft>
                <a:spcPts val="800"/>
              </a:spcAft>
              <a:buNone/>
            </a:pPr>
            <a:r>
              <a:rPr lang="fr-FR" sz="28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dans un champ électrique créé par une autre charge ou un système de</a:t>
            </a:r>
          </a:p>
          <a:p>
            <a:pPr algn="l">
              <a:lnSpc>
                <a:spcPct val="115000"/>
              </a:lnSpc>
              <a:spcAft>
                <a:spcPts val="800"/>
              </a:spcAft>
              <a:buNone/>
            </a:pPr>
            <a:r>
              <a:rPr lang="fr-FR" sz="28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charges, est </a:t>
            </a:r>
            <a:r>
              <a:rPr lang="fr-FR" sz="2800" u="sng" kern="0" noProof="0" dirty="0">
                <a:effectLst/>
                <a:latin typeface="Times New Roman" panose="02020603050405020304" pitchFamily="18" charset="0"/>
                <a:ea typeface="Times New Roman" panose="02020603050405020304" pitchFamily="18" charset="0"/>
                <a:cs typeface="Times New Roman" panose="02020603050405020304" pitchFamily="18" charset="0"/>
              </a:rPr>
              <a:t>le travail </a:t>
            </a:r>
            <a:r>
              <a:rPr lang="fr-FR" sz="28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que doit fournir une force extérieure pour déplacer</a:t>
            </a:r>
          </a:p>
          <a:p>
            <a:pPr algn="l">
              <a:lnSpc>
                <a:spcPct val="115000"/>
              </a:lnSpc>
              <a:spcAft>
                <a:spcPts val="800"/>
              </a:spcAft>
              <a:buNone/>
            </a:pPr>
            <a:r>
              <a:rPr lang="fr-FR" sz="28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cette charge de référence (souvent l’infini) jusqu’à sa position actuelle, sans</a:t>
            </a:r>
          </a:p>
          <a:p>
            <a:pPr algn="l">
              <a:lnSpc>
                <a:spcPct val="115000"/>
              </a:lnSpc>
              <a:spcAft>
                <a:spcPts val="800"/>
              </a:spcAft>
              <a:buNone/>
            </a:pPr>
            <a:r>
              <a:rPr lang="fr-FR" sz="28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accélération.</a:t>
            </a:r>
            <a:endParaRPr lang="fr-FR" sz="28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fr-FR" noProof="0" dirty="0"/>
          </a:p>
        </p:txBody>
      </p:sp>
    </p:spTree>
    <p:extLst>
      <p:ext uri="{BB962C8B-B14F-4D97-AF65-F5344CB8AC3E}">
        <p14:creationId xmlns:p14="http://schemas.microsoft.com/office/powerpoint/2010/main" val="1876770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A1BC79-97EA-A95E-810E-12F63DEABA97}"/>
              </a:ext>
            </a:extLst>
          </p:cNvPr>
          <p:cNvSpPr>
            <a:spLocks noGrp="1"/>
          </p:cNvSpPr>
          <p:nvPr>
            <p:ph type="ctrTitle"/>
          </p:nvPr>
        </p:nvSpPr>
        <p:spPr>
          <a:xfrm>
            <a:off x="1371600" y="598714"/>
            <a:ext cx="9448800" cy="961566"/>
          </a:xfrm>
        </p:spPr>
        <p:txBody>
          <a:bodyPr>
            <a:normAutofit/>
          </a:bodyPr>
          <a:lstStyle/>
          <a:p>
            <a:r>
              <a:rPr lang="fr-FR" sz="3600" b="1" kern="100" noProof="0" dirty="0">
                <a:solidFill>
                  <a:srgbClr val="FFC000"/>
                </a:solidFill>
                <a:latin typeface="Times New Roman" panose="02020603050405020304" pitchFamily="18" charset="0"/>
                <a:ea typeface="Aptos" panose="020B0004020202020204" pitchFamily="34" charset="0"/>
                <a:cs typeface="Arial" panose="020B0604020202020204" pitchFamily="34" charset="0"/>
              </a:rPr>
              <a:t>l’énergie potentielle</a:t>
            </a:r>
            <a:r>
              <a:rPr kumimoji="0" lang="fr-FR" sz="3600" b="1" i="0" u="none" strike="noStrike" kern="100" cap="none" spc="0" normalizeH="0" baseline="0" noProof="0" dirty="0">
                <a:ln>
                  <a:noFill/>
                </a:ln>
                <a:solidFill>
                  <a:srgbClr val="FFC000"/>
                </a:solidFill>
                <a:effectLst/>
                <a:uLnTx/>
                <a:uFillTx/>
                <a:latin typeface="Times New Roman" panose="02020603050405020304" pitchFamily="18" charset="0"/>
                <a:ea typeface="Aptos" panose="020B0004020202020204" pitchFamily="34" charset="0"/>
                <a:cs typeface="Arial" panose="020B0604020202020204" pitchFamily="34" charset="0"/>
                <a:sym typeface="Century Gothic"/>
              </a:rPr>
              <a:t> 👉</a:t>
            </a:r>
            <a:r>
              <a:rPr kumimoji="0" lang="fr-FR" sz="3600" b="1" i="0" u="none" strike="noStrike" kern="0" cap="none" spc="0" normalizeH="0" baseline="0" noProof="0" dirty="0" err="1">
                <a:ln>
                  <a:noFill/>
                </a:ln>
                <a:solidFill>
                  <a:srgbClr val="00B050"/>
                </a:solidFill>
                <a:effectLst/>
                <a:uLnTx/>
                <a:uFillTx/>
                <a:latin typeface="Times New Roman" panose="02020603050405020304" pitchFamily="18" charset="0"/>
                <a:cs typeface="Times New Roman" panose="02020603050405020304" pitchFamily="18" charset="0"/>
                <a:sym typeface="Century Gothic"/>
              </a:rPr>
              <a:t>Potential</a:t>
            </a:r>
            <a:r>
              <a:rPr kumimoji="0" lang="fr-FR" sz="3600" b="1" i="0" u="none" strike="noStrike" kern="0" cap="none" spc="0" normalizeH="0" baseline="0" noProof="0" dirty="0">
                <a:ln>
                  <a:noFill/>
                </a:ln>
                <a:solidFill>
                  <a:srgbClr val="00B050"/>
                </a:solidFill>
                <a:effectLst/>
                <a:uLnTx/>
                <a:uFillTx/>
                <a:latin typeface="Times New Roman" panose="02020603050405020304" pitchFamily="18" charset="0"/>
                <a:cs typeface="Times New Roman" panose="02020603050405020304" pitchFamily="18" charset="0"/>
                <a:sym typeface="Century Gothic"/>
              </a:rPr>
              <a:t> Energy</a:t>
            </a:r>
            <a:endParaRPr lang="fr-FR" sz="3600" noProof="0" dirty="0"/>
          </a:p>
        </p:txBody>
      </p:sp>
      <mc:AlternateContent xmlns:mc="http://schemas.openxmlformats.org/markup-compatibility/2006" xmlns:a14="http://schemas.microsoft.com/office/drawing/2010/main">
        <mc:Choice Requires="a14">
          <p:sp>
            <p:nvSpPr>
              <p:cNvPr id="3" name="Sous-titre 2">
                <a:extLst>
                  <a:ext uri="{FF2B5EF4-FFF2-40B4-BE49-F238E27FC236}">
                    <a16:creationId xmlns:a16="http://schemas.microsoft.com/office/drawing/2014/main" id="{9E35FB35-2C6E-7272-A0B7-142B8B84EF6B}"/>
                  </a:ext>
                </a:extLst>
              </p:cNvPr>
              <p:cNvSpPr>
                <a:spLocks noGrp="1"/>
              </p:cNvSpPr>
              <p:nvPr>
                <p:ph type="subTitle" idx="1"/>
              </p:nvPr>
            </p:nvSpPr>
            <p:spPr>
              <a:xfrm>
                <a:off x="664029" y="1905000"/>
                <a:ext cx="10450285" cy="4354286"/>
              </a:xfrm>
              <a:solidFill>
                <a:schemeClr val="accent5">
                  <a:lumMod val="75000"/>
                </a:schemeClr>
              </a:solidFill>
              <a:ln w="34925">
                <a:noFill/>
              </a:ln>
              <a:effectLst>
                <a:glow rad="139700">
                  <a:schemeClr val="accent6">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a:bodyPr>
              <a:lstStyle/>
              <a:p>
                <a:pPr algn="just">
                  <a:lnSpc>
                    <a:spcPct val="115000"/>
                  </a:lnSpc>
                  <a:spcAft>
                    <a:spcPts val="800"/>
                  </a:spcAft>
                  <a:buNone/>
                </a:pPr>
                <a:r>
                  <a:rPr lang="fr-FR" sz="2600" kern="0" noProof="0" dirty="0">
                    <a:effectLst/>
                    <a:latin typeface="Times New Roman" panose="02020603050405020304" pitchFamily="18" charset="0"/>
                    <a:ea typeface="Times New Roman" panose="02020603050405020304" pitchFamily="18" charset="0"/>
                    <a:cs typeface="Arial" panose="020B0604020202020204" pitchFamily="34" charset="0"/>
                  </a:rPr>
                  <a:t>Formellement, pour une charge </a:t>
                </a:r>
                <a:r>
                  <a:rPr lang="fr-FR" sz="26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q</a:t>
                </a:r>
                <a:r>
                  <a:rPr lang="fr-FR" sz="2600" kern="0" noProof="0" dirty="0">
                    <a:effectLst/>
                    <a:latin typeface="Times New Roman" panose="02020603050405020304" pitchFamily="18" charset="0"/>
                    <a:ea typeface="Times New Roman" panose="02020603050405020304" pitchFamily="18" charset="0"/>
                    <a:cs typeface="Arial" panose="020B0604020202020204" pitchFamily="34" charset="0"/>
                  </a:rPr>
                  <a:t> dans le champ créé par une charge </a:t>
                </a:r>
                <a:r>
                  <a:rPr lang="fr-FR" sz="26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Q</a:t>
                </a:r>
                <a:r>
                  <a:rPr lang="fr-FR" sz="2600" kern="0" noProof="0"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sz="2600" kern="100" noProof="0" dirty="0">
                  <a:effectLst/>
                  <a:latin typeface="Aptos" panose="020B0004020202020204" pitchFamily="34" charset="0"/>
                  <a:ea typeface="Aptos" panose="020B0004020202020204" pitchFamily="34" charset="0"/>
                  <a:cs typeface="Arial" panose="020B0604020202020204" pitchFamily="34" charset="0"/>
                </a:endParaRPr>
              </a:p>
              <a:p>
                <a:pPr algn="just">
                  <a:lnSpc>
                    <a:spcPct val="115000"/>
                  </a:lnSpc>
                  <a:spcAft>
                    <a:spcPts val="800"/>
                  </a:spcAft>
                  <a:buNone/>
                </a:pPr>
                <a14:m>
                  <m:oMathPara xmlns:m="http://schemas.openxmlformats.org/officeDocument/2006/math">
                    <m:oMathParaPr>
                      <m:jc m:val="centerGroup"/>
                    </m:oMathParaPr>
                    <m:oMath xmlns:m="http://schemas.openxmlformats.org/officeDocument/2006/math">
                      <m:r>
                        <a:rPr lang="fr-FR" sz="3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𝑼</m:t>
                      </m:r>
                      <m:r>
                        <a:rPr lang="fr-FR" sz="3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𝒌</m:t>
                      </m:r>
                      <m:f>
                        <m:fPr>
                          <m:ctrlPr>
                            <a:rPr lang="fr-FR" sz="3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𝑸</m:t>
                          </m:r>
                          <m:r>
                            <a:rPr lang="fr-FR" sz="3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𝒒</m:t>
                          </m:r>
                        </m:num>
                        <m:den>
                          <m:r>
                            <a:rPr lang="fr-FR" sz="3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den>
                      </m:f>
                    </m:oMath>
                  </m:oMathPara>
                </a14:m>
                <a:endParaRPr lang="fr-FR" sz="2600" b="1" kern="100" noProof="0" dirty="0">
                  <a:effectLst/>
                  <a:latin typeface="Aptos" panose="020B0004020202020204" pitchFamily="34" charset="0"/>
                  <a:ea typeface="Aptos" panose="020B0004020202020204" pitchFamily="34" charset="0"/>
                  <a:cs typeface="Arial" panose="020B0604020202020204" pitchFamily="34" charset="0"/>
                </a:endParaRPr>
              </a:p>
              <a:p>
                <a:pPr marL="800100" lvl="1" indent="-342900">
                  <a:lnSpc>
                    <a:spcPct val="115000"/>
                  </a:lnSpc>
                  <a:buBlip>
                    <a:blip r:embed="rId2"/>
                  </a:buBlip>
                </a:pPr>
                <a:r>
                  <a:rPr lang="fr-FR" sz="2600" kern="0" noProof="0" dirty="0">
                    <a:effectLst/>
                    <a:latin typeface="Times New Roman" panose="02020603050405020304" pitchFamily="18" charset="0"/>
                    <a:ea typeface="Times New Roman" panose="02020603050405020304" pitchFamily="18" charset="0"/>
                    <a:cs typeface="Arial" panose="020B0604020202020204" pitchFamily="34" charset="0"/>
                  </a:rPr>
                  <a:t>k (constante de Coulomb),</a:t>
                </a:r>
                <a:endParaRPr lang="fr-FR" sz="2600" kern="100" noProof="0" dirty="0">
                  <a:effectLst/>
                  <a:latin typeface="Aptos" panose="020B0004020202020204" pitchFamily="34" charset="0"/>
                  <a:ea typeface="Aptos" panose="020B0004020202020204" pitchFamily="34" charset="0"/>
                  <a:cs typeface="Arial" panose="020B0604020202020204" pitchFamily="34" charset="0"/>
                </a:endParaRPr>
              </a:p>
              <a:p>
                <a:pPr marL="800100" lvl="1" indent="-342900">
                  <a:lnSpc>
                    <a:spcPct val="115000"/>
                  </a:lnSpc>
                  <a:buBlip>
                    <a:blip r:embed="rId2"/>
                  </a:buBlip>
                </a:pPr>
                <a:r>
                  <a:rPr lang="fr-FR" sz="2600" kern="0" noProof="0" dirty="0">
                    <a:effectLst/>
                    <a:latin typeface="Times New Roman" panose="02020603050405020304" pitchFamily="18" charset="0"/>
                    <a:ea typeface="Times New Roman" panose="02020603050405020304" pitchFamily="18" charset="0"/>
                    <a:cs typeface="Arial" panose="020B0604020202020204" pitchFamily="34" charset="0"/>
                  </a:rPr>
                  <a:t>Q est la charge qui crée le champ,</a:t>
                </a:r>
                <a:endParaRPr lang="fr-FR" sz="2600" kern="100" noProof="0" dirty="0">
                  <a:effectLst/>
                  <a:latin typeface="Aptos" panose="020B0004020202020204" pitchFamily="34" charset="0"/>
                  <a:ea typeface="Aptos" panose="020B0004020202020204" pitchFamily="34" charset="0"/>
                  <a:cs typeface="Arial" panose="020B0604020202020204" pitchFamily="34" charset="0"/>
                </a:endParaRPr>
              </a:p>
              <a:p>
                <a:pPr marL="800100" lvl="1" indent="-342900">
                  <a:lnSpc>
                    <a:spcPct val="115000"/>
                  </a:lnSpc>
                  <a:buBlip>
                    <a:blip r:embed="rId2"/>
                  </a:buBlip>
                </a:pPr>
                <a:r>
                  <a:rPr lang="fr-FR" sz="2600" kern="0" noProof="0" dirty="0">
                    <a:effectLst/>
                    <a:latin typeface="Times New Roman" panose="02020603050405020304" pitchFamily="18" charset="0"/>
                    <a:ea typeface="Times New Roman" panose="02020603050405020304" pitchFamily="18" charset="0"/>
                    <a:cs typeface="Arial" panose="020B0604020202020204" pitchFamily="34" charset="0"/>
                  </a:rPr>
                  <a:t>q est la charge test,</a:t>
                </a:r>
                <a:endParaRPr lang="fr-FR" sz="2600" kern="100" noProof="0" dirty="0">
                  <a:effectLst/>
                  <a:latin typeface="Aptos" panose="020B0004020202020204" pitchFamily="34" charset="0"/>
                  <a:ea typeface="Aptos" panose="020B0004020202020204" pitchFamily="34" charset="0"/>
                  <a:cs typeface="Arial" panose="020B0604020202020204" pitchFamily="34" charset="0"/>
                </a:endParaRPr>
              </a:p>
              <a:p>
                <a:pPr marL="800100" lvl="1" indent="-342900">
                  <a:lnSpc>
                    <a:spcPct val="115000"/>
                  </a:lnSpc>
                  <a:spcAft>
                    <a:spcPts val="800"/>
                  </a:spcAft>
                  <a:buBlip>
                    <a:blip r:embed="rId2"/>
                  </a:buBlip>
                </a:pPr>
                <a:r>
                  <a:rPr lang="fr-FR" sz="2600" kern="0" noProof="0" dirty="0">
                    <a:effectLst/>
                    <a:latin typeface="Times New Roman" panose="02020603050405020304" pitchFamily="18" charset="0"/>
                    <a:ea typeface="Times New Roman" panose="02020603050405020304" pitchFamily="18" charset="0"/>
                    <a:cs typeface="Arial" panose="020B0604020202020204" pitchFamily="34" charset="0"/>
                  </a:rPr>
                  <a:t>r est la distance entre Q et q.</a:t>
                </a:r>
                <a:endParaRPr lang="fr-FR" sz="26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mc:Choice>
        <mc:Fallback xmlns="">
          <p:sp>
            <p:nvSpPr>
              <p:cNvPr id="3" name="Sous-titre 2">
                <a:extLst>
                  <a:ext uri="{FF2B5EF4-FFF2-40B4-BE49-F238E27FC236}">
                    <a16:creationId xmlns:a16="http://schemas.microsoft.com/office/drawing/2014/main" id="{9E35FB35-2C6E-7272-A0B7-142B8B84EF6B}"/>
                  </a:ext>
                </a:extLst>
              </p:cNvPr>
              <p:cNvSpPr>
                <a:spLocks noGrp="1" noRot="1" noChangeAspect="1" noMove="1" noResize="1" noEditPoints="1" noAdjustHandles="1" noChangeArrowheads="1" noChangeShapeType="1" noTextEdit="1"/>
              </p:cNvSpPr>
              <p:nvPr>
                <p:ph type="subTitle" idx="1"/>
              </p:nvPr>
            </p:nvSpPr>
            <p:spPr>
              <a:xfrm>
                <a:off x="664029" y="1905000"/>
                <a:ext cx="10450285" cy="4354286"/>
              </a:xfrm>
              <a:blipFill>
                <a:blip r:embed="rId3"/>
                <a:stretch>
                  <a:fillRect/>
                </a:stretch>
              </a:blipFill>
              <a:ln w="34925">
                <a:noFill/>
              </a:ln>
              <a:effectLst>
                <a:glow rad="139700">
                  <a:schemeClr val="accent6">
                    <a:satMod val="175000"/>
                    <a:alpha val="40000"/>
                  </a:schemeClr>
                </a:glow>
                <a:outerShdw blurRad="107950" dist="12700" dir="5400000" algn="ctr">
                  <a:srgbClr val="000000"/>
                </a:outerShdw>
              </a:effectLst>
            </p:spPr>
            <p:txBody>
              <a:bodyPr/>
              <a:lstStyle/>
              <a:p>
                <a:r>
                  <a:rPr lang="fr-FR">
                    <a:noFill/>
                  </a:rPr>
                  <a:t> </a:t>
                </a:r>
              </a:p>
            </p:txBody>
          </p:sp>
        </mc:Fallback>
      </mc:AlternateContent>
    </p:spTree>
    <p:extLst>
      <p:ext uri="{BB962C8B-B14F-4D97-AF65-F5344CB8AC3E}">
        <p14:creationId xmlns:p14="http://schemas.microsoft.com/office/powerpoint/2010/main" val="6367342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1EFA91-4E75-D27C-0069-DEAC70CB56D2}"/>
              </a:ext>
            </a:extLst>
          </p:cNvPr>
          <p:cNvSpPr>
            <a:spLocks noGrp="1"/>
          </p:cNvSpPr>
          <p:nvPr>
            <p:ph type="title"/>
          </p:nvPr>
        </p:nvSpPr>
        <p:spPr>
          <a:xfrm>
            <a:off x="694466" y="394305"/>
            <a:ext cx="10820400" cy="1042610"/>
          </a:xfrm>
        </p:spPr>
        <p:txBody>
          <a:bodyPr>
            <a:normAutofit fontScale="90000"/>
          </a:bodyPr>
          <a:lstStyle/>
          <a:p>
            <a:pPr algn="ctr"/>
            <a:r>
              <a:rPr lang="fr-FR" b="1" noProof="0" dirty="0">
                <a:solidFill>
                  <a:srgbClr val="FFC000"/>
                </a:solidFill>
                <a:latin typeface="Times New Roman" panose="02020603050405020304" pitchFamily="18" charset="0"/>
                <a:cs typeface="Times New Roman" panose="02020603050405020304" pitchFamily="18" charset="0"/>
              </a:rPr>
              <a:t>⚡Énergie potentielle pour plusieurs charges</a:t>
            </a:r>
            <a:br>
              <a:rPr lang="fr-FR" b="1" noProof="0" dirty="0">
                <a:solidFill>
                  <a:srgbClr val="FFC000"/>
                </a:solidFill>
                <a:latin typeface="Times New Roman" panose="02020603050405020304" pitchFamily="18" charset="0"/>
                <a:cs typeface="Times New Roman" panose="02020603050405020304" pitchFamily="18" charset="0"/>
              </a:rPr>
            </a:br>
            <a:r>
              <a:rPr kumimoji="0" lang="fr-FR" sz="40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a:t>
            </a:r>
            <a:r>
              <a:rPr lang="fr-FR" b="1" noProof="0" dirty="0">
                <a:solidFill>
                  <a:srgbClr val="FFC000"/>
                </a:solidFill>
                <a:latin typeface="Times New Roman" panose="02020603050405020304" pitchFamily="18" charset="0"/>
                <a:cs typeface="Times New Roman" panose="02020603050405020304" pitchFamily="18" charset="0"/>
              </a:rPr>
              <a:t> </a:t>
            </a:r>
            <a:r>
              <a:rPr lang="fr-FR" b="1" noProof="0" dirty="0" err="1">
                <a:solidFill>
                  <a:schemeClr val="accent1"/>
                </a:solidFill>
                <a:latin typeface="Times New Roman" panose="02020603050405020304" pitchFamily="18" charset="0"/>
                <a:cs typeface="Times New Roman" panose="02020603050405020304" pitchFamily="18" charset="0"/>
              </a:rPr>
              <a:t>Potential</a:t>
            </a:r>
            <a:r>
              <a:rPr lang="fr-FR" b="1" noProof="0" dirty="0">
                <a:solidFill>
                  <a:schemeClr val="accent1"/>
                </a:solidFill>
                <a:latin typeface="Times New Roman" panose="02020603050405020304" pitchFamily="18" charset="0"/>
                <a:cs typeface="Times New Roman" panose="02020603050405020304" pitchFamily="18" charset="0"/>
              </a:rPr>
              <a:t> Energy for Multiple Charges</a:t>
            </a:r>
            <a:endParaRPr lang="fr-FR" noProof="0" dirty="0"/>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9AADAFD4-A603-CB1C-8A93-28927AA476D0}"/>
                  </a:ext>
                </a:extLst>
              </p:cNvPr>
              <p:cNvSpPr>
                <a:spLocks noGrp="1"/>
              </p:cNvSpPr>
              <p:nvPr>
                <p:ph type="body" idx="1"/>
              </p:nvPr>
            </p:nvSpPr>
            <p:spPr>
              <a:xfrm>
                <a:off x="694466" y="1796143"/>
                <a:ext cx="10953247" cy="4800600"/>
              </a:xfrm>
              <a:solidFill>
                <a:schemeClr val="tx1">
                  <a:lumMod val="85000"/>
                  <a:lumOff val="1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pPr algn="l">
                  <a:lnSpc>
                    <a:spcPct val="115000"/>
                  </a:lnSpc>
                  <a:spcAft>
                    <a:spcPts val="800"/>
                  </a:spcAft>
                  <a:buNone/>
                </a:pPr>
                <a14:m>
                  <m:oMath xmlns:m="http://schemas.openxmlformats.org/officeDocument/2006/math">
                    <m:sSub>
                      <m:sSubPr>
                        <m:ctrlPr>
                          <a:rPr lang="fr-FR" sz="2800" b="1"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𝒒</m:t>
                        </m:r>
                      </m:e>
                      <m:sub>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𝟎</m:t>
                        </m:r>
                      </m:sub>
                    </m:sSub>
                  </m:oMath>
                </a14:m>
                <a:r>
                  <a:rPr lang="fr-FR" sz="2800" kern="100" noProof="0" dirty="0">
                    <a:effectLst/>
                    <a:latin typeface="Times New Roman" panose="02020603050405020304" pitchFamily="18" charset="0"/>
                    <a:ea typeface="Aptos" panose="020B0004020202020204" pitchFamily="34" charset="0"/>
                    <a:cs typeface="Times New Roman" panose="02020603050405020304" pitchFamily="18" charset="0"/>
                  </a:rPr>
                  <a:t> est placée dans un système de plusieurs charges </a:t>
                </a:r>
                <a14:m>
                  <m:oMath xmlns:m="http://schemas.openxmlformats.org/officeDocument/2006/math">
                    <m:sSub>
                      <m:sSubPr>
                        <m:ctrlPr>
                          <a:rPr lang="fr-FR" sz="2800" i="1" kern="100" noProof="0"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𝑄</m:t>
                        </m:r>
                      </m:e>
                      <m:sub>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1</m:t>
                        </m:r>
                      </m:sub>
                    </m:sSub>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fr-FR" sz="2800" i="1" kern="100" noProof="0"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𝑄</m:t>
                        </m:r>
                      </m:e>
                      <m:sub>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2</m:t>
                        </m:r>
                      </m:sub>
                    </m:sSub>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fr-FR" sz="2800" i="1" kern="100" noProof="0"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𝑄</m:t>
                        </m:r>
                      </m:e>
                      <m:sub>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𝑛</m:t>
                        </m:r>
                      </m:sub>
                    </m:sSub>
                  </m:oMath>
                </a14:m>
                <a:r>
                  <a:rPr lang="fr-FR" sz="2800" kern="100" noProof="0" dirty="0">
                    <a:effectLst/>
                    <a:latin typeface="Times New Roman" panose="02020603050405020304" pitchFamily="18" charset="0"/>
                    <a:ea typeface="Aptos" panose="020B0004020202020204" pitchFamily="34" charset="0"/>
                    <a:cs typeface="Times New Roman" panose="02020603050405020304" pitchFamily="18" charset="0"/>
                  </a:rPr>
                  <a:t>, alors :</a:t>
                </a:r>
                <a:endParaRPr lang="fr-FR" sz="2800" kern="100" noProof="0" dirty="0">
                  <a:effectLst/>
                  <a:latin typeface="Times New Roman" panose="02020603050405020304" pitchFamily="18" charset="0"/>
                  <a:ea typeface="Aptos" panose="020B0004020202020204" pitchFamily="34" charset="0"/>
                </a:endParaRPr>
              </a:p>
              <a:p>
                <a:pPr algn="l">
                  <a:lnSpc>
                    <a:spcPct val="115000"/>
                  </a:lnSpc>
                  <a:spcAft>
                    <a:spcPts val="800"/>
                  </a:spcAft>
                  <a:buNone/>
                </a:pPr>
                <a14:m>
                  <m:oMathPara xmlns:m="http://schemas.openxmlformats.org/officeDocument/2006/math">
                    <m:oMathParaPr>
                      <m:jc m:val="centerGroup"/>
                    </m:oMathParaPr>
                    <m:oMath xmlns:m="http://schemas.openxmlformats.org/officeDocument/2006/math">
                      <m:r>
                        <a:rPr lang="fr-FR" sz="2800" b="1"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𝑼</m:t>
                      </m:r>
                      <m:r>
                        <a:rPr lang="fr-FR" sz="2800" b="1"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m:t>
                      </m:r>
                      <m:r>
                        <a:rPr lang="fr-FR" sz="2800" b="1"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𝒌</m:t>
                      </m:r>
                      <m:sSub>
                        <m:sSubPr>
                          <m:ctrlPr>
                            <a:rPr lang="fr-FR" sz="2800" b="1"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𝒒</m:t>
                          </m:r>
                        </m:e>
                        <m:sub>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𝟎</m:t>
                          </m:r>
                        </m:sub>
                      </m:sSub>
                      <m:nary>
                        <m:naryPr>
                          <m:chr m:val="∑"/>
                          <m:limLoc m:val="undOvr"/>
                          <m:grow m:val="on"/>
                          <m:ctrlPr>
                            <a:rPr lang="fr-FR" sz="2800" b="1"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naryPr>
                        <m:sub>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𝒊</m:t>
                          </m:r>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m:t>
                          </m:r>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𝟏</m:t>
                          </m:r>
                        </m:sub>
                        <m:sup>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𝒏</m:t>
                          </m:r>
                        </m:sup>
                        <m:e>
                          <m:f>
                            <m:fPr>
                              <m:ctrlPr>
                                <a:rPr lang="fr-FR" sz="2800" b="1"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fPr>
                            <m:num>
                              <m:sSub>
                                <m:sSubPr>
                                  <m:ctrlPr>
                                    <a:rPr lang="fr-FR" sz="2800" b="1"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𝑸</m:t>
                                  </m:r>
                                </m:e>
                                <m:sub>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𝒊</m:t>
                                  </m:r>
                                </m:sub>
                              </m:sSub>
                            </m:num>
                            <m:den>
                              <m:sSub>
                                <m:sSubPr>
                                  <m:ctrlPr>
                                    <a:rPr lang="fr-FR" sz="2800" b="1" i="1" kern="100" noProof="0" smtClean="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𝒓</m:t>
                                  </m:r>
                                </m:e>
                                <m:sub>
                                  <m:r>
                                    <a:rPr lang="fr-FR" sz="2800" b="1" i="1" kern="100" noProof="0">
                                      <a:solidFill>
                                        <a:srgbClr val="FFC000"/>
                                      </a:solidFill>
                                      <a:effectLst/>
                                      <a:latin typeface="Cambria Math" panose="02040503050406030204" pitchFamily="18" charset="0"/>
                                      <a:ea typeface="Aptos" panose="020B0004020202020204" pitchFamily="34" charset="0"/>
                                      <a:cs typeface="Times New Roman" panose="02020603050405020304" pitchFamily="18" charset="0"/>
                                    </a:rPr>
                                    <m:t>𝒊</m:t>
                                  </m:r>
                                </m:sub>
                              </m:sSub>
                            </m:den>
                          </m:f>
                        </m:e>
                      </m:nary>
                    </m:oMath>
                  </m:oMathPara>
                </a14:m>
                <a:endParaRPr lang="fr-FR" sz="2800" b="1"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r>
                  <a:rPr lang="fr-FR" sz="2800" kern="100" noProof="0" dirty="0">
                    <a:effectLst/>
                    <a:latin typeface="Times New Roman" panose="02020603050405020304" pitchFamily="18" charset="0"/>
                    <a:ea typeface="Aptos" panose="020B0004020202020204" pitchFamily="34" charset="0"/>
                    <a:cs typeface="Times New Roman" panose="02020603050405020304" pitchFamily="18" charset="0"/>
                  </a:rPr>
                  <a:t>Où </a:t>
                </a:r>
                <a14:m>
                  <m:oMath xmlns:m="http://schemas.openxmlformats.org/officeDocument/2006/math">
                    <m:sSub>
                      <m:sSubPr>
                        <m:ctrlPr>
                          <a:rPr lang="fr-FR" sz="2800" i="1" kern="100" noProof="0"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𝑟</m:t>
                        </m:r>
                      </m:e>
                      <m:sub>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𝑖</m:t>
                        </m:r>
                      </m:sub>
                    </m:sSub>
                  </m:oMath>
                </a14:m>
                <a:r>
                  <a:rPr lang="fr-FR" sz="2800" kern="100" noProof="0" dirty="0">
                    <a:effectLst/>
                    <a:latin typeface="Times New Roman" panose="02020603050405020304" pitchFamily="18" charset="0"/>
                    <a:ea typeface="Aptos" panose="020B0004020202020204" pitchFamily="34" charset="0"/>
                    <a:cs typeface="Times New Roman" panose="02020603050405020304" pitchFamily="18" charset="0"/>
                  </a:rPr>
                  <a:t> est la distance entre </a:t>
                </a:r>
                <a14:m>
                  <m:oMath xmlns:m="http://schemas.openxmlformats.org/officeDocument/2006/math">
                    <m:sSub>
                      <m:sSubPr>
                        <m:ctrlPr>
                          <a:rPr lang="fr-FR" sz="2800" i="1" kern="100" noProof="0"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𝑞</m:t>
                        </m:r>
                      </m:e>
                      <m:sub>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0</m:t>
                        </m:r>
                      </m:sub>
                    </m:sSub>
                  </m:oMath>
                </a14:m>
                <a:r>
                  <a:rPr lang="fr-FR" sz="2800" kern="100" noProof="0" dirty="0">
                    <a:effectLst/>
                    <a:latin typeface="Times New Roman" panose="02020603050405020304" pitchFamily="18" charset="0"/>
                    <a:ea typeface="Aptos" panose="020B0004020202020204" pitchFamily="34" charset="0"/>
                    <a:cs typeface="Times New Roman" panose="02020603050405020304" pitchFamily="18" charset="0"/>
                  </a:rPr>
                  <a:t> et  </a:t>
                </a:r>
                <a14:m>
                  <m:oMath xmlns:m="http://schemas.openxmlformats.org/officeDocument/2006/math">
                    <m:sSub>
                      <m:sSubPr>
                        <m:ctrlPr>
                          <a:rPr lang="fr-FR" sz="2800" i="1" kern="100" noProof="0"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𝑄</m:t>
                        </m:r>
                      </m:e>
                      <m:sub>
                        <m:r>
                          <a:rPr lang="fr-FR" sz="2800" i="1" kern="100" noProof="0">
                            <a:effectLst/>
                            <a:latin typeface="Cambria Math" panose="02040503050406030204" pitchFamily="18" charset="0"/>
                            <a:ea typeface="Aptos" panose="020B0004020202020204" pitchFamily="34" charset="0"/>
                            <a:cs typeface="Times New Roman" panose="02020603050405020304" pitchFamily="18" charset="0"/>
                          </a:rPr>
                          <m:t>𝑖</m:t>
                        </m:r>
                      </m:sub>
                    </m:sSub>
                  </m:oMath>
                </a14:m>
                <a:r>
                  <a:rPr lang="fr-FR" sz="2800" kern="100" noProof="0" dirty="0">
                    <a:effectLst/>
                    <a:latin typeface="Times New Roman" panose="02020603050405020304" pitchFamily="18" charset="0"/>
                    <a:ea typeface="Aptos" panose="020B0004020202020204" pitchFamily="34" charset="0"/>
                    <a:cs typeface="Times New Roman" panose="02020603050405020304" pitchFamily="18" charset="0"/>
                  </a:rPr>
                  <a:t>.</a:t>
                </a:r>
              </a:p>
              <a:p>
                <a:pPr algn="l">
                  <a:lnSpc>
                    <a:spcPct val="115000"/>
                  </a:lnSpc>
                  <a:spcAft>
                    <a:spcPts val="800"/>
                  </a:spcAft>
                  <a:buNone/>
                </a:pPr>
                <a:r>
                  <a:rPr lang="fr-FR" sz="2800" kern="100" noProof="0" dirty="0">
                    <a:effectLst/>
                    <a:latin typeface="Times New Roman" panose="02020603050405020304" pitchFamily="18" charset="0"/>
                    <a:ea typeface="Aptos" panose="020B0004020202020204" pitchFamily="34" charset="0"/>
                    <a:cs typeface="Times New Roman" panose="02020603050405020304" pitchFamily="18" charset="0"/>
                  </a:rPr>
                  <a:t>C’est la </a:t>
                </a:r>
                <a:r>
                  <a:rPr lang="fr-FR" sz="2800" b="1" kern="100" noProof="0" dirty="0">
                    <a:solidFill>
                      <a:srgbClr val="FFC000"/>
                    </a:solidFill>
                    <a:effectLst/>
                    <a:latin typeface="Times New Roman" panose="02020603050405020304" pitchFamily="18" charset="0"/>
                    <a:ea typeface="Aptos" panose="020B0004020202020204" pitchFamily="34" charset="0"/>
                    <a:cs typeface="Times New Roman" panose="02020603050405020304" pitchFamily="18" charset="0"/>
                  </a:rPr>
                  <a:t>somme scalaire</a:t>
                </a:r>
                <a:r>
                  <a:rPr lang="fr-FR" sz="2800" kern="100" noProof="0" dirty="0">
                    <a:effectLst/>
                    <a:latin typeface="Times New Roman" panose="02020603050405020304" pitchFamily="18" charset="0"/>
                    <a:ea typeface="Aptos" panose="020B0004020202020204" pitchFamily="34" charset="0"/>
                    <a:cs typeface="Times New Roman" panose="02020603050405020304" pitchFamily="18" charset="0"/>
                  </a:rPr>
                  <a:t>, </a:t>
                </a:r>
                <a:r>
                  <a:rPr lang="fr-FR" sz="2800" u="sng" kern="100" noProof="0" dirty="0">
                    <a:effectLst/>
                    <a:latin typeface="Times New Roman" panose="02020603050405020304" pitchFamily="18" charset="0"/>
                    <a:ea typeface="Aptos" panose="020B0004020202020204" pitchFamily="34" charset="0"/>
                    <a:cs typeface="Times New Roman" panose="02020603050405020304" pitchFamily="18" charset="0"/>
                  </a:rPr>
                  <a:t>pas vectorielle</a:t>
                </a:r>
                <a:r>
                  <a:rPr lang="fr-FR" sz="2800" kern="100" noProof="0" dirty="0">
                    <a:effectLst/>
                    <a:latin typeface="Times New Roman" panose="02020603050405020304" pitchFamily="18" charset="0"/>
                    <a:ea typeface="Aptos" panose="020B0004020202020204" pitchFamily="34" charset="0"/>
                    <a:cs typeface="Times New Roman" panose="02020603050405020304" pitchFamily="18" charset="0"/>
                  </a:rPr>
                  <a:t>, car </a:t>
                </a:r>
                <a:r>
                  <a:rPr lang="fr-FR" sz="2800" b="1" kern="100" noProof="0" dirty="0">
                    <a:solidFill>
                      <a:srgbClr val="FFFF00"/>
                    </a:solidFill>
                    <a:effectLst/>
                    <a:latin typeface="Times New Roman" panose="02020603050405020304" pitchFamily="18" charset="0"/>
                    <a:ea typeface="Aptos" panose="020B0004020202020204" pitchFamily="34" charset="0"/>
                    <a:cs typeface="Times New Roman" panose="02020603050405020304" pitchFamily="18" charset="0"/>
                  </a:rPr>
                  <a:t>l’énergie est une grandeur scalaire.</a:t>
                </a:r>
                <a:endParaRPr lang="fr-FR" sz="2800" b="1" kern="100" noProof="0" dirty="0">
                  <a:solidFill>
                    <a:srgbClr val="FFFF00"/>
                  </a:solidFill>
                  <a:effectLst/>
                  <a:latin typeface="Times New Roman" panose="02020603050405020304" pitchFamily="18" charset="0"/>
                  <a:ea typeface="Aptos" panose="020B0004020202020204" pitchFamily="34" charset="0"/>
                </a:endParaRPr>
              </a:p>
              <a:p>
                <a:endParaRPr lang="fr-FR" noProof="0" dirty="0"/>
              </a:p>
            </p:txBody>
          </p:sp>
        </mc:Choice>
        <mc:Fallback xmlns="">
          <p:sp>
            <p:nvSpPr>
              <p:cNvPr id="3" name="Espace réservé du texte 2">
                <a:extLst>
                  <a:ext uri="{FF2B5EF4-FFF2-40B4-BE49-F238E27FC236}">
                    <a16:creationId xmlns:a16="http://schemas.microsoft.com/office/drawing/2014/main" id="{9AADAFD4-A603-CB1C-8A93-28927AA476D0}"/>
                  </a:ext>
                </a:extLst>
              </p:cNvPr>
              <p:cNvSpPr>
                <a:spLocks noGrp="1" noRot="1" noChangeAspect="1" noMove="1" noResize="1" noEditPoints="1" noAdjustHandles="1" noChangeArrowheads="1" noChangeShapeType="1" noTextEdit="1"/>
              </p:cNvSpPr>
              <p:nvPr>
                <p:ph type="body" idx="1"/>
              </p:nvPr>
            </p:nvSpPr>
            <p:spPr>
              <a:xfrm>
                <a:off x="694466" y="1796143"/>
                <a:ext cx="10953247" cy="4800600"/>
              </a:xfrm>
              <a:blipFill>
                <a:blip r:embed="rId2"/>
                <a:stretch>
                  <a:fillRect/>
                </a:stretch>
              </a:blipFill>
              <a:ln>
                <a:noFill/>
              </a:ln>
              <a:effectLst>
                <a:outerShdw blurRad="44450" dist="27940" dir="5400000" algn="ctr">
                  <a:srgbClr val="000000">
                    <a:alpha val="32000"/>
                  </a:srgbClr>
                </a:outerShdw>
              </a:effectLst>
            </p:spPr>
            <p:txBody>
              <a:bodyPr/>
              <a:lstStyle/>
              <a:p>
                <a:r>
                  <a:rPr lang="fr-DZ">
                    <a:noFill/>
                  </a:rPr>
                  <a:t> </a:t>
                </a:r>
              </a:p>
            </p:txBody>
          </p:sp>
        </mc:Fallback>
      </mc:AlternateContent>
    </p:spTree>
    <p:extLst>
      <p:ext uri="{BB962C8B-B14F-4D97-AF65-F5344CB8AC3E}">
        <p14:creationId xmlns:p14="http://schemas.microsoft.com/office/powerpoint/2010/main" val="11303820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22DE43-374E-A1E6-FD00-DCFBF895F5FA}"/>
              </a:ext>
            </a:extLst>
          </p:cNvPr>
          <p:cNvSpPr>
            <a:spLocks noGrp="1"/>
          </p:cNvSpPr>
          <p:nvPr>
            <p:ph type="title"/>
          </p:nvPr>
        </p:nvSpPr>
        <p:spPr>
          <a:xfrm>
            <a:off x="456090" y="666447"/>
            <a:ext cx="10820400" cy="2109410"/>
          </a:xfrm>
        </p:spPr>
        <p:txBody>
          <a:bodyPr>
            <a:noAutofit/>
          </a:bodyPr>
          <a:lstStyle/>
          <a:p>
            <a:pPr algn="ctr"/>
            <a:r>
              <a:rPr lang="fr-FR"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Relation entre le potentiel électrostatique et le champ électrique</a:t>
            </a:r>
            <a:br>
              <a:rPr lang="fr-FR"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br>
            <a:r>
              <a:rPr lang="fr-FR" b="1" kern="0" noProof="0" dirty="0">
                <a:solidFill>
                  <a:schemeClr val="accent1"/>
                </a:solidFill>
                <a:effectLst/>
                <a:latin typeface="Times New Roman" panose="02020603050405020304" pitchFamily="18" charset="0"/>
                <a:ea typeface="Times New Roman" panose="02020603050405020304" pitchFamily="18" charset="0"/>
                <a:cs typeface="Arial" panose="020B0604020202020204" pitchFamily="34" charset="0"/>
              </a:rPr>
              <a:t>Relationship </a:t>
            </a:r>
            <a:r>
              <a:rPr lang="fr-FR" b="1" kern="0" noProof="0" dirty="0" err="1">
                <a:solidFill>
                  <a:schemeClr val="accent1"/>
                </a:solidFill>
                <a:effectLst/>
                <a:latin typeface="Times New Roman" panose="02020603050405020304" pitchFamily="18" charset="0"/>
                <a:ea typeface="Times New Roman" panose="02020603050405020304" pitchFamily="18" charset="0"/>
                <a:cs typeface="Arial" panose="020B0604020202020204" pitchFamily="34" charset="0"/>
              </a:rPr>
              <a:t>between</a:t>
            </a:r>
            <a:r>
              <a:rPr lang="fr-FR" b="1" kern="0" noProof="0" dirty="0">
                <a:solidFill>
                  <a:schemeClr val="accent1"/>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b="1" kern="0" noProof="0" dirty="0" err="1">
                <a:solidFill>
                  <a:schemeClr val="accent1"/>
                </a:solidFill>
                <a:effectLst/>
                <a:latin typeface="Times New Roman" panose="02020603050405020304" pitchFamily="18" charset="0"/>
                <a:ea typeface="Times New Roman" panose="02020603050405020304" pitchFamily="18" charset="0"/>
                <a:cs typeface="Arial" panose="020B0604020202020204" pitchFamily="34" charset="0"/>
              </a:rPr>
              <a:t>electrostatic</a:t>
            </a:r>
            <a:r>
              <a:rPr lang="fr-FR" b="1" kern="0" noProof="0" dirty="0">
                <a:solidFill>
                  <a:schemeClr val="accent1"/>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b="1" kern="0" noProof="0" dirty="0" err="1">
                <a:solidFill>
                  <a:schemeClr val="accent1"/>
                </a:solidFill>
                <a:effectLst/>
                <a:latin typeface="Times New Roman" panose="02020603050405020304" pitchFamily="18" charset="0"/>
                <a:ea typeface="Times New Roman" panose="02020603050405020304" pitchFamily="18" charset="0"/>
                <a:cs typeface="Arial" panose="020B0604020202020204" pitchFamily="34" charset="0"/>
              </a:rPr>
              <a:t>potential</a:t>
            </a:r>
            <a:r>
              <a:rPr lang="fr-FR" b="1" kern="0" noProof="0" dirty="0">
                <a:solidFill>
                  <a:schemeClr val="accent1"/>
                </a:solidFill>
                <a:effectLst/>
                <a:latin typeface="Times New Roman" panose="02020603050405020304" pitchFamily="18" charset="0"/>
                <a:ea typeface="Times New Roman" panose="02020603050405020304" pitchFamily="18" charset="0"/>
                <a:cs typeface="Arial" panose="020B0604020202020204" pitchFamily="34" charset="0"/>
              </a:rPr>
              <a:t> and </a:t>
            </a:r>
            <a:r>
              <a:rPr lang="fr-FR" b="1" kern="0" noProof="0" dirty="0" err="1">
                <a:solidFill>
                  <a:schemeClr val="accent1"/>
                </a:solidFill>
                <a:effectLst/>
                <a:latin typeface="Times New Roman" panose="02020603050405020304" pitchFamily="18" charset="0"/>
                <a:ea typeface="Times New Roman" panose="02020603050405020304" pitchFamily="18" charset="0"/>
                <a:cs typeface="Arial" panose="020B0604020202020204" pitchFamily="34" charset="0"/>
              </a:rPr>
              <a:t>electric</a:t>
            </a:r>
            <a:r>
              <a:rPr lang="fr-FR" b="1" kern="0" noProof="0" dirty="0">
                <a:solidFill>
                  <a:schemeClr val="accent1"/>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b="1" kern="0" noProof="0" dirty="0" err="1">
                <a:solidFill>
                  <a:schemeClr val="accent1"/>
                </a:solidFill>
                <a:effectLst/>
                <a:latin typeface="Times New Roman" panose="02020603050405020304" pitchFamily="18" charset="0"/>
                <a:ea typeface="Times New Roman" panose="02020603050405020304" pitchFamily="18" charset="0"/>
                <a:cs typeface="Arial" panose="020B0604020202020204" pitchFamily="34" charset="0"/>
              </a:rPr>
              <a:t>field</a:t>
            </a:r>
            <a:endParaRPr lang="fr-FR" noProof="0" dirty="0">
              <a:solidFill>
                <a:schemeClr val="accent1"/>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3F035825-58A4-67B0-5A07-1F3726A77229}"/>
                  </a:ext>
                </a:extLst>
              </p:cNvPr>
              <p:cNvSpPr>
                <a:spLocks noGrp="1"/>
              </p:cNvSpPr>
              <p:nvPr>
                <p:ph type="body" idx="1"/>
              </p:nvPr>
            </p:nvSpPr>
            <p:spPr>
              <a:xfrm>
                <a:off x="244928" y="3331029"/>
                <a:ext cx="11702143" cy="2645228"/>
              </a:xfrm>
              <a:solidFill>
                <a:srgbClr val="C00000"/>
              </a:solidFill>
              <a:scene3d>
                <a:camera prst="orthographicFront"/>
                <a:lightRig rig="threePt" dir="t"/>
              </a:scene3d>
              <a:sp3d>
                <a:bevelT w="114300" prst="artDeco"/>
              </a:sp3d>
            </p:spPr>
            <p:txBody>
              <a:bodyPr/>
              <a:lstStyle/>
              <a:p>
                <a:pPr algn="l">
                  <a:lnSpc>
                    <a:spcPct val="115000"/>
                  </a:lnSpc>
                  <a:spcAft>
                    <a:spcPts val="800"/>
                  </a:spcAft>
                  <a:buNone/>
                </a:pPr>
                <a14:m>
                  <m:oMathPara xmlns:m="http://schemas.openxmlformats.org/officeDocument/2006/math">
                    <m:oMathParaPr>
                      <m:jc m:val="centerGroup"/>
                    </m:oMathParaPr>
                    <m:oMath xmlns:m="http://schemas.openxmlformats.org/officeDocument/2006/math">
                      <m:borderBox>
                        <m:borderBoxPr>
                          <m:ctrlP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borderBoxPr>
                        <m:e>
                          <m:acc>
                            <m:accPr>
                              <m:chr m:val="⃗"/>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acc>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e>
                          </m:acc>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𝑽</m:t>
                          </m:r>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𝒈𝒓𝒂𝒅</m:t>
                              </m:r>
                            </m:e>
                          </m:acc>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𝑽</m:t>
                          </m:r>
                        </m:e>
                      </m:borderBox>
                    </m:oMath>
                  </m:oMathPara>
                </a14:m>
                <a:endParaRPr lang="fr-FR" sz="2400" kern="100" noProof="0" dirty="0">
                  <a:latin typeface="Aptos" panose="020B0004020202020204" pitchFamily="34" charset="0"/>
                  <a:ea typeface="Times New Roman" panose="02020603050405020304" pitchFamily="18" charset="0"/>
                  <a:cs typeface="Arial" panose="020B0604020202020204" pitchFamily="34" charset="0"/>
                </a:endParaRPr>
              </a:p>
              <a:p>
                <a:pPr algn="l">
                  <a:lnSpc>
                    <a:spcPct val="115000"/>
                  </a:lnSpc>
                  <a:spcAft>
                    <a:spcPts val="800"/>
                  </a:spcAft>
                  <a:buNone/>
                </a:pP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Le vecteur champ électrique E  est donc un vecteur dirigé des potentiels </a:t>
                </a:r>
                <a:r>
                  <a:rPr lang="fr-FR" sz="2800" u="sng" kern="0" noProof="0" dirty="0">
                    <a:effectLst/>
                    <a:latin typeface="Times New Roman" panose="02020603050405020304" pitchFamily="18" charset="0"/>
                    <a:ea typeface="Times New Roman" panose="02020603050405020304" pitchFamily="18" charset="0"/>
                    <a:cs typeface="Arial" panose="020B0604020202020204" pitchFamily="34" charset="0"/>
                  </a:rPr>
                  <a:t>élevés</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vers les potentiels les plus </a:t>
                </a:r>
                <a:r>
                  <a:rPr lang="fr-FR" sz="2800" u="sng" kern="0" noProof="0" dirty="0">
                    <a:effectLst/>
                    <a:latin typeface="Times New Roman" panose="02020603050405020304" pitchFamily="18" charset="0"/>
                    <a:ea typeface="Times New Roman" panose="02020603050405020304" pitchFamily="18" charset="0"/>
                    <a:cs typeface="Arial" panose="020B0604020202020204" pitchFamily="34" charset="0"/>
                  </a:rPr>
                  <a:t>faibles</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D’ou,   </a:t>
                </a:r>
                <a14:m>
                  <m:oMath xmlns:m="http://schemas.openxmlformats.org/officeDocument/2006/math">
                    <m:acc>
                      <m:accPr>
                        <m:chr m:val="⃗"/>
                        <m:ctrlP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e>
                    </m:acc>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𝒈𝒓𝒂𝒅</m:t>
                        </m:r>
                      </m:e>
                    </m:acc>
                  </m:oMath>
                </a14:m>
                <a:r>
                  <a:rPr lang="fr-FR" sz="2800" b="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fr-FR" sz="2400" b="1" noProof="0" dirty="0"/>
              </a:p>
            </p:txBody>
          </p:sp>
        </mc:Choice>
        <mc:Fallback xmlns="">
          <p:sp>
            <p:nvSpPr>
              <p:cNvPr id="3" name="Espace réservé du texte 2">
                <a:extLst>
                  <a:ext uri="{FF2B5EF4-FFF2-40B4-BE49-F238E27FC236}">
                    <a16:creationId xmlns:a16="http://schemas.microsoft.com/office/drawing/2014/main" id="{3F035825-58A4-67B0-5A07-1F3726A77229}"/>
                  </a:ext>
                </a:extLst>
              </p:cNvPr>
              <p:cNvSpPr>
                <a:spLocks noGrp="1" noRot="1" noChangeAspect="1" noMove="1" noResize="1" noEditPoints="1" noAdjustHandles="1" noChangeArrowheads="1" noChangeShapeType="1" noTextEdit="1"/>
              </p:cNvSpPr>
              <p:nvPr>
                <p:ph type="body" idx="1"/>
              </p:nvPr>
            </p:nvSpPr>
            <p:spPr>
              <a:xfrm>
                <a:off x="244928" y="3331029"/>
                <a:ext cx="11702143" cy="2645228"/>
              </a:xfrm>
              <a:blipFill>
                <a:blip r:embed="rId2"/>
                <a:stretch>
                  <a:fillRect r="-1299"/>
                </a:stretch>
              </a:blipFill>
            </p:spPr>
            <p:txBody>
              <a:bodyPr/>
              <a:lstStyle/>
              <a:p>
                <a:r>
                  <a:rPr lang="fr-FR">
                    <a:noFill/>
                  </a:rPr>
                  <a:t> </a:t>
                </a:r>
              </a:p>
            </p:txBody>
          </p:sp>
        </mc:Fallback>
      </mc:AlternateContent>
    </p:spTree>
    <p:extLst>
      <p:ext uri="{BB962C8B-B14F-4D97-AF65-F5344CB8AC3E}">
        <p14:creationId xmlns:p14="http://schemas.microsoft.com/office/powerpoint/2010/main" val="2111552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E138A2-BC60-A611-0738-DDCA2ED54250}"/>
              </a:ext>
            </a:extLst>
          </p:cNvPr>
          <p:cNvSpPr>
            <a:spLocks noGrp="1"/>
          </p:cNvSpPr>
          <p:nvPr>
            <p:ph type="title"/>
          </p:nvPr>
        </p:nvSpPr>
        <p:spPr>
          <a:xfrm>
            <a:off x="685800" y="304800"/>
            <a:ext cx="10820400" cy="1567543"/>
          </a:xfrm>
        </p:spPr>
        <p:txBody>
          <a:bodyPr>
            <a:noAutofit/>
          </a:bodyPr>
          <a:lstStyle/>
          <a:p>
            <a:pPr algn="l"/>
            <a:r>
              <a:rPr lang="fr-FR" sz="4400" b="1" noProof="0" dirty="0">
                <a:solidFill>
                  <a:srgbClr val="FFC000"/>
                </a:solidFill>
                <a:latin typeface="Segoe UI Emoji" panose="020B0502040204020203" pitchFamily="34" charset="0"/>
                <a:ea typeface="Times New Roman" panose="02020603050405020304" pitchFamily="18" charset="0"/>
                <a:cs typeface="Segoe UI Emoji" panose="020B0502040204020203" pitchFamily="34" charset="0"/>
              </a:rPr>
              <a:t>🧭</a:t>
            </a:r>
            <a:r>
              <a:rPr lang="fr-FR" sz="4400"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1. En coordonnées cartésiennes (x, y, z)</a:t>
            </a:r>
            <a:br>
              <a:rPr lang="fr-FR" sz="4400"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kumimoji="0" lang="fr-FR" sz="36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fr-FR" sz="3600" b="1" noProof="0" dirty="0">
                <a:solidFill>
                  <a:schemeClr val="accent1"/>
                </a:solidFill>
                <a:latin typeface="Times New Roman" panose="02020603050405020304" pitchFamily="18" charset="0"/>
                <a:cs typeface="Times New Roman" panose="02020603050405020304" pitchFamily="18" charset="0"/>
              </a:rPr>
              <a:t>Cartesian </a:t>
            </a:r>
            <a:r>
              <a:rPr lang="fr-FR" sz="3600" b="1" noProof="0" dirty="0" err="1">
                <a:solidFill>
                  <a:schemeClr val="accent1"/>
                </a:solidFill>
                <a:latin typeface="Times New Roman" panose="02020603050405020304" pitchFamily="18" charset="0"/>
                <a:cs typeface="Times New Roman" panose="02020603050405020304" pitchFamily="18" charset="0"/>
              </a:rPr>
              <a:t>coordinates</a:t>
            </a:r>
            <a:br>
              <a:rPr lang="fr-FR" sz="4400"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endParaRPr lang="fr-FR" sz="4400"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E5ACDB5C-E518-A85E-E8C8-CF1533813245}"/>
                  </a:ext>
                </a:extLst>
              </p:cNvPr>
              <p:cNvSpPr>
                <a:spLocks noGrp="1"/>
              </p:cNvSpPr>
              <p:nvPr>
                <p:ph type="body" idx="1"/>
              </p:nvPr>
            </p:nvSpPr>
            <p:spPr>
              <a:xfrm>
                <a:off x="0" y="1306286"/>
                <a:ext cx="12192000" cy="5551714"/>
              </a:xfrm>
              <a:solidFill>
                <a:srgbClr val="C00000"/>
              </a:solidFill>
              <a:ln/>
              <a:scene3d>
                <a:camera prst="orthographicFront"/>
                <a:lightRig rig="threePt" dir="t"/>
              </a:scene3d>
              <a:sp3d>
                <a:bevelT w="101600" prst="riblet"/>
              </a:sp3d>
            </p:spPr>
            <p:style>
              <a:lnRef idx="1">
                <a:schemeClr val="dk1"/>
              </a:lnRef>
              <a:fillRef idx="0">
                <a:schemeClr val="dk1"/>
              </a:fillRef>
              <a:effectRef idx="0">
                <a:schemeClr val="dk1"/>
              </a:effectRef>
              <a:fontRef idx="minor">
                <a:schemeClr val="tx1"/>
              </a:fontRef>
            </p:style>
            <p:txBody>
              <a:bodyPr>
                <a:normAutofit fontScale="92500" lnSpcReduction="20000"/>
              </a:bodyPr>
              <a:lstStyle/>
              <a:p>
                <a:pPr algn="l">
                  <a:lnSpc>
                    <a:spcPct val="115000"/>
                  </a:lnSpc>
                  <a:spcAft>
                    <a:spcPts val="800"/>
                  </a:spcAft>
                  <a:buNone/>
                </a:pPr>
                <a:r>
                  <a:rPr lang="fr-FR" sz="2800" b="1" i="1" noProof="0" dirty="0">
                    <a:solidFill>
                      <a:schemeClr val="bg1"/>
                    </a:solidFill>
                    <a:latin typeface="Times New Roman" panose="02020603050405020304" pitchFamily="18" charset="0"/>
                    <a:cs typeface="Times New Roman" panose="02020603050405020304" pitchFamily="18" charset="0"/>
                  </a:rPr>
                  <a:t>Les coordonnées cartésiennes d’un point M(x, y, z).</a:t>
                </a:r>
                <a:br>
                  <a:rPr lang="fr-FR" sz="2800" b="1" noProof="0" dirty="0">
                    <a:solidFill>
                      <a:schemeClr val="bg1"/>
                    </a:solidFill>
                    <a:latin typeface="Times New Roman" panose="02020603050405020304" pitchFamily="18" charset="0"/>
                    <a:cs typeface="Times New Roman" panose="02020603050405020304" pitchFamily="18" charset="0"/>
                  </a:rPr>
                </a:br>
                <a:r>
                  <a:rPr lang="fr-FR" sz="2800" b="1" noProof="0" dirty="0">
                    <a:solidFill>
                      <a:schemeClr val="bg1"/>
                    </a:solidFill>
                    <a:latin typeface="Times New Roman" panose="02020603050405020304" pitchFamily="18" charset="0"/>
                    <a:cs typeface="Times New Roman" panose="02020603050405020304" pitchFamily="18" charset="0"/>
                  </a:rPr>
                  <a:t>→ </a:t>
                </a:r>
                <a:r>
                  <a:rPr lang="fr-FR" sz="2800" b="1" i="1" noProof="0" dirty="0">
                    <a:solidFill>
                      <a:schemeClr val="bg1"/>
                    </a:solidFill>
                    <a:latin typeface="Times New Roman" panose="02020603050405020304" pitchFamily="18" charset="0"/>
                    <a:cs typeface="Times New Roman" panose="02020603050405020304" pitchFamily="18" charset="0"/>
                  </a:rPr>
                  <a:t>The Cartesian </a:t>
                </a:r>
                <a:r>
                  <a:rPr lang="fr-FR" sz="2800" b="1" i="1" noProof="0" dirty="0" err="1">
                    <a:solidFill>
                      <a:schemeClr val="bg1"/>
                    </a:solidFill>
                    <a:latin typeface="Times New Roman" panose="02020603050405020304" pitchFamily="18" charset="0"/>
                    <a:cs typeface="Times New Roman" panose="02020603050405020304" pitchFamily="18" charset="0"/>
                  </a:rPr>
                  <a:t>coordinates</a:t>
                </a:r>
                <a:r>
                  <a:rPr lang="fr-FR" sz="2800" b="1" i="1" noProof="0" dirty="0">
                    <a:solidFill>
                      <a:schemeClr val="bg1"/>
                    </a:solidFill>
                    <a:latin typeface="Times New Roman" panose="02020603050405020304" pitchFamily="18" charset="0"/>
                    <a:cs typeface="Times New Roman" panose="02020603050405020304" pitchFamily="18" charset="0"/>
                  </a:rPr>
                  <a:t> of a point M(x, y, z).</a:t>
                </a:r>
              </a:p>
              <a:p>
                <a:pPr algn="l">
                  <a:lnSpc>
                    <a:spcPct val="115000"/>
                  </a:lnSpc>
                  <a:spcAft>
                    <a:spcPts val="800"/>
                  </a:spcAft>
                  <a:buNone/>
                </a:pPr>
                <a14:m>
                  <m:oMath xmlns:m="http://schemas.openxmlformats.org/officeDocument/2006/math">
                    <m:acc>
                      <m:accPr>
                        <m:chr m:val="⃗"/>
                        <m:ctrlPr>
                          <a:rPr lang="fr-FR" sz="2800" b="1" i="1" noProof="0" smtClean="0">
                            <a:solidFill>
                              <a:srgbClr val="FFFF00"/>
                            </a:solidFill>
                            <a:latin typeface="Cambria Math" panose="02040503050406030204" pitchFamily="18" charset="0"/>
                            <a:cs typeface="Times New Roman" panose="02020603050405020304" pitchFamily="18" charset="0"/>
                          </a:rPr>
                        </m:ctrlPr>
                      </m:accPr>
                      <m:e>
                        <m:r>
                          <a:rPr lang="fr-FR" sz="2800" b="1" i="1" noProof="0" smtClean="0">
                            <a:solidFill>
                              <a:srgbClr val="FFFF00"/>
                            </a:solidFill>
                            <a:latin typeface="Cambria Math" panose="02040503050406030204" pitchFamily="18" charset="0"/>
                            <a:cs typeface="Times New Roman" panose="02020603050405020304" pitchFamily="18" charset="0"/>
                          </a:rPr>
                          <m:t>𝑶𝑴</m:t>
                        </m:r>
                      </m:e>
                    </m:acc>
                    <m:r>
                      <a:rPr lang="fr-FR" sz="2800" b="1" i="1" noProof="0" smtClean="0">
                        <a:solidFill>
                          <a:srgbClr val="FFFF00"/>
                        </a:solidFill>
                        <a:latin typeface="Cambria Math" panose="02040503050406030204" pitchFamily="18" charset="0"/>
                        <a:cs typeface="Times New Roman" panose="02020603050405020304" pitchFamily="18" charset="0"/>
                      </a:rPr>
                      <m:t>=</m:t>
                    </m:r>
                    <m:r>
                      <a:rPr lang="fr-FR" sz="2800" b="1" i="1" noProof="0" smtClean="0">
                        <a:solidFill>
                          <a:srgbClr val="FFFF00"/>
                        </a:solidFill>
                        <a:latin typeface="Cambria Math" panose="02040503050406030204" pitchFamily="18" charset="0"/>
                        <a:cs typeface="Times New Roman" panose="02020603050405020304" pitchFamily="18" charset="0"/>
                      </a:rPr>
                      <m:t>𝒙</m:t>
                    </m:r>
                    <m:acc>
                      <m:accPr>
                        <m:chr m:val="⃗"/>
                        <m:ctrlPr>
                          <a:rPr lang="fr-FR" sz="2800" b="1" i="1" noProof="0" smtClean="0">
                            <a:solidFill>
                              <a:srgbClr val="FFFF00"/>
                            </a:solidFill>
                            <a:latin typeface="Cambria Math" panose="02040503050406030204" pitchFamily="18" charset="0"/>
                            <a:cs typeface="Times New Roman" panose="02020603050405020304" pitchFamily="18" charset="0"/>
                          </a:rPr>
                        </m:ctrlPr>
                      </m:accPr>
                      <m:e>
                        <m:r>
                          <a:rPr lang="fr-FR" sz="2800" b="1" i="1" noProof="0" smtClean="0">
                            <a:solidFill>
                              <a:srgbClr val="FFFF00"/>
                            </a:solidFill>
                            <a:latin typeface="Cambria Math" panose="02040503050406030204" pitchFamily="18" charset="0"/>
                            <a:cs typeface="Times New Roman" panose="02020603050405020304" pitchFamily="18" charset="0"/>
                          </a:rPr>
                          <m:t>𝒊</m:t>
                        </m:r>
                      </m:e>
                    </m:acc>
                    <m:r>
                      <a:rPr lang="fr-FR" sz="2800" b="1" i="1" noProof="0" smtClean="0">
                        <a:solidFill>
                          <a:srgbClr val="FFFF00"/>
                        </a:solidFill>
                        <a:latin typeface="Cambria Math" panose="02040503050406030204" pitchFamily="18" charset="0"/>
                        <a:cs typeface="Times New Roman" panose="02020603050405020304" pitchFamily="18" charset="0"/>
                      </a:rPr>
                      <m:t>+</m:t>
                    </m:r>
                    <m:r>
                      <a:rPr lang="fr-FR" sz="2800" b="1" i="1" noProof="0" smtClean="0">
                        <a:solidFill>
                          <a:srgbClr val="FFFF00"/>
                        </a:solidFill>
                        <a:latin typeface="Cambria Math" panose="02040503050406030204" pitchFamily="18" charset="0"/>
                        <a:cs typeface="Times New Roman" panose="02020603050405020304" pitchFamily="18" charset="0"/>
                      </a:rPr>
                      <m:t>𝒚</m:t>
                    </m:r>
                    <m:acc>
                      <m:accPr>
                        <m:chr m:val="⃗"/>
                        <m:ctrlPr>
                          <a:rPr lang="fr-FR" sz="2800" b="1" i="1" noProof="0" smtClean="0">
                            <a:solidFill>
                              <a:srgbClr val="FFFF00"/>
                            </a:solidFill>
                            <a:latin typeface="Cambria Math" panose="02040503050406030204" pitchFamily="18" charset="0"/>
                            <a:cs typeface="Times New Roman" panose="02020603050405020304" pitchFamily="18" charset="0"/>
                          </a:rPr>
                        </m:ctrlPr>
                      </m:accPr>
                      <m:e>
                        <m:r>
                          <a:rPr lang="fr-FR" sz="2800" b="1" i="1" noProof="0" smtClean="0">
                            <a:solidFill>
                              <a:srgbClr val="FFFF00"/>
                            </a:solidFill>
                            <a:latin typeface="Cambria Math" panose="02040503050406030204" pitchFamily="18" charset="0"/>
                            <a:cs typeface="Times New Roman" panose="02020603050405020304" pitchFamily="18" charset="0"/>
                          </a:rPr>
                          <m:t>𝒋</m:t>
                        </m:r>
                      </m:e>
                    </m:acc>
                  </m:oMath>
                </a14:m>
                <a:r>
                  <a:rPr lang="fr-FR" sz="2800" b="1" i="1" noProof="0" dirty="0">
                    <a:solidFill>
                      <a:srgbClr val="FFFF00"/>
                    </a:solidFill>
                    <a:latin typeface="Times New Roman" panose="02020603050405020304" pitchFamily="18" charset="0"/>
                    <a:cs typeface="Times New Roman" panose="02020603050405020304" pitchFamily="18" charset="0"/>
                  </a:rPr>
                  <a:t>+z</a:t>
                </a:r>
                <a14:m>
                  <m:oMath xmlns:m="http://schemas.openxmlformats.org/officeDocument/2006/math">
                    <m:acc>
                      <m:accPr>
                        <m:chr m:val="⃗"/>
                        <m:ctrlPr>
                          <a:rPr lang="fr-FR" sz="2800" b="1" i="1" noProof="0" smtClean="0">
                            <a:solidFill>
                              <a:srgbClr val="FFFF00"/>
                            </a:solidFill>
                            <a:latin typeface="Cambria Math" panose="02040503050406030204" pitchFamily="18" charset="0"/>
                            <a:cs typeface="Times New Roman" panose="02020603050405020304" pitchFamily="18" charset="0"/>
                          </a:rPr>
                        </m:ctrlPr>
                      </m:accPr>
                      <m:e>
                        <m:r>
                          <a:rPr lang="fr-FR" sz="2800" b="1" i="1" noProof="0" smtClean="0">
                            <a:solidFill>
                              <a:srgbClr val="FFFF00"/>
                            </a:solidFill>
                            <a:latin typeface="Cambria Math" panose="02040503050406030204" pitchFamily="18" charset="0"/>
                            <a:cs typeface="Times New Roman" panose="02020603050405020304" pitchFamily="18" charset="0"/>
                          </a:rPr>
                          <m:t>𝒌</m:t>
                        </m:r>
                      </m:e>
                    </m:acc>
                  </m:oMath>
                </a14:m>
                <a:endParaRPr lang="fr-FR" sz="2800" b="1" i="1" noProof="0" dirty="0">
                  <a:solidFill>
                    <a:schemeClr val="bg1"/>
                  </a:solidFill>
                  <a:latin typeface="Times New Roman" panose="02020603050405020304" pitchFamily="18" charset="0"/>
                  <a:cs typeface="Times New Roman" panose="02020603050405020304" pitchFamily="18" charset="0"/>
                </a:endParaRPr>
              </a:p>
              <a:p>
                <a:pPr algn="l">
                  <a:lnSpc>
                    <a:spcPct val="115000"/>
                  </a:lnSpc>
                  <a:spcAft>
                    <a:spcPts val="800"/>
                  </a:spcAft>
                  <a:buNone/>
                </a:pPr>
                <a:r>
                  <a:rPr lang="fr-FR" sz="3200" b="1" i="1" kern="0" noProof="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Le vecteur </a:t>
                </a:r>
                <a14:m>
                  <m:oMath xmlns:m="http://schemas.openxmlformats.org/officeDocument/2006/math">
                    <m:acc>
                      <m:accPr>
                        <m:chr m:val="⃗"/>
                        <m:ctrlPr>
                          <a:rPr lang="fr-FR" sz="24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24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𝑬</m:t>
                        </m:r>
                      </m:e>
                    </m:acc>
                    <m:r>
                      <a:rPr lang="fr-FR" sz="2400" b="1" noProof="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2400" b="1" i="1" noProof="0">
                            <a:solidFill>
                              <a:schemeClr val="bg1"/>
                            </a:solidFill>
                            <a:latin typeface="Cambria Math" panose="02040503050406030204" pitchFamily="18" charset="0"/>
                            <a:cs typeface="Times New Roman" panose="02020603050405020304" pitchFamily="18" charset="0"/>
                          </a:rPr>
                        </m:ctrlPr>
                      </m:sSubPr>
                      <m:e>
                        <m:r>
                          <a:rPr lang="fr-FR" sz="2400" b="1" i="1" noProof="0" smtClean="0">
                            <a:solidFill>
                              <a:schemeClr val="bg1"/>
                            </a:solidFill>
                            <a:latin typeface="Cambria Math" panose="02040503050406030204" pitchFamily="18" charset="0"/>
                            <a:cs typeface="Times New Roman" panose="02020603050405020304" pitchFamily="18" charset="0"/>
                          </a:rPr>
                          <m:t>𝑬</m:t>
                        </m:r>
                      </m:e>
                      <m:sub>
                        <m:r>
                          <a:rPr lang="fr-FR" sz="2400" b="1" i="1" noProof="0" smtClean="0">
                            <a:solidFill>
                              <a:schemeClr val="bg1"/>
                            </a:solidFill>
                            <a:latin typeface="Cambria Math" panose="02040503050406030204" pitchFamily="18" charset="0"/>
                            <a:cs typeface="Times New Roman" panose="02020603050405020304" pitchFamily="18" charset="0"/>
                          </a:rPr>
                          <m:t>𝒙</m:t>
                        </m:r>
                      </m:sub>
                    </m:sSub>
                    <m:acc>
                      <m:accPr>
                        <m:chr m:val="⃗"/>
                        <m:ctrlPr>
                          <a:rPr lang="fr-FR" sz="2400" b="1" i="1" noProof="0">
                            <a:solidFill>
                              <a:schemeClr val="bg1"/>
                            </a:solidFill>
                            <a:latin typeface="Cambria Math" panose="02040503050406030204" pitchFamily="18" charset="0"/>
                            <a:cs typeface="Times New Roman" panose="02020603050405020304" pitchFamily="18" charset="0"/>
                          </a:rPr>
                        </m:ctrlPr>
                      </m:accPr>
                      <m:e>
                        <m:r>
                          <a:rPr lang="fr-FR" sz="2400" b="1" i="1" noProof="0" smtClean="0">
                            <a:solidFill>
                              <a:schemeClr val="bg1"/>
                            </a:solidFill>
                            <a:latin typeface="Cambria Math" panose="02040503050406030204" pitchFamily="18" charset="0"/>
                            <a:cs typeface="Times New Roman" panose="02020603050405020304" pitchFamily="18" charset="0"/>
                          </a:rPr>
                          <m:t>𝒊</m:t>
                        </m:r>
                      </m:e>
                    </m:acc>
                    <m:r>
                      <a:rPr lang="fr-FR" sz="2400" b="1" i="1" noProof="0" smtClean="0">
                        <a:solidFill>
                          <a:schemeClr val="bg1"/>
                        </a:solidFill>
                        <a:latin typeface="Cambria Math" panose="02040503050406030204" pitchFamily="18" charset="0"/>
                        <a:cs typeface="Times New Roman" panose="02020603050405020304" pitchFamily="18" charset="0"/>
                      </a:rPr>
                      <m:t>+</m:t>
                    </m:r>
                    <m:sSub>
                      <m:sSubPr>
                        <m:ctrlPr>
                          <a:rPr lang="fr-FR" sz="2400" b="1" i="1" kern="100" noProof="0">
                            <a:solidFill>
                              <a:schemeClr val="bg1"/>
                            </a:solidFill>
                            <a:latin typeface="Cambria Math" panose="02040503050406030204" pitchFamily="18" charset="0"/>
                            <a:cs typeface="Arial" panose="020B0604020202020204" pitchFamily="34" charset="0"/>
                          </a:rPr>
                        </m:ctrlPr>
                      </m:sSubPr>
                      <m:e>
                        <m:r>
                          <a:rPr lang="fr-FR" sz="2400" b="1" i="1" kern="100" noProof="0" smtClean="0">
                            <a:solidFill>
                              <a:schemeClr val="bg1"/>
                            </a:solidFill>
                            <a:latin typeface="Cambria Math" panose="02040503050406030204" pitchFamily="18" charset="0"/>
                            <a:cs typeface="Arial" panose="020B0604020202020204" pitchFamily="34" charset="0"/>
                          </a:rPr>
                          <m:t>𝑬</m:t>
                        </m:r>
                      </m:e>
                      <m:sub>
                        <m:r>
                          <a:rPr lang="fr-FR" sz="2400" b="1" i="1" kern="100" noProof="0" smtClean="0">
                            <a:solidFill>
                              <a:schemeClr val="bg1"/>
                            </a:solidFill>
                            <a:latin typeface="Cambria Math" panose="02040503050406030204" pitchFamily="18" charset="0"/>
                            <a:cs typeface="Arial" panose="020B0604020202020204" pitchFamily="34" charset="0"/>
                          </a:rPr>
                          <m:t>𝒚</m:t>
                        </m:r>
                      </m:sub>
                    </m:sSub>
                    <m:acc>
                      <m:accPr>
                        <m:chr m:val="⃗"/>
                        <m:ctrlPr>
                          <a:rPr lang="fr-FR" sz="2400" b="1" i="1" kern="100" noProof="0">
                            <a:solidFill>
                              <a:schemeClr val="bg1"/>
                            </a:solidFill>
                            <a:latin typeface="Cambria Math" panose="02040503050406030204" pitchFamily="18" charset="0"/>
                            <a:cs typeface="Arial" panose="020B0604020202020204" pitchFamily="34" charset="0"/>
                          </a:rPr>
                        </m:ctrlPr>
                      </m:accPr>
                      <m:e>
                        <m:r>
                          <a:rPr lang="fr-FR" sz="2400" b="1" i="1" kern="100" noProof="0" smtClean="0">
                            <a:solidFill>
                              <a:schemeClr val="bg1"/>
                            </a:solidFill>
                            <a:latin typeface="Cambria Math" panose="02040503050406030204" pitchFamily="18" charset="0"/>
                            <a:cs typeface="Arial" panose="020B0604020202020204" pitchFamily="34" charset="0"/>
                          </a:rPr>
                          <m:t>𝒋</m:t>
                        </m:r>
                      </m:e>
                    </m:acc>
                    <m:r>
                      <a:rPr lang="fr-FR" sz="2400" b="1" i="1" kern="100" noProof="0" smtClean="0">
                        <a:solidFill>
                          <a:schemeClr val="bg1"/>
                        </a:solidFill>
                        <a:latin typeface="Cambria Math" panose="02040503050406030204" pitchFamily="18" charset="0"/>
                        <a:cs typeface="Arial" panose="020B0604020202020204" pitchFamily="34" charset="0"/>
                      </a:rPr>
                      <m:t>+</m:t>
                    </m:r>
                    <m:sSub>
                      <m:sSubPr>
                        <m:ctrlPr>
                          <a:rPr lang="fr-FR" sz="2400" b="1" i="1" kern="100" noProof="0">
                            <a:solidFill>
                              <a:schemeClr val="bg1"/>
                            </a:solidFill>
                            <a:latin typeface="Cambria Math" panose="02040503050406030204" pitchFamily="18" charset="0"/>
                            <a:cs typeface="Arial" panose="020B0604020202020204" pitchFamily="34" charset="0"/>
                          </a:rPr>
                        </m:ctrlPr>
                      </m:sSubPr>
                      <m:e>
                        <m:r>
                          <a:rPr lang="fr-FR" sz="2400" b="1" i="1" kern="100" noProof="0" smtClean="0">
                            <a:solidFill>
                              <a:schemeClr val="bg1"/>
                            </a:solidFill>
                            <a:latin typeface="Cambria Math" panose="02040503050406030204" pitchFamily="18" charset="0"/>
                            <a:cs typeface="Arial" panose="020B0604020202020204" pitchFamily="34" charset="0"/>
                          </a:rPr>
                          <m:t>𝑬</m:t>
                        </m:r>
                      </m:e>
                      <m:sub>
                        <m:r>
                          <a:rPr lang="fr-FR" sz="2400" b="1" i="1" kern="100" noProof="0" smtClean="0">
                            <a:solidFill>
                              <a:schemeClr val="bg1"/>
                            </a:solidFill>
                            <a:latin typeface="Cambria Math" panose="02040503050406030204" pitchFamily="18" charset="0"/>
                            <a:cs typeface="Arial" panose="020B0604020202020204" pitchFamily="34" charset="0"/>
                          </a:rPr>
                          <m:t>𝒛</m:t>
                        </m:r>
                      </m:sub>
                    </m:sSub>
                    <m:acc>
                      <m:accPr>
                        <m:chr m:val="⃗"/>
                        <m:ctrlPr>
                          <a:rPr lang="fr-FR" sz="2400" b="1" i="1" kern="100" noProof="0">
                            <a:solidFill>
                              <a:schemeClr val="bg1"/>
                            </a:solidFill>
                            <a:latin typeface="Cambria Math" panose="02040503050406030204" pitchFamily="18" charset="0"/>
                            <a:cs typeface="Arial" panose="020B0604020202020204" pitchFamily="34" charset="0"/>
                          </a:rPr>
                        </m:ctrlPr>
                      </m:accPr>
                      <m:e>
                        <m:r>
                          <a:rPr lang="fr-FR" sz="2400" b="1" i="1" kern="100" noProof="0" smtClean="0">
                            <a:solidFill>
                              <a:schemeClr val="bg1"/>
                            </a:solidFill>
                            <a:latin typeface="Cambria Math" panose="02040503050406030204" pitchFamily="18" charset="0"/>
                            <a:cs typeface="Arial" panose="020B0604020202020204" pitchFamily="34" charset="0"/>
                          </a:rPr>
                          <m:t>𝒌</m:t>
                        </m:r>
                      </m:e>
                    </m:acc>
                  </m:oMath>
                </a14:m>
                <a:r>
                  <a:rPr lang="fr-FR" sz="2400" b="1" i="1" kern="100" noProof="0" dirty="0">
                    <a:solidFill>
                      <a:schemeClr val="bg1"/>
                    </a:solidFill>
                    <a:latin typeface="Cambria Math" panose="02040503050406030204" pitchFamily="18" charset="0"/>
                    <a:cs typeface="Arial" panose="020B0604020202020204" pitchFamily="34" charset="0"/>
                  </a:rPr>
                  <a:t> </a:t>
                </a:r>
              </a:p>
              <a:p>
                <a:pPr algn="l">
                  <a:lnSpc>
                    <a:spcPct val="115000"/>
                  </a:lnSpc>
                  <a:spcAft>
                    <a:spcPts val="800"/>
                  </a:spcAft>
                  <a:buNone/>
                </a:pPr>
                <a:r>
                  <a:rPr lang="fr-FR" sz="2800" b="1" i="1" kern="100" noProof="0" dirty="0">
                    <a:solidFill>
                      <a:schemeClr val="bg1"/>
                    </a:solidFill>
                    <a:latin typeface="Cambria Math" panose="02040503050406030204" pitchFamily="18" charset="0"/>
                    <a:cs typeface="Arial" panose="020B0604020202020204" pitchFamily="34" charset="0"/>
                  </a:rPr>
                  <a:t>On a  </a:t>
                </a:r>
                <a:r>
                  <a:rPr lang="fr-FR" sz="2800" b="1" i="1" kern="100" noProof="0" dirty="0">
                    <a:solidFill>
                      <a:srgbClr val="FFFF00"/>
                    </a:solidFill>
                    <a:latin typeface="Cambria Math" panose="02040503050406030204" pitchFamily="18" charset="0"/>
                    <a:cs typeface="Arial" panose="020B0604020202020204" pitchFamily="34" charset="0"/>
                  </a:rPr>
                  <a:t>                                                        </a:t>
                </a:r>
                <a:r>
                  <a:rPr lang="fr-FR" sz="2800" b="1" i="1" kern="100" noProof="0" dirty="0">
                    <a:solidFill>
                      <a:schemeClr val="bg1"/>
                    </a:solidFill>
                    <a:latin typeface="Cambria Math" panose="02040503050406030204" pitchFamily="18" charset="0"/>
                    <a:cs typeface="Arial" panose="020B0604020202020204" pitchFamily="34" charset="0"/>
                  </a:rPr>
                  <a:t>  </a:t>
                </a:r>
                <a14:m>
                  <m:oMath xmlns:m="http://schemas.openxmlformats.org/officeDocument/2006/math">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𝒙</m:t>
                            </m:r>
                          </m:den>
                        </m:f>
                        <m:r>
                          <m:rPr>
                            <m:nor/>
                          </m:rPr>
                          <a:rPr lang="fr-FR" sz="3000" b="1" kern="0" noProof="0" smtClean="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𝒊</m:t>
                            </m:r>
                          </m:e>
                        </m:acc>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𝒚</m:t>
                            </m:r>
                          </m:den>
                        </m:f>
                        <m:r>
                          <m:rPr>
                            <m:nor/>
                          </m:rPr>
                          <a:rPr lang="fr-FR" sz="3000" b="1" kern="0" noProof="0" smtClean="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𝒋</m:t>
                            </m:r>
                          </m:e>
                        </m:acc>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𝒛</m:t>
                            </m:r>
                          </m:den>
                        </m:f>
                        <m:r>
                          <m:rPr>
                            <m:nor/>
                          </m:rPr>
                          <a:rPr lang="fr-FR" sz="3000" b="1" kern="0" noProof="0" smtClean="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0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𝒌</m:t>
                            </m:r>
                          </m:e>
                        </m:acc>
                      </m:e>
                    </m:d>
                  </m:oMath>
                </a14:m>
                <a:endParaRPr lang="fr-FR" sz="2600" b="1" kern="100" noProof="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r>
                  <a:rPr lang="fr-FR" sz="2200" b="1" kern="0" noProof="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Ou         </a:t>
                </a:r>
                <a:r>
                  <a:rPr lang="fr-FR" sz="2600" b="1" kern="0" noProof="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14:m>
                  <m:oMath xmlns:m="http://schemas.openxmlformats.org/officeDocument/2006/math">
                    <m:sSub>
                      <m:sSubPr>
                        <m:ctrlP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𝑬</m:t>
                        </m:r>
                      </m:e>
                      <m:sub>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𝒙</m:t>
                        </m:r>
                      </m:sub>
                    </m:sSub>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𝒙</m:t>
                        </m:r>
                      </m:den>
                    </m:f>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𝑬</m:t>
                        </m:r>
                      </m:e>
                      <m:sub>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𝒚</m:t>
                        </m:r>
                      </m:sub>
                    </m:sSub>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𝒚</m:t>
                        </m:r>
                      </m:den>
                    </m:f>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𝑬</m:t>
                        </m:r>
                      </m:e>
                      <m:sub>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𝒛</m:t>
                        </m:r>
                      </m:sub>
                    </m:sSub>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500" b="1"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𝒛</m:t>
                        </m:r>
                      </m:den>
                    </m:f>
                  </m:oMath>
                </a14:m>
                <a:endParaRPr lang="fr-FR" sz="2000" b="1" kern="0" noProof="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endParaRPr>
              </a:p>
              <a:p>
                <a:pPr algn="l">
                  <a:lnSpc>
                    <a:spcPct val="115000"/>
                  </a:lnSpc>
                  <a:spcAft>
                    <a:spcPts val="800"/>
                  </a:spcAft>
                  <a:buNone/>
                </a:pPr>
                <a:r>
                  <a:rPr lang="fr-FR" sz="2800" b="1" kern="0" noProof="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fr-FR" sz="2800" b="1" kern="0" noProof="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2800" i="1" kern="0" noProof="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Cas typique :</a:t>
                </a:r>
                <a:r>
                  <a:rPr lang="fr-FR" sz="2800" kern="0" noProof="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champ uniforme entre deux plaques → variation selon une seule direction (souvent </a:t>
                </a:r>
                <a14:m>
                  <m:oMath xmlns:m="http://schemas.openxmlformats.org/officeDocument/2006/math">
                    <m:r>
                      <a:rPr lang="fr-FR" sz="2800" b="0" i="1" kern="0" noProof="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𝑥</m:t>
                    </m:r>
                  </m:oMath>
                </a14:m>
                <a:r>
                  <a:rPr lang="fr-FR" sz="2800" kern="0" noProof="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a:t>
                </a:r>
                <a:endParaRPr lang="fr-FR" sz="2800" kern="100" noProof="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endParaRPr lang="fr-FR" b="1" noProof="0" dirty="0"/>
              </a:p>
            </p:txBody>
          </p:sp>
        </mc:Choice>
        <mc:Fallback xmlns="">
          <p:sp>
            <p:nvSpPr>
              <p:cNvPr id="3" name="Espace réservé du texte 2">
                <a:extLst>
                  <a:ext uri="{FF2B5EF4-FFF2-40B4-BE49-F238E27FC236}">
                    <a16:creationId xmlns:a16="http://schemas.microsoft.com/office/drawing/2014/main" id="{E5ACDB5C-E518-A85E-E8C8-CF1533813245}"/>
                  </a:ext>
                </a:extLst>
              </p:cNvPr>
              <p:cNvSpPr>
                <a:spLocks noGrp="1" noRot="1" noChangeAspect="1" noMove="1" noResize="1" noEditPoints="1" noAdjustHandles="1" noChangeArrowheads="1" noChangeShapeType="1" noTextEdit="1"/>
              </p:cNvSpPr>
              <p:nvPr>
                <p:ph type="body" idx="1"/>
              </p:nvPr>
            </p:nvSpPr>
            <p:spPr>
              <a:xfrm>
                <a:off x="0" y="1306286"/>
                <a:ext cx="12192000" cy="5551714"/>
              </a:xfrm>
              <a:blipFill>
                <a:blip r:embed="rId2"/>
                <a:stretch>
                  <a:fillRect/>
                </a:stretch>
              </a:blipFill>
              <a:ln/>
            </p:spPr>
            <p:txBody>
              <a:bodyPr/>
              <a:lstStyle/>
              <a:p>
                <a:r>
                  <a:rPr lang="fr-FR">
                    <a:noFill/>
                  </a:rPr>
                  <a:t> </a:t>
                </a:r>
              </a:p>
            </p:txBody>
          </p:sp>
        </mc:Fallback>
      </mc:AlternateContent>
      <p:pic>
        <p:nvPicPr>
          <p:cNvPr id="5" name="Image 4">
            <a:extLst>
              <a:ext uri="{FF2B5EF4-FFF2-40B4-BE49-F238E27FC236}">
                <a16:creationId xmlns:a16="http://schemas.microsoft.com/office/drawing/2014/main" id="{8BC39BE3-4453-8ADE-18BA-49E16F997427}"/>
              </a:ext>
            </a:extLst>
          </p:cNvPr>
          <p:cNvPicPr>
            <a:picLocks noChangeAspect="1"/>
          </p:cNvPicPr>
          <p:nvPr/>
        </p:nvPicPr>
        <p:blipFill>
          <a:blip r:embed="rId3"/>
          <a:stretch>
            <a:fillRect/>
          </a:stretch>
        </p:blipFill>
        <p:spPr>
          <a:xfrm>
            <a:off x="1183516" y="3690258"/>
            <a:ext cx="3920068" cy="688908"/>
          </a:xfrm>
          <a:prstGeom prst="rect">
            <a:avLst/>
          </a:prstGeom>
        </p:spPr>
      </p:pic>
      <p:pic>
        <p:nvPicPr>
          <p:cNvPr id="6" name="Image 5">
            <a:extLst>
              <a:ext uri="{FF2B5EF4-FFF2-40B4-BE49-F238E27FC236}">
                <a16:creationId xmlns:a16="http://schemas.microsoft.com/office/drawing/2014/main" id="{FD991B97-375A-2B3F-9D16-90E104BC2D2D}"/>
              </a:ext>
            </a:extLst>
          </p:cNvPr>
          <p:cNvPicPr>
            <a:picLocks noChangeAspect="1"/>
          </p:cNvPicPr>
          <p:nvPr/>
        </p:nvPicPr>
        <p:blipFill>
          <a:blip r:embed="rId4"/>
          <a:stretch>
            <a:fillRect/>
          </a:stretch>
        </p:blipFill>
        <p:spPr>
          <a:xfrm>
            <a:off x="8153400" y="740230"/>
            <a:ext cx="4038600" cy="2950028"/>
          </a:xfrm>
          <a:prstGeom prst="rect">
            <a:avLst/>
          </a:prstGeom>
        </p:spPr>
      </p:pic>
      <p:cxnSp>
        <p:nvCxnSpPr>
          <p:cNvPr id="12" name="Connecteur droit avec flèche 11">
            <a:extLst>
              <a:ext uri="{FF2B5EF4-FFF2-40B4-BE49-F238E27FC236}">
                <a16:creationId xmlns:a16="http://schemas.microsoft.com/office/drawing/2014/main" id="{58269011-0D96-691E-C550-891B61388B34}"/>
              </a:ext>
            </a:extLst>
          </p:cNvPr>
          <p:cNvCxnSpPr/>
          <p:nvPr/>
        </p:nvCxnSpPr>
        <p:spPr>
          <a:xfrm>
            <a:off x="9383487" y="2639786"/>
            <a:ext cx="1349828" cy="544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988DB790-526D-97D9-5261-0E64C82BEBFE}"/>
              </a:ext>
            </a:extLst>
          </p:cNvPr>
          <p:cNvCxnSpPr/>
          <p:nvPr/>
        </p:nvCxnSpPr>
        <p:spPr>
          <a:xfrm flipV="1">
            <a:off x="10646228" y="1703616"/>
            <a:ext cx="0" cy="1393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3765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8C0A4CC8-6300-13D9-BBAA-844FF90EB3FC}"/>
                  </a:ext>
                </a:extLst>
              </p:cNvPr>
              <p:cNvSpPr>
                <a:spLocks noGrp="1"/>
              </p:cNvSpPr>
              <p:nvPr>
                <p:ph type="body" idx="1"/>
              </p:nvPr>
            </p:nvSpPr>
            <p:spPr>
              <a:xfrm>
                <a:off x="696686" y="1763487"/>
                <a:ext cx="10818181" cy="2438400"/>
              </a:xfrm>
              <a:solidFill>
                <a:schemeClr val="accent5">
                  <a:lumMod val="75000"/>
                </a:schemeClr>
              </a:solidFill>
              <a:scene3d>
                <a:camera prst="orthographicFront"/>
                <a:lightRig rig="threePt" dir="t"/>
              </a:scene3d>
              <a:sp3d>
                <a:bevelT w="114300" prst="artDeco"/>
              </a:sp3d>
            </p:spPr>
            <p:txBody>
              <a:bodyPr/>
              <a:lstStyle/>
              <a:p>
                <a:pPr algn="l">
                  <a:buNone/>
                </a:pPr>
                <a:r>
                  <a:rPr lang="fr-FR" sz="2800" b="1" noProof="0" dirty="0">
                    <a:solidFill>
                      <a:srgbClr val="FFFF00"/>
                    </a:solidFill>
                    <a:latin typeface="Times New Roman" panose="02020603050405020304" pitchFamily="18" charset="0"/>
                    <a:cs typeface="Times New Roman" panose="02020603050405020304" pitchFamily="18" charset="0"/>
                  </a:rPr>
                  <a:t>Exemple : </a:t>
                </a:r>
                <a:r>
                  <a:rPr lang="fr-FR" sz="2800" noProof="0" dirty="0">
                    <a:latin typeface="Times New Roman" panose="02020603050405020304" pitchFamily="18" charset="0"/>
                    <a:cs typeface="Times New Roman" panose="02020603050405020304" pitchFamily="18" charset="0"/>
                  </a:rPr>
                  <a:t>On considère un potentiel donné par :</a:t>
                </a:r>
                <a:endParaRPr lang="fr-FR" sz="2800" i="1" noProof="0" dirty="0">
                  <a:latin typeface="Cambria Math" panose="02040503050406030204" pitchFamily="18" charset="0"/>
                  <a:cs typeface="+mj-cs"/>
                </a:endParaRPr>
              </a:p>
              <a:p>
                <a:pPr algn="l">
                  <a:buNone/>
                </a:pPr>
                <a14:m>
                  <m:oMathPara xmlns:m="http://schemas.openxmlformats.org/officeDocument/2006/math">
                    <m:oMathParaPr>
                      <m:jc m:val="centerGroup"/>
                    </m:oMathParaPr>
                    <m:oMath xmlns:m="http://schemas.openxmlformats.org/officeDocument/2006/math">
                      <m:r>
                        <a:rPr lang="fr-FR" sz="2800" i="1" noProof="0" smtClean="0">
                          <a:latin typeface="Cambria Math" panose="02040503050406030204" pitchFamily="18" charset="0"/>
                          <a:cs typeface="+mj-cs"/>
                        </a:rPr>
                        <m:t>𝑉</m:t>
                      </m:r>
                      <m:d>
                        <m:dPr>
                          <m:sepChr m:val=","/>
                          <m:ctrlPr>
                            <a:rPr lang="fr-FR" sz="2800" i="1" noProof="0" smtClean="0">
                              <a:latin typeface="Cambria Math" panose="02040503050406030204" pitchFamily="18" charset="0"/>
                              <a:cs typeface="+mj-cs"/>
                            </a:rPr>
                          </m:ctrlPr>
                        </m:dPr>
                        <m:e>
                          <m:r>
                            <a:rPr lang="fr-FR" sz="2800" i="1" noProof="0" smtClean="0">
                              <a:latin typeface="Cambria Math" panose="02040503050406030204" pitchFamily="18" charset="0"/>
                              <a:cs typeface="+mj-cs"/>
                            </a:rPr>
                            <m:t>𝑥</m:t>
                          </m:r>
                        </m:e>
                        <m:e>
                          <m:r>
                            <a:rPr lang="fr-FR" sz="2800" i="1" noProof="0" smtClean="0">
                              <a:latin typeface="Cambria Math" panose="02040503050406030204" pitchFamily="18" charset="0"/>
                              <a:cs typeface="+mj-cs"/>
                            </a:rPr>
                            <m:t>𝑦</m:t>
                          </m:r>
                        </m:e>
                        <m:e>
                          <m:r>
                            <a:rPr lang="fr-FR" sz="2800" i="1" noProof="0" smtClean="0">
                              <a:latin typeface="Cambria Math" panose="02040503050406030204" pitchFamily="18" charset="0"/>
                              <a:cs typeface="+mj-cs"/>
                            </a:rPr>
                            <m:t>𝑧</m:t>
                          </m:r>
                        </m:e>
                      </m:d>
                      <m:r>
                        <a:rPr lang="fr-FR" sz="2800" i="0" noProof="0" smtClean="0">
                          <a:latin typeface="Cambria Math" panose="02040503050406030204" pitchFamily="18" charset="0"/>
                          <a:cs typeface="+mj-cs"/>
                        </a:rPr>
                        <m:t>=−</m:t>
                      </m:r>
                      <m:r>
                        <a:rPr lang="fr-FR" sz="2800" i="1" noProof="0" smtClean="0">
                          <a:latin typeface="Cambria Math" panose="02040503050406030204" pitchFamily="18" charset="0"/>
                          <a:cs typeface="+mj-cs"/>
                        </a:rPr>
                        <m:t>𝑘</m:t>
                      </m:r>
                      <m:r>
                        <m:rPr>
                          <m:nor/>
                        </m:rPr>
                        <a:rPr lang="fr-FR" sz="2800" b="0" i="1" noProof="0" smtClean="0">
                          <a:latin typeface="Times New Roman" panose="02020603050405020304" pitchFamily="18" charset="0"/>
                          <a:cs typeface="Times New Roman" panose="02020603050405020304" pitchFamily="18" charset="0"/>
                        </a:rPr>
                        <m:t> </m:t>
                      </m:r>
                      <m:r>
                        <a:rPr lang="fr-FR" sz="2800" b="0" i="1" noProof="0" smtClean="0">
                          <a:latin typeface="Cambria Math" panose="02040503050406030204" pitchFamily="18" charset="0"/>
                          <a:cs typeface="+mj-cs"/>
                        </a:rPr>
                        <m:t>𝑥</m:t>
                      </m:r>
                      <m:r>
                        <a:rPr lang="fr-FR" sz="2800" b="0" i="0" noProof="0" smtClean="0">
                          <a:latin typeface="Cambria Math" panose="02040503050406030204" pitchFamily="18" charset="0"/>
                          <a:cs typeface="+mj-cs"/>
                        </a:rPr>
                        <m:t>,</m:t>
                      </m:r>
                    </m:oMath>
                  </m:oMathPara>
                </a14:m>
                <a:endParaRPr lang="fr-FR" sz="2800" noProof="0" dirty="0">
                  <a:latin typeface="Times New Roman" panose="02020603050405020304" pitchFamily="18" charset="0"/>
                  <a:cs typeface="Times New Roman" panose="02020603050405020304" pitchFamily="18" charset="0"/>
                </a:endParaRPr>
              </a:p>
              <a:p>
                <a:pPr algn="l">
                  <a:buNone/>
                </a:pPr>
                <a:r>
                  <a:rPr lang="fr-FR" sz="2800" noProof="0" dirty="0">
                    <a:latin typeface="Times New Roman" panose="02020603050405020304" pitchFamily="18" charset="0"/>
                    <a:cs typeface="Times New Roman" panose="02020603050405020304" pitchFamily="18" charset="0"/>
                  </a:rPr>
                  <a:t>Où </a:t>
                </a:r>
                <a14:m>
                  <m:oMath xmlns:m="http://schemas.openxmlformats.org/officeDocument/2006/math">
                    <m:r>
                      <a:rPr lang="fr-FR" sz="2800" i="1" noProof="0" smtClean="0">
                        <a:latin typeface="Cambria Math" panose="02040503050406030204" pitchFamily="18" charset="0"/>
                        <a:cs typeface="+mj-cs"/>
                      </a:rPr>
                      <m:t>𝑘</m:t>
                    </m:r>
                  </m:oMath>
                </a14:m>
                <a:r>
                  <a:rPr lang="fr-FR" sz="2800" noProof="0" dirty="0">
                    <a:latin typeface="Times New Roman" panose="02020603050405020304" pitchFamily="18" charset="0"/>
                    <a:cs typeface="Times New Roman" panose="02020603050405020304" pitchFamily="18" charset="0"/>
                  </a:rPr>
                  <a:t> est une constante positive.</a:t>
                </a:r>
              </a:p>
              <a:p>
                <a:pPr algn="l">
                  <a:buNone/>
                </a:pPr>
                <a:r>
                  <a:rPr lang="fr-FR" sz="2800" noProof="0" dirty="0">
                    <a:latin typeface="Times New Roman" panose="02020603050405020304" pitchFamily="18" charset="0"/>
                    <a:cs typeface="Times New Roman" panose="02020603050405020304" pitchFamily="18" charset="0"/>
                  </a:rPr>
                  <a:t>Trouver le champ électrique crée par ce potentiel</a:t>
                </a:r>
              </a:p>
              <a:p>
                <a:endParaRPr lang="fr-FR" noProof="0" dirty="0"/>
              </a:p>
            </p:txBody>
          </p:sp>
        </mc:Choice>
        <mc:Fallback xmlns="">
          <p:sp>
            <p:nvSpPr>
              <p:cNvPr id="3" name="Espace réservé du texte 2">
                <a:extLst>
                  <a:ext uri="{FF2B5EF4-FFF2-40B4-BE49-F238E27FC236}">
                    <a16:creationId xmlns:a16="http://schemas.microsoft.com/office/drawing/2014/main" id="{8C0A4CC8-6300-13D9-BBAA-844FF90EB3FC}"/>
                  </a:ext>
                </a:extLst>
              </p:cNvPr>
              <p:cNvSpPr>
                <a:spLocks noGrp="1" noRot="1" noChangeAspect="1" noMove="1" noResize="1" noEditPoints="1" noAdjustHandles="1" noChangeArrowheads="1" noChangeShapeType="1" noTextEdit="1"/>
              </p:cNvSpPr>
              <p:nvPr>
                <p:ph type="body" idx="1"/>
              </p:nvPr>
            </p:nvSpPr>
            <p:spPr>
              <a:xfrm>
                <a:off x="696686" y="1763487"/>
                <a:ext cx="10818181" cy="2438400"/>
              </a:xfrm>
              <a:blipFill>
                <a:blip r:embed="rId2"/>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4876209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77C02C86-B22F-32B3-486B-21B863DF63E0}"/>
                  </a:ext>
                </a:extLst>
              </p:cNvPr>
              <p:cNvSpPr>
                <a:spLocks noGrp="1"/>
              </p:cNvSpPr>
              <p:nvPr>
                <p:ph type="body" idx="1"/>
              </p:nvPr>
            </p:nvSpPr>
            <p:spPr>
              <a:xfrm>
                <a:off x="-87086" y="0"/>
                <a:ext cx="12279086" cy="6858000"/>
              </a:xfrm>
              <a:solidFill>
                <a:schemeClr val="accent5">
                  <a:lumMod val="75000"/>
                </a:schemeClr>
              </a:solidFill>
              <a:scene3d>
                <a:camera prst="orthographicFront"/>
                <a:lightRig rig="threePt" dir="t"/>
              </a:scene3d>
              <a:sp3d>
                <a:bevelT w="114300" prst="artDeco"/>
              </a:sp3d>
            </p:spPr>
            <p:txBody>
              <a:bodyPr>
                <a:normAutofit/>
              </a:bodyPr>
              <a:lstStyle/>
              <a:p>
                <a:pPr lvl="0" algn="l">
                  <a:buClr>
                    <a:srgbClr val="FFFFFF"/>
                  </a:buClr>
                </a:pPr>
                <a:r>
                  <a:rPr lang="fr-FR" sz="2800" noProof="0" dirty="0">
                    <a:latin typeface="Times New Roman" panose="02020603050405020304" pitchFamily="18" charset="0"/>
                    <a:cs typeface="Times New Roman" panose="02020603050405020304" pitchFamily="18" charset="0"/>
                  </a:rPr>
                  <a:t>Ce potentiel dépend seulement de </a:t>
                </a:r>
                <a14:m>
                  <m:oMath xmlns:m="http://schemas.openxmlformats.org/officeDocument/2006/math">
                    <m:r>
                      <a:rPr lang="fr-FR" sz="2800" b="0" i="1" noProof="0" smtClean="0">
                        <a:latin typeface="Cambria Math" panose="02040503050406030204" pitchFamily="18" charset="0"/>
                      </a:rPr>
                      <m:t>𝑥</m:t>
                    </m:r>
                  </m:oMath>
                </a14:m>
                <a:r>
                  <a:rPr lang="fr-FR" sz="2800" noProof="0" dirty="0">
                    <a:latin typeface="Times New Roman" panose="02020603050405020304" pitchFamily="18" charset="0"/>
                    <a:cs typeface="Times New Roman" panose="02020603050405020304" pitchFamily="18" charset="0"/>
                  </a:rPr>
                  <a:t>. </a:t>
                </a:r>
                <a14:m>
                  <m:oMath xmlns:m="http://schemas.openxmlformats.org/officeDocument/2006/math">
                    <m:r>
                      <a:rPr lang="fr-FR" sz="2800" b="1" i="1" noProof="0" smtClean="0">
                        <a:solidFill>
                          <a:srgbClr val="FFFF00"/>
                        </a:solidFill>
                        <a:latin typeface="Cambria Math" panose="02040503050406030204" pitchFamily="18" charset="0"/>
                        <a:cs typeface="+mj-cs"/>
                      </a:rPr>
                      <m:t>𝑽</m:t>
                    </m:r>
                    <m:d>
                      <m:dPr>
                        <m:sepChr m:val=","/>
                        <m:ctrlPr>
                          <a:rPr lang="fr-FR" sz="2800" b="1" i="1" noProof="0" smtClean="0">
                            <a:solidFill>
                              <a:srgbClr val="FFFF00"/>
                            </a:solidFill>
                            <a:latin typeface="Cambria Math" panose="02040503050406030204" pitchFamily="18" charset="0"/>
                            <a:cs typeface="+mj-cs"/>
                          </a:rPr>
                        </m:ctrlPr>
                      </m:dPr>
                      <m:e>
                        <m:r>
                          <a:rPr lang="fr-FR" sz="2800" b="1" i="1" noProof="0" smtClean="0">
                            <a:solidFill>
                              <a:srgbClr val="FFFF00"/>
                            </a:solidFill>
                            <a:latin typeface="Cambria Math" panose="02040503050406030204" pitchFamily="18" charset="0"/>
                            <a:cs typeface="+mj-cs"/>
                          </a:rPr>
                          <m:t>𝒙</m:t>
                        </m:r>
                      </m:e>
                      <m:e>
                        <m:r>
                          <a:rPr lang="fr-FR" sz="2800" b="1" i="1" noProof="0" smtClean="0">
                            <a:solidFill>
                              <a:srgbClr val="FFFF00"/>
                            </a:solidFill>
                            <a:latin typeface="Cambria Math" panose="02040503050406030204" pitchFamily="18" charset="0"/>
                            <a:cs typeface="+mj-cs"/>
                          </a:rPr>
                          <m:t>𝒚</m:t>
                        </m:r>
                      </m:e>
                      <m:e>
                        <m:r>
                          <a:rPr lang="fr-FR" sz="2800" b="1" i="1" noProof="0" smtClean="0">
                            <a:solidFill>
                              <a:srgbClr val="FFFF00"/>
                            </a:solidFill>
                            <a:latin typeface="Cambria Math" panose="02040503050406030204" pitchFamily="18" charset="0"/>
                            <a:cs typeface="+mj-cs"/>
                          </a:rPr>
                          <m:t>𝒛</m:t>
                        </m:r>
                      </m:e>
                    </m:d>
                    <m:r>
                      <a:rPr lang="fr-FR" sz="2800" b="1" noProof="0" smtClean="0">
                        <a:solidFill>
                          <a:srgbClr val="FFFF00"/>
                        </a:solidFill>
                        <a:latin typeface="Cambria Math" panose="02040503050406030204" pitchFamily="18" charset="0"/>
                        <a:cs typeface="+mj-cs"/>
                      </a:rPr>
                      <m:t>=−</m:t>
                    </m:r>
                    <m:r>
                      <a:rPr lang="fr-FR" sz="2800" b="1" i="1" noProof="0" smtClean="0">
                        <a:solidFill>
                          <a:srgbClr val="FFFF00"/>
                        </a:solidFill>
                        <a:latin typeface="Cambria Math" panose="02040503050406030204" pitchFamily="18" charset="0"/>
                        <a:cs typeface="+mj-cs"/>
                      </a:rPr>
                      <m:t>𝒌</m:t>
                    </m:r>
                    <m:r>
                      <m:rPr>
                        <m:nor/>
                      </m:rPr>
                      <a:rPr lang="fr-FR" sz="2800" b="1" i="1" noProof="0" smtClean="0">
                        <a:solidFill>
                          <a:srgbClr val="FFFF00"/>
                        </a:solidFill>
                        <a:latin typeface="Times New Roman" panose="02020603050405020304" pitchFamily="18" charset="0"/>
                        <a:cs typeface="Times New Roman" panose="02020603050405020304" pitchFamily="18" charset="0"/>
                      </a:rPr>
                      <m:t> </m:t>
                    </m:r>
                    <m:r>
                      <a:rPr lang="fr-FR" sz="2800" b="1" i="1" noProof="0" smtClean="0">
                        <a:solidFill>
                          <a:srgbClr val="FFFF00"/>
                        </a:solidFill>
                        <a:latin typeface="Cambria Math" panose="02040503050406030204" pitchFamily="18" charset="0"/>
                        <a:cs typeface="+mj-cs"/>
                      </a:rPr>
                      <m:t>𝒙</m:t>
                    </m:r>
                    <m:r>
                      <a:rPr lang="fr-FR" sz="2800" b="1" noProof="0" smtClean="0">
                        <a:solidFill>
                          <a:schemeClr val="tx1"/>
                        </a:solidFill>
                        <a:highlight>
                          <a:srgbClr val="FFFF00"/>
                        </a:highlight>
                        <a:latin typeface="Cambria Math" panose="02040503050406030204" pitchFamily="18" charset="0"/>
                        <a:cs typeface="+mj-cs"/>
                      </a:rPr>
                      <m:t>,</m:t>
                    </m:r>
                  </m:oMath>
                </a14:m>
                <a:endParaRPr lang="fr-FR" sz="2800" b="1" noProof="0" dirty="0">
                  <a:solidFill>
                    <a:schemeClr val="tx1"/>
                  </a:solidFill>
                  <a:highlight>
                    <a:srgbClr val="FFFF00"/>
                  </a:highlight>
                  <a:latin typeface="Times New Roman" panose="02020603050405020304" pitchFamily="18" charset="0"/>
                  <a:cs typeface="Times New Roman" panose="02020603050405020304" pitchFamily="18" charset="0"/>
                </a:endParaRPr>
              </a:p>
              <a:p>
                <a:pPr algn="l">
                  <a:buNone/>
                </a:pPr>
                <a:r>
                  <a:rPr lang="fr-FR" sz="2800" b="1" noProof="0" dirty="0">
                    <a:solidFill>
                      <a:schemeClr val="tx1"/>
                    </a:solidFill>
                    <a:highlight>
                      <a:srgbClr val="FFFF00"/>
                    </a:highlight>
                    <a:latin typeface="Times New Roman" panose="02020603050405020304" pitchFamily="18" charset="0"/>
                    <a:cs typeface="Times New Roman" panose="02020603050405020304" pitchFamily="18" charset="0"/>
                  </a:rPr>
                  <a:t>Calcul du champ </a:t>
                </a:r>
                <a:r>
                  <a:rPr lang="fr-FR" sz="2800" noProof="0" dirty="0">
                    <a:solidFill>
                      <a:schemeClr val="tx1"/>
                    </a:solidFill>
                    <a:highlight>
                      <a:srgbClr val="FFFF00"/>
                    </a:highlight>
                    <a:latin typeface="Times New Roman" panose="02020603050405020304" pitchFamily="18" charset="0"/>
                    <a:cs typeface="Times New Roman" panose="02020603050405020304" pitchFamily="18" charset="0"/>
                  </a:rPr>
                  <a:t>:</a:t>
                </a:r>
              </a:p>
              <a:p>
                <a:pPr algn="l">
                  <a:buNone/>
                </a:pPr>
                <a:r>
                  <a:rPr lang="fr-FR" sz="2800" noProof="0" dirty="0">
                    <a:latin typeface="Times New Roman" panose="02020603050405020304" pitchFamily="18" charset="0"/>
                    <a:cs typeface="Times New Roman" panose="02020603050405020304" pitchFamily="18" charset="0"/>
                  </a:rPr>
                  <a:t>Puisque </a:t>
                </a:r>
                <a14:m>
                  <m:oMath xmlns:m="http://schemas.openxmlformats.org/officeDocument/2006/math">
                    <m:r>
                      <a:rPr lang="fr-FR" sz="2800" b="0" i="1" noProof="0" smtClean="0">
                        <a:latin typeface="Cambria Math" panose="02040503050406030204" pitchFamily="18" charset="0"/>
                      </a:rPr>
                      <m:t>𝑉</m:t>
                    </m:r>
                  </m:oMath>
                </a14:m>
                <a:r>
                  <a:rPr lang="fr-FR" sz="2800" noProof="0" dirty="0">
                    <a:latin typeface="Times New Roman" panose="02020603050405020304" pitchFamily="18" charset="0"/>
                    <a:cs typeface="Times New Roman" panose="02020603050405020304" pitchFamily="18" charset="0"/>
                  </a:rPr>
                  <a:t>varie uniquement avec </a:t>
                </a:r>
                <a14:m>
                  <m:oMath xmlns:m="http://schemas.openxmlformats.org/officeDocument/2006/math">
                    <m:r>
                      <a:rPr lang="fr-FR" sz="2800" b="0" i="1" noProof="0" smtClean="0">
                        <a:latin typeface="Cambria Math" panose="02040503050406030204" pitchFamily="18" charset="0"/>
                      </a:rPr>
                      <m:t>𝑥</m:t>
                    </m:r>
                  </m:oMath>
                </a14:m>
                <a:r>
                  <a:rPr lang="fr-FR" sz="2800" noProof="0" dirty="0">
                    <a:latin typeface="Times New Roman" panose="02020603050405020304" pitchFamily="18" charset="0"/>
                    <a:cs typeface="Times New Roman" panose="02020603050405020304" pitchFamily="18" charset="0"/>
                  </a:rPr>
                  <a:t>, on dérive :</a:t>
                </a:r>
              </a:p>
              <a:p>
                <a:pPr algn="l">
                  <a:buNone/>
                </a:pPr>
                <a14:m>
                  <m:oMathPara xmlns:m="http://schemas.openxmlformats.org/officeDocument/2006/math">
                    <m:oMathParaPr>
                      <m:jc m:val="centerGroup"/>
                    </m:oMathParaPr>
                    <m:oMath xmlns:m="http://schemas.openxmlformats.org/officeDocument/2006/math">
                      <m:f>
                        <m:fPr>
                          <m:ctrlPr>
                            <a:rPr lang="fr-FR" sz="2800" b="1" i="1" noProof="0" smtClean="0">
                              <a:solidFill>
                                <a:srgbClr val="FFFF00"/>
                              </a:solidFill>
                              <a:latin typeface="Cambria Math" panose="02040503050406030204" pitchFamily="18" charset="0"/>
                            </a:rPr>
                          </m:ctrlPr>
                        </m:fPr>
                        <m:num>
                          <m:r>
                            <a:rPr lang="fr-FR" sz="2800" b="1" i="1" noProof="0" smtClean="0">
                              <a:solidFill>
                                <a:srgbClr val="FFFF00"/>
                              </a:solidFill>
                              <a:latin typeface="Cambria Math" panose="02040503050406030204" pitchFamily="18" charset="0"/>
                            </a:rPr>
                            <m:t>𝝏</m:t>
                          </m:r>
                          <m:r>
                            <a:rPr lang="fr-FR" sz="2800" b="1" i="1" noProof="0" smtClean="0">
                              <a:solidFill>
                                <a:srgbClr val="FFFF00"/>
                              </a:solidFill>
                              <a:latin typeface="Cambria Math" panose="02040503050406030204" pitchFamily="18" charset="0"/>
                            </a:rPr>
                            <m:t>𝑽</m:t>
                          </m:r>
                        </m:num>
                        <m:den>
                          <m:r>
                            <a:rPr lang="fr-FR" sz="2800" b="1" i="0" noProof="0" smtClean="0">
                              <a:solidFill>
                                <a:srgbClr val="FFFF00"/>
                              </a:solidFill>
                              <a:latin typeface="Cambria Math" panose="02040503050406030204" pitchFamily="18" charset="0"/>
                            </a:rPr>
                            <m:t>𝛛</m:t>
                          </m:r>
                          <m:r>
                            <a:rPr lang="fr-FR" sz="2800" b="1" i="1" noProof="0" smtClean="0">
                              <a:solidFill>
                                <a:srgbClr val="FFFF00"/>
                              </a:solidFill>
                              <a:latin typeface="Cambria Math" panose="02040503050406030204" pitchFamily="18" charset="0"/>
                            </a:rPr>
                            <m:t>𝒙</m:t>
                          </m:r>
                        </m:den>
                      </m:f>
                      <m:r>
                        <a:rPr lang="fr-FR" sz="2800" b="1" i="0" noProof="0" smtClean="0">
                          <a:solidFill>
                            <a:srgbClr val="FFFF00"/>
                          </a:solidFill>
                          <a:latin typeface="Cambria Math" panose="02040503050406030204" pitchFamily="18" charset="0"/>
                        </a:rPr>
                        <m:t>=−</m:t>
                      </m:r>
                      <m:r>
                        <a:rPr lang="fr-FR" sz="2800" b="1" i="1" noProof="0" smtClean="0">
                          <a:solidFill>
                            <a:srgbClr val="FFFF00"/>
                          </a:solidFill>
                          <a:latin typeface="Cambria Math" panose="02040503050406030204" pitchFamily="18" charset="0"/>
                        </a:rPr>
                        <m:t>𝒌</m:t>
                      </m:r>
                      <m:r>
                        <a:rPr lang="fr-FR" sz="2800" b="1" i="0" noProof="0" smtClean="0">
                          <a:solidFill>
                            <a:srgbClr val="FFFF00"/>
                          </a:solidFill>
                          <a:latin typeface="Cambria Math" panose="02040503050406030204" pitchFamily="18" charset="0"/>
                        </a:rPr>
                        <m:t>, </m:t>
                      </m:r>
                      <m:f>
                        <m:fPr>
                          <m:ctrlPr>
                            <a:rPr lang="fr-FR" sz="2800" b="1" i="1" noProof="0" smtClean="0">
                              <a:solidFill>
                                <a:srgbClr val="FFFF00"/>
                              </a:solidFill>
                              <a:latin typeface="Cambria Math" panose="02040503050406030204" pitchFamily="18" charset="0"/>
                            </a:rPr>
                          </m:ctrlPr>
                        </m:fPr>
                        <m:num>
                          <m:r>
                            <a:rPr lang="fr-FR" sz="2800" b="1" i="0" noProof="0" smtClean="0">
                              <a:solidFill>
                                <a:srgbClr val="FFFF00"/>
                              </a:solidFill>
                              <a:latin typeface="Cambria Math" panose="02040503050406030204" pitchFamily="18" charset="0"/>
                            </a:rPr>
                            <m:t>𝛛</m:t>
                          </m:r>
                          <m:r>
                            <a:rPr lang="fr-FR" sz="2800" b="1" i="1" noProof="0" smtClean="0">
                              <a:solidFill>
                                <a:srgbClr val="FFFF00"/>
                              </a:solidFill>
                              <a:latin typeface="Cambria Math" panose="02040503050406030204" pitchFamily="18" charset="0"/>
                            </a:rPr>
                            <m:t>𝑽</m:t>
                          </m:r>
                        </m:num>
                        <m:den>
                          <m:r>
                            <a:rPr lang="fr-FR" sz="2800" b="1" i="0" noProof="0" smtClean="0">
                              <a:solidFill>
                                <a:srgbClr val="FFFF00"/>
                              </a:solidFill>
                              <a:latin typeface="Cambria Math" panose="02040503050406030204" pitchFamily="18" charset="0"/>
                            </a:rPr>
                            <m:t>𝛛</m:t>
                          </m:r>
                          <m:r>
                            <a:rPr lang="fr-FR" sz="2800" b="1" i="1" noProof="0" smtClean="0">
                              <a:solidFill>
                                <a:srgbClr val="FFFF00"/>
                              </a:solidFill>
                              <a:latin typeface="Cambria Math" panose="02040503050406030204" pitchFamily="18" charset="0"/>
                            </a:rPr>
                            <m:t>𝒚</m:t>
                          </m:r>
                        </m:den>
                      </m:f>
                      <m:r>
                        <a:rPr lang="fr-FR" sz="2800" b="1" i="0" noProof="0" smtClean="0">
                          <a:solidFill>
                            <a:srgbClr val="FFFF00"/>
                          </a:solidFill>
                          <a:latin typeface="Cambria Math" panose="02040503050406030204" pitchFamily="18" charset="0"/>
                        </a:rPr>
                        <m:t>=</m:t>
                      </m:r>
                      <m:r>
                        <a:rPr lang="fr-FR" sz="2800" b="1" i="0" noProof="0" smtClean="0">
                          <a:solidFill>
                            <a:srgbClr val="FFFF00"/>
                          </a:solidFill>
                          <a:latin typeface="Cambria Math" panose="02040503050406030204" pitchFamily="18" charset="0"/>
                        </a:rPr>
                        <m:t>𝟎</m:t>
                      </m:r>
                      <m:r>
                        <a:rPr lang="fr-FR" sz="2800" b="1" i="0" noProof="0" smtClean="0">
                          <a:solidFill>
                            <a:srgbClr val="FFFF00"/>
                          </a:solidFill>
                          <a:latin typeface="Cambria Math" panose="02040503050406030204" pitchFamily="18" charset="0"/>
                        </a:rPr>
                        <m:t>, </m:t>
                      </m:r>
                      <m:f>
                        <m:fPr>
                          <m:ctrlPr>
                            <a:rPr lang="fr-FR" sz="2800" b="1" i="1" noProof="0" smtClean="0">
                              <a:solidFill>
                                <a:srgbClr val="FFFF00"/>
                              </a:solidFill>
                              <a:latin typeface="Cambria Math" panose="02040503050406030204" pitchFamily="18" charset="0"/>
                            </a:rPr>
                          </m:ctrlPr>
                        </m:fPr>
                        <m:num>
                          <m:r>
                            <a:rPr lang="fr-FR" sz="2800" b="1" i="0" noProof="0" smtClean="0">
                              <a:solidFill>
                                <a:srgbClr val="FFFF00"/>
                              </a:solidFill>
                              <a:latin typeface="Cambria Math" panose="02040503050406030204" pitchFamily="18" charset="0"/>
                            </a:rPr>
                            <m:t>𝛛</m:t>
                          </m:r>
                          <m:r>
                            <a:rPr lang="fr-FR" sz="2800" b="1" i="1" noProof="0" smtClean="0">
                              <a:solidFill>
                                <a:srgbClr val="FFFF00"/>
                              </a:solidFill>
                              <a:latin typeface="Cambria Math" panose="02040503050406030204" pitchFamily="18" charset="0"/>
                            </a:rPr>
                            <m:t>𝑽</m:t>
                          </m:r>
                        </m:num>
                        <m:den>
                          <m:r>
                            <a:rPr lang="fr-FR" sz="2800" b="1" i="0" noProof="0" smtClean="0">
                              <a:solidFill>
                                <a:srgbClr val="FFFF00"/>
                              </a:solidFill>
                              <a:latin typeface="Cambria Math" panose="02040503050406030204" pitchFamily="18" charset="0"/>
                            </a:rPr>
                            <m:t>𝛛</m:t>
                          </m:r>
                          <m:r>
                            <a:rPr lang="fr-FR" sz="2800" b="1" i="1" noProof="0" smtClean="0">
                              <a:solidFill>
                                <a:srgbClr val="FFFF00"/>
                              </a:solidFill>
                              <a:latin typeface="Cambria Math" panose="02040503050406030204" pitchFamily="18" charset="0"/>
                            </a:rPr>
                            <m:t>𝒛</m:t>
                          </m:r>
                        </m:den>
                      </m:f>
                      <m:r>
                        <a:rPr lang="fr-FR" sz="2800" b="1" i="0" noProof="0" smtClean="0">
                          <a:solidFill>
                            <a:srgbClr val="FFFF00"/>
                          </a:solidFill>
                          <a:latin typeface="Cambria Math" panose="02040503050406030204" pitchFamily="18" charset="0"/>
                        </a:rPr>
                        <m:t>=</m:t>
                      </m:r>
                      <m:r>
                        <a:rPr lang="fr-FR" sz="2800" b="1" i="0" noProof="0" smtClean="0">
                          <a:solidFill>
                            <a:srgbClr val="FFFF00"/>
                          </a:solidFill>
                          <a:latin typeface="Cambria Math" panose="02040503050406030204" pitchFamily="18" charset="0"/>
                        </a:rPr>
                        <m:t>𝟎</m:t>
                      </m:r>
                      <m:r>
                        <a:rPr lang="fr-FR" sz="2800" b="1" i="0" noProof="0" smtClean="0">
                          <a:solidFill>
                            <a:srgbClr val="FFFF00"/>
                          </a:solidFill>
                          <a:latin typeface="Cambria Math" panose="02040503050406030204" pitchFamily="18" charset="0"/>
                        </a:rPr>
                        <m:t>.</m:t>
                      </m:r>
                    </m:oMath>
                  </m:oMathPara>
                </a14:m>
                <a:endParaRPr lang="fr-FR" sz="2800" b="1" noProof="0" dirty="0">
                  <a:solidFill>
                    <a:srgbClr val="FFFF00"/>
                  </a:solidFill>
                  <a:latin typeface="Times New Roman" panose="02020603050405020304" pitchFamily="18" charset="0"/>
                  <a:cs typeface="Times New Roman" panose="02020603050405020304" pitchFamily="18" charset="0"/>
                </a:endParaRPr>
              </a:p>
              <a:p>
                <a:pPr algn="l"/>
                <a:r>
                  <a:rPr lang="fr-FR" sz="2800" noProof="0" dirty="0">
                    <a:latin typeface="Times New Roman" panose="02020603050405020304" pitchFamily="18" charset="0"/>
                    <a:cs typeface="Times New Roman" panose="02020603050405020304" pitchFamily="18" charset="0"/>
                  </a:rPr>
                  <a:t>On applique la relation   </a:t>
                </a:r>
                <a14:m>
                  <m:oMath xmlns:m="http://schemas.openxmlformats.org/officeDocument/2006/math">
                    <m:acc>
                      <m:accPr>
                        <m:chr m:val="⃗"/>
                        <m:ctrlPr>
                          <a:rPr lang="fr-FR" sz="2800" i="1" noProof="0" smtClean="0">
                            <a:solidFill>
                              <a:srgbClr val="FFFF00"/>
                            </a:solidFill>
                            <a:latin typeface="Cambria Math" panose="02040503050406030204" pitchFamily="18" charset="0"/>
                          </a:rPr>
                        </m:ctrlPr>
                      </m:accPr>
                      <m:e>
                        <m:r>
                          <a:rPr lang="fr-FR" sz="2800" b="0" i="1" noProof="0" smtClean="0">
                            <a:solidFill>
                              <a:srgbClr val="FFFF00"/>
                            </a:solidFill>
                            <a:latin typeface="Cambria Math" panose="02040503050406030204" pitchFamily="18" charset="0"/>
                          </a:rPr>
                          <m:t>𝐸</m:t>
                        </m:r>
                      </m:e>
                    </m:acc>
                    <m:r>
                      <a:rPr lang="fr-FR" sz="2800" b="0" i="0" noProof="0" smtClean="0">
                        <a:solidFill>
                          <a:srgbClr val="FFFF00"/>
                        </a:solidFill>
                        <a:latin typeface="Cambria Math" panose="02040503050406030204" pitchFamily="18" charset="0"/>
                      </a:rPr>
                      <m:t>=−</m:t>
                    </m:r>
                    <m:acc>
                      <m:accPr>
                        <m:chr m:val="⃗"/>
                        <m:ctrlPr>
                          <a:rPr lang="fr-FR" sz="2800" b="0" i="1" noProof="0" smtClean="0">
                            <a:solidFill>
                              <a:srgbClr val="FFFF00"/>
                            </a:solidFill>
                            <a:latin typeface="Cambria Math" panose="02040503050406030204" pitchFamily="18" charset="0"/>
                          </a:rPr>
                        </m:ctrlPr>
                      </m:accPr>
                      <m:e>
                        <m:r>
                          <m:rPr>
                            <m:sty m:val="p"/>
                          </m:rPr>
                          <a:rPr lang="fr-FR" sz="2800" noProof="0" smtClean="0">
                            <a:solidFill>
                              <a:srgbClr val="FFFF00"/>
                            </a:solidFill>
                            <a:latin typeface="Cambria Math" panose="02040503050406030204" pitchFamily="18" charset="0"/>
                          </a:rPr>
                          <m:t>∇</m:t>
                        </m:r>
                      </m:e>
                    </m:acc>
                    <m:r>
                      <a:rPr lang="fr-FR" sz="2800" b="0" i="1" noProof="0" smtClean="0">
                        <a:solidFill>
                          <a:srgbClr val="FFFF00"/>
                        </a:solidFill>
                        <a:latin typeface="Cambria Math" panose="02040503050406030204" pitchFamily="18" charset="0"/>
                      </a:rPr>
                      <m:t>𝑉</m:t>
                    </m:r>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m:t>
                    </m:r>
                    <m:d>
                      <m:dPr>
                        <m:ctrlP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m:t>
                            </m:r>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m:t>
                            </m:r>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𝒙</m:t>
                            </m:r>
                          </m:den>
                        </m:f>
                        <m:r>
                          <m:rPr>
                            <m:nor/>
                          </m:rPr>
                          <a:rPr lang="fr-FR" sz="2800" b="1">
                            <a:solidFill>
                              <a:srgbClr val="FFFF00"/>
                            </a:solidFill>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𝒊</m:t>
                            </m:r>
                          </m:e>
                        </m:acc>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m:t>
                            </m:r>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m:t>
                            </m:r>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𝒚</m:t>
                            </m:r>
                          </m:den>
                        </m:f>
                        <m:r>
                          <m:rPr>
                            <m:nor/>
                          </m:rPr>
                          <a:rPr lang="fr-FR" sz="2800" b="1">
                            <a:solidFill>
                              <a:srgbClr val="FFFF00"/>
                            </a:solidFill>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𝒋</m:t>
                            </m:r>
                          </m:e>
                        </m:acc>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m:t>
                            </m:r>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m:t>
                            </m:r>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𝒛</m:t>
                            </m:r>
                          </m:den>
                        </m:f>
                        <m:r>
                          <m:rPr>
                            <m:nor/>
                          </m:rPr>
                          <a:rPr lang="fr-FR" sz="2800" b="1">
                            <a:solidFill>
                              <a:srgbClr val="FFFF00"/>
                            </a:solidFill>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fr-FR" sz="2800" b="1" i="1">
                                <a:solidFill>
                                  <a:srgbClr val="FFFF00"/>
                                </a:solidFill>
                                <a:latin typeface="Cambria Math" panose="02040503050406030204" pitchFamily="18" charset="0"/>
                                <a:ea typeface="Times New Roman" panose="02020603050405020304" pitchFamily="18" charset="0"/>
                                <a:cs typeface="Times New Roman" panose="02020603050405020304" pitchFamily="18" charset="0"/>
                              </a:rPr>
                              <m:t>𝒌</m:t>
                            </m:r>
                          </m:e>
                        </m:acc>
                      </m:e>
                    </m:d>
                  </m:oMath>
                </a14:m>
                <a:r>
                  <a:rPr lang="fr-FR" sz="2800" noProof="0" dirty="0">
                    <a:latin typeface="Times New Roman" panose="02020603050405020304" pitchFamily="18" charset="0"/>
                    <a:cs typeface="Times New Roman" panose="02020603050405020304" pitchFamily="18" charset="0"/>
                  </a:rPr>
                  <a:t>:</a:t>
                </a:r>
              </a:p>
              <a:p>
                <a:pPr algn="l">
                  <a:buNone/>
                </a:pPr>
                <a14:m>
                  <m:oMathPara xmlns:m="http://schemas.openxmlformats.org/officeDocument/2006/math">
                    <m:oMathParaPr>
                      <m:jc m:val="centerGroup"/>
                    </m:oMathParaPr>
                    <m:oMath xmlns:m="http://schemas.openxmlformats.org/officeDocument/2006/math">
                      <m:acc>
                        <m:accPr>
                          <m:chr m:val="⃗"/>
                          <m:ctrlPr>
                            <a:rPr lang="fr-FR" sz="2800" i="1" noProof="0" smtClean="0">
                              <a:latin typeface="Cambria Math" panose="02040503050406030204" pitchFamily="18" charset="0"/>
                            </a:rPr>
                          </m:ctrlPr>
                        </m:accPr>
                        <m:e>
                          <m:r>
                            <a:rPr lang="fr-FR" sz="2800" b="0" i="1" noProof="0" smtClean="0">
                              <a:latin typeface="Cambria Math" panose="02040503050406030204" pitchFamily="18" charset="0"/>
                            </a:rPr>
                            <m:t>𝐸</m:t>
                          </m:r>
                        </m:e>
                      </m:acc>
                      <m:r>
                        <a:rPr lang="fr-FR" sz="2800" b="0" i="0" noProof="0" smtClean="0">
                          <a:latin typeface="Cambria Math" panose="02040503050406030204" pitchFamily="18" charset="0"/>
                        </a:rPr>
                        <m:t>=−</m:t>
                      </m:r>
                      <m:d>
                        <m:dPr>
                          <m:ctrlPr>
                            <a:rPr lang="fr-FR" sz="2800" i="1" noProof="0" smtClean="0">
                              <a:latin typeface="Cambria Math" panose="02040503050406030204" pitchFamily="18" charset="0"/>
                            </a:rPr>
                          </m:ctrlPr>
                        </m:dPr>
                        <m:e>
                          <m:r>
                            <a:rPr lang="fr-FR" sz="2800" b="0" i="0" noProof="0" smtClean="0">
                              <a:latin typeface="Cambria Math" panose="02040503050406030204" pitchFamily="18" charset="0"/>
                            </a:rPr>
                            <m:t>−</m:t>
                          </m:r>
                          <m:r>
                            <a:rPr lang="fr-FR" sz="2800" b="0" i="1" noProof="0" smtClean="0">
                              <a:latin typeface="Cambria Math" panose="02040503050406030204" pitchFamily="18" charset="0"/>
                            </a:rPr>
                            <m:t>𝑘</m:t>
                          </m:r>
                          <m:r>
                            <m:rPr>
                              <m:nor/>
                            </m:rPr>
                            <a:rPr lang="fr-FR" sz="2800" i="1" noProof="0" smtClean="0">
                              <a:latin typeface="Times New Roman" panose="02020603050405020304" pitchFamily="18" charset="0"/>
                              <a:cs typeface="Times New Roman" panose="02020603050405020304" pitchFamily="18" charset="0"/>
                            </a:rPr>
                            <m:t> </m:t>
                          </m:r>
                          <m:sSub>
                            <m:sSubPr>
                              <m:ctrlPr>
                                <a:rPr lang="fr-FR" sz="2800" i="1" noProof="0" smtClean="0">
                                  <a:latin typeface="Cambria Math" panose="02040503050406030204" pitchFamily="18" charset="0"/>
                                </a:rPr>
                              </m:ctrlPr>
                            </m:sSubPr>
                            <m:e>
                              <m:acc>
                                <m:accPr>
                                  <m:chr m:val="⃗"/>
                                  <m:ctrlPr>
                                    <a:rPr lang="fr-FR" sz="2800" i="1" noProof="0" smtClean="0">
                                      <a:latin typeface="Cambria Math" panose="02040503050406030204" pitchFamily="18" charset="0"/>
                                    </a:rPr>
                                  </m:ctrlPr>
                                </m:accPr>
                                <m:e>
                                  <m:r>
                                    <a:rPr lang="fr-FR" sz="2800" b="0" i="1" noProof="0" smtClean="0">
                                      <a:latin typeface="Cambria Math" panose="02040503050406030204" pitchFamily="18" charset="0"/>
                                    </a:rPr>
                                    <m:t>𝑒</m:t>
                                  </m:r>
                                </m:e>
                              </m:acc>
                            </m:e>
                            <m:sub>
                              <m:r>
                                <a:rPr lang="fr-FR" sz="2800" b="0" i="1" noProof="0" smtClean="0">
                                  <a:latin typeface="Cambria Math" panose="02040503050406030204" pitchFamily="18" charset="0"/>
                                </a:rPr>
                                <m:t>𝑥</m:t>
                              </m:r>
                            </m:sub>
                          </m:sSub>
                          <m:r>
                            <a:rPr lang="fr-FR" sz="2800" b="0" i="0" noProof="0" smtClean="0">
                              <a:latin typeface="Cambria Math" panose="02040503050406030204" pitchFamily="18" charset="0"/>
                            </a:rPr>
                            <m:t>+0</m:t>
                          </m:r>
                          <m:r>
                            <m:rPr>
                              <m:nor/>
                            </m:rPr>
                            <a:rPr lang="fr-FR" sz="2800" i="1" noProof="0" smtClean="0">
                              <a:latin typeface="Times New Roman" panose="02020603050405020304" pitchFamily="18" charset="0"/>
                              <a:cs typeface="Times New Roman" panose="02020603050405020304" pitchFamily="18" charset="0"/>
                            </a:rPr>
                            <m:t> </m:t>
                          </m:r>
                          <m:sSub>
                            <m:sSubPr>
                              <m:ctrlPr>
                                <a:rPr lang="fr-FR" sz="2800" i="1" noProof="0" smtClean="0">
                                  <a:latin typeface="Cambria Math" panose="02040503050406030204" pitchFamily="18" charset="0"/>
                                </a:rPr>
                              </m:ctrlPr>
                            </m:sSubPr>
                            <m:e>
                              <m:acc>
                                <m:accPr>
                                  <m:chr m:val="⃗"/>
                                  <m:ctrlPr>
                                    <a:rPr lang="fr-FR" sz="2800" i="1" noProof="0" smtClean="0">
                                      <a:latin typeface="Cambria Math" panose="02040503050406030204" pitchFamily="18" charset="0"/>
                                    </a:rPr>
                                  </m:ctrlPr>
                                </m:accPr>
                                <m:e>
                                  <m:r>
                                    <a:rPr lang="fr-FR" sz="2800" b="0" i="1" noProof="0" smtClean="0">
                                      <a:latin typeface="Cambria Math" panose="02040503050406030204" pitchFamily="18" charset="0"/>
                                    </a:rPr>
                                    <m:t>𝑒</m:t>
                                  </m:r>
                                </m:e>
                              </m:acc>
                            </m:e>
                            <m:sub>
                              <m:r>
                                <a:rPr lang="fr-FR" sz="2800" b="0" i="1" noProof="0" smtClean="0">
                                  <a:latin typeface="Cambria Math" panose="02040503050406030204" pitchFamily="18" charset="0"/>
                                </a:rPr>
                                <m:t>𝑦</m:t>
                              </m:r>
                            </m:sub>
                          </m:sSub>
                          <m:r>
                            <a:rPr lang="fr-FR" sz="2800" b="0" i="0" noProof="0" smtClean="0">
                              <a:latin typeface="Cambria Math" panose="02040503050406030204" pitchFamily="18" charset="0"/>
                            </a:rPr>
                            <m:t>+0</m:t>
                          </m:r>
                          <m:r>
                            <m:rPr>
                              <m:nor/>
                            </m:rPr>
                            <a:rPr lang="fr-FR" sz="2800" i="1" noProof="0" smtClean="0">
                              <a:latin typeface="Times New Roman" panose="02020603050405020304" pitchFamily="18" charset="0"/>
                              <a:cs typeface="Times New Roman" panose="02020603050405020304" pitchFamily="18" charset="0"/>
                            </a:rPr>
                            <m:t> </m:t>
                          </m:r>
                          <m:sSub>
                            <m:sSubPr>
                              <m:ctrlPr>
                                <a:rPr lang="fr-FR" sz="2800" i="1" noProof="0" smtClean="0">
                                  <a:latin typeface="Cambria Math" panose="02040503050406030204" pitchFamily="18" charset="0"/>
                                </a:rPr>
                              </m:ctrlPr>
                            </m:sSubPr>
                            <m:e>
                              <m:acc>
                                <m:accPr>
                                  <m:chr m:val="⃗"/>
                                  <m:ctrlPr>
                                    <a:rPr lang="fr-FR" sz="2800" i="1" noProof="0" smtClean="0">
                                      <a:latin typeface="Cambria Math" panose="02040503050406030204" pitchFamily="18" charset="0"/>
                                    </a:rPr>
                                  </m:ctrlPr>
                                </m:accPr>
                                <m:e>
                                  <m:r>
                                    <a:rPr lang="fr-FR" sz="2800" b="0" i="1" noProof="0" smtClean="0">
                                      <a:latin typeface="Cambria Math" panose="02040503050406030204" pitchFamily="18" charset="0"/>
                                    </a:rPr>
                                    <m:t>𝑒</m:t>
                                  </m:r>
                                </m:e>
                              </m:acc>
                            </m:e>
                            <m:sub>
                              <m:r>
                                <a:rPr lang="fr-FR" sz="2800" b="0" i="1" noProof="0" smtClean="0">
                                  <a:latin typeface="Cambria Math" panose="02040503050406030204" pitchFamily="18" charset="0"/>
                                </a:rPr>
                                <m:t>𝑧</m:t>
                              </m:r>
                            </m:sub>
                          </m:sSub>
                        </m:e>
                      </m:d>
                    </m:oMath>
                  </m:oMathPara>
                </a14:m>
                <a:endParaRPr lang="fr-FR" sz="2800" noProof="0" dirty="0">
                  <a:latin typeface="Times New Roman" panose="02020603050405020304" pitchFamily="18" charset="0"/>
                  <a:cs typeface="Times New Roman" panose="02020603050405020304" pitchFamily="18" charset="0"/>
                </a:endParaRPr>
              </a:p>
              <a:p>
                <a:pPr algn="l">
                  <a:buNone/>
                </a:pPr>
                <a:r>
                  <a:rPr lang="fr-FR" sz="2800" noProof="0" dirty="0">
                    <a:latin typeface="Times New Roman" panose="02020603050405020304" pitchFamily="18" charset="0"/>
                    <a:cs typeface="Times New Roman" panose="02020603050405020304" pitchFamily="18" charset="0"/>
                  </a:rPr>
                  <a:t>donc :   </a:t>
                </a:r>
                <a14:m>
                  <m:oMath xmlns:m="http://schemas.openxmlformats.org/officeDocument/2006/math">
                    <m:acc>
                      <m:accPr>
                        <m:chr m:val="⃗"/>
                        <m:ctrlPr>
                          <a:rPr lang="fr-FR" sz="2800" i="1" noProof="0" smtClean="0">
                            <a:latin typeface="Cambria Math" panose="02040503050406030204" pitchFamily="18" charset="0"/>
                          </a:rPr>
                        </m:ctrlPr>
                      </m:accPr>
                      <m:e>
                        <m:r>
                          <a:rPr lang="fr-FR" sz="2800" b="0" i="1" noProof="0" smtClean="0">
                            <a:latin typeface="Cambria Math" panose="02040503050406030204" pitchFamily="18" charset="0"/>
                          </a:rPr>
                          <m:t>𝐸</m:t>
                        </m:r>
                      </m:e>
                    </m:acc>
                    <m:r>
                      <a:rPr lang="fr-FR" sz="2800" b="0" i="0" noProof="0" smtClean="0">
                        <a:latin typeface="Cambria Math" panose="02040503050406030204" pitchFamily="18" charset="0"/>
                      </a:rPr>
                      <m:t>=</m:t>
                    </m:r>
                    <m:r>
                      <a:rPr lang="fr-FR" sz="2800" b="0" i="1" noProof="0" smtClean="0">
                        <a:latin typeface="Cambria Math" panose="02040503050406030204" pitchFamily="18" charset="0"/>
                      </a:rPr>
                      <m:t>𝑘</m:t>
                    </m:r>
                    <m:r>
                      <m:rPr>
                        <m:nor/>
                      </m:rPr>
                      <a:rPr lang="fr-FR" sz="2800" i="1" noProof="0" smtClean="0">
                        <a:latin typeface="Times New Roman" panose="02020603050405020304" pitchFamily="18" charset="0"/>
                        <a:cs typeface="Times New Roman" panose="02020603050405020304" pitchFamily="18" charset="0"/>
                      </a:rPr>
                      <m:t> </m:t>
                    </m:r>
                    <m:sSub>
                      <m:sSubPr>
                        <m:ctrlPr>
                          <a:rPr lang="fr-FR" sz="2800" i="1" noProof="0" smtClean="0">
                            <a:latin typeface="Cambria Math" panose="02040503050406030204" pitchFamily="18" charset="0"/>
                          </a:rPr>
                        </m:ctrlPr>
                      </m:sSubPr>
                      <m:e>
                        <m:acc>
                          <m:accPr>
                            <m:chr m:val="⃗"/>
                            <m:ctrlPr>
                              <a:rPr lang="fr-FR" sz="2800" i="1" noProof="0" smtClean="0">
                                <a:latin typeface="Cambria Math" panose="02040503050406030204" pitchFamily="18" charset="0"/>
                              </a:rPr>
                            </m:ctrlPr>
                          </m:accPr>
                          <m:e>
                            <m:r>
                              <a:rPr lang="fr-FR" sz="2800" b="0" i="1" noProof="0" smtClean="0">
                                <a:latin typeface="Cambria Math" panose="02040503050406030204" pitchFamily="18" charset="0"/>
                              </a:rPr>
                              <m:t>𝑒</m:t>
                            </m:r>
                          </m:e>
                        </m:acc>
                      </m:e>
                      <m:sub>
                        <m:r>
                          <a:rPr lang="fr-FR" sz="2800" b="0" i="1" noProof="0" smtClean="0">
                            <a:latin typeface="Cambria Math" panose="02040503050406030204" pitchFamily="18" charset="0"/>
                          </a:rPr>
                          <m:t>𝑥</m:t>
                        </m:r>
                      </m:sub>
                    </m:sSub>
                    <m:r>
                      <a:rPr lang="fr-FR" sz="2800" b="0" i="0" noProof="0" smtClean="0">
                        <a:latin typeface="Cambria Math" panose="02040503050406030204" pitchFamily="18" charset="0"/>
                      </a:rPr>
                      <m:t>.</m:t>
                    </m:r>
                  </m:oMath>
                </a14:m>
                <a:endParaRPr lang="fr-FR" sz="2800" noProof="0" dirty="0">
                  <a:latin typeface="Times New Roman" panose="02020603050405020304" pitchFamily="18" charset="0"/>
                  <a:cs typeface="Times New Roman" panose="02020603050405020304" pitchFamily="18" charset="0"/>
                </a:endParaRPr>
              </a:p>
              <a:p>
                <a:pPr algn="l"/>
                <a:r>
                  <a:rPr lang="fr-FR" sz="2800" b="1" noProof="0" dirty="0">
                    <a:solidFill>
                      <a:schemeClr val="tx1"/>
                    </a:solidFill>
                    <a:highlight>
                      <a:srgbClr val="FFFF00"/>
                    </a:highlight>
                    <a:latin typeface="Times New Roman" panose="02020603050405020304" pitchFamily="18" charset="0"/>
                    <a:cs typeface="Times New Roman" panose="02020603050405020304" pitchFamily="18" charset="0"/>
                  </a:rPr>
                  <a:t>Conclusion </a:t>
                </a:r>
                <a:r>
                  <a:rPr lang="fr-FR" sz="2800" noProof="0" dirty="0">
                    <a:solidFill>
                      <a:srgbClr val="FFFF00"/>
                    </a:solidFill>
                    <a:highlight>
                      <a:srgbClr val="FFFF00"/>
                    </a:highlight>
                    <a:latin typeface="Times New Roman" panose="02020603050405020304" pitchFamily="18" charset="0"/>
                    <a:cs typeface="Times New Roman" panose="02020603050405020304" pitchFamily="18" charset="0"/>
                  </a:rPr>
                  <a:t>:</a:t>
                </a:r>
              </a:p>
              <a:p>
                <a:pPr marL="761993" indent="-457200" algn="l">
                  <a:buFont typeface="Wingdings" panose="05000000000000000000" pitchFamily="2" charset="2"/>
                  <a:buChar char="Ø"/>
                </a:pPr>
                <a:r>
                  <a:rPr lang="fr-FR" sz="2800" noProof="0" dirty="0">
                    <a:solidFill>
                      <a:srgbClr val="FFFF00"/>
                    </a:solidFill>
                    <a:latin typeface="Times New Roman" panose="02020603050405020304" pitchFamily="18" charset="0"/>
                    <a:cs typeface="Times New Roman" panose="02020603050405020304" pitchFamily="18" charset="0"/>
                  </a:rPr>
                  <a:t> </a:t>
                </a:r>
                <a:r>
                  <a:rPr lang="fr-FR" sz="2800" noProof="0" dirty="0">
                    <a:solidFill>
                      <a:schemeClr val="bg1"/>
                    </a:solidFill>
                    <a:latin typeface="Times New Roman" panose="02020603050405020304" pitchFamily="18" charset="0"/>
                    <a:cs typeface="Times New Roman" panose="02020603050405020304" pitchFamily="18" charset="0"/>
                  </a:rPr>
                  <a:t>Le champ est uniforme, de norme </a:t>
                </a:r>
                <a14:m>
                  <m:oMath xmlns:m="http://schemas.openxmlformats.org/officeDocument/2006/math">
                    <m:r>
                      <a:rPr lang="fr-FR" sz="2800" b="0" i="1" noProof="0" smtClean="0">
                        <a:solidFill>
                          <a:schemeClr val="bg1"/>
                        </a:solidFill>
                        <a:latin typeface="Cambria Math" panose="02040503050406030204" pitchFamily="18" charset="0"/>
                      </a:rPr>
                      <m:t>𝑘</m:t>
                    </m:r>
                  </m:oMath>
                </a14:m>
                <a:r>
                  <a:rPr lang="fr-FR" sz="2800" noProof="0" dirty="0">
                    <a:solidFill>
                      <a:schemeClr val="bg1"/>
                    </a:solidFill>
                    <a:latin typeface="Times New Roman" panose="02020603050405020304" pitchFamily="18" charset="0"/>
                    <a:cs typeface="Times New Roman" panose="02020603050405020304" pitchFamily="18" charset="0"/>
                  </a:rPr>
                  <a:t>, et dirigé selon </a:t>
                </a:r>
                <a14:m>
                  <m:oMath xmlns:m="http://schemas.openxmlformats.org/officeDocument/2006/math">
                    <m:r>
                      <a:rPr lang="fr-FR" sz="2800" b="0" noProof="0" smtClean="0">
                        <a:solidFill>
                          <a:schemeClr val="bg1"/>
                        </a:solidFill>
                        <a:latin typeface="Cambria Math" panose="02040503050406030204" pitchFamily="18" charset="0"/>
                      </a:rPr>
                      <m:t>+</m:t>
                    </m:r>
                    <m:r>
                      <a:rPr lang="fr-FR" sz="2800" b="0" i="1" noProof="0" smtClean="0">
                        <a:solidFill>
                          <a:schemeClr val="bg1"/>
                        </a:solidFill>
                        <a:latin typeface="Cambria Math" panose="02040503050406030204" pitchFamily="18" charset="0"/>
                      </a:rPr>
                      <m:t>𝑥</m:t>
                    </m:r>
                  </m:oMath>
                </a14:m>
                <a:r>
                  <a:rPr lang="fr-FR" sz="2800" noProof="0" dirty="0">
                    <a:solidFill>
                      <a:schemeClr val="bg1"/>
                    </a:solidFill>
                    <a:latin typeface="Times New Roman" panose="02020603050405020304" pitchFamily="18" charset="0"/>
                    <a:cs typeface="Times New Roman" panose="02020603050405020304" pitchFamily="18" charset="0"/>
                  </a:rPr>
                  <a:t>. </a:t>
                </a:r>
              </a:p>
              <a:p>
                <a:pPr marL="761993" indent="-457200" algn="l">
                  <a:buFont typeface="Wingdings" panose="05000000000000000000" pitchFamily="2" charset="2"/>
                  <a:buChar char="Ø"/>
                </a:pPr>
                <a:r>
                  <a:rPr lang="fr-FR" sz="2800" noProof="0" dirty="0">
                    <a:solidFill>
                      <a:schemeClr val="bg1"/>
                    </a:solidFill>
                    <a:latin typeface="Times New Roman" panose="02020603050405020304" pitchFamily="18" charset="0"/>
                    <a:cs typeface="Times New Roman" panose="02020603050405020304" pitchFamily="18" charset="0"/>
                  </a:rPr>
                  <a:t> Un potentiel qui change linéairement crée un champ électrique uniforme, et</a:t>
                </a:r>
              </a:p>
              <a:p>
                <a:pPr algn="l"/>
                <a:r>
                  <a:rPr lang="fr-FR" sz="2800" noProof="0" dirty="0">
                    <a:solidFill>
                      <a:schemeClr val="bg1"/>
                    </a:solidFill>
                    <a:latin typeface="Times New Roman" panose="02020603050405020304" pitchFamily="18" charset="0"/>
                    <a:cs typeface="Times New Roman" panose="02020603050405020304" pitchFamily="18" charset="0"/>
                  </a:rPr>
                  <a:t>inversement, un champ uniforme correspond à un potentiel </a:t>
                </a:r>
                <a:r>
                  <a:rPr lang="fr-FR" sz="2800" noProof="0" dirty="0">
                    <a:solidFill>
                      <a:schemeClr val="tx1"/>
                    </a:solidFill>
                    <a:highlight>
                      <a:srgbClr val="FFFF00"/>
                    </a:highlight>
                    <a:latin typeface="Times New Roman" panose="02020603050405020304" pitchFamily="18" charset="0"/>
                    <a:cs typeface="Times New Roman" panose="02020603050405020304" pitchFamily="18" charset="0"/>
                  </a:rPr>
                  <a:t>« en pente » </a:t>
                </a:r>
                <a:r>
                  <a:rPr lang="fr-FR" sz="2800" noProof="0" dirty="0">
                    <a:solidFill>
                      <a:schemeClr val="bg1"/>
                    </a:solidFill>
                    <a:latin typeface="Times New Roman" panose="02020603050405020304" pitchFamily="18" charset="0"/>
                    <a:cs typeface="Times New Roman" panose="02020603050405020304" pitchFamily="18" charset="0"/>
                  </a:rPr>
                  <a:t>régulière</a:t>
                </a:r>
              </a:p>
              <a:p>
                <a:pPr algn="l">
                  <a:buNone/>
                </a:pPr>
                <a:endParaRPr lang="fr-FR" sz="2800" noProof="0" dirty="0">
                  <a:solidFill>
                    <a:srgbClr val="FFFF00"/>
                  </a:solidFill>
                  <a:latin typeface="Times New Roman" panose="02020603050405020304" pitchFamily="18" charset="0"/>
                  <a:cs typeface="Times New Roman" panose="02020603050405020304" pitchFamily="18" charset="0"/>
                </a:endParaRPr>
              </a:p>
              <a:p>
                <a:pPr algn="l">
                  <a:buNone/>
                </a:pPr>
                <a:endParaRPr lang="fr-FR" sz="2800" noProof="0" dirty="0">
                  <a:solidFill>
                    <a:srgbClr val="FFFF00"/>
                  </a:solidFill>
                  <a:latin typeface="Times New Roman" panose="02020603050405020304" pitchFamily="18" charset="0"/>
                  <a:cs typeface="Times New Roman" panose="02020603050405020304" pitchFamily="18" charset="0"/>
                </a:endParaRPr>
              </a:p>
              <a:p>
                <a:endParaRPr lang="fr-FR" noProof="0" dirty="0"/>
              </a:p>
            </p:txBody>
          </p:sp>
        </mc:Choice>
        <mc:Fallback xmlns="">
          <p:sp>
            <p:nvSpPr>
              <p:cNvPr id="3" name="Espace réservé du texte 2">
                <a:extLst>
                  <a:ext uri="{FF2B5EF4-FFF2-40B4-BE49-F238E27FC236}">
                    <a16:creationId xmlns:a16="http://schemas.microsoft.com/office/drawing/2014/main" id="{77C02C86-B22F-32B3-486B-21B863DF63E0}"/>
                  </a:ext>
                </a:extLst>
              </p:cNvPr>
              <p:cNvSpPr>
                <a:spLocks noGrp="1" noRot="1" noChangeAspect="1" noMove="1" noResize="1" noEditPoints="1" noAdjustHandles="1" noChangeArrowheads="1" noChangeShapeType="1" noTextEdit="1"/>
              </p:cNvSpPr>
              <p:nvPr>
                <p:ph type="body" idx="1"/>
              </p:nvPr>
            </p:nvSpPr>
            <p:spPr>
              <a:xfrm>
                <a:off x="-87086" y="0"/>
                <a:ext cx="12279086" cy="6858000"/>
              </a:xfrm>
              <a:blipFill>
                <a:blip r:embed="rId2"/>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56041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1000"/>
                                        <p:tgtEl>
                                          <p:spTgt spid="3">
                                            <p:txEl>
                                              <p:pRg st="5" end="5"/>
                                            </p:txEl>
                                          </p:spTgt>
                                        </p:tgtEl>
                                      </p:cBhvr>
                                    </p:animEffect>
                                    <p:anim calcmode="lin" valueType="num">
                                      <p:cBhvr>
                                        <p:cTn id="3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1000"/>
                                        <p:tgtEl>
                                          <p:spTgt spid="3">
                                            <p:txEl>
                                              <p:pRg st="6" end="6"/>
                                            </p:txEl>
                                          </p:spTgt>
                                        </p:tgtEl>
                                      </p:cBhvr>
                                    </p:animEffect>
                                    <p:anim calcmode="lin" valueType="num">
                                      <p:cBhvr>
                                        <p:cTn id="3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fade">
                                      <p:cBhvr>
                                        <p:cTn id="45" dur="1000"/>
                                        <p:tgtEl>
                                          <p:spTgt spid="3">
                                            <p:txEl>
                                              <p:pRg st="7" end="7"/>
                                            </p:txEl>
                                          </p:spTgt>
                                        </p:tgtEl>
                                      </p:cBhvr>
                                    </p:animEffect>
                                    <p:anim calcmode="lin" valueType="num">
                                      <p:cBhvr>
                                        <p:cTn id="4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1000"/>
                                        <p:tgtEl>
                                          <p:spTgt spid="3">
                                            <p:txEl>
                                              <p:pRg st="8" end="8"/>
                                            </p:txEl>
                                          </p:spTgt>
                                        </p:tgtEl>
                                      </p:cBhvr>
                                    </p:animEffect>
                                    <p:anim calcmode="lin" valueType="num">
                                      <p:cBhvr>
                                        <p:cTn id="5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animEffect transition="in" filter="fade">
                                      <p:cBhvr>
                                        <p:cTn id="59" dur="1000"/>
                                        <p:tgtEl>
                                          <p:spTgt spid="3">
                                            <p:txEl>
                                              <p:pRg st="9" end="9"/>
                                            </p:txEl>
                                          </p:spTgt>
                                        </p:tgtEl>
                                      </p:cBhvr>
                                    </p:animEffect>
                                    <p:anim calcmode="lin" valueType="num">
                                      <p:cBhvr>
                                        <p:cTn id="6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9" end="9"/>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3">
                                            <p:txEl>
                                              <p:pRg st="10" end="10"/>
                                            </p:txEl>
                                          </p:spTgt>
                                        </p:tgtEl>
                                        <p:attrNameLst>
                                          <p:attrName>style.visibility</p:attrName>
                                        </p:attrNameLst>
                                      </p:cBhvr>
                                      <p:to>
                                        <p:strVal val="visible"/>
                                      </p:to>
                                    </p:set>
                                    <p:animEffect transition="in" filter="fade">
                                      <p:cBhvr>
                                        <p:cTn id="64" dur="1000"/>
                                        <p:tgtEl>
                                          <p:spTgt spid="3">
                                            <p:txEl>
                                              <p:pRg st="10" end="10"/>
                                            </p:txEl>
                                          </p:spTgt>
                                        </p:tgtEl>
                                      </p:cBhvr>
                                    </p:animEffect>
                                    <p:anim calcmode="lin" valueType="num">
                                      <p:cBhvr>
                                        <p:cTn id="6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0AF2D190-32F2-A776-2D4C-DA943552B912}"/>
                  </a:ext>
                </a:extLst>
              </p:cNvPr>
              <p:cNvSpPr>
                <a:spLocks noGrp="1"/>
              </p:cNvSpPr>
              <p:nvPr>
                <p:ph type="body" idx="1"/>
              </p:nvPr>
            </p:nvSpPr>
            <p:spPr>
              <a:xfrm>
                <a:off x="0" y="0"/>
                <a:ext cx="12191999" cy="6858000"/>
              </a:xfrm>
              <a:solidFill>
                <a:schemeClr val="accent5">
                  <a:lumMod val="75000"/>
                </a:schemeClr>
              </a:solidFill>
              <a:scene3d>
                <a:camera prst="orthographicFront"/>
                <a:lightRig rig="threePt" dir="t"/>
              </a:scene3d>
              <a:sp3d>
                <a:bevelT w="114300" prst="artDeco"/>
              </a:sp3d>
            </p:spPr>
            <p:txBody>
              <a:bodyPr>
                <a:normAutofit/>
              </a:bodyPr>
              <a:lstStyle/>
              <a:p>
                <a:pPr algn="l">
                  <a:buNone/>
                </a:pPr>
                <a:r>
                  <a:rPr lang="fr-FR" sz="2800" b="1" noProof="0" dirty="0">
                    <a:solidFill>
                      <a:srgbClr val="FFFF00"/>
                    </a:solidFill>
                    <a:latin typeface="Times New Roman" panose="02020603050405020304" pitchFamily="18" charset="0"/>
                    <a:cs typeface="Times New Roman" panose="02020603050405020304" pitchFamily="18" charset="0"/>
                  </a:rPr>
                  <a:t>Exemple 2 : </a:t>
                </a:r>
                <a:r>
                  <a:rPr lang="fr-FR" sz="2800" b="1" noProof="0" dirty="0">
                    <a:solidFill>
                      <a:schemeClr val="bg1"/>
                    </a:solidFill>
                    <a:latin typeface="Times New Roman" panose="02020603050405020304" pitchFamily="18" charset="0"/>
                    <a:cs typeface="Times New Roman" panose="02020603050405020304" pitchFamily="18" charset="0"/>
                  </a:rPr>
                  <a:t>( potentiel bidimensionnel )</a:t>
                </a:r>
              </a:p>
              <a:p>
                <a:pPr algn="l">
                  <a:buNone/>
                </a:pPr>
                <a:r>
                  <a:rPr lang="fr-FR" sz="2800" noProof="0" dirty="0">
                    <a:latin typeface="Times New Roman" panose="02020603050405020304" pitchFamily="18" charset="0"/>
                    <a:cs typeface="Times New Roman" panose="02020603050405020304" pitchFamily="18" charset="0"/>
                  </a:rPr>
                  <a:t>On définit : </a:t>
                </a:r>
                <a14:m>
                  <m:oMath xmlns:m="http://schemas.openxmlformats.org/officeDocument/2006/math">
                    <m:r>
                      <a:rPr lang="fr-FR" sz="2800" i="1" noProof="0" smtClean="0">
                        <a:solidFill>
                          <a:srgbClr val="FFFF00"/>
                        </a:solidFill>
                        <a:latin typeface="Cambria Math" panose="02040503050406030204" pitchFamily="18" charset="0"/>
                      </a:rPr>
                      <m:t>𝑉</m:t>
                    </m:r>
                    <m:d>
                      <m:dPr>
                        <m:sepChr m:val=","/>
                        <m:ctrlPr>
                          <a:rPr lang="fr-FR" sz="2800" i="1" noProof="0" smtClean="0">
                            <a:solidFill>
                              <a:srgbClr val="FFFF00"/>
                            </a:solidFill>
                            <a:latin typeface="Cambria Math" panose="02040503050406030204" pitchFamily="18" charset="0"/>
                          </a:rPr>
                        </m:ctrlPr>
                      </m:dPr>
                      <m:e>
                        <m:r>
                          <a:rPr lang="fr-FR" sz="2800" i="1" noProof="0" smtClean="0">
                            <a:solidFill>
                              <a:srgbClr val="FFFF00"/>
                            </a:solidFill>
                            <a:latin typeface="Cambria Math" panose="02040503050406030204" pitchFamily="18" charset="0"/>
                          </a:rPr>
                          <m:t>𝑥</m:t>
                        </m:r>
                      </m:e>
                      <m:e>
                        <m:r>
                          <a:rPr lang="fr-FR" sz="2800" i="1" noProof="0" smtClean="0">
                            <a:solidFill>
                              <a:srgbClr val="FFFF00"/>
                            </a:solidFill>
                            <a:latin typeface="Cambria Math" panose="02040503050406030204" pitchFamily="18" charset="0"/>
                          </a:rPr>
                          <m:t>𝑦</m:t>
                        </m:r>
                      </m:e>
                    </m:d>
                    <m:r>
                      <a:rPr lang="fr-FR" sz="2800" i="0" noProof="0" smtClean="0">
                        <a:solidFill>
                          <a:srgbClr val="FFFF00"/>
                        </a:solidFill>
                        <a:latin typeface="Cambria Math" panose="02040503050406030204" pitchFamily="18" charset="0"/>
                      </a:rPr>
                      <m:t>=</m:t>
                    </m:r>
                    <m:r>
                      <a:rPr lang="fr-FR" sz="2800" i="1" noProof="0" smtClean="0">
                        <a:solidFill>
                          <a:srgbClr val="FFFF00"/>
                        </a:solidFill>
                        <a:latin typeface="Cambria Math" panose="02040503050406030204" pitchFamily="18" charset="0"/>
                      </a:rPr>
                      <m:t>𝑎</m:t>
                    </m:r>
                    <m:sSup>
                      <m:sSupPr>
                        <m:ctrlPr>
                          <a:rPr lang="fr-FR" sz="2800" i="1" noProof="0" smtClean="0">
                            <a:solidFill>
                              <a:srgbClr val="FFFF00"/>
                            </a:solidFill>
                            <a:latin typeface="Cambria Math" panose="02040503050406030204" pitchFamily="18" charset="0"/>
                          </a:rPr>
                        </m:ctrlPr>
                      </m:sSupPr>
                      <m:e>
                        <m:r>
                          <a:rPr lang="fr-FR" sz="2800" i="1" noProof="0" smtClean="0">
                            <a:solidFill>
                              <a:srgbClr val="FFFF00"/>
                            </a:solidFill>
                            <a:latin typeface="Cambria Math" panose="02040503050406030204" pitchFamily="18" charset="0"/>
                          </a:rPr>
                          <m:t>𝑥</m:t>
                        </m:r>
                      </m:e>
                      <m:sup>
                        <m:r>
                          <a:rPr lang="fr-FR" sz="2800" i="0" noProof="0" smtClean="0">
                            <a:solidFill>
                              <a:srgbClr val="FFFF00"/>
                            </a:solidFill>
                            <a:latin typeface="Cambria Math" panose="02040503050406030204" pitchFamily="18" charset="0"/>
                          </a:rPr>
                          <m:t>2</m:t>
                        </m:r>
                      </m:sup>
                    </m:sSup>
                    <m:r>
                      <a:rPr lang="fr-FR" sz="2800" i="0" noProof="0" smtClean="0">
                        <a:solidFill>
                          <a:srgbClr val="FFFF00"/>
                        </a:solidFill>
                        <a:latin typeface="Cambria Math" panose="02040503050406030204" pitchFamily="18" charset="0"/>
                      </a:rPr>
                      <m:t>+</m:t>
                    </m:r>
                    <m:r>
                      <a:rPr lang="fr-FR" sz="2800" i="1" noProof="0" smtClean="0">
                        <a:solidFill>
                          <a:srgbClr val="FFFF00"/>
                        </a:solidFill>
                        <a:latin typeface="Cambria Math" panose="02040503050406030204" pitchFamily="18" charset="0"/>
                      </a:rPr>
                      <m:t>𝑏𝑦</m:t>
                    </m:r>
                    <m:r>
                      <a:rPr lang="fr-FR" sz="2800" b="0" i="1" noProof="0" smtClean="0">
                        <a:solidFill>
                          <a:srgbClr val="FFFF00"/>
                        </a:solidFill>
                        <a:latin typeface="Cambria Math" panose="02040503050406030204" pitchFamily="18" charset="0"/>
                      </a:rPr>
                      <m:t>+</m:t>
                    </m:r>
                    <m:r>
                      <a:rPr lang="fr-FR" sz="2800" b="0" i="1" noProof="0" smtClean="0">
                        <a:solidFill>
                          <a:srgbClr val="FFFF00"/>
                        </a:solidFill>
                        <a:latin typeface="Cambria Math" panose="02040503050406030204" pitchFamily="18" charset="0"/>
                      </a:rPr>
                      <m:t>𝑐</m:t>
                    </m:r>
                    <m:r>
                      <a:rPr lang="fr-FR" sz="2800" i="0" noProof="0" smtClean="0">
                        <a:latin typeface="Cambria Math" panose="02040503050406030204" pitchFamily="18" charset="0"/>
                      </a:rPr>
                      <m:t>,</m:t>
                    </m:r>
                  </m:oMath>
                </a14:m>
                <a:r>
                  <a:rPr lang="fr-FR" sz="2800" noProof="0" dirty="0">
                    <a:latin typeface="Times New Roman" panose="02020603050405020304" pitchFamily="18" charset="0"/>
                    <a:cs typeface="Times New Roman" panose="02020603050405020304" pitchFamily="18" charset="0"/>
                  </a:rPr>
                  <a:t> où </a:t>
                </a:r>
                <a14:m>
                  <m:oMath xmlns:m="http://schemas.openxmlformats.org/officeDocument/2006/math">
                    <m:r>
                      <a:rPr lang="fr-FR" sz="2800" i="1" noProof="0" smtClean="0">
                        <a:solidFill>
                          <a:srgbClr val="FFFF00"/>
                        </a:solidFill>
                        <a:latin typeface="Cambria Math" panose="02040503050406030204" pitchFamily="18" charset="0"/>
                      </a:rPr>
                      <m:t>𝑎</m:t>
                    </m:r>
                    <m:r>
                      <a:rPr lang="fr-FR" sz="2800" b="0" i="1" noProof="0" smtClean="0">
                        <a:solidFill>
                          <a:srgbClr val="FFFF00"/>
                        </a:solidFill>
                        <a:latin typeface="Cambria Math" panose="02040503050406030204" pitchFamily="18" charset="0"/>
                      </a:rPr>
                      <m:t>,</m:t>
                    </m:r>
                    <m:r>
                      <a:rPr lang="fr-FR" sz="2800" b="0" i="1" noProof="0" smtClean="0">
                        <a:solidFill>
                          <a:srgbClr val="FFFF00"/>
                        </a:solidFill>
                        <a:latin typeface="Cambria Math" panose="02040503050406030204" pitchFamily="18" charset="0"/>
                      </a:rPr>
                      <m:t>𝑏</m:t>
                    </m:r>
                    <m:r>
                      <a:rPr lang="fr-FR" sz="2800" b="0" i="1" noProof="0" smtClean="0">
                        <a:solidFill>
                          <a:srgbClr val="FFFF00"/>
                        </a:solidFill>
                        <a:latin typeface="Cambria Math" panose="02040503050406030204" pitchFamily="18" charset="0"/>
                      </a:rPr>
                      <m:t>  </m:t>
                    </m:r>
                  </m:oMath>
                </a14:m>
                <a:r>
                  <a:rPr lang="fr-FR" sz="2800" noProof="0" dirty="0">
                    <a:latin typeface="Times New Roman" panose="02020603050405020304" pitchFamily="18" charset="0"/>
                    <a:cs typeface="Times New Roman" panose="02020603050405020304" pitchFamily="18" charset="0"/>
                  </a:rPr>
                  <a:t>et </a:t>
                </a:r>
                <a:r>
                  <a:rPr lang="fr-FR" sz="2800" noProof="0" dirty="0">
                    <a:solidFill>
                      <a:srgbClr val="FFFF00"/>
                    </a:solidFill>
                    <a:latin typeface="Times New Roman" panose="02020603050405020304" pitchFamily="18" charset="0"/>
                    <a:cs typeface="Times New Roman" panose="02020603050405020304" pitchFamily="18" charset="0"/>
                  </a:rPr>
                  <a:t>c</a:t>
                </a:r>
                <a:r>
                  <a:rPr lang="fr-FR" sz="2800" noProof="0" dirty="0">
                    <a:latin typeface="Times New Roman" panose="02020603050405020304" pitchFamily="18" charset="0"/>
                    <a:cs typeface="Times New Roman" panose="02020603050405020304" pitchFamily="18" charset="0"/>
                  </a:rPr>
                  <a:t> sont des constantes réelles.</a:t>
                </a:r>
              </a:p>
              <a:p>
                <a:pPr algn="l">
                  <a:buNone/>
                </a:pPr>
                <a:r>
                  <a:rPr lang="fr-FR" sz="2800" b="1" noProof="0" dirty="0">
                    <a:solidFill>
                      <a:srgbClr val="FFFF00"/>
                    </a:solidFill>
                    <a:latin typeface="Times New Roman" panose="02020603050405020304" pitchFamily="18" charset="0"/>
                    <a:cs typeface="Times New Roman" panose="02020603050405020304" pitchFamily="18" charset="0"/>
                  </a:rPr>
                  <a:t>	Calcul des dérivées partielles </a:t>
                </a:r>
                <a:r>
                  <a:rPr lang="fr-FR" sz="2800" b="1" noProof="0" dirty="0">
                    <a:latin typeface="Times New Roman" panose="02020603050405020304" pitchFamily="18" charset="0"/>
                    <a:cs typeface="Times New Roman" panose="02020603050405020304" pitchFamily="18" charset="0"/>
                  </a:rPr>
                  <a:t>:</a:t>
                </a:r>
                <a:endParaRPr lang="fr-FR" sz="3200" b="1" noProof="0" dirty="0">
                  <a:latin typeface="Times New Roman" panose="02020603050405020304" pitchFamily="18" charset="0"/>
                  <a:cs typeface="Times New Roman" panose="02020603050405020304" pitchFamily="18" charset="0"/>
                </a:endParaRPr>
              </a:p>
              <a:p>
                <a:pPr algn="ctr"/>
                <a:r>
                  <a:rPr lang="fr-FR" sz="3200" b="1" noProof="0" dirty="0">
                    <a:latin typeface="Times New Roman" panose="02020603050405020304" pitchFamily="18" charset="0"/>
                    <a:cs typeface="Times New Roman" panose="02020603050405020304" pitchFamily="18" charset="0"/>
                  </a:rPr>
                  <a:t> </a:t>
                </a:r>
                <a14:m>
                  <m:oMath xmlns:m="http://schemas.openxmlformats.org/officeDocument/2006/math">
                    <m:f>
                      <m:fPr>
                        <m:ctrlPr>
                          <a:rPr lang="fr-FR" sz="3200" i="1" noProof="0" smtClean="0">
                            <a:latin typeface="Cambria Math" panose="02040503050406030204" pitchFamily="18" charset="0"/>
                          </a:rPr>
                        </m:ctrlPr>
                      </m:fPr>
                      <m:num>
                        <m:r>
                          <a:rPr lang="fr-FR" sz="3200" noProof="0" smtClean="0">
                            <a:latin typeface="Cambria Math" panose="02040503050406030204" pitchFamily="18" charset="0"/>
                          </a:rPr>
                          <m:t>𝜕</m:t>
                        </m:r>
                        <m:r>
                          <a:rPr lang="fr-FR" sz="3200" i="1" noProof="0" smtClean="0">
                            <a:latin typeface="Cambria Math" panose="02040503050406030204" pitchFamily="18" charset="0"/>
                          </a:rPr>
                          <m:t>𝑉</m:t>
                        </m:r>
                      </m:num>
                      <m:den>
                        <m:r>
                          <a:rPr lang="fr-FR" sz="3200" i="0" noProof="0" smtClean="0">
                            <a:latin typeface="Cambria Math" panose="02040503050406030204" pitchFamily="18" charset="0"/>
                          </a:rPr>
                          <m:t>𝜕</m:t>
                        </m:r>
                        <m:r>
                          <a:rPr lang="fr-FR" sz="3200" i="1" noProof="0" smtClean="0">
                            <a:latin typeface="Cambria Math" panose="02040503050406030204" pitchFamily="18" charset="0"/>
                          </a:rPr>
                          <m:t>𝑥</m:t>
                        </m:r>
                      </m:den>
                    </m:f>
                    <m:r>
                      <a:rPr lang="fr-FR" sz="3200" i="0" noProof="0" smtClean="0">
                        <a:latin typeface="Cambria Math" panose="02040503050406030204" pitchFamily="18" charset="0"/>
                      </a:rPr>
                      <m:t>=2</m:t>
                    </m:r>
                    <m:r>
                      <a:rPr lang="fr-FR" sz="3200" i="1" noProof="0" smtClean="0">
                        <a:latin typeface="Cambria Math" panose="02040503050406030204" pitchFamily="18" charset="0"/>
                      </a:rPr>
                      <m:t>𝑎𝑥</m:t>
                    </m:r>
                    <m:r>
                      <a:rPr lang="fr-FR" sz="3200" b="0" i="0" noProof="0" smtClean="0">
                        <a:latin typeface="Cambria Math" panose="02040503050406030204" pitchFamily="18" charset="0"/>
                      </a:rPr>
                      <m:t>       </m:t>
                    </m:r>
                    <m:r>
                      <a:rPr lang="fr-FR" sz="3200" i="0" noProof="0" smtClean="0">
                        <a:latin typeface="Cambria Math" panose="02040503050406030204" pitchFamily="18" charset="0"/>
                      </a:rPr>
                      <m:t> </m:t>
                    </m:r>
                    <m:f>
                      <m:fPr>
                        <m:ctrlPr>
                          <a:rPr lang="fr-FR" sz="3200" i="1" noProof="0" smtClean="0">
                            <a:latin typeface="Cambria Math" panose="02040503050406030204" pitchFamily="18" charset="0"/>
                          </a:rPr>
                        </m:ctrlPr>
                      </m:fPr>
                      <m:num>
                        <m:r>
                          <a:rPr lang="fr-FR" sz="3200" i="0" noProof="0" smtClean="0">
                            <a:latin typeface="Cambria Math" panose="02040503050406030204" pitchFamily="18" charset="0"/>
                          </a:rPr>
                          <m:t>𝜕</m:t>
                        </m:r>
                        <m:r>
                          <a:rPr lang="fr-FR" sz="3200" i="1" noProof="0" smtClean="0">
                            <a:latin typeface="Cambria Math" panose="02040503050406030204" pitchFamily="18" charset="0"/>
                          </a:rPr>
                          <m:t>𝑉</m:t>
                        </m:r>
                      </m:num>
                      <m:den>
                        <m:r>
                          <a:rPr lang="fr-FR" sz="3200" i="0" noProof="0" smtClean="0">
                            <a:latin typeface="Cambria Math" panose="02040503050406030204" pitchFamily="18" charset="0"/>
                          </a:rPr>
                          <m:t>𝜕</m:t>
                        </m:r>
                        <m:r>
                          <a:rPr lang="fr-FR" sz="3200" i="1" noProof="0" smtClean="0">
                            <a:latin typeface="Cambria Math" panose="02040503050406030204" pitchFamily="18" charset="0"/>
                          </a:rPr>
                          <m:t>𝑦</m:t>
                        </m:r>
                      </m:den>
                    </m:f>
                    <m:r>
                      <a:rPr lang="fr-FR" sz="3200" i="0" noProof="0" smtClean="0">
                        <a:latin typeface="Cambria Math" panose="02040503050406030204" pitchFamily="18" charset="0"/>
                      </a:rPr>
                      <m:t>=</m:t>
                    </m:r>
                    <m:r>
                      <a:rPr lang="fr-FR" sz="3200" i="1" noProof="0" smtClean="0">
                        <a:latin typeface="Cambria Math" panose="02040503050406030204" pitchFamily="18" charset="0"/>
                      </a:rPr>
                      <m:t>𝑏</m:t>
                    </m:r>
                  </m:oMath>
                </a14:m>
                <a:r>
                  <a:rPr lang="fr-FR" sz="2800" noProof="0" dirty="0">
                    <a:latin typeface="Times New Roman" panose="02020603050405020304" pitchFamily="18" charset="0"/>
                    <a:cs typeface="Times New Roman" panose="02020603050405020304" pitchFamily="18" charset="0"/>
                  </a:rPr>
                  <a:t>         </a:t>
                </a:r>
                <a14:m>
                  <m:oMath xmlns:m="http://schemas.openxmlformats.org/officeDocument/2006/math">
                    <m:f>
                      <m:fPr>
                        <m:ctrlPr>
                          <a:rPr lang="fr-FR" sz="3200" i="1" noProof="0" smtClean="0">
                            <a:solidFill>
                              <a:srgbClr val="FFFFFF"/>
                            </a:solidFill>
                            <a:latin typeface="Cambria Math" panose="02040503050406030204" pitchFamily="18" charset="0"/>
                          </a:rPr>
                        </m:ctrlPr>
                      </m:fPr>
                      <m:num>
                        <m:r>
                          <a:rPr lang="fr-FR" sz="3200" noProof="0" smtClean="0">
                            <a:solidFill>
                              <a:srgbClr val="FFFFFF"/>
                            </a:solidFill>
                            <a:latin typeface="Cambria Math" panose="02040503050406030204" pitchFamily="18" charset="0"/>
                          </a:rPr>
                          <m:t>𝜕</m:t>
                        </m:r>
                        <m:r>
                          <a:rPr lang="fr-FR" sz="3200" i="1" noProof="0" smtClean="0">
                            <a:solidFill>
                              <a:srgbClr val="FFFFFF"/>
                            </a:solidFill>
                            <a:latin typeface="Cambria Math" panose="02040503050406030204" pitchFamily="18" charset="0"/>
                          </a:rPr>
                          <m:t>𝑉</m:t>
                        </m:r>
                      </m:num>
                      <m:den>
                        <m:r>
                          <a:rPr lang="fr-FR" sz="3200" noProof="0" smtClean="0">
                            <a:solidFill>
                              <a:srgbClr val="FFFFFF"/>
                            </a:solidFill>
                            <a:latin typeface="Cambria Math" panose="02040503050406030204" pitchFamily="18" charset="0"/>
                          </a:rPr>
                          <m:t>𝜕</m:t>
                        </m:r>
                        <m:r>
                          <m:rPr>
                            <m:sty m:val="p"/>
                          </m:rPr>
                          <a:rPr lang="fr-FR" sz="3200" b="0" i="0" noProof="0" smtClean="0">
                            <a:solidFill>
                              <a:srgbClr val="FFFFFF"/>
                            </a:solidFill>
                            <a:latin typeface="Cambria Math" panose="02040503050406030204" pitchFamily="18" charset="0"/>
                          </a:rPr>
                          <m:t>z</m:t>
                        </m:r>
                      </m:den>
                    </m:f>
                    <m:r>
                      <a:rPr lang="fr-FR" sz="3200" b="0" i="1" noProof="0" smtClean="0">
                        <a:solidFill>
                          <a:srgbClr val="FFFFFF"/>
                        </a:solidFill>
                        <a:latin typeface="Cambria Math" panose="02040503050406030204" pitchFamily="18" charset="0"/>
                      </a:rPr>
                      <m:t>=0</m:t>
                    </m:r>
                  </m:oMath>
                </a14:m>
                <a:r>
                  <a:rPr lang="fr-FR" sz="2800" noProof="0" dirty="0">
                    <a:latin typeface="Times New Roman" panose="02020603050405020304" pitchFamily="18" charset="0"/>
                    <a:cs typeface="Times New Roman" panose="02020603050405020304" pitchFamily="18" charset="0"/>
                  </a:rPr>
                  <a:t> </a:t>
                </a:r>
                <a:endParaRPr lang="fr-FR" sz="2800" b="1" dirty="0">
                  <a:solidFill>
                    <a:srgbClr val="FFFF00"/>
                  </a:solidFill>
                  <a:latin typeface="Times New Roman" panose="02020603050405020304" pitchFamily="18" charset="0"/>
                  <a:cs typeface="Times New Roman" panose="02020603050405020304" pitchFamily="18" charset="0"/>
                </a:endParaRPr>
              </a:p>
              <a:p>
                <a:pPr algn="l">
                  <a:buNone/>
                </a:pPr>
                <a:r>
                  <a:rPr lang="fr-FR" sz="2800" b="1" noProof="0" dirty="0">
                    <a:solidFill>
                      <a:srgbClr val="FFFF00"/>
                    </a:solidFill>
                    <a:latin typeface="Times New Roman" panose="02020603050405020304" pitchFamily="18" charset="0"/>
                    <a:cs typeface="Times New Roman" panose="02020603050405020304" pitchFamily="18" charset="0"/>
                  </a:rPr>
                  <a:t>Le champ électriques (</a:t>
                </a:r>
                <a:r>
                  <a:rPr lang="fr-FR" sz="2800" noProof="0" dirty="0">
                    <a:solidFill>
                      <a:srgbClr val="FFFF00"/>
                    </a:solidFill>
                    <a:latin typeface="Times New Roman" panose="02020603050405020304" pitchFamily="18" charset="0"/>
                    <a:cs typeface="Times New Roman" panose="02020603050405020304" pitchFamily="18" charset="0"/>
                  </a:rPr>
                  <a:t>En coordonnées cartésiennes ):</a:t>
                </a:r>
              </a:p>
              <a:p>
                <a:pPr algn="l">
                  <a:buNone/>
                </a:pPr>
                <a:endParaRPr lang="fr-FR" sz="2800" noProof="0" dirty="0">
                  <a:solidFill>
                    <a:srgbClr val="FFFF00"/>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acc>
                        <m:accPr>
                          <m:chr m:val="⃗"/>
                          <m:ctrlPr>
                            <a:rPr lang="fr-FR" sz="2800" i="1" noProof="0" smtClean="0">
                              <a:latin typeface="Cambria Math" panose="02040503050406030204" pitchFamily="18" charset="0"/>
                            </a:rPr>
                          </m:ctrlPr>
                        </m:accPr>
                        <m:e>
                          <m:r>
                            <a:rPr lang="fr-FR" sz="2800" i="1" noProof="0" smtClean="0">
                              <a:latin typeface="Cambria Math" panose="02040503050406030204" pitchFamily="18" charset="0"/>
                            </a:rPr>
                            <m:t>𝐸</m:t>
                          </m:r>
                        </m:e>
                      </m:acc>
                      <m:r>
                        <a:rPr lang="fr-FR" sz="2800" i="0" noProof="0" smtClean="0">
                          <a:latin typeface="Cambria Math" panose="02040503050406030204" pitchFamily="18" charset="0"/>
                        </a:rPr>
                        <m:t>=−</m:t>
                      </m:r>
                      <m:acc>
                        <m:accPr>
                          <m:chr m:val="⃗"/>
                          <m:ctrlPr>
                            <a:rPr lang="fr-FR" sz="2800" i="1" noProof="0" smtClean="0">
                              <a:latin typeface="Cambria Math" panose="02040503050406030204" pitchFamily="18" charset="0"/>
                            </a:rPr>
                          </m:ctrlPr>
                        </m:accPr>
                        <m:e>
                          <m:r>
                            <m:rPr>
                              <m:sty m:val="p"/>
                            </m:rPr>
                            <a:rPr lang="fr-FR" sz="2800" noProof="0" smtClean="0">
                              <a:latin typeface="Cambria Math" panose="02040503050406030204" pitchFamily="18" charset="0"/>
                            </a:rPr>
                            <m:t>∇</m:t>
                          </m:r>
                        </m:e>
                      </m:acc>
                      <m:r>
                        <a:rPr lang="fr-FR" sz="2800" i="1" noProof="0" smtClean="0">
                          <a:latin typeface="Cambria Math" panose="02040503050406030204" pitchFamily="18" charset="0"/>
                        </a:rPr>
                        <m:t>𝑉</m:t>
                      </m:r>
                      <m:r>
                        <a:rPr lang="fr-FR" sz="2800" i="0" noProof="0" smtClean="0">
                          <a:latin typeface="Cambria Math" panose="02040503050406030204" pitchFamily="18" charset="0"/>
                        </a:rPr>
                        <m:t>=−</m:t>
                      </m:r>
                      <m:d>
                        <m:dPr>
                          <m:ctrlPr>
                            <a:rPr lang="fr-FR" sz="2800" i="1" noProof="0" smtClean="0">
                              <a:latin typeface="Cambria Math" panose="02040503050406030204" pitchFamily="18" charset="0"/>
                            </a:rPr>
                          </m:ctrlPr>
                        </m:dPr>
                        <m:e>
                          <m:f>
                            <m:fPr>
                              <m:ctrlPr>
                                <a:rPr lang="fr-FR" sz="2800" i="1" noProof="0" smtClean="0">
                                  <a:latin typeface="Cambria Math" panose="02040503050406030204" pitchFamily="18" charset="0"/>
                                </a:rPr>
                              </m:ctrlPr>
                            </m:fPr>
                            <m:num>
                              <m:r>
                                <a:rPr lang="fr-FR" sz="2800" i="0" noProof="0" smtClean="0">
                                  <a:latin typeface="Cambria Math" panose="02040503050406030204" pitchFamily="18" charset="0"/>
                                </a:rPr>
                                <m:t>𝜕</m:t>
                              </m:r>
                              <m:r>
                                <a:rPr lang="fr-FR" sz="2800" i="1" noProof="0" smtClean="0">
                                  <a:latin typeface="Cambria Math" panose="02040503050406030204" pitchFamily="18" charset="0"/>
                                </a:rPr>
                                <m:t>𝑉</m:t>
                              </m:r>
                            </m:num>
                            <m:den>
                              <m:r>
                                <a:rPr lang="fr-FR" sz="2800" i="0" noProof="0" smtClean="0">
                                  <a:latin typeface="Cambria Math" panose="02040503050406030204" pitchFamily="18" charset="0"/>
                                </a:rPr>
                                <m:t>𝜕</m:t>
                              </m:r>
                              <m:r>
                                <a:rPr lang="fr-FR" sz="2800" i="1" noProof="0" smtClean="0">
                                  <a:latin typeface="Cambria Math" panose="02040503050406030204" pitchFamily="18" charset="0"/>
                                </a:rPr>
                                <m:t>𝑥</m:t>
                              </m:r>
                            </m:den>
                          </m:f>
                          <m:r>
                            <m:rPr>
                              <m:nor/>
                            </m:rPr>
                            <a:rPr lang="fr-FR" sz="2800" b="0" i="1" noProof="0" smtClean="0">
                              <a:latin typeface="Times New Roman" panose="02020603050405020304" pitchFamily="18" charset="0"/>
                              <a:cs typeface="Times New Roman" panose="02020603050405020304" pitchFamily="18" charset="0"/>
                            </a:rPr>
                            <m:t> </m:t>
                          </m:r>
                          <m:sSub>
                            <m:sSubPr>
                              <m:ctrlPr>
                                <a:rPr lang="fr-FR" sz="2800" b="0" i="1" noProof="0" smtClean="0">
                                  <a:latin typeface="Cambria Math" panose="02040503050406030204" pitchFamily="18" charset="0"/>
                                </a:rPr>
                              </m:ctrlPr>
                            </m:sSubPr>
                            <m:e>
                              <m:acc>
                                <m:accPr>
                                  <m:chr m:val="⃗"/>
                                  <m:ctrlPr>
                                    <a:rPr lang="fr-FR" sz="2800" b="0" i="1" noProof="0" smtClean="0">
                                      <a:latin typeface="Cambria Math" panose="02040503050406030204" pitchFamily="18" charset="0"/>
                                    </a:rPr>
                                  </m:ctrlPr>
                                </m:accPr>
                                <m:e>
                                  <m:r>
                                    <a:rPr lang="fr-FR" sz="2800" b="0" i="1" noProof="0" smtClean="0">
                                      <a:latin typeface="Cambria Math" panose="02040503050406030204" pitchFamily="18" charset="0"/>
                                    </a:rPr>
                                    <m:t>𝑒</m:t>
                                  </m:r>
                                </m:e>
                              </m:acc>
                            </m:e>
                            <m:sub>
                              <m:r>
                                <a:rPr lang="fr-FR" sz="2800" b="0" i="1" noProof="0" smtClean="0">
                                  <a:latin typeface="Cambria Math" panose="02040503050406030204" pitchFamily="18" charset="0"/>
                                </a:rPr>
                                <m:t>𝑥</m:t>
                              </m:r>
                            </m:sub>
                          </m:sSub>
                          <m:r>
                            <a:rPr lang="fr-FR" sz="2800" b="0" i="0" noProof="0" smtClean="0">
                              <a:latin typeface="Cambria Math" panose="02040503050406030204" pitchFamily="18" charset="0"/>
                            </a:rPr>
                            <m:t>+</m:t>
                          </m:r>
                          <m:f>
                            <m:fPr>
                              <m:ctrlPr>
                                <a:rPr lang="fr-FR" sz="2800" b="0" i="1" noProof="0" smtClean="0">
                                  <a:latin typeface="Cambria Math" panose="02040503050406030204" pitchFamily="18" charset="0"/>
                                </a:rPr>
                              </m:ctrlPr>
                            </m:fPr>
                            <m:num>
                              <m:r>
                                <a:rPr lang="fr-FR" sz="2800" b="0" i="0" noProof="0" smtClean="0">
                                  <a:latin typeface="Cambria Math" panose="02040503050406030204" pitchFamily="18" charset="0"/>
                                </a:rPr>
                                <m:t>𝜕</m:t>
                              </m:r>
                              <m:r>
                                <a:rPr lang="fr-FR" sz="2800" b="0" i="1" noProof="0" smtClean="0">
                                  <a:latin typeface="Cambria Math" panose="02040503050406030204" pitchFamily="18" charset="0"/>
                                </a:rPr>
                                <m:t>𝑉</m:t>
                              </m:r>
                            </m:num>
                            <m:den>
                              <m:r>
                                <a:rPr lang="fr-FR" sz="2800" b="0" i="0" noProof="0" smtClean="0">
                                  <a:latin typeface="Cambria Math" panose="02040503050406030204" pitchFamily="18" charset="0"/>
                                </a:rPr>
                                <m:t>𝜕</m:t>
                              </m:r>
                              <m:r>
                                <a:rPr lang="fr-FR" sz="2800" b="0" i="1" noProof="0" smtClean="0">
                                  <a:latin typeface="Cambria Math" panose="02040503050406030204" pitchFamily="18" charset="0"/>
                                </a:rPr>
                                <m:t>𝑦</m:t>
                              </m:r>
                            </m:den>
                          </m:f>
                          <m:r>
                            <m:rPr>
                              <m:nor/>
                            </m:rPr>
                            <a:rPr lang="fr-FR" sz="2800" b="0" i="1" noProof="0" smtClean="0">
                              <a:latin typeface="Times New Roman" panose="02020603050405020304" pitchFamily="18" charset="0"/>
                              <a:cs typeface="Times New Roman" panose="02020603050405020304" pitchFamily="18" charset="0"/>
                            </a:rPr>
                            <m:t> </m:t>
                          </m:r>
                          <m:sSub>
                            <m:sSubPr>
                              <m:ctrlPr>
                                <a:rPr lang="fr-FR" sz="2800" b="0" i="1" noProof="0" smtClean="0">
                                  <a:latin typeface="Cambria Math" panose="02040503050406030204" pitchFamily="18" charset="0"/>
                                </a:rPr>
                              </m:ctrlPr>
                            </m:sSubPr>
                            <m:e>
                              <m:acc>
                                <m:accPr>
                                  <m:chr m:val="⃗"/>
                                  <m:ctrlPr>
                                    <a:rPr lang="fr-FR" sz="2800" b="0" i="1" noProof="0" smtClean="0">
                                      <a:latin typeface="Cambria Math" panose="02040503050406030204" pitchFamily="18" charset="0"/>
                                    </a:rPr>
                                  </m:ctrlPr>
                                </m:accPr>
                                <m:e>
                                  <m:r>
                                    <a:rPr lang="fr-FR" sz="2800" b="0" i="1" noProof="0" smtClean="0">
                                      <a:latin typeface="Cambria Math" panose="02040503050406030204" pitchFamily="18" charset="0"/>
                                    </a:rPr>
                                    <m:t>𝑒</m:t>
                                  </m:r>
                                </m:e>
                              </m:acc>
                            </m:e>
                            <m:sub>
                              <m:r>
                                <a:rPr lang="fr-FR" sz="2800" b="0" i="1" noProof="0" smtClean="0">
                                  <a:latin typeface="Cambria Math" panose="02040503050406030204" pitchFamily="18" charset="0"/>
                                </a:rPr>
                                <m:t>𝑦</m:t>
                              </m:r>
                            </m:sub>
                          </m:sSub>
                        </m:e>
                      </m:d>
                    </m:oMath>
                  </m:oMathPara>
                </a14:m>
                <a:endParaRPr lang="fr-FR" sz="2800" b="0" noProof="0" dirty="0">
                  <a:latin typeface="Times New Roman" panose="02020603050405020304" pitchFamily="18" charset="0"/>
                  <a:cs typeface="Times New Roman" panose="02020603050405020304" pitchFamily="18" charset="0"/>
                </a:endParaRPr>
              </a:p>
              <a:p>
                <a:pPr algn="l">
                  <a:buNone/>
                </a:pPr>
                <a:r>
                  <a:rPr lang="fr-FR" sz="2800" noProof="0" dirty="0">
                    <a:latin typeface="Times New Roman" panose="02020603050405020304" pitchFamily="18" charset="0"/>
                    <a:cs typeface="Times New Roman" panose="02020603050405020304" pitchFamily="18" charset="0"/>
                  </a:rPr>
                  <a:t>Donc :</a:t>
                </a:r>
              </a:p>
              <a:p>
                <a:pPr algn="l">
                  <a:buNone/>
                </a:pPr>
                <a14:m>
                  <m:oMathPara xmlns:m="http://schemas.openxmlformats.org/officeDocument/2006/math">
                    <m:oMathParaPr>
                      <m:jc m:val="centerGroup"/>
                    </m:oMathParaPr>
                    <m:oMath xmlns:m="http://schemas.openxmlformats.org/officeDocument/2006/math">
                      <m:acc>
                        <m:accPr>
                          <m:chr m:val="⃗"/>
                          <m:ctrlPr>
                            <a:rPr lang="fr-FR" sz="2800" i="1" noProof="0" smtClean="0">
                              <a:latin typeface="Cambria Math" panose="02040503050406030204" pitchFamily="18" charset="0"/>
                            </a:rPr>
                          </m:ctrlPr>
                        </m:accPr>
                        <m:e>
                          <m:r>
                            <a:rPr lang="fr-FR" sz="2800" i="1" noProof="0" smtClean="0">
                              <a:latin typeface="Cambria Math" panose="02040503050406030204" pitchFamily="18" charset="0"/>
                            </a:rPr>
                            <m:t>𝐸</m:t>
                          </m:r>
                        </m:e>
                      </m:acc>
                      <m:d>
                        <m:dPr>
                          <m:sepChr m:val=","/>
                          <m:ctrlPr>
                            <a:rPr lang="fr-FR" sz="2800" i="1" noProof="0" smtClean="0">
                              <a:latin typeface="Cambria Math" panose="02040503050406030204" pitchFamily="18" charset="0"/>
                            </a:rPr>
                          </m:ctrlPr>
                        </m:dPr>
                        <m:e>
                          <m:r>
                            <a:rPr lang="fr-FR" sz="2800" i="1" noProof="0" smtClean="0">
                              <a:latin typeface="Cambria Math" panose="02040503050406030204" pitchFamily="18" charset="0"/>
                            </a:rPr>
                            <m:t>𝑥</m:t>
                          </m:r>
                        </m:e>
                        <m:e>
                          <m:r>
                            <a:rPr lang="fr-FR" sz="2800" i="1" noProof="0" smtClean="0">
                              <a:latin typeface="Cambria Math" panose="02040503050406030204" pitchFamily="18" charset="0"/>
                            </a:rPr>
                            <m:t>𝑦</m:t>
                          </m:r>
                        </m:e>
                      </m:d>
                      <m:r>
                        <a:rPr lang="fr-FR" sz="2800" i="0" noProof="0" smtClean="0">
                          <a:latin typeface="Cambria Math" panose="02040503050406030204" pitchFamily="18" charset="0"/>
                        </a:rPr>
                        <m:t>=−</m:t>
                      </m:r>
                      <m:d>
                        <m:dPr>
                          <m:ctrlPr>
                            <a:rPr lang="fr-FR" sz="2800" i="1" noProof="0" smtClean="0">
                              <a:latin typeface="Cambria Math" panose="02040503050406030204" pitchFamily="18" charset="0"/>
                            </a:rPr>
                          </m:ctrlPr>
                        </m:dPr>
                        <m:e>
                          <m:r>
                            <a:rPr lang="fr-FR" sz="2800" i="0" noProof="0" smtClean="0">
                              <a:latin typeface="Cambria Math" panose="02040503050406030204" pitchFamily="18" charset="0"/>
                            </a:rPr>
                            <m:t>2</m:t>
                          </m:r>
                          <m:r>
                            <a:rPr lang="fr-FR" sz="2800" i="1" noProof="0" smtClean="0">
                              <a:latin typeface="Cambria Math" panose="02040503050406030204" pitchFamily="18" charset="0"/>
                            </a:rPr>
                            <m:t>𝑎𝑥</m:t>
                          </m:r>
                          <m:r>
                            <m:rPr>
                              <m:nor/>
                            </m:rPr>
                            <a:rPr lang="fr-FR" sz="2800" b="0" i="1" noProof="0" smtClean="0">
                              <a:latin typeface="Times New Roman" panose="02020603050405020304" pitchFamily="18" charset="0"/>
                              <a:cs typeface="Times New Roman" panose="02020603050405020304" pitchFamily="18" charset="0"/>
                            </a:rPr>
                            <m:t> </m:t>
                          </m:r>
                          <m:sSub>
                            <m:sSubPr>
                              <m:ctrlPr>
                                <a:rPr lang="fr-FR" sz="2800" b="0" i="1" noProof="0" smtClean="0">
                                  <a:latin typeface="Cambria Math" panose="02040503050406030204" pitchFamily="18" charset="0"/>
                                </a:rPr>
                              </m:ctrlPr>
                            </m:sSubPr>
                            <m:e>
                              <m:acc>
                                <m:accPr>
                                  <m:chr m:val="⃗"/>
                                  <m:ctrlPr>
                                    <a:rPr lang="fr-FR" sz="2800" b="0" i="1" noProof="0" smtClean="0">
                                      <a:latin typeface="Cambria Math" panose="02040503050406030204" pitchFamily="18" charset="0"/>
                                    </a:rPr>
                                  </m:ctrlPr>
                                </m:accPr>
                                <m:e>
                                  <m:r>
                                    <a:rPr lang="fr-FR" sz="2800" b="0" i="1" noProof="0" smtClean="0">
                                      <a:latin typeface="Cambria Math" panose="02040503050406030204" pitchFamily="18" charset="0"/>
                                    </a:rPr>
                                    <m:t>𝑒</m:t>
                                  </m:r>
                                </m:e>
                              </m:acc>
                            </m:e>
                            <m:sub>
                              <m:r>
                                <a:rPr lang="fr-FR" sz="2800" b="0" i="1" noProof="0" smtClean="0">
                                  <a:latin typeface="Cambria Math" panose="02040503050406030204" pitchFamily="18" charset="0"/>
                                </a:rPr>
                                <m:t>𝑥</m:t>
                              </m:r>
                            </m:sub>
                          </m:sSub>
                          <m:r>
                            <a:rPr lang="fr-FR" sz="2800" b="0" i="0" noProof="0" smtClean="0">
                              <a:latin typeface="Cambria Math" panose="02040503050406030204" pitchFamily="18" charset="0"/>
                            </a:rPr>
                            <m:t>+</m:t>
                          </m:r>
                          <m:r>
                            <a:rPr lang="fr-FR" sz="2800" b="0" i="1" noProof="0" smtClean="0">
                              <a:latin typeface="Cambria Math" panose="02040503050406030204" pitchFamily="18" charset="0"/>
                            </a:rPr>
                            <m:t>𝑏</m:t>
                          </m:r>
                          <m:r>
                            <m:rPr>
                              <m:nor/>
                            </m:rPr>
                            <a:rPr lang="fr-FR" sz="2800" b="0" i="1" noProof="0" smtClean="0">
                              <a:latin typeface="Times New Roman" panose="02020603050405020304" pitchFamily="18" charset="0"/>
                              <a:cs typeface="Times New Roman" panose="02020603050405020304" pitchFamily="18" charset="0"/>
                            </a:rPr>
                            <m:t> </m:t>
                          </m:r>
                          <m:sSub>
                            <m:sSubPr>
                              <m:ctrlPr>
                                <a:rPr lang="fr-FR" sz="2800" b="0" i="1" noProof="0" smtClean="0">
                                  <a:latin typeface="Cambria Math" panose="02040503050406030204" pitchFamily="18" charset="0"/>
                                </a:rPr>
                              </m:ctrlPr>
                            </m:sSubPr>
                            <m:e>
                              <m:acc>
                                <m:accPr>
                                  <m:chr m:val="⃗"/>
                                  <m:ctrlPr>
                                    <a:rPr lang="fr-FR" sz="2800" b="0" i="1" noProof="0" smtClean="0">
                                      <a:latin typeface="Cambria Math" panose="02040503050406030204" pitchFamily="18" charset="0"/>
                                    </a:rPr>
                                  </m:ctrlPr>
                                </m:accPr>
                                <m:e>
                                  <m:r>
                                    <a:rPr lang="fr-FR" sz="2800" b="0" i="1" noProof="0" smtClean="0">
                                      <a:latin typeface="Cambria Math" panose="02040503050406030204" pitchFamily="18" charset="0"/>
                                    </a:rPr>
                                    <m:t>𝑒</m:t>
                                  </m:r>
                                </m:e>
                              </m:acc>
                            </m:e>
                            <m:sub>
                              <m:r>
                                <a:rPr lang="fr-FR" sz="2800" b="0" i="1" noProof="0" smtClean="0">
                                  <a:latin typeface="Cambria Math" panose="02040503050406030204" pitchFamily="18" charset="0"/>
                                </a:rPr>
                                <m:t>𝑦</m:t>
                              </m:r>
                            </m:sub>
                          </m:sSub>
                        </m:e>
                      </m:d>
                      <m:r>
                        <a:rPr lang="fr-FR" sz="2800" b="0" i="0" noProof="0" smtClean="0">
                          <a:latin typeface="Cambria Math" panose="02040503050406030204" pitchFamily="18" charset="0"/>
                        </a:rPr>
                        <m:t>.</m:t>
                      </m:r>
                    </m:oMath>
                  </m:oMathPara>
                </a14:m>
                <a:endParaRPr lang="fr-FR" sz="2800" b="0" noProof="0" dirty="0">
                  <a:latin typeface="Times New Roman" panose="02020603050405020304" pitchFamily="18" charset="0"/>
                  <a:cs typeface="Times New Roman" panose="02020603050405020304" pitchFamily="18" charset="0"/>
                </a:endParaRPr>
              </a:p>
              <a:p>
                <a:pPr algn="l">
                  <a:buNone/>
                </a:pPr>
                <a:r>
                  <a:rPr lang="fr-FR" sz="2800" noProof="0" dirty="0">
                    <a:latin typeface="Times New Roman" panose="02020603050405020304" pitchFamily="18" charset="0"/>
                    <a:cs typeface="Times New Roman" panose="02020603050405020304" pitchFamily="18" charset="0"/>
                  </a:rPr>
                  <a:t>Soit :</a:t>
                </a:r>
              </a:p>
              <a:p>
                <a:pPr algn="ctr">
                  <a:buNone/>
                </a:pPr>
                <a14:m>
                  <m:oMath xmlns:m="http://schemas.openxmlformats.org/officeDocument/2006/math">
                    <m:sSub>
                      <m:sSubPr>
                        <m:ctrlPr>
                          <a:rPr lang="fr-FR" sz="2800" i="1" noProof="0" smtClean="0">
                            <a:latin typeface="Cambria Math" panose="02040503050406030204" pitchFamily="18" charset="0"/>
                          </a:rPr>
                        </m:ctrlPr>
                      </m:sSubPr>
                      <m:e>
                        <m:r>
                          <a:rPr lang="fr-FR" sz="2800" i="1" noProof="0" smtClean="0">
                            <a:latin typeface="Cambria Math" panose="02040503050406030204" pitchFamily="18" charset="0"/>
                          </a:rPr>
                          <m:t>𝐸</m:t>
                        </m:r>
                      </m:e>
                      <m:sub>
                        <m:r>
                          <a:rPr lang="fr-FR" sz="2800" i="1" noProof="0" smtClean="0">
                            <a:latin typeface="Cambria Math" panose="02040503050406030204" pitchFamily="18" charset="0"/>
                          </a:rPr>
                          <m:t>𝑥</m:t>
                        </m:r>
                      </m:sub>
                    </m:sSub>
                    <m:r>
                      <a:rPr lang="fr-FR" sz="2800" i="0" noProof="0" smtClean="0">
                        <a:latin typeface="Cambria Math" panose="02040503050406030204" pitchFamily="18" charset="0"/>
                      </a:rPr>
                      <m:t>=−2</m:t>
                    </m:r>
                    <m:r>
                      <a:rPr lang="fr-FR" sz="2800" i="1" noProof="0" smtClean="0">
                        <a:latin typeface="Cambria Math" panose="02040503050406030204" pitchFamily="18" charset="0"/>
                      </a:rPr>
                      <m:t>𝑎𝑥</m:t>
                    </m:r>
                    <m:r>
                      <a:rPr lang="fr-FR" sz="2800" i="0" noProof="0" smtClean="0">
                        <a:latin typeface="Cambria Math" panose="02040503050406030204" pitchFamily="18" charset="0"/>
                      </a:rPr>
                      <m:t> </m:t>
                    </m:r>
                    <m:sSub>
                      <m:sSubPr>
                        <m:ctrlPr>
                          <a:rPr lang="fr-FR" sz="2800" i="1" noProof="0" smtClean="0">
                            <a:latin typeface="Cambria Math" panose="02040503050406030204" pitchFamily="18" charset="0"/>
                          </a:rPr>
                        </m:ctrlPr>
                      </m:sSubPr>
                      <m:e>
                        <m:r>
                          <a:rPr lang="fr-FR" sz="2800" b="0" i="1" noProof="0" smtClean="0">
                            <a:latin typeface="Cambria Math" panose="02040503050406030204" pitchFamily="18" charset="0"/>
                          </a:rPr>
                          <m:t>    </m:t>
                        </m:r>
                        <m:r>
                          <a:rPr lang="fr-FR" sz="2800" i="1" noProof="0" smtClean="0">
                            <a:latin typeface="Cambria Math" panose="02040503050406030204" pitchFamily="18" charset="0"/>
                          </a:rPr>
                          <m:t>𝐸</m:t>
                        </m:r>
                      </m:e>
                      <m:sub>
                        <m:r>
                          <a:rPr lang="fr-FR" sz="2800" i="1" noProof="0" smtClean="0">
                            <a:latin typeface="Cambria Math" panose="02040503050406030204" pitchFamily="18" charset="0"/>
                          </a:rPr>
                          <m:t>𝑦</m:t>
                        </m:r>
                      </m:sub>
                    </m:sSub>
                    <m:r>
                      <a:rPr lang="fr-FR" sz="2800" i="0" noProof="0" smtClean="0">
                        <a:latin typeface="Cambria Math" panose="02040503050406030204" pitchFamily="18" charset="0"/>
                      </a:rPr>
                      <m:t>=−</m:t>
                    </m:r>
                    <m:r>
                      <a:rPr lang="fr-FR" sz="2800" i="1" noProof="0" smtClean="0">
                        <a:latin typeface="Cambria Math" panose="02040503050406030204" pitchFamily="18" charset="0"/>
                      </a:rPr>
                      <m:t>𝑏</m:t>
                    </m:r>
                  </m:oMath>
                </a14:m>
                <a:r>
                  <a:rPr lang="fr-FR" sz="2800" noProof="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fr-FR" sz="2800" i="1" noProof="0" smtClean="0">
                            <a:latin typeface="Cambria Math" panose="02040503050406030204" pitchFamily="18" charset="0"/>
                            <a:cs typeface="Times New Roman" panose="02020603050405020304" pitchFamily="18" charset="0"/>
                          </a:rPr>
                        </m:ctrlPr>
                      </m:sSubPr>
                      <m:e>
                        <m:r>
                          <a:rPr lang="fr-FR" sz="2800" b="0" i="1" noProof="0" smtClean="0">
                            <a:latin typeface="Cambria Math" panose="02040503050406030204" pitchFamily="18" charset="0"/>
                            <a:cs typeface="Times New Roman" panose="02020603050405020304" pitchFamily="18" charset="0"/>
                          </a:rPr>
                          <m:t>𝐸</m:t>
                        </m:r>
                      </m:e>
                      <m:sub>
                        <m:r>
                          <a:rPr lang="fr-FR" sz="2800" b="0" i="1" noProof="0" smtClean="0">
                            <a:latin typeface="Cambria Math" panose="02040503050406030204" pitchFamily="18" charset="0"/>
                            <a:cs typeface="Times New Roman" panose="02020603050405020304" pitchFamily="18" charset="0"/>
                          </a:rPr>
                          <m:t>𝑧</m:t>
                        </m:r>
                      </m:sub>
                    </m:sSub>
                    <m:r>
                      <a:rPr lang="fr-FR" sz="2800" b="0" i="1" noProof="0" smtClean="0">
                        <a:latin typeface="Cambria Math" panose="02040503050406030204" pitchFamily="18" charset="0"/>
                        <a:cs typeface="Times New Roman" panose="02020603050405020304" pitchFamily="18" charset="0"/>
                      </a:rPr>
                      <m:t>=0</m:t>
                    </m:r>
                  </m:oMath>
                </a14:m>
                <a:endParaRPr lang="fr-FR" sz="2800" noProof="0" dirty="0">
                  <a:latin typeface="Times New Roman" panose="02020603050405020304" pitchFamily="18" charset="0"/>
                  <a:cs typeface="Times New Roman" panose="02020603050405020304" pitchFamily="18" charset="0"/>
                </a:endParaRPr>
              </a:p>
              <a:p>
                <a:endParaRPr lang="fr-FR" noProof="0" dirty="0"/>
              </a:p>
            </p:txBody>
          </p:sp>
        </mc:Choice>
        <mc:Fallback xmlns="">
          <p:sp>
            <p:nvSpPr>
              <p:cNvPr id="3" name="Espace réservé du texte 2">
                <a:extLst>
                  <a:ext uri="{FF2B5EF4-FFF2-40B4-BE49-F238E27FC236}">
                    <a16:creationId xmlns:a16="http://schemas.microsoft.com/office/drawing/2014/main" id="{0AF2D190-32F2-A776-2D4C-DA943552B912}"/>
                  </a:ext>
                </a:extLst>
              </p:cNvPr>
              <p:cNvSpPr>
                <a:spLocks noGrp="1" noRot="1" noChangeAspect="1" noMove="1" noResize="1" noEditPoints="1" noAdjustHandles="1" noChangeArrowheads="1" noChangeShapeType="1" noTextEdit="1"/>
              </p:cNvSpPr>
              <p:nvPr>
                <p:ph type="body" idx="1"/>
              </p:nvPr>
            </p:nvSpPr>
            <p:spPr>
              <a:xfrm>
                <a:off x="0" y="0"/>
                <a:ext cx="12191999" cy="6858000"/>
              </a:xfrm>
              <a:blipFill>
                <a:blip r:embed="rId2"/>
                <a:stretch>
                  <a:fillRect/>
                </a:stretch>
              </a:blipFill>
            </p:spPr>
            <p:txBody>
              <a:bodyPr/>
              <a:lstStyle/>
              <a:p>
                <a:r>
                  <a:rPr lang="fr-FR">
                    <a:noFill/>
                  </a:rPr>
                  <a:t> </a:t>
                </a:r>
              </a:p>
            </p:txBody>
          </p:sp>
        </mc:Fallback>
      </mc:AlternateContent>
      <p:pic>
        <p:nvPicPr>
          <p:cNvPr id="4" name="Image 3">
            <a:extLst>
              <a:ext uri="{FF2B5EF4-FFF2-40B4-BE49-F238E27FC236}">
                <a16:creationId xmlns:a16="http://schemas.microsoft.com/office/drawing/2014/main" id="{B330C87D-B6BC-8018-749C-4AD49EC2B7A6}"/>
              </a:ext>
            </a:extLst>
          </p:cNvPr>
          <p:cNvPicPr>
            <a:picLocks noChangeAspect="1"/>
          </p:cNvPicPr>
          <p:nvPr/>
        </p:nvPicPr>
        <p:blipFill>
          <a:blip r:embed="rId3"/>
          <a:stretch>
            <a:fillRect/>
          </a:stretch>
        </p:blipFill>
        <p:spPr>
          <a:xfrm>
            <a:off x="6298227" y="2830285"/>
            <a:ext cx="5669771" cy="908383"/>
          </a:xfrm>
          <a:prstGeom prst="rect">
            <a:avLst/>
          </a:prstGeom>
        </p:spPr>
      </p:pic>
    </p:spTree>
    <p:extLst>
      <p:ext uri="{BB962C8B-B14F-4D97-AF65-F5344CB8AC3E}">
        <p14:creationId xmlns:p14="http://schemas.microsoft.com/office/powerpoint/2010/main" val="257989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1000"/>
                                        <p:tgtEl>
                                          <p:spTgt spid="3">
                                            <p:txEl>
                                              <p:pRg st="6" end="6"/>
                                            </p:txEl>
                                          </p:spTgt>
                                        </p:tgtEl>
                                      </p:cBhvr>
                                    </p:animEffect>
                                    <p:anim calcmode="lin" valueType="num">
                                      <p:cBhvr>
                                        <p:cTn id="3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1000"/>
                                        <p:tgtEl>
                                          <p:spTgt spid="3">
                                            <p:txEl>
                                              <p:pRg st="7" end="7"/>
                                            </p:txEl>
                                          </p:spTgt>
                                        </p:tgtEl>
                                      </p:cBhvr>
                                    </p:animEffect>
                                    <p:anim calcmode="lin" valueType="num">
                                      <p:cBhvr>
                                        <p:cTn id="4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Effect transition="in" filter="fade">
                                      <p:cBhvr>
                                        <p:cTn id="48" dur="1000"/>
                                        <p:tgtEl>
                                          <p:spTgt spid="3">
                                            <p:txEl>
                                              <p:pRg st="8" end="8"/>
                                            </p:txEl>
                                          </p:spTgt>
                                        </p:tgtEl>
                                      </p:cBhvr>
                                    </p:animEffect>
                                    <p:anim calcmode="lin" valueType="num">
                                      <p:cBhvr>
                                        <p:cTn id="4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Effect transition="in" filter="fade">
                                      <p:cBhvr>
                                        <p:cTn id="53" dur="1000"/>
                                        <p:tgtEl>
                                          <p:spTgt spid="3">
                                            <p:txEl>
                                              <p:pRg st="9" end="9"/>
                                            </p:txEl>
                                          </p:spTgt>
                                        </p:tgtEl>
                                      </p:cBhvr>
                                    </p:animEffect>
                                    <p:anim calcmode="lin" valueType="num">
                                      <p:cBhvr>
                                        <p:cTn id="5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3">
                                            <p:txEl>
                                              <p:pRg st="10" end="10"/>
                                            </p:txEl>
                                          </p:spTgt>
                                        </p:tgtEl>
                                        <p:attrNameLst>
                                          <p:attrName>style.visibility</p:attrName>
                                        </p:attrNameLst>
                                      </p:cBhvr>
                                      <p:to>
                                        <p:strVal val="visible"/>
                                      </p:to>
                                    </p:set>
                                    <p:animEffect transition="in" filter="fade">
                                      <p:cBhvr>
                                        <p:cTn id="58" dur="1000"/>
                                        <p:tgtEl>
                                          <p:spTgt spid="3">
                                            <p:txEl>
                                              <p:pRg st="10" end="10"/>
                                            </p:txEl>
                                          </p:spTgt>
                                        </p:tgtEl>
                                      </p:cBhvr>
                                    </p:animEffect>
                                    <p:anim calcmode="lin" valueType="num">
                                      <p:cBhvr>
                                        <p:cTn id="59"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73B69D-3057-0D54-D0D4-D507ADC66365}"/>
              </a:ext>
            </a:extLst>
          </p:cNvPr>
          <p:cNvSpPr>
            <a:spLocks noGrp="1"/>
          </p:cNvSpPr>
          <p:nvPr>
            <p:ph type="title"/>
          </p:nvPr>
        </p:nvSpPr>
        <p:spPr>
          <a:xfrm>
            <a:off x="685800" y="100390"/>
            <a:ext cx="10820400" cy="1314753"/>
          </a:xfrm>
        </p:spPr>
        <p:txBody>
          <a:bodyPr>
            <a:normAutofit/>
          </a:bodyPr>
          <a:lstStyle/>
          <a:p>
            <a:pPr algn="ctr"/>
            <a:r>
              <a:rPr lang="fr-FR" b="1" noProof="0" dirty="0">
                <a:solidFill>
                  <a:srgbClr val="FFC000"/>
                </a:solidFill>
                <a:latin typeface="Segoe UI Emoji" panose="020B0502040204020203" pitchFamily="34" charset="0"/>
                <a:ea typeface="Times New Roman" panose="02020603050405020304" pitchFamily="18" charset="0"/>
                <a:cs typeface="Segoe UI Emoji" panose="020B0502040204020203" pitchFamily="34" charset="0"/>
              </a:rPr>
              <a:t>🌀</a:t>
            </a: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2. En coordonnées cylindriques (r, θ, z)</a:t>
            </a:r>
            <a:b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kumimoji="0" lang="fr-FR" sz="36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fr-FR" b="1" noProof="0" dirty="0">
                <a:solidFill>
                  <a:schemeClr val="accent1"/>
                </a:solidFill>
                <a:latin typeface="Times New Roman" panose="02020603050405020304" pitchFamily="18" charset="0"/>
                <a:cs typeface="Times New Roman" panose="02020603050405020304" pitchFamily="18" charset="0"/>
              </a:rPr>
              <a:t>cylindrical </a:t>
            </a:r>
            <a:r>
              <a:rPr lang="fr-FR" b="1" noProof="0" dirty="0" err="1">
                <a:solidFill>
                  <a:schemeClr val="accent1"/>
                </a:solidFill>
                <a:latin typeface="Times New Roman" panose="02020603050405020304" pitchFamily="18" charset="0"/>
                <a:cs typeface="Times New Roman" panose="02020603050405020304" pitchFamily="18" charset="0"/>
              </a:rPr>
              <a:t>coordinate</a:t>
            </a:r>
            <a:r>
              <a:rPr lang="fr-FR" noProof="0" dirty="0">
                <a:solidFill>
                  <a:schemeClr val="accent1"/>
                </a:solidFill>
                <a:latin typeface="Times New Roman" panose="02020603050405020304" pitchFamily="18" charset="0"/>
                <a:cs typeface="Times New Roman" panose="02020603050405020304" pitchFamily="18" charset="0"/>
              </a:rPr>
              <a:t>.</a:t>
            </a:r>
            <a:endParaRPr lang="fr-FR"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09BB1BF3-F2F4-713D-F37A-DD33DF33641E}"/>
                  </a:ext>
                </a:extLst>
              </p:cNvPr>
              <p:cNvSpPr>
                <a:spLocks noGrp="1"/>
              </p:cNvSpPr>
              <p:nvPr>
                <p:ph type="body" idx="1"/>
              </p:nvPr>
            </p:nvSpPr>
            <p:spPr>
              <a:xfrm>
                <a:off x="0" y="1556658"/>
                <a:ext cx="12192000" cy="5301342"/>
              </a:xfrm>
              <a:solidFill>
                <a:srgbClr val="002060"/>
              </a:solidFill>
              <a:scene3d>
                <a:camera prst="orthographicFront"/>
                <a:lightRig rig="threePt" dir="t"/>
              </a:scene3d>
              <a:sp3d>
                <a:bevelT w="139700" h="139700" prst="divot"/>
              </a:sp3d>
            </p:spPr>
            <p:txBody>
              <a:bodyPr>
                <a:normAutofit/>
              </a:bodyPr>
              <a:lstStyle/>
              <a:p>
                <a:pPr algn="l">
                  <a:lnSpc>
                    <a:spcPct val="115000"/>
                  </a:lnSpc>
                  <a:spcAft>
                    <a:spcPts val="800"/>
                  </a:spcAft>
                  <a:buNone/>
                </a:pPr>
                <a:r>
                  <a:rPr lang="fr-FR" sz="3200" b="1" kern="0" noProof="0" dirty="0">
                    <a:solidFill>
                      <a:srgbClr val="FFC000"/>
                    </a:solidFill>
                    <a:effectLst/>
                    <a:ea typeface="Times New Roman" panose="02020603050405020304" pitchFamily="18" charset="0"/>
                    <a:cs typeface="Times New Roman" panose="02020603050405020304" pitchFamily="18" charset="0"/>
                  </a:rPr>
                  <a:t>            </a:t>
                </a:r>
                <a14:m>
                  <m:oMath xmlns:m="http://schemas.openxmlformats.org/officeDocument/2006/math">
                    <m:acc>
                      <m:accPr>
                        <m:chr m:val="⃗"/>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acc>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den>
                    </m:f>
                    <m:r>
                      <m:rPr>
                        <m:nor/>
                      </m:rPr>
                      <a:rPr lang="fr-FR" sz="3200" b="1" kern="0" noProof="0" smtClean="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𝒖</m:t>
                            </m:r>
                          </m:e>
                          <m:sub>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sub>
                        </m:sSub>
                      </m:e>
                    </m:acc>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den>
                    </m:f>
                    <m:f>
                      <m:f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𝝏𝜽</m:t>
                        </m:r>
                      </m:den>
                    </m:f>
                    <m:r>
                      <m:rPr>
                        <m:nor/>
                      </m:rPr>
                      <a:rPr lang="fr-FR" sz="3200" b="1" kern="0" noProof="0" smtClean="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𝒖</m:t>
                            </m:r>
                          </m:e>
                          <m:sub>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𝜽</m:t>
                            </m:r>
                          </m:sub>
                        </m:sSub>
                      </m:e>
                    </m:acc>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𝒛</m:t>
                        </m:r>
                      </m:den>
                    </m:f>
                    <m:r>
                      <m:rPr>
                        <m:nor/>
                      </m:rPr>
                      <a:rPr lang="fr-FR" sz="3200" b="1" kern="0" noProof="0" smtClean="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𝒖</m:t>
                            </m:r>
                          </m:e>
                          <m:sub>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𝒛</m:t>
                            </m:r>
                          </m:sub>
                        </m:sSub>
                      </m:e>
                    </m:acc>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fr-FR" sz="3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endParaRPr>
              </a:p>
              <a:p>
                <a:pPr algn="l">
                  <a:lnSpc>
                    <a:spcPct val="115000"/>
                  </a:lnSpc>
                  <a:spcAft>
                    <a:spcPts val="800"/>
                  </a:spcAft>
                  <a:buNone/>
                </a:pPr>
                <a:r>
                  <a:rPr lang="fr-FR" sz="3200" b="1" kern="0" noProof="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Ou :</a:t>
                </a:r>
                <a:endParaRPr lang="fr-FR" sz="3200" b="1" kern="100" noProof="0"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p>
                <a:pPr algn="ctr">
                  <a:lnSpc>
                    <a:spcPct val="115000"/>
                  </a:lnSpc>
                  <a:spcAft>
                    <a:spcPts val="800"/>
                  </a:spcAft>
                  <a:buNone/>
                </a:pPr>
                <a14:m>
                  <m:oMathPara xmlns:m="http://schemas.openxmlformats.org/officeDocument/2006/math">
                    <m:oMathParaPr>
                      <m:jc m:val="left"/>
                    </m:oMathParaPr>
                    <m:oMath xmlns:m="http://schemas.openxmlformats.org/officeDocument/2006/math">
                      <m:r>
                        <a:rPr lang="fr-FR" sz="3200" b="1"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sub>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sub>
                      </m:sSub>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den>
                      </m:f>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sub>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𝜽</m:t>
                          </m:r>
                        </m:sub>
                      </m:sSub>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den>
                      </m:f>
                      <m:f>
                        <m:f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𝝏𝜽</m:t>
                          </m:r>
                        </m:den>
                      </m:f>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sub>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𝒛</m:t>
                          </m:r>
                        </m:sub>
                      </m:sSub>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𝒛</m:t>
                          </m:r>
                        </m:den>
                      </m:f>
                    </m:oMath>
                  </m:oMathPara>
                </a14:m>
                <a:endParaRPr lang="fr-FR" sz="3200" b="1" kern="0" noProof="0" dirty="0">
                  <a:solidFill>
                    <a:srgbClr val="92D050"/>
                  </a:solidFill>
                  <a:effectLst/>
                  <a:latin typeface="Segoe UI Emoji" panose="020B0502040204020203" pitchFamily="34" charset="0"/>
                  <a:ea typeface="Times New Roman" panose="02020603050405020304" pitchFamily="18" charset="0"/>
                  <a:cs typeface="Segoe UI Emoji" panose="020B0502040204020203" pitchFamily="34" charset="0"/>
                </a:endParaRPr>
              </a:p>
              <a:p>
                <a:pPr algn="l">
                  <a:lnSpc>
                    <a:spcPct val="115000"/>
                  </a:lnSpc>
                  <a:spcAft>
                    <a:spcPts val="800"/>
                  </a:spcAft>
                  <a:buNone/>
                </a:pPr>
                <a:endParaRPr lang="fr-FR" sz="3200" kern="0" noProof="0" dirty="0">
                  <a:effectLst/>
                  <a:latin typeface="Segoe UI Emoji" panose="020B0502040204020203" pitchFamily="34" charset="0"/>
                  <a:ea typeface="Times New Roman" panose="02020603050405020304" pitchFamily="18" charset="0"/>
                  <a:cs typeface="Segoe UI Emoji" panose="020B0502040204020203" pitchFamily="34" charset="0"/>
                </a:endParaRPr>
              </a:p>
              <a:p>
                <a:pPr algn="l">
                  <a:lnSpc>
                    <a:spcPct val="115000"/>
                  </a:lnSpc>
                  <a:spcAft>
                    <a:spcPts val="800"/>
                  </a:spcAft>
                  <a:buNone/>
                </a:pPr>
                <a:r>
                  <a:rPr lang="fr-FR" sz="3200" kern="0" noProof="0" dirty="0">
                    <a:effectLst/>
                    <a:latin typeface="Segoe UI Emoji" panose="020B0502040204020203" pitchFamily="34" charset="0"/>
                    <a:ea typeface="Times New Roman" panose="02020603050405020304" pitchFamily="18" charset="0"/>
                    <a:cs typeface="Segoe UI Emoji" panose="020B0502040204020203" pitchFamily="34" charset="0"/>
                  </a:rPr>
                  <a:t>🔹</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3200" i="1" kern="0" noProof="0" dirty="0">
                    <a:effectLst/>
                    <a:latin typeface="Times New Roman" panose="02020603050405020304" pitchFamily="18" charset="0"/>
                    <a:ea typeface="Times New Roman" panose="02020603050405020304" pitchFamily="18" charset="0"/>
                    <a:cs typeface="Arial" panose="020B0604020202020204" pitchFamily="34" charset="0"/>
                  </a:rPr>
                  <a:t>Cas typique :</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champ autour d’un </a:t>
                </a:r>
                <a:r>
                  <a:rPr lang="fr-FR" sz="3200" b="1" kern="0" noProof="0" dirty="0">
                    <a:effectLst/>
                    <a:latin typeface="Times New Roman" panose="02020603050405020304" pitchFamily="18" charset="0"/>
                    <a:ea typeface="Times New Roman" panose="02020603050405020304" pitchFamily="18" charset="0"/>
                    <a:cs typeface="Arial" panose="020B0604020202020204" pitchFamily="34" charset="0"/>
                  </a:rPr>
                  <a:t>fil chargé</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(symétrie cylindrique).</a:t>
                </a: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pPr algn="l"/>
                <a:endParaRPr lang="fr-FR" noProof="0" dirty="0"/>
              </a:p>
            </p:txBody>
          </p:sp>
        </mc:Choice>
        <mc:Fallback xmlns="">
          <p:sp>
            <p:nvSpPr>
              <p:cNvPr id="3" name="Espace réservé du texte 2">
                <a:extLst>
                  <a:ext uri="{FF2B5EF4-FFF2-40B4-BE49-F238E27FC236}">
                    <a16:creationId xmlns:a16="http://schemas.microsoft.com/office/drawing/2014/main" id="{09BB1BF3-F2F4-713D-F37A-DD33DF33641E}"/>
                  </a:ext>
                </a:extLst>
              </p:cNvPr>
              <p:cNvSpPr>
                <a:spLocks noGrp="1" noRot="1" noChangeAspect="1" noMove="1" noResize="1" noEditPoints="1" noAdjustHandles="1" noChangeArrowheads="1" noChangeShapeType="1" noTextEdit="1"/>
              </p:cNvSpPr>
              <p:nvPr>
                <p:ph type="body" idx="1"/>
              </p:nvPr>
            </p:nvSpPr>
            <p:spPr>
              <a:xfrm>
                <a:off x="0" y="1556658"/>
                <a:ext cx="12192000" cy="5301342"/>
              </a:xfrm>
              <a:blipFill>
                <a:blip r:embed="rId2"/>
                <a:stretch>
                  <a:fillRect/>
                </a:stretch>
              </a:blipFill>
            </p:spPr>
            <p:txBody>
              <a:bodyPr/>
              <a:lstStyle/>
              <a:p>
                <a:r>
                  <a:rPr lang="fr-DZ">
                    <a:noFill/>
                  </a:rPr>
                  <a:t> </a:t>
                </a:r>
              </a:p>
            </p:txBody>
          </p:sp>
        </mc:Fallback>
      </mc:AlternateContent>
      <p:pic>
        <p:nvPicPr>
          <p:cNvPr id="5" name="Image 4">
            <a:extLst>
              <a:ext uri="{FF2B5EF4-FFF2-40B4-BE49-F238E27FC236}">
                <a16:creationId xmlns:a16="http://schemas.microsoft.com/office/drawing/2014/main" id="{CD2E67C9-62CE-0544-336E-2B7B2E0679AF}"/>
              </a:ext>
            </a:extLst>
          </p:cNvPr>
          <p:cNvPicPr>
            <a:picLocks noChangeAspect="1"/>
          </p:cNvPicPr>
          <p:nvPr/>
        </p:nvPicPr>
        <p:blipFill>
          <a:blip r:embed="rId3"/>
          <a:stretch>
            <a:fillRect/>
          </a:stretch>
        </p:blipFill>
        <p:spPr>
          <a:xfrm>
            <a:off x="7985566" y="1556658"/>
            <a:ext cx="4206434" cy="3403146"/>
          </a:xfrm>
          <a:prstGeom prst="rect">
            <a:avLst/>
          </a:prstGeom>
        </p:spPr>
      </p:pic>
    </p:spTree>
    <p:extLst>
      <p:ext uri="{BB962C8B-B14F-4D97-AF65-F5344CB8AC3E}">
        <p14:creationId xmlns:p14="http://schemas.microsoft.com/office/powerpoint/2010/main" val="6297211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2C63DC5F-FE7D-2CB7-ADF9-E186A00EAC9E}"/>
                  </a:ext>
                </a:extLst>
              </p:cNvPr>
              <p:cNvSpPr>
                <a:spLocks noGrp="1"/>
              </p:cNvSpPr>
              <p:nvPr>
                <p:ph type="title"/>
              </p:nvPr>
            </p:nvSpPr>
            <p:spPr>
              <a:xfrm>
                <a:off x="587829" y="130629"/>
                <a:ext cx="10820400" cy="1023333"/>
              </a:xfrm>
            </p:spPr>
            <p:txBody>
              <a:bodyPr>
                <a:normAutofit fontScale="90000"/>
              </a:bodyPr>
              <a:lstStyle/>
              <a:p>
                <a:pPr algn="ctr"/>
                <a:r>
                  <a:rPr lang="fr-FR" sz="4400" b="1" noProof="0" dirty="0">
                    <a:solidFill>
                      <a:srgbClr val="FFC000"/>
                    </a:solidFill>
                    <a:latin typeface="Segoe UI Emoji" panose="020B0502040204020203" pitchFamily="34" charset="0"/>
                    <a:ea typeface="Times New Roman" panose="02020603050405020304" pitchFamily="18" charset="0"/>
                    <a:cs typeface="Segoe UI Emoji" panose="020B0502040204020203" pitchFamily="34" charset="0"/>
                  </a:rPr>
                  <a:t>🌍</a:t>
                </a:r>
                <a:r>
                  <a:rPr lang="fr-FR" sz="4400"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3. En coordonnées sphériques (</a:t>
                </a:r>
                <a14:m>
                  <m:oMath xmlns:m="http://schemas.openxmlformats.org/officeDocument/2006/math">
                    <m:r>
                      <a:rPr lang="fr-FR" sz="4400" b="1" i="1" noProof="0" smtClean="0">
                        <a:solidFill>
                          <a:srgbClr val="FFC000"/>
                        </a:solidFill>
                        <a:latin typeface="Cambria Math" panose="02040503050406030204" pitchFamily="18" charset="0"/>
                        <a:ea typeface="Cambria Math" panose="02040503050406030204" pitchFamily="18" charset="0"/>
                        <a:cs typeface="Arial" panose="020B0604020202020204" pitchFamily="34" charset="0"/>
                      </a:rPr>
                      <m:t>𝝆</m:t>
                    </m:r>
                  </m:oMath>
                </a14:m>
                <a:r>
                  <a:rPr lang="fr-FR" sz="4400"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θ, φ)</a:t>
                </a:r>
                <a:br>
                  <a:rPr lang="fr-FR" sz="4400"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lang="fr-FR" dirty="0">
                    <a:solidFill>
                      <a:srgbClr val="FFFFFF"/>
                    </a:solidFill>
                    <a:latin typeface="Segoe UI Emoji" panose="020B0502040204020203" pitchFamily="34" charset="0"/>
                    <a:ea typeface="Times New Roman" panose="02020603050405020304" pitchFamily="18" charset="0"/>
                    <a:cs typeface="Segoe UI Emoji" panose="020B0502040204020203" pitchFamily="34" charset="0"/>
                  </a:rPr>
                  <a:t>👉 </a:t>
                </a:r>
                <a:r>
                  <a:rPr lang="fr-FR" sz="4400" b="1" noProof="0" dirty="0">
                    <a:solidFill>
                      <a:schemeClr val="accent1"/>
                    </a:solidFill>
                    <a:latin typeface="Times New Roman" panose="02020603050405020304" pitchFamily="18" charset="0"/>
                    <a:cs typeface="Times New Roman" panose="02020603050405020304" pitchFamily="18" charset="0"/>
                  </a:rPr>
                  <a:t>spherical </a:t>
                </a:r>
                <a:r>
                  <a:rPr lang="fr-FR" sz="4400" b="1" noProof="0" dirty="0" err="1">
                    <a:solidFill>
                      <a:schemeClr val="accent1"/>
                    </a:solidFill>
                    <a:latin typeface="Times New Roman" panose="02020603050405020304" pitchFamily="18" charset="0"/>
                    <a:cs typeface="Times New Roman" panose="02020603050405020304" pitchFamily="18" charset="0"/>
                  </a:rPr>
                  <a:t>coordinate</a:t>
                </a:r>
                <a:r>
                  <a:rPr lang="fr-FR" sz="4400" noProof="0" dirty="0">
                    <a:solidFill>
                      <a:schemeClr val="accent1"/>
                    </a:solidFill>
                    <a:latin typeface="Times New Roman" panose="02020603050405020304" pitchFamily="18" charset="0"/>
                    <a:cs typeface="Times New Roman" panose="02020603050405020304" pitchFamily="18" charset="0"/>
                  </a:rPr>
                  <a:t>.</a:t>
                </a:r>
                <a:endParaRPr lang="fr-FR" noProof="0" dirty="0">
                  <a:solidFill>
                    <a:srgbClr val="FFC000"/>
                  </a:solidFill>
                </a:endParaRPr>
              </a:p>
            </p:txBody>
          </p:sp>
        </mc:Choice>
        <mc:Fallback xmlns="">
          <p:sp>
            <p:nvSpPr>
              <p:cNvPr id="2" name="Titre 1">
                <a:extLst>
                  <a:ext uri="{FF2B5EF4-FFF2-40B4-BE49-F238E27FC236}">
                    <a16:creationId xmlns:a16="http://schemas.microsoft.com/office/drawing/2014/main" id="{2C63DC5F-FE7D-2CB7-ADF9-E186A00EAC9E}"/>
                  </a:ext>
                </a:extLst>
              </p:cNvPr>
              <p:cNvSpPr>
                <a:spLocks noGrp="1" noRot="1" noChangeAspect="1" noMove="1" noResize="1" noEditPoints="1" noAdjustHandles="1" noChangeArrowheads="1" noChangeShapeType="1" noTextEdit="1"/>
              </p:cNvSpPr>
              <p:nvPr>
                <p:ph type="title"/>
              </p:nvPr>
            </p:nvSpPr>
            <p:spPr>
              <a:xfrm>
                <a:off x="587829" y="130629"/>
                <a:ext cx="10820400" cy="1023333"/>
              </a:xfrm>
              <a:blipFill>
                <a:blip r:embed="rId2"/>
                <a:stretch>
                  <a:fillRect t="-31548" b="-2738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59951495-DC0D-6C8B-87C4-B1381600D074}"/>
                  </a:ext>
                </a:extLst>
              </p:cNvPr>
              <p:cNvSpPr>
                <a:spLocks noGrp="1"/>
              </p:cNvSpPr>
              <p:nvPr>
                <p:ph type="body" idx="1"/>
              </p:nvPr>
            </p:nvSpPr>
            <p:spPr>
              <a:xfrm>
                <a:off x="0" y="1436914"/>
                <a:ext cx="12192000" cy="4876800"/>
              </a:xfrm>
              <a:solidFill>
                <a:schemeClr val="accent2">
                  <a:lumMod val="50000"/>
                </a:schemeClr>
              </a:solidFill>
              <a:ln>
                <a:noFill/>
              </a:ln>
              <a:effectLst>
                <a:glow rad="139700">
                  <a:schemeClr val="accent5">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algn="ctr">
                  <a:lnSpc>
                    <a:spcPct val="115000"/>
                  </a:lnSpc>
                  <a:spcAft>
                    <a:spcPts val="800"/>
                  </a:spcAft>
                  <a:buNone/>
                </a:pPr>
                <a14:m>
                  <m:oMathPara xmlns:m="http://schemas.openxmlformats.org/officeDocument/2006/math">
                    <m:oMathParaPr>
                      <m:jc m:val="left"/>
                    </m:oMathParaPr>
                    <m:oMath xmlns:m="http://schemas.openxmlformats.org/officeDocument/2006/math">
                      <m:acc>
                        <m:accPr>
                          <m:chr m:val="⃗"/>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acc>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FF00"/>
                          </a:solidFill>
                          <a:effectLst/>
                          <a:latin typeface="Cambria Math" panose="02040503050406030204" pitchFamily="18" charset="0"/>
                          <a:ea typeface="Cambria Math" panose="02040503050406030204" pitchFamily="18" charset="0"/>
                          <a:cs typeface="Times New Roman" panose="02020603050405020304" pitchFamily="18" charset="0"/>
                        </a:rPr>
                        <m:t>𝝆</m:t>
                      </m:r>
                      <m:r>
                        <m:rPr>
                          <m:nor/>
                        </m:rPr>
                        <a:rPr lang="fr-FR" sz="3200" b="1" kern="0" noProof="0" smtClean="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𝒆</m:t>
                              </m:r>
                            </m:e>
                            <m:sub>
                              <m:r>
                                <a:rPr lang="fr-FR" sz="3200" b="1" i="1" kern="0" noProof="0" smtClean="0">
                                  <a:solidFill>
                                    <a:srgbClr val="FFFF00"/>
                                  </a:solidFill>
                                  <a:effectLst/>
                                  <a:latin typeface="Cambria Math" panose="02040503050406030204" pitchFamily="18" charset="0"/>
                                  <a:ea typeface="Cambria Math" panose="02040503050406030204" pitchFamily="18" charset="0"/>
                                  <a:cs typeface="Times New Roman" panose="02020603050405020304" pitchFamily="18" charset="0"/>
                                </a:rPr>
                                <m:t>𝝆</m:t>
                              </m:r>
                            </m:sub>
                          </m:sSub>
                        </m:e>
                      </m:acc>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3200" b="1" i="1" kern="0" noProof="0" smtClean="0">
                              <a:solidFill>
                                <a:srgbClr val="FFFF00"/>
                              </a:solidFill>
                              <a:effectLst/>
                              <a:latin typeface="Cambria Math" panose="02040503050406030204" pitchFamily="18" charset="0"/>
                              <a:ea typeface="Cambria Math" panose="02040503050406030204" pitchFamily="18" charset="0"/>
                              <a:cs typeface="Times New Roman" panose="02020603050405020304" pitchFamily="18" charset="0"/>
                            </a:rPr>
                            <m:t>𝝆</m:t>
                          </m:r>
                        </m:den>
                      </m:f>
                      <m:f>
                        <m:fPr>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𝝏𝜽</m:t>
                          </m:r>
                        </m:den>
                      </m:f>
                      <m:r>
                        <m:rPr>
                          <m:nor/>
                        </m:rPr>
                        <a:rPr lang="fr-FR" sz="3200" b="1" kern="0" noProof="0" smtClean="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𝒆</m:t>
                              </m:r>
                            </m:e>
                            <m:sub>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𝜽</m:t>
                              </m:r>
                            </m:sub>
                          </m:sSub>
                        </m:e>
                      </m:acc>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3200" b="1" i="1" kern="0" noProof="0" smtClean="0">
                              <a:solidFill>
                                <a:srgbClr val="FFFF00"/>
                              </a:solidFill>
                              <a:effectLst/>
                              <a:latin typeface="Cambria Math" panose="02040503050406030204" pitchFamily="18" charset="0"/>
                              <a:ea typeface="Cambria Math" panose="02040503050406030204" pitchFamily="18" charset="0"/>
                              <a:cs typeface="Times New Roman" panose="02020603050405020304" pitchFamily="18" charset="0"/>
                            </a:rPr>
                            <m:t>𝝆</m:t>
                          </m:r>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𝒔𝒊𝒏</m:t>
                          </m:r>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𝜽</m:t>
                          </m:r>
                        </m:den>
                      </m:f>
                      <m:f>
                        <m:fPr>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𝝏𝝓</m:t>
                          </m:r>
                        </m:den>
                      </m:f>
                      <m:r>
                        <m:rPr>
                          <m:nor/>
                        </m:rPr>
                        <a:rPr lang="fr-FR" sz="3200" b="1" kern="0" noProof="0" smtClean="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𝒆</m:t>
                              </m:r>
                            </m:e>
                            <m:sub>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𝝓</m:t>
                              </m:r>
                            </m:sub>
                          </m:sSub>
                        </m:e>
                      </m:acc>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fr-FR" sz="3200" b="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endParaRPr>
              </a:p>
              <a:p>
                <a:pPr algn="ctr">
                  <a:lnSpc>
                    <a:spcPct val="115000"/>
                  </a:lnSpc>
                  <a:spcAft>
                    <a:spcPts val="800"/>
                  </a:spcAft>
                  <a:buNone/>
                </a:pP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Où :</a:t>
                </a: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pPr algn="ctr">
                  <a:lnSpc>
                    <a:spcPct val="115000"/>
                  </a:lnSpc>
                  <a:spcAft>
                    <a:spcPts val="800"/>
                  </a:spcAft>
                  <a:buNone/>
                </a:pPr>
                <a14:m>
                  <m:oMathPara xmlns:m="http://schemas.openxmlformats.org/officeDocument/2006/math">
                    <m:oMathParaPr>
                      <m:jc m:val="left"/>
                    </m:oMathParaPr>
                    <m:oMath xmlns:m="http://schemas.openxmlformats.org/officeDocument/2006/math">
                      <m:sSub>
                        <m:sSubPr>
                          <m:ctrlP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𝑟</m:t>
                          </m:r>
                        </m:sub>
                      </m:sSub>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𝑉</m:t>
                          </m:r>
                        </m:num>
                        <m:den>
                          <m:r>
                            <a:rPr lang="fr-FR" sz="3200"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i="1" kern="0" noProof="0" smtClean="0">
                              <a:solidFill>
                                <a:srgbClr val="FFFF00"/>
                              </a:solidFill>
                              <a:effectLst/>
                              <a:latin typeface="Cambria Math" panose="02040503050406030204" pitchFamily="18" charset="0"/>
                              <a:ea typeface="Cambria Math" panose="02040503050406030204" pitchFamily="18" charset="0"/>
                              <a:cs typeface="Times New Roman" panose="02020603050405020304" pitchFamily="18" charset="0"/>
                            </a:rPr>
                            <m:t>𝜌</m:t>
                          </m:r>
                        </m:den>
                      </m:f>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𝜃</m:t>
                          </m:r>
                        </m:sub>
                      </m:sSub>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fr-FR" sz="3200" i="1" kern="0" noProof="0" smtClean="0">
                              <a:solidFill>
                                <a:srgbClr val="FFFF00"/>
                              </a:solidFill>
                              <a:effectLst/>
                              <a:latin typeface="Cambria Math" panose="02040503050406030204" pitchFamily="18" charset="0"/>
                              <a:ea typeface="Cambria Math" panose="02040503050406030204" pitchFamily="18" charset="0"/>
                              <a:cs typeface="Times New Roman" panose="02020603050405020304" pitchFamily="18" charset="0"/>
                            </a:rPr>
                            <m:t>𝜌</m:t>
                          </m:r>
                        </m:den>
                      </m:f>
                      <m:f>
                        <m:fPr>
                          <m:ctrlP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𝑉</m:t>
                          </m:r>
                        </m:num>
                        <m:den>
                          <m:r>
                            <a:rPr lang="fr-FR" sz="3200"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𝜃</m:t>
                          </m:r>
                        </m:den>
                      </m:f>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𝜙</m:t>
                          </m:r>
                        </m:sub>
                      </m:sSub>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fr-FR" sz="3200" i="1" kern="0" noProof="0" smtClean="0">
                              <a:solidFill>
                                <a:srgbClr val="FFFF00"/>
                              </a:solidFill>
                              <a:effectLst/>
                              <a:latin typeface="Cambria Math" panose="02040503050406030204" pitchFamily="18" charset="0"/>
                              <a:ea typeface="Cambria Math" panose="02040503050406030204" pitchFamily="18" charset="0"/>
                              <a:cs typeface="Times New Roman" panose="02020603050405020304" pitchFamily="18" charset="0"/>
                            </a:rPr>
                            <m:t>𝜌</m:t>
                          </m:r>
                          <m:r>
                            <m:rPr>
                              <m:sty m:val="p"/>
                            </m:rPr>
                            <a:rPr lang="fr-FR" sz="3200"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sin</m:t>
                          </m:r>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𝜃</m:t>
                          </m:r>
                        </m:den>
                      </m:f>
                      <m:f>
                        <m:fPr>
                          <m:ctrlP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200"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𝑉</m:t>
                          </m:r>
                        </m:num>
                        <m:den>
                          <m:r>
                            <a:rPr lang="fr-FR" sz="3200"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2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𝜙</m:t>
                          </m:r>
                        </m:den>
                      </m:f>
                    </m:oMath>
                  </m:oMathPara>
                </a14:m>
                <a:endParaRPr lang="fr-FR" sz="3200" kern="0" noProof="0" dirty="0">
                  <a:effectLst/>
                  <a:latin typeface="Segoe UI Emoji" panose="020B0502040204020203" pitchFamily="34" charset="0"/>
                  <a:ea typeface="Times New Roman" panose="02020603050405020304" pitchFamily="18" charset="0"/>
                  <a:cs typeface="Segoe UI Emoji" panose="020B0502040204020203" pitchFamily="34" charset="0"/>
                </a:endParaRPr>
              </a:p>
              <a:p>
                <a:pPr algn="l">
                  <a:lnSpc>
                    <a:spcPct val="115000"/>
                  </a:lnSpc>
                  <a:spcAft>
                    <a:spcPts val="800"/>
                  </a:spcAft>
                  <a:buNone/>
                </a:pPr>
                <a:r>
                  <a:rPr lang="fr-FR" sz="3200" kern="0" noProof="0" dirty="0">
                    <a:effectLst/>
                    <a:latin typeface="Segoe UI Emoji" panose="020B0502040204020203" pitchFamily="34" charset="0"/>
                    <a:ea typeface="Times New Roman" panose="02020603050405020304" pitchFamily="18" charset="0"/>
                    <a:cs typeface="Segoe UI Emoji" panose="020B0502040204020203" pitchFamily="34" charset="0"/>
                  </a:rPr>
                  <a:t>🔹</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3200" i="1" kern="0" noProof="0" dirty="0">
                    <a:effectLst/>
                    <a:latin typeface="Times New Roman" panose="02020603050405020304" pitchFamily="18" charset="0"/>
                    <a:ea typeface="Times New Roman" panose="02020603050405020304" pitchFamily="18" charset="0"/>
                    <a:cs typeface="Arial" panose="020B0604020202020204" pitchFamily="34" charset="0"/>
                  </a:rPr>
                  <a:t>Cas typique :</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champ autour d’une </a:t>
                </a:r>
                <a:r>
                  <a:rPr lang="fr-FR" sz="3200" b="1" kern="0" noProof="0" dirty="0">
                    <a:effectLst/>
                    <a:latin typeface="Times New Roman" panose="02020603050405020304" pitchFamily="18" charset="0"/>
                    <a:ea typeface="Times New Roman" panose="02020603050405020304" pitchFamily="18" charset="0"/>
                    <a:cs typeface="Arial" panose="020B0604020202020204" pitchFamily="34" charset="0"/>
                  </a:rPr>
                  <a:t>charge ponctuelle</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(symétrie sphérique).</a:t>
                </a: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mc:Choice>
        <mc:Fallback xmlns="">
          <p:sp>
            <p:nvSpPr>
              <p:cNvPr id="3" name="Espace réservé du texte 2">
                <a:extLst>
                  <a:ext uri="{FF2B5EF4-FFF2-40B4-BE49-F238E27FC236}">
                    <a16:creationId xmlns:a16="http://schemas.microsoft.com/office/drawing/2014/main" id="{59951495-DC0D-6C8B-87C4-B1381600D074}"/>
                  </a:ext>
                </a:extLst>
              </p:cNvPr>
              <p:cNvSpPr>
                <a:spLocks noGrp="1" noRot="1" noChangeAspect="1" noMove="1" noResize="1" noEditPoints="1" noAdjustHandles="1" noChangeArrowheads="1" noChangeShapeType="1" noTextEdit="1"/>
              </p:cNvSpPr>
              <p:nvPr>
                <p:ph type="body" idx="1"/>
              </p:nvPr>
            </p:nvSpPr>
            <p:spPr>
              <a:xfrm>
                <a:off x="0" y="1436914"/>
                <a:ext cx="12192000" cy="4876800"/>
              </a:xfrm>
              <a:blipFill>
                <a:blip r:embed="rId3"/>
                <a:stretch>
                  <a:fillRect/>
                </a:stretch>
              </a:blipFill>
              <a:ln>
                <a:noFill/>
              </a:ln>
              <a:effectLst>
                <a:glow rad="139700">
                  <a:schemeClr val="accent5">
                    <a:satMod val="175000"/>
                    <a:alpha val="40000"/>
                  </a:schemeClr>
                </a:glow>
                <a:outerShdw blurRad="107950" dist="12700" dir="5400000" algn="ctr">
                  <a:srgbClr val="000000"/>
                </a:outerShdw>
              </a:effectLst>
            </p:spPr>
            <p:txBody>
              <a:bodyPr/>
              <a:lstStyle/>
              <a:p>
                <a:r>
                  <a:rPr lang="fr-DZ">
                    <a:noFill/>
                  </a:rPr>
                  <a:t> </a:t>
                </a:r>
              </a:p>
            </p:txBody>
          </p:sp>
        </mc:Fallback>
      </mc:AlternateContent>
      <p:pic>
        <p:nvPicPr>
          <p:cNvPr id="4" name="Image 3">
            <a:extLst>
              <a:ext uri="{FF2B5EF4-FFF2-40B4-BE49-F238E27FC236}">
                <a16:creationId xmlns:a16="http://schemas.microsoft.com/office/drawing/2014/main" id="{1A33889B-0319-E9DC-A5E2-65015A31F8D6}"/>
              </a:ext>
            </a:extLst>
          </p:cNvPr>
          <p:cNvPicPr>
            <a:picLocks noChangeAspect="1"/>
          </p:cNvPicPr>
          <p:nvPr/>
        </p:nvPicPr>
        <p:blipFill>
          <a:blip r:embed="rId4"/>
          <a:stretch>
            <a:fillRect/>
          </a:stretch>
        </p:blipFill>
        <p:spPr>
          <a:xfrm>
            <a:off x="8686800" y="1436915"/>
            <a:ext cx="3505200" cy="3254828"/>
          </a:xfrm>
          <a:prstGeom prst="rect">
            <a:avLst/>
          </a:prstGeom>
        </p:spPr>
      </p:pic>
    </p:spTree>
    <p:extLst>
      <p:ext uri="{BB962C8B-B14F-4D97-AF65-F5344CB8AC3E}">
        <p14:creationId xmlns:p14="http://schemas.microsoft.com/office/powerpoint/2010/main" val="15789584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4BA859FA-8829-0B3F-7469-B896B7C37099}"/>
                  </a:ext>
                </a:extLst>
              </p:cNvPr>
              <p:cNvSpPr>
                <a:spLocks noGrp="1"/>
              </p:cNvSpPr>
              <p:nvPr>
                <p:ph type="body" idx="1"/>
              </p:nvPr>
            </p:nvSpPr>
            <p:spPr>
              <a:xfrm>
                <a:off x="87086" y="1915885"/>
                <a:ext cx="12192000" cy="4778829"/>
              </a:xfrm>
              <a:solidFill>
                <a:schemeClr val="bg2"/>
              </a:solidFill>
              <a:effectLst>
                <a:glow rad="228600">
                  <a:schemeClr val="accent3">
                    <a:satMod val="175000"/>
                    <a:alpha val="40000"/>
                  </a:schemeClr>
                </a:glow>
              </a:effectLst>
            </p:spPr>
            <p:txBody>
              <a:bodyPr>
                <a:normAutofit/>
              </a:bodyPr>
              <a:lstStyle/>
              <a:p>
                <a:pPr algn="ctr">
                  <a:lnSpc>
                    <a:spcPct val="115000"/>
                  </a:lnSpc>
                  <a:spcAft>
                    <a:spcPts val="800"/>
                  </a:spcAft>
                </a:pPr>
                <a14:m>
                  <m:oMathPara xmlns:m="http://schemas.openxmlformats.org/officeDocument/2006/math">
                    <m:oMathParaPr>
                      <m:jc m:val="centerGroup"/>
                    </m:oMathParaPr>
                    <m:oMath xmlns:m="http://schemas.openxmlformats.org/officeDocument/2006/math">
                      <m:r>
                        <a:rPr lang="fr-FR" sz="3600" b="1"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𝑬</m:t>
                      </m:r>
                      <m:r>
                        <a:rPr lang="fr-FR" sz="3600" b="1"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3600" b="1"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600" b="1"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𝜟</m:t>
                          </m:r>
                          <m:r>
                            <a:rPr lang="fr-FR" sz="3600" b="1"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𝑽</m:t>
                          </m:r>
                        </m:num>
                        <m:den>
                          <m:r>
                            <a:rPr lang="fr-FR" sz="3600" b="1"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𝜟</m:t>
                          </m:r>
                          <m:r>
                            <a:rPr lang="fr-FR" sz="3600" b="1"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𝒍</m:t>
                          </m:r>
                        </m:den>
                      </m:f>
                    </m:oMath>
                  </m:oMathPara>
                </a14:m>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marL="457200" lvl="0" indent="-457200" algn="l">
                  <a:lnSpc>
                    <a:spcPct val="115000"/>
                  </a:lnSpc>
                  <a:spcAft>
                    <a:spcPts val="800"/>
                  </a:spcAft>
                  <a:buSzPts val="1000"/>
                  <a:buFont typeface="Wingdings" panose="05000000000000000000" pitchFamily="2" charset="2"/>
                  <a:buChar char="Ø"/>
                  <a:tabLst>
                    <a:tab pos="457200" algn="l"/>
                  </a:tabLst>
                </a:pPr>
                <a14:m>
                  <m:oMath xmlns:m="http://schemas.openxmlformats.org/officeDocument/2006/math">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𝐸</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intensité du champ électrique </a:t>
                </a:r>
                <a:r>
                  <a:rPr lang="fr-FR" sz="2800" b="1" kern="0" noProof="0" dirty="0">
                    <a:solidFill>
                      <a:schemeClr val="accent3"/>
                    </a:solidFill>
                    <a:effectLst/>
                    <a:latin typeface="Times New Roman" panose="02020603050405020304" pitchFamily="18" charset="0"/>
                    <a:ea typeface="Times New Roman" panose="02020603050405020304" pitchFamily="18" charset="0"/>
                    <a:cs typeface="Arial" panose="020B0604020202020204" pitchFamily="34" charset="0"/>
                  </a:rPr>
                  <a:t>(en N·C⁻¹ ou V·m⁻¹)</a:t>
                </a:r>
                <a:endParaRPr lang="fr-FR" sz="2800" b="1" kern="100" noProof="0" dirty="0">
                  <a:solidFill>
                    <a:schemeClr val="accent3"/>
                  </a:solidFill>
                  <a:effectLst/>
                  <a:latin typeface="Aptos" panose="020B0004020202020204" pitchFamily="34" charset="0"/>
                  <a:ea typeface="Aptos" panose="020B0004020202020204" pitchFamily="34" charset="0"/>
                  <a:cs typeface="Arial" panose="020B0604020202020204" pitchFamily="34" charset="0"/>
                </a:endParaRPr>
              </a:p>
              <a:p>
                <a:pPr marL="457200" lvl="0" indent="-457200" algn="l">
                  <a:lnSpc>
                    <a:spcPct val="115000"/>
                  </a:lnSpc>
                  <a:spcAft>
                    <a:spcPts val="800"/>
                  </a:spcAft>
                  <a:buSzPts val="1000"/>
                  <a:buFont typeface="Wingdings" panose="05000000000000000000" pitchFamily="2" charset="2"/>
                  <a:buChar char="Ø"/>
                  <a:tabLst>
                    <a:tab pos="457200" algn="l"/>
                  </a:tabLst>
                </a:pPr>
                <a14:m>
                  <m:oMath xmlns:m="http://schemas.openxmlformats.org/officeDocument/2006/math">
                    <m:r>
                      <m:rPr>
                        <m:sty m:val="p"/>
                      </m:rPr>
                      <a:rPr lang="fr-FR" sz="2800" kern="0" noProof="0" smtClean="0">
                        <a:effectLst/>
                        <a:latin typeface="Cambria Math" panose="02040503050406030204" pitchFamily="18" charset="0"/>
                        <a:ea typeface="Times New Roman" panose="02020603050405020304" pitchFamily="18" charset="0"/>
                        <a:cs typeface="Times New Roman" panose="02020603050405020304" pitchFamily="18" charset="0"/>
                      </a:rPr>
                      <m:t>Δ</m:t>
                    </m:r>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𝑉</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différence de potentiel entre deux points (en volts, V)</a:t>
                </a: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marL="457200" lvl="0" indent="-457200" algn="l">
                  <a:lnSpc>
                    <a:spcPct val="115000"/>
                  </a:lnSpc>
                  <a:spcAft>
                    <a:spcPts val="800"/>
                  </a:spcAft>
                  <a:buSzPts val="1000"/>
                  <a:buFont typeface="Wingdings" panose="05000000000000000000" pitchFamily="2" charset="2"/>
                  <a:buChar char="Ø"/>
                  <a:tabLst>
                    <a:tab pos="457200" algn="l"/>
                  </a:tabLst>
                </a:pPr>
                <a14:m>
                  <m:oMath xmlns:m="http://schemas.openxmlformats.org/officeDocument/2006/math">
                    <m:r>
                      <m:rPr>
                        <m:sty m:val="p"/>
                      </m:rPr>
                      <a:rPr lang="fr-FR" sz="2800" kern="0" noProof="0" smtClean="0">
                        <a:effectLst/>
                        <a:latin typeface="Cambria Math" panose="02040503050406030204" pitchFamily="18" charset="0"/>
                        <a:ea typeface="Times New Roman" panose="02020603050405020304" pitchFamily="18" charset="0"/>
                        <a:cs typeface="Times New Roman" panose="02020603050405020304" pitchFamily="18" charset="0"/>
                      </a:rPr>
                      <m:t>Δ</m:t>
                    </m:r>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𝑙</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distance entre ces deux points (en mètres, m)</a:t>
                </a: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marL="457200" lvl="0" indent="-457200" algn="l">
                  <a:lnSpc>
                    <a:spcPct val="115000"/>
                  </a:lnSpc>
                  <a:spcAft>
                    <a:spcPts val="800"/>
                  </a:spcAft>
                  <a:buSzPts val="1000"/>
                  <a:buFont typeface="Wingdings" panose="05000000000000000000" pitchFamily="2" charset="2"/>
                  <a:buChar char="Ø"/>
                  <a:tabLst>
                    <a:tab pos="457200" algn="l"/>
                  </a:tabLst>
                </a:pP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Le signe </a:t>
                </a:r>
                <a:r>
                  <a:rPr lang="fr-FR" sz="2800" b="1" kern="0" noProof="0" dirty="0">
                    <a:solidFill>
                      <a:schemeClr val="accent3"/>
                    </a:solidFill>
                    <a:effectLst/>
                    <a:latin typeface="Times New Roman" panose="02020603050405020304" pitchFamily="18" charset="0"/>
                    <a:ea typeface="Times New Roman" panose="02020603050405020304" pitchFamily="18" charset="0"/>
                    <a:cs typeface="Arial" panose="020B0604020202020204" pitchFamily="34" charset="0"/>
                  </a:rPr>
                  <a:t>« – »</a:t>
                </a:r>
                <a:r>
                  <a:rPr lang="fr-FR" sz="2800" kern="0" noProof="0" dirty="0">
                    <a:solidFill>
                      <a:schemeClr val="accent3"/>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indique que le champ électrique </a:t>
                </a:r>
                <a:r>
                  <a:rPr lang="fr-FR" sz="2800" b="1" kern="0" noProof="0" dirty="0">
                    <a:effectLst/>
                    <a:latin typeface="Times New Roman" panose="02020603050405020304" pitchFamily="18" charset="0"/>
                    <a:ea typeface="Times New Roman" panose="02020603050405020304" pitchFamily="18" charset="0"/>
                    <a:cs typeface="Arial" panose="020B0604020202020204" pitchFamily="34" charset="0"/>
                  </a:rPr>
                  <a:t>pointe dans la direction où le potentiel diminue</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mc:Choice>
        <mc:Fallback xmlns="">
          <p:sp>
            <p:nvSpPr>
              <p:cNvPr id="3" name="Espace réservé du texte 2">
                <a:extLst>
                  <a:ext uri="{FF2B5EF4-FFF2-40B4-BE49-F238E27FC236}">
                    <a16:creationId xmlns:a16="http://schemas.microsoft.com/office/drawing/2014/main" id="{4BA859FA-8829-0B3F-7469-B896B7C37099}"/>
                  </a:ext>
                </a:extLst>
              </p:cNvPr>
              <p:cNvSpPr>
                <a:spLocks noGrp="1" noRot="1" noChangeAspect="1" noMove="1" noResize="1" noEditPoints="1" noAdjustHandles="1" noChangeArrowheads="1" noChangeShapeType="1" noTextEdit="1"/>
              </p:cNvSpPr>
              <p:nvPr>
                <p:ph type="body" idx="1"/>
              </p:nvPr>
            </p:nvSpPr>
            <p:spPr>
              <a:xfrm>
                <a:off x="87086" y="1915885"/>
                <a:ext cx="12192000" cy="4778829"/>
              </a:xfrm>
              <a:blipFill>
                <a:blip r:embed="rId2"/>
                <a:stretch>
                  <a:fillRect/>
                </a:stretch>
              </a:blipFill>
              <a:effectLst>
                <a:glow rad="228600">
                  <a:schemeClr val="accent3">
                    <a:satMod val="175000"/>
                    <a:alpha val="40000"/>
                  </a:schemeClr>
                </a:glow>
              </a:effectLst>
            </p:spPr>
            <p:txBody>
              <a:bodyPr/>
              <a:lstStyle/>
              <a:p>
                <a:r>
                  <a:rPr lang="fr-DZ">
                    <a:noFill/>
                  </a:rPr>
                  <a:t> </a:t>
                </a:r>
              </a:p>
            </p:txBody>
          </p:sp>
        </mc:Fallback>
      </mc:AlternateContent>
      <p:sp>
        <p:nvSpPr>
          <p:cNvPr id="2" name="ZoneTexte 1">
            <a:extLst>
              <a:ext uri="{FF2B5EF4-FFF2-40B4-BE49-F238E27FC236}">
                <a16:creationId xmlns:a16="http://schemas.microsoft.com/office/drawing/2014/main" id="{52743E9A-6501-FEA3-4D70-5B688D638B6F}"/>
              </a:ext>
            </a:extLst>
          </p:cNvPr>
          <p:cNvSpPr txBox="1"/>
          <p:nvPr/>
        </p:nvSpPr>
        <p:spPr>
          <a:xfrm>
            <a:off x="1828800" y="141515"/>
            <a:ext cx="8534400" cy="1456553"/>
          </a:xfrm>
          <a:prstGeom prst="rect">
            <a:avLst/>
          </a:prstGeom>
          <a:noFill/>
        </p:spPr>
        <p:txBody>
          <a:bodyPr wrap="square" rtlCol="0">
            <a:spAutoFit/>
          </a:bodyPr>
          <a:lstStyle/>
          <a:p>
            <a:pPr marL="609585" marR="0" lvl="0" indent="-304792" algn="ctr" defTabSz="914400" rtl="0" eaLnBrk="1" fontAlgn="auto" latinLnBrk="0" hangingPunct="1">
              <a:lnSpc>
                <a:spcPct val="115000"/>
              </a:lnSpc>
              <a:spcBef>
                <a:spcPts val="1067"/>
              </a:spcBef>
              <a:spcAft>
                <a:spcPts val="800"/>
              </a:spcAft>
              <a:buClr>
                <a:srgbClr val="FFFFFF"/>
              </a:buClr>
              <a:buSzPts val="1700"/>
              <a:buFont typeface="Arial"/>
              <a:buNone/>
              <a:tabLst/>
              <a:defRPr/>
            </a:pPr>
            <a:r>
              <a:rPr kumimoji="0" lang="fr-FR" sz="3300" b="0"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 </a:t>
            </a:r>
            <a:r>
              <a:rPr kumimoji="0" lang="fr-FR" sz="3300" b="1" i="0" u="none" strike="noStrike" kern="0" cap="none" spc="0" normalizeH="0" baseline="0" noProof="0" dirty="0">
                <a:ln>
                  <a:noFill/>
                </a:ln>
                <a:solidFill>
                  <a:srgbClr val="FFC000"/>
                </a:solidFill>
                <a:effectLst/>
                <a:uLnTx/>
                <a:uFillTx/>
                <a:latin typeface="Times New Roman" panose="02020603050405020304" pitchFamily="18" charset="0"/>
                <a:ea typeface="Times New Roman" panose="02020603050405020304" pitchFamily="18" charset="0"/>
                <a:cs typeface="Arial" panose="020B0604020202020204" pitchFamily="34" charset="0"/>
                <a:sym typeface="Century Gothic"/>
              </a:rPr>
              <a:t>Dans le cas d’un </a:t>
            </a:r>
            <a:r>
              <a:rPr kumimoji="0" lang="fr-FR" sz="3300" b="1" i="0" u="sng" strike="noStrike" kern="0" cap="none" spc="0" normalizeH="0" baseline="0" noProof="0" dirty="0">
                <a:ln>
                  <a:noFill/>
                </a:ln>
                <a:solidFill>
                  <a:srgbClr val="FFC000"/>
                </a:solidFill>
                <a:effectLst/>
                <a:uLnTx/>
                <a:uFillTx/>
                <a:latin typeface="Times New Roman" panose="02020603050405020304" pitchFamily="18" charset="0"/>
                <a:ea typeface="Times New Roman" panose="02020603050405020304" pitchFamily="18" charset="0"/>
                <a:cs typeface="Arial" panose="020B0604020202020204" pitchFamily="34" charset="0"/>
                <a:sym typeface="Century Gothic"/>
              </a:rPr>
              <a:t>champ uniforme</a:t>
            </a:r>
            <a:r>
              <a:rPr kumimoji="0" lang="fr-FR" sz="3300" b="1" i="0" u="none" strike="noStrike" kern="0" cap="none" spc="0" normalizeH="0" baseline="0" noProof="0" dirty="0">
                <a:ln>
                  <a:noFill/>
                </a:ln>
                <a:solidFill>
                  <a:srgbClr val="FFC000"/>
                </a:solidFill>
                <a:effectLst/>
                <a:uLnTx/>
                <a:uFillTx/>
                <a:latin typeface="Times New Roman" panose="02020603050405020304" pitchFamily="18" charset="0"/>
                <a:ea typeface="Times New Roman" panose="02020603050405020304" pitchFamily="18" charset="0"/>
                <a:cs typeface="Arial" panose="020B0604020202020204" pitchFamily="34" charset="0"/>
                <a:sym typeface="Century Gothic"/>
              </a:rPr>
              <a:t> : </a:t>
            </a:r>
            <a:r>
              <a:rPr kumimoji="0" lang="fr-FR" sz="3300" b="0" i="0" u="none" strike="noStrike" kern="100" cap="none" spc="0" normalizeH="0" baseline="0" noProof="0" dirty="0">
                <a:ln>
                  <a:noFill/>
                </a:ln>
                <a:solidFill>
                  <a:srgbClr val="FFFFFF"/>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   </a:t>
            </a:r>
          </a:p>
          <a:p>
            <a:pPr marL="609585" marR="0" lvl="0" indent="-304792" algn="ctr" defTabSz="914400" rtl="0" eaLnBrk="1" fontAlgn="auto" latinLnBrk="0" hangingPunct="1">
              <a:lnSpc>
                <a:spcPct val="115000"/>
              </a:lnSpc>
              <a:spcBef>
                <a:spcPts val="1067"/>
              </a:spcBef>
              <a:spcAft>
                <a:spcPts val="800"/>
              </a:spcAft>
              <a:buClr>
                <a:srgbClr val="FFFFFF"/>
              </a:buClr>
              <a:buSzPts val="1700"/>
              <a:buFont typeface="Arial"/>
              <a:buNone/>
              <a:tabLst/>
              <a:defRPr/>
            </a:pPr>
            <a:r>
              <a:rPr kumimoji="0" lang="fr-FR" sz="3300" b="0" i="0" u="none" strike="noStrike" kern="100" cap="none" spc="0" normalizeH="0" baseline="0" noProof="0" dirty="0">
                <a:ln>
                  <a:noFill/>
                </a:ln>
                <a:solidFill>
                  <a:srgbClr val="01D17D"/>
                </a:solidFill>
                <a:effectLst/>
                <a:uLnTx/>
                <a:uFillTx/>
                <a:latin typeface="Segoe UI Emoji" panose="020B0502040204020203" pitchFamily="34" charset="0"/>
                <a:ea typeface="Aptos" panose="020B0004020202020204" pitchFamily="34" charset="0"/>
                <a:cs typeface="Segoe UI Emoji" panose="020B0502040204020203" pitchFamily="34" charset="0"/>
                <a:sym typeface="Century Gothic"/>
              </a:rPr>
              <a:t>👉</a:t>
            </a:r>
            <a:r>
              <a:rPr kumimoji="0" lang="fr-FR" sz="3300" b="1" i="0" u="none" strike="noStrike" kern="100" cap="none" spc="0" normalizeH="0" baseline="0" noProof="0" dirty="0">
                <a:ln>
                  <a:noFill/>
                </a:ln>
                <a:solidFill>
                  <a:srgbClr val="01D17D"/>
                </a:solidFill>
                <a:effectLst/>
                <a:uLnTx/>
                <a:uFillTx/>
                <a:latin typeface="Times New Roman" panose="02020603050405020304" pitchFamily="18" charset="0"/>
                <a:ea typeface="Aptos" panose="020B0004020202020204" pitchFamily="34" charset="0"/>
                <a:cs typeface="Times New Roman" panose="02020603050405020304" pitchFamily="18" charset="0"/>
                <a:sym typeface="Century Gothic"/>
              </a:rPr>
              <a:t>In the case of a </a:t>
            </a:r>
            <a:r>
              <a:rPr kumimoji="0" lang="fr-FR" sz="3300" b="1" i="0" u="none" strike="noStrike" kern="100" cap="none" spc="0" normalizeH="0" baseline="0" noProof="0" dirty="0" err="1">
                <a:ln>
                  <a:noFill/>
                </a:ln>
                <a:solidFill>
                  <a:srgbClr val="01D17D"/>
                </a:solidFill>
                <a:effectLst/>
                <a:uLnTx/>
                <a:uFillTx/>
                <a:latin typeface="Times New Roman" panose="02020603050405020304" pitchFamily="18" charset="0"/>
                <a:ea typeface="Aptos" panose="020B0004020202020204" pitchFamily="34" charset="0"/>
                <a:cs typeface="Times New Roman" panose="02020603050405020304" pitchFamily="18" charset="0"/>
                <a:sym typeface="Century Gothic"/>
              </a:rPr>
              <a:t>uniform</a:t>
            </a:r>
            <a:r>
              <a:rPr kumimoji="0" lang="fr-FR" sz="3300" b="1" i="0" u="none" strike="noStrike" kern="100" cap="none" spc="0" normalizeH="0" baseline="0" noProof="0" dirty="0">
                <a:ln>
                  <a:noFill/>
                </a:ln>
                <a:solidFill>
                  <a:srgbClr val="01D17D"/>
                </a:solidFill>
                <a:effectLst/>
                <a:uLnTx/>
                <a:uFillTx/>
                <a:latin typeface="Times New Roman" panose="02020603050405020304" pitchFamily="18" charset="0"/>
                <a:ea typeface="Aptos" panose="020B0004020202020204" pitchFamily="34" charset="0"/>
                <a:cs typeface="Times New Roman" panose="02020603050405020304" pitchFamily="18" charset="0"/>
                <a:sym typeface="Century Gothic"/>
              </a:rPr>
              <a:t> </a:t>
            </a:r>
            <a:r>
              <a:rPr kumimoji="0" lang="fr-FR" sz="3300" b="1" i="0" u="none" strike="noStrike" kern="100" cap="none" spc="0" normalizeH="0" baseline="0" noProof="0" dirty="0" err="1">
                <a:ln>
                  <a:noFill/>
                </a:ln>
                <a:solidFill>
                  <a:srgbClr val="01D17D"/>
                </a:solidFill>
                <a:effectLst/>
                <a:uLnTx/>
                <a:uFillTx/>
                <a:latin typeface="Times New Roman" panose="02020603050405020304" pitchFamily="18" charset="0"/>
                <a:ea typeface="Aptos" panose="020B0004020202020204" pitchFamily="34" charset="0"/>
                <a:cs typeface="Times New Roman" panose="02020603050405020304" pitchFamily="18" charset="0"/>
                <a:sym typeface="Century Gothic"/>
              </a:rPr>
              <a:t>field</a:t>
            </a:r>
            <a:endParaRPr lang="fr-FR" noProof="0" dirty="0"/>
          </a:p>
        </p:txBody>
      </p:sp>
    </p:spTree>
    <p:extLst>
      <p:ext uri="{BB962C8B-B14F-4D97-AF65-F5344CB8AC3E}">
        <p14:creationId xmlns:p14="http://schemas.microsoft.com/office/powerpoint/2010/main" val="42440025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7A554B-D007-EDE2-4C7B-C07C8C332455}"/>
              </a:ext>
            </a:extLst>
          </p:cNvPr>
          <p:cNvSpPr>
            <a:spLocks noGrp="1"/>
          </p:cNvSpPr>
          <p:nvPr>
            <p:ph type="title"/>
          </p:nvPr>
        </p:nvSpPr>
        <p:spPr>
          <a:xfrm>
            <a:off x="685800" y="274561"/>
            <a:ext cx="10820400" cy="955600"/>
          </a:xfrm>
        </p:spPr>
        <p:txBody>
          <a:bodyPr>
            <a:normAutofit fontScale="90000"/>
          </a:bodyPr>
          <a:lstStyle/>
          <a:p>
            <a:pPr algn="ctr"/>
            <a:r>
              <a:rPr lang="fr-FR" b="1" noProof="0" dirty="0">
                <a:solidFill>
                  <a:srgbClr val="FFC000"/>
                </a:solidFill>
                <a:latin typeface="Segoe UI Emoji" panose="020B0502040204020203" pitchFamily="34" charset="0"/>
                <a:ea typeface="Times New Roman" panose="02020603050405020304" pitchFamily="18" charset="0"/>
                <a:cs typeface="Segoe UI Emoji" panose="020B0502040204020203" pitchFamily="34" charset="0"/>
              </a:rPr>
              <a:t>⚡</a:t>
            </a: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Potentiel électrique d’une charge ponctuelle</a:t>
            </a:r>
            <a:b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kumimoji="0" lang="fr-FR" sz="40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en-US" b="1" noProof="0" dirty="0">
                <a:solidFill>
                  <a:schemeClr val="accent1"/>
                </a:solidFill>
                <a:latin typeface="Times New Roman" panose="02020603050405020304" pitchFamily="18" charset="0"/>
                <a:ea typeface="Times New Roman" panose="02020603050405020304" pitchFamily="18" charset="0"/>
                <a:cs typeface="Arial" panose="020B0604020202020204" pitchFamily="34" charset="0"/>
              </a:rPr>
              <a:t>"Electric potential of a point charge"</a:t>
            </a:r>
            <a:endParaRPr lang="fr-FR"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2818AB2F-5122-1D4C-5338-1347DAF122A7}"/>
                  </a:ext>
                </a:extLst>
              </p:cNvPr>
              <p:cNvSpPr>
                <a:spLocks noGrp="1"/>
              </p:cNvSpPr>
              <p:nvPr>
                <p:ph type="body" idx="1"/>
              </p:nvPr>
            </p:nvSpPr>
            <p:spPr>
              <a:xfrm>
                <a:off x="0" y="1632857"/>
                <a:ext cx="12191999" cy="4855029"/>
              </a:xfrm>
              <a:solidFill>
                <a:schemeClr val="accent1">
                  <a:lumMod val="75000"/>
                </a:schemeClr>
              </a:solidFill>
              <a:scene3d>
                <a:camera prst="orthographicFront"/>
                <a:lightRig rig="threePt" dir="t"/>
              </a:scene3d>
              <a:sp3d>
                <a:bevelT w="114300" prst="artDeco"/>
              </a:sp3d>
            </p:spPr>
            <p:txBody>
              <a:bodyPr>
                <a:normAutofit/>
              </a:bodyPr>
              <a:lstStyle/>
              <a:p>
                <a:pPr algn="l">
                  <a:lnSpc>
                    <a:spcPct val="115000"/>
                  </a:lnSpc>
                  <a:spcAft>
                    <a:spcPts val="800"/>
                  </a:spcAft>
                  <a:buNone/>
                </a:pPr>
                <a:r>
                  <a:rPr lang="fr-FR" sz="3000"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3200"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Le potentiel électrique </a:t>
                </a:r>
                <a14:m>
                  <m:oMath xmlns:m="http://schemas.openxmlformats.org/officeDocument/2006/math">
                    <m:r>
                      <a:rPr lang="fr-FR" sz="32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𝑉</m:t>
                    </m:r>
                    <m:d>
                      <m:dPr>
                        <m:ctrlPr>
                          <a:rPr lang="fr-FR" sz="32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32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𝑀</m:t>
                        </m:r>
                      </m:e>
                    </m:d>
                    <m:r>
                      <a:rPr lang="fr-FR" sz="32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en un point </a:t>
                </a:r>
                <a14:m>
                  <m:oMath xmlns:m="http://schemas.openxmlformats.org/officeDocument/2006/math">
                    <m:r>
                      <a:rPr lang="fr-FR" sz="32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𝑀</m:t>
                    </m:r>
                    <m:r>
                      <a:rPr lang="fr-FR" sz="3200" b="0"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est égal au </a:t>
                </a:r>
                <a:r>
                  <a:rPr lang="fr-FR" sz="3200" u="sng" kern="0" noProof="0" dirty="0">
                    <a:effectLst/>
                    <a:latin typeface="Times New Roman" panose="02020603050405020304" pitchFamily="18" charset="0"/>
                    <a:ea typeface="Times New Roman" panose="02020603050405020304" pitchFamily="18" charset="0"/>
                    <a:cs typeface="Arial" panose="020B0604020202020204" pitchFamily="34" charset="0"/>
                  </a:rPr>
                  <a:t>travail</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effectué par le champ électrique pour </a:t>
                </a:r>
                <a:r>
                  <a:rPr lang="fr-FR" sz="3200" u="sng" kern="0" noProof="0" dirty="0">
                    <a:effectLst/>
                    <a:latin typeface="Times New Roman" panose="02020603050405020304" pitchFamily="18" charset="0"/>
                    <a:ea typeface="Times New Roman" panose="02020603050405020304" pitchFamily="18" charset="0"/>
                    <a:cs typeface="Arial" panose="020B0604020202020204" pitchFamily="34" charset="0"/>
                  </a:rPr>
                  <a:t>amener</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une charge positive unité depuis </a:t>
                </a:r>
                <a:r>
                  <a:rPr lang="fr-FR" sz="3200"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l’infini jusqu’au point </a:t>
                </a:r>
                <a14:m>
                  <m:oMath xmlns:m="http://schemas.openxmlformats.org/officeDocument/2006/math">
                    <m:r>
                      <a:rPr lang="fr-FR" sz="32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𝑀</m:t>
                    </m:r>
                  </m:oMath>
                </a14:m>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3200" u="sng" kern="0" noProof="0" dirty="0">
                    <a:effectLst/>
                    <a:latin typeface="Times New Roman" panose="02020603050405020304" pitchFamily="18" charset="0"/>
                    <a:ea typeface="Times New Roman" panose="02020603050405020304" pitchFamily="18" charset="0"/>
                    <a:cs typeface="Arial" panose="020B0604020202020204" pitchFamily="34" charset="0"/>
                  </a:rPr>
                  <a:t>sans accélération</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(Le potentiel mesure la capacité du champ électrique à effectuer un travail sur une charge test):</a:t>
                </a: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14:m>
                  <m:oMathPara xmlns:m="http://schemas.openxmlformats.org/officeDocument/2006/math">
                    <m:oMathParaPr>
                      <m:jc m:val="centerGroup"/>
                    </m:oMathParaPr>
                    <m:oMath xmlns:m="http://schemas.openxmlformats.org/officeDocument/2006/math">
                      <m: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𝑽</m:t>
                      </m:r>
                      <m: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𝑴</m:t>
                      </m:r>
                      <m: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nary>
                        <m:naryPr>
                          <m:limLoc m:val="subSup"/>
                          <m:grow m:val="on"/>
                          <m:ctrlP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fr-FR" sz="3900" b="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sub>
                        <m:sup>
                          <m: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𝑴</m:t>
                          </m:r>
                        </m:sup>
                        <m:e>
                          <m:acc>
                            <m:accPr>
                              <m:chr m:val="⃗"/>
                              <m:ctrlP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acc>
                          <m: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𝒅</m:t>
                          </m:r>
                          <m:acc>
                            <m:accPr>
                              <m:chr m:val="⃗"/>
                              <m:ctrlP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9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𝒍</m:t>
                              </m:r>
                            </m:e>
                          </m:acc>
                        </m:e>
                      </m:nary>
                    </m:oMath>
                  </m:oMathPara>
                </a14:m>
                <a:b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br>
                <a:endParaRPr lang="fr-FR" sz="24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mc:Choice>
        <mc:Fallback xmlns="">
          <p:sp>
            <p:nvSpPr>
              <p:cNvPr id="3" name="Espace réservé du texte 2">
                <a:extLst>
                  <a:ext uri="{FF2B5EF4-FFF2-40B4-BE49-F238E27FC236}">
                    <a16:creationId xmlns:a16="http://schemas.microsoft.com/office/drawing/2014/main" id="{2818AB2F-5122-1D4C-5338-1347DAF122A7}"/>
                  </a:ext>
                </a:extLst>
              </p:cNvPr>
              <p:cNvSpPr>
                <a:spLocks noGrp="1" noRot="1" noChangeAspect="1" noMove="1" noResize="1" noEditPoints="1" noAdjustHandles="1" noChangeArrowheads="1" noChangeShapeType="1" noTextEdit="1"/>
              </p:cNvSpPr>
              <p:nvPr>
                <p:ph type="body" idx="1"/>
              </p:nvPr>
            </p:nvSpPr>
            <p:spPr>
              <a:xfrm>
                <a:off x="0" y="1632857"/>
                <a:ext cx="12191999" cy="4855029"/>
              </a:xfrm>
              <a:blipFill>
                <a:blip r:embed="rId2"/>
                <a:stretch>
                  <a:fillRect r="-1496"/>
                </a:stretch>
              </a:blipFill>
            </p:spPr>
            <p:txBody>
              <a:bodyPr/>
              <a:lstStyle/>
              <a:p>
                <a:r>
                  <a:rPr lang="fr-FR">
                    <a:noFill/>
                  </a:rPr>
                  <a:t> </a:t>
                </a:r>
              </a:p>
            </p:txBody>
          </p:sp>
        </mc:Fallback>
      </mc:AlternateContent>
    </p:spTree>
    <p:extLst>
      <p:ext uri="{BB962C8B-B14F-4D97-AF65-F5344CB8AC3E}">
        <p14:creationId xmlns:p14="http://schemas.microsoft.com/office/powerpoint/2010/main" val="1456251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4831C9-67FA-1A00-5027-04CF4E34CED3}"/>
              </a:ext>
            </a:extLst>
          </p:cNvPr>
          <p:cNvSpPr>
            <a:spLocks noGrp="1"/>
          </p:cNvSpPr>
          <p:nvPr>
            <p:ph type="title"/>
          </p:nvPr>
        </p:nvSpPr>
        <p:spPr>
          <a:xfrm>
            <a:off x="685800" y="119743"/>
            <a:ext cx="10811735" cy="2209800"/>
          </a:xfrm>
        </p:spPr>
        <p:txBody>
          <a:bodyPr>
            <a:normAutofit/>
          </a:bodyPr>
          <a:lstStyle/>
          <a:p>
            <a:pPr algn="l"/>
            <a:r>
              <a:rPr kumimoji="0" lang="fr-FR" sz="3600" b="1" i="0" u="none" strike="noStrike" kern="0" cap="none" spc="0" normalizeH="0" baseline="0" noProof="0" dirty="0">
                <a:ln>
                  <a:noFill/>
                </a:ln>
                <a:solidFill>
                  <a:srgbClr val="FFC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entury Gothic"/>
              </a:rPr>
              <a:t>⚡ Potentiel électrique d’une charge ponctuelle</a:t>
            </a:r>
            <a:br>
              <a:rPr kumimoji="0" lang="fr-FR" sz="3600" b="1" i="0" u="none" strike="noStrike" kern="0" cap="none" spc="0" normalizeH="0" baseline="0" noProof="0" dirty="0">
                <a:ln>
                  <a:noFill/>
                </a:ln>
                <a:solidFill>
                  <a:srgbClr val="FFC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entury Gothic"/>
              </a:rPr>
            </a:br>
            <a:r>
              <a:rPr lang="fr-FR" sz="3600" b="1" kern="0" noProof="0" dirty="0">
                <a:solidFill>
                  <a:srgbClr val="92D050"/>
                </a:solidFill>
                <a:effectLst/>
                <a:highlight>
                  <a:srgbClr val="FFFF00"/>
                </a:highlight>
                <a:latin typeface="Segoe UI Emoji" panose="020B0502040204020203" pitchFamily="34" charset="0"/>
                <a:ea typeface="Times New Roman" panose="02020603050405020304" pitchFamily="18" charset="0"/>
                <a:cs typeface="Segoe UI Emoji" panose="020B0502040204020203" pitchFamily="34" charset="0"/>
              </a:rPr>
              <a:t>🔹</a:t>
            </a:r>
            <a:r>
              <a:rPr lang="fr-FR" sz="3600" b="1" kern="0" noProof="0" dirty="0">
                <a:effectLst/>
                <a:latin typeface="Segoe UI Emoji" panose="020B0502040204020203" pitchFamily="34" charset="0"/>
                <a:ea typeface="Times New Roman" panose="02020603050405020304" pitchFamily="18" charset="0"/>
                <a:cs typeface="Segoe UI Emoji" panose="020B0502040204020203" pitchFamily="34" charset="0"/>
              </a:rPr>
              <a:t> </a:t>
            </a:r>
            <a:r>
              <a:rPr lang="fr-FR" sz="3600" b="1"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Cas d’une charge ponctuelle unique : </a:t>
            </a:r>
            <a:br>
              <a:rPr lang="fr-FR" sz="3600" b="1"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br>
            <a:r>
              <a:rPr lang="en-US" sz="3600" b="1" dirty="0">
                <a:solidFill>
                  <a:schemeClr val="accent1"/>
                </a:solidFill>
                <a:latin typeface="Times New Roman" panose="02020603050405020304" pitchFamily="18" charset="0"/>
                <a:cs typeface="Times New Roman" panose="02020603050405020304" pitchFamily="18" charset="0"/>
              </a:rPr>
              <a:t>**⚡ Electric potential of a point charge </a:t>
            </a:r>
            <a:br>
              <a:rPr lang="en-US" sz="3600" b="1" dirty="0">
                <a:solidFill>
                  <a:schemeClr val="accent1"/>
                </a:solidFill>
                <a:latin typeface="Times New Roman" panose="02020603050405020304" pitchFamily="18" charset="0"/>
                <a:cs typeface="Times New Roman" panose="02020603050405020304" pitchFamily="18" charset="0"/>
              </a:rPr>
            </a:br>
            <a:r>
              <a:rPr lang="en-US" sz="3600" b="1" dirty="0">
                <a:solidFill>
                  <a:schemeClr val="accent1"/>
                </a:solidFill>
                <a:latin typeface="Times New Roman" panose="02020603050405020304" pitchFamily="18" charset="0"/>
                <a:cs typeface="Times New Roman" panose="02020603050405020304" pitchFamily="18" charset="0"/>
              </a:rPr>
              <a:t>🔹 Case of a single isolated point charge:** </a:t>
            </a:r>
            <a:endParaRPr lang="fr-FR" sz="3600" b="1" noProof="0" dirty="0">
              <a:solidFill>
                <a:schemeClr val="accent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Espace réservé du texte 2">
                <a:extLst>
                  <a:ext uri="{FF2B5EF4-FFF2-40B4-BE49-F238E27FC236}">
                    <a16:creationId xmlns:a16="http://schemas.microsoft.com/office/drawing/2014/main" id="{A38C7F0A-A2E3-49FB-9C96-AAEAA181F327}"/>
                  </a:ext>
                </a:extLst>
              </p:cNvPr>
              <p:cNvSpPr>
                <a:spLocks noGrp="1"/>
              </p:cNvSpPr>
              <p:nvPr>
                <p:ph type="body" idx="1"/>
              </p:nvPr>
            </p:nvSpPr>
            <p:spPr>
              <a:xfrm>
                <a:off x="0" y="2590799"/>
                <a:ext cx="12191999" cy="4267201"/>
              </a:xfrm>
              <a:solidFill>
                <a:schemeClr val="accent5">
                  <a:lumMod val="75000"/>
                </a:schemeClr>
              </a:solidFill>
              <a:effectLst/>
              <a:scene3d>
                <a:camera prst="orthographicFront"/>
                <a:lightRig rig="threePt" dir="t"/>
              </a:scene3d>
              <a:sp3d>
                <a:bevelT prst="relaxedInset"/>
              </a:sp3d>
            </p:spPr>
            <p:txBody>
              <a:bodyPr>
                <a:normAutofit/>
              </a:bodyPr>
              <a:lstStyle/>
              <a:p>
                <a:pPr algn="l">
                  <a:lnSpc>
                    <a:spcPct val="115000"/>
                  </a:lnSpc>
                  <a:spcAft>
                    <a:spcPts val="800"/>
                  </a:spcAft>
                  <a:buNone/>
                </a:pPr>
                <a:r>
                  <a:rPr lang="fr-FR" sz="3600" kern="0" noProof="0" dirty="0">
                    <a:effectLst/>
                    <a:latin typeface="Times New Roman" panose="02020603050405020304" pitchFamily="18" charset="0"/>
                    <a:ea typeface="Times New Roman" panose="02020603050405020304" pitchFamily="18" charset="0"/>
                    <a:cs typeface="Arial" panose="020B0604020202020204" pitchFamily="34" charset="0"/>
                  </a:rPr>
                  <a:t>    	Si le champ électrique </a:t>
                </a:r>
                <a14:m>
                  <m:oMath xmlns:m="http://schemas.openxmlformats.org/officeDocument/2006/math">
                    <m:r>
                      <a:rPr lang="fr-FR" sz="36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𝐸</m:t>
                    </m:r>
                  </m:oMath>
                </a14:m>
                <a:r>
                  <a:rPr lang="fr-FR" sz="3600" kern="0" noProof="0" dirty="0">
                    <a:effectLst/>
                    <a:latin typeface="Times New Roman" panose="02020603050405020304" pitchFamily="18" charset="0"/>
                    <a:ea typeface="Times New Roman" panose="02020603050405020304" pitchFamily="18" charset="0"/>
                    <a:cs typeface="Arial" panose="020B0604020202020204" pitchFamily="34" charset="0"/>
                  </a:rPr>
                  <a:t>est </a:t>
                </a:r>
                <a:r>
                  <a:rPr lang="fr-FR" sz="3600" b="1" kern="0" noProof="0" dirty="0">
                    <a:effectLst/>
                    <a:latin typeface="Times New Roman" panose="02020603050405020304" pitchFamily="18" charset="0"/>
                    <a:ea typeface="Times New Roman" panose="02020603050405020304" pitchFamily="18" charset="0"/>
                    <a:cs typeface="Arial" panose="020B0604020202020204" pitchFamily="34" charset="0"/>
                  </a:rPr>
                  <a:t>créé par une charge ponctuelle</a:t>
                </a:r>
                <a:r>
                  <a:rPr lang="fr-FR" sz="3600" b="1" kern="0" noProof="0" dirty="0">
                    <a:solidFill>
                      <a:srgbClr val="215F9A"/>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600" b="1" kern="0" noProof="0" dirty="0">
                    <a:solidFill>
                      <a:srgbClr val="92D050"/>
                    </a:solidFill>
                    <a:effectLst/>
                    <a:latin typeface="Times New Roman" panose="02020603050405020304" pitchFamily="18" charset="0"/>
                    <a:ea typeface="Times New Roman" panose="02020603050405020304" pitchFamily="18" charset="0"/>
                    <a:cs typeface="Arial" panose="020B0604020202020204" pitchFamily="34" charset="0"/>
                  </a:rPr>
                  <a:t>q</a:t>
                </a:r>
                <a14:m>
                  <m:oMath xmlns:m="http://schemas.openxmlformats.org/officeDocument/2006/math">
                    <m:r>
                      <a:rPr lang="fr-FR" sz="36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fr-FR" sz="3600" kern="0" noProof="0" dirty="0">
                    <a:effectLst/>
                    <a:latin typeface="Times New Roman" panose="02020603050405020304" pitchFamily="18" charset="0"/>
                    <a:ea typeface="Times New Roman" panose="02020603050405020304" pitchFamily="18" charset="0"/>
                    <a:cs typeface="Arial" panose="020B0604020202020204" pitchFamily="34" charset="0"/>
                  </a:rPr>
                  <a:t>placée en un point</a:t>
                </a:r>
                <a:r>
                  <a:rPr lang="fr-FR" sz="3600" kern="0" noProof="0" dirty="0">
                    <a:solidFill>
                      <a:srgbClr val="92D050"/>
                    </a:solidFill>
                    <a:effectLst/>
                    <a:latin typeface="Times New Roman" panose="02020603050405020304" pitchFamily="18" charset="0"/>
                    <a:ea typeface="Times New Roman" panose="02020603050405020304" pitchFamily="18" charset="0"/>
                    <a:cs typeface="Arial" panose="020B0604020202020204" pitchFamily="34" charset="0"/>
                  </a:rPr>
                  <a:t> </a:t>
                </a:r>
                <a14:m>
                  <m:oMath xmlns:m="http://schemas.openxmlformats.org/officeDocument/2006/math">
                    <m:r>
                      <a:rPr lang="fr-FR" sz="3600"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𝑃</m:t>
                    </m:r>
                  </m:oMath>
                </a14:m>
                <a:r>
                  <a:rPr lang="fr-FR" sz="3600" kern="0" noProof="0" dirty="0">
                    <a:effectLst/>
                    <a:latin typeface="Times New Roman" panose="02020603050405020304" pitchFamily="18" charset="0"/>
                    <a:ea typeface="Times New Roman" panose="02020603050405020304" pitchFamily="18" charset="0"/>
                    <a:cs typeface="Arial" panose="020B0604020202020204" pitchFamily="34" charset="0"/>
                  </a:rPr>
                  <a:t>, alors le </a:t>
                </a:r>
                <a:r>
                  <a:rPr lang="fr-FR" sz="3600" b="1" kern="0" noProof="0" dirty="0">
                    <a:effectLst/>
                    <a:latin typeface="Times New Roman" panose="02020603050405020304" pitchFamily="18" charset="0"/>
                    <a:ea typeface="Times New Roman" panose="02020603050405020304" pitchFamily="18" charset="0"/>
                    <a:cs typeface="Arial" panose="020B0604020202020204" pitchFamily="34" charset="0"/>
                  </a:rPr>
                  <a:t>potentiel électrique</a:t>
                </a:r>
                <a:r>
                  <a:rPr lang="fr-FR" sz="3600" kern="0" noProof="0" dirty="0">
                    <a:effectLst/>
                    <a:latin typeface="Times New Roman" panose="02020603050405020304" pitchFamily="18" charset="0"/>
                    <a:ea typeface="Times New Roman" panose="02020603050405020304" pitchFamily="18" charset="0"/>
                    <a:cs typeface="Arial" panose="020B0604020202020204" pitchFamily="34" charset="0"/>
                  </a:rPr>
                  <a:t> en un point</a:t>
                </a:r>
                <a:r>
                  <a:rPr lang="fr-FR" sz="3600" kern="0" noProof="0" dirty="0">
                    <a:solidFill>
                      <a:srgbClr val="215F9A"/>
                    </a:solidFill>
                    <a:effectLst/>
                    <a:latin typeface="Times New Roman" panose="02020603050405020304" pitchFamily="18" charset="0"/>
                    <a:ea typeface="Times New Roman" panose="02020603050405020304" pitchFamily="18" charset="0"/>
                    <a:cs typeface="Arial" panose="020B0604020202020204" pitchFamily="34" charset="0"/>
                  </a:rPr>
                  <a:t> </a:t>
                </a:r>
                <a14:m>
                  <m:oMath xmlns:m="http://schemas.openxmlformats.org/officeDocument/2006/math">
                    <m:r>
                      <a:rPr lang="fr-FR" sz="3600"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𝑀</m:t>
                    </m:r>
                  </m:oMath>
                </a14:m>
                <a:r>
                  <a:rPr lang="fr-FR" sz="3600" kern="0" noProof="0" dirty="0">
                    <a:effectLst/>
                    <a:latin typeface="Times New Roman" panose="02020603050405020304" pitchFamily="18" charset="0"/>
                    <a:ea typeface="Times New Roman" panose="02020603050405020304" pitchFamily="18" charset="0"/>
                    <a:cs typeface="Arial" panose="020B0604020202020204" pitchFamily="34" charset="0"/>
                  </a:rPr>
                  <a:t>, situé à une distance </a:t>
                </a:r>
                <a14:m>
                  <m:oMath xmlns:m="http://schemas.openxmlformats.org/officeDocument/2006/math">
                    <m:r>
                      <a:rPr lang="fr-FR" sz="3600" b="0" i="0"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fr-FR" sz="3600"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𝑟</m:t>
                    </m:r>
                    <m:r>
                      <a:rPr lang="fr-FR" sz="3600"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600"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t>𝑃𝑀</m:t>
                    </m:r>
                  </m:oMath>
                </a14:m>
                <a:r>
                  <a:rPr lang="fr-FR" sz="3600" kern="0" noProof="0" dirty="0">
                    <a:effectLst/>
                    <a:latin typeface="Times New Roman" panose="02020603050405020304" pitchFamily="18" charset="0"/>
                    <a:ea typeface="Times New Roman" panose="02020603050405020304" pitchFamily="18" charset="0"/>
                    <a:cs typeface="Arial" panose="020B0604020202020204" pitchFamily="34" charset="0"/>
                  </a:rPr>
                  <a:t>, est donné par :</a:t>
                </a:r>
                <a:endParaRPr lang="fr-FR" sz="36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pPr>
                <a14:m>
                  <m:oMathPara xmlns:m="http://schemas.openxmlformats.org/officeDocument/2006/math">
                    <m:oMathParaPr>
                      <m:jc m:val="centerGroup"/>
                    </m:oMathParaPr>
                    <m:oMath xmlns:m="http://schemas.openxmlformats.org/officeDocument/2006/math">
                      <m:borderBox>
                        <m:borderBoxPr>
                          <m:ctrlP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borderBoxPr>
                        <m:e>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𝑽</m:t>
                          </m:r>
                          <m:d>
                            <m:dPr>
                              <m:ctrlP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𝑴</m:t>
                              </m:r>
                            </m:e>
                          </m:d>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𝒌</m:t>
                          </m:r>
                          <m:f>
                            <m:fPr>
                              <m:ctrlP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𝒒</m:t>
                              </m:r>
                            </m:num>
                            <m:den>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den>
                          </m:f>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𝟒</m:t>
                              </m:r>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𝝅</m:t>
                              </m:r>
                              <m:sSub>
                                <m:sSubPr>
                                  <m:ctrlP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𝜺</m:t>
                                  </m:r>
                                </m:e>
                                <m:sub>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𝟎</m:t>
                                  </m:r>
                                </m:sub>
                              </m:sSub>
                            </m:den>
                          </m:f>
                          <m:r>
                            <a:rPr lang="fr-FR" sz="4000" b="1" i="1" kern="0" noProof="0" smtClean="0">
                              <a:solidFill>
                                <a:srgbClr val="FFC000"/>
                              </a:solidFill>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fr-FR" sz="4000" b="1" i="1">
                                  <a:solidFill>
                                    <a:srgbClr val="FFC000"/>
                                  </a:solidFill>
                                  <a:latin typeface="Cambria Math" panose="02040503050406030204" pitchFamily="18" charset="0"/>
                                  <a:cs typeface="Times New Roman" panose="02020603050405020304" pitchFamily="18" charset="0"/>
                                </a:rPr>
                              </m:ctrlPr>
                            </m:fPr>
                            <m:num>
                              <m:r>
                                <a:rPr lang="fr-FR" sz="4000" b="1" i="1" smtClean="0">
                                  <a:solidFill>
                                    <a:srgbClr val="FFC000"/>
                                  </a:solidFill>
                                  <a:latin typeface="Cambria Math" panose="02040503050406030204" pitchFamily="18" charset="0"/>
                                  <a:cs typeface="Times New Roman" panose="02020603050405020304" pitchFamily="18" charset="0"/>
                                </a:rPr>
                                <m:t>𝒒</m:t>
                              </m:r>
                            </m:num>
                            <m:den>
                              <m:r>
                                <a:rPr lang="fr-FR" sz="4000" b="1" i="1" smtClean="0">
                                  <a:solidFill>
                                    <a:srgbClr val="FFC000"/>
                                  </a:solidFill>
                                  <a:latin typeface="Cambria Math" panose="02040503050406030204" pitchFamily="18" charset="0"/>
                                  <a:cs typeface="Times New Roman" panose="02020603050405020304" pitchFamily="18" charset="0"/>
                                </a:rPr>
                                <m:t>𝒓</m:t>
                              </m:r>
                            </m:den>
                          </m:f>
                        </m:e>
                      </m:borderBox>
                    </m:oMath>
                  </m:oMathPara>
                </a14:m>
                <a:br>
                  <a:rPr lang="fr-FR" sz="3600" kern="0" noProof="0" dirty="0">
                    <a:effectLst/>
                    <a:latin typeface="Cambria Math" panose="02040503050406030204" pitchFamily="18" charset="0"/>
                    <a:ea typeface="Times New Roman" panose="02020603050405020304" pitchFamily="18" charset="0"/>
                    <a:cs typeface="Times New Roman" panose="02020603050405020304" pitchFamily="18" charset="0"/>
                  </a:rPr>
                </a:br>
                <a:endParaRPr lang="fr-FR" sz="3600" kern="100" noProof="0" dirty="0">
                  <a:effectLst/>
                  <a:latin typeface="Aptos" panose="020B0004020202020204" pitchFamily="34" charset="0"/>
                  <a:ea typeface="Aptos" panose="020B0004020202020204" pitchFamily="34" charset="0"/>
                  <a:cs typeface="Arial" panose="020B0604020202020204" pitchFamily="34" charset="0"/>
                </a:endParaRPr>
              </a:p>
              <a:p>
                <a:pPr algn="l"/>
                <a:endParaRPr lang="fr-FR" noProof="0" dirty="0"/>
              </a:p>
            </p:txBody>
          </p:sp>
        </mc:Choice>
        <mc:Fallback>
          <p:sp>
            <p:nvSpPr>
              <p:cNvPr id="3" name="Espace réservé du texte 2">
                <a:extLst>
                  <a:ext uri="{FF2B5EF4-FFF2-40B4-BE49-F238E27FC236}">
                    <a16:creationId xmlns:a16="http://schemas.microsoft.com/office/drawing/2014/main" id="{A38C7F0A-A2E3-49FB-9C96-AAEAA181F327}"/>
                  </a:ext>
                </a:extLst>
              </p:cNvPr>
              <p:cNvSpPr>
                <a:spLocks noGrp="1" noRot="1" noChangeAspect="1" noMove="1" noResize="1" noEditPoints="1" noAdjustHandles="1" noChangeArrowheads="1" noChangeShapeType="1" noTextEdit="1"/>
              </p:cNvSpPr>
              <p:nvPr>
                <p:ph type="body" idx="1"/>
              </p:nvPr>
            </p:nvSpPr>
            <p:spPr>
              <a:xfrm>
                <a:off x="0" y="2590799"/>
                <a:ext cx="12191999" cy="4267201"/>
              </a:xfrm>
              <a:blipFill>
                <a:blip r:embed="rId2"/>
                <a:stretch>
                  <a:fillRect r="-2344"/>
                </a:stretch>
              </a:blipFill>
              <a:effectLst/>
            </p:spPr>
            <p:txBody>
              <a:bodyPr/>
              <a:lstStyle/>
              <a:p>
                <a:r>
                  <a:rPr lang="fr-FR">
                    <a:noFill/>
                  </a:rPr>
                  <a:t> </a:t>
                </a:r>
              </a:p>
            </p:txBody>
          </p:sp>
        </mc:Fallback>
      </mc:AlternateContent>
    </p:spTree>
    <p:extLst>
      <p:ext uri="{BB962C8B-B14F-4D97-AF65-F5344CB8AC3E}">
        <p14:creationId xmlns:p14="http://schemas.microsoft.com/office/powerpoint/2010/main" val="20938420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F872E941-A515-A83B-AF61-E9EE3F944707}"/>
                  </a:ext>
                </a:extLst>
              </p:cNvPr>
              <p:cNvSpPr>
                <a:spLocks noGrp="1"/>
              </p:cNvSpPr>
              <p:nvPr>
                <p:ph type="title"/>
              </p:nvPr>
            </p:nvSpPr>
            <p:spPr>
              <a:xfrm>
                <a:off x="685800" y="753533"/>
                <a:ext cx="10820400" cy="1597781"/>
              </a:xfrm>
            </p:spPr>
            <p:txBody>
              <a:bodyPr>
                <a:normAutofit fontScale="90000"/>
              </a:bodyPr>
              <a:lstStyle/>
              <a:p>
                <a:pPr algn="l"/>
                <a:r>
                  <a:rPr kumimoji="0" lang="fr-FR" b="1" i="0" u="none" strike="noStrike" kern="0" cap="none" spc="0" normalizeH="0" baseline="0" noProof="0" dirty="0">
                    <a:ln>
                      <a:noFill/>
                    </a:ln>
                    <a:solidFill>
                      <a:srgbClr val="FFC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entury Gothic"/>
                  </a:rPr>
                  <a:t>⚡ Potentiel électrique d’une charge ponctuelle</a:t>
                </a:r>
                <a:br>
                  <a:rPr kumimoji="0" lang="fr-FR" sz="3600" b="1" i="0" u="none" strike="noStrike" kern="0" cap="none" spc="0" normalizeH="0" baseline="0" noProof="0" dirty="0">
                    <a:ln>
                      <a:noFill/>
                    </a:ln>
                    <a:solidFill>
                      <a:srgbClr val="FFC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entury Gothic"/>
                  </a:rPr>
                </a:br>
                <a:r>
                  <a:rPr lang="fr-FR" b="1" noProof="0" dirty="0">
                    <a:solidFill>
                      <a:srgbClr val="FFC000"/>
                    </a:solidFill>
                    <a:highlight>
                      <a:srgbClr val="FFFF00"/>
                    </a:highlight>
                    <a:latin typeface="Segoe UI Emoji" panose="020B0502040204020203" pitchFamily="34" charset="0"/>
                    <a:ea typeface="Times New Roman" panose="02020603050405020304" pitchFamily="18" charset="0"/>
                    <a:cs typeface="Segoe UI Emoji" panose="020B0502040204020203" pitchFamily="34" charset="0"/>
                  </a:rPr>
                  <a:t>🔸</a:t>
                </a: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Cas d’un ensemble de </a:t>
                </a:r>
                <a14:m>
                  <m:oMath xmlns:m="http://schemas.openxmlformats.org/officeDocument/2006/math">
                    <m:r>
                      <a:rPr lang="fr-FR" b="1" i="1" noProof="0" smtClean="0">
                        <a:solidFill>
                          <a:srgbClr val="FFC000"/>
                        </a:solidFill>
                        <a:latin typeface="Cambria Math" panose="02040503050406030204" pitchFamily="18" charset="0"/>
                        <a:ea typeface="Times New Roman" panose="02020603050405020304" pitchFamily="18" charset="0"/>
                        <a:cs typeface="Times New Roman" panose="02020603050405020304" pitchFamily="18" charset="0"/>
                      </a:rPr>
                      <m:t>𝑵</m:t>
                    </m:r>
                  </m:oMath>
                </a14:m>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charges ponctuelles : </a:t>
                </a:r>
                <a:b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lang="en-US" dirty="0">
                    <a:solidFill>
                      <a:schemeClr val="accent1"/>
                    </a:solidFill>
                    <a:latin typeface="Times New Roman" panose="02020603050405020304" pitchFamily="18" charset="0"/>
                    <a:cs typeface="Times New Roman" panose="02020603050405020304" pitchFamily="18" charset="0"/>
                  </a:rPr>
                  <a:t>⚡ </a:t>
                </a:r>
                <a:r>
                  <a:rPr lang="en-US" b="1" dirty="0">
                    <a:solidFill>
                      <a:schemeClr val="accent1"/>
                    </a:solidFill>
                    <a:latin typeface="Times New Roman" panose="02020603050405020304" pitchFamily="18" charset="0"/>
                    <a:cs typeface="Times New Roman" panose="02020603050405020304" pitchFamily="18" charset="0"/>
                  </a:rPr>
                  <a:t>Electric potential of a point charge</a:t>
                </a:r>
                <a:br>
                  <a:rPr lang="en-US" dirty="0">
                    <a:solidFill>
                      <a:schemeClr val="accent1"/>
                    </a:solidFill>
                    <a:latin typeface="Times New Roman" panose="02020603050405020304" pitchFamily="18" charset="0"/>
                    <a:cs typeface="Times New Roman" panose="02020603050405020304" pitchFamily="18" charset="0"/>
                  </a:rPr>
                </a:br>
                <a:r>
                  <a:rPr lang="en-US" dirty="0">
                    <a:solidFill>
                      <a:schemeClr val="accent1"/>
                    </a:solidFill>
                    <a:latin typeface="Times New Roman" panose="02020603050405020304" pitchFamily="18" charset="0"/>
                    <a:cs typeface="Times New Roman" panose="02020603050405020304" pitchFamily="18" charset="0"/>
                  </a:rPr>
                  <a:t>🔸 </a:t>
                </a:r>
                <a:r>
                  <a:rPr lang="en-US" b="1" dirty="0">
                    <a:solidFill>
                      <a:schemeClr val="accent1"/>
                    </a:solidFill>
                    <a:latin typeface="Times New Roman" panose="02020603050405020304" pitchFamily="18" charset="0"/>
                    <a:cs typeface="Times New Roman" panose="02020603050405020304" pitchFamily="18" charset="0"/>
                  </a:rPr>
                  <a:t>Case of a set of 𝑵 point charges</a:t>
                </a:r>
                <a:endParaRPr lang="fr-FR" noProof="0" dirty="0"/>
              </a:p>
            </p:txBody>
          </p:sp>
        </mc:Choice>
        <mc:Fallback xmlns="">
          <p:sp>
            <p:nvSpPr>
              <p:cNvPr id="2" name="Titre 1">
                <a:extLst>
                  <a:ext uri="{FF2B5EF4-FFF2-40B4-BE49-F238E27FC236}">
                    <a16:creationId xmlns:a16="http://schemas.microsoft.com/office/drawing/2014/main" id="{F872E941-A515-A83B-AF61-E9EE3F944707}"/>
                  </a:ext>
                </a:extLst>
              </p:cNvPr>
              <p:cNvSpPr>
                <a:spLocks noGrp="1" noRot="1" noChangeAspect="1" noMove="1" noResize="1" noEditPoints="1" noAdjustHandles="1" noChangeArrowheads="1" noChangeShapeType="1" noTextEdit="1"/>
              </p:cNvSpPr>
              <p:nvPr>
                <p:ph type="title"/>
              </p:nvPr>
            </p:nvSpPr>
            <p:spPr>
              <a:xfrm>
                <a:off x="685800" y="753533"/>
                <a:ext cx="10820400" cy="1597781"/>
              </a:xfrm>
              <a:blipFill>
                <a:blip r:embed="rId2"/>
                <a:stretch>
                  <a:fillRect l="-1972" t="-38168" b="-15267"/>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F7DF6C23-AE1E-449F-652D-24876F6A4AC3}"/>
                  </a:ext>
                </a:extLst>
              </p:cNvPr>
              <p:cNvSpPr>
                <a:spLocks noGrp="1"/>
              </p:cNvSpPr>
              <p:nvPr>
                <p:ph type="body" idx="1"/>
              </p:nvPr>
            </p:nvSpPr>
            <p:spPr>
              <a:xfrm>
                <a:off x="0" y="2841170"/>
                <a:ext cx="12192000" cy="4016829"/>
              </a:xfrm>
              <a:solidFill>
                <a:schemeClr val="accent1">
                  <a:lumMod val="75000"/>
                </a:schemeClr>
              </a:solidFill>
              <a:scene3d>
                <a:camera prst="orthographicFront"/>
                <a:lightRig rig="threePt" dir="t"/>
              </a:scene3d>
              <a:sp3d>
                <a:bevelT w="139700" h="139700" prst="divot"/>
              </a:sp3d>
            </p:spPr>
            <p:txBody>
              <a:bodyPr/>
              <a:lstStyle/>
              <a:p>
                <a:pPr algn="l">
                  <a:lnSpc>
                    <a:spcPct val="115000"/>
                  </a:lnSpc>
                  <a:spcAft>
                    <a:spcPts val="800"/>
                  </a:spcAft>
                  <a:buNone/>
                </a:pP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Si le</a:t>
                </a:r>
                <a:r>
                  <a:rPr lang="fr-FR" sz="2800" u="sng" kern="0" noProof="0" dirty="0">
                    <a:effectLst/>
                    <a:latin typeface="Times New Roman" panose="02020603050405020304" pitchFamily="18" charset="0"/>
                    <a:ea typeface="Times New Roman" panose="02020603050405020304" pitchFamily="18" charset="0"/>
                    <a:cs typeface="Arial" panose="020B0604020202020204" pitchFamily="34" charset="0"/>
                  </a:rPr>
                  <a:t> champ électrique </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est créé par </a:t>
                </a:r>
                <a:r>
                  <a:rPr lang="fr-FR" sz="2800" b="1" u="sng" kern="0" noProof="0" dirty="0">
                    <a:effectLst/>
                    <a:latin typeface="Times New Roman" panose="02020603050405020304" pitchFamily="18" charset="0"/>
                    <a:ea typeface="Times New Roman" panose="02020603050405020304" pitchFamily="18" charset="0"/>
                    <a:cs typeface="Arial" panose="020B0604020202020204" pitchFamily="34" charset="0"/>
                  </a:rPr>
                  <a:t>plusieurs charges ponctuelles </a:t>
                </a:r>
                <a14:m>
                  <m:oMath xmlns:m="http://schemas.openxmlformats.org/officeDocument/2006/math">
                    <m:sSub>
                      <m:sSubPr>
                        <m:ctrlP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𝒒</m:t>
                        </m:r>
                      </m:e>
                      <m:sub>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𝒊</m:t>
                        </m:r>
                      </m:sub>
                    </m:sSub>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situées en des points</a:t>
                </a:r>
                <a:r>
                  <a:rPr lang="fr-FR" sz="2800" b="1" kern="0" noProof="0" dirty="0">
                    <a:solidFill>
                      <a:srgbClr val="92D050"/>
                    </a:solidFill>
                    <a:effectLst/>
                    <a:latin typeface="Times New Roman" panose="02020603050405020304" pitchFamily="18" charset="0"/>
                    <a:ea typeface="Times New Roman" panose="02020603050405020304" pitchFamily="18" charset="0"/>
                    <a:cs typeface="Arial" panose="020B0604020202020204" pitchFamily="34" charset="0"/>
                  </a:rPr>
                  <a:t> </a:t>
                </a:r>
                <a14:m>
                  <m:oMath xmlns:m="http://schemas.openxmlformats.org/officeDocument/2006/math">
                    <m:sSub>
                      <m:sSubPr>
                        <m:ctrlP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𝑷</m:t>
                        </m:r>
                      </m:e>
                      <m:sub>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𝒊</m:t>
                        </m:r>
                      </m:sub>
                    </m:sSub>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alors le </a:t>
                </a:r>
                <a:r>
                  <a:rPr lang="fr-FR" sz="2800" b="1" kern="0" noProof="0" dirty="0">
                    <a:effectLst/>
                    <a:latin typeface="Times New Roman" panose="02020603050405020304" pitchFamily="18" charset="0"/>
                    <a:ea typeface="Times New Roman" panose="02020603050405020304" pitchFamily="18" charset="0"/>
                    <a:cs typeface="Arial" panose="020B0604020202020204" pitchFamily="34" charset="0"/>
                  </a:rPr>
                  <a:t>potentiel total</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au point </a:t>
                </a:r>
                <a14:m>
                  <m:oMath xmlns:m="http://schemas.openxmlformats.org/officeDocument/2006/math">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𝑴</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est </a:t>
                </a:r>
                <a:r>
                  <a:rPr lang="fr-FR" sz="2800" b="1" u="sng" kern="0" noProof="0" dirty="0">
                    <a:effectLst/>
                    <a:latin typeface="Times New Roman" panose="02020603050405020304" pitchFamily="18" charset="0"/>
                    <a:ea typeface="Times New Roman" panose="02020603050405020304" pitchFamily="18" charset="0"/>
                    <a:cs typeface="Arial" panose="020B0604020202020204" pitchFamily="34" charset="0"/>
                  </a:rPr>
                  <a:t>la somme algébrique</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des potentiels produits par chacune :</a:t>
                </a: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a:buNone/>
                </a:pPr>
                <a:endParaRPr lang="fr-FR" sz="2400" b="1" kern="0" noProof="0" dirty="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buNone/>
                </a:pPr>
                <a:endParaRPr lang="fr-FR" b="1" noProof="0" dirty="0"/>
              </a:p>
            </p:txBody>
          </p:sp>
        </mc:Choice>
        <mc:Fallback xmlns="">
          <p:sp>
            <p:nvSpPr>
              <p:cNvPr id="3" name="Espace réservé du texte 2">
                <a:extLst>
                  <a:ext uri="{FF2B5EF4-FFF2-40B4-BE49-F238E27FC236}">
                    <a16:creationId xmlns:a16="http://schemas.microsoft.com/office/drawing/2014/main" id="{F7DF6C23-AE1E-449F-652D-24876F6A4AC3}"/>
                  </a:ext>
                </a:extLst>
              </p:cNvPr>
              <p:cNvSpPr>
                <a:spLocks noGrp="1" noRot="1" noChangeAspect="1" noMove="1" noResize="1" noEditPoints="1" noAdjustHandles="1" noChangeArrowheads="1" noChangeShapeType="1" noTextEdit="1"/>
              </p:cNvSpPr>
              <p:nvPr>
                <p:ph type="body" idx="1"/>
              </p:nvPr>
            </p:nvSpPr>
            <p:spPr>
              <a:xfrm>
                <a:off x="0" y="2841170"/>
                <a:ext cx="12192000" cy="4016829"/>
              </a:xfrm>
              <a:blipFill>
                <a:blip r:embed="rId3"/>
                <a:stretch>
                  <a:fillRect/>
                </a:stretch>
              </a:blipFill>
            </p:spPr>
            <p:txBody>
              <a:bodyPr/>
              <a:lstStyle/>
              <a:p>
                <a:r>
                  <a:rPr lang="fr-DZ">
                    <a:noFill/>
                  </a:rPr>
                  <a:t> </a:t>
                </a:r>
              </a:p>
            </p:txBody>
          </p:sp>
        </mc:Fallback>
      </mc:AlternateContent>
      <mc:AlternateContent xmlns:mc="http://schemas.openxmlformats.org/markup-compatibility/2006" xmlns:a14="http://schemas.microsoft.com/office/drawing/2010/main">
        <mc:Choice Requires="a14">
          <p:sp>
            <p:nvSpPr>
              <p:cNvPr id="4" name="Rectangle : coins arrondis 3">
                <a:extLst>
                  <a:ext uri="{FF2B5EF4-FFF2-40B4-BE49-F238E27FC236}">
                    <a16:creationId xmlns:a16="http://schemas.microsoft.com/office/drawing/2014/main" id="{D6A1B02F-282C-1A91-130A-3CC668F2D196}"/>
                  </a:ext>
                </a:extLst>
              </p:cNvPr>
              <p:cNvSpPr/>
              <p:nvPr/>
            </p:nvSpPr>
            <p:spPr>
              <a:xfrm>
                <a:off x="4370614" y="4675413"/>
                <a:ext cx="3450772" cy="1747159"/>
              </a:xfrm>
              <a:prstGeom prst="roundRect">
                <a:avLst/>
              </a:prstGeom>
              <a:solidFill>
                <a:schemeClr val="accent1">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𝐕</m:t>
                      </m:r>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m:t>
                      </m:r>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𝐌</m:t>
                      </m:r>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m:t>
                      </m:r>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𝐤</m:t>
                      </m:r>
                      <m:nary>
                        <m:naryPr>
                          <m:chr m:val="∑"/>
                          <m:limLoc m:val="undOvr"/>
                          <m:grow m:val="on"/>
                          <m:ctrlPr>
                            <a:rPr lang="fr-FR" sz="2400" i="1"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𝐢</m:t>
                          </m:r>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m:t>
                          </m:r>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𝟏</m:t>
                          </m:r>
                        </m:sub>
                        <m:sup>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𝐍</m:t>
                          </m:r>
                        </m:sup>
                        <m:e>
                          <m:f>
                            <m:fPr>
                              <m:ctrlPr>
                                <a:rPr lang="fr-FR" sz="2400" i="1"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fr-FR" sz="2400" i="1"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𝐪</m:t>
                                  </m:r>
                                </m:e>
                                <m:sub>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𝐢</m:t>
                                  </m:r>
                                </m:sub>
                              </m:sSub>
                            </m:num>
                            <m:den>
                              <m:sSub>
                                <m:sSubPr>
                                  <m:ctrlPr>
                                    <a:rPr lang="fr-FR" sz="2400" i="1"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𝐫</m:t>
                                  </m:r>
                                </m:e>
                                <m:sub>
                                  <m:r>
                                    <a:rPr lang="fr-FR" sz="2800" ker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Times New Roman" panose="02020603050405020304" pitchFamily="18" charset="0"/>
                                      <a:cs typeface="Times New Roman" panose="02020603050405020304" pitchFamily="18" charset="0"/>
                                    </a:rPr>
                                    <m:t>𝐢</m:t>
                                  </m:r>
                                </m:sub>
                              </m:sSub>
                            </m:den>
                          </m:f>
                        </m:e>
                      </m:nary>
                    </m:oMath>
                  </m:oMathPara>
                </a14:m>
                <a:endParaRPr lang="fr-FR" sz="2800" dirty="0"/>
              </a:p>
            </p:txBody>
          </p:sp>
        </mc:Choice>
        <mc:Fallback xmlns="">
          <p:sp>
            <p:nvSpPr>
              <p:cNvPr id="4" name="Rectangle : coins arrondis 3">
                <a:extLst>
                  <a:ext uri="{FF2B5EF4-FFF2-40B4-BE49-F238E27FC236}">
                    <a16:creationId xmlns:a16="http://schemas.microsoft.com/office/drawing/2014/main" id="{D6A1B02F-282C-1A91-130A-3CC668F2D196}"/>
                  </a:ext>
                </a:extLst>
              </p:cNvPr>
              <p:cNvSpPr>
                <a:spLocks noRot="1" noChangeAspect="1" noMove="1" noResize="1" noEditPoints="1" noAdjustHandles="1" noChangeArrowheads="1" noChangeShapeType="1" noTextEdit="1"/>
              </p:cNvSpPr>
              <p:nvPr/>
            </p:nvSpPr>
            <p:spPr>
              <a:xfrm>
                <a:off x="4370614" y="4675413"/>
                <a:ext cx="3450772" cy="1747159"/>
              </a:xfrm>
              <a:prstGeom prst="roundRect">
                <a:avLst/>
              </a:prstGeom>
              <a:blipFill>
                <a:blip r:embed="rId4"/>
                <a:stretch>
                  <a:fillRect/>
                </a:stretch>
              </a:blipFill>
              <a:ln>
                <a:solidFill>
                  <a:schemeClr val="accent1"/>
                </a:solidFill>
              </a:ln>
            </p:spPr>
            <p:txBody>
              <a:bodyPr/>
              <a:lstStyle/>
              <a:p>
                <a:r>
                  <a:rPr lang="fr-DZ">
                    <a:noFill/>
                  </a:rPr>
                  <a:t> </a:t>
                </a:r>
              </a:p>
            </p:txBody>
          </p:sp>
        </mc:Fallback>
      </mc:AlternateContent>
    </p:spTree>
    <p:extLst>
      <p:ext uri="{BB962C8B-B14F-4D97-AF65-F5344CB8AC3E}">
        <p14:creationId xmlns:p14="http://schemas.microsoft.com/office/powerpoint/2010/main" val="11783176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7E3233D6-33C6-4F4C-F6D3-509C2A07516E}"/>
                  </a:ext>
                </a:extLst>
              </p:cNvPr>
              <p:cNvSpPr>
                <a:spLocks noGrp="1"/>
              </p:cNvSpPr>
              <p:nvPr>
                <p:ph type="body" idx="1"/>
              </p:nvPr>
            </p:nvSpPr>
            <p:spPr>
              <a:xfrm>
                <a:off x="0" y="0"/>
                <a:ext cx="12192000" cy="6857999"/>
              </a:xfrm>
              <a:solidFill>
                <a:srgbClr val="002060"/>
              </a:solidFill>
              <a:scene3d>
                <a:camera prst="orthographicFront"/>
                <a:lightRig rig="threePt" dir="t"/>
              </a:scene3d>
              <a:sp3d>
                <a:bevelT w="114300" prst="artDeco"/>
              </a:sp3d>
            </p:spPr>
            <p:txBody>
              <a:bodyPr>
                <a:normAutofit/>
              </a:bodyPr>
              <a:lstStyle/>
              <a:p>
                <a:pPr algn="l">
                  <a:buNone/>
                </a:pPr>
                <a:r>
                  <a:rPr lang="fr-DZ"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Exemple numérique :</a:t>
                </a:r>
              </a:p>
              <a:p>
                <a:pPr algn="l">
                  <a:buNone/>
                </a:pPr>
                <a:r>
                  <a:rPr lang="en-US" sz="2800" dirty="0" err="1">
                    <a:latin typeface="Times New Roman" panose="02020603050405020304" pitchFamily="18" charset="0"/>
                    <a:cs typeface="Times New Roman" panose="02020603050405020304" pitchFamily="18" charset="0"/>
                  </a:rPr>
                  <a:t>Considérons</a:t>
                </a:r>
                <a:r>
                  <a:rPr lang="en-US" sz="2800" dirty="0">
                    <a:latin typeface="Times New Roman" panose="02020603050405020304" pitchFamily="18" charset="0"/>
                    <a:cs typeface="Times New Roman" panose="02020603050405020304" pitchFamily="18" charset="0"/>
                  </a:rPr>
                  <a:t> trois charges </a:t>
                </a:r>
                <a:r>
                  <a:rPr lang="en-US" sz="2800" dirty="0" err="1">
                    <a:latin typeface="Times New Roman" panose="02020603050405020304" pitchFamily="18" charset="0"/>
                    <a:cs typeface="Times New Roman" panose="02020603050405020304" pitchFamily="18" charset="0"/>
                  </a:rPr>
                  <a:t>ponctuelles</a:t>
                </a:r>
                <a:r>
                  <a:rPr lang="en-US" sz="2800" dirty="0">
                    <a:latin typeface="Times New Roman" panose="02020603050405020304" pitchFamily="18" charset="0"/>
                    <a:cs typeface="Times New Roman" panose="02020603050405020304" pitchFamily="18" charset="0"/>
                  </a:rPr>
                  <a:t> :</a:t>
                </a:r>
              </a:p>
              <a:p>
                <a:pPr algn="l">
                  <a:buFont typeface="Arial" panose="020B0604020202020204" pitchFamily="34" charset="0"/>
                  <a:buChar char="•"/>
                </a:pPr>
                <a14:m>
                  <m:oMath xmlns:m="http://schemas.openxmlformats.org/officeDocument/2006/math">
                    <m:sSub>
                      <m:sSubPr>
                        <m:ctrlPr>
                          <a:rPr lang="ar-DZ" sz="2800" i="1">
                            <a:latin typeface="Cambria Math" panose="02040503050406030204" pitchFamily="18" charset="0"/>
                          </a:rPr>
                        </m:ctrlPr>
                      </m:sSubPr>
                      <m:e>
                        <m:r>
                          <a:rPr lang="ar-DZ" sz="2800" i="1">
                            <a:latin typeface="Cambria Math" panose="02040503050406030204" pitchFamily="18" charset="0"/>
                          </a:rPr>
                          <m:t>𝑞</m:t>
                        </m:r>
                      </m:e>
                      <m:sub>
                        <m:r>
                          <a:rPr lang="ar-DZ" sz="2800" i="0">
                            <a:latin typeface="Cambria Math" panose="02040503050406030204" pitchFamily="18" charset="0"/>
                          </a:rPr>
                          <m:t>1</m:t>
                        </m:r>
                      </m:sub>
                    </m:sSub>
                    <m:r>
                      <a:rPr lang="ar-DZ" sz="2800" i="0">
                        <a:latin typeface="Cambria Math" panose="02040503050406030204" pitchFamily="18" charset="0"/>
                      </a:rPr>
                      <m:t>=+</m:t>
                    </m:r>
                    <m:r>
                      <a:rPr lang="ar-DZ" sz="2800" i="0">
                        <a:latin typeface="Cambria Math" panose="02040503050406030204" pitchFamily="18" charset="0"/>
                      </a:rPr>
                      <m:t>2</m:t>
                    </m:r>
                    <m:r>
                      <m:rPr>
                        <m:nor/>
                      </m:rPr>
                      <a:rPr lang="ar-DZ" sz="2800" b="0" i="1">
                        <a:latin typeface="Times New Roman" panose="02020603050405020304" pitchFamily="18" charset="0"/>
                        <a:cs typeface="Times New Roman" panose="02020603050405020304" pitchFamily="18" charset="0"/>
                      </a:rPr>
                      <m:t> </m:t>
                    </m:r>
                    <m:r>
                      <a:rPr lang="ar-DZ" sz="2800" b="0" i="1">
                        <a:latin typeface="Cambria Math" panose="02040503050406030204" pitchFamily="18" charset="0"/>
                      </a:rPr>
                      <m:t>𝜇</m:t>
                    </m:r>
                    <m:r>
                      <m:rPr>
                        <m:nor/>
                      </m:rPr>
                      <a:rPr lang="en-US" sz="2800" b="0" i="1">
                        <a:latin typeface="Times New Roman" panose="02020603050405020304" pitchFamily="18" charset="0"/>
                        <a:cs typeface="Times New Roman" panose="02020603050405020304" pitchFamily="18" charset="0"/>
                      </a:rPr>
                      <m:t>C</m:t>
                    </m:r>
                  </m:oMath>
                </a14:m>
                <a:r>
                  <a:rPr lang="en-US" sz="2800" dirty="0" err="1">
                    <a:latin typeface="Times New Roman" panose="02020603050405020304" pitchFamily="18" charset="0"/>
                    <a:cs typeface="Times New Roman" panose="02020603050405020304" pitchFamily="18" charset="0"/>
                  </a:rPr>
                  <a:t>située</a:t>
                </a:r>
                <a:r>
                  <a:rPr lang="en-US" sz="2800" dirty="0">
                    <a:latin typeface="Times New Roman" panose="02020603050405020304" pitchFamily="18" charset="0"/>
                    <a:cs typeface="Times New Roman" panose="02020603050405020304" pitchFamily="18" charset="0"/>
                  </a:rPr>
                  <a:t> à </a:t>
                </a:r>
                <a14:m>
                  <m:oMath xmlns:m="http://schemas.openxmlformats.org/officeDocument/2006/math">
                    <m:sSub>
                      <m:sSubPr>
                        <m:ctrlPr>
                          <a:rPr lang="ar-DZ" sz="2800" i="1">
                            <a:latin typeface="Cambria Math" panose="02040503050406030204" pitchFamily="18" charset="0"/>
                          </a:rPr>
                        </m:ctrlPr>
                      </m:sSubPr>
                      <m:e>
                        <m:r>
                          <a:rPr lang="ar-DZ" sz="2800" i="1">
                            <a:latin typeface="Cambria Math" panose="02040503050406030204" pitchFamily="18" charset="0"/>
                          </a:rPr>
                          <m:t>𝑟</m:t>
                        </m:r>
                      </m:e>
                      <m:sub>
                        <m:r>
                          <a:rPr lang="ar-DZ" sz="2800" i="0">
                            <a:latin typeface="Cambria Math" panose="02040503050406030204" pitchFamily="18" charset="0"/>
                          </a:rPr>
                          <m:t>1</m:t>
                        </m:r>
                      </m:sub>
                    </m:sSub>
                    <m:r>
                      <a:rPr lang="ar-DZ" sz="2800" i="0">
                        <a:latin typeface="Cambria Math" panose="02040503050406030204" pitchFamily="18" charset="0"/>
                      </a:rPr>
                      <m:t>=</m:t>
                    </m:r>
                    <m:r>
                      <a:rPr lang="ar-DZ" sz="2800" i="0">
                        <a:latin typeface="Cambria Math" panose="02040503050406030204" pitchFamily="18" charset="0"/>
                      </a:rPr>
                      <m:t>20</m:t>
                    </m:r>
                    <m:r>
                      <m:rPr>
                        <m:nor/>
                      </m:rPr>
                      <a:rPr lang="ar-DZ" sz="2800" b="0" i="1">
                        <a:latin typeface="Times New Roman" panose="02020603050405020304" pitchFamily="18" charset="0"/>
                        <a:cs typeface="Times New Roman" panose="02020603050405020304" pitchFamily="18" charset="0"/>
                      </a:rPr>
                      <m:t> </m:t>
                    </m:r>
                    <m:r>
                      <m:rPr>
                        <m:nor/>
                      </m:rPr>
                      <a:rPr lang="en-US" sz="2800" b="0" i="1">
                        <a:latin typeface="Times New Roman" panose="02020603050405020304" pitchFamily="18" charset="0"/>
                        <a:cs typeface="Times New Roman" panose="02020603050405020304" pitchFamily="18" charset="0"/>
                      </a:rPr>
                      <m:t>cm</m:t>
                    </m:r>
                    <m:r>
                      <m:rPr>
                        <m:nor/>
                      </m:rPr>
                      <a:rPr lang="fr-FR" sz="2800" b="0" i="1" smtClean="0">
                        <a:latin typeface="Times New Roman" panose="02020603050405020304" pitchFamily="18" charset="0"/>
                        <a:cs typeface="Times New Roman" panose="02020603050405020304" pitchFamily="18" charset="0"/>
                      </a:rPr>
                      <m:t>=</m:t>
                    </m:r>
                    <m:r>
                      <m:rPr>
                        <m:nor/>
                      </m:rPr>
                      <a:rPr lang="fr-FR" sz="2800" b="0" i="1" smtClean="0">
                        <a:latin typeface="Times New Roman" panose="02020603050405020304" pitchFamily="18" charset="0"/>
                        <a:cs typeface="Times New Roman" panose="02020603050405020304" pitchFamily="18" charset="0"/>
                      </a:rPr>
                      <m:t>0,2</m:t>
                    </m:r>
                    <m:r>
                      <m:rPr>
                        <m:nor/>
                      </m:rPr>
                      <a:rPr lang="fr-FR" sz="2800" b="0" i="1" smtClean="0">
                        <a:latin typeface="Times New Roman" panose="02020603050405020304" pitchFamily="18" charset="0"/>
                        <a:cs typeface="Times New Roman" panose="02020603050405020304" pitchFamily="18" charset="0"/>
                      </a:rPr>
                      <m:t>m</m:t>
                    </m:r>
                    <m:r>
                      <m:rPr>
                        <m:nor/>
                      </m:rPr>
                      <a:rPr lang="fr-FR" sz="2800" b="0" i="1" smtClean="0">
                        <a:latin typeface="Times New Roman" panose="02020603050405020304" pitchFamily="18" charset="0"/>
                        <a:cs typeface="Times New Roman" panose="02020603050405020304" pitchFamily="18" charset="0"/>
                      </a:rPr>
                      <m:t> </m:t>
                    </m:r>
                  </m:oMath>
                </a14:m>
                <a:r>
                  <a:rPr lang="en-US" sz="2800" dirty="0">
                    <a:latin typeface="Times New Roman" panose="02020603050405020304" pitchFamily="18" charset="0"/>
                    <a:cs typeface="Times New Roman" panose="02020603050405020304" pitchFamily="18" charset="0"/>
                  </a:rPr>
                  <a:t>de </a:t>
                </a:r>
                <a14:m>
                  <m:oMath xmlns:m="http://schemas.openxmlformats.org/officeDocument/2006/math">
                    <m:r>
                      <a:rPr lang="en-US" sz="2800" i="1">
                        <a:latin typeface="Cambria Math" panose="02040503050406030204" pitchFamily="18" charset="0"/>
                      </a:rPr>
                      <m:t>𝑀</m:t>
                    </m:r>
                  </m:oMath>
                </a14:m>
                <a:endParaRPr lang="en-US" sz="28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14:m>
                  <m:oMath xmlns:m="http://schemas.openxmlformats.org/officeDocument/2006/math">
                    <m:sSub>
                      <m:sSubPr>
                        <m:ctrlPr>
                          <a:rPr lang="ar-DZ" sz="2800" i="1">
                            <a:latin typeface="Cambria Math" panose="02040503050406030204" pitchFamily="18" charset="0"/>
                          </a:rPr>
                        </m:ctrlPr>
                      </m:sSubPr>
                      <m:e>
                        <m:r>
                          <a:rPr lang="ar-DZ" sz="2800" i="1">
                            <a:latin typeface="Cambria Math" panose="02040503050406030204" pitchFamily="18" charset="0"/>
                          </a:rPr>
                          <m:t>𝑞</m:t>
                        </m:r>
                      </m:e>
                      <m:sub>
                        <m:r>
                          <a:rPr lang="ar-DZ" sz="2800" i="0">
                            <a:latin typeface="Cambria Math" panose="02040503050406030204" pitchFamily="18" charset="0"/>
                          </a:rPr>
                          <m:t>2</m:t>
                        </m:r>
                      </m:sub>
                    </m:sSub>
                    <m:r>
                      <a:rPr lang="ar-DZ" sz="2800" i="0">
                        <a:latin typeface="Cambria Math" panose="02040503050406030204" pitchFamily="18" charset="0"/>
                      </a:rPr>
                      <m:t>=−</m:t>
                    </m:r>
                    <m:r>
                      <a:rPr lang="ar-DZ" sz="2800" i="0">
                        <a:latin typeface="Cambria Math" panose="02040503050406030204" pitchFamily="18" charset="0"/>
                      </a:rPr>
                      <m:t>3</m:t>
                    </m:r>
                    <m:r>
                      <m:rPr>
                        <m:nor/>
                      </m:rPr>
                      <a:rPr lang="ar-DZ" sz="2800" b="0" i="1">
                        <a:latin typeface="Times New Roman" panose="02020603050405020304" pitchFamily="18" charset="0"/>
                        <a:cs typeface="Times New Roman" panose="02020603050405020304" pitchFamily="18" charset="0"/>
                      </a:rPr>
                      <m:t> </m:t>
                    </m:r>
                    <m:r>
                      <a:rPr lang="ar-DZ" sz="2800" b="0" i="1">
                        <a:latin typeface="Cambria Math" panose="02040503050406030204" pitchFamily="18" charset="0"/>
                      </a:rPr>
                      <m:t>𝜇</m:t>
                    </m:r>
                    <m:r>
                      <m:rPr>
                        <m:nor/>
                      </m:rPr>
                      <a:rPr lang="en-US" sz="2800" b="0" i="1">
                        <a:latin typeface="Times New Roman" panose="02020603050405020304" pitchFamily="18" charset="0"/>
                        <a:cs typeface="Times New Roman" panose="02020603050405020304" pitchFamily="18" charset="0"/>
                      </a:rPr>
                      <m:t>C</m:t>
                    </m:r>
                  </m:oMath>
                </a14:m>
                <a:r>
                  <a:rPr lang="en-US" sz="2800" dirty="0" err="1">
                    <a:latin typeface="Times New Roman" panose="02020603050405020304" pitchFamily="18" charset="0"/>
                    <a:cs typeface="Times New Roman" panose="02020603050405020304" pitchFamily="18" charset="0"/>
                  </a:rPr>
                  <a:t>située</a:t>
                </a:r>
                <a:r>
                  <a:rPr lang="en-US" sz="2800" dirty="0">
                    <a:latin typeface="Times New Roman" panose="02020603050405020304" pitchFamily="18" charset="0"/>
                    <a:cs typeface="Times New Roman" panose="02020603050405020304" pitchFamily="18" charset="0"/>
                  </a:rPr>
                  <a:t> à </a:t>
                </a:r>
                <a14:m>
                  <m:oMath xmlns:m="http://schemas.openxmlformats.org/officeDocument/2006/math">
                    <m:sSub>
                      <m:sSubPr>
                        <m:ctrlPr>
                          <a:rPr lang="ar-DZ" sz="2800" i="1">
                            <a:latin typeface="Cambria Math" panose="02040503050406030204" pitchFamily="18" charset="0"/>
                          </a:rPr>
                        </m:ctrlPr>
                      </m:sSubPr>
                      <m:e>
                        <m:r>
                          <a:rPr lang="ar-DZ" sz="2800" i="1">
                            <a:latin typeface="Cambria Math" panose="02040503050406030204" pitchFamily="18" charset="0"/>
                          </a:rPr>
                          <m:t>𝑟</m:t>
                        </m:r>
                      </m:e>
                      <m:sub>
                        <m:r>
                          <a:rPr lang="ar-DZ" sz="2800" i="0">
                            <a:latin typeface="Cambria Math" panose="02040503050406030204" pitchFamily="18" charset="0"/>
                          </a:rPr>
                          <m:t>2</m:t>
                        </m:r>
                      </m:sub>
                    </m:sSub>
                    <m:r>
                      <a:rPr lang="ar-DZ" sz="2800" i="0">
                        <a:latin typeface="Cambria Math" panose="02040503050406030204" pitchFamily="18" charset="0"/>
                      </a:rPr>
                      <m:t>=</m:t>
                    </m:r>
                    <m:r>
                      <a:rPr lang="ar-DZ" sz="2800" i="0">
                        <a:latin typeface="Cambria Math" panose="02040503050406030204" pitchFamily="18" charset="0"/>
                      </a:rPr>
                      <m:t>50</m:t>
                    </m:r>
                    <m:r>
                      <m:rPr>
                        <m:nor/>
                      </m:rPr>
                      <a:rPr lang="ar-DZ" sz="2800" b="0" i="1">
                        <a:latin typeface="Times New Roman" panose="02020603050405020304" pitchFamily="18" charset="0"/>
                        <a:cs typeface="Times New Roman" panose="02020603050405020304" pitchFamily="18" charset="0"/>
                      </a:rPr>
                      <m:t> </m:t>
                    </m:r>
                    <m:r>
                      <m:rPr>
                        <m:nor/>
                      </m:rPr>
                      <a:rPr lang="en-US" sz="2800" b="0" i="1">
                        <a:latin typeface="Times New Roman" panose="02020603050405020304" pitchFamily="18" charset="0"/>
                        <a:cs typeface="Times New Roman" panose="02020603050405020304" pitchFamily="18" charset="0"/>
                      </a:rPr>
                      <m:t>cm</m:t>
                    </m:r>
                  </m:oMath>
                </a14:m>
                <a:r>
                  <a:rPr lang="en-US" sz="2800" dirty="0">
                    <a:latin typeface="Times New Roman" panose="02020603050405020304" pitchFamily="18" charset="0"/>
                    <a:cs typeface="Times New Roman" panose="02020603050405020304" pitchFamily="18" charset="0"/>
                  </a:rPr>
                  <a:t> =0,5m de </a:t>
                </a:r>
                <a14:m>
                  <m:oMath xmlns:m="http://schemas.openxmlformats.org/officeDocument/2006/math">
                    <m:r>
                      <a:rPr lang="en-US" sz="2800" i="1">
                        <a:latin typeface="Cambria Math" panose="02040503050406030204" pitchFamily="18" charset="0"/>
                      </a:rPr>
                      <m:t>𝑀</m:t>
                    </m:r>
                  </m:oMath>
                </a14:m>
                <a:endParaRPr lang="en-US" sz="28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14:m>
                  <m:oMath xmlns:m="http://schemas.openxmlformats.org/officeDocument/2006/math">
                    <m:sSub>
                      <m:sSubPr>
                        <m:ctrlPr>
                          <a:rPr lang="ar-DZ" sz="2800" i="1">
                            <a:latin typeface="Cambria Math" panose="02040503050406030204" pitchFamily="18" charset="0"/>
                          </a:rPr>
                        </m:ctrlPr>
                      </m:sSubPr>
                      <m:e>
                        <m:r>
                          <a:rPr lang="ar-DZ" sz="2800" i="1">
                            <a:latin typeface="Cambria Math" panose="02040503050406030204" pitchFamily="18" charset="0"/>
                          </a:rPr>
                          <m:t>𝑞</m:t>
                        </m:r>
                      </m:e>
                      <m:sub>
                        <m:r>
                          <a:rPr lang="ar-DZ" sz="2800" i="0">
                            <a:latin typeface="Cambria Math" panose="02040503050406030204" pitchFamily="18" charset="0"/>
                          </a:rPr>
                          <m:t>3</m:t>
                        </m:r>
                      </m:sub>
                    </m:sSub>
                    <m:r>
                      <a:rPr lang="ar-DZ" sz="2800" i="0">
                        <a:latin typeface="Cambria Math" panose="02040503050406030204" pitchFamily="18" charset="0"/>
                      </a:rPr>
                      <m:t>=+</m:t>
                    </m:r>
                    <m:r>
                      <a:rPr lang="ar-DZ" sz="2800" i="0">
                        <a:latin typeface="Cambria Math" panose="02040503050406030204" pitchFamily="18" charset="0"/>
                      </a:rPr>
                      <m:t>1</m:t>
                    </m:r>
                    <m:r>
                      <m:rPr>
                        <m:nor/>
                      </m:rPr>
                      <a:rPr lang="ar-DZ" sz="2800" b="0" i="1">
                        <a:latin typeface="Times New Roman" panose="02020603050405020304" pitchFamily="18" charset="0"/>
                        <a:cs typeface="Times New Roman" panose="02020603050405020304" pitchFamily="18" charset="0"/>
                      </a:rPr>
                      <m:t> </m:t>
                    </m:r>
                    <m:r>
                      <a:rPr lang="ar-DZ" sz="2800" b="0" i="1">
                        <a:latin typeface="Cambria Math" panose="02040503050406030204" pitchFamily="18" charset="0"/>
                      </a:rPr>
                      <m:t>𝜇</m:t>
                    </m:r>
                    <m:r>
                      <m:rPr>
                        <m:nor/>
                      </m:rPr>
                      <a:rPr lang="en-US" sz="2800" b="0" i="1">
                        <a:latin typeface="Times New Roman" panose="02020603050405020304" pitchFamily="18" charset="0"/>
                        <a:cs typeface="Times New Roman" panose="02020603050405020304" pitchFamily="18" charset="0"/>
                      </a:rPr>
                      <m:t>C</m:t>
                    </m:r>
                  </m:oMath>
                </a14:m>
                <a:r>
                  <a:rPr lang="en-US" sz="2800" dirty="0" err="1">
                    <a:latin typeface="Times New Roman" panose="02020603050405020304" pitchFamily="18" charset="0"/>
                    <a:cs typeface="Times New Roman" panose="02020603050405020304" pitchFamily="18" charset="0"/>
                  </a:rPr>
                  <a:t>située</a:t>
                </a:r>
                <a:r>
                  <a:rPr lang="en-US" sz="2800" dirty="0">
                    <a:latin typeface="Times New Roman" panose="02020603050405020304" pitchFamily="18" charset="0"/>
                    <a:cs typeface="Times New Roman" panose="02020603050405020304" pitchFamily="18" charset="0"/>
                  </a:rPr>
                  <a:t> à </a:t>
                </a:r>
                <a14:m>
                  <m:oMath xmlns:m="http://schemas.openxmlformats.org/officeDocument/2006/math">
                    <m:sSub>
                      <m:sSubPr>
                        <m:ctrlPr>
                          <a:rPr lang="ar-DZ" sz="2800" i="1">
                            <a:latin typeface="Cambria Math" panose="02040503050406030204" pitchFamily="18" charset="0"/>
                          </a:rPr>
                        </m:ctrlPr>
                      </m:sSubPr>
                      <m:e>
                        <m:r>
                          <a:rPr lang="ar-DZ" sz="2800" i="1">
                            <a:latin typeface="Cambria Math" panose="02040503050406030204" pitchFamily="18" charset="0"/>
                          </a:rPr>
                          <m:t>𝑟</m:t>
                        </m:r>
                      </m:e>
                      <m:sub>
                        <m:r>
                          <a:rPr lang="ar-DZ" sz="2800" i="0">
                            <a:latin typeface="Cambria Math" panose="02040503050406030204" pitchFamily="18" charset="0"/>
                          </a:rPr>
                          <m:t>3</m:t>
                        </m:r>
                      </m:sub>
                    </m:sSub>
                    <m:r>
                      <a:rPr lang="ar-DZ" sz="2800" i="0">
                        <a:latin typeface="Cambria Math" panose="02040503050406030204" pitchFamily="18" charset="0"/>
                      </a:rPr>
                      <m:t>=</m:t>
                    </m:r>
                    <m:r>
                      <a:rPr lang="ar-DZ" sz="2800" i="0">
                        <a:latin typeface="Cambria Math" panose="02040503050406030204" pitchFamily="18" charset="0"/>
                      </a:rPr>
                      <m:t>10</m:t>
                    </m:r>
                    <m:r>
                      <m:rPr>
                        <m:nor/>
                      </m:rPr>
                      <a:rPr lang="ar-DZ" sz="2800" b="0" i="1">
                        <a:latin typeface="Times New Roman" panose="02020603050405020304" pitchFamily="18" charset="0"/>
                        <a:cs typeface="Times New Roman" panose="02020603050405020304" pitchFamily="18" charset="0"/>
                      </a:rPr>
                      <m:t> </m:t>
                    </m:r>
                    <m:r>
                      <m:rPr>
                        <m:nor/>
                      </m:rPr>
                      <a:rPr lang="en-US" sz="2800" b="0" i="1">
                        <a:latin typeface="Times New Roman" panose="02020603050405020304" pitchFamily="18" charset="0"/>
                        <a:cs typeface="Times New Roman" panose="02020603050405020304" pitchFamily="18" charset="0"/>
                      </a:rPr>
                      <m:t>cm</m:t>
                    </m:r>
                    <m:r>
                      <m:rPr>
                        <m:nor/>
                      </m:rPr>
                      <a:rPr lang="fr-FR" sz="2800" b="0" i="1" smtClean="0">
                        <a:latin typeface="Times New Roman" panose="02020603050405020304" pitchFamily="18" charset="0"/>
                        <a:cs typeface="Times New Roman" panose="02020603050405020304" pitchFamily="18" charset="0"/>
                      </a:rPr>
                      <m:t>=</m:t>
                    </m:r>
                    <m:r>
                      <m:rPr>
                        <m:nor/>
                      </m:rPr>
                      <a:rPr lang="fr-FR" sz="2800" b="0" i="1" smtClean="0">
                        <a:latin typeface="Times New Roman" panose="02020603050405020304" pitchFamily="18" charset="0"/>
                        <a:cs typeface="Times New Roman" panose="02020603050405020304" pitchFamily="18" charset="0"/>
                      </a:rPr>
                      <m:t>0,1</m:t>
                    </m:r>
                    <m:r>
                      <m:rPr>
                        <m:nor/>
                      </m:rPr>
                      <a:rPr lang="fr-FR" sz="2800" b="0" i="1" smtClean="0">
                        <a:latin typeface="Times New Roman" panose="02020603050405020304" pitchFamily="18" charset="0"/>
                        <a:cs typeface="Times New Roman" panose="02020603050405020304" pitchFamily="18" charset="0"/>
                      </a:rPr>
                      <m:t>m</m:t>
                    </m:r>
                    <m:r>
                      <m:rPr>
                        <m:nor/>
                      </m:rPr>
                      <a:rPr lang="fr-FR" sz="2800" b="0" i="1" smtClean="0">
                        <a:latin typeface="Times New Roman" panose="02020603050405020304" pitchFamily="18" charset="0"/>
                        <a:cs typeface="Times New Roman" panose="02020603050405020304" pitchFamily="18" charset="0"/>
                      </a:rPr>
                      <m:t>  </m:t>
                    </m:r>
                  </m:oMath>
                </a14:m>
                <a:r>
                  <a:rPr lang="en-US" sz="2800" dirty="0">
                    <a:latin typeface="Times New Roman" panose="02020603050405020304" pitchFamily="18" charset="0"/>
                    <a:cs typeface="Times New Roman" panose="02020603050405020304" pitchFamily="18" charset="0"/>
                  </a:rPr>
                  <a:t>de </a:t>
                </a:r>
                <a14:m>
                  <m:oMath xmlns:m="http://schemas.openxmlformats.org/officeDocument/2006/math">
                    <m:r>
                      <a:rPr lang="en-US" sz="2800" i="1">
                        <a:latin typeface="Cambria Math" panose="02040503050406030204" pitchFamily="18" charset="0"/>
                      </a:rPr>
                      <m:t>𝑀</m:t>
                    </m:r>
                  </m:oMath>
                </a14:m>
                <a:endParaRPr lang="en-US" sz="2800" dirty="0">
                  <a:latin typeface="Times New Roman" panose="02020603050405020304" pitchFamily="18" charset="0"/>
                  <a:cs typeface="Times New Roman" panose="02020603050405020304" pitchFamily="18" charset="0"/>
                </a:endParaRPr>
              </a:p>
              <a:p>
                <a:pPr algn="l">
                  <a:buNone/>
                </a:pPr>
                <a:r>
                  <a:rPr lang="en-US" sz="2800" dirty="0">
                    <a:latin typeface="Times New Roman" panose="02020603050405020304" pitchFamily="18" charset="0"/>
                    <a:cs typeface="Times New Roman" panose="02020603050405020304" pitchFamily="18" charset="0"/>
                  </a:rPr>
                  <a:t>La </a:t>
                </a:r>
                <a:r>
                  <a:rPr lang="en-US" sz="2800" dirty="0" err="1">
                    <a:latin typeface="Times New Roman" panose="02020603050405020304" pitchFamily="18" charset="0"/>
                    <a:cs typeface="Times New Roman" panose="02020603050405020304" pitchFamily="18" charset="0"/>
                  </a:rPr>
                  <a:t>constante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électrostatique</a:t>
                </a:r>
                <a:r>
                  <a:rPr lang="en-US" sz="2800" dirty="0">
                    <a:latin typeface="Times New Roman" panose="02020603050405020304" pitchFamily="18" charset="0"/>
                    <a:cs typeface="Times New Roman" panose="02020603050405020304" pitchFamily="18" charset="0"/>
                  </a:rPr>
                  <a:t> :</a:t>
                </a:r>
              </a:p>
              <a:p>
                <a:pPr algn="l"/>
                <a14:m>
                  <m:oMathPara xmlns:m="http://schemas.openxmlformats.org/officeDocument/2006/math">
                    <m:oMathParaPr>
                      <m:jc m:val="centerGroup"/>
                    </m:oMathParaPr>
                    <m:oMath xmlns:m="http://schemas.openxmlformats.org/officeDocument/2006/math">
                      <m:r>
                        <a:rPr lang="en-US" sz="2800" b="1" i="1" smtClean="0">
                          <a:solidFill>
                            <a:srgbClr val="FFFF00"/>
                          </a:solidFill>
                          <a:latin typeface="Cambria Math" panose="02040503050406030204" pitchFamily="18" charset="0"/>
                        </a:rPr>
                        <m:t>𝒌</m:t>
                      </m:r>
                      <m:r>
                        <a:rPr lang="en-US" sz="2800" b="1" i="0">
                          <a:solidFill>
                            <a:srgbClr val="FFFF00"/>
                          </a:solidFill>
                          <a:latin typeface="Cambria Math" panose="02040503050406030204" pitchFamily="18" charset="0"/>
                        </a:rPr>
                        <m:t>=</m:t>
                      </m:r>
                      <m:f>
                        <m:fPr>
                          <m:ctrlPr>
                            <a:rPr lang="ar-DZ" sz="2800" b="1" i="1">
                              <a:solidFill>
                                <a:srgbClr val="FFFF00"/>
                              </a:solidFill>
                              <a:latin typeface="Cambria Math" panose="02040503050406030204" pitchFamily="18" charset="0"/>
                            </a:rPr>
                          </m:ctrlPr>
                        </m:fPr>
                        <m:num>
                          <m:r>
                            <a:rPr lang="ar-DZ" sz="2800" b="1" i="0">
                              <a:solidFill>
                                <a:srgbClr val="FFFF00"/>
                              </a:solidFill>
                              <a:latin typeface="Cambria Math" panose="02040503050406030204" pitchFamily="18" charset="0"/>
                            </a:rPr>
                            <m:t>𝟏</m:t>
                          </m:r>
                        </m:num>
                        <m:den>
                          <m:r>
                            <a:rPr lang="ar-DZ" sz="2800" b="1" i="0">
                              <a:solidFill>
                                <a:srgbClr val="FFFF00"/>
                              </a:solidFill>
                              <a:latin typeface="Cambria Math" panose="02040503050406030204" pitchFamily="18" charset="0"/>
                            </a:rPr>
                            <m:t>𝟒</m:t>
                          </m:r>
                          <m:r>
                            <a:rPr lang="ar-DZ" sz="2800" b="1" i="1">
                              <a:solidFill>
                                <a:srgbClr val="FFFF00"/>
                              </a:solidFill>
                              <a:latin typeface="Cambria Math" panose="02040503050406030204" pitchFamily="18" charset="0"/>
                            </a:rPr>
                            <m:t>𝝅</m:t>
                          </m:r>
                          <m:sSub>
                            <m:sSubPr>
                              <m:ctrlPr>
                                <a:rPr lang="ar-DZ" sz="2800" b="1" i="1">
                                  <a:solidFill>
                                    <a:srgbClr val="FFFF00"/>
                                  </a:solidFill>
                                  <a:latin typeface="Cambria Math" panose="02040503050406030204" pitchFamily="18" charset="0"/>
                                </a:rPr>
                              </m:ctrlPr>
                            </m:sSubPr>
                            <m:e>
                              <m:r>
                                <a:rPr lang="ar-DZ" sz="2800" b="1" i="1">
                                  <a:solidFill>
                                    <a:srgbClr val="FFFF00"/>
                                  </a:solidFill>
                                  <a:latin typeface="Cambria Math" panose="02040503050406030204" pitchFamily="18" charset="0"/>
                                </a:rPr>
                                <m:t>𝜺</m:t>
                              </m:r>
                            </m:e>
                            <m:sub>
                              <m:r>
                                <a:rPr lang="ar-DZ" sz="2800" b="1" i="0">
                                  <a:solidFill>
                                    <a:srgbClr val="FFFF00"/>
                                  </a:solidFill>
                                  <a:latin typeface="Cambria Math" panose="02040503050406030204" pitchFamily="18" charset="0"/>
                                </a:rPr>
                                <m:t>𝟎</m:t>
                              </m:r>
                            </m:sub>
                          </m:sSub>
                        </m:den>
                      </m:f>
                      <m:r>
                        <a:rPr lang="ar-DZ" sz="2800" b="1" i="0">
                          <a:solidFill>
                            <a:srgbClr val="FFFF00"/>
                          </a:solidFill>
                          <a:latin typeface="Cambria Math" panose="02040503050406030204" pitchFamily="18" charset="0"/>
                        </a:rPr>
                        <m:t>=</m:t>
                      </m:r>
                      <m:r>
                        <a:rPr lang="ar-DZ" sz="2800" b="1" i="0">
                          <a:solidFill>
                            <a:srgbClr val="FFFF00"/>
                          </a:solidFill>
                          <a:latin typeface="Cambria Math" panose="02040503050406030204" pitchFamily="18" charset="0"/>
                        </a:rPr>
                        <m:t>𝟗</m:t>
                      </m:r>
                      <m:r>
                        <a:rPr lang="ar-DZ" sz="2800" b="1" i="0">
                          <a:solidFill>
                            <a:srgbClr val="FFFF00"/>
                          </a:solidFill>
                          <a:latin typeface="Cambria Math" panose="02040503050406030204" pitchFamily="18" charset="0"/>
                        </a:rPr>
                        <m:t>×</m:t>
                      </m:r>
                      <m:sSup>
                        <m:sSupPr>
                          <m:ctrlPr>
                            <a:rPr lang="ar-DZ" sz="2800" b="1" i="1">
                              <a:solidFill>
                                <a:srgbClr val="FFFF00"/>
                              </a:solidFill>
                              <a:latin typeface="Cambria Math" panose="02040503050406030204" pitchFamily="18" charset="0"/>
                            </a:rPr>
                          </m:ctrlPr>
                        </m:sSupPr>
                        <m:e>
                          <m:r>
                            <a:rPr lang="ar-DZ" sz="2800" b="1" i="0">
                              <a:solidFill>
                                <a:srgbClr val="FFFF00"/>
                              </a:solidFill>
                              <a:latin typeface="Cambria Math" panose="02040503050406030204" pitchFamily="18" charset="0"/>
                            </a:rPr>
                            <m:t>𝟏𝟎</m:t>
                          </m:r>
                        </m:e>
                        <m:sup>
                          <m:r>
                            <a:rPr lang="ar-DZ" sz="2800" b="1" i="0">
                              <a:solidFill>
                                <a:srgbClr val="FFFF00"/>
                              </a:solidFill>
                              <a:latin typeface="Cambria Math" panose="02040503050406030204" pitchFamily="18" charset="0"/>
                            </a:rPr>
                            <m:t>𝟗</m:t>
                          </m:r>
                        </m:sup>
                      </m:sSup>
                      <m:r>
                        <m:rPr>
                          <m:nor/>
                        </m:rPr>
                        <a:rPr lang="fr-FR" sz="3200" b="1" kern="100" dirty="0">
                          <a:solidFill>
                            <a:srgbClr val="92D050"/>
                          </a:solidFill>
                          <a:latin typeface="Times New Roman" panose="02020603050405020304" pitchFamily="18" charset="0"/>
                          <a:ea typeface="Aptos" panose="020B0004020202020204" pitchFamily="34" charset="0"/>
                          <a:cs typeface="Arial" panose="020B0604020202020204" pitchFamily="34" charset="0"/>
                        </a:rPr>
                        <m:t>N</m:t>
                      </m:r>
                      <m:r>
                        <m:rPr>
                          <m:nor/>
                        </m:rPr>
                        <a:rPr lang="fr-FR" sz="3200" b="1" kern="100" dirty="0">
                          <a:solidFill>
                            <a:srgbClr val="92D050"/>
                          </a:solidFill>
                          <a:latin typeface="Times New Roman" panose="02020603050405020304" pitchFamily="18" charset="0"/>
                          <a:ea typeface="Aptos" panose="020B0004020202020204" pitchFamily="34" charset="0"/>
                          <a:cs typeface="Arial" panose="020B0604020202020204" pitchFamily="34" charset="0"/>
                        </a:rPr>
                        <m:t>·</m:t>
                      </m:r>
                      <m:r>
                        <m:rPr>
                          <m:nor/>
                        </m:rPr>
                        <a:rPr lang="fr-FR" sz="3200" b="1" kern="100" dirty="0">
                          <a:solidFill>
                            <a:srgbClr val="92D050"/>
                          </a:solidFill>
                          <a:latin typeface="Times New Roman" panose="02020603050405020304" pitchFamily="18" charset="0"/>
                          <a:ea typeface="Aptos" panose="020B0004020202020204" pitchFamily="34" charset="0"/>
                          <a:cs typeface="Arial" panose="020B0604020202020204" pitchFamily="34" charset="0"/>
                        </a:rPr>
                        <m:t>m</m:t>
                      </m:r>
                      <m:r>
                        <m:rPr>
                          <m:nor/>
                        </m:rPr>
                        <a:rPr lang="fr-FR" sz="3200" b="1" kern="100" dirty="0">
                          <a:solidFill>
                            <a:srgbClr val="92D050"/>
                          </a:solidFill>
                          <a:latin typeface="Times New Roman" panose="02020603050405020304" pitchFamily="18" charset="0"/>
                          <a:ea typeface="Aptos" panose="020B0004020202020204" pitchFamily="34" charset="0"/>
                          <a:cs typeface="Arial" panose="020B0604020202020204" pitchFamily="34" charset="0"/>
                        </a:rPr>
                        <m:t>²</m:t>
                      </m:r>
                      <m:r>
                        <m:rPr>
                          <m:nor/>
                        </m:rPr>
                        <a:rPr lang="fr-FR" sz="3200" b="1" kern="100" dirty="0">
                          <a:solidFill>
                            <a:srgbClr val="92D050"/>
                          </a:solidFill>
                          <a:latin typeface="Times New Roman" panose="02020603050405020304" pitchFamily="18" charset="0"/>
                          <a:ea typeface="Aptos" panose="020B0004020202020204" pitchFamily="34" charset="0"/>
                          <a:cs typeface="Arial" panose="020B0604020202020204" pitchFamily="34" charset="0"/>
                        </a:rPr>
                        <m:t>·</m:t>
                      </m:r>
                      <m:r>
                        <m:rPr>
                          <m:nor/>
                        </m:rPr>
                        <a:rPr lang="fr-FR" sz="3200" b="1" kern="100" dirty="0">
                          <a:solidFill>
                            <a:srgbClr val="92D050"/>
                          </a:solidFill>
                          <a:latin typeface="Times New Roman" panose="02020603050405020304" pitchFamily="18" charset="0"/>
                          <a:ea typeface="Aptos" panose="020B0004020202020204" pitchFamily="34" charset="0"/>
                          <a:cs typeface="Arial" panose="020B0604020202020204" pitchFamily="34" charset="0"/>
                        </a:rPr>
                        <m:t>C</m:t>
                      </m:r>
                      <m:r>
                        <m:rPr>
                          <m:nor/>
                        </m:rPr>
                        <a:rPr lang="fr-FR" sz="3200" b="1" kern="100" dirty="0">
                          <a:solidFill>
                            <a:srgbClr val="92D050"/>
                          </a:solidFill>
                          <a:latin typeface="Times New Roman" panose="02020603050405020304" pitchFamily="18" charset="0"/>
                          <a:ea typeface="Aptos" panose="020B0004020202020204" pitchFamily="34" charset="0"/>
                          <a:cs typeface="Arial" panose="020B0604020202020204" pitchFamily="34" charset="0"/>
                        </a:rPr>
                        <m:t>⁻</m:t>
                      </m:r>
                      <m:r>
                        <m:rPr>
                          <m:nor/>
                        </m:rPr>
                        <a:rPr lang="fr-FR" sz="3200" b="1" kern="100" dirty="0">
                          <a:solidFill>
                            <a:srgbClr val="92D050"/>
                          </a:solidFill>
                          <a:latin typeface="Times New Roman" panose="02020603050405020304" pitchFamily="18" charset="0"/>
                          <a:ea typeface="Aptos" panose="020B0004020202020204" pitchFamily="34" charset="0"/>
                          <a:cs typeface="Arial" panose="020B0604020202020204" pitchFamily="34" charset="0"/>
                        </a:rPr>
                        <m:t>²</m:t>
                      </m:r>
                    </m:oMath>
                  </m:oMathPara>
                </a14:m>
                <a:endParaRPr lang="ar-DZ" sz="2800" b="0" dirty="0">
                  <a:latin typeface="Times New Roman" panose="02020603050405020304" pitchFamily="18" charset="0"/>
                  <a:cs typeface="Times New Roman" panose="02020603050405020304" pitchFamily="18" charset="0"/>
                </a:endParaRPr>
              </a:p>
              <a:p>
                <a:pPr algn="l">
                  <a:buNone/>
                </a:pPr>
                <a:br>
                  <a:rPr lang="ar-DZ" sz="2800" dirty="0">
                    <a:latin typeface="Times New Roman" panose="02020603050405020304" pitchFamily="18" charset="0"/>
                    <a:cs typeface="Times New Roman" panose="02020603050405020304" pitchFamily="18" charset="0"/>
                  </a:rPr>
                </a:br>
                <a:endParaRPr lang="ar-DZ" sz="2800" dirty="0">
                  <a:latin typeface="Times New Roman" panose="02020603050405020304" pitchFamily="18" charset="0"/>
                  <a:cs typeface="Times New Roman" panose="02020603050405020304" pitchFamily="18" charset="0"/>
                </a:endParaRPr>
              </a:p>
              <a:p>
                <a:pPr algn="l">
                  <a:buNone/>
                </a:pPr>
                <a:r>
                  <a:rPr lang="fr-DZ" sz="2800" b="1"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Calcul</a:t>
                </a:r>
                <a:r>
                  <a:rPr lang="en-US" sz="2800" dirty="0">
                    <a:latin typeface="Times New Roman" panose="02020603050405020304" pitchFamily="18" charset="0"/>
                    <a:cs typeface="Times New Roman" panose="02020603050405020304" pitchFamily="18" charset="0"/>
                  </a:rPr>
                  <a:t> du </a:t>
                </a:r>
                <a:r>
                  <a:rPr lang="en-US" sz="2800" dirty="0" err="1">
                    <a:latin typeface="Times New Roman" panose="02020603050405020304" pitchFamily="18" charset="0"/>
                    <a:cs typeface="Times New Roman" panose="02020603050405020304" pitchFamily="18" charset="0"/>
                  </a:rPr>
                  <a:t>potentiel</a:t>
                </a:r>
                <a:r>
                  <a:rPr lang="en-US" sz="2800" dirty="0">
                    <a:latin typeface="Times New Roman" panose="02020603050405020304" pitchFamily="18" charset="0"/>
                    <a:cs typeface="Times New Roman" panose="02020603050405020304" pitchFamily="18" charset="0"/>
                  </a:rPr>
                  <a:t> :</a:t>
                </a:r>
              </a:p>
              <a:p>
                <a:pPr algn="l">
                  <a:buNone/>
                </a:pPr>
                <a14:m>
                  <m:oMathPara xmlns:m="http://schemas.openxmlformats.org/officeDocument/2006/math">
                    <m:oMathParaPr>
                      <m:jc m:val="centerGroup"/>
                    </m:oMathParaPr>
                    <m:oMath xmlns:m="http://schemas.openxmlformats.org/officeDocument/2006/math">
                      <m:r>
                        <a:rPr lang="en-US" sz="2800" b="1" i="1" smtClean="0">
                          <a:solidFill>
                            <a:srgbClr val="FFFF00"/>
                          </a:solidFill>
                          <a:latin typeface="Cambria Math" panose="02040503050406030204" pitchFamily="18" charset="0"/>
                        </a:rPr>
                        <m:t>𝑽</m:t>
                      </m:r>
                      <m:d>
                        <m:dPr>
                          <m:ctrlPr>
                            <a:rPr lang="ar-DZ" sz="2800" b="1" i="1">
                              <a:solidFill>
                                <a:srgbClr val="FFFF00"/>
                              </a:solidFill>
                              <a:latin typeface="Cambria Math" panose="02040503050406030204" pitchFamily="18" charset="0"/>
                            </a:rPr>
                          </m:ctrlPr>
                        </m:dPr>
                        <m:e>
                          <m:r>
                            <a:rPr lang="ar-DZ" sz="2800" b="1" i="1">
                              <a:solidFill>
                                <a:srgbClr val="FFFF00"/>
                              </a:solidFill>
                              <a:latin typeface="Cambria Math" panose="02040503050406030204" pitchFamily="18" charset="0"/>
                            </a:rPr>
                            <m:t>𝑴</m:t>
                          </m:r>
                        </m:e>
                      </m:d>
                      <m:r>
                        <a:rPr lang="ar-DZ" sz="2800" b="1" i="0">
                          <a:solidFill>
                            <a:srgbClr val="FFFF00"/>
                          </a:solidFill>
                          <a:latin typeface="Cambria Math" panose="02040503050406030204" pitchFamily="18" charset="0"/>
                        </a:rPr>
                        <m:t>=</m:t>
                      </m:r>
                      <m:r>
                        <a:rPr lang="ar-DZ" sz="2800" b="1" i="1">
                          <a:solidFill>
                            <a:srgbClr val="FFFF00"/>
                          </a:solidFill>
                          <a:latin typeface="Cambria Math" panose="02040503050406030204" pitchFamily="18" charset="0"/>
                        </a:rPr>
                        <m:t>𝒌</m:t>
                      </m:r>
                      <m:d>
                        <m:dPr>
                          <m:ctrlPr>
                            <a:rPr lang="ar-DZ" sz="2800" b="1" i="1">
                              <a:solidFill>
                                <a:srgbClr val="FFFF00"/>
                              </a:solidFill>
                              <a:latin typeface="Cambria Math" panose="02040503050406030204" pitchFamily="18" charset="0"/>
                            </a:rPr>
                          </m:ctrlPr>
                        </m:dPr>
                        <m:e>
                          <m:f>
                            <m:fPr>
                              <m:ctrlPr>
                                <a:rPr lang="ar-DZ" sz="2800" b="1" i="1">
                                  <a:solidFill>
                                    <a:srgbClr val="FFFF00"/>
                                  </a:solidFill>
                                  <a:latin typeface="Cambria Math" panose="02040503050406030204" pitchFamily="18" charset="0"/>
                                </a:rPr>
                              </m:ctrlPr>
                            </m:fPr>
                            <m:num>
                              <m:sSub>
                                <m:sSubPr>
                                  <m:ctrlPr>
                                    <a:rPr lang="ar-DZ" sz="2800" b="1" i="1">
                                      <a:solidFill>
                                        <a:srgbClr val="FFFF00"/>
                                      </a:solidFill>
                                      <a:latin typeface="Cambria Math" panose="02040503050406030204" pitchFamily="18" charset="0"/>
                                    </a:rPr>
                                  </m:ctrlPr>
                                </m:sSubPr>
                                <m:e>
                                  <m:r>
                                    <a:rPr lang="ar-DZ" sz="2800" b="1" i="1">
                                      <a:solidFill>
                                        <a:srgbClr val="FFFF00"/>
                                      </a:solidFill>
                                      <a:latin typeface="Cambria Math" panose="02040503050406030204" pitchFamily="18" charset="0"/>
                                    </a:rPr>
                                    <m:t>𝒒</m:t>
                                  </m:r>
                                </m:e>
                                <m:sub>
                                  <m:r>
                                    <a:rPr lang="ar-DZ" sz="2800" b="1" i="0">
                                      <a:solidFill>
                                        <a:srgbClr val="FFFF00"/>
                                      </a:solidFill>
                                      <a:latin typeface="Cambria Math" panose="02040503050406030204" pitchFamily="18" charset="0"/>
                                    </a:rPr>
                                    <m:t>𝟏</m:t>
                                  </m:r>
                                </m:sub>
                              </m:sSub>
                            </m:num>
                            <m:den>
                              <m:sSub>
                                <m:sSubPr>
                                  <m:ctrlPr>
                                    <a:rPr lang="ar-DZ" sz="2800" b="1" i="1">
                                      <a:solidFill>
                                        <a:srgbClr val="FFFF00"/>
                                      </a:solidFill>
                                      <a:latin typeface="Cambria Math" panose="02040503050406030204" pitchFamily="18" charset="0"/>
                                    </a:rPr>
                                  </m:ctrlPr>
                                </m:sSubPr>
                                <m:e>
                                  <m:r>
                                    <a:rPr lang="ar-DZ" sz="2800" b="1" i="1">
                                      <a:solidFill>
                                        <a:srgbClr val="FFFF00"/>
                                      </a:solidFill>
                                      <a:latin typeface="Cambria Math" panose="02040503050406030204" pitchFamily="18" charset="0"/>
                                    </a:rPr>
                                    <m:t>𝒓</m:t>
                                  </m:r>
                                </m:e>
                                <m:sub>
                                  <m:r>
                                    <a:rPr lang="ar-DZ" sz="2800" b="1" i="0">
                                      <a:solidFill>
                                        <a:srgbClr val="FFFF00"/>
                                      </a:solidFill>
                                      <a:latin typeface="Cambria Math" panose="02040503050406030204" pitchFamily="18" charset="0"/>
                                    </a:rPr>
                                    <m:t>𝟏</m:t>
                                  </m:r>
                                </m:sub>
                              </m:sSub>
                            </m:den>
                          </m:f>
                          <m:r>
                            <a:rPr lang="ar-DZ" sz="2800" b="1" i="0">
                              <a:solidFill>
                                <a:srgbClr val="FFFF00"/>
                              </a:solidFill>
                              <a:latin typeface="Cambria Math" panose="02040503050406030204" pitchFamily="18" charset="0"/>
                            </a:rPr>
                            <m:t>+</m:t>
                          </m:r>
                          <m:f>
                            <m:fPr>
                              <m:ctrlPr>
                                <a:rPr lang="ar-DZ" sz="2800" b="1" i="1">
                                  <a:solidFill>
                                    <a:srgbClr val="FFFF00"/>
                                  </a:solidFill>
                                  <a:latin typeface="Cambria Math" panose="02040503050406030204" pitchFamily="18" charset="0"/>
                                </a:rPr>
                              </m:ctrlPr>
                            </m:fPr>
                            <m:num>
                              <m:sSub>
                                <m:sSubPr>
                                  <m:ctrlPr>
                                    <a:rPr lang="ar-DZ" sz="2800" b="1" i="1">
                                      <a:solidFill>
                                        <a:srgbClr val="FFFF00"/>
                                      </a:solidFill>
                                      <a:latin typeface="Cambria Math" panose="02040503050406030204" pitchFamily="18" charset="0"/>
                                    </a:rPr>
                                  </m:ctrlPr>
                                </m:sSubPr>
                                <m:e>
                                  <m:r>
                                    <a:rPr lang="ar-DZ" sz="2800" b="1" i="1">
                                      <a:solidFill>
                                        <a:srgbClr val="FFFF00"/>
                                      </a:solidFill>
                                      <a:latin typeface="Cambria Math" panose="02040503050406030204" pitchFamily="18" charset="0"/>
                                    </a:rPr>
                                    <m:t>𝒒</m:t>
                                  </m:r>
                                </m:e>
                                <m:sub>
                                  <m:r>
                                    <a:rPr lang="ar-DZ" sz="2800" b="1" i="0">
                                      <a:solidFill>
                                        <a:srgbClr val="FFFF00"/>
                                      </a:solidFill>
                                      <a:latin typeface="Cambria Math" panose="02040503050406030204" pitchFamily="18" charset="0"/>
                                    </a:rPr>
                                    <m:t>𝟐</m:t>
                                  </m:r>
                                </m:sub>
                              </m:sSub>
                            </m:num>
                            <m:den>
                              <m:sSub>
                                <m:sSubPr>
                                  <m:ctrlPr>
                                    <a:rPr lang="ar-DZ" sz="2800" b="1" i="1">
                                      <a:solidFill>
                                        <a:srgbClr val="FFFF00"/>
                                      </a:solidFill>
                                      <a:latin typeface="Cambria Math" panose="02040503050406030204" pitchFamily="18" charset="0"/>
                                    </a:rPr>
                                  </m:ctrlPr>
                                </m:sSubPr>
                                <m:e>
                                  <m:r>
                                    <a:rPr lang="ar-DZ" sz="2800" b="1" i="1">
                                      <a:solidFill>
                                        <a:srgbClr val="FFFF00"/>
                                      </a:solidFill>
                                      <a:latin typeface="Cambria Math" panose="02040503050406030204" pitchFamily="18" charset="0"/>
                                    </a:rPr>
                                    <m:t>𝒓</m:t>
                                  </m:r>
                                </m:e>
                                <m:sub>
                                  <m:r>
                                    <a:rPr lang="ar-DZ" sz="2800" b="1" i="0">
                                      <a:solidFill>
                                        <a:srgbClr val="FFFF00"/>
                                      </a:solidFill>
                                      <a:latin typeface="Cambria Math" panose="02040503050406030204" pitchFamily="18" charset="0"/>
                                    </a:rPr>
                                    <m:t>𝟐</m:t>
                                  </m:r>
                                </m:sub>
                              </m:sSub>
                            </m:den>
                          </m:f>
                          <m:r>
                            <a:rPr lang="ar-DZ" sz="2800" b="1" i="0">
                              <a:solidFill>
                                <a:srgbClr val="FFFF00"/>
                              </a:solidFill>
                              <a:latin typeface="Cambria Math" panose="02040503050406030204" pitchFamily="18" charset="0"/>
                            </a:rPr>
                            <m:t>+</m:t>
                          </m:r>
                          <m:f>
                            <m:fPr>
                              <m:ctrlPr>
                                <a:rPr lang="ar-DZ" sz="2800" b="1" i="1">
                                  <a:solidFill>
                                    <a:srgbClr val="FFFF00"/>
                                  </a:solidFill>
                                  <a:latin typeface="Cambria Math" panose="02040503050406030204" pitchFamily="18" charset="0"/>
                                </a:rPr>
                              </m:ctrlPr>
                            </m:fPr>
                            <m:num>
                              <m:sSub>
                                <m:sSubPr>
                                  <m:ctrlPr>
                                    <a:rPr lang="ar-DZ" sz="2800" b="1" i="1">
                                      <a:solidFill>
                                        <a:srgbClr val="FFFF00"/>
                                      </a:solidFill>
                                      <a:latin typeface="Cambria Math" panose="02040503050406030204" pitchFamily="18" charset="0"/>
                                    </a:rPr>
                                  </m:ctrlPr>
                                </m:sSubPr>
                                <m:e>
                                  <m:r>
                                    <a:rPr lang="ar-DZ" sz="2800" b="1" i="1">
                                      <a:solidFill>
                                        <a:srgbClr val="FFFF00"/>
                                      </a:solidFill>
                                      <a:latin typeface="Cambria Math" panose="02040503050406030204" pitchFamily="18" charset="0"/>
                                    </a:rPr>
                                    <m:t>𝒒</m:t>
                                  </m:r>
                                </m:e>
                                <m:sub>
                                  <m:r>
                                    <a:rPr lang="ar-DZ" sz="2800" b="1" i="0">
                                      <a:solidFill>
                                        <a:srgbClr val="FFFF00"/>
                                      </a:solidFill>
                                      <a:latin typeface="Cambria Math" panose="02040503050406030204" pitchFamily="18" charset="0"/>
                                    </a:rPr>
                                    <m:t>𝟑</m:t>
                                  </m:r>
                                </m:sub>
                              </m:sSub>
                            </m:num>
                            <m:den>
                              <m:sSub>
                                <m:sSubPr>
                                  <m:ctrlPr>
                                    <a:rPr lang="ar-DZ" sz="2800" b="1" i="1">
                                      <a:solidFill>
                                        <a:srgbClr val="FFFF00"/>
                                      </a:solidFill>
                                      <a:latin typeface="Cambria Math" panose="02040503050406030204" pitchFamily="18" charset="0"/>
                                    </a:rPr>
                                  </m:ctrlPr>
                                </m:sSubPr>
                                <m:e>
                                  <m:r>
                                    <a:rPr lang="ar-DZ" sz="2800" b="1" i="1">
                                      <a:solidFill>
                                        <a:srgbClr val="FFFF00"/>
                                      </a:solidFill>
                                      <a:latin typeface="Cambria Math" panose="02040503050406030204" pitchFamily="18" charset="0"/>
                                    </a:rPr>
                                    <m:t>𝒓</m:t>
                                  </m:r>
                                </m:e>
                                <m:sub>
                                  <m:r>
                                    <a:rPr lang="ar-DZ" sz="2800" b="1" i="0">
                                      <a:solidFill>
                                        <a:srgbClr val="FFFF00"/>
                                      </a:solidFill>
                                      <a:latin typeface="Cambria Math" panose="02040503050406030204" pitchFamily="18" charset="0"/>
                                    </a:rPr>
                                    <m:t>𝟑</m:t>
                                  </m:r>
                                </m:sub>
                              </m:sSub>
                            </m:den>
                          </m:f>
                        </m:e>
                      </m:d>
                    </m:oMath>
                  </m:oMathPara>
                </a14:m>
                <a:endParaRPr lang="ar-DZ" sz="2800" b="1" dirty="0">
                  <a:solidFill>
                    <a:srgbClr val="FFFF00"/>
                  </a:solidFill>
                  <a:latin typeface="Times New Roman" panose="02020603050405020304" pitchFamily="18" charset="0"/>
                  <a:cs typeface="Times New Roman" panose="02020603050405020304" pitchFamily="18" charset="0"/>
                </a:endParaRPr>
              </a:p>
              <a:p>
                <a:pPr algn="l">
                  <a:buNone/>
                </a:pPr>
                <a:endParaRPr lang="ar-DZ" sz="2800" dirty="0">
                  <a:latin typeface="Times New Roman" panose="02020603050405020304" pitchFamily="18" charset="0"/>
                  <a:cs typeface="Times New Roman" panose="02020603050405020304" pitchFamily="18" charset="0"/>
                </a:endParaRPr>
              </a:p>
              <a:p>
                <a:endParaRPr lang="fr-FR" dirty="0"/>
              </a:p>
            </p:txBody>
          </p:sp>
        </mc:Choice>
        <mc:Fallback xmlns="">
          <p:sp>
            <p:nvSpPr>
              <p:cNvPr id="3" name="Espace réservé du texte 2">
                <a:extLst>
                  <a:ext uri="{FF2B5EF4-FFF2-40B4-BE49-F238E27FC236}">
                    <a16:creationId xmlns:a16="http://schemas.microsoft.com/office/drawing/2014/main" id="{7E3233D6-33C6-4F4C-F6D3-509C2A07516E}"/>
                  </a:ext>
                </a:extLst>
              </p:cNvPr>
              <p:cNvSpPr>
                <a:spLocks noGrp="1" noRot="1" noChangeAspect="1" noMove="1" noResize="1" noEditPoints="1" noAdjustHandles="1" noChangeArrowheads="1" noChangeShapeType="1" noTextEdit="1"/>
              </p:cNvSpPr>
              <p:nvPr>
                <p:ph type="body" idx="1"/>
              </p:nvPr>
            </p:nvSpPr>
            <p:spPr>
              <a:xfrm>
                <a:off x="0" y="0"/>
                <a:ext cx="12192000" cy="6857999"/>
              </a:xfrm>
              <a:blipFill>
                <a:blip r:embed="rId2"/>
                <a:stretch>
                  <a:fillRect/>
                </a:stretch>
              </a:blipFill>
            </p:spPr>
            <p:txBody>
              <a:bodyPr/>
              <a:lstStyle/>
              <a:p>
                <a:r>
                  <a:rPr lang="fr-DZ">
                    <a:noFill/>
                  </a:rPr>
                  <a:t> </a:t>
                </a:r>
              </a:p>
            </p:txBody>
          </p:sp>
        </mc:Fallback>
      </mc:AlternateContent>
    </p:spTree>
    <p:extLst>
      <p:ext uri="{BB962C8B-B14F-4D97-AF65-F5344CB8AC3E}">
        <p14:creationId xmlns:p14="http://schemas.microsoft.com/office/powerpoint/2010/main" val="695292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834CAF36-C964-C252-BD5B-0A10E6ADC5F6}"/>
                  </a:ext>
                </a:extLst>
              </p:cNvPr>
              <p:cNvSpPr>
                <a:spLocks noGrp="1"/>
              </p:cNvSpPr>
              <p:nvPr>
                <p:ph type="body" idx="1"/>
              </p:nvPr>
            </p:nvSpPr>
            <p:spPr>
              <a:xfrm>
                <a:off x="0" y="0"/>
                <a:ext cx="12192000" cy="6988629"/>
              </a:xfrm>
              <a:solidFill>
                <a:srgbClr val="002060"/>
              </a:solidFill>
              <a:scene3d>
                <a:camera prst="orthographicFront"/>
                <a:lightRig rig="threePt" dir="t"/>
              </a:scene3d>
              <a:sp3d>
                <a:bevelT w="101600" prst="riblet"/>
              </a:sp3d>
            </p:spPr>
            <p:txBody>
              <a:bodyPr>
                <a:normAutofit/>
              </a:bodyPr>
              <a:lstStyle/>
              <a:p>
                <a:pPr algn="l">
                  <a:buNone/>
                </a:pPr>
                <a:r>
                  <a:rPr lang="en-US" sz="2800" dirty="0">
                    <a:latin typeface="Times New Roman" panose="02020603050405020304" pitchFamily="18" charset="0"/>
                    <a:cs typeface="Times New Roman" panose="02020603050405020304" pitchFamily="18" charset="0"/>
                  </a:rPr>
                  <a:t>Convertissons les </a:t>
                </a:r>
                <a:r>
                  <a:rPr lang="en-US" sz="2800" dirty="0" err="1">
                    <a:latin typeface="Times New Roman" panose="02020603050405020304" pitchFamily="18" charset="0"/>
                    <a:cs typeface="Times New Roman" panose="02020603050405020304" pitchFamily="18" charset="0"/>
                  </a:rPr>
                  <a:t>unités</a:t>
                </a:r>
                <a:r>
                  <a:rPr lang="en-US" sz="2800" dirty="0">
                    <a:latin typeface="Times New Roman" panose="02020603050405020304" pitchFamily="18" charset="0"/>
                    <a:cs typeface="Times New Roman" panose="02020603050405020304" pitchFamily="18" charset="0"/>
                  </a:rPr>
                  <a:t> : </a:t>
                </a:r>
                <a14:m>
                  <m:oMath xmlns:m="http://schemas.openxmlformats.org/officeDocument/2006/math">
                    <m:r>
                      <a:rPr lang="en-US" sz="2800" i="1">
                        <a:latin typeface="Cambria Math" panose="02040503050406030204" pitchFamily="18" charset="0"/>
                        <a:cs typeface="+mj-cs"/>
                      </a:rPr>
                      <m:t>𝑞</m:t>
                    </m:r>
                    <m:r>
                      <a:rPr lang="fr-FR" sz="2800" b="0" i="1" smtClean="0">
                        <a:latin typeface="Cambria Math" panose="02040503050406030204" pitchFamily="18" charset="0"/>
                        <a:cs typeface="+mj-cs"/>
                      </a:rPr>
                      <m:t> </m:t>
                    </m:r>
                  </m:oMath>
                </a14:m>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Coulomb, </a:t>
                </a:r>
                <a14:m>
                  <m:oMath xmlns:m="http://schemas.openxmlformats.org/officeDocument/2006/math">
                    <m:r>
                      <a:rPr lang="en-US" sz="2800" i="1">
                        <a:latin typeface="Cambria Math" panose="02040503050406030204" pitchFamily="18" charset="0"/>
                        <a:cs typeface="+mj-cs"/>
                      </a:rPr>
                      <m:t>𝑟</m:t>
                    </m:r>
                    <m:r>
                      <a:rPr lang="fr-FR" sz="2800" b="0" i="1" smtClean="0">
                        <a:latin typeface="Cambria Math" panose="02040503050406030204" pitchFamily="18" charset="0"/>
                        <a:cs typeface="+mj-cs"/>
                      </a:rPr>
                      <m:t>  </m:t>
                    </m:r>
                  </m:oMath>
                </a14:m>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mètre</a:t>
                </a:r>
                <a:r>
                  <a:rPr lang="en-US" sz="2800" dirty="0">
                    <a:latin typeface="Times New Roman" panose="02020603050405020304" pitchFamily="18" charset="0"/>
                    <a:cs typeface="Times New Roman" panose="02020603050405020304" pitchFamily="18" charset="0"/>
                  </a:rPr>
                  <a:t>.</a:t>
                </a:r>
              </a:p>
              <a:p>
                <a:pPr algn="l">
                  <a:buNone/>
                </a:pPr>
                <a14:m>
                  <m:oMath xmlns:m="http://schemas.openxmlformats.org/officeDocument/2006/math">
                    <m:f>
                      <m:fPr>
                        <m:ctrlPr>
                          <a:rPr lang="ar-DZ" sz="2800" i="1">
                            <a:latin typeface="Cambria Math" panose="02040503050406030204" pitchFamily="18" charset="0"/>
                            <a:cs typeface="+mj-cs"/>
                          </a:rPr>
                        </m:ctrlPr>
                      </m:fPr>
                      <m:num>
                        <m:sSub>
                          <m:sSubPr>
                            <m:ctrlPr>
                              <a:rPr lang="ar-DZ" sz="2800" i="1">
                                <a:latin typeface="Cambria Math" panose="02040503050406030204" pitchFamily="18" charset="0"/>
                                <a:cs typeface="+mj-cs"/>
                              </a:rPr>
                            </m:ctrlPr>
                          </m:sSubPr>
                          <m:e>
                            <m:r>
                              <a:rPr lang="ar-DZ" sz="2800" i="1">
                                <a:latin typeface="Cambria Math" panose="02040503050406030204" pitchFamily="18" charset="0"/>
                                <a:cs typeface="+mj-cs"/>
                              </a:rPr>
                              <m:t>𝑞</m:t>
                            </m:r>
                          </m:e>
                          <m:sub>
                            <m:r>
                              <a:rPr lang="ar-DZ" sz="2800" i="0">
                                <a:latin typeface="Cambria Math" panose="02040503050406030204" pitchFamily="18" charset="0"/>
                                <a:cs typeface="+mj-cs"/>
                              </a:rPr>
                              <m:t>1</m:t>
                            </m:r>
                          </m:sub>
                        </m:sSub>
                      </m:num>
                      <m:den>
                        <m:sSub>
                          <m:sSubPr>
                            <m:ctrlPr>
                              <a:rPr lang="ar-DZ" sz="2800" i="1">
                                <a:latin typeface="Cambria Math" panose="02040503050406030204" pitchFamily="18" charset="0"/>
                                <a:cs typeface="+mj-cs"/>
                              </a:rPr>
                            </m:ctrlPr>
                          </m:sSubPr>
                          <m:e>
                            <m:r>
                              <a:rPr lang="ar-DZ" sz="2800" i="1">
                                <a:latin typeface="Cambria Math" panose="02040503050406030204" pitchFamily="18" charset="0"/>
                                <a:cs typeface="+mj-cs"/>
                              </a:rPr>
                              <m:t>𝑟</m:t>
                            </m:r>
                          </m:e>
                          <m:sub>
                            <m:r>
                              <a:rPr lang="ar-DZ" sz="2800" i="0">
                                <a:latin typeface="Cambria Math" panose="02040503050406030204" pitchFamily="18" charset="0"/>
                                <a:cs typeface="+mj-cs"/>
                              </a:rPr>
                              <m:t>1</m:t>
                            </m:r>
                          </m:sub>
                        </m:sSub>
                      </m:den>
                    </m:f>
                    <m:r>
                      <a:rPr lang="ar-DZ" sz="2800" i="0">
                        <a:latin typeface="Cambria Math" panose="02040503050406030204" pitchFamily="18" charset="0"/>
                        <a:cs typeface="+mj-cs"/>
                      </a:rPr>
                      <m:t>=</m:t>
                    </m:r>
                    <m:f>
                      <m:fPr>
                        <m:ctrlPr>
                          <a:rPr lang="ar-DZ" sz="2800" i="1">
                            <a:latin typeface="Cambria Math" panose="02040503050406030204" pitchFamily="18" charset="0"/>
                            <a:cs typeface="+mj-cs"/>
                          </a:rPr>
                        </m:ctrlPr>
                      </m:fPr>
                      <m:num>
                        <m:r>
                          <a:rPr lang="ar-DZ" sz="2800" i="0">
                            <a:latin typeface="Cambria Math" panose="02040503050406030204" pitchFamily="18" charset="0"/>
                            <a:cs typeface="+mj-cs"/>
                          </a:rPr>
                          <m:t>2</m:t>
                        </m:r>
                        <m:r>
                          <a:rPr lang="ar-DZ" sz="2800" i="0">
                            <a:latin typeface="Cambria Math" panose="02040503050406030204" pitchFamily="18" charset="0"/>
                            <a:cs typeface="+mj-cs"/>
                          </a:rPr>
                          <m:t>×</m:t>
                        </m:r>
                        <m:sSup>
                          <m:sSupPr>
                            <m:ctrlPr>
                              <a:rPr lang="ar-DZ" sz="2800" i="1">
                                <a:latin typeface="Cambria Math" panose="02040503050406030204" pitchFamily="18" charset="0"/>
                                <a:cs typeface="+mj-cs"/>
                              </a:rPr>
                            </m:ctrlPr>
                          </m:sSupPr>
                          <m:e>
                            <m:r>
                              <a:rPr lang="ar-DZ" sz="2800" i="0">
                                <a:latin typeface="Cambria Math" panose="02040503050406030204" pitchFamily="18" charset="0"/>
                                <a:cs typeface="+mj-cs"/>
                              </a:rPr>
                              <m:t>10</m:t>
                            </m:r>
                          </m:e>
                          <m:sup>
                            <m:r>
                              <a:rPr lang="ar-DZ" sz="2800" i="0">
                                <a:latin typeface="Cambria Math" panose="02040503050406030204" pitchFamily="18" charset="0"/>
                                <a:cs typeface="+mj-cs"/>
                              </a:rPr>
                              <m:t>−</m:t>
                            </m:r>
                            <m:r>
                              <a:rPr lang="ar-DZ" sz="2800" i="0">
                                <a:latin typeface="Cambria Math" panose="02040503050406030204" pitchFamily="18" charset="0"/>
                                <a:cs typeface="+mj-cs"/>
                              </a:rPr>
                              <m:t>6</m:t>
                            </m:r>
                          </m:sup>
                        </m:sSup>
                      </m:num>
                      <m:den>
                        <m:r>
                          <a:rPr lang="ar-DZ" sz="2800" i="0">
                            <a:latin typeface="Cambria Math" panose="02040503050406030204" pitchFamily="18" charset="0"/>
                            <a:cs typeface="+mj-cs"/>
                          </a:rPr>
                          <m:t>0</m:t>
                        </m:r>
                        <m:r>
                          <a:rPr lang="ar-DZ" sz="2800" i="0">
                            <a:latin typeface="Cambria Math" panose="02040503050406030204" pitchFamily="18" charset="0"/>
                            <a:cs typeface="+mj-cs"/>
                          </a:rPr>
                          <m:t>.</m:t>
                        </m:r>
                        <m:r>
                          <a:rPr lang="ar-DZ" sz="2800" i="0">
                            <a:latin typeface="Cambria Math" panose="02040503050406030204" pitchFamily="18" charset="0"/>
                            <a:cs typeface="+mj-cs"/>
                          </a:rPr>
                          <m:t>20</m:t>
                        </m:r>
                      </m:den>
                    </m:f>
                    <m:r>
                      <a:rPr lang="ar-DZ" sz="2800" i="0">
                        <a:latin typeface="Cambria Math" panose="02040503050406030204" pitchFamily="18" charset="0"/>
                        <a:cs typeface="+mj-cs"/>
                      </a:rPr>
                      <m:t>=</m:t>
                    </m:r>
                    <m:r>
                      <a:rPr lang="ar-DZ" sz="2800" i="0">
                        <a:latin typeface="Cambria Math" panose="02040503050406030204" pitchFamily="18" charset="0"/>
                        <a:cs typeface="+mj-cs"/>
                      </a:rPr>
                      <m:t>1</m:t>
                    </m:r>
                    <m:r>
                      <a:rPr lang="ar-DZ" sz="2800" i="0">
                        <a:latin typeface="Cambria Math" panose="02040503050406030204" pitchFamily="18" charset="0"/>
                        <a:cs typeface="+mj-cs"/>
                      </a:rPr>
                      <m:t>×</m:t>
                    </m:r>
                    <m:sSup>
                      <m:sSupPr>
                        <m:ctrlPr>
                          <a:rPr lang="ar-DZ" sz="2800" i="1">
                            <a:latin typeface="Cambria Math" panose="02040503050406030204" pitchFamily="18" charset="0"/>
                            <a:cs typeface="+mj-cs"/>
                          </a:rPr>
                        </m:ctrlPr>
                      </m:sSupPr>
                      <m:e>
                        <m:r>
                          <a:rPr lang="ar-DZ" sz="2800" i="0">
                            <a:latin typeface="Cambria Math" panose="02040503050406030204" pitchFamily="18" charset="0"/>
                            <a:cs typeface="+mj-cs"/>
                          </a:rPr>
                          <m:t>10</m:t>
                        </m:r>
                      </m:e>
                      <m:sup>
                        <m:r>
                          <a:rPr lang="ar-DZ" sz="2800" i="0">
                            <a:latin typeface="Cambria Math" panose="02040503050406030204" pitchFamily="18" charset="0"/>
                            <a:cs typeface="+mj-cs"/>
                          </a:rPr>
                          <m:t>−</m:t>
                        </m:r>
                        <m:r>
                          <a:rPr lang="ar-DZ" sz="2800" i="0">
                            <a:latin typeface="Cambria Math" panose="02040503050406030204" pitchFamily="18" charset="0"/>
                            <a:cs typeface="+mj-cs"/>
                          </a:rPr>
                          <m:t>5</m:t>
                        </m:r>
                      </m:sup>
                    </m:sSup>
                  </m:oMath>
                </a14:m>
                <a:r>
                  <a:rPr lang="fr-FR" sz="2800" dirty="0">
                    <a:latin typeface="Times New Roman" panose="02020603050405020304" pitchFamily="18" charset="0"/>
                    <a:cs typeface="Times New Roman" panose="02020603050405020304" pitchFamily="18" charset="0"/>
                  </a:rPr>
                  <a:t>  </a:t>
                </a:r>
                <a14:m>
                  <m:oMath xmlns:m="http://schemas.openxmlformats.org/officeDocument/2006/math">
                    <m:f>
                      <m:fPr>
                        <m:ctrlPr>
                          <a:rPr lang="ar-DZ" sz="2800" i="1">
                            <a:latin typeface="Cambria Math" panose="02040503050406030204" pitchFamily="18" charset="0"/>
                            <a:cs typeface="+mj-cs"/>
                          </a:rPr>
                        </m:ctrlPr>
                      </m:fPr>
                      <m:num>
                        <m:sSub>
                          <m:sSubPr>
                            <m:ctrlPr>
                              <a:rPr lang="ar-DZ" sz="2800" i="1">
                                <a:latin typeface="Cambria Math" panose="02040503050406030204" pitchFamily="18" charset="0"/>
                                <a:cs typeface="+mj-cs"/>
                              </a:rPr>
                            </m:ctrlPr>
                          </m:sSubPr>
                          <m:e>
                            <m:r>
                              <a:rPr lang="ar-DZ" sz="2800" i="1">
                                <a:latin typeface="Cambria Math" panose="02040503050406030204" pitchFamily="18" charset="0"/>
                                <a:cs typeface="+mj-cs"/>
                              </a:rPr>
                              <m:t>𝑞</m:t>
                            </m:r>
                          </m:e>
                          <m:sub>
                            <m:r>
                              <a:rPr lang="ar-DZ" sz="2800" i="0">
                                <a:latin typeface="Cambria Math" panose="02040503050406030204" pitchFamily="18" charset="0"/>
                                <a:cs typeface="+mj-cs"/>
                              </a:rPr>
                              <m:t>2</m:t>
                            </m:r>
                          </m:sub>
                        </m:sSub>
                      </m:num>
                      <m:den>
                        <m:sSub>
                          <m:sSubPr>
                            <m:ctrlPr>
                              <a:rPr lang="ar-DZ" sz="2800" i="1">
                                <a:latin typeface="Cambria Math" panose="02040503050406030204" pitchFamily="18" charset="0"/>
                                <a:cs typeface="+mj-cs"/>
                              </a:rPr>
                            </m:ctrlPr>
                          </m:sSubPr>
                          <m:e>
                            <m:r>
                              <a:rPr lang="ar-DZ" sz="2800" i="1">
                                <a:latin typeface="Cambria Math" panose="02040503050406030204" pitchFamily="18" charset="0"/>
                                <a:cs typeface="+mj-cs"/>
                              </a:rPr>
                              <m:t>𝑟</m:t>
                            </m:r>
                          </m:e>
                          <m:sub>
                            <m:r>
                              <a:rPr lang="ar-DZ" sz="2800" i="0">
                                <a:latin typeface="Cambria Math" panose="02040503050406030204" pitchFamily="18" charset="0"/>
                                <a:cs typeface="+mj-cs"/>
                              </a:rPr>
                              <m:t>2</m:t>
                            </m:r>
                          </m:sub>
                        </m:sSub>
                      </m:den>
                    </m:f>
                    <m:r>
                      <a:rPr lang="ar-DZ" sz="2800" i="0">
                        <a:latin typeface="Cambria Math" panose="02040503050406030204" pitchFamily="18" charset="0"/>
                        <a:cs typeface="+mj-cs"/>
                      </a:rPr>
                      <m:t>=</m:t>
                    </m:r>
                    <m:f>
                      <m:fPr>
                        <m:ctrlPr>
                          <a:rPr lang="ar-DZ" sz="2800" i="1">
                            <a:latin typeface="Cambria Math" panose="02040503050406030204" pitchFamily="18" charset="0"/>
                            <a:cs typeface="+mj-cs"/>
                          </a:rPr>
                        </m:ctrlPr>
                      </m:fPr>
                      <m:num>
                        <m:r>
                          <a:rPr lang="ar-DZ" sz="2800" i="0">
                            <a:latin typeface="Cambria Math" panose="02040503050406030204" pitchFamily="18" charset="0"/>
                            <a:cs typeface="+mj-cs"/>
                          </a:rPr>
                          <m:t>−</m:t>
                        </m:r>
                        <m:r>
                          <a:rPr lang="ar-DZ" sz="2800" i="0">
                            <a:latin typeface="Cambria Math" panose="02040503050406030204" pitchFamily="18" charset="0"/>
                            <a:cs typeface="+mj-cs"/>
                          </a:rPr>
                          <m:t>3</m:t>
                        </m:r>
                        <m:r>
                          <a:rPr lang="ar-DZ" sz="2800" i="0">
                            <a:latin typeface="Cambria Math" panose="02040503050406030204" pitchFamily="18" charset="0"/>
                            <a:cs typeface="+mj-cs"/>
                          </a:rPr>
                          <m:t>×</m:t>
                        </m:r>
                        <m:sSup>
                          <m:sSupPr>
                            <m:ctrlPr>
                              <a:rPr lang="ar-DZ" sz="2800" i="1">
                                <a:latin typeface="Cambria Math" panose="02040503050406030204" pitchFamily="18" charset="0"/>
                                <a:cs typeface="+mj-cs"/>
                              </a:rPr>
                            </m:ctrlPr>
                          </m:sSupPr>
                          <m:e>
                            <m:r>
                              <a:rPr lang="ar-DZ" sz="2800" i="0">
                                <a:latin typeface="Cambria Math" panose="02040503050406030204" pitchFamily="18" charset="0"/>
                                <a:cs typeface="+mj-cs"/>
                              </a:rPr>
                              <m:t>10</m:t>
                            </m:r>
                          </m:e>
                          <m:sup>
                            <m:r>
                              <a:rPr lang="ar-DZ" sz="2800" i="0">
                                <a:latin typeface="Cambria Math" panose="02040503050406030204" pitchFamily="18" charset="0"/>
                                <a:cs typeface="+mj-cs"/>
                              </a:rPr>
                              <m:t>−</m:t>
                            </m:r>
                            <m:r>
                              <a:rPr lang="ar-DZ" sz="2800" i="0">
                                <a:latin typeface="Cambria Math" panose="02040503050406030204" pitchFamily="18" charset="0"/>
                                <a:cs typeface="+mj-cs"/>
                              </a:rPr>
                              <m:t>6</m:t>
                            </m:r>
                          </m:sup>
                        </m:sSup>
                      </m:num>
                      <m:den>
                        <m:r>
                          <a:rPr lang="ar-DZ" sz="2800" i="0">
                            <a:latin typeface="Cambria Math" panose="02040503050406030204" pitchFamily="18" charset="0"/>
                            <a:cs typeface="+mj-cs"/>
                          </a:rPr>
                          <m:t>0</m:t>
                        </m:r>
                        <m:r>
                          <a:rPr lang="ar-DZ" sz="2800" i="0">
                            <a:latin typeface="Cambria Math" panose="02040503050406030204" pitchFamily="18" charset="0"/>
                            <a:cs typeface="+mj-cs"/>
                          </a:rPr>
                          <m:t>.</m:t>
                        </m:r>
                        <m:r>
                          <a:rPr lang="ar-DZ" sz="2800" i="0">
                            <a:latin typeface="Cambria Math" panose="02040503050406030204" pitchFamily="18" charset="0"/>
                            <a:cs typeface="+mj-cs"/>
                          </a:rPr>
                          <m:t>50</m:t>
                        </m:r>
                      </m:den>
                    </m:f>
                    <m:r>
                      <a:rPr lang="ar-DZ" sz="2800" i="0">
                        <a:latin typeface="Cambria Math" panose="02040503050406030204" pitchFamily="18" charset="0"/>
                        <a:cs typeface="+mj-cs"/>
                      </a:rPr>
                      <m:t>=−</m:t>
                    </m:r>
                    <m:r>
                      <a:rPr lang="ar-DZ" sz="2800" i="0">
                        <a:latin typeface="Cambria Math" panose="02040503050406030204" pitchFamily="18" charset="0"/>
                        <a:cs typeface="+mj-cs"/>
                      </a:rPr>
                      <m:t>6</m:t>
                    </m:r>
                    <m:r>
                      <a:rPr lang="ar-DZ" sz="2800" i="0">
                        <a:latin typeface="Cambria Math" panose="02040503050406030204" pitchFamily="18" charset="0"/>
                        <a:cs typeface="+mj-cs"/>
                      </a:rPr>
                      <m:t>×</m:t>
                    </m:r>
                    <m:sSup>
                      <m:sSupPr>
                        <m:ctrlPr>
                          <a:rPr lang="ar-DZ" sz="2800" i="1">
                            <a:latin typeface="Cambria Math" panose="02040503050406030204" pitchFamily="18" charset="0"/>
                            <a:cs typeface="+mj-cs"/>
                          </a:rPr>
                        </m:ctrlPr>
                      </m:sSupPr>
                      <m:e>
                        <m:r>
                          <a:rPr lang="ar-DZ" sz="2800" i="0">
                            <a:latin typeface="Cambria Math" panose="02040503050406030204" pitchFamily="18" charset="0"/>
                            <a:cs typeface="+mj-cs"/>
                          </a:rPr>
                          <m:t>10</m:t>
                        </m:r>
                      </m:e>
                      <m:sup>
                        <m:r>
                          <a:rPr lang="ar-DZ" sz="2800" i="0">
                            <a:latin typeface="Cambria Math" panose="02040503050406030204" pitchFamily="18" charset="0"/>
                            <a:cs typeface="+mj-cs"/>
                          </a:rPr>
                          <m:t>−</m:t>
                        </m:r>
                        <m:r>
                          <a:rPr lang="ar-DZ" sz="2800" i="0">
                            <a:latin typeface="Cambria Math" panose="02040503050406030204" pitchFamily="18" charset="0"/>
                            <a:cs typeface="+mj-cs"/>
                          </a:rPr>
                          <m:t>6</m:t>
                        </m:r>
                      </m:sup>
                    </m:sSup>
                  </m:oMath>
                </a14:m>
                <a:r>
                  <a:rPr lang="fr-FR" sz="2800" dirty="0">
                    <a:latin typeface="Times New Roman" panose="02020603050405020304" pitchFamily="18" charset="0"/>
                    <a:cs typeface="Times New Roman" panose="02020603050405020304" pitchFamily="18" charset="0"/>
                  </a:rPr>
                  <a:t>   </a:t>
                </a:r>
                <a14:m>
                  <m:oMath xmlns:m="http://schemas.openxmlformats.org/officeDocument/2006/math">
                    <m:f>
                      <m:fPr>
                        <m:ctrlPr>
                          <a:rPr lang="ar-DZ" sz="2800" i="1">
                            <a:latin typeface="Cambria Math" panose="02040503050406030204" pitchFamily="18" charset="0"/>
                            <a:cs typeface="+mj-cs"/>
                          </a:rPr>
                        </m:ctrlPr>
                      </m:fPr>
                      <m:num>
                        <m:sSub>
                          <m:sSubPr>
                            <m:ctrlPr>
                              <a:rPr lang="ar-DZ" sz="2800" i="1">
                                <a:latin typeface="Cambria Math" panose="02040503050406030204" pitchFamily="18" charset="0"/>
                                <a:cs typeface="+mj-cs"/>
                              </a:rPr>
                            </m:ctrlPr>
                          </m:sSubPr>
                          <m:e>
                            <m:r>
                              <a:rPr lang="ar-DZ" sz="2800" i="1">
                                <a:latin typeface="Cambria Math" panose="02040503050406030204" pitchFamily="18" charset="0"/>
                                <a:cs typeface="+mj-cs"/>
                              </a:rPr>
                              <m:t>𝑞</m:t>
                            </m:r>
                          </m:e>
                          <m:sub>
                            <m:r>
                              <a:rPr lang="ar-DZ" sz="2800" i="0">
                                <a:latin typeface="Cambria Math" panose="02040503050406030204" pitchFamily="18" charset="0"/>
                                <a:cs typeface="+mj-cs"/>
                              </a:rPr>
                              <m:t>3</m:t>
                            </m:r>
                          </m:sub>
                        </m:sSub>
                      </m:num>
                      <m:den>
                        <m:sSub>
                          <m:sSubPr>
                            <m:ctrlPr>
                              <a:rPr lang="ar-DZ" sz="2800" i="1">
                                <a:latin typeface="Cambria Math" panose="02040503050406030204" pitchFamily="18" charset="0"/>
                                <a:cs typeface="+mj-cs"/>
                              </a:rPr>
                            </m:ctrlPr>
                          </m:sSubPr>
                          <m:e>
                            <m:r>
                              <a:rPr lang="ar-DZ" sz="2800" i="1">
                                <a:latin typeface="Cambria Math" panose="02040503050406030204" pitchFamily="18" charset="0"/>
                                <a:cs typeface="+mj-cs"/>
                              </a:rPr>
                              <m:t>𝑟</m:t>
                            </m:r>
                          </m:e>
                          <m:sub>
                            <m:r>
                              <a:rPr lang="ar-DZ" sz="2800" i="0">
                                <a:latin typeface="Cambria Math" panose="02040503050406030204" pitchFamily="18" charset="0"/>
                                <a:cs typeface="+mj-cs"/>
                              </a:rPr>
                              <m:t>3</m:t>
                            </m:r>
                          </m:sub>
                        </m:sSub>
                      </m:den>
                    </m:f>
                    <m:r>
                      <a:rPr lang="ar-DZ" sz="2800" i="0">
                        <a:latin typeface="Cambria Math" panose="02040503050406030204" pitchFamily="18" charset="0"/>
                        <a:cs typeface="+mj-cs"/>
                      </a:rPr>
                      <m:t>=</m:t>
                    </m:r>
                    <m:f>
                      <m:fPr>
                        <m:ctrlPr>
                          <a:rPr lang="ar-DZ" sz="2800" i="1">
                            <a:latin typeface="Cambria Math" panose="02040503050406030204" pitchFamily="18" charset="0"/>
                            <a:cs typeface="+mj-cs"/>
                          </a:rPr>
                        </m:ctrlPr>
                      </m:fPr>
                      <m:num>
                        <m:r>
                          <a:rPr lang="ar-DZ" sz="2800" i="0">
                            <a:latin typeface="Cambria Math" panose="02040503050406030204" pitchFamily="18" charset="0"/>
                            <a:cs typeface="+mj-cs"/>
                          </a:rPr>
                          <m:t>1</m:t>
                        </m:r>
                        <m:r>
                          <a:rPr lang="ar-DZ" sz="2800" i="0">
                            <a:latin typeface="Cambria Math" panose="02040503050406030204" pitchFamily="18" charset="0"/>
                            <a:cs typeface="+mj-cs"/>
                          </a:rPr>
                          <m:t>×</m:t>
                        </m:r>
                        <m:sSup>
                          <m:sSupPr>
                            <m:ctrlPr>
                              <a:rPr lang="ar-DZ" sz="2800" i="1">
                                <a:latin typeface="Cambria Math" panose="02040503050406030204" pitchFamily="18" charset="0"/>
                                <a:cs typeface="+mj-cs"/>
                              </a:rPr>
                            </m:ctrlPr>
                          </m:sSupPr>
                          <m:e>
                            <m:r>
                              <a:rPr lang="ar-DZ" sz="2800" i="0">
                                <a:latin typeface="Cambria Math" panose="02040503050406030204" pitchFamily="18" charset="0"/>
                                <a:cs typeface="+mj-cs"/>
                              </a:rPr>
                              <m:t>10</m:t>
                            </m:r>
                          </m:e>
                          <m:sup>
                            <m:r>
                              <a:rPr lang="ar-DZ" sz="2800" i="0">
                                <a:latin typeface="Cambria Math" panose="02040503050406030204" pitchFamily="18" charset="0"/>
                                <a:cs typeface="+mj-cs"/>
                              </a:rPr>
                              <m:t>−</m:t>
                            </m:r>
                            <m:r>
                              <a:rPr lang="ar-DZ" sz="2800" i="0">
                                <a:latin typeface="Cambria Math" panose="02040503050406030204" pitchFamily="18" charset="0"/>
                                <a:cs typeface="+mj-cs"/>
                              </a:rPr>
                              <m:t>6</m:t>
                            </m:r>
                          </m:sup>
                        </m:sSup>
                      </m:num>
                      <m:den>
                        <m:r>
                          <a:rPr lang="ar-DZ" sz="2800" i="0">
                            <a:latin typeface="Cambria Math" panose="02040503050406030204" pitchFamily="18" charset="0"/>
                            <a:cs typeface="+mj-cs"/>
                          </a:rPr>
                          <m:t>0</m:t>
                        </m:r>
                        <m:r>
                          <a:rPr lang="ar-DZ" sz="2800" i="0">
                            <a:latin typeface="Cambria Math" panose="02040503050406030204" pitchFamily="18" charset="0"/>
                            <a:cs typeface="+mj-cs"/>
                          </a:rPr>
                          <m:t>.</m:t>
                        </m:r>
                        <m:r>
                          <a:rPr lang="ar-DZ" sz="2800" i="0">
                            <a:latin typeface="Cambria Math" panose="02040503050406030204" pitchFamily="18" charset="0"/>
                            <a:cs typeface="+mj-cs"/>
                          </a:rPr>
                          <m:t>10</m:t>
                        </m:r>
                      </m:den>
                    </m:f>
                    <m:r>
                      <a:rPr lang="ar-DZ" sz="2800" i="0">
                        <a:latin typeface="Cambria Math" panose="02040503050406030204" pitchFamily="18" charset="0"/>
                        <a:cs typeface="+mj-cs"/>
                      </a:rPr>
                      <m:t>=</m:t>
                    </m:r>
                    <m:r>
                      <a:rPr lang="ar-DZ" sz="2800" i="0">
                        <a:latin typeface="Cambria Math" panose="02040503050406030204" pitchFamily="18" charset="0"/>
                        <a:cs typeface="+mj-cs"/>
                      </a:rPr>
                      <m:t>1</m:t>
                    </m:r>
                    <m:r>
                      <a:rPr lang="ar-DZ" sz="2800" i="0">
                        <a:latin typeface="Cambria Math" panose="02040503050406030204" pitchFamily="18" charset="0"/>
                        <a:cs typeface="+mj-cs"/>
                      </a:rPr>
                      <m:t>×</m:t>
                    </m:r>
                    <m:sSup>
                      <m:sSupPr>
                        <m:ctrlPr>
                          <a:rPr lang="ar-DZ" sz="2800" i="1">
                            <a:latin typeface="Cambria Math" panose="02040503050406030204" pitchFamily="18" charset="0"/>
                            <a:cs typeface="+mj-cs"/>
                          </a:rPr>
                        </m:ctrlPr>
                      </m:sSupPr>
                      <m:e>
                        <m:r>
                          <a:rPr lang="ar-DZ" sz="2800" i="0">
                            <a:latin typeface="Cambria Math" panose="02040503050406030204" pitchFamily="18" charset="0"/>
                            <a:cs typeface="+mj-cs"/>
                          </a:rPr>
                          <m:t>10</m:t>
                        </m:r>
                      </m:e>
                      <m:sup>
                        <m:r>
                          <a:rPr lang="ar-DZ" sz="2800" i="0">
                            <a:latin typeface="Cambria Math" panose="02040503050406030204" pitchFamily="18" charset="0"/>
                            <a:cs typeface="+mj-cs"/>
                          </a:rPr>
                          <m:t>−</m:t>
                        </m:r>
                        <m:r>
                          <a:rPr lang="ar-DZ" sz="2800" i="0">
                            <a:latin typeface="Cambria Math" panose="02040503050406030204" pitchFamily="18" charset="0"/>
                            <a:cs typeface="+mj-cs"/>
                          </a:rPr>
                          <m:t>5</m:t>
                        </m:r>
                      </m:sup>
                    </m:sSup>
                  </m:oMath>
                </a14:m>
                <a:endParaRPr lang="ar-DZ" sz="2800" dirty="0">
                  <a:latin typeface="Times New Roman" panose="02020603050405020304" pitchFamily="18" charset="0"/>
                  <a:cs typeface="Times New Roman" panose="02020603050405020304" pitchFamily="18" charset="0"/>
                </a:endParaRPr>
              </a:p>
              <a:p>
                <a:pPr algn="l">
                  <a:buNone/>
                </a:pPr>
                <a:r>
                  <a:rPr lang="en-US" sz="2800" dirty="0">
                    <a:latin typeface="Times New Roman" panose="02020603050405020304" pitchFamily="18" charset="0"/>
                    <a:cs typeface="Times New Roman" panose="02020603050405020304" pitchFamily="18" charset="0"/>
                  </a:rPr>
                  <a:t>La </a:t>
                </a:r>
                <a:r>
                  <a:rPr lang="en-US" sz="2800" dirty="0" err="1">
                    <a:latin typeface="Times New Roman" panose="02020603050405020304" pitchFamily="18" charset="0"/>
                    <a:cs typeface="Times New Roman" panose="02020603050405020304" pitchFamily="18" charset="0"/>
                  </a:rPr>
                  <a:t>somme</a:t>
                </a:r>
                <a:r>
                  <a:rPr lang="en-US" sz="2800" dirty="0">
                    <a:latin typeface="Times New Roman" panose="02020603050405020304" pitchFamily="18" charset="0"/>
                    <a:cs typeface="Times New Roman" panose="02020603050405020304" pitchFamily="18" charset="0"/>
                  </a:rPr>
                  <a:t>  est: </a:t>
                </a:r>
                <a14:m>
                  <m:oMath xmlns:m="http://schemas.openxmlformats.org/officeDocument/2006/math">
                    <m:r>
                      <a:rPr lang="ar-DZ" sz="2800" i="0">
                        <a:latin typeface="Cambria Math" panose="02040503050406030204" pitchFamily="18" charset="0"/>
                        <a:cs typeface="+mj-cs"/>
                      </a:rPr>
                      <m:t>1</m:t>
                    </m:r>
                    <m:r>
                      <a:rPr lang="ar-DZ" sz="2800" i="0">
                        <a:latin typeface="Cambria Math" panose="02040503050406030204" pitchFamily="18" charset="0"/>
                        <a:cs typeface="+mj-cs"/>
                      </a:rPr>
                      <m:t>.</m:t>
                    </m:r>
                    <m:r>
                      <a:rPr lang="ar-DZ" sz="2800" i="0">
                        <a:latin typeface="Cambria Math" panose="02040503050406030204" pitchFamily="18" charset="0"/>
                        <a:cs typeface="+mj-cs"/>
                      </a:rPr>
                      <m:t>4</m:t>
                    </m:r>
                    <m:r>
                      <a:rPr lang="ar-DZ" sz="2800" i="0">
                        <a:latin typeface="Cambria Math" panose="02040503050406030204" pitchFamily="18" charset="0"/>
                        <a:cs typeface="+mj-cs"/>
                      </a:rPr>
                      <m:t>×</m:t>
                    </m:r>
                    <m:sSup>
                      <m:sSupPr>
                        <m:ctrlPr>
                          <a:rPr lang="ar-DZ" sz="2800" i="1">
                            <a:latin typeface="Cambria Math" panose="02040503050406030204" pitchFamily="18" charset="0"/>
                            <a:cs typeface="+mj-cs"/>
                          </a:rPr>
                        </m:ctrlPr>
                      </m:sSupPr>
                      <m:e>
                        <m:r>
                          <a:rPr lang="ar-DZ" sz="2800" i="0">
                            <a:latin typeface="Cambria Math" panose="02040503050406030204" pitchFamily="18" charset="0"/>
                            <a:cs typeface="+mj-cs"/>
                          </a:rPr>
                          <m:t>10</m:t>
                        </m:r>
                      </m:e>
                      <m:sup>
                        <m:r>
                          <a:rPr lang="ar-DZ" sz="2800" i="0">
                            <a:latin typeface="Cambria Math" panose="02040503050406030204" pitchFamily="18" charset="0"/>
                            <a:cs typeface="+mj-cs"/>
                          </a:rPr>
                          <m:t>−</m:t>
                        </m:r>
                        <m:r>
                          <a:rPr lang="ar-DZ" sz="2800" i="0">
                            <a:latin typeface="Cambria Math" panose="02040503050406030204" pitchFamily="18" charset="0"/>
                            <a:cs typeface="+mj-cs"/>
                          </a:rPr>
                          <m:t>5</m:t>
                        </m:r>
                      </m:sup>
                    </m:sSup>
                  </m:oMath>
                </a14:m>
                <a:endParaRPr lang="ar-DZ" sz="2800" dirty="0">
                  <a:latin typeface="Times New Roman" panose="02020603050405020304" pitchFamily="18" charset="0"/>
                  <a:cs typeface="Times New Roman" panose="02020603050405020304" pitchFamily="18" charset="0"/>
                </a:endParaRPr>
              </a:p>
              <a:p>
                <a:pPr algn="l">
                  <a:buNone/>
                </a:pPr>
                <a:r>
                  <a:rPr lang="en-US" sz="2800" dirty="0" err="1">
                    <a:latin typeface="Times New Roman" panose="02020603050405020304" pitchFamily="18" charset="0"/>
                    <a:cs typeface="Times New Roman" panose="02020603050405020304" pitchFamily="18" charset="0"/>
                  </a:rPr>
                  <a:t>Donc</a:t>
                </a:r>
                <a:r>
                  <a:rPr lang="en-US" sz="2800" dirty="0">
                    <a:latin typeface="Times New Roman" panose="02020603050405020304" pitchFamily="18" charset="0"/>
                    <a:cs typeface="Times New Roman" panose="02020603050405020304" pitchFamily="18" charset="0"/>
                  </a:rPr>
                  <a:t> :</a:t>
                </a:r>
              </a:p>
              <a:p>
                <a:pPr algn="l">
                  <a:buNone/>
                </a:pPr>
                <a14:m>
                  <m:oMathPara xmlns:m="http://schemas.openxmlformats.org/officeDocument/2006/math">
                    <m:oMathParaPr>
                      <m:jc m:val="centerGroup"/>
                    </m:oMathParaPr>
                    <m:oMath xmlns:m="http://schemas.openxmlformats.org/officeDocument/2006/math">
                      <m:r>
                        <a:rPr lang="en-US" sz="2800" b="1" i="1" smtClean="0">
                          <a:solidFill>
                            <a:srgbClr val="FFFF00"/>
                          </a:solidFill>
                          <a:latin typeface="Cambria Math" panose="02040503050406030204" pitchFamily="18" charset="0"/>
                          <a:cs typeface="+mj-cs"/>
                        </a:rPr>
                        <m:t>𝑽</m:t>
                      </m:r>
                      <m:d>
                        <m:dPr>
                          <m:ctrlPr>
                            <a:rPr lang="ar-DZ" sz="2800" b="1" i="1">
                              <a:solidFill>
                                <a:srgbClr val="FFFF00"/>
                              </a:solidFill>
                              <a:latin typeface="Cambria Math" panose="02040503050406030204" pitchFamily="18" charset="0"/>
                              <a:cs typeface="+mj-cs"/>
                            </a:rPr>
                          </m:ctrlPr>
                        </m:dPr>
                        <m:e>
                          <m:r>
                            <a:rPr lang="ar-DZ" sz="2800" b="1" i="1">
                              <a:solidFill>
                                <a:srgbClr val="FFFF00"/>
                              </a:solidFill>
                              <a:latin typeface="Cambria Math" panose="02040503050406030204" pitchFamily="18" charset="0"/>
                              <a:cs typeface="+mj-cs"/>
                            </a:rPr>
                            <m:t>𝑴</m:t>
                          </m:r>
                        </m:e>
                      </m:d>
                      <m:r>
                        <a:rPr lang="ar-DZ" sz="2800" b="1" i="0">
                          <a:solidFill>
                            <a:srgbClr val="FFFF00"/>
                          </a:solidFill>
                          <a:latin typeface="Cambria Math" panose="02040503050406030204" pitchFamily="18" charset="0"/>
                          <a:cs typeface="+mj-cs"/>
                        </a:rPr>
                        <m:t>=</m:t>
                      </m:r>
                      <m:r>
                        <a:rPr lang="ar-DZ" sz="2800" b="1" i="0">
                          <a:solidFill>
                            <a:srgbClr val="FFFF00"/>
                          </a:solidFill>
                          <a:latin typeface="Cambria Math" panose="02040503050406030204" pitchFamily="18" charset="0"/>
                          <a:cs typeface="+mj-cs"/>
                        </a:rPr>
                        <m:t>𝟗</m:t>
                      </m:r>
                      <m:r>
                        <a:rPr lang="ar-DZ" sz="2800" b="1" i="0">
                          <a:solidFill>
                            <a:srgbClr val="FFFF00"/>
                          </a:solidFill>
                          <a:latin typeface="Cambria Math" panose="02040503050406030204" pitchFamily="18" charset="0"/>
                          <a:cs typeface="+mj-cs"/>
                        </a:rPr>
                        <m:t>×</m:t>
                      </m:r>
                      <m:sSup>
                        <m:sSupPr>
                          <m:ctrlPr>
                            <a:rPr lang="ar-DZ" sz="2800" b="1" i="1">
                              <a:solidFill>
                                <a:srgbClr val="FFFF00"/>
                              </a:solidFill>
                              <a:latin typeface="Cambria Math" panose="02040503050406030204" pitchFamily="18" charset="0"/>
                              <a:cs typeface="+mj-cs"/>
                            </a:rPr>
                          </m:ctrlPr>
                        </m:sSupPr>
                        <m:e>
                          <m:r>
                            <a:rPr lang="ar-DZ" sz="2800" b="1" i="0">
                              <a:solidFill>
                                <a:srgbClr val="FFFF00"/>
                              </a:solidFill>
                              <a:latin typeface="Cambria Math" panose="02040503050406030204" pitchFamily="18" charset="0"/>
                              <a:cs typeface="+mj-cs"/>
                            </a:rPr>
                            <m:t>𝟏𝟎</m:t>
                          </m:r>
                        </m:e>
                        <m:sup>
                          <m:r>
                            <a:rPr lang="ar-DZ" sz="2800" b="1" i="0">
                              <a:solidFill>
                                <a:srgbClr val="FFFF00"/>
                              </a:solidFill>
                              <a:latin typeface="Cambria Math" panose="02040503050406030204" pitchFamily="18" charset="0"/>
                              <a:cs typeface="+mj-cs"/>
                            </a:rPr>
                            <m:t>𝟗</m:t>
                          </m:r>
                        </m:sup>
                      </m:sSup>
                      <m:r>
                        <a:rPr lang="ar-DZ" sz="2800" b="1" i="0">
                          <a:solidFill>
                            <a:srgbClr val="FFFF00"/>
                          </a:solidFill>
                          <a:latin typeface="Cambria Math" panose="02040503050406030204" pitchFamily="18" charset="0"/>
                          <a:cs typeface="+mj-cs"/>
                        </a:rPr>
                        <m:t>×</m:t>
                      </m:r>
                      <m:r>
                        <a:rPr lang="ar-DZ" sz="2800" b="1" i="0">
                          <a:solidFill>
                            <a:srgbClr val="FFFF00"/>
                          </a:solidFill>
                          <a:latin typeface="Cambria Math" panose="02040503050406030204" pitchFamily="18" charset="0"/>
                          <a:cs typeface="+mj-cs"/>
                        </a:rPr>
                        <m:t>𝟏</m:t>
                      </m:r>
                      <m:r>
                        <a:rPr lang="ar-DZ" sz="2800" b="1" i="0">
                          <a:solidFill>
                            <a:srgbClr val="FFFF00"/>
                          </a:solidFill>
                          <a:latin typeface="Cambria Math" panose="02040503050406030204" pitchFamily="18" charset="0"/>
                          <a:cs typeface="+mj-cs"/>
                        </a:rPr>
                        <m:t>.</m:t>
                      </m:r>
                      <m:r>
                        <a:rPr lang="ar-DZ" sz="2800" b="1" i="0">
                          <a:solidFill>
                            <a:srgbClr val="FFFF00"/>
                          </a:solidFill>
                          <a:latin typeface="Cambria Math" panose="02040503050406030204" pitchFamily="18" charset="0"/>
                          <a:cs typeface="+mj-cs"/>
                        </a:rPr>
                        <m:t>𝟒</m:t>
                      </m:r>
                      <m:r>
                        <a:rPr lang="ar-DZ" sz="2800" b="1" i="0">
                          <a:solidFill>
                            <a:srgbClr val="FFFF00"/>
                          </a:solidFill>
                          <a:latin typeface="Cambria Math" panose="02040503050406030204" pitchFamily="18" charset="0"/>
                          <a:cs typeface="+mj-cs"/>
                        </a:rPr>
                        <m:t>×</m:t>
                      </m:r>
                      <m:sSup>
                        <m:sSupPr>
                          <m:ctrlPr>
                            <a:rPr lang="ar-DZ" sz="2800" b="1" i="1">
                              <a:solidFill>
                                <a:srgbClr val="FFFF00"/>
                              </a:solidFill>
                              <a:latin typeface="Cambria Math" panose="02040503050406030204" pitchFamily="18" charset="0"/>
                              <a:cs typeface="+mj-cs"/>
                            </a:rPr>
                          </m:ctrlPr>
                        </m:sSupPr>
                        <m:e>
                          <m:r>
                            <a:rPr lang="ar-DZ" sz="2800" b="1" i="0">
                              <a:solidFill>
                                <a:srgbClr val="FFFF00"/>
                              </a:solidFill>
                              <a:latin typeface="Cambria Math" panose="02040503050406030204" pitchFamily="18" charset="0"/>
                              <a:cs typeface="+mj-cs"/>
                            </a:rPr>
                            <m:t>𝟏𝟎</m:t>
                          </m:r>
                        </m:e>
                        <m:sup>
                          <m:r>
                            <a:rPr lang="ar-DZ" sz="2800" b="1" i="0">
                              <a:solidFill>
                                <a:srgbClr val="FFFF00"/>
                              </a:solidFill>
                              <a:latin typeface="Cambria Math" panose="02040503050406030204" pitchFamily="18" charset="0"/>
                              <a:cs typeface="+mj-cs"/>
                            </a:rPr>
                            <m:t>−</m:t>
                          </m:r>
                          <m:r>
                            <a:rPr lang="ar-DZ" sz="2800" b="1" i="0">
                              <a:solidFill>
                                <a:srgbClr val="FFFF00"/>
                              </a:solidFill>
                              <a:latin typeface="Cambria Math" panose="02040503050406030204" pitchFamily="18" charset="0"/>
                              <a:cs typeface="+mj-cs"/>
                            </a:rPr>
                            <m:t>𝟓</m:t>
                          </m:r>
                        </m:sup>
                      </m:sSup>
                    </m:oMath>
                  </m:oMathPara>
                </a14:m>
                <a:endParaRPr lang="ar-DZ" sz="2800" b="1" dirty="0">
                  <a:solidFill>
                    <a:srgbClr val="FFFF00"/>
                  </a:solidFill>
                  <a:latin typeface="Times New Roman" panose="02020603050405020304" pitchFamily="18" charset="0"/>
                  <a:cs typeface="Times New Roman" panose="02020603050405020304" pitchFamily="18" charset="0"/>
                </a:endParaRPr>
              </a:p>
              <a:p>
                <a:pPr algn="l">
                  <a:buNone/>
                </a:pPr>
                <a14:m>
                  <m:oMathPara xmlns:m="http://schemas.openxmlformats.org/officeDocument/2006/math">
                    <m:oMathParaPr>
                      <m:jc m:val="centerGroup"/>
                    </m:oMathParaPr>
                    <m:oMath xmlns:m="http://schemas.openxmlformats.org/officeDocument/2006/math">
                      <m:borderBox>
                        <m:borderBoxPr>
                          <m:ctrlPr>
                            <a:rPr lang="ar-DZ" sz="2800" b="1" i="1">
                              <a:solidFill>
                                <a:srgbClr val="FFFF00"/>
                              </a:solidFill>
                              <a:latin typeface="Cambria Math" panose="02040503050406030204" pitchFamily="18" charset="0"/>
                              <a:cs typeface="+mj-cs"/>
                            </a:rPr>
                          </m:ctrlPr>
                        </m:borderBoxPr>
                        <m:e>
                          <m:r>
                            <a:rPr lang="ar-DZ" sz="2800" b="1" i="1">
                              <a:solidFill>
                                <a:srgbClr val="FFFF00"/>
                              </a:solidFill>
                              <a:latin typeface="Cambria Math" panose="02040503050406030204" pitchFamily="18" charset="0"/>
                              <a:cs typeface="+mj-cs"/>
                            </a:rPr>
                            <m:t>𝑽</m:t>
                          </m:r>
                          <m:d>
                            <m:dPr>
                              <m:ctrlPr>
                                <a:rPr lang="ar-DZ" sz="2800" b="1" i="1">
                                  <a:solidFill>
                                    <a:srgbClr val="FFFF00"/>
                                  </a:solidFill>
                                  <a:latin typeface="Cambria Math" panose="02040503050406030204" pitchFamily="18" charset="0"/>
                                  <a:cs typeface="+mj-cs"/>
                                </a:rPr>
                              </m:ctrlPr>
                            </m:dPr>
                            <m:e>
                              <m:r>
                                <a:rPr lang="ar-DZ" sz="2800" b="1" i="1">
                                  <a:solidFill>
                                    <a:srgbClr val="FFFF00"/>
                                  </a:solidFill>
                                  <a:latin typeface="Cambria Math" panose="02040503050406030204" pitchFamily="18" charset="0"/>
                                  <a:cs typeface="+mj-cs"/>
                                </a:rPr>
                                <m:t>𝑴</m:t>
                              </m:r>
                            </m:e>
                          </m:d>
                          <m:r>
                            <a:rPr lang="ar-DZ" sz="2800" b="1" i="0">
                              <a:solidFill>
                                <a:srgbClr val="FFFF00"/>
                              </a:solidFill>
                              <a:latin typeface="Cambria Math" panose="02040503050406030204" pitchFamily="18" charset="0"/>
                              <a:cs typeface="+mj-cs"/>
                            </a:rPr>
                            <m:t>=</m:t>
                          </m:r>
                          <m:r>
                            <a:rPr lang="ar-DZ" sz="2800" b="1" i="0">
                              <a:solidFill>
                                <a:srgbClr val="FFFF00"/>
                              </a:solidFill>
                              <a:latin typeface="Cambria Math" panose="02040503050406030204" pitchFamily="18" charset="0"/>
                              <a:cs typeface="+mj-cs"/>
                            </a:rPr>
                            <m:t>𝟏</m:t>
                          </m:r>
                          <m:r>
                            <a:rPr lang="ar-DZ" sz="2800" b="1" i="0">
                              <a:solidFill>
                                <a:srgbClr val="FFFF00"/>
                              </a:solidFill>
                              <a:latin typeface="Cambria Math" panose="02040503050406030204" pitchFamily="18" charset="0"/>
                              <a:cs typeface="+mj-cs"/>
                            </a:rPr>
                            <m:t>.</m:t>
                          </m:r>
                          <m:r>
                            <a:rPr lang="ar-DZ" sz="2800" b="1" i="0">
                              <a:solidFill>
                                <a:srgbClr val="FFFF00"/>
                              </a:solidFill>
                              <a:latin typeface="Cambria Math" panose="02040503050406030204" pitchFamily="18" charset="0"/>
                              <a:cs typeface="+mj-cs"/>
                            </a:rPr>
                            <m:t>𝟐𝟔</m:t>
                          </m:r>
                          <m:r>
                            <a:rPr lang="ar-DZ" sz="2800" b="1" i="0">
                              <a:solidFill>
                                <a:srgbClr val="FFFF00"/>
                              </a:solidFill>
                              <a:latin typeface="Cambria Math" panose="02040503050406030204" pitchFamily="18" charset="0"/>
                              <a:cs typeface="+mj-cs"/>
                            </a:rPr>
                            <m:t>×</m:t>
                          </m:r>
                          <m:sSup>
                            <m:sSupPr>
                              <m:ctrlPr>
                                <a:rPr lang="ar-DZ" sz="2800" b="1" i="1">
                                  <a:solidFill>
                                    <a:srgbClr val="FFFF00"/>
                                  </a:solidFill>
                                  <a:latin typeface="Cambria Math" panose="02040503050406030204" pitchFamily="18" charset="0"/>
                                  <a:cs typeface="+mj-cs"/>
                                </a:rPr>
                              </m:ctrlPr>
                            </m:sSupPr>
                            <m:e>
                              <m:r>
                                <a:rPr lang="ar-DZ" sz="2800" b="1" i="0">
                                  <a:solidFill>
                                    <a:srgbClr val="FFFF00"/>
                                  </a:solidFill>
                                  <a:latin typeface="Cambria Math" panose="02040503050406030204" pitchFamily="18" charset="0"/>
                                  <a:cs typeface="+mj-cs"/>
                                </a:rPr>
                                <m:t>𝟏𝟎</m:t>
                              </m:r>
                            </m:e>
                            <m:sup>
                              <m:r>
                                <a:rPr lang="ar-DZ" sz="2800" b="1" i="0">
                                  <a:solidFill>
                                    <a:srgbClr val="FFFF00"/>
                                  </a:solidFill>
                                  <a:latin typeface="Cambria Math" panose="02040503050406030204" pitchFamily="18" charset="0"/>
                                  <a:cs typeface="+mj-cs"/>
                                </a:rPr>
                                <m:t>𝟓</m:t>
                              </m:r>
                            </m:sup>
                          </m:sSup>
                          <m:r>
                            <m:rPr>
                              <m:nor/>
                            </m:rPr>
                            <a:rPr lang="ar-DZ" sz="2800" b="1" i="1">
                              <a:solidFill>
                                <a:srgbClr val="FFFF00"/>
                              </a:solidFill>
                              <a:latin typeface="Times New Roman" panose="02020603050405020304" pitchFamily="18" charset="0"/>
                              <a:cs typeface="Times New Roman" panose="02020603050405020304" pitchFamily="18" charset="0"/>
                            </a:rPr>
                            <m:t> </m:t>
                          </m:r>
                          <m:r>
                            <m:rPr>
                              <m:nor/>
                            </m:rPr>
                            <a:rPr lang="en-US" sz="2800" b="1" i="1">
                              <a:solidFill>
                                <a:srgbClr val="FFFF00"/>
                              </a:solidFill>
                              <a:latin typeface="Times New Roman" panose="02020603050405020304" pitchFamily="18" charset="0"/>
                              <a:cs typeface="Times New Roman" panose="02020603050405020304" pitchFamily="18" charset="0"/>
                            </a:rPr>
                            <m:t>volts</m:t>
                          </m:r>
                        </m:e>
                      </m:borderBox>
                    </m:oMath>
                  </m:oMathPara>
                </a14:m>
                <a:endParaRPr lang="ar-DZ" sz="2800" b="1" dirty="0">
                  <a:latin typeface="Times New Roman" panose="02020603050405020304" pitchFamily="18" charset="0"/>
                  <a:cs typeface="Times New Roman" panose="02020603050405020304" pitchFamily="18" charset="0"/>
                </a:endParaRPr>
              </a:p>
              <a:p>
                <a:pPr algn="l">
                  <a:buNone/>
                </a:pPr>
                <a:endParaRPr lang="ar-DZ" sz="2800" dirty="0">
                  <a:latin typeface="Times New Roman" panose="02020603050405020304" pitchFamily="18" charset="0"/>
                  <a:cs typeface="Times New Roman" panose="02020603050405020304" pitchFamily="18" charset="0"/>
                </a:endParaRPr>
              </a:p>
              <a:p>
                <a:pPr algn="l">
                  <a:buNone/>
                </a:pPr>
                <a:r>
                  <a:rPr lang="fr-DZ"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Conclusion :</a:t>
                </a:r>
              </a:p>
              <a:p>
                <a:pPr algn="l">
                  <a:buNone/>
                </a:pPr>
                <a:r>
                  <a:rPr lang="en-US" sz="2800" dirty="0">
                    <a:latin typeface="Times New Roman" panose="02020603050405020304" pitchFamily="18" charset="0"/>
                    <a:cs typeface="Times New Roman" panose="02020603050405020304" pitchFamily="18" charset="0"/>
                  </a:rPr>
                  <a:t>Le </a:t>
                </a:r>
                <a:r>
                  <a:rPr lang="en-US" sz="2800" dirty="0" err="1">
                    <a:latin typeface="Times New Roman" panose="02020603050405020304" pitchFamily="18" charset="0"/>
                    <a:cs typeface="Times New Roman" panose="02020603050405020304" pitchFamily="18" charset="0"/>
                  </a:rPr>
                  <a:t>potentiel</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électrique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produit</a:t>
                </a:r>
                <a:r>
                  <a:rPr lang="en-US" sz="2800" dirty="0">
                    <a:latin typeface="Times New Roman" panose="02020603050405020304" pitchFamily="18" charset="0"/>
                    <a:cs typeface="Times New Roman" panose="02020603050405020304" pitchFamily="18" charset="0"/>
                  </a:rPr>
                  <a:t> par </a:t>
                </a:r>
                <a:r>
                  <a:rPr lang="en-US" sz="2800" dirty="0" err="1">
                    <a:latin typeface="Times New Roman" panose="02020603050405020304" pitchFamily="18" charset="0"/>
                    <a:cs typeface="Times New Roman" panose="02020603050405020304" pitchFamily="18" charset="0"/>
                  </a:rPr>
                  <a:t>plusieurs</a:t>
                </a:r>
                <a:r>
                  <a:rPr lang="en-US" sz="2800" dirty="0">
                    <a:latin typeface="Times New Roman" panose="02020603050405020304" pitchFamily="18" charset="0"/>
                    <a:cs typeface="Times New Roman" panose="02020603050405020304" pitchFamily="18" charset="0"/>
                  </a:rPr>
                  <a:t> charges est </a:t>
                </a:r>
                <a:r>
                  <a:rPr lang="en-US" sz="2800" dirty="0" err="1">
                    <a:latin typeface="Times New Roman" panose="02020603050405020304" pitchFamily="18" charset="0"/>
                    <a:cs typeface="Times New Roman" panose="02020603050405020304" pitchFamily="18" charset="0"/>
                  </a:rPr>
                  <a:t>simplement</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la </a:t>
                </a:r>
                <a:r>
                  <a:rPr lang="en-US" sz="2800" b="1" dirty="0" err="1">
                    <a:latin typeface="Times New Roman" panose="02020603050405020304" pitchFamily="18" charset="0"/>
                    <a:cs typeface="Times New Roman" panose="02020603050405020304" pitchFamily="18" charset="0"/>
                  </a:rPr>
                  <a:t>somme</a:t>
                </a:r>
                <a:r>
                  <a:rPr lang="en-US" sz="2800" b="1" dirty="0">
                    <a:latin typeface="Times New Roman" panose="02020603050405020304" pitchFamily="18" charset="0"/>
                    <a:cs typeface="Times New Roman" panose="02020603050405020304" pitchFamily="18" charset="0"/>
                  </a:rPr>
                  <a:t> des</a:t>
                </a:r>
              </a:p>
              <a:p>
                <a:pPr algn="l">
                  <a:buNone/>
                </a:pPr>
                <a:r>
                  <a:rPr lang="en-US" sz="2800" b="1" dirty="0" err="1">
                    <a:latin typeface="Times New Roman" panose="02020603050405020304" pitchFamily="18" charset="0"/>
                    <a:cs typeface="Times New Roman" panose="02020603050405020304" pitchFamily="18" charset="0"/>
                  </a:rPr>
                  <a:t>potentiels</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individuels</a:t>
                </a:r>
                <a:r>
                  <a:rPr lang="en-US" sz="2800" dirty="0">
                    <a:latin typeface="Times New Roman" panose="02020603050405020304" pitchFamily="18" charset="0"/>
                    <a:cs typeface="Times New Roman" panose="02020603050405020304" pitchFamily="18" charset="0"/>
                  </a:rPr>
                  <a:t>, car le </a:t>
                </a:r>
                <a:r>
                  <a:rPr lang="en-US" sz="2800" dirty="0" err="1">
                    <a:latin typeface="Times New Roman" panose="02020603050405020304" pitchFamily="18" charset="0"/>
                    <a:cs typeface="Times New Roman" panose="02020603050405020304" pitchFamily="18" charset="0"/>
                  </a:rPr>
                  <a:t>potentiel</a:t>
                </a:r>
                <a:r>
                  <a:rPr lang="en-US" sz="2800" dirty="0">
                    <a:latin typeface="Times New Roman" panose="02020603050405020304" pitchFamily="18" charset="0"/>
                    <a:cs typeface="Times New Roman" panose="02020603050405020304" pitchFamily="18" charset="0"/>
                  </a:rPr>
                  <a:t> est </a:t>
                </a:r>
                <a:r>
                  <a:rPr lang="en-US" sz="2800" dirty="0" err="1">
                    <a:latin typeface="Times New Roman" panose="02020603050405020304" pitchFamily="18" charset="0"/>
                    <a:cs typeface="Times New Roman" panose="02020603050405020304" pitchFamily="18" charset="0"/>
                  </a:rPr>
                  <a:t>une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grandeur </a:t>
                </a:r>
                <a:r>
                  <a:rPr lang="en-US" sz="2800" b="1" dirty="0" err="1">
                    <a:latin typeface="Times New Roman" panose="02020603050405020304" pitchFamily="18" charset="0"/>
                    <a:cs typeface="Times New Roman" panose="02020603050405020304" pitchFamily="18" charset="0"/>
                  </a:rPr>
                  <a:t>scalaire</a:t>
                </a:r>
                <a:r>
                  <a:rPr lang="en-US" sz="2800" b="1" dirty="0">
                    <a:latin typeface="Times New Roman" panose="02020603050405020304" pitchFamily="18" charset="0"/>
                    <a:cs typeface="Times New Roman" panose="02020603050405020304" pitchFamily="18" charset="0"/>
                  </a:rPr>
                  <a:t>.</a:t>
                </a:r>
                <a:endParaRPr lang="fr-FR" dirty="0"/>
              </a:p>
            </p:txBody>
          </p:sp>
        </mc:Choice>
        <mc:Fallback xmlns="">
          <p:sp>
            <p:nvSpPr>
              <p:cNvPr id="3" name="Espace réservé du texte 2">
                <a:extLst>
                  <a:ext uri="{FF2B5EF4-FFF2-40B4-BE49-F238E27FC236}">
                    <a16:creationId xmlns:a16="http://schemas.microsoft.com/office/drawing/2014/main" id="{834CAF36-C964-C252-BD5B-0A10E6ADC5F6}"/>
                  </a:ext>
                </a:extLst>
              </p:cNvPr>
              <p:cNvSpPr>
                <a:spLocks noGrp="1" noRot="1" noChangeAspect="1" noMove="1" noResize="1" noEditPoints="1" noAdjustHandles="1" noChangeArrowheads="1" noChangeShapeType="1" noTextEdit="1"/>
              </p:cNvSpPr>
              <p:nvPr>
                <p:ph type="body" idx="1"/>
              </p:nvPr>
            </p:nvSpPr>
            <p:spPr>
              <a:xfrm>
                <a:off x="0" y="0"/>
                <a:ext cx="12192000" cy="6988629"/>
              </a:xfrm>
              <a:blipFill>
                <a:blip r:embed="rId2"/>
                <a:stretch>
                  <a:fillRect r="-948"/>
                </a:stretch>
              </a:blipFill>
            </p:spPr>
            <p:txBody>
              <a:bodyPr/>
              <a:lstStyle/>
              <a:p>
                <a:r>
                  <a:rPr lang="fr-DZ">
                    <a:noFill/>
                  </a:rPr>
                  <a:t> </a:t>
                </a:r>
              </a:p>
            </p:txBody>
          </p:sp>
        </mc:Fallback>
      </mc:AlternateContent>
    </p:spTree>
    <p:extLst>
      <p:ext uri="{BB962C8B-B14F-4D97-AF65-F5344CB8AC3E}">
        <p14:creationId xmlns:p14="http://schemas.microsoft.com/office/powerpoint/2010/main" val="19088154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909351-06A9-B749-FDEF-F94FDFD1C434}"/>
              </a:ext>
            </a:extLst>
          </p:cNvPr>
          <p:cNvSpPr>
            <a:spLocks noGrp="1"/>
          </p:cNvSpPr>
          <p:nvPr>
            <p:ph type="title"/>
          </p:nvPr>
        </p:nvSpPr>
        <p:spPr>
          <a:xfrm>
            <a:off x="685800" y="141515"/>
            <a:ext cx="10820400" cy="1621971"/>
          </a:xfrm>
        </p:spPr>
        <p:txBody>
          <a:bodyPr>
            <a:normAutofit/>
          </a:bodyPr>
          <a:lstStyle/>
          <a:p>
            <a:pPr algn="ctr"/>
            <a:r>
              <a:rPr kumimoji="0" lang="fr-DZ" sz="3600" b="1" i="0" u="none" strike="noStrike" kern="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sym typeface="Century Gothic"/>
              </a:rPr>
              <a:t>⭐</a:t>
            </a:r>
            <a:r>
              <a:rPr lang="fr-FR" sz="4800"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Interprétation physique</a:t>
            </a:r>
            <a:br>
              <a:rPr lang="fr-FR" sz="4800"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kumimoji="0" lang="fr-FR" sz="36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en-US" sz="4400" b="1" dirty="0">
                <a:solidFill>
                  <a:schemeClr val="accent1"/>
                </a:solidFill>
                <a:latin typeface="Times New Roman" panose="02020603050405020304" pitchFamily="18" charset="0"/>
                <a:cs typeface="Times New Roman" panose="02020603050405020304" pitchFamily="18" charset="0"/>
              </a:rPr>
              <a:t>Physical Interpretation</a:t>
            </a:r>
            <a:endParaRPr lang="fr-FR" sz="4800" noProof="0" dirty="0">
              <a:solidFill>
                <a:srgbClr val="FFC000"/>
              </a:solidFill>
            </a:endParaRPr>
          </a:p>
        </p:txBody>
      </p:sp>
      <p:sp>
        <p:nvSpPr>
          <p:cNvPr id="3" name="Espace réservé du texte 2">
            <a:extLst>
              <a:ext uri="{FF2B5EF4-FFF2-40B4-BE49-F238E27FC236}">
                <a16:creationId xmlns:a16="http://schemas.microsoft.com/office/drawing/2014/main" id="{56D8C810-C939-2286-6A6E-C0A2DC745548}"/>
              </a:ext>
            </a:extLst>
          </p:cNvPr>
          <p:cNvSpPr>
            <a:spLocks noGrp="1"/>
          </p:cNvSpPr>
          <p:nvPr>
            <p:ph type="body" idx="1"/>
          </p:nvPr>
        </p:nvSpPr>
        <p:spPr>
          <a:xfrm>
            <a:off x="0" y="2383971"/>
            <a:ext cx="12104913" cy="4093029"/>
          </a:xfrm>
          <a:solidFill>
            <a:schemeClr val="bg2">
              <a:lumMod val="75000"/>
            </a:schemeClr>
          </a:solidFill>
        </p:spPr>
        <p:txBody>
          <a:bodyPr>
            <a:normAutofit/>
          </a:bodyPr>
          <a:lstStyle/>
          <a:p>
            <a:pPr marL="342900" lvl="0" indent="-342900" algn="l">
              <a:lnSpc>
                <a:spcPct val="115000"/>
              </a:lnSpc>
              <a:spcAft>
                <a:spcPts val="800"/>
              </a:spcAft>
              <a:buSzPts val="1000"/>
              <a:buFont typeface="Wingdings" panose="05000000000000000000" pitchFamily="2" charset="2"/>
              <a:buChar char="Ø"/>
              <a:tabLst>
                <a:tab pos="457200" algn="l"/>
              </a:tabLst>
            </a:pP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Le champ électrique </a:t>
            </a:r>
            <a:r>
              <a:rPr lang="fr-FR" sz="3200" b="1" kern="0" noProof="0" dirty="0">
                <a:effectLst/>
                <a:latin typeface="Times New Roman" panose="02020603050405020304" pitchFamily="18" charset="0"/>
                <a:ea typeface="Times New Roman" panose="02020603050405020304" pitchFamily="18" charset="0"/>
                <a:cs typeface="Arial" panose="020B0604020202020204" pitchFamily="34" charset="0"/>
              </a:rPr>
              <a:t>indique </a:t>
            </a:r>
            <a:r>
              <a:rPr lang="fr-FR" sz="3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la direction </a:t>
            </a:r>
            <a:r>
              <a:rPr lang="fr-FR" sz="3200" b="1" kern="0" noProof="0" dirty="0">
                <a:effectLst/>
                <a:latin typeface="Times New Roman" panose="02020603050405020304" pitchFamily="18" charset="0"/>
                <a:ea typeface="Times New Roman" panose="02020603050405020304" pitchFamily="18" charset="0"/>
                <a:cs typeface="Arial" panose="020B0604020202020204" pitchFamily="34" charset="0"/>
              </a:rPr>
              <a:t>et </a:t>
            </a:r>
            <a:r>
              <a:rPr lang="fr-FR" sz="3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le sens</a:t>
            </a:r>
            <a:r>
              <a:rPr lang="fr-FR" sz="3200"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dans lesquels une </a:t>
            </a:r>
            <a:r>
              <a:rPr lang="fr-FR" sz="3200" u="sng" kern="0" noProof="0" dirty="0">
                <a:effectLst/>
                <a:latin typeface="Times New Roman" panose="02020603050405020304" pitchFamily="18" charset="0"/>
                <a:ea typeface="Times New Roman" panose="02020603050405020304" pitchFamily="18" charset="0"/>
                <a:cs typeface="Arial" panose="020B0604020202020204" pitchFamily="34" charset="0"/>
              </a:rPr>
              <a:t>charge positive </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serait </a:t>
            </a:r>
            <a:r>
              <a:rPr lang="fr-FR" sz="3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accélérée</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a:lnSpc>
                <a:spcPct val="115000"/>
              </a:lnSpc>
              <a:spcAft>
                <a:spcPts val="800"/>
              </a:spcAft>
              <a:buSzPts val="1000"/>
              <a:buFont typeface="Wingdings" panose="05000000000000000000" pitchFamily="2" charset="2"/>
              <a:buChar char="Ø"/>
              <a:tabLst>
                <a:tab pos="457200" algn="l"/>
              </a:tabLst>
            </a:pP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Le potentiel électrique </a:t>
            </a:r>
            <a:r>
              <a:rPr lang="fr-FR" sz="3200" b="1" kern="0" noProof="0" dirty="0">
                <a:effectLst/>
                <a:latin typeface="Times New Roman" panose="02020603050405020304" pitchFamily="18" charset="0"/>
                <a:ea typeface="Times New Roman" panose="02020603050405020304" pitchFamily="18" charset="0"/>
                <a:cs typeface="Arial" panose="020B0604020202020204" pitchFamily="34" charset="0"/>
              </a:rPr>
              <a:t>indique la « </a:t>
            </a:r>
            <a:r>
              <a:rPr lang="fr-FR" sz="3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hauteur énergétique »</a:t>
            </a:r>
            <a:r>
              <a:rPr lang="fr-FR" sz="3200"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d’un point dans le champ.</a:t>
            </a:r>
            <a:b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b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Ainsi, le champ est analogue à </a:t>
            </a:r>
            <a:r>
              <a:rPr lang="fr-FR" sz="3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la pente d’un relief</a:t>
            </a:r>
            <a:r>
              <a:rPr lang="fr-FR" sz="3200"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plus la pente est forte, plus le champ est intense.</a:t>
            </a: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p:spTree>
    <p:extLst>
      <p:ext uri="{BB962C8B-B14F-4D97-AF65-F5344CB8AC3E}">
        <p14:creationId xmlns:p14="http://schemas.microsoft.com/office/powerpoint/2010/main" val="37512338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AA230A-1B42-24FD-E032-554C66B89E89}"/>
              </a:ext>
            </a:extLst>
          </p:cNvPr>
          <p:cNvSpPr>
            <a:spLocks noGrp="1"/>
          </p:cNvSpPr>
          <p:nvPr>
            <p:ph type="title"/>
          </p:nvPr>
        </p:nvSpPr>
        <p:spPr>
          <a:xfrm>
            <a:off x="685800" y="162047"/>
            <a:ext cx="10749988" cy="1215340"/>
          </a:xfrm>
        </p:spPr>
        <p:txBody>
          <a:bodyPr>
            <a:normAutofit/>
          </a:bodyPr>
          <a:lstStyle/>
          <a:p>
            <a:pPr algn="ctr"/>
            <a:r>
              <a:rPr lang="fr-FR" b="1" noProof="0" dirty="0">
                <a:solidFill>
                  <a:srgbClr val="FFC000"/>
                </a:solidFill>
                <a:latin typeface="Segoe UI Emoji" panose="020B0502040204020203" pitchFamily="34" charset="0"/>
                <a:ea typeface="Times New Roman" panose="02020603050405020304" pitchFamily="18" charset="0"/>
                <a:cs typeface="Segoe UI Emoji" panose="020B0502040204020203" pitchFamily="34" charset="0"/>
              </a:rPr>
              <a:t>💬</a:t>
            </a: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Remarques</a:t>
            </a:r>
            <a:b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lang="en-US" b="1" noProof="0" dirty="0">
                <a:solidFill>
                  <a:schemeClr val="accent1"/>
                </a:solidFill>
                <a:latin typeface="Times New Roman" panose="02020603050405020304" pitchFamily="18" charset="0"/>
                <a:ea typeface="Times New Roman" panose="02020603050405020304" pitchFamily="18" charset="0"/>
                <a:cs typeface="Arial" panose="020B0604020202020204" pitchFamily="34" charset="0"/>
              </a:rPr>
              <a:t>H</a:t>
            </a:r>
            <a:r>
              <a:rPr lang="en-US" b="1" dirty="0" err="1">
                <a:solidFill>
                  <a:schemeClr val="accent1"/>
                </a:solidFill>
                <a:latin typeface="Times New Roman" panose="02020603050405020304" pitchFamily="18" charset="0"/>
                <a:ea typeface="Times New Roman" panose="02020603050405020304" pitchFamily="18" charset="0"/>
                <a:cs typeface="Arial" panose="020B0604020202020204" pitchFamily="34" charset="0"/>
              </a:rPr>
              <a:t>elpful</a:t>
            </a:r>
            <a:r>
              <a:rPr lang="en-US" b="1" dirty="0">
                <a:solidFill>
                  <a:schemeClr val="accent1"/>
                </a:solidFill>
                <a:latin typeface="Times New Roman" panose="02020603050405020304" pitchFamily="18" charset="0"/>
                <a:ea typeface="Times New Roman" panose="02020603050405020304" pitchFamily="18" charset="0"/>
                <a:cs typeface="Arial" panose="020B0604020202020204" pitchFamily="34" charset="0"/>
              </a:rPr>
              <a:t> Remarks.</a:t>
            </a:r>
            <a:endParaRPr lang="fr-FR"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F35B6B37-8606-6FD9-8A7A-E92B729FA198}"/>
                  </a:ext>
                </a:extLst>
              </p:cNvPr>
              <p:cNvSpPr>
                <a:spLocks noGrp="1"/>
              </p:cNvSpPr>
              <p:nvPr>
                <p:ph type="body" idx="1"/>
              </p:nvPr>
            </p:nvSpPr>
            <p:spPr>
              <a:xfrm>
                <a:off x="0" y="1377387"/>
                <a:ext cx="12191999" cy="5660021"/>
              </a:xfrm>
              <a:solidFill>
                <a:schemeClr val="accent1">
                  <a:lumMod val="75000"/>
                </a:schemeClr>
              </a:solidFill>
              <a:scene3d>
                <a:camera prst="orthographicFront"/>
                <a:lightRig rig="threePt" dir="t"/>
              </a:scene3d>
              <a:sp3d>
                <a:bevelT w="114300" prst="artDeco"/>
              </a:sp3d>
            </p:spPr>
            <p:txBody>
              <a:bodyPr>
                <a:normAutofit lnSpcReduction="10000"/>
              </a:bodyPr>
              <a:lstStyle/>
              <a:p>
                <a:pPr marL="342900" lvl="0" indent="-342900" algn="l">
                  <a:lnSpc>
                    <a:spcPct val="115000"/>
                  </a:lnSpc>
                  <a:spcAft>
                    <a:spcPts val="800"/>
                  </a:spcAft>
                  <a:buSzPts val="1000"/>
                  <a:buFont typeface="Wingdings" panose="05000000000000000000" pitchFamily="2" charset="2"/>
                  <a:buChar char="Ø"/>
                  <a:tabLst>
                    <a:tab pos="457200" algn="l"/>
                  </a:tabLst>
                </a:pPr>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Le potentiel électrique est une </a:t>
                </a:r>
                <a:r>
                  <a:rPr lang="fr-FR" sz="3000" b="1" kern="0" noProof="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grandeur scalaire</a:t>
                </a:r>
                <a:r>
                  <a:rPr lang="fr-FR" sz="3000" kern="0" noProof="0" dirty="0">
                    <a:solidFill>
                      <a:schemeClr val="accent2"/>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(contrairement au champ </a:t>
                </a:r>
                <a14:m>
                  <m:oMath xmlns:m="http://schemas.openxmlformats.org/officeDocument/2006/math">
                    <m:acc>
                      <m:accPr>
                        <m:chr m:val="⃗"/>
                        <m:ctrlP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𝐸</m:t>
                        </m:r>
                      </m:e>
                    </m:acc>
                  </m:oMath>
                </a14:m>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 qui est vectoriel).</a:t>
                </a:r>
                <a:r>
                  <a:rPr lang="en-US" sz="3000" dirty="0">
                    <a:latin typeface="Times New Roman" panose="02020603050405020304" pitchFamily="18" charset="0"/>
                    <a:ea typeface="Times New Roman" panose="02020603050405020304" pitchFamily="18" charset="0"/>
                    <a:cs typeface="Times New Roman" panose="02020603050405020304" pitchFamily="18" charset="0"/>
                  </a:rPr>
                  <a:t> </a:t>
                </a:r>
              </a:p>
              <a:p>
                <a:pPr marL="342900" lvl="0" indent="-342900" algn="l">
                  <a:lnSpc>
                    <a:spcPct val="115000"/>
                  </a:lnSpc>
                  <a:spcAft>
                    <a:spcPts val="800"/>
                  </a:spcAft>
                  <a:buSzPts val="1000"/>
                  <a:buFont typeface="Wingdings" panose="05000000000000000000" pitchFamily="2" charset="2"/>
                  <a:buChar char="Ø"/>
                  <a:tabLst>
                    <a:tab pos="457200" algn="l"/>
                  </a:tabLst>
                </a:pPr>
                <a:r>
                  <a:rPr lang="en-US" sz="3000" dirty="0">
                    <a:latin typeface="Times New Roman" panose="02020603050405020304" pitchFamily="18" charset="0"/>
                    <a:ea typeface="Times New Roman" panose="02020603050405020304" pitchFamily="18" charset="0"/>
                    <a:cs typeface="Times New Roman" panose="02020603050405020304" pitchFamily="18" charset="0"/>
                  </a:rPr>
                  <a:t>“Electric potential is a scalar quantity (unlike the electric field 𝐸⃗, which is a vector).”</a:t>
                </a:r>
                <a:endParaRPr lang="fr-FR" sz="30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l">
                  <a:lnSpc>
                    <a:spcPct val="115000"/>
                  </a:lnSpc>
                  <a:spcAft>
                    <a:spcPts val="800"/>
                  </a:spcAft>
                  <a:buSzPts val="1000"/>
                  <a:buFont typeface="Wingdings" panose="05000000000000000000" pitchFamily="2" charset="2"/>
                  <a:buChar char="Ø"/>
                  <a:tabLst>
                    <a:tab pos="457200" algn="l"/>
                  </a:tabLst>
                </a:pPr>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Par convention, </a:t>
                </a:r>
                <a:r>
                  <a:rPr lang="fr-FR" sz="3000" b="1" kern="0" noProof="0" dirty="0">
                    <a:solidFill>
                      <a:srgbClr val="FFFF00"/>
                    </a:solidFill>
                    <a:effectLst/>
                    <a:latin typeface="Times New Roman" panose="02020603050405020304" pitchFamily="18" charset="0"/>
                    <a:ea typeface="Times New Roman" panose="02020603050405020304" pitchFamily="18" charset="0"/>
                    <a:cs typeface="Times New Roman" panose="02020603050405020304" pitchFamily="18" charset="0"/>
                  </a:rPr>
                  <a:t>le potentiel à l’infini est nul </a:t>
                </a:r>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fr-FR" sz="30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𝑽</m:t>
                    </m:r>
                    <m:r>
                      <a:rPr lang="fr-FR" sz="30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𝟎</m:t>
                    </m:r>
                  </m:oMath>
                </a14:m>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342900" lvl="0" indent="-342900" algn="l">
                  <a:lnSpc>
                    <a:spcPct val="115000"/>
                  </a:lnSpc>
                  <a:spcAft>
                    <a:spcPts val="800"/>
                  </a:spcAft>
                  <a:buSzPts val="1000"/>
                  <a:buFont typeface="Wingdings" panose="05000000000000000000" pitchFamily="2" charset="2"/>
                  <a:buChar char="Ø"/>
                  <a:tabLst>
                    <a:tab pos="457200" algn="l"/>
                  </a:tabLst>
                </a:pPr>
                <a:r>
                  <a:rPr lang="en-US" sz="3000" kern="100" noProof="0" dirty="0">
                    <a:effectLst/>
                    <a:latin typeface="Times New Roman" panose="02020603050405020304" pitchFamily="18" charset="0"/>
                    <a:ea typeface="Aptos" panose="020B0004020202020204" pitchFamily="34" charset="0"/>
                    <a:cs typeface="Times New Roman" panose="02020603050405020304" pitchFamily="18" charset="0"/>
                  </a:rPr>
                  <a:t>“By convention, </a:t>
                </a:r>
                <a:r>
                  <a:rPr lang="en-US" sz="3000" b="1" kern="100" noProof="0" dirty="0">
                    <a:solidFill>
                      <a:srgbClr val="FFFF00"/>
                    </a:solidFill>
                    <a:effectLst/>
                    <a:latin typeface="Times New Roman" panose="02020603050405020304" pitchFamily="18" charset="0"/>
                    <a:ea typeface="Aptos" panose="020B0004020202020204" pitchFamily="34" charset="0"/>
                    <a:cs typeface="Times New Roman" panose="02020603050405020304" pitchFamily="18" charset="0"/>
                  </a:rPr>
                  <a:t>the potential at infinity is zero</a:t>
                </a:r>
                <a:r>
                  <a:rPr lang="en-US" sz="3000" kern="100" noProof="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3000" b="1" kern="100" noProof="0" dirty="0">
                    <a:solidFill>
                      <a:srgbClr val="FFFF00"/>
                    </a:solidFill>
                    <a:effectLst/>
                    <a:latin typeface="Times New Roman" panose="02020603050405020304" pitchFamily="18" charset="0"/>
                    <a:ea typeface="Aptos" panose="020B0004020202020204" pitchFamily="34" charset="0"/>
                    <a:cs typeface="Times New Roman" panose="02020603050405020304" pitchFamily="18" charset="0"/>
                  </a:rPr>
                  <a:t>𝑉(∞) = 0</a:t>
                </a:r>
                <a:r>
                  <a:rPr lang="en-US" sz="3000" kern="100" noProof="0" dirty="0">
                    <a:effectLst/>
                    <a:latin typeface="Times New Roman" panose="02020603050405020304" pitchFamily="18" charset="0"/>
                    <a:ea typeface="Aptos" panose="020B0004020202020204" pitchFamily="34" charset="0"/>
                    <a:cs typeface="Times New Roman" panose="02020603050405020304" pitchFamily="18" charset="0"/>
                  </a:rPr>
                  <a:t>.”</a:t>
                </a:r>
                <a:endParaRPr lang="fr-FR" sz="30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l">
                  <a:lnSpc>
                    <a:spcPct val="115000"/>
                  </a:lnSpc>
                  <a:spcAft>
                    <a:spcPts val="800"/>
                  </a:spcAft>
                  <a:buSzPts val="1000"/>
                  <a:buFont typeface="Wingdings" panose="05000000000000000000" pitchFamily="2" charset="2"/>
                  <a:buChar char="Ø"/>
                  <a:tabLst>
                    <a:tab pos="457200" algn="l"/>
                  </a:tabLst>
                </a:pPr>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Si les charges sont </a:t>
                </a:r>
                <a:r>
                  <a:rPr lang="fr-FR" sz="3000" b="1" kern="0" noProof="0" dirty="0">
                    <a:effectLst/>
                    <a:latin typeface="Times New Roman" panose="02020603050405020304" pitchFamily="18" charset="0"/>
                    <a:ea typeface="Times New Roman" panose="02020603050405020304" pitchFamily="18" charset="0"/>
                    <a:cs typeface="Times New Roman" panose="02020603050405020304" pitchFamily="18" charset="0"/>
                  </a:rPr>
                  <a:t>positives</a:t>
                </a:r>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fr-FR" sz="30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fr-FR" sz="30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𝑀</m:t>
                    </m:r>
                    <m:r>
                      <a:rPr lang="fr-FR" sz="30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)&gt;</m:t>
                    </m:r>
                    <m:r>
                      <a:rPr lang="fr-FR" sz="30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0</m:t>
                    </m:r>
                  </m:oMath>
                </a14:m>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 si elles sont </a:t>
                </a:r>
                <a:r>
                  <a:rPr lang="fr-FR" sz="3000" b="1" kern="0" noProof="0" dirty="0">
                    <a:effectLst/>
                    <a:latin typeface="Times New Roman" panose="02020603050405020304" pitchFamily="18" charset="0"/>
                    <a:ea typeface="Times New Roman" panose="02020603050405020304" pitchFamily="18" charset="0"/>
                    <a:cs typeface="Times New Roman" panose="02020603050405020304" pitchFamily="18" charset="0"/>
                  </a:rPr>
                  <a:t>négatives</a:t>
                </a:r>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fr-FR" sz="30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fr-FR" sz="30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𝑀</m:t>
                    </m:r>
                    <m:r>
                      <a:rPr lang="fr-FR" sz="30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)&lt;</m:t>
                    </m:r>
                    <m:r>
                      <a:rPr lang="fr-FR" sz="300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0</m:t>
                    </m:r>
                  </m:oMath>
                </a14:m>
                <a:r>
                  <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342900" lvl="0" indent="-342900" algn="l">
                  <a:lnSpc>
                    <a:spcPct val="115000"/>
                  </a:lnSpc>
                  <a:spcAft>
                    <a:spcPts val="800"/>
                  </a:spcAft>
                  <a:buSzPts val="1000"/>
                  <a:buFont typeface="Wingdings" panose="05000000000000000000" pitchFamily="2" charset="2"/>
                  <a:buChar char="Ø"/>
                  <a:tabLst>
                    <a:tab pos="457200" algn="l"/>
                  </a:tabLst>
                </a:pPr>
                <a:r>
                  <a:rPr lang="en-US"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“If the charges are positive, </a:t>
                </a:r>
                <a:r>
                  <a:rPr lang="en-US" sz="3000" b="1" kern="0" noProof="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𝑉(𝑀) &gt; 0</a:t>
                </a:r>
                <a:r>
                  <a:rPr lang="en-US"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 if they are negative, </a:t>
                </a:r>
                <a:r>
                  <a:rPr lang="en-US" sz="3000" b="1" kern="0" noProof="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𝑉(𝑀) &lt; 0</a:t>
                </a:r>
                <a:r>
                  <a:rPr lang="en-US" sz="3000" kern="0" noProof="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fr-FR" sz="3000" kern="0" noProof="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l">
                  <a:lnSpc>
                    <a:spcPct val="115000"/>
                  </a:lnSpc>
                  <a:spcAft>
                    <a:spcPts val="800"/>
                  </a:spcAft>
                  <a:buSzPts val="1000"/>
                  <a:buFont typeface="Wingdings" panose="05000000000000000000" pitchFamily="2" charset="2"/>
                  <a:buChar char="Ø"/>
                  <a:tabLst>
                    <a:tab pos="457200" algn="l"/>
                  </a:tabLst>
                </a:pPr>
                <a:endParaRPr lang="fr-FR" sz="30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mc:Choice>
        <mc:Fallback xmlns="">
          <p:sp>
            <p:nvSpPr>
              <p:cNvPr id="3" name="Espace réservé du texte 2">
                <a:extLst>
                  <a:ext uri="{FF2B5EF4-FFF2-40B4-BE49-F238E27FC236}">
                    <a16:creationId xmlns:a16="http://schemas.microsoft.com/office/drawing/2014/main" id="{F35B6B37-8606-6FD9-8A7A-E92B729FA198}"/>
                  </a:ext>
                </a:extLst>
              </p:cNvPr>
              <p:cNvSpPr>
                <a:spLocks noGrp="1" noRot="1" noChangeAspect="1" noMove="1" noResize="1" noEditPoints="1" noAdjustHandles="1" noChangeArrowheads="1" noChangeShapeType="1" noTextEdit="1"/>
              </p:cNvSpPr>
              <p:nvPr>
                <p:ph type="body" idx="1"/>
              </p:nvPr>
            </p:nvSpPr>
            <p:spPr>
              <a:xfrm>
                <a:off x="0" y="1377387"/>
                <a:ext cx="12191999" cy="5660021"/>
              </a:xfrm>
              <a:blipFill>
                <a:blip r:embed="rId2"/>
                <a:stretch>
                  <a:fillRect r="-1945"/>
                </a:stretch>
              </a:blipFill>
            </p:spPr>
            <p:txBody>
              <a:bodyPr/>
              <a:lstStyle/>
              <a:p>
                <a:r>
                  <a:rPr lang="fr-FR">
                    <a:noFill/>
                  </a:rPr>
                  <a:t> </a:t>
                </a:r>
              </a:p>
            </p:txBody>
          </p:sp>
        </mc:Fallback>
      </mc:AlternateContent>
    </p:spTree>
    <p:extLst>
      <p:ext uri="{BB962C8B-B14F-4D97-AF65-F5344CB8AC3E}">
        <p14:creationId xmlns:p14="http://schemas.microsoft.com/office/powerpoint/2010/main" val="16773547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A13094-4325-2C72-A55E-E557F2BBF6B8}"/>
              </a:ext>
            </a:extLst>
          </p:cNvPr>
          <p:cNvSpPr>
            <a:spLocks noGrp="1"/>
          </p:cNvSpPr>
          <p:nvPr>
            <p:ph type="title"/>
          </p:nvPr>
        </p:nvSpPr>
        <p:spPr>
          <a:xfrm>
            <a:off x="685800" y="753533"/>
            <a:ext cx="10820400" cy="922867"/>
          </a:xfrm>
        </p:spPr>
        <p:txBody>
          <a:bodyPr>
            <a:normAutofit fontScale="90000"/>
          </a:bodyPr>
          <a:lstStyle/>
          <a:p>
            <a:pPr algn="ctr"/>
            <a:r>
              <a:rPr lang="fr-FR" b="1" noProof="0" dirty="0">
                <a:solidFill>
                  <a:srgbClr val="FFC000"/>
                </a:solidFill>
                <a:latin typeface="Times New Roman" panose="02020603050405020304" pitchFamily="18" charset="0"/>
                <a:cs typeface="Times New Roman" panose="02020603050405020304" pitchFamily="18" charset="0"/>
              </a:rPr>
              <a:t>Flux du vecteur champ électrique</a:t>
            </a:r>
            <a:br>
              <a:rPr lang="fr-FR" b="1" noProof="0" dirty="0">
                <a:solidFill>
                  <a:srgbClr val="FFC000"/>
                </a:solidFill>
                <a:latin typeface="Times New Roman" panose="02020603050405020304" pitchFamily="18" charset="0"/>
                <a:cs typeface="Times New Roman" panose="02020603050405020304" pitchFamily="18" charset="0"/>
              </a:rPr>
            </a:br>
            <a:r>
              <a:rPr kumimoji="0" lang="fr-FR" sz="40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en-US" b="1" noProof="0" dirty="0">
                <a:solidFill>
                  <a:srgbClr val="00B050"/>
                </a:solidFill>
                <a:latin typeface="Times New Roman" panose="02020603050405020304" pitchFamily="18" charset="0"/>
                <a:cs typeface="Times New Roman" panose="02020603050405020304" pitchFamily="18" charset="0"/>
              </a:rPr>
              <a:t>Flux of the electric field vector”</a:t>
            </a:r>
            <a:endParaRPr lang="fr-FR" b="1" noProof="0" dirty="0">
              <a:solidFill>
                <a:srgbClr val="00B05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DEABBE30-A04A-8BA0-EFB4-5E7175C45219}"/>
                  </a:ext>
                </a:extLst>
              </p:cNvPr>
              <p:cNvSpPr>
                <a:spLocks noGrp="1"/>
              </p:cNvSpPr>
              <p:nvPr>
                <p:ph type="body" idx="1"/>
              </p:nvPr>
            </p:nvSpPr>
            <p:spPr>
              <a:xfrm>
                <a:off x="0" y="1759353"/>
                <a:ext cx="12192000" cy="5098648"/>
              </a:xfrm>
              <a:solidFill>
                <a:schemeClr val="accent1">
                  <a:lumMod val="75000"/>
                </a:schemeClr>
              </a:solidFill>
              <a:scene3d>
                <a:camera prst="orthographicFront"/>
                <a:lightRig rig="threePt" dir="t"/>
              </a:scene3d>
              <a:sp3d>
                <a:bevelT w="114300" prst="artDeco"/>
              </a:sp3d>
            </p:spPr>
            <p:txBody>
              <a:bodyPr>
                <a:normAutofit fontScale="25000" lnSpcReduction="20000"/>
              </a:bodyPr>
              <a:lstStyle/>
              <a:p>
                <a:pPr algn="l">
                  <a:lnSpc>
                    <a:spcPct val="115000"/>
                  </a:lnSpc>
                  <a:spcAft>
                    <a:spcPts val="800"/>
                  </a:spcAft>
                  <a:buNone/>
                </a:pPr>
                <a:r>
                  <a:rPr lang="fr-FR" sz="8600"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11200" kern="0" noProof="0" dirty="0">
                    <a:effectLst/>
                    <a:latin typeface="Times New Roman" panose="02020603050405020304" pitchFamily="18" charset="0"/>
                    <a:ea typeface="Times New Roman" panose="02020603050405020304" pitchFamily="18" charset="0"/>
                    <a:cs typeface="Arial" panose="020B0604020202020204" pitchFamily="34" charset="0"/>
                  </a:rPr>
                  <a:t>		Le </a:t>
                </a:r>
                <a:r>
                  <a:rPr lang="fr-FR" sz="11200" b="1" kern="0" noProof="0" dirty="0">
                    <a:effectLst/>
                    <a:latin typeface="Times New Roman" panose="02020603050405020304" pitchFamily="18" charset="0"/>
                    <a:ea typeface="Times New Roman" panose="02020603050405020304" pitchFamily="18" charset="0"/>
                    <a:cs typeface="Arial" panose="020B0604020202020204" pitchFamily="34" charset="0"/>
                  </a:rPr>
                  <a:t>flux du champ électrique</a:t>
                </a:r>
                <a:r>
                  <a:rPr lang="fr-FR" sz="11200" kern="0" noProof="0" dirty="0">
                    <a:effectLst/>
                    <a:latin typeface="Times New Roman" panose="02020603050405020304" pitchFamily="18" charset="0"/>
                    <a:ea typeface="Times New Roman" panose="02020603050405020304" pitchFamily="18" charset="0"/>
                    <a:cs typeface="Arial" panose="020B0604020202020204" pitchFamily="34" charset="0"/>
                  </a:rPr>
                  <a:t> à travers une surface donnée mesure </a:t>
                </a:r>
                <a:r>
                  <a:rPr lang="fr-FR" sz="11200" b="1" kern="0" noProof="0" dirty="0">
                    <a:effectLst/>
                    <a:latin typeface="Times New Roman" panose="02020603050405020304" pitchFamily="18" charset="0"/>
                    <a:ea typeface="Times New Roman" panose="02020603050405020304" pitchFamily="18" charset="0"/>
                    <a:cs typeface="Arial" panose="020B0604020202020204" pitchFamily="34" charset="0"/>
                  </a:rPr>
                  <a:t>la quantité de lignes de champ</a:t>
                </a:r>
                <a:r>
                  <a:rPr lang="fr-FR" sz="11200" kern="0" noProof="0" dirty="0">
                    <a:effectLst/>
                    <a:latin typeface="Times New Roman" panose="02020603050405020304" pitchFamily="18" charset="0"/>
                    <a:ea typeface="Times New Roman" panose="02020603050405020304" pitchFamily="18" charset="0"/>
                    <a:cs typeface="Arial" panose="020B0604020202020204" pitchFamily="34" charset="0"/>
                  </a:rPr>
                  <a:t> traversant cette surface.</a:t>
                </a:r>
                <a14:m>
                  <m:oMath xmlns:m="http://schemas.openxmlformats.org/officeDocument/2006/math">
                    <m:r>
                      <a:rPr lang="fr-FR" sz="1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𝝋</m:t>
                    </m:r>
                    <m:r>
                      <a:rPr lang="fr-FR" sz="1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subHide m:val="on"/>
                        <m:supHide m:val="on"/>
                        <m:ctrlPr>
                          <a:rPr lang="fr-FR" sz="1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acc>
                          <m:accPr>
                            <m:chr m:val="⃗"/>
                            <m:ctrlPr>
                              <a:rPr lang="fr-FR" sz="1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1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acc>
                        <m:r>
                          <a:rPr lang="fr-FR" sz="1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fr-FR" sz="1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1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𝒅𝑺</m:t>
                            </m:r>
                          </m:e>
                        </m:acc>
                      </m:e>
                    </m:nary>
                  </m:oMath>
                </a14:m>
                <a:endParaRPr lang="fr-FR" sz="12800" b="1" i="1" kern="0" noProof="0" dirty="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l">
                  <a:lnSpc>
                    <a:spcPct val="115000"/>
                  </a:lnSpc>
                  <a:spcAft>
                    <a:spcPts val="800"/>
                  </a:spcAft>
                  <a:buNone/>
                </a:pPr>
                <a14:m>
                  <m:oMath xmlns:m="http://schemas.openxmlformats.org/officeDocument/2006/math">
                    <m:r>
                      <m:rPr>
                        <m:sty m:val="p"/>
                      </m:rPr>
                      <a:rPr lang="fr-FR" sz="11200" kern="0" noProof="0" smtClean="0">
                        <a:effectLst/>
                        <a:latin typeface="Cambria Math" panose="02040503050406030204" pitchFamily="18" charset="0"/>
                        <a:ea typeface="Times New Roman" panose="02020603050405020304" pitchFamily="18" charset="0"/>
                        <a:cs typeface="Times New Roman" panose="02020603050405020304" pitchFamily="18" charset="0"/>
                      </a:rPr>
                      <m:t>Φ</m:t>
                    </m:r>
                  </m:oMath>
                </a14:m>
                <a:r>
                  <a:rPr lang="fr-FR" sz="11200" kern="0" noProof="0" dirty="0">
                    <a:effectLst/>
                    <a:latin typeface="Times New Roman" panose="02020603050405020304" pitchFamily="18" charset="0"/>
                    <a:ea typeface="Times New Roman" panose="02020603050405020304" pitchFamily="18" charset="0"/>
                    <a:cs typeface="Arial" panose="020B0604020202020204" pitchFamily="34" charset="0"/>
                  </a:rPr>
                  <a:t>: flux du champ électrique (en </a:t>
                </a:r>
                <a:r>
                  <a:rPr lang="fr-FR" sz="11200" b="1" kern="0" noProof="0" dirty="0" err="1">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volt·mètre</a:t>
                </a:r>
                <a:r>
                  <a:rPr lang="fr-FR" sz="11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11200" b="1" kern="0" noProof="0" dirty="0" err="1">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V·m</a:t>
                </a:r>
                <a:r>
                  <a:rPr lang="fr-FR" sz="11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 ou N·m²·C⁻¹</a:t>
                </a:r>
                <a:r>
                  <a:rPr lang="fr-FR" sz="11200" kern="0" noProof="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11200" kern="100" noProof="0" dirty="0">
                  <a:effectLst/>
                  <a:latin typeface="Aptos" panose="020B0004020202020204" pitchFamily="34" charset="0"/>
                  <a:ea typeface="Aptos" panose="020B0004020202020204" pitchFamily="34" charset="0"/>
                  <a:cs typeface="Arial" panose="020B0604020202020204" pitchFamily="34" charset="0"/>
                </a:endParaRPr>
              </a:p>
              <a:p>
                <a:pPr marL="0" lvl="0" indent="0" algn="l">
                  <a:lnSpc>
                    <a:spcPct val="115000"/>
                  </a:lnSpc>
                  <a:spcAft>
                    <a:spcPts val="800"/>
                  </a:spcAft>
                  <a:buSzPts val="1000"/>
                  <a:tabLst>
                    <a:tab pos="457200" algn="l"/>
                  </a:tabLst>
                </a:pPr>
                <a:r>
                  <a:rPr lang="fr-FR" sz="11200" kern="0" noProof="0" dirty="0">
                    <a:effectLst/>
                    <a:ea typeface="Times New Roman" panose="02020603050405020304" pitchFamily="18" charset="0"/>
                    <a:cs typeface="Times New Roman" panose="02020603050405020304" pitchFamily="18" charset="0"/>
                  </a:rPr>
                  <a:t>    </a:t>
                </a:r>
                <a14:m>
                  <m:oMath xmlns:m="http://schemas.openxmlformats.org/officeDocument/2006/math">
                    <m:acc>
                      <m:accPr>
                        <m:chr m:val="⃗"/>
                        <m:ctrlPr>
                          <a:rPr lang="fr-FR" sz="112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112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𝐸</m:t>
                        </m:r>
                      </m:e>
                    </m:acc>
                  </m:oMath>
                </a14:m>
                <a:r>
                  <a:rPr lang="fr-FR" sz="11200" kern="0" noProof="0" dirty="0">
                    <a:effectLst/>
                    <a:latin typeface="Times New Roman" panose="02020603050405020304" pitchFamily="18" charset="0"/>
                    <a:ea typeface="Times New Roman" panose="02020603050405020304" pitchFamily="18" charset="0"/>
                    <a:cs typeface="Arial" panose="020B0604020202020204" pitchFamily="34" charset="0"/>
                  </a:rPr>
                  <a:t>: vecteur champ électrique,</a:t>
                </a:r>
                <a:endParaRPr lang="fr-FR" sz="11200" kern="100" noProof="0" dirty="0">
                  <a:effectLst/>
                  <a:latin typeface="Aptos" panose="020B0004020202020204" pitchFamily="34" charset="0"/>
                  <a:ea typeface="Aptos" panose="020B0004020202020204" pitchFamily="34" charset="0"/>
                  <a:cs typeface="Arial" panose="020B0604020202020204" pitchFamily="34" charset="0"/>
                </a:endParaRPr>
              </a:p>
              <a:p>
                <a:pPr marL="0" lvl="0" indent="0" algn="l">
                  <a:lnSpc>
                    <a:spcPct val="115000"/>
                  </a:lnSpc>
                  <a:spcAft>
                    <a:spcPts val="800"/>
                  </a:spcAft>
                  <a:buSzPts val="1000"/>
                  <a:tabLst>
                    <a:tab pos="457200" algn="l"/>
                  </a:tabLst>
                </a:pPr>
                <a:r>
                  <a:rPr lang="fr-FR" sz="11200" kern="0" noProof="0" dirty="0">
                    <a:effectLst/>
                    <a:ea typeface="Times New Roman" panose="02020603050405020304" pitchFamily="18" charset="0"/>
                    <a:cs typeface="Times New Roman" panose="02020603050405020304" pitchFamily="18" charset="0"/>
                  </a:rPr>
                  <a:t>    </a:t>
                </a:r>
                <a14:m>
                  <m:oMath xmlns:m="http://schemas.openxmlformats.org/officeDocument/2006/math">
                    <m:acc>
                      <m:accPr>
                        <m:chr m:val="⃗"/>
                        <m:ctrlPr>
                          <a:rPr lang="fr-FR" sz="112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112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𝑑𝑆</m:t>
                        </m:r>
                      </m:e>
                    </m:acc>
                  </m:oMath>
                </a14:m>
                <a:r>
                  <a:rPr lang="fr-FR" sz="11200" kern="0" noProof="0" dirty="0">
                    <a:effectLst/>
                    <a:latin typeface="Times New Roman" panose="02020603050405020304" pitchFamily="18" charset="0"/>
                    <a:ea typeface="Times New Roman" panose="02020603050405020304" pitchFamily="18" charset="0"/>
                    <a:cs typeface="Arial" panose="020B0604020202020204" pitchFamily="34" charset="0"/>
                  </a:rPr>
                  <a:t>: vecteur surface élémentaire,</a:t>
                </a:r>
              </a:p>
              <a:p>
                <a:pPr marL="0" lvl="0" indent="0" algn="l">
                  <a:lnSpc>
                    <a:spcPct val="115000"/>
                  </a:lnSpc>
                  <a:spcAft>
                    <a:spcPts val="800"/>
                  </a:spcAft>
                  <a:buSzPts val="1000"/>
                  <a:tabLst>
                    <a:tab pos="457200" algn="l"/>
                  </a:tabLst>
                </a:pPr>
                <a:r>
                  <a:rPr lang="fr-FR" sz="11200" kern="0" noProof="0" dirty="0">
                    <a:effectLst/>
                    <a:latin typeface="Times New Roman" panose="02020603050405020304" pitchFamily="18" charset="0"/>
                    <a:ea typeface="Times New Roman" panose="02020603050405020304" pitchFamily="18" charset="0"/>
                    <a:cs typeface="Arial" panose="020B0604020202020204" pitchFamily="34" charset="0"/>
                  </a:rPr>
                  <a:t> orienté perpendiculairement à la surface,</a:t>
                </a:r>
                <a:r>
                  <a:rPr lang="fr-FR" sz="11200" kern="0" noProof="0" dirty="0">
                    <a:effectLst/>
                    <a:ea typeface="Times New Roman" panose="02020603050405020304" pitchFamily="18" charset="0"/>
                    <a:cs typeface="Times New Roman" panose="02020603050405020304" pitchFamily="18" charset="0"/>
                  </a:rPr>
                  <a:t>    </a:t>
                </a:r>
                <a14:m>
                  <m:oMath xmlns:m="http://schemas.openxmlformats.org/officeDocument/2006/math">
                    <m:acc>
                      <m:accPr>
                        <m:chr m:val="⃗"/>
                        <m:ctrlPr>
                          <a:rPr lang="fr-FR" sz="11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11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acc>
                    <m:r>
                      <a:rPr lang="fr-FR" sz="11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fr-FR" sz="11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11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𝒅𝑺</m:t>
                        </m:r>
                      </m:e>
                    </m:acc>
                    <m:r>
                      <a:rPr lang="fr-FR" sz="11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11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𝑬</m:t>
                    </m:r>
                    <m:r>
                      <m:rPr>
                        <m:nor/>
                      </m:rPr>
                      <a:rPr lang="fr-FR" sz="11200" b="1" kern="0" noProof="0" smtClean="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m:t> </m:t>
                    </m:r>
                    <m:r>
                      <a:rPr lang="fr-FR" sz="11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𝒅𝑺𝒄𝒐𝒔</m:t>
                    </m:r>
                    <m:r>
                      <a:rPr lang="fr-FR" sz="11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11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𝜽</m:t>
                    </m:r>
                  </m:oMath>
                </a14:m>
                <a:r>
                  <a:rPr lang="fr-FR" sz="11200" kern="0" noProof="0" dirty="0">
                    <a:effectLst/>
                    <a:latin typeface="Times New Roman" panose="02020603050405020304" pitchFamily="18" charset="0"/>
                    <a:ea typeface="Times New Roman" panose="02020603050405020304" pitchFamily="18" charset="0"/>
                    <a:cs typeface="Arial" panose="020B0604020202020204" pitchFamily="34" charset="0"/>
                  </a:rPr>
                  <a:t>, </a:t>
                </a:r>
              </a:p>
              <a:p>
                <a:pPr marL="0" lvl="0" indent="0" algn="l">
                  <a:lnSpc>
                    <a:spcPct val="115000"/>
                  </a:lnSpc>
                  <a:spcAft>
                    <a:spcPts val="800"/>
                  </a:spcAft>
                  <a:buSzPts val="1000"/>
                  <a:tabLst>
                    <a:tab pos="457200" algn="l"/>
                  </a:tabLst>
                </a:pPr>
                <a:r>
                  <a:rPr lang="fr-FR" sz="12800" kern="0" noProof="0" dirty="0">
                    <a:effectLst/>
                    <a:latin typeface="Times New Roman" panose="02020603050405020304" pitchFamily="18" charset="0"/>
                    <a:ea typeface="Times New Roman" panose="02020603050405020304" pitchFamily="18" charset="0"/>
                    <a:cs typeface="Arial" panose="020B0604020202020204" pitchFamily="34" charset="0"/>
                  </a:rPr>
                  <a:t> où </a:t>
                </a:r>
                <a14:m>
                  <m:oMath xmlns:m="http://schemas.openxmlformats.org/officeDocument/2006/math">
                    <m:r>
                      <a:rPr lang="fr-FR" sz="1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𝜽</m:t>
                    </m:r>
                  </m:oMath>
                </a14:m>
                <a:r>
                  <a:rPr lang="fr-FR" sz="12800" kern="0" noProof="0" dirty="0">
                    <a:effectLst/>
                    <a:latin typeface="Times New Roman" panose="02020603050405020304" pitchFamily="18" charset="0"/>
                    <a:ea typeface="Times New Roman" panose="02020603050405020304" pitchFamily="18" charset="0"/>
                    <a:cs typeface="Arial" panose="020B0604020202020204" pitchFamily="34" charset="0"/>
                  </a:rPr>
                  <a:t> est l’angle entre le champ</a:t>
                </a:r>
                <a:r>
                  <a:rPr lang="fr-FR" sz="12800" b="1" dirty="0">
                    <a:solidFill>
                      <a:srgbClr val="FFC000"/>
                    </a:solidFill>
                    <a:ea typeface="Times New Roman" panose="02020603050405020304" pitchFamily="18" charset="0"/>
                    <a:cs typeface="Times New Roman" panose="02020603050405020304" pitchFamily="18" charset="0"/>
                  </a:rPr>
                  <a:t> </a:t>
                </a:r>
                <a14:m>
                  <m:oMath xmlns:m="http://schemas.openxmlformats.org/officeDocument/2006/math">
                    <m:acc>
                      <m:accPr>
                        <m:chr m:val="⃗"/>
                        <m:ctrlPr>
                          <a:rPr lang="fr-FR" sz="12800" b="1" i="1">
                            <a:solidFill>
                              <a:srgbClr val="FFC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fr-FR" sz="12800" b="1" i="1">
                            <a:solidFill>
                              <a:srgbClr val="FFC000"/>
                            </a:solidFill>
                            <a:latin typeface="Cambria Math" panose="02040503050406030204" pitchFamily="18" charset="0"/>
                            <a:ea typeface="Times New Roman" panose="02020603050405020304" pitchFamily="18" charset="0"/>
                            <a:cs typeface="Times New Roman" panose="02020603050405020304" pitchFamily="18" charset="0"/>
                          </a:rPr>
                          <m:t>𝑬</m:t>
                        </m:r>
                      </m:e>
                    </m:acc>
                  </m:oMath>
                </a14:m>
                <a:r>
                  <a:rPr lang="fr-FR" sz="12800" kern="0" noProof="0" dirty="0">
                    <a:effectLst/>
                    <a:latin typeface="Times New Roman" panose="02020603050405020304" pitchFamily="18" charset="0"/>
                    <a:ea typeface="Times New Roman" panose="02020603050405020304" pitchFamily="18" charset="0"/>
                    <a:cs typeface="Arial" panose="020B0604020202020204" pitchFamily="34" charset="0"/>
                  </a:rPr>
                  <a:t> et la normale à la surface </a:t>
                </a:r>
                <a14:m>
                  <m:oMath xmlns:m="http://schemas.openxmlformats.org/officeDocument/2006/math">
                    <m:acc>
                      <m:accPr>
                        <m:chr m:val="⃗"/>
                        <m:ctrlPr>
                          <a:rPr lang="fr-FR" sz="12800" i="1" kern="0" noProof="0" smtClean="0">
                            <a:solidFill>
                              <a:srgbClr val="FFC000"/>
                            </a:solidFill>
                            <a:effectLst/>
                            <a:latin typeface="Cambria Math" panose="02040503050406030204" pitchFamily="18" charset="0"/>
                            <a:cs typeface="Arial" panose="020B0604020202020204" pitchFamily="34" charset="0"/>
                          </a:rPr>
                        </m:ctrlPr>
                      </m:accPr>
                      <m:e>
                        <m:r>
                          <a:rPr lang="fr-FR" sz="12800" b="0" i="1" kern="0" noProof="0" smtClean="0">
                            <a:solidFill>
                              <a:srgbClr val="FFC000"/>
                            </a:solidFill>
                            <a:effectLst/>
                            <a:latin typeface="Cambria Math" panose="02040503050406030204" pitchFamily="18" charset="0"/>
                            <a:cs typeface="Arial" panose="020B0604020202020204" pitchFamily="34" charset="0"/>
                          </a:rPr>
                          <m:t>𝑛</m:t>
                        </m:r>
                      </m:e>
                    </m:acc>
                  </m:oMath>
                </a14:m>
                <a:r>
                  <a:rPr lang="fr-FR" sz="12800" kern="0" noProof="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12800" kern="100" noProof="0" dirty="0">
                  <a:effectLst/>
                  <a:latin typeface="Aptos" panose="020B0004020202020204" pitchFamily="34" charset="0"/>
                  <a:ea typeface="Aptos" panose="020B0004020202020204" pitchFamily="34" charset="0"/>
                  <a:cs typeface="Arial" panose="020B0604020202020204" pitchFamily="34" charset="0"/>
                </a:endParaRPr>
              </a:p>
              <a:p>
                <a:pPr algn="l"/>
                <a:r>
                  <a:rPr lang="fr-FR" sz="3600" noProof="0" dirty="0">
                    <a:solidFill>
                      <a:schemeClr val="bg1"/>
                    </a:solidFill>
                    <a:latin typeface="Times New Roman" panose="02020603050405020304" pitchFamily="18" charset="0"/>
                    <a:cs typeface="Times New Roman" panose="02020603050405020304" pitchFamily="18" charset="0"/>
                  </a:rPr>
                  <a:t> </a:t>
                </a:r>
              </a:p>
            </p:txBody>
          </p:sp>
        </mc:Choice>
        <mc:Fallback xmlns="">
          <p:sp>
            <p:nvSpPr>
              <p:cNvPr id="3" name="Espace réservé du texte 2">
                <a:extLst>
                  <a:ext uri="{FF2B5EF4-FFF2-40B4-BE49-F238E27FC236}">
                    <a16:creationId xmlns:a16="http://schemas.microsoft.com/office/drawing/2014/main" id="{DEABBE30-A04A-8BA0-EFB4-5E7175C45219}"/>
                  </a:ext>
                </a:extLst>
              </p:cNvPr>
              <p:cNvSpPr>
                <a:spLocks noGrp="1" noRot="1" noChangeAspect="1" noMove="1" noResize="1" noEditPoints="1" noAdjustHandles="1" noChangeArrowheads="1" noChangeShapeType="1" noTextEdit="1"/>
              </p:cNvSpPr>
              <p:nvPr>
                <p:ph type="body" idx="1"/>
              </p:nvPr>
            </p:nvSpPr>
            <p:spPr>
              <a:xfrm>
                <a:off x="0" y="1759353"/>
                <a:ext cx="12192000" cy="5098648"/>
              </a:xfrm>
              <a:blipFill>
                <a:blip r:embed="rId2"/>
                <a:stretch>
                  <a:fillRect l="-1297"/>
                </a:stretch>
              </a:blipFill>
            </p:spPr>
            <p:txBody>
              <a:bodyPr/>
              <a:lstStyle/>
              <a:p>
                <a:r>
                  <a:rPr lang="fr-FR">
                    <a:noFill/>
                  </a:rPr>
                  <a:t> </a:t>
                </a:r>
              </a:p>
            </p:txBody>
          </p:sp>
        </mc:Fallback>
      </mc:AlternateContent>
      <p:pic>
        <p:nvPicPr>
          <p:cNvPr id="4" name="Image 3">
            <a:extLst>
              <a:ext uri="{FF2B5EF4-FFF2-40B4-BE49-F238E27FC236}">
                <a16:creationId xmlns:a16="http://schemas.microsoft.com/office/drawing/2014/main" id="{211E391C-2047-932F-128C-D8564F01EE83}"/>
              </a:ext>
            </a:extLst>
          </p:cNvPr>
          <p:cNvPicPr>
            <a:picLocks noChangeAspect="1"/>
          </p:cNvPicPr>
          <p:nvPr/>
        </p:nvPicPr>
        <p:blipFill>
          <a:blip r:embed="rId3"/>
          <a:stretch>
            <a:fillRect/>
          </a:stretch>
        </p:blipFill>
        <p:spPr>
          <a:xfrm>
            <a:off x="5585749" y="3647740"/>
            <a:ext cx="2286000" cy="1600200"/>
          </a:xfrm>
          <a:prstGeom prst="rect">
            <a:avLst/>
          </a:prstGeom>
        </p:spPr>
      </p:pic>
    </p:spTree>
    <p:extLst>
      <p:ext uri="{BB962C8B-B14F-4D97-AF65-F5344CB8AC3E}">
        <p14:creationId xmlns:p14="http://schemas.microsoft.com/office/powerpoint/2010/main" val="9388513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7D117D-D3D1-22BC-0B9D-CAA533F0D280}"/>
              </a:ext>
            </a:extLst>
          </p:cNvPr>
          <p:cNvSpPr>
            <a:spLocks noGrp="1"/>
          </p:cNvSpPr>
          <p:nvPr>
            <p:ph type="title"/>
          </p:nvPr>
        </p:nvSpPr>
        <p:spPr>
          <a:xfrm>
            <a:off x="642257" y="500743"/>
            <a:ext cx="10916153" cy="1665514"/>
          </a:xfrm>
        </p:spPr>
        <p:txBody>
          <a:bodyPr>
            <a:normAutofit fontScale="90000"/>
          </a:bodyPr>
          <a:lstStyle/>
          <a:p>
            <a:pPr algn="l"/>
            <a:br>
              <a:rPr lang="fr-FR" b="1" noProof="0" dirty="0">
                <a:latin typeface="Times New Roman" panose="02020603050405020304" pitchFamily="18" charset="0"/>
                <a:cs typeface="Times New Roman" panose="02020603050405020304" pitchFamily="18" charset="0"/>
              </a:rPr>
            </a:br>
            <a:br>
              <a:rPr lang="fr-FR" b="1" noProof="0" dirty="0">
                <a:latin typeface="Times New Roman" panose="02020603050405020304" pitchFamily="18" charset="0"/>
                <a:cs typeface="Times New Roman" panose="02020603050405020304" pitchFamily="18" charset="0"/>
              </a:rPr>
            </a:br>
            <a:r>
              <a:rPr kumimoji="0" lang="fr-FR" sz="4400" b="1" i="0" u="none" strike="noStrike" kern="0" cap="none" spc="0" normalizeH="0" baseline="0" noProof="0" dirty="0">
                <a:ln>
                  <a:noFill/>
                </a:ln>
                <a:solidFill>
                  <a:srgbClr val="FFC000"/>
                </a:solidFill>
                <a:effectLst/>
                <a:uLnTx/>
                <a:uFillTx/>
                <a:latin typeface="Times New Roman" panose="02020603050405020304" pitchFamily="18" charset="0"/>
                <a:cs typeface="Times New Roman" panose="02020603050405020304" pitchFamily="18" charset="0"/>
                <a:sym typeface="Century Gothic"/>
              </a:rPr>
              <a:t>Flux du vecteur champ électrique</a:t>
            </a:r>
            <a:br>
              <a:rPr lang="fr-FR" sz="4400" b="1" noProof="0" dirty="0">
                <a:latin typeface="Times New Roman" panose="02020603050405020304" pitchFamily="18" charset="0"/>
                <a:cs typeface="Times New Roman" panose="02020603050405020304" pitchFamily="18" charset="0"/>
              </a:rPr>
            </a:br>
            <a:r>
              <a:rPr lang="fr-FR" sz="4400" b="1" noProof="0" dirty="0">
                <a:latin typeface="Times New Roman" panose="02020603050405020304" pitchFamily="18" charset="0"/>
                <a:cs typeface="Times New Roman" panose="02020603050405020304" pitchFamily="18" charset="0"/>
              </a:rPr>
              <a:t>⚖️ </a:t>
            </a:r>
            <a:r>
              <a:rPr lang="fr-FR" sz="4400" b="1" noProof="0" dirty="0">
                <a:solidFill>
                  <a:srgbClr val="FFC000"/>
                </a:solidFill>
                <a:latin typeface="Times New Roman" panose="02020603050405020304" pitchFamily="18" charset="0"/>
                <a:cs typeface="Times New Roman" panose="02020603050405020304" pitchFamily="18" charset="0"/>
              </a:rPr>
              <a:t>2. Cas d’un champ uniforme</a:t>
            </a:r>
            <a:br>
              <a:rPr lang="fr-FR" noProof="0" dirty="0">
                <a:latin typeface="Times New Roman" panose="02020603050405020304" pitchFamily="18" charset="0"/>
                <a:cs typeface="Times New Roman" panose="02020603050405020304" pitchFamily="18" charset="0"/>
              </a:rPr>
            </a:br>
            <a:endParaRPr lang="fr-FR" noProof="0" dirty="0"/>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98CFD6EB-17FF-1130-8701-5088936647A8}"/>
                  </a:ext>
                </a:extLst>
              </p:cNvPr>
              <p:cNvSpPr>
                <a:spLocks noGrp="1"/>
              </p:cNvSpPr>
              <p:nvPr>
                <p:ph type="body" idx="1"/>
              </p:nvPr>
            </p:nvSpPr>
            <p:spPr>
              <a:xfrm>
                <a:off x="0" y="1883230"/>
                <a:ext cx="12192000" cy="4974770"/>
              </a:xfrm>
              <a:solidFill>
                <a:schemeClr val="accent1">
                  <a:lumMod val="75000"/>
                </a:schemeClr>
              </a:solidFill>
              <a:scene3d>
                <a:camera prst="orthographicFront"/>
                <a:lightRig rig="threePt" dir="t"/>
              </a:scene3d>
              <a:sp3d>
                <a:bevelT w="114300" prst="artDeco"/>
              </a:sp3d>
            </p:spPr>
            <p:txBody>
              <a:bodyPr/>
              <a:lstStyle/>
              <a:p>
                <a:pPr algn="l"/>
                <a:r>
                  <a:rPr lang="fr-FR" sz="3200" noProof="0" dirty="0">
                    <a:latin typeface="Times New Roman" panose="02020603050405020304" pitchFamily="18" charset="0"/>
                    <a:cs typeface="Times New Roman" panose="02020603050405020304" pitchFamily="18" charset="0"/>
                  </a:rPr>
                  <a:t>Si le champ </a:t>
                </a:r>
                <a14:m>
                  <m:oMath xmlns:m="http://schemas.openxmlformats.org/officeDocument/2006/math">
                    <m:acc>
                      <m:accPr>
                        <m:chr m:val="⃗"/>
                        <m:ctrlPr>
                          <a:rPr lang="fr-FR" sz="3200" i="1" noProof="0" smtClean="0">
                            <a:latin typeface="Cambria Math" panose="02040503050406030204" pitchFamily="18" charset="0"/>
                          </a:rPr>
                        </m:ctrlPr>
                      </m:accPr>
                      <m:e>
                        <m:r>
                          <a:rPr lang="fr-FR" sz="3200" i="1" noProof="0" smtClean="0">
                            <a:latin typeface="Cambria Math" panose="02040503050406030204" pitchFamily="18" charset="0"/>
                          </a:rPr>
                          <m:t>𝐸</m:t>
                        </m:r>
                      </m:e>
                    </m:acc>
                  </m:oMath>
                </a14:m>
                <a:r>
                  <a:rPr lang="fr-FR" sz="3200" noProof="0" dirty="0">
                    <a:latin typeface="Times New Roman" panose="02020603050405020304" pitchFamily="18" charset="0"/>
                    <a:cs typeface="Times New Roman" panose="02020603050405020304" pitchFamily="18" charset="0"/>
                  </a:rPr>
                  <a:t>est </a:t>
                </a:r>
                <a:r>
                  <a:rPr lang="fr-FR" sz="3200" b="1" noProof="0" dirty="0">
                    <a:latin typeface="Times New Roman" panose="02020603050405020304" pitchFamily="18" charset="0"/>
                    <a:cs typeface="Times New Roman" panose="02020603050405020304" pitchFamily="18" charset="0"/>
                  </a:rPr>
                  <a:t>constant</a:t>
                </a:r>
                <a:r>
                  <a:rPr lang="fr-FR" sz="3200" noProof="0" dirty="0">
                    <a:latin typeface="Times New Roman" panose="02020603050405020304" pitchFamily="18" charset="0"/>
                    <a:cs typeface="Times New Roman" panose="02020603050405020304" pitchFamily="18" charset="0"/>
                  </a:rPr>
                  <a:t> sur toute la surface plane </a:t>
                </a:r>
                <a14:m>
                  <m:oMath xmlns:m="http://schemas.openxmlformats.org/officeDocument/2006/math">
                    <m:r>
                      <a:rPr lang="fr-FR" sz="3200" i="1" noProof="0" smtClean="0">
                        <a:latin typeface="Cambria Math" panose="02040503050406030204" pitchFamily="18" charset="0"/>
                      </a:rPr>
                      <m:t>𝑆</m:t>
                    </m:r>
                  </m:oMath>
                </a14:m>
                <a:r>
                  <a:rPr lang="fr-FR" sz="3200" noProof="0" dirty="0">
                    <a:latin typeface="Times New Roman" panose="02020603050405020304" pitchFamily="18" charset="0"/>
                    <a:cs typeface="Times New Roman" panose="02020603050405020304" pitchFamily="18" charset="0"/>
                  </a:rPr>
                  <a:t>, le flux</a:t>
                </a:r>
              </a:p>
              <a:p>
                <a:pPr algn="l"/>
                <a:r>
                  <a:rPr lang="fr-FR" sz="3200" noProof="0" dirty="0">
                    <a:latin typeface="Times New Roman" panose="02020603050405020304" pitchFamily="18" charset="0"/>
                    <a:cs typeface="Times New Roman" panose="02020603050405020304" pitchFamily="18" charset="0"/>
                  </a:rPr>
                  <a:t>devient :</a:t>
                </a:r>
                <a14:m>
                  <m:oMath xmlns:m="http://schemas.openxmlformats.org/officeDocument/2006/math">
                    <m:r>
                      <a:rPr lang="fr-FR" sz="3200" b="0" i="0" noProof="0" smtClean="0">
                        <a:solidFill>
                          <a:srgbClr val="92D050"/>
                        </a:solidFill>
                        <a:latin typeface="Cambria Math" panose="02040503050406030204" pitchFamily="18" charset="0"/>
                      </a:rPr>
                      <m:t>                            </m:t>
                    </m:r>
                    <m:borderBox>
                      <m:borderBoxPr>
                        <m:ctrlPr>
                          <a:rPr lang="fr-FR" sz="3200" b="1" i="1" noProof="0" smtClean="0">
                            <a:solidFill>
                              <a:srgbClr val="FFFF00"/>
                            </a:solidFill>
                            <a:latin typeface="Cambria Math" panose="02040503050406030204" pitchFamily="18" charset="0"/>
                          </a:rPr>
                        </m:ctrlPr>
                      </m:borderBoxPr>
                      <m:e>
                        <m:r>
                          <a:rPr lang="fr-FR" sz="3200" b="1" i="0" noProof="0" smtClean="0">
                            <a:solidFill>
                              <a:srgbClr val="FFFF00"/>
                            </a:solidFill>
                            <a:latin typeface="Cambria Math" panose="02040503050406030204" pitchFamily="18" charset="0"/>
                          </a:rPr>
                          <m:t>𝚽</m:t>
                        </m:r>
                        <m:r>
                          <a:rPr lang="fr-FR" sz="3200" b="1" i="0" noProof="0" smtClean="0">
                            <a:solidFill>
                              <a:srgbClr val="FFFF00"/>
                            </a:solidFill>
                            <a:latin typeface="Cambria Math" panose="02040503050406030204" pitchFamily="18" charset="0"/>
                          </a:rPr>
                          <m:t>=</m:t>
                        </m:r>
                        <m:r>
                          <a:rPr lang="fr-FR" sz="3200" b="1" i="0" noProof="0" smtClean="0">
                            <a:solidFill>
                              <a:srgbClr val="FFFF00"/>
                            </a:solidFill>
                            <a:latin typeface="Cambria Math" panose="02040503050406030204" pitchFamily="18" charset="0"/>
                          </a:rPr>
                          <m:t>𝐄</m:t>
                        </m:r>
                        <m:r>
                          <m:rPr>
                            <m:nor/>
                          </m:rPr>
                          <a:rPr lang="fr-FR" sz="3200" b="1" noProof="0" smtClean="0">
                            <a:solidFill>
                              <a:srgbClr val="FFFF00"/>
                            </a:solidFill>
                            <a:latin typeface="Times New Roman" panose="02020603050405020304" pitchFamily="18" charset="0"/>
                            <a:cs typeface="Times New Roman" panose="02020603050405020304" pitchFamily="18" charset="0"/>
                          </a:rPr>
                          <m:t> </m:t>
                        </m:r>
                        <m:r>
                          <a:rPr lang="fr-FR" sz="3200" b="1" i="0" noProof="0" smtClean="0">
                            <a:solidFill>
                              <a:srgbClr val="FFFF00"/>
                            </a:solidFill>
                            <a:latin typeface="Cambria Math" panose="02040503050406030204" pitchFamily="18" charset="0"/>
                          </a:rPr>
                          <m:t>𝐒</m:t>
                        </m:r>
                        <m:r>
                          <m:rPr>
                            <m:nor/>
                          </m:rPr>
                          <a:rPr lang="fr-FR" sz="3200" b="1" noProof="0" smtClean="0">
                            <a:solidFill>
                              <a:srgbClr val="FFFF00"/>
                            </a:solidFill>
                            <a:latin typeface="Times New Roman" panose="02020603050405020304" pitchFamily="18" charset="0"/>
                            <a:cs typeface="Times New Roman" panose="02020603050405020304" pitchFamily="18" charset="0"/>
                          </a:rPr>
                          <m:t> </m:t>
                        </m:r>
                        <m:r>
                          <a:rPr lang="fr-FR" sz="3200" b="1" i="0" noProof="0" smtClean="0">
                            <a:solidFill>
                              <a:srgbClr val="FFFF00"/>
                            </a:solidFill>
                            <a:latin typeface="Cambria Math" panose="02040503050406030204" pitchFamily="18" charset="0"/>
                          </a:rPr>
                          <m:t>𝐜𝐨𝐬</m:t>
                        </m:r>
                        <m:r>
                          <a:rPr lang="fr-FR" sz="3200" b="1" i="0" noProof="0" smtClean="0">
                            <a:solidFill>
                              <a:srgbClr val="FFFF00"/>
                            </a:solidFill>
                            <a:latin typeface="Cambria Math" panose="02040503050406030204" pitchFamily="18" charset="0"/>
                          </a:rPr>
                          <m:t>⁡</m:t>
                        </m:r>
                        <m:r>
                          <a:rPr lang="fr-FR" sz="3200" b="1" i="0" noProof="0" smtClean="0">
                            <a:solidFill>
                              <a:srgbClr val="FFFF00"/>
                            </a:solidFill>
                            <a:latin typeface="Cambria Math" panose="02040503050406030204" pitchFamily="18" charset="0"/>
                          </a:rPr>
                          <m:t>𝛉</m:t>
                        </m:r>
                      </m:e>
                    </m:borderBox>
                  </m:oMath>
                </a14:m>
                <a:br>
                  <a:rPr lang="fr-FR" sz="3200" noProof="0" dirty="0">
                    <a:latin typeface="Times New Roman" panose="02020603050405020304" pitchFamily="18" charset="0"/>
                    <a:cs typeface="Times New Roman" panose="02020603050405020304" pitchFamily="18" charset="0"/>
                  </a:rPr>
                </a:br>
                <a:endParaRPr lang="fr-FR" sz="3200" noProof="0" dirty="0">
                  <a:latin typeface="Times New Roman" panose="02020603050405020304" pitchFamily="18" charset="0"/>
                  <a:cs typeface="Times New Roman" panose="02020603050405020304" pitchFamily="18" charset="0"/>
                </a:endParaRPr>
              </a:p>
              <a:p>
                <a:endParaRPr lang="fr-FR" noProof="0" dirty="0"/>
              </a:p>
            </p:txBody>
          </p:sp>
        </mc:Choice>
        <mc:Fallback xmlns="">
          <p:sp>
            <p:nvSpPr>
              <p:cNvPr id="3" name="Espace réservé du texte 2">
                <a:extLst>
                  <a:ext uri="{FF2B5EF4-FFF2-40B4-BE49-F238E27FC236}">
                    <a16:creationId xmlns:a16="http://schemas.microsoft.com/office/drawing/2014/main" id="{98CFD6EB-17FF-1130-8701-5088936647A8}"/>
                  </a:ext>
                </a:extLst>
              </p:cNvPr>
              <p:cNvSpPr>
                <a:spLocks noGrp="1" noRot="1" noChangeAspect="1" noMove="1" noResize="1" noEditPoints="1" noAdjustHandles="1" noChangeArrowheads="1" noChangeShapeType="1" noTextEdit="1"/>
              </p:cNvSpPr>
              <p:nvPr>
                <p:ph type="body" idx="1"/>
              </p:nvPr>
            </p:nvSpPr>
            <p:spPr>
              <a:xfrm>
                <a:off x="0" y="1883230"/>
                <a:ext cx="12192000" cy="4974770"/>
              </a:xfrm>
              <a:blipFill>
                <a:blip r:embed="rId2"/>
                <a:stretch>
                  <a:fillRect/>
                </a:stretch>
              </a:blipFill>
            </p:spPr>
            <p:txBody>
              <a:bodyPr/>
              <a:lstStyle/>
              <a:p>
                <a:r>
                  <a:rPr lang="fr-FR">
                    <a:noFill/>
                  </a:rPr>
                  <a:t> </a:t>
                </a:r>
              </a:p>
            </p:txBody>
          </p:sp>
        </mc:Fallback>
      </mc:AlternateContent>
      <p:pic>
        <p:nvPicPr>
          <p:cNvPr id="4" name="Image 3">
            <a:extLst>
              <a:ext uri="{FF2B5EF4-FFF2-40B4-BE49-F238E27FC236}">
                <a16:creationId xmlns:a16="http://schemas.microsoft.com/office/drawing/2014/main" id="{6F99DA36-AD66-53E5-6B66-D36E1F6CC1E9}"/>
              </a:ext>
            </a:extLst>
          </p:cNvPr>
          <p:cNvPicPr>
            <a:picLocks noChangeAspect="1"/>
          </p:cNvPicPr>
          <p:nvPr/>
        </p:nvPicPr>
        <p:blipFill>
          <a:blip r:embed="rId3"/>
          <a:stretch>
            <a:fillRect/>
          </a:stretch>
        </p:blipFill>
        <p:spPr>
          <a:xfrm>
            <a:off x="1044831" y="3548743"/>
            <a:ext cx="2286198" cy="1603387"/>
          </a:xfrm>
          <a:prstGeom prst="rect">
            <a:avLst/>
          </a:prstGeom>
        </p:spPr>
      </p:pic>
      <p:pic>
        <p:nvPicPr>
          <p:cNvPr id="5" name="Image 4">
            <a:extLst>
              <a:ext uri="{FF2B5EF4-FFF2-40B4-BE49-F238E27FC236}">
                <a16:creationId xmlns:a16="http://schemas.microsoft.com/office/drawing/2014/main" id="{FC00619B-6519-C29E-CE37-541F415158BB}"/>
              </a:ext>
            </a:extLst>
          </p:cNvPr>
          <p:cNvPicPr>
            <a:picLocks noChangeAspect="1"/>
          </p:cNvPicPr>
          <p:nvPr/>
        </p:nvPicPr>
        <p:blipFill>
          <a:blip r:embed="rId3"/>
          <a:stretch>
            <a:fillRect/>
          </a:stretch>
        </p:blipFill>
        <p:spPr>
          <a:xfrm>
            <a:off x="6944986" y="3548744"/>
            <a:ext cx="2286198" cy="1603387"/>
          </a:xfrm>
          <a:prstGeom prst="rect">
            <a:avLst/>
          </a:prstGeom>
        </p:spPr>
      </p:pic>
      <p:cxnSp>
        <p:nvCxnSpPr>
          <p:cNvPr id="7" name="Connecteur droit avec flèche 6">
            <a:extLst>
              <a:ext uri="{FF2B5EF4-FFF2-40B4-BE49-F238E27FC236}">
                <a16:creationId xmlns:a16="http://schemas.microsoft.com/office/drawing/2014/main" id="{EF318F40-2356-385F-21DD-9E0E2B1BE350}"/>
              </a:ext>
            </a:extLst>
          </p:cNvPr>
          <p:cNvCxnSpPr/>
          <p:nvPr/>
        </p:nvCxnSpPr>
        <p:spPr>
          <a:xfrm>
            <a:off x="7228212" y="4074444"/>
            <a:ext cx="18396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20870BB4-A815-45F6-C91C-6CE0C152D4F6}"/>
              </a:ext>
            </a:extLst>
          </p:cNvPr>
          <p:cNvCxnSpPr/>
          <p:nvPr/>
        </p:nvCxnSpPr>
        <p:spPr>
          <a:xfrm>
            <a:off x="1360713" y="4074444"/>
            <a:ext cx="0" cy="1077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09565E86-8C6B-6A5B-EEA7-CAC00883752F}"/>
              </a:ext>
            </a:extLst>
          </p:cNvPr>
          <p:cNvSpPr txBox="1"/>
          <p:nvPr/>
        </p:nvSpPr>
        <p:spPr>
          <a:xfrm>
            <a:off x="6662057" y="3026228"/>
            <a:ext cx="914400" cy="914400"/>
          </a:xfrm>
          <a:prstGeom prst="rect">
            <a:avLst/>
          </a:prstGeom>
          <a:noFill/>
        </p:spPr>
        <p:txBody>
          <a:bodyPr wrap="square" rtlCol="0">
            <a:spAutoFit/>
          </a:bodyPr>
          <a:lstStyle/>
          <a:p>
            <a:endParaRPr lang="fr-FR" dirty="0"/>
          </a:p>
        </p:txBody>
      </p: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15B6D8E6-5283-97CB-A039-33712ACDD98F}"/>
                  </a:ext>
                </a:extLst>
              </p:cNvPr>
              <p:cNvSpPr txBox="1"/>
              <p:nvPr/>
            </p:nvSpPr>
            <p:spPr>
              <a:xfrm>
                <a:off x="0" y="5203372"/>
                <a:ext cx="5072745" cy="1421928"/>
              </a:xfrm>
              <a:prstGeom prst="rect">
                <a:avLst/>
              </a:prstGeom>
              <a:noFill/>
            </p:spPr>
            <p:txBody>
              <a:bodyPr wrap="square" rtlCol="0">
                <a:spAutoFit/>
              </a:bodyPr>
              <a:lstStyle/>
              <a:p>
                <a:pPr marL="609585" marR="0" lvl="0" indent="-304792" defTabSz="914400" rtl="0" eaLnBrk="1" fontAlgn="auto" latinLnBrk="0" hangingPunct="1">
                  <a:lnSpc>
                    <a:spcPct val="90000"/>
                  </a:lnSpc>
                  <a:spcBef>
                    <a:spcPts val="1067"/>
                  </a:spcBef>
                  <a:spcAft>
                    <a:spcPts val="0"/>
                  </a:spcAft>
                  <a:buClr>
                    <a:srgbClr val="FFFFFF"/>
                  </a:buClr>
                  <a:buSzPts val="1700"/>
                  <a:buFont typeface="Arial"/>
                  <a:buNone/>
                  <a:tabLst/>
                  <a:defRPr/>
                </a:pPr>
                <a:r>
                  <a:rPr kumimoji="0" lang="fr-FR" sz="3200" b="0" i="0" u="none" strike="noStrike" kern="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sym typeface="Century Gothic"/>
                  </a:rPr>
                  <a:t>Si  </a:t>
                </a:r>
                <a14:m>
                  <m:oMath xmlns:m="http://schemas.openxmlformats.org/officeDocument/2006/math">
                    <m:r>
                      <a:rPr kumimoji="0" lang="fr-FR" sz="3200" b="1" i="1" u="none" strike="noStrike" kern="0" cap="none" spc="0" normalizeH="0" baseline="0" noProof="0" smtClean="0">
                        <a:ln>
                          <a:noFill/>
                        </a:ln>
                        <a:solidFill>
                          <a:srgbClr val="FFFF00"/>
                        </a:solidFill>
                        <a:effectLst/>
                        <a:uLnTx/>
                        <a:uFillTx/>
                        <a:latin typeface="Cambria Math" panose="02040503050406030204" pitchFamily="18" charset="0"/>
                        <a:sym typeface="Century Gothic"/>
                      </a:rPr>
                      <m:t>𝜽</m:t>
                    </m:r>
                    <m:r>
                      <a:rPr kumimoji="0" lang="fr-FR" sz="3200" b="1" i="1" u="none" strike="noStrike" kern="0" cap="none" spc="0" normalizeH="0" baseline="0" noProof="0" smtClean="0">
                        <a:ln>
                          <a:noFill/>
                        </a:ln>
                        <a:solidFill>
                          <a:srgbClr val="FFFF00"/>
                        </a:solidFill>
                        <a:effectLst/>
                        <a:uLnTx/>
                        <a:uFillTx/>
                        <a:latin typeface="Cambria Math" panose="02040503050406030204" pitchFamily="18" charset="0"/>
                        <a:sym typeface="Century Gothic"/>
                      </a:rPr>
                      <m:t>=</m:t>
                    </m:r>
                    <m:r>
                      <a:rPr kumimoji="0" lang="fr-FR" sz="3200" b="1" i="1" u="none" strike="noStrike" kern="0" cap="none" spc="0" normalizeH="0" baseline="0" noProof="0" smtClean="0">
                        <a:ln>
                          <a:noFill/>
                        </a:ln>
                        <a:solidFill>
                          <a:srgbClr val="FFFF00"/>
                        </a:solidFill>
                        <a:effectLst/>
                        <a:uLnTx/>
                        <a:uFillTx/>
                        <a:latin typeface="Cambria Math" panose="02040503050406030204" pitchFamily="18" charset="0"/>
                        <a:sym typeface="Century Gothic"/>
                      </a:rPr>
                      <m:t>𝟗𝟎</m:t>
                    </m:r>
                    <m:r>
                      <a:rPr kumimoji="0" lang="fr-FR" sz="3200" b="1" i="0" u="none" strike="noStrike" kern="0" cap="none" spc="0" normalizeH="0" baseline="0" noProof="0" smtClean="0">
                        <a:ln>
                          <a:noFill/>
                        </a:ln>
                        <a:solidFill>
                          <a:srgbClr val="FFFF00"/>
                        </a:solidFill>
                        <a:effectLst/>
                        <a:uLnTx/>
                        <a:uFillTx/>
                        <a:latin typeface="Cambria Math" panose="02040503050406030204" pitchFamily="18" charset="0"/>
                        <a:sym typeface="Century Gothic"/>
                      </a:rPr>
                      <m:t>° </m:t>
                    </m:r>
                  </m:oMath>
                </a14:m>
                <a:r>
                  <a:rPr kumimoji="0" lang="fr-FR" sz="3200" b="0" i="0" u="none" strike="noStrike" kern="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sym typeface="Century Gothic"/>
                  </a:rPr>
                  <a:t>(champ parallèle à la surface) →</a:t>
                </a:r>
                <a:r>
                  <a:rPr kumimoji="0" lang="fr-FR" sz="3200" b="0" i="0" u="none" strike="noStrike" kern="0" cap="none" spc="0" normalizeH="0" baseline="0" noProof="0" dirty="0">
                    <a:ln>
                      <a:noFill/>
                    </a:ln>
                    <a:solidFill>
                      <a:srgbClr val="92D050"/>
                    </a:solidFill>
                    <a:effectLst/>
                    <a:uLnTx/>
                    <a:uFillTx/>
                    <a:latin typeface="Times New Roman" panose="02020603050405020304" pitchFamily="18" charset="0"/>
                    <a:cs typeface="Times New Roman" panose="02020603050405020304" pitchFamily="18" charset="0"/>
                    <a:sym typeface="Century Gothic"/>
                  </a:rPr>
                  <a:t> </a:t>
                </a:r>
                <a:r>
                  <a:rPr kumimoji="0" lang="fr-FR" sz="3200" b="1" i="0" u="none" strike="noStrike" kern="0" cap="none" spc="0" normalizeH="0" baseline="0" noProof="0" dirty="0">
                    <a:ln>
                      <a:noFill/>
                    </a:ln>
                    <a:solidFill>
                      <a:srgbClr val="FFFF00"/>
                    </a:solidFill>
                    <a:effectLst/>
                    <a:uLnTx/>
                    <a:uFillTx/>
                    <a:latin typeface="Times New Roman" panose="02020603050405020304" pitchFamily="18" charset="0"/>
                    <a:cs typeface="Times New Roman" panose="02020603050405020304" pitchFamily="18" charset="0"/>
                    <a:sym typeface="Century Gothic"/>
                  </a:rPr>
                  <a:t>flux</a:t>
                </a:r>
                <a:r>
                  <a:rPr kumimoji="0" lang="fr-FR" sz="3200" b="0" i="0" u="none" strike="noStrike" kern="0" cap="none" spc="0" normalizeH="0" baseline="0" noProof="0" dirty="0">
                    <a:ln>
                      <a:noFill/>
                    </a:ln>
                    <a:solidFill>
                      <a:srgbClr val="FFFF00"/>
                    </a:solidFill>
                    <a:effectLst/>
                    <a:uLnTx/>
                    <a:uFillTx/>
                    <a:latin typeface="Times New Roman" panose="02020603050405020304" pitchFamily="18" charset="0"/>
                    <a:cs typeface="Times New Roman" panose="02020603050405020304" pitchFamily="18" charset="0"/>
                    <a:sym typeface="Century Gothic"/>
                  </a:rPr>
                  <a:t> </a:t>
                </a:r>
                <a:r>
                  <a:rPr kumimoji="0" lang="fr-FR" sz="3200" b="1" i="0" u="none" strike="noStrike" kern="0" cap="none" spc="0" normalizeH="0" baseline="0" noProof="0" dirty="0">
                    <a:ln>
                      <a:noFill/>
                    </a:ln>
                    <a:solidFill>
                      <a:srgbClr val="FFFF00"/>
                    </a:solidFill>
                    <a:effectLst/>
                    <a:uLnTx/>
                    <a:uFillTx/>
                    <a:latin typeface="Times New Roman" panose="02020603050405020304" pitchFamily="18" charset="0"/>
                    <a:cs typeface="Times New Roman" panose="02020603050405020304" pitchFamily="18" charset="0"/>
                    <a:sym typeface="Century Gothic"/>
                  </a:rPr>
                  <a:t>nul</a:t>
                </a:r>
                <a:endParaRPr kumimoji="0" lang="fr-FR" sz="3200" b="0" i="0" u="none" strike="noStrike" kern="0" cap="none" spc="0" normalizeH="0" baseline="0" noProof="0" dirty="0">
                  <a:ln>
                    <a:noFill/>
                  </a:ln>
                  <a:solidFill>
                    <a:srgbClr val="FFFF00"/>
                  </a:solidFill>
                  <a:effectLst/>
                  <a:uLnTx/>
                  <a:uFillTx/>
                  <a:latin typeface="Times New Roman" panose="02020603050405020304" pitchFamily="18" charset="0"/>
                  <a:cs typeface="Times New Roman" panose="02020603050405020304" pitchFamily="18" charset="0"/>
                  <a:sym typeface="Century Gothic"/>
                </a:endParaRPr>
              </a:p>
            </p:txBody>
          </p:sp>
        </mc:Choice>
        <mc:Fallback xmlns="">
          <p:sp>
            <p:nvSpPr>
              <p:cNvPr id="11" name="ZoneTexte 10">
                <a:extLst>
                  <a:ext uri="{FF2B5EF4-FFF2-40B4-BE49-F238E27FC236}">
                    <a16:creationId xmlns:a16="http://schemas.microsoft.com/office/drawing/2014/main" id="{15B6D8E6-5283-97CB-A039-33712ACDD98F}"/>
                  </a:ext>
                </a:extLst>
              </p:cNvPr>
              <p:cNvSpPr txBox="1">
                <a:spLocks noRot="1" noChangeAspect="1" noMove="1" noResize="1" noEditPoints="1" noAdjustHandles="1" noChangeArrowheads="1" noChangeShapeType="1" noTextEdit="1"/>
              </p:cNvSpPr>
              <p:nvPr/>
            </p:nvSpPr>
            <p:spPr>
              <a:xfrm>
                <a:off x="0" y="5203372"/>
                <a:ext cx="5072745" cy="1421928"/>
              </a:xfrm>
              <a:prstGeom prst="rect">
                <a:avLst/>
              </a:prstGeom>
              <a:blipFill>
                <a:blip r:embed="rId4"/>
                <a:stretch>
                  <a:fillRect t="-9442" b="-1287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45F00D90-97F4-233D-3426-B358C949E711}"/>
                  </a:ext>
                </a:extLst>
              </p:cNvPr>
              <p:cNvSpPr txBox="1"/>
              <p:nvPr/>
            </p:nvSpPr>
            <p:spPr>
              <a:xfrm>
                <a:off x="6270172" y="5203372"/>
                <a:ext cx="5072745" cy="1255728"/>
              </a:xfrm>
              <a:prstGeom prst="rect">
                <a:avLst/>
              </a:prstGeom>
              <a:noFill/>
            </p:spPr>
            <p:txBody>
              <a:bodyPr wrap="square" rtlCol="0">
                <a:spAutoFit/>
              </a:bodyPr>
              <a:lstStyle/>
              <a:p>
                <a:pPr marL="609585" marR="0" lvl="0" indent="-304792" defTabSz="914400" rtl="0" eaLnBrk="1" fontAlgn="auto" latinLnBrk="0" hangingPunct="1">
                  <a:lnSpc>
                    <a:spcPct val="90000"/>
                  </a:lnSpc>
                  <a:spcBef>
                    <a:spcPts val="1067"/>
                  </a:spcBef>
                  <a:spcAft>
                    <a:spcPts val="0"/>
                  </a:spcAft>
                  <a:buClr>
                    <a:srgbClr val="FFFFFF"/>
                  </a:buClr>
                  <a:buSzPts val="1700"/>
                  <a:buFont typeface="Arial"/>
                  <a:buNone/>
                  <a:tabLst/>
                  <a:defRPr/>
                </a:pPr>
                <a:r>
                  <a:rPr kumimoji="0" lang="fr-FR" sz="2800" b="0" i="0" u="none" strike="noStrike" kern="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sym typeface="Century Gothic"/>
                  </a:rPr>
                  <a:t>Pour </a:t>
                </a:r>
                <a14:m>
                  <m:oMath xmlns:m="http://schemas.openxmlformats.org/officeDocument/2006/math">
                    <m:r>
                      <a:rPr kumimoji="0" lang="fr-FR" sz="2800" b="1" i="1" u="none" strike="noStrike" kern="0" cap="none" spc="0" normalizeH="0" baseline="0" noProof="0" smtClean="0">
                        <a:ln>
                          <a:noFill/>
                        </a:ln>
                        <a:solidFill>
                          <a:srgbClr val="FFFF00"/>
                        </a:solidFill>
                        <a:effectLst/>
                        <a:uLnTx/>
                        <a:uFillTx/>
                        <a:latin typeface="Cambria Math" panose="02040503050406030204" pitchFamily="18" charset="0"/>
                        <a:sym typeface="Century Gothic"/>
                      </a:rPr>
                      <m:t>𝜽</m:t>
                    </m:r>
                    <m:r>
                      <a:rPr kumimoji="0" lang="fr-FR" sz="2800" b="1" i="1" u="none" strike="noStrike" kern="0" cap="none" spc="0" normalizeH="0" baseline="0" noProof="0" smtClean="0">
                        <a:ln>
                          <a:noFill/>
                        </a:ln>
                        <a:solidFill>
                          <a:srgbClr val="FFFF00"/>
                        </a:solidFill>
                        <a:effectLst/>
                        <a:uLnTx/>
                        <a:uFillTx/>
                        <a:latin typeface="Cambria Math" panose="02040503050406030204" pitchFamily="18" charset="0"/>
                        <a:sym typeface="Century Gothic"/>
                      </a:rPr>
                      <m:t>=</m:t>
                    </m:r>
                    <m:r>
                      <a:rPr kumimoji="0" lang="fr-FR" sz="2800" b="1" i="1" u="none" strike="noStrike" kern="0" cap="none" spc="0" normalizeH="0" baseline="0" noProof="0" smtClean="0">
                        <a:ln>
                          <a:noFill/>
                        </a:ln>
                        <a:solidFill>
                          <a:srgbClr val="FFFF00"/>
                        </a:solidFill>
                        <a:effectLst/>
                        <a:uLnTx/>
                        <a:uFillTx/>
                        <a:latin typeface="Cambria Math" panose="02040503050406030204" pitchFamily="18" charset="0"/>
                        <a:sym typeface="Century Gothic"/>
                      </a:rPr>
                      <m:t>𝟎</m:t>
                    </m:r>
                    <m:r>
                      <a:rPr kumimoji="0" lang="fr-FR" sz="2800" b="1" i="0" u="none" strike="noStrike" kern="0" cap="none" spc="0" normalizeH="0" baseline="0" noProof="0">
                        <a:ln>
                          <a:noFill/>
                        </a:ln>
                        <a:solidFill>
                          <a:srgbClr val="FFFF00"/>
                        </a:solidFill>
                        <a:effectLst/>
                        <a:uLnTx/>
                        <a:uFillTx/>
                        <a:latin typeface="Cambria Math" panose="02040503050406030204" pitchFamily="18" charset="0"/>
                        <a:sym typeface="Century Gothic"/>
                      </a:rPr>
                      <m:t>°</m:t>
                    </m:r>
                  </m:oMath>
                </a14:m>
                <a:r>
                  <a:rPr kumimoji="0" lang="fr-FR" sz="2800" b="1" i="0" u="none" strike="noStrike" kern="0" cap="none" spc="0" normalizeH="0" baseline="0" noProof="0" dirty="0">
                    <a:ln>
                      <a:noFill/>
                    </a:ln>
                    <a:solidFill>
                      <a:srgbClr val="FFFF00"/>
                    </a:solidFill>
                    <a:effectLst/>
                    <a:uLnTx/>
                    <a:uFillTx/>
                    <a:latin typeface="Times New Roman" panose="02020603050405020304" pitchFamily="18" charset="0"/>
                    <a:cs typeface="Times New Roman" panose="02020603050405020304" pitchFamily="18" charset="0"/>
                    <a:sym typeface="Century Gothic"/>
                  </a:rPr>
                  <a:t>(</a:t>
                </a:r>
                <a:r>
                  <a:rPr kumimoji="0" lang="fr-FR" sz="2800" b="0" i="0" u="none" strike="noStrike" kern="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sym typeface="Century Gothic"/>
                  </a:rPr>
                  <a:t>champ perpendiculaire à la surface) → </a:t>
                </a:r>
                <a:r>
                  <a:rPr kumimoji="0" lang="fr-FR" sz="2800" b="1" i="0" u="none" strike="noStrike" kern="0" cap="none" spc="0" normalizeH="0" baseline="0" noProof="0" dirty="0">
                    <a:ln>
                      <a:noFill/>
                    </a:ln>
                    <a:solidFill>
                      <a:srgbClr val="FFFF00"/>
                    </a:solidFill>
                    <a:effectLst/>
                    <a:uLnTx/>
                    <a:uFillTx/>
                    <a:latin typeface="Times New Roman" panose="02020603050405020304" pitchFamily="18" charset="0"/>
                    <a:cs typeface="Times New Roman" panose="02020603050405020304" pitchFamily="18" charset="0"/>
                    <a:sym typeface="Century Gothic"/>
                  </a:rPr>
                  <a:t>flux</a:t>
                </a:r>
                <a:r>
                  <a:rPr kumimoji="0" lang="fr-FR" sz="2800" b="0" i="0" u="none" strike="noStrike" kern="0" cap="none" spc="0" normalizeH="0" baseline="0" noProof="0" dirty="0">
                    <a:ln>
                      <a:noFill/>
                    </a:ln>
                    <a:solidFill>
                      <a:srgbClr val="FFFF00"/>
                    </a:solidFill>
                    <a:effectLst/>
                    <a:uLnTx/>
                    <a:uFillTx/>
                    <a:latin typeface="Times New Roman" panose="02020603050405020304" pitchFamily="18" charset="0"/>
                    <a:cs typeface="Times New Roman" panose="02020603050405020304" pitchFamily="18" charset="0"/>
                    <a:sym typeface="Century Gothic"/>
                  </a:rPr>
                  <a:t> </a:t>
                </a:r>
                <a:r>
                  <a:rPr kumimoji="0" lang="fr-FR" sz="2800" b="1" i="0" u="none" strike="noStrike" kern="0" cap="none" spc="0" normalizeH="0" baseline="0" noProof="0" dirty="0">
                    <a:ln>
                      <a:noFill/>
                    </a:ln>
                    <a:solidFill>
                      <a:srgbClr val="FFFF00"/>
                    </a:solidFill>
                    <a:effectLst/>
                    <a:uLnTx/>
                    <a:uFillTx/>
                    <a:latin typeface="Times New Roman" panose="02020603050405020304" pitchFamily="18" charset="0"/>
                    <a:cs typeface="Times New Roman" panose="02020603050405020304" pitchFamily="18" charset="0"/>
                    <a:sym typeface="Century Gothic"/>
                  </a:rPr>
                  <a:t>maximal</a:t>
                </a:r>
                <a:endParaRPr kumimoji="0" lang="fr-FR" sz="2800" b="0" i="0" u="none" strike="noStrike" kern="0" cap="none" spc="0" normalizeH="0" baseline="0" noProof="0" dirty="0">
                  <a:ln>
                    <a:noFill/>
                  </a:ln>
                  <a:solidFill>
                    <a:srgbClr val="FFFF00"/>
                  </a:solidFill>
                  <a:effectLst/>
                  <a:uLnTx/>
                  <a:uFillTx/>
                  <a:latin typeface="Times New Roman" panose="02020603050405020304" pitchFamily="18" charset="0"/>
                  <a:cs typeface="Times New Roman" panose="02020603050405020304" pitchFamily="18" charset="0"/>
                  <a:sym typeface="Century Gothic"/>
                </a:endParaRPr>
              </a:p>
            </p:txBody>
          </p:sp>
        </mc:Choice>
        <mc:Fallback xmlns="">
          <p:sp>
            <p:nvSpPr>
              <p:cNvPr id="15" name="ZoneTexte 14">
                <a:extLst>
                  <a:ext uri="{FF2B5EF4-FFF2-40B4-BE49-F238E27FC236}">
                    <a16:creationId xmlns:a16="http://schemas.microsoft.com/office/drawing/2014/main" id="{45F00D90-97F4-233D-3426-B358C949E711}"/>
                  </a:ext>
                </a:extLst>
              </p:cNvPr>
              <p:cNvSpPr txBox="1">
                <a:spLocks noRot="1" noChangeAspect="1" noMove="1" noResize="1" noEditPoints="1" noAdjustHandles="1" noChangeArrowheads="1" noChangeShapeType="1" noTextEdit="1"/>
              </p:cNvSpPr>
              <p:nvPr/>
            </p:nvSpPr>
            <p:spPr>
              <a:xfrm>
                <a:off x="6270172" y="5203372"/>
                <a:ext cx="5072745" cy="1255728"/>
              </a:xfrm>
              <a:prstGeom prst="rect">
                <a:avLst/>
              </a:prstGeom>
              <a:blipFill>
                <a:blip r:embed="rId5"/>
                <a:stretch>
                  <a:fillRect t="-8738" b="-12621"/>
                </a:stretch>
              </a:blipFill>
            </p:spPr>
            <p:txBody>
              <a:bodyPr/>
              <a:lstStyle/>
              <a:p>
                <a:r>
                  <a:rPr lang="fr-FR">
                    <a:noFill/>
                  </a:rPr>
                  <a:t> </a:t>
                </a:r>
              </a:p>
            </p:txBody>
          </p:sp>
        </mc:Fallback>
      </mc:AlternateContent>
    </p:spTree>
    <p:extLst>
      <p:ext uri="{BB962C8B-B14F-4D97-AF65-F5344CB8AC3E}">
        <p14:creationId xmlns:p14="http://schemas.microsoft.com/office/powerpoint/2010/main" val="13679400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4711F6-0EB3-ADA0-B6C9-6527698CDF2F}"/>
              </a:ext>
            </a:extLst>
          </p:cNvPr>
          <p:cNvSpPr>
            <a:spLocks noGrp="1"/>
          </p:cNvSpPr>
          <p:nvPr>
            <p:ph type="title"/>
          </p:nvPr>
        </p:nvSpPr>
        <p:spPr>
          <a:xfrm>
            <a:off x="925286" y="1"/>
            <a:ext cx="10417628" cy="1839686"/>
          </a:xfrm>
        </p:spPr>
        <p:txBody>
          <a:bodyPr>
            <a:normAutofit/>
          </a:bodyPr>
          <a:lstStyle/>
          <a:p>
            <a:pPr algn="ctr"/>
            <a:r>
              <a:rPr lang="fr-FR" sz="4400" b="1" noProof="0" dirty="0">
                <a:solidFill>
                  <a:srgbClr val="FFC000"/>
                </a:solidFill>
                <a:latin typeface="Segoe UI Emoji" panose="020B0502040204020203" pitchFamily="34" charset="0"/>
                <a:ea typeface="Times New Roman" panose="02020603050405020304" pitchFamily="18" charset="0"/>
                <a:cs typeface="Segoe UI Emoji" panose="020B0502040204020203" pitchFamily="34" charset="0"/>
              </a:rPr>
              <a:t>⚡</a:t>
            </a:r>
            <a:r>
              <a:rPr lang="fr-FR" sz="4400"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C – Le dipôle électrique </a:t>
            </a:r>
            <a:r>
              <a:rPr kumimoji="0" lang="fr-FR" sz="36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fr-FR" sz="4400" b="1" noProof="0" dirty="0">
                <a:solidFill>
                  <a:schemeClr val="accent1"/>
                </a:solidFill>
                <a:latin typeface="Times New Roman" panose="02020603050405020304" pitchFamily="18" charset="0"/>
                <a:ea typeface="Times New Roman" panose="02020603050405020304" pitchFamily="18" charset="0"/>
                <a:cs typeface="Arial" panose="020B0604020202020204" pitchFamily="34" charset="0"/>
              </a:rPr>
              <a:t>The </a:t>
            </a:r>
            <a:r>
              <a:rPr lang="fr-FR" sz="4400" b="1" noProof="0" dirty="0" err="1">
                <a:solidFill>
                  <a:schemeClr val="accent1"/>
                </a:solidFill>
                <a:latin typeface="Times New Roman" panose="02020603050405020304" pitchFamily="18" charset="0"/>
                <a:ea typeface="Times New Roman" panose="02020603050405020304" pitchFamily="18" charset="0"/>
                <a:cs typeface="Arial" panose="020B0604020202020204" pitchFamily="34" charset="0"/>
              </a:rPr>
              <a:t>dipole</a:t>
            </a:r>
            <a:br>
              <a:rPr lang="fr-FR" sz="4400"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r>
              <a:rPr lang="fr-FR" sz="4400" kern="100" noProof="0" dirty="0">
                <a:solidFill>
                  <a:srgbClr val="FFC000"/>
                </a:solidFill>
                <a:latin typeface="Aptos" panose="020B0004020202020204" pitchFamily="34" charset="0"/>
                <a:ea typeface="Aptos" panose="020B0004020202020204" pitchFamily="34" charset="0"/>
                <a:cs typeface="Arial" panose="020B0604020202020204" pitchFamily="34" charset="0"/>
              </a:rPr>
              <a:t> </a:t>
            </a:r>
            <a:r>
              <a:rPr lang="fr-FR" sz="4400" b="1" noProof="0" dirty="0">
                <a:latin typeface="Segoe UI Emoji" panose="020B0502040204020203" pitchFamily="34" charset="0"/>
                <a:ea typeface="Times New Roman" panose="02020603050405020304" pitchFamily="18" charset="0"/>
                <a:cs typeface="Segoe UI Emoji" panose="020B0502040204020203" pitchFamily="34" charset="0"/>
              </a:rPr>
              <a:t>🧩</a:t>
            </a:r>
            <a:r>
              <a:rPr lang="fr-FR" sz="4400" b="1" noProof="0" dirty="0">
                <a:latin typeface="Times New Roman" panose="02020603050405020304" pitchFamily="18" charset="0"/>
                <a:ea typeface="Times New Roman" panose="02020603050405020304" pitchFamily="18" charset="0"/>
                <a:cs typeface="Arial" panose="020B0604020202020204" pitchFamily="34" charset="0"/>
              </a:rPr>
              <a:t> </a:t>
            </a:r>
            <a:r>
              <a:rPr lang="fr-FR" sz="4400" b="1" noProof="0" dirty="0">
                <a:solidFill>
                  <a:schemeClr val="accent2"/>
                </a:solidFill>
                <a:latin typeface="Times New Roman" panose="02020603050405020304" pitchFamily="18" charset="0"/>
                <a:ea typeface="Times New Roman" panose="02020603050405020304" pitchFamily="18" charset="0"/>
                <a:cs typeface="Arial" panose="020B0604020202020204" pitchFamily="34" charset="0"/>
              </a:rPr>
              <a:t>1. Définition</a:t>
            </a:r>
            <a:br>
              <a:rPr lang="fr-FR" kern="100" noProof="0" dirty="0">
                <a:latin typeface="Aptos" panose="020B0004020202020204" pitchFamily="34" charset="0"/>
                <a:ea typeface="Aptos" panose="020B0004020202020204" pitchFamily="34" charset="0"/>
                <a:cs typeface="Arial" panose="020B0604020202020204" pitchFamily="34" charset="0"/>
              </a:rPr>
            </a:br>
            <a:endParaRPr lang="fr-FR"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96052A07-A27E-BA4D-3E56-093E2DAF2E41}"/>
                  </a:ext>
                </a:extLst>
              </p:cNvPr>
              <p:cNvSpPr>
                <a:spLocks noGrp="1"/>
              </p:cNvSpPr>
              <p:nvPr>
                <p:ph type="body" idx="1"/>
              </p:nvPr>
            </p:nvSpPr>
            <p:spPr>
              <a:xfrm>
                <a:off x="598715" y="1839687"/>
                <a:ext cx="4626429" cy="4082143"/>
              </a:xfrm>
              <a:solidFill>
                <a:schemeClr val="accent1">
                  <a:lumMod val="75000"/>
                </a:schemeClr>
              </a:solidFill>
              <a:scene3d>
                <a:camera prst="orthographicFront"/>
                <a:lightRig rig="threePt" dir="t"/>
              </a:scene3d>
              <a:sp3d>
                <a:bevelT w="114300" prst="artDeco"/>
              </a:sp3d>
            </p:spPr>
            <p:txBody>
              <a:bodyPr/>
              <a:lstStyle/>
              <a:p>
                <a:pPr algn="l">
                  <a:lnSpc>
                    <a:spcPct val="115000"/>
                  </a:lnSpc>
                  <a:spcAft>
                    <a:spcPts val="800"/>
                  </a:spcAft>
                  <a:buNone/>
                </a:pP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Système formé de deux</a:t>
                </a:r>
              </a:p>
              <a:p>
                <a:pPr algn="l">
                  <a:lnSpc>
                    <a:spcPct val="115000"/>
                  </a:lnSpc>
                  <a:spcAft>
                    <a:spcPts val="800"/>
                  </a:spcAft>
                  <a:buNone/>
                </a:pP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charges </a:t>
                </a:r>
                <a14:m>
                  <m:oMath xmlns:m="http://schemas.openxmlformats.org/officeDocument/2006/math">
                    <m:d>
                      <m:dPr>
                        <m:begChr m:val="|"/>
                        <m:endChr m:val="|"/>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𝒒</m:t>
                            </m:r>
                          </m:e>
                          <m:sub>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𝟏</m:t>
                            </m:r>
                          </m:sub>
                        </m:sSub>
                      </m:e>
                    </m:d>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𝒒</m:t>
                            </m:r>
                          </m:e>
                          <m:sub>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𝟐</m:t>
                            </m:r>
                          </m:sub>
                        </m:sSub>
                      </m:e>
                    </m:d>
                  </m:oMath>
                </a14:m>
                <a:endParaRPr lang="fr-FR" sz="3200" b="1" kern="0" noProof="0" dirty="0">
                  <a:effectLst/>
                  <a:latin typeface="Times New Roman" panose="02020603050405020304" pitchFamily="18" charset="0"/>
                  <a:ea typeface="Times New Roman" panose="02020603050405020304" pitchFamily="18" charset="0"/>
                  <a:cs typeface="Arial" panose="020B0604020202020204" pitchFamily="34" charset="0"/>
                </a:endParaRPr>
              </a:p>
              <a:p>
                <a:pPr algn="l">
                  <a:lnSpc>
                    <a:spcPct val="115000"/>
                  </a:lnSpc>
                  <a:spcAft>
                    <a:spcPts val="800"/>
                  </a:spcAft>
                  <a:buNone/>
                </a:pP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séparées par une distance</a:t>
                </a:r>
                <a:endParaRPr lang="fr-FR" sz="3200" b="1" i="1" kern="0" noProof="0" dirty="0">
                  <a:solidFill>
                    <a:schemeClr val="accent2"/>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l">
                  <a:lnSpc>
                    <a:spcPct val="115000"/>
                  </a:lnSpc>
                  <a:spcAft>
                    <a:spcPts val="800"/>
                  </a:spcAft>
                  <a:buNone/>
                </a:pPr>
                <a14:m>
                  <m:oMath xmlns:m="http://schemas.openxmlformats.org/officeDocument/2006/math">
                    <m:r>
                      <a:rPr lang="fr-FR" sz="32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𝒅</m:t>
                    </m:r>
                    <m:r>
                      <a:rPr lang="fr-FR" sz="3200" b="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très petite devant les</a:t>
                </a:r>
              </a:p>
              <a:p>
                <a:pPr algn="l">
                  <a:lnSpc>
                    <a:spcPct val="115000"/>
                  </a:lnSpc>
                  <a:spcAft>
                    <a:spcPts val="800"/>
                  </a:spcAft>
                  <a:buNone/>
                </a:pP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distances d’observation</a:t>
                </a: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4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mc:Choice>
        <mc:Fallback xmlns="">
          <p:sp>
            <p:nvSpPr>
              <p:cNvPr id="3" name="Espace réservé du texte 2">
                <a:extLst>
                  <a:ext uri="{FF2B5EF4-FFF2-40B4-BE49-F238E27FC236}">
                    <a16:creationId xmlns:a16="http://schemas.microsoft.com/office/drawing/2014/main" id="{96052A07-A27E-BA4D-3E56-093E2DAF2E41}"/>
                  </a:ext>
                </a:extLst>
              </p:cNvPr>
              <p:cNvSpPr>
                <a:spLocks noGrp="1" noRot="1" noChangeAspect="1" noMove="1" noResize="1" noEditPoints="1" noAdjustHandles="1" noChangeArrowheads="1" noChangeShapeType="1" noTextEdit="1"/>
              </p:cNvSpPr>
              <p:nvPr>
                <p:ph type="body" idx="1"/>
              </p:nvPr>
            </p:nvSpPr>
            <p:spPr>
              <a:xfrm>
                <a:off x="598715" y="1839687"/>
                <a:ext cx="4626429" cy="4082143"/>
              </a:xfrm>
              <a:blipFill>
                <a:blip r:embed="rId2"/>
                <a:stretch>
                  <a:fillRect r="-2487" b="-1037"/>
                </a:stretch>
              </a:blipFill>
            </p:spPr>
            <p:txBody>
              <a:bodyPr/>
              <a:lstStyle/>
              <a:p>
                <a:r>
                  <a:rPr lang="fr-FR">
                    <a:noFill/>
                  </a:rPr>
                  <a:t> </a:t>
                </a:r>
              </a:p>
            </p:txBody>
          </p:sp>
        </mc:Fallback>
      </mc:AlternateContent>
      <p:pic>
        <p:nvPicPr>
          <p:cNvPr id="4" name="Image 3">
            <a:extLst>
              <a:ext uri="{FF2B5EF4-FFF2-40B4-BE49-F238E27FC236}">
                <a16:creationId xmlns:a16="http://schemas.microsoft.com/office/drawing/2014/main" id="{88DC3B6D-3981-9DC3-18ED-D5EACA90EB9E}"/>
              </a:ext>
            </a:extLst>
          </p:cNvPr>
          <p:cNvPicPr>
            <a:picLocks noChangeAspect="1"/>
          </p:cNvPicPr>
          <p:nvPr/>
        </p:nvPicPr>
        <p:blipFill>
          <a:blip r:embed="rId3"/>
          <a:stretch>
            <a:fillRect/>
          </a:stretch>
        </p:blipFill>
        <p:spPr>
          <a:xfrm>
            <a:off x="5225144" y="1839687"/>
            <a:ext cx="6542314" cy="4082143"/>
          </a:xfrm>
          <a:prstGeom prst="rect">
            <a:avLst/>
          </a:prstGeom>
          <a:scene3d>
            <a:camera prst="orthographicFront"/>
            <a:lightRig rig="threePt" dir="t"/>
          </a:scene3d>
          <a:sp3d>
            <a:bevelT w="114300" prst="artDeco"/>
          </a:sp3d>
        </p:spPr>
      </p:pic>
      <p:sp>
        <p:nvSpPr>
          <p:cNvPr id="8" name="ZoneTexte 7">
            <a:extLst>
              <a:ext uri="{FF2B5EF4-FFF2-40B4-BE49-F238E27FC236}">
                <a16:creationId xmlns:a16="http://schemas.microsoft.com/office/drawing/2014/main" id="{F3090921-B94D-39F6-1251-1DE589A6D7C9}"/>
              </a:ext>
            </a:extLst>
          </p:cNvPr>
          <p:cNvSpPr txBox="1"/>
          <p:nvPr/>
        </p:nvSpPr>
        <p:spPr>
          <a:xfrm>
            <a:off x="10232572" y="1986642"/>
            <a:ext cx="1643743" cy="369332"/>
          </a:xfrm>
          <a:prstGeom prst="rect">
            <a:avLst/>
          </a:prstGeom>
          <a:noFill/>
        </p:spPr>
        <p:txBody>
          <a:bodyPr wrap="square" rtlCol="0">
            <a:spAutoFit/>
          </a:bodyPr>
          <a:lstStyle/>
          <a:p>
            <a:r>
              <a:rPr lang="fr-FR" noProof="0" dirty="0">
                <a:solidFill>
                  <a:srgbClr val="0070C0"/>
                </a:solidFill>
              </a:rPr>
              <a:t>Observateu</a:t>
            </a:r>
            <a:r>
              <a:rPr lang="fr-FR" noProof="0" dirty="0"/>
              <a:t>r</a:t>
            </a:r>
          </a:p>
        </p:txBody>
      </p:sp>
    </p:spTree>
    <p:extLst>
      <p:ext uri="{BB962C8B-B14F-4D97-AF65-F5344CB8AC3E}">
        <p14:creationId xmlns:p14="http://schemas.microsoft.com/office/powerpoint/2010/main" val="3007413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C7D3D1-E15E-75BC-DFCB-C85A60C89AA2}"/>
              </a:ext>
            </a:extLst>
          </p:cNvPr>
          <p:cNvSpPr>
            <a:spLocks noGrp="1"/>
          </p:cNvSpPr>
          <p:nvPr>
            <p:ph type="title"/>
          </p:nvPr>
        </p:nvSpPr>
        <p:spPr>
          <a:xfrm>
            <a:off x="685800" y="753533"/>
            <a:ext cx="10820400" cy="1292981"/>
          </a:xfrm>
        </p:spPr>
        <p:txBody>
          <a:bodyPr/>
          <a:lstStyle/>
          <a:p>
            <a:pPr algn="l"/>
            <a:r>
              <a:rPr lang="fr-FR" sz="4400" b="1" noProof="0" dirty="0">
                <a:solidFill>
                  <a:srgbClr val="FFC000"/>
                </a:solidFill>
                <a:latin typeface="Segoe UI Emoji" panose="020B0502040204020203" pitchFamily="34" charset="0"/>
                <a:ea typeface="Times New Roman" panose="02020603050405020304" pitchFamily="18" charset="0"/>
                <a:cs typeface="Segoe UI Emoji" panose="020B0502040204020203" pitchFamily="34" charset="0"/>
              </a:rPr>
              <a:t>⚖️</a:t>
            </a:r>
            <a:r>
              <a:rPr lang="fr-FR" sz="4400" b="1"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C. </a:t>
            </a: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2. Moment dipolaire</a:t>
            </a:r>
            <a:r>
              <a:rPr kumimoji="0" lang="fr-FR" sz="36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a:t>
            </a:r>
            <a:r>
              <a:rPr lang="fr-FR" b="1" noProof="0" dirty="0" err="1">
                <a:solidFill>
                  <a:schemeClr val="accent1"/>
                </a:solidFill>
                <a:latin typeface="Times New Roman" panose="02020603050405020304" pitchFamily="18" charset="0"/>
                <a:ea typeface="Times New Roman" panose="02020603050405020304" pitchFamily="18" charset="0"/>
                <a:cs typeface="Arial" panose="020B0604020202020204" pitchFamily="34" charset="0"/>
              </a:rPr>
              <a:t>Dipole</a:t>
            </a:r>
            <a:r>
              <a:rPr lang="fr-FR" b="1" noProof="0" dirty="0">
                <a:solidFill>
                  <a:schemeClr val="accent1"/>
                </a:solidFill>
                <a:latin typeface="Times New Roman" panose="02020603050405020304" pitchFamily="18" charset="0"/>
                <a:ea typeface="Times New Roman" panose="02020603050405020304" pitchFamily="18" charset="0"/>
                <a:cs typeface="Arial" panose="020B0604020202020204" pitchFamily="34" charset="0"/>
              </a:rPr>
              <a:t> moment</a:t>
            </a:r>
            <a:br>
              <a:rPr lang="fr-FR"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endParaRPr lang="fr-FR"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F5A76900-6827-CABE-DD1C-E33F8E5CF229}"/>
                  </a:ext>
                </a:extLst>
              </p:cNvPr>
              <p:cNvSpPr>
                <a:spLocks noGrp="1"/>
              </p:cNvSpPr>
              <p:nvPr>
                <p:ph type="body" idx="1"/>
              </p:nvPr>
            </p:nvSpPr>
            <p:spPr>
              <a:xfrm>
                <a:off x="555172" y="1872343"/>
                <a:ext cx="10959696" cy="4484914"/>
              </a:xfrm>
              <a:solidFill>
                <a:schemeClr val="accent2">
                  <a:lumMod val="75000"/>
                </a:schemeClr>
              </a:solidFill>
            </p:spPr>
            <p:txBody>
              <a:bodyPr/>
              <a:lstStyle/>
              <a:p>
                <a:pPr algn="l">
                  <a:lnSpc>
                    <a:spcPct val="115000"/>
                  </a:lnSpc>
                  <a:spcAft>
                    <a:spcPts val="800"/>
                  </a:spcAft>
                  <a:buNone/>
                </a:pP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Le </a:t>
                </a:r>
                <a:r>
                  <a:rPr lang="fr-FR" sz="3200" b="1" kern="0" noProof="0" dirty="0">
                    <a:effectLst/>
                    <a:latin typeface="Times New Roman" panose="02020603050405020304" pitchFamily="18" charset="0"/>
                    <a:ea typeface="Times New Roman" panose="02020603050405020304" pitchFamily="18" charset="0"/>
                    <a:cs typeface="Arial" panose="020B0604020202020204" pitchFamily="34" charset="0"/>
                  </a:rPr>
                  <a:t>moment dipolaire</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est un vecteur caractéristique du dipôle :</a:t>
                </a: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14:m>
                  <m:oMathPara xmlns:m="http://schemas.openxmlformats.org/officeDocument/2006/math">
                    <m:oMathParaPr>
                      <m:jc m:val="centerGroup"/>
                    </m:oMathParaPr>
                    <m:oMath xmlns:m="http://schemas.openxmlformats.org/officeDocument/2006/math">
                      <m:borderBox>
                        <m:borderBoxPr>
                          <m:ctrlP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borderBoxPr>
                        <m:e>
                          <m:acc>
                            <m:accPr>
                              <m:chr m:val="⃗"/>
                              <m:ctrlP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𝒑</m:t>
                              </m:r>
                            </m:e>
                          </m:acc>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𝒒</m:t>
                          </m:r>
                          <m:r>
                            <m:rPr>
                              <m:nor/>
                            </m:rPr>
                            <a:rPr lang="fr-FR" sz="4000" b="1" kern="0" noProof="0" smtClean="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40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𝒅</m:t>
                              </m:r>
                            </m:e>
                          </m:acc>
                        </m:e>
                      </m:borderBox>
                    </m:oMath>
                  </m:oMathPara>
                </a14:m>
                <a:br>
                  <a:rPr lang="fr-FR" sz="3200" kern="0" noProof="0" dirty="0">
                    <a:effectLst/>
                    <a:latin typeface="Cambria Math" panose="02040503050406030204" pitchFamily="18" charset="0"/>
                    <a:ea typeface="Times New Roman" panose="02020603050405020304" pitchFamily="18" charset="0"/>
                    <a:cs typeface="Times New Roman" panose="02020603050405020304" pitchFamily="18" charset="0"/>
                  </a:rPr>
                </a:b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a:lnSpc>
                    <a:spcPct val="115000"/>
                  </a:lnSpc>
                  <a:buFont typeface="Symbol" panose="05050102010706020507" pitchFamily="18" charset="2"/>
                  <a:buBlip>
                    <a:blip r:embed="rId2"/>
                  </a:buBlip>
                </a:pPr>
                <a14:m>
                  <m:oMath xmlns:m="http://schemas.openxmlformats.org/officeDocument/2006/math">
                    <m:r>
                      <a:rPr lang="fr-FR" sz="32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𝑞</m:t>
                    </m:r>
                  </m:oMath>
                </a14:m>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valeur de la charge (en C),</a:t>
                </a:r>
                <a:endParaRPr lang="fr-FR" sz="3200" kern="100" noProof="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a:lnSpc>
                    <a:spcPct val="115000"/>
                  </a:lnSpc>
                  <a:spcAft>
                    <a:spcPts val="800"/>
                  </a:spcAft>
                  <a:buFont typeface="Symbol" panose="05050102010706020507" pitchFamily="18" charset="2"/>
                  <a:buBlip>
                    <a:blip r:embed="rId2"/>
                  </a:buBlip>
                </a:pPr>
                <a14:m>
                  <m:oMath xmlns:m="http://schemas.openxmlformats.org/officeDocument/2006/math">
                    <m:acc>
                      <m:accPr>
                        <m:chr m:val="⃗"/>
                        <m:ctrlPr>
                          <a:rPr lang="fr-FR" sz="32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2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𝑑</m:t>
                        </m:r>
                      </m:e>
                    </m:acc>
                  </m:oMath>
                </a14:m>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vecteur allant de la charge </a:t>
                </a:r>
                <a:r>
                  <a:rPr lang="fr-FR" sz="3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négative</a:t>
                </a:r>
                <a:r>
                  <a:rPr lang="fr-FR" sz="3200" kern="0" noProof="0" dirty="0">
                    <a:effectLst/>
                    <a:latin typeface="Times New Roman" panose="02020603050405020304" pitchFamily="18" charset="0"/>
                    <a:ea typeface="Times New Roman" panose="02020603050405020304" pitchFamily="18" charset="0"/>
                    <a:cs typeface="Arial" panose="020B0604020202020204" pitchFamily="34" charset="0"/>
                  </a:rPr>
                  <a:t> vers la charge </a:t>
                </a:r>
                <a:r>
                  <a:rPr lang="fr-FR" sz="3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positive</a:t>
                </a:r>
                <a:r>
                  <a:rPr lang="fr-FR" sz="3200"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fr-FR" sz="2800" i="1" kern="0" noProof="0" dirty="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marL="342900" lvl="0" indent="-342900" algn="l">
                  <a:lnSpc>
                    <a:spcPct val="115000"/>
                  </a:lnSpc>
                  <a:spcAft>
                    <a:spcPts val="800"/>
                  </a:spcAft>
                  <a:buFont typeface="Symbol" panose="05050102010706020507" pitchFamily="18" charset="2"/>
                  <a:buBlip>
                    <a:blip r:embed="rId2"/>
                  </a:buBlip>
                </a:pPr>
                <a14:m>
                  <m:oMath xmlns:m="http://schemas.openxmlformats.org/officeDocument/2006/math">
                    <m:acc>
                      <m:accPr>
                        <m:chr m:val="⃗"/>
                        <m:ctrlP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2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𝑝</m:t>
                        </m:r>
                      </m:e>
                    </m:acc>
                  </m:oMath>
                </a14:m>
                <a:r>
                  <a:rPr lang="fr-FR" sz="3200" kern="0" noProof="0" dirty="0">
                    <a:effectLst/>
                    <a:latin typeface="Times New Roman" panose="02020603050405020304" pitchFamily="18" charset="0"/>
                    <a:ea typeface="Times New Roman" panose="02020603050405020304" pitchFamily="18" charset="0"/>
                  </a:rPr>
                  <a:t>: moment dipolaire (en </a:t>
                </a:r>
                <a:r>
                  <a:rPr lang="fr-FR" sz="3200" kern="0" noProof="0" dirty="0" err="1">
                    <a:effectLst/>
                    <a:latin typeface="Times New Roman" panose="02020603050405020304" pitchFamily="18" charset="0"/>
                    <a:ea typeface="Times New Roman" panose="02020603050405020304" pitchFamily="18" charset="0"/>
                  </a:rPr>
                  <a:t>C·m</a:t>
                </a:r>
                <a:r>
                  <a:rPr lang="fr-FR" sz="3200" kern="0" noProof="0" dirty="0">
                    <a:effectLst/>
                    <a:latin typeface="Times New Roman" panose="02020603050405020304" pitchFamily="18" charset="0"/>
                    <a:ea typeface="Times New Roman" panose="02020603050405020304" pitchFamily="18" charset="0"/>
                  </a:rPr>
                  <a:t>)</a:t>
                </a:r>
                <a:r>
                  <a:rPr lang="fr-FR" sz="2400" kern="0" noProof="0" dirty="0">
                    <a:effectLst/>
                    <a:latin typeface="Times New Roman" panose="02020603050405020304" pitchFamily="18" charset="0"/>
                    <a:ea typeface="Times New Roman" panose="02020603050405020304" pitchFamily="18" charset="0"/>
                  </a:rPr>
                  <a:t>.</a:t>
                </a:r>
                <a:endParaRPr lang="fr-FR" noProof="0" dirty="0"/>
              </a:p>
            </p:txBody>
          </p:sp>
        </mc:Choice>
        <mc:Fallback xmlns="">
          <p:sp>
            <p:nvSpPr>
              <p:cNvPr id="3" name="Espace réservé du texte 2">
                <a:extLst>
                  <a:ext uri="{FF2B5EF4-FFF2-40B4-BE49-F238E27FC236}">
                    <a16:creationId xmlns:a16="http://schemas.microsoft.com/office/drawing/2014/main" id="{F5A76900-6827-CABE-DD1C-E33F8E5CF229}"/>
                  </a:ext>
                </a:extLst>
              </p:cNvPr>
              <p:cNvSpPr>
                <a:spLocks noGrp="1" noRot="1" noChangeAspect="1" noMove="1" noResize="1" noEditPoints="1" noAdjustHandles="1" noChangeArrowheads="1" noChangeShapeType="1" noTextEdit="1"/>
              </p:cNvSpPr>
              <p:nvPr>
                <p:ph type="body" idx="1"/>
              </p:nvPr>
            </p:nvSpPr>
            <p:spPr>
              <a:xfrm>
                <a:off x="555172" y="1872343"/>
                <a:ext cx="10959696" cy="4484914"/>
              </a:xfrm>
              <a:blipFill>
                <a:blip r:embed="rId3"/>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41023591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52F279-FEAC-3657-BBE9-67EEBE2AAC6D}"/>
              </a:ext>
            </a:extLst>
          </p:cNvPr>
          <p:cNvSpPr>
            <a:spLocks noGrp="1"/>
          </p:cNvSpPr>
          <p:nvPr>
            <p:ph type="title"/>
          </p:nvPr>
        </p:nvSpPr>
        <p:spPr>
          <a:xfrm>
            <a:off x="685799" y="0"/>
            <a:ext cx="10970580" cy="1012371"/>
          </a:xfrm>
        </p:spPr>
        <p:txBody>
          <a:bodyPr>
            <a:normAutofit fontScale="90000"/>
          </a:bodyPr>
          <a:lstStyle/>
          <a:p>
            <a:pPr algn="ctr"/>
            <a:br>
              <a:rPr lang="fr-FR" kern="100" noProof="0" dirty="0">
                <a:latin typeface="Aptos" panose="020B0004020202020204" pitchFamily="34" charset="0"/>
                <a:ea typeface="Aptos" panose="020B0004020202020204" pitchFamily="34" charset="0"/>
                <a:cs typeface="Arial" panose="020B0604020202020204" pitchFamily="34" charset="0"/>
              </a:rPr>
            </a:b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C-3. Potentiel créé en M par le dipôle</a:t>
            </a:r>
            <a:b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lang="en-US"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a:t>
            </a:r>
            <a:r>
              <a:rPr lang="en-US" b="1" noProof="0" dirty="0">
                <a:solidFill>
                  <a:schemeClr val="accent1"/>
                </a:solidFill>
                <a:latin typeface="Times New Roman" panose="02020603050405020304" pitchFamily="18" charset="0"/>
                <a:ea typeface="Times New Roman" panose="02020603050405020304" pitchFamily="18" charset="0"/>
                <a:cs typeface="Arial" panose="020B0604020202020204" pitchFamily="34" charset="0"/>
              </a:rPr>
              <a:t>Potential at point M due to the dipole</a:t>
            </a:r>
            <a:endParaRPr lang="fr-FR" noProof="0" dirty="0">
              <a:solidFill>
                <a:schemeClr val="accent1"/>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2F4AA6BC-F63C-58EA-C995-C8D97300B1F0}"/>
                  </a:ext>
                </a:extLst>
              </p:cNvPr>
              <p:cNvSpPr>
                <a:spLocks noGrp="1"/>
              </p:cNvSpPr>
              <p:nvPr>
                <p:ph type="body" idx="1"/>
              </p:nvPr>
            </p:nvSpPr>
            <p:spPr>
              <a:xfrm>
                <a:off x="381000" y="1219200"/>
                <a:ext cx="11647713" cy="5551714"/>
              </a:xfrm>
              <a:solidFill>
                <a:schemeClr val="accent2">
                  <a:lumMod val="75000"/>
                </a:schemeClr>
              </a:solidFill>
            </p:spPr>
            <p:txBody>
              <a:bodyPr>
                <a:normAutofit fontScale="92500"/>
              </a:bodyPr>
              <a:lstStyle/>
              <a:p>
                <a:pPr algn="l">
                  <a:lnSpc>
                    <a:spcPct val="115000"/>
                  </a:lnSpc>
                  <a:spcAft>
                    <a:spcPts val="800"/>
                  </a:spcAft>
                  <a:buNone/>
                </a:pP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Soit un point </a:t>
                </a:r>
                <a14:m>
                  <m:oMath xmlns:m="http://schemas.openxmlformats.org/officeDocument/2006/math">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𝑀</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situé à une distance </a:t>
                </a:r>
                <a14:m>
                  <m:oMath xmlns:m="http://schemas.openxmlformats.org/officeDocument/2006/math">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𝑟</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du </a:t>
                </a:r>
                <a:r>
                  <a:rPr lang="fr-FR" sz="2800" b="1" kern="0" noProof="0" dirty="0">
                    <a:effectLst/>
                    <a:latin typeface="Times New Roman" panose="02020603050405020304" pitchFamily="18" charset="0"/>
                    <a:ea typeface="Times New Roman" panose="02020603050405020304" pitchFamily="18" charset="0"/>
                    <a:cs typeface="Arial" panose="020B0604020202020204" pitchFamily="34" charset="0"/>
                  </a:rPr>
                  <a:t>centre du dipôle</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faisant un angle </a:t>
                </a:r>
                <a14:m>
                  <m:oMath xmlns:m="http://schemas.openxmlformats.org/officeDocument/2006/math">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𝜃</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avec</a:t>
                </a:r>
              </a:p>
              <a:p>
                <a:pPr algn="l">
                  <a:lnSpc>
                    <a:spcPct val="115000"/>
                  </a:lnSpc>
                  <a:spcAft>
                    <a:spcPts val="800"/>
                  </a:spcAft>
                  <a:buNone/>
                </a:pP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l’axe du dipôle. Le </a:t>
                </a:r>
                <a:r>
                  <a:rPr lang="fr-FR" sz="2800" b="1" kern="0" noProof="0" dirty="0">
                    <a:effectLst/>
                    <a:latin typeface="Times New Roman" panose="02020603050405020304" pitchFamily="18" charset="0"/>
                    <a:ea typeface="Times New Roman" panose="02020603050405020304" pitchFamily="18" charset="0"/>
                    <a:cs typeface="Arial" panose="020B0604020202020204" pitchFamily="34" charset="0"/>
                  </a:rPr>
                  <a:t>potentiel électrostatique</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créé par le dipôle en </a:t>
                </a:r>
                <a14:m>
                  <m:oMath xmlns:m="http://schemas.openxmlformats.org/officeDocument/2006/math">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𝑴</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est :</a:t>
                </a: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14:m>
                  <m:oMathPara xmlns:m="http://schemas.openxmlformats.org/officeDocument/2006/math">
                    <m:oMathParaPr>
                      <m:jc m:val="centerGroup"/>
                    </m:oMathParaPr>
                    <m:oMath xmlns:m="http://schemas.openxmlformats.org/officeDocument/2006/math">
                      <m:borderBox>
                        <m:borderBox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borderBoxPr>
                        <m:e>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𝑽</m:t>
                          </m:r>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𝑴</m:t>
                          </m:r>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𝟒</m:t>
                              </m:r>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𝝅</m:t>
                              </m:r>
                              <m:sSub>
                                <m:sSub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𝜺</m:t>
                                  </m:r>
                                </m:e>
                                <m:sub>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𝟎</m:t>
                                  </m:r>
                                </m:sub>
                              </m:sSub>
                            </m:den>
                          </m:f>
                          <m:r>
                            <m:rPr>
                              <m:nor/>
                            </m:rPr>
                            <a:rPr lang="fr-FR" sz="2800" b="1" kern="0" noProof="0" smtClean="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m:t> </m:t>
                          </m:r>
                          <m:f>
                            <m:f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acc>
                                <m:accPr>
                                  <m:chr m:val="⃗"/>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𝒑</m:t>
                                  </m:r>
                                </m:e>
                              </m:acc>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𝒖</m:t>
                                      </m:r>
                                    </m:e>
                                    <m:sub>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sub>
                                  </m:sSub>
                                </m:e>
                              </m:acc>
                            </m:num>
                            <m:den>
                              <m:sSup>
                                <m:sSup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e>
                                <m:sup>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p>
                            </m:den>
                          </m:f>
                        </m:e>
                      </m:borderBox>
                    </m:oMath>
                  </m:oMathPara>
                </a14:m>
                <a:br>
                  <a:rPr lang="fr-FR" sz="2800" kern="0" noProof="0" dirty="0">
                    <a:effectLst/>
                    <a:latin typeface="Cambria Math" panose="02040503050406030204" pitchFamily="18" charset="0"/>
                    <a:ea typeface="Times New Roman" panose="02020603050405020304" pitchFamily="18" charset="0"/>
                    <a:cs typeface="Times New Roman" panose="02020603050405020304" pitchFamily="18" charset="0"/>
                  </a:rPr>
                </a:b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a:lnSpc>
                    <a:spcPct val="115000"/>
                  </a:lnSpc>
                  <a:buFont typeface="Symbol" panose="05050102010706020507" pitchFamily="18" charset="2"/>
                  <a:buBlip>
                    <a:blip r:embed="rId2"/>
                  </a:buBlip>
                </a:pPr>
                <a14:m>
                  <m:oMath xmlns:m="http://schemas.openxmlformats.org/officeDocument/2006/math">
                    <m:acc>
                      <m:accPr>
                        <m:chr m:val="⃗"/>
                        <m:ctrlPr>
                          <a:rPr lang="fr-FR" sz="2800" b="1" i="1" kern="0" noProof="0" smtClean="0">
                            <a:solidFill>
                              <a:srgbClr val="92D05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𝒖</m:t>
                            </m:r>
                          </m:e>
                          <m:sub>
                            <m:r>
                              <a:rPr lang="fr-FR" sz="2800" b="1"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𝒓</m:t>
                            </m:r>
                          </m:sub>
                        </m:sSub>
                      </m:e>
                    </m:acc>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vecteur unitaire dirigé du centre du dipôle vers </a:t>
                </a:r>
                <a14:m>
                  <m:oMath xmlns:m="http://schemas.openxmlformats.org/officeDocument/2006/math">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𝑀</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a:t>
                </a:r>
                <a14:m>
                  <m:oMath xmlns:m="http://schemas.openxmlformats.org/officeDocument/2006/math">
                    <m:r>
                      <a:rPr lang="fr-FR" sz="2800" b="0" i="0" kern="0" noProof="0" smtClean="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fr-FR" sz="2800" b="0" i="0" kern="0" noProof="0" smtClean="0">
                        <a:effectLst/>
                        <a:latin typeface="Cambria Math" panose="02040503050406030204" pitchFamily="18" charset="0"/>
                        <a:ea typeface="Times New Roman" panose="02020603050405020304" pitchFamily="18" charset="0"/>
                        <a:cs typeface="Times New Roman" panose="02020603050405020304" pitchFamily="18" charset="0"/>
                      </a:rPr>
                      <m:t>et</m:t>
                    </m:r>
                    <m:r>
                      <a:rPr lang="fr-FR" sz="2800" b="0" i="0" kern="0" noProof="0" smtClean="0">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𝑝</m:t>
                        </m:r>
                      </m:e>
                    </m:acc>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𝑟</m:t>
                            </m:r>
                          </m:sub>
                        </m:sSub>
                      </m:e>
                    </m:acc>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𝑝</m:t>
                    </m:r>
                    <m:r>
                      <m:rPr>
                        <m:sty m:val="p"/>
                      </m:rPr>
                      <a:rPr lang="fr-FR" sz="2800" kern="0" noProof="0" smtClean="0">
                        <a:effectLst/>
                        <a:latin typeface="Cambria Math" panose="02040503050406030204" pitchFamily="18" charset="0"/>
                        <a:ea typeface="Times New Roman" panose="02020603050405020304" pitchFamily="18" charset="0"/>
                        <a:cs typeface="Times New Roman" panose="02020603050405020304" pitchFamily="18" charset="0"/>
                      </a:rPr>
                      <m:t>cos</m:t>
                    </m:r>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𝜃</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14:m>
                  <m:oMathPara xmlns:m="http://schemas.openxmlformats.org/officeDocument/2006/math">
                    <m:oMathParaPr>
                      <m:jc m:val="centerGroup"/>
                    </m:oMathParaPr>
                    <m:oMath xmlns:m="http://schemas.openxmlformats.org/officeDocument/2006/math">
                      <m:borderBox>
                        <m:borderBox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borderBoxPr>
                        <m:e>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𝑽</m:t>
                          </m:r>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𝑴</m:t>
                          </m:r>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𝟒</m:t>
                              </m:r>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𝝅</m:t>
                              </m:r>
                              <m:sSub>
                                <m:sSub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𝜺</m:t>
                                  </m:r>
                                </m:e>
                                <m:sub>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𝟎</m:t>
                                  </m:r>
                                </m:sub>
                              </m:sSub>
                            </m:den>
                          </m:f>
                          <m:r>
                            <m:rPr>
                              <m:nor/>
                            </m:rPr>
                            <a:rPr lang="fr-FR" sz="2800" b="1" kern="0" noProof="0" smtClean="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m:t> </m:t>
                          </m:r>
                          <m:f>
                            <m:f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𝒑𝒄𝒐𝒔</m:t>
                              </m:r>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𝜽</m:t>
                              </m:r>
                            </m:num>
                            <m:den>
                              <m:sSup>
                                <m:sSupPr>
                                  <m:ctrlP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𝒓</m:t>
                                  </m:r>
                                </m:e>
                                <m:sup>
                                  <m:r>
                                    <a:rPr lang="fr-FR" sz="28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p>
                            </m:den>
                          </m:f>
                        </m:e>
                      </m:borderBox>
                    </m:oMath>
                  </m:oMathPara>
                </a14:m>
                <a:br>
                  <a:rPr lang="fr-FR" sz="2800" kern="0" noProof="0" dirty="0">
                    <a:effectLst/>
                    <a:latin typeface="Cambria Math" panose="02040503050406030204" pitchFamily="18" charset="0"/>
                    <a:ea typeface="Times New Roman" panose="02020603050405020304" pitchFamily="18" charset="0"/>
                    <a:cs typeface="Times New Roman" panose="02020603050405020304" pitchFamily="18" charset="0"/>
                  </a:rPr>
                </a:b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r>
                  <a:rPr lang="fr-FR" sz="2800" kern="0" noProof="0" dirty="0">
                    <a:effectLst/>
                    <a:latin typeface="Segoe UI Emoji" panose="020B0502040204020203" pitchFamily="34" charset="0"/>
                    <a:ea typeface="Times New Roman" panose="02020603050405020304" pitchFamily="18" charset="0"/>
                    <a:cs typeface="Segoe UI Emoji" panose="020B0502040204020203" pitchFamily="34" charset="0"/>
                  </a:rPr>
                  <a:t>👉</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Ce potentiel décroît plus rapidement que celui d’une charge unique (</a:t>
                </a:r>
                <a14:m>
                  <m:oMath xmlns:m="http://schemas.openxmlformats.org/officeDocument/2006/math">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fr-FR" sz="2800"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𝑟</m:t>
                        </m:r>
                      </m:e>
                      <m:sup>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au lieu de </a:t>
                </a:r>
                <a14:m>
                  <m:oMath xmlns:m="http://schemas.openxmlformats.org/officeDocument/2006/math">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fr-FR" sz="2800"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𝑟</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a:lnSpc>
                    <a:spcPct val="115000"/>
                  </a:lnSpc>
                  <a:spcAft>
                    <a:spcPts val="800"/>
                  </a:spcAft>
                  <a:buNone/>
                </a:pPr>
                <a:endParaRPr lang="fr-FR" noProof="0" dirty="0"/>
              </a:p>
            </p:txBody>
          </p:sp>
        </mc:Choice>
        <mc:Fallback xmlns="">
          <p:sp>
            <p:nvSpPr>
              <p:cNvPr id="3" name="Espace réservé du texte 2">
                <a:extLst>
                  <a:ext uri="{FF2B5EF4-FFF2-40B4-BE49-F238E27FC236}">
                    <a16:creationId xmlns:a16="http://schemas.microsoft.com/office/drawing/2014/main" id="{2F4AA6BC-F63C-58EA-C995-C8D97300B1F0}"/>
                  </a:ext>
                </a:extLst>
              </p:cNvPr>
              <p:cNvSpPr>
                <a:spLocks noGrp="1" noRot="1" noChangeAspect="1" noMove="1" noResize="1" noEditPoints="1" noAdjustHandles="1" noChangeArrowheads="1" noChangeShapeType="1" noTextEdit="1"/>
              </p:cNvSpPr>
              <p:nvPr>
                <p:ph type="body" idx="1"/>
              </p:nvPr>
            </p:nvSpPr>
            <p:spPr>
              <a:xfrm>
                <a:off x="381000" y="1219200"/>
                <a:ext cx="11647713" cy="5551714"/>
              </a:xfrm>
              <a:blipFill>
                <a:blip r:embed="rId3"/>
                <a:stretch>
                  <a:fillRect b="-220"/>
                </a:stretch>
              </a:blipFill>
            </p:spPr>
            <p:txBody>
              <a:bodyPr/>
              <a:lstStyle/>
              <a:p>
                <a:r>
                  <a:rPr lang="fr-FR">
                    <a:noFill/>
                  </a:rPr>
                  <a:t> </a:t>
                </a:r>
              </a:p>
            </p:txBody>
          </p:sp>
        </mc:Fallback>
      </mc:AlternateContent>
      <p:pic>
        <p:nvPicPr>
          <p:cNvPr id="4" name="Image 3">
            <a:extLst>
              <a:ext uri="{FF2B5EF4-FFF2-40B4-BE49-F238E27FC236}">
                <a16:creationId xmlns:a16="http://schemas.microsoft.com/office/drawing/2014/main" id="{89D020C7-264A-D537-6DCE-D4DA5ACD1535}"/>
              </a:ext>
            </a:extLst>
          </p:cNvPr>
          <p:cNvPicPr>
            <a:picLocks noChangeAspect="1"/>
          </p:cNvPicPr>
          <p:nvPr/>
        </p:nvPicPr>
        <p:blipFill>
          <a:blip r:embed="rId4"/>
          <a:stretch>
            <a:fillRect/>
          </a:stretch>
        </p:blipFill>
        <p:spPr>
          <a:xfrm>
            <a:off x="8196943" y="2588664"/>
            <a:ext cx="3069771" cy="1406393"/>
          </a:xfrm>
          <a:prstGeom prst="rect">
            <a:avLst/>
          </a:prstGeom>
        </p:spPr>
      </p:pic>
    </p:spTree>
    <p:extLst>
      <p:ext uri="{BB962C8B-B14F-4D97-AF65-F5344CB8AC3E}">
        <p14:creationId xmlns:p14="http://schemas.microsoft.com/office/powerpoint/2010/main" val="26092952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B2DEB8-AB21-1574-9ED1-0295189DD9F6}"/>
              </a:ext>
            </a:extLst>
          </p:cNvPr>
          <p:cNvSpPr>
            <a:spLocks noGrp="1"/>
          </p:cNvSpPr>
          <p:nvPr>
            <p:ph type="title"/>
          </p:nvPr>
        </p:nvSpPr>
        <p:spPr>
          <a:xfrm>
            <a:off x="685799" y="-87085"/>
            <a:ext cx="10916153" cy="1153885"/>
          </a:xfrm>
        </p:spPr>
        <p:txBody>
          <a:bodyPr>
            <a:normAutofit fontScale="90000"/>
          </a:bodyPr>
          <a:lstStyle/>
          <a:p>
            <a:pPr algn="ctr"/>
            <a:r>
              <a:rPr lang="fr-FR" b="1" noProof="0" dirty="0">
                <a:latin typeface="Segoe UI Emoji" panose="020B0502040204020203" pitchFamily="34" charset="0"/>
                <a:ea typeface="Times New Roman" panose="02020603050405020304" pitchFamily="18" charset="0"/>
                <a:cs typeface="Segoe UI Emoji" panose="020B0502040204020203" pitchFamily="34" charset="0"/>
              </a:rPr>
              <a:t>⚙️</a:t>
            </a:r>
            <a:r>
              <a:rPr lang="fr-FR" b="1" noProof="0" dirty="0">
                <a:latin typeface="Times New Roman" panose="02020603050405020304" pitchFamily="18" charset="0"/>
                <a:ea typeface="Times New Roman" panose="02020603050405020304" pitchFamily="18" charset="0"/>
                <a:cs typeface="Arial" panose="020B0604020202020204" pitchFamily="34" charset="0"/>
              </a:rPr>
              <a:t> </a:t>
            </a: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C.4  Couple de forces exercé sur un dipôle dans un champ électrique</a:t>
            </a:r>
            <a:endParaRPr lang="fr-FR"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EF7F1663-3FBC-B4D8-9BFB-141DC59713B7}"/>
                  </a:ext>
                </a:extLst>
              </p:cNvPr>
              <p:cNvSpPr>
                <a:spLocks noGrp="1"/>
              </p:cNvSpPr>
              <p:nvPr>
                <p:ph type="body" idx="1"/>
              </p:nvPr>
            </p:nvSpPr>
            <p:spPr>
              <a:xfrm>
                <a:off x="0" y="1164771"/>
                <a:ext cx="12192000" cy="5693229"/>
              </a:xfrm>
              <a:solidFill>
                <a:srgbClr val="C00000"/>
              </a:solidFill>
              <a:effectLst>
                <a:innerShdw blurRad="63500" dist="50800" dir="18900000">
                  <a:prstClr val="black">
                    <a:alpha val="50000"/>
                  </a:prstClr>
                </a:innerShdw>
              </a:effectLst>
              <a:scene3d>
                <a:camera prst="orthographicFront"/>
                <a:lightRig rig="threePt" dir="t"/>
              </a:scene3d>
              <a:sp3d>
                <a:bevelT prst="angle"/>
              </a:sp3d>
            </p:spPr>
            <p:txBody>
              <a:bodyPr>
                <a:noAutofit/>
              </a:bodyPr>
              <a:lstStyle/>
              <a:p>
                <a:pPr marL="0" lvl="0" indent="0" algn="l">
                  <a:lnSpc>
                    <a:spcPct val="115000"/>
                  </a:lnSpc>
                  <a:spcAft>
                    <a:spcPts val="800"/>
                  </a:spcAft>
                  <a:buSzPts val="1000"/>
                  <a:tabLst>
                    <a:tab pos="457200" algn="l"/>
                  </a:tabLst>
                </a:pP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Lorsqu’un </a:t>
                </a:r>
                <a:r>
                  <a:rPr lang="fr-FR" sz="2400" b="1" kern="0" noProof="0" dirty="0">
                    <a:effectLst/>
                    <a:latin typeface="Times New Roman" panose="02020603050405020304" pitchFamily="18" charset="0"/>
                    <a:ea typeface="Times New Roman" panose="02020603050405020304" pitchFamily="18" charset="0"/>
                    <a:cs typeface="Arial" panose="020B0604020202020204" pitchFamily="34" charset="0"/>
                  </a:rPr>
                  <a:t>dipôle</a:t>
                </a: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 est placé dans un </a:t>
                </a:r>
                <a:r>
                  <a:rPr lang="fr-FR" sz="2400" b="1" kern="0" noProof="0" dirty="0">
                    <a:effectLst/>
                    <a:latin typeface="Times New Roman" panose="02020603050405020304" pitchFamily="18" charset="0"/>
                    <a:ea typeface="Times New Roman" panose="02020603050405020304" pitchFamily="18" charset="0"/>
                    <a:cs typeface="Arial" panose="020B0604020202020204" pitchFamily="34" charset="0"/>
                  </a:rPr>
                  <a:t>champ électrique uniforme</a:t>
                </a: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 </a:t>
                </a:r>
                <a14:m>
                  <m:oMath xmlns:m="http://schemas.openxmlformats.org/officeDocument/2006/math">
                    <m:acc>
                      <m:accPr>
                        <m:chr m:val="⃗"/>
                        <m:ctrlPr>
                          <a:rPr lang="fr-FR" sz="24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24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𝐸</m:t>
                        </m:r>
                      </m:e>
                    </m:acc>
                  </m:oMath>
                </a14:m>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 les deux charges subissent :</a:t>
                </a:r>
              </a:p>
              <a:p>
                <a:pPr marL="342900" lvl="0" indent="-342900" algn="l">
                  <a:lnSpc>
                    <a:spcPct val="115000"/>
                  </a:lnSpc>
                  <a:spcAft>
                    <a:spcPts val="800"/>
                  </a:spcAft>
                  <a:buSzPts val="1000"/>
                  <a:buFont typeface="Wingdings" panose="05000000000000000000" pitchFamily="2" charset="2"/>
                  <a:buChar char="Ø"/>
                  <a:tabLst>
                    <a:tab pos="457200" algn="l"/>
                  </a:tabLst>
                </a:pPr>
                <a:r>
                  <a:rPr lang="fr-FR" sz="2400" noProof="0" dirty="0">
                    <a:latin typeface="Times New Roman" panose="02020603050405020304" pitchFamily="18" charset="0"/>
                    <a:ea typeface="Times New Roman" panose="02020603050405020304" pitchFamily="18" charset="0"/>
                    <a:cs typeface="Arial" panose="020B0604020202020204" pitchFamily="34" charset="0"/>
                  </a:rPr>
                  <a:t>Une force </a:t>
                </a:r>
                <a14:m>
                  <m:oMath xmlns:m="http://schemas.openxmlformats.org/officeDocument/2006/math">
                    <m:acc>
                      <m:accPr>
                        <m:chr m:val="⃗"/>
                        <m:ctrlP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𝐹</m:t>
                            </m:r>
                          </m:e>
                          <m:sub>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1</m:t>
                            </m:r>
                          </m:sub>
                        </m:sSub>
                      </m:e>
                    </m:acc>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m:t>
                    </m:r>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𝑞</m:t>
                    </m:r>
                    <m:acc>
                      <m:accPr>
                        <m:chr m:val="⃗"/>
                        <m:ctrlP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𝐸</m:t>
                        </m:r>
                      </m:e>
                    </m:acc>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  </m:t>
                    </m:r>
                  </m:oMath>
                </a14:m>
                <a:r>
                  <a:rPr lang="fr-FR" sz="2400" noProof="0" dirty="0">
                    <a:latin typeface="Times New Roman" panose="02020603050405020304" pitchFamily="18" charset="0"/>
                    <a:ea typeface="Times New Roman" panose="02020603050405020304" pitchFamily="18" charset="0"/>
                    <a:cs typeface="Arial" panose="020B0604020202020204" pitchFamily="34" charset="0"/>
                  </a:rPr>
                  <a:t> sur la charge positive,</a:t>
                </a:r>
                <a:endParaRPr lang="fr-FR" sz="2400" kern="100" noProof="0" dirty="0">
                  <a:latin typeface="Aptos" panose="020B0004020202020204" pitchFamily="34" charset="0"/>
                  <a:ea typeface="Aptos" panose="020B0004020202020204" pitchFamily="34" charset="0"/>
                  <a:cs typeface="Arial" panose="020B0604020202020204" pitchFamily="34" charset="0"/>
                </a:endParaRPr>
              </a:p>
              <a:p>
                <a:pPr marL="342900" lvl="0" indent="-342900" algn="l">
                  <a:lnSpc>
                    <a:spcPct val="115000"/>
                  </a:lnSpc>
                  <a:spcAft>
                    <a:spcPts val="800"/>
                  </a:spcAft>
                  <a:buSzPts val="1000"/>
                  <a:buFont typeface="Wingdings" panose="05000000000000000000" pitchFamily="2" charset="2"/>
                  <a:buChar char="Ø"/>
                  <a:tabLst>
                    <a:tab pos="457200" algn="l"/>
                  </a:tabLst>
                </a:pPr>
                <a:r>
                  <a:rPr lang="fr-FR" sz="2400" noProof="0" dirty="0">
                    <a:latin typeface="Times New Roman" panose="02020603050405020304" pitchFamily="18" charset="0"/>
                    <a:ea typeface="Times New Roman" panose="02020603050405020304" pitchFamily="18" charset="0"/>
                    <a:cs typeface="Arial" panose="020B0604020202020204" pitchFamily="34" charset="0"/>
                  </a:rPr>
                  <a:t>Une force</a:t>
                </a:r>
                <a14:m>
                  <m:oMath xmlns:m="http://schemas.openxmlformats.org/officeDocument/2006/math">
                    <m:acc>
                      <m:accPr>
                        <m:chr m:val="⃗"/>
                        <m:ctrlP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𝐹</m:t>
                            </m:r>
                          </m:e>
                          <m:sub>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2</m:t>
                            </m:r>
                          </m:sub>
                        </m:sSub>
                      </m:e>
                    </m:acc>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fr-FR" sz="2400" noProof="0" dirty="0">
                    <a:solidFill>
                      <a:srgbClr val="92D050"/>
                    </a:solidFill>
                    <a:latin typeface="Times New Roman" panose="02020603050405020304" pitchFamily="18" charset="0"/>
                    <a:ea typeface="Times New Roman" panose="02020603050405020304" pitchFamily="18" charset="0"/>
                    <a:cs typeface="Arial" panose="020B0604020202020204" pitchFamily="34" charset="0"/>
                  </a:rPr>
                  <a:t> </a:t>
                </a:r>
                <a14:m>
                  <m:oMath xmlns:m="http://schemas.openxmlformats.org/officeDocument/2006/math">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m:t>
                    </m:r>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𝑞</m:t>
                    </m:r>
                    <m:acc>
                      <m:accPr>
                        <m:chr m:val="⃗"/>
                        <m:ctrlP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𝐸</m:t>
                        </m:r>
                        <m:r>
                          <a:rPr lang="fr-FR" sz="2400" i="1" noProof="0" smtClean="0">
                            <a:solidFill>
                              <a:srgbClr val="92D050"/>
                            </a:solidFill>
                            <a:latin typeface="Cambria Math" panose="02040503050406030204" pitchFamily="18" charset="0"/>
                            <a:ea typeface="Times New Roman" panose="02020603050405020304" pitchFamily="18" charset="0"/>
                            <a:cs typeface="Times New Roman" panose="02020603050405020304" pitchFamily="18" charset="0"/>
                          </a:rPr>
                          <m:t> </m:t>
                        </m:r>
                      </m:e>
                    </m:acc>
                  </m:oMath>
                </a14:m>
                <a:r>
                  <a:rPr lang="fr-FR" sz="2400" noProof="0" dirty="0">
                    <a:latin typeface="Times New Roman" panose="02020603050405020304" pitchFamily="18" charset="0"/>
                    <a:ea typeface="Times New Roman" panose="02020603050405020304" pitchFamily="18" charset="0"/>
                    <a:cs typeface="Arial" panose="020B0604020202020204" pitchFamily="34" charset="0"/>
                  </a:rPr>
                  <a:t>   sur la charge négative.</a:t>
                </a:r>
                <a:endParaRPr lang="fr-FR" sz="2400" kern="100" noProof="0" dirty="0">
                  <a:latin typeface="Aptos" panose="020B0004020202020204" pitchFamily="34" charset="0"/>
                  <a:ea typeface="Aptos" panose="020B0004020202020204" pitchFamily="34" charset="0"/>
                  <a:cs typeface="Arial" panose="020B0604020202020204" pitchFamily="34" charset="0"/>
                </a:endParaRPr>
              </a:p>
              <a:p>
                <a:pPr algn="l">
                  <a:lnSpc>
                    <a:spcPct val="100000"/>
                  </a:lnSpc>
                  <a:spcAft>
                    <a:spcPts val="800"/>
                  </a:spcAft>
                  <a:buNone/>
                </a:pP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	</a:t>
                </a:r>
              </a:p>
              <a:p>
                <a:pPr algn="l">
                  <a:lnSpc>
                    <a:spcPct val="100000"/>
                  </a:lnSpc>
                  <a:spcAft>
                    <a:spcPts val="800"/>
                  </a:spcAft>
                  <a:buNone/>
                </a:pP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Ces forces sont opposées, parallèles et appliquées en deux points différents, donc elles forment un couple de forces. Ce couple exerce un moment qui tend à aligner le dipôle avec le champ électrique.                            </a:t>
                </a:r>
                <a:r>
                  <a:rPr lang="fr-FR" sz="2400" kern="0" noProof="0" dirty="0">
                    <a:effectLst/>
                    <a:ea typeface="Times New Roman" panose="02020603050405020304" pitchFamily="18" charset="0"/>
                    <a:cs typeface="Times New Roman" panose="02020603050405020304" pitchFamily="18" charset="0"/>
                  </a:rPr>
                  <a:t> </a:t>
                </a:r>
                <a14:m>
                  <m:oMath xmlns:m="http://schemas.openxmlformats.org/officeDocument/2006/math">
                    <m:borderBox>
                      <m:borderBoxPr>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borderBoxPr>
                      <m:e>
                        <m:acc>
                          <m:accPr>
                            <m:chr m:val="⃗"/>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𝑴</m:t>
                            </m:r>
                          </m:e>
                        </m:acc>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𝒑</m:t>
                            </m:r>
                          </m:e>
                        </m:acc>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2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acc>
                      </m:e>
                    </m:borderBox>
                  </m:oMath>
                </a14:m>
                <a:endPar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endParaRPr>
              </a:p>
              <a:p>
                <a:pPr algn="l">
                  <a:lnSpc>
                    <a:spcPct val="115000"/>
                  </a:lnSpc>
                  <a:spcAft>
                    <a:spcPts val="800"/>
                  </a:spcAft>
                </a:pP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 Si </a:t>
                </a:r>
                <a14:m>
                  <m:oMath xmlns:m="http://schemas.openxmlformats.org/officeDocument/2006/math">
                    <m:acc>
                      <m:accPr>
                        <m:chr m:val="⃗"/>
                        <m:ctrlPr>
                          <a:rPr lang="fr-FR" sz="24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24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𝒑</m:t>
                        </m:r>
                      </m:e>
                    </m:acc>
                  </m:oMath>
                </a14:m>
                <a:r>
                  <a:rPr lang="fr-FR" sz="24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est </a:t>
                </a:r>
                <a:r>
                  <a:rPr lang="fr-FR" sz="2400" b="1" kern="0" noProof="0" dirty="0">
                    <a:effectLst/>
                    <a:latin typeface="Times New Roman" panose="02020603050405020304" pitchFamily="18" charset="0"/>
                    <a:ea typeface="Times New Roman" panose="02020603050405020304" pitchFamily="18" charset="0"/>
                    <a:cs typeface="Arial" panose="020B0604020202020204" pitchFamily="34" charset="0"/>
                  </a:rPr>
                  <a:t>aligné avec </a:t>
                </a:r>
                <a14:m>
                  <m:oMath xmlns:m="http://schemas.openxmlformats.org/officeDocument/2006/math">
                    <m:acc>
                      <m:accPr>
                        <m:chr m:val="⃗"/>
                        <m:ctrlPr>
                          <a:rPr lang="fr-FR" sz="24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24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acc>
                  </m:oMath>
                </a14:m>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 équilibre stable.        Si </a:t>
                </a:r>
                <a14:m>
                  <m:oMath xmlns:m="http://schemas.openxmlformats.org/officeDocument/2006/math">
                    <m:acc>
                      <m:accPr>
                        <m:chr m:val="⃗"/>
                        <m:ctrlPr>
                          <a:rPr lang="fr-FR" sz="24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24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𝒑</m:t>
                        </m:r>
                      </m:e>
                    </m:acc>
                  </m:oMath>
                </a14:m>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est </a:t>
                </a:r>
                <a:r>
                  <a:rPr lang="fr-FR" sz="2400" b="1" kern="0" noProof="0" dirty="0">
                    <a:effectLst/>
                    <a:latin typeface="Times New Roman" panose="02020603050405020304" pitchFamily="18" charset="0"/>
                    <a:ea typeface="Times New Roman" panose="02020603050405020304" pitchFamily="18" charset="0"/>
                    <a:cs typeface="Arial" panose="020B0604020202020204" pitchFamily="34" charset="0"/>
                  </a:rPr>
                  <a:t>anti-aligné</a:t>
                </a:r>
                <a:r>
                  <a:rPr lang="fr-FR" sz="2400" b="1" dirty="0">
                    <a:solidFill>
                      <a:srgbClr val="FFFFFF"/>
                    </a:solidFill>
                    <a:latin typeface="Times New Roman" panose="02020603050405020304" pitchFamily="18" charset="0"/>
                    <a:ea typeface="Times New Roman" panose="02020603050405020304" pitchFamily="18" charset="0"/>
                    <a:cs typeface="Arial" panose="020B0604020202020204" pitchFamily="34" charset="0"/>
                  </a:rPr>
                  <a:t> avec </a:t>
                </a:r>
                <a14:m>
                  <m:oMath xmlns:m="http://schemas.openxmlformats.org/officeDocument/2006/math">
                    <m:acc>
                      <m:accPr>
                        <m:chr m:val="⃗"/>
                        <m:ctrlPr>
                          <a:rPr lang="fr-FR" sz="2400" b="1" i="1">
                            <a:solidFill>
                              <a:srgbClr val="FFC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fr-FR" sz="2400" b="1" i="1">
                            <a:solidFill>
                              <a:srgbClr val="FFC000"/>
                            </a:solidFill>
                            <a:latin typeface="Cambria Math" panose="02040503050406030204" pitchFamily="18" charset="0"/>
                            <a:ea typeface="Times New Roman" panose="02020603050405020304" pitchFamily="18" charset="0"/>
                            <a:cs typeface="Times New Roman" panose="02020603050405020304" pitchFamily="18" charset="0"/>
                          </a:rPr>
                          <m:t>𝑬</m:t>
                        </m:r>
                      </m:e>
                    </m:acc>
                  </m:oMath>
                </a14:m>
                <a:r>
                  <a:rPr lang="fr-FR" sz="2400" b="1"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 → équilibre instable.</a:t>
                </a:r>
                <a:endParaRPr lang="fr-FR" sz="2400" noProof="0" dirty="0"/>
              </a:p>
            </p:txBody>
          </p:sp>
        </mc:Choice>
        <mc:Fallback xmlns="">
          <p:sp>
            <p:nvSpPr>
              <p:cNvPr id="3" name="Espace réservé du texte 2">
                <a:extLst>
                  <a:ext uri="{FF2B5EF4-FFF2-40B4-BE49-F238E27FC236}">
                    <a16:creationId xmlns:a16="http://schemas.microsoft.com/office/drawing/2014/main" id="{EF7F1663-3FBC-B4D8-9BFB-141DC59713B7}"/>
                  </a:ext>
                </a:extLst>
              </p:cNvPr>
              <p:cNvSpPr>
                <a:spLocks noGrp="1" noRot="1" noChangeAspect="1" noMove="1" noResize="1" noEditPoints="1" noAdjustHandles="1" noChangeArrowheads="1" noChangeShapeType="1" noTextEdit="1"/>
              </p:cNvSpPr>
              <p:nvPr>
                <p:ph type="body" idx="1"/>
              </p:nvPr>
            </p:nvSpPr>
            <p:spPr>
              <a:xfrm>
                <a:off x="0" y="1164771"/>
                <a:ext cx="12192000" cy="5693229"/>
              </a:xfrm>
              <a:blipFill>
                <a:blip r:embed="rId2"/>
                <a:stretch>
                  <a:fillRect l="-798" r="-150"/>
                </a:stretch>
              </a:blipFill>
              <a:effectLst>
                <a:innerShdw blurRad="63500" dist="50800" dir="18900000">
                  <a:prstClr val="black">
                    <a:alpha val="50000"/>
                  </a:prstClr>
                </a:innerShdw>
              </a:effectLst>
            </p:spPr>
            <p:txBody>
              <a:bodyPr/>
              <a:lstStyle/>
              <a:p>
                <a:r>
                  <a:rPr lang="fr-FR">
                    <a:noFill/>
                  </a:rPr>
                  <a:t> </a:t>
                </a:r>
              </a:p>
            </p:txBody>
          </p:sp>
        </mc:Fallback>
      </mc:AlternateContent>
      <p:pic>
        <p:nvPicPr>
          <p:cNvPr id="4" name="Image 3">
            <a:extLst>
              <a:ext uri="{FF2B5EF4-FFF2-40B4-BE49-F238E27FC236}">
                <a16:creationId xmlns:a16="http://schemas.microsoft.com/office/drawing/2014/main" id="{D8D630D0-3FA1-7216-5710-F5406A94219C}"/>
              </a:ext>
            </a:extLst>
          </p:cNvPr>
          <p:cNvPicPr>
            <a:picLocks noChangeAspect="1"/>
          </p:cNvPicPr>
          <p:nvPr/>
        </p:nvPicPr>
        <p:blipFill>
          <a:blip r:embed="rId3"/>
          <a:stretch>
            <a:fillRect/>
          </a:stretch>
        </p:blipFill>
        <p:spPr>
          <a:xfrm>
            <a:off x="6008915" y="1729533"/>
            <a:ext cx="4408714" cy="2281852"/>
          </a:xfrm>
          <a:prstGeom prst="rect">
            <a:avLst/>
          </a:prstGeom>
          <a:scene3d>
            <a:camera prst="orthographicFront"/>
            <a:lightRig rig="threePt" dir="t"/>
          </a:scene3d>
          <a:sp3d>
            <a:bevelT w="114300" prst="artDeco"/>
          </a:sp3d>
        </p:spPr>
      </p:pic>
    </p:spTree>
    <p:extLst>
      <p:ext uri="{BB962C8B-B14F-4D97-AF65-F5344CB8AC3E}">
        <p14:creationId xmlns:p14="http://schemas.microsoft.com/office/powerpoint/2010/main" val="14282574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91ABC4-E968-32B4-723D-E1ACEE574DB7}"/>
              </a:ext>
            </a:extLst>
          </p:cNvPr>
          <p:cNvSpPr>
            <a:spLocks noGrp="1"/>
          </p:cNvSpPr>
          <p:nvPr>
            <p:ph type="title"/>
          </p:nvPr>
        </p:nvSpPr>
        <p:spPr>
          <a:xfrm>
            <a:off x="685800" y="753533"/>
            <a:ext cx="10820400" cy="1271210"/>
          </a:xfrm>
        </p:spPr>
        <p:txBody>
          <a:bodyPr>
            <a:normAutofit fontScale="90000"/>
          </a:bodyPr>
          <a:lstStyle/>
          <a:p>
            <a:pPr algn="ctr"/>
            <a:r>
              <a:rPr lang="fr-FR" b="1" noProof="0" dirty="0">
                <a:solidFill>
                  <a:srgbClr val="FFC000"/>
                </a:solidFill>
                <a:latin typeface="Segoe UI Emoji" panose="020B0502040204020203" pitchFamily="34" charset="0"/>
                <a:ea typeface="Times New Roman" panose="02020603050405020304" pitchFamily="18" charset="0"/>
                <a:cs typeface="Segoe UI Emoji" panose="020B0502040204020203" pitchFamily="34" charset="0"/>
              </a:rPr>
              <a:t>💡</a:t>
            </a:r>
            <a:r>
              <a:rPr lang="fr-FR" b="1" noProof="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C. </a:t>
            </a: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6. Énergie potentielle du dipôle dans un champ électrique</a:t>
            </a:r>
            <a:br>
              <a:rPr lang="fr-FR" sz="3600"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endParaRPr lang="fr-FR"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A1F2B283-00F0-4AAC-6E9F-492FCD25E239}"/>
                  </a:ext>
                </a:extLst>
              </p:cNvPr>
              <p:cNvSpPr>
                <a:spLocks noGrp="1"/>
              </p:cNvSpPr>
              <p:nvPr>
                <p:ph type="body" idx="1"/>
              </p:nvPr>
            </p:nvSpPr>
            <p:spPr>
              <a:xfrm>
                <a:off x="685800" y="2122714"/>
                <a:ext cx="10829067" cy="4506685"/>
              </a:xfrm>
              <a:solidFill>
                <a:srgbClr val="C00000"/>
              </a:solidFill>
            </p:spPr>
            <p:txBody>
              <a:bodyPr>
                <a:normAutofit fontScale="92500"/>
              </a:bodyPr>
              <a:lstStyle/>
              <a:p>
                <a:pPr algn="l">
                  <a:lnSpc>
                    <a:spcPct val="115000"/>
                  </a:lnSpc>
                  <a:spcAft>
                    <a:spcPts val="800"/>
                  </a:spcAft>
                  <a:buNone/>
                </a:pPr>
                <a:r>
                  <a:rPr lang="fr-FR" sz="3500" kern="0" noProof="0" dirty="0">
                    <a:effectLst/>
                    <a:latin typeface="Times New Roman" panose="02020603050405020304" pitchFamily="18" charset="0"/>
                    <a:ea typeface="Times New Roman" panose="02020603050405020304" pitchFamily="18" charset="0"/>
                    <a:cs typeface="Arial" panose="020B0604020202020204" pitchFamily="34" charset="0"/>
                  </a:rPr>
                  <a:t>Le travail du couple définit une énergie potentielle associée :</a:t>
                </a:r>
                <a:endParaRPr lang="fr-FR" sz="35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14:m>
                  <m:oMathPara xmlns:m="http://schemas.openxmlformats.org/officeDocument/2006/math">
                    <m:oMathParaPr>
                      <m:jc m:val="centerGroup"/>
                    </m:oMathParaPr>
                    <m:oMath xmlns:m="http://schemas.openxmlformats.org/officeDocument/2006/math">
                      <m:borderBox>
                        <m:borderBoxPr>
                          <m:ctrlP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borderBoxPr>
                        <m:e>
                          <m: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𝑼</m:t>
                          </m:r>
                          <m: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nor/>
                            </m:rPr>
                            <a:rPr lang="fr-FR" sz="3500" b="1" kern="0" noProof="0" smtClean="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m:t> </m:t>
                          </m:r>
                          <m:acc>
                            <m:accPr>
                              <m:chr m:val="⃗"/>
                              <m:ctrlP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𝒑</m:t>
                              </m:r>
                            </m:e>
                          </m:acc>
                          <m: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𝑬</m:t>
                              </m:r>
                            </m:e>
                          </m:acc>
                          <m: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nor/>
                            </m:rPr>
                            <a:rPr lang="fr-FR" sz="3500" b="1" kern="0" noProof="0" smtClean="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m:t> </m:t>
                          </m:r>
                          <m: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𝒑𝑬𝒄𝒐𝒔</m:t>
                          </m:r>
                          <m: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500" b="1" i="1" kern="0" noProof="0" smtClean="0">
                              <a:solidFill>
                                <a:srgbClr val="FFC000"/>
                              </a:solidFill>
                              <a:effectLst/>
                              <a:latin typeface="Cambria Math" panose="02040503050406030204" pitchFamily="18" charset="0"/>
                              <a:ea typeface="Times New Roman" panose="02020603050405020304" pitchFamily="18" charset="0"/>
                              <a:cs typeface="Times New Roman" panose="02020603050405020304" pitchFamily="18" charset="0"/>
                            </a:rPr>
                            <m:t>𝜽</m:t>
                          </m:r>
                        </m:e>
                      </m:borderBox>
                    </m:oMath>
                  </m:oMathPara>
                </a14:m>
                <a:br>
                  <a:rPr lang="fr-FR" sz="3500" kern="0" noProof="0" dirty="0">
                    <a:effectLst/>
                    <a:latin typeface="Cambria Math" panose="02040503050406030204" pitchFamily="18" charset="0"/>
                    <a:ea typeface="Times New Roman" panose="02020603050405020304" pitchFamily="18" charset="0"/>
                    <a:cs typeface="Times New Roman" panose="02020603050405020304" pitchFamily="18" charset="0"/>
                  </a:rPr>
                </a:br>
                <a:endParaRPr lang="fr-FR" sz="3500" kern="100" noProof="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a:lnSpc>
                    <a:spcPct val="115000"/>
                  </a:lnSpc>
                  <a:spcAft>
                    <a:spcPts val="800"/>
                  </a:spcAft>
                  <a:buSzPts val="1000"/>
                  <a:buFont typeface="Symbol" panose="05050102010706020507" pitchFamily="18" charset="2"/>
                  <a:buChar char=""/>
                  <a:tabLst>
                    <a:tab pos="457200" algn="l"/>
                  </a:tabLst>
                </a:pPr>
                <a:r>
                  <a:rPr lang="fr-FR" sz="3500" kern="0" noProof="0" dirty="0">
                    <a:effectLst/>
                    <a:latin typeface="Times New Roman" panose="02020603050405020304" pitchFamily="18" charset="0"/>
                    <a:ea typeface="Times New Roman" panose="02020603050405020304" pitchFamily="18" charset="0"/>
                    <a:cs typeface="Arial" panose="020B0604020202020204" pitchFamily="34" charset="0"/>
                  </a:rPr>
                  <a:t>L’énergie est </a:t>
                </a:r>
                <a:r>
                  <a:rPr lang="fr-FR" sz="3500"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minimale</a:t>
                </a:r>
                <a:r>
                  <a:rPr lang="fr-FR" sz="3500" kern="0" noProof="0" dirty="0">
                    <a:effectLst/>
                    <a:latin typeface="Times New Roman" panose="02020603050405020304" pitchFamily="18" charset="0"/>
                    <a:ea typeface="Times New Roman" panose="02020603050405020304" pitchFamily="18" charset="0"/>
                    <a:cs typeface="Arial" panose="020B0604020202020204" pitchFamily="34" charset="0"/>
                  </a:rPr>
                  <a:t> quand le dipôle est aligné avec le champ </a:t>
                </a:r>
                <a:r>
                  <a:rPr lang="fr-FR" sz="3500"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a:t>
                </a:r>
                <a14:m>
                  <m:oMath xmlns:m="http://schemas.openxmlformats.org/officeDocument/2006/math">
                    <m:r>
                      <a:rPr lang="fr-FR" sz="35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𝜃</m:t>
                    </m:r>
                    <m:r>
                      <a:rPr lang="fr-FR" sz="35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5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0</m:t>
                    </m:r>
                    <m:r>
                      <a:rPr lang="fr-FR" sz="3500" b="0"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fr-FR" sz="3500"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fr-FR" sz="3500" kern="100" noProof="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a:lnSpc>
                    <a:spcPct val="115000"/>
                  </a:lnSpc>
                  <a:spcAft>
                    <a:spcPts val="800"/>
                  </a:spcAft>
                  <a:buSzPts val="1000"/>
                  <a:buFont typeface="Symbol" panose="05050102010706020507" pitchFamily="18" charset="2"/>
                  <a:buChar char=""/>
                  <a:tabLst>
                    <a:tab pos="457200" algn="l"/>
                  </a:tabLst>
                </a:pPr>
                <a:r>
                  <a:rPr lang="fr-FR" sz="3500" kern="0" noProof="0" dirty="0">
                    <a:effectLst/>
                    <a:latin typeface="Times New Roman" panose="02020603050405020304" pitchFamily="18" charset="0"/>
                    <a:ea typeface="Times New Roman" panose="02020603050405020304" pitchFamily="18" charset="0"/>
                    <a:cs typeface="Arial" panose="020B0604020202020204" pitchFamily="34" charset="0"/>
                  </a:rPr>
                  <a:t>Elle est </a:t>
                </a:r>
                <a:r>
                  <a:rPr lang="fr-FR" sz="3500" kern="0" noProof="0" dirty="0">
                    <a:solidFill>
                      <a:srgbClr val="92D050"/>
                    </a:solidFill>
                    <a:effectLst/>
                    <a:latin typeface="Times New Roman" panose="02020603050405020304" pitchFamily="18" charset="0"/>
                    <a:ea typeface="Times New Roman" panose="02020603050405020304" pitchFamily="18" charset="0"/>
                    <a:cs typeface="Arial" panose="020B0604020202020204" pitchFamily="34" charset="0"/>
                  </a:rPr>
                  <a:t>maximale</a:t>
                </a:r>
                <a:r>
                  <a:rPr lang="fr-FR" sz="3500" kern="0" noProof="0" dirty="0">
                    <a:effectLst/>
                    <a:latin typeface="Times New Roman" panose="02020603050405020304" pitchFamily="18" charset="0"/>
                    <a:ea typeface="Times New Roman" panose="02020603050405020304" pitchFamily="18" charset="0"/>
                    <a:cs typeface="Arial" panose="020B0604020202020204" pitchFamily="34" charset="0"/>
                  </a:rPr>
                  <a:t> quand il est opposé au champ </a:t>
                </a:r>
                <a:r>
                  <a:rPr lang="fr-FR" sz="3500"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a:t>
                </a:r>
                <a14:m>
                  <m:oMath xmlns:m="http://schemas.openxmlformats.org/officeDocument/2006/math">
                    <m:r>
                      <a:rPr lang="fr-FR" sz="35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𝜃</m:t>
                    </m:r>
                    <m:r>
                      <a:rPr lang="fr-FR" sz="35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fr-FR" sz="3500" b="0" i="1"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180</m:t>
                    </m:r>
                    <m:r>
                      <a:rPr lang="fr-FR" sz="3500" b="0" kern="0" noProof="0" smtClean="0">
                        <a:solidFill>
                          <a:srgbClr val="FFFF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fr-FR" sz="3500"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fr-FR" sz="24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mc:Choice>
        <mc:Fallback xmlns="">
          <p:sp>
            <p:nvSpPr>
              <p:cNvPr id="3" name="Espace réservé du texte 2">
                <a:extLst>
                  <a:ext uri="{FF2B5EF4-FFF2-40B4-BE49-F238E27FC236}">
                    <a16:creationId xmlns:a16="http://schemas.microsoft.com/office/drawing/2014/main" id="{A1F2B283-00F0-4AAC-6E9F-492FCD25E239}"/>
                  </a:ext>
                </a:extLst>
              </p:cNvPr>
              <p:cNvSpPr>
                <a:spLocks noGrp="1" noRot="1" noChangeAspect="1" noMove="1" noResize="1" noEditPoints="1" noAdjustHandles="1" noChangeArrowheads="1" noChangeShapeType="1" noTextEdit="1"/>
              </p:cNvSpPr>
              <p:nvPr>
                <p:ph type="body" idx="1"/>
              </p:nvPr>
            </p:nvSpPr>
            <p:spPr>
              <a:xfrm>
                <a:off x="685800" y="2122714"/>
                <a:ext cx="10829067" cy="4506685"/>
              </a:xfrm>
              <a:blipFill>
                <a:blip r:embed="rId2"/>
                <a:stretch>
                  <a:fillRect l="-169"/>
                </a:stretch>
              </a:blipFill>
            </p:spPr>
            <p:txBody>
              <a:bodyPr/>
              <a:lstStyle/>
              <a:p>
                <a:r>
                  <a:rPr lang="fr-FR">
                    <a:noFill/>
                  </a:rPr>
                  <a:t> </a:t>
                </a:r>
              </a:p>
            </p:txBody>
          </p:sp>
        </mc:Fallback>
      </mc:AlternateContent>
    </p:spTree>
    <p:extLst>
      <p:ext uri="{BB962C8B-B14F-4D97-AF65-F5344CB8AC3E}">
        <p14:creationId xmlns:p14="http://schemas.microsoft.com/office/powerpoint/2010/main" val="35014635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1F59F-71FE-A82B-163D-302557F7E4FB}"/>
              </a:ext>
            </a:extLst>
          </p:cNvPr>
          <p:cNvSpPr>
            <a:spLocks noGrp="1"/>
          </p:cNvSpPr>
          <p:nvPr>
            <p:ph type="title"/>
          </p:nvPr>
        </p:nvSpPr>
        <p:spPr>
          <a:xfrm>
            <a:off x="685800" y="0"/>
            <a:ext cx="10972800" cy="1621971"/>
          </a:xfrm>
        </p:spPr>
        <p:txBody>
          <a:bodyPr>
            <a:normAutofit fontScale="90000"/>
          </a:bodyPr>
          <a:lstStyle/>
          <a:p>
            <a:pPr algn="ct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D. Exemples et applications biologiques </a:t>
            </a:r>
            <a:b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br>
            <a:r>
              <a:rPr kumimoji="0" lang="fr-FR" sz="36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a:t>
            </a: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a:t>
            </a:r>
            <a:r>
              <a:rPr lang="fr-FR" b="1" noProof="0" dirty="0" err="1">
                <a:solidFill>
                  <a:schemeClr val="accent1"/>
                </a:solidFill>
                <a:latin typeface="Times New Roman" panose="02020603050405020304" pitchFamily="18" charset="0"/>
                <a:ea typeface="Times New Roman" panose="02020603050405020304" pitchFamily="18" charset="0"/>
                <a:cs typeface="Arial" panose="020B0604020202020204" pitchFamily="34" charset="0"/>
              </a:rPr>
              <a:t>Biological</a:t>
            </a:r>
            <a:r>
              <a:rPr lang="fr-FR" b="1" noProof="0" dirty="0">
                <a:solidFill>
                  <a:schemeClr val="accent1"/>
                </a:solidFill>
                <a:latin typeface="Times New Roman" panose="02020603050405020304" pitchFamily="18" charset="0"/>
                <a:ea typeface="Times New Roman" panose="02020603050405020304" pitchFamily="18" charset="0"/>
                <a:cs typeface="Arial" panose="020B0604020202020204" pitchFamily="34" charset="0"/>
              </a:rPr>
              <a:t> </a:t>
            </a:r>
            <a:r>
              <a:rPr lang="fr-FR" b="1" noProof="0" dirty="0" err="1">
                <a:solidFill>
                  <a:schemeClr val="accent1"/>
                </a:solidFill>
                <a:latin typeface="Times New Roman" panose="02020603050405020304" pitchFamily="18" charset="0"/>
                <a:ea typeface="Times New Roman" panose="02020603050405020304" pitchFamily="18" charset="0"/>
                <a:cs typeface="Arial" panose="020B0604020202020204" pitchFamily="34" charset="0"/>
              </a:rPr>
              <a:t>Examples</a:t>
            </a:r>
            <a:r>
              <a:rPr lang="fr-FR" b="1" noProof="0" dirty="0">
                <a:solidFill>
                  <a:schemeClr val="accent1"/>
                </a:solidFill>
                <a:latin typeface="Times New Roman" panose="02020603050405020304" pitchFamily="18" charset="0"/>
                <a:ea typeface="Times New Roman" panose="02020603050405020304" pitchFamily="18" charset="0"/>
                <a:cs typeface="Arial" panose="020B0604020202020204" pitchFamily="34" charset="0"/>
              </a:rPr>
              <a:t> and Applications</a:t>
            </a:r>
            <a:br>
              <a:rPr lang="fr-FR"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endParaRPr lang="fr-FR" noProof="0" dirty="0">
              <a:solidFill>
                <a:srgbClr val="FFC000"/>
              </a:solidFill>
            </a:endParaRPr>
          </a:p>
        </p:txBody>
      </p:sp>
      <p:sp>
        <p:nvSpPr>
          <p:cNvPr id="3" name="Espace réservé du texte 2">
            <a:extLst>
              <a:ext uri="{FF2B5EF4-FFF2-40B4-BE49-F238E27FC236}">
                <a16:creationId xmlns:a16="http://schemas.microsoft.com/office/drawing/2014/main" id="{C6CE05AF-8295-D77D-759D-98F237175A12}"/>
              </a:ext>
            </a:extLst>
          </p:cNvPr>
          <p:cNvSpPr>
            <a:spLocks noGrp="1"/>
          </p:cNvSpPr>
          <p:nvPr>
            <p:ph type="body" idx="1"/>
          </p:nvPr>
        </p:nvSpPr>
        <p:spPr>
          <a:xfrm>
            <a:off x="549728" y="1469572"/>
            <a:ext cx="11244943" cy="5072743"/>
          </a:xfrm>
          <a:solidFill>
            <a:srgbClr val="C00000"/>
          </a:solidFill>
          <a:scene3d>
            <a:camera prst="orthographicFront"/>
            <a:lightRig rig="threePt" dir="t"/>
          </a:scene3d>
          <a:sp3d>
            <a:bevelT w="114300" prst="artDeco"/>
          </a:sp3d>
        </p:spPr>
        <p:txBody>
          <a:bodyPr>
            <a:normAutofit fontScale="85000" lnSpcReduction="20000"/>
          </a:bodyPr>
          <a:lstStyle/>
          <a:p>
            <a:pPr marL="457200" lvl="0" indent="-457200" algn="l">
              <a:lnSpc>
                <a:spcPct val="115000"/>
              </a:lnSpc>
              <a:spcAft>
                <a:spcPts val="800"/>
              </a:spcAft>
              <a:buFont typeface="Wingdings" panose="05000000000000000000" pitchFamily="2" charset="2"/>
              <a:buChar char="Ø"/>
              <a:tabLst>
                <a:tab pos="457200" algn="l"/>
              </a:tabLst>
            </a:pPr>
            <a:r>
              <a:rPr lang="fr-FR" sz="3300" b="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Membranes cellulaires :</a:t>
            </a:r>
            <a:br>
              <a:rPr lang="fr-FR" sz="3300" kern="0" noProof="0" dirty="0">
                <a:effectLst/>
                <a:latin typeface="Times New Roman" panose="02020603050405020304" pitchFamily="18" charset="0"/>
                <a:ea typeface="Times New Roman" panose="02020603050405020304" pitchFamily="18" charset="0"/>
                <a:cs typeface="Arial" panose="020B0604020202020204" pitchFamily="34" charset="0"/>
              </a:rPr>
            </a:br>
            <a:r>
              <a:rPr lang="fr-FR" sz="3300" kern="0" noProof="0" dirty="0">
                <a:effectLst/>
                <a:latin typeface="Times New Roman" panose="02020603050405020304" pitchFamily="18" charset="0"/>
                <a:ea typeface="Times New Roman" panose="02020603050405020304" pitchFamily="18" charset="0"/>
                <a:cs typeface="Arial" panose="020B0604020202020204" pitchFamily="34" charset="0"/>
              </a:rPr>
              <a:t>Les charges ioniques (Na⁺, K⁺, Cl⁻) créent un champ électrique à travers la membrane</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.(Ionic charges </a:t>
            </a: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create</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an </a:t>
            </a: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electric</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field</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across</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the membrane).</a:t>
            </a:r>
            <a:endParaRPr lang="fr-FR" sz="3300" kern="100" noProof="0" dirty="0">
              <a:solidFill>
                <a:schemeClr val="accent1">
                  <a:lumMod val="60000"/>
                  <a:lumOff val="40000"/>
                </a:schemeClr>
              </a:solidFill>
              <a:effectLst/>
              <a:latin typeface="Aptos" panose="020B0004020202020204" pitchFamily="34" charset="0"/>
              <a:ea typeface="Aptos" panose="020B0004020202020204" pitchFamily="34" charset="0"/>
              <a:cs typeface="Arial" panose="020B0604020202020204" pitchFamily="34" charset="0"/>
            </a:endParaRPr>
          </a:p>
          <a:p>
            <a:pPr marL="457200" lvl="0" indent="-457200" algn="l">
              <a:lnSpc>
                <a:spcPct val="115000"/>
              </a:lnSpc>
              <a:spcAft>
                <a:spcPts val="800"/>
              </a:spcAft>
              <a:buFont typeface="Wingdings" panose="05000000000000000000" pitchFamily="2" charset="2"/>
              <a:buChar char="Ø"/>
              <a:tabLst>
                <a:tab pos="457200" algn="l"/>
              </a:tabLst>
            </a:pPr>
            <a:r>
              <a:rPr lang="fr-FR" sz="3300" b="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Neurones :</a:t>
            </a:r>
            <a:br>
              <a:rPr lang="fr-FR" sz="3300" kern="0" noProof="0" dirty="0">
                <a:effectLst/>
                <a:latin typeface="Times New Roman" panose="02020603050405020304" pitchFamily="18" charset="0"/>
                <a:ea typeface="Times New Roman" panose="02020603050405020304" pitchFamily="18" charset="0"/>
                <a:cs typeface="Arial" panose="020B0604020202020204" pitchFamily="34" charset="0"/>
              </a:rPr>
            </a:br>
            <a:r>
              <a:rPr lang="fr-FR" sz="3300" kern="0" noProof="0" dirty="0">
                <a:effectLst/>
                <a:latin typeface="Times New Roman" panose="02020603050405020304" pitchFamily="18" charset="0"/>
                <a:ea typeface="Times New Roman" panose="02020603050405020304" pitchFamily="18" charset="0"/>
                <a:cs typeface="Arial" panose="020B0604020202020204" pitchFamily="34" charset="0"/>
              </a:rPr>
              <a:t>Le potentiel d’action est une variation rapide du champ électrique </a:t>
            </a:r>
            <a:r>
              <a:rPr lang="fr-FR" sz="3300" kern="0" noProof="0" dirty="0" err="1">
                <a:effectLst/>
                <a:latin typeface="Times New Roman" panose="02020603050405020304" pitchFamily="18" charset="0"/>
                <a:ea typeface="Times New Roman" panose="02020603050405020304" pitchFamily="18" charset="0"/>
                <a:cs typeface="Arial" panose="020B0604020202020204" pitchFamily="34" charset="0"/>
              </a:rPr>
              <a:t>membranaire.A</a:t>
            </a:r>
            <a:r>
              <a:rPr lang="fr-FR" sz="3300" kern="0" noProof="0" dirty="0">
                <a:effectLst/>
                <a:latin typeface="Times New Roman" panose="02020603050405020304" pitchFamily="18" charset="0"/>
                <a:ea typeface="Times New Roman" panose="02020603050405020304" pitchFamily="18" charset="0"/>
                <a:cs typeface="Arial" panose="020B0604020202020204" pitchFamily="34" charset="0"/>
              </a:rPr>
              <a:t>(</a:t>
            </a:r>
            <a:r>
              <a:rPr lang="fr-FR" sz="3300" kern="0" noProof="0" dirty="0" err="1">
                <a:effectLst/>
                <a:latin typeface="Times New Roman" panose="02020603050405020304" pitchFamily="18" charset="0"/>
                <a:ea typeface="Times New Roman" panose="02020603050405020304" pitchFamily="18" charset="0"/>
                <a:cs typeface="Arial" panose="020B0604020202020204" pitchFamily="34" charset="0"/>
              </a:rPr>
              <a:t>ction</a:t>
            </a:r>
            <a:r>
              <a:rPr lang="fr-FR" sz="3300"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3300" kern="0" noProof="0" dirty="0" err="1">
                <a:effectLst/>
                <a:latin typeface="Times New Roman" panose="02020603050405020304" pitchFamily="18" charset="0"/>
                <a:ea typeface="Times New Roman" panose="02020603050405020304" pitchFamily="18" charset="0"/>
                <a:cs typeface="Arial" panose="020B0604020202020204" pitchFamily="34" charset="0"/>
              </a:rPr>
              <a:t>potential</a:t>
            </a:r>
            <a:r>
              <a:rPr lang="fr-FR" sz="3300"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rapid</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variation of the membrane </a:t>
            </a: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electric</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field</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a:t>
            </a:r>
            <a:endParaRPr lang="fr-FR" sz="3300" kern="100" noProof="0" dirty="0">
              <a:solidFill>
                <a:schemeClr val="accent1">
                  <a:lumMod val="60000"/>
                  <a:lumOff val="40000"/>
                </a:schemeClr>
              </a:solidFill>
              <a:effectLst/>
              <a:latin typeface="Aptos" panose="020B0004020202020204" pitchFamily="34" charset="0"/>
              <a:ea typeface="Aptos" panose="020B0004020202020204" pitchFamily="34" charset="0"/>
              <a:cs typeface="Arial" panose="020B0604020202020204" pitchFamily="34" charset="0"/>
            </a:endParaRPr>
          </a:p>
          <a:p>
            <a:pPr marL="457200" lvl="0" indent="-457200" algn="l">
              <a:lnSpc>
                <a:spcPct val="115000"/>
              </a:lnSpc>
              <a:spcAft>
                <a:spcPts val="800"/>
              </a:spcAft>
              <a:buFont typeface="Wingdings" panose="05000000000000000000" pitchFamily="2" charset="2"/>
              <a:buChar char="Ø"/>
              <a:tabLst>
                <a:tab pos="457200" algn="l"/>
              </a:tabLst>
            </a:pPr>
            <a:r>
              <a:rPr lang="fr-FR" sz="3300" b="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Protéines et ADN :</a:t>
            </a:r>
            <a:br>
              <a:rPr lang="fr-FR" sz="3300" kern="0" noProof="0" dirty="0">
                <a:effectLst/>
                <a:latin typeface="Times New Roman" panose="02020603050405020304" pitchFamily="18" charset="0"/>
                <a:ea typeface="Times New Roman" panose="02020603050405020304" pitchFamily="18" charset="0"/>
                <a:cs typeface="Arial" panose="020B0604020202020204" pitchFamily="34" charset="0"/>
              </a:rPr>
            </a:br>
            <a:r>
              <a:rPr lang="fr-FR" sz="3300" kern="0" noProof="0" dirty="0">
                <a:effectLst/>
                <a:latin typeface="Times New Roman" panose="02020603050405020304" pitchFamily="18" charset="0"/>
                <a:ea typeface="Times New Roman" panose="02020603050405020304" pitchFamily="18" charset="0"/>
                <a:cs typeface="Arial" panose="020B0604020202020204" pitchFamily="34" charset="0"/>
              </a:rPr>
              <a:t>Leur structure dépend des interactions électrostatiques internes.</a:t>
            </a:r>
            <a:br>
              <a:rPr lang="fr-FR" sz="3300" kern="0" noProof="0" dirty="0">
                <a:effectLst/>
                <a:latin typeface="Times New Roman" panose="02020603050405020304" pitchFamily="18" charset="0"/>
                <a:ea typeface="Times New Roman" panose="02020603050405020304" pitchFamily="18" charset="0"/>
                <a:cs typeface="Arial" panose="020B0604020202020204" pitchFamily="34" charset="0"/>
              </a:rPr>
            </a:b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Their</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structure </a:t>
            </a: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depends</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on </a:t>
            </a: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internal</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300" kern="0" noProof="0" dirty="0" err="1">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electrostatic</a:t>
            </a:r>
            <a:r>
              <a:rPr lang="fr-FR" sz="3300" kern="0" noProof="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Arial" panose="020B0604020202020204" pitchFamily="34" charset="0"/>
              </a:rPr>
              <a:t> interactions.</a:t>
            </a:r>
            <a:endParaRPr lang="fr-FR" sz="3300" kern="100" noProof="0" dirty="0">
              <a:solidFill>
                <a:schemeClr val="accent1">
                  <a:lumMod val="60000"/>
                  <a:lumOff val="40000"/>
                </a:schemeClr>
              </a:solidFill>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p:spTree>
    <p:extLst>
      <p:ext uri="{BB962C8B-B14F-4D97-AF65-F5344CB8AC3E}">
        <p14:creationId xmlns:p14="http://schemas.microsoft.com/office/powerpoint/2010/main" val="30398708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EED15B-EDA2-D7F0-BD58-5DE7A68DCF19}"/>
              </a:ext>
            </a:extLst>
          </p:cNvPr>
          <p:cNvSpPr>
            <a:spLocks noGrp="1"/>
          </p:cNvSpPr>
          <p:nvPr>
            <p:ph type="title"/>
          </p:nvPr>
        </p:nvSpPr>
        <p:spPr>
          <a:xfrm>
            <a:off x="685800" y="753533"/>
            <a:ext cx="8648700" cy="1042610"/>
          </a:xfrm>
        </p:spPr>
        <p:txBody>
          <a:bodyPr>
            <a:normAutofit fontScale="90000"/>
          </a:bodyPr>
          <a:lstStyle/>
          <a:p>
            <a:pPr algn="l"/>
            <a:r>
              <a:rPr lang="fr-FR" sz="4000" b="1" kern="0" noProof="0" dirty="0">
                <a:solidFill>
                  <a:srgbClr val="FFC000"/>
                </a:solidFill>
                <a:effectLst/>
                <a:latin typeface="Times New Roman" panose="02020603050405020304" pitchFamily="18" charset="0"/>
                <a:ea typeface="Times New Roman" panose="02020603050405020304" pitchFamily="18" charset="0"/>
              </a:rPr>
              <a:t>Conducteurs, isolants et condensateurs</a:t>
            </a:r>
            <a:br>
              <a:rPr lang="fr-FR" sz="4000" b="1" kern="0" noProof="0" dirty="0">
                <a:solidFill>
                  <a:srgbClr val="FFC000"/>
                </a:solidFill>
                <a:effectLst/>
                <a:latin typeface="Times New Roman" panose="02020603050405020304" pitchFamily="18" charset="0"/>
                <a:ea typeface="Times New Roman" panose="02020603050405020304" pitchFamily="18" charset="0"/>
              </a:rPr>
            </a:br>
            <a:r>
              <a:rPr lang="en-US" b="1" dirty="0">
                <a:solidFill>
                  <a:schemeClr val="accent1">
                    <a:lumMod val="75000"/>
                  </a:schemeClr>
                </a:solidFill>
                <a:latin typeface="Times New Roman" panose="02020603050405020304" pitchFamily="18" charset="0"/>
                <a:cs typeface="Times New Roman" panose="02020603050405020304" pitchFamily="18" charset="0"/>
              </a:rPr>
              <a:t>Conductors, Insulators, and Capacitors</a:t>
            </a:r>
            <a:br>
              <a:rPr lang="fr-FR" sz="4000" b="1" kern="0" noProof="0" dirty="0">
                <a:solidFill>
                  <a:srgbClr val="FFC000"/>
                </a:solidFill>
                <a:effectLst/>
                <a:latin typeface="Times New Roman" panose="02020603050405020304" pitchFamily="18" charset="0"/>
                <a:ea typeface="Times New Roman" panose="02020603050405020304" pitchFamily="18" charset="0"/>
              </a:rPr>
            </a:br>
            <a:r>
              <a:rPr lang="fr-FR" sz="4000" b="1" kern="0" noProof="0" dirty="0">
                <a:solidFill>
                  <a:srgbClr val="FFC000"/>
                </a:solidFill>
                <a:effectLst/>
                <a:latin typeface="Times New Roman" panose="02020603050405020304" pitchFamily="18" charset="0"/>
                <a:ea typeface="Times New Roman" panose="02020603050405020304" pitchFamily="18" charset="0"/>
              </a:rPr>
              <a:t>1</a:t>
            </a:r>
            <a:r>
              <a:rPr lang="fr-FR" b="1" noProof="0" dirty="0">
                <a:solidFill>
                  <a:srgbClr val="FFC000"/>
                </a:solidFill>
                <a:latin typeface="Times New Roman" panose="02020603050405020304" pitchFamily="18" charset="0"/>
                <a:ea typeface="Times New Roman" panose="02020603050405020304" pitchFamily="18" charset="0"/>
              </a:rPr>
              <a:t>.</a:t>
            </a:r>
            <a:r>
              <a:rPr lang="fr-FR" sz="4000" b="1" kern="0" noProof="0" dirty="0">
                <a:solidFill>
                  <a:srgbClr val="FFC000"/>
                </a:solidFill>
                <a:effectLst/>
                <a:latin typeface="Times New Roman" panose="02020603050405020304" pitchFamily="18" charset="0"/>
                <a:ea typeface="Times New Roman" panose="02020603050405020304" pitchFamily="18" charset="0"/>
              </a:rPr>
              <a:t> Définitions générales</a:t>
            </a:r>
            <a:endParaRPr lang="fr-FR" noProof="0" dirty="0">
              <a:solidFill>
                <a:srgbClr val="FFC000"/>
              </a:solidFill>
            </a:endParaRPr>
          </a:p>
        </p:txBody>
      </p:sp>
      <p:sp>
        <p:nvSpPr>
          <p:cNvPr id="3" name="Espace réservé du texte 2">
            <a:extLst>
              <a:ext uri="{FF2B5EF4-FFF2-40B4-BE49-F238E27FC236}">
                <a16:creationId xmlns:a16="http://schemas.microsoft.com/office/drawing/2014/main" id="{D11E155F-86BC-0A56-B47C-8DC6057EAB67}"/>
              </a:ext>
            </a:extLst>
          </p:cNvPr>
          <p:cNvSpPr>
            <a:spLocks noGrp="1"/>
          </p:cNvSpPr>
          <p:nvPr>
            <p:ph type="body" idx="1"/>
          </p:nvPr>
        </p:nvSpPr>
        <p:spPr>
          <a:xfrm>
            <a:off x="0" y="2002971"/>
            <a:ext cx="12192000" cy="4528458"/>
          </a:xfrm>
          <a:solidFill>
            <a:schemeClr val="accent1">
              <a:lumMod val="75000"/>
            </a:schemeClr>
          </a:solidFill>
          <a:scene3d>
            <a:camera prst="orthographicFront"/>
            <a:lightRig rig="threePt" dir="t"/>
          </a:scene3d>
          <a:sp3d>
            <a:bevelT w="114300" prst="artDeco"/>
          </a:sp3d>
        </p:spPr>
        <p:txBody>
          <a:bodyPr>
            <a:normAutofit/>
          </a:bodyPr>
          <a:lstStyle/>
          <a:p>
            <a:pPr marL="457200" lvl="0" indent="-457200" algn="l">
              <a:lnSpc>
                <a:spcPct val="115000"/>
              </a:lnSpc>
              <a:spcAft>
                <a:spcPts val="800"/>
              </a:spcAft>
              <a:buSzPts val="1000"/>
              <a:buFont typeface="Wingdings" panose="05000000000000000000" pitchFamily="2" charset="2"/>
              <a:buChar char="q"/>
              <a:tabLst>
                <a:tab pos="457200" algn="l"/>
              </a:tabLst>
            </a:pPr>
            <a:r>
              <a:rPr lang="fr-FR" sz="2800" b="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Conducteur :</a:t>
            </a:r>
            <a:b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b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Corps dans lequel certaines charges électriques (électrons libres ou ions) peuvent se déplacer facilement.</a:t>
            </a:r>
            <a:b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b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2800" b="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Exemples </a:t>
            </a:r>
            <a:r>
              <a:rPr lang="fr-FR" sz="2800" b="1"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métaux (Cu, Al, Ag), solutions ioniques, tissus biologiques riches en électrolytes.</a:t>
            </a: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marL="457200" lvl="0" indent="-457200" algn="l">
              <a:lnSpc>
                <a:spcPct val="115000"/>
              </a:lnSpc>
              <a:spcAft>
                <a:spcPts val="800"/>
              </a:spcAft>
              <a:buSzPts val="1000"/>
              <a:buFont typeface="Wingdings" panose="05000000000000000000" pitchFamily="2" charset="2"/>
              <a:buChar char="q"/>
              <a:tabLst>
                <a:tab pos="457200" algn="l"/>
              </a:tabLst>
            </a:pPr>
            <a:r>
              <a:rPr lang="fr-FR" sz="2800" b="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Isolant (ou diélectrique) :</a:t>
            </a:r>
            <a:b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b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Corps dans lequel les charges sont liées et ne peuvent pas se déplacer librement.</a:t>
            </a:r>
            <a:b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b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2800" b="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Exemples</a:t>
            </a:r>
            <a:r>
              <a:rPr lang="fr-FR" sz="2800"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 : </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verre, caoutchouc, air, lipides, membranes biologiques</a:t>
            </a: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400"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p:pic>
        <p:nvPicPr>
          <p:cNvPr id="4" name="Image 3">
            <a:extLst>
              <a:ext uri="{FF2B5EF4-FFF2-40B4-BE49-F238E27FC236}">
                <a16:creationId xmlns:a16="http://schemas.microsoft.com/office/drawing/2014/main" id="{AC2202D1-EA16-07D7-34B9-4493421F31D3}"/>
              </a:ext>
            </a:extLst>
          </p:cNvPr>
          <p:cNvPicPr>
            <a:picLocks noChangeAspect="1"/>
          </p:cNvPicPr>
          <p:nvPr/>
        </p:nvPicPr>
        <p:blipFill>
          <a:blip r:embed="rId2"/>
          <a:stretch>
            <a:fillRect/>
          </a:stretch>
        </p:blipFill>
        <p:spPr>
          <a:xfrm>
            <a:off x="8675914" y="0"/>
            <a:ext cx="3516085" cy="2122714"/>
          </a:xfrm>
          <a:prstGeom prst="rect">
            <a:avLst/>
          </a:prstGeom>
        </p:spPr>
      </p:pic>
    </p:spTree>
    <p:extLst>
      <p:ext uri="{BB962C8B-B14F-4D97-AF65-F5344CB8AC3E}">
        <p14:creationId xmlns:p14="http://schemas.microsoft.com/office/powerpoint/2010/main" val="188095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30E375-0566-C64D-432E-147270224CAD}"/>
              </a:ext>
            </a:extLst>
          </p:cNvPr>
          <p:cNvSpPr>
            <a:spLocks noGrp="1"/>
          </p:cNvSpPr>
          <p:nvPr>
            <p:ph type="title"/>
          </p:nvPr>
        </p:nvSpPr>
        <p:spPr>
          <a:xfrm>
            <a:off x="685800" y="753533"/>
            <a:ext cx="10820400" cy="955600"/>
          </a:xfrm>
        </p:spPr>
        <p:txBody>
          <a:bodyPr>
            <a:noAutofit/>
          </a:bodyPr>
          <a:lstStyle/>
          <a:p>
            <a:pPr algn="ctr"/>
            <a:r>
              <a:rPr kumimoji="0" lang="fr-FR" sz="3600" b="1" i="0" u="none" strike="noStrike" kern="0" cap="none" spc="0" normalizeH="0" baseline="0" noProof="0" dirty="0">
                <a:ln>
                  <a:noFill/>
                </a:ln>
                <a:solidFill>
                  <a:srgbClr val="FFC000"/>
                </a:solidFill>
                <a:effectLst/>
                <a:uLnTx/>
                <a:uFillTx/>
                <a:latin typeface="Times New Roman" panose="02020603050405020304" pitchFamily="18" charset="0"/>
                <a:ea typeface="Times New Roman" panose="02020603050405020304" pitchFamily="18" charset="0"/>
                <a:sym typeface="Century Gothic"/>
              </a:rPr>
              <a:t>E. Conducteurs, isolants et condensateurs</a:t>
            </a:r>
            <a:br>
              <a:rPr kumimoji="0" lang="fr-FR" sz="3600" b="1" i="0" u="none" strike="noStrike" kern="0" cap="none" spc="0" normalizeH="0" baseline="0" noProof="0" dirty="0">
                <a:ln>
                  <a:noFill/>
                </a:ln>
                <a:solidFill>
                  <a:srgbClr val="FFC000"/>
                </a:solidFill>
                <a:effectLst/>
                <a:uLnTx/>
                <a:uFillTx/>
                <a:latin typeface="Times New Roman" panose="02020603050405020304" pitchFamily="18" charset="0"/>
                <a:ea typeface="Times New Roman" panose="02020603050405020304" pitchFamily="18" charset="0"/>
                <a:sym typeface="Century Gothic"/>
              </a:rPr>
            </a:br>
            <a:r>
              <a:rPr kumimoji="0" lang="fr-FR" sz="36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kumimoji="0" lang="en-US" sz="3600" b="1" i="0" u="none" strike="noStrike" kern="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sym typeface="Century Gothic"/>
              </a:rPr>
              <a:t>Conductors, Insulators, and Capacitors</a:t>
            </a:r>
            <a:endParaRPr lang="fr-FR" sz="3600" noProof="0" dirty="0">
              <a:solidFill>
                <a:schemeClr val="accent1"/>
              </a:solidFill>
            </a:endParaRPr>
          </a:p>
        </p:txBody>
      </p:sp>
      <p:sp>
        <p:nvSpPr>
          <p:cNvPr id="3" name="Espace réservé du texte 2">
            <a:extLst>
              <a:ext uri="{FF2B5EF4-FFF2-40B4-BE49-F238E27FC236}">
                <a16:creationId xmlns:a16="http://schemas.microsoft.com/office/drawing/2014/main" id="{D22D28BE-5CD3-836B-F84D-D0C8E93A32BF}"/>
              </a:ext>
            </a:extLst>
          </p:cNvPr>
          <p:cNvSpPr>
            <a:spLocks noGrp="1"/>
          </p:cNvSpPr>
          <p:nvPr>
            <p:ph type="body" idx="1"/>
          </p:nvPr>
        </p:nvSpPr>
        <p:spPr>
          <a:xfrm>
            <a:off x="429986" y="2318656"/>
            <a:ext cx="11332027" cy="4025296"/>
          </a:xfrm>
          <a:solidFill>
            <a:schemeClr val="accent1">
              <a:lumMod val="75000"/>
            </a:schemeClr>
          </a:solidFill>
          <a:scene3d>
            <a:camera prst="orthographicFront"/>
            <a:lightRig rig="threePt" dir="t"/>
          </a:scene3d>
          <a:sp3d>
            <a:bevelT w="114300" prst="artDeco"/>
          </a:sp3d>
        </p:spPr>
        <p:txBody>
          <a:bodyPr/>
          <a:lstStyle/>
          <a:p>
            <a:pPr algn="l">
              <a:lnSpc>
                <a:spcPct val="115000"/>
              </a:lnSpc>
              <a:spcAft>
                <a:spcPts val="800"/>
              </a:spcAft>
              <a:buNone/>
            </a:pPr>
            <a:r>
              <a:rPr lang="fr-FR" sz="3200" kern="0" noProof="0" dirty="0">
                <a:solidFill>
                  <a:srgbClr val="FFC00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fr-FR" sz="3200" b="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Analogie biologique :</a:t>
            </a:r>
            <a:br>
              <a:rPr lang="fr-FR" sz="3200"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br>
            <a:r>
              <a:rPr lang="fr-FR" sz="3200" i="1" kern="0" noProof="0" dirty="0">
                <a:effectLst/>
                <a:latin typeface="Times New Roman" panose="02020603050405020304" pitchFamily="18" charset="0"/>
                <a:ea typeface="Times New Roman" panose="02020603050405020304" pitchFamily="18" charset="0"/>
                <a:cs typeface="Arial" panose="020B0604020202020204" pitchFamily="34" charset="0"/>
              </a:rPr>
              <a:t>Les milieux i</a:t>
            </a:r>
            <a:r>
              <a:rPr lang="fr-FR" sz="3200" i="1" u="sng" kern="0" noProof="0" dirty="0">
                <a:effectLst/>
                <a:latin typeface="Times New Roman" panose="02020603050405020304" pitchFamily="18" charset="0"/>
                <a:ea typeface="Times New Roman" panose="02020603050405020304" pitchFamily="18" charset="0"/>
                <a:cs typeface="Arial" panose="020B0604020202020204" pitchFamily="34" charset="0"/>
              </a:rPr>
              <a:t>ntracellulaires</a:t>
            </a:r>
            <a:r>
              <a:rPr lang="fr-FR" sz="3200" i="1" kern="0" noProof="0" dirty="0">
                <a:effectLst/>
                <a:latin typeface="Times New Roman" panose="02020603050405020304" pitchFamily="18" charset="0"/>
                <a:ea typeface="Times New Roman" panose="02020603050405020304" pitchFamily="18" charset="0"/>
                <a:cs typeface="Arial" panose="020B0604020202020204" pitchFamily="34" charset="0"/>
              </a:rPr>
              <a:t> et </a:t>
            </a:r>
            <a:r>
              <a:rPr lang="fr-FR" sz="3200" i="1" u="sng" kern="0" noProof="0" dirty="0">
                <a:effectLst/>
                <a:latin typeface="Times New Roman" panose="02020603050405020304" pitchFamily="18" charset="0"/>
                <a:ea typeface="Times New Roman" panose="02020603050405020304" pitchFamily="18" charset="0"/>
                <a:cs typeface="Arial" panose="020B0604020202020204" pitchFamily="34" charset="0"/>
              </a:rPr>
              <a:t>extracellulaires</a:t>
            </a:r>
            <a:r>
              <a:rPr lang="fr-FR" sz="3200" i="1" kern="0" noProof="0" dirty="0">
                <a:effectLst/>
                <a:latin typeface="Times New Roman" panose="02020603050405020304" pitchFamily="18" charset="0"/>
                <a:ea typeface="Times New Roman" panose="02020603050405020304" pitchFamily="18" charset="0"/>
                <a:cs typeface="Arial" panose="020B0604020202020204" pitchFamily="34" charset="0"/>
              </a:rPr>
              <a:t> sont </a:t>
            </a:r>
            <a:r>
              <a:rPr lang="fr-FR" sz="3200" b="1" i="1" kern="0" noProof="0"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conducteurs ioniques</a:t>
            </a:r>
            <a:r>
              <a:rPr lang="fr-FR" sz="3200" i="1" kern="0" noProof="0" dirty="0">
                <a:effectLst/>
                <a:latin typeface="Times New Roman" panose="02020603050405020304" pitchFamily="18" charset="0"/>
                <a:ea typeface="Times New Roman" panose="02020603050405020304" pitchFamily="18" charset="0"/>
                <a:cs typeface="Arial" panose="020B0604020202020204" pitchFamily="34" charset="0"/>
              </a:rPr>
              <a:t>,</a:t>
            </a:r>
            <a:br>
              <a:rPr lang="fr-FR" sz="3200" i="1" kern="0" noProof="0" dirty="0">
                <a:effectLst/>
                <a:latin typeface="Times New Roman" panose="02020603050405020304" pitchFamily="18" charset="0"/>
                <a:ea typeface="Times New Roman" panose="02020603050405020304" pitchFamily="18" charset="0"/>
                <a:cs typeface="Arial" panose="020B0604020202020204" pitchFamily="34" charset="0"/>
              </a:rPr>
            </a:br>
            <a:r>
              <a:rPr lang="fr-FR" sz="3200" i="1" kern="0" noProof="0" dirty="0">
                <a:effectLst/>
                <a:latin typeface="Times New Roman" panose="02020603050405020304" pitchFamily="18" charset="0"/>
                <a:ea typeface="Times New Roman" panose="02020603050405020304" pitchFamily="18" charset="0"/>
                <a:cs typeface="Arial" panose="020B0604020202020204" pitchFamily="34" charset="0"/>
              </a:rPr>
              <a:t>tandis que la </a:t>
            </a:r>
            <a:r>
              <a:rPr lang="fr-FR" sz="3200" b="1" i="1" u="sng"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membrane cellulaire</a:t>
            </a:r>
            <a:r>
              <a:rPr lang="fr-FR" sz="3200" i="1" u="sng"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200" i="1" kern="0" noProof="0" dirty="0">
                <a:effectLst/>
                <a:latin typeface="Times New Roman" panose="02020603050405020304" pitchFamily="18" charset="0"/>
                <a:ea typeface="Times New Roman" panose="02020603050405020304" pitchFamily="18" charset="0"/>
                <a:cs typeface="Arial" panose="020B0604020202020204" pitchFamily="34" charset="0"/>
              </a:rPr>
              <a:t>agit comme un </a:t>
            </a:r>
            <a:r>
              <a:rPr lang="fr-FR" sz="3200" b="1" i="1" kern="0" noProof="0" dirty="0">
                <a:solidFill>
                  <a:srgbClr val="92D050"/>
                </a:solidFill>
                <a:effectLst/>
                <a:latin typeface="Times New Roman" panose="02020603050405020304" pitchFamily="18" charset="0"/>
                <a:ea typeface="Times New Roman" panose="02020603050405020304" pitchFamily="18" charset="0"/>
                <a:cs typeface="Arial" panose="020B0604020202020204" pitchFamily="34" charset="0"/>
              </a:rPr>
              <a:t>i</a:t>
            </a:r>
            <a:r>
              <a:rPr lang="fr-FR" sz="3200" b="1" i="1" kern="0" noProof="0" dirty="0">
                <a:solidFill>
                  <a:srgbClr val="FFFF00"/>
                </a:solidFill>
                <a:effectLst/>
                <a:latin typeface="Times New Roman" panose="02020603050405020304" pitchFamily="18" charset="0"/>
                <a:ea typeface="Times New Roman" panose="02020603050405020304" pitchFamily="18" charset="0"/>
                <a:cs typeface="Arial" panose="020B0604020202020204" pitchFamily="34" charset="0"/>
              </a:rPr>
              <a:t>solant</a:t>
            </a:r>
            <a:r>
              <a:rPr lang="fr-FR" sz="3200" i="1" kern="0" noProof="0" dirty="0">
                <a:effectLst/>
                <a:latin typeface="Times New Roman" panose="02020603050405020304" pitchFamily="18" charset="0"/>
                <a:ea typeface="Times New Roman" panose="02020603050405020304" pitchFamily="18" charset="0"/>
                <a:cs typeface="Arial" panose="020B0604020202020204" pitchFamily="34" charset="0"/>
              </a:rPr>
              <a:t> → système de type </a:t>
            </a:r>
            <a:r>
              <a:rPr lang="fr-FR" sz="3200" b="1" i="1" kern="0" noProof="0" dirty="0">
                <a:effectLst/>
                <a:latin typeface="Times New Roman" panose="02020603050405020304" pitchFamily="18" charset="0"/>
                <a:ea typeface="Times New Roman" panose="02020603050405020304" pitchFamily="18" charset="0"/>
                <a:cs typeface="Arial" panose="020B0604020202020204" pitchFamily="34" charset="0"/>
              </a:rPr>
              <a:t>condensateur biologique</a:t>
            </a:r>
            <a:r>
              <a:rPr lang="fr-FR" sz="2400" i="1" kern="0" noProof="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400" i="1"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p:spTree>
    <p:extLst>
      <p:ext uri="{BB962C8B-B14F-4D97-AF65-F5344CB8AC3E}">
        <p14:creationId xmlns:p14="http://schemas.microsoft.com/office/powerpoint/2010/main" val="42627216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AC7DE8-18FC-F2BB-40B6-42B797E4D4AA}"/>
              </a:ext>
            </a:extLst>
          </p:cNvPr>
          <p:cNvSpPr>
            <a:spLocks noGrp="1"/>
          </p:cNvSpPr>
          <p:nvPr>
            <p:ph type="title"/>
          </p:nvPr>
        </p:nvSpPr>
        <p:spPr>
          <a:xfrm>
            <a:off x="685800" y="753533"/>
            <a:ext cx="10820400" cy="1205896"/>
          </a:xfrm>
        </p:spPr>
        <p:txBody>
          <a:bodyPr>
            <a:normAutofit/>
          </a:bodyPr>
          <a:lstStyle/>
          <a:p>
            <a:pPr algn="l">
              <a:lnSpc>
                <a:spcPct val="115000"/>
              </a:lnSpc>
              <a:spcAft>
                <a:spcPts val="800"/>
              </a:spcAft>
            </a:pPr>
            <a:r>
              <a:rPr lang="fr-FR" sz="4000" b="1" kern="0" noProof="0" dirty="0">
                <a:solidFill>
                  <a:srgbClr val="4EA72E"/>
                </a:solidFill>
                <a:effectLst/>
                <a:latin typeface="Times New Roman" panose="02020603050405020304" pitchFamily="18" charset="0"/>
                <a:ea typeface="Times New Roman" panose="02020603050405020304" pitchFamily="18" charset="0"/>
                <a:cs typeface="Arial" panose="020B0604020202020204" pitchFamily="34" charset="0"/>
              </a:rPr>
              <a:t>Résumé simple :</a:t>
            </a:r>
            <a:endParaRPr lang="fr-FR" noProof="0" dirty="0"/>
          </a:p>
        </p:txBody>
      </p:sp>
      <p:sp>
        <p:nvSpPr>
          <p:cNvPr id="3" name="Espace réservé du texte 2">
            <a:extLst>
              <a:ext uri="{FF2B5EF4-FFF2-40B4-BE49-F238E27FC236}">
                <a16:creationId xmlns:a16="http://schemas.microsoft.com/office/drawing/2014/main" id="{C77E42BB-C804-E88C-ADA0-45E73C522FD5}"/>
              </a:ext>
            </a:extLst>
          </p:cNvPr>
          <p:cNvSpPr>
            <a:spLocks noGrp="1"/>
          </p:cNvSpPr>
          <p:nvPr>
            <p:ph type="body" idx="1"/>
          </p:nvPr>
        </p:nvSpPr>
        <p:spPr>
          <a:xfrm>
            <a:off x="1024467" y="2166256"/>
            <a:ext cx="10481733" cy="4082143"/>
          </a:xfrm>
        </p:spPr>
        <p:txBody>
          <a:bodyPr/>
          <a:lstStyle/>
          <a:p>
            <a:endParaRPr lang="fr-FR" noProof="0" dirty="0"/>
          </a:p>
        </p:txBody>
      </p:sp>
      <p:graphicFrame>
        <p:nvGraphicFramePr>
          <p:cNvPr id="4" name="Tableau 3">
            <a:extLst>
              <a:ext uri="{FF2B5EF4-FFF2-40B4-BE49-F238E27FC236}">
                <a16:creationId xmlns:a16="http://schemas.microsoft.com/office/drawing/2014/main" id="{9C6B393B-1DC2-3EBB-DFB8-7DF2C3D9944B}"/>
              </a:ext>
            </a:extLst>
          </p:cNvPr>
          <p:cNvGraphicFramePr>
            <a:graphicFrameLocks noGrp="1"/>
          </p:cNvGraphicFramePr>
          <p:nvPr>
            <p:extLst>
              <p:ext uri="{D42A27DB-BD31-4B8C-83A1-F6EECF244321}">
                <p14:modId xmlns:p14="http://schemas.microsoft.com/office/powerpoint/2010/main" val="1219720914"/>
              </p:ext>
            </p:extLst>
          </p:nvPr>
        </p:nvGraphicFramePr>
        <p:xfrm>
          <a:off x="1024467" y="2193926"/>
          <a:ext cx="10481733" cy="4605974"/>
        </p:xfrm>
        <a:graphic>
          <a:graphicData uri="http://schemas.openxmlformats.org/drawingml/2006/table">
            <a:tbl>
              <a:tblPr firstRow="1" firstCol="1" bandRow="1">
                <a:tableStyleId>{5C22544A-7EE6-4342-B048-85BDC9FD1C3A}</a:tableStyleId>
              </a:tblPr>
              <a:tblGrid>
                <a:gridCol w="3472765">
                  <a:extLst>
                    <a:ext uri="{9D8B030D-6E8A-4147-A177-3AD203B41FA5}">
                      <a16:colId xmlns:a16="http://schemas.microsoft.com/office/drawing/2014/main" val="18891231"/>
                    </a:ext>
                  </a:extLst>
                </a:gridCol>
                <a:gridCol w="3789945">
                  <a:extLst>
                    <a:ext uri="{9D8B030D-6E8A-4147-A177-3AD203B41FA5}">
                      <a16:colId xmlns:a16="http://schemas.microsoft.com/office/drawing/2014/main" val="97677530"/>
                    </a:ext>
                  </a:extLst>
                </a:gridCol>
                <a:gridCol w="3219023">
                  <a:extLst>
                    <a:ext uri="{9D8B030D-6E8A-4147-A177-3AD203B41FA5}">
                      <a16:colId xmlns:a16="http://schemas.microsoft.com/office/drawing/2014/main" val="171244008"/>
                    </a:ext>
                  </a:extLst>
                </a:gridCol>
              </a:tblGrid>
              <a:tr h="800154">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Propriété</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Conducteur</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Isolant</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extLst>
                  <a:ext uri="{0D108BD9-81ED-4DB2-BD59-A6C34878D82A}">
                    <a16:rowId xmlns:a16="http://schemas.microsoft.com/office/drawing/2014/main" val="2431576690"/>
                  </a:ext>
                </a:extLst>
              </a:tr>
              <a:tr h="609091">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Mouvement des charges</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Libre</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Très limité</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extLst>
                  <a:ext uri="{0D108BD9-81ED-4DB2-BD59-A6C34878D82A}">
                    <a16:rowId xmlns:a16="http://schemas.microsoft.com/office/drawing/2014/main" val="1687849704"/>
                  </a:ext>
                </a:extLst>
              </a:tr>
              <a:tr h="888726">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Champ intérieur</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Nul à l’équilibre</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Peut exister</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extLst>
                  <a:ext uri="{0D108BD9-81ED-4DB2-BD59-A6C34878D82A}">
                    <a16:rowId xmlns:a16="http://schemas.microsoft.com/office/drawing/2014/main" val="2897955184"/>
                  </a:ext>
                </a:extLst>
              </a:tr>
              <a:tr h="978145">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Répartition des charges</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À la surface</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tc>
                  <a:txBody>
                    <a:bodyPr/>
                    <a:lstStyle/>
                    <a:p>
                      <a:pPr algn="ctr">
                        <a:lnSpc>
                          <a:spcPct val="115000"/>
                        </a:lnSpc>
                        <a:spcAft>
                          <a:spcPts val="800"/>
                        </a:spcAft>
                        <a:buNone/>
                      </a:pPr>
                      <a:endParaRPr lang="fr-FR" sz="2400" i="1" kern="0" noProof="0" dirty="0">
                        <a:effectLst/>
                        <a:latin typeface="Times New Roman" panose="02020603050405020304" pitchFamily="18" charset="0"/>
                        <a:cs typeface="Times New Roman" panose="02020603050405020304" pitchFamily="18" charset="0"/>
                      </a:endParaRPr>
                    </a:p>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À l’intérieur</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extLst>
                  <a:ext uri="{0D108BD9-81ED-4DB2-BD59-A6C34878D82A}">
                    <a16:rowId xmlns:a16="http://schemas.microsoft.com/office/drawing/2014/main" val="4123718868"/>
                  </a:ext>
                </a:extLst>
              </a:tr>
              <a:tr h="1329858">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Exemples</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Cuivre, aluminium, argent</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tc>
                  <a:txBody>
                    <a:bodyPr/>
                    <a:lstStyle/>
                    <a:p>
                      <a:pPr algn="ctr">
                        <a:lnSpc>
                          <a:spcPct val="115000"/>
                        </a:lnSpc>
                        <a:spcAft>
                          <a:spcPts val="800"/>
                        </a:spcAft>
                        <a:buNone/>
                      </a:pPr>
                      <a:r>
                        <a:rPr lang="fr-FR" sz="2400" i="1" kern="0" noProof="0" dirty="0">
                          <a:effectLst/>
                          <a:latin typeface="Times New Roman" panose="02020603050405020304" pitchFamily="18" charset="0"/>
                          <a:cs typeface="Times New Roman" panose="02020603050405020304" pitchFamily="18" charset="0"/>
                        </a:rPr>
                        <a:t>Verre, plastique, bois</a:t>
                      </a:r>
                      <a:endParaRPr lang="fr-FR" sz="2400" i="1"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126" marR="4126" marT="4126" marB="4126" anchor="ctr"/>
                </a:tc>
                <a:extLst>
                  <a:ext uri="{0D108BD9-81ED-4DB2-BD59-A6C34878D82A}">
                    <a16:rowId xmlns:a16="http://schemas.microsoft.com/office/drawing/2014/main" val="1723470735"/>
                  </a:ext>
                </a:extLst>
              </a:tr>
            </a:tbl>
          </a:graphicData>
        </a:graphic>
      </p:graphicFrame>
    </p:spTree>
    <p:extLst>
      <p:ext uri="{BB962C8B-B14F-4D97-AF65-F5344CB8AC3E}">
        <p14:creationId xmlns:p14="http://schemas.microsoft.com/office/powerpoint/2010/main" val="30839784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239337-E0D6-390B-F72C-1E3FFADE06F0}"/>
              </a:ext>
            </a:extLst>
          </p:cNvPr>
          <p:cNvSpPr>
            <a:spLocks noGrp="1"/>
          </p:cNvSpPr>
          <p:nvPr>
            <p:ph type="title"/>
          </p:nvPr>
        </p:nvSpPr>
        <p:spPr>
          <a:xfrm>
            <a:off x="685800" y="753533"/>
            <a:ext cx="10820400" cy="1053496"/>
          </a:xfrm>
        </p:spPr>
        <p:txBody>
          <a:bodyPr>
            <a:normAutofit fontScale="90000"/>
          </a:bodyPr>
          <a:lstStyle/>
          <a:p>
            <a:pPr algn="l"/>
            <a:r>
              <a:rPr lang="fr-FR" noProof="0" dirty="0">
                <a:solidFill>
                  <a:srgbClr val="FFC000"/>
                </a:solidFill>
                <a:latin typeface="Segoe UI Emoji" panose="020B0502040204020203" pitchFamily="34" charset="0"/>
                <a:ea typeface="Times New Roman" panose="02020603050405020304" pitchFamily="18" charset="0"/>
                <a:cs typeface="Segoe UI Emoji" panose="020B0502040204020203" pitchFamily="34" charset="0"/>
              </a:rPr>
              <a:t>💡</a:t>
            </a:r>
            <a:r>
              <a:rPr lang="fr-FR"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 </a:t>
            </a:r>
            <a:r>
              <a:rPr lang="fr-FR"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3. Le condensateur</a:t>
            </a:r>
            <a:br>
              <a:rPr lang="fr-FR"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r>
              <a:rPr lang="en-US" b="1" dirty="0">
                <a:solidFill>
                  <a:schemeClr val="accent1"/>
                </a:solidFill>
                <a:latin typeface="Times New Roman" panose="02020603050405020304" pitchFamily="18" charset="0"/>
                <a:cs typeface="Times New Roman" panose="02020603050405020304" pitchFamily="18" charset="0"/>
              </a:rPr>
              <a:t>The Capacitor</a:t>
            </a:r>
            <a:endParaRPr lang="fr-FR" b="1" noProof="0" dirty="0">
              <a:solidFill>
                <a:schemeClr val="accent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C98CF1B4-9393-0332-3023-49664BAD4184}"/>
                  </a:ext>
                </a:extLst>
              </p:cNvPr>
              <p:cNvSpPr>
                <a:spLocks noGrp="1"/>
              </p:cNvSpPr>
              <p:nvPr>
                <p:ph type="body" idx="1"/>
              </p:nvPr>
            </p:nvSpPr>
            <p:spPr>
              <a:xfrm>
                <a:off x="685800" y="2079171"/>
                <a:ext cx="11044356" cy="4278086"/>
              </a:xfrm>
              <a:solidFill>
                <a:schemeClr val="accent2">
                  <a:lumMod val="75000"/>
                </a:schemeClr>
              </a:solidFill>
              <a:scene3d>
                <a:camera prst="orthographicFront"/>
                <a:lightRig rig="threePt" dir="t"/>
              </a:scene3d>
              <a:sp3d>
                <a:bevelT w="114300" prst="artDeco"/>
              </a:sp3d>
            </p:spPr>
            <p:txBody>
              <a:bodyPr>
                <a:normAutofit/>
              </a:bodyPr>
              <a:lstStyle/>
              <a:p>
                <a:pPr algn="l">
                  <a:lnSpc>
                    <a:spcPct val="115000"/>
                  </a:lnSpc>
                  <a:spcAft>
                    <a:spcPts val="800"/>
                  </a:spcAft>
                  <a:buNone/>
                </a:pPr>
                <a:r>
                  <a:rPr lang="fr-FR" sz="28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Définition : </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Un condensateur est formé de </a:t>
                </a:r>
                <a:r>
                  <a:rPr lang="fr-FR" sz="2800" b="1" kern="0" noProof="0" dirty="0">
                    <a:effectLst/>
                    <a:latin typeface="Times New Roman" panose="02020603050405020304" pitchFamily="18" charset="0"/>
                    <a:ea typeface="Times New Roman" panose="02020603050405020304" pitchFamily="18" charset="0"/>
                    <a:cs typeface="Arial" panose="020B0604020202020204" pitchFamily="34" charset="0"/>
                  </a:rPr>
                  <a:t>deux conducteurs (armatures)</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séparés par un </a:t>
                </a:r>
                <a:r>
                  <a:rPr lang="fr-FR" sz="2800" b="1" kern="0" noProof="0" dirty="0">
                    <a:effectLst/>
                    <a:latin typeface="Times New Roman" panose="02020603050405020304" pitchFamily="18" charset="0"/>
                    <a:ea typeface="Times New Roman" panose="02020603050405020304" pitchFamily="18" charset="0"/>
                    <a:cs typeface="Arial" panose="020B0604020202020204" pitchFamily="34" charset="0"/>
                  </a:rPr>
                  <a:t>isolant (diélectrique)</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a:lnSpc>
                    <a:spcPct val="115000"/>
                  </a:lnSpc>
                  <a:spcAft>
                    <a:spcPts val="800"/>
                  </a:spcAft>
                  <a:buSzPts val="1000"/>
                  <a:buFont typeface="Symbol" panose="05050102010706020507" pitchFamily="18" charset="2"/>
                  <a:buChar char=""/>
                  <a:tabLst>
                    <a:tab pos="457200" algn="l"/>
                  </a:tabLst>
                </a:pPr>
                <a14:m>
                  <m:oMath xmlns:m="http://schemas.openxmlformats.org/officeDocument/2006/math">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𝐴</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armature interne</a:t>
                </a:r>
                <a14:m>
                  <m:oMath xmlns:m="http://schemas.openxmlformats.org/officeDocument/2006/math">
                    <m:r>
                      <a:rPr lang="fr-FR" sz="2800" b="0" i="0" kern="0" noProof="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𝐵</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armature externe</a:t>
                </a:r>
                <a:r>
                  <a:rPr lang="fr-FR" sz="2800" noProof="0" dirty="0">
                    <a:latin typeface="Times New Roman" panose="02020603050405020304" pitchFamily="18" charset="0"/>
                    <a:ea typeface="Times New Roman" panose="02020603050405020304" pitchFamily="18" charset="0"/>
                    <a:cs typeface="Arial" panose="020B0604020202020204" pitchFamily="34" charset="0"/>
                  </a:rPr>
                  <a:t> </a:t>
                </a:r>
                <a:endParaRPr lang="fr-FR" sz="2800" kern="100" noProof="0" dirty="0">
                  <a:latin typeface="Aptos" panose="020B0004020202020204" pitchFamily="34" charset="0"/>
                  <a:ea typeface="Aptos" panose="020B00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fr-FR" sz="2800" i="1" noProof="0" smtClean="0">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2800" i="1" noProof="0"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i="1" noProof="0" smtClean="0">
                              <a:latin typeface="Cambria Math" panose="02040503050406030204" pitchFamily="18" charset="0"/>
                              <a:ea typeface="Times New Roman" panose="02020603050405020304" pitchFamily="18" charset="0"/>
                              <a:cs typeface="Times New Roman" panose="02020603050405020304" pitchFamily="18" charset="0"/>
                            </a:rPr>
                            <m:t>𝑄</m:t>
                          </m:r>
                        </m:e>
                        <m:sub>
                          <m:r>
                            <a:rPr lang="fr-FR" sz="2800" i="1" noProof="0" smtClean="0">
                              <a:latin typeface="Cambria Math" panose="02040503050406030204" pitchFamily="18" charset="0"/>
                              <a:ea typeface="Times New Roman" panose="02020603050405020304" pitchFamily="18" charset="0"/>
                              <a:cs typeface="Times New Roman" panose="02020603050405020304" pitchFamily="18" charset="0"/>
                            </a:rPr>
                            <m:t>𝐴</m:t>
                          </m:r>
                        </m:sub>
                      </m:sSub>
                      <m:r>
                        <a:rPr lang="fr-FR" sz="2800" i="1" noProof="0" smtClean="0">
                          <a:latin typeface="Cambria Math" panose="02040503050406030204" pitchFamily="18" charset="0"/>
                          <a:ea typeface="Times New Roman" panose="02020603050405020304" pitchFamily="18" charset="0"/>
                          <a:cs typeface="Times New Roman" panose="02020603050405020304" pitchFamily="18" charset="0"/>
                        </a:rPr>
                        <m:t>)</m:t>
                      </m:r>
                      <m:r>
                        <m:rPr>
                          <m:nor/>
                        </m:rPr>
                        <a:rPr lang="fr-FR" sz="2800" noProof="0" smtClean="0">
                          <a:latin typeface="Times New Roman" panose="02020603050405020304" pitchFamily="18" charset="0"/>
                          <a:ea typeface="Times New Roman" panose="02020603050405020304" pitchFamily="18" charset="0"/>
                        </a:rPr>
                        <m:t> ─────</m:t>
                      </m:r>
                      <m:r>
                        <a:rPr lang="fr-FR" sz="2800" noProof="0" smtClean="0">
                          <a:latin typeface="Cambria Math" panose="02040503050406030204" pitchFamily="18" charset="0"/>
                          <a:ea typeface="Times New Roman" panose="02020603050405020304" pitchFamily="18" charset="0"/>
                          <a:cs typeface="Times New Roman" panose="02020603050405020304" pitchFamily="18" charset="0"/>
                        </a:rPr>
                        <m:t>∣∣</m:t>
                      </m:r>
                      <m:r>
                        <m:rPr>
                          <m:nor/>
                        </m:rPr>
                        <a:rPr lang="fr-FR" sz="2800" noProof="0" smtClean="0">
                          <a:latin typeface="Times New Roman" panose="02020603050405020304" pitchFamily="18" charset="0"/>
                          <a:ea typeface="Times New Roman" panose="02020603050405020304" pitchFamily="18" charset="0"/>
                        </a:rPr>
                        <m:t>─────</m:t>
                      </m:r>
                      <m:r>
                        <a:rPr lang="fr-FR" sz="2800" i="1" noProof="0" smtClean="0">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2800" i="1" noProof="0"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i="1" noProof="0" smtClean="0">
                              <a:latin typeface="Cambria Math" panose="02040503050406030204" pitchFamily="18" charset="0"/>
                              <a:ea typeface="Times New Roman" panose="02020603050405020304" pitchFamily="18" charset="0"/>
                              <a:cs typeface="Times New Roman" panose="02020603050405020304" pitchFamily="18" charset="0"/>
                            </a:rPr>
                            <m:t>𝑄</m:t>
                          </m:r>
                        </m:e>
                        <m:sub>
                          <m:r>
                            <a:rPr lang="fr-FR" sz="2800" i="1" noProof="0" smtClean="0">
                              <a:latin typeface="Cambria Math" panose="02040503050406030204" pitchFamily="18" charset="0"/>
                              <a:ea typeface="Times New Roman" panose="02020603050405020304" pitchFamily="18" charset="0"/>
                              <a:cs typeface="Times New Roman" panose="02020603050405020304" pitchFamily="18" charset="0"/>
                            </a:rPr>
                            <m:t>𝐵</m:t>
                          </m:r>
                        </m:sub>
                      </m:sSub>
                      <m:r>
                        <a:rPr lang="fr-FR" sz="2800" i="1" noProof="0" smtClean="0">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Ces armatures portent des charges </a:t>
                </a:r>
                <a:r>
                  <a:rPr lang="fr-FR" sz="2800" b="1" kern="0" noProof="0" dirty="0">
                    <a:effectLst/>
                    <a:latin typeface="Times New Roman" panose="02020603050405020304" pitchFamily="18" charset="0"/>
                    <a:ea typeface="Times New Roman" panose="02020603050405020304" pitchFamily="18" charset="0"/>
                    <a:cs typeface="Arial" panose="020B0604020202020204" pitchFamily="34" charset="0"/>
                  </a:rPr>
                  <a:t>égales et opposées</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sz="2800" kern="100" noProof="0" dirty="0">
                  <a:effectLst/>
                  <a:latin typeface="Aptos" panose="020B0004020202020204" pitchFamily="34" charset="0"/>
                  <a:ea typeface="Aptos" panose="020B0004020202020204" pitchFamily="34" charset="0"/>
                  <a:cs typeface="Arial" panose="020B0604020202020204" pitchFamily="34" charset="0"/>
                </a:endParaRPr>
              </a:p>
              <a:p>
                <a:pPr algn="l">
                  <a:buNone/>
                </a:pPr>
                <a14:m>
                  <m:oMathPara xmlns:m="http://schemas.openxmlformats.org/officeDocument/2006/math">
                    <m:oMathParaPr>
                      <m:jc m:val="centerGroup"/>
                    </m:oMathParaPr>
                    <m:oMath xmlns:m="http://schemas.openxmlformats.org/officeDocument/2006/math">
                      <m:sSub>
                        <m:sSubPr>
                          <m:ctrlPr>
                            <a:rPr lang="fr-FR" sz="24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24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𝐵</m:t>
                          </m:r>
                        </m:sub>
                      </m:sSub>
                    </m:oMath>
                  </m:oMathPara>
                </a14:m>
                <a:endParaRPr lang="fr-FR" sz="2400" noProof="0" dirty="0"/>
              </a:p>
            </p:txBody>
          </p:sp>
        </mc:Choice>
        <mc:Fallback xmlns="">
          <p:sp>
            <p:nvSpPr>
              <p:cNvPr id="3" name="Espace réservé du texte 2">
                <a:extLst>
                  <a:ext uri="{FF2B5EF4-FFF2-40B4-BE49-F238E27FC236}">
                    <a16:creationId xmlns:a16="http://schemas.microsoft.com/office/drawing/2014/main" id="{C98CF1B4-9393-0332-3023-49664BAD4184}"/>
                  </a:ext>
                </a:extLst>
              </p:cNvPr>
              <p:cNvSpPr>
                <a:spLocks noGrp="1" noRot="1" noChangeAspect="1" noMove="1" noResize="1" noEditPoints="1" noAdjustHandles="1" noChangeArrowheads="1" noChangeShapeType="1" noTextEdit="1"/>
              </p:cNvSpPr>
              <p:nvPr>
                <p:ph type="body" idx="1"/>
              </p:nvPr>
            </p:nvSpPr>
            <p:spPr>
              <a:xfrm>
                <a:off x="685800" y="2079171"/>
                <a:ext cx="11044356" cy="4278086"/>
              </a:xfrm>
              <a:blipFill>
                <a:blip r:embed="rId2"/>
                <a:stretch>
                  <a:fillRect/>
                </a:stretch>
              </a:blipFill>
            </p:spPr>
            <p:txBody>
              <a:bodyPr/>
              <a:lstStyle/>
              <a:p>
                <a:r>
                  <a:rPr lang="fr-FR">
                    <a:noFill/>
                  </a:rPr>
                  <a:t> </a:t>
                </a:r>
              </a:p>
            </p:txBody>
          </p:sp>
        </mc:Fallback>
      </mc:AlternateContent>
      <p:pic>
        <p:nvPicPr>
          <p:cNvPr id="4" name="Image 3">
            <a:extLst>
              <a:ext uri="{FF2B5EF4-FFF2-40B4-BE49-F238E27FC236}">
                <a16:creationId xmlns:a16="http://schemas.microsoft.com/office/drawing/2014/main" id="{5A782F03-6EF4-140A-E88C-30A382FC3BBE}"/>
              </a:ext>
            </a:extLst>
          </p:cNvPr>
          <p:cNvPicPr>
            <a:picLocks noChangeAspect="1"/>
          </p:cNvPicPr>
          <p:nvPr/>
        </p:nvPicPr>
        <p:blipFill>
          <a:blip r:embed="rId3"/>
          <a:stretch>
            <a:fillRect/>
          </a:stretch>
        </p:blipFill>
        <p:spPr>
          <a:xfrm>
            <a:off x="7717971" y="332608"/>
            <a:ext cx="4012185" cy="1866306"/>
          </a:xfrm>
          <a:prstGeom prst="rect">
            <a:avLst/>
          </a:prstGeom>
        </p:spPr>
      </p:pic>
    </p:spTree>
    <p:extLst>
      <p:ext uri="{BB962C8B-B14F-4D97-AF65-F5344CB8AC3E}">
        <p14:creationId xmlns:p14="http://schemas.microsoft.com/office/powerpoint/2010/main" val="12211026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43AA34-6D41-EF44-F842-504F031DCA52}"/>
              </a:ext>
            </a:extLst>
          </p:cNvPr>
          <p:cNvSpPr>
            <a:spLocks noGrp="1"/>
          </p:cNvSpPr>
          <p:nvPr>
            <p:ph type="title"/>
          </p:nvPr>
        </p:nvSpPr>
        <p:spPr>
          <a:xfrm>
            <a:off x="685800" y="753533"/>
            <a:ext cx="10820400" cy="1543353"/>
          </a:xfrm>
        </p:spPr>
        <p:txBody>
          <a:bodyPr/>
          <a:lstStyle/>
          <a:p>
            <a:br>
              <a:rPr lang="fr-FR" sz="3600"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endParaRPr lang="fr-FR"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D591E322-B415-BC6D-BCB6-DBB3E79AE386}"/>
                  </a:ext>
                </a:extLst>
              </p:cNvPr>
              <p:cNvSpPr>
                <a:spLocks noGrp="1"/>
              </p:cNvSpPr>
              <p:nvPr>
                <p:ph type="body" idx="1"/>
              </p:nvPr>
            </p:nvSpPr>
            <p:spPr>
              <a:xfrm>
                <a:off x="694467" y="1712110"/>
                <a:ext cx="10820400" cy="4884633"/>
              </a:xfrm>
              <a:solidFill>
                <a:schemeClr val="accent2">
                  <a:lumMod val="75000"/>
                </a:schemeClr>
              </a:solidFill>
            </p:spPr>
            <p:txBody>
              <a:bodyPr>
                <a:normAutofit/>
              </a:bodyPr>
              <a:lstStyle/>
              <a:p>
                <a:pPr algn="l">
                  <a:lnSpc>
                    <a:spcPct val="115000"/>
                  </a:lnSpc>
                  <a:spcAft>
                    <a:spcPts val="800"/>
                  </a:spcAft>
                </a:pPr>
                <a14:m>
                  <m:oMathPara xmlns:m="http://schemas.openxmlformats.org/officeDocument/2006/math">
                    <m:oMathParaPr>
                      <m:jc m:val="left"/>
                    </m:oMathParaPr>
                    <m:oMath xmlns:m="http://schemas.openxmlformats.org/officeDocument/2006/math">
                      <m:r>
                        <m:rPr>
                          <m:nor/>
                        </m:rPr>
                        <a:rPr lang="fr-FR" sz="2800" b="1" noProof="0" smtClean="0">
                          <a:solidFill>
                            <a:srgbClr val="FFC000"/>
                          </a:solidFill>
                          <a:latin typeface="Times New Roman" panose="02020603050405020304" pitchFamily="18" charset="0"/>
                          <a:ea typeface="Times New Roman" panose="02020603050405020304" pitchFamily="18" charset="0"/>
                          <a:cs typeface="Arial" panose="020B0604020202020204" pitchFamily="34" charset="0"/>
                        </a:rPr>
                        <m:t>2. </m:t>
                      </m:r>
                      <m:r>
                        <m:rPr>
                          <m:nor/>
                        </m:rPr>
                        <a:rPr lang="fr-FR" sz="2800" b="1" noProof="0" smtClean="0">
                          <a:solidFill>
                            <a:srgbClr val="FFC000"/>
                          </a:solidFill>
                          <a:latin typeface="Times New Roman" panose="02020603050405020304" pitchFamily="18" charset="0"/>
                          <a:ea typeface="Times New Roman" panose="02020603050405020304" pitchFamily="18" charset="0"/>
                          <a:cs typeface="Arial" panose="020B0604020202020204" pitchFamily="34" charset="0"/>
                        </a:rPr>
                        <m:t>Capacit</m:t>
                      </m:r>
                      <m:r>
                        <m:rPr>
                          <m:nor/>
                        </m:rPr>
                        <a:rPr lang="fr-FR" sz="2800" b="1" noProof="0" smtClean="0">
                          <a:solidFill>
                            <a:srgbClr val="FFC000"/>
                          </a:solidFill>
                          <a:latin typeface="Times New Roman" panose="02020603050405020304" pitchFamily="18" charset="0"/>
                          <a:ea typeface="Times New Roman" panose="02020603050405020304" pitchFamily="18" charset="0"/>
                          <a:cs typeface="Arial" panose="020B0604020202020204" pitchFamily="34" charset="0"/>
                        </a:rPr>
                        <m:t>é </m:t>
                      </m:r>
                      <m:r>
                        <m:rPr>
                          <m:nor/>
                        </m:rPr>
                        <a:rPr lang="fr-FR" sz="2800" b="1" noProof="0" smtClean="0">
                          <a:solidFill>
                            <a:srgbClr val="FFC000"/>
                          </a:solidFill>
                          <a:latin typeface="Times New Roman" panose="02020603050405020304" pitchFamily="18" charset="0"/>
                          <a:ea typeface="Times New Roman" panose="02020603050405020304" pitchFamily="18" charset="0"/>
                          <a:cs typeface="Arial" panose="020B0604020202020204" pitchFamily="34" charset="0"/>
                        </a:rPr>
                        <m:t>d</m:t>
                      </m:r>
                      <m:r>
                        <m:rPr>
                          <m:nor/>
                        </m:rPr>
                        <a:rPr lang="fr-FR" sz="2800" b="1" noProof="0" smtClean="0">
                          <a:solidFill>
                            <a:srgbClr val="FFC000"/>
                          </a:solidFill>
                          <a:latin typeface="Times New Roman" panose="02020603050405020304" pitchFamily="18" charset="0"/>
                          <a:ea typeface="Times New Roman" panose="02020603050405020304" pitchFamily="18" charset="0"/>
                          <a:cs typeface="Arial" panose="020B0604020202020204" pitchFamily="34" charset="0"/>
                        </a:rPr>
                        <m:t>’</m:t>
                      </m:r>
                      <m:r>
                        <m:rPr>
                          <m:nor/>
                        </m:rPr>
                        <a:rPr lang="fr-FR" sz="2800" b="1" noProof="0" smtClean="0">
                          <a:solidFill>
                            <a:srgbClr val="FFC000"/>
                          </a:solidFill>
                          <a:latin typeface="Times New Roman" panose="02020603050405020304" pitchFamily="18" charset="0"/>
                          <a:ea typeface="Times New Roman" panose="02020603050405020304" pitchFamily="18" charset="0"/>
                          <a:cs typeface="Arial" panose="020B0604020202020204" pitchFamily="34" charset="0"/>
                        </a:rPr>
                        <m:t>un</m:t>
                      </m:r>
                      <m:r>
                        <m:rPr>
                          <m:nor/>
                        </m:rPr>
                        <a:rPr lang="fr-FR" sz="2800" b="1" noProof="0" smtClean="0">
                          <a:solidFill>
                            <a:srgbClr val="FFC000"/>
                          </a:solidFill>
                          <a:latin typeface="Times New Roman" panose="02020603050405020304" pitchFamily="18" charset="0"/>
                          <a:ea typeface="Times New Roman" panose="02020603050405020304" pitchFamily="18" charset="0"/>
                          <a:cs typeface="Arial" panose="020B0604020202020204" pitchFamily="34" charset="0"/>
                        </a:rPr>
                        <m:t> </m:t>
                      </m:r>
                      <m:r>
                        <m:rPr>
                          <m:nor/>
                        </m:rPr>
                        <a:rPr lang="fr-FR" sz="2800" b="1" noProof="0" smtClean="0">
                          <a:solidFill>
                            <a:srgbClr val="FFC000"/>
                          </a:solidFill>
                          <a:latin typeface="Times New Roman" panose="02020603050405020304" pitchFamily="18" charset="0"/>
                          <a:ea typeface="Times New Roman" panose="02020603050405020304" pitchFamily="18" charset="0"/>
                          <a:cs typeface="Arial" panose="020B0604020202020204" pitchFamily="34" charset="0"/>
                        </a:rPr>
                        <m:t>condensateur</m:t>
                      </m:r>
                      <m:r>
                        <a:rPr lang="fr-FR" sz="2800" b="0" i="1" noProof="0" smtClean="0">
                          <a:solidFill>
                            <a:srgbClr val="FFC000"/>
                          </a:solidFill>
                          <a:latin typeface="Cambria Math" panose="02040503050406030204" pitchFamily="18" charset="0"/>
                          <a:ea typeface="Times New Roman" panose="02020603050405020304" pitchFamily="18" charset="0"/>
                          <a:cs typeface="Arial" panose="020B0604020202020204" pitchFamily="34" charset="0"/>
                        </a:rPr>
                        <m:t>               </m:t>
                      </m:r>
                      <m: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𝑪</m:t>
                      </m:r>
                      <m: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𝑸</m:t>
                          </m:r>
                        </m:num>
                        <m:den>
                          <m:sSub>
                            <m:sSubPr>
                              <m:ctrlP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𝑽</m:t>
                              </m:r>
                            </m:e>
                            <m:sub>
                              <m: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𝟏</m:t>
                              </m:r>
                            </m:sub>
                          </m:sSub>
                          <m: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𝑽</m:t>
                              </m:r>
                            </m:e>
                            <m:sub>
                              <m:r>
                                <a:rPr lang="fr-FR" sz="28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𝟐</m:t>
                              </m:r>
                            </m:sub>
                          </m:sSub>
                        </m:den>
                      </m:f>
                    </m:oMath>
                  </m:oMathPara>
                </a14:m>
                <a:br>
                  <a:rPr lang="fr-FR" sz="2400" kern="0" noProof="0" dirty="0">
                    <a:effectLst/>
                    <a:latin typeface="Cambria Math" panose="02040503050406030204" pitchFamily="18" charset="0"/>
                    <a:ea typeface="Times New Roman" panose="02020603050405020304" pitchFamily="18" charset="0"/>
                    <a:cs typeface="Times New Roman" panose="02020603050405020304" pitchFamily="18" charset="0"/>
                  </a:rPr>
                </a:br>
                <a:endParaRPr lang="fr-FR" sz="24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La capacité dépend de la géométrie (surface, distance entre armatures) et de la</a:t>
                </a:r>
              </a:p>
              <a:p>
                <a:pPr algn="l">
                  <a:lnSpc>
                    <a:spcPct val="115000"/>
                  </a:lnSpc>
                  <a:spcAft>
                    <a:spcPts val="800"/>
                  </a:spcAft>
                  <a:buNone/>
                </a:pP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nature du diélectrique. Unité : </a:t>
                </a:r>
                <a:r>
                  <a:rPr lang="fr-FR" sz="2400" b="1" kern="0" noProof="0" dirty="0">
                    <a:effectLst/>
                    <a:latin typeface="Times New Roman" panose="02020603050405020304" pitchFamily="18" charset="0"/>
                    <a:ea typeface="Times New Roman" panose="02020603050405020304" pitchFamily="18" charset="0"/>
                    <a:cs typeface="Arial" panose="020B0604020202020204" pitchFamily="34" charset="0"/>
                  </a:rPr>
                  <a:t>farad (F)</a:t>
                </a:r>
                <a:r>
                  <a:rPr lang="fr-FR" sz="2400" kern="0" noProof="0" dirty="0">
                    <a:effectLst/>
                    <a:latin typeface="Times New Roman" panose="02020603050405020304" pitchFamily="18" charset="0"/>
                    <a:ea typeface="Times New Roman" panose="02020603050405020304" pitchFamily="18" charset="0"/>
                    <a:cs typeface="Arial" panose="020B0604020202020204" pitchFamily="34" charset="0"/>
                  </a:rPr>
                  <a:t>.</a:t>
                </a:r>
              </a:p>
              <a:p>
                <a:pPr algn="l">
                  <a:lnSpc>
                    <a:spcPct val="115000"/>
                  </a:lnSpc>
                  <a:spcAft>
                    <a:spcPts val="800"/>
                  </a:spcAft>
                  <a:buNone/>
                </a:pPr>
                <a:r>
                  <a:rPr lang="fr-FR" sz="3200" b="1" kern="0" noProof="0" dirty="0">
                    <a:solidFill>
                      <a:srgbClr val="FFC000"/>
                    </a:solidFill>
                    <a:effectLst/>
                    <a:latin typeface="Times New Roman" panose="02020603050405020304" pitchFamily="18" charset="0"/>
                    <a:ea typeface="Times New Roman" panose="02020603050405020304" pitchFamily="18" charset="0"/>
                    <a:cs typeface="Arial" panose="020B0604020202020204" pitchFamily="34" charset="0"/>
                  </a:rPr>
                  <a:t>3. Énergie stockée</a:t>
                </a:r>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 :correspond au travail nécessaire pour transférer la charge </a:t>
                </a:r>
                <a14:m>
                  <m:oMath xmlns:m="http://schemas.openxmlformats.org/officeDocument/2006/math">
                    <m:r>
                      <a:rPr lang="fr-FR" sz="28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𝑄</m:t>
                    </m:r>
                  </m:oMath>
                </a14:m>
                <a:r>
                  <a:rPr lang="fr-FR" sz="2800" kern="0" noProof="0" dirty="0">
                    <a:effectLst/>
                    <a:latin typeface="Times New Roman" panose="02020603050405020304" pitchFamily="18" charset="0"/>
                    <a:ea typeface="Times New Roman" panose="02020603050405020304" pitchFamily="18" charset="0"/>
                    <a:cs typeface="Arial" panose="020B0604020202020204" pitchFamily="34" charset="0"/>
                  </a:rPr>
                  <a:t>entre les deux armatures.</a:t>
                </a:r>
                <a:endParaRPr lang="fr-FR" sz="2800" kern="100" noProof="0" dirty="0">
                  <a:solidFill>
                    <a:srgbClr val="FFC000"/>
                  </a:solidFill>
                  <a:effectLst/>
                  <a:latin typeface="Aptos" panose="020B0004020202020204" pitchFamily="34" charset="0"/>
                  <a:ea typeface="Aptos" panose="020B0004020202020204" pitchFamily="34" charset="0"/>
                  <a:cs typeface="Arial" panose="020B0604020202020204" pitchFamily="34" charset="0"/>
                </a:endParaRPr>
              </a:p>
              <a:p>
                <a:pPr algn="l">
                  <a:buNone/>
                </a:pPr>
                <a14:m>
                  <m:oMathPara xmlns:m="http://schemas.openxmlformats.org/officeDocument/2006/math">
                    <m:oMathParaPr>
                      <m:jc m:val="centerGroup"/>
                    </m:oMathParaPr>
                    <m:oMath xmlns:m="http://schemas.openxmlformats.org/officeDocument/2006/math">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𝝃</m:t>
                      </m:r>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20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fr-FR" sz="20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𝑸</m:t>
                              </m:r>
                            </m:e>
                            <m:sup>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𝟐</m:t>
                              </m:r>
                            </m:sup>
                          </m:sSup>
                        </m:num>
                        <m:den>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𝟐</m:t>
                          </m:r>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𝑪</m:t>
                          </m:r>
                        </m:den>
                      </m:f>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fr-FR" sz="20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𝟐</m:t>
                          </m:r>
                        </m:den>
                      </m:f>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𝑸</m:t>
                      </m:r>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20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𝑽</m:t>
                          </m:r>
                        </m:e>
                        <m:sub>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𝟏</m:t>
                          </m:r>
                        </m:sub>
                      </m:sSub>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fr-FR" sz="20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𝑽</m:t>
                          </m:r>
                        </m:e>
                        <m:sub>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𝟐</m:t>
                          </m:r>
                        </m:sub>
                      </m:sSub>
                      <m:r>
                        <a:rPr lang="fr-FR" sz="2400" b="1"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fr-FR" sz="2400" b="1" kern="100" noProof="0" dirty="0">
                  <a:effectLst/>
                  <a:latin typeface="Aptos" panose="020B0004020202020204" pitchFamily="34" charset="0"/>
                  <a:ea typeface="Aptos" panose="020B0004020202020204" pitchFamily="34" charset="0"/>
                  <a:cs typeface="Arial" panose="020B0604020202020204" pitchFamily="34" charset="0"/>
                </a:endParaRPr>
              </a:p>
              <a:p>
                <a:endParaRPr lang="fr-FR" noProof="0" dirty="0"/>
              </a:p>
            </p:txBody>
          </p:sp>
        </mc:Choice>
        <mc:Fallback xmlns="">
          <p:sp>
            <p:nvSpPr>
              <p:cNvPr id="3" name="Espace réservé du texte 2">
                <a:extLst>
                  <a:ext uri="{FF2B5EF4-FFF2-40B4-BE49-F238E27FC236}">
                    <a16:creationId xmlns:a16="http://schemas.microsoft.com/office/drawing/2014/main" id="{D591E322-B415-BC6D-BCB6-DBB3E79AE386}"/>
                  </a:ext>
                </a:extLst>
              </p:cNvPr>
              <p:cNvSpPr>
                <a:spLocks noGrp="1" noRot="1" noChangeAspect="1" noMove="1" noResize="1" noEditPoints="1" noAdjustHandles="1" noChangeArrowheads="1" noChangeShapeType="1" noTextEdit="1"/>
              </p:cNvSpPr>
              <p:nvPr>
                <p:ph type="body" idx="1"/>
              </p:nvPr>
            </p:nvSpPr>
            <p:spPr>
              <a:xfrm>
                <a:off x="694467" y="1712110"/>
                <a:ext cx="10820400" cy="4884633"/>
              </a:xfrm>
              <a:blipFill>
                <a:blip r:embed="rId2"/>
                <a:stretch>
                  <a:fillRect/>
                </a:stretch>
              </a:blipFill>
            </p:spPr>
            <p:txBody>
              <a:bodyPr/>
              <a:lstStyle/>
              <a:p>
                <a:r>
                  <a:rPr lang="fr-FR">
                    <a:noFill/>
                  </a:rPr>
                  <a:t> </a:t>
                </a:r>
              </a:p>
            </p:txBody>
          </p:sp>
        </mc:Fallback>
      </mc:AlternateContent>
      <p:sp>
        <p:nvSpPr>
          <p:cNvPr id="5" name="ZoneTexte 4">
            <a:extLst>
              <a:ext uri="{FF2B5EF4-FFF2-40B4-BE49-F238E27FC236}">
                <a16:creationId xmlns:a16="http://schemas.microsoft.com/office/drawing/2014/main" id="{0D681CD1-76F4-4782-7AB1-B04013D6EBF4}"/>
              </a:ext>
            </a:extLst>
          </p:cNvPr>
          <p:cNvSpPr txBox="1"/>
          <p:nvPr/>
        </p:nvSpPr>
        <p:spPr>
          <a:xfrm>
            <a:off x="952500" y="338034"/>
            <a:ext cx="10286999"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0" cap="none" spc="0" normalizeH="0" baseline="0" noProof="0" dirty="0">
                <a:ln>
                  <a:noFill/>
                </a:ln>
                <a:solidFill>
                  <a:srgbClr val="FFC000"/>
                </a:solidFill>
                <a:effectLst/>
                <a:uLnTx/>
                <a:uFillTx/>
                <a:latin typeface="Times New Roman" panose="02020603050405020304" pitchFamily="18" charset="0"/>
                <a:ea typeface="Times New Roman" panose="02020603050405020304" pitchFamily="18" charset="0"/>
                <a:cs typeface="Arial" panose="020B0604020202020204" pitchFamily="34" charset="0"/>
                <a:sym typeface="Century Gothic"/>
              </a:rPr>
              <a:t>3. Le condensateur </a:t>
            </a:r>
            <a:r>
              <a:rPr kumimoji="0" lang="fr-FR" sz="3200" b="0" i="0" u="none" strike="noStrike" kern="0" cap="none" spc="0" normalizeH="0" baseline="0" noProof="0" dirty="0">
                <a:ln>
                  <a:noFill/>
                </a:ln>
                <a:solidFill>
                  <a:srgbClr val="FFFFFF"/>
                </a:solidFill>
                <a:effectLst/>
                <a:uLnTx/>
                <a:uFillTx/>
                <a:latin typeface="Segoe UI Emoji" panose="020B0502040204020203" pitchFamily="34" charset="0"/>
                <a:ea typeface="Times New Roman" panose="02020603050405020304" pitchFamily="18" charset="0"/>
                <a:cs typeface="Segoe UI Emoji" panose="020B0502040204020203" pitchFamily="34" charset="0"/>
                <a:sym typeface="Century Gothic"/>
              </a:rPr>
              <a:t>👉 </a:t>
            </a:r>
            <a:r>
              <a:rPr kumimoji="0" lang="fr-FR" sz="4800" b="1" i="0" u="none" strike="noStrike" kern="0" cap="none" spc="0" normalizeH="0" baseline="0" noProof="0" dirty="0">
                <a:ln>
                  <a:noFill/>
                </a:ln>
                <a:solidFill>
                  <a:schemeClr val="accent1"/>
                </a:solidFill>
                <a:effectLst/>
                <a:uLnTx/>
                <a:uFillTx/>
                <a:latin typeface="Times New Roman" panose="02020603050405020304" pitchFamily="18" charset="0"/>
                <a:ea typeface="Times New Roman" panose="02020603050405020304" pitchFamily="18" charset="0"/>
                <a:cs typeface="Arial" panose="020B0604020202020204" pitchFamily="34" charset="0"/>
                <a:sym typeface="Century Gothic"/>
              </a:rPr>
              <a:t>The </a:t>
            </a:r>
            <a:r>
              <a:rPr kumimoji="0" lang="fr-FR" sz="4800" b="1" i="0" u="none" strike="noStrike" kern="0" cap="none" spc="0" normalizeH="0" baseline="0" noProof="0" dirty="0" err="1">
                <a:ln>
                  <a:noFill/>
                </a:ln>
                <a:solidFill>
                  <a:schemeClr val="accent1"/>
                </a:solidFill>
                <a:effectLst/>
                <a:uLnTx/>
                <a:uFillTx/>
                <a:latin typeface="Times New Roman" panose="02020603050405020304" pitchFamily="18" charset="0"/>
                <a:ea typeface="Times New Roman" panose="02020603050405020304" pitchFamily="18" charset="0"/>
                <a:cs typeface="Arial" panose="020B0604020202020204" pitchFamily="34" charset="0"/>
                <a:sym typeface="Century Gothic"/>
              </a:rPr>
              <a:t>capacitor</a:t>
            </a:r>
            <a:r>
              <a:rPr kumimoji="0" lang="fr-FR" sz="4800" b="1" i="0" u="none" strike="noStrike" kern="0" cap="none" spc="0" normalizeH="0" baseline="0" noProof="0" dirty="0">
                <a:ln>
                  <a:noFill/>
                </a:ln>
                <a:solidFill>
                  <a:schemeClr val="accent1"/>
                </a:solidFill>
                <a:effectLst/>
                <a:uLnTx/>
                <a:uFillTx/>
                <a:latin typeface="Times New Roman" panose="02020603050405020304" pitchFamily="18" charset="0"/>
                <a:ea typeface="Times New Roman" panose="02020603050405020304" pitchFamily="18" charset="0"/>
                <a:cs typeface="Arial" panose="020B0604020202020204" pitchFamily="34" charset="0"/>
                <a:sym typeface="Century Gothic"/>
              </a:rPr>
              <a:t>    </a:t>
            </a:r>
            <a:endParaRPr kumimoji="0" lang="fr-FR" sz="2400" b="0" i="0" u="none" strike="noStrike" kern="1200" cap="none" spc="0" normalizeH="0" baseline="0" noProof="0" dirty="0">
              <a:ln>
                <a:noFill/>
              </a:ln>
              <a:solidFill>
                <a:schemeClr val="accent1"/>
              </a:solidFill>
              <a:effectLst/>
              <a:uLnTx/>
              <a:uFillTx/>
              <a:latin typeface="Arial"/>
              <a:ea typeface="+mn-ea"/>
              <a:cs typeface="+mn-cs"/>
            </a:endParaRPr>
          </a:p>
        </p:txBody>
      </p:sp>
    </p:spTree>
    <p:extLst>
      <p:ext uri="{BB962C8B-B14F-4D97-AF65-F5344CB8AC3E}">
        <p14:creationId xmlns:p14="http://schemas.microsoft.com/office/powerpoint/2010/main" val="37360799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C20EBC-60EB-B850-69BF-13452995501B}"/>
              </a:ext>
            </a:extLst>
          </p:cNvPr>
          <p:cNvSpPr>
            <a:spLocks noGrp="1"/>
          </p:cNvSpPr>
          <p:nvPr>
            <p:ph type="title"/>
          </p:nvPr>
        </p:nvSpPr>
        <p:spPr>
          <a:xfrm>
            <a:off x="685800" y="753533"/>
            <a:ext cx="10820400" cy="857553"/>
          </a:xfrm>
        </p:spPr>
        <p:txBody>
          <a:bodyPr>
            <a:normAutofit fontScale="90000"/>
          </a:bodyPr>
          <a:lstStyle/>
          <a:p>
            <a:pPr algn="ctr"/>
            <a:r>
              <a:rPr lang="fr-FR" sz="4900"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4. Groupements de condensateurs</a:t>
            </a:r>
            <a:br>
              <a:rPr lang="fr-FR" sz="4400"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endParaRPr lang="fr-FR" noProof="0" dirty="0">
              <a:solidFill>
                <a:srgbClr val="FFC000"/>
              </a:solidFill>
            </a:endParaRPr>
          </a:p>
        </p:txBody>
      </p:sp>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D58A0758-7980-A767-D5F4-0F9C497CC3A6}"/>
                  </a:ext>
                </a:extLst>
              </p:cNvPr>
              <p:cNvSpPr>
                <a:spLocks noGrp="1"/>
              </p:cNvSpPr>
              <p:nvPr>
                <p:ph type="body" idx="1"/>
              </p:nvPr>
            </p:nvSpPr>
            <p:spPr>
              <a:xfrm>
                <a:off x="685800" y="1099457"/>
                <a:ext cx="10829067" cy="5529943"/>
              </a:xfrm>
              <a:solidFill>
                <a:schemeClr val="accent2">
                  <a:lumMod val="75000"/>
                </a:schemeClr>
              </a:solidFill>
            </p:spPr>
            <p:txBody>
              <a:bodyPr>
                <a:normAutofit/>
              </a:bodyPr>
              <a:lstStyle/>
              <a:p>
                <a:pPr marL="304793" indent="0" algn="l"/>
                <a:r>
                  <a:rPr kumimoji="0" lang="fr-FR" sz="3000" b="1" i="0" u="none" strike="noStrike" kern="0" cap="none" spc="0" normalizeH="0" baseline="0" noProof="0" dirty="0">
                    <a:ln>
                      <a:noFill/>
                    </a:ln>
                    <a:solidFill>
                      <a:srgbClr val="FFFF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entury Gothic"/>
                  </a:rPr>
                  <a:t>a) En série :</a:t>
                </a:r>
                <a:endParaRPr lang="en-US" sz="24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 </a:t>
                </a:r>
                <a:r>
                  <a:rPr lang="en-US" sz="2400" b="1" dirty="0">
                    <a:latin typeface="Times New Roman" panose="02020603050405020304" pitchFamily="18" charset="0"/>
                    <a:cs typeface="Times New Roman" panose="02020603050405020304" pitchFamily="18" charset="0"/>
                  </a:rPr>
                  <a:t>courant</a:t>
                </a:r>
                <a:r>
                  <a:rPr lang="en-US" sz="2400" dirty="0">
                    <a:latin typeface="Times New Roman" panose="02020603050405020304" pitchFamily="18" charset="0"/>
                    <a:cs typeface="Times New Roman" panose="02020603050405020304" pitchFamily="18" charset="0"/>
                  </a:rPr>
                  <a:t> est le </a:t>
                </a:r>
                <a:r>
                  <a:rPr lang="en-US" sz="2400" dirty="0" err="1">
                    <a:latin typeface="Times New Roman" panose="02020603050405020304" pitchFamily="18" charset="0"/>
                    <a:cs typeface="Times New Roman" panose="02020603050405020304" pitchFamily="18" charset="0"/>
                  </a:rPr>
                  <a:t>même</a:t>
                </a:r>
                <a:r>
                  <a:rPr lang="en-US" sz="2400" dirty="0">
                    <a:latin typeface="Times New Roman" panose="02020603050405020304" pitchFamily="18" charset="0"/>
                    <a:cs typeface="Times New Roman" panose="02020603050405020304" pitchFamily="18" charset="0"/>
                  </a:rPr>
                  <a:t> dans </a:t>
                </a:r>
                <a:r>
                  <a:rPr lang="en-US" sz="2400" dirty="0" err="1">
                    <a:latin typeface="Times New Roman" panose="02020603050405020304" pitchFamily="18" charset="0"/>
                    <a:cs typeface="Times New Roman" panose="02020603050405020304" pitchFamily="18" charset="0"/>
                  </a:rPr>
                  <a:t>tous</a:t>
                </a:r>
                <a:r>
                  <a:rPr lang="en-US" sz="2400" dirty="0">
                    <a:latin typeface="Times New Roman" panose="02020603050405020304" pitchFamily="18" charset="0"/>
                    <a:cs typeface="Times New Roman" panose="02020603050405020304" pitchFamily="18" charset="0"/>
                  </a:rPr>
                  <a:t> les </a:t>
                </a:r>
                <a:r>
                  <a:rPr lang="en-US" sz="2400" dirty="0" err="1">
                    <a:latin typeface="Times New Roman" panose="02020603050405020304" pitchFamily="18" charset="0"/>
                    <a:cs typeface="Times New Roman" panose="02020603050405020304" pitchFamily="18" charset="0"/>
                  </a:rPr>
                  <a:t>condensateurs</a:t>
                </a:r>
                <a:r>
                  <a:rPr lang="en-US" sz="2400" dirty="0">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 </a:t>
                </a:r>
                <a:r>
                  <a:rPr lang="en-US" sz="2400" b="1" dirty="0">
                    <a:latin typeface="Times New Roman" panose="02020603050405020304" pitchFamily="18" charset="0"/>
                    <a:cs typeface="Times New Roman" panose="02020603050405020304" pitchFamily="18" charset="0"/>
                  </a:rPr>
                  <a:t>tension </a:t>
                </a:r>
                <a:r>
                  <a:rPr lang="en-US" sz="2400" b="1" dirty="0" err="1">
                    <a:latin typeface="Times New Roman" panose="02020603050405020304" pitchFamily="18" charset="0"/>
                    <a:cs typeface="Times New Roman" panose="02020603050405020304" pitchFamily="18" charset="0"/>
                  </a:rPr>
                  <a:t>totale</a:t>
                </a:r>
                <a:r>
                  <a:rPr lang="en-US" sz="2400" dirty="0">
                    <a:latin typeface="Times New Roman" panose="02020603050405020304" pitchFamily="18" charset="0"/>
                    <a:cs typeface="Times New Roman" panose="02020603050405020304" pitchFamily="18" charset="0"/>
                  </a:rPr>
                  <a:t> est la </a:t>
                </a:r>
                <a:r>
                  <a:rPr lang="en-US" sz="2400" dirty="0" err="1">
                    <a:latin typeface="Times New Roman" panose="02020603050405020304" pitchFamily="18" charset="0"/>
                    <a:cs typeface="Times New Roman" panose="02020603050405020304" pitchFamily="18" charset="0"/>
                  </a:rPr>
                  <a:t>somme</a:t>
                </a:r>
                <a:r>
                  <a:rPr lang="en-US" sz="2400" dirty="0">
                    <a:latin typeface="Times New Roman" panose="02020603050405020304" pitchFamily="18" charset="0"/>
                    <a:cs typeface="Times New Roman" panose="02020603050405020304" pitchFamily="18" charset="0"/>
                  </a:rPr>
                  <a:t> des tensions sur </a:t>
                </a:r>
                <a:r>
                  <a:rPr lang="en-US" sz="2400" dirty="0" err="1">
                    <a:latin typeface="Times New Roman" panose="02020603050405020304" pitchFamily="18" charset="0"/>
                    <a:cs typeface="Times New Roman" panose="02020603050405020304" pitchFamily="18" charset="0"/>
                  </a:rPr>
                  <a:t>chaque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condensateur</a:t>
                </a:r>
                <a:r>
                  <a:rPr lang="en-US" sz="2400" dirty="0">
                    <a:latin typeface="Times New Roman" panose="02020603050405020304" pitchFamily="18" charset="0"/>
                    <a:cs typeface="Times New Roman" panose="02020603050405020304" pitchFamily="18" charset="0"/>
                  </a:rPr>
                  <a:t> :</a:t>
                </a:r>
              </a:p>
              <a:p>
                <a:pPr algn="l">
                  <a:buFont typeface="Arial" panose="020B0604020202020204" pitchFamily="34" charset="0"/>
                  <a:buChar char="•"/>
                </a:pPr>
                <a:endParaRPr lang="fr-FR" sz="2400" i="1" dirty="0">
                  <a:latin typeface="Cambria Math" panose="02040503050406030204" pitchFamily="18" charset="0"/>
                </a:endParaRPr>
              </a:p>
              <a:p>
                <a:pPr marL="304793" indent="0" algn="l"/>
                <a14:m>
                  <m:oMathPara xmlns:m="http://schemas.openxmlformats.org/officeDocument/2006/math">
                    <m:oMathParaPr>
                      <m:jc m:val="centerGroup"/>
                    </m:oMathParaPr>
                    <m:oMath xmlns:m="http://schemas.openxmlformats.org/officeDocument/2006/math">
                      <m:sSub>
                        <m:sSubPr>
                          <m:ctrlPr>
                            <a:rPr lang="ar-DZ" sz="2400" i="1">
                              <a:latin typeface="Cambria Math" panose="02040503050406030204" pitchFamily="18" charset="0"/>
                            </a:rPr>
                          </m:ctrlPr>
                        </m:sSubPr>
                        <m:e>
                          <m:r>
                            <a:rPr lang="ar-DZ" sz="2400" i="1">
                              <a:latin typeface="Cambria Math" panose="02040503050406030204" pitchFamily="18" charset="0"/>
                            </a:rPr>
                            <m:t>𝑉</m:t>
                          </m:r>
                        </m:e>
                        <m:sub>
                          <m:r>
                            <m:rPr>
                              <m:nor/>
                            </m:rPr>
                            <a:rPr lang="en-US" sz="2400" b="0" i="1">
                              <a:latin typeface="Times New Roman" panose="02020603050405020304" pitchFamily="18" charset="0"/>
                              <a:cs typeface="Times New Roman" panose="02020603050405020304" pitchFamily="18" charset="0"/>
                            </a:rPr>
                            <m:t>totale</m:t>
                          </m:r>
                        </m:sub>
                      </m:sSub>
                      <m:r>
                        <a:rPr lang="ar-DZ" sz="2400" b="0" i="0">
                          <a:latin typeface="Cambria Math" panose="02040503050406030204" pitchFamily="18" charset="0"/>
                        </a:rPr>
                        <m:t>=</m:t>
                      </m:r>
                      <m:sSub>
                        <m:sSubPr>
                          <m:ctrlPr>
                            <a:rPr lang="ar-DZ" sz="2400" b="0" i="1">
                              <a:latin typeface="Cambria Math" panose="02040503050406030204" pitchFamily="18" charset="0"/>
                            </a:rPr>
                          </m:ctrlPr>
                        </m:sSubPr>
                        <m:e>
                          <m:r>
                            <a:rPr lang="ar-DZ" sz="2400" b="0" i="1">
                              <a:latin typeface="Cambria Math" panose="02040503050406030204" pitchFamily="18" charset="0"/>
                            </a:rPr>
                            <m:t>𝑉</m:t>
                          </m:r>
                        </m:e>
                        <m:sub>
                          <m:r>
                            <a:rPr lang="ar-DZ" sz="2400" b="0" i="0">
                              <a:latin typeface="Cambria Math" panose="02040503050406030204" pitchFamily="18" charset="0"/>
                            </a:rPr>
                            <m:t>1</m:t>
                          </m:r>
                        </m:sub>
                      </m:sSub>
                      <m:r>
                        <a:rPr lang="ar-DZ" sz="2400" b="0" i="0">
                          <a:latin typeface="Cambria Math" panose="02040503050406030204" pitchFamily="18" charset="0"/>
                        </a:rPr>
                        <m:t>+</m:t>
                      </m:r>
                      <m:sSub>
                        <m:sSubPr>
                          <m:ctrlPr>
                            <a:rPr lang="ar-DZ" sz="2400" b="0" i="1">
                              <a:latin typeface="Cambria Math" panose="02040503050406030204" pitchFamily="18" charset="0"/>
                            </a:rPr>
                          </m:ctrlPr>
                        </m:sSubPr>
                        <m:e>
                          <m:r>
                            <a:rPr lang="ar-DZ" sz="2400" b="0" i="1">
                              <a:latin typeface="Cambria Math" panose="02040503050406030204" pitchFamily="18" charset="0"/>
                            </a:rPr>
                            <m:t>𝑉</m:t>
                          </m:r>
                        </m:e>
                        <m:sub>
                          <m:r>
                            <a:rPr lang="ar-DZ" sz="2400" b="0" i="0">
                              <a:latin typeface="Cambria Math" panose="02040503050406030204" pitchFamily="18" charset="0"/>
                            </a:rPr>
                            <m:t>2</m:t>
                          </m:r>
                        </m:sub>
                      </m:sSub>
                      <m:r>
                        <a:rPr lang="ar-DZ" sz="2400" b="0" i="0">
                          <a:latin typeface="Cambria Math" panose="02040503050406030204" pitchFamily="18" charset="0"/>
                        </a:rPr>
                        <m:t>+</m:t>
                      </m:r>
                      <m:sSub>
                        <m:sSubPr>
                          <m:ctrlPr>
                            <a:rPr lang="ar-DZ" sz="2400" b="0" i="1">
                              <a:latin typeface="Cambria Math" panose="02040503050406030204" pitchFamily="18" charset="0"/>
                            </a:rPr>
                          </m:ctrlPr>
                        </m:sSubPr>
                        <m:e>
                          <m:r>
                            <a:rPr lang="ar-DZ" sz="2400" b="0" i="1">
                              <a:latin typeface="Cambria Math" panose="02040503050406030204" pitchFamily="18" charset="0"/>
                            </a:rPr>
                            <m:t>𝑉</m:t>
                          </m:r>
                        </m:e>
                        <m:sub>
                          <m:r>
                            <a:rPr lang="ar-DZ" sz="2400" b="0" i="0">
                              <a:latin typeface="Cambria Math" panose="02040503050406030204" pitchFamily="18" charset="0"/>
                            </a:rPr>
                            <m:t>3</m:t>
                          </m:r>
                        </m:sub>
                      </m:sSub>
                    </m:oMath>
                  </m:oMathPara>
                </a14:m>
                <a:endParaRPr lang="ar-DZ" sz="2400" b="0" dirty="0"/>
              </a:p>
              <a:p>
                <a:pPr algn="l">
                  <a:lnSpc>
                    <a:spcPct val="115000"/>
                  </a:lnSpc>
                  <a:spcAft>
                    <a:spcPts val="800"/>
                  </a:spcAft>
                  <a:buNone/>
                </a:pPr>
                <a:endParaRPr lang="fr-FR" sz="30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r>
                  <a:rPr lang="fr-FR" sz="3000" kern="0" noProof="0" dirty="0">
                    <a:effectLst/>
                    <a:ea typeface="Times New Roman" panose="02020603050405020304" pitchFamily="18" charset="0"/>
                    <a:cs typeface="Times New Roman" panose="02020603050405020304" pitchFamily="18" charset="0"/>
                  </a:rPr>
                  <a:t>       </a:t>
                </a:r>
                <a14:m>
                  <m:oMath xmlns:m="http://schemas.openxmlformats.org/officeDocument/2006/math">
                    <m:f>
                      <m:fPr>
                        <m:ctrlP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𝐶</m:t>
                            </m:r>
                          </m:e>
                          <m:sub>
                            <m:r>
                              <m:rPr>
                                <m:nor/>
                              </m:rPr>
                              <a:rPr lang="fr-FR" sz="3000" kern="0" noProof="0" smtClean="0">
                                <a:effectLst/>
                                <a:latin typeface="Times New Roman" panose="02020603050405020304" pitchFamily="18" charset="0"/>
                                <a:ea typeface="Times New Roman" panose="02020603050405020304" pitchFamily="18" charset="0"/>
                                <a:cs typeface="Arial" panose="020B0604020202020204" pitchFamily="34" charset="0"/>
                              </a:rPr>
                              <m:t>tot</m:t>
                            </m:r>
                          </m:sub>
                        </m:sSub>
                      </m:den>
                    </m:f>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grow m:val="on"/>
                        <m:ctrlP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𝑖</m:t>
                        </m:r>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𝑛</m:t>
                        </m:r>
                      </m:sup>
                      <m:e>
                        <m:f>
                          <m:fPr>
                            <m:ctrlP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fr-FR" sz="3000" i="1" kern="0" noProof="0" smtClean="0">
                                    <a:effectLst/>
                                    <a:latin typeface="Cambria Math" panose="02040503050406030204" pitchFamily="18" charset="0"/>
                                    <a:ea typeface="Times New Roman" panose="02020603050405020304" pitchFamily="18" charset="0"/>
                                    <a:cs typeface="Times New Roman" panose="02020603050405020304" pitchFamily="18" charset="0"/>
                                  </a:rPr>
                                  <m:t>𝑖</m:t>
                                </m:r>
                              </m:sub>
                            </m:sSub>
                          </m:den>
                        </m:f>
                      </m:e>
                    </m:nary>
                  </m:oMath>
                </a14:m>
                <a:br>
                  <a:rPr lang="fr-FR" sz="3000" kern="0" noProof="0" dirty="0">
                    <a:effectLst/>
                    <a:latin typeface="Cambria Math" panose="02040503050406030204" pitchFamily="18" charset="0"/>
                    <a:ea typeface="Times New Roman" panose="02020603050405020304" pitchFamily="18" charset="0"/>
                    <a:cs typeface="Times New Roman" panose="02020603050405020304" pitchFamily="18" charset="0"/>
                  </a:rPr>
                </a:br>
                <a:endParaRPr lang="fr-FR" sz="3000" kern="100" noProof="0" dirty="0">
                  <a:effectLst/>
                  <a:latin typeface="Aptos" panose="020B0004020202020204" pitchFamily="34" charset="0"/>
                  <a:ea typeface="Aptos" panose="020B0004020202020204" pitchFamily="34" charset="0"/>
                  <a:cs typeface="Arial" panose="020B0604020202020204" pitchFamily="34" charset="0"/>
                </a:endParaRPr>
              </a:p>
              <a:p>
                <a:pPr algn="l">
                  <a:lnSpc>
                    <a:spcPct val="115000"/>
                  </a:lnSpc>
                  <a:spcAft>
                    <a:spcPts val="800"/>
                  </a:spcAft>
                  <a:buNone/>
                </a:pPr>
                <a:endParaRPr lang="fr-FR" noProof="0" dirty="0"/>
              </a:p>
            </p:txBody>
          </p:sp>
        </mc:Choice>
        <mc:Fallback xmlns="">
          <p:sp>
            <p:nvSpPr>
              <p:cNvPr id="3" name="Espace réservé du texte 2">
                <a:extLst>
                  <a:ext uri="{FF2B5EF4-FFF2-40B4-BE49-F238E27FC236}">
                    <a16:creationId xmlns:a16="http://schemas.microsoft.com/office/drawing/2014/main" id="{D58A0758-7980-A767-D5F4-0F9C497CC3A6}"/>
                  </a:ext>
                </a:extLst>
              </p:cNvPr>
              <p:cNvSpPr>
                <a:spLocks noGrp="1" noRot="1" noChangeAspect="1" noMove="1" noResize="1" noEditPoints="1" noAdjustHandles="1" noChangeArrowheads="1" noChangeShapeType="1" noTextEdit="1"/>
              </p:cNvSpPr>
              <p:nvPr>
                <p:ph type="body" idx="1"/>
              </p:nvPr>
            </p:nvSpPr>
            <p:spPr>
              <a:xfrm>
                <a:off x="685800" y="1099457"/>
                <a:ext cx="10829067" cy="5529943"/>
              </a:xfrm>
              <a:blipFill>
                <a:blip r:embed="rId2"/>
                <a:stretch>
                  <a:fillRect/>
                </a:stretch>
              </a:blipFill>
            </p:spPr>
            <p:txBody>
              <a:bodyPr/>
              <a:lstStyle/>
              <a:p>
                <a:r>
                  <a:rPr lang="fr-FR">
                    <a:noFill/>
                  </a:rPr>
                  <a:t> </a:t>
                </a:r>
              </a:p>
            </p:txBody>
          </p:sp>
        </mc:Fallback>
      </mc:AlternateContent>
      <p:pic>
        <p:nvPicPr>
          <p:cNvPr id="5" name="Image 4">
            <a:extLst>
              <a:ext uri="{FF2B5EF4-FFF2-40B4-BE49-F238E27FC236}">
                <a16:creationId xmlns:a16="http://schemas.microsoft.com/office/drawing/2014/main" id="{2A51E31E-25E8-B017-0FDB-BC8027F41FB0}"/>
              </a:ext>
            </a:extLst>
          </p:cNvPr>
          <p:cNvPicPr>
            <a:picLocks noChangeAspect="1"/>
          </p:cNvPicPr>
          <p:nvPr/>
        </p:nvPicPr>
        <p:blipFill>
          <a:blip r:embed="rId3"/>
          <a:stretch>
            <a:fillRect/>
          </a:stretch>
        </p:blipFill>
        <p:spPr>
          <a:xfrm>
            <a:off x="5497286" y="3657600"/>
            <a:ext cx="3962397" cy="1880342"/>
          </a:xfrm>
          <a:prstGeom prst="rect">
            <a:avLst/>
          </a:prstGeom>
        </p:spPr>
      </p:pic>
    </p:spTree>
    <p:extLst>
      <p:ext uri="{BB962C8B-B14F-4D97-AF65-F5344CB8AC3E}">
        <p14:creationId xmlns:p14="http://schemas.microsoft.com/office/powerpoint/2010/main" val="10917529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FDAB066F-8173-0586-9083-5D7EFA97EDC5}"/>
                  </a:ext>
                </a:extLst>
              </p:cNvPr>
              <p:cNvSpPr>
                <a:spLocks noGrp="1"/>
              </p:cNvSpPr>
              <p:nvPr>
                <p:ph type="body" idx="1"/>
              </p:nvPr>
            </p:nvSpPr>
            <p:spPr>
              <a:xfrm>
                <a:off x="0" y="1824566"/>
                <a:ext cx="12192000" cy="4974772"/>
              </a:xfrm>
              <a:solidFill>
                <a:schemeClr val="accent2">
                  <a:lumMod val="75000"/>
                </a:schemeClr>
              </a:solidFill>
            </p:spPr>
            <p:txBody>
              <a:bodyPr>
                <a:normAutofit fontScale="85000" lnSpcReduction="20000"/>
              </a:bodyPr>
              <a:lstStyle/>
              <a:p>
                <a:pPr marL="609585" marR="0" lvl="0" indent="-304792" algn="l" defTabSz="914400" rtl="0" eaLnBrk="1" fontAlgn="auto" latinLnBrk="0" hangingPunct="1">
                  <a:lnSpc>
                    <a:spcPct val="115000"/>
                  </a:lnSpc>
                  <a:spcBef>
                    <a:spcPts val="1067"/>
                  </a:spcBef>
                  <a:spcAft>
                    <a:spcPts val="800"/>
                  </a:spcAft>
                  <a:buClr>
                    <a:srgbClr val="FFFFFF"/>
                  </a:buClr>
                  <a:buSzPts val="1700"/>
                  <a:buFont typeface="Arial"/>
                  <a:buNone/>
                  <a:tabLst/>
                  <a:defRPr/>
                </a:pPr>
                <a:r>
                  <a:rPr kumimoji="0" lang="fr-FR" sz="3600" b="1" i="0" u="none" strike="noStrike" kern="0" cap="none" spc="0" normalizeH="0" baseline="0" noProof="0" dirty="0">
                    <a:ln>
                      <a:noFill/>
                    </a:ln>
                    <a:solidFill>
                      <a:srgbClr val="FFFF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entury Gothic"/>
                  </a:rPr>
                  <a:t>b) En parallèle :</a:t>
                </a:r>
                <a:r>
                  <a:rPr kumimoji="0" lang="fr-FR" sz="3600" b="0" i="0" u="none" strike="noStrike" kern="0" cap="none" spc="0" normalizeH="0" baseline="0" noProof="0" dirty="0">
                    <a:ln>
                      <a:noFill/>
                    </a:ln>
                    <a:solidFill>
                      <a:srgbClr val="FFFFFF"/>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entury Gothic"/>
                  </a:rPr>
                  <a:t>  </a:t>
                </a:r>
              </a:p>
              <a:p>
                <a:pPr algn="l">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La tension est la </a:t>
                </a:r>
                <a:r>
                  <a:rPr lang="en-US" sz="3600" dirty="0" err="1">
                    <a:latin typeface="Times New Roman" panose="02020603050405020304" pitchFamily="18" charset="0"/>
                    <a:cs typeface="Times New Roman" panose="02020603050405020304" pitchFamily="18" charset="0"/>
                  </a:rPr>
                  <a:t>même</a:t>
                </a:r>
                <a:r>
                  <a:rPr lang="en-US" sz="3600" dirty="0">
                    <a:latin typeface="Times New Roman" panose="02020603050405020304" pitchFamily="18" charset="0"/>
                    <a:cs typeface="Times New Roman" panose="02020603050405020304" pitchFamily="18" charset="0"/>
                  </a:rPr>
                  <a:t> sur </a:t>
                </a:r>
                <a:r>
                  <a:rPr lang="en-US" sz="3600" dirty="0" err="1">
                    <a:latin typeface="Times New Roman" panose="02020603050405020304" pitchFamily="18" charset="0"/>
                    <a:cs typeface="Times New Roman" panose="02020603050405020304" pitchFamily="18" charset="0"/>
                  </a:rPr>
                  <a:t>chaque</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condensateur</a:t>
                </a:r>
                <a:r>
                  <a:rPr lang="en-US" sz="3600" dirty="0">
                    <a:latin typeface="Times New Roman" panose="02020603050405020304" pitchFamily="18" charset="0"/>
                    <a:cs typeface="Times New Roman" panose="02020603050405020304" pitchFamily="18" charset="0"/>
                  </a:rPr>
                  <a:t> :</a:t>
                </a:r>
              </a:p>
              <a:p>
                <a:pPr algn="l">
                  <a:buNone/>
                </a:pPr>
                <a14:m>
                  <m:oMathPara xmlns:m="http://schemas.openxmlformats.org/officeDocument/2006/math">
                    <m:oMathParaPr>
                      <m:jc m:val="centerGroup"/>
                    </m:oMathParaPr>
                    <m:oMath xmlns:m="http://schemas.openxmlformats.org/officeDocument/2006/math">
                      <m:sSub>
                        <m:sSubPr>
                          <m:ctrlPr>
                            <a:rPr lang="ar-DZ" sz="3600" i="1">
                              <a:latin typeface="Cambria Math" panose="02040503050406030204" pitchFamily="18" charset="0"/>
                            </a:rPr>
                          </m:ctrlPr>
                        </m:sSubPr>
                        <m:e>
                          <m:r>
                            <a:rPr lang="ar-DZ" sz="3600" b="0" i="1" smtClean="0">
                              <a:latin typeface="Cambria Math" panose="02040503050406030204" pitchFamily="18" charset="0"/>
                            </a:rPr>
                            <m:t>𝑉</m:t>
                          </m:r>
                        </m:e>
                        <m:sub>
                          <m:r>
                            <m:rPr>
                              <m:nor/>
                            </m:rPr>
                            <a:rPr lang="en-US" sz="3600" i="1">
                              <a:latin typeface="Times New Roman" panose="02020603050405020304" pitchFamily="18" charset="0"/>
                              <a:cs typeface="Times New Roman" panose="02020603050405020304" pitchFamily="18" charset="0"/>
                            </a:rPr>
                            <m:t>totale</m:t>
                          </m:r>
                        </m:sub>
                      </m:sSub>
                      <m:r>
                        <a:rPr lang="ar-DZ" sz="3600" b="0" i="0" smtClean="0">
                          <a:latin typeface="Cambria Math" panose="02040503050406030204" pitchFamily="18" charset="0"/>
                        </a:rPr>
                        <m:t>=</m:t>
                      </m:r>
                      <m:sSub>
                        <m:sSubPr>
                          <m:ctrlPr>
                            <a:rPr lang="ar-DZ" sz="3600" i="1">
                              <a:latin typeface="Cambria Math" panose="02040503050406030204" pitchFamily="18" charset="0"/>
                            </a:rPr>
                          </m:ctrlPr>
                        </m:sSubPr>
                        <m:e>
                          <m:r>
                            <a:rPr lang="ar-DZ" sz="3600" b="0" i="1" smtClean="0">
                              <a:latin typeface="Cambria Math" panose="02040503050406030204" pitchFamily="18" charset="0"/>
                            </a:rPr>
                            <m:t>𝑉</m:t>
                          </m:r>
                        </m:e>
                        <m:sub>
                          <m:r>
                            <a:rPr lang="ar-DZ" sz="3600" b="0" i="0" smtClean="0">
                              <a:latin typeface="Cambria Math" panose="02040503050406030204" pitchFamily="18" charset="0"/>
                            </a:rPr>
                            <m:t>1</m:t>
                          </m:r>
                        </m:sub>
                      </m:sSub>
                      <m:r>
                        <a:rPr lang="ar-DZ" sz="3600" b="0" i="0" smtClean="0">
                          <a:latin typeface="Cambria Math" panose="02040503050406030204" pitchFamily="18" charset="0"/>
                        </a:rPr>
                        <m:t>=</m:t>
                      </m:r>
                      <m:sSub>
                        <m:sSubPr>
                          <m:ctrlPr>
                            <a:rPr lang="ar-DZ" sz="3600" i="1">
                              <a:latin typeface="Cambria Math" panose="02040503050406030204" pitchFamily="18" charset="0"/>
                            </a:rPr>
                          </m:ctrlPr>
                        </m:sSubPr>
                        <m:e>
                          <m:r>
                            <a:rPr lang="ar-DZ" sz="3600" b="0" i="1" smtClean="0">
                              <a:latin typeface="Cambria Math" panose="02040503050406030204" pitchFamily="18" charset="0"/>
                            </a:rPr>
                            <m:t>𝑉</m:t>
                          </m:r>
                        </m:e>
                        <m:sub>
                          <m:r>
                            <a:rPr lang="ar-DZ" sz="3600" b="0" i="0" smtClean="0">
                              <a:latin typeface="Cambria Math" panose="02040503050406030204" pitchFamily="18" charset="0"/>
                            </a:rPr>
                            <m:t>2</m:t>
                          </m:r>
                        </m:sub>
                      </m:sSub>
                      <m:r>
                        <a:rPr lang="ar-DZ" sz="3600" b="0" i="0" smtClean="0">
                          <a:latin typeface="Cambria Math" panose="02040503050406030204" pitchFamily="18" charset="0"/>
                        </a:rPr>
                        <m:t>=</m:t>
                      </m:r>
                      <m:sSub>
                        <m:sSubPr>
                          <m:ctrlPr>
                            <a:rPr lang="ar-DZ" sz="3600" i="1">
                              <a:latin typeface="Cambria Math" panose="02040503050406030204" pitchFamily="18" charset="0"/>
                            </a:rPr>
                          </m:ctrlPr>
                        </m:sSubPr>
                        <m:e>
                          <m:r>
                            <a:rPr lang="ar-DZ" sz="3600" b="0" i="1" smtClean="0">
                              <a:latin typeface="Cambria Math" panose="02040503050406030204" pitchFamily="18" charset="0"/>
                            </a:rPr>
                            <m:t>𝑉</m:t>
                          </m:r>
                        </m:e>
                        <m:sub>
                          <m:r>
                            <a:rPr lang="ar-DZ" sz="3600" b="0" i="0" smtClean="0">
                              <a:latin typeface="Cambria Math" panose="02040503050406030204" pitchFamily="18" charset="0"/>
                            </a:rPr>
                            <m:t>3</m:t>
                          </m:r>
                        </m:sub>
                      </m:sSub>
                    </m:oMath>
                  </m:oMathPara>
                </a14:m>
                <a:endParaRPr lang="ar-DZ" sz="36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La </a:t>
                </a:r>
                <a:r>
                  <a:rPr lang="en-US" sz="3600" dirty="0" err="1">
                    <a:latin typeface="Times New Roman" panose="02020603050405020304" pitchFamily="18" charset="0"/>
                    <a:cs typeface="Times New Roman" panose="02020603050405020304" pitchFamily="18" charset="0"/>
                  </a:rPr>
                  <a:t>capacité</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équivalente</a:t>
                </a:r>
                <a:r>
                  <a:rPr lang="en-US" sz="36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DZ" sz="3600" i="1">
                            <a:latin typeface="Cambria Math" panose="02040503050406030204" pitchFamily="18" charset="0"/>
                          </a:rPr>
                        </m:ctrlPr>
                      </m:sSubPr>
                      <m:e>
                        <m:r>
                          <a:rPr lang="ar-DZ" sz="3600" b="0" i="1" smtClean="0">
                            <a:latin typeface="Cambria Math" panose="02040503050406030204" pitchFamily="18" charset="0"/>
                          </a:rPr>
                          <m:t>𝐶</m:t>
                        </m:r>
                      </m:e>
                      <m:sub>
                        <m:r>
                          <m:rPr>
                            <m:nor/>
                          </m:rPr>
                          <a:rPr lang="en-US" sz="3600" i="1">
                            <a:latin typeface="Times New Roman" panose="02020603050405020304" pitchFamily="18" charset="0"/>
                            <a:cs typeface="Times New Roman" panose="02020603050405020304" pitchFamily="18" charset="0"/>
                          </a:rPr>
                          <m:t>eq</m:t>
                        </m:r>
                      </m:sub>
                    </m:sSub>
                  </m:oMath>
                </a14:m>
                <a:r>
                  <a:rPr lang="en-US" sz="3600" dirty="0">
                    <a:latin typeface="Times New Roman" panose="02020603050405020304" pitchFamily="18" charset="0"/>
                    <a:cs typeface="Times New Roman" panose="02020603050405020304" pitchFamily="18" charset="0"/>
                  </a:rPr>
                  <a:t>est la </a:t>
                </a:r>
                <a:r>
                  <a:rPr lang="en-US" sz="3600" dirty="0" err="1">
                    <a:latin typeface="Times New Roman" panose="02020603050405020304" pitchFamily="18" charset="0"/>
                    <a:cs typeface="Times New Roman" panose="02020603050405020304" pitchFamily="18" charset="0"/>
                  </a:rPr>
                  <a:t>somme</a:t>
                </a:r>
                <a:r>
                  <a:rPr lang="en-US" sz="3600" dirty="0">
                    <a:latin typeface="Times New Roman" panose="02020603050405020304" pitchFamily="18" charset="0"/>
                    <a:cs typeface="Times New Roman" panose="02020603050405020304" pitchFamily="18" charset="0"/>
                  </a:rPr>
                  <a:t> des </a:t>
                </a:r>
                <a:r>
                  <a:rPr lang="en-US" sz="3600" dirty="0" err="1">
                    <a:latin typeface="Times New Roman" panose="02020603050405020304" pitchFamily="18" charset="0"/>
                    <a:cs typeface="Times New Roman" panose="02020603050405020304" pitchFamily="18" charset="0"/>
                  </a:rPr>
                  <a:t>capacités</a:t>
                </a:r>
                <a:r>
                  <a:rPr lang="en-US" sz="3600" dirty="0">
                    <a:latin typeface="Times New Roman" panose="02020603050405020304" pitchFamily="18" charset="0"/>
                    <a:cs typeface="Times New Roman" panose="02020603050405020304" pitchFamily="18" charset="0"/>
                  </a:rPr>
                  <a:t> :</a:t>
                </a:r>
              </a:p>
              <a:p>
                <a:pPr algn="l">
                  <a:buNone/>
                </a:pPr>
                <a14:m>
                  <m:oMathPara xmlns:m="http://schemas.openxmlformats.org/officeDocument/2006/math">
                    <m:oMathParaPr>
                      <m:jc m:val="centerGroup"/>
                    </m:oMathParaPr>
                    <m:oMath xmlns:m="http://schemas.openxmlformats.org/officeDocument/2006/math">
                      <m:sSub>
                        <m:sSubPr>
                          <m:ctrlPr>
                            <a:rPr lang="ar-DZ" sz="3600" i="1">
                              <a:latin typeface="Cambria Math" panose="02040503050406030204" pitchFamily="18" charset="0"/>
                            </a:rPr>
                          </m:ctrlPr>
                        </m:sSubPr>
                        <m:e>
                          <m:r>
                            <a:rPr lang="ar-DZ" sz="3600" b="0" i="1" smtClean="0">
                              <a:latin typeface="Cambria Math" panose="02040503050406030204" pitchFamily="18" charset="0"/>
                            </a:rPr>
                            <m:t>𝐶</m:t>
                          </m:r>
                        </m:e>
                        <m:sub>
                          <m:r>
                            <m:rPr>
                              <m:nor/>
                            </m:rPr>
                            <a:rPr lang="en-US" sz="3600" i="1">
                              <a:latin typeface="Times New Roman" panose="02020603050405020304" pitchFamily="18" charset="0"/>
                              <a:cs typeface="Times New Roman" panose="02020603050405020304" pitchFamily="18" charset="0"/>
                            </a:rPr>
                            <m:t>eq</m:t>
                          </m:r>
                        </m:sub>
                      </m:sSub>
                      <m:r>
                        <a:rPr lang="ar-DZ" sz="3600" b="0" i="0" smtClean="0">
                          <a:latin typeface="Cambria Math" panose="02040503050406030204" pitchFamily="18" charset="0"/>
                        </a:rPr>
                        <m:t>=</m:t>
                      </m:r>
                      <m:sSub>
                        <m:sSubPr>
                          <m:ctrlPr>
                            <a:rPr lang="ar-DZ" sz="3600" i="1">
                              <a:latin typeface="Cambria Math" panose="02040503050406030204" pitchFamily="18" charset="0"/>
                            </a:rPr>
                          </m:ctrlPr>
                        </m:sSubPr>
                        <m:e>
                          <m:r>
                            <a:rPr lang="ar-DZ" sz="3600" b="0" i="1" smtClean="0">
                              <a:latin typeface="Cambria Math" panose="02040503050406030204" pitchFamily="18" charset="0"/>
                            </a:rPr>
                            <m:t>𝐶</m:t>
                          </m:r>
                        </m:e>
                        <m:sub>
                          <m:r>
                            <a:rPr lang="ar-DZ" sz="3600" b="0" i="0" smtClean="0">
                              <a:latin typeface="Cambria Math" panose="02040503050406030204" pitchFamily="18" charset="0"/>
                            </a:rPr>
                            <m:t>1</m:t>
                          </m:r>
                        </m:sub>
                      </m:sSub>
                      <m:r>
                        <a:rPr lang="ar-DZ" sz="3600" b="0" i="0" smtClean="0">
                          <a:latin typeface="Cambria Math" panose="02040503050406030204" pitchFamily="18" charset="0"/>
                        </a:rPr>
                        <m:t>+</m:t>
                      </m:r>
                      <m:sSub>
                        <m:sSubPr>
                          <m:ctrlPr>
                            <a:rPr lang="ar-DZ" sz="3600" i="1">
                              <a:latin typeface="Cambria Math" panose="02040503050406030204" pitchFamily="18" charset="0"/>
                            </a:rPr>
                          </m:ctrlPr>
                        </m:sSubPr>
                        <m:e>
                          <m:r>
                            <a:rPr lang="ar-DZ" sz="3600" b="0" i="1" smtClean="0">
                              <a:latin typeface="Cambria Math" panose="02040503050406030204" pitchFamily="18" charset="0"/>
                            </a:rPr>
                            <m:t>𝐶</m:t>
                          </m:r>
                        </m:e>
                        <m:sub>
                          <m:r>
                            <a:rPr lang="ar-DZ" sz="3600" b="0" i="0" smtClean="0">
                              <a:latin typeface="Cambria Math" panose="02040503050406030204" pitchFamily="18" charset="0"/>
                            </a:rPr>
                            <m:t>2</m:t>
                          </m:r>
                        </m:sub>
                      </m:sSub>
                      <m:r>
                        <a:rPr lang="ar-DZ" sz="3600" b="0" i="0" smtClean="0">
                          <a:latin typeface="Cambria Math" panose="02040503050406030204" pitchFamily="18" charset="0"/>
                        </a:rPr>
                        <m:t>+</m:t>
                      </m:r>
                      <m:sSub>
                        <m:sSubPr>
                          <m:ctrlPr>
                            <a:rPr lang="ar-DZ" sz="3600" i="1">
                              <a:latin typeface="Cambria Math" panose="02040503050406030204" pitchFamily="18" charset="0"/>
                            </a:rPr>
                          </m:ctrlPr>
                        </m:sSubPr>
                        <m:e>
                          <m:r>
                            <a:rPr lang="ar-DZ" sz="3600" b="0" i="1" smtClean="0">
                              <a:latin typeface="Cambria Math" panose="02040503050406030204" pitchFamily="18" charset="0"/>
                            </a:rPr>
                            <m:t>𝐶</m:t>
                          </m:r>
                        </m:e>
                        <m:sub>
                          <m:r>
                            <a:rPr lang="ar-DZ" sz="3600" b="0" i="0" smtClean="0">
                              <a:latin typeface="Cambria Math" panose="02040503050406030204" pitchFamily="18" charset="0"/>
                            </a:rPr>
                            <m:t>3</m:t>
                          </m:r>
                        </m:sub>
                      </m:sSub>
                      <m:r>
                        <a:rPr lang="ar-DZ" sz="3600" b="0" i="0" smtClean="0">
                          <a:latin typeface="Cambria Math" panose="02040503050406030204" pitchFamily="18" charset="0"/>
                        </a:rPr>
                        <m:t>+…</m:t>
                      </m:r>
                    </m:oMath>
                  </m:oMathPara>
                </a14:m>
                <a:endParaRPr lang="fr-FR" sz="3500" dirty="0">
                  <a:solidFill>
                    <a:srgbClr val="FFFFFF"/>
                  </a:solidFill>
                  <a:ea typeface="Times New Roman" panose="02020603050405020304" pitchFamily="18" charset="0"/>
                  <a:cs typeface="Times New Roman" panose="02020603050405020304" pitchFamily="18" charset="0"/>
                </a:endParaRPr>
              </a:p>
              <a:p>
                <a:pPr marL="609585" marR="0" lvl="0" indent="-304792" algn="ctr" defTabSz="914400" rtl="0" eaLnBrk="1" fontAlgn="auto" latinLnBrk="0" hangingPunct="1">
                  <a:lnSpc>
                    <a:spcPct val="115000"/>
                  </a:lnSpc>
                  <a:spcBef>
                    <a:spcPts val="1067"/>
                  </a:spcBef>
                  <a:spcAft>
                    <a:spcPts val="800"/>
                  </a:spcAft>
                  <a:buClr>
                    <a:srgbClr val="FFFFFF"/>
                  </a:buClr>
                  <a:buSzPts val="1700"/>
                  <a:buFont typeface="Arial"/>
                  <a:buNone/>
                  <a:tabLst/>
                  <a:defRPr/>
                </a:pPr>
                <a:r>
                  <a:rPr kumimoji="0" lang="fr-FR" sz="2800" b="0" i="0" u="none" strike="noStrike" kern="0" cap="none" spc="0" normalizeH="0" baseline="0" noProof="0" dirty="0">
                    <a:ln>
                      <a:noFill/>
                    </a:ln>
                    <a:solidFill>
                      <a:srgbClr val="FFFFFF"/>
                    </a:solidFill>
                    <a:effectLst/>
                    <a:uLnTx/>
                    <a:uFillTx/>
                    <a:latin typeface="Century Gothic"/>
                    <a:ea typeface="Times New Roman" panose="02020603050405020304" pitchFamily="18" charset="0"/>
                    <a:cs typeface="Times New Roman" panose="02020603050405020304" pitchFamily="18" charset="0"/>
                    <a:sym typeface="Century Gothic"/>
                  </a:rPr>
                  <a:t>     </a:t>
                </a:r>
                <a14:m>
                  <m:oMath xmlns:m="http://schemas.openxmlformats.org/officeDocument/2006/math">
                    <m:sSub>
                      <m:sSubPr>
                        <m:ctrlP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ctrlPr>
                      </m:sSubPr>
                      <m:e>
                        <m: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t>𝐶</m:t>
                        </m:r>
                      </m:e>
                      <m:sub>
                        <m:r>
                          <m:rPr>
                            <m:nor/>
                          </m:rPr>
                          <a:rPr kumimoji="0" lang="fr-FR" sz="2800" b="0" i="0" u="none" strike="noStrike" kern="0" cap="none" spc="0" normalizeH="0" baseline="0" noProof="0" smtClean="0">
                            <a:ln>
                              <a:noFill/>
                            </a:ln>
                            <a:solidFill>
                              <a:srgbClr val="FFFFFF"/>
                            </a:solidFill>
                            <a:effectLst/>
                            <a:uLnTx/>
                            <a:uFillTx/>
                            <a:latin typeface="Times New Roman" panose="02020603050405020304" pitchFamily="18" charset="0"/>
                            <a:ea typeface="Times New Roman" panose="02020603050405020304" pitchFamily="18" charset="0"/>
                            <a:cs typeface="Arial" panose="020B0604020202020204" pitchFamily="34" charset="0"/>
                            <a:sym typeface="Century Gothic"/>
                          </a:rPr>
                          <m:t>tot</m:t>
                        </m:r>
                      </m:sub>
                    </m:sSub>
                    <m: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t>=</m:t>
                    </m:r>
                    <m:nary>
                      <m:naryPr>
                        <m:chr m:val="∑"/>
                        <m:limLoc m:val="undOvr"/>
                        <m:grow m:val="on"/>
                        <m:ctrlP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ctrlPr>
                      </m:naryPr>
                      <m:sub>
                        <m: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t>𝑖</m:t>
                        </m:r>
                        <m: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t>=</m:t>
                        </m:r>
                        <m: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t>1</m:t>
                        </m:r>
                      </m:sub>
                      <m:sup>
                        <m: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t>𝑛</m:t>
                        </m:r>
                      </m:sup>
                      <m:e>
                        <m:sSub>
                          <m:sSubPr>
                            <m:ctrlP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ctrlPr>
                          </m:sSubPr>
                          <m:e>
                            <m: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t>𝐶</m:t>
                            </m:r>
                          </m:e>
                          <m:sub>
                            <m:r>
                              <a:rPr kumimoji="0" lang="fr-FR" sz="2800" b="0" i="1" u="none" strike="noStrike" kern="0" cap="none" spc="0" normalizeH="0" baseline="0" noProof="0" smtClean="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m:t>𝑖</m:t>
                            </m:r>
                          </m:sub>
                        </m:sSub>
                      </m:e>
                    </m:nary>
                  </m:oMath>
                </a14:m>
                <a:br>
                  <a:rPr kumimoji="0" lang="fr-FR" sz="2800" b="0" i="0" u="none" strike="noStrike" kern="0" cap="none" spc="0" normalizeH="0" baseline="0" noProof="0" dirty="0">
                    <a:ln>
                      <a:noFill/>
                    </a:ln>
                    <a:solidFill>
                      <a:srgbClr val="FFFFFF"/>
                    </a:solidFill>
                    <a:effectLst/>
                    <a:uLnTx/>
                    <a:uFillTx/>
                    <a:latin typeface="Cambria Math" panose="02040503050406030204" pitchFamily="18" charset="0"/>
                    <a:ea typeface="Times New Roman" panose="02020603050405020304" pitchFamily="18" charset="0"/>
                    <a:cs typeface="Times New Roman" panose="02020603050405020304" pitchFamily="18" charset="0"/>
                    <a:sym typeface="Century Gothic"/>
                  </a:rPr>
                </a:br>
                <a:endParaRPr kumimoji="0" lang="fr-FR" sz="2800" b="0" i="0" u="none" strike="noStrike" kern="100" cap="none" spc="0" normalizeH="0" baseline="0" noProof="0" dirty="0">
                  <a:ln>
                    <a:noFill/>
                  </a:ln>
                  <a:solidFill>
                    <a:srgbClr val="FFFF00"/>
                  </a:solidFill>
                  <a:effectLst/>
                  <a:uLnTx/>
                  <a:uFillTx/>
                  <a:latin typeface="Aptos" panose="020B0004020202020204" pitchFamily="34" charset="0"/>
                  <a:ea typeface="Aptos" panose="020B0004020202020204" pitchFamily="34" charset="0"/>
                  <a:cs typeface="Arial" panose="020B0604020202020204" pitchFamily="34" charset="0"/>
                  <a:sym typeface="Century Gothic"/>
                </a:endParaRPr>
              </a:p>
              <a:p>
                <a:pPr marL="609585" marR="0" lvl="0" indent="-304792" algn="l" defTabSz="914400" rtl="0" eaLnBrk="1" fontAlgn="auto" latinLnBrk="0" hangingPunct="1">
                  <a:lnSpc>
                    <a:spcPct val="115000"/>
                  </a:lnSpc>
                  <a:spcBef>
                    <a:spcPts val="1067"/>
                  </a:spcBef>
                  <a:spcAft>
                    <a:spcPts val="800"/>
                  </a:spcAft>
                  <a:buClr>
                    <a:srgbClr val="FFFFFF"/>
                  </a:buClr>
                  <a:buSzPts val="1700"/>
                  <a:buFont typeface="Arial"/>
                  <a:buNone/>
                  <a:tabLst/>
                  <a:defRPr/>
                </a:pPr>
                <a:r>
                  <a:rPr kumimoji="0" lang="fr-FR" sz="3100" b="1" i="0" u="none" strike="noStrike" kern="0" cap="none" spc="0" normalizeH="0" baseline="0" noProof="0" dirty="0">
                    <a:ln>
                      <a:noFill/>
                    </a:ln>
                    <a:solidFill>
                      <a:srgbClr val="FFFF00"/>
                    </a:solidFill>
                    <a:effectLst/>
                    <a:uLnTx/>
                    <a:uFillTx/>
                    <a:latin typeface="Times New Roman" panose="02020603050405020304" pitchFamily="18" charset="0"/>
                    <a:ea typeface="Times New Roman" panose="02020603050405020304" pitchFamily="18" charset="0"/>
                    <a:cs typeface="Arial" panose="020B0604020202020204" pitchFamily="34" charset="0"/>
                    <a:sym typeface="Century Gothic"/>
                  </a:rPr>
                  <a:t>c) Groupement mixte :</a:t>
                </a:r>
              </a:p>
              <a:p>
                <a:pPr marL="609585" marR="0" lvl="0" indent="-304792" algn="l" defTabSz="914400" rtl="0" eaLnBrk="1" fontAlgn="auto" latinLnBrk="0" hangingPunct="1">
                  <a:lnSpc>
                    <a:spcPct val="115000"/>
                  </a:lnSpc>
                  <a:spcBef>
                    <a:spcPts val="1067"/>
                  </a:spcBef>
                  <a:spcAft>
                    <a:spcPts val="800"/>
                  </a:spcAft>
                  <a:buClr>
                    <a:srgbClr val="FFFFFF"/>
                  </a:buClr>
                  <a:buSzPts val="1700"/>
                  <a:buFont typeface="Arial"/>
                  <a:buNone/>
                  <a:tabLst/>
                  <a:defRPr/>
                </a:pPr>
                <a:r>
                  <a:rPr kumimoji="0" lang="fr-FR" sz="3100" b="0" i="0" u="none" strike="noStrike" kern="0" cap="none" spc="0" normalizeH="0" baseline="0" noProof="0" dirty="0">
                    <a:ln>
                      <a:noFill/>
                    </a:ln>
                    <a:solidFill>
                      <a:srgbClr val="FFFFFF"/>
                    </a:solidFill>
                    <a:effectLst/>
                    <a:uLnTx/>
                    <a:uFillTx/>
                    <a:latin typeface="Times New Roman" panose="02020603050405020304" pitchFamily="18" charset="0"/>
                    <a:ea typeface="Times New Roman" panose="02020603050405020304" pitchFamily="18" charset="0"/>
                    <a:cs typeface="Arial" panose="020B0604020202020204" pitchFamily="34" charset="0"/>
                    <a:sym typeface="Century Gothic"/>
                  </a:rPr>
                  <a:t>Combinaison des deux cas précédents ;on calcule d’abord les séries, puis les parallèles</a:t>
                </a:r>
                <a:endParaRPr lang="fr-FR" sz="3100" dirty="0"/>
              </a:p>
            </p:txBody>
          </p:sp>
        </mc:Choice>
        <mc:Fallback xmlns="">
          <p:sp>
            <p:nvSpPr>
              <p:cNvPr id="3" name="Espace réservé du texte 2">
                <a:extLst>
                  <a:ext uri="{FF2B5EF4-FFF2-40B4-BE49-F238E27FC236}">
                    <a16:creationId xmlns:a16="http://schemas.microsoft.com/office/drawing/2014/main" id="{FDAB066F-8173-0586-9083-5D7EFA97EDC5}"/>
                  </a:ext>
                </a:extLst>
              </p:cNvPr>
              <p:cNvSpPr>
                <a:spLocks noGrp="1" noRot="1" noChangeAspect="1" noMove="1" noResize="1" noEditPoints="1" noAdjustHandles="1" noChangeArrowheads="1" noChangeShapeType="1" noTextEdit="1"/>
              </p:cNvSpPr>
              <p:nvPr>
                <p:ph type="body" idx="1"/>
              </p:nvPr>
            </p:nvSpPr>
            <p:spPr>
              <a:xfrm>
                <a:off x="0" y="1824566"/>
                <a:ext cx="12192000" cy="4974772"/>
              </a:xfrm>
              <a:blipFill>
                <a:blip r:embed="rId2"/>
                <a:stretch>
                  <a:fillRect/>
                </a:stretch>
              </a:blipFill>
            </p:spPr>
            <p:txBody>
              <a:bodyPr/>
              <a:lstStyle/>
              <a:p>
                <a:r>
                  <a:rPr lang="fr-FR">
                    <a:noFill/>
                  </a:rPr>
                  <a:t> </a:t>
                </a:r>
              </a:p>
            </p:txBody>
          </p:sp>
        </mc:Fallback>
      </mc:AlternateContent>
      <p:pic>
        <p:nvPicPr>
          <p:cNvPr id="4" name="Image 3">
            <a:extLst>
              <a:ext uri="{FF2B5EF4-FFF2-40B4-BE49-F238E27FC236}">
                <a16:creationId xmlns:a16="http://schemas.microsoft.com/office/drawing/2014/main" id="{B0E8D00D-C332-D26C-4F75-1F93B2C65F3D}"/>
              </a:ext>
            </a:extLst>
          </p:cNvPr>
          <p:cNvPicPr>
            <a:picLocks noChangeAspect="1"/>
          </p:cNvPicPr>
          <p:nvPr/>
        </p:nvPicPr>
        <p:blipFill>
          <a:blip r:embed="rId3"/>
          <a:stretch>
            <a:fillRect/>
          </a:stretch>
        </p:blipFill>
        <p:spPr>
          <a:xfrm>
            <a:off x="8479971" y="1993013"/>
            <a:ext cx="3712029" cy="1642816"/>
          </a:xfrm>
          <a:prstGeom prst="rect">
            <a:avLst/>
          </a:prstGeom>
        </p:spPr>
      </p:pic>
      <p:pic>
        <p:nvPicPr>
          <p:cNvPr id="5" name="Image 4">
            <a:extLst>
              <a:ext uri="{FF2B5EF4-FFF2-40B4-BE49-F238E27FC236}">
                <a16:creationId xmlns:a16="http://schemas.microsoft.com/office/drawing/2014/main" id="{7594957C-1909-13AF-935B-DB4177DC0702}"/>
              </a:ext>
            </a:extLst>
          </p:cNvPr>
          <p:cNvPicPr>
            <a:picLocks noChangeAspect="1"/>
          </p:cNvPicPr>
          <p:nvPr/>
        </p:nvPicPr>
        <p:blipFill>
          <a:blip r:embed="rId4"/>
          <a:stretch>
            <a:fillRect/>
          </a:stretch>
        </p:blipFill>
        <p:spPr>
          <a:xfrm>
            <a:off x="7859766" y="4864988"/>
            <a:ext cx="3548180" cy="1286367"/>
          </a:xfrm>
          <a:prstGeom prst="rect">
            <a:avLst/>
          </a:prstGeom>
        </p:spPr>
      </p:pic>
      <p:sp>
        <p:nvSpPr>
          <p:cNvPr id="6" name="Titre 1">
            <a:extLst>
              <a:ext uri="{FF2B5EF4-FFF2-40B4-BE49-F238E27FC236}">
                <a16:creationId xmlns:a16="http://schemas.microsoft.com/office/drawing/2014/main" id="{3AF3DD05-0CD9-FB6D-CC53-E7E66FF34874}"/>
              </a:ext>
            </a:extLst>
          </p:cNvPr>
          <p:cNvSpPr>
            <a:spLocks noGrp="1"/>
          </p:cNvSpPr>
          <p:nvPr>
            <p:ph type="title"/>
          </p:nvPr>
        </p:nvSpPr>
        <p:spPr>
          <a:xfrm>
            <a:off x="685800" y="446088"/>
            <a:ext cx="10820400" cy="1206500"/>
          </a:xfrm>
        </p:spPr>
        <p:txBody>
          <a:bodyPr>
            <a:normAutofit fontScale="90000"/>
          </a:bodyPr>
          <a:lstStyle/>
          <a:p>
            <a:pPr algn="ctr"/>
            <a:r>
              <a:rPr lang="fr-FR" sz="4900" b="1" noProof="0" dirty="0">
                <a:solidFill>
                  <a:srgbClr val="FFC000"/>
                </a:solidFill>
                <a:latin typeface="Times New Roman" panose="02020603050405020304" pitchFamily="18" charset="0"/>
                <a:ea typeface="Times New Roman" panose="02020603050405020304" pitchFamily="18" charset="0"/>
                <a:cs typeface="Arial" panose="020B0604020202020204" pitchFamily="34" charset="0"/>
              </a:rPr>
              <a:t>4. Groupements de condensateurs</a:t>
            </a:r>
            <a:br>
              <a:rPr lang="fr-FR" sz="4400" kern="100" noProof="0" dirty="0">
                <a:solidFill>
                  <a:srgbClr val="FFC000"/>
                </a:solidFill>
                <a:latin typeface="Aptos" panose="020B0004020202020204" pitchFamily="34" charset="0"/>
                <a:ea typeface="Aptos" panose="020B0004020202020204" pitchFamily="34" charset="0"/>
                <a:cs typeface="Arial" panose="020B0604020202020204" pitchFamily="34" charset="0"/>
              </a:rPr>
            </a:br>
            <a:endParaRPr lang="fr-FR" noProof="0" dirty="0">
              <a:solidFill>
                <a:srgbClr val="FFC000"/>
              </a:solidFill>
            </a:endParaRPr>
          </a:p>
        </p:txBody>
      </p:sp>
    </p:spTree>
    <p:extLst>
      <p:ext uri="{BB962C8B-B14F-4D97-AF65-F5344CB8AC3E}">
        <p14:creationId xmlns:p14="http://schemas.microsoft.com/office/powerpoint/2010/main" val="41087630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FC0D46-C252-29A9-60BA-A3EF44BCF280}"/>
              </a:ext>
            </a:extLst>
          </p:cNvPr>
          <p:cNvSpPr>
            <a:spLocks noGrp="1"/>
          </p:cNvSpPr>
          <p:nvPr>
            <p:ph type="title"/>
          </p:nvPr>
        </p:nvSpPr>
        <p:spPr>
          <a:xfrm>
            <a:off x="685800" y="753533"/>
            <a:ext cx="10820400" cy="1075267"/>
          </a:xfrm>
        </p:spPr>
        <p:txBody>
          <a:bodyPr/>
          <a:lstStyle/>
          <a:p>
            <a:pPr algn="l"/>
            <a:r>
              <a:rPr lang="en-US" dirty="0"/>
              <a:t>⚡ </a:t>
            </a:r>
            <a:r>
              <a:rPr lang="en-US" b="1" dirty="0">
                <a:solidFill>
                  <a:srgbClr val="FFFF00"/>
                </a:solidFill>
                <a:latin typeface="Times New Roman" panose="02020603050405020304" pitchFamily="18" charset="0"/>
                <a:cs typeface="Times New Roman" panose="02020603050405020304" pitchFamily="18" charset="0"/>
              </a:rPr>
              <a:t>Résumé </a:t>
            </a:r>
            <a:r>
              <a:rPr lang="en-US" b="1" dirty="0" err="1">
                <a:solidFill>
                  <a:srgbClr val="FFFF00"/>
                </a:solidFill>
                <a:latin typeface="Times New Roman" panose="02020603050405020304" pitchFamily="18" charset="0"/>
                <a:cs typeface="Times New Roman" panose="02020603050405020304" pitchFamily="18" charset="0"/>
              </a:rPr>
              <a:t>rapide</a:t>
            </a:r>
            <a:endParaRPr lang="fr-FR" b="1" dirty="0">
              <a:solidFill>
                <a:srgbClr val="FFFF00"/>
              </a:solidFill>
              <a:latin typeface="Times New Roman" panose="02020603050405020304" pitchFamily="18" charset="0"/>
              <a:cs typeface="Times New Roman" panose="02020603050405020304" pitchFamily="18" charset="0"/>
            </a:endParaRPr>
          </a:p>
        </p:txBody>
      </p:sp>
      <p:sp>
        <p:nvSpPr>
          <p:cNvPr id="3" name="Espace réservé du texte 2">
            <a:extLst>
              <a:ext uri="{FF2B5EF4-FFF2-40B4-BE49-F238E27FC236}">
                <a16:creationId xmlns:a16="http://schemas.microsoft.com/office/drawing/2014/main" id="{2B21B659-5813-CD73-36BE-D9EF84BB06DC}"/>
              </a:ext>
            </a:extLst>
          </p:cNvPr>
          <p:cNvSpPr>
            <a:spLocks noGrp="1"/>
          </p:cNvSpPr>
          <p:nvPr>
            <p:ph type="body" idx="1"/>
          </p:nvPr>
        </p:nvSpPr>
        <p:spPr>
          <a:xfrm>
            <a:off x="1024467" y="2329543"/>
            <a:ext cx="10490400" cy="4049486"/>
          </a:xfrm>
        </p:spPr>
        <p:txBody>
          <a:bodyPr/>
          <a:lstStyle/>
          <a:p>
            <a:endParaRPr lang="fr-FR" dirty="0"/>
          </a:p>
        </p:txBody>
      </p:sp>
      <p:graphicFrame>
        <p:nvGraphicFramePr>
          <p:cNvPr id="4" name="Tableau 3">
            <a:extLst>
              <a:ext uri="{FF2B5EF4-FFF2-40B4-BE49-F238E27FC236}">
                <a16:creationId xmlns:a16="http://schemas.microsoft.com/office/drawing/2014/main" id="{887D02ED-D686-05CB-6C5C-06A2E1155055}"/>
              </a:ext>
            </a:extLst>
          </p:cNvPr>
          <p:cNvGraphicFramePr>
            <a:graphicFrameLocks noGrp="1"/>
          </p:cNvGraphicFramePr>
          <p:nvPr>
            <p:extLst>
              <p:ext uri="{D42A27DB-BD31-4B8C-83A1-F6EECF244321}">
                <p14:modId xmlns:p14="http://schemas.microsoft.com/office/powerpoint/2010/main" val="3483983114"/>
              </p:ext>
            </p:extLst>
          </p:nvPr>
        </p:nvGraphicFramePr>
        <p:xfrm>
          <a:off x="489857" y="2242457"/>
          <a:ext cx="11430000" cy="4136572"/>
        </p:xfrm>
        <a:graphic>
          <a:graphicData uri="http://schemas.openxmlformats.org/drawingml/2006/table">
            <a:tbl>
              <a:tblPr firstRow="1" firstCol="1" bandRow="1">
                <a:tableStyleId>{5C22544A-7EE6-4342-B048-85BDC9FD1C3A}</a:tableStyleId>
              </a:tblPr>
              <a:tblGrid>
                <a:gridCol w="2857500">
                  <a:extLst>
                    <a:ext uri="{9D8B030D-6E8A-4147-A177-3AD203B41FA5}">
                      <a16:colId xmlns:a16="http://schemas.microsoft.com/office/drawing/2014/main" val="3917536926"/>
                    </a:ext>
                  </a:extLst>
                </a:gridCol>
                <a:gridCol w="2857500">
                  <a:extLst>
                    <a:ext uri="{9D8B030D-6E8A-4147-A177-3AD203B41FA5}">
                      <a16:colId xmlns:a16="http://schemas.microsoft.com/office/drawing/2014/main" val="1232432842"/>
                    </a:ext>
                  </a:extLst>
                </a:gridCol>
                <a:gridCol w="2857500">
                  <a:extLst>
                    <a:ext uri="{9D8B030D-6E8A-4147-A177-3AD203B41FA5}">
                      <a16:colId xmlns:a16="http://schemas.microsoft.com/office/drawing/2014/main" val="1062753538"/>
                    </a:ext>
                  </a:extLst>
                </a:gridCol>
                <a:gridCol w="2857500">
                  <a:extLst>
                    <a:ext uri="{9D8B030D-6E8A-4147-A177-3AD203B41FA5}">
                      <a16:colId xmlns:a16="http://schemas.microsoft.com/office/drawing/2014/main" val="3790388052"/>
                    </a:ext>
                  </a:extLst>
                </a:gridCol>
              </a:tblGrid>
              <a:tr h="1605504">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Type</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Tension</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Courant</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Capacité équivalente</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50340629"/>
                  </a:ext>
                </a:extLst>
              </a:tr>
              <a:tr h="1265534">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Série</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Somme</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Même</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&lt; plus petit C</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71932799"/>
                  </a:ext>
                </a:extLst>
              </a:tr>
              <a:tr h="1265534">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Parallèle</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Même</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DZ" sz="3200" kern="100">
                          <a:solidFill>
                            <a:schemeClr val="tx1"/>
                          </a:solidFill>
                          <a:effectLst/>
                          <a:latin typeface="Times New Roman" panose="02020603050405020304" pitchFamily="18" charset="0"/>
                          <a:cs typeface="Times New Roman" panose="02020603050405020304" pitchFamily="18" charset="0"/>
                        </a:rPr>
                        <a:t>Somme</a:t>
                      </a:r>
                      <a:endParaRPr lang="fr-DZ" sz="3200" kern="10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fr-DZ" sz="3200" kern="100" dirty="0">
                          <a:solidFill>
                            <a:schemeClr val="tx1"/>
                          </a:solidFill>
                          <a:effectLst/>
                          <a:latin typeface="Times New Roman" panose="02020603050405020304" pitchFamily="18" charset="0"/>
                          <a:cs typeface="Times New Roman" panose="02020603050405020304" pitchFamily="18" charset="0"/>
                        </a:rPr>
                        <a:t>&gt; plus grand C</a:t>
                      </a:r>
                      <a:endParaRPr lang="fr-DZ" sz="32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22438615"/>
                  </a:ext>
                </a:extLst>
              </a:tr>
            </a:tbl>
          </a:graphicData>
        </a:graphic>
      </p:graphicFrame>
    </p:spTree>
    <p:extLst>
      <p:ext uri="{BB962C8B-B14F-4D97-AF65-F5344CB8AC3E}">
        <p14:creationId xmlns:p14="http://schemas.microsoft.com/office/powerpoint/2010/main" val="41025168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221B84B2-72F7-8A13-3D8C-6444C5469492}"/>
                  </a:ext>
                </a:extLst>
              </p:cNvPr>
              <p:cNvSpPr>
                <a:spLocks noGrp="1"/>
              </p:cNvSpPr>
              <p:nvPr>
                <p:ph type="body" idx="1"/>
              </p:nvPr>
            </p:nvSpPr>
            <p:spPr>
              <a:xfrm>
                <a:off x="-1" y="0"/>
                <a:ext cx="12300857" cy="6858000"/>
              </a:xfrm>
              <a:solidFill>
                <a:srgbClr val="002060"/>
              </a:solidFill>
            </p:spPr>
            <p:txBody>
              <a:bodyPr>
                <a:normAutofit/>
              </a:bodyPr>
              <a:lstStyle/>
              <a:p>
                <a:pPr algn="l">
                  <a:buNone/>
                </a:pPr>
                <a:r>
                  <a:rPr lang="en-US" sz="2800" b="1" dirty="0" err="1">
                    <a:latin typeface="Times New Roman" panose="02020603050405020304" pitchFamily="18" charset="0"/>
                    <a:cs typeface="Times New Roman" panose="02020603050405020304" pitchFamily="18" charset="0"/>
                  </a:rPr>
                  <a:t>Exercice</a:t>
                </a:r>
                <a:r>
                  <a:rPr lang="en-US" sz="2800" b="1" dirty="0">
                    <a:latin typeface="Times New Roman" panose="02020603050405020304" pitchFamily="18" charset="0"/>
                    <a:cs typeface="Times New Roman" panose="02020603050405020304" pitchFamily="18" charset="0"/>
                  </a:rPr>
                  <a:t> : </a:t>
                </a:r>
                <a:r>
                  <a:rPr lang="en-US" sz="2800" b="1" dirty="0">
                    <a:solidFill>
                      <a:srgbClr val="FFFF00"/>
                    </a:solidFill>
                    <a:latin typeface="Times New Roman" panose="02020603050405020304" pitchFamily="18" charset="0"/>
                    <a:cs typeface="Times New Roman" panose="02020603050405020304" pitchFamily="18" charset="0"/>
                  </a:rPr>
                  <a:t>Association de </a:t>
                </a:r>
                <a:r>
                  <a:rPr lang="en-US" sz="2800" b="1" dirty="0" err="1">
                    <a:solidFill>
                      <a:srgbClr val="FFFF00"/>
                    </a:solidFill>
                    <a:latin typeface="Times New Roman" panose="02020603050405020304" pitchFamily="18" charset="0"/>
                    <a:cs typeface="Times New Roman" panose="02020603050405020304" pitchFamily="18" charset="0"/>
                  </a:rPr>
                  <a:t>condensateurs</a:t>
                </a:r>
                <a:endParaRPr lang="en-US" sz="2800" b="1" dirty="0">
                  <a:solidFill>
                    <a:srgbClr val="FFFF00"/>
                  </a:solidFill>
                  <a:latin typeface="Times New Roman" panose="02020603050405020304" pitchFamily="18" charset="0"/>
                  <a:cs typeface="Times New Roman" panose="02020603050405020304" pitchFamily="18" charset="0"/>
                </a:endParaRPr>
              </a:p>
              <a:p>
                <a:pPr algn="l">
                  <a:buNone/>
                </a:pPr>
                <a:r>
                  <a:rPr lang="en-US" sz="2800" dirty="0">
                    <a:latin typeface="Times New Roman" panose="02020603050405020304" pitchFamily="18" charset="0"/>
                    <a:cs typeface="Times New Roman" panose="02020603050405020304" pitchFamily="18" charset="0"/>
                  </a:rPr>
                  <a:t>On dispose de trois </a:t>
                </a:r>
                <a:r>
                  <a:rPr lang="en-US" sz="2800" dirty="0" err="1">
                    <a:latin typeface="Times New Roman" panose="02020603050405020304" pitchFamily="18" charset="0"/>
                    <a:cs typeface="Times New Roman" panose="02020603050405020304" pitchFamily="18" charset="0"/>
                  </a:rPr>
                  <a:t>condensateurs</a:t>
                </a:r>
                <a:r>
                  <a:rPr lang="en-US" sz="2800" dirty="0">
                    <a:latin typeface="Times New Roman" panose="02020603050405020304" pitchFamily="18" charset="0"/>
                    <a:cs typeface="Times New Roman" panose="02020603050405020304" pitchFamily="18" charset="0"/>
                  </a:rPr>
                  <a:t> :</a:t>
                </a:r>
              </a:p>
              <a:p>
                <a:pPr algn="l">
                  <a:buNone/>
                </a:pPr>
                <a14:m>
                  <m:oMathPara xmlns:m="http://schemas.openxmlformats.org/officeDocument/2006/math">
                    <m:oMathParaPr>
                      <m:jc m:val="centerGroup"/>
                    </m:oMathParaPr>
                    <m:oMath xmlns:m="http://schemas.openxmlformats.org/officeDocument/2006/math">
                      <m:sSub>
                        <m:sSubPr>
                          <m:ctrlPr>
                            <a:rPr lang="ar-DZ" sz="3200" b="1" i="1" smtClean="0">
                              <a:solidFill>
                                <a:srgbClr val="FFFF00"/>
                              </a:solidFill>
                              <a:latin typeface="Cambria Math" panose="02040503050406030204" pitchFamily="18" charset="0"/>
                            </a:rPr>
                          </m:ctrlPr>
                        </m:sSubPr>
                        <m:e>
                          <m:r>
                            <a:rPr lang="ar-DZ" sz="3200" b="1" i="1">
                              <a:solidFill>
                                <a:srgbClr val="FFFF00"/>
                              </a:solidFill>
                              <a:latin typeface="Cambria Math" panose="02040503050406030204" pitchFamily="18" charset="0"/>
                            </a:rPr>
                            <m:t>𝑪</m:t>
                          </m:r>
                        </m:e>
                        <m:sub>
                          <m:r>
                            <a:rPr lang="ar-DZ" sz="3200" b="1" i="0">
                              <a:solidFill>
                                <a:srgbClr val="FFFF00"/>
                              </a:solidFill>
                              <a:latin typeface="Cambria Math" panose="02040503050406030204" pitchFamily="18" charset="0"/>
                            </a:rPr>
                            <m:t>𝟏</m:t>
                          </m:r>
                        </m:sub>
                      </m:sSub>
                      <m:r>
                        <a:rPr lang="ar-DZ" sz="3200" b="1" i="0">
                          <a:solidFill>
                            <a:srgbClr val="FFFF00"/>
                          </a:solidFill>
                          <a:latin typeface="Cambria Math" panose="02040503050406030204" pitchFamily="18" charset="0"/>
                        </a:rPr>
                        <m:t>=</m:t>
                      </m:r>
                      <m:r>
                        <a:rPr lang="ar-DZ" sz="3200" b="1" i="0">
                          <a:solidFill>
                            <a:srgbClr val="FFFF00"/>
                          </a:solidFill>
                          <a:latin typeface="Cambria Math" panose="02040503050406030204" pitchFamily="18" charset="0"/>
                        </a:rPr>
                        <m:t>𝟒</m:t>
                      </m:r>
                      <m:r>
                        <m:rPr>
                          <m:nor/>
                        </m:rPr>
                        <a:rPr lang="ar-DZ" sz="3200" b="1" i="1">
                          <a:solidFill>
                            <a:srgbClr val="FFFF00"/>
                          </a:solidFill>
                          <a:latin typeface="Times New Roman" panose="02020603050405020304" pitchFamily="18" charset="0"/>
                          <a:cs typeface="Times New Roman" panose="02020603050405020304" pitchFamily="18" charset="0"/>
                        </a:rPr>
                        <m:t> </m:t>
                      </m:r>
                      <m:r>
                        <a:rPr lang="ar-DZ" sz="3200" b="1" i="1">
                          <a:solidFill>
                            <a:srgbClr val="FFFF00"/>
                          </a:solidFill>
                          <a:latin typeface="Cambria Math" panose="02040503050406030204" pitchFamily="18" charset="0"/>
                        </a:rPr>
                        <m:t>𝝁</m:t>
                      </m:r>
                      <m:r>
                        <a:rPr lang="ar-DZ" sz="3200" b="1" i="1">
                          <a:solidFill>
                            <a:srgbClr val="FFFF00"/>
                          </a:solidFill>
                          <a:latin typeface="Cambria Math" panose="02040503050406030204" pitchFamily="18" charset="0"/>
                        </a:rPr>
                        <m:t>𝑭</m:t>
                      </m:r>
                      <m:r>
                        <a:rPr lang="ar-DZ" sz="3200" b="1" i="0">
                          <a:solidFill>
                            <a:srgbClr val="FFFF00"/>
                          </a:solidFill>
                          <a:latin typeface="Cambria Math" panose="02040503050406030204" pitchFamily="18" charset="0"/>
                        </a:rPr>
                        <m:t>, </m:t>
                      </m:r>
                      <m:sSub>
                        <m:sSubPr>
                          <m:ctrlPr>
                            <a:rPr lang="ar-DZ" sz="3200" b="1" i="1">
                              <a:solidFill>
                                <a:srgbClr val="FFFF00"/>
                              </a:solidFill>
                              <a:latin typeface="Cambria Math" panose="02040503050406030204" pitchFamily="18" charset="0"/>
                            </a:rPr>
                          </m:ctrlPr>
                        </m:sSubPr>
                        <m:e>
                          <m:r>
                            <a:rPr lang="ar-DZ" sz="3200" b="1" i="1">
                              <a:solidFill>
                                <a:srgbClr val="FFFF00"/>
                              </a:solidFill>
                              <a:latin typeface="Cambria Math" panose="02040503050406030204" pitchFamily="18" charset="0"/>
                            </a:rPr>
                            <m:t>𝑪</m:t>
                          </m:r>
                        </m:e>
                        <m:sub>
                          <m:r>
                            <a:rPr lang="ar-DZ" sz="3200" b="1" i="0">
                              <a:solidFill>
                                <a:srgbClr val="FFFF00"/>
                              </a:solidFill>
                              <a:latin typeface="Cambria Math" panose="02040503050406030204" pitchFamily="18" charset="0"/>
                            </a:rPr>
                            <m:t>𝟐</m:t>
                          </m:r>
                        </m:sub>
                      </m:sSub>
                      <m:r>
                        <a:rPr lang="ar-DZ" sz="3200" b="1" i="0">
                          <a:solidFill>
                            <a:srgbClr val="FFFF00"/>
                          </a:solidFill>
                          <a:latin typeface="Cambria Math" panose="02040503050406030204" pitchFamily="18" charset="0"/>
                        </a:rPr>
                        <m:t>=</m:t>
                      </m:r>
                      <m:r>
                        <a:rPr lang="ar-DZ" sz="3200" b="1" i="0">
                          <a:solidFill>
                            <a:srgbClr val="FFFF00"/>
                          </a:solidFill>
                          <a:latin typeface="Cambria Math" panose="02040503050406030204" pitchFamily="18" charset="0"/>
                        </a:rPr>
                        <m:t>𝟔</m:t>
                      </m:r>
                      <m:r>
                        <m:rPr>
                          <m:nor/>
                        </m:rPr>
                        <a:rPr lang="ar-DZ" sz="3200" b="1" i="1">
                          <a:solidFill>
                            <a:srgbClr val="FFFF00"/>
                          </a:solidFill>
                          <a:latin typeface="Times New Roman" panose="02020603050405020304" pitchFamily="18" charset="0"/>
                          <a:cs typeface="Times New Roman" panose="02020603050405020304" pitchFamily="18" charset="0"/>
                        </a:rPr>
                        <m:t> </m:t>
                      </m:r>
                      <m:r>
                        <a:rPr lang="ar-DZ" sz="3200" b="1" i="1">
                          <a:solidFill>
                            <a:srgbClr val="FFFF00"/>
                          </a:solidFill>
                          <a:latin typeface="Cambria Math" panose="02040503050406030204" pitchFamily="18" charset="0"/>
                        </a:rPr>
                        <m:t>𝝁</m:t>
                      </m:r>
                      <m:r>
                        <a:rPr lang="ar-DZ" sz="3200" b="1" i="1">
                          <a:solidFill>
                            <a:srgbClr val="FFFF00"/>
                          </a:solidFill>
                          <a:latin typeface="Cambria Math" panose="02040503050406030204" pitchFamily="18" charset="0"/>
                        </a:rPr>
                        <m:t>𝑭</m:t>
                      </m:r>
                      <m:r>
                        <a:rPr lang="ar-DZ" sz="3200" b="1" i="0">
                          <a:solidFill>
                            <a:srgbClr val="FFFF00"/>
                          </a:solidFill>
                          <a:latin typeface="Cambria Math" panose="02040503050406030204" pitchFamily="18" charset="0"/>
                        </a:rPr>
                        <m:t>, </m:t>
                      </m:r>
                      <m:sSub>
                        <m:sSubPr>
                          <m:ctrlPr>
                            <a:rPr lang="ar-DZ" sz="3200" b="1" i="1">
                              <a:solidFill>
                                <a:srgbClr val="FFFF00"/>
                              </a:solidFill>
                              <a:latin typeface="Cambria Math" panose="02040503050406030204" pitchFamily="18" charset="0"/>
                            </a:rPr>
                          </m:ctrlPr>
                        </m:sSubPr>
                        <m:e>
                          <m:r>
                            <a:rPr lang="ar-DZ" sz="3200" b="1" i="1">
                              <a:solidFill>
                                <a:srgbClr val="FFFF00"/>
                              </a:solidFill>
                              <a:latin typeface="Cambria Math" panose="02040503050406030204" pitchFamily="18" charset="0"/>
                            </a:rPr>
                            <m:t>𝑪</m:t>
                          </m:r>
                        </m:e>
                        <m:sub>
                          <m:r>
                            <a:rPr lang="ar-DZ" sz="3200" b="1" i="0">
                              <a:solidFill>
                                <a:srgbClr val="FFFF00"/>
                              </a:solidFill>
                              <a:latin typeface="Cambria Math" panose="02040503050406030204" pitchFamily="18" charset="0"/>
                            </a:rPr>
                            <m:t>𝟑</m:t>
                          </m:r>
                        </m:sub>
                      </m:sSub>
                      <m:r>
                        <a:rPr lang="ar-DZ" sz="3200" b="1" i="0">
                          <a:solidFill>
                            <a:srgbClr val="FFFF00"/>
                          </a:solidFill>
                          <a:latin typeface="Cambria Math" panose="02040503050406030204" pitchFamily="18" charset="0"/>
                        </a:rPr>
                        <m:t>=</m:t>
                      </m:r>
                      <m:r>
                        <a:rPr lang="ar-DZ" sz="3200" b="1" i="0">
                          <a:solidFill>
                            <a:srgbClr val="FFFF00"/>
                          </a:solidFill>
                          <a:latin typeface="Cambria Math" panose="02040503050406030204" pitchFamily="18" charset="0"/>
                        </a:rPr>
                        <m:t>𝟏𝟐</m:t>
                      </m:r>
                      <m:r>
                        <m:rPr>
                          <m:nor/>
                        </m:rPr>
                        <a:rPr lang="ar-DZ" sz="3200" b="1" i="1">
                          <a:solidFill>
                            <a:srgbClr val="FFFF00"/>
                          </a:solidFill>
                          <a:latin typeface="Times New Roman" panose="02020603050405020304" pitchFamily="18" charset="0"/>
                          <a:cs typeface="Times New Roman" panose="02020603050405020304" pitchFamily="18" charset="0"/>
                        </a:rPr>
                        <m:t> </m:t>
                      </m:r>
                      <m:r>
                        <a:rPr lang="ar-DZ" sz="3200" b="1" i="1">
                          <a:solidFill>
                            <a:srgbClr val="FFFF00"/>
                          </a:solidFill>
                          <a:latin typeface="Cambria Math" panose="02040503050406030204" pitchFamily="18" charset="0"/>
                        </a:rPr>
                        <m:t>𝝁</m:t>
                      </m:r>
                      <m:r>
                        <a:rPr lang="ar-DZ" sz="3200" b="1" i="1">
                          <a:solidFill>
                            <a:srgbClr val="FFFF00"/>
                          </a:solidFill>
                          <a:latin typeface="Cambria Math" panose="02040503050406030204" pitchFamily="18" charset="0"/>
                        </a:rPr>
                        <m:t>𝑭</m:t>
                      </m:r>
                    </m:oMath>
                  </m:oMathPara>
                </a14:m>
                <a:endParaRPr lang="ar-DZ" sz="3200" b="1" dirty="0">
                  <a:solidFill>
                    <a:srgbClr val="FFFF00"/>
                  </a:solidFill>
                  <a:latin typeface="Times New Roman" panose="02020603050405020304" pitchFamily="18" charset="0"/>
                  <a:cs typeface="Times New Roman" panose="02020603050405020304" pitchFamily="18" charset="0"/>
                </a:endParaRPr>
              </a:p>
              <a:p>
                <a:pPr algn="l">
                  <a:buFont typeface="+mj-lt"/>
                  <a:buAutoNum type="arabicPeriod"/>
                </a:pPr>
                <a:r>
                  <a:rPr lang="en-US" sz="2800" dirty="0">
                    <a:latin typeface="Times New Roman" panose="02020603050405020304" pitchFamily="18" charset="0"/>
                    <a:cs typeface="Times New Roman" panose="02020603050405020304" pitchFamily="18" charset="0"/>
                  </a:rPr>
                  <a:t>Association </a:t>
                </a:r>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série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On </a:t>
                </a:r>
                <a:r>
                  <a:rPr lang="en-US" sz="2800" dirty="0" err="1">
                    <a:latin typeface="Times New Roman" panose="02020603050405020304" pitchFamily="18" charset="0"/>
                    <a:cs typeface="Times New Roman" panose="02020603050405020304" pitchFamily="18" charset="0"/>
                  </a:rPr>
                  <a:t>associe</a:t>
                </a:r>
                <a:r>
                  <a:rPr lang="en-US" sz="2800" dirty="0">
                    <a:latin typeface="Times New Roman" panose="02020603050405020304" pitchFamily="18" charset="0"/>
                    <a:cs typeface="Times New Roman" panose="02020603050405020304" pitchFamily="18" charset="0"/>
                  </a:rPr>
                  <a:t> les trois </a:t>
                </a:r>
                <a:r>
                  <a:rPr lang="en-US" sz="2800" dirty="0" err="1">
                    <a:latin typeface="Times New Roman" panose="02020603050405020304" pitchFamily="18" charset="0"/>
                    <a:cs typeface="Times New Roman" panose="02020603050405020304" pitchFamily="18" charset="0"/>
                  </a:rPr>
                  <a:t>condensateurs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série</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 </a:t>
                </a:r>
                <a:r>
                  <a:rPr lang="en-US" sz="2800" dirty="0" err="1">
                    <a:latin typeface="Times New Roman" panose="02020603050405020304" pitchFamily="18" charset="0"/>
                    <a:cs typeface="Times New Roman" panose="02020603050405020304" pitchFamily="18" charset="0"/>
                  </a:rPr>
                  <a:t>Écrire</a:t>
                </a:r>
                <a:r>
                  <a:rPr lang="en-US" sz="2800" dirty="0">
                    <a:latin typeface="Times New Roman" panose="02020603050405020304" pitchFamily="18" charset="0"/>
                    <a:cs typeface="Times New Roman" panose="02020603050405020304" pitchFamily="18" charset="0"/>
                  </a:rPr>
                  <a:t> la </a:t>
                </a:r>
                <a:r>
                  <a:rPr lang="en-US" sz="2800" dirty="0" err="1">
                    <a:latin typeface="Times New Roman" panose="02020603050405020304" pitchFamily="18" charset="0"/>
                    <a:cs typeface="Times New Roman" panose="02020603050405020304" pitchFamily="18" charset="0"/>
                  </a:rPr>
                  <a:t>formule</a:t>
                </a:r>
                <a:r>
                  <a:rPr lang="en-US" sz="2800" dirty="0">
                    <a:latin typeface="Times New Roman" panose="02020603050405020304" pitchFamily="18" charset="0"/>
                    <a:cs typeface="Times New Roman" panose="02020603050405020304" pitchFamily="18" charset="0"/>
                  </a:rPr>
                  <a:t> de la </a:t>
                </a:r>
                <a:r>
                  <a:rPr lang="en-US" sz="2800" dirty="0" err="1">
                    <a:latin typeface="Times New Roman" panose="02020603050405020304" pitchFamily="18" charset="0"/>
                    <a:cs typeface="Times New Roman" panose="02020603050405020304" pitchFamily="18" charset="0"/>
                  </a:rPr>
                  <a:t>capacité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équivalente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d’une</a:t>
                </a:r>
                <a:r>
                  <a:rPr lang="en-US" sz="2800" dirty="0">
                    <a:latin typeface="Times New Roman" panose="02020603050405020304" pitchFamily="18" charset="0"/>
                    <a:cs typeface="Times New Roman" panose="02020603050405020304" pitchFamily="18" charset="0"/>
                  </a:rPr>
                  <a:t> association </a:t>
                </a:r>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série</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 </a:t>
                </a:r>
                <a:r>
                  <a:rPr lang="en-US" sz="2800" dirty="0" err="1">
                    <a:latin typeface="Times New Roman" panose="02020603050405020304" pitchFamily="18" charset="0"/>
                    <a:cs typeface="Times New Roman" panose="02020603050405020304" pitchFamily="18" charset="0"/>
                  </a:rPr>
                  <a:t>Calculer</a:t>
                </a:r>
                <a:r>
                  <a:rPr lang="en-US" sz="2800" dirty="0">
                    <a:latin typeface="Times New Roman" panose="02020603050405020304" pitchFamily="18" charset="0"/>
                    <a:cs typeface="Times New Roman" panose="02020603050405020304" pitchFamily="18" charset="0"/>
                  </a:rPr>
                  <a:t> la </a:t>
                </a:r>
                <a:r>
                  <a:rPr lang="en-US" sz="2800" dirty="0" err="1">
                    <a:latin typeface="Times New Roman" panose="02020603050405020304" pitchFamily="18" charset="0"/>
                    <a:cs typeface="Times New Roman" panose="02020603050405020304" pitchFamily="18" charset="0"/>
                  </a:rPr>
                  <a:t>capacité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équivalente</a:t>
                </a:r>
                <a:r>
                  <a:rPr lang="ar-DZ" sz="2800" dirty="0">
                    <a:latin typeface="Times New Roman" panose="02020603050405020304" pitchFamily="18" charset="0"/>
                    <a:cs typeface="Times New Roman" panose="02020603050405020304" pitchFamily="18" charset="0"/>
                  </a:rPr>
                  <a:t>.</a:t>
                </a:r>
              </a:p>
              <a:p>
                <a:pPr algn="l">
                  <a:buFont typeface="+mj-lt"/>
                  <a:buAutoNum type="arabicPeriod"/>
                </a:pPr>
                <a:r>
                  <a:rPr lang="en-US" sz="2800" dirty="0">
                    <a:latin typeface="Times New Roman" panose="02020603050405020304" pitchFamily="18" charset="0"/>
                    <a:cs typeface="Times New Roman" panose="02020603050405020304" pitchFamily="18" charset="0"/>
                  </a:rPr>
                  <a:t>Association </a:t>
                </a:r>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parallèle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On </a:t>
                </a:r>
                <a:r>
                  <a:rPr lang="en-US" sz="2800" dirty="0" err="1">
                    <a:latin typeface="Times New Roman" panose="02020603050405020304" pitchFamily="18" charset="0"/>
                    <a:cs typeface="Times New Roman" panose="02020603050405020304" pitchFamily="18" charset="0"/>
                  </a:rPr>
                  <a:t>associe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maintenant</a:t>
                </a:r>
                <a:r>
                  <a:rPr lang="en-US" sz="2800" dirty="0">
                    <a:latin typeface="Times New Roman" panose="02020603050405020304" pitchFamily="18" charset="0"/>
                    <a:cs typeface="Times New Roman" panose="02020603050405020304" pitchFamily="18" charset="0"/>
                  </a:rPr>
                  <a:t> les </a:t>
                </a:r>
                <a:r>
                  <a:rPr lang="en-US" sz="2800" dirty="0" err="1">
                    <a:latin typeface="Times New Roman" panose="02020603050405020304" pitchFamily="18" charset="0"/>
                    <a:cs typeface="Times New Roman" panose="02020603050405020304" pitchFamily="18" charset="0"/>
                  </a:rPr>
                  <a:t>mêmes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condensateurs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parallèle</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 </a:t>
                </a:r>
                <a:r>
                  <a:rPr lang="en-US" sz="2800" dirty="0" err="1">
                    <a:latin typeface="Times New Roman" panose="02020603050405020304" pitchFamily="18" charset="0"/>
                    <a:cs typeface="Times New Roman" panose="02020603050405020304" pitchFamily="18" charset="0"/>
                  </a:rPr>
                  <a:t>Écrire</a:t>
                </a:r>
                <a:r>
                  <a:rPr lang="en-US" sz="2800" dirty="0">
                    <a:latin typeface="Times New Roman" panose="02020603050405020304" pitchFamily="18" charset="0"/>
                    <a:cs typeface="Times New Roman" panose="02020603050405020304" pitchFamily="18" charset="0"/>
                  </a:rPr>
                  <a:t> la </a:t>
                </a:r>
                <a:r>
                  <a:rPr lang="en-US" sz="2800" dirty="0" err="1">
                    <a:latin typeface="Times New Roman" panose="02020603050405020304" pitchFamily="18" charset="0"/>
                    <a:cs typeface="Times New Roman" panose="02020603050405020304" pitchFamily="18" charset="0"/>
                  </a:rPr>
                  <a:t>formule</a:t>
                </a:r>
                <a:r>
                  <a:rPr lang="en-US" sz="2800" dirty="0">
                    <a:latin typeface="Times New Roman" panose="02020603050405020304" pitchFamily="18" charset="0"/>
                    <a:cs typeface="Times New Roman" panose="02020603050405020304" pitchFamily="18" charset="0"/>
                  </a:rPr>
                  <a:t> de la </a:t>
                </a:r>
                <a:r>
                  <a:rPr lang="en-US" sz="2800" dirty="0" err="1">
                    <a:latin typeface="Times New Roman" panose="02020603050405020304" pitchFamily="18" charset="0"/>
                    <a:cs typeface="Times New Roman" panose="02020603050405020304" pitchFamily="18" charset="0"/>
                  </a:rPr>
                  <a:t>capacité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équivalente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d’une</a:t>
                </a:r>
                <a:r>
                  <a:rPr lang="en-US" sz="2800" dirty="0">
                    <a:latin typeface="Times New Roman" panose="02020603050405020304" pitchFamily="18" charset="0"/>
                    <a:cs typeface="Times New Roman" panose="02020603050405020304" pitchFamily="18" charset="0"/>
                  </a:rPr>
                  <a:t> association </a:t>
                </a:r>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parallèle</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 </a:t>
                </a:r>
                <a:r>
                  <a:rPr lang="en-US" sz="2800" dirty="0" err="1">
                    <a:latin typeface="Times New Roman" panose="02020603050405020304" pitchFamily="18" charset="0"/>
                    <a:cs typeface="Times New Roman" panose="02020603050405020304" pitchFamily="18" charset="0"/>
                  </a:rPr>
                  <a:t>Calculer</a:t>
                </a:r>
                <a:r>
                  <a:rPr lang="en-US" sz="2800" dirty="0">
                    <a:latin typeface="Times New Roman" panose="02020603050405020304" pitchFamily="18" charset="0"/>
                    <a:cs typeface="Times New Roman" panose="02020603050405020304" pitchFamily="18" charset="0"/>
                  </a:rPr>
                  <a:t> la </a:t>
                </a:r>
                <a:r>
                  <a:rPr lang="en-US" sz="2800" dirty="0" err="1">
                    <a:latin typeface="Times New Roman" panose="02020603050405020304" pitchFamily="18" charset="0"/>
                    <a:cs typeface="Times New Roman" panose="02020603050405020304" pitchFamily="18" charset="0"/>
                  </a:rPr>
                  <a:t>capacité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équivalente</a:t>
                </a:r>
                <a:r>
                  <a:rPr lang="ar-DZ" sz="2800" dirty="0">
                    <a:latin typeface="Times New Roman" panose="02020603050405020304" pitchFamily="18" charset="0"/>
                    <a:cs typeface="Times New Roman" panose="02020603050405020304" pitchFamily="18" charset="0"/>
                  </a:rPr>
                  <a:t>.</a:t>
                </a:r>
              </a:p>
              <a:p>
                <a:pPr algn="l">
                  <a:buFont typeface="+mj-lt"/>
                  <a:buAutoNum type="arabicPeriod"/>
                </a:pPr>
                <a:r>
                  <a:rPr lang="en-US" sz="2800" dirty="0">
                    <a:latin typeface="Times New Roman" panose="02020603050405020304" pitchFamily="18" charset="0"/>
                    <a:cs typeface="Times New Roman" panose="02020603050405020304" pitchFamily="18" charset="0"/>
                  </a:rPr>
                  <a:t>Association </a:t>
                </a:r>
                <a:r>
                  <a:rPr lang="en-US" sz="2800" dirty="0" err="1">
                    <a:latin typeface="Times New Roman" panose="02020603050405020304" pitchFamily="18" charset="0"/>
                    <a:cs typeface="Times New Roman" panose="02020603050405020304" pitchFamily="18" charset="0"/>
                  </a:rPr>
                  <a:t>mixte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On </a:t>
                </a:r>
                <a:r>
                  <a:rPr lang="en-US" sz="2800" dirty="0" err="1">
                    <a:latin typeface="Times New Roman" panose="02020603050405020304" pitchFamily="18" charset="0"/>
                    <a:cs typeface="Times New Roman" panose="02020603050405020304" pitchFamily="18" charset="0"/>
                  </a:rPr>
                  <a:t>associe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d’abord</a:t>
                </a:r>
                <a:r>
                  <a:rPr lang="en-US" sz="2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2</m:t>
                        </m:r>
                      </m:sub>
                    </m:sSub>
                  </m:oMath>
                </a14:m>
                <a:r>
                  <a:rPr lang="en-US" sz="2800" dirty="0">
                    <a:latin typeface="Times New Roman" panose="02020603050405020304" pitchFamily="18" charset="0"/>
                    <a:cs typeface="Times New Roman" panose="02020603050405020304" pitchFamily="18" charset="0"/>
                  </a:rPr>
                  <a:t>et </a:t>
                </a:r>
                <a14:m>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3</m:t>
                        </m:r>
                      </m:sub>
                    </m:sSub>
                  </m:oMath>
                </a14:m>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série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puis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l’ensemble</a:t>
                </a:r>
                <a:r>
                  <a:rPr lang="en-US" sz="2800" dirty="0">
                    <a:latin typeface="Times New Roman" panose="02020603050405020304" pitchFamily="18" charset="0"/>
                    <a:cs typeface="Times New Roman" panose="02020603050405020304" pitchFamily="18" charset="0"/>
                  </a:rPr>
                  <a:t> est mis </a:t>
                </a:r>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parallèle</a:t>
                </a:r>
                <a:r>
                  <a:rPr lang="en-US" sz="2800" dirty="0">
                    <a:latin typeface="Times New Roman" panose="02020603050405020304" pitchFamily="18" charset="0"/>
                    <a:cs typeface="Times New Roman" panose="02020603050405020304" pitchFamily="18" charset="0"/>
                  </a:rPr>
                  <a:t> avec </a:t>
                </a:r>
                <a14:m>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1</m:t>
                        </m:r>
                      </m:sub>
                    </m:sSub>
                  </m:oMath>
                </a14:m>
                <a:r>
                  <a:rPr lang="ar-DZ" sz="2800" dirty="0">
                    <a:latin typeface="Times New Roman" panose="02020603050405020304" pitchFamily="18" charset="0"/>
                    <a:cs typeface="Times New Roman" panose="02020603050405020304" pitchFamily="18" charset="0"/>
                  </a:rPr>
                  <a:t>.</a:t>
                </a:r>
                <a:br>
                  <a:rPr lang="ar-DZ"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 </a:t>
                </a:r>
                <a:r>
                  <a:rPr lang="en-US" sz="2800" dirty="0" err="1">
                    <a:latin typeface="Times New Roman" panose="02020603050405020304" pitchFamily="18" charset="0"/>
                    <a:cs typeface="Times New Roman" panose="02020603050405020304" pitchFamily="18" charset="0"/>
                  </a:rPr>
                  <a:t>Calculer</a:t>
                </a:r>
                <a:r>
                  <a:rPr lang="en-US" sz="2800" dirty="0">
                    <a:latin typeface="Times New Roman" panose="02020603050405020304" pitchFamily="18" charset="0"/>
                    <a:cs typeface="Times New Roman" panose="02020603050405020304" pitchFamily="18" charset="0"/>
                  </a:rPr>
                  <a:t> la </a:t>
                </a:r>
                <a:r>
                  <a:rPr lang="en-US" sz="2800" dirty="0" err="1">
                    <a:latin typeface="Times New Roman" panose="02020603050405020304" pitchFamily="18" charset="0"/>
                    <a:cs typeface="Times New Roman" panose="02020603050405020304" pitchFamily="18" charset="0"/>
                  </a:rPr>
                  <a:t>capacité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équivalente</a:t>
                </a:r>
                <a:r>
                  <a:rPr lang="en-US" sz="2800" dirty="0">
                    <a:latin typeface="Times New Roman" panose="02020603050405020304" pitchFamily="18" charset="0"/>
                    <a:cs typeface="Times New Roman" panose="02020603050405020304" pitchFamily="18" charset="0"/>
                  </a:rPr>
                  <a:t> de </a:t>
                </a:r>
                <a:r>
                  <a:rPr lang="en-US" sz="2800" dirty="0" err="1">
                    <a:latin typeface="Times New Roman" panose="02020603050405020304" pitchFamily="18" charset="0"/>
                    <a:cs typeface="Times New Roman" panose="02020603050405020304" pitchFamily="18" charset="0"/>
                  </a:rPr>
                  <a:t>l’association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série</a:t>
                </a:r>
                <a:r>
                  <a:rPr lang="en-US" sz="2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2</m:t>
                        </m:r>
                        <m:r>
                          <a:rPr lang="ar-DZ" sz="2800" b="0" i="0">
                            <a:latin typeface="Cambria Math" panose="02040503050406030204" pitchFamily="18" charset="0"/>
                          </a:rPr>
                          <m:t>−</m:t>
                        </m:r>
                        <m:r>
                          <a:rPr lang="ar-DZ" sz="2800" b="0" i="0">
                            <a:latin typeface="Cambria Math" panose="02040503050406030204" pitchFamily="18" charset="0"/>
                          </a:rPr>
                          <m:t>3</m:t>
                        </m:r>
                      </m:sub>
                    </m:sSub>
                  </m:oMath>
                </a14:m>
                <a:r>
                  <a:rPr lang="ar-DZ" sz="2800" dirty="0">
                    <a:latin typeface="Times New Roman" panose="02020603050405020304" pitchFamily="18" charset="0"/>
                    <a:cs typeface="Times New Roman" panose="02020603050405020304" pitchFamily="18" charset="0"/>
                  </a:rPr>
                  <a:t>.</a:t>
                </a:r>
                <a:br>
                  <a:rPr lang="ar-DZ"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 En </a:t>
                </a:r>
                <a:r>
                  <a:rPr lang="en-US" sz="2800" dirty="0" err="1">
                    <a:latin typeface="Times New Roman" panose="02020603050405020304" pitchFamily="18" charset="0"/>
                    <a:cs typeface="Times New Roman" panose="02020603050405020304" pitchFamily="18" charset="0"/>
                  </a:rPr>
                  <a:t>déduire</a:t>
                </a:r>
                <a:r>
                  <a:rPr lang="en-US" sz="2800" dirty="0">
                    <a:latin typeface="Times New Roman" panose="02020603050405020304" pitchFamily="18" charset="0"/>
                    <a:cs typeface="Times New Roman" panose="02020603050405020304" pitchFamily="18" charset="0"/>
                  </a:rPr>
                  <a:t> la </a:t>
                </a:r>
                <a:r>
                  <a:rPr lang="en-US" sz="2800" dirty="0" err="1">
                    <a:latin typeface="Times New Roman" panose="02020603050405020304" pitchFamily="18" charset="0"/>
                    <a:cs typeface="Times New Roman" panose="02020603050405020304" pitchFamily="18" charset="0"/>
                  </a:rPr>
                  <a:t>capacité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totale</a:t>
                </a:r>
                <a:r>
                  <a:rPr lang="ar-DZ" dirty="0"/>
                  <a:t>.</a:t>
                </a:r>
              </a:p>
              <a:p>
                <a:endParaRPr lang="fr-FR" dirty="0"/>
              </a:p>
            </p:txBody>
          </p:sp>
        </mc:Choice>
        <mc:Fallback xmlns="">
          <p:sp>
            <p:nvSpPr>
              <p:cNvPr id="3" name="Espace réservé du texte 2">
                <a:extLst>
                  <a:ext uri="{FF2B5EF4-FFF2-40B4-BE49-F238E27FC236}">
                    <a16:creationId xmlns:a16="http://schemas.microsoft.com/office/drawing/2014/main" id="{221B84B2-72F7-8A13-3D8C-6444C5469492}"/>
                  </a:ext>
                </a:extLst>
              </p:cNvPr>
              <p:cNvSpPr>
                <a:spLocks noGrp="1" noRot="1" noChangeAspect="1" noMove="1" noResize="1" noEditPoints="1" noAdjustHandles="1" noChangeArrowheads="1" noChangeShapeType="1" noTextEdit="1"/>
              </p:cNvSpPr>
              <p:nvPr>
                <p:ph type="body" idx="1"/>
              </p:nvPr>
            </p:nvSpPr>
            <p:spPr>
              <a:xfrm>
                <a:off x="-1" y="0"/>
                <a:ext cx="12300857" cy="6858000"/>
              </a:xfrm>
              <a:blipFill>
                <a:blip r:embed="rId2"/>
                <a:stretch>
                  <a:fillRect r="-644"/>
                </a:stretch>
              </a:blipFill>
            </p:spPr>
            <p:txBody>
              <a:bodyPr/>
              <a:lstStyle/>
              <a:p>
                <a:r>
                  <a:rPr lang="fr-FR">
                    <a:noFill/>
                  </a:rPr>
                  <a:t> </a:t>
                </a:r>
              </a:p>
            </p:txBody>
          </p:sp>
        </mc:Fallback>
      </mc:AlternateContent>
    </p:spTree>
    <p:extLst>
      <p:ext uri="{BB962C8B-B14F-4D97-AF65-F5344CB8AC3E}">
        <p14:creationId xmlns:p14="http://schemas.microsoft.com/office/powerpoint/2010/main" val="2190721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F5C9FEF3-2917-8247-FF06-08D62807C175}"/>
                  </a:ext>
                </a:extLst>
              </p:cNvPr>
              <p:cNvSpPr>
                <a:spLocks noGrp="1"/>
              </p:cNvSpPr>
              <p:nvPr>
                <p:ph type="body" idx="1"/>
              </p:nvPr>
            </p:nvSpPr>
            <p:spPr>
              <a:xfrm>
                <a:off x="0" y="0"/>
                <a:ext cx="12191999" cy="6858000"/>
              </a:xfrm>
              <a:solidFill>
                <a:srgbClr val="002060"/>
              </a:solidFill>
            </p:spPr>
            <p:txBody>
              <a:bodyPr>
                <a:normAutofit/>
              </a:bodyPr>
              <a:lstStyle/>
              <a:p>
                <a:pPr algn="l">
                  <a:buNone/>
                </a:pPr>
                <a:r>
                  <a:rPr lang="en-US" sz="2800" b="1" dirty="0">
                    <a:latin typeface="Times New Roman" panose="02020603050405020304" pitchFamily="18" charset="0"/>
                    <a:cs typeface="Times New Roman" panose="02020603050405020304" pitchFamily="18" charset="0"/>
                  </a:rPr>
                  <a:t>Données</a:t>
                </a:r>
              </a:p>
              <a:p>
                <a:pPr algn="l">
                  <a:buNone/>
                </a:pPr>
                <a14:m>
                  <m:oMathPara xmlns:m="http://schemas.openxmlformats.org/officeDocument/2006/math">
                    <m:oMathParaPr>
                      <m:jc m:val="centerGroup"/>
                    </m:oMathParaPr>
                    <m:oMath xmlns:m="http://schemas.openxmlformats.org/officeDocument/2006/math">
                      <m:sSub>
                        <m:sSubPr>
                          <m:ctrlPr>
                            <a:rPr lang="ar-DZ" sz="2800" i="1">
                              <a:latin typeface="Cambria Math" panose="02040503050406030204" pitchFamily="18" charset="0"/>
                            </a:rPr>
                          </m:ctrlPr>
                        </m:sSubPr>
                        <m:e>
                          <m:r>
                            <a:rPr lang="ar-DZ" sz="2800" i="1">
                              <a:latin typeface="Cambria Math" panose="02040503050406030204" pitchFamily="18" charset="0"/>
                            </a:rPr>
                            <m:t>𝐶</m:t>
                          </m:r>
                        </m:e>
                        <m:sub>
                          <m:r>
                            <a:rPr lang="ar-DZ" sz="2800" i="0">
                              <a:latin typeface="Cambria Math" panose="02040503050406030204" pitchFamily="18" charset="0"/>
                            </a:rPr>
                            <m:t>1</m:t>
                          </m:r>
                        </m:sub>
                      </m:sSub>
                      <m:r>
                        <a:rPr lang="ar-DZ" sz="2800" i="0">
                          <a:latin typeface="Cambria Math" panose="02040503050406030204" pitchFamily="18" charset="0"/>
                        </a:rPr>
                        <m:t>=</m:t>
                      </m:r>
                      <m:r>
                        <a:rPr lang="ar-DZ" sz="2800" i="0">
                          <a:latin typeface="Cambria Math" panose="02040503050406030204" pitchFamily="18" charset="0"/>
                        </a:rPr>
                        <m:t>4</m:t>
                      </m:r>
                      <m:r>
                        <m:rPr>
                          <m:nor/>
                        </m:rPr>
                        <a:rPr lang="ar-DZ" sz="2800" b="0" i="1">
                          <a:latin typeface="Times New Roman" panose="02020603050405020304" pitchFamily="18" charset="0"/>
                          <a:cs typeface="Times New Roman" panose="02020603050405020304" pitchFamily="18" charset="0"/>
                        </a:rPr>
                        <m:t> </m:t>
                      </m:r>
                      <m:r>
                        <a:rPr lang="ar-DZ" sz="2800" b="0" i="1">
                          <a:latin typeface="Cambria Math" panose="02040503050406030204" pitchFamily="18" charset="0"/>
                        </a:rPr>
                        <m:t>𝜇</m:t>
                      </m:r>
                      <m:r>
                        <m:rPr>
                          <m:nor/>
                        </m:rPr>
                        <a:rPr lang="en-US" sz="2800" b="0" i="1">
                          <a:latin typeface="Times New Roman" panose="02020603050405020304" pitchFamily="18" charset="0"/>
                          <a:cs typeface="Times New Roman" panose="02020603050405020304" pitchFamily="18" charset="0"/>
                        </a:rPr>
                        <m:t>F</m:t>
                      </m:r>
                      <m:r>
                        <a:rPr lang="en-US" sz="2800" b="0" i="0">
                          <a:latin typeface="Cambria Math" panose="02040503050406030204" pitchFamily="18" charset="0"/>
                        </a:rPr>
                        <m:t>, </m:t>
                      </m:r>
                      <m:sSub>
                        <m:sSubPr>
                          <m:ctrlPr>
                            <a:rPr lang="ar-DZ" sz="2800" b="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2</m:t>
                          </m:r>
                        </m:sub>
                      </m:sSub>
                      <m:r>
                        <a:rPr lang="ar-DZ" sz="2800" b="0" i="0">
                          <a:latin typeface="Cambria Math" panose="02040503050406030204" pitchFamily="18" charset="0"/>
                        </a:rPr>
                        <m:t>=</m:t>
                      </m:r>
                      <m:r>
                        <a:rPr lang="ar-DZ" sz="2800" b="0" i="0">
                          <a:latin typeface="Cambria Math" panose="02040503050406030204" pitchFamily="18" charset="0"/>
                        </a:rPr>
                        <m:t>6</m:t>
                      </m:r>
                      <m:r>
                        <m:rPr>
                          <m:nor/>
                        </m:rPr>
                        <a:rPr lang="ar-DZ" sz="2800" b="0" i="1">
                          <a:latin typeface="Times New Roman" panose="02020603050405020304" pitchFamily="18" charset="0"/>
                          <a:cs typeface="Times New Roman" panose="02020603050405020304" pitchFamily="18" charset="0"/>
                        </a:rPr>
                        <m:t> </m:t>
                      </m:r>
                      <m:r>
                        <a:rPr lang="ar-DZ" sz="2800" b="0" i="1">
                          <a:latin typeface="Cambria Math" panose="02040503050406030204" pitchFamily="18" charset="0"/>
                        </a:rPr>
                        <m:t>𝜇</m:t>
                      </m:r>
                      <m:r>
                        <m:rPr>
                          <m:nor/>
                        </m:rPr>
                        <a:rPr lang="en-US" sz="2800" b="0" i="1">
                          <a:latin typeface="Times New Roman" panose="02020603050405020304" pitchFamily="18" charset="0"/>
                          <a:cs typeface="Times New Roman" panose="02020603050405020304" pitchFamily="18" charset="0"/>
                        </a:rPr>
                        <m:t>F</m:t>
                      </m:r>
                      <m:r>
                        <a:rPr lang="en-US" sz="2800" b="0" i="0">
                          <a:latin typeface="Cambria Math" panose="02040503050406030204" pitchFamily="18" charset="0"/>
                        </a:rPr>
                        <m:t>, </m:t>
                      </m:r>
                      <m:sSub>
                        <m:sSubPr>
                          <m:ctrlPr>
                            <a:rPr lang="ar-DZ" sz="2800" b="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3</m:t>
                          </m:r>
                        </m:sub>
                      </m:sSub>
                      <m:r>
                        <a:rPr lang="ar-DZ" sz="2800" b="0" i="0">
                          <a:latin typeface="Cambria Math" panose="02040503050406030204" pitchFamily="18" charset="0"/>
                        </a:rPr>
                        <m:t>=</m:t>
                      </m:r>
                      <m:r>
                        <a:rPr lang="ar-DZ" sz="2800" b="0" i="0">
                          <a:latin typeface="Cambria Math" panose="02040503050406030204" pitchFamily="18" charset="0"/>
                        </a:rPr>
                        <m:t>12</m:t>
                      </m:r>
                      <m:r>
                        <m:rPr>
                          <m:nor/>
                        </m:rPr>
                        <a:rPr lang="ar-DZ" sz="2800" b="0" i="1">
                          <a:latin typeface="Times New Roman" panose="02020603050405020304" pitchFamily="18" charset="0"/>
                          <a:cs typeface="Times New Roman" panose="02020603050405020304" pitchFamily="18" charset="0"/>
                        </a:rPr>
                        <m:t> </m:t>
                      </m:r>
                      <m:r>
                        <a:rPr lang="ar-DZ" sz="2800" b="0" i="1">
                          <a:latin typeface="Cambria Math" panose="02040503050406030204" pitchFamily="18" charset="0"/>
                        </a:rPr>
                        <m:t>𝜇</m:t>
                      </m:r>
                      <m:r>
                        <m:rPr>
                          <m:nor/>
                        </m:rPr>
                        <a:rPr lang="en-US" sz="2800" b="0" i="1">
                          <a:latin typeface="Times New Roman" panose="02020603050405020304" pitchFamily="18" charset="0"/>
                          <a:cs typeface="Times New Roman" panose="02020603050405020304" pitchFamily="18" charset="0"/>
                        </a:rPr>
                        <m:t>F</m:t>
                      </m:r>
                      <m:r>
                        <a:rPr lang="en-US" sz="2800" b="0" i="0">
                          <a:latin typeface="Cambria Math" panose="02040503050406030204" pitchFamily="18" charset="0"/>
                        </a:rPr>
                        <m:t>.</m:t>
                      </m:r>
                    </m:oMath>
                  </m:oMathPara>
                </a14:m>
                <a:endParaRPr lang="en-US" sz="2800" b="0" dirty="0">
                  <a:latin typeface="Times New Roman" panose="02020603050405020304" pitchFamily="18" charset="0"/>
                  <a:cs typeface="Times New Roman" panose="02020603050405020304" pitchFamily="18" charset="0"/>
                </a:endParaRPr>
              </a:p>
              <a:p>
                <a:pPr algn="l">
                  <a:buNone/>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lgn="l">
                  <a:buNone/>
                </a:pPr>
                <a:r>
                  <a:rPr lang="en-US" sz="2800" b="1" dirty="0">
                    <a:latin typeface="Times New Roman" panose="02020603050405020304" pitchFamily="18" charset="0"/>
                    <a:cs typeface="Times New Roman" panose="02020603050405020304" pitchFamily="18" charset="0"/>
                  </a:rPr>
                  <a:t>1) </a:t>
                </a:r>
                <a:r>
                  <a:rPr lang="en-US" sz="2800" dirty="0">
                    <a:latin typeface="Times New Roman" panose="02020603050405020304" pitchFamily="18" charset="0"/>
                    <a:cs typeface="Times New Roman" panose="02020603050405020304" pitchFamily="18" charset="0"/>
                  </a:rPr>
                  <a:t>Trois </a:t>
                </a:r>
                <a:r>
                  <a:rPr lang="en-US" sz="2800" dirty="0" err="1">
                    <a:latin typeface="Times New Roman" panose="02020603050405020304" pitchFamily="18" charset="0"/>
                    <a:cs typeface="Times New Roman" panose="02020603050405020304" pitchFamily="18" charset="0"/>
                  </a:rPr>
                  <a:t>condensateurs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série</a:t>
                </a:r>
                <a:endParaRPr lang="en-US" sz="2800" dirty="0">
                  <a:latin typeface="Times New Roman" panose="02020603050405020304" pitchFamily="18" charset="0"/>
                  <a:cs typeface="Times New Roman" panose="02020603050405020304" pitchFamily="18" charset="0"/>
                </a:endParaRPr>
              </a:p>
              <a:p>
                <a:pPr algn="l">
                  <a:buNone/>
                </a:pPr>
                <a:r>
                  <a:rPr lang="en-US" sz="2800" dirty="0" err="1">
                    <a:latin typeface="Times New Roman" panose="02020603050405020304" pitchFamily="18" charset="0"/>
                    <a:cs typeface="Times New Roman" panose="02020603050405020304" pitchFamily="18" charset="0"/>
                  </a:rPr>
                  <a:t>Formule</a:t>
                </a:r>
                <a:r>
                  <a:rPr lang="en-US" sz="2800" dirty="0">
                    <a:latin typeface="Times New Roman" panose="02020603050405020304" pitchFamily="18" charset="0"/>
                    <a:cs typeface="Times New Roman" panose="02020603050405020304" pitchFamily="18" charset="0"/>
                  </a:rPr>
                  <a:t> :</a:t>
                </a:r>
              </a:p>
              <a:p>
                <a:pPr algn="l">
                  <a:buNone/>
                </a:pPr>
                <a14:m>
                  <m:oMathPara xmlns:m="http://schemas.openxmlformats.org/officeDocument/2006/math">
                    <m:oMathParaPr>
                      <m:jc m:val="centerGroup"/>
                    </m:oMathParaPr>
                    <m:oMath xmlns:m="http://schemas.openxmlformats.org/officeDocument/2006/math">
                      <m:f>
                        <m:fPr>
                          <m:ctrlPr>
                            <a:rPr lang="ar-DZ" sz="2800" i="1" smtClean="0">
                              <a:solidFill>
                                <a:srgbClr val="FFFF00"/>
                              </a:solidFill>
                              <a:latin typeface="Cambria Math" panose="02040503050406030204" pitchFamily="18" charset="0"/>
                            </a:rPr>
                          </m:ctrlPr>
                        </m:fPr>
                        <m:num>
                          <m:r>
                            <a:rPr lang="ar-DZ" sz="2800">
                              <a:solidFill>
                                <a:srgbClr val="FFFF00"/>
                              </a:solidFill>
                              <a:latin typeface="Cambria Math" panose="02040503050406030204" pitchFamily="18" charset="0"/>
                            </a:rPr>
                            <m:t>1</m:t>
                          </m:r>
                        </m:num>
                        <m:den>
                          <m:sSub>
                            <m:sSubPr>
                              <m:ctrlPr>
                                <a:rPr lang="ar-DZ" sz="2800" i="1">
                                  <a:solidFill>
                                    <a:srgbClr val="FFFF00"/>
                                  </a:solidFill>
                                  <a:latin typeface="Cambria Math" panose="02040503050406030204" pitchFamily="18" charset="0"/>
                                </a:rPr>
                              </m:ctrlPr>
                            </m:sSubPr>
                            <m:e>
                              <m:r>
                                <a:rPr lang="ar-DZ" sz="2800" i="1">
                                  <a:solidFill>
                                    <a:srgbClr val="FFFF00"/>
                                  </a:solidFill>
                                  <a:latin typeface="Cambria Math" panose="02040503050406030204" pitchFamily="18" charset="0"/>
                                </a:rPr>
                                <m:t>𝐶</m:t>
                              </m:r>
                            </m:e>
                            <m:sub>
                              <m:r>
                                <m:rPr>
                                  <m:nor/>
                                </m:rPr>
                                <a:rPr lang="en-US" sz="2800" b="0" i="1">
                                  <a:solidFill>
                                    <a:srgbClr val="FFFF00"/>
                                  </a:solidFill>
                                  <a:latin typeface="Times New Roman" panose="02020603050405020304" pitchFamily="18" charset="0"/>
                                  <a:cs typeface="Times New Roman" panose="02020603050405020304" pitchFamily="18" charset="0"/>
                                </a:rPr>
                                <m:t>eq</m:t>
                              </m:r>
                            </m:sub>
                          </m:sSub>
                        </m:den>
                      </m:f>
                      <m:r>
                        <a:rPr lang="ar-DZ" sz="2800" b="0" i="0">
                          <a:solidFill>
                            <a:srgbClr val="FFFF00"/>
                          </a:solidFill>
                          <a:latin typeface="Cambria Math" panose="02040503050406030204" pitchFamily="18" charset="0"/>
                        </a:rPr>
                        <m:t>=</m:t>
                      </m:r>
                      <m:f>
                        <m:fPr>
                          <m:ctrlPr>
                            <a:rPr lang="ar-DZ" sz="2800" b="0" i="1">
                              <a:solidFill>
                                <a:srgbClr val="FFFF00"/>
                              </a:solidFill>
                              <a:latin typeface="Cambria Math" panose="02040503050406030204" pitchFamily="18" charset="0"/>
                            </a:rPr>
                          </m:ctrlPr>
                        </m:fPr>
                        <m:num>
                          <m:r>
                            <a:rPr lang="ar-DZ" sz="2800" b="0" i="0">
                              <a:solidFill>
                                <a:srgbClr val="FFFF00"/>
                              </a:solidFill>
                              <a:latin typeface="Cambria Math" panose="02040503050406030204" pitchFamily="18" charset="0"/>
                            </a:rPr>
                            <m:t>1</m:t>
                          </m:r>
                        </m:num>
                        <m:den>
                          <m:sSub>
                            <m:sSubPr>
                              <m:ctrlPr>
                                <a:rPr lang="ar-DZ" sz="2800" b="0" i="1">
                                  <a:solidFill>
                                    <a:srgbClr val="FFFF00"/>
                                  </a:solidFill>
                                  <a:latin typeface="Cambria Math" panose="02040503050406030204" pitchFamily="18" charset="0"/>
                                </a:rPr>
                              </m:ctrlPr>
                            </m:sSubPr>
                            <m:e>
                              <m:r>
                                <a:rPr lang="ar-DZ" sz="2800" b="0" i="1">
                                  <a:solidFill>
                                    <a:srgbClr val="FFFF00"/>
                                  </a:solidFill>
                                  <a:latin typeface="Cambria Math" panose="02040503050406030204" pitchFamily="18" charset="0"/>
                                </a:rPr>
                                <m:t>𝐶</m:t>
                              </m:r>
                            </m:e>
                            <m:sub>
                              <m:r>
                                <a:rPr lang="ar-DZ" sz="2800" b="0" i="0">
                                  <a:solidFill>
                                    <a:srgbClr val="FFFF00"/>
                                  </a:solidFill>
                                  <a:latin typeface="Cambria Math" panose="02040503050406030204" pitchFamily="18" charset="0"/>
                                </a:rPr>
                                <m:t>1</m:t>
                              </m:r>
                            </m:sub>
                          </m:sSub>
                        </m:den>
                      </m:f>
                      <m:r>
                        <a:rPr lang="ar-DZ" sz="2800" b="0" i="0">
                          <a:solidFill>
                            <a:srgbClr val="FFFF00"/>
                          </a:solidFill>
                          <a:latin typeface="Cambria Math" panose="02040503050406030204" pitchFamily="18" charset="0"/>
                        </a:rPr>
                        <m:t>+</m:t>
                      </m:r>
                      <m:f>
                        <m:fPr>
                          <m:ctrlPr>
                            <a:rPr lang="ar-DZ" sz="2800" b="0" i="1">
                              <a:solidFill>
                                <a:srgbClr val="FFFF00"/>
                              </a:solidFill>
                              <a:latin typeface="Cambria Math" panose="02040503050406030204" pitchFamily="18" charset="0"/>
                            </a:rPr>
                          </m:ctrlPr>
                        </m:fPr>
                        <m:num>
                          <m:r>
                            <a:rPr lang="ar-DZ" sz="2800" b="0" i="0">
                              <a:solidFill>
                                <a:srgbClr val="FFFF00"/>
                              </a:solidFill>
                              <a:latin typeface="Cambria Math" panose="02040503050406030204" pitchFamily="18" charset="0"/>
                            </a:rPr>
                            <m:t>1</m:t>
                          </m:r>
                        </m:num>
                        <m:den>
                          <m:sSub>
                            <m:sSubPr>
                              <m:ctrlPr>
                                <a:rPr lang="ar-DZ" sz="2800" b="0" i="1">
                                  <a:solidFill>
                                    <a:srgbClr val="FFFF00"/>
                                  </a:solidFill>
                                  <a:latin typeface="Cambria Math" panose="02040503050406030204" pitchFamily="18" charset="0"/>
                                </a:rPr>
                              </m:ctrlPr>
                            </m:sSubPr>
                            <m:e>
                              <m:r>
                                <a:rPr lang="ar-DZ" sz="2800" b="0" i="1">
                                  <a:solidFill>
                                    <a:srgbClr val="FFFF00"/>
                                  </a:solidFill>
                                  <a:latin typeface="Cambria Math" panose="02040503050406030204" pitchFamily="18" charset="0"/>
                                </a:rPr>
                                <m:t>𝐶</m:t>
                              </m:r>
                            </m:e>
                            <m:sub>
                              <m:r>
                                <a:rPr lang="ar-DZ" sz="2800" b="0" i="0">
                                  <a:solidFill>
                                    <a:srgbClr val="FFFF00"/>
                                  </a:solidFill>
                                  <a:latin typeface="Cambria Math" panose="02040503050406030204" pitchFamily="18" charset="0"/>
                                </a:rPr>
                                <m:t>2</m:t>
                              </m:r>
                            </m:sub>
                          </m:sSub>
                        </m:den>
                      </m:f>
                      <m:r>
                        <a:rPr lang="ar-DZ" sz="2800" b="0" i="0">
                          <a:solidFill>
                            <a:srgbClr val="FFFF00"/>
                          </a:solidFill>
                          <a:latin typeface="Cambria Math" panose="02040503050406030204" pitchFamily="18" charset="0"/>
                        </a:rPr>
                        <m:t>+</m:t>
                      </m:r>
                      <m:f>
                        <m:fPr>
                          <m:ctrlPr>
                            <a:rPr lang="ar-DZ" sz="2800" b="0" i="1">
                              <a:solidFill>
                                <a:srgbClr val="FFFF00"/>
                              </a:solidFill>
                              <a:latin typeface="Cambria Math" panose="02040503050406030204" pitchFamily="18" charset="0"/>
                            </a:rPr>
                          </m:ctrlPr>
                        </m:fPr>
                        <m:num>
                          <m:r>
                            <a:rPr lang="ar-DZ" sz="2800" b="0" i="0">
                              <a:solidFill>
                                <a:srgbClr val="FFFF00"/>
                              </a:solidFill>
                              <a:latin typeface="Cambria Math" panose="02040503050406030204" pitchFamily="18" charset="0"/>
                            </a:rPr>
                            <m:t>1</m:t>
                          </m:r>
                        </m:num>
                        <m:den>
                          <m:sSub>
                            <m:sSubPr>
                              <m:ctrlPr>
                                <a:rPr lang="ar-DZ" sz="2800" b="0" i="1">
                                  <a:solidFill>
                                    <a:srgbClr val="FFFF00"/>
                                  </a:solidFill>
                                  <a:latin typeface="Cambria Math" panose="02040503050406030204" pitchFamily="18" charset="0"/>
                                </a:rPr>
                              </m:ctrlPr>
                            </m:sSubPr>
                            <m:e>
                              <m:r>
                                <a:rPr lang="ar-DZ" sz="2800" b="0" i="1">
                                  <a:solidFill>
                                    <a:srgbClr val="FFFF00"/>
                                  </a:solidFill>
                                  <a:latin typeface="Cambria Math" panose="02040503050406030204" pitchFamily="18" charset="0"/>
                                </a:rPr>
                                <m:t>𝐶</m:t>
                              </m:r>
                            </m:e>
                            <m:sub>
                              <m:r>
                                <a:rPr lang="ar-DZ" sz="2800" b="0" i="0">
                                  <a:solidFill>
                                    <a:srgbClr val="FFFF00"/>
                                  </a:solidFill>
                                  <a:latin typeface="Cambria Math" panose="02040503050406030204" pitchFamily="18" charset="0"/>
                                </a:rPr>
                                <m:t>3</m:t>
                              </m:r>
                            </m:sub>
                          </m:sSub>
                        </m:den>
                      </m:f>
                      <m:r>
                        <a:rPr lang="ar-DZ" sz="2800" b="0" i="0">
                          <a:latin typeface="Cambria Math" panose="02040503050406030204" pitchFamily="18" charset="0"/>
                        </a:rPr>
                        <m:t>.</m:t>
                      </m:r>
                    </m:oMath>
                  </m:oMathPara>
                </a14:m>
                <a:endParaRPr lang="ar-DZ" sz="2800" b="0" dirty="0">
                  <a:latin typeface="Times New Roman" panose="02020603050405020304" pitchFamily="18" charset="0"/>
                  <a:cs typeface="Times New Roman" panose="02020603050405020304" pitchFamily="18" charset="0"/>
                </a:endParaRPr>
              </a:p>
              <a:p>
                <a:pPr algn="l">
                  <a:buNone/>
                </a:pPr>
                <a:r>
                  <a:rPr lang="en-US" sz="2800" dirty="0" err="1">
                    <a:latin typeface="Times New Roman" panose="02020603050405020304" pitchFamily="18" charset="0"/>
                    <a:cs typeface="Times New Roman" panose="02020603050405020304" pitchFamily="18" charset="0"/>
                  </a:rPr>
                  <a:t>Calcul</a:t>
                </a:r>
                <a:r>
                  <a:rPr lang="en-US" sz="2800" dirty="0">
                    <a:latin typeface="Times New Roman" panose="02020603050405020304" pitchFamily="18" charset="0"/>
                    <a:cs typeface="Times New Roman" panose="02020603050405020304" pitchFamily="18" charset="0"/>
                  </a:rPr>
                  <a:t> :</a:t>
                </a:r>
              </a:p>
              <a:p>
                <a:pPr algn="l">
                  <a:buNone/>
                </a:pPr>
                <a14:m>
                  <m:oMathPara xmlns:m="http://schemas.openxmlformats.org/officeDocument/2006/math">
                    <m:oMathParaPr>
                      <m:jc m:val="centerGroup"/>
                    </m:oMathParaPr>
                    <m:oMath xmlns:m="http://schemas.openxmlformats.org/officeDocument/2006/math">
                      <m:f>
                        <m:fPr>
                          <m:ctrlPr>
                            <a:rPr lang="ar-DZ" sz="2800" i="1">
                              <a:latin typeface="Cambria Math" panose="02040503050406030204" pitchFamily="18" charset="0"/>
                            </a:rPr>
                          </m:ctrlPr>
                        </m:fPr>
                        <m:num>
                          <m:r>
                            <a:rPr lang="ar-DZ" sz="2800">
                              <a:latin typeface="Cambria Math" panose="02040503050406030204" pitchFamily="18" charset="0"/>
                            </a:rPr>
                            <m:t>1</m:t>
                          </m:r>
                        </m:num>
                        <m:den>
                          <m:sSub>
                            <m:sSubPr>
                              <m:ctrlPr>
                                <a:rPr lang="ar-DZ" sz="2800" i="1">
                                  <a:latin typeface="Cambria Math" panose="02040503050406030204" pitchFamily="18" charset="0"/>
                                </a:rPr>
                              </m:ctrlPr>
                            </m:sSubPr>
                            <m:e>
                              <m:r>
                                <a:rPr lang="ar-DZ" sz="2800" i="1">
                                  <a:latin typeface="Cambria Math" panose="02040503050406030204" pitchFamily="18" charset="0"/>
                                </a:rPr>
                                <m:t>𝐶</m:t>
                              </m:r>
                            </m:e>
                            <m:sub>
                              <m:r>
                                <m:rPr>
                                  <m:nor/>
                                </m:rPr>
                                <a:rPr lang="en-US" sz="2800" b="0" i="1">
                                  <a:latin typeface="Times New Roman" panose="02020603050405020304" pitchFamily="18" charset="0"/>
                                  <a:cs typeface="Times New Roman" panose="02020603050405020304" pitchFamily="18" charset="0"/>
                                </a:rPr>
                                <m:t>eq</m:t>
                              </m:r>
                            </m:sub>
                          </m:sSub>
                        </m:den>
                      </m:f>
                      <m:r>
                        <a:rPr lang="ar-DZ" sz="2800" b="0" i="0">
                          <a:latin typeface="Cambria Math" panose="02040503050406030204" pitchFamily="18" charset="0"/>
                        </a:rPr>
                        <m:t>=</m:t>
                      </m:r>
                      <m:f>
                        <m:fPr>
                          <m:ctrlPr>
                            <a:rPr lang="ar-DZ" sz="2800" b="0" i="1">
                              <a:latin typeface="Cambria Math" panose="02040503050406030204" pitchFamily="18" charset="0"/>
                            </a:rPr>
                          </m:ctrlPr>
                        </m:fPr>
                        <m:num>
                          <m:r>
                            <a:rPr lang="ar-DZ" sz="2800" b="0" i="0">
                              <a:latin typeface="Cambria Math" panose="02040503050406030204" pitchFamily="18" charset="0"/>
                            </a:rPr>
                            <m:t>1</m:t>
                          </m:r>
                        </m:num>
                        <m:den>
                          <m:r>
                            <a:rPr lang="ar-DZ" sz="2800" b="0" i="0">
                              <a:latin typeface="Cambria Math" panose="02040503050406030204" pitchFamily="18" charset="0"/>
                            </a:rPr>
                            <m:t>4</m:t>
                          </m:r>
                        </m:den>
                      </m:f>
                      <m:r>
                        <a:rPr lang="ar-DZ" sz="2800" b="0" i="0">
                          <a:latin typeface="Cambria Math" panose="02040503050406030204" pitchFamily="18" charset="0"/>
                        </a:rPr>
                        <m:t>+</m:t>
                      </m:r>
                      <m:f>
                        <m:fPr>
                          <m:ctrlPr>
                            <a:rPr lang="ar-DZ" sz="2800" b="0" i="1">
                              <a:latin typeface="Cambria Math" panose="02040503050406030204" pitchFamily="18" charset="0"/>
                            </a:rPr>
                          </m:ctrlPr>
                        </m:fPr>
                        <m:num>
                          <m:r>
                            <a:rPr lang="ar-DZ" sz="2800" b="0" i="0">
                              <a:latin typeface="Cambria Math" panose="02040503050406030204" pitchFamily="18" charset="0"/>
                            </a:rPr>
                            <m:t>1</m:t>
                          </m:r>
                        </m:num>
                        <m:den>
                          <m:r>
                            <a:rPr lang="ar-DZ" sz="2800" b="0" i="0">
                              <a:latin typeface="Cambria Math" panose="02040503050406030204" pitchFamily="18" charset="0"/>
                            </a:rPr>
                            <m:t>6</m:t>
                          </m:r>
                        </m:den>
                      </m:f>
                      <m:r>
                        <a:rPr lang="ar-DZ" sz="2800" b="0" i="0">
                          <a:latin typeface="Cambria Math" panose="02040503050406030204" pitchFamily="18" charset="0"/>
                        </a:rPr>
                        <m:t>+</m:t>
                      </m:r>
                      <m:f>
                        <m:fPr>
                          <m:ctrlPr>
                            <a:rPr lang="ar-DZ" sz="2800" b="0" i="1">
                              <a:latin typeface="Cambria Math" panose="02040503050406030204" pitchFamily="18" charset="0"/>
                            </a:rPr>
                          </m:ctrlPr>
                        </m:fPr>
                        <m:num>
                          <m:r>
                            <a:rPr lang="ar-DZ" sz="2800" b="0" i="0">
                              <a:latin typeface="Cambria Math" panose="02040503050406030204" pitchFamily="18" charset="0"/>
                            </a:rPr>
                            <m:t>1</m:t>
                          </m:r>
                        </m:num>
                        <m:den>
                          <m:r>
                            <a:rPr lang="ar-DZ" sz="2800" b="0" i="0">
                              <a:latin typeface="Cambria Math" panose="02040503050406030204" pitchFamily="18" charset="0"/>
                            </a:rPr>
                            <m:t>12</m:t>
                          </m:r>
                        </m:den>
                      </m:f>
                      <m:r>
                        <a:rPr lang="ar-DZ" sz="2800" b="0" i="0">
                          <a:latin typeface="Cambria Math" panose="02040503050406030204" pitchFamily="18" charset="0"/>
                        </a:rPr>
                        <m:t>=</m:t>
                      </m:r>
                      <m:f>
                        <m:fPr>
                          <m:ctrlPr>
                            <a:rPr lang="ar-DZ" sz="2800" b="0" i="1">
                              <a:latin typeface="Cambria Math" panose="02040503050406030204" pitchFamily="18" charset="0"/>
                            </a:rPr>
                          </m:ctrlPr>
                        </m:fPr>
                        <m:num>
                          <m:r>
                            <a:rPr lang="ar-DZ" sz="2800" b="0" i="0">
                              <a:latin typeface="Cambria Math" panose="02040503050406030204" pitchFamily="18" charset="0"/>
                            </a:rPr>
                            <m:t>3</m:t>
                          </m:r>
                        </m:num>
                        <m:den>
                          <m:r>
                            <a:rPr lang="ar-DZ" sz="2800" b="0" i="0">
                              <a:latin typeface="Cambria Math" panose="02040503050406030204" pitchFamily="18" charset="0"/>
                            </a:rPr>
                            <m:t>12</m:t>
                          </m:r>
                        </m:den>
                      </m:f>
                      <m:r>
                        <a:rPr lang="ar-DZ" sz="2800" b="0" i="0">
                          <a:latin typeface="Cambria Math" panose="02040503050406030204" pitchFamily="18" charset="0"/>
                        </a:rPr>
                        <m:t>+</m:t>
                      </m:r>
                      <m:f>
                        <m:fPr>
                          <m:ctrlPr>
                            <a:rPr lang="ar-DZ" sz="2800" b="0" i="1">
                              <a:latin typeface="Cambria Math" panose="02040503050406030204" pitchFamily="18" charset="0"/>
                            </a:rPr>
                          </m:ctrlPr>
                        </m:fPr>
                        <m:num>
                          <m:r>
                            <a:rPr lang="ar-DZ" sz="2800" b="0" i="0">
                              <a:latin typeface="Cambria Math" panose="02040503050406030204" pitchFamily="18" charset="0"/>
                            </a:rPr>
                            <m:t>2</m:t>
                          </m:r>
                        </m:num>
                        <m:den>
                          <m:r>
                            <a:rPr lang="ar-DZ" sz="2800" b="0" i="0">
                              <a:latin typeface="Cambria Math" panose="02040503050406030204" pitchFamily="18" charset="0"/>
                            </a:rPr>
                            <m:t>12</m:t>
                          </m:r>
                        </m:den>
                      </m:f>
                      <m:r>
                        <a:rPr lang="ar-DZ" sz="2800" b="0" i="0">
                          <a:latin typeface="Cambria Math" panose="02040503050406030204" pitchFamily="18" charset="0"/>
                        </a:rPr>
                        <m:t>+</m:t>
                      </m:r>
                      <m:f>
                        <m:fPr>
                          <m:ctrlPr>
                            <a:rPr lang="ar-DZ" sz="2800" b="0" i="1">
                              <a:latin typeface="Cambria Math" panose="02040503050406030204" pitchFamily="18" charset="0"/>
                            </a:rPr>
                          </m:ctrlPr>
                        </m:fPr>
                        <m:num>
                          <m:r>
                            <a:rPr lang="ar-DZ" sz="2800" b="0" i="0">
                              <a:latin typeface="Cambria Math" panose="02040503050406030204" pitchFamily="18" charset="0"/>
                            </a:rPr>
                            <m:t>1</m:t>
                          </m:r>
                        </m:num>
                        <m:den>
                          <m:r>
                            <a:rPr lang="ar-DZ" sz="2800" b="0" i="0">
                              <a:latin typeface="Cambria Math" panose="02040503050406030204" pitchFamily="18" charset="0"/>
                            </a:rPr>
                            <m:t>12</m:t>
                          </m:r>
                        </m:den>
                      </m:f>
                      <m:r>
                        <a:rPr lang="ar-DZ" sz="2800" b="0" i="0">
                          <a:latin typeface="Cambria Math" panose="02040503050406030204" pitchFamily="18" charset="0"/>
                        </a:rPr>
                        <m:t>=</m:t>
                      </m:r>
                      <m:f>
                        <m:fPr>
                          <m:ctrlPr>
                            <a:rPr lang="ar-DZ" sz="2800" b="0" i="1">
                              <a:latin typeface="Cambria Math" panose="02040503050406030204" pitchFamily="18" charset="0"/>
                            </a:rPr>
                          </m:ctrlPr>
                        </m:fPr>
                        <m:num>
                          <m:r>
                            <a:rPr lang="ar-DZ" sz="2800" b="0" i="0">
                              <a:latin typeface="Cambria Math" panose="02040503050406030204" pitchFamily="18" charset="0"/>
                            </a:rPr>
                            <m:t>6</m:t>
                          </m:r>
                        </m:num>
                        <m:den>
                          <m:r>
                            <a:rPr lang="ar-DZ" sz="2800" b="0" i="0">
                              <a:latin typeface="Cambria Math" panose="02040503050406030204" pitchFamily="18" charset="0"/>
                            </a:rPr>
                            <m:t>12</m:t>
                          </m:r>
                        </m:den>
                      </m:f>
                      <m:r>
                        <a:rPr lang="ar-DZ" sz="2800" b="0" i="0">
                          <a:latin typeface="Cambria Math" panose="02040503050406030204" pitchFamily="18" charset="0"/>
                        </a:rPr>
                        <m:t>=</m:t>
                      </m:r>
                      <m:f>
                        <m:fPr>
                          <m:ctrlPr>
                            <a:rPr lang="ar-DZ" sz="2800" b="0" i="1">
                              <a:latin typeface="Cambria Math" panose="02040503050406030204" pitchFamily="18" charset="0"/>
                            </a:rPr>
                          </m:ctrlPr>
                        </m:fPr>
                        <m:num>
                          <m:r>
                            <a:rPr lang="ar-DZ" sz="2800" b="0" i="0">
                              <a:latin typeface="Cambria Math" panose="02040503050406030204" pitchFamily="18" charset="0"/>
                            </a:rPr>
                            <m:t>1</m:t>
                          </m:r>
                        </m:num>
                        <m:den>
                          <m:r>
                            <a:rPr lang="ar-DZ" sz="2800" b="0" i="0">
                              <a:latin typeface="Cambria Math" panose="02040503050406030204" pitchFamily="18" charset="0"/>
                            </a:rPr>
                            <m:t>2</m:t>
                          </m:r>
                        </m:den>
                      </m:f>
                      <m:r>
                        <a:rPr lang="ar-DZ" sz="2800" b="0" i="0">
                          <a:latin typeface="Cambria Math" panose="02040503050406030204" pitchFamily="18" charset="0"/>
                        </a:rPr>
                        <m:t>.</m:t>
                      </m:r>
                    </m:oMath>
                  </m:oMathPara>
                </a14:m>
                <a:endParaRPr lang="ar-DZ" sz="2800" b="0" dirty="0">
                  <a:latin typeface="Times New Roman" panose="02020603050405020304" pitchFamily="18" charset="0"/>
                  <a:cs typeface="Times New Roman" panose="02020603050405020304" pitchFamily="18" charset="0"/>
                </a:endParaRPr>
              </a:p>
              <a:p>
                <a:pPr algn="l">
                  <a:buNone/>
                </a:pPr>
                <a:r>
                  <a:rPr lang="en-US" sz="2800" dirty="0" err="1">
                    <a:latin typeface="Times New Roman" panose="02020603050405020304" pitchFamily="18" charset="0"/>
                    <a:cs typeface="Times New Roman" panose="02020603050405020304" pitchFamily="18" charset="0"/>
                  </a:rPr>
                  <a:t>Donc</a:t>
                </a:r>
                <a:endParaRPr lang="en-US" sz="2800" dirty="0">
                  <a:latin typeface="Times New Roman" panose="02020603050405020304" pitchFamily="18" charset="0"/>
                  <a:cs typeface="Times New Roman" panose="02020603050405020304" pitchFamily="18" charset="0"/>
                </a:endParaRPr>
              </a:p>
              <a:p>
                <a:pPr algn="l">
                  <a:buNone/>
                </a:pPr>
                <a14:m>
                  <m:oMathPara xmlns:m="http://schemas.openxmlformats.org/officeDocument/2006/math">
                    <m:oMathParaPr>
                      <m:jc m:val="centerGroup"/>
                    </m:oMathParaPr>
                    <m:oMath xmlns:m="http://schemas.openxmlformats.org/officeDocument/2006/math">
                      <m:sSub>
                        <m:sSubPr>
                          <m:ctrlPr>
                            <a:rPr lang="ar-DZ" sz="3200" b="1" i="1" smtClean="0">
                              <a:solidFill>
                                <a:srgbClr val="FFFF00"/>
                              </a:solidFill>
                              <a:latin typeface="Cambria Math" panose="02040503050406030204" pitchFamily="18" charset="0"/>
                            </a:rPr>
                          </m:ctrlPr>
                        </m:sSubPr>
                        <m:e>
                          <m:r>
                            <a:rPr lang="ar-DZ" sz="3200" b="1" i="1">
                              <a:solidFill>
                                <a:srgbClr val="FFFF00"/>
                              </a:solidFill>
                              <a:latin typeface="Cambria Math" panose="02040503050406030204" pitchFamily="18" charset="0"/>
                            </a:rPr>
                            <m:t>𝑪</m:t>
                          </m:r>
                        </m:e>
                        <m:sub>
                          <m:r>
                            <m:rPr>
                              <m:nor/>
                            </m:rPr>
                            <a:rPr lang="en-US" sz="3200" b="1" i="1">
                              <a:solidFill>
                                <a:srgbClr val="FFFF00"/>
                              </a:solidFill>
                              <a:latin typeface="Times New Roman" panose="02020603050405020304" pitchFamily="18" charset="0"/>
                              <a:cs typeface="Times New Roman" panose="02020603050405020304" pitchFamily="18" charset="0"/>
                            </a:rPr>
                            <m:t>eq</m:t>
                          </m:r>
                          <m:r>
                            <m:rPr>
                              <m:nor/>
                            </m:rPr>
                            <a:rPr lang="en-US" sz="3200" b="1" i="1">
                              <a:solidFill>
                                <a:srgbClr val="FFFF00"/>
                              </a:solidFill>
                              <a:latin typeface="Times New Roman" panose="02020603050405020304" pitchFamily="18" charset="0"/>
                              <a:cs typeface="Times New Roman" panose="02020603050405020304" pitchFamily="18" charset="0"/>
                            </a:rPr>
                            <m:t>,</m:t>
                          </m:r>
                          <m:r>
                            <a:rPr lang="en-US" sz="3200" b="1" i="1" smtClean="0">
                              <a:solidFill>
                                <a:srgbClr val="FFFF00"/>
                              </a:solidFill>
                              <a:latin typeface="Cambria Math" panose="02040503050406030204" pitchFamily="18" charset="0"/>
                              <a:cs typeface="Times New Roman" panose="02020603050405020304" pitchFamily="18" charset="0"/>
                            </a:rPr>
                            <m:t> </m:t>
                          </m:r>
                        </m:sub>
                      </m:sSub>
                      <m:r>
                        <a:rPr lang="ar-DZ" sz="3200" b="1" i="0">
                          <a:solidFill>
                            <a:srgbClr val="FFFF00"/>
                          </a:solidFill>
                          <a:latin typeface="Cambria Math" panose="02040503050406030204" pitchFamily="18" charset="0"/>
                        </a:rPr>
                        <m:t>=</m:t>
                      </m:r>
                      <m:r>
                        <a:rPr lang="ar-DZ" sz="3200" b="1" i="0">
                          <a:solidFill>
                            <a:srgbClr val="FFFF00"/>
                          </a:solidFill>
                          <a:latin typeface="Cambria Math" panose="02040503050406030204" pitchFamily="18" charset="0"/>
                        </a:rPr>
                        <m:t>𝟐</m:t>
                      </m:r>
                      <m:r>
                        <m:rPr>
                          <m:nor/>
                        </m:rPr>
                        <a:rPr lang="ar-DZ" sz="3200" b="1" i="1">
                          <a:solidFill>
                            <a:srgbClr val="FFFF00"/>
                          </a:solidFill>
                          <a:latin typeface="Times New Roman" panose="02020603050405020304" pitchFamily="18" charset="0"/>
                          <a:cs typeface="Times New Roman" panose="02020603050405020304" pitchFamily="18" charset="0"/>
                        </a:rPr>
                        <m:t> </m:t>
                      </m:r>
                      <m:r>
                        <a:rPr lang="ar-DZ" sz="3200" b="1" i="1">
                          <a:solidFill>
                            <a:srgbClr val="FFFF00"/>
                          </a:solidFill>
                          <a:latin typeface="Cambria Math" panose="02040503050406030204" pitchFamily="18" charset="0"/>
                        </a:rPr>
                        <m:t>𝝁</m:t>
                      </m:r>
                      <m:r>
                        <m:rPr>
                          <m:nor/>
                        </m:rPr>
                        <a:rPr lang="en-US" sz="3200" b="1" i="1">
                          <a:solidFill>
                            <a:srgbClr val="FFFF00"/>
                          </a:solidFill>
                          <a:latin typeface="Times New Roman" panose="02020603050405020304" pitchFamily="18" charset="0"/>
                          <a:cs typeface="Times New Roman" panose="02020603050405020304" pitchFamily="18" charset="0"/>
                        </a:rPr>
                        <m:t>F</m:t>
                      </m:r>
                      <m:r>
                        <a:rPr lang="en-US" sz="3200" b="1" i="0">
                          <a:solidFill>
                            <a:srgbClr val="FFFF00"/>
                          </a:solidFill>
                          <a:latin typeface="Cambria Math" panose="02040503050406030204" pitchFamily="18" charset="0"/>
                        </a:rPr>
                        <m:t>.</m:t>
                      </m:r>
                    </m:oMath>
                  </m:oMathPara>
                </a14:m>
                <a:endParaRPr lang="en-US" sz="3200" b="1" dirty="0">
                  <a:solidFill>
                    <a:srgbClr val="FFFF00"/>
                  </a:solidFill>
                  <a:latin typeface="Times New Roman" panose="02020603050405020304" pitchFamily="18" charset="0"/>
                  <a:cs typeface="Times New Roman" panose="02020603050405020304" pitchFamily="18" charset="0"/>
                </a:endParaRPr>
              </a:p>
              <a:p>
                <a:endParaRPr lang="fr-FR" dirty="0"/>
              </a:p>
            </p:txBody>
          </p:sp>
        </mc:Choice>
        <mc:Fallback xmlns="">
          <p:sp>
            <p:nvSpPr>
              <p:cNvPr id="3" name="Espace réservé du texte 2">
                <a:extLst>
                  <a:ext uri="{FF2B5EF4-FFF2-40B4-BE49-F238E27FC236}">
                    <a16:creationId xmlns:a16="http://schemas.microsoft.com/office/drawing/2014/main" id="{F5C9FEF3-2917-8247-FF06-08D62807C175}"/>
                  </a:ext>
                </a:extLst>
              </p:cNvPr>
              <p:cNvSpPr>
                <a:spLocks noGrp="1" noRot="1" noChangeAspect="1" noMove="1" noResize="1" noEditPoints="1" noAdjustHandles="1" noChangeArrowheads="1" noChangeShapeType="1" noTextEdit="1"/>
              </p:cNvSpPr>
              <p:nvPr>
                <p:ph type="body" idx="1"/>
              </p:nvPr>
            </p:nvSpPr>
            <p:spPr>
              <a:xfrm>
                <a:off x="0" y="0"/>
                <a:ext cx="12191999" cy="6858000"/>
              </a:xfrm>
              <a:blipFill>
                <a:blip r:embed="rId2"/>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32197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1000"/>
                                        <p:tgtEl>
                                          <p:spTgt spid="3">
                                            <p:txEl>
                                              <p:pRg st="6" end="6"/>
                                            </p:txEl>
                                          </p:spTgt>
                                        </p:tgtEl>
                                      </p:cBhvr>
                                    </p:animEffect>
                                    <p:anim calcmode="lin" valueType="num">
                                      <p:cBhvr>
                                        <p:cTn id="3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1000"/>
                                        <p:tgtEl>
                                          <p:spTgt spid="3">
                                            <p:txEl>
                                              <p:pRg st="7" end="7"/>
                                            </p:txEl>
                                          </p:spTgt>
                                        </p:tgtEl>
                                      </p:cBhvr>
                                    </p:animEffect>
                                    <p:anim calcmode="lin" valueType="num">
                                      <p:cBhvr>
                                        <p:cTn id="4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Effect transition="in" filter="fade">
                                      <p:cBhvr>
                                        <p:cTn id="48" dur="1000"/>
                                        <p:tgtEl>
                                          <p:spTgt spid="3">
                                            <p:txEl>
                                              <p:pRg st="8" end="8"/>
                                            </p:txEl>
                                          </p:spTgt>
                                        </p:tgtEl>
                                      </p:cBhvr>
                                    </p:animEffect>
                                    <p:anim calcmode="lin" valueType="num">
                                      <p:cBhvr>
                                        <p:cTn id="4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Effect transition="in" filter="fade">
                                      <p:cBhvr>
                                        <p:cTn id="53" dur="1000"/>
                                        <p:tgtEl>
                                          <p:spTgt spid="3">
                                            <p:txEl>
                                              <p:pRg st="9" end="9"/>
                                            </p:txEl>
                                          </p:spTgt>
                                        </p:tgtEl>
                                      </p:cBhvr>
                                    </p:animEffect>
                                    <p:anim calcmode="lin" valueType="num">
                                      <p:cBhvr>
                                        <p:cTn id="5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E30BAE8F-5CB3-3849-4671-584A088E8551}"/>
                  </a:ext>
                </a:extLst>
              </p:cNvPr>
              <p:cNvSpPr>
                <a:spLocks noGrp="1"/>
              </p:cNvSpPr>
              <p:nvPr>
                <p:ph type="body" idx="1"/>
              </p:nvPr>
            </p:nvSpPr>
            <p:spPr>
              <a:xfrm>
                <a:off x="0" y="-130630"/>
                <a:ext cx="12191999" cy="6988629"/>
              </a:xfrm>
              <a:solidFill>
                <a:srgbClr val="002060"/>
              </a:solidFill>
              <a:scene3d>
                <a:camera prst="orthographicFront"/>
                <a:lightRig rig="threePt" dir="t"/>
              </a:scene3d>
              <a:sp3d>
                <a:bevelT w="114300" prst="artDeco"/>
              </a:sp3d>
            </p:spPr>
            <p:txBody>
              <a:bodyPr/>
              <a:lstStyle/>
              <a:p>
                <a:pPr algn="l">
                  <a:buNone/>
                </a:pPr>
                <a:endParaRPr lang="en-US" sz="2800" b="1" dirty="0">
                  <a:latin typeface="Times New Roman" panose="02020603050405020304" pitchFamily="18" charset="0"/>
                  <a:cs typeface="Times New Roman" panose="02020603050405020304" pitchFamily="18" charset="0"/>
                </a:endParaRPr>
              </a:p>
              <a:p>
                <a:pPr algn="l">
                  <a:buNone/>
                </a:pPr>
                <a:endParaRPr lang="en-US" sz="2800" b="1" dirty="0">
                  <a:latin typeface="Times New Roman" panose="02020603050405020304" pitchFamily="18" charset="0"/>
                  <a:cs typeface="Times New Roman" panose="02020603050405020304" pitchFamily="18" charset="0"/>
                </a:endParaRPr>
              </a:p>
              <a:p>
                <a:pPr algn="l">
                  <a:buNone/>
                </a:pPr>
                <a:r>
                  <a:rPr lang="en-US" sz="2800" dirty="0">
                    <a:latin typeface="Times New Roman" panose="02020603050405020304" pitchFamily="18" charset="0"/>
                    <a:cs typeface="Times New Roman" panose="02020603050405020304" pitchFamily="18" charset="0"/>
                  </a:rPr>
                  <a:t>2) Trois </a:t>
                </a:r>
                <a:r>
                  <a:rPr lang="en-US" sz="2800" dirty="0" err="1">
                    <a:latin typeface="Times New Roman" panose="02020603050405020304" pitchFamily="18" charset="0"/>
                    <a:cs typeface="Times New Roman" panose="02020603050405020304" pitchFamily="18" charset="0"/>
                  </a:rPr>
                  <a:t>condensateurs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parallèle</a:t>
                </a:r>
                <a:endParaRPr lang="en-US" sz="2800" dirty="0">
                  <a:latin typeface="Times New Roman" panose="02020603050405020304" pitchFamily="18" charset="0"/>
                  <a:cs typeface="Times New Roman" panose="02020603050405020304" pitchFamily="18" charset="0"/>
                </a:endParaRPr>
              </a:p>
              <a:p>
                <a:pPr algn="l">
                  <a:buNone/>
                </a:pPr>
                <a:r>
                  <a:rPr lang="en-US" sz="2800" dirty="0" err="1">
                    <a:latin typeface="Times New Roman" panose="02020603050405020304" pitchFamily="18" charset="0"/>
                    <a:cs typeface="Times New Roman" panose="02020603050405020304" pitchFamily="18" charset="0"/>
                  </a:rPr>
                  <a:t>Formule</a:t>
                </a:r>
                <a:r>
                  <a:rPr lang="en-US" sz="2800" dirty="0">
                    <a:latin typeface="Times New Roman" panose="02020603050405020304" pitchFamily="18" charset="0"/>
                    <a:cs typeface="Times New Roman" panose="02020603050405020304" pitchFamily="18" charset="0"/>
                  </a:rPr>
                  <a:t> :</a:t>
                </a:r>
              </a:p>
              <a:p>
                <a:pPr algn="l">
                  <a:buNone/>
                </a:pPr>
                <a14:m>
                  <m:oMathPara xmlns:m="http://schemas.openxmlformats.org/officeDocument/2006/math">
                    <m:oMathParaPr>
                      <m:jc m:val="centerGroup"/>
                    </m:oMathParaPr>
                    <m:oMath xmlns:m="http://schemas.openxmlformats.org/officeDocument/2006/math">
                      <m:sSub>
                        <m:sSubPr>
                          <m:ctrlPr>
                            <a:rPr lang="ar-DZ" sz="2800" i="1" smtClean="0">
                              <a:solidFill>
                                <a:srgbClr val="FFFF00"/>
                              </a:solidFill>
                              <a:latin typeface="Cambria Math" panose="02040503050406030204" pitchFamily="18" charset="0"/>
                            </a:rPr>
                          </m:ctrlPr>
                        </m:sSubPr>
                        <m:e>
                          <m:r>
                            <a:rPr lang="ar-DZ" sz="2800" b="0" i="1" smtClean="0">
                              <a:solidFill>
                                <a:srgbClr val="FFFF00"/>
                              </a:solidFill>
                              <a:latin typeface="Cambria Math" panose="02040503050406030204" pitchFamily="18" charset="0"/>
                            </a:rPr>
                            <m:t>𝐶</m:t>
                          </m:r>
                        </m:e>
                        <m:sub>
                          <m:r>
                            <m:rPr>
                              <m:nor/>
                            </m:rPr>
                            <a:rPr lang="en-US" sz="2800" i="1">
                              <a:solidFill>
                                <a:srgbClr val="FFFF00"/>
                              </a:solidFill>
                              <a:latin typeface="Times New Roman" panose="02020603050405020304" pitchFamily="18" charset="0"/>
                              <a:cs typeface="Times New Roman" panose="02020603050405020304" pitchFamily="18" charset="0"/>
                            </a:rPr>
                            <m:t>eq</m:t>
                          </m:r>
                        </m:sub>
                      </m:sSub>
                      <m:r>
                        <a:rPr lang="ar-DZ" sz="2800" b="0" i="0" smtClean="0">
                          <a:solidFill>
                            <a:srgbClr val="FFFF00"/>
                          </a:solidFill>
                          <a:latin typeface="Cambria Math" panose="02040503050406030204" pitchFamily="18" charset="0"/>
                        </a:rPr>
                        <m:t>=</m:t>
                      </m:r>
                      <m:sSub>
                        <m:sSubPr>
                          <m:ctrlPr>
                            <a:rPr lang="ar-DZ" sz="2800" i="1">
                              <a:solidFill>
                                <a:srgbClr val="FFFF00"/>
                              </a:solidFill>
                              <a:latin typeface="Cambria Math" panose="02040503050406030204" pitchFamily="18" charset="0"/>
                            </a:rPr>
                          </m:ctrlPr>
                        </m:sSubPr>
                        <m:e>
                          <m:r>
                            <a:rPr lang="ar-DZ" sz="2800" b="0" i="1" smtClean="0">
                              <a:solidFill>
                                <a:srgbClr val="FFFF00"/>
                              </a:solidFill>
                              <a:latin typeface="Cambria Math" panose="02040503050406030204" pitchFamily="18" charset="0"/>
                            </a:rPr>
                            <m:t>𝐶</m:t>
                          </m:r>
                        </m:e>
                        <m:sub>
                          <m:r>
                            <a:rPr lang="ar-DZ" sz="2800" b="0" i="0" smtClean="0">
                              <a:solidFill>
                                <a:srgbClr val="FFFF00"/>
                              </a:solidFill>
                              <a:latin typeface="Cambria Math" panose="02040503050406030204" pitchFamily="18" charset="0"/>
                            </a:rPr>
                            <m:t>1</m:t>
                          </m:r>
                        </m:sub>
                      </m:sSub>
                      <m:r>
                        <a:rPr lang="ar-DZ" sz="2800" b="0" i="0" smtClean="0">
                          <a:solidFill>
                            <a:srgbClr val="FFFF00"/>
                          </a:solidFill>
                          <a:latin typeface="Cambria Math" panose="02040503050406030204" pitchFamily="18" charset="0"/>
                        </a:rPr>
                        <m:t>+</m:t>
                      </m:r>
                      <m:sSub>
                        <m:sSubPr>
                          <m:ctrlPr>
                            <a:rPr lang="ar-DZ" sz="2800" i="1">
                              <a:solidFill>
                                <a:srgbClr val="FFFF00"/>
                              </a:solidFill>
                              <a:latin typeface="Cambria Math" panose="02040503050406030204" pitchFamily="18" charset="0"/>
                            </a:rPr>
                          </m:ctrlPr>
                        </m:sSubPr>
                        <m:e>
                          <m:r>
                            <a:rPr lang="ar-DZ" sz="2800" b="0" i="1" smtClean="0">
                              <a:solidFill>
                                <a:srgbClr val="FFFF00"/>
                              </a:solidFill>
                              <a:latin typeface="Cambria Math" panose="02040503050406030204" pitchFamily="18" charset="0"/>
                            </a:rPr>
                            <m:t>𝐶</m:t>
                          </m:r>
                        </m:e>
                        <m:sub>
                          <m:r>
                            <a:rPr lang="ar-DZ" sz="2800" b="0" i="0" smtClean="0">
                              <a:solidFill>
                                <a:srgbClr val="FFFF00"/>
                              </a:solidFill>
                              <a:latin typeface="Cambria Math" panose="02040503050406030204" pitchFamily="18" charset="0"/>
                            </a:rPr>
                            <m:t>2</m:t>
                          </m:r>
                        </m:sub>
                      </m:sSub>
                      <m:r>
                        <a:rPr lang="ar-DZ" sz="2800" b="0" i="0" smtClean="0">
                          <a:solidFill>
                            <a:srgbClr val="FFFF00"/>
                          </a:solidFill>
                          <a:latin typeface="Cambria Math" panose="02040503050406030204" pitchFamily="18" charset="0"/>
                        </a:rPr>
                        <m:t>+</m:t>
                      </m:r>
                      <m:sSub>
                        <m:sSubPr>
                          <m:ctrlPr>
                            <a:rPr lang="ar-DZ" sz="2800" i="1">
                              <a:solidFill>
                                <a:srgbClr val="FFFF00"/>
                              </a:solidFill>
                              <a:latin typeface="Cambria Math" panose="02040503050406030204" pitchFamily="18" charset="0"/>
                            </a:rPr>
                          </m:ctrlPr>
                        </m:sSubPr>
                        <m:e>
                          <m:r>
                            <a:rPr lang="ar-DZ" sz="2800" b="0" i="1" smtClean="0">
                              <a:solidFill>
                                <a:srgbClr val="FFFF00"/>
                              </a:solidFill>
                              <a:latin typeface="Cambria Math" panose="02040503050406030204" pitchFamily="18" charset="0"/>
                            </a:rPr>
                            <m:t>𝐶</m:t>
                          </m:r>
                        </m:e>
                        <m:sub>
                          <m:r>
                            <a:rPr lang="ar-DZ" sz="2800" b="0" i="0" smtClean="0">
                              <a:solidFill>
                                <a:srgbClr val="FFFF00"/>
                              </a:solidFill>
                              <a:latin typeface="Cambria Math" panose="02040503050406030204" pitchFamily="18" charset="0"/>
                            </a:rPr>
                            <m:t>3</m:t>
                          </m:r>
                        </m:sub>
                      </m:sSub>
                      <m:r>
                        <a:rPr lang="ar-DZ" sz="2800" b="0" i="0" smtClean="0">
                          <a:solidFill>
                            <a:srgbClr val="FFFF00"/>
                          </a:solidFill>
                          <a:latin typeface="Cambria Math" panose="02040503050406030204" pitchFamily="18" charset="0"/>
                        </a:rPr>
                        <m:t>.</m:t>
                      </m:r>
                    </m:oMath>
                  </m:oMathPara>
                </a14:m>
                <a:endParaRPr lang="ar-DZ" sz="2800" dirty="0">
                  <a:latin typeface="Times New Roman" panose="02020603050405020304" pitchFamily="18" charset="0"/>
                  <a:cs typeface="Times New Roman" panose="02020603050405020304" pitchFamily="18" charset="0"/>
                </a:endParaRPr>
              </a:p>
              <a:p>
                <a:pPr algn="l">
                  <a:buNone/>
                </a:pPr>
                <a:r>
                  <a:rPr lang="en-US" sz="2800" dirty="0" err="1">
                    <a:latin typeface="Times New Roman" panose="02020603050405020304" pitchFamily="18" charset="0"/>
                    <a:cs typeface="Times New Roman" panose="02020603050405020304" pitchFamily="18" charset="0"/>
                  </a:rPr>
                  <a:t>Calcul</a:t>
                </a:r>
                <a:r>
                  <a:rPr lang="en-US" sz="2800" dirty="0">
                    <a:latin typeface="Times New Roman" panose="02020603050405020304" pitchFamily="18" charset="0"/>
                    <a:cs typeface="Times New Roman" panose="02020603050405020304" pitchFamily="18" charset="0"/>
                  </a:rPr>
                  <a:t> :</a:t>
                </a:r>
              </a:p>
              <a:p>
                <a:pPr algn="l">
                  <a:buNone/>
                </a:pPr>
                <a:endParaRPr lang="fr-FR" sz="2800" i="1" dirty="0">
                  <a:latin typeface="Cambria Math" panose="02040503050406030204" pitchFamily="18" charset="0"/>
                </a:endParaRPr>
              </a:p>
              <a:p>
                <a:pPr algn="l">
                  <a:buNone/>
                </a:pPr>
                <a14:m>
                  <m:oMathPara xmlns:m="http://schemas.openxmlformats.org/officeDocument/2006/math">
                    <m:oMathParaPr>
                      <m:jc m:val="centerGroup"/>
                    </m:oMathParaPr>
                    <m:oMath xmlns:m="http://schemas.openxmlformats.org/officeDocument/2006/math">
                      <m:sSub>
                        <m:sSubPr>
                          <m:ctrlPr>
                            <a:rPr lang="ar-DZ" sz="2800" i="1">
                              <a:latin typeface="Cambria Math" panose="02040503050406030204" pitchFamily="18" charset="0"/>
                            </a:rPr>
                          </m:ctrlPr>
                        </m:sSubPr>
                        <m:e>
                          <m:r>
                            <a:rPr lang="ar-DZ" sz="2800" b="0" i="1" smtClean="0">
                              <a:latin typeface="Cambria Math" panose="02040503050406030204" pitchFamily="18" charset="0"/>
                            </a:rPr>
                            <m:t>𝐶</m:t>
                          </m:r>
                        </m:e>
                        <m:sub>
                          <m:r>
                            <m:rPr>
                              <m:nor/>
                            </m:rPr>
                            <a:rPr lang="en-US" sz="2800" i="1">
                              <a:latin typeface="Times New Roman" panose="02020603050405020304" pitchFamily="18" charset="0"/>
                              <a:cs typeface="Times New Roman" panose="02020603050405020304" pitchFamily="18" charset="0"/>
                            </a:rPr>
                            <m:t>eq</m:t>
                          </m:r>
                        </m:sub>
                      </m:sSub>
                      <m:r>
                        <a:rPr lang="ar-DZ" sz="2800" b="0" i="0" smtClean="0">
                          <a:latin typeface="Cambria Math" panose="02040503050406030204" pitchFamily="18" charset="0"/>
                        </a:rPr>
                        <m:t>=</m:t>
                      </m:r>
                      <m:r>
                        <a:rPr lang="ar-DZ" sz="2800" b="0" i="0" smtClean="0">
                          <a:latin typeface="Cambria Math" panose="02040503050406030204" pitchFamily="18" charset="0"/>
                        </a:rPr>
                        <m:t>4</m:t>
                      </m:r>
                      <m:r>
                        <a:rPr lang="ar-DZ" sz="2800" b="0" i="0" smtClean="0">
                          <a:latin typeface="Cambria Math" panose="02040503050406030204" pitchFamily="18" charset="0"/>
                        </a:rPr>
                        <m:t>+</m:t>
                      </m:r>
                      <m:r>
                        <a:rPr lang="ar-DZ" sz="2800" b="0" i="0" smtClean="0">
                          <a:latin typeface="Cambria Math" panose="02040503050406030204" pitchFamily="18" charset="0"/>
                        </a:rPr>
                        <m:t>6</m:t>
                      </m:r>
                      <m:r>
                        <a:rPr lang="ar-DZ" sz="2800" b="0" i="0" smtClean="0">
                          <a:latin typeface="Cambria Math" panose="02040503050406030204" pitchFamily="18" charset="0"/>
                        </a:rPr>
                        <m:t>+</m:t>
                      </m:r>
                      <m:r>
                        <a:rPr lang="ar-DZ" sz="2800" b="0" i="0" smtClean="0">
                          <a:latin typeface="Cambria Math" panose="02040503050406030204" pitchFamily="18" charset="0"/>
                        </a:rPr>
                        <m:t>12</m:t>
                      </m:r>
                      <m:r>
                        <a:rPr lang="ar-DZ" sz="2800" b="0" i="0" smtClean="0">
                          <a:latin typeface="Cambria Math" panose="02040503050406030204" pitchFamily="18" charset="0"/>
                        </a:rPr>
                        <m:t>=</m:t>
                      </m:r>
                      <m:r>
                        <a:rPr lang="ar-DZ" sz="2800" b="0" i="0" smtClean="0">
                          <a:latin typeface="Cambria Math" panose="02040503050406030204" pitchFamily="18" charset="0"/>
                        </a:rPr>
                        <m:t>22</m:t>
                      </m:r>
                      <m:r>
                        <m:rPr>
                          <m:nor/>
                        </m:rPr>
                        <a:rPr lang="ar-DZ" sz="2800" i="1">
                          <a:latin typeface="Times New Roman" panose="02020603050405020304" pitchFamily="18" charset="0"/>
                          <a:cs typeface="Times New Roman" panose="02020603050405020304" pitchFamily="18" charset="0"/>
                        </a:rPr>
                        <m:t> </m:t>
                      </m:r>
                      <m:r>
                        <a:rPr lang="ar-DZ" sz="2800" b="0" i="1" smtClean="0">
                          <a:latin typeface="Cambria Math" panose="02040503050406030204" pitchFamily="18" charset="0"/>
                        </a:rPr>
                        <m:t>𝜇</m:t>
                      </m:r>
                      <m:r>
                        <m:rPr>
                          <m:nor/>
                        </m:rPr>
                        <a:rPr lang="en-US" sz="2800" i="1">
                          <a:latin typeface="Times New Roman" panose="02020603050405020304" pitchFamily="18" charset="0"/>
                          <a:cs typeface="Times New Roman" panose="02020603050405020304" pitchFamily="18" charset="0"/>
                        </a:rPr>
                        <m:t>F</m:t>
                      </m:r>
                      <m:r>
                        <a:rPr lang="en-US" sz="2800" b="0" i="0" smtClean="0">
                          <a:latin typeface="Cambria Math" panose="02040503050406030204" pitchFamily="18" charset="0"/>
                        </a:rPr>
                        <m:t>.</m:t>
                      </m:r>
                    </m:oMath>
                  </m:oMathPara>
                </a14:m>
                <a:endParaRPr lang="en-US" sz="2800" dirty="0">
                  <a:latin typeface="Times New Roman" panose="02020603050405020304" pitchFamily="18" charset="0"/>
                  <a:cs typeface="Times New Roman" panose="02020603050405020304" pitchFamily="18" charset="0"/>
                </a:endParaRPr>
              </a:p>
              <a:p>
                <a:pPr algn="l">
                  <a:buNone/>
                </a:pPr>
                <a:r>
                  <a:rPr lang="fr-FR" sz="2800" dirty="0">
                    <a:latin typeface="Times New Roman" panose="02020603050405020304" pitchFamily="18" charset="0"/>
                    <a:cs typeface="Times New Roman" panose="02020603050405020304" pitchFamily="18" charset="0"/>
                  </a:rPr>
                  <a:t>Donc             </a:t>
                </a:r>
              </a:p>
              <a:p>
                <a:pPr algn="l">
                  <a:buNone/>
                </a:pPr>
                <a14:m>
                  <m:oMathPara xmlns:m="http://schemas.openxmlformats.org/officeDocument/2006/math">
                    <m:oMathParaPr>
                      <m:jc m:val="center"/>
                    </m:oMathParaPr>
                    <m:oMath xmlns:m="http://schemas.openxmlformats.org/officeDocument/2006/math">
                      <m:sSub>
                        <m:sSubPr>
                          <m:ctrlPr>
                            <a:rPr lang="ar-DZ" sz="3200" b="1" i="1" smtClean="0">
                              <a:solidFill>
                                <a:srgbClr val="FFFF00"/>
                              </a:solidFill>
                              <a:latin typeface="Cambria Math" panose="02040503050406030204" pitchFamily="18" charset="0"/>
                            </a:rPr>
                          </m:ctrlPr>
                        </m:sSubPr>
                        <m:e>
                          <m:r>
                            <a:rPr lang="fr-FR" sz="3200" b="1" i="1" smtClean="0">
                              <a:solidFill>
                                <a:srgbClr val="FFFF00"/>
                              </a:solidFill>
                              <a:latin typeface="Cambria Math" panose="02040503050406030204" pitchFamily="18" charset="0"/>
                            </a:rPr>
                            <m:t> </m:t>
                          </m:r>
                          <m:r>
                            <a:rPr lang="ar-DZ" sz="3200" b="1" i="1">
                              <a:solidFill>
                                <a:srgbClr val="FFFF00"/>
                              </a:solidFill>
                              <a:latin typeface="Cambria Math" panose="02040503050406030204" pitchFamily="18" charset="0"/>
                            </a:rPr>
                            <m:t>𝑪</m:t>
                          </m:r>
                        </m:e>
                        <m:sub>
                          <m:r>
                            <m:rPr>
                              <m:nor/>
                            </m:rPr>
                            <a:rPr lang="en-US" sz="3200" b="1" i="1">
                              <a:solidFill>
                                <a:srgbClr val="FFFF00"/>
                              </a:solidFill>
                              <a:latin typeface="Times New Roman" panose="02020603050405020304" pitchFamily="18" charset="0"/>
                              <a:cs typeface="Times New Roman" panose="02020603050405020304" pitchFamily="18" charset="0"/>
                            </a:rPr>
                            <m:t>eq</m:t>
                          </m:r>
                          <m:r>
                            <a:rPr lang="en-US" sz="3200" b="1" i="1" smtClean="0">
                              <a:solidFill>
                                <a:srgbClr val="FFFF00"/>
                              </a:solidFill>
                              <a:latin typeface="Cambria Math" panose="02040503050406030204" pitchFamily="18" charset="0"/>
                              <a:cs typeface="Times New Roman" panose="02020603050405020304" pitchFamily="18" charset="0"/>
                            </a:rPr>
                            <m:t> </m:t>
                          </m:r>
                        </m:sub>
                      </m:sSub>
                      <m:r>
                        <a:rPr lang="ar-DZ" sz="3200" b="1" i="0">
                          <a:solidFill>
                            <a:srgbClr val="FFFF00"/>
                          </a:solidFill>
                          <a:latin typeface="Cambria Math" panose="02040503050406030204" pitchFamily="18" charset="0"/>
                        </a:rPr>
                        <m:t>=</m:t>
                      </m:r>
                      <m:r>
                        <a:rPr lang="ar-DZ" sz="3200" b="1" i="0">
                          <a:solidFill>
                            <a:srgbClr val="FFFF00"/>
                          </a:solidFill>
                          <a:latin typeface="Cambria Math" panose="02040503050406030204" pitchFamily="18" charset="0"/>
                        </a:rPr>
                        <m:t>𝟐𝟐</m:t>
                      </m:r>
                      <m:r>
                        <m:rPr>
                          <m:nor/>
                        </m:rPr>
                        <a:rPr lang="ar-DZ" sz="3200" b="1" i="1">
                          <a:solidFill>
                            <a:srgbClr val="FFFF00"/>
                          </a:solidFill>
                          <a:latin typeface="Times New Roman" panose="02020603050405020304" pitchFamily="18" charset="0"/>
                          <a:cs typeface="Times New Roman" panose="02020603050405020304" pitchFamily="18" charset="0"/>
                        </a:rPr>
                        <m:t> </m:t>
                      </m:r>
                      <m:r>
                        <a:rPr lang="ar-DZ" sz="3200" b="1" i="1">
                          <a:solidFill>
                            <a:srgbClr val="FFFF00"/>
                          </a:solidFill>
                          <a:latin typeface="Cambria Math" panose="02040503050406030204" pitchFamily="18" charset="0"/>
                        </a:rPr>
                        <m:t>𝝁</m:t>
                      </m:r>
                      <m:r>
                        <m:rPr>
                          <m:nor/>
                        </m:rPr>
                        <a:rPr lang="en-US" sz="3200" b="1" i="1">
                          <a:solidFill>
                            <a:srgbClr val="FFFF00"/>
                          </a:solidFill>
                          <a:latin typeface="Times New Roman" panose="02020603050405020304" pitchFamily="18" charset="0"/>
                          <a:cs typeface="Times New Roman" panose="02020603050405020304" pitchFamily="18" charset="0"/>
                        </a:rPr>
                        <m:t>F</m:t>
                      </m:r>
                      <m:r>
                        <a:rPr lang="en-US" sz="3200" b="1" i="0">
                          <a:solidFill>
                            <a:srgbClr val="FFFF00"/>
                          </a:solidFill>
                          <a:latin typeface="Cambria Math" panose="02040503050406030204" pitchFamily="18" charset="0"/>
                        </a:rPr>
                        <m:t>.</m:t>
                      </m:r>
                    </m:oMath>
                  </m:oMathPara>
                </a14:m>
                <a:endParaRPr lang="en-US" sz="3200" b="1" dirty="0">
                  <a:solidFill>
                    <a:srgbClr val="FFFF00"/>
                  </a:solidFill>
                  <a:latin typeface="Times New Roman" panose="02020603050405020304" pitchFamily="18" charset="0"/>
                  <a:cs typeface="Times New Roman" panose="02020603050405020304" pitchFamily="18" charset="0"/>
                </a:endParaRPr>
              </a:p>
              <a:p>
                <a:endParaRPr lang="fr-FR" dirty="0"/>
              </a:p>
            </p:txBody>
          </p:sp>
        </mc:Choice>
        <mc:Fallback xmlns="">
          <p:sp>
            <p:nvSpPr>
              <p:cNvPr id="3" name="Espace réservé du texte 2">
                <a:extLst>
                  <a:ext uri="{FF2B5EF4-FFF2-40B4-BE49-F238E27FC236}">
                    <a16:creationId xmlns:a16="http://schemas.microsoft.com/office/drawing/2014/main" id="{E30BAE8F-5CB3-3849-4671-584A088E8551}"/>
                  </a:ext>
                </a:extLst>
              </p:cNvPr>
              <p:cNvSpPr>
                <a:spLocks noGrp="1" noRot="1" noChangeAspect="1" noMove="1" noResize="1" noEditPoints="1" noAdjustHandles="1" noChangeArrowheads="1" noChangeShapeType="1" noTextEdit="1"/>
              </p:cNvSpPr>
              <p:nvPr>
                <p:ph type="body" idx="1"/>
              </p:nvPr>
            </p:nvSpPr>
            <p:spPr>
              <a:xfrm>
                <a:off x="0" y="-130630"/>
                <a:ext cx="12191999" cy="6988629"/>
              </a:xfrm>
              <a:blipFill>
                <a:blip r:embed="rId2"/>
                <a:stretch>
                  <a:fillRect/>
                </a:stretch>
              </a:blipFill>
            </p:spPr>
            <p:txBody>
              <a:bodyPr/>
              <a:lstStyle/>
              <a:p>
                <a:r>
                  <a:rPr lang="fr-FR">
                    <a:noFill/>
                  </a:rPr>
                  <a:t> </a:t>
                </a:r>
              </a:p>
            </p:txBody>
          </p:sp>
        </mc:Fallback>
      </mc:AlternateContent>
      <p:pic>
        <p:nvPicPr>
          <p:cNvPr id="5" name="Image 4">
            <a:extLst>
              <a:ext uri="{FF2B5EF4-FFF2-40B4-BE49-F238E27FC236}">
                <a16:creationId xmlns:a16="http://schemas.microsoft.com/office/drawing/2014/main" id="{0E596BF2-79DD-8903-912A-5B18165D54CE}"/>
              </a:ext>
            </a:extLst>
          </p:cNvPr>
          <p:cNvPicPr>
            <a:picLocks noChangeAspect="1"/>
          </p:cNvPicPr>
          <p:nvPr/>
        </p:nvPicPr>
        <p:blipFill>
          <a:blip r:embed="rId3"/>
          <a:stretch>
            <a:fillRect/>
          </a:stretch>
        </p:blipFill>
        <p:spPr>
          <a:xfrm>
            <a:off x="2933874" y="401885"/>
            <a:ext cx="5986791" cy="371888"/>
          </a:xfrm>
          <a:prstGeom prst="rect">
            <a:avLst/>
          </a:prstGeom>
        </p:spPr>
      </p:pic>
    </p:spTree>
    <p:extLst>
      <p:ext uri="{BB962C8B-B14F-4D97-AF65-F5344CB8AC3E}">
        <p14:creationId xmlns:p14="http://schemas.microsoft.com/office/powerpoint/2010/main" val="203403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1000"/>
                                        <p:tgtEl>
                                          <p:spTgt spid="3">
                                            <p:txEl>
                                              <p:pRg st="5" end="5"/>
                                            </p:txEl>
                                          </p:spTgt>
                                        </p:tgtEl>
                                      </p:cBhvr>
                                    </p:animEffect>
                                    <p:anim calcmode="lin" valueType="num">
                                      <p:cBhvr>
                                        <p:cTn id="2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1000"/>
                                        <p:tgtEl>
                                          <p:spTgt spid="3">
                                            <p:txEl>
                                              <p:pRg st="7" end="7"/>
                                            </p:txEl>
                                          </p:spTgt>
                                        </p:tgtEl>
                                      </p:cBhvr>
                                    </p:animEffect>
                                    <p:anim calcmode="lin" valueType="num">
                                      <p:cBhvr>
                                        <p:cTn id="3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1000"/>
                                        <p:tgtEl>
                                          <p:spTgt spid="3">
                                            <p:txEl>
                                              <p:pRg st="8" end="8"/>
                                            </p:txEl>
                                          </p:spTgt>
                                        </p:tgtEl>
                                      </p:cBhvr>
                                    </p:animEffect>
                                    <p:anim calcmode="lin" valueType="num">
                                      <p:cBhvr>
                                        <p:cTn id="3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fade">
                                      <p:cBhvr>
                                        <p:cTn id="41" dur="1000"/>
                                        <p:tgtEl>
                                          <p:spTgt spid="3">
                                            <p:txEl>
                                              <p:pRg st="9" end="9"/>
                                            </p:txEl>
                                          </p:spTgt>
                                        </p:tgtEl>
                                      </p:cBhvr>
                                    </p:animEffect>
                                    <p:anim calcmode="lin" valueType="num">
                                      <p:cBhvr>
                                        <p:cTn id="4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texte 2">
                <a:extLst>
                  <a:ext uri="{FF2B5EF4-FFF2-40B4-BE49-F238E27FC236}">
                    <a16:creationId xmlns:a16="http://schemas.microsoft.com/office/drawing/2014/main" id="{5FD78356-A97E-5CED-68B6-75B695D05137}"/>
                  </a:ext>
                </a:extLst>
              </p:cNvPr>
              <p:cNvSpPr>
                <a:spLocks noGrp="1"/>
              </p:cNvSpPr>
              <p:nvPr>
                <p:ph type="body" idx="1"/>
              </p:nvPr>
            </p:nvSpPr>
            <p:spPr>
              <a:xfrm>
                <a:off x="0" y="0"/>
                <a:ext cx="12192000" cy="6858000"/>
              </a:xfrm>
              <a:solidFill>
                <a:srgbClr val="002060"/>
              </a:solidFill>
              <a:scene3d>
                <a:camera prst="orthographicFront"/>
                <a:lightRig rig="threePt" dir="t"/>
              </a:scene3d>
              <a:sp3d>
                <a:bevelT w="114300" prst="artDeco"/>
              </a:sp3d>
            </p:spPr>
            <p:txBody>
              <a:bodyPr/>
              <a:lstStyle/>
              <a:p>
                <a:pPr algn="l">
                  <a:buNone/>
                </a:pPr>
                <a:endParaRPr lang="en-US" sz="2800" b="1" dirty="0">
                  <a:latin typeface="Times New Roman" panose="02020603050405020304" pitchFamily="18" charset="0"/>
                  <a:cs typeface="Times New Roman" panose="02020603050405020304" pitchFamily="18" charset="0"/>
                </a:endParaRPr>
              </a:p>
              <a:p>
                <a:pPr algn="l">
                  <a:buNone/>
                </a:pPr>
                <a:r>
                  <a:rPr lang="en-US" sz="2800" b="1" dirty="0">
                    <a:latin typeface="Times New Roman" panose="02020603050405020304" pitchFamily="18" charset="0"/>
                    <a:cs typeface="Times New Roman" panose="02020603050405020304" pitchFamily="18" charset="0"/>
                  </a:rPr>
                  <a:t>3) </a:t>
                </a:r>
                <a:r>
                  <a:rPr lang="en-US" sz="2800" dirty="0">
                    <a:latin typeface="Times New Roman" panose="02020603050405020304" pitchFamily="18" charset="0"/>
                    <a:cs typeface="Times New Roman" panose="02020603050405020304" pitchFamily="18" charset="0"/>
                  </a:rPr>
                  <a:t>Association </a:t>
                </a:r>
                <a:r>
                  <a:rPr lang="en-US" sz="2800" dirty="0" err="1">
                    <a:latin typeface="Times New Roman" panose="02020603050405020304" pitchFamily="18" charset="0"/>
                    <a:cs typeface="Times New Roman" panose="02020603050405020304" pitchFamily="18" charset="0"/>
                  </a:rPr>
                  <a:t>mixte</a:t>
                </a:r>
                <a:r>
                  <a:rPr lang="en-US" sz="2800"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2</m:t>
                        </m:r>
                      </m:sub>
                    </m:sSub>
                  </m:oMath>
                </a14:m>
                <a:r>
                  <a:rPr lang="en-US" sz="2800" dirty="0">
                    <a:latin typeface="Times New Roman" panose="02020603050405020304" pitchFamily="18" charset="0"/>
                    <a:cs typeface="Times New Roman" panose="02020603050405020304" pitchFamily="18" charset="0"/>
                  </a:rPr>
                  <a:t>et </a:t>
                </a:r>
                <a14:m>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3</m:t>
                        </m:r>
                      </m:sub>
                    </m:sSub>
                  </m:oMath>
                </a14:m>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série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puis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groupe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parallèle</a:t>
                </a:r>
                <a:r>
                  <a:rPr lang="en-US" sz="2800" dirty="0">
                    <a:latin typeface="Times New Roman" panose="02020603050405020304" pitchFamily="18" charset="0"/>
                    <a:cs typeface="Times New Roman" panose="02020603050405020304" pitchFamily="18" charset="0"/>
                  </a:rPr>
                  <a:t> avec </a:t>
                </a:r>
                <a14:m>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1</m:t>
                        </m:r>
                      </m:sub>
                    </m:sSub>
                  </m:oMath>
                </a14:m>
                <a:endParaRPr lang="ar-DZ" sz="2800" dirty="0">
                  <a:latin typeface="Times New Roman" panose="02020603050405020304" pitchFamily="18" charset="0"/>
                  <a:cs typeface="Times New Roman" panose="02020603050405020304" pitchFamily="18" charset="0"/>
                </a:endParaRPr>
              </a:p>
              <a:p>
                <a:pPr algn="l">
                  <a:buNone/>
                </a:pPr>
                <a:r>
                  <a:rPr lang="en-US" sz="2800" dirty="0">
                    <a:latin typeface="Times New Roman" panose="02020603050405020304" pitchFamily="18" charset="0"/>
                    <a:cs typeface="Times New Roman" panose="02020603050405020304" pitchFamily="18" charset="0"/>
                  </a:rPr>
                  <a:t>a) Série </a:t>
                </a:r>
                <a14:m>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2</m:t>
                        </m:r>
                      </m:sub>
                    </m:sSub>
                  </m:oMath>
                </a14:m>
                <a:r>
                  <a:rPr lang="en-US" sz="2800" dirty="0">
                    <a:latin typeface="Times New Roman" panose="02020603050405020304" pitchFamily="18" charset="0"/>
                    <a:cs typeface="Times New Roman" panose="02020603050405020304" pitchFamily="18" charset="0"/>
                  </a:rPr>
                  <a:t>et </a:t>
                </a:r>
                <a14:m>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3</m:t>
                        </m:r>
                      </m:sub>
                    </m:sSub>
                  </m:oMath>
                </a14:m>
                <a:endParaRPr lang="ar-DZ" sz="2800" dirty="0">
                  <a:latin typeface="Times New Roman" panose="02020603050405020304" pitchFamily="18" charset="0"/>
                  <a:cs typeface="Times New Roman" panose="02020603050405020304" pitchFamily="18" charset="0"/>
                </a:endParaRPr>
              </a:p>
              <a:p>
                <a:pPr algn="l">
                  <a:buNone/>
                </a:pPr>
                <a14:m>
                  <m:oMathPara xmlns:m="http://schemas.openxmlformats.org/officeDocument/2006/math">
                    <m:oMathParaPr>
                      <m:jc m:val="centerGroup"/>
                    </m:oMathParaPr>
                    <m:oMath xmlns:m="http://schemas.openxmlformats.org/officeDocument/2006/math">
                      <m:f>
                        <m:fPr>
                          <m:ctrlPr>
                            <a:rPr lang="ar-DZ" sz="2800" i="1" smtClean="0">
                              <a:solidFill>
                                <a:srgbClr val="FFFF00"/>
                              </a:solidFill>
                              <a:latin typeface="Cambria Math" panose="02040503050406030204" pitchFamily="18" charset="0"/>
                            </a:rPr>
                          </m:ctrlPr>
                        </m:fPr>
                        <m:num>
                          <m:r>
                            <a:rPr lang="ar-DZ" sz="2800" b="0" i="1">
                              <a:solidFill>
                                <a:srgbClr val="FFFF00"/>
                              </a:solidFill>
                              <a:latin typeface="Cambria Math" panose="02040503050406030204" pitchFamily="18" charset="0"/>
                            </a:rPr>
                            <m:t>1</m:t>
                          </m:r>
                        </m:num>
                        <m:den>
                          <m:sSub>
                            <m:sSubPr>
                              <m:ctrlPr>
                                <a:rPr lang="ar-DZ" sz="2800" i="1">
                                  <a:solidFill>
                                    <a:srgbClr val="FFFF00"/>
                                  </a:solidFill>
                                  <a:latin typeface="Cambria Math" panose="02040503050406030204" pitchFamily="18" charset="0"/>
                                </a:rPr>
                              </m:ctrlPr>
                            </m:sSubPr>
                            <m:e>
                              <m:r>
                                <a:rPr lang="ar-DZ" sz="2800" b="0" i="1">
                                  <a:solidFill>
                                    <a:srgbClr val="FFFF00"/>
                                  </a:solidFill>
                                  <a:latin typeface="Cambria Math" panose="02040503050406030204" pitchFamily="18" charset="0"/>
                                </a:rPr>
                                <m:t>𝐶</m:t>
                              </m:r>
                            </m:e>
                            <m:sub>
                              <m:r>
                                <a:rPr lang="ar-DZ" sz="2800" b="0" i="0">
                                  <a:solidFill>
                                    <a:srgbClr val="FFFF00"/>
                                  </a:solidFill>
                                  <a:latin typeface="Cambria Math" panose="02040503050406030204" pitchFamily="18" charset="0"/>
                                </a:rPr>
                                <m:t>2</m:t>
                              </m:r>
                              <m:r>
                                <a:rPr lang="ar-DZ" sz="2800" b="0" i="0">
                                  <a:solidFill>
                                    <a:srgbClr val="FFFF00"/>
                                  </a:solidFill>
                                  <a:latin typeface="Cambria Math" panose="02040503050406030204" pitchFamily="18" charset="0"/>
                                </a:rPr>
                                <m:t>−</m:t>
                              </m:r>
                              <m:r>
                                <a:rPr lang="ar-DZ" sz="2800" b="0" i="0">
                                  <a:solidFill>
                                    <a:srgbClr val="FFFF00"/>
                                  </a:solidFill>
                                  <a:latin typeface="Cambria Math" panose="02040503050406030204" pitchFamily="18" charset="0"/>
                                </a:rPr>
                                <m:t>3</m:t>
                              </m:r>
                            </m:sub>
                          </m:sSub>
                        </m:den>
                      </m:f>
                      <m:r>
                        <a:rPr lang="ar-DZ" sz="2800" b="0" i="0">
                          <a:solidFill>
                            <a:srgbClr val="FFFF00"/>
                          </a:solidFill>
                          <a:latin typeface="Cambria Math" panose="02040503050406030204" pitchFamily="18" charset="0"/>
                        </a:rPr>
                        <m:t>=</m:t>
                      </m:r>
                      <m:f>
                        <m:fPr>
                          <m:ctrlPr>
                            <a:rPr lang="ar-DZ" sz="2800" i="1">
                              <a:solidFill>
                                <a:srgbClr val="FFFF00"/>
                              </a:solidFill>
                              <a:latin typeface="Cambria Math" panose="02040503050406030204" pitchFamily="18" charset="0"/>
                            </a:rPr>
                          </m:ctrlPr>
                        </m:fPr>
                        <m:num>
                          <m:r>
                            <a:rPr lang="ar-DZ" sz="2800" b="0" i="0">
                              <a:solidFill>
                                <a:srgbClr val="FFFF00"/>
                              </a:solidFill>
                              <a:latin typeface="Cambria Math" panose="02040503050406030204" pitchFamily="18" charset="0"/>
                            </a:rPr>
                            <m:t>1</m:t>
                          </m:r>
                        </m:num>
                        <m:den>
                          <m:sSub>
                            <m:sSubPr>
                              <m:ctrlPr>
                                <a:rPr lang="ar-DZ" sz="2800" i="1">
                                  <a:solidFill>
                                    <a:srgbClr val="FFFF00"/>
                                  </a:solidFill>
                                  <a:latin typeface="Cambria Math" panose="02040503050406030204" pitchFamily="18" charset="0"/>
                                </a:rPr>
                              </m:ctrlPr>
                            </m:sSubPr>
                            <m:e>
                              <m:r>
                                <a:rPr lang="ar-DZ" sz="2800" b="0" i="1">
                                  <a:solidFill>
                                    <a:srgbClr val="FFFF00"/>
                                  </a:solidFill>
                                  <a:latin typeface="Cambria Math" panose="02040503050406030204" pitchFamily="18" charset="0"/>
                                </a:rPr>
                                <m:t>𝐶</m:t>
                              </m:r>
                            </m:e>
                            <m:sub>
                              <m:r>
                                <a:rPr lang="ar-DZ" sz="2800" b="0" i="0">
                                  <a:solidFill>
                                    <a:srgbClr val="FFFF00"/>
                                  </a:solidFill>
                                  <a:latin typeface="Cambria Math" panose="02040503050406030204" pitchFamily="18" charset="0"/>
                                </a:rPr>
                                <m:t>2</m:t>
                              </m:r>
                            </m:sub>
                          </m:sSub>
                        </m:den>
                      </m:f>
                      <m:r>
                        <a:rPr lang="ar-DZ" sz="2800" b="0" i="0">
                          <a:solidFill>
                            <a:srgbClr val="FFFF00"/>
                          </a:solidFill>
                          <a:latin typeface="Cambria Math" panose="02040503050406030204" pitchFamily="18" charset="0"/>
                        </a:rPr>
                        <m:t>+</m:t>
                      </m:r>
                      <m:f>
                        <m:fPr>
                          <m:ctrlPr>
                            <a:rPr lang="ar-DZ" sz="2800" i="1">
                              <a:solidFill>
                                <a:srgbClr val="FFFF00"/>
                              </a:solidFill>
                              <a:latin typeface="Cambria Math" panose="02040503050406030204" pitchFamily="18" charset="0"/>
                            </a:rPr>
                          </m:ctrlPr>
                        </m:fPr>
                        <m:num>
                          <m:r>
                            <a:rPr lang="ar-DZ" sz="2800" b="0" i="0">
                              <a:solidFill>
                                <a:srgbClr val="FFFF00"/>
                              </a:solidFill>
                              <a:latin typeface="Cambria Math" panose="02040503050406030204" pitchFamily="18" charset="0"/>
                            </a:rPr>
                            <m:t>1</m:t>
                          </m:r>
                        </m:num>
                        <m:den>
                          <m:sSub>
                            <m:sSubPr>
                              <m:ctrlPr>
                                <a:rPr lang="ar-DZ" sz="2800" i="1">
                                  <a:solidFill>
                                    <a:srgbClr val="FFFF00"/>
                                  </a:solidFill>
                                  <a:latin typeface="Cambria Math" panose="02040503050406030204" pitchFamily="18" charset="0"/>
                                </a:rPr>
                              </m:ctrlPr>
                            </m:sSubPr>
                            <m:e>
                              <m:r>
                                <a:rPr lang="ar-DZ" sz="2800" b="0" i="1">
                                  <a:solidFill>
                                    <a:srgbClr val="FFFF00"/>
                                  </a:solidFill>
                                  <a:latin typeface="Cambria Math" panose="02040503050406030204" pitchFamily="18" charset="0"/>
                                </a:rPr>
                                <m:t>𝐶</m:t>
                              </m:r>
                            </m:e>
                            <m:sub>
                              <m:r>
                                <a:rPr lang="ar-DZ" sz="2800" b="0" i="0">
                                  <a:solidFill>
                                    <a:srgbClr val="FFFF00"/>
                                  </a:solidFill>
                                  <a:latin typeface="Cambria Math" panose="02040503050406030204" pitchFamily="18" charset="0"/>
                                </a:rPr>
                                <m:t>3</m:t>
                              </m:r>
                            </m:sub>
                          </m:sSub>
                        </m:den>
                      </m:f>
                      <m:r>
                        <a:rPr lang="ar-DZ" sz="2800" b="0" i="0">
                          <a:latin typeface="Cambria Math" panose="02040503050406030204" pitchFamily="18" charset="0"/>
                        </a:rPr>
                        <m:t>=</m:t>
                      </m:r>
                      <m:f>
                        <m:fPr>
                          <m:ctrlPr>
                            <a:rPr lang="ar-DZ" sz="2800" i="1">
                              <a:latin typeface="Cambria Math" panose="02040503050406030204" pitchFamily="18" charset="0"/>
                            </a:rPr>
                          </m:ctrlPr>
                        </m:fPr>
                        <m:num>
                          <m:r>
                            <a:rPr lang="ar-DZ" sz="2800" b="0" i="0">
                              <a:latin typeface="Cambria Math" panose="02040503050406030204" pitchFamily="18" charset="0"/>
                            </a:rPr>
                            <m:t>1</m:t>
                          </m:r>
                        </m:num>
                        <m:den>
                          <m:r>
                            <a:rPr lang="ar-DZ" sz="2800" b="0" i="0">
                              <a:latin typeface="Cambria Math" panose="02040503050406030204" pitchFamily="18" charset="0"/>
                            </a:rPr>
                            <m:t>6</m:t>
                          </m:r>
                        </m:den>
                      </m:f>
                      <m:r>
                        <a:rPr lang="ar-DZ" sz="2800" b="0" i="0">
                          <a:latin typeface="Cambria Math" panose="02040503050406030204" pitchFamily="18" charset="0"/>
                        </a:rPr>
                        <m:t>+</m:t>
                      </m:r>
                      <m:f>
                        <m:fPr>
                          <m:ctrlPr>
                            <a:rPr lang="ar-DZ" sz="2800" i="1">
                              <a:latin typeface="Cambria Math" panose="02040503050406030204" pitchFamily="18" charset="0"/>
                            </a:rPr>
                          </m:ctrlPr>
                        </m:fPr>
                        <m:num>
                          <m:r>
                            <a:rPr lang="ar-DZ" sz="2800" b="0" i="0">
                              <a:latin typeface="Cambria Math" panose="02040503050406030204" pitchFamily="18" charset="0"/>
                            </a:rPr>
                            <m:t>1</m:t>
                          </m:r>
                        </m:num>
                        <m:den>
                          <m:r>
                            <a:rPr lang="ar-DZ" sz="2800" b="0" i="0">
                              <a:latin typeface="Cambria Math" panose="02040503050406030204" pitchFamily="18" charset="0"/>
                            </a:rPr>
                            <m:t>12</m:t>
                          </m:r>
                        </m:den>
                      </m:f>
                      <m:r>
                        <a:rPr lang="ar-DZ" sz="2800" b="0" i="0">
                          <a:latin typeface="Cambria Math" panose="02040503050406030204" pitchFamily="18" charset="0"/>
                        </a:rPr>
                        <m:t>=</m:t>
                      </m:r>
                      <m:f>
                        <m:fPr>
                          <m:ctrlPr>
                            <a:rPr lang="ar-DZ" sz="2800" i="1">
                              <a:latin typeface="Cambria Math" panose="02040503050406030204" pitchFamily="18" charset="0"/>
                            </a:rPr>
                          </m:ctrlPr>
                        </m:fPr>
                        <m:num>
                          <m:r>
                            <a:rPr lang="ar-DZ" sz="2800" b="0" i="0">
                              <a:latin typeface="Cambria Math" panose="02040503050406030204" pitchFamily="18" charset="0"/>
                            </a:rPr>
                            <m:t>2</m:t>
                          </m:r>
                        </m:num>
                        <m:den>
                          <m:r>
                            <a:rPr lang="ar-DZ" sz="2800" b="0" i="0">
                              <a:latin typeface="Cambria Math" panose="02040503050406030204" pitchFamily="18" charset="0"/>
                            </a:rPr>
                            <m:t>12</m:t>
                          </m:r>
                        </m:den>
                      </m:f>
                      <m:r>
                        <a:rPr lang="ar-DZ" sz="2800" b="0" i="0">
                          <a:latin typeface="Cambria Math" panose="02040503050406030204" pitchFamily="18" charset="0"/>
                        </a:rPr>
                        <m:t>+</m:t>
                      </m:r>
                      <m:f>
                        <m:fPr>
                          <m:ctrlPr>
                            <a:rPr lang="ar-DZ" sz="2800" i="1">
                              <a:latin typeface="Cambria Math" panose="02040503050406030204" pitchFamily="18" charset="0"/>
                            </a:rPr>
                          </m:ctrlPr>
                        </m:fPr>
                        <m:num>
                          <m:r>
                            <a:rPr lang="ar-DZ" sz="2800" b="0" i="0">
                              <a:latin typeface="Cambria Math" panose="02040503050406030204" pitchFamily="18" charset="0"/>
                            </a:rPr>
                            <m:t>1</m:t>
                          </m:r>
                        </m:num>
                        <m:den>
                          <m:r>
                            <a:rPr lang="ar-DZ" sz="2800" b="0" i="0">
                              <a:latin typeface="Cambria Math" panose="02040503050406030204" pitchFamily="18" charset="0"/>
                            </a:rPr>
                            <m:t>12</m:t>
                          </m:r>
                        </m:den>
                      </m:f>
                      <m:r>
                        <a:rPr lang="ar-DZ" sz="2800" b="0" i="0">
                          <a:latin typeface="Cambria Math" panose="02040503050406030204" pitchFamily="18" charset="0"/>
                        </a:rPr>
                        <m:t>=</m:t>
                      </m:r>
                      <m:f>
                        <m:fPr>
                          <m:ctrlPr>
                            <a:rPr lang="ar-DZ" sz="2800" i="1">
                              <a:latin typeface="Cambria Math" panose="02040503050406030204" pitchFamily="18" charset="0"/>
                            </a:rPr>
                          </m:ctrlPr>
                        </m:fPr>
                        <m:num>
                          <m:r>
                            <a:rPr lang="ar-DZ" sz="2800" b="0" i="0">
                              <a:latin typeface="Cambria Math" panose="02040503050406030204" pitchFamily="18" charset="0"/>
                            </a:rPr>
                            <m:t>3</m:t>
                          </m:r>
                        </m:num>
                        <m:den>
                          <m:r>
                            <a:rPr lang="ar-DZ" sz="2800" b="0" i="0">
                              <a:latin typeface="Cambria Math" panose="02040503050406030204" pitchFamily="18" charset="0"/>
                            </a:rPr>
                            <m:t>12</m:t>
                          </m:r>
                        </m:den>
                      </m:f>
                      <m:r>
                        <a:rPr lang="ar-DZ" sz="2800" b="0" i="0">
                          <a:latin typeface="Cambria Math" panose="02040503050406030204" pitchFamily="18" charset="0"/>
                        </a:rPr>
                        <m:t>=</m:t>
                      </m:r>
                      <m:f>
                        <m:fPr>
                          <m:ctrlPr>
                            <a:rPr lang="ar-DZ" sz="2800" i="1">
                              <a:latin typeface="Cambria Math" panose="02040503050406030204" pitchFamily="18" charset="0"/>
                            </a:rPr>
                          </m:ctrlPr>
                        </m:fPr>
                        <m:num>
                          <m:r>
                            <a:rPr lang="ar-DZ" sz="2800" b="0" i="0">
                              <a:latin typeface="Cambria Math" panose="02040503050406030204" pitchFamily="18" charset="0"/>
                            </a:rPr>
                            <m:t>1</m:t>
                          </m:r>
                        </m:num>
                        <m:den>
                          <m:r>
                            <a:rPr lang="ar-DZ" sz="2800" b="0" i="0">
                              <a:latin typeface="Cambria Math" panose="02040503050406030204" pitchFamily="18" charset="0"/>
                            </a:rPr>
                            <m:t>4</m:t>
                          </m:r>
                        </m:den>
                      </m:f>
                      <m:r>
                        <a:rPr lang="ar-DZ" sz="2800" b="0" i="0">
                          <a:latin typeface="Cambria Math" panose="02040503050406030204" pitchFamily="18" charset="0"/>
                        </a:rPr>
                        <m:t>.</m:t>
                      </m:r>
                    </m:oMath>
                  </m:oMathPara>
                </a14:m>
                <a:endParaRPr lang="ar-DZ" sz="2800" dirty="0">
                  <a:latin typeface="Times New Roman" panose="02020603050405020304" pitchFamily="18" charset="0"/>
                  <a:cs typeface="Times New Roman" panose="02020603050405020304" pitchFamily="18" charset="0"/>
                </a:endParaRPr>
              </a:p>
              <a:p>
                <a:pPr algn="l">
                  <a:buNone/>
                </a:pPr>
                <a:r>
                  <a:rPr lang="en-US" sz="2800" dirty="0" err="1">
                    <a:latin typeface="Times New Roman" panose="02020603050405020304" pitchFamily="18" charset="0"/>
                    <a:cs typeface="Times New Roman" panose="02020603050405020304" pitchFamily="18" charset="0"/>
                  </a:rPr>
                  <a:t>Donc</a:t>
                </a:r>
                <a:endParaRPr lang="en-US" sz="2800" dirty="0">
                  <a:latin typeface="Times New Roman" panose="02020603050405020304" pitchFamily="18" charset="0"/>
                  <a:cs typeface="Times New Roman" panose="02020603050405020304" pitchFamily="18" charset="0"/>
                </a:endParaRPr>
              </a:p>
              <a:p>
                <a:pPr algn="l">
                  <a:buNone/>
                </a:pPr>
                <a14:m>
                  <m:oMathPara xmlns:m="http://schemas.openxmlformats.org/officeDocument/2006/math">
                    <m:oMathParaPr>
                      <m:jc m:val="centerGroup"/>
                    </m:oMathParaPr>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2</m:t>
                          </m:r>
                          <m:r>
                            <a:rPr lang="ar-DZ" sz="2800" b="0" i="0">
                              <a:latin typeface="Cambria Math" panose="02040503050406030204" pitchFamily="18" charset="0"/>
                            </a:rPr>
                            <m:t>−</m:t>
                          </m:r>
                          <m:r>
                            <a:rPr lang="ar-DZ" sz="2800" b="0" i="0">
                              <a:latin typeface="Cambria Math" panose="02040503050406030204" pitchFamily="18" charset="0"/>
                            </a:rPr>
                            <m:t>3</m:t>
                          </m:r>
                        </m:sub>
                      </m:sSub>
                      <m:r>
                        <a:rPr lang="ar-DZ" sz="2800" b="0" i="0">
                          <a:latin typeface="Cambria Math" panose="02040503050406030204" pitchFamily="18" charset="0"/>
                        </a:rPr>
                        <m:t>=</m:t>
                      </m:r>
                      <m:r>
                        <a:rPr lang="ar-DZ" sz="2800" b="0" i="0">
                          <a:latin typeface="Cambria Math" panose="02040503050406030204" pitchFamily="18" charset="0"/>
                        </a:rPr>
                        <m:t>4</m:t>
                      </m:r>
                      <m:r>
                        <m:rPr>
                          <m:nor/>
                        </m:rPr>
                        <a:rPr lang="ar-DZ" sz="2800" i="1">
                          <a:latin typeface="Times New Roman" panose="02020603050405020304" pitchFamily="18" charset="0"/>
                          <a:cs typeface="Times New Roman" panose="02020603050405020304" pitchFamily="18" charset="0"/>
                        </a:rPr>
                        <m:t> </m:t>
                      </m:r>
                      <m:r>
                        <a:rPr lang="ar-DZ" sz="2800" b="0" i="1">
                          <a:latin typeface="Cambria Math" panose="02040503050406030204" pitchFamily="18" charset="0"/>
                        </a:rPr>
                        <m:t>𝜇</m:t>
                      </m:r>
                      <m:r>
                        <m:rPr>
                          <m:nor/>
                        </m:rPr>
                        <a:rPr lang="en-US" sz="2800" i="1">
                          <a:latin typeface="Times New Roman" panose="02020603050405020304" pitchFamily="18" charset="0"/>
                          <a:cs typeface="Times New Roman" panose="02020603050405020304" pitchFamily="18" charset="0"/>
                        </a:rPr>
                        <m:t>F</m:t>
                      </m:r>
                      <m:r>
                        <a:rPr lang="en-US" sz="2800" b="0" i="0">
                          <a:latin typeface="Cambria Math" panose="02040503050406030204" pitchFamily="18" charset="0"/>
                        </a:rPr>
                        <m:t>.</m:t>
                      </m:r>
                    </m:oMath>
                  </m:oMathPara>
                </a14:m>
                <a:endParaRPr lang="en-US" sz="2800" dirty="0">
                  <a:latin typeface="Times New Roman" panose="02020603050405020304" pitchFamily="18" charset="0"/>
                  <a:cs typeface="Times New Roman" panose="02020603050405020304" pitchFamily="18" charset="0"/>
                </a:endParaRPr>
              </a:p>
              <a:p>
                <a:pPr algn="l">
                  <a:buNone/>
                </a:pPr>
                <a:r>
                  <a:rPr lang="en-US" sz="2800" dirty="0">
                    <a:latin typeface="Times New Roman" panose="02020603050405020304" pitchFamily="18" charset="0"/>
                    <a:cs typeface="Times New Roman" panose="02020603050405020304" pitchFamily="18" charset="0"/>
                  </a:rPr>
                  <a:t>b) </a:t>
                </a:r>
                <a:r>
                  <a:rPr lang="en-US" sz="2800" dirty="0" err="1">
                    <a:latin typeface="Times New Roman" panose="02020603050405020304" pitchFamily="18" charset="0"/>
                    <a:cs typeface="Times New Roman" panose="02020603050405020304" pitchFamily="18" charset="0"/>
                  </a:rPr>
                  <a:t>Parallèle</a:t>
                </a:r>
                <a:r>
                  <a:rPr lang="en-US" sz="2800" dirty="0">
                    <a:latin typeface="Times New Roman" panose="02020603050405020304" pitchFamily="18" charset="0"/>
                    <a:cs typeface="Times New Roman" panose="02020603050405020304" pitchFamily="18" charset="0"/>
                  </a:rPr>
                  <a:t> avec </a:t>
                </a:r>
                <a14:m>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a:rPr lang="ar-DZ" sz="2800" b="0" i="0">
                            <a:latin typeface="Cambria Math" panose="02040503050406030204" pitchFamily="18" charset="0"/>
                          </a:rPr>
                          <m:t>1</m:t>
                        </m:r>
                      </m:sub>
                    </m:sSub>
                  </m:oMath>
                </a14:m>
                <a:endParaRPr lang="ar-DZ" sz="2800" dirty="0">
                  <a:latin typeface="Times New Roman" panose="02020603050405020304" pitchFamily="18" charset="0"/>
                  <a:cs typeface="Times New Roman" panose="02020603050405020304" pitchFamily="18" charset="0"/>
                </a:endParaRPr>
              </a:p>
              <a:p>
                <a:pPr algn="l">
                  <a:buNone/>
                </a:pPr>
                <a14:m>
                  <m:oMathPara xmlns:m="http://schemas.openxmlformats.org/officeDocument/2006/math">
                    <m:oMathParaPr>
                      <m:jc m:val="centerGroup"/>
                    </m:oMathParaPr>
                    <m:oMath xmlns:m="http://schemas.openxmlformats.org/officeDocument/2006/math">
                      <m:sSub>
                        <m:sSubPr>
                          <m:ctrlPr>
                            <a:rPr lang="ar-DZ" sz="2800" i="1">
                              <a:latin typeface="Cambria Math" panose="02040503050406030204" pitchFamily="18" charset="0"/>
                            </a:rPr>
                          </m:ctrlPr>
                        </m:sSubPr>
                        <m:e>
                          <m:r>
                            <a:rPr lang="ar-DZ" sz="2800" b="0" i="1">
                              <a:latin typeface="Cambria Math" panose="02040503050406030204" pitchFamily="18" charset="0"/>
                            </a:rPr>
                            <m:t>𝐶</m:t>
                          </m:r>
                        </m:e>
                        <m:sub>
                          <m:r>
                            <m:rPr>
                              <m:nor/>
                            </m:rPr>
                            <a:rPr lang="en-US" sz="2800" i="1">
                              <a:latin typeface="Times New Roman" panose="02020603050405020304" pitchFamily="18" charset="0"/>
                              <a:cs typeface="Times New Roman" panose="02020603050405020304" pitchFamily="18" charset="0"/>
                            </a:rPr>
                            <m:t>eq</m:t>
                          </m:r>
                          <m:r>
                            <m:rPr>
                              <m:nor/>
                            </m:rPr>
                            <a:rPr lang="en-US" sz="2800" i="1">
                              <a:latin typeface="Times New Roman" panose="02020603050405020304" pitchFamily="18" charset="0"/>
                              <a:cs typeface="Times New Roman" panose="02020603050405020304" pitchFamily="18" charset="0"/>
                            </a:rPr>
                            <m:t>,</m:t>
                          </m:r>
                          <m:r>
                            <m:rPr>
                              <m:nor/>
                            </m:rPr>
                            <a:rPr lang="en-US" sz="2800" i="1">
                              <a:latin typeface="Times New Roman" panose="02020603050405020304" pitchFamily="18" charset="0"/>
                              <a:cs typeface="Times New Roman" panose="02020603050405020304" pitchFamily="18" charset="0"/>
                            </a:rPr>
                            <m:t>total</m:t>
                          </m:r>
                        </m:sub>
                      </m:sSub>
                      <m:r>
                        <a:rPr lang="ar-DZ" sz="2800" b="0" i="0">
                          <a:latin typeface="Cambria Math" panose="02040503050406030204" pitchFamily="18" charset="0"/>
                        </a:rPr>
                        <m:t>=</m:t>
                      </m:r>
                      <m:sSub>
                        <m:sSubPr>
                          <m:ctrlPr>
                            <a:rPr lang="ar-DZ" sz="2800" i="1" smtClean="0">
                              <a:solidFill>
                                <a:srgbClr val="FFFF00"/>
                              </a:solidFill>
                              <a:latin typeface="Cambria Math" panose="02040503050406030204" pitchFamily="18" charset="0"/>
                            </a:rPr>
                          </m:ctrlPr>
                        </m:sSubPr>
                        <m:e>
                          <m:r>
                            <a:rPr lang="ar-DZ" sz="2800" b="0" i="1">
                              <a:solidFill>
                                <a:srgbClr val="FFFF00"/>
                              </a:solidFill>
                              <a:latin typeface="Cambria Math" panose="02040503050406030204" pitchFamily="18" charset="0"/>
                            </a:rPr>
                            <m:t>𝐶</m:t>
                          </m:r>
                        </m:e>
                        <m:sub>
                          <m:r>
                            <a:rPr lang="ar-DZ" sz="2800" b="0" i="0">
                              <a:solidFill>
                                <a:srgbClr val="FFFF00"/>
                              </a:solidFill>
                              <a:latin typeface="Cambria Math" panose="02040503050406030204" pitchFamily="18" charset="0"/>
                            </a:rPr>
                            <m:t>1</m:t>
                          </m:r>
                        </m:sub>
                      </m:sSub>
                      <m:r>
                        <a:rPr lang="ar-DZ" sz="2800" b="0" i="0">
                          <a:solidFill>
                            <a:srgbClr val="FFFF00"/>
                          </a:solidFill>
                          <a:latin typeface="Cambria Math" panose="02040503050406030204" pitchFamily="18" charset="0"/>
                        </a:rPr>
                        <m:t>+</m:t>
                      </m:r>
                      <m:sSub>
                        <m:sSubPr>
                          <m:ctrlPr>
                            <a:rPr lang="ar-DZ" sz="2800" i="1">
                              <a:solidFill>
                                <a:srgbClr val="FFFF00"/>
                              </a:solidFill>
                              <a:latin typeface="Cambria Math" panose="02040503050406030204" pitchFamily="18" charset="0"/>
                            </a:rPr>
                          </m:ctrlPr>
                        </m:sSubPr>
                        <m:e>
                          <m:r>
                            <a:rPr lang="ar-DZ" sz="2800" b="0" i="1">
                              <a:solidFill>
                                <a:srgbClr val="FFFF00"/>
                              </a:solidFill>
                              <a:latin typeface="Cambria Math" panose="02040503050406030204" pitchFamily="18" charset="0"/>
                            </a:rPr>
                            <m:t>𝐶</m:t>
                          </m:r>
                        </m:e>
                        <m:sub>
                          <m:r>
                            <a:rPr lang="ar-DZ" sz="2800" b="0" i="0">
                              <a:solidFill>
                                <a:srgbClr val="FFFF00"/>
                              </a:solidFill>
                              <a:latin typeface="Cambria Math" panose="02040503050406030204" pitchFamily="18" charset="0"/>
                            </a:rPr>
                            <m:t>2</m:t>
                          </m:r>
                          <m:r>
                            <a:rPr lang="ar-DZ" sz="2800" b="0" i="0">
                              <a:solidFill>
                                <a:srgbClr val="FFFF00"/>
                              </a:solidFill>
                              <a:latin typeface="Cambria Math" panose="02040503050406030204" pitchFamily="18" charset="0"/>
                            </a:rPr>
                            <m:t>−</m:t>
                          </m:r>
                          <m:r>
                            <a:rPr lang="ar-DZ" sz="2800" b="0" i="0">
                              <a:solidFill>
                                <a:srgbClr val="FFFF00"/>
                              </a:solidFill>
                              <a:latin typeface="Cambria Math" panose="02040503050406030204" pitchFamily="18" charset="0"/>
                            </a:rPr>
                            <m:t>3</m:t>
                          </m:r>
                        </m:sub>
                      </m:sSub>
                      <m:r>
                        <a:rPr lang="ar-DZ" sz="2800" b="0" i="0">
                          <a:latin typeface="Cambria Math" panose="02040503050406030204" pitchFamily="18" charset="0"/>
                        </a:rPr>
                        <m:t>=</m:t>
                      </m:r>
                      <m:r>
                        <a:rPr lang="ar-DZ" sz="2800" b="0" i="0">
                          <a:latin typeface="Cambria Math" panose="02040503050406030204" pitchFamily="18" charset="0"/>
                        </a:rPr>
                        <m:t>4</m:t>
                      </m:r>
                      <m:r>
                        <a:rPr lang="ar-DZ" sz="2800" b="0" i="0">
                          <a:latin typeface="Cambria Math" panose="02040503050406030204" pitchFamily="18" charset="0"/>
                        </a:rPr>
                        <m:t>+</m:t>
                      </m:r>
                      <m:r>
                        <a:rPr lang="ar-DZ" sz="2800" b="0" i="0">
                          <a:latin typeface="Cambria Math" panose="02040503050406030204" pitchFamily="18" charset="0"/>
                        </a:rPr>
                        <m:t>4</m:t>
                      </m:r>
                      <m:r>
                        <a:rPr lang="ar-DZ" sz="2800" b="0" i="0">
                          <a:latin typeface="Cambria Math" panose="02040503050406030204" pitchFamily="18" charset="0"/>
                        </a:rPr>
                        <m:t>=</m:t>
                      </m:r>
                      <m:r>
                        <a:rPr lang="ar-DZ" sz="2800" b="0" i="0">
                          <a:latin typeface="Cambria Math" panose="02040503050406030204" pitchFamily="18" charset="0"/>
                        </a:rPr>
                        <m:t>8</m:t>
                      </m:r>
                      <m:r>
                        <m:rPr>
                          <m:nor/>
                        </m:rPr>
                        <a:rPr lang="ar-DZ" sz="2800" i="1">
                          <a:latin typeface="Times New Roman" panose="02020603050405020304" pitchFamily="18" charset="0"/>
                          <a:cs typeface="Times New Roman" panose="02020603050405020304" pitchFamily="18" charset="0"/>
                        </a:rPr>
                        <m:t> </m:t>
                      </m:r>
                      <m:r>
                        <a:rPr lang="ar-DZ" sz="2800" b="0" i="1">
                          <a:latin typeface="Cambria Math" panose="02040503050406030204" pitchFamily="18" charset="0"/>
                        </a:rPr>
                        <m:t>𝜇</m:t>
                      </m:r>
                      <m:r>
                        <m:rPr>
                          <m:nor/>
                        </m:rPr>
                        <a:rPr lang="en-US" sz="2800" i="1">
                          <a:latin typeface="Times New Roman" panose="02020603050405020304" pitchFamily="18" charset="0"/>
                          <a:cs typeface="Times New Roman" panose="02020603050405020304" pitchFamily="18" charset="0"/>
                        </a:rPr>
                        <m:t>F</m:t>
                      </m:r>
                      <m:r>
                        <a:rPr lang="en-US" sz="2800" b="0" i="0">
                          <a:latin typeface="Cambria Math" panose="02040503050406030204" pitchFamily="18" charset="0"/>
                        </a:rPr>
                        <m:t>.</m:t>
                      </m:r>
                    </m:oMath>
                  </m:oMathPara>
                </a14:m>
                <a:endParaRPr lang="en-US" sz="2800" dirty="0">
                  <a:latin typeface="Times New Roman" panose="02020603050405020304" pitchFamily="18" charset="0"/>
                  <a:cs typeface="Times New Roman" panose="02020603050405020304" pitchFamily="18" charset="0"/>
                </a:endParaRPr>
              </a:p>
              <a:p>
                <a:pPr algn="l">
                  <a:buNone/>
                </a:pPr>
                <a:r>
                  <a:rPr lang="en-US" sz="2800" dirty="0">
                    <a:latin typeface="Times New Roman" panose="02020603050405020304" pitchFamily="18" charset="0"/>
                    <a:cs typeface="Times New Roman" panose="02020603050405020304" pitchFamily="18" charset="0"/>
                  </a:rPr>
                  <a:t>D</a:t>
                </a:r>
                <a14:m>
                  <m:oMath xmlns:m="http://schemas.openxmlformats.org/officeDocument/2006/math">
                    <m:r>
                      <m:rPr>
                        <m:sty m:val="p"/>
                      </m:rPr>
                      <a:rPr lang="fr-FR" sz="2800" b="0" i="0" smtClean="0">
                        <a:latin typeface="Cambria Math" panose="02040503050406030204" pitchFamily="18" charset="0"/>
                      </a:rPr>
                      <m:t>onc</m:t>
                    </m:r>
                    <m:r>
                      <a:rPr lang="fr-FR" sz="2800" b="0" i="0" smtClean="0">
                        <a:latin typeface="Cambria Math" panose="02040503050406030204" pitchFamily="18" charset="0"/>
                      </a:rPr>
                      <m:t> :</m:t>
                    </m:r>
                  </m:oMath>
                </a14:m>
                <a:endParaRPr lang="fr-FR" sz="2800" i="0" dirty="0">
                  <a:latin typeface="Cambria Math" panose="02040503050406030204" pitchFamily="18" charset="0"/>
                </a:endParaRPr>
              </a:p>
              <a:p>
                <a:pPr algn="l">
                  <a:buNone/>
                </a:pPr>
                <a14:m>
                  <m:oMathPara xmlns:m="http://schemas.openxmlformats.org/officeDocument/2006/math">
                    <m:oMathParaPr>
                      <m:jc m:val="centerGroup"/>
                    </m:oMathParaPr>
                    <m:oMath xmlns:m="http://schemas.openxmlformats.org/officeDocument/2006/math">
                      <m:sSub>
                        <m:sSubPr>
                          <m:ctrlPr>
                            <a:rPr lang="ar-DZ" sz="3200" b="1" i="1" smtClean="0">
                              <a:solidFill>
                                <a:srgbClr val="FFFF00"/>
                              </a:solidFill>
                              <a:latin typeface="Cambria Math" panose="02040503050406030204" pitchFamily="18" charset="0"/>
                            </a:rPr>
                          </m:ctrlPr>
                        </m:sSubPr>
                        <m:e>
                          <m:r>
                            <a:rPr lang="ar-DZ" sz="3200" b="1" i="1">
                              <a:solidFill>
                                <a:srgbClr val="FFFF00"/>
                              </a:solidFill>
                              <a:latin typeface="Cambria Math" panose="02040503050406030204" pitchFamily="18" charset="0"/>
                            </a:rPr>
                            <m:t>𝑪</m:t>
                          </m:r>
                        </m:e>
                        <m:sub>
                          <m:r>
                            <m:rPr>
                              <m:nor/>
                            </m:rPr>
                            <a:rPr lang="en-US" sz="3200" b="1" i="1">
                              <a:solidFill>
                                <a:srgbClr val="FFFF00"/>
                              </a:solidFill>
                              <a:latin typeface="Times New Roman" panose="02020603050405020304" pitchFamily="18" charset="0"/>
                              <a:cs typeface="Times New Roman" panose="02020603050405020304" pitchFamily="18" charset="0"/>
                            </a:rPr>
                            <m:t>eq</m:t>
                          </m:r>
                          <m:r>
                            <m:rPr>
                              <m:nor/>
                            </m:rPr>
                            <a:rPr lang="en-US" sz="3200" b="1" i="1">
                              <a:solidFill>
                                <a:srgbClr val="FFFF00"/>
                              </a:solidFill>
                              <a:latin typeface="Times New Roman" panose="02020603050405020304" pitchFamily="18" charset="0"/>
                              <a:cs typeface="Times New Roman" panose="02020603050405020304" pitchFamily="18" charset="0"/>
                            </a:rPr>
                            <m:t>,</m:t>
                          </m:r>
                          <m:r>
                            <m:rPr>
                              <m:nor/>
                            </m:rPr>
                            <a:rPr lang="en-US" sz="3200" b="1" i="1">
                              <a:solidFill>
                                <a:srgbClr val="FFFF00"/>
                              </a:solidFill>
                              <a:latin typeface="Times New Roman" panose="02020603050405020304" pitchFamily="18" charset="0"/>
                              <a:cs typeface="Times New Roman" panose="02020603050405020304" pitchFamily="18" charset="0"/>
                            </a:rPr>
                            <m:t>total</m:t>
                          </m:r>
                        </m:sub>
                      </m:sSub>
                      <m:r>
                        <a:rPr lang="ar-DZ" sz="3200" b="1" i="0">
                          <a:solidFill>
                            <a:srgbClr val="FFFF00"/>
                          </a:solidFill>
                          <a:latin typeface="Cambria Math" panose="02040503050406030204" pitchFamily="18" charset="0"/>
                        </a:rPr>
                        <m:t>=</m:t>
                      </m:r>
                      <m:r>
                        <a:rPr lang="ar-DZ" sz="3200" b="1" i="0">
                          <a:solidFill>
                            <a:srgbClr val="FFFF00"/>
                          </a:solidFill>
                          <a:latin typeface="Cambria Math" panose="02040503050406030204" pitchFamily="18" charset="0"/>
                        </a:rPr>
                        <m:t>𝟖</m:t>
                      </m:r>
                      <m:r>
                        <m:rPr>
                          <m:nor/>
                        </m:rPr>
                        <a:rPr lang="ar-DZ" sz="3200" b="1" i="1">
                          <a:solidFill>
                            <a:srgbClr val="FFFF00"/>
                          </a:solidFill>
                          <a:latin typeface="Times New Roman" panose="02020603050405020304" pitchFamily="18" charset="0"/>
                          <a:cs typeface="Times New Roman" panose="02020603050405020304" pitchFamily="18" charset="0"/>
                        </a:rPr>
                        <m:t> </m:t>
                      </m:r>
                      <m:r>
                        <a:rPr lang="ar-DZ" sz="3200" b="1" i="1">
                          <a:solidFill>
                            <a:srgbClr val="FFFF00"/>
                          </a:solidFill>
                          <a:latin typeface="Cambria Math" panose="02040503050406030204" pitchFamily="18" charset="0"/>
                        </a:rPr>
                        <m:t>𝝁</m:t>
                      </m:r>
                      <m:r>
                        <m:rPr>
                          <m:nor/>
                        </m:rPr>
                        <a:rPr lang="en-US" sz="3200" b="1" i="1">
                          <a:solidFill>
                            <a:srgbClr val="FFFF00"/>
                          </a:solidFill>
                          <a:latin typeface="Times New Roman" panose="02020603050405020304" pitchFamily="18" charset="0"/>
                          <a:cs typeface="Times New Roman" panose="02020603050405020304" pitchFamily="18" charset="0"/>
                        </a:rPr>
                        <m:t>F</m:t>
                      </m:r>
                      <m:r>
                        <a:rPr lang="en-US" sz="3200" b="1" i="0">
                          <a:solidFill>
                            <a:srgbClr val="FFFF00"/>
                          </a:solidFill>
                          <a:latin typeface="Cambria Math" panose="02040503050406030204" pitchFamily="18" charset="0"/>
                        </a:rPr>
                        <m:t>.</m:t>
                      </m:r>
                    </m:oMath>
                  </m:oMathPara>
                </a14:m>
                <a:endParaRPr lang="en-US" sz="2400" b="1" dirty="0">
                  <a:solidFill>
                    <a:srgbClr val="FFFF00"/>
                  </a:solidFill>
                </a:endParaRPr>
              </a:p>
              <a:p>
                <a:endParaRPr lang="fr-FR" dirty="0"/>
              </a:p>
            </p:txBody>
          </p:sp>
        </mc:Choice>
        <mc:Fallback xmlns="">
          <p:sp>
            <p:nvSpPr>
              <p:cNvPr id="3" name="Espace réservé du texte 2">
                <a:extLst>
                  <a:ext uri="{FF2B5EF4-FFF2-40B4-BE49-F238E27FC236}">
                    <a16:creationId xmlns:a16="http://schemas.microsoft.com/office/drawing/2014/main" id="{5FD78356-A97E-5CED-68B6-75B695D05137}"/>
                  </a:ext>
                </a:extLst>
              </p:cNvPr>
              <p:cNvSpPr>
                <a:spLocks noGrp="1" noRot="1" noChangeAspect="1" noMove="1" noResize="1" noEditPoints="1" noAdjustHandles="1" noChangeArrowheads="1" noChangeShapeType="1" noTextEdit="1"/>
              </p:cNvSpPr>
              <p:nvPr>
                <p:ph type="body" idx="1"/>
              </p:nvPr>
            </p:nvSpPr>
            <p:spPr>
              <a:xfrm>
                <a:off x="0" y="0"/>
                <a:ext cx="12192000" cy="6858000"/>
              </a:xfrm>
              <a:blipFill>
                <a:blip r:embed="rId2"/>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3550411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1000"/>
                                        <p:tgtEl>
                                          <p:spTgt spid="3">
                                            <p:txEl>
                                              <p:pRg st="5" end="5"/>
                                            </p:txEl>
                                          </p:spTgt>
                                        </p:tgtEl>
                                      </p:cBhvr>
                                    </p:animEffect>
                                    <p:anim calcmode="lin" valueType="num">
                                      <p:cBhvr>
                                        <p:cTn id="3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1000"/>
                                        <p:tgtEl>
                                          <p:spTgt spid="3">
                                            <p:txEl>
                                              <p:pRg st="6" end="6"/>
                                            </p:txEl>
                                          </p:spTgt>
                                        </p:tgtEl>
                                      </p:cBhvr>
                                    </p:animEffect>
                                    <p:anim calcmode="lin" valueType="num">
                                      <p:cBhvr>
                                        <p:cTn id="3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1000"/>
                                        <p:tgtEl>
                                          <p:spTgt spid="3">
                                            <p:txEl>
                                              <p:pRg st="7" end="7"/>
                                            </p:txEl>
                                          </p:spTgt>
                                        </p:tgtEl>
                                      </p:cBhvr>
                                    </p:animEffect>
                                    <p:anim calcmode="lin" valueType="num">
                                      <p:cBhvr>
                                        <p:cTn id="4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fade">
                                      <p:cBhvr>
                                        <p:cTn id="50" dur="1000"/>
                                        <p:tgtEl>
                                          <p:spTgt spid="3">
                                            <p:txEl>
                                              <p:pRg st="8" end="8"/>
                                            </p:txEl>
                                          </p:spTgt>
                                        </p:tgtEl>
                                      </p:cBhvr>
                                    </p:animEffect>
                                    <p:anim calcmode="lin" valueType="num">
                                      <p:cBhvr>
                                        <p:cTn id="5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Effect transition="in" filter="fade">
                                      <p:cBhvr>
                                        <p:cTn id="55" dur="1000"/>
                                        <p:tgtEl>
                                          <p:spTgt spid="3">
                                            <p:txEl>
                                              <p:pRg st="9" end="9"/>
                                            </p:txEl>
                                          </p:spTgt>
                                        </p:tgtEl>
                                      </p:cBhvr>
                                    </p:animEffect>
                                    <p:anim calcmode="lin" valueType="num">
                                      <p:cBhvr>
                                        <p:cTn id="56"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a diffusion">
  <a:themeElements>
    <a:clrScheme name="Traînée de condensation">
      <a:dk1>
        <a:srgbClr val="000000"/>
      </a:dk1>
      <a:lt1>
        <a:srgbClr val="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14365</TotalTime>
  <Words>4869</Words>
  <Application>Microsoft Office PowerPoint</Application>
  <PresentationFormat>Grand écran</PresentationFormat>
  <Paragraphs>471</Paragraphs>
  <Slides>74</Slides>
  <Notes>2</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74</vt:i4>
      </vt:variant>
    </vt:vector>
  </HeadingPairs>
  <TitlesOfParts>
    <vt:vector size="87" baseType="lpstr">
      <vt:lpstr>Aptos</vt:lpstr>
      <vt:lpstr>Arial</vt:lpstr>
      <vt:lpstr>Calibri</vt:lpstr>
      <vt:lpstr>Cambria</vt:lpstr>
      <vt:lpstr>Cambria Math</vt:lpstr>
      <vt:lpstr>Century Gothic</vt:lpstr>
      <vt:lpstr>Google Sans Text</vt:lpstr>
      <vt:lpstr>Segoe UI</vt:lpstr>
      <vt:lpstr>Segoe UI Emoji</vt:lpstr>
      <vt:lpstr>Symbol</vt:lpstr>
      <vt:lpstr>Times New Roman</vt:lpstr>
      <vt:lpstr>Wingdings</vt:lpstr>
      <vt:lpstr>La diffusion</vt:lpstr>
      <vt:lpstr>Électrostatique →  👉 Electrostatics</vt:lpstr>
      <vt:lpstr>A. Loi de Coulomb, superposition des forces. B. Champ électrique et potentiel électrique. C. Dipôle électrique, moments dipolaires. D. Modélisation des membranes comme systèmes chargés. E. Conducteurs, isolants et condensateurs </vt:lpstr>
      <vt:lpstr>Course Outline</vt:lpstr>
      <vt:lpstr>Introduction</vt:lpstr>
      <vt:lpstr>Introdution</vt:lpstr>
      <vt:lpstr>A. Loi de coulomb 👉A. Coulomb's Law"</vt:lpstr>
      <vt:lpstr>- L’interaction électrique existe entre deux charges ponctuelles (q1 et q2 ). - Intensité de la force :   * Proportionnelle au produit des charges.   * Inversement proportionnelle au carré de la distance qui les sépare.</vt:lpstr>
      <vt:lpstr>👉 "Coulomb's Law 1. Qualitative Statement"</vt:lpstr>
      <vt:lpstr>A.Loi de Coulomb (2. Expression mathématique) 👉 "Coulomb's Law (2. Mathematical Expression)"</vt:lpstr>
      <vt:lpstr>Constante de Coulomb  👉 "Coulomb constant" </vt:lpstr>
      <vt:lpstr>La permittivité 👉 "Permittivity" 𝜀 =ε_r " " ε_0</vt:lpstr>
      <vt:lpstr>Loi de coulomb 👉 "Coulomb's Law </vt:lpstr>
      <vt:lpstr>Présentation PowerPoint</vt:lpstr>
      <vt:lpstr>3.La superposition des forces :  👉 Superposition of forces: </vt:lpstr>
      <vt:lpstr>          3.La superposition des forces 👉 The superposition of forces          Application :</vt:lpstr>
      <vt:lpstr>Présentation PowerPoint</vt:lpstr>
      <vt:lpstr>Présentation PowerPoint</vt:lpstr>
      <vt:lpstr>3.La superposition des forces 👉 The superposition of forces Application :</vt:lpstr>
      <vt:lpstr>Présentation PowerPoint</vt:lpstr>
      <vt:lpstr>Présentation PowerPoint</vt:lpstr>
      <vt:lpstr>Présentation PowerPoint</vt:lpstr>
      <vt:lpstr>Présentation PowerPoint</vt:lpstr>
      <vt:lpstr>Présentation PowerPoint</vt:lpstr>
      <vt:lpstr>B. Champ électrique et potentiel électrique. 👉Electric field and electric potential</vt:lpstr>
      <vt:lpstr>B.1. Le champ électrique 👉 Electric field (E ⃗ ) a. Definition </vt:lpstr>
      <vt:lpstr>b.Direction du champ électrique 👉 Direction of the electric field</vt:lpstr>
      <vt:lpstr>Présentation PowerPoint</vt:lpstr>
      <vt:lpstr> c. Les Lignes de Champ Électrique 👉Electric field line</vt:lpstr>
      <vt:lpstr>c. Les Lignes de Champ Électrique 👉Electric field line</vt:lpstr>
      <vt:lpstr>Présentation PowerPoint</vt:lpstr>
      <vt:lpstr>d. Champ uniforme.  👉 Uniform field</vt:lpstr>
      <vt:lpstr>e. Superposition des champs électriques 👉 Superposition of Electric Fields</vt:lpstr>
      <vt:lpstr>Présentation PowerPoint</vt:lpstr>
      <vt:lpstr>Présentation PowerPoint</vt:lpstr>
      <vt:lpstr>Présentation PowerPoint</vt:lpstr>
      <vt:lpstr>B.1 Le potentiel électrostatique V 👉 The Electrostatic Potential V</vt:lpstr>
      <vt:lpstr>  B.2 L’énergie potentielle 👉Potential Energy </vt:lpstr>
      <vt:lpstr>l’énergie potentielle 👉Potential Energy</vt:lpstr>
      <vt:lpstr>⚡Énergie potentielle pour plusieurs charges 👉 Potential Energy for Multiple Charges</vt:lpstr>
      <vt:lpstr>Relation entre le potentiel électrostatique et le champ électrique Relationship between electrostatic potential and electric field</vt:lpstr>
      <vt:lpstr>🧭 1. En coordonnées cartésiennes (x, y, z) 👉 Cartesian coordinates </vt:lpstr>
      <vt:lpstr>Présentation PowerPoint</vt:lpstr>
      <vt:lpstr>Présentation PowerPoint</vt:lpstr>
      <vt:lpstr>Présentation PowerPoint</vt:lpstr>
      <vt:lpstr>🌀 2. En coordonnées cylindriques (r, θ, z) 👉 cylindrical coordinate.</vt:lpstr>
      <vt:lpstr>🌍 3. En coordonnées sphériques (ρ, θ, φ) 👉 spherical coordinate.</vt:lpstr>
      <vt:lpstr>Présentation PowerPoint</vt:lpstr>
      <vt:lpstr>⚡ Potentiel électrique d’une charge ponctuelle 👉 "Electric potential of a point charge"</vt:lpstr>
      <vt:lpstr>⚡ Potentiel électrique d’une charge ponctuelle 🔹 Cas d’une charge ponctuelle unique :  **⚡ Electric potential of a point charge  🔹 Case of a single isolated point charge:** </vt:lpstr>
      <vt:lpstr>⚡ Potentiel électrique d’une charge ponctuelle 🔸 Cas d’un ensemble de Ncharges ponctuelles :  ⚡ Electric potential of a point charge 🔸 Case of a set of 𝑵 point charges</vt:lpstr>
      <vt:lpstr>Présentation PowerPoint</vt:lpstr>
      <vt:lpstr>Présentation PowerPoint</vt:lpstr>
      <vt:lpstr>⭐ Interprétation physique 👉 Physical Interpretation</vt:lpstr>
      <vt:lpstr>💬 Remarques Helpful Remarks.</vt:lpstr>
      <vt:lpstr>Flux du vecteur champ électrique 👉 Flux of the electric field vector”</vt:lpstr>
      <vt:lpstr>  Flux du vecteur champ électrique ⚖️ 2. Cas d’un champ uniforme </vt:lpstr>
      <vt:lpstr>⚡C – Le dipôle électrique 👉 The dipole  🧩 1. Définition </vt:lpstr>
      <vt:lpstr>⚖️C. 2. Moment dipolaire 👉 Dipole moment </vt:lpstr>
      <vt:lpstr> C-3. Potentiel créé en M par le dipôle ➡️ Potential at point M due to the dipole</vt:lpstr>
      <vt:lpstr>⚙️ C.4  Couple de forces exercé sur un dipôle dans un champ électrique</vt:lpstr>
      <vt:lpstr>💡C. 6. Énergie potentielle du dipôle dans un champ électrique </vt:lpstr>
      <vt:lpstr>D. Exemples et applications biologiques  👉 Biological Examples and Applications </vt:lpstr>
      <vt:lpstr>Conducteurs, isolants et condensateurs Conductors, Insulators, and Capacitors 1. Définitions générales</vt:lpstr>
      <vt:lpstr>E. Conducteurs, isolants et condensateurs 👉 Conductors, Insulators, and Capacitors</vt:lpstr>
      <vt:lpstr>Résumé simple :</vt:lpstr>
      <vt:lpstr>💡 3. Le condensateur The Capacitor</vt:lpstr>
      <vt:lpstr> </vt:lpstr>
      <vt:lpstr>4. Groupements de condensateurs </vt:lpstr>
      <vt:lpstr>4. Groupements de condensateurs </vt:lpstr>
      <vt:lpstr>⚡ Résumé rapide</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Halima Allouache</dc:creator>
  <cp:lastModifiedBy>Halima Allouache</cp:lastModifiedBy>
  <cp:revision>96</cp:revision>
  <dcterms:created xsi:type="dcterms:W3CDTF">2025-10-05T07:41:42Z</dcterms:created>
  <dcterms:modified xsi:type="dcterms:W3CDTF">2025-11-25T11:48:15Z</dcterms:modified>
</cp:coreProperties>
</file>