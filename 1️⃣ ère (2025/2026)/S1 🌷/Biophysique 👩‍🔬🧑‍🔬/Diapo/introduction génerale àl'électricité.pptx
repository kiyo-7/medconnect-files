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8"/>
  </p:notesMasterIdLst>
  <p:sldIdLst>
    <p:sldId id="256" r:id="rId2"/>
    <p:sldId id="297" r:id="rId3"/>
    <p:sldId id="317" r:id="rId4"/>
    <p:sldId id="333" r:id="rId5"/>
    <p:sldId id="283" r:id="rId6"/>
    <p:sldId id="296" r:id="rId7"/>
    <p:sldId id="258" r:id="rId8"/>
    <p:sldId id="298" r:id="rId9"/>
    <p:sldId id="284" r:id="rId10"/>
    <p:sldId id="299" r:id="rId11"/>
    <p:sldId id="288" r:id="rId12"/>
    <p:sldId id="300" r:id="rId13"/>
    <p:sldId id="294" r:id="rId14"/>
    <p:sldId id="301" r:id="rId15"/>
    <p:sldId id="289" r:id="rId16"/>
    <p:sldId id="302" r:id="rId17"/>
    <p:sldId id="290" r:id="rId18"/>
    <p:sldId id="303" r:id="rId19"/>
    <p:sldId id="291" r:id="rId20"/>
    <p:sldId id="334" r:id="rId21"/>
    <p:sldId id="304" r:id="rId22"/>
    <p:sldId id="292" r:id="rId23"/>
    <p:sldId id="305" r:id="rId24"/>
    <p:sldId id="281" r:id="rId25"/>
    <p:sldId id="306" r:id="rId26"/>
    <p:sldId id="285" r:id="rId27"/>
    <p:sldId id="307" r:id="rId28"/>
    <p:sldId id="259" r:id="rId29"/>
    <p:sldId id="308" r:id="rId30"/>
    <p:sldId id="260" r:id="rId31"/>
    <p:sldId id="309" r:id="rId32"/>
    <p:sldId id="286" r:id="rId33"/>
    <p:sldId id="310" r:id="rId34"/>
    <p:sldId id="270" r:id="rId35"/>
    <p:sldId id="311" r:id="rId36"/>
    <p:sldId id="268" r:id="rId37"/>
    <p:sldId id="312" r:id="rId38"/>
    <p:sldId id="279" r:id="rId39"/>
    <p:sldId id="313" r:id="rId40"/>
    <p:sldId id="276" r:id="rId41"/>
    <p:sldId id="314" r:id="rId42"/>
    <p:sldId id="278" r:id="rId43"/>
    <p:sldId id="315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9" r:id="rId52"/>
    <p:sldId id="282" r:id="rId53"/>
    <p:sldId id="272" r:id="rId54"/>
    <p:sldId id="335" r:id="rId55"/>
    <p:sldId id="277" r:id="rId56"/>
    <p:sldId id="316" r:id="rId5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59"/>
      <p:bold r:id="rId60"/>
      <p:italic r:id="rId61"/>
      <p:boldItalic r:id="rId62"/>
    </p:embeddedFont>
    <p:embeddedFont>
      <p:font typeface="Cambria Math" panose="02040503050406030204" pitchFamily="18" charset="0"/>
      <p:regular r:id="rId63"/>
    </p:embeddedFont>
    <p:embeddedFont>
      <p:font typeface="Century Gothic" panose="020B050202020202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DE46B7CC-07A5-4EB7-A0A2-9C2CC80E66F9}">
          <p14:sldIdLst>
            <p14:sldId id="256"/>
            <p14:sldId id="297"/>
            <p14:sldId id="317"/>
            <p14:sldId id="333"/>
            <p14:sldId id="283"/>
            <p14:sldId id="296"/>
            <p14:sldId id="258"/>
            <p14:sldId id="298"/>
            <p14:sldId id="284"/>
            <p14:sldId id="299"/>
            <p14:sldId id="288"/>
            <p14:sldId id="300"/>
            <p14:sldId id="294"/>
            <p14:sldId id="301"/>
            <p14:sldId id="289"/>
            <p14:sldId id="302"/>
            <p14:sldId id="290"/>
            <p14:sldId id="303"/>
            <p14:sldId id="291"/>
            <p14:sldId id="334"/>
            <p14:sldId id="304"/>
            <p14:sldId id="292"/>
            <p14:sldId id="305"/>
            <p14:sldId id="281"/>
            <p14:sldId id="306"/>
            <p14:sldId id="285"/>
            <p14:sldId id="307"/>
            <p14:sldId id="259"/>
            <p14:sldId id="308"/>
            <p14:sldId id="260"/>
            <p14:sldId id="309"/>
            <p14:sldId id="286"/>
            <p14:sldId id="310"/>
            <p14:sldId id="270"/>
            <p14:sldId id="311"/>
            <p14:sldId id="268"/>
            <p14:sldId id="312"/>
            <p14:sldId id="279"/>
            <p14:sldId id="313"/>
            <p14:sldId id="276"/>
            <p14:sldId id="314"/>
            <p14:sldId id="278"/>
            <p14:sldId id="315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82"/>
            <p14:sldId id="272"/>
            <p14:sldId id="335"/>
          </p14:sldIdLst>
        </p14:section>
        <p14:section name="Section sans titre" id="{6B166305-1155-4A63-9DF6-E8544E97907A}">
          <p14:sldIdLst>
            <p14:sldId id="277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78" d="100"/>
          <a:sy n="78" d="100"/>
        </p:scale>
        <p:origin x="96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58" name="Google Shape;1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64038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28700" y="1352554"/>
            <a:ext cx="7086600" cy="1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5932171" y="3235746"/>
            <a:ext cx="21831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1028700" y="3242884"/>
            <a:ext cx="4800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057900" y="10731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de sectio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514350" y="565150"/>
            <a:ext cx="8115300" cy="21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68350" y="2731294"/>
            <a:ext cx="78678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514350" y="285751"/>
            <a:ext cx="52437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2171700" y="571500"/>
            <a:ext cx="6457800" cy="9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85807" y="1637851"/>
            <a:ext cx="38100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514350" y="2349500"/>
            <a:ext cx="39837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800600" y="1637851"/>
            <a:ext cx="38289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0" y="2349500"/>
            <a:ext cx="40005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514350" y="1143000"/>
            <a:ext cx="30861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3746687" y="560069"/>
            <a:ext cx="4883100" cy="4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514350" y="2343149"/>
            <a:ext cx="3086100" cy="2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514350" y="1143000"/>
            <a:ext cx="51549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5895929" y="563431"/>
            <a:ext cx="2733600" cy="4100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DZ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514350" y="2343149"/>
            <a:ext cx="5154900" cy="2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et légende">
  <p:cSld name="Titre et légen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514350" y="565149"/>
            <a:ext cx="8115300" cy="21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768350" y="2736850"/>
            <a:ext cx="75978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514350" y="284956"/>
            <a:ext cx="524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itation avec légende">
  <p:cSld name="Citation avec légen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68350" y="565150"/>
            <a:ext cx="7613700" cy="19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977899" y="2524167"/>
            <a:ext cx="71946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768350" y="2969897"/>
            <a:ext cx="7613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ftr" idx="11"/>
          </p:nvPr>
        </p:nvSpPr>
        <p:spPr>
          <a:xfrm>
            <a:off x="514350" y="284956"/>
            <a:ext cx="524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357188" y="700088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fr" sz="6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100"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8238172" y="2025968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fr" sz="6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1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rte nom">
  <p:cSld name="Carte nom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768371" y="843526"/>
            <a:ext cx="7609500" cy="18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768350" y="2736236"/>
            <a:ext cx="76086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>
            <a:off x="5860839" y="284162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>
            <a:off x="514350" y="284162"/>
            <a:ext cx="524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 colonnes d’image">
  <p:cSld name="3 colonnes d’imag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2171700" y="571500"/>
            <a:ext cx="6457800" cy="9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516464" y="3143250"/>
            <a:ext cx="25887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2"/>
          </p:nvPr>
        </p:nvSpPr>
        <p:spPr>
          <a:xfrm>
            <a:off x="516464" y="1771650"/>
            <a:ext cx="2588700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38100" dist="38100" dir="5400000" algn="tl" rotWithShape="0">
              <a:srgbClr val="000000">
                <a:alpha val="42745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3"/>
          </p:nvPr>
        </p:nvSpPr>
        <p:spPr>
          <a:xfrm>
            <a:off x="516464" y="3655323"/>
            <a:ext cx="25887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4"/>
          </p:nvPr>
        </p:nvSpPr>
        <p:spPr>
          <a:xfrm>
            <a:off x="3280697" y="3143250"/>
            <a:ext cx="2586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9" name="Google Shape;119;p16"/>
          <p:cNvSpPr>
            <a:spLocks noGrp="1"/>
          </p:cNvSpPr>
          <p:nvPr>
            <p:ph type="pic" idx="5"/>
          </p:nvPr>
        </p:nvSpPr>
        <p:spPr>
          <a:xfrm>
            <a:off x="3280697" y="1771650"/>
            <a:ext cx="2586600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38100" dist="38100" dir="5400000" algn="tl" rotWithShape="0">
              <a:srgbClr val="000000">
                <a:alpha val="42745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6"/>
          </p:nvPr>
        </p:nvSpPr>
        <p:spPr>
          <a:xfrm>
            <a:off x="3280698" y="3655322"/>
            <a:ext cx="25866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7"/>
          </p:nvPr>
        </p:nvSpPr>
        <p:spPr>
          <a:xfrm>
            <a:off x="6037298" y="3143250"/>
            <a:ext cx="25923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2" name="Google Shape;122;p16"/>
          <p:cNvSpPr>
            <a:spLocks noGrp="1"/>
          </p:cNvSpPr>
          <p:nvPr>
            <p:ph type="pic" idx="8"/>
          </p:nvPr>
        </p:nvSpPr>
        <p:spPr>
          <a:xfrm>
            <a:off x="6037391" y="1771650"/>
            <a:ext cx="2586000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38100" dist="38100" dir="5400000" algn="tl" rotWithShape="0">
              <a:srgbClr val="000000">
                <a:alpha val="42745"/>
              </a:srgbClr>
            </a:outerShdw>
          </a:effectLst>
        </p:spPr>
        <p:txBody>
          <a:bodyPr/>
          <a:lstStyle/>
          <a:p>
            <a:endParaRPr lang="fr-DZ"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9"/>
          </p:nvPr>
        </p:nvSpPr>
        <p:spPr>
          <a:xfrm>
            <a:off x="6037298" y="3655321"/>
            <a:ext cx="25893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800" cy="9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3063000" y="-902731"/>
            <a:ext cx="3018000" cy="8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vertical et texte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C1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3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 rot="5400000">
            <a:off x="6394350" y="1250900"/>
            <a:ext cx="2927400" cy="15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 rot="5400000">
            <a:off x="2381150" y="-1054150"/>
            <a:ext cx="2927400" cy="61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dt" idx="10"/>
          </p:nvPr>
        </p:nvSpPr>
        <p:spPr>
          <a:xfrm>
            <a:off x="5860839" y="284956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8" name="Google Shape;138;p18"/>
          <p:cNvSpPr txBox="1">
            <a:spLocks noGrp="1"/>
          </p:cNvSpPr>
          <p:nvPr>
            <p:ph type="ftr" idx="11"/>
          </p:nvPr>
        </p:nvSpPr>
        <p:spPr>
          <a:xfrm>
            <a:off x="514350" y="285750"/>
            <a:ext cx="5243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. Texte et 2 contenus" type="txAndTwoObj">
  <p:cSld name="TEXT_AND_TWO_OBJECT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body" idx="3"/>
          </p:nvPr>
        </p:nvSpPr>
        <p:spPr>
          <a:xfrm>
            <a:off x="4648200" y="2953942"/>
            <a:ext cx="4038600" cy="16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  <p:sp>
        <p:nvSpPr>
          <p:cNvPr id="147" name="Google Shape;147;p19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. Contenu et 2 contenus" type="objAndTwoObj">
  <p:cSld name="OBJECT_AND_TWO_OBJECTS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457200" y="285750"/>
            <a:ext cx="82296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"/>
          </p:nvPr>
        </p:nvSpPr>
        <p:spPr>
          <a:xfrm>
            <a:off x="457200" y="1485900"/>
            <a:ext cx="4038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2"/>
          </p:nvPr>
        </p:nvSpPr>
        <p:spPr>
          <a:xfrm>
            <a:off x="4648200" y="1485900"/>
            <a:ext cx="40386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3"/>
          </p:nvPr>
        </p:nvSpPr>
        <p:spPr>
          <a:xfrm>
            <a:off x="4648200" y="3086100"/>
            <a:ext cx="40386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54" name="Google Shape;154;p20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1-HD-TOP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9144000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800" cy="9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sz="3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ctrTitle"/>
          </p:nvPr>
        </p:nvSpPr>
        <p:spPr>
          <a:xfrm>
            <a:off x="1028700" y="774879"/>
            <a:ext cx="7086600" cy="13689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Electricité et phénomène Bioélectrique</a:t>
            </a:r>
            <a:endParaRPr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1"/>
          </p:nvPr>
        </p:nvSpPr>
        <p:spPr>
          <a:xfrm>
            <a:off x="1028700" y="2571750"/>
            <a:ext cx="7086600" cy="1080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Première année de médecine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Faculté de médecine de constantine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148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M H.ALLOUACHE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0240B9-5751-2D50-D72A-C3F3B0B0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50" y="579664"/>
            <a:ext cx="8115300" cy="1409350"/>
          </a:xfrm>
        </p:spPr>
        <p:txBody>
          <a:bodyPr>
            <a:normAutofit/>
          </a:bodyPr>
          <a:lstStyle/>
          <a:p>
            <a:pPr algn="ctr"/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Electricity and Bioelectric Phenomenon</a:t>
            </a: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230E8F-55BD-E07C-E2A1-70E15F39A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850" y="2571750"/>
            <a:ext cx="8121800" cy="13018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First </a:t>
            </a:r>
            <a:r>
              <a:rPr kumimoji="0" lang="fr-FR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year</a:t>
            </a:r>
            <a:r>
              <a:rPr kumimoji="0" lang="fr-FR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of </a:t>
            </a:r>
            <a:r>
              <a:rPr kumimoji="0" lang="fr-FR" sz="15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medicine</a:t>
            </a:r>
            <a:endParaRPr kumimoji="0" lang="fr-FR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Faculty of Medicine of Constantine</a:t>
            </a:r>
            <a:endParaRPr kumimoji="0" lang="fr-FR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pPr marL="4114800" marR="0" lvl="0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                                M H.ALLOUACHE</a:t>
            </a: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61205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F9310-2759-CB25-50A4-5DD2FC857C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4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fr-FR" sz="53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I. Introduction générale et rappels de physique </a:t>
            </a:r>
            <a:endParaRPr lang="fr-FR" sz="53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3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8913-1ACC-7AB4-2D35-56F9B06B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F3E7BB-5F93-94C7-AF19-B7EF1B0A9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"I. General Introduction and Physics Review"</a:t>
            </a:r>
            <a:r>
              <a:rPr lang="fr-FR" sz="4800" b="1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fr-FR" sz="53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59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5A689C-9E9A-6EAD-A23A-32060A7B5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274" y="114306"/>
            <a:ext cx="7086600" cy="664025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I.Introduction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3F0598-6FCE-4F9F-A8C6-233ABF841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167" y="778332"/>
            <a:ext cx="7290707" cy="4071254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 n’est pas seulement une technique humaine elle existe partout dans la nature. </a:t>
            </a:r>
          </a:p>
          <a:p>
            <a:pPr marL="46355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foudre, une décharge électrostatique géante, et les aurores polaires, des lumières colorées dans le ciel.</a:t>
            </a:r>
          </a:p>
          <a:p>
            <a:pPr marL="120650" indent="0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indent="-342900">
              <a:buFont typeface="Wingdings" panose="05000000000000000000" pitchFamily="2" charset="2"/>
              <a:buChar char="Ø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>
              <a:buFont typeface="Wingdings" panose="05000000000000000000" pitchFamily="2" charset="2"/>
              <a:buChar char="Ø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Ton cerveau et tes muscles utilisent aussi de petits courants électriques biochimiques pour fonctionner.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82E6C6-B071-BDCA-CB21-21A73C06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322" y="2382918"/>
            <a:ext cx="2241097" cy="142164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6B37EF9-5ED4-1790-C60D-E21653EE9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264" y="2382918"/>
            <a:ext cx="2343150" cy="133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BA86A96-E07F-9E2C-BFA1-BBD921033CFE}"/>
              </a:ext>
            </a:extLst>
          </p:cNvPr>
          <p:cNvSpPr txBox="1">
            <a:spLocks/>
          </p:cNvSpPr>
          <p:nvPr/>
        </p:nvSpPr>
        <p:spPr>
          <a:xfrm>
            <a:off x="955221" y="0"/>
            <a:ext cx="7086600" cy="66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sz="3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I.Introduction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42E47980-17CC-EEDA-DD38-D823E70304DE}"/>
              </a:ext>
            </a:extLst>
          </p:cNvPr>
          <p:cNvSpPr txBox="1">
            <a:spLocks/>
          </p:cNvSpPr>
          <p:nvPr/>
        </p:nvSpPr>
        <p:spPr>
          <a:xfrm>
            <a:off x="130629" y="664025"/>
            <a:ext cx="8850085" cy="384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is not just a human technique; it exists everywhere in nature.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“Lightning, a massive electrostatic discharge, and the polar auroras, luminous emissions produced by charged particles in the upper atmosphere.”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 algn="l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 algn="l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 algn="l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indent="-342900" algn="l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brain and your muscles also use small biochemical electrical currents to function.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0572977-F393-FC82-9228-8F11BF92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32" y="2220732"/>
            <a:ext cx="2243522" cy="142049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94DD0B0-67D2-5CE0-BC90-9515EE09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95" y="2220732"/>
            <a:ext cx="2341067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6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F8DF34-DC84-94C5-EB7A-8FA5A2FB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64" y="310282"/>
            <a:ext cx="5151665" cy="506185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I.1.Historique </a:t>
            </a:r>
            <a:endParaRPr lang="fr-DZ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pour une image  4">
            <a:extLst>
              <a:ext uri="{FF2B5EF4-FFF2-40B4-BE49-F238E27FC236}">
                <a16:creationId xmlns:a16="http://schemas.microsoft.com/office/drawing/2014/main" id="{1F71CF82-F705-65F9-CE0F-FA01AC3D5C8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8500" r="8500"/>
          <a:stretch/>
        </p:blipFill>
        <p:spPr>
          <a:xfrm>
            <a:off x="6214336" y="-285711"/>
            <a:ext cx="2733600" cy="3633068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22C2B2-4B31-E7AE-2DCF-4A45EE5DF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735" y="816468"/>
            <a:ext cx="5804808" cy="30534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mot </a:t>
            </a: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électricité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vient du grec ancien </a:t>
            </a:r>
            <a:r>
              <a:rPr lang="fr-FR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ἤλεκτρον</a:t>
            </a:r>
            <a:r>
              <a:rPr lang="fr-FR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elektron</a:t>
            </a:r>
            <a:r>
              <a:rPr lang="fr-FR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signifie </a:t>
            </a:r>
            <a:r>
              <a:rPr lang="fr-F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L’ambre est une </a:t>
            </a:r>
            <a:r>
              <a:rPr lang="fr-F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résine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fossile produite par des arbres préhistoriques.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couleur jaunâtre à brun doré, parfois transparente.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D6E331C-B667-1491-FB90-ED59F2ED01DA}"/>
              </a:ext>
            </a:extLst>
          </p:cNvPr>
          <p:cNvSpPr txBox="1"/>
          <p:nvPr/>
        </p:nvSpPr>
        <p:spPr>
          <a:xfrm>
            <a:off x="334735" y="3879562"/>
            <a:ext cx="8311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228600">
              <a:spcBef>
                <a:spcPts val="800"/>
              </a:spcBef>
              <a:buClr>
                <a:srgbClr val="FFFFFF"/>
              </a:buClr>
              <a:buSzPts val="1200"/>
              <a:defRPr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 L’ambre n’est pas un minéral, mais une substance organique durcie au fil du temps.»</a:t>
            </a:r>
            <a:endParaRPr kumimoji="0" lang="fr-DZ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8814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5B968E-9492-B4E1-588D-E8396933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690" y="365251"/>
            <a:ext cx="5154900" cy="653143"/>
          </a:xfrm>
        </p:spPr>
        <p:txBody>
          <a:bodyPr/>
          <a:lstStyle/>
          <a:p>
            <a:pPr algn="ctr"/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I.1.Background</a:t>
            </a:r>
            <a:endParaRPr lang="fr-DZ" dirty="0"/>
          </a:p>
        </p:txBody>
      </p:sp>
      <p:pic>
        <p:nvPicPr>
          <p:cNvPr id="5" name="Espace réservé pour une image  4">
            <a:extLst>
              <a:ext uri="{FF2B5EF4-FFF2-40B4-BE49-F238E27FC236}">
                <a16:creationId xmlns:a16="http://schemas.microsoft.com/office/drawing/2014/main" id="{9981C7A1-E975-2F22-89BF-5F5A06FE1AD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37" r="3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E3EBFC-E9B1-9E0F-73E8-ABE93BAB7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018394"/>
            <a:ext cx="5154900" cy="3823027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electricity comes from the ancient Greek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ηλϵκτρoν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means amber.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Amber is a fossil resin from prehistoric trees, yellowish or golden-brown, sometimes transparent.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Amber is not a mineral, but an organic material that has hardened over time, often over millions of years.</a:t>
            </a:r>
            <a:endParaRPr lang="fr-D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92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0773B-4182-94FF-F82D-CF61C1A00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293915"/>
            <a:ext cx="7086600" cy="767443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I.2.Pour quoi l’ambre ?</a:t>
            </a:r>
            <a:endParaRPr lang="fr-DZ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B182A40-0E34-7F15-F5D2-24A2BBB44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364" y="1061358"/>
            <a:ext cx="8172450" cy="3249386"/>
          </a:xfrm>
        </p:spPr>
        <p:txBody>
          <a:bodyPr>
            <a:normAutofit fontScale="92500"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		Philosophe 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Thalès de Milet 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(VIᵉ siècle 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av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. J.-C) avait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observé: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qu’un morceau d’ambre </a:t>
            </a: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highlight>
                  <a:srgbClr val="FF00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frotté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attirait des brins de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paille ou des plumes. 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endParaRPr kumimoji="0" lang="fr-FR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5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8C7B-AC6D-2DCF-529C-DF04C8D7B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5F472-D68F-E5FE-C2E7-722DCD1D2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547007"/>
            <a:ext cx="7086600" cy="76744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I.2.Why amber ?</a:t>
            </a:r>
            <a:endParaRPr lang="fr-DZ" sz="4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5A8396-147C-CB27-46E5-28439CF9D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108" y="1436915"/>
            <a:ext cx="8760278" cy="3249386"/>
          </a:xfrm>
        </p:spPr>
        <p:txBody>
          <a:bodyPr>
            <a:norm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The p</a:t>
            </a:r>
            <a:r>
              <a:rPr kumimoji="0" lang="fr-F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hilosopher</a:t>
            </a: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Thales of </a:t>
            </a:r>
            <a:r>
              <a:rPr kumimoji="0" lang="fr-FR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Miletus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(6th century BC)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had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  <a:r>
              <a:rPr kumimoji="0" lang="fr-F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observed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that a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rubbed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piece of amber attracted</a:t>
            </a: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pieces of straw or feathers.</a:t>
            </a:r>
            <a:endParaRPr kumimoji="0" lang="fr-FR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endParaRPr kumimoji="0" lang="fr-FR" sz="1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58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C6E0FA-36DE-58F2-21EB-D791E47F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9" y="400050"/>
            <a:ext cx="7037615" cy="664024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C</a:t>
            </a:r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omment ça marche ?</a:t>
            </a:r>
            <a:endParaRPr lang="fr-DZ" dirty="0">
              <a:solidFill>
                <a:srgbClr val="FFC00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0229BD-E845-095B-3E4F-8FAE73D03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" y="1126672"/>
            <a:ext cx="8033657" cy="3380014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 on frotte deux matériaux différents (par exemple un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ballon contre les cheveux, ou une règle en plastique sur un pull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laine), des électrons passent d’un matériau à l’autre.</a:t>
            </a:r>
          </a:p>
          <a:p>
            <a:r>
              <a:rPr lang="fr-FR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L’un gagne des électrons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il devient chargé</a:t>
            </a:r>
            <a:r>
              <a:rPr lang="fr-FR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négativement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L’autre perd des électrons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il devient chargé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positivement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DZ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724C18-852B-627C-2455-5EAC1E31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3" y="3471858"/>
            <a:ext cx="3004457" cy="24669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72745D3-7EF0-E833-C9CF-5327964C0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3005"/>
            <a:ext cx="2579914" cy="236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8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7EAD-FA66-97C5-7B01-E808183F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0F8BB-48C2-A64A-07EC-E62BE1C1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9" y="375558"/>
            <a:ext cx="7086600" cy="653142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</a:t>
            </a:r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fr-FR" sz="4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fr-FR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fr-DZ" dirty="0">
              <a:solidFill>
                <a:srgbClr val="FFC000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C8F3FE7-4540-F069-D0B4-8E2642A4F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" y="1126672"/>
            <a:ext cx="8033657" cy="338001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different materials are rubbed together (for example, a balloon against hair, or a plastic ruler on a wool sweater), electrons pass from one material to the other.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gains electrons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it becomes </a:t>
            </a:r>
            <a:r>
              <a:rPr lang="en-US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charged.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other one loses electrons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it becomes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charged.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DZ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D60253-CB56-6933-DD04-0BC272D6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3" y="3471858"/>
            <a:ext cx="3004457" cy="24669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E383686-7237-219B-5AEA-E8DE5C95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3005"/>
            <a:ext cx="2579914" cy="236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0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3F439-9229-F4C5-9D74-CF3DEB5D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64" y="571500"/>
            <a:ext cx="8113036" cy="971700"/>
          </a:xfrm>
        </p:spPr>
        <p:txBody>
          <a:bodyPr/>
          <a:lstStyle/>
          <a:p>
            <a:pPr algn="ctr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I.4.Expériences et jeux d’enfants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Espace réservé pour une image  12">
            <a:extLst>
              <a:ext uri="{FF2B5EF4-FFF2-40B4-BE49-F238E27FC236}">
                <a16:creationId xmlns:a16="http://schemas.microsoft.com/office/drawing/2014/main" id="{803FAED3-687F-F18C-691D-22CB91529A32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2"/>
          <a:srcRect l="3003" r="3003"/>
          <a:stretch>
            <a:fillRect/>
          </a:stretch>
        </p:blipFill>
        <p:spPr>
          <a:xfrm>
            <a:off x="3202378" y="1751989"/>
            <a:ext cx="2586600" cy="147816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1615F36-59DD-DBC1-1529-0EF651E8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64" y="1751990"/>
            <a:ext cx="2569204" cy="1478166"/>
          </a:xfrm>
          <a:prstGeom prst="rect">
            <a:avLst/>
          </a:prstGeom>
        </p:spPr>
      </p:pic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C935920C-8958-FE44-E2BC-8C1B738FB789}"/>
              </a:ext>
            </a:extLst>
          </p:cNvPr>
          <p:cNvSpPr>
            <a:spLocks noGrp="1"/>
          </p:cNvSpPr>
          <p:nvPr>
            <p:ph type="pic" idx="8"/>
          </p:nvPr>
        </p:nvSpPr>
        <p:spPr/>
        <p:txBody>
          <a:bodyPr/>
          <a:lstStyle/>
          <a:p>
            <a:endParaRPr lang="fr-DZ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1F5853-37CA-A16E-A116-E69920DA3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298" y="1747157"/>
            <a:ext cx="2586000" cy="147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3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846F4-FCAE-5F84-23EF-3332EE21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8A5412-CA87-1EAA-C183-27646E8E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464" y="571500"/>
            <a:ext cx="8113036" cy="971700"/>
          </a:xfrm>
        </p:spPr>
        <p:txBody>
          <a:bodyPr/>
          <a:lstStyle/>
          <a:p>
            <a:pPr algn="ctr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I.4 </a:t>
            </a:r>
            <a:r>
              <a:rPr lang="fr-FR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Children's</a:t>
            </a:r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games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Espace réservé pour une image  12">
            <a:extLst>
              <a:ext uri="{FF2B5EF4-FFF2-40B4-BE49-F238E27FC236}">
                <a16:creationId xmlns:a16="http://schemas.microsoft.com/office/drawing/2014/main" id="{49C63411-081E-BE28-6DD3-98B477DBC741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2"/>
          <a:srcRect l="3003" r="3003"/>
          <a:stretch>
            <a:fillRect/>
          </a:stretch>
        </p:blipFill>
        <p:spPr>
          <a:xfrm>
            <a:off x="3202378" y="1751989"/>
            <a:ext cx="2586600" cy="147816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3E512C7-6CB2-3061-100A-A1B6CE051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64" y="1751990"/>
            <a:ext cx="2569204" cy="1478166"/>
          </a:xfrm>
          <a:prstGeom prst="rect">
            <a:avLst/>
          </a:prstGeom>
        </p:spPr>
      </p:pic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BC8D37FE-6143-A994-BA5A-466C5AD8BF8D}"/>
              </a:ext>
            </a:extLst>
          </p:cNvPr>
          <p:cNvSpPr>
            <a:spLocks noGrp="1"/>
          </p:cNvSpPr>
          <p:nvPr>
            <p:ph type="pic" idx="8"/>
          </p:nvPr>
        </p:nvSpPr>
        <p:spPr/>
        <p:txBody>
          <a:bodyPr/>
          <a:lstStyle/>
          <a:p>
            <a:endParaRPr lang="fr-DZ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B9D5B97-A850-8E41-E965-862CD8FE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298" y="1747157"/>
            <a:ext cx="2586000" cy="147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91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DB253-D9CC-DA13-734B-269F84BF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586014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</a:t>
            </a:r>
            <a:endParaRPr lang="fr-DZ" sz="4000" b="1" dirty="0">
              <a:solidFill>
                <a:srgbClr val="FFC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EB18D6-8510-7ED6-404D-0E42D87FD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543049"/>
            <a:ext cx="7867800" cy="2253343"/>
          </a:xfrm>
        </p:spPr>
        <p:txBody>
          <a:bodyPr/>
          <a:lstStyle/>
          <a:p>
            <a:pPr marL="457200" marR="0" lvl="0" indent="-336550" algn="ctr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lang="fr-FR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es objets se chargent électriquement et peuvent</a:t>
            </a:r>
          </a:p>
          <a:p>
            <a:pPr marL="457200" marR="0" lvl="0" indent="-33655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attirer de petits corps légers (papiers, poussières,</a:t>
            </a:r>
          </a:p>
          <a:p>
            <a:pPr marL="457200" marR="0" lvl="0" indent="-33655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cheveux dressés…).</a:t>
            </a: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662879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B46F-2B4F-4E9B-D323-4500FECE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0D042-452E-2804-7A32-EC6C525A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586014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fr-DZ" sz="4000" b="1" dirty="0">
              <a:solidFill>
                <a:srgbClr val="FFC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E5BBE3-2E37-D0C0-9786-23D38991F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543049"/>
            <a:ext cx="7867800" cy="225334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become electrically charged and can attract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small, light bodies (papers, dust, hair standing up...).</a:t>
            </a:r>
            <a:endParaRPr lang="fr-D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964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BE1D4F-DAE9-A883-5819-1F218BE8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92075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Limites</a:t>
            </a:r>
            <a:b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DZ" sz="3200" dirty="0">
              <a:solidFill>
                <a:srgbClr val="FFC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C70280-A4B0-28EC-FBC3-CADF7D69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1" y="1175657"/>
            <a:ext cx="8477098" cy="3118757"/>
          </a:xfrm>
        </p:spPr>
        <p:txBody>
          <a:bodyPr>
            <a:normAutofit/>
          </a:bodyPr>
          <a:lstStyle/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méthode permet d’</a:t>
            </a:r>
            <a:r>
              <a:rPr lang="fr-FR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accumuler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charges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mais pas</a:t>
            </a:r>
          </a:p>
          <a:p>
            <a:pPr marL="228600" indent="0" algn="l"/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produire un courant électrique continu exploitable (comme pour alimenter une lampe).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charges électriques s’accumulent localement jusqu’à atteindre un seuil, puis elles se déchargent soudainement.</a:t>
            </a: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 une étincelle en touchant une poignée de porte en </a:t>
            </a:r>
            <a:r>
              <a:rPr lang="fr-FR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hiver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943789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C872-6189-4F89-A55A-B70E8067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37C3D-1C5A-1844-F770-7E0258A6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920750"/>
          </a:xfrm>
        </p:spPr>
        <p:txBody>
          <a:bodyPr>
            <a:no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  <a:b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DZ" sz="3200" dirty="0">
              <a:solidFill>
                <a:srgbClr val="FFC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F5DD8D-5116-51B3-2CF5-9462C2D14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451" y="1350917"/>
            <a:ext cx="8477098" cy="3118757"/>
          </a:xfrm>
        </p:spPr>
        <p:txBody>
          <a:bodyPr>
            <a:normAutofit/>
          </a:bodyPr>
          <a:lstStyle/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makes it possible to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not to produce a usable continuous electric current (like for powering a lamp).</a:t>
            </a:r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 algn="l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charges accumulate locally and then discharge suddenly.</a:t>
            </a:r>
          </a:p>
          <a:p>
            <a:pPr marL="228600" indent="0"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Example: a spark when touching a doorknob in winter.</a:t>
            </a:r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351222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487810-9521-B61E-8ED6-381255A67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18407"/>
            <a:ext cx="7086600" cy="72662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Applications </a:t>
            </a:r>
            <a:b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II.1.Applications modernes :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C9C07D-040A-1337-DD2C-CE1730611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134836"/>
            <a:ext cx="8874579" cy="36086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Aujourd’hui, la triboélectricité inspire les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nanogénérateurs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Triboélectricité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d’électricité par frottement ou contact 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matériaux. </a:t>
            </a:r>
          </a:p>
          <a:p>
            <a:pPr>
              <a:lnSpc>
                <a:spcPct val="100000"/>
              </a:lnSpc>
            </a:pP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Nanogénérateurs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convertissent de petits mouvements (marche,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vibrations, contacts) en électricité. </a:t>
            </a:r>
          </a:p>
          <a:p>
            <a:pPr>
              <a:lnSpc>
                <a:spcPct val="100000"/>
              </a:lnSpc>
            </a:pP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Utilité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alimenter de petits capteurs ou appareils autonomes.</a:t>
            </a:r>
          </a:p>
          <a:p>
            <a:pPr>
              <a:lnSpc>
                <a:spcPct val="100000"/>
              </a:lnSpc>
            </a:pP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récupérer l’énergie quotidienne perdue grâce aux</a:t>
            </a:r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énergies renouvelables portables et autonomes (zéro gaspillage)</a:t>
            </a:r>
          </a:p>
          <a:p>
            <a:pPr>
              <a:lnSpc>
                <a:spcPct val="10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89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2DD65DD-6350-DAEB-7DD0-19B7BA9F4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43" y="971550"/>
            <a:ext cx="6890657" cy="41719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BB4BF25-ECDF-7642-B09E-8A6491B5503A}"/>
              </a:ext>
            </a:extLst>
          </p:cNvPr>
          <p:cNvSpPr txBox="1"/>
          <p:nvPr/>
        </p:nvSpPr>
        <p:spPr>
          <a:xfrm>
            <a:off x="0" y="204107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i="0" dirty="0">
                <a:solidFill>
                  <a:srgbClr val="F9FAFB"/>
                </a:solidFill>
                <a:effectLst/>
                <a:latin typeface="quote-cjk-patch"/>
              </a:rPr>
              <a:t>"</a:t>
            </a:r>
            <a:r>
              <a:rPr lang="fr-FR" sz="200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Imaginez un monde où votre simple mouvement assure cette récupération d’énergie quotidienne, sans jamais avoir à brancher votre téléphone."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491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9CBA-AEA4-153E-B20E-A9F69C23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A972C2-A3C6-9205-575D-13410700E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18407"/>
            <a:ext cx="7086600" cy="726622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II.1.Modern applications :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A00147-29CA-E365-236D-DC4BEFCE9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121" y="1216479"/>
            <a:ext cx="8899072" cy="3608614"/>
          </a:xfrm>
        </p:spPr>
        <p:txBody>
          <a:bodyPr>
            <a:norm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Today, triboelectricity is inspiring the development of nanogenerators.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4C7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Triboelectricity: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electricity generated through friction or contact between materials.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4C7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Nanogenerators: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devices that convert small movements—such as walking, vibrations, or simple contacts—into electrical energy.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4C7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Applications: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powering small sensors or autonomous devices.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84C7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Outlook: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harvesting everyday wasted energy using portable, self-sufficient renewable energy systems, aiming for zero waste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477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2B226D-3963-56F9-3FA9-F1234511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5778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II.1.Triboélectriques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(TENG)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F3E741-3FA3-4729-3FE5-0D95EB1AF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57301"/>
            <a:ext cx="8178950" cy="2498272"/>
          </a:xfrm>
        </p:spPr>
        <p:txBody>
          <a:bodyPr>
            <a:normAutofit fontScale="92500"/>
          </a:bodyPr>
          <a:lstStyle/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ribo-</a:t>
            </a:r>
            <a:r>
              <a:rPr lang="fr-FR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lectric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ano-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enerators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sont des dispositifs</a:t>
            </a:r>
          </a:p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modernes qui utilisent l’effet </a:t>
            </a:r>
            <a:r>
              <a:rPr lang="fr-FR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triboélectrique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lang="fr-F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convertir</a:t>
            </a:r>
          </a:p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4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énergie mécanique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frottements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pressions, vibrations) en</a:t>
            </a:r>
          </a:p>
          <a:p>
            <a:pPr algn="l">
              <a:lnSpc>
                <a:spcPct val="150000"/>
              </a:lnSpc>
            </a:pPr>
            <a:r>
              <a:rPr lang="fr-FR" sz="2400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électricité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55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A161-2030-61E6-7639-E7E4092F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9FC84-4E48-32E9-C52C-46E7FA6A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5778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II.1.Triboelectric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(TENG)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FC9ADD-A577-0777-7E57-E6DD295BE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57301"/>
            <a:ext cx="8178950" cy="249827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ribo-</a:t>
            </a:r>
            <a:r>
              <a:rPr lang="fr-FR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lectric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ano-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enerators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modern devices that use the 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triboelectric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to convert </a:t>
            </a:r>
            <a:r>
              <a:rPr lang="en-US" sz="24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energy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pressure, vibrations) into 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3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655629-4735-2977-E756-1806335E9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63584"/>
            <a:ext cx="7086600" cy="757646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.1.</a:t>
            </a:r>
            <a:endParaRPr lang="fr-DZ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A0733E-4597-56E9-CF77-BF3FB8E21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993" y="1583325"/>
            <a:ext cx="8403227" cy="3196591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L’électricité, c’est tout simplement le jeu des charges électriques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mouvement ou au repos.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naît du comportement de particules minuscules appelées :</a:t>
            </a:r>
          </a:p>
          <a:p>
            <a:pPr marL="463550" indent="-342900" algn="just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(charges négatives) </a:t>
            </a:r>
          </a:p>
          <a:p>
            <a:pPr marL="463550" indent="-342900" algn="just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(charges positives dans le noyau).</a:t>
            </a: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084166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399A-3505-664B-6FD7-978621ACA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C3977-ECD8-F0ED-F935-5D1F12127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63584"/>
            <a:ext cx="7086600" cy="757646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Conclusion.1.</a:t>
            </a:r>
            <a:endParaRPr lang="fr-DZ" sz="3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F5563E-9573-EEE8-C22A-4559A3926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994" y="1583325"/>
            <a:ext cx="8038012" cy="319659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is simply the movement or rest of electric charges.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arises from the behavior of tiny particles called:</a:t>
            </a:r>
          </a:p>
          <a:p>
            <a:pPr marL="46355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(negative charges)</a:t>
            </a:r>
          </a:p>
          <a:p>
            <a:pPr marL="46355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Protons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(positive charges in the nucleus)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430469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EE354-F9BC-6050-CF38-6783E401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75557"/>
            <a:ext cx="8115300" cy="130628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.2.</a:t>
            </a:r>
            <a:br>
              <a:rPr lang="fr-FR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 grands visages de l’électricité :</a:t>
            </a:r>
            <a:br>
              <a:rPr lang="fr-FR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7F83FA-A855-3E0C-8F3C-6D58893B3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681842"/>
            <a:ext cx="7867800" cy="3224893"/>
          </a:xfrm>
        </p:spPr>
        <p:txBody>
          <a:bodyPr>
            <a:norm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Électricité statique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: 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quand les charges s’accumulent sans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bouger, comme quand tes cheveux se dressent après avoir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frotté un ballon.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Électricité dynamique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: 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quand les charges circulent dans un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conducteur, comme dans un fil en cuivre relié à une pile ou</a:t>
            </a:r>
          </a:p>
          <a:p>
            <a:pPr marL="457200" marR="0" lvl="0" indent="-33655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une prise. Là, on parle de </a:t>
            </a: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courant électrique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.</a:t>
            </a: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26808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4FF50-0198-BAA2-F244-FA539903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2B469-0E0E-9777-D608-1897C7EA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75557"/>
            <a:ext cx="8115300" cy="1306285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Major Faces of Electricity:</a:t>
            </a:r>
            <a:br>
              <a:rPr lang="fr-FR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853063-ABEA-735F-4522-185FCF1FE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681842"/>
            <a:ext cx="7867800" cy="3224893"/>
          </a:xfrm>
        </p:spPr>
        <p:txBody>
          <a:bodyPr>
            <a:normAutofit/>
          </a:bodyPr>
          <a:lstStyle/>
          <a:p>
            <a:pPr marL="457200" marR="0" lvl="0" indent="-33655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Static Electricity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: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When charges accumulate without moving, like when your hair stands up after rubbing a balloon.</a:t>
            </a:r>
          </a:p>
          <a:p>
            <a:pPr marL="457200" marR="0" lvl="0" indent="-33655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Dynamic Electricity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: When charges flow through a conductor, like in a copper wire connected to a battery or an outlet. That's when we talk about electric current.</a:t>
            </a:r>
            <a:endParaRPr lang="fr-D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48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F70E63-4CB1-DCF1-0039-A891D4618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67393"/>
            <a:ext cx="7086600" cy="8436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/>
              <a:t> </a:t>
            </a:r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</a:t>
            </a:r>
            <a:r>
              <a:rPr lang="fr-FR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 dans le vivant </a:t>
            </a:r>
            <a:endParaRPr lang="fr-DZ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4B0D251-0C2D-DBCE-DA14-D59A83D1A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1379764"/>
            <a:ext cx="7749540" cy="3396343"/>
          </a:xfrm>
        </p:spPr>
        <p:txBody>
          <a:bodyPr>
            <a:norm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 est une interaction fondamentale de la nature, au même titre que la gravité.</a:t>
            </a:r>
          </a:p>
          <a:p>
            <a:pPr marL="463550" indent="-342900"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vie quotidienne : éclairage, moteurs, électronique.</a:t>
            </a:r>
          </a:p>
          <a:p>
            <a:pPr marL="463550" indent="-342900"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vivant :</a:t>
            </a: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Nerfs → influx électriques.</a:t>
            </a: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Muscles → contraction grâce à des courants ioniques.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Cœur → battements rythmés par une activité électrique interne.</a:t>
            </a:r>
          </a:p>
        </p:txBody>
      </p:sp>
    </p:spTree>
    <p:extLst>
      <p:ext uri="{BB962C8B-B14F-4D97-AF65-F5344CB8AC3E}">
        <p14:creationId xmlns:p14="http://schemas.microsoft.com/office/powerpoint/2010/main" val="3573700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823F-C2A6-DC3D-7444-16E7D552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648476-1373-686D-0F6B-990E5CEBF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367393"/>
            <a:ext cx="7086600" cy="843639"/>
          </a:xfrm>
        </p:spPr>
        <p:txBody>
          <a:bodyPr>
            <a:normAutofit/>
          </a:bodyPr>
          <a:lstStyle/>
          <a:p>
            <a:pPr algn="ctr"/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 </a:t>
            </a:r>
            <a:r>
              <a:rPr lang="fr-FR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living</a:t>
            </a:r>
            <a:endParaRPr lang="fr-DZ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A6727D-C92C-FB59-ADC0-07DAF9A04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379764"/>
            <a:ext cx="7086600" cy="339634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is a fundamental interaction of nature, just like gravity.</a:t>
            </a:r>
          </a:p>
          <a:p>
            <a:pPr marL="46355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daily life: lighting, motors, electronics.</a:t>
            </a:r>
          </a:p>
          <a:p>
            <a:pPr marL="46355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living things (the biological world):</a:t>
            </a: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Nerves → electrical impulses.</a:t>
            </a: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Muscles → contraction thanks to ionic currents.</a:t>
            </a:r>
          </a:p>
          <a:p>
            <a:pPr marL="920750" lvl="1" indent="-342900" algn="l">
              <a:buSzPct val="68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→ beats (or: its rhythm is) determined by internal electrical activity.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40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FC975-8586-0DE1-B2D8-BECE95C8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8636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II.2.</a:t>
            </a:r>
            <a:r>
              <a:rPr lang="fr-FR" b="1" noProof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dans le vivant 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A90F01-E255-E13F-599B-8293B0D0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494064"/>
            <a:ext cx="7861300" cy="3290207"/>
          </a:xfrm>
        </p:spPr>
        <p:txBody>
          <a:bodyPr>
            <a:normAutofit/>
          </a:bodyPr>
          <a:lstStyle/>
          <a:p>
            <a:pPr algn="l"/>
            <a:r>
              <a:rPr lang="fr-FR" sz="2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A.Exemple</a:t>
            </a: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historique </a:t>
            </a:r>
            <a:r>
              <a:rPr lang="fr-FR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Luigi Galvani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(1780)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découvre la bioélectricité en observant</a:t>
            </a:r>
          </a:p>
          <a:p>
            <a:pPr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contraction d’une patte de grenouille sous l’effet d’une</a:t>
            </a:r>
          </a:p>
          <a:p>
            <a:pPr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étincelle électrique → naissance de l’électrophysiologie</a:t>
            </a:r>
            <a:r>
              <a:rPr lang="fr-FR" sz="2400" dirty="0"/>
              <a:t>.</a:t>
            </a:r>
            <a:endParaRPr lang="fr-DZ" sz="2400" dirty="0"/>
          </a:p>
        </p:txBody>
      </p:sp>
    </p:spTree>
    <p:extLst>
      <p:ext uri="{BB962C8B-B14F-4D97-AF65-F5344CB8AC3E}">
        <p14:creationId xmlns:p14="http://schemas.microsoft.com/office/powerpoint/2010/main" val="2698262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F40E-052B-4669-2685-10C47692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3A42C-CA82-D1C3-7D9D-1AD4ABAD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8636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 Electricity in the living 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4BABAD-9B19-CB10-08D7-C4A996ED9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494064"/>
            <a:ext cx="7861300" cy="3290207"/>
          </a:xfrm>
        </p:spPr>
        <p:txBody>
          <a:bodyPr>
            <a:normAutofit/>
          </a:bodyPr>
          <a:lstStyle/>
          <a:p>
            <a:pPr algn="l"/>
            <a:r>
              <a:rPr lang="fr-FR" sz="2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A.Historical</a:t>
            </a: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Luigi Galvani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(1780)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discovered bioelectricity by observing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contraction of a frog's leg under the effect of an electric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→ birth of electrophysiology.</a:t>
            </a:r>
            <a:endParaRPr lang="fr-DZ" sz="2400" dirty="0"/>
          </a:p>
        </p:txBody>
      </p:sp>
    </p:spTree>
    <p:extLst>
      <p:ext uri="{BB962C8B-B14F-4D97-AF65-F5344CB8AC3E}">
        <p14:creationId xmlns:p14="http://schemas.microsoft.com/office/powerpoint/2010/main" val="105733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D05C4-C208-79B6-4E13-F6754A0CF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993" y="163287"/>
            <a:ext cx="8115300" cy="716700"/>
          </a:xfrm>
        </p:spPr>
        <p:txBody>
          <a:bodyPr/>
          <a:lstStyle/>
          <a:p>
            <a:pPr algn="ctr"/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II.2.B. Expérience de Galvani </a:t>
            </a:r>
            <a:endParaRPr lang="fr-DZ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DEBC62-2F7C-1E14-9520-0B1CA6BF4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49" y="879988"/>
            <a:ext cx="8303079" cy="4100226"/>
          </a:xfrm>
        </p:spPr>
        <p:txBody>
          <a:bodyPr>
            <a:normAutofit fontScale="92500"/>
          </a:bodyPr>
          <a:lstStyle/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Matériel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grenouille, cuisses de grenouille, fils métalliques.</a:t>
            </a: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 Galvani touchait les nerfs de la cuisse avec </a:t>
            </a:r>
          </a:p>
          <a:p>
            <a:pPr marL="228600" indent="0"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métal conducteur, le muscle se contractait, même sans stimulation; consciente.</a:t>
            </a: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muscles et les nerfs produisent une électricité intrinsèque, appelée plus tard électricité animale ou bioélectricité.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492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11C2-8832-844A-EEFB-686670EB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44473-FEE6-96A1-4B44-A6A7049A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716700"/>
          </a:xfrm>
        </p:spPr>
        <p:txBody>
          <a:bodyPr/>
          <a:lstStyle/>
          <a:p>
            <a:pPr algn="ctr"/>
            <a:r>
              <a:rPr lang="fr-FR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II.2.B.Galvani's </a:t>
            </a:r>
            <a:r>
              <a:rPr lang="fr-FR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fr-DZ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9D7A7D9-B76E-4B68-38AD-D5C4B327D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49" y="1363437"/>
            <a:ext cx="8303079" cy="2955470"/>
          </a:xfrm>
        </p:spPr>
        <p:txBody>
          <a:bodyPr>
            <a:normAutofit/>
          </a:bodyPr>
          <a:lstStyle/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frog, frog legs, metal wires.</a:t>
            </a:r>
          </a:p>
          <a:p>
            <a:pPr marL="571500" indent="-3429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Galvani touched the nerve of the leg with a conductive metal, the muscle contracted, even without conscious stimulation.</a:t>
            </a:r>
          </a:p>
          <a:p>
            <a:pPr marL="571500" indent="-342900" algn="l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Muscles and nerves produce an intrinsic electricity, later called animal electricity or bioelectricity.</a:t>
            </a:r>
            <a:endParaRPr lang="fr-DZ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622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F61443-3F43-37A5-219A-F5546ADE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26572"/>
            <a:ext cx="6662057" cy="677635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Expérience de Galvani 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A52A9E-147F-FB6F-21F0-6545B587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26671"/>
            <a:ext cx="4751614" cy="3600449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5070CD-5C8A-EFBB-DCF8-F3A9073B3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0" y="1126670"/>
            <a:ext cx="4751614" cy="3600450"/>
          </a:xfrm>
        </p:spPr>
        <p:txBody>
          <a:bodyPr/>
          <a:lstStyle/>
          <a:p>
            <a:endParaRPr lang="fr-DZ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073DCD-6E69-3A51-CEF8-C77D98AED4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4350" y="2176598"/>
            <a:ext cx="3086100" cy="2487351"/>
          </a:xfrm>
        </p:spPr>
        <p:txBody>
          <a:bodyPr>
            <a:normAutofit/>
          </a:bodyPr>
          <a:lstStyle/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Contraction d’une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 de grenouille</a:t>
            </a:r>
          </a:p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courant.</a:t>
            </a:r>
            <a:endParaRPr lang="fr-D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42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EF69-712D-CC72-8DD2-B427CA96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6A712-658A-A49D-4098-EF9999D9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326572"/>
            <a:ext cx="6662057" cy="677635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Galvani’s</a:t>
            </a:r>
            <a:r>
              <a:rPr lang="fr-FR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fr-DZ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76A4C8-6FDB-97F2-E802-3B6909BA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26671"/>
            <a:ext cx="4751614" cy="3600449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0BA132-F1E2-EBAA-153E-0D9F84C72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0" y="1126670"/>
            <a:ext cx="4751614" cy="3600450"/>
          </a:xfrm>
        </p:spPr>
        <p:txBody>
          <a:bodyPr/>
          <a:lstStyle/>
          <a:p>
            <a:endParaRPr lang="fr-DZ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B1AFEF-9754-3B04-E4D3-C5B4F9879D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5770" y="2176598"/>
            <a:ext cx="3086100" cy="248735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Contraction of 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frog's leg by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current.</a:t>
            </a:r>
            <a:endParaRPr lang="fr-D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105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9C69E-8BFC-0FD5-5925-35A23A49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7867800" cy="912586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biologique simple 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B4A2B8-2F2F-0EB4-DE04-BC017FBF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1" y="1281792"/>
            <a:ext cx="8417378" cy="362494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Expérience de Galvani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Contraction d’une patte de grenouille</a:t>
            </a:r>
          </a:p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courant.</a:t>
            </a:r>
          </a:p>
          <a:p>
            <a:pPr marL="228600" indent="0" algn="l">
              <a:lnSpc>
                <a:spcPct val="150000"/>
              </a:lnSpc>
            </a:pPr>
            <a:r>
              <a:rPr lang="fr-FR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Explication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stimulation électrique provoque une dépolarisation membranaire → contraction musculaire.</a:t>
            </a:r>
          </a:p>
          <a:p>
            <a:pPr marL="228600" indent="0"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Cette expérience fonde la compréhension moderne des signaux bioélectriques.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DZ" dirty="0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7ACB4372-2E30-214A-C2C7-29AB99ECB65D}"/>
              </a:ext>
            </a:extLst>
          </p:cNvPr>
          <p:cNvSpPr/>
          <p:nvPr/>
        </p:nvSpPr>
        <p:spPr>
          <a:xfrm>
            <a:off x="693964" y="4049486"/>
            <a:ext cx="400050" cy="4571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9875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2784-EB09-FDE5-0A69-D4A0C9ED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62A9F-C1D7-A9E9-B6A0-74FE7DA1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7867800" cy="912586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Simple </a:t>
            </a:r>
            <a:r>
              <a:rPr lang="fr-FR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A25C7F-246B-B1A0-5018-7814A507A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281792"/>
            <a:ext cx="7867800" cy="3624943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Galvani’s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lang="fr-FR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Contraction of a frog's leg by an electric current.</a:t>
            </a:r>
          </a:p>
          <a:p>
            <a:pPr marL="5715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The electrical stimulation causes a membrane depolarization → muscle contraction.</a:t>
            </a:r>
          </a:p>
          <a:p>
            <a:pPr marL="5715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experiment forms the basis of the modern understanding of bioelectric signals.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787732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E2174-7FD3-21B4-AB32-70B05108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680176"/>
          </a:xfrm>
        </p:spPr>
        <p:txBody>
          <a:bodyPr/>
          <a:lstStyle/>
          <a:p>
            <a:pPr algn="ctr"/>
            <a:r>
              <a:rPr lang="it-IT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II.2.C. La controverse Galvani – Volta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567C94-480D-96C9-0A53-7447FC991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849" y="1245328"/>
            <a:ext cx="8361893" cy="3604258"/>
          </a:xfrm>
        </p:spPr>
        <p:txBody>
          <a:bodyPr>
            <a:normAutofit fontScale="92500" lnSpcReduction="10000"/>
          </a:bodyPr>
          <a:lstStyle/>
          <a:p>
            <a:pPr marL="228600" indent="0" algn="l">
              <a:lnSpc>
                <a:spcPct val="150000"/>
              </a:lnSpc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L’expérience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Galvani 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suscité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débat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scientifique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majeur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Alessandro Volta.</a:t>
            </a:r>
          </a:p>
          <a:p>
            <a:pPr marL="6858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défendait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l’idée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d’une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électricité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»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produite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les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tissus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vivants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858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Volta, au contraire,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pensait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l’électricité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provenait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 contact entre deux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métaux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reliés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un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conducteur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humide</a:t>
            </a:r>
            <a:r>
              <a:rPr lang="en-US" sz="2000" dirty="0"/>
              <a:t>.</a:t>
            </a:r>
            <a:endParaRPr lang="fr-DZ" sz="2000" dirty="0"/>
          </a:p>
          <a:p>
            <a:pPr>
              <a:lnSpc>
                <a:spcPct val="150000"/>
              </a:lnSpc>
            </a:pP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828171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9170-5F65-48C5-EB11-5B510B77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C2371-F1C5-5DCF-1085-2363B0F2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1"/>
            <a:ext cx="8115300" cy="680176"/>
          </a:xfrm>
        </p:spPr>
        <p:txBody>
          <a:bodyPr/>
          <a:lstStyle/>
          <a:p>
            <a:pPr algn="ctr"/>
            <a:r>
              <a:rPr lang="it-IT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II.2.C The Galvani – Volta controversy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9F4085-C559-8BF3-5312-1619922B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849" y="1245328"/>
            <a:ext cx="8361893" cy="3604258"/>
          </a:xfrm>
        </p:spPr>
        <p:txBody>
          <a:bodyPr>
            <a:normAutofit fontScale="85000" lnSpcReduction="10000"/>
          </a:bodyPr>
          <a:lstStyle/>
          <a:p>
            <a:pPr marL="228600" indent="0" algn="l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Galvani's experiment sparked a major scientific debate with Alessandro Volta.</a:t>
            </a:r>
          </a:p>
          <a:p>
            <a:pPr marL="6858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 championed the idea of "animal electricity" produced by living tissues.</a:t>
            </a:r>
          </a:p>
          <a:p>
            <a:pPr marL="6858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Volta, on the contrary, believed that the electricity came from the contact between two metals connected by a moist conductor.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474224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040DA8-E997-A657-BA74-D9D1CC3ED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275" y="143902"/>
            <a:ext cx="7029450" cy="522513"/>
          </a:xfrm>
        </p:spPr>
        <p:txBody>
          <a:bodyPr>
            <a:normAutofit/>
          </a:bodyPr>
          <a:lstStyle/>
          <a:p>
            <a:pPr algn="ctr"/>
            <a:r>
              <a:rPr lang="it-IT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II.2.C. La controverse Galvani – Volta</a:t>
            </a:r>
            <a:endParaRPr lang="fr-DZ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023AE6-26DA-FE25-7DE2-A2468851F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616529"/>
            <a:ext cx="8066314" cy="3331028"/>
          </a:xfrm>
        </p:spPr>
        <p:txBody>
          <a:bodyPr/>
          <a:lstStyle/>
          <a:p>
            <a:endParaRPr lang="fr-DZ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5B6FF26-AC99-20F6-E72F-6BBC7BD45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03068"/>
              </p:ext>
            </p:extLst>
          </p:nvPr>
        </p:nvGraphicFramePr>
        <p:xfrm>
          <a:off x="0" y="666415"/>
          <a:ext cx="9144000" cy="4576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8364">
                  <a:extLst>
                    <a:ext uri="{9D8B030D-6E8A-4147-A177-3AD203B41FA5}">
                      <a16:colId xmlns:a16="http://schemas.microsoft.com/office/drawing/2014/main" val="3365959431"/>
                    </a:ext>
                  </a:extLst>
                </a:gridCol>
                <a:gridCol w="3804557">
                  <a:extLst>
                    <a:ext uri="{9D8B030D-6E8A-4147-A177-3AD203B41FA5}">
                      <a16:colId xmlns:a16="http://schemas.microsoft.com/office/drawing/2014/main" val="757737766"/>
                    </a:ext>
                  </a:extLst>
                </a:gridCol>
                <a:gridCol w="3731079">
                  <a:extLst>
                    <a:ext uri="{9D8B030D-6E8A-4147-A177-3AD203B41FA5}">
                      <a16:colId xmlns:a16="http://schemas.microsoft.com/office/drawing/2014/main" val="3224995093"/>
                    </a:ext>
                  </a:extLst>
                </a:gridCol>
              </a:tblGrid>
              <a:tr h="439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Luigi Galvani (1737-1798)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Alessandro Volta (1745-1827)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3215249986"/>
                  </a:ext>
                </a:extLst>
              </a:tr>
              <a:tr h="6688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Contraction des muscles de grenouille au contact de métaux.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Même phénomène, mais attribué aux métaux eux-mêmes.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2174863042"/>
                  </a:ext>
                </a:extLst>
              </a:tr>
              <a:tr h="9797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Interprétation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Existence d’une « électricité animale » produite par les tissus vivants.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L’électricité vient du contact de deux métaux différents reliés par un conducteur humide.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2122932655"/>
                  </a:ext>
                </a:extLst>
              </a:tr>
              <a:tr h="898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Apport scientifique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Découverte de la bioélectricité (signaux nerveux et musculaires).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Invention de la pile voltaïque (1800), première source d’électricité continue.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397158584"/>
                  </a:ext>
                </a:extLst>
              </a:tr>
              <a:tr h="6688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Fondement de la neurophysiologie moderne (ECG, EMG).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 de l’électrochimie et des applications électriques industrielles.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783774503"/>
                  </a:ext>
                </a:extLst>
              </a:tr>
              <a:tr h="898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vivant est générateur d’électricité.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métaux sont générateurs d’électricité ; le vivant n’est que conducteur.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306640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44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0A05-EE0E-E770-0304-45D49CA6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B09349-C678-8F27-C6AA-65215D93E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275" y="143902"/>
            <a:ext cx="7029450" cy="522513"/>
          </a:xfrm>
        </p:spPr>
        <p:txBody>
          <a:bodyPr>
            <a:normAutofit/>
          </a:bodyPr>
          <a:lstStyle/>
          <a:p>
            <a:pPr algn="ctr"/>
            <a:r>
              <a:rPr lang="it-IT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II.2.C. The Galvani – Volta controversy</a:t>
            </a:r>
            <a:endParaRPr lang="fr-DZ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096086-B627-F1E6-3101-A33DCE868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616529"/>
            <a:ext cx="8066314" cy="3331028"/>
          </a:xfrm>
        </p:spPr>
        <p:txBody>
          <a:bodyPr/>
          <a:lstStyle/>
          <a:p>
            <a:endParaRPr lang="fr-DZ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9D354AB-1098-4673-189B-FB0714BA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94314"/>
              </p:ext>
            </p:extLst>
          </p:nvPr>
        </p:nvGraphicFramePr>
        <p:xfrm>
          <a:off x="0" y="666415"/>
          <a:ext cx="9144000" cy="4560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8364">
                  <a:extLst>
                    <a:ext uri="{9D8B030D-6E8A-4147-A177-3AD203B41FA5}">
                      <a16:colId xmlns:a16="http://schemas.microsoft.com/office/drawing/2014/main" val="3365959431"/>
                    </a:ext>
                  </a:extLst>
                </a:gridCol>
                <a:gridCol w="3804557">
                  <a:extLst>
                    <a:ext uri="{9D8B030D-6E8A-4147-A177-3AD203B41FA5}">
                      <a16:colId xmlns:a16="http://schemas.microsoft.com/office/drawing/2014/main" val="757737766"/>
                    </a:ext>
                  </a:extLst>
                </a:gridCol>
                <a:gridCol w="3731079">
                  <a:extLst>
                    <a:ext uri="{9D8B030D-6E8A-4147-A177-3AD203B41FA5}">
                      <a16:colId xmlns:a16="http://schemas.microsoft.com/office/drawing/2014/main" val="3224995093"/>
                    </a:ext>
                  </a:extLst>
                </a:gridCol>
              </a:tblGrid>
              <a:tr h="439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Luigi Galvani (1737-1798)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Alessandro Volta (1745-1827)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3215249986"/>
                  </a:ext>
                </a:extLst>
              </a:tr>
              <a:tr h="6688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Contraction of frog muscles upon contact with metals.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Same phenomenon but attributed to the metals themselves.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2174863042"/>
                  </a:ext>
                </a:extLst>
              </a:tr>
              <a:tr h="9797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Existence of 'animal electricity' produced by living tissues.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Electricity comes from the contact of two different metals connected by a moist conductor.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2122932655"/>
                  </a:ext>
                </a:extLst>
              </a:tr>
              <a:tr h="898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Scientific contribution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Discovery of bioelectricity (nervous and muscular signals).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Invention of the voltaic pile (1800), the first source of continuous electricity.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397158584"/>
                  </a:ext>
                </a:extLst>
              </a:tr>
              <a:tr h="6688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Foundation of modern neurophysiology (ECG, EMG).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The beginning of electrochemistry and industrial electrical applications.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783774503"/>
                  </a:ext>
                </a:extLst>
              </a:tr>
              <a:tr h="90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</a:t>
                      </a:r>
                      <a:endParaRPr lang="fr-DZ" sz="18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Living things generate electricity.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Metals are electricity generators; living things are merely conductors.</a:t>
                      </a:r>
                      <a:endParaRPr lang="fr-DZ" sz="18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8060" marR="58060" marT="0" marB="0"/>
                </a:tc>
                <a:extLst>
                  <a:ext uri="{0D108BD9-81ED-4DB2-BD59-A6C34878D82A}">
                    <a16:rowId xmlns:a16="http://schemas.microsoft.com/office/drawing/2014/main" val="1306640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700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C17B3-0496-B2E2-4FDF-78ED082F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46" y="896983"/>
            <a:ext cx="8226303" cy="557348"/>
          </a:xfrm>
        </p:spPr>
        <p:txBody>
          <a:bodyPr/>
          <a:lstStyle/>
          <a:p>
            <a:pPr algn="ctr"/>
            <a:r>
              <a:rPr lang="it-IT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controverse Galvani – Volta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D26EF4-282D-791C-E717-1A9E9AAE7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372" y="1575707"/>
            <a:ext cx="8391255" cy="2865664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Cette controverse a </a:t>
            </a:r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été extraordinairement féconde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naissance de la</a:t>
            </a:r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bioélectricité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l’invention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pile, </a:t>
            </a:r>
          </a:p>
          <a:p>
            <a:pPr marL="228600" indent="0"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grandes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science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sz="2000" dirty="0"/>
              <a:t>.</a:t>
            </a:r>
            <a:endParaRPr lang="fr-DZ" sz="2000" dirty="0"/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513993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296D5-590F-7556-47F5-D99618CB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68A1B-F1FD-4F6C-F91C-742A9352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47" y="607423"/>
            <a:ext cx="8226303" cy="557348"/>
          </a:xfrm>
        </p:spPr>
        <p:txBody>
          <a:bodyPr/>
          <a:lstStyle/>
          <a:p>
            <a:pPr algn="ctr"/>
            <a:r>
              <a:rPr lang="it-IT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Galvani – Volta controversy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54FA3E-8E36-B241-3E2B-30AB93B63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372" y="1454331"/>
            <a:ext cx="8391255" cy="286566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This controversy was extraordinarily fruitful; it enabled both:</a:t>
            </a: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birth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bioelectricitythe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invention of the battery (or electric pile),</a:t>
            </a:r>
          </a:p>
          <a:p>
            <a:pPr marL="228600" indent="0" algn="l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major paths of modern science.</a:t>
            </a:r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851935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B801F-7C16-7126-2C8D-25EAB659A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110" y="457200"/>
            <a:ext cx="8368393" cy="110490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Grandeurs électriques </a:t>
            </a:r>
            <a:r>
              <a:rPr lang="fr-FR" sz="3600" b="1" noProof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La charge </a:t>
            </a:r>
            <a:r>
              <a:rPr lang="fr-FR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br>
              <a:rPr lang="fr-DZ" sz="2800" dirty="0"/>
            </a:br>
            <a:endParaRPr lang="fr-DZ" sz="28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D6969A-759B-FDFB-E38B-91F91806D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407" y="1191986"/>
            <a:ext cx="8261714" cy="3673928"/>
          </a:xfrm>
        </p:spPr>
        <p:txBody>
          <a:bodyPr>
            <a:normAutofit fontScale="92500" lnSpcReduction="10000"/>
          </a:bodyPr>
          <a:lstStyle/>
          <a:p>
            <a:pPr marL="1377950" lvl="2" indent="-342900" algn="l">
              <a:buFont typeface="Wingdings" panose="05000000000000000000" pitchFamily="2" charset="2"/>
              <a:buChar char="§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Symbole : q.</a:t>
            </a:r>
          </a:p>
          <a:p>
            <a:pPr marL="1377950" lvl="2" indent="-342900" algn="l">
              <a:buFont typeface="Wingdings" panose="05000000000000000000" pitchFamily="2" charset="2"/>
              <a:buChar char="§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Unité : Coulomb (C).</a:t>
            </a:r>
          </a:p>
          <a:p>
            <a:pPr marL="1377950" lvl="2" indent="-342900" algn="l">
              <a:buFont typeface="Wingdings" panose="05000000000000000000" pitchFamily="2" charset="2"/>
              <a:buChar char="§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Dimensions: [Q]=IT</a:t>
            </a:r>
          </a:p>
          <a:p>
            <a:pPr marL="1377950" lvl="2" indent="-342900" algn="l">
              <a:buFont typeface="Wingdings" panose="05000000000000000000" pitchFamily="2" charset="2"/>
              <a:buChar char="§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Unité de base dans SI: </a:t>
            </a:r>
            <a:r>
              <a:rPr lang="fr-F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</a:t>
            </a:r>
            <a:endParaRPr lang="fr-FR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Deux types de charges : positives (protons) et négatives (électrons).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 matière vivante contient de nombreux ions (Na⁺, K⁺, Cl⁻, Ca²⁺).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Loi fondamentale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charges de même signe se repoussent,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signe opposé s’attirent.</a:t>
            </a:r>
          </a:p>
          <a:p>
            <a:endParaRPr lang="fr-DZ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BACFFE5-1A60-2D3C-76E1-DE2D36CF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322" y="3505200"/>
            <a:ext cx="27908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87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C4B75-5E22-1429-9FC9-290ADCB8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-57150"/>
            <a:ext cx="8107136" cy="149406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III.Grandeurs</a:t>
            </a:r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électriques </a:t>
            </a:r>
            <a:r>
              <a:rPr lang="en-US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b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Le courant </a:t>
            </a:r>
            <a:r>
              <a:rPr lang="en-US" sz="3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br>
              <a:rPr lang="fr-DZ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DZ" sz="3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32B3B9-E8CB-40C5-AD1E-4EB7AF010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136" y="1226820"/>
            <a:ext cx="8915943" cy="3649980"/>
          </a:xfrm>
        </p:spPr>
        <p:txBody>
          <a:bodyPr>
            <a:normAutofit/>
          </a:bodyPr>
          <a:lstStyle/>
          <a:p>
            <a:pPr marL="102870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déplacement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ordonné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charges.</a:t>
            </a:r>
          </a:p>
          <a:p>
            <a:pPr marL="102870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Symbole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I.</a:t>
            </a:r>
          </a:p>
          <a:p>
            <a:pPr marL="102870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= ΔQ/</a:t>
            </a:r>
            <a:r>
              <a:rPr lang="en-US" sz="22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Δt</a:t>
            </a:r>
            <a:r>
              <a:rPr lang="en-US" sz="2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Unité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(SI) : Ampère (A).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Unité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base 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C.s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  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MLT</a:t>
            </a:r>
          </a:p>
          <a:p>
            <a:pPr marL="228600" indent="0" algn="l"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 courant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dû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passage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travers la membrane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2385E2-BB16-F33B-D16E-D7B6FB4CF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649184"/>
            <a:ext cx="2857500" cy="16002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BDBD49A-D401-3588-3D4C-4D5D52595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153" y="3851367"/>
            <a:ext cx="2876550" cy="13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74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E9827-3956-3396-D9C5-636A1799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565150"/>
            <a:ext cx="8319407" cy="93707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Grandeurs électriques </a:t>
            </a:r>
            <a:r>
              <a:rPr lang="en-US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b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Le courant </a:t>
            </a:r>
            <a:r>
              <a:rPr lang="en-US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endParaRPr lang="fr-DZ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58EBB6-A437-0FB6-6230-0F0C302B8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690007"/>
            <a:ext cx="7867800" cy="1757987"/>
          </a:xfrm>
        </p:spPr>
        <p:txBody>
          <a:bodyPr>
            <a:normAutofit/>
          </a:bodyPr>
          <a:lstStyle/>
          <a:p>
            <a:pPr algn="l"/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Si 10⁻⁹ C (nanocoulomb)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10⁻⁹ / 10⁻³ = 10⁻⁶ A =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8742087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89436-B240-CD4D-1AF3-D762519B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19" y="342899"/>
            <a:ext cx="8245929" cy="111034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 Grandeurs électriques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b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 tension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différence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potentiel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52AF86-6E43-9398-F5F1-A65AF408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49" y="1208314"/>
            <a:ext cx="8362799" cy="3657601"/>
          </a:xfrm>
        </p:spPr>
        <p:txBody>
          <a:bodyPr>
            <a:normAutofit lnSpcReduction="10000"/>
          </a:bodyPr>
          <a:lstStyle/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Symbole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travail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nécessaire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déplacer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 entre</a:t>
            </a:r>
          </a:p>
          <a:p>
            <a:pPr marL="228600" indent="0"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points : U = W/q.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Unité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Volt (V).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Unités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base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Kg.m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.A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Exemple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biologique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repos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d’une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cellule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nerveuse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 –70 mV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3A47D0-0023-2BCD-E821-4A510108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240" y="3000376"/>
            <a:ext cx="25431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57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BFB2C-BEB9-79C8-6900-76A81523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132896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Grandeurs électriques </a:t>
            </a:r>
            <a:r>
              <a:rPr lang="en-US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b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La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résistance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électrique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367B1-7DE4-D56F-8055-EC1C2A15E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894115"/>
            <a:ext cx="7861300" cy="288199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Symbole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Loi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d’Ohm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U = R × I.</a:t>
            </a:r>
          </a:p>
          <a:p>
            <a:pPr marL="10287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Unité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Ohm (Ω).</a:t>
            </a:r>
          </a:p>
          <a:p>
            <a:pPr marL="685800" lvl="1" indent="0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la membrane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cellulaire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agit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résistance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passage des ions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flux).</a:t>
            </a:r>
            <a:endParaRPr lang="fr-DZ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234081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5C6E7-D5F8-2EB4-24AB-0B4D5FAA6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" y="489858"/>
            <a:ext cx="8103807" cy="1069521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sz="31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 Grandeurs électriques </a:t>
            </a:r>
            <a:r>
              <a:rPr lang="en-US" sz="31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fondamentales</a:t>
            </a:r>
            <a:br>
              <a:rPr lang="fr-FR" sz="31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1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La puissance électrique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AB3808-A1E1-89E6-360F-CDBA6B368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529" y="1420586"/>
            <a:ext cx="8103806" cy="345621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sz="2000" dirty="0"/>
              <a:t>•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Symbole : P.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Formule : P = U × I.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Unité : Watt (W).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M⋅L²⋅T⁻³ (masse × longueur² × temps⁻³),</a:t>
            </a:r>
          </a:p>
          <a:p>
            <a:pPr marL="571500" indent="-342900" algn="l"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Unité de base dans le SI kg⋅m²⋅s⁻³.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biologique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 neurone consommant I = 1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U = 70 mV :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(70 × 10⁻³)(10⁻⁹) = 7 × 10⁻¹¹ W.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Cela montre que le fonctionnement cellulaire consomme une énergie minime mais constante.</a:t>
            </a:r>
            <a:endParaRPr lang="fr-D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420956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C09D7-C30C-0482-BBAE-5D2C7D91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839107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7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Ordres de grandeur fréquents en bioélectricité </a:t>
            </a:r>
            <a:endParaRPr lang="fr-DZ" sz="27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3293E1-D16B-BD03-CE4F-545373598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681843"/>
            <a:ext cx="7867800" cy="2896507"/>
          </a:xfrm>
        </p:spPr>
        <p:txBody>
          <a:bodyPr/>
          <a:lstStyle/>
          <a:p>
            <a:pPr algn="l">
              <a:lnSpc>
                <a:spcPct val="150000"/>
              </a:lnSpc>
            </a:pPr>
            <a:br>
              <a:rPr lang="fr-FR" sz="2000" dirty="0"/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Tension : millivolt 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(mV)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Courant : nanoampère 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Résistance : kiloohm 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mégaohm 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fr-FR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DZ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764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315E9A-931F-A3C9-8A9A-2DCFF770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2513"/>
            <a:ext cx="8115300" cy="984807"/>
          </a:xfrm>
        </p:spPr>
        <p:txBody>
          <a:bodyPr/>
          <a:lstStyle/>
          <a:p>
            <a:pPr algn="l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</a:t>
            </a:r>
            <a:br>
              <a:rPr lang="fr-DZ" b="1" dirty="0"/>
            </a:b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51567A-0EA0-90E1-58F7-ED06FCF6A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360366"/>
            <a:ext cx="7983764" cy="3538205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Les grandeurs fondamentales (Q, I, U, R, P) sont universelles.</a:t>
            </a:r>
          </a:p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Elles s’appliquent aux circuits électriques et aux cellules biologiques.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2254794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0CF05E-C82E-E365-4AB6-37D2E2A0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855436"/>
          </a:xfrm>
        </p:spPr>
        <p:txBody>
          <a:bodyPr/>
          <a:lstStyle/>
          <a:p>
            <a:pPr algn="l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DZ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4BFBDC-F86A-97C1-0EF9-A9DF4C56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853293"/>
            <a:ext cx="7867800" cy="3004457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Ces notions constituent les bases nécessaires pour aborder : </a:t>
            </a:r>
          </a:p>
          <a:p>
            <a:pPr marL="10287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Electrostatique </a:t>
            </a:r>
          </a:p>
          <a:p>
            <a:pPr marL="10287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Potentiel membranaire </a:t>
            </a:r>
          </a:p>
          <a:p>
            <a:pPr marL="10287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Influx nerveux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D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4008275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F8225-A9DC-816B-8611-AE52CC92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716700"/>
          </a:xfrm>
        </p:spPr>
        <p:txBody>
          <a:bodyPr>
            <a:normAutofit fontScale="90000"/>
          </a:bodyPr>
          <a:lstStyle/>
          <a:p>
            <a:pPr algn="l"/>
            <a:r>
              <a:rPr lang="fr-FR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Exercices d’application </a:t>
            </a:r>
            <a:br>
              <a:rPr lang="fr-DZ" b="1" dirty="0"/>
            </a:br>
            <a:endParaRPr lang="fr-DZ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434C1E7C-93A0-3A7A-5096-2ACC1925DF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6379" y="1085850"/>
                <a:ext cx="8219771" cy="4122963"/>
              </a:xfrm>
            </p:spPr>
            <p:txBody>
              <a:bodyPr>
                <a:normAutofit fontScale="92500" lnSpcReduction="10000"/>
              </a:bodyPr>
              <a:lstStyle/>
              <a:p>
                <a:pPr marL="685800" indent="-457200" algn="l">
                  <a:lnSpc>
                    <a:spcPct val="150000"/>
                  </a:lnSpc>
                  <a:buAutoNum type="arabicPeriod"/>
                </a:pP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Calculer le courant correspondant au passage de 5 × 10⁻⁶ C</a:t>
                </a:r>
              </a:p>
              <a:p>
                <a:pPr marL="228600" indent="0" algn="l">
                  <a:lnSpc>
                    <a:spcPct val="150000"/>
                  </a:lnSpc>
                </a:pPr>
                <a:r>
                  <a:rPr lang="fr-F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 2 ms.</a:t>
                </a:r>
              </a:p>
              <a:p>
                <a:pPr marL="4572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800"/>
                  </a:spcBef>
                  <a:spcAft>
                    <a:spcPts val="0"/>
                  </a:spcAft>
                  <a:buClr>
                    <a:srgbClr val="FFFFFF"/>
                  </a:buClr>
                  <a:buSzPts val="1700"/>
                  <a:buFont typeface="Arial"/>
                  <a:buNone/>
                  <a:tabLst/>
                  <a:defRPr/>
                </a:pPr>
                <a:r>
                  <a:rPr kumimoji="0" lang="fr-FR" sz="2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entury Gothic"/>
                  </a:rPr>
                  <a:t>1</a:t>
                </a:r>
                <a:r>
                  <a:rPr kumimoji="0" lang="fr-FR" sz="2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entury Gothic"/>
                  </a:rPr>
                  <a:t>. Le courant correspondant au passage de 5 × 10⁻⁶ C en 2 ms</a:t>
                </a:r>
                <a:r>
                  <a:rPr kumimoji="0" lang="fr-FR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entury Gothic"/>
                  </a:rPr>
                  <a:t>  </a:t>
                </a:r>
              </a:p>
              <a:p>
                <a:pPr marL="457200" marR="0" lvl="0" indent="-228600" algn="l" defTabSz="914400" rtl="0" eaLnBrk="1" fontAlgn="auto" latinLnBrk="0" hangingPunct="1">
                  <a:lnSpc>
                    <a:spcPct val="115000"/>
                  </a:lnSpc>
                  <a:spcBef>
                    <a:spcPts val="800"/>
                  </a:spcBef>
                  <a:spcAft>
                    <a:spcPts val="1000"/>
                  </a:spcAft>
                  <a:buClr>
                    <a:srgbClr val="FFFFFF"/>
                  </a:buClr>
                  <a:buSzPts val="1700"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4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E1D12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  <a:sym typeface="Century Gothic"/>
                        </a:rPr>
                        <m:t>𝑰</m:t>
                      </m:r>
                      <m:r>
                        <a:rPr kumimoji="0" lang="fr-FR" sz="24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E1D12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  <a:sym typeface="Century Gothic"/>
                        </a:rPr>
                        <m:t>=</m:t>
                      </m:r>
                      <m:f>
                        <m:fPr>
                          <m:ctrlPr>
                            <a:rPr kumimoji="0" lang="fr-DZ" sz="24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E1D12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  <a:sym typeface="Century Gothic"/>
                            </a:rPr>
                          </m:ctrlPr>
                        </m:fPr>
                        <m:num>
                          <m:r>
                            <a:rPr kumimoji="0" lang="fr-FR" sz="24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E1D12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  <a:sym typeface="Century Gothic"/>
                            </a:rPr>
                            <m:t>∆</m:t>
                          </m:r>
                          <m:r>
                            <a:rPr kumimoji="0" lang="fr-FR" sz="24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E1D12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  <a:sym typeface="Century Gothic"/>
                            </a:rPr>
                            <m:t>𝑸</m:t>
                          </m:r>
                        </m:num>
                        <m:den>
                          <m:r>
                            <a:rPr kumimoji="0" lang="fr-FR" sz="24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E1D12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  <a:sym typeface="Century Gothic"/>
                            </a:rPr>
                            <m:t>∆</m:t>
                          </m:r>
                          <m:r>
                            <a:rPr kumimoji="0" lang="fr-FR" sz="24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E1D12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Times New Roman" panose="02020603050405020304" pitchFamily="18" charset="0"/>
                              <a:sym typeface="Century Gothic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entury Gothic"/>
                </a:endParaRPr>
              </a:p>
              <a:p>
                <a:pPr marL="457200" marR="0" lvl="0" indent="-228600" algn="ctr" defTabSz="914400" rtl="0" eaLnBrk="1" fontAlgn="auto" latinLnBrk="0" hangingPunct="1">
                  <a:lnSpc>
                    <a:spcPct val="115000"/>
                  </a:lnSpc>
                  <a:spcBef>
                    <a:spcPts val="800"/>
                  </a:spcBef>
                  <a:spcAft>
                    <a:spcPts val="1000"/>
                  </a:spcAft>
                  <a:buClr>
                    <a:srgbClr val="FFFFFF"/>
                  </a:buClr>
                  <a:buSzPts val="1700"/>
                  <a:buFont typeface="Arial"/>
                  <a:buNone/>
                  <a:tabLst/>
                  <a:defRPr/>
                </a:pPr>
                <a:r>
                  <a:rPr kumimoji="0" lang="fr-F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entury Gothic"/>
                  </a:rPr>
                  <a:t>(5 × 10⁻⁶) / (2 × 10⁻³) = 2,5 × 10⁻³ A </a:t>
                </a:r>
              </a:p>
              <a:p>
                <a:pPr algn="l">
                  <a:lnSpc>
                    <a:spcPct val="150000"/>
                  </a:lnSpc>
                </a:pPr>
                <a:br>
                  <a:rPr lang="fr-F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fr-DZ" dirty="0"/>
              </a:p>
            </p:txBody>
          </p:sp>
        </mc:Choice>
        <mc:Fallback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434C1E7C-93A0-3A7A-5096-2ACC1925DF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6379" y="1085850"/>
                <a:ext cx="8219771" cy="4122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722F25-AF43-A605-7D19-B90A2F38F80E}"/>
              </a:ext>
            </a:extLst>
          </p:cNvPr>
          <p:cNvSpPr/>
          <p:nvPr/>
        </p:nvSpPr>
        <p:spPr>
          <a:xfrm>
            <a:off x="3204482" y="4220000"/>
            <a:ext cx="1939018" cy="7167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I=2,5 mA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2705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EDBF25-894D-91EB-78AC-50B12112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659493"/>
          </a:xfrm>
        </p:spPr>
        <p:txBody>
          <a:bodyPr/>
          <a:lstStyle/>
          <a:p>
            <a:pPr algn="l"/>
            <a:r>
              <a:rPr kumimoji="0" lang="fr-FR" sz="27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Exercices d’application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6E655C-6FD7-65E1-5292-1D40B49E5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0" y="1714499"/>
            <a:ext cx="7867800" cy="2947308"/>
          </a:xfrm>
        </p:spPr>
        <p:txBody>
          <a:bodyPr>
            <a:normAutofit fontScale="55000" lnSpcReduction="20000"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2</a:t>
            </a: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. Quelle énergie faut-il pour déplacer une charge de 2 C</a:t>
            </a:r>
          </a:p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sous une tension de 12 V ?</a:t>
            </a: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</a:p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endParaRPr kumimoji="0" lang="fr-FR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2. </a:t>
            </a: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L’énergie qu’il faut, pour déplacer une charge de 2 C sous</a:t>
            </a:r>
          </a:p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une tension de 12 V </a:t>
            </a:r>
          </a:p>
          <a:p>
            <a:pPr marL="4572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4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</a:t>
            </a:r>
            <a:b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</a:br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A722E10-3634-DD95-406E-5278A2C98694}"/>
              </a:ext>
            </a:extLst>
          </p:cNvPr>
          <p:cNvSpPr/>
          <p:nvPr/>
        </p:nvSpPr>
        <p:spPr>
          <a:xfrm>
            <a:off x="2849338" y="3982357"/>
            <a:ext cx="3265714" cy="59599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W = Q × U = 2 × 12 = 24 J</a:t>
            </a:r>
            <a:endParaRPr lang="fr-FR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97605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8F730D-973F-A5E7-1EB8-3301D6FF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602343"/>
          </a:xfrm>
        </p:spPr>
        <p:txBody>
          <a:bodyPr/>
          <a:lstStyle/>
          <a:p>
            <a:pPr algn="ctr"/>
            <a:r>
              <a:rPr lang="fr-FR" noProof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(Exercices d’application)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0A0140-BD37-BD55-7C13-A765C3BA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850" y="1420585"/>
            <a:ext cx="8288414" cy="3820886"/>
          </a:xfrm>
        </p:spPr>
        <p:txBody>
          <a:bodyPr>
            <a:norm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3. Un neurone consomme 1 </a:t>
            </a: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nA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entury Gothic"/>
              </a:rPr>
              <a:t> sous une tension de 70 mV. Calculer la puissance.</a:t>
            </a:r>
            <a:endParaRPr kumimoji="0" lang="fr-DZ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entury Gothic"/>
            </a:endParaRPr>
          </a:p>
          <a:p>
            <a:pPr algn="l"/>
            <a:endParaRPr lang="fr-FR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sz="2400" noProof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neurone consomme 1 </a:t>
            </a:r>
            <a:r>
              <a:rPr lang="fr-FR" sz="24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une tension de 70 mV.</a:t>
            </a:r>
          </a:p>
          <a:p>
            <a:pPr algn="l"/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donc la puissance.</a:t>
            </a:r>
          </a:p>
          <a:p>
            <a:pPr algn="l"/>
            <a:r>
              <a:rPr lang="fr-FR" sz="24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U × I = (70 × 10⁻³) × (1 × 10⁻⁹) = 70 × 10⁻¹² W</a:t>
            </a:r>
          </a:p>
          <a:p>
            <a:pPr algn="l"/>
            <a:endParaRPr lang="fr-FR" noProof="0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3E8A2E7-258C-7ADA-D3D1-B8F3F6A4345D}"/>
              </a:ext>
            </a:extLst>
          </p:cNvPr>
          <p:cNvSpPr/>
          <p:nvPr/>
        </p:nvSpPr>
        <p:spPr>
          <a:xfrm>
            <a:off x="3322864" y="4449536"/>
            <a:ext cx="2473779" cy="60234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 70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4849420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9694C-8053-410B-BE99-0C0E0D52E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007" y="1352553"/>
            <a:ext cx="7903029" cy="1537603"/>
          </a:xfrm>
        </p:spPr>
        <p:txBody>
          <a:bodyPr>
            <a:noAutofit/>
          </a:bodyPr>
          <a:lstStyle/>
          <a:p>
            <a:pPr algn="ctr"/>
            <a:r>
              <a:rPr lang="fr-FR" sz="4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Électrostatique et champ électrique </a:t>
            </a:r>
          </a:p>
        </p:txBody>
      </p:sp>
    </p:spTree>
    <p:extLst>
      <p:ext uri="{BB962C8B-B14F-4D97-AF65-F5344CB8AC3E}">
        <p14:creationId xmlns:p14="http://schemas.microsoft.com/office/powerpoint/2010/main" val="301600473"/>
      </p:ext>
    </p:extLst>
  </p:cSld>
  <p:clrMapOvr>
    <a:masterClrMapping/>
  </p:clrMapOvr>
</p:sld>
</file>

<file path=ppt/theme/theme1.xml><?xml version="1.0" encoding="utf-8"?>
<a:theme xmlns:a="http://schemas.openxmlformats.org/drawingml/2006/main" name="La diffusion">
  <a:themeElements>
    <a:clrScheme name="Traînée de condensation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14164</TotalTime>
  <Words>2722</Words>
  <Application>Microsoft Office PowerPoint</Application>
  <PresentationFormat>Affichage à l'écran (16:9)</PresentationFormat>
  <Paragraphs>296</Paragraphs>
  <Slides>56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4" baseType="lpstr">
      <vt:lpstr>quote-cjk-patch</vt:lpstr>
      <vt:lpstr>Century Gothic</vt:lpstr>
      <vt:lpstr>Times New Roman</vt:lpstr>
      <vt:lpstr>Cambria</vt:lpstr>
      <vt:lpstr>Wingdings</vt:lpstr>
      <vt:lpstr>Arial</vt:lpstr>
      <vt:lpstr>Cambria Math</vt:lpstr>
      <vt:lpstr>La diffusion</vt:lpstr>
      <vt:lpstr>Electricité et phénomène Bioélectrique</vt:lpstr>
      <vt:lpstr>Electricity and Bioelectric Phenomenon</vt:lpstr>
      <vt:lpstr> I. Introduction générale et rappels de physique </vt:lpstr>
      <vt:lpstr>"I. General Introduction and Physics Review" </vt:lpstr>
      <vt:lpstr>I.Introduction</vt:lpstr>
      <vt:lpstr>Présentation PowerPoint</vt:lpstr>
      <vt:lpstr>I.1.Historique </vt:lpstr>
      <vt:lpstr>I.1.Background</vt:lpstr>
      <vt:lpstr>I.2.Pour quoi l’ambre ?</vt:lpstr>
      <vt:lpstr>I.2.Why amber ?</vt:lpstr>
      <vt:lpstr> I.3. Comment ça marche ?</vt:lpstr>
      <vt:lpstr> I.3. How does it work ?</vt:lpstr>
      <vt:lpstr>I.4.Expériences et jeux d’enfants</vt:lpstr>
      <vt:lpstr>I.4 Children's experiences and games</vt:lpstr>
      <vt:lpstr>Résultat</vt:lpstr>
      <vt:lpstr>Results</vt:lpstr>
      <vt:lpstr>Limites </vt:lpstr>
      <vt:lpstr>Limits </vt:lpstr>
      <vt:lpstr>II. Applications  II.1.Applications modernes :</vt:lpstr>
      <vt:lpstr>Présentation PowerPoint</vt:lpstr>
      <vt:lpstr>II.1.Modern applications :</vt:lpstr>
      <vt:lpstr>II.1.Triboélectriques (TENG)</vt:lpstr>
      <vt:lpstr>II.1.Triboelectric (TENG)</vt:lpstr>
      <vt:lpstr>Conclusion .1.</vt:lpstr>
      <vt:lpstr>Conclusion.1.</vt:lpstr>
      <vt:lpstr>Conclusion .2. Deux grands visages de l’électricité : </vt:lpstr>
      <vt:lpstr> Two Major Faces of Electricity: </vt:lpstr>
      <vt:lpstr> II.2. L’électricité dans le vivant </vt:lpstr>
      <vt:lpstr>II.2. Electricity in the living</vt:lpstr>
      <vt:lpstr> II.2.L’électricité dans le vivant </vt:lpstr>
      <vt:lpstr>II.2. Electricity in the living </vt:lpstr>
      <vt:lpstr>II.2.B. Expérience de Galvani </vt:lpstr>
      <vt:lpstr>II.2.B.Galvani's experiment</vt:lpstr>
      <vt:lpstr>Expérience de Galvani </vt:lpstr>
      <vt:lpstr>Galvani’s experiment</vt:lpstr>
      <vt:lpstr> Application biologique simple  </vt:lpstr>
      <vt:lpstr> Simple biological application </vt:lpstr>
      <vt:lpstr>II.2.C. La controverse Galvani – Volta</vt:lpstr>
      <vt:lpstr> II.2.C The Galvani – Volta controversy</vt:lpstr>
      <vt:lpstr> II.2.C. La controverse Galvani – Volta</vt:lpstr>
      <vt:lpstr>II.2.C. The Galvani – Volta controversy</vt:lpstr>
      <vt:lpstr> La controverse Galvani – Volta</vt:lpstr>
      <vt:lpstr> The Galvani – Volta controversy</vt:lpstr>
      <vt:lpstr>  III. Grandeurs électriques fondamentales  1. La charge électrique </vt:lpstr>
      <vt:lpstr> III.Grandeurs électriques fondamentales 2. Le courant électrique  </vt:lpstr>
      <vt:lpstr> Grandeurs électriques fondamentales 2. Le courant électrique</vt:lpstr>
      <vt:lpstr>   III. Grandeurs électriques fondamentales 3. La tension électrique (différence de potentiel) </vt:lpstr>
      <vt:lpstr>III. Grandeurs électriques fondamentales 4. La résistance électrique </vt:lpstr>
      <vt:lpstr>   III. Grandeurs électriques fondamentales 5. La puissance électrique </vt:lpstr>
      <vt:lpstr> Ordres de grandeur fréquents en bioélectricité </vt:lpstr>
      <vt:lpstr>Remarques </vt:lpstr>
      <vt:lpstr>Conclusion</vt:lpstr>
      <vt:lpstr>Exercices d’application  </vt:lpstr>
      <vt:lpstr>Exercices d’application</vt:lpstr>
      <vt:lpstr> (Exercices d’application)</vt:lpstr>
      <vt:lpstr>Électrostatique et champ électrique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Halima Allouache</dc:creator>
  <cp:lastModifiedBy>Halima Allouache</cp:lastModifiedBy>
  <cp:revision>65</cp:revision>
  <dcterms:modified xsi:type="dcterms:W3CDTF">2025-11-15T12:59:07Z</dcterms:modified>
</cp:coreProperties>
</file>