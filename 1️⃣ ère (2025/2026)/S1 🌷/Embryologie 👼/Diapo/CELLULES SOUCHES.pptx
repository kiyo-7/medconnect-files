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5" r:id="rId4"/>
    <p:sldId id="278" r:id="rId5"/>
    <p:sldId id="276" r:id="rId6"/>
    <p:sldId id="290" r:id="rId7"/>
    <p:sldId id="264" r:id="rId8"/>
    <p:sldId id="265" r:id="rId9"/>
    <p:sldId id="266" r:id="rId10"/>
    <p:sldId id="270" r:id="rId11"/>
    <p:sldId id="288" r:id="rId12"/>
    <p:sldId id="289" r:id="rId13"/>
    <p:sldId id="273" r:id="rId14"/>
    <p:sldId id="279" r:id="rId15"/>
    <p:sldId id="283" r:id="rId16"/>
    <p:sldId id="285" r:id="rId17"/>
    <p:sldId id="272" r:id="rId1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" initials="G" lastIdx="0" clrIdx="0">
    <p:extLst>
      <p:ext uri="{19B8F6BF-5375-455C-9EA6-DF929625EA0E}">
        <p15:presenceInfo xmlns:p15="http://schemas.microsoft.com/office/powerpoint/2012/main" userId="G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5A8D3-A23A-4C03-A069-CFDB43C0B9C8}" type="datetimeFigureOut">
              <a:rPr lang="fr-FR" smtClean="0"/>
              <a:pPr/>
              <a:t>15/12/2025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6641" y="214232"/>
            <a:ext cx="89078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DÉFINITION</a:t>
            </a:r>
          </a:p>
          <a:p>
            <a:pPr marL="514350" indent="-514350"/>
            <a:r>
              <a:rPr lang="fr-FR" sz="2800" dirty="0"/>
              <a:t>On appelle cellules souches, des cellules </a:t>
            </a:r>
            <a:r>
              <a:rPr lang="fr-FR" sz="2800" dirty="0" smtClean="0"/>
              <a:t>indifférenciées non spécialisées capables </a:t>
            </a:r>
            <a:r>
              <a:rPr lang="fr-FR" sz="2800" dirty="0"/>
              <a:t>de </a:t>
            </a:r>
            <a:r>
              <a:rPr lang="fr-FR" sz="2800" dirty="0" smtClean="0"/>
              <a:t>: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fr-FR" sz="2800" dirty="0" smtClean="0"/>
              <a:t>s'auto-renouveler: se diviser tout en conservant leur identité, 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endParaRPr lang="fr-FR" sz="2800" dirty="0" smtClean="0"/>
          </a:p>
          <a:p>
            <a:pPr marL="514350" indent="-514350"/>
            <a:r>
              <a:rPr lang="fr-FR" sz="2800" dirty="0" smtClean="0"/>
              <a:t>Les cellules souches </a:t>
            </a:r>
            <a:r>
              <a:rPr lang="fr-FR" sz="2800" dirty="0"/>
              <a:t>sont naturellement présentes chez l'embryon </a:t>
            </a:r>
            <a:r>
              <a:rPr lang="fr-FR" sz="2800" dirty="0" smtClean="0"/>
              <a:t>et dans </a:t>
            </a:r>
            <a:r>
              <a:rPr lang="fr-FR" sz="2800" dirty="0"/>
              <a:t>certains organes ou tissus adultes.</a:t>
            </a:r>
            <a:endParaRPr lang="fr-FR" sz="2800" dirty="0" smtClean="0"/>
          </a:p>
          <a:p>
            <a:pPr marL="514350" indent="-514350"/>
            <a:endParaRPr lang="fr-FR" sz="2800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0" y="-387424"/>
            <a:ext cx="8964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</a:t>
            </a:r>
            <a:endParaRPr lang="fr-FR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45190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TYPES DE CELLULES SOUCHES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620688"/>
            <a:ext cx="9542292" cy="59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Les cellules souches totipotentes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Issues des toutes premières divisions de l’œuf fécondé</a:t>
            </a:r>
          </a:p>
          <a:p>
            <a:r>
              <a:rPr lang="fr-FR" sz="2800" dirty="0" smtClean="0"/>
              <a:t> (entre la fécondation et le quatrième jour).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Elles peuvent se différencier en tous types de cellules de </a:t>
            </a:r>
          </a:p>
          <a:p>
            <a:r>
              <a:rPr lang="fr-FR" sz="2800" dirty="0" smtClean="0"/>
              <a:t>l'organisme et en annexes (placenta, cordon ombilical).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 sont les seules cellules souches pouvant donner naissance </a:t>
            </a:r>
          </a:p>
          <a:p>
            <a:r>
              <a:rPr lang="fr-FR" sz="2800" dirty="0" smtClean="0"/>
              <a:t>à un embryon complet. 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Les cellules souches embryonnaires concentrent de nombreux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espoirs, mais parce qu’elles soulèvent des questions éthiques,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leur utilisation est strictement encadrée par la loi.</a:t>
            </a:r>
          </a:p>
          <a:p>
            <a:pPr lvl="0">
              <a:buFont typeface="Wingdings" pitchFamily="2" charset="2"/>
              <a:buChar char="Ø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08520" y="-28162"/>
            <a:ext cx="8824082" cy="59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</a:t>
            </a:r>
            <a:r>
              <a:rPr lang="fr-FR" sz="2800" b="1" dirty="0" smtClean="0">
                <a:solidFill>
                  <a:srgbClr val="0070C0"/>
                </a:solidFill>
              </a:rPr>
              <a:t>pluripotentes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Les cellules souches </a:t>
            </a:r>
            <a:r>
              <a:rPr lang="fr-FR" sz="2800" b="1" dirty="0" smtClean="0">
                <a:solidFill>
                  <a:srgbClr val="0070C0"/>
                </a:solidFill>
              </a:rPr>
              <a:t>pluripotentes embryonnaires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Issues d'un embryon de 5 à 7 jour (stade </a:t>
            </a:r>
            <a:r>
              <a:rPr lang="fr-FR" sz="2800" dirty="0" err="1" smtClean="0"/>
              <a:t>blastocyste</a:t>
            </a:r>
            <a:r>
              <a:rPr lang="fr-FR" sz="2800" dirty="0" smtClean="0"/>
              <a:t> :</a:t>
            </a:r>
          </a:p>
          <a:p>
            <a:r>
              <a:rPr lang="fr-FR" sz="2800" dirty="0" smtClean="0"/>
              <a:t> bouton embryonnaire).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Elles peuvent donner naissance à plus de 200 types de </a:t>
            </a:r>
          </a:p>
          <a:p>
            <a:r>
              <a:rPr lang="fr-FR" sz="2800" dirty="0" smtClean="0"/>
              <a:t>cellules représentatifs de tous les tissus de l'organisme.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Ces cellules sont prélevées et placées en culture où elles </a:t>
            </a:r>
          </a:p>
          <a:p>
            <a:r>
              <a:rPr lang="fr-FR" sz="2800" dirty="0" smtClean="0"/>
              <a:t>vont alors se multiplier et, selon leur milieu se culture, </a:t>
            </a:r>
          </a:p>
          <a:p>
            <a:r>
              <a:rPr lang="fr-FR" sz="2800" dirty="0" smtClean="0"/>
              <a:t>se différencier en tel ou tel type de cellules spécialisées : </a:t>
            </a:r>
          </a:p>
          <a:p>
            <a:r>
              <a:rPr lang="fr-FR" sz="2800" dirty="0" smtClean="0"/>
              <a:t>cellules sanguines, cellules du cerveau, cellules du foie, etc</a:t>
            </a:r>
            <a:r>
              <a:rPr lang="fr-FR" dirty="0" smtClean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260648"/>
            <a:ext cx="953915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pluripotentes induites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Egalement nommées cellules </a:t>
            </a:r>
            <a:r>
              <a:rPr lang="fr-FR" sz="2800" dirty="0" err="1" smtClean="0"/>
              <a:t>Ips</a:t>
            </a:r>
            <a:endParaRPr lang="fr-FR" sz="2800" dirty="0" smtClean="0"/>
          </a:p>
          <a:p>
            <a:r>
              <a:rPr lang="fr-FR" sz="2800" dirty="0" smtClean="0"/>
              <a:t>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("</a:t>
            </a:r>
            <a:r>
              <a:rPr lang="fr-FR" sz="2800" b="1" dirty="0" err="1" smtClean="0">
                <a:solidFill>
                  <a:srgbClr val="00B0F0"/>
                </a:solidFill>
              </a:rPr>
              <a:t>induced</a:t>
            </a:r>
            <a:r>
              <a:rPr lang="fr-FR" sz="2800" b="1" dirty="0" smtClean="0">
                <a:solidFill>
                  <a:srgbClr val="00B0F0"/>
                </a:solidFill>
              </a:rPr>
              <a:t> pluripotent stem </a:t>
            </a:r>
            <a:r>
              <a:rPr lang="fr-FR" sz="2800" b="1" dirty="0" err="1" smtClean="0">
                <a:solidFill>
                  <a:srgbClr val="00B0F0"/>
                </a:solidFill>
              </a:rPr>
              <a:t>cells</a:t>
            </a:r>
            <a:r>
              <a:rPr lang="fr-FR" sz="2800" b="1" dirty="0" smtClean="0">
                <a:solidFill>
                  <a:srgbClr val="00B0F0"/>
                </a:solidFill>
              </a:rPr>
              <a:t>")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Cellules souches adultes qui ont été reprogrammées </a:t>
            </a:r>
          </a:p>
          <a:p>
            <a:r>
              <a:rPr lang="fr-FR" sz="2800" dirty="0" smtClean="0"/>
              <a:t>génétiquement pour avoir les caractéristiques des cellules </a:t>
            </a:r>
          </a:p>
          <a:p>
            <a:r>
              <a:rPr lang="fr-FR" sz="2800" dirty="0" smtClean="0"/>
              <a:t>souches embryonnaires.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Comme les cellules souches embryonnaires, les cellules IPS </a:t>
            </a:r>
          </a:p>
          <a:p>
            <a:r>
              <a:rPr lang="fr-FR" sz="2800" dirty="0" smtClean="0"/>
              <a:t>ont cette capacité d’auto-</a:t>
            </a:r>
            <a:r>
              <a:rPr lang="fr-FR" sz="2800" dirty="0" err="1" smtClean="0"/>
              <a:t>renouvellemement</a:t>
            </a:r>
            <a:r>
              <a:rPr lang="fr-FR" sz="2800" dirty="0" smtClean="0"/>
              <a:t> et de </a:t>
            </a:r>
            <a:r>
              <a:rPr lang="fr-FR" sz="2800" dirty="0" err="1" smtClean="0"/>
              <a:t>pluripotence</a:t>
            </a:r>
            <a:r>
              <a:rPr lang="fr-FR" sz="2800" dirty="0" smtClean="0"/>
              <a:t>,</a:t>
            </a:r>
          </a:p>
          <a:p>
            <a:r>
              <a:rPr lang="fr-FR" sz="2800" dirty="0" smtClean="0"/>
              <a:t> avec l'avantage d'être faciles d’accès (une simple biopsie suffit)</a:t>
            </a:r>
          </a:p>
          <a:p>
            <a:r>
              <a:rPr lang="fr-FR" sz="2800" dirty="0" smtClean="0"/>
              <a:t> et de ne pas poser problèmes éthiques des cellules souches</a:t>
            </a:r>
          </a:p>
          <a:p>
            <a:r>
              <a:rPr lang="fr-FR" sz="2800" dirty="0" smtClean="0"/>
              <a:t> embryonnaires.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116632"/>
            <a:ext cx="10052945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</a:t>
            </a:r>
            <a:r>
              <a:rPr lang="fr-FR" sz="2800" b="1" dirty="0" smtClean="0">
                <a:solidFill>
                  <a:srgbClr val="0070C0"/>
                </a:solidFill>
              </a:rPr>
              <a:t>multipotentes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Cellules </a:t>
            </a:r>
            <a:r>
              <a:rPr lang="fr-FR" sz="2800" dirty="0"/>
              <a:t>capables de se différencier en plusieurs types </a:t>
            </a:r>
            <a:r>
              <a:rPr lang="fr-FR" sz="2800" dirty="0" smtClean="0"/>
              <a:t>de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cellules, mais au sein d’un même tissu ou d’une même </a:t>
            </a:r>
            <a:endParaRPr lang="fr-FR" sz="2800" dirty="0" smtClean="0"/>
          </a:p>
          <a:p>
            <a:r>
              <a:rPr lang="fr-FR" sz="2800" dirty="0" smtClean="0"/>
              <a:t>lignée </a:t>
            </a:r>
            <a:r>
              <a:rPr lang="fr-FR" sz="2800" dirty="0"/>
              <a:t>cellulaire (leur potentiel est donc limité, </a:t>
            </a:r>
            <a:r>
              <a:rPr lang="fr-FR" sz="2800" dirty="0" smtClean="0"/>
              <a:t>contrairement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aux cellules pluripotentes</a:t>
            </a:r>
            <a:r>
              <a:rPr lang="fr-FR" sz="2800" dirty="0" smtClean="0"/>
              <a:t>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Une cellule souche multipotente peut donner plusieurs </a:t>
            </a:r>
            <a:endParaRPr lang="fr-FR" sz="2800" dirty="0" smtClean="0"/>
          </a:p>
          <a:p>
            <a:r>
              <a:rPr lang="fr-FR" sz="2800" dirty="0" smtClean="0"/>
              <a:t>cellules </a:t>
            </a:r>
            <a:r>
              <a:rPr lang="fr-FR" sz="2800" dirty="0"/>
              <a:t>spécialisées apparentées, mais pas tous les types </a:t>
            </a:r>
            <a:endParaRPr lang="fr-FR" sz="2800" dirty="0" smtClean="0"/>
          </a:p>
          <a:p>
            <a:r>
              <a:rPr lang="fr-FR" sz="2800" dirty="0" smtClean="0"/>
              <a:t>cellulaires </a:t>
            </a:r>
            <a:r>
              <a:rPr lang="fr-FR" sz="2800" dirty="0"/>
              <a:t>de </a:t>
            </a:r>
            <a:r>
              <a:rPr lang="fr-FR" sz="2800" dirty="0" smtClean="0"/>
              <a:t>l’organisme.</a:t>
            </a:r>
          </a:p>
          <a:p>
            <a:r>
              <a:rPr lang="fr-FR" sz="2800" dirty="0" smtClean="0">
                <a:solidFill>
                  <a:srgbClr val="FF0000"/>
                </a:solidFill>
              </a:rPr>
              <a:t>Exemples importants</a:t>
            </a:r>
            <a:endParaRPr lang="fr-FR" sz="2800" dirty="0" smtClean="0"/>
          </a:p>
          <a:p>
            <a:r>
              <a:rPr lang="fr-FR" sz="2800" dirty="0" smtClean="0"/>
              <a:t>- Cellules </a:t>
            </a:r>
            <a:r>
              <a:rPr lang="fr-FR" sz="2800" dirty="0"/>
              <a:t>souches hématopoïétiques (moelle osseuse)→ donnent 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* Globules rouges</a:t>
            </a:r>
          </a:p>
          <a:p>
            <a:r>
              <a:rPr lang="fr-FR" sz="2800" dirty="0" smtClean="0"/>
              <a:t>*Globules </a:t>
            </a:r>
            <a:r>
              <a:rPr lang="fr-FR" sz="2800" dirty="0"/>
              <a:t>blancs (lymphocytes, neutrophiles, etc</a:t>
            </a:r>
            <a:r>
              <a:rPr lang="fr-FR" sz="2800" dirty="0" smtClean="0"/>
              <a:t>.)</a:t>
            </a:r>
          </a:p>
          <a:p>
            <a:r>
              <a:rPr lang="fr-FR" sz="2800" dirty="0" smtClean="0"/>
              <a:t>*Plaquettes</a:t>
            </a:r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116632"/>
            <a:ext cx="920687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dirty="0" smtClean="0"/>
              <a:t>Cellules </a:t>
            </a:r>
            <a:r>
              <a:rPr lang="fr-FR" sz="2800" dirty="0"/>
              <a:t>souches mésenchymateuses→ donnent 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*Ostéoblastes </a:t>
            </a:r>
            <a:r>
              <a:rPr lang="fr-FR" sz="2800" dirty="0"/>
              <a:t>(os</a:t>
            </a:r>
            <a:r>
              <a:rPr lang="fr-FR" sz="2800" dirty="0" smtClean="0"/>
              <a:t>)</a:t>
            </a:r>
          </a:p>
          <a:p>
            <a:r>
              <a:rPr lang="fr-FR" sz="2800" dirty="0"/>
              <a:t>*</a:t>
            </a:r>
            <a:r>
              <a:rPr lang="fr-FR" sz="2800" dirty="0" smtClean="0"/>
              <a:t>Chondrocytes </a:t>
            </a:r>
            <a:r>
              <a:rPr lang="fr-FR" sz="2800" dirty="0"/>
              <a:t>(cartilage</a:t>
            </a:r>
            <a:r>
              <a:rPr lang="fr-FR" sz="2800" dirty="0" smtClean="0"/>
              <a:t>)</a:t>
            </a:r>
          </a:p>
          <a:p>
            <a:r>
              <a:rPr lang="fr-FR" sz="2800" dirty="0"/>
              <a:t>*</a:t>
            </a:r>
            <a:r>
              <a:rPr lang="fr-FR" sz="2800" dirty="0" smtClean="0"/>
              <a:t>Adipocytes </a:t>
            </a:r>
            <a:r>
              <a:rPr lang="fr-FR" sz="2800" dirty="0"/>
              <a:t>(graisse</a:t>
            </a:r>
            <a:r>
              <a:rPr lang="fr-FR" sz="2800" dirty="0" smtClean="0"/>
              <a:t>)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Cellules </a:t>
            </a:r>
            <a:r>
              <a:rPr lang="fr-FR" sz="2800" dirty="0"/>
              <a:t>souches neurales→ donnent </a:t>
            </a:r>
            <a:r>
              <a:rPr lang="fr-FR" sz="2800" dirty="0" smtClean="0"/>
              <a:t>:</a:t>
            </a:r>
          </a:p>
          <a:p>
            <a:r>
              <a:rPr lang="fr-FR" sz="2800" dirty="0"/>
              <a:t>*</a:t>
            </a:r>
            <a:r>
              <a:rPr lang="fr-FR" sz="2800" dirty="0" smtClean="0"/>
              <a:t>Neurones</a:t>
            </a:r>
          </a:p>
          <a:p>
            <a:r>
              <a:rPr lang="fr-FR" sz="2800" dirty="0"/>
              <a:t>*</a:t>
            </a:r>
            <a:r>
              <a:rPr lang="fr-FR" sz="2800" dirty="0" smtClean="0"/>
              <a:t>Astrocytes* Oligodendrocytes</a:t>
            </a:r>
            <a:endParaRPr lang="fr-FR" sz="2800" dirty="0" smtClean="0"/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chemeClr val="tx2"/>
                </a:solidFill>
              </a:rPr>
              <a:t>Les </a:t>
            </a:r>
            <a:r>
              <a:rPr lang="fr-FR" sz="2800" b="1" dirty="0">
                <a:solidFill>
                  <a:schemeClr val="tx2"/>
                </a:solidFill>
              </a:rPr>
              <a:t>cellules souches unipotentes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 Issues de tissus adultes, elles ne peuvent donner naissance </a:t>
            </a:r>
          </a:p>
          <a:p>
            <a:r>
              <a:rPr lang="fr-FR" sz="2800" dirty="0"/>
              <a:t>qu’à un type de cellule.</a:t>
            </a:r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07468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Users\dell\Desktop\cellules-souches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748463" cy="61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979712" y="64533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39552" y="6211669"/>
            <a:ext cx="76738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Les différents types de cellules souches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83239"/>
            <a:ext cx="902946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PERSPECTIVES THERAPEUTIQUES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endParaRPr lang="fr-FR" sz="2800" b="1" dirty="0" smtClean="0">
              <a:solidFill>
                <a:srgbClr val="FF000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L'espoir </a:t>
            </a:r>
            <a:r>
              <a:rPr lang="fr-FR" sz="2800" dirty="0"/>
              <a:t>des chercheurs et médecins est de pouvoir </a:t>
            </a:r>
            <a:r>
              <a:rPr lang="fr-FR" sz="2800" dirty="0" smtClean="0"/>
              <a:t>utiliser</a:t>
            </a:r>
          </a:p>
          <a:p>
            <a:pPr marL="514350" indent="-514350"/>
            <a:r>
              <a:rPr lang="fr-FR" sz="2800" dirty="0" smtClean="0"/>
              <a:t>Les cellules souches, ce  </a:t>
            </a:r>
            <a:r>
              <a:rPr lang="fr-FR" sz="2800" dirty="0"/>
              <a:t>potentiel pour réparer ou </a:t>
            </a:r>
            <a:r>
              <a:rPr lang="fr-FR" sz="2800" dirty="0" smtClean="0"/>
              <a:t>remplacer</a:t>
            </a:r>
          </a:p>
          <a:p>
            <a:pPr marL="514350" indent="-514350"/>
            <a:r>
              <a:rPr lang="fr-FR" sz="2800" dirty="0" smtClean="0"/>
              <a:t> </a:t>
            </a:r>
            <a:r>
              <a:rPr lang="fr-FR" sz="2800" dirty="0"/>
              <a:t>des organes abimés </a:t>
            </a:r>
            <a:r>
              <a:rPr lang="fr-FR" sz="2800" dirty="0" smtClean="0"/>
              <a:t>ou  </a:t>
            </a:r>
            <a:r>
              <a:rPr lang="fr-FR" sz="2800" dirty="0"/>
              <a:t>traiter certaines maladies</a:t>
            </a:r>
            <a:r>
              <a:rPr lang="fr-FR" sz="2800" dirty="0" smtClean="0"/>
              <a:t>.</a:t>
            </a:r>
          </a:p>
          <a:p>
            <a:pPr marL="514350" indent="-514350"/>
            <a:r>
              <a:rPr lang="fr-FR" sz="2800" dirty="0" smtClean="0"/>
              <a:t> </a:t>
            </a:r>
          </a:p>
          <a:p>
            <a:pPr marL="514350" indent="-514350"/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052736"/>
            <a:ext cx="277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200" dirty="0" smtClean="0"/>
              <a:t>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315416"/>
            <a:ext cx="960872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LA THERAPIE CELLULAIRE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fr-FR" sz="2800" dirty="0" smtClean="0"/>
              <a:t>Consiste </a:t>
            </a:r>
            <a:r>
              <a:rPr lang="fr-FR" sz="2800" dirty="0"/>
              <a:t>à </a:t>
            </a:r>
            <a:r>
              <a:rPr lang="fr-FR" sz="2800" b="1" dirty="0">
                <a:solidFill>
                  <a:srgbClr val="FF0000"/>
                </a:solidFill>
              </a:rPr>
              <a:t>greffer</a:t>
            </a:r>
            <a:r>
              <a:rPr lang="fr-FR" sz="2800" dirty="0"/>
              <a:t> des cellules pour </a:t>
            </a:r>
            <a:r>
              <a:rPr lang="fr-FR" sz="2800" b="1" dirty="0">
                <a:solidFill>
                  <a:srgbClr val="FF0000"/>
                </a:solidFill>
              </a:rPr>
              <a:t>réparer</a:t>
            </a:r>
            <a:r>
              <a:rPr lang="fr-FR" sz="2800" dirty="0"/>
              <a:t> ou </a:t>
            </a:r>
            <a:r>
              <a:rPr lang="fr-FR" sz="2800" b="1" dirty="0">
                <a:solidFill>
                  <a:srgbClr val="FF0000"/>
                </a:solidFill>
              </a:rPr>
              <a:t>régénérer</a:t>
            </a:r>
            <a:r>
              <a:rPr lang="fr-FR" sz="2800" dirty="0"/>
              <a:t> </a:t>
            </a:r>
            <a:r>
              <a:rPr lang="fr-FR" sz="2800" dirty="0" smtClean="0"/>
              <a:t>un</a:t>
            </a:r>
          </a:p>
          <a:p>
            <a:pPr marL="514350" indent="-514350"/>
            <a:r>
              <a:rPr lang="fr-FR" sz="2800" dirty="0" smtClean="0"/>
              <a:t> </a:t>
            </a:r>
            <a:r>
              <a:rPr lang="fr-FR" sz="2800" dirty="0"/>
              <a:t>organe ou un tissu </a:t>
            </a:r>
            <a:r>
              <a:rPr lang="fr-FR" sz="2800" dirty="0" smtClean="0"/>
              <a:t>endommagé.</a:t>
            </a:r>
          </a:p>
          <a:p>
            <a:pPr marL="514350" indent="-514350"/>
            <a:endParaRPr lang="fr-FR" sz="2800" dirty="0" smtClean="0"/>
          </a:p>
          <a:p>
            <a:pPr marL="514350" indent="-514350">
              <a:buFont typeface="Wingdings" pitchFamily="2" charset="2"/>
              <a:buChar char="Ø"/>
            </a:pPr>
            <a:r>
              <a:rPr lang="fr-FR" sz="2800" dirty="0" smtClean="0"/>
              <a:t>En cas de maladie, certaines cellules souches peuvent être</a:t>
            </a:r>
          </a:p>
          <a:p>
            <a:r>
              <a:rPr lang="fr-FR" sz="2800" dirty="0" smtClean="0"/>
              <a:t> prélevées, cultivées puis réinjectées afin de restaurer la fonction</a:t>
            </a:r>
          </a:p>
          <a:p>
            <a:r>
              <a:rPr lang="fr-FR" sz="2800" dirty="0" smtClean="0"/>
              <a:t> du tissu ou de l'organe défaillant</a:t>
            </a:r>
            <a:r>
              <a:rPr lang="fr-FR" sz="2800" dirty="0"/>
              <a:t>. Grâce au fort potentiel régénératif des cellules souches, </a:t>
            </a:r>
          </a:p>
          <a:p>
            <a:r>
              <a:rPr lang="fr-FR" sz="2800" dirty="0"/>
              <a:t>cette </a:t>
            </a:r>
            <a:r>
              <a:rPr lang="fr-FR" sz="2800" dirty="0" smtClean="0"/>
              <a:t>approche, très prometteuse, comporte un;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risque </a:t>
            </a:r>
            <a:r>
              <a:rPr lang="fr-FR" sz="2800" dirty="0"/>
              <a:t>de dégénérescence </a:t>
            </a:r>
            <a:r>
              <a:rPr lang="fr-FR" sz="2800" dirty="0" smtClean="0"/>
              <a:t>cellulaire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Risque de croissance cellulaire incontrôlée ( tumorale).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Users\dell\Desktop\Sans titre2.bmp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0"/>
            <a:ext cx="8964488" cy="6162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55239" y="6211669"/>
            <a:ext cx="544251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THERAPIE CELLULAIRE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2592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La thérapie génique constitue l’une des voies privilégiées pour  traiter les maladies génétiques.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Elle consiste à insérer, dans  les cellules du malade, une version normale d’un gène qui ne  fonctionne pas et cause la maladie.</a:t>
            </a:r>
          </a:p>
          <a:p>
            <a:r>
              <a:rPr lang="fr-FR" sz="2800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Le gène fonctionnel permet alors au patient de produire à nouveau la protéine  dont la déficience était la source de la maladie.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747464"/>
            <a:ext cx="9600898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r>
              <a:rPr lang="fr-FR" sz="2800" dirty="0" smtClean="0"/>
              <a:t>Pour réussir l’opération, trois conditions doivent être remplies :</a:t>
            </a:r>
          </a:p>
          <a:p>
            <a:pPr lvl="0"/>
            <a:endParaRPr lang="fr-FR" sz="2800" b="1" dirty="0" smtClean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Connaître le gène responsable de la maladie</a:t>
            </a:r>
            <a:r>
              <a:rPr lang="fr-FR" sz="2800" dirty="0" smtClean="0"/>
              <a:t>,</a:t>
            </a:r>
          </a:p>
          <a:p>
            <a:pPr lvl="0"/>
            <a:r>
              <a:rPr lang="fr-FR" sz="2800" dirty="0" smtClean="0"/>
              <a:t> soit la fonction de ce gène, afin de pouvoir « réparer » la cellule.</a:t>
            </a:r>
          </a:p>
          <a:p>
            <a:pPr lvl="0"/>
            <a:endParaRPr lang="fr-FR" sz="2800" b="1" dirty="0" smtClean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Permettre au gène d’atteindre et entrer dans la cellule</a:t>
            </a:r>
          </a:p>
          <a:p>
            <a:pPr lvl="0"/>
            <a:r>
              <a:rPr lang="fr-FR" sz="2800" b="1" dirty="0" smtClean="0"/>
              <a:t> </a:t>
            </a:r>
            <a:r>
              <a:rPr lang="fr-FR" sz="2800" dirty="0" smtClean="0"/>
              <a:t>à l’aide d’un « vecteur », le plus souvent un virus que l’on a </a:t>
            </a:r>
          </a:p>
          <a:p>
            <a:pPr lvl="0"/>
            <a:r>
              <a:rPr lang="fr-FR" sz="2800" dirty="0" smtClean="0"/>
              <a:t>rendu inoffensif pour le malade.</a:t>
            </a:r>
          </a:p>
          <a:p>
            <a:pPr lvl="0"/>
            <a:endParaRPr lang="fr-FR" sz="2800" b="1" dirty="0" smtClean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Associer le gène à un « promoteur »,</a:t>
            </a:r>
            <a:r>
              <a:rPr lang="fr-FR" sz="2800" dirty="0" smtClean="0"/>
              <a:t> une petite séquence</a:t>
            </a:r>
          </a:p>
          <a:p>
            <a:pPr lvl="0"/>
            <a:r>
              <a:rPr lang="fr-FR" sz="2800" dirty="0" smtClean="0"/>
              <a:t> d’ADN qui permet son fonctionnement une fois au sein de la</a:t>
            </a:r>
          </a:p>
          <a:p>
            <a:pPr lvl="0"/>
            <a:r>
              <a:rPr lang="fr-FR" sz="2800" dirty="0" smtClean="0"/>
              <a:t> cellule.</a:t>
            </a:r>
          </a:p>
          <a:p>
            <a:r>
              <a:rPr lang="fr-FR" sz="2800" dirty="0" smtClean="0"/>
              <a:t> 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 </a:t>
            </a:r>
          </a:p>
          <a:p>
            <a:pPr marL="514350" indent="-514350">
              <a:buFont typeface="Wingdings" pitchFamily="2" charset="2"/>
              <a:buChar char="Ø"/>
            </a:pPr>
            <a:endParaRPr lang="fr-FR" sz="2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Users\dell\Desktop\Thérapie+génique+somatique+exvivo+utilisant+des+virus+modifiés+comme+vecteur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"/>
            <a:ext cx="8784976" cy="618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01487" y="6211669"/>
            <a:ext cx="47500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THERAPIE GENIQUE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28607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APPLICATION DES CELLULES SOUCHES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Thérapie cellulaire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Greffe de moelle osseuse (années 70), nécessaire </a:t>
            </a:r>
          </a:p>
          <a:p>
            <a:pPr lvl="0"/>
            <a:r>
              <a:rPr lang="fr-FR" sz="2800" dirty="0" smtClean="0"/>
              <a:t>dans  certaines maladies  graves du sang comme la leucémie, </a:t>
            </a:r>
          </a:p>
          <a:p>
            <a:pPr lvl="0"/>
            <a:r>
              <a:rPr lang="fr-FR" sz="2800" dirty="0" smtClean="0"/>
              <a:t>concerne les  cellules souches dites hématopoïétiques (CSH).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La </a:t>
            </a:r>
            <a:r>
              <a:rPr lang="fr-FR" sz="2800" dirty="0"/>
              <a:t>greffe de cellules souches cutanées </a:t>
            </a:r>
            <a:r>
              <a:rPr lang="fr-FR" sz="2800" dirty="0" smtClean="0"/>
              <a:t> (années 80) pour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reconstituer l’épiderme chez </a:t>
            </a:r>
            <a:r>
              <a:rPr lang="fr-FR" sz="2800" dirty="0" smtClean="0"/>
              <a:t>les  </a:t>
            </a:r>
            <a:r>
              <a:rPr lang="fr-FR" sz="2800" dirty="0"/>
              <a:t>grands brûlés.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/>
              <a:t> Les cellules souches de l'œil sont quant à elle utilisées pour</a:t>
            </a:r>
          </a:p>
          <a:p>
            <a:pPr lvl="0"/>
            <a:r>
              <a:rPr lang="fr-FR" sz="2800" dirty="0"/>
              <a:t> réparer certaines lésions de la cornée.</a:t>
            </a:r>
          </a:p>
          <a:p>
            <a:pPr marL="514350" indent="-514350"/>
            <a:r>
              <a:rPr lang="fr-FR" sz="2800" dirty="0"/>
              <a:t>Des travaux de bio ingénierie cellulaire sont actuellement</a:t>
            </a:r>
          </a:p>
          <a:p>
            <a:pPr lvl="0"/>
            <a:r>
              <a:rPr lang="fr-FR" sz="2800" dirty="0"/>
              <a:t> en cours pour tenter de régénérer ou réparer certains tissus,</a:t>
            </a:r>
          </a:p>
          <a:p>
            <a:pPr lvl="0"/>
            <a:r>
              <a:rPr lang="fr-FR" sz="2800" dirty="0"/>
              <a:t> comme le cartilage par exemple, grâce à la greffe de cellules </a:t>
            </a:r>
          </a:p>
          <a:p>
            <a:pPr lvl="0"/>
            <a:r>
              <a:rPr lang="fr-FR" sz="2800" dirty="0"/>
              <a:t>souches </a:t>
            </a:r>
            <a:r>
              <a:rPr lang="fr-FR" sz="2800" dirty="0" smtClean="0"/>
              <a:t>spécifiques pouvant  donner </a:t>
            </a:r>
            <a:r>
              <a:rPr lang="fr-FR" sz="2800" dirty="0"/>
              <a:t>naissance à des cellules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 cartilagineuses</a:t>
            </a:r>
            <a:r>
              <a:rPr lang="fr-FR" sz="2800" dirty="0" smtClean="0"/>
              <a:t>,   </a:t>
            </a:r>
            <a:r>
              <a:rPr lang="fr-FR" sz="2800" dirty="0"/>
              <a:t>osseuses, </a:t>
            </a:r>
            <a:r>
              <a:rPr lang="fr-FR" sz="2800" dirty="0" smtClean="0"/>
              <a:t>   </a:t>
            </a:r>
            <a:r>
              <a:rPr lang="fr-FR" sz="2800" dirty="0"/>
              <a:t>graisseuses, </a:t>
            </a:r>
            <a:r>
              <a:rPr lang="fr-FR" sz="2800" dirty="0" smtClean="0"/>
              <a:t>   </a:t>
            </a:r>
            <a:r>
              <a:rPr lang="fr-FR" sz="2800" dirty="0"/>
              <a:t>fibres musculaires</a:t>
            </a:r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880" y="0"/>
            <a:ext cx="9679894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De nombreux autres travaux basés sur ces cellules souches</a:t>
            </a:r>
          </a:p>
          <a:p>
            <a:pPr lvl="0"/>
            <a:r>
              <a:rPr lang="fr-FR" sz="2800" dirty="0" smtClean="0"/>
              <a:t>sont actuellement réalisés en  rhumatologie,  cardiologie, </a:t>
            </a:r>
          </a:p>
          <a:p>
            <a:pPr lvl="0"/>
            <a:r>
              <a:rPr lang="fr-FR" sz="2800" dirty="0" smtClean="0"/>
              <a:t>pour certaines myopathies,  le diabète, etc.</a:t>
            </a:r>
          </a:p>
          <a:p>
            <a:pPr lvl="0"/>
            <a:r>
              <a:rPr lang="fr-FR" sz="2800" dirty="0"/>
              <a:t>La recherche explore de nombreuses  autres approches de</a:t>
            </a:r>
          </a:p>
          <a:p>
            <a:r>
              <a:rPr lang="fr-FR" sz="2800" dirty="0"/>
              <a:t> thérapie cellulaire pour des pathologies variées : </a:t>
            </a:r>
          </a:p>
          <a:p>
            <a:r>
              <a:rPr lang="fr-FR" sz="2800" dirty="0"/>
              <a:t> 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la transplantation dans le pancréas de diabétiques de cellules</a:t>
            </a:r>
          </a:p>
          <a:p>
            <a:pPr lvl="0"/>
            <a:r>
              <a:rPr lang="fr-FR" sz="2800" dirty="0"/>
              <a:t> productrices d’insuline.</a:t>
            </a:r>
          </a:p>
          <a:p>
            <a:pPr lvl="0"/>
            <a:r>
              <a:rPr lang="fr-FR" sz="2800" dirty="0"/>
              <a:t>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la greffe de cellules souches dans les articulations de personnes</a:t>
            </a:r>
          </a:p>
          <a:p>
            <a:pPr lvl="0"/>
            <a:r>
              <a:rPr lang="fr-FR" sz="2800" dirty="0"/>
              <a:t> atteintes d’arthrose.</a:t>
            </a:r>
          </a:p>
          <a:p>
            <a:pPr lvl="0"/>
            <a:endParaRPr lang="fr-FR" sz="2800" dirty="0"/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la greffe de cellules souches de muscle pour renforcer les</a:t>
            </a:r>
          </a:p>
          <a:p>
            <a:pPr lvl="0"/>
            <a:r>
              <a:rPr lang="fr-FR" sz="2800" dirty="0"/>
              <a:t> sphincter d’individus souffrant d’incontinence urinaire ou anale.</a:t>
            </a:r>
          </a:p>
          <a:p>
            <a:r>
              <a:rPr lang="fr-FR" sz="2800" dirty="0"/>
              <a:t>Des essais cliniques sont aussi en cours :            </a:t>
            </a:r>
          </a:p>
          <a:p>
            <a:pPr lvl="0"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 lvl="0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08520" y="-171400"/>
            <a:ext cx="9600642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le remplacement des neurones manquants dans le cerveau </a:t>
            </a:r>
          </a:p>
          <a:p>
            <a:pPr lvl="0"/>
            <a:r>
              <a:rPr lang="fr-FR" sz="2800" dirty="0" smtClean="0"/>
              <a:t>de malades de Parkinson.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la réparation de la moelle épinière de personnes paraplégiques</a:t>
            </a:r>
          </a:p>
          <a:p>
            <a:pPr lvl="0"/>
            <a:r>
              <a:rPr lang="fr-FR" sz="2800" dirty="0" smtClean="0"/>
              <a:t> après un accident. </a:t>
            </a:r>
          </a:p>
          <a:p>
            <a:pPr lvl="0"/>
            <a:endParaRPr lang="fr-FR" sz="2800" dirty="0" smtClean="0"/>
          </a:p>
          <a:p>
            <a:r>
              <a:rPr lang="fr-FR" sz="2800" dirty="0" smtClean="0"/>
              <a:t>Certains essais ont déjà été couronnés de succès comme la </a:t>
            </a:r>
          </a:p>
          <a:p>
            <a:r>
              <a:rPr lang="fr-FR" sz="2800" dirty="0" smtClean="0"/>
              <a:t>Réparation du muscle cardiaque lésé après un infarctus. </a:t>
            </a:r>
          </a:p>
          <a:p>
            <a:r>
              <a:rPr lang="fr-FR" sz="2800" dirty="0" smtClean="0"/>
              <a:t>   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 lvl="0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328609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THERAPIE GENIQUE</a:t>
            </a:r>
          </a:p>
          <a:p>
            <a:r>
              <a:rPr lang="fr-FR" sz="2800" b="1" dirty="0" smtClean="0">
                <a:solidFill>
                  <a:schemeClr val="tx2"/>
                </a:solidFill>
              </a:rPr>
              <a:t>Essais </a:t>
            </a:r>
            <a:r>
              <a:rPr lang="fr-FR" sz="2800" b="1" dirty="0">
                <a:solidFill>
                  <a:schemeClr val="tx2"/>
                </a:solidFill>
              </a:rPr>
              <a:t>cliniques ciblant différentes </a:t>
            </a:r>
            <a:r>
              <a:rPr lang="fr-FR" sz="2800" b="1" dirty="0" smtClean="0">
                <a:solidFill>
                  <a:schemeClr val="tx2"/>
                </a:solidFill>
              </a:rPr>
              <a:t>pathologies</a:t>
            </a:r>
            <a:r>
              <a:rPr lang="fr-FR" sz="2800" dirty="0"/>
              <a:t> :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Maladies </a:t>
            </a:r>
            <a:r>
              <a:rPr lang="fr-FR" sz="2800" dirty="0"/>
              <a:t>génétiques rares du </a:t>
            </a:r>
            <a:r>
              <a:rPr lang="fr-FR" sz="2800" dirty="0" smtClean="0"/>
              <a:t>sang:</a:t>
            </a:r>
          </a:p>
          <a:p>
            <a:pPr lvl="0"/>
            <a:r>
              <a:rPr lang="fr-FR" sz="2800" dirty="0" smtClean="0"/>
              <a:t>          </a:t>
            </a:r>
            <a:r>
              <a:rPr lang="fr-FR" sz="2800" b="1" dirty="0" smtClean="0">
                <a:solidFill>
                  <a:srgbClr val="FF0000"/>
                </a:solidFill>
              </a:rPr>
              <a:t>Immunodéficiences</a:t>
            </a:r>
            <a:r>
              <a:rPr lang="fr-FR" sz="2800" b="1" dirty="0">
                <a:solidFill>
                  <a:srgbClr val="FF0000"/>
                </a:solidFill>
              </a:rPr>
              <a:t>, </a:t>
            </a:r>
            <a:r>
              <a:rPr lang="fr-FR" sz="2800" b="1" dirty="0" smtClean="0">
                <a:solidFill>
                  <a:srgbClr val="FF0000"/>
                </a:solidFill>
              </a:rPr>
              <a:t>β-thalassémie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</a:t>
            </a:r>
            <a:r>
              <a:rPr lang="fr-FR" sz="2800" dirty="0" smtClean="0"/>
              <a:t>Maladies génétiques  </a:t>
            </a:r>
            <a:r>
              <a:rPr lang="fr-FR" sz="2800" dirty="0"/>
              <a:t>du </a:t>
            </a:r>
            <a:r>
              <a:rPr lang="fr-FR" sz="2800" dirty="0" smtClean="0"/>
              <a:t>cerveau:</a:t>
            </a:r>
          </a:p>
          <a:p>
            <a:pPr lvl="0"/>
            <a:r>
              <a:rPr lang="fr-FR" sz="2800" dirty="0" smtClean="0"/>
              <a:t>          </a:t>
            </a:r>
            <a:r>
              <a:rPr lang="fr-FR" sz="2800" b="1" dirty="0" err="1" smtClean="0">
                <a:solidFill>
                  <a:srgbClr val="FF0000"/>
                </a:solidFill>
              </a:rPr>
              <a:t>Adrénoleucodystrophie</a:t>
            </a:r>
            <a:r>
              <a:rPr lang="fr-FR" sz="2800" b="1" dirty="0">
                <a:solidFill>
                  <a:srgbClr val="FF0000"/>
                </a:solidFill>
              </a:rPr>
              <a:t> 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Maladie </a:t>
            </a:r>
            <a:r>
              <a:rPr lang="fr-FR" sz="2800" dirty="0"/>
              <a:t>génétique de la rétine : </a:t>
            </a:r>
            <a:endParaRPr lang="fr-FR" sz="2800" dirty="0" smtClean="0"/>
          </a:p>
          <a:p>
            <a:pPr lvl="0"/>
            <a:r>
              <a:rPr lang="fr-FR" sz="2800" dirty="0" smtClean="0"/>
              <a:t>         </a:t>
            </a:r>
            <a:r>
              <a:rPr lang="fr-FR" sz="2800" b="1" dirty="0" smtClean="0">
                <a:solidFill>
                  <a:srgbClr val="FF0000"/>
                </a:solidFill>
              </a:rPr>
              <a:t>Amaurose </a:t>
            </a:r>
            <a:r>
              <a:rPr lang="fr-FR" sz="2800" b="1" dirty="0">
                <a:solidFill>
                  <a:srgbClr val="FF0000"/>
                </a:solidFill>
              </a:rPr>
              <a:t>congénitale de </a:t>
            </a:r>
            <a:r>
              <a:rPr lang="fr-FR" sz="2800" b="1" dirty="0" err="1" smtClean="0">
                <a:solidFill>
                  <a:srgbClr val="FF0000"/>
                </a:solidFill>
              </a:rPr>
              <a:t>Leber</a:t>
            </a:r>
            <a:endParaRPr lang="fr-FR" sz="2800" b="1" dirty="0">
              <a:solidFill>
                <a:srgbClr val="FF0000"/>
              </a:solidFill>
            </a:endParaRP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Myopathies </a:t>
            </a:r>
            <a:r>
              <a:rPr lang="fr-FR" sz="2800" dirty="0"/>
              <a:t>sévères : </a:t>
            </a:r>
            <a:endParaRPr lang="fr-FR" sz="2800" dirty="0" smtClean="0"/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         </a:t>
            </a:r>
            <a:r>
              <a:rPr lang="fr-FR" sz="2800" b="1" dirty="0" smtClean="0">
                <a:solidFill>
                  <a:srgbClr val="FF0000"/>
                </a:solidFill>
              </a:rPr>
              <a:t>Myopathie  </a:t>
            </a:r>
            <a:r>
              <a:rPr lang="fr-FR" sz="2800" b="1" dirty="0" err="1" smtClean="0">
                <a:solidFill>
                  <a:srgbClr val="FF0000"/>
                </a:solidFill>
              </a:rPr>
              <a:t>myotibulaire</a:t>
            </a:r>
            <a:endParaRPr lang="fr-FR" sz="2800" b="1" dirty="0">
              <a:solidFill>
                <a:srgbClr val="FF0000"/>
              </a:solidFill>
            </a:endParaRPr>
          </a:p>
          <a:p>
            <a:pPr lvl="0"/>
            <a:r>
              <a:rPr lang="fr-FR" sz="2800" b="1" dirty="0" smtClean="0">
                <a:solidFill>
                  <a:schemeClr val="tx2"/>
                </a:solidFill>
              </a:rPr>
              <a:t>Autres </a:t>
            </a:r>
            <a:r>
              <a:rPr lang="fr-FR" sz="2800" b="1" dirty="0">
                <a:solidFill>
                  <a:schemeClr val="tx2"/>
                </a:solidFill>
              </a:rPr>
              <a:t>essais  </a:t>
            </a:r>
            <a:r>
              <a:rPr lang="fr-FR" sz="2800" b="1" dirty="0" smtClean="0">
                <a:solidFill>
                  <a:schemeClr val="tx2"/>
                </a:solidFill>
              </a:rPr>
              <a:t>en voie:</a:t>
            </a:r>
          </a:p>
          <a:p>
            <a:pPr lvl="0"/>
            <a:r>
              <a:rPr lang="fr-FR" sz="2800" dirty="0" smtClean="0"/>
              <a:t> Déficits immunitaires      Maladies </a:t>
            </a:r>
            <a:r>
              <a:rPr lang="fr-FR" sz="2800" dirty="0"/>
              <a:t>du </a:t>
            </a:r>
            <a:r>
              <a:rPr lang="fr-FR" sz="2800" dirty="0" smtClean="0"/>
              <a:t>sang</a:t>
            </a:r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Maladies  </a:t>
            </a:r>
            <a:r>
              <a:rPr lang="fr-FR" sz="2800" dirty="0"/>
              <a:t>de la vision, </a:t>
            </a:r>
            <a:r>
              <a:rPr lang="fr-FR" sz="2800" dirty="0" smtClean="0"/>
              <a:t>     Maladies du foie</a:t>
            </a:r>
          </a:p>
          <a:p>
            <a:pPr lvl="0"/>
            <a:r>
              <a:rPr lang="fr-FR" sz="2800" dirty="0" smtClean="0"/>
              <a:t> Maladies neuromusculaires</a:t>
            </a:r>
            <a:endParaRPr lang="fr-FR" sz="2800" dirty="0"/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5957</TotalTime>
  <Words>810</Words>
  <Application>Microsoft Office PowerPoint</Application>
  <PresentationFormat>Affichage à l'écran (4:3)</PresentationFormat>
  <Paragraphs>176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28</cp:revision>
  <dcterms:created xsi:type="dcterms:W3CDTF">2018-12-08T13:19:14Z</dcterms:created>
  <dcterms:modified xsi:type="dcterms:W3CDTF">2025-12-15T08:33:22Z</dcterms:modified>
</cp:coreProperties>
</file>