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1"/>
  </p:notesMasterIdLst>
  <p:sldIdLst>
    <p:sldId id="257" r:id="rId2"/>
    <p:sldId id="314" r:id="rId3"/>
    <p:sldId id="317" r:id="rId4"/>
    <p:sldId id="318" r:id="rId5"/>
    <p:sldId id="308" r:id="rId6"/>
    <p:sldId id="292" r:id="rId7"/>
    <p:sldId id="296" r:id="rId8"/>
    <p:sldId id="259" r:id="rId9"/>
    <p:sldId id="295" r:id="rId10"/>
    <p:sldId id="260" r:id="rId11"/>
    <p:sldId id="261" r:id="rId12"/>
    <p:sldId id="291" r:id="rId13"/>
    <p:sldId id="286" r:id="rId14"/>
    <p:sldId id="315" r:id="rId15"/>
    <p:sldId id="262" r:id="rId16"/>
    <p:sldId id="287" r:id="rId17"/>
    <p:sldId id="264" r:id="rId18"/>
    <p:sldId id="288" r:id="rId19"/>
    <p:sldId id="316" r:id="rId20"/>
    <p:sldId id="319" r:id="rId21"/>
    <p:sldId id="289" r:id="rId22"/>
    <p:sldId id="268" r:id="rId23"/>
    <p:sldId id="269" r:id="rId24"/>
    <p:sldId id="271" r:id="rId25"/>
    <p:sldId id="310" r:id="rId26"/>
    <p:sldId id="273" r:id="rId27"/>
    <p:sldId id="274" r:id="rId28"/>
    <p:sldId id="277" r:id="rId29"/>
    <p:sldId id="290" r:id="rId30"/>
    <p:sldId id="278" r:id="rId31"/>
    <p:sldId id="298" r:id="rId32"/>
    <p:sldId id="299" r:id="rId33"/>
    <p:sldId id="300" r:id="rId34"/>
    <p:sldId id="301" r:id="rId35"/>
    <p:sldId id="302" r:id="rId36"/>
    <p:sldId id="305" r:id="rId37"/>
    <p:sldId id="306" r:id="rId38"/>
    <p:sldId id="311" r:id="rId39"/>
    <p:sldId id="312" r:id="rId4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94C17-715E-4471-BB27-E442A396748E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D394A-C580-481F-934B-891E82625F0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38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39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28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7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91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06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465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31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05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36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7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2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8CF62-766C-4CAC-AE9E-7BE9F5263168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82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7997" y="260648"/>
            <a:ext cx="8962838" cy="606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                       </a:t>
            </a:r>
            <a:r>
              <a:rPr lang="fr-FR" sz="2400" b="1" dirty="0" smtClean="0"/>
              <a:t>MODULE EMBRYOLOGIE GENERALE</a:t>
            </a:r>
          </a:p>
          <a:p>
            <a:r>
              <a:rPr lang="fr-FR" sz="2400" b="1" dirty="0" smtClean="0"/>
              <a:t>   LA PREMIERE SEMAINE DU DEVELOPPEMENT EMBRYONNAIRE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            THE </a:t>
            </a:r>
            <a:r>
              <a:rPr lang="fr-FR" sz="2400" b="1" dirty="0">
                <a:solidFill>
                  <a:srgbClr val="FF0000"/>
                </a:solidFill>
              </a:rPr>
              <a:t>FIRST </a:t>
            </a:r>
            <a:r>
              <a:rPr lang="fr-FR" sz="2400" b="1" dirty="0" smtClean="0">
                <a:solidFill>
                  <a:srgbClr val="FF0000"/>
                </a:solidFill>
              </a:rPr>
              <a:t>WEEK OF </a:t>
            </a:r>
            <a:r>
              <a:rPr lang="fr-FR" sz="2400" b="1" dirty="0">
                <a:solidFill>
                  <a:srgbClr val="FF0000"/>
                </a:solidFill>
              </a:rPr>
              <a:t>EMBRYONIC DEVELOPMENT</a:t>
            </a:r>
            <a:endParaRPr lang="fr-FR" sz="2400" b="1" dirty="0" smtClean="0">
              <a:solidFill>
                <a:srgbClr val="FF0000"/>
              </a:solidFill>
            </a:endParaRPr>
          </a:p>
          <a:p>
            <a:r>
              <a:rPr lang="fr-FR" sz="2800" dirty="0" smtClean="0"/>
              <a:t>         </a:t>
            </a:r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                                                               </a:t>
            </a:r>
            <a:r>
              <a:rPr lang="fr-FR" sz="2800" b="1" dirty="0" smtClean="0"/>
              <a:t>PR HANNACHI-HECINI A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8532440" cy="4392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9487" y="-26487"/>
            <a:ext cx="1020028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The first week of embryonic </a:t>
            </a:r>
            <a:r>
              <a:rPr lang="fr-FR" sz="2400" dirty="0" smtClean="0"/>
              <a:t>development is </a:t>
            </a:r>
            <a:r>
              <a:rPr lang="fr-FR" sz="2400" dirty="0"/>
              <a:t>marked by two major events: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accent1"/>
                </a:solidFill>
              </a:rPr>
              <a:t>Fertilization</a:t>
            </a:r>
          </a:p>
          <a:p>
            <a:endParaRPr lang="fr-FR" sz="24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dirty="0" smtClean="0">
                <a:solidFill>
                  <a:schemeClr val="accent1"/>
                </a:solidFill>
              </a:rPr>
              <a:t>Cleavage and </a:t>
            </a:r>
            <a:r>
              <a:rPr lang="fr-FR" sz="2400" b="1" dirty="0">
                <a:solidFill>
                  <a:schemeClr val="accent1"/>
                </a:solidFill>
              </a:rPr>
              <a:t>Fallopian Tube </a:t>
            </a:r>
            <a:r>
              <a:rPr lang="fr-FR" sz="2400" b="1" dirty="0" smtClean="0">
                <a:solidFill>
                  <a:schemeClr val="accent1"/>
                </a:solidFill>
              </a:rPr>
              <a:t>Migration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r>
              <a:rPr lang="fr-FR" sz="2800" b="1" dirty="0" smtClean="0"/>
              <a:t> 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410432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88640"/>
            <a:ext cx="828092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solidFill>
                  <a:schemeClr val="accent1"/>
                </a:solidFill>
              </a:rPr>
              <a:t>                                       </a:t>
            </a:r>
            <a:r>
              <a:rPr lang="fr-FR" sz="2400" b="1" dirty="0" smtClean="0">
                <a:solidFill>
                  <a:schemeClr val="accent1"/>
                </a:solidFill>
              </a:rPr>
              <a:t>I</a:t>
            </a:r>
            <a:r>
              <a:rPr lang="fr-FR" sz="2400" b="1" dirty="0">
                <a:solidFill>
                  <a:schemeClr val="accent1"/>
                </a:solidFill>
              </a:rPr>
              <a:t>. FERTILIZATION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This is the process during which the male and female gametes unite to form the zygote and then the embryo.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It occurs in the outer third of the fallopian tube.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It requires the simultaneous presence of a </a:t>
            </a:r>
            <a:r>
              <a:rPr lang="fr-FR" sz="2400" dirty="0" smtClean="0"/>
              <a:t>spermatozoid </a:t>
            </a:r>
            <a:r>
              <a:rPr lang="fr-FR" sz="2400" dirty="0"/>
              <a:t>capable of fertilizing and a mature oocyte.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Fertilization responds to specific chronological and topographical conditions:</a:t>
            </a:r>
          </a:p>
          <a:p>
            <a:r>
              <a:rPr lang="fr-FR" sz="2400" dirty="0"/>
              <a:t>- Fertilizable period</a:t>
            </a:r>
          </a:p>
          <a:p>
            <a:r>
              <a:rPr lang="fr-FR" sz="2400" dirty="0"/>
              <a:t>- Ovulation date</a:t>
            </a:r>
          </a:p>
          <a:p>
            <a:r>
              <a:rPr lang="fr-FR" sz="2400" dirty="0" smtClean="0"/>
              <a:t>- Lifespan </a:t>
            </a:r>
            <a:r>
              <a:rPr lang="fr-FR" sz="2400" dirty="0"/>
              <a:t>of gametes</a:t>
            </a:r>
          </a:p>
          <a:p>
            <a:r>
              <a:rPr lang="fr-FR" sz="2400" dirty="0" smtClean="0"/>
              <a:t>- Capacitation </a:t>
            </a:r>
            <a:r>
              <a:rPr lang="fr-FR" sz="2400" dirty="0"/>
              <a:t>of sperm in the female reproductive system</a:t>
            </a:r>
          </a:p>
        </p:txBody>
      </p:sp>
    </p:spTree>
    <p:extLst>
      <p:ext uri="{BB962C8B-B14F-4D97-AF65-F5344CB8AC3E}">
        <p14:creationId xmlns:p14="http://schemas.microsoft.com/office/powerpoint/2010/main" val="174557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632"/>
            <a:ext cx="975657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chemeClr val="accent1"/>
                </a:solidFill>
              </a:rPr>
              <a:t>                                               Sperm </a:t>
            </a:r>
            <a:r>
              <a:rPr lang="fr-FR" sz="2800" b="1" dirty="0">
                <a:solidFill>
                  <a:schemeClr val="accent1"/>
                </a:solidFill>
              </a:rPr>
              <a:t>Path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Sexual </a:t>
            </a:r>
            <a:r>
              <a:rPr lang="fr-FR" sz="2800" dirty="0"/>
              <a:t>intercourse: 100 to 300 million </a:t>
            </a:r>
            <a:r>
              <a:rPr lang="fr-FR" sz="2800" dirty="0" smtClean="0"/>
              <a:t>sperm deposited </a:t>
            </a:r>
            <a:r>
              <a:rPr lang="fr-FR" sz="2800" dirty="0"/>
              <a:t>in the vaginal cavity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Travel </a:t>
            </a:r>
            <a:r>
              <a:rPr lang="fr-FR" sz="2800" dirty="0"/>
              <a:t>up the genital tract to the ampulla of </a:t>
            </a:r>
            <a:r>
              <a:rPr lang="fr-FR" sz="2800" dirty="0" smtClean="0"/>
              <a:t>the fallopian </a:t>
            </a:r>
            <a:r>
              <a:rPr lang="fr-FR" sz="2800" dirty="0"/>
              <a:t>tube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Cross </a:t>
            </a:r>
            <a:r>
              <a:rPr lang="fr-FR" sz="2800" dirty="0"/>
              <a:t>the oocyte envelopes: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corona radiata,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pellucid membrane,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plasmic membrane. 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Considerable </a:t>
            </a:r>
            <a:r>
              <a:rPr lang="fr-FR" sz="2800" dirty="0"/>
              <a:t>loss of sperm: only a few hundred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reach the site of fertilization.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25</a:t>
            </a:r>
            <a:r>
              <a:rPr lang="fr-FR" sz="2800" dirty="0"/>
              <a:t>% are abnormal.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Quality </a:t>
            </a:r>
            <a:r>
              <a:rPr lang="fr-FR" sz="2800" dirty="0"/>
              <a:t>of the mucus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A </a:t>
            </a:r>
            <a:r>
              <a:rPr lang="fr-FR" sz="2800" dirty="0"/>
              <a:t>large number is trapped in the </a:t>
            </a:r>
            <a:r>
              <a:rPr lang="fr-FR" sz="2800" dirty="0" smtClean="0"/>
              <a:t>glands of </a:t>
            </a:r>
            <a:r>
              <a:rPr lang="fr-FR" sz="2800" dirty="0"/>
              <a:t>the cervix.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The </a:t>
            </a:r>
            <a:r>
              <a:rPr lang="fr-FR" sz="2800" dirty="0"/>
              <a:t>utero-tubal junction forms an obstacle...</a:t>
            </a:r>
          </a:p>
        </p:txBody>
      </p:sp>
    </p:spTree>
    <p:extLst>
      <p:ext uri="{BB962C8B-B14F-4D97-AF65-F5344CB8AC3E}">
        <p14:creationId xmlns:p14="http://schemas.microsoft.com/office/powerpoint/2010/main" val="422071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756884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endParaRPr lang="fr-FR" sz="2800" b="1" dirty="0"/>
          </a:p>
          <a:p>
            <a:r>
              <a:rPr lang="fr-FR" sz="2800" b="1" dirty="0" smtClean="0"/>
              <a:t> </a:t>
            </a:r>
            <a:r>
              <a:rPr lang="fr-FR" sz="2800" dirty="0" smtClean="0"/>
              <a:t>Perte considérable de </a:t>
            </a:r>
            <a:r>
              <a:rPr lang="fr-FR" sz="2800" dirty="0" err="1" smtClean="0"/>
              <a:t>spz</a:t>
            </a:r>
            <a:r>
              <a:rPr lang="fr-FR" sz="2800" dirty="0" smtClean="0"/>
              <a:t>: quelques centaines seulement</a:t>
            </a:r>
          </a:p>
          <a:p>
            <a:r>
              <a:rPr lang="fr-FR" sz="2800" dirty="0" smtClean="0"/>
              <a:t> arrivent au lieu de  fécondation.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q"/>
            </a:pPr>
            <a:r>
              <a:rPr lang="fr-FR" sz="2800" dirty="0"/>
              <a:t> </a:t>
            </a:r>
            <a:r>
              <a:rPr lang="fr-FR" sz="2800" dirty="0" smtClean="0"/>
              <a:t>25% sont anormaux</a:t>
            </a:r>
          </a:p>
          <a:p>
            <a:pPr>
              <a:buFont typeface="Wingdings" pitchFamily="2" charset="2"/>
              <a:buChar char="q"/>
            </a:pPr>
            <a:endParaRPr lang="fr-FR" sz="2800" dirty="0" smtClean="0"/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Qualité de la glaire</a:t>
            </a:r>
          </a:p>
          <a:p>
            <a:pPr>
              <a:buFont typeface="Wingdings" pitchFamily="2" charset="2"/>
              <a:buChar char="q"/>
            </a:pPr>
            <a:endParaRPr lang="fr-FR" sz="2800" dirty="0" smtClean="0"/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Un grand nombre est emprisonné dans les glandes</a:t>
            </a:r>
          </a:p>
          <a:p>
            <a:r>
              <a:rPr lang="fr-FR" sz="2800" dirty="0" smtClean="0"/>
              <a:t> du col utérin.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La jonction utéro tubaire forme un obstacle…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88" y="0"/>
            <a:ext cx="896448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ZoneTexte 1"/>
          <p:cNvSpPr txBox="1"/>
          <p:nvPr/>
        </p:nvSpPr>
        <p:spPr>
          <a:xfrm>
            <a:off x="3347864" y="6401138"/>
            <a:ext cx="3516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Trajet des spermatozoides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0"/>
            <a:ext cx="3764220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5796136" y="4797152"/>
            <a:ext cx="3569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r>
              <a:rPr lang="fr-FR" b="1" dirty="0" smtClean="0"/>
              <a:t>3 - Crypte d'une glande</a:t>
            </a:r>
          </a:p>
          <a:p>
            <a:r>
              <a:rPr lang="fr-FR" b="1" dirty="0" smtClean="0"/>
              <a:t> du col </a:t>
            </a:r>
          </a:p>
          <a:p>
            <a:r>
              <a:rPr lang="fr-FR" b="1" dirty="0" smtClean="0"/>
              <a:t>4 - Filaments de mucus </a:t>
            </a:r>
          </a:p>
          <a:p>
            <a:r>
              <a:rPr lang="fr-FR" b="1" dirty="0" smtClean="0"/>
              <a:t>5 - Orifice de la</a:t>
            </a:r>
          </a:p>
          <a:p>
            <a:r>
              <a:rPr lang="fr-FR" b="1" dirty="0" smtClean="0"/>
              <a:t> portion vaginale du col </a:t>
            </a:r>
            <a:endParaRPr lang="fr-FR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877" y="0"/>
            <a:ext cx="579525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r>
              <a:rPr lang="fr-FR" sz="2800" b="1" dirty="0"/>
              <a:t>At the time of ovulation, under the influence of increased estrogen, the mucus </a:t>
            </a:r>
            <a:r>
              <a:rPr lang="fr-FR" sz="2800" b="1" dirty="0" smtClean="0"/>
              <a:t>becomes thinner </a:t>
            </a:r>
            <a:r>
              <a:rPr lang="fr-FR" sz="2800" b="1" dirty="0"/>
              <a:t>and women with Spz can easily pass through the cervix.</a:t>
            </a:r>
          </a:p>
          <a:p>
            <a:endParaRPr lang="fr-FR" sz="2800" b="1" dirty="0"/>
          </a:p>
          <a:p>
            <a:r>
              <a:rPr lang="fr-FR" sz="2800" b="1" dirty="0"/>
              <a:t>Mucus has an alkaline pH at the time </a:t>
            </a:r>
            <a:r>
              <a:rPr lang="fr-FR" sz="2800" b="1" dirty="0" smtClean="0"/>
              <a:t>of ovulation</a:t>
            </a:r>
            <a:r>
              <a:rPr lang="fr-FR" sz="2800" b="1" dirty="0"/>
              <a:t>, which is more suitable</a:t>
            </a:r>
          </a:p>
          <a:p>
            <a:r>
              <a:rPr lang="fr-FR" sz="2800" b="1" dirty="0"/>
              <a:t>for women with Spz than acidic </a:t>
            </a:r>
            <a:r>
              <a:rPr lang="fr-FR" sz="2800" b="1" dirty="0" smtClean="0"/>
              <a:t>vaginal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1201" y="-99392"/>
            <a:ext cx="990059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1"/>
                </a:solidFill>
              </a:rPr>
              <a:t>                               Sperm </a:t>
            </a:r>
            <a:r>
              <a:rPr lang="fr-FR" sz="2800" b="1" dirty="0">
                <a:solidFill>
                  <a:schemeClr val="accent1"/>
                </a:solidFill>
              </a:rPr>
              <a:t>Transformations</a:t>
            </a:r>
          </a:p>
          <a:p>
            <a:endParaRPr lang="fr-FR" sz="2800" dirty="0">
              <a:solidFill>
                <a:srgbClr val="002060"/>
              </a:solidFill>
            </a:endParaRPr>
          </a:p>
          <a:p>
            <a:r>
              <a:rPr lang="fr-FR" sz="2800" dirty="0">
                <a:solidFill>
                  <a:srgbClr val="002060"/>
                </a:solidFill>
              </a:rPr>
              <a:t>In the female genital tract, the sperm undergoes two types of transformations: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B050"/>
                </a:solidFill>
              </a:rPr>
              <a:t>Capacitation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B050"/>
                </a:solidFill>
              </a:rPr>
              <a:t>The acrosomal reaction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>
                <a:solidFill>
                  <a:srgbClr val="002060"/>
                </a:solidFill>
              </a:rPr>
              <a:t>Capacitation</a:t>
            </a:r>
            <a:r>
              <a:rPr lang="fr-FR" sz="2800" dirty="0">
                <a:solidFill>
                  <a:srgbClr val="002060"/>
                </a:solidFill>
              </a:rPr>
              <a:t> is the set of changes that lead to hyperactivity of the sperm.</a:t>
            </a:r>
          </a:p>
          <a:p>
            <a:r>
              <a:rPr lang="fr-FR" sz="2800" dirty="0">
                <a:solidFill>
                  <a:srgbClr val="002060"/>
                </a:solidFill>
              </a:rPr>
              <a:t>- The changes occur on the sperm plasma membrane:</a:t>
            </a:r>
          </a:p>
          <a:p>
            <a:r>
              <a:rPr lang="fr-FR" sz="2800" dirty="0">
                <a:solidFill>
                  <a:srgbClr val="002060"/>
                </a:solidFill>
              </a:rPr>
              <a:t>- There is a dismantling of the cell coat covering the head of the sperm.</a:t>
            </a:r>
          </a:p>
          <a:p>
            <a:r>
              <a:rPr lang="fr-FR" sz="2800" dirty="0">
                <a:solidFill>
                  <a:srgbClr val="002060"/>
                </a:solidFill>
              </a:rPr>
              <a:t>- It occurs in the female genital tract.</a:t>
            </a:r>
          </a:p>
          <a:p>
            <a:r>
              <a:rPr lang="fr-FR" sz="2800" dirty="0">
                <a:solidFill>
                  <a:srgbClr val="002060"/>
                </a:solidFill>
              </a:rPr>
              <a:t>- The elimination of the cell coat is caused by: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002060"/>
                </a:solidFill>
              </a:rPr>
              <a:t>Enzymes (neuraminidase, glucuronidase)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002060"/>
                </a:solidFill>
              </a:rPr>
              <a:t>Glycosaminoglycans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002060"/>
                </a:solidFill>
              </a:rPr>
              <a:t>HormonesTransformations </a:t>
            </a:r>
            <a:r>
              <a:rPr lang="fr-FR" sz="2800" dirty="0" smtClean="0">
                <a:solidFill>
                  <a:srgbClr val="002060"/>
                </a:solidFill>
              </a:rPr>
              <a:t>des spermatozoides</a:t>
            </a:r>
          </a:p>
          <a:p>
            <a:endParaRPr lang="fr-FR" sz="2800" b="1" dirty="0" smtClean="0"/>
          </a:p>
          <a:p>
            <a:endParaRPr lang="fr-FR" sz="2800" b="1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125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cs typeface="Arial" pitchFamily="34" charset="0"/>
              </a:rPr>
              <a:t>The </a:t>
            </a:r>
            <a:r>
              <a:rPr lang="fr-FR" sz="2800" b="1" dirty="0" smtClean="0">
                <a:solidFill>
                  <a:srgbClr val="0070C0"/>
                </a:solidFill>
                <a:cs typeface="Arial" pitchFamily="34" charset="0"/>
              </a:rPr>
              <a:t>acrosome reaction  </a:t>
            </a:r>
            <a:r>
              <a:rPr lang="fr-FR" sz="2800" dirty="0">
                <a:cs typeface="Arial" pitchFamily="34" charset="0"/>
              </a:rPr>
              <a:t>is the opening of the acrosome.</a:t>
            </a:r>
          </a:p>
          <a:p>
            <a:endParaRPr lang="fr-FR" sz="2800" dirty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cs typeface="Arial" pitchFamily="34" charset="0"/>
              </a:rPr>
              <a:t>It can only occur after capacitation.</a:t>
            </a:r>
          </a:p>
          <a:p>
            <a:endParaRPr lang="fr-FR" sz="2800" dirty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cs typeface="Arial" pitchFamily="34" charset="0"/>
              </a:rPr>
              <a:t>It requires the presence of Ca++.</a:t>
            </a:r>
          </a:p>
          <a:p>
            <a:endParaRPr lang="fr-FR" sz="2800" dirty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cs typeface="Arial" pitchFamily="34" charset="0"/>
              </a:rPr>
              <a:t>This reaction is rapid, lasting only 10 to 15 mi </a:t>
            </a:r>
            <a:endParaRPr lang="fr-FR" sz="2800" dirty="0" smtClean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cs typeface="Arial" pitchFamily="34" charset="0"/>
              </a:rPr>
              <a:t> </a:t>
            </a:r>
            <a:endParaRPr lang="fr-FR" sz="2800" b="1" dirty="0">
              <a:solidFill>
                <a:srgbClr val="FF0000"/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080" y="35113"/>
            <a:ext cx="932044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                                   Phases of fertilization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Crossing </a:t>
            </a:r>
            <a:r>
              <a:rPr lang="fr-FR" sz="2800" b="1" dirty="0">
                <a:solidFill>
                  <a:srgbClr val="0070C0"/>
                </a:solidFill>
              </a:rPr>
              <a:t>the Corona Radiata</a:t>
            </a:r>
          </a:p>
          <a:p>
            <a:r>
              <a:rPr lang="fr-FR" sz="2800" dirty="0"/>
              <a:t>The zona pellucida freely crosses the corona radiata; the final layer requires an enzymatic intervention</a:t>
            </a:r>
            <a:r>
              <a:rPr lang="fr-FR" sz="2800" dirty="0" smtClean="0"/>
              <a:t>: hyaluronidase</a:t>
            </a:r>
            <a:r>
              <a:rPr lang="fr-FR" sz="2800" dirty="0"/>
              <a:t>.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0070C0"/>
                </a:solidFill>
              </a:rPr>
              <a:t>Interaction between the zona pellucida </a:t>
            </a:r>
            <a:r>
              <a:rPr lang="fr-FR" sz="2800" b="1" dirty="0" smtClean="0">
                <a:solidFill>
                  <a:srgbClr val="0070C0"/>
                </a:solidFill>
              </a:rPr>
              <a:t>and SPZ</a:t>
            </a:r>
          </a:p>
          <a:p>
            <a:r>
              <a:rPr lang="fr-FR" sz="2800" dirty="0" smtClean="0"/>
              <a:t>The pellucid membrane: three glycoproteins: ZP1, ZP2, and ZP3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235990"/>
            <a:ext cx="5541744" cy="2923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69268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rial" pitchFamily="34" charset="0"/>
                <a:cs typeface="Arial" pitchFamily="34" charset="0"/>
              </a:rPr>
              <a:t>Only </a:t>
            </a:r>
            <a:r>
              <a:rPr lang="fr-FR"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ZP3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is capable of binding the spz to the zona pellucida through membrane receptors in the anterior domain of the spz plasma membrane.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These membrane receptors include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l-GR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β-1,4-</a:t>
            </a:r>
            <a:r>
              <a:rPr lang="fr-FR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galactosyltransferase</a:t>
            </a:r>
          </a:p>
          <a:p>
            <a:r>
              <a:rPr lang="fr-FR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(GalTase)</a:t>
            </a:r>
          </a:p>
          <a:p>
            <a:endParaRPr lang="fr-FR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Golgi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enzyme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present on the spz 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membrane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Adhesion molecule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Membrane protein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Interacts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with 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ZP3</a:t>
            </a:r>
          </a:p>
          <a:p>
            <a:pPr>
              <a:buFont typeface="Wingdings" pitchFamily="2" charset="2"/>
              <a:buChar char="v"/>
            </a:pPr>
            <a:endParaRPr lang="fr-FR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ixation primaire du spermatozoïde à la zone pellucid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568952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2301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                       Acrosome  </a:t>
            </a:r>
            <a:r>
              <a:rPr lang="fr-FR" sz="3200" b="1" dirty="0">
                <a:solidFill>
                  <a:srgbClr val="002060"/>
                </a:solidFill>
              </a:rPr>
              <a:t>Reaction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3200" dirty="0"/>
              <a:t>Exocytosis between the outer </a:t>
            </a:r>
            <a:r>
              <a:rPr lang="fr-FR" sz="3200" dirty="0">
                <a:solidFill>
                  <a:srgbClr val="00B050"/>
                </a:solidFill>
              </a:rPr>
              <a:t>membrane of the acrosome</a:t>
            </a:r>
            <a:r>
              <a:rPr lang="fr-FR" sz="3200" dirty="0"/>
              <a:t> and the </a:t>
            </a:r>
            <a:r>
              <a:rPr lang="fr-FR" sz="3200" dirty="0">
                <a:solidFill>
                  <a:srgbClr val="00B050"/>
                </a:solidFill>
              </a:rPr>
              <a:t>plasma membrane </a:t>
            </a:r>
            <a:r>
              <a:rPr lang="fr-FR" sz="3200" dirty="0"/>
              <a:t>of the spz.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3200" dirty="0" smtClean="0"/>
              <a:t> Release </a:t>
            </a:r>
            <a:r>
              <a:rPr lang="fr-FR" sz="3200" dirty="0"/>
              <a:t>of the enzymatic contents of the acrosome: a protease: </a:t>
            </a:r>
            <a:r>
              <a:rPr lang="fr-FR" sz="3200" b="1" dirty="0">
                <a:solidFill>
                  <a:srgbClr val="00B050"/>
                </a:solidFill>
              </a:rPr>
              <a:t>Acrosin</a:t>
            </a:r>
            <a:r>
              <a:rPr lang="fr-FR" sz="32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3200" dirty="0"/>
              <a:t>This reaction is induced by ZP3.</a:t>
            </a:r>
          </a:p>
          <a:p>
            <a:r>
              <a:rPr lang="fr-FR" sz="3200" dirty="0"/>
              <a:t>Involves:</a:t>
            </a:r>
          </a:p>
          <a:p>
            <a:r>
              <a:rPr lang="fr-FR" sz="3200" dirty="0"/>
              <a:t>* Phospholipase</a:t>
            </a:r>
          </a:p>
          <a:p>
            <a:r>
              <a:rPr lang="fr-FR" sz="3200" dirty="0"/>
              <a:t>* Proteins</a:t>
            </a:r>
          </a:p>
          <a:p>
            <a:r>
              <a:rPr lang="fr-FR" sz="3200" dirty="0" smtClean="0"/>
              <a:t>* Influx </a:t>
            </a:r>
            <a:r>
              <a:rPr lang="fr-FR" sz="3200" dirty="0"/>
              <a:t>of Na+ and Ca</a:t>
            </a:r>
            <a:r>
              <a:rPr lang="fr-FR" sz="3200" dirty="0" smtClean="0"/>
              <a:t>+</a:t>
            </a:r>
          </a:p>
          <a:p>
            <a:pPr>
              <a:buFont typeface="Wingdings" pitchFamily="2" charset="2"/>
              <a:buChar char="v"/>
            </a:pPr>
            <a:endParaRPr lang="fr-FR" sz="3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764705"/>
            <a:ext cx="8712967" cy="489654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5877272"/>
            <a:ext cx="3578662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0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656908" y="5805264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Réaction acrosomiale</a:t>
            </a:r>
            <a:endParaRPr lang="fr-FR" sz="28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1172"/>
            <a:ext cx="8208912" cy="6237312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3275856" y="6525344"/>
            <a:ext cx="2649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Acrosome Reaction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8285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               </a:t>
            </a:r>
            <a:r>
              <a:rPr lang="fr-FR" sz="2800" b="1" dirty="0" smtClean="0">
                <a:solidFill>
                  <a:schemeClr val="accent1"/>
                </a:solidFill>
              </a:rPr>
              <a:t>Digestion </a:t>
            </a:r>
            <a:r>
              <a:rPr lang="fr-FR" sz="2800" b="1" dirty="0">
                <a:solidFill>
                  <a:schemeClr val="accent1"/>
                </a:solidFill>
              </a:rPr>
              <a:t>of the Pellucid </a:t>
            </a:r>
            <a:r>
              <a:rPr lang="fr-FR" sz="2800" b="1" dirty="0" smtClean="0">
                <a:solidFill>
                  <a:schemeClr val="accent1"/>
                </a:solidFill>
              </a:rPr>
              <a:t>membrane</a:t>
            </a:r>
            <a:endParaRPr lang="fr-FR" sz="2800" b="1" dirty="0">
              <a:solidFill>
                <a:schemeClr val="accent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Partially </a:t>
            </a:r>
            <a:r>
              <a:rPr lang="fr-FR" sz="2800" b="1" dirty="0"/>
              <a:t>Digestion of the Pellucid mb: </a:t>
            </a:r>
            <a:r>
              <a:rPr lang="fr-FR" sz="2800" b="1" dirty="0">
                <a:solidFill>
                  <a:srgbClr val="00B050"/>
                </a:solidFill>
              </a:rPr>
              <a:t>Acrosin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The </a:t>
            </a:r>
            <a:r>
              <a:rPr lang="fr-FR" sz="2800" b="1" dirty="0"/>
              <a:t>spz must detach from the pellucid </a:t>
            </a:r>
            <a:r>
              <a:rPr lang="fr-FR" sz="2800" b="1" dirty="0" smtClean="0"/>
              <a:t>mb:</a:t>
            </a:r>
            <a:endParaRPr lang="fr-FR" sz="2800" b="1" dirty="0"/>
          </a:p>
          <a:p>
            <a:r>
              <a:rPr lang="fr-FR" sz="2800" b="1" dirty="0" smtClean="0"/>
              <a:t> </a:t>
            </a:r>
            <a:r>
              <a:rPr lang="el-GR" sz="2800" b="1" dirty="0">
                <a:solidFill>
                  <a:srgbClr val="00B050"/>
                </a:solidFill>
              </a:rPr>
              <a:t>β-</a:t>
            </a:r>
            <a:r>
              <a:rPr lang="fr-FR" sz="2800" b="1" dirty="0" smtClean="0">
                <a:solidFill>
                  <a:srgbClr val="00B050"/>
                </a:solidFill>
              </a:rPr>
              <a:t>N-acetylglycosaminidase,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Enzyme cleaves </a:t>
            </a:r>
            <a:r>
              <a:rPr lang="fr-FR" sz="2800" b="1" dirty="0"/>
              <a:t>the N-acetylglycosamine residues, so there is no interaction between ZP3 and GalTase, </a:t>
            </a:r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The </a:t>
            </a:r>
            <a:r>
              <a:rPr lang="fr-FR" sz="2800" b="1" dirty="0"/>
              <a:t>free spz enters the </a:t>
            </a:r>
            <a:r>
              <a:rPr lang="fr-FR" sz="2800" b="1" dirty="0" smtClean="0"/>
              <a:t>perivitelline space</a:t>
            </a:r>
            <a:endParaRPr lang="fr-FR" sz="2800" b="1" dirty="0" smtClean="0">
              <a:solidFill>
                <a:srgbClr val="002060"/>
              </a:solidFill>
            </a:endParaRPr>
          </a:p>
          <a:p>
            <a:r>
              <a:rPr lang="fr-FR" sz="2800" b="1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11185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Fusion </a:t>
            </a:r>
            <a:r>
              <a:rPr lang="fr-FR" sz="2800" b="1" dirty="0"/>
              <a:t>of the two plasma </a:t>
            </a:r>
            <a:r>
              <a:rPr lang="fr-FR" sz="2800" b="1" dirty="0" smtClean="0"/>
              <a:t>membranes: (</a:t>
            </a:r>
            <a:r>
              <a:rPr lang="fr-FR" sz="2800" b="1" dirty="0"/>
              <a:t>plasmogamy)</a:t>
            </a:r>
          </a:p>
          <a:p>
            <a:endParaRPr lang="fr-FR" sz="2800" b="1" dirty="0"/>
          </a:p>
          <a:p>
            <a:r>
              <a:rPr lang="fr-FR" sz="2800" dirty="0"/>
              <a:t>The two membranes fuse and rupture at a single point.</a:t>
            </a:r>
          </a:p>
          <a:p>
            <a:r>
              <a:rPr lang="fr-FR" sz="2800" dirty="0"/>
              <a:t>The contents of the spz enter the cytoplasm of </a:t>
            </a:r>
            <a:r>
              <a:rPr lang="fr-FR" sz="2800" dirty="0" smtClean="0"/>
              <a:t>oocyte.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3200" b="1" dirty="0"/>
              <a:t> </a:t>
            </a:r>
            <a:r>
              <a:rPr lang="fr-FR" sz="3200" b="1" dirty="0" smtClean="0"/>
              <a:t>                               </a:t>
            </a:r>
          </a:p>
          <a:p>
            <a:endParaRPr lang="fr-FR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276872"/>
            <a:ext cx="6552728" cy="3689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819472"/>
            <a:ext cx="9036496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                       </a:t>
            </a:r>
          </a:p>
          <a:p>
            <a:endParaRPr lang="fr-FR" sz="3200" b="1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The spz has a molecule on its surface: </a:t>
            </a:r>
            <a:r>
              <a:rPr lang="fr-FR" sz="2800" b="1" dirty="0" smtClean="0">
                <a:solidFill>
                  <a:srgbClr val="00B050"/>
                </a:solidFill>
              </a:rPr>
              <a:t>Fertilin </a:t>
            </a:r>
          </a:p>
          <a:p>
            <a:r>
              <a:rPr lang="fr-FR" sz="2800" dirty="0" smtClean="0"/>
              <a:t>Capable </a:t>
            </a:r>
            <a:r>
              <a:rPr lang="fr-FR" sz="2800" dirty="0"/>
              <a:t>of binding to another protein on the oocyte's plasma membrane: </a:t>
            </a:r>
            <a:r>
              <a:rPr lang="fr-FR" sz="2800" b="1" dirty="0">
                <a:solidFill>
                  <a:srgbClr val="00B050"/>
                </a:solidFill>
              </a:rPr>
              <a:t>Integrin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The membrane fusion process is </a:t>
            </a:r>
            <a:r>
              <a:rPr lang="fr-FR" sz="2800" dirty="0" smtClean="0"/>
              <a:t>controlled by </a:t>
            </a:r>
            <a:r>
              <a:rPr lang="fr-FR" sz="2800" dirty="0"/>
              <a:t>cofactors such as: </a:t>
            </a:r>
            <a:r>
              <a:rPr lang="fr-FR" sz="2800" b="1" dirty="0">
                <a:solidFill>
                  <a:srgbClr val="00B050"/>
                </a:solidFill>
              </a:rPr>
              <a:t>CD9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Belongs </a:t>
            </a:r>
            <a:r>
              <a:rPr lang="fr-FR" sz="2800" dirty="0"/>
              <a:t>to the tetraspanin </a:t>
            </a:r>
            <a:r>
              <a:rPr lang="fr-FR" sz="2800" dirty="0" smtClean="0"/>
              <a:t>family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Binds </a:t>
            </a:r>
            <a:r>
              <a:rPr lang="fr-FR" sz="2800" dirty="0"/>
              <a:t>to </a:t>
            </a:r>
            <a:r>
              <a:rPr lang="fr-FR" sz="2800" dirty="0" smtClean="0"/>
              <a:t>integrin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The </a:t>
            </a:r>
            <a:r>
              <a:rPr lang="fr-FR" sz="2800" dirty="0"/>
              <a:t>complex formed could react with </a:t>
            </a:r>
            <a:r>
              <a:rPr lang="fr-FR" sz="2800" dirty="0" smtClean="0"/>
              <a:t>fertilin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CD9 </a:t>
            </a:r>
            <a:r>
              <a:rPr lang="fr-FR" sz="2800" dirty="0"/>
              <a:t>(-) mice are not </a:t>
            </a:r>
            <a:r>
              <a:rPr lang="fr-FR" sz="2800" dirty="0" smtClean="0"/>
              <a:t>fertile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The </a:t>
            </a:r>
            <a:r>
              <a:rPr lang="fr-FR" sz="2800" dirty="0"/>
              <a:t>CD9 receptor on the spz: a molecule from the immunoglobulin superfamily = </a:t>
            </a:r>
            <a:r>
              <a:rPr lang="fr-FR" sz="2800" b="1" dirty="0" smtClean="0">
                <a:solidFill>
                  <a:srgbClr val="00B050"/>
                </a:solidFill>
              </a:rPr>
              <a:t>Izumo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04664"/>
            <a:ext cx="8568952" cy="51125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06735" y="5373216"/>
            <a:ext cx="3258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/>
              <a:t>Fusion membranaire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72170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640"/>
            <a:ext cx="8892480" cy="4916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06735" y="5373216"/>
            <a:ext cx="2710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/>
              <a:t>Cortical Reaction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783321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Résultat de recherche d'images pour &quot;réaction corticale&quot;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2749642" y="5764009"/>
            <a:ext cx="3319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 Réaction corticale</a:t>
            </a:r>
            <a:endParaRPr lang="fr-FR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1256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2060"/>
                </a:solidFill>
              </a:rPr>
              <a:t>                                     Activation of the </a:t>
            </a:r>
            <a:r>
              <a:rPr lang="fr-FR" sz="2800" b="1" dirty="0" smtClean="0">
                <a:solidFill>
                  <a:srgbClr val="002060"/>
                </a:solidFill>
              </a:rPr>
              <a:t>egg</a:t>
            </a:r>
            <a:endParaRPr lang="fr-FR" sz="2800" b="1" dirty="0" smtClean="0">
              <a:solidFill>
                <a:srgbClr val="002060"/>
              </a:solidFill>
            </a:endParaRPr>
          </a:p>
          <a:p>
            <a:endParaRPr lang="fr-FR" sz="2800" b="1" dirty="0">
              <a:solidFill>
                <a:srgbClr val="002060"/>
              </a:solidFill>
            </a:endParaRP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r>
              <a:rPr lang="fr-FR" sz="2800" b="1" dirty="0" smtClean="0"/>
              <a:t>Spz + </a:t>
            </a:r>
            <a:r>
              <a:rPr lang="fr-FR" sz="2800" b="1" dirty="0" smtClean="0"/>
              <a:t>oocyte </a:t>
            </a:r>
            <a:r>
              <a:rPr lang="fr-FR" sz="2800" b="1" dirty="0"/>
              <a:t>II                    </a:t>
            </a:r>
            <a:r>
              <a:rPr lang="fr-FR" sz="2800" b="1" dirty="0" smtClean="0"/>
              <a:t>activation </a:t>
            </a:r>
            <a:r>
              <a:rPr lang="fr-FR" sz="2800" b="1" dirty="0"/>
              <a:t>of a membrane enzyme</a:t>
            </a:r>
          </a:p>
          <a:p>
            <a:r>
              <a:rPr lang="fr-FR" sz="2800" b="1" dirty="0"/>
              <a:t>Fertilization </a:t>
            </a:r>
            <a:r>
              <a:rPr lang="fr-FR" sz="2800" b="1" dirty="0" smtClean="0"/>
              <a:t>                                            </a:t>
            </a:r>
            <a:r>
              <a:rPr lang="fr-FR" sz="2800" b="1" dirty="0" smtClean="0">
                <a:solidFill>
                  <a:srgbClr val="00B050"/>
                </a:solidFill>
              </a:rPr>
              <a:t>phospholipase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b="1" dirty="0" smtClean="0"/>
              <a:t>                      </a:t>
            </a:r>
          </a:p>
          <a:p>
            <a:r>
              <a:rPr lang="fr-FR" sz="2800" b="1" dirty="0" smtClean="0"/>
              <a:t>                            Phosphatidylinositol P</a:t>
            </a:r>
            <a:r>
              <a:rPr lang="fr-FR" sz="2800" b="1" baseline="-25000" dirty="0" smtClean="0"/>
              <a:t>1</a:t>
            </a:r>
            <a:r>
              <a:rPr lang="fr-FR" sz="2800" b="1" dirty="0" smtClean="0"/>
              <a:t>P</a:t>
            </a:r>
            <a:r>
              <a:rPr lang="fr-FR" sz="2800" b="1" baseline="-25000" dirty="0" smtClean="0"/>
              <a:t>2</a:t>
            </a:r>
            <a:r>
              <a:rPr lang="fr-FR" sz="2800" b="1" dirty="0" smtClean="0"/>
              <a:t>                                                  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               Inositol 1,4,5                          Diacyl Glycerol</a:t>
            </a:r>
          </a:p>
          <a:p>
            <a:r>
              <a:rPr lang="fr-FR" sz="2800" b="1" dirty="0" smtClean="0"/>
              <a:t>                Triphosphate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DAG   </a:t>
            </a:r>
            <a:r>
              <a:rPr lang="fr-FR" sz="2800" b="1" dirty="0" smtClean="0"/>
              <a:t>                                              </a:t>
            </a:r>
          </a:p>
          <a:p>
            <a:r>
              <a:rPr lang="fr-FR" sz="2800" b="1" dirty="0" smtClean="0"/>
              <a:t>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IP</a:t>
            </a:r>
            <a:r>
              <a:rPr lang="fr-FR" sz="2800" b="1" baseline="-25000" dirty="0" smtClean="0">
                <a:solidFill>
                  <a:srgbClr val="0070C0"/>
                </a:solidFill>
              </a:rPr>
              <a:t>3    </a:t>
            </a:r>
          </a:p>
          <a:p>
            <a:endParaRPr lang="fr-FR" sz="3200" b="1" dirty="0" smtClean="0">
              <a:solidFill>
                <a:schemeClr val="bg1"/>
              </a:solidFill>
            </a:endParaRPr>
          </a:p>
          <a:p>
            <a:r>
              <a:rPr lang="fr-FR" sz="3200" b="1" baseline="-25000" dirty="0" smtClean="0">
                <a:solidFill>
                  <a:srgbClr val="FF0000"/>
                </a:solidFill>
              </a:rPr>
              <a:t>                    </a:t>
            </a:r>
          </a:p>
          <a:p>
            <a:r>
              <a:rPr lang="fr-FR" sz="3200" b="1" baseline="-25000" dirty="0" smtClean="0">
                <a:solidFill>
                  <a:schemeClr val="bg1"/>
                </a:solidFill>
              </a:rPr>
              <a:t>                                                                                </a:t>
            </a:r>
          </a:p>
          <a:p>
            <a:r>
              <a:rPr lang="fr-FR" sz="3200" b="1" baseline="-25000" dirty="0" smtClean="0">
                <a:solidFill>
                  <a:schemeClr val="bg1"/>
                </a:solidFill>
              </a:rPr>
              <a:t> </a:t>
            </a:r>
          </a:p>
          <a:p>
            <a:r>
              <a:rPr lang="fr-FR" sz="3200" b="1" dirty="0" smtClean="0">
                <a:solidFill>
                  <a:schemeClr val="bg1"/>
                </a:solidFill>
              </a:rPr>
              <a:t>                                               </a:t>
            </a:r>
          </a:p>
          <a:p>
            <a:r>
              <a:rPr lang="fr-FR" sz="3200" b="1" dirty="0" smtClean="0">
                <a:solidFill>
                  <a:schemeClr val="bg1"/>
                </a:solidFill>
              </a:rPr>
              <a:t>                                                         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>
            <a:off x="2528318" y="1440060"/>
            <a:ext cx="978408" cy="14401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vers le bas 5"/>
          <p:cNvSpPr/>
          <p:nvPr/>
        </p:nvSpPr>
        <p:spPr>
          <a:xfrm rot="3945605" flipH="1">
            <a:off x="6980105" y="1780209"/>
            <a:ext cx="56008" cy="1527515"/>
          </a:xfrm>
          <a:prstGeom prst="downArrow">
            <a:avLst/>
          </a:prstGeom>
          <a:solidFill>
            <a:srgbClr val="FF0000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1823090" y="3754003"/>
            <a:ext cx="119443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4840612" y="3754720"/>
            <a:ext cx="1205880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05075" indent="-2505075"/>
            <a:r>
              <a:rPr lang="fr-FR" sz="2800" b="1" dirty="0">
                <a:solidFill>
                  <a:srgbClr val="0070C0"/>
                </a:solidFill>
              </a:rPr>
              <a:t>IP3                         Acts on the membrane receptor of the </a:t>
            </a:r>
            <a:r>
              <a:rPr lang="fr-FR" sz="2800" b="1" dirty="0" smtClean="0">
                <a:solidFill>
                  <a:srgbClr val="0070C0"/>
                </a:solidFill>
              </a:rPr>
              <a:t>      Endoplasmic Reticulum (ER)</a:t>
            </a:r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                               Release </a:t>
            </a:r>
            <a:r>
              <a:rPr lang="fr-FR" sz="2800" b="1" dirty="0">
                <a:solidFill>
                  <a:srgbClr val="0070C0"/>
                </a:solidFill>
              </a:rPr>
              <a:t>of Ca++ ions from the ER</a:t>
            </a:r>
            <a:endParaRPr lang="fr-FR" sz="2800" b="1" dirty="0"/>
          </a:p>
        </p:txBody>
      </p:sp>
      <p:sp>
        <p:nvSpPr>
          <p:cNvPr id="5" name="Parenthèses 4"/>
          <p:cNvSpPr/>
          <p:nvPr/>
        </p:nvSpPr>
        <p:spPr>
          <a:xfrm>
            <a:off x="3125491" y="1383979"/>
            <a:ext cx="1440160" cy="914400"/>
          </a:xfrm>
          <a:prstGeom prst="bracketPair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385949" y="1436756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Ca+2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6943" y="2380785"/>
            <a:ext cx="985109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DAG                 Activates </a:t>
            </a:r>
            <a:r>
              <a:rPr lang="fr-FR" sz="2800" b="1" dirty="0">
                <a:solidFill>
                  <a:srgbClr val="0070C0"/>
                </a:solidFill>
              </a:rPr>
              <a:t>protein C which stimulates the Na+ pump</a:t>
            </a:r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PH intracellulaire                Activation </a:t>
            </a:r>
            <a:r>
              <a:rPr lang="fr-FR" sz="2800" b="1" dirty="0" smtClean="0"/>
              <a:t>of zygote</a:t>
            </a:r>
            <a:endParaRPr lang="fr-FR" sz="2800" b="1" dirty="0" smtClean="0"/>
          </a:p>
          <a:p>
            <a:r>
              <a:rPr lang="fr-FR" sz="2800" b="1" dirty="0" smtClean="0"/>
              <a:t>                          </a:t>
            </a:r>
            <a:r>
              <a:rPr lang="fr-FR" sz="2800" b="1" dirty="0" smtClean="0"/>
              <a:t>Synthesis  of proteins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</a:t>
            </a:r>
            <a:r>
              <a:rPr lang="fr-FR" sz="2800" b="1" dirty="0" smtClean="0"/>
              <a:t>Synthesis of lipids</a:t>
            </a:r>
            <a:endParaRPr lang="fr-FR" sz="2800" b="1" dirty="0" smtClean="0"/>
          </a:p>
          <a:p>
            <a:r>
              <a:rPr lang="fr-FR" sz="2800" b="1" dirty="0" smtClean="0"/>
              <a:t>                second </a:t>
            </a:r>
            <a:r>
              <a:rPr lang="fr-FR" sz="2800" b="1" dirty="0"/>
              <a:t>division of meiosis</a:t>
            </a:r>
          </a:p>
          <a:p>
            <a:r>
              <a:rPr lang="fr-FR" sz="2800" b="1" dirty="0"/>
              <a:t>Oocyte II </a:t>
            </a:r>
            <a:r>
              <a:rPr lang="fr-FR" sz="2800" b="1" dirty="0" smtClean="0"/>
              <a:t>                       Ovotid </a:t>
            </a:r>
            <a:r>
              <a:rPr lang="fr-FR" sz="2800" b="1" dirty="0"/>
              <a:t>+ 2nd polar body</a:t>
            </a:r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/>
          </a:p>
        </p:txBody>
      </p:sp>
      <p:sp>
        <p:nvSpPr>
          <p:cNvPr id="12" name="Parenthèses 11"/>
          <p:cNvSpPr/>
          <p:nvPr/>
        </p:nvSpPr>
        <p:spPr>
          <a:xfrm>
            <a:off x="3141025" y="2936341"/>
            <a:ext cx="1440160" cy="914400"/>
          </a:xfrm>
          <a:prstGeom prst="bracketPair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3308202" y="3101154"/>
            <a:ext cx="1071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Na+2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886538" y="260648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V="1">
            <a:off x="4663241" y="1498284"/>
            <a:ext cx="1017105" cy="429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V="1">
            <a:off x="4851039" y="3101154"/>
            <a:ext cx="801081" cy="405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3073135" y="3798326"/>
            <a:ext cx="470133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2110674" y="566124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38" y="2564904"/>
            <a:ext cx="1322947" cy="188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884368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Fécondation proprement dite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 Organisation des deux pronuclei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</a:t>
            </a:r>
            <a:r>
              <a:rPr lang="fr-FR" sz="2800" b="1" dirty="0" smtClean="0">
                <a:solidFill>
                  <a:srgbClr val="00B0F0"/>
                </a:solidFill>
              </a:rPr>
              <a:t>Pronucleus o        et pronucleus Ø</a:t>
            </a:r>
          </a:p>
          <a:p>
            <a:pPr marL="514350" indent="-514350"/>
            <a:endParaRPr lang="fr-FR" sz="2800" b="1" dirty="0" smtClean="0"/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Migration des deux pronuclei </a:t>
            </a:r>
          </a:p>
          <a:p>
            <a:r>
              <a:rPr lang="fr-FR" sz="2800" b="1" dirty="0" smtClean="0"/>
              <a:t>                au centre sur  le spermaster</a:t>
            </a:r>
          </a:p>
          <a:p>
            <a:r>
              <a:rPr lang="fr-FR" sz="2800" b="1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Accolement des 2 pro-noyaux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       </a:t>
            </a:r>
            <a:r>
              <a:rPr lang="fr-FR" sz="2800" b="1" dirty="0" smtClean="0">
                <a:solidFill>
                  <a:srgbClr val="00B0F0"/>
                </a:solidFill>
              </a:rPr>
              <a:t>Amphimixie ou Caryogamie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Résorbtion de l'enveloppe des  pronucléi</a:t>
            </a:r>
          </a:p>
          <a:p>
            <a:r>
              <a:rPr lang="fr-FR" sz="2800" b="1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Disposition de chromosomes sur le</a:t>
            </a:r>
            <a:r>
              <a:rPr lang="fr-FR" sz="2800" dirty="0" smtClean="0"/>
              <a:t> </a:t>
            </a:r>
            <a:r>
              <a:rPr lang="fr-FR" sz="2800" b="1" dirty="0" smtClean="0"/>
              <a:t>fuseau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</a:rPr>
              <a:t> </a:t>
            </a:r>
            <a:r>
              <a:rPr lang="fr-FR" sz="2800" b="1" dirty="0" smtClean="0"/>
              <a:t>Première mitose de segmentation 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>
              <a:solidFill>
                <a:srgbClr val="FF0000"/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563888" y="1700808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V="1">
            <a:off x="2411760" y="836712"/>
            <a:ext cx="576064" cy="288032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100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3200" b="1" dirty="0" smtClean="0"/>
              <a:t> 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>
              <a:solidFill>
                <a:srgbClr val="FF0000"/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563888" y="1700808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Migration des pronucléus puis Amphimixi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5760640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6228184" y="1874331"/>
            <a:ext cx="33843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Corona radiata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Mb pellucide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2 globules polaires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Diaster</a:t>
            </a:r>
            <a:endParaRPr lang="fr-FR" sz="28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 flipV="1">
            <a:off x="5166828" y="1880828"/>
            <a:ext cx="1061356" cy="3240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5364088" y="2996952"/>
            <a:ext cx="864096" cy="5760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 flipV="1">
            <a:off x="5004048" y="2780928"/>
            <a:ext cx="1224136" cy="10081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 flipV="1">
            <a:off x="4644008" y="3140968"/>
            <a:ext cx="1584176" cy="15841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 flipV="1">
            <a:off x="4572000" y="4337720"/>
            <a:ext cx="1656184" cy="4499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92548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Conséquences de la fécondation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Rétablissement de la </a:t>
            </a:r>
            <a:r>
              <a:rPr lang="fr-FR" sz="2800" b="1" dirty="0" smtClean="0">
                <a:solidFill>
                  <a:srgbClr val="0070C0"/>
                </a:solidFill>
              </a:rPr>
              <a:t>diploïdie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b="1" dirty="0" smtClean="0"/>
              <a:t>23 </a:t>
            </a:r>
            <a:r>
              <a:rPr lang="fr-FR" sz="2800" b="1" dirty="0" err="1" smtClean="0"/>
              <a:t>ch</a:t>
            </a:r>
            <a:r>
              <a:rPr lang="fr-FR" sz="2800" b="1" dirty="0" smtClean="0"/>
              <a:t> maternels + 23 </a:t>
            </a:r>
            <a:r>
              <a:rPr lang="fr-FR" sz="2800" b="1" dirty="0" err="1" smtClean="0"/>
              <a:t>ch</a:t>
            </a:r>
            <a:r>
              <a:rPr lang="fr-FR" sz="2800" b="1" dirty="0" smtClean="0"/>
              <a:t> paternels = 46 </a:t>
            </a:r>
            <a:r>
              <a:rPr lang="fr-FR" sz="2800" b="1" dirty="0" err="1" smtClean="0"/>
              <a:t>ch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du zygote.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Détermination du </a:t>
            </a:r>
            <a:r>
              <a:rPr lang="fr-FR" sz="2800" b="1" dirty="0" smtClean="0">
                <a:solidFill>
                  <a:srgbClr val="0070C0"/>
                </a:solidFill>
              </a:rPr>
              <a:t>sexe </a:t>
            </a:r>
            <a:r>
              <a:rPr lang="fr-FR" sz="2800" b="1" dirty="0" smtClean="0"/>
              <a:t>génétique du zygote:</a:t>
            </a:r>
          </a:p>
          <a:p>
            <a:r>
              <a:rPr lang="fr-FR" sz="2800" b="1" dirty="0" smtClean="0"/>
              <a:t>  23,X+23,X=46,XX : féminin 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b="1" dirty="0" smtClean="0"/>
              <a:t>  23,X+23,Y=46,XY : masculin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Création d'un </a:t>
            </a:r>
            <a:r>
              <a:rPr lang="fr-FR" sz="2800" b="1" dirty="0" smtClean="0">
                <a:solidFill>
                  <a:srgbClr val="0070C0"/>
                </a:solidFill>
              </a:rPr>
              <a:t>nouvel individu après </a:t>
            </a:r>
          </a:p>
          <a:p>
            <a:r>
              <a:rPr lang="fr-FR" sz="2800" b="1" dirty="0" smtClean="0"/>
              <a:t>brassage des </a:t>
            </a:r>
            <a:r>
              <a:rPr lang="fr-FR" sz="2800" b="1" dirty="0" smtClean="0">
                <a:solidFill>
                  <a:srgbClr val="0070C0"/>
                </a:solidFill>
              </a:rPr>
              <a:t>gènes </a:t>
            </a:r>
            <a:r>
              <a:rPr lang="fr-FR" sz="2800" b="1" dirty="0" smtClean="0"/>
              <a:t>au cours de la méiose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-243408"/>
            <a:ext cx="9217024" cy="710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2" name="AutoShape 4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4" name="AutoShape 6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6" name="AutoShape 8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8" name="AutoShape 10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0" name="AutoShape 1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62" name="Picture 14" descr="http://www.chups.jussieu.fr/polys/embryo/illus/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04664"/>
            <a:ext cx="2381250" cy="2381250"/>
          </a:xfrm>
          <a:prstGeom prst="rect">
            <a:avLst/>
          </a:prstGeom>
          <a:noFill/>
        </p:spPr>
      </p:pic>
      <p:pic>
        <p:nvPicPr>
          <p:cNvPr id="2064" name="Picture 16" descr="http://www.chups.jussieu.fr/polys/embryo/illus/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332656"/>
            <a:ext cx="2381250" cy="2381250"/>
          </a:xfrm>
          <a:prstGeom prst="rect">
            <a:avLst/>
          </a:prstGeom>
          <a:noFill/>
        </p:spPr>
      </p:pic>
      <p:pic>
        <p:nvPicPr>
          <p:cNvPr id="2072" name="Picture 24" descr="http://www.svt.ac-versailles.fr/archives/docpeda/actpeda/lycee/Sitembryo2/embryo_seconde/Activit%E9/Homme/images%20homme/zygotehumainredim-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404664"/>
            <a:ext cx="2857500" cy="24528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://www.coursmedecine.com/wp-content/uploads/2011/03/4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7632848" cy="5832648"/>
          </a:xfrm>
          <a:prstGeom prst="rect">
            <a:avLst/>
          </a:prstGeom>
          <a:noFill/>
        </p:spPr>
      </p:pic>
      <p:sp>
        <p:nvSpPr>
          <p:cNvPr id="3" name="ZoneTexte 2"/>
          <p:cNvSpPr txBox="1"/>
          <p:nvPr/>
        </p:nvSpPr>
        <p:spPr>
          <a:xfrm>
            <a:off x="-33881" y="-796873"/>
            <a:ext cx="9540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</a:t>
            </a:r>
          </a:p>
          <a:p>
            <a:endParaRPr lang="fr-FR" sz="2800" b="1" dirty="0" smtClean="0"/>
          </a:p>
          <a:p>
            <a:pPr marL="1973263" indent="-1973263"/>
            <a:r>
              <a:rPr lang="fr-FR" sz="2800" b="1" dirty="0" smtClean="0"/>
              <a:t>  II. LA SEGMENTATION ET LA MIGRATION  TUBAIRE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rmation de la Morula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48680"/>
            <a:ext cx="9143999" cy="1913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67544" y="3429000"/>
            <a:ext cx="7115409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Durant la segmentation et la migration tubaire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/>
              <a:t> </a:t>
            </a:r>
            <a:r>
              <a:rPr lang="fr-FR" sz="2800" b="1" dirty="0" smtClean="0"/>
              <a:t>La mb pellucide persiste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L’œuf garde la même taille</a:t>
            </a:r>
          </a:p>
          <a:p>
            <a:pPr lvl="0"/>
            <a:r>
              <a:rPr lang="fr-FR" sz="2800" b="1" dirty="0" smtClean="0">
                <a:solidFill>
                  <a:prstClr val="black"/>
                </a:solidFill>
              </a:rPr>
              <a:t>La </a:t>
            </a:r>
            <a:r>
              <a:rPr lang="fr-FR" sz="2800" b="1" dirty="0">
                <a:solidFill>
                  <a:prstClr val="black"/>
                </a:solidFill>
              </a:rPr>
              <a:t>segmentation chez l’homme: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Totale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Asynchrone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Inégale</a:t>
            </a:r>
          </a:p>
          <a:p>
            <a:pPr>
              <a:buFont typeface="Wingdings" pitchFamily="2" charset="2"/>
              <a:buChar char="Ø"/>
            </a:pPr>
            <a:endParaRPr lang="fr-FR" sz="32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2492896"/>
            <a:ext cx="882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   2 </a:t>
            </a:r>
            <a:r>
              <a:rPr lang="fr-FR" sz="2800" b="1" dirty="0" smtClean="0"/>
              <a:t>bla                       4 bla                    8 bla                   Morula</a:t>
            </a:r>
            <a:endParaRPr lang="fr-FR" sz="2800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3892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Stade morula    4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2" name="AutoShape 4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4" name="AutoShape 6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6" name="AutoShape 8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8" name="AutoShape 10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0" name="AutoShape 1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62" name="Picture 14" descr="http://www.chups.jussieu.fr/polys/embryo/illus/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04664"/>
            <a:ext cx="2381250" cy="2381250"/>
          </a:xfrm>
          <a:prstGeom prst="rect">
            <a:avLst/>
          </a:prstGeom>
          <a:noFill/>
        </p:spPr>
      </p:pic>
      <p:pic>
        <p:nvPicPr>
          <p:cNvPr id="2064" name="Picture 16" descr="http://www.chups.jussieu.fr/polys/embryo/illus/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332656"/>
            <a:ext cx="2381250" cy="2381250"/>
          </a:xfrm>
          <a:prstGeom prst="rect">
            <a:avLst/>
          </a:prstGeom>
          <a:noFill/>
        </p:spPr>
      </p:pic>
      <p:pic>
        <p:nvPicPr>
          <p:cNvPr id="2066" name="Picture 18" descr="http://img.over-blog.com/300x224/1/73/49/95/embryon_coul_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996952"/>
            <a:ext cx="2847975" cy="2133601"/>
          </a:xfrm>
          <a:prstGeom prst="rect">
            <a:avLst/>
          </a:prstGeom>
          <a:noFill/>
        </p:spPr>
      </p:pic>
      <p:pic>
        <p:nvPicPr>
          <p:cNvPr id="2068" name="Picture 20" descr="http://www.astrosurf.com/luxorion/Bio/embryon-3jrs-8cellules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35896" y="2780928"/>
            <a:ext cx="2520279" cy="2304255"/>
          </a:xfrm>
          <a:prstGeom prst="rect">
            <a:avLst/>
          </a:prstGeom>
          <a:noFill/>
        </p:spPr>
      </p:pic>
      <p:pic>
        <p:nvPicPr>
          <p:cNvPr id="2070" name="Picture 22" descr="http://baladesnaturalistes.hautetfort.com/media/01/01/181404564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72200" y="2852936"/>
            <a:ext cx="2088232" cy="1872207"/>
          </a:xfrm>
          <a:prstGeom prst="rect">
            <a:avLst/>
          </a:prstGeom>
          <a:noFill/>
        </p:spPr>
      </p:pic>
      <p:pic>
        <p:nvPicPr>
          <p:cNvPr id="2072" name="Picture 24" descr="http://www.svt.ac-versailles.fr/archives/docpeda/actpeda/lycee/Sitembryo2/embryo_seconde/Activit%E9/Homme/images%20homme/zygotehumainredim-g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520" y="404664"/>
            <a:ext cx="2857500" cy="24528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9144000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4245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blastocyste 5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8544" cy="834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Phénomène de compaction</a:t>
            </a:r>
          </a:p>
          <a:p>
            <a:r>
              <a:rPr lang="fr-FR" sz="2800" dirty="0" smtClean="0"/>
              <a:t>Jusqu’aux stades 32- 64 cellules, les blastomères  sont sphériques, tous visibles, pouvant être séparés  les  uns des autres.</a:t>
            </a:r>
          </a:p>
          <a:p>
            <a:r>
              <a:rPr lang="fr-FR" sz="2800" dirty="0" smtClean="0"/>
              <a:t>A partir de ce stade, les blastomères s’aplatissent, </a:t>
            </a:r>
          </a:p>
          <a:p>
            <a:r>
              <a:rPr lang="fr-FR" sz="2800" dirty="0" smtClean="0"/>
              <a:t>augmentent leurs surfaces de contact avec les cellules</a:t>
            </a:r>
          </a:p>
          <a:p>
            <a:r>
              <a:rPr lang="fr-FR" sz="2800" dirty="0" smtClean="0"/>
              <a:t> voisines = </a:t>
            </a:r>
            <a:r>
              <a:rPr lang="fr-FR" sz="2800" dirty="0" smtClean="0">
                <a:solidFill>
                  <a:srgbClr val="00B0F0"/>
                </a:solidFill>
              </a:rPr>
              <a:t>Compaction</a:t>
            </a:r>
          </a:p>
          <a:p>
            <a:pPr lvl="0"/>
            <a:r>
              <a:rPr lang="fr-FR" sz="2800" dirty="0">
                <a:solidFill>
                  <a:prstClr val="black"/>
                </a:solidFill>
              </a:rPr>
              <a:t>La compaction  est provoquée par une molécule: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Uvomoruline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     L-cam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   E-cadhérine</a:t>
            </a: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Qui </a:t>
            </a:r>
            <a:r>
              <a:rPr lang="fr-FR" sz="2800" dirty="0">
                <a:solidFill>
                  <a:prstClr val="black"/>
                </a:solidFill>
              </a:rPr>
              <a:t>permet l’adhérence </a:t>
            </a:r>
            <a:r>
              <a:rPr lang="fr-FR" sz="2800" dirty="0" smtClean="0">
                <a:solidFill>
                  <a:prstClr val="black"/>
                </a:solidFill>
              </a:rPr>
              <a:t>intercellulaire en </a:t>
            </a:r>
            <a:r>
              <a:rPr lang="fr-FR" sz="2800" dirty="0">
                <a:solidFill>
                  <a:prstClr val="black"/>
                </a:solidFill>
              </a:rPr>
              <a:t>présence de </a:t>
            </a:r>
            <a:r>
              <a:rPr lang="fr-FR" sz="2800" dirty="0" smtClean="0">
                <a:solidFill>
                  <a:prstClr val="black"/>
                </a:solidFill>
              </a:rPr>
              <a:t>calcium,</a:t>
            </a:r>
            <a:endParaRPr lang="fr-FR" sz="2800" dirty="0">
              <a:solidFill>
                <a:prstClr val="black"/>
              </a:solidFill>
            </a:endParaRP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Les blastomères sont </a:t>
            </a:r>
            <a:r>
              <a:rPr lang="fr-FR" sz="2800" b="1" dirty="0">
                <a:solidFill>
                  <a:srgbClr val="00B0F0"/>
                </a:solidFill>
              </a:rPr>
              <a:t>totipotents </a:t>
            </a:r>
            <a:r>
              <a:rPr lang="fr-FR" sz="2800" b="1" dirty="0">
                <a:solidFill>
                  <a:prstClr val="black"/>
                </a:solidFill>
              </a:rPr>
              <a:t>(très large pouvoir de différenciation) .Cela signifie que chacune d’entre elles prise isolément peut reprendre sa division et fournir un embryon complet</a:t>
            </a:r>
          </a:p>
          <a:p>
            <a:endParaRPr lang="fr-FR" sz="2800" dirty="0" smtClean="0">
              <a:solidFill>
                <a:srgbClr val="00B0F0"/>
              </a:solidFill>
            </a:endParaRPr>
          </a:p>
          <a:p>
            <a:r>
              <a:rPr lang="fr-FR" sz="2800" dirty="0" smtClean="0">
                <a:solidFill>
                  <a:schemeClr val="tx2"/>
                </a:solidFill>
              </a:rPr>
              <a:t>       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89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Eclosion du blastocyste 6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jour  </a:t>
            </a:r>
            <a:endParaRPr lang="fr-FR" sz="2800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721" y="999892"/>
            <a:ext cx="5688632" cy="381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293096"/>
            <a:ext cx="21240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6012160" y="476672"/>
            <a:ext cx="39036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                       </a:t>
            </a:r>
          </a:p>
          <a:p>
            <a:endParaRPr lang="fr-FR" sz="3200" b="1" dirty="0" smtClean="0"/>
          </a:p>
          <a:p>
            <a:r>
              <a:rPr lang="fr-FR" sz="2000" b="1" dirty="0" smtClean="0"/>
              <a:t>      BOUTON EMBRYONNAIRE</a:t>
            </a:r>
          </a:p>
          <a:p>
            <a:r>
              <a:rPr lang="fr-FR" sz="2000" b="1" dirty="0" smtClean="0"/>
              <a:t>      TROPHOBLASTE                         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       BLASTOCOELE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</p:txBody>
      </p:sp>
      <p:cxnSp>
        <p:nvCxnSpPr>
          <p:cNvPr id="9" name="Connecteur droit avec flèche 8"/>
          <p:cNvCxnSpPr/>
          <p:nvPr/>
        </p:nvCxnSpPr>
        <p:spPr>
          <a:xfrm flipH="1" flipV="1">
            <a:off x="5148064" y="1412776"/>
            <a:ext cx="1152128" cy="216024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5940152" y="2060848"/>
            <a:ext cx="504056" cy="7200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H="1" flipV="1">
            <a:off x="5220072" y="2348880"/>
            <a:ext cx="1152128" cy="216024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r>
              <a:rPr lang="fr-FR" sz="2800" dirty="0" smtClean="0"/>
              <a:t>A-</a:t>
            </a:r>
            <a:r>
              <a:rPr lang="fr-FR" sz="2800" b="1" dirty="0" smtClean="0"/>
              <a:t> </a:t>
            </a:r>
            <a:r>
              <a:rPr lang="fr-FR" sz="2800" dirty="0" smtClean="0"/>
              <a:t>L’afflux du liquide dans la morula est un phénomène  actif grâce à l’activité d’une enzyme:       </a:t>
            </a:r>
            <a:r>
              <a:rPr lang="fr-FR" sz="2800" b="1" dirty="0" smtClean="0">
                <a:solidFill>
                  <a:srgbClr val="00B0F0"/>
                </a:solidFill>
              </a:rPr>
              <a:t>Na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+2</a:t>
            </a:r>
            <a:r>
              <a:rPr lang="fr-FR" sz="2800" b="1" dirty="0" smtClean="0">
                <a:solidFill>
                  <a:srgbClr val="00B0F0"/>
                </a:solidFill>
              </a:rPr>
              <a:t>/k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+2</a:t>
            </a:r>
            <a:r>
              <a:rPr lang="fr-FR" sz="2800" b="1" dirty="0" smtClean="0">
                <a:solidFill>
                  <a:srgbClr val="00B0F0"/>
                </a:solidFill>
              </a:rPr>
              <a:t> ATP ase</a:t>
            </a:r>
          </a:p>
          <a:p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Responsable du mouvement d’ions Na. </a:t>
            </a:r>
          </a:p>
          <a:p>
            <a:r>
              <a:rPr lang="fr-FR" sz="2800" dirty="0" smtClean="0"/>
              <a:t> Ce courant sodique entraine par action osmotique, Un flux liquidien qui augmente la pression  intra-cavitaire.</a:t>
            </a:r>
          </a:p>
          <a:p>
            <a:pPr lvl="0"/>
            <a:endParaRPr lang="fr-FR" sz="2800" b="1" dirty="0" smtClean="0">
              <a:solidFill>
                <a:prstClr val="black"/>
              </a:solidFill>
            </a:endParaRP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B-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prstClr val="black"/>
                </a:solidFill>
              </a:rPr>
              <a:t>Au niveau de la mb pl des cellules du </a:t>
            </a:r>
            <a:r>
              <a:rPr lang="fr-FR" sz="2800" dirty="0" smtClean="0">
                <a:solidFill>
                  <a:prstClr val="black"/>
                </a:solidFill>
              </a:rPr>
              <a:t>trophoblaste Il </a:t>
            </a:r>
            <a:r>
              <a:rPr lang="fr-FR" sz="2800" dirty="0">
                <a:solidFill>
                  <a:prstClr val="black"/>
                </a:solidFill>
              </a:rPr>
              <a:t>ya une </a:t>
            </a:r>
            <a:r>
              <a:rPr lang="fr-FR" sz="2800" b="1" dirty="0">
                <a:solidFill>
                  <a:srgbClr val="00B0F0"/>
                </a:solidFill>
              </a:rPr>
              <a:t>protéase: </a:t>
            </a:r>
            <a:r>
              <a:rPr lang="fr-FR" sz="2800" b="1" dirty="0" smtClean="0">
                <a:solidFill>
                  <a:srgbClr val="00B0F0"/>
                </a:solidFill>
              </a:rPr>
              <a:t>La strypsine  </a:t>
            </a:r>
            <a:r>
              <a:rPr lang="fr-FR" sz="2800" dirty="0" smtClean="0">
                <a:solidFill>
                  <a:prstClr val="black"/>
                </a:solidFill>
              </a:rPr>
              <a:t>qui </a:t>
            </a:r>
            <a:r>
              <a:rPr lang="fr-FR" sz="2800" dirty="0">
                <a:solidFill>
                  <a:prstClr val="black"/>
                </a:solidFill>
              </a:rPr>
              <a:t>produit une déhiscence de la mb pellucide</a:t>
            </a: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                                      </a:t>
            </a:r>
            <a:r>
              <a:rPr lang="fr-FR" sz="2800" dirty="0">
                <a:solidFill>
                  <a:prstClr val="black"/>
                </a:solidFill>
              </a:rPr>
              <a:t>Et donc</a:t>
            </a: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r>
              <a:rPr lang="fr-FR" sz="2800" b="1" dirty="0" smtClean="0">
                <a:solidFill>
                  <a:srgbClr val="00B0F0"/>
                </a:solidFill>
              </a:rPr>
              <a:t>    Flux        </a:t>
            </a:r>
            <a:r>
              <a:rPr lang="fr-FR" sz="2800" b="1" dirty="0">
                <a:solidFill>
                  <a:srgbClr val="00B0F0"/>
                </a:solidFill>
              </a:rPr>
              <a:t>+           Fragilisation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Eclosion </a:t>
            </a:r>
            <a:endParaRPr lang="fr-FR" sz="2800" b="1" dirty="0">
              <a:solidFill>
                <a:srgbClr val="00B0F0"/>
              </a:solidFill>
            </a:endParaRPr>
          </a:p>
          <a:p>
            <a:pPr lvl="0"/>
            <a:r>
              <a:rPr lang="fr-FR" sz="2800" b="1" dirty="0">
                <a:solidFill>
                  <a:srgbClr val="00B0F0"/>
                </a:solidFill>
              </a:rPr>
              <a:t>Sodique      </a:t>
            </a:r>
            <a:r>
              <a:rPr lang="fr-FR" sz="2800" b="1" dirty="0" smtClean="0">
                <a:solidFill>
                  <a:srgbClr val="00B0F0"/>
                </a:solidFill>
              </a:rPr>
              <a:t>      de </a:t>
            </a:r>
            <a:r>
              <a:rPr lang="fr-FR" sz="2800" b="1" dirty="0">
                <a:solidFill>
                  <a:srgbClr val="00B0F0"/>
                </a:solidFill>
              </a:rPr>
              <a:t>la mb pellucide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du </a:t>
            </a:r>
            <a:r>
              <a:rPr lang="fr-FR" sz="2800" b="1" dirty="0">
                <a:solidFill>
                  <a:srgbClr val="00B0F0"/>
                </a:solidFill>
              </a:rPr>
              <a:t>blastocyste  </a:t>
            </a:r>
          </a:p>
          <a:p>
            <a:pPr lvl="0"/>
            <a:r>
              <a:rPr lang="fr-FR" sz="2800" b="1" dirty="0">
                <a:solidFill>
                  <a:srgbClr val="FF0000"/>
                </a:solidFill>
              </a:rPr>
              <a:t> </a:t>
            </a:r>
          </a:p>
          <a:p>
            <a:endParaRPr lang="fr-FR" sz="3200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L’éclosion du </a:t>
            </a:r>
            <a:r>
              <a:rPr lang="fr-FR" sz="2800" b="1" dirty="0" err="1" smtClean="0">
                <a:solidFill>
                  <a:srgbClr val="00B0F0"/>
                </a:solidFill>
              </a:rPr>
              <a:t>blastocyste</a:t>
            </a:r>
            <a:r>
              <a:rPr lang="fr-FR" sz="2800" b="1" dirty="0" smtClean="0">
                <a:solidFill>
                  <a:srgbClr val="00B0F0"/>
                </a:solidFill>
              </a:rPr>
              <a:t> est due à 2 phénomènes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5148064" y="5445224"/>
            <a:ext cx="12241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91395" y="-315416"/>
            <a:ext cx="432862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 Pré implantation 7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 </a:t>
            </a:r>
          </a:p>
          <a:p>
            <a:endParaRPr lang="fr-FR" dirty="0"/>
          </a:p>
        </p:txBody>
      </p:sp>
      <p:pic>
        <p:nvPicPr>
          <p:cNvPr id="3" name="Image 2" descr="Image associée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700808"/>
            <a:ext cx="3960440" cy="2758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-252536" y="5085184"/>
            <a:ext cx="10729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Trophoblaste = Cytotrophoblaste (</a:t>
            </a:r>
            <a:r>
              <a:rPr lang="fr-FR" sz="2800" b="1" dirty="0" smtClean="0"/>
              <a:t>CT</a:t>
            </a:r>
            <a:r>
              <a:rPr lang="fr-FR" sz="2800" dirty="0" smtClean="0"/>
              <a:t>) +Syncytiotrophoblaste (</a:t>
            </a:r>
            <a:r>
              <a:rPr lang="fr-FR" sz="2800" b="1" dirty="0" smtClean="0"/>
              <a:t>ST)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pic>
        <p:nvPicPr>
          <p:cNvPr id="5" name="Picture 2" descr="http://www.coursmedecine.com/wp-content/uploads/2011/03/4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700808"/>
            <a:ext cx="3960440" cy="30243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415068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Pré implantation 7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-252536" y="5085184"/>
            <a:ext cx="9883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                             </a:t>
            </a:r>
            <a:endParaRPr lang="fr-FR" sz="2800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1124744"/>
            <a:ext cx="9974205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Le syncytiotrophoblaste (ST)  provient de la fusion des </a:t>
            </a:r>
          </a:p>
          <a:p>
            <a:pPr lvl="0"/>
            <a:r>
              <a:rPr lang="fr-FR" sz="2800" dirty="0" smtClean="0"/>
              <a:t>cellules externes du trophoblaste.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C’est un tissu très actif qui prolifère  rapidement,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C’est un tissu qui élabore des enzymes protéolytiques et</a:t>
            </a:r>
          </a:p>
          <a:p>
            <a:pPr lvl="0"/>
            <a:r>
              <a:rPr lang="fr-FR" sz="2800" dirty="0" smtClean="0"/>
              <a:t> sécrète des facteurs qui lui permettent d'induire l'</a:t>
            </a:r>
            <a:r>
              <a:rPr lang="fr-FR" sz="2800" dirty="0" err="1" smtClean="0"/>
              <a:t>apoptose</a:t>
            </a:r>
            <a:endParaRPr lang="fr-FR" sz="2800" dirty="0" smtClean="0"/>
          </a:p>
          <a:p>
            <a:pPr lvl="0"/>
            <a:r>
              <a:rPr lang="fr-FR" sz="2800" dirty="0" smtClean="0"/>
              <a:t> des cellules épithéliales de la muqueuse utérine, de </a:t>
            </a:r>
          </a:p>
          <a:p>
            <a:pPr lvl="0"/>
            <a:r>
              <a:rPr lang="fr-FR" sz="2800" dirty="0" smtClean="0"/>
              <a:t>traverser la lame basale et pénétrer dans le stroma sous-jacent</a:t>
            </a:r>
          </a:p>
          <a:p>
            <a:pPr lvl="0"/>
            <a:r>
              <a:rPr lang="fr-FR" sz="2800" dirty="0" smtClean="0"/>
              <a:t> au contact des vaisseaux sanguins utérins.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dirty="0" err="1" smtClean="0"/>
              <a:t>cytotrophoblaste</a:t>
            </a:r>
            <a:r>
              <a:rPr lang="fr-FR" sz="2800" dirty="0" smtClean="0"/>
              <a:t> (CT) est le reste du trophoblaste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Il est toujours constitué de cellules bien individualisées.</a:t>
            </a:r>
          </a:p>
          <a:p>
            <a:pPr lvl="0"/>
            <a:r>
              <a:rPr lang="fr-FR" sz="2800" dirty="0" smtClean="0"/>
              <a:t>qui recouvre le blastocœle et sépare le bouton embryonnaire</a:t>
            </a:r>
          </a:p>
          <a:p>
            <a:pPr lvl="0"/>
            <a:r>
              <a:rPr lang="fr-FR" sz="2800" dirty="0" smtClean="0"/>
              <a:t> du </a:t>
            </a:r>
            <a:r>
              <a:rPr lang="fr-FR" sz="2800" dirty="0" err="1" smtClean="0"/>
              <a:t>syncytiotrophoblaste</a:t>
            </a:r>
            <a:r>
              <a:rPr lang="fr-FR" sz="2800" dirty="0" smtClean="0"/>
              <a:t>.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48185</TotalTime>
  <Words>1382</Words>
  <Application>Microsoft Office PowerPoint</Application>
  <PresentationFormat>Affichage à l'écran (4:3)</PresentationFormat>
  <Paragraphs>297</Paragraphs>
  <Slides>39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99</cp:revision>
  <dcterms:created xsi:type="dcterms:W3CDTF">2014-11-04T19:37:47Z</dcterms:created>
  <dcterms:modified xsi:type="dcterms:W3CDTF">2025-10-19T19:39:29Z</dcterms:modified>
</cp:coreProperties>
</file>