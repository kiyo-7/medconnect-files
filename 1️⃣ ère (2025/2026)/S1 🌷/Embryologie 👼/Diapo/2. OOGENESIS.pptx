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8"/>
  </p:notesMasterIdLst>
  <p:sldIdLst>
    <p:sldId id="309" r:id="rId2"/>
    <p:sldId id="314" r:id="rId3"/>
    <p:sldId id="316" r:id="rId4"/>
    <p:sldId id="287" r:id="rId5"/>
    <p:sldId id="290" r:id="rId6"/>
    <p:sldId id="324" r:id="rId7"/>
    <p:sldId id="292" r:id="rId8"/>
    <p:sldId id="317" r:id="rId9"/>
    <p:sldId id="315" r:id="rId10"/>
    <p:sldId id="318" r:id="rId11"/>
    <p:sldId id="289" r:id="rId12"/>
    <p:sldId id="319" r:id="rId13"/>
    <p:sldId id="313" r:id="rId14"/>
    <p:sldId id="320" r:id="rId15"/>
    <p:sldId id="261" r:id="rId16"/>
    <p:sldId id="268" r:id="rId17"/>
    <p:sldId id="310" r:id="rId18"/>
    <p:sldId id="321" r:id="rId19"/>
    <p:sldId id="325" r:id="rId20"/>
    <p:sldId id="322" r:id="rId21"/>
    <p:sldId id="326" r:id="rId22"/>
    <p:sldId id="327" r:id="rId23"/>
    <p:sldId id="307" r:id="rId24"/>
    <p:sldId id="304" r:id="rId25"/>
    <p:sldId id="303" r:id="rId26"/>
    <p:sldId id="323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4486" autoAdjust="0"/>
  </p:normalViewPr>
  <p:slideViewPr>
    <p:cSldViewPr>
      <p:cViewPr>
        <p:scale>
          <a:sx n="60" d="100"/>
          <a:sy n="60" d="100"/>
        </p:scale>
        <p:origin x="1626" y="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AB3E0-2626-44FB-815F-3E5FE41A397E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C50B6D-3C09-4065-88A7-2FF26B39BDA7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C50B6D-3C09-4065-88A7-2FF26B39BDA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763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55484-901E-4F40-996A-068B2829A5A0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55484-901E-4F40-996A-068B2829A5A0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975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D3F3C-05AF-4D91-A90F-DDEC0ECFA070}" type="datetimeFigureOut">
              <a:rPr lang="fr-FR" smtClean="0"/>
              <a:pPr/>
              <a:t>27/09/2025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593-5CB3-4E82-9B32-2DC1FC28648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12068"/>
            <a:ext cx="9144000" cy="1012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          MODULE  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 smtClean="0"/>
              <a:t>                                          OVOGENESE</a:t>
            </a:r>
          </a:p>
          <a:p>
            <a:r>
              <a:rPr lang="fr-FR" sz="2800" b="1" dirty="0" smtClean="0"/>
              <a:t>                                          OOGENESIS</a:t>
            </a:r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      </a:t>
            </a:r>
            <a:r>
              <a:rPr lang="fr-FR" sz="2800" b="1" dirty="0" smtClean="0"/>
              <a:t>PR HANNACHI-HECINI A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dirty="0" smtClean="0"/>
          </a:p>
          <a:p>
            <a:r>
              <a:rPr lang="fr-FR" sz="3600" dirty="0" smtClean="0"/>
              <a:t> </a:t>
            </a:r>
            <a:endParaRPr lang="fr-FR" sz="36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2348880"/>
            <a:ext cx="6480720" cy="27363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                            </a:t>
            </a:r>
            <a:r>
              <a:rPr lang="fr-FR" sz="3600" dirty="0" smtClean="0">
                <a:solidFill>
                  <a:srgbClr val="FFC000"/>
                </a:solidFill>
              </a:rPr>
              <a:t>1.Introduction</a:t>
            </a:r>
          </a:p>
          <a:p>
            <a:pPr marL="571500" indent="-571500">
              <a:buFontTx/>
              <a:buChar char="-"/>
            </a:pPr>
            <a:r>
              <a:rPr lang="fr-FR" sz="3600" dirty="0" smtClean="0"/>
              <a:t>Formation </a:t>
            </a:r>
            <a:r>
              <a:rPr lang="fr-FR" sz="3600" dirty="0"/>
              <a:t>of gametes in the female sex</a:t>
            </a:r>
            <a:r>
              <a:rPr lang="fr-FR" sz="3600" dirty="0" smtClean="0"/>
              <a:t>.</a:t>
            </a:r>
          </a:p>
          <a:p>
            <a:pPr marL="571500" indent="-571500">
              <a:buFontTx/>
              <a:buChar char="-"/>
            </a:pPr>
            <a:r>
              <a:rPr lang="fr-FR" sz="3600" dirty="0" smtClean="0"/>
              <a:t> </a:t>
            </a:r>
            <a:r>
              <a:rPr lang="fr-FR" sz="3600" dirty="0"/>
              <a:t>It takes place in the ovaries and allows the formation of female gametes, oocytes, from germline stem cells or oogonia.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928292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179512"/>
            <a:ext cx="9684568" cy="10464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b="1" u="sng" dirty="0" smtClean="0"/>
          </a:p>
          <a:p>
            <a:endParaRPr lang="fr-FR" sz="3600" b="1" u="sng" dirty="0" smtClean="0"/>
          </a:p>
          <a:p>
            <a:r>
              <a:rPr lang="fr-FR" sz="3200" dirty="0" smtClean="0">
                <a:solidFill>
                  <a:srgbClr val="FFC000"/>
                </a:solidFill>
              </a:rPr>
              <a:t>2.Reminders </a:t>
            </a:r>
            <a:r>
              <a:rPr lang="fr-FR" sz="3200" dirty="0">
                <a:solidFill>
                  <a:srgbClr val="FFC000"/>
                </a:solidFill>
              </a:rPr>
              <a:t>on the </a:t>
            </a:r>
            <a:r>
              <a:rPr lang="fr-FR" sz="3200" dirty="0" smtClean="0">
                <a:solidFill>
                  <a:srgbClr val="FFC000"/>
                </a:solidFill>
              </a:rPr>
              <a:t>female</a:t>
            </a:r>
          </a:p>
          <a:p>
            <a:r>
              <a:rPr lang="fr-FR" sz="3200" dirty="0" smtClean="0">
                <a:solidFill>
                  <a:srgbClr val="FFC000"/>
                </a:solidFill>
              </a:rPr>
              <a:t> genital  system</a:t>
            </a:r>
          </a:p>
          <a:p>
            <a:r>
              <a:rPr lang="fr-FR" sz="3200" dirty="0" smtClean="0">
                <a:solidFill>
                  <a:srgbClr val="00B050"/>
                </a:solidFill>
              </a:rPr>
              <a:t>External </a:t>
            </a:r>
            <a:r>
              <a:rPr lang="fr-FR" sz="3200" dirty="0">
                <a:solidFill>
                  <a:srgbClr val="00B050"/>
                </a:solidFill>
              </a:rPr>
              <a:t>Genital </a:t>
            </a:r>
            <a:r>
              <a:rPr lang="fr-FR" sz="3200" dirty="0" smtClean="0">
                <a:solidFill>
                  <a:srgbClr val="00B050"/>
                </a:solidFill>
              </a:rPr>
              <a:t>Organs</a:t>
            </a:r>
          </a:p>
          <a:p>
            <a:r>
              <a:rPr lang="fr-FR" sz="3200" dirty="0" smtClean="0"/>
              <a:t> </a:t>
            </a:r>
            <a:r>
              <a:rPr lang="fr-FR" sz="3200" dirty="0"/>
              <a:t>The External Part</a:t>
            </a:r>
            <a:r>
              <a:rPr lang="fr-FR" sz="3200" dirty="0" smtClean="0"/>
              <a:t>: Vulva </a:t>
            </a:r>
          </a:p>
          <a:p>
            <a:r>
              <a:rPr lang="fr-FR" sz="3200" dirty="0" smtClean="0"/>
              <a:t>Labia Majora</a:t>
            </a:r>
          </a:p>
          <a:p>
            <a:r>
              <a:rPr lang="fr-FR" sz="3200" dirty="0" smtClean="0"/>
              <a:t>Labia Minora</a:t>
            </a:r>
          </a:p>
          <a:p>
            <a:r>
              <a:rPr lang="fr-FR" sz="3200" dirty="0" smtClean="0"/>
              <a:t>Hymen </a:t>
            </a:r>
          </a:p>
          <a:p>
            <a:r>
              <a:rPr lang="fr-FR" sz="3200" dirty="0" smtClean="0"/>
              <a:t>Clitoris </a:t>
            </a:r>
          </a:p>
          <a:p>
            <a:r>
              <a:rPr lang="fr-FR" sz="3200" dirty="0" smtClean="0"/>
              <a:t>Bartholin's </a:t>
            </a:r>
            <a:r>
              <a:rPr lang="fr-FR" sz="3200" dirty="0"/>
              <a:t>Glands </a:t>
            </a:r>
            <a:endParaRPr lang="fr-FR" sz="3200" dirty="0" smtClean="0"/>
          </a:p>
          <a:p>
            <a:r>
              <a:rPr lang="fr-FR" sz="3200" dirty="0" smtClean="0">
                <a:solidFill>
                  <a:srgbClr val="92D050"/>
                </a:solidFill>
              </a:rPr>
              <a:t>Internal </a:t>
            </a:r>
            <a:r>
              <a:rPr lang="fr-FR" sz="3200" dirty="0">
                <a:solidFill>
                  <a:srgbClr val="92D050"/>
                </a:solidFill>
              </a:rPr>
              <a:t>Genital </a:t>
            </a:r>
            <a:r>
              <a:rPr lang="fr-FR" sz="3200" dirty="0" smtClean="0">
                <a:solidFill>
                  <a:srgbClr val="92D050"/>
                </a:solidFill>
              </a:rPr>
              <a:t>Organs</a:t>
            </a:r>
          </a:p>
          <a:p>
            <a:r>
              <a:rPr lang="fr-FR" sz="3200" dirty="0" smtClean="0"/>
              <a:t>Fallopian </a:t>
            </a:r>
            <a:r>
              <a:rPr lang="fr-FR" sz="3200" dirty="0"/>
              <a:t>Tubes </a:t>
            </a:r>
            <a:endParaRPr lang="fr-FR" sz="3200" dirty="0" smtClean="0"/>
          </a:p>
          <a:p>
            <a:r>
              <a:rPr lang="fr-FR" sz="3200" dirty="0" smtClean="0"/>
              <a:t>Uterus </a:t>
            </a:r>
          </a:p>
          <a:p>
            <a:r>
              <a:rPr lang="fr-FR" sz="3200" dirty="0" smtClean="0"/>
              <a:t>Ovaries </a:t>
            </a:r>
          </a:p>
          <a:p>
            <a:r>
              <a:rPr lang="fr-FR" sz="3200" dirty="0" smtClean="0"/>
              <a:t>Vagina</a:t>
            </a:r>
            <a:endParaRPr lang="fr-FR" sz="3200" b="1" u="sng" dirty="0"/>
          </a:p>
          <a:p>
            <a:endParaRPr lang="fr-FR" sz="3200" b="1" u="sng" dirty="0" smtClean="0"/>
          </a:p>
          <a:p>
            <a:endParaRPr lang="fr-FR" sz="3200" b="1" u="sng" dirty="0"/>
          </a:p>
          <a:p>
            <a:endParaRPr lang="fr-FR" b="1" u="sng" dirty="0" smtClean="0"/>
          </a:p>
          <a:p>
            <a:endParaRPr lang="fr-FR" b="1" u="sng" dirty="0"/>
          </a:p>
          <a:p>
            <a:endParaRPr lang="fr-FR" b="1" u="sng" dirty="0" smtClean="0"/>
          </a:p>
          <a:p>
            <a:endParaRPr lang="fr-FR" b="1" u="sng" dirty="0"/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6732240" y="17008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37893" name="AutoShape 5" descr="Résultat de recherche d'images pour &quot;organes genitaux externes feminin&quot;"/>
          <p:cNvSpPr>
            <a:spLocks noChangeAspect="1" noChangeArrowheads="1"/>
          </p:cNvSpPr>
          <p:nvPr/>
        </p:nvSpPr>
        <p:spPr bwMode="auto">
          <a:xfrm>
            <a:off x="3131840" y="260648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16632"/>
            <a:ext cx="3563888" cy="324035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3589166"/>
            <a:ext cx="3456384" cy="326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9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819472"/>
            <a:ext cx="9684568" cy="10649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600" b="1" u="sng" dirty="0" smtClean="0"/>
          </a:p>
          <a:p>
            <a:endParaRPr lang="fr-FR" sz="3600" b="1" u="sng" dirty="0" smtClean="0"/>
          </a:p>
          <a:p>
            <a:r>
              <a:rPr lang="fr-FR" sz="2800" b="1" dirty="0" smtClean="0">
                <a:solidFill>
                  <a:srgbClr val="002060"/>
                </a:solidFill>
              </a:rPr>
              <a:t>                    2. Rappels </a:t>
            </a:r>
            <a:r>
              <a:rPr lang="fr-FR" sz="2800" b="1" dirty="0" smtClean="0">
                <a:solidFill>
                  <a:srgbClr val="002060"/>
                </a:solidFill>
              </a:rPr>
              <a:t>sur l’appareil genital feminin</a:t>
            </a:r>
          </a:p>
          <a:p>
            <a:endParaRPr lang="fr-FR" sz="2800" dirty="0" smtClean="0">
              <a:solidFill>
                <a:srgbClr val="002060"/>
              </a:solidFill>
            </a:endParaRPr>
          </a:p>
          <a:p>
            <a:r>
              <a:rPr lang="fr-FR" sz="3600" b="1" u="sng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Organes </a:t>
            </a:r>
            <a:r>
              <a:rPr lang="fr-FR" sz="2800" b="1" dirty="0">
                <a:solidFill>
                  <a:srgbClr val="0070C0"/>
                </a:solidFill>
              </a:rPr>
              <a:t>génitaux </a:t>
            </a:r>
            <a:r>
              <a:rPr lang="fr-FR" sz="2800" b="1" dirty="0" smtClean="0">
                <a:solidFill>
                  <a:srgbClr val="0070C0"/>
                </a:solidFill>
              </a:rPr>
              <a:t>externes</a:t>
            </a:r>
          </a:p>
          <a:p>
            <a:r>
              <a:rPr lang="fr-FR" sz="2800" dirty="0"/>
              <a:t>La partie externe : </a:t>
            </a:r>
            <a:r>
              <a:rPr lang="fr-FR" sz="2800" i="1" dirty="0"/>
              <a:t>la vulve</a:t>
            </a:r>
            <a:endParaRPr lang="fr-FR" sz="2800" dirty="0"/>
          </a:p>
          <a:p>
            <a:pPr>
              <a:buFontTx/>
              <a:buChar char="-"/>
            </a:pPr>
            <a:r>
              <a:rPr lang="fr-FR" sz="2800" dirty="0" smtClean="0"/>
              <a:t> Grandes </a:t>
            </a:r>
            <a:r>
              <a:rPr lang="fr-FR" sz="2800" dirty="0"/>
              <a:t>lèvres </a:t>
            </a:r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 Petites lèvres</a:t>
            </a:r>
          </a:p>
          <a:p>
            <a:pPr>
              <a:buFontTx/>
              <a:buChar char="-"/>
            </a:pPr>
            <a:r>
              <a:rPr lang="fr-FR" sz="2800" dirty="0" smtClean="0"/>
              <a:t> Hymen</a:t>
            </a:r>
          </a:p>
          <a:p>
            <a:pPr>
              <a:buFontTx/>
              <a:buChar char="-"/>
            </a:pPr>
            <a:r>
              <a:rPr lang="fr-FR" sz="2800" dirty="0" smtClean="0"/>
              <a:t> Clitoris</a:t>
            </a:r>
          </a:p>
          <a:p>
            <a:pPr>
              <a:buFontTx/>
              <a:buChar char="-"/>
            </a:pPr>
            <a:r>
              <a:rPr lang="fr-FR" sz="2800" dirty="0" smtClean="0"/>
              <a:t>Glandes </a:t>
            </a:r>
            <a:r>
              <a:rPr lang="fr-FR" sz="2800" dirty="0"/>
              <a:t>de </a:t>
            </a:r>
            <a:r>
              <a:rPr lang="fr-FR" sz="2800" dirty="0" smtClean="0"/>
              <a:t>Bartholin</a:t>
            </a:r>
          </a:p>
          <a:p>
            <a:pPr>
              <a:buFontTx/>
              <a:buChar char="-"/>
            </a:pPr>
            <a:endParaRPr lang="fr-FR" sz="2800" u="sng" dirty="0" smtClean="0"/>
          </a:p>
          <a:p>
            <a:r>
              <a:rPr lang="fr-FR" sz="2800" b="1" u="sng" dirty="0" smtClean="0">
                <a:solidFill>
                  <a:srgbClr val="0070C0"/>
                </a:solidFill>
              </a:rPr>
              <a:t>Organes génitaux internes</a:t>
            </a:r>
          </a:p>
          <a:p>
            <a:r>
              <a:rPr lang="fr-FR" sz="2800" dirty="0" smtClean="0"/>
              <a:t>-Trompes de Fallope</a:t>
            </a:r>
          </a:p>
          <a:p>
            <a:pPr>
              <a:buFontTx/>
              <a:buChar char="-"/>
            </a:pPr>
            <a:r>
              <a:rPr lang="fr-FR" sz="2800" dirty="0" smtClean="0"/>
              <a:t>Utérus</a:t>
            </a:r>
          </a:p>
          <a:p>
            <a:pPr>
              <a:buFontTx/>
              <a:buChar char="-"/>
            </a:pPr>
            <a:r>
              <a:rPr lang="fr-FR" sz="2800" dirty="0" smtClean="0"/>
              <a:t> Ovaires</a:t>
            </a:r>
          </a:p>
          <a:p>
            <a:pPr>
              <a:buFontTx/>
              <a:buChar char="-"/>
            </a:pPr>
            <a:r>
              <a:rPr lang="fr-FR" sz="2800" dirty="0" smtClean="0"/>
              <a:t> Vagin</a:t>
            </a:r>
          </a:p>
          <a:p>
            <a:pPr>
              <a:buFontTx/>
              <a:buChar char="-"/>
            </a:pPr>
            <a:endParaRPr lang="fr-FR" sz="3200" b="1" u="sng" dirty="0"/>
          </a:p>
          <a:p>
            <a:endParaRPr lang="fr-FR" sz="3200" b="1" u="sng" dirty="0" smtClean="0"/>
          </a:p>
          <a:p>
            <a:endParaRPr lang="fr-FR" sz="3200" b="1" u="sng" dirty="0"/>
          </a:p>
          <a:p>
            <a:endParaRPr lang="fr-FR" b="1" u="sng" dirty="0" smtClean="0"/>
          </a:p>
          <a:p>
            <a:endParaRPr lang="fr-FR" b="1" u="sng" dirty="0"/>
          </a:p>
          <a:p>
            <a:endParaRPr lang="fr-FR" b="1" u="sng" dirty="0" smtClean="0"/>
          </a:p>
          <a:p>
            <a:endParaRPr lang="fr-FR" b="1" u="sng" dirty="0"/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6732240" y="17008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pic>
        <p:nvPicPr>
          <p:cNvPr id="37890" name="Picture 2" descr="Résultat de recherche d'images pour &quot;organes genitaux externes feminin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89530" y="188640"/>
            <a:ext cx="3074318" cy="3024336"/>
          </a:xfrm>
          <a:prstGeom prst="rect">
            <a:avLst/>
          </a:prstGeom>
          <a:noFill/>
        </p:spPr>
      </p:pic>
      <p:sp>
        <p:nvSpPr>
          <p:cNvPr id="37893" name="AutoShape 5" descr="Résultat de recherche d'images pour &quot;organes genitaux externes feminin&quot;"/>
          <p:cNvSpPr>
            <a:spLocks noChangeAspect="1" noChangeArrowheads="1"/>
          </p:cNvSpPr>
          <p:nvPr/>
        </p:nvSpPr>
        <p:spPr bwMode="auto">
          <a:xfrm>
            <a:off x="3131840" y="260648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7897" name="Picture 9" descr="https://tpefiv.files.wordpress.com/2015/02/appr-f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3069" y="3285487"/>
            <a:ext cx="3650779" cy="35010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268761"/>
            <a:ext cx="4680520" cy="4923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9512" y="332656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800" b="1" dirty="0">
                <a:solidFill>
                  <a:srgbClr val="FFC000"/>
                </a:solidFill>
              </a:rPr>
              <a:t>Fallopian Tubes</a:t>
            </a:r>
          </a:p>
          <a:p>
            <a:r>
              <a:rPr lang="fr-FR" sz="2800" dirty="0"/>
              <a:t>• Pinna</a:t>
            </a:r>
          </a:p>
          <a:p>
            <a:r>
              <a:rPr lang="fr-FR" sz="2800" dirty="0"/>
              <a:t>• Ampulla</a:t>
            </a:r>
          </a:p>
          <a:p>
            <a:r>
              <a:rPr lang="fr-FR" sz="2800" dirty="0"/>
              <a:t>• Isthmus</a:t>
            </a:r>
          </a:p>
          <a:p>
            <a:r>
              <a:rPr lang="fr-FR" sz="2800" dirty="0"/>
              <a:t>• Interstitial Portion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87625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</a:rPr>
              <a:t>Trompes de Fallope</a:t>
            </a:r>
          </a:p>
          <a:p>
            <a:r>
              <a:rPr lang="fr-FR" sz="2800" dirty="0" smtClean="0"/>
              <a:t>• Pavillon</a:t>
            </a:r>
          </a:p>
          <a:p>
            <a:r>
              <a:rPr lang="fr-FR" sz="2800" dirty="0" smtClean="0"/>
              <a:t>• Ampoule</a:t>
            </a:r>
          </a:p>
          <a:p>
            <a:r>
              <a:rPr lang="fr-FR" sz="2800" dirty="0" smtClean="0"/>
              <a:t>•  Isthme</a:t>
            </a:r>
          </a:p>
          <a:p>
            <a:r>
              <a:rPr lang="fr-FR" sz="2800" dirty="0" smtClean="0"/>
              <a:t>• Portion interstitielle</a:t>
            </a:r>
          </a:p>
          <a:p>
            <a:r>
              <a:rPr lang="fr-FR" sz="3600" dirty="0" smtClean="0">
                <a:latin typeface="+mj-lt"/>
              </a:rPr>
              <a:t> </a:t>
            </a:r>
            <a:endParaRPr lang="fr-FR" sz="3600" dirty="0">
              <a:latin typeface="+mj-lt"/>
            </a:endParaRPr>
          </a:p>
        </p:txBody>
      </p:sp>
      <p:pic>
        <p:nvPicPr>
          <p:cNvPr id="4" name="Imag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88640"/>
            <a:ext cx="374441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928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11875" y="646331"/>
            <a:ext cx="91440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>
                <a:solidFill>
                  <a:srgbClr val="FFC000"/>
                </a:solidFill>
              </a:rPr>
              <a:t>Uterus </a:t>
            </a:r>
            <a:endParaRPr lang="fr-FR" sz="2800" b="1" dirty="0" smtClean="0">
              <a:solidFill>
                <a:srgbClr val="FFC000"/>
              </a:solidFill>
            </a:endParaRPr>
          </a:p>
          <a:p>
            <a:pPr marL="457200" indent="-457200">
              <a:buFontTx/>
              <a:buChar char="-"/>
            </a:pPr>
            <a:r>
              <a:rPr lang="fr-FR" sz="2800" dirty="0" smtClean="0"/>
              <a:t>Uterine cavity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dirty="0"/>
              <a:t>Uterine wall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Cervical membrane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r>
              <a:rPr lang="fr-FR" sz="2800" dirty="0" smtClean="0"/>
              <a:t> </a:t>
            </a:r>
          </a:p>
          <a:p>
            <a:r>
              <a:rPr lang="fr-FR" sz="2800" b="1" dirty="0" smtClean="0"/>
              <a:t>The </a:t>
            </a:r>
            <a:r>
              <a:rPr lang="fr-FR" sz="2800" b="1" dirty="0"/>
              <a:t>uterine wall consists </a:t>
            </a:r>
            <a:endParaRPr lang="fr-FR" sz="2800" b="1" dirty="0" smtClean="0"/>
          </a:p>
          <a:p>
            <a:r>
              <a:rPr lang="fr-FR" sz="2800" b="1" dirty="0" smtClean="0"/>
              <a:t>of </a:t>
            </a:r>
            <a:r>
              <a:rPr lang="fr-FR" sz="2800" b="1" dirty="0"/>
              <a:t>three layers</a:t>
            </a:r>
            <a:r>
              <a:rPr lang="fr-FR" sz="2800" dirty="0"/>
              <a:t>: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dirty="0"/>
              <a:t>Mucosa (endometrium)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dirty="0"/>
              <a:t>Muscular membrane (myometrium)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dirty="0"/>
              <a:t>Serous membrane</a:t>
            </a:r>
            <a:r>
              <a:rPr lang="fr-FR" sz="2800" b="1" dirty="0"/>
              <a:t> </a:t>
            </a:r>
            <a:endParaRPr lang="fr-FR" sz="2800" b="1" dirty="0" smtClean="0"/>
          </a:p>
          <a:p>
            <a:endParaRPr lang="fr-FR" sz="2800" b="1" dirty="0"/>
          </a:p>
          <a:p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cxnSp>
        <p:nvCxnSpPr>
          <p:cNvPr id="7" name="Connecteur en angle 6"/>
          <p:cNvCxnSpPr/>
          <p:nvPr/>
        </p:nvCxnSpPr>
        <p:spPr>
          <a:xfrm rot="16200000" flipH="1">
            <a:off x="1943708" y="2240868"/>
            <a:ext cx="3672408" cy="43204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808" y="188640"/>
            <a:ext cx="4788024" cy="5256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0" y="861774"/>
            <a:ext cx="91440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Times New Roman" pitchFamily="18" charset="0"/>
              </a:rPr>
              <a:t>Utérus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/>
              <a:t>- </a:t>
            </a:r>
            <a:r>
              <a:rPr lang="fr-FR" sz="2800" dirty="0" smtClean="0"/>
              <a:t>Cavité utérine</a:t>
            </a:r>
            <a:endParaRPr lang="fr-FR" sz="2800" dirty="0">
              <a:ea typeface="Calibri" pitchFamily="34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Paroi utérine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/>
              <a:t> Col utérin</a:t>
            </a:r>
          </a:p>
          <a:p>
            <a:endParaRPr lang="fr-FR" sz="2800" b="1" dirty="0" smtClean="0">
              <a:solidFill>
                <a:srgbClr val="0070C0"/>
              </a:solidFill>
            </a:endParaRPr>
          </a:p>
          <a:p>
            <a:endParaRPr lang="fr-FR" sz="2800" b="1" dirty="0" smtClean="0">
              <a:solidFill>
                <a:srgbClr val="00B050"/>
              </a:solidFill>
            </a:endParaRPr>
          </a:p>
          <a:p>
            <a:r>
              <a:rPr lang="fr-FR" sz="2800" b="1" dirty="0" smtClean="0">
                <a:solidFill>
                  <a:srgbClr val="0070C0"/>
                </a:solidFill>
              </a:rPr>
              <a:t>Paroi </a:t>
            </a:r>
            <a:r>
              <a:rPr lang="fr-FR" sz="2800" b="1" dirty="0">
                <a:solidFill>
                  <a:srgbClr val="0070C0"/>
                </a:solidFill>
              </a:rPr>
              <a:t>utérine </a:t>
            </a:r>
            <a:r>
              <a:rPr lang="fr-FR" sz="2800" dirty="0"/>
              <a:t>comporte 3 tuniques</a:t>
            </a:r>
            <a:r>
              <a:rPr lang="fr-FR" sz="2800" b="1" dirty="0"/>
              <a:t>:</a:t>
            </a:r>
          </a:p>
          <a:p>
            <a:r>
              <a:rPr lang="fr-FR" sz="2800" b="1" dirty="0"/>
              <a:t>- </a:t>
            </a:r>
            <a:r>
              <a:rPr lang="fr-FR" sz="2800" dirty="0" smtClean="0"/>
              <a:t>Muqueuse </a:t>
            </a:r>
            <a:r>
              <a:rPr lang="fr-FR" sz="2800" dirty="0"/>
              <a:t>(</a:t>
            </a:r>
            <a:r>
              <a:rPr lang="fr-FR" sz="2800" b="1" dirty="0">
                <a:solidFill>
                  <a:srgbClr val="0070C0"/>
                </a:solidFill>
              </a:rPr>
              <a:t>endomètre</a:t>
            </a:r>
            <a:r>
              <a:rPr lang="fr-FR" sz="2800" dirty="0" smtClean="0"/>
              <a:t>).</a:t>
            </a:r>
            <a:endParaRPr lang="fr-FR" sz="2800" dirty="0"/>
          </a:p>
          <a:p>
            <a:r>
              <a:rPr lang="fr-FR" sz="2800" dirty="0"/>
              <a:t>- </a:t>
            </a:r>
            <a:r>
              <a:rPr lang="fr-FR" sz="2800" dirty="0" smtClean="0"/>
              <a:t>Musculeuse </a:t>
            </a:r>
            <a:r>
              <a:rPr lang="fr-FR" sz="2800" dirty="0"/>
              <a:t>(</a:t>
            </a:r>
            <a:r>
              <a:rPr lang="fr-FR" sz="2800" dirty="0" err="1"/>
              <a:t>myomètre</a:t>
            </a:r>
            <a:r>
              <a:rPr lang="fr-FR" sz="2800" dirty="0" smtClean="0"/>
              <a:t>).</a:t>
            </a:r>
            <a:endParaRPr lang="fr-FR" sz="2800" dirty="0"/>
          </a:p>
          <a:p>
            <a:r>
              <a:rPr lang="fr-FR" sz="2800" dirty="0"/>
              <a:t>- </a:t>
            </a:r>
            <a:r>
              <a:rPr lang="fr-FR" sz="2800" dirty="0" smtClean="0"/>
              <a:t>Séreuse</a:t>
            </a:r>
            <a:endParaRPr lang="fr-FR" sz="2800" dirty="0"/>
          </a:p>
          <a:p>
            <a:r>
              <a:rPr lang="fr-FR" sz="2800" b="1" dirty="0"/>
              <a:t> </a:t>
            </a:r>
            <a:endParaRPr lang="fr-FR" sz="2800" b="1" dirty="0" smtClean="0"/>
          </a:p>
          <a:p>
            <a:endParaRPr lang="fr-FR" sz="2800" b="1" dirty="0"/>
          </a:p>
          <a:p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cxnSp>
        <p:nvCxnSpPr>
          <p:cNvPr id="7" name="Connecteur en angle 6"/>
          <p:cNvCxnSpPr/>
          <p:nvPr/>
        </p:nvCxnSpPr>
        <p:spPr>
          <a:xfrm rot="16200000" flipH="1">
            <a:off x="2231740" y="1376772"/>
            <a:ext cx="3312368" cy="295232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548680"/>
            <a:ext cx="266429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15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108520" y="473770"/>
            <a:ext cx="367139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 </a:t>
            </a:r>
            <a:endParaRPr lang="fr-FR" sz="2800" b="1" dirty="0" smtClean="0"/>
          </a:p>
          <a:p>
            <a:endParaRPr lang="fr-FR" sz="2800" b="1" dirty="0"/>
          </a:p>
        </p:txBody>
      </p:sp>
      <p:sp>
        <p:nvSpPr>
          <p:cNvPr id="2" name="Rectangle 1"/>
          <p:cNvSpPr/>
          <p:nvPr/>
        </p:nvSpPr>
        <p:spPr>
          <a:xfrm>
            <a:off x="113884" y="473770"/>
            <a:ext cx="2904065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FFC000"/>
                </a:solidFill>
              </a:rPr>
              <a:t>Endometrium</a:t>
            </a:r>
          </a:p>
          <a:p>
            <a:r>
              <a:rPr lang="fr-FR" sz="2800" b="1" dirty="0" smtClean="0"/>
              <a:t> - </a:t>
            </a:r>
            <a:r>
              <a:rPr lang="fr-FR" sz="2800" dirty="0" smtClean="0"/>
              <a:t>Functional Layer</a:t>
            </a:r>
          </a:p>
          <a:p>
            <a:r>
              <a:rPr lang="fr-FR" sz="2800" dirty="0" smtClean="0"/>
              <a:t> - Basal </a:t>
            </a:r>
            <a:r>
              <a:rPr lang="fr-FR" sz="2800" dirty="0"/>
              <a:t>Layer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858765"/>
            <a:ext cx="3514725" cy="338137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590046"/>
            <a:ext cx="4176464" cy="600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0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108520" y="-603448"/>
            <a:ext cx="3671392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/>
              <a:t> </a:t>
            </a:r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>
                <a:solidFill>
                  <a:srgbClr val="0070C0"/>
                </a:solidFill>
              </a:rPr>
              <a:t>Endomètre</a:t>
            </a:r>
            <a:endParaRPr lang="fr-FR" sz="2800" b="1" dirty="0">
              <a:solidFill>
                <a:srgbClr val="0070C0"/>
              </a:solidFill>
            </a:endParaRPr>
          </a:p>
          <a:p>
            <a:r>
              <a:rPr lang="fr-FR" sz="2800" dirty="0"/>
              <a:t> Couche fonctionnelle</a:t>
            </a:r>
          </a:p>
          <a:p>
            <a:endParaRPr lang="fr-FR" sz="2800" dirty="0"/>
          </a:p>
          <a:p>
            <a:r>
              <a:rPr lang="fr-FR" sz="2800" dirty="0" smtClean="0"/>
              <a:t> </a:t>
            </a:r>
            <a:r>
              <a:rPr lang="fr-FR" sz="2800" dirty="0"/>
              <a:t>Couche basale</a:t>
            </a:r>
          </a:p>
          <a:p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404664"/>
            <a:ext cx="3981033" cy="2469094"/>
          </a:xfrm>
          <a:prstGeom prst="rect">
            <a:avLst/>
          </a:prstGeom>
        </p:spPr>
      </p:pic>
      <p:cxnSp>
        <p:nvCxnSpPr>
          <p:cNvPr id="3" name="Connecteur en angle 2"/>
          <p:cNvCxnSpPr/>
          <p:nvPr/>
        </p:nvCxnSpPr>
        <p:spPr>
          <a:xfrm>
            <a:off x="3563888" y="950823"/>
            <a:ext cx="914400" cy="914400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490" y="2762982"/>
            <a:ext cx="9144793" cy="323875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5588" y="6043433"/>
            <a:ext cx="3450635" cy="75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4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8892480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>
                <a:solidFill>
                  <a:srgbClr val="FFC000"/>
                </a:solidFill>
                <a:latin typeface="+mj-lt"/>
              </a:rPr>
              <a:t>Ovaries</a:t>
            </a:r>
          </a:p>
          <a:p>
            <a:r>
              <a:rPr lang="fr-FR" sz="2800" dirty="0">
                <a:latin typeface="+mj-lt"/>
              </a:rPr>
              <a:t>• </a:t>
            </a:r>
            <a:r>
              <a:rPr lang="fr-FR" sz="2800" dirty="0" smtClean="0">
                <a:latin typeface="+mj-lt"/>
              </a:rPr>
              <a:t>Tunica </a:t>
            </a:r>
            <a:r>
              <a:rPr lang="fr-FR" sz="2800" dirty="0">
                <a:latin typeface="+mj-lt"/>
              </a:rPr>
              <a:t>albuginea</a:t>
            </a:r>
          </a:p>
          <a:p>
            <a:r>
              <a:rPr lang="fr-FR" sz="2800" dirty="0">
                <a:latin typeface="+mj-lt"/>
              </a:rPr>
              <a:t>• Ovarian </a:t>
            </a:r>
            <a:r>
              <a:rPr lang="fr-FR" sz="2800" dirty="0" smtClean="0">
                <a:latin typeface="+mj-lt"/>
              </a:rPr>
              <a:t>epithelium</a:t>
            </a:r>
          </a:p>
          <a:p>
            <a:r>
              <a:rPr lang="fr-FR" sz="2800" dirty="0" smtClean="0">
                <a:latin typeface="+mj-lt"/>
              </a:rPr>
              <a:t>• </a:t>
            </a:r>
            <a:r>
              <a:rPr lang="fr-FR" sz="2800" dirty="0">
                <a:latin typeface="+mj-lt"/>
              </a:rPr>
              <a:t>Cortical </a:t>
            </a:r>
            <a:r>
              <a:rPr lang="fr-FR" sz="2800" dirty="0" smtClean="0">
                <a:latin typeface="+mj-lt"/>
              </a:rPr>
              <a:t>region</a:t>
            </a:r>
            <a:endParaRPr lang="fr-FR" sz="2800" dirty="0">
              <a:latin typeface="+mj-lt"/>
            </a:endParaRPr>
          </a:p>
          <a:p>
            <a:r>
              <a:rPr lang="fr-FR" sz="2800" dirty="0">
                <a:latin typeface="+mj-lt"/>
              </a:rPr>
              <a:t>• </a:t>
            </a:r>
            <a:r>
              <a:rPr lang="fr-FR" sz="2800" dirty="0" smtClean="0">
                <a:latin typeface="+mj-lt"/>
              </a:rPr>
              <a:t>Medullary region</a:t>
            </a:r>
            <a:endParaRPr lang="fr-FR" sz="2800" dirty="0">
              <a:latin typeface="+mj-lt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fr-FR" sz="2800" dirty="0"/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fr-FR" sz="28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915816" y="6309320"/>
            <a:ext cx="3193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Structure de l’ovaire</a:t>
            </a:r>
            <a:endParaRPr lang="fr-FR" sz="2800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536765"/>
            <a:ext cx="5734050" cy="429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109368"/>
            <a:ext cx="889248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4000" b="1" dirty="0" smtClean="0">
                <a:latin typeface="+mj-lt"/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  <a:latin typeface="+mj-lt"/>
              </a:rPr>
              <a:t>Ovaires</a:t>
            </a:r>
          </a:p>
          <a:p>
            <a:r>
              <a:rPr lang="fr-FR" sz="2800" dirty="0" smtClean="0">
                <a:latin typeface="+mj-lt"/>
              </a:rPr>
              <a:t>• Albuginée </a:t>
            </a:r>
            <a:r>
              <a:rPr lang="fr-FR" sz="2800" dirty="0">
                <a:latin typeface="+mj-lt"/>
              </a:rPr>
              <a:t>ovarienne</a:t>
            </a:r>
          </a:p>
          <a:p>
            <a:r>
              <a:rPr lang="fr-FR" sz="2800" dirty="0" smtClean="0">
                <a:latin typeface="+mj-lt"/>
              </a:rPr>
              <a:t>• Epithélium </a:t>
            </a:r>
            <a:r>
              <a:rPr lang="fr-FR" sz="2800" dirty="0">
                <a:latin typeface="+mj-lt"/>
              </a:rPr>
              <a:t>ovarien, </a:t>
            </a:r>
            <a:r>
              <a:rPr lang="fr-FR" sz="2800" dirty="0" smtClean="0">
                <a:latin typeface="+mj-lt"/>
              </a:rPr>
              <a:t>cubique</a:t>
            </a:r>
          </a:p>
          <a:p>
            <a:r>
              <a:rPr lang="fr-FR" sz="2800" dirty="0" smtClean="0">
                <a:latin typeface="+mj-lt"/>
              </a:rPr>
              <a:t>• Région </a:t>
            </a:r>
            <a:r>
              <a:rPr lang="fr-FR" sz="2800" dirty="0">
                <a:latin typeface="+mj-lt"/>
              </a:rPr>
              <a:t>corticale </a:t>
            </a:r>
            <a:r>
              <a:rPr lang="fr-FR" sz="2800" dirty="0" smtClean="0">
                <a:latin typeface="+mj-lt"/>
              </a:rPr>
              <a:t>=  </a:t>
            </a:r>
            <a:r>
              <a:rPr lang="fr-FR" sz="2800" dirty="0">
                <a:latin typeface="+mj-lt"/>
              </a:rPr>
              <a:t>follicules </a:t>
            </a:r>
            <a:r>
              <a:rPr lang="fr-FR" sz="2800" dirty="0" smtClean="0">
                <a:latin typeface="+mj-lt"/>
              </a:rPr>
              <a:t>ovariens</a:t>
            </a:r>
            <a:endParaRPr lang="fr-FR" sz="2800" dirty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• Région </a:t>
            </a:r>
            <a:r>
              <a:rPr lang="fr-FR" sz="2800" dirty="0">
                <a:latin typeface="+mj-lt"/>
              </a:rPr>
              <a:t>médullaire </a:t>
            </a:r>
            <a:r>
              <a:rPr lang="fr-FR" sz="2800" dirty="0" smtClean="0">
                <a:latin typeface="+mj-lt"/>
              </a:rPr>
              <a:t>conjonctive et fibreuse,  vascularisée</a:t>
            </a:r>
            <a:endParaRPr lang="fr-FR" sz="2800" b="1" dirty="0" smtClean="0">
              <a:latin typeface="+mj-lt"/>
            </a:endParaRPr>
          </a:p>
          <a:p>
            <a:r>
              <a:rPr lang="fr-FR" sz="4000" dirty="0">
                <a:latin typeface="+mj-lt"/>
              </a:rPr>
              <a:t>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fr-FR" sz="2800" dirty="0"/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fr-FR" sz="2800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852936"/>
            <a:ext cx="9144000" cy="374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2915816" y="6309320"/>
            <a:ext cx="3193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Structure de l’ovaire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04075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710129" y="404664"/>
            <a:ext cx="201622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" name="ZoneTexte 1"/>
          <p:cNvSpPr txBox="1"/>
          <p:nvPr/>
        </p:nvSpPr>
        <p:spPr>
          <a:xfrm>
            <a:off x="3131840" y="4797152"/>
            <a:ext cx="3499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Phases de l’ovogenèse</a:t>
            </a:r>
            <a:endParaRPr lang="fr-FR" sz="28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710129" y="404664"/>
            <a:ext cx="20162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04664"/>
            <a:ext cx="7992888" cy="7633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710129" y="404664"/>
            <a:ext cx="201622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1026" name="Picture 2" descr="La réproduction humaine: L'ovogenès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01" y="116632"/>
            <a:ext cx="8892480" cy="4680520"/>
          </a:xfrm>
          <a:prstGeom prst="rect">
            <a:avLst/>
          </a:prstGeom>
          <a:noFill/>
        </p:spPr>
      </p:pic>
      <p:sp>
        <p:nvSpPr>
          <p:cNvPr id="2" name="ZoneTexte 1"/>
          <p:cNvSpPr txBox="1"/>
          <p:nvPr/>
        </p:nvSpPr>
        <p:spPr>
          <a:xfrm>
            <a:off x="3131840" y="4797152"/>
            <a:ext cx="3499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Phases de l’ovogenèse</a:t>
            </a:r>
            <a:endParaRPr lang="fr-FR" sz="28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2710129" y="404664"/>
            <a:ext cx="20162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012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1194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                                                 Ovogenese </a:t>
            </a:r>
          </a:p>
          <a:p>
            <a:r>
              <a:rPr lang="fr-FR" sz="2800" b="1" dirty="0" smtClean="0">
                <a:solidFill>
                  <a:srgbClr val="0070C0"/>
                </a:solidFill>
              </a:rPr>
              <a:t>A.  </a:t>
            </a:r>
            <a:r>
              <a:rPr lang="fr-FR" sz="2400" b="1" dirty="0" smtClean="0">
                <a:solidFill>
                  <a:srgbClr val="0070C0"/>
                </a:solidFill>
              </a:rPr>
              <a:t>Phases </a:t>
            </a:r>
            <a:r>
              <a:rPr lang="fr-FR" sz="2400" b="1" dirty="0">
                <a:solidFill>
                  <a:srgbClr val="0070C0"/>
                </a:solidFill>
              </a:rPr>
              <a:t>de l’ovogenèse</a:t>
            </a:r>
          </a:p>
          <a:p>
            <a:endParaRPr lang="fr-FR" sz="2400" b="1" dirty="0" smtClean="0"/>
          </a:p>
          <a:p>
            <a:r>
              <a:rPr lang="fr-FR" sz="2400" b="1" dirty="0" smtClean="0">
                <a:solidFill>
                  <a:srgbClr val="00B0F0"/>
                </a:solidFill>
              </a:rPr>
              <a:t>1. Phase de multiplication</a:t>
            </a:r>
          </a:p>
          <a:p>
            <a:r>
              <a:rPr lang="fr-FR" sz="2400" b="1" dirty="0" smtClean="0"/>
              <a:t>Ovogonies                                Ovogonies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</a:t>
            </a:r>
            <a:r>
              <a:rPr lang="fr-FR" sz="2400" b="1" dirty="0" smtClean="0">
                <a:solidFill>
                  <a:srgbClr val="0070C0"/>
                </a:solidFill>
              </a:rPr>
              <a:t>2n chr                                          2n chr </a:t>
            </a:r>
          </a:p>
          <a:p>
            <a:r>
              <a:rPr lang="fr-FR" sz="2400" b="1" dirty="0" smtClean="0"/>
              <a:t>Ovogonies                                Ovocytes I</a:t>
            </a:r>
          </a:p>
          <a:p>
            <a:r>
              <a:rPr lang="fr-FR" sz="2400" b="1" dirty="0" smtClean="0">
                <a:solidFill>
                  <a:srgbClr val="00B0F0"/>
                </a:solidFill>
              </a:rPr>
              <a:t>2. Phase d’accroissement</a:t>
            </a:r>
          </a:p>
          <a:p>
            <a:r>
              <a:rPr lang="fr-FR" sz="2400" b="1" dirty="0" smtClean="0"/>
              <a:t>Ovocytes I                                 Auxocytes</a:t>
            </a:r>
          </a:p>
          <a:p>
            <a:r>
              <a:rPr lang="fr-FR" sz="2400" b="1" dirty="0" smtClean="0">
                <a:solidFill>
                  <a:srgbClr val="FF0000"/>
                </a:solidFill>
              </a:rPr>
              <a:t>    </a:t>
            </a:r>
            <a:r>
              <a:rPr lang="fr-FR" sz="2400" b="1" dirty="0" smtClean="0">
                <a:solidFill>
                  <a:srgbClr val="0070C0"/>
                </a:solidFill>
              </a:rPr>
              <a:t>2n chr                                         2n chr </a:t>
            </a:r>
          </a:p>
          <a:p>
            <a:pPr lvl="0"/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 smtClean="0">
                <a:solidFill>
                  <a:schemeClr val="accent1"/>
                </a:solidFill>
              </a:rPr>
              <a:t>3</a:t>
            </a:r>
            <a:r>
              <a:rPr lang="fr-FR" sz="2400" b="1" dirty="0" smtClean="0">
                <a:solidFill>
                  <a:srgbClr val="00B0F0"/>
                </a:solidFill>
              </a:rPr>
              <a:t>. </a:t>
            </a:r>
            <a:r>
              <a:rPr lang="fr-FR" sz="2400" b="1" dirty="0">
                <a:solidFill>
                  <a:srgbClr val="00B0F0"/>
                </a:solidFill>
              </a:rPr>
              <a:t>Phase de maturation (méiose)</a:t>
            </a:r>
          </a:p>
          <a:p>
            <a:pPr lvl="0"/>
            <a:r>
              <a:rPr lang="fr-FR" sz="2400" b="1" dirty="0" smtClean="0">
                <a:solidFill>
                  <a:prstClr val="black"/>
                </a:solidFill>
              </a:rPr>
              <a:t>Ovocyte </a:t>
            </a:r>
            <a:r>
              <a:rPr lang="fr-FR" sz="2400" b="1" dirty="0">
                <a:solidFill>
                  <a:prstClr val="black"/>
                </a:solidFill>
              </a:rPr>
              <a:t>I                                 Ovocyte I bloqué en prophase I</a:t>
            </a:r>
          </a:p>
          <a:p>
            <a:pPr lvl="0"/>
            <a:r>
              <a:rPr lang="fr-FR" sz="2400" b="1" dirty="0">
                <a:solidFill>
                  <a:srgbClr val="FF0000"/>
                </a:solidFill>
              </a:rPr>
              <a:t>    </a:t>
            </a:r>
            <a:r>
              <a:rPr lang="fr-FR" sz="2400" b="1" dirty="0">
                <a:solidFill>
                  <a:srgbClr val="0070C0"/>
                </a:solidFill>
              </a:rPr>
              <a:t>2n chr     </a:t>
            </a:r>
            <a:r>
              <a:rPr lang="fr-FR" sz="1600" b="1" dirty="0">
                <a:solidFill>
                  <a:srgbClr val="0070C0"/>
                </a:solidFill>
              </a:rPr>
              <a:t>Première division méiose</a:t>
            </a:r>
          </a:p>
          <a:p>
            <a:pPr lvl="0"/>
            <a:r>
              <a:rPr lang="fr-FR" sz="1600" b="1" dirty="0">
                <a:solidFill>
                  <a:srgbClr val="FF0000"/>
                </a:solidFill>
              </a:rPr>
              <a:t>                      </a:t>
            </a:r>
            <a:r>
              <a:rPr lang="fr-FR" sz="1600" b="1" dirty="0" smtClean="0">
                <a:solidFill>
                  <a:srgbClr val="FF0000"/>
                </a:solidFill>
              </a:rPr>
              <a:t>          </a:t>
            </a:r>
            <a:r>
              <a:rPr lang="fr-FR" sz="1600" b="1" dirty="0" smtClean="0">
                <a:solidFill>
                  <a:srgbClr val="0070C0"/>
                </a:solidFill>
              </a:rPr>
              <a:t>Mitose </a:t>
            </a:r>
            <a:r>
              <a:rPr lang="fr-FR" sz="1600" b="1" dirty="0">
                <a:solidFill>
                  <a:srgbClr val="0070C0"/>
                </a:solidFill>
              </a:rPr>
              <a:t>réductionnelle</a:t>
            </a:r>
          </a:p>
          <a:p>
            <a:r>
              <a:rPr lang="fr-FR" sz="3200" b="1" dirty="0" smtClean="0">
                <a:solidFill>
                  <a:srgbClr val="FF0000"/>
                </a:solidFill>
              </a:rPr>
              <a:t>                                       </a:t>
            </a:r>
            <a:r>
              <a:rPr lang="fr-FR" sz="1600" b="1" dirty="0" smtClean="0"/>
              <a:t>Jusqu’à </a:t>
            </a:r>
            <a:r>
              <a:rPr lang="fr-FR" sz="1600" b="1" dirty="0"/>
              <a:t>la puberté</a:t>
            </a:r>
          </a:p>
          <a:p>
            <a:r>
              <a:rPr lang="fr-FR" sz="1600" b="1" dirty="0"/>
              <a:t>   </a:t>
            </a:r>
            <a:r>
              <a:rPr lang="fr-FR" sz="1600" b="1" dirty="0" smtClean="0"/>
              <a:t>                                                                     Chaque </a:t>
            </a:r>
            <a:r>
              <a:rPr lang="fr-FR" sz="1600" b="1" dirty="0"/>
              <a:t>cycle (chaque mois)</a:t>
            </a:r>
          </a:p>
          <a:p>
            <a:pPr lvl="0"/>
            <a:r>
              <a:rPr lang="fr-FR" sz="2400" b="1" dirty="0" smtClean="0">
                <a:solidFill>
                  <a:prstClr val="black"/>
                </a:solidFill>
              </a:rPr>
              <a:t>Ovocyte I bloqué                                  </a:t>
            </a:r>
            <a:r>
              <a:rPr lang="fr-FR" sz="2400" b="1" dirty="0">
                <a:solidFill>
                  <a:prstClr val="black"/>
                </a:solidFill>
              </a:rPr>
              <a:t>Ovocyte </a:t>
            </a:r>
            <a:r>
              <a:rPr lang="fr-FR" sz="2400" b="1" dirty="0" smtClean="0">
                <a:solidFill>
                  <a:prstClr val="black"/>
                </a:solidFill>
              </a:rPr>
              <a:t>II </a:t>
            </a:r>
            <a:r>
              <a:rPr lang="fr-FR" sz="2400" b="1" dirty="0" smtClean="0">
                <a:solidFill>
                  <a:srgbClr val="0070C0"/>
                </a:solidFill>
              </a:rPr>
              <a:t>n chr</a:t>
            </a:r>
          </a:p>
          <a:p>
            <a:pPr lvl="0"/>
            <a:r>
              <a:rPr lang="fr-FR" sz="2400" b="1" dirty="0">
                <a:solidFill>
                  <a:srgbClr val="0070C0"/>
                </a:solidFill>
              </a:rPr>
              <a:t> </a:t>
            </a:r>
            <a:r>
              <a:rPr lang="fr-FR" sz="2400" b="1" dirty="0" smtClean="0">
                <a:solidFill>
                  <a:srgbClr val="0070C0"/>
                </a:solidFill>
              </a:rPr>
              <a:t>                                                                   </a:t>
            </a:r>
            <a:r>
              <a:rPr lang="fr-FR" sz="2400" b="1" dirty="0" smtClean="0"/>
              <a:t>1er GP </a:t>
            </a:r>
            <a:r>
              <a:rPr lang="fr-FR" sz="2400" b="1" dirty="0" smtClean="0">
                <a:solidFill>
                  <a:srgbClr val="0070C0"/>
                </a:solidFill>
              </a:rPr>
              <a:t>nchr</a:t>
            </a:r>
            <a:endParaRPr lang="fr-FR" sz="3200" b="1" dirty="0"/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3200" b="1" dirty="0" smtClean="0"/>
              <a:t>                                                                  </a:t>
            </a:r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dirty="0"/>
          </a:p>
        </p:txBody>
      </p:sp>
      <p:sp>
        <p:nvSpPr>
          <p:cNvPr id="3" name="Flèche droite 2"/>
          <p:cNvSpPr/>
          <p:nvPr/>
        </p:nvSpPr>
        <p:spPr>
          <a:xfrm>
            <a:off x="1979712" y="1850979"/>
            <a:ext cx="97840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 droite 4"/>
          <p:cNvSpPr/>
          <p:nvPr/>
        </p:nvSpPr>
        <p:spPr>
          <a:xfrm>
            <a:off x="1835696" y="3274917"/>
            <a:ext cx="97840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5148064" y="2387756"/>
            <a:ext cx="2394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chemeClr val="tx2"/>
                </a:solidFill>
              </a:rPr>
              <a:t>    </a:t>
            </a:r>
            <a:r>
              <a:rPr lang="fr-FR" sz="1400" b="1" dirty="0" smtClean="0">
                <a:solidFill>
                  <a:schemeClr val="tx2"/>
                </a:solidFill>
              </a:rPr>
              <a:t>Durant la vie intra-uterine</a:t>
            </a:r>
            <a:endParaRPr lang="fr-FR" sz="1400" b="1" dirty="0">
              <a:solidFill>
                <a:schemeClr val="tx2"/>
              </a:solidFill>
            </a:endParaRPr>
          </a:p>
        </p:txBody>
      </p:sp>
      <p:sp>
        <p:nvSpPr>
          <p:cNvPr id="7" name="Flèche droite 6"/>
          <p:cNvSpPr/>
          <p:nvPr/>
        </p:nvSpPr>
        <p:spPr>
          <a:xfrm>
            <a:off x="1979712" y="2229520"/>
            <a:ext cx="97840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542" y="4357243"/>
            <a:ext cx="1012024" cy="798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26181"/>
            <a:ext cx="86409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Ovocyte II                                                                  Ovocyte II </a:t>
            </a:r>
          </a:p>
          <a:p>
            <a:r>
              <a:rPr lang="fr-FR" sz="2400" b="1" dirty="0" smtClean="0"/>
              <a:t>                                                                                      bloqué en</a:t>
            </a:r>
          </a:p>
          <a:p>
            <a:r>
              <a:rPr lang="fr-FR" sz="2400" b="1" dirty="0" smtClean="0"/>
              <a:t>                                                                                   métaphase </a:t>
            </a:r>
            <a:r>
              <a:rPr lang="fr-FR" sz="2400" b="1" dirty="0"/>
              <a:t>II</a:t>
            </a:r>
            <a:endParaRPr lang="fr-FR" sz="2400" b="1" dirty="0" smtClean="0"/>
          </a:p>
          <a:p>
            <a:r>
              <a:rPr lang="fr-FR" sz="2400" b="1" dirty="0" smtClean="0">
                <a:solidFill>
                  <a:srgbClr val="0070C0"/>
                </a:solidFill>
              </a:rPr>
              <a:t>                                  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5" name="Flèche droite 4"/>
          <p:cNvSpPr/>
          <p:nvPr/>
        </p:nvSpPr>
        <p:spPr>
          <a:xfrm>
            <a:off x="3131840" y="260648"/>
            <a:ext cx="978408" cy="88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23528" y="4509120"/>
            <a:ext cx="2776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  <a:endParaRPr lang="fr-FR" sz="3200" b="1" dirty="0">
              <a:solidFill>
                <a:srgbClr val="00B050"/>
              </a:solidFill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995" y="2840107"/>
            <a:ext cx="1005927" cy="8269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995" y="2509097"/>
            <a:ext cx="1005927" cy="5625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80" y="4712711"/>
            <a:ext cx="1005927" cy="88796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1535159"/>
            <a:ext cx="2932430" cy="749734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3507038"/>
            <a:ext cx="3664014" cy="370020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 flipH="1">
            <a:off x="1979712" y="407522"/>
            <a:ext cx="7323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    </a:t>
            </a:r>
            <a:r>
              <a:rPr lang="fr-FR" sz="1600" b="1" dirty="0" smtClean="0">
                <a:solidFill>
                  <a:srgbClr val="0070C0"/>
                </a:solidFill>
              </a:rPr>
              <a:t>Deuxième division méiose</a:t>
            </a:r>
            <a:endParaRPr lang="fr-FR" sz="1600" b="1" dirty="0">
              <a:solidFill>
                <a:srgbClr val="0070C0"/>
              </a:solidFill>
            </a:endParaRPr>
          </a:p>
          <a:p>
            <a:r>
              <a:rPr lang="fr-FR" sz="1600" b="1" dirty="0">
                <a:solidFill>
                  <a:srgbClr val="0070C0"/>
                </a:solidFill>
              </a:rPr>
              <a:t>            </a:t>
            </a:r>
            <a:r>
              <a:rPr lang="fr-FR" sz="1600" b="1" dirty="0" smtClean="0">
                <a:solidFill>
                  <a:srgbClr val="0070C0"/>
                </a:solidFill>
              </a:rPr>
              <a:t>Mitose </a:t>
            </a:r>
            <a:r>
              <a:rPr lang="fr-FR" sz="1600" b="1" dirty="0">
                <a:solidFill>
                  <a:srgbClr val="0070C0"/>
                </a:solidFill>
              </a:rPr>
              <a:t>équationnelle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50028" y="2319603"/>
            <a:ext cx="8211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Ovocyte II                                                          Ovotide </a:t>
            </a:r>
          </a:p>
          <a:p>
            <a:r>
              <a:rPr lang="fr-FR" sz="2400" b="1" dirty="0"/>
              <a:t> </a:t>
            </a:r>
            <a:r>
              <a:rPr lang="fr-FR" sz="2400" b="1" dirty="0" smtClean="0"/>
              <a:t>                                                                            2</a:t>
            </a:r>
            <a:r>
              <a:rPr lang="fr-FR" sz="2400" b="1" baseline="30000" dirty="0" smtClean="0"/>
              <a:t>ème</a:t>
            </a:r>
            <a:r>
              <a:rPr lang="fr-FR" sz="2400" b="1" dirty="0" smtClean="0"/>
              <a:t> GP</a:t>
            </a:r>
            <a:endParaRPr lang="fr-FR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400499" y="4432175"/>
            <a:ext cx="73781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/>
              <a:t>Ovocyte </a:t>
            </a:r>
            <a:r>
              <a:rPr lang="fr-FR" sz="2400" b="1" dirty="0" smtClean="0"/>
              <a:t>II                                                          Dégénére 24 h 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6861" y="743857"/>
            <a:ext cx="5750277" cy="455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2754001" y="5733256"/>
            <a:ext cx="3635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Schéma de l’ovogénèse</a:t>
            </a:r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260648"/>
            <a:ext cx="8424936" cy="6336703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467544" y="548680"/>
            <a:ext cx="2520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FFC000"/>
                </a:solidFill>
              </a:rPr>
              <a:t>Folliculogenesis</a:t>
            </a:r>
            <a:endParaRPr lang="fr-FR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052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60648"/>
            <a:ext cx="7056784" cy="5832648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480838" y="6093296"/>
            <a:ext cx="24703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Folliculogénèse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624260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60648"/>
            <a:ext cx="1569511" cy="161517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141363"/>
            <a:ext cx="1908616" cy="1734463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26937"/>
            <a:ext cx="3258134" cy="278105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04" y="2564904"/>
            <a:ext cx="1900854" cy="259056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5896" y="3501008"/>
            <a:ext cx="3986437" cy="216426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8575" y="6007254"/>
            <a:ext cx="2670279" cy="75597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400468" y="2033728"/>
            <a:ext cx="35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Primordial follicle       Primary follicle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438854" y="2807988"/>
            <a:ext cx="182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Secondary follicle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1022887" y="5232994"/>
            <a:ext cx="1453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Trtiary follicle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4860032" y="5773705"/>
            <a:ext cx="1646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Graafian follicle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0291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536" y="404664"/>
            <a:ext cx="83529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rgbClr val="FFC000"/>
                </a:solidFill>
              </a:rPr>
              <a:t>Biological Characteristics of the </a:t>
            </a:r>
            <a:r>
              <a:rPr lang="fr-FR" sz="2800" b="1" dirty="0" smtClean="0">
                <a:solidFill>
                  <a:srgbClr val="FFC000"/>
                </a:solidFill>
              </a:rPr>
              <a:t>Oocyte II</a:t>
            </a:r>
          </a:p>
          <a:p>
            <a:r>
              <a:rPr lang="fr-FR" sz="2800" b="1" dirty="0" smtClean="0">
                <a:solidFill>
                  <a:srgbClr val="FFC000"/>
                </a:solidFill>
              </a:rPr>
              <a:t> </a:t>
            </a:r>
            <a:r>
              <a:rPr lang="fr-FR" sz="2800" dirty="0"/>
              <a:t>From the oocyte toward the periphery, we distinguish: a- The perivitelline </a:t>
            </a:r>
            <a:r>
              <a:rPr lang="fr-FR" sz="2800" dirty="0" smtClean="0"/>
              <a:t>space</a:t>
            </a:r>
          </a:p>
          <a:p>
            <a:r>
              <a:rPr lang="fr-FR" sz="2800" dirty="0" smtClean="0"/>
              <a:t>b- </a:t>
            </a:r>
            <a:r>
              <a:rPr lang="fr-FR" sz="2800" dirty="0"/>
              <a:t>The zona pellucida </a:t>
            </a:r>
            <a:endParaRPr lang="fr-FR" sz="2800" dirty="0" smtClean="0"/>
          </a:p>
          <a:p>
            <a:r>
              <a:rPr lang="fr-FR" sz="2800" dirty="0" smtClean="0"/>
              <a:t>c- </a:t>
            </a:r>
            <a:r>
              <a:rPr lang="fr-FR" sz="2800" dirty="0"/>
              <a:t>The Corona Radiata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651432"/>
            <a:ext cx="8096190" cy="35115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87824" y="6158849"/>
            <a:ext cx="33759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/>
              <a:t>Structure of Oocyte </a:t>
            </a:r>
            <a:r>
              <a:rPr lang="fr-FR" sz="2800" b="1" dirty="0"/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1398867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2656"/>
            <a:ext cx="831641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/>
              <a:t>Secondary oocyte, blocked in metaphase II. 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Spherical </a:t>
            </a:r>
            <a:r>
              <a:rPr lang="fr-FR" sz="2800" dirty="0"/>
              <a:t>cell, 150 µm in diameter, without synthetic activity. 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Nuclear </a:t>
            </a:r>
            <a:r>
              <a:rPr lang="fr-FR" sz="2800" dirty="0"/>
              <a:t>material blocked in metaphase II</a:t>
            </a:r>
            <a:r>
              <a:rPr lang="fr-FR" sz="28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In the absence of fertilization, the oocyte survives for 24 hours (rarely 48 hours). </a:t>
            </a:r>
            <a:endParaRPr lang="fr-FR" sz="2800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Oocyte </a:t>
            </a:r>
            <a:r>
              <a:rPr lang="fr-FR" sz="2800" dirty="0"/>
              <a:t>fecundability = degree of cytoplasmic and nuclear maturation</a:t>
            </a:r>
            <a:r>
              <a:rPr lang="fr-FR" sz="28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Passive migration through the genital tract facilitated by: - ​​Fluid flow - Movements of the cilia of the tubal epithelium.</a:t>
            </a:r>
          </a:p>
        </p:txBody>
      </p:sp>
    </p:spTree>
    <p:extLst>
      <p:ext uri="{BB962C8B-B14F-4D97-AF65-F5344CB8AC3E}">
        <p14:creationId xmlns:p14="http://schemas.microsoft.com/office/powerpoint/2010/main" val="3502791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155575" y="115758"/>
            <a:ext cx="9828584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2060"/>
                </a:solidFill>
              </a:rPr>
              <a:t>Caractéristiques  biologiques  de l’ovocyte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De l'ovocyte vers la périphérie, on distingue :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a- L'espace péri-vitellin </a:t>
            </a:r>
            <a:b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b- La zone pellucide </a:t>
            </a:r>
            <a:b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c- La Corona Radiata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3200" dirty="0" smtClean="0"/>
              <a:t> </a:t>
            </a:r>
            <a:endParaRPr kumimoji="0" lang="fr-FR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sp>
        <p:nvSpPr>
          <p:cNvPr id="9218" name="AutoShape 2" descr="Biologie Simplifiée - Structure de l'ovocyte II par: Admin HBK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0" name="AutoShape 4" descr="Biologie Simplifiée - Structure de l'ovocyte II par: Admin HBK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2" name="AutoShape 6" descr="Biologie Simplifiée - Structure de l'ovocyte II par: Admin HBK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9224" name="AutoShape 8" descr="Biologie Simplifiée - Structure de l'ovocyte II par: Admin HBK | Faceboo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630354"/>
            <a:ext cx="5256584" cy="35349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48" y="836712"/>
            <a:ext cx="9468544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2800" dirty="0"/>
              <a:t>Ovocyte </a:t>
            </a:r>
            <a:r>
              <a:rPr lang="fr-FR" sz="2800" dirty="0" smtClean="0"/>
              <a:t>secondaire</a:t>
            </a:r>
            <a:r>
              <a:rPr lang="fr-FR" sz="2800" dirty="0"/>
              <a:t>, </a:t>
            </a:r>
            <a:r>
              <a:rPr lang="fr-FR" sz="2800" dirty="0" smtClean="0"/>
              <a:t> bloqué </a:t>
            </a:r>
            <a:r>
              <a:rPr lang="fr-FR" sz="2800" dirty="0"/>
              <a:t>en métaphase II.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3200" b="1" dirty="0" smtClean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smtClean="0"/>
              <a:t>Cellule sphérique de 150 µm de diamètre, sans activité de synthèse.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endParaRPr lang="fr-FR" sz="2800" dirty="0" smtClean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2800" dirty="0" smtClean="0"/>
              <a:t> Matériel nucléaire bloqué en métaphase II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2800" dirty="0" smtClean="0"/>
              <a:t> En absence de fécondation, l'ovocyte survit  24 h (rarement 48 h).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fr-FR" sz="2800" dirty="0" smtClean="0"/>
              <a:t> Fécondabilité de l'ovocyte =  degré de maturation cytoplasmique et nucléaire</a:t>
            </a:r>
            <a:endParaRPr lang="fr-FR" sz="2800" b="1" dirty="0" smtClean="0"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 Migration </a:t>
            </a: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dans le tractus génital </a:t>
            </a:r>
            <a:r>
              <a:rPr lang="fr-FR" sz="2800" dirty="0" smtClean="0">
                <a:solidFill>
                  <a:srgbClr val="FF0000"/>
                </a:solidFill>
                <a:ea typeface="Times New Roman" pitchFamily="18" charset="0"/>
                <a:cs typeface="Times New Roman" pitchFamily="18" charset="0"/>
              </a:rPr>
              <a:t>passive  </a:t>
            </a:r>
            <a:r>
              <a:rPr lang="fr-FR" sz="2800" dirty="0" smtClean="0">
                <a:ea typeface="Times New Roman" pitchFamily="18" charset="0"/>
                <a:cs typeface="Times New Roman" pitchFamily="18" charset="0"/>
              </a:rPr>
              <a:t>f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acilitée par </a:t>
            </a:r>
            <a:b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- Le courant liquidien </a:t>
            </a:r>
            <a:b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</a:b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- Les mouvements des cils vibratiles de l'épithélium   tubaire.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88204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>
                <a:solidFill>
                  <a:srgbClr val="002060"/>
                </a:solidFill>
                <a:latin typeface="Calibri" pitchFamily="34" charset="0"/>
                <a:ea typeface="Times New Roman" pitchFamily="18" charset="0"/>
                <a:cs typeface="Calibri" pitchFamily="34" charset="0"/>
              </a:rPr>
              <a:t>Differences between male and female gametogenesis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10029825" cy="5686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88204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Différences entre gametogenèses masculine et feminine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 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 2" descr="http://moodle.univ-brest.fr/medecine/public/sites/Serveur_2009/Embryologie/Emb_gen/E_gamet/Dgamet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8064895" cy="496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8357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18629</TotalTime>
  <Words>603</Words>
  <Application>Microsoft Office PowerPoint</Application>
  <PresentationFormat>Affichage à l'écran (4:3)</PresentationFormat>
  <Paragraphs>208</Paragraphs>
  <Slides>26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104</cp:revision>
  <dcterms:created xsi:type="dcterms:W3CDTF">2012-11-10T07:52:45Z</dcterms:created>
  <dcterms:modified xsi:type="dcterms:W3CDTF">2025-09-27T16:54:16Z</dcterms:modified>
</cp:coreProperties>
</file>