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28"/>
  </p:notesMasterIdLst>
  <p:sldIdLst>
    <p:sldId id="257" r:id="rId2"/>
    <p:sldId id="291" r:id="rId3"/>
    <p:sldId id="280" r:id="rId4"/>
    <p:sldId id="283" r:id="rId5"/>
    <p:sldId id="298" r:id="rId6"/>
    <p:sldId id="290" r:id="rId7"/>
    <p:sldId id="299" r:id="rId8"/>
    <p:sldId id="300" r:id="rId9"/>
    <p:sldId id="292" r:id="rId10"/>
    <p:sldId id="302" r:id="rId11"/>
    <p:sldId id="297" r:id="rId12"/>
    <p:sldId id="301" r:id="rId13"/>
    <p:sldId id="284" r:id="rId14"/>
    <p:sldId id="274" r:id="rId15"/>
    <p:sldId id="303" r:id="rId16"/>
    <p:sldId id="263" r:id="rId17"/>
    <p:sldId id="260" r:id="rId18"/>
    <p:sldId id="265" r:id="rId19"/>
    <p:sldId id="285" r:id="rId20"/>
    <p:sldId id="266" r:id="rId21"/>
    <p:sldId id="304" r:id="rId22"/>
    <p:sldId id="286" r:id="rId23"/>
    <p:sldId id="279" r:id="rId24"/>
    <p:sldId id="305" r:id="rId25"/>
    <p:sldId id="306" r:id="rId26"/>
    <p:sldId id="267" r:id="rId2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12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D690EC-0EF1-48F7-BB5C-A5D0C8DFECEE}" type="datetimeFigureOut">
              <a:rPr lang="fr-FR" smtClean="0"/>
              <a:pPr/>
              <a:t>01/11/2025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DCAA2-6EA3-4BFE-8039-8FDB9E11106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CDCAA2-6EA3-4BFE-8039-8FDB9E111060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7564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CDCAA2-6EA3-4BFE-8039-8FDB9E111060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0945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9DF5-0CE0-4FB3-8D27-7EA8BF0E3B36}" type="datetimeFigureOut">
              <a:rPr lang="fr-FR" smtClean="0"/>
              <a:pPr/>
              <a:t>01/11/2025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7F56D-934A-4F00-B6DA-753B7413684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9DF5-0CE0-4FB3-8D27-7EA8BF0E3B36}" type="datetimeFigureOut">
              <a:rPr lang="fr-FR" smtClean="0"/>
              <a:pPr/>
              <a:t>01/11/2025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7F56D-934A-4F00-B6DA-753B7413684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9DF5-0CE0-4FB3-8D27-7EA8BF0E3B36}" type="datetimeFigureOut">
              <a:rPr lang="fr-FR" smtClean="0"/>
              <a:pPr/>
              <a:t>01/11/2025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7F56D-934A-4F00-B6DA-753B7413684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9DF5-0CE0-4FB3-8D27-7EA8BF0E3B36}" type="datetimeFigureOut">
              <a:rPr lang="fr-FR" smtClean="0"/>
              <a:pPr/>
              <a:t>01/11/2025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7F56D-934A-4F00-B6DA-753B7413684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9DF5-0CE0-4FB3-8D27-7EA8BF0E3B36}" type="datetimeFigureOut">
              <a:rPr lang="fr-FR" smtClean="0"/>
              <a:pPr/>
              <a:t>01/11/2025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7F56D-934A-4F00-B6DA-753B7413684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9DF5-0CE0-4FB3-8D27-7EA8BF0E3B36}" type="datetimeFigureOut">
              <a:rPr lang="fr-FR" smtClean="0"/>
              <a:pPr/>
              <a:t>01/11/2025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7F56D-934A-4F00-B6DA-753B7413684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9DF5-0CE0-4FB3-8D27-7EA8BF0E3B36}" type="datetimeFigureOut">
              <a:rPr lang="fr-FR" smtClean="0"/>
              <a:pPr/>
              <a:t>01/11/2025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7F56D-934A-4F00-B6DA-753B7413684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9DF5-0CE0-4FB3-8D27-7EA8BF0E3B36}" type="datetimeFigureOut">
              <a:rPr lang="fr-FR" smtClean="0"/>
              <a:pPr/>
              <a:t>01/11/2025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7F56D-934A-4F00-B6DA-753B7413684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9DF5-0CE0-4FB3-8D27-7EA8BF0E3B36}" type="datetimeFigureOut">
              <a:rPr lang="fr-FR" smtClean="0"/>
              <a:pPr/>
              <a:t>01/11/2025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7F56D-934A-4F00-B6DA-753B7413684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9DF5-0CE0-4FB3-8D27-7EA8BF0E3B36}" type="datetimeFigureOut">
              <a:rPr lang="fr-FR" smtClean="0"/>
              <a:pPr/>
              <a:t>01/11/2025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7F56D-934A-4F00-B6DA-753B7413684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9DF5-0CE0-4FB3-8D27-7EA8BF0E3B36}" type="datetimeFigureOut">
              <a:rPr lang="fr-FR" smtClean="0"/>
              <a:pPr/>
              <a:t>01/11/2025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7F56D-934A-4F00-B6DA-753B7413684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F9DF5-0CE0-4FB3-8D27-7EA8BF0E3B36}" type="datetimeFigureOut">
              <a:rPr lang="fr-FR" smtClean="0"/>
              <a:pPr/>
              <a:t>01/11/2025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7F56D-934A-4F00-B6DA-753B7413684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71500" y="0"/>
            <a:ext cx="8712968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/>
              <a:t>                               GENERAL </a:t>
            </a:r>
            <a:r>
              <a:rPr lang="fr-FR" sz="2800" b="1" dirty="0"/>
              <a:t>EMBRYOLOGY</a:t>
            </a:r>
          </a:p>
          <a:p>
            <a:r>
              <a:rPr lang="fr-FR" sz="2800" b="1" dirty="0" smtClean="0"/>
              <a:t>                                   THE </a:t>
            </a:r>
            <a:r>
              <a:rPr lang="fr-FR" sz="2800" b="1" dirty="0"/>
              <a:t>SECOND WEEK</a:t>
            </a:r>
          </a:p>
          <a:p>
            <a:r>
              <a:rPr lang="fr-FR" sz="2800" b="1" dirty="0" smtClean="0"/>
              <a:t>                        OF </a:t>
            </a:r>
            <a:r>
              <a:rPr lang="fr-FR" sz="2800" b="1" dirty="0"/>
              <a:t>EMBRYONIC </a:t>
            </a:r>
            <a:r>
              <a:rPr lang="fr-FR" sz="2800" b="1" dirty="0" smtClean="0"/>
              <a:t>DEVELOPMENT</a:t>
            </a:r>
          </a:p>
          <a:p>
            <a:endParaRPr lang="fr-FR" sz="2800" b="1" dirty="0"/>
          </a:p>
          <a:p>
            <a:endParaRPr lang="fr-FR" sz="2800" b="1" dirty="0"/>
          </a:p>
          <a:p>
            <a:r>
              <a:rPr lang="fr-FR" sz="2800" b="1" dirty="0" smtClean="0"/>
              <a:t>                                                            </a:t>
            </a:r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r>
              <a:rPr lang="fr-FR" sz="2800" b="1" dirty="0" smtClean="0"/>
              <a:t>                                                          </a:t>
            </a:r>
          </a:p>
          <a:p>
            <a:endParaRPr lang="fr-FR" sz="2800" b="1" dirty="0"/>
          </a:p>
          <a:p>
            <a:r>
              <a:rPr lang="fr-FR" sz="2800" b="1" dirty="0" smtClean="0"/>
              <a:t>                                                             PR </a:t>
            </a:r>
            <a:r>
              <a:rPr lang="fr-FR" sz="2800" b="1" dirty="0"/>
              <a:t>HANNACHI-HECINI A 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060848"/>
            <a:ext cx="6912768" cy="3429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20688"/>
            <a:ext cx="946854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The second week of gestation is marked by two major events: </a:t>
            </a:r>
            <a:endParaRPr lang="fr-FR" sz="3200" dirty="0" smtClean="0"/>
          </a:p>
          <a:p>
            <a:endParaRPr lang="fr-FR" sz="3200" dirty="0" smtClean="0"/>
          </a:p>
          <a:p>
            <a:r>
              <a:rPr lang="fr-FR" sz="3200" b="1" dirty="0" smtClean="0">
                <a:solidFill>
                  <a:srgbClr val="00B050"/>
                </a:solidFill>
              </a:rPr>
              <a:t>Implantation</a:t>
            </a:r>
            <a:r>
              <a:rPr lang="fr-FR" sz="3200" dirty="0"/>
              <a:t>: the blastocyst attaches to the endometrium. </a:t>
            </a:r>
            <a:endParaRPr lang="fr-FR" sz="3200" dirty="0" smtClean="0"/>
          </a:p>
          <a:p>
            <a:endParaRPr lang="fr-FR" sz="3200" dirty="0"/>
          </a:p>
          <a:p>
            <a:r>
              <a:rPr lang="fr-FR" sz="3200" b="1" dirty="0" smtClean="0">
                <a:solidFill>
                  <a:srgbClr val="00B050"/>
                </a:solidFill>
              </a:rPr>
              <a:t>Pre-gastrulation</a:t>
            </a:r>
            <a:r>
              <a:rPr lang="fr-FR" sz="3200" dirty="0"/>
              <a:t>: the blastocyst transforms into a bilaminar embryo.</a:t>
            </a:r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5218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00B050"/>
                </a:solidFill>
              </a:rPr>
              <a:t> </a:t>
            </a:r>
            <a:r>
              <a:rPr lang="fr-FR" sz="3200" b="1" dirty="0" smtClean="0">
                <a:solidFill>
                  <a:srgbClr val="0070C0"/>
                </a:solidFill>
              </a:rPr>
              <a:t>Zone d’implantation normale</a:t>
            </a:r>
            <a:endParaRPr lang="fr-FR" sz="3200" dirty="0">
              <a:solidFill>
                <a:srgbClr val="0070C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4211960" y="616407"/>
            <a:ext cx="5312865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Normally, implantation </a:t>
            </a:r>
            <a:r>
              <a:rPr lang="fr-FR" sz="2400" dirty="0" smtClean="0"/>
              <a:t>occurs in </a:t>
            </a:r>
            <a:r>
              <a:rPr lang="fr-FR" sz="2400" dirty="0"/>
              <a:t>the </a:t>
            </a:r>
            <a:endParaRPr lang="fr-FR" sz="2400" dirty="0" smtClean="0"/>
          </a:p>
          <a:p>
            <a:r>
              <a:rPr lang="fr-FR" sz="2400" dirty="0" smtClean="0"/>
              <a:t>upper </a:t>
            </a:r>
            <a:r>
              <a:rPr lang="fr-FR" sz="2400" dirty="0"/>
              <a:t>or middle </a:t>
            </a:r>
            <a:r>
              <a:rPr lang="fr-FR" sz="2400" dirty="0" smtClean="0"/>
              <a:t>third of </a:t>
            </a:r>
            <a:r>
              <a:rPr lang="fr-FR" sz="2400" dirty="0"/>
              <a:t>the uterine wall</a:t>
            </a:r>
            <a:r>
              <a:rPr lang="fr-FR" sz="2400" dirty="0" smtClean="0"/>
              <a:t>,</a:t>
            </a:r>
          </a:p>
          <a:p>
            <a:r>
              <a:rPr lang="fr-FR" sz="2400" dirty="0" smtClean="0"/>
              <a:t> </a:t>
            </a:r>
            <a:r>
              <a:rPr lang="fr-FR" sz="2400" dirty="0"/>
              <a:t>on its posterior surface</a:t>
            </a:r>
            <a:r>
              <a:rPr lang="fr-FR" sz="2400" dirty="0" smtClean="0"/>
              <a:t>, during </a:t>
            </a:r>
            <a:r>
              <a:rPr lang="fr-FR" sz="2400" dirty="0"/>
              <a:t>the </a:t>
            </a:r>
            <a:endParaRPr lang="fr-FR" sz="2400" dirty="0" smtClean="0"/>
          </a:p>
          <a:p>
            <a:r>
              <a:rPr lang="fr-FR" sz="2400" dirty="0" smtClean="0"/>
              <a:t>secretory </a:t>
            </a:r>
            <a:r>
              <a:rPr lang="fr-FR" sz="2400" dirty="0"/>
              <a:t>phase of the menstrual cycle.</a:t>
            </a:r>
          </a:p>
          <a:p>
            <a:endParaRPr lang="fr-FR" sz="2400" dirty="0"/>
          </a:p>
          <a:p>
            <a:r>
              <a:rPr lang="fr-FR" sz="2400" dirty="0"/>
              <a:t>An ectopic pregnancy, or implantation</a:t>
            </a:r>
          </a:p>
          <a:p>
            <a:r>
              <a:rPr lang="fr-FR" sz="2400" dirty="0"/>
              <a:t>of the fertilized egg, is due to a</a:t>
            </a:r>
          </a:p>
          <a:p>
            <a:r>
              <a:rPr lang="fr-FR" sz="2400" dirty="0"/>
              <a:t>delay in the egg's migration (a problem</a:t>
            </a:r>
          </a:p>
          <a:p>
            <a:r>
              <a:rPr lang="fr-FR" sz="2400" dirty="0"/>
              <a:t>with motility, a problem with the </a:t>
            </a:r>
            <a:endParaRPr lang="fr-FR" sz="2400" dirty="0" smtClean="0"/>
          </a:p>
          <a:p>
            <a:r>
              <a:rPr lang="fr-FR" sz="2400" dirty="0" smtClean="0"/>
              <a:t>permeability </a:t>
            </a:r>
            <a:r>
              <a:rPr lang="fr-FR" sz="2400" dirty="0"/>
              <a:t>of the organs).</a:t>
            </a:r>
          </a:p>
          <a:p>
            <a:endParaRPr lang="fr-FR" sz="2400" dirty="0" smtClean="0"/>
          </a:p>
          <a:p>
            <a:r>
              <a:rPr lang="fr-FR" sz="2400" dirty="0" smtClean="0"/>
              <a:t>Most </a:t>
            </a:r>
            <a:r>
              <a:rPr lang="fr-FR" sz="2400" dirty="0"/>
              <a:t>often implanted in the</a:t>
            </a:r>
          </a:p>
          <a:p>
            <a:r>
              <a:rPr lang="fr-FR" sz="2400" dirty="0"/>
              <a:t>fallopian tube, the zygote can end up</a:t>
            </a:r>
          </a:p>
          <a:p>
            <a:r>
              <a:rPr lang="fr-FR" sz="2400" dirty="0"/>
              <a:t>on an ovary, in the abdominal cavity,</a:t>
            </a:r>
          </a:p>
          <a:p>
            <a:r>
              <a:rPr lang="fr-FR" sz="2400" dirty="0"/>
              <a:t>or directly on the cervix</a:t>
            </a:r>
            <a:r>
              <a:rPr lang="fr-FR" sz="2400" dirty="0" smtClean="0"/>
              <a:t>.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484784"/>
            <a:ext cx="3528392" cy="4320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87424"/>
            <a:ext cx="9144000" cy="726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dirty="0" smtClean="0"/>
          </a:p>
          <a:p>
            <a:endParaRPr lang="fr-FR" sz="2800" b="1" dirty="0" smtClean="0"/>
          </a:p>
          <a:p>
            <a:endParaRPr lang="fr-FR" sz="2800" b="1" dirty="0" smtClean="0"/>
          </a:p>
          <a:p>
            <a:r>
              <a:rPr lang="fr-FR" sz="2800" b="1" dirty="0" smtClean="0"/>
              <a:t>Les cellules du stroma:</a:t>
            </a:r>
          </a:p>
          <a:p>
            <a:pPr>
              <a:buFont typeface="Wingdings" pitchFamily="2" charset="2"/>
              <a:buChar char="§"/>
            </a:pPr>
            <a:r>
              <a:rPr lang="fr-FR" sz="2800" b="1" dirty="0" smtClean="0"/>
              <a:t> </a:t>
            </a:r>
            <a:r>
              <a:rPr lang="fr-FR" sz="2800" dirty="0" smtClean="0"/>
              <a:t>Deviennent plus volumineuses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Se chargent en glycogène et en lipides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Forment des </a:t>
            </a:r>
            <a:r>
              <a:rPr lang="fr-FR" sz="2800" dirty="0" smtClean="0">
                <a:solidFill>
                  <a:srgbClr val="00B0F0"/>
                </a:solidFill>
              </a:rPr>
              <a:t>cellules déciduales = caduques. </a:t>
            </a:r>
          </a:p>
          <a:p>
            <a:endParaRPr lang="fr-FR" sz="2800" dirty="0" smtClean="0"/>
          </a:p>
          <a:p>
            <a:r>
              <a:rPr lang="fr-FR" sz="2800" dirty="0" smtClean="0"/>
              <a:t>Ce phénomène débute au niveau de la zone d’implantation en contact avec le ST puis se propage sur tout l’endomètre. </a:t>
            </a:r>
          </a:p>
          <a:p>
            <a:endParaRPr lang="fr-FR" sz="2800" dirty="0" smtClean="0"/>
          </a:p>
          <a:p>
            <a:r>
              <a:rPr lang="fr-FR" sz="2800" dirty="0" smtClean="0"/>
              <a:t>L'augmentation de la progestérone provoque une transformation déciduale du chorion (cellules globuleuse contenant du glycogène et des lipides qui auront un rôle nutritif pour l’œuf).</a:t>
            </a:r>
          </a:p>
          <a:p>
            <a:endParaRPr lang="fr-FR" sz="2800" dirty="0" smtClean="0"/>
          </a:p>
          <a:p>
            <a:endParaRPr lang="fr-FR" sz="2800" b="1" dirty="0" smtClean="0"/>
          </a:p>
        </p:txBody>
      </p:sp>
      <p:sp>
        <p:nvSpPr>
          <p:cNvPr id="3" name="ZoneTexte 2"/>
          <p:cNvSpPr txBox="1"/>
          <p:nvPr/>
        </p:nvSpPr>
        <p:spPr>
          <a:xfrm>
            <a:off x="0" y="0"/>
            <a:ext cx="8532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B05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Reponse de l'endometre a l’implantation</a:t>
            </a:r>
            <a:endParaRPr lang="fr-FR"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87424"/>
            <a:ext cx="9144000" cy="6401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dirty="0" smtClean="0"/>
          </a:p>
          <a:p>
            <a:endParaRPr lang="fr-FR" sz="2800" b="1" dirty="0" smtClean="0"/>
          </a:p>
          <a:p>
            <a:endParaRPr lang="fr-FR" sz="2800" b="1" dirty="0" smtClean="0"/>
          </a:p>
          <a:p>
            <a:r>
              <a:rPr lang="fr-FR" sz="2800" dirty="0"/>
              <a:t>Stroma cells: Increase in </a:t>
            </a:r>
            <a:r>
              <a:rPr lang="fr-FR" sz="2800" dirty="0" smtClean="0"/>
              <a:t>size and acquire </a:t>
            </a:r>
            <a:r>
              <a:rPr lang="fr-FR" sz="2800" dirty="0"/>
              <a:t>glycogen and lipids Form decidual cells. </a:t>
            </a:r>
            <a:endParaRPr lang="fr-FR" sz="2800" dirty="0" smtClean="0"/>
          </a:p>
          <a:p>
            <a:endParaRPr lang="fr-FR" sz="2800" dirty="0" smtClean="0"/>
          </a:p>
          <a:p>
            <a:r>
              <a:rPr lang="fr-FR" sz="2800" dirty="0" smtClean="0"/>
              <a:t>This </a:t>
            </a:r>
            <a:r>
              <a:rPr lang="fr-FR" sz="2800" dirty="0"/>
              <a:t>process begins at the implantation site in contact with the stromal stem and then spreads throughout the endometrium. </a:t>
            </a:r>
            <a:endParaRPr lang="fr-FR" sz="2800" dirty="0" smtClean="0"/>
          </a:p>
          <a:p>
            <a:endParaRPr lang="fr-FR" sz="2800" dirty="0" smtClean="0"/>
          </a:p>
          <a:p>
            <a:r>
              <a:rPr lang="fr-FR" sz="2800" dirty="0" smtClean="0"/>
              <a:t>The </a:t>
            </a:r>
            <a:r>
              <a:rPr lang="fr-FR" sz="2800" dirty="0"/>
              <a:t>increase in progesterone triggers a decidual transformation of the chorion (globular cells containing glycogen and lipids that will provide nutrients for the egg</a:t>
            </a:r>
            <a:r>
              <a:rPr lang="fr-FR" sz="2800" dirty="0" smtClean="0"/>
              <a:t>).</a:t>
            </a:r>
          </a:p>
          <a:p>
            <a:endParaRPr lang="fr-FR" sz="2800" dirty="0" smtClean="0"/>
          </a:p>
          <a:p>
            <a:endParaRPr lang="fr-FR" sz="2800" b="1" dirty="0" smtClean="0"/>
          </a:p>
        </p:txBody>
      </p:sp>
      <p:sp>
        <p:nvSpPr>
          <p:cNvPr id="3" name="ZoneTexte 2"/>
          <p:cNvSpPr txBox="1"/>
          <p:nvPr/>
        </p:nvSpPr>
        <p:spPr>
          <a:xfrm>
            <a:off x="0" y="0"/>
            <a:ext cx="85324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B050"/>
                </a:solidFill>
              </a:rPr>
              <a:t>                   </a:t>
            </a:r>
            <a:r>
              <a:rPr lang="fr-FR" sz="2800" b="1" dirty="0" smtClean="0">
                <a:solidFill>
                  <a:srgbClr val="FF0000"/>
                </a:solidFill>
              </a:rPr>
              <a:t>Endometrial </a:t>
            </a:r>
            <a:r>
              <a:rPr lang="fr-FR" sz="2800" b="1" dirty="0">
                <a:solidFill>
                  <a:srgbClr val="FF0000"/>
                </a:solidFill>
              </a:rPr>
              <a:t>Response to </a:t>
            </a:r>
            <a:r>
              <a:rPr lang="fr-FR" sz="2800" b="1" dirty="0" smtClean="0">
                <a:solidFill>
                  <a:srgbClr val="FF0000"/>
                </a:solidFill>
              </a:rPr>
              <a:t>Implantation</a:t>
            </a:r>
          </a:p>
          <a:p>
            <a:endParaRPr lang="fr-FR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304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Les cellules déciduales = trois caduques (décidues):</a:t>
            </a:r>
          </a:p>
          <a:p>
            <a:r>
              <a:rPr lang="fr-FR" sz="2800" b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r>
              <a:rPr lang="fr-FR" sz="2800" dirty="0" smtClean="0"/>
              <a:t>➢ </a:t>
            </a:r>
            <a:r>
              <a:rPr lang="fr-FR" sz="2800" b="1" dirty="0" smtClean="0">
                <a:solidFill>
                  <a:srgbClr val="00B0F0"/>
                </a:solidFill>
              </a:rPr>
              <a:t>Caduque basale </a:t>
            </a:r>
            <a:r>
              <a:rPr lang="fr-FR" sz="2800" dirty="0" smtClean="0"/>
              <a:t>/ inter-utéro-placentaire:</a:t>
            </a:r>
          </a:p>
          <a:p>
            <a:r>
              <a:rPr lang="fr-FR" sz="2800" dirty="0" smtClean="0"/>
              <a:t> participe à la formation du placenta, interposé entre l'embryon et le myomètre (pole embryonnaire).</a:t>
            </a:r>
          </a:p>
          <a:p>
            <a:r>
              <a:rPr lang="fr-FR" sz="2800" dirty="0" smtClean="0"/>
              <a:t> </a:t>
            </a:r>
          </a:p>
          <a:p>
            <a:r>
              <a:rPr lang="fr-FR" sz="2800" dirty="0" smtClean="0"/>
              <a:t>➢ </a:t>
            </a:r>
            <a:r>
              <a:rPr lang="fr-FR" sz="2800" b="1" dirty="0" smtClean="0">
                <a:solidFill>
                  <a:srgbClr val="00B0F0"/>
                </a:solidFill>
              </a:rPr>
              <a:t>Caduque ovulaire </a:t>
            </a:r>
            <a:r>
              <a:rPr lang="fr-FR" sz="2800" dirty="0" smtClean="0"/>
              <a:t>ou réfléchie:</a:t>
            </a:r>
          </a:p>
          <a:p>
            <a:r>
              <a:rPr lang="fr-FR" sz="2800" dirty="0" smtClean="0"/>
              <a:t> autour de l'embryon et l'accompagne</a:t>
            </a:r>
          </a:p>
          <a:p>
            <a:r>
              <a:rPr lang="fr-FR" sz="2800" dirty="0" smtClean="0"/>
              <a:t> lors de la croissance.</a:t>
            </a:r>
          </a:p>
          <a:p>
            <a:r>
              <a:rPr lang="fr-FR" sz="2800" dirty="0" smtClean="0"/>
              <a:t> </a:t>
            </a:r>
          </a:p>
          <a:p>
            <a:r>
              <a:rPr lang="fr-FR" sz="2800" dirty="0" smtClean="0"/>
              <a:t>➢ </a:t>
            </a:r>
            <a:r>
              <a:rPr lang="fr-FR" sz="2800" b="1" dirty="0" smtClean="0">
                <a:solidFill>
                  <a:srgbClr val="00B0F0"/>
                </a:solidFill>
              </a:rPr>
              <a:t>Caduque pariétale</a:t>
            </a:r>
            <a:r>
              <a:rPr lang="fr-FR" sz="2800" dirty="0" smtClean="0"/>
              <a:t>: </a:t>
            </a:r>
          </a:p>
          <a:p>
            <a:r>
              <a:rPr lang="fr-FR" sz="2800" dirty="0" smtClean="0"/>
              <a:t>borde le reste de la cavité utérine. 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/>
              <a:t>The decidual cells = three decidua (deciduae</a:t>
            </a:r>
            <a:r>
              <a:rPr lang="fr-FR" sz="2800" dirty="0" smtClean="0"/>
              <a:t>):</a:t>
            </a:r>
          </a:p>
          <a:p>
            <a:endParaRPr lang="fr-FR" sz="2800" dirty="0"/>
          </a:p>
          <a:p>
            <a:r>
              <a:rPr lang="fr-FR" sz="2800" dirty="0" smtClean="0"/>
              <a:t> </a:t>
            </a:r>
            <a:r>
              <a:rPr lang="fr-FR" sz="2800" dirty="0"/>
              <a:t>➢ </a:t>
            </a:r>
            <a:r>
              <a:rPr lang="fr-FR" sz="2800" b="1" dirty="0">
                <a:solidFill>
                  <a:srgbClr val="00B050"/>
                </a:solidFill>
              </a:rPr>
              <a:t>Basal/inter-uteroplacental decidua</a:t>
            </a:r>
            <a:r>
              <a:rPr lang="fr-FR" sz="2800" dirty="0"/>
              <a:t>: participates in the formation of the placenta, located between the embryo and the myometrium (embryonic pole). </a:t>
            </a:r>
            <a:endParaRPr lang="fr-FR" sz="2800" dirty="0" smtClean="0"/>
          </a:p>
          <a:p>
            <a:endParaRPr lang="fr-FR" sz="2800" dirty="0"/>
          </a:p>
          <a:p>
            <a:r>
              <a:rPr lang="fr-FR" sz="2800" dirty="0" smtClean="0"/>
              <a:t>➢ </a:t>
            </a:r>
            <a:r>
              <a:rPr lang="fr-FR" sz="2800" b="1" dirty="0">
                <a:solidFill>
                  <a:srgbClr val="00B050"/>
                </a:solidFill>
              </a:rPr>
              <a:t>Ocular or reflected decidua</a:t>
            </a:r>
            <a:r>
              <a:rPr lang="fr-FR" sz="2800" dirty="0"/>
              <a:t>: surrounds the embryo and accompanies it during growth. </a:t>
            </a:r>
            <a:endParaRPr lang="fr-FR" sz="2800" dirty="0" smtClean="0"/>
          </a:p>
          <a:p>
            <a:endParaRPr lang="fr-FR" sz="2800" dirty="0"/>
          </a:p>
          <a:p>
            <a:r>
              <a:rPr lang="fr-FR" sz="2800" dirty="0" smtClean="0"/>
              <a:t>➢ </a:t>
            </a:r>
            <a:r>
              <a:rPr lang="fr-FR" sz="2800" b="1" dirty="0">
                <a:solidFill>
                  <a:srgbClr val="00B050"/>
                </a:solidFill>
              </a:rPr>
              <a:t>Parietal decidua</a:t>
            </a:r>
            <a:r>
              <a:rPr lang="fr-FR" sz="2800" dirty="0"/>
              <a:t>: lines the rest of the uterine cavity</a:t>
            </a:r>
            <a:r>
              <a:rPr lang="fr-FR" sz="2800" dirty="0" smtClean="0"/>
              <a:t>.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427034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16632"/>
            <a:ext cx="8712968" cy="6192687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203848" y="6309319"/>
            <a:ext cx="37882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Les décidues : Caduques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829413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260570" y="826834"/>
            <a:ext cx="253596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 </a:t>
            </a:r>
            <a:endParaRPr lang="fr-FR" sz="2400" dirty="0" smtClean="0"/>
          </a:p>
          <a:p>
            <a:endParaRPr lang="fr-FR" sz="2400" dirty="0" smtClean="0"/>
          </a:p>
          <a:p>
            <a:endParaRPr lang="fr-FR" sz="2400" dirty="0" smtClean="0"/>
          </a:p>
          <a:p>
            <a:endParaRPr lang="fr-FR" sz="2400" dirty="0" smtClean="0"/>
          </a:p>
          <a:p>
            <a:endParaRPr lang="fr-FR" sz="2400" dirty="0" smtClean="0"/>
          </a:p>
          <a:p>
            <a:endParaRPr lang="fr-FR" sz="4800" dirty="0" smtClean="0"/>
          </a:p>
          <a:p>
            <a:endParaRPr lang="fr-FR" sz="2400" b="1" dirty="0" smtClean="0"/>
          </a:p>
          <a:p>
            <a:endParaRPr lang="fr-FR" sz="2400" b="1" dirty="0" smtClean="0">
              <a:solidFill>
                <a:srgbClr val="00B05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2977394" y="5733256"/>
            <a:ext cx="3329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Phases de l’implantation</a:t>
            </a:r>
            <a:endParaRPr lang="fr-FR" sz="2400" b="1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70" y="332656"/>
            <a:ext cx="8703918" cy="5184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648"/>
            <a:ext cx="8892480" cy="4918055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808" y="5178703"/>
            <a:ext cx="2975106" cy="4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441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3881" y="-58311"/>
            <a:ext cx="9190080" cy="6740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fr-FR" sz="2400" b="1" dirty="0" smtClean="0">
                <a:solidFill>
                  <a:srgbClr val="FF0000"/>
                </a:solidFill>
              </a:rPr>
              <a:t>                                         </a:t>
            </a:r>
            <a:r>
              <a:rPr lang="fr-FR" sz="2400" b="1" dirty="0" smtClean="0">
                <a:solidFill>
                  <a:srgbClr val="002060"/>
                </a:solidFill>
              </a:rPr>
              <a:t>Phases </a:t>
            </a:r>
            <a:r>
              <a:rPr lang="fr-FR" sz="2400" b="1" dirty="0">
                <a:solidFill>
                  <a:srgbClr val="002060"/>
                </a:solidFill>
              </a:rPr>
              <a:t>de l’implantation</a:t>
            </a:r>
          </a:p>
          <a:p>
            <a:pPr lvl="0"/>
            <a:r>
              <a:rPr lang="fr-FR" sz="2400" dirty="0" smtClean="0">
                <a:solidFill>
                  <a:prstClr val="black"/>
                </a:solidFill>
              </a:rPr>
              <a:t>On </a:t>
            </a:r>
            <a:r>
              <a:rPr lang="fr-FR" sz="2400" dirty="0">
                <a:solidFill>
                  <a:prstClr val="black"/>
                </a:solidFill>
              </a:rPr>
              <a:t>peut distinguer 3 étapes </a:t>
            </a:r>
            <a:r>
              <a:rPr lang="fr-FR" sz="2400" dirty="0" smtClean="0">
                <a:solidFill>
                  <a:prstClr val="black"/>
                </a:solidFill>
              </a:rPr>
              <a:t>dans  </a:t>
            </a:r>
            <a:r>
              <a:rPr lang="fr-FR" sz="2400" dirty="0">
                <a:solidFill>
                  <a:prstClr val="black"/>
                </a:solidFill>
              </a:rPr>
              <a:t>l'implantation:</a:t>
            </a:r>
          </a:p>
          <a:p>
            <a:pPr>
              <a:buFont typeface="Wingdings" pitchFamily="2" charset="2"/>
              <a:buChar char="Ø"/>
            </a:pPr>
            <a:r>
              <a:rPr lang="fr-FR" sz="2400" b="1" dirty="0" smtClean="0">
                <a:solidFill>
                  <a:srgbClr val="0070C0"/>
                </a:solidFill>
              </a:rPr>
              <a:t>Apposition</a:t>
            </a:r>
            <a:endParaRPr lang="fr-FR" sz="2400" dirty="0" smtClean="0">
              <a:solidFill>
                <a:srgbClr val="0070C0"/>
              </a:solidFill>
            </a:endParaRPr>
          </a:p>
          <a:p>
            <a:r>
              <a:rPr lang="fr-FR" sz="2400" dirty="0" smtClean="0"/>
              <a:t>  la fixation ne peut avoir lieu que si l'utérus est entré dans sa phase</a:t>
            </a:r>
          </a:p>
          <a:p>
            <a:r>
              <a:rPr lang="fr-FR" sz="2400" dirty="0" smtClean="0"/>
              <a:t> sécrétoire. </a:t>
            </a:r>
          </a:p>
          <a:p>
            <a:r>
              <a:rPr lang="fr-FR" sz="2400" dirty="0" smtClean="0"/>
              <a:t>Elle est caractérisée par l'apparition de microprotusions au</a:t>
            </a:r>
          </a:p>
          <a:p>
            <a:r>
              <a:rPr lang="fr-FR" sz="2400" dirty="0" smtClean="0"/>
              <a:t>pôle apical  des cellules épithéliales de l'endomètre </a:t>
            </a:r>
          </a:p>
          <a:p>
            <a:r>
              <a:rPr lang="fr-FR" sz="2400" dirty="0" smtClean="0"/>
              <a:t> (absorption  du fluide utérin,  rapprochant le blastocyste de</a:t>
            </a:r>
          </a:p>
          <a:p>
            <a:r>
              <a:rPr lang="fr-FR" sz="2400" dirty="0" smtClean="0"/>
              <a:t> l'endomètre et l'immobilisant),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b="1" dirty="0" smtClean="0">
                <a:solidFill>
                  <a:srgbClr val="0070C0"/>
                </a:solidFill>
              </a:rPr>
              <a:t>Adhésion</a:t>
            </a:r>
            <a:endParaRPr lang="fr-FR" sz="2400" dirty="0"/>
          </a:p>
          <a:p>
            <a:r>
              <a:rPr lang="fr-FR" sz="2400" dirty="0"/>
              <a:t>Les microvillosités  à la surface des cellules </a:t>
            </a:r>
            <a:r>
              <a:rPr lang="fr-FR" sz="2400" dirty="0" smtClean="0"/>
              <a:t>trophoblastiques</a:t>
            </a:r>
          </a:p>
          <a:p>
            <a:r>
              <a:rPr lang="fr-FR" sz="2400" dirty="0" smtClean="0"/>
              <a:t> </a:t>
            </a:r>
            <a:r>
              <a:rPr lang="fr-FR" sz="2400" dirty="0"/>
              <a:t>les plus </a:t>
            </a:r>
            <a:r>
              <a:rPr lang="fr-FR" sz="2400" dirty="0" smtClean="0"/>
              <a:t> externes </a:t>
            </a:r>
            <a:r>
              <a:rPr lang="fr-FR" sz="2400" dirty="0"/>
              <a:t>établissent avec  celles des cellules </a:t>
            </a:r>
            <a:r>
              <a:rPr lang="fr-FR" sz="2400" dirty="0" smtClean="0"/>
              <a:t>épithéliales</a:t>
            </a:r>
          </a:p>
          <a:p>
            <a:r>
              <a:rPr lang="fr-FR" sz="2400" dirty="0" smtClean="0"/>
              <a:t> </a:t>
            </a:r>
            <a:r>
              <a:rPr lang="fr-FR" sz="2400" dirty="0"/>
              <a:t>utérines un </a:t>
            </a:r>
            <a:r>
              <a:rPr lang="fr-FR" sz="2400" dirty="0" smtClean="0"/>
              <a:t> système </a:t>
            </a:r>
            <a:r>
              <a:rPr lang="fr-FR" sz="2400" dirty="0"/>
              <a:t>d'interpénétration.</a:t>
            </a:r>
          </a:p>
          <a:p>
            <a:r>
              <a:rPr lang="fr-FR" sz="2400" dirty="0"/>
              <a:t> </a:t>
            </a:r>
            <a:r>
              <a:rPr lang="fr-FR" sz="2400" dirty="0" smtClean="0"/>
              <a:t>Il </a:t>
            </a:r>
            <a:r>
              <a:rPr lang="fr-FR" sz="2400" dirty="0"/>
              <a:t>se forme des complexes jonctionnels responsables d'une </a:t>
            </a:r>
            <a:endParaRPr lang="fr-FR" sz="2400" dirty="0" smtClean="0"/>
          </a:p>
          <a:p>
            <a:r>
              <a:rPr lang="fr-FR" sz="2400" dirty="0" smtClean="0"/>
              <a:t>adhésion plus  </a:t>
            </a:r>
            <a:r>
              <a:rPr lang="fr-FR" sz="2400" dirty="0"/>
              <a:t>solide</a:t>
            </a:r>
            <a:r>
              <a:rPr lang="fr-FR" sz="2400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dirty="0" smtClean="0"/>
              <a:t> </a:t>
            </a:r>
            <a:r>
              <a:rPr lang="fr-FR" sz="2400" b="1" dirty="0" smtClean="0">
                <a:solidFill>
                  <a:srgbClr val="0070C0"/>
                </a:solidFill>
              </a:rPr>
              <a:t>Invasion</a:t>
            </a:r>
            <a:endParaRPr lang="fr-FR" sz="2400" dirty="0"/>
          </a:p>
          <a:p>
            <a:r>
              <a:rPr lang="fr-FR" sz="2400" dirty="0" smtClean="0"/>
              <a:t>Au </a:t>
            </a:r>
            <a:r>
              <a:rPr lang="fr-FR" sz="2400" dirty="0"/>
              <a:t>fur et à mesure de la progression dans l'endomètre, le ST s'étend à la</a:t>
            </a:r>
          </a:p>
          <a:p>
            <a:r>
              <a:rPr lang="fr-FR" sz="2400" dirty="0"/>
              <a:t> surface de l'œuf et va entourer complètement le CT. </a:t>
            </a:r>
            <a:endParaRPr lang="fr-FR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8268033" cy="637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                                         </a:t>
            </a:r>
            <a:r>
              <a:rPr lang="fr-FR" sz="2400" b="1" dirty="0"/>
              <a:t>Stages of Implantation </a:t>
            </a:r>
            <a:endParaRPr lang="fr-FR" sz="2400" b="1" dirty="0" smtClean="0"/>
          </a:p>
          <a:p>
            <a:r>
              <a:rPr lang="fr-FR" sz="2400" dirty="0" smtClean="0"/>
              <a:t>Schematically</a:t>
            </a:r>
            <a:r>
              <a:rPr lang="fr-FR" sz="2400" dirty="0"/>
              <a:t>, we can distinguish three stages in implantation</a:t>
            </a:r>
            <a:r>
              <a:rPr lang="fr-FR" sz="2400" dirty="0" smtClean="0"/>
              <a:t>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400" dirty="0" smtClean="0"/>
              <a:t> </a:t>
            </a:r>
            <a:r>
              <a:rPr lang="fr-FR" sz="2400" b="1" dirty="0">
                <a:solidFill>
                  <a:srgbClr val="00B050"/>
                </a:solidFill>
              </a:rPr>
              <a:t>Apposition</a:t>
            </a:r>
            <a:r>
              <a:rPr lang="fr-FR" sz="2400" dirty="0"/>
              <a:t> </a:t>
            </a:r>
            <a:endParaRPr lang="fr-FR" sz="2400" dirty="0" smtClean="0"/>
          </a:p>
          <a:p>
            <a:r>
              <a:rPr lang="fr-FR" sz="2400" dirty="0" smtClean="0"/>
              <a:t>Attachment </a:t>
            </a:r>
            <a:r>
              <a:rPr lang="fr-FR" sz="2400" dirty="0"/>
              <a:t>can only occur if the uterus has entered its </a:t>
            </a:r>
            <a:r>
              <a:rPr lang="fr-FR" sz="2400" dirty="0" smtClean="0"/>
              <a:t>secretory</a:t>
            </a:r>
          </a:p>
          <a:p>
            <a:r>
              <a:rPr lang="fr-FR" sz="2400" dirty="0" smtClean="0"/>
              <a:t> </a:t>
            </a:r>
            <a:r>
              <a:rPr lang="fr-FR" sz="2400" dirty="0"/>
              <a:t>phase. This is characterized by the appearance of </a:t>
            </a:r>
            <a:endParaRPr lang="fr-FR" sz="2400" dirty="0" smtClean="0"/>
          </a:p>
          <a:p>
            <a:r>
              <a:rPr lang="fr-FR" sz="2400" dirty="0" smtClean="0"/>
              <a:t>microprotrusions </a:t>
            </a:r>
            <a:r>
              <a:rPr lang="fr-FR" sz="2400" dirty="0"/>
              <a:t>at the apical pole of the endometrial </a:t>
            </a:r>
            <a:r>
              <a:rPr lang="fr-FR" sz="2400" dirty="0" smtClean="0"/>
              <a:t>epithelial</a:t>
            </a:r>
          </a:p>
          <a:p>
            <a:r>
              <a:rPr lang="fr-FR" sz="2400" dirty="0" smtClean="0"/>
              <a:t> </a:t>
            </a:r>
            <a:r>
              <a:rPr lang="fr-FR" sz="2400" dirty="0"/>
              <a:t>cells (absorption of uterine fluid, bringing the blastocyst </a:t>
            </a:r>
            <a:r>
              <a:rPr lang="fr-FR" sz="2400" dirty="0" smtClean="0"/>
              <a:t>closer</a:t>
            </a:r>
          </a:p>
          <a:p>
            <a:r>
              <a:rPr lang="fr-FR" sz="2400" dirty="0" smtClean="0"/>
              <a:t> </a:t>
            </a:r>
            <a:r>
              <a:rPr lang="fr-FR" sz="2400" dirty="0"/>
              <a:t>to the endometrium and immobilizing it</a:t>
            </a:r>
            <a:r>
              <a:rPr lang="fr-FR" sz="2400" dirty="0" smtClean="0"/>
              <a:t>).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400" dirty="0" smtClean="0"/>
              <a:t> </a:t>
            </a:r>
            <a:r>
              <a:rPr lang="fr-FR" sz="2400" b="1" dirty="0" smtClean="0">
                <a:solidFill>
                  <a:srgbClr val="00B050"/>
                </a:solidFill>
              </a:rPr>
              <a:t>Adhesion</a:t>
            </a:r>
            <a:r>
              <a:rPr lang="fr-FR" sz="2400" dirty="0" smtClean="0"/>
              <a:t> </a:t>
            </a:r>
          </a:p>
          <a:p>
            <a:r>
              <a:rPr lang="fr-FR" sz="2400" dirty="0" smtClean="0"/>
              <a:t>The </a:t>
            </a:r>
            <a:r>
              <a:rPr lang="fr-FR" sz="2400" dirty="0"/>
              <a:t>microvilli on the surface of the outermost </a:t>
            </a:r>
            <a:r>
              <a:rPr lang="fr-FR" sz="2400" dirty="0" smtClean="0"/>
              <a:t>trophoblastic</a:t>
            </a:r>
          </a:p>
          <a:p>
            <a:r>
              <a:rPr lang="fr-FR" sz="2400" dirty="0" smtClean="0"/>
              <a:t> </a:t>
            </a:r>
            <a:r>
              <a:rPr lang="fr-FR" sz="2400" dirty="0"/>
              <a:t>cells establish an interpenetration system with those of the </a:t>
            </a:r>
            <a:endParaRPr lang="fr-FR" sz="2400" dirty="0" smtClean="0"/>
          </a:p>
          <a:p>
            <a:r>
              <a:rPr lang="fr-FR" sz="2400" dirty="0" smtClean="0"/>
              <a:t>uterine </a:t>
            </a:r>
            <a:r>
              <a:rPr lang="fr-FR" sz="2400" dirty="0"/>
              <a:t>epithelial cells. Junctional complexes are formed, </a:t>
            </a:r>
            <a:endParaRPr lang="fr-FR" sz="2400" dirty="0" smtClean="0"/>
          </a:p>
          <a:p>
            <a:r>
              <a:rPr lang="fr-FR" sz="2400" dirty="0" smtClean="0"/>
              <a:t>resulting </a:t>
            </a:r>
            <a:r>
              <a:rPr lang="fr-FR" sz="2400" dirty="0"/>
              <a:t>in a stronger adhesion. </a:t>
            </a:r>
            <a:endParaRPr lang="fr-FR" sz="2400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400" b="1" dirty="0" smtClean="0">
                <a:solidFill>
                  <a:srgbClr val="00B050"/>
                </a:solidFill>
              </a:rPr>
              <a:t>Invasion</a:t>
            </a:r>
            <a:endParaRPr lang="fr-FR" sz="2400" b="1" dirty="0">
              <a:solidFill>
                <a:srgbClr val="00B050"/>
              </a:solidFill>
            </a:endParaRPr>
          </a:p>
          <a:p>
            <a:r>
              <a:rPr lang="fr-FR" sz="2400" dirty="0"/>
              <a:t>As it progresses through the endometrium, the trophoblast </a:t>
            </a:r>
            <a:endParaRPr lang="fr-FR" sz="2400" dirty="0" smtClean="0"/>
          </a:p>
          <a:p>
            <a:r>
              <a:rPr lang="fr-FR" sz="2400" dirty="0" smtClean="0"/>
              <a:t>extends </a:t>
            </a:r>
            <a:r>
              <a:rPr lang="fr-FR" sz="2400" dirty="0"/>
              <a:t>across </a:t>
            </a:r>
            <a:r>
              <a:rPr lang="fr-FR" sz="2400" dirty="0" smtClean="0"/>
              <a:t>the surface </a:t>
            </a:r>
            <a:r>
              <a:rPr lang="fr-FR" sz="2400" dirty="0"/>
              <a:t>of the egg and completely </a:t>
            </a:r>
            <a:r>
              <a:rPr lang="fr-FR" sz="2400" dirty="0" smtClean="0"/>
              <a:t>surrounds</a:t>
            </a:r>
          </a:p>
          <a:p>
            <a:r>
              <a:rPr lang="fr-FR" sz="2400" dirty="0" smtClean="0"/>
              <a:t> </a:t>
            </a:r>
            <a:r>
              <a:rPr lang="fr-FR" sz="2400" dirty="0"/>
              <a:t>the trophoblast.</a:t>
            </a:r>
          </a:p>
        </p:txBody>
      </p:sp>
    </p:spTree>
    <p:extLst>
      <p:ext uri="{BB962C8B-B14F-4D97-AF65-F5344CB8AC3E}">
        <p14:creationId xmlns:p14="http://schemas.microsoft.com/office/powerpoint/2010/main" val="2712605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90059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prégastrulation  et    mise en place des annexes</a:t>
            </a:r>
          </a:p>
          <a:p>
            <a:endParaRPr lang="fr-FR" sz="3200" b="1" dirty="0" smtClean="0">
              <a:solidFill>
                <a:srgbClr val="00B050"/>
              </a:solidFill>
            </a:endParaRPr>
          </a:p>
          <a:p>
            <a:endParaRPr lang="fr-FR" sz="3200" b="1" dirty="0" smtClean="0">
              <a:solidFill>
                <a:srgbClr val="00B05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3200" b="1" dirty="0" smtClean="0">
                <a:solidFill>
                  <a:srgbClr val="00B050"/>
                </a:solidFill>
              </a:rPr>
              <a:t> </a:t>
            </a:r>
            <a:r>
              <a:rPr lang="fr-FR" sz="2800" b="1" dirty="0" smtClean="0">
                <a:solidFill>
                  <a:srgbClr val="00B0F0"/>
                </a:solidFill>
              </a:rPr>
              <a:t>Embryon de 8 jours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00B0F0"/>
                </a:solidFill>
              </a:rPr>
              <a:t> Embryon de 10 jours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00B0F0"/>
                </a:solidFill>
              </a:rPr>
              <a:t> Embryon de 12 jours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00B0F0"/>
                </a:solidFill>
              </a:rPr>
              <a:t> Embryon de 15 jours</a:t>
            </a:r>
            <a:endParaRPr lang="fr-FR" sz="2800" b="1" dirty="0">
              <a:solidFill>
                <a:srgbClr val="00B0F0"/>
              </a:solidFill>
            </a:endParaRPr>
          </a:p>
        </p:txBody>
      </p:sp>
      <p:pic>
        <p:nvPicPr>
          <p:cNvPr id="3" name="Image 2" descr="Image associé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39952" y="1700808"/>
            <a:ext cx="4608512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349654" y="3453038"/>
            <a:ext cx="3384376" cy="2424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7734447" y="3645024"/>
            <a:ext cx="140955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b="1" dirty="0" smtClean="0"/>
              <a:t>ENTOPHYLLE</a:t>
            </a:r>
            <a:endParaRPr lang="fr-FR" b="1" dirty="0"/>
          </a:p>
        </p:txBody>
      </p:sp>
      <p:sp>
        <p:nvSpPr>
          <p:cNvPr id="5" name="ZoneTexte 4"/>
          <p:cNvSpPr txBox="1"/>
          <p:nvPr/>
        </p:nvSpPr>
        <p:spPr>
          <a:xfrm>
            <a:off x="7767148" y="3140968"/>
            <a:ext cx="137685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b="1" dirty="0" smtClean="0"/>
              <a:t>ECTOPHYLLE</a:t>
            </a:r>
            <a:endParaRPr lang="fr-FR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7812360" y="4221088"/>
            <a:ext cx="18002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b="1" dirty="0" smtClean="0"/>
              <a:t>BLASTOCOELE</a:t>
            </a:r>
            <a:endParaRPr lang="fr-FR" b="1" dirty="0"/>
          </a:p>
        </p:txBody>
      </p:sp>
      <p:pic>
        <p:nvPicPr>
          <p:cNvPr id="10" name="Image 9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752432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Connecteur droit avec flèche 8"/>
          <p:cNvCxnSpPr/>
          <p:nvPr/>
        </p:nvCxnSpPr>
        <p:spPr>
          <a:xfrm flipH="1">
            <a:off x="4644008" y="3356992"/>
            <a:ext cx="3168352" cy="86409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/>
          <p:cNvCxnSpPr/>
          <p:nvPr/>
        </p:nvCxnSpPr>
        <p:spPr>
          <a:xfrm flipH="1">
            <a:off x="4572000" y="3933056"/>
            <a:ext cx="3024336" cy="72008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/>
          <p:cNvCxnSpPr/>
          <p:nvPr/>
        </p:nvCxnSpPr>
        <p:spPr>
          <a:xfrm flipH="1">
            <a:off x="4716016" y="4437112"/>
            <a:ext cx="3096344" cy="1008112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/>
          <p:cNvSpPr txBox="1"/>
          <p:nvPr/>
        </p:nvSpPr>
        <p:spPr>
          <a:xfrm>
            <a:off x="7596336" y="2636912"/>
            <a:ext cx="170142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b="1" dirty="0" smtClean="0"/>
              <a:t>AMNIOBLASTES</a:t>
            </a:r>
            <a:endParaRPr lang="fr-FR" b="1" dirty="0"/>
          </a:p>
        </p:txBody>
      </p:sp>
      <p:cxnSp>
        <p:nvCxnSpPr>
          <p:cNvPr id="15" name="Connecteur droit avec flèche 14"/>
          <p:cNvCxnSpPr/>
          <p:nvPr/>
        </p:nvCxnSpPr>
        <p:spPr>
          <a:xfrm flipH="1">
            <a:off x="4427984" y="2924944"/>
            <a:ext cx="3096344" cy="648072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60648"/>
            <a:ext cx="8784976" cy="576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213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107770" y="433412"/>
            <a:ext cx="1044116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>
                <a:solidFill>
                  <a:srgbClr val="0070C0"/>
                </a:solidFill>
              </a:rPr>
              <a:t>Prégastrulation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   Formation du disque embryonnaire didermique</a:t>
            </a:r>
          </a:p>
          <a:p>
            <a:r>
              <a:rPr lang="fr-FR" sz="2800" b="1" dirty="0" smtClean="0"/>
              <a:t>            </a:t>
            </a:r>
            <a:r>
              <a:rPr lang="fr-FR" sz="2800" b="1" dirty="0" smtClean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7030A0"/>
                </a:solidFill>
              </a:rPr>
              <a:t>                           Bouton embryonnaire</a:t>
            </a:r>
          </a:p>
          <a:p>
            <a:endParaRPr lang="fr-FR" sz="2800" b="1" dirty="0" smtClean="0">
              <a:solidFill>
                <a:srgbClr val="FF0000"/>
              </a:solidFill>
            </a:endParaRPr>
          </a:p>
          <a:p>
            <a:r>
              <a:rPr lang="fr-FR" sz="2800" b="1" dirty="0" smtClean="0">
                <a:solidFill>
                  <a:srgbClr val="FF0000"/>
                </a:solidFill>
              </a:rPr>
              <a:t>                                 </a:t>
            </a:r>
            <a:r>
              <a:rPr lang="fr-FR" sz="2800" b="1" dirty="0" smtClean="0">
                <a:solidFill>
                  <a:srgbClr val="0070C0"/>
                </a:solidFill>
              </a:rPr>
              <a:t>Ectophylle                 Entophylle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                                 </a:t>
            </a:r>
            <a:r>
              <a:rPr lang="fr-FR" sz="2800" b="1" dirty="0" smtClean="0"/>
              <a:t>ectoderme                 </a:t>
            </a:r>
            <a:r>
              <a:rPr lang="fr-FR" sz="2800" b="1" dirty="0" smtClean="0"/>
              <a:t>hypoderme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          </a:t>
            </a:r>
            <a:r>
              <a:rPr lang="fr-FR" sz="2800" b="1" dirty="0" smtClean="0">
                <a:solidFill>
                  <a:srgbClr val="FF0000"/>
                </a:solidFill>
              </a:rPr>
              <a:t>                         Epiblast                         Hypoderm</a:t>
            </a:r>
            <a:endParaRPr lang="fr-FR" sz="2800" b="1" dirty="0" smtClean="0">
              <a:solidFill>
                <a:srgbClr val="FF0000"/>
              </a:solidFill>
            </a:endParaRPr>
          </a:p>
          <a:p>
            <a:r>
              <a:rPr lang="fr-FR" sz="2800" b="1" dirty="0" smtClean="0">
                <a:solidFill>
                  <a:srgbClr val="FF0000"/>
                </a:solidFill>
              </a:rPr>
              <a:t>                          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Disque embryonnaire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                                                 didermique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                                   </a:t>
            </a:r>
            <a:r>
              <a:rPr lang="fr-FR" sz="2800" b="1" dirty="0" smtClean="0">
                <a:solidFill>
                  <a:srgbClr val="FF0000"/>
                </a:solidFill>
              </a:rPr>
              <a:t>bilaminar </a:t>
            </a:r>
            <a:r>
              <a:rPr lang="fr-FR" sz="2800" b="1" dirty="0">
                <a:solidFill>
                  <a:srgbClr val="FF0000"/>
                </a:solidFill>
              </a:rPr>
              <a:t>embryonic disc</a:t>
            </a:r>
            <a:endParaRPr lang="fr-FR" sz="2800" b="1" dirty="0">
              <a:solidFill>
                <a:srgbClr val="FF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>
                <a:solidFill>
                  <a:srgbClr val="00B0F0"/>
                </a:solidFill>
              </a:rPr>
              <a:t> </a:t>
            </a:r>
            <a:r>
              <a:rPr lang="fr-FR" sz="2800" b="1" dirty="0"/>
              <a:t>Formation de la cavité amniotique </a:t>
            </a:r>
            <a:r>
              <a:rPr lang="fr-FR" sz="2800" b="1" dirty="0">
                <a:solidFill>
                  <a:srgbClr val="00B0F0"/>
                </a:solidFill>
              </a:rPr>
              <a:t>(CA</a:t>
            </a:r>
            <a:r>
              <a:rPr lang="fr-FR" sz="2800" b="1" dirty="0">
                <a:solidFill>
                  <a:srgbClr val="00B0F0"/>
                </a:solidFill>
              </a:rPr>
              <a:t>) </a:t>
            </a:r>
            <a:r>
              <a:rPr lang="fr-FR" sz="2800" b="1" dirty="0">
                <a:solidFill>
                  <a:srgbClr val="FF0000"/>
                </a:solidFill>
              </a:rPr>
              <a:t>amniotic </a:t>
            </a:r>
            <a:r>
              <a:rPr lang="fr-FR" sz="2800" b="1" dirty="0" smtClean="0">
                <a:solidFill>
                  <a:srgbClr val="FF0000"/>
                </a:solidFill>
              </a:rPr>
              <a:t>cavity</a:t>
            </a:r>
            <a:r>
              <a:rPr lang="fr-FR" sz="2800" b="1" dirty="0">
                <a:solidFill>
                  <a:srgbClr val="00B0F0"/>
                </a:solidFill>
              </a:rPr>
              <a:t>.</a:t>
            </a:r>
            <a:endParaRPr lang="fr-FR" sz="2800" b="1" dirty="0">
              <a:solidFill>
                <a:srgbClr val="00B0F0"/>
              </a:solidFill>
            </a:endParaRPr>
          </a:p>
          <a:p>
            <a:r>
              <a:rPr lang="fr-FR" sz="2800" b="1" dirty="0" smtClean="0">
                <a:solidFill>
                  <a:srgbClr val="00B0F0"/>
                </a:solidFill>
              </a:rPr>
              <a:t>     </a:t>
            </a:r>
            <a:r>
              <a:rPr lang="fr-FR" sz="2800" b="1" dirty="0"/>
              <a:t>La cavité amniotique est bordée par</a:t>
            </a:r>
            <a:r>
              <a:rPr lang="fr-FR" sz="2800" b="1" dirty="0" smtClean="0"/>
              <a:t>: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fr-FR" sz="2800" b="1" dirty="0" smtClean="0">
                <a:solidFill>
                  <a:srgbClr val="00B0F0"/>
                </a:solidFill>
              </a:rPr>
              <a:t>  Les </a:t>
            </a:r>
            <a:r>
              <a:rPr lang="fr-FR" sz="2800" b="1" dirty="0">
                <a:solidFill>
                  <a:srgbClr val="00B0F0"/>
                </a:solidFill>
              </a:rPr>
              <a:t>amnioblastes ( Amnios) (toit</a:t>
            </a:r>
            <a:r>
              <a:rPr lang="fr-FR" sz="2800" b="1" dirty="0">
                <a:solidFill>
                  <a:srgbClr val="00B0F0"/>
                </a:solidFill>
              </a:rPr>
              <a:t>) </a:t>
            </a:r>
            <a:r>
              <a:rPr lang="fr-FR" sz="2800" b="1" dirty="0" smtClean="0">
                <a:solidFill>
                  <a:srgbClr val="00B0F0"/>
                </a:solidFill>
              </a:rPr>
              <a:t>       </a:t>
            </a:r>
            <a:r>
              <a:rPr lang="fr-FR" sz="2800" b="1" dirty="0" smtClean="0">
                <a:solidFill>
                  <a:srgbClr val="FF0000"/>
                </a:solidFill>
              </a:rPr>
              <a:t>amnioblasts</a:t>
            </a:r>
            <a:endParaRPr lang="fr-FR" sz="2800" b="1" dirty="0">
              <a:solidFill>
                <a:srgbClr val="FF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fr-FR" sz="2800" b="1" dirty="0" smtClean="0">
                <a:solidFill>
                  <a:srgbClr val="00B0F0"/>
                </a:solidFill>
              </a:rPr>
              <a:t>  Les </a:t>
            </a:r>
            <a:r>
              <a:rPr lang="fr-FR" sz="2800" b="1" dirty="0">
                <a:solidFill>
                  <a:srgbClr val="00B0F0"/>
                </a:solidFill>
              </a:rPr>
              <a:t>cellules de l’ectophylle (plancher)</a:t>
            </a:r>
          </a:p>
          <a:p>
            <a:endParaRPr lang="fr-FR" sz="2800" b="1" dirty="0" smtClean="0">
              <a:solidFill>
                <a:srgbClr val="00B0F0"/>
              </a:solidFill>
            </a:endParaRPr>
          </a:p>
          <a:p>
            <a:r>
              <a:rPr lang="fr-FR" sz="2800" b="1" dirty="0" smtClean="0">
                <a:solidFill>
                  <a:srgbClr val="00B0F0"/>
                </a:solidFill>
              </a:rPr>
              <a:t>                                                       </a:t>
            </a:r>
            <a:endParaRPr lang="fr-FR" sz="2800" b="1" dirty="0">
              <a:solidFill>
                <a:srgbClr val="00B0F0"/>
              </a:solidFill>
            </a:endParaRPr>
          </a:p>
        </p:txBody>
      </p:sp>
      <p:sp>
        <p:nvSpPr>
          <p:cNvPr id="3" name="Flèche droite 2"/>
          <p:cNvSpPr/>
          <p:nvPr/>
        </p:nvSpPr>
        <p:spPr>
          <a:xfrm rot="2064896">
            <a:off x="5386241" y="1782552"/>
            <a:ext cx="720080" cy="28803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00B050"/>
              </a:solidFill>
            </a:endParaRPr>
          </a:p>
        </p:txBody>
      </p:sp>
      <p:sp>
        <p:nvSpPr>
          <p:cNvPr id="6" name="Flèche droite 5"/>
          <p:cNvSpPr/>
          <p:nvPr/>
        </p:nvSpPr>
        <p:spPr>
          <a:xfrm rot="8184727">
            <a:off x="3545904" y="1812804"/>
            <a:ext cx="720080" cy="28803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00B050"/>
              </a:solidFill>
            </a:endParaRPr>
          </a:p>
        </p:txBody>
      </p:sp>
      <p:sp>
        <p:nvSpPr>
          <p:cNvPr id="7" name="Flèche droite 6"/>
          <p:cNvSpPr/>
          <p:nvPr/>
        </p:nvSpPr>
        <p:spPr>
          <a:xfrm rot="8840880">
            <a:off x="5388667" y="3055889"/>
            <a:ext cx="720080" cy="28803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00B050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0" y="0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Au 8</a:t>
            </a:r>
            <a:r>
              <a:rPr lang="fr-FR" sz="2800" b="1" baseline="30000" dirty="0" smtClean="0">
                <a:solidFill>
                  <a:srgbClr val="0070C0"/>
                </a:solidFill>
              </a:rPr>
              <a:t>ème</a:t>
            </a:r>
            <a:r>
              <a:rPr lang="fr-FR" sz="2800" b="1" dirty="0" smtClean="0">
                <a:solidFill>
                  <a:srgbClr val="0070C0"/>
                </a:solidFill>
              </a:rPr>
              <a:t> jour</a:t>
            </a:r>
            <a:endParaRPr lang="fr-FR" sz="2800" b="1" dirty="0">
              <a:solidFill>
                <a:srgbClr val="0070C0"/>
              </a:solidFill>
            </a:endParaRPr>
          </a:p>
        </p:txBody>
      </p:sp>
      <p:sp>
        <p:nvSpPr>
          <p:cNvPr id="9" name="Flèche droite 8"/>
          <p:cNvSpPr/>
          <p:nvPr/>
        </p:nvSpPr>
        <p:spPr>
          <a:xfrm rot="2073339">
            <a:off x="3726069" y="3048573"/>
            <a:ext cx="720080" cy="28803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8892480" cy="6597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oneTexte 4"/>
          <p:cNvSpPr txBox="1"/>
          <p:nvPr/>
        </p:nvSpPr>
        <p:spPr>
          <a:xfrm>
            <a:off x="0" y="3212976"/>
            <a:ext cx="154766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0" y="3933056"/>
            <a:ext cx="154766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Au 10</a:t>
            </a:r>
            <a:r>
              <a:rPr lang="fr-FR" sz="2800" b="1" baseline="30000" dirty="0" smtClean="0">
                <a:solidFill>
                  <a:srgbClr val="002060"/>
                </a:solidFill>
              </a:rPr>
              <a:t>ème</a:t>
            </a:r>
            <a:r>
              <a:rPr lang="fr-FR" sz="2800" b="1" dirty="0" smtClean="0">
                <a:solidFill>
                  <a:srgbClr val="002060"/>
                </a:solidFill>
              </a:rPr>
              <a:t>  jour</a:t>
            </a:r>
          </a:p>
          <a:p>
            <a:endParaRPr lang="fr-FR" sz="2800" b="1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 Le ST se creuse de lacunes: </a:t>
            </a:r>
            <a:r>
              <a:rPr lang="fr-FR" sz="2800" b="1" dirty="0" smtClean="0">
                <a:solidFill>
                  <a:srgbClr val="00B0F0"/>
                </a:solidFill>
              </a:rPr>
              <a:t>stade </a:t>
            </a:r>
            <a:r>
              <a:rPr lang="fr-FR" sz="2800" b="1" dirty="0" smtClean="0">
                <a:solidFill>
                  <a:srgbClr val="00B0F0"/>
                </a:solidFill>
              </a:rPr>
              <a:t>lacunaire 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>
                <a:solidFill>
                  <a:srgbClr val="00B0F0"/>
                </a:solidFill>
              </a:rPr>
              <a:t>                                                    </a:t>
            </a:r>
            <a:r>
              <a:rPr lang="fr-FR" sz="2800" b="1" dirty="0" smtClean="0">
                <a:solidFill>
                  <a:srgbClr val="FF0000"/>
                </a:solidFill>
              </a:rPr>
              <a:t>lucanar </a:t>
            </a:r>
            <a:r>
              <a:rPr lang="fr-FR" sz="2800" b="1" dirty="0">
                <a:solidFill>
                  <a:srgbClr val="FF0000"/>
                </a:solidFill>
              </a:rPr>
              <a:t>stage</a:t>
            </a:r>
            <a:r>
              <a:rPr lang="fr-FR" sz="2800" b="1" dirty="0">
                <a:solidFill>
                  <a:srgbClr val="00B0F0"/>
                </a:solidFill>
              </a:rPr>
              <a:t>.</a:t>
            </a:r>
            <a:endParaRPr lang="fr-FR" sz="2800" b="1" dirty="0" smtClean="0">
              <a:solidFill>
                <a:srgbClr val="00B0F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 L’œuf est entièrement enfoui</a:t>
            </a:r>
            <a:r>
              <a:rPr lang="fr-FR" sz="2800" b="1" dirty="0">
                <a:solidFill>
                  <a:srgbClr val="00B050"/>
                </a:solidFill>
              </a:rPr>
              <a:t>. </a:t>
            </a:r>
            <a:r>
              <a:rPr lang="fr-FR" sz="2800" b="1" dirty="0">
                <a:solidFill>
                  <a:srgbClr val="FF0000"/>
                </a:solidFill>
              </a:rPr>
              <a:t>The blastocyst is completely embedded in the endometrium</a:t>
            </a:r>
            <a:endParaRPr lang="fr-FR" sz="2800" b="1" dirty="0" smtClean="0">
              <a:solidFill>
                <a:srgbClr val="FF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 Le CT se différencie: </a:t>
            </a:r>
            <a:r>
              <a:rPr lang="fr-FR" sz="2800" b="1" dirty="0" smtClean="0">
                <a:solidFill>
                  <a:srgbClr val="00B0F0"/>
                </a:solidFill>
              </a:rPr>
              <a:t>premières villosités placentaires</a:t>
            </a:r>
            <a:r>
              <a:rPr lang="fr-FR" sz="2800" b="1" dirty="0" smtClean="0">
                <a:solidFill>
                  <a:srgbClr val="00B0F0"/>
                </a:solidFill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rgbClr val="FF0000"/>
                </a:solidFill>
              </a:rPr>
              <a:t>Cellular columns with the syncytial covering are known as primary villi.</a:t>
            </a:r>
            <a:endParaRPr lang="fr-FR" sz="2800" b="1" dirty="0" smtClean="0">
              <a:solidFill>
                <a:srgbClr val="FF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Apparition d’un tissu lâche issu du CT:   </a:t>
            </a:r>
          </a:p>
          <a:p>
            <a:r>
              <a:rPr lang="fr-FR" sz="2800" b="1" dirty="0">
                <a:solidFill>
                  <a:srgbClr val="00B050"/>
                </a:solidFill>
              </a:rPr>
              <a:t> </a:t>
            </a:r>
            <a:r>
              <a:rPr lang="fr-FR" sz="2800" b="1" dirty="0" smtClean="0">
                <a:solidFill>
                  <a:srgbClr val="00B050"/>
                </a:solidFill>
              </a:rPr>
              <a:t>    </a:t>
            </a:r>
            <a:r>
              <a:rPr lang="fr-FR" sz="2800" b="1" dirty="0" smtClean="0">
                <a:solidFill>
                  <a:srgbClr val="00B0F0"/>
                </a:solidFill>
              </a:rPr>
              <a:t>Mésenchyme primaire     </a:t>
            </a:r>
            <a:r>
              <a:rPr lang="fr-FR" sz="2800" b="1" dirty="0" smtClean="0">
                <a:solidFill>
                  <a:srgbClr val="FF0000"/>
                </a:solidFill>
              </a:rPr>
              <a:t>extraembryonic </a:t>
            </a:r>
            <a:r>
              <a:rPr lang="fr-FR" sz="2800" b="1" dirty="0">
                <a:solidFill>
                  <a:srgbClr val="FF0000"/>
                </a:solidFill>
              </a:rPr>
              <a:t>mesoderm</a:t>
            </a:r>
            <a:endParaRPr lang="fr-FR" sz="2800" b="1" dirty="0" smtClean="0">
              <a:solidFill>
                <a:srgbClr val="FF0000"/>
              </a:solidFill>
            </a:endParaRPr>
          </a:p>
          <a:p>
            <a:r>
              <a:rPr lang="fr-FR" sz="2800" b="1" dirty="0">
                <a:solidFill>
                  <a:srgbClr val="00B0F0"/>
                </a:solidFill>
              </a:rPr>
              <a:t> </a:t>
            </a:r>
            <a:r>
              <a:rPr lang="fr-FR" sz="2800" b="1" dirty="0" smtClean="0">
                <a:solidFill>
                  <a:srgbClr val="00B0F0"/>
                </a:solidFill>
              </a:rPr>
              <a:t>   </a:t>
            </a:r>
            <a:r>
              <a:rPr lang="fr-FR" sz="2800" b="1" dirty="0" smtClean="0">
                <a:solidFill>
                  <a:srgbClr val="00B0F0"/>
                </a:solidFill>
              </a:rPr>
              <a:t>ou </a:t>
            </a:r>
            <a:r>
              <a:rPr lang="fr-FR" sz="2800" b="1" dirty="0" smtClean="0">
                <a:solidFill>
                  <a:srgbClr val="00B0F0"/>
                </a:solidFill>
              </a:rPr>
              <a:t>extra embryonnaire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Formation de la </a:t>
            </a:r>
            <a:r>
              <a:rPr lang="fr-FR" sz="2800" b="1" dirty="0" smtClean="0">
                <a:solidFill>
                  <a:srgbClr val="00B0F0"/>
                </a:solidFill>
              </a:rPr>
              <a:t>mb de </a:t>
            </a:r>
            <a:r>
              <a:rPr lang="fr-FR" sz="2800" b="1" dirty="0" smtClean="0">
                <a:solidFill>
                  <a:srgbClr val="00B0F0"/>
                </a:solidFill>
              </a:rPr>
              <a:t>HEUSER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                  </a:t>
            </a:r>
            <a:r>
              <a:rPr lang="fr-FR" sz="2800" b="1" dirty="0" smtClean="0">
                <a:solidFill>
                  <a:srgbClr val="FF0000"/>
                </a:solidFill>
              </a:rPr>
              <a:t>exocoelomic </a:t>
            </a:r>
            <a:r>
              <a:rPr lang="fr-FR" sz="2800" b="1" dirty="0">
                <a:solidFill>
                  <a:srgbClr val="FF0000"/>
                </a:solidFill>
              </a:rPr>
              <a:t>(Heuser’s) membrane</a:t>
            </a:r>
            <a:endParaRPr lang="fr-FR" sz="2800" b="1" dirty="0" smtClean="0">
              <a:solidFill>
                <a:srgbClr val="FF0000"/>
              </a:solidFill>
            </a:endParaRPr>
          </a:p>
          <a:p>
            <a:r>
              <a:rPr lang="fr-FR" sz="2800" b="1" dirty="0" smtClean="0"/>
              <a:t> </a:t>
            </a:r>
            <a:r>
              <a:rPr lang="fr-FR" sz="2800" b="1" dirty="0" smtClean="0"/>
              <a:t>délimitant </a:t>
            </a:r>
            <a:r>
              <a:rPr lang="fr-FR" sz="2800" b="1" dirty="0" smtClean="0"/>
              <a:t>avec l’entophylle une nouvelle cavité:          </a:t>
            </a:r>
          </a:p>
          <a:p>
            <a:r>
              <a:rPr lang="fr-FR" sz="2800" b="1" dirty="0" smtClean="0">
                <a:solidFill>
                  <a:srgbClr val="00B050"/>
                </a:solidFill>
              </a:rPr>
              <a:t>                          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Le </a:t>
            </a:r>
            <a:r>
              <a:rPr lang="fr-FR" sz="2800" b="1" dirty="0" smtClean="0">
                <a:solidFill>
                  <a:srgbClr val="00B0F0"/>
                </a:solidFill>
              </a:rPr>
              <a:t>lécitocoele primaire (L I</a:t>
            </a:r>
            <a:r>
              <a:rPr lang="fr-FR" sz="2800" b="1" dirty="0" smtClean="0">
                <a:solidFill>
                  <a:srgbClr val="00B0F0"/>
                </a:solidFill>
              </a:rPr>
              <a:t>)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                            primitive </a:t>
            </a:r>
            <a:r>
              <a:rPr lang="fr-FR" sz="2800" b="1" dirty="0">
                <a:solidFill>
                  <a:srgbClr val="FF0000"/>
                </a:solidFill>
              </a:rPr>
              <a:t>yolk sac </a:t>
            </a:r>
            <a:r>
              <a:rPr lang="fr-FR" sz="2800" b="1" dirty="0" smtClean="0">
                <a:solidFill>
                  <a:srgbClr val="FF0000"/>
                </a:solidFill>
              </a:rPr>
              <a:t>(primary </a:t>
            </a:r>
            <a:r>
              <a:rPr lang="fr-FR" sz="2800" b="1" dirty="0">
                <a:solidFill>
                  <a:srgbClr val="FF0000"/>
                </a:solidFill>
              </a:rPr>
              <a:t>umblical </a:t>
            </a:r>
            <a:r>
              <a:rPr lang="fr-FR" sz="2800" b="1" dirty="0" smtClean="0">
                <a:solidFill>
                  <a:srgbClr val="FF0000"/>
                </a:solidFill>
              </a:rPr>
              <a:t>vesicle)</a:t>
            </a:r>
            <a:endParaRPr lang="fr-FR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0" y="3645024"/>
            <a:ext cx="1259632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562922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Au  12</a:t>
            </a:r>
            <a:r>
              <a:rPr lang="fr-FR" sz="2800" b="1" baseline="30000" dirty="0" smtClean="0">
                <a:solidFill>
                  <a:srgbClr val="002060"/>
                </a:solidFill>
              </a:rPr>
              <a:t>ème</a:t>
            </a:r>
            <a:r>
              <a:rPr lang="fr-FR" sz="2800" b="1" dirty="0" smtClean="0">
                <a:solidFill>
                  <a:srgbClr val="002060"/>
                </a:solidFill>
              </a:rPr>
              <a:t>  jour</a:t>
            </a:r>
          </a:p>
          <a:p>
            <a:endParaRPr lang="fr-FR" sz="2800" b="1" dirty="0" smtClean="0">
              <a:solidFill>
                <a:srgbClr val="00206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 L’œuf pénètre encore dans la muqueuse utérine. </a:t>
            </a:r>
          </a:p>
          <a:p>
            <a:endParaRPr lang="fr-FR" sz="2800" b="1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Le ST érode les capillaires sanguins maternels: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Le sang maternel coule dans les lacunes.</a:t>
            </a:r>
          </a:p>
          <a:p>
            <a:endParaRPr lang="fr-FR" sz="2800" b="1" dirty="0" smtClean="0">
              <a:solidFill>
                <a:srgbClr val="00B0F0"/>
              </a:solidFill>
            </a:endParaRPr>
          </a:p>
          <a:p>
            <a:r>
              <a:rPr lang="fr-FR" sz="2800" b="1" dirty="0" smtClean="0"/>
              <a:t>C- Les cellules de l’</a:t>
            </a:r>
            <a:r>
              <a:rPr lang="fr-FR" sz="2800" b="1" dirty="0" err="1" smtClean="0"/>
              <a:t>entophylle</a:t>
            </a:r>
            <a:r>
              <a:rPr lang="fr-FR" sz="2800" b="1" dirty="0" smtClean="0"/>
              <a:t> se différencient: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Elles vont remplacer la mb de Heuser qui va disparaitre. </a:t>
            </a:r>
            <a:endParaRPr lang="fr-FR" sz="2800" b="1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88640"/>
            <a:ext cx="8784976" cy="640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755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-918864"/>
            <a:ext cx="7092280" cy="7776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5141814" y="1700808"/>
            <a:ext cx="4002186" cy="3211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3200" b="1" dirty="0" smtClean="0"/>
          </a:p>
          <a:p>
            <a:endParaRPr lang="fr-FR" sz="3200" b="1" dirty="0" smtClean="0"/>
          </a:p>
          <a:p>
            <a:endParaRPr lang="fr-FR" sz="3200" b="1" dirty="0" smtClean="0"/>
          </a:p>
          <a:p>
            <a:endParaRPr lang="fr-FR" sz="3200" b="1" baseline="30000" dirty="0" smtClean="0"/>
          </a:p>
          <a:p>
            <a:endParaRPr lang="fr-FR" sz="3200" b="1" dirty="0" smtClean="0"/>
          </a:p>
          <a:p>
            <a:endParaRPr lang="fr-FR" sz="3200" b="1" dirty="0" smtClean="0"/>
          </a:p>
          <a:p>
            <a:endParaRPr lang="fr-FR" sz="3200" b="1" baseline="30000" dirty="0" smtClean="0"/>
          </a:p>
        </p:txBody>
      </p:sp>
      <p:sp>
        <p:nvSpPr>
          <p:cNvPr id="4" name="ZoneTexte 3"/>
          <p:cNvSpPr txBox="1"/>
          <p:nvPr/>
        </p:nvSpPr>
        <p:spPr>
          <a:xfrm>
            <a:off x="323528" y="332656"/>
            <a:ext cx="1930337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2000" b="1" dirty="0" smtClean="0"/>
              <a:t>LAME CHORIALE</a:t>
            </a:r>
          </a:p>
          <a:p>
            <a:r>
              <a:rPr lang="fr-FR" sz="2000" b="1" dirty="0" smtClean="0"/>
              <a:t>MES + CT</a:t>
            </a:r>
            <a:endParaRPr lang="fr-FR" sz="2000" b="1" dirty="0"/>
          </a:p>
        </p:txBody>
      </p:sp>
      <p:sp>
        <p:nvSpPr>
          <p:cNvPr id="5" name="ZoneTexte 4"/>
          <p:cNvSpPr txBox="1"/>
          <p:nvPr/>
        </p:nvSpPr>
        <p:spPr>
          <a:xfrm>
            <a:off x="539552" y="4293096"/>
            <a:ext cx="1583062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2000" b="1" dirty="0" smtClean="0"/>
              <a:t>LÉCITOCÈLE</a:t>
            </a:r>
            <a:r>
              <a:rPr lang="fr-FR" b="1" dirty="0" smtClean="0"/>
              <a:t> II</a:t>
            </a:r>
            <a:endParaRPr lang="fr-FR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5076056" y="188640"/>
            <a:ext cx="2246449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2000" b="1" dirty="0" smtClean="0"/>
              <a:t>SOMATOPLEURE EE</a:t>
            </a:r>
          </a:p>
          <a:p>
            <a:endParaRPr lang="fr-FR" sz="20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5580112" y="1412776"/>
            <a:ext cx="1638975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2000" b="1" dirty="0" smtClean="0"/>
              <a:t>CHORION</a:t>
            </a:r>
          </a:p>
          <a:p>
            <a:r>
              <a:rPr lang="fr-FR" sz="2000" b="1" dirty="0" smtClean="0"/>
              <a:t>Mes + CT + ST</a:t>
            </a:r>
            <a:endParaRPr lang="fr-FR" sz="2000" b="1" dirty="0"/>
          </a:p>
        </p:txBody>
      </p:sp>
      <p:sp>
        <p:nvSpPr>
          <p:cNvPr id="8" name="ZoneTexte 7"/>
          <p:cNvSpPr txBox="1"/>
          <p:nvPr/>
        </p:nvSpPr>
        <p:spPr>
          <a:xfrm>
            <a:off x="5508104" y="2996952"/>
            <a:ext cx="2615588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2000" b="1" dirty="0" smtClean="0"/>
              <a:t>PÉDICULE DE FIXATION</a:t>
            </a:r>
          </a:p>
          <a:p>
            <a:endParaRPr lang="fr-FR" sz="2000" b="1" dirty="0"/>
          </a:p>
        </p:txBody>
      </p:sp>
      <p:sp>
        <p:nvSpPr>
          <p:cNvPr id="9" name="ZoneTexte 8"/>
          <p:cNvSpPr txBox="1"/>
          <p:nvPr/>
        </p:nvSpPr>
        <p:spPr>
          <a:xfrm>
            <a:off x="4932040" y="5733256"/>
            <a:ext cx="2629246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2000" b="1" dirty="0" smtClean="0"/>
              <a:t>SPLANCHNOPLEURE EE</a:t>
            </a:r>
          </a:p>
          <a:p>
            <a:endParaRPr lang="fr-FR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60648"/>
            <a:ext cx="6912768" cy="525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7910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633"/>
            <a:ext cx="9144000" cy="684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7081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036496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Au 15</a:t>
            </a:r>
            <a:r>
              <a:rPr lang="fr-FR" sz="2800" b="1" baseline="30000" dirty="0" smtClean="0">
                <a:solidFill>
                  <a:srgbClr val="002060"/>
                </a:solidFill>
              </a:rPr>
              <a:t>ème</a:t>
            </a:r>
            <a:r>
              <a:rPr lang="fr-FR" sz="2800" b="1" dirty="0" smtClean="0">
                <a:solidFill>
                  <a:srgbClr val="002060"/>
                </a:solidFill>
              </a:rPr>
              <a:t>  jour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L’entophylle </a:t>
            </a:r>
            <a:r>
              <a:rPr lang="fr-FR" sz="2800" b="1" dirty="0" smtClean="0"/>
              <a:t>remplace la mb de Heuser:</a:t>
            </a:r>
          </a:p>
          <a:p>
            <a:pPr marL="4848225" indent="-4848225"/>
            <a:r>
              <a:rPr lang="fr-FR" sz="2800" b="1" dirty="0" smtClean="0">
                <a:solidFill>
                  <a:srgbClr val="00B0F0"/>
                </a:solidFill>
              </a:rPr>
              <a:t>     Lécitocoele I (L I)                       Lécitocoele II (L </a:t>
            </a:r>
            <a:r>
              <a:rPr lang="fr-FR" sz="2800" b="1" dirty="0" smtClean="0">
                <a:solidFill>
                  <a:srgbClr val="00B0F0"/>
                </a:solidFill>
              </a:rPr>
              <a:t>II)</a:t>
            </a:r>
            <a:endParaRPr lang="fr-FR" sz="2800" b="1" dirty="0">
              <a:solidFill>
                <a:srgbClr val="00B0F0"/>
              </a:solidFill>
            </a:endParaRPr>
          </a:p>
          <a:p>
            <a:pPr marL="4848225" indent="-4848225"/>
            <a:r>
              <a:rPr lang="fr-FR" sz="2800" b="1" dirty="0" smtClean="0">
                <a:solidFill>
                  <a:srgbClr val="00B0F0"/>
                </a:solidFill>
              </a:rPr>
              <a:t>            secondary </a:t>
            </a:r>
            <a:r>
              <a:rPr lang="fr-FR" sz="2800" b="1" dirty="0">
                <a:solidFill>
                  <a:srgbClr val="00B0F0"/>
                </a:solidFill>
              </a:rPr>
              <a:t>umblical </a:t>
            </a:r>
            <a:r>
              <a:rPr lang="fr-FR" sz="2800" b="1" dirty="0" smtClean="0">
                <a:solidFill>
                  <a:srgbClr val="00B0F0"/>
                </a:solidFill>
              </a:rPr>
              <a:t>vesicle  </a:t>
            </a:r>
            <a:r>
              <a:rPr lang="fr-FR" sz="2800" b="1" dirty="0" smtClean="0">
                <a:solidFill>
                  <a:srgbClr val="FF0000"/>
                </a:solidFill>
              </a:rPr>
              <a:t>secondary </a:t>
            </a:r>
            <a:r>
              <a:rPr lang="fr-FR" sz="2800" b="1" dirty="0">
                <a:solidFill>
                  <a:srgbClr val="FF0000"/>
                </a:solidFill>
              </a:rPr>
              <a:t>yolk </a:t>
            </a:r>
            <a:r>
              <a:rPr lang="fr-FR" sz="2800" b="1" dirty="0" smtClean="0">
                <a:solidFill>
                  <a:srgbClr val="FF0000"/>
                </a:solidFill>
              </a:rPr>
              <a:t>sac</a:t>
            </a:r>
            <a:endParaRPr lang="fr-FR" sz="2800" b="1" dirty="0" smtClean="0">
              <a:solidFill>
                <a:srgbClr val="00B0F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Le mésenchyme (Ms) se rompt:</a:t>
            </a:r>
          </a:p>
          <a:p>
            <a:r>
              <a:rPr lang="fr-FR" sz="2800" b="1" dirty="0" smtClean="0"/>
              <a:t>  </a:t>
            </a:r>
            <a:r>
              <a:rPr lang="fr-FR" sz="2800" b="1" dirty="0" smtClean="0">
                <a:solidFill>
                  <a:srgbClr val="00B0F0"/>
                </a:solidFill>
              </a:rPr>
              <a:t>Amnios + Ms                           Somatopleure Extra Emb</a:t>
            </a:r>
          </a:p>
          <a:p>
            <a:r>
              <a:rPr lang="fr-FR" sz="2800" b="1" dirty="0">
                <a:solidFill>
                  <a:srgbClr val="00B0F0"/>
                </a:solidFill>
              </a:rPr>
              <a:t> </a:t>
            </a:r>
            <a:r>
              <a:rPr lang="fr-FR" sz="2800" b="1" dirty="0" smtClean="0">
                <a:solidFill>
                  <a:srgbClr val="00B0F0"/>
                </a:solidFill>
              </a:rPr>
              <a:t>   </a:t>
            </a:r>
            <a:r>
              <a:rPr lang="fr-FR" sz="2800" b="1" dirty="0" smtClean="0">
                <a:solidFill>
                  <a:srgbClr val="00B0F0"/>
                </a:solidFill>
              </a:rPr>
              <a:t>(</a:t>
            </a:r>
            <a:r>
              <a:rPr lang="fr-FR" sz="2800" b="1" dirty="0" smtClean="0">
                <a:solidFill>
                  <a:srgbClr val="00B0F0"/>
                </a:solidFill>
              </a:rPr>
              <a:t>lame amniotique</a:t>
            </a:r>
            <a:r>
              <a:rPr lang="fr-FR" sz="2800" b="1" dirty="0">
                <a:solidFill>
                  <a:srgbClr val="00B0F0"/>
                </a:solidFill>
              </a:rPr>
              <a:t>) </a:t>
            </a:r>
            <a:r>
              <a:rPr lang="fr-FR" sz="2800" b="1" dirty="0">
                <a:solidFill>
                  <a:srgbClr val="FF0000"/>
                </a:solidFill>
              </a:rPr>
              <a:t>extraembryonic somatic mesoderm</a:t>
            </a:r>
            <a:endParaRPr lang="fr-FR" sz="2800" b="1" dirty="0" smtClean="0">
              <a:solidFill>
                <a:srgbClr val="FF0000"/>
              </a:solidFill>
            </a:endParaRPr>
          </a:p>
          <a:p>
            <a:r>
              <a:rPr lang="fr-FR" sz="2800" b="1" dirty="0" smtClean="0">
                <a:solidFill>
                  <a:srgbClr val="00B0F0"/>
                </a:solidFill>
              </a:rPr>
              <a:t>Entophylle + Ms                       Splanchnopleure Extra Emb</a:t>
            </a:r>
          </a:p>
          <a:p>
            <a:r>
              <a:rPr lang="fr-FR" sz="2800" b="1" dirty="0">
                <a:solidFill>
                  <a:srgbClr val="00B0F0"/>
                </a:solidFill>
              </a:rPr>
              <a:t> </a:t>
            </a:r>
            <a:r>
              <a:rPr lang="fr-FR" sz="2800" b="1" dirty="0" smtClean="0">
                <a:solidFill>
                  <a:srgbClr val="00B0F0"/>
                </a:solidFill>
              </a:rPr>
              <a:t>   </a:t>
            </a:r>
            <a:r>
              <a:rPr lang="fr-FR" sz="2800" b="1" dirty="0" smtClean="0">
                <a:solidFill>
                  <a:srgbClr val="00B0F0"/>
                </a:solidFill>
              </a:rPr>
              <a:t>(</a:t>
            </a:r>
            <a:r>
              <a:rPr lang="fr-FR" sz="2800" b="1" dirty="0" smtClean="0">
                <a:solidFill>
                  <a:srgbClr val="00B0F0"/>
                </a:solidFill>
              </a:rPr>
              <a:t>lame ombilicale</a:t>
            </a:r>
            <a:r>
              <a:rPr lang="fr-FR" sz="2800" b="1" dirty="0">
                <a:solidFill>
                  <a:srgbClr val="00B0F0"/>
                </a:solidFill>
              </a:rPr>
              <a:t>) </a:t>
            </a:r>
            <a:r>
              <a:rPr lang="fr-FR" sz="2800" b="1" dirty="0" smtClean="0">
                <a:solidFill>
                  <a:srgbClr val="00B0F0"/>
                </a:solidFill>
              </a:rPr>
              <a:t>   </a:t>
            </a:r>
            <a:r>
              <a:rPr lang="fr-FR" sz="2800" b="1" dirty="0" smtClean="0">
                <a:solidFill>
                  <a:srgbClr val="FF0000"/>
                </a:solidFill>
              </a:rPr>
              <a:t>extraembryonic </a:t>
            </a:r>
            <a:r>
              <a:rPr lang="fr-FR" sz="2800" b="1" dirty="0">
                <a:solidFill>
                  <a:srgbClr val="FF0000"/>
                </a:solidFill>
              </a:rPr>
              <a:t>splanhnic mesoderm</a:t>
            </a:r>
            <a:endParaRPr lang="fr-FR" sz="2800" b="1" dirty="0" smtClean="0">
              <a:solidFill>
                <a:srgbClr val="FF0000"/>
              </a:solidFill>
            </a:endParaRPr>
          </a:p>
          <a:p>
            <a:r>
              <a:rPr lang="fr-FR" sz="2800" b="1" dirty="0" smtClean="0">
                <a:solidFill>
                  <a:srgbClr val="00B0F0"/>
                </a:solidFill>
              </a:rPr>
              <a:t>         CT </a:t>
            </a:r>
            <a:r>
              <a:rPr lang="fr-FR" sz="2800" b="1" dirty="0">
                <a:solidFill>
                  <a:srgbClr val="00B0F0"/>
                </a:solidFill>
              </a:rPr>
              <a:t>+ Ms           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                       Lame </a:t>
            </a:r>
            <a:r>
              <a:rPr lang="fr-FR" sz="2800" b="1" dirty="0">
                <a:solidFill>
                  <a:srgbClr val="00B0F0"/>
                </a:solidFill>
              </a:rPr>
              <a:t>choriale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      CT </a:t>
            </a:r>
            <a:r>
              <a:rPr lang="fr-FR" sz="2800" b="1" dirty="0">
                <a:solidFill>
                  <a:srgbClr val="00B0F0"/>
                </a:solidFill>
              </a:rPr>
              <a:t>+ ST+ Ms     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                           Chorion</a:t>
            </a:r>
            <a:endParaRPr lang="fr-FR" sz="2800" b="1" dirty="0">
              <a:solidFill>
                <a:srgbClr val="00B0F0"/>
              </a:solidFill>
            </a:endParaRPr>
          </a:p>
          <a:p>
            <a:r>
              <a:rPr lang="fr-FR" sz="2800" b="1" dirty="0" smtClean="0">
                <a:solidFill>
                  <a:srgbClr val="00B0F0"/>
                </a:solidFill>
              </a:rPr>
              <a:t>    </a:t>
            </a:r>
            <a:r>
              <a:rPr lang="fr-FR" sz="2800" b="1" dirty="0" smtClean="0">
                <a:solidFill>
                  <a:srgbClr val="00B0F0"/>
                </a:solidFill>
              </a:rPr>
              <a:t>Ms </a:t>
            </a:r>
            <a:r>
              <a:rPr lang="fr-FR" sz="2800" b="1" dirty="0">
                <a:solidFill>
                  <a:srgbClr val="00B0F0"/>
                </a:solidFill>
              </a:rPr>
              <a:t>qui relie     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                  Pédicule </a:t>
            </a:r>
            <a:r>
              <a:rPr lang="fr-FR" sz="2800" b="1" dirty="0">
                <a:solidFill>
                  <a:srgbClr val="00B0F0"/>
                </a:solidFill>
              </a:rPr>
              <a:t>de fixation</a:t>
            </a:r>
          </a:p>
          <a:p>
            <a:r>
              <a:rPr lang="fr-FR" sz="2800" b="1" dirty="0">
                <a:solidFill>
                  <a:srgbClr val="00B0F0"/>
                </a:solidFill>
              </a:rPr>
              <a:t> </a:t>
            </a:r>
            <a:r>
              <a:rPr lang="fr-FR" sz="2800" b="1" dirty="0" smtClean="0">
                <a:solidFill>
                  <a:srgbClr val="00B0F0"/>
                </a:solidFill>
              </a:rPr>
              <a:t>     l’embryon                                         </a:t>
            </a:r>
            <a:r>
              <a:rPr lang="fr-FR" sz="2800" b="1" dirty="0" smtClean="0">
                <a:solidFill>
                  <a:srgbClr val="FF0000"/>
                </a:solidFill>
              </a:rPr>
              <a:t>Connecting stalk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Cavité </a:t>
            </a:r>
            <a:r>
              <a:rPr lang="fr-FR" sz="2800" b="1" dirty="0">
                <a:solidFill>
                  <a:srgbClr val="00B0F0"/>
                </a:solidFill>
              </a:rPr>
              <a:t>de l’œuf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                    Cœlome </a:t>
            </a:r>
            <a:r>
              <a:rPr lang="fr-FR" sz="2800" b="1" dirty="0">
                <a:solidFill>
                  <a:srgbClr val="00B0F0"/>
                </a:solidFill>
              </a:rPr>
              <a:t>Extra </a:t>
            </a:r>
            <a:r>
              <a:rPr lang="fr-FR" sz="2800" b="1" dirty="0" smtClean="0">
                <a:solidFill>
                  <a:srgbClr val="00B0F0"/>
                </a:solidFill>
              </a:rPr>
              <a:t>Emb</a:t>
            </a:r>
          </a:p>
          <a:p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FF0000"/>
                </a:solidFill>
              </a:rPr>
              <a:t>                            chorionic </a:t>
            </a:r>
            <a:r>
              <a:rPr lang="fr-FR" sz="2800" b="1" dirty="0">
                <a:solidFill>
                  <a:srgbClr val="FF0000"/>
                </a:solidFill>
              </a:rPr>
              <a:t>cavity or extraembryonic coelom.</a:t>
            </a:r>
            <a:endParaRPr lang="fr-FR" sz="2800" b="1" dirty="0">
              <a:solidFill>
                <a:srgbClr val="FF0000"/>
              </a:solidFill>
            </a:endParaRPr>
          </a:p>
          <a:p>
            <a:endParaRPr lang="fr-FR" sz="2800" b="1" dirty="0" smtClean="0">
              <a:solidFill>
                <a:srgbClr val="00B0F0"/>
              </a:solidFill>
            </a:endParaRPr>
          </a:p>
          <a:p>
            <a:endParaRPr lang="fr-FR" sz="3200" b="1" dirty="0">
              <a:solidFill>
                <a:srgbClr val="FF0000"/>
              </a:solidFill>
            </a:endParaRPr>
          </a:p>
        </p:txBody>
      </p:sp>
      <p:sp>
        <p:nvSpPr>
          <p:cNvPr id="3" name="Flèche droite 2"/>
          <p:cNvSpPr/>
          <p:nvPr/>
        </p:nvSpPr>
        <p:spPr>
          <a:xfrm>
            <a:off x="3292522" y="1079966"/>
            <a:ext cx="978408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Flèche droite 4"/>
          <p:cNvSpPr/>
          <p:nvPr/>
        </p:nvSpPr>
        <p:spPr>
          <a:xfrm>
            <a:off x="2755132" y="3212976"/>
            <a:ext cx="978408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 droite 5"/>
          <p:cNvSpPr/>
          <p:nvPr/>
        </p:nvSpPr>
        <p:spPr>
          <a:xfrm>
            <a:off x="2703240" y="2289873"/>
            <a:ext cx="978408" cy="510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434" y="4552845"/>
            <a:ext cx="3064701" cy="101372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132" y="4020028"/>
            <a:ext cx="3041004" cy="110767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510" y="4821531"/>
            <a:ext cx="2433562" cy="119637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240" y="5742671"/>
            <a:ext cx="2406432" cy="1244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35347</TotalTime>
  <Words>944</Words>
  <Application>Microsoft Office PowerPoint</Application>
  <PresentationFormat>Affichage à l'écran (4:3)</PresentationFormat>
  <Paragraphs>201</Paragraphs>
  <Slides>26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0" baseType="lpstr">
      <vt:lpstr>Arial</vt:lpstr>
      <vt:lpstr>Calibri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GE</cp:lastModifiedBy>
  <cp:revision>63</cp:revision>
  <dcterms:created xsi:type="dcterms:W3CDTF">2014-11-14T13:52:58Z</dcterms:created>
  <dcterms:modified xsi:type="dcterms:W3CDTF">2025-11-01T13:16:55Z</dcterms:modified>
</cp:coreProperties>
</file>