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70" r:id="rId2"/>
    <p:sldId id="271" r:id="rId3"/>
    <p:sldId id="281" r:id="rId4"/>
    <p:sldId id="279" r:id="rId5"/>
    <p:sldId id="282" r:id="rId6"/>
    <p:sldId id="272" r:id="rId7"/>
    <p:sldId id="283" r:id="rId8"/>
    <p:sldId id="273" r:id="rId9"/>
    <p:sldId id="285" r:id="rId10"/>
    <p:sldId id="274" r:id="rId11"/>
    <p:sldId id="284" r:id="rId12"/>
    <p:sldId id="286" r:id="rId13"/>
    <p:sldId id="275" r:id="rId14"/>
    <p:sldId id="276" r:id="rId15"/>
    <p:sldId id="277" r:id="rId16"/>
    <p:sldId id="278" r:id="rId17"/>
    <p:sldId id="256" r:id="rId18"/>
    <p:sldId id="287" r:id="rId19"/>
    <p:sldId id="257" r:id="rId20"/>
    <p:sldId id="258" r:id="rId21"/>
    <p:sldId id="261" r:id="rId22"/>
    <p:sldId id="288" r:id="rId23"/>
    <p:sldId id="262" r:id="rId24"/>
    <p:sldId id="289" r:id="rId25"/>
    <p:sldId id="264" r:id="rId26"/>
    <p:sldId id="268" r:id="rId27"/>
    <p:sldId id="267" r:id="rId28"/>
    <p:sldId id="265" r:id="rId29"/>
    <p:sldId id="290" r:id="rId30"/>
    <p:sldId id="266" r:id="rId31"/>
    <p:sldId id="269" r:id="rId32"/>
    <p:sldId id="280" r:id="rId3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66542" autoAdjust="0"/>
  </p:normalViewPr>
  <p:slideViewPr>
    <p:cSldViewPr>
      <p:cViewPr>
        <p:scale>
          <a:sx n="80" d="100"/>
          <a:sy n="80" d="100"/>
        </p:scale>
        <p:origin x="103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FD9D7-332C-4161-A424-3DCECBB29A55}" type="datetimeFigureOut">
              <a:rPr lang="fr-FR" smtClean="0"/>
              <a:pPr/>
              <a:t>24/11/2025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917B2-D393-4082-ABE9-69308ADC0E2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C917B2-D393-4082-ABE9-69308ADC0E24}" type="slidenum">
              <a:rPr lang="fr-FR" smtClean="0"/>
              <a:pPr/>
              <a:t>25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DE824D-4A85-4657-8AA9-48A4787C9420}" type="slidenum">
              <a:rPr lang="fr-FR" smtClean="0"/>
              <a:pPr/>
              <a:t>27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24/11/2025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24/11/2025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24/11/2025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24/11/2025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24/11/2025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24/11/2025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24/11/2025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24/11/2025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24/11/2025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24/11/2025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24/11/2025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F735B-AF40-45E5-990C-CBAE42DA9E2F}" type="datetimeFigureOut">
              <a:rPr lang="fr-FR" smtClean="0"/>
              <a:pPr/>
              <a:t>24/11/2025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tissimo.fr/html/sante/analyses/ana_marqueur04.htm" TargetMode="External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doctissimo.fr/html/sante/encyclopedie/sa_937_cancer_larynx.htm" TargetMode="External"/><Relationship Id="rId4" Type="http://schemas.openxmlformats.org/officeDocument/2006/relationships/hyperlink" Target="https://www.doctissimo.fr/html/dossiers/mal-de-gorge/articles/12675-gorge-zone-sensible-infections.htm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7504" y="188640"/>
            <a:ext cx="9036496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/>
              <a:t>                                   THE </a:t>
            </a:r>
            <a:r>
              <a:rPr lang="fr-FR" sz="2800" b="1" dirty="0"/>
              <a:t>FOURTH </a:t>
            </a:r>
            <a:r>
              <a:rPr lang="fr-FR" sz="2800" b="1" dirty="0" smtClean="0"/>
              <a:t>WEEK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OF </a:t>
            </a:r>
            <a:r>
              <a:rPr lang="fr-FR" sz="2800" b="1" dirty="0"/>
              <a:t>EMBRYONIC DEVELOPMENT</a:t>
            </a:r>
          </a:p>
          <a:p>
            <a:r>
              <a:rPr lang="fr-FR" sz="2800" b="1" dirty="0"/>
              <a:t>         </a:t>
            </a:r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r>
              <a:rPr lang="fr-FR" sz="2800" b="1" dirty="0"/>
              <a:t>                                                            </a:t>
            </a:r>
            <a:endParaRPr lang="fr-FR" sz="2800" b="1" dirty="0" smtClean="0"/>
          </a:p>
          <a:p>
            <a:r>
              <a:rPr lang="fr-FR" sz="2800" b="1" dirty="0" smtClean="0"/>
              <a:t>                                                              </a:t>
            </a:r>
          </a:p>
          <a:p>
            <a:endParaRPr lang="fr-FR" sz="2800" b="1" dirty="0"/>
          </a:p>
          <a:p>
            <a:r>
              <a:rPr lang="fr-FR" sz="2800" b="1" dirty="0" smtClean="0"/>
              <a:t>                                                               PR </a:t>
            </a:r>
            <a:r>
              <a:rPr lang="fr-FR" sz="2800" b="1" dirty="0"/>
              <a:t>HANNACHI-HECINI A </a:t>
            </a:r>
          </a:p>
          <a:p>
            <a:r>
              <a:rPr lang="fr-FR" sz="2800" b="1" dirty="0"/>
              <a:t>                   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333" y="1412776"/>
            <a:ext cx="9036496" cy="45365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1004460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 </a:t>
            </a:r>
            <a:r>
              <a:rPr lang="fr-FR" sz="3200" b="1" dirty="0"/>
              <a:t>The fourth week is marked by two phenomena:</a:t>
            </a:r>
          </a:p>
          <a:p>
            <a:endParaRPr lang="fr-FR" sz="3200" b="1" dirty="0"/>
          </a:p>
          <a:p>
            <a:r>
              <a:rPr lang="fr-FR" sz="3200" b="1" dirty="0" smtClean="0"/>
              <a:t>- Embryo </a:t>
            </a:r>
            <a:r>
              <a:rPr lang="fr-FR" sz="3200" b="1" dirty="0"/>
              <a:t>delimitation (transverse and longitudinal folding).</a:t>
            </a:r>
          </a:p>
          <a:p>
            <a:endParaRPr lang="fr-FR" sz="3200" b="1" dirty="0"/>
          </a:p>
          <a:p>
            <a:r>
              <a:rPr lang="fr-FR" sz="3200" b="1" dirty="0"/>
              <a:t>- Development of the three germ layers: endoderm, mesoderm, </a:t>
            </a:r>
            <a:r>
              <a:rPr lang="fr-FR" sz="3200" b="1" dirty="0" smtClean="0"/>
              <a:t>and ectoderm,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1004460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 </a:t>
            </a:r>
            <a:r>
              <a:rPr lang="fr-FR" sz="2800" b="1" dirty="0" smtClean="0"/>
              <a:t>La quatrième semaine est marquée par deux  phénomènes:</a:t>
            </a:r>
          </a:p>
          <a:p>
            <a:endParaRPr lang="fr-FR" sz="2800" b="1" dirty="0" smtClean="0"/>
          </a:p>
          <a:p>
            <a:pPr>
              <a:buFontTx/>
              <a:buChar char="-"/>
            </a:pPr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Délimitation </a:t>
            </a:r>
            <a:r>
              <a:rPr lang="fr-FR" sz="2800" b="1" dirty="0" smtClean="0"/>
              <a:t>de l’embryon (plicature transversale et</a:t>
            </a:r>
          </a:p>
          <a:p>
            <a:r>
              <a:rPr lang="fr-FR" sz="2800" b="1" dirty="0" smtClean="0"/>
              <a:t> longitudinale).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- </a:t>
            </a:r>
            <a:r>
              <a:rPr lang="fr-FR" sz="2800" b="1" dirty="0" smtClean="0">
                <a:solidFill>
                  <a:srgbClr val="0070C0"/>
                </a:solidFill>
              </a:rPr>
              <a:t>Evolution </a:t>
            </a:r>
            <a:r>
              <a:rPr lang="fr-FR" sz="2800" b="1" dirty="0" smtClean="0"/>
              <a:t>des  trois feuillets entoblaste, mésoblaste et entoblaste.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2112951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515105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- </a:t>
            </a:r>
            <a:r>
              <a:rPr lang="fr-FR" sz="3200" dirty="0" smtClean="0"/>
              <a:t>Embryonic </a:t>
            </a:r>
            <a:r>
              <a:rPr lang="fr-FR" sz="3200" dirty="0"/>
              <a:t>delimitation Begins at the end of the 3rd </a:t>
            </a:r>
            <a:endParaRPr lang="fr-FR" sz="3200" dirty="0" smtClean="0"/>
          </a:p>
          <a:p>
            <a:r>
              <a:rPr lang="fr-FR" sz="3200" dirty="0" smtClean="0"/>
              <a:t>week </a:t>
            </a:r>
            <a:r>
              <a:rPr lang="fr-FR" sz="3200" dirty="0"/>
              <a:t>and continues throughout the 4th week</a:t>
            </a:r>
            <a:r>
              <a:rPr lang="fr-FR" sz="3200" dirty="0" smtClean="0"/>
              <a:t>.</a:t>
            </a:r>
          </a:p>
          <a:p>
            <a:r>
              <a:rPr lang="fr-FR" sz="3200" dirty="0" smtClean="0"/>
              <a:t> - It </a:t>
            </a:r>
            <a:r>
              <a:rPr lang="fr-FR" sz="3200" dirty="0"/>
              <a:t>is a ventral coiling of the embryo to distinguish </a:t>
            </a:r>
            <a:r>
              <a:rPr lang="fr-FR" sz="3200" dirty="0" smtClean="0"/>
              <a:t>itself</a:t>
            </a:r>
          </a:p>
          <a:p>
            <a:r>
              <a:rPr lang="fr-FR" sz="3200" dirty="0" smtClean="0"/>
              <a:t> </a:t>
            </a:r>
            <a:r>
              <a:rPr lang="fr-FR" sz="3200" dirty="0"/>
              <a:t>from its extraembryonic membranes. </a:t>
            </a:r>
            <a:endParaRPr lang="fr-FR" sz="3200" dirty="0" smtClean="0"/>
          </a:p>
          <a:p>
            <a:pPr marL="457200" indent="-457200">
              <a:buFontTx/>
              <a:buChar char="-"/>
            </a:pPr>
            <a:r>
              <a:rPr lang="fr-FR" sz="3200" dirty="0" smtClean="0"/>
              <a:t>It </a:t>
            </a:r>
            <a:r>
              <a:rPr lang="fr-FR" sz="3200" dirty="0"/>
              <a:t>can be described on transverse sections and on </a:t>
            </a:r>
            <a:endParaRPr lang="fr-FR" sz="3200" dirty="0" smtClean="0"/>
          </a:p>
          <a:p>
            <a:pPr marL="457200" indent="-457200">
              <a:buFontTx/>
              <a:buChar char="-"/>
            </a:pPr>
            <a:r>
              <a:rPr lang="fr-FR" sz="3200" dirty="0" smtClean="0"/>
              <a:t>median </a:t>
            </a:r>
            <a:r>
              <a:rPr lang="fr-FR" sz="3200" dirty="0"/>
              <a:t>longitudinal sections.</a:t>
            </a:r>
            <a:endParaRPr lang="fr-FR" sz="3200" dirty="0" smtClean="0"/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15832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r>
              <a:rPr lang="fr-FR" sz="2800" b="1" dirty="0" smtClean="0">
                <a:solidFill>
                  <a:srgbClr val="002060"/>
                </a:solidFill>
              </a:rPr>
              <a:t> Délimitation de l’embryon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Débute à la fin de la 3</a:t>
            </a:r>
            <a:r>
              <a:rPr lang="fr-FR" sz="2800" baseline="30000" dirty="0" smtClean="0"/>
              <a:t>ème</a:t>
            </a:r>
            <a:r>
              <a:rPr lang="fr-FR" sz="2800" dirty="0" smtClean="0"/>
              <a:t>  semaine et s’étale tout </a:t>
            </a:r>
          </a:p>
          <a:p>
            <a:r>
              <a:rPr lang="fr-FR" sz="2800" dirty="0" smtClean="0"/>
              <a:t>au long de la 4</a:t>
            </a:r>
            <a:r>
              <a:rPr lang="fr-FR" sz="2800" baseline="30000" dirty="0" smtClean="0"/>
              <a:t>ème </a:t>
            </a:r>
            <a:r>
              <a:rPr lang="fr-FR" sz="2800" dirty="0" smtClean="0"/>
              <a:t>semaine.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C'est un </a:t>
            </a:r>
            <a:r>
              <a:rPr lang="fr-FR" sz="2800" b="1" dirty="0" smtClean="0">
                <a:solidFill>
                  <a:srgbClr val="00B0F0"/>
                </a:solidFill>
              </a:rPr>
              <a:t>enroulement ventral </a:t>
            </a:r>
            <a:r>
              <a:rPr lang="fr-FR" sz="2800" dirty="0" smtClean="0"/>
              <a:t>de l'embryon pour </a:t>
            </a:r>
          </a:p>
          <a:p>
            <a:r>
              <a:rPr lang="fr-FR" sz="2800" dirty="0" smtClean="0"/>
              <a:t>s’individualiser de ses annexes.</a:t>
            </a:r>
          </a:p>
          <a:p>
            <a:r>
              <a:rPr lang="fr-FR" sz="28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Elle peut se décrire sur des coupes  </a:t>
            </a:r>
            <a:r>
              <a:rPr lang="fr-FR" sz="2800" b="1" dirty="0" smtClean="0">
                <a:solidFill>
                  <a:srgbClr val="00B0F0"/>
                </a:solidFill>
              </a:rPr>
              <a:t>transversales </a:t>
            </a:r>
            <a:r>
              <a:rPr lang="fr-FR" sz="2800" dirty="0" smtClean="0">
                <a:solidFill>
                  <a:srgbClr val="00B0F0"/>
                </a:solidFill>
              </a:rPr>
              <a:t>e</a:t>
            </a:r>
            <a:r>
              <a:rPr lang="fr-FR" sz="2800" dirty="0" smtClean="0"/>
              <a:t>t </a:t>
            </a:r>
          </a:p>
          <a:p>
            <a:r>
              <a:rPr lang="fr-FR" sz="2800" dirty="0" smtClean="0"/>
              <a:t>sur des coupes </a:t>
            </a:r>
            <a:r>
              <a:rPr lang="fr-FR" sz="2800" b="1" dirty="0" smtClean="0">
                <a:solidFill>
                  <a:srgbClr val="00B0F0"/>
                </a:solidFill>
              </a:rPr>
              <a:t>longitudinales</a:t>
            </a:r>
            <a:r>
              <a:rPr lang="fr-FR" sz="2800" dirty="0" smtClean="0"/>
              <a:t> médianes. </a:t>
            </a:r>
          </a:p>
          <a:p>
            <a:endParaRPr lang="fr-FR" sz="3200" dirty="0" smtClean="0"/>
          </a:p>
          <a:p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680231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856673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r>
              <a:rPr lang="fr-FR" sz="2800" dirty="0" smtClean="0"/>
              <a:t>The </a:t>
            </a:r>
            <a:r>
              <a:rPr lang="fr-FR" sz="2800" dirty="0"/>
              <a:t>delimitation generally results in</a:t>
            </a:r>
            <a:r>
              <a:rPr lang="fr-FR" sz="2800" dirty="0" smtClean="0"/>
              <a:t>: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Very </a:t>
            </a:r>
            <a:r>
              <a:rPr lang="fr-FR" sz="2800" dirty="0"/>
              <a:t>significant development of the amniotic cavity, </a:t>
            </a:r>
            <a:r>
              <a:rPr lang="fr-FR" sz="2800" dirty="0" smtClean="0"/>
              <a:t>completely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surrounding the embryo. </a:t>
            </a:r>
            <a:endParaRPr lang="fr-FR" sz="2800" dirty="0" smtClean="0"/>
          </a:p>
          <a:p>
            <a:pPr marL="457200" indent="-457200">
              <a:buFontTx/>
              <a:buChar char="-"/>
            </a:pPr>
            <a:r>
              <a:rPr lang="fr-FR" sz="2800" dirty="0" smtClean="0"/>
              <a:t>The </a:t>
            </a:r>
            <a:r>
              <a:rPr lang="fr-FR" sz="2800" dirty="0"/>
              <a:t>embryo is completely surrounded by ectoderm; </a:t>
            </a:r>
            <a:endParaRPr lang="fr-FR" sz="2800" dirty="0" smtClean="0"/>
          </a:p>
          <a:p>
            <a:pPr marL="457200" indent="-457200">
              <a:buFontTx/>
              <a:buChar char="-"/>
            </a:pPr>
            <a:r>
              <a:rPr lang="fr-FR" sz="2800" dirty="0" smtClean="0"/>
              <a:t>The </a:t>
            </a:r>
            <a:r>
              <a:rPr lang="fr-FR" sz="2800" dirty="0"/>
              <a:t>cranial and caudal ends are folded; </a:t>
            </a:r>
            <a:r>
              <a:rPr lang="fr-FR" sz="2800" dirty="0" smtClean="0"/>
              <a:t>Therefore</a:t>
            </a:r>
            <a:r>
              <a:rPr lang="fr-FR" sz="2800" dirty="0"/>
              <a:t>, the </a:t>
            </a:r>
            <a:endParaRPr lang="fr-FR" sz="2800" dirty="0" smtClean="0"/>
          </a:p>
          <a:p>
            <a:r>
              <a:rPr lang="fr-FR" sz="2800" dirty="0" smtClean="0"/>
              <a:t>pharyngeal </a:t>
            </a:r>
            <a:r>
              <a:rPr lang="fr-FR" sz="2800" dirty="0"/>
              <a:t>and cloacal membranes are </a:t>
            </a:r>
            <a:r>
              <a:rPr lang="fr-FR" sz="2800" dirty="0" smtClean="0"/>
              <a:t>completely </a:t>
            </a:r>
            <a:r>
              <a:rPr lang="fr-FR" sz="2800" dirty="0"/>
              <a:t>inverted. </a:t>
            </a:r>
            <a:endParaRPr lang="fr-FR" sz="2800" dirty="0" smtClean="0"/>
          </a:p>
          <a:p>
            <a:pPr marL="457200" indent="-457200">
              <a:buFontTx/>
              <a:buChar char="-"/>
            </a:pPr>
            <a:r>
              <a:rPr lang="fr-FR" sz="2800" dirty="0" smtClean="0"/>
              <a:t>Constriction </a:t>
            </a:r>
            <a:r>
              <a:rPr lang="fr-FR" sz="2800" dirty="0"/>
              <a:t>of </a:t>
            </a:r>
            <a:r>
              <a:rPr lang="fr-FR" sz="2800" dirty="0" smtClean="0"/>
              <a:t>theLII, </a:t>
            </a:r>
            <a:r>
              <a:rPr lang="fr-FR" sz="2800" dirty="0"/>
              <a:t>forming</a:t>
            </a:r>
            <a:r>
              <a:rPr lang="fr-FR" sz="2800" dirty="0" smtClean="0"/>
              <a:t>: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 </a:t>
            </a:r>
            <a:r>
              <a:rPr lang="fr-FR" sz="2800" dirty="0"/>
              <a:t>Upper part: the primitive digestive tract. </a:t>
            </a:r>
            <a:endParaRPr lang="fr-FR" sz="2800" dirty="0" smtClean="0"/>
          </a:p>
          <a:p>
            <a:pPr marL="457200" indent="-457200">
              <a:buFontTx/>
              <a:buChar char="-"/>
            </a:pPr>
            <a:r>
              <a:rPr lang="fr-FR" sz="2800" dirty="0" smtClean="0"/>
              <a:t>Lower </a:t>
            </a:r>
            <a:r>
              <a:rPr lang="fr-FR" sz="2800" dirty="0"/>
              <a:t>part: the yolk sac. </a:t>
            </a:r>
            <a:endParaRPr lang="fr-FR" sz="2800" dirty="0" smtClean="0"/>
          </a:p>
          <a:p>
            <a:pPr marL="457200" indent="-457200">
              <a:buFontTx/>
              <a:buChar char="-"/>
            </a:pPr>
            <a:r>
              <a:rPr lang="fr-FR" sz="2800" dirty="0" smtClean="0"/>
              <a:t>Middle </a:t>
            </a:r>
            <a:r>
              <a:rPr lang="fr-FR" sz="2800" dirty="0"/>
              <a:t>part: the vitelline duct.</a:t>
            </a:r>
            <a:r>
              <a:rPr lang="fr-FR" sz="2800" dirty="0" smtClean="0"/>
              <a:t> 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806706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endParaRPr lang="fr-FR" sz="3200" dirty="0" smtClean="0"/>
          </a:p>
          <a:p>
            <a:r>
              <a:rPr lang="fr-FR" sz="2800" dirty="0" smtClean="0"/>
              <a:t>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La délimitation en général se traduit par: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Développement très important de </a:t>
            </a:r>
            <a:r>
              <a:rPr lang="fr-FR" sz="2800" b="1" dirty="0" smtClean="0">
                <a:solidFill>
                  <a:srgbClr val="00B050"/>
                </a:solidFill>
              </a:rPr>
              <a:t>la cavité amniotique</a:t>
            </a:r>
            <a:r>
              <a:rPr lang="fr-FR" sz="2800" dirty="0" smtClean="0"/>
              <a:t>, </a:t>
            </a:r>
          </a:p>
          <a:p>
            <a:r>
              <a:rPr lang="fr-FR" sz="2800" dirty="0" smtClean="0"/>
              <a:t>     entourant  complètement l'embryon.</a:t>
            </a:r>
          </a:p>
          <a:p>
            <a:r>
              <a:rPr lang="fr-FR" sz="28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L’embryon  est </a:t>
            </a:r>
            <a:r>
              <a:rPr lang="fr-FR" sz="2800" b="1" dirty="0" smtClean="0">
                <a:solidFill>
                  <a:srgbClr val="00B050"/>
                </a:solidFill>
              </a:rPr>
              <a:t>complètement entouré d'ectoblaste</a:t>
            </a:r>
            <a:r>
              <a:rPr lang="fr-FR" sz="2800" dirty="0" smtClean="0"/>
              <a:t>;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L’extrémité </a:t>
            </a:r>
            <a:r>
              <a:rPr lang="fr-FR" sz="2800" dirty="0" err="1" smtClean="0"/>
              <a:t>crâniale</a:t>
            </a:r>
            <a:r>
              <a:rPr lang="fr-FR" sz="2800" dirty="0" smtClean="0"/>
              <a:t> et l’extrémité caudale pliées</a:t>
            </a:r>
          </a:p>
          <a:p>
            <a:r>
              <a:rPr lang="fr-FR" sz="2800" dirty="0" smtClean="0"/>
              <a:t>    Donc </a:t>
            </a:r>
            <a:r>
              <a:rPr lang="fr-FR" sz="2800" b="1" dirty="0" smtClean="0">
                <a:solidFill>
                  <a:srgbClr val="00B050"/>
                </a:solidFill>
              </a:rPr>
              <a:t>retournement complet des </a:t>
            </a:r>
            <a:r>
              <a:rPr lang="fr-FR" sz="2800" b="1" dirty="0" err="1" smtClean="0">
                <a:solidFill>
                  <a:srgbClr val="00B050"/>
                </a:solidFill>
              </a:rPr>
              <a:t>mbs</a:t>
            </a:r>
            <a:r>
              <a:rPr lang="fr-FR" sz="2800" b="1" dirty="0" smtClean="0">
                <a:solidFill>
                  <a:srgbClr val="00B050"/>
                </a:solidFill>
              </a:rPr>
              <a:t> pharyngienne et </a:t>
            </a:r>
          </a:p>
          <a:p>
            <a:r>
              <a:rPr lang="fr-FR" sz="2800" b="1" dirty="0" smtClean="0">
                <a:solidFill>
                  <a:srgbClr val="00B050"/>
                </a:solidFill>
              </a:rPr>
              <a:t>    cloacale</a:t>
            </a:r>
            <a:r>
              <a:rPr lang="fr-FR" sz="2800" dirty="0" smtClean="0"/>
              <a:t>.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Etranglement du le </a:t>
            </a:r>
            <a:r>
              <a:rPr lang="fr-FR" sz="2800" dirty="0" err="1" smtClean="0"/>
              <a:t>lécitocèle</a:t>
            </a:r>
            <a:r>
              <a:rPr lang="fr-FR" sz="2800" dirty="0" smtClean="0"/>
              <a:t> </a:t>
            </a:r>
            <a:r>
              <a:rPr lang="fr-FR" sz="2800" dirty="0" err="1" smtClean="0"/>
              <a:t>II</a:t>
            </a:r>
            <a:r>
              <a:rPr lang="fr-FR" sz="2800" baseline="30000" dirty="0" err="1" smtClean="0"/>
              <a:t>aire</a:t>
            </a:r>
            <a:r>
              <a:rPr lang="fr-FR" sz="2800" dirty="0" smtClean="0"/>
              <a:t> formant: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    Partie supérieure: </a:t>
            </a:r>
            <a:r>
              <a:rPr lang="fr-FR" sz="2800" b="1" dirty="0" smtClean="0">
                <a:solidFill>
                  <a:srgbClr val="00B050"/>
                </a:solidFill>
              </a:rPr>
              <a:t>le tube digestif primitif.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    Partie inférieure:   </a:t>
            </a:r>
            <a:r>
              <a:rPr lang="fr-FR" sz="2800" b="1" dirty="0" smtClean="0">
                <a:solidFill>
                  <a:srgbClr val="00B050"/>
                </a:solidFill>
              </a:rPr>
              <a:t>la  vésicule vitelline. 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    Partie intermédiaire: </a:t>
            </a:r>
            <a:r>
              <a:rPr lang="fr-FR" sz="2800" b="1" dirty="0" smtClean="0">
                <a:solidFill>
                  <a:srgbClr val="00B050"/>
                </a:solidFill>
              </a:rPr>
              <a:t>le canal vitellin</a:t>
            </a:r>
            <a:r>
              <a:rPr lang="fr-FR" sz="2800" dirty="0" smtClean="0"/>
              <a:t>.</a:t>
            </a:r>
          </a:p>
          <a:p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165641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82211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endParaRPr lang="fr-FR" sz="32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The embryonic stalk is in a ventral position</a:t>
            </a:r>
            <a:r>
              <a:rPr lang="fr-FR" sz="28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Formation of the umbilical cord: </a:t>
            </a:r>
            <a:r>
              <a:rPr lang="fr-FR" sz="2800" dirty="0" smtClean="0"/>
              <a:t>                                                   </a:t>
            </a:r>
          </a:p>
          <a:p>
            <a:r>
              <a:rPr lang="fr-FR" sz="2800" dirty="0" smtClean="0"/>
              <a:t>bounded </a:t>
            </a:r>
            <a:r>
              <a:rPr lang="fr-FR" sz="2800" dirty="0"/>
              <a:t>by the amnion and containing within its mesenchyme</a:t>
            </a:r>
            <a:r>
              <a:rPr lang="fr-FR" sz="2800" dirty="0" smtClean="0"/>
              <a:t>: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the </a:t>
            </a:r>
            <a:r>
              <a:rPr lang="fr-FR" sz="2800" dirty="0"/>
              <a:t>yolk </a:t>
            </a:r>
            <a:r>
              <a:rPr lang="fr-FR" sz="2800" dirty="0" smtClean="0"/>
              <a:t>sac;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 </a:t>
            </a:r>
            <a:r>
              <a:rPr lang="fr-FR" sz="2800" dirty="0"/>
              <a:t>the allantois, as well as its </a:t>
            </a:r>
            <a:r>
              <a:rPr lang="fr-FR" sz="2800" dirty="0" smtClean="0"/>
              <a:t>vessels,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Migration of the primordial germ cells to a ventral position</a:t>
            </a:r>
            <a:r>
              <a:rPr lang="fr-FR" sz="2800" dirty="0" smtClean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Migration of the cardiac primordium from a ventral </a:t>
            </a:r>
            <a:r>
              <a:rPr lang="fr-FR" sz="2800" dirty="0" smtClean="0"/>
              <a:t>position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towards the anterior third.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11139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endParaRPr lang="fr-FR" sz="32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pédicule embryonnaire en position ventrale.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Formation du </a:t>
            </a:r>
            <a:r>
              <a:rPr lang="fr-FR" sz="2800" b="1" dirty="0" smtClean="0">
                <a:solidFill>
                  <a:srgbClr val="00B050"/>
                </a:solidFill>
              </a:rPr>
              <a:t>cordon ombilical</a:t>
            </a:r>
            <a:r>
              <a:rPr lang="fr-FR" sz="2800" dirty="0" smtClean="0"/>
              <a:t>:</a:t>
            </a:r>
          </a:p>
          <a:p>
            <a:r>
              <a:rPr lang="fr-FR" sz="2800" dirty="0" smtClean="0"/>
              <a:t> limité par </a:t>
            </a:r>
            <a:r>
              <a:rPr lang="fr-FR" sz="2800" b="1" dirty="0" smtClean="0">
                <a:solidFill>
                  <a:srgbClr val="00B050"/>
                </a:solidFill>
              </a:rPr>
              <a:t>l’amnios</a:t>
            </a:r>
            <a:r>
              <a:rPr lang="fr-FR" sz="2800" dirty="0" smtClean="0"/>
              <a:t> et contient dans </a:t>
            </a:r>
            <a:r>
              <a:rPr lang="fr-FR" sz="2800" b="1" dirty="0" smtClean="0">
                <a:solidFill>
                  <a:srgbClr val="00B050"/>
                </a:solidFill>
              </a:rPr>
              <a:t>le mésenchyme</a:t>
            </a:r>
            <a:r>
              <a:rPr lang="fr-FR" sz="2800" dirty="0" smtClean="0"/>
              <a:t>: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la vésicule vitelline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l'allantoïde, ainsi que ses vaisseaux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Migration des  </a:t>
            </a:r>
            <a:r>
              <a:rPr lang="fr-FR" sz="2800" b="1" dirty="0" smtClean="0">
                <a:solidFill>
                  <a:srgbClr val="00B050"/>
                </a:solidFill>
              </a:rPr>
              <a:t>gonocytes primordiaux </a:t>
            </a:r>
            <a:r>
              <a:rPr lang="fr-FR" sz="2800" dirty="0" smtClean="0"/>
              <a:t>en position ventrale.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Migration de </a:t>
            </a:r>
            <a:r>
              <a:rPr lang="fr-FR" sz="2800" b="1" dirty="0" smtClean="0">
                <a:solidFill>
                  <a:srgbClr val="00B050"/>
                </a:solidFill>
              </a:rPr>
              <a:t>L'ébauche cardiaque </a:t>
            </a:r>
            <a:r>
              <a:rPr lang="fr-FR" sz="2800" dirty="0" smtClean="0"/>
              <a:t>en position  ventrale vers</a:t>
            </a:r>
          </a:p>
          <a:p>
            <a:r>
              <a:rPr lang="fr-FR" sz="2800" dirty="0" smtClean="0"/>
              <a:t> le 1/3 antérieur.</a:t>
            </a:r>
          </a:p>
          <a:p>
            <a:r>
              <a:rPr lang="fr-FR" sz="2800" dirty="0" smtClean="0"/>
              <a:t> 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301688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905340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r>
              <a:rPr lang="fr-FR" sz="3200" dirty="0"/>
              <a:t> The embryo is: </a:t>
            </a:r>
            <a:endParaRPr lang="fr-FR" sz="32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3200" dirty="0" smtClean="0"/>
              <a:t>delimited </a:t>
            </a:r>
            <a:r>
              <a:rPr lang="fr-FR" sz="3200" dirty="0"/>
              <a:t>by the ectoderm and therefore bathed in </a:t>
            </a:r>
            <a:r>
              <a:rPr lang="fr-FR" sz="3200" dirty="0" smtClean="0"/>
              <a:t>the</a:t>
            </a:r>
          </a:p>
          <a:p>
            <a:r>
              <a:rPr lang="fr-FR" sz="3200" dirty="0" smtClean="0"/>
              <a:t> </a:t>
            </a:r>
            <a:r>
              <a:rPr lang="fr-FR" sz="3200" dirty="0"/>
              <a:t>amniotic </a:t>
            </a:r>
            <a:r>
              <a:rPr lang="fr-FR" sz="3200" dirty="0" smtClean="0"/>
              <a:t>cavity,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The outer coelom is compressed between the </a:t>
            </a:r>
            <a:r>
              <a:rPr lang="fr-FR" sz="3200" dirty="0" smtClean="0"/>
              <a:t>amniotic</a:t>
            </a:r>
          </a:p>
          <a:p>
            <a:r>
              <a:rPr lang="fr-FR" sz="3200" dirty="0" smtClean="0"/>
              <a:t> </a:t>
            </a:r>
            <a:r>
              <a:rPr lang="fr-FR" sz="3200" dirty="0"/>
              <a:t>membrane and the chorionic membrane</a:t>
            </a:r>
            <a:r>
              <a:rPr lang="fr-FR" sz="3200" dirty="0" smtClean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The embryo is connected to the chorion (the </a:t>
            </a:r>
            <a:r>
              <a:rPr lang="fr-FR" sz="3200" dirty="0" smtClean="0"/>
              <a:t>precursor</a:t>
            </a:r>
          </a:p>
          <a:p>
            <a:r>
              <a:rPr lang="fr-FR" sz="3200" dirty="0" smtClean="0"/>
              <a:t> </a:t>
            </a:r>
            <a:r>
              <a:rPr lang="fr-FR" sz="3200" dirty="0"/>
              <a:t>to the placenta) by the umbilical cord, through the </a:t>
            </a:r>
            <a:endParaRPr lang="fr-FR" sz="3200" dirty="0" smtClean="0"/>
          </a:p>
          <a:p>
            <a:r>
              <a:rPr lang="fr-FR" sz="3200" dirty="0" smtClean="0"/>
              <a:t>amniotic </a:t>
            </a:r>
            <a:r>
              <a:rPr lang="fr-FR" sz="3200" dirty="0"/>
              <a:t>cavity.</a:t>
            </a:r>
            <a:endParaRPr lang="fr-FR" sz="3200" dirty="0" smtClean="0"/>
          </a:p>
          <a:p>
            <a:r>
              <a:rPr lang="fr-FR" sz="2800" dirty="0" smtClean="0"/>
              <a:t>                                       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44211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endParaRPr lang="fr-FR" sz="3200" dirty="0" smtClean="0"/>
          </a:p>
          <a:p>
            <a:r>
              <a:rPr lang="fr-FR" sz="2800" dirty="0" smtClean="0"/>
              <a:t>             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L’embryon est </a:t>
            </a:r>
            <a:r>
              <a:rPr lang="fr-FR" sz="2800" dirty="0" smtClean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délimité par,</a:t>
            </a:r>
            <a:r>
              <a:rPr lang="fr-FR" sz="2800" b="1" dirty="0" smtClean="0">
                <a:solidFill>
                  <a:srgbClr val="00B050"/>
                </a:solidFill>
              </a:rPr>
              <a:t> l'ectoblaste</a:t>
            </a:r>
          </a:p>
          <a:p>
            <a:pPr>
              <a:buFont typeface="Wingdings" pitchFamily="2" charset="2"/>
              <a:buChar char="Ø"/>
            </a:pPr>
            <a:endParaRPr lang="fr-FR" sz="2800" b="1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baigne donc dans </a:t>
            </a:r>
            <a:r>
              <a:rPr lang="fr-FR" sz="2800" b="1" dirty="0" smtClean="0">
                <a:solidFill>
                  <a:srgbClr val="00B050"/>
                </a:solidFill>
              </a:rPr>
              <a:t>la cavité amniotique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Le cœlome externe</a:t>
            </a:r>
            <a:r>
              <a:rPr lang="fr-FR" sz="2800" dirty="0" smtClean="0"/>
              <a:t>, se trouve écrasé entre </a:t>
            </a:r>
            <a:r>
              <a:rPr lang="fr-FR" sz="2800" b="1" dirty="0" smtClean="0">
                <a:solidFill>
                  <a:srgbClr val="00B050"/>
                </a:solidFill>
              </a:rPr>
              <a:t>la lame</a:t>
            </a:r>
          </a:p>
          <a:p>
            <a:r>
              <a:rPr lang="fr-FR" sz="2800" b="1" dirty="0" smtClean="0">
                <a:solidFill>
                  <a:srgbClr val="00B050"/>
                </a:solidFill>
              </a:rPr>
              <a:t> amniotique</a:t>
            </a:r>
            <a:r>
              <a:rPr lang="fr-FR" sz="2800" dirty="0" smtClean="0"/>
              <a:t> et la </a:t>
            </a:r>
            <a:r>
              <a:rPr lang="fr-FR" sz="2800" b="1" dirty="0" smtClean="0">
                <a:solidFill>
                  <a:srgbClr val="00B050"/>
                </a:solidFill>
              </a:rPr>
              <a:t>lame choriale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L’embryon est relié au  chorion (ébauche du placenta), </a:t>
            </a:r>
          </a:p>
          <a:p>
            <a:r>
              <a:rPr lang="fr-FR" sz="2800" dirty="0" smtClean="0"/>
              <a:t>par le cordon ombilical, à travers la cavité amniotique.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23214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4888" y="-947738"/>
            <a:ext cx="11153775" cy="875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5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Délimitation - Coupes logngitudinales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887" y="0"/>
            <a:ext cx="8892480" cy="5085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539552" y="5445224"/>
            <a:ext cx="8181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DELIMITATION SUR COUPES LONGITUDINALES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Délimitation dans le sens transversal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32656"/>
            <a:ext cx="9144000" cy="4036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611560" y="4005064"/>
            <a:ext cx="844891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DELIMITATION SUR COUPES TRANSVERSALES</a:t>
            </a:r>
          </a:p>
          <a:p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3200" b="1" dirty="0" smtClean="0"/>
              <a:t>Tube digestif primitif             Canal vitellin</a:t>
            </a:r>
          </a:p>
          <a:p>
            <a:r>
              <a:rPr lang="fr-FR" sz="3200" b="1" dirty="0" smtClean="0"/>
              <a:t>                                                                         Vésicule</a:t>
            </a:r>
          </a:p>
          <a:p>
            <a:r>
              <a:rPr lang="fr-FR" sz="3200" b="1" dirty="0" smtClean="0"/>
              <a:t>                                                                      ombilicale</a:t>
            </a:r>
            <a:endParaRPr lang="fr-FR" sz="3200" b="1" dirty="0"/>
          </a:p>
        </p:txBody>
      </p:sp>
      <p:cxnSp>
        <p:nvCxnSpPr>
          <p:cNvPr id="4" name="Connecteur droit avec flèche 3"/>
          <p:cNvCxnSpPr/>
          <p:nvPr/>
        </p:nvCxnSpPr>
        <p:spPr>
          <a:xfrm flipV="1">
            <a:off x="7596336" y="3861048"/>
            <a:ext cx="144016" cy="230425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avec flèche 4"/>
          <p:cNvCxnSpPr/>
          <p:nvPr/>
        </p:nvCxnSpPr>
        <p:spPr>
          <a:xfrm flipV="1">
            <a:off x="5796136" y="3068960"/>
            <a:ext cx="1944216" cy="25922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 flipV="1">
            <a:off x="4499992" y="2420888"/>
            <a:ext cx="3168352" cy="302433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923427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00B0F0"/>
                </a:solidFill>
              </a:rPr>
              <a:t>Le cordon ombilical est formé par:</a:t>
            </a: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L'amnios, accolé au mésenchyme du pédicule,</a:t>
            </a:r>
          </a:p>
          <a:p>
            <a:r>
              <a:rPr lang="fr-FR" sz="3200" dirty="0" smtClean="0"/>
              <a:t> limite le cordon ombilical primitif composé: 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canal vitellin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vésicule ombilicale </a:t>
            </a:r>
          </a:p>
          <a:p>
            <a:pPr>
              <a:buFont typeface="Wingdings" pitchFamily="2" charset="2"/>
              <a:buChar char="§"/>
            </a:pPr>
            <a:r>
              <a:rPr lang="fr-FR" sz="3200" b="1" dirty="0" smtClean="0"/>
              <a:t> </a:t>
            </a:r>
            <a:r>
              <a:rPr lang="fr-FR" sz="3200" dirty="0" smtClean="0"/>
              <a:t>allantoïde</a:t>
            </a:r>
          </a:p>
          <a:p>
            <a:pPr>
              <a:buFont typeface="Wingdings" pitchFamily="2" charset="2"/>
              <a:buChar char="§"/>
            </a:pPr>
            <a:r>
              <a:rPr lang="fr-FR" sz="3200" b="1" dirty="0" smtClean="0"/>
              <a:t> </a:t>
            </a:r>
            <a:r>
              <a:rPr lang="fr-FR" sz="3200" dirty="0" smtClean="0"/>
              <a:t> mésenchyme du pédicule avec les vaisseaux </a:t>
            </a:r>
          </a:p>
          <a:p>
            <a:r>
              <a:rPr lang="fr-FR" sz="3200" dirty="0" smtClean="0"/>
              <a:t>   de la circulation placentaire</a:t>
            </a:r>
            <a:endParaRPr lang="fr-FR" sz="3200" b="1" dirty="0"/>
          </a:p>
        </p:txBody>
      </p:sp>
      <p:pic>
        <p:nvPicPr>
          <p:cNvPr id="3" name="Image 2" descr="Cordon ombilical primit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548680"/>
            <a:ext cx="4680519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images.slideplayer.fr/3/1315593/slides/slide_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/>
          <p:cNvSpPr txBox="1"/>
          <p:nvPr/>
        </p:nvSpPr>
        <p:spPr>
          <a:xfrm>
            <a:off x="0" y="0"/>
            <a:ext cx="7033849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Evolution des feuillets </a:t>
            </a:r>
            <a:endParaRPr lang="fr-FR" sz="2800" b="1" dirty="0">
              <a:solidFill>
                <a:srgbClr val="002060"/>
              </a:solidFill>
            </a:endParaRPr>
          </a:p>
          <a:p>
            <a:endParaRPr lang="fr-FR" sz="3200" b="1" dirty="0" smtClean="0"/>
          </a:p>
          <a:p>
            <a:r>
              <a:rPr lang="fr-FR" sz="2800" b="1" dirty="0" smtClean="0">
                <a:solidFill>
                  <a:srgbClr val="00B0F0"/>
                </a:solidFill>
              </a:rPr>
              <a:t>Evolution de l’ectoblaste: fin de la neurulation</a:t>
            </a:r>
            <a:endParaRPr lang="fr-FR" sz="2800" dirty="0">
              <a:solidFill>
                <a:srgbClr val="00B0F0"/>
              </a:solidFill>
            </a:endParaRPr>
          </a:p>
          <a:p>
            <a:endParaRPr lang="fr-FR" dirty="0"/>
          </a:p>
        </p:txBody>
      </p:sp>
      <p:pic>
        <p:nvPicPr>
          <p:cNvPr id="8" name="Image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723548"/>
            <a:ext cx="4572000" cy="4801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4283968" y="3573016"/>
            <a:ext cx="50405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00B050"/>
                </a:solidFill>
              </a:rPr>
              <a:t>Arcs branchiaux (4</a:t>
            </a:r>
            <a:r>
              <a:rPr lang="fr-FR" sz="2400" dirty="0" smtClean="0"/>
              <a:t>):</a:t>
            </a:r>
          </a:p>
          <a:p>
            <a:r>
              <a:rPr lang="fr-FR" sz="2400" dirty="0" smtClean="0"/>
              <a:t>- Formations </a:t>
            </a:r>
            <a:r>
              <a:rPr lang="fr-FR" sz="2400" dirty="0" smtClean="0">
                <a:hlinkClick r:id="rId3"/>
              </a:rPr>
              <a:t>embryonnaires</a:t>
            </a:r>
            <a:r>
              <a:rPr lang="fr-FR" sz="2400" dirty="0" smtClean="0"/>
              <a:t> entourant la cavité  formée par la bouche et la </a:t>
            </a:r>
            <a:r>
              <a:rPr lang="fr-FR" sz="2400" dirty="0" smtClean="0">
                <a:hlinkClick r:id="rId4"/>
              </a:rPr>
              <a:t>gorge</a:t>
            </a:r>
            <a:r>
              <a:rPr lang="fr-FR" sz="2400" dirty="0" smtClean="0"/>
              <a:t>.</a:t>
            </a:r>
          </a:p>
          <a:p>
            <a:r>
              <a:rPr lang="fr-FR" sz="2400" dirty="0" smtClean="0"/>
              <a:t> - Ils donnent naissance aux différents organes et  tissus formant cette cavité (machoires, langue, </a:t>
            </a:r>
            <a:r>
              <a:rPr lang="fr-FR" sz="2400" dirty="0" smtClean="0">
                <a:hlinkClick r:id="rId5"/>
              </a:rPr>
              <a:t>larynx</a:t>
            </a:r>
            <a:r>
              <a:rPr lang="fr-FR" sz="2400" dirty="0" smtClean="0"/>
              <a:t>,…).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0"/>
            <a:ext cx="4248472" cy="587727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692696"/>
            <a:ext cx="3200400" cy="395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35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856357"/>
            <a:ext cx="2776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 </a:t>
            </a:r>
          </a:p>
          <a:p>
            <a:endParaRPr lang="fr-FR" sz="3200" b="1" dirty="0"/>
          </a:p>
        </p:txBody>
      </p:sp>
      <p:sp>
        <p:nvSpPr>
          <p:cNvPr id="2" name="Rectangle 1"/>
          <p:cNvSpPr/>
          <p:nvPr/>
        </p:nvSpPr>
        <p:spPr>
          <a:xfrm>
            <a:off x="126502" y="240804"/>
            <a:ext cx="876597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/>
              <a:t>The neural tube anteriorly </a:t>
            </a:r>
            <a:r>
              <a:rPr lang="fr-FR" sz="2800" dirty="0" smtClean="0"/>
              <a:t>ontains </a:t>
            </a:r>
            <a:r>
              <a:rPr lang="fr-FR" sz="2800" dirty="0"/>
              <a:t>three vesicles: </a:t>
            </a: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The prosencephalon: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telencephalon </a:t>
            </a:r>
            <a:r>
              <a:rPr lang="fr-FR" sz="2800" dirty="0"/>
              <a:t>(cerebral hemispheres</a:t>
            </a:r>
            <a:r>
              <a:rPr lang="fr-FR" sz="2800" dirty="0" smtClean="0"/>
              <a:t>),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diencephalon </a:t>
            </a:r>
            <a:r>
              <a:rPr lang="fr-FR" sz="2800" dirty="0"/>
              <a:t>(optic pathways, hypothalamus, pituitary gland</a:t>
            </a:r>
            <a:r>
              <a:rPr lang="fr-FR" sz="2800" dirty="0" smtClean="0"/>
              <a:t>),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The </a:t>
            </a:r>
            <a:r>
              <a:rPr lang="fr-FR" sz="2800" dirty="0" smtClean="0"/>
              <a:t>mesencephalon: </a:t>
            </a:r>
            <a:r>
              <a:rPr lang="fr-FR" sz="2800" dirty="0"/>
              <a:t>auditory reflexes and visual </a:t>
            </a:r>
            <a:r>
              <a:rPr lang="fr-FR" sz="2800" dirty="0" smtClean="0"/>
              <a:t>input,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The rhombencephalon</a:t>
            </a:r>
            <a:r>
              <a:rPr lang="fr-FR" sz="2800" dirty="0" smtClean="0"/>
              <a:t>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 </a:t>
            </a:r>
            <a:r>
              <a:rPr lang="fr-FR" sz="2800" dirty="0"/>
              <a:t>metencephalon (cerebellum</a:t>
            </a:r>
            <a:r>
              <a:rPr lang="fr-FR" sz="2800" dirty="0" smtClean="0"/>
              <a:t>),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 </a:t>
            </a:r>
            <a:r>
              <a:rPr lang="fr-FR" sz="2800" dirty="0"/>
              <a:t>myelencephalon (medulla oblongata).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222315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Evolution du mésoblaste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 Mésoblaste (nœud de Hensen)                 Chorde</a:t>
            </a:r>
          </a:p>
          <a:p>
            <a:r>
              <a:rPr lang="fr-FR" sz="2800" b="1" dirty="0" smtClean="0"/>
              <a:t>                                                          ébauche </a:t>
            </a:r>
            <a:r>
              <a:rPr lang="fr-FR" sz="2800" b="1" dirty="0"/>
              <a:t>du squelette </a:t>
            </a:r>
            <a:endParaRPr lang="fr-FR" sz="2800" b="1" dirty="0" smtClean="0"/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                           axial </a:t>
            </a:r>
            <a:r>
              <a:rPr lang="fr-FR" sz="2800" b="1" dirty="0"/>
              <a:t>de </a:t>
            </a:r>
            <a:r>
              <a:rPr lang="fr-FR" sz="2800" b="1" dirty="0" smtClean="0"/>
              <a:t>l'embryon</a:t>
            </a:r>
          </a:p>
          <a:p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Mésoblaste (ligne primitive): 3 mésoblastes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/>
              <a:t> Mésoblaste para-axial                    somites</a:t>
            </a:r>
            <a:endParaRPr lang="fr-FR" sz="2800" dirty="0"/>
          </a:p>
        </p:txBody>
      </p:sp>
      <p:sp>
        <p:nvSpPr>
          <p:cNvPr id="3" name="Flèche droite 2"/>
          <p:cNvSpPr/>
          <p:nvPr/>
        </p:nvSpPr>
        <p:spPr>
          <a:xfrm>
            <a:off x="5195228" y="620688"/>
            <a:ext cx="97840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Les somites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573016"/>
            <a:ext cx="2987824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lèche droite 4"/>
          <p:cNvSpPr/>
          <p:nvPr/>
        </p:nvSpPr>
        <p:spPr>
          <a:xfrm>
            <a:off x="4225899" y="2780928"/>
            <a:ext cx="97840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3187946" y="3749457"/>
            <a:ext cx="595605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fr-FR" sz="2800" dirty="0" smtClean="0"/>
              <a:t>- 3 à 4 paires occipitales (transitoires et </a:t>
            </a:r>
          </a:p>
          <a:p>
            <a:pPr lvl="0"/>
            <a:r>
              <a:rPr lang="fr-FR" sz="2800" dirty="0" smtClean="0"/>
              <a:t>                  mal individualisées) </a:t>
            </a:r>
          </a:p>
          <a:p>
            <a:pPr lvl="0"/>
            <a:r>
              <a:rPr lang="fr-FR" sz="2800" dirty="0" smtClean="0"/>
              <a:t>- 8 paires cervicales </a:t>
            </a:r>
          </a:p>
          <a:p>
            <a:pPr lvl="0"/>
            <a:r>
              <a:rPr lang="fr-FR" sz="2800" dirty="0" smtClean="0"/>
              <a:t>- 12 paires dorsales </a:t>
            </a:r>
          </a:p>
          <a:p>
            <a:pPr lvl="0"/>
            <a:r>
              <a:rPr lang="fr-FR" sz="2800" dirty="0" smtClean="0"/>
              <a:t>- 5 paires lombaires </a:t>
            </a:r>
          </a:p>
          <a:p>
            <a:pPr lvl="0"/>
            <a:r>
              <a:rPr lang="fr-FR" sz="2800" dirty="0" smtClean="0"/>
              <a:t>- 5 paires sacrées </a:t>
            </a:r>
          </a:p>
          <a:p>
            <a:r>
              <a:rPr lang="fr-FR" sz="2800" dirty="0" smtClean="0"/>
              <a:t>- 8 à 12 paires coccygiennes.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7126374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Somite =  </a:t>
            </a:r>
            <a:r>
              <a:rPr lang="fr-FR" sz="2800" b="1" dirty="0" err="1" smtClean="0">
                <a:solidFill>
                  <a:srgbClr val="00B0F0"/>
                </a:solidFill>
              </a:rPr>
              <a:t>Sclérotome</a:t>
            </a:r>
            <a:r>
              <a:rPr lang="fr-FR" sz="2800" b="1" dirty="0" smtClean="0">
                <a:solidFill>
                  <a:srgbClr val="00B0F0"/>
                </a:solidFill>
              </a:rPr>
              <a:t> + </a:t>
            </a:r>
            <a:r>
              <a:rPr lang="fr-FR" sz="2800" b="1" dirty="0" err="1" smtClean="0">
                <a:solidFill>
                  <a:srgbClr val="00B0F0"/>
                </a:solidFill>
              </a:rPr>
              <a:t>Dermomyotome</a:t>
            </a:r>
            <a:r>
              <a:rPr lang="fr-FR" sz="2800" b="1" dirty="0" smtClean="0">
                <a:solidFill>
                  <a:srgbClr val="00B0F0"/>
                </a:solidFill>
              </a:rPr>
              <a:t>: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B0F0"/>
                </a:solidFill>
              </a:rPr>
              <a:t> Le sclérotome =  </a:t>
            </a:r>
            <a:r>
              <a:rPr lang="fr-FR" sz="2800" b="1" dirty="0" smtClean="0"/>
              <a:t>futurs vertébres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B0F0"/>
                </a:solidFill>
              </a:rPr>
              <a:t> Le </a:t>
            </a:r>
            <a:r>
              <a:rPr lang="fr-FR" sz="2800" b="1" dirty="0" err="1" smtClean="0">
                <a:solidFill>
                  <a:srgbClr val="00B0F0"/>
                </a:solidFill>
              </a:rPr>
              <a:t>demomyotome</a:t>
            </a:r>
            <a:r>
              <a:rPr lang="fr-FR" sz="2800" b="1" dirty="0" smtClean="0">
                <a:solidFill>
                  <a:srgbClr val="00B0F0"/>
                </a:solidFill>
              </a:rPr>
              <a:t> = </a:t>
            </a:r>
            <a:r>
              <a:rPr lang="fr-FR" sz="2800" b="1" dirty="0" err="1" smtClean="0">
                <a:solidFill>
                  <a:srgbClr val="00B0F0"/>
                </a:solidFill>
              </a:rPr>
              <a:t>dermatome</a:t>
            </a:r>
            <a:r>
              <a:rPr lang="fr-FR" sz="2800" b="1" dirty="0" smtClean="0">
                <a:solidFill>
                  <a:srgbClr val="00B0F0"/>
                </a:solidFill>
              </a:rPr>
              <a:t> + </a:t>
            </a:r>
            <a:r>
              <a:rPr lang="fr-FR" sz="2800" b="1" dirty="0" err="1" smtClean="0">
                <a:solidFill>
                  <a:srgbClr val="00B0F0"/>
                </a:solidFill>
              </a:rPr>
              <a:t>myotome</a:t>
            </a:r>
            <a:endParaRPr lang="fr-FR" sz="2800" b="1" dirty="0" smtClean="0">
              <a:solidFill>
                <a:srgbClr val="00B0F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>
              <a:solidFill>
                <a:srgbClr val="00B050"/>
              </a:solidFill>
            </a:endParaRPr>
          </a:p>
          <a:p>
            <a:r>
              <a:rPr lang="fr-FR" sz="2800" b="1" dirty="0" smtClean="0">
                <a:solidFill>
                  <a:srgbClr val="00B050"/>
                </a:solidFill>
              </a:rPr>
              <a:t>Le dermatome</a:t>
            </a:r>
          </a:p>
          <a:p>
            <a:r>
              <a:rPr lang="fr-FR" sz="2800" b="1" dirty="0" smtClean="0"/>
              <a:t>tissu conjonctif de la peau</a:t>
            </a:r>
          </a:p>
          <a:p>
            <a:r>
              <a:rPr lang="fr-FR" sz="2800" b="1" dirty="0" smtClean="0">
                <a:solidFill>
                  <a:srgbClr val="00B050"/>
                </a:solidFill>
              </a:rPr>
              <a:t>Le </a:t>
            </a:r>
            <a:r>
              <a:rPr lang="fr-FR" sz="2800" b="1" dirty="0" err="1" smtClean="0">
                <a:solidFill>
                  <a:srgbClr val="00B050"/>
                </a:solidFill>
              </a:rPr>
              <a:t>myotome</a:t>
            </a:r>
            <a:endParaRPr lang="fr-FR" sz="2800" b="1" dirty="0" smtClean="0"/>
          </a:p>
          <a:p>
            <a:r>
              <a:rPr lang="fr-FR" sz="2800" b="1" dirty="0" smtClean="0"/>
              <a:t> majorité des muscles du corps </a:t>
            </a:r>
          </a:p>
          <a:p>
            <a:r>
              <a:rPr lang="fr-FR" sz="2800" b="1" dirty="0" smtClean="0"/>
              <a:t>                         </a:t>
            </a:r>
            <a:endParaRPr lang="fr-FR" sz="2800" b="1" dirty="0"/>
          </a:p>
        </p:txBody>
      </p:sp>
      <p:pic>
        <p:nvPicPr>
          <p:cNvPr id="3" name="Imag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628800"/>
            <a:ext cx="8136904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6632"/>
            <a:ext cx="8064896" cy="597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543770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Mésoblaste intermédiaire</a:t>
            </a:r>
          </a:p>
          <a:p>
            <a:pPr>
              <a:buFont typeface="Wingdings" pitchFamily="2" charset="2"/>
              <a:buChar char="Ø"/>
            </a:pPr>
            <a:endParaRPr lang="fr-FR" sz="3200" b="1" dirty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/>
          </a:p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                                                    </a:t>
            </a:r>
            <a:endParaRPr lang="fr-FR" sz="3200" b="1" dirty="0"/>
          </a:p>
        </p:txBody>
      </p:sp>
      <p:pic>
        <p:nvPicPr>
          <p:cNvPr id="3" name="Image 2" descr="http://moodle.univ-brest.fr/medecine/public/sites/Serveur_2009/Embryologie/Emb_gen/E_3-4-s/D4minte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36712"/>
            <a:ext cx="7596336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0" y="3573016"/>
            <a:ext cx="954844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P= </a:t>
            </a:r>
            <a:r>
              <a:rPr lang="fr-FR" sz="2800" b="1" dirty="0" smtClean="0">
                <a:solidFill>
                  <a:srgbClr val="00B0F0"/>
                </a:solidFill>
              </a:rPr>
              <a:t>pronephros</a:t>
            </a:r>
            <a:r>
              <a:rPr lang="fr-FR" sz="2800" b="1" dirty="0" smtClean="0"/>
              <a:t>:  régresse 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Mes= </a:t>
            </a:r>
            <a:r>
              <a:rPr lang="fr-FR" sz="2800" b="1" dirty="0" smtClean="0">
                <a:solidFill>
                  <a:srgbClr val="00B0F0"/>
                </a:solidFill>
              </a:rPr>
              <a:t>mesonephros</a:t>
            </a:r>
            <a:r>
              <a:rPr lang="fr-FR" sz="2800" b="1" dirty="0" smtClean="0"/>
              <a:t>: les voies urinaires et les voies                   </a:t>
            </a:r>
          </a:p>
          <a:p>
            <a:r>
              <a:rPr lang="fr-FR" sz="2800" b="1" dirty="0" smtClean="0"/>
              <a:t>                               génitales mâles. </a:t>
            </a: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/>
              <a:t>Met= </a:t>
            </a:r>
            <a:r>
              <a:rPr lang="fr-FR" sz="2800" b="1" dirty="0" smtClean="0">
                <a:solidFill>
                  <a:srgbClr val="00B0F0"/>
                </a:solidFill>
              </a:rPr>
              <a:t>metanephros: </a:t>
            </a:r>
            <a:r>
              <a:rPr lang="fr-FR" sz="2800" b="1" dirty="0" smtClean="0"/>
              <a:t>ébauche du rein définitif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93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25252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Mésoblaste latéral: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>
                <a:solidFill>
                  <a:srgbClr val="7030A0"/>
                </a:solidFill>
              </a:rPr>
              <a:t> </a:t>
            </a:r>
            <a:r>
              <a:rPr lang="fr-FR" sz="2800" b="1" dirty="0" smtClean="0">
                <a:solidFill>
                  <a:srgbClr val="7030A0"/>
                </a:solidFill>
              </a:rPr>
              <a:t>La </a:t>
            </a:r>
            <a:r>
              <a:rPr lang="fr-FR" sz="2800" b="1" dirty="0" err="1" smtClean="0">
                <a:solidFill>
                  <a:srgbClr val="7030A0"/>
                </a:solidFill>
              </a:rPr>
              <a:t>somatopleure</a:t>
            </a:r>
            <a:r>
              <a:rPr lang="fr-FR" sz="2800" b="1" dirty="0" smtClean="0">
                <a:solidFill>
                  <a:srgbClr val="7030A0"/>
                </a:solidFill>
              </a:rPr>
              <a:t> intra- </a:t>
            </a:r>
            <a:r>
              <a:rPr lang="fr-FR" sz="2800" b="1" dirty="0" err="1" smtClean="0">
                <a:solidFill>
                  <a:srgbClr val="7030A0"/>
                </a:solidFill>
              </a:rPr>
              <a:t>emb</a:t>
            </a:r>
            <a:r>
              <a:rPr lang="fr-FR" sz="2800" b="1" dirty="0" smtClean="0">
                <a:solidFill>
                  <a:srgbClr val="7030A0"/>
                </a:solidFill>
              </a:rPr>
              <a:t>: </a:t>
            </a:r>
          </a:p>
          <a:p>
            <a:r>
              <a:rPr lang="fr-FR" sz="2800" dirty="0" smtClean="0"/>
              <a:t>pariétale, forme </a:t>
            </a:r>
            <a:r>
              <a:rPr lang="fr-FR" sz="2800" dirty="0"/>
              <a:t>avec </a:t>
            </a:r>
            <a:r>
              <a:rPr lang="fr-FR" sz="2800" dirty="0" smtClean="0"/>
              <a:t>l’ectoblaste,les </a:t>
            </a:r>
            <a:r>
              <a:rPr lang="fr-FR" sz="2800" dirty="0"/>
              <a:t>parois </a:t>
            </a:r>
            <a:r>
              <a:rPr lang="fr-FR" sz="2800" dirty="0" smtClean="0"/>
              <a:t>latérales et </a:t>
            </a:r>
            <a:r>
              <a:rPr lang="fr-FR" sz="2800" dirty="0"/>
              <a:t>ventrales de l’embryon.</a:t>
            </a:r>
          </a:p>
          <a:p>
            <a:pPr>
              <a:buFont typeface="Wingdings" pitchFamily="2" charset="2"/>
              <a:buChar char="Ø"/>
            </a:pPr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r>
              <a:rPr lang="fr-FR" sz="2800" b="1" dirty="0" smtClean="0">
                <a:solidFill>
                  <a:srgbClr val="7030A0"/>
                </a:solidFill>
              </a:rPr>
              <a:t>La </a:t>
            </a:r>
            <a:r>
              <a:rPr lang="fr-FR" sz="2800" b="1" dirty="0" err="1" smtClean="0">
                <a:solidFill>
                  <a:srgbClr val="7030A0"/>
                </a:solidFill>
              </a:rPr>
              <a:t>splanchnopleure</a:t>
            </a:r>
            <a:r>
              <a:rPr lang="fr-FR" sz="2800" b="1" dirty="0" smtClean="0">
                <a:solidFill>
                  <a:srgbClr val="7030A0"/>
                </a:solidFill>
              </a:rPr>
              <a:t> intra-</a:t>
            </a:r>
            <a:r>
              <a:rPr lang="fr-FR" sz="2800" b="1" dirty="0" err="1" smtClean="0">
                <a:solidFill>
                  <a:srgbClr val="7030A0"/>
                </a:solidFill>
              </a:rPr>
              <a:t>emb</a:t>
            </a:r>
            <a:r>
              <a:rPr lang="fr-FR" sz="2800" b="1" dirty="0" smtClean="0"/>
              <a:t>: </a:t>
            </a:r>
          </a:p>
          <a:p>
            <a:r>
              <a:rPr lang="fr-FR" sz="2800" dirty="0" smtClean="0"/>
              <a:t>viscérale</a:t>
            </a:r>
            <a:r>
              <a:rPr lang="fr-FR" sz="2800" dirty="0"/>
              <a:t>, </a:t>
            </a:r>
            <a:r>
              <a:rPr lang="fr-FR" sz="2800" dirty="0" smtClean="0"/>
              <a:t>entoure les organes, formant avec  </a:t>
            </a:r>
            <a:r>
              <a:rPr lang="fr-FR" sz="2800" dirty="0"/>
              <a:t>l’entoblaste, la paroi du tube </a:t>
            </a:r>
            <a:r>
              <a:rPr lang="fr-FR" sz="2800" dirty="0" smtClean="0"/>
              <a:t>digestif.</a:t>
            </a:r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7030A0"/>
                </a:solidFill>
              </a:rPr>
              <a:t>Le Cœlome intra-embryonnaire: </a:t>
            </a:r>
            <a:r>
              <a:rPr lang="fr-FR" sz="2800" dirty="0" smtClean="0"/>
              <a:t>cavité pleurale-péricardique-péritonéale</a:t>
            </a:r>
          </a:p>
          <a:p>
            <a:pPr>
              <a:buFont typeface="Wingdings" pitchFamily="2" charset="2"/>
              <a:buChar char="q"/>
            </a:pP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oupe transversal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1" y="1"/>
            <a:ext cx="3096344" cy="2276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 2" descr="Délimitation dans le sens transversal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2276872"/>
            <a:ext cx="8676456" cy="4036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6483335" y="1052736"/>
            <a:ext cx="27552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 smtClean="0"/>
              <a:t>Somatopleure</a:t>
            </a:r>
            <a:endParaRPr lang="fr-FR" sz="2400" b="1" dirty="0" smtClean="0"/>
          </a:p>
          <a:p>
            <a:r>
              <a:rPr lang="fr-FR" sz="2400" b="1" dirty="0" smtClean="0"/>
              <a:t> intra-embryonnaire</a:t>
            </a:r>
            <a:endParaRPr lang="fr-FR" sz="24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4139952" y="5877272"/>
            <a:ext cx="27295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 smtClean="0"/>
              <a:t>Splanchnopleure</a:t>
            </a:r>
            <a:endParaRPr lang="fr-FR" sz="2400" b="1" dirty="0" smtClean="0"/>
          </a:p>
          <a:p>
            <a:r>
              <a:rPr lang="fr-FR" sz="2400" b="1" dirty="0" smtClean="0"/>
              <a:t> intra-embryonnaire</a:t>
            </a:r>
            <a:endParaRPr lang="fr-FR" sz="24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3635896" y="2348880"/>
            <a:ext cx="3790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Cœlome intra-embryonnaire</a:t>
            </a:r>
            <a:endParaRPr lang="fr-FR" sz="2400" b="1" dirty="0"/>
          </a:p>
        </p:txBody>
      </p:sp>
      <p:cxnSp>
        <p:nvCxnSpPr>
          <p:cNvPr id="8" name="Connecteur droit avec flèche 7"/>
          <p:cNvCxnSpPr/>
          <p:nvPr/>
        </p:nvCxnSpPr>
        <p:spPr>
          <a:xfrm>
            <a:off x="6372200" y="2708920"/>
            <a:ext cx="1008112" cy="194421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/>
        </p:nvCxnSpPr>
        <p:spPr>
          <a:xfrm flipV="1">
            <a:off x="4139952" y="4653136"/>
            <a:ext cx="432048" cy="129614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H="1">
            <a:off x="5508104" y="1484784"/>
            <a:ext cx="2016224" cy="295232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2 Quatrième semaine du développement embryonnaire : Segmentation du mésoblaste dans la région moyenne de l’embryon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4544" y="-603448"/>
            <a:ext cx="9468543" cy="784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 flipV="1">
            <a:off x="755576" y="8104943"/>
            <a:ext cx="7298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V : Vertèbres, I = Disques </a:t>
            </a:r>
            <a:r>
              <a:rPr lang="fr-FR" b="1" dirty="0" err="1"/>
              <a:t>inter-vertébraux</a:t>
            </a:r>
            <a:r>
              <a:rPr lang="fr-FR" b="1" dirty="0"/>
              <a:t>, M = Muscles du dos, D = Derme</a:t>
            </a:r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3864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Evolution de l’entoblaste</a:t>
            </a:r>
            <a:endParaRPr lang="fr-FR" sz="2800" b="1" dirty="0">
              <a:solidFill>
                <a:srgbClr val="00B0F0"/>
              </a:solidFill>
            </a:endParaRPr>
          </a:p>
        </p:txBody>
      </p:sp>
      <p:pic>
        <p:nvPicPr>
          <p:cNvPr id="3" name="Image 2" descr="http://moodle.univ-brest.fr/medecine/public/sites/Serveur_2009/Embryologie/Emb_gen/E_3-4-s/D4_ento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196752"/>
            <a:ext cx="8208912" cy="3383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644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07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8417625" cy="710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fr-FR" sz="3200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L'intestin pharyngien: </a:t>
            </a:r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/>
              <a:t>La membrane pharyngienne disparaît au 27ème jour</a:t>
            </a:r>
          </a:p>
          <a:p>
            <a:pPr lvl="0"/>
            <a:r>
              <a:rPr lang="fr-FR" sz="2800" dirty="0" smtClean="0"/>
              <a:t> et permet la communication de l'intestin pharyngien</a:t>
            </a:r>
          </a:p>
          <a:p>
            <a:pPr lvl="0"/>
            <a:r>
              <a:rPr lang="fr-FR" sz="2800" dirty="0" smtClean="0"/>
              <a:t> avec l'extérieur de l'embryon par le </a:t>
            </a:r>
            <a:r>
              <a:rPr lang="fr-FR" sz="2800" dirty="0" err="1" smtClean="0"/>
              <a:t>stomadeum</a:t>
            </a:r>
            <a:r>
              <a:rPr lang="fr-FR" sz="2800" dirty="0" smtClean="0"/>
              <a:t>.</a:t>
            </a:r>
          </a:p>
          <a:p>
            <a:pPr lvl="0"/>
            <a:r>
              <a:rPr lang="fr-FR" sz="2800" dirty="0" smtClean="0"/>
              <a:t>L'intestin pharyngien forme avec le </a:t>
            </a:r>
            <a:r>
              <a:rPr lang="fr-FR" sz="2800" dirty="0" err="1" smtClean="0"/>
              <a:t>stomodeum</a:t>
            </a:r>
            <a:r>
              <a:rPr lang="fr-FR" sz="2800" dirty="0" smtClean="0"/>
              <a:t> </a:t>
            </a:r>
          </a:p>
          <a:p>
            <a:pPr lvl="0"/>
            <a:r>
              <a:rPr lang="fr-FR" sz="2800" dirty="0" smtClean="0"/>
              <a:t>la cavité buccale.</a:t>
            </a:r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L'intestin </a:t>
            </a:r>
            <a:r>
              <a:rPr lang="fr-FR" sz="2800" b="1" dirty="0">
                <a:solidFill>
                  <a:srgbClr val="0070C0"/>
                </a:solidFill>
              </a:rPr>
              <a:t>primitif antérieur </a:t>
            </a:r>
            <a:r>
              <a:rPr lang="fr-FR" sz="2800" dirty="0" smtClean="0">
                <a:solidFill>
                  <a:srgbClr val="FF0000"/>
                </a:solidFill>
              </a:rPr>
              <a:t>:</a:t>
            </a:r>
            <a:r>
              <a:rPr lang="fr-FR" sz="2800" dirty="0" smtClean="0"/>
              <a:t> </a:t>
            </a:r>
          </a:p>
          <a:p>
            <a:pPr lvl="0"/>
            <a:r>
              <a:rPr lang="fr-FR" sz="2800" dirty="0" smtClean="0"/>
              <a:t>l'œsophage, l'estomac  primitif, </a:t>
            </a:r>
            <a:r>
              <a:rPr lang="fr-FR" sz="2800" dirty="0"/>
              <a:t>l'appareil respiratoire. </a:t>
            </a:r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L'intestin </a:t>
            </a:r>
            <a:r>
              <a:rPr lang="fr-FR" sz="2800" b="1" dirty="0">
                <a:solidFill>
                  <a:srgbClr val="0070C0"/>
                </a:solidFill>
              </a:rPr>
              <a:t>primitif moyen </a:t>
            </a:r>
            <a:r>
              <a:rPr lang="fr-FR" sz="2800" dirty="0" smtClean="0">
                <a:solidFill>
                  <a:srgbClr val="FF0000"/>
                </a:solidFill>
              </a:rPr>
              <a:t>: </a:t>
            </a:r>
          </a:p>
          <a:p>
            <a:pPr lvl="0"/>
            <a:r>
              <a:rPr lang="fr-FR" sz="2800" dirty="0" smtClean="0"/>
              <a:t>pancréas </a:t>
            </a:r>
            <a:r>
              <a:rPr lang="fr-FR" sz="2800" dirty="0"/>
              <a:t>et </a:t>
            </a:r>
            <a:r>
              <a:rPr lang="fr-FR" sz="2800" dirty="0" smtClean="0"/>
              <a:t> foie, anse intestinale primitive </a:t>
            </a:r>
          </a:p>
          <a:p>
            <a:pPr lvl="0"/>
            <a:r>
              <a:rPr lang="fr-FR" sz="2800" dirty="0"/>
              <a:t> </a:t>
            </a:r>
            <a:r>
              <a:rPr lang="fr-FR" sz="2800" dirty="0" smtClean="0"/>
              <a:t>          (intestin </a:t>
            </a:r>
            <a:r>
              <a:rPr lang="fr-FR" sz="2800" dirty="0"/>
              <a:t>grêle et </a:t>
            </a:r>
            <a:r>
              <a:rPr lang="fr-FR" sz="2800" dirty="0" smtClean="0"/>
              <a:t>moitié </a:t>
            </a:r>
            <a:r>
              <a:rPr lang="fr-FR" sz="2800" dirty="0"/>
              <a:t>du gros </a:t>
            </a:r>
            <a:r>
              <a:rPr lang="fr-FR" sz="2800" dirty="0" smtClean="0"/>
              <a:t>intestin). </a:t>
            </a:r>
            <a:endParaRPr lang="fr-FR" sz="2800" dirty="0"/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L'intestin </a:t>
            </a:r>
            <a:r>
              <a:rPr lang="fr-FR" sz="2800" b="1" dirty="0">
                <a:solidFill>
                  <a:srgbClr val="0070C0"/>
                </a:solidFill>
              </a:rPr>
              <a:t>primitif postérieur </a:t>
            </a:r>
            <a:r>
              <a:rPr lang="fr-FR" sz="2800" b="1" dirty="0" smtClean="0">
                <a:solidFill>
                  <a:srgbClr val="0070C0"/>
                </a:solidFill>
              </a:rPr>
              <a:t>: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deuxième </a:t>
            </a:r>
            <a:r>
              <a:rPr lang="fr-FR" sz="2800" dirty="0"/>
              <a:t>moitié </a:t>
            </a:r>
            <a:r>
              <a:rPr lang="fr-FR" sz="2800" dirty="0" smtClean="0"/>
              <a:t>du  </a:t>
            </a:r>
            <a:r>
              <a:rPr lang="fr-FR" sz="2800" dirty="0"/>
              <a:t>gros intestin. </a:t>
            </a:r>
            <a:endParaRPr lang="fr-FR" sz="2800" dirty="0" smtClean="0"/>
          </a:p>
          <a:p>
            <a:pPr lvl="0"/>
            <a:r>
              <a:rPr lang="fr-FR" sz="2800" dirty="0" smtClean="0"/>
              <a:t>Son </a:t>
            </a:r>
            <a:r>
              <a:rPr lang="fr-FR" sz="2800" dirty="0"/>
              <a:t>extrémité se jette dans le cloaque, </a:t>
            </a:r>
            <a:r>
              <a:rPr lang="fr-FR" sz="2800" dirty="0" smtClean="0"/>
              <a:t>(</a:t>
            </a:r>
            <a:r>
              <a:rPr lang="fr-FR" sz="2800" dirty="0"/>
              <a:t>sinus </a:t>
            </a:r>
            <a:r>
              <a:rPr lang="fr-FR" sz="2800" dirty="0" smtClean="0"/>
              <a:t>uro-génital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dirty="0"/>
              <a:t>en avant et rectum en arrière). </a:t>
            </a:r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phoniatriestrasbourg.free.fr/Site_6/Processus_developpementaux_files/vv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32656"/>
            <a:ext cx="8208912" cy="604867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42" y="172125"/>
            <a:ext cx="8739515" cy="651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5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8642</TotalTime>
  <Words>493</Words>
  <Application>Microsoft Office PowerPoint</Application>
  <PresentationFormat>Affichage à l'écran (4:3)</PresentationFormat>
  <Paragraphs>215</Paragraphs>
  <Slides>32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6" baseType="lpstr">
      <vt:lpstr>Arial</vt:lpstr>
      <vt:lpstr>Calibri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49</cp:revision>
  <dcterms:created xsi:type="dcterms:W3CDTF">2014-12-28T17:06:51Z</dcterms:created>
  <dcterms:modified xsi:type="dcterms:W3CDTF">2025-11-27T18:38:27Z</dcterms:modified>
</cp:coreProperties>
</file>