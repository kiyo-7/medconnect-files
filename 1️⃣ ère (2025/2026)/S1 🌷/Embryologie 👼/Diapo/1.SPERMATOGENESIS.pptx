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0" r:id="rId1"/>
  </p:sldMasterIdLst>
  <p:notesMasterIdLst>
    <p:notesMasterId r:id="rId46"/>
  </p:notesMasterIdLst>
  <p:sldIdLst>
    <p:sldId id="326" r:id="rId2"/>
    <p:sldId id="346" r:id="rId3"/>
    <p:sldId id="343" r:id="rId4"/>
    <p:sldId id="327" r:id="rId5"/>
    <p:sldId id="353" r:id="rId6"/>
    <p:sldId id="347" r:id="rId7"/>
    <p:sldId id="329" r:id="rId8"/>
    <p:sldId id="348" r:id="rId9"/>
    <p:sldId id="328" r:id="rId10"/>
    <p:sldId id="330" r:id="rId11"/>
    <p:sldId id="354" r:id="rId12"/>
    <p:sldId id="349" r:id="rId13"/>
    <p:sldId id="331" r:id="rId14"/>
    <p:sldId id="332" r:id="rId15"/>
    <p:sldId id="355" r:id="rId16"/>
    <p:sldId id="333" r:id="rId17"/>
    <p:sldId id="350" r:id="rId18"/>
    <p:sldId id="335" r:id="rId19"/>
    <p:sldId id="284" r:id="rId20"/>
    <p:sldId id="351" r:id="rId21"/>
    <p:sldId id="356" r:id="rId22"/>
    <p:sldId id="270" r:id="rId23"/>
    <p:sldId id="345" r:id="rId24"/>
    <p:sldId id="358" r:id="rId25"/>
    <p:sldId id="340" r:id="rId26"/>
    <p:sldId id="281" r:id="rId27"/>
    <p:sldId id="282" r:id="rId28"/>
    <p:sldId id="359" r:id="rId29"/>
    <p:sldId id="319" r:id="rId30"/>
    <p:sldId id="360" r:id="rId31"/>
    <p:sldId id="361" r:id="rId32"/>
    <p:sldId id="362" r:id="rId33"/>
    <p:sldId id="337" r:id="rId34"/>
    <p:sldId id="338" r:id="rId35"/>
    <p:sldId id="344" r:id="rId36"/>
    <p:sldId id="363" r:id="rId37"/>
    <p:sldId id="320" r:id="rId38"/>
    <p:sldId id="322" r:id="rId39"/>
    <p:sldId id="296" r:id="rId40"/>
    <p:sldId id="297" r:id="rId41"/>
    <p:sldId id="364" r:id="rId42"/>
    <p:sldId id="299" r:id="rId43"/>
    <p:sldId id="365" r:id="rId44"/>
    <p:sldId id="298" r:id="rId4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43" autoAdjust="0"/>
  </p:normalViewPr>
  <p:slideViewPr>
    <p:cSldViewPr>
      <p:cViewPr varScale="1">
        <p:scale>
          <a:sx n="81" d="100"/>
          <a:sy n="81" d="100"/>
        </p:scale>
        <p:origin x="102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F6AC8-22A0-4347-AAA0-D2BF06A057F1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B848D-6FC9-4274-A270-6DAE05A5700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10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69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462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01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05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04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71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16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5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01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30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6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50C34-9AF1-472F-9926-446E8CA8DD28}" type="datetimeFigureOut">
              <a:rPr lang="fr-FR" smtClean="0"/>
              <a:pPr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7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Gam%C3%A8te" TargetMode="External"/><Relationship Id="rId3" Type="http://schemas.openxmlformats.org/officeDocument/2006/relationships/hyperlink" Target="https://fr.wikipedia.org/wiki/Testicule" TargetMode="External"/><Relationship Id="rId7" Type="http://schemas.openxmlformats.org/officeDocument/2006/relationships/hyperlink" Target="https://fr.wikipedia.org/wiki/Chromosome" TargetMode="External"/><Relationship Id="rId2" Type="http://schemas.openxmlformats.org/officeDocument/2006/relationships/hyperlink" Target="https://fr.wikipedia.org/wiki/Spermatozo%C3%AFd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.wikipedia.org/wiki/Diplo%C3%AFde" TargetMode="External"/><Relationship Id="rId5" Type="http://schemas.openxmlformats.org/officeDocument/2006/relationships/hyperlink" Target="https://fr.wikipedia.org/wiki/Cellule_souche" TargetMode="External"/><Relationship Id="rId4" Type="http://schemas.openxmlformats.org/officeDocument/2006/relationships/hyperlink" Target="https://fr.wikipedia.org/wiki/Spermatogonie" TargetMode="External"/><Relationship Id="rId9" Type="http://schemas.openxmlformats.org/officeDocument/2006/relationships/hyperlink" Target="https://fr.wikipedia.org/wiki/Haplo%C3%AFd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68" y="-37604"/>
            <a:ext cx="8747396" cy="69865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bg2"/>
                </a:solidFill>
              </a:rPr>
              <a:t>                 </a:t>
            </a:r>
            <a:r>
              <a:rPr lang="fr-FR" sz="2800" b="1" dirty="0" smtClean="0"/>
              <a:t>MODULE     EMBRYOLOGIE </a:t>
            </a:r>
            <a:r>
              <a:rPr lang="fr-FR" sz="2800" b="1" dirty="0"/>
              <a:t>GENERALE</a:t>
            </a:r>
          </a:p>
          <a:p>
            <a:r>
              <a:rPr lang="fr-FR" sz="2800" b="1" dirty="0" smtClean="0"/>
              <a:t>                                           General Embryology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SPERMATOGENESE  (Spermatogenesis)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PR HANNACHI-HECINI A</a:t>
            </a:r>
            <a:endParaRPr lang="fr-FR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57" y="2811641"/>
            <a:ext cx="3744416" cy="31432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73" y="2586684"/>
            <a:ext cx="4191000" cy="314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80"/>
            <a:ext cx="968456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Process of Spermatozoa </a:t>
            </a:r>
            <a:r>
              <a:rPr lang="fr-FR" sz="2800" b="1" dirty="0" smtClean="0"/>
              <a:t>Production</a:t>
            </a:r>
          </a:p>
          <a:p>
            <a:r>
              <a:rPr lang="fr-FR" sz="2800" dirty="0"/>
              <a:t/>
            </a:r>
            <a:br>
              <a:rPr lang="fr-FR" sz="2800" dirty="0"/>
            </a:br>
            <a:r>
              <a:rPr lang="fr-FR" sz="2800" b="1" dirty="0"/>
              <a:t>Location:</a:t>
            </a:r>
            <a:r>
              <a:rPr lang="fr-FR" sz="2800" dirty="0"/>
              <a:t> Seminiferous tubules of the testes.</a:t>
            </a:r>
            <a:br>
              <a:rPr lang="fr-FR" sz="2800" dirty="0"/>
            </a:br>
            <a:endParaRPr lang="fr-FR" sz="2800" dirty="0" smtClean="0"/>
          </a:p>
          <a:p>
            <a:r>
              <a:rPr lang="fr-FR" sz="2800" dirty="0" smtClean="0"/>
              <a:t>process </a:t>
            </a:r>
            <a:r>
              <a:rPr lang="fr-FR" sz="2800" dirty="0"/>
              <a:t>comprises four phases, starting from the spermatogonia, diploid stem cells (2n chromosomes), and leading to </a:t>
            </a:r>
            <a:r>
              <a:rPr lang="fr-FR" sz="2800" dirty="0" smtClean="0"/>
              <a:t>spermatozoid, </a:t>
            </a:r>
            <a:r>
              <a:rPr lang="fr-FR" sz="2800" dirty="0"/>
              <a:t>haploid male gametes (n chromosomes</a:t>
            </a:r>
            <a:r>
              <a:rPr lang="fr-FR" sz="2800" dirty="0" smtClean="0"/>
              <a:t>).</a:t>
            </a:r>
          </a:p>
          <a:p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Multiplication </a:t>
            </a:r>
            <a:r>
              <a:rPr lang="fr-FR" sz="2800" dirty="0" smtClean="0"/>
              <a:t>phase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Growth </a:t>
            </a:r>
            <a:r>
              <a:rPr lang="fr-FR" sz="2800" dirty="0" smtClean="0"/>
              <a:t>phase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Maturation </a:t>
            </a:r>
            <a:r>
              <a:rPr lang="fr-FR" sz="2800" dirty="0" smtClean="0"/>
              <a:t>phase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Differentiation phase</a:t>
            </a:r>
          </a:p>
        </p:txBody>
      </p:sp>
    </p:spTree>
    <p:extLst>
      <p:ext uri="{BB962C8B-B14F-4D97-AF65-F5344CB8AC3E}">
        <p14:creationId xmlns:p14="http://schemas.microsoft.com/office/powerpoint/2010/main" val="38566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-20615" y="382558"/>
            <a:ext cx="7638951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/>
            <a:endParaRPr lang="fr-FR" sz="2800" dirty="0" smtClean="0">
              <a:cs typeface="Calibri" panose="020F0502020204030204" pitchFamily="34" charset="0"/>
            </a:endParaRPr>
          </a:p>
          <a:p>
            <a:r>
              <a:rPr lang="fr-FR" sz="2800" dirty="0" smtClean="0">
                <a:cs typeface="Calibri" panose="020F0502020204030204" pitchFamily="34" charset="0"/>
              </a:rPr>
              <a:t> Processus de production des </a:t>
            </a:r>
            <a:r>
              <a:rPr lang="fr-FR" sz="2800" u="sng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u="sng" dirty="0" smtClean="0">
                <a:cs typeface="Calibri" panose="020F0502020204030204" pitchFamily="34" charset="0"/>
              </a:rPr>
              <a:t>,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Lieu: tubes séminifères des </a:t>
            </a:r>
            <a:r>
              <a:rPr lang="fr-FR" sz="2800" dirty="0" smtClean="0">
                <a:cs typeface="Calibri" panose="020F0502020204030204" pitchFamily="34" charset="0"/>
                <a:hlinkClick r:id="rId3" tooltip="Testicule"/>
              </a:rPr>
              <a:t>testicules</a:t>
            </a:r>
            <a:r>
              <a:rPr lang="fr-FR" sz="2800" dirty="0" smtClean="0"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 Englobe 4 phases:  depuis les </a:t>
            </a:r>
            <a:r>
              <a:rPr lang="fr-FR" sz="2800" dirty="0" smtClean="0">
                <a:cs typeface="Calibri" panose="020F0502020204030204" pitchFamily="34" charset="0"/>
                <a:hlinkClick r:id="rId4" tooltip="Spermatogonie"/>
              </a:rPr>
              <a:t>spermatogonies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5" tooltip="Cellule souche"/>
              </a:rPr>
              <a:t>cellules souches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6" tooltip="Diploïde"/>
              </a:rPr>
              <a:t>diploïdes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(</a:t>
            </a:r>
            <a:r>
              <a:rPr lang="fr-FR" sz="2800" dirty="0" smtClean="0">
                <a:cs typeface="Calibri" panose="020F0502020204030204" pitchFamily="34" charset="0"/>
              </a:rPr>
              <a:t>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2n </a:t>
            </a:r>
            <a:r>
              <a:rPr lang="fr-FR" sz="2800" b="1" dirty="0" smtClean="0">
                <a:solidFill>
                  <a:srgbClr val="FFFFFF"/>
                </a:solidFill>
                <a:cs typeface="Calibri" panose="020F0502020204030204" pitchFamily="34" charset="0"/>
                <a:hlinkClick r:id="rId7" tooltip="Chromosome"/>
              </a:rPr>
              <a:t>chr</a:t>
            </a:r>
            <a:r>
              <a:rPr lang="fr-FR" sz="2800" dirty="0" smtClean="0">
                <a:cs typeface="Calibri" panose="020F0502020204030204" pitchFamily="34" charset="0"/>
              </a:rPr>
              <a:t>),  Jusqu’aux  </a:t>
            </a:r>
          </a:p>
          <a:p>
            <a:r>
              <a:rPr lang="fr-FR" sz="2800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  <a:r>
              <a:rPr lang="fr-FR" sz="2800" dirty="0" smtClean="0">
                <a:cs typeface="Calibri" panose="020F0502020204030204" pitchFamily="34" charset="0"/>
                <a:hlinkClick r:id="rId8" tooltip="Gamète"/>
              </a:rPr>
              <a:t>gamètes</a:t>
            </a:r>
            <a:r>
              <a:rPr lang="fr-FR" sz="2800" dirty="0" smtClean="0">
                <a:cs typeface="Calibri" panose="020F0502020204030204" pitchFamily="34" charset="0"/>
              </a:rPr>
              <a:t> mâles </a:t>
            </a:r>
            <a:r>
              <a:rPr lang="fr-FR" sz="2800" dirty="0" smtClean="0">
                <a:cs typeface="Calibri" panose="020F0502020204030204" pitchFamily="34" charset="0"/>
                <a:hlinkClick r:id="rId9" tooltip="Haploïde"/>
              </a:rPr>
              <a:t>haploïdes</a:t>
            </a:r>
            <a:r>
              <a:rPr lang="fr-FR" sz="2800" dirty="0" smtClean="0">
                <a:cs typeface="Calibri" panose="020F0502020204030204" pitchFamily="34" charset="0"/>
              </a:rPr>
              <a:t> 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n chr</a:t>
            </a:r>
            <a:r>
              <a:rPr lang="fr-FR" sz="2800" dirty="0" smtClean="0">
                <a:cs typeface="Calibri" panose="020F0502020204030204" pitchFamily="34" charset="0"/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multiplication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d’accroissement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maturation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différenciation </a:t>
            </a:r>
          </a:p>
          <a:p>
            <a:endParaRPr lang="fr-FR" sz="2800" b="1" dirty="0" smtClean="0"/>
          </a:p>
          <a:p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88726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407626" y="6396335"/>
            <a:ext cx="11724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4663"/>
            <a:ext cx="7848872" cy="599167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379186" y="6396334"/>
            <a:ext cx="4056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Male reproductive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978321" y="6396335"/>
            <a:ext cx="50433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Système reproducteur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masculin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Image 7" descr="Anatomie et physiologie de l'appareil génital mascul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280920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58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8640"/>
            <a:ext cx="8639801" cy="6124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                         Structure </a:t>
            </a:r>
            <a:r>
              <a:rPr lang="fr-FR" sz="2800" b="1" dirty="0"/>
              <a:t>of the Male Reproductive </a:t>
            </a:r>
            <a:r>
              <a:rPr lang="fr-FR" sz="2800" b="1" dirty="0" smtClean="0"/>
              <a:t>System</a:t>
            </a:r>
          </a:p>
          <a:p>
            <a:r>
              <a:rPr lang="fr-FR" sz="2800" b="1" dirty="0" smtClean="0"/>
              <a:t>External </a:t>
            </a:r>
            <a:r>
              <a:rPr lang="fr-FR" sz="2800" b="1" dirty="0"/>
              <a:t>Genital Organs</a:t>
            </a:r>
            <a:r>
              <a:rPr lang="fr-FR" sz="2800" b="1" dirty="0" smtClean="0"/>
              <a:t>:</a:t>
            </a:r>
          </a:p>
          <a:p>
            <a:r>
              <a:rPr lang="fr-FR" sz="2800" dirty="0" smtClean="0"/>
              <a:t>Penis</a:t>
            </a:r>
          </a:p>
          <a:p>
            <a:r>
              <a:rPr lang="fr-FR" sz="2800" dirty="0" smtClean="0"/>
              <a:t>Scrotum</a:t>
            </a:r>
          </a:p>
          <a:p>
            <a:r>
              <a:rPr lang="fr-FR" sz="2800" b="1" dirty="0" smtClean="0"/>
              <a:t>Gonads:</a:t>
            </a:r>
          </a:p>
          <a:p>
            <a:r>
              <a:rPr lang="fr-FR" sz="2800" dirty="0" smtClean="0"/>
              <a:t>Testes</a:t>
            </a:r>
          </a:p>
          <a:p>
            <a:r>
              <a:rPr lang="fr-FR" sz="2800" b="1" dirty="0" smtClean="0"/>
              <a:t>Genital Ducts:</a:t>
            </a:r>
          </a:p>
          <a:p>
            <a:r>
              <a:rPr lang="fr-FR" sz="2800" dirty="0" smtClean="0"/>
              <a:t>Epididymis</a:t>
            </a:r>
          </a:p>
          <a:p>
            <a:r>
              <a:rPr lang="fr-FR" sz="2800" dirty="0" smtClean="0"/>
              <a:t>Vas deferens</a:t>
            </a:r>
          </a:p>
          <a:p>
            <a:r>
              <a:rPr lang="fr-FR" sz="2800" dirty="0" smtClean="0"/>
              <a:t>Ejaculatory </a:t>
            </a:r>
            <a:r>
              <a:rPr lang="fr-FR" sz="2800" dirty="0"/>
              <a:t>duct and </a:t>
            </a:r>
            <a:r>
              <a:rPr lang="fr-FR" sz="2800" dirty="0" smtClean="0"/>
              <a:t>urethra</a:t>
            </a:r>
          </a:p>
          <a:p>
            <a:r>
              <a:rPr lang="fr-FR" sz="2800" b="1" dirty="0" smtClean="0"/>
              <a:t>Accessory </a:t>
            </a:r>
            <a:r>
              <a:rPr lang="fr-FR" sz="2800" b="1" dirty="0"/>
              <a:t>Glands</a:t>
            </a:r>
            <a:r>
              <a:rPr lang="fr-FR" sz="2800" b="1" dirty="0" smtClean="0"/>
              <a:t>:</a:t>
            </a:r>
          </a:p>
          <a:p>
            <a:r>
              <a:rPr lang="fr-FR" sz="2800" dirty="0" smtClean="0"/>
              <a:t>Seminal vesicles</a:t>
            </a:r>
          </a:p>
          <a:p>
            <a:r>
              <a:rPr lang="fr-FR" sz="2800" dirty="0" smtClean="0"/>
              <a:t>Prostate gland</a:t>
            </a:r>
          </a:p>
          <a:p>
            <a:r>
              <a:rPr lang="fr-FR" sz="2800" dirty="0" smtClean="0"/>
              <a:t>Cowper’s </a:t>
            </a:r>
            <a:r>
              <a:rPr lang="fr-FR" sz="2800" dirty="0"/>
              <a:t>glands (bulbourethral glands)</a:t>
            </a:r>
          </a:p>
        </p:txBody>
      </p:sp>
    </p:spTree>
    <p:extLst>
      <p:ext uri="{BB962C8B-B14F-4D97-AF65-F5344CB8AC3E}">
        <p14:creationId xmlns:p14="http://schemas.microsoft.com/office/powerpoint/2010/main" val="168248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79512" y="-893223"/>
            <a:ext cx="9144000" cy="827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Organes génitaux externes </a:t>
            </a: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Pénis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Scrotum. 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Gonades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Testicules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Voies génitales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Epididyme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Conduit déférent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Canal éjaculateur et urètre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Glandes annexes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Vésicules séminales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Prostate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Glandes de Cowper (bulbo-urétrales)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188640"/>
            <a:ext cx="700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91450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Functions of the Male Reproductive </a:t>
            </a:r>
            <a:r>
              <a:rPr lang="fr-FR" sz="2800" b="1" dirty="0" smtClean="0"/>
              <a:t>System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 smtClean="0"/>
              <a:t>Exocrine </a:t>
            </a:r>
            <a:r>
              <a:rPr lang="fr-FR" sz="2800" b="1" dirty="0"/>
              <a:t>function: </a:t>
            </a:r>
            <a:r>
              <a:rPr lang="fr-FR" sz="2800" dirty="0"/>
              <a:t>the release of </a:t>
            </a:r>
            <a:r>
              <a:rPr lang="fr-FR" sz="2800" dirty="0" smtClean="0"/>
              <a:t>spermatozoid.</a:t>
            </a:r>
          </a:p>
          <a:p>
            <a:endParaRPr lang="fr-FR" sz="2800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Endocrine </a:t>
            </a:r>
            <a:r>
              <a:rPr lang="fr-FR" sz="2800" b="1" dirty="0"/>
              <a:t>function: </a:t>
            </a:r>
            <a:r>
              <a:rPr lang="fr-FR" sz="2800" dirty="0"/>
              <a:t>the production of male </a:t>
            </a:r>
            <a:r>
              <a:rPr lang="fr-FR" sz="2800" dirty="0" smtClean="0"/>
              <a:t>hormones</a:t>
            </a:r>
          </a:p>
          <a:p>
            <a:r>
              <a:rPr lang="fr-FR" sz="2800" dirty="0" smtClean="0"/>
              <a:t>, </a:t>
            </a:r>
            <a:r>
              <a:rPr lang="fr-FR" sz="2800" dirty="0"/>
              <a:t>primarily testosterone.</a:t>
            </a:r>
          </a:p>
        </p:txBody>
      </p:sp>
    </p:spTree>
    <p:extLst>
      <p:ext uri="{BB962C8B-B14F-4D97-AF65-F5344CB8AC3E}">
        <p14:creationId xmlns:p14="http://schemas.microsoft.com/office/powerpoint/2010/main" val="292284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1576"/>
            <a:ext cx="8064896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200" dirty="0"/>
          </a:p>
          <a:p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exocrine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l'émission des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spermatozoïdes.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endocrine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la production d'hormones sexuelles mâles (principalement la testostérone).</a:t>
            </a:r>
          </a:p>
          <a:p>
            <a:endParaRPr lang="fr-FR" sz="28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28221"/>
            <a:ext cx="6999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Fonctions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Glands associated with the male reproductive system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/>
              <a:t>Seminal vesicles: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Vesicular glands,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Opening </a:t>
            </a:r>
            <a:r>
              <a:rPr lang="fr-FR" sz="2800" dirty="0"/>
              <a:t>into the prostate to connect to the vas </a:t>
            </a:r>
            <a:r>
              <a:rPr lang="fr-FR" sz="2800" dirty="0" smtClean="0"/>
              <a:t>deferens,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Produce </a:t>
            </a:r>
            <a:r>
              <a:rPr lang="fr-FR" sz="2800" dirty="0"/>
              <a:t>a fluid rich in fructose.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/>
              <a:t>Prostate</a:t>
            </a:r>
            <a:r>
              <a:rPr lang="fr-FR" sz="2800" dirty="0"/>
              <a:t>:</a:t>
            </a:r>
          </a:p>
          <a:p>
            <a:r>
              <a:rPr lang="fr-FR" sz="2800" dirty="0" smtClean="0"/>
              <a:t>- Exocrine </a:t>
            </a:r>
            <a:r>
              <a:rPr lang="fr-FR" sz="2800" dirty="0"/>
              <a:t>gland</a:t>
            </a:r>
            <a:r>
              <a:rPr lang="fr-FR" sz="2800" dirty="0" smtClean="0"/>
              <a:t>. </a:t>
            </a:r>
          </a:p>
          <a:p>
            <a:r>
              <a:rPr lang="fr-FR" sz="2800" dirty="0" smtClean="0"/>
              <a:t>- Secretes </a:t>
            </a:r>
            <a:r>
              <a:rPr lang="fr-FR" sz="2800" dirty="0"/>
              <a:t>a portion of the seminal fluid and stores it.</a:t>
            </a:r>
          </a:p>
          <a:p>
            <a:r>
              <a:rPr lang="fr-FR" sz="2800" dirty="0" smtClean="0"/>
              <a:t>- Its </a:t>
            </a:r>
            <a:r>
              <a:rPr lang="fr-FR" sz="2800" dirty="0"/>
              <a:t>alkaline pH neutralizes the acidity of the seminal fluid.</a:t>
            </a:r>
          </a:p>
          <a:p>
            <a:r>
              <a:rPr lang="fr-FR" sz="2800" dirty="0" smtClean="0"/>
              <a:t>- Rich </a:t>
            </a:r>
            <a:r>
              <a:rPr lang="fr-FR" sz="2800" dirty="0"/>
              <a:t>in zinc, which has bactericidal properties.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/>
              <a:t>Cowper's glands:</a:t>
            </a:r>
          </a:p>
          <a:p>
            <a:r>
              <a:rPr lang="fr-FR" sz="2800" dirty="0" smtClean="0"/>
              <a:t>- Located </a:t>
            </a:r>
            <a:r>
              <a:rPr lang="fr-FR" sz="2800" dirty="0"/>
              <a:t>on either side of the urethra</a:t>
            </a:r>
          </a:p>
          <a:p>
            <a:r>
              <a:rPr lang="fr-FR" sz="2800" dirty="0" smtClean="0"/>
              <a:t>- Called </a:t>
            </a:r>
            <a:r>
              <a:rPr lang="fr-FR" sz="2800" dirty="0"/>
              <a:t>bulbourethral glands</a:t>
            </a:r>
          </a:p>
          <a:p>
            <a:r>
              <a:rPr lang="fr-FR" sz="2800" dirty="0" smtClean="0"/>
              <a:t>- Act </a:t>
            </a:r>
            <a:r>
              <a:rPr lang="fr-FR" sz="2800" dirty="0"/>
              <a:t>as a lubricant before ejaculation.</a:t>
            </a:r>
          </a:p>
          <a:p>
            <a:r>
              <a:rPr lang="fr-FR" sz="2800" dirty="0" smtClean="0"/>
              <a:t>- Produce </a:t>
            </a:r>
            <a:r>
              <a:rPr lang="fr-FR" sz="2800" dirty="0"/>
              <a:t>an alkaline fluid that neutralizes the acidity in the urethra.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Les glandes annexes à l’appareil reproducteur masculin</a:t>
            </a:r>
          </a:p>
          <a:p>
            <a:r>
              <a:rPr lang="fr-FR" sz="2800" b="1" dirty="0" smtClean="0"/>
              <a:t>Vésicules séminales :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dirty="0" smtClean="0"/>
              <a:t>glandes vésiculeuses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débouchant dans la prostate pour se relier aux canaux déférents.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produisent un liquide riche en fructose. </a:t>
            </a:r>
          </a:p>
          <a:p>
            <a:r>
              <a:rPr lang="fr-FR" sz="2800" b="1" dirty="0" smtClean="0"/>
              <a:t>Prostate: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Glande exocrine.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Sécrète une partie du liquide séminal et le stocke.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son PH alcalin neutralise l’acidité du liquide séminal.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riche en Zinc, qui a un pouvoir bactéricide;</a:t>
            </a:r>
          </a:p>
          <a:p>
            <a:r>
              <a:rPr lang="fr-FR" sz="2800" b="1" dirty="0" smtClean="0"/>
              <a:t>Glandes de Cowper </a:t>
            </a:r>
            <a:r>
              <a:rPr lang="fr-FR" sz="2800" dirty="0" smtClean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situées de chaque côté de l'urètre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appelées glandes bulbo-urétrales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Ont un rôle de lubrifiant avant l'éjaculation.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élaborent un fluide alcalin qui neutralise  l’acidité au niveau de l’urètre 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2288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6632"/>
            <a:ext cx="8496944" cy="5976664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419872" y="6309320"/>
            <a:ext cx="3419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Structure of the testis</a:t>
            </a:r>
          </a:p>
        </p:txBody>
      </p:sp>
    </p:spTree>
    <p:extLst>
      <p:ext uri="{BB962C8B-B14F-4D97-AF65-F5344CB8AC3E}">
        <p14:creationId xmlns:p14="http://schemas.microsoft.com/office/powerpoint/2010/main" val="520802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3995936" y="6093296"/>
            <a:ext cx="3828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du testicule</a:t>
            </a:r>
            <a:endParaRPr lang="fr-FR" sz="2800" b="1" dirty="0"/>
          </a:p>
        </p:txBody>
      </p:sp>
      <p:pic>
        <p:nvPicPr>
          <p:cNvPr id="2050" name="Picture 2" descr="Screenshot 2024-09-20 at 21-23-37 Les testicules Société canadienne du canc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748463" cy="623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-4763"/>
            <a:ext cx="8568952" cy="631408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763688" y="6309320"/>
            <a:ext cx="6267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spermatogenesis in seminiferous tubules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www.bio-top.net/Schemas/Spermatogenese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76672"/>
            <a:ext cx="8172400" cy="5166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678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196752"/>
            <a:ext cx="3960439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6752"/>
            <a:ext cx="3843936" cy="439248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234" y="5877272"/>
            <a:ext cx="3505504" cy="7498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32"/>
            <a:ext cx="56521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Cells involved in </a:t>
            </a:r>
            <a:r>
              <a:rPr lang="fr-FR" sz="2800" b="1" dirty="0" smtClean="0"/>
              <a:t>spermatogenesis</a:t>
            </a:r>
          </a:p>
          <a:p>
            <a:r>
              <a:rPr lang="fr-FR" sz="2800" b="1" dirty="0" smtClean="0"/>
              <a:t>Germ </a:t>
            </a:r>
            <a:r>
              <a:rPr lang="fr-FR" sz="2800" b="1" dirty="0"/>
              <a:t>Cells (the germen):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Spermatogonia (Sg)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Primary spermatocytes (SI)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Secondary spermatocytes (SII)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Spermatids (Sp)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 smtClean="0"/>
              <a:t>Spermatozoid </a:t>
            </a:r>
            <a:r>
              <a:rPr lang="fr-FR" sz="2800" dirty="0"/>
              <a:t>(Spz)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Somatic </a:t>
            </a:r>
            <a:r>
              <a:rPr lang="fr-FR" sz="2800" b="1" dirty="0"/>
              <a:t>Cells (the soma):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Sertoli cells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3975143"/>
            <a:ext cx="5616624" cy="288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98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Cellules impliquées dans la spermatogénèse</a:t>
            </a:r>
          </a:p>
          <a:p>
            <a:endParaRPr lang="fr-FR" sz="2800" b="1" dirty="0" smtClean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de la lignée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germinale: le germen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-Spermatogonies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Sg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primaires 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 I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secondaires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(S II)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 Spermatides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Spz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Tx/>
              <a:buChar char="-"/>
            </a:pP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somatiques: le soma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 Cellules de Sertoli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3378" y="143377"/>
            <a:ext cx="939653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Structure of the </a:t>
            </a:r>
            <a:r>
              <a:rPr lang="fr-FR" sz="2800" b="1" dirty="0" smtClean="0"/>
              <a:t>spermatozoid</a:t>
            </a:r>
            <a:endParaRPr lang="fr-FR" sz="2800" b="1" dirty="0"/>
          </a:p>
          <a:p>
            <a:r>
              <a:rPr lang="fr-FR" sz="2800" b="1" dirty="0"/>
              <a:t>Head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Nucleus + Acrosome</a:t>
            </a:r>
          </a:p>
          <a:p>
            <a:r>
              <a:rPr lang="fr-FR" sz="2800" b="1" dirty="0"/>
              <a:t>Neck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Basal plate + Capitellum + Centriole</a:t>
            </a:r>
          </a:p>
          <a:p>
            <a:r>
              <a:rPr lang="fr-FR" sz="2800" b="1" dirty="0"/>
              <a:t>Flagellum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i="1" dirty="0"/>
              <a:t>Middle piece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Cytoplasmic membrane + Mitochondrial sheath + Dense fibers + Axoneme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i="1" dirty="0"/>
              <a:t>Principal piece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Cytoplasmic membrane + Fibrous sheath + Dense fibers + Axoneme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i="1" dirty="0"/>
              <a:t>End piece</a:t>
            </a: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Cytoplasmic membrane + Axoneme</a:t>
            </a:r>
          </a:p>
        </p:txBody>
      </p:sp>
      <p:sp>
        <p:nvSpPr>
          <p:cNvPr id="19458" name="AutoShape 2" descr="Résultat de recherche d'images pour &quot;SPERMATOGENES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0648"/>
            <a:ext cx="8964488" cy="64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3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3378" y="143377"/>
            <a:ext cx="9396536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     </a:t>
            </a:r>
            <a:r>
              <a:rPr lang="fr-F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La tête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 + Acrosome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col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Lame basale + Capitellum + Centriole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flagelle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intermédiaire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mitochondriale + fibres denses 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principale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fibreuse + fibres denses 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terminale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axonème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dirty="0" smtClean="0"/>
              <a:t>  </a:t>
            </a:r>
          </a:p>
          <a:p>
            <a:endParaRPr lang="fr-FR" sz="3200" b="1" dirty="0"/>
          </a:p>
        </p:txBody>
      </p:sp>
      <p:sp>
        <p:nvSpPr>
          <p:cNvPr id="19458" name="AutoShape 2" descr="Résultat de recherche d'images pour &quot;SPERMATOGENES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75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ttp://moodle.univ-brest.fr/medecine/public/sites/Serveur_2009/Embryologie/Emb_gen/E_gamet/Dgamszm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16540"/>
            <a:ext cx="2306603" cy="5588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216541"/>
            <a:ext cx="1889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TETE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COU   COL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FLAGELLE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180859" y="362002"/>
            <a:ext cx="1432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ACROSOME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3909" y="1169116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INTERMEDIAIRE</a:t>
            </a:r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PRINCIPALE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TERMINALE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627784" y="5805264"/>
            <a:ext cx="309123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</a:t>
            </a:r>
            <a:endParaRPr lang="fr-FR" sz="20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539445" y="2122749"/>
            <a:ext cx="6019326" cy="2497832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331640" y="6021288"/>
            <a:ext cx="3820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Structure du spermatozoïde</a:t>
            </a:r>
            <a:endParaRPr lang="fr-FR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205697" y="6262343"/>
            <a:ext cx="597666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0225" indent="-1800225"/>
            <a:r>
              <a:rPr lang="fr-FR" sz="3200" b="1" dirty="0" smtClean="0">
                <a:solidFill>
                  <a:srgbClr val="00B050"/>
                </a:solidFill>
              </a:rPr>
              <a:t>          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Ultrastructure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spermatozoide</a:t>
            </a:r>
          </a:p>
          <a:p>
            <a:pPr marL="1800225" indent="-1800225"/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Coupe longitudinale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-171400"/>
            <a:ext cx="7704856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0"/>
            <a:ext cx="8784976" cy="71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3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397110" y="6253415"/>
            <a:ext cx="4421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Les phases de la spermatogenèse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717209"/>
            <a:ext cx="26968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Spermatogonie A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979712" y="840046"/>
            <a:ext cx="632288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</a:t>
            </a:r>
          </a:p>
          <a:p>
            <a:r>
              <a:rPr lang="fr-FR" sz="3200" dirty="0" smtClean="0"/>
              <a:t>                </a:t>
            </a:r>
          </a:p>
          <a:p>
            <a:r>
              <a:rPr lang="fr-FR" sz="3200" dirty="0" smtClean="0"/>
              <a:t>                  </a:t>
            </a:r>
            <a:r>
              <a:rPr lang="fr-FR" sz="2800" dirty="0" smtClean="0"/>
              <a:t>Spermatogonie A1  (Ad : dark) </a:t>
            </a:r>
          </a:p>
          <a:p>
            <a:r>
              <a:rPr lang="fr-FR" sz="2800" dirty="0" smtClean="0"/>
              <a:t>                             </a:t>
            </a:r>
          </a:p>
          <a:p>
            <a:r>
              <a:rPr lang="fr-FR" sz="2800" dirty="0" smtClean="0"/>
              <a:t>                  </a:t>
            </a:r>
          </a:p>
          <a:p>
            <a:r>
              <a:rPr lang="fr-FR" sz="2800" dirty="0" smtClean="0"/>
              <a:t>                   Spermatogonie A2   (Ap : pale)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45661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Phases de la spermatogenèse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 1 Phase de multiplication</a:t>
            </a:r>
            <a:endParaRPr lang="fr-FR" sz="2800" dirty="0">
              <a:solidFill>
                <a:srgbClr val="0070C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3942" y="3976517"/>
            <a:ext cx="8964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1 Spematogonie A2                           2 Spermatogonies B</a:t>
            </a:r>
            <a:endParaRPr lang="fr-FR" sz="2800" dirty="0"/>
          </a:p>
        </p:txBody>
      </p:sp>
      <p:sp>
        <p:nvSpPr>
          <p:cNvPr id="7" name="Flèche gauche 6"/>
          <p:cNvSpPr/>
          <p:nvPr/>
        </p:nvSpPr>
        <p:spPr>
          <a:xfrm rot="10800000">
            <a:off x="3521051" y="426589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Flèche gauche 9"/>
          <p:cNvSpPr/>
          <p:nvPr/>
        </p:nvSpPr>
        <p:spPr>
          <a:xfrm rot="12761858">
            <a:off x="2834511" y="2954364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96020" y="5111575"/>
            <a:ext cx="30303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1 Spermatogonie B </a:t>
            </a:r>
            <a:endParaRPr lang="fr-FR" sz="2800" dirty="0"/>
          </a:p>
        </p:txBody>
      </p:sp>
      <p:sp>
        <p:nvSpPr>
          <p:cNvPr id="12" name="Flèche gauche 11"/>
          <p:cNvSpPr/>
          <p:nvPr/>
        </p:nvSpPr>
        <p:spPr>
          <a:xfrm rot="10800000">
            <a:off x="3524519" y="537318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139288" y="5196731"/>
            <a:ext cx="2895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2 SpermatocyteS I </a:t>
            </a:r>
            <a:endParaRPr lang="fr-FR" sz="2800" dirty="0"/>
          </a:p>
        </p:txBody>
      </p:sp>
      <p:sp>
        <p:nvSpPr>
          <p:cNvPr id="15" name="Flèche gauche 14"/>
          <p:cNvSpPr/>
          <p:nvPr/>
        </p:nvSpPr>
        <p:spPr>
          <a:xfrm rot="8663255">
            <a:off x="2922593" y="2149777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06084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963488"/>
            <a:ext cx="716747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                  </a:t>
            </a:r>
          </a:p>
          <a:p>
            <a:endParaRPr lang="fr-FR" sz="3200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2 Phase d’accroissement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2 spermatocytes I                                 2 auxocytes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124744"/>
            <a:ext cx="501278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3 Phase de maturation  (méiose)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2424664"/>
            <a:ext cx="26859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dirty="0" smtClean="0"/>
          </a:p>
          <a:p>
            <a:r>
              <a:rPr lang="fr-FR" sz="3200" dirty="0" smtClean="0"/>
              <a:t>1 </a:t>
            </a:r>
            <a:r>
              <a:rPr lang="fr-FR" sz="2800" dirty="0" smtClean="0"/>
              <a:t>Spermatocyte I</a:t>
            </a:r>
            <a:endParaRPr lang="fr-FR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4702303" y="2875291"/>
            <a:ext cx="37503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2 Spermatocytes </a:t>
            </a:r>
            <a:r>
              <a:rPr lang="fr-FR" sz="3200" dirty="0" smtClean="0"/>
              <a:t>II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2137187" y="3086961"/>
            <a:ext cx="3005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400" b="1" dirty="0" smtClean="0">
                <a:solidFill>
                  <a:srgbClr val="0070C0"/>
                </a:solidFill>
              </a:rPr>
              <a:t>Mitose réductionnelle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1" name="Flèche gauche 10"/>
          <p:cNvSpPr/>
          <p:nvPr/>
        </p:nvSpPr>
        <p:spPr>
          <a:xfrm rot="10800000">
            <a:off x="3054904" y="1082353"/>
            <a:ext cx="1800200" cy="133859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0" y="4077072"/>
            <a:ext cx="2738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Spermatocyte II</a:t>
            </a:r>
            <a:endParaRPr lang="fr-FR" sz="28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563888" y="3717032"/>
            <a:ext cx="39387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</a:t>
            </a:r>
          </a:p>
          <a:p>
            <a:r>
              <a:rPr lang="fr-FR" sz="3200" dirty="0" smtClean="0"/>
              <a:t>         </a:t>
            </a:r>
            <a:r>
              <a:rPr lang="fr-FR" sz="2800" dirty="0" smtClean="0"/>
              <a:t>2 Spermatides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  <a:p>
            <a:r>
              <a:rPr lang="fr-FR" sz="3200" dirty="0" smtClean="0"/>
              <a:t>    </a:t>
            </a:r>
            <a:endParaRPr lang="fr-FR" sz="3200" dirty="0"/>
          </a:p>
        </p:txBody>
      </p:sp>
      <p:sp>
        <p:nvSpPr>
          <p:cNvPr id="16" name="Flèche gauche 15"/>
          <p:cNvSpPr/>
          <p:nvPr/>
        </p:nvSpPr>
        <p:spPr>
          <a:xfrm rot="10800000">
            <a:off x="3419872" y="3140968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gauche 16"/>
          <p:cNvSpPr/>
          <p:nvPr/>
        </p:nvSpPr>
        <p:spPr>
          <a:xfrm rot="10800000">
            <a:off x="3419872" y="4365104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2051720" y="4941168"/>
            <a:ext cx="2921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Mitose équationnelle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5445224"/>
            <a:ext cx="4063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4 Phase de différenciation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899592" y="5886763"/>
            <a:ext cx="6623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Spermatide                         1 Spermatozoide</a:t>
            </a:r>
            <a:endParaRPr lang="fr-FR" sz="2800" dirty="0"/>
          </a:p>
        </p:txBody>
      </p:sp>
      <p:sp>
        <p:nvSpPr>
          <p:cNvPr id="21" name="Flèche gauche 20"/>
          <p:cNvSpPr/>
          <p:nvPr/>
        </p:nvSpPr>
        <p:spPr>
          <a:xfrm rot="10800000">
            <a:off x="3347864" y="6093296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483768" y="6273225"/>
            <a:ext cx="214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Spermiogenèse</a:t>
            </a:r>
            <a:endParaRPr lang="fr-F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8208912" cy="6264696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915816" y="6669360"/>
            <a:ext cx="2822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SPERMIOGENESIS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570422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820472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4557" y="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Sperm </a:t>
            </a:r>
            <a:r>
              <a:rPr lang="fr-FR" sz="2800" b="1" dirty="0" smtClean="0"/>
              <a:t>Pathway</a:t>
            </a:r>
            <a:endParaRPr lang="fr-FR" sz="2800" b="1" dirty="0"/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Sperm are produced and formed in the testes</a:t>
            </a:r>
            <a:r>
              <a:rPr lang="fr-FR" sz="2800" dirty="0" smtClean="0"/>
              <a:t>, then </a:t>
            </a:r>
            <a:r>
              <a:rPr lang="fr-FR" sz="2800" dirty="0"/>
              <a:t>released into the epididymis</a:t>
            </a:r>
            <a:r>
              <a:rPr lang="fr-FR" sz="2800" dirty="0" smtClean="0"/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They </a:t>
            </a:r>
            <a:r>
              <a:rPr lang="fr-FR" sz="2800" dirty="0"/>
              <a:t>first pass from the rete testis to the head of the epididymis</a:t>
            </a:r>
            <a:r>
              <a:rPr lang="fr-FR" sz="2800" dirty="0" smtClean="0"/>
              <a:t>, then </a:t>
            </a:r>
            <a:r>
              <a:rPr lang="fr-FR" sz="2800" dirty="0"/>
              <a:t>into the efferent cones, which continue through the </a:t>
            </a:r>
            <a:r>
              <a:rPr lang="fr-FR" sz="2800" dirty="0" smtClean="0"/>
              <a:t>duct of </a:t>
            </a:r>
            <a:r>
              <a:rPr lang="fr-FR" sz="2800" dirty="0"/>
              <a:t>the epididymis</a:t>
            </a:r>
            <a:r>
              <a:rPr lang="fr-FR" sz="2800" dirty="0" smtClean="0"/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Gametes </a:t>
            </a:r>
            <a:r>
              <a:rPr lang="fr-FR" sz="2800" dirty="0"/>
              <a:t>are modified throughout their journey through </a:t>
            </a:r>
            <a:r>
              <a:rPr lang="fr-FR" sz="2800" dirty="0" smtClean="0"/>
              <a:t>the genital </a:t>
            </a:r>
            <a:r>
              <a:rPr lang="fr-FR" sz="2800" dirty="0"/>
              <a:t>tract</a:t>
            </a:r>
            <a:r>
              <a:rPr lang="fr-FR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In </a:t>
            </a:r>
            <a:r>
              <a:rPr lang="fr-FR" sz="2800" dirty="0"/>
              <a:t>the epididymis, sperm acquire motility</a:t>
            </a:r>
            <a:r>
              <a:rPr lang="fr-FR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In </a:t>
            </a:r>
            <a:r>
              <a:rPr lang="fr-FR" sz="2800" dirty="0"/>
              <a:t>the epididymis, sperm </a:t>
            </a:r>
            <a:r>
              <a:rPr lang="fr-FR" sz="2800" dirty="0" smtClean="0"/>
              <a:t>undergo Decapacitation</a:t>
            </a:r>
            <a:r>
              <a:rPr lang="fr-FR" sz="2800" dirty="0"/>
              <a:t>: they temporarily lose their </a:t>
            </a:r>
            <a:r>
              <a:rPr lang="fr-FR" sz="2800" dirty="0" smtClean="0"/>
              <a:t>ability to </a:t>
            </a:r>
            <a:r>
              <a:rPr lang="fr-FR" sz="2800" dirty="0"/>
              <a:t>fertilize.</a:t>
            </a:r>
          </a:p>
        </p:txBody>
      </p:sp>
    </p:spTree>
    <p:extLst>
      <p:ext uri="{BB962C8B-B14F-4D97-AF65-F5344CB8AC3E}">
        <p14:creationId xmlns:p14="http://schemas.microsoft.com/office/powerpoint/2010/main" val="3916733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34557" y="0"/>
            <a:ext cx="9144000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Sperm </a:t>
            </a:r>
            <a:r>
              <a:rPr lang="fr-FR" sz="2800" b="1" dirty="0" smtClean="0"/>
              <a:t>Pathway</a:t>
            </a:r>
            <a:endParaRPr lang="fr-FR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In the epididymis, sperm are stored and can survive there for up to three weeks.</a:t>
            </a:r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The sperm then pass into the vas deferens, which is extended by the ejaculatory duct passing through the prostate and which connects with the urinary tract</a:t>
            </a:r>
            <a:r>
              <a:rPr lang="fr-FR" sz="2800" dirty="0" smtClean="0"/>
              <a:t>. They </a:t>
            </a:r>
            <a:r>
              <a:rPr lang="fr-FR" sz="2800" dirty="0"/>
              <a:t>then travel to the urethra.</a:t>
            </a:r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During their journey, the sperm are mixed with fluids produced by the sexual glands (prostate and seminal vesicles); the mixture of these fluids produces sperm.</a:t>
            </a:r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The composition of the liquid phase of semen can be broken down into</a:t>
            </a:r>
            <a:r>
              <a:rPr lang="fr-FR" sz="2800" dirty="0" smtClean="0"/>
              <a:t>: 5</a:t>
            </a:r>
            <a:r>
              <a:rPr lang="fr-FR" sz="2800" dirty="0"/>
              <a:t>% epididymal secretions, 65% secretions from the seminal vesicles, 30% prostatic secretions.</a:t>
            </a:r>
          </a:p>
        </p:txBody>
      </p:sp>
    </p:spTree>
    <p:extLst>
      <p:ext uri="{BB962C8B-B14F-4D97-AF65-F5344CB8AC3E}">
        <p14:creationId xmlns:p14="http://schemas.microsoft.com/office/powerpoint/2010/main" val="2380890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52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0701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Emission des spermatozoïdes</a:t>
            </a:r>
            <a:endParaRPr lang="fr-FR" sz="2800" dirty="0" smtClean="0">
              <a:solidFill>
                <a:srgbClr val="002060"/>
              </a:solidFill>
            </a:endParaRP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spermatozoïdes sont produits et formés dans les testicules,</a:t>
            </a:r>
          </a:p>
          <a:p>
            <a:r>
              <a:rPr lang="fr-FR" sz="2800" dirty="0" smtClean="0"/>
              <a:t> puis libérés dans l’épididyme.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Ils passent d’abord du </a:t>
            </a:r>
            <a:r>
              <a:rPr lang="fr-FR" sz="2800" dirty="0" err="1" smtClean="0"/>
              <a:t>rete</a:t>
            </a:r>
            <a:r>
              <a:rPr lang="fr-FR" sz="2800" dirty="0" smtClean="0"/>
              <a:t> </a:t>
            </a:r>
            <a:r>
              <a:rPr lang="fr-FR" sz="2800" dirty="0" err="1" smtClean="0"/>
              <a:t>testis</a:t>
            </a:r>
            <a:r>
              <a:rPr lang="fr-FR" sz="2800" dirty="0" smtClean="0"/>
              <a:t> vers la tête de l’épididyme,</a:t>
            </a:r>
          </a:p>
          <a:p>
            <a:r>
              <a:rPr lang="fr-FR" sz="2800" dirty="0" smtClean="0"/>
              <a:t> puis dans les cônes efférents qui se poursuivent par le canal </a:t>
            </a:r>
          </a:p>
          <a:p>
            <a:r>
              <a:rPr lang="fr-FR" sz="2800" dirty="0" smtClean="0"/>
              <a:t>de l’épididyme.</a:t>
            </a:r>
          </a:p>
          <a:p>
            <a:endParaRPr lang="fr-FR" sz="2800" dirty="0" smtClean="0"/>
          </a:p>
          <a:p>
            <a:r>
              <a:rPr lang="fr-FR" sz="2800" dirty="0" smtClean="0"/>
              <a:t>Les gamètes sont modifiés tout au long de leur trajet dans les</a:t>
            </a:r>
          </a:p>
          <a:p>
            <a:r>
              <a:rPr lang="fr-FR" sz="2800" dirty="0" smtClean="0"/>
              <a:t> voies génitales.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 acquièrent leur mobilité.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subissent la </a:t>
            </a:r>
          </a:p>
          <a:p>
            <a:r>
              <a:rPr lang="fr-FR" sz="2800" b="1" dirty="0" err="1" smtClean="0">
                <a:solidFill>
                  <a:srgbClr val="C00000"/>
                </a:solidFill>
              </a:rPr>
              <a:t>Décapacitation</a:t>
            </a:r>
            <a:r>
              <a:rPr lang="fr-FR" sz="2800" b="1" dirty="0" smtClean="0">
                <a:solidFill>
                  <a:srgbClr val="C00000"/>
                </a:solidFill>
              </a:rPr>
              <a:t>:  </a:t>
            </a:r>
            <a:r>
              <a:rPr lang="fr-FR" sz="2800" dirty="0" smtClean="0"/>
              <a:t>ils  perdent momentanément leur possibilité</a:t>
            </a:r>
          </a:p>
          <a:p>
            <a:r>
              <a:rPr lang="fr-FR" sz="2800" dirty="0" smtClean="0"/>
              <a:t> de féconder.</a:t>
            </a:r>
          </a:p>
          <a:p>
            <a:r>
              <a:rPr lang="fr-F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511065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- Dans l’épididyme Les spermatozoïdes sont stockés et  peuvent</a:t>
            </a:r>
          </a:p>
          <a:p>
            <a:r>
              <a:rPr lang="fr-FR" sz="2800" dirty="0" smtClean="0"/>
              <a:t> y survivre jusqu’à trois semaines environ.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Les spermatozoïdes passent ensuite dans le canal déférent,</a:t>
            </a:r>
          </a:p>
          <a:p>
            <a:r>
              <a:rPr lang="fr-FR" sz="2800" dirty="0" smtClean="0"/>
              <a:t> qui est prolongé par le canal éjaculateur traversant la prostate</a:t>
            </a:r>
          </a:p>
          <a:p>
            <a:r>
              <a:rPr lang="fr-FR" sz="2800" dirty="0" smtClean="0"/>
              <a:t> et qui s’associe aux canaux urinaires.</a:t>
            </a:r>
          </a:p>
          <a:p>
            <a:pPr>
              <a:buFontTx/>
              <a:buChar char="-"/>
            </a:pPr>
            <a:r>
              <a:rPr lang="fr-FR" sz="2800" dirty="0" smtClean="0"/>
              <a:t>Ils prennent ensuite le chemin de l’urètre. 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Durant leur trajet, les spermatozoïdes sont mélangés à des</a:t>
            </a:r>
          </a:p>
          <a:p>
            <a:r>
              <a:rPr lang="fr-FR" sz="2800" dirty="0" smtClean="0"/>
              <a:t> liquides produits par les glandes sexuelles (prostate et vésicules</a:t>
            </a:r>
          </a:p>
          <a:p>
            <a:r>
              <a:rPr lang="fr-FR" sz="2800" dirty="0" smtClean="0"/>
              <a:t> séminales); le mélange de ces liquides donne le sperme.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On peut détailler la constitution de la phase liquide du sperme</a:t>
            </a:r>
          </a:p>
          <a:p>
            <a:r>
              <a:rPr lang="fr-FR" sz="2800" dirty="0" smtClean="0"/>
              <a:t>5 % de sécrétions </a:t>
            </a:r>
            <a:r>
              <a:rPr lang="fr-FR" sz="2800" dirty="0" err="1" smtClean="0"/>
              <a:t>épididymaires</a:t>
            </a:r>
            <a:r>
              <a:rPr lang="fr-FR" sz="2800" dirty="0" smtClean="0"/>
              <a:t>, 65 % de sécrétions issues </a:t>
            </a:r>
          </a:p>
          <a:p>
            <a:r>
              <a:rPr lang="fr-FR" sz="2800" dirty="0" smtClean="0"/>
              <a:t>des vésicules séminales, 30 % de sécrétions prostatiques </a:t>
            </a:r>
          </a:p>
          <a:p>
            <a:r>
              <a:rPr lang="fr-FR" sz="2800" dirty="0" smtClean="0"/>
              <a:t> 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60648"/>
            <a:ext cx="7620000" cy="5904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2440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252520" cy="827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Physiological Properties of Sperm</a:t>
            </a:r>
          </a:p>
          <a:p>
            <a:r>
              <a:rPr lang="fr-FR" sz="2800" dirty="0"/>
              <a:t>1. </a:t>
            </a:r>
            <a:r>
              <a:rPr lang="fr-FR" sz="2800" b="1" dirty="0"/>
              <a:t>Motility </a:t>
            </a:r>
            <a:r>
              <a:rPr lang="fr-FR" sz="2800" dirty="0"/>
              <a:t>- Sperm move along a sinusoidal path, with a velocity that varies depending on the viscosity of the medium.</a:t>
            </a:r>
          </a:p>
          <a:p>
            <a:r>
              <a:rPr lang="fr-FR" sz="2800" dirty="0"/>
              <a:t>- This movement requires the hydrolysis of </a:t>
            </a:r>
            <a:r>
              <a:rPr lang="fr-FR" sz="2800" dirty="0" smtClean="0"/>
              <a:t>ATP, Cyclic </a:t>
            </a:r>
            <a:r>
              <a:rPr lang="fr-FR" sz="2800" dirty="0"/>
              <a:t>AMP and Ca++ are essential.</a:t>
            </a:r>
          </a:p>
          <a:p>
            <a:r>
              <a:rPr lang="fr-FR" sz="2800" dirty="0" smtClean="0"/>
              <a:t>2</a:t>
            </a:r>
            <a:r>
              <a:rPr lang="fr-FR" sz="2800" dirty="0"/>
              <a:t>. </a:t>
            </a:r>
            <a:r>
              <a:rPr lang="fr-FR" sz="2800" b="1" dirty="0"/>
              <a:t>Fertility </a:t>
            </a:r>
            <a:r>
              <a:rPr lang="fr-FR" sz="2800" dirty="0"/>
              <a:t>- Sperm only become fertilizing after capacitation, which is characterized by: The loss of the glycoprotein coat of the sperm's plasma membrane during passage through the female genital tract. An increase in velocity</a:t>
            </a:r>
            <a:r>
              <a:rPr lang="fr-FR" sz="2800" dirty="0" smtClean="0"/>
              <a:t>.</a:t>
            </a:r>
          </a:p>
          <a:p>
            <a:r>
              <a:rPr lang="fr-FR" sz="2800" dirty="0"/>
              <a:t>3. </a:t>
            </a:r>
            <a:r>
              <a:rPr lang="fr-FR" sz="2800" b="1" dirty="0"/>
              <a:t>Vitality </a:t>
            </a:r>
            <a:r>
              <a:rPr lang="fr-FR" sz="2800" dirty="0"/>
              <a:t>- Seminal fluid is a poor environment for gametes to survive.</a:t>
            </a:r>
          </a:p>
          <a:p>
            <a:r>
              <a:rPr lang="fr-FR" sz="2800" dirty="0"/>
              <a:t>- Only 20% of sperm survive 24 hours at 37°C. Survival can reach 2 or 3 days in the female genital tract. After freezing in liquid nitrogen, the vitality and fertility of some sperm are preserved.</a:t>
            </a:r>
          </a:p>
          <a:p>
            <a:r>
              <a:rPr lang="fr-FR" sz="2800" dirty="0" smtClean="0"/>
              <a:t>4</a:t>
            </a:r>
            <a:r>
              <a:rPr lang="fr-FR" sz="2800" dirty="0"/>
              <a:t>. </a:t>
            </a:r>
            <a:r>
              <a:rPr lang="fr-FR" sz="2800" b="1" dirty="0"/>
              <a:t>Metabolic </a:t>
            </a:r>
            <a:r>
              <a:rPr lang="fr-FR" sz="2800" b="1" dirty="0" smtClean="0"/>
              <a:t>Activity- </a:t>
            </a:r>
            <a:r>
              <a:rPr lang="fr-FR" sz="2800" dirty="0"/>
              <a:t>Sperm have no nuclear activity:</a:t>
            </a:r>
          </a:p>
          <a:p>
            <a:r>
              <a:rPr lang="fr-FR" sz="2800" dirty="0"/>
              <a:t>They do not synthesize DNA, RNA, or proteins.</a:t>
            </a:r>
          </a:p>
          <a:p>
            <a:r>
              <a:rPr lang="fr-FR" sz="2800" dirty="0"/>
              <a:t>Respiratory activity is important because flagellar movement requires a large supply of ATP.</a:t>
            </a:r>
          </a:p>
        </p:txBody>
      </p:sp>
    </p:spTree>
    <p:extLst>
      <p:ext uri="{BB962C8B-B14F-4D97-AF65-F5344CB8AC3E}">
        <p14:creationId xmlns:p14="http://schemas.microsoft.com/office/powerpoint/2010/main" val="3386536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16632"/>
            <a:ext cx="9972600" cy="704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ea typeface="Times New Roman" pitchFamily="18" charset="0"/>
                <a:cs typeface="Times New Roman" pitchFamily="18" charset="0"/>
              </a:rPr>
              <a:t>Proprietes physiologiques des spermatozoides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Arial" pitchFamily="34" charset="0"/>
              </a:rPr>
              <a:t>1</a:t>
            </a:r>
            <a:r>
              <a:rPr lang="fr-FR" sz="2800" dirty="0"/>
              <a:t> .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Arial" pitchFamily="34" charset="0"/>
              </a:rPr>
              <a:t> Mobilité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 - Le déplacement du spermatozoïde se fait selon une sinusoïde, avec une vélocité variable suivant la viscosité du milieu.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- Le mouvement nécessite l'hydrolyse d'ATP.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L'AMP-cyclique et le Ca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++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sont indispensables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cs typeface="Arial" pitchFamily="34" charset="0"/>
              </a:rPr>
              <a:t>2</a:t>
            </a:r>
            <a:r>
              <a:rPr lang="fr-FR" sz="2800" dirty="0"/>
              <a:t> .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cs typeface="Arial" pitchFamily="34" charset="0"/>
              </a:rPr>
              <a:t> Fécondance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- Le spermatozoïde ne devient fécondant qu'après la capacitation qui se caractérise par :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 La perte du manteau de glycoprotéines de la membrane plasmique du spermatozoïde pendant le passage dans les  voies génitales femelles.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Une augmentation de la vélocité.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Vitalité</a:t>
            </a:r>
            <a:r>
              <a:rPr lang="fr-FR" sz="2800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Le liquide séminal est un mauvais milieu de survie pour les gamètes.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Seulement 20% des spermatozoïdes y survivent 24 h à 37°C.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 survie peut atteindre  2 ou 3 jours dans les voies génitales féminines.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Après congélation dans l'azote liquide, la vitalité et la fécondance d'une  partie des spermatozoïdes sont sauvegardées.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solidFill>
                <a:srgbClr val="0070C0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Activité métabolique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 spermatozoïde n'a pas d'activité nucléaire: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Il n'effectue pas de  synthèse d'ADN, d'ARN, ni de protéines.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l'activité respiratoire  est importante,  car le mouvement flagellaire exige un important apport d'ATP.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153888"/>
            <a:ext cx="7875939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Calibri" pitchFamily="34" charset="0"/>
              </a:rPr>
              <a:t>Facteurs influencant  la spermatogenese</a:t>
            </a:r>
          </a:p>
          <a:p>
            <a:r>
              <a:rPr lang="fr-FR" sz="2800" b="1" dirty="0" smtClean="0"/>
              <a:t>1</a:t>
            </a:r>
            <a:r>
              <a:rPr lang="fr-FR" sz="2800" dirty="0" smtClean="0"/>
              <a:t> </a:t>
            </a:r>
            <a:r>
              <a:rPr lang="fr-FR" sz="2800" dirty="0"/>
              <a:t>.</a:t>
            </a:r>
            <a:r>
              <a:rPr lang="fr-FR" sz="2800" b="1" dirty="0" smtClean="0"/>
              <a:t> </a:t>
            </a:r>
            <a:r>
              <a:rPr lang="fr-FR" sz="2400" b="1" dirty="0" smtClean="0"/>
              <a:t>Température</a:t>
            </a:r>
            <a:r>
              <a:rPr lang="fr-FR" sz="2400" dirty="0" smtClean="0">
                <a:solidFill>
                  <a:srgbClr val="00B050"/>
                </a:solidFill>
              </a:rPr>
              <a:t> </a:t>
            </a: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>La spermatogenèse 34 ou 35°C.</a:t>
            </a:r>
          </a:p>
          <a:p>
            <a:r>
              <a:rPr lang="fr-FR" sz="2400" b="1" dirty="0" smtClean="0"/>
              <a:t>2</a:t>
            </a:r>
            <a:r>
              <a:rPr lang="fr-FR" sz="2400" dirty="0"/>
              <a:t> .</a:t>
            </a:r>
            <a:r>
              <a:rPr lang="fr-FR" sz="2400" b="1" dirty="0" smtClean="0"/>
              <a:t> Carences</a:t>
            </a:r>
            <a:r>
              <a:rPr lang="fr-FR" sz="2400" dirty="0" smtClean="0"/>
              <a:t> </a:t>
            </a:r>
            <a:r>
              <a:rPr lang="fr-FR" sz="2400" b="1" dirty="0" smtClean="0"/>
              <a:t>nutritionnelles</a:t>
            </a: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>Dénutrition protéique + altérations de la spermatogenèse. </a:t>
            </a:r>
          </a:p>
          <a:p>
            <a:r>
              <a:rPr lang="fr-FR" sz="2400" dirty="0" smtClean="0"/>
              <a:t>EX/ Carence en vitamine A= lésions dégénératives des </a:t>
            </a:r>
            <a:r>
              <a:rPr lang="fr-FR" sz="2400" dirty="0" err="1" smtClean="0"/>
              <a:t>spz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       Carence en vitamine E = lésions des spermatides . </a:t>
            </a:r>
          </a:p>
          <a:p>
            <a:r>
              <a:rPr lang="fr-FR" sz="2400" b="1" dirty="0" smtClean="0"/>
              <a:t>3</a:t>
            </a:r>
            <a:r>
              <a:rPr lang="fr-FR" sz="2400" dirty="0"/>
              <a:t> .</a:t>
            </a:r>
            <a:r>
              <a:rPr lang="fr-FR" sz="2400" b="1" dirty="0" smtClean="0"/>
              <a:t> Radiations ionisantes</a:t>
            </a:r>
            <a:r>
              <a:rPr lang="fr-FR" sz="2400" dirty="0" smtClean="0"/>
              <a:t> </a:t>
            </a:r>
            <a:br>
              <a:rPr lang="fr-FR" sz="2400" dirty="0" smtClean="0"/>
            </a:br>
            <a:r>
              <a:rPr lang="fr-FR" sz="2400" dirty="0" smtClean="0"/>
              <a:t>Les spermatogonies se multiplient activement et sont très</a:t>
            </a:r>
          </a:p>
          <a:p>
            <a:r>
              <a:rPr lang="fr-FR" sz="2400" dirty="0" smtClean="0"/>
              <a:t> radiosensibles. </a:t>
            </a:r>
            <a:br>
              <a:rPr lang="fr-FR" sz="2400" dirty="0" smtClean="0"/>
            </a:br>
            <a:r>
              <a:rPr lang="fr-FR" sz="2400" b="1" dirty="0"/>
              <a:t>4 . </a:t>
            </a:r>
            <a:r>
              <a:rPr lang="fr-FR" sz="2400" b="1" dirty="0" smtClean="0"/>
              <a:t>Toxiques chimiques </a:t>
            </a: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>De nombreux corps chimiques peuvent être toxiques:</a:t>
            </a:r>
          </a:p>
          <a:p>
            <a:r>
              <a:rPr lang="fr-FR" sz="2400" dirty="0" smtClean="0"/>
              <a:t>EX:  pesticides, </a:t>
            </a:r>
            <a:r>
              <a:rPr lang="fr-FR" sz="2400" dirty="0" smtClean="0"/>
              <a:t>organochlorés</a:t>
            </a:r>
          </a:p>
          <a:p>
            <a:r>
              <a:rPr lang="fr-FR" sz="2400" dirty="0"/>
              <a:t>Certains médicaments </a:t>
            </a:r>
            <a:br>
              <a:rPr lang="fr-FR" sz="2400" dirty="0"/>
            </a:br>
            <a:r>
              <a:rPr lang="fr-FR" sz="2400" dirty="0"/>
              <a:t> EX: antihypertenseurs, neuroleptiques,  hormones stéroïdes, </a:t>
            </a:r>
          </a:p>
          <a:p>
            <a:r>
              <a:rPr lang="fr-FR" sz="2400" dirty="0"/>
              <a:t>anti-inflammatoires, chimiothérapie.</a:t>
            </a:r>
          </a:p>
          <a:p>
            <a:r>
              <a:rPr lang="fr-FR" sz="2400" dirty="0"/>
              <a:t>6 . </a:t>
            </a:r>
            <a:r>
              <a:rPr lang="fr-FR" sz="2400" b="1" dirty="0"/>
              <a:t>Autres facteurs exogènes:</a:t>
            </a:r>
          </a:p>
          <a:p>
            <a:r>
              <a:rPr lang="fr-FR" sz="2400" dirty="0"/>
              <a:t>EX:  tabac, alcool, cannabis. </a:t>
            </a:r>
            <a:endParaRPr lang="fr-F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688" y="-1292659"/>
            <a:ext cx="11467050" cy="7848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Factors Influencing </a:t>
            </a:r>
            <a:r>
              <a:rPr lang="fr-FR" sz="2800" b="1" dirty="0" smtClean="0"/>
              <a:t>Spermatogenesis</a:t>
            </a:r>
          </a:p>
          <a:p>
            <a:endParaRPr lang="fr-FR" sz="2800" b="1" dirty="0"/>
          </a:p>
          <a:p>
            <a:r>
              <a:rPr lang="fr-FR" sz="2800" dirty="0"/>
              <a:t>1. </a:t>
            </a:r>
            <a:r>
              <a:rPr lang="fr-FR" sz="2800" b="1" dirty="0"/>
              <a:t>Temperature</a:t>
            </a:r>
            <a:r>
              <a:rPr lang="fr-FR" sz="2800" dirty="0"/>
              <a:t>: Spermatogenesis at 34 or 35°C.</a:t>
            </a:r>
          </a:p>
          <a:p>
            <a:endParaRPr lang="fr-FR" sz="2800" dirty="0" smtClean="0"/>
          </a:p>
          <a:p>
            <a:r>
              <a:rPr lang="fr-FR" sz="2800" dirty="0" smtClean="0"/>
              <a:t>2</a:t>
            </a:r>
            <a:r>
              <a:rPr lang="fr-FR" sz="2800" dirty="0"/>
              <a:t>. </a:t>
            </a:r>
            <a:r>
              <a:rPr lang="fr-FR" sz="2800" b="1" dirty="0"/>
              <a:t>Nutritional Deficiencies</a:t>
            </a:r>
            <a:r>
              <a:rPr lang="fr-FR" sz="2800" dirty="0"/>
              <a:t>: Protein malnutrition + impaired spermatogenesis.</a:t>
            </a:r>
          </a:p>
          <a:p>
            <a:r>
              <a:rPr lang="fr-FR" sz="2800" dirty="0"/>
              <a:t>Ex. Vitamin A deficiency = degenerative lesions of the spermatozoa.</a:t>
            </a:r>
          </a:p>
          <a:p>
            <a:r>
              <a:rPr lang="fr-FR" sz="2800" dirty="0"/>
              <a:t>Vitamin E deficiency = spermatid lesions.</a:t>
            </a:r>
          </a:p>
          <a:p>
            <a:endParaRPr lang="fr-FR" sz="2800" dirty="0" smtClean="0"/>
          </a:p>
          <a:p>
            <a:r>
              <a:rPr lang="fr-FR" sz="2800" dirty="0" smtClean="0"/>
              <a:t>3</a:t>
            </a:r>
            <a:r>
              <a:rPr lang="fr-FR" sz="2800" dirty="0"/>
              <a:t>. </a:t>
            </a:r>
            <a:r>
              <a:rPr lang="fr-FR" sz="2800" b="1" dirty="0"/>
              <a:t>Ionizing Radiation</a:t>
            </a:r>
            <a:r>
              <a:rPr lang="fr-FR" sz="2800" dirty="0"/>
              <a:t>: Spermatogonia multiply actively and </a:t>
            </a:r>
            <a:r>
              <a:rPr lang="fr-FR" sz="2800" dirty="0" smtClean="0"/>
              <a:t>are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very radiosensitive.</a:t>
            </a:r>
          </a:p>
          <a:p>
            <a:endParaRPr lang="fr-FR" sz="2800" dirty="0" smtClean="0"/>
          </a:p>
          <a:p>
            <a:r>
              <a:rPr lang="fr-FR" sz="2800" dirty="0" smtClean="0"/>
              <a:t>4</a:t>
            </a:r>
            <a:r>
              <a:rPr lang="fr-FR" sz="2800" dirty="0"/>
              <a:t>. </a:t>
            </a:r>
            <a:r>
              <a:rPr lang="fr-FR" sz="2800" b="1" dirty="0"/>
              <a:t>Chemical Toxicants</a:t>
            </a:r>
            <a:r>
              <a:rPr lang="fr-FR" sz="2800" dirty="0"/>
              <a:t>: Many chemicals can be toxic:</a:t>
            </a:r>
          </a:p>
          <a:p>
            <a:r>
              <a:rPr lang="fr-FR" sz="2800" dirty="0"/>
              <a:t>Ex. pesticides, organochlorines</a:t>
            </a:r>
          </a:p>
          <a:p>
            <a:r>
              <a:rPr lang="fr-FR" sz="2800" dirty="0" smtClean="0"/>
              <a:t>Drogs: Ex</a:t>
            </a:r>
            <a:r>
              <a:rPr lang="fr-FR" sz="2800" dirty="0"/>
              <a:t>. antihypertensives, neuroleptics, steroid hormones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anti-inflammatories, chemotherapy.</a:t>
            </a:r>
          </a:p>
          <a:p>
            <a:r>
              <a:rPr lang="fr-FR" sz="2800" dirty="0"/>
              <a:t>6. </a:t>
            </a:r>
            <a:r>
              <a:rPr lang="fr-FR" sz="2800" b="1" dirty="0"/>
              <a:t>Other exogenous factors</a:t>
            </a:r>
            <a:r>
              <a:rPr lang="fr-FR" sz="2800" dirty="0"/>
              <a:t>:</a:t>
            </a:r>
          </a:p>
          <a:p>
            <a:r>
              <a:rPr lang="fr-FR" sz="2800" dirty="0"/>
              <a:t>Ex. tobacco, alcohol, cannabis. </a:t>
            </a:r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7992887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96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9512" y="116632"/>
            <a:ext cx="2815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Hormonal control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7798" y="548680"/>
            <a:ext cx="9188737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- GnRH </a:t>
            </a:r>
            <a:r>
              <a:rPr lang="fr-FR" sz="2800" dirty="0"/>
              <a:t>acts on the pituitary gland.</a:t>
            </a:r>
          </a:p>
          <a:p>
            <a:r>
              <a:rPr lang="fr-FR" sz="2800" dirty="0" smtClean="0"/>
              <a:t>- The </a:t>
            </a:r>
            <a:r>
              <a:rPr lang="fr-FR" sz="2800" dirty="0"/>
              <a:t>pituitary gland secretes FSH and LH.</a:t>
            </a:r>
          </a:p>
          <a:p>
            <a:r>
              <a:rPr lang="fr-FR" sz="2800" b="1" dirty="0"/>
              <a:t>FSH: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Development of Sertoli cells: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Secretion of ABP (Androgen Binding Protein);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Secretion of inhibin (exerts negative feedback control on FSH secretion).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Secretion of activin (exerts positive feedback control on FSH secretion).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Secretion of AMH (Anti-Müllerian Hormone).</a:t>
            </a:r>
          </a:p>
          <a:p>
            <a:r>
              <a:rPr lang="fr-FR" sz="2800" b="1" dirty="0"/>
              <a:t>LH: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Ensures the multiplication of Leydig cells</a:t>
            </a:r>
            <a:r>
              <a:rPr lang="fr-FR" sz="2800" dirty="0" smtClean="0"/>
              <a:t>: Secretion </a:t>
            </a:r>
            <a:r>
              <a:rPr lang="fr-FR" sz="2800" dirty="0"/>
              <a:t>of testosterone.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Testosterone + </a:t>
            </a:r>
            <a:r>
              <a:rPr lang="fr-FR" sz="2800" dirty="0" smtClean="0"/>
              <a:t>ABP: Development </a:t>
            </a:r>
            <a:r>
              <a:rPr lang="fr-FR" sz="2800" dirty="0"/>
              <a:t>of the seminal epithelium.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Proper functioning of the genital tract.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11560" y="378242"/>
            <a:ext cx="6398868" cy="735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L’hypothalamus secrète  la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La </a:t>
            </a:r>
            <a:r>
              <a:rPr kumimoji="0" lang="fr-FR" sz="24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agit sur l’hypophyse.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lang="fr-FR" sz="2400" dirty="0" smtClean="0">
                <a:ea typeface="Calibri" pitchFamily="34" charset="0"/>
                <a:cs typeface="Calibri" pitchFamily="34" charset="0"/>
              </a:rPr>
              <a:t>L’hypophyse secrète la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FSH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et la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LH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FSH: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lang="fr-FR" sz="2400" dirty="0" smtClean="0">
                <a:ea typeface="Calibri" pitchFamily="34" charset="0"/>
                <a:cs typeface="Calibri" pitchFamily="34" charset="0"/>
              </a:rPr>
              <a:t> </a:t>
            </a:r>
            <a:r>
              <a:rPr lang="fr-FR" sz="2400" dirty="0" smtClean="0">
                <a:ea typeface="Calibri" pitchFamily="34" charset="0"/>
                <a:cs typeface="Calibri" pitchFamily="34" charset="0"/>
              </a:rPr>
              <a:t>développement des cellules de Sertoli: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d'ABP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Androgen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Binding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Protein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); </a:t>
            </a:r>
            <a:endParaRPr lang="fr-FR" sz="2400" dirty="0" smtClean="0"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</a:t>
            </a:r>
            <a:r>
              <a:rPr kumimoji="0" lang="fr-FR" sz="2400" b="1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inhibine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négatif sur</a:t>
            </a:r>
            <a:r>
              <a:rPr lang="fr-FR" sz="2400" dirty="0" smtClean="0"/>
              <a:t>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dirty="0" smtClean="0"/>
              <a:t> </a:t>
            </a:r>
            <a:r>
              <a:rPr lang="fr-FR" sz="24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sécrétion d’</a:t>
            </a:r>
            <a:r>
              <a:rPr lang="fr-FR" sz="2400" b="1" dirty="0" err="1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activine</a:t>
            </a:r>
            <a:r>
              <a:rPr lang="fr-FR" sz="24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 </a:t>
            </a:r>
            <a:r>
              <a:rPr lang="fr-FR" sz="2400" dirty="0" smtClean="0"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 dirty="0" smtClean="0"/>
              <a:t>Positif sur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dirty="0" smtClean="0"/>
              <a:t> </a:t>
            </a:r>
            <a:r>
              <a:rPr lang="fr-FR" sz="2400" b="1" dirty="0" smtClean="0">
                <a:solidFill>
                  <a:schemeClr val="accent1"/>
                </a:solidFill>
              </a:rPr>
              <a:t>sécrétion d’AMH  (</a:t>
            </a:r>
            <a:r>
              <a:rPr lang="fr-FR" sz="2400" dirty="0" smtClean="0"/>
              <a:t>hormone antimüllérienne</a:t>
            </a:r>
            <a:r>
              <a:rPr lang="fr-FR" sz="2400" dirty="0" smtClean="0"/>
              <a:t>),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La LH: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 assure la multiplication des cellules de Leydig: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                sécrétion de testostérone.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 testostérone + ABP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       Développement de l'épithélium  séminal.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400" b="1" dirty="0">
                <a:solidFill>
                  <a:schemeClr val="accent1"/>
                </a:solidFill>
                <a:cs typeface="Arial" pitchFamily="34" charset="0"/>
              </a:rPr>
              <a:t>       Bon fonctionnement des voies génitales.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endParaRPr lang="fr-FR" sz="2800" b="1" dirty="0">
              <a:solidFill>
                <a:schemeClr val="accent1"/>
              </a:solidFill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79512" y="116632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Contrôle hormonal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99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896360" y="5973553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Contrôle hormonal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66784"/>
            <a:ext cx="8676456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228184" y="3284984"/>
            <a:ext cx="324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 smtClean="0">
                <a:solidFill>
                  <a:srgbClr val="FF0000"/>
                </a:solidFill>
              </a:rPr>
              <a:t>Androgen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binding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protein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endParaRPr lang="fr-FR" sz="2000" b="1" dirty="0" smtClean="0">
              <a:solidFill>
                <a:srgbClr val="FF0000"/>
              </a:solidFill>
            </a:endParaRPr>
          </a:p>
          <a:p>
            <a:r>
              <a:rPr lang="fr-FR" sz="2000" b="1" dirty="0" err="1" smtClean="0">
                <a:solidFill>
                  <a:srgbClr val="FF0000"/>
                </a:solidFill>
              </a:rPr>
              <a:t>Transforming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growth</a:t>
            </a:r>
            <a:r>
              <a:rPr lang="fr-FR" sz="2000" b="1" dirty="0" smtClean="0">
                <a:solidFill>
                  <a:srgbClr val="FF0000"/>
                </a:solidFill>
              </a:rPr>
              <a:t> factor</a:t>
            </a: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         </a:t>
            </a:r>
            <a:r>
              <a:rPr lang="fr-FR" sz="2000" b="1" dirty="0" err="1" smtClean="0">
                <a:solidFill>
                  <a:srgbClr val="FF0000"/>
                </a:solidFill>
              </a:rPr>
              <a:t>Activine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hormone antimüllérienne</a:t>
            </a:r>
          </a:p>
          <a:p>
            <a:pPr marL="452438" indent="-452438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53148</TotalTime>
  <Words>1583</Words>
  <Application>Microsoft Office PowerPoint</Application>
  <PresentationFormat>Affichage à l'écran (4:3)</PresentationFormat>
  <Paragraphs>379</Paragraphs>
  <Slides>44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138</cp:revision>
  <dcterms:created xsi:type="dcterms:W3CDTF">2012-10-28T16:06:05Z</dcterms:created>
  <dcterms:modified xsi:type="dcterms:W3CDTF">2025-09-23T17:50:59Z</dcterms:modified>
</cp:coreProperties>
</file>