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5" r:id="rId3"/>
    <p:sldId id="306" r:id="rId4"/>
    <p:sldId id="258" r:id="rId5"/>
    <p:sldId id="259" r:id="rId6"/>
    <p:sldId id="304" r:id="rId7"/>
    <p:sldId id="296" r:id="rId8"/>
    <p:sldId id="260" r:id="rId9"/>
    <p:sldId id="307" r:id="rId10"/>
    <p:sldId id="269" r:id="rId11"/>
    <p:sldId id="272" r:id="rId12"/>
    <p:sldId id="271" r:id="rId13"/>
    <p:sldId id="308" r:id="rId14"/>
    <p:sldId id="302" r:id="rId15"/>
    <p:sldId id="303" r:id="rId16"/>
    <p:sldId id="309" r:id="rId17"/>
    <p:sldId id="310" r:id="rId18"/>
    <p:sldId id="312" r:id="rId19"/>
    <p:sldId id="313" r:id="rId20"/>
    <p:sldId id="292" r:id="rId21"/>
    <p:sldId id="293" r:id="rId22"/>
    <p:sldId id="294" r:id="rId23"/>
    <p:sldId id="291" r:id="rId24"/>
    <p:sldId id="314" r:id="rId25"/>
    <p:sldId id="274" r:id="rId26"/>
    <p:sldId id="315" r:id="rId27"/>
    <p:sldId id="316" r:id="rId28"/>
    <p:sldId id="300" r:id="rId29"/>
    <p:sldId id="277" r:id="rId30"/>
    <p:sldId id="278" r:id="rId31"/>
    <p:sldId id="279" r:id="rId32"/>
    <p:sldId id="280" r:id="rId33"/>
    <p:sldId id="281" r:id="rId34"/>
    <p:sldId id="282" r:id="rId3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79" autoAdjust="0"/>
  </p:normalViewPr>
  <p:slideViewPr>
    <p:cSldViewPr>
      <p:cViewPr varScale="1">
        <p:scale>
          <a:sx n="74" d="100"/>
          <a:sy n="74" d="100"/>
        </p:scale>
        <p:origin x="12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0D62-6D24-442B-B5BC-CFB0A8640C58}" type="datetimeFigureOut">
              <a:rPr lang="fr-FR" smtClean="0"/>
              <a:pPr/>
              <a:t>18/10/2025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075BB-6152-4878-BD1C-B5254250255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95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7763" indent="-2417763"/>
            <a:r>
              <a:rPr lang="fr-FR" sz="4000" b="1" dirty="0" smtClean="0"/>
              <a:t>                </a:t>
            </a:r>
            <a:r>
              <a:rPr lang="fr-FR" sz="2800" b="1" dirty="0" smtClean="0"/>
              <a:t>MODULE EMBRYOLOGIE GENERALE</a:t>
            </a:r>
          </a:p>
          <a:p>
            <a:pPr marL="2417763" indent="-2417763"/>
            <a:r>
              <a:rPr lang="fr-FR" sz="2800" b="1" dirty="0" smtClean="0"/>
              <a:t>         OVULATION ,  CYCLES OVARIEN ET UTERIN, </a:t>
            </a:r>
          </a:p>
          <a:p>
            <a:pPr marL="1430338" indent="-1430338"/>
            <a:r>
              <a:rPr lang="fr-FR" sz="2800" b="1" dirty="0" smtClean="0"/>
              <a:t>                         REGULATION HORMONALE</a:t>
            </a:r>
          </a:p>
          <a:p>
            <a:pPr marL="1430338" indent="-1430338"/>
            <a:r>
              <a:rPr lang="fr-FR" sz="2800" b="1" dirty="0" smtClean="0"/>
              <a:t>                OVULATION</a:t>
            </a:r>
            <a:r>
              <a:rPr lang="fr-FR" sz="2800" b="1" dirty="0"/>
              <a:t>, OVARIAN AND UTERINE CYCLES,</a:t>
            </a:r>
          </a:p>
          <a:p>
            <a:pPr marL="1430338" indent="-1430338"/>
            <a:r>
              <a:rPr lang="fr-FR" sz="2800" b="1" dirty="0" smtClean="0"/>
              <a:t>                            HORMONAL </a:t>
            </a:r>
            <a:r>
              <a:rPr lang="fr-FR" sz="2800" b="1" dirty="0"/>
              <a:t>REGULATION</a:t>
            </a:r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endParaRPr lang="fr-FR" sz="2800" b="1" dirty="0" smtClean="0"/>
          </a:p>
          <a:p>
            <a:pPr marL="1430338" indent="-1430338"/>
            <a:endParaRPr lang="fr-FR" sz="2800" b="1" dirty="0"/>
          </a:p>
          <a:p>
            <a:pPr marL="1430338" indent="-1430338"/>
            <a:r>
              <a:rPr lang="fr-FR" sz="2800" b="1" dirty="0" smtClean="0"/>
              <a:t>                                                               PR HANNACHI-HECINI A </a:t>
            </a: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068960"/>
            <a:ext cx="5544616" cy="2520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03448"/>
            <a:ext cx="9468544" cy="787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742950" indent="-742950"/>
            <a:r>
              <a:rPr lang="fr-FR" sz="2800" dirty="0" smtClean="0">
                <a:solidFill>
                  <a:srgbClr val="92D050"/>
                </a:solidFill>
              </a:rPr>
              <a:t>                                                  OVULATION</a:t>
            </a:r>
          </a:p>
          <a:p>
            <a:pPr marL="742950" indent="-742950"/>
            <a:r>
              <a:rPr lang="fr-FR" sz="2800" dirty="0" smtClean="0">
                <a:solidFill>
                  <a:srgbClr val="92D050"/>
                </a:solidFill>
              </a:rPr>
              <a:t>Definition</a:t>
            </a:r>
            <a:endParaRPr lang="fr-FR" sz="2800" dirty="0">
              <a:solidFill>
                <a:srgbClr val="92D050"/>
              </a:solidFill>
            </a:endParaRPr>
          </a:p>
          <a:p>
            <a:pPr marL="742950" indent="-742950"/>
            <a:endParaRPr lang="fr-FR" sz="2800" dirty="0"/>
          </a:p>
          <a:p>
            <a:pPr marL="742950" indent="-742950"/>
            <a:r>
              <a:rPr lang="fr-FR" sz="2800" dirty="0"/>
              <a:t>Ovulation is the expulsion of oocyte II from the ovary. The oocyte is not an isolated cell:</a:t>
            </a:r>
          </a:p>
          <a:p>
            <a:pPr marL="742950" indent="-742950"/>
            <a:r>
              <a:rPr lang="fr-FR" sz="2800" dirty="0" smtClean="0"/>
              <a:t>                           + </a:t>
            </a:r>
            <a:r>
              <a:rPr lang="fr-FR" sz="2800" dirty="0"/>
              <a:t>Zona pellucida</a:t>
            </a:r>
          </a:p>
          <a:p>
            <a:pPr marL="742950" indent="-742950"/>
            <a:r>
              <a:rPr lang="fr-FR" sz="2800" dirty="0" smtClean="0"/>
              <a:t>                           + </a:t>
            </a:r>
            <a:r>
              <a:rPr lang="fr-FR" sz="2800" dirty="0"/>
              <a:t>Corona radiata cells</a:t>
            </a:r>
          </a:p>
          <a:p>
            <a:pPr marL="742950" indent="-742950"/>
            <a:r>
              <a:rPr lang="fr-FR" sz="2800" dirty="0" smtClean="0"/>
              <a:t>                           + </a:t>
            </a:r>
            <a:r>
              <a:rPr lang="fr-FR" sz="2800" dirty="0"/>
              <a:t>Cumulus oophorus cells</a:t>
            </a:r>
          </a:p>
          <a:p>
            <a:pPr marL="742950" indent="-742950"/>
            <a:endParaRPr lang="fr-FR" sz="2800" dirty="0"/>
          </a:p>
          <a:p>
            <a:pPr marL="742950" indent="-742950"/>
            <a:r>
              <a:rPr lang="fr-FR" sz="2800" dirty="0" smtClean="0"/>
              <a:t>     All </a:t>
            </a:r>
            <a:r>
              <a:rPr lang="fr-FR" sz="2800" dirty="0"/>
              <a:t>of these cells fall into the outer third of the fallopian tube (oviduct) = </a:t>
            </a:r>
            <a:r>
              <a:rPr lang="fr-FR" sz="2800" dirty="0">
                <a:solidFill>
                  <a:srgbClr val="00B050"/>
                </a:solidFill>
              </a:rPr>
              <a:t>site of </a:t>
            </a:r>
            <a:r>
              <a:rPr lang="fr-FR" sz="2800" dirty="0" smtClean="0">
                <a:solidFill>
                  <a:srgbClr val="00B050"/>
                </a:solidFill>
              </a:rPr>
              <a:t>fertilization</a:t>
            </a:r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355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6052" y="-14925"/>
            <a:ext cx="10368095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800" b="1" dirty="0">
                <a:solidFill>
                  <a:srgbClr val="00B050"/>
                </a:solidFill>
              </a:rPr>
              <a:t>Mechanisms of </a:t>
            </a:r>
            <a:r>
              <a:rPr lang="fr-FR" sz="2800" b="1" dirty="0" smtClean="0">
                <a:solidFill>
                  <a:srgbClr val="00B050"/>
                </a:solidFill>
              </a:rPr>
              <a:t>Ovulation</a:t>
            </a:r>
          </a:p>
          <a:p>
            <a:endParaRPr lang="fr-FR" sz="2800" b="1" dirty="0">
              <a:solidFill>
                <a:srgbClr val="002060"/>
              </a:solidFill>
            </a:endParaRPr>
          </a:p>
          <a:p>
            <a:pPr marL="514350" indent="-514350">
              <a:buAutoNum type="alphaLcPeriod"/>
            </a:pPr>
            <a:r>
              <a:rPr lang="fr-FR" sz="2800" dirty="0" smtClean="0"/>
              <a:t>Vascular </a:t>
            </a:r>
            <a:r>
              <a:rPr lang="fr-FR" sz="2800" dirty="0"/>
              <a:t>Phenomena: Follicle </a:t>
            </a:r>
            <a:r>
              <a:rPr lang="fr-FR" sz="2800" dirty="0" smtClean="0"/>
              <a:t>Pressure            </a:t>
            </a:r>
            <a:r>
              <a:rPr lang="fr-FR" sz="2800" dirty="0"/>
              <a:t>Ischemia, </a:t>
            </a:r>
            <a:endParaRPr lang="fr-FR" sz="2800" dirty="0" smtClean="0"/>
          </a:p>
          <a:p>
            <a:r>
              <a:rPr lang="fr-FR" sz="2800" dirty="0" smtClean="0"/>
              <a:t>                                                      the </a:t>
            </a:r>
            <a:r>
              <a:rPr lang="fr-FR" sz="2800" dirty="0"/>
              <a:t>Superficial Part of the Ovary</a:t>
            </a:r>
          </a:p>
          <a:p>
            <a:r>
              <a:rPr lang="fr-FR" sz="2800" dirty="0"/>
              <a:t>b. Enzymatic Mechanisms: Enzymatic Lysis of the Ovarian Wall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c</a:t>
            </a:r>
            <a:r>
              <a:rPr lang="fr-FR" sz="2800" dirty="0"/>
              <a:t>. Muscle Contractions: Contraction of Ovarian Smooth Muscle Cells</a:t>
            </a:r>
          </a:p>
          <a:p>
            <a:endParaRPr lang="fr-FR" sz="2800" dirty="0">
              <a:solidFill>
                <a:srgbClr val="002060"/>
              </a:solidFill>
            </a:endParaRPr>
          </a:p>
          <a:p>
            <a:r>
              <a:rPr lang="fr-FR" sz="2800" dirty="0" smtClean="0">
                <a:solidFill>
                  <a:srgbClr val="002060"/>
                </a:solidFill>
              </a:rPr>
              <a:t>            - Rupture </a:t>
            </a:r>
            <a:r>
              <a:rPr lang="fr-FR" sz="2800" dirty="0">
                <a:solidFill>
                  <a:srgbClr val="002060"/>
                </a:solidFill>
              </a:rPr>
              <a:t>of the Follicle Wall</a:t>
            </a:r>
          </a:p>
          <a:p>
            <a:r>
              <a:rPr lang="fr-FR" sz="2800" dirty="0">
                <a:solidFill>
                  <a:srgbClr val="002060"/>
                </a:solidFill>
              </a:rPr>
              <a:t>(Granulosa, Slavjansky's Membrane, and Thecae)</a:t>
            </a:r>
          </a:p>
          <a:p>
            <a:endParaRPr lang="fr-FR" sz="2800" dirty="0" smtClean="0">
              <a:solidFill>
                <a:srgbClr val="002060"/>
              </a:solidFill>
            </a:endParaRPr>
          </a:p>
          <a:p>
            <a:r>
              <a:rPr lang="fr-FR" sz="2800" dirty="0" smtClean="0">
                <a:solidFill>
                  <a:srgbClr val="002060"/>
                </a:solidFill>
              </a:rPr>
              <a:t>             - Rupture </a:t>
            </a:r>
            <a:r>
              <a:rPr lang="fr-FR" sz="2800" dirty="0">
                <a:solidFill>
                  <a:srgbClr val="002060"/>
                </a:solidFill>
              </a:rPr>
              <a:t>of the Ovarian Epithelium</a:t>
            </a:r>
            <a:r>
              <a:rPr lang="fr-FR" sz="2800" dirty="0" smtClean="0">
                <a:solidFill>
                  <a:srgbClr val="002060"/>
                </a:solidFill>
              </a:rPr>
              <a:t>.</a:t>
            </a:r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6444208" y="1628800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62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03448"/>
            <a:ext cx="9468544" cy="1148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742950" indent="-742950"/>
            <a:r>
              <a:rPr lang="fr-FR" sz="2800" b="1" dirty="0" smtClean="0">
                <a:solidFill>
                  <a:srgbClr val="002060"/>
                </a:solidFill>
              </a:rPr>
              <a:t>                                               OVULATION</a:t>
            </a:r>
          </a:p>
          <a:p>
            <a:pPr marL="742950" indent="-742950"/>
            <a:r>
              <a:rPr lang="fr-FR" sz="2800" b="1" dirty="0" smtClean="0">
                <a:solidFill>
                  <a:srgbClr val="002060"/>
                </a:solidFill>
              </a:rPr>
              <a:t>Définition</a:t>
            </a:r>
          </a:p>
          <a:p>
            <a:pPr marL="742950" indent="-742950"/>
            <a:endParaRPr lang="fr-FR" sz="2800" b="1" dirty="0" smtClean="0">
              <a:solidFill>
                <a:srgbClr val="002060"/>
              </a:solidFill>
            </a:endParaRPr>
          </a:p>
          <a:p>
            <a:pPr marL="742950" indent="-742950"/>
            <a:r>
              <a:rPr lang="fr-FR" sz="2800" dirty="0" smtClean="0"/>
              <a:t>L’ovularion est l’expulsion  hors de l’ovaire, de l’ovocyte II, l’ovocyte n’est pas une cellule isolée: </a:t>
            </a:r>
          </a:p>
          <a:p>
            <a:r>
              <a:rPr lang="fr-FR" sz="2800" dirty="0" smtClean="0"/>
              <a:t>           + </a:t>
            </a:r>
            <a:r>
              <a:rPr lang="fr-FR" sz="2800" dirty="0" smtClean="0">
                <a:solidFill>
                  <a:srgbClr val="0070C0"/>
                </a:solidFill>
              </a:rPr>
              <a:t>Zone pellucide</a:t>
            </a:r>
          </a:p>
          <a:p>
            <a:r>
              <a:rPr lang="fr-FR" sz="2800" dirty="0" smtClean="0"/>
              <a:t>           + Cellules de la </a:t>
            </a:r>
            <a:r>
              <a:rPr lang="fr-FR" sz="2800" dirty="0" smtClean="0">
                <a:solidFill>
                  <a:srgbClr val="0070C0"/>
                </a:solidFill>
              </a:rPr>
              <a:t>Corona </a:t>
            </a:r>
            <a:r>
              <a:rPr lang="fr-FR" sz="2800" dirty="0" err="1" smtClean="0">
                <a:solidFill>
                  <a:srgbClr val="0070C0"/>
                </a:solidFill>
              </a:rPr>
              <a:t>Radiata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</a:p>
          <a:p>
            <a:r>
              <a:rPr lang="fr-FR" sz="2800" dirty="0" smtClean="0"/>
              <a:t>           + Cellules du </a:t>
            </a:r>
            <a:r>
              <a:rPr lang="fr-FR" sz="2800" dirty="0" smtClean="0">
                <a:solidFill>
                  <a:srgbClr val="0070C0"/>
                </a:solidFill>
              </a:rPr>
              <a:t>Cumulus </a:t>
            </a:r>
            <a:r>
              <a:rPr lang="fr-FR" sz="2800" dirty="0" err="1" smtClean="0">
                <a:solidFill>
                  <a:srgbClr val="0070C0"/>
                </a:solidFill>
              </a:rPr>
              <a:t>Oophorus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L’ensemble tombe dans le </a:t>
            </a:r>
            <a:r>
              <a:rPr lang="fr-FR" sz="2800" dirty="0" smtClean="0">
                <a:solidFill>
                  <a:srgbClr val="0070C0"/>
                </a:solidFill>
              </a:rPr>
              <a:t>tiers externe </a:t>
            </a:r>
            <a:r>
              <a:rPr lang="fr-FR" sz="2800" dirty="0" smtClean="0"/>
              <a:t>de la trompe  de Fallope (oviducte)      =  </a:t>
            </a:r>
            <a:r>
              <a:rPr lang="fr-FR" sz="2800" dirty="0" smtClean="0">
                <a:solidFill>
                  <a:srgbClr val="0070C0"/>
                </a:solidFill>
              </a:rPr>
              <a:t>lieu de la fécondation</a:t>
            </a:r>
          </a:p>
          <a:p>
            <a:endParaRPr lang="fr-FR" sz="3600" b="1" dirty="0" smtClean="0"/>
          </a:p>
          <a:p>
            <a:r>
              <a:rPr lang="fr-FR" sz="3600" b="1" dirty="0"/>
              <a:t/>
            </a:r>
            <a:br>
              <a:rPr lang="fr-FR" sz="3600" b="1" dirty="0"/>
            </a:br>
            <a:endParaRPr lang="fr-FR" sz="3600" b="1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-20349"/>
            <a:ext cx="8077917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002060"/>
                </a:solidFill>
              </a:rPr>
              <a:t>Mécanismes de l’ovulation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a. Phénomènes vasculaires </a:t>
            </a:r>
            <a:br>
              <a:rPr lang="fr-FR" sz="2800" b="1" dirty="0" smtClean="0">
                <a:solidFill>
                  <a:srgbClr val="0070C0"/>
                </a:solidFill>
              </a:rPr>
            </a:br>
            <a:r>
              <a:rPr lang="fr-FR" sz="2800" dirty="0" smtClean="0"/>
              <a:t>Pression du follicule                    ischémie la partie </a:t>
            </a:r>
          </a:p>
          <a:p>
            <a:r>
              <a:rPr lang="fr-FR" sz="2800" dirty="0" smtClean="0"/>
              <a:t>                                                    superficielle de l'ovaire 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Mécanismes enzymatiques </a:t>
            </a:r>
            <a:br>
              <a:rPr lang="fr-FR" sz="2800" b="1" dirty="0" smtClean="0">
                <a:solidFill>
                  <a:srgbClr val="0070C0"/>
                </a:solidFill>
              </a:rPr>
            </a:br>
            <a:r>
              <a:rPr lang="fr-FR" sz="2800" b="1" dirty="0" smtClean="0"/>
              <a:t> </a:t>
            </a:r>
            <a:r>
              <a:rPr lang="fr-FR" sz="2800" dirty="0" smtClean="0"/>
              <a:t>Lyse enzymatique de la paroi ovarienne. </a:t>
            </a:r>
            <a:br>
              <a:rPr lang="fr-FR" sz="2800" dirty="0" smtClean="0"/>
            </a:b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c. Contractions musculaires </a:t>
            </a:r>
            <a:br>
              <a:rPr lang="fr-FR" sz="2800" b="1" dirty="0" smtClean="0">
                <a:solidFill>
                  <a:srgbClr val="0070C0"/>
                </a:solidFill>
              </a:rPr>
            </a:br>
            <a:r>
              <a:rPr lang="fr-FR" sz="2800" dirty="0" smtClean="0"/>
              <a:t>Contraction des cellules musculaires lisses de l'ovaire</a:t>
            </a:r>
          </a:p>
          <a:p>
            <a:r>
              <a:rPr lang="fr-FR" sz="2800" dirty="0" smtClean="0"/>
              <a:t>                                </a:t>
            </a:r>
          </a:p>
          <a:p>
            <a:pPr>
              <a:buFont typeface="Arial" pitchFamily="34" charset="0"/>
              <a:buChar char="•"/>
            </a:pPr>
            <a:r>
              <a:rPr lang="fr-FR" sz="2800" dirty="0" smtClean="0"/>
              <a:t> Rupture de la paroi du follicule</a:t>
            </a:r>
          </a:p>
          <a:p>
            <a:r>
              <a:rPr lang="fr-FR" sz="2800" dirty="0" smtClean="0"/>
              <a:t> ( </a:t>
            </a:r>
            <a:r>
              <a:rPr lang="fr-FR" sz="2800" dirty="0" err="1" smtClean="0"/>
              <a:t>Granulosa</a:t>
            </a:r>
            <a:r>
              <a:rPr lang="fr-FR" sz="2800" dirty="0" smtClean="0"/>
              <a:t>, membrane de </a:t>
            </a:r>
            <a:r>
              <a:rPr lang="fr-FR" sz="2800" dirty="0" err="1" smtClean="0"/>
              <a:t>Slavjansky</a:t>
            </a:r>
            <a:r>
              <a:rPr lang="fr-FR" sz="2800" dirty="0" smtClean="0"/>
              <a:t> et thèques)</a:t>
            </a:r>
          </a:p>
          <a:p>
            <a:pPr>
              <a:buFont typeface="Arial" pitchFamily="34" charset="0"/>
              <a:buChar char="•"/>
            </a:pPr>
            <a:r>
              <a:rPr lang="fr-FR" sz="2800" dirty="0" smtClean="0"/>
              <a:t> Rupture de l’épithélium ovarien.</a:t>
            </a:r>
            <a:endParaRPr lang="fr-FR" sz="2800" dirty="0"/>
          </a:p>
        </p:txBody>
      </p:sp>
      <p:sp>
        <p:nvSpPr>
          <p:cNvPr id="3" name="Flèche droite 2"/>
          <p:cNvSpPr/>
          <p:nvPr/>
        </p:nvSpPr>
        <p:spPr>
          <a:xfrm>
            <a:off x="3419872" y="1556792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32656"/>
            <a:ext cx="6902015" cy="417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9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မမျိုးဥကြွေခြင်းဖြစ်စဉ်"/>
          <p:cNvSpPr>
            <a:spLocks noChangeAspect="1" noChangeArrowheads="1"/>
          </p:cNvSpPr>
          <p:nvPr/>
        </p:nvSpPr>
        <p:spPr bwMode="auto">
          <a:xfrm>
            <a:off x="155575" y="-914400"/>
            <a:ext cx="2400300" cy="1914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8" name="Picture 4" descr="မမျိုးဥကြွေခြင်းဖြစ်စဉ်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0"/>
            <a:ext cx="4283968" cy="3573016"/>
          </a:xfrm>
          <a:prstGeom prst="rect">
            <a:avLst/>
          </a:prstGeom>
          <a:noFill/>
        </p:spPr>
      </p:pic>
      <p:pic>
        <p:nvPicPr>
          <p:cNvPr id="1030" name="Picture 6" descr="Ovulation Photograph by Cnri/science Photo Library - Fine Art Americ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0"/>
            <a:ext cx="4572000" cy="3573016"/>
          </a:xfrm>
          <a:prstGeom prst="rect">
            <a:avLst/>
          </a:prstGeom>
          <a:noFill/>
        </p:spPr>
      </p:pic>
      <p:pic>
        <p:nvPicPr>
          <p:cNvPr id="1032" name="Picture 8" descr="Fertility Mythbuster: A woman's ovulation is the same every month. - Austin  Fertility &amp; Reproductive Medicin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717033"/>
            <a:ext cx="7632848" cy="2376263"/>
          </a:xfrm>
          <a:prstGeom prst="rect">
            <a:avLst/>
          </a:prstGeom>
          <a:noFill/>
        </p:spPr>
      </p:pic>
      <p:sp>
        <p:nvSpPr>
          <p:cNvPr id="2" name="ZoneTexte 1"/>
          <p:cNvSpPr txBox="1"/>
          <p:nvPr/>
        </p:nvSpPr>
        <p:spPr>
          <a:xfrm>
            <a:off x="3707904" y="6237313"/>
            <a:ext cx="144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Ovulation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07504" y="2031324"/>
            <a:ext cx="8856924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/>
              <a:t> 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                                   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.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-756592" y="79776"/>
            <a:ext cx="8319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002060"/>
                </a:solidFill>
              </a:rPr>
              <a:t>                              FORMATION OF THE </a:t>
            </a:r>
            <a:r>
              <a:rPr lang="fr-FR" sz="2800" b="1" dirty="0" smtClean="0">
                <a:solidFill>
                  <a:srgbClr val="002060"/>
                </a:solidFill>
              </a:rPr>
              <a:t>CORPUS LUTEUM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14" name="Flèche droite 13"/>
          <p:cNvSpPr/>
          <p:nvPr/>
        </p:nvSpPr>
        <p:spPr>
          <a:xfrm>
            <a:off x="4994207" y="1339150"/>
            <a:ext cx="978408" cy="150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droite 14"/>
          <p:cNvSpPr/>
          <p:nvPr/>
        </p:nvSpPr>
        <p:spPr>
          <a:xfrm>
            <a:off x="4046762" y="2591504"/>
            <a:ext cx="978408" cy="1630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-31976" y="680625"/>
            <a:ext cx="8784916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800" dirty="0" smtClean="0"/>
          </a:p>
          <a:p>
            <a:r>
              <a:rPr lang="fr-FR" sz="2800" dirty="0" smtClean="0"/>
              <a:t>The </a:t>
            </a:r>
            <a:r>
              <a:rPr lang="fr-FR" sz="2800" dirty="0"/>
              <a:t>rest of the follicle transforms </a:t>
            </a:r>
            <a:r>
              <a:rPr lang="fr-FR" sz="2800" dirty="0" smtClean="0"/>
              <a:t>                  corpus luteum</a:t>
            </a:r>
          </a:p>
          <a:p>
            <a:r>
              <a:rPr lang="fr-FR" sz="2800" dirty="0"/>
              <a:t> </a:t>
            </a:r>
            <a:r>
              <a:rPr lang="fr-FR" sz="2800" dirty="0" smtClean="0"/>
              <a:t>                                                        luteinization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Granulosa </a:t>
            </a:r>
            <a:r>
              <a:rPr lang="fr-FR" sz="2800" dirty="0" smtClean="0"/>
              <a:t>(</a:t>
            </a:r>
            <a:r>
              <a:rPr lang="fr-FR" sz="2800" dirty="0"/>
              <a:t>luteal </a:t>
            </a:r>
            <a:r>
              <a:rPr lang="fr-FR" sz="2800" dirty="0" smtClean="0"/>
              <a:t>cells)                                 Progesterone</a:t>
            </a:r>
            <a:endParaRPr lang="fr-FR" sz="2800" dirty="0"/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Internal Theca (</a:t>
            </a:r>
            <a:r>
              <a:rPr lang="fr-FR" sz="2800" dirty="0"/>
              <a:t>paraluteal </a:t>
            </a:r>
            <a:r>
              <a:rPr lang="fr-FR" sz="2800" dirty="0" smtClean="0"/>
              <a:t>cells)                       Estrogen</a:t>
            </a:r>
          </a:p>
          <a:p>
            <a:endParaRPr lang="fr-FR" sz="2800" dirty="0"/>
          </a:p>
          <a:p>
            <a:r>
              <a:rPr lang="fr-FR" sz="2800" dirty="0" smtClean="0"/>
              <a:t>Fertilization:   gestatif </a:t>
            </a:r>
            <a:r>
              <a:rPr lang="fr-FR" sz="2800" dirty="0"/>
              <a:t>corpus luteum </a:t>
            </a:r>
            <a:r>
              <a:rPr lang="fr-FR" sz="2800" dirty="0" smtClean="0"/>
              <a:t>corpus </a:t>
            </a:r>
            <a:r>
              <a:rPr lang="fr-FR" sz="2800" dirty="0"/>
              <a:t>luteum.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 smtClean="0"/>
              <a:t>Absence </a:t>
            </a:r>
            <a:r>
              <a:rPr lang="fr-FR" sz="2800" dirty="0"/>
              <a:t>of </a:t>
            </a:r>
            <a:r>
              <a:rPr lang="fr-FR" sz="2800" dirty="0" smtClean="0"/>
              <a:t>fertilization:  progestational </a:t>
            </a:r>
            <a:r>
              <a:rPr lang="fr-FR" sz="2800" dirty="0"/>
              <a:t>corpus luteum.</a:t>
            </a:r>
            <a:endParaRPr lang="fr-FR" sz="2800" dirty="0" smtClean="0"/>
          </a:p>
          <a:p>
            <a:endParaRPr lang="fr-FR" dirty="0"/>
          </a:p>
        </p:txBody>
      </p:sp>
      <p:sp>
        <p:nvSpPr>
          <p:cNvPr id="5" name="Flèche droite 4"/>
          <p:cNvSpPr/>
          <p:nvPr/>
        </p:nvSpPr>
        <p:spPr>
          <a:xfrm>
            <a:off x="4889337" y="3477874"/>
            <a:ext cx="97840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07504" y="523220"/>
            <a:ext cx="8856924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3200" b="1" dirty="0" smtClean="0"/>
              <a:t>  </a:t>
            </a:r>
            <a:r>
              <a:rPr lang="fr-FR" sz="2800" dirty="0" smtClean="0"/>
              <a:t>Le reste du </a:t>
            </a:r>
            <a:r>
              <a:rPr lang="fr-FR" sz="2800" dirty="0"/>
              <a:t>follicule </a:t>
            </a:r>
            <a:r>
              <a:rPr lang="fr-FR" sz="2800" dirty="0" smtClean="0"/>
              <a:t>se transforme en c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orps jaune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c’est la  </a:t>
            </a:r>
            <a:r>
              <a:rPr lang="fr-FR" sz="2800" dirty="0" smtClean="0">
                <a:solidFill>
                  <a:srgbClr val="0070C0"/>
                </a:solidFill>
                <a:ea typeface="Times New Roman" pitchFamily="18" charset="0"/>
                <a:cs typeface="Times New Roman" pitchFamily="18" charset="0"/>
              </a:rPr>
              <a:t>Lutéinisation,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     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                                   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Les cellules de la Granulosa                   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cellules lutéales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                                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solidFill>
                  <a:srgbClr val="0070C0"/>
                </a:solidFill>
                <a:ea typeface="Times New Roman" pitchFamily="18" charset="0"/>
                <a:cs typeface="Times New Roman" pitchFamily="18" charset="0"/>
              </a:rPr>
              <a:t>                                                                      Progestérone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Les cellules de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la thèque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                        cellules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para lutéales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interne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Times New Roman" pitchFamily="18" charset="0"/>
              </a:rPr>
              <a:t>                                                                          Œstrogènes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.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6998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                             FORMATION DU CORP JAUNE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14" name="Flèche droite 13"/>
          <p:cNvSpPr/>
          <p:nvPr/>
        </p:nvSpPr>
        <p:spPr>
          <a:xfrm>
            <a:off x="4392428" y="2070768"/>
            <a:ext cx="978408" cy="150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droite 14"/>
          <p:cNvSpPr/>
          <p:nvPr/>
        </p:nvSpPr>
        <p:spPr>
          <a:xfrm>
            <a:off x="4392428" y="3440359"/>
            <a:ext cx="978408" cy="1630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 vers le bas 15"/>
          <p:cNvSpPr/>
          <p:nvPr/>
        </p:nvSpPr>
        <p:spPr>
          <a:xfrm>
            <a:off x="6576325" y="2458460"/>
            <a:ext cx="143218" cy="3104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vers le bas 16"/>
          <p:cNvSpPr/>
          <p:nvPr/>
        </p:nvSpPr>
        <p:spPr>
          <a:xfrm>
            <a:off x="6647535" y="3702412"/>
            <a:ext cx="144016" cy="3500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205" y="4716491"/>
            <a:ext cx="9242337" cy="203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4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140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267744" y="6488668"/>
            <a:ext cx="3835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/>
              <a:t>Ovulation et formation du corps jaune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3969050" y="3054598"/>
            <a:ext cx="18403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chemeClr val="tx2"/>
                </a:solidFill>
                <a:ea typeface="Times New Roman" pitchFamily="18" charset="0"/>
                <a:cs typeface="Times New Roman" pitchFamily="18" charset="0"/>
              </a:rPr>
              <a:t>Lutéinisation</a:t>
            </a:r>
            <a:endParaRPr lang="fr-FR" sz="2400" dirty="0">
              <a:solidFill>
                <a:schemeClr val="tx2"/>
              </a:solidFill>
            </a:endParaRPr>
          </a:p>
        </p:txBody>
      </p:sp>
      <p:sp>
        <p:nvSpPr>
          <p:cNvPr id="20482" name="AutoShape 2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484" name="AutoShape 4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0486" name="AutoShape 6" descr="Trois exemples de dysfonctionnement de l'ovaire chez la vache laitière |  Réussir la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488" name="Picture 8" descr="Corps jaune — Wikipédi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3573016"/>
            <a:ext cx="6048672" cy="32849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23203" y="-82693"/>
            <a:ext cx="91613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                          </a:t>
            </a:r>
            <a:r>
              <a:rPr lang="fr-FR" sz="2800" b="1" dirty="0">
                <a:solidFill>
                  <a:srgbClr val="002060"/>
                </a:solidFill>
              </a:rPr>
              <a:t>2. Le cycle ovarien et le cycle utérin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Le cycle ovarien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                                               </a:t>
            </a:r>
            <a:r>
              <a:rPr lang="fr-FR" sz="2800" b="1" dirty="0">
                <a:solidFill>
                  <a:srgbClr val="0070C0"/>
                </a:solidFill>
              </a:rPr>
              <a:t>Ovarian </a:t>
            </a:r>
            <a:r>
              <a:rPr lang="fr-FR" sz="2800" b="1" dirty="0" smtClean="0">
                <a:solidFill>
                  <a:srgbClr val="0070C0"/>
                </a:solidFill>
              </a:rPr>
              <a:t>cycle</a:t>
            </a:r>
          </a:p>
          <a:p>
            <a:r>
              <a:rPr lang="fr-FR" b="1" dirty="0" smtClean="0">
                <a:solidFill>
                  <a:srgbClr val="0070C0"/>
                </a:solidFill>
              </a:rPr>
              <a:t>               (Pre-ovulatory phase)                                                    (Post-ovulatory phase)</a:t>
            </a:r>
          </a:p>
          <a:p>
            <a:r>
              <a:rPr lang="fr-FR" sz="2400" b="1" dirty="0" smtClean="0"/>
              <a:t>         Phase pré-ovulatoire                                Phase post-ovulatoire</a:t>
            </a:r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717032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4293096"/>
            <a:ext cx="937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                                                        J 14                                                                          J 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>
            <a:off x="4572000" y="2060848"/>
            <a:ext cx="50304" cy="235456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4108369" y="4647039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6" name="Double flèche horizontale 15"/>
          <p:cNvSpPr/>
          <p:nvPr/>
        </p:nvSpPr>
        <p:spPr>
          <a:xfrm>
            <a:off x="0" y="3068960"/>
            <a:ext cx="4572000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6" y="3068960"/>
            <a:ext cx="4176464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827584" y="1990802"/>
            <a:ext cx="403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 </a:t>
            </a:r>
            <a:r>
              <a:rPr lang="fr-FR" sz="2400" b="1" dirty="0" smtClean="0">
                <a:solidFill>
                  <a:srgbClr val="0070C0"/>
                </a:solidFill>
              </a:rPr>
              <a:t>(Phase   folliculaire)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    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55312" y="1794086"/>
            <a:ext cx="3371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Phase   luteale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(Luteal phase)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  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45608" y="4293096"/>
            <a:ext cx="37444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Développ </a:t>
            </a:r>
            <a:r>
              <a:rPr lang="fr-FR" sz="2800" dirty="0" smtClean="0"/>
              <a:t>folliculaire</a:t>
            </a:r>
          </a:p>
          <a:p>
            <a:r>
              <a:rPr lang="fr-FR" sz="2800" dirty="0" smtClean="0"/>
              <a:t>(Follicular development)</a:t>
            </a:r>
          </a:p>
          <a:p>
            <a:endParaRPr lang="fr-FR" sz="2800" dirty="0">
              <a:solidFill>
                <a:srgbClr val="00B05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724128" y="4221088"/>
            <a:ext cx="269368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Formation du</a:t>
            </a:r>
          </a:p>
          <a:p>
            <a:r>
              <a:rPr lang="fr-FR" sz="2800" dirty="0" smtClean="0"/>
              <a:t>  corps jaune</a:t>
            </a:r>
          </a:p>
          <a:p>
            <a:r>
              <a:rPr lang="fr-FR" sz="2800" dirty="0" smtClean="0"/>
              <a:t>(formation of the</a:t>
            </a:r>
          </a:p>
          <a:p>
            <a:r>
              <a:rPr lang="fr-FR" sz="2800" dirty="0" smtClean="0"/>
              <a:t> corpus luteum)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20" grpId="0" build="allAtOnce"/>
      <p:bldP spid="15" grpId="0" build="allAtOnce"/>
      <p:bldP spid="23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 cycle utérin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5" y="3068960"/>
            <a:ext cx="4379703" cy="8885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-123866" y="1369223"/>
            <a:ext cx="2840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 Phase  menstruelle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(Menstrual phase)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1474444" y="2086327"/>
            <a:ext cx="3047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>
                <a:solidFill>
                  <a:srgbClr val="00B0F0"/>
                </a:solidFill>
              </a:rPr>
              <a:t>Phase  </a:t>
            </a:r>
            <a:r>
              <a:rPr lang="fr-FR" sz="2400" b="1" dirty="0" smtClean="0">
                <a:solidFill>
                  <a:srgbClr val="00B0F0"/>
                </a:solidFill>
              </a:rPr>
              <a:t>proliférative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 </a:t>
            </a:r>
            <a:r>
              <a:rPr lang="fr-FR" sz="2400" b="1" dirty="0" smtClean="0">
                <a:solidFill>
                  <a:srgbClr val="00B0F0"/>
                </a:solidFill>
              </a:rPr>
              <a:t>   (Proliferative phase)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04992" y="1566254"/>
            <a:ext cx="345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>
                <a:solidFill>
                  <a:srgbClr val="00B0F0"/>
                </a:solidFill>
              </a:rPr>
              <a:t>Phase </a:t>
            </a:r>
            <a:r>
              <a:rPr lang="fr-FR" sz="2400" b="1" dirty="0" smtClean="0">
                <a:solidFill>
                  <a:srgbClr val="00B0F0"/>
                </a:solidFill>
              </a:rPr>
              <a:t>secrétoire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(</a:t>
            </a:r>
            <a:r>
              <a:rPr lang="fr-FR" sz="2400" b="1" dirty="0" smtClean="0">
                <a:solidFill>
                  <a:srgbClr val="00B0F0"/>
                </a:solidFill>
              </a:rPr>
              <a:t>Secretory phase)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18331" y="2169772"/>
            <a:ext cx="1947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</a:rPr>
              <a:t>Phase  </a:t>
            </a:r>
            <a:r>
              <a:rPr lang="fr-FR" sz="1600" b="1" dirty="0" smtClean="0">
                <a:solidFill>
                  <a:srgbClr val="FF0000"/>
                </a:solidFill>
              </a:rPr>
              <a:t>ischémique</a:t>
            </a:r>
          </a:p>
          <a:p>
            <a:r>
              <a:rPr lang="fr-FR" sz="1600" b="1" dirty="0" smtClean="0">
                <a:solidFill>
                  <a:srgbClr val="FF0000"/>
                </a:solidFill>
              </a:rPr>
              <a:t>(Ischemic phase)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-17674" y="4028259"/>
            <a:ext cx="5093730" cy="181588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 </a:t>
            </a:r>
            <a:r>
              <a:rPr lang="fr-FR" sz="2800" dirty="0">
                <a:solidFill>
                  <a:schemeClr val="bg1"/>
                </a:solidFill>
              </a:rPr>
              <a:t>-Reappearance of the epithelium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Increase </a:t>
            </a:r>
            <a:r>
              <a:rPr lang="fr-FR" sz="2800" dirty="0">
                <a:solidFill>
                  <a:schemeClr val="bg1"/>
                </a:solidFill>
              </a:rPr>
              <a:t>in the number of uterine glands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Development </a:t>
            </a:r>
            <a:r>
              <a:rPr lang="fr-FR" sz="2800" dirty="0">
                <a:solidFill>
                  <a:schemeClr val="bg1"/>
                </a:solidFill>
              </a:rPr>
              <a:t>of arteries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5024186" y="3718862"/>
            <a:ext cx="8239628" cy="31085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dirty="0">
                <a:solidFill>
                  <a:schemeClr val="bg1"/>
                </a:solidFill>
              </a:rPr>
              <a:t>-Thickening of the endometrium</a:t>
            </a:r>
          </a:p>
          <a:p>
            <a:r>
              <a:rPr lang="fr-FR" sz="2800" dirty="0">
                <a:solidFill>
                  <a:schemeClr val="bg1"/>
                </a:solidFill>
              </a:rPr>
              <a:t>- the glandular tubes become convoluted and tortuous:</a:t>
            </a:r>
          </a:p>
          <a:p>
            <a:r>
              <a:rPr lang="fr-FR" sz="2800" dirty="0">
                <a:solidFill>
                  <a:schemeClr val="bg1"/>
                </a:solidFill>
              </a:rPr>
              <a:t>= uterine lace</a:t>
            </a:r>
          </a:p>
          <a:p>
            <a:r>
              <a:rPr lang="fr-FR" sz="2800" dirty="0">
                <a:solidFill>
                  <a:schemeClr val="bg1"/>
                </a:solidFill>
              </a:rPr>
              <a:t>Sign of secretion = glycogen and mucus</a:t>
            </a:r>
          </a:p>
          <a:p>
            <a:r>
              <a:rPr lang="fr-FR" sz="2800" dirty="0">
                <a:solidFill>
                  <a:schemeClr val="bg1"/>
                </a:solidFill>
              </a:rPr>
              <a:t>- the arterioles become spiral.</a:t>
            </a:r>
          </a:p>
          <a:p>
            <a:endParaRPr lang="fr-FR" sz="2800" dirty="0" smtClean="0"/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9" grpId="0" build="allAtOnce"/>
      <p:bldP spid="20" grpId="0" build="allAtOnce"/>
      <p:bldP spid="22" grpId="0" build="allAtOnce"/>
      <p:bldP spid="15" grpId="0" build="allAtOnce" animBg="1"/>
      <p:bldP spid="23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 cycle utérin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5" y="3068960"/>
            <a:ext cx="4379703" cy="8885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-123866" y="1369223"/>
            <a:ext cx="2840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 Phase  menstruelle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(Menstrual phase)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1474444" y="2086327"/>
            <a:ext cx="3047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>
                <a:solidFill>
                  <a:srgbClr val="00B0F0"/>
                </a:solidFill>
              </a:rPr>
              <a:t>Phase  </a:t>
            </a:r>
            <a:r>
              <a:rPr lang="fr-FR" sz="2400" b="1" dirty="0" smtClean="0">
                <a:solidFill>
                  <a:srgbClr val="00B0F0"/>
                </a:solidFill>
              </a:rPr>
              <a:t>proliférative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 </a:t>
            </a:r>
            <a:r>
              <a:rPr lang="fr-FR" sz="2400" b="1" dirty="0" smtClean="0">
                <a:solidFill>
                  <a:srgbClr val="00B0F0"/>
                </a:solidFill>
              </a:rPr>
              <a:t>   (Proliferative phase)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604992" y="1566254"/>
            <a:ext cx="34563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>
                <a:solidFill>
                  <a:srgbClr val="00B0F0"/>
                </a:solidFill>
              </a:rPr>
              <a:t>Phase </a:t>
            </a:r>
            <a:r>
              <a:rPr lang="fr-FR" sz="2400" b="1" dirty="0" smtClean="0">
                <a:solidFill>
                  <a:srgbClr val="00B0F0"/>
                </a:solidFill>
              </a:rPr>
              <a:t>secrétoire</a:t>
            </a:r>
          </a:p>
          <a:p>
            <a:r>
              <a:rPr lang="fr-FR" sz="2400" b="1" dirty="0">
                <a:solidFill>
                  <a:srgbClr val="00B0F0"/>
                </a:solidFill>
              </a:rPr>
              <a:t>(</a:t>
            </a:r>
            <a:r>
              <a:rPr lang="fr-FR" sz="2400" b="1" dirty="0" smtClean="0">
                <a:solidFill>
                  <a:srgbClr val="00B0F0"/>
                </a:solidFill>
              </a:rPr>
              <a:t>Secretory phase)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   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18331" y="2169772"/>
            <a:ext cx="1947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FF0000"/>
                </a:solidFill>
              </a:rPr>
              <a:t>Phase  </a:t>
            </a:r>
            <a:r>
              <a:rPr lang="fr-FR" sz="1600" b="1" dirty="0" smtClean="0">
                <a:solidFill>
                  <a:srgbClr val="FF0000"/>
                </a:solidFill>
              </a:rPr>
              <a:t>ischémique</a:t>
            </a:r>
          </a:p>
          <a:p>
            <a:r>
              <a:rPr lang="fr-FR" sz="1600" b="1" dirty="0" smtClean="0">
                <a:solidFill>
                  <a:srgbClr val="FF0000"/>
                </a:solidFill>
              </a:rPr>
              <a:t>(Ischemic phase)</a:t>
            </a:r>
            <a:endParaRPr lang="fr-FR" sz="1600" b="1" dirty="0">
              <a:solidFill>
                <a:srgbClr val="FF0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-17674" y="4028259"/>
            <a:ext cx="5093730" cy="138499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 - Réapparition de l’épithélium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chemeClr val="bg1"/>
                </a:solidFill>
              </a:rPr>
              <a:t> Augmentation des glandes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chemeClr val="bg1"/>
                </a:solidFill>
              </a:rPr>
              <a:t>Développement des artères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535683" y="3723373"/>
            <a:ext cx="6567567" cy="310854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800" dirty="0" smtClean="0"/>
              <a:t> </a:t>
            </a:r>
            <a:r>
              <a:rPr lang="fr-FR" sz="2800" dirty="0" smtClean="0">
                <a:solidFill>
                  <a:schemeClr val="bg1"/>
                </a:solidFill>
              </a:rPr>
              <a:t>- Epaississement de L’endomètre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Tubes glandulaires  </a:t>
            </a:r>
            <a:r>
              <a:rPr lang="fr-FR" sz="2800" dirty="0">
                <a:solidFill>
                  <a:schemeClr val="bg1"/>
                </a:solidFill>
              </a:rPr>
              <a:t>contournés et </a:t>
            </a:r>
            <a:r>
              <a:rPr lang="fr-FR" sz="2800" dirty="0" smtClean="0">
                <a:solidFill>
                  <a:schemeClr val="bg1"/>
                </a:solidFill>
              </a:rPr>
              <a:t>sinueux: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    = Dentelle utérine</a:t>
            </a:r>
          </a:p>
          <a:p>
            <a:pPr>
              <a:buFontTx/>
              <a:buChar char="-"/>
            </a:pPr>
            <a:r>
              <a:rPr lang="fr-FR" sz="2800" dirty="0" smtClean="0">
                <a:solidFill>
                  <a:schemeClr val="bg1"/>
                </a:solidFill>
              </a:rPr>
              <a:t> Signe de sécrétion= glycogène et mucus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Artérioles </a:t>
            </a:r>
            <a:r>
              <a:rPr lang="fr-FR" sz="2800" dirty="0">
                <a:solidFill>
                  <a:schemeClr val="bg1"/>
                </a:solidFill>
              </a:rPr>
              <a:t>spiralées.</a:t>
            </a:r>
          </a:p>
          <a:p>
            <a:pPr>
              <a:buFontTx/>
              <a:buChar char="-"/>
            </a:pPr>
            <a:endParaRPr lang="fr-FR" sz="2800" dirty="0" smtClean="0"/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20471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9" grpId="0" build="allAtOnce"/>
      <p:bldP spid="20" grpId="0" build="allAtOnce"/>
      <p:bldP spid="22" grpId="0" build="allAtOnce"/>
      <p:bldP spid="15" grpId="0" build="allAtOnce" animBg="1"/>
      <p:bldP spid="23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9144000" cy="6192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 cycle utérin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5" y="3068960"/>
            <a:ext cx="4379703" cy="8885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2348880"/>
            <a:ext cx="1787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      Phase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 menstruelle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52320" y="2132856"/>
            <a:ext cx="1643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ischémique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-17674" y="4028259"/>
            <a:ext cx="2717466" cy="181588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 -Hemorrhage</a:t>
            </a:r>
            <a:endParaRPr lang="fr-FR" sz="2800" dirty="0">
              <a:solidFill>
                <a:schemeClr val="bg1"/>
              </a:solidFill>
            </a:endParaRPr>
          </a:p>
          <a:p>
            <a:r>
              <a:rPr lang="fr-FR" sz="2800" dirty="0" smtClean="0">
                <a:solidFill>
                  <a:schemeClr val="bg1"/>
                </a:solidFill>
              </a:rPr>
              <a:t>- Elimination </a:t>
            </a:r>
            <a:r>
              <a:rPr lang="fr-FR" sz="2800" dirty="0">
                <a:solidFill>
                  <a:schemeClr val="bg1"/>
                </a:solidFill>
              </a:rPr>
              <a:t>of the functional </a:t>
            </a:r>
            <a:r>
              <a:rPr lang="fr-FR" sz="2800" dirty="0" smtClean="0">
                <a:solidFill>
                  <a:schemeClr val="bg1"/>
                </a:solidFill>
              </a:rPr>
              <a:t>                layer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6372200" y="4086364"/>
            <a:ext cx="3667362" cy="181588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- Circulatory </a:t>
            </a:r>
            <a:r>
              <a:rPr lang="fr-FR" sz="2800" dirty="0">
                <a:solidFill>
                  <a:schemeClr val="bg1"/>
                </a:solidFill>
              </a:rPr>
              <a:t>slowdown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Superficial </a:t>
            </a:r>
            <a:r>
              <a:rPr lang="fr-FR" sz="2800" dirty="0">
                <a:solidFill>
                  <a:schemeClr val="bg1"/>
                </a:solidFill>
              </a:rPr>
              <a:t>necrosis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 Rupture </a:t>
            </a:r>
            <a:r>
              <a:rPr lang="fr-FR" sz="2800" dirty="0">
                <a:solidFill>
                  <a:schemeClr val="bg1"/>
                </a:solidFill>
              </a:rPr>
              <a:t>of the arteriolar wall</a:t>
            </a:r>
            <a:endParaRPr lang="fr-FR" sz="2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18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22" grpId="0" build="allAtOnce"/>
      <p:bldP spid="23" grpId="0" build="allAtOnce" animBg="1"/>
      <p:bldP spid="25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55776" y="-32030"/>
            <a:ext cx="91613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 cycle utérin (menstruel) </a:t>
            </a:r>
          </a:p>
          <a:p>
            <a:endParaRPr lang="fr-FR" sz="2400" b="1" dirty="0"/>
          </a:p>
        </p:txBody>
      </p:sp>
      <p:sp>
        <p:nvSpPr>
          <p:cNvPr id="4" name="Double flèche horizontale 3"/>
          <p:cNvSpPr/>
          <p:nvPr/>
        </p:nvSpPr>
        <p:spPr>
          <a:xfrm>
            <a:off x="0" y="3212976"/>
            <a:ext cx="9144000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-17675" y="3717032"/>
            <a:ext cx="929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J1                        J5                                                      J14                                                    J 26                 J28</a:t>
            </a:r>
            <a:endParaRPr lang="fr-FR" b="1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4622304" y="620688"/>
            <a:ext cx="21704" cy="3794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3797463" y="872637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14" name="Double flèche horizontale 13"/>
          <p:cNvSpPr/>
          <p:nvPr/>
        </p:nvSpPr>
        <p:spPr>
          <a:xfrm>
            <a:off x="0" y="3068960"/>
            <a:ext cx="1539680" cy="144016"/>
          </a:xfrm>
          <a:prstGeom prst="leftRightArrow">
            <a:avLst/>
          </a:prstGeom>
          <a:solidFill>
            <a:srgbClr val="FF0000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Double flèche horizontale 15"/>
          <p:cNvSpPr/>
          <p:nvPr/>
        </p:nvSpPr>
        <p:spPr>
          <a:xfrm>
            <a:off x="1547664" y="3068960"/>
            <a:ext cx="3024336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7" name="Double flèche horizontale 16"/>
          <p:cNvSpPr/>
          <p:nvPr/>
        </p:nvSpPr>
        <p:spPr>
          <a:xfrm>
            <a:off x="4716015" y="3068960"/>
            <a:ext cx="4379703" cy="8885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0" y="2348880"/>
            <a:ext cx="1787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      Phase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 menstruelle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21" name="Double flèche horizontale 20"/>
          <p:cNvSpPr/>
          <p:nvPr/>
        </p:nvSpPr>
        <p:spPr>
          <a:xfrm>
            <a:off x="7640216" y="2924944"/>
            <a:ext cx="1503784" cy="144016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7452320" y="2132856"/>
            <a:ext cx="1643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    </a:t>
            </a:r>
            <a:r>
              <a:rPr lang="fr-FR" sz="2400" b="1" dirty="0" smtClean="0">
                <a:solidFill>
                  <a:srgbClr val="00B0F0"/>
                </a:solidFill>
              </a:rPr>
              <a:t>Phase 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ischémique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2" y="4179045"/>
            <a:ext cx="4427985" cy="187773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432" y="4201664"/>
            <a:ext cx="5182049" cy="20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9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22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16632"/>
            <a:ext cx="939653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                           </a:t>
            </a:r>
            <a:r>
              <a:rPr lang="fr-FR" sz="2800" b="1" dirty="0" smtClean="0">
                <a:solidFill>
                  <a:schemeClr val="tx2"/>
                </a:solidFill>
              </a:rPr>
              <a:t>Menstrual </a:t>
            </a:r>
            <a:r>
              <a:rPr lang="fr-FR" sz="2800" b="1" dirty="0">
                <a:solidFill>
                  <a:schemeClr val="tx2"/>
                </a:solidFill>
              </a:rPr>
              <a:t>Cycle Disorders</a:t>
            </a:r>
          </a:p>
          <a:p>
            <a:endParaRPr lang="fr-FR" sz="2800" dirty="0"/>
          </a:p>
          <a:p>
            <a:r>
              <a:rPr lang="fr-FR" sz="2800" dirty="0" smtClean="0"/>
              <a:t>                      a</a:t>
            </a:r>
            <a:r>
              <a:rPr lang="fr-FR" sz="2800" dirty="0"/>
              <a:t>. </a:t>
            </a:r>
            <a:r>
              <a:rPr lang="fr-FR" sz="2800" b="1" dirty="0">
                <a:solidFill>
                  <a:srgbClr val="00B0F0"/>
                </a:solidFill>
              </a:rPr>
              <a:t>Quantitative Abnormalities</a:t>
            </a:r>
          </a:p>
          <a:p>
            <a:r>
              <a:rPr lang="fr-FR" sz="2800" b="1" dirty="0" smtClean="0"/>
              <a:t>1. Amenorrhea</a:t>
            </a:r>
            <a:r>
              <a:rPr lang="fr-FR" sz="2800" dirty="0"/>
              <a:t>: This is the absence of menstrual periods.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u="sng" dirty="0"/>
              <a:t>Primary amenorrhea</a:t>
            </a:r>
            <a:r>
              <a:rPr lang="fr-FR" sz="2800" dirty="0"/>
              <a:t>: absence of menstrual periods at the age of 16.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u="sng" dirty="0"/>
              <a:t>Secondary amenorrhea</a:t>
            </a:r>
            <a:r>
              <a:rPr lang="fr-FR" sz="2800" dirty="0"/>
              <a:t>: absence of menstrual periods for more than 3 months.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2</a:t>
            </a:r>
            <a:r>
              <a:rPr lang="fr-FR" sz="2800" b="1" dirty="0"/>
              <a:t>. Menorrhagia</a:t>
            </a:r>
            <a:r>
              <a:rPr lang="fr-FR" sz="2800" dirty="0"/>
              <a:t>: hemorrhages.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Functional menorrhagia: abnormal bleeding in duration and/or abundance.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Organic menorrhagia: linked to the presence of a fibromatous uterus.</a:t>
            </a:r>
          </a:p>
        </p:txBody>
      </p:sp>
    </p:spTree>
    <p:extLst>
      <p:ext uri="{BB962C8B-B14F-4D97-AF65-F5344CB8AC3E}">
        <p14:creationId xmlns:p14="http://schemas.microsoft.com/office/powerpoint/2010/main" val="1783221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16632"/>
            <a:ext cx="93965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/>
              <a:t>                           </a:t>
            </a:r>
            <a:r>
              <a:rPr lang="fr-FR" sz="2800" dirty="0" smtClean="0">
                <a:solidFill>
                  <a:srgbClr val="00B0F0"/>
                </a:solidFill>
              </a:rPr>
              <a:t>b. Menstrual </a:t>
            </a:r>
            <a:r>
              <a:rPr lang="fr-FR" sz="2800" dirty="0">
                <a:solidFill>
                  <a:srgbClr val="00B0F0"/>
                </a:solidFill>
              </a:rPr>
              <a:t>arrhythmias</a:t>
            </a:r>
          </a:p>
          <a:p>
            <a:endParaRPr lang="fr-FR" sz="2800" dirty="0">
              <a:solidFill>
                <a:srgbClr val="00B0F0"/>
              </a:solidFill>
            </a:endParaRPr>
          </a:p>
          <a:p>
            <a:r>
              <a:rPr lang="fr-FR" sz="2800" dirty="0" smtClean="0"/>
              <a:t>1. </a:t>
            </a:r>
            <a:r>
              <a:rPr lang="fr-FR" sz="2800" b="1" dirty="0" smtClean="0"/>
              <a:t>Short </a:t>
            </a:r>
            <a:r>
              <a:rPr lang="fr-FR" sz="2800" b="1" dirty="0"/>
              <a:t>cycles</a:t>
            </a:r>
            <a:r>
              <a:rPr lang="fr-FR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Polymenorrhea or </a:t>
            </a:r>
            <a:r>
              <a:rPr lang="fr-FR" sz="2800" b="1" dirty="0" smtClean="0"/>
              <a:t>pollakimenorrhea:</a:t>
            </a:r>
            <a:endParaRPr lang="fr-FR" sz="2800" b="1" dirty="0"/>
          </a:p>
          <a:p>
            <a:r>
              <a:rPr lang="fr-FR" sz="2800" dirty="0" smtClean="0"/>
              <a:t>              Menstruation </a:t>
            </a:r>
            <a:r>
              <a:rPr lang="fr-FR" sz="2800" dirty="0"/>
              <a:t>every 2 to 3 weeks.</a:t>
            </a:r>
          </a:p>
          <a:p>
            <a:endParaRPr lang="fr-FR" sz="2800" dirty="0"/>
          </a:p>
          <a:p>
            <a:r>
              <a:rPr lang="fr-FR" sz="2800" dirty="0"/>
              <a:t>2. </a:t>
            </a:r>
            <a:r>
              <a:rPr lang="fr-FR" sz="2800" b="1" dirty="0"/>
              <a:t>Long cycles</a:t>
            </a:r>
            <a:r>
              <a:rPr lang="fr-FR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smtClean="0"/>
              <a:t>Spaniomenorrhea:</a:t>
            </a:r>
            <a:endParaRPr lang="fr-FR" sz="2800" b="1" dirty="0"/>
          </a:p>
          <a:p>
            <a:r>
              <a:rPr lang="fr-FR" sz="2800" dirty="0" smtClean="0"/>
              <a:t>                      Cycle </a:t>
            </a:r>
            <a:r>
              <a:rPr lang="fr-FR" sz="2800" dirty="0"/>
              <a:t>length &gt; 32 days</a:t>
            </a:r>
            <a:r>
              <a:rPr lang="fr-FR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8163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4852" y="25735"/>
            <a:ext cx="9144000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                        </a:t>
            </a:r>
            <a:r>
              <a:rPr lang="fr-FR" sz="2800" dirty="0" smtClean="0">
                <a:solidFill>
                  <a:srgbClr val="00B0F0"/>
                </a:solidFill>
              </a:rPr>
              <a:t>C</a:t>
            </a:r>
            <a:r>
              <a:rPr lang="fr-FR" sz="2800" dirty="0">
                <a:solidFill>
                  <a:srgbClr val="00B0F0"/>
                </a:solidFill>
              </a:rPr>
              <a:t>. Period duration </a:t>
            </a:r>
            <a:r>
              <a:rPr lang="fr-FR" sz="2800" dirty="0" smtClean="0">
                <a:solidFill>
                  <a:srgbClr val="00B0F0"/>
                </a:solidFill>
              </a:rPr>
              <a:t>disorders</a:t>
            </a:r>
            <a:endParaRPr lang="fr-FR" sz="2800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Hypomenorrhea</a:t>
            </a:r>
            <a:r>
              <a:rPr lang="fr-FR" sz="2800" dirty="0"/>
              <a:t>: short periods lasting less than 3 days.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Hypermenorrhea</a:t>
            </a:r>
            <a:r>
              <a:rPr lang="fr-FR" sz="2800" dirty="0"/>
              <a:t>: excessively long periods lasting more than 8 days.</a:t>
            </a:r>
          </a:p>
          <a:p>
            <a:endParaRPr lang="fr-FR" sz="2800" dirty="0"/>
          </a:p>
          <a:p>
            <a:r>
              <a:rPr lang="fr-FR" sz="2800" dirty="0" smtClean="0"/>
              <a:t>                       </a:t>
            </a:r>
            <a:r>
              <a:rPr lang="fr-FR" sz="2800" dirty="0" smtClean="0">
                <a:solidFill>
                  <a:srgbClr val="00B0F0"/>
                </a:solidFill>
              </a:rPr>
              <a:t>d</a:t>
            </a:r>
            <a:r>
              <a:rPr lang="fr-FR" sz="2800" dirty="0">
                <a:solidFill>
                  <a:srgbClr val="00B0F0"/>
                </a:solidFill>
              </a:rPr>
              <a:t>. Heavy period </a:t>
            </a:r>
            <a:r>
              <a:rPr lang="fr-FR" sz="2800" dirty="0" smtClean="0">
                <a:solidFill>
                  <a:srgbClr val="00B0F0"/>
                </a:solidFill>
              </a:rPr>
              <a:t>disorders</a:t>
            </a:r>
            <a:endParaRPr lang="fr-FR" sz="2800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Oligomenorrhea</a:t>
            </a:r>
            <a:r>
              <a:rPr lang="fr-FR" sz="2800" dirty="0"/>
              <a:t>: very light periods, sometimes a few</a:t>
            </a:r>
          </a:p>
          <a:p>
            <a:r>
              <a:rPr lang="fr-FR" sz="2800" dirty="0"/>
              <a:t>drops.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/>
              <a:t>Polymenorrhea</a:t>
            </a:r>
            <a:r>
              <a:rPr lang="fr-FR" sz="2800" dirty="0"/>
              <a:t>: excessively heavy periods.</a:t>
            </a:r>
          </a:p>
          <a:p>
            <a:endParaRPr lang="fr-FR" sz="2800" dirty="0"/>
          </a:p>
          <a:p>
            <a:r>
              <a:rPr lang="fr-FR" sz="2800" dirty="0"/>
              <a:t>NB</a:t>
            </a:r>
          </a:p>
          <a:p>
            <a:r>
              <a:rPr lang="fr-FR" sz="2800" b="1" dirty="0"/>
              <a:t>Menorrhagia</a:t>
            </a:r>
            <a:r>
              <a:rPr lang="fr-FR" sz="2800" dirty="0"/>
              <a:t>: periods that are both too long and too</a:t>
            </a:r>
          </a:p>
          <a:p>
            <a:r>
              <a:rPr lang="fr-FR" sz="2800" dirty="0"/>
              <a:t>heavy.</a:t>
            </a:r>
          </a:p>
          <a:p>
            <a:r>
              <a:rPr lang="fr-FR" sz="2800" b="1" dirty="0"/>
              <a:t>Metrorrhagia</a:t>
            </a:r>
            <a:r>
              <a:rPr lang="fr-FR" sz="2800" dirty="0"/>
              <a:t>: bleeding of uterine origin occurring</a:t>
            </a:r>
          </a:p>
          <a:p>
            <a:r>
              <a:rPr lang="fr-FR" sz="2800" dirty="0"/>
              <a:t>independently of any menstrual period.</a:t>
            </a:r>
          </a:p>
          <a:p>
            <a:r>
              <a:rPr lang="fr-FR" sz="2800" dirty="0"/>
              <a:t>• </a:t>
            </a:r>
            <a:r>
              <a:rPr lang="fr-FR" sz="2800" b="1" dirty="0" smtClean="0"/>
              <a:t>Meno-Metrorrhagia</a:t>
            </a:r>
            <a:r>
              <a:rPr lang="fr-FR" sz="2800" dirty="0"/>
              <a:t>: a combination of metrorrhagia and menorrhagia.</a:t>
            </a:r>
          </a:p>
        </p:txBody>
      </p:sp>
    </p:spTree>
    <p:extLst>
      <p:ext uri="{BB962C8B-B14F-4D97-AF65-F5344CB8AC3E}">
        <p14:creationId xmlns:p14="http://schemas.microsoft.com/office/powerpoint/2010/main" val="1827601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332656"/>
            <a:ext cx="9299341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Les troubles du cycle menstruel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a. Les anomalies quantitatives</a:t>
            </a:r>
            <a:endParaRPr lang="fr-FR" sz="2800" b="1" dirty="0" smtClean="0"/>
          </a:p>
          <a:p>
            <a:pPr marL="342900" indent="-342900">
              <a:buAutoNum type="arabicPeriod"/>
            </a:pPr>
            <a:r>
              <a:rPr lang="fr-FR" sz="2800" b="1" dirty="0" smtClean="0"/>
              <a:t>    Aménorrhées:  C’est l’absence de règles</a:t>
            </a:r>
          </a:p>
          <a:p>
            <a:pPr marL="342900" indent="-342900"/>
            <a:r>
              <a:rPr lang="fr-FR" sz="2800" b="1" dirty="0" smtClean="0">
                <a:solidFill>
                  <a:srgbClr val="0070C0"/>
                </a:solidFill>
              </a:rPr>
              <a:t>Aménorrhée primaire </a:t>
            </a:r>
            <a:r>
              <a:rPr lang="fr-FR" sz="2800" dirty="0" smtClean="0"/>
              <a:t>: absence de règles à l’âge de 16 ans</a:t>
            </a:r>
          </a:p>
          <a:p>
            <a:pPr marL="342900" indent="-342900"/>
            <a:r>
              <a:rPr lang="fr-FR" sz="2800" b="1" dirty="0" smtClean="0">
                <a:solidFill>
                  <a:schemeClr val="accent1"/>
                </a:solidFill>
              </a:rPr>
              <a:t>Aménorrhée secondaire </a:t>
            </a:r>
            <a:r>
              <a:rPr lang="fr-FR" sz="2800" dirty="0" smtClean="0"/>
              <a:t>: absence de règles depuis plus de </a:t>
            </a:r>
          </a:p>
          <a:p>
            <a:pPr marL="342900" indent="-342900"/>
            <a:r>
              <a:rPr lang="fr-FR" sz="2800" dirty="0" smtClean="0"/>
              <a:t>3 mois.</a:t>
            </a:r>
          </a:p>
          <a:p>
            <a:r>
              <a:rPr lang="fr-FR" sz="2800" b="1" dirty="0" smtClean="0"/>
              <a:t>2.    Ménorragies: hémorragies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Ménorragies fonctionnelles</a:t>
            </a:r>
            <a:r>
              <a:rPr lang="fr-FR" sz="2800" dirty="0" smtClean="0"/>
              <a:t>: </a:t>
            </a:r>
            <a:r>
              <a:rPr lang="fr-FR" sz="2800" b="1" dirty="0" smtClean="0"/>
              <a:t> </a:t>
            </a:r>
            <a:r>
              <a:rPr lang="fr-FR" sz="2800" dirty="0" smtClean="0"/>
              <a:t>saignements anormaux en durée</a:t>
            </a:r>
          </a:p>
          <a:p>
            <a:r>
              <a:rPr lang="fr-FR" sz="2800" dirty="0" smtClean="0"/>
              <a:t> et/ou abondance.</a:t>
            </a:r>
          </a:p>
          <a:p>
            <a:r>
              <a:rPr lang="fr-FR" sz="2800" b="1" dirty="0" smtClean="0">
                <a:solidFill>
                  <a:schemeClr val="tx2"/>
                </a:solidFill>
              </a:rPr>
              <a:t>Ménorragies organiques</a:t>
            </a:r>
            <a:r>
              <a:rPr lang="fr-FR" sz="2800" dirty="0" smtClean="0"/>
              <a:t>:        liées à la présence d’un utérus</a:t>
            </a:r>
          </a:p>
          <a:p>
            <a:r>
              <a:rPr lang="fr-FR" sz="2800" dirty="0" smtClean="0"/>
              <a:t> fibromateux.</a:t>
            </a:r>
          </a:p>
          <a:p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332656"/>
            <a:ext cx="6325771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lphaLcPeriod" startAt="2"/>
            </a:pPr>
            <a:r>
              <a:rPr lang="fr-FR" sz="2800" b="1" dirty="0" smtClean="0">
                <a:solidFill>
                  <a:srgbClr val="0070C0"/>
                </a:solidFill>
              </a:rPr>
              <a:t>Les troubles du rythme menstruel</a:t>
            </a:r>
          </a:p>
          <a:p>
            <a:pPr marL="514350" indent="-514350">
              <a:buAutoNum type="alphaLcPeriod" startAt="2"/>
            </a:pPr>
            <a:endParaRPr lang="fr-FR" sz="2800" b="1" dirty="0" smtClean="0"/>
          </a:p>
          <a:p>
            <a:pPr marL="342900" indent="-342900">
              <a:buAutoNum type="arabicPeriod"/>
            </a:pPr>
            <a:r>
              <a:rPr lang="fr-FR" sz="2800" b="1" dirty="0" smtClean="0"/>
              <a:t>Les cycles courts :</a:t>
            </a:r>
          </a:p>
          <a:p>
            <a:pPr marL="342900" indent="-342900"/>
            <a:r>
              <a:rPr lang="fr-FR" sz="2800" b="1" dirty="0" smtClean="0"/>
              <a:t>  </a:t>
            </a:r>
            <a:r>
              <a:rPr lang="fr-FR" sz="2800" b="1" dirty="0" err="1" smtClean="0">
                <a:solidFill>
                  <a:schemeClr val="accent1"/>
                </a:solidFill>
              </a:rPr>
              <a:t>polyménorrhées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ou  </a:t>
            </a:r>
            <a:r>
              <a:rPr lang="fr-FR" sz="2800" b="1" dirty="0" err="1" smtClean="0">
                <a:solidFill>
                  <a:schemeClr val="accent1"/>
                </a:solidFill>
              </a:rPr>
              <a:t>pollakiménorrhées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</a:t>
            </a:r>
          </a:p>
          <a:p>
            <a:pPr marL="342900" indent="-342900"/>
            <a:r>
              <a:rPr lang="fr-FR" sz="2800" dirty="0" smtClean="0"/>
              <a:t> menstruation  toutes les 2 à 3 semaines.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2. Les cycles longs :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chemeClr val="accent1"/>
                </a:solidFill>
              </a:rPr>
              <a:t>spanioménorrhées</a:t>
            </a:r>
            <a:endParaRPr lang="fr-FR" sz="2800" b="1" dirty="0" smtClean="0"/>
          </a:p>
          <a:p>
            <a:r>
              <a:rPr lang="fr-FR" sz="2800" dirty="0" smtClean="0"/>
              <a:t> durée de cycle &gt; 32 jours.</a:t>
            </a:r>
          </a:p>
          <a:p>
            <a:endParaRPr lang="fr-FR" sz="2800" dirty="0" smtClean="0"/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7595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c.  Les troubles de la durée </a:t>
            </a:r>
          </a:p>
          <a:p>
            <a:r>
              <a:rPr lang="fr-FR" sz="2800" b="1" dirty="0" err="1" smtClean="0">
                <a:solidFill>
                  <a:schemeClr val="accent1"/>
                </a:solidFill>
              </a:rPr>
              <a:t>Hypoménorrhées</a:t>
            </a:r>
            <a:r>
              <a:rPr lang="fr-FR" sz="2800" b="1" dirty="0" smtClean="0">
                <a:solidFill>
                  <a:schemeClr val="accent1"/>
                </a:solidFill>
              </a:rPr>
              <a:t> </a:t>
            </a:r>
            <a:r>
              <a:rPr lang="fr-FR" sz="2800" dirty="0" smtClean="0">
                <a:solidFill>
                  <a:schemeClr val="accent1"/>
                </a:solidFill>
              </a:rPr>
              <a:t>:</a:t>
            </a:r>
            <a:r>
              <a:rPr lang="fr-FR" sz="2800" dirty="0" smtClean="0"/>
              <a:t> règles courtes de moins de 03jours .</a:t>
            </a:r>
          </a:p>
          <a:p>
            <a:r>
              <a:rPr lang="fr-FR" sz="2800" b="1" dirty="0" smtClean="0">
                <a:solidFill>
                  <a:schemeClr val="accent1"/>
                </a:solidFill>
              </a:rPr>
              <a:t>Hyperménorrhées </a:t>
            </a:r>
            <a:r>
              <a:rPr lang="fr-FR" sz="2800" dirty="0" smtClean="0"/>
              <a:t>: règles trop longues de plus de 08jours.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d. Les troubles de l’abondance des règles</a:t>
            </a:r>
          </a:p>
          <a:p>
            <a:pPr marL="514350" indent="-514350"/>
            <a:r>
              <a:rPr lang="fr-FR" sz="2800" b="1" dirty="0" err="1" smtClean="0">
                <a:solidFill>
                  <a:srgbClr val="0070C0"/>
                </a:solidFill>
              </a:rPr>
              <a:t>Oligoménorrhées</a:t>
            </a: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/>
              <a:t>: </a:t>
            </a:r>
            <a:r>
              <a:rPr lang="fr-FR" sz="2800" dirty="0" smtClean="0"/>
              <a:t>règles très réduites parfois quelques</a:t>
            </a:r>
          </a:p>
          <a:p>
            <a:pPr marL="514350" indent="-514350"/>
            <a:r>
              <a:rPr lang="fr-FR" sz="2800" dirty="0" smtClean="0"/>
              <a:t> gouttes.</a:t>
            </a:r>
          </a:p>
          <a:p>
            <a:r>
              <a:rPr lang="fr-FR" sz="2800" b="1" dirty="0" err="1" smtClean="0">
                <a:solidFill>
                  <a:srgbClr val="0070C0"/>
                </a:solidFill>
              </a:rPr>
              <a:t>Polyménorrhées</a:t>
            </a:r>
            <a:r>
              <a:rPr lang="fr-FR" sz="2800" dirty="0" smtClean="0"/>
              <a:t> : règles d’abondance excessive.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NB</a:t>
            </a:r>
          </a:p>
          <a:p>
            <a:pPr>
              <a:buFont typeface="Arial" pitchFamily="34" charset="0"/>
              <a:buChar char="•"/>
            </a:pPr>
            <a:r>
              <a:rPr lang="fr-FR" sz="2800" dirty="0" smtClean="0"/>
              <a:t> </a:t>
            </a:r>
            <a:r>
              <a:rPr lang="fr-FR" sz="2800" b="1" dirty="0" smtClean="0"/>
              <a:t>Ménorragies:</a:t>
            </a:r>
            <a:r>
              <a:rPr lang="fr-FR" sz="2800" dirty="0" smtClean="0"/>
              <a:t> règles à la fois trop longues et trop </a:t>
            </a:r>
          </a:p>
          <a:p>
            <a:r>
              <a:rPr lang="fr-FR" sz="2800" dirty="0" smtClean="0"/>
              <a:t>abondantes.</a:t>
            </a:r>
          </a:p>
          <a:p>
            <a:pPr>
              <a:buFont typeface="Arial" pitchFamily="34" charset="0"/>
              <a:buChar char="•"/>
            </a:pPr>
            <a:r>
              <a:rPr lang="fr-FR" sz="2800" b="1" dirty="0" smtClean="0"/>
              <a:t>Métrorragies</a:t>
            </a:r>
            <a:r>
              <a:rPr lang="fr-FR" sz="2800" dirty="0" smtClean="0"/>
              <a:t>: hémorragies d’origine utérine survenant</a:t>
            </a:r>
          </a:p>
          <a:p>
            <a:r>
              <a:rPr lang="fr-FR" sz="2800" dirty="0" smtClean="0"/>
              <a:t>  indépendamment de toute menstruation.</a:t>
            </a:r>
          </a:p>
          <a:p>
            <a:r>
              <a:rPr lang="fr-FR" sz="2800" dirty="0" smtClean="0"/>
              <a:t>• </a:t>
            </a:r>
            <a:r>
              <a:rPr lang="fr-FR" sz="2800" b="1" dirty="0" err="1" smtClean="0"/>
              <a:t>Méno</a:t>
            </a:r>
            <a:r>
              <a:rPr lang="fr-FR" sz="2800" b="1" dirty="0" smtClean="0"/>
              <a:t>-métrorragies</a:t>
            </a:r>
            <a:r>
              <a:rPr lang="fr-FR" sz="2800" dirty="0" smtClean="0"/>
              <a:t> : association métrorragies et ménorragies.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40361"/>
            <a:ext cx="8712968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2124654"/>
            <a:ext cx="3529877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Gonado-releasing hormon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Gonadolibérines</a:t>
            </a:r>
          </a:p>
          <a:p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3356992"/>
            <a:ext cx="3671774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FOLLICULO STIMULATING H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0" y="4005064"/>
            <a:ext cx="3125086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LUTEINISING HORMON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3429000"/>
            <a:ext cx="3420616" cy="120032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Hormones hypophysaires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Gonadotropines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Gonadostimulines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0" y="5157192"/>
            <a:ext cx="3460819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Hormones ovariennes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33461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 Contrôle </a:t>
            </a:r>
            <a:r>
              <a:rPr lang="fr-FR" sz="2800" b="1" dirty="0">
                <a:solidFill>
                  <a:srgbClr val="0070C0"/>
                </a:solidFill>
              </a:rPr>
              <a:t>hormonal </a:t>
            </a:r>
            <a:endParaRPr lang="fr-FR" sz="2800" dirty="0">
              <a:solidFill>
                <a:srgbClr val="0070C0"/>
              </a:solidFill>
            </a:endParaRP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  <p:bldP spid="4" grpId="0" build="allAtOnce" animBg="1"/>
      <p:bldP spid="5" grpId="0" build="allAtOnce" animBg="1"/>
      <p:bldP spid="6" grpId="0" build="allAtOnce" animBg="1"/>
      <p:bldP spid="7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0"/>
            <a:ext cx="9144000" cy="704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77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Image associé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4544" y="0"/>
            <a:ext cx="9468544" cy="6565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676275"/>
            <a:ext cx="50482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84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0648"/>
            <a:ext cx="8712967" cy="609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43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35024" y="-14064"/>
            <a:ext cx="4065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B  </a:t>
            </a:r>
            <a:r>
              <a:rPr lang="fr-FR" sz="3200" b="1" cap="all" dirty="0">
                <a:solidFill>
                  <a:srgbClr val="0070C0"/>
                </a:solidFill>
              </a:rPr>
              <a:t>V</a:t>
            </a:r>
            <a:r>
              <a:rPr lang="fr-FR" sz="3200" b="1" dirty="0">
                <a:solidFill>
                  <a:srgbClr val="0070C0"/>
                </a:solidFill>
              </a:rPr>
              <a:t>ariations cycliques </a:t>
            </a:r>
          </a:p>
          <a:p>
            <a:endParaRPr lang="fr-FR" sz="32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8748463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9512" y="908720"/>
            <a:ext cx="79928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1. FSH  stimule </a:t>
            </a:r>
            <a:r>
              <a:rPr lang="fr-FR" sz="3200" b="1" dirty="0"/>
              <a:t>le développement folliculaire </a:t>
            </a:r>
            <a:r>
              <a:rPr lang="fr-FR" sz="3200" b="1" dirty="0" smtClean="0"/>
              <a:t>: </a:t>
            </a:r>
            <a:r>
              <a:rPr lang="fr-FR" sz="3200" b="1" dirty="0" err="1" smtClean="0">
                <a:solidFill>
                  <a:srgbClr val="00B050"/>
                </a:solidFill>
              </a:rPr>
              <a:t>granulosa</a:t>
            </a:r>
            <a:r>
              <a:rPr lang="fr-FR" sz="3200" b="1" dirty="0" smtClean="0">
                <a:solidFill>
                  <a:srgbClr val="00B050"/>
                </a:solidFill>
              </a:rPr>
              <a:t>, zone </a:t>
            </a:r>
            <a:r>
              <a:rPr lang="fr-FR" sz="3200" b="1" dirty="0">
                <a:solidFill>
                  <a:srgbClr val="00B050"/>
                </a:solidFill>
              </a:rPr>
              <a:t>pellucide</a:t>
            </a:r>
            <a:r>
              <a:rPr lang="fr-FR" sz="3200" b="1" dirty="0"/>
              <a:t>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79512" y="2204864"/>
            <a:ext cx="75608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2. LH stimule </a:t>
            </a:r>
            <a:r>
              <a:rPr lang="fr-FR" sz="3200" b="1" dirty="0"/>
              <a:t>la différenciation des cellules de </a:t>
            </a:r>
            <a:r>
              <a:rPr lang="fr-FR" sz="3200" b="1" dirty="0">
                <a:solidFill>
                  <a:srgbClr val="00B050"/>
                </a:solidFill>
              </a:rPr>
              <a:t>la thèque </a:t>
            </a:r>
            <a:r>
              <a:rPr lang="fr-FR" sz="3200" b="1" dirty="0" smtClean="0">
                <a:solidFill>
                  <a:srgbClr val="00B050"/>
                </a:solidFill>
              </a:rPr>
              <a:t>interne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0" y="378904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00B0F0"/>
                </a:solidFill>
              </a:rPr>
              <a:t>  </a:t>
            </a:r>
            <a:r>
              <a:rPr lang="fr-FR" sz="3200" b="1" dirty="0" smtClean="0"/>
              <a:t>3. Les cellules </a:t>
            </a:r>
            <a:r>
              <a:rPr lang="fr-FR" sz="3200" b="1" dirty="0"/>
              <a:t>de </a:t>
            </a:r>
            <a:r>
              <a:rPr lang="fr-FR" sz="3200" b="1" dirty="0">
                <a:solidFill>
                  <a:srgbClr val="00B050"/>
                </a:solidFill>
              </a:rPr>
              <a:t>la thèque </a:t>
            </a:r>
            <a:r>
              <a:rPr lang="fr-FR" sz="3200" b="1" dirty="0" smtClean="0">
                <a:solidFill>
                  <a:srgbClr val="00B050"/>
                </a:solidFill>
              </a:rPr>
              <a:t>interne</a:t>
            </a:r>
            <a:r>
              <a:rPr lang="fr-FR" sz="3200" b="1" dirty="0" smtClean="0"/>
              <a:t> secrètent des </a:t>
            </a:r>
            <a:r>
              <a:rPr lang="fr-FR" sz="3200" b="1" dirty="0" smtClean="0">
                <a:solidFill>
                  <a:srgbClr val="00B050"/>
                </a:solidFill>
              </a:rPr>
              <a:t>œstrogènes</a:t>
            </a:r>
            <a:endParaRPr lang="fr-FR" sz="3200" b="1" dirty="0">
              <a:solidFill>
                <a:srgbClr val="00B05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2411760" y="0"/>
            <a:ext cx="28110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1 Avant 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25144"/>
            <a:ext cx="8748463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59832" y="0"/>
            <a:ext cx="2426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2 A l’ 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476672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r>
              <a:rPr lang="fr-FR" sz="3200" b="1" dirty="0" smtClean="0"/>
              <a:t>1. Œstrogènes             feed-back positif sur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4" name="Flèche droite 3"/>
          <p:cNvSpPr/>
          <p:nvPr/>
        </p:nvSpPr>
        <p:spPr>
          <a:xfrm>
            <a:off x="2771800" y="1268760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0" y="1556792"/>
            <a:ext cx="88924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                                    </a:t>
            </a:r>
            <a:r>
              <a:rPr lang="fr-FR" sz="3200" b="1" dirty="0" smtClean="0"/>
              <a:t>Pic de FSH et LH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2.  Dissociation </a:t>
            </a:r>
            <a:r>
              <a:rPr lang="fr-FR" sz="3200" b="1" dirty="0"/>
              <a:t>des cellules </a:t>
            </a:r>
            <a:r>
              <a:rPr lang="fr-FR" sz="3200" b="1" dirty="0" smtClean="0"/>
              <a:t>du </a:t>
            </a:r>
            <a:r>
              <a:rPr lang="fr-FR" sz="3200" b="1" dirty="0"/>
              <a:t>cumulus </a:t>
            </a:r>
            <a:r>
              <a:rPr lang="fr-FR" sz="3200" b="1" dirty="0" err="1" smtClean="0"/>
              <a:t>oophorus</a:t>
            </a:r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3. Reprise </a:t>
            </a:r>
            <a:r>
              <a:rPr lang="fr-FR" sz="3200" b="1" dirty="0"/>
              <a:t>de la première division de la </a:t>
            </a:r>
            <a:r>
              <a:rPr lang="fr-FR" sz="3200" b="1" dirty="0" smtClean="0"/>
              <a:t>méiose</a:t>
            </a:r>
          </a:p>
          <a:p>
            <a:r>
              <a:rPr lang="fr-FR" sz="3200" b="1" dirty="0" smtClean="0"/>
              <a:t>                Ovocyte I                     Ovocyte II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4.  Ovulation</a:t>
            </a:r>
            <a:endParaRPr lang="fr-FR" sz="3200" b="1" dirty="0"/>
          </a:p>
        </p:txBody>
      </p:sp>
      <p:sp>
        <p:nvSpPr>
          <p:cNvPr id="6" name="Flèche droite 5"/>
          <p:cNvSpPr/>
          <p:nvPr/>
        </p:nvSpPr>
        <p:spPr>
          <a:xfrm>
            <a:off x="3923928" y="4293096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13176"/>
            <a:ext cx="8748463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75856" y="0"/>
            <a:ext cx="280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3 Après ovulation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69269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1. LH transforme le reste du follicule  en corps jaune</a:t>
            </a:r>
            <a:endParaRPr lang="fr-FR" sz="32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628800"/>
            <a:ext cx="10909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2. Le corps jaune sécrète œstrogènes et progestérone                 </a:t>
            </a:r>
            <a:endParaRPr lang="fr-FR" sz="320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2492896"/>
            <a:ext cx="929895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 </a:t>
            </a:r>
            <a:r>
              <a:rPr lang="fr-FR" sz="3200" b="1" dirty="0" smtClean="0"/>
              <a:t>3. Pic de progestérone              feed-back négatif sur</a:t>
            </a:r>
          </a:p>
          <a:p>
            <a:r>
              <a:rPr lang="fr-FR" sz="3200" b="1" dirty="0" smtClean="0"/>
              <a:t>                                                                 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</a:p>
          <a:p>
            <a:r>
              <a:rPr lang="fr-FR" sz="3200" b="1" dirty="0" smtClean="0"/>
              <a:t>4. Diminution de </a:t>
            </a:r>
            <a:r>
              <a:rPr lang="fr-FR" sz="3200" b="1" dirty="0" smtClean="0">
                <a:solidFill>
                  <a:srgbClr val="0070C0"/>
                </a:solidFill>
              </a:rPr>
              <a:t>LH</a:t>
            </a:r>
            <a:r>
              <a:rPr lang="fr-FR" sz="3200" b="1" dirty="0" smtClean="0"/>
              <a:t>               régression du corps jaune</a:t>
            </a:r>
          </a:p>
          <a:p>
            <a:endParaRPr lang="fr-FR" sz="3200" b="1" dirty="0" smtClean="0"/>
          </a:p>
          <a:p>
            <a:r>
              <a:rPr lang="fr-FR" sz="3200" b="1" dirty="0" smtClean="0"/>
              <a:t>5. Régression du corps jaune          diminution de </a:t>
            </a:r>
            <a:r>
              <a:rPr lang="fr-FR" sz="3200" b="1" dirty="0" err="1" smtClean="0"/>
              <a:t>pg</a:t>
            </a:r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b="1" dirty="0" smtClean="0"/>
              <a:t>6. Diminution de </a:t>
            </a:r>
            <a:r>
              <a:rPr lang="fr-FR" sz="3200" b="1" dirty="0" err="1" smtClean="0"/>
              <a:t>pg</a:t>
            </a:r>
            <a:r>
              <a:rPr lang="fr-FR" sz="3200" b="1" dirty="0" smtClean="0"/>
              <a:t>               feed-back positif </a:t>
            </a:r>
          </a:p>
          <a:p>
            <a:r>
              <a:rPr lang="fr-FR" sz="3200" b="1" dirty="0" smtClean="0"/>
              <a:t>                                                    sur </a:t>
            </a:r>
            <a:r>
              <a:rPr lang="fr-FR" sz="3200" b="1" dirty="0" smtClean="0">
                <a:solidFill>
                  <a:srgbClr val="0070C0"/>
                </a:solidFill>
              </a:rPr>
              <a:t>FSH et LH</a:t>
            </a:r>
          </a:p>
          <a:p>
            <a:r>
              <a:rPr lang="fr-FR" sz="2400" b="1" dirty="0" smtClean="0"/>
              <a:t>                    </a:t>
            </a:r>
            <a:endParaRPr lang="fr-FR" sz="24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1763688" y="5780782"/>
            <a:ext cx="8280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            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  ET LE CYCLE REPREND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9" name="Flèche droite 8"/>
          <p:cNvSpPr/>
          <p:nvPr/>
        </p:nvSpPr>
        <p:spPr>
          <a:xfrm>
            <a:off x="4211960" y="2780928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>
            <a:off x="3779912" y="3717032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droite 11"/>
          <p:cNvSpPr/>
          <p:nvPr/>
        </p:nvSpPr>
        <p:spPr>
          <a:xfrm>
            <a:off x="4932040" y="4725144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 droite 12"/>
          <p:cNvSpPr/>
          <p:nvPr/>
        </p:nvSpPr>
        <p:spPr>
          <a:xfrm>
            <a:off x="3635896" y="5661248"/>
            <a:ext cx="720080" cy="135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itxer:Cycle menstruel.sv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502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88640"/>
            <a:ext cx="34401854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c Rôles des hormones ovariennes 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Apparition des caractères sexuels primaires chez le fœtus,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Apparition des caractères sexuels secondaires à la  puberté,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-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Calibri" pitchFamily="34" charset="0"/>
              </a:rPr>
              <a:t>Contrôle de l’ovogenèse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4" y="1916832"/>
            <a:ext cx="34524640" cy="53222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4427"/>
            <a:ext cx="34401854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La progestérone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Prépare la muqueuse utérine à la nidation 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croissance des glandes et sécrétion.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Inhibe les contractions du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myomètre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Modifie l’abondance de la glaire.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26819</TotalTime>
  <Words>1222</Words>
  <Application>Microsoft Office PowerPoint</Application>
  <PresentationFormat>Affichage à l'écran (4:3)</PresentationFormat>
  <Paragraphs>307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9" baseType="lpstr">
      <vt:lpstr>Arial</vt:lpstr>
      <vt:lpstr>Calibri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72</cp:revision>
  <dcterms:created xsi:type="dcterms:W3CDTF">2018-09-16T08:34:06Z</dcterms:created>
  <dcterms:modified xsi:type="dcterms:W3CDTF">2025-10-18T15:21:03Z</dcterms:modified>
</cp:coreProperties>
</file>