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1" r:id="rId2"/>
    <p:sldId id="302" r:id="rId3"/>
    <p:sldId id="277" r:id="rId4"/>
    <p:sldId id="297" r:id="rId5"/>
    <p:sldId id="278" r:id="rId6"/>
    <p:sldId id="279" r:id="rId7"/>
    <p:sldId id="280" r:id="rId8"/>
    <p:sldId id="298" r:id="rId9"/>
    <p:sldId id="281" r:id="rId10"/>
    <p:sldId id="299" r:id="rId11"/>
    <p:sldId id="282" r:id="rId12"/>
    <p:sldId id="300" r:id="rId13"/>
    <p:sldId id="283" r:id="rId14"/>
    <p:sldId id="306" r:id="rId15"/>
    <p:sldId id="307" r:id="rId16"/>
    <p:sldId id="308" r:id="rId17"/>
    <p:sldId id="309" r:id="rId18"/>
    <p:sldId id="314" r:id="rId19"/>
    <p:sldId id="310" r:id="rId20"/>
    <p:sldId id="284" r:id="rId21"/>
    <p:sldId id="285" r:id="rId22"/>
    <p:sldId id="286" r:id="rId23"/>
    <p:sldId id="287" r:id="rId24"/>
    <p:sldId id="288" r:id="rId25"/>
    <p:sldId id="290" r:id="rId26"/>
    <p:sldId id="291" r:id="rId27"/>
    <p:sldId id="293" r:id="rId28"/>
    <p:sldId id="273" r:id="rId29"/>
    <p:sldId id="294" r:id="rId30"/>
    <p:sldId id="295" r:id="rId31"/>
    <p:sldId id="274" r:id="rId32"/>
    <p:sldId id="275" r:id="rId33"/>
    <p:sldId id="296" r:id="rId34"/>
    <p:sldId id="266" r:id="rId35"/>
    <p:sldId id="267" r:id="rId36"/>
    <p:sldId id="268" r:id="rId3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45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0C54-E44C-436B-9CAD-02303ADFDC0A}" type="datetimeFigureOut">
              <a:rPr lang="fr-FR" smtClean="0"/>
              <a:pPr/>
              <a:t>15/04/2024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0C54-E44C-436B-9CAD-02303ADFDC0A}" type="datetimeFigureOut">
              <a:rPr lang="fr-FR" smtClean="0"/>
              <a:pPr/>
              <a:t>15/04/2024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0C54-E44C-436B-9CAD-02303ADFDC0A}" type="datetimeFigureOut">
              <a:rPr lang="fr-FR" smtClean="0"/>
              <a:pPr/>
              <a:t>15/04/2024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0C54-E44C-436B-9CAD-02303ADFDC0A}" type="datetimeFigureOut">
              <a:rPr lang="fr-FR" smtClean="0"/>
              <a:pPr/>
              <a:t>15/04/2024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0C54-E44C-436B-9CAD-02303ADFDC0A}" type="datetimeFigureOut">
              <a:rPr lang="fr-FR" smtClean="0"/>
              <a:pPr/>
              <a:t>15/04/2024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0C54-E44C-436B-9CAD-02303ADFDC0A}" type="datetimeFigureOut">
              <a:rPr lang="fr-FR" smtClean="0"/>
              <a:pPr/>
              <a:t>15/04/2024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0C54-E44C-436B-9CAD-02303ADFDC0A}" type="datetimeFigureOut">
              <a:rPr lang="fr-FR" smtClean="0"/>
              <a:pPr/>
              <a:t>15/04/2024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0C54-E44C-436B-9CAD-02303ADFDC0A}" type="datetimeFigureOut">
              <a:rPr lang="fr-FR" smtClean="0"/>
              <a:pPr/>
              <a:t>15/04/2024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0C54-E44C-436B-9CAD-02303ADFDC0A}" type="datetimeFigureOut">
              <a:rPr lang="fr-FR" smtClean="0"/>
              <a:pPr/>
              <a:t>15/04/2024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0C54-E44C-436B-9CAD-02303ADFDC0A}" type="datetimeFigureOut">
              <a:rPr lang="fr-FR" smtClean="0"/>
              <a:pPr/>
              <a:t>15/04/2024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0C54-E44C-436B-9CAD-02303ADFDC0A}" type="datetimeFigureOut">
              <a:rPr lang="fr-FR" smtClean="0"/>
              <a:pPr/>
              <a:t>15/04/2024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310C54-E44C-436B-9CAD-02303ADFDC0A}" type="datetimeFigureOut">
              <a:rPr lang="fr-FR" smtClean="0"/>
              <a:pPr/>
              <a:t>15/04/2024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fr.wikipedia.org/wiki/Greffe_(m%C3%A9decine)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y-abbara.com/livre_gyn_obs/termes/reproduction_definitions.html" TargetMode="External"/><Relationship Id="rId2" Type="http://schemas.openxmlformats.org/officeDocument/2006/relationships/hyperlink" Target="http://www.aly-abbara.com/livre_gyn_obs/termes/emryon_foetus.html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aly-abbara.com/livre_gyn_obs/images/gif/annexes_foetales/placenta_GG_biamniotique_monochoriale_01.html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y-abbara.com/livre_gyn_obs/images/gif/annexes_foetales/placenta_GGMM_noeuds.html" TargetMode="External"/><Relationship Id="rId2" Type="http://schemas.openxmlformats.org/officeDocument/2006/relationships/hyperlink" Target="http://www.aly-abbara.com/livre_gyn_obs/termes/emryon_foetus.html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fr.wikipedia.org/wiki/Organe" TargetMode="External"/><Relationship Id="rId2" Type="http://schemas.openxmlformats.org/officeDocument/2006/relationships/hyperlink" Target="http://fr.wikipedia.org/wiki/Situs_inversus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fr.wikipedia.org/wiki/Dextrocardie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y-abbara.com/livre_gyn_obs/Medecine_foetale/s.html" TargetMode="External"/><Relationship Id="rId2" Type="http://schemas.openxmlformats.org/officeDocument/2006/relationships/hyperlink" Target="http://www.aly-abbara.com/livre_gyn_obs/Medecine_foetale/e.html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aly-abbara.com/livre_gyn_obs/Medecine_foetale/a.html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gif"/><Relationship Id="rId4" Type="http://schemas.openxmlformats.org/officeDocument/2006/relationships/image" Target="../media/image9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324528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sz="2800" b="1" dirty="0">
                <a:solidFill>
                  <a:prstClr val="black"/>
                </a:solidFill>
              </a:rPr>
              <a:t> </a:t>
            </a:r>
            <a:r>
              <a:rPr lang="fr-FR" sz="2800" b="1" dirty="0" smtClean="0">
                <a:solidFill>
                  <a:prstClr val="black"/>
                </a:solidFill>
              </a:rPr>
              <a:t>                         MODULE </a:t>
            </a:r>
            <a:r>
              <a:rPr lang="fr-FR" sz="2800" b="1" dirty="0">
                <a:solidFill>
                  <a:prstClr val="black"/>
                </a:solidFill>
              </a:rPr>
              <a:t>EMBRYOLOGIE GENERALE</a:t>
            </a:r>
          </a:p>
          <a:p>
            <a:pPr lvl="0"/>
            <a:r>
              <a:rPr lang="fr-FR" sz="2800" b="1" dirty="0">
                <a:solidFill>
                  <a:prstClr val="black"/>
                </a:solidFill>
              </a:rPr>
              <a:t>                            ANOMALIES DU DÉVELOPPEMENT </a:t>
            </a:r>
          </a:p>
          <a:p>
            <a:pPr lvl="0"/>
            <a:r>
              <a:rPr lang="fr-FR" sz="2800" b="1" dirty="0">
                <a:solidFill>
                  <a:prstClr val="black"/>
                </a:solidFill>
              </a:rPr>
              <a:t>                                 </a:t>
            </a:r>
            <a:r>
              <a:rPr lang="fr-FR" sz="2800" b="1" dirty="0" smtClean="0">
                <a:solidFill>
                  <a:prstClr val="black"/>
                </a:solidFill>
              </a:rPr>
              <a:t>DE </a:t>
            </a:r>
            <a:r>
              <a:rPr lang="fr-FR" sz="2800" b="1" dirty="0">
                <a:solidFill>
                  <a:prstClr val="black"/>
                </a:solidFill>
              </a:rPr>
              <a:t>L'ŒUF ET DE  L’EMBRYON</a:t>
            </a:r>
          </a:p>
          <a:p>
            <a:pPr lvl="0"/>
            <a:endParaRPr lang="fr-FR" sz="2800" b="1" dirty="0">
              <a:solidFill>
                <a:prstClr val="black"/>
              </a:solidFill>
            </a:endParaRPr>
          </a:p>
          <a:p>
            <a:pPr lvl="0"/>
            <a:r>
              <a:rPr lang="fr-FR" sz="2800" b="1" dirty="0">
                <a:solidFill>
                  <a:prstClr val="black"/>
                </a:solidFill>
              </a:rPr>
              <a:t>         </a:t>
            </a:r>
          </a:p>
          <a:p>
            <a:pPr lvl="0"/>
            <a:endParaRPr lang="fr-FR" sz="2800" b="1" dirty="0">
              <a:solidFill>
                <a:prstClr val="black"/>
              </a:solidFill>
            </a:endParaRPr>
          </a:p>
          <a:p>
            <a:pPr lvl="0"/>
            <a:endParaRPr lang="fr-FR" sz="2800" b="1" dirty="0">
              <a:solidFill>
                <a:prstClr val="black"/>
              </a:solidFill>
            </a:endParaRPr>
          </a:p>
          <a:p>
            <a:pPr lvl="0"/>
            <a:endParaRPr lang="fr-FR" sz="2800" b="1" dirty="0">
              <a:solidFill>
                <a:prstClr val="black"/>
              </a:solidFill>
            </a:endParaRPr>
          </a:p>
          <a:p>
            <a:pPr lvl="0"/>
            <a:endParaRPr lang="fr-FR" sz="2800" b="1" dirty="0">
              <a:solidFill>
                <a:prstClr val="black"/>
              </a:solidFill>
            </a:endParaRPr>
          </a:p>
          <a:p>
            <a:pPr lvl="0"/>
            <a:endParaRPr lang="fr-FR" sz="2800" b="1" dirty="0">
              <a:solidFill>
                <a:prstClr val="black"/>
              </a:solidFill>
            </a:endParaRPr>
          </a:p>
          <a:p>
            <a:pPr lvl="0"/>
            <a:endParaRPr lang="fr-FR" sz="2800" b="1" dirty="0">
              <a:solidFill>
                <a:prstClr val="black"/>
              </a:solidFill>
            </a:endParaRPr>
          </a:p>
          <a:p>
            <a:pPr lvl="0"/>
            <a:endParaRPr lang="fr-FR" sz="2800" b="1" dirty="0">
              <a:solidFill>
                <a:prstClr val="black"/>
              </a:solidFill>
            </a:endParaRPr>
          </a:p>
          <a:p>
            <a:pPr lvl="0"/>
            <a:endParaRPr lang="fr-FR" sz="2800" b="1" dirty="0">
              <a:solidFill>
                <a:prstClr val="black"/>
              </a:solidFill>
            </a:endParaRPr>
          </a:p>
          <a:p>
            <a:pPr lvl="0"/>
            <a:r>
              <a:rPr lang="fr-FR" sz="2800" b="1" dirty="0">
                <a:solidFill>
                  <a:prstClr val="black"/>
                </a:solidFill>
              </a:rPr>
              <a:t>                                                            </a:t>
            </a:r>
          </a:p>
          <a:p>
            <a:pPr lvl="0"/>
            <a:r>
              <a:rPr lang="fr-FR" sz="2800" b="1" dirty="0">
                <a:solidFill>
                  <a:prstClr val="black"/>
                </a:solidFill>
              </a:rPr>
              <a:t>                                                              PR HANNACHI-HECINI A </a:t>
            </a:r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212" y="1484784"/>
            <a:ext cx="4981575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190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8640"/>
            <a:ext cx="8712968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DEFINITIONS</a:t>
            </a:r>
          </a:p>
          <a:p>
            <a:endParaRPr lang="fr-FR" sz="2800" b="1" dirty="0">
              <a:solidFill>
                <a:srgbClr val="0070C0"/>
              </a:solidFill>
            </a:endParaRPr>
          </a:p>
          <a:p>
            <a:r>
              <a:rPr lang="fr-FR" sz="2800" b="1" dirty="0" smtClean="0">
                <a:solidFill>
                  <a:srgbClr val="0070C0"/>
                </a:solidFill>
              </a:rPr>
              <a:t>Tératologie</a:t>
            </a:r>
            <a:r>
              <a:rPr lang="fr-FR" sz="2800" dirty="0"/>
              <a:t>: le résultat morphologique des anomalies</a:t>
            </a:r>
          </a:p>
          <a:p>
            <a:r>
              <a:rPr lang="fr-FR" sz="2800" dirty="0"/>
              <a:t> du développement.</a:t>
            </a:r>
          </a:p>
          <a:p>
            <a:endParaRPr lang="fr-FR" sz="2800" dirty="0"/>
          </a:p>
          <a:p>
            <a:r>
              <a:rPr lang="fr-FR" sz="2800" b="1" dirty="0">
                <a:solidFill>
                  <a:srgbClr val="0070C0"/>
                </a:solidFill>
              </a:rPr>
              <a:t>Tératogenèse</a:t>
            </a:r>
            <a:r>
              <a:rPr lang="fr-FR" sz="2800" dirty="0">
                <a:solidFill>
                  <a:srgbClr val="0070C0"/>
                </a:solidFill>
              </a:rPr>
              <a:t>:</a:t>
            </a:r>
            <a:r>
              <a:rPr lang="fr-FR" sz="2800" dirty="0"/>
              <a:t> le mécanisme d'apparition de ces</a:t>
            </a:r>
          </a:p>
          <a:p>
            <a:r>
              <a:rPr lang="fr-FR" sz="2800" dirty="0"/>
              <a:t>anomalies et l'identité du facteur qui en est responsable</a:t>
            </a:r>
            <a:r>
              <a:rPr lang="fr-FR" sz="2800" dirty="0" smtClean="0"/>
              <a:t>.</a:t>
            </a:r>
          </a:p>
          <a:p>
            <a:endParaRPr lang="fr-FR" sz="2800" dirty="0"/>
          </a:p>
          <a:p>
            <a:r>
              <a:rPr lang="fr-FR" sz="2800" b="1" dirty="0" smtClean="0">
                <a:solidFill>
                  <a:srgbClr val="0070C0"/>
                </a:solidFill>
              </a:rPr>
              <a:t>Grossesses gémellaires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La grossesse gémellaire est le développement simultané</a:t>
            </a:r>
          </a:p>
          <a:p>
            <a:r>
              <a:rPr lang="fr-FR" sz="2800" dirty="0"/>
              <a:t> de deux fœtus dans la cavité utérine.</a:t>
            </a:r>
          </a:p>
          <a:p>
            <a:endParaRPr lang="fr-FR" sz="2800" dirty="0"/>
          </a:p>
          <a:p>
            <a:r>
              <a:rPr lang="fr-FR" sz="2800" dirty="0"/>
              <a:t> Les grossesses gémellaires représentent environ </a:t>
            </a:r>
          </a:p>
          <a:p>
            <a:r>
              <a:rPr lang="fr-FR" sz="2800" dirty="0"/>
              <a:t>1,6% des grossesses.</a:t>
            </a:r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783865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0" y="0"/>
            <a:ext cx="9161675" cy="6740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</a:t>
            </a:r>
            <a:r>
              <a:rPr lang="fr-FR" sz="3200" b="1" dirty="0" smtClean="0">
                <a:solidFill>
                  <a:srgbClr val="0070C0"/>
                </a:solidFill>
              </a:rPr>
              <a:t>TYPES DE GROSSESSES GEMELLAIRES</a:t>
            </a:r>
          </a:p>
          <a:p>
            <a:endParaRPr lang="fr-FR" sz="3200" b="1" dirty="0" smtClean="0"/>
          </a:p>
          <a:p>
            <a:pPr marL="571500" indent="-571500">
              <a:buAutoNum type="romanUcPeriod"/>
            </a:pPr>
            <a:r>
              <a:rPr lang="fr-FR" sz="3200" b="1" dirty="0" smtClean="0">
                <a:solidFill>
                  <a:srgbClr val="00B050"/>
                </a:solidFill>
              </a:rPr>
              <a:t>Grossesses gémellaires dizygotes</a:t>
            </a:r>
          </a:p>
          <a:p>
            <a:pPr marL="571500" indent="-571500">
              <a:buFont typeface="Wingdings" pitchFamily="2" charset="2"/>
              <a:buChar char="Ø"/>
            </a:pPr>
            <a:r>
              <a:rPr lang="fr-FR" sz="2800" dirty="0" smtClean="0"/>
              <a:t>Jumeaux </a:t>
            </a:r>
            <a:r>
              <a:rPr lang="fr-FR" sz="2800" dirty="0" err="1" smtClean="0"/>
              <a:t>biovulaires</a:t>
            </a:r>
            <a:r>
              <a:rPr lang="fr-FR" sz="2800" dirty="0" smtClean="0"/>
              <a:t> : faux jumeaux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  Les plus fréquentes (75% des grossesses gémellaires)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  Résultent de la fécondation simultanée de deux ovules </a:t>
            </a:r>
          </a:p>
          <a:p>
            <a:r>
              <a:rPr lang="fr-FR" sz="2800" dirty="0" smtClean="0"/>
              <a:t>pondus au même moment au cours du cycle ovarien par deux</a:t>
            </a:r>
          </a:p>
          <a:p>
            <a:r>
              <a:rPr lang="fr-FR" sz="2800" dirty="0" smtClean="0"/>
              <a:t> spermatozoïdes.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Chacun donne  naissance à un œuf complet pourvu de </a:t>
            </a:r>
            <a:r>
              <a:rPr lang="fr-FR" sz="2800" b="1" dirty="0" smtClean="0">
                <a:solidFill>
                  <a:srgbClr val="0070C0"/>
                </a:solidFill>
              </a:rPr>
              <a:t>son</a:t>
            </a:r>
          </a:p>
          <a:p>
            <a:r>
              <a:rPr lang="fr-FR" sz="2800" b="1" dirty="0" smtClean="0">
                <a:solidFill>
                  <a:srgbClr val="0070C0"/>
                </a:solidFill>
              </a:rPr>
              <a:t> propre placenta.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De tels jumeaux peuvent être de même sexe ou de sexe </a:t>
            </a:r>
          </a:p>
          <a:p>
            <a:r>
              <a:rPr lang="fr-FR" sz="2800" dirty="0" smtClean="0"/>
              <a:t>différent.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La grossesse est toujours </a:t>
            </a:r>
            <a:r>
              <a:rPr lang="fr-FR" sz="2800" b="1" dirty="0" smtClean="0">
                <a:solidFill>
                  <a:srgbClr val="0070C0"/>
                </a:solidFill>
              </a:rPr>
              <a:t>di-amniotique </a:t>
            </a:r>
            <a:r>
              <a:rPr lang="fr-FR" sz="2800" b="1" dirty="0" err="1" smtClean="0">
                <a:solidFill>
                  <a:srgbClr val="0070C0"/>
                </a:solidFill>
              </a:rPr>
              <a:t>dichoriale</a:t>
            </a:r>
            <a:endParaRPr lang="fr-FR" sz="2800" b="1" dirty="0" smtClean="0">
              <a:solidFill>
                <a:srgbClr val="0070C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Il existe </a:t>
            </a:r>
            <a:r>
              <a:rPr lang="fr-FR" sz="2800" b="1" dirty="0" smtClean="0">
                <a:solidFill>
                  <a:srgbClr val="0070C0"/>
                </a:solidFill>
              </a:rPr>
              <a:t>deux cavités amniotiques </a:t>
            </a:r>
            <a:r>
              <a:rPr lang="fr-FR" sz="2800" dirty="0" smtClean="0"/>
              <a:t>et chaque fœtus se</a:t>
            </a:r>
          </a:p>
          <a:p>
            <a:r>
              <a:rPr lang="fr-FR" sz="2800" dirty="0" smtClean="0"/>
              <a:t> développe  dans une cavité amniotique propre à lui.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260648"/>
            <a:ext cx="6480720" cy="6336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0" y="0"/>
            <a:ext cx="9553897" cy="75405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                </a:t>
            </a:r>
            <a:endParaRPr lang="fr-FR" sz="3200" b="1" dirty="0" smtClean="0">
              <a:solidFill>
                <a:srgbClr val="FF0000"/>
              </a:solidFill>
            </a:endParaRPr>
          </a:p>
          <a:p>
            <a:r>
              <a:rPr lang="fr-FR" sz="3200" b="1" dirty="0" smtClean="0">
                <a:solidFill>
                  <a:srgbClr val="00B050"/>
                </a:solidFill>
              </a:rPr>
              <a:t>II. Grossesses gémellaires monozygotes 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/>
              <a:t>Jumeaux uniovulaires : vrais jumeaux </a:t>
            </a:r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Représentent 25% des grossesses gémellaires.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Même patrimoine génétique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Mêmes groupes sanguins</a:t>
            </a:r>
          </a:p>
          <a:p>
            <a:r>
              <a:rPr lang="fr-FR" sz="2800" dirty="0" smtClean="0">
                <a:solidFill>
                  <a:srgbClr val="0070C0"/>
                </a:solidFill>
              </a:rPr>
              <a:t>transfusions,  </a:t>
            </a:r>
            <a:r>
              <a:rPr lang="fr-FR" sz="2800" u="sng" dirty="0" smtClean="0">
                <a:solidFill>
                  <a:srgbClr val="0070C0"/>
                </a:solidFill>
                <a:hlinkClick r:id="rId2" tooltip="Greffe (médecine)"/>
              </a:rPr>
              <a:t>transplantations</a:t>
            </a:r>
            <a:r>
              <a:rPr lang="fr-FR" sz="2800" dirty="0" smtClean="0">
                <a:solidFill>
                  <a:srgbClr val="0070C0"/>
                </a:solidFill>
              </a:rPr>
              <a:t> ou </a:t>
            </a:r>
            <a:r>
              <a:rPr lang="fr-FR" sz="2800" u="sng" dirty="0" smtClean="0">
                <a:solidFill>
                  <a:srgbClr val="0070C0"/>
                </a:solidFill>
                <a:hlinkClick r:id="rId2" tooltip="Greffe (médecine)"/>
              </a:rPr>
              <a:t>greffes</a:t>
            </a:r>
            <a:r>
              <a:rPr lang="fr-FR" sz="2800" dirty="0" smtClean="0">
                <a:solidFill>
                  <a:srgbClr val="0070C0"/>
                </a:solidFill>
              </a:rPr>
              <a:t> </a:t>
            </a:r>
            <a:r>
              <a:rPr lang="fr-FR" sz="2800" dirty="0" smtClean="0"/>
              <a:t>d'organes sans rejet.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Mêmes maladies génétiques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Génétiquement identiques, donc mêmes caractères apparents</a:t>
            </a:r>
          </a:p>
          <a:p>
            <a:r>
              <a:rPr lang="fr-FR" sz="2800" dirty="0" smtClean="0"/>
              <a:t> et latents/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même couleur des yeux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même couleur des cheveux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même couleur de la peau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même sexe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même groupe sanguin </a:t>
            </a:r>
          </a:p>
          <a:p>
            <a:pPr>
              <a:buFont typeface="Wingdings" pitchFamily="2" charset="2"/>
              <a:buChar char="Ø"/>
            </a:pPr>
            <a:endParaRPr lang="fr-FR" sz="2800" dirty="0" smtClean="0"/>
          </a:p>
          <a:p>
            <a:r>
              <a:rPr lang="fr-FR" sz="2800" dirty="0" smtClean="0"/>
              <a:t> </a:t>
            </a:r>
            <a:endParaRPr lang="fr-FR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0" y="0"/>
            <a:ext cx="9899248" cy="624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  </a:t>
            </a:r>
            <a:r>
              <a:rPr lang="fr-FR" sz="3200" b="1" dirty="0" smtClean="0">
                <a:solidFill>
                  <a:srgbClr val="00B050"/>
                </a:solidFill>
              </a:rPr>
              <a:t>II. Grossesses gémellaires monozygotes</a:t>
            </a:r>
          </a:p>
          <a:p>
            <a:r>
              <a:rPr lang="fr-FR" sz="3200" b="1" dirty="0" smtClean="0">
                <a:solidFill>
                  <a:srgbClr val="FF0000"/>
                </a:solidFill>
              </a:rPr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Empreintes digitales différentes:</a:t>
            </a:r>
          </a:p>
          <a:p>
            <a:r>
              <a:rPr lang="fr-FR" sz="2800" dirty="0" smtClean="0"/>
              <a:t> la forme finale des empreintes est influencée par des paramètres</a:t>
            </a:r>
          </a:p>
          <a:p>
            <a:r>
              <a:rPr lang="fr-FR" sz="2800" dirty="0" smtClean="0"/>
              <a:t> environnementaux au cours de la grossesse:</a:t>
            </a:r>
          </a:p>
          <a:p>
            <a:pPr>
              <a:buFont typeface="Courier New" pitchFamily="49" charset="0"/>
              <a:buChar char="o"/>
            </a:pPr>
            <a:r>
              <a:rPr lang="fr-FR" sz="2800" dirty="0" smtClean="0"/>
              <a:t>  alimentation</a:t>
            </a:r>
          </a:p>
          <a:p>
            <a:pPr>
              <a:buFont typeface="Courier New" pitchFamily="49" charset="0"/>
              <a:buChar char="o"/>
            </a:pPr>
            <a:r>
              <a:rPr lang="fr-FR" sz="2800" dirty="0" smtClean="0"/>
              <a:t>  pression sanguine</a:t>
            </a:r>
          </a:p>
          <a:p>
            <a:pPr>
              <a:buFont typeface="Courier New" pitchFamily="49" charset="0"/>
              <a:buChar char="o"/>
            </a:pPr>
            <a:r>
              <a:rPr lang="fr-FR" sz="2800" dirty="0" smtClean="0"/>
              <a:t>  position dans l’utérus</a:t>
            </a:r>
          </a:p>
          <a:p>
            <a:pPr>
              <a:buFont typeface="Courier New" pitchFamily="49" charset="0"/>
              <a:buChar char="o"/>
            </a:pPr>
            <a:r>
              <a:rPr lang="fr-FR" sz="2800" dirty="0" smtClean="0"/>
              <a:t>  taux de croissance des doigts à la fin du premier trimestre</a:t>
            </a:r>
          </a:p>
          <a:p>
            <a:r>
              <a:rPr lang="fr-FR" sz="2800" dirty="0" smtClean="0"/>
              <a:t>. 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Au fil des années, les vrais jumeaux peuvent aussi développer</a:t>
            </a:r>
          </a:p>
          <a:p>
            <a:r>
              <a:rPr lang="fr-FR" sz="2800" dirty="0" smtClean="0"/>
              <a:t> des caractères différents à la suite des choix personnels du</a:t>
            </a:r>
          </a:p>
          <a:p>
            <a:r>
              <a:rPr lang="fr-FR" sz="2800" dirty="0" smtClean="0"/>
              <a:t> style de vie et sous l’influence de l'environnement.</a:t>
            </a:r>
          </a:p>
          <a:p>
            <a:endParaRPr lang="fr-FR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0" y="0"/>
            <a:ext cx="9048887" cy="66787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  </a:t>
            </a:r>
            <a:r>
              <a:rPr lang="fr-FR" sz="3200" b="1" dirty="0" smtClean="0">
                <a:solidFill>
                  <a:srgbClr val="00B050"/>
                </a:solidFill>
              </a:rPr>
              <a:t>II. Grossesses gémellaires monozygotes</a:t>
            </a:r>
          </a:p>
          <a:p>
            <a:r>
              <a:rPr lang="fr-FR" sz="3200" b="1" dirty="0" smtClean="0">
                <a:solidFill>
                  <a:srgbClr val="FF0000"/>
                </a:solidFill>
              </a:rPr>
              <a:t> </a:t>
            </a:r>
          </a:p>
          <a:p>
            <a:pPr lvl="0"/>
            <a:r>
              <a:rPr lang="fr-FR" sz="2800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A. Jumeaux uniovulaires bi choriaux</a:t>
            </a:r>
          </a:p>
          <a:p>
            <a:pPr lvl="0"/>
            <a:endParaRPr lang="fr-FR" sz="2800" dirty="0" smtClean="0"/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La division de l'œuf survient à un délai inférieur ou égal à </a:t>
            </a:r>
          </a:p>
          <a:p>
            <a:pPr lvl="0"/>
            <a:r>
              <a:rPr lang="fr-FR" sz="2800" dirty="0" smtClean="0"/>
              <a:t>deux jours  stade  2 à  4 blastomères.</a:t>
            </a:r>
          </a:p>
          <a:p>
            <a:pPr lvl="0"/>
            <a:endParaRPr lang="fr-FR" sz="2800" dirty="0" smtClean="0"/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Chaque jumeau se développe </a:t>
            </a:r>
            <a:r>
              <a:rPr lang="fr-FR" sz="2800" dirty="0" smtClean="0">
                <a:solidFill>
                  <a:srgbClr val="0070C0"/>
                </a:solidFill>
              </a:rPr>
              <a:t>dans une cavité amniotique</a:t>
            </a:r>
            <a:r>
              <a:rPr lang="fr-FR" sz="2800" dirty="0" smtClean="0"/>
              <a:t>.</a:t>
            </a:r>
          </a:p>
          <a:p>
            <a:pPr lvl="0">
              <a:buFont typeface="Wingdings" pitchFamily="2" charset="2"/>
              <a:buChar char="Ø"/>
            </a:pPr>
            <a:endParaRPr lang="fr-FR" sz="2800" dirty="0" smtClean="0"/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Les deux  placenta peuvent être distincts, séparés.</a:t>
            </a:r>
          </a:p>
          <a:p>
            <a:pPr lvl="0"/>
            <a:r>
              <a:rPr lang="fr-FR" sz="2800" dirty="0" smtClean="0"/>
              <a:t> 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Ce type de gémellité représente 30 % des </a:t>
            </a:r>
            <a:r>
              <a:rPr lang="fr-FR" sz="2800" dirty="0" smtClean="0">
                <a:solidFill>
                  <a:srgbClr val="0070C0"/>
                </a:solidFill>
              </a:rPr>
              <a:t>grossesses </a:t>
            </a:r>
          </a:p>
          <a:p>
            <a:pPr lvl="0"/>
            <a:r>
              <a:rPr lang="fr-FR" sz="2800" dirty="0" smtClean="0">
                <a:solidFill>
                  <a:srgbClr val="0070C0"/>
                </a:solidFill>
              </a:rPr>
              <a:t>    gémellaires monozygotes.</a:t>
            </a:r>
          </a:p>
          <a:p>
            <a:pPr>
              <a:buFont typeface="Wingdings" pitchFamily="2" charset="2"/>
              <a:buChar char="Ø"/>
            </a:pPr>
            <a:endParaRPr lang="fr-FR" sz="2800" dirty="0" smtClean="0"/>
          </a:p>
          <a:p>
            <a:endParaRPr lang="fr-FR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692696"/>
            <a:ext cx="6408712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0" y="0"/>
            <a:ext cx="9103902" cy="710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  </a:t>
            </a:r>
            <a:r>
              <a:rPr lang="fr-FR" sz="3200" b="1" dirty="0" smtClean="0">
                <a:solidFill>
                  <a:srgbClr val="00B050"/>
                </a:solidFill>
              </a:rPr>
              <a:t>II. Grossesses gémellaires monozygotes </a:t>
            </a: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pPr lvl="0"/>
            <a:r>
              <a:rPr lang="fr-FR" sz="2800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B. Jumeaux uniovulaires mono choriaux</a:t>
            </a:r>
          </a:p>
          <a:p>
            <a:pPr lvl="0"/>
            <a:r>
              <a:rPr lang="fr-FR" sz="2800" b="1" dirty="0" smtClean="0">
                <a:solidFill>
                  <a:srgbClr val="0070C0"/>
                </a:solidFill>
              </a:rPr>
              <a:t> </a:t>
            </a:r>
          </a:p>
          <a:p>
            <a:pPr lvl="0"/>
            <a:r>
              <a:rPr lang="fr-FR" sz="2800" b="1" dirty="0" smtClean="0"/>
              <a:t>   </a:t>
            </a:r>
            <a:r>
              <a:rPr lang="fr-FR" sz="2800" b="1" dirty="0" smtClean="0">
                <a:solidFill>
                  <a:srgbClr val="00B050"/>
                </a:solidFill>
              </a:rPr>
              <a:t>a. di amniotiques</a:t>
            </a:r>
            <a:endParaRPr lang="fr-FR" sz="2800" dirty="0" smtClean="0">
              <a:solidFill>
                <a:srgbClr val="00B050"/>
              </a:solidFill>
            </a:endParaRP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Division de</a:t>
            </a:r>
            <a:r>
              <a:rPr lang="fr-FR" sz="2800" dirty="0" smtClean="0">
                <a:hlinkClick r:id="rId2"/>
              </a:rPr>
              <a:t> l'embryon</a:t>
            </a:r>
            <a:r>
              <a:rPr lang="fr-FR" sz="2800" dirty="0" smtClean="0"/>
              <a:t> survient dans un délai  supérieur à</a:t>
            </a:r>
          </a:p>
          <a:p>
            <a:pPr lvl="0"/>
            <a:r>
              <a:rPr lang="fr-FR" sz="2800" dirty="0" smtClean="0"/>
              <a:t> 2 jours et  inférieur à 8 jours ( stade </a:t>
            </a:r>
            <a:r>
              <a:rPr lang="fr-FR" sz="2800" dirty="0" smtClean="0">
                <a:hlinkClick r:id="rId3"/>
              </a:rPr>
              <a:t>morula</a:t>
            </a:r>
            <a:r>
              <a:rPr lang="fr-FR" sz="2800" dirty="0" smtClean="0"/>
              <a:t> ou </a:t>
            </a:r>
            <a:r>
              <a:rPr lang="fr-FR" sz="2800" dirty="0" err="1" smtClean="0">
                <a:hlinkClick r:id="rId3"/>
              </a:rPr>
              <a:t>blastocyste</a:t>
            </a:r>
            <a:r>
              <a:rPr lang="fr-FR" sz="2800" dirty="0" smtClean="0"/>
              <a:t> et</a:t>
            </a:r>
          </a:p>
          <a:p>
            <a:pPr lvl="0"/>
            <a:r>
              <a:rPr lang="fr-FR" sz="2800" dirty="0" smtClean="0"/>
              <a:t>  avant la formation de l'amnios).</a:t>
            </a:r>
          </a:p>
          <a:p>
            <a:pPr lvl="0"/>
            <a:endParaRPr lang="fr-FR" sz="2800" dirty="0" smtClean="0"/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Chaque jumeau se développe dans une cavité amniotique.</a:t>
            </a:r>
          </a:p>
          <a:p>
            <a:pPr lvl="0">
              <a:buFont typeface="Wingdings" pitchFamily="2" charset="2"/>
              <a:buChar char="Ø"/>
            </a:pPr>
            <a:endParaRPr lang="fr-FR" sz="2800" dirty="0" smtClean="0"/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Il y a </a:t>
            </a:r>
            <a:r>
              <a:rPr lang="fr-FR" sz="2800" dirty="0" smtClean="0">
                <a:hlinkClick r:id="rId4"/>
              </a:rPr>
              <a:t>une seule masse placentaire</a:t>
            </a:r>
            <a:r>
              <a:rPr lang="fr-FR" sz="2800" dirty="0" smtClean="0"/>
              <a:t> avec un seul chorion.</a:t>
            </a:r>
          </a:p>
          <a:p>
            <a:pPr lvl="0">
              <a:buFont typeface="Wingdings" pitchFamily="2" charset="2"/>
              <a:buChar char="Ø"/>
            </a:pPr>
            <a:endParaRPr lang="fr-FR" sz="2800" dirty="0" smtClean="0"/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Ce type de gémellité représente 70 % des grossesses</a:t>
            </a:r>
          </a:p>
          <a:p>
            <a:pPr lvl="0"/>
            <a:r>
              <a:rPr lang="fr-FR" sz="2800" dirty="0" smtClean="0"/>
              <a:t> gémellaires  monozygotes.</a:t>
            </a:r>
          </a:p>
          <a:p>
            <a:endParaRPr lang="fr-FR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404664"/>
            <a:ext cx="5904656" cy="5976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0" y="0"/>
            <a:ext cx="9900592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   </a:t>
            </a:r>
            <a:r>
              <a:rPr lang="fr-FR" sz="3200" b="1" dirty="0" smtClean="0">
                <a:solidFill>
                  <a:srgbClr val="FF0000"/>
                </a:solidFill>
              </a:rPr>
              <a:t>II.</a:t>
            </a:r>
            <a:r>
              <a:rPr lang="fr-FR" sz="3200" b="1" dirty="0" smtClean="0"/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Grossesses gémellaires monozygotes </a:t>
            </a:r>
          </a:p>
          <a:p>
            <a:pPr lvl="0"/>
            <a:r>
              <a:rPr lang="fr-FR" sz="2800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B. Jumeaux uniovulaires mono choriaux</a:t>
            </a:r>
          </a:p>
          <a:p>
            <a:pPr lvl="0"/>
            <a:r>
              <a:rPr lang="fr-FR" sz="2800" b="1" dirty="0" smtClean="0">
                <a:solidFill>
                  <a:srgbClr val="0070C0"/>
                </a:solidFill>
              </a:rPr>
              <a:t> </a:t>
            </a:r>
          </a:p>
          <a:p>
            <a:pPr lvl="0"/>
            <a:r>
              <a:rPr lang="fr-FR" sz="2800" b="1" dirty="0" smtClean="0"/>
              <a:t>   </a:t>
            </a:r>
            <a:r>
              <a:rPr lang="fr-FR" sz="2800" b="1" dirty="0" smtClean="0">
                <a:solidFill>
                  <a:srgbClr val="00B050"/>
                </a:solidFill>
              </a:rPr>
              <a:t>b. mono amniotiques</a:t>
            </a:r>
            <a:endParaRPr lang="fr-FR" sz="2800" dirty="0" smtClean="0">
              <a:solidFill>
                <a:srgbClr val="00B050"/>
              </a:solidFill>
            </a:endParaRP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La division de </a:t>
            </a:r>
            <a:r>
              <a:rPr lang="fr-FR" sz="2800" u="sng" dirty="0" smtClean="0">
                <a:hlinkClick r:id="rId2"/>
              </a:rPr>
              <a:t>l'embryon</a:t>
            </a:r>
            <a:r>
              <a:rPr lang="fr-FR" sz="2800" dirty="0" smtClean="0"/>
              <a:t> survient dans un délai supérieur à 7 jours et inférieur à 14 jours (stade dis </a:t>
            </a:r>
            <a:r>
              <a:rPr lang="fr-FR" sz="2800" dirty="0" err="1" smtClean="0"/>
              <a:t>emb</a:t>
            </a:r>
            <a:r>
              <a:rPr lang="fr-FR" sz="2800" dirty="0" smtClean="0"/>
              <a:t> didermique).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Les deux jumeaux se développent dans une cavité amniotique unique. 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u="sng" dirty="0" smtClean="0">
                <a:hlinkClick r:id="rId3"/>
              </a:rPr>
              <a:t> Il existe une seule masse placentaire</a:t>
            </a:r>
            <a:endParaRPr lang="fr-FR" sz="2800" dirty="0" smtClean="0"/>
          </a:p>
          <a:p>
            <a:pPr lvl="0">
              <a:buFont typeface="Wingdings" pitchFamily="2" charset="2"/>
              <a:buChar char="§"/>
            </a:pPr>
            <a:r>
              <a:rPr lang="fr-FR" sz="2800" dirty="0" smtClean="0"/>
              <a:t> Si la séparation survient au 12</a:t>
            </a:r>
            <a:r>
              <a:rPr lang="fr-FR" sz="2800" baseline="30000" dirty="0" smtClean="0"/>
              <a:t>ème</a:t>
            </a:r>
            <a:r>
              <a:rPr lang="fr-FR" sz="2800" dirty="0" smtClean="0"/>
              <a:t> ou 13</a:t>
            </a:r>
            <a:r>
              <a:rPr lang="fr-FR" sz="2800" baseline="30000" dirty="0" smtClean="0"/>
              <a:t>ème:</a:t>
            </a:r>
            <a:r>
              <a:rPr lang="fr-FR" sz="2800" dirty="0" smtClean="0"/>
              <a:t> </a:t>
            </a:r>
          </a:p>
          <a:p>
            <a:pPr lvl="0"/>
            <a:r>
              <a:rPr lang="fr-FR" sz="2800" dirty="0" smtClean="0"/>
              <a:t>une seule vésicule ombilicale et un seul cordon bifurqué vers les deux jumeaux séparés. </a:t>
            </a:r>
          </a:p>
          <a:p>
            <a:pPr lvl="0">
              <a:buFont typeface="Wingdings" pitchFamily="2" charset="2"/>
              <a:buChar char="§"/>
            </a:pPr>
            <a:r>
              <a:rPr lang="fr-FR" sz="2800" dirty="0" smtClean="0"/>
              <a:t> Si la séparation survient avant le 12</a:t>
            </a:r>
            <a:r>
              <a:rPr lang="fr-FR" sz="2800" baseline="30000" dirty="0" smtClean="0"/>
              <a:t>ème</a:t>
            </a:r>
            <a:r>
              <a:rPr lang="fr-FR" sz="2800" dirty="0" smtClean="0"/>
              <a:t> jour :</a:t>
            </a:r>
          </a:p>
          <a:p>
            <a:pPr lvl="0"/>
            <a:r>
              <a:rPr lang="fr-FR" sz="2800" dirty="0" smtClean="0"/>
              <a:t>Deux  vésicules ombilicales et deux cordons.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Ce type de gémellité représente 1 à 2 % des </a:t>
            </a:r>
            <a:r>
              <a:rPr lang="fr-FR" sz="2800" dirty="0" smtClean="0">
                <a:solidFill>
                  <a:schemeClr val="tx2">
                    <a:lumMod val="75000"/>
                  </a:schemeClr>
                </a:solidFill>
              </a:rPr>
              <a:t>grossesses </a:t>
            </a:r>
          </a:p>
          <a:p>
            <a:pPr lvl="0"/>
            <a:r>
              <a:rPr lang="fr-FR" sz="2800" dirty="0" smtClean="0">
                <a:solidFill>
                  <a:schemeClr val="tx2">
                    <a:lumMod val="75000"/>
                  </a:schemeClr>
                </a:solidFill>
              </a:rPr>
              <a:t>gémellaires monozygotes.</a:t>
            </a:r>
          </a:p>
          <a:p>
            <a:endParaRPr lang="fr-FR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4" y="404664"/>
            <a:ext cx="5472607" cy="5904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rc_mi" descr="http://svt.ac-dijon.fr/schemassvt/IMG/jumeaux-545x352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-419100"/>
            <a:ext cx="8892480" cy="727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07504" y="0"/>
            <a:ext cx="90364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2800" b="1" dirty="0">
                <a:solidFill>
                  <a:srgbClr val="0070C0"/>
                </a:solidFill>
              </a:rPr>
              <a:t>LES TROUBLES DU DÉVELOPPEMENT </a:t>
            </a:r>
          </a:p>
          <a:p>
            <a:pPr lvl="0"/>
            <a:r>
              <a:rPr lang="fr-FR" sz="2800" b="1" dirty="0" smtClean="0">
                <a:solidFill>
                  <a:srgbClr val="0070C0"/>
                </a:solidFill>
              </a:rPr>
              <a:t>Anomalies  morphologiques et constitutionnelles</a:t>
            </a:r>
            <a:endParaRPr lang="fr-FR" sz="2800" dirty="0" smtClean="0">
              <a:solidFill>
                <a:srgbClr val="0070C0"/>
              </a:solidFill>
            </a:endParaRPr>
          </a:p>
          <a:p>
            <a:endParaRPr lang="fr-FR" sz="2800" b="1" dirty="0"/>
          </a:p>
        </p:txBody>
      </p:sp>
      <p:sp>
        <p:nvSpPr>
          <p:cNvPr id="3" name="ZoneTexte 2"/>
          <p:cNvSpPr txBox="1"/>
          <p:nvPr/>
        </p:nvSpPr>
        <p:spPr>
          <a:xfrm>
            <a:off x="107504" y="1124744"/>
            <a:ext cx="8272586" cy="4462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Anomalies </a:t>
            </a:r>
            <a:r>
              <a:rPr lang="fr-FR" sz="2800" b="1" dirty="0"/>
              <a:t>de position d'un ou de plusieurs </a:t>
            </a:r>
            <a:r>
              <a:rPr lang="fr-FR" sz="2800" b="1" dirty="0" smtClean="0"/>
              <a:t>organes</a:t>
            </a:r>
          </a:p>
          <a:p>
            <a:r>
              <a:rPr lang="fr-FR" sz="2800" b="1" dirty="0" err="1" smtClean="0">
                <a:solidFill>
                  <a:srgbClr val="FF0000"/>
                </a:solidFill>
              </a:rPr>
              <a:t>Hétérotaxie</a:t>
            </a:r>
            <a:r>
              <a:rPr lang="fr-FR" sz="2800" b="1" dirty="0" smtClean="0">
                <a:solidFill>
                  <a:srgbClr val="FF0000"/>
                </a:solidFill>
              </a:rPr>
              <a:t>: </a:t>
            </a:r>
            <a:r>
              <a:rPr lang="fr-FR" sz="2800" dirty="0" smtClean="0"/>
              <a:t>mauvais placement des organes internes,</a:t>
            </a:r>
          </a:p>
          <a:p>
            <a:r>
              <a:rPr lang="fr-FR" sz="2800" dirty="0" smtClean="0"/>
              <a:t> pairs ou non, dans le thorax et/ou la cavité abdominale</a:t>
            </a:r>
          </a:p>
          <a:p>
            <a:r>
              <a:rPr lang="fr-FR" sz="2800" dirty="0" smtClean="0"/>
              <a:t> par rapport à un axe de symétrie droite/gauche.</a:t>
            </a:r>
          </a:p>
          <a:p>
            <a:endParaRPr lang="fr-FR" sz="2800" b="1" dirty="0" smtClean="0">
              <a:solidFill>
                <a:srgbClr val="FF0000"/>
              </a:solidFill>
            </a:endParaRPr>
          </a:p>
          <a:p>
            <a:r>
              <a:rPr lang="fr-FR" sz="2800" dirty="0" err="1" smtClean="0">
                <a:hlinkClick r:id="rId2" tooltip="Situs inversus"/>
              </a:rPr>
              <a:t>situs</a:t>
            </a:r>
            <a:r>
              <a:rPr lang="fr-FR" sz="2800" dirty="0" smtClean="0">
                <a:hlinkClick r:id="rId2" tooltip="Situs inversus"/>
              </a:rPr>
              <a:t> </a:t>
            </a:r>
            <a:r>
              <a:rPr lang="fr-FR" sz="2800" dirty="0" err="1" smtClean="0">
                <a:hlinkClick r:id="rId2" tooltip="Situs inversus"/>
              </a:rPr>
              <a:t>inversus</a:t>
            </a:r>
            <a:r>
              <a:rPr lang="fr-FR" sz="2800" dirty="0" smtClean="0"/>
              <a:t> ou </a:t>
            </a:r>
            <a:r>
              <a:rPr lang="fr-FR" sz="2800" dirty="0" err="1" smtClean="0"/>
              <a:t>situs</a:t>
            </a:r>
            <a:r>
              <a:rPr lang="fr-FR" sz="2800" dirty="0" smtClean="0"/>
              <a:t> </a:t>
            </a:r>
            <a:r>
              <a:rPr lang="fr-FR" sz="2800" dirty="0" err="1" smtClean="0"/>
              <a:t>totalis</a:t>
            </a:r>
            <a:r>
              <a:rPr lang="fr-FR" sz="2800" dirty="0" smtClean="0"/>
              <a:t>: inversion complète </a:t>
            </a:r>
          </a:p>
          <a:p>
            <a:r>
              <a:rPr lang="fr-FR" sz="2800" dirty="0" smtClean="0"/>
              <a:t>des </a:t>
            </a:r>
            <a:r>
              <a:rPr lang="fr-FR" sz="2800" dirty="0" smtClean="0">
                <a:hlinkClick r:id="rId3" tooltip="Organe"/>
              </a:rPr>
              <a:t>organes</a:t>
            </a:r>
            <a:r>
              <a:rPr lang="fr-FR" sz="2800" dirty="0" smtClean="0"/>
              <a:t> internes « en miroir » </a:t>
            </a:r>
          </a:p>
          <a:p>
            <a:r>
              <a:rPr lang="fr-FR" sz="2800" dirty="0" err="1" smtClean="0">
                <a:solidFill>
                  <a:srgbClr val="0070C0"/>
                </a:solidFill>
              </a:rPr>
              <a:t>Situs</a:t>
            </a:r>
            <a:r>
              <a:rPr lang="fr-FR" sz="2800" dirty="0" smtClean="0">
                <a:solidFill>
                  <a:srgbClr val="0070C0"/>
                </a:solidFill>
              </a:rPr>
              <a:t> ambigus: </a:t>
            </a:r>
            <a:r>
              <a:rPr lang="fr-FR" sz="2800" dirty="0" smtClean="0"/>
              <a:t> inversion partielle </a:t>
            </a:r>
          </a:p>
          <a:p>
            <a:r>
              <a:rPr lang="fr-FR" sz="2800" dirty="0" smtClean="0">
                <a:hlinkClick r:id="rId4" tooltip="Dextrocardie"/>
              </a:rPr>
              <a:t>Dextrocardie</a:t>
            </a:r>
            <a:r>
              <a:rPr lang="fr-FR" sz="2800" dirty="0" smtClean="0"/>
              <a:t>: inversion de la pointe du cœur</a:t>
            </a:r>
          </a:p>
          <a:p>
            <a:endParaRPr lang="fr-FR" sz="3200" b="1" dirty="0"/>
          </a:p>
        </p:txBody>
      </p:sp>
    </p:spTree>
    <p:extLst>
      <p:ext uri="{BB962C8B-B14F-4D97-AF65-F5344CB8AC3E}">
        <p14:creationId xmlns:p14="http://schemas.microsoft.com/office/powerpoint/2010/main" val="5307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375955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Etats d'intersexualité</a:t>
            </a:r>
          </a:p>
          <a:p>
            <a:endParaRPr lang="fr-FR" sz="3200" b="1" dirty="0">
              <a:solidFill>
                <a:srgbClr val="0070C0"/>
              </a:solidFill>
            </a:endParaRPr>
          </a:p>
          <a:p>
            <a:endParaRPr lang="fr-FR" sz="3200" b="1" dirty="0">
              <a:solidFill>
                <a:srgbClr val="0070C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0" y="548680"/>
            <a:ext cx="8982715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Discordances existant </a:t>
            </a:r>
            <a:r>
              <a:rPr lang="fr-FR" sz="2800" dirty="0"/>
              <a:t>entre le sexe phénotypique </a:t>
            </a:r>
            <a:r>
              <a:rPr lang="fr-FR" sz="2800" dirty="0" smtClean="0"/>
              <a:t> et </a:t>
            </a:r>
            <a:r>
              <a:rPr lang="fr-FR" sz="2800" dirty="0"/>
              <a:t>le sexe </a:t>
            </a:r>
            <a:endParaRPr lang="fr-FR" sz="2800" dirty="0" smtClean="0"/>
          </a:p>
          <a:p>
            <a:r>
              <a:rPr lang="fr-FR" sz="2800" dirty="0" smtClean="0"/>
              <a:t>génétique.</a:t>
            </a:r>
          </a:p>
          <a:p>
            <a:r>
              <a:rPr lang="fr-FR" sz="2800" dirty="0" smtClean="0"/>
              <a:t> </a:t>
            </a:r>
            <a:r>
              <a:rPr lang="fr-FR" sz="2800" b="1" dirty="0" smtClean="0">
                <a:solidFill>
                  <a:srgbClr val="FF0000"/>
                </a:solidFill>
              </a:rPr>
              <a:t>Dysgénésies gonadiques</a:t>
            </a:r>
            <a:r>
              <a:rPr lang="fr-FR" sz="2800" dirty="0" smtClean="0"/>
              <a:t>: insuffisance du développement</a:t>
            </a:r>
          </a:p>
          <a:p>
            <a:r>
              <a:rPr lang="fr-FR" sz="2800" dirty="0" smtClean="0"/>
              <a:t> ou l'absence des gonades</a:t>
            </a:r>
          </a:p>
          <a:p>
            <a:r>
              <a:rPr lang="fr-FR" sz="2800" b="1" dirty="0" err="1" smtClean="0">
                <a:solidFill>
                  <a:srgbClr val="FF0000"/>
                </a:solidFill>
              </a:rPr>
              <a:t>Pseudo-hermaphrodisme</a:t>
            </a:r>
            <a:r>
              <a:rPr lang="fr-FR" sz="2800" b="1" dirty="0" smtClean="0">
                <a:solidFill>
                  <a:srgbClr val="FF0000"/>
                </a:solidFill>
              </a:rPr>
              <a:t> féminin</a:t>
            </a:r>
            <a:r>
              <a:rPr lang="fr-FR" sz="2800" dirty="0" smtClean="0"/>
              <a:t>: présence d'ovaires</a:t>
            </a:r>
          </a:p>
          <a:p>
            <a:r>
              <a:rPr lang="fr-FR" sz="2800" dirty="0" smtClean="0"/>
              <a:t> avec </a:t>
            </a:r>
            <a:r>
              <a:rPr lang="fr-FR" sz="2800" dirty="0"/>
              <a:t>ambigüité des organes génitaux </a:t>
            </a:r>
            <a:r>
              <a:rPr lang="fr-FR" sz="2800" dirty="0" smtClean="0"/>
              <a:t>externes</a:t>
            </a:r>
          </a:p>
          <a:p>
            <a:r>
              <a:rPr lang="fr-FR" sz="2800" b="1" dirty="0" err="1" smtClean="0">
                <a:solidFill>
                  <a:srgbClr val="FF0000"/>
                </a:solidFill>
              </a:rPr>
              <a:t>Pseudo-hermaphrodisme</a:t>
            </a:r>
            <a:r>
              <a:rPr lang="fr-FR" sz="2800" b="1" dirty="0" smtClean="0">
                <a:solidFill>
                  <a:srgbClr val="FF0000"/>
                </a:solidFill>
              </a:rPr>
              <a:t> masculin</a:t>
            </a:r>
            <a:r>
              <a:rPr lang="fr-FR" sz="2800" dirty="0" smtClean="0"/>
              <a:t>:  </a:t>
            </a:r>
            <a:r>
              <a:rPr lang="fr-FR" sz="2800" dirty="0"/>
              <a:t>présence </a:t>
            </a:r>
            <a:r>
              <a:rPr lang="fr-FR" sz="2800" dirty="0" smtClean="0"/>
              <a:t>de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testicules </a:t>
            </a:r>
            <a:r>
              <a:rPr lang="fr-FR" sz="2800" dirty="0" smtClean="0"/>
              <a:t>avec </a:t>
            </a:r>
            <a:r>
              <a:rPr lang="fr-FR" sz="2800" dirty="0"/>
              <a:t>des organes génitaux externes </a:t>
            </a:r>
            <a:r>
              <a:rPr lang="fr-FR" sz="2800" dirty="0" smtClean="0"/>
              <a:t>ambigus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Hermaphrodisme vrai: </a:t>
            </a:r>
            <a:r>
              <a:rPr lang="fr-FR" sz="2800" dirty="0" smtClean="0"/>
              <a:t> </a:t>
            </a:r>
            <a:r>
              <a:rPr lang="fr-FR" sz="2800" dirty="0"/>
              <a:t>coexistence de structure </a:t>
            </a:r>
            <a:r>
              <a:rPr lang="fr-FR" sz="2800" dirty="0" smtClean="0"/>
              <a:t>ovariennes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et </a:t>
            </a:r>
            <a:r>
              <a:rPr lang="fr-FR" sz="2800" dirty="0" smtClean="0"/>
              <a:t>testiculaires</a:t>
            </a:r>
            <a:r>
              <a:rPr lang="fr-FR" sz="2800" dirty="0"/>
              <a:t>, associées, non fonctionnelles, </a:t>
            </a:r>
            <a:endParaRPr lang="fr-FR" sz="2800" dirty="0" smtClean="0"/>
          </a:p>
          <a:p>
            <a:r>
              <a:rPr lang="fr-FR" sz="2800" dirty="0" smtClean="0"/>
              <a:t>parfois </a:t>
            </a:r>
            <a:r>
              <a:rPr lang="fr-FR" sz="2800" dirty="0"/>
              <a:t>réunies en un seul organe décrit sous le </a:t>
            </a:r>
            <a:r>
              <a:rPr lang="fr-FR" sz="2800" dirty="0" smtClean="0"/>
              <a:t>nom</a:t>
            </a:r>
          </a:p>
          <a:p>
            <a:r>
              <a:rPr lang="fr-FR" sz="2800" dirty="0" smtClean="0"/>
              <a:t> </a:t>
            </a:r>
            <a:r>
              <a:rPr lang="fr-FR" sz="2800" b="1" dirty="0"/>
              <a:t>d'ovotestis.</a:t>
            </a:r>
            <a:endParaRPr lang="fr-FR" sz="2800" dirty="0"/>
          </a:p>
          <a:p>
            <a:r>
              <a:rPr lang="fr-FR" sz="2800" dirty="0" smtClean="0"/>
              <a:t>.</a:t>
            </a:r>
            <a:endParaRPr lang="fr-FR" sz="2800" dirty="0"/>
          </a:p>
          <a:p>
            <a:endParaRPr lang="fr-FR" sz="3200" b="1" dirty="0"/>
          </a:p>
        </p:txBody>
      </p:sp>
    </p:spTree>
    <p:extLst>
      <p:ext uri="{BB962C8B-B14F-4D97-AF65-F5344CB8AC3E}">
        <p14:creationId xmlns:p14="http://schemas.microsoft.com/office/powerpoint/2010/main" val="3104512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6502165" cy="5447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4"/>
            <a:r>
              <a:rPr lang="fr-FR" sz="2800" b="1" dirty="0" err="1" smtClean="0">
                <a:solidFill>
                  <a:srgbClr val="0070C0"/>
                </a:solidFill>
              </a:rPr>
              <a:t>Hémitéries</a:t>
            </a:r>
            <a:endParaRPr lang="fr-FR" sz="2800" b="1" dirty="0" smtClean="0">
              <a:solidFill>
                <a:srgbClr val="0070C0"/>
              </a:solidFill>
            </a:endParaRPr>
          </a:p>
          <a:p>
            <a:pPr marL="0" lvl="4"/>
            <a:r>
              <a:rPr lang="fr-FR" sz="2800" dirty="0" smtClean="0">
                <a:solidFill>
                  <a:srgbClr val="7030A0"/>
                </a:solidFill>
              </a:rPr>
              <a:t>Anomalies </a:t>
            </a:r>
            <a:r>
              <a:rPr lang="fr-FR" sz="2800" dirty="0">
                <a:solidFill>
                  <a:srgbClr val="7030A0"/>
                </a:solidFill>
              </a:rPr>
              <a:t>de </a:t>
            </a:r>
            <a:r>
              <a:rPr lang="fr-FR" sz="2800" dirty="0" smtClean="0">
                <a:solidFill>
                  <a:srgbClr val="7030A0"/>
                </a:solidFill>
              </a:rPr>
              <a:t>nombre</a:t>
            </a:r>
            <a:r>
              <a:rPr lang="fr-FR" sz="2800" dirty="0" smtClean="0"/>
              <a:t>: en </a:t>
            </a:r>
            <a:r>
              <a:rPr lang="fr-FR" sz="2800" dirty="0"/>
              <a:t>plus ou en </a:t>
            </a:r>
            <a:r>
              <a:rPr lang="fr-FR" sz="2800" dirty="0" smtClean="0"/>
              <a:t>moins</a:t>
            </a:r>
            <a:endParaRPr lang="fr-FR" sz="2800" dirty="0"/>
          </a:p>
          <a:p>
            <a:pPr lvl="0"/>
            <a:r>
              <a:rPr lang="fr-FR" sz="2800" dirty="0" smtClean="0">
                <a:solidFill>
                  <a:srgbClr val="FF0000"/>
                </a:solidFill>
              </a:rPr>
              <a:t>Organes uniques:</a:t>
            </a:r>
            <a:r>
              <a:rPr lang="fr-FR" sz="2800" dirty="0" smtClean="0"/>
              <a:t> utérus</a:t>
            </a:r>
            <a:endParaRPr lang="fr-FR" sz="2800" dirty="0"/>
          </a:p>
          <a:p>
            <a:pPr lvl="0"/>
            <a:r>
              <a:rPr lang="fr-FR" sz="2800" dirty="0" smtClean="0">
                <a:solidFill>
                  <a:srgbClr val="FF0000"/>
                </a:solidFill>
              </a:rPr>
              <a:t>Organes </a:t>
            </a:r>
            <a:r>
              <a:rPr lang="fr-FR" sz="2800" dirty="0">
                <a:solidFill>
                  <a:srgbClr val="FF0000"/>
                </a:solidFill>
              </a:rPr>
              <a:t>doubles</a:t>
            </a:r>
            <a:r>
              <a:rPr lang="fr-FR" sz="2800" dirty="0"/>
              <a:t> : </a:t>
            </a:r>
            <a:r>
              <a:rPr lang="fr-FR" sz="2800" dirty="0" smtClean="0"/>
              <a:t>poumons</a:t>
            </a:r>
            <a:endParaRPr lang="fr-FR" sz="2800" dirty="0"/>
          </a:p>
          <a:p>
            <a:pPr lvl="0"/>
            <a:r>
              <a:rPr lang="fr-FR" sz="2800" dirty="0" smtClean="0">
                <a:solidFill>
                  <a:srgbClr val="FF0000"/>
                </a:solidFill>
              </a:rPr>
              <a:t>Organes </a:t>
            </a:r>
            <a:r>
              <a:rPr lang="fr-FR" sz="2800" dirty="0">
                <a:solidFill>
                  <a:srgbClr val="FF0000"/>
                </a:solidFill>
              </a:rPr>
              <a:t>multiples </a:t>
            </a:r>
            <a:r>
              <a:rPr lang="fr-FR" sz="2800" dirty="0"/>
              <a:t>: </a:t>
            </a:r>
            <a:r>
              <a:rPr lang="fr-FR" sz="2800" dirty="0" smtClean="0"/>
              <a:t>vertèbres</a:t>
            </a:r>
            <a:endParaRPr lang="fr-FR" sz="2800" dirty="0"/>
          </a:p>
          <a:p>
            <a:pPr lvl="0"/>
            <a:r>
              <a:rPr lang="fr-FR" sz="2800" dirty="0" smtClean="0">
                <a:solidFill>
                  <a:srgbClr val="FF0000"/>
                </a:solidFill>
              </a:rPr>
              <a:t>Parties </a:t>
            </a:r>
            <a:r>
              <a:rPr lang="fr-FR" sz="2800" dirty="0">
                <a:solidFill>
                  <a:srgbClr val="FF0000"/>
                </a:solidFill>
              </a:rPr>
              <a:t>d'organe </a:t>
            </a:r>
            <a:r>
              <a:rPr lang="fr-FR" sz="2800" dirty="0"/>
              <a:t>: </a:t>
            </a:r>
            <a:r>
              <a:rPr lang="fr-FR" sz="2800" dirty="0" smtClean="0"/>
              <a:t> hépatique</a:t>
            </a:r>
          </a:p>
          <a:p>
            <a:pPr lvl="0"/>
            <a:r>
              <a:rPr lang="fr-FR" sz="2800" dirty="0" smtClean="0">
                <a:solidFill>
                  <a:schemeClr val="accent4"/>
                </a:solidFill>
              </a:rPr>
              <a:t>Anomalies </a:t>
            </a:r>
            <a:r>
              <a:rPr lang="fr-FR" sz="2800" dirty="0">
                <a:solidFill>
                  <a:schemeClr val="accent4"/>
                </a:solidFill>
              </a:rPr>
              <a:t>de structure</a:t>
            </a:r>
          </a:p>
          <a:p>
            <a:r>
              <a:rPr lang="fr-FR" sz="2800" dirty="0"/>
              <a:t>des organes très divers peuvent présenter :</a:t>
            </a:r>
          </a:p>
          <a:p>
            <a:pPr lvl="0"/>
            <a:r>
              <a:rPr lang="fr-FR" sz="2800" dirty="0" smtClean="0"/>
              <a:t>des </a:t>
            </a:r>
            <a:r>
              <a:rPr lang="fr-FR" sz="2800" dirty="0"/>
              <a:t>soudures anormales </a:t>
            </a:r>
            <a:r>
              <a:rPr lang="fr-FR" sz="2800" dirty="0" smtClean="0"/>
              <a:t>; par ex</a:t>
            </a:r>
            <a:endParaRPr lang="fr-FR" sz="2800" dirty="0"/>
          </a:p>
          <a:p>
            <a:pPr lvl="0"/>
            <a:endParaRPr lang="fr-FR" sz="3200" b="1" dirty="0"/>
          </a:p>
          <a:p>
            <a:pPr marL="0" lvl="4"/>
            <a:endParaRPr lang="fr-FR" sz="3200" dirty="0"/>
          </a:p>
          <a:p>
            <a:endParaRPr lang="fr-FR" sz="3200" b="1" dirty="0"/>
          </a:p>
        </p:txBody>
      </p:sp>
    </p:spTree>
    <p:extLst>
      <p:ext uri="{BB962C8B-B14F-4D97-AF65-F5344CB8AC3E}">
        <p14:creationId xmlns:p14="http://schemas.microsoft.com/office/powerpoint/2010/main" val="525272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41358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Monstruosités: monstres unitaires et monstres doubles</a:t>
            </a:r>
          </a:p>
          <a:p>
            <a:r>
              <a:rPr lang="fr-FR" sz="2800" b="1" dirty="0">
                <a:solidFill>
                  <a:srgbClr val="0070C0"/>
                </a:solidFill>
              </a:rPr>
              <a:t>L</a:t>
            </a:r>
            <a:endParaRPr lang="fr-FR" sz="2800" b="1" dirty="0" smtClean="0">
              <a:solidFill>
                <a:srgbClr val="0070C0"/>
              </a:solidFill>
            </a:endParaRPr>
          </a:p>
          <a:p>
            <a:endParaRPr lang="fr-FR" sz="2800" b="1" dirty="0"/>
          </a:p>
          <a:p>
            <a:endParaRPr lang="fr-FR" sz="2800" b="1" dirty="0"/>
          </a:p>
        </p:txBody>
      </p:sp>
      <p:sp>
        <p:nvSpPr>
          <p:cNvPr id="3" name="ZoneTexte 2"/>
          <p:cNvSpPr txBox="1"/>
          <p:nvPr/>
        </p:nvSpPr>
        <p:spPr>
          <a:xfrm>
            <a:off x="0" y="620688"/>
            <a:ext cx="8547661" cy="85254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2"/>
            <a:r>
              <a:rPr lang="fr-FR" sz="2800" b="1" dirty="0">
                <a:solidFill>
                  <a:srgbClr val="FF0000"/>
                </a:solidFill>
              </a:rPr>
              <a:t>Les monstres </a:t>
            </a:r>
            <a:r>
              <a:rPr lang="fr-FR" sz="2800" b="1" dirty="0" smtClean="0">
                <a:solidFill>
                  <a:srgbClr val="FF0000"/>
                </a:solidFill>
              </a:rPr>
              <a:t>unitaires:</a:t>
            </a:r>
            <a:endParaRPr lang="fr-FR" sz="2800" b="1" dirty="0"/>
          </a:p>
          <a:p>
            <a:pPr lvl="0"/>
            <a:r>
              <a:rPr lang="fr-FR" sz="2800" b="1" dirty="0" err="1" smtClean="0">
                <a:solidFill>
                  <a:srgbClr val="C00000"/>
                </a:solidFill>
              </a:rPr>
              <a:t>Cœlosomie</a:t>
            </a:r>
            <a:r>
              <a:rPr lang="fr-FR" sz="2800" b="1" dirty="0"/>
              <a:t> : </a:t>
            </a:r>
            <a:r>
              <a:rPr lang="fr-FR" sz="2800" b="1" dirty="0" smtClean="0"/>
              <a:t>défaut de </a:t>
            </a:r>
            <a:r>
              <a:rPr lang="fr-FR" sz="2800" b="1" dirty="0"/>
              <a:t>la fermeture la paroi </a:t>
            </a:r>
            <a:r>
              <a:rPr lang="fr-FR" sz="2800" b="1" dirty="0" smtClean="0"/>
              <a:t>abdominale</a:t>
            </a:r>
          </a:p>
          <a:p>
            <a:pPr lvl="0"/>
            <a:r>
              <a:rPr lang="fr-FR" sz="2800" b="1" dirty="0" smtClean="0"/>
              <a:t> ventrale </a:t>
            </a:r>
            <a:r>
              <a:rPr lang="fr-FR" sz="2800" b="1" u="sng" dirty="0" err="1" smtClean="0">
                <a:hlinkClick r:id="rId2"/>
              </a:rPr>
              <a:t>ectro</a:t>
            </a:r>
            <a:r>
              <a:rPr lang="fr-FR" sz="2800" b="1" u="sng" dirty="0" smtClean="0">
                <a:hlinkClick r:id="rId2"/>
              </a:rPr>
              <a:t>-</a:t>
            </a:r>
            <a:r>
              <a:rPr lang="fr-FR" sz="2800" b="1" u="sng" dirty="0" err="1" smtClean="0">
                <a:hlinkClick r:id="rId2"/>
              </a:rPr>
              <a:t>ptychie</a:t>
            </a:r>
            <a:r>
              <a:rPr lang="fr-FR" sz="2800" b="1" u="sng" dirty="0" smtClean="0"/>
              <a:t>.</a:t>
            </a:r>
          </a:p>
          <a:p>
            <a:pPr lvl="0"/>
            <a:r>
              <a:rPr lang="fr-FR" sz="2800" b="1" dirty="0" smtClean="0">
                <a:solidFill>
                  <a:srgbClr val="C00000"/>
                </a:solidFill>
              </a:rPr>
              <a:t>Symélie</a:t>
            </a:r>
            <a:r>
              <a:rPr lang="fr-FR" sz="2800" b="1" dirty="0"/>
              <a:t> : </a:t>
            </a:r>
            <a:r>
              <a:rPr lang="fr-FR" sz="2800" b="1" dirty="0" smtClean="0"/>
              <a:t>disparition </a:t>
            </a:r>
            <a:r>
              <a:rPr lang="fr-FR" sz="2800" b="1" dirty="0"/>
              <a:t>des structures pelviennes et </a:t>
            </a:r>
            <a:endParaRPr lang="fr-FR" sz="2800" b="1" dirty="0" smtClean="0"/>
          </a:p>
          <a:p>
            <a:pPr lvl="0"/>
            <a:r>
              <a:rPr lang="fr-FR" sz="2800" b="1" dirty="0" smtClean="0"/>
              <a:t>périnéales </a:t>
            </a:r>
            <a:r>
              <a:rPr lang="fr-FR" sz="2800" b="1" dirty="0"/>
              <a:t>(anus, rectum, organes génitaux et </a:t>
            </a:r>
            <a:r>
              <a:rPr lang="fr-FR" sz="2800" b="1" dirty="0" smtClean="0"/>
              <a:t>urinaires)</a:t>
            </a:r>
          </a:p>
          <a:p>
            <a:pPr lvl="0"/>
            <a:r>
              <a:rPr lang="fr-FR" sz="2800" b="1" dirty="0" smtClean="0"/>
              <a:t> </a:t>
            </a:r>
            <a:r>
              <a:rPr lang="fr-FR" sz="2800" b="1" dirty="0"/>
              <a:t>avec rapprochement et fusion des membres </a:t>
            </a:r>
            <a:r>
              <a:rPr lang="fr-FR" sz="2800" b="1" dirty="0" smtClean="0"/>
              <a:t>inférieurs</a:t>
            </a:r>
          </a:p>
          <a:p>
            <a:pPr lvl="0"/>
            <a:r>
              <a:rPr lang="fr-FR" sz="2800" b="1" dirty="0" smtClean="0"/>
              <a:t> </a:t>
            </a:r>
            <a:r>
              <a:rPr lang="fr-FR" sz="2800" b="1" dirty="0"/>
              <a:t>pour former un membre inférieur </a:t>
            </a:r>
            <a:r>
              <a:rPr lang="fr-FR" sz="2800" b="1" dirty="0" smtClean="0"/>
              <a:t>unique </a:t>
            </a:r>
            <a:r>
              <a:rPr lang="fr-FR" sz="2800" b="1" dirty="0" smtClean="0">
                <a:hlinkClick r:id="rId3"/>
              </a:rPr>
              <a:t>sirène</a:t>
            </a:r>
            <a:r>
              <a:rPr lang="fr-FR" sz="2800" b="1" dirty="0" smtClean="0"/>
              <a:t>.</a:t>
            </a:r>
          </a:p>
          <a:p>
            <a:pPr lvl="0"/>
            <a:r>
              <a:rPr lang="fr-FR" sz="2800" b="1" dirty="0" smtClean="0">
                <a:solidFill>
                  <a:srgbClr val="C00000"/>
                </a:solidFill>
              </a:rPr>
              <a:t> </a:t>
            </a:r>
            <a:r>
              <a:rPr lang="fr-FR" sz="2800" b="1" dirty="0">
                <a:solidFill>
                  <a:srgbClr val="C00000"/>
                </a:solidFill>
              </a:rPr>
              <a:t>Otocéphalie</a:t>
            </a:r>
            <a:r>
              <a:rPr lang="fr-FR" sz="2800" b="1" dirty="0"/>
              <a:t> : </a:t>
            </a:r>
            <a:r>
              <a:rPr lang="fr-FR" sz="2800" dirty="0"/>
              <a:t>non-migration des oreilles. </a:t>
            </a:r>
          </a:p>
          <a:p>
            <a:pPr lvl="0"/>
            <a:r>
              <a:rPr lang="fr-FR" sz="2800" dirty="0"/>
              <a:t>Celles-ci restent au niveau des joues,  ou selon les cas, </a:t>
            </a:r>
          </a:p>
          <a:p>
            <a:pPr lvl="0"/>
            <a:r>
              <a:rPr lang="fr-FR" sz="2800" dirty="0"/>
              <a:t>au centre du bas du visage: </a:t>
            </a:r>
            <a:r>
              <a:rPr lang="fr-FR" sz="2800" b="1" dirty="0"/>
              <a:t>L'édocéphalie:  réunion</a:t>
            </a:r>
          </a:p>
          <a:p>
            <a:pPr lvl="0"/>
            <a:r>
              <a:rPr lang="fr-FR" sz="2800" b="1" dirty="0"/>
              <a:t> des deux oreilles sous la tête, et l'absence de la</a:t>
            </a:r>
          </a:p>
          <a:p>
            <a:pPr lvl="0"/>
            <a:r>
              <a:rPr lang="fr-FR" sz="2800" b="1" dirty="0"/>
              <a:t> bouche (</a:t>
            </a:r>
            <a:r>
              <a:rPr lang="fr-FR" sz="2800" b="1" dirty="0">
                <a:hlinkClick r:id="rId4"/>
              </a:rPr>
              <a:t>astomie</a:t>
            </a:r>
            <a:r>
              <a:rPr lang="fr-FR" sz="2800" b="1" dirty="0"/>
              <a:t>).</a:t>
            </a:r>
          </a:p>
          <a:p>
            <a:pPr lvl="0"/>
            <a:r>
              <a:rPr lang="fr-FR" sz="2800" b="1" dirty="0" smtClean="0">
                <a:solidFill>
                  <a:srgbClr val="C00000"/>
                </a:solidFill>
              </a:rPr>
              <a:t>Cyclopie</a:t>
            </a:r>
            <a:r>
              <a:rPr lang="fr-FR" sz="2800" b="1" dirty="0">
                <a:solidFill>
                  <a:schemeClr val="accent2"/>
                </a:solidFill>
              </a:rPr>
              <a:t> </a:t>
            </a:r>
            <a:r>
              <a:rPr lang="fr-FR" sz="2800" b="1" dirty="0"/>
              <a:t>: fusion des deux orbites et existence </a:t>
            </a:r>
          </a:p>
          <a:p>
            <a:pPr lvl="0"/>
            <a:r>
              <a:rPr lang="fr-FR" sz="2800" b="1" dirty="0"/>
              <a:t>d'un seul globe oculaire médian</a:t>
            </a:r>
          </a:p>
          <a:p>
            <a:pPr lvl="0"/>
            <a:r>
              <a:rPr lang="fr-FR" sz="3200" b="1" dirty="0"/>
              <a:t> </a:t>
            </a:r>
          </a:p>
          <a:p>
            <a:endParaRPr lang="fr-FR" sz="3200" b="1" dirty="0"/>
          </a:p>
          <a:p>
            <a:endParaRPr lang="fr-FR" sz="3200" b="1" dirty="0"/>
          </a:p>
          <a:p>
            <a:pPr lvl="0"/>
            <a:endParaRPr lang="fr-FR" sz="2800" b="1" dirty="0"/>
          </a:p>
          <a:p>
            <a:endParaRPr lang="fr-FR" sz="3200" b="1" dirty="0"/>
          </a:p>
        </p:txBody>
      </p:sp>
    </p:spTree>
    <p:extLst>
      <p:ext uri="{BB962C8B-B14F-4D97-AF65-F5344CB8AC3E}">
        <p14:creationId xmlns:p14="http://schemas.microsoft.com/office/powerpoint/2010/main" val="1460580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3353" y="651656"/>
            <a:ext cx="2095792" cy="2397072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944" y="4077072"/>
            <a:ext cx="3048000" cy="1714500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899592" y="3247383"/>
            <a:ext cx="9127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Coelosomie                                         Symélie                                Otocéphalie                                        </a:t>
            </a:r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3635896" y="6093296"/>
            <a:ext cx="971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Cyclopie</a:t>
            </a:r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636" y="581753"/>
            <a:ext cx="1857375" cy="2466975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5558" y="581752"/>
            <a:ext cx="2232248" cy="261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279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-243408"/>
            <a:ext cx="357495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endParaRPr lang="fr-FR" sz="3200" b="1" dirty="0" smtClean="0"/>
          </a:p>
          <a:p>
            <a:pPr marL="0" lvl="2"/>
            <a:r>
              <a:rPr lang="fr-FR" sz="2800" b="1" dirty="0" smtClean="0">
                <a:solidFill>
                  <a:srgbClr val="FF0000"/>
                </a:solidFill>
              </a:rPr>
              <a:t>Les monstres doubles: </a:t>
            </a:r>
            <a:endParaRPr lang="fr-FR" sz="2800" b="1" dirty="0"/>
          </a:p>
          <a:p>
            <a:pPr lvl="0"/>
            <a:r>
              <a:rPr lang="fr-FR" sz="2800" b="1" dirty="0" smtClean="0">
                <a:solidFill>
                  <a:srgbClr val="00B050"/>
                </a:solidFill>
              </a:rPr>
              <a:t> </a:t>
            </a:r>
            <a:endParaRPr lang="fr-FR" sz="2800" b="1" dirty="0"/>
          </a:p>
          <a:p>
            <a:endParaRPr lang="fr-FR" sz="3200" b="1" dirty="0"/>
          </a:p>
        </p:txBody>
      </p:sp>
    </p:spTree>
    <p:extLst>
      <p:ext uri="{BB962C8B-B14F-4D97-AF65-F5344CB8AC3E}">
        <p14:creationId xmlns:p14="http://schemas.microsoft.com/office/powerpoint/2010/main" val="208144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568004" cy="5693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CONSEQUENCES DES GROSSESSES GÉMELLAIRES SUR </a:t>
            </a:r>
          </a:p>
          <a:p>
            <a:r>
              <a:rPr lang="fr-FR" sz="2800" b="1" dirty="0" smtClean="0"/>
              <a:t>                         LE DEVELOPPEMENT FŒTAL</a:t>
            </a:r>
          </a:p>
          <a:p>
            <a:endParaRPr lang="fr-FR" sz="2800" b="1" dirty="0" smtClean="0"/>
          </a:p>
          <a:p>
            <a:pPr marL="514350" indent="-514350">
              <a:buAutoNum type="alphaUcPeriod"/>
            </a:pPr>
            <a:r>
              <a:rPr lang="fr-FR" sz="2800" b="1" dirty="0" smtClean="0">
                <a:solidFill>
                  <a:srgbClr val="FF0000"/>
                </a:solidFill>
              </a:rPr>
              <a:t>Complications non spécifiques (communes à tous les types</a:t>
            </a:r>
          </a:p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                                                                    de jumeaux)</a:t>
            </a:r>
          </a:p>
          <a:p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rgbClr val="00B050"/>
                </a:solidFill>
              </a:rPr>
              <a:t>La prématurité</a:t>
            </a:r>
            <a:endParaRPr lang="fr-FR" sz="2800" dirty="0" smtClean="0">
              <a:solidFill>
                <a:srgbClr val="00B05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Représente la première grande complication des GG.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Environ 50 % des patientes accouchent avant 37 semaines </a:t>
            </a:r>
          </a:p>
          <a:p>
            <a:r>
              <a:rPr lang="fr-FR" sz="2800" dirty="0" smtClean="0"/>
              <a:t>d’aménorrhée.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les naissances entre 26 et 30 semaines 10 fois plus fréquentes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Les conséquences: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 le risque de mortalité néonatale. 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 le risque de handicap.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421682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lphaUcPeriod"/>
            </a:pPr>
            <a:r>
              <a:rPr lang="fr-FR" sz="2800" b="1" dirty="0" smtClean="0">
                <a:solidFill>
                  <a:srgbClr val="FF0000"/>
                </a:solidFill>
              </a:rPr>
              <a:t>Complications non spécifiques (communes à tous les types</a:t>
            </a:r>
          </a:p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                                                                    de jumeaux)</a:t>
            </a:r>
          </a:p>
          <a:p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rgbClr val="00B050"/>
                </a:solidFill>
              </a:rPr>
              <a:t>La prématurité</a:t>
            </a:r>
            <a:endParaRPr lang="fr-FR" sz="2800" dirty="0" smtClean="0">
              <a:solidFill>
                <a:srgbClr val="00B05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Il existe une relation entre la prématurité et  la </a:t>
            </a:r>
            <a:r>
              <a:rPr lang="fr-FR" sz="2800" dirty="0" err="1" smtClean="0"/>
              <a:t>zygosité</a:t>
            </a:r>
            <a:r>
              <a:rPr lang="fr-FR" sz="2800" dirty="0" smtClean="0"/>
              <a:t>. 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Les grossesses dizygotes </a:t>
            </a:r>
            <a:r>
              <a:rPr lang="fr-FR" sz="2800" dirty="0" err="1" smtClean="0"/>
              <a:t>dichoriales</a:t>
            </a:r>
            <a:r>
              <a:rPr lang="fr-FR" sz="2800" dirty="0" smtClean="0"/>
              <a:t> ont le taux de</a:t>
            </a:r>
          </a:p>
          <a:p>
            <a:r>
              <a:rPr lang="fr-FR" sz="2800" dirty="0" smtClean="0"/>
              <a:t> prématurité le plus bas (34,2 %). 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Les grossesses monozygotes </a:t>
            </a:r>
            <a:r>
              <a:rPr lang="fr-FR" sz="2800" dirty="0" err="1" smtClean="0"/>
              <a:t>monochoriales</a:t>
            </a:r>
            <a:r>
              <a:rPr lang="fr-FR" sz="2800" dirty="0" smtClean="0"/>
              <a:t> ont le  taux de</a:t>
            </a:r>
          </a:p>
          <a:p>
            <a:r>
              <a:rPr lang="fr-FR" sz="2800" dirty="0" smtClean="0"/>
              <a:t> prématurité  le plus élevé (51 %). </a:t>
            </a:r>
          </a:p>
          <a:p>
            <a:pPr marL="514350" indent="-514350"/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381735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50"/>
                </a:solidFill>
              </a:rPr>
              <a:t>Le retard de la croissance intra-utérine</a:t>
            </a:r>
            <a:endParaRPr lang="fr-FR" sz="2800" dirty="0" smtClean="0">
              <a:solidFill>
                <a:srgbClr val="00B05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Le retard de croissance intra-utérin (RCIU) aboutit à un poids</a:t>
            </a:r>
          </a:p>
          <a:p>
            <a:r>
              <a:rPr lang="fr-FR" sz="2800" dirty="0" smtClean="0"/>
              <a:t> de naissance trop faible.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Environ 1 jumeau sur 2 est </a:t>
            </a:r>
            <a:r>
              <a:rPr lang="fr-FR" sz="2800" dirty="0" err="1" smtClean="0"/>
              <a:t>hypotrophe</a:t>
            </a:r>
            <a:r>
              <a:rPr lang="fr-FR" sz="2800" dirty="0" smtClean="0"/>
              <a:t> car son poids de</a:t>
            </a:r>
          </a:p>
          <a:p>
            <a:r>
              <a:rPr lang="fr-FR" sz="2800" dirty="0" smtClean="0"/>
              <a:t> naissance est situé au dessous du 10</a:t>
            </a:r>
            <a:r>
              <a:rPr lang="fr-FR" sz="2800" baseline="30000" dirty="0" smtClean="0"/>
              <a:t>ème</a:t>
            </a:r>
            <a:r>
              <a:rPr lang="fr-FR" sz="2800" dirty="0" smtClean="0"/>
              <a:t>  percentile</a:t>
            </a:r>
          </a:p>
          <a:p>
            <a:r>
              <a:rPr lang="fr-FR" sz="2800" dirty="0" smtClean="0"/>
              <a:t> (le fœtus fait partie des 10 % des fœtus les plus petits pour un</a:t>
            </a:r>
          </a:p>
          <a:p>
            <a:r>
              <a:rPr lang="fr-FR" sz="2800" dirty="0" smtClean="0"/>
              <a:t> même âge gestationnel).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On peut  observer une discordance de croissance entre les</a:t>
            </a:r>
          </a:p>
          <a:p>
            <a:r>
              <a:rPr lang="fr-FR" sz="2800" dirty="0" smtClean="0"/>
              <a:t> deux jumeaux. </a:t>
            </a:r>
          </a:p>
          <a:p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318513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50"/>
                </a:solidFill>
              </a:rPr>
              <a:t>Le retard de la croissance intra-utérin</a:t>
            </a:r>
            <a:endParaRPr lang="fr-FR" sz="2800" dirty="0" smtClean="0">
              <a:solidFill>
                <a:srgbClr val="00B05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On considère que cette hypotrophie relative est grave </a:t>
            </a:r>
          </a:p>
          <a:p>
            <a:r>
              <a:rPr lang="fr-FR" sz="2800" dirty="0" smtClean="0"/>
              <a:t>lorsque le plus petit des deux jumeaux a un poids de naissance</a:t>
            </a:r>
          </a:p>
          <a:p>
            <a:r>
              <a:rPr lang="fr-FR" sz="2800" dirty="0" smtClean="0"/>
              <a:t> inférieur de 15 % du poids de naissance du plus gros.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La mortalité périnatale est étroitement corrélée à la </a:t>
            </a:r>
          </a:p>
          <a:p>
            <a:r>
              <a:rPr lang="fr-FR" sz="2800" dirty="0" smtClean="0"/>
              <a:t>discordance de croissance des 2 jumeaux. 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Le retard de croissance intra-utérin est la deuxième cause</a:t>
            </a:r>
          </a:p>
          <a:p>
            <a:r>
              <a:rPr lang="fr-FR" sz="2800" dirty="0" smtClean="0"/>
              <a:t> de mortalité périnatale et de morbidité.</a:t>
            </a:r>
          </a:p>
          <a:p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258625" cy="78483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B. Les complications spécifiques aux jumeaux </a:t>
            </a:r>
            <a:r>
              <a:rPr lang="fr-FR" sz="2800" b="1" dirty="0" err="1" smtClean="0">
                <a:solidFill>
                  <a:srgbClr val="FF0000"/>
                </a:solidFill>
              </a:rPr>
              <a:t>monochoriaux</a:t>
            </a:r>
            <a:endParaRPr lang="fr-FR" sz="2800" b="1" dirty="0" smtClean="0">
              <a:solidFill>
                <a:srgbClr val="FF0000"/>
              </a:solidFill>
            </a:endParaRP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Le syndrome transfuseur-transfusé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Survient dans 15 % des GG </a:t>
            </a:r>
            <a:r>
              <a:rPr lang="fr-FR" sz="2800" dirty="0" err="1" smtClean="0">
                <a:solidFill>
                  <a:srgbClr val="00B0F0"/>
                </a:solidFill>
              </a:rPr>
              <a:t>monochoriales</a:t>
            </a:r>
            <a:r>
              <a:rPr lang="fr-FR" sz="2800" dirty="0" smtClean="0">
                <a:solidFill>
                  <a:srgbClr val="00B0F0"/>
                </a:solidFill>
              </a:rPr>
              <a:t> </a:t>
            </a:r>
            <a:r>
              <a:rPr lang="fr-FR" sz="2800" dirty="0" err="1" smtClean="0">
                <a:solidFill>
                  <a:srgbClr val="00B0F0"/>
                </a:solidFill>
              </a:rPr>
              <a:t>diamniotiques</a:t>
            </a:r>
            <a:r>
              <a:rPr lang="fr-FR" sz="28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Deux jumeaux monozygotes peuvent naître avec des poids</a:t>
            </a:r>
          </a:p>
          <a:p>
            <a:r>
              <a:rPr lang="fr-FR" sz="2800" dirty="0" smtClean="0"/>
              <a:t> très différents.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Cette différence est liée à </a:t>
            </a:r>
            <a:r>
              <a:rPr lang="fr-FR" sz="2800" b="1" dirty="0" smtClean="0"/>
              <a:t>un placenta qui n'est pas partagé</a:t>
            </a:r>
          </a:p>
          <a:p>
            <a:r>
              <a:rPr lang="fr-FR" sz="2800" b="1" dirty="0" smtClean="0"/>
              <a:t> équitablement entre les deux jumeaux.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/>
              <a:t> </a:t>
            </a:r>
            <a:r>
              <a:rPr lang="fr-FR" sz="2800" dirty="0" smtClean="0"/>
              <a:t>Ce syndrome résulte d</a:t>
            </a:r>
            <a:r>
              <a:rPr lang="fr-FR" sz="2800" b="1" dirty="0" smtClean="0"/>
              <a:t>'un déséquilibre du débit sanguin</a:t>
            </a:r>
          </a:p>
          <a:p>
            <a:r>
              <a:rPr lang="fr-FR" sz="2800" b="1" dirty="0" smtClean="0"/>
              <a:t> entre les circulations des jumeaux</a:t>
            </a:r>
            <a:r>
              <a:rPr lang="fr-FR" sz="28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Les échanges sanguins sont plus favorables à l'un au </a:t>
            </a:r>
          </a:p>
          <a:p>
            <a:r>
              <a:rPr lang="fr-FR" sz="2800" dirty="0" smtClean="0"/>
              <a:t>détriment de l'autre.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Il y a </a:t>
            </a:r>
            <a:r>
              <a:rPr lang="fr-FR" sz="2800" b="1" dirty="0" smtClean="0"/>
              <a:t>un fœtus  transfuseur</a:t>
            </a:r>
            <a:r>
              <a:rPr lang="fr-FR" sz="2800" dirty="0" smtClean="0"/>
              <a:t> (qui donne plus qu'il ne reçoit)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et </a:t>
            </a:r>
            <a:r>
              <a:rPr lang="fr-FR" sz="2800" b="1" dirty="0" smtClean="0"/>
              <a:t>un fœtus transfusé</a:t>
            </a:r>
            <a:r>
              <a:rPr lang="fr-FR" sz="2800" dirty="0" smtClean="0"/>
              <a:t> (qui reçoit plus qu'il ne redonne).</a:t>
            </a:r>
          </a:p>
          <a:p>
            <a:pPr marL="514350" indent="-514350"/>
            <a:r>
              <a:rPr lang="fr-FR" sz="2800" dirty="0">
                <a:solidFill>
                  <a:srgbClr val="00B050"/>
                </a:solidFill>
              </a:rPr>
              <a:t>Le risque est la mort in utero du fœtus transfuseur. </a:t>
            </a:r>
          </a:p>
          <a:p>
            <a:pPr marL="514350" indent="-514350"/>
            <a:r>
              <a:rPr lang="fr-FR" sz="2800" dirty="0">
                <a:solidFill>
                  <a:srgbClr val="00B050"/>
                </a:solidFill>
              </a:rPr>
              <a:t>Cette mort peut entraîner des complications chez le</a:t>
            </a:r>
          </a:p>
          <a:p>
            <a:pPr marL="514350" indent="-514350"/>
            <a:r>
              <a:rPr lang="fr-FR" sz="2800" dirty="0">
                <a:solidFill>
                  <a:srgbClr val="00B050"/>
                </a:solidFill>
              </a:rPr>
              <a:t> jumeau survivant en particulier au niveau cérébral. </a:t>
            </a:r>
          </a:p>
          <a:p>
            <a:pPr marL="514350" indent="-514350"/>
            <a:endParaRPr lang="fr-FR" sz="2800" dirty="0" smtClean="0">
              <a:solidFill>
                <a:srgbClr val="00B050"/>
              </a:solidFill>
            </a:endParaRPr>
          </a:p>
          <a:p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axresdefault"/>
          <p:cNvPicPr>
            <a:picLocks noChangeAspect="1" noChangeArrowheads="1"/>
          </p:cNvPicPr>
          <p:nvPr/>
        </p:nvPicPr>
        <p:blipFill>
          <a:blip r:embed="rId2" cstate="print"/>
          <a:srcRect l="19539" t="2742" r="20660" b="5273"/>
          <a:stretch>
            <a:fillRect/>
          </a:stretch>
        </p:blipFill>
        <p:spPr bwMode="auto">
          <a:xfrm>
            <a:off x="0" y="0"/>
            <a:ext cx="4283968" cy="328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Image 4" descr="images (22)"/>
          <p:cNvPicPr>
            <a:picLocks noChangeAspect="1" noChangeArrowheads="1"/>
          </p:cNvPicPr>
          <p:nvPr/>
        </p:nvPicPr>
        <p:blipFill>
          <a:blip r:embed="rId3" cstate="print"/>
          <a:srcRect l="14217" t="12199" r="10327" b="6465"/>
          <a:stretch>
            <a:fillRect/>
          </a:stretch>
        </p:blipFill>
        <p:spPr bwMode="auto">
          <a:xfrm>
            <a:off x="4716016" y="0"/>
            <a:ext cx="3600400" cy="3212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Image 5" descr="images (29)"/>
          <p:cNvPicPr>
            <a:picLocks noChangeAspect="1" noChangeArrowheads="1"/>
          </p:cNvPicPr>
          <p:nvPr/>
        </p:nvPicPr>
        <p:blipFill>
          <a:blip r:embed="rId4" cstate="print"/>
          <a:srcRect t="4938"/>
          <a:stretch>
            <a:fillRect/>
          </a:stretch>
        </p:blipFill>
        <p:spPr bwMode="auto">
          <a:xfrm>
            <a:off x="2339752" y="3501008"/>
            <a:ext cx="3600400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251520" y="5903893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 smtClean="0"/>
              <a:t>        Jumeaux </a:t>
            </a:r>
            <a:r>
              <a:rPr lang="fr-FR" sz="2800" b="1" dirty="0" err="1" smtClean="0"/>
              <a:t>monochoriaux</a:t>
            </a:r>
            <a:r>
              <a:rPr lang="fr-FR" sz="2800" b="1" dirty="0" smtClean="0"/>
              <a:t> di-amniotiques </a:t>
            </a:r>
          </a:p>
          <a:p>
            <a:r>
              <a:rPr lang="fr-FR" sz="2800" b="1" dirty="0" smtClean="0"/>
              <a:t>            avec syndrome transfuseur-transfusé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10057177" cy="78483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00B050"/>
                </a:solidFill>
              </a:rPr>
              <a:t>Le jumeau  acardiaque</a:t>
            </a:r>
            <a:r>
              <a:rPr lang="fr-FR" sz="2800" dirty="0" smtClean="0">
                <a:solidFill>
                  <a:srgbClr val="00B050"/>
                </a:solidFill>
              </a:rPr>
              <a:t> </a:t>
            </a:r>
          </a:p>
          <a:p>
            <a:r>
              <a:rPr lang="fr-FR" sz="2800" dirty="0" smtClean="0">
                <a:solidFill>
                  <a:srgbClr val="00B050"/>
                </a:solidFill>
              </a:rPr>
              <a:t>séquence TRAP (</a:t>
            </a:r>
            <a:r>
              <a:rPr lang="fr-FR" sz="2800" i="1" dirty="0" err="1" smtClean="0">
                <a:solidFill>
                  <a:srgbClr val="00B050"/>
                </a:solidFill>
              </a:rPr>
              <a:t>twin</a:t>
            </a:r>
            <a:r>
              <a:rPr lang="fr-FR" sz="2800" i="1" dirty="0" smtClean="0">
                <a:solidFill>
                  <a:srgbClr val="00B050"/>
                </a:solidFill>
              </a:rPr>
              <a:t>-</a:t>
            </a:r>
            <a:r>
              <a:rPr lang="fr-FR" sz="2800" i="1" dirty="0" err="1" smtClean="0">
                <a:solidFill>
                  <a:srgbClr val="00B050"/>
                </a:solidFill>
              </a:rPr>
              <a:t>reversed</a:t>
            </a:r>
            <a:r>
              <a:rPr lang="fr-FR" sz="2800" i="1" dirty="0" smtClean="0">
                <a:solidFill>
                  <a:srgbClr val="00B050"/>
                </a:solidFill>
              </a:rPr>
              <a:t>  </a:t>
            </a:r>
            <a:r>
              <a:rPr lang="fr-FR" sz="2800" i="1" dirty="0" err="1" smtClean="0">
                <a:solidFill>
                  <a:srgbClr val="00B050"/>
                </a:solidFill>
              </a:rPr>
              <a:t>arterial</a:t>
            </a:r>
            <a:r>
              <a:rPr lang="fr-FR" sz="2800" i="1" dirty="0" smtClean="0">
                <a:solidFill>
                  <a:srgbClr val="00B050"/>
                </a:solidFill>
              </a:rPr>
              <a:t> perfusion</a:t>
            </a:r>
            <a:r>
              <a:rPr lang="fr-FR" sz="2800" dirty="0" smtClean="0">
                <a:solidFill>
                  <a:srgbClr val="00B050"/>
                </a:solidFill>
              </a:rPr>
              <a:t>)</a:t>
            </a:r>
          </a:p>
          <a:p>
            <a:r>
              <a:rPr lang="fr-FR" sz="2800" dirty="0" smtClean="0"/>
              <a:t>                                       </a:t>
            </a:r>
            <a:r>
              <a:rPr lang="fr-FR" sz="2800" dirty="0" err="1" smtClean="0">
                <a:solidFill>
                  <a:srgbClr val="0070C0"/>
                </a:solidFill>
              </a:rPr>
              <a:t>Acardius</a:t>
            </a:r>
            <a:r>
              <a:rPr lang="fr-FR" sz="2800" dirty="0" smtClean="0">
                <a:solidFill>
                  <a:srgbClr val="0070C0"/>
                </a:solidFill>
              </a:rPr>
              <a:t> </a:t>
            </a:r>
            <a:r>
              <a:rPr lang="fr-FR" sz="2800" dirty="0" err="1" smtClean="0">
                <a:solidFill>
                  <a:srgbClr val="0070C0"/>
                </a:solidFill>
              </a:rPr>
              <a:t>acranius</a:t>
            </a:r>
            <a:endParaRPr lang="fr-FR" sz="2800" dirty="0" smtClean="0">
              <a:solidFill>
                <a:srgbClr val="0070C0"/>
              </a:solidFill>
            </a:endParaRPr>
          </a:p>
          <a:p>
            <a:r>
              <a:rPr lang="fr-FR" sz="2800" dirty="0" smtClean="0"/>
              <a:t>                                       </a:t>
            </a:r>
            <a:r>
              <a:rPr lang="fr-FR" sz="2800" dirty="0" smtClean="0">
                <a:solidFill>
                  <a:schemeClr val="accent6">
                    <a:lumMod val="75000"/>
                  </a:schemeClr>
                </a:solidFill>
              </a:rPr>
              <a:t>Masse </a:t>
            </a:r>
            <a:r>
              <a:rPr lang="fr-FR" sz="2800" dirty="0" err="1" smtClean="0">
                <a:solidFill>
                  <a:schemeClr val="accent6">
                    <a:lumMod val="75000"/>
                  </a:schemeClr>
                </a:solidFill>
              </a:rPr>
              <a:t>acardiaque</a:t>
            </a:r>
            <a:r>
              <a:rPr lang="fr-FR" sz="2800" b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Malformation  observée le plus souvent chez les jumeaux</a:t>
            </a:r>
          </a:p>
          <a:p>
            <a:r>
              <a:rPr lang="fr-FR" sz="2800" dirty="0" smtClean="0"/>
              <a:t> </a:t>
            </a:r>
            <a:r>
              <a:rPr lang="fr-FR" sz="2800" dirty="0" err="1" smtClean="0"/>
              <a:t>monochoriaux</a:t>
            </a:r>
            <a:r>
              <a:rPr lang="fr-FR" sz="2800" dirty="0" smtClean="0"/>
              <a:t>   </a:t>
            </a:r>
            <a:r>
              <a:rPr lang="fr-FR" sz="2800" dirty="0" err="1" smtClean="0"/>
              <a:t>monoamniotiques</a:t>
            </a:r>
            <a:r>
              <a:rPr lang="fr-FR" sz="2800" b="1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/>
              <a:t> </a:t>
            </a:r>
            <a:r>
              <a:rPr lang="fr-FR" sz="2800" dirty="0" smtClean="0"/>
              <a:t>Le jumeau </a:t>
            </a:r>
            <a:r>
              <a:rPr lang="fr-FR" sz="2800" dirty="0" err="1" smtClean="0"/>
              <a:t>acardiaque</a:t>
            </a:r>
            <a:r>
              <a:rPr lang="fr-FR" sz="2800" dirty="0" smtClean="0"/>
              <a:t> = pathologie sévère des GG </a:t>
            </a:r>
            <a:r>
              <a:rPr lang="fr-FR" sz="2800" dirty="0" err="1" smtClean="0"/>
              <a:t>monochoriales</a:t>
            </a:r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Forme majeure et rare du syndrome transfuseur transfusé.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Absence de développement des structures cardiaques</a:t>
            </a:r>
          </a:p>
          <a:p>
            <a:r>
              <a:rPr lang="fr-FR" sz="2800" dirty="0" smtClean="0"/>
              <a:t>+ malformations développementales et réductionnelles </a:t>
            </a:r>
          </a:p>
          <a:p>
            <a:r>
              <a:rPr lang="fr-FR" sz="2800" dirty="0" smtClean="0"/>
              <a:t>chez le fœtus appelé masse </a:t>
            </a:r>
            <a:r>
              <a:rPr lang="fr-FR" sz="2800" dirty="0" err="1" smtClean="0"/>
              <a:t>acardiaque</a:t>
            </a:r>
            <a:r>
              <a:rPr lang="fr-FR" sz="2800" dirty="0" smtClean="0"/>
              <a:t>.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Le jumeau  acardiaque </a:t>
            </a:r>
          </a:p>
          <a:p>
            <a:r>
              <a:rPr lang="fr-FR" sz="2800" dirty="0"/>
              <a:t>Il peut également manquer d'autres organes tels que la tête</a:t>
            </a:r>
          </a:p>
          <a:p>
            <a:r>
              <a:rPr lang="fr-FR" sz="2800" dirty="0"/>
              <a:t> ou les membre)</a:t>
            </a:r>
          </a:p>
          <a:p>
            <a:r>
              <a:rPr lang="fr-FR" sz="2800" dirty="0"/>
              <a:t> Ce dernier n'est jamais viable</a:t>
            </a:r>
          </a:p>
          <a:p>
            <a:r>
              <a:rPr lang="fr-FR" sz="2800" dirty="0"/>
              <a:t>Les complications  touchant le jumeau transfuseur sont graves</a:t>
            </a:r>
          </a:p>
          <a:p>
            <a:endParaRPr lang="fr-FR" sz="2800" dirty="0" smtClean="0"/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MC4491451_PAMJ-20-347-g0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4427984" cy="450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 descr="acardiaqu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0"/>
            <a:ext cx="4644008" cy="4293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1835696" y="4869160"/>
            <a:ext cx="705678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65325" indent="-1965325"/>
            <a:r>
              <a:rPr lang="fr-FR" sz="2800" b="1" dirty="0" smtClean="0"/>
              <a:t>Jumeaux </a:t>
            </a:r>
            <a:r>
              <a:rPr lang="fr-FR" sz="2800" b="1" dirty="0" err="1" smtClean="0"/>
              <a:t>monochoriaux</a:t>
            </a:r>
            <a:r>
              <a:rPr lang="fr-FR" sz="2800" b="1" dirty="0" smtClean="0"/>
              <a:t> mono-amniotiques  </a:t>
            </a:r>
          </a:p>
          <a:p>
            <a:pPr marL="1965325" indent="-1965325"/>
            <a:r>
              <a:rPr lang="fr-FR" sz="2800" b="1" dirty="0" smtClean="0"/>
              <a:t>                    fœtus </a:t>
            </a:r>
            <a:r>
              <a:rPr lang="fr-FR" sz="2800" b="1" dirty="0" err="1" smtClean="0"/>
              <a:t>acardiaque</a:t>
            </a:r>
            <a:r>
              <a:rPr lang="fr-FR" sz="2800" b="1" dirty="0" smtClean="0"/>
              <a:t> 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17217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2"/>
            <a:r>
              <a:rPr lang="fr-FR" sz="2800" b="1" dirty="0" smtClean="0">
                <a:solidFill>
                  <a:srgbClr val="00B050"/>
                </a:solidFill>
              </a:rPr>
              <a:t>Les jumeaux conjoints =      Les monstres doubles:</a:t>
            </a:r>
          </a:p>
          <a:p>
            <a:pPr marL="0" lvl="2"/>
            <a:r>
              <a:rPr lang="fr-FR" sz="2800" b="1" dirty="0" smtClean="0">
                <a:solidFill>
                  <a:srgbClr val="00B050"/>
                </a:solidFill>
              </a:rPr>
              <a:t>             </a:t>
            </a:r>
          </a:p>
          <a:p>
            <a:pPr marL="0" lvl="2"/>
            <a:r>
              <a:rPr lang="fr-FR" sz="2800" b="1" dirty="0" smtClean="0"/>
              <a:t>2 aspects :</a:t>
            </a:r>
          </a:p>
          <a:p>
            <a:r>
              <a:rPr lang="fr-FR" sz="2800" b="1" dirty="0" smtClean="0"/>
              <a:t> Les monstres doubles </a:t>
            </a:r>
            <a:r>
              <a:rPr lang="fr-FR" sz="2800" b="1" dirty="0" err="1" smtClean="0"/>
              <a:t>autosites</a:t>
            </a:r>
            <a:r>
              <a:rPr lang="fr-FR" sz="2800" b="1" dirty="0" smtClean="0"/>
              <a:t> 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 </a:t>
            </a:r>
            <a:r>
              <a:rPr lang="fr-FR" sz="2800" b="1" dirty="0" smtClean="0"/>
              <a:t>Les monstres doubles parasites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Les monstres doubles autosites = </a:t>
            </a:r>
            <a:r>
              <a:rPr lang="fr-FR" sz="2800" b="1" dirty="0" smtClean="0">
                <a:solidFill>
                  <a:srgbClr val="FF0000"/>
                </a:solidFill>
              </a:rPr>
              <a:t>Les siamois :</a:t>
            </a:r>
          </a:p>
          <a:p>
            <a:r>
              <a:rPr lang="fr-FR" sz="2800" dirty="0" smtClean="0"/>
              <a:t> Dédoublement  incomplet de la ligne primitive et de</a:t>
            </a:r>
          </a:p>
          <a:p>
            <a:r>
              <a:rPr lang="fr-FR" sz="2800" dirty="0" smtClean="0"/>
              <a:t> son pronlongement céphalique,   Il existe trois formes:</a:t>
            </a:r>
          </a:p>
          <a:p>
            <a:endParaRPr lang="fr-FR" sz="3200" b="1" dirty="0" smtClean="0"/>
          </a:p>
          <a:p>
            <a:r>
              <a:rPr lang="fr-FR" sz="3200" b="1" dirty="0" smtClean="0">
                <a:solidFill>
                  <a:srgbClr val="FF0000"/>
                </a:solidFill>
              </a:rPr>
              <a:t> </a:t>
            </a:r>
            <a:r>
              <a:rPr lang="fr-FR" sz="3200" b="1" dirty="0" smtClean="0"/>
              <a:t> </a:t>
            </a:r>
            <a:r>
              <a:rPr lang="fr-FR" sz="3200" b="1" dirty="0" smtClean="0">
                <a:solidFill>
                  <a:srgbClr val="00B050"/>
                </a:solidFill>
              </a:rPr>
              <a:t> </a:t>
            </a:r>
            <a:endParaRPr lang="fr-FR" sz="3200" b="1" dirty="0"/>
          </a:p>
          <a:p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Font typeface="Wingdings" pitchFamily="2" charset="2"/>
              <a:buChar char="§"/>
            </a:pPr>
            <a:r>
              <a:rPr lang="fr-FR" sz="2800" b="1" dirty="0" smtClean="0">
                <a:solidFill>
                  <a:srgbClr val="00B050"/>
                </a:solidFill>
              </a:rPr>
              <a:t> Monstres </a:t>
            </a:r>
            <a:r>
              <a:rPr lang="fr-FR" sz="2800" b="1" dirty="0" err="1" smtClean="0">
                <a:solidFill>
                  <a:srgbClr val="00B050"/>
                </a:solidFill>
              </a:rPr>
              <a:t>tératopages</a:t>
            </a:r>
            <a:r>
              <a:rPr lang="fr-FR" sz="2800" b="1" dirty="0" smtClean="0">
                <a:solidFill>
                  <a:srgbClr val="00B050"/>
                </a:solidFill>
              </a:rPr>
              <a:t>:</a:t>
            </a:r>
          </a:p>
          <a:p>
            <a:pPr lvl="0"/>
            <a:r>
              <a:rPr lang="fr-FR" sz="2800" dirty="0" smtClean="0">
                <a:solidFill>
                  <a:srgbClr val="00B050"/>
                </a:solidFill>
              </a:rPr>
              <a:t> U</a:t>
            </a:r>
            <a:r>
              <a:rPr lang="fr-FR" sz="2800" dirty="0" smtClean="0"/>
              <a:t>nis dans le cas le plus simple  dans la portion moyenne du tronc, au niveau du  sternum ou dans la région fessière ; </a:t>
            </a:r>
            <a:r>
              <a:rPr lang="fr-FR" sz="2800" b="1" dirty="0" smtClean="0"/>
              <a:t>X</a:t>
            </a:r>
            <a:r>
              <a:rPr lang="fr-FR" sz="2800" dirty="0" smtClean="0"/>
              <a:t> ou </a:t>
            </a:r>
            <a:r>
              <a:rPr lang="fr-FR" sz="2800" b="1" dirty="0" smtClean="0"/>
              <a:t>H</a:t>
            </a:r>
            <a:endParaRPr lang="fr-FR" sz="2800" b="1" dirty="0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700808"/>
            <a:ext cx="3851920" cy="5157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23928" y="2636912"/>
            <a:ext cx="4536504" cy="422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ipa_00400617_000002-145426229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43408"/>
            <a:ext cx="7740352" cy="4941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683568" y="4941168"/>
            <a:ext cx="69847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 smtClean="0"/>
              <a:t>Jumeaux </a:t>
            </a:r>
            <a:r>
              <a:rPr lang="fr-FR" sz="2800" b="1" dirty="0" err="1" smtClean="0"/>
              <a:t>autosites</a:t>
            </a:r>
            <a:r>
              <a:rPr lang="fr-FR" sz="2800" b="1" dirty="0" smtClean="0"/>
              <a:t> </a:t>
            </a:r>
            <a:r>
              <a:rPr lang="fr-FR" sz="2800" b="1" dirty="0" err="1" smtClean="0"/>
              <a:t>tératopages</a:t>
            </a:r>
            <a:r>
              <a:rPr lang="fr-FR" sz="2800" b="1" dirty="0" smtClean="0"/>
              <a:t>  (</a:t>
            </a:r>
            <a:r>
              <a:rPr lang="fr-FR" sz="2800" b="1" dirty="0" err="1" smtClean="0"/>
              <a:t>stemopages</a:t>
            </a:r>
            <a:r>
              <a:rPr lang="fr-FR" sz="2800" b="1" dirty="0" smtClean="0"/>
              <a:t>) 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sz="2800" b="1" dirty="0" smtClean="0">
                <a:solidFill>
                  <a:srgbClr val="00B050"/>
                </a:solidFill>
              </a:rPr>
              <a:t>Monstres </a:t>
            </a:r>
            <a:r>
              <a:rPr lang="fr-FR" sz="2800" b="1" dirty="0" err="1" smtClean="0">
                <a:solidFill>
                  <a:srgbClr val="00B050"/>
                </a:solidFill>
              </a:rPr>
              <a:t>tératodelphes</a:t>
            </a:r>
            <a:r>
              <a:rPr lang="fr-FR" sz="2800" dirty="0" smtClean="0">
                <a:solidFill>
                  <a:srgbClr val="00B050"/>
                </a:solidFill>
              </a:rPr>
              <a:t> :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Unis dans leur région  antérieure, éventuellement céphalique ; LAMBDA.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Pourvues d’une tête et de deux paires de membres inférieurs.</a:t>
            </a:r>
          </a:p>
          <a:p>
            <a:pPr lvl="0">
              <a:buFont typeface="Wingdings" pitchFamily="2" charset="2"/>
              <a:buChar char="§"/>
            </a:pPr>
            <a:r>
              <a:rPr lang="fr-FR" sz="3200" b="1" dirty="0" smtClean="0">
                <a:solidFill>
                  <a:srgbClr val="00B050"/>
                </a:solidFill>
              </a:rPr>
              <a:t> </a:t>
            </a:r>
            <a:endParaRPr lang="fr-FR" sz="3200" dirty="0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492896"/>
            <a:ext cx="4283968" cy="436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55976" y="2564904"/>
            <a:ext cx="4331171" cy="4293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Font typeface="Wingdings" pitchFamily="2" charset="2"/>
              <a:buChar char="§"/>
            </a:pPr>
            <a:r>
              <a:rPr lang="fr-FR" sz="2800" b="1" dirty="0" smtClean="0">
                <a:solidFill>
                  <a:srgbClr val="00B050"/>
                </a:solidFill>
              </a:rPr>
              <a:t>Monstres </a:t>
            </a:r>
            <a:r>
              <a:rPr lang="fr-FR" sz="2800" b="1" dirty="0" err="1" smtClean="0">
                <a:solidFill>
                  <a:srgbClr val="00B050"/>
                </a:solidFill>
              </a:rPr>
              <a:t>tératodymes</a:t>
            </a:r>
            <a:r>
              <a:rPr lang="fr-FR" sz="2800" dirty="0" smtClean="0">
                <a:solidFill>
                  <a:srgbClr val="00B050"/>
                </a:solidFill>
              </a:rPr>
              <a:t> :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>
                <a:solidFill>
                  <a:srgbClr val="00B050"/>
                </a:solidFill>
              </a:rPr>
              <a:t> P</a:t>
            </a:r>
            <a:r>
              <a:rPr lang="fr-FR" sz="2800" dirty="0" smtClean="0"/>
              <a:t>résentant une extrémité postérieure unique, </a:t>
            </a:r>
            <a:r>
              <a:rPr lang="fr-FR" sz="2800" b="1" dirty="0" smtClean="0"/>
              <a:t>y, </a:t>
            </a:r>
            <a:r>
              <a:rPr lang="fr-FR" sz="2800" dirty="0" smtClean="0"/>
              <a:t>deux têtes et éventuellement  deux thorax séparés, qui se terminent sur une même  partie inférieure.</a:t>
            </a:r>
            <a:endParaRPr lang="fr-FR" sz="28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060848"/>
            <a:ext cx="3816424" cy="4797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6016" y="1916831"/>
            <a:ext cx="4073996" cy="494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8820472" cy="4725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251520" y="5013176"/>
            <a:ext cx="88924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73363" indent="-2773363"/>
            <a:r>
              <a:rPr lang="fr-FR" sz="3200" b="1" dirty="0" smtClean="0"/>
              <a:t>Jumeaux </a:t>
            </a:r>
            <a:r>
              <a:rPr lang="fr-FR" sz="3200" b="1" dirty="0" err="1" smtClean="0"/>
              <a:t>autosites</a:t>
            </a:r>
            <a:r>
              <a:rPr lang="fr-FR" sz="3200" b="1" dirty="0" smtClean="0"/>
              <a:t> </a:t>
            </a:r>
            <a:r>
              <a:rPr lang="fr-FR" sz="3200" b="1" dirty="0" err="1" smtClean="0"/>
              <a:t>tératodymes</a:t>
            </a:r>
            <a:r>
              <a:rPr lang="fr-FR" sz="3200" b="1" smtClean="0"/>
              <a:t> (</a:t>
            </a:r>
            <a:r>
              <a:rPr lang="fr-FR" sz="3200" b="1" dirty="0" err="1" smtClean="0"/>
              <a:t>atlodymes</a:t>
            </a:r>
            <a:r>
              <a:rPr lang="fr-FR" sz="3200" b="1" dirty="0" smtClean="0"/>
              <a:t>) </a:t>
            </a:r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005333" cy="37240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 Les </a:t>
            </a:r>
            <a:r>
              <a:rPr lang="fr-FR" sz="2800" b="1" dirty="0"/>
              <a:t>monstres doubles parasites </a:t>
            </a:r>
            <a:r>
              <a:rPr lang="fr-FR" sz="2800" dirty="0"/>
              <a:t>: </a:t>
            </a:r>
            <a:endParaRPr lang="fr-FR" sz="2800" dirty="0" smtClean="0"/>
          </a:p>
          <a:p>
            <a:pPr lvl="0"/>
            <a:r>
              <a:rPr lang="fr-FR" sz="2800" dirty="0" smtClean="0"/>
              <a:t>se </a:t>
            </a:r>
            <a:r>
              <a:rPr lang="fr-FR" sz="2800" dirty="0"/>
              <a:t>présentent le </a:t>
            </a:r>
            <a:r>
              <a:rPr lang="fr-FR" sz="2800" dirty="0" smtClean="0"/>
              <a:t>plus  </a:t>
            </a:r>
            <a:r>
              <a:rPr lang="fr-FR" sz="2800" dirty="0"/>
              <a:t>souvent comme des </a:t>
            </a:r>
            <a:r>
              <a:rPr lang="fr-FR" sz="2800" dirty="0" smtClean="0"/>
              <a:t>tumeurs</a:t>
            </a:r>
          </a:p>
          <a:p>
            <a:pPr lvl="0"/>
            <a:r>
              <a:rPr lang="fr-FR" sz="2800" dirty="0" smtClean="0"/>
              <a:t> </a:t>
            </a:r>
            <a:r>
              <a:rPr lang="fr-FR" sz="2800" dirty="0"/>
              <a:t>« embryonnaires </a:t>
            </a:r>
            <a:r>
              <a:rPr lang="fr-FR" sz="2800" dirty="0" smtClean="0"/>
              <a:t>»  </a:t>
            </a:r>
            <a:r>
              <a:rPr lang="fr-FR" sz="2800" dirty="0"/>
              <a:t>d'aspect et de nature </a:t>
            </a:r>
            <a:r>
              <a:rPr lang="fr-FR" sz="2800" dirty="0" smtClean="0"/>
              <a:t>variable</a:t>
            </a:r>
          </a:p>
          <a:p>
            <a:pPr lvl="0"/>
            <a:r>
              <a:rPr lang="fr-FR" sz="2800" dirty="0" smtClean="0"/>
              <a:t> </a:t>
            </a:r>
            <a:r>
              <a:rPr lang="fr-FR" sz="2800" dirty="0"/>
              <a:t>incluses dans un </a:t>
            </a:r>
            <a:r>
              <a:rPr lang="fr-FR" sz="2800" dirty="0" smtClean="0"/>
              <a:t> organisme </a:t>
            </a:r>
            <a:r>
              <a:rPr lang="fr-FR" sz="2800" dirty="0"/>
              <a:t>qui peut être par </a:t>
            </a:r>
            <a:r>
              <a:rPr lang="fr-FR" sz="2800" dirty="0" smtClean="0"/>
              <a:t>ailleurs</a:t>
            </a:r>
          </a:p>
          <a:p>
            <a:pPr lvl="0"/>
            <a:r>
              <a:rPr lang="fr-FR" sz="2800" dirty="0" smtClean="0"/>
              <a:t> </a:t>
            </a:r>
            <a:r>
              <a:rPr lang="fr-FR" sz="2800" dirty="0"/>
              <a:t>d'aspect extérieur normal</a:t>
            </a:r>
            <a:r>
              <a:rPr lang="fr-FR" sz="2800" dirty="0" smtClean="0"/>
              <a:t>.</a:t>
            </a:r>
          </a:p>
          <a:p>
            <a:pPr lvl="0"/>
            <a:r>
              <a:rPr lang="fr-FR" sz="2800" dirty="0" smtClean="0"/>
              <a:t> ex: </a:t>
            </a:r>
            <a:r>
              <a:rPr lang="fr-FR" sz="2800" b="1" dirty="0" smtClean="0">
                <a:solidFill>
                  <a:srgbClr val="00B050"/>
                </a:solidFill>
              </a:rPr>
              <a:t>fœtus in </a:t>
            </a:r>
            <a:r>
              <a:rPr lang="fr-FR" sz="2800" b="1" dirty="0" err="1" smtClean="0">
                <a:solidFill>
                  <a:srgbClr val="00B050"/>
                </a:solidFill>
              </a:rPr>
              <a:t>fœtu</a:t>
            </a:r>
            <a:endParaRPr lang="fr-FR" sz="2800" b="1" dirty="0">
              <a:solidFill>
                <a:srgbClr val="00B050"/>
              </a:solidFill>
            </a:endParaRPr>
          </a:p>
          <a:p>
            <a:r>
              <a:rPr lang="fr-FR" sz="3200" dirty="0"/>
              <a:t> </a:t>
            </a:r>
            <a:endParaRPr lang="fr-FR" sz="3200" dirty="0" smtClean="0"/>
          </a:p>
          <a:p>
            <a:endParaRPr lang="fr-FR" sz="3200" b="1" dirty="0"/>
          </a:p>
        </p:txBody>
      </p:sp>
      <p:pic>
        <p:nvPicPr>
          <p:cNvPr id="4098" name="Picture 2" descr="fille-bras-soeur-jumelle-parasite-ventre"/>
          <p:cNvPicPr>
            <a:picLocks noChangeAspect="1" noChangeArrowheads="1"/>
          </p:cNvPicPr>
          <p:nvPr/>
        </p:nvPicPr>
        <p:blipFill>
          <a:blip r:embed="rId2" cstate="print"/>
          <a:srcRect l="10027" r="62657" b="11131"/>
          <a:stretch>
            <a:fillRect/>
          </a:stretch>
        </p:blipFill>
        <p:spPr bwMode="auto">
          <a:xfrm>
            <a:off x="323528" y="2996952"/>
            <a:ext cx="3096344" cy="3234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 descr="bebe-jumeau-parasite-operation-610x45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11960" y="2996952"/>
            <a:ext cx="3528392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488623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smtClean="0">
                <a:solidFill>
                  <a:srgbClr val="00B050"/>
                </a:solidFill>
              </a:rPr>
              <a:t>F</a:t>
            </a:r>
            <a:r>
              <a:rPr lang="fr-FR" sz="3200" b="1" dirty="0" smtClean="0">
                <a:solidFill>
                  <a:srgbClr val="00B050"/>
                </a:solidFill>
              </a:rPr>
              <a:t>acteurs tératogènes</a:t>
            </a:r>
          </a:p>
          <a:p>
            <a:r>
              <a:rPr lang="fr-FR" sz="3200" b="1" dirty="0" smtClean="0">
                <a:solidFill>
                  <a:srgbClr val="00B050"/>
                </a:solidFill>
              </a:rPr>
              <a:t>facteurs responsables de malformations primaires</a:t>
            </a:r>
          </a:p>
          <a:p>
            <a:pPr>
              <a:buFont typeface="Wingdings" pitchFamily="2" charset="2"/>
              <a:buChar char="§"/>
            </a:pPr>
            <a:r>
              <a:rPr lang="fr-FR" sz="3200" dirty="0" smtClean="0"/>
              <a:t> </a:t>
            </a:r>
            <a:r>
              <a:rPr lang="fr-FR" sz="3200" b="1" dirty="0" smtClean="0">
                <a:solidFill>
                  <a:srgbClr val="00B0F0"/>
                </a:solidFill>
              </a:rPr>
              <a:t>Anomalie de nombre des chromosomes</a:t>
            </a:r>
            <a:r>
              <a:rPr lang="fr-FR" sz="3200" dirty="0" smtClean="0"/>
              <a:t>:  </a:t>
            </a:r>
          </a:p>
          <a:p>
            <a:r>
              <a:rPr lang="fr-FR" sz="3200" dirty="0" smtClean="0"/>
              <a:t>trisomie 21 syndrome de Down caractérisé par des</a:t>
            </a:r>
          </a:p>
          <a:p>
            <a:r>
              <a:rPr lang="fr-FR" sz="3200" dirty="0" smtClean="0"/>
              <a:t> malformations  multiples chez le même individu.</a:t>
            </a:r>
          </a:p>
          <a:p>
            <a:r>
              <a:rPr lang="fr-FR" sz="3200" dirty="0" smtClean="0"/>
              <a:t> </a:t>
            </a:r>
          </a:p>
          <a:p>
            <a:pPr>
              <a:buFont typeface="Wingdings" pitchFamily="2" charset="2"/>
              <a:buChar char="§"/>
            </a:pPr>
            <a:r>
              <a:rPr lang="fr-FR" sz="3200" dirty="0" smtClean="0"/>
              <a:t> </a:t>
            </a:r>
            <a:r>
              <a:rPr lang="fr-FR" sz="3200" b="1" dirty="0" smtClean="0">
                <a:solidFill>
                  <a:srgbClr val="00B0F0"/>
                </a:solidFill>
              </a:rPr>
              <a:t>Anomalie de structure des chromosomes:</a:t>
            </a:r>
          </a:p>
          <a:p>
            <a:r>
              <a:rPr lang="fr-FR" sz="3200" dirty="0" smtClean="0"/>
              <a:t>certaines délétions sont responsables de malformations</a:t>
            </a:r>
          </a:p>
          <a:p>
            <a:r>
              <a:rPr lang="fr-FR" sz="3200" dirty="0" smtClean="0"/>
              <a:t> de même que des anomalies de recombinaison qui</a:t>
            </a:r>
          </a:p>
          <a:p>
            <a:r>
              <a:rPr lang="fr-FR" sz="3200" dirty="0" smtClean="0"/>
              <a:t> peuvent modifier le patrimoine  génétique.</a:t>
            </a:r>
          </a:p>
          <a:p>
            <a:r>
              <a:rPr lang="fr-FR" sz="3200" dirty="0" smtClean="0"/>
              <a:t> </a:t>
            </a:r>
          </a:p>
          <a:p>
            <a:endParaRPr lang="fr-FR" sz="32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09037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rgbClr val="00B050"/>
                </a:solidFill>
              </a:rPr>
              <a:t>facteurs responsables de malformations secondaires</a:t>
            </a:r>
            <a:endParaRPr lang="fr-FR" sz="3200" dirty="0">
              <a:solidFill>
                <a:srgbClr val="00B050"/>
              </a:solidFill>
            </a:endParaRPr>
          </a:p>
          <a:p>
            <a:endParaRPr lang="fr-FR" sz="3200" b="1" dirty="0"/>
          </a:p>
        </p:txBody>
      </p:sp>
      <p:sp>
        <p:nvSpPr>
          <p:cNvPr id="3" name="ZoneTexte 2"/>
          <p:cNvSpPr txBox="1"/>
          <p:nvPr/>
        </p:nvSpPr>
        <p:spPr>
          <a:xfrm>
            <a:off x="0" y="692696"/>
            <a:ext cx="9210022" cy="7478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facteurs exogènes, liés à l'environnement ou au </a:t>
            </a:r>
            <a:r>
              <a:rPr lang="fr-FR" sz="3200" dirty="0" smtClean="0"/>
              <a:t>milieu</a:t>
            </a:r>
          </a:p>
          <a:p>
            <a:r>
              <a:rPr lang="fr-FR" sz="3200" dirty="0" smtClean="0"/>
              <a:t> maternel</a:t>
            </a:r>
          </a:p>
          <a:p>
            <a:r>
              <a:rPr lang="fr-FR" sz="3200" b="1" dirty="0" smtClean="0"/>
              <a:t>Facteurs </a:t>
            </a:r>
            <a:r>
              <a:rPr lang="fr-FR" sz="3200" b="1" dirty="0"/>
              <a:t>généraux : </a:t>
            </a:r>
            <a:r>
              <a:rPr lang="fr-FR" sz="3200" dirty="0"/>
              <a:t>Hyperthermie ; </a:t>
            </a:r>
            <a:r>
              <a:rPr lang="fr-FR" sz="3200" dirty="0" smtClean="0"/>
              <a:t>Malnutrition…. </a:t>
            </a:r>
            <a:endParaRPr lang="fr-FR" sz="3200" dirty="0"/>
          </a:p>
          <a:p>
            <a:r>
              <a:rPr lang="fr-FR" sz="3200" b="1" dirty="0" smtClean="0"/>
              <a:t>Facteurs </a:t>
            </a:r>
            <a:r>
              <a:rPr lang="fr-FR" sz="3200" b="1" dirty="0"/>
              <a:t>infectieux et parasitaires : </a:t>
            </a:r>
            <a:r>
              <a:rPr lang="fr-FR" sz="3200" dirty="0" smtClean="0"/>
              <a:t>Virus </a:t>
            </a:r>
            <a:r>
              <a:rPr lang="fr-FR" sz="3200" dirty="0"/>
              <a:t>de l'herpès</a:t>
            </a:r>
            <a:r>
              <a:rPr lang="fr-FR" sz="3200" dirty="0" smtClean="0"/>
              <a:t>,</a:t>
            </a:r>
          </a:p>
          <a:p>
            <a:r>
              <a:rPr lang="fr-FR" sz="3200" dirty="0" smtClean="0"/>
              <a:t> </a:t>
            </a:r>
            <a:r>
              <a:rPr lang="fr-FR" sz="3200" dirty="0"/>
              <a:t>de la rubéole </a:t>
            </a:r>
            <a:r>
              <a:rPr lang="fr-FR" sz="3200" dirty="0" smtClean="0"/>
              <a:t>…..</a:t>
            </a:r>
          </a:p>
          <a:p>
            <a:r>
              <a:rPr lang="fr-FR" sz="3200" b="1" dirty="0" smtClean="0"/>
              <a:t>Toxiques: </a:t>
            </a:r>
            <a:r>
              <a:rPr lang="fr-FR" sz="3200" dirty="0" smtClean="0"/>
              <a:t>Dérivés </a:t>
            </a:r>
            <a:r>
              <a:rPr lang="fr-FR" sz="3200" dirty="0"/>
              <a:t>du brome, sels de </a:t>
            </a:r>
            <a:r>
              <a:rPr lang="fr-FR" sz="3200" dirty="0" smtClean="0"/>
              <a:t>plomb…</a:t>
            </a:r>
            <a:endParaRPr lang="fr-FR" sz="3200" dirty="0"/>
          </a:p>
          <a:p>
            <a:r>
              <a:rPr lang="fr-FR" sz="3200" b="1" dirty="0" smtClean="0"/>
              <a:t>Médicaments: </a:t>
            </a:r>
          </a:p>
          <a:p>
            <a:r>
              <a:rPr lang="fr-FR" sz="3200" dirty="0" smtClean="0"/>
              <a:t>Hormones (hormones thyroïdiennes),</a:t>
            </a:r>
          </a:p>
          <a:p>
            <a:r>
              <a:rPr lang="fr-FR" sz="3200" dirty="0" smtClean="0"/>
              <a:t>Antibiotiques (tétracyclines)</a:t>
            </a:r>
          </a:p>
          <a:p>
            <a:r>
              <a:rPr lang="fr-FR" sz="3200" dirty="0" smtClean="0"/>
              <a:t>Médicaments </a:t>
            </a:r>
            <a:r>
              <a:rPr lang="fr-FR" sz="3200" dirty="0"/>
              <a:t>neurotropes : </a:t>
            </a:r>
            <a:r>
              <a:rPr lang="fr-FR" sz="3200" dirty="0" smtClean="0"/>
              <a:t>thalidomide</a:t>
            </a:r>
          </a:p>
          <a:p>
            <a:r>
              <a:rPr lang="fr-FR" sz="3200" dirty="0" smtClean="0"/>
              <a:t>Anti </a:t>
            </a:r>
            <a:r>
              <a:rPr lang="fr-FR" sz="3200" dirty="0"/>
              <a:t>vitamines.</a:t>
            </a:r>
          </a:p>
          <a:p>
            <a:endParaRPr lang="fr-FR" sz="3200" dirty="0"/>
          </a:p>
          <a:p>
            <a:endParaRPr lang="fr-FR" sz="3200" dirty="0"/>
          </a:p>
          <a:p>
            <a:r>
              <a:rPr lang="fr-FR" sz="3200" dirty="0"/>
              <a:t> </a:t>
            </a:r>
          </a:p>
          <a:p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4047</TotalTime>
  <Words>1252</Words>
  <Application>Microsoft Office PowerPoint</Application>
  <PresentationFormat>Affichage à l'écran (4:3)</PresentationFormat>
  <Paragraphs>303</Paragraphs>
  <Slides>36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Courier New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GE</cp:lastModifiedBy>
  <cp:revision>57</cp:revision>
  <dcterms:created xsi:type="dcterms:W3CDTF">2015-01-27T16:20:44Z</dcterms:created>
  <dcterms:modified xsi:type="dcterms:W3CDTF">2024-04-15T20:03:46Z</dcterms:modified>
</cp:coreProperties>
</file>