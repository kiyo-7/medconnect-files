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87" r:id="rId3"/>
    <p:sldId id="288" r:id="rId4"/>
    <p:sldId id="289" r:id="rId5"/>
    <p:sldId id="295" r:id="rId6"/>
    <p:sldId id="290" r:id="rId7"/>
    <p:sldId id="266" r:id="rId8"/>
    <p:sldId id="261" r:id="rId9"/>
    <p:sldId id="270" r:id="rId10"/>
    <p:sldId id="267" r:id="rId11"/>
    <p:sldId id="272" r:id="rId12"/>
    <p:sldId id="296" r:id="rId13"/>
    <p:sldId id="274" r:id="rId14"/>
    <p:sldId id="275" r:id="rId15"/>
    <p:sldId id="256" r:id="rId16"/>
    <p:sldId id="276" r:id="rId17"/>
    <p:sldId id="277" r:id="rId18"/>
    <p:sldId id="278" r:id="rId19"/>
    <p:sldId id="279" r:id="rId20"/>
    <p:sldId id="281" r:id="rId21"/>
    <p:sldId id="263" r:id="rId22"/>
    <p:sldId id="282" r:id="rId23"/>
    <p:sldId id="292" r:id="rId24"/>
    <p:sldId id="293" r:id="rId25"/>
    <p:sldId id="283" r:id="rId26"/>
    <p:sldId id="257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74" d="100"/>
          <a:sy n="74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01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45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68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53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5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555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16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08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42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42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521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70A92-B3A2-4429-A556-48AA6987B421}" type="datetimeFigureOut">
              <a:rPr lang="fr-FR" smtClean="0"/>
              <a:t>01/11/2025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9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AutoShape 2" descr="Résultat de recherche d'images pour &quot;le virus du HIV&quot;"/>
          <p:cNvSpPr>
            <a:spLocks noChangeAspect="1" noChangeArrowheads="1"/>
          </p:cNvSpPr>
          <p:nvPr/>
        </p:nvSpPr>
        <p:spPr bwMode="auto">
          <a:xfrm>
            <a:off x="1679575" y="-1608138"/>
            <a:ext cx="4991100" cy="33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052" name="AutoShape 4" descr="Résultat de recherche d'images pour &quot;le virus du HIV&quot;"/>
          <p:cNvSpPr>
            <a:spLocks noChangeAspect="1" noChangeArrowheads="1"/>
          </p:cNvSpPr>
          <p:nvPr/>
        </p:nvSpPr>
        <p:spPr bwMode="auto">
          <a:xfrm>
            <a:off x="4175125" y="0"/>
            <a:ext cx="3375751" cy="6545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ar-DZ" dirty="0"/>
              <a:t>{بِسْمِ اللَّهِ الرَّحْمَنِ الرَّحِيمِ}</a:t>
            </a:r>
            <a:r>
              <a:rPr lang="ar-DZ" sz="1800" dirty="0"/>
              <a:t/>
            </a:r>
            <a:br>
              <a:rPr lang="ar-DZ" sz="1800" dirty="0"/>
            </a:br>
            <a:endParaRPr lang="fr-FR" altLang="fr-FR" sz="1800" dirty="0"/>
          </a:p>
        </p:txBody>
      </p:sp>
      <p:pic>
        <p:nvPicPr>
          <p:cNvPr id="2053" name="Picture 6" descr="http://infos-sante.net/wp-content/uploads/2014/11/HI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4549"/>
            <a:ext cx="12192000" cy="62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re 1"/>
          <p:cNvSpPr txBox="1">
            <a:spLocks/>
          </p:cNvSpPr>
          <p:nvPr/>
        </p:nvSpPr>
        <p:spPr>
          <a:xfrm>
            <a:off x="940526" y="2389965"/>
            <a:ext cx="9342120" cy="910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4400" b="1" dirty="0" smtClean="0">
                <a:latin typeface="Century Schoolbook" panose="02040604050505020304" pitchFamily="18" charset="0"/>
              </a:rPr>
              <a:t>INTRODUCTION TO VIRUSES</a:t>
            </a:r>
            <a:endParaRPr lang="fr-FR" altLang="fr-FR" sz="4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53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4" y="1"/>
            <a:ext cx="11943806" cy="6857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5106" y="53620"/>
            <a:ext cx="4402183" cy="76944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4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Course Outline</a:t>
            </a:r>
            <a:endParaRPr lang="fr-FR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6171" y="1123758"/>
            <a:ext cx="7685315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History of viruses and viral diseases </a:t>
            </a:r>
            <a:endParaRPr lang="fr-FR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6171" y="2118228"/>
            <a:ext cx="4955178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Propreties of viruses</a:t>
            </a:r>
            <a:endParaRPr lang="fr-FR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6171" y="3003700"/>
            <a:ext cx="9344298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Comparison between viruses and Bacteria</a:t>
            </a:r>
            <a:endParaRPr lang="fr-FR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6170" y="4093741"/>
            <a:ext cx="8730343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Organization and structure of viruses</a:t>
            </a:r>
            <a:endParaRPr lang="fr-FR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6170" y="5183782"/>
            <a:ext cx="6012181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 Classification of viruses </a:t>
            </a:r>
            <a:endParaRPr lang="fr-FR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94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54" y="0"/>
            <a:ext cx="12040246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1754" y="988279"/>
            <a:ext cx="8783240" cy="56938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Viral diseases have been known for thousands of years (example: rabies</a:t>
            </a:r>
            <a:r>
              <a:rPr lang="en-US" sz="2800" dirty="0" smtClean="0"/>
              <a:t>)</a:t>
            </a:r>
          </a:p>
          <a:p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An Egyptian stele shows us a limping pharaoh, probably affected by </a:t>
            </a:r>
            <a:r>
              <a:rPr lang="en-US" sz="2800" dirty="0" smtClean="0"/>
              <a:t>polio</a:t>
            </a:r>
            <a:r>
              <a:rPr lang="fr-FR" sz="2800" dirty="0" smtClean="0"/>
              <a:t>.</a:t>
            </a:r>
          </a:p>
          <a:p>
            <a:endParaRPr lang="fr-FR" sz="2800" dirty="0"/>
          </a:p>
          <a:p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1798:  Edward. </a:t>
            </a:r>
            <a:r>
              <a:rPr lang="fr-FR" sz="2800" dirty="0"/>
              <a:t>Jenner : </a:t>
            </a:r>
            <a:r>
              <a:rPr lang="fr-FR" sz="2800" dirty="0" err="1" smtClean="0"/>
              <a:t>Smallpox</a:t>
            </a:r>
            <a:r>
              <a:rPr lang="fr-FR" sz="2800" dirty="0" smtClean="0"/>
              <a:t> </a:t>
            </a:r>
            <a:r>
              <a:rPr lang="fr-FR" sz="2800" dirty="0"/>
              <a:t>vaccination</a:t>
            </a:r>
            <a:endParaRPr lang="fr-FR" sz="2800" dirty="0" smtClean="0"/>
          </a:p>
          <a:p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1885 L. Pasteur </a:t>
            </a:r>
            <a:r>
              <a:rPr lang="fr-FR" sz="2800" dirty="0"/>
              <a:t>: </a:t>
            </a:r>
            <a:r>
              <a:rPr lang="fr-FR" sz="2800" dirty="0" err="1" smtClean="0"/>
              <a:t>Rabies</a:t>
            </a:r>
            <a:r>
              <a:rPr lang="fr-FR" sz="2800" dirty="0" smtClean="0"/>
              <a:t> vaccination</a:t>
            </a:r>
          </a:p>
          <a:p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1892   D</a:t>
            </a:r>
            <a:r>
              <a:rPr lang="fr-FR" sz="2800" dirty="0"/>
              <a:t>. </a:t>
            </a:r>
            <a:r>
              <a:rPr lang="fr-FR" sz="2800" dirty="0" err="1"/>
              <a:t>Ivanovsky</a:t>
            </a:r>
            <a:r>
              <a:rPr lang="fr-FR" sz="2800" dirty="0"/>
              <a:t> </a:t>
            </a:r>
            <a:r>
              <a:rPr lang="fr-FR" sz="2800" dirty="0" smtClean="0"/>
              <a:t>: </a:t>
            </a:r>
            <a:r>
              <a:rPr lang="en-US" sz="2800" dirty="0" smtClean="0"/>
              <a:t>Discovery </a:t>
            </a:r>
            <a:r>
              <a:rPr lang="en-US" sz="2800" dirty="0"/>
              <a:t>of the tobacco mosaic </a:t>
            </a:r>
            <a:r>
              <a:rPr lang="en-US" sz="2800" dirty="0" smtClean="0"/>
              <a:t>virus (TMV)</a:t>
            </a:r>
            <a:endParaRPr lang="fr-FR" sz="2800" dirty="0" smtClean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994" y="-1"/>
            <a:ext cx="3257005" cy="535577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39634" y="0"/>
            <a:ext cx="6492240" cy="988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History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Viruses and Viral Diseases</a:t>
            </a:r>
            <a:endParaRPr lang="fr-FR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82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8" y="-297"/>
            <a:ext cx="12040644" cy="68585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768" y="0"/>
            <a:ext cx="12108463" cy="35394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fr-FR" sz="3200" dirty="0" smtClean="0"/>
          </a:p>
          <a:p>
            <a:endParaRPr lang="fr-FR" sz="32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dirty="0" smtClean="0"/>
              <a:t>1915 </a:t>
            </a:r>
            <a:r>
              <a:rPr lang="fr-FR" sz="3200" dirty="0"/>
              <a:t>Frederick </a:t>
            </a:r>
            <a:r>
              <a:rPr lang="fr-FR" sz="3200" dirty="0" err="1"/>
              <a:t>Twort</a:t>
            </a:r>
            <a:r>
              <a:rPr lang="fr-FR" sz="3200" dirty="0"/>
              <a:t> : </a:t>
            </a:r>
            <a:r>
              <a:rPr lang="en-US" sz="3200" dirty="0"/>
              <a:t>Discovery of bacterial viruses (bacteriophages)</a:t>
            </a:r>
            <a:endParaRPr lang="fr-FR" sz="3200" dirty="0"/>
          </a:p>
          <a:p>
            <a:endParaRPr lang="fr-FR" sz="32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dirty="0"/>
              <a:t>1939 </a:t>
            </a:r>
            <a:r>
              <a:rPr lang="en-US" sz="3200" dirty="0"/>
              <a:t>Invention of the electron microscope and direct </a:t>
            </a:r>
            <a:r>
              <a:rPr lang="en-US" sz="3200" dirty="0" smtClean="0"/>
              <a:t>observation of </a:t>
            </a:r>
            <a:r>
              <a:rPr lang="en-US" sz="3200" dirty="0"/>
              <a:t>viruses </a:t>
            </a:r>
            <a:r>
              <a:rPr lang="en-US" sz="3200" dirty="0" smtClean="0"/>
              <a:t>(TMV) </a:t>
            </a:r>
            <a:r>
              <a:rPr lang="en-US" sz="3200" dirty="0"/>
              <a:t>by G. </a:t>
            </a:r>
            <a:r>
              <a:rPr lang="en-US" sz="3200" dirty="0" err="1"/>
              <a:t>Kausche</a:t>
            </a:r>
            <a:r>
              <a:rPr lang="en-US" sz="3200" dirty="0"/>
              <a:t>, P. </a:t>
            </a:r>
            <a:r>
              <a:rPr lang="en-US" sz="3200" dirty="0" err="1"/>
              <a:t>Ankuch</a:t>
            </a:r>
            <a:r>
              <a:rPr lang="en-US" sz="3200" dirty="0"/>
              <a:t>, H. Ruska</a:t>
            </a:r>
            <a:endParaRPr lang="fr-FR" sz="32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94959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17565" y="91863"/>
            <a:ext cx="12074435" cy="66742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4000" b="1" i="0" u="sng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II. Propreties of</a:t>
            </a:r>
            <a:r>
              <a:rPr kumimoji="0" lang="fr-FR" altLang="fr-FR" sz="4000" b="1" i="0" u="sng" strike="noStrike" cap="none" normalizeH="0" dirty="0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viruses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3600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altLang="fr-FR" sz="3600" dirty="0" smtClean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Viruses are infectious particles, smaller than bacteria</a:t>
            </a:r>
          </a:p>
          <a:p>
            <a:pPr marR="0" lv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36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altLang="fr-FR" sz="3600" i="0" u="none" strike="noStrike" cap="none" normalizeH="0" baseline="0" dirty="0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Viruses are neither Eukaryotic nor Prokaryotic organisms (</a:t>
            </a:r>
            <a:r>
              <a:rPr kumimoji="0" lang="fr-FR" altLang="fr-FR" sz="3600" i="0" u="none" strike="noStrike" cap="none" normalizeH="0" dirty="0" smtClean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cells)</a:t>
            </a:r>
          </a:p>
          <a:p>
            <a:pPr marL="571500" lvl="0" indent="-5715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Viruses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fr-FR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obligate intracellular </a:t>
            </a:r>
            <a:r>
              <a:rPr lang="fr-FR" sz="3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parasites</a:t>
            </a:r>
          </a:p>
          <a:p>
            <a:pPr marL="571500" lvl="0" indent="-5715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fr-FR" altLang="fr-FR" sz="3600" b="1" i="0" u="none" strike="noStrike" cap="none" normalizeH="0" dirty="0" smtClean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Viruses lack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independent metabolism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Viral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genome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either DNA or RNA but never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both.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fr-FR" altLang="fr-FR" sz="3600" b="1" i="0" u="none" strike="noStrike" cap="none" normalizeH="0" baseline="0" dirty="0" smtClean="0">
              <a:ln>
                <a:noFill/>
              </a:ln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38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2000" cy="685859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sp>
        <p:nvSpPr>
          <p:cNvPr id="5" name="Rectangle 4"/>
          <p:cNvSpPr/>
          <p:nvPr/>
        </p:nvSpPr>
        <p:spPr>
          <a:xfrm>
            <a:off x="0" y="45423"/>
            <a:ext cx="9562012" cy="6766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 b="1" dirty="0" smtClean="0">
              <a:solidFill>
                <a:schemeClr val="tx1"/>
              </a:solidFill>
            </a:endParaRPr>
          </a:p>
          <a:p>
            <a:pPr algn="ctr"/>
            <a:endParaRPr lang="fr-FR" sz="40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40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Propreties of viruses</a:t>
            </a:r>
          </a:p>
          <a:p>
            <a:pPr algn="ctr"/>
            <a:endParaRPr lang="fr-FR" sz="40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viruses living or non-living organisms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endParaRPr lang="en-US" sz="3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Viruses lack their own independent metabolism</a:t>
            </a:r>
            <a:endParaRPr lang="fr-FR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Viruses are acellular because they lack a cellular structure.</a:t>
            </a:r>
          </a:p>
          <a:p>
            <a:endParaRPr lang="fr-FR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‘’’they can multiply inside living cells !!!!!</a:t>
            </a:r>
            <a:endParaRPr lang="fr-FR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3600" b="1" dirty="0">
              <a:solidFill>
                <a:schemeClr val="tx1"/>
              </a:solidFill>
              <a:latin typeface="Poppins"/>
            </a:endParaRPr>
          </a:p>
          <a:p>
            <a:pPr algn="ctr"/>
            <a:endParaRPr lang="fr-FR" sz="3600" b="1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372" y="-594"/>
            <a:ext cx="3178628" cy="271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4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206" y="56447"/>
            <a:ext cx="9239793" cy="66767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5131" y="1"/>
            <a:ext cx="4349932" cy="778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II.1. Size of viruses</a:t>
            </a:r>
            <a:endParaRPr lang="fr-FR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95683" y="2"/>
            <a:ext cx="3281208" cy="4049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fr-FR" b="1" dirty="0" smtClean="0">
              <a:solidFill>
                <a:schemeClr val="tx1"/>
              </a:solidFill>
              <a:latin typeface="Century Schoolbook" panose="020406040505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altLang="fr-FR" b="1" dirty="0" smtClean="0">
                <a:solidFill>
                  <a:schemeClr val="tx1"/>
                </a:solidFill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Size: 20 </a:t>
            </a:r>
            <a:r>
              <a:rPr lang="fr-FR" altLang="fr-FR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fr-FR" altLang="fr-FR" b="1" dirty="0" smtClean="0">
                <a:solidFill>
                  <a:schemeClr val="tx1"/>
                </a:solidFill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altLang="fr-FR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300 </a:t>
            </a:r>
            <a:r>
              <a:rPr lang="fr-FR" altLang="fr-FR" b="1" dirty="0" smtClean="0">
                <a:solidFill>
                  <a:schemeClr val="tx1"/>
                </a:solidFill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nm,</a:t>
            </a:r>
          </a:p>
          <a:p>
            <a:pPr algn="ctr"/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324094"/>
            <a:ext cx="33440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600" dirty="0"/>
              <a:t>Viruses are about 100 times smaller than </a:t>
            </a:r>
            <a:r>
              <a:rPr lang="en-US" sz="3600" dirty="0" smtClean="0"/>
              <a:t>bacteria</a:t>
            </a:r>
          </a:p>
          <a:p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600" dirty="0" smtClean="0"/>
              <a:t>Not </a:t>
            </a:r>
            <a:r>
              <a:rPr lang="en-US" sz="3600" dirty="0"/>
              <a:t>visible </a:t>
            </a:r>
            <a:r>
              <a:rPr lang="en-US" sz="3600" dirty="0" smtClean="0"/>
              <a:t>with a light microscope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16788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0"/>
            <a:ext cx="12192000" cy="65836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0446" y="156754"/>
            <a:ext cx="7785463" cy="666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dirty="0" smtClean="0">
                <a:solidFill>
                  <a:schemeClr val="tx1"/>
                </a:solidFill>
              </a:rPr>
              <a:t>Relative size of particles and cells</a:t>
            </a:r>
            <a:endParaRPr lang="fr-FR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22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845" y="1084216"/>
            <a:ext cx="10340621" cy="577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722914" y="1789611"/>
            <a:ext cx="1802674" cy="339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Bacteria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07234" y="1541415"/>
            <a:ext cx="2068285" cy="4963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Herpes virus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9633" y="110207"/>
            <a:ext cx="11586756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Electron Micrograph showing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difference between viruses and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bacteri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26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888581" cy="692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The main differences between Bacteria and Viruses</a:t>
            </a:r>
            <a:endParaRPr lang="fr-F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832145"/>
              </p:ext>
            </p:extLst>
          </p:nvPr>
        </p:nvGraphicFramePr>
        <p:xfrm>
          <a:off x="-1" y="692329"/>
          <a:ext cx="12191999" cy="634006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3451044">
                  <a:extLst>
                    <a:ext uri="{9D8B030D-6E8A-4147-A177-3AD203B41FA5}">
                      <a16:colId xmlns:a16="http://schemas.microsoft.com/office/drawing/2014/main" xmlns="" val="694526362"/>
                    </a:ext>
                  </a:extLst>
                </a:gridCol>
                <a:gridCol w="3452188">
                  <a:extLst>
                    <a:ext uri="{9D8B030D-6E8A-4147-A177-3AD203B41FA5}">
                      <a16:colId xmlns:a16="http://schemas.microsoft.com/office/drawing/2014/main" xmlns="" val="3444328328"/>
                    </a:ext>
                  </a:extLst>
                </a:gridCol>
                <a:gridCol w="5288767">
                  <a:extLst>
                    <a:ext uri="{9D8B030D-6E8A-4147-A177-3AD203B41FA5}">
                      <a16:colId xmlns:a16="http://schemas.microsoft.com/office/drawing/2014/main" xmlns="" val="462239397"/>
                    </a:ext>
                  </a:extLst>
                </a:gridCol>
              </a:tblGrid>
              <a:tr h="609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          </a:t>
                      </a:r>
                      <a:r>
                        <a:rPr lang="en-US" sz="2400" dirty="0" smtClean="0">
                          <a:effectLst/>
                        </a:rPr>
                        <a:t>Bacteria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              </a:t>
                      </a:r>
                      <a:r>
                        <a:rPr lang="en-US" sz="2400" dirty="0" smtClean="0">
                          <a:effectLst/>
                        </a:rPr>
                        <a:t>Viruses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27546620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  Size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          0.1 – 10 um  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20-300nm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50958874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Metabolism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++++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------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169325185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Type</a:t>
                      </a:r>
                      <a:r>
                        <a:rPr lang="en-US" sz="2400" baseline="0" dirty="0" smtClean="0">
                          <a:effectLst/>
                        </a:rPr>
                        <a:t> of organism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      </a:t>
                      </a:r>
                      <a:r>
                        <a:rPr lang="en-US" sz="2400" dirty="0" smtClean="0">
                          <a:effectLst/>
                        </a:rPr>
                        <a:t>Prokaryote</a:t>
                      </a:r>
                      <a:r>
                        <a:rPr lang="fr-FR" sz="2400" dirty="0" smtClean="0">
                          <a:effectLst/>
                        </a:rPr>
                        <a:t>s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Acellular structures 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577453209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Nucleic acids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smtClean="0">
                          <a:effectLst/>
                        </a:rPr>
                        <a:t>           DNA</a:t>
                      </a:r>
                      <a:r>
                        <a:rPr lang="en-US" sz="2400" baseline="0" dirty="0" smtClean="0">
                          <a:effectLst/>
                        </a:rPr>
                        <a:t> and RNA 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 DNA</a:t>
                      </a:r>
                      <a:r>
                        <a:rPr lang="en-US" sz="2400" baseline="0" dirty="0" smtClean="0">
                          <a:effectLst/>
                        </a:rPr>
                        <a:t>  or   RNA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560571323"/>
                  </a:ext>
                </a:extLst>
              </a:tr>
              <a:tr h="15918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Reproduction 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   </a:t>
                      </a:r>
                      <a:r>
                        <a:rPr lang="en-US" sz="2400" dirty="0" smtClean="0">
                          <a:effectLst/>
                        </a:rPr>
                        <a:t>               Cell</a:t>
                      </a:r>
                      <a:r>
                        <a:rPr lang="en-US" sz="2400" baseline="0" dirty="0" smtClean="0">
                          <a:effectLst/>
                        </a:rPr>
                        <a:t> division 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</a:rPr>
                        <a:t>    Replication</a:t>
                      </a:r>
                      <a:r>
                        <a:rPr lang="fr-FR" sz="2400" baseline="0" dirty="0" smtClean="0">
                          <a:effectLst/>
                        </a:rPr>
                        <a:t> of Genetic Material </a:t>
                      </a:r>
                      <a:r>
                        <a:rPr lang="fr-FR" sz="2400" u="sng" baseline="0" dirty="0" smtClean="0">
                          <a:effectLst/>
                        </a:rPr>
                        <a:t>ONLY</a:t>
                      </a:r>
                      <a:r>
                        <a:rPr lang="fr-FR" sz="2400" baseline="0" dirty="0" smtClean="0">
                          <a:effectLst/>
                        </a:rPr>
                        <a:t> inside Host Cell </a:t>
                      </a:r>
                      <a:r>
                        <a:rPr lang="fr-FR" sz="2400" dirty="0" smtClean="0">
                          <a:effectLst/>
                        </a:rPr>
                        <a:t>(obligate intracellular</a:t>
                      </a:r>
                      <a:r>
                        <a:rPr lang="fr-FR" sz="2400" baseline="0" dirty="0" smtClean="0">
                          <a:effectLst/>
                        </a:rPr>
                        <a:t> parasites</a:t>
                      </a:r>
                      <a:r>
                        <a:rPr lang="fr-FR" sz="2400" dirty="0" smtClean="0">
                          <a:effectLst/>
                        </a:rPr>
                        <a:t>)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08071098"/>
                  </a:ext>
                </a:extLst>
              </a:tr>
              <a:tr h="4864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Growth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++++++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--------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80204781"/>
                  </a:ext>
                </a:extLst>
              </a:tr>
              <a:tr h="10391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Microscopic observation 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aseline="0" dirty="0" smtClean="0">
                          <a:effectLst/>
                        </a:rPr>
                        <a:t>Light and Electron Microscope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</a:rPr>
                        <a:t>Electron</a:t>
                      </a:r>
                      <a:r>
                        <a:rPr lang="en-US" sz="2400" baseline="0" dirty="0" smtClean="0">
                          <a:effectLst/>
                        </a:rPr>
                        <a:t> Microscope</a:t>
                      </a:r>
                      <a:endParaRPr lang="fr-FR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90716227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583" y="0"/>
            <a:ext cx="2303416" cy="69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1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117568" y="1433439"/>
            <a:ext cx="6714305" cy="49398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>
            <a:lvl1pPr indent="449263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49263" algn="r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49263" algn="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49263" algn="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fr-FR" sz="3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Viral </a:t>
            </a:r>
            <a:r>
              <a:rPr lang="en-US" altLang="fr-FR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particle </a:t>
            </a:r>
            <a:r>
              <a:rPr lang="en-US" altLang="fr-FR" sz="3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made up </a:t>
            </a:r>
            <a:r>
              <a:rPr lang="en-US" altLang="fr-FR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altLang="fr-FR" sz="3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742950" indent="-742950">
              <a:lnSpc>
                <a:spcPct val="150000"/>
              </a:lnSpc>
              <a:spcBef>
                <a:spcPct val="0"/>
              </a:spcBef>
              <a:buAutoNum type="arabicParenR"/>
            </a:pPr>
            <a:r>
              <a:rPr lang="en-US" altLang="fr-FR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constant elements: </a:t>
            </a:r>
          </a:p>
          <a:p>
            <a:pPr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fr-FR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fr-FR" sz="3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a) Genome</a:t>
            </a:r>
            <a:r>
              <a:rPr lang="en-US" altLang="fr-FR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(DNA or </a:t>
            </a:r>
            <a:r>
              <a:rPr lang="en-US" altLang="fr-FR" sz="3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RNA)</a:t>
            </a:r>
          </a:p>
          <a:p>
            <a:pPr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fr-FR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fr-FR" sz="3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b) Capsid</a:t>
            </a:r>
            <a:r>
              <a:rPr lang="en-US" altLang="fr-FR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protein </a:t>
            </a:r>
            <a:r>
              <a:rPr lang="en-US" altLang="fr-FR" sz="3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fr-FR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fr-FR" sz="3000" b="1" u="sng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Genome + Capsid </a:t>
            </a:r>
            <a:r>
              <a:rPr lang="en-US" altLang="fr-FR" sz="30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altLang="fr-FR" sz="3000" b="1" u="sng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Nucleocapsid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fr-FR" sz="3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 </a:t>
            </a:r>
            <a:r>
              <a:rPr lang="en-US" altLang="fr-FR" sz="3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 inconstant element</a:t>
            </a:r>
            <a:r>
              <a:rPr lang="en-US" altLang="fr-FR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altLang="fr-FR" sz="3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fr-FR" sz="3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altLang="fr-FR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envelope (sometimes with a matrix)</a:t>
            </a:r>
            <a:endParaRPr lang="fr-FR" altLang="fr-FR" sz="3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4948" y="0"/>
            <a:ext cx="10136777" cy="1005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fr-FR" alt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alt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and structure of viruses</a:t>
            </a:r>
            <a:endParaRPr lang="fr-FR" altLang="fr-FR" sz="3600" b="1" dirty="0">
              <a:solidFill>
                <a:schemeClr val="tx1"/>
              </a:solidFill>
              <a:latin typeface="Century Schoolbook" panose="020406040505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858" y="1005841"/>
            <a:ext cx="5371285" cy="520301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146767" y="3200400"/>
            <a:ext cx="1565092" cy="4069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ysClr val="windowText" lastClr="000000"/>
                </a:solidFill>
              </a:rPr>
              <a:t>Nucleocapsid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36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4765" y="431074"/>
            <a:ext cx="10424161" cy="1005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fr-FR" alt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en-US" alt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and structure of viruses</a:t>
            </a:r>
            <a:endParaRPr lang="fr-FR" altLang="fr-FR" sz="3600" b="1" dirty="0">
              <a:solidFill>
                <a:schemeClr val="tx1"/>
              </a:solidFill>
              <a:latin typeface="Century Schoolbook" panose="020406040505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4765" y="5603965"/>
            <a:ext cx="3122024" cy="692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ysClr val="windowText" lastClr="000000"/>
                </a:solidFill>
              </a:rPr>
              <a:t>Non-enveloped virus</a:t>
            </a:r>
          </a:p>
        </p:txBody>
      </p:sp>
    </p:spTree>
    <p:extLst>
      <p:ext uri="{BB962C8B-B14F-4D97-AF65-F5344CB8AC3E}">
        <p14:creationId xmlns:p14="http://schemas.microsoft.com/office/powerpoint/2010/main" val="260225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1395432"/>
            <a:ext cx="38404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DNA or 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 between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280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k.bases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3 to more than 100 different proteins (structural and non-structural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Packaged inside protein capsid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97280"/>
            <a:ext cx="8351520" cy="57607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20187"/>
            <a:ext cx="9940834" cy="6648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III.1. Viral genome: Shape and structure</a:t>
            </a:r>
            <a:endParaRPr lang="fr-FR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44492" y="782181"/>
            <a:ext cx="2468880" cy="611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ysClr val="windowText" lastClr="000000"/>
                </a:solidFill>
              </a:rPr>
              <a:t>Viral Genome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152606" y="1254034"/>
            <a:ext cx="1227908" cy="431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177349" y="1240971"/>
            <a:ext cx="1293222" cy="467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27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425" y="60994"/>
            <a:ext cx="4300260" cy="6434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III.2. Viral Capsid </a:t>
            </a:r>
            <a:endParaRPr lang="fr-FR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Les vir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891" y="660575"/>
            <a:ext cx="4261071" cy="330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iologie cellulaire infection bacterie virus Enseignement et recherche  Biochimie Universite Angers Emmanuel Jaspard biochimej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762" y="4010493"/>
            <a:ext cx="4876800" cy="256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06424" y="1480023"/>
            <a:ext cx="6489337" cy="46166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Compact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protein structure that surrounds the genome</a:t>
            </a: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Made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 of protein subunits (capsomeres</a:t>
            </a: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main role is the protection of the viral genom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27925" y="751758"/>
            <a:ext cx="5557519" cy="6434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III.2.a. Capsid Structure </a:t>
            </a:r>
            <a:endParaRPr lang="fr-F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306594" y="3963196"/>
            <a:ext cx="1672046" cy="3083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ysClr val="windowText" lastClr="000000"/>
                </a:solidFill>
              </a:rPr>
              <a:t>capsomere</a:t>
            </a:r>
            <a:endParaRPr lang="fr-FR" sz="24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0424160" y="4271554"/>
            <a:ext cx="222069" cy="9535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38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ructure virale | Votre espace ST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74" y="1078269"/>
            <a:ext cx="11857126" cy="422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25774" y="97405"/>
            <a:ext cx="5644444" cy="9256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III.2.b. Capsid shapes</a:t>
            </a:r>
            <a:endParaRPr lang="fr-F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4012" y="5324438"/>
            <a:ext cx="890453" cy="432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Naked virus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56066" y="5393822"/>
            <a:ext cx="1258390" cy="391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Enveloped virus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79669" y="1979867"/>
            <a:ext cx="1384662" cy="512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5719352" y="2006922"/>
            <a:ext cx="2307773" cy="512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7323222" y="942220"/>
            <a:ext cx="3801293" cy="512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1234057" y="1801384"/>
            <a:ext cx="822960" cy="503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Nucleic Acid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124515" y="2770696"/>
            <a:ext cx="932502" cy="354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Envelope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325878" y="1437679"/>
            <a:ext cx="600892" cy="256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2917774" y="1560001"/>
            <a:ext cx="1175657" cy="235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3944983" y="5306456"/>
            <a:ext cx="1254034" cy="391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Naked virus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310728" y="5200009"/>
            <a:ext cx="1258390" cy="391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Enveloped virus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33165" y="4894166"/>
            <a:ext cx="1384663" cy="395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8680829" y="5026006"/>
            <a:ext cx="2008695" cy="462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Bacteriophage</a:t>
            </a:r>
            <a:endParaRPr lang="fr-FR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60368" y="6036038"/>
            <a:ext cx="2991395" cy="6581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Helical symmetry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879669" y="5999680"/>
            <a:ext cx="3443553" cy="6581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Icosahedral symmetry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27125" y="5991442"/>
            <a:ext cx="3206932" cy="6183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Complex </a:t>
            </a:r>
            <a:r>
              <a:rPr lang="en-US" sz="2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symmetry </a:t>
            </a:r>
            <a:endParaRPr lang="fr-FR" sz="2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179286" y="2374216"/>
            <a:ext cx="932502" cy="354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Capsid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179286" y="3256946"/>
            <a:ext cx="932502" cy="541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Glyco-proteins</a:t>
            </a:r>
            <a:endParaRPr lang="fr-FR" sz="14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534194" y="1694018"/>
            <a:ext cx="1559237" cy="1034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944983" y="1345474"/>
            <a:ext cx="1554480" cy="4496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ysClr val="windowText" lastClr="000000"/>
                </a:solidFill>
              </a:rPr>
              <a:t>nucleocapsid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7080069" y="1454897"/>
            <a:ext cx="243153" cy="1273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648314" y="1023094"/>
            <a:ext cx="1406032" cy="4496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ysClr val="windowText" lastClr="000000"/>
                </a:solidFill>
              </a:rPr>
              <a:t>envelope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22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Picture 8" descr="The major capsid proteins fiber, penton, and hexon are the principle... |  Download Scientific Diagra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727" y="0"/>
            <a:ext cx="2284889" cy="160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49873" y="237067"/>
            <a:ext cx="5007197" cy="8508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Capsid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icosahedral symmetry </a:t>
            </a:r>
            <a:endParaRPr lang="fr-F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714" y="1288976"/>
            <a:ext cx="3766371" cy="281093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11370" y="4531128"/>
            <a:ext cx="7165178" cy="2031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800" b="1" dirty="0" smtClean="0"/>
              <a:t>Icosahedral capsid: is </a:t>
            </a:r>
            <a:r>
              <a:rPr lang="en-US" sz="2800" b="1" dirty="0"/>
              <a:t>made up of equilateral triangles with 20 triangular faces, 30 edges, and 12 vertices. </a:t>
            </a:r>
            <a:endParaRPr lang="fr-FR" sz="2800" b="1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 descr="Vertices, Edges And Faces | Types, Relationships, Examples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1374903"/>
            <a:ext cx="3905793" cy="263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14" descr="Détection des virus par microscopie électronique : passé, présent et futur  - PDF Free Downloa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223" y="241910"/>
            <a:ext cx="3751321" cy="285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334974" y="3773251"/>
            <a:ext cx="718457" cy="2836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A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24888" y="3816214"/>
            <a:ext cx="718457" cy="2836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B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59278" y="1242804"/>
            <a:ext cx="718457" cy="2836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C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866917" y="5947662"/>
            <a:ext cx="718457" cy="2836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D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3870" y="3320679"/>
            <a:ext cx="4389094" cy="262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3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TRUCTURE ET DEFINITION DES VIR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29" y="289023"/>
            <a:ext cx="5660571" cy="379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531429" y="3309392"/>
            <a:ext cx="5543006" cy="776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150" name="Picture 6" descr="Différence entre capside et enveloppe / Science | La différence entre des  objets et des termes similair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08" y="827203"/>
            <a:ext cx="4748379" cy="293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3661" y="157337"/>
            <a:ext cx="6157768" cy="4522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Capsid with Helical symmetry</a:t>
            </a:r>
            <a:endParaRPr lang="fr-F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65490"/>
            <a:ext cx="5377716" cy="30925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62594" y="2990334"/>
            <a:ext cx="692332" cy="326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A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26702" y="663917"/>
            <a:ext cx="692332" cy="326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B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2371" y="6192112"/>
            <a:ext cx="692332" cy="326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C</a:t>
            </a:r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14" name="Picture 13" descr="https://xaktly.com/Images/Virology/VirusStructure/EbolaMicrograph2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629" y="3316906"/>
            <a:ext cx="4780826" cy="346895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/>
          <p:cNvSpPr/>
          <p:nvPr/>
        </p:nvSpPr>
        <p:spPr>
          <a:xfrm>
            <a:off x="7344850" y="6192112"/>
            <a:ext cx="692332" cy="326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1429" y="2312127"/>
            <a:ext cx="1505753" cy="222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Protein subunit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45604" y="289023"/>
            <a:ext cx="1505753" cy="222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Nucleic acid</a:t>
            </a:r>
            <a:endParaRPr lang="fr-FR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16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80" y="14742"/>
            <a:ext cx="5519462" cy="7831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Capsid with complex symmery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11483" y="3250012"/>
            <a:ext cx="2280356" cy="5870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 Bacteriophage 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281" y="578269"/>
            <a:ext cx="4186761" cy="3184917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542" y="94494"/>
            <a:ext cx="4022975" cy="27029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80029" y="2712526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Schematic diagram of the poxvirus structure. (a) cross-section; (b) longitudinal section.</a:t>
            </a:r>
            <a:endParaRPr lang="fr-FR" sz="24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846" y="3543524"/>
            <a:ext cx="6947360" cy="29494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04949" y="867161"/>
            <a:ext cx="953332" cy="5787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1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69194" y="15839"/>
            <a:ext cx="953332" cy="5787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2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3363" y="6161555"/>
            <a:ext cx="953332" cy="5787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3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845" y="3763186"/>
            <a:ext cx="513200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Vaccinia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virus,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dumbbell-shaped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capsid. </a:t>
            </a:r>
          </a:p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B):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Geminiviruses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double-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icosahedron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capsid. </a:t>
            </a:r>
            <a:endParaRPr lang="fr-FR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Bacteriophages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binal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symmetry capsid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79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7231" y="40680"/>
            <a:ext cx="4407020" cy="8918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III.3. Viral envelope</a:t>
            </a:r>
            <a:endParaRPr lang="fr-FR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15" y="1358537"/>
            <a:ext cx="5756365" cy="5172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Entry Inhibitors: Efficient Means to Block Viral Infection | The Journal of  Membrane Biolog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293" y="1358537"/>
            <a:ext cx="5797322" cy="482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9154954" y="1071154"/>
            <a:ext cx="2338251" cy="5225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ysClr val="windowText" lastClr="000000"/>
                </a:solidFill>
              </a:rPr>
              <a:t>Phospholipid double-layer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  <p:cxnSp>
        <p:nvCxnSpPr>
          <p:cNvPr id="5" name="Straight Arrow Connector 4"/>
          <p:cNvCxnSpPr>
            <a:stCxn id="1026" idx="0"/>
          </p:cNvCxnSpPr>
          <p:nvPr/>
        </p:nvCxnSpPr>
        <p:spPr>
          <a:xfrm flipH="1">
            <a:off x="8216537" y="1358537"/>
            <a:ext cx="938417" cy="5943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516983" y="1952898"/>
            <a:ext cx="1058091" cy="18194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82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647700"/>
            <a:ext cx="9972675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7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 descr="Equine Herpes Virus (EHV-1 – neurological form) – Valencia (ESP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6" y="601858"/>
            <a:ext cx="2619553" cy="193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Grippe - Vikidia, l&amp;#39;encyclopédie des 8-13 a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6" y="3781250"/>
            <a:ext cx="2392429" cy="204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UCLOUVAIN FDP Virologi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628" y="3613064"/>
            <a:ext cx="2142195" cy="208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Manifestations oculaires de la maladie à virus Ebola : les leçons de la  dernière épidémie - ScienceDirec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628" y="601857"/>
            <a:ext cx="2172998" cy="21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La protéine de SARS-CoV-2 Neucleocapside (n) est fortement glycosylé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984" y="3048001"/>
            <a:ext cx="4714512" cy="3218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0" name="Picture 18" descr="I-Le virus du Sid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578" y="248355"/>
            <a:ext cx="3498567" cy="252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016000" y="2773892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herpès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35778" y="2773891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Ebola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00051" y="2773891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VIH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16000" y="6129214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Influenza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00051" y="6234925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SARS-CoV-2</a:t>
            </a:r>
            <a:endParaRPr lang="fr-FR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0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9634" y="143692"/>
            <a:ext cx="5786846" cy="10842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</a:rPr>
              <a:t>Origin of the viral envelope</a:t>
            </a: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4324" y="5173973"/>
            <a:ext cx="10110650" cy="1446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Release of virus by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budding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host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plasma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mebmrane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HIV.  And , </a:t>
            </a:r>
            <a:r>
              <a:rPr 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Measles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virus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Virus Explor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08" y="735709"/>
            <a:ext cx="9601200" cy="437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V="1">
            <a:off x="3435531" y="3840480"/>
            <a:ext cx="731520" cy="143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467985" y="3446252"/>
            <a:ext cx="757646" cy="152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7650479" y="2716909"/>
            <a:ext cx="722812" cy="2068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43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erpesvirus Nuclear Egress across the Outer Nuclear Membran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66" y="113350"/>
            <a:ext cx="10036920" cy="522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87384" y="5342709"/>
            <a:ext cx="11534502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 </a:t>
            </a:r>
            <a:r>
              <a:rPr lang="en-US" sz="2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virus by budding from TGN than by exocytosis from the host cell membrane</a:t>
            </a:r>
            <a:r>
              <a:rPr lang="en-US" sz="2800" b="1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E.g. Herpesvirus, 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31383" y="2427584"/>
            <a:ext cx="2050869" cy="600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</a:rPr>
              <a:t>Exocytosis</a:t>
            </a:r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41029" y="685870"/>
            <a:ext cx="2050869" cy="600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err="1" smtClean="0">
                <a:solidFill>
                  <a:schemeClr val="tx1"/>
                </a:solidFill>
              </a:rPr>
              <a:t>Budding</a:t>
            </a:r>
            <a:endParaRPr lang="fr-F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97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ex differences in SARS-CoV-2 infection rates and the potential link to  prostate cancer | Communications Bi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09" y="258532"/>
            <a:ext cx="11194868" cy="574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5430" y="6006188"/>
            <a:ext cx="8826136" cy="517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FR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Release of virus by </a:t>
            </a:r>
            <a:r>
              <a:rPr lang="fr-FR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Budding</a:t>
            </a:r>
            <a:r>
              <a:rPr lang="fr-FR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from</a:t>
            </a:r>
            <a:r>
              <a:rPr lang="fr-FR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ER (</a:t>
            </a:r>
            <a:r>
              <a:rPr lang="fr-FR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e.g</a:t>
            </a:r>
            <a:r>
              <a:rPr lang="fr-FR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SARS CoV2)</a:t>
            </a: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7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45067" y="225778"/>
            <a:ext cx="3826933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</a:rPr>
              <a:t>Classification of virus</a:t>
            </a:r>
            <a:endParaRPr lang="fr-FR" sz="28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459283"/>
              </p:ext>
            </p:extLst>
          </p:nvPr>
        </p:nvGraphicFramePr>
        <p:xfrm>
          <a:off x="848716" y="979713"/>
          <a:ext cx="10494568" cy="53672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3714">
                  <a:extLst>
                    <a:ext uri="{9D8B030D-6E8A-4147-A177-3AD203B41FA5}">
                      <a16:colId xmlns:a16="http://schemas.microsoft.com/office/drawing/2014/main" xmlns="" val="3027159894"/>
                    </a:ext>
                  </a:extLst>
                </a:gridCol>
                <a:gridCol w="2837731">
                  <a:extLst>
                    <a:ext uri="{9D8B030D-6E8A-4147-A177-3AD203B41FA5}">
                      <a16:colId xmlns:a16="http://schemas.microsoft.com/office/drawing/2014/main" xmlns="" val="2873211536"/>
                    </a:ext>
                  </a:extLst>
                </a:gridCol>
                <a:gridCol w="4013123">
                  <a:extLst>
                    <a:ext uri="{9D8B030D-6E8A-4147-A177-3AD203B41FA5}">
                      <a16:colId xmlns:a16="http://schemas.microsoft.com/office/drawing/2014/main" xmlns="" val="938325073"/>
                    </a:ext>
                  </a:extLst>
                </a:gridCol>
              </a:tblGrid>
              <a:tr h="843999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fr-FR" sz="2000">
                          <a:solidFill>
                            <a:schemeClr val="tx1"/>
                          </a:solidFill>
                          <a:effectLst/>
                        </a:rPr>
                        <a:t>1 - THE GENOME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fr-FR" sz="2000">
                          <a:solidFill>
                            <a:schemeClr val="tx1"/>
                          </a:solidFill>
                          <a:effectLst/>
                        </a:rPr>
                        <a:t>2 – THE ENVELOPE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3 - THE SYMMETRY OF THE CAPSID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53623744"/>
                  </a:ext>
                </a:extLst>
              </a:tr>
              <a:tr h="4106824">
                <a:tc>
                  <a:txBody>
                    <a:bodyPr/>
                    <a:lstStyle/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1° - The nature of the genetic material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- DNA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- RNA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2° - The structure of the nucleic acid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- Single-stranded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- Double-stranded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3° - The shape of the nucleic acid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fr-FR" sz="2000">
                          <a:solidFill>
                            <a:schemeClr val="tx1"/>
                          </a:solidFill>
                          <a:effectLst/>
                        </a:rPr>
                        <a:t>- Linear</a:t>
                      </a: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fr-FR" sz="2000">
                          <a:solidFill>
                            <a:schemeClr val="tx1"/>
                          </a:solidFill>
                          <a:effectLst/>
                        </a:rPr>
                        <a:t>- Circular</a:t>
                      </a: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fr-FR" sz="2000">
                          <a:solidFill>
                            <a:schemeClr val="tx1"/>
                          </a:solidFill>
                          <a:effectLst/>
                        </a:rPr>
                        <a:t>- Unsegmented</a:t>
                      </a: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fr-FR" sz="2000">
                          <a:solidFill>
                            <a:schemeClr val="tx1"/>
                          </a:solidFill>
                          <a:effectLst/>
                        </a:rPr>
                        <a:t>- Segmented</a:t>
                      </a:r>
                      <a:endParaRPr lang="fr-FR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effectLst/>
                        </a:rPr>
                        <a:t>-Naked viruses</a:t>
                      </a: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marL="457200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effectLst/>
                        </a:rPr>
                        <a:t>- Enveloped viruses 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 - Helical symmetry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Icosahedral symmetry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- Unknown symmetry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6500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21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Biologie cellulaire infection bacterie virus Enseignement et recherche  Biochimie Universite Angers Emmanuel Jaspard biochimej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4" y="1345318"/>
            <a:ext cx="9575448" cy="426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60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4811</TotalTime>
  <Words>741</Words>
  <Application>Microsoft Office PowerPoint</Application>
  <PresentationFormat>Grand écran</PresentationFormat>
  <Paragraphs>180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Century Schoolbook</vt:lpstr>
      <vt:lpstr>Poppins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Amel</cp:lastModifiedBy>
  <cp:revision>194</cp:revision>
  <dcterms:created xsi:type="dcterms:W3CDTF">2021-10-26T16:27:32Z</dcterms:created>
  <dcterms:modified xsi:type="dcterms:W3CDTF">2025-11-01T18:59:38Z</dcterms:modified>
</cp:coreProperties>
</file>