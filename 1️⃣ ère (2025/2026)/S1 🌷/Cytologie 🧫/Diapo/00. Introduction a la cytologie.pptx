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61" r:id="rId8"/>
  </p:sldMasterIdLst>
  <p:notesMasterIdLst>
    <p:notesMasterId r:id="rId20"/>
  </p:notesMasterIdLst>
  <p:sldIdLst>
    <p:sldId id="257" r:id="rId9"/>
    <p:sldId id="258" r:id="rId10"/>
    <p:sldId id="259" r:id="rId11"/>
    <p:sldId id="260" r:id="rId12"/>
    <p:sldId id="261" r:id="rId13"/>
    <p:sldId id="262" r:id="rId14"/>
    <p:sldId id="271" r:id="rId15"/>
    <p:sldId id="272" r:id="rId16"/>
    <p:sldId id="270" r:id="rId17"/>
    <p:sldId id="256" r:id="rId18"/>
    <p:sldId id="269" r:id="rId19"/>
  </p:sldIdLst>
  <p:sldSz cx="12192000" cy="6858000"/>
  <p:notesSz cx="6858000" cy="9144000"/>
  <p:custDataLst>
    <p:tags r:id="rId21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wane ben" userId="fe21a884b36ce720" providerId="LiveId" clId="{3C3DAF03-25CD-4077-9CEA-44D08B1EF6D7}"/>
    <pc:docChg chg="custSel addSld modSld addMainMaster modMainMaster">
      <pc:chgData name="safwane ben" userId="fe21a884b36ce720" providerId="LiveId" clId="{3C3DAF03-25CD-4077-9CEA-44D08B1EF6D7}" dt="2025-09-19T21:41:40.603" v="3" actId="27636"/>
      <pc:docMkLst>
        <pc:docMk/>
      </pc:docMkLst>
      <pc:sldChg chg="addSp modSp new">
        <pc:chgData name="safwane ben" userId="fe21a884b36ce720" providerId="LiveId" clId="{3C3DAF03-25CD-4077-9CEA-44D08B1EF6D7}" dt="2025-09-19T21:27:22.577" v="1"/>
        <pc:sldMkLst>
          <pc:docMk/>
          <pc:sldMk cId="2839437978" sldId="256"/>
        </pc:sldMkLst>
        <pc:spChg chg="add mod">
          <ac:chgData name="safwane ben" userId="fe21a884b36ce720" providerId="LiveId" clId="{3C3DAF03-25CD-4077-9CEA-44D08B1EF6D7}" dt="2025-09-19T21:27:22.577" v="1"/>
          <ac:spMkLst>
            <pc:docMk/>
            <pc:sldMk cId="2839437978" sldId="256"/>
            <ac:spMk id="4" creationId="{F8F51327-D59E-B20E-85A9-6BD6CF8A24AF}"/>
          </ac:spMkLst>
        </pc:spChg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3427299547" sldId="257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2454873442" sldId="258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1113072302" sldId="259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30641957" sldId="260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170694257" sldId="261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834557963" sldId="262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2192075043" sldId="263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834557963" sldId="264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3483836248" sldId="265"/>
        </pc:sldMkLst>
      </pc:sldChg>
      <pc:sldChg chg="modSp add mod">
        <pc:chgData name="safwane ben" userId="fe21a884b36ce720" providerId="LiveId" clId="{3C3DAF03-25CD-4077-9CEA-44D08B1EF6D7}" dt="2025-09-19T21:41:40.603" v="3" actId="27636"/>
        <pc:sldMkLst>
          <pc:docMk/>
          <pc:sldMk cId="2743263883" sldId="266"/>
        </pc:sldMkLst>
        <pc:spChg chg="mod">
          <ac:chgData name="safwane ben" userId="fe21a884b36ce720" providerId="LiveId" clId="{3C3DAF03-25CD-4077-9CEA-44D08B1EF6D7}" dt="2025-09-19T21:41:40.603" v="3" actId="27636"/>
          <ac:spMkLst>
            <pc:docMk/>
            <pc:sldMk cId="2743263883" sldId="266"/>
            <ac:spMk id="8" creationId="{C39EF8AA-D03F-16B2-301C-4457E28BCAFB}"/>
          </ac:spMkLst>
        </pc:spChg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1841985991" sldId="267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1103696173" sldId="268"/>
        </pc:sldMkLst>
      </pc:sldChg>
      <pc:sldChg chg="add">
        <pc:chgData name="safwane ben" userId="fe21a884b36ce720" providerId="LiveId" clId="{3C3DAF03-25CD-4077-9CEA-44D08B1EF6D7}" dt="2025-09-19T21:41:40.398" v="2"/>
        <pc:sldMkLst>
          <pc:docMk/>
          <pc:sldMk cId="4258441672" sldId="269"/>
        </pc:sldMkLst>
      </pc:sldChg>
      <pc:sldMasterChg chg="modSldLayout">
        <pc:chgData name="safwane ben" userId="fe21a884b36ce720" providerId="LiveId" clId="{3C3DAF03-25CD-4077-9CEA-44D08B1EF6D7}" dt="2025-09-19T21:41:40.398" v="2"/>
        <pc:sldMasterMkLst>
          <pc:docMk/>
          <pc:sldMasterMk cId="1678156860" sldId="2147483648"/>
        </pc:sldMasterMkLst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1919864564" sldId="2147483686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3645837457" sldId="2147483687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681895068" sldId="2147483688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1693612904" sldId="2147483689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90056548" sldId="2147483690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734637445" sldId="2147483691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1346906516" sldId="2147483692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2119597769" sldId="2147483693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2637017133" sldId="2147483694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2607225184" sldId="2147483695"/>
          </pc:sldLayoutMkLst>
        </pc:sldLayoutChg>
        <pc:sldLayoutChg chg="replId">
          <pc:chgData name="safwane ben" userId="fe21a884b36ce720" providerId="LiveId" clId="{3C3DAF03-25CD-4077-9CEA-44D08B1EF6D7}" dt="2025-09-19T21:41:40.398" v="2"/>
          <pc:sldLayoutMkLst>
            <pc:docMk/>
            <pc:sldMasterMk cId="1678156860" sldId="2147483648"/>
            <pc:sldLayoutMk cId="3792732936" sldId="2147483696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4110171325" sldId="2147483649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4110171325" sldId="2147483649"/>
            <pc:sldLayoutMk cId="2574837703" sldId="2147483673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4110171325" sldId="2147483650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4110171325" sldId="2147483650"/>
            <pc:sldLayoutMk cId="2173432954" sldId="2147483674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563671588" sldId="2147483651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563671588" sldId="2147483651"/>
            <pc:sldLayoutMk cId="1480292579" sldId="2147483675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472058283" sldId="2147483652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472058283" sldId="2147483652"/>
            <pc:sldLayoutMk cId="2326998856" sldId="2147483676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2083937239" sldId="2147483653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2083937239" sldId="2147483653"/>
            <pc:sldLayoutMk cId="607492451" sldId="2147483677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2083937239" sldId="2147483654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2083937239" sldId="2147483654"/>
            <pc:sldLayoutMk cId="1055987592" sldId="2147483678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1369763552" sldId="2147483655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1369763552" sldId="2147483655"/>
            <pc:sldLayoutMk cId="145046096" sldId="2147483679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2083937239" sldId="2147483656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2083937239" sldId="2147483656"/>
            <pc:sldLayoutMk cId="1055987592" sldId="2147483680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2083937239" sldId="2147483657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2083937239" sldId="2147483657"/>
            <pc:sldLayoutMk cId="1055987592" sldId="2147483681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1413076918" sldId="2147483658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1413076918" sldId="2147483658"/>
            <pc:sldLayoutMk cId="2586163665" sldId="2147483682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3369236946" sldId="2147483659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3369236946" sldId="2147483659"/>
            <pc:sldLayoutMk cId="167203400" sldId="2147483683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1266058122" sldId="2147483660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1266058122" sldId="2147483660"/>
            <pc:sldLayoutMk cId="1598490781" sldId="2147483684"/>
          </pc:sldLayoutMkLst>
        </pc:sldLayoutChg>
      </pc:sldMasterChg>
      <pc:sldMasterChg chg="add addSldLayout">
        <pc:chgData name="safwane ben" userId="fe21a884b36ce720" providerId="LiveId" clId="{3C3DAF03-25CD-4077-9CEA-44D08B1EF6D7}" dt="2025-09-19T21:41:40.398" v="2"/>
        <pc:sldMasterMkLst>
          <pc:docMk/>
          <pc:sldMasterMk cId="4091388224" sldId="2147483661"/>
        </pc:sldMasterMkLst>
        <pc:sldLayoutChg chg="add">
          <pc:chgData name="safwane ben" userId="fe21a884b36ce720" providerId="LiveId" clId="{3C3DAF03-25CD-4077-9CEA-44D08B1EF6D7}" dt="2025-09-19T21:41:40.398" v="2"/>
          <pc:sldLayoutMkLst>
            <pc:docMk/>
            <pc:sldMasterMk cId="4091388224" sldId="2147483661"/>
            <pc:sldLayoutMk cId="2760974179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F5E59-DA01-4F4C-AE2E-E8D4468C0762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D6159-192C-4047-8CDD-BC174FBB47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28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D6159-192C-4047-8CDD-BC174FBB472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7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8695671-17DE-B2A3-0FD6-69F567FD0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8F632ECE-D3EE-3C78-AEAF-BCBB9D8E4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E523F1FB-ACDE-D921-40D5-0EDC1421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42327C89-9F01-8555-6BFF-0E88BBA4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F1765A5F-9D17-B1F7-66B5-8C70046A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86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F60E942-328E-7B4F-DC73-270AF528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53D0A4EC-C9F8-274E-D2A3-0DF990548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EC8FDA2D-AF74-DDF6-B6C2-847C4D97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0AF9608-BDE2-378A-B935-BE322EC4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DDA5CE1-F0BA-B051-D874-B267A84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83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F67D9BB-ACE8-7D92-6709-6A28104E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35BC8781-7F5F-9968-1599-86840FE65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BC09BC9F-149C-2B9F-5EA7-0F0825B2E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09778CF-1F8D-6BF1-ED20-E1CD53F4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F31DE692-0949-4CA7-B529-9274BB39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89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B8D09DC-4801-FC55-9E71-21DEEF32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DFE548C-D4EE-0732-6596-5AE411867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98F62657-8FF5-6832-DF6D-E60122706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A3134ED8-2C1D-216E-E0DF-396B29C8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91E8D3E1-E819-3627-94B7-E3CA271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4F17A15-F441-3195-0CF7-B74FD75B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61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973E3A2-A164-D820-A13D-BE922DD8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3DC2F99A-724C-96AB-51BC-97C91DFC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5E324C4A-7DE6-E767-0687-6DBD2FA9E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673DD6BC-DC9C-9AA6-8836-33A7493D7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67FCCE87-B822-4FFC-36CA-F2DD0BF8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073E0CA4-21A2-E347-5EAE-19884801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B9719DF0-1F42-3D17-E172-89D8F431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6323CC69-4E14-8023-D271-1A6F065E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DF58B1E-5A90-57D7-E28E-6F144026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65CEDF91-9950-7B8A-E5AA-5B864B47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A9C77720-40FC-46F5-BB58-C0298763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28198C03-F85E-5F65-DA94-A92676CD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63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104F92E8-E5D8-1733-C8B7-71EEC0EB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2A588E31-F505-073E-2838-9519C0FA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D0042DDB-64E1-B701-3FB2-269DB884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90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8F847C6-1999-157D-E190-C3E7B09B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472624B-9813-03F4-4FDD-8F75A00DB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A304D8CE-6B0A-7810-EC6C-18F8A3C82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32320539-7C8E-F205-AD40-0AB2EC8C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531A734A-8D1F-550E-9F07-39589F13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25C31AFC-3A27-5B45-FC66-6432C26A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9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DC9BF67-208E-4369-1985-1FD0FC43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29FC6669-B17C-1A39-8149-783ED0C92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6F1A2B23-1899-2833-23B0-64896E557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1FAC5FA1-50F9-A93E-2D76-E2552EF1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610424DC-4B6B-16A9-6C41-6E56A8D3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69DBB10E-CEFD-E350-9868-516C29EC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89C0270-AA6D-9500-A035-1A6BC595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A0D2FAD3-55E4-C066-BBB8-A24CC4ADF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F864C1D-DD1A-22EE-11CA-6D5D1AF5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6784E95-04F4-4523-FF98-32E930B1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F4A6CF71-B8BB-A8E7-5A95-80B5E32E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2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D303A526-5736-0F16-D30B-32CF1CE20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7268C9E0-4D62-66BB-6AC0-CB2BC8C9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7E2241E4-1BF6-EEFD-37B1-14F57E7E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1EA41D1E-86F0-4A3B-C28E-BA7C7E4B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C9C47BE-2F0B-8CFC-72BF-B78E87C8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732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5281"/>
            <a:ext cx="6400800" cy="319024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6540" y="5181601"/>
            <a:ext cx="6400800" cy="695960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3CB9B453-B113-191E-39AE-5F46524E58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1082043"/>
            <a:ext cx="1391920" cy="467195"/>
          </a:xfrm>
        </p:spPr>
        <p:txBody>
          <a:bodyPr anchor="ctr"/>
          <a:lstStyle>
            <a:lvl1pPr marL="120648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7483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EAFD4-E50F-295A-D7A1-83970B18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F4D01AA-7390-4426-75B8-45D202F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A50DD9-A59D-E8B9-12E3-93BE322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3E3E41-3F19-D504-3DD1-ED864EC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2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629392"/>
            <a:ext cx="3581401" cy="2799608"/>
          </a:xfrm>
        </p:spPr>
        <p:txBody>
          <a:bodyPr lIns="91440" anchor="t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1255" y="1068311"/>
            <a:ext cx="5951145" cy="50784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EAFD4-E50F-295A-D7A1-83970B18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F4D01AA-7390-4426-75B8-45D202F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A50DD9-A59D-E8B9-12E3-93BE322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3E3E41-3F19-D504-3DD1-ED864EC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8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629392"/>
            <a:ext cx="3581401" cy="2799608"/>
          </a:xfrm>
        </p:spPr>
        <p:txBody>
          <a:bodyPr lIns="91440" anchor="t"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1255" y="1068311"/>
            <a:ext cx="5951145" cy="50784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92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EAFD4-E50F-295A-D7A1-83970B18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F4D01AA-7390-4426-75B8-45D202F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A50DD9-A59D-E8B9-12E3-93BE322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3E3E41-3F19-D504-3DD1-ED864EC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87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EAFD4-E50F-295A-D7A1-83970B18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F4D01AA-7390-4426-75B8-45D202F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A50DD9-A59D-E8B9-12E3-93BE322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3E3E41-3F19-D504-3DD1-ED864EC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7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37B4FFA3-58AE-DA6C-2268-84745DC09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4ACBB3E-9F8B-FC62-6C34-F05930ADF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3DB71D65-C750-1E05-641F-61953AAE4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45C4-12FE-41BC-B588-9B072D4329E5}" type="datetimeFigureOut">
              <a:rPr lang="fr-FR" smtClean="0"/>
              <a:t>20/09/2025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06961BC-07B4-C48A-DED0-2B9C37B61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3548BDA4-F974-7452-B02B-E028B8773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1BBDD-D682-4132-BD2F-9705A959D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15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616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64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68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12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616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64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68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12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  <p15:guide id="23" orient="horz" pos="1200" userDrawn="1">
          <p15:clr>
            <a:srgbClr val="F26B43"/>
          </p15:clr>
        </p15:guide>
        <p15:guide id="24" orient="horz" pos="312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5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  <p15:guide id="23" orient="horz" pos="1200">
          <p15:clr>
            <a:srgbClr val="F26B43"/>
          </p15:clr>
        </p15:guide>
        <p15:guide id="24" orient="horz" pos="31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8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11.xml"/><Relationship Id="rId9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slideLayout" Target="../slideLayouts/slideLayout15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5.jpeg"/><Relationship Id="rId5" Type="http://schemas.openxmlformats.org/officeDocument/2006/relationships/tags" Target="../tags/tag36.xml"/><Relationship Id="rId10" Type="http://schemas.openxmlformats.org/officeDocument/2006/relationships/image" Target="../media/image4.jpeg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9.png"/><Relationship Id="rId5" Type="http://schemas.openxmlformats.org/officeDocument/2006/relationships/tags" Target="../tags/tag44.xml"/><Relationship Id="rId10" Type="http://schemas.openxmlformats.org/officeDocument/2006/relationships/image" Target="../media/image8.jpeg"/><Relationship Id="rId4" Type="http://schemas.openxmlformats.org/officeDocument/2006/relationships/tags" Target="../tags/tag43.xml"/><Relationship Id="rId9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24E124-D334-7962-D080-4695418A9EC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96270" y="1158780"/>
            <a:ext cx="5600700" cy="1732413"/>
          </a:xfrm>
        </p:spPr>
        <p:txBody>
          <a:bodyPr lIns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dirty="0">
                <a:latin typeface="Century Schoolbook" panose="02040604050505020304" pitchFamily="18" charset="0"/>
              </a:rPr>
              <a:t>Introduction to Cytology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B04F756F-14A4-3FC0-9BC1-A2E8DD45897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855527" y="4393727"/>
            <a:ext cx="3877670" cy="9144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178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>
                <a:latin typeface="Century Schoolbook" panose="02040604050505020304" pitchFamily="18" charset="0"/>
              </a:rPr>
              <a:t>Presented by Dr. Aouati Amel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197" y="1158780"/>
            <a:ext cx="6167651" cy="4491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729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xmlns="" id="{DD0D03F5-F669-D9B8-3E49-356D593494EE}"/>
              </a:ext>
            </a:extLst>
          </p:cNvPr>
          <p:cNvSpPr/>
          <p:nvPr/>
        </p:nvSpPr>
        <p:spPr>
          <a:xfrm>
            <a:off x="4229100" y="228600"/>
            <a:ext cx="7734300" cy="6400800"/>
          </a:xfrm>
          <a:prstGeom prst="roundRect">
            <a:avLst>
              <a:gd name="adj" fmla="val 19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50213" y="582873"/>
            <a:ext cx="3657600" cy="838200"/>
          </a:xfrm>
        </p:spPr>
        <p:txBody>
          <a:bodyPr lIns="0">
            <a:normAutofit/>
          </a:bodyPr>
          <a:lstStyle/>
          <a:p>
            <a:r>
              <a:rPr lang="en-US" dirty="0">
                <a:latin typeface="Century Schoolbook" panose="02040604050505020304" pitchFamily="18" charset="0"/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49567922-F16D-ADA1-AF4D-B5436EAC2F7F}"/>
              </a:ext>
            </a:extLst>
          </p:cNvPr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4760794" y="582873"/>
            <a:ext cx="11684757" cy="5981700"/>
          </a:xfrm>
        </p:spPr>
        <p:txBody>
          <a:bodyPr numCol="2">
            <a:normAutofit/>
          </a:bodyPr>
          <a:lstStyle/>
          <a:p>
            <a:pPr marL="9525" indent="0">
              <a:lnSpc>
                <a:spcPct val="100000"/>
              </a:lnSpc>
              <a:buClr>
                <a:schemeClr val="accent1"/>
              </a:buClr>
              <a:buNone/>
            </a:pPr>
            <a:r>
              <a:rPr lang="en-US" sz="1800" dirty="0">
                <a:latin typeface="Century Schoolbook" panose="02040604050505020304" pitchFamily="18" charset="0"/>
              </a:rPr>
              <a:t>Introduction to Cytology
</a:t>
            </a:r>
            <a:r>
              <a:rPr lang="en-US" sz="1800" dirty="0" smtClean="0">
                <a:latin typeface="Century Schoolbook" panose="02040604050505020304" pitchFamily="18" charset="0"/>
              </a:rPr>
              <a:t>What is cytology ?</a:t>
            </a:r>
          </a:p>
          <a:p>
            <a:pPr marL="11111" indent="0">
              <a:buNone/>
            </a:pPr>
            <a:r>
              <a:rPr lang="en-US" sz="1800" dirty="0" smtClean="0">
                <a:latin typeface="Century Schoolbook" panose="02040604050505020304" pitchFamily="18" charset="0"/>
              </a:rPr>
              <a:t>History </a:t>
            </a:r>
            <a:r>
              <a:rPr lang="en-US" sz="1800" dirty="0">
                <a:latin typeface="Century Schoolbook" panose="02040604050505020304" pitchFamily="18" charset="0"/>
              </a:rPr>
              <a:t>of Cytology
Cell Structure Overview
Types of Cells Studied
</a:t>
            </a:r>
            <a:r>
              <a:rPr lang="fr-FR" sz="1800" dirty="0">
                <a:latin typeface="Century Schoolbook" panose="02040604050505020304" pitchFamily="18" charset="0"/>
              </a:rPr>
              <a:t>General </a:t>
            </a:r>
            <a:r>
              <a:rPr lang="fr-FR" sz="1800" dirty="0" err="1">
                <a:latin typeface="Century Schoolbook" panose="02040604050505020304" pitchFamily="18" charset="0"/>
              </a:rPr>
              <a:t>characteristics</a:t>
            </a:r>
            <a:r>
              <a:rPr lang="fr-FR" sz="1800" dirty="0">
                <a:latin typeface="Century Schoolbook" panose="02040604050505020304" pitchFamily="18" charset="0"/>
              </a:rPr>
              <a:t> </a:t>
            </a:r>
            <a:r>
              <a:rPr lang="fr-FR" sz="1800" dirty="0" smtClean="0">
                <a:latin typeface="Century Schoolbook" panose="02040604050505020304" pitchFamily="18" charset="0"/>
              </a:rPr>
              <a:t>of </a:t>
            </a:r>
            <a:r>
              <a:rPr lang="fr-FR" sz="1800" dirty="0" err="1" smtClean="0">
                <a:latin typeface="Century Schoolbook" panose="02040604050505020304" pitchFamily="18" charset="0"/>
              </a:rPr>
              <a:t>Eukaryotic</a:t>
            </a:r>
            <a:r>
              <a:rPr lang="fr-FR" sz="1800" dirty="0" smtClean="0">
                <a:latin typeface="Century Schoolbook" panose="02040604050505020304" pitchFamily="18" charset="0"/>
              </a:rPr>
              <a:t> </a:t>
            </a:r>
            <a:r>
              <a:rPr lang="fr-FR" sz="1800" dirty="0" err="1">
                <a:latin typeface="Century Schoolbook" panose="02040604050505020304" pitchFamily="18" charset="0"/>
              </a:rPr>
              <a:t>human</a:t>
            </a:r>
            <a:r>
              <a:rPr lang="fr-FR" sz="1800" dirty="0">
                <a:latin typeface="Century Schoolbook" panose="02040604050505020304" pitchFamily="18" charset="0"/>
              </a:rPr>
              <a:t> </a:t>
            </a:r>
            <a:r>
              <a:rPr lang="fr-FR" sz="1800" dirty="0" err="1" smtClean="0">
                <a:latin typeface="Century Schoolbook" panose="02040604050505020304" pitchFamily="18" charset="0"/>
              </a:rPr>
              <a:t>cells</a:t>
            </a:r>
            <a:endParaRPr lang="fr-FR" sz="1800" dirty="0" smtClean="0">
              <a:latin typeface="Century Schoolbook" panose="02040604050505020304" pitchFamily="18" charset="0"/>
            </a:endParaRPr>
          </a:p>
          <a:p>
            <a:pPr marL="11111" indent="0">
              <a:buNone/>
            </a:pPr>
            <a:r>
              <a:rPr lang="fr-FR" sz="1800" dirty="0" smtClean="0">
                <a:latin typeface="Century Schoolbook" panose="02040604050505020304" pitchFamily="18" charset="0"/>
              </a:rPr>
              <a:t>Cellular </a:t>
            </a:r>
            <a:r>
              <a:rPr lang="fr-FR" sz="1800" dirty="0" err="1" smtClean="0">
                <a:latin typeface="Century Schoolbook" panose="02040604050505020304" pitchFamily="18" charset="0"/>
              </a:rPr>
              <a:t>level</a:t>
            </a:r>
            <a:endParaRPr lang="fr-FR" sz="1800" dirty="0" smtClean="0">
              <a:latin typeface="Century Schoolbook" panose="02040604050505020304" pitchFamily="18" charset="0"/>
            </a:endParaRPr>
          </a:p>
          <a:p>
            <a:endParaRPr lang="fr-FR" sz="1800" dirty="0">
              <a:latin typeface="Century Schoolbook" panose="020406040505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530926-5351-1AF7-15F4-9B8C340760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66DC6E8B-3BFF-262A-9B2F-6ECD5A053EB3}"/>
              </a:ext>
            </a:extLst>
          </p:cNvPr>
          <p:cNvSpPr/>
          <p:nvPr/>
        </p:nvSpPr>
        <p:spPr>
          <a:xfrm>
            <a:off x="4229100" y="228600"/>
            <a:ext cx="7734300" cy="6400800"/>
          </a:xfrm>
          <a:prstGeom prst="roundRect">
            <a:avLst>
              <a:gd name="adj" fmla="val 190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1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30858" y="629392"/>
            <a:ext cx="3581401" cy="2799608"/>
          </a:xfrm>
        </p:spPr>
        <p:txBody>
          <a:bodyPr lIns="0">
            <a:normAutofit/>
          </a:bodyPr>
          <a:lstStyle/>
          <a:p>
            <a:pPr>
              <a:lnSpc>
                <a:spcPct val="90000"/>
              </a:lnSpc>
            </a:pPr>
            <a:r>
              <a:rPr lang="en-US" noProof="1">
                <a:latin typeface="Century Schoolbook" panose="02040604050505020304" pitchFamily="18" charset="0"/>
              </a:rPr>
              <a:t>What is Cytology?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xmlns="" id="{E788DD44-AE73-33B6-4635-9B8D5137E60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67500" y="419100"/>
            <a:ext cx="5105400" cy="1866901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14000"/>
              </a:lnSpc>
              <a:spcBef>
                <a:spcPts val="1000"/>
              </a:spcBef>
              <a:buNone/>
            </a:pPr>
            <a:r>
              <a:rPr lang="en-US" sz="1600" noProof="1">
                <a:latin typeface="Century Schoolbook" panose="02040604050505020304" pitchFamily="18" charset="0"/>
              </a:rPr>
              <a:t>Cytology is the branch of biology that studies cells, including their </a:t>
            </a:r>
            <a:r>
              <a:rPr lang="en-US" sz="1600" noProof="1" smtClean="0">
                <a:latin typeface="Century Schoolbook" panose="02040604050505020304" pitchFamily="18" charset="0"/>
              </a:rPr>
              <a:t>structure and function, </a:t>
            </a:r>
            <a:r>
              <a:rPr lang="en-US" sz="1600" noProof="1">
                <a:latin typeface="Century Schoolbook" panose="02040604050505020304" pitchFamily="18" charset="0"/>
              </a:rPr>
              <a:t>to understand their role in living organisms.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xmlns="" id="{F595EC02-957F-FE81-2C9F-5A8C787B445F}"/>
              </a:ext>
            </a:extLst>
          </p:cNvPr>
          <p:cNvSpPr>
            <a:spLocks noGrp="1"/>
          </p:cNvSpPr>
          <p:nvPr>
            <p:ph sz="half" idx="4294967295"/>
            <p:custDataLst>
              <p:tags r:id="rId3"/>
            </p:custDataLst>
          </p:nvPr>
        </p:nvSpPr>
        <p:spPr>
          <a:xfrm>
            <a:off x="6667500" y="2481262"/>
            <a:ext cx="5105400" cy="1866901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14000"/>
              </a:lnSpc>
              <a:spcBef>
                <a:spcPts val="1000"/>
              </a:spcBef>
              <a:buNone/>
            </a:pPr>
            <a:r>
              <a:rPr lang="en-US" noProof="1">
                <a:latin typeface="Century Schoolbook" panose="02040604050505020304" pitchFamily="18" charset="0"/>
              </a:rPr>
              <a:t>It covers the examination of cell morphology, cell cycle, cell activities, and interactions to diagnose diseases and conduct research.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xmlns="" id="{262DC19F-B03F-FD9C-64D4-837E89CE392B}"/>
              </a:ext>
            </a:extLst>
          </p:cNvPr>
          <p:cNvSpPr>
            <a:spLocks noGrp="1"/>
          </p:cNvSpPr>
          <p:nvPr>
            <p:ph sz="half" idx="4294967295"/>
            <p:custDataLst>
              <p:tags r:id="rId4"/>
            </p:custDataLst>
          </p:nvPr>
        </p:nvSpPr>
        <p:spPr>
          <a:xfrm>
            <a:off x="6667500" y="4543425"/>
            <a:ext cx="5105400" cy="1866901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14000"/>
              </a:lnSpc>
              <a:spcBef>
                <a:spcPts val="1000"/>
              </a:spcBef>
              <a:buNone/>
            </a:pPr>
            <a:r>
              <a:rPr lang="en-US" noProof="1">
                <a:latin typeface="Century Schoolbook" panose="02040604050505020304" pitchFamily="18" charset="0"/>
              </a:rPr>
              <a:t>Cytology is crucial for detecting cancer, infections, and genetic disorders through microscopic analysis of cells obtained from tissues or fluids.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6DCE048E-468B-46C2-9D3B-C1E8319AA2F4}"/>
              </a:ext>
            </a:extLst>
          </p:cNvPr>
          <p:cNvSpPr>
            <a:spLocks noGrp="1"/>
          </p:cNvSpPr>
          <p:nvPr>
            <p:ph type="body" idx="4294967295"/>
            <p:custDataLst>
              <p:tags r:id="rId5"/>
            </p:custDataLst>
          </p:nvPr>
        </p:nvSpPr>
        <p:spPr>
          <a:xfrm>
            <a:off x="4772722" y="419099"/>
            <a:ext cx="1773852" cy="186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noProof="1">
                <a:latin typeface="Century Schoolbook" panose="02040604050505020304" pitchFamily="18" charset="0"/>
              </a:rPr>
              <a:t>Definition</a:t>
            </a:r>
            <a:r>
              <a:rPr lang="en-US" b="1" noProof="1">
                <a:latin typeface="Century Schoolbook" panose="02040604050505020304" pitchFamily="18" charset="0"/>
              </a:rPr>
              <a:t> of Cytology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6D62A190-0D55-FEDE-2AE9-DCF41814D4DA}"/>
              </a:ext>
            </a:extLst>
          </p:cNvPr>
          <p:cNvSpPr>
            <a:spLocks noGrp="1"/>
          </p:cNvSpPr>
          <p:nvPr>
            <p:ph type="body" idx="4294967295"/>
            <p:custDataLst>
              <p:tags r:id="rId6"/>
            </p:custDataLst>
          </p:nvPr>
        </p:nvSpPr>
        <p:spPr>
          <a:xfrm>
            <a:off x="4772722" y="2481262"/>
            <a:ext cx="1773852" cy="186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noProof="1">
                <a:latin typeface="Century Schoolbook" panose="02040604050505020304" pitchFamily="18" charset="0"/>
              </a:rPr>
              <a:t>Scope</a:t>
            </a:r>
            <a:r>
              <a:rPr lang="en-US" b="1" noProof="1">
                <a:latin typeface="Century Schoolbook" panose="02040604050505020304" pitchFamily="18" charset="0"/>
              </a:rPr>
              <a:t> of Cytology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04738F25-3596-3DFF-6CD8-E0CC3E33F87A}"/>
              </a:ext>
            </a:extLst>
          </p:cNvPr>
          <p:cNvSpPr>
            <a:spLocks noGrp="1"/>
          </p:cNvSpPr>
          <p:nvPr>
            <p:ph type="body" idx="4294967295"/>
            <p:custDataLst>
              <p:tags r:id="rId7"/>
            </p:custDataLst>
          </p:nvPr>
        </p:nvSpPr>
        <p:spPr>
          <a:xfrm>
            <a:off x="4772722" y="4543425"/>
            <a:ext cx="1773852" cy="186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noProof="1">
                <a:latin typeface="Century Schoolbook" panose="02040604050505020304" pitchFamily="18" charset="0"/>
              </a:rPr>
              <a:t>Importance</a:t>
            </a:r>
            <a:r>
              <a:rPr lang="en-US" b="1" noProof="1">
                <a:latin typeface="Century Schoolbook" panose="02040604050505020304" pitchFamily="18" charset="0"/>
              </a:rPr>
              <a:t> in Medicine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664DFC7-C861-C967-C0CE-7990949D9E4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0" y="1903863"/>
            <a:ext cx="3705931" cy="423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EE1047-556B-D211-4A07-E495B3EC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698440F4-5596-A5A8-0341-B05918A0244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2497" y="118880"/>
            <a:ext cx="4372980" cy="627908"/>
          </a:xfrm>
        </p:spPr>
        <p:txBody>
          <a:bodyPr>
            <a:normAutofit/>
          </a:bodyPr>
          <a:lstStyle/>
          <a:p>
            <a:r>
              <a:rPr lang="en-US" dirty="0">
                <a:latin typeface="Century Schoolbook" panose="02040604050505020304" pitchFamily="18" charset="0"/>
              </a:rPr>
              <a:t>History of Cytology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A6A52F7-0842-F397-D856-F423D4374F7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xmlns="" id="{2EE00F79-6AB2-494E-CF38-244A97BF0EF3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419100" y="3549078"/>
            <a:ext cx="2188721" cy="481325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defPPr>
              <a:defRPr lang="en-US"/>
            </a:defPPr>
            <a:lvl1pPr indent="0" algn="ctr" defTabSz="914354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algn="l"/>
            <a:r>
              <a:rPr lang="en-US" dirty="0"/>
              <a:t>1665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xmlns="" id="{6018A5C1-136F-447C-C29A-BAB6E871548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710370" y="3549078"/>
            <a:ext cx="2188721" cy="481325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defPPr>
              <a:defRPr lang="en-US"/>
            </a:defPPr>
            <a:lvl1pPr indent="0" algn="ctr" defTabSz="914354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algn="l"/>
            <a:r>
              <a:rPr lang="en-US" dirty="0"/>
              <a:t>1838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xmlns="" id="{89D166B6-458D-2DD6-BEBD-0606E9CA4F6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001640" y="3549078"/>
            <a:ext cx="2188721" cy="481325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defPPr>
              <a:defRPr lang="en-US"/>
            </a:defPPr>
            <a:lvl1pPr indent="0" algn="ctr" defTabSz="914354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algn="l"/>
            <a:r>
              <a:rPr lang="en-US" dirty="0"/>
              <a:t>1879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xmlns="" id="{905B8AA6-76D4-CF6D-126C-EC6B7086F93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7292909" y="3549078"/>
            <a:ext cx="2188721" cy="481325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defPPr>
              <a:defRPr lang="en-US"/>
            </a:defPPr>
            <a:lvl1pPr indent="0" algn="ctr" defTabSz="914354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algn="l"/>
            <a:r>
              <a:rPr lang="en-US" dirty="0"/>
              <a:t>1920s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xmlns="" id="{B7008C74-546A-17CB-CA99-2A1F61946BC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9584180" y="3549078"/>
            <a:ext cx="2188721" cy="481325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defPPr>
              <a:defRPr lang="en-US"/>
            </a:defPPr>
            <a:lvl1pPr indent="0" algn="ctr" defTabSz="914354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algn="l"/>
            <a:r>
              <a:rPr lang="en-US" dirty="0"/>
              <a:t>2000s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C4563610-39DE-B3B4-850B-D4E3D95F6453}"/>
              </a:ext>
            </a:extLst>
          </p:cNvPr>
          <p:cNvGrpSpPr/>
          <p:nvPr/>
        </p:nvGrpSpPr>
        <p:grpSpPr>
          <a:xfrm>
            <a:off x="409242" y="2552356"/>
            <a:ext cx="594360" cy="992683"/>
            <a:chOff x="486243" y="1741836"/>
            <a:chExt cx="594360" cy="992683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xmlns="" id="{FBE10282-3836-69A7-9758-63F0A545AA1D}"/>
                </a:ext>
              </a:extLst>
            </p:cNvPr>
            <p:cNvSpPr/>
            <p:nvPr/>
          </p:nvSpPr>
          <p:spPr>
            <a:xfrm>
              <a:off x="486243" y="1741836"/>
              <a:ext cx="594360" cy="594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xmlns="" id="{4E6958E7-6414-8975-B130-32E03C3192B6}"/>
                </a:ext>
              </a:extLst>
            </p:cNvPr>
            <p:cNvCxnSpPr>
              <a:cxnSpLocks/>
            </p:cNvCxnSpPr>
            <p:nvPr/>
          </p:nvCxnSpPr>
          <p:spPr>
            <a:xfrm>
              <a:off x="783423" y="2048719"/>
              <a:ext cx="0" cy="685800"/>
            </a:xfrm>
            <a:prstGeom prst="line">
              <a:avLst/>
            </a:prstGeom>
            <a:ln w="12700">
              <a:solidFill>
                <a:schemeClr val="tx2"/>
              </a:solidFill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71543699-D50E-19E3-38BC-4006443B845D}"/>
              </a:ext>
            </a:extLst>
          </p:cNvPr>
          <p:cNvGrpSpPr/>
          <p:nvPr/>
        </p:nvGrpSpPr>
        <p:grpSpPr>
          <a:xfrm>
            <a:off x="2510341" y="2557304"/>
            <a:ext cx="594360" cy="992683"/>
            <a:chOff x="486243" y="1741836"/>
            <a:chExt cx="594360" cy="99268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xmlns="" id="{C58C53F5-AE10-EC01-16F0-3F6FB5FBA3C7}"/>
                </a:ext>
              </a:extLst>
            </p:cNvPr>
            <p:cNvSpPr/>
            <p:nvPr/>
          </p:nvSpPr>
          <p:spPr>
            <a:xfrm>
              <a:off x="486243" y="1741836"/>
              <a:ext cx="594360" cy="594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xmlns="" id="{9E418FE1-BDA6-32CB-61DA-8AD8B0ACBB50}"/>
                </a:ext>
              </a:extLst>
            </p:cNvPr>
            <p:cNvCxnSpPr>
              <a:cxnSpLocks/>
            </p:cNvCxnSpPr>
            <p:nvPr/>
          </p:nvCxnSpPr>
          <p:spPr>
            <a:xfrm>
              <a:off x="783423" y="2048719"/>
              <a:ext cx="0" cy="685800"/>
            </a:xfrm>
            <a:prstGeom prst="line">
              <a:avLst/>
            </a:prstGeom>
            <a:ln w="12700">
              <a:solidFill>
                <a:schemeClr val="tx2"/>
              </a:solidFill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7626815A-DC24-459A-7992-E6AF484D0806}"/>
              </a:ext>
            </a:extLst>
          </p:cNvPr>
          <p:cNvGrpSpPr/>
          <p:nvPr/>
        </p:nvGrpSpPr>
        <p:grpSpPr>
          <a:xfrm>
            <a:off x="4792081" y="2557304"/>
            <a:ext cx="594360" cy="992683"/>
            <a:chOff x="486243" y="1741836"/>
            <a:chExt cx="594360" cy="992683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xmlns="" id="{CD7ADC97-A905-1D42-257E-41E18AF30AC9}"/>
                </a:ext>
              </a:extLst>
            </p:cNvPr>
            <p:cNvSpPr/>
            <p:nvPr/>
          </p:nvSpPr>
          <p:spPr>
            <a:xfrm>
              <a:off x="486243" y="1741836"/>
              <a:ext cx="594360" cy="594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xmlns="" id="{D3F6B86C-6A75-49B4-0F8E-47C7869E6A51}"/>
                </a:ext>
              </a:extLst>
            </p:cNvPr>
            <p:cNvCxnSpPr>
              <a:cxnSpLocks/>
            </p:cNvCxnSpPr>
            <p:nvPr/>
          </p:nvCxnSpPr>
          <p:spPr>
            <a:xfrm>
              <a:off x="783423" y="2048719"/>
              <a:ext cx="0" cy="685800"/>
            </a:xfrm>
            <a:prstGeom prst="line">
              <a:avLst/>
            </a:prstGeom>
            <a:ln w="12700">
              <a:solidFill>
                <a:schemeClr val="tx2"/>
              </a:solidFill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D4ACE2DE-D62B-A2A5-82C3-F830E4D7B9B1}"/>
              </a:ext>
            </a:extLst>
          </p:cNvPr>
          <p:cNvGrpSpPr/>
          <p:nvPr/>
        </p:nvGrpSpPr>
        <p:grpSpPr>
          <a:xfrm>
            <a:off x="7073821" y="2557304"/>
            <a:ext cx="594360" cy="992683"/>
            <a:chOff x="486243" y="1741836"/>
            <a:chExt cx="594360" cy="992683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EA4B8716-58F0-2BD8-C799-E2677315CAD4}"/>
                </a:ext>
              </a:extLst>
            </p:cNvPr>
            <p:cNvSpPr/>
            <p:nvPr/>
          </p:nvSpPr>
          <p:spPr>
            <a:xfrm>
              <a:off x="486243" y="1741836"/>
              <a:ext cx="594360" cy="594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xmlns="" id="{90B76A39-1151-FEC3-F3E0-F99737F2A954}"/>
                </a:ext>
              </a:extLst>
            </p:cNvPr>
            <p:cNvCxnSpPr>
              <a:cxnSpLocks/>
            </p:cNvCxnSpPr>
            <p:nvPr/>
          </p:nvCxnSpPr>
          <p:spPr>
            <a:xfrm>
              <a:off x="783423" y="2048719"/>
              <a:ext cx="0" cy="685800"/>
            </a:xfrm>
            <a:prstGeom prst="line">
              <a:avLst/>
            </a:prstGeom>
            <a:ln w="12700">
              <a:solidFill>
                <a:schemeClr val="tx2"/>
              </a:solidFill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6F68D0EE-6EA3-44F7-D844-9824F74E43FA}"/>
              </a:ext>
            </a:extLst>
          </p:cNvPr>
          <p:cNvGrpSpPr/>
          <p:nvPr/>
        </p:nvGrpSpPr>
        <p:grpSpPr>
          <a:xfrm>
            <a:off x="9355561" y="2557304"/>
            <a:ext cx="594360" cy="992683"/>
            <a:chOff x="486243" y="1741836"/>
            <a:chExt cx="594360" cy="992683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xmlns="" id="{69B8245C-37F2-0E23-B600-1DE4D937F81F}"/>
                </a:ext>
              </a:extLst>
            </p:cNvPr>
            <p:cNvSpPr/>
            <p:nvPr/>
          </p:nvSpPr>
          <p:spPr>
            <a:xfrm>
              <a:off x="486243" y="1741836"/>
              <a:ext cx="594360" cy="594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91772AA8-1C29-994B-2A6D-A3ED29BC9205}"/>
                </a:ext>
              </a:extLst>
            </p:cNvPr>
            <p:cNvCxnSpPr>
              <a:cxnSpLocks/>
            </p:cNvCxnSpPr>
            <p:nvPr/>
          </p:nvCxnSpPr>
          <p:spPr>
            <a:xfrm>
              <a:off x="783423" y="2048719"/>
              <a:ext cx="0" cy="685800"/>
            </a:xfrm>
            <a:prstGeom prst="line">
              <a:avLst/>
            </a:prstGeom>
            <a:ln w="12700">
              <a:solidFill>
                <a:schemeClr val="tx2"/>
              </a:solidFill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Content Placeholder 9">
            <a:extLst>
              <a:ext uri="{FF2B5EF4-FFF2-40B4-BE49-F238E27FC236}">
                <a16:creationId xmlns:a16="http://schemas.microsoft.com/office/drawing/2014/main" xmlns="" id="{195B6CA9-6C32-5644-34C6-CCC3AF3E0D9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19100" y="4806461"/>
            <a:ext cx="2188721" cy="2051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US"/>
            </a:defPPr>
            <a:lvl1pPr marL="11113" marR="0" lvl="0" indent="0" defTabSz="91435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panose="020B0604020202020204" pitchFamily="34" charset="0"/>
              </a:defRPr>
            </a:lvl1pPr>
            <a:lvl2pPr marL="628635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2pPr>
            <a:lvl3pPr marL="1085824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3pPr>
            <a:lvl4pPr marL="1543012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4pPr>
            <a:lvl5pPr marL="2001789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600" dirty="0">
                <a:latin typeface="Century Schoolbook" panose="02040604050505020304" pitchFamily="18" charset="0"/>
              </a:rPr>
              <a:t>Robert Hooke first described cells by observing cork under a microscope, coining the term 'cell'.</a:t>
            </a:r>
          </a:p>
        </p:txBody>
      </p:sp>
      <p:sp>
        <p:nvSpPr>
          <p:cNvPr id="57" name="Content Placeholder 10">
            <a:extLst>
              <a:ext uri="{FF2B5EF4-FFF2-40B4-BE49-F238E27FC236}">
                <a16:creationId xmlns:a16="http://schemas.microsoft.com/office/drawing/2014/main" xmlns="" id="{5DF5B1C3-89A7-C07A-E47F-025B47916AE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2710370" y="4806461"/>
            <a:ext cx="2188721" cy="2051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US"/>
            </a:defPPr>
            <a:lvl1pPr marL="11113" marR="0" lvl="0" indent="0" defTabSz="91435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panose="020B0604020202020204" pitchFamily="34" charset="0"/>
              </a:defRPr>
            </a:lvl1pPr>
            <a:lvl2pPr marL="628635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2pPr>
            <a:lvl3pPr marL="1085824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3pPr>
            <a:lvl4pPr marL="1543012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4pPr>
            <a:lvl5pPr marL="2001789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600" dirty="0">
                <a:latin typeface="Century Schoolbook" panose="02040604050505020304" pitchFamily="18" charset="0"/>
              </a:rPr>
              <a:t>Matthias </a:t>
            </a:r>
            <a:r>
              <a:rPr lang="en-US" sz="1600" dirty="0" err="1">
                <a:latin typeface="Century Schoolbook" panose="02040604050505020304" pitchFamily="18" charset="0"/>
              </a:rPr>
              <a:t>Schleiden</a:t>
            </a:r>
            <a:r>
              <a:rPr lang="en-US" sz="1600" dirty="0">
                <a:latin typeface="Century Schoolbook" panose="02040604050505020304" pitchFamily="18" charset="0"/>
              </a:rPr>
              <a:t> and Theodor Schwann proposed that all living organisms are composed of cells.</a:t>
            </a:r>
          </a:p>
        </p:txBody>
      </p:sp>
      <p:sp>
        <p:nvSpPr>
          <p:cNvPr id="58" name="Text Placeholder 12">
            <a:extLst>
              <a:ext uri="{FF2B5EF4-FFF2-40B4-BE49-F238E27FC236}">
                <a16:creationId xmlns:a16="http://schemas.microsoft.com/office/drawing/2014/main" xmlns="" id="{91E4AB80-D5ED-CFB6-C963-1F73838ACB8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419100" y="4097891"/>
            <a:ext cx="2188721" cy="59554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2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5000"/>
              </a:lnSpc>
              <a:defRPr/>
            </a:pPr>
            <a:r>
              <a:rPr lang="en-US" sz="1600" dirty="0"/>
              <a:t>Cell </a:t>
            </a:r>
            <a:r>
              <a:rPr lang="en-US" sz="1600" dirty="0">
                <a:latin typeface="Century Schoolbook" panose="02040604050505020304" pitchFamily="18" charset="0"/>
              </a:rPr>
              <a:t>Discovery</a:t>
            </a:r>
          </a:p>
        </p:txBody>
      </p:sp>
      <p:sp>
        <p:nvSpPr>
          <p:cNvPr id="59" name="Text Placeholder 13">
            <a:extLst>
              <a:ext uri="{FF2B5EF4-FFF2-40B4-BE49-F238E27FC236}">
                <a16:creationId xmlns:a16="http://schemas.microsoft.com/office/drawing/2014/main" xmlns="" id="{6AA66F73-1AF4-6624-BA1A-22A705927441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2710370" y="4103042"/>
            <a:ext cx="2188721" cy="59554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2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5000"/>
              </a:lnSpc>
              <a:defRPr/>
            </a:pPr>
            <a:r>
              <a:rPr lang="en-US" sz="1600" dirty="0"/>
              <a:t>Cell Theory Formulated</a:t>
            </a:r>
          </a:p>
        </p:txBody>
      </p:sp>
      <p:sp>
        <p:nvSpPr>
          <p:cNvPr id="60" name="Content Placeholder 11">
            <a:extLst>
              <a:ext uri="{FF2B5EF4-FFF2-40B4-BE49-F238E27FC236}">
                <a16:creationId xmlns:a16="http://schemas.microsoft.com/office/drawing/2014/main" xmlns="" id="{A021F083-F926-ABA0-0C05-91F5D281CB7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5001640" y="4806461"/>
            <a:ext cx="2188721" cy="2051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US"/>
            </a:defPPr>
            <a:lvl1pPr marL="11113" marR="0" lvl="0" indent="0" defTabSz="91435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panose="020B0604020202020204" pitchFamily="34" charset="0"/>
              </a:defRPr>
            </a:lvl1pPr>
            <a:lvl2pPr marL="628635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2pPr>
            <a:lvl3pPr marL="1085824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3pPr>
            <a:lvl4pPr marL="1543012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4pPr>
            <a:lvl5pPr marL="2001789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600" dirty="0">
                <a:latin typeface="Century Schoolbook" panose="02040604050505020304" pitchFamily="18" charset="0"/>
              </a:rPr>
              <a:t>Paul Ehrlich developed staining methods allowing better visualization of cells under the microscope.</a:t>
            </a:r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xmlns="" id="{A9E0C483-D96D-8DC5-7059-CCEEB6F8C45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001640" y="4097891"/>
            <a:ext cx="2188721" cy="595549"/>
          </a:xfrm>
          <a:prstGeom prst="rect">
            <a:avLst/>
          </a:prstGeom>
        </p:spPr>
        <p:txBody>
          <a:bodyPr vert="horz" lIns="0" tIns="45720" rIns="91440" bIns="45720" rtlCol="0" anchor="t">
            <a:normAutofit fontScale="92500"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2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5000"/>
              </a:lnSpc>
              <a:defRPr/>
            </a:pPr>
            <a:r>
              <a:rPr lang="en-US" sz="1600" dirty="0">
                <a:latin typeface="Century Schoolbook" panose="02040604050505020304" pitchFamily="18" charset="0"/>
              </a:rPr>
              <a:t>Staining</a:t>
            </a:r>
            <a:r>
              <a:rPr lang="en-US" sz="1600" dirty="0"/>
              <a:t> Techniques Developed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xmlns="" id="{F1AB8FBE-8CCC-34DF-9C70-DD7FF67842B6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7292909" y="4097891"/>
            <a:ext cx="2188721" cy="59554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2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5000"/>
              </a:lnSpc>
              <a:defRPr/>
            </a:pPr>
            <a:r>
              <a:rPr lang="en-US" sz="1600" dirty="0">
                <a:latin typeface="Century Schoolbook" panose="02040604050505020304" pitchFamily="18" charset="0"/>
              </a:rPr>
              <a:t>Cytology</a:t>
            </a:r>
            <a:r>
              <a:rPr lang="en-US" sz="1600" dirty="0"/>
              <a:t> as a Diagnostic Tool</a:t>
            </a:r>
          </a:p>
        </p:txBody>
      </p:sp>
      <p:sp>
        <p:nvSpPr>
          <p:cNvPr id="64" name="Content Placeholder 1">
            <a:extLst>
              <a:ext uri="{FF2B5EF4-FFF2-40B4-BE49-F238E27FC236}">
                <a16:creationId xmlns:a16="http://schemas.microsoft.com/office/drawing/2014/main" xmlns="" id="{4FA26BC3-C26C-C3C2-1E02-A1513D6CC33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9584180" y="4806461"/>
            <a:ext cx="2188721" cy="2051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US"/>
            </a:defPPr>
            <a:lvl1pPr marL="11113" marR="0" lvl="0" indent="0" defTabSz="91435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panose="020B0604020202020204" pitchFamily="34" charset="0"/>
              </a:defRPr>
            </a:lvl1pPr>
            <a:lvl2pPr marL="628635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2pPr>
            <a:lvl3pPr marL="1085824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3pPr>
            <a:lvl4pPr marL="1543012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4pPr>
            <a:lvl5pPr marL="2001789" indent="-285744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>
                <a:cs typeface="Arial" panose="020B0604020202020204" pitchFamily="34" charset="0"/>
              </a:defRPr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600" dirty="0">
                <a:latin typeface="Century Schoolbook" panose="02040604050505020304" pitchFamily="18" charset="0"/>
              </a:rPr>
              <a:t>Integration of molecular techniques </a:t>
            </a:r>
            <a:r>
              <a:rPr lang="en-US" sz="1600" dirty="0" smtClean="0">
                <a:latin typeface="Century Schoolbook" panose="02040604050505020304" pitchFamily="18" charset="0"/>
              </a:rPr>
              <a:t>enhanced </a:t>
            </a:r>
            <a:r>
              <a:rPr lang="en-US" sz="1600" dirty="0">
                <a:latin typeface="Century Schoolbook" panose="02040604050505020304" pitchFamily="18" charset="0"/>
              </a:rPr>
              <a:t>cell analysis and disease diagnosis.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xmlns="" id="{D5211886-5228-84FD-001A-1A9FDE98114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9584180" y="4097891"/>
            <a:ext cx="2188721" cy="59554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defPPr>
              <a:defRPr lang="en-US"/>
            </a:defPPr>
            <a:lvl1pPr lvl="0" indent="0" defTabSz="914354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latin typeface="+mj-lt"/>
                <a:cs typeface="Arial" panose="020B0604020202020204" pitchFamily="34" charset="0"/>
              </a:defRPr>
            </a:lvl1pPr>
            <a:lvl2pPr marL="457178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>
                <a:cs typeface="Arial" panose="020B0604020202020204" pitchFamily="34" charset="0"/>
              </a:defRPr>
            </a:lvl2pPr>
            <a:lvl3pPr marL="914354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b="1">
                <a:cs typeface="Arial" panose="020B0604020202020204" pitchFamily="34" charset="0"/>
              </a:defRPr>
            </a:lvl3pPr>
            <a:lvl4pPr marL="1371532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4pPr>
            <a:lvl5pPr marL="1828709" indent="0" defTabSz="914354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>
                <a:cs typeface="Arial" panose="020B0604020202020204" pitchFamily="34" charset="0"/>
              </a:defRPr>
            </a:lvl5pPr>
            <a:lvl6pPr marL="2285886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marL="2743062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marL="3200240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marL="3657418" indent="0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r>
              <a:rPr lang="en-US" dirty="0"/>
              <a:t>Molecular Cytology Advances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18"/>
          <a:srcRect t="12024" b="14824"/>
          <a:stretch/>
        </p:blipFill>
        <p:spPr>
          <a:xfrm>
            <a:off x="4790220" y="138335"/>
            <a:ext cx="6913463" cy="226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6">
            <a:extLst>
              <a:ext uri="{FF2B5EF4-FFF2-40B4-BE49-F238E27FC236}">
                <a16:creationId xmlns:a16="http://schemas.microsoft.com/office/drawing/2014/main" xmlns="" id="{6DF12337-A0E6-732F-6F38-D0285BC5637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951" b="9951"/>
          <a:stretch/>
        </p:blipFill>
        <p:spPr>
          <a:xfrm>
            <a:off x="4229100" y="4617720"/>
            <a:ext cx="3767328" cy="2011680"/>
          </a:xfrm>
          <a:prstGeom prst="roundRect">
            <a:avLst>
              <a:gd name="adj" fmla="val 2038"/>
            </a:avLst>
          </a:prstGeom>
        </p:spPr>
      </p:pic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xmlns="" id="{7B84C145-6786-E326-4F18-FD69A976CCA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951" b="9951"/>
          <a:stretch/>
        </p:blipFill>
        <p:spPr>
          <a:xfrm>
            <a:off x="4229100" y="2423160"/>
            <a:ext cx="3767328" cy="2011680"/>
          </a:xfrm>
          <a:prstGeom prst="roundRect">
            <a:avLst>
              <a:gd name="adj" fmla="val 2038"/>
            </a:avLst>
          </a:prstGeom>
        </p:spPr>
      </p:pic>
      <p:pic>
        <p:nvPicPr>
          <p:cNvPr id="9" name="Picture Placeholder 12">
            <a:extLst>
              <a:ext uri="{FF2B5EF4-FFF2-40B4-BE49-F238E27FC236}">
                <a16:creationId xmlns:a16="http://schemas.microsoft.com/office/drawing/2014/main" xmlns="" id="{A9CE2FB7-85D0-E20D-CE40-1458CF4734A3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951" b="9951"/>
          <a:stretch/>
        </p:blipFill>
        <p:spPr>
          <a:xfrm>
            <a:off x="4229100" y="228600"/>
            <a:ext cx="3767328" cy="2011680"/>
          </a:xfrm>
          <a:prstGeom prst="roundRect">
            <a:avLst>
              <a:gd name="adj" fmla="val 2038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B4449C-5303-D6AC-1283-771188148CC0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19100" y="1200368"/>
            <a:ext cx="3581401" cy="2799608"/>
          </a:xfrm>
        </p:spPr>
        <p:txBody>
          <a:bodyPr lIns="0">
            <a:normAutofit/>
          </a:bodyPr>
          <a:lstStyle/>
          <a:p>
            <a:r>
              <a:rPr lang="en-US" noProof="1">
                <a:latin typeface="Century Schoolbook" panose="02040604050505020304" pitchFamily="18" charset="0"/>
              </a:rPr>
              <a:t>Cell Structure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53E918D-8224-6F7D-AC82-4D8457E4041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xmlns="" id="{6159F9D5-47CE-BE89-318F-6AC65817A4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191500" y="228600"/>
            <a:ext cx="3581400" cy="365125"/>
          </a:xfrm>
          <a:prstGeom prst="rect">
            <a:avLst/>
          </a:prstGeom>
        </p:spPr>
        <p:txBody>
          <a:bodyPr vert="horz" lIns="0" tIns="45720" rIns="91440" bIns="45720" rtlCol="0" anchor="ctr">
            <a:normAutofit lnSpcReduction="10000"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b="1" noProof="1">
                <a:solidFill>
                  <a:schemeClr val="accent1"/>
                </a:solidFill>
                <a:latin typeface="+mj-lt"/>
              </a:rPr>
              <a:t>Nucleus - The Control Center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xmlns="" id="{7025B526-3BE1-ECF0-F30D-E28CD95309D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191500" y="2423160"/>
            <a:ext cx="3581400" cy="365125"/>
          </a:xfrm>
          <a:prstGeom prst="rect">
            <a:avLst/>
          </a:prstGeom>
        </p:spPr>
        <p:txBody>
          <a:bodyPr vert="horz" lIns="0" tIns="45720" rIns="91440" bIns="45720" rtlCol="0" anchor="ctr">
            <a:normAutofit lnSpcReduction="10000"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b="1" noProof="1">
                <a:solidFill>
                  <a:schemeClr val="accent1"/>
                </a:solidFill>
                <a:latin typeface="+mj-lt"/>
              </a:rPr>
              <a:t>Cytoplasm - Cellular Matrix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xmlns="" id="{C9C43B36-61D1-2237-668A-85A0D836FDE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191500" y="4863379"/>
            <a:ext cx="3581400" cy="3667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b="1" noProof="1">
                <a:solidFill>
                  <a:schemeClr val="accent1"/>
                </a:solidFill>
                <a:latin typeface="+mj-lt"/>
              </a:rPr>
              <a:t>Cell Membrane - Protective Barrier</a:t>
            </a:r>
          </a:p>
        </p:txBody>
      </p:sp>
    </p:spTree>
    <p:extLst>
      <p:ext uri="{BB962C8B-B14F-4D97-AF65-F5344CB8AC3E}">
        <p14:creationId xmlns:p14="http://schemas.microsoft.com/office/powerpoint/2010/main" val="17069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B4449C-5303-D6AC-1283-771188148CC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9100" y="399891"/>
            <a:ext cx="11353800" cy="627908"/>
          </a:xfrm>
        </p:spPr>
        <p:txBody>
          <a:bodyPr lIns="0">
            <a:normAutofit/>
          </a:bodyPr>
          <a:lstStyle/>
          <a:p>
            <a:r>
              <a:rPr lang="en-US" noProof="1">
                <a:latin typeface="Century Schoolbook" panose="02040604050505020304" pitchFamily="18" charset="0"/>
              </a:rPr>
              <a:t>Types of Cells Studied in Cytology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6120FB6-66B6-6CD1-EC65-EC156167B0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4" name="Picture Placeholder 14">
            <a:extLst>
              <a:ext uri="{FF2B5EF4-FFF2-40B4-BE49-F238E27FC236}">
                <a16:creationId xmlns:a16="http://schemas.microsoft.com/office/drawing/2014/main" xmlns="" id="{90B67089-A135-B1FE-3372-70D1695EC814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3" r="3893"/>
          <a:stretch/>
        </p:blipFill>
        <p:spPr>
          <a:xfrm>
            <a:off x="4260301" y="2058658"/>
            <a:ext cx="3671399" cy="2654302"/>
          </a:xfrm>
          <a:prstGeom prst="roundRect">
            <a:avLst>
              <a:gd name="adj" fmla="val 1903"/>
            </a:avLst>
          </a:prstGeom>
        </p:spPr>
      </p:pic>
      <p:pic>
        <p:nvPicPr>
          <p:cNvPr id="16" name="Picture Placeholder 12">
            <a:extLst>
              <a:ext uri="{FF2B5EF4-FFF2-40B4-BE49-F238E27FC236}">
                <a16:creationId xmlns:a16="http://schemas.microsoft.com/office/drawing/2014/main" xmlns="" id="{16F40DD5-28FB-E157-FD97-8546A7C2AE2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3" b="2553"/>
          <a:stretch/>
        </p:blipFill>
        <p:spPr>
          <a:xfrm>
            <a:off x="405302" y="2058658"/>
            <a:ext cx="3671399" cy="2654302"/>
          </a:xfrm>
          <a:prstGeom prst="roundRect">
            <a:avLst>
              <a:gd name="adj" fmla="val 1903"/>
            </a:avLst>
          </a:prstGeom>
        </p:spPr>
      </p:pic>
      <p:sp>
        <p:nvSpPr>
          <p:cNvPr id="25" name="Text Placeholder 21">
            <a:extLst>
              <a:ext uri="{FF2B5EF4-FFF2-40B4-BE49-F238E27FC236}">
                <a16:creationId xmlns:a16="http://schemas.microsoft.com/office/drawing/2014/main" xmlns="" id="{2046838B-72C5-B9A8-9654-96CA1BA7A6F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374608" y="5029133"/>
            <a:ext cx="3657600" cy="4191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 smtClean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Intestinal</a:t>
            </a:r>
            <a:r>
              <a:rPr kumimoji="0" lang="en-US" sz="1600" b="1" i="0" u="none" strike="noStrike" kern="1200" cap="none" spc="0" normalizeH="0" noProof="1" smtClean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1" smtClean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Cells</a:t>
            </a:r>
            <a:endParaRPr kumimoji="0" lang="en-US" sz="16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xmlns="" id="{DBAE913A-D115-BB41-0839-CE2ECF0F5853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274100" y="5029133"/>
            <a:ext cx="3657600" cy="4191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Blood Cells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xmlns="" id="{FC60E53D-A33F-B91E-6AAF-339D3467E24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432899" y="5029133"/>
            <a:ext cx="3657600" cy="4191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Century Schoolbook" panose="02040604050505020304" pitchFamily="18" charset="0"/>
              </a:rPr>
              <a:t>Epithelial Cells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11"/>
          <a:srcRect b="4988"/>
          <a:stretch/>
        </p:blipFill>
        <p:spPr>
          <a:xfrm>
            <a:off x="8058145" y="2058658"/>
            <a:ext cx="3528804" cy="265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5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59" y="1923908"/>
            <a:ext cx="3221583" cy="271362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241946" y="4926842"/>
            <a:ext cx="165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Stem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endParaRPr lang="fr-FR" b="1" dirty="0">
              <a:latin typeface="Century Schoolbook" panose="020406040505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333" y="1692322"/>
            <a:ext cx="3603721" cy="2945214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694830" y="4926842"/>
            <a:ext cx="196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latin typeface="Century Schoolbook" panose="02040604050505020304" pitchFamily="18" charset="0"/>
              </a:rPr>
              <a:t>Bone</a:t>
            </a:r>
            <a:r>
              <a:rPr lang="fr-FR" b="1" dirty="0" smtClean="0">
                <a:latin typeface="Century Schoolbook" panose="02040604050505020304" pitchFamily="18" charset="0"/>
              </a:rPr>
              <a:t>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endParaRPr lang="fr-FR" b="1" dirty="0">
              <a:latin typeface="Century Schoolbook" panose="020406040505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945" y="2003092"/>
            <a:ext cx="3358061" cy="2634444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625386" y="4926842"/>
            <a:ext cx="173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Muscle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endParaRPr lang="fr-FR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0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83" y="1825672"/>
            <a:ext cx="3371708" cy="2828214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941696" y="4899546"/>
            <a:ext cx="207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Fat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r>
              <a:rPr lang="fr-FR" b="1" dirty="0" smtClean="0">
                <a:latin typeface="Century Schoolbook" panose="02040604050505020304" pitchFamily="18" charset="0"/>
              </a:rPr>
              <a:t> </a:t>
            </a:r>
            <a:endParaRPr lang="fr-FR" b="1" dirty="0">
              <a:latin typeface="Century Schoolbook" panose="020406040505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914" y="1624084"/>
            <a:ext cx="3712901" cy="302980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421875" y="4899546"/>
            <a:ext cx="221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Nerve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endParaRPr lang="fr-FR" b="1" dirty="0">
              <a:latin typeface="Century Schoolbook" panose="020406040505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938" y="1825672"/>
            <a:ext cx="3679137" cy="2828214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393374" y="4899546"/>
            <a:ext cx="2770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latin typeface="Century Schoolbook" panose="02040604050505020304" pitchFamily="18" charset="0"/>
              </a:rPr>
              <a:t>Endothelial</a:t>
            </a:r>
            <a:r>
              <a:rPr lang="fr-FR" b="1" dirty="0" smtClean="0">
                <a:latin typeface="Century Schoolbook" panose="02040604050505020304" pitchFamily="18" charset="0"/>
              </a:rPr>
              <a:t> </a:t>
            </a:r>
            <a:r>
              <a:rPr lang="fr-FR" b="1" dirty="0" err="1" smtClean="0">
                <a:latin typeface="Century Schoolbook" panose="02040604050505020304" pitchFamily="18" charset="0"/>
              </a:rPr>
              <a:t>Cell</a:t>
            </a:r>
            <a:endParaRPr lang="fr-FR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46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47" y="1025361"/>
            <a:ext cx="8345493" cy="268659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9" y="3913020"/>
            <a:ext cx="8509571" cy="261061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04966" y="362635"/>
            <a:ext cx="896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latin typeface="Century Schoolbook" panose="02040604050505020304" pitchFamily="18" charset="0"/>
              </a:rPr>
              <a:t>General </a:t>
            </a:r>
            <a:r>
              <a:rPr lang="fr-FR" sz="2400" b="1" dirty="0" err="1" smtClean="0">
                <a:latin typeface="Century Schoolbook" panose="02040604050505020304" pitchFamily="18" charset="0"/>
              </a:rPr>
              <a:t>characteristics</a:t>
            </a:r>
            <a:r>
              <a:rPr lang="fr-FR" sz="2400" b="1" dirty="0" smtClean="0">
                <a:latin typeface="Century Schoolbook" panose="02040604050505020304" pitchFamily="18" charset="0"/>
              </a:rPr>
              <a:t> of </a:t>
            </a:r>
            <a:r>
              <a:rPr lang="fr-FR" sz="2400" b="1" dirty="0" err="1" smtClean="0">
                <a:latin typeface="Century Schoolbook" panose="02040604050505020304" pitchFamily="18" charset="0"/>
              </a:rPr>
              <a:t>Eukaryotic</a:t>
            </a:r>
            <a:r>
              <a:rPr lang="fr-FR" sz="2400" b="1" dirty="0" smtClean="0">
                <a:latin typeface="Century Schoolbook" panose="02040604050505020304" pitchFamily="18" charset="0"/>
              </a:rPr>
              <a:t> </a:t>
            </a:r>
            <a:r>
              <a:rPr lang="fr-FR" sz="2400" b="1" dirty="0" err="1">
                <a:latin typeface="Century Schoolbook" panose="02040604050505020304" pitchFamily="18" charset="0"/>
              </a:rPr>
              <a:t>h</a:t>
            </a:r>
            <a:r>
              <a:rPr lang="fr-FR" sz="2400" b="1" dirty="0" err="1" smtClean="0">
                <a:latin typeface="Century Schoolbook" panose="02040604050505020304" pitchFamily="18" charset="0"/>
              </a:rPr>
              <a:t>uman</a:t>
            </a:r>
            <a:r>
              <a:rPr lang="fr-FR" sz="2400" b="1" dirty="0" smtClean="0">
                <a:latin typeface="Century Schoolbook" panose="02040604050505020304" pitchFamily="18" charset="0"/>
              </a:rPr>
              <a:t> </a:t>
            </a:r>
            <a:r>
              <a:rPr lang="fr-FR" sz="2400" b="1" dirty="0" err="1" smtClean="0">
                <a:latin typeface="Century Schoolbook" panose="02040604050505020304" pitchFamily="18" charset="0"/>
              </a:rPr>
              <a:t>cells</a:t>
            </a:r>
            <a:endParaRPr lang="fr-FR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14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8F51327-D59E-B20E-85A9-6BD6CF8A24AF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02" y="618500"/>
            <a:ext cx="10945504" cy="56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3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58FF05-78A1-EEAA-0A52-AD3FC994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xmlns="" id="{F0427AB3-584E-AB41-39F6-E931EDFF3B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55" r="8555"/>
          <a:stretch/>
        </p:blipFill>
        <p:spPr>
          <a:xfrm>
            <a:off x="228599" y="228600"/>
            <a:ext cx="3771901" cy="6067425"/>
          </a:xfrm>
          <a:prstGeom prst="roundRect">
            <a:avLst>
              <a:gd name="adj" fmla="val 2476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A04CA22-789A-346D-15B1-14853C09A7E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6"/>
          <a:srcRect t="22967"/>
          <a:stretch/>
        </p:blipFill>
        <p:spPr>
          <a:xfrm>
            <a:off x="4437216" y="1965278"/>
            <a:ext cx="7754784" cy="1798694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5500048" y="968992"/>
            <a:ext cx="487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atin typeface="Century Schoolbook" panose="02040604050505020304" pitchFamily="18" charset="0"/>
              </a:rPr>
              <a:t>Science </a:t>
            </a:r>
            <a:r>
              <a:rPr lang="fr-FR" sz="3200" b="1" dirty="0">
                <a:latin typeface="Century Schoolbook" panose="02040604050505020304" pitchFamily="18" charset="0"/>
              </a:rPr>
              <a:t>books </a:t>
            </a:r>
            <a:r>
              <a:rPr lang="fr-FR" sz="3200" b="1" dirty="0" err="1">
                <a:latin typeface="Century Schoolbook" panose="02040604050505020304" pitchFamily="18" charset="0"/>
              </a:rPr>
              <a:t>used</a:t>
            </a:r>
            <a:endParaRPr lang="fr-FR" sz="3200" b="1" dirty="0">
              <a:latin typeface="Century Schoolbook" panose="020406040505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44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EMPLATE" val="d1e65e54-753c-4368-946b-ddb430583b0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title"/>
  <p:tag name="PLUS_THEME" val="font_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sub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_stat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agenda"/>
  <p:tag name="PLUS_THEME" val="font_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year_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year_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year_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year_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year_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7E7CF0"/>
      </a:accent2>
      <a:accent3>
        <a:srgbClr val="FF794F"/>
      </a:accent3>
      <a:accent4>
        <a:srgbClr val="FFD90F"/>
      </a:accent4>
      <a:accent5>
        <a:srgbClr val="41A977"/>
      </a:accent5>
      <a:accent6>
        <a:srgbClr val="DD4D40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  <wetp:taskpane dockstate="right" visibility="0" width="525" row="1">
    <wetp:webextensionref xmlns:r="http://schemas.openxmlformats.org/officeDocument/2006/relationships" r:id="rId3"/>
  </wetp:taskpane>
  <wetp:taskpane dockstate="right" visibility="0" width="525" row="3">
    <wetp:webextensionref xmlns:r="http://schemas.openxmlformats.org/officeDocument/2006/relationships" r:id="rId4"/>
  </wetp:taskpane>
  <wetp:taskpane dockstate="right" visibility="0" width="525" row="4">
    <wetp:webextensionref xmlns:r="http://schemas.openxmlformats.org/officeDocument/2006/relationships" r:id="rId5"/>
  </wetp:taskpane>
</wetp:taskpanes>
</file>

<file path=ppt/webextensions/webextension1.xml><?xml version="1.0" encoding="utf-8"?>
<we:webextension xmlns:we="http://schemas.microsoft.com/office/webextensions/webextension/2010/11" id="{D3E20AA6-5181-4C98-B296-D6ADA1BDFA59}">
  <we:reference id="wa200005669" version="2.0.0.0" store="fr-F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A0B3A71-5C41-43D7-88D7-A5A2BF3DA5E7}">
  <we:reference id="wa200003964" version="1.0.0.0" store="fr-FR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EFE437E-9471-4ADF-A00C-323F4E5BD743}">
  <we:reference id="wa200005566" version="3.0.0.3" store="fr-FR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5F6A47B8-84DF-4336-9039-39CA46013605}">
  <we:reference id="wa200006000" version="1.2.1.0" store="fr-FR" storeType="OMEX"/>
  <we:alternateReferences>
    <we:reference id="WA200006000" version="1.2.1.0" store="WA200006000" storeType="OMEX"/>
  </we:alternateReferences>
  <we:properties>
    <we:property name="document_UID" value="&quot;95c0ec5a-fbfd-478f-b97b-c5d847ae5ff9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9CB47CEC-82F4-42DB-B0D2-C42A9A8A683A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230</Words>
  <Application>Microsoft Office PowerPoint</Application>
  <PresentationFormat>Grand écran</PresentationFormat>
  <Paragraphs>46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8</vt:i4>
      </vt:variant>
      <vt:variant>
        <vt:lpstr>Titres des diapositives</vt:lpstr>
      </vt:variant>
      <vt:variant>
        <vt:i4>11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Century Schoolbook</vt:lpstr>
      <vt:lpstr>Franklin Gothic Book</vt:lpstr>
      <vt:lpstr>Thème Office</vt:lpstr>
      <vt:lpstr>Plus Default 2025</vt:lpstr>
      <vt:lpstr>Plus Default 2025</vt:lpstr>
      <vt:lpstr>Plus Default 2025</vt:lpstr>
      <vt:lpstr>Plus Default 2025</vt:lpstr>
      <vt:lpstr>Plus Default 2025</vt:lpstr>
      <vt:lpstr>Plus Default 2025</vt:lpstr>
      <vt:lpstr>Plus Default 2025</vt:lpstr>
      <vt:lpstr>Introduction to Cytology</vt:lpstr>
      <vt:lpstr>Agenda</vt:lpstr>
      <vt:lpstr>What is Cytology?</vt:lpstr>
      <vt:lpstr>History of Cytology</vt:lpstr>
      <vt:lpstr>Cell Structure Overview</vt:lpstr>
      <vt:lpstr>Types of Cells Studied in Cytology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Cytology</dc:title>
  <dc:creator>safwane ben</dc:creator>
  <cp:lastModifiedBy>Amel</cp:lastModifiedBy>
  <cp:revision>17</cp:revision>
  <dcterms:created xsi:type="dcterms:W3CDTF">2025-09-19T21:25:34Z</dcterms:created>
  <dcterms:modified xsi:type="dcterms:W3CDTF">2025-09-20T22:01:12Z</dcterms:modified>
</cp:coreProperties>
</file>