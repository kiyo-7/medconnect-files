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4"/>
  </p:notesMasterIdLst>
  <p:sldIdLst>
    <p:sldId id="269" r:id="rId3"/>
    <p:sldId id="273" r:id="rId4"/>
    <p:sldId id="272" r:id="rId5"/>
    <p:sldId id="276" r:id="rId6"/>
    <p:sldId id="277" r:id="rId7"/>
    <p:sldId id="278" r:id="rId8"/>
    <p:sldId id="302" r:id="rId9"/>
    <p:sldId id="316" r:id="rId10"/>
    <p:sldId id="267" r:id="rId11"/>
    <p:sldId id="294" r:id="rId12"/>
    <p:sldId id="295" r:id="rId13"/>
    <p:sldId id="296" r:id="rId14"/>
    <p:sldId id="270" r:id="rId15"/>
    <p:sldId id="299" r:id="rId16"/>
    <p:sldId id="300" r:id="rId17"/>
    <p:sldId id="309" r:id="rId18"/>
    <p:sldId id="310" r:id="rId19"/>
    <p:sldId id="311" r:id="rId20"/>
    <p:sldId id="312" r:id="rId21"/>
    <p:sldId id="314" r:id="rId22"/>
    <p:sldId id="313" r:id="rId23"/>
    <p:sldId id="301" r:id="rId24"/>
    <p:sldId id="286" r:id="rId25"/>
    <p:sldId id="304" r:id="rId26"/>
    <p:sldId id="306" r:id="rId27"/>
    <p:sldId id="305" r:id="rId28"/>
    <p:sldId id="307" r:id="rId29"/>
    <p:sldId id="293" r:id="rId30"/>
    <p:sldId id="308" r:id="rId31"/>
    <p:sldId id="261" r:id="rId32"/>
    <p:sldId id="303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CECFF"/>
    <a:srgbClr val="FFFEFB"/>
    <a:srgbClr val="FEFBF0"/>
    <a:srgbClr val="FDF8E3"/>
    <a:srgbClr val="ACC1EA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43" autoAdjust="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DC7D-1EE3-4917-BE9F-7DF00AE1B6EC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4F156-BE22-4BEA-8523-90F6BA2092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216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4F156-BE22-4BEA-8523-90F6BA2092AB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8677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248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34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283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2051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69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211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24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7225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4642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14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748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76484" y="4437064"/>
            <a:ext cx="4993216" cy="1150937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ru-RU" noProof="0" smtClean="0"/>
              <a:t>Click to edit Master title style</a:t>
            </a:r>
            <a:endParaRPr lang="ru-RU" altLang="ru-RU" noProof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76484" y="5624514"/>
            <a:ext cx="4993216" cy="503237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ru-RU" noProof="0" smtClean="0"/>
              <a:t>Click to edit Master subtitle style</a:t>
            </a:r>
            <a:endParaRPr lang="ru-RU" altLang="ru-RU" noProof="0" smtClean="0"/>
          </a:p>
        </p:txBody>
      </p:sp>
    </p:spTree>
    <p:extLst>
      <p:ext uri="{BB962C8B-B14F-4D97-AF65-F5344CB8AC3E}">
        <p14:creationId xmlns:p14="http://schemas.microsoft.com/office/powerpoint/2010/main" val="2881655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5D32B8-7FBA-4EB8-B66A-0D9426E7F792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54B603-2A7D-422D-A142-97AB178630AF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957783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8AF056-1F1B-4E70-8A50-B87845E5C77B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5277FE-53D7-42B5-9280-8A49180C2E8D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777541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2276476"/>
            <a:ext cx="5369983" cy="3889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76476"/>
            <a:ext cx="5369984" cy="3889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7B1908-5F2C-4709-9BC8-E78C6A1872EE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C46064-F6E5-4981-91AF-9A659AA35423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164254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216A27-959D-4A54-B205-96EC3FB6FB40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2FB8A-7230-4128-9CCF-41D88EB2FE01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515483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B6BD73-A656-44C5-AE0B-06C7EDDACB70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A246F-0F5C-4E6D-B2A1-6E702907B516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308563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A446B9-F4ED-4B35-B51C-278C610D3729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F7EF5-BBAD-4398-B91B-9F2F21EAC406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997034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03CA19-8910-4831-BB5D-8CAB08ECA28D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D25BC0-3945-4073-B8B6-55A9A6BA8FB1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843336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0A623F-FD1F-4ADD-873E-D6AE2E38AAF5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BD478A-6B73-4BD0-B1E7-6C37E314EA0B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5921512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9EC1AE4-3DF2-46C7-942C-5385E11BD851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F39E1-E2C9-415F-B6FA-CCFB72AA4597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547607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2851" y="260350"/>
            <a:ext cx="2734733" cy="59055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4418" y="260350"/>
            <a:ext cx="8005233" cy="59055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CE8FDA-1B3B-4DFC-9117-21CD548FC7F4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5FACD-14EC-4A74-9364-8F73588135D3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77837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46F07-BA63-4E7E-AE2A-C4361EE111E8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8CAF7-B2B6-4AF0-8942-3D2256EFA9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58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4418" y="260350"/>
            <a:ext cx="10943167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 smtClean="0"/>
              <a:t>Click to edit Master title style</a:t>
            </a:r>
            <a:endParaRPr lang="ru-RU" altLang="ru-RU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8" y="2276476"/>
            <a:ext cx="10943167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 smtClean="0"/>
              <a:t>Click to edit Master text styles</a:t>
            </a:r>
          </a:p>
          <a:p>
            <a:pPr lvl="1"/>
            <a:r>
              <a:rPr lang="en-US" altLang="ru-RU" smtClean="0"/>
              <a:t>Second level</a:t>
            </a:r>
          </a:p>
          <a:p>
            <a:pPr lvl="2"/>
            <a:r>
              <a:rPr lang="en-US" altLang="ru-RU" smtClean="0"/>
              <a:t>Third level</a:t>
            </a:r>
          </a:p>
          <a:p>
            <a:pPr lvl="3"/>
            <a:r>
              <a:rPr lang="en-US" altLang="ru-RU" smtClean="0"/>
              <a:t>Fourth level</a:t>
            </a:r>
          </a:p>
          <a:p>
            <a:pPr lvl="4"/>
            <a:r>
              <a:rPr lang="en-US" altLang="ru-RU" smtClean="0"/>
              <a:t>Fifth level</a:t>
            </a:r>
            <a:endParaRPr lang="ru-RU" altLang="ru-RU" smtClean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9"/>
            <a:ext cx="28448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solidFill>
                  <a:schemeClr val="bg1"/>
                </a:solidFill>
                <a:latin typeface="+mn-lt"/>
              </a:defRPr>
            </a:lvl1pPr>
          </a:lstStyle>
          <a:p>
            <a:fld id="{7C11EDF5-29D7-4A81-8CE2-5F57960EA17D}" type="datetime1">
              <a:rPr lang="en-US" altLang="ru-RU"/>
              <a:pPr/>
              <a:t>11/1/2025</a:t>
            </a:fld>
            <a:endParaRPr lang="en-GB" altLang="ru-RU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189"/>
            <a:ext cx="38608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53189"/>
            <a:ext cx="28448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chemeClr val="bg1"/>
                </a:solidFill>
                <a:latin typeface="+mn-lt"/>
              </a:defRPr>
            </a:lvl1pPr>
          </a:lstStyle>
          <a:p>
            <a:fld id="{8970B71F-7A0A-4F0C-A49C-3A06ADE6CAF2}" type="slidenum">
              <a:rPr lang="en-GB" altLang="ru-RU"/>
              <a:pPr/>
              <a:t>‹N°›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671051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Georgia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Georgia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Georgia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Georgia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Georgia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Georgia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Georgia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Georgia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23014" y="1399308"/>
            <a:ext cx="8539090" cy="1731270"/>
          </a:xfrm>
        </p:spPr>
        <p:txBody>
          <a:bodyPr/>
          <a:lstStyle/>
          <a:p>
            <a:pPr algn="ctr"/>
            <a:r>
              <a:rPr lang="fr-FR" sz="5400" dirty="0" smtClean="0">
                <a:solidFill>
                  <a:schemeClr val="bg1"/>
                </a:solidFill>
              </a:rPr>
              <a:t>VIRAL REPLICATION</a:t>
            </a:r>
            <a:endParaRPr lang="fr-FR" sz="5400" dirty="0">
              <a:solidFill>
                <a:schemeClr val="bg1"/>
              </a:solidFill>
            </a:endParaRPr>
          </a:p>
        </p:txBody>
      </p:sp>
      <p:sp>
        <p:nvSpPr>
          <p:cNvPr id="4" name="AutoShape 4" descr="Résultat de recherche d'images pour &quot;le virus du HIV&quot;"/>
          <p:cNvSpPr>
            <a:spLocks noChangeAspect="1" noChangeArrowheads="1"/>
          </p:cNvSpPr>
          <p:nvPr/>
        </p:nvSpPr>
        <p:spPr bwMode="auto">
          <a:xfrm>
            <a:off x="2563091" y="0"/>
            <a:ext cx="6386945" cy="1025236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ar-DZ" sz="4400" dirty="0">
                <a:solidFill>
                  <a:schemeClr val="bg1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{بِسْمِ اللَّهِ الرَّحْمَنِ الرَّحِيمِ}</a:t>
            </a:r>
            <a:br>
              <a:rPr lang="ar-DZ" sz="4400" dirty="0">
                <a:solidFill>
                  <a:schemeClr val="bg1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</a:br>
            <a:endParaRPr lang="fr-FR" altLang="fr-FR" sz="4400" dirty="0">
              <a:solidFill>
                <a:schemeClr val="bg1"/>
              </a:solidFill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4951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603-2A7D-422D-A142-97AB178630AF}" type="slidenum">
              <a:rPr lang="en-GB" altLang="ru-RU" smtClean="0"/>
              <a:pPr/>
              <a:t>2</a:t>
            </a:fld>
            <a:endParaRPr lang="en-GB" altLang="ru-RU"/>
          </a:p>
        </p:txBody>
      </p:sp>
      <p:sp>
        <p:nvSpPr>
          <p:cNvPr id="7" name="Rectangle 6"/>
          <p:cNvSpPr/>
          <p:nvPr/>
        </p:nvSpPr>
        <p:spPr bwMode="auto">
          <a:xfrm>
            <a:off x="2332314" y="276537"/>
            <a:ext cx="5381897" cy="86214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000" b="1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Lesson plan</a:t>
            </a:r>
            <a:endParaRPr kumimoji="0" lang="fr-FR" sz="4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06974" y="1482150"/>
            <a:ext cx="5264333" cy="697721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1-</a:t>
            </a:r>
            <a:r>
              <a:rPr kumimoji="0" lang="fr-FR" sz="3200" b="1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Introduction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306974" y="2523336"/>
            <a:ext cx="7334796" cy="794622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2- Steps of viral replication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312913" y="3533516"/>
            <a:ext cx="9052760" cy="718421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200" b="1" dirty="0" smtClean="0">
                <a:solidFill>
                  <a:schemeClr val="bg1"/>
                </a:solidFill>
                <a:latin typeface="Arial" charset="0"/>
              </a:rPr>
              <a:t>A- Early steps (Attachment, entry, uncoating) 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12913" y="4546809"/>
            <a:ext cx="8373293" cy="679126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B- </a:t>
            </a:r>
            <a:r>
              <a:rPr lang="fr-FR" sz="3200" b="1" dirty="0" smtClean="0">
                <a:solidFill>
                  <a:schemeClr val="bg1"/>
                </a:solidFill>
                <a:latin typeface="Arial" charset="0"/>
              </a:rPr>
              <a:t>Viral replication 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12913" y="5414895"/>
            <a:ext cx="11601996" cy="86214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C- Late step (Assembly and release)</a:t>
            </a:r>
          </a:p>
        </p:txBody>
      </p:sp>
    </p:spTree>
    <p:extLst>
      <p:ext uri="{BB962C8B-B14F-4D97-AF65-F5344CB8AC3E}">
        <p14:creationId xmlns:p14="http://schemas.microsoft.com/office/powerpoint/2010/main" val="209333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Designed by PoweredTemplate.com</a:t>
            </a:r>
            <a:endParaRPr kumimoji="0" lang="en-GB" altLang="ru-RU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4A246F-0F5C-4E6D-B2A1-6E702907B516}" type="slidenum">
              <a:rPr kumimoji="0" lang="en-GB" alt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altLang="ru-RU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10114671" y="5627077"/>
            <a:ext cx="82999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Rectangle 5"/>
          <p:cNvSpPr/>
          <p:nvPr/>
        </p:nvSpPr>
        <p:spPr>
          <a:xfrm>
            <a:off x="76702" y="157503"/>
            <a:ext cx="12038596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 smtClean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To 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multiply, </a:t>
            </a:r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viruses 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must infect living cells </a:t>
            </a:r>
            <a:endParaRPr lang="en-US" sz="4000" dirty="0" smtClean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(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obligate </a:t>
            </a:r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intracellular parasites)</a:t>
            </a:r>
          </a:p>
          <a:p>
            <a:endParaRPr lang="fr-FR" sz="4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/>
                </a:solidFill>
              </a:rPr>
              <a:t>Viral </a:t>
            </a:r>
            <a:r>
              <a:rPr lang="en-US" sz="4000" dirty="0" smtClean="0">
                <a:solidFill>
                  <a:schemeClr val="bg1"/>
                </a:solidFill>
              </a:rPr>
              <a:t>replication </a:t>
            </a:r>
            <a:r>
              <a:rPr lang="en-US" sz="4000" dirty="0">
                <a:solidFill>
                  <a:schemeClr val="bg1"/>
                </a:solidFill>
              </a:rPr>
              <a:t>is a complex process during which the virus hijacks the cellular machinery to its own advantage</a:t>
            </a:r>
            <a:r>
              <a:rPr lang="en-US" sz="4000" dirty="0" smtClean="0">
                <a:solidFill>
                  <a:schemeClr val="bg1"/>
                </a:solidFill>
              </a:rPr>
              <a:t>.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/>
                </a:solidFill>
              </a:rPr>
              <a:t>To develop antiviral </a:t>
            </a:r>
            <a:r>
              <a:rPr lang="en-US" sz="4000" dirty="0" smtClean="0">
                <a:solidFill>
                  <a:schemeClr val="bg1"/>
                </a:solidFill>
              </a:rPr>
              <a:t>treatments</a:t>
            </a:r>
            <a:r>
              <a:rPr lang="en-US" sz="4000" dirty="0">
                <a:solidFill>
                  <a:schemeClr val="bg1"/>
                </a:solidFill>
              </a:rPr>
              <a:t>, it is crucial to understand the </a:t>
            </a:r>
            <a:r>
              <a:rPr lang="en-US" sz="4000" dirty="0" smtClean="0">
                <a:solidFill>
                  <a:schemeClr val="bg1"/>
                </a:solidFill>
              </a:rPr>
              <a:t>steps </a:t>
            </a:r>
            <a:r>
              <a:rPr lang="en-US" sz="4000" dirty="0">
                <a:solidFill>
                  <a:schemeClr val="bg1"/>
                </a:solidFill>
              </a:rPr>
              <a:t>of viral </a:t>
            </a:r>
            <a:r>
              <a:rPr lang="en-US" sz="4000" dirty="0" smtClean="0">
                <a:solidFill>
                  <a:schemeClr val="bg1"/>
                </a:solidFill>
              </a:rPr>
              <a:t>replication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  <a:endParaRPr lang="en-US" sz="4000" dirty="0" smtClean="0">
              <a:solidFill>
                <a:schemeClr val="bg1"/>
              </a:solidFill>
            </a:endParaRPr>
          </a:p>
          <a:p>
            <a:endParaRPr lang="en-US" sz="4000" dirty="0" smtClean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425336" y="6777"/>
            <a:ext cx="5007429" cy="718456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4000" b="1" dirty="0" smtClean="0">
                <a:solidFill>
                  <a:schemeClr val="bg1"/>
                </a:solidFill>
                <a:latin typeface="Arial" charset="0"/>
              </a:rPr>
              <a:t>Introduction </a:t>
            </a:r>
            <a:endParaRPr kumimoji="0" lang="fr-FR" sz="4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9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BD73-A656-44C5-AE0B-06C7EDDACB70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246F-0F5C-4E6D-B2A1-6E702907B516}" type="slidenum">
              <a:rPr lang="en-GB" altLang="ru-RU" smtClean="0"/>
              <a:pPr/>
              <a:t>4</a:t>
            </a:fld>
            <a:endParaRPr lang="en-GB" altLang="ru-RU"/>
          </a:p>
        </p:txBody>
      </p:sp>
      <p:sp>
        <p:nvSpPr>
          <p:cNvPr id="18" name="Rectangle 17"/>
          <p:cNvSpPr/>
          <p:nvPr/>
        </p:nvSpPr>
        <p:spPr bwMode="auto">
          <a:xfrm>
            <a:off x="9667239" y="757646"/>
            <a:ext cx="2545943" cy="9070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0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0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1- Attachement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9667239" y="1779576"/>
            <a:ext cx="2513150" cy="75461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0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2- Entry (</a:t>
            </a:r>
            <a:r>
              <a:rPr lang="fr-FR" sz="2000" b="1" dirty="0" smtClean="0">
                <a:solidFill>
                  <a:schemeClr val="tx2"/>
                </a:solidFill>
                <a:latin typeface="Arial" charset="0"/>
              </a:rPr>
              <a:t>Penetration)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653812" y="2649075"/>
            <a:ext cx="2448560" cy="8203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Arial" charset="0"/>
              </a:rPr>
              <a:t>     </a:t>
            </a: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3- Uncoating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 smtClean="0">
                <a:solidFill>
                  <a:schemeClr val="tx2"/>
                </a:solidFill>
                <a:latin typeface="Arial" charset="0"/>
              </a:rPr>
              <a:t>      (Decapsidation)</a:t>
            </a:r>
            <a:r>
              <a:rPr kumimoji="0" lang="fr-FR" sz="1800" b="1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 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9653812" y="3591157"/>
            <a:ext cx="2448560" cy="80171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Arial" charset="0"/>
              </a:rPr>
              <a:t>  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Arial" charset="0"/>
              </a:rPr>
              <a:t>    4- Replication 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9594680" y="4561445"/>
            <a:ext cx="2526199" cy="73429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5- Assembly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 smtClean="0">
                <a:solidFill>
                  <a:schemeClr val="tx2"/>
                </a:solidFill>
                <a:latin typeface="Arial" charset="0"/>
              </a:rPr>
              <a:t>(maturation)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9594680" y="5489429"/>
            <a:ext cx="2453640" cy="84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 smtClean="0">
                <a:solidFill>
                  <a:schemeClr val="tx2"/>
                </a:solidFill>
                <a:latin typeface="Arial" charset="0"/>
              </a:rPr>
              <a:t>      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Arial" charset="0"/>
              </a:rPr>
              <a:t>       6- Release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342911" y="130628"/>
            <a:ext cx="9235441" cy="62701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2- Steps of viral replication (life cycle of virus)</a:t>
            </a:r>
          </a:p>
        </p:txBody>
      </p:sp>
      <p:pic>
        <p:nvPicPr>
          <p:cNvPr id="15" name="Picture 1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58982"/>
            <a:ext cx="9594680" cy="5999017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119051" y="5322780"/>
            <a:ext cx="795384" cy="588677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fr-FR">
              <a:solidFill>
                <a:schemeClr val="bg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2757715" y="4047699"/>
            <a:ext cx="795384" cy="690348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 dirty="0" smtClean="0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fr-FR" dirty="0">
              <a:solidFill>
                <a:schemeClr val="bg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65600" y="5942441"/>
            <a:ext cx="795384" cy="588677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 dirty="0" smtClean="0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endParaRPr lang="fr-FR" dirty="0">
              <a:solidFill>
                <a:schemeClr val="bg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802224" y="4320140"/>
            <a:ext cx="795384" cy="588677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 dirty="0" smtClean="0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endParaRPr lang="fr-FR" dirty="0">
              <a:solidFill>
                <a:schemeClr val="bg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399648" y="2621654"/>
            <a:ext cx="795384" cy="588677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 dirty="0" smtClean="0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endParaRPr lang="fr-FR" dirty="0">
              <a:solidFill>
                <a:schemeClr val="bg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60023" y="2032977"/>
            <a:ext cx="795384" cy="588677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 dirty="0" smtClean="0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endParaRPr lang="fr-FR" dirty="0">
              <a:solidFill>
                <a:schemeClr val="bg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8147430" y="2204412"/>
            <a:ext cx="1180340" cy="5886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Genom replication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6170701" y="2478527"/>
            <a:ext cx="1029215" cy="5164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Protein synthesis</a:t>
            </a:r>
          </a:p>
        </p:txBody>
      </p:sp>
    </p:spTree>
    <p:extLst>
      <p:ext uri="{BB962C8B-B14F-4D97-AF65-F5344CB8AC3E}">
        <p14:creationId xmlns:p14="http://schemas.microsoft.com/office/powerpoint/2010/main" val="222865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246F-0F5C-4E6D-B2A1-6E702907B516}" type="slidenum">
              <a:rPr lang="en-GB" altLang="ru-RU" smtClean="0"/>
              <a:pPr/>
              <a:t>5</a:t>
            </a:fld>
            <a:endParaRPr lang="en-GB" altLang="ru-RU"/>
          </a:p>
        </p:txBody>
      </p:sp>
      <p:sp>
        <p:nvSpPr>
          <p:cNvPr id="6" name="Rectangle 5"/>
          <p:cNvSpPr/>
          <p:nvPr/>
        </p:nvSpPr>
        <p:spPr bwMode="auto">
          <a:xfrm>
            <a:off x="822960" y="1178678"/>
            <a:ext cx="2631440" cy="1028946"/>
          </a:xfrm>
          <a:prstGeom prst="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 smtClean="0">
                <a:solidFill>
                  <a:schemeClr val="tx2"/>
                </a:solidFill>
                <a:latin typeface="Arial" charset="0"/>
              </a:rPr>
              <a:t>   Early steps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165600" y="1178678"/>
            <a:ext cx="2631440" cy="1028943"/>
          </a:xfrm>
          <a:prstGeom prst="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 smtClean="0">
                <a:solidFill>
                  <a:schemeClr val="tx2"/>
                </a:solidFill>
                <a:latin typeface="Arial" charset="0"/>
              </a:rPr>
              <a:t>     Replication 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511176" y="1168153"/>
            <a:ext cx="2631440" cy="1052527"/>
          </a:xfrm>
          <a:prstGeom prst="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fr-FR" sz="2400" b="1" dirty="0" smtClean="0">
                <a:solidFill>
                  <a:schemeClr val="tx2"/>
                </a:solidFill>
                <a:latin typeface="Arial" charset="0"/>
              </a:rPr>
              <a:t>     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Late steps</a:t>
            </a:r>
          </a:p>
        </p:txBody>
      </p:sp>
      <p:sp>
        <p:nvSpPr>
          <p:cNvPr id="11" name="Down Arrow 10"/>
          <p:cNvSpPr/>
          <p:nvPr/>
        </p:nvSpPr>
        <p:spPr bwMode="auto">
          <a:xfrm>
            <a:off x="1877423" y="2299059"/>
            <a:ext cx="339634" cy="1280160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Down Arrow 13"/>
          <p:cNvSpPr/>
          <p:nvPr/>
        </p:nvSpPr>
        <p:spPr bwMode="auto">
          <a:xfrm>
            <a:off x="5128623" y="2299060"/>
            <a:ext cx="352697" cy="1175657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Down Arrow 15"/>
          <p:cNvSpPr/>
          <p:nvPr/>
        </p:nvSpPr>
        <p:spPr bwMode="auto">
          <a:xfrm>
            <a:off x="9617890" y="2243200"/>
            <a:ext cx="418012" cy="1175657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005840" y="3762103"/>
            <a:ext cx="2448560" cy="78679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  Attachement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992777" y="4731782"/>
            <a:ext cx="2448560" cy="75461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2400" b="1" dirty="0" smtClean="0">
                <a:solidFill>
                  <a:schemeClr val="tx2"/>
                </a:solidFill>
                <a:latin typeface="Arial" charset="0"/>
              </a:rPr>
              <a:t>Entry (Penetration</a:t>
            </a:r>
            <a:r>
              <a:rPr lang="fr-FR" sz="2400" b="1" dirty="0">
                <a:solidFill>
                  <a:schemeClr val="tx2"/>
                </a:solidFill>
                <a:latin typeface="Arial" charset="0"/>
              </a:rPr>
              <a:t>) 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005840" y="5669280"/>
            <a:ext cx="2448560" cy="5543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     Uncoating</a:t>
            </a:r>
            <a:r>
              <a:rPr kumimoji="0" lang="fr-FR" sz="2400" b="1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 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848463" y="3579219"/>
            <a:ext cx="3265714" cy="8340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Gene expression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3848463" y="4609195"/>
            <a:ext cx="3265714" cy="117565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Synthesis of viral proteins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8262983" y="3490631"/>
            <a:ext cx="3252651" cy="6400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 smtClean="0">
                <a:solidFill>
                  <a:schemeClr val="tx2"/>
                </a:solidFill>
                <a:latin typeface="Arial" charset="0"/>
              </a:rPr>
              <a:t>Assembly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8389438" y="4252752"/>
            <a:ext cx="2999739" cy="7128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 smtClean="0">
                <a:solidFill>
                  <a:schemeClr val="tx2"/>
                </a:solidFill>
                <a:latin typeface="Arial" charset="0"/>
              </a:rPr>
              <a:t>Release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32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6</a:t>
            </a:fld>
            <a:endParaRPr lang="en-GB" altLang="ru-R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663" y="2901676"/>
            <a:ext cx="4070508" cy="35766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80" y="2901676"/>
            <a:ext cx="4350382" cy="357663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6172" y="2901676"/>
            <a:ext cx="3635828" cy="35766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135279" y="909117"/>
            <a:ext cx="9204664" cy="188105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tx2"/>
                </a:solidFill>
                <a:latin typeface="Arial" charset="0"/>
              </a:rPr>
              <a:t>Structural affinity between viral molecules and </a:t>
            </a:r>
            <a:r>
              <a:rPr lang="en-US" sz="2800" b="1" dirty="0" smtClean="0">
                <a:solidFill>
                  <a:schemeClr val="tx2"/>
                </a:solidFill>
                <a:latin typeface="Arial" charset="0"/>
              </a:rPr>
              <a:t>host cell receptors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13508" y="117566"/>
            <a:ext cx="4036423" cy="70539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0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1-Attachement</a:t>
            </a:r>
          </a:p>
        </p:txBody>
      </p:sp>
    </p:spTree>
    <p:extLst>
      <p:ext uri="{BB962C8B-B14F-4D97-AF65-F5344CB8AC3E}">
        <p14:creationId xmlns:p14="http://schemas.microsoft.com/office/powerpoint/2010/main" val="359350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7</a:t>
            </a:fld>
            <a:endParaRPr lang="en-GB" altLang="ru-R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3564"/>
            <a:ext cx="12192000" cy="60544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0" y="30592"/>
            <a:ext cx="12192000" cy="68415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tx2"/>
                </a:solidFill>
                <a:latin typeface="Arial" charset="0"/>
              </a:rPr>
              <a:t>Structural affinity between viral molecules and </a:t>
            </a:r>
            <a:r>
              <a:rPr lang="en-US" sz="2800" b="1" dirty="0" smtClean="0">
                <a:solidFill>
                  <a:schemeClr val="tx2"/>
                </a:solidFill>
                <a:latin typeface="Arial" charset="0"/>
              </a:rPr>
              <a:t>host cell receptors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93254" y="5874906"/>
            <a:ext cx="2214999" cy="578283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b="1" dirty="0" smtClean="0">
                <a:solidFill>
                  <a:schemeClr val="bg1"/>
                </a:solidFill>
                <a:latin typeface="Arial" charset="0"/>
              </a:rPr>
              <a:t>Stimulation </a:t>
            </a:r>
            <a:r>
              <a:rPr lang="fr-FR" b="1" dirty="0">
                <a:solidFill>
                  <a:schemeClr val="bg1"/>
                </a:solidFill>
                <a:latin typeface="Arial" charset="0"/>
              </a:rPr>
              <a:t>of immune system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746087" y="5786091"/>
            <a:ext cx="1488214" cy="578283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 smtClean="0">
                <a:solidFill>
                  <a:schemeClr val="bg1"/>
                </a:solidFill>
                <a:latin typeface="Arial" charset="0"/>
              </a:rPr>
              <a:t>Cell-</a:t>
            </a:r>
            <a:r>
              <a:rPr lang="fr-FR" b="1" dirty="0" err="1" smtClean="0">
                <a:solidFill>
                  <a:schemeClr val="bg1"/>
                </a:solidFill>
                <a:latin typeface="Arial" charset="0"/>
              </a:rPr>
              <a:t>cell</a:t>
            </a:r>
            <a:r>
              <a:rPr lang="fr-FR" b="1" dirty="0" smtClean="0">
                <a:solidFill>
                  <a:schemeClr val="bg1"/>
                </a:solidFill>
                <a:latin typeface="Arial" charset="0"/>
              </a:rPr>
              <a:t> interaction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458357" y="5697277"/>
            <a:ext cx="1497728" cy="578283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>
                <a:solidFill>
                  <a:schemeClr val="bg1"/>
                </a:solidFill>
              </a:rPr>
              <a:t>Immune modulation</a:t>
            </a:r>
            <a:endParaRPr kumimoji="0" lang="fr-FR" sz="16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6180141" y="5986418"/>
            <a:ext cx="2839168" cy="578283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 smtClean="0">
                <a:solidFill>
                  <a:schemeClr val="bg1"/>
                </a:solidFill>
                <a:latin typeface="Arial" charset="0"/>
              </a:rPr>
              <a:t>        Cell adhesion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130149" y="5429006"/>
            <a:ext cx="1284293" cy="891800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chemeClr val="bg1"/>
                </a:solidFill>
              </a:rPr>
              <a:t>Receptor</a:t>
            </a:r>
            <a:r>
              <a:rPr lang="en-US" dirty="0" smtClean="0">
                <a:solidFill>
                  <a:schemeClr val="bg1"/>
                </a:solidFill>
              </a:rPr>
              <a:t> of VLDL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0414442" y="5697277"/>
            <a:ext cx="1292649" cy="867424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b="1" dirty="0">
                <a:solidFill>
                  <a:schemeClr val="bg1"/>
                </a:solidFill>
              </a:rPr>
              <a:t>Cell </a:t>
            </a:r>
            <a:r>
              <a:rPr lang="fr-FR" b="1" dirty="0" smtClean="0">
                <a:solidFill>
                  <a:schemeClr val="bg1"/>
                </a:solidFill>
              </a:rPr>
              <a:t>adhesion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40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8</a:t>
            </a:fld>
            <a:endParaRPr lang="en-GB" altLang="ru-RU"/>
          </a:p>
        </p:txBody>
      </p:sp>
      <p:pic>
        <p:nvPicPr>
          <p:cNvPr id="1028" name="Picture 4" descr="Microbiology Ch. 8: Viral Replication Strategies Flashcards | Quizl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799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/>
          <p:cNvSpPr/>
          <p:nvPr/>
        </p:nvSpPr>
        <p:spPr bwMode="auto">
          <a:xfrm>
            <a:off x="1135545" y="254925"/>
            <a:ext cx="9024455" cy="86452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0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1-Attachement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74073" y="2908069"/>
            <a:ext cx="1108363" cy="12760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Tail fiber</a:t>
            </a:r>
            <a:r>
              <a:rPr kumimoji="0" lang="fr-FR" sz="1800" b="1" i="0" u="none" strike="noStrike" cap="none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 proteins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535381" y="2908069"/>
            <a:ext cx="1413163" cy="113745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GP of envelope (Spike)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5322453" y="2888672"/>
            <a:ext cx="1870365" cy="108065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Proteins of capsid (Spike)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8289635" y="2908069"/>
            <a:ext cx="1870365" cy="108065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Proteins as part of capsid </a:t>
            </a:r>
          </a:p>
        </p:txBody>
      </p:sp>
    </p:spTree>
    <p:extLst>
      <p:ext uri="{BB962C8B-B14F-4D97-AF65-F5344CB8AC3E}">
        <p14:creationId xmlns:p14="http://schemas.microsoft.com/office/powerpoint/2010/main" val="45266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0" descr="Résultat de recherche d'images pour &quot;attachement des virus enveloppé&quot;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81295"/>
            <a:ext cx="12163865" cy="627670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 bwMode="auto">
          <a:xfrm>
            <a:off x="313508" y="117566"/>
            <a:ext cx="4036423" cy="7053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0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1-Attachement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41673" y="793567"/>
            <a:ext cx="2651760" cy="5878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H. C. Receptor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59080" y="901334"/>
            <a:ext cx="1034738" cy="38535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20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Virus </a:t>
            </a:r>
            <a:endParaRPr lang="fr-FR" sz="20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3233941"/>
            <a:ext cx="2918160" cy="121336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Capsid protein or envelope GP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20426" y="1688866"/>
            <a:ext cx="2116992" cy="56871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Charge </a:t>
            </a:r>
            <a:r>
              <a:rPr lang="fr-FR" sz="1600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Complentarity</a:t>
            </a:r>
            <a:endParaRPr lang="fr-F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773087" y="5250279"/>
            <a:ext cx="1201784" cy="44631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fr-FR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Hydrogen bond</a:t>
            </a:r>
            <a:endParaRPr lang="fr-F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54060" y="3513169"/>
            <a:ext cx="1574213" cy="654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1400" b="1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Hydrophobic domaine</a:t>
            </a:r>
            <a:endParaRPr lang="fr-FR" sz="14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66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10</a:t>
            </a:fld>
            <a:endParaRPr lang="en-GB" altLang="ru-RU"/>
          </a:p>
        </p:txBody>
      </p:sp>
      <p:sp>
        <p:nvSpPr>
          <p:cNvPr id="5" name="Rectangle 4"/>
          <p:cNvSpPr/>
          <p:nvPr/>
        </p:nvSpPr>
        <p:spPr>
          <a:xfrm>
            <a:off x="354874" y="169047"/>
            <a:ext cx="6199051" cy="77070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4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Entry (Penetration)</a:t>
            </a:r>
            <a:endParaRPr lang="fr-FR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5575" y="3424267"/>
            <a:ext cx="11656423" cy="31393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4400" dirty="0" smtClean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Viruses </a:t>
            </a:r>
            <a:r>
              <a:rPr 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enters the cell, most often by </a:t>
            </a:r>
            <a:r>
              <a:rPr lang="en-US" sz="4400" u="sng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endocytosis</a:t>
            </a:r>
            <a:r>
              <a:rPr 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for </a:t>
            </a:r>
            <a:r>
              <a:rPr lang="en-US" sz="4400" dirty="0" smtClean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non-enveloped </a:t>
            </a:r>
            <a:r>
              <a:rPr 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viruses </a:t>
            </a:r>
            <a:r>
              <a:rPr lang="en-US" sz="4400" dirty="0" smtClean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and </a:t>
            </a:r>
            <a:r>
              <a:rPr 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by </a:t>
            </a:r>
            <a:r>
              <a:rPr lang="en-US" sz="4400" u="sng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fusion</a:t>
            </a:r>
            <a:r>
              <a:rPr 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400" dirty="0" smtClean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of membranes for </a:t>
            </a:r>
            <a:r>
              <a:rPr 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enveloped </a:t>
            </a:r>
            <a:r>
              <a:rPr lang="en-US" sz="4400" dirty="0" smtClean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viruses.</a:t>
            </a:r>
            <a:endParaRPr lang="fr-FR" sz="4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2" descr="Lipid bilayer fusi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155575" y="1607716"/>
            <a:ext cx="11623963" cy="14465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Mechanisms of cell entry differ between enveloped and non-enveloped viruses.</a:t>
            </a:r>
            <a:endParaRPr lang="fr-FR" sz="4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72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11</a:t>
            </a:fld>
            <a:endParaRPr lang="en-GB" altLang="ru-RU"/>
          </a:p>
        </p:txBody>
      </p:sp>
      <p:pic>
        <p:nvPicPr>
          <p:cNvPr id="2050" name="Picture 2" descr="What Are Viral Pathoge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8362"/>
            <a:ext cx="6074929" cy="568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File:Viral entry (Endocytosis and injection).svg - Wikimedia Comm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Oval 8"/>
          <p:cNvSpPr/>
          <p:nvPr/>
        </p:nvSpPr>
        <p:spPr bwMode="auto">
          <a:xfrm>
            <a:off x="401782" y="5569526"/>
            <a:ext cx="900545" cy="8836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 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1</a:t>
            </a: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6238875" y="1108362"/>
            <a:ext cx="64943" cy="5684552"/>
          </a:xfrm>
          <a:prstGeom prst="line">
            <a:avLst/>
          </a:prstGeom>
          <a:ln w="38100">
            <a:solidFill>
              <a:schemeClr val="tx2"/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9772" y="92249"/>
            <a:ext cx="10508005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A. Entry </a:t>
            </a:r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pathways of </a:t>
            </a:r>
            <a:r>
              <a:rPr lang="en-US" sz="3600" b="1" u="sng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naked</a:t>
            </a:r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(non-enveloped) viruses</a:t>
            </a:r>
            <a:endParaRPr lang="fr-FR" sz="3600" dirty="0">
              <a:solidFill>
                <a:schemeClr val="tx2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058248" y="1242717"/>
            <a:ext cx="2004553" cy="6776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2000" b="1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Interaction capsid-</a:t>
            </a:r>
            <a:r>
              <a:rPr lang="fr-FR" sz="2000" b="1" dirty="0" err="1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memb</a:t>
            </a:r>
            <a:endParaRPr lang="fr-FR" sz="200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" name="AutoShape 6" descr="File:Viral entry (Endocytosis and lysis).svg - Wikimedia Common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924" y="1108361"/>
            <a:ext cx="6018076" cy="5684553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853488" y="2241528"/>
            <a:ext cx="1544216" cy="471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1600" b="1" dirty="0" smtClean="0">
                <a:solidFill>
                  <a:schemeClr val="tx2"/>
                </a:solidFill>
                <a:ea typeface="Calibri" panose="020F0502020204030204" pitchFamily="34" charset="0"/>
                <a:cs typeface="Arial" panose="020B0604020202020204" pitchFamily="34" charset="0"/>
              </a:rPr>
              <a:t>V. genome</a:t>
            </a:r>
            <a:endParaRPr lang="fr-FR" sz="1600" b="1" dirty="0">
              <a:solidFill>
                <a:schemeClr val="tx2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03818" y="1885192"/>
            <a:ext cx="1943121" cy="6511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2000" b="1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Attachment</a:t>
            </a:r>
            <a:endParaRPr lang="fr-FR" sz="200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62801" y="3727655"/>
            <a:ext cx="1544216" cy="471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1600" b="1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Capsid</a:t>
            </a:r>
            <a:endParaRPr lang="fr-FR" sz="160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6732" y="4480757"/>
            <a:ext cx="1943121" cy="471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1600" b="1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Endosome</a:t>
            </a:r>
            <a:endParaRPr lang="fr-FR" sz="160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 bwMode="auto">
          <a:xfrm flipV="1">
            <a:off x="6643607" y="3322367"/>
            <a:ext cx="521501" cy="551689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 bwMode="auto">
          <a:xfrm flipH="1">
            <a:off x="7428772" y="2617962"/>
            <a:ext cx="906178" cy="20993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Rectangle 37"/>
          <p:cNvSpPr/>
          <p:nvPr/>
        </p:nvSpPr>
        <p:spPr>
          <a:xfrm>
            <a:off x="8278091" y="1189968"/>
            <a:ext cx="3763818" cy="651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2000" b="1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Endocytosis pathway</a:t>
            </a:r>
            <a:endParaRPr lang="fr-FR" sz="200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6714836" y="5569526"/>
            <a:ext cx="900545" cy="8836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 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2</a:t>
            </a:r>
          </a:p>
        </p:txBody>
      </p:sp>
      <p:sp>
        <p:nvSpPr>
          <p:cNvPr id="2051" name="Rectangle 2050"/>
          <p:cNvSpPr/>
          <p:nvPr/>
        </p:nvSpPr>
        <p:spPr bwMode="auto">
          <a:xfrm>
            <a:off x="9462655" y="2469909"/>
            <a:ext cx="2565399" cy="3038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Cell host membrane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-77497" y="4716284"/>
            <a:ext cx="2565399" cy="3038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Cell host membrane</a:t>
            </a:r>
          </a:p>
        </p:txBody>
      </p:sp>
      <p:sp>
        <p:nvSpPr>
          <p:cNvPr id="2058" name="Rectangle 2057"/>
          <p:cNvSpPr/>
          <p:nvPr/>
        </p:nvSpPr>
        <p:spPr>
          <a:xfrm>
            <a:off x="9586766" y="5826690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Uncoating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7828534" y="6196022"/>
            <a:ext cx="2208647" cy="557208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        Poliovirus</a:t>
            </a:r>
          </a:p>
        </p:txBody>
      </p:sp>
    </p:spTree>
    <p:extLst>
      <p:ext uri="{BB962C8B-B14F-4D97-AF65-F5344CB8AC3E}">
        <p14:creationId xmlns:p14="http://schemas.microsoft.com/office/powerpoint/2010/main" val="72839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12</a:t>
            </a:fld>
            <a:endParaRPr lang="en-GB" altLang="ru-RU"/>
          </a:p>
        </p:txBody>
      </p:sp>
      <p:pic>
        <p:nvPicPr>
          <p:cNvPr id="3076" name="Picture 4" descr="What Are Viral Pathoge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5" y="983672"/>
            <a:ext cx="6733309" cy="580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ile:Viral entry (Endocytosis and fusion).svg - Wikimedia Comm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909" y="983670"/>
            <a:ext cx="6373091" cy="5809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 bwMode="auto">
          <a:xfrm>
            <a:off x="401782" y="5569526"/>
            <a:ext cx="900545" cy="88366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6583218" y="5460204"/>
            <a:ext cx="900545" cy="88366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502" y="0"/>
            <a:ext cx="7458891" cy="8703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Entry pathways of </a:t>
            </a:r>
            <a:r>
              <a:rPr lang="fr-FR" sz="3200" b="1" u="sng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enveloped viruses</a:t>
            </a:r>
            <a:endParaRPr lang="fr-FR" sz="3200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5818909" y="983670"/>
            <a:ext cx="0" cy="570807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/>
          <p:cNvSpPr/>
          <p:nvPr/>
        </p:nvSpPr>
        <p:spPr bwMode="auto">
          <a:xfrm>
            <a:off x="8581738" y="1052943"/>
            <a:ext cx="3311236" cy="581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Endocytosis</a:t>
            </a:r>
            <a:r>
              <a:rPr kumimoji="0" lang="fr-FR" sz="2400" b="1" i="0" u="none" strike="noStrike" cap="none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pathway 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4282211" y="1052943"/>
            <a:ext cx="1401618" cy="8866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Fusion </a:t>
            </a:r>
            <a:r>
              <a:rPr kumimoji="0" lang="fr-FR" sz="2400" b="1" i="0" u="none" strike="noStrike" cap="none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pathway 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586766" y="5826690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Uncoating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171980" y="1845678"/>
            <a:ext cx="1943121" cy="6511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2000" b="1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Attachment</a:t>
            </a:r>
            <a:endParaRPr lang="fr-FR" sz="200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63393" y="4912818"/>
            <a:ext cx="1943121" cy="471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fr-FR" sz="1600" b="1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Endosome</a:t>
            </a:r>
            <a:endParaRPr lang="fr-FR" sz="160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7629234" y="6196022"/>
            <a:ext cx="2208647" cy="557208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Hepatitis C virus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1465693" y="6194505"/>
            <a:ext cx="2208647" cy="557208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HIV</a:t>
            </a:r>
            <a:r>
              <a:rPr kumimoji="0" lang="fr-FR" sz="1800" b="1" i="0" u="none" strike="noStrike" cap="none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 </a:t>
            </a: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virus</a:t>
            </a:r>
          </a:p>
        </p:txBody>
      </p:sp>
    </p:spTree>
    <p:extLst>
      <p:ext uri="{BB962C8B-B14F-4D97-AF65-F5344CB8AC3E}">
        <p14:creationId xmlns:p14="http://schemas.microsoft.com/office/powerpoint/2010/main" val="222684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53589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Uncoating 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degradation of the viral capsid inside </a:t>
            </a:r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 cell.</a:t>
            </a:r>
            <a:endParaRPr lang="fr-FR" sz="4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bg1"/>
                </a:solidFill>
              </a:rPr>
              <a:t>In general, this step is carried out using cellular </a:t>
            </a:r>
            <a:r>
              <a:rPr lang="en-US" sz="4000" dirty="0" smtClean="0">
                <a:solidFill>
                  <a:schemeClr val="bg1"/>
                </a:solidFill>
              </a:rPr>
              <a:t>enzymes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smtClean="0">
                <a:solidFill>
                  <a:schemeClr val="bg1"/>
                </a:solidFill>
              </a:rPr>
              <a:t>but some </a:t>
            </a:r>
            <a:r>
              <a:rPr lang="en-US" sz="4000" dirty="0">
                <a:solidFill>
                  <a:schemeClr val="bg1"/>
                </a:solidFill>
              </a:rPr>
              <a:t>viruses </a:t>
            </a:r>
            <a:r>
              <a:rPr lang="en-US" sz="4000" dirty="0" smtClean="0">
                <a:solidFill>
                  <a:schemeClr val="bg1"/>
                </a:solidFill>
              </a:rPr>
              <a:t>use </a:t>
            </a:r>
            <a:r>
              <a:rPr lang="en-US" sz="4000" dirty="0">
                <a:solidFill>
                  <a:schemeClr val="bg1"/>
                </a:solidFill>
              </a:rPr>
              <a:t>their own </a:t>
            </a:r>
            <a:r>
              <a:rPr lang="en-US" sz="4000" dirty="0" smtClean="0">
                <a:solidFill>
                  <a:schemeClr val="bg1"/>
                </a:solidFill>
              </a:rPr>
              <a:t>uncoating enzymes.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bg1"/>
                </a:solidFill>
              </a:rPr>
              <a:t>Uncoating can </a:t>
            </a:r>
            <a:r>
              <a:rPr lang="en-US" sz="4000" dirty="0" smtClean="0">
                <a:solidFill>
                  <a:schemeClr val="bg1"/>
                </a:solidFill>
              </a:rPr>
              <a:t>occur in </a:t>
            </a:r>
            <a:r>
              <a:rPr lang="en-US" sz="4000" dirty="0">
                <a:solidFill>
                  <a:schemeClr val="bg1"/>
                </a:solidFill>
              </a:rPr>
              <a:t>the cytoplasm or at the nuclear pores (DNA </a:t>
            </a:r>
            <a:r>
              <a:rPr lang="en-US" sz="4000" dirty="0" smtClean="0">
                <a:solidFill>
                  <a:schemeClr val="bg1"/>
                </a:solidFill>
              </a:rPr>
              <a:t>viruses).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bg1"/>
                </a:solidFill>
              </a:rPr>
              <a:t>It is either complete </a:t>
            </a:r>
            <a:r>
              <a:rPr lang="en-US" sz="4000" dirty="0" smtClean="0">
                <a:solidFill>
                  <a:schemeClr val="bg1"/>
                </a:solidFill>
              </a:rPr>
              <a:t>(for </a:t>
            </a:r>
            <a:r>
              <a:rPr lang="en-US" sz="4000" dirty="0">
                <a:solidFill>
                  <a:schemeClr val="bg1"/>
                </a:solidFill>
              </a:rPr>
              <a:t>the majority of viruses) or partial (in </a:t>
            </a:r>
            <a:r>
              <a:rPr lang="en-US" sz="4000" dirty="0" smtClean="0">
                <a:solidFill>
                  <a:schemeClr val="bg1"/>
                </a:solidFill>
              </a:rPr>
              <a:t>some species</a:t>
            </a:r>
            <a:r>
              <a:rPr lang="en-US" sz="4000" dirty="0">
                <a:solidFill>
                  <a:schemeClr val="bg1"/>
                </a:solidFill>
              </a:rPr>
              <a:t>).</a:t>
            </a:r>
            <a:endParaRPr lang="en-US" sz="4000" dirty="0" smtClean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9006" y="0"/>
            <a:ext cx="8685612" cy="9535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3.Uncoating (Decapsidation)</a:t>
            </a:r>
            <a:endParaRPr lang="fr-FR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03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14</a:t>
            </a:fld>
            <a:endParaRPr lang="en-GB" altLang="ru-R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8685612" cy="9535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smtClean="0">
                <a:solidFill>
                  <a:schemeClr val="tx2"/>
                </a:solidFill>
              </a:rPr>
              <a:t>3.Uncoating (Decapsidation)</a:t>
            </a:r>
            <a:endParaRPr lang="fr-FR" sz="4000" b="1" dirty="0">
              <a:solidFill>
                <a:schemeClr val="tx2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7317510" y="5411432"/>
            <a:ext cx="1909617" cy="24444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9"/>
          <p:cNvSpPr/>
          <p:nvPr/>
        </p:nvSpPr>
        <p:spPr bwMode="auto">
          <a:xfrm>
            <a:off x="5033819" y="5175905"/>
            <a:ext cx="2424545" cy="4710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 smtClean="0">
                <a:solidFill>
                  <a:sysClr val="windowText" lastClr="000000"/>
                </a:solidFill>
                <a:latin typeface="Arial" charset="0"/>
              </a:rPr>
              <a:t>Capsid degradation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 flipV="1">
            <a:off x="7317510" y="5986685"/>
            <a:ext cx="2519217" cy="17858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14"/>
          <p:cNvSpPr/>
          <p:nvPr/>
        </p:nvSpPr>
        <p:spPr bwMode="auto">
          <a:xfrm>
            <a:off x="3746499" y="5995602"/>
            <a:ext cx="3992419" cy="45758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 N.A released in the cytoplasme</a:t>
            </a:r>
          </a:p>
        </p:txBody>
      </p:sp>
    </p:spTree>
    <p:extLst>
      <p:ext uri="{BB962C8B-B14F-4D97-AF65-F5344CB8AC3E}">
        <p14:creationId xmlns:p14="http://schemas.microsoft.com/office/powerpoint/2010/main" val="52701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15</a:t>
            </a:fld>
            <a:endParaRPr lang="en-GB" altLang="ru-RU"/>
          </a:p>
        </p:txBody>
      </p:sp>
      <p:sp>
        <p:nvSpPr>
          <p:cNvPr id="6" name="Rectangle 5"/>
          <p:cNvSpPr/>
          <p:nvPr/>
        </p:nvSpPr>
        <p:spPr bwMode="auto">
          <a:xfrm>
            <a:off x="-1" y="0"/>
            <a:ext cx="3810001" cy="7341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4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4- Replication </a:t>
            </a:r>
            <a:r>
              <a:rPr kumimoji="0" lang="fr-FR" sz="4400" b="1" i="0" u="none" strike="noStrike" cap="none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fr-FR" sz="44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-1" y="1062515"/>
            <a:ext cx="12192001" cy="5504723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40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Production of new copies of the viral genome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fr-FR" altLang="fr-FR" sz="4000" dirty="0" smtClean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all viral proteins (structural and functional)</a:t>
            </a:r>
            <a:endParaRPr kumimoji="0" lang="fr-FR" altLang="fr-FR" sz="4000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fr-FR" altLang="fr-FR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fr-FR" sz="40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 of replication depends on the nature of the</a:t>
            </a:r>
            <a:endParaRPr lang="fr-FR" alt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4000" dirty="0" smtClean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genome: </a:t>
            </a:r>
            <a:endParaRPr lang="fr-FR" altLang="fr-FR" sz="40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FR" altLang="fr-FR" sz="40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DNA virus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altLang="fr-FR" sz="40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RNA virus :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fr-FR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Positive-</a:t>
            </a:r>
            <a:r>
              <a:rPr lang="fr-FR" sz="4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strand</a:t>
            </a:r>
            <a:r>
              <a:rPr lang="fr-FR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RNA viruses (+</a:t>
            </a:r>
            <a:r>
              <a:rPr lang="fr-FR" sz="4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ssRNA</a:t>
            </a:r>
            <a:r>
              <a:rPr lang="fr-FR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viruses</a:t>
            </a:r>
            <a:r>
              <a:rPr lang="fr-FR" sz="4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fr-FR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Negative-strand RNA viruses (−</a:t>
            </a:r>
            <a:r>
              <a:rPr lang="fr-FR" sz="4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ssRNA</a:t>
            </a:r>
            <a:r>
              <a:rPr lang="fr-FR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viruses</a:t>
            </a:r>
            <a:r>
              <a:rPr lang="fr-FR" sz="4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fr-FR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Retroviruses (with reverse </a:t>
            </a:r>
            <a:r>
              <a:rPr lang="fr-FR" sz="4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transcriptase)</a:t>
            </a:r>
            <a:endParaRPr lang="fr-FR" alt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72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16</a:t>
            </a:fld>
            <a:endParaRPr lang="en-GB" altLang="ru-RU"/>
          </a:p>
        </p:txBody>
      </p:sp>
      <p:sp>
        <p:nvSpPr>
          <p:cNvPr id="5" name="Rectangle 4"/>
          <p:cNvSpPr/>
          <p:nvPr/>
        </p:nvSpPr>
        <p:spPr>
          <a:xfrm>
            <a:off x="0" y="20923"/>
            <a:ext cx="10471136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3200" b="1" dirty="0"/>
              <a:t>A- Replication and Transcription of DNA Viruses</a:t>
            </a:r>
            <a:endParaRPr lang="fr-FR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101599" y="990740"/>
            <a:ext cx="12090401" cy="507831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ysClr val="windowText" lastClr="000000"/>
                </a:solidFill>
              </a:rPr>
              <a:t>Nuclear localization, the viral genome must be </a:t>
            </a:r>
            <a:r>
              <a:rPr lang="en-US" sz="3600" dirty="0" smtClean="0">
                <a:solidFill>
                  <a:sysClr val="windowText" lastClr="000000"/>
                </a:solidFill>
              </a:rPr>
              <a:t>transported into </a:t>
            </a:r>
            <a:r>
              <a:rPr lang="en-US" sz="3600" dirty="0">
                <a:solidFill>
                  <a:sysClr val="windowText" lastClr="000000"/>
                </a:solidFill>
              </a:rPr>
              <a:t>the </a:t>
            </a:r>
            <a:r>
              <a:rPr lang="en-US" sz="3600" dirty="0" smtClean="0">
                <a:solidFill>
                  <a:sysClr val="windowText" lastClr="000000"/>
                </a:solidFill>
              </a:rPr>
              <a:t>nucleus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ysClr val="windowText" lastClr="000000"/>
                </a:solidFill>
              </a:rPr>
              <a:t>Transcription carried out by cellular enzymes (RNA polymerase</a:t>
            </a:r>
            <a:r>
              <a:rPr lang="en-US" sz="3600" dirty="0" smtClean="0">
                <a:solidFill>
                  <a:sysClr val="windowText" lastClr="000000"/>
                </a:solidFill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3600" dirty="0" smtClean="0">
                <a:solidFill>
                  <a:sysClr val="windowText" lastClr="000000"/>
                </a:solidFill>
              </a:rPr>
              <a:t>Translation of RNA to proteins by </a:t>
            </a:r>
            <a:r>
              <a:rPr lang="fr-FR" sz="3600" dirty="0" err="1" smtClean="0">
                <a:solidFill>
                  <a:sysClr val="windowText" lastClr="000000"/>
                </a:solidFill>
              </a:rPr>
              <a:t>cell</a:t>
            </a:r>
            <a:r>
              <a:rPr lang="fr-FR" sz="3600" dirty="0" smtClean="0">
                <a:solidFill>
                  <a:sysClr val="windowText" lastClr="000000"/>
                </a:solidFill>
              </a:rPr>
              <a:t> ribosomes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3600" dirty="0" smtClean="0">
                <a:solidFill>
                  <a:sysClr val="windowText" lastClr="000000"/>
                </a:solidFill>
              </a:rPr>
              <a:t>Early phase                 Enzymes of replication (viral </a:t>
            </a:r>
            <a:r>
              <a:rPr lang="fr-FR" sz="3600" dirty="0">
                <a:solidFill>
                  <a:sysClr val="windowText" lastClr="000000"/>
                </a:solidFill>
              </a:rPr>
              <a:t>DNA and RNA polymerase</a:t>
            </a:r>
            <a:r>
              <a:rPr lang="fr-FR" sz="3600" dirty="0" smtClean="0">
                <a:solidFill>
                  <a:sysClr val="windowText" lastClr="000000"/>
                </a:solidFill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3600" dirty="0" smtClean="0">
                <a:solidFill>
                  <a:sysClr val="windowText" lastClr="000000"/>
                </a:solidFill>
              </a:rPr>
              <a:t>Late phase                  </a:t>
            </a:r>
            <a:r>
              <a:rPr lang="fr-FR" sz="3600" dirty="0">
                <a:solidFill>
                  <a:sysClr val="windowText" lastClr="000000"/>
                </a:solidFill>
              </a:rPr>
              <a:t>structural proteins </a:t>
            </a:r>
            <a:r>
              <a:rPr lang="fr-FR" sz="3600" dirty="0" smtClean="0">
                <a:solidFill>
                  <a:sysClr val="windowText" lastClr="000000"/>
                </a:solidFill>
              </a:rPr>
              <a:t>( proteins of capsid and glycoproteins of envelope)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 flipV="1">
            <a:off x="3149600" y="4121727"/>
            <a:ext cx="1593272" cy="1385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2960254" y="5223163"/>
            <a:ext cx="1607127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1627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17</a:t>
            </a:fld>
            <a:endParaRPr lang="en-GB" altLang="ru-RU"/>
          </a:p>
        </p:txBody>
      </p:sp>
      <p:sp>
        <p:nvSpPr>
          <p:cNvPr id="5" name="AutoShape 2" descr="Viral and cellular interactions during adenovirus DNA replication - Charman  - 2019 - FEBS Letters - Wiley Online Librar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526"/>
            <a:ext cx="12191999" cy="60353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5575" y="15875"/>
            <a:ext cx="10471136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3200" b="1" dirty="0"/>
              <a:t>A- Replication and Transcription of DNA Viruses</a:t>
            </a:r>
            <a:endParaRPr lang="fr-FR" sz="3200" b="1" dirty="0"/>
          </a:p>
        </p:txBody>
      </p:sp>
      <p:sp>
        <p:nvSpPr>
          <p:cNvPr id="8" name="Rectangle 7"/>
          <p:cNvSpPr/>
          <p:nvPr/>
        </p:nvSpPr>
        <p:spPr bwMode="auto">
          <a:xfrm>
            <a:off x="10160000" y="5278581"/>
            <a:ext cx="2036618" cy="37407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dirty="0" smtClean="0">
                <a:solidFill>
                  <a:schemeClr val="tx2"/>
                </a:solidFill>
                <a:latin typeface="Arial" charset="0"/>
              </a:rPr>
              <a:t>DNA and RNA poly</a:t>
            </a:r>
            <a:endParaRPr kumimoji="0" lang="fr-FR" sz="1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60375" y="6296313"/>
            <a:ext cx="1784061" cy="3095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dirty="0" smtClean="0">
                <a:solidFill>
                  <a:schemeClr val="tx2"/>
                </a:solidFill>
                <a:latin typeface="Arial" charset="0"/>
              </a:rPr>
              <a:t>Structural proteins</a:t>
            </a:r>
            <a:endParaRPr kumimoji="0" lang="fr-FR" sz="1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7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18</a:t>
            </a:fld>
            <a:endParaRPr lang="en-GB" altLang="ru-RU"/>
          </a:p>
        </p:txBody>
      </p:sp>
      <p:sp>
        <p:nvSpPr>
          <p:cNvPr id="5" name="Rectangle 4"/>
          <p:cNvSpPr/>
          <p:nvPr/>
        </p:nvSpPr>
        <p:spPr>
          <a:xfrm>
            <a:off x="147893" y="279462"/>
            <a:ext cx="11737509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chemeClr val="tx2"/>
                </a:solidFill>
              </a:rPr>
              <a:t>B- Replication </a:t>
            </a:r>
            <a:r>
              <a:rPr lang="en-US" sz="3600" b="1" dirty="0">
                <a:solidFill>
                  <a:schemeClr val="tx2"/>
                </a:solidFill>
              </a:rPr>
              <a:t>and Transcription of RNA Viruses</a:t>
            </a:r>
            <a:endParaRPr lang="fr-FR" sz="3600" b="1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7893" y="1180007"/>
            <a:ext cx="11863998" cy="50783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types of RNA viruses</a:t>
            </a:r>
            <a:r>
              <a:rPr lang="en-US" sz="3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6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Positive-</a:t>
            </a:r>
            <a:r>
              <a:rPr lang="fr-FR" sz="36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strand</a:t>
            </a:r>
            <a:r>
              <a:rPr lang="fr-FR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RNA viruses (+</a:t>
            </a:r>
            <a:r>
              <a:rPr lang="fr-FR" sz="36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ssRNA</a:t>
            </a:r>
            <a:r>
              <a:rPr lang="fr-FR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viruses</a:t>
            </a:r>
            <a:r>
              <a:rPr lang="fr-FR" sz="3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fr-FR" sz="3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Negative-strand RNA viruses (−</a:t>
            </a:r>
            <a:r>
              <a:rPr lang="fr-FR" sz="36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ssRNA</a:t>
            </a:r>
            <a:r>
              <a:rPr lang="fr-FR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viruses</a:t>
            </a:r>
            <a:r>
              <a:rPr lang="fr-FR" sz="3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3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3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Retroviruses </a:t>
            </a:r>
            <a:r>
              <a:rPr lang="fr-FR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(with reverse transcriptase) = RNA-</a:t>
            </a:r>
            <a:r>
              <a:rPr lang="fr-FR" sz="36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lang="fr-FR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DNA polymerase </a:t>
            </a:r>
            <a:endParaRPr lang="en-US" sz="3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3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32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19</a:t>
            </a:fld>
            <a:endParaRPr lang="en-GB" altLang="ru-RU"/>
          </a:p>
        </p:txBody>
      </p:sp>
      <p:sp>
        <p:nvSpPr>
          <p:cNvPr id="7" name="Rectangle 6"/>
          <p:cNvSpPr/>
          <p:nvPr/>
        </p:nvSpPr>
        <p:spPr>
          <a:xfrm>
            <a:off x="167920" y="168624"/>
            <a:ext cx="10021077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6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Positive-</a:t>
            </a:r>
            <a:r>
              <a:rPr lang="fr-FR" sz="36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strand</a:t>
            </a:r>
            <a:r>
              <a:rPr lang="fr-FR" sz="36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RNA viruses </a:t>
            </a:r>
            <a:r>
              <a:rPr lang="fr-FR" sz="36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(+</a:t>
            </a:r>
            <a:r>
              <a:rPr lang="fr-FR" sz="36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36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sRNA</a:t>
            </a:r>
            <a:r>
              <a:rPr lang="fr-FR" sz="36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624" y="2049097"/>
            <a:ext cx="4343649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(+</a:t>
            </a:r>
            <a:r>
              <a:rPr lang="fr-FR" sz="28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ssRNA</a:t>
            </a: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messenger 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RNA (mRNA)</a:t>
            </a:r>
            <a:endParaRPr lang="fr-FR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ight Arrow 5"/>
          <p:cNvSpPr/>
          <p:nvPr/>
        </p:nvSpPr>
        <p:spPr bwMode="auto">
          <a:xfrm rot="1416285">
            <a:off x="4839061" y="3012688"/>
            <a:ext cx="1742851" cy="394530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6691746" y="2739984"/>
            <a:ext cx="5306290" cy="1984415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enzymes </a:t>
            </a:r>
            <a:endParaRPr lang="fr-FR" sz="28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RNA-</a:t>
            </a:r>
            <a:r>
              <a:rPr lang="fr-FR" sz="28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lang="fr-FR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RNA polymerase (RdRp)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6691745" y="1052945"/>
            <a:ext cx="5056910" cy="1656186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proteins         (capsid and GP)</a:t>
            </a:r>
            <a:endParaRPr lang="fr-FR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ight Arrow 13"/>
          <p:cNvSpPr/>
          <p:nvPr/>
        </p:nvSpPr>
        <p:spPr bwMode="auto">
          <a:xfrm rot="20409579">
            <a:off x="4771734" y="2007658"/>
            <a:ext cx="1877507" cy="417370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704108" y="5539178"/>
            <a:ext cx="2236239" cy="6352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+RNA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5372994" y="5540498"/>
            <a:ext cx="2236239" cy="6352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 - RNA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9041880" y="5540498"/>
            <a:ext cx="2236239" cy="6352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+RNA</a:t>
            </a:r>
          </a:p>
        </p:txBody>
      </p:sp>
      <p:cxnSp>
        <p:nvCxnSpPr>
          <p:cNvPr id="23" name="Straight Arrow Connector 22"/>
          <p:cNvCxnSpPr/>
          <p:nvPr/>
        </p:nvCxnSpPr>
        <p:spPr bwMode="auto">
          <a:xfrm flipH="1">
            <a:off x="4656671" y="4180069"/>
            <a:ext cx="2196204" cy="1501294"/>
          </a:xfrm>
          <a:prstGeom prst="straightConnector1">
            <a:avLst/>
          </a:prstGeom>
          <a:ln w="76200">
            <a:solidFill>
              <a:schemeClr val="bg1"/>
            </a:solidFill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 bwMode="auto">
          <a:xfrm>
            <a:off x="8339411" y="4755252"/>
            <a:ext cx="0" cy="1085861"/>
          </a:xfrm>
          <a:prstGeom prst="straightConnector1">
            <a:avLst/>
          </a:prstGeom>
          <a:ln w="76200">
            <a:solidFill>
              <a:schemeClr val="bg1"/>
            </a:solidFill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 flipV="1">
            <a:off x="3940348" y="5858129"/>
            <a:ext cx="1432646" cy="34031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V="1">
            <a:off x="7623088" y="5841113"/>
            <a:ext cx="1432646" cy="34031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 bwMode="auto">
          <a:xfrm>
            <a:off x="3643745" y="986662"/>
            <a:ext cx="2944245" cy="568037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Cell ribosomes</a:t>
            </a:r>
          </a:p>
        </p:txBody>
      </p:sp>
      <p:cxnSp>
        <p:nvCxnSpPr>
          <p:cNvPr id="36" name="Straight Arrow Connector 35"/>
          <p:cNvCxnSpPr/>
          <p:nvPr/>
        </p:nvCxnSpPr>
        <p:spPr bwMode="auto">
          <a:xfrm>
            <a:off x="5372994" y="1579418"/>
            <a:ext cx="0" cy="595746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 bwMode="auto">
          <a:xfrm>
            <a:off x="5372994" y="1554699"/>
            <a:ext cx="487479" cy="1448505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82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20</a:t>
            </a:fld>
            <a:endParaRPr lang="en-GB" altLang="ru-RU"/>
          </a:p>
        </p:txBody>
      </p:sp>
      <p:sp>
        <p:nvSpPr>
          <p:cNvPr id="5" name="Rectangle 4"/>
          <p:cNvSpPr/>
          <p:nvPr/>
        </p:nvSpPr>
        <p:spPr>
          <a:xfrm>
            <a:off x="209484" y="210187"/>
            <a:ext cx="10091609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6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Negative-strand </a:t>
            </a:r>
            <a:r>
              <a:rPr lang="fr-FR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RNA viruses </a:t>
            </a:r>
            <a:r>
              <a:rPr lang="fr-FR" sz="36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fr-FR" sz="36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ssRNA</a:t>
            </a:r>
            <a:r>
              <a:rPr lang="fr-FR" sz="36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18" y="3192367"/>
            <a:ext cx="210411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fr-FR" sz="28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ssRNA</a:t>
            </a: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070" y="1069620"/>
            <a:ext cx="1041554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 must bring with </a:t>
            </a:r>
            <a:r>
              <a:rPr lang="fr-FR" sz="28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RNA-</a:t>
            </a:r>
            <a:r>
              <a:rPr lang="fr-FR" sz="28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RNA polymerase (RdRp)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1779548" y="2258808"/>
            <a:ext cx="1528618" cy="60474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 smtClean="0">
                <a:solidFill>
                  <a:schemeClr val="tx2"/>
                </a:solidFill>
                <a:latin typeface="Arial" charset="0"/>
              </a:rPr>
              <a:t>RdRp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7" name="Right Arrow 16"/>
          <p:cNvSpPr/>
          <p:nvPr/>
        </p:nvSpPr>
        <p:spPr bwMode="auto">
          <a:xfrm>
            <a:off x="2162640" y="3336094"/>
            <a:ext cx="1108364" cy="263237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30472" y="3117886"/>
            <a:ext cx="2228220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(+ </a:t>
            </a:r>
            <a:r>
              <a:rPr lang="fr-FR" sz="28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ssRNA</a:t>
            </a: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28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mRNA</a:t>
            </a:r>
            <a:r>
              <a:rPr 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08166" y="5486831"/>
            <a:ext cx="2495858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(-RNA)</a:t>
            </a:r>
            <a:r>
              <a:rPr 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5447900"/>
            <a:ext cx="241451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(+RNA)</a:t>
            </a:r>
            <a:r>
              <a:rPr 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28909" y="5408048"/>
            <a:ext cx="246713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(-RNA)</a:t>
            </a:r>
            <a:r>
              <a:rPr 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6" name="Straight Arrow Connector 25"/>
          <p:cNvCxnSpPr/>
          <p:nvPr/>
        </p:nvCxnSpPr>
        <p:spPr bwMode="auto">
          <a:xfrm flipH="1">
            <a:off x="6159624" y="4533173"/>
            <a:ext cx="1005216" cy="110619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8967714" y="4533173"/>
            <a:ext cx="305596" cy="98538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Arrow Connector 32"/>
          <p:cNvCxnSpPr/>
          <p:nvPr/>
        </p:nvCxnSpPr>
        <p:spPr bwMode="auto">
          <a:xfrm>
            <a:off x="5804024" y="5885101"/>
            <a:ext cx="7112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/>
          <p:cNvCxnSpPr/>
          <p:nvPr/>
        </p:nvCxnSpPr>
        <p:spPr bwMode="auto">
          <a:xfrm>
            <a:off x="8917709" y="5940355"/>
            <a:ext cx="7112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Right Arrow 36"/>
          <p:cNvSpPr/>
          <p:nvPr/>
        </p:nvSpPr>
        <p:spPr bwMode="auto">
          <a:xfrm>
            <a:off x="5532880" y="3347044"/>
            <a:ext cx="1471231" cy="33886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1539310" y="1863363"/>
            <a:ext cx="2175164" cy="38792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Replic</a:t>
            </a:r>
            <a:r>
              <a:rPr lang="fr-FR" b="1" dirty="0" smtClean="0">
                <a:solidFill>
                  <a:sysClr val="windowText" lastClr="000000"/>
                </a:solidFill>
                <a:latin typeface="Arial" charset="0"/>
              </a:rPr>
              <a:t>ation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5497625" y="2004676"/>
            <a:ext cx="2175164" cy="38792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 smtClean="0">
                <a:solidFill>
                  <a:sysClr val="windowText" lastClr="000000"/>
                </a:solidFill>
                <a:latin typeface="Arial" charset="0"/>
              </a:rPr>
              <a:t>Translation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  <p:sp>
        <p:nvSpPr>
          <p:cNvPr id="42" name="Oval 41"/>
          <p:cNvSpPr/>
          <p:nvPr/>
        </p:nvSpPr>
        <p:spPr bwMode="auto">
          <a:xfrm>
            <a:off x="5636221" y="2396124"/>
            <a:ext cx="1528618" cy="60474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dirty="0" smtClean="0">
                <a:solidFill>
                  <a:schemeClr val="tx2"/>
                </a:solidFill>
                <a:latin typeface="Arial" charset="0"/>
              </a:rPr>
              <a:t>Cell ribosomes</a:t>
            </a:r>
            <a:endParaRPr kumimoji="0" lang="fr-FR" sz="1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>
            <a:off x="6400530" y="2899882"/>
            <a:ext cx="0" cy="616594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 bwMode="auto">
          <a:xfrm>
            <a:off x="2626892" y="2805968"/>
            <a:ext cx="4618" cy="551594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 bwMode="auto">
          <a:xfrm>
            <a:off x="7164839" y="3117886"/>
            <a:ext cx="2995161" cy="71982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proteins         (capsid and GP) </a:t>
            </a:r>
            <a:endParaRPr lang="fr-FR" b="1" dirty="0">
              <a:solidFill>
                <a:sysClr val="windowText" lastClr="000000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164839" y="3934691"/>
            <a:ext cx="2995161" cy="4649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enzymes (RdRp)</a:t>
            </a:r>
            <a:endParaRPr lang="fr-FR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01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21</a:t>
            </a:fld>
            <a:endParaRPr lang="en-GB" altLang="ru-RU"/>
          </a:p>
        </p:txBody>
      </p:sp>
      <p:sp>
        <p:nvSpPr>
          <p:cNvPr id="5" name="Rectangle 4"/>
          <p:cNvSpPr/>
          <p:nvPr/>
        </p:nvSpPr>
        <p:spPr>
          <a:xfrm>
            <a:off x="249381" y="168671"/>
            <a:ext cx="11333019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Retroviruses </a:t>
            </a:r>
            <a:r>
              <a:rPr lang="fr-FR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(with reverse transcriptase) = RNA-</a:t>
            </a:r>
            <a:r>
              <a:rPr lang="fr-FR" sz="28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lang="fr-FR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DNA polymerase 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09600" y="3359725"/>
            <a:ext cx="1856509" cy="7342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Viral RNA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680111" y="3373021"/>
            <a:ext cx="1856509" cy="7342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 err="1" smtClean="0">
                <a:solidFill>
                  <a:schemeClr val="tx2"/>
                </a:solidFill>
                <a:latin typeface="Arial" charset="0"/>
              </a:rPr>
              <a:t>ssDNA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702706" y="3373021"/>
            <a:ext cx="1856509" cy="7342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 err="1">
                <a:solidFill>
                  <a:schemeClr val="tx2"/>
                </a:solidFill>
                <a:latin typeface="Arial" charset="0"/>
              </a:rPr>
              <a:t>d</a:t>
            </a:r>
            <a:r>
              <a:rPr lang="fr-FR" sz="2400" b="1" dirty="0" err="1" smtClean="0">
                <a:solidFill>
                  <a:schemeClr val="tx2"/>
                </a:solidFill>
                <a:latin typeface="Arial" charset="0"/>
              </a:rPr>
              <a:t>sDNA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885372" y="1584121"/>
            <a:ext cx="2784764" cy="1338777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RdDp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 smtClean="0">
                <a:solidFill>
                  <a:sysClr val="windowText" lastClr="000000"/>
                </a:solidFill>
                <a:latin typeface="Arial" charset="0"/>
              </a:rPr>
              <a:t>R, transcriptase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flipV="1">
            <a:off x="2540000" y="3702621"/>
            <a:ext cx="1524000" cy="1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 bwMode="auto">
          <a:xfrm flipV="1">
            <a:off x="5393454" y="3719931"/>
            <a:ext cx="1226127" cy="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 bwMode="auto">
          <a:xfrm>
            <a:off x="3322783" y="2962408"/>
            <a:ext cx="19626" cy="74021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6"/>
          <p:cNvSpPr/>
          <p:nvPr/>
        </p:nvSpPr>
        <p:spPr bwMode="auto">
          <a:xfrm>
            <a:off x="5123872" y="1820017"/>
            <a:ext cx="2784764" cy="1338777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RdDp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 smtClean="0">
                <a:solidFill>
                  <a:sysClr val="windowText" lastClr="000000"/>
                </a:solidFill>
                <a:latin typeface="Arial" charset="0"/>
              </a:rPr>
              <a:t>R, transcriptase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 bwMode="auto">
          <a:xfrm flipH="1">
            <a:off x="6289958" y="2912775"/>
            <a:ext cx="1" cy="78984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Oval 21"/>
          <p:cNvSpPr/>
          <p:nvPr/>
        </p:nvSpPr>
        <p:spPr bwMode="auto">
          <a:xfrm>
            <a:off x="8362372" y="2217192"/>
            <a:ext cx="2286001" cy="74753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Integrase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9621976" y="3373021"/>
            <a:ext cx="1856509" cy="7342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 smtClean="0">
                <a:solidFill>
                  <a:schemeClr val="tx2"/>
                </a:solidFill>
                <a:latin typeface="Arial" charset="0"/>
              </a:rPr>
              <a:t>In </a:t>
            </a:r>
            <a:r>
              <a:rPr lang="fr-FR" sz="2400" b="1" dirty="0" err="1" smtClean="0">
                <a:solidFill>
                  <a:schemeClr val="tx2"/>
                </a:solidFill>
                <a:latin typeface="Arial" charset="0"/>
              </a:rPr>
              <a:t>cell</a:t>
            </a:r>
            <a:r>
              <a:rPr lang="fr-FR" sz="2400" b="1" dirty="0" smtClean="0">
                <a:solidFill>
                  <a:schemeClr val="tx2"/>
                </a:solidFill>
                <a:latin typeface="Arial" charset="0"/>
              </a:rPr>
              <a:t> DNA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 bwMode="auto">
          <a:xfrm flipV="1">
            <a:off x="8395849" y="3726868"/>
            <a:ext cx="1226127" cy="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 bwMode="auto">
          <a:xfrm flipH="1">
            <a:off x="9000822" y="2930085"/>
            <a:ext cx="1" cy="78984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Rectangle 26"/>
          <p:cNvSpPr/>
          <p:nvPr/>
        </p:nvSpPr>
        <p:spPr bwMode="auto">
          <a:xfrm>
            <a:off x="9621975" y="5310608"/>
            <a:ext cx="1856509" cy="7342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 err="1" smtClean="0">
                <a:solidFill>
                  <a:schemeClr val="tx2"/>
                </a:solidFill>
                <a:latin typeface="Arial" charset="0"/>
              </a:rPr>
              <a:t>RNAm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 bwMode="auto">
          <a:xfrm>
            <a:off x="10413987" y="4123816"/>
            <a:ext cx="4631" cy="118679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30"/>
          <p:cNvSpPr/>
          <p:nvPr/>
        </p:nvSpPr>
        <p:spPr bwMode="auto">
          <a:xfrm>
            <a:off x="11009162" y="4439494"/>
            <a:ext cx="1146476" cy="56050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Cell</a:t>
            </a:r>
            <a:r>
              <a:rPr kumimoji="0" lang="fr-FR" sz="1400" b="1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 RNA poly</a:t>
            </a:r>
            <a:endParaRPr kumimoji="0" lang="fr-FR" sz="1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1" idx="1"/>
          </p:cNvCxnSpPr>
          <p:nvPr/>
        </p:nvCxnSpPr>
        <p:spPr bwMode="auto">
          <a:xfrm flipH="1" flipV="1">
            <a:off x="10550229" y="4717212"/>
            <a:ext cx="458933" cy="25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/>
          <p:cNvCxnSpPr/>
          <p:nvPr/>
        </p:nvCxnSpPr>
        <p:spPr bwMode="auto">
          <a:xfrm flipH="1">
            <a:off x="7190509" y="5677753"/>
            <a:ext cx="2269248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5"/>
          <p:cNvSpPr/>
          <p:nvPr/>
        </p:nvSpPr>
        <p:spPr bwMode="auto">
          <a:xfrm>
            <a:off x="5230098" y="5301978"/>
            <a:ext cx="1856509" cy="7342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 smtClean="0">
                <a:solidFill>
                  <a:schemeClr val="tx2"/>
                </a:solidFill>
                <a:latin typeface="Arial" charset="0"/>
              </a:rPr>
              <a:t>Viral proteins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7588230" y="5030356"/>
            <a:ext cx="1412592" cy="56050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translation</a:t>
            </a:r>
          </a:p>
        </p:txBody>
      </p:sp>
      <p:sp>
        <p:nvSpPr>
          <p:cNvPr id="28" name="Oval 27"/>
          <p:cNvSpPr/>
          <p:nvPr/>
        </p:nvSpPr>
        <p:spPr bwMode="auto">
          <a:xfrm>
            <a:off x="7480294" y="4489007"/>
            <a:ext cx="1528618" cy="60474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dirty="0" smtClean="0">
                <a:solidFill>
                  <a:schemeClr val="tx2"/>
                </a:solidFill>
                <a:latin typeface="Arial" charset="0"/>
              </a:rPr>
              <a:t>Cell ribosomes</a:t>
            </a:r>
            <a:endParaRPr kumimoji="0" lang="fr-FR" sz="1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38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dirty="0" smtClean="0"/>
              <a:t>Designed by PoweredTemplate.com</a:t>
            </a:r>
            <a:endParaRPr lang="en-GB" alt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22</a:t>
            </a:fld>
            <a:endParaRPr lang="en-GB" altLang="ru-RU"/>
          </a:p>
        </p:txBody>
      </p:sp>
      <p:pic>
        <p:nvPicPr>
          <p:cNvPr id="3078" name="Picture 6" descr="Transcription and replication of a virus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346364"/>
            <a:ext cx="11346872" cy="594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 bwMode="auto">
          <a:xfrm>
            <a:off x="609600" y="5641829"/>
            <a:ext cx="10898477" cy="64813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 b="1" dirty="0" smtClean="0">
                <a:solidFill>
                  <a:schemeClr val="tx2"/>
                </a:solidFill>
                <a:latin typeface="Arial" charset="0"/>
              </a:rPr>
              <a:t>Replication of viral genom and formation on new virion   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95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AF056-1F1B-4E70-8A50-B87845E5C77B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277FE-53D7-42B5-9280-8A49180C2E8D}" type="slidenum">
              <a:rPr lang="en-GB" altLang="ru-RU" smtClean="0"/>
              <a:pPr/>
              <a:t>23</a:t>
            </a:fld>
            <a:endParaRPr lang="en-GB" altLang="ru-RU"/>
          </a:p>
        </p:txBody>
      </p:sp>
      <p:sp>
        <p:nvSpPr>
          <p:cNvPr id="7" name="Rectangle 6"/>
          <p:cNvSpPr/>
          <p:nvPr/>
        </p:nvSpPr>
        <p:spPr bwMode="auto">
          <a:xfrm>
            <a:off x="156753" y="117566"/>
            <a:ext cx="5440483" cy="83602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5- Assembly (Maturation 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00" y="1216747"/>
            <a:ext cx="11988800" cy="415498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4400" dirty="0" smtClean="0">
                <a:solidFill>
                  <a:schemeClr val="tx2"/>
                </a:solidFill>
              </a:rPr>
              <a:t>During </a:t>
            </a:r>
            <a:r>
              <a:rPr lang="en-US" sz="4400" dirty="0">
                <a:solidFill>
                  <a:schemeClr val="tx2"/>
                </a:solidFill>
              </a:rPr>
              <a:t>this </a:t>
            </a:r>
            <a:r>
              <a:rPr lang="en-US" sz="4400" dirty="0" smtClean="0">
                <a:solidFill>
                  <a:schemeClr val="tx2"/>
                </a:solidFill>
              </a:rPr>
              <a:t>step, </a:t>
            </a:r>
            <a:r>
              <a:rPr lang="en-US" sz="4400" dirty="0">
                <a:solidFill>
                  <a:schemeClr val="tx2"/>
                </a:solidFill>
              </a:rPr>
              <a:t>newly synthesized genome (nucleic acid), and proteins are assembled to form new virus particles</a:t>
            </a:r>
            <a:r>
              <a:rPr lang="en-US" sz="4400" dirty="0" smtClean="0">
                <a:solidFill>
                  <a:schemeClr val="tx2"/>
                </a:solidFill>
              </a:rPr>
              <a:t>.</a:t>
            </a:r>
          </a:p>
          <a:p>
            <a:r>
              <a:rPr lang="en-US" sz="4400" dirty="0" smtClean="0">
                <a:solidFill>
                  <a:schemeClr val="tx2"/>
                </a:solidFill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4400" dirty="0" smtClean="0">
                <a:solidFill>
                  <a:schemeClr val="tx2"/>
                </a:solidFill>
              </a:rPr>
              <a:t>This </a:t>
            </a:r>
            <a:r>
              <a:rPr lang="en-US" sz="4400" dirty="0">
                <a:solidFill>
                  <a:schemeClr val="tx2"/>
                </a:solidFill>
              </a:rPr>
              <a:t>may </a:t>
            </a:r>
            <a:r>
              <a:rPr lang="en-US" sz="4400" dirty="0" smtClean="0">
                <a:solidFill>
                  <a:schemeClr val="tx2"/>
                </a:solidFill>
              </a:rPr>
              <a:t>occur in </a:t>
            </a:r>
            <a:r>
              <a:rPr lang="en-US" sz="4400" dirty="0">
                <a:solidFill>
                  <a:schemeClr val="tx2"/>
                </a:solidFill>
              </a:rPr>
              <a:t>the </a:t>
            </a:r>
            <a:r>
              <a:rPr lang="en-US" sz="4400" dirty="0" smtClean="0">
                <a:solidFill>
                  <a:schemeClr val="tx2"/>
                </a:solidFill>
              </a:rPr>
              <a:t>cell nucleus or in cell cytoplasm</a:t>
            </a:r>
            <a:endParaRPr lang="fr-FR" sz="4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77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24</a:t>
            </a:fld>
            <a:endParaRPr lang="en-GB" altLang="ru-R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" y="18268"/>
            <a:ext cx="12067308" cy="67746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2585917" y="18268"/>
            <a:ext cx="5440483" cy="609600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5- Assembly (Maturation )</a:t>
            </a:r>
          </a:p>
        </p:txBody>
      </p:sp>
    </p:spTree>
    <p:extLst>
      <p:ext uri="{BB962C8B-B14F-4D97-AF65-F5344CB8AC3E}">
        <p14:creationId xmlns:p14="http://schemas.microsoft.com/office/powerpoint/2010/main" val="422621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25</a:t>
            </a:fld>
            <a:endParaRPr lang="en-GB" altLang="ru-RU"/>
          </a:p>
        </p:txBody>
      </p:sp>
      <p:sp>
        <p:nvSpPr>
          <p:cNvPr id="8" name="Rectangle 7"/>
          <p:cNvSpPr/>
          <p:nvPr/>
        </p:nvSpPr>
        <p:spPr bwMode="auto">
          <a:xfrm>
            <a:off x="193964" y="0"/>
            <a:ext cx="3260436" cy="5818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6- Release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4" y="1646834"/>
            <a:ext cx="11887200" cy="514608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Rectangle 9"/>
          <p:cNvSpPr/>
          <p:nvPr/>
        </p:nvSpPr>
        <p:spPr>
          <a:xfrm>
            <a:off x="152400" y="637309"/>
            <a:ext cx="11887200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 virus release from an infected cell </a:t>
            </a:r>
            <a:r>
              <a:rPr lang="en-US" sz="2800" b="1" dirty="0" smtClean="0">
                <a:solidFill>
                  <a:schemeClr val="tx2"/>
                </a:solidFill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occurs </a:t>
            </a:r>
            <a:r>
              <a:rPr lang="en-US" sz="2800" b="1" dirty="0">
                <a:solidFill>
                  <a:schemeClr val="tx2"/>
                </a:solidFill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via budding, exocytosis, or cell lysis </a:t>
            </a:r>
            <a:endParaRPr lang="fr-FR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15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26</a:t>
            </a:fld>
            <a:endParaRPr lang="en-GB" altLang="ru-RU"/>
          </a:p>
        </p:txBody>
      </p:sp>
      <p:pic>
        <p:nvPicPr>
          <p:cNvPr id="4098" name="Picture 2" descr="Release of a virus by budd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5128"/>
            <a:ext cx="12192000" cy="594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223982" y="6217661"/>
            <a:ext cx="4361873" cy="471056"/>
          </a:xfrm>
          <a:prstGeom prst="rect">
            <a:avLst/>
          </a:prstGeom>
          <a:solidFill>
            <a:srgbClr val="FFFEF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6084442"/>
            <a:ext cx="11402291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HIV,</a:t>
            </a:r>
            <a:r>
              <a:rPr lang="en-US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influenza virus, and measles virus</a:t>
            </a:r>
            <a:r>
              <a:rPr lang="en-US" sz="32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6491" y="204144"/>
            <a:ext cx="1145539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Release of virus by budding from </a:t>
            </a:r>
            <a:r>
              <a:rPr lang="en-US" sz="36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host cell membrane </a:t>
            </a:r>
            <a:endParaRPr lang="fr-FR" sz="3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6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46B9-F4ED-4B35-B51C-278C610D3729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F7EF5-BBAD-4398-B91B-9F2F21EAC406}" type="slidenum">
              <a:rPr lang="en-GB" altLang="ru-RU" smtClean="0"/>
              <a:pPr/>
              <a:t>27</a:t>
            </a:fld>
            <a:endParaRPr lang="en-GB" altLang="ru-RU"/>
          </a:p>
        </p:txBody>
      </p:sp>
      <p:pic>
        <p:nvPicPr>
          <p:cNvPr id="5" name="Picture 4" descr="Herpesvirus Nuclear Egress across the Outer Nuclear Membrane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54" y="762000"/>
            <a:ext cx="11873346" cy="5888182"/>
          </a:xfrm>
          <a:prstGeom prst="rect">
            <a:avLst/>
          </a:prstGeom>
          <a:noFill/>
          <a:extLst/>
        </p:spPr>
      </p:pic>
      <p:sp>
        <p:nvSpPr>
          <p:cNvPr id="6" name="Rectangle 5"/>
          <p:cNvSpPr/>
          <p:nvPr/>
        </p:nvSpPr>
        <p:spPr>
          <a:xfrm>
            <a:off x="318654" y="34493"/>
            <a:ext cx="11873346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 </a:t>
            </a:r>
            <a:r>
              <a:rPr lang="en-US" sz="36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virus </a:t>
            </a:r>
            <a:r>
              <a:rPr lang="en-US" sz="3600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36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exocytosis from the host cell </a:t>
            </a:r>
            <a:r>
              <a:rPr lang="en-US" sz="3600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membrane </a:t>
            </a:r>
            <a:endParaRPr lang="fr-F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7855" y="5329826"/>
            <a:ext cx="2202873" cy="600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2"/>
                </a:solidFill>
              </a:rPr>
              <a:t>Exocytosis</a:t>
            </a:r>
            <a:endParaRPr lang="fr-FR" sz="2800" b="1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1" y="5858603"/>
            <a:ext cx="238760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Herpesvirus </a:t>
            </a:r>
            <a:endParaRPr lang="fr-FR" sz="2800" dirty="0"/>
          </a:p>
        </p:txBody>
      </p:sp>
      <p:sp>
        <p:nvSpPr>
          <p:cNvPr id="9" name="Rectangle 8"/>
          <p:cNvSpPr/>
          <p:nvPr/>
        </p:nvSpPr>
        <p:spPr>
          <a:xfrm>
            <a:off x="4419602" y="1022664"/>
            <a:ext cx="1662544" cy="414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2"/>
                </a:solidFill>
              </a:rPr>
              <a:t>budding</a:t>
            </a:r>
            <a:endParaRPr lang="fr-FR" sz="2400" b="1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38656" y="1229943"/>
            <a:ext cx="1662544" cy="414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2"/>
                </a:solidFill>
              </a:rPr>
              <a:t>budding</a:t>
            </a:r>
            <a:endParaRPr lang="fr-FR" sz="2400" b="1" dirty="0">
              <a:solidFill>
                <a:schemeClr val="tx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1020" y="4153791"/>
            <a:ext cx="1468581" cy="362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2"/>
                </a:solidFill>
              </a:rPr>
              <a:t>Exocytosis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277765" y="3193035"/>
            <a:ext cx="944417" cy="381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2"/>
                </a:solidFill>
              </a:rPr>
              <a:t>fusion</a:t>
            </a:r>
            <a:endParaRPr lang="fr-FR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28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0" y="730104"/>
            <a:ext cx="12067309" cy="61278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5127" y="145330"/>
            <a:ext cx="10958946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 </a:t>
            </a:r>
            <a:r>
              <a:rPr lang="en-US" sz="32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virus </a:t>
            </a:r>
            <a:r>
              <a:rPr lang="en-US" sz="3200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3200" b="1" u="sng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exocytosis</a:t>
            </a:r>
            <a:r>
              <a:rPr lang="en-US" sz="32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host cell membrane</a:t>
            </a:r>
            <a:r>
              <a:rPr lang="en-US" sz="3200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5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BD73-A656-44C5-AE0B-06C7EDDACB70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246F-0F5C-4E6D-B2A1-6E702907B516}" type="slidenum">
              <a:rPr lang="en-GB" altLang="ru-RU" smtClean="0"/>
              <a:pPr/>
              <a:t>29</a:t>
            </a:fld>
            <a:endParaRPr lang="en-GB" altLang="ru-RU"/>
          </a:p>
        </p:txBody>
      </p:sp>
      <p:pic>
        <p:nvPicPr>
          <p:cNvPr id="6" name="Picture 5" descr="Overview of the Methods and Strategies in Virology | Basicmedical Key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09" y="332510"/>
            <a:ext cx="11845635" cy="63592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776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9" descr="Résultat de recherche d'images pour &quot;cell lysis by virus&quot;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4950" y="627018"/>
            <a:ext cx="10515600" cy="5394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" y="6061166"/>
            <a:ext cx="120811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Cell membrane </a:t>
            </a:r>
            <a:r>
              <a:rPr lang="fr-FR" sz="2800" b="1" dirty="0" err="1" smtClean="0"/>
              <a:t>lysis</a:t>
            </a:r>
            <a:r>
              <a:rPr lang="fr-FR" sz="2800" b="1" dirty="0" smtClean="0"/>
              <a:t> and release of non-enveloped viruses. </a:t>
            </a:r>
            <a:r>
              <a:rPr lang="fr-FR" sz="2800" b="1" dirty="0"/>
              <a:t>Exemple : </a:t>
            </a:r>
            <a:r>
              <a:rPr lang="fr-FR" sz="2800" b="1" dirty="0" err="1"/>
              <a:t>Rotavirus</a:t>
            </a:r>
            <a:endParaRPr lang="fr-FR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404950" y="587829"/>
            <a:ext cx="10631669" cy="509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809897" y="1567543"/>
            <a:ext cx="1463040" cy="627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8373291" y="1567543"/>
            <a:ext cx="1371600" cy="731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ysClr val="windowText" lastClr="000000"/>
                </a:solidFill>
              </a:rPr>
              <a:t>Virus release</a:t>
            </a:r>
            <a:endParaRPr lang="fr-FR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76012" y="4075611"/>
            <a:ext cx="1685109" cy="692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ysClr val="windowText" lastClr="000000"/>
                </a:solidFill>
              </a:rPr>
              <a:t>Cell </a:t>
            </a:r>
            <a:r>
              <a:rPr lang="fr-FR" b="1" dirty="0" err="1" smtClean="0">
                <a:solidFill>
                  <a:sysClr val="windowText" lastClr="000000"/>
                </a:solidFill>
              </a:rPr>
              <a:t>lysis</a:t>
            </a:r>
            <a:endParaRPr lang="fr-FR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79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BD73-A656-44C5-AE0B-06C7EDDACB70}" type="datetime1">
              <a:rPr lang="en-US" altLang="ru-RU" smtClean="0"/>
              <a:pPr/>
              <a:t>11/1/2025</a:t>
            </a:fld>
            <a:endParaRPr lang="en-GB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ru-RU" smtClean="0"/>
              <a:t>Designed by PoweredTemplate.com</a:t>
            </a:r>
            <a:endParaRPr lang="en-GB" alt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246F-0F5C-4E6D-B2A1-6E702907B516}" type="slidenum">
              <a:rPr lang="en-GB" altLang="ru-RU" smtClean="0"/>
              <a:pPr/>
              <a:t>31</a:t>
            </a:fld>
            <a:endParaRPr lang="en-GB" altLang="ru-R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18655"/>
            <a:ext cx="6123709" cy="544483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H="1">
            <a:off x="3269674" y="2776322"/>
            <a:ext cx="212436" cy="374073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 flipH="1">
            <a:off x="3583710" y="3228109"/>
            <a:ext cx="406399" cy="47105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 flipH="1">
            <a:off x="4163290" y="3699164"/>
            <a:ext cx="212436" cy="37407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/>
          <p:nvPr/>
        </p:nvCxnSpPr>
        <p:spPr bwMode="auto">
          <a:xfrm flipH="1">
            <a:off x="4375726" y="4231050"/>
            <a:ext cx="212436" cy="37407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90" y="318654"/>
            <a:ext cx="5576455" cy="544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79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template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</TotalTime>
  <Words>909</Words>
  <Application>Microsoft Office PowerPoint</Application>
  <PresentationFormat>Grand écran</PresentationFormat>
  <Paragraphs>267</Paragraphs>
  <Slides>31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31</vt:i4>
      </vt:variant>
    </vt:vector>
  </HeadingPairs>
  <TitlesOfParts>
    <vt:vector size="40" baseType="lpstr">
      <vt:lpstr>Amiri Quran</vt:lpstr>
      <vt:lpstr>Arial</vt:lpstr>
      <vt:lpstr>Calibri</vt:lpstr>
      <vt:lpstr>Calibri Light</vt:lpstr>
      <vt:lpstr>Georgia</vt:lpstr>
      <vt:lpstr>Times New Roman</vt:lpstr>
      <vt:lpstr>Wingdings</vt:lpstr>
      <vt:lpstr>Office Theme</vt:lpstr>
      <vt:lpstr>template</vt:lpstr>
      <vt:lpstr>VIRAL REPLICATION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Amel</cp:lastModifiedBy>
  <cp:revision>221</cp:revision>
  <dcterms:created xsi:type="dcterms:W3CDTF">2024-10-23T09:46:46Z</dcterms:created>
  <dcterms:modified xsi:type="dcterms:W3CDTF">2025-11-01T19:00:55Z</dcterms:modified>
</cp:coreProperties>
</file>