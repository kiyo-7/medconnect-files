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0" r:id="rId7"/>
    <p:sldId id="296" r:id="rId8"/>
    <p:sldId id="266" r:id="rId9"/>
    <p:sldId id="297" r:id="rId10"/>
    <p:sldId id="265" r:id="rId11"/>
    <p:sldId id="310" r:id="rId12"/>
    <p:sldId id="313" r:id="rId13"/>
    <p:sldId id="312" r:id="rId14"/>
    <p:sldId id="267" r:id="rId15"/>
    <p:sldId id="269" r:id="rId16"/>
    <p:sldId id="279" r:id="rId17"/>
    <p:sldId id="271" r:id="rId18"/>
    <p:sldId id="272" r:id="rId19"/>
    <p:sldId id="280" r:id="rId20"/>
    <p:sldId id="284" r:id="rId21"/>
    <p:sldId id="283" r:id="rId22"/>
    <p:sldId id="282" r:id="rId23"/>
    <p:sldId id="311" r:id="rId24"/>
    <p:sldId id="281" r:id="rId25"/>
    <p:sldId id="287" r:id="rId26"/>
    <p:sldId id="288" r:id="rId27"/>
    <p:sldId id="315" r:id="rId28"/>
    <p:sldId id="314" r:id="rId29"/>
    <p:sldId id="290" r:id="rId30"/>
    <p:sldId id="291" r:id="rId31"/>
    <p:sldId id="293" r:id="rId32"/>
    <p:sldId id="316" r:id="rId33"/>
    <p:sldId id="317" r:id="rId34"/>
    <p:sldId id="318" r:id="rId35"/>
    <p:sldId id="294" r:id="rId36"/>
    <p:sldId id="295" r:id="rId37"/>
    <p:sldId id="299" r:id="rId38"/>
    <p:sldId id="300" r:id="rId39"/>
    <p:sldId id="319" r:id="rId40"/>
    <p:sldId id="320" r:id="rId41"/>
    <p:sldId id="309" r:id="rId42"/>
    <p:sldId id="302" r:id="rId43"/>
    <p:sldId id="322" r:id="rId44"/>
    <p:sldId id="321" r:id="rId45"/>
    <p:sldId id="323" r:id="rId46"/>
    <p:sldId id="303" r:id="rId47"/>
    <p:sldId id="308" r:id="rId48"/>
    <p:sldId id="304" r:id="rId49"/>
    <p:sldId id="324" r:id="rId50"/>
    <p:sldId id="307" r:id="rId51"/>
    <p:sldId id="306" r:id="rId52"/>
    <p:sldId id="325" r:id="rId53"/>
    <p:sldId id="326" r:id="rId54"/>
    <p:sldId id="327" r:id="rId55"/>
    <p:sldId id="328" r:id="rId5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52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snapToGrid="0">
      <p:cViewPr varScale="1">
        <p:scale>
          <a:sx n="74" d="100"/>
          <a:sy n="74" d="100"/>
        </p:scale>
        <p:origin x="5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7C165568-F7A7-4DE5-B14F-A7AA270EED5F}" type="datetimeFigureOut">
              <a:rPr lang="fr-FR" smtClean="0"/>
              <a:t>11/01/2026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4264333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C165568-F7A7-4DE5-B14F-A7AA270EED5F}" type="datetimeFigureOut">
              <a:rPr lang="fr-FR" smtClean="0"/>
              <a:t>11/01/2026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32740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C165568-F7A7-4DE5-B14F-A7AA270EED5F}" type="datetimeFigureOut">
              <a:rPr lang="fr-FR" smtClean="0"/>
              <a:t>11/01/2026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2213159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7C165568-F7A7-4DE5-B14F-A7AA270EED5F}" type="datetimeFigureOut">
              <a:rPr lang="fr-FR" smtClean="0"/>
              <a:t>11/01/2026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158169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7C165568-F7A7-4DE5-B14F-A7AA270EED5F}" type="datetimeFigureOut">
              <a:rPr lang="fr-FR" smtClean="0"/>
              <a:t>11/01/2026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545101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7C165568-F7A7-4DE5-B14F-A7AA270EED5F}" type="datetimeFigureOut">
              <a:rPr lang="fr-FR" smtClean="0"/>
              <a:t>11/01/2026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2372133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165568-F7A7-4DE5-B14F-A7AA270EED5F}" type="datetimeFigureOut">
              <a:rPr lang="fr-FR" smtClean="0"/>
              <a:t>11/01/2026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3476184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C165568-F7A7-4DE5-B14F-A7AA270EED5F}" type="datetimeFigureOut">
              <a:rPr lang="fr-FR" smtClean="0"/>
              <a:t>11/01/2026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3785320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C165568-F7A7-4DE5-B14F-A7AA270EED5F}" type="datetimeFigureOut">
              <a:rPr lang="fr-FR" smtClean="0"/>
              <a:t>11/01/2026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1012724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C165568-F7A7-4DE5-B14F-A7AA270EED5F}" type="datetimeFigureOut">
              <a:rPr lang="fr-FR" smtClean="0"/>
              <a:t>11/01/2026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1521355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7C165568-F7A7-4DE5-B14F-A7AA270EED5F}" type="datetimeFigureOut">
              <a:rPr lang="fr-FR" smtClean="0"/>
              <a:t>11/01/2026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C6DCD50-0342-43D2-99AD-F1DF70530A3A}" type="slidenum">
              <a:rPr lang="fr-FR" smtClean="0"/>
              <a:t>‹N°›</a:t>
            </a:fld>
            <a:endParaRPr lang="fr-FR"/>
          </a:p>
        </p:txBody>
      </p:sp>
    </p:spTree>
    <p:extLst>
      <p:ext uri="{BB962C8B-B14F-4D97-AF65-F5344CB8AC3E}">
        <p14:creationId xmlns:p14="http://schemas.microsoft.com/office/powerpoint/2010/main" val="752494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165568-F7A7-4DE5-B14F-A7AA270EED5F}" type="datetimeFigureOut">
              <a:rPr lang="fr-FR" smtClean="0"/>
              <a:t>11/01/2026</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6DCD50-0342-43D2-99AD-F1DF70530A3A}" type="slidenum">
              <a:rPr lang="fr-FR" smtClean="0"/>
              <a:t>‹N°›</a:t>
            </a:fld>
            <a:endParaRPr lang="fr-FR"/>
          </a:p>
        </p:txBody>
      </p:sp>
    </p:spTree>
    <p:extLst>
      <p:ext uri="{BB962C8B-B14F-4D97-AF65-F5344CB8AC3E}">
        <p14:creationId xmlns:p14="http://schemas.microsoft.com/office/powerpoint/2010/main" val="3443109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http://images.slideplayer.fr/12/3891671/slides/slide_3.jpg" TargetMode="External"/><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http://www.facbio.com/content/images/stories/bio/Membrane/FBM_GlucIntestin.jpg" TargetMode="External"/><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097280"/>
            <a:ext cx="12191999" cy="5760718"/>
          </a:xfrm>
          <a:prstGeom prst="rect">
            <a:avLst/>
          </a:prstGeom>
        </p:spPr>
      </p:pic>
      <p:sp>
        <p:nvSpPr>
          <p:cNvPr id="7" name="Rectangle 6"/>
          <p:cNvSpPr/>
          <p:nvPr/>
        </p:nvSpPr>
        <p:spPr>
          <a:xfrm>
            <a:off x="1" y="679269"/>
            <a:ext cx="12191998" cy="109728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6600" b="1" dirty="0" smtClean="0">
                <a:solidFill>
                  <a:schemeClr val="tx1"/>
                </a:solidFill>
                <a:latin typeface="Times New Roman" panose="02020603050405020304" pitchFamily="18" charset="0"/>
                <a:cs typeface="Times New Roman" panose="02020603050405020304" pitchFamily="18" charset="0"/>
              </a:rPr>
              <a:t>Membrane transport</a:t>
            </a:r>
            <a:endParaRPr lang="fr-FR" sz="7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Résultat de recherche d'images pour &quot;le virus du HIV&quot;"/>
          <p:cNvSpPr>
            <a:spLocks noChangeAspect="1" noChangeArrowheads="1"/>
          </p:cNvSpPr>
          <p:nvPr/>
        </p:nvSpPr>
        <p:spPr bwMode="auto">
          <a:xfrm>
            <a:off x="4175125" y="0"/>
            <a:ext cx="3375751" cy="654549"/>
          </a:xfrm>
          <a:prstGeom prst="rect">
            <a:avLst/>
          </a:prstGeom>
          <a:solidFill>
            <a:schemeClr val="accent1">
              <a:lumMod val="20000"/>
              <a:lumOff val="80000"/>
            </a:schemeClr>
          </a:solidFill>
          <a:ln>
            <a:noFill/>
          </a:ln>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None/>
            </a:pPr>
            <a:r>
              <a:rPr lang="ar-DZ" dirty="0"/>
              <a:t>{بِسْمِ اللَّهِ الرَّحْمَنِ الرَّحِيمِ}</a:t>
            </a:r>
            <a:r>
              <a:rPr lang="ar-DZ" sz="1800" dirty="0"/>
              <a:t/>
            </a:r>
            <a:br>
              <a:rPr lang="ar-DZ" sz="1800" dirty="0"/>
            </a:br>
            <a:endParaRPr lang="fr-FR" altLang="fr-FR" sz="1800" dirty="0"/>
          </a:p>
        </p:txBody>
      </p:sp>
    </p:spTree>
    <p:extLst>
      <p:ext uri="{BB962C8B-B14F-4D97-AF65-F5344CB8AC3E}">
        <p14:creationId xmlns:p14="http://schemas.microsoft.com/office/powerpoint/2010/main" val="17453441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9017" y="4980"/>
            <a:ext cx="12202949" cy="6943617"/>
          </a:xfrm>
          <a:prstGeom prst="rect">
            <a:avLst/>
          </a:prstGeom>
        </p:spPr>
      </p:pic>
      <p:sp>
        <p:nvSpPr>
          <p:cNvPr id="5" name="Rectangle 4"/>
          <p:cNvSpPr/>
          <p:nvPr/>
        </p:nvSpPr>
        <p:spPr>
          <a:xfrm>
            <a:off x="4374006" y="-8267"/>
            <a:ext cx="5486977" cy="661594"/>
          </a:xfrm>
          <a:prstGeom prst="rect">
            <a:avLst/>
          </a:prstGeom>
          <a:solidFill>
            <a:schemeClr val="tx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800" b="1" dirty="0" smtClean="0">
                <a:solidFill>
                  <a:schemeClr val="bg1"/>
                </a:solidFill>
                <a:latin typeface="Times New Roman" panose="02020603050405020304" pitchFamily="18" charset="0"/>
                <a:cs typeface="Times New Roman" panose="02020603050405020304" pitchFamily="18" charset="0"/>
              </a:rPr>
              <a:t>Lesson plan</a:t>
            </a:r>
            <a:endParaRPr lang="fr-FR" sz="4800" b="1"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0" y="390758"/>
            <a:ext cx="3867758" cy="661594"/>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tx1"/>
                </a:solidFill>
                <a:latin typeface="Times New Roman" panose="02020603050405020304" pitchFamily="18" charset="0"/>
                <a:cs typeface="Times New Roman" panose="02020603050405020304" pitchFamily="18" charset="0"/>
              </a:rPr>
              <a:t>Introduction</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1752537" y="1314603"/>
            <a:ext cx="7260835" cy="661594"/>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1- Types of membrane transport</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a:off x="7877" y="2486232"/>
            <a:ext cx="4459620" cy="1537127"/>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1-1- Transport of small molecules</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6682356" y="2447191"/>
            <a:ext cx="4662031" cy="661594"/>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A- Passive transport </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6682355" y="3307084"/>
            <a:ext cx="4662031" cy="661594"/>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B- Active transport</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42109" y="5212970"/>
            <a:ext cx="4326078" cy="1335865"/>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1-2- Transport of macromolecules</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6681808" y="4862365"/>
            <a:ext cx="4417423" cy="661594"/>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A- Endocytosis</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6702159" y="5710974"/>
            <a:ext cx="4417423" cy="661594"/>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B- Exocytosis</a:t>
            </a:r>
            <a:endParaRPr lang="fr-FR" sz="4000" b="1" dirty="0">
              <a:solidFill>
                <a:schemeClr val="tx1"/>
              </a:solidFill>
              <a:latin typeface="Times New Roman" panose="02020603050405020304" pitchFamily="18" charset="0"/>
              <a:cs typeface="Times New Roman" panose="02020603050405020304" pitchFamily="18" charset="0"/>
            </a:endParaRPr>
          </a:p>
        </p:txBody>
      </p:sp>
      <p:cxnSp>
        <p:nvCxnSpPr>
          <p:cNvPr id="3" name="Straight Arrow Connector 2"/>
          <p:cNvCxnSpPr/>
          <p:nvPr/>
        </p:nvCxnSpPr>
        <p:spPr>
          <a:xfrm>
            <a:off x="5382954" y="2802106"/>
            <a:ext cx="1299402" cy="2366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402757" y="3698844"/>
            <a:ext cx="1299402" cy="2366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382954" y="2777988"/>
            <a:ext cx="0" cy="93269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467497" y="3244333"/>
            <a:ext cx="915457" cy="10462"/>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402757" y="6262169"/>
            <a:ext cx="1299402" cy="2366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439561" y="5205724"/>
            <a:ext cx="1299402" cy="2366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459650" y="5233578"/>
            <a:ext cx="0" cy="101970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1" idx="3"/>
          </p:cNvCxnSpPr>
          <p:nvPr/>
        </p:nvCxnSpPr>
        <p:spPr>
          <a:xfrm flipV="1">
            <a:off x="4368187" y="5867547"/>
            <a:ext cx="1071374" cy="13356"/>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8596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225142" y="0"/>
            <a:ext cx="6966857" cy="3579223"/>
          </a:xfrm>
          <a:prstGeom prst="rect">
            <a:avLst/>
          </a:prstGeom>
          <a:solidFill>
            <a:schemeClr val="bg1"/>
          </a:solidFill>
        </p:spPr>
      </p:pic>
      <p:pic>
        <p:nvPicPr>
          <p:cNvPr id="5" name="Picture 4"/>
          <p:cNvPicPr>
            <a:picLocks noChangeAspect="1"/>
          </p:cNvPicPr>
          <p:nvPr/>
        </p:nvPicPr>
        <p:blipFill>
          <a:blip r:embed="rId3"/>
          <a:stretch>
            <a:fillRect/>
          </a:stretch>
        </p:blipFill>
        <p:spPr>
          <a:xfrm>
            <a:off x="0" y="0"/>
            <a:ext cx="5225142" cy="3579223"/>
          </a:xfrm>
          <a:prstGeom prst="rect">
            <a:avLst/>
          </a:prstGeom>
        </p:spPr>
      </p:pic>
      <p:sp>
        <p:nvSpPr>
          <p:cNvPr id="7" name="Rectangle 6"/>
          <p:cNvSpPr/>
          <p:nvPr/>
        </p:nvSpPr>
        <p:spPr>
          <a:xfrm>
            <a:off x="1763486" y="0"/>
            <a:ext cx="8229599" cy="824088"/>
          </a:xfrm>
          <a:prstGeom prst="rect">
            <a:avLst/>
          </a:prstGeom>
          <a:solidFill>
            <a:schemeClr val="accent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tx1"/>
                </a:solidFill>
                <a:latin typeface="Times New Roman" panose="02020603050405020304" pitchFamily="18" charset="0"/>
                <a:cs typeface="Times New Roman" panose="02020603050405020304" pitchFamily="18" charset="0"/>
              </a:rPr>
              <a:t>Introduction</a:t>
            </a:r>
            <a:endParaRPr lang="fr-FR" sz="4000" b="1"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Membrane Cellulaire, Bi-couche Lipidique, 3d Illustration D'une Diffusion  De Molécules Liquides À Travers La Membrane Cellulaire Banque D'Images et  Photos Libres De Droits. Image 6338094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 y="3579223"/>
            <a:ext cx="5225142" cy="32787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ndocytose : plus de 429 illustrations et dessins de stock libres de droits  proposés sous licence | Shutterstock"/>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5141" y="3579222"/>
            <a:ext cx="6966858" cy="3278777"/>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p:cNvSpPr/>
          <p:nvPr/>
        </p:nvSpPr>
        <p:spPr>
          <a:xfrm>
            <a:off x="5225140" y="2913016"/>
            <a:ext cx="783771" cy="6662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1</a:t>
            </a:r>
            <a:endParaRPr lang="fr-FR" b="1" dirty="0">
              <a:solidFill>
                <a:schemeClr val="tx1"/>
              </a:solidFill>
            </a:endParaRPr>
          </a:p>
        </p:txBody>
      </p:sp>
      <p:sp>
        <p:nvSpPr>
          <p:cNvPr id="9" name="Oval 8"/>
          <p:cNvSpPr/>
          <p:nvPr/>
        </p:nvSpPr>
        <p:spPr>
          <a:xfrm>
            <a:off x="0" y="2913016"/>
            <a:ext cx="783771" cy="6662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2</a:t>
            </a:r>
            <a:endParaRPr lang="fr-FR" b="1" dirty="0">
              <a:solidFill>
                <a:schemeClr val="tx1"/>
              </a:solidFill>
            </a:endParaRPr>
          </a:p>
        </p:txBody>
      </p:sp>
      <p:sp>
        <p:nvSpPr>
          <p:cNvPr id="10" name="Oval 9"/>
          <p:cNvSpPr/>
          <p:nvPr/>
        </p:nvSpPr>
        <p:spPr>
          <a:xfrm>
            <a:off x="5225140" y="6191794"/>
            <a:ext cx="783771" cy="6662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3</a:t>
            </a:r>
            <a:endParaRPr lang="fr-FR" b="1" dirty="0">
              <a:solidFill>
                <a:schemeClr val="tx1"/>
              </a:solidFill>
            </a:endParaRPr>
          </a:p>
        </p:txBody>
      </p:sp>
      <p:sp>
        <p:nvSpPr>
          <p:cNvPr id="11" name="Oval 10"/>
          <p:cNvSpPr/>
          <p:nvPr/>
        </p:nvSpPr>
        <p:spPr>
          <a:xfrm>
            <a:off x="0" y="6191794"/>
            <a:ext cx="783771" cy="66620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4</a:t>
            </a:r>
            <a:endParaRPr lang="fr-FR" b="1" dirty="0">
              <a:solidFill>
                <a:schemeClr val="tx1"/>
              </a:solidFill>
            </a:endParaRPr>
          </a:p>
        </p:txBody>
      </p:sp>
    </p:spTree>
    <p:extLst>
      <p:ext uri="{BB962C8B-B14F-4D97-AF65-F5344CB8AC3E}">
        <p14:creationId xmlns:p14="http://schemas.microsoft.com/office/powerpoint/2010/main" val="13697928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680960" y="0"/>
            <a:ext cx="2625634" cy="404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30" name="Picture 6" descr="Diffusion Facilitée Par Une Protéine De Transporteur Spécifique Ou Non  Spécifique. Transport Passif. Illustration de Vecteur - Illustration of  cytoplasme, cellulaire: 2892535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9305" y="848343"/>
            <a:ext cx="7972695" cy="592028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317460" y="2187164"/>
            <a:ext cx="701041"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ysClr val="windowText" lastClr="000000"/>
                </a:solidFill>
              </a:rPr>
              <a:t>O</a:t>
            </a:r>
            <a:r>
              <a:rPr lang="fr-FR" sz="1400" b="1" dirty="0" smtClean="0">
                <a:solidFill>
                  <a:sysClr val="windowText" lastClr="000000"/>
                </a:solidFill>
              </a:rPr>
              <a:t>2</a:t>
            </a:r>
            <a:endParaRPr lang="fr-FR" sz="1400" b="1" dirty="0">
              <a:solidFill>
                <a:sysClr val="windowText" lastClr="000000"/>
              </a:solidFill>
            </a:endParaRPr>
          </a:p>
        </p:txBody>
      </p:sp>
      <p:sp>
        <p:nvSpPr>
          <p:cNvPr id="19" name="Rectangle 18"/>
          <p:cNvSpPr/>
          <p:nvPr/>
        </p:nvSpPr>
        <p:spPr>
          <a:xfrm>
            <a:off x="6371412" y="1516016"/>
            <a:ext cx="1750834" cy="5089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smtClean="0">
                <a:solidFill>
                  <a:sysClr val="windowText" lastClr="000000"/>
                </a:solidFill>
              </a:rPr>
              <a:t>sugars</a:t>
            </a:r>
            <a:endParaRPr lang="fr-FR" sz="2400" b="1" dirty="0" smtClean="0">
              <a:solidFill>
                <a:sysClr val="windowText" lastClr="000000"/>
              </a:solidFill>
            </a:endParaRPr>
          </a:p>
          <a:p>
            <a:pPr algn="ctr"/>
            <a:r>
              <a:rPr lang="fr-FR" sz="2400" b="1" dirty="0" smtClean="0">
                <a:solidFill>
                  <a:sysClr val="windowText" lastClr="000000"/>
                </a:solidFill>
              </a:rPr>
              <a:t>A. </a:t>
            </a:r>
            <a:r>
              <a:rPr lang="fr-FR" sz="2400" b="1" dirty="0" err="1" smtClean="0">
                <a:solidFill>
                  <a:sysClr val="windowText" lastClr="000000"/>
                </a:solidFill>
              </a:rPr>
              <a:t>Acids</a:t>
            </a:r>
            <a:endParaRPr lang="fr-FR" sz="2400" b="1" dirty="0" smtClean="0">
              <a:solidFill>
                <a:sysClr val="windowText" lastClr="000000"/>
              </a:solidFill>
            </a:endParaRPr>
          </a:p>
          <a:p>
            <a:pPr algn="ctr"/>
            <a:endParaRPr lang="fr-FR" sz="2400" b="1" dirty="0">
              <a:solidFill>
                <a:sysClr val="windowText" lastClr="000000"/>
              </a:solidFill>
            </a:endParaRPr>
          </a:p>
        </p:txBody>
      </p:sp>
      <p:sp>
        <p:nvSpPr>
          <p:cNvPr id="20" name="Rectangle 19"/>
          <p:cNvSpPr/>
          <p:nvPr/>
        </p:nvSpPr>
        <p:spPr>
          <a:xfrm>
            <a:off x="9450850" y="1239190"/>
            <a:ext cx="2118486" cy="10990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ctr">
              <a:buAutoNum type="alphaUcPeriod"/>
            </a:pPr>
            <a:endParaRPr lang="fr-FR" sz="2000" b="1" dirty="0">
              <a:solidFill>
                <a:sysClr val="windowText" lastClr="000000"/>
              </a:solidFill>
            </a:endParaRPr>
          </a:p>
        </p:txBody>
      </p:sp>
      <p:sp>
        <p:nvSpPr>
          <p:cNvPr id="21" name="Rectangle 20"/>
          <p:cNvSpPr/>
          <p:nvPr/>
        </p:nvSpPr>
        <p:spPr>
          <a:xfrm>
            <a:off x="10262604" y="2121553"/>
            <a:ext cx="1056938" cy="373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smtClean="0">
                <a:solidFill>
                  <a:sysClr val="windowText" lastClr="000000"/>
                </a:solidFill>
              </a:rPr>
              <a:t>Ions </a:t>
            </a:r>
          </a:p>
          <a:p>
            <a:pPr marL="457200" indent="-457200" algn="ctr">
              <a:buAutoNum type="alphaUcPeriod"/>
            </a:pPr>
            <a:endParaRPr lang="fr-FR" sz="2000" b="1" dirty="0">
              <a:solidFill>
                <a:sysClr val="windowText" lastClr="000000"/>
              </a:solidFill>
            </a:endParaRPr>
          </a:p>
        </p:txBody>
      </p:sp>
      <p:cxnSp>
        <p:nvCxnSpPr>
          <p:cNvPr id="11" name="Straight Arrow Connector 10"/>
          <p:cNvCxnSpPr/>
          <p:nvPr/>
        </p:nvCxnSpPr>
        <p:spPr>
          <a:xfrm flipV="1">
            <a:off x="4884179" y="4389120"/>
            <a:ext cx="1330" cy="99277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856722" y="2748944"/>
            <a:ext cx="1330" cy="99277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4461966" y="2083694"/>
            <a:ext cx="100791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smtClean="0">
                <a:solidFill>
                  <a:sysClr val="windowText" lastClr="000000"/>
                </a:solidFill>
              </a:rPr>
              <a:t>Urea</a:t>
            </a:r>
            <a:endParaRPr lang="fr-FR" sz="2400" b="1" dirty="0" smtClean="0">
              <a:solidFill>
                <a:sysClr val="windowText" lastClr="000000"/>
              </a:solidFill>
            </a:endParaRPr>
          </a:p>
          <a:p>
            <a:pPr algn="ctr"/>
            <a:r>
              <a:rPr lang="fr-FR" sz="2400" b="1" dirty="0" smtClean="0">
                <a:solidFill>
                  <a:sysClr val="windowText" lastClr="000000"/>
                </a:solidFill>
              </a:rPr>
              <a:t>CO</a:t>
            </a:r>
            <a:r>
              <a:rPr lang="fr-FR" sz="1400" b="1" dirty="0" smtClean="0">
                <a:solidFill>
                  <a:sysClr val="windowText" lastClr="000000"/>
                </a:solidFill>
              </a:rPr>
              <a:t>2</a:t>
            </a:r>
            <a:endParaRPr lang="fr-FR" sz="1400" b="1" dirty="0">
              <a:solidFill>
                <a:sysClr val="windowText" lastClr="000000"/>
              </a:solidFill>
            </a:endParaRPr>
          </a:p>
        </p:txBody>
      </p:sp>
      <p:cxnSp>
        <p:nvCxnSpPr>
          <p:cNvPr id="15" name="Straight Arrow Connector 14"/>
          <p:cNvCxnSpPr/>
          <p:nvPr/>
        </p:nvCxnSpPr>
        <p:spPr>
          <a:xfrm flipH="1">
            <a:off x="6909829" y="4767215"/>
            <a:ext cx="32173" cy="1896984"/>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8904514" y="2549494"/>
            <a:ext cx="0" cy="1337169"/>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8615813" y="2139986"/>
            <a:ext cx="577402" cy="369332"/>
          </a:xfrm>
          <a:prstGeom prst="rect">
            <a:avLst/>
          </a:prstGeom>
        </p:spPr>
        <p:txBody>
          <a:bodyPr wrap="none">
            <a:spAutoFit/>
          </a:bodyPr>
          <a:lstStyle/>
          <a:p>
            <a:r>
              <a:rPr lang="fr-FR" b="1" dirty="0" smtClean="0">
                <a:solidFill>
                  <a:sysClr val="windowText" lastClr="000000"/>
                </a:solidFill>
              </a:rPr>
              <a:t>H</a:t>
            </a:r>
            <a:r>
              <a:rPr lang="fr-FR" sz="1400" b="1" dirty="0" smtClean="0">
                <a:solidFill>
                  <a:sysClr val="windowText" lastClr="000000"/>
                </a:solidFill>
              </a:rPr>
              <a:t>2</a:t>
            </a:r>
            <a:r>
              <a:rPr lang="fr-FR" b="1" dirty="0" smtClean="0">
                <a:solidFill>
                  <a:sysClr val="windowText" lastClr="000000"/>
                </a:solidFill>
              </a:rPr>
              <a:t>O</a:t>
            </a:r>
            <a:endParaRPr lang="fr-FR" dirty="0"/>
          </a:p>
        </p:txBody>
      </p:sp>
      <p:sp>
        <p:nvSpPr>
          <p:cNvPr id="17" name="Rectangle 16"/>
          <p:cNvSpPr/>
          <p:nvPr/>
        </p:nvSpPr>
        <p:spPr>
          <a:xfrm>
            <a:off x="9198904" y="2145318"/>
            <a:ext cx="577402" cy="369332"/>
          </a:xfrm>
          <a:prstGeom prst="rect">
            <a:avLst/>
          </a:prstGeom>
        </p:spPr>
        <p:txBody>
          <a:bodyPr wrap="none">
            <a:spAutoFit/>
          </a:bodyPr>
          <a:lstStyle/>
          <a:p>
            <a:r>
              <a:rPr lang="fr-FR" b="1" dirty="0" smtClean="0">
                <a:solidFill>
                  <a:sysClr val="windowText" lastClr="000000"/>
                </a:solidFill>
              </a:rPr>
              <a:t>H</a:t>
            </a:r>
            <a:r>
              <a:rPr lang="fr-FR" sz="1400" b="1" dirty="0" smtClean="0">
                <a:solidFill>
                  <a:sysClr val="windowText" lastClr="000000"/>
                </a:solidFill>
              </a:rPr>
              <a:t>2</a:t>
            </a:r>
            <a:r>
              <a:rPr lang="fr-FR" b="1" dirty="0" smtClean="0">
                <a:solidFill>
                  <a:sysClr val="windowText" lastClr="000000"/>
                </a:solidFill>
              </a:rPr>
              <a:t>O</a:t>
            </a:r>
            <a:endParaRPr lang="fr-FR" dirty="0"/>
          </a:p>
        </p:txBody>
      </p:sp>
      <p:cxnSp>
        <p:nvCxnSpPr>
          <p:cNvPr id="23" name="Straight Arrow Connector 22"/>
          <p:cNvCxnSpPr/>
          <p:nvPr/>
        </p:nvCxnSpPr>
        <p:spPr>
          <a:xfrm>
            <a:off x="9615413" y="2474827"/>
            <a:ext cx="7016" cy="99277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9632526" y="3612674"/>
            <a:ext cx="0" cy="1651657"/>
          </a:xfrm>
          <a:prstGeom prst="straightConnector1">
            <a:avLst/>
          </a:prstGeom>
          <a:ln w="76200">
            <a:solidFill>
              <a:srgbClr val="F25226"/>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08856" y="69196"/>
            <a:ext cx="11699967" cy="707886"/>
          </a:xfrm>
          <a:prstGeom prst="rect">
            <a:avLst/>
          </a:prstGeom>
          <a:solidFill>
            <a:schemeClr val="accent6">
              <a:lumMod val="20000"/>
              <a:lumOff val="80000"/>
            </a:schemeClr>
          </a:solidFill>
        </p:spPr>
        <p:txBody>
          <a:bodyPr wrap="square">
            <a:spAutoFit/>
          </a:bodyPr>
          <a:lstStyle/>
          <a:p>
            <a:r>
              <a:rPr lang="fr-FR" sz="4000" b="1" dirty="0" smtClean="0">
                <a:latin typeface="Times New Roman" panose="02020603050405020304" pitchFamily="18" charset="0"/>
                <a:cs typeface="Times New Roman" panose="02020603050405020304" pitchFamily="18" charset="0"/>
              </a:rPr>
              <a:t>Physiological </a:t>
            </a:r>
            <a:r>
              <a:rPr lang="fr-FR" sz="4000" b="1" dirty="0">
                <a:latin typeface="Times New Roman" panose="02020603050405020304" pitchFamily="18" charset="0"/>
                <a:cs typeface="Times New Roman" panose="02020603050405020304" pitchFamily="18" charset="0"/>
              </a:rPr>
              <a:t>importance of membrane transport</a:t>
            </a:r>
          </a:p>
        </p:txBody>
      </p:sp>
      <p:sp>
        <p:nvSpPr>
          <p:cNvPr id="2" name="Rectangle 1"/>
          <p:cNvSpPr/>
          <p:nvPr/>
        </p:nvSpPr>
        <p:spPr>
          <a:xfrm>
            <a:off x="43471" y="3982385"/>
            <a:ext cx="4057073" cy="1569660"/>
          </a:xfrm>
          <a:prstGeom prst="rect">
            <a:avLst/>
          </a:prstGeom>
          <a:solidFill>
            <a:schemeClr val="accent4">
              <a:lumMod val="20000"/>
              <a:lumOff val="80000"/>
            </a:schemeClr>
          </a:solidFill>
        </p:spPr>
        <p:txBody>
          <a:bodyPr wrap="none">
            <a:spAutoFit/>
          </a:bodyPr>
          <a:lstStyle/>
          <a:p>
            <a:endParaRPr lang="fr-FR" sz="3200" b="1" dirty="0" smtClean="0">
              <a:latin typeface="Times New Roman" panose="02020603050405020304" pitchFamily="18" charset="0"/>
              <a:cs typeface="Times New Roman" panose="02020603050405020304" pitchFamily="18" charset="0"/>
            </a:endParaRPr>
          </a:p>
          <a:p>
            <a:r>
              <a:rPr lang="fr-FR" sz="3200" b="1" dirty="0" smtClean="0">
                <a:latin typeface="Times New Roman" panose="02020603050405020304" pitchFamily="18" charset="0"/>
                <a:cs typeface="Times New Roman" panose="02020603050405020304" pitchFamily="18" charset="0"/>
              </a:rPr>
              <a:t>2</a:t>
            </a:r>
            <a:r>
              <a:rPr lang="fr-FR" sz="3200" b="1" dirty="0">
                <a:latin typeface="Times New Roman" panose="02020603050405020304" pitchFamily="18" charset="0"/>
                <a:cs typeface="Times New Roman" panose="02020603050405020304" pitchFamily="18" charset="0"/>
              </a:rPr>
              <a:t>. Cellular </a:t>
            </a:r>
            <a:r>
              <a:rPr lang="fr-FR" sz="3200" b="1" dirty="0" smtClean="0">
                <a:latin typeface="Times New Roman" panose="02020603050405020304" pitchFamily="18" charset="0"/>
                <a:cs typeface="Times New Roman" panose="02020603050405020304" pitchFamily="18" charset="0"/>
              </a:rPr>
              <a:t>respiration</a:t>
            </a:r>
          </a:p>
          <a:p>
            <a:endParaRPr lang="en-US" sz="32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08856" y="1146684"/>
            <a:ext cx="4045134" cy="1569660"/>
          </a:xfrm>
          <a:prstGeom prst="rect">
            <a:avLst/>
          </a:prstGeom>
          <a:solidFill>
            <a:schemeClr val="accent4">
              <a:lumMod val="20000"/>
              <a:lumOff val="80000"/>
            </a:schemeClr>
          </a:solidFill>
        </p:spPr>
        <p:txBody>
          <a:bodyPr wrap="square">
            <a:spAutoFit/>
          </a:bodyPr>
          <a:lstStyle/>
          <a:p>
            <a:pPr marL="514350" indent="-514350" algn="ctr">
              <a:buAutoNum type="arabicPeriod"/>
            </a:pPr>
            <a:r>
              <a:rPr lang="en-US" sz="3200" b="1" dirty="0" smtClean="0">
                <a:latin typeface="Times New Roman" panose="02020603050405020304" pitchFamily="18" charset="0"/>
                <a:cs typeface="Times New Roman" panose="02020603050405020304" pitchFamily="18" charset="0"/>
              </a:rPr>
              <a:t>Homeostasis </a:t>
            </a:r>
            <a:r>
              <a:rPr lang="en-US" sz="3200" b="1" dirty="0">
                <a:latin typeface="Times New Roman" panose="02020603050405020304" pitchFamily="18" charset="0"/>
                <a:cs typeface="Times New Roman" panose="02020603050405020304" pitchFamily="18" charset="0"/>
              </a:rPr>
              <a:t>and Nutrient </a:t>
            </a:r>
            <a:r>
              <a:rPr lang="en-US" sz="3200" b="1" dirty="0" smtClean="0">
                <a:latin typeface="Times New Roman" panose="02020603050405020304" pitchFamily="18" charset="0"/>
                <a:cs typeface="Times New Roman" panose="02020603050405020304" pitchFamily="18" charset="0"/>
              </a:rPr>
              <a:t>Uptake</a:t>
            </a:r>
          </a:p>
          <a:p>
            <a:pPr algn="ct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04906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6421" y="1207857"/>
            <a:ext cx="4267202" cy="2062103"/>
          </a:xfrm>
          <a:prstGeom prst="rect">
            <a:avLst/>
          </a:prstGeom>
          <a:solidFill>
            <a:schemeClr val="accent4">
              <a:lumMod val="20000"/>
              <a:lumOff val="80000"/>
            </a:schemeClr>
          </a:solidFill>
        </p:spPr>
        <p:txBody>
          <a:bodyPr wrap="square">
            <a:spAutoFit/>
          </a:bodyPr>
          <a:lstStyle/>
          <a:p>
            <a:r>
              <a:rPr lang="fr-FR" sz="3200" b="1" dirty="0" smtClean="0">
                <a:solidFill>
                  <a:srgbClr val="000000"/>
                </a:solidFill>
                <a:latin typeface="Times New Roman" panose="02020603050405020304" pitchFamily="18" charset="0"/>
                <a:ea typeface="Calibri" panose="020F0502020204030204" pitchFamily="34" charset="0"/>
                <a:cs typeface="Arial" panose="020B0604020202020204" pitchFamily="34" charset="0"/>
              </a:rPr>
              <a:t>3. Cellular communication (hormones, neurotransmitters). </a:t>
            </a:r>
            <a:endParaRPr lang="fr-FR" sz="3200" b="1" dirty="0"/>
          </a:p>
        </p:txBody>
      </p:sp>
      <p:sp>
        <p:nvSpPr>
          <p:cNvPr id="10" name="Rectangle 9"/>
          <p:cNvSpPr/>
          <p:nvPr/>
        </p:nvSpPr>
        <p:spPr>
          <a:xfrm>
            <a:off x="226421" y="4427251"/>
            <a:ext cx="3953693" cy="2062103"/>
          </a:xfrm>
          <a:prstGeom prst="rect">
            <a:avLst/>
          </a:prstGeom>
          <a:solidFill>
            <a:schemeClr val="accent4">
              <a:lumMod val="20000"/>
              <a:lumOff val="80000"/>
            </a:schemeClr>
          </a:solidFill>
        </p:spPr>
        <p:txBody>
          <a:bodyPr wrap="square">
            <a:spAutoFit/>
          </a:bodyPr>
          <a:lstStyle/>
          <a:p>
            <a:r>
              <a:rPr lang="fr-FR" sz="3200" b="1" dirty="0">
                <a:solidFill>
                  <a:srgbClr val="000000"/>
                </a:solidFill>
                <a:latin typeface="Times New Roman" panose="02020603050405020304" pitchFamily="18" charset="0"/>
                <a:ea typeface="Calibri" panose="020F0502020204030204" pitchFamily="34" charset="0"/>
                <a:cs typeface="Arial" panose="020B0604020202020204" pitchFamily="34" charset="0"/>
              </a:rPr>
              <a:t>4</a:t>
            </a:r>
            <a:r>
              <a:rPr lang="fr-FR" sz="3200" b="1" dirty="0" smtClean="0">
                <a:solidFill>
                  <a:srgbClr val="000000"/>
                </a:solidFill>
                <a:latin typeface="Times New Roman" panose="02020603050405020304" pitchFamily="18" charset="0"/>
                <a:ea typeface="Calibri" panose="020F0502020204030204" pitchFamily="34" charset="0"/>
                <a:cs typeface="Arial" panose="020B0604020202020204" pitchFamily="34" charset="0"/>
              </a:rPr>
              <a:t>. </a:t>
            </a:r>
            <a:r>
              <a:rPr lang="en-US" sz="3200" b="1" dirty="0">
                <a:solidFill>
                  <a:srgbClr val="000000"/>
                </a:solidFill>
                <a:latin typeface="Times New Roman" panose="02020603050405020304" pitchFamily="18" charset="0"/>
                <a:ea typeface="Calibri" panose="020F0502020204030204" pitchFamily="34" charset="0"/>
                <a:cs typeface="Arial" panose="020B0604020202020204" pitchFamily="34" charset="0"/>
              </a:rPr>
              <a:t>control of the electrochemical potential of the membrane</a:t>
            </a:r>
            <a:endParaRPr lang="fr-FR" sz="3200" b="1" dirty="0"/>
          </a:p>
        </p:txBody>
      </p:sp>
      <p:pic>
        <p:nvPicPr>
          <p:cNvPr id="2054" name="Picture 6" descr="Potentiel de repos — Wikipé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3623" y="3487783"/>
            <a:ext cx="7698378" cy="337021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0" y="0"/>
            <a:ext cx="12161519" cy="707886"/>
          </a:xfrm>
          <a:prstGeom prst="rect">
            <a:avLst/>
          </a:prstGeom>
          <a:solidFill>
            <a:schemeClr val="accent6">
              <a:lumMod val="20000"/>
              <a:lumOff val="80000"/>
            </a:schemeClr>
          </a:solidFill>
        </p:spPr>
        <p:txBody>
          <a:bodyPr wrap="square">
            <a:spAutoFit/>
          </a:bodyPr>
          <a:lstStyle/>
          <a:p>
            <a:r>
              <a:rPr lang="fr-FR" sz="4000" b="1" dirty="0" smtClean="0">
                <a:latin typeface="Times New Roman" panose="02020603050405020304" pitchFamily="18" charset="0"/>
                <a:cs typeface="Times New Roman" panose="02020603050405020304" pitchFamily="18" charset="0"/>
              </a:rPr>
              <a:t>Physiological </a:t>
            </a:r>
            <a:r>
              <a:rPr lang="fr-FR" sz="4000" b="1" dirty="0">
                <a:latin typeface="Times New Roman" panose="02020603050405020304" pitchFamily="18" charset="0"/>
                <a:cs typeface="Times New Roman" panose="02020603050405020304" pitchFamily="18" charset="0"/>
              </a:rPr>
              <a:t>importance of membrane transport</a:t>
            </a:r>
          </a:p>
        </p:txBody>
      </p:sp>
      <p:pic>
        <p:nvPicPr>
          <p:cNvPr id="1026" name="Picture 2" descr="Secretory Vesicles- Definition, Structure, Functions and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3623" y="707886"/>
            <a:ext cx="7667897" cy="2675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2442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6085112" y="2450589"/>
            <a:ext cx="5934892" cy="4407411"/>
          </a:xfrm>
          <a:prstGeom prst="rect">
            <a:avLst/>
          </a:prstGeom>
          <a:ln>
            <a:solidFill>
              <a:schemeClr val="tx1"/>
            </a:solidFill>
          </a:ln>
        </p:spPr>
      </p:pic>
      <p:sp>
        <p:nvSpPr>
          <p:cNvPr id="10" name="Rectangle 9"/>
          <p:cNvSpPr/>
          <p:nvPr/>
        </p:nvSpPr>
        <p:spPr>
          <a:xfrm>
            <a:off x="6107974" y="768530"/>
            <a:ext cx="5758544" cy="1682059"/>
          </a:xfrm>
          <a:prstGeom prst="rect">
            <a:avLst/>
          </a:prstGeom>
          <a:solidFill>
            <a:schemeClr val="accent4">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2800" b="1" u="sng" dirty="0" smtClean="0">
                <a:solidFill>
                  <a:schemeClr val="tx1"/>
                </a:solidFill>
                <a:latin typeface="Times New Roman" panose="02020603050405020304" pitchFamily="18" charset="0"/>
                <a:cs typeface="Times New Roman" panose="02020603050405020304" pitchFamily="18" charset="0"/>
              </a:rPr>
              <a:t>2.Transport of macromolecules or Vesicular transport </a:t>
            </a:r>
            <a:r>
              <a:rPr lang="fr-FR" sz="2800" b="1" dirty="0" smtClean="0">
                <a:solidFill>
                  <a:schemeClr val="tx1"/>
                </a:solidFill>
                <a:latin typeface="Times New Roman" panose="02020603050405020304" pitchFamily="18" charset="0"/>
                <a:cs typeface="Times New Roman" panose="02020603050405020304" pitchFamily="18" charset="0"/>
              </a:rPr>
              <a:t>(LDL, </a:t>
            </a:r>
            <a:r>
              <a:rPr lang="fr-FR" sz="2800" b="1" dirty="0" err="1" smtClean="0">
                <a:solidFill>
                  <a:schemeClr val="tx1"/>
                </a:solidFill>
                <a:latin typeface="Times New Roman" panose="02020603050405020304" pitchFamily="18" charset="0"/>
                <a:cs typeface="Times New Roman" panose="02020603050405020304" pitchFamily="18" charset="0"/>
              </a:rPr>
              <a:t>transferrin</a:t>
            </a:r>
            <a:r>
              <a:rPr lang="fr-FR" sz="2800" b="1" dirty="0" smtClean="0">
                <a:solidFill>
                  <a:schemeClr val="tx1"/>
                </a:solidFill>
                <a:latin typeface="Times New Roman" panose="02020603050405020304" pitchFamily="18" charset="0"/>
                <a:cs typeface="Times New Roman" panose="02020603050405020304" pitchFamily="18" charset="0"/>
              </a:rPr>
              <a:t>, </a:t>
            </a:r>
            <a:r>
              <a:rPr lang="fr-FR" sz="2800" b="1" dirty="0" err="1" smtClean="0">
                <a:solidFill>
                  <a:schemeClr val="tx1"/>
                </a:solidFill>
                <a:latin typeface="Times New Roman" panose="02020603050405020304" pitchFamily="18" charset="0"/>
                <a:cs typeface="Times New Roman" panose="02020603050405020304" pitchFamily="18" charset="0"/>
              </a:rPr>
              <a:t>Transcobalamin</a:t>
            </a:r>
            <a:r>
              <a:rPr lang="fr-FR" sz="2800" b="1" dirty="0" smtClean="0">
                <a:solidFill>
                  <a:schemeClr val="tx1"/>
                </a:solidFill>
                <a:latin typeface="Times New Roman" panose="02020603050405020304" pitchFamily="18" charset="0"/>
                <a:cs typeface="Times New Roman" panose="02020603050405020304" pitchFamily="18" charset="0"/>
              </a:rPr>
              <a:t> II, hormone </a:t>
            </a:r>
            <a:r>
              <a:rPr lang="fr-FR" sz="2800" b="1" dirty="0" err="1" smtClean="0">
                <a:solidFill>
                  <a:schemeClr val="tx1"/>
                </a:solidFill>
                <a:latin typeface="Times New Roman" panose="02020603050405020304" pitchFamily="18" charset="0"/>
                <a:cs typeface="Times New Roman" panose="02020603050405020304" pitchFamily="18" charset="0"/>
              </a:rPr>
              <a:t>secretion</a:t>
            </a:r>
            <a:r>
              <a:rPr lang="fr-FR" sz="2800" b="1" dirty="0" smtClean="0">
                <a:solidFill>
                  <a:schemeClr val="tx1"/>
                </a:solidFill>
                <a:latin typeface="Times New Roman" panose="02020603050405020304" pitchFamily="18" charset="0"/>
                <a:cs typeface="Times New Roman" panose="02020603050405020304" pitchFamily="18" charset="0"/>
              </a:rPr>
              <a:t>…)</a:t>
            </a:r>
            <a:endParaRPr lang="fr-FR" sz="28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243841" y="687539"/>
            <a:ext cx="5584369" cy="1763050"/>
          </a:xfrm>
          <a:prstGeom prst="rect">
            <a:avLst/>
          </a:prstGeom>
          <a:solidFill>
            <a:schemeClr val="accent4">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2800" b="1" u="sng" dirty="0" smtClean="0">
                <a:solidFill>
                  <a:schemeClr val="tx1"/>
                </a:solidFill>
                <a:latin typeface="Times New Roman" panose="02020603050405020304" pitchFamily="18" charset="0"/>
                <a:cs typeface="Times New Roman" panose="02020603050405020304" pitchFamily="18" charset="0"/>
              </a:rPr>
              <a:t>1.Transport of small molecules </a:t>
            </a:r>
            <a:r>
              <a:rPr lang="fr-FR" sz="2800" b="1" dirty="0" smtClean="0">
                <a:solidFill>
                  <a:schemeClr val="tx1"/>
                </a:solidFill>
                <a:latin typeface="Times New Roman" panose="02020603050405020304" pitchFamily="18" charset="0"/>
                <a:cs typeface="Times New Roman" panose="02020603050405020304" pitchFamily="18" charset="0"/>
              </a:rPr>
              <a:t>(Ions, sacharides, H</a:t>
            </a:r>
            <a:r>
              <a:rPr lang="fr-FR" sz="1600" b="1" dirty="0" smtClean="0">
                <a:solidFill>
                  <a:schemeClr val="tx1"/>
                </a:solidFill>
                <a:latin typeface="Times New Roman" panose="02020603050405020304" pitchFamily="18" charset="0"/>
                <a:cs typeface="Times New Roman" panose="02020603050405020304" pitchFamily="18" charset="0"/>
              </a:rPr>
              <a:t>2</a:t>
            </a:r>
            <a:r>
              <a:rPr lang="fr-FR" sz="2800" b="1" dirty="0" smtClean="0">
                <a:solidFill>
                  <a:schemeClr val="tx1"/>
                </a:solidFill>
                <a:latin typeface="Times New Roman" panose="02020603050405020304" pitchFamily="18" charset="0"/>
                <a:cs typeface="Times New Roman" panose="02020603050405020304" pitchFamily="18" charset="0"/>
              </a:rPr>
              <a:t>O, Gases…)</a:t>
            </a:r>
            <a:endParaRPr lang="fr-FR" sz="2800" b="1" dirty="0">
              <a:solidFill>
                <a:schemeClr val="tx1"/>
              </a:solidFill>
              <a:latin typeface="Times New Roman" panose="02020603050405020304" pitchFamily="18" charset="0"/>
              <a:cs typeface="Times New Roman" panose="02020603050405020304" pitchFamily="18" charset="0"/>
            </a:endParaRPr>
          </a:p>
        </p:txBody>
      </p:sp>
      <p:sp>
        <p:nvSpPr>
          <p:cNvPr id="33" name="TextBox 32"/>
          <p:cNvSpPr txBox="1"/>
          <p:nvPr/>
        </p:nvSpPr>
        <p:spPr>
          <a:xfrm>
            <a:off x="7465422" y="5630090"/>
            <a:ext cx="1645920" cy="830997"/>
          </a:xfrm>
          <a:prstGeom prst="rect">
            <a:avLst/>
          </a:prstGeom>
          <a:noFill/>
        </p:spPr>
        <p:txBody>
          <a:bodyPr wrap="square" rtlCol="0">
            <a:spAutoFit/>
          </a:bodyPr>
          <a:lstStyle/>
          <a:p>
            <a:r>
              <a:rPr lang="fr-FR" sz="2400" b="1" dirty="0" smtClean="0"/>
              <a:t>Transport vesicle</a:t>
            </a:r>
            <a:endParaRPr lang="fr-FR" sz="2400" b="1" dirty="0"/>
          </a:p>
        </p:txBody>
      </p:sp>
      <p:cxnSp>
        <p:nvCxnSpPr>
          <p:cNvPr id="34" name="Straight Arrow Connector 33"/>
          <p:cNvCxnSpPr/>
          <p:nvPr/>
        </p:nvCxnSpPr>
        <p:spPr>
          <a:xfrm>
            <a:off x="8987246" y="5917474"/>
            <a:ext cx="1504406" cy="170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849087" y="37011"/>
            <a:ext cx="10737668" cy="73152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latin typeface="Times New Roman" panose="02020603050405020304" pitchFamily="18" charset="0"/>
                <a:cs typeface="Times New Roman" panose="02020603050405020304" pitchFamily="18" charset="0"/>
              </a:rPr>
              <a:t>Two main types of membrane transport</a:t>
            </a:r>
            <a:endParaRPr lang="fr-FR" sz="4000" b="1" dirty="0">
              <a:solidFill>
                <a:schemeClr val="tx1"/>
              </a:solidFill>
              <a:latin typeface="Times New Roman" panose="02020603050405020304" pitchFamily="18" charset="0"/>
              <a:cs typeface="Times New Roman" panose="02020603050405020304" pitchFamily="18" charset="0"/>
            </a:endParaRPr>
          </a:p>
        </p:txBody>
      </p:sp>
      <p:pic>
        <p:nvPicPr>
          <p:cNvPr id="2050" name="Picture 2" descr="Small Molecules Ions Across Lipid Bilayer Stock Illustration 1888838584 |  Shutterst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50589"/>
            <a:ext cx="5913116" cy="440741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9763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embrane Cellulaire Et Biologie, Concept Biologique, Rendu 3d. Dessin  Numérique Par Ordinateur. Banque D'Images et Photos Libres De Droits. Image  142798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2"/>
          </a:xfrm>
          <a:prstGeom prst="rect">
            <a:avLst/>
          </a:prstGeom>
          <a:solidFill>
            <a:schemeClr val="bg1"/>
          </a:solidFill>
        </p:spPr>
      </p:pic>
      <p:sp>
        <p:nvSpPr>
          <p:cNvPr id="5" name="Rectangle 4"/>
          <p:cNvSpPr/>
          <p:nvPr/>
        </p:nvSpPr>
        <p:spPr>
          <a:xfrm>
            <a:off x="1902822" y="125419"/>
            <a:ext cx="8386355" cy="661594"/>
          </a:xfrm>
          <a:prstGeom prst="rect">
            <a:avLst/>
          </a:prstGeom>
          <a:solidFill>
            <a:schemeClr val="accent4">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800" b="1" dirty="0" smtClean="0">
                <a:solidFill>
                  <a:schemeClr val="tx1"/>
                </a:solidFill>
                <a:latin typeface="Times New Roman" panose="02020603050405020304" pitchFamily="18" charset="0"/>
                <a:cs typeface="Times New Roman" panose="02020603050405020304" pitchFamily="18" charset="0"/>
              </a:rPr>
              <a:t>1.Transport of small molecules</a:t>
            </a:r>
            <a:endParaRPr lang="fr-FR" sz="48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42451" y="1213136"/>
            <a:ext cx="5770519"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400" b="1" dirty="0" smtClean="0">
                <a:solidFill>
                  <a:schemeClr val="tx1"/>
                </a:solidFill>
                <a:latin typeface="Times New Roman" panose="02020603050405020304" pitchFamily="18" charset="0"/>
                <a:cs typeface="Times New Roman" panose="02020603050405020304" pitchFamily="18" charset="0"/>
              </a:rPr>
              <a:t>1.1. Passive Transport</a:t>
            </a:r>
            <a:endParaRPr lang="fr-FR" sz="4400" b="1"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6765959" y="1293441"/>
            <a:ext cx="5361270"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400" b="1" dirty="0" smtClean="0">
                <a:solidFill>
                  <a:schemeClr val="tx1"/>
                </a:solidFill>
                <a:latin typeface="Times New Roman" panose="02020603050405020304" pitchFamily="18" charset="0"/>
                <a:cs typeface="Times New Roman" panose="02020603050405020304" pitchFamily="18" charset="0"/>
              </a:rPr>
              <a:t>1.2.Active transport</a:t>
            </a:r>
            <a:endParaRPr lang="fr-FR" sz="4400" b="1"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a:off x="747029" y="2065382"/>
            <a:ext cx="4545877"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a. Simple Diffusion</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04574" y="2842155"/>
            <a:ext cx="5265152"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smtClean="0">
                <a:solidFill>
                  <a:schemeClr val="tx1"/>
                </a:solidFill>
                <a:latin typeface="Times New Roman" panose="02020603050405020304" pitchFamily="18" charset="0"/>
                <a:cs typeface="Times New Roman" panose="02020603050405020304" pitchFamily="18" charset="0"/>
              </a:rPr>
              <a:t>b. Facilitated Diffusion</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7275322" y="2089195"/>
            <a:ext cx="4695951"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a. Primary. A. T. </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275322" y="2842155"/>
            <a:ext cx="4695952"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b. Secondary A. T</a:t>
            </a:r>
            <a:endParaRPr lang="fr-FR" sz="4000" b="1" dirty="0">
              <a:solidFill>
                <a:schemeClr val="tx1"/>
              </a:solidFill>
              <a:latin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a:off x="8100605" y="831118"/>
            <a:ext cx="912766" cy="409853"/>
          </a:xfrm>
          <a:prstGeom prst="straightConnector1">
            <a:avLst/>
          </a:prstGeom>
          <a:ln w="762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420836" y="839798"/>
            <a:ext cx="1593633" cy="305627"/>
          </a:xfrm>
          <a:prstGeom prst="straightConnector1">
            <a:avLst/>
          </a:prstGeom>
          <a:ln w="762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5577300" y="4465899"/>
            <a:ext cx="1172388" cy="189591"/>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547363" y="5033845"/>
            <a:ext cx="1143539" cy="43129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949441" y="1955035"/>
            <a:ext cx="0" cy="108861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970756" y="2403167"/>
            <a:ext cx="304566" cy="1503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949441" y="3040146"/>
            <a:ext cx="32588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71073" y="1897480"/>
            <a:ext cx="0" cy="127547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271072" y="3172952"/>
            <a:ext cx="53901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71073" y="2464664"/>
            <a:ext cx="53901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34288" y="3550442"/>
            <a:ext cx="6030144" cy="3280851"/>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sz="2800" b="1" u="sng" dirty="0" smtClean="0">
              <a:solidFill>
                <a:schemeClr val="tx1"/>
              </a:solidFill>
              <a:latin typeface="Times New Roman" panose="02020603050405020304" pitchFamily="18" charset="0"/>
              <a:cs typeface="Times New Roman" panose="02020603050405020304" pitchFamily="18" charset="0"/>
            </a:endParaRPr>
          </a:p>
          <a:p>
            <a:pPr marL="457200" indent="-457200" algn="ctr">
              <a:buFont typeface="Wingdings" panose="05000000000000000000" pitchFamily="2" charset="2"/>
              <a:buChar char="q"/>
              <a:defRPr/>
            </a:pPr>
            <a:r>
              <a:rPr lang="en-US" sz="3200" b="1" dirty="0" smtClean="0">
                <a:solidFill>
                  <a:schemeClr val="tx1"/>
                </a:solidFill>
                <a:latin typeface="Times New Roman" panose="02020603050405020304" pitchFamily="18" charset="0"/>
                <a:cs typeface="Times New Roman" panose="02020603050405020304" pitchFamily="18" charset="0"/>
              </a:rPr>
              <a:t>Does </a:t>
            </a:r>
            <a:r>
              <a:rPr lang="en-US" sz="3200" b="1" dirty="0">
                <a:solidFill>
                  <a:schemeClr val="tx1"/>
                </a:solidFill>
                <a:latin typeface="Times New Roman" panose="02020603050405020304" pitchFamily="18" charset="0"/>
                <a:cs typeface="Times New Roman" panose="02020603050405020304" pitchFamily="18" charset="0"/>
              </a:rPr>
              <a:t>not require </a:t>
            </a:r>
            <a:r>
              <a:rPr lang="en-US" sz="3200" b="1" dirty="0" smtClean="0">
                <a:solidFill>
                  <a:schemeClr val="tx1"/>
                </a:solidFill>
                <a:latin typeface="Times New Roman" panose="02020603050405020304" pitchFamily="18" charset="0"/>
                <a:cs typeface="Times New Roman" panose="02020603050405020304" pitchFamily="18" charset="0"/>
              </a:rPr>
              <a:t>energy </a:t>
            </a:r>
          </a:p>
          <a:p>
            <a:pPr marL="457200" indent="-457200" algn="ctr">
              <a:buFont typeface="Wingdings" panose="05000000000000000000" pitchFamily="2" charset="2"/>
              <a:buChar char="q"/>
              <a:defRPr/>
            </a:pPr>
            <a:r>
              <a:rPr lang="en-US" sz="3200" b="1" dirty="0">
                <a:solidFill>
                  <a:schemeClr val="tx1"/>
                </a:solidFill>
                <a:latin typeface="Times New Roman" panose="02020603050405020304" pitchFamily="18" charset="0"/>
                <a:cs typeface="Times New Roman" panose="02020603050405020304" pitchFamily="18" charset="0"/>
              </a:rPr>
              <a:t>High to low concentration (down the gradient).</a:t>
            </a:r>
            <a:r>
              <a:rPr lang="fr-FR" sz="3200" b="1" dirty="0" smtClean="0">
                <a:solidFill>
                  <a:schemeClr val="tx1"/>
                </a:solidFill>
                <a:latin typeface="Times New Roman" panose="02020603050405020304" pitchFamily="18" charset="0"/>
                <a:cs typeface="Times New Roman" panose="02020603050405020304" pitchFamily="18" charset="0"/>
              </a:rPr>
              <a:t> </a:t>
            </a:r>
          </a:p>
          <a:p>
            <a:pPr algn="ctr">
              <a:defRPr/>
            </a:pPr>
            <a:r>
              <a:rPr lang="fr-FR" sz="2000" b="1" dirty="0" smtClean="0">
                <a:solidFill>
                  <a:schemeClr val="tx1"/>
                </a:solidFill>
                <a:latin typeface="Times New Roman" panose="02020603050405020304" pitchFamily="18" charset="0"/>
                <a:cs typeface="Times New Roman" panose="02020603050405020304" pitchFamily="18" charset="0"/>
              </a:rPr>
              <a:t>([+ ]                      [ -] )</a:t>
            </a:r>
            <a:endParaRPr lang="fr-FR" sz="2800" dirty="0">
              <a:solidFill>
                <a:schemeClr val="tx1"/>
              </a:solidFill>
              <a:latin typeface="Times New Roman" panose="02020603050405020304" pitchFamily="18" charset="0"/>
              <a:cs typeface="Times New Roman" panose="02020603050405020304" pitchFamily="18" charset="0"/>
            </a:endParaRPr>
          </a:p>
          <a:p>
            <a:pPr marL="457200" indent="-457200" algn="ctr">
              <a:buFont typeface="Wingdings" panose="05000000000000000000" pitchFamily="2" charset="2"/>
              <a:buChar char="q"/>
              <a:defRPr/>
            </a:pPr>
            <a:r>
              <a:rPr lang="fr-FR" sz="3200" b="1" dirty="0" smtClean="0">
                <a:solidFill>
                  <a:schemeClr val="tx1"/>
                </a:solidFill>
                <a:latin typeface="Times New Roman" panose="02020603050405020304" pitchFamily="18" charset="0"/>
                <a:cs typeface="Times New Roman" panose="02020603050405020304" pitchFamily="18" charset="0"/>
              </a:rPr>
              <a:t>ONLY Facilitated diffusion needs membrane transporters</a:t>
            </a:r>
          </a:p>
          <a:p>
            <a:pPr algn="ctr">
              <a:defRPr/>
            </a:pPr>
            <a:endParaRPr lang="fr-FR" sz="3200" b="1" dirty="0">
              <a:solidFill>
                <a:schemeClr val="tx1"/>
              </a:solidFill>
              <a:latin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V="1">
            <a:off x="2481126" y="5434724"/>
            <a:ext cx="1136468" cy="130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6217920" y="3550442"/>
            <a:ext cx="5974080" cy="3280852"/>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indent="-457200" algn="ctr">
              <a:buFont typeface="Wingdings" panose="05000000000000000000" pitchFamily="2" charset="2"/>
              <a:buChar char="q"/>
              <a:defRPr/>
            </a:pPr>
            <a:r>
              <a:rPr lang="fr-FR" sz="3200" b="1" dirty="0" smtClean="0">
                <a:solidFill>
                  <a:schemeClr val="tx1"/>
                </a:solidFill>
                <a:latin typeface="Times New Roman" panose="02020603050405020304" pitchFamily="18" charset="0"/>
                <a:cs typeface="Times New Roman" panose="02020603050405020304" pitchFamily="18" charset="0"/>
              </a:rPr>
              <a:t>Requires </a:t>
            </a:r>
            <a:r>
              <a:rPr lang="fr-FR" sz="3200" b="1" dirty="0">
                <a:solidFill>
                  <a:schemeClr val="tx1"/>
                </a:solidFill>
                <a:latin typeface="Times New Roman" panose="02020603050405020304" pitchFamily="18" charset="0"/>
                <a:cs typeface="Times New Roman" panose="02020603050405020304" pitchFamily="18" charset="0"/>
              </a:rPr>
              <a:t>an energy </a:t>
            </a:r>
            <a:r>
              <a:rPr lang="fr-FR" sz="3200" b="1" dirty="0" smtClean="0">
                <a:solidFill>
                  <a:schemeClr val="tx1"/>
                </a:solidFill>
                <a:latin typeface="Times New Roman" panose="02020603050405020304" pitchFamily="18" charset="0"/>
                <a:cs typeface="Times New Roman" panose="02020603050405020304" pitchFamily="18" charset="0"/>
              </a:rPr>
              <a:t>supply</a:t>
            </a:r>
          </a:p>
          <a:p>
            <a:pPr marL="457200" indent="-457200" algn="ctr">
              <a:buFont typeface="Wingdings" panose="05000000000000000000" pitchFamily="2" charset="2"/>
              <a:buChar char="q"/>
              <a:defRPr/>
            </a:pPr>
            <a:endParaRPr lang="en-US" dirty="0" smtClean="0"/>
          </a:p>
          <a:p>
            <a:pPr marL="457200" indent="-457200" algn="ctr">
              <a:buFont typeface="Wingdings" panose="05000000000000000000" pitchFamily="2" charset="2"/>
              <a:buChar char="q"/>
              <a:defRPr/>
            </a:pPr>
            <a:r>
              <a:rPr lang="en-US" sz="2800" b="1" i="1" dirty="0" smtClean="0">
                <a:solidFill>
                  <a:schemeClr val="tx1"/>
                </a:solidFill>
                <a:latin typeface="Times New Roman" panose="02020603050405020304" pitchFamily="18" charset="0"/>
                <a:cs typeface="Times New Roman" panose="02020603050405020304" pitchFamily="18" charset="0"/>
              </a:rPr>
              <a:t>Against</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smtClean="0">
                <a:solidFill>
                  <a:schemeClr val="tx1"/>
                </a:solidFill>
                <a:latin typeface="Times New Roman" panose="02020603050405020304" pitchFamily="18" charset="0"/>
                <a:cs typeface="Times New Roman" panose="02020603050405020304" pitchFamily="18" charset="0"/>
              </a:rPr>
              <a:t>the </a:t>
            </a:r>
            <a:r>
              <a:rPr lang="en-US" sz="2800" b="1" dirty="0">
                <a:solidFill>
                  <a:schemeClr val="tx1"/>
                </a:solidFill>
                <a:latin typeface="Times New Roman" panose="02020603050405020304" pitchFamily="18" charset="0"/>
                <a:cs typeface="Times New Roman" panose="02020603050405020304" pitchFamily="18" charset="0"/>
              </a:rPr>
              <a:t>concentration gradient (from low to high concentration</a:t>
            </a:r>
            <a:r>
              <a:rPr lang="en-US" sz="2800" b="1" dirty="0" smtClean="0">
                <a:solidFill>
                  <a:schemeClr val="tx1"/>
                </a:solidFill>
                <a:latin typeface="Times New Roman" panose="02020603050405020304" pitchFamily="18" charset="0"/>
                <a:cs typeface="Times New Roman" panose="02020603050405020304" pitchFamily="18" charset="0"/>
              </a:rPr>
              <a:t>)</a:t>
            </a:r>
            <a:endParaRPr lang="fr-FR" sz="2800" b="1" dirty="0" smtClean="0">
              <a:solidFill>
                <a:schemeClr val="tx1"/>
              </a:solidFill>
              <a:latin typeface="Times New Roman" panose="02020603050405020304" pitchFamily="18" charset="0"/>
              <a:cs typeface="Times New Roman" panose="02020603050405020304" pitchFamily="18" charset="0"/>
            </a:endParaRPr>
          </a:p>
          <a:p>
            <a:pPr algn="ctr">
              <a:defRPr/>
            </a:pPr>
            <a:r>
              <a:rPr lang="fr-FR" sz="3200" b="1" dirty="0" smtClean="0">
                <a:solidFill>
                  <a:schemeClr val="tx1"/>
                </a:solidFill>
                <a:latin typeface="Times New Roman" panose="02020603050405020304" pitchFamily="18" charset="0"/>
                <a:cs typeface="Times New Roman" panose="02020603050405020304" pitchFamily="18" charset="0"/>
              </a:rPr>
              <a:t>       ( [</a:t>
            </a:r>
            <a:r>
              <a:rPr lang="fr-FR" sz="3200" b="1" dirty="0">
                <a:solidFill>
                  <a:schemeClr val="tx1"/>
                </a:solidFill>
                <a:latin typeface="Times New Roman" panose="02020603050405020304" pitchFamily="18" charset="0"/>
                <a:cs typeface="Times New Roman" panose="02020603050405020304" pitchFamily="18" charset="0"/>
              </a:rPr>
              <a:t>-</a:t>
            </a:r>
            <a:r>
              <a:rPr lang="fr-FR" sz="3200" b="1" dirty="0" smtClean="0">
                <a:solidFill>
                  <a:schemeClr val="tx1"/>
                </a:solidFill>
                <a:latin typeface="Times New Roman" panose="02020603050405020304" pitchFamily="18" charset="0"/>
                <a:cs typeface="Times New Roman" panose="02020603050405020304" pitchFamily="18" charset="0"/>
              </a:rPr>
              <a:t> ]</a:t>
            </a:r>
            <a:r>
              <a:rPr lang="fr-FR" sz="3200" b="1" dirty="0">
                <a:solidFill>
                  <a:schemeClr val="tx1"/>
                </a:solidFill>
                <a:latin typeface="Times New Roman" panose="02020603050405020304" pitchFamily="18" charset="0"/>
                <a:cs typeface="Times New Roman" panose="02020603050405020304" pitchFamily="18" charset="0"/>
              </a:rPr>
              <a:t> </a:t>
            </a:r>
            <a:r>
              <a:rPr lang="fr-FR" sz="3200" b="1" dirty="0" smtClean="0">
                <a:solidFill>
                  <a:schemeClr val="tx1"/>
                </a:solidFill>
                <a:latin typeface="Times New Roman" panose="02020603050405020304" pitchFamily="18" charset="0"/>
                <a:cs typeface="Times New Roman" panose="02020603050405020304" pitchFamily="18" charset="0"/>
              </a:rPr>
              <a:t>              [ </a:t>
            </a:r>
            <a:r>
              <a:rPr lang="fr-FR" sz="3200" b="1" dirty="0">
                <a:solidFill>
                  <a:schemeClr val="tx1"/>
                </a:solidFill>
                <a:latin typeface="Times New Roman" panose="02020603050405020304" pitchFamily="18" charset="0"/>
                <a:cs typeface="Times New Roman" panose="02020603050405020304" pitchFamily="18" charset="0"/>
              </a:rPr>
              <a:t>+</a:t>
            </a:r>
            <a:r>
              <a:rPr lang="fr-FR" sz="3200" b="1" dirty="0" smtClean="0">
                <a:solidFill>
                  <a:schemeClr val="tx1"/>
                </a:solidFill>
                <a:latin typeface="Times New Roman" panose="02020603050405020304" pitchFamily="18" charset="0"/>
                <a:cs typeface="Times New Roman" panose="02020603050405020304" pitchFamily="18" charset="0"/>
              </a:rPr>
              <a:t>] )</a:t>
            </a:r>
          </a:p>
          <a:p>
            <a:pPr marL="457200" indent="-457200" algn="ctr">
              <a:buFont typeface="Wingdings" panose="05000000000000000000" pitchFamily="2" charset="2"/>
              <a:buChar char="q"/>
              <a:defRPr/>
            </a:pPr>
            <a:r>
              <a:rPr lang="fr-FR" sz="3200" b="1" dirty="0" smtClean="0">
                <a:solidFill>
                  <a:schemeClr val="tx1"/>
                </a:solidFill>
                <a:latin typeface="Times New Roman" panose="02020603050405020304" pitchFamily="18" charset="0"/>
                <a:cs typeface="Times New Roman" panose="02020603050405020304" pitchFamily="18" charset="0"/>
              </a:rPr>
              <a:t>ALL types need transporters</a:t>
            </a:r>
          </a:p>
          <a:p>
            <a:pPr marL="457200" indent="-457200" algn="ctr">
              <a:buFont typeface="Wingdings" panose="05000000000000000000" pitchFamily="2" charset="2"/>
              <a:buChar char="q"/>
              <a:defRPr/>
            </a:pPr>
            <a:endParaRPr lang="fr-FR" sz="3200" b="1" dirty="0" smtClean="0">
              <a:solidFill>
                <a:schemeClr val="tx1"/>
              </a:solidFill>
              <a:latin typeface="Times New Roman" panose="02020603050405020304" pitchFamily="18" charset="0"/>
              <a:cs typeface="Times New Roman" panose="02020603050405020304" pitchFamily="18" charset="0"/>
            </a:endParaRPr>
          </a:p>
        </p:txBody>
      </p:sp>
      <p:cxnSp>
        <p:nvCxnSpPr>
          <p:cNvPr id="25" name="Straight Arrow Connector 24"/>
          <p:cNvCxnSpPr/>
          <p:nvPr/>
        </p:nvCxnSpPr>
        <p:spPr>
          <a:xfrm>
            <a:off x="8790484" y="5514218"/>
            <a:ext cx="1498693" cy="2051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76687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Transport Passif Et Actif Des Membranes Cellulaires. Diffusion Facilité Le  Transport Des Protéines De Diffusion Avec Atp. Illustration de Vecteur -  Illustration du mouvement, inférieur: 3015575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0" y="5364479"/>
            <a:ext cx="2351314" cy="5486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latin typeface="Times New Roman" panose="02020603050405020304" pitchFamily="18" charset="0"/>
                <a:cs typeface="Times New Roman" panose="02020603050405020304" pitchFamily="18" charset="0"/>
              </a:rPr>
              <a:t>Simple diffusion</a:t>
            </a:r>
            <a:endParaRPr lang="fr-FR" sz="24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261359" y="5364479"/>
            <a:ext cx="3635829" cy="5486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latin typeface="Times New Roman" panose="02020603050405020304" pitchFamily="18" charset="0"/>
                <a:cs typeface="Times New Roman" panose="02020603050405020304" pitchFamily="18" charset="0"/>
              </a:rPr>
              <a:t>Facilitated diffusion</a:t>
            </a:r>
            <a:endParaRPr lang="fr-FR" sz="2400" b="1" dirty="0">
              <a:solidFill>
                <a:schemeClr val="tx1"/>
              </a:solidFill>
              <a:latin typeface="Times New Roman" panose="02020603050405020304" pitchFamily="18" charset="0"/>
              <a:cs typeface="Times New Roman" panose="02020603050405020304" pitchFamily="18" charset="0"/>
            </a:endParaRPr>
          </a:p>
        </p:txBody>
      </p:sp>
      <p:sp>
        <p:nvSpPr>
          <p:cNvPr id="5" name="Left Bracket 4"/>
          <p:cNvSpPr/>
          <p:nvPr/>
        </p:nvSpPr>
        <p:spPr>
          <a:xfrm rot="16200000">
            <a:off x="901337" y="4284616"/>
            <a:ext cx="300445" cy="1632857"/>
          </a:xfrm>
          <a:prstGeom prst="leftBracket">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6" name="Rectangle 5"/>
          <p:cNvSpPr/>
          <p:nvPr/>
        </p:nvSpPr>
        <p:spPr>
          <a:xfrm>
            <a:off x="2125932" y="1402471"/>
            <a:ext cx="772969" cy="707886"/>
          </a:xfrm>
          <a:prstGeom prst="rect">
            <a:avLst/>
          </a:prstGeom>
        </p:spPr>
        <p:txBody>
          <a:bodyPr wrap="none">
            <a:spAutoFit/>
          </a:bodyPr>
          <a:lstStyle/>
          <a:p>
            <a:r>
              <a:rPr lang="fr-FR" sz="4000" b="1" dirty="0"/>
              <a:t>[+]</a:t>
            </a:r>
            <a:endParaRPr lang="fr-FR" sz="4000" dirty="0"/>
          </a:p>
        </p:txBody>
      </p:sp>
      <p:sp>
        <p:nvSpPr>
          <p:cNvPr id="7" name="Rectangle 6"/>
          <p:cNvSpPr/>
          <p:nvPr/>
        </p:nvSpPr>
        <p:spPr>
          <a:xfrm>
            <a:off x="2099806" y="4009488"/>
            <a:ext cx="723275" cy="769441"/>
          </a:xfrm>
          <a:prstGeom prst="rect">
            <a:avLst/>
          </a:prstGeom>
        </p:spPr>
        <p:txBody>
          <a:bodyPr wrap="none">
            <a:spAutoFit/>
          </a:bodyPr>
          <a:lstStyle/>
          <a:p>
            <a:r>
              <a:rPr lang="fr-FR" sz="4400" b="1" dirty="0"/>
              <a:t>[-]</a:t>
            </a:r>
          </a:p>
        </p:txBody>
      </p:sp>
      <p:cxnSp>
        <p:nvCxnSpPr>
          <p:cNvPr id="12" name="Straight Arrow Connector 11"/>
          <p:cNvCxnSpPr/>
          <p:nvPr/>
        </p:nvCxnSpPr>
        <p:spPr>
          <a:xfrm>
            <a:off x="2510011" y="2171912"/>
            <a:ext cx="2405" cy="192982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1560630" y="1854926"/>
            <a:ext cx="39187" cy="339634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1193738" y="5190093"/>
            <a:ext cx="772969" cy="707886"/>
          </a:xfrm>
          <a:prstGeom prst="rect">
            <a:avLst/>
          </a:prstGeom>
        </p:spPr>
        <p:txBody>
          <a:bodyPr wrap="none">
            <a:spAutoFit/>
          </a:bodyPr>
          <a:lstStyle/>
          <a:p>
            <a:r>
              <a:rPr lang="fr-FR" sz="4000" b="1" dirty="0"/>
              <a:t>[+]</a:t>
            </a:r>
            <a:endParaRPr lang="fr-FR" sz="4000" dirty="0"/>
          </a:p>
        </p:txBody>
      </p:sp>
      <p:sp>
        <p:nvSpPr>
          <p:cNvPr id="28" name="Rectangle 27"/>
          <p:cNvSpPr/>
          <p:nvPr/>
        </p:nvSpPr>
        <p:spPr>
          <a:xfrm>
            <a:off x="11178118" y="1085485"/>
            <a:ext cx="723275" cy="769441"/>
          </a:xfrm>
          <a:prstGeom prst="rect">
            <a:avLst/>
          </a:prstGeom>
        </p:spPr>
        <p:txBody>
          <a:bodyPr wrap="none">
            <a:spAutoFit/>
          </a:bodyPr>
          <a:lstStyle/>
          <a:p>
            <a:r>
              <a:rPr lang="fr-FR" sz="4400" b="1" dirty="0"/>
              <a:t>[-]</a:t>
            </a:r>
          </a:p>
        </p:txBody>
      </p:sp>
      <p:cxnSp>
        <p:nvCxnSpPr>
          <p:cNvPr id="22" name="Straight Connector 21"/>
          <p:cNvCxnSpPr/>
          <p:nvPr/>
        </p:nvCxnSpPr>
        <p:spPr>
          <a:xfrm>
            <a:off x="7850778" y="0"/>
            <a:ext cx="143690" cy="6257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9953897" y="2946483"/>
            <a:ext cx="1606733" cy="8744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Energy</a:t>
            </a:r>
            <a:endParaRPr lang="fr-FR" sz="2400" b="1" dirty="0">
              <a:solidFill>
                <a:schemeClr val="tx1"/>
              </a:solidFill>
            </a:endParaRPr>
          </a:p>
        </p:txBody>
      </p:sp>
      <p:cxnSp>
        <p:nvCxnSpPr>
          <p:cNvPr id="36" name="Straight Arrow Connector 35"/>
          <p:cNvCxnSpPr/>
          <p:nvPr/>
        </p:nvCxnSpPr>
        <p:spPr>
          <a:xfrm flipH="1">
            <a:off x="8011880" y="3202349"/>
            <a:ext cx="705395" cy="6185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40630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Así es la nueva batería de gravedad que podría almacenar energía de por vid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Picture 4"/>
          <p:cNvPicPr>
            <a:picLocks noChangeAspect="1"/>
          </p:cNvPicPr>
          <p:nvPr/>
        </p:nvPicPr>
        <p:blipFill>
          <a:blip r:embed="rId2"/>
          <a:stretch>
            <a:fillRect/>
          </a:stretch>
        </p:blipFill>
        <p:spPr>
          <a:xfrm>
            <a:off x="0" y="0"/>
            <a:ext cx="12192000" cy="6830452"/>
          </a:xfrm>
          <a:prstGeom prst="rect">
            <a:avLst/>
          </a:prstGeom>
        </p:spPr>
      </p:pic>
      <p:sp>
        <p:nvSpPr>
          <p:cNvPr id="6" name="Rectangle 5"/>
          <p:cNvSpPr/>
          <p:nvPr/>
        </p:nvSpPr>
        <p:spPr>
          <a:xfrm>
            <a:off x="460375" y="5460274"/>
            <a:ext cx="1316174" cy="7315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8" name="Rectangle 7"/>
          <p:cNvSpPr/>
          <p:nvPr/>
        </p:nvSpPr>
        <p:spPr>
          <a:xfrm>
            <a:off x="5437913" y="1811382"/>
            <a:ext cx="1316174" cy="7315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9" name="Rectangle 8"/>
          <p:cNvSpPr/>
          <p:nvPr/>
        </p:nvSpPr>
        <p:spPr>
          <a:xfrm>
            <a:off x="10579736" y="5460274"/>
            <a:ext cx="1316174" cy="7315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7" name="Rectangle 6"/>
          <p:cNvSpPr/>
          <p:nvPr/>
        </p:nvSpPr>
        <p:spPr>
          <a:xfrm rot="19288435">
            <a:off x="2051856" y="4904593"/>
            <a:ext cx="3056577" cy="47394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Active transport</a:t>
            </a:r>
            <a:endParaRPr lang="fr-FR" sz="3200" b="1" dirty="0">
              <a:solidFill>
                <a:schemeClr val="tx1"/>
              </a:solidFill>
            </a:endParaRPr>
          </a:p>
        </p:txBody>
      </p:sp>
      <p:sp>
        <p:nvSpPr>
          <p:cNvPr id="11" name="Rectangle 10"/>
          <p:cNvSpPr/>
          <p:nvPr/>
        </p:nvSpPr>
        <p:spPr>
          <a:xfrm rot="2723160">
            <a:off x="6985491" y="5040486"/>
            <a:ext cx="3261992" cy="47394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Passive transport</a:t>
            </a:r>
            <a:endParaRPr lang="fr-FR" sz="3200" b="1" dirty="0">
              <a:solidFill>
                <a:schemeClr val="tx1"/>
              </a:solidFill>
            </a:endParaRPr>
          </a:p>
        </p:txBody>
      </p:sp>
    </p:spTree>
    <p:extLst>
      <p:ext uri="{BB962C8B-B14F-4D97-AF65-F5344CB8AC3E}">
        <p14:creationId xmlns:p14="http://schemas.microsoft.com/office/powerpoint/2010/main" val="21480248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embrane Cellulaire Et Biologie, Concept Biologique, Rendu 3d. Dessin  Numérique Par Ordinateur. Banque D'Images et Photos Libres De Droits. Image  142798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solidFill>
            <a:schemeClr val="bg1"/>
          </a:solidFill>
        </p:spPr>
      </p:pic>
      <p:sp>
        <p:nvSpPr>
          <p:cNvPr id="5" name="Rectangle 4"/>
          <p:cNvSpPr/>
          <p:nvPr/>
        </p:nvSpPr>
        <p:spPr>
          <a:xfrm>
            <a:off x="29551" y="61329"/>
            <a:ext cx="7406640" cy="661594"/>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800" b="1" dirty="0" smtClean="0">
                <a:solidFill>
                  <a:schemeClr val="tx1"/>
                </a:solidFill>
                <a:latin typeface="Times New Roman" panose="02020603050405020304" pitchFamily="18" charset="0"/>
                <a:cs typeface="Times New Roman" panose="02020603050405020304" pitchFamily="18" charset="0"/>
              </a:rPr>
              <a:t>1.1.Transport passif</a:t>
            </a:r>
            <a:endParaRPr lang="fr-FR" sz="48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2709286" y="748245"/>
            <a:ext cx="4545877" cy="661594"/>
          </a:xfrm>
          <a:prstGeom prst="rect">
            <a:avLst/>
          </a:prstGeom>
          <a:solidFill>
            <a:schemeClr val="accent4">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4000" b="1" dirty="0" smtClean="0">
                <a:solidFill>
                  <a:schemeClr val="tx1"/>
                </a:solidFill>
                <a:latin typeface="Times New Roman" panose="02020603050405020304" pitchFamily="18" charset="0"/>
                <a:cs typeface="Times New Roman" panose="02020603050405020304" pitchFamily="18" charset="0"/>
              </a:rPr>
              <a:t>A. Simple diffusion</a:t>
            </a:r>
            <a:endParaRPr lang="fr-FR" sz="4000" b="1" dirty="0">
              <a:solidFill>
                <a:schemeClr val="tx1"/>
              </a:solidFill>
              <a:latin typeface="Times New Roman" panose="02020603050405020304" pitchFamily="18" charset="0"/>
              <a:cs typeface="Times New Roman" panose="02020603050405020304" pitchFamily="18" charset="0"/>
            </a:endParaRPr>
          </a:p>
        </p:txBody>
      </p:sp>
      <p:sp>
        <p:nvSpPr>
          <p:cNvPr id="8" name="AutoShape 2" descr="File:Scheme simple diffusion in cell membrane-de.png - Wikimedia Comm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098" name="Picture 2" descr="Diffusion Revision notes | A-Level Biology CIE | Cogni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50" y="1435161"/>
            <a:ext cx="5273969" cy="5437931"/>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a:off x="7563395" y="3371917"/>
            <a:ext cx="0" cy="166586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709286" y="4653465"/>
            <a:ext cx="0" cy="183877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Simple diffusion- Definition, principle, examples, applicat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8245" y="1422500"/>
            <a:ext cx="6379029" cy="5422839"/>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p:cNvCxnSpPr/>
          <p:nvPr/>
        </p:nvCxnSpPr>
        <p:spPr>
          <a:xfrm>
            <a:off x="7594797" y="2982052"/>
            <a:ext cx="21772" cy="235182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9509760" y="2982052"/>
            <a:ext cx="39189" cy="235182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11103429" y="3540034"/>
            <a:ext cx="0" cy="1946366"/>
          </a:xfrm>
          <a:prstGeom prst="straightConnector1">
            <a:avLst/>
          </a:prstGeom>
          <a:ln w="762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697143" y="2062665"/>
            <a:ext cx="0" cy="183877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Double Bracket 21"/>
          <p:cNvSpPr/>
          <p:nvPr/>
        </p:nvSpPr>
        <p:spPr>
          <a:xfrm>
            <a:off x="7331364" y="2062665"/>
            <a:ext cx="526867" cy="468996"/>
          </a:xfrm>
          <a:prstGeom prst="bracketPair">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fr-FR" sz="2800" b="1" dirty="0" smtClean="0"/>
              <a:t>+</a:t>
            </a:r>
            <a:endParaRPr lang="fr-FR" sz="2800" b="1" dirty="0"/>
          </a:p>
        </p:txBody>
      </p:sp>
      <p:sp>
        <p:nvSpPr>
          <p:cNvPr id="33" name="Double Bracket 32"/>
          <p:cNvSpPr/>
          <p:nvPr/>
        </p:nvSpPr>
        <p:spPr>
          <a:xfrm>
            <a:off x="7299961" y="5490204"/>
            <a:ext cx="526867" cy="468996"/>
          </a:xfrm>
          <a:prstGeom prst="bracketPair">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fr-FR" sz="2800" b="1" dirty="0"/>
              <a:t>-</a:t>
            </a:r>
          </a:p>
        </p:txBody>
      </p:sp>
      <p:sp>
        <p:nvSpPr>
          <p:cNvPr id="35" name="Double Bracket 34"/>
          <p:cNvSpPr/>
          <p:nvPr/>
        </p:nvSpPr>
        <p:spPr>
          <a:xfrm>
            <a:off x="9104483" y="1922048"/>
            <a:ext cx="526867" cy="468996"/>
          </a:xfrm>
          <a:prstGeom prst="bracketPair">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fr-FR" sz="2800" b="1" dirty="0" smtClean="0"/>
              <a:t>+</a:t>
            </a:r>
            <a:endParaRPr lang="fr-FR" sz="2800" b="1" dirty="0"/>
          </a:p>
        </p:txBody>
      </p:sp>
      <p:sp>
        <p:nvSpPr>
          <p:cNvPr id="37" name="Double Bracket 36"/>
          <p:cNvSpPr/>
          <p:nvPr/>
        </p:nvSpPr>
        <p:spPr>
          <a:xfrm>
            <a:off x="9355183" y="5455889"/>
            <a:ext cx="526867" cy="468996"/>
          </a:xfrm>
          <a:prstGeom prst="bracketPair">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fr-FR" sz="2800" b="1" dirty="0"/>
              <a:t>-</a:t>
            </a:r>
          </a:p>
        </p:txBody>
      </p:sp>
      <p:sp>
        <p:nvSpPr>
          <p:cNvPr id="38" name="Double Bracket 37"/>
          <p:cNvSpPr/>
          <p:nvPr/>
        </p:nvSpPr>
        <p:spPr>
          <a:xfrm>
            <a:off x="1991922" y="5724702"/>
            <a:ext cx="526867" cy="468996"/>
          </a:xfrm>
          <a:prstGeom prst="bracketPair">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fr-FR" sz="2800" b="1" dirty="0"/>
              <a:t>-</a:t>
            </a:r>
          </a:p>
        </p:txBody>
      </p:sp>
      <p:sp>
        <p:nvSpPr>
          <p:cNvPr id="39" name="Double Bracket 38"/>
          <p:cNvSpPr/>
          <p:nvPr/>
        </p:nvSpPr>
        <p:spPr>
          <a:xfrm>
            <a:off x="2034207" y="1687550"/>
            <a:ext cx="526867" cy="468996"/>
          </a:xfrm>
          <a:prstGeom prst="bracketPair">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fr-FR" sz="2800" b="1" dirty="0" smtClean="0"/>
              <a:t>+</a:t>
            </a:r>
            <a:endParaRPr lang="fr-FR" sz="2800" b="1" dirty="0"/>
          </a:p>
        </p:txBody>
      </p:sp>
    </p:spTree>
    <p:extLst>
      <p:ext uri="{BB962C8B-B14F-4D97-AF65-F5344CB8AC3E}">
        <p14:creationId xmlns:p14="http://schemas.microsoft.com/office/powerpoint/2010/main" val="23454515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Passive diffu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 name="Picture 2"/>
          <p:cNvPicPr>
            <a:picLocks noChangeAspect="1"/>
          </p:cNvPicPr>
          <p:nvPr/>
        </p:nvPicPr>
        <p:blipFill>
          <a:blip r:embed="rId2"/>
          <a:stretch>
            <a:fillRect/>
          </a:stretch>
        </p:blipFill>
        <p:spPr>
          <a:xfrm>
            <a:off x="155575" y="1045029"/>
            <a:ext cx="11875315" cy="5721532"/>
          </a:xfrm>
          <a:prstGeom prst="rect">
            <a:avLst/>
          </a:prstGeom>
        </p:spPr>
      </p:pic>
      <p:sp>
        <p:nvSpPr>
          <p:cNvPr id="4" name="Rectangle 3"/>
          <p:cNvSpPr/>
          <p:nvPr/>
        </p:nvSpPr>
        <p:spPr>
          <a:xfrm>
            <a:off x="1658983" y="160338"/>
            <a:ext cx="8908868" cy="675685"/>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tx1"/>
                </a:solidFill>
              </a:rPr>
              <a:t>Molecular </a:t>
            </a:r>
            <a:r>
              <a:rPr lang="en-US" sz="3600" b="1" dirty="0">
                <a:solidFill>
                  <a:schemeClr val="tx1"/>
                </a:solidFill>
              </a:rPr>
              <a:t>factors influencing diffusion rate</a:t>
            </a:r>
            <a:endParaRPr lang="fr-FR" sz="3600" b="1" dirty="0">
              <a:solidFill>
                <a:schemeClr val="tx1"/>
              </a:solidFill>
            </a:endParaRPr>
          </a:p>
        </p:txBody>
      </p:sp>
    </p:spTree>
    <p:extLst>
      <p:ext uri="{BB962C8B-B14F-4D97-AF65-F5344CB8AC3E}">
        <p14:creationId xmlns:p14="http://schemas.microsoft.com/office/powerpoint/2010/main" val="24749787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Polar and Nonpolar Molecul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 name="Picture 2"/>
          <p:cNvPicPr>
            <a:picLocks noChangeAspect="1"/>
          </p:cNvPicPr>
          <p:nvPr/>
        </p:nvPicPr>
        <p:blipFill>
          <a:blip r:embed="rId2"/>
          <a:stretch>
            <a:fillRect/>
          </a:stretch>
        </p:blipFill>
        <p:spPr>
          <a:xfrm>
            <a:off x="155575" y="431076"/>
            <a:ext cx="5319185" cy="3108960"/>
          </a:xfrm>
          <a:prstGeom prst="rect">
            <a:avLst/>
          </a:prstGeom>
        </p:spPr>
      </p:pic>
      <p:sp>
        <p:nvSpPr>
          <p:cNvPr id="4" name="AutoShape 4" descr="Lesson Explainer: Polar and Nonpolar Solvents | Nagw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Picture 4"/>
          <p:cNvPicPr>
            <a:picLocks noChangeAspect="1"/>
          </p:cNvPicPr>
          <p:nvPr/>
        </p:nvPicPr>
        <p:blipFill>
          <a:blip r:embed="rId3"/>
          <a:stretch>
            <a:fillRect/>
          </a:stretch>
        </p:blipFill>
        <p:spPr>
          <a:xfrm>
            <a:off x="5627160" y="312738"/>
            <a:ext cx="6442920" cy="3227298"/>
          </a:xfrm>
          <a:prstGeom prst="rect">
            <a:avLst/>
          </a:prstGeom>
        </p:spPr>
      </p:pic>
      <p:pic>
        <p:nvPicPr>
          <p:cNvPr id="6" name="Picture 5"/>
          <p:cNvPicPr>
            <a:picLocks noChangeAspect="1"/>
          </p:cNvPicPr>
          <p:nvPr/>
        </p:nvPicPr>
        <p:blipFill>
          <a:blip r:embed="rId4"/>
          <a:stretch>
            <a:fillRect/>
          </a:stretch>
        </p:blipFill>
        <p:spPr>
          <a:xfrm>
            <a:off x="155574" y="3658374"/>
            <a:ext cx="5319185" cy="3042872"/>
          </a:xfrm>
          <a:prstGeom prst="rect">
            <a:avLst/>
          </a:prstGeom>
        </p:spPr>
      </p:pic>
    </p:spTree>
    <p:extLst>
      <p:ext uri="{BB962C8B-B14F-4D97-AF65-F5344CB8AC3E}">
        <p14:creationId xmlns:p14="http://schemas.microsoft.com/office/powerpoint/2010/main" val="22180610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Solvatation : définition et exp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 name="Picture 2"/>
          <p:cNvPicPr>
            <a:picLocks noChangeAspect="1"/>
          </p:cNvPicPr>
          <p:nvPr/>
        </p:nvPicPr>
        <p:blipFill>
          <a:blip r:embed="rId2"/>
          <a:stretch>
            <a:fillRect/>
          </a:stretch>
        </p:blipFill>
        <p:spPr>
          <a:xfrm>
            <a:off x="612775" y="580889"/>
            <a:ext cx="4351111" cy="2893832"/>
          </a:xfrm>
          <a:prstGeom prst="rect">
            <a:avLst/>
          </a:prstGeom>
        </p:spPr>
      </p:pic>
      <p:sp>
        <p:nvSpPr>
          <p:cNvPr id="4" name="AutoShape 6" descr="La première coquille de solvatation d'ions : image vectorielle de stock  (libre de droits) 2347775137 | Shutterstoc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60" name="Picture 12" descr="Definition of Ionic Compounds - Chemistry Diction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166" y="418011"/>
            <a:ext cx="5042263" cy="30567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https://f3e907a781.cbaul-cdnwnd.com/5dcb022b055ef52be8eed314372f2c81/200000148-53e1354dca/Liaison%20Hydrog%C3%A8n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1166" y="3344092"/>
            <a:ext cx="5630091" cy="330490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i0.wp.com/herbasimple.com/blog/wp-content/uploads/2023/08/solubilisation-glucose.png?resize=539%2C305&amp;ssl=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775" y="3742872"/>
            <a:ext cx="5133975"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3163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fficher l'image d'origine"/>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5159828" y="0"/>
            <a:ext cx="6921335" cy="6858000"/>
          </a:xfrm>
          <a:prstGeom prst="rect">
            <a:avLst/>
          </a:prstGeom>
          <a:noFill/>
          <a:ln>
            <a:noFill/>
          </a:ln>
        </p:spPr>
      </p:pic>
      <p:sp>
        <p:nvSpPr>
          <p:cNvPr id="7" name="Rectangle 6"/>
          <p:cNvSpPr/>
          <p:nvPr/>
        </p:nvSpPr>
        <p:spPr>
          <a:xfrm>
            <a:off x="4225833" y="3873136"/>
            <a:ext cx="2495005" cy="582039"/>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ysClr val="windowText" lastClr="000000"/>
                </a:solidFill>
              </a:rPr>
              <a:t>nonpolar molecules (steroid hormones)</a:t>
            </a:r>
            <a:endParaRPr lang="fr-FR" b="1" dirty="0">
              <a:solidFill>
                <a:sysClr val="windowText" lastClr="000000"/>
              </a:solidFill>
            </a:endParaRPr>
          </a:p>
        </p:txBody>
      </p:sp>
      <p:cxnSp>
        <p:nvCxnSpPr>
          <p:cNvPr id="3" name="Straight Arrow Connector 2"/>
          <p:cNvCxnSpPr/>
          <p:nvPr/>
        </p:nvCxnSpPr>
        <p:spPr>
          <a:xfrm flipV="1">
            <a:off x="6544946" y="4071780"/>
            <a:ext cx="4192723" cy="408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0" y="410666"/>
            <a:ext cx="6152605" cy="757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smtClean="0">
                <a:solidFill>
                  <a:sysClr val="windowText" lastClr="000000"/>
                </a:solidFill>
                <a:latin typeface="Times New Roman" panose="02020603050405020304" pitchFamily="18" charset="0"/>
                <a:cs typeface="Times New Roman" panose="02020603050405020304" pitchFamily="18" charset="0"/>
              </a:rPr>
              <a:t>1) Molecular size          S.D rate </a:t>
            </a:r>
            <a:endParaRPr lang="fr-FR" sz="2800" b="1" dirty="0">
              <a:solidFill>
                <a:sysClr val="windowText" lastClr="000000"/>
              </a:solidFill>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a:off x="2621348" y="940825"/>
            <a:ext cx="293915" cy="32657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653442" y="872942"/>
            <a:ext cx="636813" cy="130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102411" y="2293314"/>
            <a:ext cx="5891350" cy="75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smtClean="0">
                <a:solidFill>
                  <a:schemeClr val="tx1"/>
                </a:solidFill>
                <a:latin typeface="Times New Roman" panose="02020603050405020304" pitchFamily="18" charset="0"/>
                <a:cs typeface="Times New Roman" panose="02020603050405020304" pitchFamily="18" charset="0"/>
              </a:rPr>
              <a:t>2) Liposolibility          S.D rate</a:t>
            </a:r>
            <a:endParaRPr lang="fr-FR" sz="2800" b="1" dirty="0">
              <a:solidFill>
                <a:schemeClr val="tx1"/>
              </a:solidFill>
              <a:latin typeface="Times New Roman" panose="02020603050405020304" pitchFamily="18" charset="0"/>
              <a:cs typeface="Times New Roman" panose="02020603050405020304" pitchFamily="18" charset="0"/>
            </a:endParaRPr>
          </a:p>
        </p:txBody>
      </p:sp>
      <p:cxnSp>
        <p:nvCxnSpPr>
          <p:cNvPr id="22" name="Straight Arrow Connector 21"/>
          <p:cNvCxnSpPr/>
          <p:nvPr/>
        </p:nvCxnSpPr>
        <p:spPr>
          <a:xfrm>
            <a:off x="2628441" y="2772654"/>
            <a:ext cx="839289" cy="653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4767633" y="2223374"/>
            <a:ext cx="281358" cy="43879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605478" y="2282376"/>
            <a:ext cx="248194" cy="33963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17963" y="4598131"/>
            <a:ext cx="6374675" cy="757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b="1" dirty="0" smtClean="0">
                <a:solidFill>
                  <a:sysClr val="windowText" lastClr="000000"/>
                </a:solidFill>
                <a:latin typeface="Times New Roman" panose="02020603050405020304" pitchFamily="18" charset="0"/>
                <a:cs typeface="Times New Roman" panose="02020603050405020304" pitchFamily="18" charset="0"/>
              </a:rPr>
              <a:t>3) Charged molecules           D.R=0 </a:t>
            </a:r>
            <a:endParaRPr lang="fr-FR" sz="2800" b="1" dirty="0">
              <a:solidFill>
                <a:sysClr val="windowText" lastClr="000000"/>
              </a:solidFill>
              <a:latin typeface="Times New Roman" panose="02020603050405020304" pitchFamily="18" charset="0"/>
              <a:cs typeface="Times New Roman" panose="02020603050405020304" pitchFamily="18" charset="0"/>
            </a:endParaRPr>
          </a:p>
        </p:txBody>
      </p:sp>
      <p:cxnSp>
        <p:nvCxnSpPr>
          <p:cNvPr id="36" name="Straight Arrow Connector 35"/>
          <p:cNvCxnSpPr/>
          <p:nvPr/>
        </p:nvCxnSpPr>
        <p:spPr>
          <a:xfrm>
            <a:off x="3457346" y="5018017"/>
            <a:ext cx="856433" cy="32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626963" y="1213252"/>
            <a:ext cx="378823" cy="34819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a:t>
            </a:r>
          </a:p>
        </p:txBody>
      </p:sp>
      <p:sp>
        <p:nvSpPr>
          <p:cNvPr id="18" name="Oval 17"/>
          <p:cNvSpPr/>
          <p:nvPr/>
        </p:nvSpPr>
        <p:spPr>
          <a:xfrm>
            <a:off x="1192394" y="1058950"/>
            <a:ext cx="696974" cy="59729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B</a:t>
            </a:r>
            <a:endParaRPr lang="fr-FR" dirty="0"/>
          </a:p>
        </p:txBody>
      </p:sp>
      <p:sp>
        <p:nvSpPr>
          <p:cNvPr id="21" name="Oval 20"/>
          <p:cNvSpPr/>
          <p:nvPr/>
        </p:nvSpPr>
        <p:spPr>
          <a:xfrm>
            <a:off x="2312072" y="2955305"/>
            <a:ext cx="488328" cy="4736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B</a:t>
            </a:r>
            <a:endParaRPr lang="fr-FR" dirty="0"/>
          </a:p>
        </p:txBody>
      </p:sp>
      <p:sp>
        <p:nvSpPr>
          <p:cNvPr id="24" name="Oval 23"/>
          <p:cNvSpPr/>
          <p:nvPr/>
        </p:nvSpPr>
        <p:spPr>
          <a:xfrm>
            <a:off x="1770472" y="2967724"/>
            <a:ext cx="488328" cy="4736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a:t>
            </a:r>
            <a:endParaRPr lang="fr-FR" dirty="0"/>
          </a:p>
        </p:txBody>
      </p:sp>
      <p:sp>
        <p:nvSpPr>
          <p:cNvPr id="27" name="Oval 26"/>
          <p:cNvSpPr/>
          <p:nvPr/>
        </p:nvSpPr>
        <p:spPr>
          <a:xfrm>
            <a:off x="2853672" y="2967724"/>
            <a:ext cx="488328" cy="47369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C</a:t>
            </a:r>
            <a:endParaRPr lang="fr-FR" dirty="0"/>
          </a:p>
        </p:txBody>
      </p:sp>
      <p:sp>
        <p:nvSpPr>
          <p:cNvPr id="5" name="Rectangle 4"/>
          <p:cNvSpPr/>
          <p:nvPr/>
        </p:nvSpPr>
        <p:spPr>
          <a:xfrm>
            <a:off x="182880" y="3631478"/>
            <a:ext cx="2573383" cy="555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Liposolubility:  B &gt; C &gt; A</a:t>
            </a:r>
            <a:endParaRPr lang="fr-FR" b="1" dirty="0"/>
          </a:p>
        </p:txBody>
      </p:sp>
      <p:sp>
        <p:nvSpPr>
          <p:cNvPr id="9" name="Rectangle 8"/>
          <p:cNvSpPr/>
          <p:nvPr/>
        </p:nvSpPr>
        <p:spPr>
          <a:xfrm>
            <a:off x="182880" y="3050095"/>
            <a:ext cx="1490183" cy="457277"/>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Same size</a:t>
            </a:r>
            <a:endParaRPr lang="fr-FR" b="1" dirty="0"/>
          </a:p>
        </p:txBody>
      </p:sp>
      <p:cxnSp>
        <p:nvCxnSpPr>
          <p:cNvPr id="28" name="Straight Arrow Connector 27"/>
          <p:cNvCxnSpPr/>
          <p:nvPr/>
        </p:nvCxnSpPr>
        <p:spPr>
          <a:xfrm>
            <a:off x="3377026" y="3140766"/>
            <a:ext cx="559846" cy="73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4045761" y="2910564"/>
            <a:ext cx="1765855" cy="555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D. </a:t>
            </a:r>
            <a:r>
              <a:rPr lang="fr-FR" b="1" dirty="0"/>
              <a:t>R</a:t>
            </a:r>
            <a:r>
              <a:rPr lang="fr-FR" b="1" dirty="0" smtClean="0"/>
              <a:t> :  B &gt; C &gt; A</a:t>
            </a:r>
            <a:endParaRPr lang="fr-FR" b="1" dirty="0"/>
          </a:p>
        </p:txBody>
      </p:sp>
      <p:sp>
        <p:nvSpPr>
          <p:cNvPr id="30" name="Rectangle 29"/>
          <p:cNvSpPr/>
          <p:nvPr/>
        </p:nvSpPr>
        <p:spPr>
          <a:xfrm>
            <a:off x="3814354" y="1166763"/>
            <a:ext cx="1997261" cy="555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D. R :  A &gt; B</a:t>
            </a:r>
            <a:endParaRPr lang="fr-FR" b="1" dirty="0"/>
          </a:p>
        </p:txBody>
      </p:sp>
      <p:cxnSp>
        <p:nvCxnSpPr>
          <p:cNvPr id="31" name="Straight Arrow Connector 30"/>
          <p:cNvCxnSpPr>
            <a:endCxn id="30" idx="1"/>
          </p:cNvCxnSpPr>
          <p:nvPr/>
        </p:nvCxnSpPr>
        <p:spPr>
          <a:xfrm flipV="1">
            <a:off x="1959374" y="1444349"/>
            <a:ext cx="1854980" cy="873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82879" y="1668203"/>
            <a:ext cx="2573383" cy="55517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Liposolubility : A=B</a:t>
            </a:r>
            <a:endParaRPr lang="fr-FR" b="1" dirty="0"/>
          </a:p>
        </p:txBody>
      </p:sp>
      <p:sp>
        <p:nvSpPr>
          <p:cNvPr id="33" name="Rectangle 32"/>
          <p:cNvSpPr/>
          <p:nvPr/>
        </p:nvSpPr>
        <p:spPr>
          <a:xfrm>
            <a:off x="3283132" y="80131"/>
            <a:ext cx="8908868" cy="415640"/>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Molecular </a:t>
            </a:r>
            <a:r>
              <a:rPr lang="en-US" sz="2800" b="1" dirty="0">
                <a:solidFill>
                  <a:schemeClr val="tx1"/>
                </a:solidFill>
              </a:rPr>
              <a:t>factors influencing diffusion rate</a:t>
            </a:r>
            <a:endParaRPr lang="fr-FR" sz="2800" b="1" dirty="0">
              <a:solidFill>
                <a:schemeClr val="tx1"/>
              </a:solidFill>
            </a:endParaRPr>
          </a:p>
        </p:txBody>
      </p:sp>
      <p:cxnSp>
        <p:nvCxnSpPr>
          <p:cNvPr id="34" name="Straight Arrow Connector 33"/>
          <p:cNvCxnSpPr/>
          <p:nvPr/>
        </p:nvCxnSpPr>
        <p:spPr>
          <a:xfrm flipV="1">
            <a:off x="4824245" y="446405"/>
            <a:ext cx="158108" cy="46963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6356712" y="613954"/>
            <a:ext cx="1180557" cy="65344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Gases</a:t>
            </a:r>
            <a:endParaRPr lang="fr-FR" b="1" dirty="0"/>
          </a:p>
        </p:txBody>
      </p:sp>
      <p:sp>
        <p:nvSpPr>
          <p:cNvPr id="37" name="Rectangle 36"/>
          <p:cNvSpPr/>
          <p:nvPr/>
        </p:nvSpPr>
        <p:spPr>
          <a:xfrm>
            <a:off x="6356712" y="1369076"/>
            <a:ext cx="1180557" cy="80515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Small polar molecules</a:t>
            </a:r>
            <a:endParaRPr lang="fr-FR" b="1" dirty="0"/>
          </a:p>
        </p:txBody>
      </p:sp>
      <p:sp>
        <p:nvSpPr>
          <p:cNvPr id="38" name="Rectangle 37"/>
          <p:cNvSpPr/>
          <p:nvPr/>
        </p:nvSpPr>
        <p:spPr>
          <a:xfrm>
            <a:off x="6323157" y="2224583"/>
            <a:ext cx="1180557" cy="80515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water</a:t>
            </a:r>
            <a:endParaRPr lang="fr-FR" b="1" dirty="0"/>
          </a:p>
        </p:txBody>
      </p:sp>
      <p:sp>
        <p:nvSpPr>
          <p:cNvPr id="40" name="Rectangle 39"/>
          <p:cNvSpPr/>
          <p:nvPr/>
        </p:nvSpPr>
        <p:spPr>
          <a:xfrm>
            <a:off x="6418020" y="3095908"/>
            <a:ext cx="1180557" cy="80515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Large polar molecules</a:t>
            </a:r>
            <a:endParaRPr lang="fr-FR" b="1" dirty="0"/>
          </a:p>
        </p:txBody>
      </p:sp>
      <p:sp>
        <p:nvSpPr>
          <p:cNvPr id="41" name="Rectangle 40"/>
          <p:cNvSpPr/>
          <p:nvPr/>
        </p:nvSpPr>
        <p:spPr>
          <a:xfrm>
            <a:off x="6290222" y="4822741"/>
            <a:ext cx="1180557" cy="107040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Charged molecules</a:t>
            </a:r>
            <a:endParaRPr lang="fr-FR" b="1" dirty="0"/>
          </a:p>
        </p:txBody>
      </p:sp>
    </p:spTree>
    <p:extLst>
      <p:ext uri="{BB962C8B-B14F-4D97-AF65-F5344CB8AC3E}">
        <p14:creationId xmlns:p14="http://schemas.microsoft.com/office/powerpoint/2010/main" val="37126747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8966" y="33040"/>
            <a:ext cx="6142977" cy="661594"/>
          </a:xfrm>
          <a:prstGeom prst="rect">
            <a:avLst/>
          </a:prstGeom>
          <a:solidFill>
            <a:schemeClr val="accent4">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000" b="1" dirty="0">
                <a:solidFill>
                  <a:schemeClr val="tx1"/>
                </a:solidFill>
                <a:latin typeface="Times New Roman" panose="02020603050405020304" pitchFamily="18" charset="0"/>
                <a:cs typeface="Times New Roman" panose="02020603050405020304" pitchFamily="18" charset="0"/>
              </a:rPr>
              <a:t>B</a:t>
            </a:r>
            <a:r>
              <a:rPr lang="fr-FR" sz="4000" b="1" dirty="0" smtClean="0">
                <a:solidFill>
                  <a:schemeClr val="tx1"/>
                </a:solidFill>
                <a:latin typeface="Times New Roman" panose="02020603050405020304" pitchFamily="18" charset="0"/>
                <a:cs typeface="Times New Roman" panose="02020603050405020304" pitchFamily="18" charset="0"/>
              </a:rPr>
              <a:t>. Facilitated Diffusion</a:t>
            </a:r>
            <a:endParaRPr lang="fr-FR" sz="4000" b="1"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Facilitated diffusion - Definition and Examples - Biology Online Dictiona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074" y="694634"/>
            <a:ext cx="11760925" cy="6163366"/>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p:cNvSpPr/>
          <p:nvPr/>
        </p:nvSpPr>
        <p:spPr>
          <a:xfrm>
            <a:off x="291653" y="1167339"/>
            <a:ext cx="772969" cy="707886"/>
          </a:xfrm>
          <a:prstGeom prst="rect">
            <a:avLst/>
          </a:prstGeom>
        </p:spPr>
        <p:txBody>
          <a:bodyPr wrap="none">
            <a:spAutoFit/>
          </a:bodyPr>
          <a:lstStyle/>
          <a:p>
            <a:r>
              <a:rPr lang="fr-FR" sz="4000" b="1" dirty="0"/>
              <a:t>[+]</a:t>
            </a:r>
            <a:endParaRPr lang="fr-FR" sz="4000" dirty="0"/>
          </a:p>
        </p:txBody>
      </p:sp>
      <p:sp>
        <p:nvSpPr>
          <p:cNvPr id="23" name="Rectangle 22"/>
          <p:cNvSpPr/>
          <p:nvPr/>
        </p:nvSpPr>
        <p:spPr>
          <a:xfrm>
            <a:off x="291653" y="5662177"/>
            <a:ext cx="675185" cy="707886"/>
          </a:xfrm>
          <a:prstGeom prst="rect">
            <a:avLst/>
          </a:prstGeom>
        </p:spPr>
        <p:txBody>
          <a:bodyPr wrap="none">
            <a:spAutoFit/>
          </a:bodyPr>
          <a:lstStyle/>
          <a:p>
            <a:r>
              <a:rPr lang="fr-FR" sz="4000" b="1" dirty="0" smtClean="0"/>
              <a:t>[-]</a:t>
            </a:r>
            <a:endParaRPr lang="fr-FR" sz="4000" dirty="0"/>
          </a:p>
        </p:txBody>
      </p:sp>
      <p:cxnSp>
        <p:nvCxnSpPr>
          <p:cNvPr id="3" name="Straight Arrow Connector 2"/>
          <p:cNvCxnSpPr/>
          <p:nvPr/>
        </p:nvCxnSpPr>
        <p:spPr>
          <a:xfrm>
            <a:off x="678137" y="1972491"/>
            <a:ext cx="0" cy="373597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966838" y="2991394"/>
            <a:ext cx="1933116" cy="66620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ysClr val="windowText" lastClr="000000"/>
                </a:solidFill>
              </a:rPr>
              <a:t>Protéine canal</a:t>
            </a:r>
            <a:endParaRPr lang="fr-FR" sz="2400" b="1" dirty="0">
              <a:solidFill>
                <a:sysClr val="windowText" lastClr="000000"/>
              </a:solidFill>
            </a:endParaRPr>
          </a:p>
        </p:txBody>
      </p:sp>
      <p:sp>
        <p:nvSpPr>
          <p:cNvPr id="24" name="Rectangle 23"/>
          <p:cNvSpPr/>
          <p:nvPr/>
        </p:nvSpPr>
        <p:spPr>
          <a:xfrm>
            <a:off x="9531719" y="5168536"/>
            <a:ext cx="1933116" cy="66620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ysClr val="windowText" lastClr="000000"/>
                </a:solidFill>
              </a:rPr>
              <a:t>Perméase</a:t>
            </a:r>
            <a:endParaRPr lang="fr-FR" sz="2400" b="1" dirty="0">
              <a:solidFill>
                <a:sysClr val="windowText" lastClr="000000"/>
              </a:solidFill>
            </a:endParaRPr>
          </a:p>
        </p:txBody>
      </p:sp>
    </p:spTree>
    <p:extLst>
      <p:ext uri="{BB962C8B-B14F-4D97-AF65-F5344CB8AC3E}">
        <p14:creationId xmlns:p14="http://schemas.microsoft.com/office/powerpoint/2010/main" val="20226229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ransport Proteins: Definition, Types, Functions, &amp;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10" y="503691"/>
            <a:ext cx="11878490" cy="58959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01337" y="2079172"/>
            <a:ext cx="1621972"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Rectangle 14"/>
          <p:cNvSpPr/>
          <p:nvPr/>
        </p:nvSpPr>
        <p:spPr>
          <a:xfrm>
            <a:off x="5512526" y="5780166"/>
            <a:ext cx="6679473" cy="1077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ctr">
              <a:buFont typeface="Wingdings" panose="05000000000000000000" pitchFamily="2" charset="2"/>
              <a:buChar char="q"/>
            </a:pPr>
            <a:r>
              <a:rPr lang="fr-FR" sz="3200" b="1" dirty="0" smtClean="0">
                <a:solidFill>
                  <a:schemeClr val="tx1"/>
                </a:solidFill>
              </a:rPr>
              <a:t>Conformational change and release of molecule</a:t>
            </a:r>
            <a:endParaRPr lang="fr-FR" sz="3200" b="1" dirty="0">
              <a:solidFill>
                <a:schemeClr val="tx1"/>
              </a:solidFill>
            </a:endParaRPr>
          </a:p>
        </p:txBody>
      </p:sp>
      <p:sp>
        <p:nvSpPr>
          <p:cNvPr id="16" name="Rectangle 15"/>
          <p:cNvSpPr/>
          <p:nvPr/>
        </p:nvSpPr>
        <p:spPr>
          <a:xfrm>
            <a:off x="254728" y="5763691"/>
            <a:ext cx="5474423" cy="10427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ctr">
              <a:buFont typeface="Wingdings" panose="05000000000000000000" pitchFamily="2" charset="2"/>
              <a:buChar char="q"/>
            </a:pPr>
            <a:r>
              <a:rPr lang="fr-FR" sz="3200" b="1" dirty="0" smtClean="0">
                <a:solidFill>
                  <a:schemeClr val="tx1"/>
                </a:solidFill>
              </a:rPr>
              <a:t> channel open and passage of ions</a:t>
            </a:r>
            <a:endParaRPr lang="fr-FR" sz="3200" b="1" dirty="0">
              <a:solidFill>
                <a:schemeClr val="tx1"/>
              </a:solidFill>
            </a:endParaRPr>
          </a:p>
        </p:txBody>
      </p:sp>
      <p:sp>
        <p:nvSpPr>
          <p:cNvPr id="3" name="Rectangle 2"/>
          <p:cNvSpPr/>
          <p:nvPr/>
        </p:nvSpPr>
        <p:spPr>
          <a:xfrm>
            <a:off x="6069875" y="2098766"/>
            <a:ext cx="1018903" cy="418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smtClean="0">
                <a:solidFill>
                  <a:schemeClr val="tx1"/>
                </a:solidFill>
              </a:rPr>
              <a:t>molecule</a:t>
            </a:r>
            <a:endParaRPr lang="fr-FR" sz="1600" b="1" dirty="0">
              <a:solidFill>
                <a:schemeClr val="tx1"/>
              </a:solidFill>
            </a:endParaRPr>
          </a:p>
        </p:txBody>
      </p:sp>
      <p:sp>
        <p:nvSpPr>
          <p:cNvPr id="10" name="Rectangle 9"/>
          <p:cNvSpPr/>
          <p:nvPr/>
        </p:nvSpPr>
        <p:spPr>
          <a:xfrm>
            <a:off x="396240" y="1870166"/>
            <a:ext cx="1933116" cy="66620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ysClr val="windowText" lastClr="000000"/>
                </a:solidFill>
              </a:rPr>
              <a:t>Canal ionique</a:t>
            </a:r>
            <a:endParaRPr lang="fr-FR" sz="2400" b="1" dirty="0">
              <a:solidFill>
                <a:sysClr val="windowText" lastClr="000000"/>
              </a:solidFill>
            </a:endParaRPr>
          </a:p>
        </p:txBody>
      </p:sp>
      <p:sp>
        <p:nvSpPr>
          <p:cNvPr id="12" name="Rectangle 11"/>
          <p:cNvSpPr/>
          <p:nvPr/>
        </p:nvSpPr>
        <p:spPr>
          <a:xfrm>
            <a:off x="9753787" y="1870166"/>
            <a:ext cx="1933116" cy="66620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ysClr val="windowText" lastClr="000000"/>
                </a:solidFill>
              </a:rPr>
              <a:t>Perméase</a:t>
            </a:r>
            <a:endParaRPr lang="fr-FR" sz="2400" b="1" dirty="0">
              <a:solidFill>
                <a:sysClr val="windowText" lastClr="000000"/>
              </a:solidFill>
            </a:endParaRPr>
          </a:p>
        </p:txBody>
      </p:sp>
    </p:spTree>
    <p:extLst>
      <p:ext uri="{BB962C8B-B14F-4D97-AF65-F5344CB8AC3E}">
        <p14:creationId xmlns:p14="http://schemas.microsoft.com/office/powerpoint/2010/main" val="32451235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64597" y="29044"/>
            <a:ext cx="9944389" cy="707886"/>
          </a:xfrm>
          <a:prstGeom prst="rect">
            <a:avLst/>
          </a:prstGeom>
          <a:solidFill>
            <a:schemeClr val="accent1">
              <a:lumMod val="20000"/>
              <a:lumOff val="80000"/>
            </a:schemeClr>
          </a:solidFill>
        </p:spPr>
        <p:txBody>
          <a:bodyPr wrap="none">
            <a:spAutoFit/>
          </a:bodyPr>
          <a:lstStyle/>
          <a:p>
            <a:r>
              <a:rPr lang="fr-FR" sz="4000" b="1" dirty="0" smtClean="0">
                <a:latin typeface="Times New Roman" panose="02020603050405020304" pitchFamily="18" charset="0"/>
                <a:ea typeface="Times New Roman" panose="02020603050405020304" pitchFamily="18" charset="0"/>
              </a:rPr>
              <a:t>B.1</a:t>
            </a:r>
            <a:r>
              <a:rPr lang="fr-FR" sz="4000" b="1" dirty="0">
                <a:latin typeface="Times New Roman" panose="02020603050405020304" pitchFamily="18" charset="0"/>
                <a:ea typeface="Times New Roman" panose="02020603050405020304" pitchFamily="18" charset="0"/>
              </a:rPr>
              <a:t>. </a:t>
            </a:r>
            <a:r>
              <a:rPr lang="fr-FR" sz="4000" b="1" dirty="0" smtClean="0">
                <a:latin typeface="Times New Roman" panose="02020603050405020304" pitchFamily="18" charset="0"/>
                <a:ea typeface="Times New Roman" panose="02020603050405020304" pitchFamily="18" charset="0"/>
              </a:rPr>
              <a:t>Facilitated diffusion by carrier proteins</a:t>
            </a:r>
            <a:r>
              <a:rPr lang="fr-FR" sz="4000" b="1" dirty="0">
                <a:latin typeface="Times New Roman" panose="02020603050405020304" pitchFamily="18" charset="0"/>
                <a:ea typeface="Times New Roman" panose="02020603050405020304" pitchFamily="18" charset="0"/>
              </a:rPr>
              <a:t> </a:t>
            </a:r>
            <a:endParaRPr lang="fr-FR" sz="4000" dirty="0"/>
          </a:p>
        </p:txBody>
      </p:sp>
      <p:sp>
        <p:nvSpPr>
          <p:cNvPr id="3" name="AutoShape 6" descr="Fiche explicative de la leçon: Structure des membranes cellulaires | Nagw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Picture 4"/>
          <p:cNvPicPr>
            <a:picLocks noChangeAspect="1"/>
          </p:cNvPicPr>
          <p:nvPr/>
        </p:nvPicPr>
        <p:blipFill>
          <a:blip r:embed="rId2"/>
          <a:stretch>
            <a:fillRect/>
          </a:stretch>
        </p:blipFill>
        <p:spPr>
          <a:xfrm>
            <a:off x="307974" y="478201"/>
            <a:ext cx="11884026" cy="4924697"/>
          </a:xfrm>
          <a:prstGeom prst="rect">
            <a:avLst/>
          </a:prstGeom>
        </p:spPr>
      </p:pic>
      <p:sp>
        <p:nvSpPr>
          <p:cNvPr id="8" name="AutoShape 8" descr="Simple diffusion and passive transport (article) | Khan Academ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Rectangle 1"/>
          <p:cNvSpPr/>
          <p:nvPr/>
        </p:nvSpPr>
        <p:spPr>
          <a:xfrm>
            <a:off x="564645" y="4683637"/>
            <a:ext cx="3159655" cy="72941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smtClean="0">
                <a:solidFill>
                  <a:schemeClr val="tx1"/>
                </a:solidFill>
              </a:rPr>
              <a:t>Solute</a:t>
            </a:r>
            <a:r>
              <a:rPr lang="fr-FR" sz="2400" b="1" dirty="0" smtClean="0">
                <a:solidFill>
                  <a:schemeClr val="tx1"/>
                </a:solidFill>
              </a:rPr>
              <a:t> Binding site</a:t>
            </a:r>
            <a:endParaRPr lang="fr-FR" sz="2400" b="1" dirty="0">
              <a:solidFill>
                <a:schemeClr val="tx1"/>
              </a:solidFill>
            </a:endParaRPr>
          </a:p>
        </p:txBody>
      </p:sp>
      <p:sp>
        <p:nvSpPr>
          <p:cNvPr id="7" name="Rectangle 6"/>
          <p:cNvSpPr/>
          <p:nvPr/>
        </p:nvSpPr>
        <p:spPr>
          <a:xfrm>
            <a:off x="0" y="995659"/>
            <a:ext cx="2430871" cy="99860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1- Outward open conformation</a:t>
            </a:r>
            <a:endParaRPr lang="fr-FR" sz="2400" b="1" dirty="0">
              <a:solidFill>
                <a:schemeClr val="tx1"/>
              </a:solidFill>
            </a:endParaRPr>
          </a:p>
        </p:txBody>
      </p:sp>
      <p:sp>
        <p:nvSpPr>
          <p:cNvPr id="9" name="Rectangle 8"/>
          <p:cNvSpPr/>
          <p:nvPr/>
        </p:nvSpPr>
        <p:spPr>
          <a:xfrm>
            <a:off x="8354997" y="866484"/>
            <a:ext cx="2430871" cy="99860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3- Inward open conformation</a:t>
            </a:r>
            <a:endParaRPr lang="fr-FR" sz="2400" b="1" dirty="0">
              <a:solidFill>
                <a:schemeClr val="tx1"/>
              </a:solidFill>
            </a:endParaRPr>
          </a:p>
        </p:txBody>
      </p:sp>
      <p:sp>
        <p:nvSpPr>
          <p:cNvPr id="10" name="Rectangle 9"/>
          <p:cNvSpPr/>
          <p:nvPr/>
        </p:nvSpPr>
        <p:spPr>
          <a:xfrm>
            <a:off x="7132676" y="4730866"/>
            <a:ext cx="4276310" cy="14217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Molecule released to inside</a:t>
            </a:r>
          </a:p>
          <a:p>
            <a:pPr algn="ctr"/>
            <a:r>
              <a:rPr lang="fr-FR" sz="2400" b="1" dirty="0" smtClean="0">
                <a:solidFill>
                  <a:schemeClr val="tx1"/>
                </a:solidFill>
              </a:rPr>
              <a:t>And carrier returns to its original conformation</a:t>
            </a:r>
            <a:endParaRPr lang="fr-FR" sz="2400" b="1" dirty="0">
              <a:solidFill>
                <a:schemeClr val="tx1"/>
              </a:solidFill>
            </a:endParaRPr>
          </a:p>
        </p:txBody>
      </p:sp>
      <p:sp>
        <p:nvSpPr>
          <p:cNvPr id="11" name="Rectangle 10"/>
          <p:cNvSpPr/>
          <p:nvPr/>
        </p:nvSpPr>
        <p:spPr>
          <a:xfrm>
            <a:off x="3977959" y="731783"/>
            <a:ext cx="3811790" cy="9086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2- Intermediate Occluded state</a:t>
            </a:r>
            <a:endParaRPr lang="fr-FR" sz="2400" b="1" dirty="0">
              <a:solidFill>
                <a:schemeClr val="tx1"/>
              </a:solidFill>
            </a:endParaRPr>
          </a:p>
        </p:txBody>
      </p:sp>
      <p:sp>
        <p:nvSpPr>
          <p:cNvPr id="12" name="Right Arrow 11"/>
          <p:cNvSpPr/>
          <p:nvPr/>
        </p:nvSpPr>
        <p:spPr>
          <a:xfrm>
            <a:off x="3252650" y="3861196"/>
            <a:ext cx="5590903" cy="524626"/>
          </a:xfrm>
          <a:prstGeom prst="righ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4132048" y="4312536"/>
            <a:ext cx="3030584" cy="43213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Conformational change</a:t>
            </a:r>
            <a:endParaRPr lang="fr-FR" b="1" dirty="0">
              <a:solidFill>
                <a:schemeClr val="tx1"/>
              </a:solidFill>
            </a:endParaRPr>
          </a:p>
        </p:txBody>
      </p:sp>
    </p:spTree>
    <p:extLst>
      <p:ext uri="{BB962C8B-B14F-4D97-AF65-F5344CB8AC3E}">
        <p14:creationId xmlns:p14="http://schemas.microsoft.com/office/powerpoint/2010/main" val="18790890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lucose Transporter - an overview | ScienceDirect Top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068" y="1110342"/>
            <a:ext cx="11969932" cy="5564777"/>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Straight Arrow Connector 35"/>
          <p:cNvCxnSpPr/>
          <p:nvPr/>
        </p:nvCxnSpPr>
        <p:spPr>
          <a:xfrm flipH="1">
            <a:off x="9858102" y="3717470"/>
            <a:ext cx="762002" cy="591102"/>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a:off x="1936570" y="2579368"/>
            <a:ext cx="1512024" cy="124643"/>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p:cNvCxnSpPr/>
          <p:nvPr/>
        </p:nvCxnSpPr>
        <p:spPr>
          <a:xfrm flipV="1">
            <a:off x="9874429" y="6220098"/>
            <a:ext cx="826226" cy="94152"/>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p:cNvCxnSpPr/>
          <p:nvPr/>
        </p:nvCxnSpPr>
        <p:spPr>
          <a:xfrm>
            <a:off x="6399713" y="2389410"/>
            <a:ext cx="1137556" cy="771801"/>
          </a:xfrm>
          <a:prstGeom prst="straightConnector1">
            <a:avLst/>
          </a:prstGeom>
          <a:ln w="762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p:cNvSpPr/>
          <p:nvPr/>
        </p:nvSpPr>
        <p:spPr>
          <a:xfrm>
            <a:off x="222068" y="156754"/>
            <a:ext cx="6936378" cy="587829"/>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ysClr val="windowText" lastClr="000000"/>
                </a:solidFill>
              </a:rPr>
              <a:t> Glucose-facilitated diffusion transporter GLUT-1 </a:t>
            </a:r>
          </a:p>
        </p:txBody>
      </p:sp>
    </p:spTree>
    <p:extLst>
      <p:ext uri="{BB962C8B-B14F-4D97-AF65-F5344CB8AC3E}">
        <p14:creationId xmlns:p14="http://schemas.microsoft.com/office/powerpoint/2010/main" val="6781183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191" y="161499"/>
            <a:ext cx="10126811" cy="707886"/>
          </a:xfrm>
          <a:prstGeom prst="rect">
            <a:avLst/>
          </a:prstGeom>
          <a:solidFill>
            <a:schemeClr val="accent1">
              <a:lumMod val="20000"/>
              <a:lumOff val="80000"/>
            </a:schemeClr>
          </a:solidFill>
        </p:spPr>
        <p:txBody>
          <a:bodyPr wrap="none">
            <a:spAutoFit/>
          </a:bodyPr>
          <a:lstStyle/>
          <a:p>
            <a:r>
              <a:rPr lang="fr-FR" sz="4000" b="1" dirty="0" smtClean="0">
                <a:latin typeface="Times New Roman" panose="02020603050405020304" pitchFamily="18" charset="0"/>
                <a:ea typeface="Times New Roman" panose="02020603050405020304" pitchFamily="18" charset="0"/>
              </a:rPr>
              <a:t>B.2. Facilitated diffusion by channel proteins</a:t>
            </a:r>
            <a:r>
              <a:rPr lang="fr-FR" sz="4000" b="1" dirty="0">
                <a:latin typeface="Times New Roman" panose="02020603050405020304" pitchFamily="18" charset="0"/>
                <a:ea typeface="Times New Roman" panose="02020603050405020304" pitchFamily="18" charset="0"/>
              </a:rPr>
              <a:t> </a:t>
            </a:r>
            <a:endParaRPr lang="fr-FR" sz="4000" dirty="0"/>
          </a:p>
        </p:txBody>
      </p:sp>
      <p:sp>
        <p:nvSpPr>
          <p:cNvPr id="3" name="AutoShape 2" descr="Diagrama De Canales De Sodio PNG - Diagrama De Canales De Sodio Sodio Canal  ilustración transparent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52" name="Picture 4" descr="Voltage-gated ion channel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224" y="869385"/>
            <a:ext cx="5134882" cy="441524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hat are Ion Channels, Membrane Potential | Molecular Devi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106" y="869386"/>
            <a:ext cx="6161588" cy="441524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781292" y="4304211"/>
            <a:ext cx="1240972" cy="418012"/>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Open</a:t>
            </a:r>
            <a:endParaRPr lang="fr-FR" sz="2800" b="1" dirty="0">
              <a:solidFill>
                <a:schemeClr val="tx1"/>
              </a:solidFill>
            </a:endParaRPr>
          </a:p>
        </p:txBody>
      </p:sp>
      <p:sp>
        <p:nvSpPr>
          <p:cNvPr id="7" name="Rectangle 6"/>
          <p:cNvSpPr/>
          <p:nvPr/>
        </p:nvSpPr>
        <p:spPr>
          <a:xfrm>
            <a:off x="3394613" y="4235985"/>
            <a:ext cx="1305957" cy="418011"/>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closed</a:t>
            </a:r>
            <a:endParaRPr lang="fr-FR" sz="2800" b="1" dirty="0">
              <a:solidFill>
                <a:schemeClr val="tx1"/>
              </a:solidFill>
            </a:endParaRPr>
          </a:p>
        </p:txBody>
      </p:sp>
      <p:sp>
        <p:nvSpPr>
          <p:cNvPr id="10" name="Rectangle 9"/>
          <p:cNvSpPr/>
          <p:nvPr/>
        </p:nvSpPr>
        <p:spPr>
          <a:xfrm>
            <a:off x="460375" y="1159259"/>
            <a:ext cx="673244" cy="41801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Ions</a:t>
            </a:r>
            <a:endParaRPr lang="fr-FR" b="1" dirty="0">
              <a:solidFill>
                <a:schemeClr val="tx1"/>
              </a:solidFill>
            </a:endParaRPr>
          </a:p>
        </p:txBody>
      </p:sp>
      <p:sp>
        <p:nvSpPr>
          <p:cNvPr id="11" name="Rectangle 10"/>
          <p:cNvSpPr/>
          <p:nvPr/>
        </p:nvSpPr>
        <p:spPr>
          <a:xfrm>
            <a:off x="9377952" y="950253"/>
            <a:ext cx="673244" cy="41801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Ions</a:t>
            </a:r>
            <a:endParaRPr lang="fr-FR" b="1" dirty="0">
              <a:solidFill>
                <a:schemeClr val="tx1"/>
              </a:solidFill>
            </a:endParaRPr>
          </a:p>
        </p:txBody>
      </p:sp>
      <p:sp>
        <p:nvSpPr>
          <p:cNvPr id="5" name="Rectangle 4"/>
          <p:cNvSpPr/>
          <p:nvPr/>
        </p:nvSpPr>
        <p:spPr>
          <a:xfrm>
            <a:off x="307975" y="1828800"/>
            <a:ext cx="645614" cy="431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a:t>
            </a:r>
            <a:endParaRPr lang="fr-FR" sz="2800" b="1" dirty="0">
              <a:solidFill>
                <a:schemeClr val="tx1"/>
              </a:solidFill>
            </a:endParaRPr>
          </a:p>
        </p:txBody>
      </p:sp>
      <p:sp>
        <p:nvSpPr>
          <p:cNvPr id="13" name="Rectangle 12"/>
          <p:cNvSpPr/>
          <p:nvPr/>
        </p:nvSpPr>
        <p:spPr>
          <a:xfrm>
            <a:off x="268292" y="4147457"/>
            <a:ext cx="645614" cy="4934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a:t>
            </a:r>
            <a:endParaRPr lang="fr-FR" sz="3200" b="1" dirty="0">
              <a:solidFill>
                <a:schemeClr val="tx1"/>
              </a:solidFill>
            </a:endParaRPr>
          </a:p>
        </p:txBody>
      </p:sp>
      <p:cxnSp>
        <p:nvCxnSpPr>
          <p:cNvPr id="12" name="Straight Arrow Connector 11"/>
          <p:cNvCxnSpPr>
            <a:stCxn id="5" idx="2"/>
          </p:cNvCxnSpPr>
          <p:nvPr/>
        </p:nvCxnSpPr>
        <p:spPr>
          <a:xfrm>
            <a:off x="630782" y="2259874"/>
            <a:ext cx="0" cy="175042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0" y="5369539"/>
            <a:ext cx="12192000" cy="15276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q"/>
            </a:pPr>
            <a:r>
              <a:rPr lang="fr-FR" sz="3200" b="1" dirty="0" smtClean="0">
                <a:solidFill>
                  <a:schemeClr val="tx1"/>
                </a:solidFill>
              </a:rPr>
              <a:t>Les canaux ioniques sont des protéines transmembranaires</a:t>
            </a:r>
          </a:p>
          <a:p>
            <a:pPr marL="285750" indent="-285750">
              <a:buFont typeface="Wingdings" panose="05000000000000000000" pitchFamily="2" charset="2"/>
              <a:buChar char="q"/>
            </a:pPr>
            <a:r>
              <a:rPr lang="fr-FR" sz="3200" b="1" dirty="0" smtClean="0">
                <a:solidFill>
                  <a:schemeClr val="tx1"/>
                </a:solidFill>
              </a:rPr>
              <a:t>Ils sont hautement spécifiques</a:t>
            </a:r>
          </a:p>
          <a:p>
            <a:pPr marL="285750" indent="-285750">
              <a:buFont typeface="Wingdings" panose="05000000000000000000" pitchFamily="2" charset="2"/>
              <a:buChar char="q"/>
            </a:pPr>
            <a:r>
              <a:rPr lang="fr-FR" sz="3200" b="1" dirty="0" smtClean="0">
                <a:solidFill>
                  <a:schemeClr val="tx1"/>
                </a:solidFill>
              </a:rPr>
              <a:t>Le mouvement des ions dépend de l’ouverture/fermeture du canal</a:t>
            </a:r>
          </a:p>
        </p:txBody>
      </p:sp>
      <p:cxnSp>
        <p:nvCxnSpPr>
          <p:cNvPr id="18" name="Straight Arrow Connector 17"/>
          <p:cNvCxnSpPr/>
          <p:nvPr/>
        </p:nvCxnSpPr>
        <p:spPr>
          <a:xfrm flipV="1">
            <a:off x="7098900" y="2731548"/>
            <a:ext cx="433949" cy="127874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9617386" y="2847703"/>
            <a:ext cx="433810" cy="130628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1050988" y="1397726"/>
            <a:ext cx="645614" cy="431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a:t>
            </a:r>
            <a:endParaRPr lang="fr-FR" sz="2800" b="1" dirty="0">
              <a:solidFill>
                <a:schemeClr val="tx1"/>
              </a:solidFill>
            </a:endParaRPr>
          </a:p>
        </p:txBody>
      </p:sp>
      <p:cxnSp>
        <p:nvCxnSpPr>
          <p:cNvPr id="28" name="Straight Arrow Connector 27"/>
          <p:cNvCxnSpPr/>
          <p:nvPr/>
        </p:nvCxnSpPr>
        <p:spPr>
          <a:xfrm flipH="1">
            <a:off x="11373795" y="1828800"/>
            <a:ext cx="25536" cy="232518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11076524" y="4116256"/>
            <a:ext cx="645614" cy="4934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a:t>
            </a:r>
            <a:endParaRPr lang="fr-FR" sz="3200" b="1" dirty="0">
              <a:solidFill>
                <a:schemeClr val="tx1"/>
              </a:solidFill>
            </a:endParaRPr>
          </a:p>
        </p:txBody>
      </p:sp>
    </p:spTree>
    <p:extLst>
      <p:ext uri="{BB962C8B-B14F-4D97-AF65-F5344CB8AC3E}">
        <p14:creationId xmlns:p14="http://schemas.microsoft.com/office/powerpoint/2010/main" val="39771378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oltage-Gated Sodium Channels: Structure, Function, Pharmacology, and  Clinical Indications. | Semantic Schol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4701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1" name="Image 6" descr="Description : Plusieurs types de stimuli contrôlent l'ouverture et la fermeture des canaux ioniqu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823" y="26125"/>
            <a:ext cx="9527176" cy="6831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0" y="26125"/>
            <a:ext cx="2664823" cy="68318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smtClean="0">
                <a:solidFill>
                  <a:schemeClr val="tx1"/>
                </a:solidFill>
              </a:rPr>
              <a:t>Les différents types de canaux ioniques</a:t>
            </a:r>
            <a:endParaRPr lang="fr-FR" sz="4800" b="1" dirty="0">
              <a:solidFill>
                <a:schemeClr val="tx1"/>
              </a:solidFill>
            </a:endParaRPr>
          </a:p>
        </p:txBody>
      </p:sp>
    </p:spTree>
    <p:extLst>
      <p:ext uri="{BB962C8B-B14F-4D97-AF65-F5344CB8AC3E}">
        <p14:creationId xmlns:p14="http://schemas.microsoft.com/office/powerpoint/2010/main" val="36452453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1 Modes de transport membranaire [2. Transport membranaire [biologie  cellulai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6975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 + specificity of the selectivity filter of a physiologic K + channel. After shedding its coat of water,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691" y="117566"/>
            <a:ext cx="5930537" cy="6152604"/>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The structure of a potassium channel which has a selective filter and a...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4046" y="117565"/>
            <a:ext cx="5791199" cy="6152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8358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17.2: Membrane Transport - Biology LibreTex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29" y="0"/>
            <a:ext cx="11994777" cy="675042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9601200" y="1606730"/>
            <a:ext cx="2390503" cy="148916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Can </a:t>
            </a:r>
            <a:r>
              <a:rPr lang="fr-FR" sz="2400" b="1" dirty="0" err="1" smtClean="0">
                <a:solidFill>
                  <a:schemeClr val="tx1"/>
                </a:solidFill>
              </a:rPr>
              <a:t>be</a:t>
            </a:r>
            <a:r>
              <a:rPr lang="fr-FR" sz="2400" b="1" dirty="0" smtClean="0">
                <a:solidFill>
                  <a:schemeClr val="tx1"/>
                </a:solidFill>
              </a:rPr>
              <a:t> </a:t>
            </a:r>
            <a:r>
              <a:rPr lang="fr-FR" sz="2400" b="1" dirty="0" err="1" smtClean="0">
                <a:solidFill>
                  <a:schemeClr val="tx1"/>
                </a:solidFill>
              </a:rPr>
              <a:t>inhibited</a:t>
            </a:r>
            <a:r>
              <a:rPr lang="fr-FR" sz="2400" b="1" dirty="0" smtClean="0">
                <a:solidFill>
                  <a:schemeClr val="tx1"/>
                </a:solidFill>
              </a:rPr>
              <a:t> by </a:t>
            </a:r>
            <a:r>
              <a:rPr lang="fr-FR" sz="2400" b="1" dirty="0" err="1" smtClean="0">
                <a:solidFill>
                  <a:schemeClr val="tx1"/>
                </a:solidFill>
              </a:rPr>
              <a:t>competitive</a:t>
            </a:r>
            <a:r>
              <a:rPr lang="fr-FR" sz="2400" b="1" dirty="0" smtClean="0">
                <a:solidFill>
                  <a:schemeClr val="tx1"/>
                </a:solidFill>
              </a:rPr>
              <a:t> </a:t>
            </a:r>
            <a:r>
              <a:rPr lang="fr-FR" sz="2400" b="1" dirty="0" err="1" smtClean="0">
                <a:solidFill>
                  <a:schemeClr val="tx1"/>
                </a:solidFill>
              </a:rPr>
              <a:t>inhibitors</a:t>
            </a:r>
            <a:r>
              <a:rPr lang="fr-FR" sz="2400" b="1" dirty="0" smtClean="0">
                <a:solidFill>
                  <a:schemeClr val="tx1"/>
                </a:solidFill>
              </a:rPr>
              <a:t> ‘analogues’</a:t>
            </a:r>
            <a:endParaRPr lang="fr-FR" sz="2400" b="1" dirty="0">
              <a:solidFill>
                <a:schemeClr val="tx1"/>
              </a:solidFill>
            </a:endParaRPr>
          </a:p>
        </p:txBody>
      </p:sp>
    </p:spTree>
    <p:extLst>
      <p:ext uri="{BB962C8B-B14F-4D97-AF65-F5344CB8AC3E}">
        <p14:creationId xmlns:p14="http://schemas.microsoft.com/office/powerpoint/2010/main" val="15702883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12192000" cy="88314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tx1"/>
                </a:solidFill>
              </a:rPr>
              <a:t> Transport </a:t>
            </a:r>
            <a:r>
              <a:rPr lang="en-US" sz="3600" b="1" dirty="0">
                <a:solidFill>
                  <a:schemeClr val="tx1"/>
                </a:solidFill>
              </a:rPr>
              <a:t>of water molecules across </a:t>
            </a:r>
            <a:r>
              <a:rPr lang="en-US" sz="3600" b="1" dirty="0" smtClean="0">
                <a:solidFill>
                  <a:schemeClr val="tx1"/>
                </a:solidFill>
              </a:rPr>
              <a:t>plasma </a:t>
            </a:r>
            <a:r>
              <a:rPr lang="en-US" sz="3600" b="1" dirty="0">
                <a:solidFill>
                  <a:schemeClr val="tx1"/>
                </a:solidFill>
              </a:rPr>
              <a:t>membrane</a:t>
            </a:r>
            <a:endParaRPr lang="fr-FR" sz="3600" b="1" dirty="0">
              <a:solidFill>
                <a:schemeClr val="tx1"/>
              </a:solidFill>
            </a:endParaRPr>
          </a:p>
        </p:txBody>
      </p:sp>
      <p:sp>
        <p:nvSpPr>
          <p:cNvPr id="5" name="Rectangle 4"/>
          <p:cNvSpPr/>
          <p:nvPr/>
        </p:nvSpPr>
        <p:spPr>
          <a:xfrm>
            <a:off x="3259833" y="755700"/>
            <a:ext cx="5238205" cy="653143"/>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Osmosis Process</a:t>
            </a:r>
            <a:endParaRPr lang="fr-FR" sz="3200" b="1" dirty="0">
              <a:solidFill>
                <a:schemeClr val="tx1"/>
              </a:solidFill>
            </a:endParaRPr>
          </a:p>
        </p:txBody>
      </p:sp>
      <p:pic>
        <p:nvPicPr>
          <p:cNvPr id="1026" name="Picture 2" descr="Osmosis: Definition and How Does it Occur (with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54" y="1408843"/>
            <a:ext cx="11730445" cy="5449157"/>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p:cNvSpPr/>
          <p:nvPr/>
        </p:nvSpPr>
        <p:spPr>
          <a:xfrm>
            <a:off x="9479981" y="4576215"/>
            <a:ext cx="542107" cy="32657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A</a:t>
            </a:r>
            <a:endParaRPr lang="fr-FR" b="1" dirty="0">
              <a:solidFill>
                <a:schemeClr val="tx1"/>
              </a:solidFill>
            </a:endParaRPr>
          </a:p>
        </p:txBody>
      </p:sp>
      <p:sp>
        <p:nvSpPr>
          <p:cNvPr id="25" name="Rectangle 24"/>
          <p:cNvSpPr/>
          <p:nvPr/>
        </p:nvSpPr>
        <p:spPr>
          <a:xfrm>
            <a:off x="10667950" y="3401748"/>
            <a:ext cx="517456" cy="36929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B</a:t>
            </a:r>
            <a:endParaRPr lang="fr-FR" b="1" dirty="0">
              <a:solidFill>
                <a:schemeClr val="tx1"/>
              </a:solidFill>
            </a:endParaRPr>
          </a:p>
        </p:txBody>
      </p:sp>
      <p:sp>
        <p:nvSpPr>
          <p:cNvPr id="27" name="Rectangle 26"/>
          <p:cNvSpPr/>
          <p:nvPr/>
        </p:nvSpPr>
        <p:spPr>
          <a:xfrm>
            <a:off x="3006650" y="3967812"/>
            <a:ext cx="598634" cy="32657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B</a:t>
            </a:r>
            <a:endParaRPr lang="fr-FR" b="1" dirty="0">
              <a:solidFill>
                <a:schemeClr val="tx1"/>
              </a:solidFill>
            </a:endParaRPr>
          </a:p>
        </p:txBody>
      </p:sp>
      <p:sp>
        <p:nvSpPr>
          <p:cNvPr id="28" name="Rectangle 27"/>
          <p:cNvSpPr/>
          <p:nvPr/>
        </p:nvSpPr>
        <p:spPr>
          <a:xfrm>
            <a:off x="1932673" y="3991841"/>
            <a:ext cx="507194" cy="32657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A</a:t>
            </a:r>
            <a:endParaRPr lang="fr-FR" b="1" dirty="0">
              <a:solidFill>
                <a:schemeClr val="tx1"/>
              </a:solidFill>
            </a:endParaRPr>
          </a:p>
        </p:txBody>
      </p:sp>
      <p:cxnSp>
        <p:nvCxnSpPr>
          <p:cNvPr id="29" name="Straight Arrow Connector 28"/>
          <p:cNvCxnSpPr/>
          <p:nvPr/>
        </p:nvCxnSpPr>
        <p:spPr>
          <a:xfrm flipV="1">
            <a:off x="9786528" y="2973699"/>
            <a:ext cx="1227322" cy="22313"/>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9081564" y="2717881"/>
            <a:ext cx="940524" cy="55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[S]</a:t>
            </a:r>
            <a:endParaRPr lang="fr-FR" sz="2400" b="1" dirty="0">
              <a:solidFill>
                <a:schemeClr val="tx1"/>
              </a:solidFill>
            </a:endParaRPr>
          </a:p>
        </p:txBody>
      </p:sp>
      <p:sp>
        <p:nvSpPr>
          <p:cNvPr id="31" name="Rectangle 30"/>
          <p:cNvSpPr/>
          <p:nvPr/>
        </p:nvSpPr>
        <p:spPr>
          <a:xfrm>
            <a:off x="10778290" y="2717881"/>
            <a:ext cx="940524" cy="55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[S]</a:t>
            </a:r>
            <a:endParaRPr lang="fr-FR" sz="2400" b="1" dirty="0">
              <a:solidFill>
                <a:schemeClr val="tx1"/>
              </a:solidFill>
            </a:endParaRPr>
          </a:p>
        </p:txBody>
      </p:sp>
      <p:sp>
        <p:nvSpPr>
          <p:cNvPr id="32" name="Rectangle 31"/>
          <p:cNvSpPr/>
          <p:nvPr/>
        </p:nvSpPr>
        <p:spPr>
          <a:xfrm>
            <a:off x="3089363" y="3320734"/>
            <a:ext cx="875153" cy="55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[S]</a:t>
            </a:r>
            <a:endParaRPr lang="fr-FR" sz="4400" b="1" dirty="0">
              <a:solidFill>
                <a:schemeClr val="tx1"/>
              </a:solidFill>
            </a:endParaRPr>
          </a:p>
        </p:txBody>
      </p:sp>
      <p:sp>
        <p:nvSpPr>
          <p:cNvPr id="33" name="Rectangle 32"/>
          <p:cNvSpPr/>
          <p:nvPr/>
        </p:nvSpPr>
        <p:spPr>
          <a:xfrm>
            <a:off x="1201888" y="3291415"/>
            <a:ext cx="940524" cy="5562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[S]</a:t>
            </a:r>
            <a:endParaRPr lang="fr-FR" sz="2400" b="1" dirty="0">
              <a:solidFill>
                <a:schemeClr val="tx1"/>
              </a:solidFill>
            </a:endParaRPr>
          </a:p>
        </p:txBody>
      </p:sp>
      <p:cxnSp>
        <p:nvCxnSpPr>
          <p:cNvPr id="34" name="Straight Arrow Connector 33"/>
          <p:cNvCxnSpPr/>
          <p:nvPr/>
        </p:nvCxnSpPr>
        <p:spPr>
          <a:xfrm flipV="1">
            <a:off x="1895243" y="3598865"/>
            <a:ext cx="1364590" cy="653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2010947" y="1408843"/>
            <a:ext cx="654584" cy="30779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T1</a:t>
            </a:r>
            <a:endParaRPr lang="fr-FR" b="1" dirty="0">
              <a:solidFill>
                <a:schemeClr val="tx1"/>
              </a:solidFill>
            </a:endParaRPr>
          </a:p>
        </p:txBody>
      </p:sp>
      <p:sp>
        <p:nvSpPr>
          <p:cNvPr id="36" name="Rectangle 35"/>
          <p:cNvSpPr/>
          <p:nvPr/>
        </p:nvSpPr>
        <p:spPr>
          <a:xfrm>
            <a:off x="9837766" y="1479080"/>
            <a:ext cx="654584" cy="30779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T2</a:t>
            </a:r>
            <a:endParaRPr lang="fr-FR" b="1" dirty="0">
              <a:solidFill>
                <a:schemeClr val="tx1"/>
              </a:solidFill>
            </a:endParaRPr>
          </a:p>
        </p:txBody>
      </p:sp>
    </p:spTree>
    <p:extLst>
      <p:ext uri="{BB962C8B-B14F-4D97-AF65-F5344CB8AC3E}">
        <p14:creationId xmlns:p14="http://schemas.microsoft.com/office/powerpoint/2010/main" val="34850206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Life120 Chapter 5 Flashcards | Quizle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Rectangle 6"/>
          <p:cNvSpPr/>
          <p:nvPr/>
        </p:nvSpPr>
        <p:spPr>
          <a:xfrm>
            <a:off x="2446057" y="7937"/>
            <a:ext cx="8620871" cy="6531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Osmosis process in human cells </a:t>
            </a:r>
            <a:endParaRPr lang="fr-FR" sz="4400" b="1" dirty="0">
              <a:solidFill>
                <a:schemeClr val="tx1"/>
              </a:solidFill>
            </a:endParaRPr>
          </a:p>
        </p:txBody>
      </p:sp>
      <p:pic>
        <p:nvPicPr>
          <p:cNvPr id="5122" name="Picture 2" descr="Osmosis - Definition and Examples | Biology Dictiona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642320"/>
            <a:ext cx="11798859" cy="539841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006696" y="6364946"/>
            <a:ext cx="6713697" cy="523220"/>
          </a:xfrm>
          <a:prstGeom prst="rect">
            <a:avLst/>
          </a:prstGeom>
        </p:spPr>
        <p:txBody>
          <a:bodyPr wrap="none">
            <a:spAutoFit/>
          </a:bodyPr>
          <a:lstStyle/>
          <a:p>
            <a:r>
              <a:rPr lang="en-US" sz="2800" b="1" dirty="0" smtClean="0">
                <a:solidFill>
                  <a:srgbClr val="222222"/>
                </a:solidFill>
                <a:latin typeface="Tahoma" panose="020B0604030504040204" pitchFamily="34" charset="0"/>
              </a:rPr>
              <a:t>Effects </a:t>
            </a:r>
            <a:r>
              <a:rPr lang="en-US" sz="2800" b="1" dirty="0">
                <a:solidFill>
                  <a:srgbClr val="222222"/>
                </a:solidFill>
                <a:latin typeface="Tahoma" panose="020B0604030504040204" pitchFamily="34" charset="0"/>
              </a:rPr>
              <a:t>of osmosis on red blood cells</a:t>
            </a:r>
            <a:endParaRPr lang="fr-FR" sz="2800" b="1" dirty="0"/>
          </a:p>
        </p:txBody>
      </p:sp>
      <p:sp>
        <p:nvSpPr>
          <p:cNvPr id="2" name="Rectangle 1"/>
          <p:cNvSpPr/>
          <p:nvPr/>
        </p:nvSpPr>
        <p:spPr>
          <a:xfrm>
            <a:off x="460375" y="6021977"/>
            <a:ext cx="2099945" cy="4572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err="1" smtClean="0">
                <a:solidFill>
                  <a:schemeClr val="tx1"/>
                </a:solidFill>
              </a:rPr>
              <a:t>Crenation</a:t>
            </a:r>
            <a:r>
              <a:rPr lang="fr-FR" sz="3200" b="1" dirty="0" smtClean="0">
                <a:solidFill>
                  <a:schemeClr val="tx1"/>
                </a:solidFill>
              </a:rPr>
              <a:t> </a:t>
            </a:r>
            <a:endParaRPr lang="fr-FR" sz="3200" b="1" dirty="0">
              <a:solidFill>
                <a:schemeClr val="tx1"/>
              </a:solidFill>
            </a:endParaRPr>
          </a:p>
        </p:txBody>
      </p:sp>
      <p:sp>
        <p:nvSpPr>
          <p:cNvPr id="8" name="Rectangle 7"/>
          <p:cNvSpPr/>
          <p:nvPr/>
        </p:nvSpPr>
        <p:spPr>
          <a:xfrm>
            <a:off x="9015291" y="5974242"/>
            <a:ext cx="3176709" cy="4572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err="1" smtClean="0">
                <a:solidFill>
                  <a:schemeClr val="tx1"/>
                </a:solidFill>
              </a:rPr>
              <a:t>Swelling</a:t>
            </a:r>
            <a:r>
              <a:rPr lang="fr-FR" sz="2400" b="1" dirty="0">
                <a:solidFill>
                  <a:schemeClr val="tx1"/>
                </a:solidFill>
              </a:rPr>
              <a:t> </a:t>
            </a:r>
            <a:r>
              <a:rPr lang="fr-FR" sz="2400" b="1" dirty="0" smtClean="0">
                <a:solidFill>
                  <a:schemeClr val="tx1"/>
                </a:solidFill>
              </a:rPr>
              <a:t>and </a:t>
            </a:r>
            <a:r>
              <a:rPr lang="fr-FR" sz="2400" b="1" dirty="0" err="1" smtClean="0">
                <a:solidFill>
                  <a:schemeClr val="tx1"/>
                </a:solidFill>
              </a:rPr>
              <a:t>Hymolysis</a:t>
            </a:r>
            <a:r>
              <a:rPr lang="fr-FR" sz="2400" b="1" dirty="0" smtClean="0">
                <a:solidFill>
                  <a:schemeClr val="tx1"/>
                </a:solidFill>
              </a:rPr>
              <a:t> </a:t>
            </a:r>
            <a:endParaRPr lang="fr-FR" sz="2400" b="1" dirty="0">
              <a:solidFill>
                <a:schemeClr val="tx1"/>
              </a:solidFill>
            </a:endParaRPr>
          </a:p>
        </p:txBody>
      </p:sp>
    </p:spTree>
    <p:extLst>
      <p:ext uri="{BB962C8B-B14F-4D97-AF65-F5344CB8AC3E}">
        <p14:creationId xmlns:p14="http://schemas.microsoft.com/office/powerpoint/2010/main" val="40519328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descr="ANAT 113 Chapter 3: Cells and Tissues (Part I) Flashcards | Quizl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75211"/>
            <a:ext cx="12192000" cy="598279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44584" y="4796245"/>
            <a:ext cx="2233748" cy="61395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Facilitated D</a:t>
            </a:r>
            <a:endParaRPr lang="fr-FR" sz="2800" b="1" dirty="0">
              <a:solidFill>
                <a:schemeClr val="tx1"/>
              </a:solidFill>
            </a:endParaRPr>
          </a:p>
        </p:txBody>
      </p:sp>
      <p:sp>
        <p:nvSpPr>
          <p:cNvPr id="4" name="Rectangle 3"/>
          <p:cNvSpPr/>
          <p:nvPr/>
        </p:nvSpPr>
        <p:spPr>
          <a:xfrm>
            <a:off x="6096000" y="4796245"/>
            <a:ext cx="2233748" cy="61395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chemeClr val="tx1"/>
                </a:solidFill>
              </a:rPr>
              <a:t>Simple. D</a:t>
            </a:r>
            <a:endParaRPr lang="fr-FR" sz="2800" b="1" dirty="0">
              <a:solidFill>
                <a:schemeClr val="tx1"/>
              </a:solidFill>
            </a:endParaRPr>
          </a:p>
        </p:txBody>
      </p:sp>
      <p:sp>
        <p:nvSpPr>
          <p:cNvPr id="5" name="Rectangle 4"/>
          <p:cNvSpPr/>
          <p:nvPr/>
        </p:nvSpPr>
        <p:spPr>
          <a:xfrm>
            <a:off x="744584" y="169817"/>
            <a:ext cx="10345782" cy="70539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smtClean="0">
                <a:solidFill>
                  <a:schemeClr val="tx1"/>
                </a:solidFill>
              </a:rPr>
              <a:t>Water transport across cell membranes</a:t>
            </a:r>
            <a:endParaRPr lang="fr-FR" sz="4800" b="1" dirty="0">
              <a:solidFill>
                <a:schemeClr val="tx1"/>
              </a:solidFill>
            </a:endParaRPr>
          </a:p>
        </p:txBody>
      </p:sp>
    </p:spTree>
    <p:extLst>
      <p:ext uri="{BB962C8B-B14F-4D97-AF65-F5344CB8AC3E}">
        <p14:creationId xmlns:p14="http://schemas.microsoft.com/office/powerpoint/2010/main" val="1739670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figures.semanticscholar.org/4639679bccd72fa30e9ed6f7405162aa579c7e35/2-Figure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583" y="326571"/>
            <a:ext cx="10959737" cy="6322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1690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ufgabe Aquapor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914399"/>
            <a:ext cx="5715000" cy="578058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ransport Characteristics of Aquaporins | SpringerLin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459" y="914399"/>
            <a:ext cx="6196468" cy="278742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IH 3D - Crystal Structure of Human Aquaporin 4 at 1.8 and its Mechanism of  Conductan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388" y="3422469"/>
            <a:ext cx="5980611" cy="343553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99064" y="0"/>
            <a:ext cx="7225006" cy="77070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smtClean="0">
                <a:solidFill>
                  <a:schemeClr val="tx1"/>
                </a:solidFill>
              </a:rPr>
              <a:t>Aquaporin structure</a:t>
            </a:r>
            <a:endParaRPr lang="fr-FR" sz="4800" b="1" dirty="0">
              <a:solidFill>
                <a:schemeClr val="tx1"/>
              </a:solidFill>
            </a:endParaRPr>
          </a:p>
        </p:txBody>
      </p:sp>
    </p:spTree>
    <p:extLst>
      <p:ext uri="{BB962C8B-B14F-4D97-AF65-F5344CB8AC3E}">
        <p14:creationId xmlns:p14="http://schemas.microsoft.com/office/powerpoint/2010/main" val="16003812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Membrane Cellulaire Et Biologie, Concept Biologique, Rendu 3d. Dessin  Numérique Par Ordinateur. Banque D'Images et Photos Libres De Droits. Image  1427982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2" y="0"/>
            <a:ext cx="12192000" cy="6858000"/>
          </a:xfrm>
          <a:prstGeom prst="rect">
            <a:avLst/>
          </a:prstGeom>
          <a:solidFill>
            <a:schemeClr val="bg1"/>
          </a:solidFill>
        </p:spPr>
      </p:pic>
      <p:sp>
        <p:nvSpPr>
          <p:cNvPr id="6" name="Rectangle 5"/>
          <p:cNvSpPr/>
          <p:nvPr/>
        </p:nvSpPr>
        <p:spPr>
          <a:xfrm>
            <a:off x="1930309" y="222127"/>
            <a:ext cx="7406640" cy="1101265"/>
          </a:xfrm>
          <a:prstGeom prst="rect">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4800" b="1" dirty="0" smtClean="0">
                <a:solidFill>
                  <a:schemeClr val="tx1"/>
                </a:solidFill>
                <a:latin typeface="Times New Roman" panose="02020603050405020304" pitchFamily="18" charset="0"/>
                <a:cs typeface="Times New Roman" panose="02020603050405020304" pitchFamily="18" charset="0"/>
              </a:rPr>
              <a:t>1.2. Active transport</a:t>
            </a:r>
            <a:endParaRPr lang="fr-FR" sz="4800" b="1"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2599509" y="1999394"/>
            <a:ext cx="4044451" cy="1152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Primary active transport</a:t>
            </a:r>
            <a:endParaRPr lang="fr-FR" sz="3600" b="1" dirty="0">
              <a:solidFill>
                <a:schemeClr val="tx1"/>
              </a:solidFill>
            </a:endParaRPr>
          </a:p>
        </p:txBody>
      </p:sp>
      <p:sp>
        <p:nvSpPr>
          <p:cNvPr id="10" name="Rectangle 9"/>
          <p:cNvSpPr/>
          <p:nvPr/>
        </p:nvSpPr>
        <p:spPr>
          <a:xfrm>
            <a:off x="2495006" y="4439064"/>
            <a:ext cx="4037920" cy="11321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smtClean="0">
                <a:solidFill>
                  <a:schemeClr val="tx1"/>
                </a:solidFill>
              </a:rPr>
              <a:t>Secondary active transport</a:t>
            </a:r>
            <a:endParaRPr lang="fr-FR" sz="3600" b="1" dirty="0">
              <a:solidFill>
                <a:schemeClr val="tx1"/>
              </a:solidFill>
            </a:endParaRPr>
          </a:p>
        </p:txBody>
      </p:sp>
      <p:cxnSp>
        <p:nvCxnSpPr>
          <p:cNvPr id="13" name="Straight Connector 12"/>
          <p:cNvCxnSpPr/>
          <p:nvPr/>
        </p:nvCxnSpPr>
        <p:spPr>
          <a:xfrm>
            <a:off x="2134280" y="1343179"/>
            <a:ext cx="32657" cy="3661942"/>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2166937" y="2442754"/>
            <a:ext cx="43257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134280" y="5005121"/>
            <a:ext cx="43257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7471715" y="1436915"/>
            <a:ext cx="4467497" cy="7576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Transporters: Pumps</a:t>
            </a:r>
            <a:endParaRPr lang="fr-FR" sz="3200" b="1" dirty="0">
              <a:solidFill>
                <a:schemeClr val="tx1"/>
              </a:solidFill>
            </a:endParaRPr>
          </a:p>
        </p:txBody>
      </p:sp>
      <p:sp>
        <p:nvSpPr>
          <p:cNvPr id="19" name="Rectangle 18"/>
          <p:cNvSpPr/>
          <p:nvPr/>
        </p:nvSpPr>
        <p:spPr>
          <a:xfrm>
            <a:off x="7471714" y="2618272"/>
            <a:ext cx="4467497" cy="7372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Energy: ATP hydrolysis</a:t>
            </a:r>
            <a:endParaRPr lang="fr-FR" sz="3200" b="1" dirty="0">
              <a:solidFill>
                <a:schemeClr val="tx1"/>
              </a:solidFill>
            </a:endParaRPr>
          </a:p>
        </p:txBody>
      </p:sp>
      <p:cxnSp>
        <p:nvCxnSpPr>
          <p:cNvPr id="20" name="Straight Connector 19"/>
          <p:cNvCxnSpPr>
            <a:endCxn id="14" idx="1"/>
          </p:cNvCxnSpPr>
          <p:nvPr/>
        </p:nvCxnSpPr>
        <p:spPr>
          <a:xfrm flipV="1">
            <a:off x="6643960" y="1815738"/>
            <a:ext cx="827755" cy="378822"/>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9" idx="1"/>
          </p:cNvCxnSpPr>
          <p:nvPr/>
        </p:nvCxnSpPr>
        <p:spPr>
          <a:xfrm>
            <a:off x="6662654" y="2821576"/>
            <a:ext cx="809060" cy="165333"/>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7496924" y="4049486"/>
            <a:ext cx="4467497" cy="121221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Transporters: </a:t>
            </a:r>
            <a:r>
              <a:rPr lang="fr-FR" sz="3200" b="1" u="sng" dirty="0" smtClean="0">
                <a:solidFill>
                  <a:schemeClr val="tx1"/>
                </a:solidFill>
              </a:rPr>
              <a:t>Symports and antiports</a:t>
            </a:r>
            <a:endParaRPr lang="fr-FR" sz="3200" b="1" u="sng" dirty="0">
              <a:solidFill>
                <a:schemeClr val="tx1"/>
              </a:solidFill>
            </a:endParaRPr>
          </a:p>
        </p:txBody>
      </p:sp>
      <p:sp>
        <p:nvSpPr>
          <p:cNvPr id="26" name="Rectangle 25"/>
          <p:cNvSpPr/>
          <p:nvPr/>
        </p:nvSpPr>
        <p:spPr>
          <a:xfrm>
            <a:off x="7471713" y="5408462"/>
            <a:ext cx="4467497" cy="130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Energy: </a:t>
            </a:r>
            <a:r>
              <a:rPr lang="fr-FR" sz="3200" b="1" dirty="0" err="1" smtClean="0">
                <a:solidFill>
                  <a:schemeClr val="tx1"/>
                </a:solidFill>
              </a:rPr>
              <a:t>Electrochemical</a:t>
            </a:r>
            <a:r>
              <a:rPr lang="fr-FR" sz="3200" b="1" dirty="0" smtClean="0">
                <a:solidFill>
                  <a:schemeClr val="tx1"/>
                </a:solidFill>
              </a:rPr>
              <a:t> gradient</a:t>
            </a:r>
            <a:endParaRPr lang="fr-FR" sz="3200" b="1" u="sng" dirty="0">
              <a:solidFill>
                <a:schemeClr val="tx1"/>
              </a:solidFill>
            </a:endParaRPr>
          </a:p>
        </p:txBody>
      </p:sp>
      <p:cxnSp>
        <p:nvCxnSpPr>
          <p:cNvPr id="28" name="Straight Connector 27"/>
          <p:cNvCxnSpPr>
            <a:endCxn id="25" idx="1"/>
          </p:cNvCxnSpPr>
          <p:nvPr/>
        </p:nvCxnSpPr>
        <p:spPr>
          <a:xfrm flipV="1">
            <a:off x="6448375" y="4655594"/>
            <a:ext cx="1048549" cy="184196"/>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26" idx="1"/>
          </p:cNvCxnSpPr>
          <p:nvPr/>
        </p:nvCxnSpPr>
        <p:spPr>
          <a:xfrm>
            <a:off x="6484806" y="5186174"/>
            <a:ext cx="986907" cy="87367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609755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15526" y="0"/>
            <a:ext cx="6904131" cy="574766"/>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A. Primary active transport</a:t>
            </a:r>
            <a:endParaRPr lang="fr-FR" sz="4400" b="1" dirty="0">
              <a:solidFill>
                <a:schemeClr val="tx1"/>
              </a:solidFill>
            </a:endParaRPr>
          </a:p>
        </p:txBody>
      </p:sp>
      <p:pic>
        <p:nvPicPr>
          <p:cNvPr id="2" name="Picture 1"/>
          <p:cNvPicPr>
            <a:picLocks noChangeAspect="1"/>
          </p:cNvPicPr>
          <p:nvPr/>
        </p:nvPicPr>
        <p:blipFill>
          <a:blip r:embed="rId2"/>
          <a:stretch>
            <a:fillRect/>
          </a:stretch>
        </p:blipFill>
        <p:spPr>
          <a:xfrm>
            <a:off x="-2721" y="574766"/>
            <a:ext cx="12192000" cy="6283234"/>
          </a:xfrm>
          <a:prstGeom prst="rect">
            <a:avLst/>
          </a:prstGeom>
        </p:spPr>
      </p:pic>
      <p:sp>
        <p:nvSpPr>
          <p:cNvPr id="6" name="Rectangle 5"/>
          <p:cNvSpPr/>
          <p:nvPr/>
        </p:nvSpPr>
        <p:spPr>
          <a:xfrm>
            <a:off x="0" y="574766"/>
            <a:ext cx="4219303" cy="444137"/>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600" b="1" dirty="0" smtClean="0">
                <a:solidFill>
                  <a:schemeClr val="tx1"/>
                </a:solidFill>
              </a:rPr>
              <a:t>EX: Na+/K+  Pump</a:t>
            </a:r>
            <a:endParaRPr lang="fr-FR" sz="3600" b="1" dirty="0">
              <a:solidFill>
                <a:schemeClr val="tx1"/>
              </a:solidFill>
            </a:endParaRPr>
          </a:p>
        </p:txBody>
      </p:sp>
      <p:sp>
        <p:nvSpPr>
          <p:cNvPr id="3" name="Rectangle 2"/>
          <p:cNvSpPr/>
          <p:nvPr/>
        </p:nvSpPr>
        <p:spPr>
          <a:xfrm>
            <a:off x="8010797" y="2730137"/>
            <a:ext cx="806632" cy="574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8" name="Rectangle 7"/>
          <p:cNvSpPr/>
          <p:nvPr/>
        </p:nvSpPr>
        <p:spPr>
          <a:xfrm>
            <a:off x="7919357" y="777242"/>
            <a:ext cx="898072" cy="574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cxnSp>
        <p:nvCxnSpPr>
          <p:cNvPr id="9" name="Straight Arrow Connector 8"/>
          <p:cNvCxnSpPr>
            <a:stCxn id="3" idx="0"/>
            <a:endCxn id="8" idx="2"/>
          </p:cNvCxnSpPr>
          <p:nvPr/>
        </p:nvCxnSpPr>
        <p:spPr>
          <a:xfrm flipH="1" flipV="1">
            <a:off x="8368393" y="1352007"/>
            <a:ext cx="45720" cy="137813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3604260" y="3966754"/>
            <a:ext cx="806632" cy="574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sp>
        <p:nvSpPr>
          <p:cNvPr id="19" name="Rectangle 18"/>
          <p:cNvSpPr/>
          <p:nvPr/>
        </p:nvSpPr>
        <p:spPr>
          <a:xfrm>
            <a:off x="3415526" y="6019801"/>
            <a:ext cx="898072" cy="574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tx1"/>
                </a:solidFill>
              </a:rPr>
              <a:t>[ + ]</a:t>
            </a:r>
            <a:endParaRPr lang="fr-FR" sz="3200" b="1" dirty="0">
              <a:solidFill>
                <a:schemeClr val="tx1"/>
              </a:solidFill>
            </a:endParaRPr>
          </a:p>
        </p:txBody>
      </p:sp>
      <p:cxnSp>
        <p:nvCxnSpPr>
          <p:cNvPr id="20" name="Straight Arrow Connector 19"/>
          <p:cNvCxnSpPr>
            <a:stCxn id="18" idx="2"/>
          </p:cNvCxnSpPr>
          <p:nvPr/>
        </p:nvCxnSpPr>
        <p:spPr>
          <a:xfrm>
            <a:off x="4007576" y="4541519"/>
            <a:ext cx="0" cy="14782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2730410" y="3122024"/>
            <a:ext cx="2455816" cy="443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cytosol</a:t>
            </a:r>
            <a:endParaRPr lang="fr-FR" sz="2400" b="1" dirty="0">
              <a:solidFill>
                <a:schemeClr val="tx1"/>
              </a:solidFill>
            </a:endParaRPr>
          </a:p>
        </p:txBody>
      </p:sp>
      <p:sp>
        <p:nvSpPr>
          <p:cNvPr id="26" name="Rectangle 25"/>
          <p:cNvSpPr/>
          <p:nvPr/>
        </p:nvSpPr>
        <p:spPr>
          <a:xfrm>
            <a:off x="2488747" y="1289957"/>
            <a:ext cx="2939143" cy="49965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Extracellular space</a:t>
            </a:r>
            <a:endParaRPr lang="fr-FR" sz="2400" b="1" dirty="0">
              <a:solidFill>
                <a:schemeClr val="tx1"/>
              </a:solidFill>
            </a:endParaRPr>
          </a:p>
        </p:txBody>
      </p:sp>
      <p:sp>
        <p:nvSpPr>
          <p:cNvPr id="27" name="Rectangle 26"/>
          <p:cNvSpPr/>
          <p:nvPr/>
        </p:nvSpPr>
        <p:spPr>
          <a:xfrm>
            <a:off x="7140485" y="6151518"/>
            <a:ext cx="2455816" cy="443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cytosol</a:t>
            </a:r>
            <a:endParaRPr lang="fr-FR" sz="2400" b="1" dirty="0">
              <a:solidFill>
                <a:schemeClr val="tx1"/>
              </a:solidFill>
            </a:endParaRPr>
          </a:p>
        </p:txBody>
      </p:sp>
      <p:sp>
        <p:nvSpPr>
          <p:cNvPr id="28" name="Rectangle 27"/>
          <p:cNvSpPr/>
          <p:nvPr/>
        </p:nvSpPr>
        <p:spPr>
          <a:xfrm>
            <a:off x="7080341" y="4108267"/>
            <a:ext cx="2036173" cy="44304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Ext, space</a:t>
            </a:r>
            <a:endParaRPr lang="fr-FR" sz="2400" b="1" dirty="0">
              <a:solidFill>
                <a:schemeClr val="tx1"/>
              </a:solidFill>
            </a:endParaRPr>
          </a:p>
        </p:txBody>
      </p:sp>
    </p:spTree>
    <p:extLst>
      <p:ext uri="{BB962C8B-B14F-4D97-AF65-F5344CB8AC3E}">
        <p14:creationId xmlns:p14="http://schemas.microsoft.com/office/powerpoint/2010/main" val="40497370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Cellular Neurophysiolog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 name="Rectangle 4"/>
          <p:cNvSpPr/>
          <p:nvPr/>
        </p:nvSpPr>
        <p:spPr>
          <a:xfrm>
            <a:off x="1743481" y="640080"/>
            <a:ext cx="8066725" cy="574766"/>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B. Secondary active Transport</a:t>
            </a:r>
            <a:endParaRPr lang="fr-FR" sz="4400" b="1" dirty="0">
              <a:solidFill>
                <a:schemeClr val="tx1"/>
              </a:solidFill>
            </a:endParaRPr>
          </a:p>
        </p:txBody>
      </p:sp>
      <p:sp>
        <p:nvSpPr>
          <p:cNvPr id="4" name="AutoShape 6" descr="Active transport: primary &amp; secondary overview (article) | Khan Academ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6" name="Picture 5"/>
          <p:cNvPicPr>
            <a:picLocks noChangeAspect="1"/>
          </p:cNvPicPr>
          <p:nvPr/>
        </p:nvPicPr>
        <p:blipFill>
          <a:blip r:embed="rId2"/>
          <a:stretch>
            <a:fillRect/>
          </a:stretch>
        </p:blipFill>
        <p:spPr>
          <a:xfrm>
            <a:off x="705394" y="1619795"/>
            <a:ext cx="10358846" cy="4389120"/>
          </a:xfrm>
          <a:prstGeom prst="rect">
            <a:avLst/>
          </a:prstGeom>
        </p:spPr>
      </p:pic>
      <p:sp>
        <p:nvSpPr>
          <p:cNvPr id="7" name="Rectangle 6"/>
          <p:cNvSpPr/>
          <p:nvPr/>
        </p:nvSpPr>
        <p:spPr>
          <a:xfrm>
            <a:off x="4245429" y="5767533"/>
            <a:ext cx="3618411" cy="646331"/>
          </a:xfrm>
          <a:prstGeom prst="rect">
            <a:avLst/>
          </a:prstGeom>
          <a:solidFill>
            <a:schemeClr val="accent2">
              <a:lumMod val="20000"/>
              <a:lumOff val="80000"/>
            </a:schemeClr>
          </a:solidFill>
        </p:spPr>
        <p:txBody>
          <a:bodyPr wrap="square">
            <a:spAutoFit/>
          </a:bodyPr>
          <a:lstStyle/>
          <a:p>
            <a:r>
              <a:rPr lang="fr-FR" sz="3600" b="1" dirty="0" smtClean="0">
                <a:solidFill>
                  <a:srgbClr val="21242C"/>
                </a:solidFill>
                <a:latin typeface="Lato"/>
              </a:rPr>
              <a:t>Cotransporters</a:t>
            </a:r>
            <a:endParaRPr lang="fr-FR" sz="3600" dirty="0"/>
          </a:p>
        </p:txBody>
      </p:sp>
    </p:spTree>
    <p:extLst>
      <p:ext uri="{BB962C8B-B14F-4D97-AF65-F5344CB8AC3E}">
        <p14:creationId xmlns:p14="http://schemas.microsoft.com/office/powerpoint/2010/main" val="41936417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condary active transport - Examples of cotransporters (sympor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344093" y="91440"/>
            <a:ext cx="7014754" cy="80989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smtClean="0">
                <a:solidFill>
                  <a:schemeClr val="tx1"/>
                </a:solidFill>
              </a:rPr>
              <a:t>Symporters</a:t>
            </a:r>
            <a:endParaRPr lang="fr-FR" sz="5400" b="1" dirty="0">
              <a:solidFill>
                <a:schemeClr val="tx1"/>
              </a:solidFill>
            </a:endParaRPr>
          </a:p>
        </p:txBody>
      </p:sp>
    </p:spTree>
    <p:extLst>
      <p:ext uri="{BB962C8B-B14F-4D97-AF65-F5344CB8AC3E}">
        <p14:creationId xmlns:p14="http://schemas.microsoft.com/office/powerpoint/2010/main" val="2683087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Secondary active transport - Examples of exchangers (antipor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4834"/>
            <a:ext cx="12192000" cy="68231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579222" y="34834"/>
            <a:ext cx="7289075" cy="80989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smtClean="0">
                <a:solidFill>
                  <a:schemeClr val="tx1"/>
                </a:solidFill>
              </a:rPr>
              <a:t>Antiporters</a:t>
            </a:r>
            <a:endParaRPr lang="fr-FR" sz="5400" b="1" dirty="0">
              <a:solidFill>
                <a:schemeClr val="tx1"/>
              </a:solidFill>
            </a:endParaRPr>
          </a:p>
        </p:txBody>
      </p:sp>
    </p:spTree>
    <p:extLst>
      <p:ext uri="{BB962C8B-B14F-4D97-AF65-F5344CB8AC3E}">
        <p14:creationId xmlns:p14="http://schemas.microsoft.com/office/powerpoint/2010/main" val="27879937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41652" y="0"/>
            <a:ext cx="8066725" cy="574766"/>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rPr>
              <a:t>B. Secondary active Transport</a:t>
            </a:r>
            <a:endParaRPr lang="fr-FR" sz="4400" b="1" dirty="0">
              <a:solidFill>
                <a:schemeClr val="tx1"/>
              </a:solidFill>
            </a:endParaRPr>
          </a:p>
        </p:txBody>
      </p:sp>
      <p:pic>
        <p:nvPicPr>
          <p:cNvPr id="2050" name="Picture 2" descr="2.1 Modes de transport membranaire [2. Transport membranaire [biologie  cellulai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5029"/>
            <a:ext cx="12192000" cy="581297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376056" y="6413863"/>
            <a:ext cx="2926081"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smtClean="0">
                <a:solidFill>
                  <a:sysClr val="windowText" lastClr="000000"/>
                </a:solidFill>
              </a:rPr>
              <a:t>SGLT1</a:t>
            </a:r>
            <a:endParaRPr lang="fr-FR" sz="2800" b="1" dirty="0">
              <a:solidFill>
                <a:sysClr val="windowText" lastClr="000000"/>
              </a:solidFill>
            </a:endParaRPr>
          </a:p>
        </p:txBody>
      </p:sp>
      <p:sp>
        <p:nvSpPr>
          <p:cNvPr id="6" name="Rectangle 5"/>
          <p:cNvSpPr/>
          <p:nvPr/>
        </p:nvSpPr>
        <p:spPr>
          <a:xfrm>
            <a:off x="4585063" y="5265964"/>
            <a:ext cx="953588"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INT</a:t>
            </a:r>
            <a:endParaRPr lang="fr-FR" b="1" dirty="0">
              <a:solidFill>
                <a:schemeClr val="tx1"/>
              </a:solidFill>
            </a:endParaRPr>
          </a:p>
        </p:txBody>
      </p:sp>
      <p:sp>
        <p:nvSpPr>
          <p:cNvPr id="8" name="Rectangle 7"/>
          <p:cNvSpPr/>
          <p:nvPr/>
        </p:nvSpPr>
        <p:spPr>
          <a:xfrm>
            <a:off x="8528004" y="5332908"/>
            <a:ext cx="953588"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INT</a:t>
            </a:r>
            <a:endParaRPr lang="fr-FR" b="1" dirty="0">
              <a:solidFill>
                <a:schemeClr val="tx1"/>
              </a:solidFill>
            </a:endParaRPr>
          </a:p>
        </p:txBody>
      </p:sp>
      <p:sp>
        <p:nvSpPr>
          <p:cNvPr id="9" name="Rectangle 8"/>
          <p:cNvSpPr/>
          <p:nvPr/>
        </p:nvSpPr>
        <p:spPr>
          <a:xfrm>
            <a:off x="4585063" y="3022349"/>
            <a:ext cx="953588"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EXT</a:t>
            </a:r>
            <a:endParaRPr lang="fr-FR" b="1" dirty="0">
              <a:solidFill>
                <a:schemeClr val="tx1"/>
              </a:solidFill>
            </a:endParaRPr>
          </a:p>
        </p:txBody>
      </p:sp>
      <p:sp>
        <p:nvSpPr>
          <p:cNvPr id="10" name="Rectangle 9"/>
          <p:cNvSpPr/>
          <p:nvPr/>
        </p:nvSpPr>
        <p:spPr>
          <a:xfrm>
            <a:off x="8388531" y="3105555"/>
            <a:ext cx="953588" cy="4441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EXT</a:t>
            </a:r>
            <a:endParaRPr lang="fr-FR" b="1" dirty="0">
              <a:solidFill>
                <a:schemeClr val="tx1"/>
              </a:solidFill>
            </a:endParaRPr>
          </a:p>
        </p:txBody>
      </p:sp>
      <p:sp>
        <p:nvSpPr>
          <p:cNvPr id="2" name="Rectangle 1"/>
          <p:cNvSpPr/>
          <p:nvPr/>
        </p:nvSpPr>
        <p:spPr>
          <a:xfrm>
            <a:off x="7165793" y="2315390"/>
            <a:ext cx="581297" cy="411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a:t>
            </a:r>
            <a:endParaRPr lang="fr-FR" sz="2400" b="1" dirty="0">
              <a:solidFill>
                <a:schemeClr val="tx1"/>
              </a:solidFill>
            </a:endParaRPr>
          </a:p>
        </p:txBody>
      </p:sp>
      <p:sp>
        <p:nvSpPr>
          <p:cNvPr id="12" name="Rectangle 11"/>
          <p:cNvSpPr/>
          <p:nvPr/>
        </p:nvSpPr>
        <p:spPr>
          <a:xfrm>
            <a:off x="11023418" y="2405126"/>
            <a:ext cx="581297" cy="411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a:t>
            </a:r>
            <a:endParaRPr lang="fr-FR" sz="2400" b="1" dirty="0">
              <a:solidFill>
                <a:schemeClr val="tx1"/>
              </a:solidFill>
            </a:endParaRPr>
          </a:p>
        </p:txBody>
      </p:sp>
      <p:sp>
        <p:nvSpPr>
          <p:cNvPr id="14" name="Rectangle 13"/>
          <p:cNvSpPr/>
          <p:nvPr/>
        </p:nvSpPr>
        <p:spPr>
          <a:xfrm>
            <a:off x="9831432" y="2610867"/>
            <a:ext cx="581297" cy="411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a:t>
            </a:r>
            <a:endParaRPr lang="fr-FR" sz="2400" b="1" dirty="0">
              <a:solidFill>
                <a:schemeClr val="tx1"/>
              </a:solidFill>
            </a:endParaRPr>
          </a:p>
        </p:txBody>
      </p:sp>
      <p:sp>
        <p:nvSpPr>
          <p:cNvPr id="15" name="Rectangle 14"/>
          <p:cNvSpPr/>
          <p:nvPr/>
        </p:nvSpPr>
        <p:spPr>
          <a:xfrm>
            <a:off x="5692139" y="2308859"/>
            <a:ext cx="581297" cy="411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a:t>
            </a:r>
            <a:endParaRPr lang="fr-FR" sz="2400" b="1" dirty="0">
              <a:solidFill>
                <a:schemeClr val="tx1"/>
              </a:solidFill>
            </a:endParaRPr>
          </a:p>
        </p:txBody>
      </p:sp>
      <p:sp>
        <p:nvSpPr>
          <p:cNvPr id="16" name="Rectangle 15"/>
          <p:cNvSpPr/>
          <p:nvPr/>
        </p:nvSpPr>
        <p:spPr>
          <a:xfrm>
            <a:off x="9172574" y="5943600"/>
            <a:ext cx="581297" cy="411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a:t>
            </a:r>
            <a:endParaRPr lang="fr-FR" sz="2400" b="1" dirty="0">
              <a:solidFill>
                <a:schemeClr val="tx1"/>
              </a:solidFill>
            </a:endParaRPr>
          </a:p>
        </p:txBody>
      </p:sp>
      <p:sp>
        <p:nvSpPr>
          <p:cNvPr id="17" name="Rectangle 16"/>
          <p:cNvSpPr/>
          <p:nvPr/>
        </p:nvSpPr>
        <p:spPr>
          <a:xfrm>
            <a:off x="5652951" y="5737859"/>
            <a:ext cx="581297" cy="411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a:t>
            </a:r>
            <a:endParaRPr lang="fr-FR" sz="2400" b="1" dirty="0">
              <a:solidFill>
                <a:schemeClr val="tx1"/>
              </a:solidFill>
            </a:endParaRPr>
          </a:p>
        </p:txBody>
      </p:sp>
      <p:sp>
        <p:nvSpPr>
          <p:cNvPr id="18" name="Rectangle 17"/>
          <p:cNvSpPr/>
          <p:nvPr/>
        </p:nvSpPr>
        <p:spPr>
          <a:xfrm>
            <a:off x="10732770" y="6103617"/>
            <a:ext cx="581297" cy="411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a:t>
            </a:r>
            <a:endParaRPr lang="fr-FR" sz="2400" b="1" dirty="0">
              <a:solidFill>
                <a:schemeClr val="tx1"/>
              </a:solidFill>
            </a:endParaRPr>
          </a:p>
        </p:txBody>
      </p:sp>
      <p:sp>
        <p:nvSpPr>
          <p:cNvPr id="19" name="Rectangle 18"/>
          <p:cNvSpPr/>
          <p:nvPr/>
        </p:nvSpPr>
        <p:spPr>
          <a:xfrm>
            <a:off x="6989852" y="5737859"/>
            <a:ext cx="581297" cy="411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a:t>
            </a:r>
            <a:endParaRPr lang="fr-FR" sz="2400" b="1" dirty="0">
              <a:solidFill>
                <a:schemeClr val="tx1"/>
              </a:solidFill>
            </a:endParaRPr>
          </a:p>
        </p:txBody>
      </p:sp>
    </p:spTree>
    <p:extLst>
      <p:ext uri="{BB962C8B-B14F-4D97-AF65-F5344CB8AC3E}">
        <p14:creationId xmlns:p14="http://schemas.microsoft.com/office/powerpoint/2010/main" val="40268002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www.facbio.com/content/images/stories/bio/Membrane/FBM_GlucIntestin.jpg"/>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30628" y="45720"/>
            <a:ext cx="11861073" cy="6812280"/>
          </a:xfrm>
          <a:prstGeom prst="rect">
            <a:avLst/>
          </a:prstGeom>
          <a:noFill/>
          <a:ln>
            <a:noFill/>
          </a:ln>
        </p:spPr>
      </p:pic>
      <p:cxnSp>
        <p:nvCxnSpPr>
          <p:cNvPr id="3" name="Straight Arrow Connector 2"/>
          <p:cNvCxnSpPr/>
          <p:nvPr/>
        </p:nvCxnSpPr>
        <p:spPr>
          <a:xfrm flipH="1">
            <a:off x="2660471" y="1071154"/>
            <a:ext cx="2325189" cy="28868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5303520" y="3370217"/>
            <a:ext cx="235131" cy="7641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958149" y="3272245"/>
            <a:ext cx="1728650" cy="9339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4833257" y="653143"/>
            <a:ext cx="470263" cy="41801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val 11"/>
          <p:cNvSpPr/>
          <p:nvPr/>
        </p:nvSpPr>
        <p:spPr>
          <a:xfrm>
            <a:off x="4950824" y="3063240"/>
            <a:ext cx="470263" cy="41801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val 13"/>
          <p:cNvSpPr/>
          <p:nvPr/>
        </p:nvSpPr>
        <p:spPr>
          <a:xfrm>
            <a:off x="6487886" y="2919548"/>
            <a:ext cx="470263" cy="41801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p:nvPr/>
        </p:nvSpPr>
        <p:spPr>
          <a:xfrm>
            <a:off x="8503919" y="548640"/>
            <a:ext cx="2704011" cy="522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Membrane apicale</a:t>
            </a:r>
            <a:endParaRPr lang="fr-FR" sz="2400" b="1" dirty="0">
              <a:solidFill>
                <a:schemeClr val="tx1"/>
              </a:solidFill>
            </a:endParaRPr>
          </a:p>
        </p:txBody>
      </p:sp>
      <p:cxnSp>
        <p:nvCxnSpPr>
          <p:cNvPr id="18" name="Straight Arrow Connector 17"/>
          <p:cNvCxnSpPr/>
          <p:nvPr/>
        </p:nvCxnSpPr>
        <p:spPr>
          <a:xfrm flipH="1" flipV="1">
            <a:off x="8098971" y="796834"/>
            <a:ext cx="587828" cy="130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8098971" y="2397034"/>
            <a:ext cx="2704011" cy="522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Membrane basale</a:t>
            </a:r>
            <a:endParaRPr lang="fr-FR" sz="2400" b="1" dirty="0">
              <a:solidFill>
                <a:schemeClr val="tx1"/>
              </a:solidFill>
            </a:endParaRPr>
          </a:p>
        </p:txBody>
      </p:sp>
      <p:cxnSp>
        <p:nvCxnSpPr>
          <p:cNvPr id="20" name="Straight Arrow Connector 19"/>
          <p:cNvCxnSpPr/>
          <p:nvPr/>
        </p:nvCxnSpPr>
        <p:spPr>
          <a:xfrm flipH="1">
            <a:off x="8098971" y="2919549"/>
            <a:ext cx="881742" cy="20900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4804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articules LDL Se Liant Aux Récepteurs LDL Sur La Membrane Cellulaire. La  Liaison Des Particules LDL Aux Récepteurs LDL Intervient Dans L'endocytose  Des Particules Par Le Biais De Vésicules Enrobées De Clathr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382500" cy="92868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40526" y="174562"/>
            <a:ext cx="9980023" cy="830997"/>
          </a:xfrm>
          <a:prstGeom prst="rect">
            <a:avLst/>
          </a:prstGeom>
          <a:solidFill>
            <a:schemeClr val="accent4">
              <a:lumMod val="40000"/>
              <a:lumOff val="60000"/>
            </a:schemeClr>
          </a:solidFill>
        </p:spPr>
        <p:txBody>
          <a:bodyPr wrap="square">
            <a:spAutoFit/>
          </a:bodyPr>
          <a:lstStyle/>
          <a:p>
            <a:pPr algn="ctr">
              <a:spcBef>
                <a:spcPts val="1200"/>
              </a:spcBef>
            </a:pPr>
            <a:r>
              <a:rPr lang="fr-FR" sz="4800" dirty="0">
                <a:latin typeface="Times New Roman" panose="02020603050405020304" pitchFamily="18" charset="0"/>
              </a:rPr>
              <a:t>II. </a:t>
            </a:r>
            <a:r>
              <a:rPr lang="fr-FR" sz="4800" dirty="0" smtClean="0">
                <a:latin typeface="Times New Roman" panose="02020603050405020304" pitchFamily="18" charset="0"/>
              </a:rPr>
              <a:t>   </a:t>
            </a:r>
            <a:r>
              <a:rPr lang="fr-FR" sz="4800" b="1" dirty="0" smtClean="0">
                <a:latin typeface="Times New Roman" panose="02020603050405020304" pitchFamily="18" charset="0"/>
              </a:rPr>
              <a:t>Transport of Macromolecules</a:t>
            </a:r>
            <a:endParaRPr lang="fr-FR" sz="4800" dirty="0">
              <a:effectLst/>
            </a:endParaRPr>
          </a:p>
        </p:txBody>
      </p:sp>
      <p:sp>
        <p:nvSpPr>
          <p:cNvPr id="5" name="Rectangle 4"/>
          <p:cNvSpPr/>
          <p:nvPr/>
        </p:nvSpPr>
        <p:spPr>
          <a:xfrm>
            <a:off x="444137" y="1521970"/>
            <a:ext cx="5381897"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1. ENDOCYTOSIS</a:t>
            </a:r>
            <a:endParaRPr lang="fr-FR" sz="4000" b="1" dirty="0">
              <a:solidFill>
                <a:schemeClr val="tx1"/>
              </a:solidFill>
            </a:endParaRPr>
          </a:p>
        </p:txBody>
      </p:sp>
      <p:sp>
        <p:nvSpPr>
          <p:cNvPr id="7" name="Rectangle 6"/>
          <p:cNvSpPr/>
          <p:nvPr/>
        </p:nvSpPr>
        <p:spPr>
          <a:xfrm>
            <a:off x="300446" y="5061449"/>
            <a:ext cx="5381897"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2. EXOCYTOSIS</a:t>
            </a:r>
            <a:endParaRPr lang="fr-FR" sz="4000" b="1" dirty="0">
              <a:solidFill>
                <a:schemeClr val="tx1"/>
              </a:solidFill>
            </a:endParaRPr>
          </a:p>
        </p:txBody>
      </p:sp>
      <p:sp>
        <p:nvSpPr>
          <p:cNvPr id="8" name="Rectangle 7"/>
          <p:cNvSpPr/>
          <p:nvPr/>
        </p:nvSpPr>
        <p:spPr>
          <a:xfrm>
            <a:off x="6531427" y="1166814"/>
            <a:ext cx="4389121"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A</a:t>
            </a:r>
            <a:r>
              <a:rPr lang="fr-FR" sz="4000" b="1" dirty="0" smtClean="0">
                <a:solidFill>
                  <a:schemeClr val="tx1"/>
                </a:solidFill>
              </a:rPr>
              <a:t>. Pinocytosis</a:t>
            </a:r>
            <a:endParaRPr lang="fr-FR" sz="4000" b="1" dirty="0">
              <a:solidFill>
                <a:schemeClr val="tx1"/>
              </a:solidFill>
            </a:endParaRPr>
          </a:p>
        </p:txBody>
      </p:sp>
      <p:sp>
        <p:nvSpPr>
          <p:cNvPr id="9" name="Rectangle 8"/>
          <p:cNvSpPr/>
          <p:nvPr/>
        </p:nvSpPr>
        <p:spPr>
          <a:xfrm>
            <a:off x="6485706" y="2223997"/>
            <a:ext cx="5381897" cy="11330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B</a:t>
            </a:r>
            <a:r>
              <a:rPr lang="fr-FR" sz="4000" b="1" dirty="0" smtClean="0">
                <a:solidFill>
                  <a:schemeClr val="tx1"/>
                </a:solidFill>
              </a:rPr>
              <a:t>. Receptor-</a:t>
            </a:r>
            <a:r>
              <a:rPr lang="fr-FR" sz="4000" b="1" dirty="0" err="1" smtClean="0">
                <a:solidFill>
                  <a:schemeClr val="tx1"/>
                </a:solidFill>
              </a:rPr>
              <a:t>mediated</a:t>
            </a:r>
            <a:r>
              <a:rPr lang="fr-FR" sz="4000" b="1" dirty="0" smtClean="0">
                <a:solidFill>
                  <a:schemeClr val="tx1"/>
                </a:solidFill>
              </a:rPr>
              <a:t> Endocytosis</a:t>
            </a:r>
            <a:endParaRPr lang="fr-FR" sz="4000" b="1" dirty="0">
              <a:solidFill>
                <a:schemeClr val="tx1"/>
              </a:solidFill>
            </a:endParaRPr>
          </a:p>
        </p:txBody>
      </p:sp>
      <p:sp>
        <p:nvSpPr>
          <p:cNvPr id="10" name="Rectangle 9"/>
          <p:cNvSpPr/>
          <p:nvPr/>
        </p:nvSpPr>
        <p:spPr>
          <a:xfrm>
            <a:off x="6394264" y="4778157"/>
            <a:ext cx="5701942"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A</a:t>
            </a:r>
            <a:r>
              <a:rPr lang="fr-FR" sz="4000" b="1" dirty="0" smtClean="0">
                <a:solidFill>
                  <a:schemeClr val="tx1"/>
                </a:solidFill>
              </a:rPr>
              <a:t>. Constitutive Exocytosis</a:t>
            </a:r>
            <a:endParaRPr lang="fr-FR" sz="4000" b="1" dirty="0">
              <a:solidFill>
                <a:schemeClr val="tx1"/>
              </a:solidFill>
            </a:endParaRPr>
          </a:p>
        </p:txBody>
      </p:sp>
      <p:sp>
        <p:nvSpPr>
          <p:cNvPr id="11" name="Rectangle 10"/>
          <p:cNvSpPr/>
          <p:nvPr/>
        </p:nvSpPr>
        <p:spPr>
          <a:xfrm>
            <a:off x="6439984" y="5884180"/>
            <a:ext cx="5473339"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B</a:t>
            </a:r>
            <a:r>
              <a:rPr lang="fr-FR" sz="4000" b="1" dirty="0" smtClean="0">
                <a:solidFill>
                  <a:schemeClr val="tx1"/>
                </a:solidFill>
              </a:rPr>
              <a:t>. Regulated Exocytosis</a:t>
            </a:r>
            <a:endParaRPr lang="fr-FR" sz="4000" b="1" dirty="0">
              <a:solidFill>
                <a:schemeClr val="tx1"/>
              </a:solidFill>
            </a:endParaRPr>
          </a:p>
        </p:txBody>
      </p:sp>
      <p:cxnSp>
        <p:nvCxnSpPr>
          <p:cNvPr id="12" name="Straight Arrow Connector 11"/>
          <p:cNvCxnSpPr/>
          <p:nvPr/>
        </p:nvCxnSpPr>
        <p:spPr>
          <a:xfrm flipV="1">
            <a:off x="5826034" y="1797748"/>
            <a:ext cx="705393" cy="17177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826033" y="2325409"/>
            <a:ext cx="613953" cy="44381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708467" y="5806142"/>
            <a:ext cx="705394" cy="73118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5675809" y="5260914"/>
            <a:ext cx="738052" cy="17963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6570611" y="3462333"/>
            <a:ext cx="4389121" cy="992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smtClean="0">
                <a:solidFill>
                  <a:schemeClr val="tx1"/>
                </a:solidFill>
              </a:rPr>
              <a:t>C. Phagocytosis</a:t>
            </a:r>
            <a:endParaRPr lang="fr-FR" sz="4000" b="1" dirty="0">
              <a:solidFill>
                <a:schemeClr val="tx1"/>
              </a:solidFill>
            </a:endParaRPr>
          </a:p>
        </p:txBody>
      </p:sp>
      <p:cxnSp>
        <p:nvCxnSpPr>
          <p:cNvPr id="16" name="Straight Arrow Connector 15"/>
          <p:cNvCxnSpPr/>
          <p:nvPr/>
        </p:nvCxnSpPr>
        <p:spPr>
          <a:xfrm>
            <a:off x="5708467" y="2530169"/>
            <a:ext cx="862144" cy="126299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9697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inocytose. Boire des cellules. Dans le : illustration de stock 1450814204  | Shutter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669" y="0"/>
            <a:ext cx="9644743" cy="590441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312919" y="261256"/>
            <a:ext cx="5340531" cy="77070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A.  PINOCYTOSIS</a:t>
            </a:r>
            <a:endParaRPr lang="fr-FR" sz="44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441219" y="5508924"/>
            <a:ext cx="11534502" cy="1005788"/>
          </a:xfrm>
          <a:prstGeom prst="rect">
            <a:avLst/>
          </a:prstGeom>
          <a:solidFill>
            <a:schemeClr val="accent2">
              <a:lumMod val="20000"/>
              <a:lumOff val="80000"/>
            </a:schemeClr>
          </a:solidFill>
        </p:spPr>
        <p:txBody>
          <a:bodyPr wrap="square">
            <a:spAutoFit/>
          </a:bodyPr>
          <a:lstStyle/>
          <a:p>
            <a:pPr algn="ctr">
              <a:lnSpc>
                <a:spcPct val="106000"/>
              </a:lnSpc>
              <a:spcAft>
                <a:spcPts val="800"/>
              </a:spcAft>
            </a:pPr>
            <a:r>
              <a:rPr lang="en-US" sz="2800" b="1" dirty="0"/>
              <a:t>The </a:t>
            </a:r>
            <a:r>
              <a:rPr lang="en-US" sz="2800" b="1" dirty="0" smtClean="0"/>
              <a:t>process </a:t>
            </a:r>
            <a:r>
              <a:rPr lang="en-US" sz="2800" b="1" dirty="0"/>
              <a:t>of pinocytosis: the membrane </a:t>
            </a:r>
            <a:r>
              <a:rPr lang="en-US" sz="2800" b="1" dirty="0" err="1"/>
              <a:t>invaginates</a:t>
            </a:r>
            <a:r>
              <a:rPr lang="en-US" sz="2800" b="1" dirty="0"/>
              <a:t>, incorporating a small volume of extracellular fluid containing small-sized particles.</a:t>
            </a:r>
            <a:r>
              <a:rPr lang="en-US" sz="2800" dirty="0"/>
              <a:t> »</a:t>
            </a:r>
            <a:endParaRPr lang="fr-FR" sz="2800" b="1"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77751488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ceptor-mediated Endocytosis Coated Vesicle Receptors Stock Illustration  1444088630 | Shutter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354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82880" y="111131"/>
            <a:ext cx="12009120" cy="836023"/>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B.  Receptor-</a:t>
            </a:r>
            <a:r>
              <a:rPr lang="fr-FR" sz="4400" b="1" dirty="0" err="1" smtClean="0">
                <a:solidFill>
                  <a:schemeClr val="tx1"/>
                </a:solidFill>
                <a:latin typeface="Times New Roman" panose="02020603050405020304" pitchFamily="18" charset="0"/>
                <a:cs typeface="Times New Roman" panose="02020603050405020304" pitchFamily="18" charset="0"/>
              </a:rPr>
              <a:t>mediated</a:t>
            </a:r>
            <a:r>
              <a:rPr lang="fr-FR" sz="4400" b="1" dirty="0" smtClean="0">
                <a:solidFill>
                  <a:schemeClr val="tx1"/>
                </a:solidFill>
                <a:latin typeface="Times New Roman" panose="02020603050405020304" pitchFamily="18" charset="0"/>
                <a:cs typeface="Times New Roman" panose="02020603050405020304" pitchFamily="18" charset="0"/>
              </a:rPr>
              <a:t> Endocytosis</a:t>
            </a:r>
            <a:endParaRPr lang="fr-FR" sz="4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611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245660"/>
            <a:ext cx="12192000" cy="6612340"/>
          </a:xfrm>
          <a:prstGeom prst="rect">
            <a:avLst/>
          </a:prstGeom>
        </p:spPr>
      </p:pic>
      <p:sp>
        <p:nvSpPr>
          <p:cNvPr id="3" name="Rectangle 2"/>
          <p:cNvSpPr/>
          <p:nvPr/>
        </p:nvSpPr>
        <p:spPr>
          <a:xfrm>
            <a:off x="196528" y="673681"/>
            <a:ext cx="7760116" cy="769441"/>
          </a:xfrm>
          <a:prstGeom prst="rect">
            <a:avLst/>
          </a:prstGeom>
          <a:solidFill>
            <a:schemeClr val="accent4">
              <a:lumMod val="40000"/>
              <a:lumOff val="60000"/>
            </a:schemeClr>
          </a:solidFill>
        </p:spPr>
        <p:txBody>
          <a:bodyPr wrap="square">
            <a:spAutoFit/>
          </a:bodyPr>
          <a:lstStyle/>
          <a:p>
            <a:r>
              <a:rPr lang="fr-FR" sz="4400" b="1" i="1" u="sng" dirty="0" err="1"/>
              <a:t>Clathrin-mediated</a:t>
            </a:r>
            <a:r>
              <a:rPr lang="fr-FR" sz="4400" b="1" i="1" u="sng" dirty="0"/>
              <a:t> endocytosis</a:t>
            </a:r>
            <a:endParaRPr lang="fr-FR" sz="4400" i="1" u="sng" dirty="0"/>
          </a:p>
        </p:txBody>
      </p:sp>
    </p:spTree>
    <p:extLst>
      <p:ext uri="{BB962C8B-B14F-4D97-AF65-F5344CB8AC3E}">
        <p14:creationId xmlns:p14="http://schemas.microsoft.com/office/powerpoint/2010/main" val="87206456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65760" y="117566"/>
            <a:ext cx="11273246" cy="6505303"/>
          </a:xfrm>
          <a:prstGeom prst="rect">
            <a:avLst/>
          </a:prstGeom>
        </p:spPr>
      </p:pic>
      <p:sp>
        <p:nvSpPr>
          <p:cNvPr id="5" name="Rectangle 4"/>
          <p:cNvSpPr/>
          <p:nvPr/>
        </p:nvSpPr>
        <p:spPr>
          <a:xfrm>
            <a:off x="627017" y="235131"/>
            <a:ext cx="10763794" cy="2259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ysClr val="windowText" lastClr="000000"/>
                </a:solidFill>
              </a:rPr>
              <a:t>Fixation du complexe clathrine/AP2 sur le domaine intracellulaire du récepteur LDL </a:t>
            </a:r>
            <a:endParaRPr lang="fr-FR" sz="4400" b="1" dirty="0">
              <a:solidFill>
                <a:sysClr val="windowText" lastClr="000000"/>
              </a:solidFill>
            </a:endParaRPr>
          </a:p>
        </p:txBody>
      </p:sp>
    </p:spTree>
    <p:extLst>
      <p:ext uri="{BB962C8B-B14F-4D97-AF65-F5344CB8AC3E}">
        <p14:creationId xmlns:p14="http://schemas.microsoft.com/office/powerpoint/2010/main" val="421352815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00446" y="375557"/>
            <a:ext cx="10750731" cy="3882544"/>
          </a:xfrm>
          <a:prstGeom prst="rect">
            <a:avLst/>
          </a:prstGeom>
        </p:spPr>
      </p:pic>
      <p:sp>
        <p:nvSpPr>
          <p:cNvPr id="8" name="Rectangle 7"/>
          <p:cNvSpPr/>
          <p:nvPr/>
        </p:nvSpPr>
        <p:spPr>
          <a:xfrm>
            <a:off x="579121" y="4761973"/>
            <a:ext cx="10798628" cy="1938992"/>
          </a:xfrm>
          <a:prstGeom prst="rect">
            <a:avLst/>
          </a:prstGeom>
        </p:spPr>
        <p:txBody>
          <a:bodyPr wrap="square">
            <a:spAutoFit/>
          </a:bodyPr>
          <a:lstStyle/>
          <a:p>
            <a:pPr marL="342900" lvl="0" indent="-342900" algn="just">
              <a:lnSpc>
                <a:spcPct val="150000"/>
              </a:lnSpc>
              <a:buFont typeface="+mj-lt"/>
              <a:buAutoNum type="arabicParenBoth"/>
            </a:pPr>
            <a:r>
              <a:rPr lang="fr-FR" sz="2000" b="1" dirty="0">
                <a:latin typeface="Times New Roman" panose="02020603050405020304" pitchFamily="18" charset="0"/>
              </a:rPr>
              <a:t>Structure tripartite d’une molécule de clathrine, formée de trois chaînes lourdes et de trois chaînes légères (</a:t>
            </a:r>
            <a:r>
              <a:rPr lang="fr-FR" sz="2000" b="1" dirty="0" err="1">
                <a:latin typeface="Times New Roman" panose="02020603050405020304" pitchFamily="18" charset="0"/>
              </a:rPr>
              <a:t>triskélion</a:t>
            </a:r>
            <a:r>
              <a:rPr lang="fr-FR" sz="2000" b="1" dirty="0">
                <a:latin typeface="Times New Roman" panose="02020603050405020304" pitchFamily="18" charset="0"/>
              </a:rPr>
              <a:t>). (2) Agencement des </a:t>
            </a:r>
            <a:r>
              <a:rPr lang="fr-FR" sz="2000" b="1" dirty="0" err="1">
                <a:latin typeface="Times New Roman" panose="02020603050405020304" pitchFamily="18" charset="0"/>
              </a:rPr>
              <a:t>triskélions</a:t>
            </a:r>
            <a:r>
              <a:rPr lang="fr-FR" sz="2000" b="1" dirty="0">
                <a:latin typeface="Times New Roman" panose="02020603050405020304" pitchFamily="18" charset="0"/>
              </a:rPr>
              <a:t> de clathrine pour former un réseau hexagonal plan. (3) Organisation d’une cage sphérique formée </a:t>
            </a:r>
            <a:r>
              <a:rPr lang="fr-FR" sz="2000" b="1" dirty="0" smtClean="0">
                <a:latin typeface="Times New Roman" panose="02020603050405020304" pitchFamily="18" charset="0"/>
              </a:rPr>
              <a:t>d’hexagones, </a:t>
            </a:r>
            <a:r>
              <a:rPr lang="fr-FR" sz="2000" b="1" dirty="0">
                <a:latin typeface="Times New Roman" panose="02020603050405020304" pitchFamily="18" charset="0"/>
              </a:rPr>
              <a:t>comme celles qui englobent les vésicules d’endocytose</a:t>
            </a:r>
            <a:endParaRPr lang="fr-FR" sz="2000" b="1" dirty="0">
              <a:effectLst/>
            </a:endParaRPr>
          </a:p>
        </p:txBody>
      </p:sp>
    </p:spTree>
    <p:extLst>
      <p:ext uri="{BB962C8B-B14F-4D97-AF65-F5344CB8AC3E}">
        <p14:creationId xmlns:p14="http://schemas.microsoft.com/office/powerpoint/2010/main" val="29663977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age de clathrine et triskél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615" y="155835"/>
            <a:ext cx="8847454" cy="6572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98167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ndocytose clathrine-dépendante (C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150" y="1"/>
            <a:ext cx="10424159"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97763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e receptor-mediated endocytosis of Low Density Lipoprotein (LDL) LDL receptor binds LDL at the plasma membrane and the complex assembly in a coated pit. The internalized pit is converted into a clathrin-coated vesicle that fuses with early endosomes (EEs) after the removal of the clathrin coat. The LDL dissociates from its receptor in the acidic environment of the EEs and ends up in lysosomes, where it is degraded. Reproduced with permission of Garland Science/Taylor and Francis LLC from Molecular Biology of the Cell 5 th Ed. by Alberts et 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84775"/>
            <a:ext cx="12191999" cy="62732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2358" y="0"/>
            <a:ext cx="11987282" cy="584775"/>
          </a:xfrm>
          <a:prstGeom prst="rect">
            <a:avLst/>
          </a:prstGeom>
          <a:solidFill>
            <a:schemeClr val="accent2">
              <a:lumMod val="40000"/>
              <a:lumOff val="60000"/>
            </a:schemeClr>
          </a:solidFill>
        </p:spPr>
        <p:txBody>
          <a:bodyPr wrap="square">
            <a:spAutoFit/>
          </a:bodyPr>
          <a:lstStyle/>
          <a:p>
            <a:pPr algn="ctr"/>
            <a:r>
              <a:rPr lang="en-US" sz="3200" b="1" dirty="0" smtClean="0">
                <a:solidFill>
                  <a:srgbClr val="0A0A0A"/>
                </a:solidFill>
                <a:latin typeface="Times New Roman" panose="02020603050405020304" pitchFamily="18" charset="0"/>
                <a:cs typeface="Times New Roman" panose="02020603050405020304" pitchFamily="18" charset="0"/>
              </a:rPr>
              <a:t>Mechanism of LDL Particle Endocytosis</a:t>
            </a:r>
            <a:endParaRPr lang="en-US" sz="3200" b="0" i="0" dirty="0">
              <a:solidFill>
                <a:srgbClr val="0A0A0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303006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811486" y="287382"/>
            <a:ext cx="6853645" cy="6466115"/>
          </a:xfrm>
          <a:prstGeom prst="rect">
            <a:avLst/>
          </a:prstGeom>
          <a:ln>
            <a:solidFill>
              <a:schemeClr val="tx1"/>
            </a:solidFill>
          </a:ln>
        </p:spPr>
      </p:pic>
      <p:pic>
        <p:nvPicPr>
          <p:cNvPr id="5" name="Picture 4"/>
          <p:cNvPicPr>
            <a:picLocks noChangeAspect="1"/>
          </p:cNvPicPr>
          <p:nvPr/>
        </p:nvPicPr>
        <p:blipFill>
          <a:blip r:embed="rId3"/>
          <a:stretch>
            <a:fillRect/>
          </a:stretch>
        </p:blipFill>
        <p:spPr>
          <a:xfrm>
            <a:off x="221251" y="2259875"/>
            <a:ext cx="4590235" cy="4493622"/>
          </a:xfrm>
          <a:prstGeom prst="rect">
            <a:avLst/>
          </a:prstGeom>
          <a:ln>
            <a:solidFill>
              <a:schemeClr val="tx1"/>
            </a:solidFill>
          </a:ln>
        </p:spPr>
      </p:pic>
      <p:sp>
        <p:nvSpPr>
          <p:cNvPr id="6" name="Rectangle 5"/>
          <p:cNvSpPr/>
          <p:nvPr/>
        </p:nvSpPr>
        <p:spPr>
          <a:xfrm>
            <a:off x="20953" y="1815738"/>
            <a:ext cx="1894114" cy="5486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LDL molecule</a:t>
            </a:r>
            <a:endParaRPr lang="fr-FR" b="1" dirty="0">
              <a:solidFill>
                <a:schemeClr val="tx1"/>
              </a:solidFill>
            </a:endParaRPr>
          </a:p>
        </p:txBody>
      </p:sp>
      <p:sp>
        <p:nvSpPr>
          <p:cNvPr id="7" name="Rectangle 6"/>
          <p:cNvSpPr/>
          <p:nvPr/>
        </p:nvSpPr>
        <p:spPr>
          <a:xfrm>
            <a:off x="246560" y="153910"/>
            <a:ext cx="4364628" cy="1569660"/>
          </a:xfrm>
          <a:prstGeom prst="rect">
            <a:avLst/>
          </a:prstGeom>
          <a:solidFill>
            <a:schemeClr val="accent2">
              <a:lumMod val="20000"/>
              <a:lumOff val="80000"/>
            </a:schemeClr>
          </a:solidFill>
        </p:spPr>
        <p:txBody>
          <a:bodyPr wrap="square">
            <a:spAutoFit/>
          </a:bodyPr>
          <a:lstStyle/>
          <a:p>
            <a:r>
              <a:rPr lang="fr-FR" sz="2400" b="1" dirty="0">
                <a:latin typeface="Times New Roman" panose="02020603050405020304" pitchFamily="18" charset="0"/>
                <a:ea typeface="Calibri" panose="020F0502020204030204" pitchFamily="34" charset="0"/>
              </a:rPr>
              <a:t>Exemple d’endocytose par des récepteurs interposés : Endocytose des molécules de LDL</a:t>
            </a:r>
            <a:endParaRPr lang="fr-FR" sz="2400" dirty="0"/>
          </a:p>
        </p:txBody>
      </p:sp>
      <p:sp>
        <p:nvSpPr>
          <p:cNvPr id="2" name="Rectangle 1"/>
          <p:cNvSpPr/>
          <p:nvPr/>
        </p:nvSpPr>
        <p:spPr>
          <a:xfrm>
            <a:off x="4245429" y="6244046"/>
            <a:ext cx="566057" cy="2612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smtClean="0">
                <a:solidFill>
                  <a:schemeClr val="tx1"/>
                </a:solidFill>
              </a:rPr>
              <a:t>100</a:t>
            </a:r>
            <a:endParaRPr lang="fr-FR" sz="1600" b="1" dirty="0">
              <a:solidFill>
                <a:schemeClr val="tx1"/>
              </a:solidFill>
            </a:endParaRPr>
          </a:p>
        </p:txBody>
      </p:sp>
    </p:spTree>
    <p:extLst>
      <p:ext uri="{BB962C8B-B14F-4D97-AF65-F5344CB8AC3E}">
        <p14:creationId xmlns:p14="http://schemas.microsoft.com/office/powerpoint/2010/main" val="128075233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Lipoprotein, low density from | L7914-5MG | SIGMA-ALDRICH | SL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Picture 4"/>
          <p:cNvPicPr>
            <a:picLocks noChangeAspect="1"/>
          </p:cNvPicPr>
          <p:nvPr/>
        </p:nvPicPr>
        <p:blipFill>
          <a:blip r:embed="rId2"/>
          <a:stretch>
            <a:fillRect/>
          </a:stretch>
        </p:blipFill>
        <p:spPr>
          <a:xfrm>
            <a:off x="966651" y="391886"/>
            <a:ext cx="10084526" cy="5956663"/>
          </a:xfrm>
          <a:prstGeom prst="rect">
            <a:avLst/>
          </a:prstGeom>
        </p:spPr>
      </p:pic>
    </p:spTree>
    <p:extLst>
      <p:ext uri="{BB962C8B-B14F-4D97-AF65-F5344CB8AC3E}">
        <p14:creationId xmlns:p14="http://schemas.microsoft.com/office/powerpoint/2010/main" val="282987628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artie 2 – Le maintien de l'intégrité de l'organisme – SVT lycée Victor  Louis"/>
          <p:cNvPicPr/>
          <p:nvPr/>
        </p:nvPicPr>
        <p:blipFill>
          <a:blip r:embed="rId2">
            <a:extLst>
              <a:ext uri="{28A0092B-C50C-407E-A947-70E740481C1C}">
                <a14:useLocalDpi xmlns:a14="http://schemas.microsoft.com/office/drawing/2010/main" val="0"/>
              </a:ext>
            </a:extLst>
          </a:blip>
          <a:srcRect/>
          <a:stretch>
            <a:fillRect/>
          </a:stretch>
        </p:blipFill>
        <p:spPr bwMode="auto">
          <a:xfrm>
            <a:off x="574766" y="1340121"/>
            <a:ext cx="10881359" cy="4786359"/>
          </a:xfrm>
          <a:prstGeom prst="rect">
            <a:avLst/>
          </a:prstGeom>
          <a:noFill/>
          <a:ln>
            <a:noFill/>
          </a:ln>
        </p:spPr>
      </p:pic>
      <p:sp>
        <p:nvSpPr>
          <p:cNvPr id="5" name="Rectangle 4"/>
          <p:cNvSpPr/>
          <p:nvPr/>
        </p:nvSpPr>
        <p:spPr>
          <a:xfrm>
            <a:off x="2627810" y="274319"/>
            <a:ext cx="6215744" cy="77070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C.  PHAGOCYTOSIS</a:t>
            </a:r>
            <a:endParaRPr lang="fr-FR" sz="4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468950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Phagocytosis-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773" y="1078173"/>
            <a:ext cx="11627893" cy="562287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846175" y="96898"/>
            <a:ext cx="6215744" cy="77070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C.  PHAGOCYTOSIS</a:t>
            </a:r>
            <a:endParaRPr lang="fr-FR" sz="4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914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Exocytosis – Definition, Functions with Examples, &amp;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34" y="117566"/>
            <a:ext cx="12096466" cy="6740434"/>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818878" y="226747"/>
            <a:ext cx="6215744" cy="1028847"/>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chemeClr val="tx1"/>
                </a:solidFill>
                <a:latin typeface="Times New Roman" panose="02020603050405020304" pitchFamily="18" charset="0"/>
                <a:cs typeface="Times New Roman" panose="02020603050405020304" pitchFamily="18" charset="0"/>
              </a:rPr>
              <a:t>2. EXOCYTOSIS</a:t>
            </a:r>
            <a:endParaRPr lang="fr-FR" sz="4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641028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Exocytose : définition et explica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7" name="Picture 6"/>
          <p:cNvPicPr>
            <a:picLocks noChangeAspect="1"/>
          </p:cNvPicPr>
          <p:nvPr/>
        </p:nvPicPr>
        <p:blipFill>
          <a:blip r:embed="rId2"/>
          <a:stretch>
            <a:fillRect/>
          </a:stretch>
        </p:blipFill>
        <p:spPr>
          <a:xfrm>
            <a:off x="155576" y="875211"/>
            <a:ext cx="11548744" cy="5865223"/>
          </a:xfrm>
          <a:prstGeom prst="rect">
            <a:avLst/>
          </a:prstGeom>
        </p:spPr>
      </p:pic>
      <p:sp>
        <p:nvSpPr>
          <p:cNvPr id="8" name="Rectangle 7"/>
          <p:cNvSpPr/>
          <p:nvPr/>
        </p:nvSpPr>
        <p:spPr>
          <a:xfrm>
            <a:off x="8686799" y="1676399"/>
            <a:ext cx="2181497" cy="870858"/>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Constitutive Exocytosis</a:t>
            </a:r>
            <a:endParaRPr lang="fr-FR" sz="2400" b="1" dirty="0">
              <a:solidFill>
                <a:schemeClr val="tx1"/>
              </a:solidFill>
            </a:endParaRPr>
          </a:p>
        </p:txBody>
      </p:sp>
      <p:sp>
        <p:nvSpPr>
          <p:cNvPr id="10" name="Rectangle 9"/>
          <p:cNvSpPr/>
          <p:nvPr/>
        </p:nvSpPr>
        <p:spPr>
          <a:xfrm>
            <a:off x="8530044" y="4972595"/>
            <a:ext cx="2338251" cy="93181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smtClean="0">
                <a:solidFill>
                  <a:schemeClr val="tx1"/>
                </a:solidFill>
              </a:rPr>
              <a:t>Regulated Exocytosis</a:t>
            </a:r>
            <a:endParaRPr lang="fr-FR" sz="2400" b="1" dirty="0">
              <a:solidFill>
                <a:schemeClr val="tx1"/>
              </a:solidFill>
            </a:endParaRPr>
          </a:p>
        </p:txBody>
      </p:sp>
      <p:sp>
        <p:nvSpPr>
          <p:cNvPr id="13" name="Rectangle 12"/>
          <p:cNvSpPr/>
          <p:nvPr/>
        </p:nvSpPr>
        <p:spPr>
          <a:xfrm>
            <a:off x="4188235" y="2991395"/>
            <a:ext cx="2787331" cy="600892"/>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Vésicule non recouverte de clathrine</a:t>
            </a:r>
            <a:endParaRPr lang="fr-FR" b="1" dirty="0">
              <a:solidFill>
                <a:schemeClr val="tx1"/>
              </a:solidFill>
            </a:endParaRPr>
          </a:p>
        </p:txBody>
      </p:sp>
    </p:spTree>
    <p:extLst>
      <p:ext uri="{BB962C8B-B14F-4D97-AF65-F5344CB8AC3E}">
        <p14:creationId xmlns:p14="http://schemas.microsoft.com/office/powerpoint/2010/main" val="9233203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olved Questions: 1. What would be in a vesicle that would | Chegg.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41445"/>
            <a:ext cx="11996382" cy="6114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050283" y="0"/>
            <a:ext cx="7667898" cy="714873"/>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smtClean="0">
                <a:solidFill>
                  <a:sysClr val="windowText" lastClr="000000"/>
                </a:solidFill>
              </a:rPr>
              <a:t>Two main types of Exocytosis</a:t>
            </a:r>
            <a:endParaRPr lang="fr-FR" sz="4400" b="1" dirty="0">
              <a:solidFill>
                <a:sysClr val="windowText" lastClr="000000"/>
              </a:solidFill>
            </a:endParaRPr>
          </a:p>
        </p:txBody>
      </p:sp>
      <p:sp>
        <p:nvSpPr>
          <p:cNvPr id="4" name="Rectangle 3"/>
          <p:cNvSpPr/>
          <p:nvPr/>
        </p:nvSpPr>
        <p:spPr>
          <a:xfrm>
            <a:off x="3336975" y="6167815"/>
            <a:ext cx="2547257" cy="587828"/>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smtClean="0">
                <a:solidFill>
                  <a:schemeClr val="tx1"/>
                </a:solidFill>
              </a:rPr>
              <a:t>Clathrin-coated</a:t>
            </a:r>
            <a:r>
              <a:rPr lang="fr-FR" b="1" dirty="0" smtClean="0">
                <a:solidFill>
                  <a:schemeClr val="tx1"/>
                </a:solidFill>
              </a:rPr>
              <a:t> vesicle </a:t>
            </a:r>
            <a:endParaRPr lang="fr-FR" b="1" dirty="0">
              <a:solidFill>
                <a:schemeClr val="tx1"/>
              </a:solidFill>
            </a:endParaRPr>
          </a:p>
        </p:txBody>
      </p:sp>
      <p:sp>
        <p:nvSpPr>
          <p:cNvPr id="6" name="Rectangle 5"/>
          <p:cNvSpPr/>
          <p:nvPr/>
        </p:nvSpPr>
        <p:spPr>
          <a:xfrm>
            <a:off x="4294478" y="3266362"/>
            <a:ext cx="1396523" cy="312597"/>
          </a:xfrm>
          <a:prstGeom prst="rect">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solidFill>
                  <a:schemeClr val="tx1"/>
                </a:solidFill>
              </a:rPr>
              <a:t>COP Vesicle</a:t>
            </a:r>
            <a:endParaRPr lang="fr-FR" b="1" dirty="0">
              <a:solidFill>
                <a:schemeClr val="tx1"/>
              </a:solidFill>
            </a:endParaRPr>
          </a:p>
        </p:txBody>
      </p:sp>
    </p:spTree>
    <p:extLst>
      <p:ext uri="{BB962C8B-B14F-4D97-AF65-F5344CB8AC3E}">
        <p14:creationId xmlns:p14="http://schemas.microsoft.com/office/powerpoint/2010/main" val="185845755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Frontiers | Percutaneous Coronary Intervention in Familial  Hypercholesterolemia Is Understudi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78" y="204717"/>
            <a:ext cx="11778017" cy="6449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194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1821" y="1028343"/>
            <a:ext cx="9703558" cy="2862322"/>
          </a:xfrm>
          <a:prstGeom prst="rect">
            <a:avLst/>
          </a:prstGeom>
        </p:spPr>
        <p:txBody>
          <a:bodyPr wrap="square">
            <a:spAutoFit/>
          </a:bodyPr>
          <a:lstStyle/>
          <a:p>
            <a:r>
              <a:rPr lang="en-US" b="1" dirty="0">
                <a:solidFill>
                  <a:srgbClr val="282828"/>
                </a:solidFill>
                <a:latin typeface="ThinSpaceFallback"/>
              </a:rPr>
              <a:t>Figure 1</a:t>
            </a:r>
            <a:r>
              <a:rPr lang="en-US" dirty="0">
                <a:solidFill>
                  <a:srgbClr val="282828"/>
                </a:solidFill>
                <a:latin typeface="ThinSpaceFallback"/>
              </a:rPr>
              <a:t>. </a:t>
            </a:r>
            <a:r>
              <a:rPr lang="en-US" i="1" dirty="0" err="1">
                <a:solidFill>
                  <a:srgbClr val="282828"/>
                </a:solidFill>
                <a:latin typeface="ThinSpaceFallback"/>
              </a:rPr>
              <a:t>Pathogenetics</a:t>
            </a:r>
            <a:r>
              <a:rPr lang="en-US" i="1" dirty="0">
                <a:solidFill>
                  <a:srgbClr val="282828"/>
                </a:solidFill>
                <a:latin typeface="ThinSpaceFallback"/>
              </a:rPr>
              <a:t> of FH</a:t>
            </a:r>
            <a:r>
              <a:rPr lang="en-US" dirty="0">
                <a:solidFill>
                  <a:srgbClr val="282828"/>
                </a:solidFill>
                <a:latin typeface="ThinSpaceFallback"/>
              </a:rPr>
              <a:t> and Mechanism of Action for Key Drug Therapies for FH. </a:t>
            </a:r>
            <a:r>
              <a:rPr lang="en-US" i="1" dirty="0" err="1">
                <a:solidFill>
                  <a:srgbClr val="282828"/>
                </a:solidFill>
                <a:latin typeface="ThinSpaceFallback"/>
              </a:rPr>
              <a:t>Pathogenetics</a:t>
            </a:r>
            <a:r>
              <a:rPr lang="en-US" i="1" dirty="0">
                <a:solidFill>
                  <a:srgbClr val="282828"/>
                </a:solidFill>
                <a:latin typeface="ThinSpaceFallback"/>
              </a:rPr>
              <a:t> of FH:</a:t>
            </a:r>
            <a:r>
              <a:rPr lang="en-US" dirty="0">
                <a:solidFill>
                  <a:srgbClr val="282828"/>
                </a:solidFill>
                <a:latin typeface="ThinSpaceFallback"/>
              </a:rPr>
              <a:t> There are four major </a:t>
            </a:r>
            <a:r>
              <a:rPr lang="en-US" dirty="0" err="1">
                <a:solidFill>
                  <a:srgbClr val="282828"/>
                </a:solidFill>
                <a:latin typeface="ThinSpaceFallback"/>
              </a:rPr>
              <a:t>pathogenetic</a:t>
            </a:r>
            <a:r>
              <a:rPr lang="en-US" dirty="0">
                <a:solidFill>
                  <a:srgbClr val="282828"/>
                </a:solidFill>
                <a:latin typeface="ThinSpaceFallback"/>
              </a:rPr>
              <a:t> causes of FH (purple boxes). LDL-R gene mutations can result in production of a defective LDL-R that ineffectively binds LDL or a null allele that leads to no LDL-R production. Mutations in </a:t>
            </a:r>
            <a:r>
              <a:rPr lang="en-US" dirty="0" err="1">
                <a:solidFill>
                  <a:srgbClr val="282828"/>
                </a:solidFill>
                <a:latin typeface="ThinSpaceFallback"/>
              </a:rPr>
              <a:t>ApoB</a:t>
            </a:r>
            <a:r>
              <a:rPr lang="en-US" dirty="0">
                <a:solidFill>
                  <a:srgbClr val="282828"/>
                </a:solidFill>
                <a:latin typeface="ThinSpaceFallback"/>
              </a:rPr>
              <a:t> lead to impaired binding with the LDL-R. PCSK9 mutations lead to increased degradation of the LDL-R. </a:t>
            </a:r>
            <a:r>
              <a:rPr lang="en-US" i="1" dirty="0">
                <a:solidFill>
                  <a:srgbClr val="282828"/>
                </a:solidFill>
                <a:latin typeface="ThinSpaceFallback"/>
              </a:rPr>
              <a:t>Key Drug Therapies:</a:t>
            </a:r>
            <a:r>
              <a:rPr lang="en-US" dirty="0">
                <a:solidFill>
                  <a:srgbClr val="282828"/>
                </a:solidFill>
                <a:latin typeface="ThinSpaceFallback"/>
              </a:rPr>
              <a:t> Several drugs act via different mechanisms to lower serum LDL (red T's). Statins inhibit HMG-CoA reductase, the enzyme responsible for the rate limiting step in cholesterol production. Ezetimibe acts away from the hepatocyte, blocking cholesterol absorption in the gut. PCSK9 inhibitors bind PCSK9. This leads to increased recycling of LDL-R and ultimately more available receptors to take up LDL from the serum.</a:t>
            </a:r>
            <a:endParaRPr lang="fr-FR" dirty="0"/>
          </a:p>
        </p:txBody>
      </p:sp>
    </p:spTree>
    <p:extLst>
      <p:ext uri="{BB962C8B-B14F-4D97-AF65-F5344CB8AC3E}">
        <p14:creationId xmlns:p14="http://schemas.microsoft.com/office/powerpoint/2010/main" val="239241934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GLUT4 - Proteopedia, life in 3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081" y="163773"/>
            <a:ext cx="10385946" cy="6455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3435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7577</TotalTime>
  <Words>714</Words>
  <Application>Microsoft Office PowerPoint</Application>
  <PresentationFormat>Grand écran</PresentationFormat>
  <Paragraphs>211</Paragraphs>
  <Slides>55</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55</vt:i4>
      </vt:variant>
    </vt:vector>
  </HeadingPairs>
  <TitlesOfParts>
    <vt:vector size="64" baseType="lpstr">
      <vt:lpstr>Arial</vt:lpstr>
      <vt:lpstr>Calibri</vt:lpstr>
      <vt:lpstr>Calibri Light</vt:lpstr>
      <vt:lpstr>Lato</vt:lpstr>
      <vt:lpstr>Tahoma</vt:lpstr>
      <vt:lpstr>ThinSpaceFallback</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Amel</cp:lastModifiedBy>
  <cp:revision>345</cp:revision>
  <dcterms:created xsi:type="dcterms:W3CDTF">2025-02-05T10:05:01Z</dcterms:created>
  <dcterms:modified xsi:type="dcterms:W3CDTF">2026-01-11T19:34:21Z</dcterms:modified>
</cp:coreProperties>
</file>