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sldIdLst>
    <p:sldId id="256" r:id="rId2"/>
    <p:sldId id="294" r:id="rId3"/>
    <p:sldId id="362" r:id="rId4"/>
    <p:sldId id="293" r:id="rId5"/>
    <p:sldId id="372" r:id="rId6"/>
    <p:sldId id="295" r:id="rId7"/>
    <p:sldId id="382" r:id="rId8"/>
    <p:sldId id="363" r:id="rId9"/>
    <p:sldId id="364" r:id="rId10"/>
    <p:sldId id="379" r:id="rId11"/>
    <p:sldId id="383" r:id="rId12"/>
    <p:sldId id="365" r:id="rId13"/>
    <p:sldId id="380" r:id="rId14"/>
    <p:sldId id="373" r:id="rId15"/>
    <p:sldId id="374" r:id="rId16"/>
    <p:sldId id="339" r:id="rId17"/>
    <p:sldId id="340" r:id="rId18"/>
    <p:sldId id="342" r:id="rId19"/>
    <p:sldId id="297" r:id="rId20"/>
    <p:sldId id="299" r:id="rId21"/>
    <p:sldId id="301" r:id="rId22"/>
    <p:sldId id="302" r:id="rId23"/>
    <p:sldId id="377" r:id="rId24"/>
    <p:sldId id="307" r:id="rId25"/>
    <p:sldId id="308" r:id="rId26"/>
    <p:sldId id="309" r:id="rId27"/>
    <p:sldId id="310" r:id="rId28"/>
    <p:sldId id="311" r:id="rId29"/>
    <p:sldId id="312" r:id="rId30"/>
    <p:sldId id="313" r:id="rId31"/>
    <p:sldId id="384" r:id="rId32"/>
    <p:sldId id="314" r:id="rId33"/>
    <p:sldId id="321" r:id="rId34"/>
    <p:sldId id="322" r:id="rId35"/>
    <p:sldId id="328" r:id="rId36"/>
    <p:sldId id="381" r:id="rId37"/>
    <p:sldId id="370" r:id="rId38"/>
    <p:sldId id="275" r:id="rId39"/>
    <p:sldId id="284" r:id="rId40"/>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mel biol" initials="ab" lastIdx="1" clrIdx="0">
    <p:extLst>
      <p:ext uri="{19B8F6BF-5375-455C-9EA6-DF929625EA0E}">
        <p15:presenceInfo xmlns:p15="http://schemas.microsoft.com/office/powerpoint/2012/main" userId="efc1e525ee1c1698"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75" d="100"/>
          <a:sy n="75" d="100"/>
        </p:scale>
        <p:origin x="1560" y="31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commentAuthors" Target="commen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6BE1A5C-C105-4681-832F-02B965E09A50}" type="datetimeFigureOut">
              <a:rPr lang="fr-FR" smtClean="0"/>
              <a:pPr/>
              <a:t>06/12/2025</a:t>
            </a:fld>
            <a:endParaRPr lang="fr-FR"/>
          </a:p>
        </p:txBody>
      </p:sp>
      <p:sp>
        <p:nvSpPr>
          <p:cNvPr id="4" name="Espace réservé de l'image des diapositives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0B788BC-687C-4019-BCDE-6E90BBC4308B}" type="slidenum">
              <a:rPr lang="fr-FR" smtClean="0"/>
              <a:pPr/>
              <a:t>‹N°›</a:t>
            </a:fld>
            <a:endParaRPr lang="fr-FR"/>
          </a:p>
        </p:txBody>
      </p:sp>
    </p:spTree>
    <p:extLst>
      <p:ext uri="{BB962C8B-B14F-4D97-AF65-F5344CB8AC3E}">
        <p14:creationId xmlns:p14="http://schemas.microsoft.com/office/powerpoint/2010/main" val="1915939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p:spPr>
        <p:txBody>
          <a:bodyPr/>
          <a:lstStyle/>
          <a:p>
            <a:fld id="{8245D9E9-0C04-4E05-A809-8026AC4F0CBF}" type="slidenum">
              <a:rPr lang="fr-FR" smtClean="0"/>
              <a:pPr/>
              <a:t>6</a:t>
            </a:fld>
            <a:endParaRPr lang="fr-FR"/>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p:spPr>
        <p:txBody>
          <a:bodyPr/>
          <a:lstStyle/>
          <a:p>
            <a:endParaRPr lang="fr-FR"/>
          </a:p>
        </p:txBody>
      </p:sp>
    </p:spTree>
    <p:extLst>
      <p:ext uri="{BB962C8B-B14F-4D97-AF65-F5344CB8AC3E}">
        <p14:creationId xmlns:p14="http://schemas.microsoft.com/office/powerpoint/2010/main" val="35088914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C0B788BC-687C-4019-BCDE-6E90BBC4308B}" type="slidenum">
              <a:rPr lang="fr-FR" smtClean="0"/>
              <a:pPr/>
              <a:t>11</a:t>
            </a:fld>
            <a:endParaRPr lang="fr-FR"/>
          </a:p>
        </p:txBody>
      </p:sp>
    </p:spTree>
    <p:extLst>
      <p:ext uri="{BB962C8B-B14F-4D97-AF65-F5344CB8AC3E}">
        <p14:creationId xmlns:p14="http://schemas.microsoft.com/office/powerpoint/2010/main" val="25113478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p:spPr>
        <p:txBody>
          <a:bodyPr/>
          <a:lstStyle/>
          <a:p>
            <a:fld id="{FF793DCD-3A83-4B55-A915-9B49EBC0678B}" type="slidenum">
              <a:rPr lang="fr-FR" smtClean="0"/>
              <a:pPr/>
              <a:t>23</a:t>
            </a:fld>
            <a:endParaRPr lang="fr-FR"/>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p:spPr>
        <p:txBody>
          <a:bodyPr/>
          <a:lstStyle/>
          <a:p>
            <a:endParaRPr lang="fr-FR"/>
          </a:p>
        </p:txBody>
      </p:sp>
    </p:spTree>
    <p:extLst>
      <p:ext uri="{BB962C8B-B14F-4D97-AF65-F5344CB8AC3E}">
        <p14:creationId xmlns:p14="http://schemas.microsoft.com/office/powerpoint/2010/main" val="21008382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p:spPr>
        <p:txBody>
          <a:bodyPr/>
          <a:lstStyle/>
          <a:p>
            <a:fld id="{78B0D2E2-32D3-4629-BAB1-C8CD02A5F2CF}" type="slidenum">
              <a:rPr lang="fr-FR" smtClean="0"/>
              <a:pPr/>
              <a:t>25</a:t>
            </a:fld>
            <a:endParaRPr lang="fr-FR"/>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ln/>
        </p:spPr>
        <p:txBody>
          <a:bodyPr/>
          <a:lstStyle/>
          <a:p>
            <a:endParaRPr lang="fr-FR"/>
          </a:p>
        </p:txBody>
      </p:sp>
    </p:spTree>
    <p:extLst>
      <p:ext uri="{BB962C8B-B14F-4D97-AF65-F5344CB8AC3E}">
        <p14:creationId xmlns:p14="http://schemas.microsoft.com/office/powerpoint/2010/main" val="18100974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p:spPr>
        <p:txBody>
          <a:bodyPr/>
          <a:lstStyle/>
          <a:p>
            <a:fld id="{FD6DB8B0-69BD-42BE-B97E-2CEA3071BCF1}" type="slidenum">
              <a:rPr lang="fr-FR" smtClean="0"/>
              <a:pPr/>
              <a:t>26</a:t>
            </a:fld>
            <a:endParaRPr lang="fr-FR"/>
          </a:p>
        </p:txBody>
      </p:sp>
      <p:sp>
        <p:nvSpPr>
          <p:cNvPr id="69635" name="Rectangle 2"/>
          <p:cNvSpPr>
            <a:spLocks noGrp="1" noRot="1" noChangeAspect="1" noChangeArrowheads="1" noTextEdit="1"/>
          </p:cNvSpPr>
          <p:nvPr>
            <p:ph type="sldImg"/>
          </p:nvPr>
        </p:nvSpPr>
        <p:spPr>
          <a:ln/>
        </p:spPr>
      </p:sp>
      <p:sp>
        <p:nvSpPr>
          <p:cNvPr id="69636" name="Rectangle 3"/>
          <p:cNvSpPr>
            <a:spLocks noGrp="1" noChangeArrowheads="1"/>
          </p:cNvSpPr>
          <p:nvPr>
            <p:ph type="body" idx="1"/>
          </p:nvPr>
        </p:nvSpPr>
        <p:spPr>
          <a:noFill/>
          <a:ln/>
        </p:spPr>
        <p:txBody>
          <a:bodyPr/>
          <a:lstStyle/>
          <a:p>
            <a:endParaRPr lang="fr-FR"/>
          </a:p>
        </p:txBody>
      </p:sp>
    </p:spTree>
    <p:extLst>
      <p:ext uri="{BB962C8B-B14F-4D97-AF65-F5344CB8AC3E}">
        <p14:creationId xmlns:p14="http://schemas.microsoft.com/office/powerpoint/2010/main" val="37632120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p>
            <a:fld id="{957868B3-787A-4739-93F7-A6FEB01F6F97}" type="slidenum">
              <a:rPr lang="fr-FR" smtClean="0"/>
              <a:pPr/>
              <a:t>27</a:t>
            </a:fld>
            <a:endParaRPr lang="fr-FR"/>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a:ln/>
        </p:spPr>
        <p:txBody>
          <a:bodyPr/>
          <a:lstStyle/>
          <a:p>
            <a:endParaRPr lang="fr-FR"/>
          </a:p>
        </p:txBody>
      </p:sp>
    </p:spTree>
    <p:extLst>
      <p:ext uri="{BB962C8B-B14F-4D97-AF65-F5344CB8AC3E}">
        <p14:creationId xmlns:p14="http://schemas.microsoft.com/office/powerpoint/2010/main" val="16792412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p:spPr>
        <p:txBody>
          <a:bodyPr/>
          <a:lstStyle/>
          <a:p>
            <a:fld id="{6AD7E7D8-DB66-4761-8666-10D61B156628}" type="slidenum">
              <a:rPr lang="fr-FR" smtClean="0"/>
              <a:pPr/>
              <a:t>28</a:t>
            </a:fld>
            <a:endParaRPr lang="fr-FR"/>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p:spPr>
        <p:txBody>
          <a:bodyPr/>
          <a:lstStyle/>
          <a:p>
            <a:endParaRPr lang="fr-FR"/>
          </a:p>
        </p:txBody>
      </p:sp>
    </p:spTree>
    <p:extLst>
      <p:ext uri="{BB962C8B-B14F-4D97-AF65-F5344CB8AC3E}">
        <p14:creationId xmlns:p14="http://schemas.microsoft.com/office/powerpoint/2010/main" val="13258679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p:spPr>
        <p:txBody>
          <a:bodyPr/>
          <a:lstStyle/>
          <a:p>
            <a:fld id="{4AA9B0C0-226E-4604-A878-6E293A8FA7FF}" type="slidenum">
              <a:rPr lang="fr-FR" smtClean="0"/>
              <a:pPr/>
              <a:t>29</a:t>
            </a:fld>
            <a:endParaRPr lang="fr-FR"/>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p:spPr>
        <p:txBody>
          <a:bodyPr/>
          <a:lstStyle/>
          <a:p>
            <a:endParaRPr lang="fr-FR"/>
          </a:p>
        </p:txBody>
      </p:sp>
    </p:spTree>
    <p:extLst>
      <p:ext uri="{BB962C8B-B14F-4D97-AF65-F5344CB8AC3E}">
        <p14:creationId xmlns:p14="http://schemas.microsoft.com/office/powerpoint/2010/main" val="31547549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p>
            <a:fld id="{6ABA6EA8-C077-496F-8688-D39428442296}" type="slidenum">
              <a:rPr lang="fr-FR" smtClean="0"/>
              <a:pPr/>
              <a:t>30</a:t>
            </a:fld>
            <a:endParaRPr lang="fr-FR"/>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p:spPr>
        <p:txBody>
          <a:bodyPr/>
          <a:lstStyle/>
          <a:p>
            <a:endParaRPr lang="fr-FR"/>
          </a:p>
        </p:txBody>
      </p:sp>
    </p:spTree>
    <p:extLst>
      <p:ext uri="{BB962C8B-B14F-4D97-AF65-F5344CB8AC3E}">
        <p14:creationId xmlns:p14="http://schemas.microsoft.com/office/powerpoint/2010/main" val="10951823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p:spPr>
        <p:txBody>
          <a:bodyPr/>
          <a:lstStyle/>
          <a:p>
            <a:fld id="{2DCAF88F-DD49-440C-848C-038627E00A80}" type="slidenum">
              <a:rPr lang="fr-FR" smtClean="0"/>
              <a:pPr/>
              <a:t>32</a:t>
            </a:fld>
            <a:endParaRPr lang="fr-FR"/>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a:ln/>
        </p:spPr>
        <p:txBody>
          <a:bodyPr/>
          <a:lstStyle/>
          <a:p>
            <a:endParaRPr lang="fr-FR"/>
          </a:p>
        </p:txBody>
      </p:sp>
    </p:spTree>
    <p:extLst>
      <p:ext uri="{BB962C8B-B14F-4D97-AF65-F5344CB8AC3E}">
        <p14:creationId xmlns:p14="http://schemas.microsoft.com/office/powerpoint/2010/main" val="1117202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Cliquez pour modifier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Cliquez pour modifier le style des sous-titres du masque</a:t>
            </a:r>
          </a:p>
        </p:txBody>
      </p:sp>
      <p:sp>
        <p:nvSpPr>
          <p:cNvPr id="4" name="Espace réservé de la date 3"/>
          <p:cNvSpPr>
            <a:spLocks noGrp="1"/>
          </p:cNvSpPr>
          <p:nvPr>
            <p:ph type="dt" sz="half" idx="10"/>
          </p:nvPr>
        </p:nvSpPr>
        <p:spPr/>
        <p:txBody>
          <a:bodyPr/>
          <a:lstStyle/>
          <a:p>
            <a:fld id="{41FD51DC-AD46-448C-9C09-4D20EA0D5011}" type="datetimeFigureOut">
              <a:rPr lang="fr-FR" smtClean="0"/>
              <a:pPr/>
              <a:t>06/12/2025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5BCB550-BEFC-42E7-99EE-BCC6B6A3AB43}" type="slidenum">
              <a:rPr lang="fr-FR" smtClean="0"/>
              <a:pPr/>
              <a:t>‹N°›</a:t>
            </a:fld>
            <a:endParaRPr lang="fr-F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41FD51DC-AD46-448C-9C09-4D20EA0D5011}" type="datetimeFigureOut">
              <a:rPr lang="fr-FR" smtClean="0"/>
              <a:pPr/>
              <a:t>06/12/2025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5BCB550-BEFC-42E7-99EE-BCC6B6A3AB43}" type="slidenum">
              <a:rPr lang="fr-FR" smtClean="0"/>
              <a:pPr/>
              <a:t>‹N°›</a:t>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a:t>Cliquez pour modifier le style du titre</a:t>
            </a: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Espace réservé de la date 3"/>
          <p:cNvSpPr>
            <a:spLocks noGrp="1"/>
          </p:cNvSpPr>
          <p:nvPr>
            <p:ph type="dt" sz="half" idx="10"/>
          </p:nvPr>
        </p:nvSpPr>
        <p:spPr/>
        <p:txBody>
          <a:bodyPr/>
          <a:lstStyle/>
          <a:p>
            <a:fld id="{41FD51DC-AD46-448C-9C09-4D20EA0D5011}" type="datetimeFigureOut">
              <a:rPr lang="fr-FR" smtClean="0"/>
              <a:pPr/>
              <a:t>06/12/2025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5BCB550-BEFC-42E7-99EE-BCC6B6A3AB43}" type="slidenum">
              <a:rPr lang="fr-FR" smtClean="0"/>
              <a:pPr/>
              <a:t>‹N°›</a:t>
            </a:fld>
            <a:endParaRPr lang="fr-F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41FD51DC-AD46-448C-9C09-4D20EA0D5011}" type="datetimeFigureOut">
              <a:rPr lang="fr-FR" smtClean="0"/>
              <a:pPr/>
              <a:t>06/12/2025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15BCB550-BEFC-42E7-99EE-BCC6B6A3AB43}" type="slidenum">
              <a:rPr lang="fr-FR" smtClean="0"/>
              <a:pPr/>
              <a:t>‹N°›</a:t>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a:t>Cliquez pour modifier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41FD51DC-AD46-448C-9C09-4D20EA0D5011}" type="datetimeFigureOut">
              <a:rPr lang="fr-FR" smtClean="0"/>
              <a:pPr/>
              <a:t>06/12/2025</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15BCB550-BEFC-42E7-99EE-BCC6B6A3AB43}" type="slidenum">
              <a:rPr lang="fr-FR" smtClean="0"/>
              <a:pPr/>
              <a:t>‹N°›</a:t>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e la date 2"/>
          <p:cNvSpPr>
            <a:spLocks noGrp="1"/>
          </p:cNvSpPr>
          <p:nvPr>
            <p:ph type="dt" sz="half" idx="10"/>
          </p:nvPr>
        </p:nvSpPr>
        <p:spPr/>
        <p:txBody>
          <a:bodyPr/>
          <a:lstStyle/>
          <a:p>
            <a:fld id="{41FD51DC-AD46-448C-9C09-4D20EA0D5011}" type="datetimeFigureOut">
              <a:rPr lang="fr-FR" smtClean="0"/>
              <a:pPr/>
              <a:t>06/12/2025</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15BCB550-BEFC-42E7-99EE-BCC6B6A3AB43}" type="slidenum">
              <a:rPr lang="fr-FR" smtClean="0"/>
              <a:pPr/>
              <a:t>‹N°›</a:t>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41FD51DC-AD46-448C-9C09-4D20EA0D5011}" type="datetimeFigureOut">
              <a:rPr lang="fr-FR" smtClean="0"/>
              <a:pPr/>
              <a:t>06/12/2025</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15BCB550-BEFC-42E7-99EE-BCC6B6A3AB43}" type="slidenum">
              <a:rPr lang="fr-FR" smtClean="0"/>
              <a:pPr/>
              <a:t>‹N°›</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Cliquez pour modifier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Espace réservé de la date 4"/>
          <p:cNvSpPr>
            <a:spLocks noGrp="1"/>
          </p:cNvSpPr>
          <p:nvPr>
            <p:ph type="dt" sz="half" idx="10"/>
          </p:nvPr>
        </p:nvSpPr>
        <p:spPr/>
        <p:txBody>
          <a:bodyPr/>
          <a:lstStyle/>
          <a:p>
            <a:fld id="{41FD51DC-AD46-448C-9C09-4D20EA0D5011}" type="datetimeFigureOut">
              <a:rPr lang="fr-FR" smtClean="0"/>
              <a:pPr/>
              <a:t>06/12/2025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15BCB550-BEFC-42E7-99EE-BCC6B6A3AB43}" type="slidenum">
              <a:rPr lang="fr-FR" smtClean="0"/>
              <a:pPr/>
              <a:t>‹N°›</a:t>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pour modifier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Espace réservé de la date 4"/>
          <p:cNvSpPr>
            <a:spLocks noGrp="1"/>
          </p:cNvSpPr>
          <p:nvPr>
            <p:ph type="dt" sz="half" idx="10"/>
          </p:nvPr>
        </p:nvSpPr>
        <p:spPr/>
        <p:txBody>
          <a:bodyPr/>
          <a:lstStyle/>
          <a:p>
            <a:fld id="{41FD51DC-AD46-448C-9C09-4D20EA0D5011}" type="datetimeFigureOut">
              <a:rPr lang="fr-FR" smtClean="0"/>
              <a:pPr/>
              <a:t>06/12/2025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15BCB550-BEFC-42E7-99EE-BCC6B6A3AB43}" type="slidenum">
              <a:rPr lang="fr-FR" smtClean="0"/>
              <a:pPr/>
              <a:t>‹N°›</a:t>
            </a:fld>
            <a:endParaRPr lang="fr-F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41FD51DC-AD46-448C-9C09-4D20EA0D5011}" type="datetimeFigureOut">
              <a:rPr lang="fr-FR" smtClean="0"/>
              <a:pPr/>
              <a:t>06/12/2025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5BCB550-BEFC-42E7-99EE-BCC6B6A3AB43}" type="slidenum">
              <a:rPr lang="fr-FR" smtClean="0"/>
              <a:pPr/>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a:t>Cliquez pour modifier le style du titre</a:t>
            </a: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41FD51DC-AD46-448C-9C09-4D20EA0D5011}" type="datetimeFigureOut">
              <a:rPr lang="fr-FR" smtClean="0"/>
              <a:pPr/>
              <a:t>06/12/2025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5BCB550-BEFC-42E7-99EE-BCC6B6A3AB43}" type="slidenum">
              <a:rPr lang="fr-FR" smtClean="0"/>
              <a:pPr/>
              <a:t>‹N°›</a:t>
            </a:fld>
            <a:endParaRPr lang="fr-F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78_1_">
    <p:bg>
      <p:bgPr>
        <a:solidFill>
          <a:schemeClr val="bg1">
            <a:alpha val="0"/>
          </a:schemeClr>
        </a:solidFill>
        <a:effectLst/>
      </p:bgPr>
    </p:bg>
    <p:spTree>
      <p:nvGrpSpPr>
        <p:cNvPr id="1" name=""/>
        <p:cNvGrpSpPr/>
        <p:nvPr/>
      </p:nvGrpSpPr>
      <p:grpSpPr>
        <a:xfrm>
          <a:off x="0" y="0"/>
          <a:ext cx="0" cy="0"/>
          <a:chOff x="0" y="0"/>
          <a:chExt cx="0" cy="0"/>
        </a:xfrm>
      </p:grpSpPr>
      <p:sp>
        <p:nvSpPr>
          <p:cNvPr id="437" name="Espace réservé du texte 436"/>
          <p:cNvSpPr>
            <a:spLocks noGrp="1"/>
          </p:cNvSpPr>
          <p:nvPr>
            <p:ph type="body" idx="10"/>
          </p:nvPr>
        </p:nvSpPr>
        <p:spPr>
          <a:xfrm>
            <a:off x="1014160" y="5953009"/>
            <a:ext cx="7089348" cy="306464"/>
          </a:xfrm>
          <a:prstGeom prst="rect">
            <a:avLst/>
          </a:prstGeom>
          <a:noFill/>
          <a:ln w="28575" cmpd="sng">
            <a:solidFill>
              <a:srgbClr val="807E4C"/>
            </a:solidFill>
            <a:prstDash val="solid"/>
          </a:ln>
        </p:spPr>
        <p:txBody>
          <a:bodyPr lIns="0" tIns="0" rIns="0" bIns="0"/>
          <a:lstStyle>
            <a:lvl1pPr marL="0" marR="0" indent="0" algn="r">
              <a:lnSpc>
                <a:spcPts val="1928"/>
              </a:lnSpc>
              <a:spcAft>
                <a:spcPts val="0"/>
              </a:spcAft>
              <a:defRPr/>
            </a:lvl1pPr>
          </a:lstStyle>
          <a:p>
            <a:r>
              <a:rPr lang="fr-FR" dirty="0"/>
              <a:t>Expérience démontrant la mobilité des protéines membranaire</a:t>
            </a:r>
          </a:p>
        </p:txBody>
      </p:sp>
      <p:sp>
        <p:nvSpPr>
          <p:cNvPr id="438" name="Espace réservé du texte 437"/>
          <p:cNvSpPr>
            <a:spLocks noGrp="1"/>
          </p:cNvSpPr>
          <p:nvPr>
            <p:ph type="body" idx="10"/>
          </p:nvPr>
        </p:nvSpPr>
        <p:spPr>
          <a:xfrm>
            <a:off x="1019047" y="573180"/>
            <a:ext cx="7072518" cy="1605481"/>
          </a:xfrm>
          <a:prstGeom prst="rect">
            <a:avLst/>
          </a:prstGeom>
          <a:noFill/>
          <a:ln w="0" cmpd="sng">
            <a:noFill/>
            <a:prstDash val="solid"/>
          </a:ln>
        </p:spPr>
        <p:txBody>
          <a:bodyPr lIns="0" tIns="0" rIns="0" bIns="0"/>
          <a:lstStyle>
            <a:lvl1pPr marL="0" marR="0" indent="0" algn="ctr">
              <a:lnSpc>
                <a:spcPct val="95999"/>
              </a:lnSpc>
              <a:spcAft>
                <a:spcPts val="7889"/>
              </a:spcAft>
              <a:defRPr/>
            </a:lvl1pPr>
          </a:lstStyle>
          <a:p>
            <a:r>
              <a:rPr lang="fr-FR" dirty="0"/>
              <a:t>Mobilité des protéines membranaires</a:t>
            </a:r>
          </a:p>
        </p:txBody>
      </p:sp>
      <p:sp>
        <p:nvSpPr>
          <p:cNvPr id="441" name="Espace réservé du texte 440"/>
          <p:cNvSpPr>
            <a:spLocks noGrp="1"/>
          </p:cNvSpPr>
          <p:nvPr>
            <p:ph type="body" idx="10"/>
          </p:nvPr>
        </p:nvSpPr>
        <p:spPr>
          <a:xfrm>
            <a:off x="2509341" y="2339382"/>
            <a:ext cx="1167804" cy="417644"/>
          </a:xfrm>
          <a:prstGeom prst="rect">
            <a:avLst/>
          </a:prstGeom>
          <a:solidFill>
            <a:srgbClr val="FFFFFF"/>
          </a:solidFill>
          <a:ln w="0" cmpd="sng">
            <a:noFill/>
            <a:prstDash val="solid"/>
          </a:ln>
        </p:spPr>
        <p:txBody>
          <a:bodyPr lIns="0" tIns="0" rIns="0" bIns="0"/>
          <a:lstStyle>
            <a:lvl1pPr marL="0" marR="0" indent="0" algn="ctr">
              <a:lnSpc>
                <a:spcPts val="1490"/>
              </a:lnSpc>
              <a:spcBef>
                <a:spcPts val="316"/>
              </a:spcBef>
              <a:spcAft>
                <a:spcPts val="0"/>
              </a:spcAft>
              <a:defRPr/>
            </a:lvl1pPr>
          </a:lstStyle>
          <a:p>
            <a:r>
              <a:rPr lang="fr-FR" dirty="0"/>
              <a:t>Protéines</a:t>
            </a:r>
          </a:p>
          <a:p>
            <a:r>
              <a:rPr lang="fr-FR" dirty="0"/>
              <a:t>membranaires</a:t>
            </a:r>
          </a:p>
        </p:txBody>
      </p:sp>
      <p:sp>
        <p:nvSpPr>
          <p:cNvPr id="442" name="Espace réservé du texte 441"/>
          <p:cNvSpPr>
            <a:spLocks noGrp="1"/>
          </p:cNvSpPr>
          <p:nvPr>
            <p:ph type="body" idx="10"/>
          </p:nvPr>
        </p:nvSpPr>
        <p:spPr>
          <a:xfrm>
            <a:off x="4294436" y="2178660"/>
            <a:ext cx="2647783" cy="309921"/>
          </a:xfrm>
          <a:prstGeom prst="rect">
            <a:avLst/>
          </a:prstGeom>
          <a:solidFill>
            <a:srgbClr val="FFFE00"/>
          </a:solidFill>
          <a:ln w="0" cmpd="sng">
            <a:noFill/>
            <a:prstDash val="solid"/>
          </a:ln>
        </p:spPr>
        <p:txBody>
          <a:bodyPr lIns="0" tIns="60110" rIns="0" bIns="0"/>
          <a:lstStyle>
            <a:lvl1pPr marL="80147" marR="0" indent="0" algn="l">
              <a:lnSpc>
                <a:spcPct val="81599"/>
              </a:lnSpc>
              <a:spcAft>
                <a:spcPts val="473"/>
              </a:spcAft>
              <a:defRPr/>
            </a:lvl1pPr>
          </a:lstStyle>
          <a:p>
            <a:r>
              <a:rPr lang="fr-FR" dirty="0"/>
              <a:t>40 min d'incubation à 37°C</a:t>
            </a:r>
          </a:p>
        </p:txBody>
      </p:sp>
      <p:sp>
        <p:nvSpPr>
          <p:cNvPr id="443" name="Espace réservé du texte 442"/>
          <p:cNvSpPr>
            <a:spLocks noGrp="1"/>
          </p:cNvSpPr>
          <p:nvPr>
            <p:ph type="body" idx="10"/>
          </p:nvPr>
        </p:nvSpPr>
        <p:spPr>
          <a:xfrm>
            <a:off x="6423738" y="4233468"/>
            <a:ext cx="1036962" cy="912480"/>
          </a:xfrm>
          <a:prstGeom prst="rect">
            <a:avLst/>
          </a:prstGeom>
          <a:solidFill>
            <a:srgbClr val="FFFFFF"/>
          </a:solidFill>
          <a:ln w="0" cmpd="sng">
            <a:noFill/>
            <a:prstDash val="solid"/>
          </a:ln>
        </p:spPr>
        <p:txBody>
          <a:bodyPr lIns="0" tIns="0" rIns="0" bIns="0"/>
          <a:lstStyle>
            <a:lvl1pPr marL="0" marR="0" indent="0" algn="ctr">
              <a:lnSpc>
                <a:spcPts val="1402"/>
              </a:lnSpc>
              <a:spcBef>
                <a:spcPts val="473"/>
              </a:spcBef>
              <a:spcAft>
                <a:spcPts val="0"/>
              </a:spcAft>
              <a:defRPr/>
            </a:lvl1pPr>
          </a:lstStyle>
          <a:p>
            <a:r>
              <a:rPr lang="fr-FR" dirty="0" err="1"/>
              <a:t>Proteines</a:t>
            </a:r>
            <a:endParaRPr lang="fr-FR" dirty="0"/>
          </a:p>
          <a:p>
            <a:r>
              <a:rPr lang="fr-FR" dirty="0"/>
              <a:t>entremêlées</a:t>
            </a:r>
          </a:p>
          <a:p>
            <a:r>
              <a:rPr lang="fr-FR" dirty="0"/>
              <a:t>au bout</a:t>
            </a:r>
          </a:p>
          <a:p>
            <a:r>
              <a:rPr lang="fr-FR" dirty="0"/>
              <a:t>d'une heure</a:t>
            </a:r>
          </a:p>
        </p:txBody>
      </p:sp>
      <p:sp>
        <p:nvSpPr>
          <p:cNvPr id="444" name="Espace réservé du texte 443"/>
          <p:cNvSpPr>
            <a:spLocks noGrp="1"/>
          </p:cNvSpPr>
          <p:nvPr>
            <p:ph type="body" idx="10"/>
          </p:nvPr>
        </p:nvSpPr>
        <p:spPr>
          <a:xfrm>
            <a:off x="1805727" y="4244414"/>
            <a:ext cx="829027" cy="666502"/>
          </a:xfrm>
          <a:prstGeom prst="rect">
            <a:avLst/>
          </a:prstGeom>
          <a:solidFill>
            <a:srgbClr val="FFFFFF"/>
          </a:solidFill>
          <a:ln w="0" cmpd="sng">
            <a:noFill/>
            <a:prstDash val="solid"/>
          </a:ln>
        </p:spPr>
        <p:txBody>
          <a:bodyPr lIns="0" tIns="0" rIns="0" bIns="0"/>
          <a:lstStyle>
            <a:lvl1pPr marL="0" marR="0" indent="0" algn="l">
              <a:lnSpc>
                <a:spcPts val="1315"/>
              </a:lnSpc>
              <a:spcBef>
                <a:spcPts val="473"/>
              </a:spcBef>
              <a:spcAft>
                <a:spcPts val="0"/>
              </a:spcAft>
              <a:defRPr/>
            </a:lvl1pPr>
          </a:lstStyle>
          <a:p>
            <a:r>
              <a:rPr lang="fr-FR" dirty="0"/>
              <a:t>Cellule</a:t>
            </a:r>
          </a:p>
          <a:p>
            <a:r>
              <a:rPr lang="fr-FR" dirty="0"/>
              <a:t>de Souris</a:t>
            </a:r>
          </a:p>
          <a:p>
            <a:r>
              <a:rPr lang="fr-FR" dirty="0"/>
              <a:t>commune</a:t>
            </a:r>
          </a:p>
        </p:txBody>
      </p:sp>
      <p:sp>
        <p:nvSpPr>
          <p:cNvPr id="445" name="Espace réservé du texte 444"/>
          <p:cNvSpPr>
            <a:spLocks noGrp="1"/>
          </p:cNvSpPr>
          <p:nvPr>
            <p:ph type="body" idx="10"/>
          </p:nvPr>
        </p:nvSpPr>
        <p:spPr>
          <a:xfrm>
            <a:off x="3221099" y="4628646"/>
            <a:ext cx="807853" cy="425709"/>
          </a:xfrm>
          <a:prstGeom prst="rect">
            <a:avLst/>
          </a:prstGeom>
          <a:solidFill>
            <a:srgbClr val="FFFFFF"/>
          </a:solidFill>
          <a:ln w="0" cmpd="sng">
            <a:noFill/>
            <a:prstDash val="solid"/>
          </a:ln>
        </p:spPr>
        <p:txBody>
          <a:bodyPr lIns="0" tIns="0" rIns="0" bIns="0"/>
          <a:lstStyle>
            <a:lvl1pPr marL="0" marR="0" indent="0" algn="ctr">
              <a:lnSpc>
                <a:spcPts val="1490"/>
              </a:lnSpc>
              <a:spcBef>
                <a:spcPts val="316"/>
              </a:spcBef>
              <a:spcAft>
                <a:spcPts val="0"/>
              </a:spcAft>
              <a:defRPr/>
            </a:lvl1pPr>
          </a:lstStyle>
          <a:p>
            <a:r>
              <a:rPr lang="fr-FR" dirty="0"/>
              <a:t>Cellule</a:t>
            </a:r>
          </a:p>
          <a:p>
            <a:r>
              <a:rPr lang="fr-FR" dirty="0"/>
              <a:t>d'Humain</a:t>
            </a:r>
          </a:p>
        </p:txBody>
      </p:sp>
      <p:sp>
        <p:nvSpPr>
          <p:cNvPr id="446" name="Espace réservé du texte 445"/>
          <p:cNvSpPr>
            <a:spLocks noGrp="1"/>
          </p:cNvSpPr>
          <p:nvPr>
            <p:ph type="body" idx="10"/>
          </p:nvPr>
        </p:nvSpPr>
        <p:spPr>
          <a:xfrm>
            <a:off x="4771656" y="5291692"/>
            <a:ext cx="1237840" cy="661317"/>
          </a:xfrm>
          <a:prstGeom prst="rect">
            <a:avLst/>
          </a:prstGeom>
          <a:noFill/>
          <a:ln w="0" cmpd="sng">
            <a:noFill/>
            <a:prstDash val="solid"/>
          </a:ln>
        </p:spPr>
        <p:txBody>
          <a:bodyPr lIns="0" tIns="0" rIns="0" bIns="0"/>
          <a:lstStyle>
            <a:lvl1pPr marL="0" marR="0" indent="0" algn="l">
              <a:lnSpc>
                <a:spcPct val="95999"/>
              </a:lnSpc>
              <a:spcAft>
                <a:spcPts val="2840"/>
              </a:spcAft>
              <a:defRPr/>
            </a:lvl1pPr>
          </a:lstStyle>
          <a:p>
            <a:r>
              <a:rPr lang="fr-FR" dirty="0"/>
              <a:t>Cellule </a:t>
            </a:r>
            <a:r>
              <a:rPr lang="fr-FR" dirty="0" err="1"/>
              <a:t>nybride</a:t>
            </a:r>
            <a:endParaRPr lang="fr-FR"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74_1_">
    <p:bg>
      <p:bgPr>
        <a:solidFill>
          <a:schemeClr val="bg1">
            <a:alpha val="0"/>
          </a:schemeClr>
        </a:solidFill>
        <a:effectLst/>
      </p:bgPr>
    </p:bg>
    <p:spTree>
      <p:nvGrpSpPr>
        <p:cNvPr id="1" name=""/>
        <p:cNvGrpSpPr/>
        <p:nvPr/>
      </p:nvGrpSpPr>
      <p:grpSpPr>
        <a:xfrm>
          <a:off x="0" y="0"/>
          <a:ext cx="0" cy="0"/>
          <a:chOff x="0" y="0"/>
          <a:chExt cx="0" cy="0"/>
        </a:xfrm>
      </p:grpSpPr>
      <p:sp>
        <p:nvSpPr>
          <p:cNvPr id="28" name="Espace réservé du texte 27"/>
          <p:cNvSpPr>
            <a:spLocks noGrp="1"/>
          </p:cNvSpPr>
          <p:nvPr>
            <p:ph type="body" idx="10"/>
          </p:nvPr>
        </p:nvSpPr>
        <p:spPr>
          <a:xfrm>
            <a:off x="698728" y="573180"/>
            <a:ext cx="7418896" cy="4798008"/>
          </a:xfrm>
          <a:prstGeom prst="rect">
            <a:avLst/>
          </a:prstGeom>
          <a:noFill/>
          <a:ln w="0" cmpd="sng">
            <a:noFill/>
            <a:prstDash val="solid"/>
          </a:ln>
        </p:spPr>
        <p:txBody>
          <a:bodyPr lIns="0" tIns="0" rIns="0" bIns="0"/>
          <a:lstStyle>
            <a:lvl1pPr marL="440809" marR="0" indent="0" algn="l">
              <a:lnSpc>
                <a:spcPct val="95999"/>
              </a:lnSpc>
              <a:spcBef>
                <a:spcPts val="0"/>
              </a:spcBef>
              <a:spcAft>
                <a:spcPts val="1104"/>
              </a:spcAft>
              <a:buFont typeface="Symbol"/>
              <a:buChar char="·"/>
              <a:defRPr/>
            </a:lvl1pPr>
          </a:lstStyle>
          <a:p>
            <a:r>
              <a:rPr lang="fr-FR" dirty="0"/>
              <a:t>Objectifs du cours</a:t>
            </a:r>
          </a:p>
          <a:p>
            <a:r>
              <a:rPr lang="fr-FR" dirty="0"/>
              <a:t>Décrire la structure et la composition des</a:t>
            </a:r>
          </a:p>
          <a:p>
            <a:r>
              <a:rPr lang="fr-FR" dirty="0"/>
              <a:t>membranes biologiques des eucaryotes</a:t>
            </a:r>
          </a:p>
          <a:p>
            <a:r>
              <a:rPr lang="fr-FR" dirty="0"/>
              <a:t>Décrire la structure et la propriété des</a:t>
            </a:r>
          </a:p>
          <a:p>
            <a:r>
              <a:rPr lang="fr-FR" dirty="0"/>
              <a:t>principaux constituants des membranes</a:t>
            </a:r>
          </a:p>
          <a:p>
            <a:r>
              <a:rPr lang="fr-FR" dirty="0"/>
              <a:t>(Phospholipides, cholestérol, protéines)</a:t>
            </a:r>
          </a:p>
          <a:p>
            <a:r>
              <a:rPr lang="fr-FR" dirty="0"/>
              <a:t>Décrire les principales fonctions</a:t>
            </a:r>
          </a:p>
          <a:p>
            <a:r>
              <a:rPr lang="fr-FR" dirty="0"/>
              <a:t>physiologiques des membranes</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28_1_">
    <p:bg>
      <p:bgPr>
        <a:solidFill>
          <a:schemeClr val="bg1">
            <a:alpha val="0"/>
          </a:schemeClr>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76_1_">
    <p:bg>
      <p:bgPr>
        <a:solidFill>
          <a:schemeClr val="bg1">
            <a:alpha val="0"/>
          </a:schemeClr>
        </a:solidFill>
        <a:effectLst/>
      </p:bgPr>
    </p:bg>
    <p:spTree>
      <p:nvGrpSpPr>
        <p:cNvPr id="1" name=""/>
        <p:cNvGrpSpPr/>
        <p:nvPr/>
      </p:nvGrpSpPr>
      <p:grpSpPr>
        <a:xfrm>
          <a:off x="0" y="0"/>
          <a:ext cx="0" cy="0"/>
          <a:chOff x="0" y="0"/>
          <a:chExt cx="0" cy="0"/>
        </a:xfrm>
      </p:grpSpPr>
      <p:sp>
        <p:nvSpPr>
          <p:cNvPr id="82" name="Espace réservé du texte 81"/>
          <p:cNvSpPr>
            <a:spLocks noGrp="1"/>
          </p:cNvSpPr>
          <p:nvPr>
            <p:ph type="body" idx="10"/>
          </p:nvPr>
        </p:nvSpPr>
        <p:spPr>
          <a:xfrm>
            <a:off x="836628" y="308193"/>
            <a:ext cx="7481331" cy="1370448"/>
          </a:xfrm>
          <a:prstGeom prst="rect">
            <a:avLst/>
          </a:prstGeom>
          <a:noFill/>
          <a:ln w="0" cmpd="sng">
            <a:noFill/>
            <a:prstDash val="solid"/>
          </a:ln>
        </p:spPr>
        <p:txBody>
          <a:bodyPr lIns="0" tIns="0" rIns="0" bIns="0"/>
          <a:lstStyle>
            <a:lvl1pPr marL="0" marR="0" indent="0" algn="ctr">
              <a:lnSpc>
                <a:spcPct val="95999"/>
              </a:lnSpc>
              <a:spcBef>
                <a:spcPts val="0"/>
              </a:spcBef>
              <a:spcAft>
                <a:spcPts val="2051"/>
              </a:spcAft>
              <a:defRPr/>
            </a:lvl1pPr>
          </a:lstStyle>
          <a:p>
            <a:r>
              <a:rPr lang="fr-FR" dirty="0"/>
              <a:t>Les lipides membranaires sont des</a:t>
            </a:r>
          </a:p>
          <a:p>
            <a:r>
              <a:rPr lang="fr-FR" dirty="0"/>
              <a:t>molécules </a:t>
            </a:r>
            <a:r>
              <a:rPr lang="fr-FR" dirty="0" err="1"/>
              <a:t>amphipathiques</a:t>
            </a:r>
            <a:endParaRPr lang="fr-FR" dirty="0"/>
          </a:p>
        </p:txBody>
      </p:sp>
      <p:sp>
        <p:nvSpPr>
          <p:cNvPr id="85" name="Espace réservé du texte 84"/>
          <p:cNvSpPr>
            <a:spLocks noGrp="1"/>
          </p:cNvSpPr>
          <p:nvPr>
            <p:ph type="body" idx="10"/>
          </p:nvPr>
        </p:nvSpPr>
        <p:spPr>
          <a:xfrm>
            <a:off x="3028365" y="1678641"/>
            <a:ext cx="2261772" cy="1530593"/>
          </a:xfrm>
          <a:prstGeom prst="rect">
            <a:avLst/>
          </a:prstGeom>
          <a:noFill/>
          <a:ln w="0" cmpd="sng">
            <a:noFill/>
            <a:prstDash val="solid"/>
          </a:ln>
        </p:spPr>
        <p:txBody>
          <a:bodyPr lIns="0" tIns="380699" rIns="0" bIns="0"/>
          <a:lstStyle>
            <a:lvl1pPr marL="0" marR="0" indent="0" algn="l">
              <a:lnSpc>
                <a:spcPct val="95999"/>
              </a:lnSpc>
              <a:spcBef>
                <a:spcPts val="158"/>
              </a:spcBef>
              <a:spcAft>
                <a:spcPts val="9151"/>
              </a:spcAft>
              <a:defRPr/>
            </a:lvl1pPr>
          </a:lstStyle>
          <a:p>
            <a:r>
              <a:rPr lang="fr-FR" dirty="0"/>
              <a:t>Groupement</a:t>
            </a:r>
          </a:p>
          <a:p>
            <a:r>
              <a:rPr lang="fr-FR" dirty="0"/>
              <a:t>phosphate polaire</a:t>
            </a:r>
          </a:p>
          <a:p>
            <a:r>
              <a:rPr lang="fr-FR" dirty="0"/>
              <a:t>hydrophile</a:t>
            </a:r>
          </a:p>
        </p:txBody>
      </p:sp>
      <p:sp>
        <p:nvSpPr>
          <p:cNvPr id="86" name="Espace réservé du texte 85"/>
          <p:cNvSpPr>
            <a:spLocks noGrp="1"/>
          </p:cNvSpPr>
          <p:nvPr>
            <p:ph type="body" idx="10"/>
          </p:nvPr>
        </p:nvSpPr>
        <p:spPr>
          <a:xfrm>
            <a:off x="3028365" y="4407439"/>
            <a:ext cx="2306291" cy="1020203"/>
          </a:xfrm>
          <a:prstGeom prst="rect">
            <a:avLst/>
          </a:prstGeom>
          <a:noFill/>
          <a:ln w="0" cmpd="sng">
            <a:noFill/>
            <a:prstDash val="solid"/>
          </a:ln>
        </p:spPr>
        <p:txBody>
          <a:bodyPr lIns="0" tIns="0" rIns="0" bIns="0"/>
          <a:lstStyle>
            <a:lvl1pPr marL="280515" marR="0" indent="0" algn="l">
              <a:lnSpc>
                <a:spcPct val="80639"/>
              </a:lnSpc>
              <a:spcBef>
                <a:spcPts val="158"/>
              </a:spcBef>
              <a:spcAft>
                <a:spcPts val="316"/>
              </a:spcAft>
              <a:defRPr/>
            </a:lvl1pPr>
          </a:lstStyle>
          <a:p>
            <a:r>
              <a:rPr lang="fr-FR" dirty="0"/>
              <a:t>Acides gras non</a:t>
            </a:r>
          </a:p>
          <a:p>
            <a:r>
              <a:rPr lang="fr-FR" dirty="0"/>
              <a:t>polaires</a:t>
            </a:r>
          </a:p>
          <a:p>
            <a:r>
              <a:rPr lang="fr-FR" dirty="0"/>
              <a:t>hydrophobes</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36_1_">
    <p:bg>
      <p:bgPr>
        <a:solidFill>
          <a:schemeClr val="bg1">
            <a:alpha val="0"/>
          </a:schemeClr>
        </a:solidFill>
        <a:effectLst/>
      </p:bgPr>
    </p:bg>
    <p:spTree>
      <p:nvGrpSpPr>
        <p:cNvPr id="1" name=""/>
        <p:cNvGrpSpPr/>
        <p:nvPr/>
      </p:nvGrpSpPr>
      <p:grpSpPr>
        <a:xfrm>
          <a:off x="0" y="0"/>
          <a:ext cx="0" cy="0"/>
          <a:chOff x="0" y="0"/>
          <a:chExt cx="0" cy="0"/>
        </a:xfrm>
      </p:grpSpPr>
      <p:sp>
        <p:nvSpPr>
          <p:cNvPr id="49" name="Espace réservé du texte 48"/>
          <p:cNvSpPr>
            <a:spLocks noGrp="1"/>
          </p:cNvSpPr>
          <p:nvPr>
            <p:ph type="body" idx="10"/>
          </p:nvPr>
        </p:nvSpPr>
        <p:spPr>
          <a:xfrm>
            <a:off x="1944169" y="608896"/>
            <a:ext cx="5316197" cy="995433"/>
          </a:xfrm>
          <a:prstGeom prst="rect">
            <a:avLst/>
          </a:prstGeom>
          <a:noFill/>
          <a:ln w="0" cmpd="sng">
            <a:noFill/>
            <a:prstDash val="solid"/>
          </a:ln>
        </p:spPr>
        <p:txBody>
          <a:bodyPr lIns="0" tIns="0" rIns="0" bIns="0" anchor="t"/>
          <a:lstStyle>
            <a:lvl1pPr marL="0" marR="0" indent="0" algn="ctr">
              <a:lnSpc>
                <a:spcPct val="82559"/>
              </a:lnSpc>
              <a:spcAft>
                <a:spcPts val="4102"/>
              </a:spcAft>
              <a:defRPr/>
            </a:lvl1pPr>
          </a:lstStyle>
          <a:p>
            <a:pPr marL="0" marR="0" indent="0" algn="ctr">
              <a:lnSpc>
                <a:spcPct val="82559"/>
              </a:lnSpc>
              <a:spcAft>
                <a:spcPts val="4680"/>
              </a:spcAft>
            </a:pPr>
            <a:r>
              <a:rPr lang="fr-FR" sz="3200" b="1" spc="0" dirty="0">
                <a:solidFill>
                  <a:srgbClr val="CC6500"/>
                </a:solidFill>
                <a:latin typeface="Arial" panose="22635452340000000000" pitchFamily="2"/>
              </a:rPr>
              <a:t>Structure de base</a:t>
            </a:r>
          </a:p>
        </p:txBody>
      </p:sp>
      <p:sp>
        <p:nvSpPr>
          <p:cNvPr id="50" name="Espace réservé du texte 49"/>
          <p:cNvSpPr>
            <a:spLocks noGrp="1"/>
          </p:cNvSpPr>
          <p:nvPr>
            <p:ph type="body" idx="10"/>
          </p:nvPr>
        </p:nvSpPr>
        <p:spPr>
          <a:xfrm>
            <a:off x="1282359" y="1604329"/>
            <a:ext cx="6732112" cy="1666543"/>
          </a:xfrm>
          <a:prstGeom prst="rect">
            <a:avLst/>
          </a:prstGeom>
          <a:noFill/>
          <a:ln w="0" cmpd="sng">
            <a:noFill/>
            <a:prstDash val="solid"/>
          </a:ln>
        </p:spPr>
        <p:txBody>
          <a:bodyPr lIns="0" tIns="0" rIns="0" bIns="0" anchor="t"/>
          <a:lstStyle>
            <a:lvl1pPr marL="280515" marR="0" indent="0" algn="l">
              <a:lnSpc>
                <a:spcPct val="95999"/>
              </a:lnSpc>
              <a:spcBef>
                <a:spcPts val="0"/>
              </a:spcBef>
              <a:spcAft>
                <a:spcPts val="3786"/>
              </a:spcAft>
              <a:defRPr/>
            </a:lvl1pPr>
          </a:lstStyle>
          <a:p>
            <a:pPr marL="0" marR="0" indent="0" algn="l">
              <a:lnSpc>
                <a:spcPct val="95999"/>
              </a:lnSpc>
              <a:spcAft>
                <a:spcPts val="0"/>
              </a:spcAft>
            </a:pPr>
            <a:r>
              <a:rPr lang="fr-FR" sz="300" b="1" spc="79" dirty="0">
                <a:solidFill>
                  <a:srgbClr val="009A9A"/>
                </a:solidFill>
                <a:latin typeface="Arial" panose="22635452340000000000" pitchFamily="2"/>
              </a:rPr>
              <a:t>➢</a:t>
            </a:r>
            <a:r>
              <a:rPr lang="fr-FR" sz="2500" b="1" spc="79" dirty="0">
                <a:solidFill>
                  <a:srgbClr val="000000"/>
                </a:solidFill>
                <a:latin typeface="Arial" panose="22635452340000000000" pitchFamily="2"/>
              </a:rPr>
              <a:t> Formés par une liaison amide entre un </a:t>
            </a:r>
            <a:r>
              <a:rPr lang="fr-FR" sz="2500" b="1" spc="79" dirty="0" err="1">
                <a:solidFill>
                  <a:srgbClr val="000000"/>
                </a:solidFill>
                <a:latin typeface="Arial" panose="22635452340000000000" pitchFamily="2"/>
              </a:rPr>
              <a:t>amino</a:t>
            </a:r>
            <a:r>
              <a:rPr lang="fr-FR" sz="2500" b="1" spc="79" dirty="0">
                <a:solidFill>
                  <a:srgbClr val="000000"/>
                </a:solidFill>
                <a:latin typeface="Arial" panose="22635452340000000000" pitchFamily="2"/>
              </a:rPr>
              <a:t>-</a:t>
            </a:r>
          </a:p>
          <a:p>
            <a:pPr marL="0" marR="0" indent="0" algn="r">
              <a:lnSpc>
                <a:spcPct val="95999"/>
              </a:lnSpc>
              <a:spcBef>
                <a:spcPts val="0"/>
              </a:spcBef>
              <a:spcAft>
                <a:spcPts val="0"/>
              </a:spcAft>
            </a:pPr>
            <a:r>
              <a:rPr lang="fr-FR" sz="2500" b="1" spc="26" dirty="0">
                <a:solidFill>
                  <a:srgbClr val="000000"/>
                </a:solidFill>
                <a:latin typeface="Arial" panose="22635452340000000000" pitchFamily="2"/>
              </a:rPr>
              <a:t>alcool (</a:t>
            </a:r>
            <a:r>
              <a:rPr lang="fr-FR" sz="2500" b="1" spc="26" dirty="0" err="1">
                <a:solidFill>
                  <a:srgbClr val="000000"/>
                </a:solidFill>
                <a:latin typeface="Arial" panose="22635452340000000000" pitchFamily="2"/>
              </a:rPr>
              <a:t>sphingosine</a:t>
            </a:r>
            <a:r>
              <a:rPr lang="fr-FR" sz="2500" b="1" spc="26" dirty="0">
                <a:solidFill>
                  <a:srgbClr val="000000"/>
                </a:solidFill>
                <a:latin typeface="Arial" panose="22635452340000000000" pitchFamily="2"/>
              </a:rPr>
              <a:t> ou </a:t>
            </a:r>
            <a:r>
              <a:rPr lang="fr-FR" sz="2500" b="1" spc="26" dirty="0" err="1">
                <a:solidFill>
                  <a:srgbClr val="000000"/>
                </a:solidFill>
                <a:latin typeface="Arial" panose="22635452340000000000" pitchFamily="2"/>
              </a:rPr>
              <a:t>sphinganine</a:t>
            </a:r>
            <a:r>
              <a:rPr lang="fr-FR" sz="2500" b="1" spc="26" dirty="0">
                <a:solidFill>
                  <a:srgbClr val="000000"/>
                </a:solidFill>
                <a:latin typeface="Arial" panose="22635452340000000000" pitchFamily="2"/>
              </a:rPr>
              <a:t>) et un acide</a:t>
            </a:r>
          </a:p>
          <a:p>
            <a:pPr marL="320040" marR="0" indent="0" algn="l">
              <a:lnSpc>
                <a:spcPct val="95999"/>
              </a:lnSpc>
              <a:spcBef>
                <a:spcPts val="0"/>
              </a:spcBef>
              <a:spcAft>
                <a:spcPts val="4320"/>
              </a:spcAft>
            </a:pPr>
            <a:r>
              <a:rPr lang="fr-FR" sz="2500" b="1" spc="0" dirty="0">
                <a:solidFill>
                  <a:srgbClr val="000000"/>
                </a:solidFill>
                <a:latin typeface="Arial" panose="22635452340000000000" pitchFamily="2"/>
              </a:rPr>
              <a:t>gras</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47_1_">
    <p:bg>
      <p:bgPr>
        <a:solidFill>
          <a:schemeClr val="bg1">
            <a:alpha val="0"/>
          </a:schemeClr>
        </a:solidFill>
        <a:effectLst/>
      </p:bgPr>
    </p:bg>
    <p:spTree>
      <p:nvGrpSpPr>
        <p:cNvPr id="1" name=""/>
        <p:cNvGrpSpPr/>
        <p:nvPr/>
      </p:nvGrpSpPr>
      <p:grpSpPr>
        <a:xfrm>
          <a:off x="0" y="0"/>
          <a:ext cx="0" cy="0"/>
          <a:chOff x="0" y="0"/>
          <a:chExt cx="0" cy="0"/>
        </a:xfrm>
      </p:grpSpPr>
      <p:sp>
        <p:nvSpPr>
          <p:cNvPr id="223" name="Espace réservé du texte 222"/>
          <p:cNvSpPr>
            <a:spLocks noGrp="1"/>
          </p:cNvSpPr>
          <p:nvPr>
            <p:ph type="body" idx="10"/>
          </p:nvPr>
        </p:nvSpPr>
        <p:spPr>
          <a:xfrm>
            <a:off x="38100" y="266065"/>
            <a:ext cx="7836535" cy="573405"/>
          </a:xfrm>
          <a:prstGeom prst="rect">
            <a:avLst/>
          </a:prstGeom>
          <a:noFill/>
          <a:ln w="23495" cmpd="sng">
            <a:solidFill>
              <a:srgbClr val="78E3BD"/>
            </a:solidFill>
            <a:prstDash val="solid"/>
          </a:ln>
        </p:spPr>
        <p:txBody>
          <a:bodyPr lIns="0" tIns="91440" rIns="0" bIns="0" anchor="t"/>
          <a:lstStyle/>
          <a:p>
            <a:pPr marL="2148840" marR="0" indent="0" algn="l">
              <a:lnSpc>
                <a:spcPts val="3400"/>
              </a:lnSpc>
              <a:spcAft>
                <a:spcPts val="0"/>
              </a:spcAft>
            </a:pPr>
            <a:r>
              <a:rPr lang="fr-FR" sz="3200" spc="0">
                <a:solidFill>
                  <a:srgbClr val="000000"/>
                </a:solidFill>
                <a:latin typeface="Calibri" panose="22635452340000000000" pitchFamily="1"/>
              </a:rPr>
              <a:t>Protéines membranaires</a:t>
            </a:r>
          </a:p>
        </p:txBody>
      </p:sp>
      <p:sp>
        <p:nvSpPr>
          <p:cNvPr id="224" name="Espace réservé du texte 223"/>
          <p:cNvSpPr>
            <a:spLocks noGrp="1"/>
          </p:cNvSpPr>
          <p:nvPr>
            <p:ph type="body" idx="10"/>
          </p:nvPr>
        </p:nvSpPr>
        <p:spPr>
          <a:xfrm>
            <a:off x="399415" y="1106170"/>
            <a:ext cx="7848600" cy="1163955"/>
          </a:xfrm>
          <a:prstGeom prst="rect">
            <a:avLst/>
          </a:prstGeom>
          <a:noFill/>
          <a:ln w="0" cmpd="sng">
            <a:noFill/>
            <a:prstDash val="solid"/>
          </a:ln>
        </p:spPr>
        <p:txBody>
          <a:bodyPr lIns="0" tIns="0" rIns="0" bIns="0" anchor="t"/>
          <a:lstStyle/>
          <a:p>
            <a:pPr marL="0" marR="0" indent="0" algn="l">
              <a:lnSpc>
                <a:spcPts val="2700"/>
              </a:lnSpc>
              <a:spcAft>
                <a:spcPts val="0"/>
              </a:spcAft>
            </a:pPr>
            <a:r>
              <a:rPr lang="fr-FR" sz="2400" spc="0">
                <a:solidFill>
                  <a:srgbClr val="000000"/>
                </a:solidFill>
                <a:latin typeface="Arial" panose="22635452340000000000" pitchFamily="2"/>
              </a:rPr>
              <a:t>• </a:t>
            </a:r>
            <a:r>
              <a:rPr lang="fr-FR" sz="2400" spc="0">
                <a:solidFill>
                  <a:srgbClr val="000000"/>
                </a:solidFill>
                <a:latin typeface="Calibri" panose="22635452340000000000" pitchFamily="1"/>
              </a:rPr>
              <a:t>Protéines:</a:t>
            </a:r>
          </a:p>
          <a:p>
            <a:pPr marL="411480" marR="0" indent="0" algn="l">
              <a:lnSpc>
                <a:spcPts val="2600"/>
              </a:lnSpc>
              <a:spcBef>
                <a:spcPts val="720"/>
              </a:spcBef>
              <a:spcAft>
                <a:spcPts val="0"/>
              </a:spcAft>
            </a:pPr>
            <a:r>
              <a:rPr lang="fr-FR" sz="300" spc="90">
                <a:solidFill>
                  <a:srgbClr val="FF0000"/>
                </a:solidFill>
                <a:latin typeface="Arial" panose="22635452340000000000" pitchFamily="2"/>
              </a:rPr>
              <a:t>– </a:t>
            </a:r>
            <a:r>
              <a:rPr lang="fr-FR" sz="2000" spc="90">
                <a:solidFill>
                  <a:srgbClr val="FF0000"/>
                </a:solidFill>
                <a:latin typeface="Calibri" panose="22635452340000000000" pitchFamily="1"/>
              </a:rPr>
              <a:t>Intrinsèque:</a:t>
            </a:r>
          </a:p>
          <a:p>
            <a:pPr marL="868680" marR="0" indent="0" algn="l">
              <a:lnSpc>
                <a:spcPct val="106559"/>
              </a:lnSpc>
              <a:spcBef>
                <a:spcPts val="720"/>
              </a:spcBef>
              <a:spcAft>
                <a:spcPts val="0"/>
              </a:spcAft>
            </a:pPr>
            <a:r>
              <a:rPr lang="fr-FR" sz="300" spc="-10">
                <a:solidFill>
                  <a:srgbClr val="000000"/>
                </a:solidFill>
                <a:latin typeface="Arial" panose="22635452340000000000" pitchFamily="2"/>
              </a:rPr>
              <a:t>– </a:t>
            </a:r>
            <a:r>
              <a:rPr lang="fr-FR" sz="1800" spc="-10">
                <a:solidFill>
                  <a:srgbClr val="000000"/>
                </a:solidFill>
                <a:latin typeface="Calibri" panose="22635452340000000000" pitchFamily="1"/>
              </a:rPr>
              <a:t>Contact direct avec les lipides: intégrée ou transmembranaire (70%)</a:t>
            </a:r>
          </a:p>
        </p:txBody>
      </p:sp>
      <p:sp>
        <p:nvSpPr>
          <p:cNvPr id="225" name="Espace réservé du texte 224"/>
          <p:cNvSpPr>
            <a:spLocks noGrp="1"/>
          </p:cNvSpPr>
          <p:nvPr>
            <p:ph type="body" idx="10"/>
          </p:nvPr>
        </p:nvSpPr>
        <p:spPr>
          <a:xfrm>
            <a:off x="399415" y="2270125"/>
            <a:ext cx="7848600" cy="629920"/>
          </a:xfrm>
          <a:prstGeom prst="rect">
            <a:avLst/>
          </a:prstGeom>
          <a:noFill/>
          <a:ln w="0" cmpd="sng">
            <a:noFill/>
            <a:prstDash val="solid"/>
          </a:ln>
        </p:spPr>
        <p:txBody>
          <a:bodyPr lIns="0" tIns="0" rIns="0" bIns="0" anchor="t"/>
          <a:lstStyle/>
          <a:p>
            <a:pPr marL="1371600" marR="0" indent="0" algn="l">
              <a:lnSpc>
                <a:spcPct val="107519"/>
              </a:lnSpc>
              <a:spcAft>
                <a:spcPts val="0"/>
              </a:spcAft>
            </a:pPr>
            <a:r>
              <a:rPr lang="fr-FR" sz="300" spc="80">
                <a:solidFill>
                  <a:srgbClr val="FF0000"/>
                </a:solidFill>
                <a:latin typeface="Wingdings" panose="22635452340000000000" pitchFamily="2"/>
              </a:rPr>
              <a:t>4</a:t>
            </a:r>
            <a:r>
              <a:rPr lang="fr-FR" sz="3600" spc="80">
                <a:solidFill>
                  <a:srgbClr val="FF0000"/>
                </a:solidFill>
                <a:latin typeface="Calibri" panose="22635452340000000000" pitchFamily="1"/>
              </a:rPr>
              <a:t>Ancrage par un lipide</a:t>
            </a:r>
          </a:p>
        </p:txBody>
      </p:sp>
      <p:sp>
        <p:nvSpPr>
          <p:cNvPr id="226" name="Espace réservé du texte 225"/>
          <p:cNvSpPr>
            <a:spLocks noGrp="1"/>
          </p:cNvSpPr>
          <p:nvPr>
            <p:ph type="body" idx="10"/>
          </p:nvPr>
        </p:nvSpPr>
        <p:spPr>
          <a:xfrm>
            <a:off x="399415" y="2900045"/>
            <a:ext cx="7848600" cy="3351530"/>
          </a:xfrm>
          <a:prstGeom prst="rect">
            <a:avLst/>
          </a:prstGeom>
          <a:noFill/>
          <a:ln w="0" cmpd="sng">
            <a:noFill/>
            <a:prstDash val="solid"/>
          </a:ln>
        </p:spPr>
        <p:txBody>
          <a:bodyPr lIns="0" tIns="0" rIns="0" bIns="0" anchor="t"/>
          <a:lstStyle/>
          <a:p>
            <a:pPr marL="1371600" marR="0" indent="0" algn="l">
              <a:lnSpc>
                <a:spcPts val="2100"/>
              </a:lnSpc>
              <a:spcAft>
                <a:spcPts val="0"/>
              </a:spcAft>
            </a:pPr>
            <a:r>
              <a:rPr lang="fr-FR" sz="300" spc="25">
                <a:solidFill>
                  <a:srgbClr val="FF0000"/>
                </a:solidFill>
                <a:latin typeface="Wingdings" panose="22635452340000000000" pitchFamily="2"/>
              </a:rPr>
              <a:t>4</a:t>
            </a:r>
            <a:r>
              <a:rPr lang="fr-FR" sz="1800" spc="25">
                <a:solidFill>
                  <a:srgbClr val="FF0000"/>
                </a:solidFill>
                <a:latin typeface="Calibri" panose="22635452340000000000" pitchFamily="1"/>
              </a:rPr>
              <a:t>Liaison covalente entre la protéine et un élément lipidique</a:t>
            </a:r>
          </a:p>
          <a:p>
            <a:pPr marL="1371600" marR="0" indent="0" algn="l">
              <a:lnSpc>
                <a:spcPts val="2400"/>
              </a:lnSpc>
              <a:spcBef>
                <a:spcPts val="540"/>
              </a:spcBef>
              <a:spcAft>
                <a:spcPts val="0"/>
              </a:spcAft>
            </a:pPr>
            <a:r>
              <a:rPr lang="fr-FR" sz="300" spc="10">
                <a:solidFill>
                  <a:srgbClr val="000000"/>
                </a:solidFill>
                <a:latin typeface="Wingdings" panose="22635452340000000000" pitchFamily="2"/>
              </a:rPr>
              <a:t>4</a:t>
            </a:r>
            <a:r>
              <a:rPr lang="fr-FR" sz="1800" b="1" spc="10">
                <a:solidFill>
                  <a:srgbClr val="000000"/>
                </a:solidFill>
                <a:latin typeface="Calibri" panose="22635452340000000000" pitchFamily="1"/>
              </a:rPr>
              <a:t>4 modifications les plus courantes:</a:t>
            </a:r>
          </a:p>
          <a:p>
            <a:pPr marL="0" marR="22860" indent="0" algn="r">
              <a:lnSpc>
                <a:spcPts val="2300"/>
              </a:lnSpc>
              <a:spcBef>
                <a:spcPts val="540"/>
              </a:spcBef>
              <a:spcAft>
                <a:spcPts val="0"/>
              </a:spcAft>
            </a:pPr>
            <a:r>
              <a:rPr lang="fr-FR" sz="300" spc="20">
                <a:solidFill>
                  <a:srgbClr val="FF0000"/>
                </a:solidFill>
                <a:latin typeface="Wingdings" panose="22635452340000000000" pitchFamily="2"/>
              </a:rPr>
              <a:t>4</a:t>
            </a:r>
            <a:r>
              <a:rPr lang="fr-FR" sz="1800" b="1" spc="20">
                <a:solidFill>
                  <a:srgbClr val="FF0000"/>
                </a:solidFill>
                <a:latin typeface="Calibri" panose="22635452340000000000" pitchFamily="1"/>
              </a:rPr>
              <a:t>Isoprénylation : farnesyl ou géranylgéranyl,</a:t>
            </a:r>
            <a:r>
              <a:rPr lang="fr-FR" sz="1800" b="1" spc="20">
                <a:solidFill>
                  <a:srgbClr val="000000"/>
                </a:solidFill>
                <a:latin typeface="Calibri" panose="22635452340000000000" pitchFamily="1"/>
              </a:rPr>
              <a:t> liaison thioester,</a:t>
            </a:r>
          </a:p>
          <a:p>
            <a:pPr marL="0" marR="160020" indent="0" algn="r">
              <a:lnSpc>
                <a:spcPts val="2000"/>
              </a:lnSpc>
              <a:spcBef>
                <a:spcPts val="0"/>
              </a:spcBef>
              <a:spcAft>
                <a:spcPts val="0"/>
              </a:spcAft>
            </a:pPr>
            <a:r>
              <a:rPr lang="fr-FR" sz="1800" b="1" spc="-40">
                <a:solidFill>
                  <a:srgbClr val="000000"/>
                </a:solidFill>
                <a:latin typeface="Calibri" panose="22635452340000000000" pitchFamily="1"/>
              </a:rPr>
              <a:t>sur une</a:t>
            </a:r>
            <a:r>
              <a:rPr lang="fr-FR" sz="1800" b="1" spc="-40">
                <a:solidFill>
                  <a:srgbClr val="FF0000"/>
                </a:solidFill>
                <a:latin typeface="Calibri" panose="22635452340000000000" pitchFamily="1"/>
              </a:rPr>
              <a:t> cystéine</a:t>
            </a:r>
            <a:r>
              <a:rPr lang="fr-FR" sz="1800" b="1" spc="-40">
                <a:solidFill>
                  <a:srgbClr val="000000"/>
                </a:solidFill>
                <a:latin typeface="Calibri" panose="22635452340000000000" pitchFamily="1"/>
              </a:rPr>
              <a:t> en position</a:t>
            </a:r>
            <a:r>
              <a:rPr lang="fr-FR" sz="1800" b="1" spc="-40">
                <a:solidFill>
                  <a:srgbClr val="FF0000"/>
                </a:solidFill>
                <a:latin typeface="Calibri" panose="22635452340000000000" pitchFamily="1"/>
              </a:rPr>
              <a:t> C-­‐terminale C-­‐terminale</a:t>
            </a:r>
            <a:r>
              <a:rPr lang="fr-FR" sz="1800" b="1" spc="-40">
                <a:solidFill>
                  <a:srgbClr val="000000"/>
                </a:solidFill>
                <a:latin typeface="Calibri" panose="22635452340000000000" pitchFamily="1"/>
              </a:rPr>
              <a:t> ou proche de cette</a:t>
            </a:r>
          </a:p>
          <a:p>
            <a:pPr marL="2011680" marR="0" indent="0" algn="l">
              <a:lnSpc>
                <a:spcPts val="1900"/>
              </a:lnSpc>
              <a:spcBef>
                <a:spcPts val="0"/>
              </a:spcBef>
              <a:spcAft>
                <a:spcPts val="0"/>
              </a:spcAft>
            </a:pPr>
            <a:r>
              <a:rPr lang="fr-FR" sz="1800" b="1" spc="0">
                <a:solidFill>
                  <a:srgbClr val="000000"/>
                </a:solidFill>
                <a:latin typeface="Calibri" panose="22635452340000000000" pitchFamily="1"/>
              </a:rPr>
              <a:t>extrémité</a:t>
            </a:r>
          </a:p>
          <a:p>
            <a:pPr marL="1828800" marR="0" indent="0" algn="l">
              <a:lnSpc>
                <a:spcPts val="2300"/>
              </a:lnSpc>
              <a:spcBef>
                <a:spcPts val="720"/>
              </a:spcBef>
              <a:spcAft>
                <a:spcPts val="0"/>
              </a:spcAft>
            </a:pPr>
            <a:r>
              <a:rPr lang="fr-FR" sz="300" spc="5">
                <a:solidFill>
                  <a:srgbClr val="FF0000"/>
                </a:solidFill>
                <a:latin typeface="Wingdings" panose="22635452340000000000" pitchFamily="2"/>
              </a:rPr>
              <a:t>4</a:t>
            </a:r>
            <a:r>
              <a:rPr lang="fr-FR" sz="1800" b="1" spc="5">
                <a:solidFill>
                  <a:srgbClr val="FF0000"/>
                </a:solidFill>
                <a:latin typeface="Calibri" panose="22635452340000000000" pitchFamily="1"/>
              </a:rPr>
              <a:t>N-­‐myristoylation: acide myristiqueN-­‐myristoylation: acide myristique</a:t>
            </a:r>
            <a:r>
              <a:rPr lang="fr-FR" sz="1800" b="1" spc="5">
                <a:solidFill>
                  <a:srgbClr val="000000"/>
                </a:solidFill>
                <a:latin typeface="Calibri" panose="22635452340000000000" pitchFamily="1"/>
              </a:rPr>
              <a:t> sur une</a:t>
            </a:r>
            <a:r>
              <a:rPr lang="fr-FR" sz="1800" b="1" spc="5">
                <a:solidFill>
                  <a:srgbClr val="FF0000"/>
                </a:solidFill>
                <a:latin typeface="Calibri" panose="22635452340000000000" pitchFamily="1"/>
              </a:rPr>
              <a:t> glycine</a:t>
            </a:r>
            <a:r>
              <a:rPr lang="fr-FR" sz="1800" b="1" spc="5">
                <a:solidFill>
                  <a:srgbClr val="000000"/>
                </a:solidFill>
                <a:latin typeface="Calibri" panose="22635452340000000000" pitchFamily="1"/>
              </a:rPr>
              <a:t> en</a:t>
            </a:r>
          </a:p>
          <a:p>
            <a:pPr marL="2011680" marR="0" indent="0" algn="l">
              <a:lnSpc>
                <a:spcPts val="2200"/>
              </a:lnSpc>
              <a:spcBef>
                <a:spcPts val="0"/>
              </a:spcBef>
              <a:spcAft>
                <a:spcPts val="0"/>
              </a:spcAft>
            </a:pPr>
            <a:r>
              <a:rPr lang="fr-FR" sz="1800" b="1" spc="-30">
                <a:solidFill>
                  <a:srgbClr val="000000"/>
                </a:solidFill>
                <a:latin typeface="Calibri" panose="22635452340000000000" pitchFamily="1"/>
              </a:rPr>
              <a:t>position</a:t>
            </a:r>
            <a:r>
              <a:rPr lang="fr-FR" sz="1800" b="1" spc="-30">
                <a:solidFill>
                  <a:srgbClr val="FF0000"/>
                </a:solidFill>
                <a:latin typeface="Calibri" panose="22635452340000000000" pitchFamily="1"/>
              </a:rPr>
              <a:t> N-­‐terminale N-­‐terminale</a:t>
            </a:r>
          </a:p>
          <a:p>
            <a:pPr marL="0" marR="274320" indent="0" algn="r">
              <a:lnSpc>
                <a:spcPts val="2300"/>
              </a:lnSpc>
              <a:spcBef>
                <a:spcPts val="540"/>
              </a:spcBef>
              <a:spcAft>
                <a:spcPts val="0"/>
              </a:spcAft>
            </a:pPr>
            <a:r>
              <a:rPr lang="fr-FR" sz="300" spc="20">
                <a:solidFill>
                  <a:srgbClr val="FF0000"/>
                </a:solidFill>
                <a:latin typeface="Wingdings" panose="22635452340000000000" pitchFamily="2"/>
              </a:rPr>
              <a:t>4 </a:t>
            </a:r>
            <a:r>
              <a:rPr lang="fr-FR" sz="1800" b="1" spc="20">
                <a:solidFill>
                  <a:srgbClr val="FF0000"/>
                </a:solidFill>
                <a:latin typeface="Calibri" panose="22635452340000000000" pitchFamily="1"/>
              </a:rPr>
              <a:t>Palmitoylation: acide palmitique</a:t>
            </a:r>
            <a:r>
              <a:rPr lang="fr-FR" sz="1800" b="1" spc="20">
                <a:solidFill>
                  <a:srgbClr val="000000"/>
                </a:solidFill>
                <a:latin typeface="Calibri" panose="22635452340000000000" pitchFamily="1"/>
              </a:rPr>
              <a:t> via une liaison thioester,</a:t>
            </a:r>
          </a:p>
          <a:p>
            <a:pPr marL="2011680" marR="0" indent="0" algn="l">
              <a:lnSpc>
                <a:spcPts val="2200"/>
              </a:lnSpc>
              <a:spcBef>
                <a:spcPts val="0"/>
              </a:spcBef>
              <a:spcAft>
                <a:spcPts val="0"/>
              </a:spcAft>
            </a:pPr>
            <a:r>
              <a:rPr lang="fr-FR" sz="1800" b="1" spc="-40">
                <a:solidFill>
                  <a:srgbClr val="000000"/>
                </a:solidFill>
                <a:latin typeface="Calibri" panose="22635452340000000000" pitchFamily="1"/>
              </a:rPr>
              <a:t>sur une</a:t>
            </a:r>
            <a:r>
              <a:rPr lang="fr-FR" sz="1800" b="1" spc="-40">
                <a:solidFill>
                  <a:srgbClr val="FF0000"/>
                </a:solidFill>
                <a:latin typeface="Calibri" panose="22635452340000000000" pitchFamily="1"/>
              </a:rPr>
              <a:t> cystéine</a:t>
            </a:r>
            <a:r>
              <a:rPr lang="fr-FR" sz="1800" b="1" spc="-40">
                <a:solidFill>
                  <a:srgbClr val="000000"/>
                </a:solidFill>
                <a:latin typeface="Calibri" panose="22635452340000000000" pitchFamily="1"/>
              </a:rPr>
              <a:t> interne ou</a:t>
            </a:r>
            <a:r>
              <a:rPr lang="fr-FR" sz="1800" b="1" spc="-40">
                <a:solidFill>
                  <a:srgbClr val="FF0000"/>
                </a:solidFill>
                <a:latin typeface="Calibri" panose="22635452340000000000" pitchFamily="1"/>
              </a:rPr>
              <a:t> N-­‐terminal N-­‐terminal</a:t>
            </a:r>
          </a:p>
          <a:p>
            <a:pPr marL="0" marR="22860" indent="0" algn="r">
              <a:lnSpc>
                <a:spcPts val="2300"/>
              </a:lnSpc>
              <a:spcBef>
                <a:spcPts val="720"/>
              </a:spcBef>
              <a:spcAft>
                <a:spcPts val="0"/>
              </a:spcAft>
            </a:pPr>
            <a:r>
              <a:rPr lang="fr-FR" sz="300" spc="0">
                <a:solidFill>
                  <a:srgbClr val="FF0000"/>
                </a:solidFill>
                <a:latin typeface="Wingdings" panose="22635452340000000000" pitchFamily="2"/>
              </a:rPr>
              <a:t>4</a:t>
            </a:r>
            <a:r>
              <a:rPr lang="fr-FR" sz="1800" b="1" spc="0">
                <a:solidFill>
                  <a:srgbClr val="FF0000"/>
                </a:solidFill>
                <a:latin typeface="Calibri" panose="22635452340000000000" pitchFamily="1"/>
              </a:rPr>
              <a:t>Glypiation: glycosyl-­‐phosphatidylinositolGlypiation: glycosyl-­‐phosphatidylinositol</a:t>
            </a:r>
            <a:r>
              <a:rPr lang="fr-FR" sz="1800" b="1" spc="0">
                <a:solidFill>
                  <a:srgbClr val="000000"/>
                </a:solidFill>
                <a:latin typeface="Calibri" panose="22635452340000000000" pitchFamily="1"/>
              </a:rPr>
              <a:t> ou</a:t>
            </a:r>
            <a:r>
              <a:rPr lang="fr-FR" sz="1800" b="1" spc="0">
                <a:solidFill>
                  <a:srgbClr val="FF0000"/>
                </a:solidFill>
                <a:latin typeface="Calibri" panose="22635452340000000000" pitchFamily="1"/>
              </a:rPr>
              <a:t> GPI</a:t>
            </a:r>
            <a:r>
              <a:rPr lang="fr-FR" sz="1800" b="1" spc="0">
                <a:solidFill>
                  <a:srgbClr val="000000"/>
                </a:solidFill>
                <a:latin typeface="Calibri" panose="22635452340000000000" pitchFamily="1"/>
              </a:rPr>
              <a:t> ou ancre GPI</a:t>
            </a:r>
          </a:p>
          <a:p>
            <a:pPr marL="2011680" marR="0" indent="0" algn="l">
              <a:lnSpc>
                <a:spcPct val="99839"/>
              </a:lnSpc>
              <a:spcBef>
                <a:spcPts val="0"/>
              </a:spcBef>
              <a:spcAft>
                <a:spcPts val="0"/>
              </a:spcAft>
            </a:pPr>
            <a:r>
              <a:rPr lang="fr-FR" sz="1800" b="1" spc="-50">
                <a:solidFill>
                  <a:srgbClr val="000000"/>
                </a:solidFill>
                <a:latin typeface="Calibri" panose="22635452340000000000" pitchFamily="1"/>
              </a:rPr>
              <a:t>sur un acide aminé en position</a:t>
            </a:r>
            <a:r>
              <a:rPr lang="fr-FR" sz="1800" b="1" spc="-50">
                <a:solidFill>
                  <a:srgbClr val="FF0000"/>
                </a:solidFill>
                <a:latin typeface="Calibri" panose="22635452340000000000" pitchFamily="1"/>
              </a:rPr>
              <a:t> C-­‐terminale C-­‐terminale</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49_1_">
    <p:bg>
      <p:bgPr>
        <a:solidFill>
          <a:schemeClr val="bg1">
            <a:alpha val="0"/>
          </a:schemeClr>
        </a:solidFill>
        <a:effectLst/>
      </p:bgPr>
    </p:bg>
    <p:spTree>
      <p:nvGrpSpPr>
        <p:cNvPr id="1" name=""/>
        <p:cNvGrpSpPr/>
        <p:nvPr/>
      </p:nvGrpSpPr>
      <p:grpSpPr>
        <a:xfrm>
          <a:off x="0" y="0"/>
          <a:ext cx="0" cy="0"/>
          <a:chOff x="0" y="0"/>
          <a:chExt cx="0" cy="0"/>
        </a:xfrm>
      </p:grpSpPr>
      <p:sp>
        <p:nvSpPr>
          <p:cNvPr id="281" name="Espace réservé du texte 280"/>
          <p:cNvSpPr>
            <a:spLocks noGrp="1"/>
          </p:cNvSpPr>
          <p:nvPr>
            <p:ph type="body" idx="10"/>
          </p:nvPr>
        </p:nvSpPr>
        <p:spPr>
          <a:xfrm>
            <a:off x="151765" y="266065"/>
            <a:ext cx="7884795" cy="1329055"/>
          </a:xfrm>
          <a:prstGeom prst="rect">
            <a:avLst/>
          </a:prstGeom>
          <a:noFill/>
          <a:ln w="39370" cmpd="sng">
            <a:solidFill>
              <a:srgbClr val="109193"/>
            </a:solidFill>
            <a:prstDash val="solid"/>
          </a:ln>
        </p:spPr>
        <p:txBody>
          <a:bodyPr lIns="0" tIns="91440" rIns="0" bIns="0"/>
          <a:lstStyle/>
          <a:p>
            <a:r>
              <a:rPr lang="fr-FR"/>
              <a:t>Protéines membranaires</a:t>
            </a:r>
          </a:p>
          <a:p>
            <a:r>
              <a:rPr lang="fr-FR"/>
              <a:t>• Protéines membranaires: rôles</a:t>
            </a:r>
          </a:p>
        </p:txBody>
      </p:sp>
      <p:sp>
        <p:nvSpPr>
          <p:cNvPr id="282" name="Espace réservé du texte 281"/>
          <p:cNvSpPr>
            <a:spLocks noGrp="1"/>
          </p:cNvSpPr>
          <p:nvPr>
            <p:ph type="body" idx="10"/>
          </p:nvPr>
        </p:nvSpPr>
        <p:spPr>
          <a:xfrm>
            <a:off x="2321560" y="295275"/>
            <a:ext cx="4020185" cy="573405"/>
          </a:xfrm>
          <a:prstGeom prst="rect">
            <a:avLst/>
          </a:prstGeom>
          <a:noFill/>
          <a:ln w="34925" cmpd="sng">
            <a:solidFill>
              <a:srgbClr val="20E7BD"/>
            </a:solidFill>
            <a:prstDash val="solid"/>
          </a:ln>
        </p:spPr>
        <p:txBody>
          <a:bodyPr lIns="0" tIns="0" rIns="0" bIns="0"/>
          <a:lstStyle/>
          <a:p>
            <a:r>
              <a:rPr lang="fr-FR"/>
              <a:t>Protéines membranaires</a:t>
            </a:r>
          </a:p>
        </p:txBody>
      </p:sp>
      <p:sp>
        <p:nvSpPr>
          <p:cNvPr id="283" name="Espace réservé du texte 282"/>
          <p:cNvSpPr>
            <a:spLocks noGrp="1"/>
          </p:cNvSpPr>
          <p:nvPr>
            <p:ph type="body" idx="10"/>
          </p:nvPr>
        </p:nvSpPr>
        <p:spPr>
          <a:xfrm>
            <a:off x="2321560" y="295275"/>
            <a:ext cx="4020185" cy="573405"/>
          </a:xfrm>
          <a:prstGeom prst="rect">
            <a:avLst/>
          </a:prstGeom>
          <a:noFill/>
          <a:ln w="34925" cmpd="sng">
            <a:solidFill>
              <a:srgbClr val="20E7BD"/>
            </a:solidFill>
            <a:prstDash val="solid"/>
          </a:ln>
        </p:spPr>
        <p:txBody>
          <a:bodyPr lIns="0" tIns="0" rIns="0" bIns="0"/>
          <a:lstStyle/>
          <a:p>
            <a:r>
              <a:rPr lang="fr-FR"/>
              <a:t>Protéines membranaires</a:t>
            </a:r>
          </a:p>
        </p:txBody>
      </p:sp>
      <p:sp>
        <p:nvSpPr>
          <p:cNvPr id="284" name="Espace réservé du texte 283"/>
          <p:cNvSpPr>
            <a:spLocks noGrp="1"/>
          </p:cNvSpPr>
          <p:nvPr>
            <p:ph type="body" idx="10"/>
          </p:nvPr>
        </p:nvSpPr>
        <p:spPr>
          <a:xfrm>
            <a:off x="363220" y="1114425"/>
            <a:ext cx="7848600" cy="1732280"/>
          </a:xfrm>
          <a:prstGeom prst="rect">
            <a:avLst/>
          </a:prstGeom>
          <a:noFill/>
          <a:ln w="0" cmpd="sng">
            <a:noFill/>
            <a:prstDash val="solid"/>
          </a:ln>
        </p:spPr>
        <p:txBody>
          <a:bodyPr lIns="0" tIns="0" rIns="0" bIns="0"/>
          <a:lstStyle/>
          <a:p>
            <a:r>
              <a:rPr lang="fr-FR"/>
              <a:t>Protéines: Extrinsèque, périphérique</a:t>
            </a:r>
          </a:p>
          <a:p>
            <a:r>
              <a:rPr lang="fr-FR"/>
              <a:t>liaisons: forces ioniques (extraction facile: solutions hypersalines</a:t>
            </a:r>
          </a:p>
          <a:p>
            <a:r>
              <a:rPr lang="fr-FR"/>
              <a:t>à force ionique, ex. NaCl, Bicarbonates)</a:t>
            </a:r>
          </a:p>
          <a:p>
            <a:r>
              <a:rPr lang="fr-FR"/>
              <a:t>4 Extrémité hydrophile des PL</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81_1_">
    <p:bg>
      <p:bgPr>
        <a:solidFill>
          <a:schemeClr val="bg1">
            <a:alpha val="0"/>
          </a:schemeClr>
        </a:solidFill>
        <a:effectLst/>
      </p:bgPr>
    </p:bg>
    <p:spTree>
      <p:nvGrpSpPr>
        <p:cNvPr id="1" name=""/>
        <p:cNvGrpSpPr/>
        <p:nvPr/>
      </p:nvGrpSpPr>
      <p:grpSpPr>
        <a:xfrm>
          <a:off x="0" y="0"/>
          <a:ext cx="0" cy="0"/>
          <a:chOff x="0" y="0"/>
          <a:chExt cx="0" cy="0"/>
        </a:xfrm>
      </p:grpSpPr>
      <p:sp>
        <p:nvSpPr>
          <p:cNvPr id="399" name="Espace réservé du texte 398"/>
          <p:cNvSpPr>
            <a:spLocks noGrp="1"/>
          </p:cNvSpPr>
          <p:nvPr>
            <p:ph type="body" idx="10"/>
          </p:nvPr>
        </p:nvSpPr>
        <p:spPr>
          <a:xfrm>
            <a:off x="857259" y="308193"/>
            <a:ext cx="7343974" cy="2117022"/>
          </a:xfrm>
          <a:prstGeom prst="rect">
            <a:avLst/>
          </a:prstGeom>
          <a:noFill/>
          <a:ln w="0" cmpd="sng">
            <a:noFill/>
            <a:prstDash val="solid"/>
          </a:ln>
        </p:spPr>
        <p:txBody>
          <a:bodyPr lIns="0" tIns="0" rIns="0" bIns="0"/>
          <a:lstStyle>
            <a:lvl1pPr marL="2324268" marR="0" indent="0" algn="l">
              <a:lnSpc>
                <a:spcPct val="95999"/>
              </a:lnSpc>
              <a:spcBef>
                <a:spcPts val="0"/>
              </a:spcBef>
              <a:spcAft>
                <a:spcPts val="7731"/>
              </a:spcAft>
              <a:defRPr/>
            </a:lvl1pPr>
          </a:lstStyle>
          <a:p>
            <a:r>
              <a:rPr lang="fr-FR" dirty="0"/>
              <a:t>Exemples de 2 protéines intrinsèques</a:t>
            </a:r>
          </a:p>
          <a:p>
            <a:r>
              <a:rPr lang="fr-FR" dirty="0"/>
              <a:t>de l'érythrocyte</a:t>
            </a:r>
          </a:p>
        </p:txBody>
      </p:sp>
      <p:sp>
        <p:nvSpPr>
          <p:cNvPr id="402" name="Espace réservé du texte 401"/>
          <p:cNvSpPr>
            <a:spLocks noGrp="1"/>
          </p:cNvSpPr>
          <p:nvPr>
            <p:ph type="body" idx="10"/>
          </p:nvPr>
        </p:nvSpPr>
        <p:spPr>
          <a:xfrm>
            <a:off x="857258" y="5339505"/>
            <a:ext cx="3028365" cy="798996"/>
          </a:xfrm>
          <a:prstGeom prst="rect">
            <a:avLst/>
          </a:prstGeom>
          <a:noFill/>
          <a:ln w="0" cmpd="sng">
            <a:noFill/>
            <a:prstDash val="solid"/>
          </a:ln>
        </p:spPr>
        <p:txBody>
          <a:bodyPr lIns="0" tIns="0" rIns="0" bIns="0"/>
          <a:lstStyle>
            <a:lvl1pPr marL="0" marR="0" indent="0" algn="ctr">
              <a:lnSpc>
                <a:spcPts val="1665"/>
              </a:lnSpc>
              <a:spcBef>
                <a:spcPts val="0"/>
              </a:spcBef>
              <a:spcAft>
                <a:spcPts val="0"/>
              </a:spcAft>
              <a:defRPr/>
            </a:lvl1pPr>
          </a:lstStyle>
          <a:p>
            <a:r>
              <a:rPr lang="fr-FR" dirty="0"/>
              <a:t>La </a:t>
            </a:r>
            <a:r>
              <a:rPr lang="fr-FR" dirty="0" err="1"/>
              <a:t>glycophorine</a:t>
            </a:r>
            <a:r>
              <a:rPr lang="fr-FR" dirty="0"/>
              <a:t> ne</a:t>
            </a:r>
          </a:p>
          <a:p>
            <a:r>
              <a:rPr lang="fr-FR" dirty="0"/>
              <a:t>comporte qu'une seule</a:t>
            </a:r>
          </a:p>
          <a:p>
            <a:r>
              <a:rPr lang="fr-FR" dirty="0"/>
              <a:t>hélice a transmembranaire</a:t>
            </a:r>
          </a:p>
        </p:txBody>
      </p:sp>
      <p:sp>
        <p:nvSpPr>
          <p:cNvPr id="403" name="Espace réservé du texte 402"/>
          <p:cNvSpPr>
            <a:spLocks noGrp="1"/>
          </p:cNvSpPr>
          <p:nvPr>
            <p:ph type="body" idx="10"/>
          </p:nvPr>
        </p:nvSpPr>
        <p:spPr>
          <a:xfrm>
            <a:off x="4753197" y="2425215"/>
            <a:ext cx="3448036" cy="399210"/>
          </a:xfrm>
          <a:prstGeom prst="rect">
            <a:avLst/>
          </a:prstGeom>
          <a:noFill/>
          <a:ln w="0" cmpd="sng">
            <a:noFill/>
            <a:prstDash val="solid"/>
          </a:ln>
        </p:spPr>
        <p:txBody>
          <a:bodyPr lIns="0" tIns="0" rIns="0" bIns="0"/>
          <a:lstStyle>
            <a:lvl1pPr marL="0" marR="0" indent="0" algn="l">
              <a:lnSpc>
                <a:spcPct val="130559"/>
              </a:lnSpc>
              <a:spcBef>
                <a:spcPts val="0"/>
              </a:spcBef>
              <a:spcAft>
                <a:spcPts val="0"/>
              </a:spcAft>
              <a:defRPr/>
            </a:lvl1pPr>
          </a:lstStyle>
          <a:p>
            <a:r>
              <a:rPr lang="fr-FR" dirty="0"/>
              <a:t>EC4</a:t>
            </a:r>
          </a:p>
          <a:p>
            <a:r>
              <a:rPr lang="fr-FR" dirty="0"/>
              <a:t>EC1 EC2 EC3 \ V</a:t>
            </a:r>
          </a:p>
        </p:txBody>
      </p:sp>
      <p:sp>
        <p:nvSpPr>
          <p:cNvPr id="404" name="Espace réservé du texte 403"/>
          <p:cNvSpPr>
            <a:spLocks noGrp="1"/>
          </p:cNvSpPr>
          <p:nvPr>
            <p:ph type="body" idx="10"/>
          </p:nvPr>
        </p:nvSpPr>
        <p:spPr>
          <a:xfrm>
            <a:off x="6785861" y="2824425"/>
            <a:ext cx="453332" cy="793235"/>
          </a:xfrm>
          <a:prstGeom prst="rect">
            <a:avLst/>
          </a:prstGeom>
          <a:noFill/>
          <a:ln w="0" cmpd="sng">
            <a:noFill/>
            <a:prstDash val="solid"/>
          </a:ln>
        </p:spPr>
        <p:txBody>
          <a:bodyPr lIns="0" tIns="561030" rIns="0" bIns="0"/>
          <a:lstStyle>
            <a:lvl1pPr marL="0" marR="0" indent="0" algn="l">
              <a:lnSpc>
                <a:spcPct val="84479"/>
              </a:lnSpc>
              <a:spcAft>
                <a:spcPts val="473"/>
              </a:spcAft>
              <a:defRPr/>
            </a:lvl1pPr>
          </a:lstStyle>
          <a:p>
            <a:r>
              <a:rPr lang="fr-FR" dirty="0"/>
              <a:t>12 13 14</a:t>
            </a:r>
          </a:p>
        </p:txBody>
      </p:sp>
      <p:sp>
        <p:nvSpPr>
          <p:cNvPr id="405" name="Espace réservé du texte 404"/>
          <p:cNvSpPr>
            <a:spLocks noGrp="1"/>
          </p:cNvSpPr>
          <p:nvPr>
            <p:ph type="body" idx="10"/>
          </p:nvPr>
        </p:nvSpPr>
        <p:spPr>
          <a:xfrm>
            <a:off x="6713111" y="3617660"/>
            <a:ext cx="1488122" cy="72008"/>
          </a:xfrm>
          <a:prstGeom prst="rect">
            <a:avLst/>
          </a:prstGeom>
          <a:noFill/>
          <a:ln w="0" cmpd="sng">
            <a:noFill/>
            <a:prstDash val="solid"/>
          </a:ln>
        </p:spPr>
        <p:txBody>
          <a:bodyPr lIns="0" tIns="0" rIns="0" bIns="0"/>
          <a:lstStyle/>
          <a:p>
            <a:r>
              <a:rPr lang="en-US" dirty="0"/>
              <a:t> </a:t>
            </a:r>
          </a:p>
        </p:txBody>
      </p:sp>
      <p:sp>
        <p:nvSpPr>
          <p:cNvPr id="406" name="Espace réservé du texte 405"/>
          <p:cNvSpPr>
            <a:spLocks noGrp="1"/>
          </p:cNvSpPr>
          <p:nvPr>
            <p:ph type="body" idx="10"/>
          </p:nvPr>
        </p:nvSpPr>
        <p:spPr>
          <a:xfrm>
            <a:off x="5430751" y="3689667"/>
            <a:ext cx="208478" cy="710859"/>
          </a:xfrm>
          <a:prstGeom prst="rect">
            <a:avLst/>
          </a:prstGeom>
          <a:noFill/>
          <a:ln w="0" cmpd="sng">
            <a:noFill/>
            <a:prstDash val="solid"/>
          </a:ln>
        </p:spPr>
        <p:txBody>
          <a:bodyPr lIns="0" tIns="500920" rIns="0" bIns="0"/>
          <a:lstStyle>
            <a:lvl1pPr marL="0" marR="0" indent="0" algn="l">
              <a:lnSpc>
                <a:spcPct val="82559"/>
              </a:lnSpc>
              <a:spcAft>
                <a:spcPts val="158"/>
              </a:spcAft>
              <a:defRPr/>
            </a:lvl1pPr>
          </a:lstStyle>
          <a:p>
            <a:r>
              <a:rPr lang="fr-FR" dirty="0"/>
              <a:t>1C2</a:t>
            </a:r>
          </a:p>
        </p:txBody>
      </p:sp>
      <p:sp>
        <p:nvSpPr>
          <p:cNvPr id="407" name="Espace réservé du texte 406"/>
          <p:cNvSpPr>
            <a:spLocks noGrp="1"/>
          </p:cNvSpPr>
          <p:nvPr>
            <p:ph type="body" idx="10"/>
          </p:nvPr>
        </p:nvSpPr>
        <p:spPr>
          <a:xfrm>
            <a:off x="6728855" y="4400526"/>
            <a:ext cx="208478" cy="668230"/>
          </a:xfrm>
          <a:prstGeom prst="rect">
            <a:avLst/>
          </a:prstGeom>
          <a:noFill/>
          <a:ln w="0" cmpd="sng">
            <a:noFill/>
            <a:prstDash val="solid"/>
          </a:ln>
        </p:spPr>
        <p:txBody>
          <a:bodyPr lIns="0" tIns="20037" rIns="0" bIns="0"/>
          <a:lstStyle>
            <a:lvl1pPr marL="0" marR="0" indent="0" algn="l">
              <a:lnSpc>
                <a:spcPct val="79679"/>
              </a:lnSpc>
              <a:spcAft>
                <a:spcPts val="3471"/>
              </a:spcAft>
              <a:defRPr/>
            </a:lvl1pPr>
          </a:lstStyle>
          <a:p>
            <a:r>
              <a:rPr lang="fr-FR" dirty="0"/>
              <a:t>105</a:t>
            </a:r>
          </a:p>
        </p:txBody>
      </p:sp>
      <p:sp>
        <p:nvSpPr>
          <p:cNvPr id="408" name="Espace réservé du texte 407"/>
          <p:cNvSpPr>
            <a:spLocks noGrp="1"/>
          </p:cNvSpPr>
          <p:nvPr>
            <p:ph type="body" idx="10"/>
          </p:nvPr>
        </p:nvSpPr>
        <p:spPr>
          <a:xfrm>
            <a:off x="4753197" y="5068756"/>
            <a:ext cx="3448036" cy="809941"/>
          </a:xfrm>
          <a:prstGeom prst="rect">
            <a:avLst/>
          </a:prstGeom>
          <a:noFill/>
          <a:ln w="0" cmpd="sng">
            <a:noFill/>
            <a:prstDash val="solid"/>
          </a:ln>
        </p:spPr>
        <p:txBody>
          <a:bodyPr lIns="0" tIns="0" rIns="0" bIns="0"/>
          <a:lstStyle>
            <a:lvl1pPr marL="601104" marR="0" indent="0" algn="l">
              <a:lnSpc>
                <a:spcPts val="1753"/>
              </a:lnSpc>
              <a:spcBef>
                <a:spcPts val="0"/>
              </a:spcBef>
              <a:spcAft>
                <a:spcPts val="0"/>
              </a:spcAft>
              <a:defRPr/>
            </a:lvl1pPr>
          </a:lstStyle>
          <a:p>
            <a:r>
              <a:rPr lang="fr-FR" dirty="0"/>
              <a:t>La protéine de la bande 3</a:t>
            </a:r>
          </a:p>
          <a:p>
            <a:r>
              <a:rPr lang="fr-FR" dirty="0"/>
              <a:t>comporte 14 hélice a</a:t>
            </a:r>
          </a:p>
          <a:p>
            <a:r>
              <a:rPr lang="fr-FR" dirty="0"/>
              <a:t>transmembranaire</a:t>
            </a:r>
          </a:p>
        </p:txBody>
      </p:sp>
      <p:sp>
        <p:nvSpPr>
          <p:cNvPr id="409" name="Espace réservé du texte 408"/>
          <p:cNvSpPr>
            <a:spLocks noGrp="1"/>
          </p:cNvSpPr>
          <p:nvPr>
            <p:ph type="body" idx="10"/>
          </p:nvPr>
        </p:nvSpPr>
        <p:spPr>
          <a:xfrm>
            <a:off x="771478" y="2520265"/>
            <a:ext cx="854544" cy="2594000"/>
          </a:xfrm>
          <a:prstGeom prst="rect">
            <a:avLst/>
          </a:prstGeom>
          <a:noFill/>
          <a:ln w="0" cmpd="sng">
            <a:noFill/>
            <a:prstDash val="solid"/>
          </a:ln>
        </p:spPr>
        <p:txBody>
          <a:bodyPr lIns="0" tIns="260478" rIns="0" bIns="0"/>
          <a:lstStyle>
            <a:lvl1pPr marL="0" marR="0" indent="0" algn="l">
              <a:lnSpc>
                <a:spcPct val="95999"/>
              </a:lnSpc>
              <a:spcAft>
                <a:spcPts val="16250"/>
              </a:spcAft>
              <a:defRPr/>
            </a:lvl1pPr>
          </a:lstStyle>
          <a:p>
            <a:r>
              <a:rPr lang="fr-FR" dirty="0"/>
              <a:t>&amp;</a:t>
            </a:r>
            <a:r>
              <a:rPr lang="fr-FR" dirty="0" err="1"/>
              <a:t>Iycophorin</a:t>
            </a:r>
            <a:endParaRPr lang="fr-FR" dirty="0"/>
          </a:p>
        </p:txBody>
      </p:sp>
      <p:sp>
        <p:nvSpPr>
          <p:cNvPr id="410" name="Espace réservé du texte 409"/>
          <p:cNvSpPr>
            <a:spLocks noGrp="1"/>
          </p:cNvSpPr>
          <p:nvPr>
            <p:ph type="body" idx="10"/>
          </p:nvPr>
        </p:nvSpPr>
        <p:spPr>
          <a:xfrm>
            <a:off x="4753197" y="3417767"/>
            <a:ext cx="634122" cy="957413"/>
          </a:xfrm>
          <a:prstGeom prst="rect">
            <a:avLst/>
          </a:prstGeom>
          <a:noFill/>
          <a:ln w="0" cmpd="sng">
            <a:noFill/>
            <a:prstDash val="solid"/>
          </a:ln>
        </p:spPr>
        <p:txBody>
          <a:bodyPr lIns="0" tIns="0" rIns="0" bIns="0"/>
          <a:lstStyle>
            <a:lvl1pPr marL="80147" marR="0" indent="0" algn="l">
              <a:lnSpc>
                <a:spcPct val="119999"/>
              </a:lnSpc>
              <a:spcBef>
                <a:spcPts val="4418"/>
              </a:spcBef>
              <a:spcAft>
                <a:spcPts val="316"/>
              </a:spcAft>
              <a:defRPr/>
            </a:lvl1pPr>
          </a:lstStyle>
          <a:p>
            <a:r>
              <a:rPr lang="fr-FR" dirty="0"/>
              <a:t>3</a:t>
            </a:r>
          </a:p>
          <a:p>
            <a:r>
              <a:rPr lang="fr-FR" dirty="0"/>
              <a:t>NH2</a:t>
            </a:r>
          </a:p>
        </p:txBody>
      </p:sp>
      <p:sp>
        <p:nvSpPr>
          <p:cNvPr id="411" name="Espace réservé du texte 410"/>
          <p:cNvSpPr>
            <a:spLocks noGrp="1"/>
          </p:cNvSpPr>
          <p:nvPr>
            <p:ph type="body" idx="10"/>
          </p:nvPr>
        </p:nvSpPr>
        <p:spPr>
          <a:xfrm>
            <a:off x="5387318" y="3138378"/>
            <a:ext cx="421300" cy="551290"/>
          </a:xfrm>
          <a:prstGeom prst="rect">
            <a:avLst/>
          </a:prstGeom>
          <a:noFill/>
          <a:ln w="0" cmpd="sng">
            <a:noFill/>
            <a:prstDash val="solid"/>
          </a:ln>
        </p:spPr>
        <p:txBody>
          <a:bodyPr lIns="0" tIns="260478" rIns="0" bIns="0"/>
          <a:lstStyle>
            <a:lvl1pPr marL="0" marR="0" indent="0" algn="ctr">
              <a:lnSpc>
                <a:spcPct val="77759"/>
              </a:lnSpc>
              <a:spcAft>
                <a:spcPts val="789"/>
              </a:spcAft>
              <a:defRPr/>
            </a:lvl1pPr>
          </a:lstStyle>
          <a:p>
            <a:r>
              <a:rPr lang="fr-FR" dirty="0"/>
              <a:t>4 5</a:t>
            </a:r>
          </a:p>
        </p:txBody>
      </p:sp>
      <p:sp>
        <p:nvSpPr>
          <p:cNvPr id="412" name="Espace réservé du texte 411"/>
          <p:cNvSpPr>
            <a:spLocks noGrp="1"/>
          </p:cNvSpPr>
          <p:nvPr>
            <p:ph type="body" idx="10"/>
          </p:nvPr>
        </p:nvSpPr>
        <p:spPr>
          <a:xfrm>
            <a:off x="5808618" y="2875694"/>
            <a:ext cx="904492" cy="1703987"/>
          </a:xfrm>
          <a:prstGeom prst="rect">
            <a:avLst/>
          </a:prstGeom>
          <a:noFill/>
          <a:ln w="0" cmpd="sng">
            <a:noFill/>
            <a:prstDash val="solid"/>
          </a:ln>
        </p:spPr>
        <p:txBody>
          <a:bodyPr lIns="0" tIns="160294" rIns="0" bIns="0"/>
          <a:lstStyle>
            <a:lvl1pPr marL="0" marR="0" indent="0" algn="ctr">
              <a:lnSpc>
                <a:spcPts val="4295"/>
              </a:lnSpc>
              <a:spcAft>
                <a:spcPts val="2367"/>
              </a:spcAft>
              <a:defRPr/>
            </a:lvl1pPr>
          </a:lstStyle>
          <a:p>
            <a:r>
              <a:rPr lang="fr-FR" dirty="0"/>
              <a:t>6 7 8 9 10 11</a:t>
            </a:r>
            <a:br/>
            <a:r>
              <a:rPr lang="fr-FR" dirty="0"/>
              <a:t>IC3 IC4</a:t>
            </a:r>
          </a:p>
        </p:txBody>
      </p:sp>
      <p:sp>
        <p:nvSpPr>
          <p:cNvPr id="415" name="Espace réservé du texte 414"/>
          <p:cNvSpPr>
            <a:spLocks noGrp="1"/>
          </p:cNvSpPr>
          <p:nvPr>
            <p:ph type="body" idx="10"/>
          </p:nvPr>
        </p:nvSpPr>
        <p:spPr>
          <a:xfrm>
            <a:off x="7810336" y="2875694"/>
            <a:ext cx="390897" cy="690697"/>
          </a:xfrm>
          <a:prstGeom prst="rect">
            <a:avLst/>
          </a:prstGeom>
          <a:noFill/>
          <a:ln w="0" cmpd="sng">
            <a:noFill/>
            <a:prstDash val="solid"/>
          </a:ln>
        </p:spPr>
        <p:txBody>
          <a:bodyPr lIns="0" tIns="80147" rIns="0" bIns="0"/>
          <a:lstStyle>
            <a:lvl1pPr marL="0" marR="0" indent="0" algn="ctr">
              <a:lnSpc>
                <a:spcPct val="191999"/>
              </a:lnSpc>
              <a:spcAft>
                <a:spcPts val="0"/>
              </a:spcAft>
              <a:defRPr/>
            </a:lvl1pPr>
          </a:lstStyle>
          <a:p>
            <a:r>
              <a:rPr lang="fr-FR" dirty="0"/>
              <a:t>out</a:t>
            </a:r>
            <a:br/>
            <a:r>
              <a:rPr lang="fr-FR" dirty="0" err="1"/>
              <a:t>mem</a:t>
            </a:r>
            <a:endParaRPr lang="fr-FR" dirty="0"/>
          </a:p>
        </p:txBody>
      </p:sp>
    </p:spTree>
    <p:extLst>
      <p:ext uri="{BB962C8B-B14F-4D97-AF65-F5344CB8AC3E}">
        <p14:creationId xmlns:p14="http://schemas.microsoft.com/office/powerpoint/2010/main" val="199798932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79_1_">
    <p:bg>
      <p:bgPr>
        <a:solidFill>
          <a:schemeClr val="bg1">
            <a:alpha val="0"/>
          </a:schemeClr>
        </a:solidFill>
        <a:effectLst/>
      </p:bgPr>
    </p:bg>
    <p:spTree>
      <p:nvGrpSpPr>
        <p:cNvPr id="1" name=""/>
        <p:cNvGrpSpPr/>
        <p:nvPr/>
      </p:nvGrpSpPr>
      <p:grpSpPr>
        <a:xfrm>
          <a:off x="0" y="0"/>
          <a:ext cx="0" cy="0"/>
          <a:chOff x="0" y="0"/>
          <a:chExt cx="0" cy="0"/>
        </a:xfrm>
      </p:grpSpPr>
      <p:sp>
        <p:nvSpPr>
          <p:cNvPr id="449" name="Espace réservé du texte 448"/>
          <p:cNvSpPr>
            <a:spLocks noGrp="1"/>
          </p:cNvSpPr>
          <p:nvPr>
            <p:ph type="body" idx="10"/>
          </p:nvPr>
        </p:nvSpPr>
        <p:spPr>
          <a:xfrm>
            <a:off x="1014160" y="5953009"/>
            <a:ext cx="7089348" cy="306464"/>
          </a:xfrm>
          <a:prstGeom prst="rect">
            <a:avLst/>
          </a:prstGeom>
          <a:noFill/>
          <a:ln w="28575" cmpd="sng">
            <a:solidFill>
              <a:srgbClr val="807E4C"/>
            </a:solidFill>
            <a:prstDash val="solid"/>
          </a:ln>
        </p:spPr>
        <p:txBody>
          <a:bodyPr lIns="0" tIns="0" rIns="0" bIns="0"/>
          <a:lstStyle>
            <a:lvl1pPr marL="0" marR="0" indent="0" algn="r">
              <a:lnSpc>
                <a:spcPts val="1928"/>
              </a:lnSpc>
              <a:spcAft>
                <a:spcPts val="0"/>
              </a:spcAft>
              <a:defRPr/>
            </a:lvl1pPr>
          </a:lstStyle>
          <a:p>
            <a:r>
              <a:rPr lang="fr-FR" dirty="0"/>
              <a:t>Expérience démontrant la mobilité des protéines membranaire</a:t>
            </a:r>
          </a:p>
        </p:txBody>
      </p:sp>
      <p:sp>
        <p:nvSpPr>
          <p:cNvPr id="452" name="Espace réservé du texte 451"/>
          <p:cNvSpPr>
            <a:spLocks noGrp="1"/>
          </p:cNvSpPr>
          <p:nvPr>
            <p:ph type="body" idx="10"/>
          </p:nvPr>
        </p:nvSpPr>
        <p:spPr>
          <a:xfrm>
            <a:off x="1042392" y="573180"/>
            <a:ext cx="7072518" cy="1538658"/>
          </a:xfrm>
          <a:prstGeom prst="rect">
            <a:avLst/>
          </a:prstGeom>
          <a:noFill/>
          <a:ln w="0" cmpd="sng">
            <a:noFill/>
            <a:prstDash val="solid"/>
          </a:ln>
        </p:spPr>
        <p:txBody>
          <a:bodyPr lIns="0" tIns="0" rIns="0" bIns="0"/>
          <a:lstStyle>
            <a:lvl1pPr marL="0" marR="0" indent="0" algn="ctr">
              <a:lnSpc>
                <a:spcPct val="95999"/>
              </a:lnSpc>
              <a:spcAft>
                <a:spcPts val="7415"/>
              </a:spcAft>
              <a:defRPr/>
            </a:lvl1pPr>
          </a:lstStyle>
          <a:p>
            <a:r>
              <a:rPr lang="fr-FR" dirty="0"/>
              <a:t>Les glucides membranaires</a:t>
            </a:r>
          </a:p>
        </p:txBody>
      </p:sp>
      <p:sp>
        <p:nvSpPr>
          <p:cNvPr id="453" name="Espace réservé du texte 452"/>
          <p:cNvSpPr>
            <a:spLocks noGrp="1"/>
          </p:cNvSpPr>
          <p:nvPr>
            <p:ph type="body" idx="10"/>
          </p:nvPr>
        </p:nvSpPr>
        <p:spPr>
          <a:xfrm>
            <a:off x="1140116" y="2111838"/>
            <a:ext cx="7343974" cy="1255812"/>
          </a:xfrm>
          <a:prstGeom prst="rect">
            <a:avLst/>
          </a:prstGeom>
          <a:noFill/>
          <a:ln w="0" cmpd="sng">
            <a:noFill/>
            <a:prstDash val="solid"/>
          </a:ln>
        </p:spPr>
        <p:txBody>
          <a:bodyPr lIns="0" tIns="0" rIns="0" bIns="0"/>
          <a:lstStyle>
            <a:lvl1pPr marL="0" marR="0" indent="360662" algn="l">
              <a:lnSpc>
                <a:spcPct val="95999"/>
              </a:lnSpc>
              <a:spcBef>
                <a:spcPts val="789"/>
              </a:spcBef>
              <a:spcAft>
                <a:spcPts val="1578"/>
              </a:spcAft>
              <a:buFont typeface="Symbol"/>
              <a:buChar char="·"/>
              <a:defRPr/>
            </a:lvl1pPr>
          </a:lstStyle>
          <a:p>
            <a:r>
              <a:rPr lang="fr-FR" dirty="0"/>
              <a:t>Liés aux lipides et aux protéines membranaires</a:t>
            </a:r>
          </a:p>
          <a:p>
            <a:r>
              <a:rPr lang="fr-FR" dirty="0"/>
              <a:t>Exposés à l'extérieur de la cellule</a:t>
            </a:r>
          </a:p>
        </p:txBody>
      </p:sp>
      <p:sp>
        <p:nvSpPr>
          <p:cNvPr id="454" name="Espace réservé du texte 453"/>
          <p:cNvSpPr>
            <a:spLocks noGrp="1"/>
          </p:cNvSpPr>
          <p:nvPr>
            <p:ph type="body" idx="10"/>
          </p:nvPr>
        </p:nvSpPr>
        <p:spPr>
          <a:xfrm>
            <a:off x="4795001" y="5488705"/>
            <a:ext cx="3937200" cy="875036"/>
          </a:xfrm>
          <a:prstGeom prst="rect">
            <a:avLst/>
          </a:prstGeom>
          <a:noFill/>
          <a:ln w="0" cmpd="sng">
            <a:noFill/>
            <a:prstDash val="solid"/>
          </a:ln>
        </p:spPr>
        <p:txBody>
          <a:bodyPr lIns="0" tIns="0" rIns="0" bIns="0"/>
          <a:lstStyle>
            <a:lvl1pPr marL="601104" marR="641177" indent="0" algn="l">
              <a:lnSpc>
                <a:spcPct val="95999"/>
              </a:lnSpc>
              <a:spcBef>
                <a:spcPts val="947"/>
              </a:spcBef>
              <a:spcAft>
                <a:spcPts val="473"/>
              </a:spcAft>
              <a:defRPr/>
            </a:lvl1pPr>
          </a:lstStyle>
          <a:p>
            <a:r>
              <a:rPr lang="fr-FR" dirty="0"/>
              <a:t>200 r-</a:t>
            </a:r>
            <a:r>
              <a:rPr lang="fr-FR" dirty="0" err="1"/>
              <a:t>Irvi</a:t>
            </a:r>
            <a:endParaRPr lang="fr-FR" dirty="0"/>
          </a:p>
          <a:p>
            <a:r>
              <a:rPr lang="fr-FR" dirty="0"/>
              <a:t>Figure 10-44, </a:t>
            </a:r>
            <a:r>
              <a:rPr lang="fr-FR" dirty="0" err="1"/>
              <a:t>McLecular</a:t>
            </a:r>
            <a:r>
              <a:rPr lang="fr-FR" dirty="0"/>
              <a:t> </a:t>
            </a:r>
            <a:r>
              <a:rPr lang="fr-FR" dirty="0" err="1"/>
              <a:t>Siclogy</a:t>
            </a:r>
            <a:r>
              <a:rPr lang="fr-FR" dirty="0"/>
              <a:t> of the </a:t>
            </a:r>
            <a:r>
              <a:rPr lang="fr-FR" dirty="0" err="1"/>
              <a:t>Cell</a:t>
            </a:r>
            <a:r>
              <a:rPr lang="fr-FR" dirty="0"/>
              <a:t>, 4th Edition.</a:t>
            </a:r>
          </a:p>
          <a:p>
            <a:r>
              <a:rPr lang="fr-FR" dirty="0"/>
              <a:t>La </a:t>
            </a:r>
            <a:r>
              <a:rPr lang="fr-FR" dirty="0" err="1"/>
              <a:t>glycocalyx</a:t>
            </a:r>
            <a:r>
              <a:rPr lang="fr-FR" dirty="0"/>
              <a:t> vue en microscopie électronique</a:t>
            </a:r>
          </a:p>
        </p:txBody>
      </p:sp>
      <p:sp>
        <p:nvSpPr>
          <p:cNvPr id="455" name="Espace réservé du texte 454"/>
          <p:cNvSpPr>
            <a:spLocks noGrp="1"/>
          </p:cNvSpPr>
          <p:nvPr>
            <p:ph type="body" idx="10"/>
          </p:nvPr>
        </p:nvSpPr>
        <p:spPr>
          <a:xfrm>
            <a:off x="526625" y="3367650"/>
            <a:ext cx="638465" cy="1866436"/>
          </a:xfrm>
          <a:prstGeom prst="rect">
            <a:avLst/>
          </a:prstGeom>
          <a:noFill/>
          <a:ln w="0" cmpd="sng">
            <a:noFill/>
            <a:prstDash val="solid"/>
          </a:ln>
        </p:spPr>
        <p:txBody>
          <a:bodyPr lIns="0" tIns="1302391" rIns="0" bIns="0"/>
          <a:lstStyle>
            <a:lvl1pPr marL="0" marR="0" indent="0" algn="r">
              <a:lnSpc>
                <a:spcPct val="95999"/>
              </a:lnSpc>
              <a:spcAft>
                <a:spcPts val="2051"/>
              </a:spcAft>
              <a:defRPr/>
            </a:lvl1pPr>
          </a:lstStyle>
          <a:p>
            <a:r>
              <a:rPr lang="fr-FR" dirty="0" err="1"/>
              <a:t>glycolip</a:t>
            </a:r>
            <a:endParaRPr lang="fr-FR" dirty="0"/>
          </a:p>
        </p:txBody>
      </p:sp>
      <p:sp>
        <p:nvSpPr>
          <p:cNvPr id="456" name="Espace réservé du texte 455"/>
          <p:cNvSpPr>
            <a:spLocks noGrp="1"/>
          </p:cNvSpPr>
          <p:nvPr>
            <p:ph type="body" idx="10"/>
          </p:nvPr>
        </p:nvSpPr>
        <p:spPr>
          <a:xfrm>
            <a:off x="526625" y="5234086"/>
            <a:ext cx="1052707" cy="718923"/>
          </a:xfrm>
          <a:prstGeom prst="rect">
            <a:avLst/>
          </a:prstGeom>
          <a:noFill/>
          <a:ln w="0" cmpd="sng">
            <a:noFill/>
            <a:prstDash val="solid"/>
          </a:ln>
        </p:spPr>
        <p:txBody>
          <a:bodyPr lIns="0" tIns="0" rIns="0" bIns="0"/>
          <a:lstStyle>
            <a:lvl1pPr marL="0" marR="0" indent="0" algn="l">
              <a:lnSpc>
                <a:spcPct val="95999"/>
              </a:lnSpc>
              <a:spcAft>
                <a:spcPts val="3471"/>
              </a:spcAft>
              <a:defRPr/>
            </a:lvl1pPr>
          </a:lstStyle>
          <a:p>
            <a:r>
              <a:rPr lang="fr-FR" dirty="0" err="1"/>
              <a:t>glycoprot</a:t>
            </a:r>
            <a:r>
              <a:rPr lang="fr-FR" dirty="0"/>
              <a:t> </a:t>
            </a:r>
            <a:r>
              <a:rPr lang="fr-FR" dirty="0" err="1"/>
              <a:t>éine</a:t>
            </a:r>
            <a:endParaRPr lang="fr-FR" dirty="0"/>
          </a:p>
        </p:txBody>
      </p:sp>
      <p:sp>
        <p:nvSpPr>
          <p:cNvPr id="459" name="Espace réservé du texte 458"/>
          <p:cNvSpPr>
            <a:spLocks noGrp="1"/>
          </p:cNvSpPr>
          <p:nvPr>
            <p:ph type="body" idx="10"/>
          </p:nvPr>
        </p:nvSpPr>
        <p:spPr>
          <a:xfrm>
            <a:off x="5970407" y="3367650"/>
            <a:ext cx="362122" cy="113484"/>
          </a:xfrm>
          <a:prstGeom prst="rect">
            <a:avLst/>
          </a:prstGeom>
          <a:solidFill>
            <a:srgbClr val="FFFFFF"/>
          </a:solidFill>
          <a:ln w="0" cmpd="sng">
            <a:noFill/>
            <a:prstDash val="solid"/>
          </a:ln>
        </p:spPr>
        <p:txBody>
          <a:bodyPr lIns="0" tIns="0" rIns="0" bIns="0"/>
          <a:lstStyle>
            <a:lvl1pPr marL="0" marR="0" indent="0" algn="l">
              <a:lnSpc>
                <a:spcPts val="964"/>
              </a:lnSpc>
              <a:spcAft>
                <a:spcPts val="0"/>
              </a:spcAft>
              <a:defRPr/>
            </a:lvl1pPr>
          </a:lstStyle>
          <a:p>
            <a:r>
              <a:rPr lang="fr-FR" dirty="0"/>
              <a:t>cytosol</a:t>
            </a:r>
          </a:p>
        </p:txBody>
      </p:sp>
    </p:spTree>
    <p:extLst>
      <p:ext uri="{BB962C8B-B14F-4D97-AF65-F5344CB8AC3E}">
        <p14:creationId xmlns:p14="http://schemas.microsoft.com/office/powerpoint/2010/main" val="45898884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46_1_">
    <p:bg>
      <p:bgPr>
        <a:solidFill>
          <a:schemeClr val="bg1">
            <a:alpha val="0"/>
          </a:schemeClr>
        </a:solidFill>
        <a:effectLst/>
      </p:bgPr>
    </p:bg>
    <p:spTree>
      <p:nvGrpSpPr>
        <p:cNvPr id="1" name=""/>
        <p:cNvGrpSpPr/>
        <p:nvPr/>
      </p:nvGrpSpPr>
      <p:grpSpPr>
        <a:xfrm>
          <a:off x="0" y="0"/>
          <a:ext cx="0" cy="0"/>
          <a:chOff x="0" y="0"/>
          <a:chExt cx="0" cy="0"/>
        </a:xfrm>
      </p:grpSpPr>
      <p:sp>
        <p:nvSpPr>
          <p:cNvPr id="129" name="Espace réservé du texte 128"/>
          <p:cNvSpPr>
            <a:spLocks noGrp="1"/>
          </p:cNvSpPr>
          <p:nvPr>
            <p:ph type="body" idx="10"/>
          </p:nvPr>
        </p:nvSpPr>
        <p:spPr>
          <a:xfrm>
            <a:off x="723265" y="266065"/>
            <a:ext cx="7423785" cy="573405"/>
          </a:xfrm>
          <a:prstGeom prst="rect">
            <a:avLst/>
          </a:prstGeom>
          <a:noFill/>
          <a:ln w="19685" cmpd="sng">
            <a:solidFill>
              <a:srgbClr val="40E2BD"/>
            </a:solidFill>
            <a:prstDash val="solid"/>
          </a:ln>
        </p:spPr>
        <p:txBody>
          <a:bodyPr lIns="0" tIns="91440" rIns="0" bIns="0"/>
          <a:lstStyle/>
          <a:p>
            <a:r>
              <a:rPr lang="fr-FR"/>
              <a:t>Protéines membranaires</a:t>
            </a:r>
          </a:p>
        </p:txBody>
      </p:sp>
      <p:sp>
        <p:nvSpPr>
          <p:cNvPr id="130" name="Espace réservé du texte 129"/>
          <p:cNvSpPr>
            <a:spLocks noGrp="1"/>
          </p:cNvSpPr>
          <p:nvPr>
            <p:ph type="body" idx="10"/>
          </p:nvPr>
        </p:nvSpPr>
        <p:spPr>
          <a:xfrm>
            <a:off x="723265" y="266065"/>
            <a:ext cx="7423785" cy="573405"/>
          </a:xfrm>
          <a:prstGeom prst="rect">
            <a:avLst/>
          </a:prstGeom>
          <a:noFill/>
          <a:ln w="19685" cmpd="sng">
            <a:solidFill>
              <a:srgbClr val="40E2BD"/>
            </a:solidFill>
            <a:prstDash val="solid"/>
          </a:ln>
        </p:spPr>
        <p:txBody>
          <a:bodyPr lIns="0" tIns="91440" rIns="0" bIns="0"/>
          <a:lstStyle/>
          <a:p>
            <a:r>
              <a:rPr lang="fr-FR"/>
              <a:t>Protéines membranaires</a:t>
            </a:r>
          </a:p>
        </p:txBody>
      </p:sp>
      <p:sp>
        <p:nvSpPr>
          <p:cNvPr id="131" name="Espace réservé du texte 130"/>
          <p:cNvSpPr>
            <a:spLocks noGrp="1"/>
          </p:cNvSpPr>
          <p:nvPr>
            <p:ph type="body" idx="10"/>
          </p:nvPr>
        </p:nvSpPr>
        <p:spPr>
          <a:xfrm>
            <a:off x="395605" y="1106170"/>
            <a:ext cx="7429500" cy="2258695"/>
          </a:xfrm>
          <a:prstGeom prst="rect">
            <a:avLst/>
          </a:prstGeom>
          <a:noFill/>
          <a:ln w="0" cmpd="sng">
            <a:noFill/>
            <a:prstDash val="solid"/>
          </a:ln>
        </p:spPr>
        <p:txBody>
          <a:bodyPr lIns="0" tIns="0" rIns="0" bIns="0"/>
          <a:lstStyle/>
          <a:p>
            <a:r>
              <a:rPr lang="fr-FR"/>
              <a:t>• Protéines:</a:t>
            </a:r>
          </a:p>
          <a:p>
            <a:r>
              <a:rPr lang="fr-FR"/>
              <a:t>– Intrinsèque:</a:t>
            </a:r>
          </a:p>
          <a:p>
            <a:r>
              <a:rPr lang="fr-FR"/>
              <a:t>– Contact direct avec les lipides: intégrée ou transmembranaire (70%)</a:t>
            </a:r>
          </a:p>
          <a:p>
            <a:r>
              <a:rPr lang="fr-FR"/>
              <a:t>4 Ancrage par la protéine</a:t>
            </a:r>
          </a:p>
          <a:p>
            <a:r>
              <a:rPr lang="fr-FR"/>
              <a:t>Protéines transmembranaires (intrinsèques)</a:t>
            </a:r>
          </a:p>
        </p:txBody>
      </p:sp>
      <p:sp>
        <p:nvSpPr>
          <p:cNvPr id="132" name="Espace réservé du texte 131"/>
          <p:cNvSpPr>
            <a:spLocks noGrp="1"/>
          </p:cNvSpPr>
          <p:nvPr>
            <p:ph type="body" idx="10"/>
          </p:nvPr>
        </p:nvSpPr>
        <p:spPr>
          <a:xfrm>
            <a:off x="395605" y="6122035"/>
            <a:ext cx="7429500" cy="370840"/>
          </a:xfrm>
          <a:prstGeom prst="rect">
            <a:avLst/>
          </a:prstGeom>
          <a:noFill/>
          <a:ln w="0" cmpd="sng">
            <a:noFill/>
            <a:prstDash val="solid"/>
          </a:ln>
        </p:spPr>
        <p:txBody>
          <a:bodyPr lIns="0" tIns="0" rIns="0" bIns="0"/>
          <a:lstStyle/>
          <a:p>
            <a:r>
              <a:rPr lang="fr-FR"/>
              <a:t>Plusieurs passages (hélice</a:t>
            </a:r>
          </a:p>
        </p:txBody>
      </p:sp>
      <p:sp>
        <p:nvSpPr>
          <p:cNvPr id="135" name="Espace réservé du texte 134"/>
          <p:cNvSpPr>
            <a:spLocks noGrp="1"/>
          </p:cNvSpPr>
          <p:nvPr>
            <p:ph type="body" idx="10"/>
          </p:nvPr>
        </p:nvSpPr>
        <p:spPr>
          <a:xfrm>
            <a:off x="6129655" y="3462655"/>
            <a:ext cx="481330" cy="127635"/>
          </a:xfrm>
          <a:prstGeom prst="rect">
            <a:avLst/>
          </a:prstGeom>
          <a:noFill/>
          <a:ln w="0" cmpd="sng">
            <a:noFill/>
            <a:prstDash val="solid"/>
          </a:ln>
        </p:spPr>
        <p:txBody>
          <a:bodyPr lIns="0" tIns="0" rIns="0" bIns="0"/>
          <a:lstStyle/>
          <a:p>
            <a:r>
              <a:rPr lang="fr-FR"/>
              <a:t>Boucle</a:t>
            </a:r>
          </a:p>
        </p:txBody>
      </p:sp>
      <p:sp>
        <p:nvSpPr>
          <p:cNvPr id="136" name="Espace réservé du texte 135"/>
          <p:cNvSpPr>
            <a:spLocks noGrp="1"/>
          </p:cNvSpPr>
          <p:nvPr>
            <p:ph type="body" idx="10"/>
          </p:nvPr>
        </p:nvSpPr>
        <p:spPr>
          <a:xfrm>
            <a:off x="1459865" y="4166870"/>
            <a:ext cx="512445" cy="127635"/>
          </a:xfrm>
          <a:prstGeom prst="rect">
            <a:avLst/>
          </a:prstGeom>
          <a:noFill/>
          <a:ln w="0" cmpd="sng">
            <a:noFill/>
            <a:prstDash val="solid"/>
          </a:ln>
        </p:spPr>
        <p:txBody>
          <a:bodyPr lIns="0" tIns="0" rIns="0" bIns="0"/>
          <a:lstStyle/>
          <a:p>
            <a:r>
              <a:rPr lang="fr-FR"/>
              <a:t>Hélices</a:t>
            </a:r>
          </a:p>
        </p:txBody>
      </p:sp>
      <p:sp>
        <p:nvSpPr>
          <p:cNvPr id="137" name="Espace réservé du texte 136"/>
          <p:cNvSpPr>
            <a:spLocks noGrp="1"/>
          </p:cNvSpPr>
          <p:nvPr>
            <p:ph type="body" idx="10"/>
          </p:nvPr>
        </p:nvSpPr>
        <p:spPr>
          <a:xfrm>
            <a:off x="1371600" y="5736590"/>
            <a:ext cx="1743710" cy="203835"/>
          </a:xfrm>
          <a:prstGeom prst="rect">
            <a:avLst/>
          </a:prstGeom>
          <a:noFill/>
          <a:ln w="0" cmpd="sng">
            <a:noFill/>
            <a:prstDash val="solid"/>
          </a:ln>
        </p:spPr>
        <p:txBody>
          <a:bodyPr lIns="0" tIns="0" rIns="0" bIns="0"/>
          <a:lstStyle/>
          <a:p>
            <a:r>
              <a:rPr lang="fr-FR"/>
              <a:t>Un passage (hélice</a:t>
            </a:r>
          </a:p>
        </p:txBody>
      </p:sp>
      <p:sp>
        <p:nvSpPr>
          <p:cNvPr id="138" name="Espace réservé du texte 137"/>
          <p:cNvSpPr>
            <a:spLocks noGrp="1"/>
          </p:cNvSpPr>
          <p:nvPr>
            <p:ph type="body" idx="10"/>
          </p:nvPr>
        </p:nvSpPr>
        <p:spPr>
          <a:xfrm>
            <a:off x="4206240" y="5727065"/>
            <a:ext cx="511810" cy="128270"/>
          </a:xfrm>
          <a:prstGeom prst="rect">
            <a:avLst/>
          </a:prstGeom>
          <a:noFill/>
          <a:ln w="0" cmpd="sng">
            <a:noFill/>
            <a:prstDash val="solid"/>
          </a:ln>
        </p:spPr>
        <p:txBody>
          <a:bodyPr lIns="0" tIns="0" rIns="0" bIns="0"/>
          <a:lstStyle/>
          <a:p>
            <a:r>
              <a:rPr lang="fr-FR"/>
              <a:t>Hélices</a:t>
            </a:r>
          </a:p>
        </p:txBody>
      </p:sp>
    </p:spTree>
    <p:extLst>
      <p:ext uri="{BB962C8B-B14F-4D97-AF65-F5344CB8AC3E}">
        <p14:creationId xmlns:p14="http://schemas.microsoft.com/office/powerpoint/2010/main" val="10768346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a:t>Cliquez pour modifier le style du titre</a:t>
            </a:r>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1FD51DC-AD46-448C-9C09-4D20EA0D5011}" type="datetimeFigureOut">
              <a:rPr lang="fr-FR" smtClean="0"/>
              <a:pPr/>
              <a:t>06/12/2025</a:t>
            </a:fld>
            <a:endParaRPr lang="fr-F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5BCB550-BEFC-42E7-99EE-BCC6B6A3AB43}" type="slidenum">
              <a:rPr lang="fr-FR" smtClean="0"/>
              <a:pPr/>
              <a:t>‹N°›</a:t>
            </a:fld>
            <a:endParaRPr lang="fr-F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6" r:id="rId12"/>
    <p:sldLayoutId id="2147483675" r:id="rId13"/>
    <p:sldLayoutId id="2147483676" r:id="rId14"/>
    <p:sldLayoutId id="2147483678" r:id="rId15"/>
    <p:sldLayoutId id="2147483679" r:id="rId16"/>
    <p:sldLayoutId id="2147483690" r:id="rId17"/>
    <p:sldLayoutId id="2147483692" r:id="rId18"/>
    <p:sldLayoutId id="2147483699" r:id="rId19"/>
    <p:sldLayoutId id="2147483700" r:id="rId20"/>
    <p:sldLayoutId id="2147483701" r:id="rId2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hyperlink" Target="https://www.aquaportail.com/pictures1305/spectrine.jpg" TargetMode="Externa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9.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0.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1.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jpeg"/><Relationship Id="rId4" Type="http://schemas.openxmlformats.org/officeDocument/2006/relationships/image" Target="../media/image24.png"/></Relationships>
</file>

<file path=ppt/slides/_rels/slide23.x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28.png"/></Relationships>
</file>

<file path=ppt/slides/_rels/slide2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6.xml"/></Relationships>
</file>

<file path=ppt/slides/_rels/slide34.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image" Target="../media/image35.png"/><Relationship Id="rId1" Type="http://schemas.openxmlformats.org/officeDocument/2006/relationships/slideLayout" Target="../slideLayouts/slideLayout16.xml"/></Relationships>
</file>

<file path=ppt/slides/_rels/slide35.xml.rels><?xml version="1.0" encoding="UTF-8" standalone="yes"?>
<Relationships xmlns="http://schemas.openxmlformats.org/package/2006/relationships"><Relationship Id="rId2" Type="http://schemas.openxmlformats.org/officeDocument/2006/relationships/image" Target="../media/image37.gif"/><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p:cNvSpPr>
            <a:spLocks noGrp="1"/>
          </p:cNvSpPr>
          <p:nvPr>
            <p:ph type="subTitle" idx="1"/>
          </p:nvPr>
        </p:nvSpPr>
        <p:spPr>
          <a:xfrm>
            <a:off x="467544" y="116631"/>
            <a:ext cx="8215370" cy="2082327"/>
          </a:xfrm>
          <a:ln w="38100">
            <a:solidFill>
              <a:schemeClr val="tx1"/>
            </a:solidFill>
          </a:ln>
        </p:spPr>
        <p:txBody>
          <a:bodyPr>
            <a:noAutofit/>
          </a:bodyPr>
          <a:lstStyle/>
          <a:p>
            <a:r>
              <a:rPr lang="fr-FR" sz="1800" dirty="0">
                <a:solidFill>
                  <a:schemeClr val="tx1"/>
                </a:solidFill>
                <a:latin typeface="Century Schoolbook" pitchFamily="18" charset="0"/>
              </a:rPr>
              <a:t>                                                                                                 </a:t>
            </a:r>
          </a:p>
        </p:txBody>
      </p:sp>
      <p:pic>
        <p:nvPicPr>
          <p:cNvPr id="2" name="Imag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35696" y="2787230"/>
            <a:ext cx="7105650" cy="3867150"/>
          </a:xfrm>
          <a:prstGeom prst="rect">
            <a:avLst/>
          </a:prstGeom>
        </p:spPr>
      </p:pic>
      <p:sp>
        <p:nvSpPr>
          <p:cNvPr id="4" name="ZoneTexte 3"/>
          <p:cNvSpPr txBox="1"/>
          <p:nvPr/>
        </p:nvSpPr>
        <p:spPr>
          <a:xfrm>
            <a:off x="-180528" y="6429893"/>
            <a:ext cx="2670754" cy="400110"/>
          </a:xfrm>
          <a:prstGeom prst="rect">
            <a:avLst/>
          </a:prstGeom>
          <a:noFill/>
        </p:spPr>
        <p:txBody>
          <a:bodyPr wrap="square" rtlCol="0">
            <a:spAutoFit/>
          </a:bodyPr>
          <a:lstStyle/>
          <a:p>
            <a:r>
              <a:rPr lang="fr-FR" sz="2000" dirty="0">
                <a:latin typeface="Century Schoolbook" pitchFamily="18" charset="0"/>
              </a:rPr>
              <a:t>    </a:t>
            </a:r>
            <a:r>
              <a:rPr lang="fr-FR" dirty="0">
                <a:latin typeface="Century Schoolbook" pitchFamily="18" charset="0"/>
              </a:rPr>
              <a:t>Dr. AOUATI Amel</a:t>
            </a:r>
            <a:endParaRPr lang="fr-FR" dirty="0"/>
          </a:p>
        </p:txBody>
      </p:sp>
      <p:sp>
        <p:nvSpPr>
          <p:cNvPr id="6" name="Rectangle 5"/>
          <p:cNvSpPr/>
          <p:nvPr/>
        </p:nvSpPr>
        <p:spPr>
          <a:xfrm>
            <a:off x="548252" y="110434"/>
            <a:ext cx="8134662" cy="2000548"/>
          </a:xfrm>
          <a:prstGeom prst="rect">
            <a:avLst/>
          </a:prstGeom>
        </p:spPr>
        <p:txBody>
          <a:bodyPr wrap="square">
            <a:spAutoFit/>
          </a:bodyPr>
          <a:lstStyle/>
          <a:p>
            <a:r>
              <a:rPr lang="fr-FR" sz="4400" b="1" dirty="0">
                <a:latin typeface="Century Schoolbook" panose="02040604050505020304" pitchFamily="18" charset="0"/>
              </a:rPr>
              <a:t>The plasma membrane</a:t>
            </a:r>
          </a:p>
          <a:p>
            <a:r>
              <a:rPr lang="fr-FR" sz="4000" dirty="0">
                <a:latin typeface="Century Schoolbook" panose="02040604050505020304" pitchFamily="18" charset="0"/>
              </a:rPr>
              <a:t>            </a:t>
            </a:r>
          </a:p>
          <a:p>
            <a:r>
              <a:rPr lang="fr-FR" sz="4000" dirty="0">
                <a:latin typeface="Century Schoolbook" panose="02040604050505020304" pitchFamily="18" charset="0"/>
              </a:rPr>
              <a:t>                Ultra-structural aspect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379" y="2636912"/>
            <a:ext cx="3671802" cy="2123787"/>
          </a:xfrm>
          <a:prstGeom prst="rect">
            <a:avLst/>
          </a:prstGeom>
        </p:spPr>
        <p:txBody>
          <a:bodyPr wrap="square">
            <a:spAutoFit/>
          </a:bodyPr>
          <a:lstStyle/>
          <a:p>
            <a:pPr marL="204788" lvl="0" indent="273050" algn="just" fontAlgn="base">
              <a:lnSpc>
                <a:spcPct val="96000"/>
              </a:lnSpc>
              <a:spcBef>
                <a:spcPts val="3425"/>
              </a:spcBef>
              <a:spcAft>
                <a:spcPct val="0"/>
              </a:spcAft>
              <a:buFont typeface="Symbol" pitchFamily="124" charset="2"/>
              <a:buChar char="·"/>
            </a:pPr>
            <a:r>
              <a:rPr lang="en-US" dirty="0">
                <a:solidFill>
                  <a:srgbClr val="000000"/>
                </a:solidFill>
                <a:latin typeface="Arial" charset="0"/>
              </a:rPr>
              <a:t>Observation of the plasma membrane under a light microscope reveals a thin border surrounding the cell contents.</a:t>
            </a:r>
          </a:p>
          <a:p>
            <a:pPr marL="204788" lvl="0" indent="273050" algn="just" fontAlgn="base">
              <a:lnSpc>
                <a:spcPct val="96000"/>
              </a:lnSpc>
              <a:spcBef>
                <a:spcPts val="3425"/>
              </a:spcBef>
              <a:spcAft>
                <a:spcPct val="0"/>
              </a:spcAft>
              <a:buFont typeface="Symbol" pitchFamily="124" charset="2"/>
              <a:buChar char="·"/>
            </a:pPr>
            <a:r>
              <a:rPr lang="en-US" dirty="0">
                <a:solidFill>
                  <a:srgbClr val="000000"/>
                </a:solidFill>
                <a:latin typeface="Arial" charset="0"/>
              </a:rPr>
              <a:t>Thickness: 7 to 8 nm</a:t>
            </a:r>
            <a:endParaRPr lang="fr-FR" dirty="0">
              <a:solidFill>
                <a:srgbClr val="000000"/>
              </a:solidFill>
              <a:latin typeface="Arial" charset="0"/>
            </a:endParaRPr>
          </a:p>
        </p:txBody>
      </p:sp>
      <p:pic>
        <p:nvPicPr>
          <p:cNvPr id="6" name="Image 5"/>
          <p:cNvPicPr/>
          <p:nvPr/>
        </p:nvPicPr>
        <p:blipFill rotWithShape="1">
          <a:blip r:embed="rId2"/>
          <a:srcRect l="37698" t="21466" r="16004" b="24721"/>
          <a:stretch/>
        </p:blipFill>
        <p:spPr bwMode="auto">
          <a:xfrm>
            <a:off x="4139952" y="1916832"/>
            <a:ext cx="4824535" cy="4608512"/>
          </a:xfrm>
          <a:prstGeom prst="rect">
            <a:avLst/>
          </a:prstGeom>
          <a:ln>
            <a:noFill/>
          </a:ln>
          <a:extLst>
            <a:ext uri="{53640926-AAD7-44D8-BBD7-CCE9431645EC}">
              <a14:shadowObscured xmlns:a14="http://schemas.microsoft.com/office/drawing/2010/main"/>
            </a:ext>
          </a:extLst>
        </p:spPr>
      </p:pic>
      <p:sp>
        <p:nvSpPr>
          <p:cNvPr id="4" name="Rectangle 3"/>
          <p:cNvSpPr/>
          <p:nvPr/>
        </p:nvSpPr>
        <p:spPr>
          <a:xfrm>
            <a:off x="312795" y="548680"/>
            <a:ext cx="6691255" cy="523220"/>
          </a:xfrm>
          <a:prstGeom prst="rect">
            <a:avLst/>
          </a:prstGeom>
        </p:spPr>
        <p:txBody>
          <a:bodyPr wrap="none">
            <a:spAutoFit/>
          </a:bodyPr>
          <a:lstStyle/>
          <a:p>
            <a:r>
              <a:rPr lang="en-US" sz="2800" b="1" dirty="0">
                <a:latin typeface="Century Schoolbook" panose="02040604050505020304" pitchFamily="18" charset="0"/>
              </a:rPr>
              <a:t>Structure of the plasma membrane</a:t>
            </a:r>
            <a:endParaRPr lang="fr-FR" sz="2800" b="1" dirty="0">
              <a:latin typeface="Century Schoolbook" panose="020406040505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jpg"/>
          <p:cNvPicPr>
            <a:picLocks noChangeAspect="1" noChangeArrowheads="1"/>
          </p:cNvPicPr>
          <p:nvPr/>
        </p:nvPicPr>
        <p:blipFill>
          <a:blip r:embed="rId2" cstate="print"/>
          <a:srcRect/>
          <a:stretch>
            <a:fillRect/>
          </a:stretch>
        </p:blipFill>
        <p:spPr bwMode="auto">
          <a:xfrm>
            <a:off x="5580112" y="3140968"/>
            <a:ext cx="3352800" cy="3463231"/>
          </a:xfrm>
          <a:prstGeom prst="rect">
            <a:avLst/>
          </a:prstGeom>
          <a:noFill/>
          <a:ln w="9525">
            <a:noFill/>
            <a:miter lim="800000"/>
            <a:headEnd/>
            <a:tailEnd/>
          </a:ln>
        </p:spPr>
      </p:pic>
      <p:sp>
        <p:nvSpPr>
          <p:cNvPr id="2" name="Rectangle 1"/>
          <p:cNvSpPr/>
          <p:nvPr/>
        </p:nvSpPr>
        <p:spPr>
          <a:xfrm>
            <a:off x="179512" y="476672"/>
            <a:ext cx="4572000" cy="5909310"/>
          </a:xfrm>
          <a:prstGeom prst="rect">
            <a:avLst/>
          </a:prstGeom>
        </p:spPr>
        <p:txBody>
          <a:bodyPr>
            <a:spAutoFit/>
          </a:bodyPr>
          <a:lstStyle/>
          <a:p>
            <a:pPr algn="just"/>
            <a:r>
              <a:rPr lang="en-US" sz="2000" dirty="0">
                <a:latin typeface="Century Schoolbook" panose="02040604050505020304" pitchFamily="18" charset="0"/>
              </a:rPr>
              <a:t>Two techniques are used to study the ultrastructure of the plasma membrane.</a:t>
            </a:r>
          </a:p>
          <a:p>
            <a:pPr algn="just"/>
            <a:endParaRPr lang="en-US" sz="2000" dirty="0">
              <a:latin typeface="Century Schoolbook" panose="02040604050505020304" pitchFamily="18" charset="0"/>
            </a:endParaRPr>
          </a:p>
          <a:p>
            <a:pPr algn="just"/>
            <a:r>
              <a:rPr lang="en-US" sz="2000" b="1" dirty="0">
                <a:latin typeface="Century Schoolbook" panose="02040604050505020304" pitchFamily="18" charset="0"/>
              </a:rPr>
              <a:t>The thin section technique</a:t>
            </a:r>
            <a:r>
              <a:rPr lang="en-US" sz="2000" dirty="0">
                <a:latin typeface="Century Schoolbook" panose="02040604050505020304" pitchFamily="18" charset="0"/>
              </a:rPr>
              <a:t>, after fixation with osmium tetroxide, reveals a </a:t>
            </a:r>
            <a:r>
              <a:rPr lang="en-US" sz="2000" dirty="0" err="1">
                <a:latin typeface="Century Schoolbook" panose="02040604050505020304" pitchFamily="18" charset="0"/>
              </a:rPr>
              <a:t>trilamellar</a:t>
            </a:r>
            <a:r>
              <a:rPr lang="en-US" sz="2000" dirty="0">
                <a:latin typeface="Century Schoolbook" panose="02040604050505020304" pitchFamily="18" charset="0"/>
              </a:rPr>
              <a:t> structure up to 75 Å thick, composed of three layers: two dark layers separated by a light layer. The outer, dense layer appears coated with a thin glycoprotein film.</a:t>
            </a:r>
          </a:p>
          <a:p>
            <a:pPr algn="just"/>
            <a:endParaRPr lang="en-US" sz="2000" dirty="0">
              <a:latin typeface="Century Schoolbook" panose="02040604050505020304" pitchFamily="18" charset="0"/>
            </a:endParaRPr>
          </a:p>
          <a:p>
            <a:pPr algn="just"/>
            <a:r>
              <a:rPr lang="en-US" sz="2000" b="1" dirty="0">
                <a:latin typeface="Century Schoolbook" panose="02040604050505020304" pitchFamily="18" charset="0"/>
              </a:rPr>
              <a:t>The replica technique</a:t>
            </a:r>
            <a:r>
              <a:rPr lang="en-US" sz="2000" dirty="0">
                <a:latin typeface="Century Schoolbook" panose="02040604050505020304" pitchFamily="18" charset="0"/>
              </a:rPr>
              <a:t>, after freeze-fracture, shows the plasma membrane fractured into two </a:t>
            </a:r>
            <a:r>
              <a:rPr lang="en-US" sz="2000" dirty="0" err="1">
                <a:latin typeface="Century Schoolbook" panose="02040604050505020304" pitchFamily="18" charset="0"/>
              </a:rPr>
              <a:t>hemimembranes</a:t>
            </a:r>
            <a:r>
              <a:rPr lang="en-US" sz="2000" dirty="0">
                <a:latin typeface="Century Schoolbook" panose="02040604050505020304" pitchFamily="18" charset="0"/>
              </a:rPr>
              <a:t>: an outer </a:t>
            </a:r>
            <a:r>
              <a:rPr lang="en-US" sz="2000" dirty="0" err="1">
                <a:latin typeface="Century Schoolbook" panose="02040604050505020304" pitchFamily="18" charset="0"/>
              </a:rPr>
              <a:t>exoplasmic</a:t>
            </a:r>
            <a:r>
              <a:rPr lang="en-US" sz="2000" dirty="0">
                <a:latin typeface="Century Schoolbook" panose="02040604050505020304" pitchFamily="18" charset="0"/>
              </a:rPr>
              <a:t> </a:t>
            </a:r>
            <a:r>
              <a:rPr lang="en-US" sz="2000" dirty="0" err="1">
                <a:latin typeface="Century Schoolbook" panose="02040604050505020304" pitchFamily="18" charset="0"/>
              </a:rPr>
              <a:t>hemimembrane</a:t>
            </a:r>
            <a:r>
              <a:rPr lang="en-US" sz="2000" dirty="0">
                <a:latin typeface="Century Schoolbook" panose="02040604050505020304" pitchFamily="18" charset="0"/>
              </a:rPr>
              <a:t> and an inner </a:t>
            </a:r>
            <a:r>
              <a:rPr lang="en-US" sz="2000" dirty="0" err="1">
                <a:latin typeface="Century Schoolbook" panose="02040604050505020304" pitchFamily="18" charset="0"/>
              </a:rPr>
              <a:t>hyaloplasmic</a:t>
            </a:r>
            <a:r>
              <a:rPr lang="en-US" sz="2000" dirty="0">
                <a:latin typeface="Century Schoolbook" panose="02040604050505020304" pitchFamily="18" charset="0"/>
              </a:rPr>
              <a:t> </a:t>
            </a:r>
            <a:r>
              <a:rPr lang="en-US" sz="2000" dirty="0" err="1">
                <a:latin typeface="Century Schoolbook" panose="02040604050505020304" pitchFamily="18" charset="0"/>
              </a:rPr>
              <a:t>hemimembrane</a:t>
            </a:r>
            <a:r>
              <a:rPr lang="en-US" sz="2000" dirty="0">
                <a:latin typeface="Century Schoolbook" panose="02040604050505020304" pitchFamily="18" charset="0"/>
              </a:rPr>
              <a:t>.</a:t>
            </a:r>
          </a:p>
          <a:p>
            <a:pPr algn="just"/>
            <a:endParaRPr lang="en-US" dirty="0"/>
          </a:p>
        </p:txBody>
      </p:sp>
      <p:sp>
        <p:nvSpPr>
          <p:cNvPr id="7" name="Rectangle 6"/>
          <p:cNvSpPr/>
          <p:nvPr/>
        </p:nvSpPr>
        <p:spPr>
          <a:xfrm>
            <a:off x="6065320" y="2706578"/>
            <a:ext cx="2382383" cy="400110"/>
          </a:xfrm>
          <a:prstGeom prst="rect">
            <a:avLst/>
          </a:prstGeom>
        </p:spPr>
        <p:txBody>
          <a:bodyPr wrap="none">
            <a:spAutoFit/>
          </a:bodyPr>
          <a:lstStyle/>
          <a:p>
            <a:r>
              <a:rPr lang="fr-FR" sz="2000" dirty="0">
                <a:solidFill>
                  <a:srgbClr val="FF0000"/>
                </a:solidFill>
                <a:latin typeface="Century Schoolbook" panose="02040604050505020304" pitchFamily="18" charset="0"/>
              </a:rPr>
              <a:t>plasma membrane</a:t>
            </a:r>
          </a:p>
        </p:txBody>
      </p:sp>
    </p:spTree>
    <p:extLst>
      <p:ext uri="{BB962C8B-B14F-4D97-AF65-F5344CB8AC3E}">
        <p14:creationId xmlns:p14="http://schemas.microsoft.com/office/powerpoint/2010/main" val="3726639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6552" y="0"/>
            <a:ext cx="9460196" cy="1384995"/>
          </a:xfrm>
          <a:prstGeom prst="rect">
            <a:avLst/>
          </a:prstGeom>
        </p:spPr>
        <p:txBody>
          <a:bodyPr wrap="square">
            <a:spAutoFit/>
          </a:bodyPr>
          <a:lstStyle/>
          <a:p>
            <a:pPr lvl="1" algn="ctr">
              <a:lnSpc>
                <a:spcPct val="150000"/>
              </a:lnSpc>
              <a:spcAft>
                <a:spcPts val="1000"/>
              </a:spcAft>
            </a:pPr>
            <a:r>
              <a:rPr lang="en-US" sz="2800" b="1" dirty="0">
                <a:latin typeface="Century Schoolbook" panose="02040604050505020304" pitchFamily="18" charset="0"/>
                <a:ea typeface="Calibri" panose="020F0502020204030204" pitchFamily="34" charset="0"/>
                <a:cs typeface="Arial" panose="020B0604020202020204" pitchFamily="34" charset="0"/>
              </a:rPr>
              <a:t>The chemical components of the plasma membrane</a:t>
            </a:r>
            <a:endParaRPr lang="fr-FR" sz="2800" b="1" dirty="0">
              <a:effectLst/>
              <a:latin typeface="Century Schoolbook" panose="02040604050505020304" pitchFamily="18" charset="0"/>
              <a:ea typeface="Calibri" panose="020F0502020204030204" pitchFamily="34" charset="0"/>
              <a:cs typeface="Arial" panose="020B0604020202020204" pitchFamily="34" charset="0"/>
            </a:endParaRPr>
          </a:p>
        </p:txBody>
      </p:sp>
      <p:sp>
        <p:nvSpPr>
          <p:cNvPr id="4" name="Rectangle 3"/>
          <p:cNvSpPr/>
          <p:nvPr/>
        </p:nvSpPr>
        <p:spPr>
          <a:xfrm>
            <a:off x="127261" y="1478986"/>
            <a:ext cx="4572000" cy="5016758"/>
          </a:xfrm>
          <a:prstGeom prst="rect">
            <a:avLst/>
          </a:prstGeom>
        </p:spPr>
        <p:txBody>
          <a:bodyPr>
            <a:spAutoFit/>
          </a:bodyPr>
          <a:lstStyle/>
          <a:p>
            <a:pPr algn="just"/>
            <a:r>
              <a:rPr lang="en-US" sz="2000" dirty="0">
                <a:latin typeface="Century Schoolbook" panose="02040604050505020304" pitchFamily="18" charset="0"/>
              </a:rPr>
              <a:t>Knowledge of the chemical composition of membranes is long-established, while that of their detailed architecture and the function of the various families of molecules that constitute them is relatively recent.</a:t>
            </a:r>
          </a:p>
          <a:p>
            <a:pPr algn="just"/>
            <a:endParaRPr lang="en-US" sz="2000" dirty="0">
              <a:latin typeface="Century Schoolbook" panose="02040604050505020304" pitchFamily="18" charset="0"/>
            </a:endParaRPr>
          </a:p>
          <a:p>
            <a:pPr algn="just"/>
            <a:endParaRPr lang="en-US" sz="2000" dirty="0">
              <a:latin typeface="Century Schoolbook" panose="02040604050505020304" pitchFamily="18" charset="0"/>
            </a:endParaRPr>
          </a:p>
          <a:p>
            <a:pPr algn="just"/>
            <a:r>
              <a:rPr lang="en-US" sz="2000" dirty="0">
                <a:latin typeface="Century Schoolbook" panose="02040604050505020304" pitchFamily="18" charset="0"/>
              </a:rPr>
              <a:t>The development of cell fractionation techniques and the power of analytical methods such as electrophoresis have, in recent years, allowed for a very precise understanding of the functional organization of membranes.</a:t>
            </a:r>
            <a:endParaRPr lang="fr-FR" sz="2000" dirty="0">
              <a:latin typeface="Century Schoolbook" panose="02040604050505020304" pitchFamily="18" charset="0"/>
            </a:endParaRPr>
          </a:p>
        </p:txBody>
      </p:sp>
      <p:pic>
        <p:nvPicPr>
          <p:cNvPr id="3" name="Image 2">
            <a:extLst>
              <a:ext uri="{FF2B5EF4-FFF2-40B4-BE49-F238E27FC236}">
                <a16:creationId xmlns:a16="http://schemas.microsoft.com/office/drawing/2014/main" id="{87E9B39D-EEB2-8E74-19CB-6077DA53D744}"/>
              </a:ext>
            </a:extLst>
          </p:cNvPr>
          <p:cNvPicPr>
            <a:picLocks noChangeAspect="1"/>
          </p:cNvPicPr>
          <p:nvPr/>
        </p:nvPicPr>
        <p:blipFill>
          <a:blip r:embed="rId2"/>
          <a:stretch>
            <a:fillRect/>
          </a:stretch>
        </p:blipFill>
        <p:spPr>
          <a:xfrm>
            <a:off x="4860032" y="2276872"/>
            <a:ext cx="4060288" cy="324036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rotWithShape="1">
          <a:blip r:embed="rId2"/>
          <a:srcRect t="1844" b="12359"/>
          <a:stretch/>
        </p:blipFill>
        <p:spPr>
          <a:xfrm>
            <a:off x="161763" y="260648"/>
            <a:ext cx="8784977" cy="4968552"/>
          </a:xfrm>
          <a:prstGeom prst="rect">
            <a:avLst/>
          </a:prstGeom>
        </p:spPr>
      </p:pic>
      <p:sp>
        <p:nvSpPr>
          <p:cNvPr id="5" name="Rectangle 4"/>
          <p:cNvSpPr/>
          <p:nvPr/>
        </p:nvSpPr>
        <p:spPr>
          <a:xfrm>
            <a:off x="242645" y="5445224"/>
            <a:ext cx="8623212" cy="923330"/>
          </a:xfrm>
          <a:prstGeom prst="rect">
            <a:avLst/>
          </a:prstGeom>
        </p:spPr>
        <p:txBody>
          <a:bodyPr wrap="square">
            <a:spAutoFit/>
          </a:bodyPr>
          <a:lstStyle/>
          <a:p>
            <a:pPr algn="just"/>
            <a:r>
              <a:rPr lang="en-US" dirty="0">
                <a:latin typeface="Century Schoolbook" panose="02040604050505020304" pitchFamily="18" charset="0"/>
              </a:rPr>
              <a:t>The </a:t>
            </a:r>
            <a:r>
              <a:rPr lang="en-US" dirty="0" err="1">
                <a:latin typeface="Century Schoolbook" panose="02040604050505020304" pitchFamily="18" charset="0"/>
              </a:rPr>
              <a:t>glycocalyx</a:t>
            </a:r>
            <a:r>
              <a:rPr lang="en-US" dirty="0">
                <a:latin typeface="Century Schoolbook" panose="02040604050505020304" pitchFamily="18" charset="0"/>
              </a:rPr>
              <a:t>, or cell coat, is a coating of oligosaccharides carried by glycoproteins and glycolipids, and specific glycoproteins. This molecular coat plays a role in the adhesion and anchoring of the cell to its environment.</a:t>
            </a:r>
            <a:endParaRPr lang="fr-FR" dirty="0">
              <a:latin typeface="Century Schoolbook" panose="02040604050505020304" pitchFamily="18" charset="0"/>
            </a:endParaRPr>
          </a:p>
        </p:txBody>
      </p:sp>
    </p:spTree>
    <p:extLst>
      <p:ext uri="{BB962C8B-B14F-4D97-AF65-F5344CB8AC3E}">
        <p14:creationId xmlns:p14="http://schemas.microsoft.com/office/powerpoint/2010/main" val="6505421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19050" y="0"/>
            <a:ext cx="9017446" cy="1143000"/>
          </a:xfrm>
          <a:solidFill>
            <a:schemeClr val="bg1"/>
          </a:solidFill>
        </p:spPr>
        <p:txBody>
          <a:bodyPr rtlCol="0">
            <a:normAutofit/>
          </a:bodyPr>
          <a:lstStyle/>
          <a:p>
            <a:pPr>
              <a:defRPr/>
            </a:pPr>
            <a:r>
              <a:rPr lang="en-US" sz="2400" dirty="0">
                <a:latin typeface="Century Schoolbook" panose="02040604050505020304" pitchFamily="18" charset="0"/>
              </a:rPr>
              <a:t>Biological membranes are composed mainly of lipids and proteins</a:t>
            </a:r>
            <a:endParaRPr lang="fr-FR" sz="2400" dirty="0">
              <a:latin typeface="Century Schoolbook" panose="02040604050505020304" pitchFamily="18" charset="0"/>
            </a:endParaRPr>
          </a:p>
        </p:txBody>
      </p:sp>
      <p:sp>
        <p:nvSpPr>
          <p:cNvPr id="21507" name="Text Box 170"/>
          <p:cNvSpPr txBox="1">
            <a:spLocks noChangeArrowheads="1"/>
          </p:cNvSpPr>
          <p:nvPr/>
        </p:nvSpPr>
        <p:spPr bwMode="auto">
          <a:xfrm>
            <a:off x="57150" y="5816133"/>
            <a:ext cx="9105900" cy="646331"/>
          </a:xfrm>
          <a:prstGeom prst="rect">
            <a:avLst/>
          </a:prstGeom>
          <a:noFill/>
          <a:ln w="9525">
            <a:noFill/>
            <a:miter lim="800000"/>
            <a:headEnd/>
            <a:tailEnd/>
          </a:ln>
        </p:spPr>
        <p:txBody>
          <a:bodyPr>
            <a:spAutoFit/>
          </a:bodyPr>
          <a:lstStyle/>
          <a:p>
            <a:pPr>
              <a:buFont typeface="Wingdings" pitchFamily="2" charset="2"/>
              <a:buChar char="Ø"/>
            </a:pPr>
            <a:r>
              <a:rPr lang="en-US" i="1" dirty="0"/>
              <a:t> Membrane proteins constitute 20% of the protein mass of cells.</a:t>
            </a:r>
          </a:p>
          <a:p>
            <a:pPr>
              <a:buFont typeface="Wingdings" pitchFamily="2" charset="2"/>
              <a:buChar char="Ø"/>
            </a:pPr>
            <a:r>
              <a:rPr lang="en-US" i="1" dirty="0"/>
              <a:t> Membrane proteins constitute approximately 40% of the mass of membranes.</a:t>
            </a:r>
            <a:endParaRPr lang="fr-FR" sz="1800" i="1" dirty="0"/>
          </a:p>
        </p:txBody>
      </p:sp>
      <p:pic>
        <p:nvPicPr>
          <p:cNvPr id="6" name="Image.jpg"/>
          <p:cNvPicPr>
            <a:picLocks noChangeAspect="1" noChangeArrowheads="1"/>
          </p:cNvPicPr>
          <p:nvPr/>
        </p:nvPicPr>
        <p:blipFill>
          <a:blip r:embed="rId3" cstate="print"/>
          <a:srcRect l="13651" t="16296" r="16032" b="29312"/>
          <a:stretch>
            <a:fillRect/>
          </a:stretch>
        </p:blipFill>
        <p:spPr bwMode="auto">
          <a:xfrm>
            <a:off x="558602" y="1391334"/>
            <a:ext cx="8064896" cy="4176464"/>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p:cNvPicPr>
            <a:picLocks noChangeAspect="1"/>
          </p:cNvPicPr>
          <p:nvPr/>
        </p:nvPicPr>
        <p:blipFill>
          <a:blip r:embed="rId2"/>
          <a:stretch>
            <a:fillRect/>
          </a:stretch>
        </p:blipFill>
        <p:spPr>
          <a:xfrm>
            <a:off x="1115616" y="1340768"/>
            <a:ext cx="6840760" cy="3888432"/>
          </a:xfrm>
          <a:prstGeom prst="rect">
            <a:avLst/>
          </a:prstGeom>
        </p:spPr>
      </p:pic>
    </p:spTree>
    <p:extLst>
      <p:ext uri="{BB962C8B-B14F-4D97-AF65-F5344CB8AC3E}">
        <p14:creationId xmlns:p14="http://schemas.microsoft.com/office/powerpoint/2010/main" val="26068487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4958" y="3807038"/>
            <a:ext cx="8892480" cy="2862322"/>
          </a:xfrm>
          <a:prstGeom prst="rect">
            <a:avLst/>
          </a:prstGeom>
        </p:spPr>
        <p:txBody>
          <a:bodyPr wrap="square">
            <a:spAutoFit/>
          </a:bodyPr>
          <a:lstStyle/>
          <a:p>
            <a:pPr algn="just"/>
            <a:r>
              <a:rPr lang="en-US" dirty="0"/>
              <a:t>The erythrocyte membrane gives the red blood cell its biconcave shape, plasticity, and deformability. It also carries blood group determinants and represents an ideal model for studying the structure and function of cell membranes.  </a:t>
            </a:r>
          </a:p>
          <a:p>
            <a:pPr algn="just"/>
            <a:endParaRPr lang="en-US" dirty="0"/>
          </a:p>
          <a:p>
            <a:pPr algn="just"/>
            <a:r>
              <a:rPr lang="en-US" dirty="0"/>
              <a:t>Carbohydrate, lipid, and protein components are not distributed equally on the outer and inner surfaces of the membrane.</a:t>
            </a:r>
          </a:p>
          <a:p>
            <a:pPr algn="just"/>
            <a:endParaRPr lang="en-US" dirty="0"/>
          </a:p>
          <a:p>
            <a:pPr algn="just"/>
            <a:r>
              <a:rPr lang="en-US" dirty="0"/>
              <a:t>The plasma membrane of red blood cells, for example, is composed of two main constituents distributed in the following proportions: 40% lipids, 52% proteins, and carbohydrates with 8% of the erythrocyte membrane components.</a:t>
            </a:r>
            <a:endParaRPr lang="fr-FR" dirty="0"/>
          </a:p>
        </p:txBody>
      </p:sp>
      <p:pic>
        <p:nvPicPr>
          <p:cNvPr id="5" name="Image 4"/>
          <p:cNvPicPr>
            <a:picLocks noChangeAspect="1"/>
          </p:cNvPicPr>
          <p:nvPr/>
        </p:nvPicPr>
        <p:blipFill>
          <a:blip r:embed="rId2"/>
          <a:stretch>
            <a:fillRect/>
          </a:stretch>
        </p:blipFill>
        <p:spPr>
          <a:xfrm>
            <a:off x="899592" y="249240"/>
            <a:ext cx="7128792" cy="3510009"/>
          </a:xfrm>
          <a:prstGeom prst="rect">
            <a:avLst/>
          </a:prstGeom>
        </p:spPr>
      </p:pic>
    </p:spTree>
    <p:extLst>
      <p:ext uri="{BB962C8B-B14F-4D97-AF65-F5344CB8AC3E}">
        <p14:creationId xmlns:p14="http://schemas.microsoft.com/office/powerpoint/2010/main" val="21286001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419" name="Picture 2" descr="http://monde.ccdmd.qc.ca/media/image1024/55912.jpg"/>
          <p:cNvPicPr>
            <a:picLocks noChangeAspect="1" noChangeArrowheads="1"/>
          </p:cNvPicPr>
          <p:nvPr/>
        </p:nvPicPr>
        <p:blipFill>
          <a:blip r:embed="rId2" cstate="print"/>
          <a:srcRect/>
          <a:stretch>
            <a:fillRect/>
          </a:stretch>
        </p:blipFill>
        <p:spPr bwMode="auto">
          <a:xfrm>
            <a:off x="581025" y="1398588"/>
            <a:ext cx="8316913" cy="4725987"/>
          </a:xfrm>
          <a:prstGeom prst="rect">
            <a:avLst/>
          </a:prstGeom>
          <a:noFill/>
          <a:ln w="9525">
            <a:noFill/>
            <a:miter lim="800000"/>
            <a:headEnd/>
            <a:tailEnd/>
          </a:ln>
        </p:spPr>
      </p:pic>
      <p:sp>
        <p:nvSpPr>
          <p:cNvPr id="2" name="Titre 1"/>
          <p:cNvSpPr>
            <a:spLocks noGrp="1"/>
          </p:cNvSpPr>
          <p:nvPr>
            <p:ph type="title"/>
          </p:nvPr>
        </p:nvSpPr>
        <p:spPr>
          <a:xfrm>
            <a:off x="395536" y="255588"/>
            <a:ext cx="8229600" cy="1143000"/>
          </a:xfrm>
        </p:spPr>
        <p:txBody>
          <a:bodyPr>
            <a:normAutofit fontScale="90000"/>
          </a:bodyPr>
          <a:lstStyle/>
          <a:p>
            <a:r>
              <a:rPr lang="en-US" dirty="0"/>
              <a:t> </a:t>
            </a:r>
            <a:r>
              <a:rPr lang="en-US" dirty="0">
                <a:latin typeface="Century Schoolbook" panose="02040604050505020304" pitchFamily="18" charset="0"/>
              </a:rPr>
              <a:t>Schematic organization of the red blood cell membrane</a:t>
            </a:r>
            <a:endParaRPr lang="fr-FR" dirty="0">
              <a:latin typeface="Century Schoolbook" panose="02040604050505020304" pitchFamily="18" charset="0"/>
            </a:endParaRPr>
          </a:p>
        </p:txBody>
      </p:sp>
    </p:spTree>
    <p:extLst>
      <p:ext uri="{BB962C8B-B14F-4D97-AF65-F5344CB8AC3E}">
        <p14:creationId xmlns:p14="http://schemas.microsoft.com/office/powerpoint/2010/main" val="637854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pectrine dans une membrane plasmique">
            <a:hlinkClick r:id="rId2" tooltip="Spectrine dans une membrane plasmique"/>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9594" y="870526"/>
            <a:ext cx="4646462" cy="3484847"/>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p:nvSpPr>
        <p:spPr>
          <a:xfrm>
            <a:off x="138734" y="140213"/>
            <a:ext cx="8352928" cy="430887"/>
          </a:xfrm>
          <a:prstGeom prst="rect">
            <a:avLst/>
          </a:prstGeom>
        </p:spPr>
        <p:txBody>
          <a:bodyPr wrap="square">
            <a:spAutoFit/>
          </a:bodyPr>
          <a:lstStyle/>
          <a:p>
            <a:pPr algn="ctr"/>
            <a:r>
              <a:rPr lang="en-US" sz="2200" b="1" dirty="0">
                <a:latin typeface="Century Schoolbook" panose="02040604050505020304" pitchFamily="18" charset="0"/>
              </a:rPr>
              <a:t>Localization of </a:t>
            </a:r>
            <a:r>
              <a:rPr lang="en-US" sz="2200" b="1" dirty="0" err="1">
                <a:latin typeface="Century Schoolbook" panose="02040604050505020304" pitchFamily="18" charset="0"/>
              </a:rPr>
              <a:t>Spectrin</a:t>
            </a:r>
            <a:r>
              <a:rPr lang="en-US" sz="2200" b="1" dirty="0">
                <a:latin typeface="Century Schoolbook" panose="02040604050505020304" pitchFamily="18" charset="0"/>
              </a:rPr>
              <a:t> in the erythrocyte membrane</a:t>
            </a:r>
            <a:endParaRPr lang="fr-FR" sz="2200" b="1" dirty="0">
              <a:latin typeface="Century Schoolbook" panose="02040604050505020304" pitchFamily="18" charset="0"/>
            </a:endParaRPr>
          </a:p>
        </p:txBody>
      </p:sp>
      <p:sp>
        <p:nvSpPr>
          <p:cNvPr id="8" name="Rectangle 7"/>
          <p:cNvSpPr/>
          <p:nvPr/>
        </p:nvSpPr>
        <p:spPr>
          <a:xfrm>
            <a:off x="5220072" y="2162178"/>
            <a:ext cx="1802288" cy="369332"/>
          </a:xfrm>
          <a:prstGeom prst="rect">
            <a:avLst/>
          </a:prstGeom>
        </p:spPr>
        <p:txBody>
          <a:bodyPr wrap="none">
            <a:spAutoFit/>
          </a:bodyPr>
          <a:lstStyle/>
          <a:p>
            <a:r>
              <a:rPr lang="fr-FR" dirty="0" err="1"/>
              <a:t>Spectrin</a:t>
            </a:r>
            <a:r>
              <a:rPr lang="fr-FR" dirty="0"/>
              <a:t> </a:t>
            </a:r>
            <a:r>
              <a:rPr lang="fr-FR" dirty="0" err="1"/>
              <a:t>is</a:t>
            </a:r>
            <a:r>
              <a:rPr lang="fr-FR" dirty="0"/>
              <a:t> green</a:t>
            </a:r>
          </a:p>
        </p:txBody>
      </p:sp>
      <p:sp>
        <p:nvSpPr>
          <p:cNvPr id="9" name="Rectangle 8"/>
          <p:cNvSpPr/>
          <p:nvPr/>
        </p:nvSpPr>
        <p:spPr>
          <a:xfrm>
            <a:off x="138734" y="4509120"/>
            <a:ext cx="8578500" cy="2031325"/>
          </a:xfrm>
          <a:prstGeom prst="rect">
            <a:avLst/>
          </a:prstGeom>
        </p:spPr>
        <p:txBody>
          <a:bodyPr wrap="square">
            <a:spAutoFit/>
          </a:bodyPr>
          <a:lstStyle/>
          <a:p>
            <a:pPr algn="just"/>
            <a:r>
              <a:rPr lang="en-US" dirty="0" err="1">
                <a:latin typeface="Century Schoolbook" panose="02040604050505020304" pitchFamily="18" charset="0"/>
              </a:rPr>
              <a:t>Spectrin</a:t>
            </a:r>
            <a:r>
              <a:rPr lang="en-US" dirty="0">
                <a:latin typeface="Century Schoolbook" panose="02040604050505020304" pitchFamily="18" charset="0"/>
              </a:rPr>
              <a:t> is a fibrous protein that makes up 30% of the red blood cell membrane proteins. More broadly, </a:t>
            </a:r>
            <a:r>
              <a:rPr lang="en-US" dirty="0" err="1">
                <a:latin typeface="Century Schoolbook" panose="02040604050505020304" pitchFamily="18" charset="0"/>
              </a:rPr>
              <a:t>spectrins</a:t>
            </a:r>
            <a:r>
              <a:rPr lang="en-US" dirty="0">
                <a:latin typeface="Century Schoolbook" panose="02040604050505020304" pitchFamily="18" charset="0"/>
              </a:rPr>
              <a:t> line the intracellular lateral zone of the plasma membrane in eukaryotic cells.</a:t>
            </a:r>
          </a:p>
          <a:p>
            <a:pPr algn="just"/>
            <a:r>
              <a:rPr lang="en-US" dirty="0" err="1">
                <a:latin typeface="Century Schoolbook" panose="02040604050505020304" pitchFamily="18" charset="0"/>
              </a:rPr>
              <a:t>Spectrins</a:t>
            </a:r>
            <a:r>
              <a:rPr lang="en-US" dirty="0">
                <a:latin typeface="Century Schoolbook" panose="02040604050505020304" pitchFamily="18" charset="0"/>
              </a:rPr>
              <a:t> are linked to actin filaments and band 4, together forming a protein network with sufficient flexibility to achieve a biconcave shape.</a:t>
            </a:r>
          </a:p>
          <a:p>
            <a:pPr algn="just"/>
            <a:r>
              <a:rPr lang="en-US" dirty="0">
                <a:latin typeface="Century Schoolbook" panose="02040604050505020304" pitchFamily="18" charset="0"/>
              </a:rPr>
              <a:t>Due to its shape, the erythrocyte is highly elastic and can adapt to pass through blood capillaries, even those with smaller diameters.</a:t>
            </a:r>
            <a:endParaRPr lang="fr-FR" dirty="0">
              <a:latin typeface="Century Schoolbook" panose="02040604050505020304" pitchFamily="18" charset="0"/>
            </a:endParaRPr>
          </a:p>
        </p:txBody>
      </p:sp>
    </p:spTree>
    <p:extLst>
      <p:ext uri="{BB962C8B-B14F-4D97-AF65-F5344CB8AC3E}">
        <p14:creationId xmlns:p14="http://schemas.microsoft.com/office/powerpoint/2010/main" val="20631679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3"/>
          <a:stretch>
            <a:fillRect/>
          </a:stretch>
        </p:blipFill>
        <p:spPr>
          <a:xfrm>
            <a:off x="467545" y="332656"/>
            <a:ext cx="8289662" cy="5291555"/>
          </a:xfrm>
          <a:prstGeom prst="rect">
            <a:avLst/>
          </a:prstGeom>
        </p:spPr>
      </p:pic>
      <p:sp>
        <p:nvSpPr>
          <p:cNvPr id="5" name="Rectangle 4"/>
          <p:cNvSpPr/>
          <p:nvPr/>
        </p:nvSpPr>
        <p:spPr>
          <a:xfrm>
            <a:off x="260263" y="5871533"/>
            <a:ext cx="8496944" cy="923330"/>
          </a:xfrm>
          <a:prstGeom prst="rect">
            <a:avLst/>
          </a:prstGeom>
          <a:ln w="9525">
            <a:solidFill>
              <a:schemeClr val="tx1"/>
            </a:solidFill>
          </a:ln>
        </p:spPr>
        <p:txBody>
          <a:bodyPr wrap="square">
            <a:spAutoFit/>
          </a:bodyPr>
          <a:lstStyle/>
          <a:p>
            <a:pPr algn="just"/>
            <a:r>
              <a:rPr lang="en-US" dirty="0"/>
              <a:t>(a) Scanning electron microscopy image of a human red blood cell, (b) The shape of a human red blood cell with average geometric parameters, (c) schematic organization of the red blood cell membrane.</a:t>
            </a:r>
            <a:endParaRPr lang="fr-FR" dirty="0"/>
          </a:p>
        </p:txBody>
      </p:sp>
    </p:spTree>
    <p:extLst>
      <p:ext uri="{BB962C8B-B14F-4D97-AF65-F5344CB8AC3E}">
        <p14:creationId xmlns:p14="http://schemas.microsoft.com/office/powerpoint/2010/main" val="23770613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46" name="Picture 2" descr="http://www.jle.com/e-docs/00/00/C4/87/texte_alt_fig5.gif"/>
          <p:cNvPicPr>
            <a:picLocks noChangeAspect="1" noChangeArrowheads="1"/>
          </p:cNvPicPr>
          <p:nvPr/>
        </p:nvPicPr>
        <p:blipFill>
          <a:blip r:embed="rId2" cstate="print"/>
          <a:srcRect/>
          <a:stretch>
            <a:fillRect/>
          </a:stretch>
        </p:blipFill>
        <p:spPr bwMode="auto">
          <a:xfrm>
            <a:off x="4413627" y="2907527"/>
            <a:ext cx="4451790" cy="3188908"/>
          </a:xfrm>
          <a:prstGeom prst="rect">
            <a:avLst/>
          </a:prstGeom>
          <a:noFill/>
          <a:ln w="6350">
            <a:solidFill>
              <a:schemeClr val="tx1"/>
            </a:solidFill>
            <a:miter lim="800000"/>
            <a:headEnd/>
            <a:tailEnd/>
          </a:ln>
        </p:spPr>
      </p:pic>
      <p:sp>
        <p:nvSpPr>
          <p:cNvPr id="2" name="Rectangle 1"/>
          <p:cNvSpPr/>
          <p:nvPr/>
        </p:nvSpPr>
        <p:spPr>
          <a:xfrm>
            <a:off x="0" y="53797"/>
            <a:ext cx="8630542" cy="461665"/>
          </a:xfrm>
          <a:prstGeom prst="rect">
            <a:avLst/>
          </a:prstGeom>
        </p:spPr>
        <p:txBody>
          <a:bodyPr wrap="square">
            <a:spAutoFit/>
          </a:bodyPr>
          <a:lstStyle/>
          <a:p>
            <a:pPr algn="ctr"/>
            <a:r>
              <a:rPr lang="en-US" sz="2400" b="1" dirty="0">
                <a:latin typeface="Century Schoolbook" panose="02040604050505020304" pitchFamily="18" charset="0"/>
              </a:rPr>
              <a:t>Example of 2 intrinsic proteins of the erythrocyte</a:t>
            </a:r>
            <a:endParaRPr lang="fr-FR" sz="2400" b="1" dirty="0">
              <a:latin typeface="Century Schoolbook" panose="02040604050505020304" pitchFamily="18" charset="0"/>
            </a:endParaRPr>
          </a:p>
        </p:txBody>
      </p:sp>
      <p:sp>
        <p:nvSpPr>
          <p:cNvPr id="3" name="Rectangle 2"/>
          <p:cNvSpPr/>
          <p:nvPr/>
        </p:nvSpPr>
        <p:spPr>
          <a:xfrm>
            <a:off x="4272411" y="6091669"/>
            <a:ext cx="4896544" cy="646331"/>
          </a:xfrm>
          <a:prstGeom prst="rect">
            <a:avLst/>
          </a:prstGeom>
        </p:spPr>
        <p:txBody>
          <a:bodyPr wrap="square">
            <a:spAutoFit/>
          </a:bodyPr>
          <a:lstStyle/>
          <a:p>
            <a:r>
              <a:rPr lang="en-US" b="1" dirty="0">
                <a:latin typeface="Century Schoolbook" panose="02040604050505020304" pitchFamily="18" charset="0"/>
              </a:rPr>
              <a:t>The band 3 </a:t>
            </a:r>
            <a:r>
              <a:rPr lang="en-US" dirty="0">
                <a:latin typeface="Century Schoolbook" panose="02040604050505020304" pitchFamily="18" charset="0"/>
              </a:rPr>
              <a:t>protein has 14 </a:t>
            </a:r>
            <a:r>
              <a:rPr lang="en-US" dirty="0" err="1">
                <a:latin typeface="Century Schoolbook" panose="02040604050505020304" pitchFamily="18" charset="0"/>
              </a:rPr>
              <a:t>transmembrane</a:t>
            </a:r>
            <a:r>
              <a:rPr lang="en-US" dirty="0">
                <a:latin typeface="Century Schoolbook" panose="02040604050505020304" pitchFamily="18" charset="0"/>
              </a:rPr>
              <a:t> α-helices</a:t>
            </a:r>
            <a:endParaRPr lang="fr-FR" dirty="0">
              <a:latin typeface="Century Schoolbook" panose="02040604050505020304" pitchFamily="18" charset="0"/>
            </a:endParaRPr>
          </a:p>
        </p:txBody>
      </p:sp>
      <p:sp>
        <p:nvSpPr>
          <p:cNvPr id="4" name="Rectangle 3"/>
          <p:cNvSpPr/>
          <p:nvPr/>
        </p:nvSpPr>
        <p:spPr>
          <a:xfrm>
            <a:off x="326145" y="6110083"/>
            <a:ext cx="3672408" cy="646331"/>
          </a:xfrm>
          <a:prstGeom prst="rect">
            <a:avLst/>
          </a:prstGeom>
        </p:spPr>
        <p:txBody>
          <a:bodyPr wrap="square">
            <a:spAutoFit/>
          </a:bodyPr>
          <a:lstStyle/>
          <a:p>
            <a:r>
              <a:rPr lang="en-US" b="1" dirty="0" err="1">
                <a:latin typeface="Century Schoolbook" panose="02040604050505020304" pitchFamily="18" charset="0"/>
              </a:rPr>
              <a:t>Glycophorin</a:t>
            </a:r>
            <a:r>
              <a:rPr lang="en-US" b="1" dirty="0">
                <a:latin typeface="Century Schoolbook" panose="02040604050505020304" pitchFamily="18" charset="0"/>
              </a:rPr>
              <a:t> A </a:t>
            </a:r>
            <a:r>
              <a:rPr lang="en-US" dirty="0">
                <a:latin typeface="Century Schoolbook" panose="02040604050505020304" pitchFamily="18" charset="0"/>
              </a:rPr>
              <a:t>has only one </a:t>
            </a:r>
            <a:r>
              <a:rPr lang="en-US" dirty="0" err="1">
                <a:latin typeface="Century Schoolbook" panose="02040604050505020304" pitchFamily="18" charset="0"/>
              </a:rPr>
              <a:t>transmembrane</a:t>
            </a:r>
            <a:r>
              <a:rPr lang="en-US" dirty="0">
                <a:latin typeface="Century Schoolbook" panose="02040604050505020304" pitchFamily="18" charset="0"/>
              </a:rPr>
              <a:t> α helix</a:t>
            </a:r>
            <a:endParaRPr lang="fr-FR" dirty="0">
              <a:latin typeface="Century Schoolbook" panose="02040604050505020304" pitchFamily="18" charset="0"/>
            </a:endParaRPr>
          </a:p>
        </p:txBody>
      </p:sp>
      <p:pic>
        <p:nvPicPr>
          <p:cNvPr id="5" name="Image 4"/>
          <p:cNvPicPr>
            <a:picLocks noChangeAspect="1"/>
          </p:cNvPicPr>
          <p:nvPr/>
        </p:nvPicPr>
        <p:blipFill>
          <a:blip r:embed="rId3"/>
          <a:stretch>
            <a:fillRect/>
          </a:stretch>
        </p:blipFill>
        <p:spPr>
          <a:xfrm>
            <a:off x="180277" y="2907527"/>
            <a:ext cx="3955205" cy="3170493"/>
          </a:xfrm>
          <a:prstGeom prst="rect">
            <a:avLst/>
          </a:prstGeom>
          <a:ln w="19050">
            <a:solidFill>
              <a:schemeClr val="tx1"/>
            </a:solidFill>
          </a:ln>
        </p:spPr>
      </p:pic>
      <p:pic>
        <p:nvPicPr>
          <p:cNvPr id="6" name="Image 5"/>
          <p:cNvPicPr>
            <a:picLocks noChangeAspect="1"/>
          </p:cNvPicPr>
          <p:nvPr/>
        </p:nvPicPr>
        <p:blipFill rotWithShape="1">
          <a:blip r:embed="rId4"/>
          <a:srcRect b="10684"/>
          <a:stretch/>
        </p:blipFill>
        <p:spPr>
          <a:xfrm>
            <a:off x="1428095" y="804684"/>
            <a:ext cx="5688632" cy="2016224"/>
          </a:xfrm>
          <a:prstGeom prst="rect">
            <a:avLst/>
          </a:prstGeom>
        </p:spPr>
      </p:pic>
    </p:spTree>
    <p:extLst>
      <p:ext uri="{BB962C8B-B14F-4D97-AF65-F5344CB8AC3E}">
        <p14:creationId xmlns:p14="http://schemas.microsoft.com/office/powerpoint/2010/main" val="22490211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23528" y="764704"/>
            <a:ext cx="8568952" cy="5355312"/>
          </a:xfrm>
          <a:prstGeom prst="rect">
            <a:avLst/>
          </a:prstGeom>
        </p:spPr>
        <p:txBody>
          <a:bodyPr wrap="square">
            <a:spAutoFit/>
          </a:bodyPr>
          <a:lstStyle/>
          <a:p>
            <a:pPr algn="just"/>
            <a:r>
              <a:rPr lang="en-US" b="1" dirty="0">
                <a:latin typeface="Century Schoolbook" panose="02040604050505020304" pitchFamily="18" charset="0"/>
              </a:rPr>
              <a:t>The anion channel in the red blood cell membrane (band 3) </a:t>
            </a:r>
            <a:r>
              <a:rPr lang="en-US" dirty="0">
                <a:latin typeface="Century Schoolbook" panose="02040604050505020304" pitchFamily="18" charset="0"/>
              </a:rPr>
              <a:t>is a </a:t>
            </a:r>
            <a:r>
              <a:rPr lang="en-US" dirty="0" err="1">
                <a:latin typeface="Century Schoolbook" panose="02040604050505020304" pitchFamily="18" charset="0"/>
              </a:rPr>
              <a:t>transmembrane</a:t>
            </a:r>
            <a:r>
              <a:rPr lang="en-US" dirty="0">
                <a:latin typeface="Century Schoolbook" panose="02040604050505020304" pitchFamily="18" charset="0"/>
              </a:rPr>
              <a:t> protein that represents approximately 25% of the total protein mass of the red blood cell. This molecule crosses the membrane 14 times. The importance of this protein lies in its biological functions, as it ensures the transport of anions (</a:t>
            </a:r>
            <a:r>
              <a:rPr lang="en-US" dirty="0" err="1">
                <a:latin typeface="Century Schoolbook" panose="02040604050505020304" pitchFamily="18" charset="0"/>
              </a:rPr>
              <a:t>Cl</a:t>
            </a:r>
            <a:r>
              <a:rPr lang="en-US" dirty="0">
                <a:latin typeface="Century Schoolbook" panose="02040604050505020304" pitchFamily="18" charset="0"/>
              </a:rPr>
              <a:t>-, HCO3-) across the membrane. This is a key role in the overall mechanism of CO2 transport from tissues to the lungs because it allows the elimination of intracellular HCO3- (CO2 hydration).</a:t>
            </a:r>
          </a:p>
          <a:p>
            <a:pPr algn="just"/>
            <a:r>
              <a:rPr lang="en-US" dirty="0">
                <a:latin typeface="Century Schoolbook" panose="02040604050505020304" pitchFamily="18" charset="0"/>
              </a:rPr>
              <a:t>When blood circulates in the tissues, CO2 dissolves in the bloodstream (plasma) and dissociates as follows: H2O + CO2 = HCO3- + H+.</a:t>
            </a:r>
          </a:p>
          <a:p>
            <a:pPr algn="just"/>
            <a:r>
              <a:rPr lang="en-US" dirty="0">
                <a:latin typeface="Century Schoolbook" panose="02040604050505020304" pitchFamily="18" charset="0"/>
              </a:rPr>
              <a:t>Bicarbonate ions enter the red blood cells in exchange for chloride ions, which leave the cell. In the lungs, where CO2 is released, the reverse reaction occurs, and bicarbonate ions leave the red blood cells in exchange for chloride ions. HCO3- and </a:t>
            </a:r>
            <a:r>
              <a:rPr lang="en-US" dirty="0" err="1">
                <a:latin typeface="Century Schoolbook" panose="02040604050505020304" pitchFamily="18" charset="0"/>
              </a:rPr>
              <a:t>Cl</a:t>
            </a:r>
            <a:r>
              <a:rPr lang="en-US" dirty="0">
                <a:latin typeface="Century Schoolbook" panose="02040604050505020304" pitchFamily="18" charset="0"/>
              </a:rPr>
              <a:t>- ions pass through a channel located in the center of each Band 3 dimer.</a:t>
            </a:r>
          </a:p>
          <a:p>
            <a:pPr algn="just"/>
            <a:endParaRPr lang="en-US" dirty="0">
              <a:latin typeface="Century Schoolbook" panose="02040604050505020304" pitchFamily="18" charset="0"/>
            </a:endParaRPr>
          </a:p>
          <a:p>
            <a:pPr algn="just"/>
            <a:r>
              <a:rPr lang="en-US" b="1" dirty="0" err="1">
                <a:latin typeface="Century Schoolbook" panose="02040604050505020304" pitchFamily="18" charset="0"/>
              </a:rPr>
              <a:t>Glycophorin</a:t>
            </a:r>
            <a:r>
              <a:rPr lang="en-US" b="1" dirty="0">
                <a:latin typeface="Century Schoolbook" panose="02040604050505020304" pitchFamily="18" charset="0"/>
              </a:rPr>
              <a:t> A </a:t>
            </a:r>
            <a:r>
              <a:rPr lang="en-US" dirty="0">
                <a:latin typeface="Century Schoolbook" panose="02040604050505020304" pitchFamily="18" charset="0"/>
              </a:rPr>
              <a:t>is the protein with the highest saccharide content (80%) and, consequently, the negative electrical charge of the red blood cell. This protein is important for its biological functions, as it plays a role in repelling red blood cells within capillaries and </a:t>
            </a:r>
            <a:r>
              <a:rPr lang="en-US" dirty="0" err="1">
                <a:latin typeface="Century Schoolbook" panose="02040604050505020304" pitchFamily="18" charset="0"/>
              </a:rPr>
              <a:t>venules</a:t>
            </a:r>
            <a:r>
              <a:rPr lang="en-US" dirty="0">
                <a:latin typeface="Century Schoolbook" panose="02040604050505020304" pitchFamily="18" charset="0"/>
              </a:rPr>
              <a:t>.</a:t>
            </a:r>
            <a:endParaRPr lang="fr-FR" dirty="0">
              <a:latin typeface="Century Schoolbook" panose="02040604050505020304" pitchFamily="18" charset="0"/>
            </a:endParaRPr>
          </a:p>
        </p:txBody>
      </p:sp>
    </p:spTree>
    <p:extLst>
      <p:ext uri="{BB962C8B-B14F-4D97-AF65-F5344CB8AC3E}">
        <p14:creationId xmlns:p14="http://schemas.microsoft.com/office/powerpoint/2010/main" val="19513568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250" name="Picture 1"/>
          <p:cNvPicPr>
            <a:picLocks noChangeAspect="1" noChangeArrowheads="1"/>
          </p:cNvPicPr>
          <p:nvPr/>
        </p:nvPicPr>
        <p:blipFill>
          <a:blip r:embed="rId2" cstate="print"/>
          <a:srcRect l="26477"/>
          <a:stretch>
            <a:fillRect/>
          </a:stretch>
        </p:blipFill>
        <p:spPr bwMode="auto">
          <a:xfrm>
            <a:off x="755576" y="1916832"/>
            <a:ext cx="8172400" cy="4766985"/>
          </a:xfrm>
          <a:prstGeom prst="rect">
            <a:avLst/>
          </a:prstGeom>
          <a:noFill/>
          <a:ln w="9525">
            <a:noFill/>
            <a:miter lim="800000"/>
            <a:headEnd/>
            <a:tailEnd/>
          </a:ln>
        </p:spPr>
      </p:pic>
      <p:sp>
        <p:nvSpPr>
          <p:cNvPr id="2" name="Rectangle 1"/>
          <p:cNvSpPr/>
          <p:nvPr/>
        </p:nvSpPr>
        <p:spPr>
          <a:xfrm>
            <a:off x="251520" y="404664"/>
            <a:ext cx="3977371" cy="523220"/>
          </a:xfrm>
          <a:prstGeom prst="rect">
            <a:avLst/>
          </a:prstGeom>
        </p:spPr>
        <p:txBody>
          <a:bodyPr wrap="none">
            <a:spAutoFit/>
          </a:bodyPr>
          <a:lstStyle/>
          <a:p>
            <a:r>
              <a:rPr lang="fr-FR" sz="2800" b="1" dirty="0">
                <a:latin typeface="Century Schoolbook" panose="02040604050505020304" pitchFamily="18" charset="0"/>
              </a:rPr>
              <a:t>Membrane Proteins:</a:t>
            </a:r>
          </a:p>
        </p:txBody>
      </p:sp>
    </p:spTree>
    <p:extLst>
      <p:ext uri="{BB962C8B-B14F-4D97-AF65-F5344CB8AC3E}">
        <p14:creationId xmlns:p14="http://schemas.microsoft.com/office/powerpoint/2010/main" val="15890542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6" name="Connecteur droit avec flèche 15"/>
          <p:cNvCxnSpPr/>
          <p:nvPr/>
        </p:nvCxnSpPr>
        <p:spPr>
          <a:xfrm rot="5400000" flipH="1" flipV="1">
            <a:off x="5196682" y="4629943"/>
            <a:ext cx="609600" cy="290513"/>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8" name="Connecteur droit avec flèche 17"/>
          <p:cNvCxnSpPr/>
          <p:nvPr/>
        </p:nvCxnSpPr>
        <p:spPr>
          <a:xfrm rot="5400000" flipH="1" flipV="1">
            <a:off x="5660231" y="4587082"/>
            <a:ext cx="581025" cy="3190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pic>
        <p:nvPicPr>
          <p:cNvPr id="55304" name="Picture 1"/>
          <p:cNvPicPr>
            <a:picLocks noChangeAspect="1" noChangeArrowheads="1"/>
          </p:cNvPicPr>
          <p:nvPr/>
        </p:nvPicPr>
        <p:blipFill>
          <a:blip r:embed="rId2" cstate="print"/>
          <a:srcRect l="43877" t="15459" r="17770" b="7246"/>
          <a:stretch>
            <a:fillRect/>
          </a:stretch>
        </p:blipFill>
        <p:spPr bwMode="auto">
          <a:xfrm>
            <a:off x="2497138" y="2133600"/>
            <a:ext cx="4541837" cy="2322513"/>
          </a:xfrm>
          <a:prstGeom prst="rect">
            <a:avLst/>
          </a:prstGeom>
          <a:noFill/>
          <a:ln w="9525">
            <a:noFill/>
            <a:miter lim="800000"/>
            <a:headEnd/>
            <a:tailEnd/>
          </a:ln>
        </p:spPr>
      </p:pic>
      <p:sp>
        <p:nvSpPr>
          <p:cNvPr id="55305" name="ZoneTexte 11"/>
          <p:cNvSpPr txBox="1">
            <a:spLocks noChangeArrowheads="1"/>
          </p:cNvSpPr>
          <p:nvPr/>
        </p:nvSpPr>
        <p:spPr bwMode="auto">
          <a:xfrm>
            <a:off x="5297488" y="1785938"/>
            <a:ext cx="2728912" cy="368300"/>
          </a:xfrm>
          <a:prstGeom prst="rect">
            <a:avLst/>
          </a:prstGeom>
          <a:noFill/>
          <a:ln w="9525">
            <a:noFill/>
            <a:miter lim="800000"/>
            <a:headEnd/>
            <a:tailEnd/>
          </a:ln>
        </p:spPr>
        <p:txBody>
          <a:bodyPr>
            <a:spAutoFit/>
          </a:bodyPr>
          <a:lstStyle/>
          <a:p>
            <a:r>
              <a:rPr lang="fr-FR" sz="1800"/>
              <a:t>Protéine extrinsèque</a:t>
            </a:r>
          </a:p>
        </p:txBody>
      </p:sp>
      <p:cxnSp>
        <p:nvCxnSpPr>
          <p:cNvPr id="20" name="Connecteur droit avec flèche 19"/>
          <p:cNvCxnSpPr/>
          <p:nvPr/>
        </p:nvCxnSpPr>
        <p:spPr>
          <a:xfrm rot="5400000" flipH="1" flipV="1">
            <a:off x="6139657" y="4579144"/>
            <a:ext cx="588962" cy="35560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2" name="Rectangle 1"/>
          <p:cNvSpPr/>
          <p:nvPr/>
        </p:nvSpPr>
        <p:spPr>
          <a:xfrm>
            <a:off x="363538" y="390504"/>
            <a:ext cx="6051657" cy="461665"/>
          </a:xfrm>
          <a:prstGeom prst="rect">
            <a:avLst/>
          </a:prstGeom>
        </p:spPr>
        <p:txBody>
          <a:bodyPr wrap="none">
            <a:spAutoFit/>
          </a:bodyPr>
          <a:lstStyle/>
          <a:p>
            <a:r>
              <a:rPr lang="fr-FR" sz="2400" b="1" dirty="0" err="1">
                <a:latin typeface="Century Schoolbook" panose="02040604050505020304" pitchFamily="18" charset="0"/>
              </a:rPr>
              <a:t>Transmembrane</a:t>
            </a:r>
            <a:r>
              <a:rPr lang="fr-FR" sz="2400" b="1" dirty="0">
                <a:latin typeface="Century Schoolbook" panose="02040604050505020304" pitchFamily="18" charset="0"/>
              </a:rPr>
              <a:t> </a:t>
            </a:r>
            <a:r>
              <a:rPr lang="fr-FR" sz="2400" b="1" dirty="0" err="1">
                <a:latin typeface="Century Schoolbook" panose="02040604050505020304" pitchFamily="18" charset="0"/>
              </a:rPr>
              <a:t>proteins</a:t>
            </a:r>
            <a:r>
              <a:rPr lang="fr-FR" sz="2400" b="1" dirty="0">
                <a:latin typeface="Century Schoolbook" panose="02040604050505020304" pitchFamily="18" charset="0"/>
              </a:rPr>
              <a:t> (</a:t>
            </a:r>
            <a:r>
              <a:rPr lang="fr-FR" sz="2400" b="1" dirty="0" err="1">
                <a:latin typeface="Century Schoolbook" panose="02040604050505020304" pitchFamily="18" charset="0"/>
              </a:rPr>
              <a:t>intrinsic</a:t>
            </a:r>
            <a:r>
              <a:rPr lang="fr-FR" sz="2400" b="1" dirty="0">
                <a:latin typeface="Century Schoolbook" panose="02040604050505020304" pitchFamily="18" charset="0"/>
              </a:rPr>
              <a:t>) </a:t>
            </a:r>
          </a:p>
        </p:txBody>
      </p:sp>
      <p:sp>
        <p:nvSpPr>
          <p:cNvPr id="4" name="Rectangle 3"/>
          <p:cNvSpPr/>
          <p:nvPr/>
        </p:nvSpPr>
        <p:spPr>
          <a:xfrm>
            <a:off x="725488" y="4269102"/>
            <a:ext cx="4572000" cy="1200329"/>
          </a:xfrm>
          <a:prstGeom prst="rect">
            <a:avLst/>
          </a:prstGeom>
        </p:spPr>
        <p:txBody>
          <a:bodyPr>
            <a:spAutoFit/>
          </a:bodyPr>
          <a:lstStyle/>
          <a:p>
            <a:r>
              <a:rPr lang="en-US" b="1" dirty="0" err="1">
                <a:latin typeface="Century Schoolbook" panose="02040604050505020304" pitchFamily="18" charset="0"/>
              </a:rPr>
              <a:t>Monotopic</a:t>
            </a:r>
            <a:endParaRPr lang="en-US" b="1" dirty="0">
              <a:latin typeface="Century Schoolbook" panose="02040604050505020304" pitchFamily="18" charset="0"/>
            </a:endParaRPr>
          </a:p>
          <a:p>
            <a:r>
              <a:rPr lang="en-US" dirty="0">
                <a:latin typeface="Century Schoolbook" panose="02040604050505020304" pitchFamily="18" charset="0"/>
              </a:rPr>
              <a:t>A single segment (1 α-helix)</a:t>
            </a:r>
          </a:p>
          <a:p>
            <a:r>
              <a:rPr lang="en-US" dirty="0">
                <a:latin typeface="Century Schoolbook" panose="02040604050505020304" pitchFamily="18" charset="0"/>
              </a:rPr>
              <a:t>One domain on each side of the membrane</a:t>
            </a:r>
            <a:endParaRPr lang="fr-FR" dirty="0">
              <a:latin typeface="Century Schoolbook" panose="02040604050505020304" pitchFamily="18" charset="0"/>
            </a:endParaRPr>
          </a:p>
        </p:txBody>
      </p:sp>
      <p:sp>
        <p:nvSpPr>
          <p:cNvPr id="6" name="Rectangle 5"/>
          <p:cNvSpPr/>
          <p:nvPr/>
        </p:nvSpPr>
        <p:spPr>
          <a:xfrm>
            <a:off x="4932040" y="5037139"/>
            <a:ext cx="4572000" cy="1200329"/>
          </a:xfrm>
          <a:prstGeom prst="rect">
            <a:avLst/>
          </a:prstGeom>
        </p:spPr>
        <p:txBody>
          <a:bodyPr>
            <a:spAutoFit/>
          </a:bodyPr>
          <a:lstStyle/>
          <a:p>
            <a:r>
              <a:rPr lang="en-US" b="1" dirty="0" err="1">
                <a:latin typeface="Century Schoolbook" panose="02040604050505020304" pitchFamily="18" charset="0"/>
              </a:rPr>
              <a:t>Polytopic</a:t>
            </a:r>
            <a:endParaRPr lang="en-US" b="1" dirty="0">
              <a:latin typeface="Century Schoolbook" panose="02040604050505020304" pitchFamily="18" charset="0"/>
            </a:endParaRPr>
          </a:p>
          <a:p>
            <a:r>
              <a:rPr lang="en-US" dirty="0">
                <a:latin typeface="Century Schoolbook" panose="02040604050505020304" pitchFamily="18" charset="0"/>
              </a:rPr>
              <a:t>Multiple segments (3 α-helices)</a:t>
            </a:r>
          </a:p>
          <a:p>
            <a:r>
              <a:rPr lang="en-US" dirty="0">
                <a:latin typeface="Century Schoolbook" panose="02040604050505020304" pitchFamily="18" charset="0"/>
              </a:rPr>
              <a:t>One domain on each side of the membrane</a:t>
            </a:r>
            <a:endParaRPr lang="fr-FR" dirty="0">
              <a:latin typeface="Century Schoolbook" panose="02040604050505020304" pitchFamily="18" charset="0"/>
            </a:endParaRPr>
          </a:p>
        </p:txBody>
      </p:sp>
    </p:spTree>
    <p:extLst>
      <p:ext uri="{BB962C8B-B14F-4D97-AF65-F5344CB8AC3E}">
        <p14:creationId xmlns:p14="http://schemas.microsoft.com/office/powerpoint/2010/main" val="5224432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3284984"/>
            <a:ext cx="8856984" cy="3693319"/>
          </a:xfrm>
          <a:prstGeom prst="rect">
            <a:avLst/>
          </a:prstGeom>
        </p:spPr>
        <p:txBody>
          <a:bodyPr wrap="square">
            <a:spAutoFit/>
          </a:bodyPr>
          <a:lstStyle/>
          <a:p>
            <a:pPr marL="285750" indent="-285750">
              <a:buFont typeface="Arial" panose="020B0604020202020204" pitchFamily="34" charset="0"/>
              <a:buChar char="•"/>
            </a:pPr>
            <a:r>
              <a:rPr lang="fr-FR" b="1" dirty="0">
                <a:latin typeface="Century Schoolbook" panose="02040604050505020304" pitchFamily="18" charset="0"/>
              </a:rPr>
              <a:t>Covalent bond </a:t>
            </a:r>
            <a:r>
              <a:rPr lang="fr-FR" dirty="0" err="1">
                <a:latin typeface="Century Schoolbook" panose="02040604050505020304" pitchFamily="18" charset="0"/>
              </a:rPr>
              <a:t>between</a:t>
            </a:r>
            <a:r>
              <a:rPr lang="fr-FR" dirty="0">
                <a:latin typeface="Century Schoolbook" panose="02040604050505020304" pitchFamily="18" charset="0"/>
              </a:rPr>
              <a:t> a </a:t>
            </a:r>
            <a:r>
              <a:rPr lang="fr-FR" dirty="0" err="1">
                <a:latin typeface="Century Schoolbook" panose="02040604050505020304" pitchFamily="18" charset="0"/>
              </a:rPr>
              <a:t>protein</a:t>
            </a:r>
            <a:r>
              <a:rPr lang="fr-FR" dirty="0">
                <a:latin typeface="Century Schoolbook" panose="02040604050505020304" pitchFamily="18" charset="0"/>
              </a:rPr>
              <a:t> and a </a:t>
            </a:r>
            <a:r>
              <a:rPr lang="fr-FR" dirty="0" err="1">
                <a:latin typeface="Century Schoolbook" panose="02040604050505020304" pitchFamily="18" charset="0"/>
              </a:rPr>
              <a:t>lipid</a:t>
            </a:r>
            <a:endParaRPr lang="fr-FR" dirty="0">
              <a:latin typeface="Century Schoolbook" panose="02040604050505020304" pitchFamily="18" charset="0"/>
            </a:endParaRPr>
          </a:p>
          <a:p>
            <a:endParaRPr lang="fr-FR" dirty="0">
              <a:latin typeface="Century Schoolbook" panose="02040604050505020304" pitchFamily="18" charset="0"/>
            </a:endParaRPr>
          </a:p>
          <a:p>
            <a:pPr marL="285750" indent="-285750" algn="just">
              <a:buFont typeface="Arial" panose="020B0604020202020204" pitchFamily="34" charset="0"/>
              <a:buChar char="•"/>
            </a:pPr>
            <a:r>
              <a:rPr lang="fr-FR" dirty="0">
                <a:latin typeface="Century Schoolbook" panose="02040604050505020304" pitchFamily="18" charset="0"/>
              </a:rPr>
              <a:t>4 </a:t>
            </a:r>
            <a:r>
              <a:rPr lang="fr-FR" dirty="0" err="1">
                <a:latin typeface="Century Schoolbook" panose="02040604050505020304" pitchFamily="18" charset="0"/>
              </a:rPr>
              <a:t>most</a:t>
            </a:r>
            <a:r>
              <a:rPr lang="fr-FR" dirty="0">
                <a:latin typeface="Century Schoolbook" panose="02040604050505020304" pitchFamily="18" charset="0"/>
              </a:rPr>
              <a:t> </a:t>
            </a:r>
            <a:r>
              <a:rPr lang="fr-FR" dirty="0" err="1">
                <a:latin typeface="Century Schoolbook" panose="02040604050505020304" pitchFamily="18" charset="0"/>
              </a:rPr>
              <a:t>common</a:t>
            </a:r>
            <a:r>
              <a:rPr lang="fr-FR" dirty="0">
                <a:latin typeface="Century Schoolbook" panose="02040604050505020304" pitchFamily="18" charset="0"/>
              </a:rPr>
              <a:t> modifications:</a:t>
            </a:r>
          </a:p>
          <a:p>
            <a:pPr algn="just"/>
            <a:endParaRPr lang="fr-FR" dirty="0">
              <a:latin typeface="Century Schoolbook" panose="02040604050505020304" pitchFamily="18" charset="0"/>
            </a:endParaRPr>
          </a:p>
          <a:p>
            <a:pPr marL="342900" indent="-342900" algn="just">
              <a:buFont typeface="+mj-lt"/>
              <a:buAutoNum type="arabicPeriod"/>
            </a:pPr>
            <a:r>
              <a:rPr lang="fr-FR" dirty="0" err="1">
                <a:latin typeface="Century Schoolbook" panose="02040604050505020304" pitchFamily="18" charset="0"/>
              </a:rPr>
              <a:t>Isoprenylation</a:t>
            </a:r>
            <a:r>
              <a:rPr lang="fr-FR" dirty="0">
                <a:latin typeface="Century Schoolbook" panose="02040604050505020304" pitchFamily="18" charset="0"/>
              </a:rPr>
              <a:t>: </a:t>
            </a:r>
            <a:r>
              <a:rPr lang="fr-FR" dirty="0" err="1">
                <a:latin typeface="Century Schoolbook" panose="02040604050505020304" pitchFamily="18" charset="0"/>
              </a:rPr>
              <a:t>farnesyl</a:t>
            </a:r>
            <a:r>
              <a:rPr lang="fr-FR" dirty="0">
                <a:latin typeface="Century Schoolbook" panose="02040604050505020304" pitchFamily="18" charset="0"/>
              </a:rPr>
              <a:t> or </a:t>
            </a:r>
            <a:r>
              <a:rPr lang="fr-FR" dirty="0" err="1">
                <a:latin typeface="Century Schoolbook" panose="02040604050505020304" pitchFamily="18" charset="0"/>
              </a:rPr>
              <a:t>geranylgeranyl</a:t>
            </a:r>
            <a:r>
              <a:rPr lang="fr-FR" dirty="0">
                <a:latin typeface="Century Schoolbook" panose="02040604050505020304" pitchFamily="18" charset="0"/>
              </a:rPr>
              <a:t>, </a:t>
            </a:r>
            <a:r>
              <a:rPr lang="fr-FR" b="1" dirty="0" err="1">
                <a:latin typeface="Century Schoolbook" panose="02040604050505020304" pitchFamily="18" charset="0"/>
              </a:rPr>
              <a:t>thioester</a:t>
            </a:r>
            <a:r>
              <a:rPr lang="fr-FR" b="1" dirty="0">
                <a:latin typeface="Century Schoolbook" panose="02040604050505020304" pitchFamily="18" charset="0"/>
              </a:rPr>
              <a:t> bond</a:t>
            </a:r>
            <a:r>
              <a:rPr lang="fr-FR" dirty="0">
                <a:latin typeface="Century Schoolbook" panose="02040604050505020304" pitchFamily="18" charset="0"/>
              </a:rPr>
              <a:t>, on a </a:t>
            </a:r>
            <a:r>
              <a:rPr lang="fr-FR" dirty="0" err="1">
                <a:latin typeface="Century Schoolbook" panose="02040604050505020304" pitchFamily="18" charset="0"/>
              </a:rPr>
              <a:t>cysteine</a:t>
            </a:r>
            <a:r>
              <a:rPr lang="fr-FR" dirty="0">
                <a:latin typeface="Century Schoolbook" panose="02040604050505020304" pitchFamily="18" charset="0"/>
              </a:rPr>
              <a:t> ​​</a:t>
            </a:r>
            <a:r>
              <a:rPr lang="fr-FR" dirty="0" err="1">
                <a:latin typeface="Century Schoolbook" panose="02040604050505020304" pitchFamily="18" charset="0"/>
              </a:rPr>
              <a:t>at</a:t>
            </a:r>
            <a:r>
              <a:rPr lang="fr-FR" dirty="0">
                <a:latin typeface="Century Schoolbook" panose="02040604050505020304" pitchFamily="18" charset="0"/>
              </a:rPr>
              <a:t> the C-terminus or </a:t>
            </a:r>
            <a:r>
              <a:rPr lang="fr-FR" dirty="0" err="1">
                <a:latin typeface="Century Schoolbook" panose="02040604050505020304" pitchFamily="18" charset="0"/>
              </a:rPr>
              <a:t>near</a:t>
            </a:r>
            <a:r>
              <a:rPr lang="fr-FR" dirty="0">
                <a:latin typeface="Century Schoolbook" panose="02040604050505020304" pitchFamily="18" charset="0"/>
              </a:rPr>
              <a:t> </a:t>
            </a:r>
            <a:r>
              <a:rPr lang="fr-FR" dirty="0" err="1">
                <a:latin typeface="Century Schoolbook" panose="02040604050505020304" pitchFamily="18" charset="0"/>
              </a:rPr>
              <a:t>this</a:t>
            </a:r>
            <a:r>
              <a:rPr lang="fr-FR" dirty="0">
                <a:latin typeface="Century Schoolbook" panose="02040604050505020304" pitchFamily="18" charset="0"/>
              </a:rPr>
              <a:t> end.</a:t>
            </a:r>
          </a:p>
          <a:p>
            <a:pPr marL="342900" indent="-342900" algn="just">
              <a:buFont typeface="+mj-lt"/>
              <a:buAutoNum type="arabicPeriod"/>
            </a:pPr>
            <a:r>
              <a:rPr lang="fr-FR" dirty="0" err="1">
                <a:latin typeface="Century Schoolbook" panose="02040604050505020304" pitchFamily="18" charset="0"/>
              </a:rPr>
              <a:t>Myristoylation</a:t>
            </a:r>
            <a:r>
              <a:rPr lang="fr-FR" dirty="0">
                <a:latin typeface="Century Schoolbook" panose="02040604050505020304" pitchFamily="18" charset="0"/>
              </a:rPr>
              <a:t>: </a:t>
            </a:r>
            <a:r>
              <a:rPr lang="fr-FR" dirty="0" err="1">
                <a:latin typeface="Century Schoolbook" panose="02040604050505020304" pitchFamily="18" charset="0"/>
              </a:rPr>
              <a:t>myristic</a:t>
            </a:r>
            <a:r>
              <a:rPr lang="fr-FR" dirty="0">
                <a:latin typeface="Century Schoolbook" panose="02040604050505020304" pitchFamily="18" charset="0"/>
              </a:rPr>
              <a:t> </a:t>
            </a:r>
            <a:r>
              <a:rPr lang="fr-FR" dirty="0" err="1">
                <a:latin typeface="Century Schoolbook" panose="02040604050505020304" pitchFamily="18" charset="0"/>
              </a:rPr>
              <a:t>acid</a:t>
            </a:r>
            <a:r>
              <a:rPr lang="fr-FR" dirty="0">
                <a:latin typeface="Century Schoolbook" panose="02040604050505020304" pitchFamily="18" charset="0"/>
              </a:rPr>
              <a:t> N-</a:t>
            </a:r>
            <a:r>
              <a:rPr lang="fr-FR" dirty="0" err="1">
                <a:latin typeface="Century Schoolbook" panose="02040604050505020304" pitchFamily="18" charset="0"/>
              </a:rPr>
              <a:t>myristoylation</a:t>
            </a:r>
            <a:r>
              <a:rPr lang="fr-FR" dirty="0">
                <a:latin typeface="Century Schoolbook" panose="02040604050505020304" pitchFamily="18" charset="0"/>
              </a:rPr>
              <a:t>: </a:t>
            </a:r>
            <a:r>
              <a:rPr lang="fr-FR" dirty="0" err="1">
                <a:latin typeface="Century Schoolbook" panose="02040604050505020304" pitchFamily="18" charset="0"/>
              </a:rPr>
              <a:t>myristic</a:t>
            </a:r>
            <a:r>
              <a:rPr lang="fr-FR" dirty="0">
                <a:latin typeface="Century Schoolbook" panose="02040604050505020304" pitchFamily="18" charset="0"/>
              </a:rPr>
              <a:t> </a:t>
            </a:r>
            <a:r>
              <a:rPr lang="fr-FR" dirty="0" err="1">
                <a:latin typeface="Century Schoolbook" panose="02040604050505020304" pitchFamily="18" charset="0"/>
              </a:rPr>
              <a:t>acid</a:t>
            </a:r>
            <a:r>
              <a:rPr lang="fr-FR" dirty="0">
                <a:latin typeface="Century Schoolbook" panose="02040604050505020304" pitchFamily="18" charset="0"/>
              </a:rPr>
              <a:t> on a glycine </a:t>
            </a:r>
            <a:r>
              <a:rPr lang="fr-FR" dirty="0" err="1">
                <a:latin typeface="Century Schoolbook" panose="02040604050505020304" pitchFamily="18" charset="0"/>
              </a:rPr>
              <a:t>at</a:t>
            </a:r>
            <a:r>
              <a:rPr lang="fr-FR" dirty="0">
                <a:latin typeface="Century Schoolbook" panose="02040604050505020304" pitchFamily="18" charset="0"/>
              </a:rPr>
              <a:t> the N-terminus.</a:t>
            </a:r>
          </a:p>
          <a:p>
            <a:pPr marL="342900" indent="-342900" algn="just">
              <a:buFont typeface="+mj-lt"/>
              <a:buAutoNum type="arabicPeriod"/>
            </a:pPr>
            <a:r>
              <a:rPr lang="fr-FR" dirty="0" err="1">
                <a:latin typeface="Century Schoolbook" panose="02040604050505020304" pitchFamily="18" charset="0"/>
              </a:rPr>
              <a:t>Palmitoylation</a:t>
            </a:r>
            <a:r>
              <a:rPr lang="fr-FR" dirty="0">
                <a:latin typeface="Century Schoolbook" panose="02040604050505020304" pitchFamily="18" charset="0"/>
              </a:rPr>
              <a:t>: </a:t>
            </a:r>
            <a:r>
              <a:rPr lang="fr-FR" dirty="0" err="1">
                <a:latin typeface="Century Schoolbook" panose="02040604050505020304" pitchFamily="18" charset="0"/>
              </a:rPr>
              <a:t>palmitic</a:t>
            </a:r>
            <a:r>
              <a:rPr lang="fr-FR" dirty="0">
                <a:latin typeface="Century Schoolbook" panose="02040604050505020304" pitchFamily="18" charset="0"/>
              </a:rPr>
              <a:t> </a:t>
            </a:r>
            <a:r>
              <a:rPr lang="fr-FR" dirty="0" err="1">
                <a:latin typeface="Century Schoolbook" panose="02040604050505020304" pitchFamily="18" charset="0"/>
              </a:rPr>
              <a:t>acid</a:t>
            </a:r>
            <a:r>
              <a:rPr lang="fr-FR" dirty="0">
                <a:latin typeface="Century Schoolbook" panose="02040604050505020304" pitchFamily="18" charset="0"/>
              </a:rPr>
              <a:t> via a </a:t>
            </a:r>
            <a:r>
              <a:rPr lang="fr-FR" b="1" dirty="0" err="1">
                <a:latin typeface="Century Schoolbook" panose="02040604050505020304" pitchFamily="18" charset="0"/>
              </a:rPr>
              <a:t>thioester</a:t>
            </a:r>
            <a:r>
              <a:rPr lang="fr-FR" b="1" dirty="0">
                <a:latin typeface="Century Schoolbook" panose="02040604050505020304" pitchFamily="18" charset="0"/>
              </a:rPr>
              <a:t> bond</a:t>
            </a:r>
            <a:r>
              <a:rPr lang="fr-FR" dirty="0">
                <a:latin typeface="Century Schoolbook" panose="02040604050505020304" pitchFamily="18" charset="0"/>
              </a:rPr>
              <a:t>, on an </a:t>
            </a:r>
            <a:r>
              <a:rPr lang="fr-FR" dirty="0" err="1">
                <a:latin typeface="Century Schoolbook" panose="02040604050505020304" pitchFamily="18" charset="0"/>
              </a:rPr>
              <a:t>internal</a:t>
            </a:r>
            <a:r>
              <a:rPr lang="fr-FR" dirty="0">
                <a:latin typeface="Century Schoolbook" panose="02040604050505020304" pitchFamily="18" charset="0"/>
              </a:rPr>
              <a:t> or C-terminal </a:t>
            </a:r>
            <a:r>
              <a:rPr lang="fr-FR" dirty="0" err="1">
                <a:latin typeface="Century Schoolbook" panose="02040604050505020304" pitchFamily="18" charset="0"/>
              </a:rPr>
              <a:t>cysteine</a:t>
            </a:r>
            <a:r>
              <a:rPr lang="fr-FR" dirty="0">
                <a:latin typeface="Century Schoolbook" panose="02040604050505020304" pitchFamily="18" charset="0"/>
              </a:rPr>
              <a:t>.</a:t>
            </a:r>
          </a:p>
          <a:p>
            <a:pPr marL="342900" indent="-342900" algn="just">
              <a:buFont typeface="+mj-lt"/>
              <a:buAutoNum type="arabicPeriod"/>
            </a:pPr>
            <a:r>
              <a:rPr lang="fr-FR" dirty="0" err="1">
                <a:latin typeface="Century Schoolbook" panose="02040604050505020304" pitchFamily="18" charset="0"/>
              </a:rPr>
              <a:t>Glypiation</a:t>
            </a:r>
            <a:r>
              <a:rPr lang="fr-FR" dirty="0">
                <a:latin typeface="Century Schoolbook" panose="02040604050505020304" pitchFamily="18" charset="0"/>
              </a:rPr>
              <a:t>: </a:t>
            </a:r>
            <a:r>
              <a:rPr lang="fr-FR" dirty="0" err="1">
                <a:latin typeface="Century Schoolbook" panose="02040604050505020304" pitchFamily="18" charset="0"/>
              </a:rPr>
              <a:t>glycosylphosphatidylinositol</a:t>
            </a:r>
            <a:r>
              <a:rPr lang="fr-FR" dirty="0">
                <a:latin typeface="Century Schoolbook" panose="02040604050505020304" pitchFamily="18" charset="0"/>
              </a:rPr>
              <a:t> (GPI) or GPI </a:t>
            </a:r>
            <a:r>
              <a:rPr lang="fr-FR" dirty="0" err="1">
                <a:latin typeface="Century Schoolbook" panose="02040604050505020304" pitchFamily="18" charset="0"/>
              </a:rPr>
              <a:t>anchor</a:t>
            </a:r>
            <a:r>
              <a:rPr lang="fr-FR" dirty="0">
                <a:latin typeface="Century Schoolbook" panose="02040604050505020304" pitchFamily="18" charset="0"/>
              </a:rPr>
              <a:t> </a:t>
            </a:r>
            <a:r>
              <a:rPr lang="fr-FR" dirty="0" err="1">
                <a:latin typeface="Century Schoolbook" panose="02040604050505020304" pitchFamily="18" charset="0"/>
              </a:rPr>
              <a:t>protein</a:t>
            </a:r>
            <a:r>
              <a:rPr lang="fr-FR" dirty="0">
                <a:latin typeface="Century Schoolbook" panose="02040604050505020304" pitchFamily="18" charset="0"/>
              </a:rPr>
              <a:t> on a C-terminal </a:t>
            </a:r>
            <a:r>
              <a:rPr lang="fr-FR" dirty="0" err="1">
                <a:latin typeface="Century Schoolbook" panose="02040604050505020304" pitchFamily="18" charset="0"/>
              </a:rPr>
              <a:t>amino</a:t>
            </a:r>
            <a:r>
              <a:rPr lang="fr-FR" dirty="0">
                <a:latin typeface="Century Schoolbook" panose="02040604050505020304" pitchFamily="18" charset="0"/>
              </a:rPr>
              <a:t> </a:t>
            </a:r>
            <a:r>
              <a:rPr lang="fr-FR" dirty="0" err="1">
                <a:latin typeface="Century Schoolbook" panose="02040604050505020304" pitchFamily="18" charset="0"/>
              </a:rPr>
              <a:t>acid</a:t>
            </a:r>
            <a:endParaRPr lang="fr-FR" dirty="0">
              <a:latin typeface="Century Schoolbook" panose="02040604050505020304" pitchFamily="18" charset="0"/>
            </a:endParaRPr>
          </a:p>
          <a:p>
            <a:endParaRPr lang="fr-FR" dirty="0"/>
          </a:p>
        </p:txBody>
      </p:sp>
      <p:sp>
        <p:nvSpPr>
          <p:cNvPr id="3" name="Rectangle 2"/>
          <p:cNvSpPr/>
          <p:nvPr/>
        </p:nvSpPr>
        <p:spPr>
          <a:xfrm>
            <a:off x="537659" y="548680"/>
            <a:ext cx="4070345" cy="646331"/>
          </a:xfrm>
          <a:prstGeom prst="rect">
            <a:avLst/>
          </a:prstGeom>
        </p:spPr>
        <p:txBody>
          <a:bodyPr wrap="none">
            <a:spAutoFit/>
          </a:bodyPr>
          <a:lstStyle/>
          <a:p>
            <a:r>
              <a:rPr lang="fr-FR" sz="3600" b="1" dirty="0">
                <a:latin typeface="Century Schoolbook" panose="02040604050505020304" pitchFamily="18" charset="0"/>
              </a:rPr>
              <a:t>Lipid </a:t>
            </a:r>
            <a:r>
              <a:rPr lang="fr-FR" sz="3600" b="1" dirty="0" err="1">
                <a:latin typeface="Century Schoolbook" panose="02040604050505020304" pitchFamily="18" charset="0"/>
              </a:rPr>
              <a:t>anchoring</a:t>
            </a:r>
            <a:endParaRPr lang="fr-FR" sz="3600" b="1" dirty="0">
              <a:latin typeface="Century Schoolbook" panose="02040604050505020304" pitchFamily="18" charset="0"/>
            </a:endParaRPr>
          </a:p>
        </p:txBody>
      </p:sp>
      <p:pic>
        <p:nvPicPr>
          <p:cNvPr id="4" name="Image 3"/>
          <p:cNvPicPr>
            <a:picLocks noChangeAspect="1"/>
          </p:cNvPicPr>
          <p:nvPr/>
        </p:nvPicPr>
        <p:blipFill rotWithShape="1">
          <a:blip r:embed="rId2"/>
          <a:srcRect l="41844" t="24840" r="30552" b="8068"/>
          <a:stretch/>
        </p:blipFill>
        <p:spPr>
          <a:xfrm>
            <a:off x="5884602" y="229226"/>
            <a:ext cx="3079885" cy="391985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rotWithShape="1">
          <a:blip r:embed="rId2" cstate="print"/>
          <a:srcRect t="969" r="953" b="1227"/>
          <a:stretch/>
        </p:blipFill>
        <p:spPr bwMode="auto">
          <a:xfrm>
            <a:off x="755576" y="941696"/>
            <a:ext cx="7488832" cy="5158853"/>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371" name="Image.jpg"/>
          <p:cNvPicPr>
            <a:picLocks noChangeAspect="1" noChangeArrowheads="1"/>
          </p:cNvPicPr>
          <p:nvPr/>
        </p:nvPicPr>
        <p:blipFill>
          <a:blip r:embed="rId2" cstate="print"/>
          <a:srcRect/>
          <a:stretch>
            <a:fillRect/>
          </a:stretch>
        </p:blipFill>
        <p:spPr bwMode="auto">
          <a:xfrm>
            <a:off x="479425" y="1700213"/>
            <a:ext cx="4643438" cy="3756025"/>
          </a:xfrm>
          <a:prstGeom prst="rect">
            <a:avLst/>
          </a:prstGeom>
          <a:noFill/>
          <a:ln w="9525">
            <a:noFill/>
            <a:miter lim="800000"/>
            <a:headEnd/>
            <a:tailEnd/>
          </a:ln>
        </p:spPr>
      </p:pic>
      <p:sp>
        <p:nvSpPr>
          <p:cNvPr id="6" name="Forme libre 5"/>
          <p:cNvSpPr/>
          <p:nvPr/>
        </p:nvSpPr>
        <p:spPr>
          <a:xfrm>
            <a:off x="2941638" y="4441825"/>
            <a:ext cx="488950" cy="541338"/>
          </a:xfrm>
          <a:custGeom>
            <a:avLst/>
            <a:gdLst>
              <a:gd name="connsiteX0" fmla="*/ 106219 w 488684"/>
              <a:gd name="connsiteY0" fmla="*/ 333829 h 541604"/>
              <a:gd name="connsiteX1" fmla="*/ 48162 w 488684"/>
              <a:gd name="connsiteY1" fmla="*/ 232229 h 541604"/>
              <a:gd name="connsiteX2" fmla="*/ 19133 w 488684"/>
              <a:gd name="connsiteY2" fmla="*/ 130629 h 541604"/>
              <a:gd name="connsiteX3" fmla="*/ 77190 w 488684"/>
              <a:gd name="connsiteY3" fmla="*/ 0 h 541604"/>
              <a:gd name="connsiteX4" fmla="*/ 164276 w 488684"/>
              <a:gd name="connsiteY4" fmla="*/ 14515 h 541604"/>
              <a:gd name="connsiteX5" fmla="*/ 251362 w 488684"/>
              <a:gd name="connsiteY5" fmla="*/ 43543 h 541604"/>
              <a:gd name="connsiteX6" fmla="*/ 265876 w 488684"/>
              <a:gd name="connsiteY6" fmla="*/ 130629 h 541604"/>
              <a:gd name="connsiteX7" fmla="*/ 222333 w 488684"/>
              <a:gd name="connsiteY7" fmla="*/ 145143 h 541604"/>
              <a:gd name="connsiteX8" fmla="*/ 236848 w 488684"/>
              <a:gd name="connsiteY8" fmla="*/ 275772 h 541604"/>
              <a:gd name="connsiteX9" fmla="*/ 280390 w 488684"/>
              <a:gd name="connsiteY9" fmla="*/ 290286 h 541604"/>
              <a:gd name="connsiteX10" fmla="*/ 309419 w 488684"/>
              <a:gd name="connsiteY10" fmla="*/ 246743 h 541604"/>
              <a:gd name="connsiteX11" fmla="*/ 323933 w 488684"/>
              <a:gd name="connsiteY11" fmla="*/ 188686 h 541604"/>
              <a:gd name="connsiteX12" fmla="*/ 440048 w 488684"/>
              <a:gd name="connsiteY12" fmla="*/ 174172 h 541604"/>
              <a:gd name="connsiteX13" fmla="*/ 454562 w 488684"/>
              <a:gd name="connsiteY13" fmla="*/ 319315 h 541604"/>
              <a:gd name="connsiteX14" fmla="*/ 367476 w 488684"/>
              <a:gd name="connsiteY14" fmla="*/ 362858 h 541604"/>
              <a:gd name="connsiteX15" fmla="*/ 280390 w 488684"/>
              <a:gd name="connsiteY15" fmla="*/ 406400 h 541604"/>
              <a:gd name="connsiteX16" fmla="*/ 164276 w 488684"/>
              <a:gd name="connsiteY16" fmla="*/ 420915 h 541604"/>
              <a:gd name="connsiteX17" fmla="*/ 91705 w 488684"/>
              <a:gd name="connsiteY17" fmla="*/ 435429 h 541604"/>
              <a:gd name="connsiteX18" fmla="*/ 164276 w 488684"/>
              <a:gd name="connsiteY18" fmla="*/ 522515 h 541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88684" h="541604">
                <a:moveTo>
                  <a:pt x="106219" y="333829"/>
                </a:moveTo>
                <a:cubicBezTo>
                  <a:pt x="77065" y="290098"/>
                  <a:pt x="70260" y="283792"/>
                  <a:pt x="48162" y="232229"/>
                </a:cubicBezTo>
                <a:cubicBezTo>
                  <a:pt x="35670" y="203081"/>
                  <a:pt x="26497" y="160085"/>
                  <a:pt x="19133" y="130629"/>
                </a:cubicBezTo>
                <a:cubicBezTo>
                  <a:pt x="26988" y="67790"/>
                  <a:pt x="0" y="0"/>
                  <a:pt x="77190" y="0"/>
                </a:cubicBezTo>
                <a:cubicBezTo>
                  <a:pt x="106619" y="0"/>
                  <a:pt x="135726" y="7377"/>
                  <a:pt x="164276" y="14515"/>
                </a:cubicBezTo>
                <a:cubicBezTo>
                  <a:pt x="193961" y="21936"/>
                  <a:pt x="251362" y="43543"/>
                  <a:pt x="251362" y="43543"/>
                </a:cubicBezTo>
                <a:cubicBezTo>
                  <a:pt x="270606" y="72409"/>
                  <a:pt x="301931" y="94574"/>
                  <a:pt x="265876" y="130629"/>
                </a:cubicBezTo>
                <a:cubicBezTo>
                  <a:pt x="255058" y="141447"/>
                  <a:pt x="236847" y="140305"/>
                  <a:pt x="222333" y="145143"/>
                </a:cubicBezTo>
                <a:cubicBezTo>
                  <a:pt x="227171" y="188686"/>
                  <a:pt x="220577" y="235095"/>
                  <a:pt x="236848" y="275772"/>
                </a:cubicBezTo>
                <a:cubicBezTo>
                  <a:pt x="242530" y="289977"/>
                  <a:pt x="266185" y="295968"/>
                  <a:pt x="280390" y="290286"/>
                </a:cubicBezTo>
                <a:cubicBezTo>
                  <a:pt x="296586" y="283807"/>
                  <a:pt x="299743" y="261257"/>
                  <a:pt x="309419" y="246743"/>
                </a:cubicBezTo>
                <a:cubicBezTo>
                  <a:pt x="314257" y="227391"/>
                  <a:pt x="312868" y="205284"/>
                  <a:pt x="323933" y="188686"/>
                </a:cubicBezTo>
                <a:cubicBezTo>
                  <a:pt x="356595" y="139693"/>
                  <a:pt x="394788" y="165120"/>
                  <a:pt x="440048" y="174172"/>
                </a:cubicBezTo>
                <a:cubicBezTo>
                  <a:pt x="456691" y="224101"/>
                  <a:pt x="488684" y="268133"/>
                  <a:pt x="454562" y="319315"/>
                </a:cubicBezTo>
                <a:cubicBezTo>
                  <a:pt x="433766" y="350509"/>
                  <a:pt x="396452" y="348370"/>
                  <a:pt x="367476" y="362858"/>
                </a:cubicBezTo>
                <a:cubicBezTo>
                  <a:pt x="314353" y="389419"/>
                  <a:pt x="337719" y="395976"/>
                  <a:pt x="280390" y="406400"/>
                </a:cubicBezTo>
                <a:cubicBezTo>
                  <a:pt x="242013" y="413378"/>
                  <a:pt x="202828" y="414984"/>
                  <a:pt x="164276" y="420915"/>
                </a:cubicBezTo>
                <a:cubicBezTo>
                  <a:pt x="139893" y="424666"/>
                  <a:pt x="115895" y="430591"/>
                  <a:pt x="91705" y="435429"/>
                </a:cubicBezTo>
                <a:cubicBezTo>
                  <a:pt x="109400" y="541604"/>
                  <a:pt x="76790" y="522515"/>
                  <a:pt x="164276" y="522515"/>
                </a:cubicBezTo>
              </a:path>
            </a:pathLst>
          </a:custGeom>
          <a:ln>
            <a:solidFill>
              <a:srgbClr val="0000FF"/>
            </a:solidFill>
          </a:ln>
        </p:spPr>
        <p:style>
          <a:lnRef idx="3">
            <a:schemeClr val="accent1"/>
          </a:lnRef>
          <a:fillRef idx="0">
            <a:schemeClr val="accent1"/>
          </a:fillRef>
          <a:effectRef idx="2">
            <a:schemeClr val="accent1"/>
          </a:effectRef>
          <a:fontRef idx="minor">
            <a:schemeClr val="tx1"/>
          </a:fontRef>
        </p:style>
        <p:txBody>
          <a:bodyPr anchor="ctr"/>
          <a:lstStyle/>
          <a:p>
            <a:pPr algn="ctr">
              <a:defRPr/>
            </a:pPr>
            <a:endParaRPr lang="fr-FR"/>
          </a:p>
        </p:txBody>
      </p:sp>
      <p:sp>
        <p:nvSpPr>
          <p:cNvPr id="2" name="Rectangle 1"/>
          <p:cNvSpPr/>
          <p:nvPr/>
        </p:nvSpPr>
        <p:spPr>
          <a:xfrm>
            <a:off x="479425" y="332656"/>
            <a:ext cx="5182829" cy="461665"/>
          </a:xfrm>
          <a:prstGeom prst="rect">
            <a:avLst/>
          </a:prstGeom>
        </p:spPr>
        <p:txBody>
          <a:bodyPr wrap="none">
            <a:spAutoFit/>
          </a:bodyPr>
          <a:lstStyle/>
          <a:p>
            <a:r>
              <a:rPr lang="fr-FR" sz="2400" b="1" dirty="0">
                <a:latin typeface="Century Schoolbook" panose="02040604050505020304" pitchFamily="18" charset="0"/>
              </a:rPr>
              <a:t>Peripheral Proteins (</a:t>
            </a:r>
            <a:r>
              <a:rPr lang="fr-FR" sz="2400" b="1" dirty="0" err="1">
                <a:latin typeface="Century Schoolbook" panose="02040604050505020304" pitchFamily="18" charset="0"/>
              </a:rPr>
              <a:t>Extrinsic</a:t>
            </a:r>
            <a:r>
              <a:rPr lang="fr-FR" sz="2400" b="1" dirty="0">
                <a:latin typeface="Century Schoolbook" panose="02040604050505020304" pitchFamily="18" charset="0"/>
              </a:rPr>
              <a:t>)</a:t>
            </a:r>
          </a:p>
        </p:txBody>
      </p:sp>
      <p:sp>
        <p:nvSpPr>
          <p:cNvPr id="3" name="Rectangle 2"/>
          <p:cNvSpPr/>
          <p:nvPr/>
        </p:nvSpPr>
        <p:spPr>
          <a:xfrm>
            <a:off x="5292080" y="3980160"/>
            <a:ext cx="3707904" cy="1323439"/>
          </a:xfrm>
          <a:prstGeom prst="rect">
            <a:avLst/>
          </a:prstGeom>
        </p:spPr>
        <p:txBody>
          <a:bodyPr wrap="square">
            <a:spAutoFit/>
          </a:bodyPr>
          <a:lstStyle/>
          <a:p>
            <a:pPr algn="just"/>
            <a:r>
              <a:rPr lang="en-US" sz="2000" dirty="0">
                <a:latin typeface="Century Schoolbook" panose="02040604050505020304" pitchFamily="18" charset="0"/>
              </a:rPr>
              <a:t>They bind either to the hydrophilic head groups or to the hydrophilic portions of proteins</a:t>
            </a:r>
            <a:endParaRPr lang="fr-FR" sz="2000" dirty="0">
              <a:latin typeface="Century Schoolbook" panose="020406040505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500063" y="5500688"/>
            <a:ext cx="2211387" cy="461962"/>
          </a:xfrm>
          <a:prstGeom prst="rect">
            <a:avLst/>
          </a:prstGeom>
        </p:spPr>
        <p:txBody>
          <a:bodyPr wrap="none">
            <a:spAutoFit/>
          </a:bodyPr>
          <a:lstStyle/>
          <a:p>
            <a:pPr fontAlgn="auto">
              <a:spcBef>
                <a:spcPts val="0"/>
              </a:spcBef>
              <a:spcAft>
                <a:spcPts val="0"/>
              </a:spcAft>
              <a:defRPr/>
            </a:pPr>
            <a:r>
              <a:rPr lang="fr-FR" b="1" spc="90" dirty="0">
                <a:solidFill>
                  <a:srgbClr val="269E0A"/>
                </a:solidFill>
                <a:latin typeface="Arial" panose="22635452340000000000" pitchFamily="2"/>
              </a:rPr>
              <a:t>                     </a:t>
            </a:r>
            <a:endParaRPr lang="fr-FR" dirty="0">
              <a:latin typeface="+mn-lt"/>
            </a:endParaRPr>
          </a:p>
        </p:txBody>
      </p:sp>
      <p:sp>
        <p:nvSpPr>
          <p:cNvPr id="2" name="Rectangle 1"/>
          <p:cNvSpPr/>
          <p:nvPr/>
        </p:nvSpPr>
        <p:spPr>
          <a:xfrm>
            <a:off x="461828" y="356636"/>
            <a:ext cx="3565400" cy="523220"/>
          </a:xfrm>
          <a:prstGeom prst="rect">
            <a:avLst/>
          </a:prstGeom>
        </p:spPr>
        <p:txBody>
          <a:bodyPr wrap="none">
            <a:spAutoFit/>
          </a:bodyPr>
          <a:lstStyle/>
          <a:p>
            <a:r>
              <a:rPr lang="fr-FR" sz="2800" b="1" dirty="0">
                <a:latin typeface="Century Schoolbook" panose="02040604050505020304" pitchFamily="18" charset="0"/>
              </a:rPr>
              <a:t>Membrane Lipids:</a:t>
            </a:r>
          </a:p>
        </p:txBody>
      </p:sp>
      <p:sp>
        <p:nvSpPr>
          <p:cNvPr id="3" name="Rectangle 2"/>
          <p:cNvSpPr/>
          <p:nvPr/>
        </p:nvSpPr>
        <p:spPr>
          <a:xfrm>
            <a:off x="0" y="1143816"/>
            <a:ext cx="8892480" cy="2031325"/>
          </a:xfrm>
          <a:prstGeom prst="rect">
            <a:avLst/>
          </a:prstGeom>
        </p:spPr>
        <p:txBody>
          <a:bodyPr wrap="square">
            <a:spAutoFit/>
          </a:bodyPr>
          <a:lstStyle/>
          <a:p>
            <a:pPr algn="just"/>
            <a:r>
              <a:rPr lang="en-US" dirty="0">
                <a:latin typeface="Century Schoolbook" panose="02040604050505020304" pitchFamily="18" charset="0"/>
              </a:rPr>
              <a:t>From the Greek word “</a:t>
            </a:r>
            <a:r>
              <a:rPr lang="en-US" dirty="0" err="1">
                <a:latin typeface="Century Schoolbook" panose="02040604050505020304" pitchFamily="18" charset="0"/>
              </a:rPr>
              <a:t>lipos</a:t>
            </a:r>
            <a:r>
              <a:rPr lang="en-US" dirty="0">
                <a:latin typeface="Century Schoolbook" panose="02040604050505020304" pitchFamily="18" charset="0"/>
              </a:rPr>
              <a:t>” (fat), are characterized by a physical property: insolubility in aqueous media.</a:t>
            </a:r>
          </a:p>
          <a:p>
            <a:pPr algn="just"/>
            <a:endParaRPr lang="en-US" dirty="0">
              <a:latin typeface="Century Schoolbook" panose="02040604050505020304" pitchFamily="18" charset="0"/>
            </a:endParaRPr>
          </a:p>
          <a:p>
            <a:pPr algn="just"/>
            <a:r>
              <a:rPr lang="en-US" dirty="0">
                <a:latin typeface="Century Schoolbook" panose="02040604050505020304" pitchFamily="18" charset="0"/>
              </a:rPr>
              <a:t>But they are soluble in non polar organic solvents (chloroform, ether, acetone etc.).</a:t>
            </a:r>
          </a:p>
          <a:p>
            <a:pPr algn="just"/>
            <a:r>
              <a:rPr lang="en-US" dirty="0">
                <a:latin typeface="Century Schoolbook" panose="02040604050505020304" pitchFamily="18" charset="0"/>
              </a:rPr>
              <a:t>They are organic molecules (C,H,O).</a:t>
            </a:r>
          </a:p>
          <a:p>
            <a:pPr algn="just"/>
            <a:endParaRPr lang="en-US" dirty="0">
              <a:latin typeface="Century Schoolbook" panose="02040604050505020304" pitchFamily="18" charset="0"/>
            </a:endParaRPr>
          </a:p>
          <a:p>
            <a:pPr algn="just"/>
            <a:r>
              <a:rPr lang="en-US" dirty="0">
                <a:latin typeface="Century Schoolbook" panose="02040604050505020304" pitchFamily="18" charset="0"/>
              </a:rPr>
              <a:t>They are characterized by the presence of at least one fatty acid in the molecule.</a:t>
            </a:r>
            <a:endParaRPr lang="fr-FR" dirty="0">
              <a:latin typeface="Century Schoolbook" panose="02040604050505020304" pitchFamily="18" charset="0"/>
            </a:endParaRPr>
          </a:p>
        </p:txBody>
      </p:sp>
      <p:sp>
        <p:nvSpPr>
          <p:cNvPr id="4" name="Rectangle 3"/>
          <p:cNvSpPr/>
          <p:nvPr/>
        </p:nvSpPr>
        <p:spPr>
          <a:xfrm>
            <a:off x="1259632" y="3828813"/>
            <a:ext cx="5184576" cy="1631216"/>
          </a:xfrm>
          <a:prstGeom prst="rect">
            <a:avLst/>
          </a:prstGeom>
        </p:spPr>
        <p:txBody>
          <a:bodyPr wrap="square">
            <a:spAutoFit/>
          </a:bodyPr>
          <a:lstStyle/>
          <a:p>
            <a:r>
              <a:rPr lang="en-US" sz="2000" b="1" dirty="0">
                <a:latin typeface="Century Schoolbook" panose="02040604050505020304" pitchFamily="18" charset="0"/>
              </a:rPr>
              <a:t>Classification of  membrane lipids:</a:t>
            </a:r>
          </a:p>
          <a:p>
            <a:endParaRPr lang="en-US" sz="2000" dirty="0">
              <a:latin typeface="Century Schoolbook" panose="02040604050505020304" pitchFamily="18" charset="0"/>
            </a:endParaRPr>
          </a:p>
          <a:p>
            <a:r>
              <a:rPr lang="en-US" sz="2000" dirty="0">
                <a:latin typeface="Century Schoolbook" panose="02040604050505020304" pitchFamily="18" charset="0"/>
              </a:rPr>
              <a:t>➢ Simple lipids</a:t>
            </a:r>
          </a:p>
          <a:p>
            <a:r>
              <a:rPr lang="en-US" sz="2000" dirty="0">
                <a:latin typeface="Century Schoolbook" panose="02040604050505020304" pitchFamily="18" charset="0"/>
              </a:rPr>
              <a:t>➢ Complex lipids</a:t>
            </a:r>
          </a:p>
          <a:p>
            <a:r>
              <a:rPr lang="fr-FR" sz="2000" dirty="0">
                <a:latin typeface="Century Schoolbook" panose="02040604050505020304" pitchFamily="18" charset="0"/>
              </a:rPr>
              <a:t>➢ Cholesterol</a:t>
            </a:r>
            <a:endParaRPr lang="fr-FR"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Image.jpg"/>
          <p:cNvPicPr>
            <a:picLocks noChangeAspect="1" noChangeArrowheads="1"/>
          </p:cNvPicPr>
          <p:nvPr/>
        </p:nvPicPr>
        <p:blipFill rotWithShape="1">
          <a:blip r:embed="rId2" cstate="print"/>
          <a:srcRect t="5561" b="7139"/>
          <a:stretch/>
        </p:blipFill>
        <p:spPr bwMode="auto">
          <a:xfrm>
            <a:off x="251520" y="1844824"/>
            <a:ext cx="2796311" cy="3904783"/>
          </a:xfrm>
          <a:prstGeom prst="rect">
            <a:avLst/>
          </a:prstGeom>
          <a:noFill/>
          <a:ln w="9525">
            <a:noFill/>
            <a:miter lim="800000"/>
            <a:headEnd/>
            <a:tailEnd/>
          </a:ln>
        </p:spPr>
      </p:pic>
      <p:pic>
        <p:nvPicPr>
          <p:cNvPr id="26627" name="Image.jpg"/>
          <p:cNvPicPr>
            <a:picLocks noChangeAspect="1" noChangeArrowheads="1"/>
          </p:cNvPicPr>
          <p:nvPr/>
        </p:nvPicPr>
        <p:blipFill>
          <a:blip r:embed="rId3" cstate="print"/>
          <a:srcRect/>
          <a:stretch>
            <a:fillRect/>
          </a:stretch>
        </p:blipFill>
        <p:spPr bwMode="auto">
          <a:xfrm>
            <a:off x="3817947" y="1705708"/>
            <a:ext cx="2187575" cy="4781550"/>
          </a:xfrm>
          <a:prstGeom prst="rect">
            <a:avLst/>
          </a:prstGeom>
          <a:noFill/>
          <a:ln w="9525">
            <a:noFill/>
            <a:miter lim="800000"/>
            <a:headEnd/>
            <a:tailEnd/>
          </a:ln>
        </p:spPr>
      </p:pic>
      <p:sp>
        <p:nvSpPr>
          <p:cNvPr id="3" name="Rectangle 2"/>
          <p:cNvSpPr/>
          <p:nvPr/>
        </p:nvSpPr>
        <p:spPr>
          <a:xfrm>
            <a:off x="395536" y="335260"/>
            <a:ext cx="7272808" cy="461665"/>
          </a:xfrm>
          <a:prstGeom prst="rect">
            <a:avLst/>
          </a:prstGeom>
        </p:spPr>
        <p:txBody>
          <a:bodyPr wrap="square">
            <a:spAutoFit/>
          </a:bodyPr>
          <a:lstStyle/>
          <a:p>
            <a:r>
              <a:rPr lang="fr-FR" sz="2400" dirty="0">
                <a:latin typeface="Century Schoolbook" panose="02040604050505020304" pitchFamily="18" charset="0"/>
              </a:rPr>
              <a:t>Membrane </a:t>
            </a:r>
            <a:r>
              <a:rPr lang="fr-FR" sz="2400" dirty="0" err="1">
                <a:latin typeface="Century Schoolbook" panose="02040604050505020304" pitchFamily="18" charset="0"/>
              </a:rPr>
              <a:t>lipids</a:t>
            </a:r>
            <a:r>
              <a:rPr lang="fr-FR" sz="2400" dirty="0">
                <a:latin typeface="Century Schoolbook" panose="02040604050505020304" pitchFamily="18" charset="0"/>
              </a:rPr>
              <a:t> are </a:t>
            </a:r>
            <a:r>
              <a:rPr lang="fr-FR" sz="2400" b="1" dirty="0">
                <a:latin typeface="Century Schoolbook" panose="02040604050505020304" pitchFamily="18" charset="0"/>
              </a:rPr>
              <a:t>amphipathic </a:t>
            </a:r>
            <a:r>
              <a:rPr lang="fr-FR" sz="2400" b="1" dirty="0" err="1">
                <a:latin typeface="Century Schoolbook" panose="02040604050505020304" pitchFamily="18" charset="0"/>
              </a:rPr>
              <a:t>molecules</a:t>
            </a:r>
            <a:endParaRPr lang="fr-FR" sz="2400" b="1" dirty="0">
              <a:latin typeface="Century Schoolbook" panose="02040604050505020304" pitchFamily="18" charset="0"/>
            </a:endParaRPr>
          </a:p>
        </p:txBody>
      </p:sp>
      <p:sp>
        <p:nvSpPr>
          <p:cNvPr id="4" name="Rectangle 3"/>
          <p:cNvSpPr/>
          <p:nvPr/>
        </p:nvSpPr>
        <p:spPr>
          <a:xfrm>
            <a:off x="6025922" y="2201961"/>
            <a:ext cx="2739853" cy="369332"/>
          </a:xfrm>
          <a:prstGeom prst="rect">
            <a:avLst/>
          </a:prstGeom>
        </p:spPr>
        <p:txBody>
          <a:bodyPr wrap="none">
            <a:spAutoFit/>
          </a:bodyPr>
          <a:lstStyle/>
          <a:p>
            <a:r>
              <a:rPr lang="fr-FR" dirty="0">
                <a:latin typeface="Century Schoolbook" panose="02040604050505020304" pitchFamily="18" charset="0"/>
              </a:rPr>
              <a:t>Hydrophilic polar group</a:t>
            </a:r>
          </a:p>
        </p:txBody>
      </p:sp>
      <p:sp>
        <p:nvSpPr>
          <p:cNvPr id="6" name="Rectangle 5"/>
          <p:cNvSpPr/>
          <p:nvPr/>
        </p:nvSpPr>
        <p:spPr>
          <a:xfrm>
            <a:off x="6005522" y="4530328"/>
            <a:ext cx="3236784" cy="369332"/>
          </a:xfrm>
          <a:prstGeom prst="rect">
            <a:avLst/>
          </a:prstGeom>
        </p:spPr>
        <p:txBody>
          <a:bodyPr wrap="none">
            <a:spAutoFit/>
          </a:bodyPr>
          <a:lstStyle/>
          <a:p>
            <a:r>
              <a:rPr lang="fr-FR" dirty="0">
                <a:latin typeface="Century Schoolbook" panose="02040604050505020304" pitchFamily="18" charset="0"/>
              </a:rPr>
              <a:t>Hydrophobic </a:t>
            </a:r>
            <a:r>
              <a:rPr lang="fr-FR" dirty="0" err="1">
                <a:latin typeface="Century Schoolbook" panose="02040604050505020304" pitchFamily="18" charset="0"/>
              </a:rPr>
              <a:t>nonpolar</a:t>
            </a:r>
            <a:r>
              <a:rPr lang="fr-FR" dirty="0">
                <a:latin typeface="Century Schoolbook" panose="02040604050505020304" pitchFamily="18" charset="0"/>
              </a:rPr>
              <a:t> group</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5" name="Picture 2" descr="http://fr.cdn.v5.futura-sciences.com/builds/images/thumbs/7/7a4d7fa7d1_acgras2_03.gif"/>
          <p:cNvPicPr>
            <a:picLocks noChangeAspect="1" noChangeArrowheads="1"/>
          </p:cNvPicPr>
          <p:nvPr/>
        </p:nvPicPr>
        <p:blipFill rotWithShape="1">
          <a:blip r:embed="rId2" cstate="print"/>
          <a:srcRect b="28815"/>
          <a:stretch/>
        </p:blipFill>
        <p:spPr bwMode="auto">
          <a:xfrm>
            <a:off x="618566" y="4797152"/>
            <a:ext cx="7858125" cy="1322164"/>
          </a:xfrm>
          <a:prstGeom prst="rect">
            <a:avLst/>
          </a:prstGeom>
          <a:noFill/>
          <a:ln w="9525">
            <a:noFill/>
            <a:miter lim="800000"/>
            <a:headEnd/>
            <a:tailEnd/>
          </a:ln>
        </p:spPr>
      </p:pic>
      <p:sp>
        <p:nvSpPr>
          <p:cNvPr id="2" name="Rectangle 1"/>
          <p:cNvSpPr/>
          <p:nvPr/>
        </p:nvSpPr>
        <p:spPr>
          <a:xfrm>
            <a:off x="275773" y="332656"/>
            <a:ext cx="2100255" cy="461665"/>
          </a:xfrm>
          <a:prstGeom prst="rect">
            <a:avLst/>
          </a:prstGeom>
        </p:spPr>
        <p:txBody>
          <a:bodyPr wrap="none">
            <a:spAutoFit/>
          </a:bodyPr>
          <a:lstStyle/>
          <a:p>
            <a:r>
              <a:rPr lang="fr-FR" sz="2400" b="1" dirty="0">
                <a:latin typeface="Century Schoolbook" panose="02040604050505020304" pitchFamily="18" charset="0"/>
              </a:rPr>
              <a:t>Fatty </a:t>
            </a:r>
            <a:r>
              <a:rPr lang="fr-FR" sz="2400" b="1" dirty="0" err="1">
                <a:latin typeface="Century Schoolbook" panose="02040604050505020304" pitchFamily="18" charset="0"/>
              </a:rPr>
              <a:t>Acids</a:t>
            </a:r>
            <a:r>
              <a:rPr lang="fr-FR" sz="2400" b="1" dirty="0">
                <a:latin typeface="Century Schoolbook" panose="02040604050505020304" pitchFamily="18" charset="0"/>
              </a:rPr>
              <a:t> </a:t>
            </a:r>
          </a:p>
        </p:txBody>
      </p:sp>
      <p:sp>
        <p:nvSpPr>
          <p:cNvPr id="3" name="Rectangle 2"/>
          <p:cNvSpPr/>
          <p:nvPr/>
        </p:nvSpPr>
        <p:spPr>
          <a:xfrm>
            <a:off x="609409" y="1208659"/>
            <a:ext cx="8352928" cy="2246769"/>
          </a:xfrm>
          <a:prstGeom prst="rect">
            <a:avLst/>
          </a:prstGeom>
        </p:spPr>
        <p:txBody>
          <a:bodyPr wrap="square">
            <a:spAutoFit/>
          </a:bodyPr>
          <a:lstStyle/>
          <a:p>
            <a:pPr algn="just"/>
            <a:r>
              <a:rPr lang="en-US" sz="2000" dirty="0">
                <a:latin typeface="Century Schoolbook" panose="02040604050505020304" pitchFamily="18" charset="0"/>
              </a:rPr>
              <a:t>These are hydrocarbon chains of varying lengths and degrees of unsaturation, each containing a carboxyl group (-COOH) at one end.</a:t>
            </a:r>
          </a:p>
          <a:p>
            <a:pPr algn="just"/>
            <a:endParaRPr lang="en-US" sz="2000" dirty="0">
              <a:latin typeface="Century Schoolbook" panose="02040604050505020304" pitchFamily="18" charset="0"/>
            </a:endParaRPr>
          </a:p>
          <a:p>
            <a:pPr algn="just"/>
            <a:r>
              <a:rPr lang="en-US" sz="2000" dirty="0">
                <a:latin typeface="Century Schoolbook" panose="02040604050505020304" pitchFamily="18" charset="0"/>
              </a:rPr>
              <a:t>The two ends of a fatty acid molecule have different properties: </a:t>
            </a:r>
          </a:p>
          <a:p>
            <a:pPr algn="just"/>
            <a:endParaRPr lang="en-US" sz="2000" dirty="0">
              <a:latin typeface="Century Schoolbook" panose="02040604050505020304" pitchFamily="18" charset="0"/>
            </a:endParaRPr>
          </a:p>
          <a:p>
            <a:pPr marL="342900" indent="-342900" algn="just">
              <a:buFontTx/>
              <a:buChar char="-"/>
            </a:pPr>
            <a:r>
              <a:rPr lang="en-US" sz="2000" dirty="0">
                <a:latin typeface="Century Schoolbook" panose="02040604050505020304" pitchFamily="18" charset="0"/>
              </a:rPr>
              <a:t>The carbohydrate chain is hydrophobic</a:t>
            </a:r>
          </a:p>
          <a:p>
            <a:pPr marL="342900" indent="-342900" algn="just">
              <a:buFontTx/>
              <a:buChar char="-"/>
            </a:pPr>
            <a:r>
              <a:rPr lang="en-US" sz="2000" dirty="0">
                <a:latin typeface="Century Schoolbook" panose="02040604050505020304" pitchFamily="18" charset="0"/>
              </a:rPr>
              <a:t>The carboxyl group is hydrophilic</a:t>
            </a:r>
            <a:endParaRPr lang="fr-FR" sz="2000" dirty="0">
              <a:latin typeface="Century Schoolbook" panose="02040604050505020304" pitchFamily="18" charset="0"/>
            </a:endParaRPr>
          </a:p>
        </p:txBody>
      </p:sp>
      <p:sp>
        <p:nvSpPr>
          <p:cNvPr id="4" name="Rectangle 3"/>
          <p:cNvSpPr/>
          <p:nvPr/>
        </p:nvSpPr>
        <p:spPr>
          <a:xfrm>
            <a:off x="179512" y="4280935"/>
            <a:ext cx="2045240" cy="369332"/>
          </a:xfrm>
          <a:prstGeom prst="rect">
            <a:avLst/>
          </a:prstGeom>
        </p:spPr>
        <p:txBody>
          <a:bodyPr wrap="none">
            <a:spAutoFit/>
          </a:bodyPr>
          <a:lstStyle/>
          <a:p>
            <a:r>
              <a:rPr lang="fr-FR" dirty="0"/>
              <a:t>Hydrophobic group</a:t>
            </a:r>
          </a:p>
        </p:txBody>
      </p:sp>
      <p:sp>
        <p:nvSpPr>
          <p:cNvPr id="5" name="Rectangle 4"/>
          <p:cNvSpPr/>
          <p:nvPr/>
        </p:nvSpPr>
        <p:spPr>
          <a:xfrm>
            <a:off x="7289518" y="4280935"/>
            <a:ext cx="1854482" cy="369332"/>
          </a:xfrm>
          <a:prstGeom prst="rect">
            <a:avLst/>
          </a:prstGeom>
        </p:spPr>
        <p:txBody>
          <a:bodyPr wrap="none">
            <a:spAutoFit/>
          </a:bodyPr>
          <a:lstStyle/>
          <a:p>
            <a:r>
              <a:rPr lang="fr-FR" dirty="0"/>
              <a:t>Hydrophilic group</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2" descr="http://www.chups.jussieu.fr/polys/biochimie/STbioch/ST_27_PICT.gif"/>
          <p:cNvPicPr>
            <a:picLocks noChangeAspect="1" noChangeArrowheads="1"/>
          </p:cNvPicPr>
          <p:nvPr/>
        </p:nvPicPr>
        <p:blipFill>
          <a:blip r:embed="rId2" cstate="print"/>
          <a:srcRect t="21428" b="25000"/>
          <a:stretch>
            <a:fillRect/>
          </a:stretch>
        </p:blipFill>
        <p:spPr bwMode="auto">
          <a:xfrm>
            <a:off x="1285875" y="248004"/>
            <a:ext cx="6572250" cy="1127596"/>
          </a:xfrm>
          <a:prstGeom prst="rect">
            <a:avLst/>
          </a:prstGeom>
          <a:noFill/>
          <a:ln w="9525">
            <a:noFill/>
            <a:miter lim="800000"/>
            <a:headEnd/>
            <a:tailEnd/>
          </a:ln>
        </p:spPr>
      </p:pic>
      <p:sp>
        <p:nvSpPr>
          <p:cNvPr id="29699" name="AutoShape 8" descr="data:image/jpeg;base64,/9j/4AAQSkZJRgABAQAAAQABAAD/2wCEAAkGBxQTEhUREhIWFBUWGRcYFxgVERcWGBcXFRgWGBccGBkeHiggGBwxGxgYIjEhJSkrMS4uGR8zODMsNygtLiwBCgoKDA0OGg8PGisfHBwtLCsuKyw3NyssNywsLTctLCw1LCwsLCwsLC8sNy8tKywxLCwsLCs2KywsLyssLywrLP/AABEIALgBBAMBIgACEQEDEQH/xAAcAAEAAgMBAQEAAAAAAAAAAAAABQYBAwQHAgj/xABHEAACAQIDBAQKCAQFAgcAAAABAgMAEQQSIQUTMVEGIkGUBxYXMjVTYXHS0xQjc5GTsrPRQlJigRUzgqGxJJIlQ2NkpcHw/8QAGQEBAQEBAQEAAAAAAAAAAAAAAAECAwUE/8QAIBEBAAICAwEAAwEAAAAAAAAAAAERAgMSEyFSQUJRIv/aAAwDAQACEQMRAD8A4OgnRTDYnCiWWMs2ZxcOw0BsNAasPk/wXqj+I/719eCaO+AH2kn5que5rxd+W3smspYm7Uryf4L1R/Ef96eT/BeqP4j/AL1ddzTc1y5bvqT1SvJ/gvVH8R/3p5P8F6o/iP8AvV13NNzTlu+pPVK8n+C9UfxH/enk/wAF6o/iP+9XXc03NOW76k9UiToFgVF2jsBxJlYAf3vWuPoVs5tFCk8NJydTf+r2H7qvEuEVxldQyniGUMD7wdKo2yOjo/wtvqTFOpklS0OWTPE7vFpYE8AAO0H210w7Jj3OT1mToVs5fOAGttZyNRa487jqPvFZl6E7OXRlCnj1pyNP7mtLdHJCcAFjRmaPFSTtiIGdBLOIGOcC2Vr5gAT/AA27Kjtp9HmgnhiIZ0jwqRiU7LfGKzB2JAVTZDb2nSusas587JX1LnoRs8MFKjMwuq783YcwL3I91Zm6D7PS2dQt+Gacrf7zUftbBsJ3eGFpC7QMsM2BfrZVTKYZ1P1IFtVa2Ug341OdKYFGOwsksDzQrFiA2XDPOAzGLLdVU2OhtWevZcRzn1PXL4hYG9t2b2v/AJrcOfHhWPEXAZc+Tq2vm3zZbc73tatEWyp4tmnJC4xMy7iNbEmKKWVzGHsDlCq+pPC1c0GzJYoxhpcNJuMPikkKAGYNh5FcgAgfW5ZbEgDQAaVY17PuT13J0I2eQGCghvNInJB9xvrSPoRs9gSqhgNTacmw9tjpWrG4EO0L4bCyxx/SJ2P1TANfDOu8CW+rUtYC4Fzr26xuzdmM0GHEWFljkiwmIXEM2GeLMXiAVNVG9YuL6X4e2rGvZP7yvqWj6FbOa+UBrC5tOTYczZtBX1B0GwDjMiZ15rMzD7waiNmbMBwkkTxzZjFGDu9jvCy5Sma5Y2xFja6jVgDYVY+hsMh+ldRFvkyTJhnw6ysVYG8TcCvU6w0N7dlTPXsxiaznw9ca9B9nligUFxxUTksPeL3FYh6E7Pc2RQx5LOT/AMGuPo/CyHAxjB/WxtbEs+GlEiOcweTfCyupPvve/ZXN0e2RNh12dNJBcIkxYRYV0mUhLgTEXL31ABAubVerZ7/uT1ML0CwJuBHe2htKxsfbrpXzB0H2e4JRQ4BsSs5ax5Gx41E7J2ViYxNv8PNbHYeR5TCczCYEsLAgCI5ZSoVj/Da+lTfQfDuJpBkVkEUY3wwT4QkhiBG6NozAXNxw4HjWcte2Imec+J6x5P8ABeqP4j/vTyf4L1R/Ef8AerruabmuHLd9SeqV5P8ABeqP4j/vTyf4L1R/Ef8AerruabmnLd9SeqV5P8F6o/iP+9PJ/gvVH8R/3q67mm5py3fUnqleT/BeqP4j/vTyf4L1R/Ef96uu5puact31J6/PHSrBJDi5oYxZEYBRe9gVU8T7TSurp+P/ABHFD+tf00pXua74Rf8AIdIeq+B2O+zl+0l/NV33NVLwKR32Yv2sv5qvu6r5s9N5TLMwj9zTc1Ibqm6rPQUj9zXJj5t2Y1Au0rhFvw4FmP8A2qam91XFtHZxdoXUjNFIHAJsCCrIw/7WJ94pGgpDRbdhYFlzkAgKRGfrCzMgyHgTmU6aW4nSudekMZky2OXICOqd5vTK0RTLzuP/AMK6W6DxEuzSOzPlsSkOhRi6llyWla5tdwTbTmTuTohGLMsjq6gBWVYlykO0lwgQLxYi1rW9utb6MSnHL0lw63vvOqpd/qj9WquY2L8rMP8A7rftXaYgmjjcdRo5nJ1LAxNAqqqjziTNw5gVsfobEySo0kpM0bRyNdLnO7SMw6tg12PZYADSuzbXRyPEkNIWGVJEGXLb61omJsQbkGFbdmpuDU6MSnEdqxCKaZsyrBm3oK9Zcqhzp29Ug6c6+BtmPhlkz5wgTdEOSU3gsvLLrc8udda9F0+jTYUscs4cOyJFGRnXKcqqgUacwf71txfR8PIZ1keOUsrBlyHLZDGQFZSCCp1vfXlToxKQ/jNhz5u8bSLVYWIBmJEYP9RIIt2Ea2rU/SeMSEFX3axNIzBCShjlaOTOBwAy/wDNSmG6IxIuUPJxga5ZSScOxZSer2kkt/tatUvQxCXtPMokWRJADHZkmlaV1vkuurkAggge3Wr04lNUe3YmvlEjHePGAIjd2jzZ8l/OUZT1uHDnXQdpRbqOZSXWUqIwq3ZywJAA52BvfhY19YjohEyKtzdJJZFLJHJYzEl1yspUrrppcWGtdU2wFMUUauyGEho3ATMGAKkkZcpuGYEW7dLVOjEpBYPpNEyZ3DLYsXshtGm8eNGlvql8p0PCx5V1dIdrrhkkOVnkWKSUKqlrCMcWtwXNYffyNB0GhBDZ3LHR2dIXZwHeTi0fUN3YXW1wfYCO/bfRtcQWO9kiLxPC+7ydeN9bdZWsQb2I/mPHsvTjZSOk2/CoJYsAoe7ZCULRoZHVT/EwUH7iOIr42jt1Y5Y4lRnZpERgFJIEsUsiFew/5fbwrsm6IRsCjSSbomRhGMgAeVGjdg2XMdGY2Jtc+6vgdDxmEpxUxlDRuHtDxijkiUZd3YrlkJI521FTpxKcWF6RxvI6gEqBBu7Kd47zb7MhQ2ykbo3vw1vwrpg27C7KiF2LAEgRklLuyDOOK9dWB5W1tWW6DQG5zOWJjbM4jfrx77rFWTKS2+fNcW4WtW1uh8ZMR3j2iKsAEhHWRi91IQGO5NiFsCABbnejEpzzbUy4lsOQAFEBB6xJ330m4sOFhCLe80i25G7Ki5la8V1kjZWCzCQobdl923HhY3qTxnRuOSVpi7hmEYOVgAN0JwttLg/XtrfsW1tbx+yuhEUDh1lc2EQsFiQEwb0Ieog1tK9z2mxp04lPjD7fhdFdBIQ5URjdm8mdS6lOxhlVjx0travmLpHh2YKuc6xgndMApmJVAxPA5gQR2Ea1vwvQxY7us8gkzIwfLELNGrpcoqBGYrI2YkXOnCwrdh+iESBgHkOZoXYlluXgcyAnq/xMTm/2tU6MSnE+34zG8qBikeUszKQpjLlGZW4GxBJHGw9oqbMNREvQ1bTfWM+/CxyZgi/VBy7XyKM72JXM1zb+97MYqk6I/BSP3NNzUhuqbqp0FI/c03NSG6puqdBT8zeEUW2nix/6i/px1itnhLFtq4z7Rf0o6V9uMVEQ09R8GnRDDTbOhlkWTM2YnJiZkF8xHmq4H+1WnxCwfKfvuI+ZXL4I/RWH9zfmNXGqiseIWD5T99xHzKeIWD5T99xHzKs9KCseIWD5T99xHzKeIWD5T99xHzKs9KCseIWD5T99xHzKeIWD5T99xHzKs9KCseIWD5T99xHzKeIWD5T99xHzKs9KCseIWD5T99xHzKeIWD5T99xHzKs9KCseIWD5T99xHzKeIWD5T99xHzKs9KCseIWD5T99xHzKeIWD5T99xHzKs9KCseIWD5T99xHzKeIWD5T99xHzKs9KCseIWD5T99xHzKeIWD5T99xHzKs9KCseIWD5T99xHzKeIWD5T99xHzKs9KCseIWD5T99xHzKeIWD5T99xHzKs9KCseIWD5T99xHzKeIWD5T99xHzKs9KCseIWD5T99xHzKeIWD5T99xHzKs9KCseIWD5T99xHzKeIWD5T99xHzKs9KCseIWD5T99xHzKeIWD5T99xHzKs9KD8sdP8GsO0sVCl8iOoXM7ObGOM6sxJOpPE0ro8J3pbGfaL+lFSivbvBH6Kw/ub8xq41TvBH6Kw/ub8xq40QpSuPE7TijljhdwJJb5Fsdctr68BxHHj2UHZSlKBSuPZe04sQm8hcOtytxfivv7O0HgQQRoa7KBSuPae1IsOqtM4QMwQE385uH9u0ngACToK7KBSlaY8UjO0aupdLZ1DAsuYXXMOIuAbX5UG6lKUClKUClKUClKUClKUClKUClKUClKUClKUClKUH5g8J3pbGfaL+lFSnhO9LYz7Rf0oqUV7d4I/RWH9zfmNXGqd4I/RWH9zfnNXGiNOMxSxI0sjBUQFmJ7ANTUHhdjmeKWScMkuICn+qBUJMCryZScx/qJ7K3YwHE4gQ2+pgKvKbaPLxjjHMDz29uT21OUEbsPHNJGRKAJozu5QOGdbaj+kghh7GFc/SCQyFMGhIaa+8IuCkC2EhuPNJuEB5sSOBrXts/R5BjuEYXJifshcrJbmhJv/SzcbCt3R+BjnxUqlZJ7HK3GOJb7pPYbEsf6nag042MYWZZ1AWFwkUygdVbdWGQD+G18h9hX+Wp6tWJw6yI0bqGRwVZTwIIsQaq5lkYf4WzOX4PLqCcIOD5h/G3+XprcMaDt2fEuLd8S4DwlWigU6q0baSye3OQAP6VFvONb9gTFC+EkYs8IGVm4yQtcRsT/ABMLFWPNb9oqWjiCgKoAUAAACwAGgAHKovb2Gay4mJS0sFyFFryRtbeR/wBwAR/Uq0HTtnH7mIuq53JCxp/PI2iL7BfiewAnsqFm2acIiYpSZJIwxxJA1mRzmlOUcSrdZR2C6jjXRsmUYuUYtTeBBlw/YHZh9ZLb7kF+Fn/mqftQfMcgYBlIZSAQQbgg6gg9ormxG1YEcRPPGkjeajSKrG/JSbmo/ZH/AE8pwZ0jIMmH5Zb/AFkf+kkED+VhbzTVW28iD/EWD4eWMljiMPilMchO6VQIplNwrKBlOU9a9iKD0WsA15t0l2/Ipklimli3C4aySSxooaTKzKUYM85KsASbDQ2Nwa37LxRgmyjEsQ+0ZUkEjobKcPK6g6DLchT7bCg9Dr4EyligYZgAStxcA3sSOwaH7q892RtebEz4ZVxLmNpNpsd2UtKuGxMKwrmKnqZWIuLXB41w7A2viLR4hpskuIilkmDssgDRxE5lgRM6CNsqlSeBsbsRQep0qmdBtoO0rwyzPK25hluZo54jmLAvHIoVlDEeYyjzbjtrG1ulEsEbSKA7k4p8jcBHhSqWBJVVvddSb3bQN2BdKVWMf0p3aFhkJDSDKXsciR5wx5C5W7W0BrRtDpQ8Cy7xsOxjhnkzI5ClojFZSCeqfrNRc9nOgt1Kp+I6UzRli0aMp+kbsITmH0eeOEF7mxBEgJ4Wy8ddOzDbXlkwzOw3brNHGSpXUb2IE2DNluGIIJoLJSqbF0qcPCgVSpZFkuTcGaV0XrMw7BewDf6a5k6ZSRxRuyIVMMRBzliZHhSTruCTGBe5zr5vWv2UF7pVSxPSDEKTGogZ13xZ+vkYRRxSdUXuD9ZlOpta/sqX2FjmkMt72BjZb62EsaPlv22JP9iKCWpSlApSlB+YPCd6Wxn2i/pRUp4TvS2M+0X9KKlFe3eCP0Vh/c35zVxqneCP0Vh/c35jVxojFqzStMuKRWVGdVZ75FLAFsouco7bDlQbWUEWIuDxBrIFKUCvnIL3trwv22r6rTNiUVlRnVWckICwBYgXIUdumulBupSsGgIoAsBYcgLVmtOExSSoJI3V0bgyMGU+4jQ1uoMFRobcOHs91aZcFGzB2jRmHBigJHuNtK30oOebAxuSzxoxIyksgJK8rkcPZR8BEQwMSEMQWuinMRwJ01ropQa0gUWsoFr2sALX42r5jwkaszqihm85goBb3ntrdSg04bCRx33aKlzc5VC3PttxrX/h0VyTGrXYv1hmAYgAkX4cOyuqlBoTBRg3EaA2AuEF7AWA91tK+Rs+Kyrukst8oyLZb8bC2ldNKDW0KnQqDx7B/Fx++kWHVVCKqqo4AKAB28K2UoOd8FGSCY0JGgJQXAvfTTnrWfocebNu0zWy3yC+Xlfl7K30oNMWFRQFVFUC9gFAAvx0ph8MqZsotmOY+02A/wCABb2VupQKUpQKUpQfmDwnelsZ9ov6UVKeE70tjPtF/SipRXt3gj9FYf3N+c1cap3gj9FYf3N+Y1caIwzAanQDnVYg2f8ATFfFElGcD6K1tYo0OaNwD2s1mIPFcqnhXft5DMyYQBskgLTMBYblbApfmxOXTszcNKmAKDh2LjzNHmZcsikpKl75JF84DmO0HtBBrvqD2kpw8wxSglHATEKAW0H+XIAATcElTbirC/mio3xml/8Ab/fiPlUFtJ7arEGz/pqvimZlzgDCsALxIpzJKoPazANrxUKCONfDY58YowptZyd80W8CiAWuuZlU5mJy2HZmNxarUosLDQDhagj9iY8yx/WALKhySqDcK4te3NSCGB5EVy7dkMrLgkJBkBaZlJBSDgdR5rMeqP8AWf4a+dtg4d/psaM4C5J0jXM0iDVGVf4nUk25hm5CunYOCZFaWYDfzEPJY3C6WWMH+VRp77ntoORIxhJwFGXDzkAADSKe1gAOxXAA5Bl/rqfrm2hgkmjaKQXVxY2NiORB7CDqD2EVzbDnkKGObWWI5GbKQJLAFXXs1BBIHA3HZQSVROzekMU2JxGETMJMNkz5lAB3guChv1hz5XFS1edbU2JjFlxWIwyESyzvEpzADcYiDDJveOuSSPMBx0bnQWrYnSnD4mJ5kfLGkjRZpLIGZe1ddVIII5jsqUmxkaavIig2tmcC9+HE1QsLsR8LijIcI82GUypGiBXKkx4VUfISMwKxul+y3JjX1szovIMomw6nLgJIgDlcRvJKzCIE8bIQt/ZQXyTForKrOoZvNBYAt7h21jF4jIAcpa7KtltpmIFzcjQXue32GvOZdjT/AEeaB8I8k+Iw+GSKXq5YikKpld8148kueS41OfS50qw9ItjYhwCJ3nU4jCOIjHEqxrFPE7sGChj1VJ6xPsoLMuLjLZBIpfU5QwzWGh041iHGRvmyyI2Xzsrg5ffbhVIh6PSKIGWCz/T8ZLIQQpMUoxYUsw1sc0fuuNNKjMHsnECGREwbOn0dIiMTDEsgAkW8SmNguJATOQWtcjzjmIoPQMTtzDoiyNMmRnWMMrBhnchQNPaR7q7hKv8AMONuI4jiPfodK8yXZE18Q74WaRTPgZlzwQKzqjWlKollBCjUHrWtepHBYKdZYYDhpLJj8RiHl6u7EUpxDIVN7sTvFBAGmt+y4XDHbXiiieYuGVOOVlJJNrKNbXNxxPbW98dGoUu6pn83M6i/sGuv9q85wvRyeHCbMyxOghif6QkUMUriaRIwrmNuq5GV1JFyM4tpe2nF9H5khQDDzuxhmRUMeHmjIkkd1gmjuBCNVsY2AA0v1RQepswGpNh7fbWahdpq2TDZwABJFvQDcDQganiBJl191QeGixkm7jcYhAqxJK28y5mE15CrBrkbsecOw6G/ALtXwZlvlzC+mlxfW9tP7H7jVGkwuOEqDNNlVlERzMwyid8++OcBvqsmsgbTzetepPa2FxAxUksKMQUhAysFzFExvVudB1nj4i2ooLOXAIBIueA5242r6qgYOHGWkUfSQoDFGJbP14bdXeyMSc6nRiLE6AAisrHiyCAuJHVthmEslhLnbM2IDsXyW3dlkLaB+0igvjMBxNuzXmeFfVUbamCxCpKxaZjImMADSlgJTMn0LIt7IRc2Kgacb2FXmg/MHhO9LYz7Rf0oqU8J3pbGfaL+lFSivbvBH6Kw/ub8xq41TvBH6Kw/ub8xq40QpSovHbcjimjgbMWe1yBdY8xyx7w30zNdV5kGglKUpQKUqL2jtyOGWOFsxL2uVF1jDHKhkN+qGc5RzN+RoJSlKUClK4cbtWKKSKKR8rykhBYm9rcSNFFyBc21YDiaDupSlApSlApSlApSlApSlApSlBgis0pQKUpQKUpQYIrNKUH5g8J3pbGfaL+lFSnhO9LYz7Rf0oqUV7d4I/RWH9zfnNXGqd4I/RWH9zfmNXGiObaWNWGNpXvlUXsBdjyCjtYmwA7SRUbgdjZ4JBiVvJidZrNfLcWVFbkosAR2gntrZi8K82JTOtoIQHFyPrZjfLpfzUAvrxZh/LUvQRWwMWzI0UpvNCckhtbNpdXA5Mtj77jsqVqF2xC0cqYuJGcgbuZEtmkjJ6pAJALKxuLkaM/Ooz/E8V6vE9zh+dQWXH4tYo3lc2VFLHtNhyHafZUZs3ZOeGQ4lAXxIvKt75VIskYP9Kns/iLEca48Gk+JkRZ0dYojvDvY0Qyyf+WoVWbqqQXJPbktwNWegiej+JYq0EzZpoCFc9rqf8uT/UBr/UGHZUtUNtmBkdMXGpZo+pIqi5khY6i3aynrD/UB51Rv+NTes/8Ai8V8VBZ8RMqKzuwVVBZiTYAAXJP9qgcBsv6THLNiFYNiVACk2eKEXMSj+RwTnNuDH2CtEbS4tlhkuYVIeVjh5IA9vMiCuSXBYFm7LADXNVpoIvYONZ0McpG/hOSWwtmNrq4HYGHW9mo7KYjpHhUkMT4mJXBClWkAIJtYHkdR99adsxGKRMZGpOUbuZVFy8JOhsNSyN1h7GcDjUL/AIJPiGx8W9EUMsrKwOHzOyNDErFHY25gHKbEUFykcAFibAC5J7AONYilDKGUgqwBBHAg6gj+1ef4/Od6A0/0veyru88xi+jdYL1L7vLugCGtfP230psw4gPBgVaQZ0w+KBZ3GSOKILJFcaqu+SK69olceygv++XNkuM1s1u217X++tlUXbi4t5RG7SJmXDBvoskoQA4oh8raEHd6E8bVH7VgkRpIt9OsSSzbtZJ8WqODFhyB9IjJkBDNIUBzAktpdRYPSq+Y5AwupBB4EG4++vN4MdK88Uj7+FjJAjRvLiGcI6KrZ1S0CLc+drdu0EWGjYeLOGw0kebEj/o2WNT9IkP0hJMTnCXvlfrR8LaWtoNA9QJrXhsQsiLIjBlYAqw1BB4EeyvP8Xhp9yzl5iHmjSbeSTlVw+5S4VVIKqZLZmXXVrm164MY0oiX6+ZkUYjdJmxsIYBo8u7mUtIzizBBIrBg2mgNw9UpVZ6RY2RY4nAKHdTSENa4ljgLIrW0OuY8rpUQNqzl45A7yxpkYybkrbOo3ylbcFWx4XGYjUigvtKpeO29PvEaNiYzI4yiIh3AkRVyBkyuLFzbMp4MLivvpG0kspw5kkRTJGgRI/OjdevJnAuLEkcbDKOdBcaVTZtsYjMIIywcPMrHclgqiaJYiTa3mMTx1AJ7K0bV2tjYm3aHNlzZGdSu+bOQFIWJr2XL5uU9a+tjYLzSqhtvESxYqaREdgIoiLR5hcJjb5b6Xvkvr2ioyDbOKOe7KCisolKMQVL4cj6wQgahn62TLpfW16D0KlULD7fxTRs+ZxKBIFiOHHWRI2Ky3FwbsBYg2OgsCak8PNOJo1kcuwlUBt2EzJLAzyLYaFQyg+ywvQeFeE70tjPtF/SipTwnelsZ9ov6UVKK9u8EforD+5vzGrjVO8EforD+5vzGrjRClKUClKUClKUClKUClKUClKUCuSDZ0aSvMATJIFDMzs1lW9lUEkItyTZbC5vXXSgUpSgUpSgUpSg04rDJIpSRQym+hF+IIP8AsSP71tVbCw4Cs0oFKUoFKUoFKUoFfDRKWDlQWUEA21Aa17HsvYfdX3Sg/MHhO9LYz7Rf0oqU8J3pbGfaL+lFSivbvBF6Kw/ub8zVcap3gj9FYf3N+Y1caIUpSgUpSgUpSgUpSgUpSgUpSgUpSgUpSgUpSgUpSgUpSgUpSgUpSgUpSgUpSg/MHhO9LYz7Rf0oqU8J3pbGfaL+lFSivQfB/wCEbAYTAw4eeR1kTNmAgkYasSNQpBqxeV7ZfrpO7TfDWKUKZ8r2y/XSd2m+Gnle2X66Tu03w1ilCmfK9sv10ndpvhp5Xtl+uk7tN8NYpQpnyvbL9dJ3ab4aeV7ZfrpO7TfDWKUKZ8r2y/XSd2m+Gnle2X66Tu03w1ilCmfK9sv10ndpvhp5Xtl+uk7tN8NYpQpnyvbL9dJ3ab4aeV7ZfrpO7TfDWKUKZ8r2y/XSd2m+Gnle2X66Tu03w1ilCmfK9sv10ndpvhp5Xtl+uk7tN8NYpQpnyvbL9dJ3ab4aeV7ZfrpO7TfDWKUKZ8r2y/XSd2m+Gnle2X66Tu03w1ilCmfK9sv10ndpvhp5Xtl+uk7tN8NYpQpnyvbL9dJ3ab4aeV7ZfrpO7TfDWKUKZ8r2y/XSd2m+Gnle2X66Tu03w1ilCmfK9sv10ndpvhp5Xtl+uk7tN8NYpQpnyvbL9dJ3ab4aeV7ZfrpO7TfDWKUKeI9N9pR4nH4nEQkmOR1KkqVJAjRdQdRqDSlKD//Z"/>
          <p:cNvSpPr>
            <a:spLocks noChangeAspect="1" noChangeArrowheads="1"/>
          </p:cNvSpPr>
          <p:nvPr/>
        </p:nvSpPr>
        <p:spPr bwMode="auto">
          <a:xfrm>
            <a:off x="155575" y="-144463"/>
            <a:ext cx="304800" cy="304801"/>
          </a:xfrm>
          <a:prstGeom prst="rect">
            <a:avLst/>
          </a:prstGeom>
          <a:noFill/>
          <a:ln w="9525">
            <a:noFill/>
            <a:miter lim="800000"/>
            <a:headEnd/>
            <a:tailEnd/>
          </a:ln>
        </p:spPr>
        <p:txBody>
          <a:bodyPr/>
          <a:lstStyle/>
          <a:p>
            <a:endParaRPr lang="fr-FR">
              <a:latin typeface="Calibri" pitchFamily="34" charset="0"/>
            </a:endParaRPr>
          </a:p>
        </p:txBody>
      </p:sp>
      <p:sp>
        <p:nvSpPr>
          <p:cNvPr id="29700" name="AutoShape 10" descr="data:image/jpeg;base64,/9j/4AAQSkZJRgABAQAAAQABAAD/2wCEAAkGBxQTEhUREhIWFBUWGRcYFxgVERcWGBcXFRgWGBccGBkeHiggGBwxGxgYIjEhJSkrMS4uGR8zODMsNygtLiwBCgoKDA0OGg8PGisfHBwtLCsuKyw3NyssNywsLTctLCw1LCwsLCwsLC8sNy8tKywxLCwsLCs2KywsLyssLywrLP/AABEIALgBBAMBIgACEQEDEQH/xAAcAAEAAgMBAQEAAAAAAAAAAAAABQYBAwQHAgj/xABHEAACAQIDBAQKCAQFAgcAAAABAgMAEQQSIQUTMVEGIkGUBxYXMjVTYXHS0xQjc5GTsrPRQlJigRUzgqGxJJIlQ2NkpcHw/8QAGQEBAQEBAQEAAAAAAAAAAAAAAAECAwUE/8QAIBEBAAICAwEAAwEAAAAAAAAAAAERAgMSEyFSQUJRIv/aAAwDAQACEQMRAD8A4OgnRTDYnCiWWMs2ZxcOw0BsNAasPk/wXqj+I/719eCaO+AH2kn5que5rxd+W3smspYm7Uryf4L1R/Ef96eT/BeqP4j/AL1ddzTc1y5bvqT1SvJ/gvVH8R/3p5P8F6o/iP8AvV13NNzTlu+pPVK8n+C9UfxH/enk/wAF6o/iP+9XXc03NOW76k9UiToFgVF2jsBxJlYAf3vWuPoVs5tFCk8NJydTf+r2H7qvEuEVxldQyniGUMD7wdKo2yOjo/wtvqTFOpklS0OWTPE7vFpYE8AAO0H210w7Jj3OT1mToVs5fOAGttZyNRa487jqPvFZl6E7OXRlCnj1pyNP7mtLdHJCcAFjRmaPFSTtiIGdBLOIGOcC2Vr5gAT/AA27Kjtp9HmgnhiIZ0jwqRiU7LfGKzB2JAVTZDb2nSusas587JX1LnoRs8MFKjMwuq783YcwL3I91Zm6D7PS2dQt+Gacrf7zUftbBsJ3eGFpC7QMsM2BfrZVTKYZ1P1IFtVa2Ug341OdKYFGOwsksDzQrFiA2XDPOAzGLLdVU2OhtWevZcRzn1PXL4hYG9t2b2v/AJrcOfHhWPEXAZc+Tq2vm3zZbc73tatEWyp4tmnJC4xMy7iNbEmKKWVzGHsDlCq+pPC1c0GzJYoxhpcNJuMPikkKAGYNh5FcgAgfW5ZbEgDQAaVY17PuT13J0I2eQGCghvNInJB9xvrSPoRs9gSqhgNTacmw9tjpWrG4EO0L4bCyxx/SJ2P1TANfDOu8CW+rUtYC4Fzr26xuzdmM0GHEWFljkiwmIXEM2GeLMXiAVNVG9YuL6X4e2rGvZP7yvqWj6FbOa+UBrC5tOTYczZtBX1B0GwDjMiZ15rMzD7waiNmbMBwkkTxzZjFGDu9jvCy5Sma5Y2xFja6jVgDYVY+hsMh+ldRFvkyTJhnw6ysVYG8TcCvU6w0N7dlTPXsxiaznw9ca9B9nligUFxxUTksPeL3FYh6E7Pc2RQx5LOT/AMGuPo/CyHAxjB/WxtbEs+GlEiOcweTfCyupPvve/ZXN0e2RNh12dNJBcIkxYRYV0mUhLgTEXL31ABAubVerZ7/uT1ML0CwJuBHe2htKxsfbrpXzB0H2e4JRQ4BsSs5ax5Gx41E7J2ViYxNv8PNbHYeR5TCczCYEsLAgCI5ZSoVj/Da+lTfQfDuJpBkVkEUY3wwT4QkhiBG6NozAXNxw4HjWcte2Imec+J6x5P8ABeqP4j/vTyf4L1R/Ef8AerruabmuHLd9SeqV5P8ABeqP4j/vTyf4L1R/Ef8AerruabmnLd9SeqV5P8F6o/iP+9PJ/gvVH8R/3q67mm5py3fUnqleT/BeqP4j/vTyf4L1R/Ef96uu5puact31J6/PHSrBJDi5oYxZEYBRe9gVU8T7TSurp+P/ABHFD+tf00pXua74Rf8AIdIeq+B2O+zl+0l/NV33NVLwKR32Yv2sv5qvu6r5s9N5TLMwj9zTc1Ibqm6rPQUj9zXJj5t2Y1Au0rhFvw4FmP8A2qam91XFtHZxdoXUjNFIHAJsCCrIw/7WJ94pGgpDRbdhYFlzkAgKRGfrCzMgyHgTmU6aW4nSudekMZky2OXICOqd5vTK0RTLzuP/AMK6W6DxEuzSOzPlsSkOhRi6llyWla5tdwTbTmTuTohGLMsjq6gBWVYlykO0lwgQLxYi1rW9utb6MSnHL0lw63vvOqpd/qj9WquY2L8rMP8A7rftXaYgmjjcdRo5nJ1LAxNAqqqjziTNw5gVsfobEySo0kpM0bRyNdLnO7SMw6tg12PZYADSuzbXRyPEkNIWGVJEGXLb61omJsQbkGFbdmpuDU6MSnEdqxCKaZsyrBm3oK9Zcqhzp29Ug6c6+BtmPhlkz5wgTdEOSU3gsvLLrc8udda9F0+jTYUscs4cOyJFGRnXKcqqgUacwf71txfR8PIZ1keOUsrBlyHLZDGQFZSCCp1vfXlToxKQ/jNhz5u8bSLVYWIBmJEYP9RIIt2Ea2rU/SeMSEFX3axNIzBCShjlaOTOBwAy/wDNSmG6IxIuUPJxga5ZSScOxZSer2kkt/tatUvQxCXtPMokWRJADHZkmlaV1vkuurkAggge3Wr04lNUe3YmvlEjHePGAIjd2jzZ8l/OUZT1uHDnXQdpRbqOZSXWUqIwq3ZywJAA52BvfhY19YjohEyKtzdJJZFLJHJYzEl1yspUrrppcWGtdU2wFMUUauyGEho3ATMGAKkkZcpuGYEW7dLVOjEpBYPpNEyZ3DLYsXshtGm8eNGlvql8p0PCx5V1dIdrrhkkOVnkWKSUKqlrCMcWtwXNYffyNB0GhBDZ3LHR2dIXZwHeTi0fUN3YXW1wfYCO/bfRtcQWO9kiLxPC+7ydeN9bdZWsQb2I/mPHsvTjZSOk2/CoJYsAoe7ZCULRoZHVT/EwUH7iOIr42jt1Y5Y4lRnZpERgFJIEsUsiFew/5fbwrsm6IRsCjSSbomRhGMgAeVGjdg2XMdGY2Jtc+6vgdDxmEpxUxlDRuHtDxijkiUZd3YrlkJI521FTpxKcWF6RxvI6gEqBBu7Kd47zb7MhQ2ykbo3vw1vwrpg27C7KiF2LAEgRklLuyDOOK9dWB5W1tWW6DQG5zOWJjbM4jfrx77rFWTKS2+fNcW4WtW1uh8ZMR3j2iKsAEhHWRi91IQGO5NiFsCABbnejEpzzbUy4lsOQAFEBB6xJ330m4sOFhCLe80i25G7Ki5la8V1kjZWCzCQobdl923HhY3qTxnRuOSVpi7hmEYOVgAN0JwttLg/XtrfsW1tbx+yuhEUDh1lc2EQsFiQEwb0Ieog1tK9z2mxp04lPjD7fhdFdBIQ5URjdm8mdS6lOxhlVjx0travmLpHh2YKuc6xgndMApmJVAxPA5gQR2Ea1vwvQxY7us8gkzIwfLELNGrpcoqBGYrI2YkXOnCwrdh+iESBgHkOZoXYlluXgcyAnq/xMTm/2tU6MSnE+34zG8qBikeUszKQpjLlGZW4GxBJHGw9oqbMNREvQ1bTfWM+/CxyZgi/VBy7XyKM72JXM1zb+97MYqk6I/BSP3NNzUhuqbqp0FI/c03NSG6puqdBT8zeEUW2nix/6i/px1itnhLFtq4z7Rf0o6V9uMVEQ09R8GnRDDTbOhlkWTM2YnJiZkF8xHmq4H+1WnxCwfKfvuI+ZXL4I/RWH9zfmNXGqiseIWD5T99xHzKeIWD5T99xHzKs9KCseIWD5T99xHzKeIWD5T99xHzKs9KCseIWD5T99xHzKeIWD5T99xHzKs9KCseIWD5T99xHzKeIWD5T99xHzKs9KCseIWD5T99xHzKeIWD5T99xHzKs9KCseIWD5T99xHzKeIWD5T99xHzKs9KCseIWD5T99xHzKeIWD5T99xHzKs9KCseIWD5T99xHzKeIWD5T99xHzKs9KCseIWD5T99xHzKeIWD5T99xHzKs9KCseIWD5T99xHzKeIWD5T99xHzKs9KCseIWD5T99xHzKeIWD5T99xHzKs9KCseIWD5T99xHzKeIWD5T99xHzKs9KCseIWD5T99xHzKeIWD5T99xHzKs9KCseIWD5T99xHzKeIWD5T99xHzKs9KCseIWD5T99xHzKeIWD5T99xHzKs9KD8sdP8GsO0sVCl8iOoXM7ObGOM6sxJOpPE0ro8J3pbGfaL+lFSivbvBH6Kw/ub8xq41TvBH6Kw/ub8xq40QpSuPE7TijljhdwJJb5Fsdctr68BxHHj2UHZSlKBSuPZe04sQm8hcOtytxfivv7O0HgQQRoa7KBSuPae1IsOqtM4QMwQE385uH9u0ngACToK7KBSlaY8UjO0aupdLZ1DAsuYXXMOIuAbX5UG6lKUClKUClKUClKUClKUClKUClKUClKUClKUClKUH5g8J3pbGfaL+lFSnhO9LYz7Rf0oqUV7d4I/RWH9zfmNXGqd4I/RWH9zfnNXGiNOMxSxI0sjBUQFmJ7ANTUHhdjmeKWScMkuICn+qBUJMCryZScx/qJ7K3YwHE4gQ2+pgKvKbaPLxjjHMDz29uT21OUEbsPHNJGRKAJozu5QOGdbaj+kghh7GFc/SCQyFMGhIaa+8IuCkC2EhuPNJuEB5sSOBrXts/R5BjuEYXJifshcrJbmhJv/SzcbCt3R+BjnxUqlZJ7HK3GOJb7pPYbEsf6nag042MYWZZ1AWFwkUygdVbdWGQD+G18h9hX+Wp6tWJw6yI0bqGRwVZTwIIsQaq5lkYf4WzOX4PLqCcIOD5h/G3+XprcMaDt2fEuLd8S4DwlWigU6q0baSye3OQAP6VFvONb9gTFC+EkYs8IGVm4yQtcRsT/ABMLFWPNb9oqWjiCgKoAUAAACwAGgAHKovb2Gay4mJS0sFyFFryRtbeR/wBwAR/Uq0HTtnH7mIuq53JCxp/PI2iL7BfiewAnsqFm2acIiYpSZJIwxxJA1mRzmlOUcSrdZR2C6jjXRsmUYuUYtTeBBlw/YHZh9ZLb7kF+Fn/mqftQfMcgYBlIZSAQQbgg6gg9ormxG1YEcRPPGkjeajSKrG/JSbmo/ZH/AE8pwZ0jIMmH5Zb/AFkf+kkED+VhbzTVW28iD/EWD4eWMljiMPilMchO6VQIplNwrKBlOU9a9iKD0WsA15t0l2/Ipklimli3C4aySSxooaTKzKUYM85KsASbDQ2Nwa37LxRgmyjEsQ+0ZUkEjobKcPK6g6DLchT7bCg9Dr4EyligYZgAStxcA3sSOwaH7q892RtebEz4ZVxLmNpNpsd2UtKuGxMKwrmKnqZWIuLXB41w7A2viLR4hpskuIilkmDssgDRxE5lgRM6CNsqlSeBsbsRQep0qmdBtoO0rwyzPK25hluZo54jmLAvHIoVlDEeYyjzbjtrG1ulEsEbSKA7k4p8jcBHhSqWBJVVvddSb3bQN2BdKVWMf0p3aFhkJDSDKXsciR5wx5C5W7W0BrRtDpQ8Cy7xsOxjhnkzI5ClojFZSCeqfrNRc9nOgt1Kp+I6UzRli0aMp+kbsITmH0eeOEF7mxBEgJ4Wy8ddOzDbXlkwzOw3brNHGSpXUb2IE2DNluGIIJoLJSqbF0qcPCgVSpZFkuTcGaV0XrMw7BewDf6a5k6ZSRxRuyIVMMRBzliZHhSTruCTGBe5zr5vWv2UF7pVSxPSDEKTGogZ13xZ+vkYRRxSdUXuD9ZlOpta/sqX2FjmkMt72BjZb62EsaPlv22JP9iKCWpSlApSlB+YPCd6Wxn2i/pRUp4TvS2M+0X9KKlFe3eCP0Vh/c35zVxqneCP0Vh/c35jVxojFqzStMuKRWVGdVZ75FLAFsouco7bDlQbWUEWIuDxBrIFKUCvnIL3trwv22r6rTNiUVlRnVWckICwBYgXIUdumulBupSsGgIoAsBYcgLVmtOExSSoJI3V0bgyMGU+4jQ1uoMFRobcOHs91aZcFGzB2jRmHBigJHuNtK30oOebAxuSzxoxIyksgJK8rkcPZR8BEQwMSEMQWuinMRwJ01ropQa0gUWsoFr2sALX42r5jwkaszqihm85goBb3ntrdSg04bCRx33aKlzc5VC3PttxrX/h0VyTGrXYv1hmAYgAkX4cOyuqlBoTBRg3EaA2AuEF7AWA91tK+Rs+Kyrukst8oyLZb8bC2ldNKDW0KnQqDx7B/Fx++kWHVVCKqqo4AKAB28K2UoOd8FGSCY0JGgJQXAvfTTnrWfocebNu0zWy3yC+Xlfl7K30oNMWFRQFVFUC9gFAAvx0ph8MqZsotmOY+02A/wCABb2VupQKUpQKUpQfmDwnelsZ9ov6UVKeE70tjPtF/SipRXt3gj9FYf3N+c1cap3gj9FYf3N+Y1caIwzAanQDnVYg2f8ATFfFElGcD6K1tYo0OaNwD2s1mIPFcqnhXft5DMyYQBskgLTMBYblbApfmxOXTszcNKmAKDh2LjzNHmZcsikpKl75JF84DmO0HtBBrvqD2kpw8wxSglHATEKAW0H+XIAATcElTbirC/mio3xml/8Ab/fiPlUFtJ7arEGz/pqvimZlzgDCsALxIpzJKoPazANrxUKCONfDY58YowptZyd80W8CiAWuuZlU5mJy2HZmNxarUosLDQDhagj9iY8yx/WALKhySqDcK4te3NSCGB5EVy7dkMrLgkJBkBaZlJBSDgdR5rMeqP8AWf4a+dtg4d/psaM4C5J0jXM0iDVGVf4nUk25hm5CunYOCZFaWYDfzEPJY3C6WWMH+VRp77ntoORIxhJwFGXDzkAADSKe1gAOxXAA5Bl/rqfrm2hgkmjaKQXVxY2NiORB7CDqD2EVzbDnkKGObWWI5GbKQJLAFXXs1BBIHA3HZQSVROzekMU2JxGETMJMNkz5lAB3guChv1hz5XFS1edbU2JjFlxWIwyESyzvEpzADcYiDDJveOuSSPMBx0bnQWrYnSnD4mJ5kfLGkjRZpLIGZe1ddVIII5jsqUmxkaavIig2tmcC9+HE1QsLsR8LijIcI82GUypGiBXKkx4VUfISMwKxul+y3JjX1szovIMomw6nLgJIgDlcRvJKzCIE8bIQt/ZQXyTForKrOoZvNBYAt7h21jF4jIAcpa7KtltpmIFzcjQXue32GvOZdjT/AEeaB8I8k+Iw+GSKXq5YikKpld8148kueS41OfS50qw9ItjYhwCJ3nU4jCOIjHEqxrFPE7sGChj1VJ6xPsoLMuLjLZBIpfU5QwzWGh041iHGRvmyyI2Xzsrg5ffbhVIh6PSKIGWCz/T8ZLIQQpMUoxYUsw1sc0fuuNNKjMHsnECGREwbOn0dIiMTDEsgAkW8SmNguJATOQWtcjzjmIoPQMTtzDoiyNMmRnWMMrBhnchQNPaR7q7hKv8AMONuI4jiPfodK8yXZE18Q74WaRTPgZlzwQKzqjWlKollBCjUHrWtepHBYKdZYYDhpLJj8RiHl6u7EUpxDIVN7sTvFBAGmt+y4XDHbXiiieYuGVOOVlJJNrKNbXNxxPbW98dGoUu6pn83M6i/sGuv9q85wvRyeHCbMyxOghif6QkUMUriaRIwrmNuq5GV1JFyM4tpe2nF9H5khQDDzuxhmRUMeHmjIkkd1gmjuBCNVsY2AA0v1RQepswGpNh7fbWahdpq2TDZwABJFvQDcDQganiBJl191QeGixkm7jcYhAqxJK28y5mE15CrBrkbsecOw6G/ALtXwZlvlzC+mlxfW9tP7H7jVGkwuOEqDNNlVlERzMwyid8++OcBvqsmsgbTzetepPa2FxAxUksKMQUhAysFzFExvVudB1nj4i2ooLOXAIBIueA5242r6qgYOHGWkUfSQoDFGJbP14bdXeyMSc6nRiLE6AAisrHiyCAuJHVthmEslhLnbM2IDsXyW3dlkLaB+0igvjMBxNuzXmeFfVUbamCxCpKxaZjImMADSlgJTMn0LIt7IRc2Kgacb2FXmg/MHhO9LYz7Rf0oqU8J3pbGfaL+lFSivbvBH6Kw/ub8xq41TvBH6Kw/ub8xq40QpSovHbcjimjgbMWe1yBdY8xyx7w30zNdV5kGglKUpQKUqL2jtyOGWOFsxL2uVF1jDHKhkN+qGc5RzN+RoJSlKUClK4cbtWKKSKKR8rykhBYm9rcSNFFyBc21YDiaDupSlApSlApSlApSlApSlApSlBgis0pQKUpQKUpQYIrNKUH5g8J3pbGfaL+lFSnhO9LYz7Rf0oqUV7d4I/RWH9zfnNXGqd4I/RWH9zfmNXGiObaWNWGNpXvlUXsBdjyCjtYmwA7SRUbgdjZ4JBiVvJidZrNfLcWVFbkosAR2gntrZi8K82JTOtoIQHFyPrZjfLpfzUAvrxZh/LUvQRWwMWzI0UpvNCckhtbNpdXA5Mtj77jsqVqF2xC0cqYuJGcgbuZEtmkjJ6pAJALKxuLkaM/Ooz/E8V6vE9zh+dQWXH4tYo3lc2VFLHtNhyHafZUZs3ZOeGQ4lAXxIvKt75VIskYP9Kns/iLEca48Gk+JkRZ0dYojvDvY0Qyyf+WoVWbqqQXJPbktwNWegiej+JYq0EzZpoCFc9rqf8uT/UBr/UGHZUtUNtmBkdMXGpZo+pIqi5khY6i3aynrD/UB51Rv+NTes/8Ai8V8VBZ8RMqKzuwVVBZiTYAAXJP9qgcBsv6THLNiFYNiVACk2eKEXMSj+RwTnNuDH2CtEbS4tlhkuYVIeVjh5IA9vMiCuSXBYFm7LADXNVpoIvYONZ0McpG/hOSWwtmNrq4HYGHW9mo7KYjpHhUkMT4mJXBClWkAIJtYHkdR99adsxGKRMZGpOUbuZVFy8JOhsNSyN1h7GcDjUL/AIJPiGx8W9EUMsrKwOHzOyNDErFHY25gHKbEUFykcAFibAC5J7AONYilDKGUgqwBBHAg6gj+1ef4/Od6A0/0veyru88xi+jdYL1L7vLugCGtfP230psw4gPBgVaQZ0w+KBZ3GSOKILJFcaqu+SK69olceygv++XNkuM1s1u217X++tlUXbi4t5RG7SJmXDBvoskoQA4oh8raEHd6E8bVH7VgkRpIt9OsSSzbtZJ8WqODFhyB9IjJkBDNIUBzAktpdRYPSq+Y5AwupBB4EG4++vN4MdK88Uj7+FjJAjRvLiGcI6KrZ1S0CLc+drdu0EWGjYeLOGw0kebEj/o2WNT9IkP0hJMTnCXvlfrR8LaWtoNA9QJrXhsQsiLIjBlYAqw1BB4EeyvP8Xhp9yzl5iHmjSbeSTlVw+5S4VVIKqZLZmXXVrm164MY0oiX6+ZkUYjdJmxsIYBo8u7mUtIzizBBIrBg2mgNw9UpVZ6RY2RY4nAKHdTSENa4ljgLIrW0OuY8rpUQNqzl45A7yxpkYybkrbOo3ylbcFWx4XGYjUigvtKpeO29PvEaNiYzI4yiIh3AkRVyBkyuLFzbMp4MLivvpG0kspw5kkRTJGgRI/OjdevJnAuLEkcbDKOdBcaVTZtsYjMIIywcPMrHclgqiaJYiTa3mMTx1AJ7K0bV2tjYm3aHNlzZGdSu+bOQFIWJr2XL5uU9a+tjYLzSqhtvESxYqaREdgIoiLR5hcJjb5b6Xvkvr2ioyDbOKOe7KCisolKMQVL4cj6wQgahn62TLpfW16D0KlULD7fxTRs+ZxKBIFiOHHWRI2Ky3FwbsBYg2OgsCak8PNOJo1kcuwlUBt2EzJLAzyLYaFQyg+ywvQeFeE70tjPtF/SipTwnelsZ9ov6UVKK9u8EforD+5vzGrjVO8EforD+5vzGrjRClKUClKUClKUClKUClKUClKUCuSDZ0aSvMATJIFDMzs1lW9lUEkItyTZbC5vXXSgUpSgUpSgUpSg04rDJIpSRQym+hF+IIP8AsSP71tVbCw4Cs0oFKUoFKUoFKUoFfDRKWDlQWUEA21Aa17HsvYfdX3Sg/MHhO9LYz7Rf0oqU8J3pbGfaL+lFSivbvBF6Kw/ub8zVcap3gj9FYf3N+Y1caIUpSgUpSgUpSgUpSgUpSgUpSgUpSgUpSgUpSgUpSgUpSgUpSgUpSgUpSgUpSg/MHhO9LYz7Rf0oqU8J3pbGfaL+lFSivQfB/wCEbAYTAw4eeR1kTNmAgkYasSNQpBqxeV7ZfrpO7TfDWKUKZ8r2y/XSd2m+Gnle2X66Tu03w1ilCmfK9sv10ndpvhp5Xtl+uk7tN8NYpQpnyvbL9dJ3ab4aeV7ZfrpO7TfDWKUKZ8r2y/XSd2m+Gnle2X66Tu03w1ilCmfK9sv10ndpvhp5Xtl+uk7tN8NYpQpnyvbL9dJ3ab4aeV7ZfrpO7TfDWKUKZ8r2y/XSd2m+Gnle2X66Tu03w1ilCmfK9sv10ndpvhp5Xtl+uk7tN8NYpQpnyvbL9dJ3ab4aeV7ZfrpO7TfDWKUKZ8r2y/XSd2m+Gnle2X66Tu03w1ilCmfK9sv10ndpvhp5Xtl+uk7tN8NYpQpnyvbL9dJ3ab4aeV7ZfrpO7TfDWKUKZ8r2y/XSd2m+Gnle2X66Tu03w1ilCmfK9sv10ndpvhp5Xtl+uk7tN8NYpQpnyvbL9dJ3ab4aeV7ZfrpO7TfDWKUKeI9N9pR4nH4nEQkmOR1KkqVJAjRdQdRqDSlKD//Z"/>
          <p:cNvSpPr>
            <a:spLocks noChangeAspect="1" noChangeArrowheads="1"/>
          </p:cNvSpPr>
          <p:nvPr/>
        </p:nvSpPr>
        <p:spPr bwMode="auto">
          <a:xfrm>
            <a:off x="155575" y="-144463"/>
            <a:ext cx="304800" cy="304801"/>
          </a:xfrm>
          <a:prstGeom prst="rect">
            <a:avLst/>
          </a:prstGeom>
          <a:noFill/>
          <a:ln w="9525">
            <a:noFill/>
            <a:miter lim="800000"/>
            <a:headEnd/>
            <a:tailEnd/>
          </a:ln>
        </p:spPr>
        <p:txBody>
          <a:bodyPr/>
          <a:lstStyle/>
          <a:p>
            <a:endParaRPr lang="fr-FR">
              <a:latin typeface="Calibri" pitchFamily="34" charset="0"/>
            </a:endParaRPr>
          </a:p>
        </p:txBody>
      </p:sp>
      <p:sp>
        <p:nvSpPr>
          <p:cNvPr id="29701" name="AutoShape 14" descr="data:image/jpeg;base64,/9j/4AAQSkZJRgABAQAAAQABAAD/2wCEAAkGBxQTEhUREhIWFBUWGRcYFxgVERcWGBcXFRgWGBccGBkeHiggGBwxGxgYIjEhJSkrMS4uGR8zODMsNygtLiwBCgoKDA0OGg8PGisfHBwtLCsuKyw3NyssNywsLTctLCw1LCwsLCwsLC8sNy8tKywxLCwsLCs2KywsLyssLywrLP/AABEIALgBBAMBIgACEQEDEQH/xAAcAAEAAgMBAQEAAAAAAAAAAAAABQYBAwQHAgj/xABHEAACAQIDBAQKCAQFAgcAAAABAgMAEQQSIQUTMVEGIkGUBxYXMjVTYXHS0xQjc5GTsrPRQlJigRUzgqGxJJIlQ2NkpcHw/8QAGQEBAQEBAQEAAAAAAAAAAAAAAAECAwUE/8QAIBEBAAICAwEAAwEAAAAAAAAAAAERAgMSEyFSQUJRIv/aAAwDAQACEQMRAD8A4OgnRTDYnCiWWMs2ZxcOw0BsNAasPk/wXqj+I/719eCaO+AH2kn5que5rxd+W3smspYm7Uryf4L1R/Ef96eT/BeqP4j/AL1ddzTc1y5bvqT1SvJ/gvVH8R/3p5P8F6o/iP8AvV13NNzTlu+pPVK8n+C9UfxH/enk/wAF6o/iP+9XXc03NOW76k9UiToFgVF2jsBxJlYAf3vWuPoVs5tFCk8NJydTf+r2H7qvEuEVxldQyniGUMD7wdKo2yOjo/wtvqTFOpklS0OWTPE7vFpYE8AAO0H210w7Jj3OT1mToVs5fOAGttZyNRa487jqPvFZl6E7OXRlCnj1pyNP7mtLdHJCcAFjRmaPFSTtiIGdBLOIGOcC2Vr5gAT/AA27Kjtp9HmgnhiIZ0jwqRiU7LfGKzB2JAVTZDb2nSusas587JX1LnoRs8MFKjMwuq783YcwL3I91Zm6D7PS2dQt+Gacrf7zUftbBsJ3eGFpC7QMsM2BfrZVTKYZ1P1IFtVa2Ug341OdKYFGOwsksDzQrFiA2XDPOAzGLLdVU2OhtWevZcRzn1PXL4hYG9t2b2v/AJrcOfHhWPEXAZc+Tq2vm3zZbc73tatEWyp4tmnJC4xMy7iNbEmKKWVzGHsDlCq+pPC1c0GzJYoxhpcNJuMPikkKAGYNh5FcgAgfW5ZbEgDQAaVY17PuT13J0I2eQGCghvNInJB9xvrSPoRs9gSqhgNTacmw9tjpWrG4EO0L4bCyxx/SJ2P1TANfDOu8CW+rUtYC4Fzr26xuzdmM0GHEWFljkiwmIXEM2GeLMXiAVNVG9YuL6X4e2rGvZP7yvqWj6FbOa+UBrC5tOTYczZtBX1B0GwDjMiZ15rMzD7waiNmbMBwkkTxzZjFGDu9jvCy5Sma5Y2xFja6jVgDYVY+hsMh+ldRFvkyTJhnw6ysVYG8TcCvU6w0N7dlTPXsxiaznw9ca9B9nligUFxxUTksPeL3FYh6E7Pc2RQx5LOT/AMGuPo/CyHAxjB/WxtbEs+GlEiOcweTfCyupPvve/ZXN0e2RNh12dNJBcIkxYRYV0mUhLgTEXL31ABAubVerZ7/uT1ML0CwJuBHe2htKxsfbrpXzB0H2e4JRQ4BsSs5ax5Gx41E7J2ViYxNv8PNbHYeR5TCczCYEsLAgCI5ZSoVj/Da+lTfQfDuJpBkVkEUY3wwT4QkhiBG6NozAXNxw4HjWcte2Imec+J6x5P8ABeqP4j/vTyf4L1R/Ef8AerruabmuHLd9SeqV5P8ABeqP4j/vTyf4L1R/Ef8AerruabmnLd9SeqV5P8F6o/iP+9PJ/gvVH8R/3q67mm5py3fUnqleT/BeqP4j/vTyf4L1R/Ef96uu5puact31J6/PHSrBJDi5oYxZEYBRe9gVU8T7TSurp+P/ABHFD+tf00pXua74Rf8AIdIeq+B2O+zl+0l/NV33NVLwKR32Yv2sv5qvu6r5s9N5TLMwj9zTc1Ibqm6rPQUj9zXJj5t2Y1Au0rhFvw4FmP8A2qam91XFtHZxdoXUjNFIHAJsCCrIw/7WJ94pGgpDRbdhYFlzkAgKRGfrCzMgyHgTmU6aW4nSudekMZky2OXICOqd5vTK0RTLzuP/AMK6W6DxEuzSOzPlsSkOhRi6llyWla5tdwTbTmTuTohGLMsjq6gBWVYlykO0lwgQLxYi1rW9utb6MSnHL0lw63vvOqpd/qj9WquY2L8rMP8A7rftXaYgmjjcdRo5nJ1LAxNAqqqjziTNw5gVsfobEySo0kpM0bRyNdLnO7SMw6tg12PZYADSuzbXRyPEkNIWGVJEGXLb61omJsQbkGFbdmpuDU6MSnEdqxCKaZsyrBm3oK9Zcqhzp29Ug6c6+BtmPhlkz5wgTdEOSU3gsvLLrc8udda9F0+jTYUscs4cOyJFGRnXKcqqgUacwf71txfR8PIZ1keOUsrBlyHLZDGQFZSCCp1vfXlToxKQ/jNhz5u8bSLVYWIBmJEYP9RIIt2Ea2rU/SeMSEFX3axNIzBCShjlaOTOBwAy/wDNSmG6IxIuUPJxga5ZSScOxZSer2kkt/tatUvQxCXtPMokWRJADHZkmlaV1vkuurkAggge3Wr04lNUe3YmvlEjHePGAIjd2jzZ8l/OUZT1uHDnXQdpRbqOZSXWUqIwq3ZywJAA52BvfhY19YjohEyKtzdJJZFLJHJYzEl1yspUrrppcWGtdU2wFMUUauyGEho3ATMGAKkkZcpuGYEW7dLVOjEpBYPpNEyZ3DLYsXshtGm8eNGlvql8p0PCx5V1dIdrrhkkOVnkWKSUKqlrCMcWtwXNYffyNB0GhBDZ3LHR2dIXZwHeTi0fUN3YXW1wfYCO/bfRtcQWO9kiLxPC+7ydeN9bdZWsQb2I/mPHsvTjZSOk2/CoJYsAoe7ZCULRoZHVT/EwUH7iOIr42jt1Y5Y4lRnZpERgFJIEsUsiFew/5fbwrsm6IRsCjSSbomRhGMgAeVGjdg2XMdGY2Jtc+6vgdDxmEpxUxlDRuHtDxijkiUZd3YrlkJI521FTpxKcWF6RxvI6gEqBBu7Kd47zb7MhQ2ykbo3vw1vwrpg27C7KiF2LAEgRklLuyDOOK9dWB5W1tWW6DQG5zOWJjbM4jfrx77rFWTKS2+fNcW4WtW1uh8ZMR3j2iKsAEhHWRi91IQGO5NiFsCABbnejEpzzbUy4lsOQAFEBB6xJ330m4sOFhCLe80i25G7Ki5la8V1kjZWCzCQobdl923HhY3qTxnRuOSVpi7hmEYOVgAN0JwttLg/XtrfsW1tbx+yuhEUDh1lc2EQsFiQEwb0Ieog1tK9z2mxp04lPjD7fhdFdBIQ5URjdm8mdS6lOxhlVjx0travmLpHh2YKuc6xgndMApmJVAxPA5gQR2Ea1vwvQxY7us8gkzIwfLELNGrpcoqBGYrI2YkXOnCwrdh+iESBgHkOZoXYlluXgcyAnq/xMTm/2tU6MSnE+34zG8qBikeUszKQpjLlGZW4GxBJHGw9oqbMNREvQ1bTfWM+/CxyZgi/VBy7XyKM72JXM1zb+97MYqk6I/BSP3NNzUhuqbqp0FI/c03NSG6puqdBT8zeEUW2nix/6i/px1itnhLFtq4z7Rf0o6V9uMVEQ09R8GnRDDTbOhlkWTM2YnJiZkF8xHmq4H+1WnxCwfKfvuI+ZXL4I/RWH9zfmNXGqiseIWD5T99xHzKeIWD5T99xHzKs9KCseIWD5T99xHzKeIWD5T99xHzKs9KCseIWD5T99xHzKeIWD5T99xHzKs9KCseIWD5T99xHzKeIWD5T99xHzKs9KCseIWD5T99xHzKeIWD5T99xHzKs9KCseIWD5T99xHzKeIWD5T99xHzKs9KCseIWD5T99xHzKeIWD5T99xHzKs9KCseIWD5T99xHzKeIWD5T99xHzKs9KCseIWD5T99xHzKeIWD5T99xHzKs9KCseIWD5T99xHzKeIWD5T99xHzKs9KCseIWD5T99xHzKeIWD5T99xHzKs9KCseIWD5T99xHzKeIWD5T99xHzKs9KCseIWD5T99xHzKeIWD5T99xHzKs9KCseIWD5T99xHzKeIWD5T99xHzKs9KCseIWD5T99xHzKeIWD5T99xHzKs9KD8sdP8GsO0sVCl8iOoXM7ObGOM6sxJOpPE0ro8J3pbGfaL+lFSivbvBH6Kw/ub8xq41TvBH6Kw/ub8xq40QpSuPE7TijljhdwJJb5Fsdctr68BxHHj2UHZSlKBSuPZe04sQm8hcOtytxfivv7O0HgQQRoa7KBSuPae1IsOqtM4QMwQE385uH9u0ngACToK7KBSlaY8UjO0aupdLZ1DAsuYXXMOIuAbX5UG6lKUClKUClKUClKUClKUClKUClKUClKUClKUClKUH5g8J3pbGfaL+lFSnhO9LYz7Rf0oqUV7d4I/RWH9zfmNXGqd4I/RWH9zfnNXGiNOMxSxI0sjBUQFmJ7ANTUHhdjmeKWScMkuICn+qBUJMCryZScx/qJ7K3YwHE4gQ2+pgKvKbaPLxjjHMDz29uT21OUEbsPHNJGRKAJozu5QOGdbaj+kghh7GFc/SCQyFMGhIaa+8IuCkC2EhuPNJuEB5sSOBrXts/R5BjuEYXJifshcrJbmhJv/SzcbCt3R+BjnxUqlZJ7HK3GOJb7pPYbEsf6nag042MYWZZ1AWFwkUygdVbdWGQD+G18h9hX+Wp6tWJw6yI0bqGRwVZTwIIsQaq5lkYf4WzOX4PLqCcIOD5h/G3+XprcMaDt2fEuLd8S4DwlWigU6q0baSye3OQAP6VFvONb9gTFC+EkYs8IGVm4yQtcRsT/ABMLFWPNb9oqWjiCgKoAUAAACwAGgAHKovb2Gay4mJS0sFyFFryRtbeR/wBwAR/Uq0HTtnH7mIuq53JCxp/PI2iL7BfiewAnsqFm2acIiYpSZJIwxxJA1mRzmlOUcSrdZR2C6jjXRsmUYuUYtTeBBlw/YHZh9ZLb7kF+Fn/mqftQfMcgYBlIZSAQQbgg6gg9ormxG1YEcRPPGkjeajSKrG/JSbmo/ZH/AE8pwZ0jIMmH5Zb/AFkf+kkED+VhbzTVW28iD/EWD4eWMljiMPilMchO6VQIplNwrKBlOU9a9iKD0WsA15t0l2/Ipklimli3C4aySSxooaTKzKUYM85KsASbDQ2Nwa37LxRgmyjEsQ+0ZUkEjobKcPK6g6DLchT7bCg9Dr4EyligYZgAStxcA3sSOwaH7q892RtebEz4ZVxLmNpNpsd2UtKuGxMKwrmKnqZWIuLXB41w7A2viLR4hpskuIilkmDssgDRxE5lgRM6CNsqlSeBsbsRQep0qmdBtoO0rwyzPK25hluZo54jmLAvHIoVlDEeYyjzbjtrG1ulEsEbSKA7k4p8jcBHhSqWBJVVvddSb3bQN2BdKVWMf0p3aFhkJDSDKXsciR5wx5C5W7W0BrRtDpQ8Cy7xsOxjhnkzI5ClojFZSCeqfrNRc9nOgt1Kp+I6UzRli0aMp+kbsITmH0eeOEF7mxBEgJ4Wy8ddOzDbXlkwzOw3brNHGSpXUb2IE2DNluGIIJoLJSqbF0qcPCgVSpZFkuTcGaV0XrMw7BewDf6a5k6ZSRxRuyIVMMRBzliZHhSTruCTGBe5zr5vWv2UF7pVSxPSDEKTGogZ13xZ+vkYRRxSdUXuD9ZlOpta/sqX2FjmkMt72BjZb62EsaPlv22JP9iKCWpSlApSlB+YPCd6Wxn2i/pRUp4TvS2M+0X9KKlFe3eCP0Vh/c35zVxqneCP0Vh/c35jVxojFqzStMuKRWVGdVZ75FLAFsouco7bDlQbWUEWIuDxBrIFKUCvnIL3trwv22r6rTNiUVlRnVWckICwBYgXIUdumulBupSsGgIoAsBYcgLVmtOExSSoJI3V0bgyMGU+4jQ1uoMFRobcOHs91aZcFGzB2jRmHBigJHuNtK30oOebAxuSzxoxIyksgJK8rkcPZR8BEQwMSEMQWuinMRwJ01ropQa0gUWsoFr2sALX42r5jwkaszqihm85goBb3ntrdSg04bCRx33aKlzc5VC3PttxrX/h0VyTGrXYv1hmAYgAkX4cOyuqlBoTBRg3EaA2AuEF7AWA91tK+Rs+Kyrukst8oyLZb8bC2ldNKDW0KnQqDx7B/Fx++kWHVVCKqqo4AKAB28K2UoOd8FGSCY0JGgJQXAvfTTnrWfocebNu0zWy3yC+Xlfl7K30oNMWFRQFVFUC9gFAAvx0ph8MqZsotmOY+02A/wCABb2VupQKUpQKUpQfmDwnelsZ9ov6UVKeE70tjPtF/SipRXt3gj9FYf3N+c1cap3gj9FYf3N+Y1caIwzAanQDnVYg2f8ATFfFElGcD6K1tYo0OaNwD2s1mIPFcqnhXft5DMyYQBskgLTMBYblbApfmxOXTszcNKmAKDh2LjzNHmZcsikpKl75JF84DmO0HtBBrvqD2kpw8wxSglHATEKAW0H+XIAATcElTbirC/mio3xml/8Ab/fiPlUFtJ7arEGz/pqvimZlzgDCsALxIpzJKoPazANrxUKCONfDY58YowptZyd80W8CiAWuuZlU5mJy2HZmNxarUosLDQDhagj9iY8yx/WALKhySqDcK4te3NSCGB5EVy7dkMrLgkJBkBaZlJBSDgdR5rMeqP8AWf4a+dtg4d/psaM4C5J0jXM0iDVGVf4nUk25hm5CunYOCZFaWYDfzEPJY3C6WWMH+VRp77ntoORIxhJwFGXDzkAADSKe1gAOxXAA5Bl/rqfrm2hgkmjaKQXVxY2NiORB7CDqD2EVzbDnkKGObWWI5GbKQJLAFXXs1BBIHA3HZQSVROzekMU2JxGETMJMNkz5lAB3guChv1hz5XFS1edbU2JjFlxWIwyESyzvEpzADcYiDDJveOuSSPMBx0bnQWrYnSnD4mJ5kfLGkjRZpLIGZe1ddVIII5jsqUmxkaavIig2tmcC9+HE1QsLsR8LijIcI82GUypGiBXKkx4VUfISMwKxul+y3JjX1szovIMomw6nLgJIgDlcRvJKzCIE8bIQt/ZQXyTForKrOoZvNBYAt7h21jF4jIAcpa7KtltpmIFzcjQXue32GvOZdjT/AEeaB8I8k+Iw+GSKXq5YikKpld8148kueS41OfS50qw9ItjYhwCJ3nU4jCOIjHEqxrFPE7sGChj1VJ6xPsoLMuLjLZBIpfU5QwzWGh041iHGRvmyyI2Xzsrg5ffbhVIh6PSKIGWCz/T8ZLIQQpMUoxYUsw1sc0fuuNNKjMHsnECGREwbOn0dIiMTDEsgAkW8SmNguJATOQWtcjzjmIoPQMTtzDoiyNMmRnWMMrBhnchQNPaR7q7hKv8AMONuI4jiPfodK8yXZE18Q74WaRTPgZlzwQKzqjWlKollBCjUHrWtepHBYKdZYYDhpLJj8RiHl6u7EUpxDIVN7sTvFBAGmt+y4XDHbXiiieYuGVOOVlJJNrKNbXNxxPbW98dGoUu6pn83M6i/sGuv9q85wvRyeHCbMyxOghif6QkUMUriaRIwrmNuq5GV1JFyM4tpe2nF9H5khQDDzuxhmRUMeHmjIkkd1gmjuBCNVsY2AA0v1RQepswGpNh7fbWahdpq2TDZwABJFvQDcDQganiBJl191QeGixkm7jcYhAqxJK28y5mE15CrBrkbsecOw6G/ALtXwZlvlzC+mlxfW9tP7H7jVGkwuOEqDNNlVlERzMwyid8++OcBvqsmsgbTzetepPa2FxAxUksKMQUhAysFzFExvVudB1nj4i2ooLOXAIBIueA5242r6qgYOHGWkUfSQoDFGJbP14bdXeyMSc6nRiLE6AAisrHiyCAuJHVthmEslhLnbM2IDsXyW3dlkLaB+0igvjMBxNuzXmeFfVUbamCxCpKxaZjImMADSlgJTMn0LIt7IRc2Kgacb2FXmg/MHhO9LYz7Rf0oqU8J3pbGfaL+lFSivbvBH6Kw/ub8xq41TvBH6Kw/ub8xq40QpSovHbcjimjgbMWe1yBdY8xyx7w30zNdV5kGglKUpQKUqL2jtyOGWOFsxL2uVF1jDHKhkN+qGc5RzN+RoJSlKUClK4cbtWKKSKKR8rykhBYm9rcSNFFyBc21YDiaDupSlApSlApSlApSlApSlApSlBgis0pQKUpQKUpQYIrNKUH5g8J3pbGfaL+lFSnhO9LYz7Rf0oqUV7d4I/RWH9zfnNXGqd4I/RWH9zfmNXGiObaWNWGNpXvlUXsBdjyCjtYmwA7SRUbgdjZ4JBiVvJidZrNfLcWVFbkosAR2gntrZi8K82JTOtoIQHFyPrZjfLpfzUAvrxZh/LUvQRWwMWzI0UpvNCckhtbNpdXA5Mtj77jsqVqF2xC0cqYuJGcgbuZEtmkjJ6pAJALKxuLkaM/Ooz/E8V6vE9zh+dQWXH4tYo3lc2VFLHtNhyHafZUZs3ZOeGQ4lAXxIvKt75VIskYP9Kns/iLEca48Gk+JkRZ0dYojvDvY0Qyyf+WoVWbqqQXJPbktwNWegiej+JYq0EzZpoCFc9rqf8uT/UBr/UGHZUtUNtmBkdMXGpZo+pIqi5khY6i3aynrD/UB51Rv+NTes/8Ai8V8VBZ8RMqKzuwVVBZiTYAAXJP9qgcBsv6THLNiFYNiVACk2eKEXMSj+RwTnNuDH2CtEbS4tlhkuYVIeVjh5IA9vMiCuSXBYFm7LADXNVpoIvYONZ0McpG/hOSWwtmNrq4HYGHW9mo7KYjpHhUkMT4mJXBClWkAIJtYHkdR99adsxGKRMZGpOUbuZVFy8JOhsNSyN1h7GcDjUL/AIJPiGx8W9EUMsrKwOHzOyNDErFHY25gHKbEUFykcAFibAC5J7AONYilDKGUgqwBBHAg6gj+1ef4/Od6A0/0veyru88xi+jdYL1L7vLugCGtfP230psw4gPBgVaQZ0w+KBZ3GSOKILJFcaqu+SK69olceygv++XNkuM1s1u217X++tlUXbi4t5RG7SJmXDBvoskoQA4oh8raEHd6E8bVH7VgkRpIt9OsSSzbtZJ8WqODFhyB9IjJkBDNIUBzAktpdRYPSq+Y5AwupBB4EG4++vN4MdK88Uj7+FjJAjRvLiGcI6KrZ1S0CLc+drdu0EWGjYeLOGw0kebEj/o2WNT9IkP0hJMTnCXvlfrR8LaWtoNA9QJrXhsQsiLIjBlYAqw1BB4EeyvP8Xhp9yzl5iHmjSbeSTlVw+5S4VVIKqZLZmXXVrm164MY0oiX6+ZkUYjdJmxsIYBo8u7mUtIzizBBIrBg2mgNw9UpVZ6RY2RY4nAKHdTSENa4ljgLIrW0OuY8rpUQNqzl45A7yxpkYybkrbOo3ylbcFWx4XGYjUigvtKpeO29PvEaNiYzI4yiIh3AkRVyBkyuLFzbMp4MLivvpG0kspw5kkRTJGgRI/OjdevJnAuLEkcbDKOdBcaVTZtsYjMIIywcPMrHclgqiaJYiTa3mMTx1AJ7K0bV2tjYm3aHNlzZGdSu+bOQFIWJr2XL5uU9a+tjYLzSqhtvESxYqaREdgIoiLR5hcJjb5b6Xvkvr2ioyDbOKOe7KCisolKMQVL4cj6wQgahn62TLpfW16D0KlULD7fxTRs+ZxKBIFiOHHWRI2Ky3FwbsBYg2OgsCak8PNOJo1kcuwlUBt2EzJLAzyLYaFQyg+ywvQeFeE70tjPtF/SipTwnelsZ9ov6UVKK9u8EforD+5vzGrjVO8EforD+5vzGrjRClKUClKUClKUClKUClKUClKUCuSDZ0aSvMATJIFDMzs1lW9lUEkItyTZbC5vXXSgUpSgUpSgUpSg04rDJIpSRQym+hF+IIP8AsSP71tVbCw4Cs0oFKUoFKUoFKUoFfDRKWDlQWUEA21Aa17HsvYfdX3Sg/MHhO9LYz7Rf0oqU8J3pbGfaL+lFSivbvBF6Kw/ub8zVcap3gj9FYf3N+Y1caIUpSgUpSgUpSgUpSgUpSgUpSgUpSgUpSgUpSgUpSgUpSgUpSgUpSgUpSgUpSg/MHhO9LYz7Rf0oqU8J3pbGfaL+lFSivQfB/wCEbAYTAw4eeR1kTNmAgkYasSNQpBqxeV7ZfrpO7TfDWKUKZ8r2y/XSd2m+Gnle2X66Tu03w1ilCmfK9sv10ndpvhp5Xtl+uk7tN8NYpQpnyvbL9dJ3ab4aeV7ZfrpO7TfDWKUKZ8r2y/XSd2m+Gnle2X66Tu03w1ilCmfK9sv10ndpvhp5Xtl+uk7tN8NYpQpnyvbL9dJ3ab4aeV7ZfrpO7TfDWKUKZ8r2y/XSd2m+Gnle2X66Tu03w1ilCmfK9sv10ndpvhp5Xtl+uk7tN8NYpQpnyvbL9dJ3ab4aeV7ZfrpO7TfDWKUKZ8r2y/XSd2m+Gnle2X66Tu03w1ilCmfK9sv10ndpvhp5Xtl+uk7tN8NYpQpnyvbL9dJ3ab4aeV7ZfrpO7TfDWKUKZ8r2y/XSd2m+Gnle2X66Tu03w1ilCmfK9sv10ndpvhp5Xtl+uk7tN8NYpQpnyvbL9dJ3ab4aeV7ZfrpO7TfDWKUKeI9N9pR4nH4nEQkmOR1KkqVJAjRdQdRqDSlKD//Z"/>
          <p:cNvSpPr>
            <a:spLocks noChangeAspect="1" noChangeArrowheads="1"/>
          </p:cNvSpPr>
          <p:nvPr/>
        </p:nvSpPr>
        <p:spPr bwMode="auto">
          <a:xfrm>
            <a:off x="155575" y="-144463"/>
            <a:ext cx="304800" cy="304801"/>
          </a:xfrm>
          <a:prstGeom prst="rect">
            <a:avLst/>
          </a:prstGeom>
          <a:noFill/>
          <a:ln w="9525">
            <a:noFill/>
            <a:miter lim="800000"/>
            <a:headEnd/>
            <a:tailEnd/>
          </a:ln>
        </p:spPr>
        <p:txBody>
          <a:bodyPr/>
          <a:lstStyle/>
          <a:p>
            <a:endParaRPr lang="fr-FR">
              <a:latin typeface="Calibri" pitchFamily="34" charset="0"/>
            </a:endParaRPr>
          </a:p>
        </p:txBody>
      </p:sp>
      <p:pic>
        <p:nvPicPr>
          <p:cNvPr id="29702" name="Picture 18" descr="http://www.chups.jussieu.fr/polys/biochimie/STbioch/ST_29_PICT.gif"/>
          <p:cNvPicPr>
            <a:picLocks noChangeAspect="1" noChangeArrowheads="1"/>
          </p:cNvPicPr>
          <p:nvPr/>
        </p:nvPicPr>
        <p:blipFill>
          <a:blip r:embed="rId3" cstate="print"/>
          <a:srcRect b="25000"/>
          <a:stretch>
            <a:fillRect/>
          </a:stretch>
        </p:blipFill>
        <p:spPr bwMode="auto">
          <a:xfrm>
            <a:off x="1285875" y="1375600"/>
            <a:ext cx="6572250" cy="1229038"/>
          </a:xfrm>
          <a:prstGeom prst="rect">
            <a:avLst/>
          </a:prstGeom>
          <a:noFill/>
          <a:ln w="9525">
            <a:noFill/>
            <a:miter lim="800000"/>
            <a:headEnd/>
            <a:tailEnd/>
          </a:ln>
        </p:spPr>
      </p:pic>
      <p:pic>
        <p:nvPicPr>
          <p:cNvPr id="29703" name="Picture 20" descr="https://encrypted-tbn3.gstatic.com/images?q=tbn:ANd9GcT4NxsXWTLzwN6HmFm4GjAdslR_LNF4I1e3F02sZSnfa3PELe_CGQ"/>
          <p:cNvPicPr>
            <a:picLocks noChangeAspect="1" noChangeArrowheads="1"/>
          </p:cNvPicPr>
          <p:nvPr/>
        </p:nvPicPr>
        <p:blipFill>
          <a:blip r:embed="rId4" cstate="print"/>
          <a:srcRect/>
          <a:stretch>
            <a:fillRect/>
          </a:stretch>
        </p:blipFill>
        <p:spPr bwMode="auto">
          <a:xfrm>
            <a:off x="323527" y="2727630"/>
            <a:ext cx="3720479" cy="3869722"/>
          </a:xfrm>
          <a:prstGeom prst="rect">
            <a:avLst/>
          </a:prstGeom>
          <a:noFill/>
          <a:ln w="9525">
            <a:noFill/>
            <a:miter lim="800000"/>
            <a:headEnd/>
            <a:tailEnd/>
          </a:ln>
        </p:spPr>
      </p:pic>
      <p:pic>
        <p:nvPicPr>
          <p:cNvPr id="8" name="Picture 5" descr="http://fr.cdn.v5.futura-sciences.com/builds/images/thumbs/c/c1d7987b4c_15218_AcidesGrasCis_Trans.jpg"/>
          <p:cNvPicPr>
            <a:picLocks noChangeAspect="1" noChangeArrowheads="1"/>
          </p:cNvPicPr>
          <p:nvPr/>
        </p:nvPicPr>
        <p:blipFill>
          <a:blip r:embed="rId5" cstate="print"/>
          <a:srcRect/>
          <a:stretch>
            <a:fillRect/>
          </a:stretch>
        </p:blipFill>
        <p:spPr bwMode="auto">
          <a:xfrm>
            <a:off x="4572000" y="2687566"/>
            <a:ext cx="4143375" cy="1857375"/>
          </a:xfrm>
          <a:prstGeom prst="rect">
            <a:avLst/>
          </a:prstGeom>
          <a:noFill/>
          <a:ln w="9525">
            <a:noFill/>
            <a:miter lim="800000"/>
            <a:headEnd/>
            <a:tailEnd/>
          </a:ln>
        </p:spPr>
      </p:pic>
      <p:pic>
        <p:nvPicPr>
          <p:cNvPr id="9" name="Picture 2"/>
          <p:cNvPicPr>
            <a:picLocks noChangeAspect="1" noChangeArrowheads="1"/>
          </p:cNvPicPr>
          <p:nvPr/>
        </p:nvPicPr>
        <p:blipFill>
          <a:blip r:embed="rId6" cstate="print"/>
          <a:srcRect/>
          <a:stretch>
            <a:fillRect/>
          </a:stretch>
        </p:blipFill>
        <p:spPr bwMode="auto">
          <a:xfrm>
            <a:off x="3990231" y="4585600"/>
            <a:ext cx="5153769" cy="2244533"/>
          </a:xfrm>
          <a:prstGeom prst="rect">
            <a:avLst/>
          </a:prstGeom>
          <a:noFill/>
          <a:ln w="9525">
            <a:no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1" name="Rectangle 11"/>
          <p:cNvSpPr>
            <a:spLocks noChangeArrowheads="1"/>
          </p:cNvSpPr>
          <p:nvPr/>
        </p:nvSpPr>
        <p:spPr bwMode="auto">
          <a:xfrm>
            <a:off x="2844800" y="1879600"/>
            <a:ext cx="5041900" cy="3279775"/>
          </a:xfrm>
          <a:prstGeom prst="rect">
            <a:avLst/>
          </a:prstGeom>
          <a:solidFill>
            <a:schemeClr val="bg1"/>
          </a:solidFill>
          <a:ln w="9525">
            <a:solidFill>
              <a:schemeClr val="bg1"/>
            </a:solidFill>
            <a:miter lim="800000"/>
            <a:headEnd/>
            <a:tailEnd/>
          </a:ln>
        </p:spPr>
        <p:txBody>
          <a:bodyPr wrap="none" anchor="ctr"/>
          <a:lstStyle/>
          <a:p>
            <a:endParaRPr lang="fr-FR"/>
          </a:p>
        </p:txBody>
      </p:sp>
      <p:grpSp>
        <p:nvGrpSpPr>
          <p:cNvPr id="2" name="Group 5"/>
          <p:cNvGrpSpPr>
            <a:grpSpLocks/>
          </p:cNvGrpSpPr>
          <p:nvPr/>
        </p:nvGrpSpPr>
        <p:grpSpPr bwMode="auto">
          <a:xfrm>
            <a:off x="1403648" y="3279353"/>
            <a:ext cx="2122488" cy="3101975"/>
            <a:chOff x="1672" y="1288"/>
            <a:chExt cx="1204" cy="1812"/>
          </a:xfrm>
        </p:grpSpPr>
        <p:sp>
          <p:nvSpPr>
            <p:cNvPr id="45064" name="Text Box 6"/>
            <p:cNvSpPr txBox="1">
              <a:spLocks noChangeArrowheads="1"/>
            </p:cNvSpPr>
            <p:nvPr/>
          </p:nvSpPr>
          <p:spPr bwMode="auto">
            <a:xfrm>
              <a:off x="1672" y="1288"/>
              <a:ext cx="284" cy="192"/>
            </a:xfrm>
            <a:prstGeom prst="rect">
              <a:avLst/>
            </a:prstGeom>
            <a:noFill/>
            <a:ln w="9525">
              <a:noFill/>
              <a:miter lim="800000"/>
              <a:headEnd/>
              <a:tailEnd/>
            </a:ln>
          </p:spPr>
          <p:txBody>
            <a:bodyPr wrap="none">
              <a:spAutoFit/>
            </a:bodyPr>
            <a:lstStyle/>
            <a:p>
              <a:r>
                <a:rPr lang="fr-FR" sz="1400" dirty="0">
                  <a:solidFill>
                    <a:srgbClr val="FF0000"/>
                  </a:solidFill>
                </a:rPr>
                <a:t>HO</a:t>
              </a:r>
              <a:endParaRPr lang="fr-FR" sz="2000" dirty="0">
                <a:solidFill>
                  <a:srgbClr val="FF0000"/>
                </a:solidFill>
              </a:endParaRPr>
            </a:p>
          </p:txBody>
        </p:sp>
        <p:pic>
          <p:nvPicPr>
            <p:cNvPr id="45065" name="Picture 7"/>
            <p:cNvPicPr>
              <a:picLocks noChangeAspect="1" noChangeArrowheads="1"/>
            </p:cNvPicPr>
            <p:nvPr/>
          </p:nvPicPr>
          <p:blipFill>
            <a:blip r:embed="rId3" cstate="print"/>
            <a:srcRect/>
            <a:stretch>
              <a:fillRect/>
            </a:stretch>
          </p:blipFill>
          <p:spPr bwMode="auto">
            <a:xfrm>
              <a:off x="1812" y="1444"/>
              <a:ext cx="1064" cy="1656"/>
            </a:xfrm>
            <a:prstGeom prst="rect">
              <a:avLst/>
            </a:prstGeom>
            <a:noFill/>
            <a:ln w="9525">
              <a:noFill/>
              <a:miter lim="800000"/>
              <a:headEnd/>
              <a:tailEnd/>
            </a:ln>
          </p:spPr>
        </p:pic>
        <p:sp>
          <p:nvSpPr>
            <p:cNvPr id="45066" name="Line 8"/>
            <p:cNvSpPr>
              <a:spLocks noChangeShapeType="1"/>
            </p:cNvSpPr>
            <p:nvPr/>
          </p:nvSpPr>
          <p:spPr bwMode="auto">
            <a:xfrm flipH="1" flipV="1">
              <a:off x="1888" y="1432"/>
              <a:ext cx="48" cy="64"/>
            </a:xfrm>
            <a:prstGeom prst="line">
              <a:avLst/>
            </a:prstGeom>
            <a:noFill/>
            <a:ln w="9525">
              <a:solidFill>
                <a:schemeClr val="tx1"/>
              </a:solidFill>
              <a:round/>
              <a:headEnd/>
              <a:tailEnd/>
            </a:ln>
          </p:spPr>
          <p:txBody>
            <a:bodyPr wrap="none" anchor="ctr"/>
            <a:lstStyle/>
            <a:p>
              <a:endParaRPr lang="fr-FR"/>
            </a:p>
          </p:txBody>
        </p:sp>
      </p:grpSp>
      <p:pic>
        <p:nvPicPr>
          <p:cNvPr id="4" name="Imag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0853" y="971553"/>
            <a:ext cx="3810000" cy="2179330"/>
          </a:xfrm>
          <a:prstGeom prst="rect">
            <a:avLst/>
          </a:prstGeom>
        </p:spPr>
      </p:pic>
      <p:sp>
        <p:nvSpPr>
          <p:cNvPr id="3" name="Rectangle 2"/>
          <p:cNvSpPr/>
          <p:nvPr/>
        </p:nvSpPr>
        <p:spPr>
          <a:xfrm>
            <a:off x="4491102" y="2132856"/>
            <a:ext cx="4572000" cy="3785652"/>
          </a:xfrm>
          <a:prstGeom prst="rect">
            <a:avLst/>
          </a:prstGeom>
        </p:spPr>
        <p:txBody>
          <a:bodyPr>
            <a:spAutoFit/>
          </a:bodyPr>
          <a:lstStyle/>
          <a:p>
            <a:pPr algn="just"/>
            <a:r>
              <a:rPr lang="en-US" sz="2000" dirty="0">
                <a:latin typeface="Century Schoolbook" panose="02040604050505020304" pitchFamily="18" charset="0"/>
              </a:rPr>
              <a:t>Cholesterol is composed of a hydrophobic sterol ring, a hydrophobic tail (alkyl radical), and a hydrophilic alcohol group.</a:t>
            </a:r>
          </a:p>
          <a:p>
            <a:pPr algn="just"/>
            <a:r>
              <a:rPr lang="en-US" sz="2000" dirty="0">
                <a:latin typeface="Century Schoolbook" panose="02040604050505020304" pitchFamily="18" charset="0"/>
              </a:rPr>
              <a:t>In the lipid bilayer of cell membranes, cholesterol molecules are oriented so that the polar head of the OH group, facing the surface, comes into contact with the external or aqueous cytoplasmic environment, while the ring and carbon chain are located deeper within the membrane.</a:t>
            </a:r>
            <a:endParaRPr lang="fr-FR" sz="2000" dirty="0">
              <a:latin typeface="Century Schoolbook" panose="02040604050505020304" pitchFamily="18" charset="0"/>
            </a:endParaRPr>
          </a:p>
        </p:txBody>
      </p:sp>
      <p:sp>
        <p:nvSpPr>
          <p:cNvPr id="6" name="Rectangle 5"/>
          <p:cNvSpPr/>
          <p:nvPr/>
        </p:nvSpPr>
        <p:spPr>
          <a:xfrm>
            <a:off x="255602" y="244454"/>
            <a:ext cx="2332690" cy="523220"/>
          </a:xfrm>
          <a:prstGeom prst="rect">
            <a:avLst/>
          </a:prstGeom>
        </p:spPr>
        <p:txBody>
          <a:bodyPr wrap="none">
            <a:spAutoFit/>
          </a:bodyPr>
          <a:lstStyle/>
          <a:p>
            <a:r>
              <a:rPr lang="fr-FR" sz="2800" b="1" dirty="0">
                <a:latin typeface="Century Schoolbook" panose="02040604050505020304" pitchFamily="18" charset="0"/>
              </a:rPr>
              <a:t>Cholesterol</a:t>
            </a:r>
          </a:p>
        </p:txBody>
      </p:sp>
    </p:spTree>
    <p:extLst>
      <p:ext uri="{BB962C8B-B14F-4D97-AF65-F5344CB8AC3E}">
        <p14:creationId xmlns:p14="http://schemas.microsoft.com/office/powerpoint/2010/main" val="23263277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9" name="Image.jpg"/>
          <p:cNvPicPr>
            <a:picLocks noChangeAspect="1" noChangeArrowheads="1"/>
          </p:cNvPicPr>
          <p:nvPr/>
        </p:nvPicPr>
        <p:blipFill>
          <a:blip r:embed="rId2" cstate="print"/>
          <a:srcRect/>
          <a:stretch>
            <a:fillRect/>
          </a:stretch>
        </p:blipFill>
        <p:spPr bwMode="auto">
          <a:xfrm>
            <a:off x="1979712" y="1052736"/>
            <a:ext cx="6786563" cy="2643188"/>
          </a:xfrm>
          <a:prstGeom prst="rect">
            <a:avLst/>
          </a:prstGeom>
          <a:noFill/>
          <a:ln w="9525">
            <a:noFill/>
            <a:miter lim="800000"/>
            <a:headEnd/>
            <a:tailEnd/>
          </a:ln>
        </p:spPr>
      </p:pic>
      <p:sp>
        <p:nvSpPr>
          <p:cNvPr id="2" name="Rectangle 1"/>
          <p:cNvSpPr/>
          <p:nvPr/>
        </p:nvSpPr>
        <p:spPr>
          <a:xfrm>
            <a:off x="247076" y="260648"/>
            <a:ext cx="3073277" cy="523220"/>
          </a:xfrm>
          <a:prstGeom prst="rect">
            <a:avLst/>
          </a:prstGeom>
        </p:spPr>
        <p:txBody>
          <a:bodyPr wrap="none">
            <a:spAutoFit/>
          </a:bodyPr>
          <a:lstStyle/>
          <a:p>
            <a:r>
              <a:rPr lang="fr-FR" sz="2800" b="1" dirty="0" err="1">
                <a:latin typeface="Century Schoolbook" panose="02040604050505020304" pitchFamily="18" charset="0"/>
              </a:rPr>
              <a:t>Complex</a:t>
            </a:r>
            <a:r>
              <a:rPr lang="fr-FR" sz="2800" b="1" dirty="0">
                <a:latin typeface="Century Schoolbook" panose="02040604050505020304" pitchFamily="18" charset="0"/>
              </a:rPr>
              <a:t> </a:t>
            </a:r>
            <a:r>
              <a:rPr lang="fr-FR" sz="2800" b="1" dirty="0" err="1">
                <a:latin typeface="Century Schoolbook" panose="02040604050505020304" pitchFamily="18" charset="0"/>
              </a:rPr>
              <a:t>lipids</a:t>
            </a:r>
            <a:r>
              <a:rPr lang="fr-FR" sz="2800" b="1" dirty="0">
                <a:latin typeface="Century Schoolbook" panose="02040604050505020304" pitchFamily="18" charset="0"/>
              </a:rPr>
              <a:t>:</a:t>
            </a:r>
          </a:p>
        </p:txBody>
      </p:sp>
      <p:sp>
        <p:nvSpPr>
          <p:cNvPr id="3" name="Rectangle 2"/>
          <p:cNvSpPr/>
          <p:nvPr/>
        </p:nvSpPr>
        <p:spPr>
          <a:xfrm>
            <a:off x="395535" y="3920376"/>
            <a:ext cx="8370739" cy="2246769"/>
          </a:xfrm>
          <a:prstGeom prst="rect">
            <a:avLst/>
          </a:prstGeom>
        </p:spPr>
        <p:txBody>
          <a:bodyPr wrap="square">
            <a:spAutoFit/>
          </a:bodyPr>
          <a:lstStyle/>
          <a:p>
            <a:pPr algn="just"/>
            <a:r>
              <a:rPr lang="en-US" sz="2000" dirty="0">
                <a:latin typeface="Century Schoolbook" panose="02040604050505020304" pitchFamily="18" charset="0"/>
              </a:rPr>
              <a:t>If two of the possible bonds on glycerol are occupied by fatty acids and the third by a phosphate group, it is then called a phospholipid or </a:t>
            </a:r>
            <a:r>
              <a:rPr lang="en-US" sz="2000" dirty="0" err="1">
                <a:latin typeface="Century Schoolbook" panose="02040604050505020304" pitchFamily="18" charset="0"/>
              </a:rPr>
              <a:t>phosphoglyceride</a:t>
            </a:r>
            <a:r>
              <a:rPr lang="en-US" sz="2000" dirty="0">
                <a:latin typeface="Century Schoolbook" panose="02040604050505020304" pitchFamily="18" charset="0"/>
              </a:rPr>
              <a:t>. Glycerol and the phosphate group are hydrophilic and form a polar head that is attracted to water, while the fatty acid chains are hydrophobic and form a nonpolar tail that repels water. Hence the symbolic representation of a phospholipid shown opposite.</a:t>
            </a:r>
            <a:endParaRPr lang="fr-FR" sz="2000" dirty="0">
              <a:latin typeface="Century Schoolbook" panose="020406040505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4" name="Picture 36"/>
          <p:cNvPicPr>
            <a:picLocks noChangeAspect="1" noChangeArrowheads="1"/>
          </p:cNvPicPr>
          <p:nvPr/>
        </p:nvPicPr>
        <p:blipFill>
          <a:blip r:embed="rId3" cstate="print"/>
          <a:srcRect/>
          <a:stretch>
            <a:fillRect/>
          </a:stretch>
        </p:blipFill>
        <p:spPr bwMode="auto">
          <a:xfrm>
            <a:off x="2551113" y="4259263"/>
            <a:ext cx="4598987" cy="2173287"/>
          </a:xfrm>
          <a:prstGeom prst="rect">
            <a:avLst/>
          </a:prstGeom>
          <a:noFill/>
          <a:ln w="9525">
            <a:noFill/>
            <a:miter lim="800000"/>
            <a:headEnd/>
            <a:tailEnd/>
          </a:ln>
        </p:spPr>
      </p:pic>
      <p:sp>
        <p:nvSpPr>
          <p:cNvPr id="35845" name="Text Box 46"/>
          <p:cNvSpPr txBox="1">
            <a:spLocks noChangeArrowheads="1"/>
          </p:cNvSpPr>
          <p:nvPr/>
        </p:nvSpPr>
        <p:spPr bwMode="auto">
          <a:xfrm>
            <a:off x="4254500" y="2184400"/>
            <a:ext cx="323850" cy="1803400"/>
          </a:xfrm>
          <a:prstGeom prst="rect">
            <a:avLst/>
          </a:prstGeom>
          <a:solidFill>
            <a:schemeClr val="bg1"/>
          </a:solidFill>
          <a:ln w="9525">
            <a:solidFill>
              <a:schemeClr val="tx1"/>
            </a:solidFill>
            <a:miter lim="800000"/>
            <a:headEnd/>
            <a:tailEnd/>
          </a:ln>
        </p:spPr>
        <p:txBody>
          <a:bodyPr>
            <a:spAutoFit/>
          </a:bodyPr>
          <a:lstStyle/>
          <a:p>
            <a:pPr algn="ctr"/>
            <a:r>
              <a:rPr lang="fr-FR" sz="1400" b="1"/>
              <a:t>GLYCEROL</a:t>
            </a:r>
          </a:p>
        </p:txBody>
      </p:sp>
      <p:sp>
        <p:nvSpPr>
          <p:cNvPr id="35846" name="Text Box 47"/>
          <p:cNvSpPr txBox="1">
            <a:spLocks noChangeArrowheads="1"/>
          </p:cNvSpPr>
          <p:nvPr/>
        </p:nvSpPr>
        <p:spPr bwMode="auto">
          <a:xfrm>
            <a:off x="4953000" y="2184400"/>
            <a:ext cx="1536700" cy="346075"/>
          </a:xfrm>
          <a:prstGeom prst="rect">
            <a:avLst/>
          </a:prstGeom>
          <a:solidFill>
            <a:srgbClr val="91F3A1"/>
          </a:solidFill>
          <a:ln w="9525">
            <a:solidFill>
              <a:srgbClr val="009900"/>
            </a:solidFill>
            <a:miter lim="800000"/>
            <a:headEnd/>
            <a:tailEnd/>
          </a:ln>
        </p:spPr>
        <p:txBody>
          <a:bodyPr>
            <a:spAutoFit/>
          </a:bodyPr>
          <a:lstStyle/>
          <a:p>
            <a:pPr>
              <a:spcBef>
                <a:spcPct val="50000"/>
              </a:spcBef>
            </a:pPr>
            <a:r>
              <a:rPr lang="fr-FR" sz="1600" b="1">
                <a:solidFill>
                  <a:srgbClr val="009900"/>
                </a:solidFill>
              </a:rPr>
              <a:t>ACIDE GRAS</a:t>
            </a:r>
            <a:endParaRPr lang="fr-FR"/>
          </a:p>
        </p:txBody>
      </p:sp>
      <p:sp>
        <p:nvSpPr>
          <p:cNvPr id="35847" name="Text Box 48"/>
          <p:cNvSpPr txBox="1">
            <a:spLocks noChangeArrowheads="1"/>
          </p:cNvSpPr>
          <p:nvPr/>
        </p:nvSpPr>
        <p:spPr bwMode="auto">
          <a:xfrm>
            <a:off x="4953000" y="2913063"/>
            <a:ext cx="1536700" cy="346075"/>
          </a:xfrm>
          <a:prstGeom prst="rect">
            <a:avLst/>
          </a:prstGeom>
          <a:solidFill>
            <a:srgbClr val="91F3A1"/>
          </a:solidFill>
          <a:ln w="9525">
            <a:solidFill>
              <a:srgbClr val="009900"/>
            </a:solidFill>
            <a:miter lim="800000"/>
            <a:headEnd/>
            <a:tailEnd/>
          </a:ln>
        </p:spPr>
        <p:txBody>
          <a:bodyPr>
            <a:spAutoFit/>
          </a:bodyPr>
          <a:lstStyle/>
          <a:p>
            <a:pPr>
              <a:spcBef>
                <a:spcPct val="50000"/>
              </a:spcBef>
            </a:pPr>
            <a:r>
              <a:rPr lang="fr-FR" sz="1600" b="1">
                <a:solidFill>
                  <a:srgbClr val="009900"/>
                </a:solidFill>
              </a:rPr>
              <a:t>ACIDE GRAS</a:t>
            </a:r>
            <a:endParaRPr lang="fr-FR"/>
          </a:p>
        </p:txBody>
      </p:sp>
      <p:sp>
        <p:nvSpPr>
          <p:cNvPr id="35848" name="Text Box 49"/>
          <p:cNvSpPr txBox="1">
            <a:spLocks noChangeArrowheads="1"/>
          </p:cNvSpPr>
          <p:nvPr/>
        </p:nvSpPr>
        <p:spPr bwMode="auto">
          <a:xfrm>
            <a:off x="2578100" y="3673475"/>
            <a:ext cx="1300163" cy="314325"/>
          </a:xfrm>
          <a:prstGeom prst="rect">
            <a:avLst/>
          </a:prstGeom>
          <a:solidFill>
            <a:srgbClr val="FFCDCD"/>
          </a:solidFill>
          <a:ln w="9525">
            <a:solidFill>
              <a:srgbClr val="FF0000"/>
            </a:solidFill>
            <a:miter lim="800000"/>
            <a:headEnd/>
            <a:tailEnd/>
          </a:ln>
        </p:spPr>
        <p:txBody>
          <a:bodyPr wrap="none">
            <a:spAutoFit/>
          </a:bodyPr>
          <a:lstStyle/>
          <a:p>
            <a:r>
              <a:rPr lang="fr-FR" sz="1400" b="1">
                <a:solidFill>
                  <a:srgbClr val="FF0000"/>
                </a:solidFill>
              </a:rPr>
              <a:t>PHOSPHATE</a:t>
            </a:r>
            <a:endParaRPr lang="fr-FR">
              <a:solidFill>
                <a:srgbClr val="FF0000"/>
              </a:solidFill>
            </a:endParaRPr>
          </a:p>
        </p:txBody>
      </p:sp>
      <p:sp>
        <p:nvSpPr>
          <p:cNvPr id="35849" name="Text Box 50"/>
          <p:cNvSpPr txBox="1">
            <a:spLocks noChangeArrowheads="1"/>
          </p:cNvSpPr>
          <p:nvPr/>
        </p:nvSpPr>
        <p:spPr bwMode="auto">
          <a:xfrm>
            <a:off x="1270000" y="3673475"/>
            <a:ext cx="944563" cy="314325"/>
          </a:xfrm>
          <a:prstGeom prst="rect">
            <a:avLst/>
          </a:prstGeom>
          <a:solidFill>
            <a:srgbClr val="66CCFF"/>
          </a:solidFill>
          <a:ln w="9525">
            <a:solidFill>
              <a:srgbClr val="0000FF"/>
            </a:solidFill>
            <a:miter lim="800000"/>
            <a:headEnd/>
            <a:tailEnd/>
          </a:ln>
        </p:spPr>
        <p:txBody>
          <a:bodyPr wrap="none">
            <a:spAutoFit/>
          </a:bodyPr>
          <a:lstStyle/>
          <a:p>
            <a:r>
              <a:rPr lang="fr-FR" sz="1400" b="1">
                <a:solidFill>
                  <a:srgbClr val="0000FF"/>
                </a:solidFill>
              </a:rPr>
              <a:t>ALCOOL</a:t>
            </a:r>
            <a:endParaRPr lang="fr-FR"/>
          </a:p>
        </p:txBody>
      </p:sp>
      <p:sp>
        <p:nvSpPr>
          <p:cNvPr id="35850" name="Line 51"/>
          <p:cNvSpPr>
            <a:spLocks noChangeShapeType="1"/>
          </p:cNvSpPr>
          <p:nvPr/>
        </p:nvSpPr>
        <p:spPr bwMode="auto">
          <a:xfrm>
            <a:off x="2222500" y="3835400"/>
            <a:ext cx="342900" cy="0"/>
          </a:xfrm>
          <a:prstGeom prst="line">
            <a:avLst/>
          </a:prstGeom>
          <a:noFill/>
          <a:ln w="28575">
            <a:solidFill>
              <a:srgbClr val="0000FF"/>
            </a:solidFill>
            <a:round/>
            <a:headEnd/>
            <a:tailEnd/>
          </a:ln>
        </p:spPr>
        <p:txBody>
          <a:bodyPr wrap="none" anchor="ctr"/>
          <a:lstStyle/>
          <a:p>
            <a:endParaRPr lang="fr-FR"/>
          </a:p>
        </p:txBody>
      </p:sp>
      <p:sp>
        <p:nvSpPr>
          <p:cNvPr id="35851" name="Line 52"/>
          <p:cNvSpPr>
            <a:spLocks noChangeShapeType="1"/>
          </p:cNvSpPr>
          <p:nvPr/>
        </p:nvSpPr>
        <p:spPr bwMode="auto">
          <a:xfrm>
            <a:off x="3898900" y="3835400"/>
            <a:ext cx="342900" cy="0"/>
          </a:xfrm>
          <a:prstGeom prst="line">
            <a:avLst/>
          </a:prstGeom>
          <a:noFill/>
          <a:ln w="28575">
            <a:solidFill>
              <a:schemeClr val="tx1"/>
            </a:solidFill>
            <a:round/>
            <a:headEnd/>
            <a:tailEnd/>
          </a:ln>
        </p:spPr>
        <p:txBody>
          <a:bodyPr wrap="none" anchor="ctr"/>
          <a:lstStyle/>
          <a:p>
            <a:endParaRPr lang="fr-FR"/>
          </a:p>
        </p:txBody>
      </p:sp>
      <p:sp>
        <p:nvSpPr>
          <p:cNvPr id="35852" name="Line 53"/>
          <p:cNvSpPr>
            <a:spLocks noChangeShapeType="1"/>
          </p:cNvSpPr>
          <p:nvPr/>
        </p:nvSpPr>
        <p:spPr bwMode="auto">
          <a:xfrm>
            <a:off x="4610100" y="3086100"/>
            <a:ext cx="342900" cy="0"/>
          </a:xfrm>
          <a:prstGeom prst="line">
            <a:avLst/>
          </a:prstGeom>
          <a:noFill/>
          <a:ln w="28575">
            <a:solidFill>
              <a:srgbClr val="009900"/>
            </a:solidFill>
            <a:round/>
            <a:headEnd/>
            <a:tailEnd/>
          </a:ln>
        </p:spPr>
        <p:txBody>
          <a:bodyPr wrap="none" anchor="ctr"/>
          <a:lstStyle/>
          <a:p>
            <a:endParaRPr lang="fr-FR"/>
          </a:p>
        </p:txBody>
      </p:sp>
      <p:sp>
        <p:nvSpPr>
          <p:cNvPr id="35853" name="Line 54"/>
          <p:cNvSpPr>
            <a:spLocks noChangeShapeType="1"/>
          </p:cNvSpPr>
          <p:nvPr/>
        </p:nvSpPr>
        <p:spPr bwMode="auto">
          <a:xfrm>
            <a:off x="4584700" y="2374900"/>
            <a:ext cx="342900" cy="0"/>
          </a:xfrm>
          <a:prstGeom prst="line">
            <a:avLst/>
          </a:prstGeom>
          <a:noFill/>
          <a:ln w="28575">
            <a:solidFill>
              <a:srgbClr val="009900"/>
            </a:solidFill>
            <a:round/>
            <a:headEnd/>
            <a:tailEnd/>
          </a:ln>
        </p:spPr>
        <p:txBody>
          <a:bodyPr wrap="none" anchor="ctr"/>
          <a:lstStyle/>
          <a:p>
            <a:endParaRPr lang="fr-FR"/>
          </a:p>
        </p:txBody>
      </p:sp>
      <p:sp>
        <p:nvSpPr>
          <p:cNvPr id="2" name="Rectangle 1"/>
          <p:cNvSpPr/>
          <p:nvPr/>
        </p:nvSpPr>
        <p:spPr>
          <a:xfrm>
            <a:off x="244755" y="441098"/>
            <a:ext cx="2847254" cy="584775"/>
          </a:xfrm>
          <a:prstGeom prst="rect">
            <a:avLst/>
          </a:prstGeom>
        </p:spPr>
        <p:txBody>
          <a:bodyPr wrap="none">
            <a:spAutoFit/>
          </a:bodyPr>
          <a:lstStyle/>
          <a:p>
            <a:r>
              <a:rPr lang="fr-FR" sz="3200" dirty="0">
                <a:latin typeface="Century Schoolbook" panose="02040604050505020304" pitchFamily="18" charset="0"/>
              </a:rPr>
              <a:t>Phospholipids</a:t>
            </a:r>
          </a:p>
        </p:txBody>
      </p:sp>
      <p:sp>
        <p:nvSpPr>
          <p:cNvPr id="3" name="Rectangle 2"/>
          <p:cNvSpPr/>
          <p:nvPr/>
        </p:nvSpPr>
        <p:spPr>
          <a:xfrm>
            <a:off x="611560" y="1265069"/>
            <a:ext cx="3759362" cy="400110"/>
          </a:xfrm>
          <a:prstGeom prst="rect">
            <a:avLst/>
          </a:prstGeom>
        </p:spPr>
        <p:txBody>
          <a:bodyPr wrap="none">
            <a:spAutoFit/>
          </a:bodyPr>
          <a:lstStyle/>
          <a:p>
            <a:r>
              <a:rPr lang="fr-FR" sz="2000" dirty="0" err="1">
                <a:latin typeface="Century Schoolbook" panose="02040604050505020304" pitchFamily="18" charset="0"/>
              </a:rPr>
              <a:t>Example</a:t>
            </a:r>
            <a:r>
              <a:rPr lang="fr-FR" sz="2000" dirty="0">
                <a:latin typeface="Century Schoolbook" panose="02040604050505020304" pitchFamily="18" charset="0"/>
              </a:rPr>
              <a:t> of </a:t>
            </a:r>
            <a:r>
              <a:rPr lang="fr-FR" sz="2000" dirty="0" err="1">
                <a:latin typeface="Century Schoolbook" panose="02040604050505020304" pitchFamily="18" charset="0"/>
              </a:rPr>
              <a:t>phosphoglycerides</a:t>
            </a:r>
            <a:endParaRPr lang="fr-FR" sz="2000" dirty="0">
              <a:latin typeface="Century Schoolbook" panose="020406040505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AutoShape 54"/>
          <p:cNvSpPr>
            <a:spLocks/>
          </p:cNvSpPr>
          <p:nvPr/>
        </p:nvSpPr>
        <p:spPr bwMode="auto">
          <a:xfrm rot="16200000" flipV="1">
            <a:off x="4318000" y="3886200"/>
            <a:ext cx="177800" cy="1219200"/>
          </a:xfrm>
          <a:prstGeom prst="leftBrace">
            <a:avLst>
              <a:gd name="adj1" fmla="val 82857"/>
              <a:gd name="adj2" fmla="val 50000"/>
            </a:avLst>
          </a:prstGeom>
          <a:noFill/>
          <a:ln w="9525">
            <a:solidFill>
              <a:schemeClr val="tx1"/>
            </a:solidFill>
            <a:round/>
            <a:headEnd/>
            <a:tailEnd/>
          </a:ln>
        </p:spPr>
        <p:txBody>
          <a:bodyPr wrap="none" anchor="ctr"/>
          <a:lstStyle/>
          <a:p>
            <a:endParaRPr lang="fr-FR"/>
          </a:p>
        </p:txBody>
      </p:sp>
      <p:sp>
        <p:nvSpPr>
          <p:cNvPr id="36868" name="Text Box 55"/>
          <p:cNvSpPr txBox="1">
            <a:spLocks noChangeArrowheads="1"/>
          </p:cNvSpPr>
          <p:nvPr/>
        </p:nvSpPr>
        <p:spPr bwMode="auto">
          <a:xfrm>
            <a:off x="4000500" y="4610100"/>
            <a:ext cx="751744" cy="307777"/>
          </a:xfrm>
          <a:prstGeom prst="rect">
            <a:avLst/>
          </a:prstGeom>
          <a:noFill/>
          <a:ln w="9525">
            <a:noFill/>
            <a:miter lim="800000"/>
            <a:headEnd/>
            <a:tailEnd/>
          </a:ln>
        </p:spPr>
        <p:txBody>
          <a:bodyPr wrap="none">
            <a:spAutoFit/>
          </a:bodyPr>
          <a:lstStyle/>
          <a:p>
            <a:r>
              <a:rPr lang="fr-FR" sz="1400" dirty="0" err="1"/>
              <a:t>glycerol</a:t>
            </a:r>
            <a:endParaRPr lang="fr-FR" dirty="0">
              <a:solidFill>
                <a:srgbClr val="FF0000"/>
              </a:solidFill>
            </a:endParaRPr>
          </a:p>
        </p:txBody>
      </p:sp>
      <p:sp>
        <p:nvSpPr>
          <p:cNvPr id="36869" name="Rectangle 63"/>
          <p:cNvSpPr>
            <a:spLocks noChangeArrowheads="1"/>
          </p:cNvSpPr>
          <p:nvPr/>
        </p:nvSpPr>
        <p:spPr bwMode="auto">
          <a:xfrm>
            <a:off x="3649663" y="2133600"/>
            <a:ext cx="1473200" cy="1943100"/>
          </a:xfrm>
          <a:prstGeom prst="rect">
            <a:avLst/>
          </a:prstGeom>
          <a:solidFill>
            <a:schemeClr val="bg1"/>
          </a:solidFill>
          <a:ln w="9525">
            <a:solidFill>
              <a:schemeClr val="tx1"/>
            </a:solidFill>
            <a:miter lim="800000"/>
            <a:headEnd/>
            <a:tailEnd/>
          </a:ln>
        </p:spPr>
        <p:txBody>
          <a:bodyPr wrap="none" anchor="ctr"/>
          <a:lstStyle/>
          <a:p>
            <a:endParaRPr lang="fr-FR"/>
          </a:p>
        </p:txBody>
      </p:sp>
      <p:sp>
        <p:nvSpPr>
          <p:cNvPr id="36870" name="Text Box 66"/>
          <p:cNvSpPr txBox="1">
            <a:spLocks noChangeArrowheads="1"/>
          </p:cNvSpPr>
          <p:nvPr/>
        </p:nvSpPr>
        <p:spPr bwMode="auto">
          <a:xfrm>
            <a:off x="4056063" y="2914650"/>
            <a:ext cx="477837" cy="336550"/>
          </a:xfrm>
          <a:prstGeom prst="rect">
            <a:avLst/>
          </a:prstGeom>
          <a:noFill/>
          <a:ln w="9525">
            <a:noFill/>
            <a:miter lim="800000"/>
            <a:headEnd/>
            <a:tailEnd/>
          </a:ln>
        </p:spPr>
        <p:txBody>
          <a:bodyPr wrap="none">
            <a:spAutoFit/>
          </a:bodyPr>
          <a:lstStyle/>
          <a:p>
            <a:r>
              <a:rPr lang="fr-FR" sz="1600" b="1"/>
              <a:t>HC</a:t>
            </a:r>
          </a:p>
        </p:txBody>
      </p:sp>
      <p:sp>
        <p:nvSpPr>
          <p:cNvPr id="36871" name="Text Box 67"/>
          <p:cNvSpPr txBox="1">
            <a:spLocks noChangeArrowheads="1"/>
          </p:cNvSpPr>
          <p:nvPr/>
        </p:nvSpPr>
        <p:spPr bwMode="auto">
          <a:xfrm>
            <a:off x="4665663" y="2927350"/>
            <a:ext cx="488950" cy="336550"/>
          </a:xfrm>
          <a:prstGeom prst="rect">
            <a:avLst/>
          </a:prstGeom>
          <a:noFill/>
          <a:ln w="9525">
            <a:noFill/>
            <a:miter lim="800000"/>
            <a:headEnd/>
            <a:tailEnd/>
          </a:ln>
        </p:spPr>
        <p:txBody>
          <a:bodyPr wrap="none">
            <a:spAutoFit/>
          </a:bodyPr>
          <a:lstStyle/>
          <a:p>
            <a:r>
              <a:rPr lang="fr-FR" sz="1600" b="1"/>
              <a:t>OH</a:t>
            </a:r>
          </a:p>
        </p:txBody>
      </p:sp>
      <p:sp>
        <p:nvSpPr>
          <p:cNvPr id="36872" name="Text Box 68"/>
          <p:cNvSpPr txBox="1">
            <a:spLocks noChangeArrowheads="1"/>
          </p:cNvSpPr>
          <p:nvPr/>
        </p:nvSpPr>
        <p:spPr bwMode="auto">
          <a:xfrm>
            <a:off x="3967163" y="2289175"/>
            <a:ext cx="566737" cy="336550"/>
          </a:xfrm>
          <a:prstGeom prst="rect">
            <a:avLst/>
          </a:prstGeom>
          <a:noFill/>
          <a:ln w="9525">
            <a:noFill/>
            <a:miter lim="800000"/>
            <a:headEnd/>
            <a:tailEnd/>
          </a:ln>
        </p:spPr>
        <p:txBody>
          <a:bodyPr>
            <a:spAutoFit/>
          </a:bodyPr>
          <a:lstStyle/>
          <a:p>
            <a:r>
              <a:rPr lang="fr-FR" sz="1600" b="1"/>
              <a:t>H</a:t>
            </a:r>
            <a:r>
              <a:rPr lang="fr-FR" sz="1600" b="1" baseline="-25000"/>
              <a:t>2</a:t>
            </a:r>
            <a:r>
              <a:rPr lang="fr-FR" sz="1600" b="1"/>
              <a:t>C</a:t>
            </a:r>
          </a:p>
        </p:txBody>
      </p:sp>
      <p:sp>
        <p:nvSpPr>
          <p:cNvPr id="36873" name="Text Box 69"/>
          <p:cNvSpPr txBox="1">
            <a:spLocks noChangeArrowheads="1"/>
          </p:cNvSpPr>
          <p:nvPr/>
        </p:nvSpPr>
        <p:spPr bwMode="auto">
          <a:xfrm>
            <a:off x="4195763" y="3570288"/>
            <a:ext cx="566737" cy="336550"/>
          </a:xfrm>
          <a:prstGeom prst="rect">
            <a:avLst/>
          </a:prstGeom>
          <a:noFill/>
          <a:ln w="9525">
            <a:noFill/>
            <a:miter lim="800000"/>
            <a:headEnd/>
            <a:tailEnd/>
          </a:ln>
        </p:spPr>
        <p:txBody>
          <a:bodyPr>
            <a:spAutoFit/>
          </a:bodyPr>
          <a:lstStyle/>
          <a:p>
            <a:r>
              <a:rPr lang="fr-FR" sz="1600" b="1"/>
              <a:t>CH</a:t>
            </a:r>
            <a:r>
              <a:rPr lang="fr-FR" sz="1600" b="1" baseline="-25000"/>
              <a:t>2</a:t>
            </a:r>
            <a:endParaRPr lang="fr-FR" sz="1600" b="1">
              <a:solidFill>
                <a:srgbClr val="008000"/>
              </a:solidFill>
            </a:endParaRPr>
          </a:p>
        </p:txBody>
      </p:sp>
      <p:sp>
        <p:nvSpPr>
          <p:cNvPr id="36874" name="Text Box 70"/>
          <p:cNvSpPr txBox="1">
            <a:spLocks noChangeArrowheads="1"/>
          </p:cNvSpPr>
          <p:nvPr/>
        </p:nvSpPr>
        <p:spPr bwMode="auto">
          <a:xfrm>
            <a:off x="4646613" y="2301875"/>
            <a:ext cx="488950" cy="336550"/>
          </a:xfrm>
          <a:prstGeom prst="rect">
            <a:avLst/>
          </a:prstGeom>
          <a:noFill/>
          <a:ln w="9525">
            <a:noFill/>
            <a:miter lim="800000"/>
            <a:headEnd/>
            <a:tailEnd/>
          </a:ln>
        </p:spPr>
        <p:txBody>
          <a:bodyPr wrap="none">
            <a:spAutoFit/>
          </a:bodyPr>
          <a:lstStyle/>
          <a:p>
            <a:r>
              <a:rPr lang="fr-FR" sz="1600" b="1"/>
              <a:t>OH</a:t>
            </a:r>
          </a:p>
        </p:txBody>
      </p:sp>
      <p:sp>
        <p:nvSpPr>
          <p:cNvPr id="36875" name="Line 72"/>
          <p:cNvSpPr>
            <a:spLocks noChangeShapeType="1"/>
          </p:cNvSpPr>
          <p:nvPr/>
        </p:nvSpPr>
        <p:spPr bwMode="auto">
          <a:xfrm>
            <a:off x="4360863" y="2622550"/>
            <a:ext cx="0" cy="323850"/>
          </a:xfrm>
          <a:prstGeom prst="line">
            <a:avLst/>
          </a:prstGeom>
          <a:noFill/>
          <a:ln w="19050">
            <a:solidFill>
              <a:schemeClr val="tx1"/>
            </a:solidFill>
            <a:round/>
            <a:headEnd/>
            <a:tailEnd/>
          </a:ln>
        </p:spPr>
        <p:txBody>
          <a:bodyPr wrap="none" anchor="ctr"/>
          <a:lstStyle/>
          <a:p>
            <a:endParaRPr lang="fr-FR"/>
          </a:p>
        </p:txBody>
      </p:sp>
      <p:sp>
        <p:nvSpPr>
          <p:cNvPr id="36876" name="Line 73"/>
          <p:cNvSpPr>
            <a:spLocks noChangeShapeType="1"/>
          </p:cNvSpPr>
          <p:nvPr/>
        </p:nvSpPr>
        <p:spPr bwMode="auto">
          <a:xfrm>
            <a:off x="4360863" y="3270250"/>
            <a:ext cx="0" cy="323850"/>
          </a:xfrm>
          <a:prstGeom prst="line">
            <a:avLst/>
          </a:prstGeom>
          <a:noFill/>
          <a:ln w="19050">
            <a:solidFill>
              <a:schemeClr val="tx1"/>
            </a:solidFill>
            <a:round/>
            <a:headEnd/>
            <a:tailEnd/>
          </a:ln>
        </p:spPr>
        <p:txBody>
          <a:bodyPr wrap="none" anchor="ctr"/>
          <a:lstStyle/>
          <a:p>
            <a:endParaRPr lang="fr-FR"/>
          </a:p>
        </p:txBody>
      </p:sp>
      <p:sp>
        <p:nvSpPr>
          <p:cNvPr id="36877" name="Text Box 106"/>
          <p:cNvSpPr txBox="1">
            <a:spLocks noChangeArrowheads="1"/>
          </p:cNvSpPr>
          <p:nvPr/>
        </p:nvSpPr>
        <p:spPr bwMode="auto">
          <a:xfrm>
            <a:off x="3617913" y="3570288"/>
            <a:ext cx="488950" cy="336550"/>
          </a:xfrm>
          <a:prstGeom prst="rect">
            <a:avLst/>
          </a:prstGeom>
          <a:noFill/>
          <a:ln w="9525">
            <a:noFill/>
            <a:miter lim="800000"/>
            <a:headEnd/>
            <a:tailEnd/>
          </a:ln>
        </p:spPr>
        <p:txBody>
          <a:bodyPr wrap="none">
            <a:spAutoFit/>
          </a:bodyPr>
          <a:lstStyle/>
          <a:p>
            <a:r>
              <a:rPr lang="fr-FR" sz="1600" b="1"/>
              <a:t>HO</a:t>
            </a:r>
            <a:endParaRPr lang="fr-FR" sz="1600" b="1">
              <a:solidFill>
                <a:srgbClr val="009900"/>
              </a:solidFill>
            </a:endParaRPr>
          </a:p>
        </p:txBody>
      </p:sp>
      <p:sp>
        <p:nvSpPr>
          <p:cNvPr id="36878" name="Line 114"/>
          <p:cNvSpPr>
            <a:spLocks noChangeShapeType="1"/>
          </p:cNvSpPr>
          <p:nvPr/>
        </p:nvSpPr>
        <p:spPr bwMode="auto">
          <a:xfrm>
            <a:off x="4043363" y="3738563"/>
            <a:ext cx="187325" cy="0"/>
          </a:xfrm>
          <a:prstGeom prst="line">
            <a:avLst/>
          </a:prstGeom>
          <a:noFill/>
          <a:ln w="19050">
            <a:solidFill>
              <a:schemeClr val="tx1"/>
            </a:solidFill>
            <a:round/>
            <a:headEnd/>
            <a:tailEnd/>
          </a:ln>
        </p:spPr>
        <p:txBody>
          <a:bodyPr wrap="none" anchor="ctr"/>
          <a:lstStyle/>
          <a:p>
            <a:endParaRPr lang="fr-FR"/>
          </a:p>
        </p:txBody>
      </p:sp>
      <p:sp>
        <p:nvSpPr>
          <p:cNvPr id="36879" name="Line 119"/>
          <p:cNvSpPr>
            <a:spLocks noChangeShapeType="1"/>
          </p:cNvSpPr>
          <p:nvPr/>
        </p:nvSpPr>
        <p:spPr bwMode="auto">
          <a:xfrm>
            <a:off x="4525963" y="3103563"/>
            <a:ext cx="187325" cy="0"/>
          </a:xfrm>
          <a:prstGeom prst="line">
            <a:avLst/>
          </a:prstGeom>
          <a:noFill/>
          <a:ln w="19050">
            <a:solidFill>
              <a:schemeClr val="tx1"/>
            </a:solidFill>
            <a:round/>
            <a:headEnd/>
            <a:tailEnd/>
          </a:ln>
        </p:spPr>
        <p:txBody>
          <a:bodyPr wrap="none" anchor="ctr"/>
          <a:lstStyle/>
          <a:p>
            <a:endParaRPr lang="fr-FR"/>
          </a:p>
        </p:txBody>
      </p:sp>
      <p:sp>
        <p:nvSpPr>
          <p:cNvPr id="36880" name="Line 120"/>
          <p:cNvSpPr>
            <a:spLocks noChangeShapeType="1"/>
          </p:cNvSpPr>
          <p:nvPr/>
        </p:nvSpPr>
        <p:spPr bwMode="auto">
          <a:xfrm>
            <a:off x="4500563" y="2481263"/>
            <a:ext cx="187325" cy="0"/>
          </a:xfrm>
          <a:prstGeom prst="line">
            <a:avLst/>
          </a:prstGeom>
          <a:noFill/>
          <a:ln w="19050">
            <a:solidFill>
              <a:schemeClr val="tx1"/>
            </a:solidFill>
            <a:round/>
            <a:headEnd/>
            <a:tailEnd/>
          </a:ln>
        </p:spPr>
        <p:txBody>
          <a:bodyPr wrap="none" anchor="ctr"/>
          <a:lstStyle/>
          <a:p>
            <a:endParaRPr lang="fr-FR"/>
          </a:p>
        </p:txBody>
      </p:sp>
      <p:sp>
        <p:nvSpPr>
          <p:cNvPr id="2" name="Rectangle 1"/>
          <p:cNvSpPr/>
          <p:nvPr/>
        </p:nvSpPr>
        <p:spPr>
          <a:xfrm>
            <a:off x="1002686" y="367504"/>
            <a:ext cx="6495689" cy="707886"/>
          </a:xfrm>
          <a:prstGeom prst="rect">
            <a:avLst/>
          </a:prstGeom>
        </p:spPr>
        <p:txBody>
          <a:bodyPr wrap="none">
            <a:spAutoFit/>
          </a:bodyPr>
          <a:lstStyle/>
          <a:p>
            <a:r>
              <a:rPr lang="en-US" sz="4000" dirty="0">
                <a:latin typeface="Century Schoolbook" panose="02040604050505020304" pitchFamily="18" charset="0"/>
              </a:rPr>
              <a:t>… are made up of glycerol,</a:t>
            </a:r>
            <a:endParaRPr lang="fr-FR" sz="4000" dirty="0">
              <a:latin typeface="Century Schoolbook" panose="020406040505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AutoShape 16"/>
          <p:cNvSpPr>
            <a:spLocks/>
          </p:cNvSpPr>
          <p:nvPr/>
        </p:nvSpPr>
        <p:spPr bwMode="auto">
          <a:xfrm rot="16200000" flipV="1">
            <a:off x="6997700" y="2628900"/>
            <a:ext cx="177800" cy="3733800"/>
          </a:xfrm>
          <a:prstGeom prst="leftBrace">
            <a:avLst>
              <a:gd name="adj1" fmla="val 61153"/>
              <a:gd name="adj2" fmla="val 50000"/>
            </a:avLst>
          </a:prstGeom>
          <a:noFill/>
          <a:ln w="9525">
            <a:solidFill>
              <a:srgbClr val="009900"/>
            </a:solidFill>
            <a:round/>
            <a:headEnd/>
            <a:tailEnd/>
          </a:ln>
        </p:spPr>
        <p:txBody>
          <a:bodyPr wrap="none" anchor="ctr"/>
          <a:lstStyle/>
          <a:p>
            <a:endParaRPr lang="fr-FR"/>
          </a:p>
        </p:txBody>
      </p:sp>
      <p:sp>
        <p:nvSpPr>
          <p:cNvPr id="37892" name="AutoShape 17"/>
          <p:cNvSpPr>
            <a:spLocks/>
          </p:cNvSpPr>
          <p:nvPr/>
        </p:nvSpPr>
        <p:spPr bwMode="auto">
          <a:xfrm rot="16200000" flipV="1">
            <a:off x="4318000" y="3886200"/>
            <a:ext cx="177800" cy="1219200"/>
          </a:xfrm>
          <a:prstGeom prst="leftBrace">
            <a:avLst>
              <a:gd name="adj1" fmla="val 82857"/>
              <a:gd name="adj2" fmla="val 50000"/>
            </a:avLst>
          </a:prstGeom>
          <a:noFill/>
          <a:ln w="9525">
            <a:solidFill>
              <a:schemeClr val="tx1"/>
            </a:solidFill>
            <a:round/>
            <a:headEnd/>
            <a:tailEnd/>
          </a:ln>
        </p:spPr>
        <p:txBody>
          <a:bodyPr wrap="none" anchor="ctr"/>
          <a:lstStyle/>
          <a:p>
            <a:endParaRPr lang="fr-FR"/>
          </a:p>
        </p:txBody>
      </p:sp>
      <p:sp>
        <p:nvSpPr>
          <p:cNvPr id="37893" name="Text Box 18"/>
          <p:cNvSpPr txBox="1">
            <a:spLocks noChangeArrowheads="1"/>
          </p:cNvSpPr>
          <p:nvPr/>
        </p:nvSpPr>
        <p:spPr bwMode="auto">
          <a:xfrm>
            <a:off x="4000500" y="4610100"/>
            <a:ext cx="751744" cy="307777"/>
          </a:xfrm>
          <a:prstGeom prst="rect">
            <a:avLst/>
          </a:prstGeom>
          <a:noFill/>
          <a:ln w="9525">
            <a:noFill/>
            <a:miter lim="800000"/>
            <a:headEnd/>
            <a:tailEnd/>
          </a:ln>
        </p:spPr>
        <p:txBody>
          <a:bodyPr wrap="none">
            <a:spAutoFit/>
          </a:bodyPr>
          <a:lstStyle/>
          <a:p>
            <a:r>
              <a:rPr lang="fr-FR" sz="1400" dirty="0" err="1"/>
              <a:t>glycerol</a:t>
            </a:r>
            <a:endParaRPr lang="fr-FR" dirty="0">
              <a:solidFill>
                <a:srgbClr val="FF0000"/>
              </a:solidFill>
            </a:endParaRPr>
          </a:p>
        </p:txBody>
      </p:sp>
      <p:sp>
        <p:nvSpPr>
          <p:cNvPr id="37894" name="Text Box 19"/>
          <p:cNvSpPr txBox="1">
            <a:spLocks noChangeArrowheads="1"/>
          </p:cNvSpPr>
          <p:nvPr/>
        </p:nvSpPr>
        <p:spPr bwMode="auto">
          <a:xfrm>
            <a:off x="6554788" y="4610100"/>
            <a:ext cx="996363" cy="307777"/>
          </a:xfrm>
          <a:prstGeom prst="rect">
            <a:avLst/>
          </a:prstGeom>
          <a:noFill/>
          <a:ln w="9525">
            <a:noFill/>
            <a:miter lim="800000"/>
            <a:headEnd/>
            <a:tailEnd/>
          </a:ln>
        </p:spPr>
        <p:txBody>
          <a:bodyPr wrap="none">
            <a:spAutoFit/>
          </a:bodyPr>
          <a:lstStyle/>
          <a:p>
            <a:r>
              <a:rPr lang="fr-FR" sz="1400" dirty="0" err="1">
                <a:solidFill>
                  <a:srgbClr val="009900"/>
                </a:solidFill>
              </a:rPr>
              <a:t>Fatty</a:t>
            </a:r>
            <a:r>
              <a:rPr lang="fr-FR" sz="1400" dirty="0">
                <a:solidFill>
                  <a:srgbClr val="009900"/>
                </a:solidFill>
              </a:rPr>
              <a:t> </a:t>
            </a:r>
            <a:r>
              <a:rPr lang="fr-FR" sz="1400" dirty="0" err="1">
                <a:solidFill>
                  <a:srgbClr val="009900"/>
                </a:solidFill>
              </a:rPr>
              <a:t>acids</a:t>
            </a:r>
            <a:r>
              <a:rPr lang="fr-FR" sz="1400" dirty="0">
                <a:solidFill>
                  <a:srgbClr val="009900"/>
                </a:solidFill>
              </a:rPr>
              <a:t> </a:t>
            </a:r>
            <a:endParaRPr lang="fr-FR" dirty="0"/>
          </a:p>
        </p:txBody>
      </p:sp>
      <p:sp>
        <p:nvSpPr>
          <p:cNvPr id="37895" name="Rectangle 24"/>
          <p:cNvSpPr>
            <a:spLocks noChangeArrowheads="1"/>
          </p:cNvSpPr>
          <p:nvPr/>
        </p:nvSpPr>
        <p:spPr bwMode="auto">
          <a:xfrm>
            <a:off x="5135563" y="2844800"/>
            <a:ext cx="3835400" cy="901700"/>
          </a:xfrm>
          <a:prstGeom prst="rect">
            <a:avLst/>
          </a:prstGeom>
          <a:solidFill>
            <a:schemeClr val="bg1"/>
          </a:solidFill>
          <a:ln w="9525">
            <a:solidFill>
              <a:srgbClr val="009900"/>
            </a:solidFill>
            <a:miter lim="800000"/>
            <a:headEnd/>
            <a:tailEnd/>
          </a:ln>
        </p:spPr>
        <p:txBody>
          <a:bodyPr wrap="none" anchor="ctr"/>
          <a:lstStyle/>
          <a:p>
            <a:endParaRPr lang="fr-FR"/>
          </a:p>
        </p:txBody>
      </p:sp>
      <p:sp>
        <p:nvSpPr>
          <p:cNvPr id="37896" name="Rectangle 25"/>
          <p:cNvSpPr>
            <a:spLocks noChangeArrowheads="1"/>
          </p:cNvSpPr>
          <p:nvPr/>
        </p:nvSpPr>
        <p:spPr bwMode="auto">
          <a:xfrm>
            <a:off x="5135563" y="1828800"/>
            <a:ext cx="1981200" cy="838200"/>
          </a:xfrm>
          <a:prstGeom prst="rect">
            <a:avLst/>
          </a:prstGeom>
          <a:solidFill>
            <a:schemeClr val="bg1"/>
          </a:solidFill>
          <a:ln w="9525">
            <a:solidFill>
              <a:srgbClr val="009900"/>
            </a:solidFill>
            <a:miter lim="800000"/>
            <a:headEnd/>
            <a:tailEnd/>
          </a:ln>
        </p:spPr>
        <p:txBody>
          <a:bodyPr wrap="none" anchor="ctr"/>
          <a:lstStyle/>
          <a:p>
            <a:endParaRPr lang="fr-FR"/>
          </a:p>
        </p:txBody>
      </p:sp>
      <p:sp>
        <p:nvSpPr>
          <p:cNvPr id="37897" name="Rectangle 26"/>
          <p:cNvSpPr>
            <a:spLocks noChangeArrowheads="1"/>
          </p:cNvSpPr>
          <p:nvPr/>
        </p:nvSpPr>
        <p:spPr bwMode="auto">
          <a:xfrm>
            <a:off x="3687763" y="2133600"/>
            <a:ext cx="1371600" cy="1943100"/>
          </a:xfrm>
          <a:prstGeom prst="rect">
            <a:avLst/>
          </a:prstGeom>
          <a:solidFill>
            <a:schemeClr val="bg1"/>
          </a:solidFill>
          <a:ln w="9525">
            <a:solidFill>
              <a:schemeClr val="tx1"/>
            </a:solidFill>
            <a:miter lim="800000"/>
            <a:headEnd/>
            <a:tailEnd/>
          </a:ln>
        </p:spPr>
        <p:txBody>
          <a:bodyPr wrap="none" anchor="ctr"/>
          <a:lstStyle/>
          <a:p>
            <a:endParaRPr lang="fr-FR"/>
          </a:p>
        </p:txBody>
      </p:sp>
      <p:sp>
        <p:nvSpPr>
          <p:cNvPr id="37898" name="Text Box 29"/>
          <p:cNvSpPr txBox="1">
            <a:spLocks noChangeArrowheads="1"/>
          </p:cNvSpPr>
          <p:nvPr/>
        </p:nvSpPr>
        <p:spPr bwMode="auto">
          <a:xfrm>
            <a:off x="4056063" y="2914650"/>
            <a:ext cx="477837" cy="336550"/>
          </a:xfrm>
          <a:prstGeom prst="rect">
            <a:avLst/>
          </a:prstGeom>
          <a:noFill/>
          <a:ln w="9525">
            <a:noFill/>
            <a:miter lim="800000"/>
            <a:headEnd/>
            <a:tailEnd/>
          </a:ln>
        </p:spPr>
        <p:txBody>
          <a:bodyPr wrap="none">
            <a:spAutoFit/>
          </a:bodyPr>
          <a:lstStyle/>
          <a:p>
            <a:r>
              <a:rPr lang="fr-FR" sz="1600" b="1"/>
              <a:t>HC</a:t>
            </a:r>
          </a:p>
        </p:txBody>
      </p:sp>
      <p:sp>
        <p:nvSpPr>
          <p:cNvPr id="37899" name="Text Box 30"/>
          <p:cNvSpPr txBox="1">
            <a:spLocks noChangeArrowheads="1"/>
          </p:cNvSpPr>
          <p:nvPr/>
        </p:nvSpPr>
        <p:spPr bwMode="auto">
          <a:xfrm>
            <a:off x="4665663" y="2927350"/>
            <a:ext cx="342900" cy="336550"/>
          </a:xfrm>
          <a:prstGeom prst="rect">
            <a:avLst/>
          </a:prstGeom>
          <a:noFill/>
          <a:ln w="9525">
            <a:noFill/>
            <a:miter lim="800000"/>
            <a:headEnd/>
            <a:tailEnd/>
          </a:ln>
        </p:spPr>
        <p:txBody>
          <a:bodyPr wrap="none">
            <a:spAutoFit/>
          </a:bodyPr>
          <a:lstStyle/>
          <a:p>
            <a:r>
              <a:rPr lang="fr-FR" sz="1600" b="1"/>
              <a:t>O</a:t>
            </a:r>
          </a:p>
        </p:txBody>
      </p:sp>
      <p:sp>
        <p:nvSpPr>
          <p:cNvPr id="37900" name="Text Box 31"/>
          <p:cNvSpPr txBox="1">
            <a:spLocks noChangeArrowheads="1"/>
          </p:cNvSpPr>
          <p:nvPr/>
        </p:nvSpPr>
        <p:spPr bwMode="auto">
          <a:xfrm>
            <a:off x="3967163" y="2289175"/>
            <a:ext cx="566737" cy="336550"/>
          </a:xfrm>
          <a:prstGeom prst="rect">
            <a:avLst/>
          </a:prstGeom>
          <a:noFill/>
          <a:ln w="9525">
            <a:noFill/>
            <a:miter lim="800000"/>
            <a:headEnd/>
            <a:tailEnd/>
          </a:ln>
        </p:spPr>
        <p:txBody>
          <a:bodyPr>
            <a:spAutoFit/>
          </a:bodyPr>
          <a:lstStyle/>
          <a:p>
            <a:r>
              <a:rPr lang="fr-FR" sz="1600" b="1"/>
              <a:t>H</a:t>
            </a:r>
            <a:r>
              <a:rPr lang="fr-FR" sz="1600" b="1" baseline="-25000"/>
              <a:t>2</a:t>
            </a:r>
            <a:r>
              <a:rPr lang="fr-FR" sz="1600" b="1"/>
              <a:t>C</a:t>
            </a:r>
          </a:p>
        </p:txBody>
      </p:sp>
      <p:sp>
        <p:nvSpPr>
          <p:cNvPr id="37901" name="Text Box 32"/>
          <p:cNvSpPr txBox="1">
            <a:spLocks noChangeArrowheads="1"/>
          </p:cNvSpPr>
          <p:nvPr/>
        </p:nvSpPr>
        <p:spPr bwMode="auto">
          <a:xfrm>
            <a:off x="4195763" y="3570288"/>
            <a:ext cx="566737" cy="336550"/>
          </a:xfrm>
          <a:prstGeom prst="rect">
            <a:avLst/>
          </a:prstGeom>
          <a:noFill/>
          <a:ln w="9525">
            <a:noFill/>
            <a:miter lim="800000"/>
            <a:headEnd/>
            <a:tailEnd/>
          </a:ln>
        </p:spPr>
        <p:txBody>
          <a:bodyPr>
            <a:spAutoFit/>
          </a:bodyPr>
          <a:lstStyle/>
          <a:p>
            <a:r>
              <a:rPr lang="fr-FR" sz="1600" b="1"/>
              <a:t>CH</a:t>
            </a:r>
            <a:r>
              <a:rPr lang="fr-FR" sz="1600" b="1" baseline="-25000"/>
              <a:t>2</a:t>
            </a:r>
            <a:endParaRPr lang="fr-FR" sz="1600" b="1">
              <a:solidFill>
                <a:srgbClr val="008000"/>
              </a:solidFill>
            </a:endParaRPr>
          </a:p>
        </p:txBody>
      </p:sp>
      <p:sp>
        <p:nvSpPr>
          <p:cNvPr id="37902" name="Text Box 33"/>
          <p:cNvSpPr txBox="1">
            <a:spLocks noChangeArrowheads="1"/>
          </p:cNvSpPr>
          <p:nvPr/>
        </p:nvSpPr>
        <p:spPr bwMode="auto">
          <a:xfrm>
            <a:off x="4646613" y="2301875"/>
            <a:ext cx="342900" cy="336550"/>
          </a:xfrm>
          <a:prstGeom prst="rect">
            <a:avLst/>
          </a:prstGeom>
          <a:noFill/>
          <a:ln w="9525">
            <a:noFill/>
            <a:miter lim="800000"/>
            <a:headEnd/>
            <a:tailEnd/>
          </a:ln>
        </p:spPr>
        <p:txBody>
          <a:bodyPr wrap="none">
            <a:spAutoFit/>
          </a:bodyPr>
          <a:lstStyle/>
          <a:p>
            <a:r>
              <a:rPr lang="fr-FR" sz="1600" b="1"/>
              <a:t>O</a:t>
            </a:r>
          </a:p>
        </p:txBody>
      </p:sp>
      <p:sp>
        <p:nvSpPr>
          <p:cNvPr id="37903" name="Line 35"/>
          <p:cNvSpPr>
            <a:spLocks noChangeShapeType="1"/>
          </p:cNvSpPr>
          <p:nvPr/>
        </p:nvSpPr>
        <p:spPr bwMode="auto">
          <a:xfrm>
            <a:off x="4360863" y="2622550"/>
            <a:ext cx="0" cy="323850"/>
          </a:xfrm>
          <a:prstGeom prst="line">
            <a:avLst/>
          </a:prstGeom>
          <a:noFill/>
          <a:ln w="19050">
            <a:solidFill>
              <a:schemeClr val="tx1"/>
            </a:solidFill>
            <a:round/>
            <a:headEnd/>
            <a:tailEnd/>
          </a:ln>
        </p:spPr>
        <p:txBody>
          <a:bodyPr wrap="none" anchor="ctr"/>
          <a:lstStyle/>
          <a:p>
            <a:endParaRPr lang="fr-FR"/>
          </a:p>
        </p:txBody>
      </p:sp>
      <p:sp>
        <p:nvSpPr>
          <p:cNvPr id="37904" name="Line 36"/>
          <p:cNvSpPr>
            <a:spLocks noChangeShapeType="1"/>
          </p:cNvSpPr>
          <p:nvPr/>
        </p:nvSpPr>
        <p:spPr bwMode="auto">
          <a:xfrm>
            <a:off x="4360863" y="3270250"/>
            <a:ext cx="0" cy="323850"/>
          </a:xfrm>
          <a:prstGeom prst="line">
            <a:avLst/>
          </a:prstGeom>
          <a:noFill/>
          <a:ln w="19050">
            <a:solidFill>
              <a:schemeClr val="tx1"/>
            </a:solidFill>
            <a:round/>
            <a:headEnd/>
            <a:tailEnd/>
          </a:ln>
        </p:spPr>
        <p:txBody>
          <a:bodyPr wrap="none" anchor="ctr"/>
          <a:lstStyle/>
          <a:p>
            <a:endParaRPr lang="fr-FR"/>
          </a:p>
        </p:txBody>
      </p:sp>
      <p:sp>
        <p:nvSpPr>
          <p:cNvPr id="37905" name="Text Box 40"/>
          <p:cNvSpPr txBox="1">
            <a:spLocks noChangeArrowheads="1"/>
          </p:cNvSpPr>
          <p:nvPr/>
        </p:nvSpPr>
        <p:spPr bwMode="auto">
          <a:xfrm>
            <a:off x="6583363" y="2289175"/>
            <a:ext cx="566737" cy="336550"/>
          </a:xfrm>
          <a:prstGeom prst="rect">
            <a:avLst/>
          </a:prstGeom>
          <a:noFill/>
          <a:ln w="9525">
            <a:noFill/>
            <a:miter lim="800000"/>
            <a:headEnd/>
            <a:tailEnd/>
          </a:ln>
        </p:spPr>
        <p:txBody>
          <a:bodyPr>
            <a:spAutoFit/>
          </a:bodyPr>
          <a:lstStyle/>
          <a:p>
            <a:r>
              <a:rPr lang="fr-FR" sz="1600" b="1">
                <a:solidFill>
                  <a:srgbClr val="009900"/>
                </a:solidFill>
              </a:rPr>
              <a:t>CH</a:t>
            </a:r>
            <a:r>
              <a:rPr lang="fr-FR" sz="1600" b="1" baseline="-25000">
                <a:solidFill>
                  <a:srgbClr val="009900"/>
                </a:solidFill>
              </a:rPr>
              <a:t>3</a:t>
            </a:r>
          </a:p>
        </p:txBody>
      </p:sp>
      <p:sp>
        <p:nvSpPr>
          <p:cNvPr id="37906" name="Text Box 41"/>
          <p:cNvSpPr txBox="1">
            <a:spLocks noChangeArrowheads="1"/>
          </p:cNvSpPr>
          <p:nvPr/>
        </p:nvSpPr>
        <p:spPr bwMode="auto">
          <a:xfrm>
            <a:off x="8399463" y="2927350"/>
            <a:ext cx="566737" cy="336550"/>
          </a:xfrm>
          <a:prstGeom prst="rect">
            <a:avLst/>
          </a:prstGeom>
          <a:noFill/>
          <a:ln w="9525">
            <a:noFill/>
            <a:miter lim="800000"/>
            <a:headEnd/>
            <a:tailEnd/>
          </a:ln>
        </p:spPr>
        <p:txBody>
          <a:bodyPr>
            <a:spAutoFit/>
          </a:bodyPr>
          <a:lstStyle/>
          <a:p>
            <a:r>
              <a:rPr lang="fr-FR" sz="1600" b="1">
                <a:solidFill>
                  <a:srgbClr val="009900"/>
                </a:solidFill>
              </a:rPr>
              <a:t>CH</a:t>
            </a:r>
            <a:r>
              <a:rPr lang="fr-FR" sz="1600" b="1" baseline="-25000">
                <a:solidFill>
                  <a:srgbClr val="009900"/>
                </a:solidFill>
              </a:rPr>
              <a:t>3</a:t>
            </a:r>
          </a:p>
        </p:txBody>
      </p:sp>
      <p:sp>
        <p:nvSpPr>
          <p:cNvPr id="37907" name="Text Box 42"/>
          <p:cNvSpPr txBox="1">
            <a:spLocks noChangeArrowheads="1"/>
          </p:cNvSpPr>
          <p:nvPr/>
        </p:nvSpPr>
        <p:spPr bwMode="auto">
          <a:xfrm>
            <a:off x="5630863" y="2289175"/>
            <a:ext cx="846137" cy="336550"/>
          </a:xfrm>
          <a:prstGeom prst="rect">
            <a:avLst/>
          </a:prstGeom>
          <a:noFill/>
          <a:ln w="9525">
            <a:noFill/>
            <a:miter lim="800000"/>
            <a:headEnd/>
            <a:tailEnd/>
          </a:ln>
        </p:spPr>
        <p:txBody>
          <a:bodyPr>
            <a:spAutoFit/>
          </a:bodyPr>
          <a:lstStyle/>
          <a:p>
            <a:r>
              <a:rPr lang="fr-FR" sz="1600" b="1">
                <a:solidFill>
                  <a:srgbClr val="009900"/>
                </a:solidFill>
              </a:rPr>
              <a:t>(CH</a:t>
            </a:r>
            <a:r>
              <a:rPr lang="fr-FR" sz="1600" b="1" baseline="-25000">
                <a:solidFill>
                  <a:srgbClr val="009900"/>
                </a:solidFill>
              </a:rPr>
              <a:t>2</a:t>
            </a:r>
            <a:r>
              <a:rPr lang="fr-FR" sz="1600" b="1">
                <a:solidFill>
                  <a:srgbClr val="009900"/>
                </a:solidFill>
              </a:rPr>
              <a:t>)</a:t>
            </a:r>
            <a:r>
              <a:rPr lang="fr-FR" sz="1600" b="1" baseline="-25000">
                <a:solidFill>
                  <a:srgbClr val="009900"/>
                </a:solidFill>
              </a:rPr>
              <a:t>14</a:t>
            </a:r>
          </a:p>
        </p:txBody>
      </p:sp>
      <p:sp>
        <p:nvSpPr>
          <p:cNvPr id="37908" name="Text Box 43"/>
          <p:cNvSpPr txBox="1">
            <a:spLocks noChangeArrowheads="1"/>
          </p:cNvSpPr>
          <p:nvPr/>
        </p:nvSpPr>
        <p:spPr bwMode="auto">
          <a:xfrm>
            <a:off x="6507163" y="2924175"/>
            <a:ext cx="312737" cy="581025"/>
          </a:xfrm>
          <a:prstGeom prst="rect">
            <a:avLst/>
          </a:prstGeom>
          <a:noFill/>
          <a:ln w="9525">
            <a:noFill/>
            <a:miter lim="800000"/>
            <a:headEnd/>
            <a:tailEnd/>
          </a:ln>
        </p:spPr>
        <p:txBody>
          <a:bodyPr>
            <a:spAutoFit/>
          </a:bodyPr>
          <a:lstStyle/>
          <a:p>
            <a:r>
              <a:rPr lang="fr-FR" sz="1600" b="1">
                <a:solidFill>
                  <a:srgbClr val="009900"/>
                </a:solidFill>
              </a:rPr>
              <a:t>CH</a:t>
            </a:r>
            <a:endParaRPr lang="fr-FR" sz="1600" b="1" baseline="-25000">
              <a:solidFill>
                <a:srgbClr val="009900"/>
              </a:solidFill>
            </a:endParaRPr>
          </a:p>
        </p:txBody>
      </p:sp>
      <p:sp>
        <p:nvSpPr>
          <p:cNvPr id="37909" name="Text Box 44"/>
          <p:cNvSpPr txBox="1">
            <a:spLocks noChangeArrowheads="1"/>
          </p:cNvSpPr>
          <p:nvPr/>
        </p:nvSpPr>
        <p:spPr bwMode="auto">
          <a:xfrm>
            <a:off x="7497763" y="2927350"/>
            <a:ext cx="769937" cy="336550"/>
          </a:xfrm>
          <a:prstGeom prst="rect">
            <a:avLst/>
          </a:prstGeom>
          <a:noFill/>
          <a:ln w="9525">
            <a:noFill/>
            <a:miter lim="800000"/>
            <a:headEnd/>
            <a:tailEnd/>
          </a:ln>
        </p:spPr>
        <p:txBody>
          <a:bodyPr>
            <a:spAutoFit/>
          </a:bodyPr>
          <a:lstStyle/>
          <a:p>
            <a:r>
              <a:rPr lang="fr-FR" sz="1600" b="1">
                <a:solidFill>
                  <a:srgbClr val="009900"/>
                </a:solidFill>
              </a:rPr>
              <a:t>(CH</a:t>
            </a:r>
            <a:r>
              <a:rPr lang="fr-FR" sz="1600" b="1" baseline="-25000">
                <a:solidFill>
                  <a:srgbClr val="009900"/>
                </a:solidFill>
              </a:rPr>
              <a:t>2</a:t>
            </a:r>
            <a:r>
              <a:rPr lang="fr-FR" sz="1600" b="1">
                <a:solidFill>
                  <a:srgbClr val="009900"/>
                </a:solidFill>
              </a:rPr>
              <a:t>)</a:t>
            </a:r>
            <a:r>
              <a:rPr lang="fr-FR" sz="1600" b="1" baseline="-25000">
                <a:solidFill>
                  <a:srgbClr val="009900"/>
                </a:solidFill>
              </a:rPr>
              <a:t>7</a:t>
            </a:r>
          </a:p>
        </p:txBody>
      </p:sp>
      <p:sp>
        <p:nvSpPr>
          <p:cNvPr id="37910" name="Text Box 45"/>
          <p:cNvSpPr txBox="1">
            <a:spLocks noChangeArrowheads="1"/>
          </p:cNvSpPr>
          <p:nvPr/>
        </p:nvSpPr>
        <p:spPr bwMode="auto">
          <a:xfrm>
            <a:off x="5643563" y="2914650"/>
            <a:ext cx="769937" cy="336550"/>
          </a:xfrm>
          <a:prstGeom prst="rect">
            <a:avLst/>
          </a:prstGeom>
          <a:noFill/>
          <a:ln w="9525">
            <a:noFill/>
            <a:miter lim="800000"/>
            <a:headEnd/>
            <a:tailEnd/>
          </a:ln>
        </p:spPr>
        <p:txBody>
          <a:bodyPr>
            <a:spAutoFit/>
          </a:bodyPr>
          <a:lstStyle/>
          <a:p>
            <a:r>
              <a:rPr lang="fr-FR" sz="1600" b="1">
                <a:solidFill>
                  <a:srgbClr val="009900"/>
                </a:solidFill>
              </a:rPr>
              <a:t>(CH</a:t>
            </a:r>
            <a:r>
              <a:rPr lang="fr-FR" sz="1600" b="1" baseline="-25000">
                <a:solidFill>
                  <a:srgbClr val="009900"/>
                </a:solidFill>
              </a:rPr>
              <a:t>2</a:t>
            </a:r>
            <a:r>
              <a:rPr lang="fr-FR" sz="1600" b="1">
                <a:solidFill>
                  <a:srgbClr val="009900"/>
                </a:solidFill>
              </a:rPr>
              <a:t>)</a:t>
            </a:r>
            <a:r>
              <a:rPr lang="fr-FR" sz="1600" b="1" baseline="-25000">
                <a:solidFill>
                  <a:srgbClr val="009900"/>
                </a:solidFill>
              </a:rPr>
              <a:t>7</a:t>
            </a:r>
          </a:p>
        </p:txBody>
      </p:sp>
      <p:sp>
        <p:nvSpPr>
          <p:cNvPr id="37911" name="Text Box 46"/>
          <p:cNvSpPr txBox="1">
            <a:spLocks noChangeArrowheads="1"/>
          </p:cNvSpPr>
          <p:nvPr/>
        </p:nvSpPr>
        <p:spPr bwMode="auto">
          <a:xfrm>
            <a:off x="7040563" y="2924175"/>
            <a:ext cx="312737" cy="581025"/>
          </a:xfrm>
          <a:prstGeom prst="rect">
            <a:avLst/>
          </a:prstGeom>
          <a:noFill/>
          <a:ln w="9525">
            <a:noFill/>
            <a:miter lim="800000"/>
            <a:headEnd/>
            <a:tailEnd/>
          </a:ln>
        </p:spPr>
        <p:txBody>
          <a:bodyPr>
            <a:spAutoFit/>
          </a:bodyPr>
          <a:lstStyle/>
          <a:p>
            <a:r>
              <a:rPr lang="fr-FR" sz="1600" b="1">
                <a:solidFill>
                  <a:srgbClr val="009900"/>
                </a:solidFill>
              </a:rPr>
              <a:t>CH</a:t>
            </a:r>
            <a:endParaRPr lang="fr-FR" sz="1600" b="1" baseline="-25000">
              <a:solidFill>
                <a:srgbClr val="009900"/>
              </a:solidFill>
            </a:endParaRPr>
          </a:p>
        </p:txBody>
      </p:sp>
      <p:sp>
        <p:nvSpPr>
          <p:cNvPr id="37912" name="Text Box 51"/>
          <p:cNvSpPr txBox="1">
            <a:spLocks noChangeArrowheads="1"/>
          </p:cNvSpPr>
          <p:nvPr/>
        </p:nvSpPr>
        <p:spPr bwMode="auto">
          <a:xfrm>
            <a:off x="5186363" y="2927350"/>
            <a:ext cx="300037" cy="336550"/>
          </a:xfrm>
          <a:prstGeom prst="rect">
            <a:avLst/>
          </a:prstGeom>
          <a:noFill/>
          <a:ln w="9525">
            <a:noFill/>
            <a:miter lim="800000"/>
            <a:headEnd/>
            <a:tailEnd/>
          </a:ln>
        </p:spPr>
        <p:txBody>
          <a:bodyPr>
            <a:spAutoFit/>
          </a:bodyPr>
          <a:lstStyle/>
          <a:p>
            <a:r>
              <a:rPr lang="fr-FR" sz="1600" b="1">
                <a:solidFill>
                  <a:srgbClr val="009900"/>
                </a:solidFill>
              </a:rPr>
              <a:t>C</a:t>
            </a:r>
            <a:endParaRPr lang="fr-FR" sz="1600" b="1" baseline="-25000">
              <a:solidFill>
                <a:srgbClr val="009900"/>
              </a:solidFill>
            </a:endParaRPr>
          </a:p>
        </p:txBody>
      </p:sp>
      <p:sp>
        <p:nvSpPr>
          <p:cNvPr id="37913" name="Text Box 52"/>
          <p:cNvSpPr txBox="1">
            <a:spLocks noChangeArrowheads="1"/>
          </p:cNvSpPr>
          <p:nvPr/>
        </p:nvSpPr>
        <p:spPr bwMode="auto">
          <a:xfrm>
            <a:off x="5199063" y="3406775"/>
            <a:ext cx="300037" cy="336550"/>
          </a:xfrm>
          <a:prstGeom prst="rect">
            <a:avLst/>
          </a:prstGeom>
          <a:noFill/>
          <a:ln w="9525">
            <a:noFill/>
            <a:miter lim="800000"/>
            <a:headEnd/>
            <a:tailEnd/>
          </a:ln>
        </p:spPr>
        <p:txBody>
          <a:bodyPr>
            <a:spAutoFit/>
          </a:bodyPr>
          <a:lstStyle/>
          <a:p>
            <a:r>
              <a:rPr lang="fr-FR" sz="1600" b="1">
                <a:solidFill>
                  <a:srgbClr val="009900"/>
                </a:solidFill>
              </a:rPr>
              <a:t>O</a:t>
            </a:r>
            <a:endParaRPr lang="fr-FR" sz="1600" b="1" baseline="-25000">
              <a:solidFill>
                <a:srgbClr val="009900"/>
              </a:solidFill>
            </a:endParaRPr>
          </a:p>
        </p:txBody>
      </p:sp>
      <p:sp>
        <p:nvSpPr>
          <p:cNvPr id="37914" name="Line 55"/>
          <p:cNvSpPr>
            <a:spLocks noChangeShapeType="1"/>
          </p:cNvSpPr>
          <p:nvPr/>
        </p:nvSpPr>
        <p:spPr bwMode="auto">
          <a:xfrm>
            <a:off x="4945063" y="3095625"/>
            <a:ext cx="263525" cy="0"/>
          </a:xfrm>
          <a:prstGeom prst="line">
            <a:avLst/>
          </a:prstGeom>
          <a:noFill/>
          <a:ln w="19050">
            <a:solidFill>
              <a:schemeClr val="tx1"/>
            </a:solidFill>
            <a:round/>
            <a:headEnd/>
            <a:tailEnd/>
          </a:ln>
        </p:spPr>
        <p:txBody>
          <a:bodyPr wrap="none" anchor="ctr"/>
          <a:lstStyle/>
          <a:p>
            <a:endParaRPr lang="fr-FR"/>
          </a:p>
        </p:txBody>
      </p:sp>
      <p:grpSp>
        <p:nvGrpSpPr>
          <p:cNvPr id="2" name="Group 56"/>
          <p:cNvGrpSpPr>
            <a:grpSpLocks/>
          </p:cNvGrpSpPr>
          <p:nvPr/>
        </p:nvGrpSpPr>
        <p:grpSpPr bwMode="auto">
          <a:xfrm>
            <a:off x="6786563" y="3063875"/>
            <a:ext cx="263525" cy="63500"/>
            <a:chOff x="4504" y="1928"/>
            <a:chExt cx="166" cy="40"/>
          </a:xfrm>
        </p:grpSpPr>
        <p:sp>
          <p:nvSpPr>
            <p:cNvPr id="37937" name="Line 57"/>
            <p:cNvSpPr>
              <a:spLocks noChangeShapeType="1"/>
            </p:cNvSpPr>
            <p:nvPr/>
          </p:nvSpPr>
          <p:spPr bwMode="auto">
            <a:xfrm>
              <a:off x="4504" y="1928"/>
              <a:ext cx="166" cy="0"/>
            </a:xfrm>
            <a:prstGeom prst="line">
              <a:avLst/>
            </a:prstGeom>
            <a:noFill/>
            <a:ln w="19050">
              <a:solidFill>
                <a:srgbClr val="009900"/>
              </a:solidFill>
              <a:round/>
              <a:headEnd/>
              <a:tailEnd/>
            </a:ln>
          </p:spPr>
          <p:txBody>
            <a:bodyPr wrap="none" anchor="ctr"/>
            <a:lstStyle/>
            <a:p>
              <a:endParaRPr lang="fr-FR"/>
            </a:p>
          </p:txBody>
        </p:sp>
        <p:sp>
          <p:nvSpPr>
            <p:cNvPr id="37938" name="Line 58"/>
            <p:cNvSpPr>
              <a:spLocks noChangeShapeType="1"/>
            </p:cNvSpPr>
            <p:nvPr/>
          </p:nvSpPr>
          <p:spPr bwMode="auto">
            <a:xfrm>
              <a:off x="4504" y="1968"/>
              <a:ext cx="166" cy="0"/>
            </a:xfrm>
            <a:prstGeom prst="line">
              <a:avLst/>
            </a:prstGeom>
            <a:noFill/>
            <a:ln w="19050">
              <a:solidFill>
                <a:srgbClr val="009900"/>
              </a:solidFill>
              <a:round/>
              <a:headEnd/>
              <a:tailEnd/>
            </a:ln>
          </p:spPr>
          <p:txBody>
            <a:bodyPr wrap="none" anchor="ctr"/>
            <a:lstStyle/>
            <a:p>
              <a:endParaRPr lang="fr-FR"/>
            </a:p>
          </p:txBody>
        </p:sp>
      </p:grpSp>
      <p:sp>
        <p:nvSpPr>
          <p:cNvPr id="37916" name="Text Box 59"/>
          <p:cNvSpPr txBox="1">
            <a:spLocks noChangeArrowheads="1"/>
          </p:cNvSpPr>
          <p:nvPr/>
        </p:nvSpPr>
        <p:spPr bwMode="auto">
          <a:xfrm>
            <a:off x="5199063" y="2305050"/>
            <a:ext cx="300037" cy="336550"/>
          </a:xfrm>
          <a:prstGeom prst="rect">
            <a:avLst/>
          </a:prstGeom>
          <a:noFill/>
          <a:ln w="9525">
            <a:noFill/>
            <a:miter lim="800000"/>
            <a:headEnd/>
            <a:tailEnd/>
          </a:ln>
        </p:spPr>
        <p:txBody>
          <a:bodyPr>
            <a:spAutoFit/>
          </a:bodyPr>
          <a:lstStyle/>
          <a:p>
            <a:r>
              <a:rPr lang="fr-FR" sz="1600" b="1">
                <a:solidFill>
                  <a:srgbClr val="009900"/>
                </a:solidFill>
              </a:rPr>
              <a:t>C</a:t>
            </a:r>
            <a:endParaRPr lang="fr-FR" sz="1600" b="1" baseline="-25000">
              <a:solidFill>
                <a:srgbClr val="009900"/>
              </a:solidFill>
            </a:endParaRPr>
          </a:p>
        </p:txBody>
      </p:sp>
      <p:sp>
        <p:nvSpPr>
          <p:cNvPr id="37917" name="Text Box 60"/>
          <p:cNvSpPr txBox="1">
            <a:spLocks noChangeArrowheads="1"/>
          </p:cNvSpPr>
          <p:nvPr/>
        </p:nvSpPr>
        <p:spPr bwMode="auto">
          <a:xfrm>
            <a:off x="5199063" y="1781175"/>
            <a:ext cx="300037" cy="336550"/>
          </a:xfrm>
          <a:prstGeom prst="rect">
            <a:avLst/>
          </a:prstGeom>
          <a:noFill/>
          <a:ln w="9525">
            <a:noFill/>
            <a:miter lim="800000"/>
            <a:headEnd/>
            <a:tailEnd/>
          </a:ln>
        </p:spPr>
        <p:txBody>
          <a:bodyPr>
            <a:spAutoFit/>
          </a:bodyPr>
          <a:lstStyle/>
          <a:p>
            <a:r>
              <a:rPr lang="fr-FR" sz="1600" b="1">
                <a:solidFill>
                  <a:srgbClr val="009900"/>
                </a:solidFill>
              </a:rPr>
              <a:t>O</a:t>
            </a:r>
            <a:endParaRPr lang="fr-FR" sz="1600" b="1" baseline="-25000">
              <a:solidFill>
                <a:srgbClr val="009900"/>
              </a:solidFill>
            </a:endParaRPr>
          </a:p>
        </p:txBody>
      </p:sp>
      <p:sp>
        <p:nvSpPr>
          <p:cNvPr id="37918" name="Line 61"/>
          <p:cNvSpPr>
            <a:spLocks noChangeShapeType="1"/>
          </p:cNvSpPr>
          <p:nvPr/>
        </p:nvSpPr>
        <p:spPr bwMode="auto">
          <a:xfrm>
            <a:off x="4957763" y="2473325"/>
            <a:ext cx="263525" cy="0"/>
          </a:xfrm>
          <a:prstGeom prst="line">
            <a:avLst/>
          </a:prstGeom>
          <a:noFill/>
          <a:ln w="19050">
            <a:solidFill>
              <a:schemeClr val="tx1"/>
            </a:solidFill>
            <a:round/>
            <a:headEnd/>
            <a:tailEnd/>
          </a:ln>
        </p:spPr>
        <p:txBody>
          <a:bodyPr wrap="none" anchor="ctr"/>
          <a:lstStyle/>
          <a:p>
            <a:endParaRPr lang="fr-FR"/>
          </a:p>
        </p:txBody>
      </p:sp>
      <p:grpSp>
        <p:nvGrpSpPr>
          <p:cNvPr id="3" name="Group 62"/>
          <p:cNvGrpSpPr>
            <a:grpSpLocks/>
          </p:cNvGrpSpPr>
          <p:nvPr/>
        </p:nvGrpSpPr>
        <p:grpSpPr bwMode="auto">
          <a:xfrm>
            <a:off x="5326063" y="3219450"/>
            <a:ext cx="74612" cy="234950"/>
            <a:chOff x="3496" y="2156"/>
            <a:chExt cx="40" cy="204"/>
          </a:xfrm>
        </p:grpSpPr>
        <p:sp>
          <p:nvSpPr>
            <p:cNvPr id="37935" name="Line 63"/>
            <p:cNvSpPr>
              <a:spLocks noChangeShapeType="1"/>
            </p:cNvSpPr>
            <p:nvPr/>
          </p:nvSpPr>
          <p:spPr bwMode="auto">
            <a:xfrm>
              <a:off x="3496" y="2156"/>
              <a:ext cx="0" cy="204"/>
            </a:xfrm>
            <a:prstGeom prst="line">
              <a:avLst/>
            </a:prstGeom>
            <a:noFill/>
            <a:ln w="19050">
              <a:solidFill>
                <a:srgbClr val="009900"/>
              </a:solidFill>
              <a:round/>
              <a:headEnd/>
              <a:tailEnd/>
            </a:ln>
          </p:spPr>
          <p:txBody>
            <a:bodyPr wrap="none" anchor="ctr"/>
            <a:lstStyle/>
            <a:p>
              <a:endParaRPr lang="fr-FR"/>
            </a:p>
          </p:txBody>
        </p:sp>
        <p:sp>
          <p:nvSpPr>
            <p:cNvPr id="37936" name="Line 64"/>
            <p:cNvSpPr>
              <a:spLocks noChangeShapeType="1"/>
            </p:cNvSpPr>
            <p:nvPr/>
          </p:nvSpPr>
          <p:spPr bwMode="auto">
            <a:xfrm>
              <a:off x="3536" y="2156"/>
              <a:ext cx="0" cy="204"/>
            </a:xfrm>
            <a:prstGeom prst="line">
              <a:avLst/>
            </a:prstGeom>
            <a:noFill/>
            <a:ln w="19050">
              <a:solidFill>
                <a:srgbClr val="009900"/>
              </a:solidFill>
              <a:round/>
              <a:headEnd/>
              <a:tailEnd/>
            </a:ln>
          </p:spPr>
          <p:txBody>
            <a:bodyPr wrap="none" anchor="ctr"/>
            <a:lstStyle/>
            <a:p>
              <a:endParaRPr lang="fr-FR"/>
            </a:p>
          </p:txBody>
        </p:sp>
      </p:grpSp>
      <p:grpSp>
        <p:nvGrpSpPr>
          <p:cNvPr id="4" name="Group 65"/>
          <p:cNvGrpSpPr>
            <a:grpSpLocks/>
          </p:cNvGrpSpPr>
          <p:nvPr/>
        </p:nvGrpSpPr>
        <p:grpSpPr bwMode="auto">
          <a:xfrm>
            <a:off x="5326063" y="2089150"/>
            <a:ext cx="74612" cy="260350"/>
            <a:chOff x="3496" y="2156"/>
            <a:chExt cx="40" cy="204"/>
          </a:xfrm>
        </p:grpSpPr>
        <p:sp>
          <p:nvSpPr>
            <p:cNvPr id="37933" name="Line 66"/>
            <p:cNvSpPr>
              <a:spLocks noChangeShapeType="1"/>
            </p:cNvSpPr>
            <p:nvPr/>
          </p:nvSpPr>
          <p:spPr bwMode="auto">
            <a:xfrm>
              <a:off x="3496" y="2156"/>
              <a:ext cx="0" cy="204"/>
            </a:xfrm>
            <a:prstGeom prst="line">
              <a:avLst/>
            </a:prstGeom>
            <a:noFill/>
            <a:ln w="19050">
              <a:solidFill>
                <a:srgbClr val="009900"/>
              </a:solidFill>
              <a:round/>
              <a:headEnd/>
              <a:tailEnd/>
            </a:ln>
          </p:spPr>
          <p:txBody>
            <a:bodyPr wrap="none" anchor="ctr"/>
            <a:lstStyle/>
            <a:p>
              <a:endParaRPr lang="fr-FR"/>
            </a:p>
          </p:txBody>
        </p:sp>
        <p:sp>
          <p:nvSpPr>
            <p:cNvPr id="37934" name="Line 67"/>
            <p:cNvSpPr>
              <a:spLocks noChangeShapeType="1"/>
            </p:cNvSpPr>
            <p:nvPr/>
          </p:nvSpPr>
          <p:spPr bwMode="auto">
            <a:xfrm>
              <a:off x="3536" y="2156"/>
              <a:ext cx="0" cy="204"/>
            </a:xfrm>
            <a:prstGeom prst="line">
              <a:avLst/>
            </a:prstGeom>
            <a:noFill/>
            <a:ln w="19050">
              <a:solidFill>
                <a:srgbClr val="009900"/>
              </a:solidFill>
              <a:round/>
              <a:headEnd/>
              <a:tailEnd/>
            </a:ln>
          </p:spPr>
          <p:txBody>
            <a:bodyPr wrap="none" anchor="ctr"/>
            <a:lstStyle/>
            <a:p>
              <a:endParaRPr lang="fr-FR"/>
            </a:p>
          </p:txBody>
        </p:sp>
      </p:grpSp>
      <p:sp>
        <p:nvSpPr>
          <p:cNvPr id="37921" name="Text Box 69"/>
          <p:cNvSpPr txBox="1">
            <a:spLocks noChangeArrowheads="1"/>
          </p:cNvSpPr>
          <p:nvPr/>
        </p:nvSpPr>
        <p:spPr bwMode="auto">
          <a:xfrm>
            <a:off x="3617913" y="3570288"/>
            <a:ext cx="488950" cy="336550"/>
          </a:xfrm>
          <a:prstGeom prst="rect">
            <a:avLst/>
          </a:prstGeom>
          <a:noFill/>
          <a:ln w="9525">
            <a:noFill/>
            <a:miter lim="800000"/>
            <a:headEnd/>
            <a:tailEnd/>
          </a:ln>
        </p:spPr>
        <p:txBody>
          <a:bodyPr wrap="none">
            <a:spAutoFit/>
          </a:bodyPr>
          <a:lstStyle/>
          <a:p>
            <a:r>
              <a:rPr lang="fr-FR" sz="1600" b="1"/>
              <a:t>HO</a:t>
            </a:r>
            <a:endParaRPr lang="fr-FR" sz="1600" b="1">
              <a:solidFill>
                <a:srgbClr val="009900"/>
              </a:solidFill>
            </a:endParaRPr>
          </a:p>
        </p:txBody>
      </p:sp>
      <p:sp>
        <p:nvSpPr>
          <p:cNvPr id="37922" name="Line 70"/>
          <p:cNvSpPr>
            <a:spLocks noChangeShapeType="1"/>
          </p:cNvSpPr>
          <p:nvPr/>
        </p:nvSpPr>
        <p:spPr bwMode="auto">
          <a:xfrm>
            <a:off x="5453063" y="3095625"/>
            <a:ext cx="225425" cy="0"/>
          </a:xfrm>
          <a:prstGeom prst="line">
            <a:avLst/>
          </a:prstGeom>
          <a:noFill/>
          <a:ln w="19050">
            <a:solidFill>
              <a:srgbClr val="009900"/>
            </a:solidFill>
            <a:round/>
            <a:headEnd/>
            <a:tailEnd/>
          </a:ln>
        </p:spPr>
        <p:txBody>
          <a:bodyPr wrap="none" anchor="ctr"/>
          <a:lstStyle/>
          <a:p>
            <a:endParaRPr lang="fr-FR"/>
          </a:p>
        </p:txBody>
      </p:sp>
      <p:sp>
        <p:nvSpPr>
          <p:cNvPr id="37923" name="Line 71"/>
          <p:cNvSpPr>
            <a:spLocks noChangeShapeType="1"/>
          </p:cNvSpPr>
          <p:nvPr/>
        </p:nvSpPr>
        <p:spPr bwMode="auto">
          <a:xfrm>
            <a:off x="6329363" y="3095625"/>
            <a:ext cx="225425" cy="0"/>
          </a:xfrm>
          <a:prstGeom prst="line">
            <a:avLst/>
          </a:prstGeom>
          <a:noFill/>
          <a:ln w="19050">
            <a:solidFill>
              <a:srgbClr val="009900"/>
            </a:solidFill>
            <a:round/>
            <a:headEnd/>
            <a:tailEnd/>
          </a:ln>
        </p:spPr>
        <p:txBody>
          <a:bodyPr wrap="none" anchor="ctr"/>
          <a:lstStyle/>
          <a:p>
            <a:endParaRPr lang="fr-FR"/>
          </a:p>
        </p:txBody>
      </p:sp>
      <p:sp>
        <p:nvSpPr>
          <p:cNvPr id="37924" name="Line 72"/>
          <p:cNvSpPr>
            <a:spLocks noChangeShapeType="1"/>
          </p:cNvSpPr>
          <p:nvPr/>
        </p:nvSpPr>
        <p:spPr bwMode="auto">
          <a:xfrm>
            <a:off x="5453063" y="2473325"/>
            <a:ext cx="225425" cy="0"/>
          </a:xfrm>
          <a:prstGeom prst="line">
            <a:avLst/>
          </a:prstGeom>
          <a:noFill/>
          <a:ln w="19050">
            <a:solidFill>
              <a:srgbClr val="009900"/>
            </a:solidFill>
            <a:round/>
            <a:headEnd/>
            <a:tailEnd/>
          </a:ln>
        </p:spPr>
        <p:txBody>
          <a:bodyPr wrap="none" anchor="ctr"/>
          <a:lstStyle/>
          <a:p>
            <a:endParaRPr lang="fr-FR"/>
          </a:p>
        </p:txBody>
      </p:sp>
      <p:sp>
        <p:nvSpPr>
          <p:cNvPr id="37925" name="Line 73"/>
          <p:cNvSpPr>
            <a:spLocks noChangeShapeType="1"/>
          </p:cNvSpPr>
          <p:nvPr/>
        </p:nvSpPr>
        <p:spPr bwMode="auto">
          <a:xfrm>
            <a:off x="6392863" y="2460625"/>
            <a:ext cx="225425" cy="0"/>
          </a:xfrm>
          <a:prstGeom prst="line">
            <a:avLst/>
          </a:prstGeom>
          <a:noFill/>
          <a:ln w="19050">
            <a:solidFill>
              <a:srgbClr val="009900"/>
            </a:solidFill>
            <a:round/>
            <a:headEnd/>
            <a:tailEnd/>
          </a:ln>
        </p:spPr>
        <p:txBody>
          <a:bodyPr wrap="none" anchor="ctr"/>
          <a:lstStyle/>
          <a:p>
            <a:endParaRPr lang="fr-FR"/>
          </a:p>
        </p:txBody>
      </p:sp>
      <p:sp>
        <p:nvSpPr>
          <p:cNvPr id="37926" name="Line 74"/>
          <p:cNvSpPr>
            <a:spLocks noChangeShapeType="1"/>
          </p:cNvSpPr>
          <p:nvPr/>
        </p:nvSpPr>
        <p:spPr bwMode="auto">
          <a:xfrm>
            <a:off x="7319963" y="3095625"/>
            <a:ext cx="225425" cy="0"/>
          </a:xfrm>
          <a:prstGeom prst="line">
            <a:avLst/>
          </a:prstGeom>
          <a:noFill/>
          <a:ln w="19050">
            <a:solidFill>
              <a:srgbClr val="009900"/>
            </a:solidFill>
            <a:round/>
            <a:headEnd/>
            <a:tailEnd/>
          </a:ln>
        </p:spPr>
        <p:txBody>
          <a:bodyPr wrap="none" anchor="ctr"/>
          <a:lstStyle/>
          <a:p>
            <a:endParaRPr lang="fr-FR"/>
          </a:p>
        </p:txBody>
      </p:sp>
      <p:sp>
        <p:nvSpPr>
          <p:cNvPr id="37927" name="Line 75"/>
          <p:cNvSpPr>
            <a:spLocks noChangeShapeType="1"/>
          </p:cNvSpPr>
          <p:nvPr/>
        </p:nvSpPr>
        <p:spPr bwMode="auto">
          <a:xfrm>
            <a:off x="8196263" y="3082925"/>
            <a:ext cx="225425" cy="0"/>
          </a:xfrm>
          <a:prstGeom prst="line">
            <a:avLst/>
          </a:prstGeom>
          <a:noFill/>
          <a:ln w="19050">
            <a:solidFill>
              <a:srgbClr val="009900"/>
            </a:solidFill>
            <a:round/>
            <a:headEnd/>
            <a:tailEnd/>
          </a:ln>
        </p:spPr>
        <p:txBody>
          <a:bodyPr wrap="none" anchor="ctr"/>
          <a:lstStyle/>
          <a:p>
            <a:endParaRPr lang="fr-FR"/>
          </a:p>
        </p:txBody>
      </p:sp>
      <p:sp>
        <p:nvSpPr>
          <p:cNvPr id="37928" name="Line 77"/>
          <p:cNvSpPr>
            <a:spLocks noChangeShapeType="1"/>
          </p:cNvSpPr>
          <p:nvPr/>
        </p:nvSpPr>
        <p:spPr bwMode="auto">
          <a:xfrm>
            <a:off x="4043363" y="3738563"/>
            <a:ext cx="187325" cy="0"/>
          </a:xfrm>
          <a:prstGeom prst="line">
            <a:avLst/>
          </a:prstGeom>
          <a:noFill/>
          <a:ln w="19050">
            <a:solidFill>
              <a:schemeClr val="tx1"/>
            </a:solidFill>
            <a:round/>
            <a:headEnd/>
            <a:tailEnd/>
          </a:ln>
        </p:spPr>
        <p:txBody>
          <a:bodyPr wrap="none" anchor="ctr"/>
          <a:lstStyle/>
          <a:p>
            <a:endParaRPr lang="fr-FR"/>
          </a:p>
        </p:txBody>
      </p:sp>
      <p:sp>
        <p:nvSpPr>
          <p:cNvPr id="37929" name="Line 82"/>
          <p:cNvSpPr>
            <a:spLocks noChangeShapeType="1"/>
          </p:cNvSpPr>
          <p:nvPr/>
        </p:nvSpPr>
        <p:spPr bwMode="auto">
          <a:xfrm>
            <a:off x="4525963" y="3103563"/>
            <a:ext cx="187325" cy="0"/>
          </a:xfrm>
          <a:prstGeom prst="line">
            <a:avLst/>
          </a:prstGeom>
          <a:noFill/>
          <a:ln w="19050">
            <a:solidFill>
              <a:schemeClr val="tx1"/>
            </a:solidFill>
            <a:round/>
            <a:headEnd/>
            <a:tailEnd/>
          </a:ln>
        </p:spPr>
        <p:txBody>
          <a:bodyPr wrap="none" anchor="ctr"/>
          <a:lstStyle/>
          <a:p>
            <a:endParaRPr lang="fr-FR"/>
          </a:p>
        </p:txBody>
      </p:sp>
      <p:sp>
        <p:nvSpPr>
          <p:cNvPr id="37930" name="Line 83"/>
          <p:cNvSpPr>
            <a:spLocks noChangeShapeType="1"/>
          </p:cNvSpPr>
          <p:nvPr/>
        </p:nvSpPr>
        <p:spPr bwMode="auto">
          <a:xfrm>
            <a:off x="4500563" y="2481263"/>
            <a:ext cx="187325" cy="0"/>
          </a:xfrm>
          <a:prstGeom prst="line">
            <a:avLst/>
          </a:prstGeom>
          <a:noFill/>
          <a:ln w="19050">
            <a:solidFill>
              <a:schemeClr val="tx1"/>
            </a:solidFill>
            <a:round/>
            <a:headEnd/>
            <a:tailEnd/>
          </a:ln>
        </p:spPr>
        <p:txBody>
          <a:bodyPr wrap="none" anchor="ctr"/>
          <a:lstStyle/>
          <a:p>
            <a:endParaRPr lang="fr-FR"/>
          </a:p>
        </p:txBody>
      </p:sp>
      <p:sp>
        <p:nvSpPr>
          <p:cNvPr id="37931" name="Text Box 90"/>
          <p:cNvSpPr txBox="1">
            <a:spLocks noChangeArrowheads="1"/>
          </p:cNvSpPr>
          <p:nvPr/>
        </p:nvSpPr>
        <p:spPr bwMode="auto">
          <a:xfrm>
            <a:off x="7213600" y="1828800"/>
            <a:ext cx="904875" cy="304800"/>
          </a:xfrm>
          <a:prstGeom prst="rect">
            <a:avLst/>
          </a:prstGeom>
          <a:noFill/>
          <a:ln w="9525">
            <a:noFill/>
            <a:miter lim="800000"/>
            <a:headEnd/>
            <a:tailEnd/>
          </a:ln>
        </p:spPr>
        <p:txBody>
          <a:bodyPr wrap="none">
            <a:spAutoFit/>
          </a:bodyPr>
          <a:lstStyle/>
          <a:p>
            <a:r>
              <a:rPr lang="fr-FR" sz="1400">
                <a:solidFill>
                  <a:srgbClr val="009900"/>
                </a:solidFill>
              </a:rPr>
              <a:t>palmitate</a:t>
            </a:r>
            <a:endParaRPr lang="fr-FR">
              <a:solidFill>
                <a:srgbClr val="009900"/>
              </a:solidFill>
            </a:endParaRPr>
          </a:p>
        </p:txBody>
      </p:sp>
      <p:sp>
        <p:nvSpPr>
          <p:cNvPr id="37932" name="Text Box 91"/>
          <p:cNvSpPr txBox="1">
            <a:spLocks noChangeArrowheads="1"/>
          </p:cNvSpPr>
          <p:nvPr/>
        </p:nvSpPr>
        <p:spPr bwMode="auto">
          <a:xfrm>
            <a:off x="7302500" y="3759200"/>
            <a:ext cx="668338" cy="304800"/>
          </a:xfrm>
          <a:prstGeom prst="rect">
            <a:avLst/>
          </a:prstGeom>
          <a:noFill/>
          <a:ln w="9525">
            <a:noFill/>
            <a:miter lim="800000"/>
            <a:headEnd/>
            <a:tailEnd/>
          </a:ln>
        </p:spPr>
        <p:txBody>
          <a:bodyPr wrap="none">
            <a:spAutoFit/>
          </a:bodyPr>
          <a:lstStyle/>
          <a:p>
            <a:r>
              <a:rPr lang="fr-FR" sz="1400">
                <a:solidFill>
                  <a:srgbClr val="009900"/>
                </a:solidFill>
              </a:rPr>
              <a:t>oleate</a:t>
            </a:r>
            <a:endParaRPr lang="fr-FR">
              <a:solidFill>
                <a:srgbClr val="009900"/>
              </a:solidFill>
            </a:endParaRPr>
          </a:p>
        </p:txBody>
      </p:sp>
      <p:sp>
        <p:nvSpPr>
          <p:cNvPr id="5" name="Rectangle 4"/>
          <p:cNvSpPr/>
          <p:nvPr/>
        </p:nvSpPr>
        <p:spPr>
          <a:xfrm>
            <a:off x="1681163" y="252075"/>
            <a:ext cx="6437312" cy="984885"/>
          </a:xfrm>
          <a:prstGeom prst="rect">
            <a:avLst/>
          </a:prstGeom>
        </p:spPr>
        <p:txBody>
          <a:bodyPr wrap="square">
            <a:spAutoFit/>
          </a:bodyPr>
          <a:lstStyle/>
          <a:p>
            <a:r>
              <a:rPr lang="fr-FR" sz="4000" dirty="0">
                <a:latin typeface="Century Schoolbook" panose="02040604050505020304" pitchFamily="18" charset="0"/>
              </a:rPr>
              <a:t>… of </a:t>
            </a:r>
            <a:r>
              <a:rPr lang="fr-FR" sz="4000" dirty="0" err="1">
                <a:latin typeface="Century Schoolbook" panose="02040604050505020304" pitchFamily="18" charset="0"/>
              </a:rPr>
              <a:t>two</a:t>
            </a:r>
            <a:r>
              <a:rPr lang="fr-FR" sz="4000" dirty="0">
                <a:latin typeface="Century Schoolbook" panose="02040604050505020304" pitchFamily="18" charset="0"/>
              </a:rPr>
              <a:t> </a:t>
            </a:r>
            <a:r>
              <a:rPr lang="fr-FR" sz="4000" dirty="0" err="1">
                <a:latin typeface="Century Schoolbook" panose="02040604050505020304" pitchFamily="18" charset="0"/>
              </a:rPr>
              <a:t>fatty</a:t>
            </a:r>
            <a:r>
              <a:rPr lang="fr-FR" sz="4000" dirty="0">
                <a:latin typeface="Century Schoolbook" panose="02040604050505020304" pitchFamily="18" charset="0"/>
              </a:rPr>
              <a:t> </a:t>
            </a:r>
            <a:r>
              <a:rPr lang="fr-FR" sz="4000" dirty="0" err="1">
                <a:latin typeface="Century Schoolbook" panose="02040604050505020304" pitchFamily="18" charset="0"/>
              </a:rPr>
              <a:t>acids</a:t>
            </a:r>
            <a:r>
              <a:rPr lang="fr-FR" sz="4000" dirty="0">
                <a:latin typeface="Century Schoolbook" panose="02040604050505020304" pitchFamily="18" charset="0"/>
              </a:rPr>
              <a:t>,</a:t>
            </a:r>
          </a:p>
          <a:p>
            <a:endParaRPr lang="fr-FR"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0" y="457200"/>
            <a:ext cx="9144000" cy="762000"/>
          </a:xfrm>
          <a:solidFill>
            <a:schemeClr val="bg1"/>
          </a:solidFill>
        </p:spPr>
        <p:txBody>
          <a:bodyPr>
            <a:normAutofit/>
          </a:bodyPr>
          <a:lstStyle/>
          <a:p>
            <a:r>
              <a:rPr lang="fr-FR" sz="4000" dirty="0">
                <a:latin typeface="Century Schoolbook" panose="02040604050505020304" pitchFamily="18" charset="0"/>
              </a:rPr>
              <a:t>… of one phosphate</a:t>
            </a:r>
          </a:p>
        </p:txBody>
      </p:sp>
      <p:sp>
        <p:nvSpPr>
          <p:cNvPr id="38915" name="AutoShape 27"/>
          <p:cNvSpPr>
            <a:spLocks/>
          </p:cNvSpPr>
          <p:nvPr/>
        </p:nvSpPr>
        <p:spPr bwMode="auto">
          <a:xfrm rot="16200000" flipV="1">
            <a:off x="6997700" y="2628900"/>
            <a:ext cx="177800" cy="3733800"/>
          </a:xfrm>
          <a:prstGeom prst="leftBrace">
            <a:avLst>
              <a:gd name="adj1" fmla="val 61153"/>
              <a:gd name="adj2" fmla="val 50000"/>
            </a:avLst>
          </a:prstGeom>
          <a:noFill/>
          <a:ln w="9525">
            <a:solidFill>
              <a:srgbClr val="009900"/>
            </a:solidFill>
            <a:round/>
            <a:headEnd/>
            <a:tailEnd/>
          </a:ln>
        </p:spPr>
        <p:txBody>
          <a:bodyPr wrap="none" anchor="ctr"/>
          <a:lstStyle/>
          <a:p>
            <a:endParaRPr lang="fr-FR"/>
          </a:p>
        </p:txBody>
      </p:sp>
      <p:sp>
        <p:nvSpPr>
          <p:cNvPr id="38916" name="AutoShape 28"/>
          <p:cNvSpPr>
            <a:spLocks/>
          </p:cNvSpPr>
          <p:nvPr/>
        </p:nvSpPr>
        <p:spPr bwMode="auto">
          <a:xfrm rot="16200000" flipV="1">
            <a:off x="4318000" y="3886200"/>
            <a:ext cx="177800" cy="1219200"/>
          </a:xfrm>
          <a:prstGeom prst="leftBrace">
            <a:avLst>
              <a:gd name="adj1" fmla="val 82857"/>
              <a:gd name="adj2" fmla="val 50000"/>
            </a:avLst>
          </a:prstGeom>
          <a:noFill/>
          <a:ln w="9525">
            <a:solidFill>
              <a:schemeClr val="tx1"/>
            </a:solidFill>
            <a:round/>
            <a:headEnd/>
            <a:tailEnd/>
          </a:ln>
        </p:spPr>
        <p:txBody>
          <a:bodyPr wrap="none" anchor="ctr"/>
          <a:lstStyle/>
          <a:p>
            <a:endParaRPr lang="fr-FR"/>
          </a:p>
        </p:txBody>
      </p:sp>
      <p:sp>
        <p:nvSpPr>
          <p:cNvPr id="38917" name="Text Box 29"/>
          <p:cNvSpPr txBox="1">
            <a:spLocks noChangeArrowheads="1"/>
          </p:cNvSpPr>
          <p:nvPr/>
        </p:nvSpPr>
        <p:spPr bwMode="auto">
          <a:xfrm>
            <a:off x="4000500" y="4610100"/>
            <a:ext cx="796925" cy="304800"/>
          </a:xfrm>
          <a:prstGeom prst="rect">
            <a:avLst/>
          </a:prstGeom>
          <a:noFill/>
          <a:ln w="9525">
            <a:noFill/>
            <a:miter lim="800000"/>
            <a:headEnd/>
            <a:tailEnd/>
          </a:ln>
        </p:spPr>
        <p:txBody>
          <a:bodyPr wrap="none">
            <a:spAutoFit/>
          </a:bodyPr>
          <a:lstStyle/>
          <a:p>
            <a:r>
              <a:rPr lang="fr-FR" sz="1400"/>
              <a:t>glycérol</a:t>
            </a:r>
            <a:endParaRPr lang="fr-FR">
              <a:solidFill>
                <a:srgbClr val="FF0000"/>
              </a:solidFill>
            </a:endParaRPr>
          </a:p>
        </p:txBody>
      </p:sp>
      <p:sp>
        <p:nvSpPr>
          <p:cNvPr id="38918" name="Text Box 30"/>
          <p:cNvSpPr txBox="1">
            <a:spLocks noChangeArrowheads="1"/>
          </p:cNvSpPr>
          <p:nvPr/>
        </p:nvSpPr>
        <p:spPr bwMode="auto">
          <a:xfrm>
            <a:off x="6554788" y="4610100"/>
            <a:ext cx="956287" cy="307777"/>
          </a:xfrm>
          <a:prstGeom prst="rect">
            <a:avLst/>
          </a:prstGeom>
          <a:noFill/>
          <a:ln w="9525">
            <a:noFill/>
            <a:miter lim="800000"/>
            <a:headEnd/>
            <a:tailEnd/>
          </a:ln>
        </p:spPr>
        <p:txBody>
          <a:bodyPr wrap="none">
            <a:spAutoFit/>
          </a:bodyPr>
          <a:lstStyle/>
          <a:p>
            <a:r>
              <a:rPr lang="fr-FR" sz="1400" dirty="0" err="1">
                <a:solidFill>
                  <a:srgbClr val="009900"/>
                </a:solidFill>
              </a:rPr>
              <a:t>Fatty</a:t>
            </a:r>
            <a:r>
              <a:rPr lang="fr-FR" sz="1400" dirty="0">
                <a:solidFill>
                  <a:srgbClr val="009900"/>
                </a:solidFill>
              </a:rPr>
              <a:t> </a:t>
            </a:r>
            <a:r>
              <a:rPr lang="fr-FR" sz="1400" dirty="0" err="1">
                <a:solidFill>
                  <a:srgbClr val="009900"/>
                </a:solidFill>
              </a:rPr>
              <a:t>acids</a:t>
            </a:r>
            <a:endParaRPr lang="fr-FR" dirty="0"/>
          </a:p>
        </p:txBody>
      </p:sp>
      <p:sp>
        <p:nvSpPr>
          <p:cNvPr id="38919" name="AutoShape 32"/>
          <p:cNvSpPr>
            <a:spLocks/>
          </p:cNvSpPr>
          <p:nvPr/>
        </p:nvSpPr>
        <p:spPr bwMode="auto">
          <a:xfrm rot="16200000" flipV="1">
            <a:off x="3035300" y="4038600"/>
            <a:ext cx="228600" cy="965200"/>
          </a:xfrm>
          <a:prstGeom prst="leftBrace">
            <a:avLst>
              <a:gd name="adj1" fmla="val 51019"/>
              <a:gd name="adj2" fmla="val 50000"/>
            </a:avLst>
          </a:prstGeom>
          <a:noFill/>
          <a:ln w="9525">
            <a:solidFill>
              <a:srgbClr val="FF0000"/>
            </a:solidFill>
            <a:round/>
            <a:headEnd/>
            <a:tailEnd/>
          </a:ln>
        </p:spPr>
        <p:txBody>
          <a:bodyPr wrap="none" anchor="ctr"/>
          <a:lstStyle/>
          <a:p>
            <a:endParaRPr lang="fr-FR"/>
          </a:p>
        </p:txBody>
      </p:sp>
      <p:sp>
        <p:nvSpPr>
          <p:cNvPr id="38920" name="Text Box 33"/>
          <p:cNvSpPr txBox="1">
            <a:spLocks noChangeArrowheads="1"/>
          </p:cNvSpPr>
          <p:nvPr/>
        </p:nvSpPr>
        <p:spPr bwMode="auto">
          <a:xfrm>
            <a:off x="2667000" y="4610100"/>
            <a:ext cx="1014413" cy="304800"/>
          </a:xfrm>
          <a:prstGeom prst="rect">
            <a:avLst/>
          </a:prstGeom>
          <a:noFill/>
          <a:ln w="9525">
            <a:noFill/>
            <a:miter lim="800000"/>
            <a:headEnd/>
            <a:tailEnd/>
          </a:ln>
        </p:spPr>
        <p:txBody>
          <a:bodyPr wrap="none">
            <a:spAutoFit/>
          </a:bodyPr>
          <a:lstStyle/>
          <a:p>
            <a:r>
              <a:rPr lang="fr-FR" sz="1400" dirty="0">
                <a:solidFill>
                  <a:srgbClr val="FF0000"/>
                </a:solidFill>
              </a:rPr>
              <a:t>phosphate</a:t>
            </a:r>
            <a:endParaRPr lang="fr-FR" dirty="0">
              <a:solidFill>
                <a:srgbClr val="FF0000"/>
              </a:solidFill>
            </a:endParaRPr>
          </a:p>
        </p:txBody>
      </p:sp>
      <p:sp>
        <p:nvSpPr>
          <p:cNvPr id="38921" name="Rectangle 35"/>
          <p:cNvSpPr>
            <a:spLocks noChangeArrowheads="1"/>
          </p:cNvSpPr>
          <p:nvPr/>
        </p:nvSpPr>
        <p:spPr bwMode="auto">
          <a:xfrm>
            <a:off x="5135563" y="2844800"/>
            <a:ext cx="3835400" cy="901700"/>
          </a:xfrm>
          <a:prstGeom prst="rect">
            <a:avLst/>
          </a:prstGeom>
          <a:solidFill>
            <a:schemeClr val="bg1"/>
          </a:solidFill>
          <a:ln w="9525">
            <a:solidFill>
              <a:srgbClr val="009900"/>
            </a:solidFill>
            <a:miter lim="800000"/>
            <a:headEnd/>
            <a:tailEnd/>
          </a:ln>
        </p:spPr>
        <p:txBody>
          <a:bodyPr wrap="none" anchor="ctr"/>
          <a:lstStyle/>
          <a:p>
            <a:endParaRPr lang="fr-FR"/>
          </a:p>
        </p:txBody>
      </p:sp>
      <p:sp>
        <p:nvSpPr>
          <p:cNvPr id="38922" name="Rectangle 36"/>
          <p:cNvSpPr>
            <a:spLocks noChangeArrowheads="1"/>
          </p:cNvSpPr>
          <p:nvPr/>
        </p:nvSpPr>
        <p:spPr bwMode="auto">
          <a:xfrm>
            <a:off x="5135563" y="1828800"/>
            <a:ext cx="1981200" cy="838200"/>
          </a:xfrm>
          <a:prstGeom prst="rect">
            <a:avLst/>
          </a:prstGeom>
          <a:solidFill>
            <a:schemeClr val="bg1"/>
          </a:solidFill>
          <a:ln w="9525">
            <a:solidFill>
              <a:srgbClr val="009900"/>
            </a:solidFill>
            <a:miter lim="800000"/>
            <a:headEnd/>
            <a:tailEnd/>
          </a:ln>
        </p:spPr>
        <p:txBody>
          <a:bodyPr wrap="none" anchor="ctr"/>
          <a:lstStyle/>
          <a:p>
            <a:endParaRPr lang="fr-FR"/>
          </a:p>
        </p:txBody>
      </p:sp>
      <p:sp>
        <p:nvSpPr>
          <p:cNvPr id="38923" name="Rectangle 37"/>
          <p:cNvSpPr>
            <a:spLocks noChangeArrowheads="1"/>
          </p:cNvSpPr>
          <p:nvPr/>
        </p:nvSpPr>
        <p:spPr bwMode="auto">
          <a:xfrm>
            <a:off x="3713163" y="2133600"/>
            <a:ext cx="1346200" cy="1943100"/>
          </a:xfrm>
          <a:prstGeom prst="rect">
            <a:avLst/>
          </a:prstGeom>
          <a:solidFill>
            <a:schemeClr val="bg1"/>
          </a:solidFill>
          <a:ln w="9525">
            <a:solidFill>
              <a:schemeClr val="tx1"/>
            </a:solidFill>
            <a:miter lim="800000"/>
            <a:headEnd/>
            <a:tailEnd/>
          </a:ln>
        </p:spPr>
        <p:txBody>
          <a:bodyPr wrap="none" anchor="ctr"/>
          <a:lstStyle/>
          <a:p>
            <a:endParaRPr lang="fr-FR"/>
          </a:p>
        </p:txBody>
      </p:sp>
      <p:sp>
        <p:nvSpPr>
          <p:cNvPr id="38924" name="Rectangle 39"/>
          <p:cNvSpPr>
            <a:spLocks noChangeArrowheads="1"/>
          </p:cNvSpPr>
          <p:nvPr/>
        </p:nvSpPr>
        <p:spPr bwMode="auto">
          <a:xfrm>
            <a:off x="2659063" y="3187700"/>
            <a:ext cx="965200" cy="1104900"/>
          </a:xfrm>
          <a:prstGeom prst="rect">
            <a:avLst/>
          </a:prstGeom>
          <a:solidFill>
            <a:schemeClr val="bg1"/>
          </a:solidFill>
          <a:ln w="9525">
            <a:solidFill>
              <a:srgbClr val="FF0000"/>
            </a:solidFill>
            <a:miter lim="800000"/>
            <a:headEnd/>
            <a:tailEnd/>
          </a:ln>
        </p:spPr>
        <p:txBody>
          <a:bodyPr wrap="none" anchor="ctr"/>
          <a:lstStyle/>
          <a:p>
            <a:endParaRPr lang="fr-FR"/>
          </a:p>
        </p:txBody>
      </p:sp>
      <p:sp>
        <p:nvSpPr>
          <p:cNvPr id="38925" name="Text Box 40"/>
          <p:cNvSpPr txBox="1">
            <a:spLocks noChangeArrowheads="1"/>
          </p:cNvSpPr>
          <p:nvPr/>
        </p:nvSpPr>
        <p:spPr bwMode="auto">
          <a:xfrm>
            <a:off x="4056063" y="2914650"/>
            <a:ext cx="477837" cy="336550"/>
          </a:xfrm>
          <a:prstGeom prst="rect">
            <a:avLst/>
          </a:prstGeom>
          <a:noFill/>
          <a:ln w="9525">
            <a:noFill/>
            <a:miter lim="800000"/>
            <a:headEnd/>
            <a:tailEnd/>
          </a:ln>
        </p:spPr>
        <p:txBody>
          <a:bodyPr wrap="none">
            <a:spAutoFit/>
          </a:bodyPr>
          <a:lstStyle/>
          <a:p>
            <a:r>
              <a:rPr lang="fr-FR" sz="1600" b="1"/>
              <a:t>HC</a:t>
            </a:r>
          </a:p>
        </p:txBody>
      </p:sp>
      <p:sp>
        <p:nvSpPr>
          <p:cNvPr id="38926" name="Text Box 41"/>
          <p:cNvSpPr txBox="1">
            <a:spLocks noChangeArrowheads="1"/>
          </p:cNvSpPr>
          <p:nvPr/>
        </p:nvSpPr>
        <p:spPr bwMode="auto">
          <a:xfrm>
            <a:off x="4665663" y="2927350"/>
            <a:ext cx="342900" cy="336550"/>
          </a:xfrm>
          <a:prstGeom prst="rect">
            <a:avLst/>
          </a:prstGeom>
          <a:noFill/>
          <a:ln w="9525">
            <a:noFill/>
            <a:miter lim="800000"/>
            <a:headEnd/>
            <a:tailEnd/>
          </a:ln>
        </p:spPr>
        <p:txBody>
          <a:bodyPr wrap="none">
            <a:spAutoFit/>
          </a:bodyPr>
          <a:lstStyle/>
          <a:p>
            <a:r>
              <a:rPr lang="fr-FR" sz="1600" b="1"/>
              <a:t>O</a:t>
            </a:r>
          </a:p>
        </p:txBody>
      </p:sp>
      <p:sp>
        <p:nvSpPr>
          <p:cNvPr id="38927" name="Text Box 42"/>
          <p:cNvSpPr txBox="1">
            <a:spLocks noChangeArrowheads="1"/>
          </p:cNvSpPr>
          <p:nvPr/>
        </p:nvSpPr>
        <p:spPr bwMode="auto">
          <a:xfrm>
            <a:off x="3967163" y="2289175"/>
            <a:ext cx="566737" cy="336550"/>
          </a:xfrm>
          <a:prstGeom prst="rect">
            <a:avLst/>
          </a:prstGeom>
          <a:noFill/>
          <a:ln w="9525">
            <a:noFill/>
            <a:miter lim="800000"/>
            <a:headEnd/>
            <a:tailEnd/>
          </a:ln>
        </p:spPr>
        <p:txBody>
          <a:bodyPr>
            <a:spAutoFit/>
          </a:bodyPr>
          <a:lstStyle/>
          <a:p>
            <a:r>
              <a:rPr lang="fr-FR" sz="1600" b="1"/>
              <a:t>H</a:t>
            </a:r>
            <a:r>
              <a:rPr lang="fr-FR" sz="1600" b="1" baseline="-25000"/>
              <a:t>2</a:t>
            </a:r>
            <a:r>
              <a:rPr lang="fr-FR" sz="1600" b="1"/>
              <a:t>C</a:t>
            </a:r>
          </a:p>
        </p:txBody>
      </p:sp>
      <p:sp>
        <p:nvSpPr>
          <p:cNvPr id="38928" name="Text Box 43"/>
          <p:cNvSpPr txBox="1">
            <a:spLocks noChangeArrowheads="1"/>
          </p:cNvSpPr>
          <p:nvPr/>
        </p:nvSpPr>
        <p:spPr bwMode="auto">
          <a:xfrm>
            <a:off x="4195763" y="3570288"/>
            <a:ext cx="566737" cy="336550"/>
          </a:xfrm>
          <a:prstGeom prst="rect">
            <a:avLst/>
          </a:prstGeom>
          <a:noFill/>
          <a:ln w="9525">
            <a:noFill/>
            <a:miter lim="800000"/>
            <a:headEnd/>
            <a:tailEnd/>
          </a:ln>
        </p:spPr>
        <p:txBody>
          <a:bodyPr>
            <a:spAutoFit/>
          </a:bodyPr>
          <a:lstStyle/>
          <a:p>
            <a:r>
              <a:rPr lang="fr-FR" sz="1600" b="1"/>
              <a:t>CH</a:t>
            </a:r>
            <a:r>
              <a:rPr lang="fr-FR" sz="1600" b="1" baseline="-25000"/>
              <a:t>2</a:t>
            </a:r>
            <a:endParaRPr lang="fr-FR" sz="1600" b="1">
              <a:solidFill>
                <a:srgbClr val="008000"/>
              </a:solidFill>
            </a:endParaRPr>
          </a:p>
        </p:txBody>
      </p:sp>
      <p:sp>
        <p:nvSpPr>
          <p:cNvPr id="38929" name="Text Box 44"/>
          <p:cNvSpPr txBox="1">
            <a:spLocks noChangeArrowheads="1"/>
          </p:cNvSpPr>
          <p:nvPr/>
        </p:nvSpPr>
        <p:spPr bwMode="auto">
          <a:xfrm>
            <a:off x="4646613" y="2301875"/>
            <a:ext cx="342900" cy="336550"/>
          </a:xfrm>
          <a:prstGeom prst="rect">
            <a:avLst/>
          </a:prstGeom>
          <a:noFill/>
          <a:ln w="9525">
            <a:noFill/>
            <a:miter lim="800000"/>
            <a:headEnd/>
            <a:tailEnd/>
          </a:ln>
        </p:spPr>
        <p:txBody>
          <a:bodyPr wrap="none">
            <a:spAutoFit/>
          </a:bodyPr>
          <a:lstStyle/>
          <a:p>
            <a:r>
              <a:rPr lang="fr-FR" sz="1600" b="1"/>
              <a:t>O</a:t>
            </a:r>
          </a:p>
        </p:txBody>
      </p:sp>
      <p:sp>
        <p:nvSpPr>
          <p:cNvPr id="38930" name="Text Box 45"/>
          <p:cNvSpPr txBox="1">
            <a:spLocks noChangeArrowheads="1"/>
          </p:cNvSpPr>
          <p:nvPr/>
        </p:nvSpPr>
        <p:spPr bwMode="auto">
          <a:xfrm>
            <a:off x="3211513" y="4013200"/>
            <a:ext cx="388937" cy="336550"/>
          </a:xfrm>
          <a:prstGeom prst="rect">
            <a:avLst/>
          </a:prstGeom>
          <a:noFill/>
          <a:ln w="9525">
            <a:noFill/>
            <a:miter lim="800000"/>
            <a:headEnd/>
            <a:tailEnd/>
          </a:ln>
        </p:spPr>
        <p:txBody>
          <a:bodyPr wrap="none">
            <a:spAutoFit/>
          </a:bodyPr>
          <a:lstStyle/>
          <a:p>
            <a:r>
              <a:rPr lang="fr-FR" sz="1600" b="1">
                <a:solidFill>
                  <a:srgbClr val="FF0000"/>
                </a:solidFill>
              </a:rPr>
              <a:t>O</a:t>
            </a:r>
            <a:r>
              <a:rPr lang="fr-FR" sz="1600" b="1" baseline="30000">
                <a:solidFill>
                  <a:srgbClr val="FF0000"/>
                </a:solidFill>
              </a:rPr>
              <a:t>-</a:t>
            </a:r>
            <a:endParaRPr lang="fr-FR" sz="1600" b="1">
              <a:solidFill>
                <a:srgbClr val="009900"/>
              </a:solidFill>
            </a:endParaRPr>
          </a:p>
        </p:txBody>
      </p:sp>
      <p:sp>
        <p:nvSpPr>
          <p:cNvPr id="38931" name="Line 46"/>
          <p:cNvSpPr>
            <a:spLocks noChangeShapeType="1"/>
          </p:cNvSpPr>
          <p:nvPr/>
        </p:nvSpPr>
        <p:spPr bwMode="auto">
          <a:xfrm>
            <a:off x="4360863" y="2622550"/>
            <a:ext cx="0" cy="323850"/>
          </a:xfrm>
          <a:prstGeom prst="line">
            <a:avLst/>
          </a:prstGeom>
          <a:noFill/>
          <a:ln w="19050">
            <a:solidFill>
              <a:schemeClr val="tx1"/>
            </a:solidFill>
            <a:round/>
            <a:headEnd/>
            <a:tailEnd/>
          </a:ln>
        </p:spPr>
        <p:txBody>
          <a:bodyPr wrap="none" anchor="ctr"/>
          <a:lstStyle/>
          <a:p>
            <a:endParaRPr lang="fr-FR"/>
          </a:p>
        </p:txBody>
      </p:sp>
      <p:sp>
        <p:nvSpPr>
          <p:cNvPr id="38932" name="Line 47"/>
          <p:cNvSpPr>
            <a:spLocks noChangeShapeType="1"/>
          </p:cNvSpPr>
          <p:nvPr/>
        </p:nvSpPr>
        <p:spPr bwMode="auto">
          <a:xfrm>
            <a:off x="4360863" y="3270250"/>
            <a:ext cx="0" cy="323850"/>
          </a:xfrm>
          <a:prstGeom prst="line">
            <a:avLst/>
          </a:prstGeom>
          <a:noFill/>
          <a:ln w="19050">
            <a:solidFill>
              <a:schemeClr val="tx1"/>
            </a:solidFill>
            <a:round/>
            <a:headEnd/>
            <a:tailEnd/>
          </a:ln>
        </p:spPr>
        <p:txBody>
          <a:bodyPr wrap="none" anchor="ctr"/>
          <a:lstStyle/>
          <a:p>
            <a:endParaRPr lang="fr-FR"/>
          </a:p>
        </p:txBody>
      </p:sp>
      <p:sp>
        <p:nvSpPr>
          <p:cNvPr id="38933" name="Text Box 51"/>
          <p:cNvSpPr txBox="1">
            <a:spLocks noChangeArrowheads="1"/>
          </p:cNvSpPr>
          <p:nvPr/>
        </p:nvSpPr>
        <p:spPr bwMode="auto">
          <a:xfrm>
            <a:off x="6583363" y="2289175"/>
            <a:ext cx="566737" cy="336550"/>
          </a:xfrm>
          <a:prstGeom prst="rect">
            <a:avLst/>
          </a:prstGeom>
          <a:noFill/>
          <a:ln w="9525">
            <a:noFill/>
            <a:miter lim="800000"/>
            <a:headEnd/>
            <a:tailEnd/>
          </a:ln>
        </p:spPr>
        <p:txBody>
          <a:bodyPr>
            <a:spAutoFit/>
          </a:bodyPr>
          <a:lstStyle/>
          <a:p>
            <a:r>
              <a:rPr lang="fr-FR" sz="1600" b="1">
                <a:solidFill>
                  <a:srgbClr val="009900"/>
                </a:solidFill>
              </a:rPr>
              <a:t>CH</a:t>
            </a:r>
            <a:r>
              <a:rPr lang="fr-FR" sz="1600" b="1" baseline="-25000">
                <a:solidFill>
                  <a:srgbClr val="009900"/>
                </a:solidFill>
              </a:rPr>
              <a:t>3</a:t>
            </a:r>
          </a:p>
        </p:txBody>
      </p:sp>
      <p:sp>
        <p:nvSpPr>
          <p:cNvPr id="38934" name="Text Box 52"/>
          <p:cNvSpPr txBox="1">
            <a:spLocks noChangeArrowheads="1"/>
          </p:cNvSpPr>
          <p:nvPr/>
        </p:nvSpPr>
        <p:spPr bwMode="auto">
          <a:xfrm>
            <a:off x="8399463" y="2927350"/>
            <a:ext cx="566737" cy="336550"/>
          </a:xfrm>
          <a:prstGeom prst="rect">
            <a:avLst/>
          </a:prstGeom>
          <a:noFill/>
          <a:ln w="9525">
            <a:noFill/>
            <a:miter lim="800000"/>
            <a:headEnd/>
            <a:tailEnd/>
          </a:ln>
        </p:spPr>
        <p:txBody>
          <a:bodyPr>
            <a:spAutoFit/>
          </a:bodyPr>
          <a:lstStyle/>
          <a:p>
            <a:r>
              <a:rPr lang="fr-FR" sz="1600" b="1">
                <a:solidFill>
                  <a:srgbClr val="009900"/>
                </a:solidFill>
              </a:rPr>
              <a:t>CH</a:t>
            </a:r>
            <a:r>
              <a:rPr lang="fr-FR" sz="1600" b="1" baseline="-25000">
                <a:solidFill>
                  <a:srgbClr val="009900"/>
                </a:solidFill>
              </a:rPr>
              <a:t>3</a:t>
            </a:r>
          </a:p>
        </p:txBody>
      </p:sp>
      <p:sp>
        <p:nvSpPr>
          <p:cNvPr id="38935" name="Text Box 53"/>
          <p:cNvSpPr txBox="1">
            <a:spLocks noChangeArrowheads="1"/>
          </p:cNvSpPr>
          <p:nvPr/>
        </p:nvSpPr>
        <p:spPr bwMode="auto">
          <a:xfrm>
            <a:off x="5630863" y="2289175"/>
            <a:ext cx="846137" cy="336550"/>
          </a:xfrm>
          <a:prstGeom prst="rect">
            <a:avLst/>
          </a:prstGeom>
          <a:noFill/>
          <a:ln w="9525">
            <a:noFill/>
            <a:miter lim="800000"/>
            <a:headEnd/>
            <a:tailEnd/>
          </a:ln>
        </p:spPr>
        <p:txBody>
          <a:bodyPr>
            <a:spAutoFit/>
          </a:bodyPr>
          <a:lstStyle/>
          <a:p>
            <a:r>
              <a:rPr lang="fr-FR" sz="1600" b="1">
                <a:solidFill>
                  <a:srgbClr val="009900"/>
                </a:solidFill>
              </a:rPr>
              <a:t>(CH</a:t>
            </a:r>
            <a:r>
              <a:rPr lang="fr-FR" sz="1600" b="1" baseline="-25000">
                <a:solidFill>
                  <a:srgbClr val="009900"/>
                </a:solidFill>
              </a:rPr>
              <a:t>2</a:t>
            </a:r>
            <a:r>
              <a:rPr lang="fr-FR" sz="1600" b="1">
                <a:solidFill>
                  <a:srgbClr val="009900"/>
                </a:solidFill>
              </a:rPr>
              <a:t>)</a:t>
            </a:r>
            <a:r>
              <a:rPr lang="fr-FR" sz="1600" b="1" baseline="-25000">
                <a:solidFill>
                  <a:srgbClr val="009900"/>
                </a:solidFill>
              </a:rPr>
              <a:t>14</a:t>
            </a:r>
          </a:p>
        </p:txBody>
      </p:sp>
      <p:sp>
        <p:nvSpPr>
          <p:cNvPr id="38936" name="Text Box 54"/>
          <p:cNvSpPr txBox="1">
            <a:spLocks noChangeArrowheads="1"/>
          </p:cNvSpPr>
          <p:nvPr/>
        </p:nvSpPr>
        <p:spPr bwMode="auto">
          <a:xfrm>
            <a:off x="6507163" y="2924175"/>
            <a:ext cx="312737" cy="581025"/>
          </a:xfrm>
          <a:prstGeom prst="rect">
            <a:avLst/>
          </a:prstGeom>
          <a:noFill/>
          <a:ln w="9525">
            <a:noFill/>
            <a:miter lim="800000"/>
            <a:headEnd/>
            <a:tailEnd/>
          </a:ln>
        </p:spPr>
        <p:txBody>
          <a:bodyPr>
            <a:spAutoFit/>
          </a:bodyPr>
          <a:lstStyle/>
          <a:p>
            <a:r>
              <a:rPr lang="fr-FR" sz="1600" b="1">
                <a:solidFill>
                  <a:srgbClr val="009900"/>
                </a:solidFill>
              </a:rPr>
              <a:t>CH</a:t>
            </a:r>
            <a:endParaRPr lang="fr-FR" sz="1600" b="1" baseline="-25000">
              <a:solidFill>
                <a:srgbClr val="009900"/>
              </a:solidFill>
            </a:endParaRPr>
          </a:p>
        </p:txBody>
      </p:sp>
      <p:sp>
        <p:nvSpPr>
          <p:cNvPr id="38937" name="Text Box 55"/>
          <p:cNvSpPr txBox="1">
            <a:spLocks noChangeArrowheads="1"/>
          </p:cNvSpPr>
          <p:nvPr/>
        </p:nvSpPr>
        <p:spPr bwMode="auto">
          <a:xfrm>
            <a:off x="7497763" y="2927350"/>
            <a:ext cx="769937" cy="336550"/>
          </a:xfrm>
          <a:prstGeom prst="rect">
            <a:avLst/>
          </a:prstGeom>
          <a:noFill/>
          <a:ln w="9525">
            <a:noFill/>
            <a:miter lim="800000"/>
            <a:headEnd/>
            <a:tailEnd/>
          </a:ln>
        </p:spPr>
        <p:txBody>
          <a:bodyPr>
            <a:spAutoFit/>
          </a:bodyPr>
          <a:lstStyle/>
          <a:p>
            <a:r>
              <a:rPr lang="fr-FR" sz="1600" b="1">
                <a:solidFill>
                  <a:srgbClr val="009900"/>
                </a:solidFill>
              </a:rPr>
              <a:t>(CH</a:t>
            </a:r>
            <a:r>
              <a:rPr lang="fr-FR" sz="1600" b="1" baseline="-25000">
                <a:solidFill>
                  <a:srgbClr val="009900"/>
                </a:solidFill>
              </a:rPr>
              <a:t>2</a:t>
            </a:r>
            <a:r>
              <a:rPr lang="fr-FR" sz="1600" b="1">
                <a:solidFill>
                  <a:srgbClr val="009900"/>
                </a:solidFill>
              </a:rPr>
              <a:t>)</a:t>
            </a:r>
            <a:r>
              <a:rPr lang="fr-FR" sz="1600" b="1" baseline="-25000">
                <a:solidFill>
                  <a:srgbClr val="009900"/>
                </a:solidFill>
              </a:rPr>
              <a:t>7</a:t>
            </a:r>
          </a:p>
        </p:txBody>
      </p:sp>
      <p:sp>
        <p:nvSpPr>
          <p:cNvPr id="38938" name="Text Box 56"/>
          <p:cNvSpPr txBox="1">
            <a:spLocks noChangeArrowheads="1"/>
          </p:cNvSpPr>
          <p:nvPr/>
        </p:nvSpPr>
        <p:spPr bwMode="auto">
          <a:xfrm>
            <a:off x="5643563" y="2914650"/>
            <a:ext cx="769937" cy="336550"/>
          </a:xfrm>
          <a:prstGeom prst="rect">
            <a:avLst/>
          </a:prstGeom>
          <a:noFill/>
          <a:ln w="9525">
            <a:noFill/>
            <a:miter lim="800000"/>
            <a:headEnd/>
            <a:tailEnd/>
          </a:ln>
        </p:spPr>
        <p:txBody>
          <a:bodyPr>
            <a:spAutoFit/>
          </a:bodyPr>
          <a:lstStyle/>
          <a:p>
            <a:r>
              <a:rPr lang="fr-FR" sz="1600" b="1">
                <a:solidFill>
                  <a:srgbClr val="009900"/>
                </a:solidFill>
              </a:rPr>
              <a:t>(CH</a:t>
            </a:r>
            <a:r>
              <a:rPr lang="fr-FR" sz="1600" b="1" baseline="-25000">
                <a:solidFill>
                  <a:srgbClr val="009900"/>
                </a:solidFill>
              </a:rPr>
              <a:t>2</a:t>
            </a:r>
            <a:r>
              <a:rPr lang="fr-FR" sz="1600" b="1">
                <a:solidFill>
                  <a:srgbClr val="009900"/>
                </a:solidFill>
              </a:rPr>
              <a:t>)</a:t>
            </a:r>
            <a:r>
              <a:rPr lang="fr-FR" sz="1600" b="1" baseline="-25000">
                <a:solidFill>
                  <a:srgbClr val="009900"/>
                </a:solidFill>
              </a:rPr>
              <a:t>7</a:t>
            </a:r>
          </a:p>
        </p:txBody>
      </p:sp>
      <p:sp>
        <p:nvSpPr>
          <p:cNvPr id="38939" name="Text Box 57"/>
          <p:cNvSpPr txBox="1">
            <a:spLocks noChangeArrowheads="1"/>
          </p:cNvSpPr>
          <p:nvPr/>
        </p:nvSpPr>
        <p:spPr bwMode="auto">
          <a:xfrm>
            <a:off x="7040563" y="2924175"/>
            <a:ext cx="312737" cy="581025"/>
          </a:xfrm>
          <a:prstGeom prst="rect">
            <a:avLst/>
          </a:prstGeom>
          <a:noFill/>
          <a:ln w="9525">
            <a:noFill/>
            <a:miter lim="800000"/>
            <a:headEnd/>
            <a:tailEnd/>
          </a:ln>
        </p:spPr>
        <p:txBody>
          <a:bodyPr>
            <a:spAutoFit/>
          </a:bodyPr>
          <a:lstStyle/>
          <a:p>
            <a:r>
              <a:rPr lang="fr-FR" sz="1600" b="1">
                <a:solidFill>
                  <a:srgbClr val="009900"/>
                </a:solidFill>
              </a:rPr>
              <a:t>CH</a:t>
            </a:r>
            <a:endParaRPr lang="fr-FR" sz="1600" b="1" baseline="-25000">
              <a:solidFill>
                <a:srgbClr val="009900"/>
              </a:solidFill>
            </a:endParaRPr>
          </a:p>
        </p:txBody>
      </p:sp>
      <p:sp>
        <p:nvSpPr>
          <p:cNvPr id="38940" name="Text Box 58"/>
          <p:cNvSpPr txBox="1">
            <a:spLocks noChangeArrowheads="1"/>
          </p:cNvSpPr>
          <p:nvPr/>
        </p:nvSpPr>
        <p:spPr bwMode="auto">
          <a:xfrm>
            <a:off x="3211513" y="3149600"/>
            <a:ext cx="342900" cy="336550"/>
          </a:xfrm>
          <a:prstGeom prst="rect">
            <a:avLst/>
          </a:prstGeom>
          <a:noFill/>
          <a:ln w="9525">
            <a:noFill/>
            <a:miter lim="800000"/>
            <a:headEnd/>
            <a:tailEnd/>
          </a:ln>
        </p:spPr>
        <p:txBody>
          <a:bodyPr wrap="none">
            <a:spAutoFit/>
          </a:bodyPr>
          <a:lstStyle/>
          <a:p>
            <a:r>
              <a:rPr lang="fr-FR" sz="1600" b="1">
                <a:solidFill>
                  <a:srgbClr val="FF0000"/>
                </a:solidFill>
              </a:rPr>
              <a:t>O</a:t>
            </a:r>
            <a:endParaRPr lang="fr-FR" sz="1600" b="1">
              <a:solidFill>
                <a:srgbClr val="009900"/>
              </a:solidFill>
            </a:endParaRPr>
          </a:p>
        </p:txBody>
      </p:sp>
      <p:sp>
        <p:nvSpPr>
          <p:cNvPr id="38941" name="Text Box 59"/>
          <p:cNvSpPr txBox="1">
            <a:spLocks noChangeArrowheads="1"/>
          </p:cNvSpPr>
          <p:nvPr/>
        </p:nvSpPr>
        <p:spPr bwMode="auto">
          <a:xfrm>
            <a:off x="2601913" y="3570288"/>
            <a:ext cx="488950" cy="336550"/>
          </a:xfrm>
          <a:prstGeom prst="rect">
            <a:avLst/>
          </a:prstGeom>
          <a:noFill/>
          <a:ln w="9525">
            <a:noFill/>
            <a:miter lim="800000"/>
            <a:headEnd/>
            <a:tailEnd/>
          </a:ln>
        </p:spPr>
        <p:txBody>
          <a:bodyPr wrap="none">
            <a:spAutoFit/>
          </a:bodyPr>
          <a:lstStyle/>
          <a:p>
            <a:r>
              <a:rPr lang="fr-FR" sz="1600" b="1">
                <a:solidFill>
                  <a:srgbClr val="FF0000"/>
                </a:solidFill>
              </a:rPr>
              <a:t>HO</a:t>
            </a:r>
            <a:endParaRPr lang="fr-FR" sz="1600" b="1">
              <a:solidFill>
                <a:srgbClr val="009900"/>
              </a:solidFill>
            </a:endParaRPr>
          </a:p>
        </p:txBody>
      </p:sp>
      <p:sp>
        <p:nvSpPr>
          <p:cNvPr id="38942" name="Text Box 60"/>
          <p:cNvSpPr txBox="1">
            <a:spLocks noChangeArrowheads="1"/>
          </p:cNvSpPr>
          <p:nvPr/>
        </p:nvSpPr>
        <p:spPr bwMode="auto">
          <a:xfrm>
            <a:off x="3224213" y="3570288"/>
            <a:ext cx="319087" cy="336550"/>
          </a:xfrm>
          <a:prstGeom prst="rect">
            <a:avLst/>
          </a:prstGeom>
          <a:noFill/>
          <a:ln w="9525">
            <a:noFill/>
            <a:miter lim="800000"/>
            <a:headEnd/>
            <a:tailEnd/>
          </a:ln>
        </p:spPr>
        <p:txBody>
          <a:bodyPr wrap="none">
            <a:spAutoFit/>
          </a:bodyPr>
          <a:lstStyle/>
          <a:p>
            <a:r>
              <a:rPr lang="fr-FR" sz="1600" b="1">
                <a:solidFill>
                  <a:srgbClr val="FF0000"/>
                </a:solidFill>
              </a:rPr>
              <a:t>P</a:t>
            </a:r>
            <a:endParaRPr lang="fr-FR" sz="1600" b="1">
              <a:solidFill>
                <a:srgbClr val="009900"/>
              </a:solidFill>
            </a:endParaRPr>
          </a:p>
        </p:txBody>
      </p:sp>
      <p:sp>
        <p:nvSpPr>
          <p:cNvPr id="38943" name="Text Box 62"/>
          <p:cNvSpPr txBox="1">
            <a:spLocks noChangeArrowheads="1"/>
          </p:cNvSpPr>
          <p:nvPr/>
        </p:nvSpPr>
        <p:spPr bwMode="auto">
          <a:xfrm>
            <a:off x="5186363" y="2927350"/>
            <a:ext cx="300037" cy="336550"/>
          </a:xfrm>
          <a:prstGeom prst="rect">
            <a:avLst/>
          </a:prstGeom>
          <a:noFill/>
          <a:ln w="9525">
            <a:noFill/>
            <a:miter lim="800000"/>
            <a:headEnd/>
            <a:tailEnd/>
          </a:ln>
        </p:spPr>
        <p:txBody>
          <a:bodyPr>
            <a:spAutoFit/>
          </a:bodyPr>
          <a:lstStyle/>
          <a:p>
            <a:r>
              <a:rPr lang="fr-FR" sz="1600" b="1">
                <a:solidFill>
                  <a:srgbClr val="009900"/>
                </a:solidFill>
              </a:rPr>
              <a:t>C</a:t>
            </a:r>
            <a:endParaRPr lang="fr-FR" sz="1600" b="1" baseline="-25000">
              <a:solidFill>
                <a:srgbClr val="009900"/>
              </a:solidFill>
            </a:endParaRPr>
          </a:p>
        </p:txBody>
      </p:sp>
      <p:sp>
        <p:nvSpPr>
          <p:cNvPr id="38944" name="Text Box 63"/>
          <p:cNvSpPr txBox="1">
            <a:spLocks noChangeArrowheads="1"/>
          </p:cNvSpPr>
          <p:nvPr/>
        </p:nvSpPr>
        <p:spPr bwMode="auto">
          <a:xfrm>
            <a:off x="5199063" y="3406775"/>
            <a:ext cx="300037" cy="336550"/>
          </a:xfrm>
          <a:prstGeom prst="rect">
            <a:avLst/>
          </a:prstGeom>
          <a:noFill/>
          <a:ln w="9525">
            <a:noFill/>
            <a:miter lim="800000"/>
            <a:headEnd/>
            <a:tailEnd/>
          </a:ln>
        </p:spPr>
        <p:txBody>
          <a:bodyPr>
            <a:spAutoFit/>
          </a:bodyPr>
          <a:lstStyle/>
          <a:p>
            <a:r>
              <a:rPr lang="fr-FR" sz="1600" b="1">
                <a:solidFill>
                  <a:srgbClr val="009900"/>
                </a:solidFill>
              </a:rPr>
              <a:t>O</a:t>
            </a:r>
            <a:endParaRPr lang="fr-FR" sz="1600" b="1" baseline="-25000">
              <a:solidFill>
                <a:srgbClr val="009900"/>
              </a:solidFill>
            </a:endParaRPr>
          </a:p>
        </p:txBody>
      </p:sp>
      <p:sp>
        <p:nvSpPr>
          <p:cNvPr id="38945" name="Line 66"/>
          <p:cNvSpPr>
            <a:spLocks noChangeShapeType="1"/>
          </p:cNvSpPr>
          <p:nvPr/>
        </p:nvSpPr>
        <p:spPr bwMode="auto">
          <a:xfrm>
            <a:off x="4945063" y="3095625"/>
            <a:ext cx="263525" cy="0"/>
          </a:xfrm>
          <a:prstGeom prst="line">
            <a:avLst/>
          </a:prstGeom>
          <a:noFill/>
          <a:ln w="19050">
            <a:solidFill>
              <a:schemeClr val="tx1"/>
            </a:solidFill>
            <a:round/>
            <a:headEnd/>
            <a:tailEnd/>
          </a:ln>
        </p:spPr>
        <p:txBody>
          <a:bodyPr wrap="none" anchor="ctr"/>
          <a:lstStyle/>
          <a:p>
            <a:endParaRPr lang="fr-FR"/>
          </a:p>
        </p:txBody>
      </p:sp>
      <p:grpSp>
        <p:nvGrpSpPr>
          <p:cNvPr id="2" name="Group 67"/>
          <p:cNvGrpSpPr>
            <a:grpSpLocks/>
          </p:cNvGrpSpPr>
          <p:nvPr/>
        </p:nvGrpSpPr>
        <p:grpSpPr bwMode="auto">
          <a:xfrm>
            <a:off x="6786563" y="3063875"/>
            <a:ext cx="263525" cy="63500"/>
            <a:chOff x="4504" y="1928"/>
            <a:chExt cx="166" cy="40"/>
          </a:xfrm>
        </p:grpSpPr>
        <p:sp>
          <p:nvSpPr>
            <p:cNvPr id="38974" name="Line 68"/>
            <p:cNvSpPr>
              <a:spLocks noChangeShapeType="1"/>
            </p:cNvSpPr>
            <p:nvPr/>
          </p:nvSpPr>
          <p:spPr bwMode="auto">
            <a:xfrm>
              <a:off x="4504" y="1928"/>
              <a:ext cx="166" cy="0"/>
            </a:xfrm>
            <a:prstGeom prst="line">
              <a:avLst/>
            </a:prstGeom>
            <a:noFill/>
            <a:ln w="19050">
              <a:solidFill>
                <a:srgbClr val="009900"/>
              </a:solidFill>
              <a:round/>
              <a:headEnd/>
              <a:tailEnd/>
            </a:ln>
          </p:spPr>
          <p:txBody>
            <a:bodyPr wrap="none" anchor="ctr"/>
            <a:lstStyle/>
            <a:p>
              <a:endParaRPr lang="fr-FR"/>
            </a:p>
          </p:txBody>
        </p:sp>
        <p:sp>
          <p:nvSpPr>
            <p:cNvPr id="38975" name="Line 69"/>
            <p:cNvSpPr>
              <a:spLocks noChangeShapeType="1"/>
            </p:cNvSpPr>
            <p:nvPr/>
          </p:nvSpPr>
          <p:spPr bwMode="auto">
            <a:xfrm>
              <a:off x="4504" y="1968"/>
              <a:ext cx="166" cy="0"/>
            </a:xfrm>
            <a:prstGeom prst="line">
              <a:avLst/>
            </a:prstGeom>
            <a:noFill/>
            <a:ln w="19050">
              <a:solidFill>
                <a:srgbClr val="009900"/>
              </a:solidFill>
              <a:round/>
              <a:headEnd/>
              <a:tailEnd/>
            </a:ln>
          </p:spPr>
          <p:txBody>
            <a:bodyPr wrap="none" anchor="ctr"/>
            <a:lstStyle/>
            <a:p>
              <a:endParaRPr lang="fr-FR"/>
            </a:p>
          </p:txBody>
        </p:sp>
      </p:grpSp>
      <p:sp>
        <p:nvSpPr>
          <p:cNvPr id="38947" name="Text Box 70"/>
          <p:cNvSpPr txBox="1">
            <a:spLocks noChangeArrowheads="1"/>
          </p:cNvSpPr>
          <p:nvPr/>
        </p:nvSpPr>
        <p:spPr bwMode="auto">
          <a:xfrm>
            <a:off x="5199063" y="2305050"/>
            <a:ext cx="300037" cy="336550"/>
          </a:xfrm>
          <a:prstGeom prst="rect">
            <a:avLst/>
          </a:prstGeom>
          <a:noFill/>
          <a:ln w="9525">
            <a:noFill/>
            <a:miter lim="800000"/>
            <a:headEnd/>
            <a:tailEnd/>
          </a:ln>
        </p:spPr>
        <p:txBody>
          <a:bodyPr>
            <a:spAutoFit/>
          </a:bodyPr>
          <a:lstStyle/>
          <a:p>
            <a:r>
              <a:rPr lang="fr-FR" sz="1600" b="1">
                <a:solidFill>
                  <a:srgbClr val="009900"/>
                </a:solidFill>
              </a:rPr>
              <a:t>C</a:t>
            </a:r>
            <a:endParaRPr lang="fr-FR" sz="1600" b="1" baseline="-25000">
              <a:solidFill>
                <a:srgbClr val="009900"/>
              </a:solidFill>
            </a:endParaRPr>
          </a:p>
        </p:txBody>
      </p:sp>
      <p:sp>
        <p:nvSpPr>
          <p:cNvPr id="38948" name="Text Box 71"/>
          <p:cNvSpPr txBox="1">
            <a:spLocks noChangeArrowheads="1"/>
          </p:cNvSpPr>
          <p:nvPr/>
        </p:nvSpPr>
        <p:spPr bwMode="auto">
          <a:xfrm>
            <a:off x="5199063" y="1781175"/>
            <a:ext cx="300037" cy="336550"/>
          </a:xfrm>
          <a:prstGeom prst="rect">
            <a:avLst/>
          </a:prstGeom>
          <a:noFill/>
          <a:ln w="9525">
            <a:noFill/>
            <a:miter lim="800000"/>
            <a:headEnd/>
            <a:tailEnd/>
          </a:ln>
        </p:spPr>
        <p:txBody>
          <a:bodyPr>
            <a:spAutoFit/>
          </a:bodyPr>
          <a:lstStyle/>
          <a:p>
            <a:r>
              <a:rPr lang="fr-FR" sz="1600" b="1">
                <a:solidFill>
                  <a:srgbClr val="009900"/>
                </a:solidFill>
              </a:rPr>
              <a:t>O</a:t>
            </a:r>
            <a:endParaRPr lang="fr-FR" sz="1600" b="1" baseline="-25000">
              <a:solidFill>
                <a:srgbClr val="009900"/>
              </a:solidFill>
            </a:endParaRPr>
          </a:p>
        </p:txBody>
      </p:sp>
      <p:sp>
        <p:nvSpPr>
          <p:cNvPr id="38949" name="Line 72"/>
          <p:cNvSpPr>
            <a:spLocks noChangeShapeType="1"/>
          </p:cNvSpPr>
          <p:nvPr/>
        </p:nvSpPr>
        <p:spPr bwMode="auto">
          <a:xfrm>
            <a:off x="4957763" y="2473325"/>
            <a:ext cx="263525" cy="0"/>
          </a:xfrm>
          <a:prstGeom prst="line">
            <a:avLst/>
          </a:prstGeom>
          <a:noFill/>
          <a:ln w="19050">
            <a:solidFill>
              <a:schemeClr val="tx1"/>
            </a:solidFill>
            <a:round/>
            <a:headEnd/>
            <a:tailEnd/>
          </a:ln>
        </p:spPr>
        <p:txBody>
          <a:bodyPr wrap="none" anchor="ctr"/>
          <a:lstStyle/>
          <a:p>
            <a:endParaRPr lang="fr-FR"/>
          </a:p>
        </p:txBody>
      </p:sp>
      <p:grpSp>
        <p:nvGrpSpPr>
          <p:cNvPr id="3" name="Group 73"/>
          <p:cNvGrpSpPr>
            <a:grpSpLocks/>
          </p:cNvGrpSpPr>
          <p:nvPr/>
        </p:nvGrpSpPr>
        <p:grpSpPr bwMode="auto">
          <a:xfrm>
            <a:off x="5326063" y="3219450"/>
            <a:ext cx="74612" cy="234950"/>
            <a:chOff x="3496" y="2156"/>
            <a:chExt cx="40" cy="204"/>
          </a:xfrm>
        </p:grpSpPr>
        <p:sp>
          <p:nvSpPr>
            <p:cNvPr id="38972" name="Line 74"/>
            <p:cNvSpPr>
              <a:spLocks noChangeShapeType="1"/>
            </p:cNvSpPr>
            <p:nvPr/>
          </p:nvSpPr>
          <p:spPr bwMode="auto">
            <a:xfrm>
              <a:off x="3496" y="2156"/>
              <a:ext cx="0" cy="204"/>
            </a:xfrm>
            <a:prstGeom prst="line">
              <a:avLst/>
            </a:prstGeom>
            <a:noFill/>
            <a:ln w="19050">
              <a:solidFill>
                <a:srgbClr val="009900"/>
              </a:solidFill>
              <a:round/>
              <a:headEnd/>
              <a:tailEnd/>
            </a:ln>
          </p:spPr>
          <p:txBody>
            <a:bodyPr wrap="none" anchor="ctr"/>
            <a:lstStyle/>
            <a:p>
              <a:endParaRPr lang="fr-FR"/>
            </a:p>
          </p:txBody>
        </p:sp>
        <p:sp>
          <p:nvSpPr>
            <p:cNvPr id="38973" name="Line 75"/>
            <p:cNvSpPr>
              <a:spLocks noChangeShapeType="1"/>
            </p:cNvSpPr>
            <p:nvPr/>
          </p:nvSpPr>
          <p:spPr bwMode="auto">
            <a:xfrm>
              <a:off x="3536" y="2156"/>
              <a:ext cx="0" cy="204"/>
            </a:xfrm>
            <a:prstGeom prst="line">
              <a:avLst/>
            </a:prstGeom>
            <a:noFill/>
            <a:ln w="19050">
              <a:solidFill>
                <a:srgbClr val="009900"/>
              </a:solidFill>
              <a:round/>
              <a:headEnd/>
              <a:tailEnd/>
            </a:ln>
          </p:spPr>
          <p:txBody>
            <a:bodyPr wrap="none" anchor="ctr"/>
            <a:lstStyle/>
            <a:p>
              <a:endParaRPr lang="fr-FR"/>
            </a:p>
          </p:txBody>
        </p:sp>
      </p:grpSp>
      <p:grpSp>
        <p:nvGrpSpPr>
          <p:cNvPr id="4" name="Group 76"/>
          <p:cNvGrpSpPr>
            <a:grpSpLocks/>
          </p:cNvGrpSpPr>
          <p:nvPr/>
        </p:nvGrpSpPr>
        <p:grpSpPr bwMode="auto">
          <a:xfrm>
            <a:off x="5326063" y="2089150"/>
            <a:ext cx="74612" cy="260350"/>
            <a:chOff x="3496" y="2156"/>
            <a:chExt cx="40" cy="204"/>
          </a:xfrm>
        </p:grpSpPr>
        <p:sp>
          <p:nvSpPr>
            <p:cNvPr id="38970" name="Line 77"/>
            <p:cNvSpPr>
              <a:spLocks noChangeShapeType="1"/>
            </p:cNvSpPr>
            <p:nvPr/>
          </p:nvSpPr>
          <p:spPr bwMode="auto">
            <a:xfrm>
              <a:off x="3496" y="2156"/>
              <a:ext cx="0" cy="204"/>
            </a:xfrm>
            <a:prstGeom prst="line">
              <a:avLst/>
            </a:prstGeom>
            <a:noFill/>
            <a:ln w="19050">
              <a:solidFill>
                <a:srgbClr val="009900"/>
              </a:solidFill>
              <a:round/>
              <a:headEnd/>
              <a:tailEnd/>
            </a:ln>
          </p:spPr>
          <p:txBody>
            <a:bodyPr wrap="none" anchor="ctr"/>
            <a:lstStyle/>
            <a:p>
              <a:endParaRPr lang="fr-FR"/>
            </a:p>
          </p:txBody>
        </p:sp>
        <p:sp>
          <p:nvSpPr>
            <p:cNvPr id="38971" name="Line 78"/>
            <p:cNvSpPr>
              <a:spLocks noChangeShapeType="1"/>
            </p:cNvSpPr>
            <p:nvPr/>
          </p:nvSpPr>
          <p:spPr bwMode="auto">
            <a:xfrm>
              <a:off x="3536" y="2156"/>
              <a:ext cx="0" cy="204"/>
            </a:xfrm>
            <a:prstGeom prst="line">
              <a:avLst/>
            </a:prstGeom>
            <a:noFill/>
            <a:ln w="19050">
              <a:solidFill>
                <a:srgbClr val="009900"/>
              </a:solidFill>
              <a:round/>
              <a:headEnd/>
              <a:tailEnd/>
            </a:ln>
          </p:spPr>
          <p:txBody>
            <a:bodyPr wrap="none" anchor="ctr"/>
            <a:lstStyle/>
            <a:p>
              <a:endParaRPr lang="fr-FR"/>
            </a:p>
          </p:txBody>
        </p:sp>
      </p:grpSp>
      <p:sp>
        <p:nvSpPr>
          <p:cNvPr id="38952" name="Line 79"/>
          <p:cNvSpPr>
            <a:spLocks noChangeShapeType="1"/>
          </p:cNvSpPr>
          <p:nvPr/>
        </p:nvSpPr>
        <p:spPr bwMode="auto">
          <a:xfrm>
            <a:off x="3535363" y="3738563"/>
            <a:ext cx="263525" cy="0"/>
          </a:xfrm>
          <a:prstGeom prst="line">
            <a:avLst/>
          </a:prstGeom>
          <a:noFill/>
          <a:ln w="19050">
            <a:solidFill>
              <a:schemeClr val="tx1"/>
            </a:solidFill>
            <a:round/>
            <a:headEnd/>
            <a:tailEnd/>
          </a:ln>
        </p:spPr>
        <p:txBody>
          <a:bodyPr wrap="none" anchor="ctr"/>
          <a:lstStyle/>
          <a:p>
            <a:endParaRPr lang="fr-FR"/>
          </a:p>
        </p:txBody>
      </p:sp>
      <p:sp>
        <p:nvSpPr>
          <p:cNvPr id="38953" name="Text Box 80"/>
          <p:cNvSpPr txBox="1">
            <a:spLocks noChangeArrowheads="1"/>
          </p:cNvSpPr>
          <p:nvPr/>
        </p:nvSpPr>
        <p:spPr bwMode="auto">
          <a:xfrm>
            <a:off x="3744913" y="3570288"/>
            <a:ext cx="342900" cy="336550"/>
          </a:xfrm>
          <a:prstGeom prst="rect">
            <a:avLst/>
          </a:prstGeom>
          <a:noFill/>
          <a:ln w="9525">
            <a:noFill/>
            <a:miter lim="800000"/>
            <a:headEnd/>
            <a:tailEnd/>
          </a:ln>
        </p:spPr>
        <p:txBody>
          <a:bodyPr wrap="none">
            <a:spAutoFit/>
          </a:bodyPr>
          <a:lstStyle/>
          <a:p>
            <a:r>
              <a:rPr lang="fr-FR" sz="1600" b="1"/>
              <a:t>O</a:t>
            </a:r>
            <a:endParaRPr lang="fr-FR" sz="1600" b="1">
              <a:solidFill>
                <a:srgbClr val="009900"/>
              </a:solidFill>
            </a:endParaRPr>
          </a:p>
        </p:txBody>
      </p:sp>
      <p:sp>
        <p:nvSpPr>
          <p:cNvPr id="38954" name="Line 81"/>
          <p:cNvSpPr>
            <a:spLocks noChangeShapeType="1"/>
          </p:cNvSpPr>
          <p:nvPr/>
        </p:nvSpPr>
        <p:spPr bwMode="auto">
          <a:xfrm>
            <a:off x="5453063" y="3095625"/>
            <a:ext cx="225425" cy="0"/>
          </a:xfrm>
          <a:prstGeom prst="line">
            <a:avLst/>
          </a:prstGeom>
          <a:noFill/>
          <a:ln w="19050">
            <a:solidFill>
              <a:srgbClr val="009900"/>
            </a:solidFill>
            <a:round/>
            <a:headEnd/>
            <a:tailEnd/>
          </a:ln>
        </p:spPr>
        <p:txBody>
          <a:bodyPr wrap="none" anchor="ctr"/>
          <a:lstStyle/>
          <a:p>
            <a:endParaRPr lang="fr-FR"/>
          </a:p>
        </p:txBody>
      </p:sp>
      <p:sp>
        <p:nvSpPr>
          <p:cNvPr id="38955" name="Line 82"/>
          <p:cNvSpPr>
            <a:spLocks noChangeShapeType="1"/>
          </p:cNvSpPr>
          <p:nvPr/>
        </p:nvSpPr>
        <p:spPr bwMode="auto">
          <a:xfrm>
            <a:off x="6329363" y="3095625"/>
            <a:ext cx="225425" cy="0"/>
          </a:xfrm>
          <a:prstGeom prst="line">
            <a:avLst/>
          </a:prstGeom>
          <a:noFill/>
          <a:ln w="19050">
            <a:solidFill>
              <a:srgbClr val="009900"/>
            </a:solidFill>
            <a:round/>
            <a:headEnd/>
            <a:tailEnd/>
          </a:ln>
        </p:spPr>
        <p:txBody>
          <a:bodyPr wrap="none" anchor="ctr"/>
          <a:lstStyle/>
          <a:p>
            <a:endParaRPr lang="fr-FR"/>
          </a:p>
        </p:txBody>
      </p:sp>
      <p:sp>
        <p:nvSpPr>
          <p:cNvPr id="38956" name="Line 83"/>
          <p:cNvSpPr>
            <a:spLocks noChangeShapeType="1"/>
          </p:cNvSpPr>
          <p:nvPr/>
        </p:nvSpPr>
        <p:spPr bwMode="auto">
          <a:xfrm>
            <a:off x="5453063" y="2473325"/>
            <a:ext cx="225425" cy="0"/>
          </a:xfrm>
          <a:prstGeom prst="line">
            <a:avLst/>
          </a:prstGeom>
          <a:noFill/>
          <a:ln w="19050">
            <a:solidFill>
              <a:srgbClr val="009900"/>
            </a:solidFill>
            <a:round/>
            <a:headEnd/>
            <a:tailEnd/>
          </a:ln>
        </p:spPr>
        <p:txBody>
          <a:bodyPr wrap="none" anchor="ctr"/>
          <a:lstStyle/>
          <a:p>
            <a:endParaRPr lang="fr-FR"/>
          </a:p>
        </p:txBody>
      </p:sp>
      <p:sp>
        <p:nvSpPr>
          <p:cNvPr id="38957" name="Line 84"/>
          <p:cNvSpPr>
            <a:spLocks noChangeShapeType="1"/>
          </p:cNvSpPr>
          <p:nvPr/>
        </p:nvSpPr>
        <p:spPr bwMode="auto">
          <a:xfrm>
            <a:off x="6392863" y="2460625"/>
            <a:ext cx="225425" cy="0"/>
          </a:xfrm>
          <a:prstGeom prst="line">
            <a:avLst/>
          </a:prstGeom>
          <a:noFill/>
          <a:ln w="19050">
            <a:solidFill>
              <a:srgbClr val="009900"/>
            </a:solidFill>
            <a:round/>
            <a:headEnd/>
            <a:tailEnd/>
          </a:ln>
        </p:spPr>
        <p:txBody>
          <a:bodyPr wrap="none" anchor="ctr"/>
          <a:lstStyle/>
          <a:p>
            <a:endParaRPr lang="fr-FR"/>
          </a:p>
        </p:txBody>
      </p:sp>
      <p:sp>
        <p:nvSpPr>
          <p:cNvPr id="38958" name="Line 85"/>
          <p:cNvSpPr>
            <a:spLocks noChangeShapeType="1"/>
          </p:cNvSpPr>
          <p:nvPr/>
        </p:nvSpPr>
        <p:spPr bwMode="auto">
          <a:xfrm>
            <a:off x="7319963" y="3095625"/>
            <a:ext cx="225425" cy="0"/>
          </a:xfrm>
          <a:prstGeom prst="line">
            <a:avLst/>
          </a:prstGeom>
          <a:noFill/>
          <a:ln w="19050">
            <a:solidFill>
              <a:srgbClr val="009900"/>
            </a:solidFill>
            <a:round/>
            <a:headEnd/>
            <a:tailEnd/>
          </a:ln>
        </p:spPr>
        <p:txBody>
          <a:bodyPr wrap="none" anchor="ctr"/>
          <a:lstStyle/>
          <a:p>
            <a:endParaRPr lang="fr-FR"/>
          </a:p>
        </p:txBody>
      </p:sp>
      <p:sp>
        <p:nvSpPr>
          <p:cNvPr id="38959" name="Line 86"/>
          <p:cNvSpPr>
            <a:spLocks noChangeShapeType="1"/>
          </p:cNvSpPr>
          <p:nvPr/>
        </p:nvSpPr>
        <p:spPr bwMode="auto">
          <a:xfrm>
            <a:off x="8196263" y="3082925"/>
            <a:ext cx="225425" cy="0"/>
          </a:xfrm>
          <a:prstGeom prst="line">
            <a:avLst/>
          </a:prstGeom>
          <a:noFill/>
          <a:ln w="19050">
            <a:solidFill>
              <a:srgbClr val="009900"/>
            </a:solidFill>
            <a:round/>
            <a:headEnd/>
            <a:tailEnd/>
          </a:ln>
        </p:spPr>
        <p:txBody>
          <a:bodyPr wrap="none" anchor="ctr"/>
          <a:lstStyle/>
          <a:p>
            <a:endParaRPr lang="fr-FR"/>
          </a:p>
        </p:txBody>
      </p:sp>
      <p:sp>
        <p:nvSpPr>
          <p:cNvPr id="38960" name="Line 87"/>
          <p:cNvSpPr>
            <a:spLocks noChangeShapeType="1"/>
          </p:cNvSpPr>
          <p:nvPr/>
        </p:nvSpPr>
        <p:spPr bwMode="auto">
          <a:xfrm>
            <a:off x="3040063" y="3738563"/>
            <a:ext cx="225425" cy="0"/>
          </a:xfrm>
          <a:prstGeom prst="line">
            <a:avLst/>
          </a:prstGeom>
          <a:noFill/>
          <a:ln w="19050">
            <a:solidFill>
              <a:srgbClr val="FF0000"/>
            </a:solidFill>
            <a:round/>
            <a:headEnd/>
            <a:tailEnd/>
          </a:ln>
        </p:spPr>
        <p:txBody>
          <a:bodyPr wrap="none" anchor="ctr"/>
          <a:lstStyle/>
          <a:p>
            <a:endParaRPr lang="fr-FR"/>
          </a:p>
        </p:txBody>
      </p:sp>
      <p:sp>
        <p:nvSpPr>
          <p:cNvPr id="38961" name="Line 88"/>
          <p:cNvSpPr>
            <a:spLocks noChangeShapeType="1"/>
          </p:cNvSpPr>
          <p:nvPr/>
        </p:nvSpPr>
        <p:spPr bwMode="auto">
          <a:xfrm>
            <a:off x="4043363" y="3738563"/>
            <a:ext cx="187325" cy="0"/>
          </a:xfrm>
          <a:prstGeom prst="line">
            <a:avLst/>
          </a:prstGeom>
          <a:noFill/>
          <a:ln w="19050">
            <a:solidFill>
              <a:schemeClr val="tx1"/>
            </a:solidFill>
            <a:round/>
            <a:headEnd/>
            <a:tailEnd/>
          </a:ln>
        </p:spPr>
        <p:txBody>
          <a:bodyPr wrap="none" anchor="ctr"/>
          <a:lstStyle/>
          <a:p>
            <a:endParaRPr lang="fr-FR"/>
          </a:p>
        </p:txBody>
      </p:sp>
      <p:sp>
        <p:nvSpPr>
          <p:cNvPr id="38962" name="Line 93"/>
          <p:cNvSpPr>
            <a:spLocks noChangeShapeType="1"/>
          </p:cNvSpPr>
          <p:nvPr/>
        </p:nvSpPr>
        <p:spPr bwMode="auto">
          <a:xfrm>
            <a:off x="4525963" y="3103563"/>
            <a:ext cx="187325" cy="0"/>
          </a:xfrm>
          <a:prstGeom prst="line">
            <a:avLst/>
          </a:prstGeom>
          <a:noFill/>
          <a:ln w="19050">
            <a:solidFill>
              <a:schemeClr val="tx1"/>
            </a:solidFill>
            <a:round/>
            <a:headEnd/>
            <a:tailEnd/>
          </a:ln>
        </p:spPr>
        <p:txBody>
          <a:bodyPr wrap="none" anchor="ctr"/>
          <a:lstStyle/>
          <a:p>
            <a:endParaRPr lang="fr-FR"/>
          </a:p>
        </p:txBody>
      </p:sp>
      <p:sp>
        <p:nvSpPr>
          <p:cNvPr id="38963" name="Line 94"/>
          <p:cNvSpPr>
            <a:spLocks noChangeShapeType="1"/>
          </p:cNvSpPr>
          <p:nvPr/>
        </p:nvSpPr>
        <p:spPr bwMode="auto">
          <a:xfrm>
            <a:off x="4500563" y="2481263"/>
            <a:ext cx="187325" cy="0"/>
          </a:xfrm>
          <a:prstGeom prst="line">
            <a:avLst/>
          </a:prstGeom>
          <a:noFill/>
          <a:ln w="19050">
            <a:solidFill>
              <a:schemeClr val="tx1"/>
            </a:solidFill>
            <a:round/>
            <a:headEnd/>
            <a:tailEnd/>
          </a:ln>
        </p:spPr>
        <p:txBody>
          <a:bodyPr wrap="none" anchor="ctr"/>
          <a:lstStyle/>
          <a:p>
            <a:endParaRPr lang="fr-FR"/>
          </a:p>
        </p:txBody>
      </p:sp>
      <p:grpSp>
        <p:nvGrpSpPr>
          <p:cNvPr id="5" name="Group 95"/>
          <p:cNvGrpSpPr>
            <a:grpSpLocks/>
          </p:cNvGrpSpPr>
          <p:nvPr/>
        </p:nvGrpSpPr>
        <p:grpSpPr bwMode="auto">
          <a:xfrm>
            <a:off x="3344863" y="3422650"/>
            <a:ext cx="74612" cy="196850"/>
            <a:chOff x="3496" y="2156"/>
            <a:chExt cx="40" cy="204"/>
          </a:xfrm>
        </p:grpSpPr>
        <p:sp>
          <p:nvSpPr>
            <p:cNvPr id="38968" name="Line 96"/>
            <p:cNvSpPr>
              <a:spLocks noChangeShapeType="1"/>
            </p:cNvSpPr>
            <p:nvPr/>
          </p:nvSpPr>
          <p:spPr bwMode="auto">
            <a:xfrm>
              <a:off x="3496" y="2156"/>
              <a:ext cx="0" cy="204"/>
            </a:xfrm>
            <a:prstGeom prst="line">
              <a:avLst/>
            </a:prstGeom>
            <a:noFill/>
            <a:ln w="19050">
              <a:solidFill>
                <a:srgbClr val="FF0000"/>
              </a:solidFill>
              <a:round/>
              <a:headEnd/>
              <a:tailEnd/>
            </a:ln>
          </p:spPr>
          <p:txBody>
            <a:bodyPr wrap="none" anchor="ctr"/>
            <a:lstStyle/>
            <a:p>
              <a:endParaRPr lang="fr-FR"/>
            </a:p>
          </p:txBody>
        </p:sp>
        <p:sp>
          <p:nvSpPr>
            <p:cNvPr id="38969" name="Line 97"/>
            <p:cNvSpPr>
              <a:spLocks noChangeShapeType="1"/>
            </p:cNvSpPr>
            <p:nvPr/>
          </p:nvSpPr>
          <p:spPr bwMode="auto">
            <a:xfrm>
              <a:off x="3536" y="2156"/>
              <a:ext cx="0" cy="204"/>
            </a:xfrm>
            <a:prstGeom prst="line">
              <a:avLst/>
            </a:prstGeom>
            <a:noFill/>
            <a:ln w="19050">
              <a:solidFill>
                <a:srgbClr val="FF0000"/>
              </a:solidFill>
              <a:round/>
              <a:headEnd/>
              <a:tailEnd/>
            </a:ln>
          </p:spPr>
          <p:txBody>
            <a:bodyPr wrap="none" anchor="ctr"/>
            <a:lstStyle/>
            <a:p>
              <a:endParaRPr lang="fr-FR"/>
            </a:p>
          </p:txBody>
        </p:sp>
      </p:grpSp>
      <p:sp>
        <p:nvSpPr>
          <p:cNvPr id="38965" name="Line 98"/>
          <p:cNvSpPr>
            <a:spLocks noChangeShapeType="1"/>
          </p:cNvSpPr>
          <p:nvPr/>
        </p:nvSpPr>
        <p:spPr bwMode="auto">
          <a:xfrm flipH="1">
            <a:off x="3382963" y="3816350"/>
            <a:ext cx="0" cy="247650"/>
          </a:xfrm>
          <a:prstGeom prst="line">
            <a:avLst/>
          </a:prstGeom>
          <a:noFill/>
          <a:ln w="19050">
            <a:solidFill>
              <a:srgbClr val="FF0000"/>
            </a:solidFill>
            <a:round/>
            <a:headEnd/>
            <a:tailEnd/>
          </a:ln>
        </p:spPr>
        <p:txBody>
          <a:bodyPr wrap="none" anchor="ctr"/>
          <a:lstStyle/>
          <a:p>
            <a:endParaRPr lang="fr-FR"/>
          </a:p>
        </p:txBody>
      </p:sp>
      <p:sp>
        <p:nvSpPr>
          <p:cNvPr id="38966" name="Text Box 101"/>
          <p:cNvSpPr txBox="1">
            <a:spLocks noChangeArrowheads="1"/>
          </p:cNvSpPr>
          <p:nvPr/>
        </p:nvSpPr>
        <p:spPr bwMode="auto">
          <a:xfrm>
            <a:off x="7213600" y="1828800"/>
            <a:ext cx="904875" cy="304800"/>
          </a:xfrm>
          <a:prstGeom prst="rect">
            <a:avLst/>
          </a:prstGeom>
          <a:noFill/>
          <a:ln w="9525">
            <a:noFill/>
            <a:miter lim="800000"/>
            <a:headEnd/>
            <a:tailEnd/>
          </a:ln>
        </p:spPr>
        <p:txBody>
          <a:bodyPr wrap="none">
            <a:spAutoFit/>
          </a:bodyPr>
          <a:lstStyle/>
          <a:p>
            <a:r>
              <a:rPr lang="fr-FR" sz="1400">
                <a:solidFill>
                  <a:srgbClr val="009900"/>
                </a:solidFill>
              </a:rPr>
              <a:t>palmitate</a:t>
            </a:r>
            <a:endParaRPr lang="fr-FR">
              <a:solidFill>
                <a:srgbClr val="009900"/>
              </a:solidFill>
            </a:endParaRPr>
          </a:p>
        </p:txBody>
      </p:sp>
      <p:sp>
        <p:nvSpPr>
          <p:cNvPr id="38967" name="Text Box 102"/>
          <p:cNvSpPr txBox="1">
            <a:spLocks noChangeArrowheads="1"/>
          </p:cNvSpPr>
          <p:nvPr/>
        </p:nvSpPr>
        <p:spPr bwMode="auto">
          <a:xfrm>
            <a:off x="7302500" y="3759200"/>
            <a:ext cx="668338" cy="304800"/>
          </a:xfrm>
          <a:prstGeom prst="rect">
            <a:avLst/>
          </a:prstGeom>
          <a:noFill/>
          <a:ln w="9525">
            <a:noFill/>
            <a:miter lim="800000"/>
            <a:headEnd/>
            <a:tailEnd/>
          </a:ln>
        </p:spPr>
        <p:txBody>
          <a:bodyPr wrap="none">
            <a:spAutoFit/>
          </a:bodyPr>
          <a:lstStyle/>
          <a:p>
            <a:r>
              <a:rPr lang="fr-FR" sz="1400">
                <a:solidFill>
                  <a:srgbClr val="009900"/>
                </a:solidFill>
              </a:rPr>
              <a:t>oleate</a:t>
            </a:r>
            <a:endParaRPr lang="fr-FR">
              <a:solidFill>
                <a:srgbClr val="009900"/>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AutoShape 6"/>
          <p:cNvSpPr>
            <a:spLocks/>
          </p:cNvSpPr>
          <p:nvPr/>
        </p:nvSpPr>
        <p:spPr bwMode="auto">
          <a:xfrm rot="16200000" flipV="1">
            <a:off x="6997700" y="2628900"/>
            <a:ext cx="177800" cy="3733800"/>
          </a:xfrm>
          <a:prstGeom prst="leftBrace">
            <a:avLst>
              <a:gd name="adj1" fmla="val 61153"/>
              <a:gd name="adj2" fmla="val 50000"/>
            </a:avLst>
          </a:prstGeom>
          <a:noFill/>
          <a:ln w="9525">
            <a:solidFill>
              <a:srgbClr val="009900"/>
            </a:solidFill>
            <a:round/>
            <a:headEnd/>
            <a:tailEnd/>
          </a:ln>
        </p:spPr>
        <p:txBody>
          <a:bodyPr wrap="none" anchor="ctr"/>
          <a:lstStyle/>
          <a:p>
            <a:endParaRPr lang="fr-FR"/>
          </a:p>
        </p:txBody>
      </p:sp>
      <p:sp>
        <p:nvSpPr>
          <p:cNvPr id="39940" name="AutoShape 7"/>
          <p:cNvSpPr>
            <a:spLocks/>
          </p:cNvSpPr>
          <p:nvPr/>
        </p:nvSpPr>
        <p:spPr bwMode="auto">
          <a:xfrm rot="16200000" flipV="1">
            <a:off x="4318000" y="3886200"/>
            <a:ext cx="177800" cy="1219200"/>
          </a:xfrm>
          <a:prstGeom prst="leftBrace">
            <a:avLst>
              <a:gd name="adj1" fmla="val 82857"/>
              <a:gd name="adj2" fmla="val 50000"/>
            </a:avLst>
          </a:prstGeom>
          <a:noFill/>
          <a:ln w="9525">
            <a:solidFill>
              <a:schemeClr val="tx1"/>
            </a:solidFill>
            <a:round/>
            <a:headEnd/>
            <a:tailEnd/>
          </a:ln>
        </p:spPr>
        <p:txBody>
          <a:bodyPr wrap="none" anchor="ctr"/>
          <a:lstStyle/>
          <a:p>
            <a:endParaRPr lang="fr-FR"/>
          </a:p>
        </p:txBody>
      </p:sp>
      <p:sp>
        <p:nvSpPr>
          <p:cNvPr id="39941" name="Text Box 8"/>
          <p:cNvSpPr txBox="1">
            <a:spLocks noChangeArrowheads="1"/>
          </p:cNvSpPr>
          <p:nvPr/>
        </p:nvSpPr>
        <p:spPr bwMode="auto">
          <a:xfrm>
            <a:off x="4000500" y="4610100"/>
            <a:ext cx="751744" cy="307777"/>
          </a:xfrm>
          <a:prstGeom prst="rect">
            <a:avLst/>
          </a:prstGeom>
          <a:noFill/>
          <a:ln w="9525">
            <a:noFill/>
            <a:miter lim="800000"/>
            <a:headEnd/>
            <a:tailEnd/>
          </a:ln>
        </p:spPr>
        <p:txBody>
          <a:bodyPr wrap="none">
            <a:spAutoFit/>
          </a:bodyPr>
          <a:lstStyle/>
          <a:p>
            <a:r>
              <a:rPr lang="fr-FR" sz="1400" dirty="0" err="1"/>
              <a:t>glycerol</a:t>
            </a:r>
            <a:endParaRPr lang="fr-FR" dirty="0">
              <a:solidFill>
                <a:srgbClr val="FF0000"/>
              </a:solidFill>
            </a:endParaRPr>
          </a:p>
        </p:txBody>
      </p:sp>
      <p:sp>
        <p:nvSpPr>
          <p:cNvPr id="39942" name="Text Box 9"/>
          <p:cNvSpPr txBox="1">
            <a:spLocks noChangeArrowheads="1"/>
          </p:cNvSpPr>
          <p:nvPr/>
        </p:nvSpPr>
        <p:spPr bwMode="auto">
          <a:xfrm>
            <a:off x="6554788" y="4610100"/>
            <a:ext cx="956287" cy="307777"/>
          </a:xfrm>
          <a:prstGeom prst="rect">
            <a:avLst/>
          </a:prstGeom>
          <a:noFill/>
          <a:ln w="9525">
            <a:noFill/>
            <a:miter lim="800000"/>
            <a:headEnd/>
            <a:tailEnd/>
          </a:ln>
        </p:spPr>
        <p:txBody>
          <a:bodyPr wrap="none">
            <a:spAutoFit/>
          </a:bodyPr>
          <a:lstStyle/>
          <a:p>
            <a:r>
              <a:rPr lang="fr-FR" sz="1400" dirty="0" err="1">
                <a:solidFill>
                  <a:srgbClr val="009900"/>
                </a:solidFill>
              </a:rPr>
              <a:t>Fatty</a:t>
            </a:r>
            <a:r>
              <a:rPr lang="fr-FR" sz="1400" dirty="0">
                <a:solidFill>
                  <a:srgbClr val="009900"/>
                </a:solidFill>
              </a:rPr>
              <a:t> </a:t>
            </a:r>
            <a:r>
              <a:rPr lang="fr-FR" sz="1400" dirty="0" err="1">
                <a:solidFill>
                  <a:srgbClr val="009900"/>
                </a:solidFill>
              </a:rPr>
              <a:t>acids</a:t>
            </a:r>
            <a:endParaRPr lang="fr-FR" dirty="0"/>
          </a:p>
        </p:txBody>
      </p:sp>
      <p:sp>
        <p:nvSpPr>
          <p:cNvPr id="39943" name="AutoShape 10"/>
          <p:cNvSpPr>
            <a:spLocks/>
          </p:cNvSpPr>
          <p:nvPr/>
        </p:nvSpPr>
        <p:spPr bwMode="auto">
          <a:xfrm rot="16200000" flipV="1">
            <a:off x="1270000" y="3327400"/>
            <a:ext cx="203200" cy="2362200"/>
          </a:xfrm>
          <a:prstGeom prst="leftBrace">
            <a:avLst>
              <a:gd name="adj1" fmla="val 73786"/>
              <a:gd name="adj2" fmla="val 50000"/>
            </a:avLst>
          </a:prstGeom>
          <a:noFill/>
          <a:ln w="9525">
            <a:solidFill>
              <a:srgbClr val="0000FF"/>
            </a:solidFill>
            <a:round/>
            <a:headEnd/>
            <a:tailEnd/>
          </a:ln>
        </p:spPr>
        <p:txBody>
          <a:bodyPr wrap="none" anchor="ctr"/>
          <a:lstStyle/>
          <a:p>
            <a:endParaRPr lang="fr-FR"/>
          </a:p>
        </p:txBody>
      </p:sp>
      <p:sp>
        <p:nvSpPr>
          <p:cNvPr id="39944" name="AutoShape 11"/>
          <p:cNvSpPr>
            <a:spLocks/>
          </p:cNvSpPr>
          <p:nvPr/>
        </p:nvSpPr>
        <p:spPr bwMode="auto">
          <a:xfrm rot="16200000" flipV="1">
            <a:off x="3035300" y="4038600"/>
            <a:ext cx="228600" cy="965200"/>
          </a:xfrm>
          <a:prstGeom prst="leftBrace">
            <a:avLst>
              <a:gd name="adj1" fmla="val 51019"/>
              <a:gd name="adj2" fmla="val 50000"/>
            </a:avLst>
          </a:prstGeom>
          <a:noFill/>
          <a:ln w="9525">
            <a:solidFill>
              <a:srgbClr val="FF0000"/>
            </a:solidFill>
            <a:round/>
            <a:headEnd/>
            <a:tailEnd/>
          </a:ln>
        </p:spPr>
        <p:txBody>
          <a:bodyPr wrap="none" anchor="ctr"/>
          <a:lstStyle/>
          <a:p>
            <a:endParaRPr lang="fr-FR"/>
          </a:p>
        </p:txBody>
      </p:sp>
      <p:sp>
        <p:nvSpPr>
          <p:cNvPr id="39945" name="Text Box 12"/>
          <p:cNvSpPr txBox="1">
            <a:spLocks noChangeArrowheads="1"/>
          </p:cNvSpPr>
          <p:nvPr/>
        </p:nvSpPr>
        <p:spPr bwMode="auto">
          <a:xfrm>
            <a:off x="2667000" y="4610100"/>
            <a:ext cx="1014413" cy="304800"/>
          </a:xfrm>
          <a:prstGeom prst="rect">
            <a:avLst/>
          </a:prstGeom>
          <a:noFill/>
          <a:ln w="9525">
            <a:noFill/>
            <a:miter lim="800000"/>
            <a:headEnd/>
            <a:tailEnd/>
          </a:ln>
        </p:spPr>
        <p:txBody>
          <a:bodyPr wrap="none">
            <a:spAutoFit/>
          </a:bodyPr>
          <a:lstStyle/>
          <a:p>
            <a:r>
              <a:rPr lang="fr-FR" sz="1400">
                <a:solidFill>
                  <a:srgbClr val="FF0000"/>
                </a:solidFill>
              </a:rPr>
              <a:t>phosphate</a:t>
            </a:r>
            <a:endParaRPr lang="fr-FR">
              <a:solidFill>
                <a:srgbClr val="FF0000"/>
              </a:solidFill>
            </a:endParaRPr>
          </a:p>
        </p:txBody>
      </p:sp>
      <p:sp>
        <p:nvSpPr>
          <p:cNvPr id="39946" name="Text Box 13"/>
          <p:cNvSpPr txBox="1">
            <a:spLocks noChangeArrowheads="1"/>
          </p:cNvSpPr>
          <p:nvPr/>
        </p:nvSpPr>
        <p:spPr bwMode="auto">
          <a:xfrm>
            <a:off x="1066800" y="4610100"/>
            <a:ext cx="649288" cy="304800"/>
          </a:xfrm>
          <a:prstGeom prst="rect">
            <a:avLst/>
          </a:prstGeom>
          <a:noFill/>
          <a:ln w="9525">
            <a:noFill/>
            <a:miter lim="800000"/>
            <a:headEnd/>
            <a:tailEnd/>
          </a:ln>
        </p:spPr>
        <p:txBody>
          <a:bodyPr wrap="none">
            <a:spAutoFit/>
          </a:bodyPr>
          <a:lstStyle/>
          <a:p>
            <a:r>
              <a:rPr lang="fr-FR" sz="1400">
                <a:solidFill>
                  <a:srgbClr val="0000FF"/>
                </a:solidFill>
              </a:rPr>
              <a:t>alcool</a:t>
            </a:r>
            <a:endParaRPr lang="fr-FR">
              <a:solidFill>
                <a:srgbClr val="FF0000"/>
              </a:solidFill>
            </a:endParaRPr>
          </a:p>
        </p:txBody>
      </p:sp>
      <p:sp>
        <p:nvSpPr>
          <p:cNvPr id="39947" name="Rectangle 14"/>
          <p:cNvSpPr>
            <a:spLocks noChangeArrowheads="1"/>
          </p:cNvSpPr>
          <p:nvPr/>
        </p:nvSpPr>
        <p:spPr bwMode="auto">
          <a:xfrm>
            <a:off x="5135563" y="2844800"/>
            <a:ext cx="3835400" cy="901700"/>
          </a:xfrm>
          <a:prstGeom prst="rect">
            <a:avLst/>
          </a:prstGeom>
          <a:solidFill>
            <a:schemeClr val="bg1"/>
          </a:solidFill>
          <a:ln w="9525">
            <a:solidFill>
              <a:srgbClr val="009900"/>
            </a:solidFill>
            <a:miter lim="800000"/>
            <a:headEnd/>
            <a:tailEnd/>
          </a:ln>
        </p:spPr>
        <p:txBody>
          <a:bodyPr wrap="none" anchor="ctr"/>
          <a:lstStyle/>
          <a:p>
            <a:endParaRPr lang="fr-FR"/>
          </a:p>
        </p:txBody>
      </p:sp>
      <p:sp>
        <p:nvSpPr>
          <p:cNvPr id="39948" name="Rectangle 15"/>
          <p:cNvSpPr>
            <a:spLocks noChangeArrowheads="1"/>
          </p:cNvSpPr>
          <p:nvPr/>
        </p:nvSpPr>
        <p:spPr bwMode="auto">
          <a:xfrm>
            <a:off x="5135563" y="1828800"/>
            <a:ext cx="1981200" cy="838200"/>
          </a:xfrm>
          <a:prstGeom prst="rect">
            <a:avLst/>
          </a:prstGeom>
          <a:solidFill>
            <a:schemeClr val="bg1"/>
          </a:solidFill>
          <a:ln w="9525">
            <a:solidFill>
              <a:srgbClr val="009900"/>
            </a:solidFill>
            <a:miter lim="800000"/>
            <a:headEnd/>
            <a:tailEnd/>
          </a:ln>
        </p:spPr>
        <p:txBody>
          <a:bodyPr wrap="none" anchor="ctr"/>
          <a:lstStyle/>
          <a:p>
            <a:endParaRPr lang="fr-FR"/>
          </a:p>
        </p:txBody>
      </p:sp>
      <p:sp>
        <p:nvSpPr>
          <p:cNvPr id="39949" name="Rectangle 16"/>
          <p:cNvSpPr>
            <a:spLocks noChangeArrowheads="1"/>
          </p:cNvSpPr>
          <p:nvPr/>
        </p:nvSpPr>
        <p:spPr bwMode="auto">
          <a:xfrm>
            <a:off x="3713163" y="2133600"/>
            <a:ext cx="1346200" cy="1943100"/>
          </a:xfrm>
          <a:prstGeom prst="rect">
            <a:avLst/>
          </a:prstGeom>
          <a:solidFill>
            <a:schemeClr val="bg1"/>
          </a:solidFill>
          <a:ln w="9525">
            <a:solidFill>
              <a:schemeClr val="tx1"/>
            </a:solidFill>
            <a:miter lim="800000"/>
            <a:headEnd/>
            <a:tailEnd/>
          </a:ln>
        </p:spPr>
        <p:txBody>
          <a:bodyPr wrap="none" anchor="ctr"/>
          <a:lstStyle/>
          <a:p>
            <a:endParaRPr lang="fr-FR"/>
          </a:p>
        </p:txBody>
      </p:sp>
      <p:sp>
        <p:nvSpPr>
          <p:cNvPr id="39950" name="Rectangle 17"/>
          <p:cNvSpPr>
            <a:spLocks noChangeArrowheads="1"/>
          </p:cNvSpPr>
          <p:nvPr/>
        </p:nvSpPr>
        <p:spPr bwMode="auto">
          <a:xfrm>
            <a:off x="182563" y="3187700"/>
            <a:ext cx="2374900" cy="1104900"/>
          </a:xfrm>
          <a:prstGeom prst="rect">
            <a:avLst/>
          </a:prstGeom>
          <a:solidFill>
            <a:schemeClr val="bg1"/>
          </a:solidFill>
          <a:ln w="9525">
            <a:solidFill>
              <a:srgbClr val="0000FF"/>
            </a:solidFill>
            <a:miter lim="800000"/>
            <a:headEnd/>
            <a:tailEnd/>
          </a:ln>
        </p:spPr>
        <p:txBody>
          <a:bodyPr wrap="none" anchor="ctr"/>
          <a:lstStyle/>
          <a:p>
            <a:endParaRPr lang="fr-FR"/>
          </a:p>
        </p:txBody>
      </p:sp>
      <p:sp>
        <p:nvSpPr>
          <p:cNvPr id="39951" name="Rectangle 18"/>
          <p:cNvSpPr>
            <a:spLocks noChangeArrowheads="1"/>
          </p:cNvSpPr>
          <p:nvPr/>
        </p:nvSpPr>
        <p:spPr bwMode="auto">
          <a:xfrm>
            <a:off x="2659063" y="3187700"/>
            <a:ext cx="965200" cy="1104900"/>
          </a:xfrm>
          <a:prstGeom prst="rect">
            <a:avLst/>
          </a:prstGeom>
          <a:solidFill>
            <a:schemeClr val="bg1"/>
          </a:solidFill>
          <a:ln w="9525">
            <a:solidFill>
              <a:srgbClr val="FF0000"/>
            </a:solidFill>
            <a:miter lim="800000"/>
            <a:headEnd/>
            <a:tailEnd/>
          </a:ln>
        </p:spPr>
        <p:txBody>
          <a:bodyPr wrap="none" anchor="ctr"/>
          <a:lstStyle/>
          <a:p>
            <a:endParaRPr lang="fr-FR"/>
          </a:p>
        </p:txBody>
      </p:sp>
      <p:sp>
        <p:nvSpPr>
          <p:cNvPr id="39952" name="Text Box 19"/>
          <p:cNvSpPr txBox="1">
            <a:spLocks noChangeArrowheads="1"/>
          </p:cNvSpPr>
          <p:nvPr/>
        </p:nvSpPr>
        <p:spPr bwMode="auto">
          <a:xfrm>
            <a:off x="4056063" y="2914650"/>
            <a:ext cx="477837" cy="336550"/>
          </a:xfrm>
          <a:prstGeom prst="rect">
            <a:avLst/>
          </a:prstGeom>
          <a:noFill/>
          <a:ln w="9525">
            <a:noFill/>
            <a:miter lim="800000"/>
            <a:headEnd/>
            <a:tailEnd/>
          </a:ln>
        </p:spPr>
        <p:txBody>
          <a:bodyPr wrap="none">
            <a:spAutoFit/>
          </a:bodyPr>
          <a:lstStyle/>
          <a:p>
            <a:r>
              <a:rPr lang="fr-FR" sz="1600" b="1"/>
              <a:t>HC</a:t>
            </a:r>
          </a:p>
        </p:txBody>
      </p:sp>
      <p:sp>
        <p:nvSpPr>
          <p:cNvPr id="39953" name="Text Box 20"/>
          <p:cNvSpPr txBox="1">
            <a:spLocks noChangeArrowheads="1"/>
          </p:cNvSpPr>
          <p:nvPr/>
        </p:nvSpPr>
        <p:spPr bwMode="auto">
          <a:xfrm>
            <a:off x="4665663" y="2927350"/>
            <a:ext cx="342900" cy="336550"/>
          </a:xfrm>
          <a:prstGeom prst="rect">
            <a:avLst/>
          </a:prstGeom>
          <a:noFill/>
          <a:ln w="9525">
            <a:noFill/>
            <a:miter lim="800000"/>
            <a:headEnd/>
            <a:tailEnd/>
          </a:ln>
        </p:spPr>
        <p:txBody>
          <a:bodyPr wrap="none">
            <a:spAutoFit/>
          </a:bodyPr>
          <a:lstStyle/>
          <a:p>
            <a:r>
              <a:rPr lang="fr-FR" sz="1600" b="1"/>
              <a:t>O</a:t>
            </a:r>
          </a:p>
        </p:txBody>
      </p:sp>
      <p:sp>
        <p:nvSpPr>
          <p:cNvPr id="39954" name="Text Box 21"/>
          <p:cNvSpPr txBox="1">
            <a:spLocks noChangeArrowheads="1"/>
          </p:cNvSpPr>
          <p:nvPr/>
        </p:nvSpPr>
        <p:spPr bwMode="auto">
          <a:xfrm>
            <a:off x="3967163" y="2289175"/>
            <a:ext cx="566737" cy="336550"/>
          </a:xfrm>
          <a:prstGeom prst="rect">
            <a:avLst/>
          </a:prstGeom>
          <a:noFill/>
          <a:ln w="9525">
            <a:noFill/>
            <a:miter lim="800000"/>
            <a:headEnd/>
            <a:tailEnd/>
          </a:ln>
        </p:spPr>
        <p:txBody>
          <a:bodyPr>
            <a:spAutoFit/>
          </a:bodyPr>
          <a:lstStyle/>
          <a:p>
            <a:r>
              <a:rPr lang="fr-FR" sz="1600" b="1"/>
              <a:t>H</a:t>
            </a:r>
            <a:r>
              <a:rPr lang="fr-FR" sz="1600" b="1" baseline="-25000"/>
              <a:t>2</a:t>
            </a:r>
            <a:r>
              <a:rPr lang="fr-FR" sz="1600" b="1"/>
              <a:t>C</a:t>
            </a:r>
          </a:p>
        </p:txBody>
      </p:sp>
      <p:sp>
        <p:nvSpPr>
          <p:cNvPr id="39955" name="Text Box 22"/>
          <p:cNvSpPr txBox="1">
            <a:spLocks noChangeArrowheads="1"/>
          </p:cNvSpPr>
          <p:nvPr/>
        </p:nvSpPr>
        <p:spPr bwMode="auto">
          <a:xfrm>
            <a:off x="4195763" y="3570288"/>
            <a:ext cx="566737" cy="336550"/>
          </a:xfrm>
          <a:prstGeom prst="rect">
            <a:avLst/>
          </a:prstGeom>
          <a:noFill/>
          <a:ln w="9525">
            <a:noFill/>
            <a:miter lim="800000"/>
            <a:headEnd/>
            <a:tailEnd/>
          </a:ln>
        </p:spPr>
        <p:txBody>
          <a:bodyPr>
            <a:spAutoFit/>
          </a:bodyPr>
          <a:lstStyle/>
          <a:p>
            <a:r>
              <a:rPr lang="fr-FR" sz="1600" b="1"/>
              <a:t>CH</a:t>
            </a:r>
            <a:r>
              <a:rPr lang="fr-FR" sz="1600" b="1" baseline="-25000"/>
              <a:t>2</a:t>
            </a:r>
            <a:endParaRPr lang="fr-FR" sz="1600" b="1">
              <a:solidFill>
                <a:srgbClr val="008000"/>
              </a:solidFill>
            </a:endParaRPr>
          </a:p>
        </p:txBody>
      </p:sp>
      <p:sp>
        <p:nvSpPr>
          <p:cNvPr id="39956" name="Text Box 26"/>
          <p:cNvSpPr txBox="1">
            <a:spLocks noChangeArrowheads="1"/>
          </p:cNvSpPr>
          <p:nvPr/>
        </p:nvSpPr>
        <p:spPr bwMode="auto">
          <a:xfrm>
            <a:off x="4646613" y="2301875"/>
            <a:ext cx="342900" cy="336550"/>
          </a:xfrm>
          <a:prstGeom prst="rect">
            <a:avLst/>
          </a:prstGeom>
          <a:noFill/>
          <a:ln w="9525">
            <a:noFill/>
            <a:miter lim="800000"/>
            <a:headEnd/>
            <a:tailEnd/>
          </a:ln>
        </p:spPr>
        <p:txBody>
          <a:bodyPr wrap="none">
            <a:spAutoFit/>
          </a:bodyPr>
          <a:lstStyle/>
          <a:p>
            <a:r>
              <a:rPr lang="fr-FR" sz="1600" b="1"/>
              <a:t>O</a:t>
            </a:r>
          </a:p>
        </p:txBody>
      </p:sp>
      <p:sp>
        <p:nvSpPr>
          <p:cNvPr id="39957" name="Text Box 29"/>
          <p:cNvSpPr txBox="1">
            <a:spLocks noChangeArrowheads="1"/>
          </p:cNvSpPr>
          <p:nvPr/>
        </p:nvSpPr>
        <p:spPr bwMode="auto">
          <a:xfrm>
            <a:off x="3211513" y="4013200"/>
            <a:ext cx="388937" cy="336550"/>
          </a:xfrm>
          <a:prstGeom prst="rect">
            <a:avLst/>
          </a:prstGeom>
          <a:noFill/>
          <a:ln w="9525">
            <a:noFill/>
            <a:miter lim="800000"/>
            <a:headEnd/>
            <a:tailEnd/>
          </a:ln>
        </p:spPr>
        <p:txBody>
          <a:bodyPr wrap="none">
            <a:spAutoFit/>
          </a:bodyPr>
          <a:lstStyle/>
          <a:p>
            <a:r>
              <a:rPr lang="fr-FR" sz="1600" b="1">
                <a:solidFill>
                  <a:srgbClr val="FF0000"/>
                </a:solidFill>
              </a:rPr>
              <a:t>O</a:t>
            </a:r>
            <a:r>
              <a:rPr lang="fr-FR" sz="1600" b="1" baseline="30000">
                <a:solidFill>
                  <a:srgbClr val="FF0000"/>
                </a:solidFill>
              </a:rPr>
              <a:t>-</a:t>
            </a:r>
            <a:endParaRPr lang="fr-FR" sz="1600" b="1">
              <a:solidFill>
                <a:srgbClr val="009900"/>
              </a:solidFill>
            </a:endParaRPr>
          </a:p>
        </p:txBody>
      </p:sp>
      <p:sp>
        <p:nvSpPr>
          <p:cNvPr id="39958" name="Line 30"/>
          <p:cNvSpPr>
            <a:spLocks noChangeShapeType="1"/>
          </p:cNvSpPr>
          <p:nvPr/>
        </p:nvSpPr>
        <p:spPr bwMode="auto">
          <a:xfrm>
            <a:off x="4360863" y="2622550"/>
            <a:ext cx="0" cy="323850"/>
          </a:xfrm>
          <a:prstGeom prst="line">
            <a:avLst/>
          </a:prstGeom>
          <a:noFill/>
          <a:ln w="19050">
            <a:solidFill>
              <a:schemeClr val="tx1"/>
            </a:solidFill>
            <a:round/>
            <a:headEnd/>
            <a:tailEnd/>
          </a:ln>
        </p:spPr>
        <p:txBody>
          <a:bodyPr wrap="none" anchor="ctr"/>
          <a:lstStyle/>
          <a:p>
            <a:endParaRPr lang="fr-FR"/>
          </a:p>
        </p:txBody>
      </p:sp>
      <p:sp>
        <p:nvSpPr>
          <p:cNvPr id="39959" name="Line 31"/>
          <p:cNvSpPr>
            <a:spLocks noChangeShapeType="1"/>
          </p:cNvSpPr>
          <p:nvPr/>
        </p:nvSpPr>
        <p:spPr bwMode="auto">
          <a:xfrm>
            <a:off x="4360863" y="3270250"/>
            <a:ext cx="0" cy="323850"/>
          </a:xfrm>
          <a:prstGeom prst="line">
            <a:avLst/>
          </a:prstGeom>
          <a:noFill/>
          <a:ln w="19050">
            <a:solidFill>
              <a:schemeClr val="tx1"/>
            </a:solidFill>
            <a:round/>
            <a:headEnd/>
            <a:tailEnd/>
          </a:ln>
        </p:spPr>
        <p:txBody>
          <a:bodyPr wrap="none" anchor="ctr"/>
          <a:lstStyle/>
          <a:p>
            <a:endParaRPr lang="fr-FR"/>
          </a:p>
        </p:txBody>
      </p:sp>
      <p:sp>
        <p:nvSpPr>
          <p:cNvPr id="39960" name="Text Box 33"/>
          <p:cNvSpPr txBox="1">
            <a:spLocks noChangeArrowheads="1"/>
          </p:cNvSpPr>
          <p:nvPr/>
        </p:nvSpPr>
        <p:spPr bwMode="auto">
          <a:xfrm>
            <a:off x="2074863" y="3570288"/>
            <a:ext cx="566737" cy="336550"/>
          </a:xfrm>
          <a:prstGeom prst="rect">
            <a:avLst/>
          </a:prstGeom>
          <a:noFill/>
          <a:ln w="9525">
            <a:noFill/>
            <a:miter lim="800000"/>
            <a:headEnd/>
            <a:tailEnd/>
          </a:ln>
        </p:spPr>
        <p:txBody>
          <a:bodyPr>
            <a:spAutoFit/>
          </a:bodyPr>
          <a:lstStyle/>
          <a:p>
            <a:r>
              <a:rPr lang="fr-FR" sz="1600" b="1">
                <a:solidFill>
                  <a:srgbClr val="0000FF"/>
                </a:solidFill>
              </a:rPr>
              <a:t>CH</a:t>
            </a:r>
            <a:r>
              <a:rPr lang="fr-FR" sz="1600" b="1" baseline="-25000">
                <a:solidFill>
                  <a:srgbClr val="0000FF"/>
                </a:solidFill>
              </a:rPr>
              <a:t>2</a:t>
            </a:r>
          </a:p>
        </p:txBody>
      </p:sp>
      <p:sp>
        <p:nvSpPr>
          <p:cNvPr id="39961" name="Text Box 34"/>
          <p:cNvSpPr txBox="1">
            <a:spLocks noChangeArrowheads="1"/>
          </p:cNvSpPr>
          <p:nvPr/>
        </p:nvSpPr>
        <p:spPr bwMode="auto">
          <a:xfrm>
            <a:off x="1439863" y="3570288"/>
            <a:ext cx="566737" cy="336550"/>
          </a:xfrm>
          <a:prstGeom prst="rect">
            <a:avLst/>
          </a:prstGeom>
          <a:noFill/>
          <a:ln w="9525">
            <a:noFill/>
            <a:miter lim="800000"/>
            <a:headEnd/>
            <a:tailEnd/>
          </a:ln>
        </p:spPr>
        <p:txBody>
          <a:bodyPr>
            <a:spAutoFit/>
          </a:bodyPr>
          <a:lstStyle/>
          <a:p>
            <a:r>
              <a:rPr lang="fr-FR" sz="1600" b="1">
                <a:solidFill>
                  <a:srgbClr val="0000FF"/>
                </a:solidFill>
              </a:rPr>
              <a:t>CH</a:t>
            </a:r>
            <a:r>
              <a:rPr lang="fr-FR" sz="1600" b="1" baseline="-25000">
                <a:solidFill>
                  <a:srgbClr val="0000FF"/>
                </a:solidFill>
              </a:rPr>
              <a:t>2</a:t>
            </a:r>
          </a:p>
        </p:txBody>
      </p:sp>
      <p:sp>
        <p:nvSpPr>
          <p:cNvPr id="39962" name="Text Box 36"/>
          <p:cNvSpPr txBox="1">
            <a:spLocks noChangeArrowheads="1"/>
          </p:cNvSpPr>
          <p:nvPr/>
        </p:nvSpPr>
        <p:spPr bwMode="auto">
          <a:xfrm>
            <a:off x="220663" y="3570288"/>
            <a:ext cx="566737" cy="336550"/>
          </a:xfrm>
          <a:prstGeom prst="rect">
            <a:avLst/>
          </a:prstGeom>
          <a:noFill/>
          <a:ln w="9525">
            <a:noFill/>
            <a:miter lim="800000"/>
            <a:headEnd/>
            <a:tailEnd/>
          </a:ln>
        </p:spPr>
        <p:txBody>
          <a:bodyPr>
            <a:spAutoFit/>
          </a:bodyPr>
          <a:lstStyle/>
          <a:p>
            <a:r>
              <a:rPr lang="fr-FR" sz="1600" b="1">
                <a:solidFill>
                  <a:srgbClr val="0000FF"/>
                </a:solidFill>
              </a:rPr>
              <a:t>H</a:t>
            </a:r>
            <a:r>
              <a:rPr lang="fr-FR" sz="1600" b="1" baseline="-25000">
                <a:solidFill>
                  <a:srgbClr val="0000FF"/>
                </a:solidFill>
              </a:rPr>
              <a:t>3</a:t>
            </a:r>
            <a:r>
              <a:rPr lang="fr-FR" sz="1600" b="1">
                <a:solidFill>
                  <a:srgbClr val="0000FF"/>
                </a:solidFill>
              </a:rPr>
              <a:t>C</a:t>
            </a:r>
          </a:p>
        </p:txBody>
      </p:sp>
      <p:sp>
        <p:nvSpPr>
          <p:cNvPr id="39963" name="Text Box 38"/>
          <p:cNvSpPr txBox="1">
            <a:spLocks noChangeArrowheads="1"/>
          </p:cNvSpPr>
          <p:nvPr/>
        </p:nvSpPr>
        <p:spPr bwMode="auto">
          <a:xfrm>
            <a:off x="6583363" y="2289175"/>
            <a:ext cx="566737" cy="336550"/>
          </a:xfrm>
          <a:prstGeom prst="rect">
            <a:avLst/>
          </a:prstGeom>
          <a:noFill/>
          <a:ln w="9525">
            <a:noFill/>
            <a:miter lim="800000"/>
            <a:headEnd/>
            <a:tailEnd/>
          </a:ln>
        </p:spPr>
        <p:txBody>
          <a:bodyPr>
            <a:spAutoFit/>
          </a:bodyPr>
          <a:lstStyle/>
          <a:p>
            <a:r>
              <a:rPr lang="fr-FR" sz="1600" b="1">
                <a:solidFill>
                  <a:srgbClr val="009900"/>
                </a:solidFill>
              </a:rPr>
              <a:t>CH</a:t>
            </a:r>
            <a:r>
              <a:rPr lang="fr-FR" sz="1600" b="1" baseline="-25000">
                <a:solidFill>
                  <a:srgbClr val="009900"/>
                </a:solidFill>
              </a:rPr>
              <a:t>3</a:t>
            </a:r>
          </a:p>
        </p:txBody>
      </p:sp>
      <p:sp>
        <p:nvSpPr>
          <p:cNvPr id="39964" name="Text Box 39"/>
          <p:cNvSpPr txBox="1">
            <a:spLocks noChangeArrowheads="1"/>
          </p:cNvSpPr>
          <p:nvPr/>
        </p:nvSpPr>
        <p:spPr bwMode="auto">
          <a:xfrm>
            <a:off x="8399463" y="2927350"/>
            <a:ext cx="566737" cy="336550"/>
          </a:xfrm>
          <a:prstGeom prst="rect">
            <a:avLst/>
          </a:prstGeom>
          <a:noFill/>
          <a:ln w="9525">
            <a:noFill/>
            <a:miter lim="800000"/>
            <a:headEnd/>
            <a:tailEnd/>
          </a:ln>
        </p:spPr>
        <p:txBody>
          <a:bodyPr>
            <a:spAutoFit/>
          </a:bodyPr>
          <a:lstStyle/>
          <a:p>
            <a:r>
              <a:rPr lang="fr-FR" sz="1600" b="1">
                <a:solidFill>
                  <a:srgbClr val="009900"/>
                </a:solidFill>
              </a:rPr>
              <a:t>CH</a:t>
            </a:r>
            <a:r>
              <a:rPr lang="fr-FR" sz="1600" b="1" baseline="-25000">
                <a:solidFill>
                  <a:srgbClr val="009900"/>
                </a:solidFill>
              </a:rPr>
              <a:t>3</a:t>
            </a:r>
          </a:p>
        </p:txBody>
      </p:sp>
      <p:sp>
        <p:nvSpPr>
          <p:cNvPr id="39965" name="Text Box 40"/>
          <p:cNvSpPr txBox="1">
            <a:spLocks noChangeArrowheads="1"/>
          </p:cNvSpPr>
          <p:nvPr/>
        </p:nvSpPr>
        <p:spPr bwMode="auto">
          <a:xfrm>
            <a:off x="5630863" y="2289175"/>
            <a:ext cx="846137" cy="336550"/>
          </a:xfrm>
          <a:prstGeom prst="rect">
            <a:avLst/>
          </a:prstGeom>
          <a:noFill/>
          <a:ln w="9525">
            <a:noFill/>
            <a:miter lim="800000"/>
            <a:headEnd/>
            <a:tailEnd/>
          </a:ln>
        </p:spPr>
        <p:txBody>
          <a:bodyPr>
            <a:spAutoFit/>
          </a:bodyPr>
          <a:lstStyle/>
          <a:p>
            <a:r>
              <a:rPr lang="fr-FR" sz="1600" b="1">
                <a:solidFill>
                  <a:srgbClr val="009900"/>
                </a:solidFill>
              </a:rPr>
              <a:t>(CH</a:t>
            </a:r>
            <a:r>
              <a:rPr lang="fr-FR" sz="1600" b="1" baseline="-25000">
                <a:solidFill>
                  <a:srgbClr val="009900"/>
                </a:solidFill>
              </a:rPr>
              <a:t>2</a:t>
            </a:r>
            <a:r>
              <a:rPr lang="fr-FR" sz="1600" b="1">
                <a:solidFill>
                  <a:srgbClr val="009900"/>
                </a:solidFill>
              </a:rPr>
              <a:t>)</a:t>
            </a:r>
            <a:r>
              <a:rPr lang="fr-FR" sz="1600" b="1" baseline="-25000">
                <a:solidFill>
                  <a:srgbClr val="009900"/>
                </a:solidFill>
              </a:rPr>
              <a:t>14</a:t>
            </a:r>
          </a:p>
        </p:txBody>
      </p:sp>
      <p:sp>
        <p:nvSpPr>
          <p:cNvPr id="39966" name="Text Box 41"/>
          <p:cNvSpPr txBox="1">
            <a:spLocks noChangeArrowheads="1"/>
          </p:cNvSpPr>
          <p:nvPr/>
        </p:nvSpPr>
        <p:spPr bwMode="auto">
          <a:xfrm>
            <a:off x="6507163" y="2924175"/>
            <a:ext cx="312737" cy="581025"/>
          </a:xfrm>
          <a:prstGeom prst="rect">
            <a:avLst/>
          </a:prstGeom>
          <a:noFill/>
          <a:ln w="9525">
            <a:noFill/>
            <a:miter lim="800000"/>
            <a:headEnd/>
            <a:tailEnd/>
          </a:ln>
        </p:spPr>
        <p:txBody>
          <a:bodyPr>
            <a:spAutoFit/>
          </a:bodyPr>
          <a:lstStyle/>
          <a:p>
            <a:r>
              <a:rPr lang="fr-FR" sz="1600" b="1">
                <a:solidFill>
                  <a:srgbClr val="009900"/>
                </a:solidFill>
              </a:rPr>
              <a:t>CH</a:t>
            </a:r>
            <a:endParaRPr lang="fr-FR" sz="1600" b="1" baseline="-25000">
              <a:solidFill>
                <a:srgbClr val="009900"/>
              </a:solidFill>
            </a:endParaRPr>
          </a:p>
        </p:txBody>
      </p:sp>
      <p:sp>
        <p:nvSpPr>
          <p:cNvPr id="39967" name="Text Box 42"/>
          <p:cNvSpPr txBox="1">
            <a:spLocks noChangeArrowheads="1"/>
          </p:cNvSpPr>
          <p:nvPr/>
        </p:nvSpPr>
        <p:spPr bwMode="auto">
          <a:xfrm>
            <a:off x="7497763" y="2927350"/>
            <a:ext cx="769937" cy="336550"/>
          </a:xfrm>
          <a:prstGeom prst="rect">
            <a:avLst/>
          </a:prstGeom>
          <a:noFill/>
          <a:ln w="9525">
            <a:noFill/>
            <a:miter lim="800000"/>
            <a:headEnd/>
            <a:tailEnd/>
          </a:ln>
        </p:spPr>
        <p:txBody>
          <a:bodyPr>
            <a:spAutoFit/>
          </a:bodyPr>
          <a:lstStyle/>
          <a:p>
            <a:r>
              <a:rPr lang="fr-FR" sz="1600" b="1">
                <a:solidFill>
                  <a:srgbClr val="009900"/>
                </a:solidFill>
              </a:rPr>
              <a:t>(CH</a:t>
            </a:r>
            <a:r>
              <a:rPr lang="fr-FR" sz="1600" b="1" baseline="-25000">
                <a:solidFill>
                  <a:srgbClr val="009900"/>
                </a:solidFill>
              </a:rPr>
              <a:t>2</a:t>
            </a:r>
            <a:r>
              <a:rPr lang="fr-FR" sz="1600" b="1">
                <a:solidFill>
                  <a:srgbClr val="009900"/>
                </a:solidFill>
              </a:rPr>
              <a:t>)</a:t>
            </a:r>
            <a:r>
              <a:rPr lang="fr-FR" sz="1600" b="1" baseline="-25000">
                <a:solidFill>
                  <a:srgbClr val="009900"/>
                </a:solidFill>
              </a:rPr>
              <a:t>7</a:t>
            </a:r>
          </a:p>
        </p:txBody>
      </p:sp>
      <p:sp>
        <p:nvSpPr>
          <p:cNvPr id="39968" name="Text Box 43"/>
          <p:cNvSpPr txBox="1">
            <a:spLocks noChangeArrowheads="1"/>
          </p:cNvSpPr>
          <p:nvPr/>
        </p:nvSpPr>
        <p:spPr bwMode="auto">
          <a:xfrm>
            <a:off x="5643563" y="2914650"/>
            <a:ext cx="769937" cy="336550"/>
          </a:xfrm>
          <a:prstGeom prst="rect">
            <a:avLst/>
          </a:prstGeom>
          <a:noFill/>
          <a:ln w="9525">
            <a:noFill/>
            <a:miter lim="800000"/>
            <a:headEnd/>
            <a:tailEnd/>
          </a:ln>
        </p:spPr>
        <p:txBody>
          <a:bodyPr>
            <a:spAutoFit/>
          </a:bodyPr>
          <a:lstStyle/>
          <a:p>
            <a:r>
              <a:rPr lang="fr-FR" sz="1600" b="1">
                <a:solidFill>
                  <a:srgbClr val="009900"/>
                </a:solidFill>
              </a:rPr>
              <a:t>(CH</a:t>
            </a:r>
            <a:r>
              <a:rPr lang="fr-FR" sz="1600" b="1" baseline="-25000">
                <a:solidFill>
                  <a:srgbClr val="009900"/>
                </a:solidFill>
              </a:rPr>
              <a:t>2</a:t>
            </a:r>
            <a:r>
              <a:rPr lang="fr-FR" sz="1600" b="1">
                <a:solidFill>
                  <a:srgbClr val="009900"/>
                </a:solidFill>
              </a:rPr>
              <a:t>)</a:t>
            </a:r>
            <a:r>
              <a:rPr lang="fr-FR" sz="1600" b="1" baseline="-25000">
                <a:solidFill>
                  <a:srgbClr val="009900"/>
                </a:solidFill>
              </a:rPr>
              <a:t>7</a:t>
            </a:r>
          </a:p>
        </p:txBody>
      </p:sp>
      <p:sp>
        <p:nvSpPr>
          <p:cNvPr id="39969" name="Text Box 44"/>
          <p:cNvSpPr txBox="1">
            <a:spLocks noChangeArrowheads="1"/>
          </p:cNvSpPr>
          <p:nvPr/>
        </p:nvSpPr>
        <p:spPr bwMode="auto">
          <a:xfrm>
            <a:off x="7040563" y="2924175"/>
            <a:ext cx="312737" cy="581025"/>
          </a:xfrm>
          <a:prstGeom prst="rect">
            <a:avLst/>
          </a:prstGeom>
          <a:noFill/>
          <a:ln w="9525">
            <a:noFill/>
            <a:miter lim="800000"/>
            <a:headEnd/>
            <a:tailEnd/>
          </a:ln>
        </p:spPr>
        <p:txBody>
          <a:bodyPr>
            <a:spAutoFit/>
          </a:bodyPr>
          <a:lstStyle/>
          <a:p>
            <a:r>
              <a:rPr lang="fr-FR" sz="1600" b="1">
                <a:solidFill>
                  <a:srgbClr val="009900"/>
                </a:solidFill>
              </a:rPr>
              <a:t>CH</a:t>
            </a:r>
            <a:endParaRPr lang="fr-FR" sz="1600" b="1" baseline="-25000">
              <a:solidFill>
                <a:srgbClr val="009900"/>
              </a:solidFill>
            </a:endParaRPr>
          </a:p>
        </p:txBody>
      </p:sp>
      <p:sp>
        <p:nvSpPr>
          <p:cNvPr id="39970" name="Text Box 45"/>
          <p:cNvSpPr txBox="1">
            <a:spLocks noChangeArrowheads="1"/>
          </p:cNvSpPr>
          <p:nvPr/>
        </p:nvSpPr>
        <p:spPr bwMode="auto">
          <a:xfrm>
            <a:off x="3211513" y="3149600"/>
            <a:ext cx="342900" cy="336550"/>
          </a:xfrm>
          <a:prstGeom prst="rect">
            <a:avLst/>
          </a:prstGeom>
          <a:noFill/>
          <a:ln w="9525">
            <a:noFill/>
            <a:miter lim="800000"/>
            <a:headEnd/>
            <a:tailEnd/>
          </a:ln>
        </p:spPr>
        <p:txBody>
          <a:bodyPr wrap="none">
            <a:spAutoFit/>
          </a:bodyPr>
          <a:lstStyle/>
          <a:p>
            <a:r>
              <a:rPr lang="fr-FR" sz="1600" b="1">
                <a:solidFill>
                  <a:srgbClr val="FF0000"/>
                </a:solidFill>
              </a:rPr>
              <a:t>O</a:t>
            </a:r>
            <a:endParaRPr lang="fr-FR" sz="1600" b="1">
              <a:solidFill>
                <a:srgbClr val="009900"/>
              </a:solidFill>
            </a:endParaRPr>
          </a:p>
        </p:txBody>
      </p:sp>
      <p:sp>
        <p:nvSpPr>
          <p:cNvPr id="39971" name="Text Box 46"/>
          <p:cNvSpPr txBox="1">
            <a:spLocks noChangeArrowheads="1"/>
          </p:cNvSpPr>
          <p:nvPr/>
        </p:nvSpPr>
        <p:spPr bwMode="auto">
          <a:xfrm>
            <a:off x="2741613" y="3570288"/>
            <a:ext cx="342900" cy="336550"/>
          </a:xfrm>
          <a:prstGeom prst="rect">
            <a:avLst/>
          </a:prstGeom>
          <a:noFill/>
          <a:ln w="9525">
            <a:noFill/>
            <a:miter lim="800000"/>
            <a:headEnd/>
            <a:tailEnd/>
          </a:ln>
        </p:spPr>
        <p:txBody>
          <a:bodyPr wrap="none">
            <a:spAutoFit/>
          </a:bodyPr>
          <a:lstStyle/>
          <a:p>
            <a:r>
              <a:rPr lang="fr-FR" sz="1600" b="1">
                <a:solidFill>
                  <a:srgbClr val="FF0000"/>
                </a:solidFill>
              </a:rPr>
              <a:t>O</a:t>
            </a:r>
            <a:endParaRPr lang="fr-FR" sz="1600" b="1">
              <a:solidFill>
                <a:srgbClr val="009900"/>
              </a:solidFill>
            </a:endParaRPr>
          </a:p>
        </p:txBody>
      </p:sp>
      <p:sp>
        <p:nvSpPr>
          <p:cNvPr id="39972" name="Text Box 47"/>
          <p:cNvSpPr txBox="1">
            <a:spLocks noChangeArrowheads="1"/>
          </p:cNvSpPr>
          <p:nvPr/>
        </p:nvSpPr>
        <p:spPr bwMode="auto">
          <a:xfrm>
            <a:off x="3224213" y="3570288"/>
            <a:ext cx="319087" cy="336550"/>
          </a:xfrm>
          <a:prstGeom prst="rect">
            <a:avLst/>
          </a:prstGeom>
          <a:noFill/>
          <a:ln w="9525">
            <a:noFill/>
            <a:miter lim="800000"/>
            <a:headEnd/>
            <a:tailEnd/>
          </a:ln>
        </p:spPr>
        <p:txBody>
          <a:bodyPr wrap="none">
            <a:spAutoFit/>
          </a:bodyPr>
          <a:lstStyle/>
          <a:p>
            <a:r>
              <a:rPr lang="fr-FR" sz="1600" b="1">
                <a:solidFill>
                  <a:srgbClr val="FF0000"/>
                </a:solidFill>
              </a:rPr>
              <a:t>P</a:t>
            </a:r>
            <a:endParaRPr lang="fr-FR" sz="1600" b="1">
              <a:solidFill>
                <a:srgbClr val="009900"/>
              </a:solidFill>
            </a:endParaRPr>
          </a:p>
        </p:txBody>
      </p:sp>
      <p:sp>
        <p:nvSpPr>
          <p:cNvPr id="39973" name="Text Box 48"/>
          <p:cNvSpPr txBox="1">
            <a:spLocks noChangeArrowheads="1"/>
          </p:cNvSpPr>
          <p:nvPr/>
        </p:nvSpPr>
        <p:spPr bwMode="auto">
          <a:xfrm>
            <a:off x="912813" y="3570288"/>
            <a:ext cx="412750" cy="336550"/>
          </a:xfrm>
          <a:prstGeom prst="rect">
            <a:avLst/>
          </a:prstGeom>
          <a:noFill/>
          <a:ln w="9525">
            <a:noFill/>
            <a:miter lim="800000"/>
            <a:headEnd/>
            <a:tailEnd/>
          </a:ln>
        </p:spPr>
        <p:txBody>
          <a:bodyPr wrap="none">
            <a:spAutoFit/>
          </a:bodyPr>
          <a:lstStyle/>
          <a:p>
            <a:r>
              <a:rPr lang="fr-FR" sz="1600" b="1">
                <a:solidFill>
                  <a:srgbClr val="0000FF"/>
                </a:solidFill>
              </a:rPr>
              <a:t>N</a:t>
            </a:r>
            <a:r>
              <a:rPr lang="fr-FR" sz="1600" b="1" baseline="30000">
                <a:solidFill>
                  <a:srgbClr val="0000FF"/>
                </a:solidFill>
              </a:rPr>
              <a:t>+</a:t>
            </a:r>
            <a:endParaRPr lang="fr-FR" sz="1600" b="1">
              <a:solidFill>
                <a:srgbClr val="0000FF"/>
              </a:solidFill>
            </a:endParaRPr>
          </a:p>
        </p:txBody>
      </p:sp>
      <p:sp>
        <p:nvSpPr>
          <p:cNvPr id="39974" name="Text Box 49"/>
          <p:cNvSpPr txBox="1">
            <a:spLocks noChangeArrowheads="1"/>
          </p:cNvSpPr>
          <p:nvPr/>
        </p:nvSpPr>
        <p:spPr bwMode="auto">
          <a:xfrm>
            <a:off x="5186363" y="2927350"/>
            <a:ext cx="300037" cy="336550"/>
          </a:xfrm>
          <a:prstGeom prst="rect">
            <a:avLst/>
          </a:prstGeom>
          <a:noFill/>
          <a:ln w="9525">
            <a:noFill/>
            <a:miter lim="800000"/>
            <a:headEnd/>
            <a:tailEnd/>
          </a:ln>
        </p:spPr>
        <p:txBody>
          <a:bodyPr>
            <a:spAutoFit/>
          </a:bodyPr>
          <a:lstStyle/>
          <a:p>
            <a:r>
              <a:rPr lang="fr-FR" sz="1600" b="1">
                <a:solidFill>
                  <a:srgbClr val="009900"/>
                </a:solidFill>
              </a:rPr>
              <a:t>C</a:t>
            </a:r>
            <a:endParaRPr lang="fr-FR" sz="1600" b="1" baseline="-25000">
              <a:solidFill>
                <a:srgbClr val="009900"/>
              </a:solidFill>
            </a:endParaRPr>
          </a:p>
        </p:txBody>
      </p:sp>
      <p:sp>
        <p:nvSpPr>
          <p:cNvPr id="39975" name="Text Box 50"/>
          <p:cNvSpPr txBox="1">
            <a:spLocks noChangeArrowheads="1"/>
          </p:cNvSpPr>
          <p:nvPr/>
        </p:nvSpPr>
        <p:spPr bwMode="auto">
          <a:xfrm>
            <a:off x="5199063" y="3406775"/>
            <a:ext cx="300037" cy="336550"/>
          </a:xfrm>
          <a:prstGeom prst="rect">
            <a:avLst/>
          </a:prstGeom>
          <a:noFill/>
          <a:ln w="9525">
            <a:noFill/>
            <a:miter lim="800000"/>
            <a:headEnd/>
            <a:tailEnd/>
          </a:ln>
        </p:spPr>
        <p:txBody>
          <a:bodyPr>
            <a:spAutoFit/>
          </a:bodyPr>
          <a:lstStyle/>
          <a:p>
            <a:r>
              <a:rPr lang="fr-FR" sz="1600" b="1">
                <a:solidFill>
                  <a:srgbClr val="009900"/>
                </a:solidFill>
              </a:rPr>
              <a:t>O</a:t>
            </a:r>
            <a:endParaRPr lang="fr-FR" sz="1600" b="1" baseline="-25000">
              <a:solidFill>
                <a:srgbClr val="009900"/>
              </a:solidFill>
            </a:endParaRPr>
          </a:p>
        </p:txBody>
      </p:sp>
      <p:sp>
        <p:nvSpPr>
          <p:cNvPr id="39976" name="Text Box 51"/>
          <p:cNvSpPr txBox="1">
            <a:spLocks noChangeArrowheads="1"/>
          </p:cNvSpPr>
          <p:nvPr/>
        </p:nvSpPr>
        <p:spPr bwMode="auto">
          <a:xfrm>
            <a:off x="360363" y="3940175"/>
            <a:ext cx="566737" cy="336550"/>
          </a:xfrm>
          <a:prstGeom prst="rect">
            <a:avLst/>
          </a:prstGeom>
          <a:noFill/>
          <a:ln w="9525">
            <a:noFill/>
            <a:miter lim="800000"/>
            <a:headEnd/>
            <a:tailEnd/>
          </a:ln>
        </p:spPr>
        <p:txBody>
          <a:bodyPr>
            <a:spAutoFit/>
          </a:bodyPr>
          <a:lstStyle/>
          <a:p>
            <a:r>
              <a:rPr lang="fr-FR" sz="1600" b="1">
                <a:solidFill>
                  <a:srgbClr val="0000FF"/>
                </a:solidFill>
              </a:rPr>
              <a:t>H</a:t>
            </a:r>
            <a:r>
              <a:rPr lang="fr-FR" sz="1600" b="1" baseline="-25000">
                <a:solidFill>
                  <a:srgbClr val="0000FF"/>
                </a:solidFill>
              </a:rPr>
              <a:t>3</a:t>
            </a:r>
            <a:r>
              <a:rPr lang="fr-FR" sz="1600" b="1">
                <a:solidFill>
                  <a:srgbClr val="0000FF"/>
                </a:solidFill>
              </a:rPr>
              <a:t>C</a:t>
            </a:r>
          </a:p>
        </p:txBody>
      </p:sp>
      <p:sp>
        <p:nvSpPr>
          <p:cNvPr id="39977" name="Text Box 52"/>
          <p:cNvSpPr txBox="1">
            <a:spLocks noChangeArrowheads="1"/>
          </p:cNvSpPr>
          <p:nvPr/>
        </p:nvSpPr>
        <p:spPr bwMode="auto">
          <a:xfrm>
            <a:off x="347663" y="3152775"/>
            <a:ext cx="566737" cy="336550"/>
          </a:xfrm>
          <a:prstGeom prst="rect">
            <a:avLst/>
          </a:prstGeom>
          <a:noFill/>
          <a:ln w="9525">
            <a:noFill/>
            <a:miter lim="800000"/>
            <a:headEnd/>
            <a:tailEnd/>
          </a:ln>
        </p:spPr>
        <p:txBody>
          <a:bodyPr>
            <a:spAutoFit/>
          </a:bodyPr>
          <a:lstStyle/>
          <a:p>
            <a:r>
              <a:rPr lang="fr-FR" sz="1600" b="1">
                <a:solidFill>
                  <a:srgbClr val="0000FF"/>
                </a:solidFill>
              </a:rPr>
              <a:t>H</a:t>
            </a:r>
            <a:r>
              <a:rPr lang="fr-FR" sz="1600" b="1" baseline="-25000">
                <a:solidFill>
                  <a:srgbClr val="0000FF"/>
                </a:solidFill>
              </a:rPr>
              <a:t>3</a:t>
            </a:r>
            <a:r>
              <a:rPr lang="fr-FR" sz="1600" b="1">
                <a:solidFill>
                  <a:srgbClr val="0000FF"/>
                </a:solidFill>
              </a:rPr>
              <a:t>C</a:t>
            </a:r>
          </a:p>
        </p:txBody>
      </p:sp>
      <p:sp>
        <p:nvSpPr>
          <p:cNvPr id="39978" name="Line 53"/>
          <p:cNvSpPr>
            <a:spLocks noChangeShapeType="1"/>
          </p:cNvSpPr>
          <p:nvPr/>
        </p:nvSpPr>
        <p:spPr bwMode="auto">
          <a:xfrm>
            <a:off x="4945063" y="3095625"/>
            <a:ext cx="263525" cy="0"/>
          </a:xfrm>
          <a:prstGeom prst="line">
            <a:avLst/>
          </a:prstGeom>
          <a:noFill/>
          <a:ln w="19050">
            <a:solidFill>
              <a:schemeClr val="tx1"/>
            </a:solidFill>
            <a:round/>
            <a:headEnd/>
            <a:tailEnd/>
          </a:ln>
        </p:spPr>
        <p:txBody>
          <a:bodyPr wrap="none" anchor="ctr"/>
          <a:lstStyle/>
          <a:p>
            <a:endParaRPr lang="fr-FR"/>
          </a:p>
        </p:txBody>
      </p:sp>
      <p:grpSp>
        <p:nvGrpSpPr>
          <p:cNvPr id="2" name="Group 60"/>
          <p:cNvGrpSpPr>
            <a:grpSpLocks/>
          </p:cNvGrpSpPr>
          <p:nvPr/>
        </p:nvGrpSpPr>
        <p:grpSpPr bwMode="auto">
          <a:xfrm>
            <a:off x="6786563" y="3063875"/>
            <a:ext cx="263525" cy="63500"/>
            <a:chOff x="4504" y="1928"/>
            <a:chExt cx="166" cy="40"/>
          </a:xfrm>
        </p:grpSpPr>
        <p:sp>
          <p:nvSpPr>
            <p:cNvPr id="40014" name="Line 58"/>
            <p:cNvSpPr>
              <a:spLocks noChangeShapeType="1"/>
            </p:cNvSpPr>
            <p:nvPr/>
          </p:nvSpPr>
          <p:spPr bwMode="auto">
            <a:xfrm>
              <a:off x="4504" y="1928"/>
              <a:ext cx="166" cy="0"/>
            </a:xfrm>
            <a:prstGeom prst="line">
              <a:avLst/>
            </a:prstGeom>
            <a:noFill/>
            <a:ln w="19050">
              <a:solidFill>
                <a:srgbClr val="009900"/>
              </a:solidFill>
              <a:round/>
              <a:headEnd/>
              <a:tailEnd/>
            </a:ln>
          </p:spPr>
          <p:txBody>
            <a:bodyPr wrap="none" anchor="ctr"/>
            <a:lstStyle/>
            <a:p>
              <a:endParaRPr lang="fr-FR"/>
            </a:p>
          </p:txBody>
        </p:sp>
        <p:sp>
          <p:nvSpPr>
            <p:cNvPr id="40015" name="Line 59"/>
            <p:cNvSpPr>
              <a:spLocks noChangeShapeType="1"/>
            </p:cNvSpPr>
            <p:nvPr/>
          </p:nvSpPr>
          <p:spPr bwMode="auto">
            <a:xfrm>
              <a:off x="4504" y="1968"/>
              <a:ext cx="166" cy="0"/>
            </a:xfrm>
            <a:prstGeom prst="line">
              <a:avLst/>
            </a:prstGeom>
            <a:noFill/>
            <a:ln w="19050">
              <a:solidFill>
                <a:srgbClr val="009900"/>
              </a:solidFill>
              <a:round/>
              <a:headEnd/>
              <a:tailEnd/>
            </a:ln>
          </p:spPr>
          <p:txBody>
            <a:bodyPr wrap="none" anchor="ctr"/>
            <a:lstStyle/>
            <a:p>
              <a:endParaRPr lang="fr-FR"/>
            </a:p>
          </p:txBody>
        </p:sp>
      </p:grpSp>
      <p:sp>
        <p:nvSpPr>
          <p:cNvPr id="39980" name="Text Box 61"/>
          <p:cNvSpPr txBox="1">
            <a:spLocks noChangeArrowheads="1"/>
          </p:cNvSpPr>
          <p:nvPr/>
        </p:nvSpPr>
        <p:spPr bwMode="auto">
          <a:xfrm>
            <a:off x="5199063" y="2305050"/>
            <a:ext cx="300037" cy="336550"/>
          </a:xfrm>
          <a:prstGeom prst="rect">
            <a:avLst/>
          </a:prstGeom>
          <a:noFill/>
          <a:ln w="9525">
            <a:noFill/>
            <a:miter lim="800000"/>
            <a:headEnd/>
            <a:tailEnd/>
          </a:ln>
        </p:spPr>
        <p:txBody>
          <a:bodyPr>
            <a:spAutoFit/>
          </a:bodyPr>
          <a:lstStyle/>
          <a:p>
            <a:r>
              <a:rPr lang="fr-FR" sz="1600" b="1">
                <a:solidFill>
                  <a:srgbClr val="009900"/>
                </a:solidFill>
              </a:rPr>
              <a:t>C</a:t>
            </a:r>
            <a:endParaRPr lang="fr-FR" sz="1600" b="1" baseline="-25000">
              <a:solidFill>
                <a:srgbClr val="009900"/>
              </a:solidFill>
            </a:endParaRPr>
          </a:p>
        </p:txBody>
      </p:sp>
      <p:sp>
        <p:nvSpPr>
          <p:cNvPr id="39981" name="Text Box 62"/>
          <p:cNvSpPr txBox="1">
            <a:spLocks noChangeArrowheads="1"/>
          </p:cNvSpPr>
          <p:nvPr/>
        </p:nvSpPr>
        <p:spPr bwMode="auto">
          <a:xfrm>
            <a:off x="5199063" y="1781175"/>
            <a:ext cx="300037" cy="336550"/>
          </a:xfrm>
          <a:prstGeom prst="rect">
            <a:avLst/>
          </a:prstGeom>
          <a:noFill/>
          <a:ln w="9525">
            <a:noFill/>
            <a:miter lim="800000"/>
            <a:headEnd/>
            <a:tailEnd/>
          </a:ln>
        </p:spPr>
        <p:txBody>
          <a:bodyPr>
            <a:spAutoFit/>
          </a:bodyPr>
          <a:lstStyle/>
          <a:p>
            <a:r>
              <a:rPr lang="fr-FR" sz="1600" b="1">
                <a:solidFill>
                  <a:srgbClr val="009900"/>
                </a:solidFill>
              </a:rPr>
              <a:t>O</a:t>
            </a:r>
            <a:endParaRPr lang="fr-FR" sz="1600" b="1" baseline="-25000">
              <a:solidFill>
                <a:srgbClr val="009900"/>
              </a:solidFill>
            </a:endParaRPr>
          </a:p>
        </p:txBody>
      </p:sp>
      <p:sp>
        <p:nvSpPr>
          <p:cNvPr id="39982" name="Line 63"/>
          <p:cNvSpPr>
            <a:spLocks noChangeShapeType="1"/>
          </p:cNvSpPr>
          <p:nvPr/>
        </p:nvSpPr>
        <p:spPr bwMode="auto">
          <a:xfrm>
            <a:off x="4957763" y="2473325"/>
            <a:ext cx="263525" cy="0"/>
          </a:xfrm>
          <a:prstGeom prst="line">
            <a:avLst/>
          </a:prstGeom>
          <a:noFill/>
          <a:ln w="19050">
            <a:solidFill>
              <a:schemeClr val="tx1"/>
            </a:solidFill>
            <a:round/>
            <a:headEnd/>
            <a:tailEnd/>
          </a:ln>
        </p:spPr>
        <p:txBody>
          <a:bodyPr wrap="none" anchor="ctr"/>
          <a:lstStyle/>
          <a:p>
            <a:endParaRPr lang="fr-FR"/>
          </a:p>
        </p:txBody>
      </p:sp>
      <p:grpSp>
        <p:nvGrpSpPr>
          <p:cNvPr id="3" name="Group 68"/>
          <p:cNvGrpSpPr>
            <a:grpSpLocks/>
          </p:cNvGrpSpPr>
          <p:nvPr/>
        </p:nvGrpSpPr>
        <p:grpSpPr bwMode="auto">
          <a:xfrm>
            <a:off x="5326063" y="3219450"/>
            <a:ext cx="74612" cy="234950"/>
            <a:chOff x="3496" y="2156"/>
            <a:chExt cx="40" cy="204"/>
          </a:xfrm>
        </p:grpSpPr>
        <p:sp>
          <p:nvSpPr>
            <p:cNvPr id="40012" name="Line 66"/>
            <p:cNvSpPr>
              <a:spLocks noChangeShapeType="1"/>
            </p:cNvSpPr>
            <p:nvPr/>
          </p:nvSpPr>
          <p:spPr bwMode="auto">
            <a:xfrm>
              <a:off x="3496" y="2156"/>
              <a:ext cx="0" cy="204"/>
            </a:xfrm>
            <a:prstGeom prst="line">
              <a:avLst/>
            </a:prstGeom>
            <a:noFill/>
            <a:ln w="19050">
              <a:solidFill>
                <a:srgbClr val="009900"/>
              </a:solidFill>
              <a:round/>
              <a:headEnd/>
              <a:tailEnd/>
            </a:ln>
          </p:spPr>
          <p:txBody>
            <a:bodyPr wrap="none" anchor="ctr"/>
            <a:lstStyle/>
            <a:p>
              <a:endParaRPr lang="fr-FR"/>
            </a:p>
          </p:txBody>
        </p:sp>
        <p:sp>
          <p:nvSpPr>
            <p:cNvPr id="40013" name="Line 67"/>
            <p:cNvSpPr>
              <a:spLocks noChangeShapeType="1"/>
            </p:cNvSpPr>
            <p:nvPr/>
          </p:nvSpPr>
          <p:spPr bwMode="auto">
            <a:xfrm>
              <a:off x="3536" y="2156"/>
              <a:ext cx="0" cy="204"/>
            </a:xfrm>
            <a:prstGeom prst="line">
              <a:avLst/>
            </a:prstGeom>
            <a:noFill/>
            <a:ln w="19050">
              <a:solidFill>
                <a:srgbClr val="009900"/>
              </a:solidFill>
              <a:round/>
              <a:headEnd/>
              <a:tailEnd/>
            </a:ln>
          </p:spPr>
          <p:txBody>
            <a:bodyPr wrap="none" anchor="ctr"/>
            <a:lstStyle/>
            <a:p>
              <a:endParaRPr lang="fr-FR"/>
            </a:p>
          </p:txBody>
        </p:sp>
      </p:grpSp>
      <p:grpSp>
        <p:nvGrpSpPr>
          <p:cNvPr id="4" name="Group 69"/>
          <p:cNvGrpSpPr>
            <a:grpSpLocks/>
          </p:cNvGrpSpPr>
          <p:nvPr/>
        </p:nvGrpSpPr>
        <p:grpSpPr bwMode="auto">
          <a:xfrm>
            <a:off x="5326063" y="2089150"/>
            <a:ext cx="74612" cy="260350"/>
            <a:chOff x="3496" y="2156"/>
            <a:chExt cx="40" cy="204"/>
          </a:xfrm>
        </p:grpSpPr>
        <p:sp>
          <p:nvSpPr>
            <p:cNvPr id="40010" name="Line 70"/>
            <p:cNvSpPr>
              <a:spLocks noChangeShapeType="1"/>
            </p:cNvSpPr>
            <p:nvPr/>
          </p:nvSpPr>
          <p:spPr bwMode="auto">
            <a:xfrm>
              <a:off x="3496" y="2156"/>
              <a:ext cx="0" cy="204"/>
            </a:xfrm>
            <a:prstGeom prst="line">
              <a:avLst/>
            </a:prstGeom>
            <a:noFill/>
            <a:ln w="19050">
              <a:solidFill>
                <a:srgbClr val="009900"/>
              </a:solidFill>
              <a:round/>
              <a:headEnd/>
              <a:tailEnd/>
            </a:ln>
          </p:spPr>
          <p:txBody>
            <a:bodyPr wrap="none" anchor="ctr"/>
            <a:lstStyle/>
            <a:p>
              <a:endParaRPr lang="fr-FR"/>
            </a:p>
          </p:txBody>
        </p:sp>
        <p:sp>
          <p:nvSpPr>
            <p:cNvPr id="40011" name="Line 71"/>
            <p:cNvSpPr>
              <a:spLocks noChangeShapeType="1"/>
            </p:cNvSpPr>
            <p:nvPr/>
          </p:nvSpPr>
          <p:spPr bwMode="auto">
            <a:xfrm>
              <a:off x="3536" y="2156"/>
              <a:ext cx="0" cy="204"/>
            </a:xfrm>
            <a:prstGeom prst="line">
              <a:avLst/>
            </a:prstGeom>
            <a:noFill/>
            <a:ln w="19050">
              <a:solidFill>
                <a:srgbClr val="009900"/>
              </a:solidFill>
              <a:round/>
              <a:headEnd/>
              <a:tailEnd/>
            </a:ln>
          </p:spPr>
          <p:txBody>
            <a:bodyPr wrap="none" anchor="ctr"/>
            <a:lstStyle/>
            <a:p>
              <a:endParaRPr lang="fr-FR"/>
            </a:p>
          </p:txBody>
        </p:sp>
      </p:grpSp>
      <p:sp>
        <p:nvSpPr>
          <p:cNvPr id="39985" name="Line 72"/>
          <p:cNvSpPr>
            <a:spLocks noChangeShapeType="1"/>
          </p:cNvSpPr>
          <p:nvPr/>
        </p:nvSpPr>
        <p:spPr bwMode="auto">
          <a:xfrm>
            <a:off x="3535363" y="3738563"/>
            <a:ext cx="263525" cy="0"/>
          </a:xfrm>
          <a:prstGeom prst="line">
            <a:avLst/>
          </a:prstGeom>
          <a:noFill/>
          <a:ln w="19050">
            <a:solidFill>
              <a:schemeClr val="tx1"/>
            </a:solidFill>
            <a:round/>
            <a:headEnd/>
            <a:tailEnd/>
          </a:ln>
        </p:spPr>
        <p:txBody>
          <a:bodyPr wrap="none" anchor="ctr"/>
          <a:lstStyle/>
          <a:p>
            <a:endParaRPr lang="fr-FR"/>
          </a:p>
        </p:txBody>
      </p:sp>
      <p:sp>
        <p:nvSpPr>
          <p:cNvPr id="39986" name="Text Box 79"/>
          <p:cNvSpPr txBox="1">
            <a:spLocks noChangeArrowheads="1"/>
          </p:cNvSpPr>
          <p:nvPr/>
        </p:nvSpPr>
        <p:spPr bwMode="auto">
          <a:xfrm>
            <a:off x="3744913" y="3570288"/>
            <a:ext cx="342900" cy="336550"/>
          </a:xfrm>
          <a:prstGeom prst="rect">
            <a:avLst/>
          </a:prstGeom>
          <a:noFill/>
          <a:ln w="9525">
            <a:noFill/>
            <a:miter lim="800000"/>
            <a:headEnd/>
            <a:tailEnd/>
          </a:ln>
        </p:spPr>
        <p:txBody>
          <a:bodyPr wrap="none">
            <a:spAutoFit/>
          </a:bodyPr>
          <a:lstStyle/>
          <a:p>
            <a:r>
              <a:rPr lang="fr-FR" sz="1600" b="1"/>
              <a:t>O</a:t>
            </a:r>
            <a:endParaRPr lang="fr-FR" sz="1600" b="1">
              <a:solidFill>
                <a:srgbClr val="009900"/>
              </a:solidFill>
            </a:endParaRPr>
          </a:p>
        </p:txBody>
      </p:sp>
      <p:sp>
        <p:nvSpPr>
          <p:cNvPr id="39987" name="Line 81"/>
          <p:cNvSpPr>
            <a:spLocks noChangeShapeType="1"/>
          </p:cNvSpPr>
          <p:nvPr/>
        </p:nvSpPr>
        <p:spPr bwMode="auto">
          <a:xfrm>
            <a:off x="5453063" y="3095625"/>
            <a:ext cx="225425" cy="0"/>
          </a:xfrm>
          <a:prstGeom prst="line">
            <a:avLst/>
          </a:prstGeom>
          <a:noFill/>
          <a:ln w="19050">
            <a:solidFill>
              <a:srgbClr val="009900"/>
            </a:solidFill>
            <a:round/>
            <a:headEnd/>
            <a:tailEnd/>
          </a:ln>
        </p:spPr>
        <p:txBody>
          <a:bodyPr wrap="none" anchor="ctr"/>
          <a:lstStyle/>
          <a:p>
            <a:endParaRPr lang="fr-FR"/>
          </a:p>
        </p:txBody>
      </p:sp>
      <p:sp>
        <p:nvSpPr>
          <p:cNvPr id="39988" name="Line 82"/>
          <p:cNvSpPr>
            <a:spLocks noChangeShapeType="1"/>
          </p:cNvSpPr>
          <p:nvPr/>
        </p:nvSpPr>
        <p:spPr bwMode="auto">
          <a:xfrm>
            <a:off x="6329363" y="3095625"/>
            <a:ext cx="225425" cy="0"/>
          </a:xfrm>
          <a:prstGeom prst="line">
            <a:avLst/>
          </a:prstGeom>
          <a:noFill/>
          <a:ln w="19050">
            <a:solidFill>
              <a:srgbClr val="009900"/>
            </a:solidFill>
            <a:round/>
            <a:headEnd/>
            <a:tailEnd/>
          </a:ln>
        </p:spPr>
        <p:txBody>
          <a:bodyPr wrap="none" anchor="ctr"/>
          <a:lstStyle/>
          <a:p>
            <a:endParaRPr lang="fr-FR"/>
          </a:p>
        </p:txBody>
      </p:sp>
      <p:sp>
        <p:nvSpPr>
          <p:cNvPr id="39989" name="Line 83"/>
          <p:cNvSpPr>
            <a:spLocks noChangeShapeType="1"/>
          </p:cNvSpPr>
          <p:nvPr/>
        </p:nvSpPr>
        <p:spPr bwMode="auto">
          <a:xfrm>
            <a:off x="5453063" y="2473325"/>
            <a:ext cx="225425" cy="0"/>
          </a:xfrm>
          <a:prstGeom prst="line">
            <a:avLst/>
          </a:prstGeom>
          <a:noFill/>
          <a:ln w="19050">
            <a:solidFill>
              <a:srgbClr val="009900"/>
            </a:solidFill>
            <a:round/>
            <a:headEnd/>
            <a:tailEnd/>
          </a:ln>
        </p:spPr>
        <p:txBody>
          <a:bodyPr wrap="none" anchor="ctr"/>
          <a:lstStyle/>
          <a:p>
            <a:endParaRPr lang="fr-FR"/>
          </a:p>
        </p:txBody>
      </p:sp>
      <p:sp>
        <p:nvSpPr>
          <p:cNvPr id="39990" name="Line 84"/>
          <p:cNvSpPr>
            <a:spLocks noChangeShapeType="1"/>
          </p:cNvSpPr>
          <p:nvPr/>
        </p:nvSpPr>
        <p:spPr bwMode="auto">
          <a:xfrm>
            <a:off x="6392863" y="2460625"/>
            <a:ext cx="225425" cy="0"/>
          </a:xfrm>
          <a:prstGeom prst="line">
            <a:avLst/>
          </a:prstGeom>
          <a:noFill/>
          <a:ln w="19050">
            <a:solidFill>
              <a:srgbClr val="009900"/>
            </a:solidFill>
            <a:round/>
            <a:headEnd/>
            <a:tailEnd/>
          </a:ln>
        </p:spPr>
        <p:txBody>
          <a:bodyPr wrap="none" anchor="ctr"/>
          <a:lstStyle/>
          <a:p>
            <a:endParaRPr lang="fr-FR"/>
          </a:p>
        </p:txBody>
      </p:sp>
      <p:sp>
        <p:nvSpPr>
          <p:cNvPr id="39991" name="Line 85"/>
          <p:cNvSpPr>
            <a:spLocks noChangeShapeType="1"/>
          </p:cNvSpPr>
          <p:nvPr/>
        </p:nvSpPr>
        <p:spPr bwMode="auto">
          <a:xfrm>
            <a:off x="7319963" y="3095625"/>
            <a:ext cx="225425" cy="0"/>
          </a:xfrm>
          <a:prstGeom prst="line">
            <a:avLst/>
          </a:prstGeom>
          <a:noFill/>
          <a:ln w="19050">
            <a:solidFill>
              <a:srgbClr val="009900"/>
            </a:solidFill>
            <a:round/>
            <a:headEnd/>
            <a:tailEnd/>
          </a:ln>
        </p:spPr>
        <p:txBody>
          <a:bodyPr wrap="none" anchor="ctr"/>
          <a:lstStyle/>
          <a:p>
            <a:endParaRPr lang="fr-FR"/>
          </a:p>
        </p:txBody>
      </p:sp>
      <p:sp>
        <p:nvSpPr>
          <p:cNvPr id="39992" name="Line 86"/>
          <p:cNvSpPr>
            <a:spLocks noChangeShapeType="1"/>
          </p:cNvSpPr>
          <p:nvPr/>
        </p:nvSpPr>
        <p:spPr bwMode="auto">
          <a:xfrm>
            <a:off x="8196263" y="3082925"/>
            <a:ext cx="225425" cy="0"/>
          </a:xfrm>
          <a:prstGeom prst="line">
            <a:avLst/>
          </a:prstGeom>
          <a:noFill/>
          <a:ln w="19050">
            <a:solidFill>
              <a:srgbClr val="009900"/>
            </a:solidFill>
            <a:round/>
            <a:headEnd/>
            <a:tailEnd/>
          </a:ln>
        </p:spPr>
        <p:txBody>
          <a:bodyPr wrap="none" anchor="ctr"/>
          <a:lstStyle/>
          <a:p>
            <a:endParaRPr lang="fr-FR"/>
          </a:p>
        </p:txBody>
      </p:sp>
      <p:sp>
        <p:nvSpPr>
          <p:cNvPr id="39993" name="Line 87"/>
          <p:cNvSpPr>
            <a:spLocks noChangeShapeType="1"/>
          </p:cNvSpPr>
          <p:nvPr/>
        </p:nvSpPr>
        <p:spPr bwMode="auto">
          <a:xfrm>
            <a:off x="3040063" y="3738563"/>
            <a:ext cx="225425" cy="0"/>
          </a:xfrm>
          <a:prstGeom prst="line">
            <a:avLst/>
          </a:prstGeom>
          <a:noFill/>
          <a:ln w="19050">
            <a:solidFill>
              <a:srgbClr val="FF0000"/>
            </a:solidFill>
            <a:round/>
            <a:headEnd/>
            <a:tailEnd/>
          </a:ln>
        </p:spPr>
        <p:txBody>
          <a:bodyPr wrap="none" anchor="ctr"/>
          <a:lstStyle/>
          <a:p>
            <a:endParaRPr lang="fr-FR"/>
          </a:p>
        </p:txBody>
      </p:sp>
      <p:sp>
        <p:nvSpPr>
          <p:cNvPr id="39994" name="Line 88"/>
          <p:cNvSpPr>
            <a:spLocks noChangeShapeType="1"/>
          </p:cNvSpPr>
          <p:nvPr/>
        </p:nvSpPr>
        <p:spPr bwMode="auto">
          <a:xfrm>
            <a:off x="4043363" y="3738563"/>
            <a:ext cx="187325" cy="0"/>
          </a:xfrm>
          <a:prstGeom prst="line">
            <a:avLst/>
          </a:prstGeom>
          <a:noFill/>
          <a:ln w="19050">
            <a:solidFill>
              <a:schemeClr val="tx1"/>
            </a:solidFill>
            <a:round/>
            <a:headEnd/>
            <a:tailEnd/>
          </a:ln>
        </p:spPr>
        <p:txBody>
          <a:bodyPr wrap="none" anchor="ctr"/>
          <a:lstStyle/>
          <a:p>
            <a:endParaRPr lang="fr-FR"/>
          </a:p>
        </p:txBody>
      </p:sp>
      <p:sp>
        <p:nvSpPr>
          <p:cNvPr id="39995" name="Line 89"/>
          <p:cNvSpPr>
            <a:spLocks noChangeShapeType="1"/>
          </p:cNvSpPr>
          <p:nvPr/>
        </p:nvSpPr>
        <p:spPr bwMode="auto">
          <a:xfrm>
            <a:off x="2544763" y="3738563"/>
            <a:ext cx="225425" cy="0"/>
          </a:xfrm>
          <a:prstGeom prst="line">
            <a:avLst/>
          </a:prstGeom>
          <a:noFill/>
          <a:ln w="19050">
            <a:solidFill>
              <a:srgbClr val="0000FF"/>
            </a:solidFill>
            <a:round/>
            <a:headEnd/>
            <a:tailEnd/>
          </a:ln>
        </p:spPr>
        <p:txBody>
          <a:bodyPr wrap="none" anchor="ctr"/>
          <a:lstStyle/>
          <a:p>
            <a:endParaRPr lang="fr-FR"/>
          </a:p>
        </p:txBody>
      </p:sp>
      <p:sp>
        <p:nvSpPr>
          <p:cNvPr id="39996" name="Line 90"/>
          <p:cNvSpPr>
            <a:spLocks noChangeShapeType="1"/>
          </p:cNvSpPr>
          <p:nvPr/>
        </p:nvSpPr>
        <p:spPr bwMode="auto">
          <a:xfrm>
            <a:off x="1897063" y="3738563"/>
            <a:ext cx="225425" cy="0"/>
          </a:xfrm>
          <a:prstGeom prst="line">
            <a:avLst/>
          </a:prstGeom>
          <a:noFill/>
          <a:ln w="19050">
            <a:solidFill>
              <a:srgbClr val="0000FF"/>
            </a:solidFill>
            <a:round/>
            <a:headEnd/>
            <a:tailEnd/>
          </a:ln>
        </p:spPr>
        <p:txBody>
          <a:bodyPr wrap="none" anchor="ctr"/>
          <a:lstStyle/>
          <a:p>
            <a:endParaRPr lang="fr-FR"/>
          </a:p>
        </p:txBody>
      </p:sp>
      <p:sp>
        <p:nvSpPr>
          <p:cNvPr id="39997" name="Line 91"/>
          <p:cNvSpPr>
            <a:spLocks noChangeShapeType="1"/>
          </p:cNvSpPr>
          <p:nvPr/>
        </p:nvSpPr>
        <p:spPr bwMode="auto">
          <a:xfrm>
            <a:off x="1274763" y="3738563"/>
            <a:ext cx="225425" cy="0"/>
          </a:xfrm>
          <a:prstGeom prst="line">
            <a:avLst/>
          </a:prstGeom>
          <a:noFill/>
          <a:ln w="19050">
            <a:solidFill>
              <a:srgbClr val="0000FF"/>
            </a:solidFill>
            <a:round/>
            <a:headEnd/>
            <a:tailEnd/>
          </a:ln>
        </p:spPr>
        <p:txBody>
          <a:bodyPr wrap="none" anchor="ctr"/>
          <a:lstStyle/>
          <a:p>
            <a:endParaRPr lang="fr-FR"/>
          </a:p>
        </p:txBody>
      </p:sp>
      <p:sp>
        <p:nvSpPr>
          <p:cNvPr id="39998" name="Line 92"/>
          <p:cNvSpPr>
            <a:spLocks noChangeShapeType="1"/>
          </p:cNvSpPr>
          <p:nvPr/>
        </p:nvSpPr>
        <p:spPr bwMode="auto">
          <a:xfrm>
            <a:off x="703263" y="3738563"/>
            <a:ext cx="225425" cy="0"/>
          </a:xfrm>
          <a:prstGeom prst="line">
            <a:avLst/>
          </a:prstGeom>
          <a:noFill/>
          <a:ln w="19050">
            <a:solidFill>
              <a:srgbClr val="0000FF"/>
            </a:solidFill>
            <a:round/>
            <a:headEnd/>
            <a:tailEnd/>
          </a:ln>
        </p:spPr>
        <p:txBody>
          <a:bodyPr wrap="none" anchor="ctr"/>
          <a:lstStyle/>
          <a:p>
            <a:endParaRPr lang="fr-FR"/>
          </a:p>
        </p:txBody>
      </p:sp>
      <p:sp>
        <p:nvSpPr>
          <p:cNvPr id="39999" name="Line 93"/>
          <p:cNvSpPr>
            <a:spLocks noChangeShapeType="1"/>
          </p:cNvSpPr>
          <p:nvPr/>
        </p:nvSpPr>
        <p:spPr bwMode="auto">
          <a:xfrm>
            <a:off x="4525963" y="3103563"/>
            <a:ext cx="187325" cy="0"/>
          </a:xfrm>
          <a:prstGeom prst="line">
            <a:avLst/>
          </a:prstGeom>
          <a:noFill/>
          <a:ln w="19050">
            <a:solidFill>
              <a:schemeClr val="tx1"/>
            </a:solidFill>
            <a:round/>
            <a:headEnd/>
            <a:tailEnd/>
          </a:ln>
        </p:spPr>
        <p:txBody>
          <a:bodyPr wrap="none" anchor="ctr"/>
          <a:lstStyle/>
          <a:p>
            <a:endParaRPr lang="fr-FR"/>
          </a:p>
        </p:txBody>
      </p:sp>
      <p:sp>
        <p:nvSpPr>
          <p:cNvPr id="40000" name="Line 94"/>
          <p:cNvSpPr>
            <a:spLocks noChangeShapeType="1"/>
          </p:cNvSpPr>
          <p:nvPr/>
        </p:nvSpPr>
        <p:spPr bwMode="auto">
          <a:xfrm>
            <a:off x="4500563" y="2481263"/>
            <a:ext cx="187325" cy="0"/>
          </a:xfrm>
          <a:prstGeom prst="line">
            <a:avLst/>
          </a:prstGeom>
          <a:noFill/>
          <a:ln w="19050">
            <a:solidFill>
              <a:schemeClr val="tx1"/>
            </a:solidFill>
            <a:round/>
            <a:headEnd/>
            <a:tailEnd/>
          </a:ln>
        </p:spPr>
        <p:txBody>
          <a:bodyPr wrap="none" anchor="ctr"/>
          <a:lstStyle/>
          <a:p>
            <a:endParaRPr lang="fr-FR"/>
          </a:p>
        </p:txBody>
      </p:sp>
      <p:grpSp>
        <p:nvGrpSpPr>
          <p:cNvPr id="5" name="Group 95"/>
          <p:cNvGrpSpPr>
            <a:grpSpLocks/>
          </p:cNvGrpSpPr>
          <p:nvPr/>
        </p:nvGrpSpPr>
        <p:grpSpPr bwMode="auto">
          <a:xfrm>
            <a:off x="3344863" y="3422650"/>
            <a:ext cx="74612" cy="196850"/>
            <a:chOff x="3496" y="2156"/>
            <a:chExt cx="40" cy="204"/>
          </a:xfrm>
        </p:grpSpPr>
        <p:sp>
          <p:nvSpPr>
            <p:cNvPr id="40008" name="Line 96"/>
            <p:cNvSpPr>
              <a:spLocks noChangeShapeType="1"/>
            </p:cNvSpPr>
            <p:nvPr/>
          </p:nvSpPr>
          <p:spPr bwMode="auto">
            <a:xfrm>
              <a:off x="3496" y="2156"/>
              <a:ext cx="0" cy="204"/>
            </a:xfrm>
            <a:prstGeom prst="line">
              <a:avLst/>
            </a:prstGeom>
            <a:noFill/>
            <a:ln w="19050">
              <a:solidFill>
                <a:srgbClr val="FF0000"/>
              </a:solidFill>
              <a:round/>
              <a:headEnd/>
              <a:tailEnd/>
            </a:ln>
          </p:spPr>
          <p:txBody>
            <a:bodyPr wrap="none" anchor="ctr"/>
            <a:lstStyle/>
            <a:p>
              <a:endParaRPr lang="fr-FR"/>
            </a:p>
          </p:txBody>
        </p:sp>
        <p:sp>
          <p:nvSpPr>
            <p:cNvPr id="40009" name="Line 97"/>
            <p:cNvSpPr>
              <a:spLocks noChangeShapeType="1"/>
            </p:cNvSpPr>
            <p:nvPr/>
          </p:nvSpPr>
          <p:spPr bwMode="auto">
            <a:xfrm>
              <a:off x="3536" y="2156"/>
              <a:ext cx="0" cy="204"/>
            </a:xfrm>
            <a:prstGeom prst="line">
              <a:avLst/>
            </a:prstGeom>
            <a:noFill/>
            <a:ln w="19050">
              <a:solidFill>
                <a:srgbClr val="FF0000"/>
              </a:solidFill>
              <a:round/>
              <a:headEnd/>
              <a:tailEnd/>
            </a:ln>
          </p:spPr>
          <p:txBody>
            <a:bodyPr wrap="none" anchor="ctr"/>
            <a:lstStyle/>
            <a:p>
              <a:endParaRPr lang="fr-FR"/>
            </a:p>
          </p:txBody>
        </p:sp>
      </p:grpSp>
      <p:sp>
        <p:nvSpPr>
          <p:cNvPr id="40002" name="Line 101"/>
          <p:cNvSpPr>
            <a:spLocks noChangeShapeType="1"/>
          </p:cNvSpPr>
          <p:nvPr/>
        </p:nvSpPr>
        <p:spPr bwMode="auto">
          <a:xfrm flipH="1">
            <a:off x="3382963" y="3816350"/>
            <a:ext cx="0" cy="247650"/>
          </a:xfrm>
          <a:prstGeom prst="line">
            <a:avLst/>
          </a:prstGeom>
          <a:noFill/>
          <a:ln w="19050">
            <a:solidFill>
              <a:srgbClr val="FF0000"/>
            </a:solidFill>
            <a:round/>
            <a:headEnd/>
            <a:tailEnd/>
          </a:ln>
        </p:spPr>
        <p:txBody>
          <a:bodyPr wrap="none" anchor="ctr"/>
          <a:lstStyle/>
          <a:p>
            <a:endParaRPr lang="fr-FR"/>
          </a:p>
        </p:txBody>
      </p:sp>
      <p:sp>
        <p:nvSpPr>
          <p:cNvPr id="40003" name="Line 102"/>
          <p:cNvSpPr>
            <a:spLocks noChangeShapeType="1"/>
          </p:cNvSpPr>
          <p:nvPr/>
        </p:nvSpPr>
        <p:spPr bwMode="auto">
          <a:xfrm rot="-3459153">
            <a:off x="817562" y="3929063"/>
            <a:ext cx="225425" cy="0"/>
          </a:xfrm>
          <a:prstGeom prst="line">
            <a:avLst/>
          </a:prstGeom>
          <a:noFill/>
          <a:ln w="19050">
            <a:solidFill>
              <a:srgbClr val="0000FF"/>
            </a:solidFill>
            <a:round/>
            <a:headEnd/>
            <a:tailEnd/>
          </a:ln>
        </p:spPr>
        <p:txBody>
          <a:bodyPr wrap="none" anchor="ctr"/>
          <a:lstStyle/>
          <a:p>
            <a:endParaRPr lang="fr-FR"/>
          </a:p>
        </p:txBody>
      </p:sp>
      <p:sp>
        <p:nvSpPr>
          <p:cNvPr id="40004" name="Line 104"/>
          <p:cNvSpPr>
            <a:spLocks noChangeShapeType="1"/>
          </p:cNvSpPr>
          <p:nvPr/>
        </p:nvSpPr>
        <p:spPr bwMode="auto">
          <a:xfrm rot="3459153" flipV="1">
            <a:off x="792162" y="3497263"/>
            <a:ext cx="225425" cy="0"/>
          </a:xfrm>
          <a:prstGeom prst="line">
            <a:avLst/>
          </a:prstGeom>
          <a:noFill/>
          <a:ln w="19050">
            <a:solidFill>
              <a:srgbClr val="0000FF"/>
            </a:solidFill>
            <a:round/>
            <a:headEnd/>
            <a:tailEnd/>
          </a:ln>
        </p:spPr>
        <p:txBody>
          <a:bodyPr wrap="none" anchor="ctr"/>
          <a:lstStyle/>
          <a:p>
            <a:endParaRPr lang="fr-FR"/>
          </a:p>
        </p:txBody>
      </p:sp>
      <p:sp>
        <p:nvSpPr>
          <p:cNvPr id="40005" name="Text Box 105"/>
          <p:cNvSpPr txBox="1">
            <a:spLocks noChangeArrowheads="1"/>
          </p:cNvSpPr>
          <p:nvPr/>
        </p:nvSpPr>
        <p:spPr bwMode="auto">
          <a:xfrm>
            <a:off x="7213600" y="1828800"/>
            <a:ext cx="904875" cy="304800"/>
          </a:xfrm>
          <a:prstGeom prst="rect">
            <a:avLst/>
          </a:prstGeom>
          <a:noFill/>
          <a:ln w="9525">
            <a:noFill/>
            <a:miter lim="800000"/>
            <a:headEnd/>
            <a:tailEnd/>
          </a:ln>
        </p:spPr>
        <p:txBody>
          <a:bodyPr wrap="none">
            <a:spAutoFit/>
          </a:bodyPr>
          <a:lstStyle/>
          <a:p>
            <a:r>
              <a:rPr lang="fr-FR" sz="1400">
                <a:solidFill>
                  <a:srgbClr val="009900"/>
                </a:solidFill>
              </a:rPr>
              <a:t>palmitate</a:t>
            </a:r>
            <a:endParaRPr lang="fr-FR">
              <a:solidFill>
                <a:srgbClr val="009900"/>
              </a:solidFill>
            </a:endParaRPr>
          </a:p>
        </p:txBody>
      </p:sp>
      <p:sp>
        <p:nvSpPr>
          <p:cNvPr id="40006" name="Text Box 106"/>
          <p:cNvSpPr txBox="1">
            <a:spLocks noChangeArrowheads="1"/>
          </p:cNvSpPr>
          <p:nvPr/>
        </p:nvSpPr>
        <p:spPr bwMode="auto">
          <a:xfrm>
            <a:off x="7302500" y="3759200"/>
            <a:ext cx="668338" cy="304800"/>
          </a:xfrm>
          <a:prstGeom prst="rect">
            <a:avLst/>
          </a:prstGeom>
          <a:noFill/>
          <a:ln w="9525">
            <a:noFill/>
            <a:miter lim="800000"/>
            <a:headEnd/>
            <a:tailEnd/>
          </a:ln>
        </p:spPr>
        <p:txBody>
          <a:bodyPr wrap="none">
            <a:spAutoFit/>
          </a:bodyPr>
          <a:lstStyle/>
          <a:p>
            <a:r>
              <a:rPr lang="fr-FR" sz="1400">
                <a:solidFill>
                  <a:srgbClr val="009900"/>
                </a:solidFill>
              </a:rPr>
              <a:t>oleate</a:t>
            </a:r>
            <a:endParaRPr lang="fr-FR">
              <a:solidFill>
                <a:srgbClr val="009900"/>
              </a:solidFill>
            </a:endParaRPr>
          </a:p>
        </p:txBody>
      </p:sp>
      <p:sp>
        <p:nvSpPr>
          <p:cNvPr id="40007" name="Text Box 108"/>
          <p:cNvSpPr txBox="1">
            <a:spLocks noChangeArrowheads="1"/>
          </p:cNvSpPr>
          <p:nvPr/>
        </p:nvSpPr>
        <p:spPr bwMode="auto">
          <a:xfrm>
            <a:off x="2981325" y="5548313"/>
            <a:ext cx="2587568" cy="400110"/>
          </a:xfrm>
          <a:prstGeom prst="rect">
            <a:avLst/>
          </a:prstGeom>
          <a:noFill/>
          <a:ln w="9525">
            <a:noFill/>
            <a:miter lim="800000"/>
            <a:headEnd/>
            <a:tailEnd/>
          </a:ln>
        </p:spPr>
        <p:txBody>
          <a:bodyPr wrap="none">
            <a:spAutoFit/>
          </a:bodyPr>
          <a:lstStyle/>
          <a:p>
            <a:pPr>
              <a:buFont typeface="Wingdings" pitchFamily="2" charset="2"/>
              <a:buChar char="Ø"/>
            </a:pPr>
            <a:r>
              <a:rPr lang="fr-FR" sz="2000" i="1" dirty="0"/>
              <a:t> </a:t>
            </a:r>
            <a:r>
              <a:rPr lang="fr-FR" sz="2000" i="1" dirty="0" err="1"/>
              <a:t>phosphatidylcholine</a:t>
            </a:r>
            <a:endParaRPr lang="fr-FR" sz="2000" i="1" dirty="0"/>
          </a:p>
        </p:txBody>
      </p:sp>
      <p:sp>
        <p:nvSpPr>
          <p:cNvPr id="7" name="Rectangle 6"/>
          <p:cNvSpPr/>
          <p:nvPr/>
        </p:nvSpPr>
        <p:spPr>
          <a:xfrm>
            <a:off x="1932465" y="422640"/>
            <a:ext cx="4136069" cy="707886"/>
          </a:xfrm>
          <a:prstGeom prst="rect">
            <a:avLst/>
          </a:prstGeom>
        </p:spPr>
        <p:txBody>
          <a:bodyPr wrap="none">
            <a:spAutoFit/>
          </a:bodyPr>
          <a:lstStyle/>
          <a:p>
            <a:r>
              <a:rPr lang="fr-FR" sz="4000" dirty="0">
                <a:latin typeface="Century Schoolbook" panose="02040604050505020304" pitchFamily="18" charset="0"/>
              </a:rPr>
              <a:t>…and an </a:t>
            </a:r>
            <a:r>
              <a:rPr lang="fr-FR" sz="4000" dirty="0" err="1">
                <a:latin typeface="Century Schoolbook" panose="02040604050505020304" pitchFamily="18" charset="0"/>
              </a:rPr>
              <a:t>alcohol</a:t>
            </a:r>
            <a:endParaRPr lang="fr-FR" sz="4000" dirty="0">
              <a:latin typeface="Century Schoolbook" panose="02040604050505020304"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102"/>
          <p:cNvSpPr>
            <a:spLocks noChangeArrowheads="1"/>
          </p:cNvSpPr>
          <p:nvPr/>
        </p:nvSpPr>
        <p:spPr bwMode="auto">
          <a:xfrm>
            <a:off x="1413936" y="4356501"/>
            <a:ext cx="6261100" cy="2298700"/>
          </a:xfrm>
          <a:prstGeom prst="rect">
            <a:avLst/>
          </a:prstGeom>
          <a:solidFill>
            <a:schemeClr val="bg1"/>
          </a:solidFill>
          <a:ln w="9525">
            <a:solidFill>
              <a:schemeClr val="bg1"/>
            </a:solidFill>
            <a:miter lim="800000"/>
            <a:headEnd/>
            <a:tailEnd/>
          </a:ln>
        </p:spPr>
        <p:txBody>
          <a:bodyPr wrap="none" anchor="ctr"/>
          <a:lstStyle/>
          <a:p>
            <a:endParaRPr lang="fr-FR"/>
          </a:p>
        </p:txBody>
      </p:sp>
      <p:sp>
        <p:nvSpPr>
          <p:cNvPr id="40964" name="Text Box 6"/>
          <p:cNvSpPr txBox="1">
            <a:spLocks noChangeArrowheads="1"/>
          </p:cNvSpPr>
          <p:nvPr/>
        </p:nvSpPr>
        <p:spPr bwMode="auto">
          <a:xfrm>
            <a:off x="2709336" y="3752610"/>
            <a:ext cx="747713" cy="304800"/>
          </a:xfrm>
          <a:prstGeom prst="rect">
            <a:avLst/>
          </a:prstGeom>
          <a:noFill/>
          <a:ln w="9525">
            <a:noFill/>
            <a:miter lim="800000"/>
            <a:headEnd/>
            <a:tailEnd/>
          </a:ln>
        </p:spPr>
        <p:txBody>
          <a:bodyPr wrap="none">
            <a:spAutoFit/>
          </a:bodyPr>
          <a:lstStyle/>
          <a:p>
            <a:r>
              <a:rPr lang="fr-FR" sz="1400" dirty="0">
                <a:solidFill>
                  <a:srgbClr val="0000FF"/>
                </a:solidFill>
              </a:rPr>
              <a:t>choline</a:t>
            </a:r>
            <a:endParaRPr lang="fr-FR" dirty="0">
              <a:solidFill>
                <a:srgbClr val="FF0000"/>
              </a:solidFill>
            </a:endParaRPr>
          </a:p>
        </p:txBody>
      </p:sp>
      <p:grpSp>
        <p:nvGrpSpPr>
          <p:cNvPr id="2" name="Group 90"/>
          <p:cNvGrpSpPr>
            <a:grpSpLocks/>
          </p:cNvGrpSpPr>
          <p:nvPr/>
        </p:nvGrpSpPr>
        <p:grpSpPr bwMode="auto">
          <a:xfrm>
            <a:off x="1429811" y="2846266"/>
            <a:ext cx="3009900" cy="1123950"/>
            <a:chOff x="251" y="2130"/>
            <a:chExt cx="1896" cy="708"/>
          </a:xfrm>
        </p:grpSpPr>
        <p:sp>
          <p:nvSpPr>
            <p:cNvPr id="41035" name="Text Box 8"/>
            <p:cNvSpPr txBox="1">
              <a:spLocks noChangeArrowheads="1"/>
            </p:cNvSpPr>
            <p:nvPr/>
          </p:nvSpPr>
          <p:spPr bwMode="auto">
            <a:xfrm>
              <a:off x="1419" y="2393"/>
              <a:ext cx="357" cy="212"/>
            </a:xfrm>
            <a:prstGeom prst="rect">
              <a:avLst/>
            </a:prstGeom>
            <a:noFill/>
            <a:ln w="9525">
              <a:noFill/>
              <a:miter lim="800000"/>
              <a:headEnd/>
              <a:tailEnd/>
            </a:ln>
          </p:spPr>
          <p:txBody>
            <a:bodyPr>
              <a:spAutoFit/>
            </a:bodyPr>
            <a:lstStyle/>
            <a:p>
              <a:r>
                <a:rPr lang="fr-FR" sz="1600" b="1">
                  <a:solidFill>
                    <a:srgbClr val="0000FF"/>
                  </a:solidFill>
                </a:rPr>
                <a:t>CH</a:t>
              </a:r>
              <a:r>
                <a:rPr lang="fr-FR" sz="1600" b="1" baseline="-25000">
                  <a:solidFill>
                    <a:srgbClr val="0000FF"/>
                  </a:solidFill>
                </a:rPr>
                <a:t>2</a:t>
              </a:r>
            </a:p>
          </p:txBody>
        </p:sp>
        <p:sp>
          <p:nvSpPr>
            <p:cNvPr id="41036" name="Text Box 9"/>
            <p:cNvSpPr txBox="1">
              <a:spLocks noChangeArrowheads="1"/>
            </p:cNvSpPr>
            <p:nvPr/>
          </p:nvSpPr>
          <p:spPr bwMode="auto">
            <a:xfrm>
              <a:off x="1019" y="2393"/>
              <a:ext cx="357" cy="212"/>
            </a:xfrm>
            <a:prstGeom prst="rect">
              <a:avLst/>
            </a:prstGeom>
            <a:noFill/>
            <a:ln w="9525">
              <a:noFill/>
              <a:miter lim="800000"/>
              <a:headEnd/>
              <a:tailEnd/>
            </a:ln>
          </p:spPr>
          <p:txBody>
            <a:bodyPr>
              <a:spAutoFit/>
            </a:bodyPr>
            <a:lstStyle/>
            <a:p>
              <a:r>
                <a:rPr lang="fr-FR" sz="1600" b="1">
                  <a:solidFill>
                    <a:srgbClr val="0000FF"/>
                  </a:solidFill>
                </a:rPr>
                <a:t>CH</a:t>
              </a:r>
              <a:r>
                <a:rPr lang="fr-FR" sz="1600" b="1" baseline="-25000">
                  <a:solidFill>
                    <a:srgbClr val="0000FF"/>
                  </a:solidFill>
                </a:rPr>
                <a:t>2</a:t>
              </a:r>
            </a:p>
          </p:txBody>
        </p:sp>
        <p:sp>
          <p:nvSpPr>
            <p:cNvPr id="41037" name="Text Box 10"/>
            <p:cNvSpPr txBox="1">
              <a:spLocks noChangeArrowheads="1"/>
            </p:cNvSpPr>
            <p:nvPr/>
          </p:nvSpPr>
          <p:spPr bwMode="auto">
            <a:xfrm>
              <a:off x="251" y="2393"/>
              <a:ext cx="357" cy="212"/>
            </a:xfrm>
            <a:prstGeom prst="rect">
              <a:avLst/>
            </a:prstGeom>
            <a:noFill/>
            <a:ln w="9525">
              <a:noFill/>
              <a:miter lim="800000"/>
              <a:headEnd/>
              <a:tailEnd/>
            </a:ln>
          </p:spPr>
          <p:txBody>
            <a:bodyPr>
              <a:spAutoFit/>
            </a:bodyPr>
            <a:lstStyle/>
            <a:p>
              <a:r>
                <a:rPr lang="fr-FR" sz="1600" b="1">
                  <a:solidFill>
                    <a:srgbClr val="0000FF"/>
                  </a:solidFill>
                </a:rPr>
                <a:t>H</a:t>
              </a:r>
              <a:r>
                <a:rPr lang="fr-FR" sz="1600" b="1" baseline="-25000">
                  <a:solidFill>
                    <a:srgbClr val="0000FF"/>
                  </a:solidFill>
                </a:rPr>
                <a:t>3</a:t>
              </a:r>
              <a:r>
                <a:rPr lang="fr-FR" sz="1600" b="1">
                  <a:solidFill>
                    <a:srgbClr val="0000FF"/>
                  </a:solidFill>
                </a:rPr>
                <a:t>C</a:t>
              </a:r>
            </a:p>
          </p:txBody>
        </p:sp>
        <p:sp>
          <p:nvSpPr>
            <p:cNvPr id="41038" name="Text Box 11"/>
            <p:cNvSpPr txBox="1">
              <a:spLocks noChangeArrowheads="1"/>
            </p:cNvSpPr>
            <p:nvPr/>
          </p:nvSpPr>
          <p:spPr bwMode="auto">
            <a:xfrm>
              <a:off x="1839" y="2393"/>
              <a:ext cx="308" cy="212"/>
            </a:xfrm>
            <a:prstGeom prst="rect">
              <a:avLst/>
            </a:prstGeom>
            <a:noFill/>
            <a:ln w="9525">
              <a:noFill/>
              <a:miter lim="800000"/>
              <a:headEnd/>
              <a:tailEnd/>
            </a:ln>
          </p:spPr>
          <p:txBody>
            <a:bodyPr wrap="none">
              <a:spAutoFit/>
            </a:bodyPr>
            <a:lstStyle/>
            <a:p>
              <a:r>
                <a:rPr lang="fr-FR" sz="1600" b="1">
                  <a:solidFill>
                    <a:srgbClr val="FF0000"/>
                  </a:solidFill>
                </a:rPr>
                <a:t>OH</a:t>
              </a:r>
              <a:endParaRPr lang="fr-FR" sz="1600" b="1">
                <a:solidFill>
                  <a:srgbClr val="009900"/>
                </a:solidFill>
              </a:endParaRPr>
            </a:p>
          </p:txBody>
        </p:sp>
        <p:sp>
          <p:nvSpPr>
            <p:cNvPr id="41039" name="Text Box 12"/>
            <p:cNvSpPr txBox="1">
              <a:spLocks noChangeArrowheads="1"/>
            </p:cNvSpPr>
            <p:nvPr/>
          </p:nvSpPr>
          <p:spPr bwMode="auto">
            <a:xfrm>
              <a:off x="687" y="2393"/>
              <a:ext cx="260" cy="212"/>
            </a:xfrm>
            <a:prstGeom prst="rect">
              <a:avLst/>
            </a:prstGeom>
            <a:noFill/>
            <a:ln w="9525">
              <a:noFill/>
              <a:miter lim="800000"/>
              <a:headEnd/>
              <a:tailEnd/>
            </a:ln>
          </p:spPr>
          <p:txBody>
            <a:bodyPr wrap="none">
              <a:spAutoFit/>
            </a:bodyPr>
            <a:lstStyle/>
            <a:p>
              <a:r>
                <a:rPr lang="fr-FR" sz="1600" b="1">
                  <a:solidFill>
                    <a:srgbClr val="0000FF"/>
                  </a:solidFill>
                </a:rPr>
                <a:t>N</a:t>
              </a:r>
              <a:r>
                <a:rPr lang="fr-FR" sz="1600" b="1" baseline="30000">
                  <a:solidFill>
                    <a:srgbClr val="0000FF"/>
                  </a:solidFill>
                </a:rPr>
                <a:t>+</a:t>
              </a:r>
              <a:endParaRPr lang="fr-FR" sz="1600" b="1">
                <a:solidFill>
                  <a:srgbClr val="0000FF"/>
                </a:solidFill>
              </a:endParaRPr>
            </a:p>
          </p:txBody>
        </p:sp>
        <p:sp>
          <p:nvSpPr>
            <p:cNvPr id="41040" name="Text Box 13"/>
            <p:cNvSpPr txBox="1">
              <a:spLocks noChangeArrowheads="1"/>
            </p:cNvSpPr>
            <p:nvPr/>
          </p:nvSpPr>
          <p:spPr bwMode="auto">
            <a:xfrm>
              <a:off x="339" y="2626"/>
              <a:ext cx="357" cy="212"/>
            </a:xfrm>
            <a:prstGeom prst="rect">
              <a:avLst/>
            </a:prstGeom>
            <a:noFill/>
            <a:ln w="9525">
              <a:noFill/>
              <a:miter lim="800000"/>
              <a:headEnd/>
              <a:tailEnd/>
            </a:ln>
          </p:spPr>
          <p:txBody>
            <a:bodyPr>
              <a:spAutoFit/>
            </a:bodyPr>
            <a:lstStyle/>
            <a:p>
              <a:r>
                <a:rPr lang="fr-FR" sz="1600" b="1">
                  <a:solidFill>
                    <a:srgbClr val="0000FF"/>
                  </a:solidFill>
                </a:rPr>
                <a:t>H</a:t>
              </a:r>
              <a:r>
                <a:rPr lang="fr-FR" sz="1600" b="1" baseline="-25000">
                  <a:solidFill>
                    <a:srgbClr val="0000FF"/>
                  </a:solidFill>
                </a:rPr>
                <a:t>3</a:t>
              </a:r>
              <a:r>
                <a:rPr lang="fr-FR" sz="1600" b="1">
                  <a:solidFill>
                    <a:srgbClr val="0000FF"/>
                  </a:solidFill>
                </a:rPr>
                <a:t>C</a:t>
              </a:r>
            </a:p>
          </p:txBody>
        </p:sp>
        <p:sp>
          <p:nvSpPr>
            <p:cNvPr id="41041" name="Text Box 14"/>
            <p:cNvSpPr txBox="1">
              <a:spLocks noChangeArrowheads="1"/>
            </p:cNvSpPr>
            <p:nvPr/>
          </p:nvSpPr>
          <p:spPr bwMode="auto">
            <a:xfrm>
              <a:off x="331" y="2130"/>
              <a:ext cx="357" cy="212"/>
            </a:xfrm>
            <a:prstGeom prst="rect">
              <a:avLst/>
            </a:prstGeom>
            <a:noFill/>
            <a:ln w="9525">
              <a:noFill/>
              <a:miter lim="800000"/>
              <a:headEnd/>
              <a:tailEnd/>
            </a:ln>
          </p:spPr>
          <p:txBody>
            <a:bodyPr>
              <a:spAutoFit/>
            </a:bodyPr>
            <a:lstStyle/>
            <a:p>
              <a:r>
                <a:rPr lang="fr-FR" sz="1600" b="1">
                  <a:solidFill>
                    <a:srgbClr val="0000FF"/>
                  </a:solidFill>
                </a:rPr>
                <a:t>H</a:t>
              </a:r>
              <a:r>
                <a:rPr lang="fr-FR" sz="1600" b="1" baseline="-25000">
                  <a:solidFill>
                    <a:srgbClr val="0000FF"/>
                  </a:solidFill>
                </a:rPr>
                <a:t>3</a:t>
              </a:r>
              <a:r>
                <a:rPr lang="fr-FR" sz="1600" b="1">
                  <a:solidFill>
                    <a:srgbClr val="0000FF"/>
                  </a:solidFill>
                </a:rPr>
                <a:t>C</a:t>
              </a:r>
            </a:p>
          </p:txBody>
        </p:sp>
        <p:sp>
          <p:nvSpPr>
            <p:cNvPr id="41042" name="Line 15"/>
            <p:cNvSpPr>
              <a:spLocks noChangeShapeType="1"/>
            </p:cNvSpPr>
            <p:nvPr/>
          </p:nvSpPr>
          <p:spPr bwMode="auto">
            <a:xfrm>
              <a:off x="1715" y="2499"/>
              <a:ext cx="142" cy="0"/>
            </a:xfrm>
            <a:prstGeom prst="line">
              <a:avLst/>
            </a:prstGeom>
            <a:noFill/>
            <a:ln w="19050">
              <a:solidFill>
                <a:srgbClr val="0000FF"/>
              </a:solidFill>
              <a:round/>
              <a:headEnd/>
              <a:tailEnd/>
            </a:ln>
          </p:spPr>
          <p:txBody>
            <a:bodyPr wrap="none" anchor="ctr"/>
            <a:lstStyle/>
            <a:p>
              <a:endParaRPr lang="fr-FR"/>
            </a:p>
          </p:txBody>
        </p:sp>
        <p:sp>
          <p:nvSpPr>
            <p:cNvPr id="41043" name="Line 16"/>
            <p:cNvSpPr>
              <a:spLocks noChangeShapeType="1"/>
            </p:cNvSpPr>
            <p:nvPr/>
          </p:nvSpPr>
          <p:spPr bwMode="auto">
            <a:xfrm>
              <a:off x="1307" y="2499"/>
              <a:ext cx="142" cy="0"/>
            </a:xfrm>
            <a:prstGeom prst="line">
              <a:avLst/>
            </a:prstGeom>
            <a:noFill/>
            <a:ln w="19050">
              <a:solidFill>
                <a:srgbClr val="0000FF"/>
              </a:solidFill>
              <a:round/>
              <a:headEnd/>
              <a:tailEnd/>
            </a:ln>
          </p:spPr>
          <p:txBody>
            <a:bodyPr wrap="none" anchor="ctr"/>
            <a:lstStyle/>
            <a:p>
              <a:endParaRPr lang="fr-FR"/>
            </a:p>
          </p:txBody>
        </p:sp>
        <p:sp>
          <p:nvSpPr>
            <p:cNvPr id="41044" name="Line 17"/>
            <p:cNvSpPr>
              <a:spLocks noChangeShapeType="1"/>
            </p:cNvSpPr>
            <p:nvPr/>
          </p:nvSpPr>
          <p:spPr bwMode="auto">
            <a:xfrm>
              <a:off x="915" y="2499"/>
              <a:ext cx="142" cy="0"/>
            </a:xfrm>
            <a:prstGeom prst="line">
              <a:avLst/>
            </a:prstGeom>
            <a:noFill/>
            <a:ln w="19050">
              <a:solidFill>
                <a:srgbClr val="0000FF"/>
              </a:solidFill>
              <a:round/>
              <a:headEnd/>
              <a:tailEnd/>
            </a:ln>
          </p:spPr>
          <p:txBody>
            <a:bodyPr wrap="none" anchor="ctr"/>
            <a:lstStyle/>
            <a:p>
              <a:endParaRPr lang="fr-FR"/>
            </a:p>
          </p:txBody>
        </p:sp>
        <p:sp>
          <p:nvSpPr>
            <p:cNvPr id="41045" name="Line 18"/>
            <p:cNvSpPr>
              <a:spLocks noChangeShapeType="1"/>
            </p:cNvSpPr>
            <p:nvPr/>
          </p:nvSpPr>
          <p:spPr bwMode="auto">
            <a:xfrm>
              <a:off x="555" y="2499"/>
              <a:ext cx="142" cy="0"/>
            </a:xfrm>
            <a:prstGeom prst="line">
              <a:avLst/>
            </a:prstGeom>
            <a:noFill/>
            <a:ln w="19050">
              <a:solidFill>
                <a:srgbClr val="0000FF"/>
              </a:solidFill>
              <a:round/>
              <a:headEnd/>
              <a:tailEnd/>
            </a:ln>
          </p:spPr>
          <p:txBody>
            <a:bodyPr wrap="none" anchor="ctr"/>
            <a:lstStyle/>
            <a:p>
              <a:endParaRPr lang="fr-FR"/>
            </a:p>
          </p:txBody>
        </p:sp>
        <p:sp>
          <p:nvSpPr>
            <p:cNvPr id="41046" name="Line 19"/>
            <p:cNvSpPr>
              <a:spLocks noChangeShapeType="1"/>
            </p:cNvSpPr>
            <p:nvPr/>
          </p:nvSpPr>
          <p:spPr bwMode="auto">
            <a:xfrm rot="-3459153">
              <a:off x="627" y="2619"/>
              <a:ext cx="142" cy="0"/>
            </a:xfrm>
            <a:prstGeom prst="line">
              <a:avLst/>
            </a:prstGeom>
            <a:noFill/>
            <a:ln w="19050">
              <a:solidFill>
                <a:srgbClr val="0000FF"/>
              </a:solidFill>
              <a:round/>
              <a:headEnd/>
              <a:tailEnd/>
            </a:ln>
          </p:spPr>
          <p:txBody>
            <a:bodyPr wrap="none" anchor="ctr"/>
            <a:lstStyle/>
            <a:p>
              <a:endParaRPr lang="fr-FR"/>
            </a:p>
          </p:txBody>
        </p:sp>
        <p:sp>
          <p:nvSpPr>
            <p:cNvPr id="41047" name="Line 20"/>
            <p:cNvSpPr>
              <a:spLocks noChangeShapeType="1"/>
            </p:cNvSpPr>
            <p:nvPr/>
          </p:nvSpPr>
          <p:spPr bwMode="auto">
            <a:xfrm rot="3459153" flipV="1">
              <a:off x="611" y="2347"/>
              <a:ext cx="142" cy="0"/>
            </a:xfrm>
            <a:prstGeom prst="line">
              <a:avLst/>
            </a:prstGeom>
            <a:noFill/>
            <a:ln w="19050">
              <a:solidFill>
                <a:srgbClr val="0000FF"/>
              </a:solidFill>
              <a:round/>
              <a:headEnd/>
              <a:tailEnd/>
            </a:ln>
          </p:spPr>
          <p:txBody>
            <a:bodyPr wrap="none" anchor="ctr"/>
            <a:lstStyle/>
            <a:p>
              <a:endParaRPr lang="fr-FR"/>
            </a:p>
          </p:txBody>
        </p:sp>
      </p:grpSp>
      <p:sp>
        <p:nvSpPr>
          <p:cNvPr id="40966" name="Text Box 21"/>
          <p:cNvSpPr txBox="1">
            <a:spLocks noChangeArrowheads="1"/>
          </p:cNvSpPr>
          <p:nvPr/>
        </p:nvSpPr>
        <p:spPr bwMode="auto">
          <a:xfrm>
            <a:off x="1301224" y="1993901"/>
            <a:ext cx="1198854" cy="307777"/>
          </a:xfrm>
          <a:prstGeom prst="rect">
            <a:avLst/>
          </a:prstGeom>
          <a:noFill/>
          <a:ln w="9525">
            <a:noFill/>
            <a:miter lim="800000"/>
            <a:headEnd/>
            <a:tailEnd/>
          </a:ln>
        </p:spPr>
        <p:txBody>
          <a:bodyPr wrap="none">
            <a:spAutoFit/>
          </a:bodyPr>
          <a:lstStyle/>
          <a:p>
            <a:r>
              <a:rPr lang="fr-FR" sz="1400" dirty="0" err="1">
                <a:solidFill>
                  <a:srgbClr val="0000FF"/>
                </a:solidFill>
              </a:rPr>
              <a:t>Ethanolamine</a:t>
            </a:r>
            <a:endParaRPr lang="fr-FR" dirty="0">
              <a:solidFill>
                <a:srgbClr val="FF0000"/>
              </a:solidFill>
            </a:endParaRPr>
          </a:p>
        </p:txBody>
      </p:sp>
      <p:grpSp>
        <p:nvGrpSpPr>
          <p:cNvPr id="3" name="Group 89"/>
          <p:cNvGrpSpPr>
            <a:grpSpLocks/>
          </p:cNvGrpSpPr>
          <p:nvPr/>
        </p:nvGrpSpPr>
        <p:grpSpPr bwMode="auto">
          <a:xfrm>
            <a:off x="736074" y="1555751"/>
            <a:ext cx="2520950" cy="336550"/>
            <a:chOff x="503" y="1513"/>
            <a:chExt cx="1588" cy="212"/>
          </a:xfrm>
        </p:grpSpPr>
        <p:sp>
          <p:nvSpPr>
            <p:cNvPr id="41028" name="Text Box 22"/>
            <p:cNvSpPr txBox="1">
              <a:spLocks noChangeArrowheads="1"/>
            </p:cNvSpPr>
            <p:nvPr/>
          </p:nvSpPr>
          <p:spPr bwMode="auto">
            <a:xfrm>
              <a:off x="1363" y="1513"/>
              <a:ext cx="357" cy="212"/>
            </a:xfrm>
            <a:prstGeom prst="rect">
              <a:avLst/>
            </a:prstGeom>
            <a:noFill/>
            <a:ln w="9525">
              <a:noFill/>
              <a:miter lim="800000"/>
              <a:headEnd/>
              <a:tailEnd/>
            </a:ln>
          </p:spPr>
          <p:txBody>
            <a:bodyPr>
              <a:spAutoFit/>
            </a:bodyPr>
            <a:lstStyle/>
            <a:p>
              <a:r>
                <a:rPr lang="fr-FR" sz="1600" b="1" dirty="0">
                  <a:solidFill>
                    <a:srgbClr val="0000FF"/>
                  </a:solidFill>
                </a:rPr>
                <a:t>CH</a:t>
              </a:r>
              <a:r>
                <a:rPr lang="fr-FR" sz="1600" b="1" baseline="-25000" dirty="0">
                  <a:solidFill>
                    <a:srgbClr val="0000FF"/>
                  </a:solidFill>
                </a:rPr>
                <a:t>2</a:t>
              </a:r>
            </a:p>
          </p:txBody>
        </p:sp>
        <p:sp>
          <p:nvSpPr>
            <p:cNvPr id="41029" name="Text Box 23"/>
            <p:cNvSpPr txBox="1">
              <a:spLocks noChangeArrowheads="1"/>
            </p:cNvSpPr>
            <p:nvPr/>
          </p:nvSpPr>
          <p:spPr bwMode="auto">
            <a:xfrm>
              <a:off x="963" y="1513"/>
              <a:ext cx="357" cy="212"/>
            </a:xfrm>
            <a:prstGeom prst="rect">
              <a:avLst/>
            </a:prstGeom>
            <a:noFill/>
            <a:ln w="9525">
              <a:noFill/>
              <a:miter lim="800000"/>
              <a:headEnd/>
              <a:tailEnd/>
            </a:ln>
          </p:spPr>
          <p:txBody>
            <a:bodyPr>
              <a:spAutoFit/>
            </a:bodyPr>
            <a:lstStyle/>
            <a:p>
              <a:r>
                <a:rPr lang="fr-FR" sz="1600" b="1">
                  <a:solidFill>
                    <a:srgbClr val="0000FF"/>
                  </a:solidFill>
                </a:rPr>
                <a:t>CH</a:t>
              </a:r>
              <a:r>
                <a:rPr lang="fr-FR" sz="1600" b="1" baseline="-25000">
                  <a:solidFill>
                    <a:srgbClr val="0000FF"/>
                  </a:solidFill>
                </a:rPr>
                <a:t>2</a:t>
              </a:r>
            </a:p>
          </p:txBody>
        </p:sp>
        <p:sp>
          <p:nvSpPr>
            <p:cNvPr id="41030" name="Text Box 25"/>
            <p:cNvSpPr txBox="1">
              <a:spLocks noChangeArrowheads="1"/>
            </p:cNvSpPr>
            <p:nvPr/>
          </p:nvSpPr>
          <p:spPr bwMode="auto">
            <a:xfrm>
              <a:off x="1783" y="1513"/>
              <a:ext cx="308" cy="212"/>
            </a:xfrm>
            <a:prstGeom prst="rect">
              <a:avLst/>
            </a:prstGeom>
            <a:noFill/>
            <a:ln w="9525">
              <a:noFill/>
              <a:miter lim="800000"/>
              <a:headEnd/>
              <a:tailEnd/>
            </a:ln>
          </p:spPr>
          <p:txBody>
            <a:bodyPr wrap="none">
              <a:spAutoFit/>
            </a:bodyPr>
            <a:lstStyle/>
            <a:p>
              <a:r>
                <a:rPr lang="fr-FR" sz="1600" b="1">
                  <a:solidFill>
                    <a:srgbClr val="FF0000"/>
                  </a:solidFill>
                </a:rPr>
                <a:t>OH</a:t>
              </a:r>
              <a:endParaRPr lang="fr-FR" sz="1600" b="1">
                <a:solidFill>
                  <a:srgbClr val="009900"/>
                </a:solidFill>
              </a:endParaRPr>
            </a:p>
          </p:txBody>
        </p:sp>
        <p:sp>
          <p:nvSpPr>
            <p:cNvPr id="41031" name="Text Box 26"/>
            <p:cNvSpPr txBox="1">
              <a:spLocks noChangeArrowheads="1"/>
            </p:cNvSpPr>
            <p:nvPr/>
          </p:nvSpPr>
          <p:spPr bwMode="auto">
            <a:xfrm>
              <a:off x="503" y="1513"/>
              <a:ext cx="401" cy="212"/>
            </a:xfrm>
            <a:prstGeom prst="rect">
              <a:avLst/>
            </a:prstGeom>
            <a:noFill/>
            <a:ln w="9525">
              <a:noFill/>
              <a:miter lim="800000"/>
              <a:headEnd/>
              <a:tailEnd/>
            </a:ln>
          </p:spPr>
          <p:txBody>
            <a:bodyPr wrap="none">
              <a:spAutoFit/>
            </a:bodyPr>
            <a:lstStyle/>
            <a:p>
              <a:r>
                <a:rPr lang="fr-FR" sz="1600" b="1">
                  <a:solidFill>
                    <a:srgbClr val="0000FF"/>
                  </a:solidFill>
                </a:rPr>
                <a:t>H</a:t>
              </a:r>
              <a:r>
                <a:rPr lang="fr-FR" sz="1600" b="1" baseline="-25000">
                  <a:solidFill>
                    <a:srgbClr val="0000FF"/>
                  </a:solidFill>
                </a:rPr>
                <a:t>3</a:t>
              </a:r>
              <a:r>
                <a:rPr lang="fr-FR" sz="1600" b="1">
                  <a:solidFill>
                    <a:srgbClr val="0000FF"/>
                  </a:solidFill>
                </a:rPr>
                <a:t>N</a:t>
              </a:r>
              <a:r>
                <a:rPr lang="fr-FR" sz="1600" b="1" baseline="30000">
                  <a:solidFill>
                    <a:srgbClr val="0000FF"/>
                  </a:solidFill>
                </a:rPr>
                <a:t>+</a:t>
              </a:r>
            </a:p>
          </p:txBody>
        </p:sp>
        <p:sp>
          <p:nvSpPr>
            <p:cNvPr id="41032" name="Line 29"/>
            <p:cNvSpPr>
              <a:spLocks noChangeShapeType="1"/>
            </p:cNvSpPr>
            <p:nvPr/>
          </p:nvSpPr>
          <p:spPr bwMode="auto">
            <a:xfrm>
              <a:off x="1659" y="1619"/>
              <a:ext cx="142" cy="0"/>
            </a:xfrm>
            <a:prstGeom prst="line">
              <a:avLst/>
            </a:prstGeom>
            <a:noFill/>
            <a:ln w="19050">
              <a:solidFill>
                <a:srgbClr val="0000FF"/>
              </a:solidFill>
              <a:round/>
              <a:headEnd/>
              <a:tailEnd/>
            </a:ln>
          </p:spPr>
          <p:txBody>
            <a:bodyPr wrap="none" anchor="ctr"/>
            <a:lstStyle/>
            <a:p>
              <a:endParaRPr lang="fr-FR"/>
            </a:p>
          </p:txBody>
        </p:sp>
        <p:sp>
          <p:nvSpPr>
            <p:cNvPr id="41033" name="Line 30"/>
            <p:cNvSpPr>
              <a:spLocks noChangeShapeType="1"/>
            </p:cNvSpPr>
            <p:nvPr/>
          </p:nvSpPr>
          <p:spPr bwMode="auto">
            <a:xfrm>
              <a:off x="1251" y="1619"/>
              <a:ext cx="142" cy="0"/>
            </a:xfrm>
            <a:prstGeom prst="line">
              <a:avLst/>
            </a:prstGeom>
            <a:noFill/>
            <a:ln w="19050">
              <a:solidFill>
                <a:srgbClr val="0000FF"/>
              </a:solidFill>
              <a:round/>
              <a:headEnd/>
              <a:tailEnd/>
            </a:ln>
          </p:spPr>
          <p:txBody>
            <a:bodyPr wrap="none" anchor="ctr"/>
            <a:lstStyle/>
            <a:p>
              <a:endParaRPr lang="fr-FR"/>
            </a:p>
          </p:txBody>
        </p:sp>
        <p:sp>
          <p:nvSpPr>
            <p:cNvPr id="41034" name="Line 31"/>
            <p:cNvSpPr>
              <a:spLocks noChangeShapeType="1"/>
            </p:cNvSpPr>
            <p:nvPr/>
          </p:nvSpPr>
          <p:spPr bwMode="auto">
            <a:xfrm>
              <a:off x="859" y="1619"/>
              <a:ext cx="142" cy="0"/>
            </a:xfrm>
            <a:prstGeom prst="line">
              <a:avLst/>
            </a:prstGeom>
            <a:noFill/>
            <a:ln w="19050">
              <a:solidFill>
                <a:srgbClr val="0000FF"/>
              </a:solidFill>
              <a:round/>
              <a:headEnd/>
              <a:tailEnd/>
            </a:ln>
          </p:spPr>
          <p:txBody>
            <a:bodyPr wrap="none" anchor="ctr"/>
            <a:lstStyle/>
            <a:p>
              <a:endParaRPr lang="fr-FR"/>
            </a:p>
          </p:txBody>
        </p:sp>
      </p:grpSp>
      <p:sp>
        <p:nvSpPr>
          <p:cNvPr id="40968" name="Text Box 35"/>
          <p:cNvSpPr txBox="1">
            <a:spLocks noChangeArrowheads="1"/>
          </p:cNvSpPr>
          <p:nvPr/>
        </p:nvSpPr>
        <p:spPr bwMode="auto">
          <a:xfrm>
            <a:off x="4710113" y="2374900"/>
            <a:ext cx="668337" cy="304800"/>
          </a:xfrm>
          <a:prstGeom prst="rect">
            <a:avLst/>
          </a:prstGeom>
          <a:noFill/>
          <a:ln w="9525">
            <a:noFill/>
            <a:miter lim="800000"/>
            <a:headEnd/>
            <a:tailEnd/>
          </a:ln>
        </p:spPr>
        <p:txBody>
          <a:bodyPr wrap="none">
            <a:spAutoFit/>
          </a:bodyPr>
          <a:lstStyle/>
          <a:p>
            <a:r>
              <a:rPr lang="fr-FR" sz="1400">
                <a:solidFill>
                  <a:srgbClr val="0000FF"/>
                </a:solidFill>
              </a:rPr>
              <a:t>serine</a:t>
            </a:r>
            <a:endParaRPr lang="fr-FR">
              <a:solidFill>
                <a:srgbClr val="FF0000"/>
              </a:solidFill>
            </a:endParaRPr>
          </a:p>
        </p:txBody>
      </p:sp>
      <p:grpSp>
        <p:nvGrpSpPr>
          <p:cNvPr id="4" name="Group 104"/>
          <p:cNvGrpSpPr>
            <a:grpSpLocks/>
          </p:cNvGrpSpPr>
          <p:nvPr/>
        </p:nvGrpSpPr>
        <p:grpSpPr bwMode="auto">
          <a:xfrm>
            <a:off x="3833813" y="1423988"/>
            <a:ext cx="2419350" cy="1000125"/>
            <a:chOff x="2415" y="897"/>
            <a:chExt cx="1524" cy="630"/>
          </a:xfrm>
        </p:grpSpPr>
        <p:sp>
          <p:nvSpPr>
            <p:cNvPr id="41019" name="Text Box 36"/>
            <p:cNvSpPr txBox="1">
              <a:spLocks noChangeArrowheads="1"/>
            </p:cNvSpPr>
            <p:nvPr/>
          </p:nvSpPr>
          <p:spPr bwMode="auto">
            <a:xfrm>
              <a:off x="2915" y="1161"/>
              <a:ext cx="213" cy="366"/>
            </a:xfrm>
            <a:prstGeom prst="rect">
              <a:avLst/>
            </a:prstGeom>
            <a:noFill/>
            <a:ln w="9525">
              <a:noFill/>
              <a:miter lim="800000"/>
              <a:headEnd/>
              <a:tailEnd/>
            </a:ln>
          </p:spPr>
          <p:txBody>
            <a:bodyPr>
              <a:spAutoFit/>
            </a:bodyPr>
            <a:lstStyle/>
            <a:p>
              <a:r>
                <a:rPr lang="fr-FR" sz="1600" b="1">
                  <a:solidFill>
                    <a:srgbClr val="0000FF"/>
                  </a:solidFill>
                </a:rPr>
                <a:t>CH</a:t>
              </a:r>
              <a:endParaRPr lang="fr-FR" sz="1600" b="1" baseline="-25000">
                <a:solidFill>
                  <a:srgbClr val="0000FF"/>
                </a:solidFill>
              </a:endParaRPr>
            </a:p>
          </p:txBody>
        </p:sp>
        <p:sp>
          <p:nvSpPr>
            <p:cNvPr id="41020" name="Text Box 37"/>
            <p:cNvSpPr txBox="1">
              <a:spLocks noChangeArrowheads="1"/>
            </p:cNvSpPr>
            <p:nvPr/>
          </p:nvSpPr>
          <p:spPr bwMode="auto">
            <a:xfrm>
              <a:off x="3195" y="1161"/>
              <a:ext cx="357" cy="212"/>
            </a:xfrm>
            <a:prstGeom prst="rect">
              <a:avLst/>
            </a:prstGeom>
            <a:noFill/>
            <a:ln w="9525">
              <a:noFill/>
              <a:miter lim="800000"/>
              <a:headEnd/>
              <a:tailEnd/>
            </a:ln>
          </p:spPr>
          <p:txBody>
            <a:bodyPr>
              <a:spAutoFit/>
            </a:bodyPr>
            <a:lstStyle/>
            <a:p>
              <a:r>
                <a:rPr lang="fr-FR" sz="1600" b="1">
                  <a:solidFill>
                    <a:srgbClr val="0000FF"/>
                  </a:solidFill>
                </a:rPr>
                <a:t>CH</a:t>
              </a:r>
              <a:r>
                <a:rPr lang="fr-FR" sz="1600" b="1" baseline="-25000">
                  <a:solidFill>
                    <a:srgbClr val="0000FF"/>
                  </a:solidFill>
                </a:rPr>
                <a:t>2</a:t>
              </a:r>
            </a:p>
          </p:txBody>
        </p:sp>
        <p:sp>
          <p:nvSpPr>
            <p:cNvPr id="41021" name="Text Box 38"/>
            <p:cNvSpPr txBox="1">
              <a:spLocks noChangeArrowheads="1"/>
            </p:cNvSpPr>
            <p:nvPr/>
          </p:nvSpPr>
          <p:spPr bwMode="auto">
            <a:xfrm>
              <a:off x="3631" y="1161"/>
              <a:ext cx="308" cy="212"/>
            </a:xfrm>
            <a:prstGeom prst="rect">
              <a:avLst/>
            </a:prstGeom>
            <a:noFill/>
            <a:ln w="9525">
              <a:noFill/>
              <a:miter lim="800000"/>
              <a:headEnd/>
              <a:tailEnd/>
            </a:ln>
          </p:spPr>
          <p:txBody>
            <a:bodyPr wrap="none">
              <a:spAutoFit/>
            </a:bodyPr>
            <a:lstStyle/>
            <a:p>
              <a:r>
                <a:rPr lang="fr-FR" sz="1600" b="1">
                  <a:solidFill>
                    <a:srgbClr val="FF0000"/>
                  </a:solidFill>
                </a:rPr>
                <a:t>OH</a:t>
              </a:r>
              <a:endParaRPr lang="fr-FR" sz="1600" b="1">
                <a:solidFill>
                  <a:srgbClr val="009900"/>
                </a:solidFill>
              </a:endParaRPr>
            </a:p>
          </p:txBody>
        </p:sp>
        <p:sp>
          <p:nvSpPr>
            <p:cNvPr id="41022" name="Text Box 39"/>
            <p:cNvSpPr txBox="1">
              <a:spLocks noChangeArrowheads="1"/>
            </p:cNvSpPr>
            <p:nvPr/>
          </p:nvSpPr>
          <p:spPr bwMode="auto">
            <a:xfrm>
              <a:off x="2415" y="1161"/>
              <a:ext cx="437" cy="212"/>
            </a:xfrm>
            <a:prstGeom prst="rect">
              <a:avLst/>
            </a:prstGeom>
            <a:noFill/>
            <a:ln w="9525">
              <a:noFill/>
              <a:miter lim="800000"/>
              <a:headEnd/>
              <a:tailEnd/>
            </a:ln>
          </p:spPr>
          <p:txBody>
            <a:bodyPr wrap="none">
              <a:spAutoFit/>
            </a:bodyPr>
            <a:lstStyle/>
            <a:p>
              <a:r>
                <a:rPr lang="fr-FR" sz="1600" b="1" baseline="30000">
                  <a:solidFill>
                    <a:srgbClr val="0000FF"/>
                  </a:solidFill>
                </a:rPr>
                <a:t>-</a:t>
              </a:r>
              <a:r>
                <a:rPr lang="fr-FR" sz="1600" b="1">
                  <a:solidFill>
                    <a:srgbClr val="0000FF"/>
                  </a:solidFill>
                </a:rPr>
                <a:t>OOC</a:t>
              </a:r>
              <a:endParaRPr lang="fr-FR" sz="1600" b="1" baseline="30000">
                <a:solidFill>
                  <a:srgbClr val="0000FF"/>
                </a:solidFill>
              </a:endParaRPr>
            </a:p>
          </p:txBody>
        </p:sp>
        <p:sp>
          <p:nvSpPr>
            <p:cNvPr id="41023" name="Line 40"/>
            <p:cNvSpPr>
              <a:spLocks noChangeShapeType="1"/>
            </p:cNvSpPr>
            <p:nvPr/>
          </p:nvSpPr>
          <p:spPr bwMode="auto">
            <a:xfrm>
              <a:off x="3507" y="1267"/>
              <a:ext cx="142" cy="0"/>
            </a:xfrm>
            <a:prstGeom prst="line">
              <a:avLst/>
            </a:prstGeom>
            <a:noFill/>
            <a:ln w="19050">
              <a:solidFill>
                <a:srgbClr val="0000FF"/>
              </a:solidFill>
              <a:round/>
              <a:headEnd/>
              <a:tailEnd/>
            </a:ln>
          </p:spPr>
          <p:txBody>
            <a:bodyPr wrap="none" anchor="ctr"/>
            <a:lstStyle/>
            <a:p>
              <a:endParaRPr lang="fr-FR"/>
            </a:p>
          </p:txBody>
        </p:sp>
        <p:sp>
          <p:nvSpPr>
            <p:cNvPr id="41024" name="Line 41"/>
            <p:cNvSpPr>
              <a:spLocks noChangeShapeType="1"/>
            </p:cNvSpPr>
            <p:nvPr/>
          </p:nvSpPr>
          <p:spPr bwMode="auto">
            <a:xfrm>
              <a:off x="3099" y="1267"/>
              <a:ext cx="142" cy="0"/>
            </a:xfrm>
            <a:prstGeom prst="line">
              <a:avLst/>
            </a:prstGeom>
            <a:noFill/>
            <a:ln w="19050">
              <a:solidFill>
                <a:srgbClr val="0000FF"/>
              </a:solidFill>
              <a:round/>
              <a:headEnd/>
              <a:tailEnd/>
            </a:ln>
          </p:spPr>
          <p:txBody>
            <a:bodyPr wrap="none" anchor="ctr"/>
            <a:lstStyle/>
            <a:p>
              <a:endParaRPr lang="fr-FR"/>
            </a:p>
          </p:txBody>
        </p:sp>
        <p:sp>
          <p:nvSpPr>
            <p:cNvPr id="41025" name="Line 42"/>
            <p:cNvSpPr>
              <a:spLocks noChangeShapeType="1"/>
            </p:cNvSpPr>
            <p:nvPr/>
          </p:nvSpPr>
          <p:spPr bwMode="auto">
            <a:xfrm>
              <a:off x="2811" y="1267"/>
              <a:ext cx="142" cy="0"/>
            </a:xfrm>
            <a:prstGeom prst="line">
              <a:avLst/>
            </a:prstGeom>
            <a:noFill/>
            <a:ln w="19050">
              <a:solidFill>
                <a:srgbClr val="0000FF"/>
              </a:solidFill>
              <a:round/>
              <a:headEnd/>
              <a:tailEnd/>
            </a:ln>
          </p:spPr>
          <p:txBody>
            <a:bodyPr wrap="none" anchor="ctr"/>
            <a:lstStyle/>
            <a:p>
              <a:endParaRPr lang="fr-FR"/>
            </a:p>
          </p:txBody>
        </p:sp>
        <p:sp>
          <p:nvSpPr>
            <p:cNvPr id="41026" name="Text Box 43"/>
            <p:cNvSpPr txBox="1">
              <a:spLocks noChangeArrowheads="1"/>
            </p:cNvSpPr>
            <p:nvPr/>
          </p:nvSpPr>
          <p:spPr bwMode="auto">
            <a:xfrm>
              <a:off x="2911" y="897"/>
              <a:ext cx="401" cy="212"/>
            </a:xfrm>
            <a:prstGeom prst="rect">
              <a:avLst/>
            </a:prstGeom>
            <a:noFill/>
            <a:ln w="9525">
              <a:noFill/>
              <a:miter lim="800000"/>
              <a:headEnd/>
              <a:tailEnd/>
            </a:ln>
          </p:spPr>
          <p:txBody>
            <a:bodyPr wrap="none">
              <a:spAutoFit/>
            </a:bodyPr>
            <a:lstStyle/>
            <a:p>
              <a:r>
                <a:rPr lang="fr-FR" sz="1600" b="1">
                  <a:solidFill>
                    <a:srgbClr val="0000FF"/>
                  </a:solidFill>
                </a:rPr>
                <a:t>NH</a:t>
              </a:r>
              <a:r>
                <a:rPr lang="fr-FR" sz="1600" b="1" baseline="-25000">
                  <a:solidFill>
                    <a:srgbClr val="0000FF"/>
                  </a:solidFill>
                </a:rPr>
                <a:t>3</a:t>
              </a:r>
              <a:r>
                <a:rPr lang="fr-FR" sz="1600" b="1" baseline="30000">
                  <a:solidFill>
                    <a:srgbClr val="0000FF"/>
                  </a:solidFill>
                </a:rPr>
                <a:t>+</a:t>
              </a:r>
            </a:p>
          </p:txBody>
        </p:sp>
        <p:sp>
          <p:nvSpPr>
            <p:cNvPr id="41027" name="Line 44"/>
            <p:cNvSpPr>
              <a:spLocks noChangeShapeType="1"/>
            </p:cNvSpPr>
            <p:nvPr/>
          </p:nvSpPr>
          <p:spPr bwMode="auto">
            <a:xfrm>
              <a:off x="3019" y="1068"/>
              <a:ext cx="0" cy="124"/>
            </a:xfrm>
            <a:prstGeom prst="line">
              <a:avLst/>
            </a:prstGeom>
            <a:noFill/>
            <a:ln w="19050">
              <a:solidFill>
                <a:srgbClr val="0000FF"/>
              </a:solidFill>
              <a:round/>
              <a:headEnd/>
              <a:tailEnd/>
            </a:ln>
          </p:spPr>
          <p:txBody>
            <a:bodyPr wrap="none" anchor="ctr"/>
            <a:lstStyle/>
            <a:p>
              <a:endParaRPr lang="fr-FR"/>
            </a:p>
          </p:txBody>
        </p:sp>
      </p:grpSp>
      <p:grpSp>
        <p:nvGrpSpPr>
          <p:cNvPr id="6" name="Group 93"/>
          <p:cNvGrpSpPr>
            <a:grpSpLocks/>
          </p:cNvGrpSpPr>
          <p:nvPr/>
        </p:nvGrpSpPr>
        <p:grpSpPr bwMode="auto">
          <a:xfrm>
            <a:off x="6030118" y="2211266"/>
            <a:ext cx="1963737" cy="1847850"/>
            <a:chOff x="4371" y="1521"/>
            <a:chExt cx="1237" cy="1164"/>
          </a:xfrm>
        </p:grpSpPr>
        <p:sp>
          <p:nvSpPr>
            <p:cNvPr id="40984" name="Line 58"/>
            <p:cNvSpPr>
              <a:spLocks noChangeShapeType="1"/>
            </p:cNvSpPr>
            <p:nvPr/>
          </p:nvSpPr>
          <p:spPr bwMode="auto">
            <a:xfrm>
              <a:off x="4821" y="2377"/>
              <a:ext cx="309" cy="0"/>
            </a:xfrm>
            <a:prstGeom prst="line">
              <a:avLst/>
            </a:prstGeom>
            <a:noFill/>
            <a:ln w="28575">
              <a:solidFill>
                <a:srgbClr val="0000FF"/>
              </a:solidFill>
              <a:round/>
              <a:headEnd/>
              <a:tailEnd/>
            </a:ln>
          </p:spPr>
          <p:txBody>
            <a:bodyPr wrap="none" anchor="ctr"/>
            <a:lstStyle/>
            <a:p>
              <a:endParaRPr lang="fr-FR"/>
            </a:p>
          </p:txBody>
        </p:sp>
        <p:sp>
          <p:nvSpPr>
            <p:cNvPr id="40985" name="Line 59"/>
            <p:cNvSpPr>
              <a:spLocks noChangeShapeType="1"/>
            </p:cNvSpPr>
            <p:nvPr/>
          </p:nvSpPr>
          <p:spPr bwMode="auto">
            <a:xfrm>
              <a:off x="4821" y="1837"/>
              <a:ext cx="309" cy="0"/>
            </a:xfrm>
            <a:prstGeom prst="line">
              <a:avLst/>
            </a:prstGeom>
            <a:noFill/>
            <a:ln w="28575">
              <a:solidFill>
                <a:srgbClr val="0000FF"/>
              </a:solidFill>
              <a:round/>
              <a:headEnd/>
              <a:tailEnd/>
            </a:ln>
          </p:spPr>
          <p:txBody>
            <a:bodyPr wrap="none" anchor="ctr"/>
            <a:lstStyle/>
            <a:p>
              <a:endParaRPr lang="fr-FR"/>
            </a:p>
          </p:txBody>
        </p:sp>
        <p:sp>
          <p:nvSpPr>
            <p:cNvPr id="40986" name="Line 60"/>
            <p:cNvSpPr>
              <a:spLocks noChangeShapeType="1"/>
            </p:cNvSpPr>
            <p:nvPr/>
          </p:nvSpPr>
          <p:spPr bwMode="auto">
            <a:xfrm rot="-2734724">
              <a:off x="4508" y="1973"/>
              <a:ext cx="371" cy="0"/>
            </a:xfrm>
            <a:prstGeom prst="line">
              <a:avLst/>
            </a:prstGeom>
            <a:noFill/>
            <a:ln w="28575">
              <a:solidFill>
                <a:srgbClr val="0000FF"/>
              </a:solidFill>
              <a:round/>
              <a:headEnd/>
              <a:tailEnd/>
            </a:ln>
          </p:spPr>
          <p:txBody>
            <a:bodyPr wrap="none" anchor="ctr"/>
            <a:lstStyle/>
            <a:p>
              <a:endParaRPr lang="fr-FR"/>
            </a:p>
          </p:txBody>
        </p:sp>
        <p:sp>
          <p:nvSpPr>
            <p:cNvPr id="40987" name="Line 61"/>
            <p:cNvSpPr>
              <a:spLocks noChangeShapeType="1"/>
            </p:cNvSpPr>
            <p:nvPr/>
          </p:nvSpPr>
          <p:spPr bwMode="auto">
            <a:xfrm rot="2734724" flipV="1">
              <a:off x="4508" y="2248"/>
              <a:ext cx="371" cy="0"/>
            </a:xfrm>
            <a:prstGeom prst="line">
              <a:avLst/>
            </a:prstGeom>
            <a:noFill/>
            <a:ln w="28575">
              <a:solidFill>
                <a:srgbClr val="0000FF"/>
              </a:solidFill>
              <a:round/>
              <a:headEnd/>
              <a:tailEnd/>
            </a:ln>
          </p:spPr>
          <p:txBody>
            <a:bodyPr wrap="none" anchor="ctr"/>
            <a:lstStyle/>
            <a:p>
              <a:endParaRPr lang="fr-FR"/>
            </a:p>
          </p:txBody>
        </p:sp>
        <p:sp>
          <p:nvSpPr>
            <p:cNvPr id="40988" name="Line 62"/>
            <p:cNvSpPr>
              <a:spLocks noChangeShapeType="1"/>
            </p:cNvSpPr>
            <p:nvPr/>
          </p:nvSpPr>
          <p:spPr bwMode="auto">
            <a:xfrm rot="2734724" flipH="1">
              <a:off x="5079" y="1973"/>
              <a:ext cx="371" cy="0"/>
            </a:xfrm>
            <a:prstGeom prst="line">
              <a:avLst/>
            </a:prstGeom>
            <a:noFill/>
            <a:ln w="28575">
              <a:solidFill>
                <a:srgbClr val="0000FF"/>
              </a:solidFill>
              <a:round/>
              <a:headEnd/>
              <a:tailEnd/>
            </a:ln>
          </p:spPr>
          <p:txBody>
            <a:bodyPr wrap="none" anchor="ctr"/>
            <a:lstStyle/>
            <a:p>
              <a:endParaRPr lang="fr-FR"/>
            </a:p>
          </p:txBody>
        </p:sp>
        <p:sp>
          <p:nvSpPr>
            <p:cNvPr id="40989" name="Line 63"/>
            <p:cNvSpPr>
              <a:spLocks noChangeShapeType="1"/>
            </p:cNvSpPr>
            <p:nvPr/>
          </p:nvSpPr>
          <p:spPr bwMode="auto">
            <a:xfrm rot="-2734724" flipH="1" flipV="1">
              <a:off x="5087" y="2248"/>
              <a:ext cx="371" cy="0"/>
            </a:xfrm>
            <a:prstGeom prst="line">
              <a:avLst/>
            </a:prstGeom>
            <a:noFill/>
            <a:ln w="28575">
              <a:solidFill>
                <a:srgbClr val="0000FF"/>
              </a:solidFill>
              <a:round/>
              <a:headEnd/>
              <a:tailEnd/>
            </a:ln>
          </p:spPr>
          <p:txBody>
            <a:bodyPr wrap="none" anchor="ctr"/>
            <a:lstStyle/>
            <a:p>
              <a:endParaRPr lang="fr-FR"/>
            </a:p>
          </p:txBody>
        </p:sp>
        <p:sp>
          <p:nvSpPr>
            <p:cNvPr id="40990" name="Line 64"/>
            <p:cNvSpPr>
              <a:spLocks noChangeShapeType="1"/>
            </p:cNvSpPr>
            <p:nvPr/>
          </p:nvSpPr>
          <p:spPr bwMode="auto">
            <a:xfrm flipH="1">
              <a:off x="4831" y="2232"/>
              <a:ext cx="0" cy="269"/>
            </a:xfrm>
            <a:prstGeom prst="line">
              <a:avLst/>
            </a:prstGeom>
            <a:noFill/>
            <a:ln w="19050">
              <a:solidFill>
                <a:srgbClr val="0000FF"/>
              </a:solidFill>
              <a:round/>
              <a:headEnd/>
              <a:tailEnd/>
            </a:ln>
          </p:spPr>
          <p:txBody>
            <a:bodyPr wrap="none" anchor="ctr"/>
            <a:lstStyle/>
            <a:p>
              <a:endParaRPr lang="fr-FR"/>
            </a:p>
          </p:txBody>
        </p:sp>
        <p:sp>
          <p:nvSpPr>
            <p:cNvPr id="40991" name="Text Box 70"/>
            <p:cNvSpPr txBox="1">
              <a:spLocks noChangeArrowheads="1"/>
            </p:cNvSpPr>
            <p:nvPr/>
          </p:nvSpPr>
          <p:spPr bwMode="auto">
            <a:xfrm>
              <a:off x="4727" y="2057"/>
              <a:ext cx="308" cy="212"/>
            </a:xfrm>
            <a:prstGeom prst="rect">
              <a:avLst/>
            </a:prstGeom>
            <a:noFill/>
            <a:ln w="9525">
              <a:noFill/>
              <a:miter lim="800000"/>
              <a:headEnd/>
              <a:tailEnd/>
            </a:ln>
          </p:spPr>
          <p:txBody>
            <a:bodyPr wrap="none">
              <a:spAutoFit/>
            </a:bodyPr>
            <a:lstStyle/>
            <a:p>
              <a:r>
                <a:rPr lang="fr-FR" sz="1600" b="1" dirty="0">
                  <a:solidFill>
                    <a:srgbClr val="0000FF"/>
                  </a:solidFill>
                </a:rPr>
                <a:t>OH</a:t>
              </a:r>
              <a:endParaRPr lang="fr-FR" sz="1600" b="1" baseline="30000" dirty="0">
                <a:solidFill>
                  <a:srgbClr val="0000FF"/>
                </a:solidFill>
              </a:endParaRPr>
            </a:p>
          </p:txBody>
        </p:sp>
        <p:sp>
          <p:nvSpPr>
            <p:cNvPr id="40992" name="Line 72"/>
            <p:cNvSpPr>
              <a:spLocks noChangeShapeType="1"/>
            </p:cNvSpPr>
            <p:nvPr/>
          </p:nvSpPr>
          <p:spPr bwMode="auto">
            <a:xfrm flipH="1">
              <a:off x="5135" y="2232"/>
              <a:ext cx="0" cy="269"/>
            </a:xfrm>
            <a:prstGeom prst="line">
              <a:avLst/>
            </a:prstGeom>
            <a:noFill/>
            <a:ln w="19050">
              <a:solidFill>
                <a:srgbClr val="0000FF"/>
              </a:solidFill>
              <a:round/>
              <a:headEnd/>
              <a:tailEnd/>
            </a:ln>
          </p:spPr>
          <p:txBody>
            <a:bodyPr wrap="none" anchor="ctr"/>
            <a:lstStyle/>
            <a:p>
              <a:endParaRPr lang="fr-FR"/>
            </a:p>
          </p:txBody>
        </p:sp>
        <p:sp>
          <p:nvSpPr>
            <p:cNvPr id="40993" name="Line 73"/>
            <p:cNvSpPr>
              <a:spLocks noChangeShapeType="1"/>
            </p:cNvSpPr>
            <p:nvPr/>
          </p:nvSpPr>
          <p:spPr bwMode="auto">
            <a:xfrm flipH="1">
              <a:off x="5399" y="1960"/>
              <a:ext cx="0" cy="269"/>
            </a:xfrm>
            <a:prstGeom prst="line">
              <a:avLst/>
            </a:prstGeom>
            <a:noFill/>
            <a:ln w="19050">
              <a:solidFill>
                <a:srgbClr val="0000FF"/>
              </a:solidFill>
              <a:round/>
              <a:headEnd/>
              <a:tailEnd/>
            </a:ln>
          </p:spPr>
          <p:txBody>
            <a:bodyPr wrap="none" anchor="ctr"/>
            <a:lstStyle/>
            <a:p>
              <a:endParaRPr lang="fr-FR"/>
            </a:p>
          </p:txBody>
        </p:sp>
        <p:sp>
          <p:nvSpPr>
            <p:cNvPr id="40994" name="Line 74"/>
            <p:cNvSpPr>
              <a:spLocks noChangeShapeType="1"/>
            </p:cNvSpPr>
            <p:nvPr/>
          </p:nvSpPr>
          <p:spPr bwMode="auto">
            <a:xfrm flipH="1">
              <a:off x="5143" y="1680"/>
              <a:ext cx="0" cy="269"/>
            </a:xfrm>
            <a:prstGeom prst="line">
              <a:avLst/>
            </a:prstGeom>
            <a:noFill/>
            <a:ln w="19050">
              <a:solidFill>
                <a:srgbClr val="0000FF"/>
              </a:solidFill>
              <a:round/>
              <a:headEnd/>
              <a:tailEnd/>
            </a:ln>
          </p:spPr>
          <p:txBody>
            <a:bodyPr wrap="none" anchor="ctr"/>
            <a:lstStyle/>
            <a:p>
              <a:endParaRPr lang="fr-FR"/>
            </a:p>
          </p:txBody>
        </p:sp>
        <p:sp>
          <p:nvSpPr>
            <p:cNvPr id="40995" name="Line 75"/>
            <p:cNvSpPr>
              <a:spLocks noChangeShapeType="1"/>
            </p:cNvSpPr>
            <p:nvPr/>
          </p:nvSpPr>
          <p:spPr bwMode="auto">
            <a:xfrm flipH="1">
              <a:off x="4823" y="1680"/>
              <a:ext cx="0" cy="269"/>
            </a:xfrm>
            <a:prstGeom prst="line">
              <a:avLst/>
            </a:prstGeom>
            <a:noFill/>
            <a:ln w="19050">
              <a:solidFill>
                <a:srgbClr val="0000FF"/>
              </a:solidFill>
              <a:round/>
              <a:headEnd/>
              <a:tailEnd/>
            </a:ln>
          </p:spPr>
          <p:txBody>
            <a:bodyPr wrap="none" anchor="ctr"/>
            <a:lstStyle/>
            <a:p>
              <a:endParaRPr lang="fr-FR"/>
            </a:p>
          </p:txBody>
        </p:sp>
        <p:sp>
          <p:nvSpPr>
            <p:cNvPr id="40996" name="Line 76"/>
            <p:cNvSpPr>
              <a:spLocks noChangeShapeType="1"/>
            </p:cNvSpPr>
            <p:nvPr/>
          </p:nvSpPr>
          <p:spPr bwMode="auto">
            <a:xfrm flipH="1">
              <a:off x="4567" y="1960"/>
              <a:ext cx="0" cy="269"/>
            </a:xfrm>
            <a:prstGeom prst="line">
              <a:avLst/>
            </a:prstGeom>
            <a:noFill/>
            <a:ln w="19050">
              <a:solidFill>
                <a:srgbClr val="0000FF"/>
              </a:solidFill>
              <a:round/>
              <a:headEnd/>
              <a:tailEnd/>
            </a:ln>
          </p:spPr>
          <p:txBody>
            <a:bodyPr wrap="none" anchor="ctr"/>
            <a:lstStyle/>
            <a:p>
              <a:endParaRPr lang="fr-FR"/>
            </a:p>
          </p:txBody>
        </p:sp>
        <p:sp>
          <p:nvSpPr>
            <p:cNvPr id="40997" name="Text Box 77"/>
            <p:cNvSpPr txBox="1">
              <a:spLocks noChangeArrowheads="1"/>
            </p:cNvSpPr>
            <p:nvPr/>
          </p:nvSpPr>
          <p:spPr bwMode="auto">
            <a:xfrm>
              <a:off x="5031" y="2473"/>
              <a:ext cx="308" cy="212"/>
            </a:xfrm>
            <a:prstGeom prst="rect">
              <a:avLst/>
            </a:prstGeom>
            <a:noFill/>
            <a:ln w="9525">
              <a:noFill/>
              <a:miter lim="800000"/>
              <a:headEnd/>
              <a:tailEnd/>
            </a:ln>
          </p:spPr>
          <p:txBody>
            <a:bodyPr wrap="none">
              <a:spAutoFit/>
            </a:bodyPr>
            <a:lstStyle/>
            <a:p>
              <a:r>
                <a:rPr lang="fr-FR" sz="1600" b="1">
                  <a:solidFill>
                    <a:srgbClr val="0000FF"/>
                  </a:solidFill>
                </a:rPr>
                <a:t>OH</a:t>
              </a:r>
              <a:endParaRPr lang="fr-FR" sz="1600" b="1" baseline="30000">
                <a:solidFill>
                  <a:srgbClr val="0000FF"/>
                </a:solidFill>
              </a:endParaRPr>
            </a:p>
          </p:txBody>
        </p:sp>
        <p:sp>
          <p:nvSpPr>
            <p:cNvPr id="40998" name="Text Box 78"/>
            <p:cNvSpPr txBox="1">
              <a:spLocks noChangeArrowheads="1"/>
            </p:cNvSpPr>
            <p:nvPr/>
          </p:nvSpPr>
          <p:spPr bwMode="auto">
            <a:xfrm>
              <a:off x="5300" y="1777"/>
              <a:ext cx="308" cy="212"/>
            </a:xfrm>
            <a:prstGeom prst="rect">
              <a:avLst/>
            </a:prstGeom>
            <a:noFill/>
            <a:ln w="9525">
              <a:noFill/>
              <a:miter lim="800000"/>
              <a:headEnd/>
              <a:tailEnd/>
            </a:ln>
          </p:spPr>
          <p:txBody>
            <a:bodyPr wrap="none">
              <a:spAutoFit/>
            </a:bodyPr>
            <a:lstStyle/>
            <a:p>
              <a:r>
                <a:rPr lang="fr-FR" sz="1600" b="1">
                  <a:solidFill>
                    <a:srgbClr val="FF0000"/>
                  </a:solidFill>
                </a:rPr>
                <a:t>OH</a:t>
              </a:r>
              <a:endParaRPr lang="fr-FR" sz="1600" b="1" baseline="30000">
                <a:solidFill>
                  <a:srgbClr val="FF0000"/>
                </a:solidFill>
              </a:endParaRPr>
            </a:p>
          </p:txBody>
        </p:sp>
        <p:sp>
          <p:nvSpPr>
            <p:cNvPr id="40999" name="Text Box 79"/>
            <p:cNvSpPr txBox="1">
              <a:spLocks noChangeArrowheads="1"/>
            </p:cNvSpPr>
            <p:nvPr/>
          </p:nvSpPr>
          <p:spPr bwMode="auto">
            <a:xfrm>
              <a:off x="5041" y="1521"/>
              <a:ext cx="308" cy="212"/>
            </a:xfrm>
            <a:prstGeom prst="rect">
              <a:avLst/>
            </a:prstGeom>
            <a:noFill/>
            <a:ln w="9525">
              <a:noFill/>
              <a:miter lim="800000"/>
              <a:headEnd/>
              <a:tailEnd/>
            </a:ln>
          </p:spPr>
          <p:txBody>
            <a:bodyPr wrap="none">
              <a:spAutoFit/>
            </a:bodyPr>
            <a:lstStyle/>
            <a:p>
              <a:r>
                <a:rPr lang="fr-FR" sz="1600" b="1">
                  <a:solidFill>
                    <a:srgbClr val="0000FF"/>
                  </a:solidFill>
                </a:rPr>
                <a:t>OH</a:t>
              </a:r>
              <a:endParaRPr lang="fr-FR" sz="1600" b="1" baseline="30000">
                <a:solidFill>
                  <a:srgbClr val="0000FF"/>
                </a:solidFill>
              </a:endParaRPr>
            </a:p>
          </p:txBody>
        </p:sp>
        <p:sp>
          <p:nvSpPr>
            <p:cNvPr id="41000" name="Text Box 80"/>
            <p:cNvSpPr txBox="1">
              <a:spLocks noChangeArrowheads="1"/>
            </p:cNvSpPr>
            <p:nvPr/>
          </p:nvSpPr>
          <p:spPr bwMode="auto">
            <a:xfrm>
              <a:off x="4718" y="1521"/>
              <a:ext cx="308" cy="212"/>
            </a:xfrm>
            <a:prstGeom prst="rect">
              <a:avLst/>
            </a:prstGeom>
            <a:noFill/>
            <a:ln w="9525">
              <a:noFill/>
              <a:miter lim="800000"/>
              <a:headEnd/>
              <a:tailEnd/>
            </a:ln>
          </p:spPr>
          <p:txBody>
            <a:bodyPr wrap="none">
              <a:spAutoFit/>
            </a:bodyPr>
            <a:lstStyle/>
            <a:p>
              <a:r>
                <a:rPr lang="fr-FR" sz="1600" b="1">
                  <a:solidFill>
                    <a:srgbClr val="0000FF"/>
                  </a:solidFill>
                </a:rPr>
                <a:t>OH</a:t>
              </a:r>
              <a:endParaRPr lang="fr-FR" sz="1600" b="1" baseline="30000">
                <a:solidFill>
                  <a:srgbClr val="0000FF"/>
                </a:solidFill>
              </a:endParaRPr>
            </a:p>
          </p:txBody>
        </p:sp>
        <p:sp>
          <p:nvSpPr>
            <p:cNvPr id="41001" name="Text Box 81"/>
            <p:cNvSpPr txBox="1">
              <a:spLocks noChangeArrowheads="1"/>
            </p:cNvSpPr>
            <p:nvPr/>
          </p:nvSpPr>
          <p:spPr bwMode="auto">
            <a:xfrm>
              <a:off x="4371" y="2201"/>
              <a:ext cx="308" cy="212"/>
            </a:xfrm>
            <a:prstGeom prst="rect">
              <a:avLst/>
            </a:prstGeom>
            <a:noFill/>
            <a:ln w="9525">
              <a:noFill/>
              <a:miter lim="800000"/>
              <a:headEnd/>
              <a:tailEnd/>
            </a:ln>
          </p:spPr>
          <p:txBody>
            <a:bodyPr wrap="none">
              <a:spAutoFit/>
            </a:bodyPr>
            <a:lstStyle/>
            <a:p>
              <a:r>
                <a:rPr lang="fr-FR" sz="1600" b="1">
                  <a:solidFill>
                    <a:srgbClr val="0000FF"/>
                  </a:solidFill>
                </a:rPr>
                <a:t>HO</a:t>
              </a:r>
              <a:endParaRPr lang="fr-FR" sz="1600" b="1" baseline="30000">
                <a:solidFill>
                  <a:srgbClr val="0000FF"/>
                </a:solidFill>
              </a:endParaRPr>
            </a:p>
          </p:txBody>
        </p:sp>
        <p:sp>
          <p:nvSpPr>
            <p:cNvPr id="41002" name="Text Box 82"/>
            <p:cNvSpPr txBox="1">
              <a:spLocks noChangeArrowheads="1"/>
            </p:cNvSpPr>
            <p:nvPr/>
          </p:nvSpPr>
          <p:spPr bwMode="auto">
            <a:xfrm>
              <a:off x="4727" y="2473"/>
              <a:ext cx="208" cy="212"/>
            </a:xfrm>
            <a:prstGeom prst="rect">
              <a:avLst/>
            </a:prstGeom>
            <a:noFill/>
            <a:ln w="9525">
              <a:noFill/>
              <a:miter lim="800000"/>
              <a:headEnd/>
              <a:tailEnd/>
            </a:ln>
          </p:spPr>
          <p:txBody>
            <a:bodyPr wrap="none">
              <a:spAutoFit/>
            </a:bodyPr>
            <a:lstStyle/>
            <a:p>
              <a:r>
                <a:rPr lang="fr-FR" sz="1600" b="1">
                  <a:solidFill>
                    <a:srgbClr val="0000FF"/>
                  </a:solidFill>
                </a:rPr>
                <a:t>H</a:t>
              </a:r>
              <a:endParaRPr lang="fr-FR" sz="1600" b="1" baseline="30000">
                <a:solidFill>
                  <a:srgbClr val="0000FF"/>
                </a:solidFill>
              </a:endParaRPr>
            </a:p>
          </p:txBody>
        </p:sp>
        <p:sp>
          <p:nvSpPr>
            <p:cNvPr id="41003" name="Text Box 83"/>
            <p:cNvSpPr txBox="1">
              <a:spLocks noChangeArrowheads="1"/>
            </p:cNvSpPr>
            <p:nvPr/>
          </p:nvSpPr>
          <p:spPr bwMode="auto">
            <a:xfrm>
              <a:off x="5023" y="2057"/>
              <a:ext cx="208" cy="212"/>
            </a:xfrm>
            <a:prstGeom prst="rect">
              <a:avLst/>
            </a:prstGeom>
            <a:noFill/>
            <a:ln w="9525">
              <a:noFill/>
              <a:miter lim="800000"/>
              <a:headEnd/>
              <a:tailEnd/>
            </a:ln>
          </p:spPr>
          <p:txBody>
            <a:bodyPr wrap="none">
              <a:spAutoFit/>
            </a:bodyPr>
            <a:lstStyle/>
            <a:p>
              <a:r>
                <a:rPr lang="fr-FR" sz="1600" b="1">
                  <a:solidFill>
                    <a:srgbClr val="0000FF"/>
                  </a:solidFill>
                </a:rPr>
                <a:t>H</a:t>
              </a:r>
              <a:endParaRPr lang="fr-FR" sz="1600" b="1" baseline="30000">
                <a:solidFill>
                  <a:srgbClr val="0000FF"/>
                </a:solidFill>
              </a:endParaRPr>
            </a:p>
          </p:txBody>
        </p:sp>
        <p:sp>
          <p:nvSpPr>
            <p:cNvPr id="41004" name="Text Box 84"/>
            <p:cNvSpPr txBox="1">
              <a:spLocks noChangeArrowheads="1"/>
            </p:cNvSpPr>
            <p:nvPr/>
          </p:nvSpPr>
          <p:spPr bwMode="auto">
            <a:xfrm>
              <a:off x="5039" y="1921"/>
              <a:ext cx="208" cy="212"/>
            </a:xfrm>
            <a:prstGeom prst="rect">
              <a:avLst/>
            </a:prstGeom>
            <a:noFill/>
            <a:ln w="9525">
              <a:noFill/>
              <a:miter lim="800000"/>
              <a:headEnd/>
              <a:tailEnd/>
            </a:ln>
          </p:spPr>
          <p:txBody>
            <a:bodyPr wrap="none">
              <a:spAutoFit/>
            </a:bodyPr>
            <a:lstStyle/>
            <a:p>
              <a:r>
                <a:rPr lang="fr-FR" sz="1600" b="1">
                  <a:solidFill>
                    <a:srgbClr val="0000FF"/>
                  </a:solidFill>
                </a:rPr>
                <a:t>H</a:t>
              </a:r>
              <a:endParaRPr lang="fr-FR" sz="1600" b="1" baseline="30000">
                <a:solidFill>
                  <a:srgbClr val="0000FF"/>
                </a:solidFill>
              </a:endParaRPr>
            </a:p>
          </p:txBody>
        </p:sp>
        <p:sp>
          <p:nvSpPr>
            <p:cNvPr id="41005" name="Text Box 85"/>
            <p:cNvSpPr txBox="1">
              <a:spLocks noChangeArrowheads="1"/>
            </p:cNvSpPr>
            <p:nvPr/>
          </p:nvSpPr>
          <p:spPr bwMode="auto">
            <a:xfrm>
              <a:off x="4719" y="1913"/>
              <a:ext cx="208" cy="212"/>
            </a:xfrm>
            <a:prstGeom prst="rect">
              <a:avLst/>
            </a:prstGeom>
            <a:noFill/>
            <a:ln w="9525">
              <a:noFill/>
              <a:miter lim="800000"/>
              <a:headEnd/>
              <a:tailEnd/>
            </a:ln>
          </p:spPr>
          <p:txBody>
            <a:bodyPr wrap="none">
              <a:spAutoFit/>
            </a:bodyPr>
            <a:lstStyle/>
            <a:p>
              <a:r>
                <a:rPr lang="fr-FR" sz="1600" b="1">
                  <a:solidFill>
                    <a:srgbClr val="0000FF"/>
                  </a:solidFill>
                </a:rPr>
                <a:t>H</a:t>
              </a:r>
              <a:endParaRPr lang="fr-FR" sz="1600" b="1" baseline="30000">
                <a:solidFill>
                  <a:srgbClr val="0000FF"/>
                </a:solidFill>
              </a:endParaRPr>
            </a:p>
          </p:txBody>
        </p:sp>
        <p:sp>
          <p:nvSpPr>
            <p:cNvPr id="41006" name="Text Box 86"/>
            <p:cNvSpPr txBox="1">
              <a:spLocks noChangeArrowheads="1"/>
            </p:cNvSpPr>
            <p:nvPr/>
          </p:nvSpPr>
          <p:spPr bwMode="auto">
            <a:xfrm>
              <a:off x="4463" y="1785"/>
              <a:ext cx="208" cy="212"/>
            </a:xfrm>
            <a:prstGeom prst="rect">
              <a:avLst/>
            </a:prstGeom>
            <a:noFill/>
            <a:ln w="9525">
              <a:noFill/>
              <a:miter lim="800000"/>
              <a:headEnd/>
              <a:tailEnd/>
            </a:ln>
          </p:spPr>
          <p:txBody>
            <a:bodyPr wrap="none">
              <a:spAutoFit/>
            </a:bodyPr>
            <a:lstStyle/>
            <a:p>
              <a:r>
                <a:rPr lang="fr-FR" sz="1600" b="1">
                  <a:solidFill>
                    <a:srgbClr val="0000FF"/>
                  </a:solidFill>
                </a:rPr>
                <a:t>H</a:t>
              </a:r>
              <a:endParaRPr lang="fr-FR" sz="1600" b="1" baseline="30000">
                <a:solidFill>
                  <a:srgbClr val="0000FF"/>
                </a:solidFill>
              </a:endParaRPr>
            </a:p>
          </p:txBody>
        </p:sp>
        <p:sp>
          <p:nvSpPr>
            <p:cNvPr id="41007" name="Text Box 87"/>
            <p:cNvSpPr txBox="1">
              <a:spLocks noChangeArrowheads="1"/>
            </p:cNvSpPr>
            <p:nvPr/>
          </p:nvSpPr>
          <p:spPr bwMode="auto">
            <a:xfrm>
              <a:off x="5303" y="2201"/>
              <a:ext cx="208" cy="212"/>
            </a:xfrm>
            <a:prstGeom prst="rect">
              <a:avLst/>
            </a:prstGeom>
            <a:noFill/>
            <a:ln w="9525">
              <a:noFill/>
              <a:miter lim="800000"/>
              <a:headEnd/>
              <a:tailEnd/>
            </a:ln>
          </p:spPr>
          <p:txBody>
            <a:bodyPr wrap="none">
              <a:spAutoFit/>
            </a:bodyPr>
            <a:lstStyle/>
            <a:p>
              <a:r>
                <a:rPr lang="fr-FR" sz="1600" b="1">
                  <a:solidFill>
                    <a:srgbClr val="0000FF"/>
                  </a:solidFill>
                </a:rPr>
                <a:t>H</a:t>
              </a:r>
              <a:endParaRPr lang="fr-FR" sz="1600" b="1" baseline="30000">
                <a:solidFill>
                  <a:srgbClr val="0000FF"/>
                </a:solidFill>
              </a:endParaRPr>
            </a:p>
          </p:txBody>
        </p:sp>
      </p:grpSp>
      <p:sp>
        <p:nvSpPr>
          <p:cNvPr id="40973" name="Text Box 88"/>
          <p:cNvSpPr txBox="1">
            <a:spLocks noChangeArrowheads="1"/>
          </p:cNvSpPr>
          <p:nvPr/>
        </p:nvSpPr>
        <p:spPr bwMode="auto">
          <a:xfrm>
            <a:off x="7437438" y="3924300"/>
            <a:ext cx="738187" cy="304800"/>
          </a:xfrm>
          <a:prstGeom prst="rect">
            <a:avLst/>
          </a:prstGeom>
          <a:noFill/>
          <a:ln w="9525">
            <a:noFill/>
            <a:miter lim="800000"/>
            <a:headEnd/>
            <a:tailEnd/>
          </a:ln>
        </p:spPr>
        <p:txBody>
          <a:bodyPr wrap="none">
            <a:spAutoFit/>
          </a:bodyPr>
          <a:lstStyle/>
          <a:p>
            <a:r>
              <a:rPr lang="fr-FR" sz="1400">
                <a:solidFill>
                  <a:srgbClr val="0000FF"/>
                </a:solidFill>
              </a:rPr>
              <a:t>inositol</a:t>
            </a:r>
            <a:endParaRPr lang="fr-FR">
              <a:solidFill>
                <a:srgbClr val="FF0000"/>
              </a:solidFill>
            </a:endParaRPr>
          </a:p>
        </p:txBody>
      </p:sp>
      <p:sp>
        <p:nvSpPr>
          <p:cNvPr id="40974" name="Rectangle 103"/>
          <p:cNvSpPr>
            <a:spLocks noChangeArrowheads="1"/>
          </p:cNvSpPr>
          <p:nvPr/>
        </p:nvSpPr>
        <p:spPr bwMode="auto">
          <a:xfrm>
            <a:off x="1485900" y="4889500"/>
            <a:ext cx="6261100" cy="876300"/>
          </a:xfrm>
          <a:prstGeom prst="rect">
            <a:avLst/>
          </a:prstGeom>
          <a:solidFill>
            <a:srgbClr val="99CCFF"/>
          </a:solidFill>
          <a:ln w="9525">
            <a:solidFill>
              <a:srgbClr val="99CCFF"/>
            </a:solidFill>
            <a:miter lim="800000"/>
            <a:headEnd/>
            <a:tailEnd/>
          </a:ln>
        </p:spPr>
        <p:txBody>
          <a:bodyPr wrap="none" anchor="ctr"/>
          <a:lstStyle/>
          <a:p>
            <a:endParaRPr lang="fr-FR"/>
          </a:p>
        </p:txBody>
      </p:sp>
      <p:grpSp>
        <p:nvGrpSpPr>
          <p:cNvPr id="7" name="Group 101"/>
          <p:cNvGrpSpPr>
            <a:grpSpLocks/>
          </p:cNvGrpSpPr>
          <p:nvPr/>
        </p:nvGrpSpPr>
        <p:grpSpPr bwMode="auto">
          <a:xfrm>
            <a:off x="1549400" y="4340225"/>
            <a:ext cx="6224588" cy="2108200"/>
            <a:chOff x="968" y="2838"/>
            <a:chExt cx="3921" cy="1328"/>
          </a:xfrm>
        </p:grpSpPr>
        <p:sp>
          <p:nvSpPr>
            <p:cNvPr id="40977" name="Text Box 94"/>
            <p:cNvSpPr txBox="1">
              <a:spLocks noChangeArrowheads="1"/>
            </p:cNvSpPr>
            <p:nvPr/>
          </p:nvSpPr>
          <p:spPr bwMode="auto">
            <a:xfrm>
              <a:off x="968" y="3158"/>
              <a:ext cx="1349" cy="1008"/>
            </a:xfrm>
            <a:prstGeom prst="rect">
              <a:avLst/>
            </a:prstGeom>
            <a:noFill/>
            <a:ln w="9525">
              <a:noFill/>
              <a:miter lim="800000"/>
              <a:headEnd/>
              <a:tailEnd/>
            </a:ln>
          </p:spPr>
          <p:txBody>
            <a:bodyPr wrap="none">
              <a:spAutoFit/>
            </a:bodyPr>
            <a:lstStyle/>
            <a:p>
              <a:r>
                <a:rPr lang="fr-FR" sz="1400" i="1" dirty="0"/>
                <a:t>Phosphatidylethanolamine</a:t>
              </a:r>
            </a:p>
            <a:p>
              <a:r>
                <a:rPr lang="fr-FR" sz="1400" i="1" dirty="0" err="1"/>
                <a:t>Phosphatidylserine</a:t>
              </a:r>
              <a:endParaRPr lang="fr-FR" sz="1400" i="1" dirty="0"/>
            </a:p>
            <a:p>
              <a:r>
                <a:rPr lang="fr-FR" sz="1400" i="1" dirty="0" err="1"/>
                <a:t>Phosphatidylcholine</a:t>
              </a:r>
              <a:endParaRPr lang="fr-FR" sz="1400" i="1" dirty="0"/>
            </a:p>
            <a:p>
              <a:r>
                <a:rPr lang="fr-FR" sz="1400" i="1" dirty="0" err="1"/>
                <a:t>Phosphatidylinositol</a:t>
              </a:r>
              <a:endParaRPr lang="fr-FR" sz="1400" i="1" dirty="0"/>
            </a:p>
            <a:p>
              <a:r>
                <a:rPr lang="fr-FR" sz="1400" i="1" dirty="0" err="1"/>
                <a:t>Sphingomyelin</a:t>
              </a:r>
              <a:endParaRPr lang="fr-FR" sz="1400" i="1" dirty="0"/>
            </a:p>
            <a:p>
              <a:r>
                <a:rPr lang="fr-FR" sz="1400" i="1" dirty="0"/>
                <a:t>Glycolipides</a:t>
              </a:r>
            </a:p>
            <a:p>
              <a:r>
                <a:rPr lang="fr-FR" sz="1400" i="1" dirty="0"/>
                <a:t>Cholesterol</a:t>
              </a:r>
            </a:p>
          </p:txBody>
        </p:sp>
        <p:sp>
          <p:nvSpPr>
            <p:cNvPr id="40978" name="Rectangle 95"/>
            <p:cNvSpPr>
              <a:spLocks noChangeArrowheads="1"/>
            </p:cNvSpPr>
            <p:nvPr/>
          </p:nvSpPr>
          <p:spPr bwMode="auto">
            <a:xfrm>
              <a:off x="3992" y="2838"/>
              <a:ext cx="897" cy="330"/>
            </a:xfrm>
            <a:prstGeom prst="rect">
              <a:avLst/>
            </a:prstGeom>
            <a:noFill/>
            <a:ln w="9525">
              <a:noFill/>
              <a:miter lim="800000"/>
              <a:headEnd/>
              <a:tailEnd/>
            </a:ln>
          </p:spPr>
          <p:txBody>
            <a:bodyPr>
              <a:spAutoFit/>
            </a:bodyPr>
            <a:lstStyle/>
            <a:p>
              <a:pPr algn="ctr"/>
              <a:r>
                <a:rPr lang="fr-FR" sz="1400" i="1" dirty="0" err="1"/>
                <a:t>Endoplasmic</a:t>
              </a:r>
              <a:endParaRPr lang="fr-FR" sz="1400" i="1" dirty="0"/>
            </a:p>
            <a:p>
              <a:pPr algn="ctr"/>
              <a:r>
                <a:rPr lang="fr-FR" sz="1400" i="1" dirty="0" err="1"/>
                <a:t>Reticulum</a:t>
              </a:r>
              <a:endParaRPr lang="fr-FR" sz="1400" i="1" dirty="0"/>
            </a:p>
          </p:txBody>
        </p:sp>
        <p:sp>
          <p:nvSpPr>
            <p:cNvPr id="40979" name="Rectangle 96"/>
            <p:cNvSpPr>
              <a:spLocks noChangeArrowheads="1"/>
            </p:cNvSpPr>
            <p:nvPr/>
          </p:nvSpPr>
          <p:spPr bwMode="auto">
            <a:xfrm>
              <a:off x="2440" y="2838"/>
              <a:ext cx="677" cy="330"/>
            </a:xfrm>
            <a:prstGeom prst="rect">
              <a:avLst/>
            </a:prstGeom>
            <a:noFill/>
            <a:ln w="9525">
              <a:noFill/>
              <a:miter lim="800000"/>
              <a:headEnd/>
              <a:tailEnd/>
            </a:ln>
          </p:spPr>
          <p:txBody>
            <a:bodyPr>
              <a:spAutoFit/>
            </a:bodyPr>
            <a:lstStyle/>
            <a:p>
              <a:pPr algn="ctr"/>
              <a:r>
                <a:rPr lang="fr-FR" sz="1400" i="1" dirty="0" err="1"/>
                <a:t>Cell</a:t>
              </a:r>
              <a:endParaRPr lang="fr-FR" sz="1400" i="1" dirty="0"/>
            </a:p>
            <a:p>
              <a:pPr algn="ctr"/>
              <a:r>
                <a:rPr lang="fr-FR" sz="1400" i="1" dirty="0"/>
                <a:t>Membrane </a:t>
              </a:r>
            </a:p>
          </p:txBody>
        </p:sp>
        <p:sp>
          <p:nvSpPr>
            <p:cNvPr id="40980" name="Rectangle 97"/>
            <p:cNvSpPr>
              <a:spLocks noChangeArrowheads="1"/>
            </p:cNvSpPr>
            <p:nvPr/>
          </p:nvSpPr>
          <p:spPr bwMode="auto">
            <a:xfrm>
              <a:off x="3217" y="2905"/>
              <a:ext cx="738" cy="194"/>
            </a:xfrm>
            <a:prstGeom prst="rect">
              <a:avLst/>
            </a:prstGeom>
            <a:noFill/>
            <a:ln w="9525">
              <a:noFill/>
              <a:miter lim="800000"/>
              <a:headEnd/>
              <a:tailEnd/>
            </a:ln>
          </p:spPr>
          <p:txBody>
            <a:bodyPr wrap="none">
              <a:spAutoFit/>
            </a:bodyPr>
            <a:lstStyle/>
            <a:p>
              <a:r>
                <a:rPr lang="fr-FR" sz="1400" i="1" dirty="0" err="1"/>
                <a:t>Mitochondria</a:t>
              </a:r>
              <a:endParaRPr lang="fr-FR" sz="1400" i="1" dirty="0"/>
            </a:p>
          </p:txBody>
        </p:sp>
        <p:sp>
          <p:nvSpPr>
            <p:cNvPr id="40981" name="Text Box 98"/>
            <p:cNvSpPr txBox="1">
              <a:spLocks noChangeArrowheads="1"/>
            </p:cNvSpPr>
            <p:nvPr/>
          </p:nvSpPr>
          <p:spPr bwMode="auto">
            <a:xfrm>
              <a:off x="2645" y="3158"/>
              <a:ext cx="276" cy="1008"/>
            </a:xfrm>
            <a:prstGeom prst="rect">
              <a:avLst/>
            </a:prstGeom>
            <a:noFill/>
            <a:ln w="9525">
              <a:noFill/>
              <a:miter lim="800000"/>
              <a:headEnd/>
              <a:tailEnd/>
            </a:ln>
          </p:spPr>
          <p:txBody>
            <a:bodyPr wrap="none">
              <a:spAutoFit/>
            </a:bodyPr>
            <a:lstStyle/>
            <a:p>
              <a:pPr algn="ctr"/>
              <a:r>
                <a:rPr lang="fr-FR" sz="1400" i="1"/>
                <a:t>7</a:t>
              </a:r>
            </a:p>
            <a:p>
              <a:pPr algn="ctr"/>
              <a:r>
                <a:rPr lang="fr-FR" sz="1400" i="1"/>
                <a:t>4</a:t>
              </a:r>
            </a:p>
            <a:p>
              <a:pPr algn="ctr"/>
              <a:r>
                <a:rPr lang="fr-FR" sz="1400" i="1"/>
                <a:t>24</a:t>
              </a:r>
            </a:p>
            <a:p>
              <a:pPr algn="ctr"/>
              <a:r>
                <a:rPr lang="fr-FR" sz="1400" i="1"/>
                <a:t>&lt; 1</a:t>
              </a:r>
            </a:p>
            <a:p>
              <a:pPr algn="ctr"/>
              <a:r>
                <a:rPr lang="fr-FR" sz="1400" i="1"/>
                <a:t>19</a:t>
              </a:r>
            </a:p>
            <a:p>
              <a:pPr algn="ctr"/>
              <a:r>
                <a:rPr lang="fr-FR" sz="1400" i="1"/>
                <a:t>7</a:t>
              </a:r>
            </a:p>
            <a:p>
              <a:pPr algn="ctr"/>
              <a:r>
                <a:rPr lang="fr-FR" sz="1400" i="1"/>
                <a:t>17</a:t>
              </a:r>
            </a:p>
          </p:txBody>
        </p:sp>
        <p:sp>
          <p:nvSpPr>
            <p:cNvPr id="40982" name="Text Box 99"/>
            <p:cNvSpPr txBox="1">
              <a:spLocks noChangeArrowheads="1"/>
            </p:cNvSpPr>
            <p:nvPr/>
          </p:nvSpPr>
          <p:spPr bwMode="auto">
            <a:xfrm>
              <a:off x="3475" y="3158"/>
              <a:ext cx="242" cy="1008"/>
            </a:xfrm>
            <a:prstGeom prst="rect">
              <a:avLst/>
            </a:prstGeom>
            <a:noFill/>
            <a:ln w="9525">
              <a:noFill/>
              <a:miter lim="800000"/>
              <a:headEnd/>
              <a:tailEnd/>
            </a:ln>
          </p:spPr>
          <p:txBody>
            <a:bodyPr wrap="none">
              <a:spAutoFit/>
            </a:bodyPr>
            <a:lstStyle/>
            <a:p>
              <a:pPr algn="ctr"/>
              <a:r>
                <a:rPr lang="fr-FR" sz="1400" i="1"/>
                <a:t>35</a:t>
              </a:r>
            </a:p>
            <a:p>
              <a:pPr algn="ctr"/>
              <a:r>
                <a:rPr lang="fr-FR" sz="1400" i="1"/>
                <a:t>2</a:t>
              </a:r>
            </a:p>
            <a:p>
              <a:pPr algn="ctr"/>
              <a:r>
                <a:rPr lang="fr-FR" sz="1400" i="1"/>
                <a:t>39</a:t>
              </a:r>
            </a:p>
            <a:p>
              <a:pPr algn="ctr"/>
              <a:r>
                <a:rPr lang="fr-FR" sz="1400" i="1"/>
                <a:t>0</a:t>
              </a:r>
            </a:p>
            <a:p>
              <a:pPr algn="ctr"/>
              <a:r>
                <a:rPr lang="fr-FR" sz="1400" i="1"/>
                <a:t>0</a:t>
              </a:r>
            </a:p>
            <a:p>
              <a:pPr algn="ctr"/>
              <a:r>
                <a:rPr lang="fr-FR" sz="1400" i="1"/>
                <a:t>0</a:t>
              </a:r>
            </a:p>
            <a:p>
              <a:pPr algn="ctr"/>
              <a:r>
                <a:rPr lang="fr-FR" sz="1400" i="1"/>
                <a:t>3</a:t>
              </a:r>
            </a:p>
          </p:txBody>
        </p:sp>
        <p:sp>
          <p:nvSpPr>
            <p:cNvPr id="40983" name="Text Box 100"/>
            <p:cNvSpPr txBox="1">
              <a:spLocks noChangeArrowheads="1"/>
            </p:cNvSpPr>
            <p:nvPr/>
          </p:nvSpPr>
          <p:spPr bwMode="auto">
            <a:xfrm>
              <a:off x="4288" y="3158"/>
              <a:ext cx="242" cy="1008"/>
            </a:xfrm>
            <a:prstGeom prst="rect">
              <a:avLst/>
            </a:prstGeom>
            <a:noFill/>
            <a:ln w="9525">
              <a:noFill/>
              <a:miter lim="800000"/>
              <a:headEnd/>
              <a:tailEnd/>
            </a:ln>
          </p:spPr>
          <p:txBody>
            <a:bodyPr wrap="none">
              <a:spAutoFit/>
            </a:bodyPr>
            <a:lstStyle/>
            <a:p>
              <a:pPr algn="ctr"/>
              <a:r>
                <a:rPr lang="fr-FR" sz="1400" i="1"/>
                <a:t>17</a:t>
              </a:r>
            </a:p>
            <a:p>
              <a:pPr algn="ctr"/>
              <a:r>
                <a:rPr lang="fr-FR" sz="1400" i="1"/>
                <a:t>5</a:t>
              </a:r>
            </a:p>
            <a:p>
              <a:pPr algn="ctr"/>
              <a:r>
                <a:rPr lang="fr-FR" sz="1400" i="1"/>
                <a:t>40</a:t>
              </a:r>
            </a:p>
            <a:p>
              <a:pPr algn="ctr"/>
              <a:r>
                <a:rPr lang="fr-FR" sz="1400" i="1"/>
                <a:t>0</a:t>
              </a:r>
            </a:p>
            <a:p>
              <a:pPr algn="ctr"/>
              <a:r>
                <a:rPr lang="fr-FR" sz="1400" i="1"/>
                <a:t>5</a:t>
              </a:r>
            </a:p>
            <a:p>
              <a:pPr algn="ctr"/>
              <a:r>
                <a:rPr lang="fr-FR" sz="1400" i="1"/>
                <a:t>0</a:t>
              </a:r>
            </a:p>
            <a:p>
              <a:pPr algn="ctr"/>
              <a:r>
                <a:rPr lang="fr-FR" sz="1400" i="1"/>
                <a:t>6</a:t>
              </a:r>
            </a:p>
          </p:txBody>
        </p:sp>
      </p:grpSp>
      <p:sp>
        <p:nvSpPr>
          <p:cNvPr id="40976" name="Text Box 105"/>
          <p:cNvSpPr txBox="1">
            <a:spLocks noChangeArrowheads="1"/>
          </p:cNvSpPr>
          <p:nvPr/>
        </p:nvSpPr>
        <p:spPr bwMode="auto">
          <a:xfrm>
            <a:off x="1949450" y="4457700"/>
            <a:ext cx="1439863" cy="304800"/>
          </a:xfrm>
          <a:prstGeom prst="rect">
            <a:avLst/>
          </a:prstGeom>
          <a:noFill/>
          <a:ln w="9525">
            <a:noFill/>
            <a:miter lim="800000"/>
            <a:headEnd/>
            <a:tailEnd/>
          </a:ln>
        </p:spPr>
        <p:txBody>
          <a:bodyPr wrap="none">
            <a:spAutoFit/>
          </a:bodyPr>
          <a:lstStyle/>
          <a:p>
            <a:r>
              <a:rPr lang="fr-FR" sz="1400">
                <a:solidFill>
                  <a:srgbClr val="FF0FCF"/>
                </a:solidFill>
              </a:rPr>
              <a:t>proportion en %</a:t>
            </a:r>
            <a:endParaRPr lang="fr-FR">
              <a:solidFill>
                <a:srgbClr val="FF0FCF"/>
              </a:solidFill>
            </a:endParaRPr>
          </a:p>
        </p:txBody>
      </p:sp>
      <p:sp>
        <p:nvSpPr>
          <p:cNvPr id="8" name="Rectangle 7"/>
          <p:cNvSpPr/>
          <p:nvPr/>
        </p:nvSpPr>
        <p:spPr>
          <a:xfrm>
            <a:off x="171067" y="74605"/>
            <a:ext cx="8712968" cy="954107"/>
          </a:xfrm>
          <a:prstGeom prst="rect">
            <a:avLst/>
          </a:prstGeom>
        </p:spPr>
        <p:txBody>
          <a:bodyPr wrap="square">
            <a:spAutoFit/>
          </a:bodyPr>
          <a:lstStyle/>
          <a:p>
            <a:pPr algn="ctr"/>
            <a:r>
              <a:rPr lang="en-US" sz="2800" dirty="0">
                <a:latin typeface="Century Schoolbook" panose="02040604050505020304" pitchFamily="18" charset="0"/>
              </a:rPr>
              <a:t>The diversity of phospholipids results from the association of different polar heads...</a:t>
            </a:r>
            <a:endParaRPr lang="fr-FR" sz="2800" dirty="0">
              <a:latin typeface="Century Schoolbook" panose="02040604050505020304"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79512" y="332656"/>
            <a:ext cx="7151317" cy="461665"/>
          </a:xfrm>
          <a:prstGeom prst="rect">
            <a:avLst/>
          </a:prstGeom>
        </p:spPr>
        <p:txBody>
          <a:bodyPr wrap="none">
            <a:spAutoFit/>
          </a:bodyPr>
          <a:lstStyle/>
          <a:p>
            <a:r>
              <a:rPr lang="en-US" sz="2400" b="1" dirty="0">
                <a:latin typeface="Century Schoolbook" panose="02040604050505020304" pitchFamily="18" charset="0"/>
              </a:rPr>
              <a:t>Movement of membrane lipids and proteins</a:t>
            </a:r>
            <a:endParaRPr lang="fr-FR" sz="2400" b="1" dirty="0">
              <a:latin typeface="Century Schoolbook" panose="02040604050505020304" pitchFamily="18" charset="0"/>
            </a:endParaRPr>
          </a:p>
        </p:txBody>
      </p:sp>
      <p:sp>
        <p:nvSpPr>
          <p:cNvPr id="4" name="Rectangle 3"/>
          <p:cNvSpPr/>
          <p:nvPr/>
        </p:nvSpPr>
        <p:spPr>
          <a:xfrm>
            <a:off x="325226" y="3212976"/>
            <a:ext cx="8423238" cy="1292662"/>
          </a:xfrm>
          <a:prstGeom prst="rect">
            <a:avLst/>
          </a:prstGeom>
        </p:spPr>
        <p:txBody>
          <a:bodyPr wrap="square">
            <a:spAutoFit/>
          </a:bodyPr>
          <a:lstStyle/>
          <a:p>
            <a:pPr algn="just"/>
            <a:r>
              <a:rPr lang="en-US" sz="2000" dirty="0">
                <a:latin typeface="Century Schoolbook" panose="02040604050505020304" pitchFamily="18" charset="0"/>
              </a:rPr>
              <a:t>A phospholipid can move laterally within the same leaflet with great ease. It has been estimated that a phospholipid can diffuse from one end of a bacterium to the other in one or two seconds.</a:t>
            </a:r>
          </a:p>
          <a:p>
            <a:endParaRPr lang="en-US" dirty="0"/>
          </a:p>
        </p:txBody>
      </p:sp>
      <p:sp>
        <p:nvSpPr>
          <p:cNvPr id="6" name="Rectangle 5"/>
          <p:cNvSpPr/>
          <p:nvPr/>
        </p:nvSpPr>
        <p:spPr>
          <a:xfrm>
            <a:off x="323528" y="4334232"/>
            <a:ext cx="8424936" cy="2523768"/>
          </a:xfrm>
          <a:prstGeom prst="rect">
            <a:avLst/>
          </a:prstGeom>
        </p:spPr>
        <p:txBody>
          <a:bodyPr wrap="square">
            <a:spAutoFit/>
          </a:bodyPr>
          <a:lstStyle/>
          <a:p>
            <a:pPr algn="just"/>
            <a:r>
              <a:rPr lang="en-US" sz="2000" dirty="0">
                <a:latin typeface="Century Schoolbook" panose="02040604050505020304" pitchFamily="18" charset="0"/>
              </a:rPr>
              <a:t>Of all the possible movements of a phospholipid, flipping to the other side of the membrane is the most limited, because for this transverse movement, the hydrophilic group of the lipid would have to cross the inner hydrophobic layer of the membrane. Indeed, cells possess enzymes, called </a:t>
            </a:r>
            <a:r>
              <a:rPr lang="en-US" sz="2000" dirty="0" err="1">
                <a:latin typeface="Century Schoolbook" panose="02040604050505020304" pitchFamily="18" charset="0"/>
              </a:rPr>
              <a:t>flippases</a:t>
            </a:r>
            <a:r>
              <a:rPr lang="en-US" sz="2000" dirty="0">
                <a:latin typeface="Century Schoolbook" panose="02040604050505020304" pitchFamily="18" charset="0"/>
              </a:rPr>
              <a:t>, which actively move certain phospholipids from one leaflet to the other. These enzymes can play a role in establishing lipid asymmetry.</a:t>
            </a:r>
          </a:p>
          <a:p>
            <a:endParaRPr lang="en-US" dirty="0"/>
          </a:p>
        </p:txBody>
      </p:sp>
      <p:pic>
        <p:nvPicPr>
          <p:cNvPr id="7" name="Image 6"/>
          <p:cNvPicPr>
            <a:picLocks noChangeAspect="1"/>
          </p:cNvPicPr>
          <p:nvPr/>
        </p:nvPicPr>
        <p:blipFill rotWithShape="1">
          <a:blip r:embed="rId2"/>
          <a:srcRect t="28808" b="23514"/>
          <a:stretch/>
        </p:blipFill>
        <p:spPr>
          <a:xfrm>
            <a:off x="1835696" y="1340768"/>
            <a:ext cx="6912768" cy="1728193"/>
          </a:xfrm>
          <a:prstGeom prst="rect">
            <a:avLst/>
          </a:prstGeom>
        </p:spPr>
      </p:pic>
    </p:spTree>
    <p:extLst>
      <p:ext uri="{BB962C8B-B14F-4D97-AF65-F5344CB8AC3E}">
        <p14:creationId xmlns:p14="http://schemas.microsoft.com/office/powerpoint/2010/main" val="10951462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7" name="Picture 3"/>
          <p:cNvPicPr>
            <a:picLocks noChangeAspect="1" noChangeArrowheads="1"/>
          </p:cNvPicPr>
          <p:nvPr/>
        </p:nvPicPr>
        <p:blipFill>
          <a:blip r:embed="rId3" cstate="print"/>
          <a:srcRect l="9195" t="23473" r="10124" b="24771"/>
          <a:stretch>
            <a:fillRect/>
          </a:stretch>
        </p:blipFill>
        <p:spPr bwMode="auto">
          <a:xfrm>
            <a:off x="2260921" y="785727"/>
            <a:ext cx="5768975" cy="2647950"/>
          </a:xfrm>
          <a:prstGeom prst="rect">
            <a:avLst/>
          </a:prstGeom>
          <a:noFill/>
          <a:ln w="9525">
            <a:noFill/>
            <a:miter lim="800000"/>
            <a:headEnd/>
            <a:tailEnd/>
          </a:ln>
        </p:spPr>
      </p:pic>
      <p:sp>
        <p:nvSpPr>
          <p:cNvPr id="41988" name="Text Box 4"/>
          <p:cNvSpPr txBox="1">
            <a:spLocks noChangeArrowheads="1"/>
          </p:cNvSpPr>
          <p:nvPr/>
        </p:nvSpPr>
        <p:spPr bwMode="auto">
          <a:xfrm>
            <a:off x="282351" y="785727"/>
            <a:ext cx="3632148" cy="400110"/>
          </a:xfrm>
          <a:prstGeom prst="rect">
            <a:avLst/>
          </a:prstGeom>
          <a:noFill/>
          <a:ln w="9525">
            <a:noFill/>
            <a:miter lim="800000"/>
            <a:headEnd/>
            <a:tailEnd/>
          </a:ln>
        </p:spPr>
        <p:txBody>
          <a:bodyPr wrap="none">
            <a:spAutoFit/>
          </a:bodyPr>
          <a:lstStyle/>
          <a:p>
            <a:r>
              <a:rPr lang="fr-FR" sz="2000" b="1" i="1" dirty="0" err="1"/>
              <a:t>Example</a:t>
            </a:r>
            <a:r>
              <a:rPr lang="fr-FR" sz="2000" b="1" i="1" dirty="0"/>
              <a:t> of the </a:t>
            </a:r>
            <a:r>
              <a:rPr lang="fr-FR" sz="2000" b="1" i="1" dirty="0" err="1"/>
              <a:t>cell</a:t>
            </a:r>
            <a:r>
              <a:rPr lang="fr-FR" sz="2000" b="1" i="1" dirty="0"/>
              <a:t>  membrane  </a:t>
            </a:r>
            <a:r>
              <a:rPr lang="fr-FR" sz="2000" b="1" dirty="0"/>
              <a:t> </a:t>
            </a:r>
          </a:p>
        </p:txBody>
      </p:sp>
      <p:sp>
        <p:nvSpPr>
          <p:cNvPr id="41989" name="Text Box 5"/>
          <p:cNvSpPr txBox="1">
            <a:spLocks noChangeArrowheads="1"/>
          </p:cNvSpPr>
          <p:nvPr/>
        </p:nvSpPr>
        <p:spPr bwMode="auto">
          <a:xfrm>
            <a:off x="604898" y="3697288"/>
            <a:ext cx="2483565" cy="1077218"/>
          </a:xfrm>
          <a:prstGeom prst="rect">
            <a:avLst/>
          </a:prstGeom>
          <a:noFill/>
          <a:ln w="9525">
            <a:noFill/>
            <a:miter lim="800000"/>
            <a:headEnd/>
            <a:tailEnd/>
          </a:ln>
        </p:spPr>
        <p:txBody>
          <a:bodyPr wrap="none">
            <a:spAutoFit/>
          </a:bodyPr>
          <a:lstStyle/>
          <a:p>
            <a:r>
              <a:rPr lang="fr-FR" sz="1600" b="1" i="1" dirty="0" err="1">
                <a:solidFill>
                  <a:srgbClr val="009900"/>
                </a:solidFill>
              </a:rPr>
              <a:t>Phosphatidylserine</a:t>
            </a:r>
            <a:endParaRPr lang="fr-FR" sz="1600" b="1" i="1" dirty="0">
              <a:solidFill>
                <a:srgbClr val="009900"/>
              </a:solidFill>
            </a:endParaRPr>
          </a:p>
          <a:p>
            <a:r>
              <a:rPr lang="fr-FR" sz="1600" b="1" i="1" dirty="0"/>
              <a:t>Phosphatidylethanolamine</a:t>
            </a:r>
          </a:p>
          <a:p>
            <a:r>
              <a:rPr lang="fr-FR" sz="1600" b="1" i="1" dirty="0" err="1"/>
              <a:t>Phosphatidylcholine</a:t>
            </a:r>
            <a:endParaRPr lang="fr-FR" sz="1600" b="1" i="1" dirty="0"/>
          </a:p>
          <a:p>
            <a:r>
              <a:rPr lang="fr-FR" sz="1600" b="1" i="1" dirty="0" err="1">
                <a:solidFill>
                  <a:srgbClr val="0000FF"/>
                </a:solidFill>
              </a:rPr>
              <a:t>Glycolipids</a:t>
            </a:r>
            <a:endParaRPr lang="fr-FR" sz="1600" b="1" i="1" dirty="0">
              <a:solidFill>
                <a:srgbClr val="0000FF"/>
              </a:solidFill>
            </a:endParaRPr>
          </a:p>
        </p:txBody>
      </p:sp>
      <p:sp>
        <p:nvSpPr>
          <p:cNvPr id="41991" name="Text Box 7"/>
          <p:cNvSpPr txBox="1">
            <a:spLocks noChangeArrowheads="1"/>
          </p:cNvSpPr>
          <p:nvPr/>
        </p:nvSpPr>
        <p:spPr bwMode="auto">
          <a:xfrm>
            <a:off x="4169156" y="3690045"/>
            <a:ext cx="497251" cy="1077218"/>
          </a:xfrm>
          <a:prstGeom prst="rect">
            <a:avLst/>
          </a:prstGeom>
          <a:noFill/>
          <a:ln w="9525">
            <a:noFill/>
            <a:miter lim="800000"/>
            <a:headEnd/>
            <a:tailEnd/>
          </a:ln>
        </p:spPr>
        <p:txBody>
          <a:bodyPr wrap="none">
            <a:spAutoFit/>
          </a:bodyPr>
          <a:lstStyle/>
          <a:p>
            <a:pPr algn="ctr"/>
            <a:r>
              <a:rPr lang="fr-FR" sz="1600" b="1" i="1" dirty="0">
                <a:solidFill>
                  <a:srgbClr val="009900"/>
                </a:solidFill>
              </a:rPr>
              <a:t>10</a:t>
            </a:r>
          </a:p>
          <a:p>
            <a:pPr algn="ctr"/>
            <a:r>
              <a:rPr lang="fr-FR" sz="1600" b="1" i="1" dirty="0"/>
              <a:t>10</a:t>
            </a:r>
          </a:p>
          <a:p>
            <a:pPr algn="ctr"/>
            <a:r>
              <a:rPr lang="fr-FR" sz="1600" b="1" i="1" dirty="0"/>
              <a:t>90</a:t>
            </a:r>
          </a:p>
          <a:p>
            <a:pPr algn="ctr"/>
            <a:r>
              <a:rPr lang="fr-FR" sz="1600" b="1" i="1" dirty="0">
                <a:solidFill>
                  <a:srgbClr val="0000FF"/>
                </a:solidFill>
              </a:rPr>
              <a:t>100</a:t>
            </a:r>
          </a:p>
        </p:txBody>
      </p:sp>
      <p:sp>
        <p:nvSpPr>
          <p:cNvPr id="41992" name="Text Box 8"/>
          <p:cNvSpPr txBox="1">
            <a:spLocks noChangeArrowheads="1"/>
          </p:cNvSpPr>
          <p:nvPr/>
        </p:nvSpPr>
        <p:spPr bwMode="auto">
          <a:xfrm>
            <a:off x="5394648" y="3690045"/>
            <a:ext cx="393056" cy="1077218"/>
          </a:xfrm>
          <a:prstGeom prst="rect">
            <a:avLst/>
          </a:prstGeom>
          <a:noFill/>
          <a:ln w="9525">
            <a:noFill/>
            <a:miter lim="800000"/>
            <a:headEnd/>
            <a:tailEnd/>
          </a:ln>
        </p:spPr>
        <p:txBody>
          <a:bodyPr wrap="none">
            <a:spAutoFit/>
          </a:bodyPr>
          <a:lstStyle/>
          <a:p>
            <a:pPr algn="ctr"/>
            <a:r>
              <a:rPr lang="fr-FR" sz="1600" b="1" i="1" dirty="0">
                <a:solidFill>
                  <a:srgbClr val="009900"/>
                </a:solidFill>
              </a:rPr>
              <a:t>90</a:t>
            </a:r>
          </a:p>
          <a:p>
            <a:pPr algn="ctr"/>
            <a:r>
              <a:rPr lang="fr-FR" sz="1600" b="1" i="1" dirty="0"/>
              <a:t>90</a:t>
            </a:r>
          </a:p>
          <a:p>
            <a:pPr algn="ctr"/>
            <a:r>
              <a:rPr lang="fr-FR" sz="1600" b="1" i="1" dirty="0"/>
              <a:t>10</a:t>
            </a:r>
          </a:p>
          <a:p>
            <a:pPr algn="ctr"/>
            <a:r>
              <a:rPr lang="fr-FR" sz="1600" b="1" i="1" dirty="0">
                <a:solidFill>
                  <a:srgbClr val="0000FF"/>
                </a:solidFill>
              </a:rPr>
              <a:t>0</a:t>
            </a:r>
          </a:p>
        </p:txBody>
      </p:sp>
      <p:sp>
        <p:nvSpPr>
          <p:cNvPr id="4" name="Rectangle 3"/>
          <p:cNvSpPr/>
          <p:nvPr/>
        </p:nvSpPr>
        <p:spPr>
          <a:xfrm>
            <a:off x="1089632" y="171708"/>
            <a:ext cx="6817892" cy="461665"/>
          </a:xfrm>
          <a:prstGeom prst="rect">
            <a:avLst/>
          </a:prstGeom>
        </p:spPr>
        <p:txBody>
          <a:bodyPr wrap="none">
            <a:spAutoFit/>
          </a:bodyPr>
          <a:lstStyle/>
          <a:p>
            <a:r>
              <a:rPr lang="en-US" sz="2400" b="1" dirty="0">
                <a:latin typeface="Century Schoolbook" panose="02040604050505020304" pitchFamily="18" charset="0"/>
              </a:rPr>
              <a:t>The distribution of lipids is asymmetrical</a:t>
            </a:r>
            <a:endParaRPr lang="fr-FR" sz="2400" b="1" dirty="0">
              <a:latin typeface="Century Schoolbook" panose="02040604050505020304" pitchFamily="18" charset="0"/>
            </a:endParaRPr>
          </a:p>
        </p:txBody>
      </p:sp>
      <p:sp>
        <p:nvSpPr>
          <p:cNvPr id="5" name="Rectangle 4"/>
          <p:cNvSpPr/>
          <p:nvPr/>
        </p:nvSpPr>
        <p:spPr>
          <a:xfrm>
            <a:off x="4125108" y="3361809"/>
            <a:ext cx="1883849" cy="369332"/>
          </a:xfrm>
          <a:prstGeom prst="rect">
            <a:avLst/>
          </a:prstGeom>
        </p:spPr>
        <p:txBody>
          <a:bodyPr wrap="none">
            <a:spAutoFit/>
          </a:bodyPr>
          <a:lstStyle/>
          <a:p>
            <a:r>
              <a:rPr lang="fr-FR" dirty="0" err="1"/>
              <a:t>Exterior</a:t>
            </a:r>
            <a:r>
              <a:rPr lang="fr-FR" dirty="0"/>
              <a:t>     </a:t>
            </a:r>
            <a:r>
              <a:rPr lang="fr-FR" dirty="0" err="1"/>
              <a:t>interior</a:t>
            </a:r>
            <a:endParaRPr lang="fr-FR" dirty="0"/>
          </a:p>
        </p:txBody>
      </p:sp>
      <p:sp>
        <p:nvSpPr>
          <p:cNvPr id="3" name="Rectangle 2"/>
          <p:cNvSpPr/>
          <p:nvPr/>
        </p:nvSpPr>
        <p:spPr>
          <a:xfrm>
            <a:off x="282351" y="5038117"/>
            <a:ext cx="8464698" cy="1754326"/>
          </a:xfrm>
          <a:prstGeom prst="rect">
            <a:avLst/>
          </a:prstGeom>
        </p:spPr>
        <p:txBody>
          <a:bodyPr wrap="square">
            <a:spAutoFit/>
          </a:bodyPr>
          <a:lstStyle/>
          <a:p>
            <a:pPr algn="just"/>
            <a:r>
              <a:rPr lang="fr-FR" dirty="0" err="1"/>
              <a:t>Flippases</a:t>
            </a:r>
            <a:r>
              <a:rPr lang="fr-FR" dirty="0"/>
              <a:t> </a:t>
            </a:r>
            <a:r>
              <a:rPr lang="fr-FR" dirty="0" err="1"/>
              <a:t>primarily</a:t>
            </a:r>
            <a:r>
              <a:rPr lang="fr-FR" dirty="0"/>
              <a:t> transport </a:t>
            </a:r>
            <a:r>
              <a:rPr lang="fr-FR" dirty="0" err="1"/>
              <a:t>phosphatidylserine</a:t>
            </a:r>
            <a:r>
              <a:rPr lang="fr-FR" dirty="0"/>
              <a:t> and </a:t>
            </a:r>
            <a:r>
              <a:rPr lang="fr-FR" dirty="0" err="1"/>
              <a:t>phosphatidylethanolamine</a:t>
            </a:r>
            <a:r>
              <a:rPr lang="fr-FR" dirty="0"/>
              <a:t> </a:t>
            </a:r>
            <a:r>
              <a:rPr lang="fr-FR" dirty="0" err="1"/>
              <a:t>from</a:t>
            </a:r>
            <a:r>
              <a:rPr lang="fr-FR" dirty="0"/>
              <a:t> the </a:t>
            </a:r>
            <a:r>
              <a:rPr lang="fr-FR" dirty="0" err="1"/>
              <a:t>extracellular</a:t>
            </a:r>
            <a:r>
              <a:rPr lang="fr-FR" dirty="0"/>
              <a:t> </a:t>
            </a:r>
            <a:r>
              <a:rPr lang="fr-FR" dirty="0" err="1"/>
              <a:t>leaflet</a:t>
            </a:r>
            <a:r>
              <a:rPr lang="fr-FR" dirty="0"/>
              <a:t> to the cytosolic </a:t>
            </a:r>
            <a:r>
              <a:rPr lang="fr-FR" dirty="0" err="1"/>
              <a:t>leaflet</a:t>
            </a:r>
            <a:r>
              <a:rPr lang="fr-FR" dirty="0"/>
              <a:t> of the plasma membrane.</a:t>
            </a:r>
          </a:p>
          <a:p>
            <a:pPr algn="just"/>
            <a:endParaRPr lang="fr-FR" dirty="0"/>
          </a:p>
          <a:p>
            <a:pPr algn="just"/>
            <a:r>
              <a:rPr lang="fr-FR" dirty="0" err="1"/>
              <a:t>Floppases</a:t>
            </a:r>
            <a:r>
              <a:rPr lang="fr-FR" dirty="0"/>
              <a:t> </a:t>
            </a:r>
            <a:r>
              <a:rPr lang="fr-FR" dirty="0" err="1"/>
              <a:t>also</a:t>
            </a:r>
            <a:r>
              <a:rPr lang="fr-FR" dirty="0"/>
              <a:t> transport </a:t>
            </a:r>
            <a:r>
              <a:rPr lang="fr-FR" dirty="0" err="1"/>
              <a:t>cholesterol</a:t>
            </a:r>
            <a:r>
              <a:rPr lang="fr-FR" dirty="0"/>
              <a:t> and </a:t>
            </a:r>
            <a:r>
              <a:rPr lang="fr-FR" dirty="0" err="1"/>
              <a:t>phosphatidylcholine</a:t>
            </a:r>
            <a:r>
              <a:rPr lang="fr-FR" dirty="0"/>
              <a:t> </a:t>
            </a:r>
            <a:r>
              <a:rPr lang="fr-FR" dirty="0" err="1"/>
              <a:t>from</a:t>
            </a:r>
            <a:r>
              <a:rPr lang="fr-FR" dirty="0"/>
              <a:t> the cytosolic </a:t>
            </a:r>
            <a:r>
              <a:rPr lang="fr-FR" dirty="0" err="1"/>
              <a:t>leaflet</a:t>
            </a:r>
            <a:r>
              <a:rPr lang="fr-FR" dirty="0"/>
              <a:t> to the </a:t>
            </a:r>
            <a:r>
              <a:rPr lang="fr-FR" dirty="0" err="1"/>
              <a:t>extracellular</a:t>
            </a:r>
            <a:r>
              <a:rPr lang="fr-FR" dirty="0"/>
              <a:t> </a:t>
            </a:r>
            <a:r>
              <a:rPr lang="fr-FR" dirty="0" err="1"/>
              <a:t>leaflet</a:t>
            </a:r>
            <a:r>
              <a:rPr lang="fr-FR" dirty="0"/>
              <a:t>.</a:t>
            </a:r>
          </a:p>
          <a:p>
            <a:pPr algn="just"/>
            <a:endParaRPr lang="fr-FR"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3" name="table 53"/>
          <p:cNvGraphicFramePr>
            <a:graphicFrameLocks noGrp="1"/>
          </p:cNvGraphicFramePr>
          <p:nvPr>
            <p:extLst>
              <p:ext uri="{D42A27DB-BD31-4B8C-83A1-F6EECF244321}">
                <p14:modId xmlns:p14="http://schemas.microsoft.com/office/powerpoint/2010/main" val="2717548005"/>
              </p:ext>
            </p:extLst>
          </p:nvPr>
        </p:nvGraphicFramePr>
        <p:xfrm>
          <a:off x="652194" y="5731361"/>
          <a:ext cx="6255435" cy="1993745"/>
        </p:xfrm>
        <a:graphic>
          <a:graphicData uri="http://schemas.openxmlformats.org/drawingml/2006/table">
            <a:tbl>
              <a:tblPr/>
              <a:tblGrid>
                <a:gridCol w="457132">
                  <a:extLst>
                    <a:ext uri="{9D8B030D-6E8A-4147-A177-3AD203B41FA5}">
                      <a16:colId xmlns:a16="http://schemas.microsoft.com/office/drawing/2014/main" val="20000"/>
                    </a:ext>
                  </a:extLst>
                </a:gridCol>
                <a:gridCol w="5798303">
                  <a:extLst>
                    <a:ext uri="{9D8B030D-6E8A-4147-A177-3AD203B41FA5}">
                      <a16:colId xmlns:a16="http://schemas.microsoft.com/office/drawing/2014/main" val="20001"/>
                    </a:ext>
                  </a:extLst>
                </a:gridCol>
              </a:tblGrid>
              <a:tr h="1993745">
                <a:tc>
                  <a:txBody>
                    <a:bodyPr/>
                    <a:lstStyle/>
                    <a:p>
                      <a:pPr marL="0" marR="6350" indent="0" algn="r">
                        <a:lnSpc>
                          <a:spcPct val="95999"/>
                        </a:lnSpc>
                        <a:spcBef>
                          <a:spcPts val="10260"/>
                        </a:spcBef>
                        <a:spcAft>
                          <a:spcPts val="0"/>
                        </a:spcAft>
                      </a:pPr>
                      <a:r>
                        <a:rPr lang="fr-FR" sz="2000" b="1" spc="0" dirty="0">
                          <a:solidFill>
                            <a:srgbClr val="000000"/>
                          </a:solidFill>
                          <a:latin typeface="Tahoma" panose="22635452340000000000" pitchFamily="2"/>
                        </a:rPr>
                        <a:t>HO</a:t>
                      </a:r>
                    </a:p>
                  </a:txBody>
                  <a:tcPr marL="0" marR="0" marT="0" marB="0">
                    <a:lnL w="0" cmpd="sng">
                      <a:noFill/>
                      <a:prstDash val="solid"/>
                    </a:lnL>
                    <a:lnR w="0" cmpd="sng">
                      <a:noFill/>
                      <a:prstDash val="solid"/>
                    </a:lnR>
                    <a:lnT w="0" cmpd="sng">
                      <a:noFill/>
                      <a:prstDash val="solid"/>
                    </a:lnT>
                    <a:lnB w="0" cmpd="sng">
                      <a:noFill/>
                      <a:prstDash val="solid"/>
                    </a:lnB>
                  </a:tcPr>
                </a:tc>
                <a:tc>
                  <a:txBody>
                    <a:bodyPr/>
                    <a:lstStyle/>
                    <a:p>
                      <a:pPr algn="l"/>
                      <a:r>
                        <a:rPr lang="en-US" sz="100" dirty="0"/>
                        <a:t> </a:t>
                      </a:r>
                    </a:p>
                  </a:txBody>
                  <a:tcPr marL="0" marR="0" marT="0" marB="0">
                    <a:lnL w="0" cmpd="sng">
                      <a:noFill/>
                      <a:prstDash val="solid"/>
                    </a:lnL>
                    <a:lnR w="0" cmpd="sng">
                      <a:noFill/>
                      <a:prstDash val="solid"/>
                    </a:lnR>
                    <a:lnT w="0" cmpd="sng">
                      <a:noFill/>
                      <a:prstDash val="solid"/>
                    </a:lnT>
                    <a:lnB w="0" cmpd="sng">
                      <a:noFill/>
                      <a:prstDash val="solid"/>
                    </a:lnB>
                  </a:tcPr>
                </a:tc>
                <a:extLst>
                  <a:ext uri="{0D108BD9-81ED-4DB2-BD59-A6C34878D82A}">
                    <a16:rowId xmlns:a16="http://schemas.microsoft.com/office/drawing/2014/main" val="10000"/>
                  </a:ext>
                </a:extLst>
              </a:tr>
            </a:tbl>
          </a:graphicData>
        </a:graphic>
      </p:graphicFrame>
      <p:pic>
        <p:nvPicPr>
          <p:cNvPr id="54" name="Image.jpg"/>
          <p:cNvPicPr/>
          <p:nvPr/>
        </p:nvPicPr>
        <p:blipFill>
          <a:blip r:embed="rId2" cstate="print"/>
          <a:stretch>
            <a:fillRect/>
          </a:stretch>
        </p:blipFill>
        <p:spPr>
          <a:xfrm>
            <a:off x="1259632" y="4869160"/>
            <a:ext cx="5400599" cy="1424457"/>
          </a:xfrm>
          <a:prstGeom prst="rect">
            <a:avLst/>
          </a:prstGeom>
        </p:spPr>
      </p:pic>
      <p:pic>
        <p:nvPicPr>
          <p:cNvPr id="5" name="Image 4"/>
          <p:cNvPicPr>
            <a:picLocks noChangeAspect="1"/>
          </p:cNvPicPr>
          <p:nvPr/>
        </p:nvPicPr>
        <p:blipFill rotWithShape="1">
          <a:blip r:embed="rId3">
            <a:extLst>
              <a:ext uri="{28A0092B-C50C-407E-A947-70E740481C1C}">
                <a14:useLocalDpi xmlns:a14="http://schemas.microsoft.com/office/drawing/2010/main" val="0"/>
              </a:ext>
            </a:extLst>
          </a:blip>
          <a:srcRect t="38377"/>
          <a:stretch/>
        </p:blipFill>
        <p:spPr>
          <a:xfrm>
            <a:off x="3203848" y="2721345"/>
            <a:ext cx="5600485" cy="1866214"/>
          </a:xfrm>
          <a:prstGeom prst="rect">
            <a:avLst/>
          </a:prstGeom>
        </p:spPr>
      </p:pic>
      <p:sp>
        <p:nvSpPr>
          <p:cNvPr id="4" name="Rectangle 3"/>
          <p:cNvSpPr/>
          <p:nvPr/>
        </p:nvSpPr>
        <p:spPr>
          <a:xfrm>
            <a:off x="683568" y="389458"/>
            <a:ext cx="2874505" cy="523220"/>
          </a:xfrm>
          <a:prstGeom prst="rect">
            <a:avLst/>
          </a:prstGeom>
        </p:spPr>
        <p:txBody>
          <a:bodyPr wrap="none">
            <a:spAutoFit/>
          </a:bodyPr>
          <a:lstStyle/>
          <a:p>
            <a:r>
              <a:rPr lang="fr-FR" sz="2800" b="1" dirty="0" err="1">
                <a:latin typeface="Century Schoolbook" panose="02040604050505020304" pitchFamily="18" charset="0"/>
              </a:rPr>
              <a:t>Sphingolipids</a:t>
            </a:r>
            <a:r>
              <a:rPr lang="fr-FR" sz="2800" b="1" dirty="0">
                <a:latin typeface="Century Schoolbook" panose="02040604050505020304" pitchFamily="18" charset="0"/>
              </a:rPr>
              <a:t>:</a:t>
            </a:r>
          </a:p>
        </p:txBody>
      </p:sp>
      <p:sp>
        <p:nvSpPr>
          <p:cNvPr id="6" name="Rectangle 5"/>
          <p:cNvSpPr/>
          <p:nvPr/>
        </p:nvSpPr>
        <p:spPr>
          <a:xfrm>
            <a:off x="315721" y="1458841"/>
            <a:ext cx="9001000" cy="646331"/>
          </a:xfrm>
          <a:prstGeom prst="rect">
            <a:avLst/>
          </a:prstGeom>
        </p:spPr>
        <p:txBody>
          <a:bodyPr wrap="square">
            <a:spAutoFit/>
          </a:bodyPr>
          <a:lstStyle/>
          <a:p>
            <a:r>
              <a:rPr lang="en-US" dirty="0">
                <a:latin typeface="Century Schoolbook" panose="02040604050505020304" pitchFamily="18" charset="0"/>
              </a:rPr>
              <a:t>These are amides of </a:t>
            </a:r>
            <a:r>
              <a:rPr lang="en-US" dirty="0" err="1">
                <a:latin typeface="Century Schoolbook" panose="02040604050505020304" pitchFamily="18" charset="0"/>
              </a:rPr>
              <a:t>sphingosine</a:t>
            </a:r>
            <a:r>
              <a:rPr lang="en-US" dirty="0">
                <a:latin typeface="Century Schoolbook" panose="02040604050505020304" pitchFamily="18" charset="0"/>
              </a:rPr>
              <a:t> that are formed by the linkage of the carboxyl group of the fatty acid to the -NH2 group of </a:t>
            </a:r>
            <a:r>
              <a:rPr lang="en-US" dirty="0" err="1">
                <a:latin typeface="Century Schoolbook" panose="02040604050505020304" pitchFamily="18" charset="0"/>
              </a:rPr>
              <a:t>sphingosine</a:t>
            </a:r>
            <a:r>
              <a:rPr lang="en-US" dirty="0">
                <a:latin typeface="Century Schoolbook" panose="02040604050505020304" pitchFamily="18" charset="0"/>
              </a:rPr>
              <a:t>.</a:t>
            </a:r>
            <a:endParaRPr lang="fr-FR" dirty="0">
              <a:latin typeface="Century Schoolbook" panose="02040604050505020304"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1560" y="2636912"/>
            <a:ext cx="7488832" cy="2304256"/>
          </a:xfrm>
          <a:prstGeom prst="rect">
            <a:avLst/>
          </a:prstGeom>
        </p:spPr>
      </p:pic>
      <p:pic>
        <p:nvPicPr>
          <p:cNvPr id="5" name="Imag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5616" y="260649"/>
            <a:ext cx="6696744" cy="2232248"/>
          </a:xfrm>
          <a:prstGeom prst="rect">
            <a:avLst/>
          </a:prstGeom>
        </p:spPr>
      </p:pic>
      <p:sp>
        <p:nvSpPr>
          <p:cNvPr id="2" name="Rectangle 1"/>
          <p:cNvSpPr/>
          <p:nvPr/>
        </p:nvSpPr>
        <p:spPr>
          <a:xfrm>
            <a:off x="251520" y="5229200"/>
            <a:ext cx="8640960" cy="1477328"/>
          </a:xfrm>
          <a:prstGeom prst="rect">
            <a:avLst/>
          </a:prstGeom>
        </p:spPr>
        <p:txBody>
          <a:bodyPr wrap="square">
            <a:spAutoFit/>
          </a:bodyPr>
          <a:lstStyle/>
          <a:p>
            <a:pPr algn="just"/>
            <a:r>
              <a:rPr lang="en-US" dirty="0" err="1">
                <a:latin typeface="Century Schoolbook" panose="02040604050505020304" pitchFamily="18" charset="0"/>
              </a:rPr>
              <a:t>Sphingomyelins</a:t>
            </a:r>
            <a:r>
              <a:rPr lang="en-US" dirty="0">
                <a:latin typeface="Century Schoolbook" panose="02040604050505020304" pitchFamily="18" charset="0"/>
              </a:rPr>
              <a:t> are membrane phospholipids, present in all membranes but especially in the nervous system (myelin sheaths). </a:t>
            </a:r>
          </a:p>
          <a:p>
            <a:pPr algn="just"/>
            <a:r>
              <a:rPr lang="en-US" dirty="0">
                <a:latin typeface="Century Schoolbook" panose="02040604050505020304" pitchFamily="18" charset="0"/>
              </a:rPr>
              <a:t>They are composed of </a:t>
            </a:r>
            <a:r>
              <a:rPr lang="en-US" dirty="0" err="1">
                <a:latin typeface="Century Schoolbook" panose="02040604050505020304" pitchFamily="18" charset="0"/>
              </a:rPr>
              <a:t>sphingosine</a:t>
            </a:r>
            <a:r>
              <a:rPr lang="en-US" dirty="0">
                <a:latin typeface="Century Schoolbook" panose="02040604050505020304" pitchFamily="18" charset="0"/>
              </a:rPr>
              <a:t>, a fatty acid that </a:t>
            </a:r>
            <a:r>
              <a:rPr lang="en-US" dirty="0" err="1">
                <a:latin typeface="Century Schoolbook" panose="02040604050505020304" pitchFamily="18" charset="0"/>
              </a:rPr>
              <a:t>amidizes</a:t>
            </a:r>
            <a:r>
              <a:rPr lang="en-US" dirty="0">
                <a:latin typeface="Century Schoolbook" panose="02040604050505020304" pitchFamily="18" charset="0"/>
              </a:rPr>
              <a:t> the amine function, and a phosphate that esterifies the primary alcohol function and is itself esterified by an amino alcohol (choline).</a:t>
            </a:r>
            <a:endParaRPr lang="fr-FR" dirty="0">
              <a:latin typeface="Century Schoolbook" panose="02040604050505020304" pitchFamily="18"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4692" name="Picture 4" descr="Image glycolip.gif"/>
          <p:cNvPicPr>
            <a:picLocks noChangeAspect="1" noChangeArrowheads="1"/>
          </p:cNvPicPr>
          <p:nvPr/>
        </p:nvPicPr>
        <p:blipFill>
          <a:blip r:embed="rId2" cstate="print"/>
          <a:srcRect/>
          <a:stretch>
            <a:fillRect/>
          </a:stretch>
        </p:blipFill>
        <p:spPr bwMode="auto">
          <a:xfrm>
            <a:off x="4972050" y="978174"/>
            <a:ext cx="4171950" cy="2628900"/>
          </a:xfrm>
          <a:prstGeom prst="rect">
            <a:avLst/>
          </a:prstGeom>
          <a:noFill/>
        </p:spPr>
      </p:pic>
      <p:graphicFrame>
        <p:nvGraphicFramePr>
          <p:cNvPr id="7" name="Tableau 6"/>
          <p:cNvGraphicFramePr>
            <a:graphicFrameLocks noGrp="1"/>
          </p:cNvGraphicFramePr>
          <p:nvPr>
            <p:extLst>
              <p:ext uri="{D42A27DB-BD31-4B8C-83A1-F6EECF244321}">
                <p14:modId xmlns:p14="http://schemas.microsoft.com/office/powerpoint/2010/main" val="3404939513"/>
              </p:ext>
            </p:extLst>
          </p:nvPr>
        </p:nvGraphicFramePr>
        <p:xfrm>
          <a:off x="-825857" y="1115501"/>
          <a:ext cx="5626608" cy="365760"/>
        </p:xfrm>
        <a:graphic>
          <a:graphicData uri="http://schemas.openxmlformats.org/drawingml/2006/table">
            <a:tbl>
              <a:tblPr/>
              <a:tblGrid>
                <a:gridCol w="937956">
                  <a:extLst>
                    <a:ext uri="{9D8B030D-6E8A-4147-A177-3AD203B41FA5}">
                      <a16:colId xmlns:a16="http://schemas.microsoft.com/office/drawing/2014/main" val="20000"/>
                    </a:ext>
                  </a:extLst>
                </a:gridCol>
                <a:gridCol w="4688652">
                  <a:extLst>
                    <a:ext uri="{9D8B030D-6E8A-4147-A177-3AD203B41FA5}">
                      <a16:colId xmlns:a16="http://schemas.microsoft.com/office/drawing/2014/main" val="20001"/>
                    </a:ext>
                  </a:extLst>
                </a:gridCol>
              </a:tblGrid>
              <a:tr h="0">
                <a:tc>
                  <a:txBody>
                    <a:bodyPr/>
                    <a:lstStyle/>
                    <a:p>
                      <a:r>
                        <a:rPr lang="fr-FR" dirty="0"/>
                        <a:t> </a:t>
                      </a:r>
                    </a:p>
                  </a:txBody>
                  <a:tcPr>
                    <a:lnL>
                      <a:noFill/>
                    </a:lnL>
                    <a:lnR>
                      <a:noFill/>
                    </a:lnR>
                    <a:lnT>
                      <a:noFill/>
                    </a:lnT>
                    <a:lnB>
                      <a:noFill/>
                    </a:lnB>
                  </a:tcPr>
                </a:tc>
                <a:tc>
                  <a:txBody>
                    <a:bodyPr/>
                    <a:lstStyle/>
                    <a:p>
                      <a:r>
                        <a:rPr lang="fr-FR" dirty="0"/>
                        <a:t>          </a:t>
                      </a:r>
                      <a:r>
                        <a:rPr lang="fr-FR" dirty="0" err="1"/>
                        <a:t>Sphingosine</a:t>
                      </a:r>
                      <a:r>
                        <a:rPr lang="fr-FR" dirty="0"/>
                        <a:t> + AG + </a:t>
                      </a:r>
                      <a:r>
                        <a:rPr lang="el-GR" dirty="0"/>
                        <a:t>β</a:t>
                      </a:r>
                      <a:r>
                        <a:rPr lang="fr-FR" dirty="0"/>
                        <a:t>D Galactose</a:t>
                      </a:r>
                    </a:p>
                  </a:txBody>
                  <a:tcPr>
                    <a:lnL>
                      <a:noFill/>
                    </a:lnL>
                    <a:lnR>
                      <a:noFill/>
                    </a:lnR>
                    <a:lnT>
                      <a:noFill/>
                    </a:lnT>
                    <a:lnB>
                      <a:noFill/>
                    </a:lnB>
                  </a:tcPr>
                </a:tc>
                <a:extLst>
                  <a:ext uri="{0D108BD9-81ED-4DB2-BD59-A6C34878D82A}">
                    <a16:rowId xmlns:a16="http://schemas.microsoft.com/office/drawing/2014/main" val="10000"/>
                  </a:ext>
                </a:extLst>
              </a:tr>
            </a:tbl>
          </a:graphicData>
        </a:graphic>
      </p:graphicFrame>
      <p:sp>
        <p:nvSpPr>
          <p:cNvPr id="114693" name="Rectangle 5"/>
          <p:cNvSpPr>
            <a:spLocks noChangeArrowheads="1"/>
          </p:cNvSpPr>
          <p:nvPr/>
        </p:nvSpPr>
        <p:spPr bwMode="auto">
          <a:xfrm>
            <a:off x="171663" y="-93880"/>
            <a:ext cx="2762295" cy="1600438"/>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2800" b="1" i="0" u="none" strike="noStrike" cap="none" normalizeH="0" baseline="0" dirty="0" err="1">
                <a:ln>
                  <a:noFill/>
                </a:ln>
                <a:solidFill>
                  <a:schemeClr val="tx1"/>
                </a:solidFill>
                <a:effectLst/>
                <a:latin typeface="Arial" charset="0"/>
                <a:cs typeface="Arial" charset="0"/>
              </a:rPr>
              <a:t>Glycolipids</a:t>
            </a:r>
            <a:endParaRPr kumimoji="0" lang="fr-FR" sz="2800" b="1" i="0" u="none" strike="noStrike" cap="none" normalizeH="0" baseline="0" dirty="0">
              <a:ln>
                <a:noFill/>
              </a:ln>
              <a:solidFill>
                <a:schemeClr val="tx1"/>
              </a:solidFill>
              <a:effectLst/>
              <a:latin typeface="Arial"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fr-FR" b="1" i="0" u="none" strike="noStrike" cap="none" normalizeH="0" baseline="0" dirty="0">
              <a:ln>
                <a:noFill/>
              </a:ln>
              <a:solidFill>
                <a:schemeClr val="tx1"/>
              </a:solidFill>
              <a:effectLst/>
              <a:latin typeface="Arial" charset="0"/>
              <a:cs typeface="Arial" charset="0"/>
            </a:endParaRPr>
          </a:p>
          <a:p>
            <a:pPr marL="0" marR="0" lvl="0" indent="0" algn="l" defTabSz="914400" rtl="0" eaLnBrk="0" fontAlgn="base" latinLnBrk="0" hangingPunct="0">
              <a:lnSpc>
                <a:spcPct val="100000"/>
              </a:lnSpc>
              <a:spcBef>
                <a:spcPct val="0"/>
              </a:spcBef>
              <a:spcAft>
                <a:spcPct val="0"/>
              </a:spcAft>
              <a:buClrTx/>
              <a:buSzTx/>
              <a:buFontTx/>
              <a:buAutoNum type="alphaUcPeriod"/>
              <a:tabLst/>
            </a:pPr>
            <a:r>
              <a:rPr kumimoji="0" lang="fr-FR" b="1" i="0" u="none" strike="noStrike" cap="none" normalizeH="0" baseline="0" dirty="0">
                <a:ln>
                  <a:noFill/>
                </a:ln>
                <a:solidFill>
                  <a:schemeClr val="tx1"/>
                </a:solidFill>
                <a:effectLst/>
                <a:latin typeface="Arial" charset="0"/>
                <a:cs typeface="Arial" charset="0"/>
              </a:rPr>
              <a:t> Cérébrogalactosides</a:t>
            </a:r>
            <a:br>
              <a:rPr kumimoji="0" lang="fr-FR" b="0" i="0" u="none" strike="noStrike" cap="none" normalizeH="0" baseline="0" dirty="0">
                <a:ln>
                  <a:noFill/>
                </a:ln>
                <a:solidFill>
                  <a:schemeClr val="tx1"/>
                </a:solidFill>
                <a:effectLst/>
                <a:latin typeface="Arial" charset="0"/>
                <a:cs typeface="Arial" charset="0"/>
              </a:rPr>
            </a:br>
            <a:r>
              <a:rPr kumimoji="0" lang="fr-FR" sz="1600" b="0" i="0" u="none" strike="noStrike" cap="none" normalizeH="0" baseline="0" dirty="0">
                <a:ln>
                  <a:noFill/>
                </a:ln>
                <a:solidFill>
                  <a:schemeClr val="tx1"/>
                </a:solidFill>
                <a:effectLst/>
                <a:latin typeface="Arial" charset="0"/>
                <a:cs typeface="Arial" charset="0"/>
              </a:rPr>
              <a:t>Ils sont constitués de :</a:t>
            </a:r>
            <a:endParaRPr kumimoji="0" lang="fr-FR" b="0" i="0" u="none" strike="noStrike" cap="none" normalizeH="0" baseline="0" dirty="0">
              <a:ln>
                <a:noFill/>
              </a:ln>
              <a:solidFill>
                <a:schemeClr val="tx1"/>
              </a:solidFill>
              <a:effectLst/>
              <a:latin typeface="Arial" charset="0"/>
              <a:cs typeface="Arial"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sz="1800" b="0" i="0" u="none" strike="noStrike" cap="none" normalizeH="0" baseline="0" dirty="0">
              <a:ln>
                <a:noFill/>
              </a:ln>
              <a:solidFill>
                <a:schemeClr val="tx1"/>
              </a:solidFill>
              <a:effectLst/>
              <a:latin typeface="Arial" charset="0"/>
              <a:cs typeface="Arial" charset="0"/>
            </a:endParaRPr>
          </a:p>
        </p:txBody>
      </p:sp>
      <p:sp>
        <p:nvSpPr>
          <p:cNvPr id="9" name="Rectangle 8"/>
          <p:cNvSpPr/>
          <p:nvPr/>
        </p:nvSpPr>
        <p:spPr>
          <a:xfrm>
            <a:off x="226174" y="1436869"/>
            <a:ext cx="4392488" cy="584775"/>
          </a:xfrm>
          <a:prstGeom prst="rect">
            <a:avLst/>
          </a:prstGeom>
        </p:spPr>
        <p:txBody>
          <a:bodyPr wrap="square">
            <a:spAutoFit/>
          </a:bodyPr>
          <a:lstStyle/>
          <a:p>
            <a:r>
              <a:rPr lang="fr-FR" sz="1600" dirty="0">
                <a:latin typeface="Arial" pitchFamily="34" charset="0"/>
                <a:cs typeface="Arial" pitchFamily="34" charset="0"/>
              </a:rPr>
              <a:t>Le galactose est uni à l’alcool primaire de la </a:t>
            </a:r>
            <a:r>
              <a:rPr lang="fr-FR" sz="1600" dirty="0" err="1">
                <a:latin typeface="Arial" pitchFamily="34" charset="0"/>
                <a:cs typeface="Arial" pitchFamily="34" charset="0"/>
              </a:rPr>
              <a:t>sphingosine</a:t>
            </a:r>
            <a:r>
              <a:rPr lang="fr-FR" sz="1600" dirty="0">
                <a:latin typeface="Arial" pitchFamily="34" charset="0"/>
                <a:cs typeface="Arial" pitchFamily="34" charset="0"/>
              </a:rPr>
              <a:t> par une liaison β osidique</a:t>
            </a:r>
          </a:p>
        </p:txBody>
      </p:sp>
      <p:sp>
        <p:nvSpPr>
          <p:cNvPr id="114694" name="Rectangle 6"/>
          <p:cNvSpPr>
            <a:spLocks noChangeArrowheads="1"/>
          </p:cNvSpPr>
          <p:nvPr/>
        </p:nvSpPr>
        <p:spPr bwMode="auto">
          <a:xfrm>
            <a:off x="159713" y="1818142"/>
            <a:ext cx="3840731" cy="141577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fr-FR" sz="1800" b="1" i="0" u="none" strike="noStrike" cap="none" normalizeH="0" baseline="0" dirty="0">
              <a:ln>
                <a:noFill/>
              </a:ln>
              <a:solidFill>
                <a:schemeClr val="tx1"/>
              </a:solidFill>
              <a:effectLst/>
              <a:latin typeface="Arial"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fr-FR" sz="1800" b="1" i="0" u="none" strike="noStrike" cap="none" normalizeH="0" baseline="0" dirty="0">
                <a:ln>
                  <a:noFill/>
                </a:ln>
                <a:solidFill>
                  <a:schemeClr val="tx1"/>
                </a:solidFill>
                <a:effectLst/>
                <a:latin typeface="Arial" charset="0"/>
                <a:cs typeface="Arial" charset="0"/>
              </a:rPr>
              <a:t>B.  Les </a:t>
            </a:r>
            <a:r>
              <a:rPr kumimoji="0" lang="fr-FR" sz="1800" b="1" i="0" u="none" strike="noStrike" cap="none" normalizeH="0" baseline="0" dirty="0" err="1">
                <a:ln>
                  <a:noFill/>
                </a:ln>
                <a:solidFill>
                  <a:schemeClr val="tx1"/>
                </a:solidFill>
                <a:effectLst/>
                <a:latin typeface="Arial" charset="0"/>
                <a:cs typeface="Arial" charset="0"/>
              </a:rPr>
              <a:t>Cérébroglucides</a:t>
            </a:r>
            <a:br>
              <a:rPr kumimoji="0" lang="fr-FR" sz="1800" b="0" i="0" u="none" strike="noStrike" cap="none" normalizeH="0" baseline="0" dirty="0">
                <a:ln>
                  <a:noFill/>
                </a:ln>
                <a:solidFill>
                  <a:schemeClr val="tx1"/>
                </a:solidFill>
                <a:effectLst/>
                <a:latin typeface="Arial" charset="0"/>
                <a:cs typeface="Arial" charset="0"/>
              </a:rPr>
            </a:br>
            <a:r>
              <a:rPr kumimoji="0" lang="fr-FR" sz="1600" b="0" i="0" u="none" strike="noStrike" cap="none" normalizeH="0" baseline="0" dirty="0">
                <a:ln>
                  <a:noFill/>
                </a:ln>
                <a:solidFill>
                  <a:schemeClr val="tx1"/>
                </a:solidFill>
                <a:effectLst/>
                <a:latin typeface="Arial" charset="0"/>
                <a:cs typeface="Arial" charset="0"/>
              </a:rPr>
              <a:t>Ils sont constitués de :</a:t>
            </a:r>
          </a:p>
          <a:p>
            <a:pPr lvl="0" fontAlgn="base">
              <a:spcBef>
                <a:spcPct val="0"/>
              </a:spcBef>
              <a:spcAft>
                <a:spcPct val="0"/>
              </a:spcAft>
            </a:pPr>
            <a:r>
              <a:rPr lang="fr-FR" dirty="0"/>
              <a:t>            </a:t>
            </a:r>
            <a:r>
              <a:rPr lang="fr-FR" dirty="0" err="1"/>
              <a:t>Sphingosine</a:t>
            </a:r>
            <a:r>
              <a:rPr lang="fr-FR" dirty="0"/>
              <a:t> + AG + </a:t>
            </a:r>
            <a:r>
              <a:rPr lang="el-GR" dirty="0"/>
              <a:t>β</a:t>
            </a:r>
            <a:r>
              <a:rPr lang="fr-FR" dirty="0"/>
              <a:t>D Glucose  </a:t>
            </a:r>
          </a:p>
          <a:p>
            <a:pPr lvl="0" fontAlgn="base">
              <a:spcBef>
                <a:spcPct val="0"/>
              </a:spcBef>
              <a:spcAft>
                <a:spcPct val="0"/>
              </a:spcAft>
            </a:pPr>
            <a:r>
              <a:rPr kumimoji="0" lang="fr-FR" sz="1600" b="0" i="0" u="none" strike="noStrike" cap="none" normalizeH="0" baseline="0" dirty="0">
                <a:ln>
                  <a:noFill/>
                </a:ln>
                <a:solidFill>
                  <a:schemeClr val="tx1"/>
                </a:solidFill>
                <a:effectLst/>
                <a:latin typeface="Arial" charset="0"/>
                <a:cs typeface="Arial" charset="0"/>
              </a:rPr>
              <a:t>La liaison est β osidique. </a:t>
            </a:r>
          </a:p>
        </p:txBody>
      </p:sp>
      <p:sp>
        <p:nvSpPr>
          <p:cNvPr id="114696" name="Rectangle 8"/>
          <p:cNvSpPr>
            <a:spLocks noChangeArrowheads="1"/>
          </p:cNvSpPr>
          <p:nvPr/>
        </p:nvSpPr>
        <p:spPr bwMode="auto">
          <a:xfrm>
            <a:off x="191481" y="3323754"/>
            <a:ext cx="8678179" cy="1631216"/>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1800" b="1" i="0" u="none" strike="noStrike" cap="none" normalizeH="0" baseline="0" dirty="0">
                <a:ln>
                  <a:noFill/>
                </a:ln>
                <a:solidFill>
                  <a:schemeClr val="tx1"/>
                </a:solidFill>
                <a:effectLst/>
                <a:latin typeface="Arial" charset="0"/>
                <a:cs typeface="Arial" charset="0"/>
              </a:rPr>
              <a:t>C.  Les </a:t>
            </a:r>
            <a:r>
              <a:rPr kumimoji="0" lang="fr-FR" sz="1800" b="1" i="0" u="none" strike="noStrike" cap="none" normalizeH="0" baseline="0" dirty="0" err="1">
                <a:ln>
                  <a:noFill/>
                </a:ln>
                <a:solidFill>
                  <a:schemeClr val="tx1"/>
                </a:solidFill>
                <a:effectLst/>
                <a:latin typeface="Arial" charset="0"/>
                <a:cs typeface="Arial" charset="0"/>
              </a:rPr>
              <a:t>Gangliosides</a:t>
            </a:r>
            <a:br>
              <a:rPr kumimoji="0" lang="fr-FR" sz="1800" b="0" i="0" u="none" strike="noStrike" cap="none" normalizeH="0" baseline="0" dirty="0">
                <a:ln>
                  <a:noFill/>
                </a:ln>
                <a:solidFill>
                  <a:schemeClr val="tx1"/>
                </a:solidFill>
                <a:effectLst/>
                <a:latin typeface="Arial" charset="0"/>
                <a:cs typeface="Arial" charset="0"/>
              </a:rPr>
            </a:br>
            <a:r>
              <a:rPr kumimoji="0" lang="fr-FR" sz="1600" b="0" i="0" u="none" strike="noStrike" cap="none" normalizeH="0" baseline="0" dirty="0">
                <a:ln>
                  <a:noFill/>
                </a:ln>
                <a:solidFill>
                  <a:schemeClr val="tx1"/>
                </a:solidFill>
                <a:effectLst/>
                <a:latin typeface="Arial" charset="0"/>
                <a:cs typeface="Arial" charset="0"/>
              </a:rPr>
              <a:t>Ils sont constitués de :</a:t>
            </a:r>
          </a:p>
          <a:p>
            <a:pPr lvl="0" fontAlgn="base">
              <a:spcBef>
                <a:spcPct val="0"/>
              </a:spcBef>
              <a:spcAft>
                <a:spcPct val="0"/>
              </a:spcAft>
            </a:pPr>
            <a:r>
              <a:rPr lang="fr-FR" sz="1600" dirty="0">
                <a:latin typeface="Arial" charset="0"/>
                <a:cs typeface="Arial" charset="0"/>
              </a:rPr>
              <a:t>         </a:t>
            </a:r>
            <a:r>
              <a:rPr lang="fr-FR" sz="1600" dirty="0"/>
              <a:t>  </a:t>
            </a:r>
            <a:r>
              <a:rPr lang="fr-FR" dirty="0" err="1"/>
              <a:t>Sphingosine</a:t>
            </a:r>
            <a:r>
              <a:rPr lang="fr-FR" dirty="0"/>
              <a:t> + AG + chaîne de plusieurs oses et dérivés d’oses</a:t>
            </a:r>
            <a:br>
              <a:rPr kumimoji="0" lang="fr-FR" sz="1600" b="0" i="0" u="none" strike="noStrike" cap="none" normalizeH="0" baseline="0" dirty="0">
                <a:ln>
                  <a:noFill/>
                </a:ln>
                <a:solidFill>
                  <a:schemeClr val="tx1"/>
                </a:solidFill>
                <a:effectLst/>
                <a:latin typeface="Arial" charset="0"/>
                <a:cs typeface="Arial" charset="0"/>
              </a:rPr>
            </a:br>
            <a:endParaRPr kumimoji="0" lang="fr-FR" sz="1600" b="0" i="0" u="none" strike="noStrike" cap="none" normalizeH="0" baseline="0" dirty="0">
              <a:ln>
                <a:noFill/>
              </a:ln>
              <a:solidFill>
                <a:schemeClr val="tx1"/>
              </a:solidFill>
              <a:effectLst/>
              <a:latin typeface="Arial" charset="0"/>
              <a:cs typeface="Arial" charset="0"/>
            </a:endParaRPr>
          </a:p>
          <a:p>
            <a:pPr lvl="0" fontAlgn="base">
              <a:spcBef>
                <a:spcPct val="0"/>
              </a:spcBef>
              <a:spcAft>
                <a:spcPct val="0"/>
              </a:spcAft>
            </a:pPr>
            <a:r>
              <a:rPr kumimoji="0" lang="fr-FR" sz="1600" b="0" i="0" u="none" strike="noStrike" cap="none" normalizeH="0" baseline="0" dirty="0">
                <a:ln>
                  <a:noFill/>
                </a:ln>
                <a:solidFill>
                  <a:schemeClr val="tx1"/>
                </a:solidFill>
                <a:effectLst/>
                <a:latin typeface="Arial" charset="0"/>
                <a:cs typeface="Arial" charset="0"/>
              </a:rPr>
              <a:t>Ils sont abondants dans les ganglions d’où leur nom.</a:t>
            </a:r>
            <a:br>
              <a:rPr kumimoji="0" lang="fr-FR" sz="1600" b="0" i="0" u="none" strike="noStrike" cap="none" normalizeH="0" baseline="0" dirty="0">
                <a:ln>
                  <a:noFill/>
                </a:ln>
                <a:solidFill>
                  <a:schemeClr val="tx1"/>
                </a:solidFill>
                <a:effectLst/>
                <a:latin typeface="Arial" charset="0"/>
                <a:cs typeface="Arial" charset="0"/>
              </a:rPr>
            </a:br>
            <a:endParaRPr kumimoji="0" lang="fr-FR" sz="1600" b="0" i="0" u="none" strike="noStrike" cap="none" normalizeH="0" baseline="0" dirty="0">
              <a:ln>
                <a:noFill/>
              </a:ln>
              <a:solidFill>
                <a:schemeClr val="tx1"/>
              </a:solidFill>
              <a:effectLst/>
              <a:latin typeface="Arial" charset="0"/>
              <a:cs typeface="Arial" charset="0"/>
            </a:endParaRPr>
          </a:p>
        </p:txBody>
      </p:sp>
      <p:sp>
        <p:nvSpPr>
          <p:cNvPr id="2" name="Rectangle 1"/>
          <p:cNvSpPr/>
          <p:nvPr/>
        </p:nvSpPr>
        <p:spPr>
          <a:xfrm>
            <a:off x="349705" y="5808269"/>
            <a:ext cx="8507341" cy="923330"/>
          </a:xfrm>
          <a:prstGeom prst="rect">
            <a:avLst/>
          </a:prstGeom>
          <a:ln w="19050">
            <a:solidFill>
              <a:schemeClr val="tx1"/>
            </a:solidFill>
          </a:ln>
        </p:spPr>
        <p:txBody>
          <a:bodyPr wrap="square">
            <a:spAutoFit/>
          </a:bodyPr>
          <a:lstStyle/>
          <a:p>
            <a:pPr algn="just"/>
            <a:r>
              <a:rPr lang="fr-FR" dirty="0" err="1"/>
              <a:t>Antigens</a:t>
            </a:r>
            <a:r>
              <a:rPr lang="fr-FR" dirty="0"/>
              <a:t> A and B are oligosaccharides </a:t>
            </a:r>
            <a:r>
              <a:rPr lang="fr-FR" dirty="0" err="1"/>
              <a:t>carried</a:t>
            </a:r>
            <a:r>
              <a:rPr lang="fr-FR" dirty="0"/>
              <a:t> by the membrane </a:t>
            </a:r>
            <a:r>
              <a:rPr lang="fr-FR" dirty="0" err="1"/>
              <a:t>glycolipids</a:t>
            </a:r>
            <a:r>
              <a:rPr lang="fr-FR" dirty="0"/>
              <a:t> and </a:t>
            </a:r>
            <a:r>
              <a:rPr lang="fr-FR" dirty="0" err="1"/>
              <a:t>glycoproteins</a:t>
            </a:r>
            <a:r>
              <a:rPr lang="fr-FR" dirty="0"/>
              <a:t> of </a:t>
            </a:r>
            <a:r>
              <a:rPr lang="fr-FR" dirty="0" err="1"/>
              <a:t>red</a:t>
            </a:r>
            <a:r>
              <a:rPr lang="fr-FR" dirty="0"/>
              <a:t> </a:t>
            </a:r>
            <a:r>
              <a:rPr lang="fr-FR" dirty="0" err="1"/>
              <a:t>blood</a:t>
            </a:r>
            <a:r>
              <a:rPr lang="fr-FR" dirty="0"/>
              <a:t> </a:t>
            </a:r>
            <a:r>
              <a:rPr lang="fr-FR" dirty="0" err="1"/>
              <a:t>cells</a:t>
            </a:r>
            <a:r>
              <a:rPr lang="fr-FR" dirty="0"/>
              <a:t>, </a:t>
            </a:r>
            <a:r>
              <a:rPr lang="fr-FR" dirty="0" err="1"/>
              <a:t>epithelial</a:t>
            </a:r>
            <a:r>
              <a:rPr lang="fr-FR" dirty="0"/>
              <a:t> </a:t>
            </a:r>
            <a:r>
              <a:rPr lang="fr-FR" dirty="0" err="1"/>
              <a:t>cells</a:t>
            </a:r>
            <a:r>
              <a:rPr lang="fr-FR" dirty="0"/>
              <a:t>, and </a:t>
            </a:r>
            <a:r>
              <a:rPr lang="fr-FR" dirty="0" err="1"/>
              <a:t>endothelial</a:t>
            </a:r>
            <a:r>
              <a:rPr lang="fr-FR" dirty="0"/>
              <a:t> </a:t>
            </a:r>
            <a:r>
              <a:rPr lang="fr-FR" dirty="0" err="1"/>
              <a:t>cells</a:t>
            </a:r>
            <a:r>
              <a:rPr lang="fr-FR" dirty="0"/>
              <a:t>. </a:t>
            </a:r>
            <a:r>
              <a:rPr lang="fr-FR" dirty="0" err="1"/>
              <a:t>We</a:t>
            </a:r>
            <a:r>
              <a:rPr lang="fr-FR" dirty="0"/>
              <a:t> </a:t>
            </a:r>
            <a:r>
              <a:rPr lang="fr-FR" dirty="0" err="1"/>
              <a:t>also</a:t>
            </a:r>
            <a:r>
              <a:rPr lang="fr-FR" dirty="0"/>
              <a:t> note </a:t>
            </a:r>
            <a:r>
              <a:rPr lang="fr-FR" dirty="0" err="1"/>
              <a:t>their</a:t>
            </a:r>
            <a:r>
              <a:rPr lang="fr-FR" dirty="0"/>
              <a:t> </a:t>
            </a:r>
            <a:r>
              <a:rPr lang="fr-FR" dirty="0" err="1"/>
              <a:t>presence</a:t>
            </a:r>
            <a:r>
              <a:rPr lang="fr-FR" dirty="0"/>
              <a:t> in plasma, saliva, or </a:t>
            </a:r>
            <a:r>
              <a:rPr lang="fr-FR" dirty="0" err="1"/>
              <a:t>milk</a:t>
            </a:r>
            <a:r>
              <a:rPr lang="fr-FR" dirty="0"/>
              <a:t>.</a:t>
            </a:r>
          </a:p>
        </p:txBody>
      </p:sp>
      <p:sp>
        <p:nvSpPr>
          <p:cNvPr id="6" name="ZoneTexte 5">
            <a:extLst>
              <a:ext uri="{FF2B5EF4-FFF2-40B4-BE49-F238E27FC236}">
                <a16:creationId xmlns:a16="http://schemas.microsoft.com/office/drawing/2014/main" id="{48150001-2B46-BE65-7A63-3800155D66C8}"/>
              </a:ext>
            </a:extLst>
          </p:cNvPr>
          <p:cNvSpPr txBox="1"/>
          <p:nvPr/>
        </p:nvSpPr>
        <p:spPr>
          <a:xfrm>
            <a:off x="191481" y="4725144"/>
            <a:ext cx="8064896" cy="923330"/>
          </a:xfrm>
          <a:prstGeom prst="rect">
            <a:avLst/>
          </a:prstGeom>
          <a:noFill/>
        </p:spPr>
        <p:txBody>
          <a:bodyPr wrap="square">
            <a:spAutoFit/>
          </a:bodyPr>
          <a:lstStyle/>
          <a:p>
            <a:pPr algn="just"/>
            <a:r>
              <a:rPr lang="en-US" dirty="0"/>
              <a:t>These </a:t>
            </a:r>
            <a:r>
              <a:rPr lang="en-US" dirty="0" err="1"/>
              <a:t>oligosides</a:t>
            </a:r>
            <a:r>
              <a:rPr lang="en-US" dirty="0"/>
              <a:t> are present on the outer surface of the plasma membrane. They are specific, therefore recognized by proteins (bacterial toxins, lectins). </a:t>
            </a:r>
          </a:p>
          <a:p>
            <a:pPr algn="just"/>
            <a:r>
              <a:rPr lang="en-US" dirty="0"/>
              <a:t>Example: </a:t>
            </a:r>
            <a:r>
              <a:rPr lang="en-US" b="1" dirty="0"/>
              <a:t>blood group antigens</a:t>
            </a:r>
            <a:endParaRPr lang="fr-FR" b="1"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rotWithShape="1">
          <a:blip r:embed="rId2" cstate="print">
            <a:extLst>
              <a:ext uri="{28A0092B-C50C-407E-A947-70E740481C1C}">
                <a14:useLocalDpi xmlns:a14="http://schemas.microsoft.com/office/drawing/2010/main" val="0"/>
              </a:ext>
            </a:extLst>
          </a:blip>
          <a:srcRect b="31753"/>
          <a:stretch/>
        </p:blipFill>
        <p:spPr>
          <a:xfrm>
            <a:off x="29242" y="260648"/>
            <a:ext cx="9043082" cy="5112568"/>
          </a:xfrm>
          <a:prstGeom prst="rect">
            <a:avLst/>
          </a:prstGeom>
        </p:spPr>
      </p:pic>
      <p:sp>
        <p:nvSpPr>
          <p:cNvPr id="4" name="Rectangle 3"/>
          <p:cNvSpPr/>
          <p:nvPr/>
        </p:nvSpPr>
        <p:spPr>
          <a:xfrm>
            <a:off x="140547" y="5548064"/>
            <a:ext cx="8820472" cy="1477328"/>
          </a:xfrm>
          <a:prstGeom prst="rect">
            <a:avLst/>
          </a:prstGeom>
        </p:spPr>
        <p:txBody>
          <a:bodyPr wrap="square">
            <a:spAutoFit/>
          </a:bodyPr>
          <a:lstStyle/>
          <a:p>
            <a:pPr algn="just"/>
            <a:r>
              <a:rPr lang="en-US" dirty="0"/>
              <a:t>Membrane lipids form lipid bilayers</a:t>
            </a:r>
          </a:p>
          <a:p>
            <a:pPr algn="just"/>
            <a:endParaRPr lang="en-US" dirty="0"/>
          </a:p>
          <a:p>
            <a:pPr marL="342900" indent="-342900" algn="just">
              <a:buAutoNum type="alphaUcParenBoth"/>
            </a:pPr>
            <a:r>
              <a:rPr lang="en-US" dirty="0"/>
              <a:t>Three examples of membrane lipids. </a:t>
            </a:r>
          </a:p>
          <a:p>
            <a:pPr marL="342900" indent="-342900" algn="just">
              <a:buAutoNum type="alphaUcParenBoth"/>
            </a:pPr>
            <a:r>
              <a:rPr lang="en-US" dirty="0"/>
              <a:t>Self-organization of membrane lipids into a bilayer.</a:t>
            </a:r>
          </a:p>
          <a:p>
            <a:endParaRPr lang="en-US" dirty="0"/>
          </a:p>
        </p:txBody>
      </p:sp>
    </p:spTree>
    <p:extLst>
      <p:ext uri="{BB962C8B-B14F-4D97-AF65-F5344CB8AC3E}">
        <p14:creationId xmlns:p14="http://schemas.microsoft.com/office/powerpoint/2010/main" val="343193315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0528" y="620688"/>
            <a:ext cx="8712968" cy="5400389"/>
          </a:xfrm>
          <a:prstGeom prst="rect">
            <a:avLst/>
          </a:prstGeom>
        </p:spPr>
        <p:txBody>
          <a:bodyPr wrap="square">
            <a:spAutoFit/>
          </a:bodyPr>
          <a:lstStyle/>
          <a:p>
            <a:pPr lvl="1" algn="just">
              <a:lnSpc>
                <a:spcPct val="150000"/>
              </a:lnSpc>
              <a:spcAft>
                <a:spcPts val="1000"/>
              </a:spcAft>
            </a:pPr>
            <a:r>
              <a:rPr lang="en-US" b="1" dirty="0">
                <a:effectLst/>
                <a:latin typeface="Century Schoolbook" panose="02040604050505020304" pitchFamily="18" charset="0"/>
                <a:ea typeface="Times New Roman" panose="02020603050405020304" pitchFamily="18" charset="0"/>
                <a:cs typeface="Arial" panose="020B0604020202020204" pitchFamily="34" charset="0"/>
              </a:rPr>
              <a:t>Properties of the chemical components of the plasma membrane</a:t>
            </a:r>
          </a:p>
          <a:p>
            <a:pPr lvl="1" algn="just">
              <a:lnSpc>
                <a:spcPct val="150000"/>
              </a:lnSpc>
              <a:spcAft>
                <a:spcPts val="1000"/>
              </a:spcAft>
            </a:pPr>
            <a:endParaRPr lang="en-US" b="1" dirty="0">
              <a:effectLst/>
              <a:latin typeface="Century Schoolbook" panose="02040604050505020304" pitchFamily="18" charset="0"/>
              <a:ea typeface="Times New Roman" panose="02020603050405020304" pitchFamily="18" charset="0"/>
              <a:cs typeface="Arial" panose="020B0604020202020204" pitchFamily="34" charset="0"/>
            </a:endParaRPr>
          </a:p>
          <a:p>
            <a:pPr lvl="1" algn="just">
              <a:lnSpc>
                <a:spcPct val="150000"/>
              </a:lnSpc>
              <a:spcAft>
                <a:spcPts val="1000"/>
              </a:spcAft>
            </a:pPr>
            <a:r>
              <a:rPr lang="en-US" sz="1400" dirty="0">
                <a:effectLst/>
                <a:latin typeface="Century Schoolbook" panose="02040604050505020304" pitchFamily="18" charset="0"/>
                <a:ea typeface="Times New Roman" panose="02020603050405020304" pitchFamily="18" charset="0"/>
                <a:cs typeface="Arial" panose="020B0604020202020204" pitchFamily="34" charset="0"/>
              </a:rPr>
              <a:t> The chemical constituents of the plasma membrane have different properties, playing distinct roles within the bilayer. </a:t>
            </a:r>
          </a:p>
          <a:p>
            <a:pPr lvl="1" algn="just">
              <a:lnSpc>
                <a:spcPct val="150000"/>
              </a:lnSpc>
              <a:spcAft>
                <a:spcPts val="1000"/>
              </a:spcAft>
            </a:pPr>
            <a:r>
              <a:rPr lang="en-US" sz="1400" b="1" dirty="0">
                <a:effectLst/>
                <a:latin typeface="Century Schoolbook" panose="02040604050505020304" pitchFamily="18" charset="0"/>
                <a:ea typeface="Times New Roman" panose="02020603050405020304" pitchFamily="18" charset="0"/>
                <a:cs typeface="Arial" panose="020B0604020202020204" pitchFamily="34" charset="0"/>
              </a:rPr>
              <a:t>Membrane lipids </a:t>
            </a:r>
            <a:r>
              <a:rPr lang="en-US" sz="1400" dirty="0">
                <a:effectLst/>
                <a:latin typeface="Century Schoolbook" panose="02040604050505020304" pitchFamily="18" charset="0"/>
                <a:ea typeface="Times New Roman" panose="02020603050405020304" pitchFamily="18" charset="0"/>
                <a:cs typeface="Arial" panose="020B0604020202020204" pitchFamily="34" charset="0"/>
              </a:rPr>
              <a:t>influence the fluidity of the membrane, which depends on the unsaturation of the phospholipids that make it up. Thus, the unsaturation of the hydrocarbon chains increases membrane fluidity, and a drop in temperature also triggers the synthesis of unsaturated membrane lipids, leading to an increase in membrane fluidity. </a:t>
            </a:r>
            <a:r>
              <a:rPr lang="en-US" sz="1400" b="1" dirty="0">
                <a:effectLst/>
                <a:latin typeface="Century Schoolbook" panose="02040604050505020304" pitchFamily="18" charset="0"/>
                <a:ea typeface="Times New Roman" panose="02020603050405020304" pitchFamily="18" charset="0"/>
                <a:cs typeface="Arial" panose="020B0604020202020204" pitchFamily="34" charset="0"/>
              </a:rPr>
              <a:t>Cholesterol </a:t>
            </a:r>
            <a:r>
              <a:rPr lang="en-US" sz="1400" dirty="0">
                <a:effectLst/>
                <a:latin typeface="Century Schoolbook" panose="02040604050505020304" pitchFamily="18" charset="0"/>
                <a:ea typeface="Times New Roman" panose="02020603050405020304" pitchFamily="18" charset="0"/>
                <a:cs typeface="Arial" panose="020B0604020202020204" pitchFamily="34" charset="0"/>
              </a:rPr>
              <a:t>strengthens the membrane's solidity because by positioning itself between phospholipid molecules, it immobilizes neighboring hydrocarbon chains, making the membrane more rigid. </a:t>
            </a:r>
          </a:p>
          <a:p>
            <a:pPr lvl="1" algn="just">
              <a:lnSpc>
                <a:spcPct val="150000"/>
              </a:lnSpc>
              <a:spcAft>
                <a:spcPts val="1000"/>
              </a:spcAft>
            </a:pPr>
            <a:r>
              <a:rPr lang="en-US" sz="1400" b="1" dirty="0">
                <a:effectLst/>
                <a:latin typeface="Century Schoolbook" panose="02040604050505020304" pitchFamily="18" charset="0"/>
                <a:ea typeface="Times New Roman" panose="02020603050405020304" pitchFamily="18" charset="0"/>
                <a:cs typeface="Arial" panose="020B0604020202020204" pitchFamily="34" charset="0"/>
              </a:rPr>
              <a:t>Membrane proteins </a:t>
            </a:r>
            <a:r>
              <a:rPr lang="en-US" sz="1400" dirty="0">
                <a:effectLst/>
                <a:latin typeface="Century Schoolbook" panose="02040604050505020304" pitchFamily="18" charset="0"/>
                <a:ea typeface="Times New Roman" panose="02020603050405020304" pitchFamily="18" charset="0"/>
                <a:cs typeface="Arial" panose="020B0604020202020204" pitchFamily="34" charset="0"/>
              </a:rPr>
              <a:t>have very specific roles within the phospholipid bilayer; they can act as receptors, transporters, enzymatic catalysts, intracellular messengers or adhesion molecules.</a:t>
            </a:r>
          </a:p>
          <a:p>
            <a:pPr lvl="1" algn="just">
              <a:lnSpc>
                <a:spcPct val="150000"/>
              </a:lnSpc>
              <a:spcAft>
                <a:spcPts val="1000"/>
              </a:spcAft>
            </a:pPr>
            <a:r>
              <a:rPr lang="en-US" sz="1400" b="1" dirty="0">
                <a:effectLst/>
                <a:latin typeface="Century Schoolbook" panose="02040604050505020304" pitchFamily="18" charset="0"/>
                <a:ea typeface="Times New Roman" panose="02020603050405020304" pitchFamily="18" charset="0"/>
                <a:cs typeface="Arial" panose="020B0604020202020204" pitchFamily="34" charset="0"/>
              </a:rPr>
              <a:t>Carbohydrates </a:t>
            </a:r>
            <a:r>
              <a:rPr lang="en-US" sz="1400" dirty="0">
                <a:effectLst/>
                <a:latin typeface="Century Schoolbook" panose="02040604050505020304" pitchFamily="18" charset="0"/>
                <a:ea typeface="Times New Roman" panose="02020603050405020304" pitchFamily="18" charset="0"/>
                <a:cs typeface="Arial" panose="020B0604020202020204" pitchFamily="34" charset="0"/>
              </a:rPr>
              <a:t>are involved in signaling and in the negative charge of the membrane due to the presence of sialic acid.</a:t>
            </a:r>
            <a:endParaRPr lang="fr-FR" sz="1400" dirty="0">
              <a:effectLst/>
              <a:latin typeface="Century Schoolbook" panose="02040604050505020304" pitchFamily="18" charset="0"/>
              <a:ea typeface="Times New Roman" panose="02020603050405020304" pitchFamily="18" charset="0"/>
              <a:cs typeface="Arial" panose="020B0604020202020204" pitchFamily="34" charset="0"/>
            </a:endParaRPr>
          </a:p>
        </p:txBody>
      </p:sp>
    </p:spTree>
    <p:extLst>
      <p:ext uri="{BB962C8B-B14F-4D97-AF65-F5344CB8AC3E}">
        <p14:creationId xmlns:p14="http://schemas.microsoft.com/office/powerpoint/2010/main" val="312501034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227" name="Image.jpg"/>
          <p:cNvPicPr>
            <a:picLocks noChangeAspect="1" noChangeArrowheads="1"/>
          </p:cNvPicPr>
          <p:nvPr/>
        </p:nvPicPr>
        <p:blipFill>
          <a:blip r:embed="rId2" cstate="print"/>
          <a:srcRect/>
          <a:stretch>
            <a:fillRect/>
          </a:stretch>
        </p:blipFill>
        <p:spPr bwMode="auto">
          <a:xfrm>
            <a:off x="2555776" y="1945153"/>
            <a:ext cx="5942012" cy="3041650"/>
          </a:xfrm>
          <a:prstGeom prst="rect">
            <a:avLst/>
          </a:prstGeom>
          <a:noFill/>
          <a:ln w="9525">
            <a:noFill/>
            <a:miter lim="800000"/>
            <a:headEnd/>
            <a:tailEnd/>
          </a:ln>
        </p:spPr>
      </p:pic>
      <p:sp>
        <p:nvSpPr>
          <p:cNvPr id="3" name="ZoneTexte 2">
            <a:extLst>
              <a:ext uri="{FF2B5EF4-FFF2-40B4-BE49-F238E27FC236}">
                <a16:creationId xmlns:a16="http://schemas.microsoft.com/office/drawing/2014/main" id="{E3590B77-BF70-770B-BE7B-68EDD634706F}"/>
              </a:ext>
            </a:extLst>
          </p:cNvPr>
          <p:cNvSpPr txBox="1"/>
          <p:nvPr/>
        </p:nvSpPr>
        <p:spPr>
          <a:xfrm>
            <a:off x="412939" y="5661248"/>
            <a:ext cx="8532440" cy="646331"/>
          </a:xfrm>
          <a:prstGeom prst="rect">
            <a:avLst/>
          </a:prstGeom>
          <a:noFill/>
        </p:spPr>
        <p:txBody>
          <a:bodyPr wrap="square">
            <a:spAutoFit/>
          </a:bodyPr>
          <a:lstStyle/>
          <a:p>
            <a:r>
              <a:rPr lang="en-US" dirty="0"/>
              <a:t>In 1970, Frye and </a:t>
            </a:r>
            <a:r>
              <a:rPr lang="en-US" dirty="0" err="1"/>
              <a:t>Edidin</a:t>
            </a:r>
            <a:r>
              <a:rPr lang="en-US" dirty="0"/>
              <a:t> were able to create cell hybrids or heterokaryons by fusing a human cell with a mouse cell to study protein mobility.</a:t>
            </a:r>
            <a:endParaRPr lang="fr-FR" dirty="0"/>
          </a:p>
        </p:txBody>
      </p:sp>
      <p:sp>
        <p:nvSpPr>
          <p:cNvPr id="8" name="ZoneTexte 7">
            <a:extLst>
              <a:ext uri="{FF2B5EF4-FFF2-40B4-BE49-F238E27FC236}">
                <a16:creationId xmlns:a16="http://schemas.microsoft.com/office/drawing/2014/main" id="{01863244-D778-9F18-ACBA-D5614C94034D}"/>
              </a:ext>
            </a:extLst>
          </p:cNvPr>
          <p:cNvSpPr txBox="1"/>
          <p:nvPr/>
        </p:nvSpPr>
        <p:spPr>
          <a:xfrm>
            <a:off x="393219" y="288811"/>
            <a:ext cx="6696744" cy="523220"/>
          </a:xfrm>
          <a:prstGeom prst="rect">
            <a:avLst/>
          </a:prstGeom>
          <a:noFill/>
        </p:spPr>
        <p:txBody>
          <a:bodyPr wrap="square">
            <a:spAutoFit/>
          </a:bodyPr>
          <a:lstStyle/>
          <a:p>
            <a:r>
              <a:rPr lang="fr-FR" sz="2800" b="1" dirty="0" err="1">
                <a:latin typeface="Century Schoolbook" panose="02040604050505020304" pitchFamily="18" charset="0"/>
              </a:rPr>
              <a:t>Mobility</a:t>
            </a:r>
            <a:r>
              <a:rPr lang="fr-FR" sz="2800" b="1" dirty="0">
                <a:latin typeface="Century Schoolbook" panose="02040604050505020304" pitchFamily="18" charset="0"/>
              </a:rPr>
              <a:t> of membrane </a:t>
            </a:r>
            <a:r>
              <a:rPr lang="fr-FR" sz="2800" b="1" dirty="0" err="1">
                <a:latin typeface="Century Schoolbook" panose="02040604050505020304" pitchFamily="18" charset="0"/>
              </a:rPr>
              <a:t>proteins</a:t>
            </a:r>
            <a:endParaRPr lang="fr-FR" sz="2800" b="1" dirty="0">
              <a:latin typeface="Century Schoolbook" panose="02040604050505020304" pitchFamily="18"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D1C83528-2571-E3FB-97F8-DFC584DE4924}"/>
              </a:ext>
            </a:extLst>
          </p:cNvPr>
          <p:cNvSpPr txBox="1"/>
          <p:nvPr/>
        </p:nvSpPr>
        <p:spPr>
          <a:xfrm>
            <a:off x="323528" y="764704"/>
            <a:ext cx="8640960" cy="4031873"/>
          </a:xfrm>
          <a:prstGeom prst="rect">
            <a:avLst/>
          </a:prstGeom>
          <a:noFill/>
        </p:spPr>
        <p:txBody>
          <a:bodyPr wrap="square">
            <a:spAutoFit/>
          </a:bodyPr>
          <a:lstStyle/>
          <a:p>
            <a:r>
              <a:rPr lang="fr-FR" sz="2000" b="1" dirty="0">
                <a:latin typeface="Century Schoolbook" panose="02040604050505020304" pitchFamily="18" charset="0"/>
              </a:rPr>
              <a:t>Carbohydrates or Saccharides</a:t>
            </a:r>
          </a:p>
          <a:p>
            <a:endParaRPr lang="fr-FR" sz="2000" b="1" dirty="0">
              <a:latin typeface="Century Schoolbook" panose="02040604050505020304" pitchFamily="18" charset="0"/>
            </a:endParaRPr>
          </a:p>
          <a:p>
            <a:endParaRPr lang="fr-FR" dirty="0">
              <a:latin typeface="Century Schoolbook" panose="02040604050505020304" pitchFamily="18" charset="0"/>
            </a:endParaRPr>
          </a:p>
          <a:p>
            <a:r>
              <a:rPr lang="fr-FR" dirty="0">
                <a:latin typeface="Century Schoolbook" panose="02040604050505020304" pitchFamily="18" charset="0"/>
              </a:rPr>
              <a:t>Basic unit: monosaccharides</a:t>
            </a:r>
          </a:p>
          <a:p>
            <a:r>
              <a:rPr lang="fr-FR" dirty="0" err="1">
                <a:latin typeface="Century Schoolbook" panose="02040604050505020304" pitchFamily="18" charset="0"/>
              </a:rPr>
              <a:t>Metabolic</a:t>
            </a:r>
            <a:r>
              <a:rPr lang="fr-FR" dirty="0">
                <a:latin typeface="Century Schoolbook" panose="02040604050505020304" pitchFamily="18" charset="0"/>
              </a:rPr>
              <a:t> breakdown: source of </a:t>
            </a:r>
            <a:r>
              <a:rPr lang="fr-FR" dirty="0" err="1">
                <a:latin typeface="Century Schoolbook" panose="02040604050505020304" pitchFamily="18" charset="0"/>
              </a:rPr>
              <a:t>energy</a:t>
            </a:r>
            <a:r>
              <a:rPr lang="fr-FR" dirty="0">
                <a:latin typeface="Century Schoolbook" panose="02040604050505020304" pitchFamily="18" charset="0"/>
              </a:rPr>
              <a:t> (</a:t>
            </a:r>
            <a:r>
              <a:rPr lang="fr-FR" dirty="0" err="1">
                <a:latin typeface="Century Schoolbook" panose="02040604050505020304" pitchFamily="18" charset="0"/>
              </a:rPr>
              <a:t>glycolysis</a:t>
            </a:r>
            <a:r>
              <a:rPr lang="fr-FR" dirty="0">
                <a:latin typeface="Century Schoolbook" panose="02040604050505020304" pitchFamily="18" charset="0"/>
              </a:rPr>
              <a:t>)</a:t>
            </a:r>
          </a:p>
          <a:p>
            <a:endParaRPr lang="fr-FR" dirty="0">
              <a:latin typeface="Century Schoolbook" panose="02040604050505020304" pitchFamily="18" charset="0"/>
            </a:endParaRPr>
          </a:p>
          <a:p>
            <a:r>
              <a:rPr lang="fr-FR" b="1" dirty="0">
                <a:latin typeface="Century Schoolbook" panose="02040604050505020304" pitchFamily="18" charset="0"/>
              </a:rPr>
              <a:t>Monosaccharides </a:t>
            </a:r>
            <a:r>
              <a:rPr lang="fr-FR" dirty="0" err="1">
                <a:latin typeface="Century Schoolbook" panose="02040604050505020304" pitchFamily="18" charset="0"/>
              </a:rPr>
              <a:t>such</a:t>
            </a:r>
            <a:r>
              <a:rPr lang="fr-FR" dirty="0">
                <a:latin typeface="Century Schoolbook" panose="02040604050505020304" pitchFamily="18" charset="0"/>
              </a:rPr>
              <a:t> as glucose, fructose…</a:t>
            </a:r>
            <a:r>
              <a:rPr lang="fr-FR" dirty="0" err="1">
                <a:latin typeface="Century Schoolbook" panose="02040604050505020304" pitchFamily="18" charset="0"/>
              </a:rPr>
              <a:t>they</a:t>
            </a:r>
            <a:r>
              <a:rPr lang="fr-FR" dirty="0">
                <a:latin typeface="Century Schoolbook" panose="02040604050505020304" pitchFamily="18" charset="0"/>
              </a:rPr>
              <a:t> are components of </a:t>
            </a:r>
            <a:r>
              <a:rPr lang="fr-FR" dirty="0" err="1">
                <a:latin typeface="Century Schoolbook" panose="02040604050505020304" pitchFamily="18" charset="0"/>
              </a:rPr>
              <a:t>nucleic</a:t>
            </a:r>
            <a:r>
              <a:rPr lang="fr-FR" dirty="0">
                <a:latin typeface="Century Schoolbook" panose="02040604050505020304" pitchFamily="18" charset="0"/>
              </a:rPr>
              <a:t> </a:t>
            </a:r>
            <a:r>
              <a:rPr lang="fr-FR" dirty="0" err="1">
                <a:latin typeface="Century Schoolbook" panose="02040604050505020304" pitchFamily="18" charset="0"/>
              </a:rPr>
              <a:t>acids</a:t>
            </a:r>
            <a:r>
              <a:rPr lang="fr-FR" dirty="0">
                <a:latin typeface="Century Schoolbook" panose="02040604050505020304" pitchFamily="18" charset="0"/>
              </a:rPr>
              <a:t> and </a:t>
            </a:r>
            <a:r>
              <a:rPr lang="fr-FR" dirty="0" err="1">
                <a:latin typeface="Century Schoolbook" panose="02040604050505020304" pitchFamily="18" charset="0"/>
              </a:rPr>
              <a:t>some</a:t>
            </a:r>
            <a:r>
              <a:rPr lang="fr-FR" dirty="0">
                <a:latin typeface="Century Schoolbook" panose="02040604050505020304" pitchFamily="18" charset="0"/>
              </a:rPr>
              <a:t> </a:t>
            </a:r>
            <a:r>
              <a:rPr lang="fr-FR" dirty="0" err="1">
                <a:latin typeface="Century Schoolbook" panose="02040604050505020304" pitchFamily="18" charset="0"/>
              </a:rPr>
              <a:t>complex</a:t>
            </a:r>
            <a:r>
              <a:rPr lang="fr-FR" dirty="0">
                <a:latin typeface="Century Schoolbook" panose="02040604050505020304" pitchFamily="18" charset="0"/>
              </a:rPr>
              <a:t> </a:t>
            </a:r>
            <a:r>
              <a:rPr lang="fr-FR" dirty="0" err="1">
                <a:latin typeface="Century Schoolbook" panose="02040604050505020304" pitchFamily="18" charset="0"/>
              </a:rPr>
              <a:t>lipids</a:t>
            </a:r>
            <a:endParaRPr lang="fr-FR" dirty="0">
              <a:latin typeface="Century Schoolbook" panose="02040604050505020304" pitchFamily="18" charset="0"/>
            </a:endParaRPr>
          </a:p>
          <a:p>
            <a:endParaRPr lang="fr-FR" dirty="0">
              <a:latin typeface="Century Schoolbook" panose="02040604050505020304" pitchFamily="18" charset="0"/>
            </a:endParaRPr>
          </a:p>
          <a:p>
            <a:r>
              <a:rPr lang="fr-FR" b="1" dirty="0">
                <a:latin typeface="Century Schoolbook" panose="02040604050505020304" pitchFamily="18" charset="0"/>
              </a:rPr>
              <a:t>Oligosaccharides</a:t>
            </a:r>
            <a:r>
              <a:rPr lang="fr-FR" dirty="0">
                <a:latin typeface="Century Schoolbook" panose="02040604050505020304" pitchFamily="18" charset="0"/>
              </a:rPr>
              <a:t> a few monosaccharides </a:t>
            </a:r>
            <a:r>
              <a:rPr lang="fr-FR" dirty="0" err="1">
                <a:latin typeface="Century Schoolbook" panose="02040604050505020304" pitchFamily="18" charset="0"/>
              </a:rPr>
              <a:t>covalently</a:t>
            </a:r>
            <a:r>
              <a:rPr lang="fr-FR" dirty="0">
                <a:latin typeface="Century Schoolbook" panose="02040604050505020304" pitchFamily="18" charset="0"/>
              </a:rPr>
              <a:t> </a:t>
            </a:r>
            <a:r>
              <a:rPr lang="fr-FR" dirty="0" err="1">
                <a:latin typeface="Century Schoolbook" panose="02040604050505020304" pitchFamily="18" charset="0"/>
              </a:rPr>
              <a:t>linked</a:t>
            </a:r>
            <a:r>
              <a:rPr lang="fr-FR" dirty="0">
                <a:latin typeface="Century Schoolbook" panose="02040604050505020304" pitchFamily="18" charset="0"/>
              </a:rPr>
              <a:t>; </a:t>
            </a:r>
            <a:r>
              <a:rPr lang="fr-FR" dirty="0" err="1">
                <a:latin typeface="Century Schoolbook" panose="02040604050505020304" pitchFamily="18" charset="0"/>
              </a:rPr>
              <a:t>often</a:t>
            </a:r>
            <a:r>
              <a:rPr lang="fr-FR" dirty="0">
                <a:latin typeface="Century Schoolbook" panose="02040604050505020304" pitchFamily="18" charset="0"/>
              </a:rPr>
              <a:t> </a:t>
            </a:r>
            <a:r>
              <a:rPr lang="fr-FR" dirty="0" err="1">
                <a:latin typeface="Century Schoolbook" panose="02040604050505020304" pitchFamily="18" charset="0"/>
              </a:rPr>
              <a:t>associated</a:t>
            </a:r>
            <a:r>
              <a:rPr lang="fr-FR" dirty="0">
                <a:latin typeface="Century Schoolbook" panose="02040604050505020304" pitchFamily="18" charset="0"/>
              </a:rPr>
              <a:t> </a:t>
            </a:r>
            <a:r>
              <a:rPr lang="fr-FR" dirty="0" err="1">
                <a:latin typeface="Century Schoolbook" panose="02040604050505020304" pitchFamily="18" charset="0"/>
              </a:rPr>
              <a:t>with</a:t>
            </a:r>
            <a:r>
              <a:rPr lang="fr-FR" dirty="0">
                <a:latin typeface="Century Schoolbook" panose="02040604050505020304" pitchFamily="18" charset="0"/>
              </a:rPr>
              <a:t> </a:t>
            </a:r>
            <a:r>
              <a:rPr lang="fr-FR" dirty="0" err="1">
                <a:latin typeface="Century Schoolbook" panose="02040604050505020304" pitchFamily="18" charset="0"/>
              </a:rPr>
              <a:t>proteins</a:t>
            </a:r>
            <a:r>
              <a:rPr lang="fr-FR" dirty="0">
                <a:latin typeface="Century Schoolbook" panose="02040604050505020304" pitchFamily="18" charset="0"/>
              </a:rPr>
              <a:t> (</a:t>
            </a:r>
            <a:r>
              <a:rPr lang="fr-FR" dirty="0" err="1">
                <a:latin typeface="Century Schoolbook" panose="02040604050505020304" pitchFamily="18" charset="0"/>
              </a:rPr>
              <a:t>glycoproteins</a:t>
            </a:r>
            <a:r>
              <a:rPr lang="fr-FR" dirty="0">
                <a:latin typeface="Century Schoolbook" panose="02040604050505020304" pitchFamily="18" charset="0"/>
              </a:rPr>
              <a:t>) or </a:t>
            </a:r>
            <a:r>
              <a:rPr lang="fr-FR" dirty="0" err="1">
                <a:latin typeface="Century Schoolbook" panose="02040604050505020304" pitchFamily="18" charset="0"/>
              </a:rPr>
              <a:t>lipids</a:t>
            </a:r>
            <a:r>
              <a:rPr lang="fr-FR" dirty="0">
                <a:latin typeface="Century Schoolbook" panose="02040604050505020304" pitchFamily="18" charset="0"/>
              </a:rPr>
              <a:t> (</a:t>
            </a:r>
            <a:r>
              <a:rPr lang="fr-FR" dirty="0" err="1">
                <a:latin typeface="Century Schoolbook" panose="02040604050505020304" pitchFamily="18" charset="0"/>
              </a:rPr>
              <a:t>glycolipids</a:t>
            </a:r>
            <a:r>
              <a:rPr lang="fr-FR" dirty="0">
                <a:latin typeface="Century Schoolbook" panose="02040604050505020304" pitchFamily="18" charset="0"/>
              </a:rPr>
              <a:t>)</a:t>
            </a:r>
          </a:p>
          <a:p>
            <a:endParaRPr lang="fr-FR" dirty="0">
              <a:latin typeface="Century Schoolbook" panose="02040604050505020304" pitchFamily="18" charset="0"/>
            </a:endParaRPr>
          </a:p>
          <a:p>
            <a:r>
              <a:rPr lang="fr-FR" b="1" dirty="0">
                <a:latin typeface="Century Schoolbook" panose="02040604050505020304" pitchFamily="18" charset="0"/>
              </a:rPr>
              <a:t>Polysaccharides</a:t>
            </a:r>
            <a:r>
              <a:rPr lang="fr-FR" dirty="0">
                <a:latin typeface="Century Schoolbook" panose="02040604050505020304" pitchFamily="18" charset="0"/>
              </a:rPr>
              <a:t> </a:t>
            </a:r>
            <a:r>
              <a:rPr lang="fr-FR" dirty="0" err="1">
                <a:latin typeface="Century Schoolbook" panose="02040604050505020304" pitchFamily="18" charset="0"/>
              </a:rPr>
              <a:t>many</a:t>
            </a:r>
            <a:r>
              <a:rPr lang="fr-FR" dirty="0">
                <a:latin typeface="Century Schoolbook" panose="02040604050505020304" pitchFamily="18" charset="0"/>
              </a:rPr>
              <a:t> monosaccharides </a:t>
            </a:r>
            <a:r>
              <a:rPr lang="fr-FR" dirty="0" err="1">
                <a:latin typeface="Century Schoolbook" panose="02040604050505020304" pitchFamily="18" charset="0"/>
              </a:rPr>
              <a:t>covalently</a:t>
            </a:r>
            <a:r>
              <a:rPr lang="fr-FR" dirty="0">
                <a:latin typeface="Century Schoolbook" panose="02040604050505020304" pitchFamily="18" charset="0"/>
              </a:rPr>
              <a:t> </a:t>
            </a:r>
            <a:r>
              <a:rPr lang="fr-FR" dirty="0" err="1">
                <a:latin typeface="Century Schoolbook" panose="02040604050505020304" pitchFamily="18" charset="0"/>
              </a:rPr>
              <a:t>linked</a:t>
            </a:r>
            <a:r>
              <a:rPr lang="fr-FR" dirty="0">
                <a:latin typeface="Century Schoolbook" panose="02040604050505020304" pitchFamily="18" charset="0"/>
              </a:rPr>
              <a:t>, structural </a:t>
            </a:r>
            <a:r>
              <a:rPr lang="fr-FR" dirty="0" err="1">
                <a:latin typeface="Century Schoolbook" panose="02040604050505020304" pitchFamily="18" charset="0"/>
              </a:rPr>
              <a:t>roles</a:t>
            </a:r>
            <a:r>
              <a:rPr lang="fr-FR" dirty="0">
                <a:latin typeface="Century Schoolbook" panose="02040604050505020304" pitchFamily="18" charset="0"/>
              </a:rPr>
              <a:t> (cellulose) or </a:t>
            </a:r>
            <a:r>
              <a:rPr lang="fr-FR" dirty="0" err="1">
                <a:latin typeface="Century Schoolbook" panose="02040604050505020304" pitchFamily="18" charset="0"/>
              </a:rPr>
              <a:t>storage</a:t>
            </a:r>
            <a:r>
              <a:rPr lang="fr-FR" dirty="0">
                <a:latin typeface="Century Schoolbook" panose="02040604050505020304" pitchFamily="18" charset="0"/>
              </a:rPr>
              <a:t> </a:t>
            </a:r>
            <a:r>
              <a:rPr lang="fr-FR" dirty="0" err="1">
                <a:latin typeface="Century Schoolbook" panose="02040604050505020304" pitchFamily="18" charset="0"/>
              </a:rPr>
              <a:t>roles</a:t>
            </a:r>
            <a:r>
              <a:rPr lang="fr-FR" dirty="0">
                <a:latin typeface="Century Schoolbook" panose="02040604050505020304" pitchFamily="18" charset="0"/>
              </a:rPr>
              <a:t> (</a:t>
            </a:r>
            <a:r>
              <a:rPr lang="fr-FR" dirty="0" err="1">
                <a:latin typeface="Century Schoolbook" panose="02040604050505020304" pitchFamily="18" charset="0"/>
              </a:rPr>
              <a:t>starch</a:t>
            </a:r>
            <a:r>
              <a:rPr lang="fr-FR" dirty="0">
                <a:latin typeface="Century Schoolbook" panose="02040604050505020304" pitchFamily="18" charset="0"/>
              </a:rPr>
              <a:t>, </a:t>
            </a:r>
            <a:r>
              <a:rPr lang="fr-FR" dirty="0" err="1">
                <a:latin typeface="Century Schoolbook" panose="02040604050505020304" pitchFamily="18" charset="0"/>
              </a:rPr>
              <a:t>glycogen</a:t>
            </a:r>
            <a:r>
              <a:rPr lang="fr-FR" dirty="0">
                <a:latin typeface="Century Schoolbook" panose="02040604050505020304" pitchFamily="18" charset="0"/>
              </a:rPr>
              <a:t>)</a:t>
            </a:r>
          </a:p>
        </p:txBody>
      </p:sp>
    </p:spTree>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16757</TotalTime>
  <Words>2165</Words>
  <Application>Microsoft Office PowerPoint</Application>
  <PresentationFormat>Affichage à l'écran (4:3)</PresentationFormat>
  <Paragraphs>336</Paragraphs>
  <Slides>39</Slides>
  <Notes>10</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39</vt:i4>
      </vt:variant>
    </vt:vector>
  </HeadingPairs>
  <TitlesOfParts>
    <vt:vector size="46" baseType="lpstr">
      <vt:lpstr>Arial</vt:lpstr>
      <vt:lpstr>Calibri</vt:lpstr>
      <vt:lpstr>Century Schoolbook</vt:lpstr>
      <vt:lpstr>Symbol</vt:lpstr>
      <vt:lpstr>Tahoma</vt:lpstr>
      <vt:lpstr>Wingdings</vt:lpstr>
      <vt:lpstr>Thème Office</vt:lpstr>
      <vt:lpstr>Présentation PowerPoint</vt:lpstr>
      <vt:lpstr>Présentation PowerPoint</vt:lpstr>
      <vt:lpstr>Présentation PowerPoint</vt:lpstr>
      <vt:lpstr>Présentation PowerPoint</vt:lpstr>
      <vt:lpstr>Présentation PowerPoint</vt:lpstr>
      <vt:lpstr>Biological membranes are composed mainly of lipids and proteins</vt:lpstr>
      <vt:lpstr>Présentation PowerPoint</vt:lpstr>
      <vt:lpstr>Présentation PowerPoint</vt:lpstr>
      <vt:lpstr> Schematic organization of the red blood cell membrane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 of one phosphate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Diapositive 1</dc:title>
  <dc:creator>user</dc:creator>
  <cp:lastModifiedBy>safwane ben</cp:lastModifiedBy>
  <cp:revision>192</cp:revision>
  <dcterms:created xsi:type="dcterms:W3CDTF">2015-12-07T21:11:39Z</dcterms:created>
  <dcterms:modified xsi:type="dcterms:W3CDTF">2025-12-06T18:38:35Z</dcterms:modified>
</cp:coreProperties>
</file>