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74" r:id="rId3"/>
    <p:sldId id="306" r:id="rId4"/>
    <p:sldId id="307" r:id="rId5"/>
    <p:sldId id="277" r:id="rId6"/>
    <p:sldId id="275" r:id="rId7"/>
    <p:sldId id="278" r:id="rId8"/>
    <p:sldId id="317" r:id="rId9"/>
    <p:sldId id="318" r:id="rId10"/>
    <p:sldId id="319" r:id="rId11"/>
    <p:sldId id="320" r:id="rId12"/>
    <p:sldId id="321" r:id="rId13"/>
    <p:sldId id="322" r:id="rId14"/>
    <p:sldId id="323" r:id="rId15"/>
    <p:sldId id="324" r:id="rId16"/>
    <p:sldId id="325" r:id="rId17"/>
    <p:sldId id="286" r:id="rId18"/>
    <p:sldId id="291" r:id="rId19"/>
    <p:sldId id="295" r:id="rId20"/>
    <p:sldId id="297" r:id="rId21"/>
    <p:sldId id="299" r:id="rId22"/>
    <p:sldId id="298" r:id="rId23"/>
    <p:sldId id="302" r:id="rId24"/>
    <p:sldId id="287" r:id="rId25"/>
    <p:sldId id="303" r:id="rId26"/>
    <p:sldId id="304" r:id="rId27"/>
    <p:sldId id="305" r:id="rId28"/>
    <p:sldId id="258" r:id="rId29"/>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054" autoAdjust="0"/>
    <p:restoredTop sz="80570" autoAdjust="0"/>
  </p:normalViewPr>
  <p:slideViewPr>
    <p:cSldViewPr>
      <p:cViewPr varScale="1">
        <p:scale>
          <a:sx n="74" d="100"/>
          <a:sy n="74" d="100"/>
        </p:scale>
        <p:origin x="960" y="5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3B650F4E-27F3-45FC-8642-85A5E5C6EAF7}" type="datetimeFigureOut">
              <a:rPr lang="fr-FR" smtClean="0"/>
              <a:pPr/>
              <a:t>24/01/2026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421F773-9BF5-4636-A072-8BE1254286CC}"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3B650F4E-27F3-45FC-8642-85A5E5C6EAF7}" type="datetimeFigureOut">
              <a:rPr lang="fr-FR" smtClean="0"/>
              <a:pPr/>
              <a:t>24/01/2026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421F773-9BF5-4636-A072-8BE1254286CC}"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3B650F4E-27F3-45FC-8642-85A5E5C6EAF7}" type="datetimeFigureOut">
              <a:rPr lang="fr-FR" smtClean="0"/>
              <a:pPr/>
              <a:t>24/01/2026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421F773-9BF5-4636-A072-8BE1254286CC}"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3B650F4E-27F3-45FC-8642-85A5E5C6EAF7}" type="datetimeFigureOut">
              <a:rPr lang="fr-FR" smtClean="0"/>
              <a:pPr/>
              <a:t>24/01/2026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421F773-9BF5-4636-A072-8BE1254286CC}"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3B650F4E-27F3-45FC-8642-85A5E5C6EAF7}" type="datetimeFigureOut">
              <a:rPr lang="fr-FR" smtClean="0"/>
              <a:pPr/>
              <a:t>24/01/2026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2421F773-9BF5-4636-A072-8BE1254286CC}"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e la date 2"/>
          <p:cNvSpPr>
            <a:spLocks noGrp="1"/>
          </p:cNvSpPr>
          <p:nvPr>
            <p:ph type="dt" sz="half" idx="10"/>
          </p:nvPr>
        </p:nvSpPr>
        <p:spPr/>
        <p:txBody>
          <a:bodyPr/>
          <a:lstStyle/>
          <a:p>
            <a:fld id="{3B650F4E-27F3-45FC-8642-85A5E5C6EAF7}" type="datetimeFigureOut">
              <a:rPr lang="fr-FR" smtClean="0"/>
              <a:pPr/>
              <a:t>24/01/2026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2421F773-9BF5-4636-A072-8BE1254286CC}"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3B650F4E-27F3-45FC-8642-85A5E5C6EAF7}" type="datetimeFigureOut">
              <a:rPr lang="fr-FR" smtClean="0"/>
              <a:pPr/>
              <a:t>24/01/2026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2421F773-9BF5-4636-A072-8BE1254286CC}"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3B650F4E-27F3-45FC-8642-85A5E5C6EAF7}" type="datetimeFigureOut">
              <a:rPr lang="fr-FR" smtClean="0"/>
              <a:pPr/>
              <a:t>24/01/2026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421F773-9BF5-4636-A072-8BE1254286CC}"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3B650F4E-27F3-45FC-8642-85A5E5C6EAF7}" type="datetimeFigureOut">
              <a:rPr lang="fr-FR" smtClean="0"/>
              <a:pPr/>
              <a:t>24/01/2026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421F773-9BF5-4636-A072-8BE1254286CC}"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3B650F4E-27F3-45FC-8642-85A5E5C6EAF7}" type="datetimeFigureOut">
              <a:rPr lang="fr-FR" smtClean="0"/>
              <a:pPr/>
              <a:t>24/01/2026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421F773-9BF5-4636-A072-8BE1254286CC}"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3B650F4E-27F3-45FC-8642-85A5E5C6EAF7}" type="datetimeFigureOut">
              <a:rPr lang="fr-FR" smtClean="0"/>
              <a:pPr/>
              <a:t>24/01/2026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421F773-9BF5-4636-A072-8BE1254286CC}" type="slidenum">
              <a:rPr lang="fr-FR" smtClean="0"/>
              <a:pPr/>
              <a:t>‹N°›</a:t>
            </a:fld>
            <a:endParaRPr lang="fr-F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80_1_">
    <p:bg>
      <p:bgPr>
        <a:solidFill>
          <a:schemeClr val="bg1">
            <a:alpha val="0"/>
          </a:schemeClr>
        </a:solidFill>
        <a:effectLst/>
      </p:bgPr>
    </p:bg>
    <p:spTree>
      <p:nvGrpSpPr>
        <p:cNvPr id="1" name=""/>
        <p:cNvGrpSpPr/>
        <p:nvPr/>
      </p:nvGrpSpPr>
      <p:grpSpPr>
        <a:xfrm>
          <a:off x="0" y="0"/>
          <a:ext cx="0" cy="0"/>
          <a:chOff x="0" y="0"/>
          <a:chExt cx="0" cy="0"/>
        </a:xfrm>
      </p:grpSpPr>
      <p:sp>
        <p:nvSpPr>
          <p:cNvPr id="399" name="Espace réservé du texte 398"/>
          <p:cNvSpPr>
            <a:spLocks noGrp="1"/>
          </p:cNvSpPr>
          <p:nvPr>
            <p:ph type="body" idx="10"/>
          </p:nvPr>
        </p:nvSpPr>
        <p:spPr>
          <a:xfrm>
            <a:off x="857259" y="308193"/>
            <a:ext cx="7343974" cy="2117022"/>
          </a:xfrm>
          <a:prstGeom prst="rect">
            <a:avLst/>
          </a:prstGeom>
          <a:noFill/>
          <a:ln w="0" cmpd="sng">
            <a:noFill/>
            <a:prstDash val="solid"/>
          </a:ln>
        </p:spPr>
        <p:txBody>
          <a:bodyPr lIns="0" tIns="0" rIns="0" bIns="0"/>
          <a:lstStyle>
            <a:lvl1pPr marL="2324268" marR="0" indent="0" algn="l">
              <a:lnSpc>
                <a:spcPct val="95999"/>
              </a:lnSpc>
              <a:spcBef>
                <a:spcPts val="0"/>
              </a:spcBef>
              <a:spcAft>
                <a:spcPts val="7731"/>
              </a:spcAft>
              <a:defRPr/>
            </a:lvl1pPr>
          </a:lstStyle>
          <a:p>
            <a:r>
              <a:rPr lang="fr-FR" dirty="0"/>
              <a:t>Exemples de 2 protéines intrinsèques</a:t>
            </a:r>
          </a:p>
          <a:p>
            <a:r>
              <a:rPr lang="fr-FR" dirty="0"/>
              <a:t>de l'érythrocyte</a:t>
            </a:r>
          </a:p>
        </p:txBody>
      </p:sp>
      <p:sp>
        <p:nvSpPr>
          <p:cNvPr id="402" name="Espace réservé du texte 401"/>
          <p:cNvSpPr>
            <a:spLocks noGrp="1"/>
          </p:cNvSpPr>
          <p:nvPr>
            <p:ph type="body" idx="10"/>
          </p:nvPr>
        </p:nvSpPr>
        <p:spPr>
          <a:xfrm>
            <a:off x="857258" y="5339505"/>
            <a:ext cx="3028365" cy="798996"/>
          </a:xfrm>
          <a:prstGeom prst="rect">
            <a:avLst/>
          </a:prstGeom>
          <a:noFill/>
          <a:ln w="0" cmpd="sng">
            <a:noFill/>
            <a:prstDash val="solid"/>
          </a:ln>
        </p:spPr>
        <p:txBody>
          <a:bodyPr lIns="0" tIns="0" rIns="0" bIns="0"/>
          <a:lstStyle>
            <a:lvl1pPr marL="0" marR="0" indent="0" algn="ctr">
              <a:lnSpc>
                <a:spcPts val="1665"/>
              </a:lnSpc>
              <a:spcBef>
                <a:spcPts val="0"/>
              </a:spcBef>
              <a:spcAft>
                <a:spcPts val="0"/>
              </a:spcAft>
              <a:defRPr/>
            </a:lvl1pPr>
          </a:lstStyle>
          <a:p>
            <a:r>
              <a:rPr lang="fr-FR" dirty="0"/>
              <a:t>La </a:t>
            </a:r>
            <a:r>
              <a:rPr lang="fr-FR" dirty="0" err="1"/>
              <a:t>glycophorine</a:t>
            </a:r>
            <a:r>
              <a:rPr lang="fr-FR" dirty="0"/>
              <a:t> ne</a:t>
            </a:r>
          </a:p>
          <a:p>
            <a:r>
              <a:rPr lang="fr-FR" dirty="0"/>
              <a:t>comporte qu'une seule</a:t>
            </a:r>
          </a:p>
          <a:p>
            <a:r>
              <a:rPr lang="fr-FR" dirty="0"/>
              <a:t>hélice a transmembranaire</a:t>
            </a:r>
          </a:p>
        </p:txBody>
      </p:sp>
      <p:sp>
        <p:nvSpPr>
          <p:cNvPr id="403" name="Espace réservé du texte 402"/>
          <p:cNvSpPr>
            <a:spLocks noGrp="1"/>
          </p:cNvSpPr>
          <p:nvPr>
            <p:ph type="body" idx="10"/>
          </p:nvPr>
        </p:nvSpPr>
        <p:spPr>
          <a:xfrm>
            <a:off x="4753197" y="2425215"/>
            <a:ext cx="3448036" cy="399210"/>
          </a:xfrm>
          <a:prstGeom prst="rect">
            <a:avLst/>
          </a:prstGeom>
          <a:noFill/>
          <a:ln w="0" cmpd="sng">
            <a:noFill/>
            <a:prstDash val="solid"/>
          </a:ln>
        </p:spPr>
        <p:txBody>
          <a:bodyPr lIns="0" tIns="0" rIns="0" bIns="0"/>
          <a:lstStyle>
            <a:lvl1pPr marL="0" marR="0" indent="0" algn="l">
              <a:lnSpc>
                <a:spcPct val="130559"/>
              </a:lnSpc>
              <a:spcBef>
                <a:spcPts val="0"/>
              </a:spcBef>
              <a:spcAft>
                <a:spcPts val="0"/>
              </a:spcAft>
              <a:defRPr/>
            </a:lvl1pPr>
          </a:lstStyle>
          <a:p>
            <a:r>
              <a:rPr lang="fr-FR" dirty="0"/>
              <a:t>EC4</a:t>
            </a:r>
          </a:p>
          <a:p>
            <a:r>
              <a:rPr lang="fr-FR" dirty="0"/>
              <a:t>EC1 EC2 EC3 \ V</a:t>
            </a:r>
          </a:p>
        </p:txBody>
      </p:sp>
      <p:sp>
        <p:nvSpPr>
          <p:cNvPr id="404" name="Espace réservé du texte 403"/>
          <p:cNvSpPr>
            <a:spLocks noGrp="1"/>
          </p:cNvSpPr>
          <p:nvPr>
            <p:ph type="body" idx="10"/>
          </p:nvPr>
        </p:nvSpPr>
        <p:spPr>
          <a:xfrm>
            <a:off x="6785861" y="2824425"/>
            <a:ext cx="453332" cy="793235"/>
          </a:xfrm>
          <a:prstGeom prst="rect">
            <a:avLst/>
          </a:prstGeom>
          <a:noFill/>
          <a:ln w="0" cmpd="sng">
            <a:noFill/>
            <a:prstDash val="solid"/>
          </a:ln>
        </p:spPr>
        <p:txBody>
          <a:bodyPr lIns="0" tIns="561030" rIns="0" bIns="0"/>
          <a:lstStyle>
            <a:lvl1pPr marL="0" marR="0" indent="0" algn="l">
              <a:lnSpc>
                <a:spcPct val="84479"/>
              </a:lnSpc>
              <a:spcAft>
                <a:spcPts val="473"/>
              </a:spcAft>
              <a:defRPr/>
            </a:lvl1pPr>
          </a:lstStyle>
          <a:p>
            <a:r>
              <a:rPr lang="fr-FR" dirty="0"/>
              <a:t>12 13 14</a:t>
            </a:r>
          </a:p>
        </p:txBody>
      </p:sp>
      <p:sp>
        <p:nvSpPr>
          <p:cNvPr id="405" name="Espace réservé du texte 404"/>
          <p:cNvSpPr>
            <a:spLocks noGrp="1"/>
          </p:cNvSpPr>
          <p:nvPr>
            <p:ph type="body" idx="10"/>
          </p:nvPr>
        </p:nvSpPr>
        <p:spPr>
          <a:xfrm>
            <a:off x="6713111" y="3617660"/>
            <a:ext cx="1488122" cy="72008"/>
          </a:xfrm>
          <a:prstGeom prst="rect">
            <a:avLst/>
          </a:prstGeom>
          <a:noFill/>
          <a:ln w="0" cmpd="sng">
            <a:noFill/>
            <a:prstDash val="solid"/>
          </a:ln>
        </p:spPr>
        <p:txBody>
          <a:bodyPr lIns="0" tIns="0" rIns="0" bIns="0"/>
          <a:lstStyle/>
          <a:p>
            <a:r>
              <a:rPr lang="en-US" dirty="0"/>
              <a:t> </a:t>
            </a:r>
          </a:p>
        </p:txBody>
      </p:sp>
      <p:sp>
        <p:nvSpPr>
          <p:cNvPr id="406" name="Espace réservé du texte 405"/>
          <p:cNvSpPr>
            <a:spLocks noGrp="1"/>
          </p:cNvSpPr>
          <p:nvPr>
            <p:ph type="body" idx="10"/>
          </p:nvPr>
        </p:nvSpPr>
        <p:spPr>
          <a:xfrm>
            <a:off x="5430751" y="3689667"/>
            <a:ext cx="208478" cy="710859"/>
          </a:xfrm>
          <a:prstGeom prst="rect">
            <a:avLst/>
          </a:prstGeom>
          <a:noFill/>
          <a:ln w="0" cmpd="sng">
            <a:noFill/>
            <a:prstDash val="solid"/>
          </a:ln>
        </p:spPr>
        <p:txBody>
          <a:bodyPr lIns="0" tIns="500920" rIns="0" bIns="0"/>
          <a:lstStyle>
            <a:lvl1pPr marL="0" marR="0" indent="0" algn="l">
              <a:lnSpc>
                <a:spcPct val="82559"/>
              </a:lnSpc>
              <a:spcAft>
                <a:spcPts val="158"/>
              </a:spcAft>
              <a:defRPr/>
            </a:lvl1pPr>
          </a:lstStyle>
          <a:p>
            <a:r>
              <a:rPr lang="fr-FR" dirty="0"/>
              <a:t>1C2</a:t>
            </a:r>
          </a:p>
        </p:txBody>
      </p:sp>
      <p:sp>
        <p:nvSpPr>
          <p:cNvPr id="407" name="Espace réservé du texte 406"/>
          <p:cNvSpPr>
            <a:spLocks noGrp="1"/>
          </p:cNvSpPr>
          <p:nvPr>
            <p:ph type="body" idx="10"/>
          </p:nvPr>
        </p:nvSpPr>
        <p:spPr>
          <a:xfrm>
            <a:off x="6728855" y="4400526"/>
            <a:ext cx="208478" cy="668230"/>
          </a:xfrm>
          <a:prstGeom prst="rect">
            <a:avLst/>
          </a:prstGeom>
          <a:noFill/>
          <a:ln w="0" cmpd="sng">
            <a:noFill/>
            <a:prstDash val="solid"/>
          </a:ln>
        </p:spPr>
        <p:txBody>
          <a:bodyPr lIns="0" tIns="20037" rIns="0" bIns="0"/>
          <a:lstStyle>
            <a:lvl1pPr marL="0" marR="0" indent="0" algn="l">
              <a:lnSpc>
                <a:spcPct val="79679"/>
              </a:lnSpc>
              <a:spcAft>
                <a:spcPts val="3471"/>
              </a:spcAft>
              <a:defRPr/>
            </a:lvl1pPr>
          </a:lstStyle>
          <a:p>
            <a:r>
              <a:rPr lang="fr-FR" dirty="0"/>
              <a:t>105</a:t>
            </a:r>
          </a:p>
        </p:txBody>
      </p:sp>
      <p:sp>
        <p:nvSpPr>
          <p:cNvPr id="408" name="Espace réservé du texte 407"/>
          <p:cNvSpPr>
            <a:spLocks noGrp="1"/>
          </p:cNvSpPr>
          <p:nvPr>
            <p:ph type="body" idx="10"/>
          </p:nvPr>
        </p:nvSpPr>
        <p:spPr>
          <a:xfrm>
            <a:off x="4753197" y="5068756"/>
            <a:ext cx="3448036" cy="809941"/>
          </a:xfrm>
          <a:prstGeom prst="rect">
            <a:avLst/>
          </a:prstGeom>
          <a:noFill/>
          <a:ln w="0" cmpd="sng">
            <a:noFill/>
            <a:prstDash val="solid"/>
          </a:ln>
        </p:spPr>
        <p:txBody>
          <a:bodyPr lIns="0" tIns="0" rIns="0" bIns="0"/>
          <a:lstStyle>
            <a:lvl1pPr marL="601104" marR="0" indent="0" algn="l">
              <a:lnSpc>
                <a:spcPts val="1753"/>
              </a:lnSpc>
              <a:spcBef>
                <a:spcPts val="0"/>
              </a:spcBef>
              <a:spcAft>
                <a:spcPts val="0"/>
              </a:spcAft>
              <a:defRPr/>
            </a:lvl1pPr>
          </a:lstStyle>
          <a:p>
            <a:r>
              <a:rPr lang="fr-FR" dirty="0"/>
              <a:t>La protéine de la bande 3</a:t>
            </a:r>
          </a:p>
          <a:p>
            <a:r>
              <a:rPr lang="fr-FR" dirty="0"/>
              <a:t>comporte 14 hélice a</a:t>
            </a:r>
          </a:p>
          <a:p>
            <a:r>
              <a:rPr lang="fr-FR" dirty="0"/>
              <a:t>transmembranaire</a:t>
            </a:r>
          </a:p>
        </p:txBody>
      </p:sp>
      <p:sp>
        <p:nvSpPr>
          <p:cNvPr id="409" name="Espace réservé du texte 408"/>
          <p:cNvSpPr>
            <a:spLocks noGrp="1"/>
          </p:cNvSpPr>
          <p:nvPr>
            <p:ph type="body" idx="10"/>
          </p:nvPr>
        </p:nvSpPr>
        <p:spPr>
          <a:xfrm>
            <a:off x="771478" y="2520265"/>
            <a:ext cx="854544" cy="2594000"/>
          </a:xfrm>
          <a:prstGeom prst="rect">
            <a:avLst/>
          </a:prstGeom>
          <a:noFill/>
          <a:ln w="0" cmpd="sng">
            <a:noFill/>
            <a:prstDash val="solid"/>
          </a:ln>
        </p:spPr>
        <p:txBody>
          <a:bodyPr lIns="0" tIns="260478" rIns="0" bIns="0"/>
          <a:lstStyle>
            <a:lvl1pPr marL="0" marR="0" indent="0" algn="l">
              <a:lnSpc>
                <a:spcPct val="95999"/>
              </a:lnSpc>
              <a:spcAft>
                <a:spcPts val="16250"/>
              </a:spcAft>
              <a:defRPr/>
            </a:lvl1pPr>
          </a:lstStyle>
          <a:p>
            <a:r>
              <a:rPr lang="fr-FR" dirty="0"/>
              <a:t>&amp;</a:t>
            </a:r>
            <a:r>
              <a:rPr lang="fr-FR" dirty="0" err="1"/>
              <a:t>Iycophorin</a:t>
            </a:r>
            <a:endParaRPr lang="fr-FR" dirty="0"/>
          </a:p>
        </p:txBody>
      </p:sp>
      <p:sp>
        <p:nvSpPr>
          <p:cNvPr id="410" name="Espace réservé du texte 409"/>
          <p:cNvSpPr>
            <a:spLocks noGrp="1"/>
          </p:cNvSpPr>
          <p:nvPr>
            <p:ph type="body" idx="10"/>
          </p:nvPr>
        </p:nvSpPr>
        <p:spPr>
          <a:xfrm>
            <a:off x="4753197" y="3417767"/>
            <a:ext cx="634122" cy="957413"/>
          </a:xfrm>
          <a:prstGeom prst="rect">
            <a:avLst/>
          </a:prstGeom>
          <a:noFill/>
          <a:ln w="0" cmpd="sng">
            <a:noFill/>
            <a:prstDash val="solid"/>
          </a:ln>
        </p:spPr>
        <p:txBody>
          <a:bodyPr lIns="0" tIns="0" rIns="0" bIns="0"/>
          <a:lstStyle>
            <a:lvl1pPr marL="80147" marR="0" indent="0" algn="l">
              <a:lnSpc>
                <a:spcPct val="119999"/>
              </a:lnSpc>
              <a:spcBef>
                <a:spcPts val="4418"/>
              </a:spcBef>
              <a:spcAft>
                <a:spcPts val="316"/>
              </a:spcAft>
              <a:defRPr/>
            </a:lvl1pPr>
          </a:lstStyle>
          <a:p>
            <a:r>
              <a:rPr lang="fr-FR" dirty="0"/>
              <a:t>3</a:t>
            </a:r>
          </a:p>
          <a:p>
            <a:r>
              <a:rPr lang="fr-FR" dirty="0"/>
              <a:t>NH2</a:t>
            </a:r>
          </a:p>
        </p:txBody>
      </p:sp>
      <p:sp>
        <p:nvSpPr>
          <p:cNvPr id="411" name="Espace réservé du texte 410"/>
          <p:cNvSpPr>
            <a:spLocks noGrp="1"/>
          </p:cNvSpPr>
          <p:nvPr>
            <p:ph type="body" idx="10"/>
          </p:nvPr>
        </p:nvSpPr>
        <p:spPr>
          <a:xfrm>
            <a:off x="5387318" y="3138378"/>
            <a:ext cx="421300" cy="551290"/>
          </a:xfrm>
          <a:prstGeom prst="rect">
            <a:avLst/>
          </a:prstGeom>
          <a:noFill/>
          <a:ln w="0" cmpd="sng">
            <a:noFill/>
            <a:prstDash val="solid"/>
          </a:ln>
        </p:spPr>
        <p:txBody>
          <a:bodyPr lIns="0" tIns="260478" rIns="0" bIns="0"/>
          <a:lstStyle>
            <a:lvl1pPr marL="0" marR="0" indent="0" algn="ctr">
              <a:lnSpc>
                <a:spcPct val="77759"/>
              </a:lnSpc>
              <a:spcAft>
                <a:spcPts val="789"/>
              </a:spcAft>
              <a:defRPr/>
            </a:lvl1pPr>
          </a:lstStyle>
          <a:p>
            <a:r>
              <a:rPr lang="fr-FR" dirty="0"/>
              <a:t>4 5</a:t>
            </a:r>
          </a:p>
        </p:txBody>
      </p:sp>
      <p:sp>
        <p:nvSpPr>
          <p:cNvPr id="412" name="Espace réservé du texte 411"/>
          <p:cNvSpPr>
            <a:spLocks noGrp="1"/>
          </p:cNvSpPr>
          <p:nvPr>
            <p:ph type="body" idx="10"/>
          </p:nvPr>
        </p:nvSpPr>
        <p:spPr>
          <a:xfrm>
            <a:off x="5808618" y="2875694"/>
            <a:ext cx="904492" cy="1703987"/>
          </a:xfrm>
          <a:prstGeom prst="rect">
            <a:avLst/>
          </a:prstGeom>
          <a:noFill/>
          <a:ln w="0" cmpd="sng">
            <a:noFill/>
            <a:prstDash val="solid"/>
          </a:ln>
        </p:spPr>
        <p:txBody>
          <a:bodyPr lIns="0" tIns="160294" rIns="0" bIns="0"/>
          <a:lstStyle>
            <a:lvl1pPr marL="0" marR="0" indent="0" algn="ctr">
              <a:lnSpc>
                <a:spcPts val="4295"/>
              </a:lnSpc>
              <a:spcAft>
                <a:spcPts val="2367"/>
              </a:spcAft>
              <a:defRPr/>
            </a:lvl1pPr>
          </a:lstStyle>
          <a:p>
            <a:r>
              <a:rPr lang="fr-FR" dirty="0"/>
              <a:t>6 7 8 9 10 11</a:t>
            </a:r>
            <a:r>
              <a:t/>
            </a:r>
            <a:br/>
            <a:r>
              <a:rPr lang="fr-FR" dirty="0"/>
              <a:t>IC3 IC4</a:t>
            </a:r>
          </a:p>
        </p:txBody>
      </p:sp>
      <p:sp>
        <p:nvSpPr>
          <p:cNvPr id="415" name="Espace réservé du texte 414"/>
          <p:cNvSpPr>
            <a:spLocks noGrp="1"/>
          </p:cNvSpPr>
          <p:nvPr>
            <p:ph type="body" idx="10"/>
          </p:nvPr>
        </p:nvSpPr>
        <p:spPr>
          <a:xfrm>
            <a:off x="7810336" y="2875694"/>
            <a:ext cx="390897" cy="690697"/>
          </a:xfrm>
          <a:prstGeom prst="rect">
            <a:avLst/>
          </a:prstGeom>
          <a:noFill/>
          <a:ln w="0" cmpd="sng">
            <a:noFill/>
            <a:prstDash val="solid"/>
          </a:ln>
        </p:spPr>
        <p:txBody>
          <a:bodyPr lIns="0" tIns="80147" rIns="0" bIns="0"/>
          <a:lstStyle>
            <a:lvl1pPr marL="0" marR="0" indent="0" algn="ctr">
              <a:lnSpc>
                <a:spcPct val="191999"/>
              </a:lnSpc>
              <a:spcAft>
                <a:spcPts val="0"/>
              </a:spcAft>
              <a:defRPr/>
            </a:lvl1pPr>
          </a:lstStyle>
          <a:p>
            <a:r>
              <a:rPr lang="fr-FR" dirty="0"/>
              <a:t>out</a:t>
            </a:r>
            <a:r>
              <a:t/>
            </a:r>
            <a:br/>
            <a:r>
              <a:rPr lang="fr-FR" dirty="0" err="1"/>
              <a:t>mem</a:t>
            </a:r>
            <a:endParaRPr lang="fr-F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650F4E-27F3-45FC-8642-85A5E5C6EAF7}" type="datetimeFigureOut">
              <a:rPr lang="fr-FR" smtClean="0"/>
              <a:pPr/>
              <a:t>24/01/2026</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21F773-9BF5-4636-A072-8BE1254286CC}"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gi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4403093" y="406400"/>
            <a:ext cx="299761" cy="584775"/>
          </a:xfrm>
          <a:prstGeom prst="rect">
            <a:avLst/>
          </a:prstGeom>
        </p:spPr>
        <p:txBody>
          <a:bodyPr wrap="none">
            <a:spAutoFit/>
          </a:bodyPr>
          <a:lstStyle/>
          <a:p>
            <a:pPr algn="ctr">
              <a:defRPr/>
            </a:pPr>
            <a:r>
              <a:rPr lang="fr-FR" sz="3200" i="1" spc="10" dirty="0">
                <a:solidFill>
                  <a:srgbClr val="000000"/>
                </a:solidFill>
                <a:latin typeface="Arial" pitchFamily="34" charset="0"/>
                <a:cs typeface="Arial" pitchFamily="34" charset="0"/>
              </a:rPr>
              <a:t> </a:t>
            </a:r>
            <a:endParaRPr lang="fr-FR" sz="3200" i="1" dirty="0">
              <a:latin typeface="Arial" pitchFamily="34" charset="0"/>
              <a:cs typeface="Arial" pitchFamily="34" charset="0"/>
            </a:endParaRPr>
          </a:p>
        </p:txBody>
      </p:sp>
      <p:sp>
        <p:nvSpPr>
          <p:cNvPr id="4" name="Rectangle 1"/>
          <p:cNvSpPr>
            <a:spLocks noChangeArrowheads="1"/>
          </p:cNvSpPr>
          <p:nvPr/>
        </p:nvSpPr>
        <p:spPr bwMode="auto">
          <a:xfrm>
            <a:off x="6936853" y="6480757"/>
            <a:ext cx="20351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fr-FR" sz="1800" b="1" dirty="0">
                <a:latin typeface="Arial" panose="020B0604020202020204" pitchFamily="34" charset="0"/>
              </a:rPr>
              <a:t>Dr. AOUATI Amel</a:t>
            </a:r>
          </a:p>
        </p:txBody>
      </p:sp>
      <p:sp>
        <p:nvSpPr>
          <p:cNvPr id="2" name="Rectangle 1"/>
          <p:cNvSpPr/>
          <p:nvPr/>
        </p:nvSpPr>
        <p:spPr>
          <a:xfrm>
            <a:off x="2973117" y="507508"/>
            <a:ext cx="6056212" cy="646331"/>
          </a:xfrm>
          <a:prstGeom prst="rect">
            <a:avLst/>
          </a:prstGeom>
          <a:ln w="28575">
            <a:solidFill>
              <a:schemeClr val="tx1"/>
            </a:solidFill>
          </a:ln>
        </p:spPr>
        <p:txBody>
          <a:bodyPr wrap="square">
            <a:spAutoFit/>
          </a:bodyPr>
          <a:lstStyle/>
          <a:p>
            <a:r>
              <a:rPr lang="fr-FR" sz="3600" b="1" dirty="0">
                <a:latin typeface="Century Schoolbook" panose="02040604050505020304" pitchFamily="18" charset="0"/>
              </a:rPr>
              <a:t>CELLULAR ADHESION</a:t>
            </a:r>
          </a:p>
        </p:txBody>
      </p:sp>
      <p:pic>
        <p:nvPicPr>
          <p:cNvPr id="3" name="Image 2"/>
          <p:cNvPicPr>
            <a:picLocks noChangeAspect="1"/>
          </p:cNvPicPr>
          <p:nvPr/>
        </p:nvPicPr>
        <p:blipFill>
          <a:blip r:embed="rId2"/>
          <a:stretch>
            <a:fillRect/>
          </a:stretch>
        </p:blipFill>
        <p:spPr>
          <a:xfrm>
            <a:off x="63738" y="1153839"/>
            <a:ext cx="8978470" cy="504651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406" y="94426"/>
            <a:ext cx="9144064" cy="954107"/>
          </a:xfrm>
          <a:prstGeom prst="rect">
            <a:avLst/>
          </a:prstGeom>
        </p:spPr>
        <p:txBody>
          <a:bodyPr wrap="square">
            <a:spAutoFit/>
          </a:bodyPr>
          <a:lstStyle/>
          <a:p>
            <a:r>
              <a:rPr lang="fr-FR" sz="2800" b="1" dirty="0" err="1">
                <a:latin typeface="Century Schoolbook" panose="02040604050505020304" pitchFamily="18" charset="0"/>
                <a:cs typeface="Arial" pitchFamily="34" charset="0"/>
              </a:rPr>
              <a:t>Adhesion</a:t>
            </a:r>
            <a:r>
              <a:rPr lang="fr-FR" sz="2800" b="1" dirty="0">
                <a:latin typeface="Century Schoolbook" panose="02040604050505020304" pitchFamily="18" charset="0"/>
                <a:cs typeface="Arial" pitchFamily="34" charset="0"/>
              </a:rPr>
              <a:t> molecules and </a:t>
            </a:r>
            <a:r>
              <a:rPr lang="fr-FR" sz="2800" b="1" dirty="0" err="1">
                <a:latin typeface="Century Schoolbook" panose="02040604050505020304" pitchFamily="18" charset="0"/>
                <a:cs typeface="Arial" pitchFamily="34" charset="0"/>
              </a:rPr>
              <a:t>intercellular</a:t>
            </a:r>
            <a:r>
              <a:rPr lang="fr-FR" sz="2800" b="1" dirty="0">
                <a:latin typeface="Century Schoolbook" panose="02040604050505020304" pitchFamily="18" charset="0"/>
                <a:cs typeface="Arial" pitchFamily="34" charset="0"/>
              </a:rPr>
              <a:t> </a:t>
            </a:r>
            <a:r>
              <a:rPr lang="fr-FR" sz="2800" b="1" dirty="0" err="1">
                <a:latin typeface="Century Schoolbook" panose="02040604050505020304" pitchFamily="18" charset="0"/>
                <a:cs typeface="Arial" pitchFamily="34" charset="0"/>
              </a:rPr>
              <a:t>junctions</a:t>
            </a:r>
            <a:endParaRPr lang="fr-FR" sz="2800" b="1" dirty="0">
              <a:latin typeface="Century Schoolbook" panose="02040604050505020304" pitchFamily="18" charset="0"/>
              <a:cs typeface="Arial" pitchFamily="34" charset="0"/>
            </a:endParaRPr>
          </a:p>
          <a:p>
            <a:endParaRPr lang="fr-FR" sz="2800" b="1" dirty="0">
              <a:latin typeface="Arial" pitchFamily="34" charset="0"/>
              <a:cs typeface="Arial" pitchFamily="34" charset="0"/>
            </a:endParaRPr>
          </a:p>
        </p:txBody>
      </p:sp>
      <p:grpSp>
        <p:nvGrpSpPr>
          <p:cNvPr id="8" name="Groupe 7"/>
          <p:cNvGrpSpPr/>
          <p:nvPr/>
        </p:nvGrpSpPr>
        <p:grpSpPr>
          <a:xfrm>
            <a:off x="107141" y="3530388"/>
            <a:ext cx="8929718" cy="1015663"/>
            <a:chOff x="214282" y="4156920"/>
            <a:chExt cx="8929718" cy="1015663"/>
          </a:xfrm>
        </p:grpSpPr>
        <p:sp>
          <p:nvSpPr>
            <p:cNvPr id="9" name="Rectangle 8"/>
            <p:cNvSpPr/>
            <p:nvPr/>
          </p:nvSpPr>
          <p:spPr>
            <a:xfrm>
              <a:off x="214282" y="4156920"/>
              <a:ext cx="8929718" cy="1015663"/>
            </a:xfrm>
            <a:prstGeom prst="rect">
              <a:avLst/>
            </a:prstGeom>
          </p:spPr>
          <p:txBody>
            <a:bodyPr wrap="square">
              <a:spAutoFit/>
            </a:bodyPr>
            <a:lstStyle/>
            <a:p>
              <a:r>
                <a:rPr lang="fr-FR" sz="2000" b="1" dirty="0"/>
                <a:t>CAM (</a:t>
              </a:r>
              <a:r>
                <a:rPr lang="fr-FR" sz="2000" b="1" i="1" dirty="0"/>
                <a:t>Cell </a:t>
              </a:r>
              <a:r>
                <a:rPr lang="fr-FR" sz="2000" b="1" i="1" dirty="0" err="1"/>
                <a:t>Adhesion</a:t>
              </a:r>
              <a:r>
                <a:rPr lang="fr-FR" sz="2000" b="1" i="1" dirty="0"/>
                <a:t> Molecules</a:t>
              </a:r>
              <a:r>
                <a:rPr lang="fr-FR" sz="2000" b="1" dirty="0"/>
                <a:t>)                                 Cell - Cell Interaction</a:t>
              </a:r>
            </a:p>
            <a:p>
              <a:r>
                <a:rPr lang="fr-FR" sz="2000" b="1" dirty="0"/>
                <a:t>                       </a:t>
              </a:r>
            </a:p>
            <a:p>
              <a:r>
                <a:rPr lang="fr-FR" sz="2000" b="1" dirty="0"/>
                <a:t>SAM (</a:t>
              </a:r>
              <a:r>
                <a:rPr lang="fr-FR" sz="2000" b="1" dirty="0" err="1"/>
                <a:t>Substrate</a:t>
              </a:r>
              <a:r>
                <a:rPr lang="fr-FR" sz="2000" b="1" dirty="0"/>
                <a:t> </a:t>
              </a:r>
              <a:r>
                <a:rPr lang="fr-FR" sz="2000" b="1" dirty="0" err="1"/>
                <a:t>Adhesion</a:t>
              </a:r>
              <a:r>
                <a:rPr lang="fr-FR" sz="2000" b="1" dirty="0"/>
                <a:t> Molecules)                      Cell - </a:t>
              </a:r>
              <a:r>
                <a:rPr lang="fr-FR" sz="2000" b="1" dirty="0" err="1"/>
                <a:t>Extracellular</a:t>
              </a:r>
              <a:r>
                <a:rPr lang="fr-FR" sz="2000" b="1" dirty="0"/>
                <a:t> matrix (ECM) </a:t>
              </a:r>
            </a:p>
          </p:txBody>
        </p:sp>
        <p:cxnSp>
          <p:nvCxnSpPr>
            <p:cNvPr id="10" name="Connecteur droit avec flèche 9"/>
            <p:cNvCxnSpPr/>
            <p:nvPr/>
          </p:nvCxnSpPr>
          <p:spPr>
            <a:xfrm>
              <a:off x="4286248" y="4371234"/>
              <a:ext cx="928694" cy="1588"/>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1" name="Connecteur droit avec flèche 10"/>
            <p:cNvCxnSpPr/>
            <p:nvPr/>
          </p:nvCxnSpPr>
          <p:spPr>
            <a:xfrm>
              <a:off x="4286248" y="4964715"/>
              <a:ext cx="928694" cy="1588"/>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grpSp>
      <p:sp>
        <p:nvSpPr>
          <p:cNvPr id="4097" name="Rectangle 1"/>
          <p:cNvSpPr>
            <a:spLocks noChangeArrowheads="1"/>
          </p:cNvSpPr>
          <p:nvPr/>
        </p:nvSpPr>
        <p:spPr bwMode="auto">
          <a:xfrm>
            <a:off x="146930" y="5626694"/>
            <a:ext cx="9072594" cy="10156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Low" fontAlgn="base">
              <a:spcBef>
                <a:spcPct val="0"/>
              </a:spcBef>
              <a:spcAft>
                <a:spcPct val="0"/>
              </a:spcAft>
            </a:pPr>
            <a:r>
              <a:rPr lang="en-US" sz="2000" b="1" dirty="0" err="1">
                <a:latin typeface="Century Schoolbook" panose="02040604050505020304" pitchFamily="18" charset="0"/>
                <a:ea typeface="Times New Roman" pitchFamily="18" charset="0"/>
                <a:cs typeface="Arial" pitchFamily="34" charset="0"/>
              </a:rPr>
              <a:t>Homophilic</a:t>
            </a:r>
            <a:r>
              <a:rPr lang="en-US" sz="2000" dirty="0">
                <a:latin typeface="Century Schoolbook" panose="02040604050505020304" pitchFamily="18" charset="0"/>
                <a:ea typeface="Times New Roman" pitchFamily="18" charset="0"/>
                <a:cs typeface="Arial" pitchFamily="34" charset="0"/>
              </a:rPr>
              <a:t>, there is an interaction between two identical proteins.</a:t>
            </a:r>
          </a:p>
          <a:p>
            <a:pPr lvl="0" algn="justLow" fontAlgn="base">
              <a:spcBef>
                <a:spcPct val="0"/>
              </a:spcBef>
              <a:spcAft>
                <a:spcPct val="0"/>
              </a:spcAft>
            </a:pPr>
            <a:endParaRPr lang="en-US" sz="2000" dirty="0">
              <a:latin typeface="Century Schoolbook" panose="02040604050505020304" pitchFamily="18" charset="0"/>
              <a:ea typeface="Times New Roman" pitchFamily="18" charset="0"/>
              <a:cs typeface="Arial" pitchFamily="34" charset="0"/>
            </a:endParaRPr>
          </a:p>
          <a:p>
            <a:pPr lvl="0" algn="justLow" fontAlgn="base">
              <a:spcBef>
                <a:spcPct val="0"/>
              </a:spcBef>
              <a:spcAft>
                <a:spcPct val="0"/>
              </a:spcAft>
            </a:pPr>
            <a:r>
              <a:rPr lang="en-US" sz="2000" b="1" dirty="0" err="1">
                <a:latin typeface="Century Schoolbook" panose="02040604050505020304" pitchFamily="18" charset="0"/>
                <a:ea typeface="Times New Roman" pitchFamily="18" charset="0"/>
                <a:cs typeface="Arial" pitchFamily="34" charset="0"/>
              </a:rPr>
              <a:t>Heterophilic</a:t>
            </a:r>
            <a:r>
              <a:rPr lang="en-US" sz="2000" dirty="0">
                <a:latin typeface="Century Schoolbook" panose="02040604050505020304" pitchFamily="18" charset="0"/>
                <a:ea typeface="Times New Roman" pitchFamily="18" charset="0"/>
                <a:cs typeface="Arial" pitchFamily="34" charset="0"/>
              </a:rPr>
              <a:t>, there is an interaction between two different proteins.</a:t>
            </a:r>
            <a:endParaRPr lang="fr-FR" sz="2000" dirty="0">
              <a:latin typeface="Century Schoolbook" panose="02040604050505020304" pitchFamily="18" charset="0"/>
              <a:ea typeface="Times New Roman" pitchFamily="18" charset="0"/>
              <a:cs typeface="Arial" pitchFamily="34" charset="0"/>
            </a:endParaRPr>
          </a:p>
        </p:txBody>
      </p:sp>
      <p:sp>
        <p:nvSpPr>
          <p:cNvPr id="13" name="Flèche vers le bas 12"/>
          <p:cNvSpPr/>
          <p:nvPr/>
        </p:nvSpPr>
        <p:spPr>
          <a:xfrm>
            <a:off x="4429108" y="4562224"/>
            <a:ext cx="357190" cy="85725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p:cNvSpPr/>
          <p:nvPr/>
        </p:nvSpPr>
        <p:spPr>
          <a:xfrm>
            <a:off x="392877" y="833917"/>
            <a:ext cx="8001056" cy="1107996"/>
          </a:xfrm>
          <a:prstGeom prst="rect">
            <a:avLst/>
          </a:prstGeom>
        </p:spPr>
        <p:txBody>
          <a:bodyPr wrap="square">
            <a:spAutoFit/>
          </a:bodyPr>
          <a:lstStyle/>
          <a:p>
            <a:pPr algn="ctr"/>
            <a:r>
              <a:rPr lang="en-US" sz="2200" dirty="0">
                <a:latin typeface="Century Schoolbook" panose="02040604050505020304" pitchFamily="18" charset="0"/>
                <a:cs typeface="Arial" pitchFamily="34" charset="0"/>
              </a:rPr>
              <a:t>These are specialized areas located between adjacent cells or between cells and the extracellular matrix (ECM).</a:t>
            </a:r>
            <a:endParaRPr lang="fr-FR" sz="2200" dirty="0">
              <a:latin typeface="Century Schoolbook" panose="02040604050505020304" pitchFamily="18" charset="0"/>
              <a:cs typeface="Arial" pitchFamily="34" charset="0"/>
            </a:endParaRPr>
          </a:p>
          <a:p>
            <a:pPr algn="ctr"/>
            <a:r>
              <a:rPr lang="fr-FR" sz="2200" dirty="0">
                <a:latin typeface="Arial" pitchFamily="34" charset="0"/>
                <a:cs typeface="Arial" pitchFamily="34" charset="0"/>
              </a:rPr>
              <a:t> </a:t>
            </a:r>
            <a:endParaRPr lang="fr-FR" sz="2200" b="1" dirty="0">
              <a:latin typeface="Arial" pitchFamily="34" charset="0"/>
              <a:cs typeface="Arial" pitchFamily="34" charset="0"/>
            </a:endParaRPr>
          </a:p>
        </p:txBody>
      </p:sp>
      <p:sp>
        <p:nvSpPr>
          <p:cNvPr id="3" name="Rectangle 2"/>
          <p:cNvSpPr/>
          <p:nvPr/>
        </p:nvSpPr>
        <p:spPr>
          <a:xfrm>
            <a:off x="2928942" y="1683576"/>
            <a:ext cx="4572000" cy="1631216"/>
          </a:xfrm>
          <a:prstGeom prst="rect">
            <a:avLst/>
          </a:prstGeom>
        </p:spPr>
        <p:txBody>
          <a:bodyPr>
            <a:spAutoFit/>
          </a:bodyPr>
          <a:lstStyle/>
          <a:p>
            <a:r>
              <a:rPr lang="fr-FR" dirty="0"/>
              <a:t>                    </a:t>
            </a:r>
            <a:r>
              <a:rPr lang="fr-FR" sz="2000" dirty="0" err="1">
                <a:latin typeface="Century Schoolbook" panose="02040604050505020304" pitchFamily="18" charset="0"/>
              </a:rPr>
              <a:t>Role</a:t>
            </a:r>
            <a:endParaRPr lang="fr-FR" sz="2000" dirty="0">
              <a:latin typeface="Century Schoolbook" panose="02040604050505020304" pitchFamily="18" charset="0"/>
            </a:endParaRPr>
          </a:p>
          <a:p>
            <a:endParaRPr lang="fr-FR" sz="2000" dirty="0">
              <a:latin typeface="Century Schoolbook" panose="02040604050505020304" pitchFamily="18" charset="0"/>
            </a:endParaRPr>
          </a:p>
          <a:p>
            <a:r>
              <a:rPr lang="fr-FR" sz="2000" dirty="0">
                <a:latin typeface="Century Schoolbook" panose="02040604050505020304" pitchFamily="18" charset="0"/>
              </a:rPr>
              <a:t> </a:t>
            </a:r>
            <a:r>
              <a:rPr lang="fr-FR" sz="2000" b="1" dirty="0" err="1">
                <a:latin typeface="Century Schoolbook" panose="02040604050505020304" pitchFamily="18" charset="0"/>
              </a:rPr>
              <a:t>Cohesion</a:t>
            </a:r>
            <a:r>
              <a:rPr lang="fr-FR" sz="2000" b="1" dirty="0">
                <a:latin typeface="Century Schoolbook" panose="02040604050505020304" pitchFamily="18" charset="0"/>
              </a:rPr>
              <a:t> and </a:t>
            </a:r>
            <a:r>
              <a:rPr lang="fr-FR" sz="2000" b="1" dirty="0" err="1">
                <a:latin typeface="Century Schoolbook" panose="02040604050505020304" pitchFamily="18" charset="0"/>
              </a:rPr>
              <a:t>adhesion</a:t>
            </a:r>
            <a:endParaRPr lang="fr-FR" sz="2000" b="1" dirty="0">
              <a:latin typeface="Century Schoolbook" panose="02040604050505020304" pitchFamily="18" charset="0"/>
            </a:endParaRPr>
          </a:p>
          <a:p>
            <a:endParaRPr lang="fr-FR" sz="2000" b="1" dirty="0">
              <a:latin typeface="Century Schoolbook" panose="02040604050505020304" pitchFamily="18" charset="0"/>
            </a:endParaRPr>
          </a:p>
          <a:p>
            <a:r>
              <a:rPr lang="fr-FR" sz="2000" b="1" dirty="0" err="1">
                <a:latin typeface="Century Schoolbook" panose="02040604050505020304" pitchFamily="18" charset="0"/>
              </a:rPr>
              <a:t>Intercellular</a:t>
            </a:r>
            <a:r>
              <a:rPr lang="fr-FR" sz="2000" b="1" dirty="0">
                <a:latin typeface="Century Schoolbook" panose="02040604050505020304" pitchFamily="18" charset="0"/>
              </a:rPr>
              <a:t> communication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73693" y="0"/>
            <a:ext cx="2459328" cy="646331"/>
          </a:xfrm>
          <a:prstGeom prst="rect">
            <a:avLst/>
          </a:prstGeom>
        </p:spPr>
        <p:txBody>
          <a:bodyPr wrap="none">
            <a:spAutoFit/>
          </a:bodyPr>
          <a:lstStyle/>
          <a:p>
            <a:r>
              <a:rPr lang="fr-FR" b="1" dirty="0"/>
              <a:t> </a:t>
            </a:r>
            <a:r>
              <a:rPr lang="fr-FR" sz="3600" b="1" dirty="0" err="1">
                <a:latin typeface="Century Schoolbook" panose="02040604050505020304" pitchFamily="18" charset="0"/>
                <a:cs typeface="Arial" pitchFamily="34" charset="0"/>
              </a:rPr>
              <a:t>Integrins</a:t>
            </a:r>
            <a:endParaRPr lang="fr-FR" sz="3600" dirty="0">
              <a:latin typeface="Century Schoolbook" panose="02040604050505020304" pitchFamily="18" charset="0"/>
              <a:cs typeface="Arial" pitchFamily="34" charset="0"/>
            </a:endParaRPr>
          </a:p>
        </p:txBody>
      </p:sp>
      <p:pic>
        <p:nvPicPr>
          <p:cNvPr id="35842" name="Picture 2" descr="http://www.jle.com/e-docs/00/04/18/EA/texte_alt_jlebdc00341_gr8.jpg"/>
          <p:cNvPicPr>
            <a:picLocks noChangeAspect="1" noChangeArrowheads="1"/>
          </p:cNvPicPr>
          <p:nvPr/>
        </p:nvPicPr>
        <p:blipFill>
          <a:blip r:embed="rId2"/>
          <a:srcRect/>
          <a:stretch>
            <a:fillRect/>
          </a:stretch>
        </p:blipFill>
        <p:spPr bwMode="auto">
          <a:xfrm>
            <a:off x="250787" y="863303"/>
            <a:ext cx="4000496" cy="4357718"/>
          </a:xfrm>
          <a:prstGeom prst="rect">
            <a:avLst/>
          </a:prstGeom>
          <a:noFill/>
        </p:spPr>
      </p:pic>
      <p:sp>
        <p:nvSpPr>
          <p:cNvPr id="8" name="Rectangle 7"/>
          <p:cNvSpPr/>
          <p:nvPr/>
        </p:nvSpPr>
        <p:spPr>
          <a:xfrm>
            <a:off x="428596" y="2857496"/>
            <a:ext cx="320922" cy="369332"/>
          </a:xfrm>
          <a:prstGeom prst="rect">
            <a:avLst/>
          </a:prstGeom>
        </p:spPr>
        <p:txBody>
          <a:bodyPr wrap="none">
            <a:spAutoFit/>
          </a:bodyPr>
          <a:lstStyle/>
          <a:p>
            <a:r>
              <a:rPr lang="fr-FR" b="1" dirty="0"/>
              <a:t>α</a:t>
            </a:r>
            <a:endParaRPr lang="fr-FR" dirty="0"/>
          </a:p>
        </p:txBody>
      </p:sp>
      <p:sp>
        <p:nvSpPr>
          <p:cNvPr id="9" name="Rectangle 8"/>
          <p:cNvSpPr/>
          <p:nvPr/>
        </p:nvSpPr>
        <p:spPr>
          <a:xfrm>
            <a:off x="2845456" y="2155148"/>
            <a:ext cx="311304" cy="369332"/>
          </a:xfrm>
          <a:prstGeom prst="rect">
            <a:avLst/>
          </a:prstGeom>
        </p:spPr>
        <p:txBody>
          <a:bodyPr wrap="none">
            <a:spAutoFit/>
          </a:bodyPr>
          <a:lstStyle/>
          <a:p>
            <a:r>
              <a:rPr lang="fr-FR" b="1" dirty="0"/>
              <a:t>β</a:t>
            </a:r>
            <a:endParaRPr lang="fr-FR" dirty="0"/>
          </a:p>
        </p:txBody>
      </p:sp>
      <p:sp>
        <p:nvSpPr>
          <p:cNvPr id="3" name="Rectangle 2"/>
          <p:cNvSpPr/>
          <p:nvPr/>
        </p:nvSpPr>
        <p:spPr>
          <a:xfrm>
            <a:off x="4429092" y="728859"/>
            <a:ext cx="4572000" cy="5632311"/>
          </a:xfrm>
          <a:prstGeom prst="rect">
            <a:avLst/>
          </a:prstGeom>
        </p:spPr>
        <p:txBody>
          <a:bodyPr>
            <a:spAutoFit/>
          </a:bodyPr>
          <a:lstStyle/>
          <a:p>
            <a:pPr algn="just"/>
            <a:r>
              <a:rPr lang="en-US" dirty="0">
                <a:latin typeface="Century Schoolbook" panose="02040604050505020304" pitchFamily="18" charset="0"/>
              </a:rPr>
              <a:t>These are </a:t>
            </a:r>
            <a:r>
              <a:rPr lang="en-US" dirty="0" err="1">
                <a:latin typeface="Century Schoolbook" panose="02040604050505020304" pitchFamily="18" charset="0"/>
              </a:rPr>
              <a:t>heterodimeric</a:t>
            </a:r>
            <a:r>
              <a:rPr lang="en-US" dirty="0">
                <a:latin typeface="Century Schoolbook" panose="02040604050505020304" pitchFamily="18" charset="0"/>
              </a:rPr>
              <a:t> proteins with two α and β chains. They are </a:t>
            </a:r>
            <a:r>
              <a:rPr lang="en-US" dirty="0" err="1">
                <a:latin typeface="Century Schoolbook" panose="02040604050505020304" pitchFamily="18" charset="0"/>
              </a:rPr>
              <a:t>transmembrane</a:t>
            </a:r>
            <a:r>
              <a:rPr lang="en-US" dirty="0">
                <a:latin typeface="Century Schoolbook" panose="02040604050505020304" pitchFamily="18" charset="0"/>
              </a:rPr>
              <a:t> proteins with a small cytoplasmic domain.</a:t>
            </a:r>
          </a:p>
          <a:p>
            <a:pPr algn="just"/>
            <a:endParaRPr lang="en-US" dirty="0">
              <a:latin typeface="Century Schoolbook" panose="02040604050505020304" pitchFamily="18" charset="0"/>
            </a:endParaRPr>
          </a:p>
          <a:p>
            <a:pPr algn="just"/>
            <a:r>
              <a:rPr lang="en-US" dirty="0">
                <a:latin typeface="Century Schoolbook" panose="02040604050505020304" pitchFamily="18" charset="0"/>
              </a:rPr>
              <a:t>They are a family of membrane glycoproteins that act as cell surface receptors for components of the extracellular matrix (ECM).</a:t>
            </a:r>
          </a:p>
          <a:p>
            <a:pPr algn="just"/>
            <a:endParaRPr lang="en-US" dirty="0">
              <a:latin typeface="Century Schoolbook" panose="02040604050505020304" pitchFamily="18" charset="0"/>
            </a:endParaRPr>
          </a:p>
          <a:p>
            <a:pPr algn="just"/>
            <a:r>
              <a:rPr lang="en-US" dirty="0">
                <a:latin typeface="Century Schoolbook" panose="02040604050505020304" pitchFamily="18" charset="0"/>
              </a:rPr>
              <a:t>They bind to several macromolecules: collagen, </a:t>
            </a:r>
            <a:r>
              <a:rPr lang="en-US" dirty="0" err="1">
                <a:latin typeface="Century Schoolbook" panose="02040604050505020304" pitchFamily="18" charset="0"/>
              </a:rPr>
              <a:t>laminin</a:t>
            </a:r>
            <a:r>
              <a:rPr lang="en-US" dirty="0">
                <a:latin typeface="Century Schoolbook" panose="02040604050505020304" pitchFamily="18" charset="0"/>
              </a:rPr>
              <a:t>, </a:t>
            </a:r>
            <a:r>
              <a:rPr lang="en-US" dirty="0" err="1">
                <a:latin typeface="Century Schoolbook" panose="02040604050505020304" pitchFamily="18" charset="0"/>
              </a:rPr>
              <a:t>fibronectin</a:t>
            </a:r>
            <a:r>
              <a:rPr lang="en-US" dirty="0">
                <a:latin typeface="Century Schoolbook" panose="02040604050505020304" pitchFamily="18" charset="0"/>
              </a:rPr>
              <a:t>, immunoglobulin, etc.</a:t>
            </a:r>
          </a:p>
          <a:p>
            <a:pPr algn="just"/>
            <a:endParaRPr lang="en-US" dirty="0">
              <a:latin typeface="Century Schoolbook" panose="02040604050505020304" pitchFamily="18" charset="0"/>
            </a:endParaRPr>
          </a:p>
          <a:p>
            <a:pPr algn="just"/>
            <a:r>
              <a:rPr lang="en-US" dirty="0" err="1">
                <a:latin typeface="Century Schoolbook" panose="02040604050505020304" pitchFamily="18" charset="0"/>
              </a:rPr>
              <a:t>Integrins</a:t>
            </a:r>
            <a:r>
              <a:rPr lang="en-US" dirty="0">
                <a:latin typeface="Century Schoolbook" panose="02040604050505020304" pitchFamily="18" charset="0"/>
              </a:rPr>
              <a:t> link cells to the extracellular matrix (</a:t>
            </a:r>
            <a:r>
              <a:rPr lang="en-US" dirty="0" err="1">
                <a:latin typeface="Century Schoolbook" panose="02040604050505020304" pitchFamily="18" charset="0"/>
              </a:rPr>
              <a:t>fibronectin</a:t>
            </a:r>
            <a:r>
              <a:rPr lang="en-US" dirty="0">
                <a:latin typeface="Century Schoolbook" panose="02040604050505020304" pitchFamily="18" charset="0"/>
              </a:rPr>
              <a:t> or </a:t>
            </a:r>
            <a:r>
              <a:rPr lang="en-US" dirty="0" err="1">
                <a:latin typeface="Century Schoolbook" panose="02040604050505020304" pitchFamily="18" charset="0"/>
              </a:rPr>
              <a:t>laminin</a:t>
            </a:r>
            <a:r>
              <a:rPr lang="en-US" dirty="0">
                <a:latin typeface="Century Schoolbook" panose="02040604050505020304" pitchFamily="18" charset="0"/>
              </a:rPr>
              <a:t>) or to receptors of the immunoglobulin family. These bindings can be regulated by the local concentration of divalent </a:t>
            </a:r>
            <a:r>
              <a:rPr lang="en-US" dirty="0" err="1">
                <a:latin typeface="Century Schoolbook" panose="02040604050505020304" pitchFamily="18" charset="0"/>
              </a:rPr>
              <a:t>cations</a:t>
            </a:r>
            <a:r>
              <a:rPr lang="en-US" dirty="0">
                <a:latin typeface="Century Schoolbook" panose="02040604050505020304" pitchFamily="18" charset="0"/>
              </a:rPr>
              <a:t> (</a:t>
            </a:r>
            <a:r>
              <a:rPr lang="fr-FR" dirty="0">
                <a:latin typeface="Arial" pitchFamily="34" charset="0"/>
                <a:ea typeface="Times New Roman" pitchFamily="18" charset="0"/>
                <a:cs typeface="Arial" pitchFamily="34" charset="0"/>
              </a:rPr>
              <a:t>Ca</a:t>
            </a:r>
            <a:r>
              <a:rPr lang="fr-FR" baseline="30000" dirty="0">
                <a:latin typeface="Arial" pitchFamily="34" charset="0"/>
                <a:ea typeface="Times New Roman" pitchFamily="18" charset="0"/>
                <a:cs typeface="Arial" pitchFamily="34" charset="0"/>
              </a:rPr>
              <a:t>2+</a:t>
            </a:r>
            <a:r>
              <a:rPr lang="fr-FR" dirty="0">
                <a:latin typeface="Arial" pitchFamily="34" charset="0"/>
                <a:ea typeface="Times New Roman" pitchFamily="18" charset="0"/>
                <a:cs typeface="Arial" pitchFamily="34" charset="0"/>
              </a:rPr>
              <a:t>, Mg</a:t>
            </a:r>
            <a:r>
              <a:rPr lang="fr-FR" baseline="30000" dirty="0">
                <a:latin typeface="Arial" pitchFamily="34" charset="0"/>
                <a:ea typeface="Times New Roman" pitchFamily="18" charset="0"/>
                <a:cs typeface="Arial" pitchFamily="34" charset="0"/>
              </a:rPr>
              <a:t>2+</a:t>
            </a:r>
            <a:r>
              <a:rPr lang="fr-FR" dirty="0">
                <a:latin typeface="Arial" pitchFamily="34" charset="0"/>
                <a:ea typeface="Times New Roman" pitchFamily="18" charset="0"/>
                <a:cs typeface="Arial" pitchFamily="34" charset="0"/>
              </a:rPr>
              <a:t>)</a:t>
            </a:r>
            <a:endParaRPr lang="fr-FR" dirty="0">
              <a:latin typeface="Century Schoolbook" panose="02040604050505020304" pitchFamily="18" charset="0"/>
            </a:endParaRPr>
          </a:p>
        </p:txBody>
      </p:sp>
      <p:sp>
        <p:nvSpPr>
          <p:cNvPr id="4" name="Rectangle 3"/>
          <p:cNvSpPr/>
          <p:nvPr/>
        </p:nvSpPr>
        <p:spPr>
          <a:xfrm>
            <a:off x="177085" y="6349543"/>
            <a:ext cx="8381725" cy="646331"/>
          </a:xfrm>
          <a:prstGeom prst="rect">
            <a:avLst/>
          </a:prstGeom>
        </p:spPr>
        <p:txBody>
          <a:bodyPr wrap="square">
            <a:spAutoFit/>
          </a:bodyPr>
          <a:lstStyle/>
          <a:p>
            <a:r>
              <a:rPr lang="en-US" dirty="0">
                <a:latin typeface="Century Schoolbook" panose="02040604050505020304" pitchFamily="18" charset="0"/>
              </a:rPr>
              <a:t>It allows cells to adhere to the matrix, but also intercellular adhesion</a:t>
            </a:r>
            <a:r>
              <a:rPr lang="en-US" dirty="0"/>
              <a:t>.</a:t>
            </a:r>
          </a:p>
          <a:p>
            <a:endParaRPr lang="en-US" dirty="0"/>
          </a:p>
        </p:txBody>
      </p:sp>
    </p:spTree>
    <p:extLst>
      <p:ext uri="{BB962C8B-B14F-4D97-AF65-F5344CB8AC3E}">
        <p14:creationId xmlns:p14="http://schemas.microsoft.com/office/powerpoint/2010/main" val="9212350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jpg"/>
          <p:cNvPicPr/>
          <p:nvPr/>
        </p:nvPicPr>
        <p:blipFill>
          <a:blip r:embed="rId2"/>
          <a:srcRect l="1773" t="16635" r="52120" b="2963"/>
          <a:stretch>
            <a:fillRect/>
          </a:stretch>
        </p:blipFill>
        <p:spPr>
          <a:xfrm>
            <a:off x="6469769" y="152542"/>
            <a:ext cx="2643206" cy="5652722"/>
          </a:xfrm>
          <a:prstGeom prst="rect">
            <a:avLst/>
          </a:prstGeom>
        </p:spPr>
      </p:pic>
      <p:sp>
        <p:nvSpPr>
          <p:cNvPr id="7" name="Rectangle 6"/>
          <p:cNvSpPr/>
          <p:nvPr/>
        </p:nvSpPr>
        <p:spPr>
          <a:xfrm>
            <a:off x="108074" y="527583"/>
            <a:ext cx="5678372" cy="646331"/>
          </a:xfrm>
          <a:prstGeom prst="rect">
            <a:avLst/>
          </a:prstGeom>
        </p:spPr>
        <p:txBody>
          <a:bodyPr wrap="square">
            <a:spAutoFit/>
          </a:bodyPr>
          <a:lstStyle/>
          <a:p>
            <a:r>
              <a:rPr lang="en-US" dirty="0">
                <a:latin typeface="Century Schoolbook" panose="02040604050505020304" pitchFamily="18" charset="0"/>
              </a:rPr>
              <a:t>Binding specificity depends on the extracellular domain of the α subunits.</a:t>
            </a:r>
            <a:endParaRPr lang="fr-FR" dirty="0">
              <a:latin typeface="Century Schoolbook" panose="02040604050505020304" pitchFamily="18" charset="0"/>
            </a:endParaRPr>
          </a:p>
        </p:txBody>
      </p:sp>
      <p:sp>
        <p:nvSpPr>
          <p:cNvPr id="8" name="Rectangle 7"/>
          <p:cNvSpPr/>
          <p:nvPr/>
        </p:nvSpPr>
        <p:spPr>
          <a:xfrm>
            <a:off x="127280" y="1345781"/>
            <a:ext cx="5964124" cy="923330"/>
          </a:xfrm>
          <a:prstGeom prst="rect">
            <a:avLst/>
          </a:prstGeom>
        </p:spPr>
        <p:txBody>
          <a:bodyPr wrap="square">
            <a:spAutoFit/>
          </a:bodyPr>
          <a:lstStyle/>
          <a:p>
            <a:r>
              <a:rPr lang="en-US" dirty="0">
                <a:latin typeface="Century Schoolbook" panose="02040604050505020304" pitchFamily="18" charset="0"/>
              </a:rPr>
              <a:t>Extracellular binding domains identify the RGD (</a:t>
            </a:r>
            <a:r>
              <a:rPr lang="en-US" dirty="0" err="1">
                <a:latin typeface="Century Schoolbook" panose="02040604050505020304" pitchFamily="18" charset="0"/>
              </a:rPr>
              <a:t>Arg</a:t>
            </a:r>
            <a:r>
              <a:rPr lang="en-US" dirty="0">
                <a:latin typeface="Century Schoolbook" panose="02040604050505020304" pitchFamily="18" charset="0"/>
              </a:rPr>
              <a:t>-</a:t>
            </a:r>
            <a:r>
              <a:rPr lang="en-US" dirty="0" err="1">
                <a:latin typeface="Century Schoolbook" panose="02040604050505020304" pitchFamily="18" charset="0"/>
              </a:rPr>
              <a:t>Gly</a:t>
            </a:r>
            <a:r>
              <a:rPr lang="en-US" dirty="0">
                <a:latin typeface="Century Schoolbook" panose="02040604050505020304" pitchFamily="18" charset="0"/>
              </a:rPr>
              <a:t>-Asp) motif and other parts of glycoproteins.</a:t>
            </a:r>
          </a:p>
          <a:p>
            <a:endParaRPr lang="en-US" dirty="0"/>
          </a:p>
        </p:txBody>
      </p:sp>
      <p:sp>
        <p:nvSpPr>
          <p:cNvPr id="9" name="Rectangle 8"/>
          <p:cNvSpPr/>
          <p:nvPr/>
        </p:nvSpPr>
        <p:spPr>
          <a:xfrm>
            <a:off x="127280" y="2149417"/>
            <a:ext cx="6142951" cy="646331"/>
          </a:xfrm>
          <a:prstGeom prst="rect">
            <a:avLst/>
          </a:prstGeom>
        </p:spPr>
        <p:txBody>
          <a:bodyPr wrap="square">
            <a:spAutoFit/>
          </a:bodyPr>
          <a:lstStyle/>
          <a:p>
            <a:r>
              <a:rPr lang="en-US" dirty="0">
                <a:latin typeface="Century Schoolbook" panose="02040604050505020304" pitchFamily="18" charset="0"/>
              </a:rPr>
              <a:t>The intracellular parts of </a:t>
            </a:r>
            <a:r>
              <a:rPr lang="en-US" dirty="0" err="1">
                <a:latin typeface="Century Schoolbook" panose="02040604050505020304" pitchFamily="18" charset="0"/>
              </a:rPr>
              <a:t>integrins</a:t>
            </a:r>
            <a:r>
              <a:rPr lang="en-US" dirty="0">
                <a:latin typeface="Century Schoolbook" panose="02040604050505020304" pitchFamily="18" charset="0"/>
              </a:rPr>
              <a:t> possess binding domains for cytoskeletal molecules.</a:t>
            </a:r>
            <a:endParaRPr lang="fr-FR" dirty="0">
              <a:latin typeface="Century Schoolbook" panose="02040604050505020304" pitchFamily="18" charset="0"/>
            </a:endParaRPr>
          </a:p>
        </p:txBody>
      </p:sp>
      <p:sp>
        <p:nvSpPr>
          <p:cNvPr id="10" name="Rectangle 9"/>
          <p:cNvSpPr/>
          <p:nvPr/>
        </p:nvSpPr>
        <p:spPr>
          <a:xfrm>
            <a:off x="8305" y="3599384"/>
            <a:ext cx="6361695" cy="1200329"/>
          </a:xfrm>
          <a:prstGeom prst="rect">
            <a:avLst/>
          </a:prstGeom>
        </p:spPr>
        <p:txBody>
          <a:bodyPr wrap="square">
            <a:spAutoFit/>
          </a:bodyPr>
          <a:lstStyle/>
          <a:p>
            <a:r>
              <a:rPr lang="fr-FR" dirty="0" err="1">
                <a:latin typeface="Century Schoolbook" panose="02040604050505020304" pitchFamily="18" charset="0"/>
              </a:rPr>
              <a:t>Extracellular</a:t>
            </a:r>
            <a:r>
              <a:rPr lang="fr-FR" dirty="0">
                <a:latin typeface="Century Schoolbook" panose="02040604050505020304" pitchFamily="18" charset="0"/>
              </a:rPr>
              <a:t> portion – </a:t>
            </a:r>
            <a:r>
              <a:rPr lang="fr-FR" dirty="0" err="1">
                <a:latin typeface="Century Schoolbook" panose="02040604050505020304" pitchFamily="18" charset="0"/>
              </a:rPr>
              <a:t>binding</a:t>
            </a:r>
            <a:r>
              <a:rPr lang="fr-FR" dirty="0">
                <a:latin typeface="Century Schoolbook" panose="02040604050505020304" pitchFamily="18" charset="0"/>
              </a:rPr>
              <a:t> site for the RGD </a:t>
            </a:r>
            <a:r>
              <a:rPr lang="fr-FR" dirty="0" err="1">
                <a:latin typeface="Century Schoolbook" panose="02040604050505020304" pitchFamily="18" charset="0"/>
              </a:rPr>
              <a:t>sequence</a:t>
            </a:r>
            <a:r>
              <a:rPr lang="fr-FR" dirty="0">
                <a:latin typeface="Century Schoolbook" panose="02040604050505020304" pitchFamily="18" charset="0"/>
              </a:rPr>
              <a:t>.</a:t>
            </a:r>
          </a:p>
          <a:p>
            <a:endParaRPr lang="fr-FR" dirty="0">
              <a:latin typeface="Century Schoolbook" panose="02040604050505020304" pitchFamily="18" charset="0"/>
            </a:endParaRPr>
          </a:p>
          <a:p>
            <a:r>
              <a:rPr lang="fr-FR" dirty="0" err="1">
                <a:latin typeface="Century Schoolbook" panose="02040604050505020304" pitchFamily="18" charset="0"/>
              </a:rPr>
              <a:t>Intracellular</a:t>
            </a:r>
            <a:r>
              <a:rPr lang="fr-FR" dirty="0">
                <a:latin typeface="Century Schoolbook" panose="02040604050505020304" pitchFamily="18" charset="0"/>
              </a:rPr>
              <a:t> portion – </a:t>
            </a:r>
            <a:r>
              <a:rPr lang="fr-FR" dirty="0" err="1">
                <a:latin typeface="Century Schoolbook" panose="02040604050505020304" pitchFamily="18" charset="0"/>
              </a:rPr>
              <a:t>binding</a:t>
            </a:r>
            <a:r>
              <a:rPr lang="fr-FR" dirty="0">
                <a:latin typeface="Century Schoolbook" panose="02040604050505020304" pitchFamily="18" charset="0"/>
              </a:rPr>
              <a:t> site for </a:t>
            </a:r>
            <a:r>
              <a:rPr lang="fr-FR" dirty="0" err="1">
                <a:latin typeface="Century Schoolbook" panose="02040604050505020304" pitchFamily="18" charset="0"/>
              </a:rPr>
              <a:t>talin</a:t>
            </a:r>
            <a:r>
              <a:rPr lang="fr-FR" dirty="0">
                <a:latin typeface="Century Schoolbook" panose="02040604050505020304" pitchFamily="18" charset="0"/>
              </a:rPr>
              <a:t>, a </a:t>
            </a:r>
            <a:r>
              <a:rPr lang="fr-FR" dirty="0" err="1">
                <a:latin typeface="Century Schoolbook" panose="02040604050505020304" pitchFamily="18" charset="0"/>
              </a:rPr>
              <a:t>cytoskeletal</a:t>
            </a:r>
            <a:r>
              <a:rPr lang="fr-FR" dirty="0">
                <a:latin typeface="Century Schoolbook" panose="02040604050505020304" pitchFamily="18" charset="0"/>
              </a:rPr>
              <a:t> </a:t>
            </a:r>
            <a:r>
              <a:rPr lang="fr-FR" dirty="0" err="1">
                <a:latin typeface="Century Schoolbook" panose="02040604050505020304" pitchFamily="18" charset="0"/>
              </a:rPr>
              <a:t>protein</a:t>
            </a:r>
            <a:r>
              <a:rPr lang="fr-FR" dirty="0">
                <a:latin typeface="Century Schoolbook" panose="02040604050505020304" pitchFamily="18" charset="0"/>
              </a:rPr>
              <a:t> </a:t>
            </a:r>
            <a:r>
              <a:rPr lang="fr-FR" dirty="0" err="1">
                <a:latin typeface="Century Schoolbook" panose="02040604050505020304" pitchFamily="18" charset="0"/>
              </a:rPr>
              <a:t>indirectly</a:t>
            </a:r>
            <a:r>
              <a:rPr lang="fr-FR" dirty="0">
                <a:latin typeface="Century Schoolbook" panose="02040604050505020304" pitchFamily="18" charset="0"/>
              </a:rPr>
              <a:t> </a:t>
            </a:r>
            <a:r>
              <a:rPr lang="fr-FR" dirty="0" err="1">
                <a:latin typeface="Century Schoolbook" panose="02040604050505020304" pitchFamily="18" charset="0"/>
              </a:rPr>
              <a:t>linked</a:t>
            </a:r>
            <a:r>
              <a:rPr lang="fr-FR" dirty="0">
                <a:latin typeface="Century Schoolbook" panose="02040604050505020304" pitchFamily="18" charset="0"/>
              </a:rPr>
              <a:t> to microfilaments.</a:t>
            </a:r>
          </a:p>
        </p:txBody>
      </p:sp>
      <p:sp>
        <p:nvSpPr>
          <p:cNvPr id="11" name="Rectangle 10"/>
          <p:cNvSpPr/>
          <p:nvPr/>
        </p:nvSpPr>
        <p:spPr>
          <a:xfrm>
            <a:off x="251520" y="5977131"/>
            <a:ext cx="8549176" cy="923330"/>
          </a:xfrm>
          <a:prstGeom prst="rect">
            <a:avLst/>
          </a:prstGeom>
        </p:spPr>
        <p:txBody>
          <a:bodyPr wrap="square">
            <a:spAutoFit/>
          </a:bodyPr>
          <a:lstStyle/>
          <a:p>
            <a:pPr algn="ctr"/>
            <a:r>
              <a:rPr lang="en-US" dirty="0">
                <a:latin typeface="Century Schoolbook" panose="02040604050505020304" pitchFamily="18" charset="0"/>
              </a:rPr>
              <a:t>By binding to extracellular molecules and intracellular microfilaments, integrin regulates the interaction between the cytoskeleton and the ECM.</a:t>
            </a:r>
          </a:p>
          <a:p>
            <a:endParaRPr lang="en-US" dirty="0"/>
          </a:p>
        </p:txBody>
      </p:sp>
    </p:spTree>
    <p:extLst>
      <p:ext uri="{BB962C8B-B14F-4D97-AF65-F5344CB8AC3E}">
        <p14:creationId xmlns:p14="http://schemas.microsoft.com/office/powerpoint/2010/main" val="200017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66629" y="63641"/>
            <a:ext cx="2395207" cy="584775"/>
          </a:xfrm>
          <a:prstGeom prst="rect">
            <a:avLst/>
          </a:prstGeom>
        </p:spPr>
        <p:txBody>
          <a:bodyPr wrap="none">
            <a:spAutoFit/>
          </a:bodyPr>
          <a:lstStyle/>
          <a:p>
            <a:r>
              <a:rPr lang="fr-FR" sz="3200" b="1" dirty="0" err="1">
                <a:latin typeface="Century Schoolbook" panose="02040604050505020304" pitchFamily="18" charset="0"/>
                <a:cs typeface="Arial" pitchFamily="34" charset="0"/>
              </a:rPr>
              <a:t>Cadherins</a:t>
            </a:r>
            <a:endParaRPr lang="fr-FR" sz="3200" dirty="0">
              <a:latin typeface="Century Schoolbook" panose="02040604050505020304" pitchFamily="18" charset="0"/>
              <a:cs typeface="Arial" pitchFamily="34" charset="0"/>
            </a:endParaRPr>
          </a:p>
        </p:txBody>
      </p:sp>
      <p:sp>
        <p:nvSpPr>
          <p:cNvPr id="10" name="Espace réservé du texte 146"/>
          <p:cNvSpPr txBox="1">
            <a:spLocks/>
          </p:cNvSpPr>
          <p:nvPr/>
        </p:nvSpPr>
        <p:spPr>
          <a:xfrm>
            <a:off x="2285984" y="5715016"/>
            <a:ext cx="2928958" cy="245746"/>
          </a:xfrm>
          <a:prstGeom prst="rect">
            <a:avLst/>
          </a:prstGeom>
          <a:noFill/>
          <a:ln w="0" cmpd="sng">
            <a:noFill/>
            <a:prstDash val="solid"/>
          </a:ln>
        </p:spPr>
        <p:txBody>
          <a:bodyPr vert="horz" lIns="0" tIns="0" rIns="0" bIns="0" rtlCol="0" anchor="t"/>
          <a:lstStyle/>
          <a:p>
            <a:pPr marL="0" marR="0" lvl="0" indent="91440" algn="l" defTabSz="914400" rtl="0" eaLnBrk="1" fontAlgn="auto" latinLnBrk="0" hangingPunct="1">
              <a:lnSpc>
                <a:spcPct val="76799"/>
              </a:lnSpc>
              <a:spcBef>
                <a:spcPts val="0"/>
              </a:spcBef>
              <a:spcAft>
                <a:spcPts val="0"/>
              </a:spcAft>
              <a:buClrTx/>
              <a:buSzTx/>
              <a:tabLst/>
              <a:defRPr/>
            </a:pPr>
            <a:endParaRPr kumimoji="0" lang="fr-FR" b="0" i="0" u="none" strike="noStrike" kern="1200" cap="none" spc="-55" normalizeH="0" baseline="0" noProof="0" dirty="0">
              <a:ln>
                <a:noFill/>
              </a:ln>
              <a:solidFill>
                <a:srgbClr val="000000"/>
              </a:solidFill>
              <a:effectLst/>
              <a:uLnTx/>
              <a:uFillTx/>
              <a:latin typeface="Arial" pitchFamily="34" charset="0"/>
              <a:cs typeface="Arial" pitchFamily="34" charset="0"/>
            </a:endParaRPr>
          </a:p>
        </p:txBody>
      </p:sp>
      <p:sp>
        <p:nvSpPr>
          <p:cNvPr id="11" name="Espace réservé du texte 147"/>
          <p:cNvSpPr txBox="1">
            <a:spLocks/>
          </p:cNvSpPr>
          <p:nvPr/>
        </p:nvSpPr>
        <p:spPr>
          <a:xfrm>
            <a:off x="2000232" y="4071942"/>
            <a:ext cx="4566748" cy="245746"/>
          </a:xfrm>
          <a:prstGeom prst="rect">
            <a:avLst/>
          </a:prstGeom>
          <a:noFill/>
          <a:ln w="0" cmpd="sng">
            <a:noFill/>
            <a:prstDash val="solid"/>
          </a:ln>
        </p:spPr>
        <p:txBody>
          <a:bodyPr vert="horz" lIns="0" tIns="0" rIns="0" bIns="0" rtlCol="0" anchor="t"/>
          <a:lstStyle/>
          <a:p>
            <a:pPr marL="0" marR="0" lvl="0" indent="91440" algn="l" defTabSz="914400" rtl="0" eaLnBrk="1" fontAlgn="auto" latinLnBrk="0" hangingPunct="1">
              <a:lnSpc>
                <a:spcPct val="76799"/>
              </a:lnSpc>
              <a:spcBef>
                <a:spcPts val="0"/>
              </a:spcBef>
              <a:spcAft>
                <a:spcPts val="0"/>
              </a:spcAft>
              <a:buClrTx/>
              <a:buSzTx/>
              <a:buFont typeface="Symbol"/>
              <a:buChar char="·"/>
              <a:tabLst/>
              <a:defRPr/>
            </a:pPr>
            <a:endParaRPr kumimoji="0" lang="fr-FR" b="0" i="0" u="none" strike="noStrike" kern="1200" cap="none" spc="-35" normalizeH="0" baseline="0" noProof="0" dirty="0">
              <a:ln>
                <a:noFill/>
              </a:ln>
              <a:solidFill>
                <a:srgbClr val="000000"/>
              </a:solidFill>
              <a:effectLst/>
              <a:uLnTx/>
              <a:uFillTx/>
              <a:latin typeface="Arial" pitchFamily="34" charset="0"/>
              <a:cs typeface="Arial" pitchFamily="34" charset="0"/>
            </a:endParaRPr>
          </a:p>
        </p:txBody>
      </p:sp>
      <p:pic>
        <p:nvPicPr>
          <p:cNvPr id="12" name="Image.jpg"/>
          <p:cNvPicPr/>
          <p:nvPr/>
        </p:nvPicPr>
        <p:blipFill>
          <a:blip r:embed="rId2"/>
          <a:srcRect l="2727" t="24639" r="2727" b="26964"/>
          <a:stretch>
            <a:fillRect/>
          </a:stretch>
        </p:blipFill>
        <p:spPr>
          <a:xfrm>
            <a:off x="428596" y="714356"/>
            <a:ext cx="8286808" cy="2500330"/>
          </a:xfrm>
          <a:prstGeom prst="rect">
            <a:avLst/>
          </a:prstGeom>
        </p:spPr>
      </p:pic>
      <p:sp>
        <p:nvSpPr>
          <p:cNvPr id="3" name="Rectangle 2"/>
          <p:cNvSpPr/>
          <p:nvPr/>
        </p:nvSpPr>
        <p:spPr>
          <a:xfrm>
            <a:off x="323528" y="3391761"/>
            <a:ext cx="8391876" cy="923330"/>
          </a:xfrm>
          <a:prstGeom prst="rect">
            <a:avLst/>
          </a:prstGeom>
        </p:spPr>
        <p:txBody>
          <a:bodyPr wrap="square">
            <a:spAutoFit/>
          </a:bodyPr>
          <a:lstStyle/>
          <a:p>
            <a:pPr algn="just"/>
            <a:r>
              <a:rPr lang="en-US" dirty="0">
                <a:latin typeface="Century Schoolbook" panose="02040604050505020304" pitchFamily="18" charset="0"/>
              </a:rPr>
              <a:t>When </a:t>
            </a:r>
            <a:r>
              <a:rPr lang="fr-FR" dirty="0">
                <a:latin typeface="Arial" pitchFamily="34" charset="0"/>
                <a:ea typeface="Times New Roman" pitchFamily="18" charset="0"/>
                <a:cs typeface="Arial" pitchFamily="34" charset="0"/>
              </a:rPr>
              <a:t>Ca</a:t>
            </a:r>
            <a:r>
              <a:rPr lang="fr-FR" baseline="30000" dirty="0">
                <a:latin typeface="Arial" pitchFamily="34" charset="0"/>
                <a:ea typeface="Times New Roman" pitchFamily="18" charset="0"/>
                <a:cs typeface="Arial" pitchFamily="34" charset="0"/>
              </a:rPr>
              <a:t>2+ </a:t>
            </a:r>
            <a:r>
              <a:rPr lang="en-US" dirty="0">
                <a:latin typeface="Century Schoolbook" panose="02040604050505020304" pitchFamily="18" charset="0"/>
              </a:rPr>
              <a:t>binds to repeating cadherin domains, they can </a:t>
            </a:r>
            <a:r>
              <a:rPr lang="en-US" dirty="0" err="1">
                <a:latin typeface="Century Schoolbook" panose="02040604050505020304" pitchFamily="18" charset="0"/>
              </a:rPr>
              <a:t>dimerize</a:t>
            </a:r>
            <a:r>
              <a:rPr lang="en-US" dirty="0">
                <a:latin typeface="Century Schoolbook" panose="02040604050505020304" pitchFamily="18" charset="0"/>
              </a:rPr>
              <a:t>, changing conformation and binding to similar domains on an adjacent cell. Similarly, a decrease in extracellular </a:t>
            </a:r>
            <a:r>
              <a:rPr lang="fr-FR" dirty="0">
                <a:latin typeface="Arial" pitchFamily="34" charset="0"/>
                <a:ea typeface="Times New Roman" pitchFamily="18" charset="0"/>
                <a:cs typeface="Arial" pitchFamily="34" charset="0"/>
              </a:rPr>
              <a:t>Ca</a:t>
            </a:r>
            <a:r>
              <a:rPr lang="fr-FR" baseline="30000" dirty="0">
                <a:latin typeface="Arial" pitchFamily="34" charset="0"/>
                <a:ea typeface="Times New Roman" pitchFamily="18" charset="0"/>
                <a:cs typeface="Arial" pitchFamily="34" charset="0"/>
              </a:rPr>
              <a:t>2+ </a:t>
            </a:r>
            <a:r>
              <a:rPr lang="en-US" dirty="0">
                <a:latin typeface="Century Schoolbook" panose="02040604050505020304" pitchFamily="18" charset="0"/>
              </a:rPr>
              <a:t>can lead to cell dissociation.</a:t>
            </a:r>
            <a:endParaRPr lang="fr-FR" dirty="0">
              <a:latin typeface="Century Schoolbook" panose="02040604050505020304" pitchFamily="18" charset="0"/>
            </a:endParaRPr>
          </a:p>
        </p:txBody>
      </p:sp>
      <p:sp>
        <p:nvSpPr>
          <p:cNvPr id="4" name="Rectangle 3"/>
          <p:cNvSpPr/>
          <p:nvPr/>
        </p:nvSpPr>
        <p:spPr>
          <a:xfrm>
            <a:off x="270424" y="4326928"/>
            <a:ext cx="8766072" cy="646331"/>
          </a:xfrm>
          <a:prstGeom prst="rect">
            <a:avLst/>
          </a:prstGeom>
        </p:spPr>
        <p:txBody>
          <a:bodyPr wrap="square">
            <a:spAutoFit/>
          </a:bodyPr>
          <a:lstStyle/>
          <a:p>
            <a:r>
              <a:rPr lang="en-US" dirty="0">
                <a:latin typeface="Century Schoolbook" panose="02040604050505020304" pitchFamily="18" charset="0"/>
              </a:rPr>
              <a:t>Cadherin interactions are </a:t>
            </a:r>
            <a:r>
              <a:rPr lang="en-US" dirty="0" err="1">
                <a:latin typeface="Century Schoolbook" panose="02040604050505020304" pitchFamily="18" charset="0"/>
              </a:rPr>
              <a:t>homophilic</a:t>
            </a:r>
            <a:r>
              <a:rPr lang="en-US" dirty="0">
                <a:latin typeface="Century Schoolbook" panose="02040604050505020304" pitchFamily="18" charset="0"/>
              </a:rPr>
              <a:t>, with identical </a:t>
            </a:r>
            <a:r>
              <a:rPr lang="en-US" dirty="0" err="1">
                <a:latin typeface="Century Schoolbook" panose="02040604050505020304" pitchFamily="18" charset="0"/>
              </a:rPr>
              <a:t>cadherins</a:t>
            </a:r>
            <a:r>
              <a:rPr lang="en-US" dirty="0">
                <a:latin typeface="Century Schoolbook" panose="02040604050505020304" pitchFamily="18" charset="0"/>
              </a:rPr>
              <a:t> interacting to form cell tissues of the same type.</a:t>
            </a:r>
            <a:endParaRPr lang="fr-FR" dirty="0">
              <a:latin typeface="Century Schoolbook" panose="02040604050505020304" pitchFamily="18" charset="0"/>
            </a:endParaRPr>
          </a:p>
        </p:txBody>
      </p:sp>
      <p:sp>
        <p:nvSpPr>
          <p:cNvPr id="5" name="Rectangle 4"/>
          <p:cNvSpPr/>
          <p:nvPr/>
        </p:nvSpPr>
        <p:spPr>
          <a:xfrm>
            <a:off x="391553" y="5046603"/>
            <a:ext cx="4572000" cy="1477328"/>
          </a:xfrm>
          <a:prstGeom prst="rect">
            <a:avLst/>
          </a:prstGeom>
        </p:spPr>
        <p:txBody>
          <a:bodyPr>
            <a:spAutoFit/>
          </a:bodyPr>
          <a:lstStyle/>
          <a:p>
            <a:r>
              <a:rPr lang="fr-FR" dirty="0"/>
              <a:t>There are </a:t>
            </a:r>
            <a:r>
              <a:rPr lang="fr-FR" dirty="0" err="1"/>
              <a:t>several</a:t>
            </a:r>
            <a:r>
              <a:rPr lang="fr-FR" dirty="0"/>
              <a:t> types of </a:t>
            </a:r>
            <a:r>
              <a:rPr lang="fr-FR" dirty="0" err="1"/>
              <a:t>cadherin</a:t>
            </a:r>
            <a:r>
              <a:rPr lang="fr-FR" dirty="0"/>
              <a:t>:</a:t>
            </a:r>
          </a:p>
          <a:p>
            <a:r>
              <a:rPr lang="fr-FR" dirty="0"/>
              <a:t>E –   </a:t>
            </a:r>
            <a:r>
              <a:rPr lang="fr-FR" dirty="0" err="1"/>
              <a:t>epithelial</a:t>
            </a:r>
            <a:r>
              <a:rPr lang="fr-FR" dirty="0"/>
              <a:t> and </a:t>
            </a:r>
            <a:r>
              <a:rPr lang="fr-FR" dirty="0" err="1"/>
              <a:t>embryonic</a:t>
            </a:r>
            <a:r>
              <a:rPr lang="fr-FR" dirty="0"/>
              <a:t> </a:t>
            </a:r>
            <a:r>
              <a:rPr lang="fr-FR" dirty="0" err="1"/>
              <a:t>cells</a:t>
            </a:r>
            <a:endParaRPr lang="fr-FR" dirty="0"/>
          </a:p>
          <a:p>
            <a:r>
              <a:rPr lang="fr-FR" dirty="0"/>
              <a:t>P –   placenta and </a:t>
            </a:r>
            <a:r>
              <a:rPr lang="fr-FR" dirty="0" err="1"/>
              <a:t>epidermis</a:t>
            </a:r>
            <a:endParaRPr lang="fr-FR" dirty="0"/>
          </a:p>
          <a:p>
            <a:r>
              <a:rPr lang="fr-FR" dirty="0"/>
              <a:t>N –   </a:t>
            </a:r>
            <a:r>
              <a:rPr lang="fr-FR" dirty="0" err="1"/>
              <a:t>neurons</a:t>
            </a:r>
            <a:r>
              <a:rPr lang="fr-FR" dirty="0"/>
              <a:t> and muscles</a:t>
            </a:r>
          </a:p>
          <a:p>
            <a:r>
              <a:rPr lang="fr-FR" dirty="0"/>
              <a:t>VE –  </a:t>
            </a:r>
            <a:r>
              <a:rPr lang="fr-FR" dirty="0" err="1"/>
              <a:t>vascular</a:t>
            </a:r>
            <a:r>
              <a:rPr lang="fr-FR" dirty="0"/>
              <a:t> </a:t>
            </a:r>
            <a:r>
              <a:rPr lang="fr-FR" dirty="0" err="1"/>
              <a:t>endothelial</a:t>
            </a:r>
            <a:r>
              <a:rPr lang="fr-FR" dirty="0"/>
              <a:t> </a:t>
            </a:r>
            <a:r>
              <a:rPr lang="fr-FR" dirty="0" err="1"/>
              <a:t>cells</a:t>
            </a:r>
            <a:endParaRPr lang="fr-F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28662" y="71414"/>
            <a:ext cx="7659469" cy="565026"/>
          </a:xfrm>
          <a:prstGeom prst="rect">
            <a:avLst/>
          </a:prstGeom>
        </p:spPr>
        <p:txBody>
          <a:bodyPr wrap="none">
            <a:spAutoFit/>
          </a:bodyPr>
          <a:lstStyle/>
          <a:p>
            <a:pPr indent="365760">
              <a:lnSpc>
                <a:spcPts val="4100"/>
              </a:lnSpc>
            </a:pPr>
            <a:r>
              <a:rPr lang="fr-FR" sz="2800" b="1" spc="-40" dirty="0">
                <a:solidFill>
                  <a:srgbClr val="000000"/>
                </a:solidFill>
                <a:latin typeface="Century Schoolbook" panose="02040604050505020304" pitchFamily="18" charset="0"/>
                <a:cs typeface="Arial" pitchFamily="34" charset="0"/>
              </a:rPr>
              <a:t>The </a:t>
            </a:r>
            <a:r>
              <a:rPr lang="fr-FR" sz="2800" b="1" spc="-40" dirty="0" err="1">
                <a:solidFill>
                  <a:srgbClr val="000000"/>
                </a:solidFill>
                <a:latin typeface="Century Schoolbook" panose="02040604050505020304" pitchFamily="18" charset="0"/>
                <a:cs typeface="Arial" pitchFamily="34" charset="0"/>
              </a:rPr>
              <a:t>Immunoglobulins</a:t>
            </a:r>
            <a:r>
              <a:rPr lang="fr-FR" sz="2800" b="1" spc="-40" dirty="0">
                <a:solidFill>
                  <a:srgbClr val="000000"/>
                </a:solidFill>
                <a:latin typeface="Century Schoolbook" panose="02040604050505020304" pitchFamily="18" charset="0"/>
                <a:cs typeface="Arial" pitchFamily="34" charset="0"/>
              </a:rPr>
              <a:t> </a:t>
            </a:r>
            <a:r>
              <a:rPr lang="fr-FR" sz="2800" b="1" spc="-40" dirty="0" err="1">
                <a:solidFill>
                  <a:srgbClr val="000000"/>
                </a:solidFill>
                <a:latin typeface="Century Schoolbook" panose="02040604050505020304" pitchFamily="18" charset="0"/>
                <a:cs typeface="Arial" pitchFamily="34" charset="0"/>
              </a:rPr>
              <a:t>superfamily</a:t>
            </a:r>
            <a:r>
              <a:rPr lang="fr-FR" sz="2800" b="1" spc="-40" dirty="0">
                <a:solidFill>
                  <a:srgbClr val="000000"/>
                </a:solidFill>
                <a:latin typeface="Century Schoolbook" panose="02040604050505020304" pitchFamily="18" charset="0"/>
                <a:cs typeface="Arial" pitchFamily="34" charset="0"/>
              </a:rPr>
              <a:t> </a:t>
            </a:r>
            <a:r>
              <a:rPr lang="fr-FR" sz="2800" spc="-40" dirty="0">
                <a:solidFill>
                  <a:srgbClr val="000000"/>
                </a:solidFill>
                <a:latin typeface="Century Schoolbook" panose="02040604050505020304" pitchFamily="18" charset="0"/>
                <a:cs typeface="Arial" pitchFamily="34" charset="0"/>
              </a:rPr>
              <a:t>(</a:t>
            </a:r>
            <a:r>
              <a:rPr lang="fr-FR" sz="2800" spc="-40" dirty="0" err="1">
                <a:solidFill>
                  <a:srgbClr val="000000"/>
                </a:solidFill>
                <a:latin typeface="Century Schoolbook" panose="02040604050505020304" pitchFamily="18" charset="0"/>
                <a:cs typeface="Arial" pitchFamily="34" charset="0"/>
              </a:rPr>
              <a:t>Igs</a:t>
            </a:r>
            <a:r>
              <a:rPr lang="fr-FR" sz="2800" spc="-40" dirty="0">
                <a:solidFill>
                  <a:srgbClr val="000000"/>
                </a:solidFill>
                <a:latin typeface="Century Schoolbook" panose="02040604050505020304" pitchFamily="18" charset="0"/>
                <a:cs typeface="Arial" pitchFamily="34" charset="0"/>
              </a:rPr>
              <a:t>)</a:t>
            </a:r>
          </a:p>
        </p:txBody>
      </p:sp>
      <p:pic>
        <p:nvPicPr>
          <p:cNvPr id="8194" name="Picture 2" descr="http://static.intellego.fr/uploads/1/1/1163/media/DIJON%20SCHEMAS/600_Structure%20des%20immunoglobulines.gif"/>
          <p:cNvPicPr>
            <a:picLocks noChangeAspect="1" noChangeArrowheads="1"/>
          </p:cNvPicPr>
          <p:nvPr/>
        </p:nvPicPr>
        <p:blipFill>
          <a:blip r:embed="rId2"/>
          <a:srcRect l="31250"/>
          <a:stretch>
            <a:fillRect/>
          </a:stretch>
        </p:blipFill>
        <p:spPr bwMode="auto">
          <a:xfrm>
            <a:off x="5436096" y="3842881"/>
            <a:ext cx="1913818" cy="2927248"/>
          </a:xfrm>
          <a:prstGeom prst="rect">
            <a:avLst/>
          </a:prstGeom>
          <a:noFill/>
        </p:spPr>
      </p:pic>
      <p:pic>
        <p:nvPicPr>
          <p:cNvPr id="9" name="Image.jpg"/>
          <p:cNvPicPr/>
          <p:nvPr/>
        </p:nvPicPr>
        <p:blipFill>
          <a:blip r:embed="rId3"/>
          <a:stretch>
            <a:fillRect/>
          </a:stretch>
        </p:blipFill>
        <p:spPr>
          <a:xfrm>
            <a:off x="7532522" y="3875979"/>
            <a:ext cx="1216025" cy="2897901"/>
          </a:xfrm>
          <a:prstGeom prst="rect">
            <a:avLst/>
          </a:prstGeom>
        </p:spPr>
      </p:pic>
      <p:sp>
        <p:nvSpPr>
          <p:cNvPr id="2" name="Rectangle 1"/>
          <p:cNvSpPr/>
          <p:nvPr/>
        </p:nvSpPr>
        <p:spPr>
          <a:xfrm>
            <a:off x="211140" y="908720"/>
            <a:ext cx="8781963" cy="3416320"/>
          </a:xfrm>
          <a:prstGeom prst="rect">
            <a:avLst/>
          </a:prstGeom>
        </p:spPr>
        <p:txBody>
          <a:bodyPr wrap="square">
            <a:spAutoFit/>
          </a:bodyPr>
          <a:lstStyle/>
          <a:p>
            <a:r>
              <a:rPr lang="fr-FR" dirty="0" err="1">
                <a:latin typeface="Century Schoolbook" panose="02040604050505020304" pitchFamily="18" charset="0"/>
              </a:rPr>
              <a:t>Ig</a:t>
            </a:r>
            <a:r>
              <a:rPr lang="fr-FR" dirty="0">
                <a:latin typeface="Century Schoolbook" panose="02040604050505020304" pitchFamily="18" charset="0"/>
              </a:rPr>
              <a:t> </a:t>
            </a:r>
            <a:r>
              <a:rPr lang="fr-FR" dirty="0" err="1">
                <a:latin typeface="Century Schoolbook" panose="02040604050505020304" pitchFamily="18" charset="0"/>
              </a:rPr>
              <a:t>superfamily</a:t>
            </a:r>
            <a:r>
              <a:rPr lang="fr-FR" dirty="0">
                <a:latin typeface="Century Schoolbook" panose="02040604050505020304" pitchFamily="18" charset="0"/>
              </a:rPr>
              <a:t> </a:t>
            </a:r>
            <a:r>
              <a:rPr lang="fr-FR" dirty="0" err="1">
                <a:latin typeface="Century Schoolbook" panose="02040604050505020304" pitchFamily="18" charset="0"/>
              </a:rPr>
              <a:t>CAMs</a:t>
            </a:r>
            <a:r>
              <a:rPr lang="fr-FR" dirty="0">
                <a:latin typeface="Century Schoolbook" panose="02040604050505020304" pitchFamily="18" charset="0"/>
              </a:rPr>
              <a:t> (</a:t>
            </a:r>
            <a:r>
              <a:rPr lang="fr-FR" dirty="0" err="1">
                <a:latin typeface="Century Schoolbook" panose="02040604050505020304" pitchFamily="18" charset="0"/>
              </a:rPr>
              <a:t>Ig</a:t>
            </a:r>
            <a:r>
              <a:rPr lang="fr-FR" dirty="0">
                <a:latin typeface="Century Schoolbook" panose="02040604050505020304" pitchFamily="18" charset="0"/>
              </a:rPr>
              <a:t> </a:t>
            </a:r>
            <a:r>
              <a:rPr lang="fr-FR" dirty="0" err="1">
                <a:latin typeface="Century Schoolbook" panose="02040604050505020304" pitchFamily="18" charset="0"/>
              </a:rPr>
              <a:t>CAMs</a:t>
            </a:r>
            <a:r>
              <a:rPr lang="fr-FR" dirty="0">
                <a:latin typeface="Century Schoolbook" panose="02040604050505020304" pitchFamily="18" charset="0"/>
              </a:rPr>
              <a:t>) : are </a:t>
            </a:r>
            <a:r>
              <a:rPr lang="fr-FR" b="1" dirty="0">
                <a:latin typeface="Century Schoolbook" panose="02040604050505020304" pitchFamily="18" charset="0"/>
              </a:rPr>
              <a:t>calcium-</a:t>
            </a:r>
            <a:r>
              <a:rPr lang="fr-FR" b="1" dirty="0" err="1">
                <a:latin typeface="Century Schoolbook" panose="02040604050505020304" pitchFamily="18" charset="0"/>
              </a:rPr>
              <a:t>independent</a:t>
            </a:r>
            <a:r>
              <a:rPr lang="fr-FR" dirty="0">
                <a:latin typeface="Century Schoolbook" panose="02040604050505020304" pitchFamily="18" charset="0"/>
              </a:rPr>
              <a:t> </a:t>
            </a:r>
            <a:r>
              <a:rPr lang="fr-FR" dirty="0" err="1">
                <a:latin typeface="Century Schoolbook" panose="02040604050505020304" pitchFamily="18" charset="0"/>
              </a:rPr>
              <a:t>transmembrane</a:t>
            </a:r>
            <a:r>
              <a:rPr lang="fr-FR" dirty="0">
                <a:latin typeface="Century Schoolbook" panose="02040604050505020304" pitchFamily="18" charset="0"/>
              </a:rPr>
              <a:t> </a:t>
            </a:r>
            <a:r>
              <a:rPr lang="fr-FR" dirty="0" err="1">
                <a:latin typeface="Century Schoolbook" panose="02040604050505020304" pitchFamily="18" charset="0"/>
              </a:rPr>
              <a:t>glycoproteins</a:t>
            </a:r>
            <a:r>
              <a:rPr lang="fr-FR" dirty="0">
                <a:latin typeface="Century Schoolbook" panose="02040604050505020304" pitchFamily="18" charset="0"/>
              </a:rPr>
              <a:t>.</a:t>
            </a:r>
          </a:p>
          <a:p>
            <a:endParaRPr lang="fr-FR" dirty="0">
              <a:latin typeface="Century Schoolbook" panose="02040604050505020304" pitchFamily="18" charset="0"/>
            </a:endParaRPr>
          </a:p>
          <a:p>
            <a:r>
              <a:rPr lang="fr-FR" dirty="0" err="1">
                <a:latin typeface="Century Schoolbook" panose="02040604050505020304" pitchFamily="18" charset="0"/>
              </a:rPr>
              <a:t>Many</a:t>
            </a:r>
            <a:r>
              <a:rPr lang="fr-FR" dirty="0">
                <a:latin typeface="Century Schoolbook" panose="02040604050505020304" pitchFamily="18" charset="0"/>
              </a:rPr>
              <a:t> </a:t>
            </a:r>
            <a:r>
              <a:rPr lang="fr-FR" dirty="0" err="1">
                <a:latin typeface="Century Schoolbook" panose="02040604050505020304" pitchFamily="18" charset="0"/>
              </a:rPr>
              <a:t>mediate</a:t>
            </a:r>
            <a:r>
              <a:rPr lang="fr-FR" dirty="0">
                <a:latin typeface="Century Schoolbook" panose="02040604050505020304" pitchFamily="18" charset="0"/>
              </a:rPr>
              <a:t> interactions </a:t>
            </a:r>
            <a:r>
              <a:rPr lang="fr-FR" dirty="0" err="1">
                <a:latin typeface="Century Schoolbook" panose="02040604050505020304" pitchFamily="18" charset="0"/>
              </a:rPr>
              <a:t>between</a:t>
            </a:r>
            <a:r>
              <a:rPr lang="fr-FR" dirty="0">
                <a:latin typeface="Century Schoolbook" panose="02040604050505020304" pitchFamily="18" charset="0"/>
              </a:rPr>
              <a:t> lymphocytes and </a:t>
            </a:r>
            <a:r>
              <a:rPr lang="fr-FR" dirty="0" err="1">
                <a:latin typeface="Century Schoolbook" panose="02040604050505020304" pitchFamily="18" charset="0"/>
              </a:rPr>
              <a:t>cells</a:t>
            </a:r>
            <a:r>
              <a:rPr lang="fr-FR" dirty="0">
                <a:latin typeface="Century Schoolbook" panose="02040604050505020304" pitchFamily="18" charset="0"/>
              </a:rPr>
              <a:t> </a:t>
            </a:r>
            <a:r>
              <a:rPr lang="fr-FR" dirty="0" err="1">
                <a:latin typeface="Century Schoolbook" panose="02040604050505020304" pitchFamily="18" charset="0"/>
              </a:rPr>
              <a:t>required</a:t>
            </a:r>
            <a:r>
              <a:rPr lang="fr-FR" dirty="0">
                <a:latin typeface="Century Schoolbook" panose="02040604050505020304" pitchFamily="18" charset="0"/>
              </a:rPr>
              <a:t> for immune </a:t>
            </a:r>
            <a:r>
              <a:rPr lang="fr-FR" dirty="0" err="1">
                <a:latin typeface="Century Schoolbook" panose="02040604050505020304" pitchFamily="18" charset="0"/>
              </a:rPr>
              <a:t>responses</a:t>
            </a:r>
            <a:r>
              <a:rPr lang="fr-FR" dirty="0">
                <a:latin typeface="Century Schoolbook" panose="02040604050505020304" pitchFamily="18" charset="0"/>
              </a:rPr>
              <a:t>. “I-</a:t>
            </a:r>
            <a:r>
              <a:rPr lang="fr-FR" dirty="0" err="1">
                <a:latin typeface="Century Schoolbook" panose="02040604050505020304" pitchFamily="18" charset="0"/>
              </a:rPr>
              <a:t>CAMs</a:t>
            </a:r>
            <a:r>
              <a:rPr lang="fr-FR" dirty="0">
                <a:latin typeface="Century Schoolbook" panose="02040604050505020304" pitchFamily="18" charset="0"/>
              </a:rPr>
              <a:t>”</a:t>
            </a:r>
          </a:p>
          <a:p>
            <a:endParaRPr lang="fr-FR" dirty="0">
              <a:latin typeface="Century Schoolbook" panose="02040604050505020304" pitchFamily="18" charset="0"/>
            </a:endParaRPr>
          </a:p>
          <a:p>
            <a:r>
              <a:rPr lang="fr-FR" b="1" dirty="0" err="1">
                <a:latin typeface="Century Schoolbook" panose="02040604050505020304" pitchFamily="18" charset="0"/>
              </a:rPr>
              <a:t>Some</a:t>
            </a:r>
            <a:r>
              <a:rPr lang="fr-FR" b="1" dirty="0">
                <a:latin typeface="Century Schoolbook" panose="02040604050505020304" pitchFamily="18" charset="0"/>
              </a:rPr>
              <a:t> </a:t>
            </a:r>
            <a:r>
              <a:rPr lang="fr-FR" b="1" dirty="0" err="1">
                <a:latin typeface="Century Schoolbook" panose="02040604050505020304" pitchFamily="18" charset="0"/>
              </a:rPr>
              <a:t>IgCAMs</a:t>
            </a:r>
            <a:r>
              <a:rPr lang="fr-FR" b="1" dirty="0">
                <a:latin typeface="Century Schoolbook" panose="02040604050505020304" pitchFamily="18" charset="0"/>
              </a:rPr>
              <a:t> </a:t>
            </a:r>
            <a:r>
              <a:rPr lang="fr-FR" b="1" dirty="0" err="1">
                <a:latin typeface="Century Schoolbook" panose="02040604050505020304" pitchFamily="18" charset="0"/>
              </a:rPr>
              <a:t>mediate</a:t>
            </a:r>
            <a:r>
              <a:rPr lang="fr-FR" b="1" dirty="0">
                <a:latin typeface="Century Schoolbook" panose="02040604050505020304" pitchFamily="18" charset="0"/>
              </a:rPr>
              <a:t> </a:t>
            </a:r>
            <a:r>
              <a:rPr lang="fr-FR" b="1" dirty="0" err="1">
                <a:latin typeface="Century Schoolbook" panose="02040604050505020304" pitchFamily="18" charset="0"/>
              </a:rPr>
              <a:t>adhesion</a:t>
            </a:r>
            <a:r>
              <a:rPr lang="fr-FR" b="1" dirty="0">
                <a:latin typeface="Century Schoolbook" panose="02040604050505020304" pitchFamily="18" charset="0"/>
              </a:rPr>
              <a:t> </a:t>
            </a:r>
            <a:r>
              <a:rPr lang="fr-FR" b="1" dirty="0" err="1">
                <a:latin typeface="Century Schoolbook" panose="02040604050505020304" pitchFamily="18" charset="0"/>
              </a:rPr>
              <a:t>between</a:t>
            </a:r>
            <a:r>
              <a:rPr lang="fr-FR" b="1" dirty="0">
                <a:latin typeface="Century Schoolbook" panose="02040604050505020304" pitchFamily="18" charset="0"/>
              </a:rPr>
              <a:t> non-immune </a:t>
            </a:r>
            <a:r>
              <a:rPr lang="fr-FR" b="1" dirty="0" err="1">
                <a:latin typeface="Century Schoolbook" panose="02040604050505020304" pitchFamily="18" charset="0"/>
              </a:rPr>
              <a:t>cells</a:t>
            </a:r>
            <a:r>
              <a:rPr lang="fr-FR" b="1" dirty="0">
                <a:latin typeface="Century Schoolbook" panose="02040604050505020304" pitchFamily="18" charset="0"/>
              </a:rPr>
              <a:t> “V-</a:t>
            </a:r>
            <a:r>
              <a:rPr lang="fr-FR" b="1" dirty="0" err="1">
                <a:latin typeface="Century Schoolbook" panose="02040604050505020304" pitchFamily="18" charset="0"/>
              </a:rPr>
              <a:t>CAMs</a:t>
            </a:r>
            <a:r>
              <a:rPr lang="fr-FR" b="1" dirty="0">
                <a:latin typeface="Century Schoolbook" panose="02040604050505020304" pitchFamily="18" charset="0"/>
              </a:rPr>
              <a:t>, N-</a:t>
            </a:r>
            <a:r>
              <a:rPr lang="fr-FR" b="1" dirty="0" err="1">
                <a:latin typeface="Century Schoolbook" panose="02040604050505020304" pitchFamily="18" charset="0"/>
              </a:rPr>
              <a:t>CAMs</a:t>
            </a:r>
            <a:r>
              <a:rPr lang="fr-FR" b="1" dirty="0">
                <a:latin typeface="Century Schoolbook" panose="02040604050505020304" pitchFamily="18" charset="0"/>
              </a:rPr>
              <a:t>, L1”</a:t>
            </a:r>
          </a:p>
          <a:p>
            <a:endParaRPr lang="fr-FR" b="1" dirty="0">
              <a:latin typeface="Century Schoolbook" panose="02040604050505020304" pitchFamily="18" charset="0"/>
            </a:endParaRPr>
          </a:p>
          <a:p>
            <a:r>
              <a:rPr lang="fr-FR" b="1" dirty="0" err="1">
                <a:latin typeface="Century Schoolbook" panose="02040604050505020304" pitchFamily="18" charset="0"/>
              </a:rPr>
              <a:t>Other</a:t>
            </a:r>
            <a:r>
              <a:rPr lang="fr-FR" b="1" dirty="0">
                <a:latin typeface="Century Schoolbook" panose="02040604050505020304" pitchFamily="18" charset="0"/>
              </a:rPr>
              <a:t> </a:t>
            </a:r>
            <a:r>
              <a:rPr lang="fr-FR" b="1" dirty="0" err="1">
                <a:latin typeface="Century Schoolbook" panose="02040604050505020304" pitchFamily="18" charset="0"/>
              </a:rPr>
              <a:t>IgCAMs</a:t>
            </a:r>
            <a:r>
              <a:rPr lang="fr-FR" b="1" dirty="0">
                <a:latin typeface="Century Schoolbook" panose="02040604050505020304" pitchFamily="18" charset="0"/>
              </a:rPr>
              <a:t> </a:t>
            </a:r>
            <a:r>
              <a:rPr lang="fr-FR" b="1" dirty="0" err="1">
                <a:latin typeface="Century Schoolbook" panose="02040604050505020304" pitchFamily="18" charset="0"/>
              </a:rPr>
              <a:t>mediate</a:t>
            </a:r>
            <a:r>
              <a:rPr lang="fr-FR" b="1" dirty="0">
                <a:latin typeface="Century Schoolbook" panose="02040604050505020304" pitchFamily="18" charset="0"/>
              </a:rPr>
              <a:t> </a:t>
            </a:r>
            <a:r>
              <a:rPr lang="fr-FR" b="1" dirty="0" err="1">
                <a:latin typeface="Century Schoolbook" panose="02040604050505020304" pitchFamily="18" charset="0"/>
              </a:rPr>
              <a:t>intercellular</a:t>
            </a:r>
            <a:r>
              <a:rPr lang="fr-FR" b="1" dirty="0">
                <a:latin typeface="Century Schoolbook" panose="02040604050505020304" pitchFamily="18" charset="0"/>
              </a:rPr>
              <a:t> </a:t>
            </a:r>
            <a:r>
              <a:rPr lang="fr-FR" b="1" dirty="0" err="1">
                <a:latin typeface="Century Schoolbook" panose="02040604050505020304" pitchFamily="18" charset="0"/>
              </a:rPr>
              <a:t>adhesion</a:t>
            </a:r>
            <a:r>
              <a:rPr lang="fr-FR" b="1" dirty="0">
                <a:latin typeface="Century Schoolbook" panose="02040604050505020304" pitchFamily="18" charset="0"/>
              </a:rPr>
              <a:t> </a:t>
            </a:r>
            <a:r>
              <a:rPr lang="fr-FR" b="1" dirty="0" err="1">
                <a:latin typeface="Century Schoolbook" panose="02040604050505020304" pitchFamily="18" charset="0"/>
              </a:rPr>
              <a:t>through</a:t>
            </a:r>
            <a:r>
              <a:rPr lang="fr-FR" b="1" dirty="0">
                <a:latin typeface="Century Schoolbook" panose="02040604050505020304" pitchFamily="18" charset="0"/>
              </a:rPr>
              <a:t> </a:t>
            </a:r>
            <a:r>
              <a:rPr lang="fr-FR" b="1" dirty="0" err="1">
                <a:latin typeface="Century Schoolbook" panose="02040604050505020304" pitchFamily="18" charset="0"/>
              </a:rPr>
              <a:t>binding</a:t>
            </a:r>
            <a:r>
              <a:rPr lang="fr-FR" b="1" dirty="0">
                <a:latin typeface="Century Schoolbook" panose="02040604050505020304" pitchFamily="18" charset="0"/>
              </a:rPr>
              <a:t> to </a:t>
            </a:r>
            <a:r>
              <a:rPr lang="fr-FR" b="1" dirty="0" err="1">
                <a:latin typeface="Century Schoolbook" panose="02040604050505020304" pitchFamily="18" charset="0"/>
              </a:rPr>
              <a:t>integrins</a:t>
            </a:r>
            <a:r>
              <a:rPr lang="fr-FR" b="1" dirty="0">
                <a:latin typeface="Century Schoolbook" panose="02040604050505020304" pitchFamily="18" charset="0"/>
              </a:rPr>
              <a:t>. “I-</a:t>
            </a:r>
            <a:r>
              <a:rPr lang="fr-FR" b="1" dirty="0" err="1">
                <a:latin typeface="Century Schoolbook" panose="02040604050505020304" pitchFamily="18" charset="0"/>
              </a:rPr>
              <a:t>CAMs</a:t>
            </a:r>
            <a:r>
              <a:rPr lang="fr-FR" b="1" dirty="0">
                <a:latin typeface="Century Schoolbook" panose="02040604050505020304" pitchFamily="18" charset="0"/>
              </a:rPr>
              <a:t>”</a:t>
            </a:r>
          </a:p>
          <a:p>
            <a:endParaRPr lang="fr-FR" dirty="0"/>
          </a:p>
        </p:txBody>
      </p:sp>
      <p:sp>
        <p:nvSpPr>
          <p:cNvPr id="5" name="Rectangle 4"/>
          <p:cNvSpPr/>
          <p:nvPr/>
        </p:nvSpPr>
        <p:spPr>
          <a:xfrm>
            <a:off x="211140" y="4254657"/>
            <a:ext cx="4720899" cy="2585323"/>
          </a:xfrm>
          <a:prstGeom prst="rect">
            <a:avLst/>
          </a:prstGeom>
        </p:spPr>
        <p:txBody>
          <a:bodyPr wrap="square">
            <a:spAutoFit/>
          </a:bodyPr>
          <a:lstStyle/>
          <a:p>
            <a:r>
              <a:rPr lang="fr-FR" dirty="0"/>
              <a:t>The main </a:t>
            </a:r>
            <a:r>
              <a:rPr lang="fr-FR" dirty="0" err="1"/>
              <a:t>cell</a:t>
            </a:r>
            <a:r>
              <a:rPr lang="fr-FR" dirty="0"/>
              <a:t> </a:t>
            </a:r>
            <a:r>
              <a:rPr lang="fr-FR" dirty="0" err="1"/>
              <a:t>adhesion</a:t>
            </a:r>
            <a:r>
              <a:rPr lang="fr-FR" dirty="0"/>
              <a:t> molecules:</a:t>
            </a:r>
          </a:p>
          <a:p>
            <a:endParaRPr lang="fr-FR" dirty="0"/>
          </a:p>
          <a:p>
            <a:r>
              <a:rPr lang="fr-FR" dirty="0"/>
              <a:t>N-CAM (Neural CAM) Nerve </a:t>
            </a:r>
            <a:r>
              <a:rPr lang="fr-FR" dirty="0" err="1"/>
              <a:t>cell</a:t>
            </a:r>
            <a:r>
              <a:rPr lang="fr-FR" dirty="0"/>
              <a:t> </a:t>
            </a:r>
            <a:r>
              <a:rPr lang="fr-FR" dirty="0" err="1"/>
              <a:t>adhesion</a:t>
            </a:r>
            <a:r>
              <a:rPr lang="fr-FR" dirty="0"/>
              <a:t> </a:t>
            </a:r>
            <a:r>
              <a:rPr lang="fr-FR" dirty="0" err="1"/>
              <a:t>molecule</a:t>
            </a:r>
            <a:endParaRPr lang="fr-FR" dirty="0"/>
          </a:p>
          <a:p>
            <a:r>
              <a:rPr lang="fr-FR" dirty="0"/>
              <a:t>V-CAM (</a:t>
            </a:r>
            <a:r>
              <a:rPr lang="fr-FR" dirty="0" err="1"/>
              <a:t>Vascular</a:t>
            </a:r>
            <a:r>
              <a:rPr lang="fr-FR" dirty="0"/>
              <a:t> CAM) </a:t>
            </a:r>
            <a:r>
              <a:rPr lang="fr-FR" dirty="0" err="1"/>
              <a:t>Vascular</a:t>
            </a:r>
            <a:r>
              <a:rPr lang="fr-FR" dirty="0"/>
              <a:t> </a:t>
            </a:r>
            <a:r>
              <a:rPr lang="fr-FR" dirty="0" err="1"/>
              <a:t>cell</a:t>
            </a:r>
            <a:r>
              <a:rPr lang="fr-FR" dirty="0"/>
              <a:t> </a:t>
            </a:r>
            <a:r>
              <a:rPr lang="fr-FR" dirty="0" err="1"/>
              <a:t>adhesion</a:t>
            </a:r>
            <a:r>
              <a:rPr lang="fr-FR" dirty="0"/>
              <a:t> </a:t>
            </a:r>
            <a:r>
              <a:rPr lang="fr-FR" dirty="0" err="1"/>
              <a:t>molecule</a:t>
            </a:r>
            <a:endParaRPr lang="fr-FR" dirty="0"/>
          </a:p>
          <a:p>
            <a:r>
              <a:rPr lang="fr-FR" dirty="0"/>
              <a:t>I-CAM (</a:t>
            </a:r>
            <a:r>
              <a:rPr lang="fr-FR" dirty="0" err="1"/>
              <a:t>Intercellular</a:t>
            </a:r>
            <a:r>
              <a:rPr lang="fr-FR" dirty="0"/>
              <a:t> CAM) </a:t>
            </a:r>
            <a:r>
              <a:rPr lang="fr-FR" dirty="0" err="1"/>
              <a:t>Intercellular</a:t>
            </a:r>
            <a:r>
              <a:rPr lang="fr-FR" dirty="0"/>
              <a:t> </a:t>
            </a:r>
            <a:r>
              <a:rPr lang="fr-FR" dirty="0" err="1"/>
              <a:t>adhesion</a:t>
            </a:r>
            <a:r>
              <a:rPr lang="fr-FR" dirty="0"/>
              <a:t> </a:t>
            </a:r>
            <a:r>
              <a:rPr lang="fr-FR" dirty="0" err="1"/>
              <a:t>molecule</a:t>
            </a:r>
            <a:endParaRPr lang="fr-FR" dirty="0"/>
          </a:p>
          <a:p>
            <a:endParaRPr lang="fr-F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00430" y="142852"/>
            <a:ext cx="2114681" cy="584775"/>
          </a:xfrm>
          <a:prstGeom prst="rect">
            <a:avLst/>
          </a:prstGeom>
        </p:spPr>
        <p:txBody>
          <a:bodyPr wrap="none">
            <a:spAutoFit/>
          </a:bodyPr>
          <a:lstStyle/>
          <a:p>
            <a:r>
              <a:rPr lang="fr-FR" sz="3200" b="1" dirty="0" err="1">
                <a:latin typeface="Century Schoolbook" panose="02040604050505020304" pitchFamily="18" charset="0"/>
                <a:cs typeface="Arial" pitchFamily="34" charset="0"/>
              </a:rPr>
              <a:t>Selectins</a:t>
            </a:r>
            <a:endParaRPr lang="fr-FR" sz="3200" dirty="0">
              <a:latin typeface="Century Schoolbook" panose="02040604050505020304" pitchFamily="18" charset="0"/>
              <a:cs typeface="Arial" pitchFamily="34" charset="0"/>
            </a:endParaRPr>
          </a:p>
        </p:txBody>
      </p:sp>
      <p:pic>
        <p:nvPicPr>
          <p:cNvPr id="4" name="Picture 2" descr="http://www.ulysse.u-bordeaux.fr/atelier/ikramer/biocell_diffusion/gbb.cel.fa.103.b3/content/images/fig08.jpg"/>
          <p:cNvPicPr>
            <a:picLocks noChangeAspect="1" noChangeArrowheads="1"/>
          </p:cNvPicPr>
          <p:nvPr/>
        </p:nvPicPr>
        <p:blipFill>
          <a:blip r:embed="rId2"/>
          <a:srcRect/>
          <a:stretch>
            <a:fillRect/>
          </a:stretch>
        </p:blipFill>
        <p:spPr bwMode="auto">
          <a:xfrm>
            <a:off x="714348" y="928670"/>
            <a:ext cx="7215238" cy="2257426"/>
          </a:xfrm>
          <a:prstGeom prst="rect">
            <a:avLst/>
          </a:prstGeom>
          <a:noFill/>
        </p:spPr>
      </p:pic>
      <p:sp>
        <p:nvSpPr>
          <p:cNvPr id="3" name="Rectangle 2"/>
          <p:cNvSpPr/>
          <p:nvPr/>
        </p:nvSpPr>
        <p:spPr>
          <a:xfrm>
            <a:off x="309298" y="3227143"/>
            <a:ext cx="8496944" cy="1200329"/>
          </a:xfrm>
          <a:prstGeom prst="rect">
            <a:avLst/>
          </a:prstGeom>
        </p:spPr>
        <p:txBody>
          <a:bodyPr wrap="square">
            <a:spAutoFit/>
          </a:bodyPr>
          <a:lstStyle/>
          <a:p>
            <a:r>
              <a:rPr lang="fr-FR" dirty="0" err="1">
                <a:latin typeface="Century Schoolbook" panose="02040604050505020304" pitchFamily="18" charset="0"/>
              </a:rPr>
              <a:t>These</a:t>
            </a:r>
            <a:r>
              <a:rPr lang="fr-FR" dirty="0">
                <a:latin typeface="Century Schoolbook" panose="02040604050505020304" pitchFamily="18" charset="0"/>
              </a:rPr>
              <a:t> are </a:t>
            </a:r>
            <a:r>
              <a:rPr lang="fr-FR" dirty="0" err="1">
                <a:latin typeface="Century Schoolbook" panose="02040604050505020304" pitchFamily="18" charset="0"/>
              </a:rPr>
              <a:t>transmembrane</a:t>
            </a:r>
            <a:r>
              <a:rPr lang="fr-FR" dirty="0">
                <a:latin typeface="Century Schoolbook" panose="02040604050505020304" pitchFamily="18" charset="0"/>
              </a:rPr>
              <a:t> </a:t>
            </a:r>
            <a:r>
              <a:rPr lang="fr-FR" dirty="0" err="1">
                <a:latin typeface="Century Schoolbook" panose="02040604050505020304" pitchFamily="18" charset="0"/>
              </a:rPr>
              <a:t>glycoproteins</a:t>
            </a:r>
            <a:r>
              <a:rPr lang="fr-FR" dirty="0">
                <a:latin typeface="Century Schoolbook" panose="02040604050505020304" pitchFamily="18" charset="0"/>
              </a:rPr>
              <a:t>. </a:t>
            </a:r>
            <a:r>
              <a:rPr lang="fr-FR" dirty="0" err="1">
                <a:latin typeface="Century Schoolbook" panose="02040604050505020304" pitchFamily="18" charset="0"/>
              </a:rPr>
              <a:t>Their</a:t>
            </a:r>
            <a:r>
              <a:rPr lang="fr-FR" dirty="0">
                <a:latin typeface="Century Schoolbook" panose="02040604050505020304" pitchFamily="18" charset="0"/>
              </a:rPr>
              <a:t> ligands are </a:t>
            </a:r>
            <a:r>
              <a:rPr lang="fr-FR" dirty="0" err="1">
                <a:latin typeface="Century Schoolbook" panose="02040604050505020304" pitchFamily="18" charset="0"/>
              </a:rPr>
              <a:t>sugar-based</a:t>
            </a:r>
            <a:r>
              <a:rPr lang="fr-FR" dirty="0">
                <a:latin typeface="Century Schoolbook" panose="02040604050505020304" pitchFamily="18" charset="0"/>
              </a:rPr>
              <a:t>: </a:t>
            </a:r>
            <a:r>
              <a:rPr lang="fr-FR" dirty="0" err="1">
                <a:latin typeface="Century Schoolbook" panose="02040604050505020304" pitchFamily="18" charset="0"/>
              </a:rPr>
              <a:t>glycoproteins</a:t>
            </a:r>
            <a:r>
              <a:rPr lang="fr-FR" dirty="0">
                <a:latin typeface="Century Schoolbook" panose="02040604050505020304" pitchFamily="18" charset="0"/>
              </a:rPr>
              <a:t> and </a:t>
            </a:r>
            <a:r>
              <a:rPr lang="fr-FR" dirty="0" err="1">
                <a:latin typeface="Century Schoolbook" panose="02040604050505020304" pitchFamily="18" charset="0"/>
              </a:rPr>
              <a:t>glycolipids</a:t>
            </a:r>
            <a:r>
              <a:rPr lang="fr-FR" dirty="0">
                <a:latin typeface="Century Schoolbook" panose="02040604050505020304" pitchFamily="18" charset="0"/>
              </a:rPr>
              <a:t>.</a:t>
            </a:r>
          </a:p>
          <a:p>
            <a:endParaRPr lang="fr-FR" dirty="0">
              <a:latin typeface="Century Schoolbook" panose="02040604050505020304" pitchFamily="18" charset="0"/>
            </a:endParaRPr>
          </a:p>
          <a:p>
            <a:r>
              <a:rPr lang="fr-FR" dirty="0" err="1">
                <a:latin typeface="Century Schoolbook" panose="02040604050505020304" pitchFamily="18" charset="0"/>
              </a:rPr>
              <a:t>They</a:t>
            </a:r>
            <a:r>
              <a:rPr lang="fr-FR" dirty="0">
                <a:latin typeface="Century Schoolbook" panose="02040604050505020304" pitchFamily="18" charset="0"/>
              </a:rPr>
              <a:t> are </a:t>
            </a:r>
            <a:r>
              <a:rPr lang="fr-FR" dirty="0">
                <a:latin typeface="Arial" pitchFamily="34" charset="0"/>
                <a:ea typeface="Times New Roman" pitchFamily="18" charset="0"/>
                <a:cs typeface="Arial" pitchFamily="34" charset="0"/>
              </a:rPr>
              <a:t>Ca</a:t>
            </a:r>
            <a:r>
              <a:rPr lang="fr-FR" baseline="30000" dirty="0">
                <a:latin typeface="Arial" pitchFamily="34" charset="0"/>
                <a:ea typeface="Times New Roman" pitchFamily="18" charset="0"/>
                <a:cs typeface="Arial" pitchFamily="34" charset="0"/>
              </a:rPr>
              <a:t>2+</a:t>
            </a:r>
            <a:r>
              <a:rPr lang="fr-FR" dirty="0">
                <a:latin typeface="Century Schoolbook" panose="02040604050505020304" pitchFamily="18" charset="0"/>
              </a:rPr>
              <a:t> </a:t>
            </a:r>
            <a:r>
              <a:rPr lang="fr-FR" b="1" dirty="0">
                <a:latin typeface="Century Schoolbook" panose="02040604050505020304" pitchFamily="18" charset="0"/>
              </a:rPr>
              <a:t>dependent molecules</a:t>
            </a:r>
            <a:r>
              <a:rPr lang="fr-FR" dirty="0">
                <a:latin typeface="Century Schoolbook" panose="02040604050505020304" pitchFamily="18" charset="0"/>
              </a:rPr>
              <a:t>.</a:t>
            </a:r>
          </a:p>
        </p:txBody>
      </p:sp>
      <p:sp>
        <p:nvSpPr>
          <p:cNvPr id="9" name="Rectangle 8"/>
          <p:cNvSpPr/>
          <p:nvPr/>
        </p:nvSpPr>
        <p:spPr>
          <a:xfrm>
            <a:off x="309298" y="4653136"/>
            <a:ext cx="4572000" cy="1477328"/>
          </a:xfrm>
          <a:prstGeom prst="rect">
            <a:avLst/>
          </a:prstGeom>
        </p:spPr>
        <p:txBody>
          <a:bodyPr>
            <a:spAutoFit/>
          </a:bodyPr>
          <a:lstStyle/>
          <a:p>
            <a:r>
              <a:rPr lang="en-US" dirty="0">
                <a:latin typeface="Century Schoolbook" panose="02040604050505020304" pitchFamily="18" charset="0"/>
              </a:rPr>
              <a:t>There are 3 main types of </a:t>
            </a:r>
            <a:r>
              <a:rPr lang="en-US" dirty="0" err="1">
                <a:latin typeface="Century Schoolbook" panose="02040604050505020304" pitchFamily="18" charset="0"/>
              </a:rPr>
              <a:t>selectins</a:t>
            </a:r>
            <a:r>
              <a:rPr lang="en-US" dirty="0">
                <a:latin typeface="Century Schoolbook" panose="02040604050505020304" pitchFamily="18" charset="0"/>
              </a:rPr>
              <a:t>:</a:t>
            </a:r>
          </a:p>
          <a:p>
            <a:endParaRPr lang="en-US" dirty="0">
              <a:latin typeface="Century Schoolbook" panose="02040604050505020304" pitchFamily="18" charset="0"/>
            </a:endParaRPr>
          </a:p>
          <a:p>
            <a:r>
              <a:rPr lang="en-US" dirty="0">
                <a:latin typeface="Century Schoolbook" panose="02040604050505020304" pitchFamily="18" charset="0"/>
              </a:rPr>
              <a:t>L-</a:t>
            </a:r>
            <a:r>
              <a:rPr lang="en-US" dirty="0" err="1">
                <a:latin typeface="Century Schoolbook" panose="02040604050505020304" pitchFamily="18" charset="0"/>
              </a:rPr>
              <a:t>selectin</a:t>
            </a:r>
            <a:r>
              <a:rPr lang="en-US" dirty="0">
                <a:latin typeface="Century Schoolbook" panose="02040604050505020304" pitchFamily="18" charset="0"/>
              </a:rPr>
              <a:t>: all circulating leukocytes</a:t>
            </a:r>
          </a:p>
          <a:p>
            <a:r>
              <a:rPr lang="en-US" dirty="0">
                <a:latin typeface="Century Schoolbook" panose="02040604050505020304" pitchFamily="18" charset="0"/>
              </a:rPr>
              <a:t>P-</a:t>
            </a:r>
            <a:r>
              <a:rPr lang="en-US" dirty="0" err="1">
                <a:latin typeface="Century Schoolbook" panose="02040604050505020304" pitchFamily="18" charset="0"/>
              </a:rPr>
              <a:t>selectin</a:t>
            </a:r>
            <a:r>
              <a:rPr lang="en-US" dirty="0">
                <a:latin typeface="Century Schoolbook" panose="02040604050505020304" pitchFamily="18" charset="0"/>
              </a:rPr>
              <a:t>: platelets and endothelial cells</a:t>
            </a:r>
          </a:p>
          <a:p>
            <a:r>
              <a:rPr lang="en-US" dirty="0">
                <a:latin typeface="Century Schoolbook" panose="02040604050505020304" pitchFamily="18" charset="0"/>
              </a:rPr>
              <a:t>E-</a:t>
            </a:r>
            <a:r>
              <a:rPr lang="en-US" dirty="0" err="1">
                <a:latin typeface="Century Schoolbook" panose="02040604050505020304" pitchFamily="18" charset="0"/>
              </a:rPr>
              <a:t>selectin</a:t>
            </a:r>
            <a:r>
              <a:rPr lang="en-US" dirty="0">
                <a:latin typeface="Century Schoolbook" panose="02040604050505020304" pitchFamily="18" charset="0"/>
              </a:rPr>
              <a:t>: activated endothelial cells</a:t>
            </a:r>
            <a:endParaRPr lang="fr-FR" dirty="0">
              <a:latin typeface="Century Schoolbook" panose="020406040505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jpg"/>
          <p:cNvPicPr/>
          <p:nvPr/>
        </p:nvPicPr>
        <p:blipFill>
          <a:blip r:embed="rId2"/>
          <a:stretch>
            <a:fillRect/>
          </a:stretch>
        </p:blipFill>
        <p:spPr>
          <a:xfrm>
            <a:off x="1403648" y="1916832"/>
            <a:ext cx="7017834" cy="2893239"/>
          </a:xfrm>
          <a:prstGeom prst="rect">
            <a:avLst/>
          </a:prstGeom>
        </p:spPr>
      </p:pic>
      <p:sp>
        <p:nvSpPr>
          <p:cNvPr id="3" name="Rectangle 2"/>
          <p:cNvSpPr/>
          <p:nvPr/>
        </p:nvSpPr>
        <p:spPr>
          <a:xfrm>
            <a:off x="-396552" y="188640"/>
            <a:ext cx="6536553" cy="646331"/>
          </a:xfrm>
          <a:prstGeom prst="rect">
            <a:avLst/>
          </a:prstGeom>
        </p:spPr>
        <p:txBody>
          <a:bodyPr wrap="square">
            <a:spAutoFit/>
          </a:bodyPr>
          <a:lstStyle/>
          <a:p>
            <a:pPr algn="ctr"/>
            <a:r>
              <a:rPr lang="fr-FR" sz="3600" b="1" spc="8" dirty="0" err="1">
                <a:solidFill>
                  <a:srgbClr val="000000"/>
                </a:solidFill>
                <a:latin typeface="Century Schoolbook" panose="02040604050505020304" pitchFamily="18" charset="0"/>
              </a:rPr>
              <a:t>Extracellular</a:t>
            </a:r>
            <a:r>
              <a:rPr lang="fr-FR" sz="3600" b="1" spc="8" dirty="0">
                <a:solidFill>
                  <a:srgbClr val="000000"/>
                </a:solidFill>
                <a:latin typeface="Century Schoolbook" panose="02040604050505020304" pitchFamily="18" charset="0"/>
              </a:rPr>
              <a:t> matrix</a:t>
            </a:r>
            <a:endParaRPr lang="fr-FR" sz="3600" dirty="0">
              <a:solidFill>
                <a:prstClr val="black"/>
              </a:solidFill>
              <a:latin typeface="Century Schoolbook" panose="02040604050505020304" pitchFamily="18" charset="0"/>
            </a:endParaRPr>
          </a:p>
        </p:txBody>
      </p:sp>
      <p:sp>
        <p:nvSpPr>
          <p:cNvPr id="4" name="Rectangle 3"/>
          <p:cNvSpPr/>
          <p:nvPr/>
        </p:nvSpPr>
        <p:spPr>
          <a:xfrm>
            <a:off x="395536" y="5373216"/>
            <a:ext cx="8352928" cy="1200329"/>
          </a:xfrm>
          <a:prstGeom prst="rect">
            <a:avLst/>
          </a:prstGeom>
        </p:spPr>
        <p:txBody>
          <a:bodyPr wrap="square">
            <a:spAutoFit/>
          </a:bodyPr>
          <a:lstStyle/>
          <a:p>
            <a:pPr algn="just"/>
            <a:r>
              <a:rPr lang="fr-FR" dirty="0" err="1">
                <a:solidFill>
                  <a:prstClr val="black"/>
                </a:solidFill>
                <a:latin typeface="Century Schoolbook" panose="02040604050505020304" pitchFamily="18" charset="0"/>
              </a:rPr>
              <a:t>Extracellular</a:t>
            </a:r>
            <a:r>
              <a:rPr lang="fr-FR" dirty="0">
                <a:solidFill>
                  <a:prstClr val="black"/>
                </a:solidFill>
                <a:latin typeface="Century Schoolbook" panose="02040604050505020304" pitchFamily="18" charset="0"/>
              </a:rPr>
              <a:t> matrices are </a:t>
            </a:r>
            <a:r>
              <a:rPr lang="fr-FR" dirty="0" err="1">
                <a:solidFill>
                  <a:prstClr val="black"/>
                </a:solidFill>
                <a:latin typeface="Century Schoolbook" panose="02040604050505020304" pitchFamily="18" charset="0"/>
              </a:rPr>
              <a:t>macromolecular</a:t>
            </a:r>
            <a:r>
              <a:rPr lang="fr-FR" dirty="0">
                <a:solidFill>
                  <a:prstClr val="black"/>
                </a:solidFill>
                <a:latin typeface="Century Schoolbook" panose="02040604050505020304" pitchFamily="18" charset="0"/>
              </a:rPr>
              <a:t> </a:t>
            </a:r>
            <a:r>
              <a:rPr lang="fr-FR" dirty="0" err="1">
                <a:solidFill>
                  <a:prstClr val="black"/>
                </a:solidFill>
                <a:latin typeface="Century Schoolbook" panose="02040604050505020304" pitchFamily="18" charset="0"/>
              </a:rPr>
              <a:t>frameworks</a:t>
            </a:r>
            <a:r>
              <a:rPr lang="fr-FR" dirty="0">
                <a:solidFill>
                  <a:prstClr val="black"/>
                </a:solidFill>
                <a:latin typeface="Century Schoolbook" panose="02040604050505020304" pitchFamily="18" charset="0"/>
              </a:rPr>
              <a:t> (polysaccharides, </a:t>
            </a:r>
            <a:r>
              <a:rPr lang="fr-FR" dirty="0" err="1">
                <a:solidFill>
                  <a:prstClr val="black"/>
                </a:solidFill>
                <a:latin typeface="Century Schoolbook" panose="02040604050505020304" pitchFamily="18" charset="0"/>
              </a:rPr>
              <a:t>fibrous</a:t>
            </a:r>
            <a:r>
              <a:rPr lang="fr-FR" dirty="0">
                <a:solidFill>
                  <a:prstClr val="black"/>
                </a:solidFill>
                <a:latin typeface="Century Schoolbook" panose="02040604050505020304" pitchFamily="18" charset="0"/>
              </a:rPr>
              <a:t> </a:t>
            </a:r>
            <a:r>
              <a:rPr lang="fr-FR" dirty="0" err="1">
                <a:solidFill>
                  <a:prstClr val="black"/>
                </a:solidFill>
                <a:latin typeface="Century Schoolbook" panose="02040604050505020304" pitchFamily="18" charset="0"/>
              </a:rPr>
              <a:t>proteins</a:t>
            </a:r>
            <a:r>
              <a:rPr lang="fr-FR" dirty="0">
                <a:solidFill>
                  <a:prstClr val="black"/>
                </a:solidFill>
                <a:latin typeface="Century Schoolbook" panose="02040604050505020304" pitchFamily="18" charset="0"/>
              </a:rPr>
              <a:t> and </a:t>
            </a:r>
            <a:r>
              <a:rPr lang="fr-FR" dirty="0" err="1">
                <a:solidFill>
                  <a:prstClr val="black"/>
                </a:solidFill>
                <a:latin typeface="Century Schoolbook" panose="02040604050505020304" pitchFamily="18" charset="0"/>
              </a:rPr>
              <a:t>glycoproteins</a:t>
            </a:r>
            <a:r>
              <a:rPr lang="fr-FR" dirty="0">
                <a:solidFill>
                  <a:prstClr val="black"/>
                </a:solidFill>
                <a:latin typeface="Century Schoolbook" panose="02040604050505020304" pitchFamily="18" charset="0"/>
              </a:rPr>
              <a:t>) </a:t>
            </a:r>
            <a:r>
              <a:rPr lang="fr-FR" dirty="0" err="1">
                <a:solidFill>
                  <a:prstClr val="black"/>
                </a:solidFill>
                <a:latin typeface="Century Schoolbook" panose="02040604050505020304" pitchFamily="18" charset="0"/>
              </a:rPr>
              <a:t>synthesized</a:t>
            </a:r>
            <a:r>
              <a:rPr lang="fr-FR" dirty="0">
                <a:solidFill>
                  <a:prstClr val="black"/>
                </a:solidFill>
                <a:latin typeface="Century Schoolbook" panose="02040604050505020304" pitchFamily="18" charset="0"/>
              </a:rPr>
              <a:t> by </a:t>
            </a:r>
            <a:r>
              <a:rPr lang="fr-FR" dirty="0" err="1">
                <a:solidFill>
                  <a:prstClr val="black"/>
                </a:solidFill>
                <a:latin typeface="Century Schoolbook" panose="02040604050505020304" pitchFamily="18" charset="0"/>
              </a:rPr>
              <a:t>characteristic</a:t>
            </a:r>
            <a:r>
              <a:rPr lang="fr-FR" dirty="0">
                <a:solidFill>
                  <a:prstClr val="black"/>
                </a:solidFill>
                <a:latin typeface="Century Schoolbook" panose="02040604050505020304" pitchFamily="18" charset="0"/>
              </a:rPr>
              <a:t> </a:t>
            </a:r>
            <a:r>
              <a:rPr lang="fr-FR" dirty="0" err="1">
                <a:solidFill>
                  <a:prstClr val="black"/>
                </a:solidFill>
                <a:latin typeface="Century Schoolbook" panose="02040604050505020304" pitchFamily="18" charset="0"/>
              </a:rPr>
              <a:t>cells</a:t>
            </a:r>
            <a:r>
              <a:rPr lang="fr-FR" dirty="0">
                <a:solidFill>
                  <a:prstClr val="black"/>
                </a:solidFill>
                <a:latin typeface="Century Schoolbook" panose="02040604050505020304" pitchFamily="18" charset="0"/>
              </a:rPr>
              <a:t> </a:t>
            </a:r>
            <a:r>
              <a:rPr lang="fr-FR" dirty="0" err="1">
                <a:solidFill>
                  <a:prstClr val="black"/>
                </a:solidFill>
                <a:latin typeface="Century Schoolbook" panose="02040604050505020304" pitchFamily="18" charset="0"/>
              </a:rPr>
              <a:t>depending</a:t>
            </a:r>
            <a:r>
              <a:rPr lang="fr-FR" dirty="0">
                <a:solidFill>
                  <a:prstClr val="black"/>
                </a:solidFill>
                <a:latin typeface="Century Schoolbook" panose="02040604050505020304" pitchFamily="18" charset="0"/>
              </a:rPr>
              <a:t> on the tissue in question (</a:t>
            </a:r>
            <a:r>
              <a:rPr lang="fr-FR" dirty="0" err="1">
                <a:solidFill>
                  <a:prstClr val="black"/>
                </a:solidFill>
                <a:latin typeface="Century Schoolbook" panose="02040604050505020304" pitchFamily="18" charset="0"/>
              </a:rPr>
              <a:t>fibroblasts</a:t>
            </a:r>
            <a:r>
              <a:rPr lang="fr-FR" dirty="0">
                <a:solidFill>
                  <a:prstClr val="black"/>
                </a:solidFill>
                <a:latin typeface="Century Schoolbook" panose="02040604050505020304" pitchFamily="18" charset="0"/>
              </a:rPr>
              <a:t>, </a:t>
            </a:r>
            <a:r>
              <a:rPr lang="fr-FR" dirty="0" err="1">
                <a:solidFill>
                  <a:prstClr val="black"/>
                </a:solidFill>
                <a:latin typeface="Century Schoolbook" panose="02040604050505020304" pitchFamily="18" charset="0"/>
              </a:rPr>
              <a:t>epithelial</a:t>
            </a:r>
            <a:r>
              <a:rPr lang="fr-FR" dirty="0">
                <a:solidFill>
                  <a:prstClr val="black"/>
                </a:solidFill>
                <a:latin typeface="Century Schoolbook" panose="02040604050505020304" pitchFamily="18" charset="0"/>
              </a:rPr>
              <a:t> </a:t>
            </a:r>
            <a:r>
              <a:rPr lang="fr-FR" dirty="0" err="1">
                <a:solidFill>
                  <a:prstClr val="black"/>
                </a:solidFill>
                <a:latin typeface="Century Schoolbook" panose="02040604050505020304" pitchFamily="18" charset="0"/>
              </a:rPr>
              <a:t>cells</a:t>
            </a:r>
            <a:r>
              <a:rPr lang="fr-FR" dirty="0">
                <a:solidFill>
                  <a:prstClr val="black"/>
                </a:solidFill>
                <a:latin typeface="Century Schoolbook" panose="02040604050505020304" pitchFamily="18" charset="0"/>
              </a:rPr>
              <a:t>, </a:t>
            </a:r>
            <a:r>
              <a:rPr lang="fr-FR" dirty="0" err="1">
                <a:solidFill>
                  <a:prstClr val="black"/>
                </a:solidFill>
                <a:latin typeface="Century Schoolbook" panose="02040604050505020304" pitchFamily="18" charset="0"/>
              </a:rPr>
              <a:t>osteoblasts</a:t>
            </a:r>
            <a:r>
              <a:rPr lang="fr-FR" dirty="0">
                <a:solidFill>
                  <a:prstClr val="black"/>
                </a:solidFill>
                <a:latin typeface="Century Schoolbook" panose="02040604050505020304" pitchFamily="18" charset="0"/>
              </a:rPr>
              <a:t>, </a:t>
            </a:r>
            <a:r>
              <a:rPr lang="fr-FR" dirty="0" err="1">
                <a:solidFill>
                  <a:prstClr val="black"/>
                </a:solidFill>
                <a:latin typeface="Century Schoolbook" panose="02040604050505020304" pitchFamily="18" charset="0"/>
              </a:rPr>
              <a:t>chondroblasts</a:t>
            </a:r>
            <a:r>
              <a:rPr lang="fr-FR" dirty="0">
                <a:solidFill>
                  <a:prstClr val="black"/>
                </a:solidFill>
                <a:latin typeface="Century Schoolbook" panose="02040604050505020304" pitchFamily="18" charset="0"/>
              </a:rPr>
              <a:t>, etc.).</a:t>
            </a:r>
          </a:p>
        </p:txBody>
      </p:sp>
    </p:spTree>
    <p:extLst>
      <p:ext uri="{BB962C8B-B14F-4D97-AF65-F5344CB8AC3E}">
        <p14:creationId xmlns:p14="http://schemas.microsoft.com/office/powerpoint/2010/main" val="11797789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1187624" y="1593805"/>
            <a:ext cx="5904656" cy="5147563"/>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spAutoFit/>
          </a:bodyPr>
          <a:lstStyle/>
          <a:p>
            <a:pPr algn="justLow" fontAlgn="base">
              <a:spcBef>
                <a:spcPct val="0"/>
              </a:spcBef>
              <a:spcAft>
                <a:spcPct val="0"/>
              </a:spcAft>
            </a:pPr>
            <a:endParaRPr lang="fr-FR" sz="1500" b="1" dirty="0">
              <a:solidFill>
                <a:prstClr val="black"/>
              </a:solidFill>
              <a:latin typeface="Arial" pitchFamily="34" charset="0"/>
              <a:ea typeface="Times New Roman" pitchFamily="18" charset="0"/>
              <a:cs typeface="Arial" pitchFamily="34" charset="0"/>
            </a:endParaRPr>
          </a:p>
          <a:p>
            <a:pPr algn="justLow" fontAlgn="base">
              <a:spcBef>
                <a:spcPct val="0"/>
              </a:spcBef>
              <a:spcAft>
                <a:spcPct val="0"/>
              </a:spcAft>
            </a:pPr>
            <a:r>
              <a:rPr lang="fr-FR" sz="1500" b="1" dirty="0">
                <a:solidFill>
                  <a:prstClr val="black"/>
                </a:solidFill>
                <a:latin typeface="Arial" pitchFamily="34" charset="0"/>
                <a:ea typeface="Times New Roman" pitchFamily="18" charset="0"/>
                <a:cs typeface="Arial" pitchFamily="34" charset="0"/>
              </a:rPr>
              <a:t> </a:t>
            </a:r>
            <a:r>
              <a:rPr lang="fr-FR" sz="2000" dirty="0">
                <a:solidFill>
                  <a:prstClr val="black"/>
                </a:solidFill>
                <a:latin typeface="Century Schoolbook" panose="02040604050505020304" pitchFamily="18" charset="0"/>
                <a:ea typeface="Times New Roman" pitchFamily="18" charset="0"/>
                <a:cs typeface="Arial" pitchFamily="34" charset="0"/>
              </a:rPr>
              <a:t>Polysaccharides:</a:t>
            </a:r>
          </a:p>
          <a:p>
            <a:pPr algn="justLow" fontAlgn="base">
              <a:spcBef>
                <a:spcPct val="0"/>
              </a:spcBef>
              <a:spcAft>
                <a:spcPct val="0"/>
              </a:spcAft>
            </a:pPr>
            <a:r>
              <a:rPr lang="fr-FR" sz="2000" dirty="0">
                <a:solidFill>
                  <a:prstClr val="black"/>
                </a:solidFill>
                <a:latin typeface="Century Schoolbook" panose="02040604050505020304" pitchFamily="18" charset="0"/>
                <a:ea typeface="Times New Roman" pitchFamily="18" charset="0"/>
                <a:cs typeface="Arial" pitchFamily="34" charset="0"/>
              </a:rPr>
              <a:t>
         - </a:t>
            </a:r>
            <a:r>
              <a:rPr lang="fr-FR" sz="2000" dirty="0" err="1">
                <a:solidFill>
                  <a:prstClr val="black"/>
                </a:solidFill>
                <a:latin typeface="Century Schoolbook" panose="02040604050505020304" pitchFamily="18" charset="0"/>
                <a:ea typeface="Times New Roman" pitchFamily="18" charset="0"/>
                <a:cs typeface="Arial" pitchFamily="34" charset="0"/>
              </a:rPr>
              <a:t>Glyco-amino-glycans</a:t>
            </a:r>
            <a:r>
              <a:rPr lang="fr-FR" sz="2000" dirty="0">
                <a:solidFill>
                  <a:prstClr val="black"/>
                </a:solidFill>
                <a:latin typeface="Century Schoolbook" panose="02040604050505020304" pitchFamily="18" charset="0"/>
                <a:ea typeface="Times New Roman" pitchFamily="18" charset="0"/>
                <a:cs typeface="Arial" pitchFamily="34" charset="0"/>
              </a:rPr>
              <a:t> (</a:t>
            </a:r>
            <a:r>
              <a:rPr lang="fr-FR" sz="2000" dirty="0" err="1">
                <a:solidFill>
                  <a:prstClr val="black"/>
                </a:solidFill>
                <a:latin typeface="Century Schoolbook" panose="02040604050505020304" pitchFamily="18" charset="0"/>
                <a:ea typeface="Times New Roman" pitchFamily="18" charset="0"/>
                <a:cs typeface="Arial" pitchFamily="34" charset="0"/>
              </a:rPr>
              <a:t>GAGs</a:t>
            </a:r>
            <a:r>
              <a:rPr lang="fr-FR" sz="2000" dirty="0">
                <a:solidFill>
                  <a:prstClr val="black"/>
                </a:solidFill>
                <a:latin typeface="Century Schoolbook" panose="02040604050505020304" pitchFamily="18" charset="0"/>
                <a:ea typeface="Times New Roman" pitchFamily="18" charset="0"/>
                <a:cs typeface="Arial" pitchFamily="34" charset="0"/>
              </a:rPr>
              <a:t>)
         - </a:t>
            </a:r>
            <a:r>
              <a:rPr lang="fr-FR" sz="2000" dirty="0" err="1">
                <a:solidFill>
                  <a:prstClr val="black"/>
                </a:solidFill>
                <a:latin typeface="Century Schoolbook" panose="02040604050505020304" pitchFamily="18" charset="0"/>
                <a:ea typeface="Times New Roman" pitchFamily="18" charset="0"/>
                <a:cs typeface="Arial" pitchFamily="34" charset="0"/>
              </a:rPr>
              <a:t>Proteoglycans</a:t>
            </a:r>
            <a:r>
              <a:rPr lang="fr-FR" sz="2000" dirty="0">
                <a:solidFill>
                  <a:prstClr val="black"/>
                </a:solidFill>
                <a:latin typeface="Century Schoolbook" panose="02040604050505020304" pitchFamily="18" charset="0"/>
                <a:ea typeface="Times New Roman" pitchFamily="18" charset="0"/>
                <a:cs typeface="Arial" pitchFamily="34" charset="0"/>
              </a:rPr>
              <a:t> </a:t>
            </a:r>
          </a:p>
          <a:p>
            <a:pPr algn="justLow" fontAlgn="base">
              <a:spcBef>
                <a:spcPct val="0"/>
              </a:spcBef>
              <a:spcAft>
                <a:spcPct val="0"/>
              </a:spcAft>
            </a:pPr>
            <a:r>
              <a:rPr lang="fr-FR" sz="2000" dirty="0">
                <a:solidFill>
                  <a:prstClr val="black"/>
                </a:solidFill>
                <a:latin typeface="Century Schoolbook" panose="02040604050505020304" pitchFamily="18" charset="0"/>
                <a:ea typeface="Times New Roman" pitchFamily="18" charset="0"/>
                <a:cs typeface="Arial" pitchFamily="34" charset="0"/>
              </a:rPr>
              <a:t>
</a:t>
            </a:r>
            <a:r>
              <a:rPr lang="fr-FR" sz="2000" dirty="0" err="1">
                <a:solidFill>
                  <a:prstClr val="black"/>
                </a:solidFill>
                <a:latin typeface="Century Schoolbook" panose="02040604050505020304" pitchFamily="18" charset="0"/>
                <a:ea typeface="Times New Roman" pitchFamily="18" charset="0"/>
                <a:cs typeface="Arial" pitchFamily="34" charset="0"/>
              </a:rPr>
              <a:t>Fibrous</a:t>
            </a:r>
            <a:r>
              <a:rPr lang="fr-FR" sz="2000" dirty="0">
                <a:solidFill>
                  <a:prstClr val="black"/>
                </a:solidFill>
                <a:latin typeface="Century Schoolbook" panose="02040604050505020304" pitchFamily="18" charset="0"/>
                <a:ea typeface="Times New Roman" pitchFamily="18" charset="0"/>
                <a:cs typeface="Arial" pitchFamily="34" charset="0"/>
              </a:rPr>
              <a:t> </a:t>
            </a:r>
            <a:r>
              <a:rPr lang="fr-FR" sz="2000" dirty="0" err="1">
                <a:solidFill>
                  <a:prstClr val="black"/>
                </a:solidFill>
                <a:latin typeface="Century Schoolbook" panose="02040604050505020304" pitchFamily="18" charset="0"/>
                <a:ea typeface="Times New Roman" pitchFamily="18" charset="0"/>
                <a:cs typeface="Arial" pitchFamily="34" charset="0"/>
              </a:rPr>
              <a:t>proteins</a:t>
            </a:r>
            <a:r>
              <a:rPr lang="fr-FR" sz="2000" dirty="0">
                <a:solidFill>
                  <a:prstClr val="black"/>
                </a:solidFill>
                <a:latin typeface="Century Schoolbook" panose="02040604050505020304" pitchFamily="18" charset="0"/>
                <a:ea typeface="Times New Roman" pitchFamily="18" charset="0"/>
                <a:cs typeface="Arial" pitchFamily="34" charset="0"/>
              </a:rPr>
              <a:t>:</a:t>
            </a:r>
          </a:p>
          <a:p>
            <a:pPr algn="justLow" fontAlgn="base">
              <a:spcBef>
                <a:spcPct val="0"/>
              </a:spcBef>
              <a:spcAft>
                <a:spcPct val="0"/>
              </a:spcAft>
            </a:pPr>
            <a:r>
              <a:rPr lang="fr-FR" sz="2000" dirty="0">
                <a:solidFill>
                  <a:prstClr val="black"/>
                </a:solidFill>
                <a:latin typeface="Century Schoolbook" panose="02040604050505020304" pitchFamily="18" charset="0"/>
                <a:ea typeface="Times New Roman" pitchFamily="18" charset="0"/>
                <a:cs typeface="Arial" pitchFamily="34" charset="0"/>
              </a:rPr>
              <a:t>
       - </a:t>
            </a:r>
            <a:r>
              <a:rPr lang="fr-FR" sz="2000" dirty="0" err="1">
                <a:solidFill>
                  <a:prstClr val="black"/>
                </a:solidFill>
                <a:latin typeface="Century Schoolbook" panose="02040604050505020304" pitchFamily="18" charset="0"/>
                <a:ea typeface="Times New Roman" pitchFamily="18" charset="0"/>
                <a:cs typeface="Arial" pitchFamily="34" charset="0"/>
              </a:rPr>
              <a:t>Collagen</a:t>
            </a:r>
            <a:r>
              <a:rPr lang="fr-FR" sz="2000" dirty="0">
                <a:solidFill>
                  <a:prstClr val="black"/>
                </a:solidFill>
                <a:latin typeface="Century Schoolbook" panose="02040604050505020304" pitchFamily="18" charset="0"/>
                <a:ea typeface="Times New Roman" pitchFamily="18" charset="0"/>
                <a:cs typeface="Arial" pitchFamily="34" charset="0"/>
              </a:rPr>
              <a:t> </a:t>
            </a:r>
            <a:r>
              <a:rPr lang="fr-FR" sz="2000" dirty="0" err="1">
                <a:solidFill>
                  <a:prstClr val="black"/>
                </a:solidFill>
                <a:latin typeface="Century Schoolbook" panose="02040604050505020304" pitchFamily="18" charset="0"/>
                <a:ea typeface="Times New Roman" pitchFamily="18" charset="0"/>
                <a:cs typeface="Arial" pitchFamily="34" charset="0"/>
              </a:rPr>
              <a:t>fibers</a:t>
            </a:r>
            <a:r>
              <a:rPr lang="fr-FR" sz="2000" dirty="0">
                <a:solidFill>
                  <a:prstClr val="black"/>
                </a:solidFill>
                <a:latin typeface="Century Schoolbook" panose="02040604050505020304" pitchFamily="18" charset="0"/>
                <a:ea typeface="Times New Roman" pitchFamily="18" charset="0"/>
                <a:cs typeface="Arial" pitchFamily="34" charset="0"/>
              </a:rPr>
              <a:t> 
       - </a:t>
            </a:r>
            <a:r>
              <a:rPr lang="fr-FR" sz="2000" dirty="0" err="1">
                <a:solidFill>
                  <a:prstClr val="black"/>
                </a:solidFill>
                <a:latin typeface="Century Schoolbook" panose="02040604050505020304" pitchFamily="18" charset="0"/>
                <a:ea typeface="Times New Roman" pitchFamily="18" charset="0"/>
                <a:cs typeface="Arial" pitchFamily="34" charset="0"/>
              </a:rPr>
              <a:t>Elastic</a:t>
            </a:r>
            <a:r>
              <a:rPr lang="fr-FR" sz="2000" dirty="0">
                <a:solidFill>
                  <a:prstClr val="black"/>
                </a:solidFill>
                <a:latin typeface="Century Schoolbook" panose="02040604050505020304" pitchFamily="18" charset="0"/>
                <a:ea typeface="Times New Roman" pitchFamily="18" charset="0"/>
                <a:cs typeface="Arial" pitchFamily="34" charset="0"/>
              </a:rPr>
              <a:t> </a:t>
            </a:r>
            <a:r>
              <a:rPr lang="fr-FR" sz="2000" dirty="0" err="1">
                <a:solidFill>
                  <a:prstClr val="black"/>
                </a:solidFill>
                <a:latin typeface="Century Schoolbook" panose="02040604050505020304" pitchFamily="18" charset="0"/>
                <a:ea typeface="Times New Roman" pitchFamily="18" charset="0"/>
                <a:cs typeface="Arial" pitchFamily="34" charset="0"/>
              </a:rPr>
              <a:t>fibers</a:t>
            </a:r>
            <a:r>
              <a:rPr lang="fr-FR" sz="2000" dirty="0">
                <a:solidFill>
                  <a:prstClr val="black"/>
                </a:solidFill>
                <a:latin typeface="Century Schoolbook" panose="02040604050505020304" pitchFamily="18" charset="0"/>
                <a:ea typeface="Times New Roman" pitchFamily="18" charset="0"/>
                <a:cs typeface="Arial" pitchFamily="34" charset="0"/>
              </a:rPr>
              <a:t> </a:t>
            </a:r>
          </a:p>
          <a:p>
            <a:pPr algn="justLow" fontAlgn="base">
              <a:spcBef>
                <a:spcPct val="0"/>
              </a:spcBef>
              <a:spcAft>
                <a:spcPct val="0"/>
              </a:spcAft>
            </a:pPr>
            <a:r>
              <a:rPr lang="fr-FR" sz="2000" dirty="0">
                <a:solidFill>
                  <a:prstClr val="black"/>
                </a:solidFill>
                <a:latin typeface="Century Schoolbook" panose="02040604050505020304" pitchFamily="18" charset="0"/>
                <a:ea typeface="Times New Roman" pitchFamily="18" charset="0"/>
                <a:cs typeface="Arial" pitchFamily="34" charset="0"/>
              </a:rPr>
              <a:t>
</a:t>
            </a:r>
            <a:r>
              <a:rPr lang="fr-FR" sz="2000" dirty="0" err="1">
                <a:solidFill>
                  <a:prstClr val="black"/>
                </a:solidFill>
                <a:latin typeface="Century Schoolbook" panose="02040604050505020304" pitchFamily="18" charset="0"/>
                <a:ea typeface="Times New Roman" pitchFamily="18" charset="0"/>
                <a:cs typeface="Arial" pitchFamily="34" charset="0"/>
              </a:rPr>
              <a:t>Glycoproteins</a:t>
            </a:r>
            <a:r>
              <a:rPr lang="fr-FR" sz="2000" dirty="0">
                <a:solidFill>
                  <a:prstClr val="black"/>
                </a:solidFill>
                <a:latin typeface="Century Schoolbook" panose="02040604050505020304" pitchFamily="18" charset="0"/>
                <a:ea typeface="Times New Roman" pitchFamily="18" charset="0"/>
                <a:cs typeface="Arial" pitchFamily="34" charset="0"/>
              </a:rPr>
              <a:t>:</a:t>
            </a:r>
          </a:p>
          <a:p>
            <a:pPr algn="justLow" fontAlgn="base">
              <a:spcBef>
                <a:spcPct val="0"/>
              </a:spcBef>
              <a:spcAft>
                <a:spcPct val="0"/>
              </a:spcAft>
            </a:pPr>
            <a:r>
              <a:rPr lang="fr-FR" sz="2000" dirty="0">
                <a:solidFill>
                  <a:prstClr val="black"/>
                </a:solidFill>
                <a:latin typeface="Century Schoolbook" panose="02040604050505020304" pitchFamily="18" charset="0"/>
                <a:ea typeface="Times New Roman" pitchFamily="18" charset="0"/>
                <a:cs typeface="Arial" pitchFamily="34" charset="0"/>
              </a:rPr>
              <a:t>
      -</a:t>
            </a:r>
            <a:r>
              <a:rPr lang="fr-FR" sz="2000" dirty="0" err="1">
                <a:solidFill>
                  <a:prstClr val="black"/>
                </a:solidFill>
                <a:latin typeface="Century Schoolbook" panose="02040604050505020304" pitchFamily="18" charset="0"/>
                <a:ea typeface="Times New Roman" pitchFamily="18" charset="0"/>
                <a:cs typeface="Arial" pitchFamily="34" charset="0"/>
              </a:rPr>
              <a:t>Fibronectrin</a:t>
            </a:r>
            <a:r>
              <a:rPr lang="fr-FR" sz="2000" dirty="0">
                <a:solidFill>
                  <a:prstClr val="black"/>
                </a:solidFill>
                <a:latin typeface="Century Schoolbook" panose="02040604050505020304" pitchFamily="18" charset="0"/>
                <a:ea typeface="Times New Roman" pitchFamily="18" charset="0"/>
                <a:cs typeface="Arial" pitchFamily="34" charset="0"/>
              </a:rPr>
              <a:t>
      -</a:t>
            </a:r>
            <a:r>
              <a:rPr lang="fr-FR" sz="2000" dirty="0" err="1">
                <a:solidFill>
                  <a:prstClr val="black"/>
                </a:solidFill>
                <a:latin typeface="Century Schoolbook" panose="02040604050505020304" pitchFamily="18" charset="0"/>
                <a:ea typeface="Times New Roman" pitchFamily="18" charset="0"/>
                <a:cs typeface="Arial" pitchFamily="34" charset="0"/>
              </a:rPr>
              <a:t>Laminin</a:t>
            </a:r>
            <a:endParaRPr lang="fr-FR" sz="2000" dirty="0">
              <a:solidFill>
                <a:prstClr val="black"/>
              </a:solidFill>
              <a:latin typeface="Century Schoolbook" panose="02040604050505020304" pitchFamily="18" charset="0"/>
              <a:cs typeface="Arial" pitchFamily="34" charset="0"/>
            </a:endParaRPr>
          </a:p>
          <a:p>
            <a:r>
              <a:rPr lang="fr-FR" sz="2000" dirty="0">
                <a:solidFill>
                  <a:prstClr val="black"/>
                </a:solidFill>
                <a:latin typeface="Century Schoolbook" panose="02040604050505020304" pitchFamily="18" charset="0"/>
                <a:cs typeface="Arial" pitchFamily="34" charset="0"/>
              </a:rPr>
              <a:t>  </a:t>
            </a:r>
          </a:p>
          <a:p>
            <a:pPr algn="justLow" fontAlgn="base">
              <a:spcBef>
                <a:spcPct val="0"/>
              </a:spcBef>
              <a:spcAft>
                <a:spcPct val="0"/>
              </a:spcAft>
            </a:pPr>
            <a:endParaRPr lang="fr-FR" sz="1500" dirty="0">
              <a:solidFill>
                <a:prstClr val="black"/>
              </a:solidFill>
              <a:latin typeface="Arial" pitchFamily="34" charset="0"/>
              <a:cs typeface="Arial" pitchFamily="34" charset="0"/>
            </a:endParaRPr>
          </a:p>
        </p:txBody>
      </p:sp>
      <p:sp>
        <p:nvSpPr>
          <p:cNvPr id="3" name="Rectangle 2"/>
          <p:cNvSpPr/>
          <p:nvPr/>
        </p:nvSpPr>
        <p:spPr>
          <a:xfrm>
            <a:off x="323528" y="548680"/>
            <a:ext cx="7740860" cy="523220"/>
          </a:xfrm>
          <a:prstGeom prst="rect">
            <a:avLst/>
          </a:prstGeom>
        </p:spPr>
        <p:txBody>
          <a:bodyPr wrap="square">
            <a:spAutoFit/>
          </a:bodyPr>
          <a:lstStyle/>
          <a:p>
            <a:r>
              <a:rPr lang="en-US" sz="2800" spc="8" dirty="0">
                <a:solidFill>
                  <a:srgbClr val="000000"/>
                </a:solidFill>
                <a:latin typeface="Century Schoolbook" panose="02040604050505020304" pitchFamily="18" charset="0"/>
              </a:rPr>
              <a:t>The components of the extracellular matrix</a:t>
            </a:r>
            <a:endParaRPr lang="fr-FR" sz="2800" dirty="0">
              <a:solidFill>
                <a:prstClr val="black"/>
              </a:solidFill>
              <a:latin typeface="Century Schoolbook" panose="02040604050505020304" pitchFamily="18" charset="0"/>
            </a:endParaRPr>
          </a:p>
        </p:txBody>
      </p:sp>
    </p:spTree>
    <p:extLst>
      <p:ext uri="{BB962C8B-B14F-4D97-AF65-F5344CB8AC3E}">
        <p14:creationId xmlns:p14="http://schemas.microsoft.com/office/powerpoint/2010/main" val="3353954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rotWithShape="1">
          <a:blip r:embed="rId2"/>
          <a:srcRect l="9600" t="30313" r="38377" b="17773"/>
          <a:stretch>
            <a:fillRect/>
          </a:stretch>
        </p:blipFill>
        <p:spPr>
          <a:xfrm>
            <a:off x="1469771" y="1052736"/>
            <a:ext cx="6204457" cy="3766939"/>
          </a:xfrm>
          <a:prstGeom prst="rect">
            <a:avLst/>
          </a:prstGeom>
        </p:spPr>
      </p:pic>
      <p:sp>
        <p:nvSpPr>
          <p:cNvPr id="2" name="Rectangle 1">
            <a:extLst>
              <a:ext uri="{FF2B5EF4-FFF2-40B4-BE49-F238E27FC236}">
                <a16:creationId xmlns:a16="http://schemas.microsoft.com/office/drawing/2014/main" xmlns="" id="{54C070BB-CCE7-7499-D103-9CF85D5BDC86}"/>
              </a:ext>
            </a:extLst>
          </p:cNvPr>
          <p:cNvSpPr/>
          <p:nvPr/>
        </p:nvSpPr>
        <p:spPr>
          <a:xfrm>
            <a:off x="1574667" y="4984232"/>
            <a:ext cx="6204457" cy="727407"/>
          </a:xfrm>
          <a:prstGeom prst="rect">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4" name="Rectangle 3">
            <a:extLst>
              <a:ext uri="{FF2B5EF4-FFF2-40B4-BE49-F238E27FC236}">
                <a16:creationId xmlns:a16="http://schemas.microsoft.com/office/drawing/2014/main" xmlns="" id="{C839EB2D-9010-98BC-CBAE-64863323B154}"/>
              </a:ext>
            </a:extLst>
          </p:cNvPr>
          <p:cNvSpPr/>
          <p:nvPr/>
        </p:nvSpPr>
        <p:spPr>
          <a:xfrm>
            <a:off x="179512" y="4984233"/>
            <a:ext cx="8546269" cy="1323439"/>
          </a:xfrm>
          <a:prstGeom prst="rect">
            <a:avLst/>
          </a:prstGeom>
        </p:spPr>
        <p:txBody>
          <a:bodyPr wrap="square">
            <a:spAutoFit/>
          </a:bodyPr>
          <a:lstStyle/>
          <a:p>
            <a:pPr algn="just"/>
            <a:r>
              <a:rPr lang="fr-FR" sz="1600" dirty="0">
                <a:latin typeface="Century Schoolbook" panose="02040604050505020304" pitchFamily="18" charset="0"/>
              </a:rPr>
              <a:t>The </a:t>
            </a:r>
            <a:r>
              <a:rPr lang="fr-FR" sz="1600" dirty="0" err="1">
                <a:latin typeface="Century Schoolbook" panose="02040604050505020304" pitchFamily="18" charset="0"/>
              </a:rPr>
              <a:t>extracellular</a:t>
            </a:r>
            <a:r>
              <a:rPr lang="fr-FR" sz="1600" dirty="0">
                <a:latin typeface="Century Schoolbook" panose="02040604050505020304" pitchFamily="18" charset="0"/>
              </a:rPr>
              <a:t> matrix (A) The main components of the </a:t>
            </a:r>
            <a:r>
              <a:rPr lang="fr-FR" sz="1600" dirty="0" err="1">
                <a:latin typeface="Century Schoolbook" panose="02040604050505020304" pitchFamily="18" charset="0"/>
              </a:rPr>
              <a:t>extracellular</a:t>
            </a:r>
            <a:r>
              <a:rPr lang="fr-FR" sz="1600" dirty="0">
                <a:latin typeface="Century Schoolbook" panose="02040604050505020304" pitchFamily="18" charset="0"/>
              </a:rPr>
              <a:t> matrix </a:t>
            </a:r>
            <a:r>
              <a:rPr lang="fr-FR" sz="1600" dirty="0" err="1">
                <a:latin typeface="Century Schoolbook" panose="02040604050505020304" pitchFamily="18" charset="0"/>
              </a:rPr>
              <a:t>including</a:t>
            </a:r>
            <a:r>
              <a:rPr lang="fr-FR" sz="1600" dirty="0">
                <a:latin typeface="Century Schoolbook" panose="02040604050505020304" pitchFamily="18" charset="0"/>
              </a:rPr>
              <a:t> </a:t>
            </a:r>
            <a:r>
              <a:rPr lang="fr-FR" sz="1600" dirty="0" err="1">
                <a:latin typeface="Century Schoolbook" panose="02040604050505020304" pitchFamily="18" charset="0"/>
              </a:rPr>
              <a:t>collagen</a:t>
            </a:r>
            <a:r>
              <a:rPr lang="fr-FR" sz="1600" dirty="0">
                <a:latin typeface="Century Schoolbook" panose="02040604050505020304" pitchFamily="18" charset="0"/>
              </a:rPr>
              <a:t>, </a:t>
            </a:r>
            <a:r>
              <a:rPr lang="fr-FR" sz="1600" dirty="0" err="1">
                <a:latin typeface="Century Schoolbook" panose="02040604050505020304" pitchFamily="18" charset="0"/>
              </a:rPr>
              <a:t>fibronectin</a:t>
            </a:r>
            <a:r>
              <a:rPr lang="fr-FR" sz="1600" dirty="0">
                <a:latin typeface="Century Schoolbook" panose="02040604050505020304" pitchFamily="18" charset="0"/>
              </a:rPr>
              <a:t>, </a:t>
            </a:r>
            <a:r>
              <a:rPr lang="fr-FR" sz="1600" dirty="0" err="1">
                <a:latin typeface="Century Schoolbook" panose="02040604050505020304" pitchFamily="18" charset="0"/>
              </a:rPr>
              <a:t>laminin</a:t>
            </a:r>
            <a:r>
              <a:rPr lang="fr-FR" sz="1600" dirty="0">
                <a:latin typeface="Century Schoolbook" panose="02040604050505020304" pitchFamily="18" charset="0"/>
              </a:rPr>
              <a:t> and </a:t>
            </a:r>
            <a:r>
              <a:rPr lang="fr-FR" sz="1600" dirty="0" err="1">
                <a:latin typeface="Century Schoolbook" panose="02040604050505020304" pitchFamily="18" charset="0"/>
              </a:rPr>
              <a:t>proteoglycans</a:t>
            </a:r>
            <a:r>
              <a:rPr lang="fr-FR" sz="1600" dirty="0">
                <a:latin typeface="Century Schoolbook" panose="02040604050505020304" pitchFamily="18" charset="0"/>
              </a:rPr>
              <a:t> (B) Macrophage </a:t>
            </a:r>
            <a:r>
              <a:rPr lang="fr-FR" sz="1600" dirty="0" err="1">
                <a:latin typeface="Century Schoolbook" panose="02040604050505020304" pitchFamily="18" charset="0"/>
              </a:rPr>
              <a:t>fixed</a:t>
            </a:r>
            <a:r>
              <a:rPr lang="fr-FR" sz="1600" dirty="0">
                <a:latin typeface="Century Schoolbook" panose="02040604050505020304" pitchFamily="18" charset="0"/>
              </a:rPr>
              <a:t> on an </a:t>
            </a:r>
            <a:r>
              <a:rPr lang="fr-FR" sz="1600" dirty="0" err="1">
                <a:latin typeface="Century Schoolbook" panose="02040604050505020304" pitchFamily="18" charset="0"/>
              </a:rPr>
              <a:t>extracellular</a:t>
            </a:r>
            <a:r>
              <a:rPr lang="fr-FR" sz="1600" dirty="0">
                <a:latin typeface="Century Schoolbook" panose="02040604050505020304" pitchFamily="18" charset="0"/>
              </a:rPr>
              <a:t> matrix </a:t>
            </a:r>
            <a:r>
              <a:rPr lang="fr-FR" sz="1600" dirty="0" err="1">
                <a:latin typeface="Century Schoolbook" panose="02040604050505020304" pitchFamily="18" charset="0"/>
              </a:rPr>
              <a:t>observed</a:t>
            </a:r>
            <a:r>
              <a:rPr lang="fr-FR" sz="1600" dirty="0">
                <a:latin typeface="Century Schoolbook" panose="02040604050505020304" pitchFamily="18" charset="0"/>
              </a:rPr>
              <a:t> by </a:t>
            </a:r>
            <a:r>
              <a:rPr lang="fr-FR" sz="1600" dirty="0" err="1">
                <a:latin typeface="Century Schoolbook" panose="02040604050505020304" pitchFamily="18" charset="0"/>
              </a:rPr>
              <a:t>electron</a:t>
            </a:r>
            <a:r>
              <a:rPr lang="fr-FR" sz="1600" dirty="0">
                <a:latin typeface="Century Schoolbook" panose="02040604050505020304" pitchFamily="18" charset="0"/>
              </a:rPr>
              <a:t> </a:t>
            </a:r>
            <a:r>
              <a:rPr lang="fr-FR" sz="1600" dirty="0" err="1">
                <a:latin typeface="Century Schoolbook" panose="02040604050505020304" pitchFamily="18" charset="0"/>
              </a:rPr>
              <a:t>microscopy</a:t>
            </a:r>
            <a:r>
              <a:rPr lang="fr-FR" sz="1600" dirty="0">
                <a:latin typeface="Century Schoolbook" panose="02040604050505020304" pitchFamily="18" charset="0"/>
              </a:rPr>
              <a:t>. The </a:t>
            </a:r>
            <a:r>
              <a:rPr lang="fr-FR" sz="1600" dirty="0" err="1">
                <a:latin typeface="Century Schoolbook" panose="02040604050505020304" pitchFamily="18" charset="0"/>
              </a:rPr>
              <a:t>collagen</a:t>
            </a:r>
            <a:r>
              <a:rPr lang="fr-FR" sz="1600" dirty="0">
                <a:latin typeface="Century Schoolbook" panose="02040604050505020304" pitchFamily="18" charset="0"/>
              </a:rPr>
              <a:t> </a:t>
            </a:r>
            <a:r>
              <a:rPr lang="fr-FR" sz="1600" dirty="0" err="1">
                <a:latin typeface="Century Schoolbook" panose="02040604050505020304" pitchFamily="18" charset="0"/>
              </a:rPr>
              <a:t>fibers</a:t>
            </a:r>
            <a:r>
              <a:rPr lang="fr-FR" sz="1600" dirty="0">
                <a:latin typeface="Century Schoolbook" panose="02040604050505020304" pitchFamily="18" charset="0"/>
              </a:rPr>
              <a:t> are </a:t>
            </a:r>
            <a:r>
              <a:rPr lang="fr-FR" sz="1600" dirty="0" err="1">
                <a:latin typeface="Century Schoolbook" panose="02040604050505020304" pitchFamily="18" charset="0"/>
              </a:rPr>
              <a:t>clearly</a:t>
            </a:r>
            <a:r>
              <a:rPr lang="fr-FR" sz="1600" dirty="0">
                <a:latin typeface="Century Schoolbook" panose="02040604050505020304" pitchFamily="18" charset="0"/>
              </a:rPr>
              <a:t> visible. </a:t>
            </a:r>
            <a:r>
              <a:rPr lang="fr-FR" sz="1600" dirty="0" err="1">
                <a:latin typeface="Century Schoolbook" panose="02040604050505020304" pitchFamily="18" charset="0"/>
              </a:rPr>
              <a:t>Based</a:t>
            </a:r>
            <a:r>
              <a:rPr lang="fr-FR" sz="1600" dirty="0">
                <a:latin typeface="Century Schoolbook" panose="02040604050505020304" pitchFamily="18" charset="0"/>
              </a:rPr>
              <a:t> on (</a:t>
            </a:r>
            <a:r>
              <a:rPr lang="fr-FR" sz="1600" dirty="0" err="1">
                <a:latin typeface="Century Schoolbook" panose="02040604050505020304" pitchFamily="18" charset="0"/>
              </a:rPr>
              <a:t>Marieb</a:t>
            </a:r>
            <a:r>
              <a:rPr lang="fr-FR" sz="1600" dirty="0">
                <a:latin typeface="Century Schoolbook" panose="02040604050505020304" pitchFamily="18" charset="0"/>
              </a:rPr>
              <a:t> and </a:t>
            </a:r>
            <a:r>
              <a:rPr lang="fr-FR" sz="1600" dirty="0" err="1">
                <a:latin typeface="Century Schoolbook" panose="02040604050505020304" pitchFamily="18" charset="0"/>
              </a:rPr>
              <a:t>Hoehn</a:t>
            </a:r>
            <a:r>
              <a:rPr lang="fr-FR" sz="1600" dirty="0">
                <a:latin typeface="Century Schoolbook" panose="02040604050505020304" pitchFamily="18" charset="0"/>
              </a:rPr>
              <a:t>, 2013)
</a:t>
            </a:r>
          </a:p>
        </p:txBody>
      </p:sp>
    </p:spTree>
    <p:extLst>
      <p:ext uri="{BB962C8B-B14F-4D97-AF65-F5344CB8AC3E}">
        <p14:creationId xmlns:p14="http://schemas.microsoft.com/office/powerpoint/2010/main" val="27198573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539552" y="477206"/>
            <a:ext cx="3960440" cy="646331"/>
          </a:xfrm>
          <a:prstGeom prst="rect">
            <a:avLst/>
          </a:prstGeom>
          <a:noFill/>
        </p:spPr>
        <p:txBody>
          <a:bodyPr wrap="square" rtlCol="0">
            <a:spAutoFit/>
          </a:bodyPr>
          <a:lstStyle/>
          <a:p>
            <a:r>
              <a:rPr lang="fr-FR" sz="3600" b="1" dirty="0" err="1">
                <a:solidFill>
                  <a:prstClr val="black"/>
                </a:solidFill>
                <a:latin typeface="Century Schoolbook" panose="02040604050505020304" pitchFamily="18" charset="0"/>
                <a:cs typeface="Arial" pitchFamily="34" charset="0"/>
              </a:rPr>
              <a:t>Proteoglycans</a:t>
            </a:r>
            <a:endParaRPr lang="fr-FR" sz="3600" dirty="0">
              <a:solidFill>
                <a:prstClr val="black"/>
              </a:solidFill>
              <a:latin typeface="Century Schoolbook" panose="02040604050505020304" pitchFamily="18" charset="0"/>
            </a:endParaRPr>
          </a:p>
        </p:txBody>
      </p:sp>
      <p:pic>
        <p:nvPicPr>
          <p:cNvPr id="3074" name="Picture 2" descr="http://perezyvan.free.fr/biocellulaire/baseimage/chap7mec/structproteoglycane.jpg"/>
          <p:cNvPicPr>
            <a:picLocks noChangeAspect="1" noChangeArrowheads="1"/>
          </p:cNvPicPr>
          <p:nvPr/>
        </p:nvPicPr>
        <p:blipFill>
          <a:blip r:embed="rId2"/>
          <a:srcRect/>
          <a:stretch>
            <a:fillRect/>
          </a:stretch>
        </p:blipFill>
        <p:spPr bwMode="auto">
          <a:xfrm>
            <a:off x="1691681" y="1988663"/>
            <a:ext cx="5398510" cy="2458329"/>
          </a:xfrm>
          <a:prstGeom prst="rect">
            <a:avLst/>
          </a:prstGeom>
          <a:noFill/>
        </p:spPr>
      </p:pic>
      <p:sp>
        <p:nvSpPr>
          <p:cNvPr id="4" name="Rectangle 3"/>
          <p:cNvSpPr/>
          <p:nvPr/>
        </p:nvSpPr>
        <p:spPr>
          <a:xfrm>
            <a:off x="179512" y="4956507"/>
            <a:ext cx="8784975" cy="1569660"/>
          </a:xfrm>
          <a:prstGeom prst="rect">
            <a:avLst/>
          </a:prstGeom>
        </p:spPr>
        <p:txBody>
          <a:bodyPr wrap="square">
            <a:spAutoFit/>
          </a:bodyPr>
          <a:lstStyle/>
          <a:p>
            <a:pPr marL="342900" indent="-342900" algn="just">
              <a:buAutoNum type="alphaUcParenR"/>
            </a:pPr>
            <a:r>
              <a:rPr lang="fr-FR" sz="1600" dirty="0" err="1">
                <a:solidFill>
                  <a:prstClr val="black"/>
                </a:solidFill>
                <a:latin typeface="Century Schoolbook" panose="02040604050505020304" pitchFamily="18" charset="0"/>
                <a:cs typeface="Arial" pitchFamily="34" charset="0"/>
              </a:rPr>
              <a:t>Schematic</a:t>
            </a:r>
            <a:r>
              <a:rPr lang="fr-FR" sz="1600" dirty="0">
                <a:solidFill>
                  <a:prstClr val="black"/>
                </a:solidFill>
                <a:latin typeface="Century Schoolbook" panose="02040604050505020304" pitchFamily="18" charset="0"/>
                <a:cs typeface="Arial" pitchFamily="34" charset="0"/>
              </a:rPr>
              <a:t> </a:t>
            </a:r>
            <a:r>
              <a:rPr lang="fr-FR" sz="1600" dirty="0" err="1">
                <a:solidFill>
                  <a:prstClr val="black"/>
                </a:solidFill>
                <a:latin typeface="Century Schoolbook" panose="02040604050505020304" pitchFamily="18" charset="0"/>
                <a:cs typeface="Arial" pitchFamily="34" charset="0"/>
              </a:rPr>
              <a:t>representation</a:t>
            </a:r>
            <a:r>
              <a:rPr lang="fr-FR" sz="1600" dirty="0">
                <a:solidFill>
                  <a:prstClr val="black"/>
                </a:solidFill>
                <a:latin typeface="Century Schoolbook" panose="02040604050505020304" pitchFamily="18" charset="0"/>
                <a:cs typeface="Arial" pitchFamily="34" charset="0"/>
              </a:rPr>
              <a:t> of a single cartilage </a:t>
            </a:r>
            <a:r>
              <a:rPr lang="fr-FR" sz="1600" dirty="0" err="1">
                <a:solidFill>
                  <a:prstClr val="black"/>
                </a:solidFill>
                <a:latin typeface="Century Schoolbook" panose="02040604050505020304" pitchFamily="18" charset="0"/>
                <a:cs typeface="Arial" pitchFamily="34" charset="0"/>
              </a:rPr>
              <a:t>proteoglycan</a:t>
            </a:r>
            <a:r>
              <a:rPr lang="fr-FR" sz="1600" dirty="0">
                <a:solidFill>
                  <a:prstClr val="black"/>
                </a:solidFill>
                <a:latin typeface="Century Schoolbook" panose="02040604050505020304" pitchFamily="18" charset="0"/>
                <a:cs typeface="Arial" pitchFamily="34" charset="0"/>
              </a:rPr>
              <a:t> </a:t>
            </a:r>
            <a:r>
              <a:rPr lang="fr-FR" sz="1600" dirty="0" err="1">
                <a:solidFill>
                  <a:prstClr val="black"/>
                </a:solidFill>
                <a:latin typeface="Century Schoolbook" panose="02040604050505020304" pitchFamily="18" charset="0"/>
                <a:cs typeface="Arial" pitchFamily="34" charset="0"/>
              </a:rPr>
              <a:t>formed</a:t>
            </a:r>
            <a:r>
              <a:rPr lang="fr-FR" sz="1600" dirty="0">
                <a:solidFill>
                  <a:prstClr val="black"/>
                </a:solidFill>
                <a:latin typeface="Century Schoolbook" panose="02040604050505020304" pitchFamily="18" charset="0"/>
                <a:cs typeface="Arial" pitchFamily="34" charset="0"/>
              </a:rPr>
              <a:t> by a central </a:t>
            </a:r>
            <a:r>
              <a:rPr lang="fr-FR" sz="1600" dirty="0" err="1">
                <a:solidFill>
                  <a:prstClr val="black"/>
                </a:solidFill>
                <a:latin typeface="Century Schoolbook" panose="02040604050505020304" pitchFamily="18" charset="0"/>
                <a:cs typeface="Arial" pitchFamily="34" charset="0"/>
              </a:rPr>
              <a:t>protein</a:t>
            </a:r>
            <a:r>
              <a:rPr lang="fr-FR" sz="1600" dirty="0">
                <a:solidFill>
                  <a:prstClr val="black"/>
                </a:solidFill>
                <a:latin typeface="Century Schoolbook" panose="02040604050505020304" pitchFamily="18" charset="0"/>
                <a:cs typeface="Arial" pitchFamily="34" charset="0"/>
              </a:rPr>
              <a:t> to </a:t>
            </a:r>
            <a:r>
              <a:rPr lang="fr-FR" sz="1600" dirty="0" err="1">
                <a:solidFill>
                  <a:prstClr val="black"/>
                </a:solidFill>
                <a:latin typeface="Century Schoolbook" panose="02040604050505020304" pitchFamily="18" charset="0"/>
                <a:cs typeface="Arial" pitchFamily="34" charset="0"/>
              </a:rPr>
              <a:t>which</a:t>
            </a:r>
            <a:r>
              <a:rPr lang="fr-FR" sz="1600" dirty="0">
                <a:solidFill>
                  <a:prstClr val="black"/>
                </a:solidFill>
                <a:latin typeface="Century Schoolbook" panose="02040604050505020304" pitchFamily="18" charset="0"/>
                <a:cs typeface="Arial" pitchFamily="34" charset="0"/>
              </a:rPr>
              <a:t> </a:t>
            </a:r>
            <a:r>
              <a:rPr lang="fr-FR" sz="1600" dirty="0" err="1">
                <a:solidFill>
                  <a:prstClr val="black"/>
                </a:solidFill>
                <a:latin typeface="Century Schoolbook" panose="02040604050505020304" pitchFamily="18" charset="0"/>
                <a:cs typeface="Arial" pitchFamily="34" charset="0"/>
              </a:rPr>
              <a:t>chains</a:t>
            </a:r>
            <a:r>
              <a:rPr lang="fr-FR" sz="1600" dirty="0">
                <a:solidFill>
                  <a:prstClr val="black"/>
                </a:solidFill>
                <a:latin typeface="Century Schoolbook" panose="02040604050505020304" pitchFamily="18" charset="0"/>
                <a:cs typeface="Arial" pitchFamily="34" charset="0"/>
              </a:rPr>
              <a:t> of </a:t>
            </a:r>
            <a:r>
              <a:rPr lang="fr-FR" sz="1600" dirty="0" err="1">
                <a:solidFill>
                  <a:prstClr val="black"/>
                </a:solidFill>
                <a:latin typeface="Century Schoolbook" panose="02040604050505020304" pitchFamily="18" charset="0"/>
                <a:cs typeface="Arial" pitchFamily="34" charset="0"/>
              </a:rPr>
              <a:t>glycosaminoglycans</a:t>
            </a:r>
            <a:r>
              <a:rPr lang="fr-FR" sz="1600" dirty="0">
                <a:solidFill>
                  <a:prstClr val="black"/>
                </a:solidFill>
                <a:latin typeface="Century Schoolbook" panose="02040604050505020304" pitchFamily="18" charset="0"/>
                <a:cs typeface="Arial" pitchFamily="34" charset="0"/>
              </a:rPr>
              <a:t> (</a:t>
            </a:r>
            <a:r>
              <a:rPr lang="fr-FR" sz="1600" dirty="0" err="1">
                <a:solidFill>
                  <a:prstClr val="black"/>
                </a:solidFill>
                <a:latin typeface="Century Schoolbook" panose="02040604050505020304" pitchFamily="18" charset="0"/>
                <a:cs typeface="Arial" pitchFamily="34" charset="0"/>
              </a:rPr>
              <a:t>GAGs</a:t>
            </a:r>
            <a:r>
              <a:rPr lang="fr-FR" sz="1600" dirty="0">
                <a:solidFill>
                  <a:prstClr val="black"/>
                </a:solidFill>
                <a:latin typeface="Century Schoolbook" panose="02040604050505020304" pitchFamily="18" charset="0"/>
                <a:cs typeface="Arial" pitchFamily="34" charset="0"/>
              </a:rPr>
              <a:t>) </a:t>
            </a:r>
            <a:r>
              <a:rPr lang="fr-FR" sz="1600" dirty="0" err="1">
                <a:solidFill>
                  <a:prstClr val="black"/>
                </a:solidFill>
                <a:latin typeface="Century Schoolbook" panose="02040604050505020304" pitchFamily="18" charset="0"/>
                <a:cs typeface="Arial" pitchFamily="34" charset="0"/>
              </a:rPr>
              <a:t>such</a:t>
            </a:r>
            <a:r>
              <a:rPr lang="fr-FR" sz="1600" dirty="0">
                <a:solidFill>
                  <a:prstClr val="black"/>
                </a:solidFill>
                <a:latin typeface="Century Schoolbook" panose="02040604050505020304" pitchFamily="18" charset="0"/>
                <a:cs typeface="Arial" pitchFamily="34" charset="0"/>
              </a:rPr>
              <a:t> as </a:t>
            </a:r>
            <a:r>
              <a:rPr lang="fr-FR" sz="1600" dirty="0" err="1">
                <a:solidFill>
                  <a:prstClr val="black"/>
                </a:solidFill>
                <a:latin typeface="Century Schoolbook" panose="02040604050505020304" pitchFamily="18" charset="0"/>
                <a:cs typeface="Arial" pitchFamily="34" charset="0"/>
              </a:rPr>
              <a:t>heparan</a:t>
            </a:r>
            <a:r>
              <a:rPr lang="fr-FR" sz="1600" dirty="0">
                <a:solidFill>
                  <a:prstClr val="black"/>
                </a:solidFill>
                <a:latin typeface="Century Schoolbook" panose="02040604050505020304" pitchFamily="18" charset="0"/>
                <a:cs typeface="Arial" pitchFamily="34" charset="0"/>
              </a:rPr>
              <a:t> sulfate, </a:t>
            </a:r>
            <a:r>
              <a:rPr lang="fr-FR" sz="1600" dirty="0" err="1">
                <a:solidFill>
                  <a:prstClr val="black"/>
                </a:solidFill>
                <a:latin typeface="Century Schoolbook" panose="02040604050505020304" pitchFamily="18" charset="0"/>
                <a:cs typeface="Arial" pitchFamily="34" charset="0"/>
              </a:rPr>
              <a:t>keratan</a:t>
            </a:r>
            <a:r>
              <a:rPr lang="fr-FR" sz="1600" dirty="0">
                <a:solidFill>
                  <a:prstClr val="black"/>
                </a:solidFill>
                <a:latin typeface="Century Schoolbook" panose="02040604050505020304" pitchFamily="18" charset="0"/>
                <a:cs typeface="Arial" pitchFamily="34" charset="0"/>
              </a:rPr>
              <a:t>, dermatane, </a:t>
            </a:r>
            <a:r>
              <a:rPr lang="fr-FR" sz="1600" dirty="0" err="1">
                <a:solidFill>
                  <a:prstClr val="black"/>
                </a:solidFill>
                <a:latin typeface="Century Schoolbook" panose="02040604050505020304" pitchFamily="18" charset="0"/>
                <a:cs typeface="Arial" pitchFamily="34" charset="0"/>
              </a:rPr>
              <a:t>chondroitin</a:t>
            </a:r>
            <a:r>
              <a:rPr lang="fr-FR" sz="1600" dirty="0">
                <a:solidFill>
                  <a:prstClr val="black"/>
                </a:solidFill>
                <a:latin typeface="Century Schoolbook" panose="02040604050505020304" pitchFamily="18" charset="0"/>
                <a:cs typeface="Arial" pitchFamily="34" charset="0"/>
              </a:rPr>
              <a:t> are </a:t>
            </a:r>
            <a:r>
              <a:rPr lang="fr-FR" sz="1600" dirty="0" err="1">
                <a:solidFill>
                  <a:prstClr val="black"/>
                </a:solidFill>
                <a:latin typeface="Century Schoolbook" panose="02040604050505020304" pitchFamily="18" charset="0"/>
                <a:cs typeface="Arial" pitchFamily="34" charset="0"/>
              </a:rPr>
              <a:t>attached</a:t>
            </a:r>
            <a:r>
              <a:rPr lang="fr-FR" sz="1600" dirty="0">
                <a:solidFill>
                  <a:prstClr val="black"/>
                </a:solidFill>
                <a:latin typeface="Century Schoolbook" panose="02040604050505020304" pitchFamily="18" charset="0"/>
                <a:cs typeface="Arial" pitchFamily="34" charset="0"/>
              </a:rPr>
              <a:t>, etc.</a:t>
            </a:r>
          </a:p>
          <a:p>
            <a:pPr algn="just"/>
            <a:r>
              <a:rPr lang="fr-FR" sz="1600" dirty="0">
                <a:solidFill>
                  <a:prstClr val="black"/>
                </a:solidFill>
                <a:latin typeface="Century Schoolbook" panose="02040604050505020304" pitchFamily="18" charset="0"/>
                <a:cs typeface="Arial" pitchFamily="34" charset="0"/>
              </a:rPr>
              <a:t>
(B) In the </a:t>
            </a:r>
            <a:r>
              <a:rPr lang="fr-FR" sz="1600" dirty="0" err="1">
                <a:solidFill>
                  <a:prstClr val="black"/>
                </a:solidFill>
                <a:latin typeface="Century Schoolbook" panose="02040604050505020304" pitchFamily="18" charset="0"/>
                <a:cs typeface="Arial" pitchFamily="34" charset="0"/>
              </a:rPr>
              <a:t>extracellular</a:t>
            </a:r>
            <a:r>
              <a:rPr lang="fr-FR" sz="1600" dirty="0">
                <a:solidFill>
                  <a:prstClr val="black"/>
                </a:solidFill>
                <a:latin typeface="Century Schoolbook" panose="02040604050505020304" pitchFamily="18" charset="0"/>
                <a:cs typeface="Arial" pitchFamily="34" charset="0"/>
              </a:rPr>
              <a:t> matrix, </a:t>
            </a:r>
            <a:r>
              <a:rPr lang="fr-FR" sz="1600" dirty="0" err="1">
                <a:solidFill>
                  <a:prstClr val="black"/>
                </a:solidFill>
                <a:latin typeface="Century Schoolbook" panose="02040604050505020304" pitchFamily="18" charset="0"/>
                <a:cs typeface="Arial" pitchFamily="34" charset="0"/>
              </a:rPr>
              <a:t>proteoglycans</a:t>
            </a:r>
            <a:r>
              <a:rPr lang="fr-FR" sz="1600" dirty="0">
                <a:solidFill>
                  <a:prstClr val="black"/>
                </a:solidFill>
                <a:latin typeface="Century Schoolbook" panose="02040604050505020304" pitchFamily="18" charset="0"/>
                <a:cs typeface="Arial" pitchFamily="34" charset="0"/>
              </a:rPr>
              <a:t> are </a:t>
            </a:r>
            <a:r>
              <a:rPr lang="fr-FR" sz="1600" dirty="0" err="1">
                <a:solidFill>
                  <a:prstClr val="black"/>
                </a:solidFill>
                <a:latin typeface="Century Schoolbook" panose="02040604050505020304" pitchFamily="18" charset="0"/>
                <a:cs typeface="Arial" pitchFamily="34" charset="0"/>
              </a:rPr>
              <a:t>united</a:t>
            </a:r>
            <a:r>
              <a:rPr lang="fr-FR" sz="1600" dirty="0">
                <a:solidFill>
                  <a:prstClr val="black"/>
                </a:solidFill>
                <a:latin typeface="Century Schoolbook" panose="02040604050505020304" pitchFamily="18" charset="0"/>
                <a:cs typeface="Arial" pitchFamily="34" charset="0"/>
              </a:rPr>
              <a:t> </a:t>
            </a:r>
            <a:r>
              <a:rPr lang="fr-FR" sz="1600" dirty="0" err="1">
                <a:solidFill>
                  <a:prstClr val="black"/>
                </a:solidFill>
                <a:latin typeface="Century Schoolbook" panose="02040604050505020304" pitchFamily="18" charset="0"/>
                <a:cs typeface="Arial" pitchFamily="34" charset="0"/>
              </a:rPr>
              <a:t>with</a:t>
            </a:r>
            <a:r>
              <a:rPr lang="fr-FR" sz="1600" dirty="0">
                <a:solidFill>
                  <a:prstClr val="black"/>
                </a:solidFill>
                <a:latin typeface="Century Schoolbook" panose="02040604050505020304" pitchFamily="18" charset="0"/>
                <a:cs typeface="Arial" pitchFamily="34" charset="0"/>
              </a:rPr>
              <a:t> a </a:t>
            </a:r>
            <a:r>
              <a:rPr lang="fr-FR" sz="1600" dirty="0" err="1">
                <a:solidFill>
                  <a:prstClr val="black"/>
                </a:solidFill>
                <a:latin typeface="Century Schoolbook" panose="02040604050505020304" pitchFamily="18" charset="0"/>
                <a:cs typeface="Arial" pitchFamily="34" charset="0"/>
              </a:rPr>
              <a:t>giant</a:t>
            </a:r>
            <a:r>
              <a:rPr lang="fr-FR" sz="1600" dirty="0">
                <a:solidFill>
                  <a:prstClr val="black"/>
                </a:solidFill>
                <a:latin typeface="Century Schoolbook" panose="02040604050505020304" pitchFamily="18" charset="0"/>
                <a:cs typeface="Arial" pitchFamily="34" charset="0"/>
              </a:rPr>
              <a:t> non-</a:t>
            </a:r>
            <a:r>
              <a:rPr lang="fr-FR" sz="1600" dirty="0" err="1">
                <a:solidFill>
                  <a:prstClr val="black"/>
                </a:solidFill>
                <a:latin typeface="Century Schoolbook" panose="02040604050505020304" pitchFamily="18" charset="0"/>
                <a:cs typeface="Arial" pitchFamily="34" charset="0"/>
              </a:rPr>
              <a:t>sulfated</a:t>
            </a:r>
            <a:r>
              <a:rPr lang="fr-FR" sz="1600" dirty="0">
                <a:solidFill>
                  <a:prstClr val="black"/>
                </a:solidFill>
                <a:latin typeface="Century Schoolbook" panose="02040604050505020304" pitchFamily="18" charset="0"/>
                <a:cs typeface="Arial" pitchFamily="34" charset="0"/>
              </a:rPr>
              <a:t> GAG,      </a:t>
            </a:r>
            <a:r>
              <a:rPr lang="fr-FR" sz="1600" dirty="0" err="1">
                <a:solidFill>
                  <a:prstClr val="black"/>
                </a:solidFill>
                <a:latin typeface="Century Schoolbook" panose="02040604050505020304" pitchFamily="18" charset="0"/>
                <a:cs typeface="Arial" pitchFamily="34" charset="0"/>
              </a:rPr>
              <a:t>hyaluronic</a:t>
            </a:r>
            <a:r>
              <a:rPr lang="fr-FR" sz="1600" dirty="0">
                <a:solidFill>
                  <a:prstClr val="black"/>
                </a:solidFill>
                <a:latin typeface="Century Schoolbook" panose="02040604050505020304" pitchFamily="18" charset="0"/>
                <a:cs typeface="Arial" pitchFamily="34" charset="0"/>
              </a:rPr>
              <a:t> </a:t>
            </a:r>
            <a:r>
              <a:rPr lang="fr-FR" sz="1600" dirty="0" err="1">
                <a:solidFill>
                  <a:prstClr val="black"/>
                </a:solidFill>
                <a:latin typeface="Century Schoolbook" panose="02040604050505020304" pitchFamily="18" charset="0"/>
                <a:cs typeface="Arial" pitchFamily="34" charset="0"/>
              </a:rPr>
              <a:t>acid</a:t>
            </a:r>
            <a:r>
              <a:rPr lang="fr-FR" sz="1600" dirty="0">
                <a:solidFill>
                  <a:prstClr val="black"/>
                </a:solidFill>
                <a:latin typeface="Century Schoolbook" panose="02040604050505020304" pitchFamily="18" charset="0"/>
                <a:cs typeface="Arial" pitchFamily="34" charset="0"/>
              </a:rPr>
              <a:t>.</a:t>
            </a:r>
          </a:p>
        </p:txBody>
      </p:sp>
      <p:sp>
        <p:nvSpPr>
          <p:cNvPr id="5" name="Rectangle 4"/>
          <p:cNvSpPr/>
          <p:nvPr/>
        </p:nvSpPr>
        <p:spPr>
          <a:xfrm>
            <a:off x="755576" y="1386823"/>
            <a:ext cx="7920880" cy="338554"/>
          </a:xfrm>
          <a:prstGeom prst="rect">
            <a:avLst/>
          </a:prstGeom>
        </p:spPr>
        <p:txBody>
          <a:bodyPr wrap="square">
            <a:spAutoFit/>
          </a:bodyPr>
          <a:lstStyle/>
          <a:p>
            <a:pPr algn="ctr"/>
            <a:r>
              <a:rPr lang="en-US" sz="1600" b="1" dirty="0">
                <a:solidFill>
                  <a:prstClr val="black"/>
                </a:solidFill>
                <a:latin typeface="Century Schoolbook" panose="02040604050505020304" pitchFamily="18" charset="0"/>
                <a:cs typeface="Arial" pitchFamily="34" charset="0"/>
              </a:rPr>
              <a:t>are formed by a protein core on which sulfated glycosaminoglycans bind.</a:t>
            </a:r>
            <a:endParaRPr lang="fr-FR" sz="1600" b="1" dirty="0">
              <a:solidFill>
                <a:prstClr val="black"/>
              </a:solidFill>
              <a:latin typeface="Century Schoolbook" panose="02040604050505020304" pitchFamily="18" charset="0"/>
              <a:cs typeface="Arial" pitchFamily="34" charset="0"/>
            </a:endParaRPr>
          </a:p>
        </p:txBody>
      </p:sp>
    </p:spTree>
    <p:extLst>
      <p:ext uri="{BB962C8B-B14F-4D97-AF65-F5344CB8AC3E}">
        <p14:creationId xmlns:p14="http://schemas.microsoft.com/office/powerpoint/2010/main" val="1603030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5536" y="274499"/>
            <a:ext cx="4464496" cy="1384995"/>
          </a:xfrm>
          <a:prstGeom prst="rect">
            <a:avLst/>
          </a:prstGeom>
        </p:spPr>
        <p:txBody>
          <a:bodyPr wrap="square">
            <a:spAutoFit/>
          </a:bodyPr>
          <a:lstStyle/>
          <a:p>
            <a:r>
              <a:rPr lang="fr-FR" sz="2800" b="1" dirty="0" err="1">
                <a:solidFill>
                  <a:prstClr val="black"/>
                </a:solidFill>
                <a:latin typeface="Century Schoolbook" panose="02040604050505020304" pitchFamily="18" charset="0"/>
                <a:cs typeface="Arial" pitchFamily="34" charset="0"/>
              </a:rPr>
              <a:t>Fibrous</a:t>
            </a:r>
            <a:r>
              <a:rPr lang="fr-FR" sz="2800" b="1" dirty="0">
                <a:solidFill>
                  <a:prstClr val="black"/>
                </a:solidFill>
                <a:latin typeface="Century Schoolbook" panose="02040604050505020304" pitchFamily="18" charset="0"/>
                <a:cs typeface="Arial" pitchFamily="34" charset="0"/>
              </a:rPr>
              <a:t> </a:t>
            </a:r>
            <a:r>
              <a:rPr lang="fr-FR" sz="2800" b="1" dirty="0" err="1">
                <a:solidFill>
                  <a:prstClr val="black"/>
                </a:solidFill>
                <a:latin typeface="Century Schoolbook" panose="02040604050505020304" pitchFamily="18" charset="0"/>
                <a:cs typeface="Arial" pitchFamily="34" charset="0"/>
              </a:rPr>
              <a:t>proteins</a:t>
            </a:r>
            <a:r>
              <a:rPr lang="fr-FR" sz="2800" b="1" dirty="0">
                <a:solidFill>
                  <a:prstClr val="black"/>
                </a:solidFill>
                <a:latin typeface="Century Schoolbook" panose="02040604050505020304" pitchFamily="18" charset="0"/>
                <a:cs typeface="Arial" pitchFamily="34" charset="0"/>
              </a:rPr>
              <a:t>:</a:t>
            </a:r>
          </a:p>
          <a:p>
            <a:r>
              <a:rPr lang="fr-FR" sz="2800" b="1" dirty="0">
                <a:solidFill>
                  <a:prstClr val="black"/>
                </a:solidFill>
                <a:latin typeface="Century Schoolbook" panose="02040604050505020304" pitchFamily="18" charset="0"/>
                <a:cs typeface="Arial" pitchFamily="34" charset="0"/>
              </a:rPr>
              <a:t>
       - </a:t>
            </a:r>
            <a:r>
              <a:rPr lang="fr-FR" sz="2400" b="1" dirty="0" err="1">
                <a:solidFill>
                  <a:prstClr val="black"/>
                </a:solidFill>
                <a:latin typeface="Century Schoolbook" panose="02040604050505020304" pitchFamily="18" charset="0"/>
                <a:cs typeface="Arial" pitchFamily="34" charset="0"/>
              </a:rPr>
              <a:t>Collagen</a:t>
            </a:r>
            <a:r>
              <a:rPr lang="fr-FR" sz="2400" b="1" dirty="0">
                <a:solidFill>
                  <a:prstClr val="black"/>
                </a:solidFill>
                <a:latin typeface="Century Schoolbook" panose="02040604050505020304" pitchFamily="18" charset="0"/>
                <a:cs typeface="Arial" pitchFamily="34" charset="0"/>
              </a:rPr>
              <a:t> </a:t>
            </a:r>
            <a:r>
              <a:rPr lang="fr-FR" sz="2400" b="1" dirty="0" err="1">
                <a:solidFill>
                  <a:prstClr val="black"/>
                </a:solidFill>
                <a:latin typeface="Century Schoolbook" panose="02040604050505020304" pitchFamily="18" charset="0"/>
                <a:cs typeface="Arial" pitchFamily="34" charset="0"/>
              </a:rPr>
              <a:t>fibers</a:t>
            </a:r>
            <a:endParaRPr lang="fr-FR" sz="2400" dirty="0">
              <a:solidFill>
                <a:prstClr val="black"/>
              </a:solidFill>
              <a:latin typeface="Century Schoolbook" panose="02040604050505020304" pitchFamily="18" charset="0"/>
            </a:endParaRPr>
          </a:p>
        </p:txBody>
      </p:sp>
      <p:pic>
        <p:nvPicPr>
          <p:cNvPr id="2050" name="Picture 2" descr="http://histoblog.viabloga.com/images/collagene_t.jpg"/>
          <p:cNvPicPr>
            <a:picLocks noChangeAspect="1" noChangeArrowheads="1"/>
          </p:cNvPicPr>
          <p:nvPr/>
        </p:nvPicPr>
        <p:blipFill>
          <a:blip r:embed="rId2"/>
          <a:srcRect t="17187"/>
          <a:stretch>
            <a:fillRect/>
          </a:stretch>
        </p:blipFill>
        <p:spPr bwMode="auto">
          <a:xfrm>
            <a:off x="3203848" y="1850379"/>
            <a:ext cx="5625743" cy="2802757"/>
          </a:xfrm>
          <a:prstGeom prst="rect">
            <a:avLst/>
          </a:prstGeom>
          <a:noFill/>
        </p:spPr>
      </p:pic>
      <p:sp>
        <p:nvSpPr>
          <p:cNvPr id="6" name="Rectangle 5"/>
          <p:cNvSpPr/>
          <p:nvPr/>
        </p:nvSpPr>
        <p:spPr>
          <a:xfrm>
            <a:off x="395536" y="4442417"/>
            <a:ext cx="8352928" cy="1863972"/>
          </a:xfrm>
          <a:prstGeom prst="rect">
            <a:avLst/>
          </a:prstGeom>
        </p:spPr>
        <p:txBody>
          <a:bodyPr wrap="square">
            <a:spAutoFit/>
          </a:bodyPr>
          <a:lstStyle/>
          <a:p>
            <a:pPr algn="just">
              <a:lnSpc>
                <a:spcPct val="95999"/>
              </a:lnSpc>
              <a:spcBef>
                <a:spcPts val="2295"/>
              </a:spcBef>
            </a:pPr>
            <a:r>
              <a:rPr lang="en-US" sz="1600" spc="-19" dirty="0">
                <a:solidFill>
                  <a:srgbClr val="000000"/>
                </a:solidFill>
                <a:latin typeface="Century Schoolbook" panose="02040604050505020304" pitchFamily="18" charset="0"/>
                <a:cs typeface="Arial" pitchFamily="34" charset="0"/>
              </a:rPr>
              <a:t>Collagen 25% human protein mass
Forms large fibers (500 nm in diameter and 1 to 10μm long) that are quite rigid, thanks to their particular AA compositions, which are very resistant to stretching.
1 amino acid out of 2 is a Glycine, a small aa that allows you to make angles (bends) that will stabilize the triple helix.</a:t>
            </a:r>
            <a:endParaRPr lang="fr-FR" sz="1600" spc="-11" dirty="0">
              <a:solidFill>
                <a:prstClr val="black"/>
              </a:solidFill>
              <a:latin typeface="Century Schoolbook" panose="02040604050505020304" pitchFamily="18" charset="0"/>
              <a:cs typeface="Arial" pitchFamily="34" charset="0"/>
            </a:endParaRPr>
          </a:p>
        </p:txBody>
      </p:sp>
    </p:spTree>
    <p:extLst>
      <p:ext uri="{BB962C8B-B14F-4D97-AF65-F5344CB8AC3E}">
        <p14:creationId xmlns:p14="http://schemas.microsoft.com/office/powerpoint/2010/main" val="2256872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9552" y="644182"/>
            <a:ext cx="2973891" cy="523220"/>
          </a:xfrm>
          <a:prstGeom prst="rect">
            <a:avLst/>
          </a:prstGeom>
        </p:spPr>
        <p:txBody>
          <a:bodyPr wrap="none">
            <a:spAutoFit/>
          </a:bodyPr>
          <a:lstStyle/>
          <a:p>
            <a:r>
              <a:rPr lang="fr-FR" sz="2800" b="1" dirty="0">
                <a:solidFill>
                  <a:prstClr val="black"/>
                </a:solidFill>
                <a:latin typeface="Century Schoolbook" panose="02040604050505020304" pitchFamily="18" charset="0"/>
                <a:cs typeface="Arial" pitchFamily="34" charset="0"/>
              </a:rPr>
              <a:t>-  </a:t>
            </a:r>
            <a:r>
              <a:rPr lang="fr-FR" sz="2800" b="1" dirty="0" err="1">
                <a:solidFill>
                  <a:prstClr val="black"/>
                </a:solidFill>
                <a:latin typeface="Century Schoolbook" panose="02040604050505020304" pitchFamily="18" charset="0"/>
                <a:cs typeface="Arial" pitchFamily="34" charset="0"/>
              </a:rPr>
              <a:t>Elastic</a:t>
            </a:r>
            <a:r>
              <a:rPr lang="fr-FR" sz="2800" b="1" dirty="0">
                <a:solidFill>
                  <a:prstClr val="black"/>
                </a:solidFill>
                <a:latin typeface="Century Schoolbook" panose="02040604050505020304" pitchFamily="18" charset="0"/>
                <a:cs typeface="Arial" pitchFamily="34" charset="0"/>
              </a:rPr>
              <a:t> </a:t>
            </a:r>
            <a:r>
              <a:rPr lang="fr-FR" sz="2800" b="1" dirty="0" err="1">
                <a:solidFill>
                  <a:prstClr val="black"/>
                </a:solidFill>
                <a:latin typeface="Century Schoolbook" panose="02040604050505020304" pitchFamily="18" charset="0"/>
                <a:cs typeface="Arial" pitchFamily="34" charset="0"/>
              </a:rPr>
              <a:t>fibers</a:t>
            </a:r>
            <a:endParaRPr lang="fr-FR" sz="2800" dirty="0">
              <a:solidFill>
                <a:prstClr val="black"/>
              </a:solidFill>
              <a:latin typeface="Century Schoolbook" panose="02040604050505020304" pitchFamily="18" charset="0"/>
            </a:endParaRPr>
          </a:p>
        </p:txBody>
      </p:sp>
      <p:pic>
        <p:nvPicPr>
          <p:cNvPr id="26626" name="Picture 2" descr="http://histoblog.viabloga.com/images/fibres_elastine_t.jpg"/>
          <p:cNvPicPr>
            <a:picLocks noChangeAspect="1" noChangeArrowheads="1"/>
          </p:cNvPicPr>
          <p:nvPr/>
        </p:nvPicPr>
        <p:blipFill>
          <a:blip r:embed="rId2"/>
          <a:srcRect l="12634" t="16327" r="13138" b="18367"/>
          <a:stretch>
            <a:fillRect/>
          </a:stretch>
        </p:blipFill>
        <p:spPr bwMode="auto">
          <a:xfrm>
            <a:off x="2605101" y="1497979"/>
            <a:ext cx="3053975" cy="2651101"/>
          </a:xfrm>
          <a:prstGeom prst="rect">
            <a:avLst/>
          </a:prstGeom>
          <a:noFill/>
        </p:spPr>
      </p:pic>
      <p:pic>
        <p:nvPicPr>
          <p:cNvPr id="26628" name="Picture 4" descr="Croquis du derme papillaire"/>
          <p:cNvPicPr>
            <a:picLocks noChangeAspect="1" noChangeArrowheads="1"/>
          </p:cNvPicPr>
          <p:nvPr/>
        </p:nvPicPr>
        <p:blipFill>
          <a:blip r:embed="rId3"/>
          <a:srcRect/>
          <a:stretch>
            <a:fillRect/>
          </a:stretch>
        </p:blipFill>
        <p:spPr bwMode="auto">
          <a:xfrm>
            <a:off x="5873390" y="1682528"/>
            <a:ext cx="2857500" cy="2583311"/>
          </a:xfrm>
          <a:prstGeom prst="rect">
            <a:avLst/>
          </a:prstGeom>
          <a:noFill/>
        </p:spPr>
      </p:pic>
      <p:sp>
        <p:nvSpPr>
          <p:cNvPr id="6" name="Rectangle 5"/>
          <p:cNvSpPr/>
          <p:nvPr/>
        </p:nvSpPr>
        <p:spPr>
          <a:xfrm>
            <a:off x="266878" y="4558648"/>
            <a:ext cx="8442663" cy="1510413"/>
          </a:xfrm>
          <a:prstGeom prst="rect">
            <a:avLst/>
          </a:prstGeom>
        </p:spPr>
        <p:txBody>
          <a:bodyPr wrap="square">
            <a:spAutoFit/>
          </a:bodyPr>
          <a:lstStyle/>
          <a:p>
            <a:pPr marL="34290" algn="just">
              <a:lnSpc>
                <a:spcPct val="95999"/>
              </a:lnSpc>
            </a:pPr>
            <a:r>
              <a:rPr lang="en-US" sz="1600" spc="-15" dirty="0">
                <a:solidFill>
                  <a:srgbClr val="000000"/>
                </a:solidFill>
                <a:latin typeface="Century Schoolbook" panose="02040604050505020304" pitchFamily="18" charset="0"/>
                <a:cs typeface="Arial" pitchFamily="34" charset="0"/>
              </a:rPr>
              <a:t>Connective tissues that need elasticity (e.g. dermis, vessels, lungs, etc.).
Collagen fibers are mixed with elastic fibers. The whole gives elasticity and prevents breakage.</a:t>
            </a:r>
          </a:p>
          <a:p>
            <a:pPr marL="34290" algn="just">
              <a:lnSpc>
                <a:spcPct val="95999"/>
              </a:lnSpc>
            </a:pPr>
            <a:r>
              <a:rPr lang="en-US" sz="1600" spc="-23" dirty="0">
                <a:solidFill>
                  <a:srgbClr val="000000"/>
                </a:solidFill>
                <a:latin typeface="Century Schoolbook" panose="02040604050505020304" pitchFamily="18" charset="0"/>
                <a:cs typeface="Arial" pitchFamily="34" charset="0"/>
              </a:rPr>
              <a:t>Elastic fibers feature an elastin core, which is a fibrous protein resembling a polypeptide collagen chain, rich in Proline.</a:t>
            </a:r>
          </a:p>
          <a:p>
            <a:pPr marL="34290" algn="just">
              <a:lnSpc>
                <a:spcPct val="95999"/>
              </a:lnSpc>
            </a:pPr>
            <a:endParaRPr lang="fr-FR" sz="1600" spc="-23" dirty="0">
              <a:solidFill>
                <a:srgbClr val="000000"/>
              </a:solidFill>
              <a:latin typeface="Century Schoolbook" panose="02040604050505020304" pitchFamily="18" charset="0"/>
              <a:cs typeface="Arial" pitchFamily="34" charset="0"/>
            </a:endParaRPr>
          </a:p>
        </p:txBody>
      </p:sp>
    </p:spTree>
    <p:extLst>
      <p:ext uri="{BB962C8B-B14F-4D97-AF65-F5344CB8AC3E}">
        <p14:creationId xmlns:p14="http://schemas.microsoft.com/office/powerpoint/2010/main" val="27683303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11560" y="367014"/>
            <a:ext cx="3183885" cy="584775"/>
          </a:xfrm>
          <a:prstGeom prst="rect">
            <a:avLst/>
          </a:prstGeom>
        </p:spPr>
        <p:txBody>
          <a:bodyPr wrap="none">
            <a:spAutoFit/>
          </a:bodyPr>
          <a:lstStyle/>
          <a:p>
            <a:r>
              <a:rPr lang="fr-FR" sz="3200" b="1" dirty="0" err="1">
                <a:solidFill>
                  <a:prstClr val="black"/>
                </a:solidFill>
                <a:latin typeface="Century Schoolbook" panose="02040604050505020304" pitchFamily="18" charset="0"/>
                <a:cs typeface="Arial" pitchFamily="34" charset="0"/>
              </a:rPr>
              <a:t>Glycoproteins</a:t>
            </a:r>
            <a:endParaRPr lang="fr-FR" sz="3200" b="1" dirty="0">
              <a:solidFill>
                <a:prstClr val="black"/>
              </a:solidFill>
              <a:latin typeface="Century Schoolbook" panose="02040604050505020304" pitchFamily="18" charset="0"/>
              <a:cs typeface="Arial" pitchFamily="34" charset="0"/>
            </a:endParaRPr>
          </a:p>
        </p:txBody>
      </p:sp>
      <p:pic>
        <p:nvPicPr>
          <p:cNvPr id="4" name="Image.jpg"/>
          <p:cNvPicPr/>
          <p:nvPr/>
        </p:nvPicPr>
        <p:blipFill>
          <a:blip r:embed="rId2"/>
          <a:stretch>
            <a:fillRect/>
          </a:stretch>
        </p:blipFill>
        <p:spPr>
          <a:xfrm>
            <a:off x="3707904" y="951789"/>
            <a:ext cx="3589760" cy="2659232"/>
          </a:xfrm>
          <a:prstGeom prst="rect">
            <a:avLst/>
          </a:prstGeom>
        </p:spPr>
      </p:pic>
      <p:sp>
        <p:nvSpPr>
          <p:cNvPr id="5" name="Rectangle 4"/>
          <p:cNvSpPr/>
          <p:nvPr/>
        </p:nvSpPr>
        <p:spPr>
          <a:xfrm>
            <a:off x="1297582" y="1165229"/>
            <a:ext cx="2072940" cy="461665"/>
          </a:xfrm>
          <a:prstGeom prst="rect">
            <a:avLst/>
          </a:prstGeom>
        </p:spPr>
        <p:txBody>
          <a:bodyPr wrap="none">
            <a:spAutoFit/>
          </a:bodyPr>
          <a:lstStyle/>
          <a:p>
            <a:r>
              <a:rPr lang="fr-FR" sz="2400" b="1" spc="-8" dirty="0" err="1">
                <a:solidFill>
                  <a:srgbClr val="040404"/>
                </a:solidFill>
                <a:latin typeface="Century Schoolbook" panose="02040604050505020304" pitchFamily="18" charset="0"/>
              </a:rPr>
              <a:t>Fibronectin</a:t>
            </a:r>
            <a:endParaRPr lang="fr-FR" sz="2400" b="1" dirty="0">
              <a:solidFill>
                <a:prstClr val="black"/>
              </a:solidFill>
              <a:latin typeface="Century Schoolbook" panose="02040604050505020304" pitchFamily="18" charset="0"/>
            </a:endParaRPr>
          </a:p>
        </p:txBody>
      </p:sp>
      <p:sp>
        <p:nvSpPr>
          <p:cNvPr id="6" name="Rectangle 5"/>
          <p:cNvSpPr/>
          <p:nvPr/>
        </p:nvSpPr>
        <p:spPr>
          <a:xfrm>
            <a:off x="179512" y="3933056"/>
            <a:ext cx="8784976" cy="2488758"/>
          </a:xfrm>
          <a:prstGeom prst="rect">
            <a:avLst/>
          </a:prstGeom>
        </p:spPr>
        <p:txBody>
          <a:bodyPr wrap="square">
            <a:spAutoFit/>
          </a:bodyPr>
          <a:lstStyle/>
          <a:p>
            <a:pPr marL="85725" marR="205740" algn="just">
              <a:lnSpc>
                <a:spcPct val="95999"/>
              </a:lnSpc>
              <a:spcBef>
                <a:spcPts val="270"/>
              </a:spcBef>
            </a:pPr>
            <a:r>
              <a:rPr lang="en-US" sz="1600" spc="-4" dirty="0">
                <a:solidFill>
                  <a:srgbClr val="040404"/>
                </a:solidFill>
                <a:latin typeface="Century Schoolbook" panose="02040604050505020304" pitchFamily="18" charset="0"/>
              </a:rPr>
              <a:t>It is a dimer of 2 subunits linked by a disulfide bridge, it is proteins with domains i.e. they have specific binding sites for different macromolecules.
</a:t>
            </a:r>
          </a:p>
          <a:p>
            <a:pPr marL="85725" marR="205740" algn="just">
              <a:lnSpc>
                <a:spcPct val="95999"/>
              </a:lnSpc>
              <a:spcBef>
                <a:spcPts val="270"/>
              </a:spcBef>
            </a:pPr>
            <a:r>
              <a:rPr lang="en-US" sz="1600" spc="-4" dirty="0">
                <a:solidFill>
                  <a:srgbClr val="040404"/>
                </a:solidFill>
                <a:latin typeface="Century Schoolbook" panose="02040604050505020304" pitchFamily="18" charset="0"/>
              </a:rPr>
              <a:t>It contains several membership sites:</a:t>
            </a:r>
          </a:p>
          <a:p>
            <a:pPr marL="85725" marR="205740" algn="just">
              <a:lnSpc>
                <a:spcPct val="95999"/>
              </a:lnSpc>
              <a:spcBef>
                <a:spcPts val="270"/>
              </a:spcBef>
            </a:pPr>
            <a:r>
              <a:rPr lang="en-US" sz="1600" spc="-4" dirty="0">
                <a:solidFill>
                  <a:srgbClr val="040404"/>
                </a:solidFill>
                <a:latin typeface="Century Schoolbook" panose="02040604050505020304" pitchFamily="18" charset="0"/>
              </a:rPr>
              <a:t>
To cells (RGD)</a:t>
            </a:r>
          </a:p>
          <a:p>
            <a:pPr marL="85725" marR="205740" algn="just">
              <a:lnSpc>
                <a:spcPct val="95999"/>
              </a:lnSpc>
              <a:spcBef>
                <a:spcPts val="270"/>
              </a:spcBef>
            </a:pPr>
            <a:endParaRPr lang="en-US" sz="1600" spc="-4" dirty="0">
              <a:solidFill>
                <a:srgbClr val="040404"/>
              </a:solidFill>
              <a:latin typeface="Century Schoolbook" panose="02040604050505020304" pitchFamily="18" charset="0"/>
            </a:endParaRPr>
          </a:p>
          <a:p>
            <a:pPr marL="85725" marR="205740" algn="just">
              <a:lnSpc>
                <a:spcPct val="95999"/>
              </a:lnSpc>
              <a:spcBef>
                <a:spcPts val="270"/>
              </a:spcBef>
            </a:pPr>
            <a:r>
              <a:rPr lang="en-US" sz="1600" spc="-4" dirty="0">
                <a:solidFill>
                  <a:srgbClr val="040404"/>
                </a:solidFill>
                <a:latin typeface="Century Schoolbook" panose="02040604050505020304" pitchFamily="18" charset="0"/>
              </a:rPr>
              <a:t>To other molecules of the extracellular matrix (collagen, heparin, fibrin, etc.)
</a:t>
            </a:r>
            <a:endParaRPr lang="fr-FR" sz="1600" dirty="0">
              <a:solidFill>
                <a:srgbClr val="040404"/>
              </a:solidFill>
              <a:latin typeface="Century Schoolbook" panose="02040604050505020304" pitchFamily="18" charset="0"/>
            </a:endParaRPr>
          </a:p>
        </p:txBody>
      </p:sp>
      <p:pic>
        <p:nvPicPr>
          <p:cNvPr id="7" name="Image.jpg"/>
          <p:cNvPicPr/>
          <p:nvPr/>
        </p:nvPicPr>
        <p:blipFill>
          <a:blip r:embed="rId3"/>
          <a:srcRect l="59805" r="17232" b="11553"/>
          <a:stretch>
            <a:fillRect/>
          </a:stretch>
        </p:blipFill>
        <p:spPr>
          <a:xfrm>
            <a:off x="7393199" y="658693"/>
            <a:ext cx="1500198" cy="2978636"/>
          </a:xfrm>
          <a:prstGeom prst="rect">
            <a:avLst/>
          </a:prstGeom>
        </p:spPr>
      </p:pic>
    </p:spTree>
    <p:extLst>
      <p:ext uri="{BB962C8B-B14F-4D97-AF65-F5344CB8AC3E}">
        <p14:creationId xmlns:p14="http://schemas.microsoft.com/office/powerpoint/2010/main" val="11316767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3568" y="476435"/>
            <a:ext cx="2228495" cy="584775"/>
          </a:xfrm>
          <a:prstGeom prst="rect">
            <a:avLst/>
          </a:prstGeom>
        </p:spPr>
        <p:txBody>
          <a:bodyPr wrap="none">
            <a:spAutoFit/>
          </a:bodyPr>
          <a:lstStyle/>
          <a:p>
            <a:r>
              <a:rPr lang="fr-FR" sz="3200" b="1" dirty="0">
                <a:solidFill>
                  <a:prstClr val="black"/>
                </a:solidFill>
                <a:latin typeface="Century Schoolbook" panose="02040604050505020304" pitchFamily="18" charset="0"/>
                <a:cs typeface="Arial" pitchFamily="34" charset="0"/>
              </a:rPr>
              <a:t>Laminine</a:t>
            </a:r>
          </a:p>
        </p:txBody>
      </p:sp>
      <p:pic>
        <p:nvPicPr>
          <p:cNvPr id="29698" name="Picture 2" descr="http://www.ulysse.u-bordeaux.fr/atelier/ikramer/biocell_diffusion/gbb.cel.fa.103.b3/content/images/fig19.jpg"/>
          <p:cNvPicPr>
            <a:picLocks noChangeAspect="1" noChangeArrowheads="1"/>
          </p:cNvPicPr>
          <p:nvPr/>
        </p:nvPicPr>
        <p:blipFill>
          <a:blip r:embed="rId2"/>
          <a:srcRect/>
          <a:stretch>
            <a:fillRect/>
          </a:stretch>
        </p:blipFill>
        <p:spPr bwMode="auto">
          <a:xfrm>
            <a:off x="2032833" y="1484784"/>
            <a:ext cx="7128792" cy="2946799"/>
          </a:xfrm>
          <a:prstGeom prst="rect">
            <a:avLst/>
          </a:prstGeom>
          <a:noFill/>
        </p:spPr>
      </p:pic>
      <p:sp>
        <p:nvSpPr>
          <p:cNvPr id="29699" name="Rectangle 3"/>
          <p:cNvSpPr>
            <a:spLocks noChangeArrowheads="1"/>
          </p:cNvSpPr>
          <p:nvPr/>
        </p:nvSpPr>
        <p:spPr bwMode="auto">
          <a:xfrm rot="10800000" flipV="1">
            <a:off x="323528" y="4732545"/>
            <a:ext cx="8640960" cy="1792798"/>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spAutoFit/>
          </a:bodyPr>
          <a:lstStyle/>
          <a:p>
            <a:pPr algn="just" fontAlgn="base">
              <a:spcBef>
                <a:spcPct val="0"/>
              </a:spcBef>
              <a:spcAft>
                <a:spcPct val="0"/>
              </a:spcAft>
            </a:pPr>
            <a:r>
              <a:rPr lang="en-US" sz="1600" dirty="0">
                <a:solidFill>
                  <a:prstClr val="black"/>
                </a:solidFill>
                <a:latin typeface="Century Schoolbook" panose="02040604050505020304" pitchFamily="18" charset="0"/>
                <a:cs typeface="Arial" charset="0"/>
              </a:rPr>
              <a:t>Laminin is a large, flexible protein complex consisting of three polypeptide chains.</a:t>
            </a:r>
          </a:p>
          <a:p>
            <a:pPr algn="just" fontAlgn="base">
              <a:spcBef>
                <a:spcPct val="0"/>
              </a:spcBef>
              <a:spcAft>
                <a:spcPct val="0"/>
              </a:spcAft>
            </a:pPr>
            <a:endParaRPr lang="en-US" sz="1600" dirty="0">
              <a:solidFill>
                <a:prstClr val="black"/>
              </a:solidFill>
              <a:latin typeface="Century Schoolbook" panose="02040604050505020304" pitchFamily="18" charset="0"/>
              <a:cs typeface="Arial" charset="0"/>
            </a:endParaRPr>
          </a:p>
          <a:p>
            <a:pPr algn="just" fontAlgn="base">
              <a:spcBef>
                <a:spcPct val="0"/>
              </a:spcBef>
              <a:spcAft>
                <a:spcPct val="0"/>
              </a:spcAft>
            </a:pPr>
            <a:r>
              <a:rPr lang="en-US" sz="1600" dirty="0">
                <a:solidFill>
                  <a:prstClr val="black"/>
                </a:solidFill>
                <a:latin typeface="Century Schoolbook" panose="02040604050505020304" pitchFamily="18" charset="0"/>
                <a:cs typeface="Arial" charset="0"/>
              </a:rPr>
              <a:t>The three chains form an asymmetric cross with several sites of interaction with cells (via integrins) and with the other components of the extracellular matrix (type IV collagen and heparan sulfate).</a:t>
            </a:r>
          </a:p>
          <a:p>
            <a:pPr algn="just" fontAlgn="base">
              <a:spcBef>
                <a:spcPct val="0"/>
              </a:spcBef>
              <a:spcAft>
                <a:spcPct val="0"/>
              </a:spcAft>
            </a:pPr>
            <a:r>
              <a:rPr lang="en-US" sz="1600" dirty="0">
                <a:solidFill>
                  <a:prstClr val="black"/>
                </a:solidFill>
                <a:latin typeface="Century Schoolbook" panose="02040604050505020304" pitchFamily="18" charset="0"/>
                <a:cs typeface="Arial" charset="0"/>
              </a:rPr>
              <a:t>
Laminin is the essential constituent of the basal laminae.</a:t>
            </a:r>
            <a:endParaRPr lang="fr-FR" sz="1600" dirty="0">
              <a:solidFill>
                <a:prstClr val="black"/>
              </a:solidFill>
              <a:latin typeface="Century Schoolbook" panose="02040604050505020304" pitchFamily="18" charset="0"/>
              <a:cs typeface="Arial" charset="0"/>
            </a:endParaRPr>
          </a:p>
        </p:txBody>
      </p:sp>
    </p:spTree>
    <p:extLst>
      <p:ext uri="{BB962C8B-B14F-4D97-AF65-F5344CB8AC3E}">
        <p14:creationId xmlns:p14="http://schemas.microsoft.com/office/powerpoint/2010/main" val="3228131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260648"/>
            <a:ext cx="3714158" cy="584775"/>
          </a:xfrm>
          <a:prstGeom prst="rect">
            <a:avLst/>
          </a:prstGeom>
        </p:spPr>
        <p:txBody>
          <a:bodyPr wrap="none">
            <a:spAutoFit/>
          </a:bodyPr>
          <a:lstStyle/>
          <a:p>
            <a:r>
              <a:rPr lang="fr-FR" sz="3200" b="1" spc="30" dirty="0">
                <a:solidFill>
                  <a:srgbClr val="000000"/>
                </a:solidFill>
                <a:latin typeface="Century Schoolbook" panose="02040604050505020304" pitchFamily="18" charset="0"/>
              </a:rPr>
              <a:t>BASAL BLADES</a:t>
            </a:r>
            <a:endParaRPr lang="fr-FR" sz="3200" dirty="0">
              <a:solidFill>
                <a:prstClr val="black"/>
              </a:solidFill>
              <a:latin typeface="Century Schoolbook" panose="02040604050505020304" pitchFamily="18" charset="0"/>
            </a:endParaRPr>
          </a:p>
        </p:txBody>
      </p:sp>
      <p:pic>
        <p:nvPicPr>
          <p:cNvPr id="30722" name="Picture 2" descr="http://www.ulysse.u-bordeaux.fr/atelier/ikramer/biocell_diffusion/gbb.cel.fa.103.b3/content/images/fig20.jpg"/>
          <p:cNvPicPr>
            <a:picLocks noChangeAspect="1" noChangeArrowheads="1"/>
          </p:cNvPicPr>
          <p:nvPr/>
        </p:nvPicPr>
        <p:blipFill>
          <a:blip r:embed="rId2"/>
          <a:srcRect/>
          <a:stretch>
            <a:fillRect/>
          </a:stretch>
        </p:blipFill>
        <p:spPr bwMode="auto">
          <a:xfrm>
            <a:off x="971600" y="1340768"/>
            <a:ext cx="7398763" cy="2664296"/>
          </a:xfrm>
          <a:prstGeom prst="rect">
            <a:avLst/>
          </a:prstGeom>
          <a:noFill/>
        </p:spPr>
      </p:pic>
      <p:sp>
        <p:nvSpPr>
          <p:cNvPr id="30723" name="Rectangle 3"/>
          <p:cNvSpPr>
            <a:spLocks noChangeArrowheads="1"/>
          </p:cNvSpPr>
          <p:nvPr/>
        </p:nvSpPr>
        <p:spPr bwMode="auto">
          <a:xfrm>
            <a:off x="234232" y="4240103"/>
            <a:ext cx="8586240" cy="2285241"/>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spAutoFit/>
          </a:bodyPr>
          <a:lstStyle/>
          <a:p>
            <a:pPr algn="just" fontAlgn="base">
              <a:spcBef>
                <a:spcPct val="0"/>
              </a:spcBef>
              <a:spcAft>
                <a:spcPct val="0"/>
              </a:spcAft>
            </a:pPr>
            <a:r>
              <a:rPr lang="en-US" sz="1600" dirty="0">
                <a:solidFill>
                  <a:prstClr val="black"/>
                </a:solidFill>
                <a:latin typeface="Century Schoolbook" panose="02040604050505020304" pitchFamily="18" charset="0"/>
                <a:cs typeface="Arial" charset="0"/>
              </a:rPr>
              <a:t>In some tissues, the extracellular matrix forms a thin, compact and resistant layer "the basal lamina". </a:t>
            </a:r>
          </a:p>
          <a:p>
            <a:pPr algn="just" fontAlgn="base">
              <a:spcBef>
                <a:spcPct val="0"/>
              </a:spcBef>
              <a:spcAft>
                <a:spcPct val="0"/>
              </a:spcAft>
            </a:pPr>
            <a:r>
              <a:rPr lang="en-US" sz="1600" dirty="0">
                <a:solidFill>
                  <a:prstClr val="black"/>
                </a:solidFill>
                <a:latin typeface="Century Schoolbook" panose="02040604050505020304" pitchFamily="18" charset="0"/>
                <a:cs typeface="Arial" charset="0"/>
              </a:rPr>
              <a:t>It is found at the base of all epithelial and endothelial sheets, it surrounds muscle cells, fat cells, Schwann cells (which form the myelin sheath surrounding the axons of peripheral nerve cells). </a:t>
            </a:r>
          </a:p>
          <a:p>
            <a:pPr algn="just" fontAlgn="base">
              <a:spcBef>
                <a:spcPct val="0"/>
              </a:spcBef>
              <a:spcAft>
                <a:spcPct val="0"/>
              </a:spcAft>
            </a:pPr>
            <a:r>
              <a:rPr lang="en-US" sz="1600" dirty="0">
                <a:solidFill>
                  <a:prstClr val="black"/>
                </a:solidFill>
                <a:latin typeface="Century Schoolbook" panose="02040604050505020304" pitchFamily="18" charset="0"/>
                <a:cs typeface="Arial" charset="0"/>
              </a:rPr>
              <a:t>The basal lamina serves as a molecular filter. </a:t>
            </a:r>
          </a:p>
          <a:p>
            <a:pPr algn="just" fontAlgn="base">
              <a:spcBef>
                <a:spcPct val="0"/>
              </a:spcBef>
              <a:spcAft>
                <a:spcPct val="0"/>
              </a:spcAft>
            </a:pPr>
            <a:r>
              <a:rPr lang="en-US" sz="1600" dirty="0">
                <a:solidFill>
                  <a:prstClr val="black"/>
                </a:solidFill>
                <a:latin typeface="Century Schoolbook" panose="02040604050505020304" pitchFamily="18" charset="0"/>
                <a:cs typeface="Arial" charset="0"/>
              </a:rPr>
              <a:t>The basal lamina is produced by the cells that then lean on it. </a:t>
            </a:r>
          </a:p>
          <a:p>
            <a:pPr algn="just" fontAlgn="base">
              <a:spcBef>
                <a:spcPct val="0"/>
              </a:spcBef>
              <a:spcAft>
                <a:spcPct val="0"/>
              </a:spcAft>
            </a:pPr>
            <a:r>
              <a:rPr lang="en-US" sz="1600" dirty="0">
                <a:solidFill>
                  <a:prstClr val="black"/>
                </a:solidFill>
                <a:latin typeface="Century Schoolbook" panose="02040604050505020304" pitchFamily="18" charset="0"/>
                <a:cs typeface="Arial" charset="0"/>
              </a:rPr>
              <a:t>It consists of type IV collagen, laminin and proteoglycans
It is involved in glomerular filtration.</a:t>
            </a:r>
            <a:endParaRPr lang="fr-FR" sz="1600" dirty="0">
              <a:solidFill>
                <a:prstClr val="black"/>
              </a:solidFill>
              <a:latin typeface="Century Schoolbook" panose="02040604050505020304" pitchFamily="18" charset="0"/>
              <a:cs typeface="Arial" charset="0"/>
            </a:endParaRPr>
          </a:p>
        </p:txBody>
      </p:sp>
    </p:spTree>
    <p:extLst>
      <p:ext uri="{BB962C8B-B14F-4D97-AF65-F5344CB8AC3E}">
        <p14:creationId xmlns:p14="http://schemas.microsoft.com/office/powerpoint/2010/main" val="2043565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29"/>
          <p:cNvSpPr txBox="1">
            <a:spLocks/>
          </p:cNvSpPr>
          <p:nvPr/>
        </p:nvSpPr>
        <p:spPr>
          <a:xfrm>
            <a:off x="1187624" y="0"/>
            <a:ext cx="6357982" cy="618490"/>
          </a:xfrm>
          <a:prstGeom prst="rect">
            <a:avLst/>
          </a:prstGeom>
          <a:noFill/>
          <a:ln w="0" cmpd="sng">
            <a:noFill/>
            <a:prstDash val="solid"/>
          </a:ln>
        </p:spPr>
        <p:txBody>
          <a:bodyPr vert="horz" lIns="0" tIns="205740" rIns="0" bIns="0" rtlCol="0" anchor="t"/>
          <a:lstStyle/>
          <a:p>
            <a:pPr lvl="0" algn="ctr">
              <a:lnSpc>
                <a:spcPct val="95999"/>
              </a:lnSpc>
              <a:spcAft>
                <a:spcPts val="1080"/>
              </a:spcAft>
              <a:defRPr/>
            </a:pPr>
            <a:r>
              <a:rPr lang="fr-FR" sz="2800" b="1" spc="-10">
                <a:solidFill>
                  <a:srgbClr val="33339A"/>
                </a:solidFill>
                <a:latin typeface="Arial" pitchFamily="34" charset="0"/>
                <a:cs typeface="Arial" pitchFamily="34" charset="0"/>
              </a:rPr>
              <a:t>CELL JUNCTIONS</a:t>
            </a:r>
            <a:endParaRPr kumimoji="0" lang="fr-FR" sz="2800" b="1" i="0" u="none" strike="noStrike" kern="1200" cap="none" spc="-10" normalizeH="0" baseline="0" noProof="0" dirty="0">
              <a:ln>
                <a:noFill/>
              </a:ln>
              <a:solidFill>
                <a:srgbClr val="33339A"/>
              </a:solidFill>
              <a:effectLst/>
              <a:uLnTx/>
              <a:uFillTx/>
              <a:latin typeface="Arial" pitchFamily="34" charset="0"/>
              <a:cs typeface="Arial" pitchFamily="34" charset="0"/>
            </a:endParaRPr>
          </a:p>
        </p:txBody>
      </p:sp>
      <p:pic>
        <p:nvPicPr>
          <p:cNvPr id="4" name="Image 3"/>
          <p:cNvPicPr>
            <a:picLocks noChangeAspect="1"/>
          </p:cNvPicPr>
          <p:nvPr/>
        </p:nvPicPr>
        <p:blipFill>
          <a:blip r:embed="rId2"/>
          <a:stretch>
            <a:fillRect/>
          </a:stretch>
        </p:blipFill>
        <p:spPr>
          <a:xfrm>
            <a:off x="349482" y="1772816"/>
            <a:ext cx="8431773" cy="3034224"/>
          </a:xfrm>
          <a:prstGeom prst="rect">
            <a:avLst/>
          </a:prstGeom>
        </p:spPr>
      </p:pic>
      <p:sp>
        <p:nvSpPr>
          <p:cNvPr id="6" name="ZoneTexte 5">
            <a:extLst>
              <a:ext uri="{FF2B5EF4-FFF2-40B4-BE49-F238E27FC236}">
                <a16:creationId xmlns:a16="http://schemas.microsoft.com/office/drawing/2014/main" xmlns="" id="{8B83639D-4F75-17AC-3C79-18A77AABA9F5}"/>
              </a:ext>
            </a:extLst>
          </p:cNvPr>
          <p:cNvSpPr txBox="1"/>
          <p:nvPr/>
        </p:nvSpPr>
        <p:spPr>
          <a:xfrm>
            <a:off x="153557" y="4679265"/>
            <a:ext cx="8640960" cy="2062103"/>
          </a:xfrm>
          <a:prstGeom prst="rect">
            <a:avLst/>
          </a:prstGeom>
          <a:noFill/>
        </p:spPr>
        <p:txBody>
          <a:bodyPr wrap="square">
            <a:spAutoFit/>
          </a:bodyPr>
          <a:lstStyle/>
          <a:p>
            <a:pPr lvl="0" algn="just">
              <a:defRPr/>
            </a:pPr>
            <a:r>
              <a:rPr lang="en-US" sz="1600" spc="-35" dirty="0">
                <a:solidFill>
                  <a:srgbClr val="000000"/>
                </a:solidFill>
                <a:latin typeface="Century Schoolbook" panose="02040604050505020304" pitchFamily="18" charset="0"/>
                <a:cs typeface="Arial" pitchFamily="34" charset="0"/>
              </a:rPr>
              <a:t>
There are five common types in animal cells:</a:t>
            </a:r>
          </a:p>
          <a:p>
            <a:pPr lvl="0" algn="just">
              <a:defRPr/>
            </a:pPr>
            <a:r>
              <a:rPr lang="en-US" sz="1600" spc="-35" dirty="0">
                <a:solidFill>
                  <a:srgbClr val="000000"/>
                </a:solidFill>
                <a:latin typeface="Century Schoolbook" panose="02040604050505020304" pitchFamily="18" charset="0"/>
                <a:cs typeface="Arial" pitchFamily="34" charset="0"/>
              </a:rPr>
              <a:t>
Tight/Tight Junction
Adhesive / anchor junction
Les  Desmosomes
Gap/communicating junction
Hemidesmosomes</a:t>
            </a:r>
            <a:endParaRPr kumimoji="0" lang="fr-FR" sz="1600" b="1" i="0" u="none" strike="noStrike" kern="1200" cap="none" spc="-10" normalizeH="0" baseline="0" noProof="0" dirty="0">
              <a:ln>
                <a:noFill/>
              </a:ln>
              <a:effectLst/>
              <a:uLnTx/>
              <a:uFillTx/>
              <a:latin typeface="Century Schoolbook" panose="02040604050505020304" pitchFamily="18" charset="0"/>
              <a:cs typeface="Arial" pitchFamily="34" charset="0"/>
            </a:endParaRPr>
          </a:p>
        </p:txBody>
      </p:sp>
      <p:sp>
        <p:nvSpPr>
          <p:cNvPr id="8" name="ZoneTexte 7">
            <a:extLst>
              <a:ext uri="{FF2B5EF4-FFF2-40B4-BE49-F238E27FC236}">
                <a16:creationId xmlns:a16="http://schemas.microsoft.com/office/drawing/2014/main" xmlns="" id="{EF1FC7A7-EF48-AA4A-2302-CDC2A836D9CF}"/>
              </a:ext>
            </a:extLst>
          </p:cNvPr>
          <p:cNvSpPr txBox="1"/>
          <p:nvPr/>
        </p:nvSpPr>
        <p:spPr>
          <a:xfrm>
            <a:off x="140296" y="888166"/>
            <a:ext cx="8640960" cy="830997"/>
          </a:xfrm>
          <a:prstGeom prst="rect">
            <a:avLst/>
          </a:prstGeom>
          <a:noFill/>
        </p:spPr>
        <p:txBody>
          <a:bodyPr wrap="square">
            <a:spAutoFit/>
          </a:bodyPr>
          <a:lstStyle/>
          <a:p>
            <a:pPr algn="just"/>
            <a:r>
              <a:rPr lang="en-US" sz="1600" dirty="0">
                <a:latin typeface="Century Schoolbook" panose="02040604050505020304" pitchFamily="18" charset="0"/>
              </a:rPr>
              <a:t>Although a hundred individual cell-cell adhesions is sufficient for cells to adhere, specialized junctions containing the dense aggregates of adhesion molecules are required for tissue function.</a:t>
            </a:r>
            <a:endParaRPr lang="fr-FR" sz="1600" dirty="0">
              <a:latin typeface="Century Schoolbook" panose="020406040505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3330" y="260648"/>
            <a:ext cx="8715436" cy="6447919"/>
          </a:xfrm>
          <a:prstGeom prst="rect">
            <a:avLst/>
          </a:prstGeom>
        </p:spPr>
        <p:txBody>
          <a:bodyPr wrap="square">
            <a:spAutoFit/>
          </a:bodyPr>
          <a:lstStyle/>
          <a:p>
            <a:pPr algn="ctr">
              <a:spcAft>
                <a:spcPts val="540"/>
              </a:spcAft>
            </a:pPr>
            <a:r>
              <a:rPr lang="en-US" sz="3200" b="1" dirty="0">
                <a:latin typeface="Arial" pitchFamily="34" charset="0"/>
                <a:cs typeface="Arial" pitchFamily="34" charset="0"/>
              </a:rPr>
              <a:t>1- "Tight" watertight junctions or </a:t>
            </a:r>
          </a:p>
          <a:p>
            <a:pPr algn="ctr">
              <a:spcAft>
                <a:spcPts val="540"/>
              </a:spcAft>
            </a:pPr>
            <a:r>
              <a:rPr lang="en-US" sz="3200" b="1" dirty="0">
                <a:latin typeface="Arial" pitchFamily="34" charset="0"/>
                <a:cs typeface="Arial" pitchFamily="34" charset="0"/>
              </a:rPr>
              <a:t>zonula-</a:t>
            </a:r>
            <a:r>
              <a:rPr lang="en-US" sz="3200" b="1" dirty="0" err="1">
                <a:latin typeface="Arial" pitchFamily="34" charset="0"/>
                <a:cs typeface="Arial" pitchFamily="34" charset="0"/>
              </a:rPr>
              <a:t>occludens</a:t>
            </a:r>
            <a:endParaRPr lang="fr-FR" sz="3200" b="1" i="1" dirty="0">
              <a:latin typeface="Arial" pitchFamily="34" charset="0"/>
              <a:cs typeface="Arial" pitchFamily="34" charset="0"/>
            </a:endParaRPr>
          </a:p>
          <a:p>
            <a:pPr algn="ctr">
              <a:spcAft>
                <a:spcPts val="540"/>
              </a:spcAft>
            </a:pPr>
            <a:endParaRPr lang="fr-FR" sz="3200" b="1" i="1" dirty="0">
              <a:latin typeface="Arial" pitchFamily="34" charset="0"/>
              <a:cs typeface="Arial" pitchFamily="34" charset="0"/>
            </a:endParaRPr>
          </a:p>
          <a:p>
            <a:pPr algn="ctr">
              <a:spcAft>
                <a:spcPts val="540"/>
              </a:spcAft>
            </a:pPr>
            <a:endParaRPr lang="fr-FR" sz="3200" b="1" i="1" dirty="0">
              <a:latin typeface="Arial" pitchFamily="34" charset="0"/>
              <a:cs typeface="Arial" pitchFamily="34" charset="0"/>
            </a:endParaRPr>
          </a:p>
          <a:p>
            <a:pPr algn="ctr">
              <a:spcAft>
                <a:spcPts val="540"/>
              </a:spcAft>
            </a:pPr>
            <a:endParaRPr lang="fr-FR" sz="3200" dirty="0">
              <a:latin typeface="Arial" pitchFamily="34" charset="0"/>
              <a:cs typeface="Arial" pitchFamily="34" charset="0"/>
            </a:endParaRPr>
          </a:p>
          <a:p>
            <a:pPr algn="ctr">
              <a:spcAft>
                <a:spcPts val="540"/>
              </a:spcAft>
            </a:pPr>
            <a:endParaRPr lang="fr-FR" b="1" dirty="0">
              <a:solidFill>
                <a:srgbClr val="33339A"/>
              </a:solidFill>
              <a:latin typeface="Arial" pitchFamily="34" charset="0"/>
              <a:cs typeface="Arial" pitchFamily="34" charset="0"/>
            </a:endParaRPr>
          </a:p>
          <a:p>
            <a:pPr marL="228600" marR="228600" indent="91440" algn="just">
              <a:spcAft>
                <a:spcPts val="0"/>
              </a:spcAft>
            </a:pPr>
            <a:endParaRPr lang="fr-FR" spc="-25" dirty="0">
              <a:solidFill>
                <a:srgbClr val="000000"/>
              </a:solidFill>
              <a:latin typeface="Arial" pitchFamily="34" charset="0"/>
              <a:cs typeface="Arial" pitchFamily="34" charset="0"/>
            </a:endParaRPr>
          </a:p>
          <a:p>
            <a:pPr marL="228600" marR="228600" indent="91440" algn="just">
              <a:spcAft>
                <a:spcPts val="0"/>
              </a:spcAft>
            </a:pPr>
            <a:endParaRPr lang="fr-FR" spc="-25" dirty="0">
              <a:solidFill>
                <a:srgbClr val="000000"/>
              </a:solidFill>
              <a:latin typeface="Arial" pitchFamily="34" charset="0"/>
              <a:cs typeface="Arial" pitchFamily="34" charset="0"/>
            </a:endParaRPr>
          </a:p>
          <a:p>
            <a:pPr marL="228600" marR="228600" indent="91440" algn="just">
              <a:spcAft>
                <a:spcPts val="0"/>
              </a:spcAft>
            </a:pPr>
            <a:endParaRPr lang="fr-FR" sz="1600" spc="-25" dirty="0">
              <a:solidFill>
                <a:srgbClr val="000000"/>
              </a:solidFill>
              <a:latin typeface="Arial" pitchFamily="34" charset="0"/>
              <a:cs typeface="Arial" pitchFamily="34" charset="0"/>
            </a:endParaRPr>
          </a:p>
          <a:p>
            <a:pPr marL="228600" marR="228600" indent="91440" algn="just">
              <a:spcAft>
                <a:spcPts val="0"/>
              </a:spcAft>
            </a:pPr>
            <a:endParaRPr lang="fr-FR" sz="1600" spc="-25" dirty="0">
              <a:solidFill>
                <a:srgbClr val="000000"/>
              </a:solidFill>
              <a:latin typeface="Arial" pitchFamily="34" charset="0"/>
              <a:cs typeface="Arial" pitchFamily="34" charset="0"/>
            </a:endParaRPr>
          </a:p>
          <a:p>
            <a:pPr marL="228600" marR="228600" indent="91440" algn="just">
              <a:spcAft>
                <a:spcPts val="0"/>
              </a:spcAft>
            </a:pPr>
            <a:endParaRPr lang="fr-FR" sz="1600" spc="-25" dirty="0">
              <a:solidFill>
                <a:srgbClr val="000000"/>
              </a:solidFill>
              <a:latin typeface="Arial" pitchFamily="34" charset="0"/>
              <a:cs typeface="Arial" pitchFamily="34" charset="0"/>
            </a:endParaRPr>
          </a:p>
          <a:p>
            <a:pPr marL="228600" marR="228600" indent="91440" algn="just">
              <a:spcAft>
                <a:spcPts val="0"/>
              </a:spcAft>
            </a:pPr>
            <a:r>
              <a:rPr lang="en-US" spc="-25" dirty="0">
                <a:solidFill>
                  <a:srgbClr val="000000"/>
                </a:solidFill>
                <a:latin typeface="Arial" pitchFamily="34" charset="0"/>
                <a:cs typeface="Arial" pitchFamily="34" charset="0"/>
              </a:rPr>
              <a:t>- Tight joints leave no gaps between two membranes =&gt; they serve as a seal to prevent the exchange of material through the membrane.
- The tight junctions between adjacent cells form a continuous belt around the edge of an organ or body cavity.
- Particularly important for intestinal epithelial cells, gland ducts and cavities and the bladder as well as endothelial cells, they prevent fluids from infiltrating outside, between cells.</a:t>
            </a:r>
            <a:endParaRPr lang="fr-FR" spc="-10" dirty="0">
              <a:solidFill>
                <a:srgbClr val="000000"/>
              </a:solidFill>
              <a:latin typeface="Arial" pitchFamily="34" charset="0"/>
              <a:cs typeface="Arial" pitchFamily="34" charset="0"/>
            </a:endParaRPr>
          </a:p>
        </p:txBody>
      </p:sp>
      <p:pic>
        <p:nvPicPr>
          <p:cNvPr id="5" name="Image.jpg"/>
          <p:cNvPicPr/>
          <p:nvPr/>
        </p:nvPicPr>
        <p:blipFill>
          <a:blip r:embed="rId2"/>
          <a:srcRect l="7645" t="23499" r="4168"/>
          <a:stretch>
            <a:fillRect/>
          </a:stretch>
        </p:blipFill>
        <p:spPr>
          <a:xfrm>
            <a:off x="281256" y="1412776"/>
            <a:ext cx="8323191" cy="309634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29" name="Image 2" descr="Jonction serrée - Zonula occludens"/>
          <p:cNvPicPr>
            <a:picLocks noChangeAspect="1" noChangeArrowheads="1"/>
          </p:cNvPicPr>
          <p:nvPr/>
        </p:nvPicPr>
        <p:blipFill>
          <a:blip r:embed="rId2"/>
          <a:srcRect/>
          <a:stretch>
            <a:fillRect/>
          </a:stretch>
        </p:blipFill>
        <p:spPr bwMode="auto">
          <a:xfrm>
            <a:off x="285752" y="142876"/>
            <a:ext cx="8786842" cy="6429396"/>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1"/>
          <p:cNvSpPr>
            <a:spLocks noChangeArrowheads="1"/>
          </p:cNvSpPr>
          <p:nvPr/>
        </p:nvSpPr>
        <p:spPr bwMode="auto">
          <a:xfrm>
            <a:off x="107504" y="168397"/>
            <a:ext cx="8928992"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ctr" fontAlgn="base">
              <a:spcBef>
                <a:spcPct val="0"/>
              </a:spcBef>
              <a:spcAft>
                <a:spcPct val="0"/>
              </a:spcAft>
            </a:pPr>
            <a:r>
              <a:rPr lang="en-US" sz="2800" b="1" dirty="0">
                <a:latin typeface="Century Schoolbook" panose="02040604050505020304" pitchFamily="18" charset="0"/>
                <a:ea typeface="Times New Roman" pitchFamily="18" charset="0"/>
                <a:cs typeface="Arial" pitchFamily="34" charset="0"/>
              </a:rPr>
              <a:t>2- The "adhesive" anchorage junctions or zonula-</a:t>
            </a:r>
            <a:r>
              <a:rPr lang="en-US" sz="2800" b="1" dirty="0" err="1">
                <a:latin typeface="Century Schoolbook" panose="02040604050505020304" pitchFamily="18" charset="0"/>
                <a:ea typeface="Times New Roman" pitchFamily="18" charset="0"/>
                <a:cs typeface="Arial" pitchFamily="34" charset="0"/>
              </a:rPr>
              <a:t>adherens</a:t>
            </a:r>
            <a:endParaRPr kumimoji="0" lang="fr-FR" sz="2800" b="0" i="0" strike="noStrike" cap="none" normalizeH="0" baseline="0" dirty="0">
              <a:ln>
                <a:noFill/>
              </a:ln>
              <a:solidFill>
                <a:schemeClr val="tx1"/>
              </a:solidFill>
              <a:effectLst/>
              <a:latin typeface="Arial" pitchFamily="34" charset="0"/>
              <a:cs typeface="Arial" pitchFamily="34" charset="0"/>
            </a:endParaRPr>
          </a:p>
        </p:txBody>
      </p:sp>
      <p:sp>
        <p:nvSpPr>
          <p:cNvPr id="5" name="Rectangle 4"/>
          <p:cNvSpPr/>
          <p:nvPr/>
        </p:nvSpPr>
        <p:spPr>
          <a:xfrm>
            <a:off x="-900608" y="1596831"/>
            <a:ext cx="10168228" cy="1451679"/>
          </a:xfrm>
          <a:prstGeom prst="rect">
            <a:avLst/>
          </a:prstGeom>
        </p:spPr>
        <p:txBody>
          <a:bodyPr wrap="square">
            <a:spAutoFit/>
          </a:bodyPr>
          <a:lstStyle/>
          <a:p>
            <a:pPr marL="960120" indent="274320">
              <a:lnSpc>
                <a:spcPts val="2300"/>
              </a:lnSpc>
              <a:spcBef>
                <a:spcPts val="720"/>
              </a:spcBef>
              <a:buFont typeface="Symbol"/>
              <a:buChar char="·"/>
            </a:pPr>
            <a:r>
              <a:rPr lang="fr-FR" sz="2200" spc="-40" dirty="0" err="1">
                <a:solidFill>
                  <a:srgbClr val="000000"/>
                </a:solidFill>
                <a:latin typeface="Century Schoolbook" panose="02040604050505020304" pitchFamily="18" charset="0"/>
                <a:cs typeface="Arial" pitchFamily="34" charset="0"/>
              </a:rPr>
              <a:t>Adhesion</a:t>
            </a:r>
            <a:r>
              <a:rPr lang="fr-FR" sz="2200" spc="-40" dirty="0">
                <a:solidFill>
                  <a:srgbClr val="000000"/>
                </a:solidFill>
                <a:latin typeface="Century Schoolbook" panose="02040604050505020304" pitchFamily="18" charset="0"/>
                <a:cs typeface="Arial" pitchFamily="34" charset="0"/>
              </a:rPr>
              <a:t> </a:t>
            </a:r>
            <a:r>
              <a:rPr lang="fr-FR" sz="2200" spc="-40" dirty="0" err="1">
                <a:solidFill>
                  <a:srgbClr val="000000"/>
                </a:solidFill>
                <a:latin typeface="Century Schoolbook" panose="02040604050505020304" pitchFamily="18" charset="0"/>
                <a:cs typeface="Arial" pitchFamily="34" charset="0"/>
              </a:rPr>
              <a:t>molecules</a:t>
            </a:r>
            <a:r>
              <a:rPr lang="fr-FR" sz="2200" spc="-40" dirty="0">
                <a:solidFill>
                  <a:srgbClr val="000000"/>
                </a:solidFill>
                <a:latin typeface="Century Schoolbook" panose="02040604050505020304" pitchFamily="18" charset="0"/>
                <a:cs typeface="Arial" pitchFamily="34" charset="0"/>
              </a:rPr>
              <a:t> : </a:t>
            </a:r>
            <a:r>
              <a:rPr lang="fr-FR" sz="2200" spc="-40" dirty="0" err="1">
                <a:solidFill>
                  <a:srgbClr val="000000"/>
                </a:solidFill>
                <a:latin typeface="Century Schoolbook" panose="02040604050505020304" pitchFamily="18" charset="0"/>
                <a:cs typeface="Arial" pitchFamily="34" charset="0"/>
              </a:rPr>
              <a:t>cadherins</a:t>
            </a:r>
            <a:endParaRPr lang="fr-FR" sz="2200" spc="-40" dirty="0">
              <a:solidFill>
                <a:srgbClr val="000000"/>
              </a:solidFill>
              <a:latin typeface="Century Schoolbook" panose="02040604050505020304" pitchFamily="18" charset="0"/>
              <a:cs typeface="Arial" pitchFamily="34" charset="0"/>
            </a:endParaRPr>
          </a:p>
          <a:p>
            <a:pPr marL="960120" indent="274320">
              <a:lnSpc>
                <a:spcPts val="2300"/>
              </a:lnSpc>
              <a:spcBef>
                <a:spcPts val="720"/>
              </a:spcBef>
              <a:buFont typeface="Symbol"/>
              <a:buChar char="·"/>
            </a:pPr>
            <a:r>
              <a:rPr lang="fr-FR" sz="2400" dirty="0">
                <a:latin typeface="Arial" pitchFamily="34" charset="0"/>
                <a:ea typeface="Times New Roman" pitchFamily="18" charset="0"/>
                <a:cs typeface="Arial" pitchFamily="34" charset="0"/>
              </a:rPr>
              <a:t>Ca</a:t>
            </a:r>
            <a:r>
              <a:rPr lang="fr-FR" sz="2400" baseline="30000" dirty="0">
                <a:latin typeface="Arial" pitchFamily="34" charset="0"/>
                <a:ea typeface="Times New Roman" pitchFamily="18" charset="0"/>
                <a:cs typeface="Arial" pitchFamily="34" charset="0"/>
              </a:rPr>
              <a:t>2+</a:t>
            </a:r>
            <a:r>
              <a:rPr lang="fr-FR" sz="2200" spc="-40" dirty="0">
                <a:solidFill>
                  <a:srgbClr val="000000"/>
                </a:solidFill>
                <a:latin typeface="Century Schoolbook" panose="02040604050505020304" pitchFamily="18" charset="0"/>
                <a:cs typeface="Arial" pitchFamily="34" charset="0"/>
              </a:rPr>
              <a:t>-</a:t>
            </a:r>
            <a:r>
              <a:rPr lang="fr-FR" sz="2200" spc="-40" dirty="0" err="1">
                <a:solidFill>
                  <a:srgbClr val="000000"/>
                </a:solidFill>
                <a:latin typeface="Century Schoolbook" panose="02040604050505020304" pitchFamily="18" charset="0"/>
                <a:cs typeface="Arial" pitchFamily="34" charset="0"/>
              </a:rPr>
              <a:t>dependent</a:t>
            </a:r>
            <a:r>
              <a:rPr lang="fr-FR" sz="2200" spc="-40" dirty="0">
                <a:solidFill>
                  <a:srgbClr val="000000"/>
                </a:solidFill>
                <a:latin typeface="Century Schoolbook" panose="02040604050505020304" pitchFamily="18" charset="0"/>
                <a:cs typeface="Arial" pitchFamily="34" charset="0"/>
              </a:rPr>
              <a:t>, </a:t>
            </a:r>
            <a:r>
              <a:rPr lang="fr-FR" sz="2200" spc="-40" dirty="0" err="1">
                <a:solidFill>
                  <a:srgbClr val="000000"/>
                </a:solidFill>
                <a:latin typeface="Century Schoolbook" panose="02040604050505020304" pitchFamily="18" charset="0"/>
                <a:cs typeface="Arial" pitchFamily="34" charset="0"/>
              </a:rPr>
              <a:t>homophil</a:t>
            </a:r>
            <a:r>
              <a:rPr lang="fr-FR" sz="2200" spc="-40" dirty="0">
                <a:solidFill>
                  <a:srgbClr val="000000"/>
                </a:solidFill>
                <a:latin typeface="Century Schoolbook" panose="02040604050505020304" pitchFamily="18" charset="0"/>
                <a:cs typeface="Arial" pitchFamily="34" charset="0"/>
              </a:rPr>
              <a:t> interactions
</a:t>
            </a:r>
            <a:r>
              <a:rPr lang="fr-FR" sz="2200" spc="-40" dirty="0" err="1">
                <a:solidFill>
                  <a:srgbClr val="000000"/>
                </a:solidFill>
                <a:latin typeface="Century Schoolbook" panose="02040604050505020304" pitchFamily="18" charset="0"/>
                <a:cs typeface="Arial" pitchFamily="34" charset="0"/>
              </a:rPr>
              <a:t>Intracytoplasmic</a:t>
            </a:r>
            <a:r>
              <a:rPr lang="fr-FR" sz="2200" spc="-40" dirty="0">
                <a:solidFill>
                  <a:srgbClr val="000000"/>
                </a:solidFill>
                <a:latin typeface="Century Schoolbook" panose="02040604050505020304" pitchFamily="18" charset="0"/>
                <a:cs typeface="Arial" pitchFamily="34" charset="0"/>
              </a:rPr>
              <a:t> </a:t>
            </a:r>
            <a:r>
              <a:rPr lang="fr-FR" sz="2200" spc="-40" dirty="0" err="1">
                <a:solidFill>
                  <a:srgbClr val="000000"/>
                </a:solidFill>
                <a:latin typeface="Century Schoolbook" panose="02040604050505020304" pitchFamily="18" charset="0"/>
                <a:cs typeface="Arial" pitchFamily="34" charset="0"/>
              </a:rPr>
              <a:t>domains</a:t>
            </a:r>
            <a:r>
              <a:rPr lang="fr-FR" sz="2200" spc="-40" dirty="0">
                <a:solidFill>
                  <a:srgbClr val="000000"/>
                </a:solidFill>
                <a:latin typeface="Century Schoolbook" panose="02040604050505020304" pitchFamily="18" charset="0"/>
                <a:cs typeface="Arial" pitchFamily="34" charset="0"/>
              </a:rPr>
              <a:t> are </a:t>
            </a:r>
            <a:r>
              <a:rPr lang="fr-FR" sz="2200" spc="-40" dirty="0" err="1">
                <a:solidFill>
                  <a:srgbClr val="000000"/>
                </a:solidFill>
                <a:latin typeface="Century Schoolbook" panose="02040604050505020304" pitchFamily="18" charset="0"/>
                <a:cs typeface="Arial" pitchFamily="34" charset="0"/>
              </a:rPr>
              <a:t>linked</a:t>
            </a:r>
            <a:r>
              <a:rPr lang="fr-FR" sz="2200" spc="-40" dirty="0">
                <a:solidFill>
                  <a:srgbClr val="000000"/>
                </a:solidFill>
                <a:latin typeface="Century Schoolbook" panose="02040604050505020304" pitchFamily="18" charset="0"/>
                <a:cs typeface="Arial" pitchFamily="34" charset="0"/>
              </a:rPr>
              <a:t> to </a:t>
            </a:r>
            <a:r>
              <a:rPr lang="fr-FR" sz="2200" spc="-40" dirty="0" err="1">
                <a:solidFill>
                  <a:srgbClr val="000000"/>
                </a:solidFill>
                <a:latin typeface="Century Schoolbook" panose="02040604050505020304" pitchFamily="18" charset="0"/>
                <a:cs typeface="Arial" pitchFamily="34" charset="0"/>
              </a:rPr>
              <a:t>cytoskeleton</a:t>
            </a:r>
            <a:r>
              <a:rPr lang="fr-FR" sz="2200" spc="-40" dirty="0">
                <a:solidFill>
                  <a:srgbClr val="000000"/>
                </a:solidFill>
                <a:latin typeface="Century Schoolbook" panose="02040604050505020304" pitchFamily="18" charset="0"/>
                <a:cs typeface="Arial" pitchFamily="34" charset="0"/>
              </a:rPr>
              <a:t>           </a:t>
            </a:r>
            <a:r>
              <a:rPr lang="fr-FR" sz="2200" spc="-40" dirty="0" err="1">
                <a:solidFill>
                  <a:srgbClr val="000000"/>
                </a:solidFill>
                <a:latin typeface="Century Schoolbook" panose="02040604050505020304" pitchFamily="18" charset="0"/>
                <a:cs typeface="Arial" pitchFamily="34" charset="0"/>
              </a:rPr>
              <a:t>associated</a:t>
            </a:r>
            <a:r>
              <a:rPr lang="fr-FR" sz="2200" spc="-40" dirty="0">
                <a:solidFill>
                  <a:srgbClr val="000000"/>
                </a:solidFill>
                <a:latin typeface="Century Schoolbook" panose="02040604050505020304" pitchFamily="18" charset="0"/>
                <a:cs typeface="Arial" pitchFamily="34" charset="0"/>
              </a:rPr>
              <a:t> </a:t>
            </a:r>
            <a:r>
              <a:rPr lang="fr-FR" sz="2200" spc="-40" dirty="0" err="1">
                <a:solidFill>
                  <a:srgbClr val="000000"/>
                </a:solidFill>
                <a:latin typeface="Century Schoolbook" panose="02040604050505020304" pitchFamily="18" charset="0"/>
                <a:cs typeface="Arial" pitchFamily="34" charset="0"/>
              </a:rPr>
              <a:t>proteins</a:t>
            </a:r>
            <a:r>
              <a:rPr lang="fr-FR" sz="2200" spc="-40" dirty="0">
                <a:solidFill>
                  <a:srgbClr val="000000"/>
                </a:solidFill>
                <a:latin typeface="Century Schoolbook" panose="02040604050505020304" pitchFamily="18" charset="0"/>
                <a:cs typeface="Arial" pitchFamily="34" charset="0"/>
              </a:rPr>
              <a:t>: </a:t>
            </a:r>
            <a:r>
              <a:rPr lang="fr-FR" sz="2200" spc="-40" dirty="0" err="1">
                <a:solidFill>
                  <a:srgbClr val="000000"/>
                </a:solidFill>
                <a:latin typeface="Century Schoolbook" panose="02040604050505020304" pitchFamily="18" charset="0"/>
                <a:cs typeface="Arial" pitchFamily="34" charset="0"/>
              </a:rPr>
              <a:t>catenins</a:t>
            </a:r>
            <a:r>
              <a:rPr lang="fr-FR" sz="2200" spc="-40" dirty="0">
                <a:solidFill>
                  <a:srgbClr val="000000"/>
                </a:solidFill>
                <a:latin typeface="Century Schoolbook" panose="02040604050505020304" pitchFamily="18" charset="0"/>
                <a:cs typeface="Arial" pitchFamily="34" charset="0"/>
              </a:rPr>
              <a:t> </a:t>
            </a:r>
            <a:r>
              <a:rPr lang="fr-FR" sz="2200" spc="-40" dirty="0" err="1">
                <a:solidFill>
                  <a:srgbClr val="000000"/>
                </a:solidFill>
                <a:latin typeface="Century Schoolbook" panose="02040604050505020304" pitchFamily="18" charset="0"/>
                <a:cs typeface="Arial" pitchFamily="34" charset="0"/>
              </a:rPr>
              <a:t>connected</a:t>
            </a:r>
            <a:r>
              <a:rPr lang="fr-FR" sz="2200" spc="-40" dirty="0">
                <a:solidFill>
                  <a:srgbClr val="000000"/>
                </a:solidFill>
                <a:latin typeface="Century Schoolbook" panose="02040604050505020304" pitchFamily="18" charset="0"/>
                <a:cs typeface="Arial" pitchFamily="34" charset="0"/>
              </a:rPr>
              <a:t> to </a:t>
            </a:r>
            <a:r>
              <a:rPr lang="fr-FR" sz="2200" spc="-40" dirty="0" err="1">
                <a:solidFill>
                  <a:srgbClr val="000000"/>
                </a:solidFill>
                <a:latin typeface="Century Schoolbook" panose="02040604050505020304" pitchFamily="18" charset="0"/>
                <a:cs typeface="Arial" pitchFamily="34" charset="0"/>
              </a:rPr>
              <a:t>actin</a:t>
            </a:r>
            <a:r>
              <a:rPr lang="fr-FR" sz="2200" spc="-40" dirty="0">
                <a:solidFill>
                  <a:srgbClr val="000000"/>
                </a:solidFill>
                <a:latin typeface="Century Schoolbook" panose="02040604050505020304" pitchFamily="18" charset="0"/>
                <a:cs typeface="Arial" pitchFamily="34" charset="0"/>
              </a:rPr>
              <a:t> microfilaments</a:t>
            </a:r>
            <a:endParaRPr lang="fr-FR" sz="2200" spc="20" dirty="0">
              <a:solidFill>
                <a:srgbClr val="FF0000"/>
              </a:solidFill>
              <a:latin typeface="Century Schoolbook" panose="02040604050505020304" pitchFamily="18" charset="0"/>
              <a:cs typeface="Arial" pitchFamily="34" charset="0"/>
            </a:endParaRPr>
          </a:p>
        </p:txBody>
      </p:sp>
      <p:sp>
        <p:nvSpPr>
          <p:cNvPr id="6" name="Rectangle 5"/>
          <p:cNvSpPr/>
          <p:nvPr/>
        </p:nvSpPr>
        <p:spPr>
          <a:xfrm>
            <a:off x="323528" y="1165944"/>
            <a:ext cx="4715850" cy="430887"/>
          </a:xfrm>
          <a:prstGeom prst="rect">
            <a:avLst/>
          </a:prstGeom>
        </p:spPr>
        <p:txBody>
          <a:bodyPr wrap="square">
            <a:spAutoFit/>
          </a:bodyPr>
          <a:lstStyle/>
          <a:p>
            <a:pPr algn="ctr"/>
            <a:r>
              <a:rPr lang="fr-FR" sz="2200" spc="50" dirty="0" err="1">
                <a:solidFill>
                  <a:srgbClr val="000000"/>
                </a:solidFill>
                <a:latin typeface="Century Schoolbook" panose="02040604050505020304" pitchFamily="18" charset="0"/>
              </a:rPr>
              <a:t>Organization</a:t>
            </a:r>
            <a:r>
              <a:rPr lang="fr-FR" sz="2200" spc="50" dirty="0">
                <a:solidFill>
                  <a:srgbClr val="000000"/>
                </a:solidFill>
                <a:latin typeface="Century Schoolbook" panose="02040604050505020304" pitchFamily="18" charset="0"/>
              </a:rPr>
              <a:t> of the </a:t>
            </a:r>
            <a:r>
              <a:rPr lang="fr-FR" sz="2200" spc="50" dirty="0" err="1">
                <a:solidFill>
                  <a:srgbClr val="000000"/>
                </a:solidFill>
                <a:latin typeface="Century Schoolbook" panose="02040604050505020304" pitchFamily="18" charset="0"/>
              </a:rPr>
              <a:t>junction</a:t>
            </a:r>
            <a:r>
              <a:rPr lang="fr-FR" sz="2200" spc="50" dirty="0">
                <a:solidFill>
                  <a:srgbClr val="000000"/>
                </a:solidFill>
                <a:latin typeface="Century Schoolbook" panose="02040604050505020304" pitchFamily="18" charset="0"/>
              </a:rPr>
              <a:t>:</a:t>
            </a:r>
            <a:endParaRPr lang="fr-FR" sz="2200" dirty="0">
              <a:latin typeface="Century Schoolbook" panose="02040604050505020304" pitchFamily="18" charset="0"/>
            </a:endParaRPr>
          </a:p>
        </p:txBody>
      </p:sp>
      <p:sp>
        <p:nvSpPr>
          <p:cNvPr id="9" name="Flèche droite 8"/>
          <p:cNvSpPr/>
          <p:nvPr/>
        </p:nvSpPr>
        <p:spPr>
          <a:xfrm>
            <a:off x="7020272" y="2564904"/>
            <a:ext cx="571504" cy="2143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Image.jpg"/>
          <p:cNvPicPr/>
          <p:nvPr/>
        </p:nvPicPr>
        <p:blipFill>
          <a:blip r:embed="rId2"/>
          <a:srcRect l="1739" t="2174" r="1739"/>
          <a:stretch>
            <a:fillRect/>
          </a:stretch>
        </p:blipFill>
        <p:spPr>
          <a:xfrm>
            <a:off x="500034" y="3357562"/>
            <a:ext cx="8143932" cy="321471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Image 3" descr="Jonction intermédiaire - Zonula Adherens"/>
          <p:cNvPicPr>
            <a:picLocks noChangeAspect="1" noChangeArrowheads="1"/>
          </p:cNvPicPr>
          <p:nvPr/>
        </p:nvPicPr>
        <p:blipFill>
          <a:blip r:embed="rId2"/>
          <a:srcRect/>
          <a:stretch>
            <a:fillRect/>
          </a:stretch>
        </p:blipFill>
        <p:spPr bwMode="auto">
          <a:xfrm>
            <a:off x="571472" y="357166"/>
            <a:ext cx="8215370" cy="6072230"/>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63578" y="0"/>
            <a:ext cx="9644130" cy="2308324"/>
          </a:xfrm>
          <a:prstGeom prst="rect">
            <a:avLst/>
          </a:prstGeom>
        </p:spPr>
        <p:txBody>
          <a:bodyPr wrap="square">
            <a:spAutoFit/>
          </a:bodyPr>
          <a:lstStyle/>
          <a:p>
            <a:pPr marL="868680" indent="274320"/>
            <a:r>
              <a:rPr lang="fr-FR" b="1" dirty="0">
                <a:latin typeface="Arial" pitchFamily="34" charset="0"/>
                <a:cs typeface="Arial" pitchFamily="34" charset="0"/>
              </a:rPr>
              <a:t>3- Desmosome
</a:t>
            </a:r>
            <a:r>
              <a:rPr lang="fr-FR" b="1" dirty="0" err="1">
                <a:latin typeface="Arial" pitchFamily="34" charset="0"/>
                <a:cs typeface="Arial" pitchFamily="34" charset="0"/>
              </a:rPr>
              <a:t>Adhesion</a:t>
            </a:r>
            <a:r>
              <a:rPr lang="fr-FR" b="1" dirty="0">
                <a:latin typeface="Arial" pitchFamily="34" charset="0"/>
                <a:cs typeface="Arial" pitchFamily="34" charset="0"/>
              </a:rPr>
              <a:t> </a:t>
            </a:r>
            <a:r>
              <a:rPr lang="fr-FR" b="1" dirty="0" err="1">
                <a:latin typeface="Arial" pitchFamily="34" charset="0"/>
                <a:cs typeface="Arial" pitchFamily="34" charset="0"/>
              </a:rPr>
              <a:t>molecules</a:t>
            </a:r>
            <a:r>
              <a:rPr lang="fr-FR" b="1" dirty="0">
                <a:latin typeface="Arial" pitchFamily="34" charset="0"/>
                <a:cs typeface="Arial" pitchFamily="34" charset="0"/>
              </a:rPr>
              <a:t>: </a:t>
            </a:r>
            <a:r>
              <a:rPr lang="fr-FR" b="1" dirty="0" err="1">
                <a:latin typeface="Arial" pitchFamily="34" charset="0"/>
                <a:cs typeface="Arial" pitchFamily="34" charset="0"/>
              </a:rPr>
              <a:t>these</a:t>
            </a:r>
            <a:r>
              <a:rPr lang="fr-FR" b="1" dirty="0">
                <a:latin typeface="Arial" pitchFamily="34" charset="0"/>
                <a:cs typeface="Arial" pitchFamily="34" charset="0"/>
              </a:rPr>
              <a:t> are </a:t>
            </a:r>
            <a:r>
              <a:rPr lang="fr-FR" b="1" dirty="0" err="1">
                <a:latin typeface="Arial" pitchFamily="34" charset="0"/>
                <a:cs typeface="Arial" pitchFamily="34" charset="0"/>
              </a:rPr>
              <a:t>cadherins⇒desmocollines</a:t>
            </a:r>
            <a:r>
              <a:rPr lang="fr-FR" b="1" dirty="0">
                <a:latin typeface="Arial" pitchFamily="34" charset="0"/>
                <a:cs typeface="Arial" pitchFamily="34" charset="0"/>
              </a:rPr>
              <a:t> and </a:t>
            </a:r>
            <a:r>
              <a:rPr lang="fr-FR" b="1" dirty="0" err="1">
                <a:latin typeface="Arial" pitchFamily="34" charset="0"/>
                <a:cs typeface="Arial" pitchFamily="34" charset="0"/>
              </a:rPr>
              <a:t>desmoglein</a:t>
            </a:r>
            <a:r>
              <a:rPr lang="fr-FR" b="1" dirty="0">
                <a:latin typeface="Arial" pitchFamily="34" charset="0"/>
                <a:cs typeface="Arial" pitchFamily="34" charset="0"/>
              </a:rPr>
              <a:t> (</a:t>
            </a:r>
            <a:r>
              <a:rPr lang="fr-FR" b="1" dirty="0" err="1">
                <a:latin typeface="Arial" pitchFamily="34" charset="0"/>
                <a:cs typeface="Arial" pitchFamily="34" charset="0"/>
              </a:rPr>
              <a:t>transmembrane</a:t>
            </a:r>
            <a:r>
              <a:rPr lang="fr-FR" b="1" dirty="0">
                <a:latin typeface="Arial" pitchFamily="34" charset="0"/>
                <a:cs typeface="Arial" pitchFamily="34" charset="0"/>
              </a:rPr>
              <a:t> </a:t>
            </a:r>
            <a:r>
              <a:rPr lang="fr-FR" b="1" dirty="0" err="1">
                <a:latin typeface="Arial" pitchFamily="34" charset="0"/>
                <a:cs typeface="Arial" pitchFamily="34" charset="0"/>
              </a:rPr>
              <a:t>protein</a:t>
            </a:r>
            <a:r>
              <a:rPr lang="fr-FR" b="1" dirty="0">
                <a:latin typeface="Arial" pitchFamily="34" charset="0"/>
                <a:cs typeface="Arial" pitchFamily="34" charset="0"/>
              </a:rPr>
              <a:t>)
 </a:t>
            </a:r>
            <a:r>
              <a:rPr lang="fr-FR" b="1" dirty="0" err="1">
                <a:latin typeface="Arial" pitchFamily="34" charset="0"/>
                <a:cs typeface="Arial" pitchFamily="34" charset="0"/>
              </a:rPr>
              <a:t>Desmoplakin</a:t>
            </a:r>
            <a:r>
              <a:rPr lang="fr-FR" b="1" dirty="0">
                <a:latin typeface="Arial" pitchFamily="34" charset="0"/>
                <a:cs typeface="Arial" pitchFamily="34" charset="0"/>
              </a:rPr>
              <a:t> (dense plate </a:t>
            </a:r>
            <a:r>
              <a:rPr lang="fr-FR" b="1" dirty="0" err="1">
                <a:latin typeface="Arial" pitchFamily="34" charset="0"/>
                <a:cs typeface="Arial" pitchFamily="34" charset="0"/>
              </a:rPr>
              <a:t>molecules</a:t>
            </a:r>
            <a:r>
              <a:rPr lang="fr-FR" b="1" dirty="0">
                <a:latin typeface="Arial" pitchFamily="34" charset="0"/>
                <a:cs typeface="Arial" pitchFamily="34" charset="0"/>
              </a:rPr>
              <a:t>): </a:t>
            </a:r>
            <a:r>
              <a:rPr lang="fr-FR" b="1" dirty="0" err="1">
                <a:latin typeface="Arial" pitchFamily="34" charset="0"/>
                <a:cs typeface="Arial" pitchFamily="34" charset="0"/>
              </a:rPr>
              <a:t>associated</a:t>
            </a:r>
            <a:r>
              <a:rPr lang="fr-FR" b="1" dirty="0">
                <a:latin typeface="Arial" pitchFamily="34" charset="0"/>
                <a:cs typeface="Arial" pitchFamily="34" charset="0"/>
              </a:rPr>
              <a:t> </a:t>
            </a:r>
            <a:r>
              <a:rPr lang="fr-FR" b="1" dirty="0" err="1">
                <a:latin typeface="Arial" pitchFamily="34" charset="0"/>
                <a:cs typeface="Arial" pitchFamily="34" charset="0"/>
              </a:rPr>
              <a:t>with</a:t>
            </a:r>
            <a:r>
              <a:rPr lang="fr-FR" b="1" dirty="0">
                <a:latin typeface="Arial" pitchFamily="34" charset="0"/>
                <a:cs typeface="Arial" pitchFamily="34" charset="0"/>
              </a:rPr>
              <a:t> </a:t>
            </a:r>
            <a:r>
              <a:rPr lang="fr-FR" b="1" dirty="0" err="1">
                <a:latin typeface="Arial" pitchFamily="34" charset="0"/>
                <a:cs typeface="Arial" pitchFamily="34" charset="0"/>
              </a:rPr>
              <a:t>intermediate</a:t>
            </a:r>
            <a:r>
              <a:rPr lang="fr-FR" b="1" dirty="0">
                <a:latin typeface="Arial" pitchFamily="34" charset="0"/>
                <a:cs typeface="Arial" pitchFamily="34" charset="0"/>
              </a:rPr>
              <a:t> </a:t>
            </a:r>
            <a:r>
              <a:rPr lang="fr-FR" b="1" dirty="0" err="1">
                <a:latin typeface="Arial" pitchFamily="34" charset="0"/>
                <a:cs typeface="Arial" pitchFamily="34" charset="0"/>
              </a:rPr>
              <a:t>keratin</a:t>
            </a:r>
            <a:r>
              <a:rPr lang="fr-FR" b="1" dirty="0">
                <a:latin typeface="Arial" pitchFamily="34" charset="0"/>
                <a:cs typeface="Arial" pitchFamily="34" charset="0"/>
              </a:rPr>
              <a:t> filaments (</a:t>
            </a:r>
            <a:r>
              <a:rPr lang="fr-FR" b="1" dirty="0" err="1">
                <a:latin typeface="Arial" pitchFamily="34" charset="0"/>
                <a:cs typeface="Arial" pitchFamily="34" charset="0"/>
              </a:rPr>
              <a:t>epithelial</a:t>
            </a:r>
            <a:r>
              <a:rPr lang="fr-FR" b="1" dirty="0">
                <a:latin typeface="Arial" pitchFamily="34" charset="0"/>
                <a:cs typeface="Arial" pitchFamily="34" charset="0"/>
              </a:rPr>
              <a:t> </a:t>
            </a:r>
            <a:r>
              <a:rPr lang="fr-FR" b="1" dirty="0" err="1">
                <a:latin typeface="Arial" pitchFamily="34" charset="0"/>
                <a:cs typeface="Arial" pitchFamily="34" charset="0"/>
              </a:rPr>
              <a:t>cells</a:t>
            </a:r>
            <a:r>
              <a:rPr lang="fr-FR" b="1" dirty="0">
                <a:latin typeface="Arial" pitchFamily="34" charset="0"/>
                <a:cs typeface="Arial" pitchFamily="34" charset="0"/>
              </a:rPr>
              <a:t>) 
There are </a:t>
            </a:r>
            <a:r>
              <a:rPr lang="fr-FR" b="1" dirty="0" err="1">
                <a:latin typeface="Arial" pitchFamily="34" charset="0"/>
                <a:cs typeface="Arial" pitchFamily="34" charset="0"/>
              </a:rPr>
              <a:t>two</a:t>
            </a:r>
            <a:r>
              <a:rPr lang="fr-FR" b="1" dirty="0">
                <a:latin typeface="Arial" pitchFamily="34" charset="0"/>
                <a:cs typeface="Arial" pitchFamily="34" charset="0"/>
              </a:rPr>
              <a:t> </a:t>
            </a:r>
            <a:r>
              <a:rPr lang="fr-FR" b="1" dirty="0" err="1">
                <a:latin typeface="Arial" pitchFamily="34" charset="0"/>
                <a:cs typeface="Arial" pitchFamily="34" charset="0"/>
              </a:rPr>
              <a:t>molecules</a:t>
            </a:r>
            <a:r>
              <a:rPr lang="fr-FR" b="1" dirty="0">
                <a:latin typeface="Arial" pitchFamily="34" charset="0"/>
                <a:cs typeface="Arial" pitchFamily="34" charset="0"/>
              </a:rPr>
              <a:t> </a:t>
            </a:r>
            <a:r>
              <a:rPr lang="fr-FR" b="1" dirty="0" err="1">
                <a:latin typeface="Arial" pitchFamily="34" charset="0"/>
                <a:cs typeface="Arial" pitchFamily="34" charset="0"/>
              </a:rPr>
              <a:t>that</a:t>
            </a:r>
            <a:r>
              <a:rPr lang="fr-FR" b="1" dirty="0">
                <a:latin typeface="Arial" pitchFamily="34" charset="0"/>
                <a:cs typeface="Arial" pitchFamily="34" charset="0"/>
              </a:rPr>
              <a:t> </a:t>
            </a:r>
            <a:r>
              <a:rPr lang="fr-FR" b="1" dirty="0" err="1">
                <a:latin typeface="Arial" pitchFamily="34" charset="0"/>
                <a:cs typeface="Arial" pitchFamily="34" charset="0"/>
              </a:rPr>
              <a:t>act</a:t>
            </a:r>
            <a:r>
              <a:rPr lang="fr-FR" b="1" dirty="0">
                <a:latin typeface="Arial" pitchFamily="34" charset="0"/>
                <a:cs typeface="Arial" pitchFamily="34" charset="0"/>
              </a:rPr>
              <a:t> as </a:t>
            </a:r>
            <a:r>
              <a:rPr lang="fr-FR" b="1" dirty="0" err="1">
                <a:latin typeface="Arial" pitchFamily="34" charset="0"/>
                <a:cs typeface="Arial" pitchFamily="34" charset="0"/>
              </a:rPr>
              <a:t>intermediates</a:t>
            </a:r>
            <a:r>
              <a:rPr lang="fr-FR" b="1" dirty="0">
                <a:latin typeface="Arial" pitchFamily="34" charset="0"/>
                <a:cs typeface="Arial" pitchFamily="34" charset="0"/>
              </a:rPr>
              <a:t> </a:t>
            </a:r>
            <a:r>
              <a:rPr lang="fr-FR" b="1" dirty="0" err="1">
                <a:latin typeface="Arial" pitchFamily="34" charset="0"/>
                <a:cs typeface="Arial" pitchFamily="34" charset="0"/>
              </a:rPr>
              <a:t>between</a:t>
            </a:r>
            <a:r>
              <a:rPr lang="fr-FR" b="1" dirty="0">
                <a:latin typeface="Arial" pitchFamily="34" charset="0"/>
                <a:cs typeface="Arial" pitchFamily="34" charset="0"/>
              </a:rPr>
              <a:t> the </a:t>
            </a:r>
            <a:r>
              <a:rPr lang="fr-FR" b="1" dirty="0" err="1">
                <a:latin typeface="Arial" pitchFamily="34" charset="0"/>
                <a:cs typeface="Arial" pitchFamily="34" charset="0"/>
              </a:rPr>
              <a:t>transmembrane</a:t>
            </a:r>
            <a:r>
              <a:rPr lang="fr-FR" b="1" dirty="0">
                <a:latin typeface="Arial" pitchFamily="34" charset="0"/>
                <a:cs typeface="Arial" pitchFamily="34" charset="0"/>
              </a:rPr>
              <a:t> </a:t>
            </a:r>
            <a:r>
              <a:rPr lang="fr-FR" b="1" dirty="0" err="1">
                <a:latin typeface="Arial" pitchFamily="34" charset="0"/>
                <a:cs typeface="Arial" pitchFamily="34" charset="0"/>
              </a:rPr>
              <a:t>molecules</a:t>
            </a:r>
            <a:r>
              <a:rPr lang="fr-FR" b="1" dirty="0">
                <a:latin typeface="Arial" pitchFamily="34" charset="0"/>
                <a:cs typeface="Arial" pitchFamily="34" charset="0"/>
              </a:rPr>
              <a:t> (desmocolline and </a:t>
            </a:r>
            <a:r>
              <a:rPr lang="fr-FR" b="1" dirty="0" err="1">
                <a:latin typeface="Arial" pitchFamily="34" charset="0"/>
                <a:cs typeface="Arial" pitchFamily="34" charset="0"/>
              </a:rPr>
              <a:t>desmoglein</a:t>
            </a:r>
            <a:r>
              <a:rPr lang="fr-FR" b="1" dirty="0">
                <a:latin typeface="Arial" pitchFamily="34" charset="0"/>
                <a:cs typeface="Arial" pitchFamily="34" charset="0"/>
              </a:rPr>
              <a:t>), and the dense plate </a:t>
            </a:r>
            <a:r>
              <a:rPr lang="fr-FR" b="1" dirty="0" err="1">
                <a:latin typeface="Arial" pitchFamily="34" charset="0"/>
                <a:cs typeface="Arial" pitchFamily="34" charset="0"/>
              </a:rPr>
              <a:t>molecules</a:t>
            </a:r>
            <a:r>
              <a:rPr lang="fr-FR" b="1" dirty="0">
                <a:latin typeface="Arial" pitchFamily="34" charset="0"/>
                <a:cs typeface="Arial" pitchFamily="34" charset="0"/>
              </a:rPr>
              <a:t> (</a:t>
            </a:r>
            <a:r>
              <a:rPr lang="fr-FR" b="1" dirty="0" err="1">
                <a:latin typeface="Arial" pitchFamily="34" charset="0"/>
                <a:cs typeface="Arial" pitchFamily="34" charset="0"/>
              </a:rPr>
              <a:t>desmoplakin</a:t>
            </a:r>
            <a:r>
              <a:rPr lang="fr-FR" b="1" dirty="0">
                <a:latin typeface="Arial" pitchFamily="34" charset="0"/>
                <a:cs typeface="Arial" pitchFamily="34" charset="0"/>
              </a:rPr>
              <a:t>) ⇒ </a:t>
            </a:r>
            <a:r>
              <a:rPr lang="fr-FR" b="1" dirty="0" err="1">
                <a:latin typeface="Arial" pitchFamily="34" charset="0"/>
                <a:cs typeface="Arial" pitchFamily="34" charset="0"/>
              </a:rPr>
              <a:t>plakoglobin</a:t>
            </a:r>
            <a:r>
              <a:rPr lang="fr-FR" b="1" dirty="0">
                <a:latin typeface="Arial" pitchFamily="34" charset="0"/>
                <a:cs typeface="Arial" pitchFamily="34" charset="0"/>
              </a:rPr>
              <a:t> and </a:t>
            </a:r>
            <a:r>
              <a:rPr lang="fr-FR" b="1" dirty="0" err="1">
                <a:latin typeface="Arial" pitchFamily="34" charset="0"/>
                <a:cs typeface="Arial" pitchFamily="34" charset="0"/>
              </a:rPr>
              <a:t>plakophilin</a:t>
            </a:r>
            <a:endParaRPr lang="fr-FR" spc="-5" dirty="0">
              <a:latin typeface="Arial" pitchFamily="34" charset="0"/>
              <a:cs typeface="Arial" pitchFamily="34" charset="0"/>
            </a:endParaRPr>
          </a:p>
        </p:txBody>
      </p:sp>
      <p:sp>
        <p:nvSpPr>
          <p:cNvPr id="4" name="Flèche droite 3"/>
          <p:cNvSpPr/>
          <p:nvPr/>
        </p:nvSpPr>
        <p:spPr>
          <a:xfrm>
            <a:off x="6516216" y="-266972"/>
            <a:ext cx="571504" cy="144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jpg"/>
          <p:cNvPicPr/>
          <p:nvPr/>
        </p:nvPicPr>
        <p:blipFill>
          <a:blip r:embed="rId2"/>
          <a:srcRect l="14603" t="18106" r="16764" b="3437"/>
          <a:stretch>
            <a:fillRect/>
          </a:stretch>
        </p:blipFill>
        <p:spPr>
          <a:xfrm>
            <a:off x="2285984" y="2500306"/>
            <a:ext cx="6572296" cy="4143404"/>
          </a:xfrm>
          <a:prstGeom prst="rect">
            <a:avLst/>
          </a:prstGeom>
        </p:spPr>
      </p:pic>
      <p:sp>
        <p:nvSpPr>
          <p:cNvPr id="6" name="Flèche droite 5"/>
          <p:cNvSpPr/>
          <p:nvPr/>
        </p:nvSpPr>
        <p:spPr>
          <a:xfrm>
            <a:off x="5436096" y="-302459"/>
            <a:ext cx="642942" cy="1181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 name="Image.jpg"/>
          <p:cNvPicPr/>
          <p:nvPr/>
        </p:nvPicPr>
        <p:blipFill>
          <a:blip r:embed="rId3"/>
          <a:srcRect l="11510" t="9091" r="12522" b="14545"/>
          <a:stretch>
            <a:fillRect/>
          </a:stretch>
        </p:blipFill>
        <p:spPr>
          <a:xfrm>
            <a:off x="142844" y="2571744"/>
            <a:ext cx="2000264" cy="392909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Image 4" descr="Desmosome"/>
          <p:cNvPicPr>
            <a:picLocks noChangeAspect="1" noChangeArrowheads="1"/>
          </p:cNvPicPr>
          <p:nvPr/>
        </p:nvPicPr>
        <p:blipFill>
          <a:blip r:embed="rId2"/>
          <a:srcRect/>
          <a:stretch>
            <a:fillRect/>
          </a:stretch>
        </p:blipFill>
        <p:spPr bwMode="auto">
          <a:xfrm>
            <a:off x="4572000" y="1340768"/>
            <a:ext cx="3929089" cy="4945752"/>
          </a:xfrm>
          <a:prstGeom prst="rect">
            <a:avLst/>
          </a:prstGeom>
          <a:noFill/>
          <a:ln w="9525">
            <a:noFill/>
            <a:miter lim="800000"/>
            <a:headEnd/>
            <a:tailEnd/>
          </a:ln>
        </p:spPr>
      </p:pic>
      <p:pic>
        <p:nvPicPr>
          <p:cNvPr id="2" name="Image 1"/>
          <p:cNvPicPr>
            <a:picLocks noChangeAspect="1"/>
          </p:cNvPicPr>
          <p:nvPr/>
        </p:nvPicPr>
        <p:blipFill>
          <a:blip r:embed="rId3"/>
          <a:stretch>
            <a:fillRect/>
          </a:stretch>
        </p:blipFill>
        <p:spPr>
          <a:xfrm>
            <a:off x="179512" y="476671"/>
            <a:ext cx="4289128" cy="5544617"/>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jpg"/>
          <p:cNvPicPr/>
          <p:nvPr/>
        </p:nvPicPr>
        <p:blipFill>
          <a:blip r:embed="rId2"/>
          <a:srcRect l="10844" t="25202" r="10843" b="6392"/>
          <a:stretch>
            <a:fillRect/>
          </a:stretch>
        </p:blipFill>
        <p:spPr>
          <a:xfrm>
            <a:off x="1357290" y="1714488"/>
            <a:ext cx="6572296" cy="4071966"/>
          </a:xfrm>
          <a:prstGeom prst="rect">
            <a:avLst/>
          </a:prstGeom>
        </p:spPr>
      </p:pic>
      <p:sp>
        <p:nvSpPr>
          <p:cNvPr id="3" name="Espace réservé du texte 167"/>
          <p:cNvSpPr txBox="1">
            <a:spLocks/>
          </p:cNvSpPr>
          <p:nvPr/>
        </p:nvSpPr>
        <p:spPr>
          <a:xfrm>
            <a:off x="1357290" y="1357298"/>
            <a:ext cx="8072494" cy="357190"/>
          </a:xfrm>
          <a:prstGeom prst="rect">
            <a:avLst/>
          </a:prstGeom>
          <a:noFill/>
          <a:ln w="0" cmpd="sng">
            <a:noFill/>
            <a:prstDash val="solid"/>
          </a:ln>
        </p:spPr>
        <p:txBody>
          <a:bodyPr vert="horz" lIns="0" tIns="0" rIns="0" bIns="0" rtlCol="0" anchor="t"/>
          <a:lstStyle/>
          <a:p>
            <a:pPr lvl="0">
              <a:lnSpc>
                <a:spcPct val="85439"/>
              </a:lnSpc>
              <a:tabLst>
                <a:tab pos="2743200" algn="r"/>
              </a:tabLst>
              <a:defRPr/>
            </a:pPr>
            <a:r>
              <a:rPr lang="fr-FR" spc="-20" dirty="0" err="1">
                <a:solidFill>
                  <a:srgbClr val="3333CC"/>
                </a:solidFill>
                <a:latin typeface="Arial" panose="22635452340000000000" pitchFamily="2"/>
              </a:rPr>
              <a:t>Actin</a:t>
            </a:r>
            <a:r>
              <a:rPr lang="fr-FR" spc="-20" dirty="0">
                <a:solidFill>
                  <a:srgbClr val="3333CC"/>
                </a:solidFill>
                <a:latin typeface="Arial" panose="22635452340000000000" pitchFamily="2"/>
              </a:rPr>
              <a:t> microfilaments                        </a:t>
            </a:r>
            <a:r>
              <a:rPr lang="fr-FR" spc="-20" dirty="0" err="1">
                <a:solidFill>
                  <a:srgbClr val="3333CC"/>
                </a:solidFill>
                <a:latin typeface="Arial" panose="22635452340000000000" pitchFamily="2"/>
              </a:rPr>
              <a:t>Keratin</a:t>
            </a:r>
            <a:r>
              <a:rPr lang="fr-FR" spc="-20" dirty="0">
                <a:solidFill>
                  <a:srgbClr val="3333CC"/>
                </a:solidFill>
                <a:latin typeface="Arial" panose="22635452340000000000" pitchFamily="2"/>
              </a:rPr>
              <a:t> </a:t>
            </a:r>
            <a:r>
              <a:rPr lang="fr-FR" spc="-20" dirty="0" err="1">
                <a:solidFill>
                  <a:srgbClr val="3333CC"/>
                </a:solidFill>
                <a:latin typeface="Arial" panose="22635452340000000000" pitchFamily="2"/>
              </a:rPr>
              <a:t>intermediate</a:t>
            </a:r>
            <a:r>
              <a:rPr lang="fr-FR" spc="-20" dirty="0">
                <a:solidFill>
                  <a:srgbClr val="3333CC"/>
                </a:solidFill>
                <a:latin typeface="Arial" panose="22635452340000000000" pitchFamily="2"/>
              </a:rPr>
              <a:t> filaments</a:t>
            </a:r>
            <a:endParaRPr kumimoji="0" lang="fr-FR" b="0" i="0" u="none" strike="noStrike" kern="1200" cap="none" spc="-5" normalizeH="0" baseline="0" noProof="0" dirty="0">
              <a:ln>
                <a:noFill/>
              </a:ln>
              <a:solidFill>
                <a:srgbClr val="3333CC"/>
              </a:solidFill>
              <a:effectLst/>
              <a:uLnTx/>
              <a:uFillTx/>
              <a:latin typeface="Arial" panose="22635452340000000000" pitchFamily="2"/>
              <a:ea typeface="+mn-ea"/>
              <a:cs typeface="+mn-cs"/>
            </a:endParaRPr>
          </a:p>
        </p:txBody>
      </p:sp>
      <p:sp>
        <p:nvSpPr>
          <p:cNvPr id="4" name="Rectangle 3"/>
          <p:cNvSpPr/>
          <p:nvPr/>
        </p:nvSpPr>
        <p:spPr>
          <a:xfrm>
            <a:off x="1907704" y="188640"/>
            <a:ext cx="4610173" cy="461537"/>
          </a:xfrm>
          <a:prstGeom prst="rect">
            <a:avLst/>
          </a:prstGeom>
        </p:spPr>
        <p:txBody>
          <a:bodyPr wrap="none">
            <a:spAutoFit/>
          </a:bodyPr>
          <a:lstStyle/>
          <a:p>
            <a:pPr>
              <a:lnSpc>
                <a:spcPct val="107519"/>
              </a:lnSpc>
            </a:pPr>
            <a:r>
              <a:rPr lang="en-US" sz="2400" b="1" spc="-20" dirty="0">
                <a:latin typeface="Arial" pitchFamily="34" charset="0"/>
                <a:cs typeface="Arial" pitchFamily="34" charset="0"/>
              </a:rPr>
              <a:t>Two types of cadherin junction</a:t>
            </a:r>
            <a:endParaRPr lang="fr-FR" sz="2400" b="1" spc="-20" dirty="0">
              <a:latin typeface="Arial" pitchFamily="34" charset="0"/>
              <a:cs typeface="Arial"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1142976" y="285728"/>
            <a:ext cx="6500858" cy="584775"/>
          </a:xfrm>
          <a:prstGeom prst="rect">
            <a:avLst/>
          </a:prstGeom>
          <a:noFill/>
        </p:spPr>
        <p:txBody>
          <a:bodyPr wrap="square" rtlCol="0">
            <a:spAutoFit/>
          </a:bodyPr>
          <a:lstStyle/>
          <a:p>
            <a:r>
              <a:rPr lang="fr-FR" sz="3200" b="1" dirty="0">
                <a:latin typeface="Arial" pitchFamily="34" charset="0"/>
                <a:cs typeface="Arial" pitchFamily="34" charset="0"/>
              </a:rPr>
              <a:t>4 - The </a:t>
            </a:r>
            <a:r>
              <a:rPr lang="fr-FR" sz="3200" b="1" dirty="0" err="1">
                <a:latin typeface="Arial" pitchFamily="34" charset="0"/>
                <a:cs typeface="Arial" pitchFamily="34" charset="0"/>
              </a:rPr>
              <a:t>Hemidesmosome</a:t>
            </a:r>
            <a:endParaRPr lang="fr-FR" sz="3200" b="1" dirty="0">
              <a:latin typeface="Arial" pitchFamily="34" charset="0"/>
              <a:cs typeface="Arial" pitchFamily="34" charset="0"/>
            </a:endParaRPr>
          </a:p>
        </p:txBody>
      </p:sp>
      <p:pic>
        <p:nvPicPr>
          <p:cNvPr id="5" name="Image.jpg"/>
          <p:cNvPicPr/>
          <p:nvPr/>
        </p:nvPicPr>
        <p:blipFill>
          <a:blip r:embed="rId2"/>
          <a:srcRect l="43851" t="17957" r="900" b="7216"/>
          <a:stretch>
            <a:fillRect/>
          </a:stretch>
        </p:blipFill>
        <p:spPr>
          <a:xfrm>
            <a:off x="2143108" y="3357562"/>
            <a:ext cx="4857784" cy="3214710"/>
          </a:xfrm>
          <a:prstGeom prst="rect">
            <a:avLst/>
          </a:prstGeom>
        </p:spPr>
      </p:pic>
      <p:sp>
        <p:nvSpPr>
          <p:cNvPr id="6" name="Rectangle 5"/>
          <p:cNvSpPr/>
          <p:nvPr/>
        </p:nvSpPr>
        <p:spPr>
          <a:xfrm>
            <a:off x="357158" y="928670"/>
            <a:ext cx="8286808" cy="2515369"/>
          </a:xfrm>
          <a:prstGeom prst="rect">
            <a:avLst/>
          </a:prstGeom>
        </p:spPr>
        <p:txBody>
          <a:bodyPr wrap="square">
            <a:spAutoFit/>
          </a:bodyPr>
          <a:lstStyle/>
          <a:p>
            <a:pPr marL="502920" lvl="0">
              <a:lnSpc>
                <a:spcPts val="3700"/>
              </a:lnSpc>
              <a:spcBef>
                <a:spcPts val="900"/>
              </a:spcBef>
              <a:buFont typeface="Arial" pitchFamily="34" charset="0"/>
              <a:buChar char="•"/>
              <a:defRPr/>
            </a:pPr>
            <a:r>
              <a:rPr lang="en-US" spc="-10" dirty="0">
                <a:solidFill>
                  <a:srgbClr val="000000"/>
                </a:solidFill>
                <a:latin typeface="Arial" pitchFamily="34" charset="0"/>
                <a:cs typeface="Arial" pitchFamily="34" charset="0"/>
              </a:rPr>
              <a:t>Located at the basal pole of the epithelia, they attach the epithelium to the basal lamina; by interaction between the integrins of the hemidesmosomes and the laminins of the basal lamina. 
 "plaque" </a:t>
            </a:r>
            <a:r>
              <a:rPr lang="en-US" spc="-10" dirty="0" err="1">
                <a:solidFill>
                  <a:srgbClr val="000000"/>
                </a:solidFill>
                <a:latin typeface="Arial" pitchFamily="34" charset="0"/>
                <a:cs typeface="Arial" pitchFamily="34" charset="0"/>
              </a:rPr>
              <a:t>Plectin</a:t>
            </a:r>
            <a:r>
              <a:rPr lang="en-US" spc="-10" dirty="0">
                <a:solidFill>
                  <a:srgbClr val="000000"/>
                </a:solidFill>
                <a:latin typeface="Arial" pitchFamily="34" charset="0"/>
                <a:cs typeface="Arial" pitchFamily="34" charset="0"/>
              </a:rPr>
              <a:t>: it is a structural protein that binds cell membranes to intermediate cytokeratin filaments</a:t>
            </a:r>
            <a:endParaRPr lang="fr-FR" spc="-10" dirty="0">
              <a:solidFill>
                <a:srgbClr val="000000"/>
              </a:solidFill>
              <a:latin typeface="Times New Roman" panose="22635452340000000000" pitchFamily="1"/>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770" y="548680"/>
            <a:ext cx="9286940" cy="4873129"/>
          </a:xfrm>
          <a:prstGeom prst="rect">
            <a:avLst/>
          </a:prstGeom>
        </p:spPr>
        <p:txBody>
          <a:bodyPr wrap="square">
            <a:spAutoFit/>
          </a:bodyPr>
          <a:lstStyle/>
          <a:p>
            <a:pPr indent="365760">
              <a:spcBef>
                <a:spcPts val="1620"/>
              </a:spcBef>
            </a:pPr>
            <a:r>
              <a:rPr lang="en-US" sz="2000" b="1" spc="-90" dirty="0">
                <a:solidFill>
                  <a:srgbClr val="000000"/>
                </a:solidFill>
                <a:latin typeface="Arial" pitchFamily="34" charset="0"/>
                <a:cs typeface="Arial" pitchFamily="34" charset="0"/>
              </a:rPr>
              <a:t>5 - Gap junctions (nexus)
– Allow direct communication between the </a:t>
            </a:r>
            <a:r>
              <a:rPr lang="en-US" sz="2000" b="1" spc="-90" dirty="0" err="1">
                <a:solidFill>
                  <a:srgbClr val="000000"/>
                </a:solidFill>
                <a:latin typeface="Arial" pitchFamily="34" charset="0"/>
                <a:cs typeface="Arial" pitchFamily="34" charset="0"/>
              </a:rPr>
              <a:t>cytoplasms</a:t>
            </a:r>
            <a:r>
              <a:rPr lang="en-US" sz="2000" b="1" spc="-90" dirty="0">
                <a:solidFill>
                  <a:srgbClr val="000000"/>
                </a:solidFill>
                <a:latin typeface="Arial" pitchFamily="34" charset="0"/>
                <a:cs typeface="Arial" pitchFamily="34" charset="0"/>
              </a:rPr>
              <a:t> of adjacent cells
– Exist in most tissues of the body: epithelia, osteocytes, myocardial cells, smooth muscle cells, nervous system
– Passage of chemical or electrical signals between cells
– Small molecule exchanges or ion passages
Passage of ions and therefore of an electric current from one cell to another.
Molecules up to 1500 </a:t>
            </a:r>
            <a:r>
              <a:rPr lang="en-US" sz="2000" b="1" spc="-90" dirty="0" err="1">
                <a:solidFill>
                  <a:srgbClr val="000000"/>
                </a:solidFill>
                <a:latin typeface="Arial" pitchFamily="34" charset="0"/>
                <a:cs typeface="Arial" pitchFamily="34" charset="0"/>
              </a:rPr>
              <a:t>daltons</a:t>
            </a:r>
            <a:r>
              <a:rPr lang="en-US" sz="2000" b="1" spc="-90" dirty="0">
                <a:solidFill>
                  <a:srgbClr val="000000"/>
                </a:solidFill>
                <a:latin typeface="Arial" pitchFamily="34" charset="0"/>
                <a:cs typeface="Arial" pitchFamily="34" charset="0"/>
              </a:rPr>
              <a:t>, ions: Na+, K+,</a:t>
            </a:r>
            <a:r>
              <a:rPr lang="fr-FR" sz="2000" dirty="0">
                <a:latin typeface="Arial" pitchFamily="34" charset="0"/>
                <a:ea typeface="Times New Roman" pitchFamily="18" charset="0"/>
                <a:cs typeface="Arial" pitchFamily="34" charset="0"/>
              </a:rPr>
              <a:t> </a:t>
            </a:r>
            <a:r>
              <a:rPr lang="fr-FR" sz="2000" b="1" dirty="0">
                <a:latin typeface="Arial" pitchFamily="34" charset="0"/>
                <a:ea typeface="Times New Roman" pitchFamily="18" charset="0"/>
                <a:cs typeface="Arial" pitchFamily="34" charset="0"/>
              </a:rPr>
              <a:t>Ca</a:t>
            </a:r>
            <a:r>
              <a:rPr lang="fr-FR" sz="2000" b="1" baseline="30000" dirty="0">
                <a:latin typeface="Arial" pitchFamily="34" charset="0"/>
                <a:ea typeface="Times New Roman" pitchFamily="18" charset="0"/>
                <a:cs typeface="Arial" pitchFamily="34" charset="0"/>
              </a:rPr>
              <a:t>2+</a:t>
            </a:r>
            <a:r>
              <a:rPr lang="en-US" sz="2000" b="1" spc="-90" dirty="0">
                <a:solidFill>
                  <a:srgbClr val="000000"/>
                </a:solidFill>
                <a:latin typeface="Arial" pitchFamily="34" charset="0"/>
                <a:cs typeface="Arial" pitchFamily="34" charset="0"/>
              </a:rPr>
              <a:t>, CI.
Exchange of cAMP and metabolite.
Security: Shutting down when cytosolic [Ca] increases.</a:t>
            </a:r>
            <a:endParaRPr lang="fr-FR" sz="2000" spc="-30" dirty="0">
              <a:solidFill>
                <a:srgbClr val="000000"/>
              </a:solidFill>
              <a:latin typeface="Arial" pitchFamily="34" charset="0"/>
              <a:cs typeface="Arial"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jpg"/>
          <p:cNvPicPr/>
          <p:nvPr/>
        </p:nvPicPr>
        <p:blipFill>
          <a:blip r:embed="rId2"/>
          <a:stretch>
            <a:fillRect/>
          </a:stretch>
        </p:blipFill>
        <p:spPr>
          <a:xfrm>
            <a:off x="285720" y="500042"/>
            <a:ext cx="8715436" cy="600079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l="418" t="6018" r="31171" b="1389"/>
          <a:stretch>
            <a:fillRect/>
          </a:stretch>
        </p:blipFill>
        <p:spPr bwMode="auto">
          <a:xfrm>
            <a:off x="928662" y="428604"/>
            <a:ext cx="7143800" cy="6143668"/>
          </a:xfrm>
          <a:prstGeom prst="rect">
            <a:avLst/>
          </a:prstGeom>
          <a:noFill/>
          <a:ln w="9525">
            <a:noFill/>
            <a:miter lim="800000"/>
            <a:headEnd/>
            <a:tailEnd/>
          </a:ln>
          <a:effectLst/>
        </p:spPr>
      </p:pic>
      <p:sp>
        <p:nvSpPr>
          <p:cNvPr id="5" name="ZoneTexte 4"/>
          <p:cNvSpPr txBox="1"/>
          <p:nvPr/>
        </p:nvSpPr>
        <p:spPr>
          <a:xfrm>
            <a:off x="1071538" y="2143116"/>
            <a:ext cx="2286016" cy="307777"/>
          </a:xfrm>
          <a:prstGeom prst="rect">
            <a:avLst/>
          </a:prstGeom>
          <a:noFill/>
        </p:spPr>
        <p:txBody>
          <a:bodyPr wrap="square" rtlCol="0">
            <a:spAutoFit/>
          </a:bodyPr>
          <a:lstStyle/>
          <a:p>
            <a:r>
              <a:rPr lang="fr-FR" sz="1400" b="1" dirty="0">
                <a:latin typeface="Arial" pitchFamily="34" charset="0"/>
                <a:cs typeface="Arial" pitchFamily="34" charset="0"/>
              </a:rPr>
              <a:t>jonction d’ancrage</a:t>
            </a:r>
          </a:p>
        </p:txBody>
      </p:sp>
    </p:spTree>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20106</TotalTime>
  <Words>1002</Words>
  <Application>Microsoft Office PowerPoint</Application>
  <PresentationFormat>Affichage à l'écran (4:3)</PresentationFormat>
  <Paragraphs>132</Paragraphs>
  <Slides>28</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28</vt:i4>
      </vt:variant>
    </vt:vector>
  </HeadingPairs>
  <TitlesOfParts>
    <vt:vector size="34" baseType="lpstr">
      <vt:lpstr>Arial</vt:lpstr>
      <vt:lpstr>Calibri</vt:lpstr>
      <vt:lpstr>Century Schoolbook</vt:lpstr>
      <vt:lpstr>Symbol</vt:lpstr>
      <vt:lpstr>Times New Roman</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user</dc:creator>
  <cp:lastModifiedBy>Amel</cp:lastModifiedBy>
  <cp:revision>393</cp:revision>
  <dcterms:created xsi:type="dcterms:W3CDTF">2014-02-16T15:36:29Z</dcterms:created>
  <dcterms:modified xsi:type="dcterms:W3CDTF">2026-01-24T11:30:33Z</dcterms:modified>
</cp:coreProperties>
</file>