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2" r:id="rId3"/>
    <p:sldId id="283" r:id="rId4"/>
    <p:sldId id="258" r:id="rId5"/>
    <p:sldId id="259" r:id="rId6"/>
    <p:sldId id="260" r:id="rId7"/>
    <p:sldId id="272" r:id="rId8"/>
    <p:sldId id="273" r:id="rId9"/>
    <p:sldId id="274" r:id="rId10"/>
    <p:sldId id="267" r:id="rId11"/>
    <p:sldId id="266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8AE85AA-6E80-84ED-6FD9-129F91B89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E742C234-88B3-C129-B935-C8E61BD71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3D9C7B83-7559-3B69-BECE-8C524BF80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DFC7F8B3-8E57-E930-CC48-61869B3F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E786F32E-62C5-28F2-1D73-280DA676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70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64970F3-B072-455D-3EA5-F240E054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238E4E43-1DB0-8A8A-A2B1-872310D81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96F05173-4184-F1D6-E925-BE2CBFFEF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34603D17-BA26-8ABC-8589-CBCFF606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303A2EB2-EC02-52CE-99BF-A2D2C9EB3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41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E83E918-DAE4-1DE1-7A45-5A4F9C2E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65B8D83F-E8DB-A183-F6F2-DDC5F0A8F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045565CF-8AA0-620B-5F35-67F3121B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79FABB2C-CF11-A6B4-2477-81595836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0C69DAF-AEEC-6201-A803-23B74B21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42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9B87464-F81F-83F5-A0F5-56192BBE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A95E38E-AFF3-7B6E-C015-0D89030E1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927070DB-3B02-2ACC-AE3C-B6A3135BD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273A4502-E7E3-9A2F-ABB1-6DCEB8E0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A58002F8-E2EB-FC53-685C-D2A0A6F5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7B28180-D151-2BD6-AB66-A33843B9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16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621C47A-9B95-295E-C8B2-BDF14884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1A87676B-B957-B87D-6D8C-D25086CC8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879391C7-6DEC-5EBF-295A-2429C1D06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12BD11B9-E37E-0868-3EEE-CB77437D6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9A256DC1-5094-E97F-DD96-2E3F99689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982B74DB-815F-195F-A1AF-2F38AB3F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2BDB3042-4EE1-F77D-0FE9-8C8D4CA6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9680B832-A484-3169-3C49-462910AA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74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0E41547-AB45-FF3D-1197-3189276D3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6A873E2D-9CD9-0428-AEDF-B9BF3306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3879E05-0578-F2B9-4494-07CB4F50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DAA00D8F-D04F-7728-D17F-AA559E43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567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CD9FB575-B05A-EC96-BD0A-31889A53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13264474-0384-102A-F43D-B9C720C9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40C98669-4680-DB8C-2BFF-8BCF2838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47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D1932EE-0DED-4B09-038F-02DECB77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77CAE70-4C54-2B34-7FEC-A41FE62F4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C18353A0-B2F9-A69F-C200-1D1A3C924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BB2AE49F-68DA-A922-D459-AB2FD82D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5C00642C-80FA-F91C-DD90-1CA7ED76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0FBB80BD-77C3-14F6-F064-DA3E57E7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4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2112F55-39DA-0B24-96D2-2BECA894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4CD3FC1F-2470-DE46-6DDC-2F70A3BB1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6D3D03EB-B1D9-AE90-77BC-4FB7D8A22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57456FD7-E053-9377-6301-413E978D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000CDF4F-EE28-B04D-113E-43B0C7FD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2F2618F3-7192-98A4-8CCB-F38CE1D9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88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C11654A-BD07-A38D-504A-0E2405A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FB260F3E-25E4-B36F-A43A-54D85D961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7DCA3F30-182E-482E-053F-F48ABA5E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3318E258-C67C-21F1-8380-386F1836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4749B7E4-2F92-EB5F-A04C-3E992F1E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93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C1C5D61C-FEBE-BAE3-E559-8ED13DF30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B2996402-ABAE-7A09-5E6A-B476D1CA6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8BDCA4B3-9900-38BD-1CA0-DC652BC9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9AAE48A-9D4E-6502-341D-39A5AA2D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E4A88079-E94E-BBB5-75EC-502D520C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48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511F385C-4504-B5BC-153A-197F477B9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BC7C4932-89CC-92F6-3669-00A36C6C1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90B9EC1F-5C90-5C25-13E2-D83EE5F1E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550EC-9BA7-4BB0-9EE6-D35C18AD0D20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48631BA-4F7D-953B-7B41-8F6310E74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4C45226-7DB5-38D4-AA24-0936A6E60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E8AB7-6181-4B8C-B69C-BDB984E2E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26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09800" y="1382487"/>
            <a:ext cx="7772400" cy="2286000"/>
          </a:xfrm>
        </p:spPr>
        <p:txBody>
          <a:bodyPr>
            <a:noAutofit/>
          </a:bodyPr>
          <a:lstStyle/>
          <a:p>
            <a:pPr algn="ctr"/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Cours</a:t>
            </a:r>
            <a:r>
              <a:rPr lang="fr-FR" sz="2800" spc="-145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du</a:t>
            </a:r>
            <a:r>
              <a:rPr lang="fr-FR" sz="2800" spc="-25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module</a:t>
            </a:r>
            <a:r>
              <a:rPr lang="fr-FR" sz="2800" spc="-135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santé</a:t>
            </a:r>
            <a:r>
              <a:rPr lang="fr-FR" sz="2800" spc="-11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20" dirty="0">
                <a:solidFill>
                  <a:schemeClr val="tx2"/>
                </a:solidFill>
                <a:latin typeface="Constantia"/>
                <a:cs typeface="Constantia"/>
              </a:rPr>
              <a:t>société</a:t>
            </a:r>
            <a:r>
              <a:rPr lang="fr-FR" sz="2800" spc="-14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et</a:t>
            </a:r>
            <a:r>
              <a:rPr lang="fr-FR" sz="2800" spc="-6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humanité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1</a:t>
            </a:r>
            <a:r>
              <a:rPr lang="fr-FR" sz="2800" baseline="26143" dirty="0">
                <a:solidFill>
                  <a:schemeClr val="tx2"/>
                </a:solidFill>
                <a:latin typeface="Constantia"/>
                <a:cs typeface="Constantia"/>
              </a:rPr>
              <a:t>ère</a:t>
            </a:r>
            <a:r>
              <a:rPr lang="fr-FR" sz="2800" spc="127" baseline="26143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année</a:t>
            </a:r>
            <a:r>
              <a:rPr lang="fr-FR" sz="2800" spc="-9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médecine 2025_ 2026</a:t>
            </a:r>
            <a:b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</a:b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/>
            </a:r>
            <a:b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</a:br>
            <a:r>
              <a:rPr lang="fr-FR" sz="3600" spc="-10" dirty="0">
                <a:solidFill>
                  <a:srgbClr val="C00000"/>
                </a:solidFill>
                <a:latin typeface="Constantia"/>
                <a:cs typeface="Constantia"/>
              </a:rPr>
              <a:t>Déontologie médicale</a:t>
            </a:r>
            <a:endParaRPr lang="fr-FR" sz="3600" dirty="0">
              <a:solidFill>
                <a:srgbClr val="C0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4596209"/>
            <a:ext cx="9144000" cy="1569660"/>
          </a:xfrm>
        </p:spPr>
        <p:txBody>
          <a:bodyPr/>
          <a:lstStyle/>
          <a:p>
            <a:r>
              <a:rPr lang="fr-FR" sz="2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Docteur </a:t>
            </a:r>
            <a:r>
              <a:rPr lang="fr-FR" sz="28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H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. </a:t>
            </a:r>
            <a:r>
              <a:rPr lang="fr-FR" sz="28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CHOUTI</a:t>
            </a:r>
            <a:endParaRPr lang="fr-FR" sz="28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r>
              <a:rPr lang="fr-FR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Maitre </a:t>
            </a:r>
            <a:r>
              <a:rPr lang="fr-FR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assistant </a:t>
            </a:r>
            <a:r>
              <a:rPr lang="fr-FR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en Médecine Légale Droit médical et Ethique                               au C.H.U.C. </a:t>
            </a:r>
            <a:endParaRPr lang="fr-FR" sz="2800" dirty="0">
              <a:latin typeface="Times New Roman" panose="02020603050405020304"/>
              <a:ea typeface="Times New Roman" panose="02020603050405020304"/>
            </a:endParaRPr>
          </a:p>
          <a:p>
            <a:endParaRPr lang="fr-FR" dirty="0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1"/>
            <a:ext cx="971600" cy="858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5" descr="C:\Documents and Settings\DIRECTION DES ETUDES\Bureau\th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920" y="1"/>
            <a:ext cx="1187450" cy="858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87488" y="-27384"/>
            <a:ext cx="899592" cy="856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4A3CC7D-3500-B9A8-5FF8-49A78FF4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 </a:t>
            </a:r>
            <a:r>
              <a:rPr lang="fr-FR" dirty="0"/>
              <a:t/>
            </a:r>
            <a:br>
              <a:rPr lang="fr-FR" dirty="0"/>
            </a:br>
            <a:r>
              <a:rPr lang="en-US" b="1" dirty="0"/>
              <a:t> </a:t>
            </a:r>
            <a:r>
              <a:rPr lang="en-US" dirty="0"/>
              <a:t>	</a:t>
            </a:r>
            <a:r>
              <a:rPr lang="en-US" b="1" dirty="0"/>
              <a:t>Introduction :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9EA6D03-73BD-D00D-3E23-ED50E30B3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 mot </a:t>
            </a:r>
            <a:r>
              <a:rPr lang="en-US" dirty="0" err="1"/>
              <a:t>déontologie</a:t>
            </a:r>
            <a:r>
              <a:rPr lang="en-US" dirty="0"/>
              <a:t> est </a:t>
            </a:r>
            <a:r>
              <a:rPr lang="en-US" dirty="0" err="1"/>
              <a:t>d’origine</a:t>
            </a:r>
            <a:r>
              <a:rPr lang="en-US" dirty="0"/>
              <a:t> </a:t>
            </a:r>
            <a:r>
              <a:rPr lang="en-US" dirty="0" err="1"/>
              <a:t>Grec</a:t>
            </a:r>
            <a:r>
              <a:rPr lang="en-US" dirty="0"/>
              <a:t> : « </a:t>
            </a:r>
            <a:r>
              <a:rPr lang="en-US" dirty="0" err="1"/>
              <a:t>Deontos</a:t>
            </a:r>
            <a:r>
              <a:rPr lang="en-US" dirty="0"/>
              <a:t> » : « Ce </a:t>
            </a:r>
            <a:r>
              <a:rPr lang="en-US" dirty="0" err="1"/>
              <a:t>qu’il</a:t>
            </a:r>
            <a:r>
              <a:rPr lang="en-US" dirty="0"/>
              <a:t> faut faire ». </a:t>
            </a:r>
            <a:endParaRPr lang="fr-FR" dirty="0"/>
          </a:p>
          <a:p>
            <a:r>
              <a:rPr lang="en-US" dirty="0"/>
              <a:t>Logos = « </a:t>
            </a:r>
            <a:r>
              <a:rPr lang="en-US" dirty="0" err="1"/>
              <a:t>Discours</a:t>
            </a:r>
            <a:r>
              <a:rPr lang="en-US" dirty="0"/>
              <a:t> ». </a:t>
            </a:r>
            <a:endParaRPr lang="fr-FR" dirty="0"/>
          </a:p>
          <a:p>
            <a:r>
              <a:rPr lang="en-US" dirty="0"/>
              <a:t>La </a:t>
            </a:r>
            <a:r>
              <a:rPr lang="en-US" dirty="0" err="1"/>
              <a:t>déontologie</a:t>
            </a:r>
            <a:r>
              <a:rPr lang="en-US" dirty="0"/>
              <a:t> est </a:t>
            </a:r>
            <a:r>
              <a:rPr lang="en-US" dirty="0" err="1"/>
              <a:t>l’ensemble</a:t>
            </a:r>
            <a:r>
              <a:rPr lang="en-US" dirty="0"/>
              <a:t> des principes, des </a:t>
            </a:r>
            <a:r>
              <a:rPr lang="en-US" dirty="0" err="1"/>
              <a:t>règles</a:t>
            </a:r>
            <a:r>
              <a:rPr lang="en-US" dirty="0"/>
              <a:t> et usages (ensemble des devoirs et </a:t>
            </a:r>
            <a:r>
              <a:rPr lang="fr-FR" dirty="0"/>
              <a:t> </a:t>
            </a:r>
            <a:r>
              <a:rPr lang="en-US" dirty="0"/>
              <a:t>des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professionnelles</a:t>
            </a:r>
            <a:r>
              <a:rPr lang="en-US" dirty="0"/>
              <a:t>) </a:t>
            </a:r>
            <a:r>
              <a:rPr lang="en-US" dirty="0" err="1"/>
              <a:t>que</a:t>
            </a:r>
            <a:r>
              <a:rPr lang="en-US" dirty="0"/>
              <a:t> tout </a:t>
            </a:r>
            <a:r>
              <a:rPr lang="en-US" dirty="0" err="1"/>
              <a:t>médecin</a:t>
            </a:r>
            <a:r>
              <a:rPr lang="en-US" dirty="0"/>
              <a:t> doit les appliquer au </a:t>
            </a:r>
            <a:r>
              <a:rPr lang="en-US" dirty="0" err="1"/>
              <a:t>cours</a:t>
            </a:r>
            <a:r>
              <a:rPr lang="en-US" dirty="0"/>
              <a:t> de </a:t>
            </a:r>
            <a:r>
              <a:rPr lang="en-US" dirty="0" err="1"/>
              <a:t>l’exercice</a:t>
            </a:r>
            <a:r>
              <a:rPr lang="en-US" dirty="0"/>
              <a:t> </a:t>
            </a:r>
            <a:r>
              <a:rPr lang="en-US" dirty="0" err="1"/>
              <a:t>professionnel</a:t>
            </a:r>
            <a:r>
              <a:rPr lang="en-US" dirty="0"/>
              <a:t>. </a:t>
            </a:r>
          </a:p>
          <a:p>
            <a:r>
              <a:rPr lang="en-US" dirty="0"/>
              <a:t>Leur observance est </a:t>
            </a:r>
            <a:r>
              <a:rPr lang="en-US" dirty="0" err="1"/>
              <a:t>générale</a:t>
            </a:r>
            <a:r>
              <a:rPr lang="en-US" dirty="0"/>
              <a:t> et </a:t>
            </a:r>
            <a:r>
              <a:rPr lang="en-US" dirty="0" err="1"/>
              <a:t>absolue</a:t>
            </a:r>
            <a:r>
              <a:rPr lang="en-US" dirty="0"/>
              <a:t>. En </a:t>
            </a:r>
            <a:r>
              <a:rPr lang="en-US" dirty="0" err="1"/>
              <a:t>cas</a:t>
            </a:r>
            <a:r>
              <a:rPr lang="en-US" dirty="0"/>
              <a:t> de non-respect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de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règles</a:t>
            </a:r>
            <a:r>
              <a:rPr lang="en-US" dirty="0"/>
              <a:t>,  le </a:t>
            </a:r>
            <a:r>
              <a:rPr lang="en-US" dirty="0" err="1"/>
              <a:t>médecin</a:t>
            </a:r>
            <a:r>
              <a:rPr lang="en-US" dirty="0"/>
              <a:t> </a:t>
            </a:r>
            <a:r>
              <a:rPr lang="en-US" dirty="0" err="1"/>
              <a:t>encourt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responsabilité</a:t>
            </a:r>
            <a:r>
              <a:rPr lang="en-US" dirty="0"/>
              <a:t> </a:t>
            </a:r>
            <a:r>
              <a:rPr lang="en-US" dirty="0" err="1"/>
              <a:t>ordinale</a:t>
            </a:r>
            <a:r>
              <a:rPr lang="en-US" dirty="0"/>
              <a:t> (</a:t>
            </a:r>
            <a:r>
              <a:rPr lang="en-US" dirty="0" err="1"/>
              <a:t>responsabilité</a:t>
            </a:r>
            <a:r>
              <a:rPr lang="en-US" dirty="0"/>
              <a:t> source de sanction). 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915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C7AF77D-ECF3-B682-36F4-B69590EE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A690D5DA-1A95-54E1-0325-66115B49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Les </a:t>
            </a:r>
            <a:r>
              <a:rPr lang="en-US" dirty="0" err="1"/>
              <a:t>règles</a:t>
            </a:r>
            <a:r>
              <a:rPr lang="en-US" dirty="0"/>
              <a:t> relatives à la </a:t>
            </a:r>
            <a:r>
              <a:rPr lang="en-US" dirty="0" err="1"/>
              <a:t>déontologie</a:t>
            </a:r>
            <a:r>
              <a:rPr lang="en-US" dirty="0"/>
              <a:t> </a:t>
            </a:r>
            <a:r>
              <a:rPr lang="en-US" dirty="0" err="1"/>
              <a:t>médicale</a:t>
            </a:r>
            <a:r>
              <a:rPr lang="en-US" dirty="0"/>
              <a:t> </a:t>
            </a:r>
            <a:r>
              <a:rPr lang="en-US" dirty="0" err="1"/>
              <a:t>s’imposent</a:t>
            </a:r>
            <a:r>
              <a:rPr lang="en-US" dirty="0"/>
              <a:t> à tout </a:t>
            </a:r>
            <a:r>
              <a:rPr lang="en-US" dirty="0" err="1"/>
              <a:t>médecin</a:t>
            </a:r>
            <a:r>
              <a:rPr lang="en-US" dirty="0"/>
              <a:t>,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étudiant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médecine</a:t>
            </a:r>
            <a:r>
              <a:rPr lang="en-US" dirty="0"/>
              <a:t> </a:t>
            </a:r>
            <a:r>
              <a:rPr lang="en-US" dirty="0" err="1"/>
              <a:t>autorisé</a:t>
            </a:r>
            <a:r>
              <a:rPr lang="en-US" dirty="0"/>
              <a:t> à </a:t>
            </a:r>
            <a:r>
              <a:rPr lang="en-US" dirty="0" err="1"/>
              <a:t>exercer</a:t>
            </a:r>
            <a:r>
              <a:rPr lang="en-US" dirty="0"/>
              <a:t> la profession dans les conditions </a:t>
            </a:r>
            <a:r>
              <a:rPr lang="en-US" dirty="0" err="1"/>
              <a:t>prévues</a:t>
            </a:r>
            <a:r>
              <a:rPr lang="en-US" dirty="0"/>
              <a:t> par la </a:t>
            </a:r>
            <a:r>
              <a:rPr lang="en-US" dirty="0" err="1"/>
              <a:t>législation</a:t>
            </a:r>
            <a:r>
              <a:rPr lang="en-US" dirty="0"/>
              <a:t> et la </a:t>
            </a:r>
            <a:r>
              <a:rPr lang="en-US" dirty="0" err="1"/>
              <a:t>réglementation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vigueur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/>
              <a:t>Les droits du </a:t>
            </a:r>
            <a:r>
              <a:rPr lang="en-US" dirty="0" err="1"/>
              <a:t>malade</a:t>
            </a:r>
            <a:r>
              <a:rPr lang="en-US" dirty="0"/>
              <a:t> dans la relation </a:t>
            </a:r>
            <a:r>
              <a:rPr lang="en-US" dirty="0" err="1"/>
              <a:t>médecin</a:t>
            </a:r>
            <a:r>
              <a:rPr lang="en-US" dirty="0"/>
              <a:t> /</a:t>
            </a:r>
            <a:r>
              <a:rPr lang="en-US" dirty="0" err="1"/>
              <a:t>malade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de plus </a:t>
            </a:r>
            <a:r>
              <a:rPr lang="en-US" dirty="0" err="1"/>
              <a:t>en</a:t>
            </a:r>
            <a:r>
              <a:rPr lang="en-US" dirty="0"/>
              <a:t> plus </a:t>
            </a:r>
            <a:r>
              <a:rPr lang="en-US" dirty="0" err="1"/>
              <a:t>renforcés</a:t>
            </a:r>
            <a:r>
              <a:rPr lang="en-US" dirty="0"/>
              <a:t> et les </a:t>
            </a:r>
            <a:r>
              <a:rPr lang="en-US" dirty="0" err="1"/>
              <a:t>évolutions</a:t>
            </a:r>
            <a:r>
              <a:rPr lang="en-US" dirty="0"/>
              <a:t> </a:t>
            </a:r>
            <a:r>
              <a:rPr lang="en-US" dirty="0" err="1"/>
              <a:t>sociales</a:t>
            </a:r>
            <a:r>
              <a:rPr lang="en-US" dirty="0"/>
              <a:t> </a:t>
            </a:r>
            <a:r>
              <a:rPr lang="en-US" dirty="0" err="1"/>
              <a:t>notamment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matière de protection de la </a:t>
            </a:r>
            <a:r>
              <a:rPr lang="en-US" dirty="0" err="1"/>
              <a:t>dignité</a:t>
            </a:r>
            <a:r>
              <a:rPr lang="en-US" dirty="0"/>
              <a:t> de la </a:t>
            </a:r>
            <a:r>
              <a:rPr lang="en-US" dirty="0" err="1"/>
              <a:t>personne</a:t>
            </a:r>
            <a:r>
              <a:rPr lang="en-US" dirty="0"/>
              <a:t>, </a:t>
            </a:r>
            <a:r>
              <a:rPr lang="en-US" dirty="0" err="1"/>
              <a:t>d’accompagnement</a:t>
            </a:r>
            <a:r>
              <a:rPr lang="en-US" dirty="0"/>
              <a:t> des </a:t>
            </a:r>
            <a:r>
              <a:rPr lang="en-US" dirty="0" err="1"/>
              <a:t>personnes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fin de vie, de la recherche </a:t>
            </a:r>
            <a:r>
              <a:rPr lang="en-US" dirty="0" err="1"/>
              <a:t>biomédicale</a:t>
            </a:r>
            <a:r>
              <a:rPr lang="en-US" dirty="0"/>
              <a:t> et de la </a:t>
            </a:r>
            <a:endParaRPr lang="fr-FR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sécurité</a:t>
            </a:r>
            <a:r>
              <a:rPr lang="en-US" dirty="0"/>
              <a:t> des patients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intégrées</a:t>
            </a:r>
            <a:r>
              <a:rPr lang="en-US" dirty="0"/>
              <a:t> dans les </a:t>
            </a:r>
            <a:r>
              <a:rPr lang="en-US" dirty="0" err="1"/>
              <a:t>règles</a:t>
            </a:r>
            <a:r>
              <a:rPr lang="en-US" dirty="0"/>
              <a:t> </a:t>
            </a:r>
            <a:r>
              <a:rPr lang="en-US" dirty="0" err="1"/>
              <a:t>déontologiques</a:t>
            </a:r>
            <a:r>
              <a:rPr lang="en-US" dirty="0"/>
              <a:t> (devoirs des </a:t>
            </a:r>
            <a:r>
              <a:rPr lang="en-US" dirty="0" err="1"/>
              <a:t>médecins</a:t>
            </a:r>
            <a:r>
              <a:rPr lang="en-US" dirty="0"/>
              <a:t> </a:t>
            </a:r>
            <a:r>
              <a:rPr lang="en-US" dirty="0" err="1"/>
              <a:t>envers</a:t>
            </a:r>
            <a:r>
              <a:rPr lang="en-US" dirty="0"/>
              <a:t> les </a:t>
            </a:r>
            <a:r>
              <a:rPr lang="en-US" dirty="0" err="1"/>
              <a:t>malades</a:t>
            </a:r>
            <a:r>
              <a:rPr lang="en-US" dirty="0"/>
              <a:t>).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080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-Donc la déontologie médicale est définie comme étant l’ensemble des principes, règles et usages que doit respecter le médecin ou l’étudiant en médecine dans l’exercice de la profession médicale.</a:t>
            </a:r>
          </a:p>
          <a:p>
            <a:r>
              <a:rPr lang="fr-FR" dirty="0"/>
              <a:t>Pour cela il existe un code de déontologie médicale qui précise :</a:t>
            </a:r>
          </a:p>
          <a:p>
            <a:pPr>
              <a:buNone/>
            </a:pPr>
            <a:r>
              <a:rPr lang="fr-FR" dirty="0"/>
              <a:t>*Les devoirs du médecin envers ses confrères.</a:t>
            </a:r>
          </a:p>
          <a:p>
            <a:pPr>
              <a:buNone/>
            </a:pPr>
            <a:r>
              <a:rPr lang="fr-FR" dirty="0"/>
              <a:t>*Les relations et devoirs du médecin envers les membres des autres professions de santé.</a:t>
            </a:r>
          </a:p>
          <a:p>
            <a:pPr>
              <a:buNone/>
            </a:pPr>
            <a:r>
              <a:rPr lang="fr-FR" dirty="0"/>
              <a:t>*Les devoirs du médecin envers les malades et la société.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199" y="-1632857"/>
            <a:ext cx="11027229" cy="3548743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u="sng" dirty="0"/>
              <a:t/>
            </a:r>
            <a:br>
              <a:rPr lang="fr-FR" b="1" u="sng" dirty="0"/>
            </a:br>
            <a:r>
              <a:rPr lang="fr-FR" b="1" u="sng" dirty="0"/>
              <a:t/>
            </a:r>
            <a:br>
              <a:rPr lang="fr-FR" b="1" u="sng" dirty="0"/>
            </a:br>
            <a:r>
              <a:rPr lang="fr-FR" b="1" u="sng" dirty="0"/>
              <a:t/>
            </a:r>
            <a:br>
              <a:rPr lang="fr-FR" b="1" u="sng" dirty="0"/>
            </a:br>
            <a:r>
              <a:rPr lang="fr-FR" b="1" u="sng" dirty="0"/>
              <a:t/>
            </a:r>
            <a:br>
              <a:rPr lang="fr-FR" b="1" u="sng" dirty="0"/>
            </a:br>
            <a:r>
              <a:rPr lang="fr-FR" b="1" u="sng" dirty="0"/>
              <a:t/>
            </a:r>
            <a:br>
              <a:rPr lang="fr-FR" b="1" u="sng" dirty="0"/>
            </a:b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ORIGINE DE LA DEONTOLOGIE MEDICALE 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38200" y="1817914"/>
            <a:ext cx="10515600" cy="5442940"/>
          </a:xfrm>
        </p:spPr>
        <p:txBody>
          <a:bodyPr>
            <a:normAutofit/>
          </a:bodyPr>
          <a:lstStyle/>
          <a:p>
            <a:r>
              <a:rPr lang="fr-FR" dirty="0"/>
              <a:t>1)      </a:t>
            </a:r>
            <a:r>
              <a:rPr lang="fr-FR" u="sng" dirty="0"/>
              <a:t>Dans le monde :</a:t>
            </a:r>
            <a:r>
              <a:rPr lang="fr-FR" dirty="0"/>
              <a:t> </a:t>
            </a:r>
          </a:p>
          <a:p>
            <a:pPr>
              <a:buNone/>
            </a:pPr>
            <a:r>
              <a:rPr lang="fr-FR" dirty="0"/>
              <a:t>elle a des racines anciennes </a:t>
            </a:r>
          </a:p>
          <a:p>
            <a:r>
              <a:rPr lang="fr-FR" dirty="0"/>
              <a:t>500 ans av Jésus , le serment d’Hippocrate avait codifié la morale médicale.</a:t>
            </a:r>
          </a:p>
          <a:p>
            <a:pPr>
              <a:buNone/>
            </a:pPr>
            <a:endParaRPr lang="fr-FR" dirty="0"/>
          </a:p>
          <a:p>
            <a:r>
              <a:rPr lang="fr-FR" dirty="0"/>
              <a:t> En 1948 : Adoption du serment le plus actuel par l’association médicale mondiale à Genève.        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dirty="0"/>
              <a:t>2)      </a:t>
            </a:r>
            <a:r>
              <a:rPr lang="fr-FR" u="sng" dirty="0"/>
              <a:t>En Algérie :</a:t>
            </a:r>
            <a:r>
              <a:rPr lang="fr-FR" dirty="0"/>
              <a:t> l’évolution de la déontologie médicale à subi plusieurs étapes :</a:t>
            </a:r>
          </a:p>
          <a:p>
            <a:r>
              <a:rPr lang="fr-FR" dirty="0"/>
              <a:t>Avant 1962 : le code de déontologie français était applicable à tout médecin autorisé à exercer en Algérie.</a:t>
            </a:r>
          </a:p>
          <a:p>
            <a:r>
              <a:rPr lang="fr-FR" dirty="0"/>
              <a:t>A partir de 1963 : création du bureau de surveillance des professions médicales.</a:t>
            </a:r>
          </a:p>
          <a:p>
            <a:r>
              <a:rPr lang="fr-FR" dirty="0"/>
              <a:t>Février 1985 : promulgation de la loi 85/05 relative à la protection et à la promotion de la santé, abrogeant le code de  déontologie médicale.</a:t>
            </a:r>
          </a:p>
          <a:p>
            <a:r>
              <a:rPr lang="fr-FR" dirty="0"/>
              <a:t>Juillet 1990 : promulgation de la loi 90-17 modifiant et complétant la loi du 16/02/1985 N° 85/05 relative à la promotion de la santé dans les articles 9,</a:t>
            </a:r>
          </a:p>
          <a:p>
            <a:pPr>
              <a:buNone/>
            </a:pPr>
            <a:r>
              <a:rPr lang="fr-FR" dirty="0"/>
              <a:t> 267 alinéa 1 et Art 267 alinéa 2 « Création du conseil national de déontologie médicale constitué de ses 03 sections ordinales nationales. »</a:t>
            </a:r>
          </a:p>
          <a:p>
            <a:r>
              <a:rPr lang="fr-FR" dirty="0"/>
              <a:t>Avril 1998 : installation officielle au palais de la culture du conseil national de déontologie médicale suite à des élections nationales.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CODE DE LA DEONTOLOGIE MEDICALE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Les fondements de la déontologie médicale sont codifiés en un texte de décrets agencé d’une manière cohérente et classé en titres et chapitres : Le code de déontologie médicale . </a:t>
            </a:r>
          </a:p>
          <a:p>
            <a:r>
              <a:rPr lang="fr-FR" dirty="0"/>
              <a:t>Il fait partie de la réglementation officielle , il s’agit d’un texte de loi dont les dispositions s’imposent à tout médecin  inscrit au tableau de l’ordre qui doit s’engager sous serment à le respecter et tout manquement à ces dispositions relève des instances disciplinaires du conseil de l’ordre 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Le code de déontologie reprend les principes traditionnels de la pratique médicale , des règles toujours valables depuis le serment d’ Hippocrate .</a:t>
            </a:r>
          </a:p>
          <a:p>
            <a:pPr>
              <a:buNone/>
            </a:pPr>
            <a:endParaRPr lang="fr-FR" dirty="0"/>
          </a:p>
          <a:p>
            <a:r>
              <a:rPr lang="fr-FR" dirty="0"/>
              <a:t>Il affirme les droits des malades , la vocation du médecin: dévouement, respect de la dignité des malades et autant de principes qui constituent les devoirs du médecin .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Le code de déontologie médicale est élaboré par une autorité représentative des professions médicales : le conseil de l’ordre qui est chargé de l’élaboration des règles déontologiques qu’il soumettra par la suite à l’appréciation du conseil d’état . </a:t>
            </a:r>
          </a:p>
          <a:p>
            <a:endParaRPr lang="fr-FR" dirty="0"/>
          </a:p>
          <a:p>
            <a:r>
              <a:rPr lang="fr-FR" dirty="0"/>
              <a:t> Il a paru dans le décret exécutif N° 276 du 06/07/1992 et comporte 226 articles repartis sur 05 titres 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847528" y="332658"/>
            <a:ext cx="842493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 code de la déontologie est Composé de : </a:t>
            </a:r>
            <a:r>
              <a:rPr lang="fr-FR" sz="2800" dirty="0">
                <a:solidFill>
                  <a:srgbClr val="FF0000"/>
                </a:solidFill>
                <a:latin typeface="Palatino Linotype" pitchFamily="18" charset="0"/>
                <a:cs typeface="Arial" pitchFamily="34" charset="0"/>
              </a:rPr>
              <a:t>titres</a:t>
            </a:r>
            <a:r>
              <a:rPr lang="fr-FR" sz="2800" dirty="0">
                <a:latin typeface="Palatino Linotype" pitchFamily="18" charset="0"/>
                <a:cs typeface="Arial" pitchFamily="34" charset="0"/>
              </a:rPr>
              <a:t>, </a:t>
            </a:r>
            <a:r>
              <a:rPr lang="fr-FR" sz="2800" dirty="0">
                <a:solidFill>
                  <a:srgbClr val="FF0000"/>
                </a:solidFill>
                <a:latin typeface="Palatino Linotype" pitchFamily="18" charset="0"/>
                <a:cs typeface="Arial" pitchFamily="34" charset="0"/>
              </a:rPr>
              <a:t>chapitres</a:t>
            </a:r>
            <a:r>
              <a:rPr lang="fr-FR" sz="2800" dirty="0">
                <a:latin typeface="Palatino Linotype" pitchFamily="18" charset="0"/>
                <a:cs typeface="Arial" pitchFamily="34" charset="0"/>
              </a:rPr>
              <a:t>, </a:t>
            </a:r>
            <a:r>
              <a:rPr lang="fr-FR" sz="2800" dirty="0">
                <a:solidFill>
                  <a:srgbClr val="FF0000"/>
                </a:solidFill>
                <a:latin typeface="Palatino Linotype" pitchFamily="18" charset="0"/>
                <a:cs typeface="Arial" pitchFamily="34" charset="0"/>
              </a:rPr>
              <a:t>paragraphes</a:t>
            </a:r>
            <a:r>
              <a:rPr lang="fr-FR" sz="2800" dirty="0">
                <a:latin typeface="Palatino Linotype" pitchFamily="18" charset="0"/>
                <a:cs typeface="Arial" pitchFamily="34" charset="0"/>
              </a:rPr>
              <a:t> et </a:t>
            </a:r>
            <a:r>
              <a:rPr lang="fr-FR" sz="2800" dirty="0">
                <a:solidFill>
                  <a:srgbClr val="FF0000"/>
                </a:solidFill>
                <a:latin typeface="Palatino Linotype" pitchFamily="18" charset="0"/>
                <a:cs typeface="Arial" pitchFamily="34" charset="0"/>
              </a:rPr>
              <a:t>articles</a:t>
            </a:r>
            <a:r>
              <a:rPr lang="fr-FR" sz="2800" dirty="0">
                <a:latin typeface="Palatino Linotype" pitchFamily="18" charset="0"/>
                <a:cs typeface="Arial" pitchFamily="34" charset="0"/>
              </a:rPr>
              <a:t>. </a:t>
            </a:r>
          </a:p>
          <a:p>
            <a:pPr marL="514350" lvl="1" indent="-514350" algn="just">
              <a:spcBef>
                <a:spcPts val="1800"/>
              </a:spcBef>
              <a:buFont typeface="+mj-lt"/>
              <a:buAutoNum type="arabicPeriod"/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Les devoirs généraux de la déontologie médicale ;</a:t>
            </a:r>
          </a:p>
          <a:p>
            <a:pPr marL="514350" lvl="1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 secret professionnel ;</a:t>
            </a:r>
          </a:p>
          <a:p>
            <a:pPr marL="514350" lvl="1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Les devoirs envers les malades ;</a:t>
            </a:r>
          </a:p>
          <a:p>
            <a:pPr marL="514350" lvl="1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Les devoirs de la confraternité ;</a:t>
            </a:r>
          </a:p>
          <a:p>
            <a:pPr marL="514350" lvl="1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Les rapports des médecins entre eux et avec les membres des autres professions de santé ;</a:t>
            </a:r>
          </a:p>
          <a:p>
            <a:pPr marL="514350" lvl="1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Les règles particulières à certains modes d’exercice.</a:t>
            </a:r>
          </a:p>
          <a:p>
            <a:pPr marL="514350" lvl="1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FR" sz="2800" dirty="0">
                <a:latin typeface="Palatino Linotype" pitchFamily="18" charset="0"/>
                <a:cs typeface="Arial" pitchFamily="34" charset="0"/>
              </a:rPr>
              <a:t>Les dispositions divers.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endParaRPr lang="fr-FR" sz="2400" dirty="0">
              <a:latin typeface="Palatino Linotype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51584" y="274638"/>
            <a:ext cx="7859216" cy="62819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u="sng" dirty="0"/>
              <a:t/>
            </a:r>
            <a:br>
              <a:rPr lang="fr-FR" b="1" u="sng" dirty="0"/>
            </a:br>
            <a:r>
              <a:rPr lang="fr-FR" b="1" u="sng" dirty="0"/>
              <a:t/>
            </a:r>
            <a:br>
              <a:rPr lang="fr-FR" b="1" u="sng" dirty="0"/>
            </a:br>
            <a:r>
              <a:rPr lang="fr-FR" b="1" u="sng" dirty="0"/>
              <a:t/>
            </a:r>
            <a:br>
              <a:rPr lang="fr-FR" b="1" u="sng" dirty="0"/>
            </a:br>
            <a:r>
              <a:rPr lang="fr-FR" b="1" u="sng" dirty="0"/>
              <a:t/>
            </a:r>
            <a:br>
              <a:rPr lang="fr-FR" b="1" u="sng" dirty="0"/>
            </a:br>
            <a:r>
              <a:rPr lang="fr-FR" b="1" dirty="0"/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Sanctions prévues dans le code de déontologie 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dirty="0"/>
              <a:t>=&gt; Le conseil saisi d’une plainte doit statuer dans un délai de 04 mois.</a:t>
            </a:r>
          </a:p>
          <a:p>
            <a:pPr>
              <a:buNone/>
            </a:pPr>
            <a:r>
              <a:rPr lang="fr-FR" dirty="0"/>
              <a:t>=&gt; Les sanctions disciplinaires sont :</a:t>
            </a:r>
          </a:p>
          <a:p>
            <a:r>
              <a:rPr lang="fr-FR" dirty="0"/>
              <a:t>  L’avertissement ;</a:t>
            </a:r>
          </a:p>
          <a:p>
            <a:r>
              <a:rPr lang="fr-FR" dirty="0"/>
              <a:t>  Le blâme ;</a:t>
            </a:r>
          </a:p>
          <a:p>
            <a:r>
              <a:rPr lang="fr-FR" dirty="0"/>
              <a:t> La proposition d’interdire d’exercer ;</a:t>
            </a:r>
          </a:p>
          <a:p>
            <a:r>
              <a:rPr lang="fr-FR" dirty="0"/>
              <a:t>   La fermeture de l’établissement.</a:t>
            </a:r>
          </a:p>
          <a:p>
            <a:pPr>
              <a:buNone/>
            </a:pPr>
            <a:r>
              <a:rPr lang="fr-FR" dirty="0"/>
              <a:t>=&gt; Les sanctions sont susceptibles d’appel ou de recours auprès du conseil national de déontologie médicale, dans un délai de 06 mois. </a:t>
            </a:r>
          </a:p>
          <a:p>
            <a:pPr>
              <a:buNone/>
            </a:pPr>
            <a:r>
              <a:rPr lang="fr-FR" dirty="0"/>
              <a:t>=&gt; en cas de non-satisfaction, un appel peut à nouveau être introduit auprès de la cour suprême dans un délai de 01 an.</a:t>
            </a:r>
          </a:p>
          <a:p>
            <a:pPr>
              <a:buNone/>
            </a:pPr>
            <a:r>
              <a:rPr lang="fr-FR" b="1" dirty="0"/>
              <a:t> 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A157B0C-8E5E-A810-7827-27CB01EC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 les grands principes </a:t>
            </a:r>
            <a:r>
              <a:rPr lang="en-US" b="1" dirty="0" err="1"/>
              <a:t>déontologiques</a:t>
            </a:r>
            <a:r>
              <a:rPr lang="en-US" b="1" dirty="0"/>
              <a:t> : 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EA84D39-5454-797F-64F7-BD560E9C3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Le libre choix du </a:t>
            </a:r>
            <a:r>
              <a:rPr lang="en-US" b="1" dirty="0" err="1"/>
              <a:t>malade</a:t>
            </a:r>
            <a:r>
              <a:rPr lang="en-US" b="1" dirty="0"/>
              <a:t> : </a:t>
            </a:r>
            <a:endParaRPr lang="fr-FR" dirty="0"/>
          </a:p>
          <a:p>
            <a:r>
              <a:rPr lang="en-US" dirty="0"/>
              <a:t>Le </a:t>
            </a:r>
            <a:r>
              <a:rPr lang="en-US" dirty="0" err="1"/>
              <a:t>médecin</a:t>
            </a:r>
            <a:r>
              <a:rPr lang="en-US" dirty="0"/>
              <a:t> doit respecter le droit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possède</a:t>
            </a:r>
            <a:r>
              <a:rPr lang="en-US" dirty="0"/>
              <a:t> tout </a:t>
            </a:r>
            <a:r>
              <a:rPr lang="en-US" dirty="0" err="1"/>
              <a:t>malade</a:t>
            </a:r>
            <a:r>
              <a:rPr lang="en-US" dirty="0"/>
              <a:t> de </a:t>
            </a:r>
            <a:r>
              <a:rPr lang="en-US" dirty="0" err="1"/>
              <a:t>choisir</a:t>
            </a:r>
            <a:r>
              <a:rPr lang="en-US" dirty="0"/>
              <a:t> </a:t>
            </a:r>
            <a:r>
              <a:rPr lang="en-US" dirty="0" err="1"/>
              <a:t>librement</a:t>
            </a:r>
            <a:r>
              <a:rPr lang="en-US" dirty="0"/>
              <a:t> son </a:t>
            </a:r>
            <a:r>
              <a:rPr lang="en-US" dirty="0" err="1"/>
              <a:t>médecin</a:t>
            </a:r>
            <a:r>
              <a:rPr lang="en-US" dirty="0"/>
              <a:t>. Il doit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faciliter</a:t>
            </a:r>
            <a:r>
              <a:rPr lang="en-US" dirty="0"/>
              <a:t> </a:t>
            </a:r>
            <a:r>
              <a:rPr lang="en-US" dirty="0" err="1"/>
              <a:t>l’exercice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droit. </a:t>
            </a:r>
            <a:endParaRPr lang="fr-FR" dirty="0"/>
          </a:p>
          <a:p>
            <a:r>
              <a:rPr lang="en-US" dirty="0"/>
              <a:t>Le </a:t>
            </a:r>
            <a:r>
              <a:rPr lang="en-US" dirty="0" err="1"/>
              <a:t>médecin</a:t>
            </a:r>
            <a:r>
              <a:rPr lang="en-US" dirty="0"/>
              <a:t> doit à la </a:t>
            </a:r>
            <a:r>
              <a:rPr lang="en-US" dirty="0" err="1"/>
              <a:t>personne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examine, </a:t>
            </a:r>
            <a:r>
              <a:rPr lang="en-US" dirty="0" err="1"/>
              <a:t>qu’il</a:t>
            </a:r>
            <a:r>
              <a:rPr lang="en-US" dirty="0"/>
              <a:t> soigne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conseille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information </a:t>
            </a:r>
            <a:r>
              <a:rPr lang="en-US" b="1" dirty="0" err="1"/>
              <a:t>loyale</a:t>
            </a:r>
            <a:r>
              <a:rPr lang="en-US" b="1" dirty="0"/>
              <a:t>, approximative, </a:t>
            </a:r>
            <a:r>
              <a:rPr lang="en-US" b="1" dirty="0" err="1"/>
              <a:t>claire</a:t>
            </a:r>
            <a:r>
              <a:rPr lang="en-US" b="1" dirty="0"/>
              <a:t> et </a:t>
            </a:r>
            <a:r>
              <a:rPr lang="en-US" b="1" dirty="0" err="1"/>
              <a:t>appropriée</a:t>
            </a:r>
            <a:r>
              <a:rPr lang="en-US" b="1" dirty="0"/>
              <a:t> </a:t>
            </a:r>
            <a:r>
              <a:rPr lang="en-US" dirty="0"/>
              <a:t>sur son état, </a:t>
            </a:r>
            <a:r>
              <a:rPr lang="en-US" b="1" dirty="0"/>
              <a:t>les investigations et les </a:t>
            </a:r>
            <a:r>
              <a:rPr lang="en-US" b="1" dirty="0" err="1"/>
              <a:t>soins</a:t>
            </a:r>
            <a:r>
              <a:rPr lang="en-US" b="1" dirty="0"/>
              <a:t>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propose. </a:t>
            </a:r>
            <a:endParaRPr lang="fr-FR" dirty="0"/>
          </a:p>
          <a:p>
            <a:r>
              <a:rPr lang="en-US" dirty="0"/>
              <a:t>Pour </a:t>
            </a:r>
            <a:r>
              <a:rPr lang="en-US" dirty="0" err="1"/>
              <a:t>ce</a:t>
            </a:r>
            <a:r>
              <a:rPr lang="en-US" dirty="0"/>
              <a:t> qui est des situations complexes, par </a:t>
            </a:r>
            <a:r>
              <a:rPr lang="en-US" dirty="0" err="1"/>
              <a:t>exemple</a:t>
            </a:r>
            <a:r>
              <a:rPr lang="en-US" dirty="0"/>
              <a:t> le </a:t>
            </a:r>
            <a:r>
              <a:rPr lang="en-US" dirty="0" err="1"/>
              <a:t>refus</a:t>
            </a:r>
            <a:r>
              <a:rPr lang="en-US" dirty="0"/>
              <a:t> de </a:t>
            </a:r>
            <a:r>
              <a:rPr lang="en-US" dirty="0" err="1"/>
              <a:t>soins</a:t>
            </a:r>
            <a:r>
              <a:rPr lang="en-US" dirty="0"/>
              <a:t>, il </a:t>
            </a:r>
            <a:r>
              <a:rPr lang="en-US" dirty="0" err="1"/>
              <a:t>s’agit</a:t>
            </a:r>
            <a:r>
              <a:rPr lang="en-US" dirty="0"/>
              <a:t> d’un droit du  </a:t>
            </a:r>
            <a:r>
              <a:rPr lang="en-US" dirty="0" err="1"/>
              <a:t>malade</a:t>
            </a:r>
            <a:r>
              <a:rPr lang="en-US" dirty="0"/>
              <a:t> opposant dans </a:t>
            </a:r>
            <a:r>
              <a:rPr lang="en-US" dirty="0" err="1"/>
              <a:t>certains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le devoir </a:t>
            </a:r>
            <a:r>
              <a:rPr lang="en-US" dirty="0" err="1"/>
              <a:t>d’assistance</a:t>
            </a:r>
            <a:r>
              <a:rPr lang="en-US" dirty="0"/>
              <a:t> du </a:t>
            </a:r>
            <a:r>
              <a:rPr lang="en-US" dirty="0" err="1"/>
              <a:t>médecin</a:t>
            </a:r>
            <a:r>
              <a:rPr lang="en-US" dirty="0"/>
              <a:t> avec un </a:t>
            </a:r>
            <a:r>
              <a:rPr lang="en-US" dirty="0" err="1"/>
              <a:t>refus</a:t>
            </a:r>
            <a:r>
              <a:rPr lang="en-US" dirty="0"/>
              <a:t> </a:t>
            </a:r>
            <a:r>
              <a:rPr lang="en-US" dirty="0" err="1"/>
              <a:t>obstiné</a:t>
            </a:r>
            <a:r>
              <a:rPr lang="en-US" dirty="0"/>
              <a:t> et </a:t>
            </a:r>
            <a:endParaRPr lang="fr-FR" dirty="0"/>
          </a:p>
          <a:p>
            <a:pPr marL="0" indent="0">
              <a:buNone/>
            </a:pPr>
            <a:r>
              <a:rPr lang="en-US" dirty="0" err="1"/>
              <a:t>déraisonnable</a:t>
            </a:r>
            <a:r>
              <a:rPr lang="en-US" dirty="0"/>
              <a:t> du </a:t>
            </a:r>
            <a:r>
              <a:rPr lang="en-US" dirty="0" err="1"/>
              <a:t>malade</a:t>
            </a:r>
            <a:r>
              <a:rPr lang="en-US" dirty="0"/>
              <a:t>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0191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8192BEE-2BE9-F15E-A972-C1A471C2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8350256A-225D-9655-1D51-4ABF12105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Le </a:t>
            </a:r>
            <a:r>
              <a:rPr lang="en-US" b="1" dirty="0" err="1"/>
              <a:t>consentement</a:t>
            </a:r>
            <a:r>
              <a:rPr lang="en-US" b="1" dirty="0"/>
              <a:t> </a:t>
            </a:r>
            <a:r>
              <a:rPr lang="en-US" b="1" dirty="0" err="1"/>
              <a:t>éclairé</a:t>
            </a:r>
            <a:r>
              <a:rPr lang="en-US" b="1" dirty="0"/>
              <a:t> : </a:t>
            </a:r>
            <a:endParaRPr lang="fr-FR" dirty="0"/>
          </a:p>
          <a:p>
            <a:r>
              <a:rPr lang="en-US" dirty="0"/>
              <a:t>Le </a:t>
            </a:r>
            <a:r>
              <a:rPr lang="en-US" dirty="0" err="1"/>
              <a:t>consentement</a:t>
            </a:r>
            <a:r>
              <a:rPr lang="en-US" dirty="0"/>
              <a:t> de la </a:t>
            </a:r>
            <a:r>
              <a:rPr lang="en-US" dirty="0" err="1"/>
              <a:t>personne</a:t>
            </a:r>
            <a:r>
              <a:rPr lang="en-US" dirty="0"/>
              <a:t> </a:t>
            </a:r>
            <a:r>
              <a:rPr lang="en-US" dirty="0" err="1"/>
              <a:t>examinée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soignée doit </a:t>
            </a:r>
            <a:r>
              <a:rPr lang="en-US" dirty="0" err="1"/>
              <a:t>être</a:t>
            </a:r>
            <a:r>
              <a:rPr lang="en-US" dirty="0"/>
              <a:t> recherché dans </a:t>
            </a:r>
            <a:r>
              <a:rPr lang="en-US" dirty="0" err="1"/>
              <a:t>tous</a:t>
            </a:r>
            <a:r>
              <a:rPr lang="en-US" dirty="0"/>
              <a:t> les </a:t>
            </a:r>
            <a:r>
              <a:rPr lang="en-US" dirty="0" err="1"/>
              <a:t>cas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 err="1"/>
              <a:t>Lorsque</a:t>
            </a:r>
            <a:r>
              <a:rPr lang="en-US" dirty="0"/>
              <a:t> le </a:t>
            </a:r>
            <a:r>
              <a:rPr lang="en-US" dirty="0" err="1"/>
              <a:t>malade</a:t>
            </a:r>
            <a:r>
              <a:rPr lang="en-US" dirty="0"/>
              <a:t> est </a:t>
            </a:r>
            <a:r>
              <a:rPr lang="en-US" dirty="0" err="1"/>
              <a:t>en</a:t>
            </a:r>
            <a:r>
              <a:rPr lang="en-US" dirty="0"/>
              <a:t> état </a:t>
            </a:r>
            <a:r>
              <a:rPr lang="en-US" dirty="0" err="1"/>
              <a:t>d’exprimer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volonté</a:t>
            </a:r>
            <a:r>
              <a:rPr lang="en-US" dirty="0"/>
              <a:t>, refuse le </a:t>
            </a:r>
            <a:r>
              <a:rPr lang="en-US" dirty="0" err="1"/>
              <a:t>traitement</a:t>
            </a:r>
            <a:r>
              <a:rPr lang="en-US" dirty="0"/>
              <a:t> </a:t>
            </a:r>
            <a:r>
              <a:rPr lang="en-US" dirty="0" err="1"/>
              <a:t>proposé</a:t>
            </a:r>
            <a:r>
              <a:rPr lang="en-US" dirty="0"/>
              <a:t>, le </a:t>
            </a:r>
            <a:r>
              <a:rPr lang="en-US" dirty="0" err="1"/>
              <a:t>médecin</a:t>
            </a:r>
            <a:r>
              <a:rPr lang="en-US" dirty="0"/>
              <a:t> doit respecter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refus</a:t>
            </a:r>
            <a:r>
              <a:rPr lang="en-US" dirty="0"/>
              <a:t> après </a:t>
            </a:r>
            <a:r>
              <a:rPr lang="en-US" dirty="0" err="1"/>
              <a:t>avoir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informé</a:t>
            </a:r>
            <a:r>
              <a:rPr lang="en-US" dirty="0"/>
              <a:t> de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conséquences</a:t>
            </a:r>
            <a:r>
              <a:rPr lang="en-US" dirty="0"/>
              <a:t>. 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en-US" dirty="0"/>
              <a:t>Si le </a:t>
            </a:r>
            <a:r>
              <a:rPr lang="en-US" dirty="0" err="1"/>
              <a:t>malade</a:t>
            </a:r>
            <a:r>
              <a:rPr lang="en-US" dirty="0"/>
              <a:t> est hors d’état </a:t>
            </a:r>
            <a:r>
              <a:rPr lang="en-US" dirty="0" err="1"/>
              <a:t>d’exprimer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volonté</a:t>
            </a:r>
            <a:r>
              <a:rPr lang="en-US" dirty="0"/>
              <a:t>, le </a:t>
            </a:r>
            <a:r>
              <a:rPr lang="en-US" dirty="0" err="1"/>
              <a:t>médecin</a:t>
            </a:r>
            <a:r>
              <a:rPr lang="en-US" dirty="0"/>
              <a:t> ne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intervenir</a:t>
            </a:r>
            <a:r>
              <a:rPr lang="en-US" dirty="0"/>
              <a:t> sans </a:t>
            </a:r>
            <a:r>
              <a:rPr lang="en-US" dirty="0" err="1"/>
              <a:t>que</a:t>
            </a:r>
            <a:r>
              <a:rPr lang="en-US" dirty="0"/>
              <a:t> la famille </a:t>
            </a:r>
            <a:r>
              <a:rPr lang="en-US" dirty="0" err="1"/>
              <a:t>ou</a:t>
            </a:r>
            <a:r>
              <a:rPr lang="en-US" dirty="0"/>
              <a:t> un de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proches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prévenu</a:t>
            </a:r>
            <a:r>
              <a:rPr lang="en-US" dirty="0"/>
              <a:t> et </a:t>
            </a:r>
            <a:r>
              <a:rPr lang="en-US" dirty="0" err="1"/>
              <a:t>informé</a:t>
            </a:r>
            <a:r>
              <a:rPr lang="en-US" dirty="0"/>
              <a:t>, </a:t>
            </a:r>
            <a:r>
              <a:rPr lang="en-US" b="1" dirty="0" err="1"/>
              <a:t>sauf</a:t>
            </a:r>
            <a:r>
              <a:rPr lang="en-US" b="1" dirty="0"/>
              <a:t> urgence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impossibilité</a:t>
            </a:r>
            <a:r>
              <a:rPr lang="en-US" dirty="0"/>
              <a:t>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329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648D4EC-CA11-1EDE-C689-235DC04F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10A9554F-2EAC-61DD-30A3-4AF09A6C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La liberté du </a:t>
            </a:r>
            <a:r>
              <a:rPr lang="en-US" b="1" dirty="0" err="1"/>
              <a:t>médecin</a:t>
            </a:r>
            <a:r>
              <a:rPr lang="en-US" b="1" dirty="0"/>
              <a:t> : </a:t>
            </a:r>
            <a:endParaRPr lang="fr-FR" dirty="0"/>
          </a:p>
          <a:p>
            <a:r>
              <a:rPr lang="en-US" dirty="0" err="1"/>
              <a:t>L’indépendance</a:t>
            </a:r>
            <a:r>
              <a:rPr lang="en-US" dirty="0"/>
              <a:t> du </a:t>
            </a:r>
            <a:r>
              <a:rPr lang="en-US" dirty="0" err="1"/>
              <a:t>médecin</a:t>
            </a:r>
            <a:r>
              <a:rPr lang="en-US" dirty="0"/>
              <a:t> </a:t>
            </a:r>
            <a:r>
              <a:rPr lang="en-US" dirty="0" err="1"/>
              <a:t>constitue</a:t>
            </a:r>
            <a:r>
              <a:rPr lang="en-US" dirty="0"/>
              <a:t> </a:t>
            </a:r>
            <a:r>
              <a:rPr lang="en-US" dirty="0" err="1"/>
              <a:t>l’une</a:t>
            </a:r>
            <a:r>
              <a:rPr lang="en-US" dirty="0"/>
              <a:t> des bases de la </a:t>
            </a:r>
            <a:r>
              <a:rPr lang="en-US" dirty="0" err="1"/>
              <a:t>déontologie</a:t>
            </a:r>
            <a:r>
              <a:rPr lang="en-US" dirty="0"/>
              <a:t>. Elle est </a:t>
            </a:r>
            <a:r>
              <a:rPr lang="en-US" dirty="0" err="1"/>
              <a:t>l’élément</a:t>
            </a:r>
            <a:r>
              <a:rPr lang="en-US" dirty="0"/>
              <a:t> indispensable à la relation </a:t>
            </a:r>
            <a:r>
              <a:rPr lang="en-US" dirty="0" err="1"/>
              <a:t>médecin</a:t>
            </a:r>
            <a:r>
              <a:rPr lang="en-US" dirty="0"/>
              <a:t>/</a:t>
            </a:r>
            <a:r>
              <a:rPr lang="en-US" dirty="0" err="1"/>
              <a:t>malade</a:t>
            </a:r>
            <a:r>
              <a:rPr lang="en-US" dirty="0"/>
              <a:t>, dans le colloque </a:t>
            </a:r>
            <a:r>
              <a:rPr lang="en-US" dirty="0" err="1"/>
              <a:t>singulier</a:t>
            </a:r>
            <a:r>
              <a:rPr lang="en-US" dirty="0"/>
              <a:t> (relation </a:t>
            </a:r>
            <a:r>
              <a:rPr lang="en-US" dirty="0" err="1"/>
              <a:t>particulière</a:t>
            </a:r>
            <a:r>
              <a:rPr lang="en-US" dirty="0"/>
              <a:t>). </a:t>
            </a:r>
            <a:endParaRPr lang="fr-FR" dirty="0"/>
          </a:p>
          <a:p>
            <a:r>
              <a:rPr lang="en-US" dirty="0"/>
              <a:t>Dans les </a:t>
            </a:r>
            <a:r>
              <a:rPr lang="en-US" dirty="0" err="1"/>
              <a:t>limites</a:t>
            </a:r>
            <a:r>
              <a:rPr lang="en-US" dirty="0"/>
              <a:t> </a:t>
            </a:r>
            <a:r>
              <a:rPr lang="en-US" dirty="0" err="1"/>
              <a:t>fixées</a:t>
            </a:r>
            <a:r>
              <a:rPr lang="en-US" dirty="0"/>
              <a:t> par la </a:t>
            </a:r>
            <a:r>
              <a:rPr lang="en-US" dirty="0" err="1"/>
              <a:t>loi</a:t>
            </a:r>
            <a:r>
              <a:rPr lang="en-US" dirty="0"/>
              <a:t> et </a:t>
            </a:r>
            <a:r>
              <a:rPr lang="en-US" dirty="0" err="1"/>
              <a:t>compte</a:t>
            </a:r>
            <a:r>
              <a:rPr lang="en-US" dirty="0"/>
              <a:t> </a:t>
            </a:r>
            <a:r>
              <a:rPr lang="en-US" dirty="0" err="1"/>
              <a:t>tenu</a:t>
            </a:r>
            <a:r>
              <a:rPr lang="en-US" dirty="0"/>
              <a:t> des données </a:t>
            </a:r>
            <a:r>
              <a:rPr lang="en-US" dirty="0" err="1"/>
              <a:t>acquises</a:t>
            </a:r>
            <a:r>
              <a:rPr lang="en-US" dirty="0"/>
              <a:t> de la science, le </a:t>
            </a:r>
            <a:r>
              <a:rPr lang="en-US" dirty="0" err="1"/>
              <a:t>médecin</a:t>
            </a:r>
            <a:r>
              <a:rPr lang="en-US" dirty="0"/>
              <a:t> est libre de </a:t>
            </a:r>
            <a:r>
              <a:rPr lang="en-US" dirty="0" err="1"/>
              <a:t>ses</a:t>
            </a:r>
            <a:r>
              <a:rPr lang="en-US" dirty="0"/>
              <a:t> prescriptions qui </a:t>
            </a:r>
            <a:r>
              <a:rPr lang="en-US" dirty="0" err="1"/>
              <a:t>seront</a:t>
            </a:r>
            <a:r>
              <a:rPr lang="en-US" dirty="0"/>
              <a:t> </a:t>
            </a:r>
            <a:r>
              <a:rPr lang="en-US" dirty="0" err="1"/>
              <a:t>celles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estime</a:t>
            </a:r>
            <a:r>
              <a:rPr lang="en-US" dirty="0"/>
              <a:t> les plus </a:t>
            </a:r>
            <a:r>
              <a:rPr lang="en-US" dirty="0" err="1"/>
              <a:t>appropriées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circonstance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/>
              <a:t>Il doit limiter </a:t>
            </a:r>
            <a:r>
              <a:rPr lang="en-US" dirty="0" err="1"/>
              <a:t>ses</a:t>
            </a:r>
            <a:r>
              <a:rPr lang="en-US" dirty="0"/>
              <a:t> prescriptions et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actes</a:t>
            </a:r>
            <a:r>
              <a:rPr lang="en-US" dirty="0"/>
              <a:t> à </a:t>
            </a:r>
            <a:r>
              <a:rPr lang="en-US" dirty="0" err="1"/>
              <a:t>ce</a:t>
            </a:r>
            <a:r>
              <a:rPr lang="en-US" dirty="0"/>
              <a:t> qui est </a:t>
            </a:r>
            <a:r>
              <a:rPr lang="en-US" dirty="0" err="1"/>
              <a:t>nécessaire</a:t>
            </a:r>
            <a:r>
              <a:rPr lang="en-US" dirty="0"/>
              <a:t> à la </a:t>
            </a:r>
            <a:r>
              <a:rPr lang="en-US" dirty="0" err="1"/>
              <a:t>qualité</a:t>
            </a:r>
            <a:r>
              <a:rPr lang="en-US" dirty="0"/>
              <a:t>, à la </a:t>
            </a:r>
            <a:r>
              <a:rPr lang="en-US" dirty="0" err="1"/>
              <a:t>sécurité</a:t>
            </a:r>
            <a:r>
              <a:rPr lang="en-US" dirty="0"/>
              <a:t> et à </a:t>
            </a:r>
            <a:r>
              <a:rPr lang="en-US" dirty="0" err="1"/>
              <a:t>l’efficacité</a:t>
            </a:r>
            <a:r>
              <a:rPr lang="en-US" dirty="0"/>
              <a:t> des </a:t>
            </a:r>
            <a:r>
              <a:rPr lang="en-US" dirty="0" err="1"/>
              <a:t>soins</a:t>
            </a:r>
            <a:r>
              <a:rPr lang="en-US" dirty="0"/>
              <a:t>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678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FE4A755-684B-679E-9C58-C8D25FE56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629"/>
            <a:ext cx="10515600" cy="5665334"/>
          </a:xfrm>
        </p:spPr>
        <p:txBody>
          <a:bodyPr>
            <a:normAutofit/>
          </a:bodyPr>
          <a:lstStyle/>
          <a:p>
            <a:r>
              <a:rPr lang="en-US" b="1" dirty="0"/>
              <a:t>4. La relation </a:t>
            </a:r>
            <a:r>
              <a:rPr lang="en-US" b="1" dirty="0" err="1"/>
              <a:t>médecin</a:t>
            </a:r>
            <a:r>
              <a:rPr lang="en-US" b="1" dirty="0"/>
              <a:t> </a:t>
            </a:r>
            <a:r>
              <a:rPr lang="en-US" b="1" dirty="0" err="1"/>
              <a:t>malade</a:t>
            </a:r>
            <a:r>
              <a:rPr lang="en-US" b="1" dirty="0"/>
              <a:t> (</a:t>
            </a:r>
            <a:r>
              <a:rPr lang="en-US" b="1" dirty="0" err="1"/>
              <a:t>soignant</a:t>
            </a:r>
            <a:r>
              <a:rPr lang="en-US" b="1" dirty="0"/>
              <a:t>-soigné) : </a:t>
            </a:r>
            <a:endParaRPr lang="fr-FR" dirty="0"/>
          </a:p>
          <a:p>
            <a:r>
              <a:rPr lang="en-US" dirty="0"/>
              <a:t>Cette relation </a:t>
            </a:r>
            <a:r>
              <a:rPr lang="en-US" dirty="0" err="1"/>
              <a:t>soignant</a:t>
            </a:r>
            <a:r>
              <a:rPr lang="en-US" dirty="0"/>
              <a:t>-soigné fait </a:t>
            </a:r>
            <a:r>
              <a:rPr lang="en-US" dirty="0" err="1"/>
              <a:t>partie</a:t>
            </a:r>
            <a:r>
              <a:rPr lang="en-US" dirty="0"/>
              <a:t> </a:t>
            </a:r>
            <a:r>
              <a:rPr lang="en-US" dirty="0" err="1"/>
              <a:t>intégrante</a:t>
            </a:r>
            <a:r>
              <a:rPr lang="en-US" dirty="0"/>
              <a:t> du </a:t>
            </a:r>
            <a:r>
              <a:rPr lang="en-US" dirty="0" err="1"/>
              <a:t>contrat</a:t>
            </a:r>
            <a:r>
              <a:rPr lang="en-US" dirty="0"/>
              <a:t> de </a:t>
            </a:r>
            <a:r>
              <a:rPr lang="en-US" dirty="0" err="1"/>
              <a:t>soin</a:t>
            </a:r>
            <a:r>
              <a:rPr lang="en-US" dirty="0"/>
              <a:t>(le </a:t>
            </a:r>
            <a:r>
              <a:rPr lang="en-US" dirty="0" err="1"/>
              <a:t>contrat</a:t>
            </a:r>
            <a:r>
              <a:rPr lang="en-US" dirty="0"/>
              <a:t> </a:t>
            </a:r>
            <a:r>
              <a:rPr lang="en-US" dirty="0" err="1"/>
              <a:t>médical</a:t>
            </a:r>
            <a:r>
              <a:rPr lang="en-US" dirty="0"/>
              <a:t>).  </a:t>
            </a:r>
            <a:endParaRPr lang="fr-FR" dirty="0"/>
          </a:p>
          <a:p>
            <a:r>
              <a:rPr lang="en-US" dirty="0"/>
              <a:t>La relation </a:t>
            </a:r>
            <a:r>
              <a:rPr lang="en-US" dirty="0" err="1"/>
              <a:t>médecin-malade</a:t>
            </a:r>
            <a:r>
              <a:rPr lang="en-US" dirty="0"/>
              <a:t> est </a:t>
            </a:r>
            <a:r>
              <a:rPr lang="en-US" dirty="0" err="1"/>
              <a:t>basée</a:t>
            </a:r>
            <a:r>
              <a:rPr lang="en-US" dirty="0"/>
              <a:t> sur le </a:t>
            </a:r>
            <a:r>
              <a:rPr lang="en-US" dirty="0" err="1"/>
              <a:t>principe</a:t>
            </a:r>
            <a:r>
              <a:rPr lang="en-US" dirty="0"/>
              <a:t> du respect de la </a:t>
            </a:r>
            <a:r>
              <a:rPr lang="en-US" dirty="0" err="1"/>
              <a:t>dignité</a:t>
            </a:r>
            <a:r>
              <a:rPr lang="en-US" dirty="0"/>
              <a:t>, sur la </a:t>
            </a:r>
            <a:r>
              <a:rPr lang="en-US" dirty="0" err="1"/>
              <a:t>qualité</a:t>
            </a:r>
            <a:r>
              <a:rPr lang="en-US" dirty="0"/>
              <a:t> de </a:t>
            </a:r>
            <a:r>
              <a:rPr lang="en-US" dirty="0" err="1"/>
              <a:t>l’information</a:t>
            </a:r>
            <a:r>
              <a:rPr lang="en-US" dirty="0"/>
              <a:t> </a:t>
            </a:r>
            <a:r>
              <a:rPr lang="en-US" dirty="0" err="1"/>
              <a:t>délivrée</a:t>
            </a:r>
            <a:r>
              <a:rPr lang="en-US" dirty="0"/>
              <a:t> et sur la mise </a:t>
            </a:r>
            <a:r>
              <a:rPr lang="en-US" dirty="0" err="1"/>
              <a:t>en</a:t>
            </a:r>
            <a:r>
              <a:rPr lang="en-US" dirty="0"/>
              <a:t> place d’un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thérapeutique</a:t>
            </a:r>
            <a:r>
              <a:rPr lang="en-US" dirty="0"/>
              <a:t> </a:t>
            </a:r>
            <a:r>
              <a:rPr lang="en-US" dirty="0" err="1"/>
              <a:t>adéquat</a:t>
            </a:r>
            <a:r>
              <a:rPr lang="en-US" dirty="0"/>
              <a:t> et </a:t>
            </a:r>
            <a:r>
              <a:rPr lang="en-US" dirty="0" err="1"/>
              <a:t>conforme</a:t>
            </a:r>
            <a:r>
              <a:rPr lang="en-US" dirty="0"/>
              <a:t> aux données </a:t>
            </a:r>
            <a:r>
              <a:rPr lang="en-US" dirty="0" err="1"/>
              <a:t>actuelles</a:t>
            </a:r>
            <a:r>
              <a:rPr lang="en-US" dirty="0"/>
              <a:t> de la science et </a:t>
            </a:r>
            <a:r>
              <a:rPr lang="en-US" dirty="0" err="1"/>
              <a:t>accepté</a:t>
            </a:r>
            <a:r>
              <a:rPr lang="en-US" dirty="0"/>
              <a:t> par le patient </a:t>
            </a:r>
            <a:r>
              <a:rPr lang="en-US" dirty="0" err="1"/>
              <a:t>ou</a:t>
            </a:r>
            <a:r>
              <a:rPr lang="en-US" dirty="0"/>
              <a:t> la </a:t>
            </a:r>
            <a:r>
              <a:rPr lang="en-US" dirty="0" err="1"/>
              <a:t>coopération</a:t>
            </a:r>
            <a:r>
              <a:rPr lang="en-US" dirty="0"/>
              <a:t> du </a:t>
            </a:r>
            <a:r>
              <a:rPr lang="en-US" dirty="0" err="1"/>
              <a:t>malade</a:t>
            </a:r>
            <a:r>
              <a:rPr lang="en-US" dirty="0"/>
              <a:t> doit </a:t>
            </a:r>
            <a:r>
              <a:rPr lang="en-US" dirty="0" err="1"/>
              <a:t>jouer</a:t>
            </a:r>
            <a:r>
              <a:rPr lang="en-US" dirty="0"/>
              <a:t> un </a:t>
            </a:r>
            <a:r>
              <a:rPr lang="en-US" dirty="0" err="1"/>
              <a:t>rôle</a:t>
            </a:r>
            <a:r>
              <a:rPr lang="en-US" dirty="0"/>
              <a:t> </a:t>
            </a:r>
            <a:r>
              <a:rPr lang="en-US" dirty="0" err="1"/>
              <a:t>essentiel</a:t>
            </a:r>
            <a:r>
              <a:rPr lang="en-US" dirty="0"/>
              <a:t>. </a:t>
            </a:r>
          </a:p>
          <a:p>
            <a:r>
              <a:rPr lang="en-US" dirty="0"/>
              <a:t>Cette relation de </a:t>
            </a:r>
            <a:r>
              <a:rPr lang="en-US" dirty="0" err="1"/>
              <a:t>soins</a:t>
            </a:r>
            <a:r>
              <a:rPr lang="en-US" dirty="0"/>
              <a:t> </a:t>
            </a:r>
            <a:r>
              <a:rPr lang="en-US" dirty="0" err="1"/>
              <a:t>évolue</a:t>
            </a:r>
            <a:r>
              <a:rPr lang="en-US" dirty="0"/>
              <a:t> avec le temps et </a:t>
            </a:r>
            <a:r>
              <a:rPr lang="en-US" dirty="0" err="1"/>
              <a:t>s’adapte</a:t>
            </a:r>
            <a:r>
              <a:rPr lang="en-US" dirty="0"/>
              <a:t> à </a:t>
            </a:r>
            <a:r>
              <a:rPr lang="en-US" dirty="0" err="1"/>
              <a:t>l’évolution</a:t>
            </a:r>
            <a:r>
              <a:rPr lang="en-US" dirty="0"/>
              <a:t> de la </a:t>
            </a:r>
            <a:r>
              <a:rPr lang="en-US" dirty="0" err="1"/>
              <a:t>maladie</a:t>
            </a:r>
            <a:r>
              <a:rPr lang="en-US" dirty="0"/>
              <a:t>  et de la </a:t>
            </a:r>
            <a:r>
              <a:rPr lang="en-US" dirty="0" err="1"/>
              <a:t>volonté</a:t>
            </a:r>
            <a:r>
              <a:rPr lang="en-US" dirty="0"/>
              <a:t> du patient </a:t>
            </a:r>
            <a:r>
              <a:rPr lang="en-US" dirty="0" err="1"/>
              <a:t>concernant</a:t>
            </a:r>
            <a:r>
              <a:rPr lang="en-US" dirty="0"/>
              <a:t> son état de santé.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678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D6F243A-CD2E-83EB-04BE-74EB87FD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VI. Conclusion :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5EB82A68-5EDF-EDEB-FAAD-BFA7B3B8F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Le </a:t>
            </a:r>
            <a:r>
              <a:rPr lang="en-US" dirty="0" err="1"/>
              <a:t>malade</a:t>
            </a:r>
            <a:r>
              <a:rPr lang="en-US" dirty="0"/>
              <a:t> </a:t>
            </a:r>
            <a:r>
              <a:rPr lang="en-US" dirty="0" err="1"/>
              <a:t>correctement</a:t>
            </a:r>
            <a:r>
              <a:rPr lang="en-US" dirty="0"/>
              <a:t> et </a:t>
            </a:r>
            <a:r>
              <a:rPr lang="en-US" dirty="0" err="1"/>
              <a:t>loyalement</a:t>
            </a:r>
            <a:r>
              <a:rPr lang="en-US" dirty="0"/>
              <a:t> </a:t>
            </a:r>
            <a:r>
              <a:rPr lang="en-US" dirty="0" err="1"/>
              <a:t>informé</a:t>
            </a:r>
            <a:r>
              <a:rPr lang="en-US" dirty="0"/>
              <a:t> doit </a:t>
            </a:r>
            <a:r>
              <a:rPr lang="en-US" dirty="0" err="1"/>
              <a:t>constamment</a:t>
            </a:r>
            <a:r>
              <a:rPr lang="en-US" dirty="0"/>
              <a:t> manifester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volonté</a:t>
            </a:r>
            <a:r>
              <a:rPr lang="en-US" dirty="0"/>
              <a:t> à travers un </a:t>
            </a:r>
            <a:r>
              <a:rPr lang="en-US" dirty="0" err="1"/>
              <a:t>consentement</a:t>
            </a:r>
            <a:r>
              <a:rPr lang="en-US" dirty="0"/>
              <a:t> libre et </a:t>
            </a:r>
            <a:r>
              <a:rPr lang="en-US" dirty="0" err="1"/>
              <a:t>dépourvu</a:t>
            </a:r>
            <a:r>
              <a:rPr lang="en-US" dirty="0"/>
              <a:t> de toute </a:t>
            </a:r>
            <a:r>
              <a:rPr lang="en-US" dirty="0" err="1"/>
              <a:t>ambiguïté</a:t>
            </a:r>
            <a:r>
              <a:rPr lang="en-US" dirty="0"/>
              <a:t>. Alors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malade</a:t>
            </a:r>
            <a:r>
              <a:rPr lang="en-US" dirty="0"/>
              <a:t> </a:t>
            </a:r>
            <a:r>
              <a:rPr lang="en-US" dirty="0" err="1"/>
              <a:t>possède</a:t>
            </a:r>
            <a:r>
              <a:rPr lang="en-US" dirty="0"/>
              <a:t> le droit </a:t>
            </a:r>
            <a:r>
              <a:rPr lang="fr-FR" dirty="0"/>
              <a:t> </a:t>
            </a:r>
            <a:r>
              <a:rPr lang="en-US" dirty="0" err="1"/>
              <a:t>absolu</a:t>
            </a:r>
            <a:r>
              <a:rPr lang="en-US" dirty="0"/>
              <a:t> d’être </a:t>
            </a:r>
            <a:r>
              <a:rPr lang="en-US" dirty="0" err="1"/>
              <a:t>respecté</a:t>
            </a:r>
            <a:r>
              <a:rPr lang="en-US" dirty="0"/>
              <a:t> et </a:t>
            </a:r>
            <a:r>
              <a:rPr lang="en-US" dirty="0" err="1"/>
              <a:t>traité</a:t>
            </a:r>
            <a:r>
              <a:rPr lang="en-US" dirty="0"/>
              <a:t> avec respect de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dignité</a:t>
            </a:r>
            <a:r>
              <a:rPr lang="en-US" dirty="0"/>
              <a:t>, </a:t>
            </a:r>
            <a:r>
              <a:rPr lang="en-US" dirty="0" err="1"/>
              <a:t>lors</a:t>
            </a:r>
            <a:r>
              <a:rPr lang="en-US" dirty="0"/>
              <a:t> de son passage dans le </a:t>
            </a:r>
            <a:r>
              <a:rPr lang="en-US" dirty="0" err="1"/>
              <a:t>système</a:t>
            </a:r>
            <a:r>
              <a:rPr lang="en-US" dirty="0"/>
              <a:t> de santé.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96688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928</Words>
  <Application>Microsoft Office PowerPoint</Application>
  <PresentationFormat>Grand écran</PresentationFormat>
  <Paragraphs>79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Constantia</vt:lpstr>
      <vt:lpstr>Palatino Linotype</vt:lpstr>
      <vt:lpstr>Times New Roman</vt:lpstr>
      <vt:lpstr>Thème Office</vt:lpstr>
      <vt:lpstr>Cours du module santé société et humanité 1ère année médecine 2025_ 2026  Déontologie médicale</vt:lpstr>
      <vt:lpstr>    Introduction : </vt:lpstr>
      <vt:lpstr>Présentation PowerPoint</vt:lpstr>
      <vt:lpstr>Présentation PowerPoint</vt:lpstr>
      <vt:lpstr>      ORIGINE DE LA DEONTOLOGIE MEDICALE : </vt:lpstr>
      <vt:lpstr>Présentation PowerPoint</vt:lpstr>
      <vt:lpstr>LE CODE DE LA DEONTOLOGIE MEDICALE  </vt:lpstr>
      <vt:lpstr>Présentation PowerPoint</vt:lpstr>
      <vt:lpstr>Présentation PowerPoint</vt:lpstr>
      <vt:lpstr>Présentation PowerPoint</vt:lpstr>
      <vt:lpstr>     Sanctions prévues dans le code de déontologie : </vt:lpstr>
      <vt:lpstr> les grands principes déontologiques :  </vt:lpstr>
      <vt:lpstr>Présentation PowerPoint</vt:lpstr>
      <vt:lpstr>Présentation PowerPoint</vt:lpstr>
      <vt:lpstr>Présentation PowerPoint</vt:lpstr>
      <vt:lpstr>VI. Conclusion :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du module santé société et humanité 1ère année médecine 2025_ 2026  Déontologie médicale</dc:title>
  <dc:creator>hp</dc:creator>
  <cp:lastModifiedBy>PC2025</cp:lastModifiedBy>
  <cp:revision>4</cp:revision>
  <dcterms:created xsi:type="dcterms:W3CDTF">2026-04-11T23:32:06Z</dcterms:created>
  <dcterms:modified xsi:type="dcterms:W3CDTF">2026-04-19T22:46:27Z</dcterms:modified>
</cp:coreProperties>
</file>