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58" r:id="rId3"/>
    <p:sldId id="259" r:id="rId4"/>
    <p:sldId id="260" r:id="rId5"/>
    <p:sldId id="261" r:id="rId6"/>
    <p:sldId id="285" r:id="rId7"/>
    <p:sldId id="262" r:id="rId8"/>
    <p:sldId id="263" r:id="rId9"/>
    <p:sldId id="264" r:id="rId10"/>
    <p:sldId id="265" r:id="rId11"/>
    <p:sldId id="281" r:id="rId12"/>
    <p:sldId id="266" r:id="rId13"/>
    <p:sldId id="267" r:id="rId14"/>
    <p:sldId id="268" r:id="rId15"/>
    <p:sldId id="269" r:id="rId16"/>
    <p:sldId id="270" r:id="rId17"/>
    <p:sldId id="272" r:id="rId18"/>
    <p:sldId id="282" r:id="rId19"/>
    <p:sldId id="273" r:id="rId20"/>
    <p:sldId id="274" r:id="rId21"/>
    <p:sldId id="283" r:id="rId22"/>
    <p:sldId id="275" r:id="rId23"/>
    <p:sldId id="284" r:id="rId24"/>
    <p:sldId id="276" r:id="rId25"/>
    <p:sldId id="277" r:id="rId26"/>
    <p:sldId id="278" r:id="rId27"/>
    <p:sldId id="279" r:id="rId2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46-5563-4FB3-AA04-B0C4C79ADFD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t>19/04/2026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C4C79-0106-49D1-A84F-9A5DD45DD8CA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9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23"/>
            <a:ext cx="9144000" cy="10287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01357" y="0"/>
            <a:ext cx="4742642" cy="5999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9088207" cy="10205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-828" y="52323"/>
            <a:ext cx="9145590" cy="9018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4448" y="-139242"/>
            <a:ext cx="7940675" cy="112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297939"/>
            <a:ext cx="8001000" cy="2007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289175"/>
          </a:xfrm>
        </p:spPr>
        <p:txBody>
          <a:bodyPr>
            <a:noAutofit/>
          </a:bodyPr>
          <a:lstStyle/>
          <a:p>
            <a:pPr algn="ctr"/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Cours</a:t>
            </a:r>
            <a:r>
              <a:rPr lang="fr-FR" sz="2800" spc="-145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dirty="0">
                <a:solidFill>
                  <a:schemeClr val="tx2"/>
                </a:solidFill>
                <a:latin typeface="Constantia"/>
                <a:cs typeface="Constantia"/>
              </a:rPr>
              <a:t>du</a:t>
            </a:r>
            <a:r>
              <a:rPr lang="fr-FR" sz="2800" spc="-25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module</a:t>
            </a:r>
            <a:r>
              <a:rPr lang="fr-FR" sz="2800" spc="-135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santé</a:t>
            </a:r>
            <a:r>
              <a:rPr lang="fr-FR" sz="2800" spc="-110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20" dirty="0">
                <a:solidFill>
                  <a:schemeClr val="tx2"/>
                </a:solidFill>
                <a:latin typeface="Constantia"/>
                <a:cs typeface="Constantia"/>
              </a:rPr>
              <a:t>société</a:t>
            </a:r>
            <a:r>
              <a:rPr lang="fr-FR" sz="2800" spc="-140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dirty="0">
                <a:solidFill>
                  <a:schemeClr val="tx2"/>
                </a:solidFill>
                <a:latin typeface="Constantia"/>
                <a:cs typeface="Constantia"/>
              </a:rPr>
              <a:t>et</a:t>
            </a:r>
            <a:r>
              <a:rPr lang="fr-FR" sz="2800" spc="-60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humanité </a:t>
            </a:r>
            <a:r>
              <a:rPr lang="fr-FR" sz="2800" dirty="0">
                <a:solidFill>
                  <a:schemeClr val="tx2"/>
                </a:solidFill>
                <a:latin typeface="Constantia"/>
                <a:cs typeface="Constantia"/>
              </a:rPr>
              <a:t>1</a:t>
            </a:r>
            <a:r>
              <a:rPr lang="fr-FR" sz="2800" baseline="26143" dirty="0">
                <a:solidFill>
                  <a:schemeClr val="tx2"/>
                </a:solidFill>
                <a:latin typeface="Constantia"/>
                <a:cs typeface="Constantia"/>
              </a:rPr>
              <a:t>ère</a:t>
            </a:r>
            <a:r>
              <a:rPr lang="fr-FR" sz="2800" spc="127" baseline="26143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dirty="0">
                <a:solidFill>
                  <a:schemeClr val="tx2"/>
                </a:solidFill>
                <a:latin typeface="Constantia"/>
                <a:cs typeface="Constantia"/>
              </a:rPr>
              <a:t>année</a:t>
            </a:r>
            <a:r>
              <a:rPr lang="fr-FR" sz="2800" spc="-90" dirty="0">
                <a:solidFill>
                  <a:schemeClr val="tx2"/>
                </a:solidFill>
                <a:latin typeface="Constantia"/>
                <a:cs typeface="Constantia"/>
              </a:rPr>
              <a:t> </a:t>
            </a: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>médecine 2025_ 2026</a:t>
            </a:r>
            <a:b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</a:br>
            <a: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  <a:t/>
            </a:r>
            <a:br>
              <a:rPr lang="fr-FR" sz="2800" spc="-10" dirty="0">
                <a:solidFill>
                  <a:schemeClr val="tx2"/>
                </a:solidFill>
                <a:latin typeface="Constantia"/>
                <a:cs typeface="Constantia"/>
              </a:rPr>
            </a:br>
            <a:r>
              <a:rPr lang="fr-FR" sz="3600" spc="-10" dirty="0">
                <a:solidFill>
                  <a:srgbClr val="C00000"/>
                </a:solidFill>
                <a:latin typeface="Constantia"/>
                <a:cs typeface="Constantia"/>
              </a:rPr>
              <a:t>Droit médical</a:t>
            </a:r>
            <a:endParaRPr lang="fr-FR" sz="3600" dirty="0">
              <a:solidFill>
                <a:srgbClr val="C0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4596209"/>
            <a:ext cx="9144000" cy="1569660"/>
          </a:xfrm>
        </p:spPr>
        <p:txBody>
          <a:bodyPr/>
          <a:lstStyle/>
          <a:p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Docteur </a:t>
            </a:r>
            <a:r>
              <a:rPr lang="fr-FR" sz="2800" dirty="0" smtClean="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H</a:t>
            </a:r>
            <a:r>
              <a:rPr lang="fr-FR" sz="2800" dirty="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. </a:t>
            </a:r>
            <a:r>
              <a:rPr lang="fr-FR" sz="2800" dirty="0" err="1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chouti</a:t>
            </a:r>
            <a:endParaRPr lang="fr-FR" sz="2800" dirty="0">
              <a:solidFill>
                <a:srgbClr val="000000"/>
              </a:solidFill>
              <a:effectLst/>
              <a:latin typeface="Times New Roman" panose="02020603050405020304"/>
              <a:ea typeface="Times New Roman" panose="02020603050405020304"/>
            </a:endParaRPr>
          </a:p>
          <a:p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Maitre </a:t>
            </a:r>
            <a:r>
              <a:rPr lang="fr-FR" sz="2400" dirty="0" smtClean="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assistant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/>
                <a:ea typeface="Times New Roman" panose="02020603050405020304"/>
              </a:rPr>
              <a:t>en Médecine Légale Droit médical et Ethique                               au C.H.U.C. </a:t>
            </a:r>
            <a:endParaRPr lang="fr-FR" sz="2800" dirty="0">
              <a:effectLst/>
              <a:latin typeface="Times New Roman" panose="02020603050405020304"/>
              <a:ea typeface="Times New Roman" panose="02020603050405020304"/>
            </a:endParaRPr>
          </a:p>
          <a:p>
            <a:endParaRPr lang="fr-FR" dirty="0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0"/>
            <a:ext cx="971600" cy="858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5" descr="C:\Documents and Settings\DIRECTION DES ETUDES\Bureau\th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0"/>
            <a:ext cx="1187450" cy="858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36512" y="-27384"/>
            <a:ext cx="899592" cy="856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4326" y="755726"/>
            <a:ext cx="296862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0" dirty="0"/>
              <a:t>Généralités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35940" y="1576552"/>
            <a:ext cx="7900034" cy="176911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santé:</a:t>
            </a:r>
            <a:endParaRPr sz="2600" dirty="0">
              <a:latin typeface="Constantia"/>
              <a:cs typeface="Constantia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Constantia"/>
                <a:cs typeface="Constantia"/>
              </a:rPr>
              <a:t>Définition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l’OMS:</a:t>
            </a:r>
            <a:r>
              <a:rPr sz="2600" spc="-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«un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état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complet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bien-</a:t>
            </a:r>
            <a:r>
              <a:rPr sz="2600" spc="-20" dirty="0">
                <a:latin typeface="Constantia"/>
                <a:cs typeface="Constantia"/>
              </a:rPr>
              <a:t>être </a:t>
            </a:r>
            <a:r>
              <a:rPr sz="2600" dirty="0">
                <a:latin typeface="Constantia"/>
                <a:cs typeface="Constantia"/>
              </a:rPr>
              <a:t>physique,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mental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social,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ne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consiste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pas </a:t>
            </a:r>
            <a:r>
              <a:rPr sz="2600" spc="-10" dirty="0">
                <a:latin typeface="Constantia"/>
                <a:cs typeface="Constantia"/>
              </a:rPr>
              <a:t>seulement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en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une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absence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maladie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ou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d’infirmité</a:t>
            </a:r>
            <a:r>
              <a:rPr sz="2600" spc="-40" dirty="0">
                <a:latin typeface="Constantia"/>
                <a:cs typeface="Constantia"/>
              </a:rPr>
              <a:t> </a:t>
            </a:r>
            <a:r>
              <a:rPr sz="2600" spc="-50" dirty="0">
                <a:latin typeface="Constantia"/>
                <a:cs typeface="Constantia"/>
              </a:rPr>
              <a:t>»</a:t>
            </a:r>
            <a:endParaRPr sz="2600" dirty="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350258"/>
            <a:ext cx="8041005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droit:</a:t>
            </a:r>
            <a:r>
              <a:rPr sz="2600" spc="-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«</a:t>
            </a:r>
            <a:r>
              <a:rPr sz="2600" spc="-20" dirty="0">
                <a:latin typeface="Constantia"/>
                <a:cs typeface="Constantia"/>
              </a:rPr>
              <a:t> </a:t>
            </a:r>
            <a:r>
              <a:rPr sz="2600" spc="-35" dirty="0">
                <a:latin typeface="Constantia"/>
                <a:cs typeface="Constantia"/>
              </a:rPr>
              <a:t>L’ensemble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des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règles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qui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régissent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la conduite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l’Homme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en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société,</a:t>
            </a:r>
            <a:r>
              <a:rPr sz="2600" spc="-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les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rapports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sociaux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50" dirty="0">
                <a:latin typeface="Constantia"/>
                <a:cs typeface="Constantia"/>
              </a:rPr>
              <a:t>»</a:t>
            </a:r>
            <a:endParaRPr sz="26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33548"/>
            <a:ext cx="7846695" cy="46228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b="1" spc="-10" dirty="0">
                <a:latin typeface="Constantia"/>
                <a:cs typeface="Constantia"/>
              </a:rPr>
              <a:t>Historiquement:</a:t>
            </a:r>
            <a:endParaRPr sz="2600" dirty="0">
              <a:latin typeface="Constantia"/>
              <a:cs typeface="Constantia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</a:pPr>
            <a:r>
              <a:rPr sz="2600" spc="-35" dirty="0">
                <a:latin typeface="Constantia"/>
                <a:cs typeface="Constantia"/>
              </a:rPr>
              <a:t>C’est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un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principe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très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ancien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bien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ancré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dans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la </a:t>
            </a:r>
            <a:r>
              <a:rPr sz="2600" dirty="0">
                <a:latin typeface="Constantia"/>
                <a:cs typeface="Constantia"/>
              </a:rPr>
              <a:t>société,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médecin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toujours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été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soumis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aux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lois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de </a:t>
            </a:r>
            <a:r>
              <a:rPr sz="2600" dirty="0">
                <a:latin typeface="Constantia"/>
                <a:cs typeface="Constantia"/>
              </a:rPr>
              <a:t>chaque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société,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dans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moyen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40" dirty="0">
                <a:latin typeface="Constantia"/>
                <a:cs typeface="Constantia"/>
              </a:rPr>
              <a:t>âge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on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appliquait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loi </a:t>
            </a:r>
            <a:r>
              <a:rPr sz="2600" dirty="0">
                <a:latin typeface="Constantia"/>
                <a:cs typeface="Constantia"/>
              </a:rPr>
              <a:t>du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lang="fr-FR" sz="2600" dirty="0">
                <a:latin typeface="Constantia"/>
                <a:cs typeface="Constantia"/>
              </a:rPr>
              <a:t>T</a:t>
            </a:r>
            <a:r>
              <a:rPr sz="2600" dirty="0" err="1">
                <a:latin typeface="Constantia"/>
                <a:cs typeface="Constantia"/>
              </a:rPr>
              <a:t>alion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«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œil</a:t>
            </a:r>
            <a:r>
              <a:rPr sz="2600" spc="-4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pour</a:t>
            </a:r>
            <a:r>
              <a:rPr sz="2600" spc="-1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œil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dents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pour</a:t>
            </a:r>
            <a:r>
              <a:rPr sz="2600" spc="-1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dents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».</a:t>
            </a:r>
            <a:r>
              <a:rPr sz="2600" spc="-1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Les </a:t>
            </a:r>
            <a:r>
              <a:rPr sz="2600" spc="-10" dirty="0">
                <a:latin typeface="Constantia"/>
                <a:cs typeface="Constantia"/>
              </a:rPr>
              <a:t>Babyloniens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avaient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code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HAMOURABI,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sans </a:t>
            </a:r>
            <a:r>
              <a:rPr sz="2600" dirty="0">
                <a:latin typeface="Constantia"/>
                <a:cs typeface="Constantia"/>
              </a:rPr>
              <a:t>oublier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les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principes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déontologiques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du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serment </a:t>
            </a:r>
            <a:r>
              <a:rPr sz="2600" spc="-25" dirty="0">
                <a:latin typeface="Constantia"/>
                <a:cs typeface="Constantia"/>
              </a:rPr>
              <a:t>d’HYPPOCRATE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serment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4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MAIMONIDE.</a:t>
            </a:r>
            <a:endParaRPr sz="2600" dirty="0">
              <a:latin typeface="Constantia"/>
              <a:cs typeface="Constantia"/>
            </a:endParaRPr>
          </a:p>
          <a:p>
            <a:pPr marL="286385" marR="20320" indent="-274320">
              <a:lnSpc>
                <a:spcPct val="100000"/>
              </a:lnSpc>
              <a:spcBef>
                <a:spcPts val="625"/>
              </a:spcBef>
              <a:tabLst>
                <a:tab pos="6537959" algn="l"/>
              </a:tabLst>
            </a:pP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droit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médical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évolué</a:t>
            </a:r>
            <a:r>
              <a:rPr sz="2600" spc="-1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des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lois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spécifiques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ont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été </a:t>
            </a:r>
            <a:r>
              <a:rPr sz="2600" spc="-10" dirty="0">
                <a:latin typeface="Constantia"/>
                <a:cs typeface="Constantia"/>
              </a:rPr>
              <a:t>élaborés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pour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bien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encadrer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réglementer</a:t>
            </a:r>
            <a:r>
              <a:rPr sz="2600" dirty="0">
                <a:latin typeface="Constantia"/>
                <a:cs typeface="Constantia"/>
              </a:rPr>
              <a:t>	</a:t>
            </a:r>
            <a:r>
              <a:rPr sz="2600" spc="-45" dirty="0">
                <a:latin typeface="Constantia"/>
                <a:cs typeface="Constantia"/>
              </a:rPr>
              <a:t>l’exercice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médecine</a:t>
            </a:r>
            <a:endParaRPr sz="26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54326" y="752348"/>
            <a:ext cx="4432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Les</a:t>
            </a:r>
            <a:r>
              <a:rPr sz="2800" spc="-70" dirty="0"/>
              <a:t> </a:t>
            </a:r>
            <a:r>
              <a:rPr sz="2800" dirty="0"/>
              <a:t>sources</a:t>
            </a:r>
            <a:r>
              <a:rPr sz="2800" spc="-45" dirty="0"/>
              <a:t> </a:t>
            </a:r>
            <a:r>
              <a:rPr sz="2800" dirty="0"/>
              <a:t>du</a:t>
            </a:r>
            <a:r>
              <a:rPr sz="2800" spc="-55" dirty="0"/>
              <a:t> </a:t>
            </a:r>
            <a:r>
              <a:rPr sz="2800" dirty="0"/>
              <a:t>droit</a:t>
            </a:r>
            <a:r>
              <a:rPr sz="2800" spc="-55" dirty="0"/>
              <a:t> </a:t>
            </a:r>
            <a:r>
              <a:rPr sz="2800" dirty="0"/>
              <a:t>en</a:t>
            </a:r>
            <a:r>
              <a:rPr sz="2800" spc="-70" dirty="0"/>
              <a:t> </a:t>
            </a:r>
            <a:r>
              <a:rPr sz="2800" spc="-10" dirty="0"/>
              <a:t>Algérie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58315"/>
            <a:ext cx="7970520" cy="45840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628015" indent="-274955">
              <a:lnSpc>
                <a:spcPts val="2810"/>
              </a:lnSpc>
              <a:spcBef>
                <a:spcPts val="45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6385" algn="l"/>
                <a:tab pos="4672330" algn="l"/>
              </a:tabLst>
            </a:pPr>
            <a:r>
              <a:rPr sz="2600" i="1" dirty="0">
                <a:latin typeface="Constantia"/>
                <a:cs typeface="Constantia"/>
              </a:rPr>
              <a:t>La</a:t>
            </a:r>
            <a:r>
              <a:rPr sz="2600" i="1" spc="-40" dirty="0">
                <a:latin typeface="Constantia"/>
                <a:cs typeface="Constantia"/>
              </a:rPr>
              <a:t> </a:t>
            </a:r>
            <a:r>
              <a:rPr sz="2600" i="1" dirty="0">
                <a:latin typeface="Constantia"/>
                <a:cs typeface="Constantia"/>
              </a:rPr>
              <a:t>constitution </a:t>
            </a:r>
            <a:r>
              <a:rPr sz="2600" dirty="0">
                <a:latin typeface="Constantia"/>
                <a:cs typeface="Constantia"/>
              </a:rPr>
              <a:t>: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qui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garantit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50" dirty="0">
                <a:latin typeface="Constantia"/>
                <a:cs typeface="Constantia"/>
              </a:rPr>
              <a:t>;</a:t>
            </a:r>
            <a:r>
              <a:rPr sz="2600" dirty="0">
                <a:latin typeface="Constantia"/>
                <a:cs typeface="Constantia"/>
              </a:rPr>
              <a:t>	</a:t>
            </a:r>
            <a:r>
              <a:rPr sz="2600" spc="-25" dirty="0">
                <a:latin typeface="Constantia"/>
                <a:cs typeface="Constantia"/>
              </a:rPr>
              <a:t>l’autonomie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et </a:t>
            </a:r>
            <a:r>
              <a:rPr sz="2600" spc="-20" dirty="0">
                <a:latin typeface="Constantia"/>
                <a:cs typeface="Constantia"/>
              </a:rPr>
              <a:t>l’inviolabilité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personne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humaine,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assure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le </a:t>
            </a:r>
            <a:r>
              <a:rPr sz="2600" spc="-10" dirty="0">
                <a:latin typeface="Constantia"/>
                <a:cs typeface="Constantia"/>
              </a:rPr>
              <a:t>droit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à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protection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santé.</a:t>
            </a:r>
            <a:endParaRPr sz="2600" dirty="0">
              <a:latin typeface="Constantia"/>
              <a:cs typeface="Constantia"/>
            </a:endParaRPr>
          </a:p>
          <a:p>
            <a:pPr marL="286385" marR="5080" indent="-274955">
              <a:lnSpc>
                <a:spcPct val="90000"/>
              </a:lnSpc>
              <a:spcBef>
                <a:spcPts val="58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loi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sanitaire,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qui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est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loi</a:t>
            </a:r>
            <a:r>
              <a:rPr sz="2600" spc="-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fondamentale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base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qui </a:t>
            </a:r>
            <a:r>
              <a:rPr sz="2600" dirty="0">
                <a:latin typeface="Constantia"/>
                <a:cs typeface="Constantia"/>
              </a:rPr>
              <a:t>régit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l’ensemble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45" dirty="0">
                <a:latin typeface="Constantia"/>
                <a:cs typeface="Constantia"/>
              </a:rPr>
              <a:t>l’exercice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médecine,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elle </a:t>
            </a:r>
            <a:r>
              <a:rPr sz="2600" spc="-10" dirty="0">
                <a:latin typeface="Constantia"/>
                <a:cs typeface="Constantia"/>
              </a:rPr>
              <a:t>délimite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40" dirty="0">
                <a:latin typeface="Constantia"/>
                <a:cs typeface="Constantia"/>
              </a:rPr>
              <a:t>ce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qui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est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légal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40" dirty="0">
                <a:latin typeface="Constantia"/>
                <a:cs typeface="Constantia"/>
              </a:rPr>
              <a:t>ce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qui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est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interdit,</a:t>
            </a:r>
            <a:endParaRPr sz="2600" dirty="0">
              <a:latin typeface="Constantia"/>
              <a:cs typeface="Constantia"/>
            </a:endParaRPr>
          </a:p>
          <a:p>
            <a:pPr marL="286385" marR="41910" indent="-274955">
              <a:lnSpc>
                <a:spcPct val="90000"/>
              </a:lnSpc>
              <a:spcBef>
                <a:spcPts val="6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6385" algn="l"/>
                <a:tab pos="2870835" algn="l"/>
              </a:tabLst>
            </a:pP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code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pénal: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sanctionne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toutes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fautes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commises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lors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45" dirty="0">
                <a:latin typeface="Constantia"/>
                <a:cs typeface="Constantia"/>
              </a:rPr>
              <a:t>l’exercice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médecine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qui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est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inscrite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comme </a:t>
            </a:r>
            <a:r>
              <a:rPr sz="2600" dirty="0">
                <a:latin typeface="Constantia"/>
                <a:cs typeface="Constantia"/>
              </a:rPr>
              <a:t>une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infraction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au</a:t>
            </a:r>
            <a:r>
              <a:rPr sz="2600" dirty="0">
                <a:latin typeface="Constantia"/>
                <a:cs typeface="Constantia"/>
              </a:rPr>
              <a:t>	plan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pénal.</a:t>
            </a:r>
            <a:endParaRPr sz="2600" dirty="0">
              <a:latin typeface="Constantia"/>
              <a:cs typeface="Constantia"/>
            </a:endParaRPr>
          </a:p>
          <a:p>
            <a:pPr marL="286385" marR="328930" indent="-274955">
              <a:lnSpc>
                <a:spcPts val="2810"/>
              </a:lnSpc>
              <a:spcBef>
                <a:spcPts val="66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code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civil</a:t>
            </a:r>
            <a:r>
              <a:rPr sz="2600" spc="-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: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délimite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les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repères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du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contrat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soin </a:t>
            </a:r>
            <a:r>
              <a:rPr sz="2600" dirty="0">
                <a:latin typeface="Constantia"/>
                <a:cs typeface="Constantia"/>
              </a:rPr>
              <a:t>qui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est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un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contrat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civil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les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répercussions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en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cas </a:t>
            </a:r>
            <a:r>
              <a:rPr sz="2600" spc="-35" dirty="0">
                <a:latin typeface="Constantia"/>
                <a:cs typeface="Constantia"/>
              </a:rPr>
              <a:t>d’atteinte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à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35" dirty="0">
                <a:latin typeface="Constantia"/>
                <a:cs typeface="Constantia"/>
              </a:rPr>
              <a:t>ce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contrat</a:t>
            </a:r>
            <a:endParaRPr sz="26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44981" y="336245"/>
            <a:ext cx="692848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5470" algn="l"/>
              </a:tabLst>
            </a:pPr>
            <a:r>
              <a:rPr dirty="0"/>
              <a:t>Les</a:t>
            </a:r>
            <a:r>
              <a:rPr spc="-15" dirty="0"/>
              <a:t> </a:t>
            </a:r>
            <a:r>
              <a:rPr spc="-10" dirty="0"/>
              <a:t>objectifs</a:t>
            </a:r>
            <a:r>
              <a:rPr dirty="0"/>
              <a:t>	du</a:t>
            </a:r>
            <a:r>
              <a:rPr spc="-110" dirty="0"/>
              <a:t> </a:t>
            </a:r>
            <a:r>
              <a:rPr dirty="0"/>
              <a:t>droit</a:t>
            </a:r>
            <a:r>
              <a:rPr spc="-85" dirty="0"/>
              <a:t> </a:t>
            </a:r>
            <a:r>
              <a:rPr spc="-10" dirty="0"/>
              <a:t>médical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4938"/>
            <a:ext cx="7562215" cy="4544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montrer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champ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légal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45" dirty="0">
                <a:latin typeface="Constantia"/>
                <a:cs typeface="Constantia"/>
              </a:rPr>
              <a:t>l’exercice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médecine</a:t>
            </a:r>
            <a:endParaRPr sz="2600" dirty="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Clr>
                <a:srgbClr val="0AD0D9"/>
              </a:buClr>
              <a:buFont typeface="Segoe UI Symbol"/>
              <a:buChar char="⚫"/>
            </a:pPr>
            <a:endParaRPr sz="2600" dirty="0">
              <a:latin typeface="Constantia"/>
              <a:cs typeface="Constantia"/>
            </a:endParaRPr>
          </a:p>
          <a:p>
            <a:pPr marL="287020" indent="-274955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Constantia"/>
                <a:cs typeface="Constantia"/>
              </a:rPr>
              <a:t>Qui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peut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30" dirty="0">
                <a:latin typeface="Constantia"/>
                <a:cs typeface="Constantia"/>
              </a:rPr>
              <a:t>exercer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médecine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en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Algérie,</a:t>
            </a:r>
            <a:endParaRPr sz="2600" dirty="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Clr>
                <a:srgbClr val="0AD0D9"/>
              </a:buClr>
              <a:buFont typeface="Segoe UI Symbol"/>
              <a:buChar char="⚫"/>
            </a:pPr>
            <a:endParaRPr sz="2600" dirty="0">
              <a:latin typeface="Constantia"/>
              <a:cs typeface="Constantia"/>
            </a:endParaRPr>
          </a:p>
          <a:p>
            <a:pPr marL="287020" indent="-274955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Constantia"/>
                <a:cs typeface="Constantia"/>
              </a:rPr>
              <a:t>les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différents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actes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médicaux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autorisés</a:t>
            </a:r>
            <a:endParaRPr sz="2600" dirty="0">
              <a:latin typeface="Constantia"/>
              <a:cs typeface="Constantia"/>
            </a:endParaRPr>
          </a:p>
          <a:p>
            <a:pPr marL="28702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Constantia"/>
                <a:cs typeface="Constantia"/>
              </a:rPr>
              <a:t>Les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devoirs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les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règles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primordiales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lors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35" dirty="0">
                <a:latin typeface="Constantia"/>
                <a:cs typeface="Constantia"/>
              </a:rPr>
              <a:t>la</a:t>
            </a:r>
            <a:endParaRPr sz="2600" dirty="0">
              <a:latin typeface="Constantia"/>
              <a:cs typeface="Constantia"/>
            </a:endParaRPr>
          </a:p>
          <a:p>
            <a:pPr marL="286385">
              <a:lnSpc>
                <a:spcPct val="100000"/>
              </a:lnSpc>
            </a:pPr>
            <a:r>
              <a:rPr sz="2600" spc="-10" dirty="0">
                <a:latin typeface="Constantia"/>
                <a:cs typeface="Constantia"/>
              </a:rPr>
              <a:t>pratique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30" dirty="0">
                <a:latin typeface="Constantia"/>
                <a:cs typeface="Constantia"/>
              </a:rPr>
              <a:t>l’acte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médical.</a:t>
            </a:r>
            <a:endParaRPr sz="2600" dirty="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600" dirty="0">
              <a:latin typeface="Constantia"/>
              <a:cs typeface="Constantia"/>
            </a:endParaRPr>
          </a:p>
          <a:p>
            <a:pPr marL="286385" marR="285750" indent="-274955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Constantia"/>
                <a:cs typeface="Constantia"/>
              </a:rPr>
              <a:t>les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sanctions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en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cas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d’infractions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aux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lois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règles régissant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spc="-45" dirty="0">
                <a:latin typeface="Constantia"/>
                <a:cs typeface="Constantia"/>
              </a:rPr>
              <a:t>l’exercice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médecine.</a:t>
            </a:r>
            <a:endParaRPr sz="26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1A3D465-4E4A-D072-A95A-D5A98F4F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B27A56E0-B668-1C84-F8D4-995635A5D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297939"/>
            <a:ext cx="8001000" cy="1354217"/>
          </a:xfrm>
        </p:spPr>
        <p:txBody>
          <a:bodyPr/>
          <a:lstStyle/>
          <a:p>
            <a:pPr algn="ctr"/>
            <a:r>
              <a:rPr lang="fr-FR" sz="4400" b="1" dirty="0">
                <a:solidFill>
                  <a:srgbClr val="FF0000"/>
                </a:solidFill>
              </a:rPr>
              <a:t>PRICIPALES SITUATIONS PRATIQUES</a:t>
            </a:r>
          </a:p>
        </p:txBody>
      </p:sp>
    </p:spTree>
    <p:extLst>
      <p:ext uri="{BB962C8B-B14F-4D97-AF65-F5344CB8AC3E}">
        <p14:creationId xmlns:p14="http://schemas.microsoft.com/office/powerpoint/2010/main" val="2184532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71014" y="336245"/>
            <a:ext cx="568388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</a:t>
            </a:r>
            <a:r>
              <a:rPr spc="-70" dirty="0"/>
              <a:t> </a:t>
            </a:r>
            <a:r>
              <a:rPr spc="-10" dirty="0"/>
              <a:t>réquisition</a:t>
            </a:r>
            <a:r>
              <a:rPr spc="-75" dirty="0"/>
              <a:t> </a:t>
            </a:r>
            <a:r>
              <a:rPr dirty="0"/>
              <a:t>à</a:t>
            </a:r>
            <a:r>
              <a:rPr spc="-70" dirty="0"/>
              <a:t> </a:t>
            </a:r>
            <a:r>
              <a:rPr spc="-10" dirty="0"/>
              <a:t>médecin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05052"/>
            <a:ext cx="7785734" cy="406781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Définition: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  <a:tabLst>
                <a:tab pos="687705" algn="l"/>
              </a:tabLst>
            </a:pP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«La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Réquisition</a:t>
            </a:r>
            <a:r>
              <a:rPr sz="26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Injonction</a:t>
            </a:r>
            <a:r>
              <a:rPr sz="2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(Ordre</a:t>
            </a:r>
            <a:r>
              <a:rPr sz="26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précis)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faite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sz="2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Médecin</a:t>
            </a:r>
            <a:r>
              <a:rPr sz="2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</a:t>
            </a:r>
            <a:r>
              <a:rPr sz="26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Autorité</a:t>
            </a:r>
            <a:r>
              <a:rPr sz="26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</a:t>
            </a:r>
            <a:r>
              <a:rPr sz="26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Judiciaire</a:t>
            </a:r>
            <a:r>
              <a:rPr sz="26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d’avoir</a:t>
            </a:r>
            <a:r>
              <a:rPr sz="26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sz="26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exécuter</a:t>
            </a:r>
            <a:r>
              <a:rPr sz="26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telle</a:t>
            </a:r>
            <a:r>
              <a:rPr sz="26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telle</a:t>
            </a:r>
            <a:r>
              <a:rPr sz="2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d’Ordre</a:t>
            </a:r>
            <a:r>
              <a:rPr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Médico-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légal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sz="2600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requis: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</a:t>
            </a:r>
            <a:r>
              <a:rPr sz="2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médecin</a:t>
            </a:r>
            <a:r>
              <a:rPr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diplômé</a:t>
            </a:r>
            <a:r>
              <a:rPr sz="26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z="26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autorisé</a:t>
            </a:r>
            <a:r>
              <a:rPr sz="26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sz="26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exercer</a:t>
            </a:r>
            <a:r>
              <a:rPr sz="26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Algérie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683000" indent="-635">
              <a:lnSpc>
                <a:spcPct val="120000"/>
              </a:lnSpc>
              <a:spcBef>
                <a:spcPts val="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  <a:tab pos="916940" algn="l"/>
              </a:tabLst>
            </a:pPr>
            <a:r>
              <a:rPr sz="26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Les</a:t>
            </a:r>
            <a:r>
              <a:rPr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6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autorités</a:t>
            </a:r>
            <a:r>
              <a:rPr sz="2600" spc="-1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requirentes: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Judiciaires</a:t>
            </a:r>
            <a:r>
              <a:rPr sz="26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z="26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administratives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18922"/>
            <a:ext cx="8057515" cy="549465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solidFill>
                  <a:srgbClr val="FF0000"/>
                </a:solidFill>
                <a:latin typeface="Constantia"/>
                <a:cs typeface="Constantia"/>
              </a:rPr>
              <a:t>Buts</a:t>
            </a:r>
            <a:r>
              <a:rPr sz="2600" spc="-15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0000"/>
                </a:solidFill>
                <a:latin typeface="Constantia"/>
                <a:cs typeface="Constantia"/>
              </a:rPr>
              <a:t>de</a:t>
            </a:r>
            <a:r>
              <a:rPr sz="2600" spc="-6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dirty="0">
                <a:solidFill>
                  <a:srgbClr val="FF0000"/>
                </a:solidFill>
                <a:latin typeface="Constantia"/>
                <a:cs typeface="Constantia"/>
              </a:rPr>
              <a:t>la</a:t>
            </a:r>
            <a:r>
              <a:rPr sz="2600" spc="-12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nstantia"/>
                <a:cs typeface="Constantia"/>
              </a:rPr>
              <a:t>réquisition:</a:t>
            </a:r>
            <a:endParaRPr sz="2600">
              <a:latin typeface="Constantia"/>
              <a:cs typeface="Constantia"/>
            </a:endParaRPr>
          </a:p>
          <a:p>
            <a:pPr marL="281305" marR="5080" indent="-26924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286385" algn="l"/>
                <a:tab pos="6717030" algn="l"/>
                <a:tab pos="7103109" algn="l"/>
              </a:tabLst>
            </a:pP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réquisition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judiciaire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est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délivrée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30" dirty="0">
                <a:latin typeface="Constantia"/>
                <a:cs typeface="Constantia"/>
              </a:rPr>
              <a:t>lorsqu’on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spc="-50" dirty="0">
                <a:latin typeface="Constantia"/>
                <a:cs typeface="Constantia"/>
              </a:rPr>
              <a:t>a</a:t>
            </a:r>
            <a:r>
              <a:rPr sz="2600" dirty="0">
                <a:latin typeface="Constantia"/>
                <a:cs typeface="Constantia"/>
              </a:rPr>
              <a:t>	</a:t>
            </a:r>
            <a:r>
              <a:rPr sz="2600" spc="-10" dirty="0">
                <a:latin typeface="Constantia"/>
                <a:cs typeface="Constantia"/>
              </a:rPr>
              <a:t>besoin 	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compétence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d’un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technicien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(médecin)</a:t>
            </a:r>
            <a:r>
              <a:rPr sz="2600" dirty="0">
                <a:latin typeface="Constantia"/>
                <a:cs typeface="Constantia"/>
              </a:rPr>
              <a:t>	</a:t>
            </a:r>
            <a:r>
              <a:rPr sz="2600" spc="-10" dirty="0">
                <a:latin typeface="Constantia"/>
                <a:cs typeface="Constantia"/>
              </a:rPr>
              <a:t>pour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se 	procurer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des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renseignements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susceptibles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faciliter 	</a:t>
            </a:r>
            <a:r>
              <a:rPr sz="2600" spc="-45" dirty="0">
                <a:latin typeface="Constantia"/>
                <a:cs typeface="Constantia"/>
              </a:rPr>
              <a:t>l’exercice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4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l’action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publique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ou</a:t>
            </a:r>
            <a:r>
              <a:rPr sz="2600" spc="-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répression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d’une 	</a:t>
            </a:r>
            <a:r>
              <a:rPr sz="2600" spc="-10" dirty="0">
                <a:latin typeface="Constantia"/>
                <a:cs typeface="Constantia"/>
              </a:rPr>
              <a:t>Infraction,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selon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l’article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49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du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code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procédures 	pénales</a:t>
            </a:r>
            <a:endParaRPr sz="26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Constantia"/>
              <a:buAutoNum type="arabicPeriod"/>
            </a:pPr>
            <a:endParaRPr sz="2600">
              <a:latin typeface="Constantia"/>
              <a:cs typeface="Constantia"/>
            </a:endParaRPr>
          </a:p>
          <a:p>
            <a:pPr marL="286385" marR="162560" indent="-274320">
              <a:lnSpc>
                <a:spcPct val="100000"/>
              </a:lnSpc>
              <a:buAutoNum type="arabicPeriod"/>
              <a:tabLst>
                <a:tab pos="286385" algn="l"/>
                <a:tab pos="339090" algn="l"/>
                <a:tab pos="2294890" algn="l"/>
              </a:tabLst>
            </a:pPr>
            <a:r>
              <a:rPr sz="2600" dirty="0">
                <a:latin typeface="Constantia"/>
                <a:cs typeface="Constantia"/>
              </a:rPr>
              <a:t>	</a:t>
            </a:r>
            <a:r>
              <a:rPr sz="2600" spc="-20" dirty="0">
                <a:latin typeface="Constantia"/>
                <a:cs typeface="Constantia"/>
              </a:rPr>
              <a:t>Pour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réquisition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administrative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elle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peut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être </a:t>
            </a:r>
            <a:r>
              <a:rPr sz="2600" spc="-10" dirty="0">
                <a:latin typeface="Constantia"/>
                <a:cs typeface="Constantia"/>
              </a:rPr>
              <a:t>destinée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à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toutes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personnes,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pour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assurer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la </a:t>
            </a:r>
            <a:r>
              <a:rPr sz="2600" spc="-20" dirty="0">
                <a:latin typeface="Constantia"/>
                <a:cs typeface="Constantia"/>
              </a:rPr>
              <a:t>continuité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du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service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publique,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exemple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remplacer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un </a:t>
            </a:r>
            <a:r>
              <a:rPr sz="2600" dirty="0">
                <a:latin typeface="Constantia"/>
                <a:cs typeface="Constantia"/>
              </a:rPr>
              <a:t>médecin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pour</a:t>
            </a:r>
            <a:r>
              <a:rPr sz="2600" spc="-17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assurer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une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garde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aux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urgences.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Article </a:t>
            </a:r>
            <a:r>
              <a:rPr sz="2600" dirty="0">
                <a:latin typeface="Constantia"/>
                <a:cs typeface="Constantia"/>
              </a:rPr>
              <a:t>679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alinéa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35" dirty="0">
                <a:latin typeface="Constantia"/>
                <a:cs typeface="Constantia"/>
              </a:rPr>
              <a:t>02</a:t>
            </a:r>
            <a:r>
              <a:rPr sz="2600" dirty="0">
                <a:latin typeface="Constantia"/>
                <a:cs typeface="Constantia"/>
              </a:rPr>
              <a:t>	du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code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civil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Algérien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90042"/>
            <a:ext cx="7863205" cy="3592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solidFill>
                  <a:srgbClr val="FF0000"/>
                </a:solidFill>
                <a:latin typeface="Constantia"/>
                <a:cs typeface="Constantia"/>
              </a:rPr>
              <a:t>Les</a:t>
            </a:r>
            <a:r>
              <a:rPr sz="2600" spc="-13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nstantia"/>
                <a:cs typeface="Constantia"/>
              </a:rPr>
              <a:t>différentes</a:t>
            </a:r>
            <a:r>
              <a:rPr sz="2600" spc="-7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nstantia"/>
                <a:cs typeface="Constantia"/>
              </a:rPr>
              <a:t>missions</a:t>
            </a:r>
            <a:r>
              <a:rPr sz="2600" spc="-10" dirty="0">
                <a:latin typeface="Constantia"/>
                <a:cs typeface="Constantia"/>
              </a:rPr>
              <a:t>:</a:t>
            </a:r>
            <a:endParaRPr sz="2600" dirty="0">
              <a:latin typeface="Constantia"/>
              <a:cs typeface="Constantia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Constantia"/>
                <a:cs typeface="Constantia"/>
              </a:rPr>
              <a:t>plusieurs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missions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peuvent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être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assurées,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examen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de </a:t>
            </a:r>
            <a:r>
              <a:rPr sz="2600" spc="-10" dirty="0">
                <a:latin typeface="Constantia"/>
                <a:cs typeface="Constantia"/>
              </a:rPr>
              <a:t>cadavre,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examen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victimes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coups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blessures,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de </a:t>
            </a:r>
            <a:r>
              <a:rPr sz="2600" spc="-10" dirty="0">
                <a:latin typeface="Constantia"/>
                <a:cs typeface="Constantia"/>
              </a:rPr>
              <a:t>violences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sexuelles,</a:t>
            </a:r>
            <a:r>
              <a:rPr sz="2600" spc="-4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faire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un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prélèvement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sang, </a:t>
            </a:r>
            <a:r>
              <a:rPr sz="2600" spc="-20" dirty="0">
                <a:latin typeface="Constantia"/>
                <a:cs typeface="Constantia"/>
              </a:rPr>
              <a:t>assurer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une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garde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aux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urgences……</a:t>
            </a:r>
            <a:endParaRPr sz="2600" dirty="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solidFill>
                  <a:srgbClr val="FF0000"/>
                </a:solidFill>
                <a:latin typeface="Constantia"/>
                <a:cs typeface="Constantia"/>
              </a:rPr>
              <a:t>Législation</a:t>
            </a:r>
            <a:r>
              <a:rPr sz="2600" spc="-9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nstantia"/>
                <a:cs typeface="Constantia"/>
              </a:rPr>
              <a:t>Algérienne:</a:t>
            </a:r>
            <a:endParaRPr sz="2600" dirty="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loi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sanitaire: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article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178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418</a:t>
            </a:r>
            <a:endParaRPr sz="2600" dirty="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code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pénal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Algérien: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article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187</a:t>
            </a:r>
            <a:r>
              <a:rPr sz="2600" spc="-2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bis</a:t>
            </a:r>
            <a:endParaRPr sz="26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5498" y="408178"/>
            <a:ext cx="40386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</a:t>
            </a:r>
            <a:r>
              <a:rPr spc="-90" dirty="0"/>
              <a:t> </a:t>
            </a:r>
            <a:r>
              <a:rPr dirty="0"/>
              <a:t>secret</a:t>
            </a:r>
            <a:r>
              <a:rPr spc="-105" dirty="0"/>
              <a:t> </a:t>
            </a:r>
            <a:r>
              <a:rPr spc="-10" dirty="0"/>
              <a:t>médical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219200"/>
            <a:ext cx="8702040" cy="5157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5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</a:tabLst>
            </a:pPr>
            <a:r>
              <a:rPr sz="2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 marR="58419" indent="-274320">
              <a:lnSpc>
                <a:spcPct val="150000"/>
              </a:lnSpc>
              <a:spcBef>
                <a:spcPts val="434"/>
              </a:spcBef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Obligation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destinée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sauvegarder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anté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Individus,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confier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Médecin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sans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leur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aladie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soit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dévoilée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tiers.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l’obligation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discrétion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>
              <a:lnSpc>
                <a:spcPct val="150000"/>
              </a:lnSpc>
            </a:pP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ersonne</a:t>
            </a: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utrui.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s’agit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créer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d’assurer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confiance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édecin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atient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confie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E851061-8AEC-1A4A-5A1A-3ECCF18C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3F7BE173-28CC-DE7E-CBF1-7C1F78DE9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297939"/>
            <a:ext cx="8001000" cy="4481740"/>
          </a:xfrm>
        </p:spPr>
        <p:txBody>
          <a:bodyPr/>
          <a:lstStyle/>
          <a:p>
            <a:pPr marL="286385" indent="-273685">
              <a:lnSpc>
                <a:spcPts val="2630"/>
              </a:lnSpc>
              <a:buClr>
                <a:srgbClr val="0AD0D9"/>
              </a:buClr>
              <a:buSzPct val="93181"/>
              <a:buFont typeface="Segoe UI Symbol"/>
              <a:buChar char="⚫"/>
              <a:tabLst>
                <a:tab pos="286385" algn="l"/>
              </a:tabLst>
            </a:pPr>
            <a:r>
              <a:rPr lang="fr-FR" sz="28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Fondements</a:t>
            </a:r>
            <a:r>
              <a:rPr lang="fr-FR" sz="2800" spc="-1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</a:t>
            </a:r>
            <a:r>
              <a:rPr lang="fr-FR" sz="2800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secret</a:t>
            </a:r>
            <a:r>
              <a:rPr lang="fr-FR" sz="2800" spc="-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médical: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975" indent="-168275">
              <a:lnSpc>
                <a:spcPct val="100000"/>
              </a:lnSpc>
              <a:buChar char="-"/>
              <a:tabLst>
                <a:tab pos="180975" algn="l"/>
              </a:tabLst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fr-FR"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constitution</a:t>
            </a:r>
            <a:r>
              <a:rPr lang="fr-FR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</a:t>
            </a:r>
            <a:r>
              <a:rPr lang="fr-FR"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garantit</a:t>
            </a:r>
            <a:r>
              <a:rPr lang="fr-FR"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l’inviolabilité</a:t>
            </a:r>
            <a:r>
              <a:rPr lang="fr-FR"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</a:t>
            </a:r>
            <a:r>
              <a:rPr lang="fr-FR"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corps</a:t>
            </a:r>
            <a:r>
              <a:rPr lang="fr-FR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humain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340" marR="720725" indent="-168275">
              <a:lnSpc>
                <a:spcPts val="2110"/>
              </a:lnSpc>
              <a:spcBef>
                <a:spcPts val="515"/>
              </a:spcBef>
              <a:buChar char="-"/>
              <a:tabLst>
                <a:tab pos="286385" algn="l"/>
                <a:tab pos="1600835" algn="l"/>
              </a:tabLst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fr-FR"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serment</a:t>
            </a:r>
            <a:r>
              <a:rPr lang="fr-FR"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d’Hippocrate</a:t>
            </a:r>
            <a:r>
              <a:rPr lang="fr-FR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fr-FR"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Admis</a:t>
            </a:r>
            <a:r>
              <a:rPr lang="fr-FR" sz="2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fr-FR" sz="2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l’intérieur</a:t>
            </a:r>
            <a:r>
              <a:rPr lang="fr-FR" sz="2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	</a:t>
            </a:r>
            <a:r>
              <a:rPr lang="fr-FR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maisons,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fr-FR" sz="28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yeux</a:t>
            </a:r>
            <a:r>
              <a:rPr lang="fr-FR" sz="28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</a:t>
            </a:r>
            <a:r>
              <a:rPr lang="fr-FR" sz="28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verront</a:t>
            </a:r>
            <a:r>
              <a:rPr lang="fr-FR" sz="28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</a:t>
            </a:r>
            <a:r>
              <a:rPr lang="fr-FR" sz="28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fr-FR" sz="28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</a:t>
            </a:r>
            <a:r>
              <a:rPr lang="fr-FR" sz="28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s’y</a:t>
            </a:r>
            <a:r>
              <a:rPr lang="fr-FR" sz="28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passe,</a:t>
            </a:r>
            <a:r>
              <a:rPr lang="fr-FR" sz="2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 	</a:t>
            </a:r>
            <a:r>
              <a:rPr lang="fr-FR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langue</a:t>
            </a:r>
            <a:r>
              <a:rPr lang="fr-FR" sz="28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taira</a:t>
            </a:r>
            <a:r>
              <a:rPr lang="fr-FR" sz="28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</a:t>
            </a:r>
            <a:r>
              <a:rPr lang="fr-FR" sz="28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</a:t>
            </a:r>
            <a:r>
              <a:rPr lang="fr-FR" sz="28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</a:t>
            </a:r>
            <a:r>
              <a:rPr lang="fr-FR" sz="28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fr-FR" sz="28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seront</a:t>
            </a:r>
            <a:r>
              <a:rPr lang="fr-FR" sz="28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confiés….</a:t>
            </a:r>
            <a:r>
              <a:rPr lang="fr-FR"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340" marR="5080" indent="-168275">
              <a:lnSpc>
                <a:spcPct val="80000"/>
              </a:lnSpc>
              <a:spcBef>
                <a:spcPts val="550"/>
              </a:spcBef>
              <a:buChar char="-"/>
              <a:tabLst>
                <a:tab pos="286385" algn="l"/>
              </a:tabLst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fr-FR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loi</a:t>
            </a:r>
            <a:r>
              <a:rPr lang="fr-FR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sanitaire</a:t>
            </a:r>
            <a:r>
              <a:rPr lang="fr-FR"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r>
              <a:rPr lang="fr-FR"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</a:t>
            </a:r>
            <a:r>
              <a:rPr lang="fr-FR"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</a:t>
            </a:r>
            <a:r>
              <a:rPr lang="fr-FR"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fr-FR"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dignité</a:t>
            </a:r>
            <a:r>
              <a:rPr lang="fr-FR"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</a:t>
            </a:r>
            <a:r>
              <a:rPr lang="fr-FR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malade</a:t>
            </a:r>
            <a:r>
              <a:rPr lang="fr-FR"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	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fr-FR"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fr-FR"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personnalité</a:t>
            </a:r>
            <a:r>
              <a:rPr lang="fr-FR"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fr-FR"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</a:t>
            </a:r>
            <a:r>
              <a:rPr lang="fr-FR"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privée,</a:t>
            </a:r>
            <a:r>
              <a:rPr lang="fr-FR"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</a:t>
            </a:r>
            <a:r>
              <a:rPr lang="fr-FR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fr-FR"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garantis</a:t>
            </a:r>
            <a:r>
              <a:rPr lang="fr-FR"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</a:t>
            </a:r>
            <a:r>
              <a:rPr lang="fr-FR"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	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</a:t>
            </a:r>
            <a:r>
              <a:rPr lang="fr-FR"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PROFESSIONNEL</a:t>
            </a:r>
            <a:r>
              <a:rPr lang="fr-FR"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auquel</a:t>
            </a:r>
            <a:r>
              <a:rPr lang="fr-FR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lang="fr-FR"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</a:t>
            </a:r>
            <a:r>
              <a:rPr lang="fr-FR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l’ensemble</a:t>
            </a:r>
            <a:r>
              <a:rPr lang="fr-FR"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fr-FR"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Médecins, 	Chirurgiens-dentistes</a:t>
            </a:r>
            <a:r>
              <a:rPr lang="fr-FR"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fr-FR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</a:t>
            </a:r>
            <a:r>
              <a:rPr lang="fr-FR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loi</a:t>
            </a:r>
            <a:r>
              <a:rPr lang="fr-FR"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santé</a:t>
            </a:r>
            <a:r>
              <a:rPr lang="fr-FR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fr-FR"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consacre</a:t>
            </a:r>
            <a:r>
              <a:rPr lang="fr-FR"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fr-FR"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	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</a:t>
            </a:r>
            <a:r>
              <a:rPr lang="fr-FR"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fr-FR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169.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55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16850"/>
            <a:ext cx="8001634" cy="58883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325"/>
              </a:spcBef>
              <a:buClr>
                <a:srgbClr val="0AD0D9"/>
              </a:buClr>
              <a:buSzPct val="94736"/>
              <a:buFont typeface="Segoe UI Symbol"/>
              <a:buChar char="⚫"/>
              <a:tabLst>
                <a:tab pos="286385" algn="l"/>
              </a:tabLst>
            </a:pPr>
            <a:r>
              <a:rPr sz="1900" dirty="0">
                <a:latin typeface="Constantia"/>
                <a:cs typeface="Constantia"/>
              </a:rPr>
              <a:t>Le</a:t>
            </a:r>
            <a:r>
              <a:rPr sz="1900" spc="-120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code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de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déontologie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médicale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:</a:t>
            </a:r>
            <a:r>
              <a:rPr sz="1900" spc="-7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dans</a:t>
            </a:r>
            <a:r>
              <a:rPr sz="1900" spc="-9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ses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articles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36</a:t>
            </a:r>
            <a:r>
              <a:rPr sz="1900" spc="-7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à</a:t>
            </a:r>
            <a:r>
              <a:rPr sz="1900" spc="-75" dirty="0">
                <a:latin typeface="Constantia"/>
                <a:cs typeface="Constantia"/>
              </a:rPr>
              <a:t> </a:t>
            </a:r>
            <a:r>
              <a:rPr sz="1900" spc="-25" dirty="0">
                <a:latin typeface="Constantia"/>
                <a:cs typeface="Constantia"/>
              </a:rPr>
              <a:t>41</a:t>
            </a:r>
            <a:endParaRPr sz="1900">
              <a:latin typeface="Constantia"/>
              <a:cs typeface="Constantia"/>
            </a:endParaRPr>
          </a:p>
          <a:p>
            <a:pPr marL="286385" marR="5080" indent="-274320">
              <a:lnSpc>
                <a:spcPct val="90000"/>
              </a:lnSpc>
              <a:spcBef>
                <a:spcPts val="455"/>
              </a:spcBef>
              <a:buClr>
                <a:srgbClr val="0AD0D9"/>
              </a:buClr>
              <a:buSzPct val="94736"/>
              <a:buFont typeface="Segoe UI Symbol"/>
              <a:buChar char="⚫"/>
              <a:tabLst>
                <a:tab pos="286385" algn="l"/>
              </a:tabLst>
            </a:pPr>
            <a:r>
              <a:rPr sz="1900" dirty="0">
                <a:latin typeface="Constantia"/>
                <a:cs typeface="Constantia"/>
              </a:rPr>
              <a:t>Le</a:t>
            </a:r>
            <a:r>
              <a:rPr sz="1900" spc="-12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code</a:t>
            </a:r>
            <a:r>
              <a:rPr sz="1900" spc="-10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pénal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Algérien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:</a:t>
            </a:r>
            <a:r>
              <a:rPr sz="1900" spc="-7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qui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sanctionne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tous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«</a:t>
            </a:r>
            <a:r>
              <a:rPr sz="1900" spc="-2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Médecins,</a:t>
            </a:r>
            <a:r>
              <a:rPr sz="1900" spc="-3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Chirurgiens, Pharmaciens,</a:t>
            </a:r>
            <a:r>
              <a:rPr sz="1900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Sages-</a:t>
            </a:r>
            <a:r>
              <a:rPr sz="1900" spc="-10" dirty="0">
                <a:latin typeface="Constantia"/>
                <a:cs typeface="Constantia"/>
              </a:rPr>
              <a:t>femmes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ou</a:t>
            </a:r>
            <a:r>
              <a:rPr sz="1900" spc="-30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toutes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autres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personnes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dépositaires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spc="-25" dirty="0">
                <a:latin typeface="Constantia"/>
                <a:cs typeface="Constantia"/>
              </a:rPr>
              <a:t>par </a:t>
            </a:r>
            <a:r>
              <a:rPr sz="1900" spc="-10" dirty="0">
                <a:latin typeface="Constantia"/>
                <a:cs typeface="Constantia"/>
              </a:rPr>
              <a:t>état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ou</a:t>
            </a:r>
            <a:r>
              <a:rPr sz="1900" spc="-4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profession</a:t>
            </a:r>
            <a:r>
              <a:rPr sz="1900" spc="-8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ou</a:t>
            </a:r>
            <a:r>
              <a:rPr sz="1900" spc="-4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par</a:t>
            </a:r>
            <a:r>
              <a:rPr sz="1900" spc="-7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fonctions</a:t>
            </a:r>
            <a:r>
              <a:rPr sz="1900" spc="-75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permanentes</a:t>
            </a:r>
            <a:r>
              <a:rPr sz="1900" spc="-8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ou</a:t>
            </a:r>
            <a:r>
              <a:rPr sz="1900" spc="-35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temporaires,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spc="-25" dirty="0">
                <a:latin typeface="Constantia"/>
                <a:cs typeface="Constantia"/>
              </a:rPr>
              <a:t>des </a:t>
            </a:r>
            <a:r>
              <a:rPr sz="1900" spc="-10" dirty="0">
                <a:latin typeface="Constantia"/>
                <a:cs typeface="Constantia"/>
              </a:rPr>
              <a:t>secrets</a:t>
            </a:r>
            <a:r>
              <a:rPr sz="1900" spc="-105" dirty="0">
                <a:latin typeface="Constantia"/>
                <a:cs typeface="Constantia"/>
              </a:rPr>
              <a:t> </a:t>
            </a:r>
            <a:r>
              <a:rPr sz="1900" spc="-30" dirty="0">
                <a:latin typeface="Constantia"/>
                <a:cs typeface="Constantia"/>
              </a:rPr>
              <a:t>qu’on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leur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confie,</a:t>
            </a:r>
            <a:r>
              <a:rPr sz="1900" spc="-7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qui</a:t>
            </a:r>
            <a:r>
              <a:rPr sz="1900" spc="-2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hors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cas</a:t>
            </a:r>
            <a:r>
              <a:rPr sz="1900" spc="-9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où</a:t>
            </a:r>
            <a:r>
              <a:rPr sz="1900" spc="-3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la</a:t>
            </a:r>
            <a:r>
              <a:rPr sz="1900" spc="-7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loi</a:t>
            </a:r>
            <a:r>
              <a:rPr sz="1900" spc="-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90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oblige</a:t>
            </a:r>
            <a:r>
              <a:rPr sz="1900" spc="-8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ou</a:t>
            </a:r>
            <a:r>
              <a:rPr sz="1900" spc="-4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9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autorise</a:t>
            </a:r>
            <a:r>
              <a:rPr sz="1900" spc="-105" dirty="0">
                <a:latin typeface="Constantia"/>
                <a:cs typeface="Constantia"/>
              </a:rPr>
              <a:t> </a:t>
            </a:r>
            <a:r>
              <a:rPr sz="1900" spc="-50" dirty="0">
                <a:latin typeface="Constantia"/>
                <a:cs typeface="Constantia"/>
              </a:rPr>
              <a:t>à </a:t>
            </a:r>
            <a:r>
              <a:rPr sz="1900" dirty="0">
                <a:latin typeface="Constantia"/>
                <a:cs typeface="Constantia"/>
              </a:rPr>
              <a:t>se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porter</a:t>
            </a:r>
            <a:r>
              <a:rPr sz="1900" spc="30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dénonciateurs,</a:t>
            </a:r>
            <a:endParaRPr sz="1900">
              <a:latin typeface="Constantia"/>
              <a:cs typeface="Constantia"/>
            </a:endParaRPr>
          </a:p>
          <a:p>
            <a:pPr marL="285750" indent="-273050">
              <a:lnSpc>
                <a:spcPct val="100000"/>
              </a:lnSpc>
              <a:spcBef>
                <a:spcPts val="254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5750" algn="l"/>
              </a:tabLst>
            </a:pP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Qui</a:t>
            </a:r>
            <a:r>
              <a:rPr sz="2400" spc="-114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est</a:t>
            </a:r>
            <a:r>
              <a:rPr sz="2400" spc="-1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tenu</a:t>
            </a:r>
            <a:r>
              <a:rPr sz="2400" spc="-1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au</a:t>
            </a:r>
            <a:r>
              <a:rPr sz="2400" spc="-114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secret:</a:t>
            </a:r>
            <a:endParaRPr sz="2400">
              <a:latin typeface="Constantia"/>
              <a:cs typeface="Constantia"/>
            </a:endParaRPr>
          </a:p>
          <a:p>
            <a:pPr marL="172720" marR="133985" indent="-160655">
              <a:lnSpc>
                <a:spcPts val="2050"/>
              </a:lnSpc>
              <a:spcBef>
                <a:spcPts val="525"/>
              </a:spcBef>
              <a:buChar char="*"/>
              <a:tabLst>
                <a:tab pos="286385" algn="l"/>
              </a:tabLst>
            </a:pPr>
            <a:r>
              <a:rPr sz="1900" dirty="0">
                <a:latin typeface="Constantia"/>
                <a:cs typeface="Constantia"/>
              </a:rPr>
              <a:t>personnel</a:t>
            </a:r>
            <a:r>
              <a:rPr sz="1900" spc="-7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médical,</a:t>
            </a:r>
            <a:r>
              <a:rPr sz="1900" spc="-65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soignant</a:t>
            </a:r>
            <a:r>
              <a:rPr sz="1900" spc="-95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ce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sont</a:t>
            </a:r>
            <a:r>
              <a:rPr sz="1900" spc="-9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médecins,</a:t>
            </a:r>
            <a:r>
              <a:rPr sz="1900" spc="-3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infirmiers,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étudiants 	(externes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et</a:t>
            </a:r>
            <a:r>
              <a:rPr sz="1900" spc="-9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internes)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en</a:t>
            </a:r>
            <a:r>
              <a:rPr sz="1900" spc="-7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médecine,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sages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femmes,</a:t>
            </a:r>
            <a:r>
              <a:rPr sz="1900" spc="-2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dentistes,</a:t>
            </a:r>
            <a:r>
              <a:rPr sz="1900" spc="-40" dirty="0">
                <a:latin typeface="Constantia"/>
                <a:cs typeface="Constantia"/>
              </a:rPr>
              <a:t> </a:t>
            </a:r>
            <a:r>
              <a:rPr sz="1900" spc="-25" dirty="0">
                <a:latin typeface="Constantia"/>
                <a:cs typeface="Constantia"/>
              </a:rPr>
              <a:t>les 	</a:t>
            </a:r>
            <a:r>
              <a:rPr sz="1900" spc="-10" dirty="0">
                <a:latin typeface="Constantia"/>
                <a:cs typeface="Constantia"/>
              </a:rPr>
              <a:t>pharmaciens,</a:t>
            </a:r>
            <a:r>
              <a:rPr sz="1900" spc="-4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ou</a:t>
            </a:r>
            <a:r>
              <a:rPr sz="1900" spc="-2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non</a:t>
            </a:r>
            <a:r>
              <a:rPr sz="1900" spc="-80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soignant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spc="-20" dirty="0">
                <a:latin typeface="Constantia"/>
                <a:cs typeface="Constantia"/>
              </a:rPr>
              <a:t>ce</a:t>
            </a:r>
            <a:r>
              <a:rPr sz="1900" spc="-8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sont</a:t>
            </a:r>
            <a:r>
              <a:rPr sz="1900" spc="-8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surtout</a:t>
            </a:r>
            <a:r>
              <a:rPr sz="1900" spc="-4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3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médecins</a:t>
            </a:r>
            <a:r>
              <a:rPr sz="1900" spc="-8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conseils, 	experts</a:t>
            </a:r>
            <a:r>
              <a:rPr sz="1900" spc="-9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et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de</a:t>
            </a:r>
            <a:r>
              <a:rPr sz="1900" spc="-10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contrôle</a:t>
            </a:r>
            <a:endParaRPr sz="1900">
              <a:latin typeface="Constantia"/>
              <a:cs typeface="Constantia"/>
            </a:endParaRPr>
          </a:p>
          <a:p>
            <a:pPr marL="173355" indent="-160655">
              <a:lnSpc>
                <a:spcPct val="100000"/>
              </a:lnSpc>
              <a:spcBef>
                <a:spcPts val="204"/>
              </a:spcBef>
              <a:buChar char="*"/>
              <a:tabLst>
                <a:tab pos="173355" algn="l"/>
              </a:tabLst>
            </a:pPr>
            <a:r>
              <a:rPr sz="1900" dirty="0">
                <a:latin typeface="Constantia"/>
                <a:cs typeface="Constantia"/>
              </a:rPr>
              <a:t>personnel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non</a:t>
            </a:r>
            <a:r>
              <a:rPr sz="1900" spc="-8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médical</a:t>
            </a:r>
            <a:r>
              <a:rPr sz="1900" spc="-4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:</a:t>
            </a:r>
            <a:r>
              <a:rPr sz="1900" spc="-5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9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secrétaires,</a:t>
            </a:r>
            <a:r>
              <a:rPr sz="1900" spc="-5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agents,</a:t>
            </a:r>
            <a:r>
              <a:rPr sz="1900" spc="-3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114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ambulanciers….</a:t>
            </a:r>
            <a:endParaRPr sz="19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90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Les</a:t>
            </a:r>
            <a:r>
              <a:rPr sz="2400" spc="-9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onstantia"/>
                <a:cs typeface="Constantia"/>
              </a:rPr>
              <a:t>dérogations</a:t>
            </a:r>
            <a:r>
              <a:rPr sz="2400" spc="-8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au</a:t>
            </a:r>
            <a:r>
              <a:rPr sz="2400" spc="-8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secret:</a:t>
            </a:r>
            <a:endParaRPr sz="2400">
              <a:latin typeface="Constantia"/>
              <a:cs typeface="Constantia"/>
            </a:endParaRPr>
          </a:p>
          <a:p>
            <a:pPr marL="286385" marR="217170" indent="-274320">
              <a:lnSpc>
                <a:spcPts val="2050"/>
              </a:lnSpc>
              <a:spcBef>
                <a:spcPts val="520"/>
              </a:spcBef>
            </a:pPr>
            <a:r>
              <a:rPr sz="1900" spc="-10" dirty="0">
                <a:latin typeface="Constantia"/>
                <a:cs typeface="Constantia"/>
              </a:rPr>
              <a:t>Ce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sont</a:t>
            </a:r>
            <a:r>
              <a:rPr sz="1900" spc="-8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:</a:t>
            </a:r>
            <a:r>
              <a:rPr sz="1900" spc="-3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naissances,</a:t>
            </a:r>
            <a:r>
              <a:rPr sz="1900" spc="-3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décès,</a:t>
            </a:r>
            <a:r>
              <a:rPr sz="1900" spc="-3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6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maladies</a:t>
            </a:r>
            <a:r>
              <a:rPr sz="1900" spc="-10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à</a:t>
            </a:r>
            <a:r>
              <a:rPr sz="1900" spc="-12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déclaration</a:t>
            </a:r>
            <a:r>
              <a:rPr sz="1900" spc="-10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obligatoire,</a:t>
            </a:r>
            <a:r>
              <a:rPr sz="1900" spc="-20" dirty="0">
                <a:latin typeface="Constantia"/>
                <a:cs typeface="Constantia"/>
              </a:rPr>
              <a:t> </a:t>
            </a:r>
            <a:r>
              <a:rPr sz="1900" spc="-25" dirty="0">
                <a:latin typeface="Constantia"/>
                <a:cs typeface="Constantia"/>
              </a:rPr>
              <a:t>les </a:t>
            </a:r>
            <a:r>
              <a:rPr sz="1900" spc="-10" dirty="0">
                <a:latin typeface="Constantia"/>
                <a:cs typeface="Constantia"/>
              </a:rPr>
              <a:t>accidents</a:t>
            </a:r>
            <a:r>
              <a:rPr sz="1900" spc="-1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de</a:t>
            </a:r>
            <a:r>
              <a:rPr sz="1900" spc="-9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travail,</a:t>
            </a:r>
            <a:r>
              <a:rPr sz="1900" spc="-15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5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maladies</a:t>
            </a:r>
            <a:r>
              <a:rPr sz="1900" spc="-90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professionnelles,</a:t>
            </a:r>
            <a:r>
              <a:rPr sz="1900" spc="10" dirty="0">
                <a:latin typeface="Constantia"/>
                <a:cs typeface="Constantia"/>
              </a:rPr>
              <a:t> </a:t>
            </a:r>
            <a:r>
              <a:rPr sz="1900" dirty="0">
                <a:latin typeface="Constantia"/>
                <a:cs typeface="Constantia"/>
              </a:rPr>
              <a:t>les</a:t>
            </a:r>
            <a:r>
              <a:rPr sz="1900" spc="-95" dirty="0">
                <a:latin typeface="Constantia"/>
                <a:cs typeface="Constantia"/>
              </a:rPr>
              <a:t> </a:t>
            </a:r>
            <a:r>
              <a:rPr sz="1900" spc="-10" dirty="0">
                <a:latin typeface="Constantia"/>
                <a:cs typeface="Constantia"/>
              </a:rPr>
              <a:t>certificats d’internement………</a:t>
            </a:r>
            <a:endParaRPr sz="1900">
              <a:latin typeface="Constantia"/>
              <a:cs typeface="Constantia"/>
            </a:endParaRPr>
          </a:p>
          <a:p>
            <a:pPr marL="12700" marR="946150" indent="273685">
              <a:lnSpc>
                <a:spcPts val="3170"/>
              </a:lnSpc>
              <a:spcBef>
                <a:spcPts val="4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La</a:t>
            </a:r>
            <a:r>
              <a:rPr sz="2400" spc="-13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sanction</a:t>
            </a:r>
            <a:r>
              <a:rPr sz="2400" spc="-10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en</a:t>
            </a:r>
            <a:r>
              <a:rPr sz="2400" spc="-10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cas</a:t>
            </a:r>
            <a:r>
              <a:rPr sz="2400" spc="-12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de</a:t>
            </a:r>
            <a:r>
              <a:rPr sz="2400" spc="-1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divulgation</a:t>
            </a:r>
            <a:r>
              <a:rPr sz="2400" spc="-13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  <a:latin typeface="Constantia"/>
                <a:cs typeface="Constantia"/>
              </a:rPr>
              <a:t>du</a:t>
            </a:r>
            <a:r>
              <a:rPr sz="2400" spc="-10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secret</a:t>
            </a:r>
            <a:r>
              <a:rPr sz="2400" spc="-7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médical: </a:t>
            </a:r>
            <a:r>
              <a:rPr sz="2400" dirty="0">
                <a:latin typeface="Constantia"/>
                <a:cs typeface="Constantia"/>
              </a:rPr>
              <a:t>Article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301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CPA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9280" marR="5080" indent="-311721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Les</a:t>
            </a:r>
            <a:r>
              <a:rPr sz="3600" spc="-50" dirty="0"/>
              <a:t> </a:t>
            </a:r>
            <a:r>
              <a:rPr sz="3600" dirty="0"/>
              <a:t>principes</a:t>
            </a:r>
            <a:r>
              <a:rPr sz="3600" spc="-75" dirty="0"/>
              <a:t> </a:t>
            </a:r>
            <a:r>
              <a:rPr sz="3600" dirty="0"/>
              <a:t>généraux</a:t>
            </a:r>
            <a:r>
              <a:rPr sz="3600" spc="-50" dirty="0"/>
              <a:t> </a:t>
            </a:r>
            <a:r>
              <a:rPr sz="3600" dirty="0"/>
              <a:t>de</a:t>
            </a:r>
            <a:r>
              <a:rPr sz="3600" spc="-45" dirty="0"/>
              <a:t> </a:t>
            </a:r>
            <a:r>
              <a:rPr sz="3600" dirty="0"/>
              <a:t>la</a:t>
            </a:r>
            <a:r>
              <a:rPr sz="3600" spc="-35" dirty="0"/>
              <a:t> </a:t>
            </a:r>
            <a:r>
              <a:rPr sz="3600" spc="-10" dirty="0"/>
              <a:t>responsabilité médicale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28600" y="998168"/>
            <a:ext cx="8356523" cy="4884606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459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Rappel:</a:t>
            </a:r>
            <a:endParaRPr sz="2400" dirty="0">
              <a:latin typeface="Constantia"/>
              <a:cs typeface="Constantia"/>
            </a:endParaRPr>
          </a:p>
          <a:p>
            <a:pPr marL="286385" marR="81280" indent="-274320">
              <a:lnSpc>
                <a:spcPct val="90000"/>
              </a:lnSpc>
              <a:spcBef>
                <a:spcPts val="520"/>
              </a:spcBef>
            </a:pP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responsabilité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est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une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obligation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morale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ou</a:t>
            </a:r>
            <a:r>
              <a:rPr sz="2400" spc="-1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juridique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répondre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de </a:t>
            </a:r>
            <a:r>
              <a:rPr sz="2400" dirty="0">
                <a:latin typeface="Constantia"/>
                <a:cs typeface="Constantia"/>
              </a:rPr>
              <a:t>ses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actes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et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d'en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assumer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conséquences.</a:t>
            </a:r>
            <a:r>
              <a:rPr sz="2400" spc="-40" dirty="0">
                <a:latin typeface="Constantia"/>
                <a:cs typeface="Constantia"/>
              </a:rPr>
              <a:t> </a:t>
            </a:r>
            <a:endParaRPr lang="fr-FR" sz="2400" spc="-40" dirty="0">
              <a:latin typeface="Constantia"/>
              <a:cs typeface="Constantia"/>
            </a:endParaRPr>
          </a:p>
          <a:p>
            <a:pPr marL="286385" marR="81280" indent="-274320">
              <a:lnSpc>
                <a:spcPct val="90000"/>
              </a:lnSpc>
              <a:spcBef>
                <a:spcPts val="520"/>
              </a:spcBef>
            </a:pPr>
            <a:r>
              <a:rPr sz="2400" spc="-25" dirty="0" err="1">
                <a:latin typeface="Constantia"/>
                <a:cs typeface="Constantia"/>
              </a:rPr>
              <a:t>C’est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une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notion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très </a:t>
            </a:r>
            <a:r>
              <a:rPr sz="2400" dirty="0">
                <a:latin typeface="Constantia"/>
                <a:cs typeface="Constantia"/>
              </a:rPr>
              <a:t>ancienne,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certains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appliquaient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loi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du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talion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dont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maxime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était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50" dirty="0">
                <a:latin typeface="Constantia"/>
                <a:cs typeface="Constantia"/>
              </a:rPr>
              <a:t>« </a:t>
            </a:r>
            <a:r>
              <a:rPr sz="2400" dirty="0">
                <a:latin typeface="Constantia"/>
                <a:cs typeface="Constantia"/>
              </a:rPr>
              <a:t>œil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pour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œil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».</a:t>
            </a:r>
            <a:r>
              <a:rPr sz="2400" spc="5" dirty="0">
                <a:latin typeface="Constantia"/>
                <a:cs typeface="Constantia"/>
              </a:rPr>
              <a:t> </a:t>
            </a:r>
            <a:r>
              <a:rPr sz="2400" spc="-30" dirty="0">
                <a:latin typeface="Constantia"/>
                <a:cs typeface="Constantia"/>
              </a:rPr>
              <a:t>C’est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à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dire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que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si</a:t>
            </a:r>
            <a:r>
              <a:rPr sz="2400" spc="-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une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personne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était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responsable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la </a:t>
            </a:r>
            <a:r>
              <a:rPr sz="2400" spc="-20" dirty="0">
                <a:latin typeface="Constantia"/>
                <a:cs typeface="Constantia"/>
              </a:rPr>
              <a:t>perte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d’un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œil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chez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une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autre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personne,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elle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était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sanctionnée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en </a:t>
            </a:r>
            <a:r>
              <a:rPr sz="2400" spc="-10" dirty="0">
                <a:latin typeface="Constantia"/>
                <a:cs typeface="Constantia"/>
              </a:rPr>
              <a:t>perdant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son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propre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œil.</a:t>
            </a:r>
            <a:endParaRPr sz="2400" dirty="0">
              <a:latin typeface="Constantia"/>
              <a:cs typeface="Constantia"/>
            </a:endParaRPr>
          </a:p>
          <a:p>
            <a:pPr marL="286385" marR="5080" indent="-274320">
              <a:lnSpc>
                <a:spcPct val="90000"/>
              </a:lnSpc>
              <a:spcBef>
                <a:spcPts val="480"/>
              </a:spcBef>
            </a:pP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responsabilité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trouve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son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origine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dans</a:t>
            </a:r>
            <a:r>
              <a:rPr sz="2400" spc="-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faute.</a:t>
            </a:r>
            <a:endParaRPr sz="2400" dirty="0">
              <a:latin typeface="Constantia"/>
              <a:cs typeface="Constantia"/>
            </a:endParaRPr>
          </a:p>
          <a:p>
            <a:pPr marL="286385" marR="142875" indent="-274320">
              <a:lnSpc>
                <a:spcPct val="150000"/>
              </a:lnSpc>
            </a:pPr>
            <a:r>
              <a:rPr sz="2400" dirty="0">
                <a:latin typeface="Constantia"/>
                <a:cs typeface="Constantia"/>
              </a:rPr>
              <a:t>Il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existe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deux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modes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10" dirty="0" err="1">
                <a:latin typeface="Constantia"/>
                <a:cs typeface="Constantia"/>
              </a:rPr>
              <a:t>responsabilité</a:t>
            </a:r>
            <a:r>
              <a:rPr sz="2400" spc="-85" dirty="0">
                <a:latin typeface="Constantia"/>
                <a:cs typeface="Constantia"/>
              </a:rPr>
              <a:t> </a:t>
            </a:r>
            <a:endParaRPr lang="fr-FR" sz="2400" spc="-85" dirty="0">
              <a:latin typeface="Constantia"/>
              <a:cs typeface="Constantia"/>
            </a:endParaRPr>
          </a:p>
          <a:p>
            <a:pPr marL="354965" marR="1428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la </a:t>
            </a:r>
            <a:r>
              <a:rPr sz="2400" spc="-10" dirty="0" err="1">
                <a:latin typeface="Constantia"/>
                <a:cs typeface="Constantia"/>
              </a:rPr>
              <a:t>responsabilité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 err="1">
                <a:latin typeface="Constantia"/>
                <a:cs typeface="Constantia"/>
              </a:rPr>
              <a:t>pénale</a:t>
            </a:r>
            <a:r>
              <a:rPr lang="fr-FR" sz="2400" spc="-10" dirty="0">
                <a:latin typeface="Constantia"/>
                <a:cs typeface="Constantia"/>
              </a:rPr>
              <a:t> ( sanction)</a:t>
            </a:r>
            <a:endParaRPr lang="fr-FR" sz="2400" spc="-85" dirty="0">
              <a:latin typeface="Constantia"/>
              <a:cs typeface="Constantia"/>
            </a:endParaRPr>
          </a:p>
          <a:p>
            <a:pPr marL="354965" marR="1428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 err="1">
                <a:latin typeface="Constantia"/>
                <a:cs typeface="Constantia"/>
              </a:rPr>
              <a:t>respo</a:t>
            </a:r>
            <a:r>
              <a:rPr lang="fr-FR" sz="2400" spc="-10" dirty="0" err="1">
                <a:latin typeface="Constantia"/>
                <a:cs typeface="Constantia"/>
              </a:rPr>
              <a:t>nsab</a:t>
            </a:r>
            <a:r>
              <a:rPr sz="2400" spc="-10" dirty="0" err="1">
                <a:latin typeface="Constantia"/>
                <a:cs typeface="Constantia"/>
              </a:rPr>
              <a:t>ilité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civile</a:t>
            </a:r>
            <a:r>
              <a:rPr lang="fr-FR" sz="2400" spc="-10" dirty="0">
                <a:latin typeface="Constantia"/>
                <a:cs typeface="Constantia"/>
              </a:rPr>
              <a:t> </a:t>
            </a:r>
            <a:r>
              <a:rPr lang="fr-FR" sz="2400" spc="-114" dirty="0">
                <a:latin typeface="Constantia"/>
                <a:cs typeface="Constantia"/>
              </a:rPr>
              <a:t>(  </a:t>
            </a:r>
            <a:r>
              <a:rPr lang="fr-FR" sz="2400" spc="-10" dirty="0">
                <a:latin typeface="Constantia"/>
                <a:cs typeface="Constantia"/>
              </a:rPr>
              <a:t>indemnisation</a:t>
            </a:r>
            <a:r>
              <a:rPr lang="fr-FR" sz="2400" spc="-11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ou</a:t>
            </a:r>
            <a:r>
              <a:rPr lang="fr-FR" sz="2400" spc="-6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de</a:t>
            </a:r>
            <a:r>
              <a:rPr lang="fr-FR" sz="2400" spc="-6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réparation)</a:t>
            </a:r>
            <a:endParaRPr sz="24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4244"/>
            <a:ext cx="8068309" cy="508952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7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solidFill>
                  <a:srgbClr val="FF0000"/>
                </a:solidFill>
                <a:latin typeface="Constantia"/>
                <a:cs typeface="Constantia"/>
              </a:rPr>
              <a:t>La</a:t>
            </a:r>
            <a:r>
              <a:rPr sz="2600" spc="-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spc="-20" dirty="0">
                <a:solidFill>
                  <a:srgbClr val="FF0000"/>
                </a:solidFill>
                <a:latin typeface="Constantia"/>
                <a:cs typeface="Constantia"/>
              </a:rPr>
              <a:t>responsabilité</a:t>
            </a:r>
            <a:r>
              <a:rPr sz="2600" spc="-7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nstantia"/>
                <a:cs typeface="Constantia"/>
              </a:rPr>
              <a:t>civile</a:t>
            </a:r>
            <a:endParaRPr sz="2600">
              <a:latin typeface="Constantia"/>
              <a:cs typeface="Constantia"/>
            </a:endParaRPr>
          </a:p>
          <a:p>
            <a:pPr marL="286385" marR="5080" indent="-274320">
              <a:lnSpc>
                <a:spcPct val="100000"/>
              </a:lnSpc>
              <a:spcBef>
                <a:spcPts val="515"/>
              </a:spcBef>
            </a:pPr>
            <a:r>
              <a:rPr sz="2000" dirty="0">
                <a:latin typeface="Constantia"/>
                <a:cs typeface="Constantia"/>
              </a:rPr>
              <a:t>il</a:t>
            </a:r>
            <a:r>
              <a:rPr sz="2000" spc="-35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s’agit</a:t>
            </a:r>
            <a:r>
              <a:rPr sz="2000" spc="-125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d’une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responsabilité</a:t>
            </a:r>
            <a:r>
              <a:rPr sz="2000" spc="-105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source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d’indemnisation,</a:t>
            </a:r>
            <a:r>
              <a:rPr sz="2000" spc="-1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basée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sur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trois critères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pour</a:t>
            </a:r>
            <a:r>
              <a:rPr sz="2000" spc="-130" dirty="0">
                <a:latin typeface="Constantia"/>
                <a:cs typeface="Constantia"/>
              </a:rPr>
              <a:t> </a:t>
            </a:r>
            <a:r>
              <a:rPr sz="2000" spc="-35" dirty="0">
                <a:latin typeface="Constantia"/>
                <a:cs typeface="Constantia"/>
              </a:rPr>
              <a:t>qu’elle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soit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mise</a:t>
            </a:r>
            <a:r>
              <a:rPr sz="2000" spc="-10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en</a:t>
            </a:r>
            <a:r>
              <a:rPr sz="2000" spc="-3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jeu,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et</a:t>
            </a:r>
            <a:r>
              <a:rPr sz="2000" spc="-105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ces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critères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sont</a:t>
            </a:r>
            <a:r>
              <a:rPr sz="2000" spc="-114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à</a:t>
            </a:r>
            <a:r>
              <a:rPr sz="2000" spc="-4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la</a:t>
            </a:r>
            <a:r>
              <a:rPr sz="2000" spc="-105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charge</a:t>
            </a:r>
            <a:r>
              <a:rPr sz="2000" spc="-114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de</a:t>
            </a:r>
            <a:r>
              <a:rPr sz="2000" spc="-35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la </a:t>
            </a:r>
            <a:r>
              <a:rPr sz="2000" dirty="0">
                <a:latin typeface="Constantia"/>
                <a:cs typeface="Constantia"/>
              </a:rPr>
              <a:t>victime</a:t>
            </a:r>
            <a:r>
              <a:rPr sz="2000" spc="-6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;</a:t>
            </a:r>
            <a:r>
              <a:rPr sz="2000" spc="-50" dirty="0">
                <a:latin typeface="Constantia"/>
                <a:cs typeface="Constantia"/>
              </a:rPr>
              <a:t> </a:t>
            </a:r>
            <a:r>
              <a:rPr sz="2000" spc="-30" dirty="0">
                <a:latin typeface="Constantia"/>
                <a:cs typeface="Constantia"/>
              </a:rPr>
              <a:t>c’est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à</a:t>
            </a:r>
            <a:r>
              <a:rPr sz="2000" spc="-10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elle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de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prouver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30" dirty="0">
                <a:latin typeface="Constantia"/>
                <a:cs typeface="Constantia"/>
              </a:rPr>
              <a:t>l’existence</a:t>
            </a:r>
            <a:r>
              <a:rPr sz="2000" spc="-114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des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trois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critères,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qui</a:t>
            </a:r>
            <a:r>
              <a:rPr sz="2000" spc="-40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sont</a:t>
            </a:r>
            <a:endParaRPr sz="2000">
              <a:latin typeface="Constantia"/>
              <a:cs typeface="Constantia"/>
            </a:endParaRPr>
          </a:p>
          <a:p>
            <a:pPr marL="167640" indent="-154940">
              <a:lnSpc>
                <a:spcPct val="100000"/>
              </a:lnSpc>
              <a:spcBef>
                <a:spcPts val="480"/>
              </a:spcBef>
              <a:buChar char="-"/>
              <a:tabLst>
                <a:tab pos="167640" algn="l"/>
              </a:tabLst>
            </a:pPr>
            <a:r>
              <a:rPr sz="2000" dirty="0">
                <a:latin typeface="Constantia"/>
                <a:cs typeface="Constantia"/>
              </a:rPr>
              <a:t>Une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30" dirty="0">
                <a:latin typeface="Constantia"/>
                <a:cs typeface="Constantia"/>
              </a:rPr>
              <a:t>Faute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commise</a:t>
            </a:r>
            <a:r>
              <a:rPr sz="2000" spc="-10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par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le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Médecin</a:t>
            </a:r>
            <a:endParaRPr sz="2000">
              <a:latin typeface="Constantia"/>
              <a:cs typeface="Constantia"/>
            </a:endParaRPr>
          </a:p>
          <a:p>
            <a:pPr marL="167640" indent="-154940">
              <a:lnSpc>
                <a:spcPct val="100000"/>
              </a:lnSpc>
              <a:spcBef>
                <a:spcPts val="480"/>
              </a:spcBef>
              <a:buChar char="-"/>
              <a:tabLst>
                <a:tab pos="167640" algn="l"/>
              </a:tabLst>
            </a:pPr>
            <a:r>
              <a:rPr sz="2000" dirty="0">
                <a:latin typeface="Constantia"/>
                <a:cs typeface="Constantia"/>
              </a:rPr>
              <a:t>Un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Dommage</a:t>
            </a:r>
            <a:r>
              <a:rPr sz="2000" spc="-114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subi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par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le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Malade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50" dirty="0">
                <a:latin typeface="Constantia"/>
                <a:cs typeface="Constantia"/>
              </a:rPr>
              <a:t>;</a:t>
            </a:r>
            <a:endParaRPr sz="2000">
              <a:latin typeface="Constantia"/>
              <a:cs typeface="Constantia"/>
            </a:endParaRPr>
          </a:p>
          <a:p>
            <a:pPr marL="167640" indent="-154940">
              <a:lnSpc>
                <a:spcPct val="100000"/>
              </a:lnSpc>
              <a:spcBef>
                <a:spcPts val="484"/>
              </a:spcBef>
              <a:buChar char="-"/>
              <a:tabLst>
                <a:tab pos="167640" algn="l"/>
              </a:tabLst>
            </a:pPr>
            <a:r>
              <a:rPr sz="2000" dirty="0">
                <a:latin typeface="Constantia"/>
                <a:cs typeface="Constantia"/>
              </a:rPr>
              <a:t>Un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Lieu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de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Causalité</a:t>
            </a:r>
            <a:r>
              <a:rPr sz="2000" spc="-12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entre</a:t>
            </a:r>
            <a:r>
              <a:rPr sz="2000" spc="-8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la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35" dirty="0">
                <a:latin typeface="Constantia"/>
                <a:cs typeface="Constantia"/>
              </a:rPr>
              <a:t>Faute</a:t>
            </a:r>
            <a:r>
              <a:rPr sz="2000" spc="-12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et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le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Dommage</a:t>
            </a:r>
            <a:endParaRPr sz="2000">
              <a:latin typeface="Constantia"/>
              <a:cs typeface="Constantia"/>
            </a:endParaRPr>
          </a:p>
          <a:p>
            <a:pPr marL="286385" marR="1170940" indent="-27432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nstantia"/>
                <a:cs typeface="Constantia"/>
              </a:rPr>
              <a:t>Il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existe</a:t>
            </a:r>
            <a:r>
              <a:rPr sz="2000" spc="-12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deux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types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de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responsabilité</a:t>
            </a:r>
            <a:r>
              <a:rPr sz="2000" spc="-13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civile,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responsabilité</a:t>
            </a:r>
            <a:r>
              <a:rPr sz="2000" spc="-13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civile contractuelle</a:t>
            </a:r>
            <a:r>
              <a:rPr sz="2000" spc="-12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et</a:t>
            </a:r>
            <a:r>
              <a:rPr sz="2000" spc="-100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délictuelle</a:t>
            </a:r>
            <a:endParaRPr sz="2000">
              <a:latin typeface="Constantia"/>
              <a:cs typeface="Constantia"/>
            </a:endParaRPr>
          </a:p>
          <a:p>
            <a:pPr marL="727075" lvl="1" indent="-32131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AutoNum type="arabicPeriod"/>
              <a:tabLst>
                <a:tab pos="727075" algn="l"/>
              </a:tabLst>
            </a:pP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responsabilité</a:t>
            </a:r>
            <a:r>
              <a:rPr sz="2400" spc="-1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civile</a:t>
            </a:r>
            <a:r>
              <a:rPr sz="2400" spc="-1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nstantia"/>
                <a:cs typeface="Constantia"/>
              </a:rPr>
              <a:t>contractuelle</a:t>
            </a:r>
            <a:endParaRPr sz="2400">
              <a:latin typeface="Constantia"/>
              <a:cs typeface="Constantia"/>
            </a:endParaRPr>
          </a:p>
          <a:p>
            <a:pPr marL="286385" marR="27940" indent="-274320">
              <a:lnSpc>
                <a:spcPct val="99300"/>
              </a:lnSpc>
              <a:spcBef>
                <a:spcPts val="52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000" dirty="0">
                <a:latin typeface="Constantia"/>
                <a:cs typeface="Constantia"/>
              </a:rPr>
              <a:t>Elle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prend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sa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source</a:t>
            </a:r>
            <a:r>
              <a:rPr sz="2000" spc="-12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dans</a:t>
            </a:r>
            <a:r>
              <a:rPr sz="2000" spc="-4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le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contrat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médical</a:t>
            </a:r>
            <a:r>
              <a:rPr sz="2000" spc="-5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qui</a:t>
            </a:r>
            <a:r>
              <a:rPr sz="2000" spc="-7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est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un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spc="-25" dirty="0">
                <a:latin typeface="Constantia"/>
                <a:cs typeface="Constantia"/>
              </a:rPr>
              <a:t>contrat</a:t>
            </a:r>
            <a:r>
              <a:rPr sz="2000" spc="-135" dirty="0"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civil </a:t>
            </a:r>
            <a:r>
              <a:rPr sz="2000" dirty="0">
                <a:latin typeface="Constantia"/>
                <a:cs typeface="Constantia"/>
              </a:rPr>
              <a:t>défini</a:t>
            </a:r>
            <a:r>
              <a:rPr sz="2000" spc="-9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par</a:t>
            </a:r>
            <a:r>
              <a:rPr sz="2000" spc="-9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le</a:t>
            </a:r>
            <a:r>
              <a:rPr sz="2000" spc="-114" dirty="0">
                <a:latin typeface="Constantia"/>
                <a:cs typeface="Constantia"/>
              </a:rPr>
              <a:t> </a:t>
            </a:r>
            <a:r>
              <a:rPr sz="2000" spc="-20" dirty="0">
                <a:latin typeface="Constantia"/>
                <a:cs typeface="Constantia"/>
              </a:rPr>
              <a:t>code</a:t>
            </a:r>
            <a:r>
              <a:rPr sz="2000" spc="-11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civil</a:t>
            </a:r>
            <a:r>
              <a:rPr sz="2000" spc="-8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comme</a:t>
            </a:r>
            <a:r>
              <a:rPr sz="2000" spc="-80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une</a:t>
            </a:r>
            <a:r>
              <a:rPr sz="2000" i="1" spc="-25" dirty="0">
                <a:latin typeface="Constantia"/>
                <a:cs typeface="Constantia"/>
              </a:rPr>
              <a:t> </a:t>
            </a:r>
            <a:r>
              <a:rPr sz="2000" i="1" spc="-10" dirty="0">
                <a:latin typeface="Constantia"/>
                <a:cs typeface="Constantia"/>
              </a:rPr>
              <a:t>convention </a:t>
            </a:r>
            <a:r>
              <a:rPr sz="2000" i="1" dirty="0">
                <a:latin typeface="Constantia"/>
                <a:cs typeface="Constantia"/>
              </a:rPr>
              <a:t>par</a:t>
            </a:r>
            <a:r>
              <a:rPr sz="2000" i="1" spc="-2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lequel</a:t>
            </a:r>
            <a:r>
              <a:rPr sz="2000" i="1" spc="-2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une</a:t>
            </a:r>
            <a:r>
              <a:rPr sz="2000" i="1" spc="-20" dirty="0">
                <a:latin typeface="Constantia"/>
                <a:cs typeface="Constantia"/>
              </a:rPr>
              <a:t> </a:t>
            </a:r>
            <a:r>
              <a:rPr sz="2000" i="1" spc="-25" dirty="0">
                <a:latin typeface="Constantia"/>
                <a:cs typeface="Constantia"/>
              </a:rPr>
              <a:t>ou </a:t>
            </a:r>
            <a:r>
              <a:rPr sz="2000" i="1" dirty="0">
                <a:latin typeface="Constantia"/>
                <a:cs typeface="Constantia"/>
              </a:rPr>
              <a:t>plusieurs</a:t>
            </a:r>
            <a:r>
              <a:rPr sz="2000" i="1" spc="-60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personnes</a:t>
            </a:r>
            <a:r>
              <a:rPr sz="2000" i="1" spc="-4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s'obligent</a:t>
            </a:r>
            <a:r>
              <a:rPr sz="2000" i="1" spc="-70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envers</a:t>
            </a:r>
            <a:r>
              <a:rPr sz="2000" i="1" spc="-5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une</a:t>
            </a:r>
            <a:r>
              <a:rPr sz="2000" i="1" spc="-5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ou</a:t>
            </a:r>
            <a:r>
              <a:rPr sz="2000" i="1" spc="-5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plusieurs</a:t>
            </a:r>
            <a:r>
              <a:rPr sz="2000" i="1" spc="-5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autres</a:t>
            </a:r>
            <a:r>
              <a:rPr sz="2000" i="1" spc="-5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a</a:t>
            </a:r>
            <a:r>
              <a:rPr sz="2000" i="1" spc="-6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donner</a:t>
            </a:r>
            <a:r>
              <a:rPr sz="2000" i="1" spc="-55" dirty="0">
                <a:latin typeface="Constantia"/>
                <a:cs typeface="Constantia"/>
              </a:rPr>
              <a:t> </a:t>
            </a:r>
            <a:r>
              <a:rPr sz="2000" i="1" spc="-50" dirty="0">
                <a:latin typeface="Constantia"/>
                <a:cs typeface="Constantia"/>
              </a:rPr>
              <a:t>à </a:t>
            </a:r>
            <a:r>
              <a:rPr sz="2000" i="1" dirty="0">
                <a:latin typeface="Constantia"/>
                <a:cs typeface="Constantia"/>
              </a:rPr>
              <a:t>faire</a:t>
            </a:r>
            <a:r>
              <a:rPr sz="2000" i="1" spc="-50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ou</a:t>
            </a:r>
            <a:r>
              <a:rPr sz="2000" i="1" spc="-4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à</a:t>
            </a:r>
            <a:r>
              <a:rPr sz="2000" i="1" spc="-4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ne</a:t>
            </a:r>
            <a:r>
              <a:rPr sz="2000" i="1" spc="-4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pas</a:t>
            </a:r>
            <a:r>
              <a:rPr sz="2000" i="1" spc="-40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faire</a:t>
            </a:r>
            <a:r>
              <a:rPr sz="2000" i="1" spc="-4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quelque</a:t>
            </a:r>
            <a:r>
              <a:rPr sz="2000" i="1" spc="-40" dirty="0">
                <a:latin typeface="Constantia"/>
                <a:cs typeface="Constantia"/>
              </a:rPr>
              <a:t> </a:t>
            </a:r>
            <a:r>
              <a:rPr sz="2000" i="1" spc="-10" dirty="0">
                <a:latin typeface="Constantia"/>
                <a:cs typeface="Constantia"/>
              </a:rPr>
              <a:t>chose</a:t>
            </a:r>
            <a:r>
              <a:rPr sz="2800" i="1" spc="-10" dirty="0">
                <a:latin typeface="Constantia"/>
                <a:cs typeface="Constantia"/>
              </a:rPr>
              <a:t>"</a:t>
            </a:r>
            <a:endParaRPr sz="28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27152"/>
            <a:ext cx="8067675" cy="456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6515" indent="-273050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  <a:tab pos="1560830" algn="l"/>
              </a:tabLst>
            </a:pPr>
            <a:r>
              <a:rPr sz="2400" spc="-10" dirty="0">
                <a:latin typeface="Constantia"/>
                <a:cs typeface="Constantia"/>
              </a:rPr>
              <a:t>Appliqué</a:t>
            </a:r>
            <a:r>
              <a:rPr sz="2400" spc="-1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au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domaine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médical,</a:t>
            </a:r>
            <a:r>
              <a:rPr sz="2400" spc="-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contrat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est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l'accord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par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le 	</a:t>
            </a:r>
            <a:r>
              <a:rPr sz="2400" dirty="0">
                <a:latin typeface="Constantia"/>
                <a:cs typeface="Constantia"/>
              </a:rPr>
              <a:t>quel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malade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exprime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150" dirty="0">
                <a:latin typeface="Constantia"/>
                <a:cs typeface="Constantia"/>
              </a:rPr>
              <a:t> </a:t>
            </a:r>
            <a:r>
              <a:rPr sz="2400" spc="-30" dirty="0">
                <a:latin typeface="Constantia"/>
                <a:cs typeface="Constantia"/>
              </a:rPr>
              <a:t>volonté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d'accepter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soins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que 	nécessite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son</a:t>
            </a:r>
            <a:r>
              <a:rPr sz="2400" spc="-13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état</a:t>
            </a:r>
            <a:r>
              <a:rPr sz="2400" spc="-1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1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santé,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assortie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150" dirty="0">
                <a:latin typeface="Constantia"/>
                <a:cs typeface="Constantia"/>
              </a:rPr>
              <a:t> </a:t>
            </a:r>
            <a:r>
              <a:rPr sz="2400" spc="-30" dirty="0">
                <a:latin typeface="Constantia"/>
                <a:cs typeface="Constantia"/>
              </a:rPr>
              <a:t>volonté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35" dirty="0">
                <a:latin typeface="Constantia"/>
                <a:cs typeface="Constantia"/>
              </a:rPr>
              <a:t>du 	</a:t>
            </a:r>
            <a:r>
              <a:rPr sz="2400" spc="-10" dirty="0">
                <a:latin typeface="Constantia"/>
                <a:cs typeface="Constantia"/>
              </a:rPr>
              <a:t>médecin</a:t>
            </a:r>
            <a:r>
              <a:rPr sz="2400" dirty="0">
                <a:latin typeface="Constantia"/>
                <a:cs typeface="Constantia"/>
              </a:rPr>
              <a:t>	de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lui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donner,</a:t>
            </a:r>
            <a:r>
              <a:rPr sz="2400" spc="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patient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prêtant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à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l'examen, 	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médecin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en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réciprocité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s'engageant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à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remplir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sa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mission.</a:t>
            </a:r>
            <a:endParaRPr sz="24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105"/>
              </a:spcBef>
              <a:buClr>
                <a:srgbClr val="0AD0D9"/>
              </a:buClr>
              <a:buFont typeface="Segoe UI Symbol"/>
              <a:buChar char="⚫"/>
            </a:pPr>
            <a:endParaRPr sz="2400">
              <a:latin typeface="Constantia"/>
              <a:cs typeface="Constantia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6385" algn="l"/>
                <a:tab pos="1894839" algn="l"/>
                <a:tab pos="3049905" algn="l"/>
              </a:tabLst>
            </a:pP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responsabilité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contractuelle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découle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1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l'inexécution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des </a:t>
            </a:r>
            <a:r>
              <a:rPr sz="2400" spc="-10" dirty="0">
                <a:latin typeface="Constantia"/>
                <a:cs typeface="Constantia"/>
              </a:rPr>
              <a:t>obligations</a:t>
            </a:r>
            <a:r>
              <a:rPr sz="2400" dirty="0">
                <a:latin typeface="Constantia"/>
                <a:cs typeface="Constantia"/>
              </a:rPr>
              <a:t>	</a:t>
            </a:r>
            <a:r>
              <a:rPr sz="2400" spc="-10" dirty="0">
                <a:latin typeface="Constantia"/>
                <a:cs typeface="Constantia"/>
              </a:rPr>
              <a:t>stipulés</a:t>
            </a:r>
            <a:r>
              <a:rPr sz="2400" dirty="0">
                <a:latin typeface="Constantia"/>
                <a:cs typeface="Constantia"/>
              </a:rPr>
              <a:t>	c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que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l'auteur</a:t>
            </a:r>
            <a:r>
              <a:rPr sz="2400" spc="-1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étant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lié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à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14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victime </a:t>
            </a:r>
            <a:r>
              <a:rPr sz="2400" dirty="0">
                <a:latin typeface="Constantia"/>
                <a:cs typeface="Constantia"/>
              </a:rPr>
              <a:t>par</a:t>
            </a:r>
            <a:r>
              <a:rPr sz="2400" spc="-1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un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contrat,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c'est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parce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que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premier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80" dirty="0">
                <a:latin typeface="Constantia"/>
                <a:cs typeface="Constantia"/>
              </a:rPr>
              <a:t>n’a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pas</a:t>
            </a:r>
            <a:r>
              <a:rPr sz="2400" spc="-13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exécuté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ses </a:t>
            </a:r>
            <a:r>
              <a:rPr sz="2400" spc="-10" dirty="0">
                <a:latin typeface="Constantia"/>
                <a:cs typeface="Constantia"/>
              </a:rPr>
              <a:t>obligations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ou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mal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exécutées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que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second</a:t>
            </a:r>
            <a:r>
              <a:rPr sz="2400" spc="-20" dirty="0">
                <a:latin typeface="Constantia"/>
                <a:cs typeface="Constantia"/>
              </a:rPr>
              <a:t> peut invoquer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responsabilité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contractuelle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et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lui</a:t>
            </a:r>
            <a:r>
              <a:rPr sz="2400" spc="-20" dirty="0">
                <a:latin typeface="Constantia"/>
                <a:cs typeface="Constantia"/>
              </a:rPr>
              <a:t> réclame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des </a:t>
            </a:r>
            <a:r>
              <a:rPr sz="2400" spc="-10" dirty="0">
                <a:latin typeface="Constantia"/>
                <a:cs typeface="Constantia"/>
              </a:rPr>
              <a:t>dommages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et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intérêts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29132" y="384174"/>
            <a:ext cx="58877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2.</a:t>
            </a:r>
            <a:r>
              <a:rPr sz="2200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2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Responsabilité</a:t>
            </a:r>
            <a:r>
              <a:rPr sz="2200" u="sng" spc="-1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 </a:t>
            </a:r>
            <a:r>
              <a:rPr sz="22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délictuelle</a:t>
            </a:r>
            <a:r>
              <a:rPr sz="2200" u="sng" spc="-1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ou</a:t>
            </a:r>
            <a:r>
              <a:rPr sz="2200" u="sng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quasi</a:t>
            </a:r>
            <a:r>
              <a:rPr sz="2200" u="sng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 </a:t>
            </a:r>
            <a:r>
              <a:rPr sz="2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délictuelle</a:t>
            </a:r>
            <a:r>
              <a:rPr sz="2200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 </a:t>
            </a:r>
            <a:r>
              <a:rPr sz="2200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nstantia"/>
                <a:cs typeface="Constantia"/>
              </a:rPr>
              <a:t>:</a:t>
            </a:r>
            <a:endParaRPr sz="22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720979"/>
            <a:ext cx="8058784" cy="6048772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86385" marR="482600" indent="-274320">
              <a:lnSpc>
                <a:spcPct val="80000"/>
              </a:lnSpc>
              <a:spcBef>
                <a:spcPts val="550"/>
              </a:spcBef>
              <a:buClr>
                <a:srgbClr val="0AD0D9"/>
              </a:buClr>
              <a:buSzPct val="94736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Constantia"/>
                <a:cs typeface="Constantia"/>
              </a:rPr>
              <a:t>Dans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20" dirty="0" err="1">
                <a:latin typeface="Constantia"/>
                <a:cs typeface="Constantia"/>
              </a:rPr>
              <a:t>responsabilité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 err="1">
                <a:latin typeface="Constantia"/>
                <a:cs typeface="Constantia"/>
              </a:rPr>
              <a:t>délictuelle</a:t>
            </a:r>
            <a:r>
              <a:rPr sz="2400" spc="-1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faute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est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spc="-20" dirty="0" err="1">
                <a:latin typeface="Constantia"/>
                <a:cs typeface="Constantia"/>
              </a:rPr>
              <a:t>intentionnelle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 err="1">
                <a:latin typeface="Constantia"/>
                <a:cs typeface="Constantia"/>
              </a:rPr>
              <a:t>volontaire</a:t>
            </a:r>
            <a:r>
              <a:rPr sz="2400" spc="-10" dirty="0">
                <a:latin typeface="Constantia"/>
                <a:cs typeface="Constantia"/>
              </a:rPr>
              <a:t>, </a:t>
            </a:r>
            <a:r>
              <a:rPr sz="2400" dirty="0" err="1">
                <a:latin typeface="Constantia"/>
                <a:cs typeface="Constantia"/>
              </a:rPr>
              <a:t>alors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 err="1">
                <a:latin typeface="Constantia"/>
                <a:cs typeface="Constantia"/>
              </a:rPr>
              <a:t>que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dans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20" dirty="0" err="1">
                <a:latin typeface="Constantia"/>
                <a:cs typeface="Constantia"/>
              </a:rPr>
              <a:t>responsabilité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quasi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dirty="0" err="1">
                <a:latin typeface="Constantia"/>
                <a:cs typeface="Constantia"/>
              </a:rPr>
              <a:t>délictuelle</a:t>
            </a:r>
            <a:r>
              <a:rPr sz="2400" spc="-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faute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est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non </a:t>
            </a:r>
            <a:r>
              <a:rPr sz="2400" spc="-20" dirty="0" err="1">
                <a:latin typeface="Constantia"/>
                <a:cs typeface="Constantia"/>
              </a:rPr>
              <a:t>intentionnelle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dirty="0" err="1">
                <a:latin typeface="Constantia"/>
                <a:cs typeface="Constantia"/>
              </a:rPr>
              <a:t>ou</a:t>
            </a:r>
            <a:r>
              <a:rPr sz="2400" spc="35" dirty="0">
                <a:latin typeface="Constantia"/>
                <a:cs typeface="Constantia"/>
              </a:rPr>
              <a:t> </a:t>
            </a:r>
            <a:r>
              <a:rPr sz="2400" spc="-10" dirty="0" err="1">
                <a:latin typeface="Constantia"/>
                <a:cs typeface="Constantia"/>
              </a:rPr>
              <a:t>involontair</a:t>
            </a:r>
            <a:r>
              <a:rPr lang="fr-FR" sz="2400" spc="-10" dirty="0">
                <a:latin typeface="Constantia"/>
                <a:cs typeface="Constantia"/>
              </a:rPr>
              <a:t>e.</a:t>
            </a:r>
          </a:p>
          <a:p>
            <a:pPr marL="287020" indent="-274955">
              <a:lnSpc>
                <a:spcPct val="100000"/>
              </a:lnSpc>
              <a:spcBef>
                <a:spcPts val="77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lang="fr-FR" sz="3200" dirty="0">
                <a:solidFill>
                  <a:srgbClr val="FF0000"/>
                </a:solidFill>
                <a:latin typeface="Constantia"/>
                <a:cs typeface="Constantia"/>
              </a:rPr>
              <a:t>La</a:t>
            </a:r>
            <a:r>
              <a:rPr lang="fr-FR" sz="3200" spc="-8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lang="fr-FR" sz="3200" spc="-20" dirty="0">
                <a:solidFill>
                  <a:srgbClr val="FF0000"/>
                </a:solidFill>
                <a:latin typeface="Constantia"/>
                <a:cs typeface="Constantia"/>
              </a:rPr>
              <a:t>responsabilité</a:t>
            </a:r>
            <a:r>
              <a:rPr lang="fr-FR" sz="3200" spc="-1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lang="fr-FR" sz="3200" dirty="0">
                <a:solidFill>
                  <a:srgbClr val="FF0000"/>
                </a:solidFill>
                <a:latin typeface="Constantia"/>
                <a:cs typeface="Constantia"/>
              </a:rPr>
              <a:t>de</a:t>
            </a:r>
            <a:r>
              <a:rPr lang="fr-FR" sz="3200" spc="-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lang="fr-FR" sz="3200" dirty="0">
                <a:solidFill>
                  <a:srgbClr val="FF0000"/>
                </a:solidFill>
                <a:latin typeface="Constantia"/>
                <a:cs typeface="Constantia"/>
              </a:rPr>
              <a:t>l’</a:t>
            </a:r>
            <a:r>
              <a:rPr lang="fr-FR" sz="3200" spc="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lang="fr-FR" sz="3200" dirty="0">
                <a:solidFill>
                  <a:srgbClr val="FF0000"/>
                </a:solidFill>
                <a:latin typeface="Constantia"/>
                <a:cs typeface="Constantia"/>
              </a:rPr>
              <a:t>hôpital</a:t>
            </a:r>
            <a:r>
              <a:rPr lang="fr-FR" sz="3200" spc="-2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lang="fr-FR" sz="3200" spc="-10" dirty="0">
                <a:solidFill>
                  <a:srgbClr val="FF0000"/>
                </a:solidFill>
                <a:latin typeface="Constantia"/>
                <a:cs typeface="Constantia"/>
              </a:rPr>
              <a:t>public:</a:t>
            </a:r>
            <a:endParaRPr lang="fr-FR" sz="3200" dirty="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spcBef>
                <a:spcPts val="51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400" spc="-20" dirty="0">
                <a:latin typeface="Constantia"/>
                <a:cs typeface="Constantia"/>
              </a:rPr>
              <a:t>encore</a:t>
            </a:r>
            <a:r>
              <a:rPr lang="fr-FR" sz="2400" spc="-10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appelée</a:t>
            </a:r>
            <a:r>
              <a:rPr lang="fr-FR" sz="2400" spc="-3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responsabilité</a:t>
            </a:r>
            <a:r>
              <a:rPr lang="fr-FR" sz="2400" spc="-114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civile</a:t>
            </a:r>
            <a:r>
              <a:rPr lang="fr-FR" sz="2400" spc="-85" dirty="0">
                <a:latin typeface="Constantia"/>
                <a:cs typeface="Constantia"/>
              </a:rPr>
              <a:t> </a:t>
            </a:r>
            <a:r>
              <a:rPr lang="fr-FR" sz="2400" spc="-20" dirty="0">
                <a:latin typeface="Constantia"/>
                <a:cs typeface="Constantia"/>
              </a:rPr>
              <a:t>administrative,</a:t>
            </a:r>
            <a:r>
              <a:rPr lang="fr-FR" sz="2400" spc="-8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elle</a:t>
            </a:r>
            <a:r>
              <a:rPr lang="fr-FR" sz="2400" spc="-8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concerne</a:t>
            </a:r>
            <a:r>
              <a:rPr lang="fr-FR" sz="2400" spc="-55" dirty="0">
                <a:latin typeface="Constantia"/>
                <a:cs typeface="Constantia"/>
              </a:rPr>
              <a:t> </a:t>
            </a:r>
            <a:r>
              <a:rPr lang="fr-FR" sz="2400" spc="-25" dirty="0">
                <a:latin typeface="Constantia"/>
                <a:cs typeface="Constantia"/>
              </a:rPr>
              <a:t>le </a:t>
            </a:r>
            <a:r>
              <a:rPr lang="fr-FR" sz="2400" dirty="0">
                <a:latin typeface="Constantia"/>
                <a:cs typeface="Constantia"/>
              </a:rPr>
              <a:t>personnel</a:t>
            </a:r>
            <a:r>
              <a:rPr lang="fr-FR" sz="2400" spc="-40" dirty="0">
                <a:latin typeface="Constantia"/>
                <a:cs typeface="Constantia"/>
              </a:rPr>
              <a:t> </a:t>
            </a:r>
            <a:r>
              <a:rPr lang="fr-FR" sz="2400" spc="-20" dirty="0">
                <a:latin typeface="Constantia"/>
                <a:cs typeface="Constantia"/>
              </a:rPr>
              <a:t>travaillant</a:t>
            </a:r>
            <a:r>
              <a:rPr lang="fr-FR" sz="2400" spc="-13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dans</a:t>
            </a:r>
            <a:r>
              <a:rPr lang="fr-FR" sz="2400" spc="-5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l’hôpital</a:t>
            </a:r>
            <a:r>
              <a:rPr lang="fr-FR" sz="2400" spc="-6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publique,</a:t>
            </a:r>
            <a:r>
              <a:rPr lang="fr-FR" sz="2400" spc="-5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et</a:t>
            </a:r>
            <a:r>
              <a:rPr lang="fr-FR" sz="2400" spc="-114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dont</a:t>
            </a:r>
            <a:r>
              <a:rPr lang="fr-FR" sz="2400" spc="-8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la</a:t>
            </a:r>
            <a:r>
              <a:rPr lang="fr-FR" sz="2400" spc="-7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réparation</a:t>
            </a:r>
            <a:r>
              <a:rPr lang="fr-FR" sz="2400" spc="-110" dirty="0">
                <a:latin typeface="Constantia"/>
                <a:cs typeface="Constantia"/>
              </a:rPr>
              <a:t> </a:t>
            </a:r>
            <a:r>
              <a:rPr lang="fr-FR" sz="2400" spc="-20" dirty="0">
                <a:latin typeface="Constantia"/>
                <a:cs typeface="Constantia"/>
              </a:rPr>
              <a:t>d’un dommage</a:t>
            </a:r>
            <a:r>
              <a:rPr lang="fr-FR" sz="2400" spc="-12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causé</a:t>
            </a:r>
            <a:r>
              <a:rPr lang="fr-FR" sz="2400" spc="-8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par</a:t>
            </a:r>
            <a:r>
              <a:rPr lang="fr-FR" sz="2400" spc="-110" dirty="0">
                <a:latin typeface="Constantia"/>
                <a:cs typeface="Constantia"/>
              </a:rPr>
              <a:t> </a:t>
            </a:r>
            <a:r>
              <a:rPr lang="fr-FR" sz="2400" spc="-20" dirty="0">
                <a:latin typeface="Constantia"/>
                <a:cs typeface="Constantia"/>
              </a:rPr>
              <a:t>ce</a:t>
            </a:r>
            <a:r>
              <a:rPr lang="fr-FR" sz="2400" spc="-8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personnel</a:t>
            </a:r>
            <a:r>
              <a:rPr lang="fr-FR" sz="2400" spc="-1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incombe</a:t>
            </a:r>
            <a:r>
              <a:rPr lang="fr-FR" sz="2400" spc="-10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à</a:t>
            </a:r>
            <a:r>
              <a:rPr lang="fr-FR" sz="2400" spc="-6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l’hôpital,</a:t>
            </a:r>
            <a:r>
              <a:rPr lang="fr-FR" sz="2400" spc="-75" dirty="0">
                <a:latin typeface="Constantia"/>
                <a:cs typeface="Constantia"/>
              </a:rPr>
              <a:t> </a:t>
            </a:r>
            <a:r>
              <a:rPr lang="fr-FR" sz="2400" spc="-30" dirty="0">
                <a:latin typeface="Constantia"/>
                <a:cs typeface="Constantia"/>
              </a:rPr>
              <a:t>c’est</a:t>
            </a:r>
            <a:r>
              <a:rPr lang="fr-FR" sz="2400" spc="-10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à</a:t>
            </a:r>
            <a:r>
              <a:rPr lang="fr-FR" sz="2400" spc="-9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d’ire</a:t>
            </a:r>
            <a:r>
              <a:rPr lang="fr-FR" sz="2400" spc="-130" dirty="0">
                <a:latin typeface="Constantia"/>
                <a:cs typeface="Constantia"/>
              </a:rPr>
              <a:t> </a:t>
            </a:r>
            <a:r>
              <a:rPr lang="fr-FR" sz="2400" spc="-50" dirty="0">
                <a:latin typeface="Constantia"/>
                <a:cs typeface="Constantia"/>
              </a:rPr>
              <a:t>à </a:t>
            </a:r>
            <a:r>
              <a:rPr lang="fr-FR" sz="2400" spc="-20" dirty="0">
                <a:latin typeface="Constantia"/>
                <a:cs typeface="Constantia"/>
              </a:rPr>
              <a:t>l’administration</a:t>
            </a:r>
            <a:r>
              <a:rPr lang="fr-FR" sz="2400" spc="-10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publique,</a:t>
            </a:r>
            <a:r>
              <a:rPr lang="fr-FR" sz="2400" spc="1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(code</a:t>
            </a:r>
            <a:r>
              <a:rPr lang="fr-FR" sz="2400" spc="-114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civil</a:t>
            </a:r>
            <a:r>
              <a:rPr lang="fr-FR" sz="2400" spc="-5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article</a:t>
            </a:r>
            <a:r>
              <a:rPr lang="fr-FR" sz="2400" spc="-5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129).</a:t>
            </a:r>
            <a:endParaRPr lang="fr-FR" sz="2400" dirty="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400" spc="-20" dirty="0">
                <a:latin typeface="Constantia"/>
                <a:cs typeface="Constantia"/>
              </a:rPr>
              <a:t>Cette</a:t>
            </a:r>
            <a:r>
              <a:rPr lang="fr-FR" sz="2400" spc="-11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responsabilité</a:t>
            </a:r>
            <a:r>
              <a:rPr lang="fr-FR" sz="2400" spc="-13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de</a:t>
            </a:r>
            <a:r>
              <a:rPr lang="fr-FR" sz="2400" spc="-7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l’hôpital</a:t>
            </a:r>
            <a:r>
              <a:rPr lang="fr-FR" sz="2400" spc="-5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publique</a:t>
            </a:r>
            <a:r>
              <a:rPr lang="fr-FR" sz="2400" spc="-10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est</a:t>
            </a:r>
            <a:r>
              <a:rPr lang="fr-FR" sz="2400" spc="-6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mise</a:t>
            </a:r>
            <a:r>
              <a:rPr lang="fr-FR" sz="2400" spc="-11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en</a:t>
            </a:r>
            <a:r>
              <a:rPr lang="fr-FR" sz="2400" spc="-3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jeu</a:t>
            </a:r>
            <a:r>
              <a:rPr lang="fr-FR" sz="2400" spc="-8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soit</a:t>
            </a:r>
            <a:r>
              <a:rPr lang="fr-FR" sz="2400" spc="-8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lors</a:t>
            </a:r>
            <a:r>
              <a:rPr lang="fr-FR" sz="2400" spc="-11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d’une faute</a:t>
            </a:r>
            <a:r>
              <a:rPr lang="fr-FR" sz="2400" spc="-114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commise</a:t>
            </a:r>
            <a:r>
              <a:rPr lang="fr-FR" sz="2400" spc="-10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par</a:t>
            </a:r>
            <a:r>
              <a:rPr lang="fr-FR" sz="2400" spc="-114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son</a:t>
            </a:r>
            <a:r>
              <a:rPr lang="fr-FR" sz="2400" spc="-8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personnel,</a:t>
            </a:r>
            <a:r>
              <a:rPr lang="fr-FR" sz="2400" spc="-5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parfois</a:t>
            </a:r>
            <a:r>
              <a:rPr lang="fr-FR" sz="2400" spc="-8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sans</a:t>
            </a:r>
            <a:r>
              <a:rPr lang="fr-FR" sz="2400" spc="-9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qu’il</a:t>
            </a:r>
            <a:r>
              <a:rPr lang="fr-FR" sz="2400" spc="-7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y</a:t>
            </a:r>
            <a:r>
              <a:rPr lang="fr-FR" sz="2400" spc="-10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de</a:t>
            </a:r>
            <a:r>
              <a:rPr lang="fr-FR" sz="2400" spc="-7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faute</a:t>
            </a:r>
            <a:r>
              <a:rPr lang="fr-FR" sz="2400" spc="-114" dirty="0">
                <a:latin typeface="Constantia"/>
                <a:cs typeface="Constantia"/>
              </a:rPr>
              <a:t> </a:t>
            </a:r>
            <a:r>
              <a:rPr lang="fr-FR" sz="2400" spc="-25" dirty="0">
                <a:latin typeface="Constantia"/>
                <a:cs typeface="Constantia"/>
              </a:rPr>
              <a:t>c’est</a:t>
            </a:r>
            <a:r>
              <a:rPr lang="fr-FR" sz="2400" spc="-60" dirty="0">
                <a:latin typeface="Constantia"/>
                <a:cs typeface="Constantia"/>
              </a:rPr>
              <a:t> </a:t>
            </a:r>
            <a:r>
              <a:rPr lang="fr-FR" sz="2400" spc="-25" dirty="0">
                <a:latin typeface="Constantia"/>
                <a:cs typeface="Constantia"/>
              </a:rPr>
              <a:t>le </a:t>
            </a:r>
            <a:r>
              <a:rPr lang="fr-FR" sz="2400" dirty="0">
                <a:latin typeface="Constantia"/>
                <a:cs typeface="Constantia"/>
              </a:rPr>
              <a:t>cas</a:t>
            </a:r>
            <a:r>
              <a:rPr lang="fr-FR" sz="2400" spc="-110" dirty="0">
                <a:latin typeface="Constantia"/>
                <a:cs typeface="Constantia"/>
              </a:rPr>
              <a:t> </a:t>
            </a:r>
            <a:r>
              <a:rPr lang="fr-FR" sz="2400" spc="-20" dirty="0">
                <a:latin typeface="Constantia"/>
                <a:cs typeface="Constantia"/>
              </a:rPr>
              <a:t>d’un</a:t>
            </a:r>
            <a:r>
              <a:rPr lang="fr-FR" sz="2400" spc="-90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défaut</a:t>
            </a:r>
            <a:r>
              <a:rPr lang="fr-FR" sz="2400" spc="-114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de</a:t>
            </a:r>
            <a:r>
              <a:rPr lang="fr-FR" sz="2400" spc="-6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matériel,</a:t>
            </a:r>
            <a:r>
              <a:rPr lang="fr-FR" sz="2400" spc="-75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d’infection</a:t>
            </a:r>
            <a:r>
              <a:rPr lang="fr-FR" sz="2400" spc="-65" dirty="0">
                <a:latin typeface="Constantia"/>
                <a:cs typeface="Constantia"/>
              </a:rPr>
              <a:t> </a:t>
            </a:r>
            <a:r>
              <a:rPr lang="fr-FR" sz="2400" spc="-10" dirty="0">
                <a:latin typeface="Constantia"/>
                <a:cs typeface="Constantia"/>
              </a:rPr>
              <a:t>nosocomiale</a:t>
            </a:r>
            <a:r>
              <a:rPr lang="fr-FR" sz="2400" spc="-120" dirty="0">
                <a:latin typeface="Constantia"/>
                <a:cs typeface="Constantia"/>
              </a:rPr>
              <a:t> </a:t>
            </a:r>
            <a:r>
              <a:rPr lang="fr-FR" sz="2400" dirty="0">
                <a:latin typeface="Constantia"/>
                <a:cs typeface="Constantia"/>
              </a:rPr>
              <a:t>ou</a:t>
            </a:r>
            <a:r>
              <a:rPr lang="fr-FR" sz="2400" spc="-95" dirty="0">
                <a:latin typeface="Constantia"/>
                <a:cs typeface="Constantia"/>
              </a:rPr>
              <a:t> </a:t>
            </a:r>
            <a:r>
              <a:rPr lang="fr-FR" sz="2400" spc="-20" dirty="0">
                <a:latin typeface="Constantia"/>
                <a:cs typeface="Constantia"/>
              </a:rPr>
              <a:t>d’un</a:t>
            </a:r>
            <a:r>
              <a:rPr lang="fr-FR" sz="2400" spc="-105" dirty="0">
                <a:latin typeface="Constantia"/>
                <a:cs typeface="Constantia"/>
              </a:rPr>
              <a:t> </a:t>
            </a:r>
            <a:r>
              <a:rPr lang="fr-FR" sz="2400" spc="-20" dirty="0">
                <a:latin typeface="Constantia"/>
                <a:cs typeface="Constantia"/>
              </a:rPr>
              <a:t>aléa </a:t>
            </a:r>
            <a:r>
              <a:rPr lang="fr-FR" sz="2400" spc="-10" dirty="0">
                <a:latin typeface="Constantia"/>
                <a:cs typeface="Constantia"/>
              </a:rPr>
              <a:t>thérapeutique( accident médical non fautif)</a:t>
            </a:r>
            <a:endParaRPr lang="fr-FR" sz="2400" dirty="0">
              <a:latin typeface="Constantia"/>
              <a:cs typeface="Constantia"/>
            </a:endParaRPr>
          </a:p>
          <a:p>
            <a:pPr marL="286385" marR="482600" indent="-274320">
              <a:lnSpc>
                <a:spcPct val="80000"/>
              </a:lnSpc>
              <a:spcBef>
                <a:spcPts val="550"/>
              </a:spcBef>
              <a:buClr>
                <a:srgbClr val="0AD0D9"/>
              </a:buClr>
              <a:buSzPct val="94736"/>
              <a:buFont typeface="Segoe UI Symbol"/>
              <a:buChar char="⚫"/>
              <a:tabLst>
                <a:tab pos="286385" algn="l"/>
              </a:tabLst>
            </a:pPr>
            <a:endParaRPr lang="fr-FR" sz="2400" spc="-1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257937"/>
            <a:ext cx="35375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F0000"/>
                </a:solidFill>
                <a:latin typeface="Constantia"/>
                <a:cs typeface="Constantia"/>
              </a:rPr>
              <a:t>La</a:t>
            </a:r>
            <a:r>
              <a:rPr sz="2600" spc="-10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nstantia"/>
                <a:cs typeface="Constantia"/>
              </a:rPr>
              <a:t>responsabilité</a:t>
            </a:r>
            <a:r>
              <a:rPr sz="2600" spc="-12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nstantia"/>
                <a:cs typeface="Constantia"/>
              </a:rPr>
              <a:t>pénale:</a:t>
            </a:r>
            <a:endParaRPr sz="26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689228"/>
            <a:ext cx="7978775" cy="562057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86385" marR="5080" indent="-274320">
              <a:lnSpc>
                <a:spcPct val="150000"/>
              </a:lnSpc>
              <a:spcBef>
                <a:spcPts val="37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comportements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que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société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définit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comme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répréhensibles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sont </a:t>
            </a:r>
            <a:r>
              <a:rPr sz="2400" dirty="0">
                <a:latin typeface="Constantia"/>
                <a:cs typeface="Constantia"/>
              </a:rPr>
              <a:t>appelés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infractions.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Ils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sont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énumérés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dans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Code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pénal.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Il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en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existe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50" dirty="0">
                <a:latin typeface="Constantia"/>
                <a:cs typeface="Constantia"/>
              </a:rPr>
              <a:t>3 </a:t>
            </a:r>
            <a:r>
              <a:rPr sz="2400" spc="-10" dirty="0">
                <a:latin typeface="Constantia"/>
                <a:cs typeface="Constantia"/>
              </a:rPr>
              <a:t>catégories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:</a:t>
            </a:r>
            <a:r>
              <a:rPr sz="2400" spc="-3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contraventions,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délits,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crimes.</a:t>
            </a:r>
            <a:endParaRPr sz="2400" dirty="0">
              <a:latin typeface="Constantia"/>
              <a:cs typeface="Constantia"/>
            </a:endParaRPr>
          </a:p>
          <a:p>
            <a:pPr marL="286385" marR="617220" indent="-274320">
              <a:lnSpc>
                <a:spcPct val="15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responsabilité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pénale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est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dite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personnelle,</a:t>
            </a:r>
            <a:r>
              <a:rPr sz="2400" spc="-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médecin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lors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de </a:t>
            </a:r>
            <a:r>
              <a:rPr sz="2400" spc="-35" dirty="0">
                <a:latin typeface="Constantia"/>
                <a:cs typeface="Constantia"/>
              </a:rPr>
              <a:t>l’exercice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ses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fonctions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plusieurs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fautes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inscrites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au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code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pénal peuvent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lui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être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reprochées,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à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savoir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50" dirty="0">
                <a:latin typeface="Constantia"/>
                <a:cs typeface="Constantia"/>
              </a:rPr>
              <a:t>:</a:t>
            </a:r>
            <a:endParaRPr sz="2400" dirty="0">
              <a:latin typeface="Constantia"/>
              <a:cs typeface="Constantia"/>
            </a:endParaRPr>
          </a:p>
          <a:p>
            <a:pPr marL="286385" indent="-273685">
              <a:lnSpc>
                <a:spcPct val="150000"/>
              </a:lnSpc>
              <a:spcBef>
                <a:spcPts val="20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coups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et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blessures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volontaires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(</a:t>
            </a:r>
            <a:r>
              <a:rPr sz="2400" b="1" spc="-10" dirty="0">
                <a:latin typeface="Constantia"/>
                <a:cs typeface="Constantia"/>
              </a:rPr>
              <a:t>article</a:t>
            </a:r>
            <a:r>
              <a:rPr sz="2400" b="1" spc="-70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264</a:t>
            </a:r>
            <a:r>
              <a:rPr sz="2400" b="1" spc="-70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du</a:t>
            </a:r>
            <a:r>
              <a:rPr sz="2400" b="1" spc="-90" dirty="0">
                <a:latin typeface="Constantia"/>
                <a:cs typeface="Constantia"/>
              </a:rPr>
              <a:t> </a:t>
            </a:r>
            <a:r>
              <a:rPr sz="2400" b="1" spc="-10" dirty="0">
                <a:latin typeface="Constantia"/>
                <a:cs typeface="Constantia"/>
              </a:rPr>
              <a:t>code</a:t>
            </a:r>
            <a:r>
              <a:rPr sz="2400" b="1" spc="-105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pénal</a:t>
            </a:r>
            <a:r>
              <a:rPr sz="2400" dirty="0">
                <a:latin typeface="Constantia"/>
                <a:cs typeface="Constantia"/>
              </a:rPr>
              <a:t>)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et</a:t>
            </a:r>
            <a:r>
              <a:rPr lang="fr-FR" sz="2400" dirty="0">
                <a:latin typeface="Constantia"/>
                <a:cs typeface="Constantia"/>
              </a:rPr>
              <a:t> </a:t>
            </a:r>
            <a:r>
              <a:rPr sz="2400" spc="-20" dirty="0" err="1">
                <a:latin typeface="Constantia"/>
                <a:cs typeface="Constantia"/>
              </a:rPr>
              <a:t>involontaires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(</a:t>
            </a:r>
            <a:r>
              <a:rPr sz="2400" b="1" dirty="0">
                <a:latin typeface="Constantia"/>
                <a:cs typeface="Constantia"/>
              </a:rPr>
              <a:t>article</a:t>
            </a:r>
            <a:r>
              <a:rPr sz="2400" b="1" spc="-50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288</a:t>
            </a:r>
            <a:r>
              <a:rPr sz="2400" b="1" spc="-45" dirty="0">
                <a:latin typeface="Constantia"/>
                <a:cs typeface="Constantia"/>
              </a:rPr>
              <a:t> </a:t>
            </a:r>
            <a:r>
              <a:rPr sz="2400" b="1" dirty="0">
                <a:latin typeface="Constantia"/>
                <a:cs typeface="Constantia"/>
              </a:rPr>
              <a:t>du</a:t>
            </a:r>
            <a:r>
              <a:rPr sz="2400" b="1" spc="-100" dirty="0">
                <a:latin typeface="Constantia"/>
                <a:cs typeface="Constantia"/>
              </a:rPr>
              <a:t> </a:t>
            </a:r>
            <a:r>
              <a:rPr sz="2400" b="1" spc="-10" dirty="0">
                <a:latin typeface="Constantia"/>
                <a:cs typeface="Constantia"/>
              </a:rPr>
              <a:t>code</a:t>
            </a:r>
            <a:r>
              <a:rPr sz="2400" b="1" spc="-100" dirty="0">
                <a:latin typeface="Constantia"/>
                <a:cs typeface="Constantia"/>
              </a:rPr>
              <a:t> </a:t>
            </a:r>
            <a:r>
              <a:rPr sz="2400" b="1" spc="-10" dirty="0" err="1">
                <a:latin typeface="Constantia"/>
                <a:cs typeface="Constantia"/>
              </a:rPr>
              <a:t>pénal</a:t>
            </a:r>
            <a:r>
              <a:rPr sz="2400" spc="-10" dirty="0">
                <a:latin typeface="Constantia"/>
                <a:cs typeface="Constantia"/>
              </a:rPr>
              <a:t>)</a:t>
            </a:r>
            <a:endParaRPr sz="24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DCF8BE6-F8FE-585F-753D-D637BEDB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7AF5FEDC-151A-CBA9-ACC0-8F5CB3183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297939"/>
            <a:ext cx="8001000" cy="4544834"/>
          </a:xfrm>
        </p:spPr>
        <p:txBody>
          <a:bodyPr/>
          <a:lstStyle/>
          <a:p>
            <a:pPr marL="286385" indent="-273685">
              <a:lnSpc>
                <a:spcPts val="2280"/>
              </a:lnSpc>
              <a:spcBef>
                <a:spcPts val="24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spc="-35" dirty="0"/>
              <a:t>L’exercice</a:t>
            </a:r>
            <a:r>
              <a:rPr lang="fr-FR" sz="2800" spc="-90" dirty="0"/>
              <a:t> </a:t>
            </a:r>
            <a:r>
              <a:rPr lang="fr-FR" sz="2800" dirty="0"/>
              <a:t>illégal</a:t>
            </a:r>
            <a:r>
              <a:rPr lang="fr-FR" sz="2800" spc="-65" dirty="0"/>
              <a:t> </a:t>
            </a:r>
            <a:r>
              <a:rPr lang="fr-FR" sz="2800" dirty="0"/>
              <a:t>de</a:t>
            </a:r>
            <a:r>
              <a:rPr lang="fr-FR" sz="2800" spc="-50" dirty="0"/>
              <a:t> </a:t>
            </a:r>
            <a:r>
              <a:rPr lang="fr-FR" sz="2800" dirty="0"/>
              <a:t>la</a:t>
            </a:r>
            <a:r>
              <a:rPr lang="fr-FR" sz="2800" spc="-65" dirty="0"/>
              <a:t> </a:t>
            </a:r>
            <a:r>
              <a:rPr lang="fr-FR" sz="2800" dirty="0"/>
              <a:t>médecine,</a:t>
            </a:r>
            <a:r>
              <a:rPr lang="fr-FR" sz="2800" spc="-50" dirty="0"/>
              <a:t> </a:t>
            </a:r>
            <a:r>
              <a:rPr lang="fr-FR" sz="2800" dirty="0"/>
              <a:t>de</a:t>
            </a:r>
            <a:r>
              <a:rPr lang="fr-FR" sz="2800" spc="-60" dirty="0"/>
              <a:t> </a:t>
            </a:r>
            <a:r>
              <a:rPr lang="fr-FR" sz="2800" dirty="0"/>
              <a:t>la</a:t>
            </a:r>
            <a:r>
              <a:rPr lang="fr-FR" sz="2800" spc="-100" dirty="0"/>
              <a:t> </a:t>
            </a:r>
            <a:r>
              <a:rPr lang="fr-FR" sz="2800" spc="-10" dirty="0"/>
              <a:t>chirurgie</a:t>
            </a:r>
            <a:r>
              <a:rPr lang="fr-FR" sz="2800" spc="-130" dirty="0"/>
              <a:t> </a:t>
            </a:r>
            <a:r>
              <a:rPr lang="fr-FR" sz="2800" spc="-10" dirty="0"/>
              <a:t>dentaire</a:t>
            </a:r>
            <a:r>
              <a:rPr lang="fr-FR" sz="2800" spc="-120" dirty="0"/>
              <a:t> </a:t>
            </a:r>
            <a:r>
              <a:rPr lang="fr-FR" sz="2800" dirty="0"/>
              <a:t>et</a:t>
            </a:r>
            <a:r>
              <a:rPr lang="fr-FR" sz="2800" spc="-114" dirty="0"/>
              <a:t> </a:t>
            </a:r>
            <a:r>
              <a:rPr lang="fr-FR" sz="2800" dirty="0"/>
              <a:t>de</a:t>
            </a:r>
            <a:r>
              <a:rPr lang="fr-FR" sz="2800" spc="-50" dirty="0"/>
              <a:t> </a:t>
            </a:r>
            <a:r>
              <a:rPr lang="fr-FR" sz="2800" spc="-25" dirty="0"/>
              <a:t>la </a:t>
            </a:r>
            <a:r>
              <a:rPr lang="fr-FR" sz="2800" dirty="0"/>
              <a:t>pharmacie</a:t>
            </a:r>
            <a:r>
              <a:rPr lang="fr-FR" sz="2800" spc="-110" dirty="0"/>
              <a:t> </a:t>
            </a:r>
            <a:r>
              <a:rPr lang="fr-FR" sz="2800" b="1" dirty="0"/>
              <a:t>(article</a:t>
            </a:r>
            <a:r>
              <a:rPr lang="fr-FR" sz="2800" b="1" spc="-70" dirty="0"/>
              <a:t> </a:t>
            </a:r>
            <a:r>
              <a:rPr lang="fr-FR" sz="2800" b="1" dirty="0"/>
              <a:t>243</a:t>
            </a:r>
            <a:r>
              <a:rPr lang="fr-FR" sz="2800" b="1" spc="-85" dirty="0"/>
              <a:t> </a:t>
            </a:r>
            <a:r>
              <a:rPr lang="fr-FR" sz="2800" b="1" dirty="0"/>
              <a:t>du</a:t>
            </a:r>
            <a:r>
              <a:rPr lang="fr-FR" sz="2800" b="1" spc="-105" dirty="0"/>
              <a:t> </a:t>
            </a:r>
            <a:r>
              <a:rPr lang="fr-FR" sz="2800" b="1" spc="-10" dirty="0"/>
              <a:t>code</a:t>
            </a:r>
            <a:r>
              <a:rPr lang="fr-FR" sz="2800" b="1" spc="-110" dirty="0"/>
              <a:t> </a:t>
            </a:r>
            <a:r>
              <a:rPr lang="fr-FR" sz="2800" b="1" spc="-10" dirty="0"/>
              <a:t>pénal</a:t>
            </a:r>
            <a:r>
              <a:rPr lang="fr-FR" sz="2800" spc="-10" dirty="0"/>
              <a:t>)</a:t>
            </a:r>
            <a:endParaRPr lang="fr-FR" sz="2800" dirty="0"/>
          </a:p>
          <a:p>
            <a:pPr marL="286385" marR="193040" indent="-274320">
              <a:lnSpc>
                <a:spcPts val="2160"/>
              </a:lnSpc>
              <a:spcBef>
                <a:spcPts val="51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spc="-25" dirty="0"/>
              <a:t>L’établissement</a:t>
            </a:r>
            <a:r>
              <a:rPr lang="fr-FR" sz="2800" spc="-135" dirty="0"/>
              <a:t> </a:t>
            </a:r>
            <a:r>
              <a:rPr lang="fr-FR" sz="2800" dirty="0"/>
              <a:t>de</a:t>
            </a:r>
            <a:r>
              <a:rPr lang="fr-FR" sz="2800" spc="-75" dirty="0"/>
              <a:t> </a:t>
            </a:r>
            <a:r>
              <a:rPr lang="fr-FR" sz="2800" dirty="0"/>
              <a:t>certificats</a:t>
            </a:r>
            <a:r>
              <a:rPr lang="fr-FR" sz="2800" spc="-55" dirty="0"/>
              <a:t> </a:t>
            </a:r>
            <a:r>
              <a:rPr lang="fr-FR" sz="2800" spc="-10" dirty="0"/>
              <a:t>médicaux</a:t>
            </a:r>
            <a:r>
              <a:rPr lang="fr-FR" sz="2800" spc="-70" dirty="0"/>
              <a:t> </a:t>
            </a:r>
            <a:r>
              <a:rPr lang="fr-FR" sz="2800" spc="-10" dirty="0"/>
              <a:t>de</a:t>
            </a:r>
            <a:r>
              <a:rPr lang="fr-FR" sz="2800" spc="-90" dirty="0"/>
              <a:t> </a:t>
            </a:r>
            <a:r>
              <a:rPr lang="fr-FR" sz="2800" spc="-10" dirty="0"/>
              <a:t>complaisance</a:t>
            </a:r>
            <a:r>
              <a:rPr lang="fr-FR" sz="2800" spc="-35" dirty="0"/>
              <a:t> </a:t>
            </a:r>
            <a:r>
              <a:rPr lang="fr-FR" sz="2800" dirty="0"/>
              <a:t>(</a:t>
            </a:r>
            <a:r>
              <a:rPr lang="fr-FR" sz="2800" b="1" dirty="0"/>
              <a:t>article</a:t>
            </a:r>
            <a:r>
              <a:rPr lang="fr-FR" sz="2800" b="1" spc="-35" dirty="0"/>
              <a:t> </a:t>
            </a:r>
            <a:r>
              <a:rPr lang="fr-FR" sz="2800" b="1" spc="-25" dirty="0"/>
              <a:t>226 </a:t>
            </a:r>
            <a:r>
              <a:rPr lang="fr-FR" sz="2800" b="1" dirty="0"/>
              <a:t>du</a:t>
            </a:r>
            <a:r>
              <a:rPr lang="fr-FR" sz="2800" b="1" spc="-45" dirty="0"/>
              <a:t> </a:t>
            </a:r>
            <a:r>
              <a:rPr lang="fr-FR" sz="2800" b="1" spc="-10" dirty="0"/>
              <a:t>Code</a:t>
            </a:r>
            <a:r>
              <a:rPr lang="fr-FR" sz="2800" b="1" spc="-85" dirty="0"/>
              <a:t> </a:t>
            </a:r>
            <a:r>
              <a:rPr lang="fr-FR" sz="2800" b="1" spc="-10" dirty="0"/>
              <a:t>pénal)</a:t>
            </a:r>
            <a:endParaRPr lang="fr-FR" sz="2800" dirty="0"/>
          </a:p>
          <a:p>
            <a:pPr marL="286385" indent="-273685">
              <a:lnSpc>
                <a:spcPct val="100000"/>
              </a:lnSpc>
              <a:spcBef>
                <a:spcPts val="20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dirty="0"/>
              <a:t>La</a:t>
            </a:r>
            <a:r>
              <a:rPr lang="fr-FR" sz="2800" spc="-95" dirty="0"/>
              <a:t> </a:t>
            </a:r>
            <a:r>
              <a:rPr lang="fr-FR" sz="2800" spc="-10" dirty="0"/>
              <a:t>violation</a:t>
            </a:r>
            <a:r>
              <a:rPr lang="fr-FR" sz="2800" spc="-114" dirty="0"/>
              <a:t> </a:t>
            </a:r>
            <a:r>
              <a:rPr lang="fr-FR" sz="2800" dirty="0"/>
              <a:t>du</a:t>
            </a:r>
            <a:r>
              <a:rPr lang="fr-FR" sz="2800" spc="-40" dirty="0"/>
              <a:t> </a:t>
            </a:r>
            <a:r>
              <a:rPr lang="fr-FR" sz="2800" spc="-10" dirty="0"/>
              <a:t>secret</a:t>
            </a:r>
            <a:r>
              <a:rPr lang="fr-FR" sz="2800" spc="-85" dirty="0"/>
              <a:t> </a:t>
            </a:r>
            <a:r>
              <a:rPr lang="fr-FR" sz="2800" spc="-10" dirty="0"/>
              <a:t>professionnel</a:t>
            </a:r>
            <a:r>
              <a:rPr lang="fr-FR" sz="2800" spc="-5" dirty="0"/>
              <a:t> </a:t>
            </a:r>
            <a:r>
              <a:rPr lang="fr-FR" sz="2800" b="1" spc="-10" dirty="0"/>
              <a:t>(article301</a:t>
            </a:r>
            <a:r>
              <a:rPr lang="fr-FR" sz="2800" b="1" spc="-35" dirty="0"/>
              <a:t> </a:t>
            </a:r>
            <a:r>
              <a:rPr lang="fr-FR" sz="2800" b="1" dirty="0"/>
              <a:t>du</a:t>
            </a:r>
            <a:r>
              <a:rPr lang="fr-FR" sz="2800" b="1" spc="-25" dirty="0"/>
              <a:t> </a:t>
            </a:r>
            <a:r>
              <a:rPr lang="fr-FR" sz="2800" b="1" spc="-10" dirty="0"/>
              <a:t>Code</a:t>
            </a:r>
            <a:r>
              <a:rPr lang="fr-FR" sz="2800" b="1" spc="-70" dirty="0"/>
              <a:t> </a:t>
            </a:r>
            <a:r>
              <a:rPr lang="fr-FR" sz="2800" b="1" spc="-10" dirty="0"/>
              <a:t>pénal)</a:t>
            </a:r>
            <a:endParaRPr lang="fr-FR" sz="2800" dirty="0"/>
          </a:p>
          <a:p>
            <a:pPr marL="286385" marR="34290" indent="-274320">
              <a:lnSpc>
                <a:spcPts val="2160"/>
              </a:lnSpc>
              <a:spcBef>
                <a:spcPts val="51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dirty="0"/>
              <a:t>Le</a:t>
            </a:r>
            <a:r>
              <a:rPr lang="fr-FR" sz="2800" spc="-95" dirty="0"/>
              <a:t> </a:t>
            </a:r>
            <a:r>
              <a:rPr lang="fr-FR" sz="2800" spc="-10" dirty="0"/>
              <a:t>refus</a:t>
            </a:r>
            <a:r>
              <a:rPr lang="fr-FR" sz="2800" spc="-105" dirty="0"/>
              <a:t> </a:t>
            </a:r>
            <a:r>
              <a:rPr lang="fr-FR" sz="2800" dirty="0"/>
              <a:t>de</a:t>
            </a:r>
            <a:r>
              <a:rPr lang="fr-FR" sz="2800" spc="-90" dirty="0"/>
              <a:t> </a:t>
            </a:r>
            <a:r>
              <a:rPr lang="fr-FR" sz="2800" spc="-20" dirty="0"/>
              <a:t>déférer</a:t>
            </a:r>
            <a:r>
              <a:rPr lang="fr-FR" sz="2800" spc="-130" dirty="0"/>
              <a:t> </a:t>
            </a:r>
            <a:r>
              <a:rPr lang="fr-FR" sz="2800" dirty="0"/>
              <a:t>à</a:t>
            </a:r>
            <a:r>
              <a:rPr lang="fr-FR" sz="2800" spc="-85" dirty="0"/>
              <a:t> </a:t>
            </a:r>
            <a:r>
              <a:rPr lang="fr-FR" sz="2800" dirty="0"/>
              <a:t>une</a:t>
            </a:r>
            <a:r>
              <a:rPr lang="fr-FR" sz="2800" spc="-90" dirty="0"/>
              <a:t> </a:t>
            </a:r>
            <a:r>
              <a:rPr lang="fr-FR" sz="2800" spc="-10" dirty="0"/>
              <a:t>réquisition</a:t>
            </a:r>
            <a:r>
              <a:rPr lang="fr-FR" sz="2800" spc="-114" dirty="0"/>
              <a:t> </a:t>
            </a:r>
            <a:r>
              <a:rPr lang="fr-FR" sz="2800" dirty="0"/>
              <a:t>de</a:t>
            </a:r>
            <a:r>
              <a:rPr lang="fr-FR" sz="2800" spc="-45" dirty="0"/>
              <a:t> </a:t>
            </a:r>
            <a:r>
              <a:rPr lang="fr-FR" sz="2800" spc="-25" dirty="0"/>
              <a:t>l’autorité</a:t>
            </a:r>
            <a:r>
              <a:rPr lang="fr-FR" sz="2800" spc="-120" dirty="0"/>
              <a:t> </a:t>
            </a:r>
            <a:r>
              <a:rPr lang="fr-FR" sz="2800" dirty="0"/>
              <a:t>publique</a:t>
            </a:r>
            <a:r>
              <a:rPr lang="fr-FR" sz="2800" spc="-35" dirty="0"/>
              <a:t> </a:t>
            </a:r>
            <a:r>
              <a:rPr lang="fr-FR" sz="2800" b="1" dirty="0"/>
              <a:t>(Article</a:t>
            </a:r>
            <a:r>
              <a:rPr lang="fr-FR" sz="2800" b="1" spc="-55" dirty="0"/>
              <a:t> </a:t>
            </a:r>
            <a:r>
              <a:rPr lang="fr-FR" sz="2800" b="1" spc="-25" dirty="0"/>
              <a:t>187 </a:t>
            </a:r>
            <a:r>
              <a:rPr lang="fr-FR" sz="2800" b="1" dirty="0"/>
              <a:t>bis</a:t>
            </a:r>
            <a:r>
              <a:rPr lang="fr-FR" sz="2800" b="1" spc="-105" dirty="0"/>
              <a:t> </a:t>
            </a:r>
            <a:r>
              <a:rPr lang="fr-FR" sz="2800" b="1" dirty="0"/>
              <a:t>du</a:t>
            </a:r>
            <a:r>
              <a:rPr lang="fr-FR" sz="2800" b="1" spc="-85" dirty="0"/>
              <a:t> </a:t>
            </a:r>
            <a:r>
              <a:rPr lang="fr-FR" sz="2800" b="1" spc="-10" dirty="0"/>
              <a:t>code</a:t>
            </a:r>
            <a:r>
              <a:rPr lang="fr-FR" sz="2800" b="1" spc="-100" dirty="0"/>
              <a:t> </a:t>
            </a:r>
            <a:r>
              <a:rPr lang="fr-FR" sz="2800" b="1" spc="-10" dirty="0"/>
              <a:t>pénal)</a:t>
            </a:r>
            <a:endParaRPr lang="fr-FR" sz="2800" dirty="0"/>
          </a:p>
          <a:p>
            <a:pPr marL="286385" marR="203835" indent="-274320">
              <a:lnSpc>
                <a:spcPts val="216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dirty="0"/>
              <a:t>La</a:t>
            </a:r>
            <a:r>
              <a:rPr lang="fr-FR" sz="2800" spc="-50" dirty="0"/>
              <a:t> </a:t>
            </a:r>
            <a:r>
              <a:rPr lang="fr-FR" sz="2800" dirty="0"/>
              <a:t>non</a:t>
            </a:r>
            <a:r>
              <a:rPr lang="fr-FR" sz="2800" spc="-100" dirty="0"/>
              <a:t> </a:t>
            </a:r>
            <a:r>
              <a:rPr lang="fr-FR" sz="2800" spc="-20" dirty="0"/>
              <a:t>assistance</a:t>
            </a:r>
            <a:r>
              <a:rPr lang="fr-FR" sz="2800" spc="-114" dirty="0"/>
              <a:t> </a:t>
            </a:r>
            <a:r>
              <a:rPr lang="fr-FR" sz="2800" dirty="0"/>
              <a:t>à</a:t>
            </a:r>
            <a:r>
              <a:rPr lang="fr-FR" sz="2800" spc="-75" dirty="0"/>
              <a:t> </a:t>
            </a:r>
            <a:r>
              <a:rPr lang="fr-FR" sz="2800" spc="-10" dirty="0"/>
              <a:t>personne</a:t>
            </a:r>
            <a:r>
              <a:rPr lang="fr-FR" sz="2800" spc="-105" dirty="0"/>
              <a:t> </a:t>
            </a:r>
            <a:r>
              <a:rPr lang="fr-FR" sz="2800" dirty="0"/>
              <a:t>en</a:t>
            </a:r>
            <a:r>
              <a:rPr lang="fr-FR" sz="2800" spc="-55" dirty="0"/>
              <a:t> </a:t>
            </a:r>
            <a:r>
              <a:rPr lang="fr-FR" sz="2800" dirty="0"/>
              <a:t>péril</a:t>
            </a:r>
            <a:r>
              <a:rPr lang="fr-FR" sz="2800" spc="5" dirty="0"/>
              <a:t> </a:t>
            </a:r>
            <a:r>
              <a:rPr lang="fr-FR" sz="2800" dirty="0"/>
              <a:t>(</a:t>
            </a:r>
            <a:r>
              <a:rPr lang="fr-FR" sz="2800" b="1" dirty="0"/>
              <a:t>article</a:t>
            </a:r>
            <a:r>
              <a:rPr lang="fr-FR" sz="2800" b="1" spc="-50" dirty="0"/>
              <a:t> </a:t>
            </a:r>
            <a:r>
              <a:rPr lang="fr-FR" sz="2800" b="1" dirty="0"/>
              <a:t>182</a:t>
            </a:r>
            <a:r>
              <a:rPr lang="fr-FR" sz="2800" b="1" spc="-40" dirty="0"/>
              <a:t> </a:t>
            </a:r>
            <a:r>
              <a:rPr lang="fr-FR" sz="2800" b="1" dirty="0"/>
              <a:t>alinéa</a:t>
            </a:r>
            <a:r>
              <a:rPr lang="fr-FR" sz="2800" b="1" spc="-45" dirty="0"/>
              <a:t> </a:t>
            </a:r>
            <a:r>
              <a:rPr lang="fr-FR" sz="2800" b="1" dirty="0"/>
              <a:t>02</a:t>
            </a:r>
            <a:r>
              <a:rPr lang="fr-FR" sz="2800" b="1" spc="-45" dirty="0"/>
              <a:t> </a:t>
            </a:r>
            <a:r>
              <a:rPr lang="fr-FR" sz="2800" b="1" dirty="0"/>
              <a:t>du</a:t>
            </a:r>
            <a:r>
              <a:rPr lang="fr-FR" sz="2800" b="1" spc="-75" dirty="0"/>
              <a:t> </a:t>
            </a:r>
            <a:r>
              <a:rPr lang="fr-FR" sz="2800" b="1" spc="-20" dirty="0"/>
              <a:t>code </a:t>
            </a:r>
            <a:r>
              <a:rPr lang="fr-FR" sz="2800" b="1" spc="-10" dirty="0"/>
              <a:t>pénal</a:t>
            </a:r>
            <a:r>
              <a:rPr lang="fr-FR" sz="2800" spc="-10" dirty="0"/>
              <a:t>)</a:t>
            </a:r>
            <a:endParaRPr lang="fr-FR" sz="2800" dirty="0"/>
          </a:p>
          <a:p>
            <a:pPr marL="286385" indent="-273685">
              <a:lnSpc>
                <a:spcPct val="100000"/>
              </a:lnSpc>
              <a:spcBef>
                <a:spcPts val="21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dirty="0"/>
              <a:t>La</a:t>
            </a:r>
            <a:r>
              <a:rPr lang="fr-FR" sz="2800" spc="-75" dirty="0"/>
              <a:t> </a:t>
            </a:r>
            <a:r>
              <a:rPr lang="fr-FR" sz="2800" dirty="0"/>
              <a:t>non</a:t>
            </a:r>
            <a:r>
              <a:rPr lang="fr-FR" sz="2800" spc="-110" dirty="0"/>
              <a:t> </a:t>
            </a:r>
            <a:r>
              <a:rPr lang="fr-FR" sz="2800" spc="-10" dirty="0"/>
              <a:t>déclaration</a:t>
            </a:r>
            <a:r>
              <a:rPr lang="fr-FR" sz="2800" spc="-110" dirty="0"/>
              <a:t> </a:t>
            </a:r>
            <a:r>
              <a:rPr lang="fr-FR" sz="2800" dirty="0"/>
              <a:t>de</a:t>
            </a:r>
            <a:r>
              <a:rPr lang="fr-FR" sz="2800" spc="-60" dirty="0"/>
              <a:t> </a:t>
            </a:r>
            <a:r>
              <a:rPr lang="fr-FR" sz="2800" dirty="0"/>
              <a:t>naissance</a:t>
            </a:r>
            <a:r>
              <a:rPr lang="fr-FR" sz="2800" spc="-35" dirty="0"/>
              <a:t> </a:t>
            </a:r>
            <a:r>
              <a:rPr lang="fr-FR" sz="2800" b="1" spc="-10" dirty="0"/>
              <a:t>(Article</a:t>
            </a:r>
            <a:r>
              <a:rPr lang="fr-FR" sz="2800" b="1" spc="-70" dirty="0"/>
              <a:t> </a:t>
            </a:r>
            <a:r>
              <a:rPr lang="fr-FR" sz="2800" b="1" dirty="0"/>
              <a:t>442</a:t>
            </a:r>
            <a:r>
              <a:rPr lang="fr-FR" sz="2800" b="1" spc="-45" dirty="0"/>
              <a:t> </a:t>
            </a:r>
            <a:r>
              <a:rPr lang="fr-FR" sz="2800" b="1" dirty="0"/>
              <a:t>du</a:t>
            </a:r>
            <a:r>
              <a:rPr lang="fr-FR" sz="2800" b="1" spc="-100" dirty="0"/>
              <a:t> </a:t>
            </a:r>
            <a:r>
              <a:rPr lang="fr-FR" sz="2800" b="1" spc="-10" dirty="0"/>
              <a:t>code</a:t>
            </a:r>
            <a:r>
              <a:rPr lang="fr-FR" sz="2800" b="1" spc="-100" dirty="0"/>
              <a:t> </a:t>
            </a:r>
            <a:r>
              <a:rPr lang="fr-FR" sz="2800" b="1" spc="-10" dirty="0"/>
              <a:t>pénal)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12634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9416" y="417017"/>
            <a:ext cx="76949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La</a:t>
            </a:r>
            <a:r>
              <a:rPr sz="4000" spc="-70" dirty="0"/>
              <a:t> </a:t>
            </a:r>
            <a:r>
              <a:rPr sz="4000" dirty="0"/>
              <a:t>non</a:t>
            </a:r>
            <a:r>
              <a:rPr sz="4000" spc="-65" dirty="0"/>
              <a:t> </a:t>
            </a:r>
            <a:r>
              <a:rPr sz="4000" dirty="0"/>
              <a:t>assistance</a:t>
            </a:r>
            <a:r>
              <a:rPr sz="4000" spc="-80" dirty="0"/>
              <a:t> </a:t>
            </a:r>
            <a:r>
              <a:rPr sz="4000" dirty="0"/>
              <a:t>à</a:t>
            </a:r>
            <a:r>
              <a:rPr sz="4000" spc="-70" dirty="0"/>
              <a:t> </a:t>
            </a:r>
            <a:r>
              <a:rPr sz="4000" dirty="0"/>
              <a:t>personne</a:t>
            </a:r>
            <a:r>
              <a:rPr sz="4000" spc="-60" dirty="0"/>
              <a:t> </a:t>
            </a:r>
            <a:r>
              <a:rPr sz="4000" dirty="0"/>
              <a:t>en</a:t>
            </a:r>
            <a:r>
              <a:rPr sz="4000" spc="-65" dirty="0"/>
              <a:t> </a:t>
            </a:r>
            <a:r>
              <a:rPr sz="4000" spc="-10" dirty="0"/>
              <a:t>péril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141318"/>
            <a:ext cx="7878445" cy="506593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7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solidFill>
                  <a:srgbClr val="FF0000"/>
                </a:solidFill>
                <a:latin typeface="Constantia"/>
                <a:cs typeface="Constantia"/>
              </a:rPr>
              <a:t>Rappel:</a:t>
            </a:r>
            <a:endParaRPr sz="2600" dirty="0">
              <a:latin typeface="Constantia"/>
              <a:cs typeface="Constantia"/>
            </a:endParaRPr>
          </a:p>
          <a:p>
            <a:pPr marL="286385" marR="5080" indent="-274320">
              <a:lnSpc>
                <a:spcPct val="150000"/>
              </a:lnSpc>
              <a:spcBef>
                <a:spcPts val="520"/>
              </a:spcBef>
              <a:buClr>
                <a:srgbClr val="0AD0D9"/>
              </a:buClr>
              <a:buSzPct val="95000"/>
              <a:buChar char="-"/>
              <a:tabLst>
                <a:tab pos="286385" algn="l"/>
              </a:tabLst>
            </a:pP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devoir</a:t>
            </a:r>
            <a:r>
              <a:rPr sz="2400" spc="-13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d’assistance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concerne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tout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citoyen,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plus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particulièrement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le </a:t>
            </a:r>
            <a:r>
              <a:rPr sz="2400" spc="-10" dirty="0">
                <a:latin typeface="Constantia"/>
                <a:cs typeface="Constantia"/>
              </a:rPr>
              <a:t>médecin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en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raison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sa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profession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et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ses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connaissances.</a:t>
            </a:r>
            <a:r>
              <a:rPr sz="2400" spc="-25" dirty="0">
                <a:latin typeface="Constantia"/>
                <a:cs typeface="Constantia"/>
              </a:rPr>
              <a:t> C’est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un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délit réprimé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par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code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pénal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Algérien.</a:t>
            </a:r>
            <a:endParaRPr sz="2400" dirty="0">
              <a:latin typeface="Constantia"/>
              <a:cs typeface="Constantia"/>
            </a:endParaRPr>
          </a:p>
          <a:p>
            <a:pPr marL="167640" indent="-154940" algn="just">
              <a:lnSpc>
                <a:spcPct val="150000"/>
              </a:lnSpc>
              <a:spcBef>
                <a:spcPts val="480"/>
              </a:spcBef>
              <a:buChar char="-"/>
              <a:tabLst>
                <a:tab pos="167640" algn="l"/>
              </a:tabLst>
            </a:pPr>
            <a:r>
              <a:rPr sz="2400" spc="-20" dirty="0">
                <a:latin typeface="Constantia"/>
                <a:cs typeface="Constantia"/>
              </a:rPr>
              <a:t>L’article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182/2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du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code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pénal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Algérien</a:t>
            </a:r>
            <a:endParaRPr sz="2400" dirty="0">
              <a:latin typeface="Constantia"/>
              <a:cs typeface="Constantia"/>
            </a:endParaRPr>
          </a:p>
          <a:p>
            <a:pPr marL="167005" marR="283845" indent="-154940" algn="just">
              <a:lnSpc>
                <a:spcPct val="150000"/>
              </a:lnSpc>
              <a:spcBef>
                <a:spcPts val="480"/>
              </a:spcBef>
              <a:buChar char="-"/>
              <a:tabLst>
                <a:tab pos="286385" algn="l"/>
              </a:tabLst>
            </a:pP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articles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09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et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210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du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code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déontologie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:</a:t>
            </a:r>
            <a:r>
              <a:rPr sz="2400" spc="-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médecin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doit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porter 	secours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à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une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personne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en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danger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ou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s’assurer</a:t>
            </a:r>
            <a:r>
              <a:rPr sz="2400" spc="3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qu’il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reçoit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les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0" dirty="0" err="1">
                <a:latin typeface="Constantia"/>
                <a:cs typeface="Constantia"/>
              </a:rPr>
              <a:t>soins</a:t>
            </a:r>
            <a:r>
              <a:rPr sz="2400" spc="-10" dirty="0">
                <a:latin typeface="Constantia"/>
                <a:cs typeface="Constantia"/>
              </a:rPr>
              <a:t> </a:t>
            </a:r>
            <a:r>
              <a:rPr sz="2400" spc="-10" dirty="0" err="1">
                <a:latin typeface="Constantia"/>
                <a:cs typeface="Constantia"/>
              </a:rPr>
              <a:t>nécessaires</a:t>
            </a:r>
            <a:endParaRPr sz="24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940" y="656335"/>
            <a:ext cx="4878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onstantia"/>
                <a:cs typeface="Constantia"/>
              </a:rPr>
              <a:t>Les</a:t>
            </a:r>
            <a:r>
              <a:rPr sz="2400" b="1" spc="-8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onstantia"/>
                <a:cs typeface="Constantia"/>
              </a:rPr>
              <a:t>éléments</a:t>
            </a:r>
            <a:r>
              <a:rPr sz="2400" b="1" spc="-10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onstantia"/>
                <a:cs typeface="Constantia"/>
              </a:rPr>
              <a:t>constitutifs</a:t>
            </a:r>
            <a:r>
              <a:rPr sz="2400" b="1" spc="-6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onstantia"/>
                <a:cs typeface="Constantia"/>
              </a:rPr>
              <a:t>du</a:t>
            </a:r>
            <a:r>
              <a:rPr sz="2400" b="1" spc="-7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onstantia"/>
                <a:cs typeface="Constantia"/>
              </a:rPr>
              <a:t>délit: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86103"/>
            <a:ext cx="8005445" cy="3899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1/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l’état</a:t>
            </a:r>
            <a:r>
              <a:rPr sz="2400" u="sng" spc="-12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de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péril</a:t>
            </a:r>
            <a:r>
              <a:rPr sz="2400" u="none" spc="-1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:</a:t>
            </a:r>
            <a:r>
              <a:rPr sz="2400" u="none" spc="-5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un</a:t>
            </a:r>
            <a:r>
              <a:rPr sz="2400" u="none" spc="-6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risque</a:t>
            </a:r>
            <a:r>
              <a:rPr sz="2400" u="none" spc="-6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imminent</a:t>
            </a:r>
            <a:r>
              <a:rPr sz="2400" u="none" spc="-12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qui</a:t>
            </a:r>
            <a:r>
              <a:rPr sz="2400" u="none" spc="-1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menace</a:t>
            </a:r>
            <a:r>
              <a:rPr sz="2400" u="none" spc="-5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la</a:t>
            </a:r>
            <a:r>
              <a:rPr sz="2400" u="none" spc="-11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vie</a:t>
            </a:r>
            <a:r>
              <a:rPr sz="2400" u="none" spc="-11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ou</a:t>
            </a:r>
            <a:r>
              <a:rPr sz="2400" u="none" spc="-4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la</a:t>
            </a:r>
            <a:r>
              <a:rPr sz="2400" u="none" spc="-90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santé</a:t>
            </a:r>
            <a:r>
              <a:rPr sz="2400" u="none" spc="-120" dirty="0">
                <a:latin typeface="Constantia"/>
                <a:cs typeface="Constantia"/>
              </a:rPr>
              <a:t> </a:t>
            </a:r>
            <a:r>
              <a:rPr sz="2400" u="none" spc="-20" dirty="0">
                <a:latin typeface="Constantia"/>
                <a:cs typeface="Constantia"/>
              </a:rPr>
              <a:t>d’un </a:t>
            </a:r>
            <a:r>
              <a:rPr sz="2400" u="none" spc="-10" dirty="0">
                <a:latin typeface="Constantia"/>
                <a:cs typeface="Constantia"/>
              </a:rPr>
              <a:t>individu</a:t>
            </a:r>
            <a:r>
              <a:rPr sz="2400" u="none" spc="-95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vivant,</a:t>
            </a:r>
            <a:r>
              <a:rPr sz="2400" u="none" spc="-30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nécessitant</a:t>
            </a:r>
            <a:r>
              <a:rPr sz="2400" u="none" spc="-10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une</a:t>
            </a:r>
            <a:r>
              <a:rPr sz="2400" u="none" spc="-60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intervention</a:t>
            </a:r>
            <a:r>
              <a:rPr sz="2400" u="none" spc="-80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immédiate</a:t>
            </a:r>
            <a:r>
              <a:rPr sz="2400" u="none" spc="-7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=</a:t>
            </a:r>
            <a:r>
              <a:rPr sz="2400" u="none" spc="-3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urgence, tout</a:t>
            </a:r>
            <a:r>
              <a:rPr sz="2400" u="none" spc="-114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retard</a:t>
            </a:r>
            <a:r>
              <a:rPr sz="2400" u="none" spc="-70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met</a:t>
            </a:r>
            <a:r>
              <a:rPr sz="2400" u="none" spc="-114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en</a:t>
            </a:r>
            <a:r>
              <a:rPr sz="2400" u="none" spc="-9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danger</a:t>
            </a:r>
            <a:r>
              <a:rPr sz="2400" u="none" spc="-145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vie</a:t>
            </a:r>
            <a:r>
              <a:rPr sz="2400" u="none" spc="-114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de</a:t>
            </a:r>
            <a:r>
              <a:rPr sz="2400" u="none" spc="-5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la</a:t>
            </a:r>
            <a:r>
              <a:rPr sz="2400" u="none" spc="-120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victime.</a:t>
            </a:r>
            <a:endParaRPr sz="2400" dirty="0">
              <a:latin typeface="Constantia"/>
              <a:cs typeface="Constantia"/>
            </a:endParaRPr>
          </a:p>
          <a:p>
            <a:pPr marL="286385" marR="807720" indent="-27432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2/</a:t>
            </a:r>
            <a:r>
              <a:rPr sz="2400" u="sng" spc="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la</a:t>
            </a:r>
            <a:r>
              <a:rPr sz="2400" u="sng" spc="-10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connaissance</a:t>
            </a:r>
            <a:r>
              <a:rPr sz="2400" u="sng" spc="-12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du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péril</a:t>
            </a:r>
            <a:r>
              <a:rPr sz="2400" u="sng" spc="1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:</a:t>
            </a:r>
            <a:r>
              <a:rPr sz="2400" u="none" spc="-10" dirty="0">
                <a:latin typeface="Constantia"/>
                <a:cs typeface="Constantia"/>
              </a:rPr>
              <a:t>soit</a:t>
            </a:r>
            <a:r>
              <a:rPr sz="2400" u="none" spc="-130" dirty="0">
                <a:latin typeface="Constantia"/>
                <a:cs typeface="Constantia"/>
              </a:rPr>
              <a:t> </a:t>
            </a:r>
            <a:r>
              <a:rPr sz="2400" u="none" spc="-20" dirty="0">
                <a:latin typeface="Constantia"/>
                <a:cs typeface="Constantia"/>
              </a:rPr>
              <a:t>directe</a:t>
            </a:r>
            <a:r>
              <a:rPr sz="2400" u="none" spc="-11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si</a:t>
            </a:r>
            <a:r>
              <a:rPr sz="2400" u="none" spc="-55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on</a:t>
            </a:r>
            <a:r>
              <a:rPr sz="2400" u="none" spc="-95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est</a:t>
            </a:r>
            <a:r>
              <a:rPr sz="2400" u="none" spc="-85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sur</a:t>
            </a:r>
            <a:r>
              <a:rPr sz="2400" u="none" spc="-75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les</a:t>
            </a:r>
            <a:r>
              <a:rPr sz="2400" u="none" spc="-35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lieux,</a:t>
            </a:r>
            <a:r>
              <a:rPr sz="2400" u="none" spc="-45" dirty="0">
                <a:latin typeface="Constantia"/>
                <a:cs typeface="Constantia"/>
              </a:rPr>
              <a:t> </a:t>
            </a:r>
            <a:r>
              <a:rPr sz="2400" u="none" spc="-25" dirty="0">
                <a:latin typeface="Constantia"/>
                <a:cs typeface="Constantia"/>
              </a:rPr>
              <a:t>ou </a:t>
            </a:r>
            <a:r>
              <a:rPr sz="2400" u="none" spc="-10" dirty="0">
                <a:latin typeface="Constantia"/>
                <a:cs typeface="Constantia"/>
              </a:rPr>
              <a:t>indirecte</a:t>
            </a:r>
            <a:r>
              <a:rPr sz="2400" u="none" spc="-114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par</a:t>
            </a:r>
            <a:r>
              <a:rPr sz="2400" u="none" spc="-114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un</a:t>
            </a:r>
            <a:r>
              <a:rPr sz="2400" u="none" spc="-105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appel</a:t>
            </a:r>
            <a:r>
              <a:rPr sz="2400" u="none" spc="-1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téléphonique</a:t>
            </a:r>
            <a:r>
              <a:rPr sz="2400" u="none" spc="-9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par</a:t>
            </a:r>
            <a:r>
              <a:rPr sz="2400" u="none" spc="-120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exemple.</a:t>
            </a:r>
            <a:endParaRPr sz="2400" dirty="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3/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l’absence</a:t>
            </a:r>
            <a:r>
              <a:rPr sz="2400" u="sng" spc="-12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de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risque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:</a:t>
            </a:r>
            <a:r>
              <a:rPr sz="2400" u="none" spc="-3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pour</a:t>
            </a:r>
            <a:r>
              <a:rPr sz="2400" u="none" spc="-90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l’intervenant</a:t>
            </a:r>
            <a:endParaRPr sz="2400" dirty="0">
              <a:latin typeface="Constantia"/>
              <a:cs typeface="Constantia"/>
            </a:endParaRPr>
          </a:p>
          <a:p>
            <a:pPr marL="286385" marR="402590" indent="-274320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4/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défaut</a:t>
            </a:r>
            <a:r>
              <a:rPr sz="2400" u="sng" spc="-9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d’assistance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:</a:t>
            </a:r>
            <a:r>
              <a:rPr sz="2400" u="none" spc="-2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soit</a:t>
            </a:r>
            <a:r>
              <a:rPr sz="2400" u="none" spc="-9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par</a:t>
            </a:r>
            <a:r>
              <a:rPr sz="2400" u="none" spc="-8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son</a:t>
            </a:r>
            <a:r>
              <a:rPr sz="2400" u="none" spc="-8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action</a:t>
            </a:r>
            <a:r>
              <a:rPr sz="2400" u="none" spc="-5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personnelle</a:t>
            </a:r>
            <a:r>
              <a:rPr sz="2400" u="none" spc="-95" dirty="0">
                <a:latin typeface="Constantia"/>
                <a:cs typeface="Constantia"/>
              </a:rPr>
              <a:t> </a:t>
            </a:r>
            <a:r>
              <a:rPr sz="2400" u="none" spc="-20" dirty="0">
                <a:latin typeface="Constantia"/>
                <a:cs typeface="Constantia"/>
              </a:rPr>
              <a:t>directe</a:t>
            </a:r>
            <a:r>
              <a:rPr sz="2400" u="none" spc="-11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ou</a:t>
            </a:r>
            <a:r>
              <a:rPr sz="2400" u="none" spc="-55" dirty="0">
                <a:latin typeface="Constantia"/>
                <a:cs typeface="Constantia"/>
              </a:rPr>
              <a:t> </a:t>
            </a:r>
            <a:r>
              <a:rPr sz="2400" u="none" spc="-25" dirty="0">
                <a:latin typeface="Constantia"/>
                <a:cs typeface="Constantia"/>
              </a:rPr>
              <a:t>en </a:t>
            </a:r>
            <a:r>
              <a:rPr sz="2400" u="none" spc="-20" dirty="0">
                <a:latin typeface="Constantia"/>
                <a:cs typeface="Constantia"/>
              </a:rPr>
              <a:t>provocant</a:t>
            </a:r>
            <a:r>
              <a:rPr sz="2400" u="none" spc="-8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les</a:t>
            </a:r>
            <a:r>
              <a:rPr sz="2400" u="none" spc="-6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secours.</a:t>
            </a:r>
            <a:endParaRPr sz="24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FE633B4-7BD7-5E61-A371-29EAC88B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09A37897-C7B7-CD31-D1F5-A7374D36C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297939"/>
            <a:ext cx="8001000" cy="3208571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lang="fr-FR" sz="2800" b="1">
                <a:solidFill>
                  <a:srgbClr val="FF0000"/>
                </a:solidFill>
              </a:rPr>
              <a:t>Les</a:t>
            </a:r>
            <a:r>
              <a:rPr lang="fr-FR" sz="2800" b="1" spc="-105">
                <a:solidFill>
                  <a:srgbClr val="FF0000"/>
                </a:solidFill>
              </a:rPr>
              <a:t> </a:t>
            </a:r>
            <a:r>
              <a:rPr lang="fr-FR" sz="2800" b="1">
                <a:solidFill>
                  <a:srgbClr val="FF0000"/>
                </a:solidFill>
              </a:rPr>
              <a:t>sanctions</a:t>
            </a:r>
            <a:r>
              <a:rPr lang="fr-FR" sz="2800" b="1" spc="-50">
                <a:solidFill>
                  <a:srgbClr val="FF0000"/>
                </a:solidFill>
              </a:rPr>
              <a:t> :</a:t>
            </a:r>
            <a:endParaRPr lang="fr-FR" sz="2800"/>
          </a:p>
          <a:p>
            <a:pPr marL="286385" indent="-273685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u="sng">
                <a:uFill>
                  <a:solidFill>
                    <a:srgbClr val="000000"/>
                  </a:solidFill>
                </a:uFill>
              </a:rPr>
              <a:t>Au</a:t>
            </a:r>
            <a:r>
              <a:rPr lang="fr-FR" sz="2800" u="sng" spc="-6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fr-FR" sz="2800" u="sng">
                <a:uFill>
                  <a:solidFill>
                    <a:srgbClr val="000000"/>
                  </a:solidFill>
                </a:uFill>
              </a:rPr>
              <a:t>pénal</a:t>
            </a:r>
            <a:r>
              <a:rPr lang="fr-FR" sz="2800" u="sng" spc="5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fr-FR" sz="2800" u="sng">
                <a:uFill>
                  <a:solidFill>
                    <a:srgbClr val="000000"/>
                  </a:solidFill>
                </a:uFill>
              </a:rPr>
              <a:t>:</a:t>
            </a:r>
            <a:r>
              <a:rPr lang="fr-FR" sz="2800" u="sng" spc="-1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fr-FR" sz="2800"/>
              <a:t>le</a:t>
            </a:r>
            <a:r>
              <a:rPr lang="fr-FR" sz="2800" spc="-90"/>
              <a:t> </a:t>
            </a:r>
            <a:r>
              <a:rPr lang="fr-FR" sz="2800" spc="-10"/>
              <a:t>délit</a:t>
            </a:r>
            <a:r>
              <a:rPr lang="fr-FR" sz="2800" spc="-120"/>
              <a:t> </a:t>
            </a:r>
            <a:r>
              <a:rPr lang="fr-FR" sz="2800"/>
              <a:t>est</a:t>
            </a:r>
            <a:r>
              <a:rPr lang="fr-FR" sz="2800" spc="-80"/>
              <a:t> </a:t>
            </a:r>
            <a:r>
              <a:rPr lang="fr-FR" sz="2800" spc="-10"/>
              <a:t>passible</a:t>
            </a:r>
            <a:r>
              <a:rPr lang="fr-FR" sz="2800" spc="-110"/>
              <a:t> </a:t>
            </a:r>
            <a:r>
              <a:rPr lang="fr-FR" sz="2800" spc="-20"/>
              <a:t>d’un</a:t>
            </a:r>
            <a:r>
              <a:rPr lang="fr-FR" sz="2800" spc="-85"/>
              <a:t> </a:t>
            </a:r>
            <a:r>
              <a:rPr lang="fr-FR" sz="2800" spc="-10"/>
              <a:t>emprisonnement</a:t>
            </a:r>
            <a:r>
              <a:rPr lang="fr-FR" sz="2800" spc="-114"/>
              <a:t> </a:t>
            </a:r>
            <a:r>
              <a:rPr lang="fr-FR" sz="2800"/>
              <a:t>de</a:t>
            </a:r>
            <a:r>
              <a:rPr lang="fr-FR" sz="2800" spc="-55"/>
              <a:t> </a:t>
            </a:r>
            <a:r>
              <a:rPr lang="fr-FR" sz="2800"/>
              <a:t>03</a:t>
            </a:r>
            <a:r>
              <a:rPr lang="fr-FR" sz="2800" spc="-65"/>
              <a:t> </a:t>
            </a:r>
            <a:r>
              <a:rPr lang="fr-FR" sz="2800"/>
              <a:t>à</a:t>
            </a:r>
            <a:r>
              <a:rPr lang="fr-FR" sz="2800" spc="-50"/>
              <a:t> </a:t>
            </a:r>
            <a:r>
              <a:rPr lang="fr-FR" sz="2800"/>
              <a:t>05ans</a:t>
            </a:r>
            <a:r>
              <a:rPr lang="fr-FR" sz="2800" spc="-90"/>
              <a:t> </a:t>
            </a:r>
            <a:r>
              <a:rPr lang="fr-FR" sz="2800" spc="-25"/>
              <a:t>et/</a:t>
            </a:r>
            <a:endParaRPr lang="fr-FR" sz="2800"/>
          </a:p>
          <a:p>
            <a:pPr marL="286385">
              <a:lnSpc>
                <a:spcPct val="100000"/>
              </a:lnSpc>
            </a:pPr>
            <a:r>
              <a:rPr lang="fr-FR" sz="2800"/>
              <a:t>ou</a:t>
            </a:r>
            <a:r>
              <a:rPr lang="fr-FR" sz="2800" spc="-80"/>
              <a:t> </a:t>
            </a:r>
            <a:r>
              <a:rPr lang="fr-FR" sz="2800"/>
              <a:t>une</a:t>
            </a:r>
            <a:r>
              <a:rPr lang="fr-FR" sz="2800" spc="-120"/>
              <a:t> </a:t>
            </a:r>
            <a:r>
              <a:rPr lang="fr-FR" sz="2800"/>
              <a:t>amande</a:t>
            </a:r>
            <a:r>
              <a:rPr lang="fr-FR" sz="2800" spc="-105"/>
              <a:t> </a:t>
            </a:r>
            <a:r>
              <a:rPr lang="fr-FR" sz="2800"/>
              <a:t>de</a:t>
            </a:r>
            <a:r>
              <a:rPr lang="fr-FR" sz="2800" spc="-50"/>
              <a:t> </a:t>
            </a:r>
            <a:r>
              <a:rPr lang="fr-FR" sz="2800"/>
              <a:t>500</a:t>
            </a:r>
            <a:r>
              <a:rPr lang="fr-FR" sz="2800" spc="-80"/>
              <a:t> </a:t>
            </a:r>
            <a:r>
              <a:rPr lang="fr-FR" sz="2800"/>
              <a:t>à</a:t>
            </a:r>
            <a:r>
              <a:rPr lang="fr-FR" sz="2800" spc="-60"/>
              <a:t> </a:t>
            </a:r>
            <a:r>
              <a:rPr lang="fr-FR" sz="2800" spc="-10"/>
              <a:t>15000DA</a:t>
            </a:r>
            <a:endParaRPr lang="fr-FR" sz="2800"/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u="sng">
                <a:uFill>
                  <a:solidFill>
                    <a:srgbClr val="000000"/>
                  </a:solidFill>
                </a:uFill>
              </a:rPr>
              <a:t>Au</a:t>
            </a:r>
            <a:r>
              <a:rPr lang="fr-FR" sz="2800" u="sng" spc="-10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fr-FR" sz="2800" u="sng">
                <a:uFill>
                  <a:solidFill>
                    <a:srgbClr val="000000"/>
                  </a:solidFill>
                </a:uFill>
              </a:rPr>
              <a:t>civil</a:t>
            </a:r>
            <a:r>
              <a:rPr lang="fr-FR" sz="2800" u="sng" spc="-25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fr-FR" sz="2800" u="sng">
                <a:uFill>
                  <a:solidFill>
                    <a:srgbClr val="000000"/>
                  </a:solidFill>
                </a:uFill>
              </a:rPr>
              <a:t>:</a:t>
            </a:r>
            <a:r>
              <a:rPr lang="fr-FR" sz="2800" spc="-60"/>
              <a:t> </a:t>
            </a:r>
            <a:r>
              <a:rPr lang="fr-FR" sz="2800" spc="-10"/>
              <a:t>responsabilité</a:t>
            </a:r>
            <a:r>
              <a:rPr lang="fr-FR" sz="2800" spc="-120"/>
              <a:t> </a:t>
            </a:r>
            <a:r>
              <a:rPr lang="fr-FR" sz="2800"/>
              <a:t>délictuelle</a:t>
            </a:r>
            <a:r>
              <a:rPr lang="fr-FR" sz="2800" spc="-125"/>
              <a:t> </a:t>
            </a:r>
            <a:r>
              <a:rPr lang="fr-FR" sz="2800"/>
              <a:t>ou</a:t>
            </a:r>
            <a:r>
              <a:rPr lang="fr-FR" sz="2800" spc="-85"/>
              <a:t> </a:t>
            </a:r>
            <a:r>
              <a:rPr lang="fr-FR" sz="2800"/>
              <a:t>quasi</a:t>
            </a:r>
            <a:r>
              <a:rPr lang="fr-FR" sz="2800" spc="-75"/>
              <a:t> </a:t>
            </a:r>
            <a:r>
              <a:rPr lang="fr-FR" sz="2800" spc="-10"/>
              <a:t>délictuelle.</a:t>
            </a:r>
            <a:endParaRPr lang="fr-FR" sz="2800"/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/>
              <a:t>Ainsi</a:t>
            </a:r>
            <a:r>
              <a:rPr lang="fr-FR" sz="2800" spc="-105"/>
              <a:t> </a:t>
            </a:r>
            <a:r>
              <a:rPr lang="fr-FR" sz="2800"/>
              <a:t>que</a:t>
            </a:r>
            <a:r>
              <a:rPr lang="fr-FR" sz="2800" spc="-110"/>
              <a:t> </a:t>
            </a:r>
            <a:r>
              <a:rPr lang="fr-FR" sz="2800"/>
              <a:t>des</a:t>
            </a:r>
            <a:r>
              <a:rPr lang="fr-FR" sz="2800" spc="-110"/>
              <a:t> </a:t>
            </a:r>
            <a:r>
              <a:rPr lang="fr-FR" sz="2800"/>
              <a:t>sanctions</a:t>
            </a:r>
            <a:r>
              <a:rPr lang="fr-FR" sz="2800" spc="-125"/>
              <a:t> </a:t>
            </a:r>
            <a:r>
              <a:rPr lang="fr-FR" sz="2800" u="sng" spc="-10">
                <a:uFill>
                  <a:solidFill>
                    <a:srgbClr val="000000"/>
                  </a:solidFill>
                </a:uFill>
              </a:rPr>
              <a:t>disciplinaires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81448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7246" rIns="0" bIns="0" rtlCol="0">
            <a:spAutoFit/>
          </a:bodyPr>
          <a:lstStyle/>
          <a:p>
            <a:pPr marL="1908810">
              <a:lnSpc>
                <a:spcPct val="100000"/>
              </a:lnSpc>
              <a:spcBef>
                <a:spcPts val="100"/>
              </a:spcBef>
            </a:pPr>
            <a:r>
              <a:rPr dirty="0"/>
              <a:t>Le</a:t>
            </a:r>
            <a:r>
              <a:rPr spc="-55" dirty="0"/>
              <a:t> </a:t>
            </a:r>
            <a:r>
              <a:rPr spc="-20" dirty="0"/>
              <a:t>contrat</a:t>
            </a:r>
            <a:r>
              <a:rPr spc="-8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20" dirty="0"/>
              <a:t>soin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70578"/>
            <a:ext cx="7891145" cy="4040209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b="1" dirty="0">
                <a:solidFill>
                  <a:srgbClr val="FF0000"/>
                </a:solidFill>
                <a:latin typeface="Constantia"/>
                <a:cs typeface="Constantia"/>
              </a:rPr>
              <a:t>Introduction</a:t>
            </a:r>
            <a:r>
              <a:rPr sz="2800" b="1" spc="-12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800" b="1" spc="-50" dirty="0">
                <a:solidFill>
                  <a:srgbClr val="FF0000"/>
                </a:solidFill>
                <a:latin typeface="Constantia"/>
                <a:cs typeface="Constantia"/>
              </a:rPr>
              <a:t>:</a:t>
            </a:r>
            <a:endParaRPr sz="2800" dirty="0">
              <a:latin typeface="Constantia"/>
              <a:cs typeface="Constantia"/>
            </a:endParaRPr>
          </a:p>
          <a:p>
            <a:pPr marL="286385" marR="59055" indent="-274320">
              <a:lnSpc>
                <a:spcPct val="100000"/>
              </a:lnSpc>
              <a:spcBef>
                <a:spcPts val="52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800" dirty="0">
                <a:latin typeface="Constantia"/>
                <a:cs typeface="Constantia"/>
              </a:rPr>
              <a:t>Dans</a:t>
            </a:r>
            <a:r>
              <a:rPr sz="2800" spc="-114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un</a:t>
            </a:r>
            <a:r>
              <a:rPr sz="2800" spc="-110" dirty="0">
                <a:latin typeface="Constantia"/>
                <a:cs typeface="Constantia"/>
              </a:rPr>
              <a:t> </a:t>
            </a:r>
            <a:r>
              <a:rPr sz="2800" spc="-20" dirty="0">
                <a:latin typeface="Constantia"/>
                <a:cs typeface="Constantia"/>
              </a:rPr>
              <a:t>célèbre</a:t>
            </a:r>
            <a:r>
              <a:rPr sz="2800" spc="-110" dirty="0">
                <a:latin typeface="Constantia"/>
                <a:cs typeface="Constantia"/>
              </a:rPr>
              <a:t> </a:t>
            </a:r>
            <a:r>
              <a:rPr sz="2800" dirty="0" err="1">
                <a:latin typeface="Constantia"/>
                <a:cs typeface="Constantia"/>
              </a:rPr>
              <a:t>arrêt</a:t>
            </a:r>
            <a:r>
              <a:rPr lang="fr-FR" sz="2800" dirty="0">
                <a:latin typeface="Constantia"/>
                <a:cs typeface="Constantia"/>
              </a:rPr>
              <a:t> (arrêt de Mercier)</a:t>
            </a:r>
            <a:r>
              <a:rPr sz="2800" dirty="0">
                <a:latin typeface="Constantia"/>
                <a:cs typeface="Constantia"/>
              </a:rPr>
              <a:t>,</a:t>
            </a:r>
            <a:r>
              <a:rPr sz="2800" spc="-4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la</a:t>
            </a:r>
            <a:r>
              <a:rPr sz="2800" spc="-6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Cour</a:t>
            </a:r>
            <a:r>
              <a:rPr sz="2800" spc="-15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de</a:t>
            </a:r>
            <a:r>
              <a:rPr sz="2800" spc="-7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Cassation,</a:t>
            </a:r>
            <a:r>
              <a:rPr sz="2800" spc="-10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en</a:t>
            </a:r>
            <a:r>
              <a:rPr sz="2800" spc="-4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1936,</a:t>
            </a:r>
            <a:r>
              <a:rPr sz="2800" spc="-6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analyse</a:t>
            </a:r>
            <a:r>
              <a:rPr sz="2800" spc="-60" dirty="0">
                <a:latin typeface="Constantia"/>
                <a:cs typeface="Constantia"/>
              </a:rPr>
              <a:t> </a:t>
            </a:r>
            <a:r>
              <a:rPr sz="2800" spc="-25" dirty="0">
                <a:latin typeface="Constantia"/>
                <a:cs typeface="Constantia"/>
              </a:rPr>
              <a:t>les </a:t>
            </a:r>
            <a:r>
              <a:rPr sz="2800" spc="-10" dirty="0">
                <a:latin typeface="Constantia"/>
                <a:cs typeface="Constantia"/>
              </a:rPr>
              <a:t>relations</a:t>
            </a:r>
            <a:r>
              <a:rPr sz="2800" spc="-114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entre</a:t>
            </a:r>
            <a:r>
              <a:rPr sz="2800" spc="-8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le</a:t>
            </a:r>
            <a:r>
              <a:rPr sz="2800" spc="-5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malade</a:t>
            </a:r>
            <a:r>
              <a:rPr sz="2800" spc="-10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et</a:t>
            </a:r>
            <a:r>
              <a:rPr sz="2800" spc="-7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le</a:t>
            </a:r>
            <a:r>
              <a:rPr sz="2800" spc="-6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médecin</a:t>
            </a:r>
            <a:r>
              <a:rPr sz="2800" spc="-9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comme</a:t>
            </a:r>
            <a:r>
              <a:rPr sz="2800" spc="-11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étant</a:t>
            </a:r>
            <a:r>
              <a:rPr sz="2800" spc="-114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de</a:t>
            </a:r>
            <a:r>
              <a:rPr sz="2800" spc="-6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nature contractuelle.</a:t>
            </a:r>
            <a:r>
              <a:rPr sz="2800" spc="-6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En</a:t>
            </a:r>
            <a:r>
              <a:rPr sz="2800" spc="-9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effet,</a:t>
            </a:r>
            <a:r>
              <a:rPr sz="2800" spc="-2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il</a:t>
            </a:r>
            <a:r>
              <a:rPr sz="2800" spc="-6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se</a:t>
            </a:r>
            <a:r>
              <a:rPr sz="2800" spc="-6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forme</a:t>
            </a:r>
            <a:r>
              <a:rPr sz="2800" spc="-114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selon</a:t>
            </a:r>
            <a:r>
              <a:rPr sz="2800" spc="-5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la</a:t>
            </a:r>
            <a:r>
              <a:rPr sz="2800" spc="-6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Cour</a:t>
            </a:r>
            <a:r>
              <a:rPr sz="2800" spc="-15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de</a:t>
            </a:r>
            <a:r>
              <a:rPr sz="2800" spc="-7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Cassation,</a:t>
            </a:r>
            <a:r>
              <a:rPr sz="2800" spc="-9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entre</a:t>
            </a:r>
            <a:r>
              <a:rPr sz="2800" spc="-75" dirty="0">
                <a:latin typeface="Constantia"/>
                <a:cs typeface="Constantia"/>
              </a:rPr>
              <a:t> </a:t>
            </a:r>
            <a:r>
              <a:rPr sz="2800" spc="-25" dirty="0">
                <a:latin typeface="Constantia"/>
                <a:cs typeface="Constantia"/>
              </a:rPr>
              <a:t>le </a:t>
            </a:r>
            <a:r>
              <a:rPr sz="2800" spc="-10" dirty="0">
                <a:latin typeface="Constantia"/>
                <a:cs typeface="Constantia"/>
              </a:rPr>
              <a:t>médecin</a:t>
            </a:r>
            <a:r>
              <a:rPr sz="2800" spc="-7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et</a:t>
            </a:r>
            <a:r>
              <a:rPr sz="2800" spc="-7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son</a:t>
            </a:r>
            <a:r>
              <a:rPr sz="2800" spc="-8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client,</a:t>
            </a:r>
            <a:r>
              <a:rPr sz="2800" spc="-3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un</a:t>
            </a:r>
            <a:r>
              <a:rPr sz="2800" spc="-8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véritable</a:t>
            </a:r>
            <a:r>
              <a:rPr sz="2800" spc="-105" dirty="0">
                <a:latin typeface="Constantia"/>
                <a:cs typeface="Constantia"/>
              </a:rPr>
              <a:t> </a:t>
            </a:r>
            <a:r>
              <a:rPr sz="2800" spc="-25" dirty="0">
                <a:latin typeface="Constantia"/>
                <a:cs typeface="Constantia"/>
              </a:rPr>
              <a:t>contrat</a:t>
            </a:r>
            <a:r>
              <a:rPr sz="2800" spc="-12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comportant</a:t>
            </a:r>
            <a:r>
              <a:rPr sz="2800" spc="-6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l'engagement </a:t>
            </a:r>
            <a:r>
              <a:rPr sz="2800" dirty="0">
                <a:latin typeface="Constantia"/>
                <a:cs typeface="Constantia"/>
              </a:rPr>
              <a:t>par</a:t>
            </a:r>
            <a:r>
              <a:rPr sz="2800" spc="-7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le</a:t>
            </a:r>
            <a:r>
              <a:rPr sz="2800" spc="-4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médecin</a:t>
            </a:r>
            <a:r>
              <a:rPr sz="2800" spc="-80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de</a:t>
            </a:r>
            <a:r>
              <a:rPr sz="2800" spc="-90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donner</a:t>
            </a:r>
            <a:r>
              <a:rPr sz="2800" spc="-14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des</a:t>
            </a:r>
            <a:r>
              <a:rPr sz="2800" spc="-75" dirty="0">
                <a:latin typeface="Constantia"/>
                <a:cs typeface="Constantia"/>
              </a:rPr>
              <a:t> </a:t>
            </a:r>
            <a:r>
              <a:rPr sz="2800" dirty="0">
                <a:latin typeface="Constantia"/>
                <a:cs typeface="Constantia"/>
              </a:rPr>
              <a:t>soins</a:t>
            </a:r>
            <a:r>
              <a:rPr sz="2800" spc="-105" dirty="0">
                <a:latin typeface="Constantia"/>
                <a:cs typeface="Constantia"/>
              </a:rPr>
              <a:t> </a:t>
            </a:r>
            <a:r>
              <a:rPr sz="2800" spc="-10" dirty="0">
                <a:latin typeface="Constantia"/>
                <a:cs typeface="Constantia"/>
              </a:rPr>
              <a:t>consciencieux,</a:t>
            </a:r>
            <a:r>
              <a:rPr sz="2800" spc="-60" dirty="0">
                <a:latin typeface="Constantia"/>
                <a:cs typeface="Constantia"/>
              </a:rPr>
              <a:t> </a:t>
            </a:r>
            <a:r>
              <a:rPr sz="2800" spc="-10" dirty="0" err="1">
                <a:latin typeface="Constantia"/>
                <a:cs typeface="Constantia"/>
              </a:rPr>
              <a:t>attentifs</a:t>
            </a:r>
            <a:r>
              <a:rPr sz="2800" spc="-130" dirty="0">
                <a:latin typeface="Constantia"/>
                <a:cs typeface="Constantia"/>
              </a:rPr>
              <a:t> </a:t>
            </a:r>
            <a:r>
              <a:rPr lang="fr-FR" sz="2800" spc="-130" dirty="0">
                <a:latin typeface="Constantia"/>
                <a:cs typeface="Constantia"/>
              </a:rPr>
              <a:t> et conforme au données actuels de la sante</a:t>
            </a:r>
            <a:endParaRPr sz="28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EBB3FD0-6C65-9A5B-8247-46523BD8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2DD2667D-70AA-E79E-3594-5DD360C36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297939"/>
            <a:ext cx="8001000" cy="5060360"/>
          </a:xfrm>
        </p:spPr>
        <p:txBody>
          <a:bodyPr/>
          <a:lstStyle/>
          <a:p>
            <a:pPr marL="12065" marR="59055">
              <a:lnSpc>
                <a:spcPct val="100000"/>
              </a:lnSpc>
              <a:spcBef>
                <a:spcPts val="520"/>
              </a:spcBef>
              <a:buClr>
                <a:srgbClr val="0AD0D9"/>
              </a:buClr>
              <a:buSzPct val="95000"/>
              <a:tabLst>
                <a:tab pos="286385" algn="l"/>
              </a:tabLst>
            </a:pPr>
            <a:endParaRPr lang="fr-FR" sz="2800" dirty="0"/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fr-FR" sz="2800" b="1" spc="-25" dirty="0">
                <a:solidFill>
                  <a:srgbClr val="FF0000"/>
                </a:solidFill>
              </a:rPr>
              <a:t>Caractères</a:t>
            </a:r>
            <a:r>
              <a:rPr lang="fr-FR" sz="2800" b="1" spc="-55" dirty="0">
                <a:solidFill>
                  <a:srgbClr val="FF0000"/>
                </a:solidFill>
              </a:rPr>
              <a:t> </a:t>
            </a:r>
            <a:r>
              <a:rPr lang="fr-FR" sz="2800" b="1" dirty="0">
                <a:solidFill>
                  <a:srgbClr val="FF0000"/>
                </a:solidFill>
              </a:rPr>
              <a:t>du</a:t>
            </a:r>
            <a:r>
              <a:rPr lang="fr-FR" sz="2800" b="1" spc="-70" dirty="0">
                <a:solidFill>
                  <a:srgbClr val="FF0000"/>
                </a:solidFill>
              </a:rPr>
              <a:t> </a:t>
            </a:r>
            <a:r>
              <a:rPr lang="fr-FR" sz="2800" b="1" spc="-20" dirty="0">
                <a:solidFill>
                  <a:srgbClr val="FF0000"/>
                </a:solidFill>
              </a:rPr>
              <a:t>contrat</a:t>
            </a:r>
            <a:r>
              <a:rPr lang="fr-FR" sz="2800" b="1" spc="-35" dirty="0">
                <a:solidFill>
                  <a:srgbClr val="FF0000"/>
                </a:solidFill>
              </a:rPr>
              <a:t> </a:t>
            </a:r>
            <a:r>
              <a:rPr lang="fr-FR" sz="2800" b="1" spc="-50" dirty="0">
                <a:solidFill>
                  <a:srgbClr val="FF0000"/>
                </a:solidFill>
              </a:rPr>
              <a:t>:</a:t>
            </a:r>
            <a:endParaRPr lang="fr-FR" sz="2800" dirty="0"/>
          </a:p>
          <a:p>
            <a:pPr marL="286385" indent="-273685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u="sng" spc="-30" dirty="0">
                <a:uFill>
                  <a:solidFill>
                    <a:srgbClr val="000000"/>
                  </a:solidFill>
                </a:uFill>
              </a:rPr>
              <a:t>Tacite</a:t>
            </a:r>
            <a:r>
              <a:rPr lang="fr-FR" sz="2800" u="sng" spc="-6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fr-FR" sz="2800" u="sng" dirty="0">
                <a:uFill>
                  <a:solidFill>
                    <a:srgbClr val="000000"/>
                  </a:solidFill>
                </a:uFill>
              </a:rPr>
              <a:t>:</a:t>
            </a:r>
            <a:r>
              <a:rPr lang="fr-FR" sz="2800" spc="-10" dirty="0"/>
              <a:t> </a:t>
            </a:r>
            <a:r>
              <a:rPr lang="fr-FR" sz="2800" dirty="0"/>
              <a:t>ne</a:t>
            </a:r>
            <a:r>
              <a:rPr lang="fr-FR" sz="2800" spc="-114" dirty="0"/>
              <a:t> </a:t>
            </a:r>
            <a:r>
              <a:rPr lang="fr-FR" sz="2800" spc="-10" dirty="0"/>
              <a:t>comportant</a:t>
            </a:r>
            <a:r>
              <a:rPr lang="fr-FR" sz="2800" spc="-110" dirty="0"/>
              <a:t> </a:t>
            </a:r>
            <a:r>
              <a:rPr lang="fr-FR" sz="2800" dirty="0"/>
              <a:t>pas</a:t>
            </a:r>
            <a:r>
              <a:rPr lang="fr-FR" sz="2800" spc="-80" dirty="0"/>
              <a:t> </a:t>
            </a:r>
            <a:r>
              <a:rPr lang="fr-FR" sz="2800" dirty="0"/>
              <a:t>de</a:t>
            </a:r>
            <a:r>
              <a:rPr lang="fr-FR" sz="2800" spc="-55" dirty="0"/>
              <a:t> </a:t>
            </a:r>
            <a:r>
              <a:rPr lang="fr-FR" sz="2800" spc="-10" dirty="0"/>
              <a:t>formule</a:t>
            </a:r>
            <a:r>
              <a:rPr lang="fr-FR" sz="2800" spc="-120" dirty="0"/>
              <a:t> </a:t>
            </a:r>
            <a:r>
              <a:rPr lang="fr-FR" sz="2800" spc="-10" dirty="0"/>
              <a:t>d'engagement,</a:t>
            </a:r>
            <a:endParaRPr lang="fr-FR" sz="2800" dirty="0"/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u="sng" dirty="0">
                <a:uFill>
                  <a:solidFill>
                    <a:srgbClr val="000000"/>
                  </a:solidFill>
                </a:uFill>
              </a:rPr>
              <a:t>Commutatif </a:t>
            </a:r>
            <a:r>
              <a:rPr lang="fr-FR" sz="2800" dirty="0"/>
              <a:t>:</a:t>
            </a:r>
            <a:r>
              <a:rPr lang="fr-FR" sz="2800" spc="-60" dirty="0"/>
              <a:t> </a:t>
            </a:r>
            <a:r>
              <a:rPr lang="fr-FR" sz="2800" dirty="0"/>
              <a:t>des</a:t>
            </a:r>
            <a:r>
              <a:rPr lang="fr-FR" sz="2800" spc="-85" dirty="0"/>
              <a:t> </a:t>
            </a:r>
            <a:r>
              <a:rPr lang="fr-FR" sz="2800" spc="-10" dirty="0"/>
              <a:t>obligations</a:t>
            </a:r>
            <a:r>
              <a:rPr lang="fr-FR" sz="2800" spc="-114" dirty="0"/>
              <a:t> </a:t>
            </a:r>
            <a:r>
              <a:rPr lang="fr-FR" sz="2800" dirty="0"/>
              <a:t>sont</a:t>
            </a:r>
            <a:r>
              <a:rPr lang="fr-FR" sz="2800" spc="-100" dirty="0"/>
              <a:t> </a:t>
            </a:r>
            <a:r>
              <a:rPr lang="fr-FR" sz="2800" spc="-10" dirty="0"/>
              <a:t>reconnues</a:t>
            </a:r>
            <a:r>
              <a:rPr lang="fr-FR" sz="2800" spc="-100" dirty="0"/>
              <a:t> </a:t>
            </a:r>
            <a:r>
              <a:rPr lang="fr-FR" sz="2800" spc="-10" dirty="0"/>
              <a:t>pour</a:t>
            </a:r>
            <a:r>
              <a:rPr lang="fr-FR" sz="2800" spc="-125" dirty="0"/>
              <a:t> </a:t>
            </a:r>
            <a:r>
              <a:rPr lang="fr-FR" sz="2800" spc="-10" dirty="0"/>
              <a:t>chaque</a:t>
            </a:r>
            <a:r>
              <a:rPr lang="fr-FR" sz="2800" spc="-75" dirty="0"/>
              <a:t> </a:t>
            </a:r>
            <a:r>
              <a:rPr lang="fr-FR" sz="2800" spc="-10" dirty="0"/>
              <a:t>partie,</a:t>
            </a:r>
            <a:endParaRPr lang="fr-FR" sz="2800" dirty="0"/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u="sng" dirty="0">
                <a:uFill>
                  <a:solidFill>
                    <a:srgbClr val="000000"/>
                  </a:solidFill>
                </a:uFill>
              </a:rPr>
              <a:t>A</a:t>
            </a:r>
            <a:r>
              <a:rPr lang="fr-FR" sz="2800" u="sng" spc="-6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fr-FR" sz="2800" u="sng" spc="-20" dirty="0">
                <a:uFill>
                  <a:solidFill>
                    <a:srgbClr val="000000"/>
                  </a:solidFill>
                </a:uFill>
              </a:rPr>
              <a:t>titre</a:t>
            </a:r>
            <a:r>
              <a:rPr lang="fr-FR" sz="2800" u="sng" spc="-1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fr-FR" sz="2800" u="sng" dirty="0">
                <a:uFill>
                  <a:solidFill>
                    <a:srgbClr val="000000"/>
                  </a:solidFill>
                </a:uFill>
              </a:rPr>
              <a:t>onéreux</a:t>
            </a:r>
            <a:r>
              <a:rPr lang="fr-FR" sz="2800" u="sng" spc="-4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fr-FR" sz="2800" u="sng" dirty="0">
                <a:uFill>
                  <a:solidFill>
                    <a:srgbClr val="000000"/>
                  </a:solidFill>
                </a:uFill>
              </a:rPr>
              <a:t>:</a:t>
            </a:r>
            <a:r>
              <a:rPr lang="fr-FR" sz="2800" spc="-15" dirty="0"/>
              <a:t> </a:t>
            </a:r>
            <a:r>
              <a:rPr lang="fr-FR" sz="2800" dirty="0"/>
              <a:t>le</a:t>
            </a:r>
            <a:r>
              <a:rPr lang="fr-FR" sz="2800" spc="-45" dirty="0"/>
              <a:t> </a:t>
            </a:r>
            <a:r>
              <a:rPr lang="fr-FR" sz="2800" spc="-10" dirty="0"/>
              <a:t>malade</a:t>
            </a:r>
            <a:r>
              <a:rPr lang="fr-FR" sz="2800" spc="-85" dirty="0"/>
              <a:t> </a:t>
            </a:r>
            <a:r>
              <a:rPr lang="fr-FR" sz="2800" dirty="0"/>
              <a:t>paie</a:t>
            </a:r>
            <a:r>
              <a:rPr lang="fr-FR" sz="2800" spc="-90" dirty="0"/>
              <a:t> </a:t>
            </a:r>
            <a:r>
              <a:rPr lang="fr-FR" sz="2800" dirty="0"/>
              <a:t>des</a:t>
            </a:r>
            <a:r>
              <a:rPr lang="fr-FR" sz="2800" spc="-40" dirty="0"/>
              <a:t> </a:t>
            </a:r>
            <a:r>
              <a:rPr lang="fr-FR" sz="2800" spc="-20" dirty="0"/>
              <a:t>honoraires</a:t>
            </a:r>
            <a:r>
              <a:rPr lang="fr-FR" sz="2800" spc="-114" dirty="0"/>
              <a:t> </a:t>
            </a:r>
            <a:r>
              <a:rPr lang="fr-FR" sz="2800" dirty="0"/>
              <a:t>au</a:t>
            </a:r>
            <a:r>
              <a:rPr lang="fr-FR" sz="2800" spc="-35" dirty="0"/>
              <a:t> </a:t>
            </a:r>
            <a:r>
              <a:rPr lang="fr-FR" sz="2800" spc="-10" dirty="0"/>
              <a:t>médecin.</a:t>
            </a:r>
            <a:endParaRPr lang="fr-FR" sz="2800" dirty="0"/>
          </a:p>
          <a:p>
            <a:pPr marL="286385" marR="5080" indent="-27432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lang="fr-FR" sz="2800" dirty="0"/>
              <a:t>Résiliable,</a:t>
            </a:r>
            <a:r>
              <a:rPr lang="fr-FR" sz="2800" spc="-40" dirty="0"/>
              <a:t> </a:t>
            </a:r>
            <a:r>
              <a:rPr lang="fr-FR" sz="2800" dirty="0"/>
              <a:t>le</a:t>
            </a:r>
            <a:r>
              <a:rPr lang="fr-FR" sz="2800" spc="-70" dirty="0"/>
              <a:t> </a:t>
            </a:r>
            <a:r>
              <a:rPr lang="fr-FR" sz="2800" dirty="0"/>
              <a:t>malade</a:t>
            </a:r>
            <a:r>
              <a:rPr lang="fr-FR" sz="2800" spc="-105" dirty="0"/>
              <a:t> </a:t>
            </a:r>
            <a:r>
              <a:rPr lang="fr-FR" sz="2800" dirty="0"/>
              <a:t>est</a:t>
            </a:r>
            <a:r>
              <a:rPr lang="fr-FR" sz="2800" spc="-70" dirty="0"/>
              <a:t> </a:t>
            </a:r>
            <a:r>
              <a:rPr lang="fr-FR" sz="2800" spc="-20" dirty="0"/>
              <a:t>libre</a:t>
            </a:r>
            <a:r>
              <a:rPr lang="fr-FR" sz="2800" spc="-120" dirty="0"/>
              <a:t> </a:t>
            </a:r>
            <a:r>
              <a:rPr lang="fr-FR" sz="2800" dirty="0"/>
              <a:t>de</a:t>
            </a:r>
            <a:r>
              <a:rPr lang="fr-FR" sz="2800" spc="-100" dirty="0"/>
              <a:t> </a:t>
            </a:r>
            <a:r>
              <a:rPr lang="fr-FR" sz="2800" spc="-10" dirty="0"/>
              <a:t>quitter</a:t>
            </a:r>
            <a:r>
              <a:rPr lang="fr-FR" sz="2800" spc="-150" dirty="0"/>
              <a:t> </a:t>
            </a:r>
            <a:r>
              <a:rPr lang="fr-FR" sz="2800" dirty="0"/>
              <a:t>son</a:t>
            </a:r>
            <a:r>
              <a:rPr lang="fr-FR" sz="2800" spc="-65" dirty="0"/>
              <a:t> </a:t>
            </a:r>
            <a:r>
              <a:rPr lang="fr-FR" sz="2800" dirty="0"/>
              <a:t>médecin</a:t>
            </a:r>
            <a:r>
              <a:rPr lang="fr-FR" sz="2800" spc="-80" dirty="0"/>
              <a:t>  </a:t>
            </a:r>
            <a:r>
              <a:rPr lang="fr-FR" sz="2800" dirty="0"/>
              <a:t>,</a:t>
            </a:r>
            <a:r>
              <a:rPr lang="fr-FR" sz="2800" spc="-60" dirty="0"/>
              <a:t> </a:t>
            </a:r>
            <a:r>
              <a:rPr lang="fr-FR" sz="2800" dirty="0"/>
              <a:t>pour</a:t>
            </a:r>
            <a:r>
              <a:rPr lang="fr-FR" sz="2800" spc="-100" dirty="0"/>
              <a:t> </a:t>
            </a:r>
            <a:r>
              <a:rPr lang="fr-FR" sz="2800" dirty="0"/>
              <a:t>le</a:t>
            </a:r>
            <a:r>
              <a:rPr lang="fr-FR" sz="2800" spc="-65" dirty="0"/>
              <a:t> </a:t>
            </a:r>
            <a:r>
              <a:rPr lang="fr-FR" sz="2800" dirty="0"/>
              <a:t>médecin</a:t>
            </a:r>
            <a:r>
              <a:rPr lang="fr-FR" sz="2800" spc="-60" dirty="0"/>
              <a:t> </a:t>
            </a:r>
            <a:r>
              <a:rPr lang="fr-FR" sz="2800" dirty="0"/>
              <a:t>il</a:t>
            </a:r>
            <a:r>
              <a:rPr lang="fr-FR" sz="2800" spc="-85" dirty="0"/>
              <a:t> </a:t>
            </a:r>
            <a:r>
              <a:rPr lang="fr-FR" sz="2800" dirty="0"/>
              <a:t>doit</a:t>
            </a:r>
            <a:r>
              <a:rPr lang="fr-FR" sz="2800" spc="-125" dirty="0"/>
              <a:t> </a:t>
            </a:r>
            <a:r>
              <a:rPr lang="fr-FR" sz="2800" dirty="0"/>
              <a:t>s’assurer</a:t>
            </a:r>
            <a:r>
              <a:rPr lang="fr-FR" sz="2800" spc="355" dirty="0"/>
              <a:t> </a:t>
            </a:r>
            <a:r>
              <a:rPr lang="fr-FR" sz="2800" spc="-25" dirty="0"/>
              <a:t>la </a:t>
            </a:r>
            <a:r>
              <a:rPr lang="fr-FR" sz="2800" spc="-20" dirty="0"/>
              <a:t>continuité</a:t>
            </a:r>
            <a:r>
              <a:rPr lang="fr-FR" sz="2800" spc="-110" dirty="0"/>
              <a:t> </a:t>
            </a:r>
            <a:r>
              <a:rPr lang="fr-FR" sz="2800" dirty="0"/>
              <a:t>des</a:t>
            </a:r>
            <a:r>
              <a:rPr lang="fr-FR" sz="2800" spc="-50" dirty="0"/>
              <a:t> </a:t>
            </a:r>
            <a:r>
              <a:rPr lang="fr-FR" sz="2800" spc="-10" dirty="0"/>
              <a:t>soins.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132586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13533"/>
            <a:ext cx="7581265" cy="56316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b="1" spc="-10" dirty="0">
                <a:solidFill>
                  <a:srgbClr val="FF0000"/>
                </a:solidFill>
                <a:latin typeface="Constantia"/>
                <a:cs typeface="Constantia"/>
              </a:rPr>
              <a:t>Conditions</a:t>
            </a:r>
            <a:r>
              <a:rPr sz="2000" b="1" spc="-10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tantia"/>
                <a:cs typeface="Constantia"/>
              </a:rPr>
              <a:t>de</a:t>
            </a:r>
            <a:r>
              <a:rPr sz="2000" b="1" spc="-8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onstantia"/>
                <a:cs typeface="Constantia"/>
              </a:rPr>
              <a:t>validité</a:t>
            </a:r>
            <a:r>
              <a:rPr sz="2000" b="1" spc="-8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nstantia"/>
                <a:cs typeface="Constantia"/>
              </a:rPr>
              <a:t>du</a:t>
            </a:r>
            <a:r>
              <a:rPr sz="2000" b="1" spc="-6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onstantia"/>
                <a:cs typeface="Constantia"/>
              </a:rPr>
              <a:t>contrat</a:t>
            </a:r>
            <a:r>
              <a:rPr sz="2000" b="1" spc="-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Constantia"/>
                <a:cs typeface="Constantia"/>
              </a:rPr>
              <a:t>:</a:t>
            </a:r>
            <a:endParaRPr sz="2000" dirty="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-20" dirty="0">
                <a:latin typeface="Constantia"/>
                <a:cs typeface="Constantia"/>
              </a:rPr>
              <a:t>Quatre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conditions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légales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doivent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être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remplies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pour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sa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validité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spc="-50" dirty="0">
                <a:latin typeface="Constantia"/>
                <a:cs typeface="Constantia"/>
              </a:rPr>
              <a:t>:</a:t>
            </a:r>
            <a:endParaRPr sz="2400" dirty="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1/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La</a:t>
            </a:r>
            <a:r>
              <a:rPr sz="2400" u="sng" spc="-10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capacité</a:t>
            </a:r>
            <a:r>
              <a:rPr sz="2400" u="sng" spc="-9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à</a:t>
            </a:r>
            <a:r>
              <a:rPr sz="2400" u="sng" spc="-10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contracter</a:t>
            </a:r>
            <a:endParaRPr sz="2400" dirty="0">
              <a:latin typeface="Constantia"/>
              <a:cs typeface="Constantia"/>
            </a:endParaRPr>
          </a:p>
          <a:p>
            <a:pPr marL="286385" marR="207645" indent="-274320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spc="-20" dirty="0">
                <a:latin typeface="Constantia"/>
                <a:cs typeface="Constantia"/>
              </a:rPr>
              <a:t>Pour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médecin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médecin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doit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satisfaire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aux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conditions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légales </a:t>
            </a:r>
            <a:r>
              <a:rPr sz="2400" spc="-25" dirty="0">
                <a:latin typeface="Constantia"/>
                <a:cs typeface="Constantia"/>
              </a:rPr>
              <a:t>d'exercice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médecine.</a:t>
            </a:r>
            <a:endParaRPr sz="2400" dirty="0">
              <a:latin typeface="Constantia"/>
              <a:cs typeface="Constantia"/>
            </a:endParaRPr>
          </a:p>
          <a:p>
            <a:pPr marL="286385" marR="113664" indent="-274320">
              <a:lnSpc>
                <a:spcPct val="100000"/>
              </a:lnSpc>
              <a:spcBef>
                <a:spcPts val="480"/>
              </a:spcBef>
              <a:buChar char="⚫"/>
              <a:tabLst>
                <a:tab pos="286385" algn="l"/>
                <a:tab pos="350520" algn="l"/>
              </a:tabLst>
            </a:pPr>
            <a:r>
              <a:rPr sz="2400" dirty="0">
                <a:solidFill>
                  <a:srgbClr val="0AD0D9"/>
                </a:solidFill>
                <a:latin typeface="Segoe UI Symbol"/>
                <a:cs typeface="Segoe UI Symbol"/>
              </a:rPr>
              <a:t>	</a:t>
            </a:r>
            <a:r>
              <a:rPr sz="2400" spc="-20" dirty="0">
                <a:latin typeface="Constantia"/>
                <a:cs typeface="Constantia"/>
              </a:rPr>
              <a:t>Pour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malade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il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doit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être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majeur,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lorsqu’il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s'agit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d'un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mineur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ou </a:t>
            </a:r>
            <a:r>
              <a:rPr sz="2400" dirty="0">
                <a:latin typeface="Constantia"/>
                <a:cs typeface="Constantia"/>
              </a:rPr>
              <a:t>incapable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majeur,</a:t>
            </a:r>
            <a:r>
              <a:rPr sz="2400" spc="-1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capacité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de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contacter</a:t>
            </a:r>
            <a:r>
              <a:rPr sz="2400" spc="-1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est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exercée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par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le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tuteur légal.</a:t>
            </a:r>
            <a:endParaRPr sz="2400" dirty="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spcBef>
                <a:spcPts val="484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2/ Le</a:t>
            </a:r>
            <a:r>
              <a:rPr sz="2400" u="sng" spc="-11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consentement</a:t>
            </a:r>
            <a:r>
              <a:rPr sz="2400" u="sng" spc="-8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:</a:t>
            </a:r>
            <a:r>
              <a:rPr sz="2400" u="none" dirty="0">
                <a:latin typeface="Constantia"/>
                <a:cs typeface="Constantia"/>
              </a:rPr>
              <a:t>il</a:t>
            </a:r>
            <a:r>
              <a:rPr sz="2400" u="none" spc="-65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doit</a:t>
            </a:r>
            <a:r>
              <a:rPr sz="2400" u="none" spc="-12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être</a:t>
            </a:r>
            <a:r>
              <a:rPr sz="2400" u="none" spc="-55" dirty="0">
                <a:latin typeface="Constantia"/>
                <a:cs typeface="Constantia"/>
              </a:rPr>
              <a:t> </a:t>
            </a:r>
            <a:r>
              <a:rPr sz="2400" u="none" spc="-20" dirty="0">
                <a:latin typeface="Constantia"/>
                <a:cs typeface="Constantia"/>
              </a:rPr>
              <a:t>libre</a:t>
            </a:r>
            <a:r>
              <a:rPr sz="2400" u="none" spc="-120" dirty="0">
                <a:latin typeface="Constantia"/>
                <a:cs typeface="Constantia"/>
              </a:rPr>
              <a:t> </a:t>
            </a:r>
            <a:r>
              <a:rPr sz="2400" u="none" dirty="0">
                <a:latin typeface="Constantia"/>
                <a:cs typeface="Constantia"/>
              </a:rPr>
              <a:t>et</a:t>
            </a:r>
            <a:r>
              <a:rPr sz="2400" u="none" spc="-110" dirty="0">
                <a:latin typeface="Constantia"/>
                <a:cs typeface="Constantia"/>
              </a:rPr>
              <a:t> </a:t>
            </a:r>
            <a:r>
              <a:rPr sz="2400" u="none" spc="-10" dirty="0">
                <a:latin typeface="Constantia"/>
                <a:cs typeface="Constantia"/>
              </a:rPr>
              <a:t>éclairé</a:t>
            </a:r>
            <a:endParaRPr sz="2400" dirty="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Constantia"/>
                <a:cs typeface="Constantia"/>
              </a:rPr>
              <a:t>3</a:t>
            </a:r>
            <a:r>
              <a:rPr sz="2400" u="sng" dirty="0">
                <a:latin typeface="Constantia"/>
                <a:cs typeface="Constantia"/>
              </a:rPr>
              <a:t>/</a:t>
            </a:r>
            <a:r>
              <a:rPr sz="2400" u="sng" spc="-90" dirty="0">
                <a:latin typeface="Constantia"/>
                <a:cs typeface="Constantia"/>
              </a:rPr>
              <a:t> </a:t>
            </a:r>
            <a:r>
              <a:rPr sz="2400" u="sng" dirty="0">
                <a:latin typeface="Constantia"/>
                <a:cs typeface="Constantia"/>
              </a:rPr>
              <a:t>objet</a:t>
            </a:r>
            <a:r>
              <a:rPr sz="2400" u="sng" spc="-75" dirty="0">
                <a:latin typeface="Constantia"/>
                <a:cs typeface="Constantia"/>
              </a:rPr>
              <a:t> </a:t>
            </a:r>
            <a:r>
              <a:rPr sz="2400" u="sng" dirty="0">
                <a:latin typeface="Constantia"/>
                <a:cs typeface="Constantia"/>
              </a:rPr>
              <a:t>licite</a:t>
            </a:r>
            <a:r>
              <a:rPr sz="2400" u="sng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:</a:t>
            </a:r>
            <a:r>
              <a:rPr sz="2400" spc="-2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l’acte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proposé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ne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doit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pas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être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contraire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à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6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loi.</a:t>
            </a:r>
            <a:r>
              <a:rPr sz="2400" spc="-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Il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est</a:t>
            </a:r>
            <a:r>
              <a:rPr lang="fr-FR" sz="2400" dirty="0">
                <a:latin typeface="Constantia"/>
                <a:cs typeface="Constantia"/>
              </a:rPr>
              <a:t> </a:t>
            </a:r>
            <a:r>
              <a:rPr sz="2400" spc="-10" dirty="0" err="1">
                <a:latin typeface="Constantia"/>
                <a:cs typeface="Constantia"/>
              </a:rPr>
              <a:t>conditionné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par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la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nécessité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médicale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dans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l’intérêt</a:t>
            </a:r>
            <a:r>
              <a:rPr sz="2400" spc="-1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du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malade.</a:t>
            </a:r>
            <a:endParaRPr sz="2400" dirty="0">
              <a:latin typeface="Constantia"/>
              <a:cs typeface="Constantia"/>
            </a:endParaRPr>
          </a:p>
          <a:p>
            <a:pPr marL="286385" indent="-273685">
              <a:lnSpc>
                <a:spcPct val="10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6385" algn="l"/>
              </a:tabLst>
            </a:pPr>
            <a:r>
              <a:rPr sz="2400" dirty="0">
                <a:latin typeface="Constantia"/>
                <a:cs typeface="Constantia"/>
              </a:rPr>
              <a:t>4/</a:t>
            </a:r>
            <a:r>
              <a:rPr sz="2400" spc="-30" dirty="0">
                <a:latin typeface="Constantia"/>
                <a:cs typeface="Constantia"/>
              </a:rPr>
              <a:t> </a:t>
            </a:r>
            <a:r>
              <a:rPr sz="2400" u="sng" spc="-10" dirty="0">
                <a:latin typeface="Constantia"/>
                <a:cs typeface="Constantia"/>
              </a:rPr>
              <a:t>la</a:t>
            </a:r>
            <a:r>
              <a:rPr sz="2400" u="sng" spc="-114" dirty="0">
                <a:latin typeface="Constantia"/>
                <a:cs typeface="Constantia"/>
              </a:rPr>
              <a:t> </a:t>
            </a:r>
            <a:r>
              <a:rPr sz="2400" u="sng" dirty="0">
                <a:latin typeface="Constantia"/>
                <a:cs typeface="Constantia"/>
              </a:rPr>
              <a:t>cause</a:t>
            </a:r>
            <a:r>
              <a:rPr sz="2400" u="sng" spc="-55" dirty="0">
                <a:latin typeface="Constantia"/>
                <a:cs typeface="Constantia"/>
              </a:rPr>
              <a:t> </a:t>
            </a:r>
            <a:r>
              <a:rPr sz="2400" u="sng" spc="-10" dirty="0">
                <a:latin typeface="Constantia"/>
                <a:cs typeface="Constantia"/>
              </a:rPr>
              <a:t>licite</a:t>
            </a:r>
            <a:r>
              <a:rPr sz="2400" u="sng" spc="-85" dirty="0">
                <a:latin typeface="Constantia"/>
                <a:cs typeface="Constantia"/>
              </a:rPr>
              <a:t> </a:t>
            </a:r>
            <a:r>
              <a:rPr sz="2400" spc="-50" dirty="0">
                <a:latin typeface="Constantia"/>
                <a:cs typeface="Constantia"/>
              </a:rPr>
              <a:t>:</a:t>
            </a:r>
            <a:endParaRPr sz="24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18922"/>
            <a:ext cx="7907655" cy="470217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b="1" dirty="0">
                <a:solidFill>
                  <a:srgbClr val="FF0000"/>
                </a:solidFill>
                <a:latin typeface="Constantia"/>
                <a:cs typeface="Constantia"/>
              </a:rPr>
              <a:t>Obligations</a:t>
            </a:r>
            <a:r>
              <a:rPr sz="2600" b="1" spc="-14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nstantia"/>
                <a:cs typeface="Constantia"/>
              </a:rPr>
              <a:t>qui</a:t>
            </a:r>
            <a:r>
              <a:rPr sz="2600" b="1" spc="-5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onstantia"/>
                <a:cs typeface="Constantia"/>
              </a:rPr>
              <a:t>découlent</a:t>
            </a:r>
            <a:r>
              <a:rPr sz="2600" b="1" spc="-15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nstantia"/>
                <a:cs typeface="Constantia"/>
              </a:rPr>
              <a:t>du</a:t>
            </a:r>
            <a:r>
              <a:rPr sz="2600" b="1" spc="-9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b="1" spc="-20" dirty="0">
                <a:solidFill>
                  <a:srgbClr val="FF0000"/>
                </a:solidFill>
                <a:latin typeface="Constantia"/>
                <a:cs typeface="Constantia"/>
              </a:rPr>
              <a:t>contrat</a:t>
            </a:r>
            <a:r>
              <a:rPr sz="2600" b="1" spc="-9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b="1" spc="-50" dirty="0">
                <a:solidFill>
                  <a:srgbClr val="FF0000"/>
                </a:solidFill>
                <a:latin typeface="Constantia"/>
                <a:cs typeface="Constantia"/>
              </a:rPr>
              <a:t>:</a:t>
            </a:r>
            <a:endParaRPr sz="2600">
              <a:latin typeface="Constantia"/>
              <a:cs typeface="Constantia"/>
            </a:endParaRPr>
          </a:p>
          <a:p>
            <a:pPr marL="28702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Du</a:t>
            </a:r>
            <a:r>
              <a:rPr sz="2600" u="sng" spc="-6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médecin</a:t>
            </a:r>
            <a:r>
              <a:rPr sz="2600" u="sng" spc="-5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600" u="sng" spc="-5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:</a:t>
            </a:r>
            <a:endParaRPr sz="2600">
              <a:latin typeface="Constantia"/>
              <a:cs typeface="Constantia"/>
            </a:endParaRPr>
          </a:p>
          <a:p>
            <a:pPr marL="286385" marR="10795" indent="-274320">
              <a:lnSpc>
                <a:spcPct val="100000"/>
              </a:lnSpc>
              <a:spcBef>
                <a:spcPts val="625"/>
              </a:spcBef>
            </a:pPr>
            <a:r>
              <a:rPr sz="2600" spc="-20" dirty="0">
                <a:latin typeface="Constantia"/>
                <a:cs typeface="Constantia"/>
              </a:rPr>
              <a:t>-fournir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des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soins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conformes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aux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données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acquises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4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la </a:t>
            </a:r>
            <a:r>
              <a:rPr sz="2600" spc="-10" dirty="0">
                <a:latin typeface="Constantia"/>
                <a:cs typeface="Constantia"/>
              </a:rPr>
              <a:t>science</a:t>
            </a:r>
            <a:endParaRPr sz="26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10" dirty="0">
                <a:latin typeface="Constantia"/>
                <a:cs typeface="Constantia"/>
              </a:rPr>
              <a:t>-</a:t>
            </a:r>
            <a:r>
              <a:rPr sz="2600" spc="-25" dirty="0">
                <a:latin typeface="Constantia"/>
                <a:cs typeface="Constantia"/>
              </a:rPr>
              <a:t>s’interdire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faire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courir</a:t>
            </a:r>
            <a:r>
              <a:rPr sz="2600" spc="-1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au</a:t>
            </a:r>
            <a:r>
              <a:rPr sz="2600" spc="-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malade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un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risque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injustifié</a:t>
            </a:r>
            <a:endParaRPr sz="26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20" dirty="0">
                <a:latin typeface="Constantia"/>
                <a:cs typeface="Constantia"/>
              </a:rPr>
              <a:t>-</a:t>
            </a:r>
            <a:r>
              <a:rPr sz="2600" spc="-10" dirty="0">
                <a:latin typeface="Constantia"/>
                <a:cs typeface="Constantia"/>
              </a:rPr>
              <a:t>information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claire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loyale</a:t>
            </a:r>
            <a:endParaRPr sz="26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10" dirty="0">
                <a:latin typeface="Constantia"/>
                <a:cs typeface="Constantia"/>
              </a:rPr>
              <a:t>-respect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du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secret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professionnel</a:t>
            </a:r>
            <a:endParaRPr sz="2600">
              <a:latin typeface="Constantia"/>
              <a:cs typeface="Constantia"/>
            </a:endParaRPr>
          </a:p>
          <a:p>
            <a:pPr marL="28702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Du</a:t>
            </a:r>
            <a:r>
              <a:rPr sz="2600" u="sng" spc="-55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malade</a:t>
            </a:r>
            <a:r>
              <a:rPr sz="2600" u="sng" spc="-8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 </a:t>
            </a:r>
            <a:r>
              <a:rPr sz="2600" u="sng" spc="-5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:</a:t>
            </a:r>
            <a:endParaRPr sz="26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10" dirty="0">
                <a:latin typeface="Constantia"/>
                <a:cs typeface="Constantia"/>
              </a:rPr>
              <a:t>-respect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des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prescriptions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médicales</a:t>
            </a:r>
            <a:endParaRPr sz="26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10" dirty="0">
                <a:latin typeface="Constantia"/>
                <a:cs typeface="Constantia"/>
              </a:rPr>
              <a:t>-paiement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des</a:t>
            </a:r>
            <a:r>
              <a:rPr sz="2600" spc="-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honoraires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33548"/>
            <a:ext cx="7919720" cy="39090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600" b="1" dirty="0">
                <a:solidFill>
                  <a:srgbClr val="FF0000"/>
                </a:solidFill>
                <a:latin typeface="Constantia"/>
                <a:cs typeface="Constantia"/>
              </a:rPr>
              <a:t>La</a:t>
            </a:r>
            <a:r>
              <a:rPr sz="2600" b="1" spc="-12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onstantia"/>
                <a:cs typeface="Constantia"/>
              </a:rPr>
              <a:t>cessation</a:t>
            </a:r>
            <a:r>
              <a:rPr sz="2600" b="1" spc="-13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nstantia"/>
                <a:cs typeface="Constantia"/>
              </a:rPr>
              <a:t>du</a:t>
            </a:r>
            <a:r>
              <a:rPr sz="2600" b="1" spc="-9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onstantia"/>
                <a:cs typeface="Constantia"/>
              </a:rPr>
              <a:t>contrat</a:t>
            </a:r>
            <a:r>
              <a:rPr sz="2600" b="1" spc="-7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600" b="1" spc="-50" dirty="0">
                <a:solidFill>
                  <a:srgbClr val="FF0000"/>
                </a:solidFill>
                <a:latin typeface="Constantia"/>
                <a:cs typeface="Constantia"/>
              </a:rPr>
              <a:t>:</a:t>
            </a:r>
            <a:endParaRPr sz="2600">
              <a:latin typeface="Constantia"/>
              <a:cs typeface="Constantia"/>
            </a:endParaRPr>
          </a:p>
          <a:p>
            <a:pPr marL="286385" marR="12192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contrat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cesse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façon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normale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avec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fin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de </a:t>
            </a:r>
            <a:r>
              <a:rPr sz="2600" dirty="0">
                <a:latin typeface="Constantia"/>
                <a:cs typeface="Constantia"/>
              </a:rPr>
              <a:t>l'affection.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La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rupture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est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cependant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possible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avant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la </a:t>
            </a:r>
            <a:r>
              <a:rPr sz="2600" dirty="0">
                <a:latin typeface="Constantia"/>
                <a:cs typeface="Constantia"/>
              </a:rPr>
              <a:t>fin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des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soins</a:t>
            </a:r>
            <a:r>
              <a:rPr sz="2600" spc="-35" dirty="0">
                <a:latin typeface="Constantia"/>
                <a:cs typeface="Constantia"/>
              </a:rPr>
              <a:t> </a:t>
            </a:r>
            <a:r>
              <a:rPr sz="2600" spc="-50" dirty="0">
                <a:latin typeface="Constantia"/>
                <a:cs typeface="Constantia"/>
              </a:rPr>
              <a:t>:</a:t>
            </a:r>
            <a:endParaRPr sz="2600">
              <a:latin typeface="Constantia"/>
              <a:cs typeface="Constantia"/>
            </a:endParaRPr>
          </a:p>
          <a:p>
            <a:pPr marL="368935" indent="-35623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368935" algn="l"/>
              </a:tabLst>
            </a:pPr>
            <a:r>
              <a:rPr sz="2600" dirty="0">
                <a:latin typeface="Constantia"/>
                <a:cs typeface="Constantia"/>
              </a:rPr>
              <a:t>Par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malade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qui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change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médecin,</a:t>
            </a:r>
            <a:endParaRPr sz="2600">
              <a:latin typeface="Constantia"/>
              <a:cs typeface="Constantia"/>
            </a:endParaRPr>
          </a:p>
          <a:p>
            <a:pPr marL="286385" marR="5080" indent="-274955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Constantia"/>
                <a:cs typeface="Constantia"/>
              </a:rPr>
              <a:t>Par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le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médecin, mais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celui-</a:t>
            </a:r>
            <a:r>
              <a:rPr sz="2600" dirty="0">
                <a:latin typeface="Constantia"/>
                <a:cs typeface="Constantia"/>
              </a:rPr>
              <a:t>ci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doit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s'assurer</a:t>
            </a:r>
            <a:r>
              <a:rPr sz="2600" spc="-19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la </a:t>
            </a:r>
            <a:r>
              <a:rPr sz="2600" spc="-10" dirty="0">
                <a:latin typeface="Constantia"/>
                <a:cs typeface="Constantia"/>
              </a:rPr>
              <a:t>persistance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d'un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suivi</a:t>
            </a:r>
            <a:r>
              <a:rPr sz="2600" spc="-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médical,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l'absence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risque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rupture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suivi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d'une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prescription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et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bien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entendu </a:t>
            </a:r>
            <a:r>
              <a:rPr sz="2600" dirty="0">
                <a:latin typeface="Constantia"/>
                <a:cs typeface="Constantia"/>
              </a:rPr>
              <a:t>hors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urgence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92907" y="327406"/>
            <a:ext cx="284289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0" dirty="0"/>
              <a:t>Conclusion</a:t>
            </a:r>
            <a:endParaRPr sz="5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5940" y="1297939"/>
            <a:ext cx="8001000" cy="38246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50000"/>
              </a:lnSpc>
              <a:spcBef>
                <a:spcPts val="105"/>
              </a:spcBef>
              <a:tabLst>
                <a:tab pos="3627120" algn="l"/>
              </a:tabLst>
            </a:pPr>
            <a:r>
              <a:rPr sz="2800" spc="-55" dirty="0"/>
              <a:t>L’exercice</a:t>
            </a:r>
            <a:r>
              <a:rPr sz="2800" spc="-125" dirty="0"/>
              <a:t> </a:t>
            </a:r>
            <a:r>
              <a:rPr sz="2800" dirty="0"/>
              <a:t>de</a:t>
            </a:r>
            <a:r>
              <a:rPr sz="2800" spc="-60" dirty="0"/>
              <a:t> </a:t>
            </a:r>
            <a:r>
              <a:rPr sz="2800" dirty="0"/>
              <a:t>la</a:t>
            </a:r>
            <a:r>
              <a:rPr sz="2800" spc="-85" dirty="0"/>
              <a:t> </a:t>
            </a:r>
            <a:r>
              <a:rPr sz="2800" dirty="0"/>
              <a:t>médecine</a:t>
            </a:r>
            <a:r>
              <a:rPr sz="2800" spc="-130" dirty="0"/>
              <a:t> </a:t>
            </a:r>
            <a:r>
              <a:rPr sz="2800" dirty="0"/>
              <a:t>est</a:t>
            </a:r>
            <a:r>
              <a:rPr sz="2800" spc="-105" dirty="0"/>
              <a:t> </a:t>
            </a:r>
            <a:r>
              <a:rPr lang="fr-FR" sz="2800" dirty="0"/>
              <a:t>régi</a:t>
            </a:r>
            <a:r>
              <a:rPr sz="2800" spc="-40" dirty="0"/>
              <a:t> </a:t>
            </a:r>
            <a:r>
              <a:rPr sz="2800" spc="-10" dirty="0"/>
              <a:t>par</a:t>
            </a:r>
            <a:r>
              <a:rPr sz="2800" spc="-155" dirty="0"/>
              <a:t> </a:t>
            </a:r>
            <a:r>
              <a:rPr sz="2800" dirty="0"/>
              <a:t>de</a:t>
            </a:r>
            <a:r>
              <a:rPr sz="2800" spc="-60" dirty="0"/>
              <a:t> </a:t>
            </a:r>
            <a:r>
              <a:rPr sz="2800" spc="-10" dirty="0"/>
              <a:t>multiples</a:t>
            </a:r>
            <a:r>
              <a:rPr sz="2800" spc="-165" dirty="0"/>
              <a:t> </a:t>
            </a:r>
            <a:r>
              <a:rPr sz="2800" spc="-10" dirty="0"/>
              <a:t>codes, règlements</a:t>
            </a:r>
            <a:r>
              <a:rPr sz="2800" spc="-130" dirty="0"/>
              <a:t> </a:t>
            </a:r>
            <a:r>
              <a:rPr sz="2800" dirty="0"/>
              <a:t>et</a:t>
            </a:r>
            <a:r>
              <a:rPr sz="2800" spc="-75" dirty="0"/>
              <a:t> </a:t>
            </a:r>
            <a:r>
              <a:rPr sz="2800" dirty="0"/>
              <a:t>lois,</a:t>
            </a:r>
            <a:r>
              <a:rPr sz="2800" spc="-85" dirty="0"/>
              <a:t> </a:t>
            </a:r>
            <a:r>
              <a:rPr sz="2800" dirty="0"/>
              <a:t>qui</a:t>
            </a:r>
            <a:r>
              <a:rPr sz="2800" spc="-75" dirty="0"/>
              <a:t> </a:t>
            </a:r>
            <a:r>
              <a:rPr sz="2800" spc="-10" dirty="0"/>
              <a:t>délimitent</a:t>
            </a:r>
            <a:r>
              <a:rPr sz="2800" spc="-85" dirty="0"/>
              <a:t> </a:t>
            </a:r>
            <a:r>
              <a:rPr sz="2800" dirty="0"/>
              <a:t>les</a:t>
            </a:r>
            <a:r>
              <a:rPr sz="2800" spc="-125" dirty="0"/>
              <a:t> </a:t>
            </a:r>
            <a:r>
              <a:rPr sz="2800" spc="-20" dirty="0"/>
              <a:t>contours</a:t>
            </a:r>
            <a:r>
              <a:rPr sz="2800" spc="-160" dirty="0"/>
              <a:t> </a:t>
            </a:r>
            <a:r>
              <a:rPr sz="2800" dirty="0"/>
              <a:t>de</a:t>
            </a:r>
            <a:r>
              <a:rPr sz="2800" spc="-60" dirty="0"/>
              <a:t> </a:t>
            </a:r>
            <a:r>
              <a:rPr sz="2800" spc="-10" dirty="0"/>
              <a:t>l’acte </a:t>
            </a:r>
            <a:r>
              <a:rPr sz="2800" dirty="0"/>
              <a:t>médical,</a:t>
            </a:r>
            <a:r>
              <a:rPr sz="2800" spc="-65" dirty="0"/>
              <a:t> </a:t>
            </a:r>
            <a:r>
              <a:rPr sz="2800" dirty="0"/>
              <a:t>tout</a:t>
            </a:r>
            <a:r>
              <a:rPr sz="2800" spc="-130" dirty="0"/>
              <a:t> </a:t>
            </a:r>
            <a:r>
              <a:rPr sz="2800" spc="-10" dirty="0" err="1"/>
              <a:t>médecin</a:t>
            </a:r>
            <a:r>
              <a:rPr lang="fr-FR" sz="2800" spc="-10" dirty="0"/>
              <a:t> </a:t>
            </a:r>
            <a:r>
              <a:rPr sz="2800" dirty="0"/>
              <a:t>qui</a:t>
            </a:r>
            <a:r>
              <a:rPr sz="2800" spc="-110" dirty="0"/>
              <a:t> </a:t>
            </a:r>
            <a:r>
              <a:rPr sz="2800" spc="-10" dirty="0"/>
              <a:t>enfreint</a:t>
            </a:r>
            <a:r>
              <a:rPr sz="2800" spc="-150" dirty="0"/>
              <a:t> </a:t>
            </a:r>
            <a:r>
              <a:rPr sz="2800" dirty="0"/>
              <a:t>ces</a:t>
            </a:r>
            <a:r>
              <a:rPr sz="2800" spc="-120" dirty="0"/>
              <a:t> </a:t>
            </a:r>
            <a:r>
              <a:rPr sz="2800" spc="-10" dirty="0"/>
              <a:t>règlements </a:t>
            </a:r>
            <a:r>
              <a:rPr sz="2800" dirty="0"/>
              <a:t>peut</a:t>
            </a:r>
            <a:r>
              <a:rPr sz="2800" spc="-140" dirty="0"/>
              <a:t> </a:t>
            </a:r>
            <a:r>
              <a:rPr sz="2800" spc="-30" dirty="0"/>
              <a:t>engager</a:t>
            </a:r>
            <a:r>
              <a:rPr sz="2800" spc="-140" dirty="0"/>
              <a:t> </a:t>
            </a:r>
            <a:r>
              <a:rPr sz="2800" dirty="0"/>
              <a:t>sa</a:t>
            </a:r>
            <a:r>
              <a:rPr sz="2800" spc="-100" dirty="0"/>
              <a:t> </a:t>
            </a:r>
            <a:r>
              <a:rPr sz="2800" spc="-10" dirty="0"/>
              <a:t>responsabilité</a:t>
            </a:r>
            <a:r>
              <a:rPr sz="2800" spc="-135" dirty="0"/>
              <a:t> </a:t>
            </a:r>
            <a:r>
              <a:rPr sz="2800" spc="-10" dirty="0"/>
              <a:t>sur</a:t>
            </a:r>
            <a:r>
              <a:rPr sz="2800" spc="-165" dirty="0"/>
              <a:t> </a:t>
            </a:r>
            <a:r>
              <a:rPr sz="2800" spc="-10" dirty="0"/>
              <a:t>différents</a:t>
            </a:r>
            <a:r>
              <a:rPr sz="2800" spc="-90" dirty="0"/>
              <a:t> </a:t>
            </a:r>
            <a:r>
              <a:rPr sz="2800" spc="-10" dirty="0"/>
              <a:t>plans; </a:t>
            </a:r>
            <a:r>
              <a:rPr sz="2800" dirty="0"/>
              <a:t>pénal,</a:t>
            </a:r>
            <a:r>
              <a:rPr sz="2800" spc="-110" dirty="0"/>
              <a:t> </a:t>
            </a:r>
            <a:r>
              <a:rPr sz="2800" dirty="0"/>
              <a:t>civil</a:t>
            </a:r>
            <a:r>
              <a:rPr sz="2800" spc="-100" dirty="0"/>
              <a:t> </a:t>
            </a:r>
            <a:r>
              <a:rPr sz="2800" dirty="0"/>
              <a:t>et</a:t>
            </a:r>
            <a:r>
              <a:rPr sz="2800" spc="-150" dirty="0"/>
              <a:t> </a:t>
            </a:r>
            <a:r>
              <a:rPr sz="2800" spc="-10" dirty="0"/>
              <a:t>disciplinaire.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1582</Words>
  <Application>Microsoft Office PowerPoint</Application>
  <PresentationFormat>Affichage à l'écran (4:3)</PresentationFormat>
  <Paragraphs>139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3" baseType="lpstr">
      <vt:lpstr>Calibri</vt:lpstr>
      <vt:lpstr>Constantia</vt:lpstr>
      <vt:lpstr>Segoe UI Symbol</vt:lpstr>
      <vt:lpstr>Times New Roman</vt:lpstr>
      <vt:lpstr>Wingdings</vt:lpstr>
      <vt:lpstr>Office Theme</vt:lpstr>
      <vt:lpstr>Cours du module santé société et humanité 1ère année médecine 2025_ 2026  Droit médical</vt:lpstr>
      <vt:lpstr>Généralités</vt:lpstr>
      <vt:lpstr>Présentation PowerPoint</vt:lpstr>
      <vt:lpstr>Les sources du droit en Algérie</vt:lpstr>
      <vt:lpstr>Les objectifs du droit médical</vt:lpstr>
      <vt:lpstr>Présentation PowerPoint</vt:lpstr>
      <vt:lpstr>La réquisition à médecin</vt:lpstr>
      <vt:lpstr>Présentation PowerPoint</vt:lpstr>
      <vt:lpstr>Présentation PowerPoint</vt:lpstr>
      <vt:lpstr>Le secret médical</vt:lpstr>
      <vt:lpstr>Présentation PowerPoint</vt:lpstr>
      <vt:lpstr>Présentation PowerPoint</vt:lpstr>
      <vt:lpstr>Les principes généraux de la responsabilité médicale</vt:lpstr>
      <vt:lpstr>Présentation PowerPoint</vt:lpstr>
      <vt:lpstr>Présentation PowerPoint</vt:lpstr>
      <vt:lpstr>2. Responsabilité délictuelle ou quasi délictuelle :</vt:lpstr>
      <vt:lpstr>La responsabilité pénale:</vt:lpstr>
      <vt:lpstr>Présentation PowerPoint</vt:lpstr>
      <vt:lpstr>La non assistance à personne en péril</vt:lpstr>
      <vt:lpstr>Les éléments constitutifs du délit:</vt:lpstr>
      <vt:lpstr>Présentation PowerPoint</vt:lpstr>
      <vt:lpstr>Le contrat de soin</vt:lpstr>
      <vt:lpstr>Présentation PowerPoint</vt:lpstr>
      <vt:lpstr>Présentation PowerPoint</vt:lpstr>
      <vt:lpstr>Présentation PowerPoint</vt:lpstr>
      <vt:lpstr>Présentation PowerPoint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Faculté de médecine d’Alger Département de médecine</dc:title>
  <dc:creator>pc</dc:creator>
  <cp:lastModifiedBy>PC2025</cp:lastModifiedBy>
  <cp:revision>5</cp:revision>
  <dcterms:created xsi:type="dcterms:W3CDTF">2026-04-11T22:10:39Z</dcterms:created>
  <dcterms:modified xsi:type="dcterms:W3CDTF">2026-04-19T22:45:37Z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2026-04-11T00:00:00Z</vt:filetime>
  </property>
  <property fmtid="{D5CDD505-2E9C-101B-9397-08002B2CF9AE}" pid="5" name="Producer">
    <vt:lpwstr>Microsoft® PowerPoint® for Microsoft 365</vt:lpwstr>
  </property>
</Properties>
</file>