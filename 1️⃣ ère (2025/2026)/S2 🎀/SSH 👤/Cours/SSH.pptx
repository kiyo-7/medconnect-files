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0"/>
  </p:notesMasterIdLst>
  <p:sldIdLst>
    <p:sldId id="355" r:id="rId2"/>
    <p:sldId id="257" r:id="rId3"/>
    <p:sldId id="258" r:id="rId4"/>
    <p:sldId id="356" r:id="rId5"/>
    <p:sldId id="264" r:id="rId6"/>
    <p:sldId id="265" r:id="rId7"/>
    <p:sldId id="260" r:id="rId8"/>
    <p:sldId id="261" r:id="rId9"/>
    <p:sldId id="262" r:id="rId10"/>
    <p:sldId id="263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2" r:id="rId26"/>
    <p:sldId id="312" r:id="rId27"/>
    <p:sldId id="314" r:id="rId28"/>
    <p:sldId id="315" r:id="rId29"/>
    <p:sldId id="316" r:id="rId30"/>
    <p:sldId id="317" r:id="rId31"/>
    <p:sldId id="318" r:id="rId32"/>
    <p:sldId id="319" r:id="rId33"/>
    <p:sldId id="320" r:id="rId34"/>
    <p:sldId id="321" r:id="rId35"/>
    <p:sldId id="322" r:id="rId36"/>
    <p:sldId id="323" r:id="rId37"/>
    <p:sldId id="325" r:id="rId38"/>
    <p:sldId id="326" r:id="rId39"/>
    <p:sldId id="327" r:id="rId40"/>
    <p:sldId id="328" r:id="rId41"/>
    <p:sldId id="329" r:id="rId42"/>
    <p:sldId id="330" r:id="rId43"/>
    <p:sldId id="331" r:id="rId44"/>
    <p:sldId id="332" r:id="rId45"/>
    <p:sldId id="333" r:id="rId46"/>
    <p:sldId id="334" r:id="rId47"/>
    <p:sldId id="335" r:id="rId48"/>
    <p:sldId id="336" r:id="rId49"/>
    <p:sldId id="337" r:id="rId50"/>
    <p:sldId id="338" r:id="rId51"/>
    <p:sldId id="339" r:id="rId52"/>
    <p:sldId id="340" r:id="rId53"/>
    <p:sldId id="341" r:id="rId54"/>
    <p:sldId id="342" r:id="rId55"/>
    <p:sldId id="343" r:id="rId56"/>
    <p:sldId id="344" r:id="rId57"/>
    <p:sldId id="345" r:id="rId58"/>
    <p:sldId id="346" r:id="rId59"/>
    <p:sldId id="347" r:id="rId60"/>
    <p:sldId id="348" r:id="rId61"/>
    <p:sldId id="357" r:id="rId62"/>
    <p:sldId id="349" r:id="rId63"/>
    <p:sldId id="350" r:id="rId64"/>
    <p:sldId id="351" r:id="rId65"/>
    <p:sldId id="352" r:id="rId66"/>
    <p:sldId id="353" r:id="rId67"/>
    <p:sldId id="354" r:id="rId68"/>
    <p:sldId id="311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F85356-DCD1-4CEB-B6C7-3CBC161B357F}" type="doc">
      <dgm:prSet loTypeId="urn:microsoft.com/office/officeart/2005/8/layout/hList3" loCatId="list" qsTypeId="urn:microsoft.com/office/officeart/2005/8/quickstyle/3d2#2" qsCatId="3D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489311D5-5F5A-4CB4-9837-D47D76DBE45B}">
      <dgm:prSet phldrT="[Texte]"/>
      <dgm:spPr/>
      <dgm:t>
        <a:bodyPr/>
        <a:lstStyle/>
        <a:p>
          <a:r>
            <a:rPr lang="fr-FR" dirty="0" smtClean="0"/>
            <a:t>Ministre </a:t>
          </a:r>
          <a:endParaRPr lang="fr-FR" dirty="0"/>
        </a:p>
      </dgm:t>
    </dgm:pt>
    <dgm:pt modelId="{02B999DA-7CA8-46BF-A0B6-B2E91D556632}" type="parTrans" cxnId="{79F5953B-D207-488C-8BF6-036A3961CAC3}">
      <dgm:prSet/>
      <dgm:spPr/>
      <dgm:t>
        <a:bodyPr/>
        <a:lstStyle/>
        <a:p>
          <a:endParaRPr lang="fr-FR"/>
        </a:p>
      </dgm:t>
    </dgm:pt>
    <dgm:pt modelId="{E8526277-A1FF-4E47-9FE4-45ED0ECAAAD3}" type="sibTrans" cxnId="{79F5953B-D207-488C-8BF6-036A3961CAC3}">
      <dgm:prSet/>
      <dgm:spPr/>
      <dgm:t>
        <a:bodyPr/>
        <a:lstStyle/>
        <a:p>
          <a:endParaRPr lang="fr-FR"/>
        </a:p>
      </dgm:t>
    </dgm:pt>
    <dgm:pt modelId="{54C38A41-F797-4E6F-90F2-66D33854BAD2}">
      <dgm:prSet phldrT="[Texte]" custT="1"/>
      <dgm:spPr/>
      <dgm:t>
        <a:bodyPr/>
        <a:lstStyle/>
        <a:p>
          <a:r>
            <a:rPr lang="fr-FR" sz="1800" b="0" dirty="0" smtClean="0">
              <a:latin typeface="Century Schoolbook" pitchFamily="18" charset="0"/>
            </a:rPr>
            <a:t>Secrétaire général</a:t>
          </a:r>
        </a:p>
        <a:p>
          <a:r>
            <a:rPr lang="fr-FR" sz="1800" b="0" dirty="0" smtClean="0">
              <a:latin typeface="Century Schoolbook" pitchFamily="18" charset="0"/>
            </a:rPr>
            <a:t>(2) directeurs d’études</a:t>
          </a:r>
          <a:endParaRPr lang="fr-FR" sz="1800" b="0" dirty="0">
            <a:latin typeface="Century Schoolbook" pitchFamily="18" charset="0"/>
          </a:endParaRPr>
        </a:p>
      </dgm:t>
    </dgm:pt>
    <dgm:pt modelId="{3F8B1EBB-231F-447C-9955-BA992672B418}" type="parTrans" cxnId="{F1CCBBED-82E0-4F0E-B6DB-E3E6C286F748}">
      <dgm:prSet/>
      <dgm:spPr/>
      <dgm:t>
        <a:bodyPr/>
        <a:lstStyle/>
        <a:p>
          <a:endParaRPr lang="fr-FR"/>
        </a:p>
      </dgm:t>
    </dgm:pt>
    <dgm:pt modelId="{0D06A294-46ED-4CB0-91FF-4E99E5D711E7}" type="sibTrans" cxnId="{F1CCBBED-82E0-4F0E-B6DB-E3E6C286F748}">
      <dgm:prSet/>
      <dgm:spPr/>
      <dgm:t>
        <a:bodyPr/>
        <a:lstStyle/>
        <a:p>
          <a:endParaRPr lang="fr-FR"/>
        </a:p>
      </dgm:t>
    </dgm:pt>
    <dgm:pt modelId="{9144874E-9A6A-4D5A-821D-294475AFC5E1}">
      <dgm:prSet phldrT="[Texte]" custT="1"/>
      <dgm:spPr/>
      <dgm:t>
        <a:bodyPr/>
        <a:lstStyle/>
        <a:p>
          <a:r>
            <a:rPr lang="fr-FR" sz="1800" b="1" dirty="0" smtClean="0">
              <a:latin typeface="Century Schoolbook" pitchFamily="18" charset="0"/>
            </a:rPr>
            <a:t>Chef de cabinet</a:t>
          </a:r>
        </a:p>
        <a:p>
          <a:r>
            <a:rPr lang="fr-FR" sz="1800" b="1" dirty="0" smtClean="0">
              <a:latin typeface="Century Schoolbook" pitchFamily="18" charset="0"/>
            </a:rPr>
            <a:t>(8) chargés d’études</a:t>
          </a:r>
        </a:p>
        <a:p>
          <a:r>
            <a:rPr lang="fr-FR" sz="1800" b="1" dirty="0" smtClean="0">
              <a:latin typeface="Century Schoolbook" pitchFamily="18" charset="0"/>
            </a:rPr>
            <a:t>et de synthèse</a:t>
          </a:r>
          <a:endParaRPr lang="fr-FR" sz="1800" b="1" dirty="0">
            <a:latin typeface="Century Schoolbook" pitchFamily="18" charset="0"/>
          </a:endParaRPr>
        </a:p>
      </dgm:t>
    </dgm:pt>
    <dgm:pt modelId="{1CB29CDD-389E-48D7-91AB-49FBAA1A6F85}" type="parTrans" cxnId="{527858F9-69D7-4E0B-9D02-00E6E302953E}">
      <dgm:prSet/>
      <dgm:spPr/>
      <dgm:t>
        <a:bodyPr/>
        <a:lstStyle/>
        <a:p>
          <a:endParaRPr lang="fr-FR"/>
        </a:p>
      </dgm:t>
    </dgm:pt>
    <dgm:pt modelId="{BC9103F2-E5EC-47A3-93E2-3046896C44B3}" type="sibTrans" cxnId="{527858F9-69D7-4E0B-9D02-00E6E302953E}">
      <dgm:prSet/>
      <dgm:spPr/>
      <dgm:t>
        <a:bodyPr/>
        <a:lstStyle/>
        <a:p>
          <a:endParaRPr lang="fr-FR"/>
        </a:p>
      </dgm:t>
    </dgm:pt>
    <dgm:pt modelId="{FD725482-CE95-4300-9A23-7331EF0A1935}">
      <dgm:prSet custT="1"/>
      <dgm:spPr/>
      <dgm:t>
        <a:bodyPr/>
        <a:lstStyle/>
        <a:p>
          <a:r>
            <a:rPr lang="fr-FR" sz="1800" b="1" dirty="0" smtClean="0">
              <a:latin typeface="Century Schoolbook" pitchFamily="18" charset="0"/>
            </a:rPr>
            <a:t>Les directions générales</a:t>
          </a:r>
        </a:p>
        <a:p>
          <a:r>
            <a:rPr lang="fr-FR" sz="1800" b="1" dirty="0" smtClean="0">
              <a:latin typeface="Century Schoolbook" pitchFamily="18" charset="0"/>
            </a:rPr>
            <a:t>(10  DG)</a:t>
          </a:r>
          <a:endParaRPr lang="fr-FR" sz="1800" b="1" dirty="0">
            <a:latin typeface="Century Schoolbook" pitchFamily="18" charset="0"/>
          </a:endParaRPr>
        </a:p>
      </dgm:t>
    </dgm:pt>
    <dgm:pt modelId="{91C1D697-2B57-4409-82D5-7F14CAB92E73}" type="parTrans" cxnId="{83F9C167-BF08-4286-A94F-700671806F5F}">
      <dgm:prSet/>
      <dgm:spPr/>
    </dgm:pt>
    <dgm:pt modelId="{3FE27B72-7023-4B02-8647-3E0F7B888523}" type="sibTrans" cxnId="{83F9C167-BF08-4286-A94F-700671806F5F}">
      <dgm:prSet/>
      <dgm:spPr/>
    </dgm:pt>
    <dgm:pt modelId="{8071F036-C3E2-4EF3-8AF1-0E69761ABC63}">
      <dgm:prSet custT="1"/>
      <dgm:spPr/>
      <dgm:t>
        <a:bodyPr/>
        <a:lstStyle/>
        <a:p>
          <a:r>
            <a:rPr lang="fr-FR" sz="2900" dirty="0" smtClean="0"/>
            <a:t> </a:t>
          </a:r>
          <a:r>
            <a:rPr lang="fr-FR" sz="1800" b="1" dirty="0" smtClean="0">
              <a:latin typeface="Century Schoolbook" pitchFamily="18" charset="0"/>
            </a:rPr>
            <a:t>L’inspection</a:t>
          </a:r>
          <a:r>
            <a:rPr lang="fr-FR" sz="1800" dirty="0" smtClean="0">
              <a:latin typeface="Century Schoolbook" pitchFamily="18" charset="0"/>
            </a:rPr>
            <a:t> </a:t>
          </a:r>
          <a:r>
            <a:rPr lang="fr-FR" sz="1800" b="1" dirty="0" smtClean="0">
              <a:latin typeface="Century Schoolbook" pitchFamily="18" charset="0"/>
            </a:rPr>
            <a:t>générale</a:t>
          </a:r>
          <a:endParaRPr lang="fr-FR" sz="1800" b="1" dirty="0">
            <a:latin typeface="Century Schoolbook" pitchFamily="18" charset="0"/>
          </a:endParaRPr>
        </a:p>
      </dgm:t>
    </dgm:pt>
    <dgm:pt modelId="{41DCB718-F0B9-43A7-8DC9-586F2F3F023D}" type="parTrans" cxnId="{82244CA1-D847-4FED-B5F1-13ED532F3048}">
      <dgm:prSet/>
      <dgm:spPr/>
      <dgm:t>
        <a:bodyPr/>
        <a:lstStyle/>
        <a:p>
          <a:endParaRPr lang="fr-FR"/>
        </a:p>
      </dgm:t>
    </dgm:pt>
    <dgm:pt modelId="{609E92EE-6F94-4CB3-AB57-335487B21B3F}" type="sibTrans" cxnId="{82244CA1-D847-4FED-B5F1-13ED532F3048}">
      <dgm:prSet/>
      <dgm:spPr/>
      <dgm:t>
        <a:bodyPr/>
        <a:lstStyle/>
        <a:p>
          <a:endParaRPr lang="fr-FR"/>
        </a:p>
      </dgm:t>
    </dgm:pt>
    <dgm:pt modelId="{80EC81EA-3387-437B-A2C2-5FAA3AB8F281}" type="pres">
      <dgm:prSet presAssocID="{85F85356-DCD1-4CEB-B6C7-3CBC161B357F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E688349A-17D7-4895-930C-7544FC5C0D92}" type="pres">
      <dgm:prSet presAssocID="{489311D5-5F5A-4CB4-9837-D47D76DBE45B}" presName="roof" presStyleLbl="dkBgShp" presStyleIdx="0" presStyleCnt="2" custLinFactNeighborX="-348" custLinFactNeighborY="3156"/>
      <dgm:spPr/>
      <dgm:t>
        <a:bodyPr/>
        <a:lstStyle/>
        <a:p>
          <a:endParaRPr lang="fr-FR"/>
        </a:p>
      </dgm:t>
    </dgm:pt>
    <dgm:pt modelId="{31B46D83-CEBE-4C87-875E-125A17E9F74C}" type="pres">
      <dgm:prSet presAssocID="{489311D5-5F5A-4CB4-9837-D47D76DBE45B}" presName="pillars" presStyleCnt="0"/>
      <dgm:spPr/>
    </dgm:pt>
    <dgm:pt modelId="{F2280AF9-B1B3-4A4F-B38F-7B5AE261B545}" type="pres">
      <dgm:prSet presAssocID="{489311D5-5F5A-4CB4-9837-D47D76DBE45B}" presName="pillar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9EEC428-7864-4679-AB0F-50AA60573B56}" type="pres">
      <dgm:prSet presAssocID="{9144874E-9A6A-4D5A-821D-294475AFC5E1}" presName="pillarX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D126E2D-9883-41F8-924C-76CBD3212E12}" type="pres">
      <dgm:prSet presAssocID="{8071F036-C3E2-4EF3-8AF1-0E69761ABC63}" presName="pillarX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3EED781-C312-478F-862D-548F59584A92}" type="pres">
      <dgm:prSet presAssocID="{FD725482-CE95-4300-9A23-7331EF0A1935}" presName="pillarX" presStyleLbl="node1" presStyleIdx="3" presStyleCnt="4" custLinFactNeighborX="695" custLinFactNeighborY="-352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8D039EE-B1EB-4B60-9743-93D9C21A402C}" type="pres">
      <dgm:prSet presAssocID="{489311D5-5F5A-4CB4-9837-D47D76DBE45B}" presName="base" presStyleLbl="dkBgShp" presStyleIdx="1" presStyleCnt="2"/>
      <dgm:spPr/>
    </dgm:pt>
  </dgm:ptLst>
  <dgm:cxnLst>
    <dgm:cxn modelId="{F1CCBBED-82E0-4F0E-B6DB-E3E6C286F748}" srcId="{489311D5-5F5A-4CB4-9837-D47D76DBE45B}" destId="{54C38A41-F797-4E6F-90F2-66D33854BAD2}" srcOrd="0" destOrd="0" parTransId="{3F8B1EBB-231F-447C-9955-BA992672B418}" sibTransId="{0D06A294-46ED-4CB0-91FF-4E99E5D711E7}"/>
    <dgm:cxn modelId="{79F5953B-D207-488C-8BF6-036A3961CAC3}" srcId="{85F85356-DCD1-4CEB-B6C7-3CBC161B357F}" destId="{489311D5-5F5A-4CB4-9837-D47D76DBE45B}" srcOrd="0" destOrd="0" parTransId="{02B999DA-7CA8-46BF-A0B6-B2E91D556632}" sibTransId="{E8526277-A1FF-4E47-9FE4-45ED0ECAAAD3}"/>
    <dgm:cxn modelId="{C2AD9966-F134-40B3-B1A2-77D7F4E873EA}" type="presOf" srcId="{9144874E-9A6A-4D5A-821D-294475AFC5E1}" destId="{99EEC428-7864-4679-AB0F-50AA60573B56}" srcOrd="0" destOrd="0" presId="urn:microsoft.com/office/officeart/2005/8/layout/hList3"/>
    <dgm:cxn modelId="{0CCBF884-7CCD-4436-892F-039E66AD1E96}" type="presOf" srcId="{489311D5-5F5A-4CB4-9837-D47D76DBE45B}" destId="{E688349A-17D7-4895-930C-7544FC5C0D92}" srcOrd="0" destOrd="0" presId="urn:microsoft.com/office/officeart/2005/8/layout/hList3"/>
    <dgm:cxn modelId="{82244CA1-D847-4FED-B5F1-13ED532F3048}" srcId="{489311D5-5F5A-4CB4-9837-D47D76DBE45B}" destId="{8071F036-C3E2-4EF3-8AF1-0E69761ABC63}" srcOrd="2" destOrd="0" parTransId="{41DCB718-F0B9-43A7-8DC9-586F2F3F023D}" sibTransId="{609E92EE-6F94-4CB3-AB57-335487B21B3F}"/>
    <dgm:cxn modelId="{00E34871-73A1-4385-9863-1CB7DA364300}" type="presOf" srcId="{FD725482-CE95-4300-9A23-7331EF0A1935}" destId="{53EED781-C312-478F-862D-548F59584A92}" srcOrd="0" destOrd="0" presId="urn:microsoft.com/office/officeart/2005/8/layout/hList3"/>
    <dgm:cxn modelId="{83F9C167-BF08-4286-A94F-700671806F5F}" srcId="{489311D5-5F5A-4CB4-9837-D47D76DBE45B}" destId="{FD725482-CE95-4300-9A23-7331EF0A1935}" srcOrd="3" destOrd="0" parTransId="{91C1D697-2B57-4409-82D5-7F14CAB92E73}" sibTransId="{3FE27B72-7023-4B02-8647-3E0F7B888523}"/>
    <dgm:cxn modelId="{527858F9-69D7-4E0B-9D02-00E6E302953E}" srcId="{489311D5-5F5A-4CB4-9837-D47D76DBE45B}" destId="{9144874E-9A6A-4D5A-821D-294475AFC5E1}" srcOrd="1" destOrd="0" parTransId="{1CB29CDD-389E-48D7-91AB-49FBAA1A6F85}" sibTransId="{BC9103F2-E5EC-47A3-93E2-3046896C44B3}"/>
    <dgm:cxn modelId="{B6B4F46F-16F2-4C1A-9730-A3AC192E48A9}" type="presOf" srcId="{54C38A41-F797-4E6F-90F2-66D33854BAD2}" destId="{F2280AF9-B1B3-4A4F-B38F-7B5AE261B545}" srcOrd="0" destOrd="0" presId="urn:microsoft.com/office/officeart/2005/8/layout/hList3"/>
    <dgm:cxn modelId="{6BD13227-CA74-422D-BB85-4813CB19AC03}" type="presOf" srcId="{8071F036-C3E2-4EF3-8AF1-0E69761ABC63}" destId="{ED126E2D-9883-41F8-924C-76CBD3212E12}" srcOrd="0" destOrd="0" presId="urn:microsoft.com/office/officeart/2005/8/layout/hList3"/>
    <dgm:cxn modelId="{9A8546CA-467C-4C54-AC84-683384B99C10}" type="presOf" srcId="{85F85356-DCD1-4CEB-B6C7-3CBC161B357F}" destId="{80EC81EA-3387-437B-A2C2-5FAA3AB8F281}" srcOrd="0" destOrd="0" presId="urn:microsoft.com/office/officeart/2005/8/layout/hList3"/>
    <dgm:cxn modelId="{EF7FA80D-FF6E-4220-A108-1A7A8918E8DF}" type="presParOf" srcId="{80EC81EA-3387-437B-A2C2-5FAA3AB8F281}" destId="{E688349A-17D7-4895-930C-7544FC5C0D92}" srcOrd="0" destOrd="0" presId="urn:microsoft.com/office/officeart/2005/8/layout/hList3"/>
    <dgm:cxn modelId="{DF6474A9-5DC1-4E1E-AE37-448C4EF3FE65}" type="presParOf" srcId="{80EC81EA-3387-437B-A2C2-5FAA3AB8F281}" destId="{31B46D83-CEBE-4C87-875E-125A17E9F74C}" srcOrd="1" destOrd="0" presId="urn:microsoft.com/office/officeart/2005/8/layout/hList3"/>
    <dgm:cxn modelId="{F5D89FD9-BB4F-4A9D-842A-7BC30667268C}" type="presParOf" srcId="{31B46D83-CEBE-4C87-875E-125A17E9F74C}" destId="{F2280AF9-B1B3-4A4F-B38F-7B5AE261B545}" srcOrd="0" destOrd="0" presId="urn:microsoft.com/office/officeart/2005/8/layout/hList3"/>
    <dgm:cxn modelId="{E0491C75-BAE1-4D61-8BB1-449D8F7FB337}" type="presParOf" srcId="{31B46D83-CEBE-4C87-875E-125A17E9F74C}" destId="{99EEC428-7864-4679-AB0F-50AA60573B56}" srcOrd="1" destOrd="0" presId="urn:microsoft.com/office/officeart/2005/8/layout/hList3"/>
    <dgm:cxn modelId="{BADE4B45-1C20-4D29-A4FF-0AD298108BF6}" type="presParOf" srcId="{31B46D83-CEBE-4C87-875E-125A17E9F74C}" destId="{ED126E2D-9883-41F8-924C-76CBD3212E12}" srcOrd="2" destOrd="0" presId="urn:microsoft.com/office/officeart/2005/8/layout/hList3"/>
    <dgm:cxn modelId="{1B891D98-BA26-45C3-B24A-001AA052B526}" type="presParOf" srcId="{31B46D83-CEBE-4C87-875E-125A17E9F74C}" destId="{53EED781-C312-478F-862D-548F59584A92}" srcOrd="3" destOrd="0" presId="urn:microsoft.com/office/officeart/2005/8/layout/hList3"/>
    <dgm:cxn modelId="{7FE3D1A3-22AB-43CD-A1AF-1439DE71574D}" type="presParOf" srcId="{80EC81EA-3387-437B-A2C2-5FAA3AB8F281}" destId="{28D039EE-B1EB-4B60-9743-93D9C21A402C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7BD0794-1B7D-4E00-ADBB-BC100D42BBFD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AE2EA3C0-963A-46D4-BB63-B81B9B630E43}">
      <dgm:prSet phldrT="[Texte]"/>
      <dgm:spPr/>
      <dgm:t>
        <a:bodyPr/>
        <a:lstStyle/>
        <a:p>
          <a:r>
            <a:rPr lang="fr-FR" dirty="0" smtClean="0"/>
            <a:t>La DG de la pharmacie et des</a:t>
          </a:r>
        </a:p>
        <a:p>
          <a:r>
            <a:rPr lang="fr-FR" dirty="0" smtClean="0"/>
            <a:t>équipements de santé</a:t>
          </a:r>
          <a:endParaRPr lang="fr-FR" dirty="0"/>
        </a:p>
      </dgm:t>
    </dgm:pt>
    <dgm:pt modelId="{9D0C2B87-82C6-445F-A3A5-1C25BEA1D79D}" type="parTrans" cxnId="{0B6869A4-2088-44E0-BDF4-788F7C468AA1}">
      <dgm:prSet/>
      <dgm:spPr/>
      <dgm:t>
        <a:bodyPr/>
        <a:lstStyle/>
        <a:p>
          <a:endParaRPr lang="fr-FR"/>
        </a:p>
      </dgm:t>
    </dgm:pt>
    <dgm:pt modelId="{2418D0F5-BBC2-4CA9-847C-10CF2B927474}" type="sibTrans" cxnId="{0B6869A4-2088-44E0-BDF4-788F7C468AA1}">
      <dgm:prSet/>
      <dgm:spPr/>
      <dgm:t>
        <a:bodyPr/>
        <a:lstStyle/>
        <a:p>
          <a:endParaRPr lang="fr-FR"/>
        </a:p>
      </dgm:t>
    </dgm:pt>
    <dgm:pt modelId="{0C83EDAE-9FD2-44CA-85F4-8279DF458571}">
      <dgm:prSet/>
      <dgm:spPr/>
      <dgm:t>
        <a:bodyPr/>
        <a:lstStyle/>
        <a:p>
          <a:r>
            <a:rPr lang="fr-FR" dirty="0" smtClean="0"/>
            <a:t> la DG de la prévention et de la promotion de la santé</a:t>
          </a:r>
          <a:endParaRPr lang="fr-FR" dirty="0"/>
        </a:p>
      </dgm:t>
    </dgm:pt>
    <dgm:pt modelId="{82F196D8-C2E6-45A5-BCBC-9CAA3AF35B79}" type="parTrans" cxnId="{988AB068-FBAD-4C09-9EE2-8C41C7CE41D3}">
      <dgm:prSet/>
      <dgm:spPr/>
      <dgm:t>
        <a:bodyPr/>
        <a:lstStyle/>
        <a:p>
          <a:endParaRPr lang="fr-FR"/>
        </a:p>
      </dgm:t>
    </dgm:pt>
    <dgm:pt modelId="{E9B3F2D0-7238-456E-AEF7-AEDC815AAB8D}" type="sibTrans" cxnId="{988AB068-FBAD-4C09-9EE2-8C41C7CE41D3}">
      <dgm:prSet/>
      <dgm:spPr/>
      <dgm:t>
        <a:bodyPr/>
        <a:lstStyle/>
        <a:p>
          <a:endParaRPr lang="fr-FR"/>
        </a:p>
      </dgm:t>
    </dgm:pt>
    <dgm:pt modelId="{89D20235-B3E4-4B0D-A802-0B31D3BA757F}">
      <dgm:prSet/>
      <dgm:spPr/>
      <dgm:t>
        <a:bodyPr/>
        <a:lstStyle/>
        <a:p>
          <a:r>
            <a:rPr lang="fr-FR" dirty="0" smtClean="0"/>
            <a:t>La DG des services de la santé et de la</a:t>
          </a:r>
        </a:p>
        <a:p>
          <a:r>
            <a:rPr lang="fr-FR" dirty="0" smtClean="0"/>
            <a:t>réforme hospitalière,</a:t>
          </a:r>
          <a:endParaRPr lang="fr-FR" dirty="0"/>
        </a:p>
      </dgm:t>
    </dgm:pt>
    <dgm:pt modelId="{4ECEF203-49B4-43ED-8CC7-B4807C9D81E0}" type="parTrans" cxnId="{A6B90C40-8DC5-488C-924B-E935B05931E1}">
      <dgm:prSet/>
      <dgm:spPr/>
      <dgm:t>
        <a:bodyPr/>
        <a:lstStyle/>
        <a:p>
          <a:endParaRPr lang="fr-FR"/>
        </a:p>
      </dgm:t>
    </dgm:pt>
    <dgm:pt modelId="{6C12C922-C6A1-4F4E-8912-6F2875BA1AD4}" type="sibTrans" cxnId="{A6B90C40-8DC5-488C-924B-E935B05931E1}">
      <dgm:prSet/>
      <dgm:spPr/>
      <dgm:t>
        <a:bodyPr/>
        <a:lstStyle/>
        <a:p>
          <a:endParaRPr lang="fr-FR"/>
        </a:p>
      </dgm:t>
    </dgm:pt>
    <dgm:pt modelId="{B3D70D20-FC9B-45FF-83DA-8A24E9C3CD83}">
      <dgm:prSet/>
      <dgm:spPr/>
      <dgm:t>
        <a:bodyPr/>
        <a:lstStyle/>
        <a:p>
          <a:r>
            <a:rPr lang="fr-FR" dirty="0" smtClean="0"/>
            <a:t>la DG de la population,</a:t>
          </a:r>
          <a:endParaRPr lang="fr-FR" dirty="0"/>
        </a:p>
      </dgm:t>
    </dgm:pt>
    <dgm:pt modelId="{3CB03A57-C0C1-480C-ADEF-7836FB67A6BF}" type="parTrans" cxnId="{C3EA383D-F471-4F9F-9056-DA36EA99A611}">
      <dgm:prSet/>
      <dgm:spPr/>
      <dgm:t>
        <a:bodyPr/>
        <a:lstStyle/>
        <a:p>
          <a:endParaRPr lang="fr-FR"/>
        </a:p>
      </dgm:t>
    </dgm:pt>
    <dgm:pt modelId="{12D58BAA-0B29-40C7-96D5-34F7360799D4}" type="sibTrans" cxnId="{C3EA383D-F471-4F9F-9056-DA36EA99A611}">
      <dgm:prSet/>
      <dgm:spPr/>
      <dgm:t>
        <a:bodyPr/>
        <a:lstStyle/>
        <a:p>
          <a:endParaRPr lang="fr-FR"/>
        </a:p>
      </dgm:t>
    </dgm:pt>
    <dgm:pt modelId="{02BF791E-3158-46E4-B2D8-1497CA495133}">
      <dgm:prSet/>
      <dgm:spPr/>
      <dgm:t>
        <a:bodyPr/>
        <a:lstStyle/>
        <a:p>
          <a:r>
            <a:rPr lang="fr-FR" dirty="0" smtClean="0"/>
            <a:t>la DG des études et de la planification</a:t>
          </a:r>
          <a:endParaRPr lang="fr-FR" dirty="0"/>
        </a:p>
      </dgm:t>
    </dgm:pt>
    <dgm:pt modelId="{7FEF3480-4DCD-4F3E-82BF-D7A4B55C2BAC}" type="parTrans" cxnId="{9094DF83-4266-4654-A093-8E9829BF49E9}">
      <dgm:prSet/>
      <dgm:spPr/>
      <dgm:t>
        <a:bodyPr/>
        <a:lstStyle/>
        <a:p>
          <a:endParaRPr lang="fr-FR"/>
        </a:p>
      </dgm:t>
    </dgm:pt>
    <dgm:pt modelId="{BE1EDA2F-2DAC-454C-BA1B-CB8AE1BBEEC7}" type="sibTrans" cxnId="{9094DF83-4266-4654-A093-8E9829BF49E9}">
      <dgm:prSet/>
      <dgm:spPr/>
      <dgm:t>
        <a:bodyPr/>
        <a:lstStyle/>
        <a:p>
          <a:endParaRPr lang="fr-FR"/>
        </a:p>
      </dgm:t>
    </dgm:pt>
    <dgm:pt modelId="{2600B223-7CC8-4B8D-8A1C-72B23DF0561A}" type="pres">
      <dgm:prSet presAssocID="{07BD0794-1B7D-4E00-ADBB-BC100D42BBFD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072D25E0-D39B-4F55-A2DC-7D337188E3C7}" type="pres">
      <dgm:prSet presAssocID="{0C83EDAE-9FD2-44CA-85F4-8279DF458571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C3AC110-DD03-44F4-94B8-ED67180678DB}" type="pres">
      <dgm:prSet presAssocID="{E9B3F2D0-7238-456E-AEF7-AEDC815AAB8D}" presName="sibTrans" presStyleCnt="0"/>
      <dgm:spPr/>
    </dgm:pt>
    <dgm:pt modelId="{11974F32-4BD4-4843-9F2F-437F62D29045}" type="pres">
      <dgm:prSet presAssocID="{89D20235-B3E4-4B0D-A802-0B31D3BA757F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0FDCA3E-9D63-420C-A526-72DAFC437EA7}" type="pres">
      <dgm:prSet presAssocID="{6C12C922-C6A1-4F4E-8912-6F2875BA1AD4}" presName="sibTrans" presStyleCnt="0"/>
      <dgm:spPr/>
    </dgm:pt>
    <dgm:pt modelId="{9C6E58CA-9B19-4683-9B3F-E924A3736A2F}" type="pres">
      <dgm:prSet presAssocID="{AE2EA3C0-963A-46D4-BB63-B81B9B630E43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70DF8CF-943A-42DC-82B5-D5F9AC7A3E14}" type="pres">
      <dgm:prSet presAssocID="{2418D0F5-BBC2-4CA9-847C-10CF2B927474}" presName="sibTrans" presStyleCnt="0"/>
      <dgm:spPr/>
    </dgm:pt>
    <dgm:pt modelId="{10511C55-22CC-46BE-BA3E-52E24201AD41}" type="pres">
      <dgm:prSet presAssocID="{B3D70D20-FC9B-45FF-83DA-8A24E9C3CD83}" presName="node" presStyleLbl="node1" presStyleIdx="3" presStyleCnt="5" custLinFactNeighborX="-15601" custLinFactNeighborY="947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884B2F6-3521-47CB-BA1C-EF30495A376E}" type="pres">
      <dgm:prSet presAssocID="{12D58BAA-0B29-40C7-96D5-34F7360799D4}" presName="sibTrans" presStyleCnt="0"/>
      <dgm:spPr/>
    </dgm:pt>
    <dgm:pt modelId="{AF61DA74-699B-4096-99F0-4A6C127C53EF}" type="pres">
      <dgm:prSet presAssocID="{02BF791E-3158-46E4-B2D8-1497CA495133}" presName="node" presStyleLbl="node1" presStyleIdx="4" presStyleCnt="5" custLinFactNeighborX="10725" custLinFactNeighborY="-632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A6B90C40-8DC5-488C-924B-E935B05931E1}" srcId="{07BD0794-1B7D-4E00-ADBB-BC100D42BBFD}" destId="{89D20235-B3E4-4B0D-A802-0B31D3BA757F}" srcOrd="1" destOrd="0" parTransId="{4ECEF203-49B4-43ED-8CC7-B4807C9D81E0}" sibTransId="{6C12C922-C6A1-4F4E-8912-6F2875BA1AD4}"/>
    <dgm:cxn modelId="{C3EA383D-F471-4F9F-9056-DA36EA99A611}" srcId="{07BD0794-1B7D-4E00-ADBB-BC100D42BBFD}" destId="{B3D70D20-FC9B-45FF-83DA-8A24E9C3CD83}" srcOrd="3" destOrd="0" parTransId="{3CB03A57-C0C1-480C-ADEF-7836FB67A6BF}" sibTransId="{12D58BAA-0B29-40C7-96D5-34F7360799D4}"/>
    <dgm:cxn modelId="{18E010C9-4F13-43C6-874D-6EF1444513E2}" type="presOf" srcId="{AE2EA3C0-963A-46D4-BB63-B81B9B630E43}" destId="{9C6E58CA-9B19-4683-9B3F-E924A3736A2F}" srcOrd="0" destOrd="0" presId="urn:microsoft.com/office/officeart/2005/8/layout/hList6"/>
    <dgm:cxn modelId="{5B28615A-8C5E-41ED-BCC9-96D370ACD73E}" type="presOf" srcId="{89D20235-B3E4-4B0D-A802-0B31D3BA757F}" destId="{11974F32-4BD4-4843-9F2F-437F62D29045}" srcOrd="0" destOrd="0" presId="urn:microsoft.com/office/officeart/2005/8/layout/hList6"/>
    <dgm:cxn modelId="{48F1EFF1-6386-4303-9C12-ECF8DECE51C4}" type="presOf" srcId="{02BF791E-3158-46E4-B2D8-1497CA495133}" destId="{AF61DA74-699B-4096-99F0-4A6C127C53EF}" srcOrd="0" destOrd="0" presId="urn:microsoft.com/office/officeart/2005/8/layout/hList6"/>
    <dgm:cxn modelId="{0B6869A4-2088-44E0-BDF4-788F7C468AA1}" srcId="{07BD0794-1B7D-4E00-ADBB-BC100D42BBFD}" destId="{AE2EA3C0-963A-46D4-BB63-B81B9B630E43}" srcOrd="2" destOrd="0" parTransId="{9D0C2B87-82C6-445F-A3A5-1C25BEA1D79D}" sibTransId="{2418D0F5-BBC2-4CA9-847C-10CF2B927474}"/>
    <dgm:cxn modelId="{9094DF83-4266-4654-A093-8E9829BF49E9}" srcId="{07BD0794-1B7D-4E00-ADBB-BC100D42BBFD}" destId="{02BF791E-3158-46E4-B2D8-1497CA495133}" srcOrd="4" destOrd="0" parTransId="{7FEF3480-4DCD-4F3E-82BF-D7A4B55C2BAC}" sibTransId="{BE1EDA2F-2DAC-454C-BA1B-CB8AE1BBEEC7}"/>
    <dgm:cxn modelId="{988AB068-FBAD-4C09-9EE2-8C41C7CE41D3}" srcId="{07BD0794-1B7D-4E00-ADBB-BC100D42BBFD}" destId="{0C83EDAE-9FD2-44CA-85F4-8279DF458571}" srcOrd="0" destOrd="0" parTransId="{82F196D8-C2E6-45A5-BCBC-9CAA3AF35B79}" sibTransId="{E9B3F2D0-7238-456E-AEF7-AEDC815AAB8D}"/>
    <dgm:cxn modelId="{6BE0C4D6-D473-4AD6-AD0D-21505045A46B}" type="presOf" srcId="{0C83EDAE-9FD2-44CA-85F4-8279DF458571}" destId="{072D25E0-D39B-4F55-A2DC-7D337188E3C7}" srcOrd="0" destOrd="0" presId="urn:microsoft.com/office/officeart/2005/8/layout/hList6"/>
    <dgm:cxn modelId="{5F2D8441-3258-48C0-87A1-037DB6AD20DA}" type="presOf" srcId="{B3D70D20-FC9B-45FF-83DA-8A24E9C3CD83}" destId="{10511C55-22CC-46BE-BA3E-52E24201AD41}" srcOrd="0" destOrd="0" presId="urn:microsoft.com/office/officeart/2005/8/layout/hList6"/>
    <dgm:cxn modelId="{1DEB86C9-579A-44C6-914A-8839AAD80201}" type="presOf" srcId="{07BD0794-1B7D-4E00-ADBB-BC100D42BBFD}" destId="{2600B223-7CC8-4B8D-8A1C-72B23DF0561A}" srcOrd="0" destOrd="0" presId="urn:microsoft.com/office/officeart/2005/8/layout/hList6"/>
    <dgm:cxn modelId="{0FD31DAA-0FB4-4E33-92B6-2CC96F764625}" type="presParOf" srcId="{2600B223-7CC8-4B8D-8A1C-72B23DF0561A}" destId="{072D25E0-D39B-4F55-A2DC-7D337188E3C7}" srcOrd="0" destOrd="0" presId="urn:microsoft.com/office/officeart/2005/8/layout/hList6"/>
    <dgm:cxn modelId="{2B266585-0E07-43EA-B085-76E8BF487E2E}" type="presParOf" srcId="{2600B223-7CC8-4B8D-8A1C-72B23DF0561A}" destId="{4C3AC110-DD03-44F4-94B8-ED67180678DB}" srcOrd="1" destOrd="0" presId="urn:microsoft.com/office/officeart/2005/8/layout/hList6"/>
    <dgm:cxn modelId="{8F10B565-7E1D-442E-B815-2093875BE08F}" type="presParOf" srcId="{2600B223-7CC8-4B8D-8A1C-72B23DF0561A}" destId="{11974F32-4BD4-4843-9F2F-437F62D29045}" srcOrd="2" destOrd="0" presId="urn:microsoft.com/office/officeart/2005/8/layout/hList6"/>
    <dgm:cxn modelId="{AA9D0641-2A09-4CFE-BD5F-AE34A345C409}" type="presParOf" srcId="{2600B223-7CC8-4B8D-8A1C-72B23DF0561A}" destId="{90FDCA3E-9D63-420C-A526-72DAFC437EA7}" srcOrd="3" destOrd="0" presId="urn:microsoft.com/office/officeart/2005/8/layout/hList6"/>
    <dgm:cxn modelId="{3899B839-7D03-462F-BBC4-87805C06F803}" type="presParOf" srcId="{2600B223-7CC8-4B8D-8A1C-72B23DF0561A}" destId="{9C6E58CA-9B19-4683-9B3F-E924A3736A2F}" srcOrd="4" destOrd="0" presId="urn:microsoft.com/office/officeart/2005/8/layout/hList6"/>
    <dgm:cxn modelId="{60704044-EF71-4463-B850-388EC5F238FF}" type="presParOf" srcId="{2600B223-7CC8-4B8D-8A1C-72B23DF0561A}" destId="{E70DF8CF-943A-42DC-82B5-D5F9AC7A3E14}" srcOrd="5" destOrd="0" presId="urn:microsoft.com/office/officeart/2005/8/layout/hList6"/>
    <dgm:cxn modelId="{41E00389-FB14-4761-A549-F34ACF16B2D9}" type="presParOf" srcId="{2600B223-7CC8-4B8D-8A1C-72B23DF0561A}" destId="{10511C55-22CC-46BE-BA3E-52E24201AD41}" srcOrd="6" destOrd="0" presId="urn:microsoft.com/office/officeart/2005/8/layout/hList6"/>
    <dgm:cxn modelId="{F4F68E43-AE04-434E-A746-E1DAA2CFD603}" type="presParOf" srcId="{2600B223-7CC8-4B8D-8A1C-72B23DF0561A}" destId="{9884B2F6-3521-47CB-BA1C-EF30495A376E}" srcOrd="7" destOrd="0" presId="urn:microsoft.com/office/officeart/2005/8/layout/hList6"/>
    <dgm:cxn modelId="{B07EC4C6-4ABE-44E5-927E-429057858D35}" type="presParOf" srcId="{2600B223-7CC8-4B8D-8A1C-72B23DF0561A}" destId="{AF61DA74-699B-4096-99F0-4A6C127C53EF}" srcOrd="8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1F50D5-E2A1-43F5-83D2-EBB4B6EEF45F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F406B939-47EC-4981-B97C-0F54555CDCF9}">
      <dgm:prSet/>
      <dgm:spPr/>
      <dgm:t>
        <a:bodyPr/>
        <a:lstStyle/>
        <a:p>
          <a:r>
            <a:rPr lang="fr-FR" dirty="0" smtClean="0"/>
            <a:t>DG de la réglementation, du contentieux et</a:t>
          </a:r>
        </a:p>
        <a:p>
          <a:r>
            <a:rPr lang="fr-FR" dirty="0" smtClean="0"/>
            <a:t>de la coopération</a:t>
          </a:r>
        </a:p>
      </dgm:t>
    </dgm:pt>
    <dgm:pt modelId="{986594D7-0431-416E-87EE-D2DE6F6992F5}" type="parTrans" cxnId="{3AB63792-20B7-45B1-B01B-2C25E9054BF6}">
      <dgm:prSet/>
      <dgm:spPr/>
      <dgm:t>
        <a:bodyPr/>
        <a:lstStyle/>
        <a:p>
          <a:endParaRPr lang="fr-FR"/>
        </a:p>
      </dgm:t>
    </dgm:pt>
    <dgm:pt modelId="{FA4DBA55-CAC3-4394-AD57-72E88B46229B}" type="sibTrans" cxnId="{3AB63792-20B7-45B1-B01B-2C25E9054BF6}">
      <dgm:prSet/>
      <dgm:spPr/>
      <dgm:t>
        <a:bodyPr/>
        <a:lstStyle/>
        <a:p>
          <a:endParaRPr lang="fr-FR"/>
        </a:p>
      </dgm:t>
    </dgm:pt>
    <dgm:pt modelId="{C8B10F51-F43E-4224-9412-C072F25C77F4}">
      <dgm:prSet/>
      <dgm:spPr/>
      <dgm:t>
        <a:bodyPr/>
        <a:lstStyle/>
        <a:p>
          <a:r>
            <a:rPr lang="fr-FR" dirty="0"/>
            <a:t>la </a:t>
          </a:r>
          <a:r>
            <a:rPr lang="fr-FR" dirty="0" smtClean="0"/>
            <a:t>DG des </a:t>
          </a:r>
          <a:r>
            <a:rPr lang="fr-FR" dirty="0"/>
            <a:t>ressources humaines,</a:t>
          </a:r>
        </a:p>
      </dgm:t>
    </dgm:pt>
    <dgm:pt modelId="{EC193E69-82BC-4B3B-8544-05B23DD0F8A6}" type="parTrans" cxnId="{AC493BD3-D990-47EF-BD10-6FD72121F95D}">
      <dgm:prSet/>
      <dgm:spPr/>
      <dgm:t>
        <a:bodyPr/>
        <a:lstStyle/>
        <a:p>
          <a:endParaRPr lang="fr-FR"/>
        </a:p>
      </dgm:t>
    </dgm:pt>
    <dgm:pt modelId="{4D215603-E6CF-4AB9-9454-B646CBAB4B0D}" type="sibTrans" cxnId="{AC493BD3-D990-47EF-BD10-6FD72121F95D}">
      <dgm:prSet/>
      <dgm:spPr/>
      <dgm:t>
        <a:bodyPr/>
        <a:lstStyle/>
        <a:p>
          <a:endParaRPr lang="fr-FR"/>
        </a:p>
      </dgm:t>
    </dgm:pt>
    <dgm:pt modelId="{A47E0359-1AE8-4CDA-BEAD-A4A6C1004256}">
      <dgm:prSet/>
      <dgm:spPr/>
      <dgm:t>
        <a:bodyPr/>
        <a:lstStyle/>
        <a:p>
          <a:r>
            <a:rPr lang="fr-FR" dirty="0" smtClean="0"/>
            <a:t>la DG de la formation,</a:t>
          </a:r>
          <a:endParaRPr lang="fr-FR" dirty="0"/>
        </a:p>
      </dgm:t>
    </dgm:pt>
    <dgm:pt modelId="{1514D759-26E0-4591-B4FC-2CDA2C4565CB}" type="parTrans" cxnId="{F7B34BC0-52B1-4CD6-8F48-B4F5FB3C269B}">
      <dgm:prSet/>
      <dgm:spPr/>
      <dgm:t>
        <a:bodyPr/>
        <a:lstStyle/>
        <a:p>
          <a:endParaRPr lang="fr-FR"/>
        </a:p>
      </dgm:t>
    </dgm:pt>
    <dgm:pt modelId="{7F293B06-3D71-4F60-AF5B-D3E84BBA4A99}" type="sibTrans" cxnId="{F7B34BC0-52B1-4CD6-8F48-B4F5FB3C269B}">
      <dgm:prSet/>
      <dgm:spPr/>
      <dgm:t>
        <a:bodyPr/>
        <a:lstStyle/>
        <a:p>
          <a:endParaRPr lang="fr-FR"/>
        </a:p>
      </dgm:t>
    </dgm:pt>
    <dgm:pt modelId="{D74AAA0C-D990-4EBD-804A-598AF855795F}">
      <dgm:prSet/>
      <dgm:spPr/>
      <dgm:t>
        <a:bodyPr/>
        <a:lstStyle/>
        <a:p>
          <a:r>
            <a:rPr lang="fr-FR" dirty="0" smtClean="0"/>
            <a:t> la DG des finances et des moyens,</a:t>
          </a:r>
          <a:endParaRPr lang="fr-FR" dirty="0"/>
        </a:p>
      </dgm:t>
    </dgm:pt>
    <dgm:pt modelId="{C02E3F10-B501-4CFF-8D44-17A7499BADB9}" type="parTrans" cxnId="{D21220D3-E8B3-482B-B877-3106B7E16B20}">
      <dgm:prSet/>
      <dgm:spPr/>
      <dgm:t>
        <a:bodyPr/>
        <a:lstStyle/>
        <a:p>
          <a:endParaRPr lang="fr-FR"/>
        </a:p>
      </dgm:t>
    </dgm:pt>
    <dgm:pt modelId="{23F5DC85-6AD5-41E1-BDEB-FFFFB8E35215}" type="sibTrans" cxnId="{D21220D3-E8B3-482B-B877-3106B7E16B20}">
      <dgm:prSet/>
      <dgm:spPr/>
      <dgm:t>
        <a:bodyPr/>
        <a:lstStyle/>
        <a:p>
          <a:endParaRPr lang="fr-FR"/>
        </a:p>
      </dgm:t>
    </dgm:pt>
    <dgm:pt modelId="{6A057815-9ABE-448B-9C1B-4A5C934AA449}">
      <dgm:prSet/>
      <dgm:spPr/>
      <dgm:t>
        <a:bodyPr/>
        <a:lstStyle/>
        <a:p>
          <a:r>
            <a:rPr lang="fr-FR" dirty="0" smtClean="0"/>
            <a:t>la direction des systèmes d’information et de</a:t>
          </a:r>
        </a:p>
        <a:p>
          <a:r>
            <a:rPr lang="fr-FR" dirty="0" smtClean="0"/>
            <a:t>L’informatique</a:t>
          </a:r>
          <a:endParaRPr lang="fr-FR" dirty="0"/>
        </a:p>
      </dgm:t>
    </dgm:pt>
    <dgm:pt modelId="{DC8758C0-5935-4D71-9889-FBBAC18C7D56}" type="parTrans" cxnId="{5FC28FC9-5827-4469-B210-AFD36D0B1D5E}">
      <dgm:prSet/>
      <dgm:spPr/>
      <dgm:t>
        <a:bodyPr/>
        <a:lstStyle/>
        <a:p>
          <a:endParaRPr lang="fr-FR"/>
        </a:p>
      </dgm:t>
    </dgm:pt>
    <dgm:pt modelId="{717FBC72-29E9-412F-8D5D-30B76B87629B}" type="sibTrans" cxnId="{5FC28FC9-5827-4469-B210-AFD36D0B1D5E}">
      <dgm:prSet/>
      <dgm:spPr/>
      <dgm:t>
        <a:bodyPr/>
        <a:lstStyle/>
        <a:p>
          <a:endParaRPr lang="fr-FR"/>
        </a:p>
      </dgm:t>
    </dgm:pt>
    <dgm:pt modelId="{300E72C6-5057-432C-A0E3-DCA3DFF351F1}" type="pres">
      <dgm:prSet presAssocID="{6E1F50D5-E2A1-43F5-83D2-EBB4B6EEF45F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85CBED13-123F-4B26-86A2-02B7B2F0B018}" type="pres">
      <dgm:prSet presAssocID="{F406B939-47EC-4981-B97C-0F54555CDCF9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98491A8-70B3-45D3-8D55-8051E633074D}" type="pres">
      <dgm:prSet presAssocID="{FA4DBA55-CAC3-4394-AD57-72E88B46229B}" presName="sibTrans" presStyleCnt="0"/>
      <dgm:spPr/>
    </dgm:pt>
    <dgm:pt modelId="{A6CBD8FE-A390-42A4-BB1C-EE17562663C4}" type="pres">
      <dgm:prSet presAssocID="{C8B10F51-F43E-4224-9412-C072F25C77F4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B83838B-7CDF-460C-BE4C-C40062BA6620}" type="pres">
      <dgm:prSet presAssocID="{4D215603-E6CF-4AB9-9454-B646CBAB4B0D}" presName="sibTrans" presStyleCnt="0"/>
      <dgm:spPr/>
    </dgm:pt>
    <dgm:pt modelId="{4BBFFC69-B65B-4E3F-BB24-CAD5F43C6409}" type="pres">
      <dgm:prSet presAssocID="{A47E0359-1AE8-4CDA-BEAD-A4A6C1004256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3F3E6E5-509F-417A-B9E1-5E365DC714CE}" type="pres">
      <dgm:prSet presAssocID="{7F293B06-3D71-4F60-AF5B-D3E84BBA4A99}" presName="sibTrans" presStyleCnt="0"/>
      <dgm:spPr/>
    </dgm:pt>
    <dgm:pt modelId="{2D0189CF-7042-4E53-81A9-6CC48251A37D}" type="pres">
      <dgm:prSet presAssocID="{D74AAA0C-D990-4EBD-804A-598AF855795F}" presName="node" presStyleLbl="node1" presStyleIdx="3" presStyleCnt="5" custLinFactNeighborX="33323" custLinFactNeighborY="947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FB345E0-C2D9-40BC-938D-63692BCDC688}" type="pres">
      <dgm:prSet presAssocID="{23F5DC85-6AD5-41E1-BDEB-FFFFB8E35215}" presName="sibTrans" presStyleCnt="0"/>
      <dgm:spPr/>
    </dgm:pt>
    <dgm:pt modelId="{65FD8824-1A0B-464A-8DB2-EEA0CA446F6C}" type="pres">
      <dgm:prSet presAssocID="{6A057815-9ABE-448B-9C1B-4A5C934AA449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21220D3-E8B3-482B-B877-3106B7E16B20}" srcId="{6E1F50D5-E2A1-43F5-83D2-EBB4B6EEF45F}" destId="{D74AAA0C-D990-4EBD-804A-598AF855795F}" srcOrd="3" destOrd="0" parTransId="{C02E3F10-B501-4CFF-8D44-17A7499BADB9}" sibTransId="{23F5DC85-6AD5-41E1-BDEB-FFFFB8E35215}"/>
    <dgm:cxn modelId="{27367751-666D-4D4A-86D3-BF39C0B6E351}" type="presOf" srcId="{D74AAA0C-D990-4EBD-804A-598AF855795F}" destId="{2D0189CF-7042-4E53-81A9-6CC48251A37D}" srcOrd="0" destOrd="0" presId="urn:microsoft.com/office/officeart/2005/8/layout/hList6"/>
    <dgm:cxn modelId="{BC016725-EA3A-4181-9EB0-9663463A3DF1}" type="presOf" srcId="{6E1F50D5-E2A1-43F5-83D2-EBB4B6EEF45F}" destId="{300E72C6-5057-432C-A0E3-DCA3DFF351F1}" srcOrd="0" destOrd="0" presId="urn:microsoft.com/office/officeart/2005/8/layout/hList6"/>
    <dgm:cxn modelId="{5FC28FC9-5827-4469-B210-AFD36D0B1D5E}" srcId="{6E1F50D5-E2A1-43F5-83D2-EBB4B6EEF45F}" destId="{6A057815-9ABE-448B-9C1B-4A5C934AA449}" srcOrd="4" destOrd="0" parTransId="{DC8758C0-5935-4D71-9889-FBBAC18C7D56}" sibTransId="{717FBC72-29E9-412F-8D5D-30B76B87629B}"/>
    <dgm:cxn modelId="{613FB3D3-E671-417F-B97E-723ED71942A7}" type="presOf" srcId="{6A057815-9ABE-448B-9C1B-4A5C934AA449}" destId="{65FD8824-1A0B-464A-8DB2-EEA0CA446F6C}" srcOrd="0" destOrd="0" presId="urn:microsoft.com/office/officeart/2005/8/layout/hList6"/>
    <dgm:cxn modelId="{7A6CFAF9-EE0A-4562-B534-AE05CABD5611}" type="presOf" srcId="{C8B10F51-F43E-4224-9412-C072F25C77F4}" destId="{A6CBD8FE-A390-42A4-BB1C-EE17562663C4}" srcOrd="0" destOrd="0" presId="urn:microsoft.com/office/officeart/2005/8/layout/hList6"/>
    <dgm:cxn modelId="{F7B34BC0-52B1-4CD6-8F48-B4F5FB3C269B}" srcId="{6E1F50D5-E2A1-43F5-83D2-EBB4B6EEF45F}" destId="{A47E0359-1AE8-4CDA-BEAD-A4A6C1004256}" srcOrd="2" destOrd="0" parTransId="{1514D759-26E0-4591-B4FC-2CDA2C4565CB}" sibTransId="{7F293B06-3D71-4F60-AF5B-D3E84BBA4A99}"/>
    <dgm:cxn modelId="{EA593161-B429-4E0B-8F3F-87069EC32954}" type="presOf" srcId="{F406B939-47EC-4981-B97C-0F54555CDCF9}" destId="{85CBED13-123F-4B26-86A2-02B7B2F0B018}" srcOrd="0" destOrd="0" presId="urn:microsoft.com/office/officeart/2005/8/layout/hList6"/>
    <dgm:cxn modelId="{3D05F2D6-C3AB-4A2C-BF02-F887B41BCB09}" type="presOf" srcId="{A47E0359-1AE8-4CDA-BEAD-A4A6C1004256}" destId="{4BBFFC69-B65B-4E3F-BB24-CAD5F43C6409}" srcOrd="0" destOrd="0" presId="urn:microsoft.com/office/officeart/2005/8/layout/hList6"/>
    <dgm:cxn modelId="{AC493BD3-D990-47EF-BD10-6FD72121F95D}" srcId="{6E1F50D5-E2A1-43F5-83D2-EBB4B6EEF45F}" destId="{C8B10F51-F43E-4224-9412-C072F25C77F4}" srcOrd="1" destOrd="0" parTransId="{EC193E69-82BC-4B3B-8544-05B23DD0F8A6}" sibTransId="{4D215603-E6CF-4AB9-9454-B646CBAB4B0D}"/>
    <dgm:cxn modelId="{3AB63792-20B7-45B1-B01B-2C25E9054BF6}" srcId="{6E1F50D5-E2A1-43F5-83D2-EBB4B6EEF45F}" destId="{F406B939-47EC-4981-B97C-0F54555CDCF9}" srcOrd="0" destOrd="0" parTransId="{986594D7-0431-416E-87EE-D2DE6F6992F5}" sibTransId="{FA4DBA55-CAC3-4394-AD57-72E88B46229B}"/>
    <dgm:cxn modelId="{DD8659E9-6204-4314-9FA4-6D777FBA297A}" type="presParOf" srcId="{300E72C6-5057-432C-A0E3-DCA3DFF351F1}" destId="{85CBED13-123F-4B26-86A2-02B7B2F0B018}" srcOrd="0" destOrd="0" presId="urn:microsoft.com/office/officeart/2005/8/layout/hList6"/>
    <dgm:cxn modelId="{BDBCC69A-DFFD-4AD1-BF4D-FBC284DA3078}" type="presParOf" srcId="{300E72C6-5057-432C-A0E3-DCA3DFF351F1}" destId="{F98491A8-70B3-45D3-8D55-8051E633074D}" srcOrd="1" destOrd="0" presId="urn:microsoft.com/office/officeart/2005/8/layout/hList6"/>
    <dgm:cxn modelId="{10B0CA27-82CA-4EEF-B17C-51D0DD49FB35}" type="presParOf" srcId="{300E72C6-5057-432C-A0E3-DCA3DFF351F1}" destId="{A6CBD8FE-A390-42A4-BB1C-EE17562663C4}" srcOrd="2" destOrd="0" presId="urn:microsoft.com/office/officeart/2005/8/layout/hList6"/>
    <dgm:cxn modelId="{A4814776-2176-4CD2-B5D3-5FD1969DCA61}" type="presParOf" srcId="{300E72C6-5057-432C-A0E3-DCA3DFF351F1}" destId="{DB83838B-7CDF-460C-BE4C-C40062BA6620}" srcOrd="3" destOrd="0" presId="urn:microsoft.com/office/officeart/2005/8/layout/hList6"/>
    <dgm:cxn modelId="{9C03886D-5CE5-4102-95AC-C67E1D8DA4F5}" type="presParOf" srcId="{300E72C6-5057-432C-A0E3-DCA3DFF351F1}" destId="{4BBFFC69-B65B-4E3F-BB24-CAD5F43C6409}" srcOrd="4" destOrd="0" presId="urn:microsoft.com/office/officeart/2005/8/layout/hList6"/>
    <dgm:cxn modelId="{3276D2B9-0180-4352-A28E-CF1771B98B61}" type="presParOf" srcId="{300E72C6-5057-432C-A0E3-DCA3DFF351F1}" destId="{23F3E6E5-509F-417A-B9E1-5E365DC714CE}" srcOrd="5" destOrd="0" presId="urn:microsoft.com/office/officeart/2005/8/layout/hList6"/>
    <dgm:cxn modelId="{1744EE18-BC87-460C-8F11-79E0AFBA740E}" type="presParOf" srcId="{300E72C6-5057-432C-A0E3-DCA3DFF351F1}" destId="{2D0189CF-7042-4E53-81A9-6CC48251A37D}" srcOrd="6" destOrd="0" presId="urn:microsoft.com/office/officeart/2005/8/layout/hList6"/>
    <dgm:cxn modelId="{93F63BAD-4EF8-4E18-8AEE-3505AF5D4418}" type="presParOf" srcId="{300E72C6-5057-432C-A0E3-DCA3DFF351F1}" destId="{5FB345E0-C2D9-40BC-938D-63692BCDC688}" srcOrd="7" destOrd="0" presId="urn:microsoft.com/office/officeart/2005/8/layout/hList6"/>
    <dgm:cxn modelId="{98F71A97-A89F-4E55-AD1F-0168FBB2826C}" type="presParOf" srcId="{300E72C6-5057-432C-A0E3-DCA3DFF351F1}" destId="{65FD8824-1A0B-464A-8DB2-EEA0CA446F6C}" srcOrd="8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88349A-17D7-4895-930C-7544FC5C0D92}">
      <dsp:nvSpPr>
        <dsp:cNvPr id="0" name=""/>
        <dsp:cNvSpPr/>
      </dsp:nvSpPr>
      <dsp:spPr>
        <a:xfrm>
          <a:off x="0" y="42851"/>
          <a:ext cx="8229600" cy="1357788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  <a:bevelB w="88900" h="121750"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6220" tIns="236220" rIns="236220" bIns="236220" numCol="1" spcCol="1270" anchor="ctr" anchorCtr="0">
          <a:noAutofit/>
        </a:bodyPr>
        <a:lstStyle/>
        <a:p>
          <a:pPr lvl="0" algn="ctr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6200" kern="1200" dirty="0" smtClean="0"/>
            <a:t>Ministre </a:t>
          </a:r>
          <a:endParaRPr lang="fr-FR" sz="6200" kern="1200" dirty="0"/>
        </a:p>
      </dsp:txBody>
      <dsp:txXfrm>
        <a:off x="0" y="42851"/>
        <a:ext cx="8229600" cy="1357788"/>
      </dsp:txXfrm>
    </dsp:sp>
    <dsp:sp modelId="{F2280AF9-B1B3-4A4F-B38F-7B5AE261B545}">
      <dsp:nvSpPr>
        <dsp:cNvPr id="0" name=""/>
        <dsp:cNvSpPr/>
      </dsp:nvSpPr>
      <dsp:spPr>
        <a:xfrm>
          <a:off x="0" y="1357788"/>
          <a:ext cx="2057399" cy="285135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b="0" kern="1200" dirty="0" smtClean="0">
              <a:latin typeface="Century Schoolbook" pitchFamily="18" charset="0"/>
            </a:rPr>
            <a:t>Secrétaire général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b="0" kern="1200" dirty="0" smtClean="0">
              <a:latin typeface="Century Schoolbook" pitchFamily="18" charset="0"/>
            </a:rPr>
            <a:t>(2) directeurs d’études</a:t>
          </a:r>
          <a:endParaRPr lang="fr-FR" sz="1800" b="0" kern="1200" dirty="0">
            <a:latin typeface="Century Schoolbook" pitchFamily="18" charset="0"/>
          </a:endParaRPr>
        </a:p>
      </dsp:txBody>
      <dsp:txXfrm>
        <a:off x="0" y="1357788"/>
        <a:ext cx="2057399" cy="2851356"/>
      </dsp:txXfrm>
    </dsp:sp>
    <dsp:sp modelId="{99EEC428-7864-4679-AB0F-50AA60573B56}">
      <dsp:nvSpPr>
        <dsp:cNvPr id="0" name=""/>
        <dsp:cNvSpPr/>
      </dsp:nvSpPr>
      <dsp:spPr>
        <a:xfrm>
          <a:off x="2057400" y="1357788"/>
          <a:ext cx="2057399" cy="285135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b="1" kern="1200" dirty="0" smtClean="0">
              <a:latin typeface="Century Schoolbook" pitchFamily="18" charset="0"/>
            </a:rPr>
            <a:t>Chef de cabinet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b="1" kern="1200" dirty="0" smtClean="0">
              <a:latin typeface="Century Schoolbook" pitchFamily="18" charset="0"/>
            </a:rPr>
            <a:t>(8) chargés d’études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b="1" kern="1200" dirty="0" smtClean="0">
              <a:latin typeface="Century Schoolbook" pitchFamily="18" charset="0"/>
            </a:rPr>
            <a:t>et de synthèse</a:t>
          </a:r>
          <a:endParaRPr lang="fr-FR" sz="1800" b="1" kern="1200" dirty="0">
            <a:latin typeface="Century Schoolbook" pitchFamily="18" charset="0"/>
          </a:endParaRPr>
        </a:p>
      </dsp:txBody>
      <dsp:txXfrm>
        <a:off x="2057400" y="1357788"/>
        <a:ext cx="2057399" cy="2851356"/>
      </dsp:txXfrm>
    </dsp:sp>
    <dsp:sp modelId="{ED126E2D-9883-41F8-924C-76CBD3212E12}">
      <dsp:nvSpPr>
        <dsp:cNvPr id="0" name=""/>
        <dsp:cNvSpPr/>
      </dsp:nvSpPr>
      <dsp:spPr>
        <a:xfrm>
          <a:off x="4114800" y="1357788"/>
          <a:ext cx="2057399" cy="285135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900" kern="1200" dirty="0" smtClean="0"/>
            <a:t> </a:t>
          </a:r>
          <a:r>
            <a:rPr lang="fr-FR" sz="1800" b="1" kern="1200" dirty="0" smtClean="0">
              <a:latin typeface="Century Schoolbook" pitchFamily="18" charset="0"/>
            </a:rPr>
            <a:t>L’inspection</a:t>
          </a:r>
          <a:r>
            <a:rPr lang="fr-FR" sz="1800" kern="1200" dirty="0" smtClean="0">
              <a:latin typeface="Century Schoolbook" pitchFamily="18" charset="0"/>
            </a:rPr>
            <a:t> </a:t>
          </a:r>
          <a:r>
            <a:rPr lang="fr-FR" sz="1800" b="1" kern="1200" dirty="0" smtClean="0">
              <a:latin typeface="Century Schoolbook" pitchFamily="18" charset="0"/>
            </a:rPr>
            <a:t>générale</a:t>
          </a:r>
          <a:endParaRPr lang="fr-FR" sz="1800" b="1" kern="1200" dirty="0">
            <a:latin typeface="Century Schoolbook" pitchFamily="18" charset="0"/>
          </a:endParaRPr>
        </a:p>
      </dsp:txBody>
      <dsp:txXfrm>
        <a:off x="4114800" y="1357788"/>
        <a:ext cx="2057399" cy="2851356"/>
      </dsp:txXfrm>
    </dsp:sp>
    <dsp:sp modelId="{53EED781-C312-478F-862D-548F59584A92}">
      <dsp:nvSpPr>
        <dsp:cNvPr id="0" name=""/>
        <dsp:cNvSpPr/>
      </dsp:nvSpPr>
      <dsp:spPr>
        <a:xfrm>
          <a:off x="6172200" y="1257307"/>
          <a:ext cx="2057399" cy="285135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b="1" kern="1200" dirty="0" smtClean="0">
              <a:latin typeface="Century Schoolbook" pitchFamily="18" charset="0"/>
            </a:rPr>
            <a:t>Les directions générales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b="1" kern="1200" dirty="0" smtClean="0">
              <a:latin typeface="Century Schoolbook" pitchFamily="18" charset="0"/>
            </a:rPr>
            <a:t>(10  DG)</a:t>
          </a:r>
          <a:endParaRPr lang="fr-FR" sz="1800" b="1" kern="1200" dirty="0">
            <a:latin typeface="Century Schoolbook" pitchFamily="18" charset="0"/>
          </a:endParaRPr>
        </a:p>
      </dsp:txBody>
      <dsp:txXfrm>
        <a:off x="6172200" y="1257307"/>
        <a:ext cx="2057399" cy="2851356"/>
      </dsp:txXfrm>
    </dsp:sp>
    <dsp:sp modelId="{28D039EE-B1EB-4B60-9743-93D9C21A402C}">
      <dsp:nvSpPr>
        <dsp:cNvPr id="0" name=""/>
        <dsp:cNvSpPr/>
      </dsp:nvSpPr>
      <dsp:spPr>
        <a:xfrm>
          <a:off x="0" y="4209145"/>
          <a:ext cx="8229600" cy="316817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  <a:bevelB w="88900" h="121750"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2D25E0-D39B-4F55-A2DC-7D337188E3C7}">
      <dsp:nvSpPr>
        <dsp:cNvPr id="0" name=""/>
        <dsp:cNvSpPr/>
      </dsp:nvSpPr>
      <dsp:spPr>
        <a:xfrm rot="16200000">
          <a:off x="-1483017" y="1487438"/>
          <a:ext cx="4525963" cy="1551086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0" tIns="0" rIns="123235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900" kern="1200" dirty="0" smtClean="0"/>
            <a:t> la DG de la prévention et de la promotion de la santé</a:t>
          </a:r>
          <a:endParaRPr lang="fr-FR" sz="1900" kern="1200" dirty="0"/>
        </a:p>
      </dsp:txBody>
      <dsp:txXfrm rot="5400000">
        <a:off x="4421" y="905193"/>
        <a:ext cx="1551086" cy="2715577"/>
      </dsp:txXfrm>
    </dsp:sp>
    <dsp:sp modelId="{11974F32-4BD4-4843-9F2F-437F62D29045}">
      <dsp:nvSpPr>
        <dsp:cNvPr id="0" name=""/>
        <dsp:cNvSpPr/>
      </dsp:nvSpPr>
      <dsp:spPr>
        <a:xfrm rot="16200000">
          <a:off x="184400" y="1487438"/>
          <a:ext cx="4525963" cy="1551086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0" tIns="0" rIns="123235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900" kern="1200" dirty="0" smtClean="0"/>
            <a:t>La DG des services de la santé et de la</a:t>
          </a:r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900" kern="1200" dirty="0" smtClean="0"/>
            <a:t>réforme hospitalière,</a:t>
          </a:r>
          <a:endParaRPr lang="fr-FR" sz="1900" kern="1200" dirty="0"/>
        </a:p>
      </dsp:txBody>
      <dsp:txXfrm rot="5400000">
        <a:off x="1671838" y="905193"/>
        <a:ext cx="1551086" cy="2715577"/>
      </dsp:txXfrm>
    </dsp:sp>
    <dsp:sp modelId="{9C6E58CA-9B19-4683-9B3F-E924A3736A2F}">
      <dsp:nvSpPr>
        <dsp:cNvPr id="0" name=""/>
        <dsp:cNvSpPr/>
      </dsp:nvSpPr>
      <dsp:spPr>
        <a:xfrm rot="16200000">
          <a:off x="1851818" y="1487438"/>
          <a:ext cx="4525963" cy="1551086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0" tIns="0" rIns="123235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900" kern="1200" dirty="0" smtClean="0"/>
            <a:t>La DG de la pharmacie et des</a:t>
          </a:r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900" kern="1200" dirty="0" smtClean="0"/>
            <a:t>équipements de santé</a:t>
          </a:r>
          <a:endParaRPr lang="fr-FR" sz="1900" kern="1200" dirty="0"/>
        </a:p>
      </dsp:txBody>
      <dsp:txXfrm rot="5400000">
        <a:off x="3339256" y="905193"/>
        <a:ext cx="1551086" cy="2715577"/>
      </dsp:txXfrm>
    </dsp:sp>
    <dsp:sp modelId="{10511C55-22CC-46BE-BA3E-52E24201AD41}">
      <dsp:nvSpPr>
        <dsp:cNvPr id="0" name=""/>
        <dsp:cNvSpPr/>
      </dsp:nvSpPr>
      <dsp:spPr>
        <a:xfrm rot="16200000">
          <a:off x="3501087" y="1487438"/>
          <a:ext cx="4525963" cy="1551086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0" tIns="0" rIns="123235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900" kern="1200" dirty="0" smtClean="0"/>
            <a:t>la DG de la population,</a:t>
          </a:r>
          <a:endParaRPr lang="fr-FR" sz="1900" kern="1200" dirty="0"/>
        </a:p>
      </dsp:txBody>
      <dsp:txXfrm rot="5400000">
        <a:off x="4988525" y="905193"/>
        <a:ext cx="1551086" cy="2715577"/>
      </dsp:txXfrm>
    </dsp:sp>
    <dsp:sp modelId="{AF61DA74-699B-4096-99F0-4A6C127C53EF}">
      <dsp:nvSpPr>
        <dsp:cNvPr id="0" name=""/>
        <dsp:cNvSpPr/>
      </dsp:nvSpPr>
      <dsp:spPr>
        <a:xfrm rot="16200000">
          <a:off x="5191075" y="1487438"/>
          <a:ext cx="4525963" cy="1551086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0" tIns="0" rIns="123235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900" kern="1200" dirty="0" smtClean="0"/>
            <a:t>la DG des études et de la planification</a:t>
          </a:r>
          <a:endParaRPr lang="fr-FR" sz="1900" kern="1200" dirty="0"/>
        </a:p>
      </dsp:txBody>
      <dsp:txXfrm rot="5400000">
        <a:off x="6678513" y="905193"/>
        <a:ext cx="1551086" cy="271557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CBED13-123F-4B26-86A2-02B7B2F0B018}">
      <dsp:nvSpPr>
        <dsp:cNvPr id="0" name=""/>
        <dsp:cNvSpPr/>
      </dsp:nvSpPr>
      <dsp:spPr>
        <a:xfrm rot="16200000">
          <a:off x="-1483017" y="1487438"/>
          <a:ext cx="4525963" cy="1551086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3374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kern="1200" dirty="0" smtClean="0"/>
            <a:t>DG de la réglementation, du contentieux et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kern="1200" dirty="0" smtClean="0"/>
            <a:t>de la coopération</a:t>
          </a:r>
        </a:p>
      </dsp:txBody>
      <dsp:txXfrm rot="5400000">
        <a:off x="4421" y="905193"/>
        <a:ext cx="1551086" cy="2715577"/>
      </dsp:txXfrm>
    </dsp:sp>
    <dsp:sp modelId="{A6CBD8FE-A390-42A4-BB1C-EE17562663C4}">
      <dsp:nvSpPr>
        <dsp:cNvPr id="0" name=""/>
        <dsp:cNvSpPr/>
      </dsp:nvSpPr>
      <dsp:spPr>
        <a:xfrm rot="16200000">
          <a:off x="184400" y="1487438"/>
          <a:ext cx="4525963" cy="1551086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3374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kern="1200" dirty="0"/>
            <a:t>la </a:t>
          </a:r>
          <a:r>
            <a:rPr lang="fr-FR" sz="1600" kern="1200" dirty="0" smtClean="0"/>
            <a:t>DG des </a:t>
          </a:r>
          <a:r>
            <a:rPr lang="fr-FR" sz="1600" kern="1200" dirty="0"/>
            <a:t>ressources humaines,</a:t>
          </a:r>
        </a:p>
      </dsp:txBody>
      <dsp:txXfrm rot="5400000">
        <a:off x="1671838" y="905193"/>
        <a:ext cx="1551086" cy="2715577"/>
      </dsp:txXfrm>
    </dsp:sp>
    <dsp:sp modelId="{4BBFFC69-B65B-4E3F-BB24-CAD5F43C6409}">
      <dsp:nvSpPr>
        <dsp:cNvPr id="0" name=""/>
        <dsp:cNvSpPr/>
      </dsp:nvSpPr>
      <dsp:spPr>
        <a:xfrm rot="16200000">
          <a:off x="1851818" y="1487438"/>
          <a:ext cx="4525963" cy="1551086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3374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kern="1200" dirty="0" smtClean="0"/>
            <a:t>la DG de la formation,</a:t>
          </a:r>
          <a:endParaRPr lang="fr-FR" sz="1600" kern="1200" dirty="0"/>
        </a:p>
      </dsp:txBody>
      <dsp:txXfrm rot="5400000">
        <a:off x="3339256" y="905193"/>
        <a:ext cx="1551086" cy="2715577"/>
      </dsp:txXfrm>
    </dsp:sp>
    <dsp:sp modelId="{2D0189CF-7042-4E53-81A9-6CC48251A37D}">
      <dsp:nvSpPr>
        <dsp:cNvPr id="0" name=""/>
        <dsp:cNvSpPr/>
      </dsp:nvSpPr>
      <dsp:spPr>
        <a:xfrm rot="16200000">
          <a:off x="3558001" y="1487438"/>
          <a:ext cx="4525963" cy="1551086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3374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kern="1200" dirty="0" smtClean="0"/>
            <a:t> la DG des finances et des moyens,</a:t>
          </a:r>
          <a:endParaRPr lang="fr-FR" sz="1600" kern="1200" dirty="0"/>
        </a:p>
      </dsp:txBody>
      <dsp:txXfrm rot="5400000">
        <a:off x="5045439" y="905193"/>
        <a:ext cx="1551086" cy="2715577"/>
      </dsp:txXfrm>
    </dsp:sp>
    <dsp:sp modelId="{65FD8824-1A0B-464A-8DB2-EEA0CA446F6C}">
      <dsp:nvSpPr>
        <dsp:cNvPr id="0" name=""/>
        <dsp:cNvSpPr/>
      </dsp:nvSpPr>
      <dsp:spPr>
        <a:xfrm rot="16200000">
          <a:off x="5186654" y="1487438"/>
          <a:ext cx="4525963" cy="1551086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3374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kern="1200" dirty="0" smtClean="0"/>
            <a:t>la direction des systèmes d’information et de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kern="1200" dirty="0" smtClean="0"/>
            <a:t>L’informatique</a:t>
          </a:r>
          <a:endParaRPr lang="fr-FR" sz="1600" kern="1200" dirty="0"/>
        </a:p>
      </dsp:txBody>
      <dsp:txXfrm rot="5400000">
        <a:off x="6674092" y="905193"/>
        <a:ext cx="1551086" cy="27155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BEDFFB-0E25-4F96-B09E-CB8EFF17BB48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EEE504-A1F9-48C4-9547-6C881B1610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436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9898-A344-41DA-AC58-1FEB34419E87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DB003-A783-4E03-AD45-96DAD0DFDEC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925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9898-A344-41DA-AC58-1FEB34419E87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DB003-A783-4E03-AD45-96DAD0DFDEC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003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9898-A344-41DA-AC58-1FEB34419E87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DB003-A783-4E03-AD45-96DAD0DFDEC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07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9898-A344-41DA-AC58-1FEB34419E87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DB003-A783-4E03-AD45-96DAD0DFDEC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59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9898-A344-41DA-AC58-1FEB34419E87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DB003-A783-4E03-AD45-96DAD0DFDEC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181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9898-A344-41DA-AC58-1FEB34419E87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DB003-A783-4E03-AD45-96DAD0DFDEC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349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9898-A344-41DA-AC58-1FEB34419E87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DB003-A783-4E03-AD45-96DAD0DFDEC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573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9898-A344-41DA-AC58-1FEB34419E87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DB003-A783-4E03-AD45-96DAD0DFDEC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889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9898-A344-41DA-AC58-1FEB34419E87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DB003-A783-4E03-AD45-96DAD0DFDEC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700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9898-A344-41DA-AC58-1FEB34419E87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DB003-A783-4E03-AD45-96DAD0DFDEC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201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9898-A344-41DA-AC58-1FEB34419E87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DB003-A783-4E03-AD45-96DAD0DFDEC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49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629898-A344-41DA-AC58-1FEB34419E87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DB003-A783-4E03-AD45-96DAD0DFDEC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51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sante.dz/lncpp/lnc-index.htm" TargetMode="External"/><Relationship Id="rId3" Type="http://schemas.openxmlformats.org/officeDocument/2006/relationships/hyperlink" Target="http://www.sante.dz/cnt/index.htm" TargetMode="External"/><Relationship Id="rId7" Type="http://schemas.openxmlformats.org/officeDocument/2006/relationships/hyperlink" Target="http://www.pasteur.dz/" TargetMode="External"/><Relationship Id="rId2" Type="http://schemas.openxmlformats.org/officeDocument/2006/relationships/hyperlink" Target="http://www.sante.dz/ans/index.html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www.sante.dz/insp/insp-accueil.htm" TargetMode="External"/><Relationship Id="rId5" Type="http://schemas.openxmlformats.org/officeDocument/2006/relationships/hyperlink" Target="http://www.sante.dz/inpfp/index.htm" TargetMode="External"/><Relationship Id="rId4" Type="http://schemas.openxmlformats.org/officeDocument/2006/relationships/hyperlink" Target="http://www.sante.dz/ensp/lasante.htm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5688" y="421399"/>
            <a:ext cx="2226091" cy="131830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113755" y="278775"/>
            <a:ext cx="20066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23"/>
              </a:lnSpc>
            </a:pPr>
            <a:r>
              <a:rPr sz="1871" b="1" spc="-309" dirty="0">
                <a:solidFill>
                  <a:srgbClr val="001F5F"/>
                </a:solidFill>
                <a:latin typeface="Arial"/>
                <a:cs typeface="Arial"/>
              </a:rPr>
              <a:t>R</a:t>
            </a:r>
            <a:endParaRPr sz="1871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34707" y="357785"/>
            <a:ext cx="4773464" cy="299895"/>
          </a:xfrm>
          <a:prstGeom prst="rect">
            <a:avLst/>
          </a:prstGeom>
        </p:spPr>
        <p:txBody>
          <a:bodyPr vert="horz" wrap="square" lIns="0" tIns="11880" rIns="0" bIns="0" rtlCol="0">
            <a:spAutoFit/>
          </a:bodyPr>
          <a:lstStyle/>
          <a:p>
            <a:pPr marL="11880" algn="r">
              <a:spcBef>
                <a:spcPts val="94"/>
              </a:spcBef>
            </a:pPr>
            <a:r>
              <a:rPr lang="fr-FR" sz="1871" b="1" spc="-191" dirty="0">
                <a:solidFill>
                  <a:srgbClr val="001F5F"/>
                </a:solidFill>
                <a:latin typeface="Arial"/>
                <a:cs typeface="Arial"/>
              </a:rPr>
              <a:t>R</a:t>
            </a:r>
            <a:r>
              <a:rPr sz="1871" b="1" spc="-191" dirty="0" err="1">
                <a:solidFill>
                  <a:srgbClr val="001F5F"/>
                </a:solidFill>
                <a:latin typeface="Arial"/>
                <a:cs typeface="Arial"/>
              </a:rPr>
              <a:t>épublique</a:t>
            </a:r>
            <a:r>
              <a:rPr sz="1871" b="1" spc="-117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71" b="1" spc="-182" dirty="0">
                <a:solidFill>
                  <a:srgbClr val="001F5F"/>
                </a:solidFill>
                <a:latin typeface="Arial"/>
                <a:cs typeface="Arial"/>
              </a:rPr>
              <a:t>Algérienne</a:t>
            </a:r>
            <a:r>
              <a:rPr sz="1871" b="1" spc="-47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71" b="1" spc="-196" dirty="0">
                <a:solidFill>
                  <a:srgbClr val="001F5F"/>
                </a:solidFill>
                <a:latin typeface="Arial"/>
                <a:cs typeface="Arial"/>
              </a:rPr>
              <a:t>Démocratique</a:t>
            </a:r>
            <a:r>
              <a:rPr sz="1871" b="1" spc="-51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71" b="1" spc="-159" dirty="0">
                <a:solidFill>
                  <a:srgbClr val="001F5F"/>
                </a:solidFill>
                <a:latin typeface="Arial"/>
                <a:cs typeface="Arial"/>
              </a:rPr>
              <a:t>et</a:t>
            </a:r>
            <a:r>
              <a:rPr sz="1871" b="1" spc="-47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71" b="1" spc="-140" dirty="0">
                <a:solidFill>
                  <a:srgbClr val="001F5F"/>
                </a:solidFill>
                <a:latin typeface="Arial"/>
                <a:cs typeface="Arial"/>
              </a:rPr>
              <a:t>Populaire</a:t>
            </a:r>
            <a:endParaRPr sz="1871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529463" y="1839385"/>
            <a:ext cx="5813214" cy="426533"/>
          </a:xfrm>
          <a:prstGeom prst="rect">
            <a:avLst/>
          </a:prstGeom>
        </p:spPr>
        <p:txBody>
          <a:bodyPr vert="horz" wrap="square" lIns="0" tIns="11880" rIns="0" bIns="0" rtlCol="0" anchor="ctr">
            <a:spAutoFit/>
          </a:bodyPr>
          <a:lstStyle/>
          <a:p>
            <a:pPr marL="11880">
              <a:spcBef>
                <a:spcPts val="94"/>
              </a:spcBef>
            </a:pPr>
            <a:r>
              <a:rPr lang="fr-FR" sz="2993" spc="-295" dirty="0">
                <a:solidFill>
                  <a:srgbClr val="001F5F"/>
                </a:solidFill>
                <a:latin typeface="Arial"/>
                <a:cs typeface="Arial"/>
              </a:rPr>
              <a:t>Module </a:t>
            </a:r>
            <a:r>
              <a:rPr lang="fr-FR" sz="2993" spc="-295" dirty="0" smtClean="0">
                <a:solidFill>
                  <a:srgbClr val="001F5F"/>
                </a:solidFill>
                <a:latin typeface="Arial"/>
                <a:cs typeface="Arial"/>
              </a:rPr>
              <a:t>SSH 1 </a:t>
            </a:r>
            <a:r>
              <a:rPr lang="fr-FR" sz="2993" spc="-295" dirty="0">
                <a:solidFill>
                  <a:srgbClr val="001F5F"/>
                </a:solidFill>
                <a:latin typeface="Arial"/>
                <a:cs typeface="Arial"/>
              </a:rPr>
              <a:t>è</a:t>
            </a:r>
            <a:r>
              <a:rPr lang="fr-FR" sz="2993" spc="-295" dirty="0" smtClean="0">
                <a:solidFill>
                  <a:srgbClr val="001F5F"/>
                </a:solidFill>
                <a:latin typeface="Arial"/>
                <a:cs typeface="Arial"/>
              </a:rPr>
              <a:t>re année Médecine</a:t>
            </a:r>
            <a:endParaRPr sz="2993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37328" y="816702"/>
            <a:ext cx="4525210" cy="530343"/>
          </a:xfrm>
          <a:prstGeom prst="rect">
            <a:avLst/>
          </a:prstGeom>
        </p:spPr>
        <p:txBody>
          <a:bodyPr vert="horz" wrap="square" lIns="0" tIns="11880" rIns="0" bIns="0" rtlCol="0">
            <a:spAutoFit/>
          </a:bodyPr>
          <a:lstStyle/>
          <a:p>
            <a:pPr marL="11880" marR="4752" algn="ctr">
              <a:spcBef>
                <a:spcPts val="94"/>
              </a:spcBef>
            </a:pPr>
            <a:r>
              <a:rPr sz="1684" b="1" spc="-159" dirty="0">
                <a:solidFill>
                  <a:srgbClr val="001F5F"/>
                </a:solidFill>
                <a:latin typeface="Arial"/>
                <a:cs typeface="Arial"/>
              </a:rPr>
              <a:t>Université</a:t>
            </a:r>
            <a:r>
              <a:rPr sz="1684" b="1" spc="-51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684" b="1" spc="-187" dirty="0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684" b="1" spc="-51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684" b="1" spc="-173" dirty="0">
                <a:solidFill>
                  <a:srgbClr val="001F5F"/>
                </a:solidFill>
                <a:latin typeface="Arial"/>
                <a:cs typeface="Arial"/>
              </a:rPr>
              <a:t>Constantine</a:t>
            </a:r>
            <a:r>
              <a:rPr sz="1684" b="1" spc="-51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684" b="1" spc="-61" dirty="0">
                <a:solidFill>
                  <a:srgbClr val="001F5F"/>
                </a:solidFill>
                <a:latin typeface="Arial"/>
                <a:cs typeface="Arial"/>
              </a:rPr>
              <a:t>3</a:t>
            </a:r>
            <a:r>
              <a:rPr lang="fr-FR" sz="1684" b="1" spc="-61" dirty="0">
                <a:solidFill>
                  <a:srgbClr val="001F5F"/>
                </a:solidFill>
                <a:latin typeface="Arial"/>
                <a:cs typeface="Arial"/>
              </a:rPr>
              <a:t> /</a:t>
            </a:r>
            <a:r>
              <a:rPr sz="1684" b="1" spc="-61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684" b="1" spc="-159" dirty="0">
                <a:solidFill>
                  <a:srgbClr val="001F5F"/>
                </a:solidFill>
                <a:latin typeface="Arial"/>
                <a:cs typeface="Arial"/>
              </a:rPr>
              <a:t>Faculté</a:t>
            </a:r>
            <a:r>
              <a:rPr sz="1684" b="1" spc="-7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684" b="1" spc="-187" dirty="0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684" b="1" spc="-75" dirty="0">
                <a:solidFill>
                  <a:srgbClr val="001F5F"/>
                </a:solidFill>
                <a:latin typeface="Arial"/>
                <a:cs typeface="Arial"/>
              </a:rPr>
              <a:t> Médecine</a:t>
            </a:r>
            <a:endParaRPr sz="1684" dirty="0">
              <a:latin typeface="Arial"/>
              <a:cs typeface="Arial"/>
            </a:endParaRPr>
          </a:p>
          <a:p>
            <a:pPr marL="594" algn="ctr"/>
            <a:r>
              <a:rPr sz="1684" b="1" spc="-173" dirty="0" smtClean="0">
                <a:solidFill>
                  <a:srgbClr val="001F5F"/>
                </a:solidFill>
                <a:latin typeface="Arial"/>
                <a:cs typeface="Arial"/>
              </a:rPr>
              <a:t>202</a:t>
            </a:r>
            <a:r>
              <a:rPr lang="fr-FR" sz="1684" b="1" spc="-84" dirty="0" smtClean="0">
                <a:solidFill>
                  <a:srgbClr val="001F5F"/>
                </a:solidFill>
                <a:latin typeface="Arial"/>
                <a:cs typeface="Arial"/>
              </a:rPr>
              <a:t>5_</a:t>
            </a:r>
            <a:r>
              <a:rPr sz="1684" b="1" spc="-19" dirty="0" smtClean="0">
                <a:solidFill>
                  <a:srgbClr val="001F5F"/>
                </a:solidFill>
                <a:latin typeface="Arial"/>
                <a:cs typeface="Arial"/>
              </a:rPr>
              <a:t>202</a:t>
            </a:r>
            <a:r>
              <a:rPr lang="fr-FR" sz="1684" b="1" spc="-19" dirty="0" smtClean="0">
                <a:solidFill>
                  <a:srgbClr val="001F5F"/>
                </a:solidFill>
                <a:latin typeface="Arial"/>
                <a:cs typeface="Arial"/>
              </a:rPr>
              <a:t>6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5032646"/>
            <a:ext cx="2133979" cy="146827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" y="221372"/>
            <a:ext cx="3330719" cy="140090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53469" y="2592391"/>
            <a:ext cx="11964247" cy="645375"/>
          </a:xfrm>
          <a:prstGeom prst="rect">
            <a:avLst/>
          </a:prstGeom>
        </p:spPr>
        <p:txBody>
          <a:bodyPr vert="horz" wrap="square" lIns="0" tIns="11880" rIns="0" bIns="0" rtlCol="0">
            <a:spAutoFit/>
          </a:bodyPr>
          <a:lstStyle/>
          <a:p>
            <a:pPr algn="ctr">
              <a:spcBef>
                <a:spcPts val="94"/>
              </a:spcBef>
            </a:pPr>
            <a:r>
              <a:rPr lang="fr-FR" sz="4116" b="1" spc="-1" dirty="0" smtClean="0">
                <a:solidFill>
                  <a:srgbClr val="002060"/>
                </a:solidFill>
                <a:ea typeface="+mj-ea"/>
                <a:cs typeface="+mj-cs"/>
              </a:rPr>
              <a:t>Organisation sanitaire en </a:t>
            </a:r>
            <a:r>
              <a:rPr lang="fr-FR" sz="4116" b="1" spc="-1" dirty="0">
                <a:solidFill>
                  <a:srgbClr val="002060"/>
                </a:solidFill>
                <a:ea typeface="+mj-ea"/>
                <a:cs typeface="+mj-cs"/>
              </a:rPr>
              <a:t>A</a:t>
            </a:r>
            <a:r>
              <a:rPr lang="fr-FR" sz="4116" b="1" spc="-1" dirty="0" smtClean="0">
                <a:solidFill>
                  <a:srgbClr val="002060"/>
                </a:solidFill>
                <a:ea typeface="+mj-ea"/>
                <a:cs typeface="+mj-cs"/>
              </a:rPr>
              <a:t>lgérie.</a:t>
            </a:r>
            <a:endParaRPr sz="3742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46114" y="5296381"/>
            <a:ext cx="7239001" cy="831070"/>
          </a:xfrm>
          <a:prstGeom prst="rect">
            <a:avLst/>
          </a:prstGeom>
        </p:spPr>
        <p:txBody>
          <a:bodyPr vert="horz" wrap="square" lIns="0" tIns="107515" rIns="0" bIns="0" rtlCol="0">
            <a:spAutoFit/>
          </a:bodyPr>
          <a:lstStyle/>
          <a:p>
            <a:pPr marL="11880" algn="ctr">
              <a:spcBef>
                <a:spcPts val="847"/>
              </a:spcBef>
              <a:tabLst>
                <a:tab pos="457364" algn="l"/>
              </a:tabLst>
            </a:pPr>
            <a:r>
              <a:rPr sz="1871" i="1" spc="-23" dirty="0">
                <a:solidFill>
                  <a:srgbClr val="001F5F"/>
                </a:solidFill>
                <a:latin typeface="Trebuchet MS"/>
                <a:cs typeface="Trebuchet MS"/>
              </a:rPr>
              <a:t>Pr.</a:t>
            </a:r>
            <a:r>
              <a:rPr sz="1871" i="1" dirty="0">
                <a:solidFill>
                  <a:srgbClr val="001F5F"/>
                </a:solidFill>
                <a:latin typeface="Trebuchet MS"/>
                <a:cs typeface="Trebuchet MS"/>
              </a:rPr>
              <a:t>	</a:t>
            </a:r>
            <a:r>
              <a:rPr lang="fr-FR" sz="1871" i="1" dirty="0">
                <a:solidFill>
                  <a:srgbClr val="001F5F"/>
                </a:solidFill>
                <a:latin typeface="Trebuchet MS"/>
                <a:cs typeface="Trebuchet MS"/>
              </a:rPr>
              <a:t>I. </a:t>
            </a:r>
            <a:r>
              <a:rPr lang="fr-FR" sz="1871" i="1" spc="80" dirty="0">
                <a:solidFill>
                  <a:srgbClr val="001F5F"/>
                </a:solidFill>
                <a:latin typeface="Trebuchet MS"/>
                <a:cs typeface="Trebuchet MS"/>
              </a:rPr>
              <a:t>Medkour</a:t>
            </a:r>
            <a:endParaRPr sz="1871" dirty="0">
              <a:latin typeface="Trebuchet MS"/>
              <a:cs typeface="Trebuchet MS"/>
            </a:endParaRPr>
          </a:p>
          <a:p>
            <a:pPr marL="11880" marR="4752" algn="ctr">
              <a:lnSpc>
                <a:spcPct val="121300"/>
              </a:lnSpc>
              <a:spcBef>
                <a:spcPts val="150"/>
              </a:spcBef>
            </a:pPr>
            <a:r>
              <a:rPr sz="1029" i="1" spc="42" dirty="0">
                <a:solidFill>
                  <a:srgbClr val="001F5F"/>
                </a:solidFill>
                <a:latin typeface="Trebuchet MS"/>
                <a:cs typeface="Trebuchet MS"/>
              </a:rPr>
              <a:t>Faculté</a:t>
            </a:r>
            <a:r>
              <a:rPr sz="1029" i="1" spc="23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1029" i="1" spc="75" dirty="0">
                <a:solidFill>
                  <a:srgbClr val="001F5F"/>
                </a:solidFill>
                <a:latin typeface="Trebuchet MS"/>
                <a:cs typeface="Trebuchet MS"/>
              </a:rPr>
              <a:t>de</a:t>
            </a:r>
            <a:r>
              <a:rPr sz="1029" i="1" spc="23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1029" i="1" spc="70" dirty="0">
                <a:solidFill>
                  <a:srgbClr val="001F5F"/>
                </a:solidFill>
                <a:latin typeface="Trebuchet MS"/>
                <a:cs typeface="Trebuchet MS"/>
              </a:rPr>
              <a:t>Médecine</a:t>
            </a:r>
            <a:r>
              <a:rPr sz="1029" i="1" spc="36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1029" i="1" dirty="0">
                <a:solidFill>
                  <a:srgbClr val="001F5F"/>
                </a:solidFill>
                <a:latin typeface="Trebuchet MS"/>
                <a:cs typeface="Trebuchet MS"/>
              </a:rPr>
              <a:t>-</a:t>
            </a:r>
            <a:r>
              <a:rPr sz="1029" i="1" spc="14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1029" i="1" spc="42" dirty="0">
                <a:solidFill>
                  <a:srgbClr val="001F5F"/>
                </a:solidFill>
                <a:latin typeface="Trebuchet MS"/>
                <a:cs typeface="Trebuchet MS"/>
              </a:rPr>
              <a:t>Université</a:t>
            </a:r>
            <a:r>
              <a:rPr sz="1029" i="1" spc="23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1029" i="1" spc="70" dirty="0">
                <a:solidFill>
                  <a:srgbClr val="001F5F"/>
                </a:solidFill>
                <a:latin typeface="Trebuchet MS"/>
                <a:cs typeface="Trebuchet MS"/>
              </a:rPr>
              <a:t>Salah</a:t>
            </a:r>
            <a:r>
              <a:rPr sz="1029" i="1" spc="14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1029" i="1" spc="103" dirty="0">
                <a:solidFill>
                  <a:srgbClr val="001F5F"/>
                </a:solidFill>
                <a:latin typeface="Trebuchet MS"/>
                <a:cs typeface="Trebuchet MS"/>
              </a:rPr>
              <a:t>BOUBNIDER</a:t>
            </a:r>
            <a:r>
              <a:rPr sz="1029" i="1" spc="19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1029" i="1" spc="51" dirty="0">
                <a:solidFill>
                  <a:srgbClr val="001F5F"/>
                </a:solidFill>
                <a:latin typeface="Trebuchet MS"/>
                <a:cs typeface="Trebuchet MS"/>
              </a:rPr>
              <a:t>Constantine</a:t>
            </a:r>
            <a:r>
              <a:rPr sz="1029" i="1" spc="28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1029" i="1" spc="112" dirty="0">
                <a:solidFill>
                  <a:srgbClr val="001F5F"/>
                </a:solidFill>
                <a:latin typeface="Trebuchet MS"/>
                <a:cs typeface="Trebuchet MS"/>
              </a:rPr>
              <a:t>3</a:t>
            </a:r>
            <a:r>
              <a:rPr sz="1029" i="1" spc="23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1029" i="1" dirty="0">
                <a:solidFill>
                  <a:srgbClr val="001F5F"/>
                </a:solidFill>
                <a:latin typeface="Trebuchet MS"/>
                <a:cs typeface="Trebuchet MS"/>
              </a:rPr>
              <a:t>-</a:t>
            </a:r>
            <a:r>
              <a:rPr sz="1029" i="1" spc="351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1029" i="1" spc="-9" dirty="0">
                <a:solidFill>
                  <a:srgbClr val="001F5F"/>
                </a:solidFill>
                <a:latin typeface="Trebuchet MS"/>
                <a:cs typeface="Trebuchet MS"/>
              </a:rPr>
              <a:t>Algérie. </a:t>
            </a:r>
            <a:endParaRPr lang="fr-FR" sz="1029" i="1" spc="-9" dirty="0">
              <a:solidFill>
                <a:srgbClr val="001F5F"/>
              </a:solidFill>
              <a:latin typeface="Trebuchet MS"/>
              <a:cs typeface="Trebuchet MS"/>
            </a:endParaRPr>
          </a:p>
          <a:p>
            <a:pPr marL="11880" marR="4752" algn="ctr">
              <a:lnSpc>
                <a:spcPct val="121300"/>
              </a:lnSpc>
              <a:spcBef>
                <a:spcPts val="150"/>
              </a:spcBef>
            </a:pPr>
            <a:r>
              <a:rPr sz="1029" i="1" spc="98" dirty="0">
                <a:solidFill>
                  <a:srgbClr val="001F5F"/>
                </a:solidFill>
                <a:latin typeface="Trebuchet MS"/>
                <a:cs typeface="Trebuchet MS"/>
              </a:rPr>
              <a:t>SEMEP</a:t>
            </a:r>
            <a:r>
              <a:rPr sz="1029" i="1" spc="19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1029" i="1" spc="84" dirty="0">
                <a:solidFill>
                  <a:srgbClr val="001F5F"/>
                </a:solidFill>
                <a:latin typeface="Trebuchet MS"/>
                <a:cs typeface="Trebuchet MS"/>
              </a:rPr>
              <a:t>CHU</a:t>
            </a:r>
            <a:r>
              <a:rPr sz="1029" i="1" spc="14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1029" i="1" spc="51" dirty="0">
                <a:solidFill>
                  <a:srgbClr val="001F5F"/>
                </a:solidFill>
                <a:latin typeface="Trebuchet MS"/>
                <a:cs typeface="Trebuchet MS"/>
              </a:rPr>
              <a:t>Constantine</a:t>
            </a:r>
            <a:r>
              <a:rPr sz="1029" i="1" spc="28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1029" i="1" spc="136" dirty="0">
                <a:solidFill>
                  <a:srgbClr val="001F5F"/>
                </a:solidFill>
                <a:latin typeface="Trebuchet MS"/>
                <a:cs typeface="Trebuchet MS"/>
              </a:rPr>
              <a:t>–</a:t>
            </a:r>
            <a:r>
              <a:rPr sz="1029" i="1" spc="19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1029" i="1" spc="-9" dirty="0" err="1">
                <a:solidFill>
                  <a:srgbClr val="001F5F"/>
                </a:solidFill>
                <a:latin typeface="Trebuchet MS"/>
                <a:cs typeface="Trebuchet MS"/>
              </a:rPr>
              <a:t>Algérie</a:t>
            </a:r>
            <a:r>
              <a:rPr sz="1029" i="1" spc="-9" dirty="0">
                <a:solidFill>
                  <a:srgbClr val="001F5F"/>
                </a:solidFill>
                <a:latin typeface="Trebuchet MS"/>
                <a:cs typeface="Trebuchet MS"/>
              </a:rPr>
              <a:t>.</a:t>
            </a:r>
            <a:endParaRPr sz="1029" dirty="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92004" y="4935664"/>
            <a:ext cx="2383198" cy="1590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93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Objectifs pédagogiques 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 smtClean="0"/>
              <a:t>Comprendre les fondements : </a:t>
            </a:r>
            <a:r>
              <a:rPr lang="fr-FR" dirty="0" smtClean="0"/>
              <a:t>Connaître l'organisation, l'évolution historique et les missions de la sécurité sociale.</a:t>
            </a:r>
          </a:p>
          <a:p>
            <a:r>
              <a:rPr lang="fr-FR" b="1" dirty="0" smtClean="0"/>
              <a:t>Analyser l'organisation : </a:t>
            </a:r>
            <a:r>
              <a:rPr lang="fr-FR" dirty="0" smtClean="0"/>
              <a:t>Décrire la structure actuelle du système national de santé (SNS) algérien et ses composantes.</a:t>
            </a:r>
          </a:p>
          <a:p>
            <a:r>
              <a:rPr lang="fr-FR" b="1" dirty="0" smtClean="0"/>
              <a:t>Comparer les modèles :</a:t>
            </a:r>
            <a:r>
              <a:rPr lang="fr-FR" dirty="0" smtClean="0"/>
              <a:t> Être capable de confronter le modèle algérien aux différents systèmes de santé dans le monde (Bismarckien vs </a:t>
            </a:r>
            <a:r>
              <a:rPr lang="fr-FR" dirty="0" err="1" smtClean="0"/>
              <a:t>Beveridgien</a:t>
            </a:r>
            <a:r>
              <a:rPr lang="fr-FR" dirty="0" smtClean="0"/>
              <a:t>).</a:t>
            </a:r>
          </a:p>
          <a:p>
            <a:r>
              <a:rPr lang="fr-FR" b="1" dirty="0" smtClean="0"/>
              <a:t>Planifier et réformer : </a:t>
            </a:r>
            <a:r>
              <a:rPr lang="fr-FR" dirty="0" smtClean="0"/>
              <a:t>Expliquer l'importance de la planification sanitaire et identifier les enjeux des réformes actuelles. </a:t>
            </a:r>
          </a:p>
        </p:txBody>
      </p:sp>
    </p:spTree>
    <p:extLst>
      <p:ext uri="{BB962C8B-B14F-4D97-AF65-F5344CB8AC3E}">
        <p14:creationId xmlns:p14="http://schemas.microsoft.com/office/powerpoint/2010/main" val="2057471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Compétences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smtClean="0"/>
              <a:t>À l'issue de ce cours, l'apprenant doit avoir acquis des capacités d'analyse et de gestion essentielles pour sa future pratique :</a:t>
            </a:r>
          </a:p>
          <a:p>
            <a:r>
              <a:rPr lang="fr-FR" b="1" dirty="0" smtClean="0"/>
              <a:t>Capacité de synthèse : </a:t>
            </a:r>
            <a:r>
              <a:rPr lang="fr-FR" dirty="0" smtClean="0"/>
              <a:t>Identifier les forces et faiblesses du système de santé national (problèmes de distribution régionale, qualité des soins).</a:t>
            </a:r>
          </a:p>
          <a:p>
            <a:r>
              <a:rPr lang="fr-FR" b="1" dirty="0" smtClean="0"/>
              <a:t>Maîtrise des piliers de l'OMS :</a:t>
            </a:r>
            <a:r>
              <a:rPr lang="fr-FR" dirty="0" smtClean="0"/>
              <a:t> Savoir évaluer un système selon les 6 piliers (gouvernance, financement, ressources humaines, etc.).</a:t>
            </a:r>
          </a:p>
          <a:p>
            <a:r>
              <a:rPr lang="fr-FR" b="1" dirty="0" smtClean="0"/>
              <a:t>Orientation patient : </a:t>
            </a:r>
            <a:r>
              <a:rPr lang="fr-FR" dirty="0" smtClean="0"/>
              <a:t>Intégrer les concepts d'équité, d'accessibilité et de continuité des soins dans le parcours du patient.</a:t>
            </a:r>
          </a:p>
          <a:p>
            <a:r>
              <a:rPr lang="fr-FR" b="1" dirty="0" smtClean="0">
                <a:solidFill>
                  <a:schemeClr val="bg1">
                    <a:lumMod val="95000"/>
                  </a:schemeClr>
                </a:solidFill>
              </a:rPr>
              <a:t>Évaluation professionnelle : </a:t>
            </a:r>
            <a:r>
              <a:rPr lang="fr-FR" dirty="0" smtClean="0">
                <a:solidFill>
                  <a:schemeClr val="bg1">
                    <a:lumMod val="95000"/>
                  </a:schemeClr>
                </a:solidFill>
              </a:rPr>
              <a:t>Pour les cycles supérieurs, être capable d'accomplir des Activités professionnelles </a:t>
            </a:r>
            <a:r>
              <a:rPr lang="fr-FR" dirty="0" err="1" smtClean="0">
                <a:solidFill>
                  <a:schemeClr val="bg1">
                    <a:lumMod val="95000"/>
                  </a:schemeClr>
                </a:solidFill>
              </a:rPr>
              <a:t>confiables</a:t>
            </a:r>
            <a:r>
              <a:rPr lang="fr-FR" dirty="0" smtClean="0">
                <a:solidFill>
                  <a:schemeClr val="bg1">
                    <a:lumMod val="95000"/>
                  </a:schemeClr>
                </a:solidFill>
              </a:rPr>
              <a:t> en pédagogie médicale, garantissant une pratique autonome et sécuritaire.</a:t>
            </a:r>
            <a:endParaRPr lang="en-US" dirty="0" smtClean="0">
              <a:solidFill>
                <a:schemeClr val="bg1">
                  <a:lumMod val="95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95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Plan 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b="1" dirty="0" smtClean="0"/>
              <a:t>Introduction-Définitions et historique</a:t>
            </a:r>
          </a:p>
          <a:p>
            <a:pPr marL="514350" indent="-514350">
              <a:buFont typeface="+mj-lt"/>
              <a:buAutoNum type="arabicPeriod"/>
            </a:pPr>
            <a:r>
              <a:rPr lang="fr-FR" b="1" dirty="0" smtClean="0"/>
              <a:t>Différents systèmes de santé dans le monde</a:t>
            </a:r>
          </a:p>
          <a:p>
            <a:pPr marL="514350" indent="-514350">
              <a:buFont typeface="+mj-lt"/>
              <a:buAutoNum type="arabicPeriod"/>
            </a:pPr>
            <a:r>
              <a:rPr lang="fr-FR" b="1" dirty="0" smtClean="0"/>
              <a:t>Système de santé selon l’OMS</a:t>
            </a:r>
            <a:endParaRPr lang="fr-FR" b="1" dirty="0"/>
          </a:p>
          <a:p>
            <a:pPr marL="514350" indent="-514350">
              <a:buFont typeface="+mj-lt"/>
              <a:buAutoNum type="arabicPeriod"/>
            </a:pPr>
            <a:r>
              <a:rPr lang="fr-FR" b="1" dirty="0" smtClean="0"/>
              <a:t>Organisation sanitaire en Algérie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dirty="0" smtClean="0"/>
              <a:t>Administration Centrale 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dirty="0" smtClean="0"/>
              <a:t>Secteur Public (Prédominant) 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dirty="0" smtClean="0"/>
              <a:t>Secteur Privé 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dirty="0" smtClean="0"/>
              <a:t>Financement</a:t>
            </a:r>
            <a:endParaRPr lang="fr-FR" dirty="0" smtClean="0"/>
          </a:p>
          <a:p>
            <a:pPr marL="971550" lvl="1" indent="-514350">
              <a:buFont typeface="+mj-lt"/>
              <a:buAutoNum type="arabicPeriod"/>
            </a:pPr>
            <a:r>
              <a:rPr lang="fr-FR" b="1" dirty="0" smtClean="0"/>
              <a:t>Accès 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dirty="0" smtClean="0"/>
              <a:t>Ressources Humaines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dirty="0" smtClean="0"/>
              <a:t>Forces et faiblesses </a:t>
            </a:r>
          </a:p>
          <a:p>
            <a:pPr marL="514350" indent="-514350">
              <a:buFont typeface="+mj-lt"/>
              <a:buAutoNum type="arabicPeriod"/>
            </a:pPr>
            <a:r>
              <a:rPr lang="fr-FR" b="1" dirty="0" smtClean="0"/>
              <a:t>Conclusion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970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Historique 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fr-FR" b="1" dirty="0">
                <a:solidFill>
                  <a:srgbClr val="FF0000"/>
                </a:solidFill>
              </a:rPr>
              <a:t>Initialement </a:t>
            </a:r>
            <a:r>
              <a:rPr lang="fr-FR" b="1" dirty="0" smtClean="0">
                <a:solidFill>
                  <a:srgbClr val="FF0000"/>
                </a:solidFill>
              </a:rPr>
              <a:t>: </a:t>
            </a:r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r>
              <a:rPr lang="fr-FR" dirty="0" smtClean="0"/>
              <a:t>Activités </a:t>
            </a:r>
            <a:r>
              <a:rPr lang="fr-FR" dirty="0"/>
              <a:t>relevant des professions médicales et des associations caritatives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r>
              <a:rPr lang="fr-FR" b="1" dirty="0" smtClean="0">
                <a:solidFill>
                  <a:srgbClr val="FF0000"/>
                </a:solidFill>
              </a:rPr>
              <a:t>Après </a:t>
            </a:r>
            <a:r>
              <a:rPr lang="fr-FR" b="1" dirty="0">
                <a:solidFill>
                  <a:srgbClr val="FF0000"/>
                </a:solidFill>
              </a:rPr>
              <a:t>2ème guerre mondiale: </a:t>
            </a:r>
          </a:p>
          <a:p>
            <a:pPr>
              <a:buNone/>
            </a:pPr>
            <a:r>
              <a:rPr lang="fr-FR" dirty="0"/>
              <a:t>   </a:t>
            </a:r>
            <a:endParaRPr lang="fr-FR" dirty="0" smtClean="0"/>
          </a:p>
          <a:p>
            <a:pPr>
              <a:buNone/>
            </a:pPr>
            <a:r>
              <a:rPr lang="fr-FR" b="1" dirty="0" smtClean="0"/>
              <a:t>Emprise </a:t>
            </a:r>
            <a:r>
              <a:rPr lang="fr-FR" b="1" dirty="0"/>
              <a:t>des </a:t>
            </a:r>
            <a:r>
              <a:rPr lang="fr-FR" b="1" dirty="0" smtClean="0"/>
              <a:t>états</a:t>
            </a:r>
            <a:r>
              <a:rPr lang="fr-FR" dirty="0" smtClean="0"/>
              <a:t> </a:t>
            </a:r>
            <a:r>
              <a:rPr lang="fr-FR" dirty="0"/>
              <a:t>sur le secteur de la santé avec </a:t>
            </a:r>
            <a:r>
              <a:rPr lang="fr-FR" b="1" dirty="0"/>
              <a:t>développement de politiques sanitaires</a:t>
            </a:r>
            <a:r>
              <a:rPr lang="fr-FR" dirty="0"/>
              <a:t> incontournables dans les décisions d’organisation et de financement</a:t>
            </a:r>
          </a:p>
        </p:txBody>
      </p:sp>
    </p:spTree>
    <p:extLst>
      <p:ext uri="{BB962C8B-B14F-4D97-AF65-F5344CB8AC3E}">
        <p14:creationId xmlns:p14="http://schemas.microsoft.com/office/powerpoint/2010/main" val="3570024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Définitions 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fr-FR" sz="2400" dirty="0" smtClean="0"/>
              <a:t>L’OMS (WHO) se base sur le concept d’activité de santé pour la définition: </a:t>
            </a:r>
          </a:p>
          <a:p>
            <a:pPr>
              <a:lnSpc>
                <a:spcPct val="80000"/>
              </a:lnSpc>
              <a:buFontTx/>
              <a:buNone/>
            </a:pPr>
            <a:endParaRPr lang="fr-FR" sz="2400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fr-FR" sz="2400" dirty="0" smtClean="0"/>
              <a:t>Le </a:t>
            </a:r>
            <a:r>
              <a:rPr lang="fr-FR" sz="2400" b="1" dirty="0" smtClean="0"/>
              <a:t>système de santé </a:t>
            </a:r>
            <a:r>
              <a:rPr lang="fr-FR" sz="2400" dirty="0" smtClean="0"/>
              <a:t>inclut tous les activités dont le but principal est de: </a:t>
            </a:r>
          </a:p>
          <a:p>
            <a:pPr>
              <a:lnSpc>
                <a:spcPct val="80000"/>
              </a:lnSpc>
              <a:buFontTx/>
              <a:buNone/>
            </a:pPr>
            <a:endParaRPr lang="fr-FR" sz="2400" dirty="0" smtClean="0"/>
          </a:p>
          <a:p>
            <a:pPr lvl="2">
              <a:lnSpc>
                <a:spcPct val="80000"/>
              </a:lnSpc>
            </a:pPr>
            <a:r>
              <a:rPr lang="fr-FR" sz="2400" b="1" dirty="0" smtClean="0"/>
              <a:t>Restaurer</a:t>
            </a:r>
            <a:endParaRPr lang="fr-FR" sz="2400" dirty="0" smtClean="0"/>
          </a:p>
          <a:p>
            <a:pPr lvl="2">
              <a:lnSpc>
                <a:spcPct val="80000"/>
              </a:lnSpc>
            </a:pPr>
            <a:endParaRPr lang="fr-FR" sz="2400" dirty="0" smtClean="0"/>
          </a:p>
          <a:p>
            <a:pPr lvl="2">
              <a:lnSpc>
                <a:spcPct val="80000"/>
              </a:lnSpc>
            </a:pPr>
            <a:r>
              <a:rPr lang="fr-FR" sz="2400" b="1" dirty="0" smtClean="0"/>
              <a:t>Maintenir la santé.</a:t>
            </a:r>
            <a:endParaRPr lang="fr-FR" sz="2400" dirty="0"/>
          </a:p>
          <a:p>
            <a:pPr lvl="2">
              <a:lnSpc>
                <a:spcPct val="80000"/>
              </a:lnSpc>
            </a:pPr>
            <a:endParaRPr lang="fr-FR" sz="2400" dirty="0" smtClean="0"/>
          </a:p>
          <a:p>
            <a:pPr lvl="2">
              <a:lnSpc>
                <a:spcPct val="80000"/>
              </a:lnSpc>
            </a:pPr>
            <a:r>
              <a:rPr lang="fr-FR" sz="2400" b="1" dirty="0" smtClean="0"/>
              <a:t>Promouvoir</a:t>
            </a:r>
            <a:endParaRPr lang="fr-FR" sz="24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849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Définitions 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b="1" dirty="0" smtClean="0"/>
              <a:t>1. Le Système de Soins (La partie visible)</a:t>
            </a:r>
          </a:p>
          <a:p>
            <a:endParaRPr lang="fr-FR" sz="2400" dirty="0" smtClean="0"/>
          </a:p>
          <a:p>
            <a:r>
              <a:rPr lang="fr-FR" sz="2400" dirty="0" smtClean="0"/>
              <a:t>Il se concentre sur la maladie et le traitement des patients. C’est l’ensemble des ressources (humaines, techniques, financières) directement mobilisées pour soigner.</a:t>
            </a:r>
          </a:p>
          <a:p>
            <a:pPr lvl="1"/>
            <a:r>
              <a:rPr lang="fr-FR" sz="2000" b="1" dirty="0" smtClean="0"/>
              <a:t>Acteurs :</a:t>
            </a:r>
            <a:r>
              <a:rPr lang="fr-FR" sz="2000" dirty="0" smtClean="0"/>
              <a:t> Hôpitaux, cliniques, médecins, infirmiers, pharmacies.</a:t>
            </a:r>
          </a:p>
          <a:p>
            <a:pPr lvl="1"/>
            <a:r>
              <a:rPr lang="fr-FR" sz="2000" b="1" dirty="0" smtClean="0"/>
              <a:t>Action : </a:t>
            </a:r>
            <a:r>
              <a:rPr lang="fr-FR" sz="2000" dirty="0" smtClean="0"/>
              <a:t>Diagnostic, traitement, chirurgie, rééducation.</a:t>
            </a:r>
          </a:p>
          <a:p>
            <a:pPr lvl="1"/>
            <a:r>
              <a:rPr lang="fr-FR" sz="2000" b="1" dirty="0" smtClean="0"/>
              <a:t>Objectif </a:t>
            </a:r>
            <a:r>
              <a:rPr lang="fr-FR" sz="2000" dirty="0" smtClean="0"/>
              <a:t>: Guérir ou soulager une pathologie précise.</a:t>
            </a:r>
          </a:p>
          <a:p>
            <a:pPr lvl="1"/>
            <a:r>
              <a:rPr lang="fr-FR" sz="2000" b="1" dirty="0" smtClean="0"/>
              <a:t>Exemple : </a:t>
            </a:r>
            <a:r>
              <a:rPr lang="fr-FR" sz="2000" dirty="0" smtClean="0"/>
              <a:t>Prise en charge d’une opération de l'appendicite ou une consultation pour une grippe.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78493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Définitions 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b="1" dirty="0" smtClean="0"/>
              <a:t>2. Le Système de Santé (La vision globale)</a:t>
            </a:r>
          </a:p>
          <a:p>
            <a:r>
              <a:rPr lang="fr-FR" sz="2400" dirty="0" smtClean="0"/>
              <a:t>Il englobe le système de soins</a:t>
            </a:r>
          </a:p>
          <a:p>
            <a:r>
              <a:rPr lang="fr-FR" sz="2400" dirty="0" smtClean="0"/>
              <a:t>Selon l'OMS, il comprend toutes les activités dont le but principal est de promouvoir, restaurer ou maintenir la santé.</a:t>
            </a:r>
          </a:p>
          <a:p>
            <a:pPr lvl="1"/>
            <a:r>
              <a:rPr lang="fr-FR" sz="2000" b="1" dirty="0" smtClean="0"/>
              <a:t>Composantes : </a:t>
            </a:r>
            <a:r>
              <a:rPr lang="fr-FR" sz="2000" dirty="0" smtClean="0"/>
              <a:t>Santé publique, prévention, environnement, législation, financement.</a:t>
            </a:r>
          </a:p>
          <a:p>
            <a:pPr lvl="1"/>
            <a:r>
              <a:rPr lang="fr-FR" sz="2000" b="1" dirty="0" smtClean="0"/>
              <a:t>Action : </a:t>
            </a:r>
            <a:r>
              <a:rPr lang="fr-FR" sz="2000" dirty="0" smtClean="0"/>
              <a:t>Campagnes de vaccination, lutte contre le tabagisme, contrôle de la qualité de l'eau, sécurité routière, éducation à l'alimentation.</a:t>
            </a:r>
          </a:p>
          <a:p>
            <a:pPr lvl="1"/>
            <a:r>
              <a:rPr lang="fr-FR" sz="2000" b="1" dirty="0" smtClean="0"/>
              <a:t>Objectif : </a:t>
            </a:r>
            <a:r>
              <a:rPr lang="fr-FR" sz="2000" dirty="0" smtClean="0"/>
              <a:t>Agir sur les déterminants de la santé pour éviter que les gens ne tombent malades.</a:t>
            </a:r>
          </a:p>
          <a:p>
            <a:r>
              <a:rPr lang="fr-FR" sz="2400" b="1" dirty="0" smtClean="0"/>
              <a:t>Exemple : </a:t>
            </a:r>
            <a:r>
              <a:rPr lang="fr-FR" sz="2400" dirty="0" smtClean="0"/>
              <a:t>Le plan national de lutte contre le cancer en Algérie ou l'obligation du port de la ceinture de sécurité.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71067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Définitions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 smtClean="0"/>
              <a:t>En résumé : </a:t>
            </a:r>
          </a:p>
          <a:p>
            <a:endParaRPr lang="fr-FR" dirty="0" smtClean="0"/>
          </a:p>
          <a:p>
            <a:r>
              <a:rPr lang="fr-FR" dirty="0" smtClean="0"/>
              <a:t>Le système de soins est l'outil que l'on utilise quand la santé fait défaut. </a:t>
            </a:r>
          </a:p>
          <a:p>
            <a:endParaRPr lang="fr-FR" dirty="0"/>
          </a:p>
          <a:p>
            <a:r>
              <a:rPr lang="fr-FR" dirty="0" smtClean="0"/>
              <a:t>Le système de santé est l'organisation globale qui veille à ce que la population reste en bonne santé le plus longtemps possible.</a:t>
            </a:r>
          </a:p>
          <a:p>
            <a:endParaRPr lang="fr-FR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700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Définitions</a:t>
            </a:r>
            <a:endParaRPr lang="en-US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4442103"/>
              </p:ext>
            </p:extLst>
          </p:nvPr>
        </p:nvGraphicFramePr>
        <p:xfrm>
          <a:off x="838200" y="1825625"/>
          <a:ext cx="10515600" cy="313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43646333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8048218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311549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200" dirty="0" smtClean="0"/>
                        <a:t>Caractéristique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 dirty="0" smtClean="0"/>
                        <a:t>Système de Soins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200" dirty="0" smtClean="0"/>
                        <a:t>Système de Santé</a:t>
                      </a:r>
                    </a:p>
                    <a:p>
                      <a:pPr algn="ctr"/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18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200" dirty="0" smtClean="0"/>
                        <a:t>Focus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 dirty="0" smtClean="0"/>
                        <a:t>La maladie (curatif)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200" dirty="0" smtClean="0"/>
                        <a:t>  La santé (préventif + curatif)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179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200" dirty="0" smtClean="0"/>
                        <a:t>Approche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 dirty="0" smtClean="0"/>
                        <a:t>Individuelle  (le patient)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 dirty="0" smtClean="0"/>
                        <a:t>Collective (la population)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757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200" dirty="0" smtClean="0"/>
                        <a:t>Temporalité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 dirty="0" smtClean="0"/>
                        <a:t>Le présent (urgence/soin)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200" dirty="0" smtClean="0"/>
                        <a:t>Le long terme (prévention)</a:t>
                      </a:r>
                    </a:p>
                    <a:p>
                      <a:pPr algn="ctr"/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985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200" dirty="0" smtClean="0"/>
                        <a:t>Responsabilité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 dirty="0" smtClean="0"/>
                        <a:t>Professionnels de santé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200" dirty="0" smtClean="0"/>
                        <a:t>État, ministères, société civile</a:t>
                      </a:r>
                      <a:endParaRPr lang="en-US" sz="22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405578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936955" y="433961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 smtClean="0"/>
              <a:t>				</a:t>
            </a:r>
          </a:p>
          <a:p>
            <a:r>
              <a:rPr lang="fr-FR" dirty="0" smtClean="0"/>
              <a:t>			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476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Types des systèmes de santé</a:t>
            </a:r>
            <a:endParaRPr lang="en-US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95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1. Le Modèle Beveridge (Service National de Santé)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dirty="0" smtClean="0"/>
              <a:t>C'est le modèle du </a:t>
            </a:r>
            <a:r>
              <a:rPr lang="fr-FR" sz="2400" b="1" dirty="0" smtClean="0">
                <a:solidFill>
                  <a:srgbClr val="FF0000"/>
                </a:solidFill>
              </a:rPr>
              <a:t>« soin pour tous » </a:t>
            </a:r>
          </a:p>
          <a:p>
            <a:pPr lvl="1"/>
            <a:r>
              <a:rPr lang="fr-FR" b="1" dirty="0"/>
              <a:t>F</a:t>
            </a:r>
            <a:r>
              <a:rPr lang="fr-FR" b="1" dirty="0" smtClean="0"/>
              <a:t>inancé par l'impôt</a:t>
            </a:r>
            <a:r>
              <a:rPr lang="fr-FR" dirty="0" smtClean="0"/>
              <a:t>. </a:t>
            </a:r>
          </a:p>
          <a:p>
            <a:pPr lvl="1"/>
            <a:r>
              <a:rPr lang="fr-FR" b="1" dirty="0" smtClean="0"/>
              <a:t>L'État gère les hôpitaux et paie </a:t>
            </a:r>
            <a:r>
              <a:rPr lang="fr-FR" dirty="0" smtClean="0"/>
              <a:t>le personnel médical. </a:t>
            </a:r>
          </a:p>
          <a:p>
            <a:endParaRPr lang="fr-FR" sz="2400" b="1" dirty="0" smtClean="0"/>
          </a:p>
          <a:p>
            <a:r>
              <a:rPr lang="fr-FR" sz="2400" b="1" dirty="0" smtClean="0"/>
              <a:t>Exemples : </a:t>
            </a:r>
            <a:r>
              <a:rPr lang="fr-FR" sz="2400" dirty="0" smtClean="0"/>
              <a:t>Royaume-Uni (NHS), Espagne, Suède, Cuba.</a:t>
            </a:r>
          </a:p>
          <a:p>
            <a:r>
              <a:rPr lang="fr-FR" sz="2400" b="1" dirty="0" smtClean="0"/>
              <a:t>Avantages : </a:t>
            </a:r>
            <a:r>
              <a:rPr lang="fr-FR" sz="2400" dirty="0" smtClean="0"/>
              <a:t>Accès universel </a:t>
            </a:r>
            <a:r>
              <a:rPr lang="fr-FR" sz="2400" dirty="0" smtClean="0"/>
              <a:t>gratuit, </a:t>
            </a:r>
            <a:r>
              <a:rPr lang="fr-FR" sz="2400" dirty="0" smtClean="0"/>
              <a:t>très peu coûteux, forte régulation des coûts par l'État.</a:t>
            </a:r>
          </a:p>
          <a:p>
            <a:r>
              <a:rPr lang="fr-FR" sz="2400" b="1" dirty="0" smtClean="0"/>
              <a:t>Inconvénients : </a:t>
            </a:r>
            <a:r>
              <a:rPr lang="fr-FR" sz="2400" dirty="0" smtClean="0"/>
              <a:t>Listes d'attente souvent longues pour les soins non urgents, risque de sous-financement chronique, moins de choix pour le patient.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63513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2. Le Modèle Bismarck (Assurance Sociale)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b="1" dirty="0" smtClean="0"/>
              <a:t>Caractéristiques : </a:t>
            </a:r>
          </a:p>
          <a:p>
            <a:pPr lvl="1"/>
            <a:r>
              <a:rPr lang="fr-FR" dirty="0" smtClean="0"/>
              <a:t>Basé sur un système de cotisations obligatoires prélevées sur les salaires (employeurs et employés). </a:t>
            </a:r>
          </a:p>
          <a:p>
            <a:pPr lvl="1"/>
            <a:r>
              <a:rPr lang="fr-FR" dirty="0" smtClean="0"/>
              <a:t>Les soins sont prodigués par des prestataires souvent privés ou mutualistes. </a:t>
            </a:r>
          </a:p>
          <a:p>
            <a:r>
              <a:rPr lang="fr-FR" sz="2400" b="1" dirty="0" smtClean="0"/>
              <a:t>Exemples :</a:t>
            </a:r>
            <a:r>
              <a:rPr lang="fr-FR" sz="2400" dirty="0" smtClean="0"/>
              <a:t> Allemagne, France, Japon, Belgique.</a:t>
            </a:r>
          </a:p>
          <a:p>
            <a:r>
              <a:rPr lang="fr-FR" sz="2400" b="1" dirty="0" smtClean="0"/>
              <a:t>Avantages : </a:t>
            </a:r>
            <a:r>
              <a:rPr lang="fr-FR" sz="2400" dirty="0" smtClean="0"/>
              <a:t>Temps d'attente courts, grande liberté de choix du médecin, qualité de service élevée.</a:t>
            </a:r>
          </a:p>
          <a:p>
            <a:r>
              <a:rPr lang="fr-FR" sz="2400" b="1" dirty="0" smtClean="0"/>
              <a:t>Inconvénients : </a:t>
            </a:r>
            <a:r>
              <a:rPr lang="fr-FR" sz="2400" dirty="0" smtClean="0"/>
              <a:t>Coût de gestion élevé</a:t>
            </a:r>
            <a:r>
              <a:rPr lang="fr-FR" sz="2400" dirty="0" smtClean="0"/>
              <a:t>, les cotisations peuvent peser sur le coût du travail (chômage), </a:t>
            </a:r>
            <a:r>
              <a:rPr lang="fr-FR" sz="2400" dirty="0" smtClean="0"/>
              <a:t>moins </a:t>
            </a:r>
            <a:r>
              <a:rPr lang="fr-FR" sz="2400" dirty="0" smtClean="0"/>
              <a:t>d'équité si la couverture n'est pas totale.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45682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3. Le Modèle de l'Assurance Nationale (Mixte)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b="1" dirty="0" smtClean="0"/>
              <a:t>Caractéristiques </a:t>
            </a:r>
            <a:r>
              <a:rPr lang="fr-FR" sz="2400" dirty="0" smtClean="0"/>
              <a:t>: C’est une </a:t>
            </a:r>
            <a:r>
              <a:rPr lang="fr-FR" sz="2400" b="1" dirty="0" smtClean="0"/>
              <a:t>combinaison des deux précédents </a:t>
            </a:r>
            <a:r>
              <a:rPr lang="fr-FR" sz="2400" dirty="0" smtClean="0"/>
              <a:t>: </a:t>
            </a:r>
          </a:p>
          <a:p>
            <a:pPr lvl="1"/>
            <a:r>
              <a:rPr lang="fr-FR" dirty="0" smtClean="0"/>
              <a:t>Le financement est public (via l'impôt et/ou cotisations), mais </a:t>
            </a:r>
          </a:p>
          <a:p>
            <a:pPr lvl="1"/>
            <a:r>
              <a:rPr lang="fr-FR" dirty="0" smtClean="0"/>
              <a:t>La prestation des soins est privée. </a:t>
            </a:r>
          </a:p>
          <a:p>
            <a:r>
              <a:rPr lang="fr-FR" sz="2400" b="1" dirty="0" smtClean="0"/>
              <a:t>Exemples : </a:t>
            </a:r>
            <a:r>
              <a:rPr lang="fr-FR" sz="2400" dirty="0" smtClean="0"/>
              <a:t>Canada, Corée du Sud, Taiwan.</a:t>
            </a:r>
          </a:p>
          <a:p>
            <a:r>
              <a:rPr lang="fr-FR" sz="2400" b="1" dirty="0" smtClean="0"/>
              <a:t>Avantages : </a:t>
            </a:r>
            <a:r>
              <a:rPr lang="fr-FR" sz="2400" dirty="0" smtClean="0"/>
              <a:t>Simplicité administrative (payeur unique), tarifs des soins négociés et maîtrisés.</a:t>
            </a:r>
          </a:p>
          <a:p>
            <a:r>
              <a:rPr lang="fr-FR" sz="2400" b="1" dirty="0" smtClean="0"/>
              <a:t>Inconvénients : </a:t>
            </a:r>
            <a:r>
              <a:rPr lang="fr-FR" sz="2400" dirty="0" smtClean="0"/>
              <a:t>Risque de files d'attente (comme le modèle Beveridge) et limites sur les types de soins remboursés pour limiter les budgets.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57537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4. Le Modèle de Paiement Direct (Out-of-Pocket)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b="1" dirty="0" smtClean="0"/>
              <a:t>Caractéristiques : </a:t>
            </a:r>
          </a:p>
          <a:p>
            <a:pPr lvl="1"/>
            <a:r>
              <a:rPr lang="fr-FR" dirty="0" smtClean="0"/>
              <a:t>C’est le modèle par défaut dans les pays où aucune structure n'est organisée. </a:t>
            </a:r>
          </a:p>
          <a:p>
            <a:pPr lvl="1"/>
            <a:r>
              <a:rPr lang="fr-FR" b="1" dirty="0" smtClean="0"/>
              <a:t>Le patient paie la totalité de la facture au moment du soin</a:t>
            </a:r>
            <a:r>
              <a:rPr lang="fr-FR" dirty="0" smtClean="0"/>
              <a:t>.</a:t>
            </a:r>
          </a:p>
          <a:p>
            <a:endParaRPr lang="fr-FR" sz="2400" b="1" dirty="0" smtClean="0"/>
          </a:p>
          <a:p>
            <a:r>
              <a:rPr lang="fr-FR" sz="2400" b="1" dirty="0" smtClean="0"/>
              <a:t>Exemples :</a:t>
            </a:r>
            <a:r>
              <a:rPr lang="fr-FR" sz="2400" dirty="0" smtClean="0"/>
              <a:t> Zones rurales de pays en développement, États-Unis (pour les non-assurés).</a:t>
            </a:r>
          </a:p>
          <a:p>
            <a:r>
              <a:rPr lang="fr-FR" sz="2400" b="1" dirty="0" smtClean="0"/>
              <a:t>Avantages : </a:t>
            </a:r>
            <a:r>
              <a:rPr lang="fr-FR" sz="2400" dirty="0" smtClean="0"/>
              <a:t>Aucun pour la population (absence de solidarité).</a:t>
            </a:r>
          </a:p>
          <a:p>
            <a:r>
              <a:rPr lang="fr-FR" sz="2400" b="1" dirty="0" smtClean="0"/>
              <a:t>Inconvénients : </a:t>
            </a:r>
            <a:r>
              <a:rPr lang="fr-FR" sz="2400" dirty="0" smtClean="0"/>
              <a:t>Injustice sociale majeure ; les pauvres n'ont pas accès aux soins de base.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55306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Résumé</a:t>
            </a:r>
            <a:endParaRPr lang="en-US" dirty="0"/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5968341"/>
              </p:ext>
            </p:extLst>
          </p:nvPr>
        </p:nvGraphicFramePr>
        <p:xfrm>
          <a:off x="838200" y="2067418"/>
          <a:ext cx="105156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15848740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5425650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5981886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024610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 smtClean="0"/>
                        <a:t>Critère 			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Beveridge (Impôt)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Bismarck (Cotisations)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 smtClean="0"/>
                        <a:t>Assurance Nationale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427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 smtClean="0"/>
                        <a:t>Financement			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Impôts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Salaires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 smtClean="0"/>
                        <a:t>Public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591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 smtClean="0"/>
                        <a:t>Accès		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Universel	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 smtClean="0"/>
                        <a:t>Lié au travail/statut</a:t>
                      </a:r>
                      <a:endParaRPr lang="en-US" sz="2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 smtClean="0"/>
                        <a:t>Universel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8143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 smtClean="0"/>
                        <a:t>Coût pour l'État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Maîtrisé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Difficile à contrôler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 smtClean="0"/>
                        <a:t>Moyen</a:t>
                      </a:r>
                      <a:endParaRPr lang="en-US" sz="24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806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 smtClean="0"/>
                        <a:t>Choix du patient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Limité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Élevé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 smtClean="0"/>
                        <a:t>Modéré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158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0575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Système de santé selon l’WHO</a:t>
            </a:r>
            <a:endParaRPr lang="en-US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786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Système de santé selon l’WHO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L'Organisation mondiale de la Santé (OMS) définit le système de santé comme l'ensemble </a:t>
            </a:r>
            <a:endParaRPr lang="fr-FR" dirty="0" smtClean="0"/>
          </a:p>
          <a:p>
            <a:pPr lvl="1"/>
            <a:r>
              <a:rPr lang="fr-FR" sz="2800" dirty="0" smtClean="0"/>
              <a:t>des </a:t>
            </a:r>
            <a:r>
              <a:rPr lang="fr-FR" sz="2800" dirty="0"/>
              <a:t>organisations, </a:t>
            </a:r>
            <a:endParaRPr lang="fr-FR" sz="2800" dirty="0" smtClean="0"/>
          </a:p>
          <a:p>
            <a:pPr lvl="1"/>
            <a:r>
              <a:rPr lang="fr-FR" sz="2800" dirty="0" smtClean="0"/>
              <a:t>des </a:t>
            </a:r>
            <a:r>
              <a:rPr lang="fr-FR" sz="2800" dirty="0"/>
              <a:t>institutions et </a:t>
            </a:r>
            <a:endParaRPr lang="fr-FR" sz="2800" dirty="0" smtClean="0"/>
          </a:p>
          <a:p>
            <a:pPr lvl="1"/>
            <a:r>
              <a:rPr lang="fr-FR" sz="2800" dirty="0" smtClean="0"/>
              <a:t>des </a:t>
            </a:r>
            <a:r>
              <a:rPr lang="fr-FR" sz="2800" dirty="0"/>
              <a:t>ressources </a:t>
            </a:r>
            <a:endParaRPr lang="fr-FR" sz="2800" dirty="0" smtClean="0"/>
          </a:p>
          <a:p>
            <a:r>
              <a:rPr lang="fr-FR" dirty="0" smtClean="0"/>
              <a:t>dont </a:t>
            </a:r>
            <a:r>
              <a:rPr lang="fr-FR" dirty="0"/>
              <a:t>le </a:t>
            </a:r>
            <a:r>
              <a:rPr lang="fr-FR" b="1" dirty="0"/>
              <a:t>but</a:t>
            </a:r>
            <a:r>
              <a:rPr lang="fr-FR" dirty="0"/>
              <a:t> principal est d'améliorer la santé. </a:t>
            </a:r>
            <a:endParaRPr lang="fr-FR" dirty="0" smtClean="0"/>
          </a:p>
          <a:p>
            <a:endParaRPr lang="fr-FR" dirty="0"/>
          </a:p>
          <a:p>
            <a:r>
              <a:rPr lang="fr-FR" dirty="0" smtClean="0"/>
              <a:t>Pour </a:t>
            </a:r>
            <a:r>
              <a:rPr lang="fr-FR" dirty="0"/>
              <a:t>être performant, ce système repose sur un cadre conceptuel précis.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84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1. Les 3 Objectifs fondamentaux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b="1" dirty="0" smtClean="0"/>
              <a:t>L'amélioration de la santé de la population : </a:t>
            </a:r>
            <a:r>
              <a:rPr lang="fr-FR" dirty="0" smtClean="0"/>
              <a:t>C'est l'objectif ultime. Il s'agit d'augmenter l'espérance de vie tout en réduisant les inégalités de santé.</a:t>
            </a:r>
          </a:p>
          <a:p>
            <a:pPr marL="514350" indent="-514350">
              <a:buFont typeface="+mj-lt"/>
              <a:buAutoNum type="arabicPeriod"/>
            </a:pPr>
            <a:endParaRPr lang="fr-FR" b="1" dirty="0" smtClean="0"/>
          </a:p>
          <a:p>
            <a:pPr marL="514350" indent="-514350">
              <a:buFont typeface="+mj-lt"/>
              <a:buAutoNum type="arabicPeriod"/>
            </a:pPr>
            <a:r>
              <a:rPr lang="fr-FR" b="1" dirty="0" smtClean="0"/>
              <a:t>La réactivité (ou réactivité aux attentes) : </a:t>
            </a:r>
            <a:r>
              <a:rPr lang="fr-FR" dirty="0" smtClean="0"/>
              <a:t>Le système doit traiter les usagers avec dignité, respecter leur confidentialité et offrir un cadre de soins de qualité (attentes non médicales).</a:t>
            </a:r>
          </a:p>
          <a:p>
            <a:pPr marL="514350" indent="-514350">
              <a:buFont typeface="+mj-lt"/>
              <a:buAutoNum type="arabicPeriod"/>
            </a:pPr>
            <a:endParaRPr lang="fr-FR" b="1" dirty="0" smtClean="0"/>
          </a:p>
          <a:p>
            <a:pPr marL="514350" indent="-514350">
              <a:buFont typeface="+mj-lt"/>
              <a:buAutoNum type="arabicPeriod"/>
            </a:pPr>
            <a:r>
              <a:rPr lang="fr-FR" b="1" dirty="0" smtClean="0"/>
              <a:t>L'équité du financement : </a:t>
            </a:r>
            <a:r>
              <a:rPr lang="fr-FR" dirty="0" smtClean="0"/>
              <a:t>Personne ne doit être conduit à la pauvreté pour se soigner. Les ménages doivent contribuer en fonction de leurs capacités financières et non de leur risque de maladie.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4379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2. Les 4 Fonctions essentielles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Pour atteindre ces objectifs, le système doit remplir quatre fonctions : </a:t>
            </a:r>
          </a:p>
          <a:p>
            <a:pPr marL="514350" indent="-514350">
              <a:buFont typeface="+mj-lt"/>
              <a:buAutoNum type="arabicPeriod"/>
            </a:pPr>
            <a:endParaRPr lang="fr-FR" b="1" dirty="0" smtClean="0"/>
          </a:p>
          <a:p>
            <a:pPr marL="514350" indent="-514350">
              <a:buFont typeface="+mj-lt"/>
              <a:buAutoNum type="arabicPeriod"/>
            </a:pPr>
            <a:r>
              <a:rPr lang="fr-FR" b="1" dirty="0" smtClean="0"/>
              <a:t>La prestation de services : </a:t>
            </a:r>
            <a:r>
              <a:rPr lang="fr-FR" dirty="0" smtClean="0"/>
              <a:t>Fournir des interventions de santé efficaces, sûres et de qualité (soins préventifs et curatifs).</a:t>
            </a:r>
          </a:p>
          <a:p>
            <a:pPr marL="514350" indent="-514350">
              <a:buFont typeface="+mj-lt"/>
              <a:buAutoNum type="arabicPeriod"/>
            </a:pPr>
            <a:endParaRPr lang="fr-FR" b="1" dirty="0" smtClean="0"/>
          </a:p>
          <a:p>
            <a:pPr marL="514350" indent="-514350">
              <a:buFont typeface="+mj-lt"/>
              <a:buAutoNum type="arabicPeriod"/>
            </a:pPr>
            <a:r>
              <a:rPr lang="fr-FR" b="1" dirty="0" smtClean="0"/>
              <a:t>La création de ressources : </a:t>
            </a:r>
            <a:r>
              <a:rPr lang="fr-FR" dirty="0" smtClean="0"/>
              <a:t>Former le </a:t>
            </a:r>
            <a:r>
              <a:rPr lang="fr-FR" b="1" dirty="0" smtClean="0"/>
              <a:t>personnel</a:t>
            </a:r>
            <a:r>
              <a:rPr lang="fr-FR" dirty="0" smtClean="0"/>
              <a:t> de santé (médecins, infirmiers), construire des </a:t>
            </a:r>
            <a:r>
              <a:rPr lang="fr-FR" b="1" dirty="0" smtClean="0"/>
              <a:t>infrastructures</a:t>
            </a:r>
            <a:r>
              <a:rPr lang="fr-FR" dirty="0" smtClean="0"/>
              <a:t> et investir dans les </a:t>
            </a:r>
            <a:r>
              <a:rPr lang="fr-FR" b="1" dirty="0" smtClean="0"/>
              <a:t>technologies médicales</a:t>
            </a:r>
            <a:r>
              <a:rPr lang="fr-F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27852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2. Les 4 Fonctions essentielles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 startAt="3"/>
            </a:pPr>
            <a:r>
              <a:rPr lang="fr-FR" b="1" dirty="0" smtClean="0"/>
              <a:t>Le financement : </a:t>
            </a:r>
            <a:r>
              <a:rPr lang="fr-FR" dirty="0" smtClean="0"/>
              <a:t>Collecter les fonds (impôts, cotisations), mettre les ressources en commun pour partager les risques et acheter les services de santé.</a:t>
            </a:r>
          </a:p>
          <a:p>
            <a:pPr marL="514350" indent="-514350">
              <a:buAutoNum type="arabicPeriod" startAt="3"/>
            </a:pPr>
            <a:endParaRPr lang="fr-FR" b="1" dirty="0"/>
          </a:p>
          <a:p>
            <a:pPr marL="514350" indent="-514350">
              <a:buAutoNum type="arabicPeriod" startAt="3"/>
            </a:pPr>
            <a:r>
              <a:rPr lang="fr-FR" b="1" dirty="0" smtClean="0"/>
              <a:t>La gestion et l'administration (Gouvernance) : </a:t>
            </a:r>
            <a:r>
              <a:rPr lang="fr-FR" dirty="0" smtClean="0"/>
              <a:t>C'est le rôle de pilotage de l'État (fixer les règles, assurer la surveillance et la responsabilité du système).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0377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3. Les 6 Piliers (Building Blocks) de l'OMS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Pour évaluer la solidité d'un système, l'OMS analyse six dimensions interconnectées :</a:t>
            </a:r>
          </a:p>
          <a:p>
            <a:pPr marL="514350" indent="-514350">
              <a:buFont typeface="+mj-lt"/>
              <a:buAutoNum type="arabicPeriod"/>
            </a:pPr>
            <a:r>
              <a:rPr lang="fr-FR" b="1" dirty="0" smtClean="0"/>
              <a:t>Prestation de services : </a:t>
            </a:r>
            <a:r>
              <a:rPr lang="fr-FR" dirty="0" smtClean="0"/>
              <a:t>Services disponibles, accessibles et sûrs.</a:t>
            </a:r>
          </a:p>
          <a:p>
            <a:pPr marL="514350" indent="-514350">
              <a:buFont typeface="+mj-lt"/>
              <a:buAutoNum type="arabicPeriod"/>
            </a:pPr>
            <a:endParaRPr lang="fr-FR" b="1" dirty="0" smtClean="0"/>
          </a:p>
          <a:p>
            <a:pPr marL="514350" indent="-514350">
              <a:buFont typeface="+mj-lt"/>
              <a:buAutoNum type="arabicPeriod"/>
            </a:pPr>
            <a:r>
              <a:rPr lang="fr-FR" b="1" dirty="0" smtClean="0"/>
              <a:t>Personnels de santé : </a:t>
            </a:r>
            <a:r>
              <a:rPr lang="fr-FR" dirty="0" smtClean="0"/>
              <a:t>Effectifs suffisants, bien répartis et compétents.</a:t>
            </a:r>
          </a:p>
          <a:p>
            <a:pPr marL="514350" indent="-514350">
              <a:buFont typeface="+mj-lt"/>
              <a:buAutoNum type="arabicPeriod"/>
            </a:pPr>
            <a:endParaRPr lang="fr-FR" b="1" dirty="0" smtClean="0"/>
          </a:p>
          <a:p>
            <a:pPr marL="514350" indent="-514350">
              <a:buFont typeface="+mj-lt"/>
              <a:buAutoNum type="arabicPeriod"/>
            </a:pPr>
            <a:r>
              <a:rPr lang="fr-FR" b="1" dirty="0" smtClean="0"/>
              <a:t>Système d'information sanitaire : </a:t>
            </a:r>
            <a:r>
              <a:rPr lang="fr-FR" dirty="0" smtClean="0"/>
              <a:t>Collecte et analyse des données pour prendre des décisions basées sur des preuves.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6130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3. Les 6 Piliers (Building Blocks) de l'OMS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smtClean="0">
                <a:solidFill>
                  <a:schemeClr val="bg1">
                    <a:lumMod val="95000"/>
                  </a:schemeClr>
                </a:solidFill>
              </a:rPr>
              <a:t>Pour évaluer la solidité d'un système, l'OMS analyse six dimensions interconnectées :</a:t>
            </a:r>
          </a:p>
          <a:p>
            <a:pPr marL="514350" indent="-514350">
              <a:buAutoNum type="arabicPeriod" startAt="4"/>
            </a:pPr>
            <a:endParaRPr lang="fr-FR" b="1" dirty="0" smtClean="0"/>
          </a:p>
          <a:p>
            <a:pPr marL="514350" indent="-514350">
              <a:buAutoNum type="arabicPeriod" startAt="4"/>
            </a:pPr>
            <a:r>
              <a:rPr lang="fr-FR" b="1" dirty="0" smtClean="0"/>
              <a:t>Produits médicaux, vaccins et technologies : </a:t>
            </a:r>
            <a:r>
              <a:rPr lang="fr-FR" dirty="0" smtClean="0"/>
              <a:t>Accès à des médicaments essentiels de qualité et à prix abordable.</a:t>
            </a:r>
          </a:p>
          <a:p>
            <a:pPr marL="514350" indent="-514350">
              <a:buAutoNum type="arabicPeriod" startAt="4"/>
            </a:pPr>
            <a:endParaRPr lang="fr-FR" b="1" dirty="0" smtClean="0"/>
          </a:p>
          <a:p>
            <a:pPr marL="514350" indent="-514350">
              <a:buAutoNum type="arabicPeriod" startAt="4"/>
            </a:pPr>
            <a:r>
              <a:rPr lang="fr-FR" b="1" dirty="0" smtClean="0"/>
              <a:t>Financement de la santé : </a:t>
            </a:r>
            <a:r>
              <a:rPr lang="fr-FR" dirty="0" smtClean="0"/>
              <a:t>Disponibilité des fonds et protection contre les risques financiers.</a:t>
            </a:r>
          </a:p>
          <a:p>
            <a:pPr marL="514350" indent="-514350">
              <a:buAutoNum type="arabicPeriod" startAt="4"/>
            </a:pPr>
            <a:endParaRPr lang="fr-FR" b="1" dirty="0" smtClean="0"/>
          </a:p>
          <a:p>
            <a:pPr marL="514350" indent="-514350">
              <a:buAutoNum type="arabicPeriod" startAt="4"/>
            </a:pPr>
            <a:r>
              <a:rPr lang="fr-FR" b="1" dirty="0" smtClean="0"/>
              <a:t>Leadership et gouvernance : </a:t>
            </a:r>
            <a:r>
              <a:rPr lang="fr-FR" dirty="0" smtClean="0"/>
              <a:t>Existence de politiques de santé claires et d'un cadre législatif solide.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8778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fr-FR" dirty="0"/>
              <a:t>O</a:t>
            </a:r>
            <a:r>
              <a:rPr lang="fr-FR" dirty="0" smtClean="0"/>
              <a:t>rganisation du   système de santé Algérien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1943124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fr-FR" dirty="0"/>
              <a:t>La Constitution consacre le champ de responsabilité dévolu à l'Etat. </a:t>
            </a:r>
            <a:endParaRPr lang="fr-FR" dirty="0" smtClean="0"/>
          </a:p>
          <a:p>
            <a:pPr marL="0" indent="0" algn="ctr">
              <a:buNone/>
              <a:defRPr/>
            </a:pPr>
            <a:endParaRPr lang="fr-FR" dirty="0" smtClean="0"/>
          </a:p>
          <a:p>
            <a:pPr marL="0" indent="0" algn="ctr">
              <a:buNone/>
              <a:defRPr/>
            </a:pPr>
            <a:r>
              <a:rPr lang="fr-FR" dirty="0" smtClean="0"/>
              <a:t>Elle </a:t>
            </a:r>
            <a:r>
              <a:rPr lang="fr-FR" dirty="0"/>
              <a:t>dispose à cet effet en son </a:t>
            </a:r>
            <a:r>
              <a:rPr lang="fr-FR" b="1" dirty="0">
                <a:solidFill>
                  <a:srgbClr val="FF0000"/>
                </a:solidFill>
              </a:rPr>
              <a:t>article 54: </a:t>
            </a:r>
            <a:endParaRPr lang="fr-FR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  <a:defRPr/>
            </a:pPr>
            <a:r>
              <a:rPr lang="fr-FR" b="1" dirty="0" smtClean="0"/>
              <a:t>"</a:t>
            </a:r>
            <a:r>
              <a:rPr lang="fr-FR" b="1" dirty="0"/>
              <a:t>Tous les citoyens ont </a:t>
            </a:r>
            <a:r>
              <a:rPr lang="fr-FR" b="1" u="sng" dirty="0">
                <a:solidFill>
                  <a:srgbClr val="FF0000"/>
                </a:solidFill>
              </a:rPr>
              <a:t>droit </a:t>
            </a:r>
            <a:r>
              <a:rPr lang="fr-FR" b="1" dirty="0"/>
              <a:t>à la protection de leur santé. L'Etat assure la prévention et la lutte contre les maladies épidémiques et endémiques." </a:t>
            </a:r>
            <a:endParaRPr lang="fr-FR" b="1" dirty="0" smtClean="0"/>
          </a:p>
          <a:p>
            <a:pPr>
              <a:defRPr/>
            </a:pPr>
            <a:endParaRPr lang="fr-FR" dirty="0"/>
          </a:p>
          <a:p>
            <a:pPr>
              <a:defRPr/>
            </a:pPr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smtClean="0">
                <a:solidFill>
                  <a:srgbClr val="FF0000"/>
                </a:solidFill>
              </a:rPr>
              <a:t>Introduction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9354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>
              <a:spcBef>
                <a:spcPts val="700"/>
              </a:spcBef>
              <a:defRPr/>
            </a:pPr>
            <a:r>
              <a:rPr lang="fr-FR" dirty="0" smtClean="0"/>
              <a:t>En </a:t>
            </a:r>
            <a:r>
              <a:rPr lang="fr-FR" dirty="0"/>
              <a:t>outre, la législation depuis</a:t>
            </a:r>
            <a:r>
              <a:rPr lang="fr-FR" b="1" dirty="0"/>
              <a:t> 1993 </a:t>
            </a:r>
            <a:r>
              <a:rPr lang="fr-FR" dirty="0"/>
              <a:t>met également à la charge de l'Etat les dépenses de soins aux </a:t>
            </a:r>
            <a:r>
              <a:rPr lang="fr-FR" b="1" dirty="0"/>
              <a:t>démunis </a:t>
            </a:r>
            <a:r>
              <a:rPr lang="fr-FR" dirty="0"/>
              <a:t>non assurés sociaux, de formation et de recherche. </a:t>
            </a:r>
          </a:p>
          <a:p>
            <a:pPr>
              <a:spcBef>
                <a:spcPts val="700"/>
              </a:spcBef>
              <a:defRPr/>
            </a:pPr>
            <a:endParaRPr lang="en-GB" dirty="0" smtClean="0"/>
          </a:p>
          <a:p>
            <a:pPr>
              <a:spcBef>
                <a:spcPts val="700"/>
              </a:spcBef>
              <a:defRPr/>
            </a:pPr>
            <a:r>
              <a:rPr lang="en-GB" b="1" dirty="0" smtClean="0"/>
              <a:t>L</a:t>
            </a:r>
            <a:r>
              <a:rPr lang="en-GB" b="1" dirty="0"/>
              <a:t>’ </a:t>
            </a:r>
            <a:r>
              <a:rPr lang="en-GB" b="1" dirty="0" err="1"/>
              <a:t>accès</a:t>
            </a:r>
            <a:r>
              <a:rPr lang="en-GB" b="1" dirty="0"/>
              <a:t> à la santé </a:t>
            </a:r>
            <a:r>
              <a:rPr lang="en-GB" b="1" dirty="0" err="1" smtClean="0"/>
              <a:t>est</a:t>
            </a:r>
            <a:r>
              <a:rPr lang="en-GB" b="1" dirty="0" smtClean="0"/>
              <a:t> </a:t>
            </a:r>
            <a:r>
              <a:rPr lang="en-GB" b="1" dirty="0"/>
              <a:t>un </a:t>
            </a:r>
            <a:r>
              <a:rPr lang="fr-FR" b="1" dirty="0"/>
              <a:t>droit</a:t>
            </a:r>
            <a:r>
              <a:rPr lang="en-GB" b="1" dirty="0"/>
              <a:t> </a:t>
            </a:r>
            <a:r>
              <a:rPr lang="en-GB" dirty="0"/>
              <a:t>pour </a:t>
            </a:r>
            <a:r>
              <a:rPr lang="en-GB" dirty="0" err="1"/>
              <a:t>chaque</a:t>
            </a:r>
            <a:r>
              <a:rPr lang="en-GB" dirty="0"/>
              <a:t> </a:t>
            </a:r>
            <a:r>
              <a:rPr lang="en-GB" dirty="0" err="1"/>
              <a:t>individu</a:t>
            </a:r>
            <a:r>
              <a:rPr lang="en-GB" dirty="0"/>
              <a:t> </a:t>
            </a:r>
            <a:r>
              <a:rPr lang="en-GB" dirty="0" err="1"/>
              <a:t>dans</a:t>
            </a:r>
            <a:r>
              <a:rPr lang="en-GB" dirty="0"/>
              <a:t> </a:t>
            </a:r>
            <a:r>
              <a:rPr lang="en-GB" dirty="0" err="1"/>
              <a:t>notre</a:t>
            </a:r>
            <a:r>
              <a:rPr lang="en-GB" dirty="0"/>
              <a:t> </a:t>
            </a:r>
            <a:r>
              <a:rPr lang="en-GB" dirty="0" err="1"/>
              <a:t>société</a:t>
            </a:r>
            <a:r>
              <a:rPr lang="en-GB" dirty="0"/>
              <a:t>. </a:t>
            </a:r>
          </a:p>
          <a:p>
            <a:pPr>
              <a:spcBef>
                <a:spcPts val="700"/>
              </a:spcBef>
              <a:defRPr/>
            </a:pPr>
            <a:endParaRPr lang="en-GB" dirty="0" smtClean="0"/>
          </a:p>
          <a:p>
            <a:pPr>
              <a:spcBef>
                <a:spcPts val="700"/>
              </a:spcBef>
              <a:defRPr/>
            </a:pPr>
            <a:r>
              <a:rPr lang="en-GB" dirty="0" err="1" smtClean="0"/>
              <a:t>C’est</a:t>
            </a:r>
            <a:r>
              <a:rPr lang="en-GB" dirty="0" smtClean="0"/>
              <a:t> </a:t>
            </a:r>
            <a:r>
              <a:rPr lang="en-GB" dirty="0"/>
              <a:t>à </a:t>
            </a:r>
            <a:r>
              <a:rPr lang="en-GB" dirty="0" err="1"/>
              <a:t>l’</a:t>
            </a:r>
            <a:r>
              <a:rPr lang="en-GB" b="1" dirty="0" err="1"/>
              <a:t>Etat</a:t>
            </a:r>
            <a:r>
              <a:rPr lang="en-GB" b="1" dirty="0"/>
              <a:t> </a:t>
            </a:r>
            <a:r>
              <a:rPr lang="en-GB" dirty="0" err="1"/>
              <a:t>qu’il</a:t>
            </a:r>
            <a:r>
              <a:rPr lang="en-GB" dirty="0"/>
              <a:t> </a:t>
            </a:r>
            <a:r>
              <a:rPr lang="en-GB" dirty="0" err="1"/>
              <a:t>revient</a:t>
            </a:r>
            <a:r>
              <a:rPr lang="en-GB" dirty="0"/>
              <a:t> de</a:t>
            </a:r>
            <a:r>
              <a:rPr lang="en-GB" b="1" dirty="0"/>
              <a:t> </a:t>
            </a:r>
            <a:r>
              <a:rPr lang="en-GB" b="1" dirty="0" err="1"/>
              <a:t>garantir</a:t>
            </a:r>
            <a:r>
              <a:rPr lang="en-GB" b="1" dirty="0"/>
              <a:t> </a:t>
            </a:r>
            <a:r>
              <a:rPr lang="en-GB" dirty="0"/>
              <a:t>à </a:t>
            </a:r>
            <a:r>
              <a:rPr lang="en-GB" dirty="0" err="1"/>
              <a:t>chaque</a:t>
            </a:r>
            <a:r>
              <a:rPr lang="en-GB" dirty="0"/>
              <a:t> </a:t>
            </a:r>
            <a:r>
              <a:rPr lang="en-GB" dirty="0" err="1"/>
              <a:t>individu</a:t>
            </a:r>
            <a:r>
              <a:rPr lang="en-GB" dirty="0"/>
              <a:t>, </a:t>
            </a:r>
            <a:r>
              <a:rPr lang="en-GB" dirty="0" err="1"/>
              <a:t>quels</a:t>
            </a:r>
            <a:r>
              <a:rPr lang="en-GB" dirty="0"/>
              <a:t> que </a:t>
            </a:r>
            <a:r>
              <a:rPr lang="en-GB" dirty="0" err="1"/>
              <a:t>soient</a:t>
            </a:r>
            <a:r>
              <a:rPr lang="en-GB" dirty="0"/>
              <a:t> </a:t>
            </a:r>
            <a:r>
              <a:rPr lang="en-GB" dirty="0" err="1"/>
              <a:t>ses</a:t>
            </a:r>
            <a:r>
              <a:rPr lang="en-GB" dirty="0"/>
              <a:t> </a:t>
            </a:r>
            <a:r>
              <a:rPr lang="en-GB" dirty="0" err="1"/>
              <a:t>moyens</a:t>
            </a:r>
            <a:r>
              <a:rPr lang="en-GB" dirty="0"/>
              <a:t> financiers, son lieu de </a:t>
            </a:r>
            <a:r>
              <a:rPr lang="en-GB" dirty="0" err="1"/>
              <a:t>résidence</a:t>
            </a:r>
            <a:r>
              <a:rPr lang="en-GB" dirty="0"/>
              <a:t> et son </a:t>
            </a:r>
            <a:r>
              <a:rPr lang="en-GB" dirty="0" err="1"/>
              <a:t>origine</a:t>
            </a:r>
            <a:r>
              <a:rPr lang="en-GB" dirty="0"/>
              <a:t>, </a:t>
            </a:r>
            <a:r>
              <a:rPr lang="en-GB" b="1" dirty="0" err="1"/>
              <a:t>l’accès</a:t>
            </a:r>
            <a:r>
              <a:rPr lang="en-GB" b="1" dirty="0"/>
              <a:t> à des </a:t>
            </a:r>
            <a:r>
              <a:rPr lang="en-GB" b="1" dirty="0" err="1"/>
              <a:t>soins</a:t>
            </a:r>
            <a:r>
              <a:rPr lang="en-GB" b="1" dirty="0"/>
              <a:t> de </a:t>
            </a:r>
            <a:r>
              <a:rPr lang="en-GB" b="1" dirty="0" err="1"/>
              <a:t>qualité</a:t>
            </a:r>
            <a:r>
              <a:rPr lang="en-GB" b="1" dirty="0"/>
              <a:t> </a:t>
            </a:r>
            <a:r>
              <a:rPr lang="en-GB" dirty="0" err="1"/>
              <a:t>dans</a:t>
            </a:r>
            <a:r>
              <a:rPr lang="en-GB" dirty="0"/>
              <a:t> le cadre de </a:t>
            </a:r>
            <a:r>
              <a:rPr lang="en-GB" b="1" dirty="0"/>
              <a:t>la </a:t>
            </a:r>
            <a:r>
              <a:rPr lang="en-GB" b="1" dirty="0" err="1"/>
              <a:t>solidarité</a:t>
            </a:r>
            <a:r>
              <a:rPr lang="en-GB" b="1" dirty="0"/>
              <a:t> </a:t>
            </a:r>
            <a:r>
              <a:rPr lang="en-GB" b="1" dirty="0" err="1"/>
              <a:t>nationale</a:t>
            </a:r>
            <a:r>
              <a:rPr lang="en-GB" dirty="0"/>
              <a:t>.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smtClean="0">
                <a:solidFill>
                  <a:srgbClr val="FF0000"/>
                </a:solidFill>
              </a:rPr>
              <a:t>Introduction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090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>
                <a:solidFill>
                  <a:srgbClr val="FF0000"/>
                </a:solidFill>
              </a:rPr>
              <a:t>Introduction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b="1" dirty="0" smtClean="0"/>
              <a:t>L'organisation sanitaire en Algérie est </a:t>
            </a:r>
          </a:p>
          <a:p>
            <a:pPr lvl="1"/>
            <a:r>
              <a:rPr lang="fr-FR" dirty="0" smtClean="0"/>
              <a:t>Un système mixte (public/privé) caractérisé par </a:t>
            </a:r>
          </a:p>
          <a:p>
            <a:pPr lvl="1"/>
            <a:r>
              <a:rPr lang="fr-FR" dirty="0" smtClean="0"/>
              <a:t>La gratuité des soins dans le secteur public, </a:t>
            </a:r>
          </a:p>
          <a:p>
            <a:pPr lvl="1"/>
            <a:r>
              <a:rPr lang="fr-FR" dirty="0" smtClean="0"/>
              <a:t>La solidarité nationale et </a:t>
            </a:r>
          </a:p>
          <a:p>
            <a:pPr lvl="1"/>
            <a:r>
              <a:rPr lang="fr-FR" dirty="0" smtClean="0"/>
              <a:t>Une couverture géographique étendue, </a:t>
            </a:r>
          </a:p>
          <a:p>
            <a:r>
              <a:rPr lang="fr-FR" b="1" dirty="0" smtClean="0"/>
              <a:t>Bien que confronté à des contraintes de</a:t>
            </a:r>
          </a:p>
          <a:p>
            <a:pPr lvl="1"/>
            <a:r>
              <a:rPr lang="fr-FR" dirty="0" smtClean="0"/>
              <a:t>Gestion et </a:t>
            </a:r>
          </a:p>
          <a:p>
            <a:pPr lvl="1"/>
            <a:r>
              <a:rPr lang="fr-FR" dirty="0" smtClean="0"/>
              <a:t>Disparités régionales. </a:t>
            </a:r>
          </a:p>
          <a:p>
            <a:r>
              <a:rPr lang="fr-FR" b="1" dirty="0" smtClean="0"/>
              <a:t>Le </a:t>
            </a:r>
            <a:r>
              <a:rPr lang="fr-FR" b="1" dirty="0"/>
              <a:t>Ministère de la </a:t>
            </a:r>
            <a:r>
              <a:rPr lang="fr-FR" b="1" dirty="0" smtClean="0"/>
              <a:t>santé </a:t>
            </a:r>
            <a:r>
              <a:rPr lang="fr-FR" b="1" dirty="0"/>
              <a:t>supervise </a:t>
            </a:r>
            <a:r>
              <a:rPr lang="fr-FR" sz="2400" dirty="0"/>
              <a:t>un réseau dense comprenant des structures de proximité (polycliniques, salles de soins) et des hôpitaux (CHU, </a:t>
            </a:r>
            <a:r>
              <a:rPr lang="fr-FR" sz="2400" dirty="0" smtClean="0"/>
              <a:t>EPH, CHU, EHU).</a:t>
            </a:r>
            <a:r>
              <a:rPr lang="fr-FR" sz="2400" dirty="0"/>
              <a:t> 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84197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>
                <a:solidFill>
                  <a:srgbClr val="FF0000"/>
                </a:solidFill>
              </a:rPr>
              <a:t>Organisation et Structure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r-FR" b="1" dirty="0" smtClean="0"/>
              <a:t>Administration Centrale : </a:t>
            </a:r>
            <a:r>
              <a:rPr lang="fr-FR" dirty="0" smtClean="0"/>
              <a:t>Le </a:t>
            </a:r>
            <a:r>
              <a:rPr lang="fr-FR" dirty="0"/>
              <a:t>M</a:t>
            </a:r>
            <a:r>
              <a:rPr lang="fr-FR" dirty="0" smtClean="0"/>
              <a:t>inistère de la Santé définit la politique nationale et chapeaute des agences nationales (Agence Nationale du Sang, Institut Pasteur d'Algérie, Pharmacie Centrale des Hôpitaux).</a:t>
            </a:r>
          </a:p>
          <a:p>
            <a:endParaRPr lang="fr-FR" b="1" dirty="0" smtClean="0"/>
          </a:p>
          <a:p>
            <a:r>
              <a:rPr lang="fr-FR" b="1" dirty="0" smtClean="0"/>
              <a:t>Secteur </a:t>
            </a:r>
            <a:r>
              <a:rPr lang="fr-FR" b="1" dirty="0" smtClean="0"/>
              <a:t>Public (Prédominant) : </a:t>
            </a:r>
            <a:r>
              <a:rPr lang="fr-FR" dirty="0" smtClean="0"/>
              <a:t>Organisé en établissements de santé de proximité (EPSP) et en établissements hospitaliers (EPH, CHU, EHS).</a:t>
            </a:r>
          </a:p>
          <a:p>
            <a:endParaRPr lang="fr-FR" b="1" dirty="0" smtClean="0"/>
          </a:p>
          <a:p>
            <a:r>
              <a:rPr lang="fr-FR" b="1" dirty="0" smtClean="0"/>
              <a:t>Secteur </a:t>
            </a:r>
            <a:r>
              <a:rPr lang="fr-FR" b="1" dirty="0" smtClean="0"/>
              <a:t>Privé : </a:t>
            </a:r>
            <a:r>
              <a:rPr lang="fr-FR" dirty="0" smtClean="0"/>
              <a:t>En expansion, il comprend des cliniques de jour, des hôpitaux privés et des cabinets médicaux, jouant un rôle complémentaire.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29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>
                <a:solidFill>
                  <a:srgbClr val="FF0000"/>
                </a:solidFill>
              </a:rPr>
              <a:t>Fonctionnement et Financement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FR" b="1" dirty="0" smtClean="0"/>
              <a:t>Financement : </a:t>
            </a:r>
            <a:r>
              <a:rPr lang="fr-FR" dirty="0" smtClean="0"/>
              <a:t>Le système est financé par les impôts et les cotisations de sécurité sociale.</a:t>
            </a:r>
          </a:p>
          <a:p>
            <a:pPr marL="514350" indent="-514350">
              <a:buFont typeface="+mj-lt"/>
              <a:buAutoNum type="arabicPeriod"/>
            </a:pPr>
            <a:r>
              <a:rPr lang="fr-FR" b="1" dirty="0" smtClean="0"/>
              <a:t>Accès : </a:t>
            </a:r>
            <a:r>
              <a:rPr lang="fr-FR" dirty="0" smtClean="0"/>
              <a:t>La gratuité est un </a:t>
            </a:r>
            <a:r>
              <a:rPr lang="fr-FR" b="1" dirty="0" smtClean="0"/>
              <a:t>principe fondamental</a:t>
            </a:r>
            <a:r>
              <a:rPr lang="fr-FR" dirty="0" smtClean="0"/>
              <a:t>, bien que des disparités géographiques existent, avec une meilleure couverture dans le nord du pays.</a:t>
            </a:r>
          </a:p>
          <a:p>
            <a:pPr marL="514350" indent="-514350">
              <a:buFont typeface="+mj-lt"/>
              <a:buAutoNum type="arabicPeriod"/>
            </a:pPr>
            <a:r>
              <a:rPr lang="fr-FR" b="1" dirty="0" smtClean="0"/>
              <a:t>Ressources Humaines : </a:t>
            </a:r>
            <a:r>
              <a:rPr lang="fr-FR" dirty="0" smtClean="0"/>
              <a:t>Le pays dispose d'un potentiel important en professionnels de santé, avec une part significative travaillant dans le secteur publique.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679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>
                <a:solidFill>
                  <a:srgbClr val="FF0000"/>
                </a:solidFill>
              </a:rPr>
              <a:t>Défis Actuels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FR" b="1" dirty="0" smtClean="0"/>
              <a:t>Transition Épidémiologique : </a:t>
            </a:r>
            <a:r>
              <a:rPr lang="fr-FR" dirty="0" smtClean="0"/>
              <a:t>Faire face à l'augmentation des maladies chroniques.</a:t>
            </a:r>
          </a:p>
          <a:p>
            <a:pPr marL="514350" indent="-514350">
              <a:buFont typeface="+mj-lt"/>
              <a:buAutoNum type="arabicPeriod"/>
            </a:pPr>
            <a:r>
              <a:rPr lang="fr-FR" b="1" dirty="0" smtClean="0"/>
              <a:t>Gestion : </a:t>
            </a:r>
            <a:r>
              <a:rPr lang="fr-FR" dirty="0" smtClean="0"/>
              <a:t>Améliorer l'efficacité, la décentralisation et la qualité des soins, malgré une forte centralisation.</a:t>
            </a:r>
          </a:p>
          <a:p>
            <a:pPr marL="514350" indent="-514350">
              <a:buFont typeface="+mj-lt"/>
              <a:buAutoNum type="arabicPeriod"/>
            </a:pPr>
            <a:r>
              <a:rPr lang="fr-FR" b="1" dirty="0" smtClean="0"/>
              <a:t>Inégalités : </a:t>
            </a:r>
            <a:r>
              <a:rPr lang="fr-FR" dirty="0" smtClean="0"/>
              <a:t>Réduire les disparités d'accès aux soins entre les régions. </a:t>
            </a:r>
          </a:p>
          <a:p>
            <a:pPr marL="0" indent="0">
              <a:buNone/>
            </a:pPr>
            <a:endParaRPr lang="fr-FR" dirty="0" smtClean="0"/>
          </a:p>
          <a:p>
            <a:pPr marL="0" indent="0" algn="ctr">
              <a:buNone/>
            </a:pPr>
            <a:r>
              <a:rPr lang="fr-FR" dirty="0" smtClean="0"/>
              <a:t>La Loi sanitaire 18-11 régit actuellement le secteur, s'efforçant de moderniser la prise en charge et de renforcer la prévention.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633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Administration Centrale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>et service centraux de </a:t>
            </a:r>
            <a:r>
              <a:rPr lang="fr-FR" b="1" dirty="0" smtClean="0"/>
              <a:t>l’</a:t>
            </a:r>
            <a:r>
              <a:rPr lang="fr-FR" b="1" dirty="0" smtClean="0"/>
              <a:t>E</a:t>
            </a:r>
            <a:r>
              <a:rPr lang="fr-FR" b="1" dirty="0" smtClean="0"/>
              <a:t>tat </a:t>
            </a:r>
            <a:endParaRPr lang="en-US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17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fr-FR" altLang="en-US" dirty="0" smtClean="0"/>
              <a:t> Services centraux de l’</a:t>
            </a:r>
            <a:r>
              <a:rPr lang="fr-FR" altLang="en-US" dirty="0" err="1" smtClean="0"/>
              <a:t>etat</a:t>
            </a:r>
            <a:endParaRPr lang="fr-FR" altLang="en-US" dirty="0" smtClean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1981200" y="1600201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0125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en-US" smtClean="0"/>
              <a:t>Les Directions Générales</a:t>
            </a: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1981200" y="1600201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5255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en-US" smtClean="0"/>
              <a:t>Les Directions Générales(suite)</a:t>
            </a: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1981200" y="1600201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6606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algn="ctr">
              <a:defRPr/>
            </a:pPr>
            <a:r>
              <a:rPr lang="fr-FR" dirty="0" smtClean="0"/>
              <a:t>Services déconcentrés de l’Etat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8699089" cy="4351338"/>
          </a:xfrm>
        </p:spPr>
        <p:txBody>
          <a:bodyPr rtlCol="0">
            <a:noAutofit/>
          </a:bodyPr>
          <a:lstStyle/>
          <a:p>
            <a:pPr>
              <a:buNone/>
              <a:defRPr/>
            </a:pPr>
            <a:r>
              <a:rPr lang="fr-FR" dirty="0" smtClean="0"/>
              <a:t>La déconcentration </a:t>
            </a:r>
            <a:r>
              <a:rPr lang="fr-FR" b="1" dirty="0" smtClean="0"/>
              <a:t>suppose le transfert d’une certain pouvoir décisionnel</a:t>
            </a:r>
            <a:r>
              <a:rPr lang="fr-FR" dirty="0" smtClean="0"/>
              <a:t> à des représentants locaux </a:t>
            </a:r>
            <a:r>
              <a:rPr lang="fr-FR" b="1" dirty="0" smtClean="0"/>
              <a:t>soumis au pouvoir hiérarchique </a:t>
            </a:r>
            <a:r>
              <a:rPr lang="fr-FR" dirty="0" smtClean="0"/>
              <a:t>du pouvoir central. </a:t>
            </a:r>
          </a:p>
          <a:p>
            <a:pPr>
              <a:buNone/>
              <a:defRPr/>
            </a:pPr>
            <a:endParaRPr lang="fr-FR" dirty="0" smtClean="0"/>
          </a:p>
          <a:p>
            <a:pPr>
              <a:buNone/>
              <a:defRPr/>
            </a:pPr>
            <a:endParaRPr lang="fr-FR" b="1" dirty="0" smtClean="0"/>
          </a:p>
          <a:p>
            <a:pPr>
              <a:buNone/>
              <a:defRPr/>
            </a:pPr>
            <a:r>
              <a:rPr lang="fr-FR" b="1" dirty="0" smtClean="0"/>
              <a:t>La déconcentration est un aménagement technique plus ou moins poussé de la centralisation</a:t>
            </a:r>
            <a:r>
              <a:rPr lang="fr-FR" dirty="0" smtClean="0"/>
              <a:t>.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9537289" y="1825625"/>
            <a:ext cx="1863213" cy="3985240"/>
          </a:xfrm>
        </p:spPr>
        <p:txBody>
          <a:bodyPr rtlCol="0">
            <a:noAutofit/>
          </a:bodyPr>
          <a:lstStyle/>
          <a:p>
            <a:pPr algn="ctr">
              <a:buNone/>
              <a:defRPr/>
            </a:pPr>
            <a:r>
              <a:rPr lang="fr-FR" dirty="0" smtClean="0"/>
              <a:t>DS</a:t>
            </a:r>
            <a:r>
              <a:rPr lang="fr-FR" dirty="0" smtClean="0">
                <a:solidFill>
                  <a:srgbClr val="FF0000"/>
                </a:solidFill>
              </a:rPr>
              <a:t>P </a:t>
            </a:r>
            <a:r>
              <a:rPr lang="fr-FR" dirty="0" smtClean="0"/>
              <a:t>(69)</a:t>
            </a:r>
          </a:p>
          <a:p>
            <a:pPr algn="ctr">
              <a:buNone/>
              <a:defRPr/>
            </a:pPr>
            <a:r>
              <a:rPr lang="fr-FR" dirty="0"/>
              <a:t>EHU</a:t>
            </a:r>
          </a:p>
          <a:p>
            <a:pPr algn="ctr">
              <a:buNone/>
              <a:defRPr/>
            </a:pPr>
            <a:r>
              <a:rPr lang="fr-FR" dirty="0" smtClean="0"/>
              <a:t>CHU</a:t>
            </a:r>
          </a:p>
          <a:p>
            <a:pPr algn="ctr">
              <a:buNone/>
              <a:defRPr/>
            </a:pPr>
            <a:r>
              <a:rPr lang="fr-FR" dirty="0" smtClean="0"/>
              <a:t>EPH</a:t>
            </a:r>
          </a:p>
          <a:p>
            <a:pPr algn="ctr">
              <a:buNone/>
              <a:defRPr/>
            </a:pPr>
            <a:r>
              <a:rPr lang="fr-FR" dirty="0" smtClean="0"/>
              <a:t>EPSP</a:t>
            </a:r>
          </a:p>
        </p:txBody>
      </p:sp>
    </p:spTree>
    <p:extLst>
      <p:ext uri="{BB962C8B-B14F-4D97-AF65-F5344CB8AC3E}">
        <p14:creationId xmlns:p14="http://schemas.microsoft.com/office/powerpoint/2010/main" val="1940048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en-US" smtClean="0"/>
              <a:t>Services décentralisés de l’Etat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203426" cy="4351338"/>
          </a:xfrm>
        </p:spPr>
        <p:txBody>
          <a:bodyPr rtlCol="0">
            <a:noAutofit/>
          </a:bodyPr>
          <a:lstStyle/>
          <a:p>
            <a:pPr marL="457200" indent="-457200">
              <a:buFont typeface="+mj-lt"/>
              <a:buAutoNum type="arabicPeriod"/>
              <a:defRPr/>
            </a:pPr>
            <a:r>
              <a:rPr lang="fr-FR" sz="2400" b="1" dirty="0" smtClean="0">
                <a:hlinkClick r:id="rId2"/>
              </a:rPr>
              <a:t>ANDS</a:t>
            </a:r>
            <a:r>
              <a:rPr lang="fr-FR" sz="2400" b="1" dirty="0"/>
              <a:t> </a:t>
            </a:r>
            <a:r>
              <a:rPr lang="fr-FR" sz="2400" b="1" dirty="0" smtClean="0"/>
              <a:t>Agence Nationale de Documentation de la Santé</a:t>
            </a:r>
            <a:endParaRPr lang="fr-FR" sz="2400" dirty="0" smtClean="0"/>
          </a:p>
          <a:p>
            <a:pPr marL="457200" indent="-457200">
              <a:buFont typeface="+mj-lt"/>
              <a:buAutoNum type="arabicPeriod"/>
              <a:defRPr/>
            </a:pPr>
            <a:r>
              <a:rPr lang="fr-FR" sz="2400" b="1" dirty="0" smtClean="0">
                <a:hlinkClick r:id="rId2"/>
              </a:rPr>
              <a:t>ANS</a:t>
            </a:r>
            <a:r>
              <a:rPr lang="fr-FR" sz="2400" b="1" dirty="0" smtClean="0"/>
              <a:t>  Agence Nationale du Sang </a:t>
            </a:r>
            <a:endParaRPr lang="fr-FR" sz="2400" dirty="0" smtClean="0"/>
          </a:p>
          <a:p>
            <a:pPr marL="457200" indent="-457200">
              <a:buFont typeface="+mj-lt"/>
              <a:buAutoNum type="arabicPeriod"/>
              <a:defRPr/>
            </a:pPr>
            <a:r>
              <a:rPr lang="fr-FR" sz="2400" b="1" dirty="0" smtClean="0">
                <a:hlinkClick r:id="rId3"/>
              </a:rPr>
              <a:t>CNT</a:t>
            </a:r>
            <a:r>
              <a:rPr lang="fr-FR" sz="2400" b="1" dirty="0" smtClean="0"/>
              <a:t> Centre National de Toxicologie  </a:t>
            </a:r>
            <a:endParaRPr lang="fr-FR" sz="2400" dirty="0" smtClean="0"/>
          </a:p>
          <a:p>
            <a:pPr marL="457200" indent="-457200">
              <a:buFont typeface="+mj-lt"/>
              <a:buAutoNum type="arabicPeriod"/>
              <a:defRPr/>
            </a:pPr>
            <a:r>
              <a:rPr lang="fr-FR" sz="2400" b="1" dirty="0" smtClean="0">
                <a:hlinkClick r:id="rId4"/>
              </a:rPr>
              <a:t>ENMAS</a:t>
            </a:r>
            <a:r>
              <a:rPr lang="fr-FR" sz="2400" dirty="0"/>
              <a:t> </a:t>
            </a:r>
            <a:r>
              <a:rPr lang="fr-FR" sz="2400" b="1" dirty="0" smtClean="0"/>
              <a:t>École Nationale de Management et de l'Administration de la Santé </a:t>
            </a:r>
            <a:endParaRPr lang="fr-FR" sz="2400" dirty="0" smtClean="0"/>
          </a:p>
          <a:p>
            <a:pPr marL="457200" indent="-457200">
              <a:buFont typeface="+mj-lt"/>
              <a:buAutoNum type="arabicPeriod"/>
              <a:defRPr/>
            </a:pPr>
            <a:r>
              <a:rPr lang="fr-FR" sz="2400" b="1" dirty="0" smtClean="0">
                <a:hlinkClick r:id="rId5"/>
              </a:rPr>
              <a:t>INPFP</a:t>
            </a:r>
            <a:r>
              <a:rPr lang="fr-FR" sz="2400" b="1" dirty="0" smtClean="0"/>
              <a:t> Institut National Pédagogique de Formation</a:t>
            </a:r>
            <a:r>
              <a:rPr lang="fr-FR" sz="2400" dirty="0" smtClean="0"/>
              <a:t> </a:t>
            </a:r>
            <a:r>
              <a:rPr lang="fr-FR" sz="2400" b="1" dirty="0" smtClean="0"/>
              <a:t>Paramédicale  </a:t>
            </a:r>
            <a:endParaRPr lang="fr-FR" sz="2400" dirty="0" smtClean="0"/>
          </a:p>
          <a:p>
            <a:pPr marL="457200" indent="-457200">
              <a:buFont typeface="+mj-lt"/>
              <a:buAutoNum type="arabicPeriod"/>
              <a:defRPr/>
            </a:pPr>
            <a:r>
              <a:rPr lang="fr-FR" sz="2400" b="1" dirty="0" smtClean="0">
                <a:hlinkClick r:id="rId6"/>
              </a:rPr>
              <a:t>INSP</a:t>
            </a:r>
            <a:r>
              <a:rPr lang="fr-FR" sz="2400" b="1" dirty="0" smtClean="0"/>
              <a:t> Institut National de Santé Publique </a:t>
            </a:r>
            <a:endParaRPr lang="fr-FR" sz="2400" dirty="0" smtClean="0"/>
          </a:p>
          <a:p>
            <a:pPr marL="457200" indent="-457200">
              <a:buFont typeface="+mj-lt"/>
              <a:buAutoNum type="arabicPeriod"/>
              <a:defRPr/>
            </a:pPr>
            <a:r>
              <a:rPr lang="fr-FR" sz="2400" b="1" dirty="0" smtClean="0">
                <a:hlinkClick r:id="rId7"/>
              </a:rPr>
              <a:t>IPA</a:t>
            </a:r>
            <a:r>
              <a:rPr lang="fr-FR" sz="2400" b="1" dirty="0" smtClean="0"/>
              <a:t> Institut Pasteur d'Algérie</a:t>
            </a:r>
            <a:endParaRPr lang="fr-FR" sz="2400" dirty="0" smtClean="0"/>
          </a:p>
          <a:p>
            <a:pPr marL="457200" indent="-457200">
              <a:buFont typeface="+mj-lt"/>
              <a:buAutoNum type="arabicPeriod"/>
              <a:defRPr/>
            </a:pPr>
            <a:r>
              <a:rPr lang="fr-FR" sz="2400" b="1" dirty="0" smtClean="0">
                <a:hlinkClick r:id="rId8"/>
              </a:rPr>
              <a:t>LNCPP</a:t>
            </a:r>
            <a:r>
              <a:rPr lang="fr-FR" sz="2400" b="1" dirty="0" smtClean="0"/>
              <a:t>  Laboratoire National de Contrôle des Produits Pharmaceutiques  </a:t>
            </a:r>
            <a:endParaRPr lang="fr-FR" sz="2400" dirty="0" smtClean="0"/>
          </a:p>
          <a:p>
            <a:pPr marL="457200" indent="-457200">
              <a:buFont typeface="+mj-lt"/>
              <a:buAutoNum type="arabicPeriod"/>
              <a:defRPr/>
            </a:pPr>
            <a:r>
              <a:rPr lang="fr-FR" sz="2400" b="1" u="sng" dirty="0" smtClean="0">
                <a:solidFill>
                  <a:srgbClr val="0070C0"/>
                </a:solidFill>
              </a:rPr>
              <a:t>PCH </a:t>
            </a:r>
            <a:r>
              <a:rPr lang="fr-FR" sz="2400" b="1" dirty="0" smtClean="0"/>
              <a:t>Pharmacie Centrale des Hôpitaux </a:t>
            </a:r>
            <a:endParaRPr lang="fr-FR" sz="2400" dirty="0" smtClean="0"/>
          </a:p>
        </p:txBody>
      </p:sp>
    </p:spTree>
    <p:extLst>
      <p:ext uri="{BB962C8B-B14F-4D97-AF65-F5344CB8AC3E}">
        <p14:creationId xmlns:p14="http://schemas.microsoft.com/office/powerpoint/2010/main" val="2512983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>
                <a:solidFill>
                  <a:srgbClr val="FF0000"/>
                </a:solidFill>
              </a:rPr>
              <a:t>Niveau intermédiaire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b="1" dirty="0" smtClean="0"/>
              <a:t>Conseil régional de la santé : </a:t>
            </a:r>
            <a:r>
              <a:rPr lang="fr-FR" dirty="0" smtClean="0"/>
              <a:t>Le pays est découpé en cinq (5) régions sanitaires : </a:t>
            </a:r>
          </a:p>
          <a:p>
            <a:pPr marL="0" indent="0">
              <a:buNone/>
            </a:pPr>
            <a:r>
              <a:rPr lang="fr-FR" dirty="0" smtClean="0"/>
              <a:t>Centre, Est, Ouest, Sud-Est et Sud-Ouest avec pour Chef-Lieu, respectivement, Alger -Constantine - Oran - Ouargla et Béchar. </a:t>
            </a:r>
          </a:p>
          <a:p>
            <a:endParaRPr lang="fr-FR" b="1" dirty="0" smtClean="0"/>
          </a:p>
          <a:p>
            <a:r>
              <a:rPr lang="fr-FR" b="1" dirty="0" smtClean="0"/>
              <a:t>L'Observatoire Régional de la Santé (ORS) : </a:t>
            </a:r>
            <a:r>
              <a:rPr lang="fr-FR" dirty="0" smtClean="0"/>
              <a:t>Les ORS sont des annexes de l'INSP. Ils sont au nombre de 5 avec pour siège la wilaya chef-lieu de la région sanitaire. </a:t>
            </a:r>
          </a:p>
          <a:p>
            <a:endParaRPr lang="fr-FR" b="1" dirty="0" smtClean="0"/>
          </a:p>
          <a:p>
            <a:r>
              <a:rPr lang="fr-FR" b="1" dirty="0" smtClean="0"/>
              <a:t>La Direction de la Santé : </a:t>
            </a:r>
            <a:r>
              <a:rPr lang="fr-FR" dirty="0" smtClean="0"/>
              <a:t>au niveau de chaque wilaya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520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FF0000"/>
                </a:solidFill>
              </a:rPr>
              <a:t>Niveau local </a:t>
            </a:r>
            <a:endParaRPr lang="en-US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94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B050"/>
                </a:solidFill>
              </a:rPr>
              <a:t>Secteur Public </a:t>
            </a:r>
            <a:br>
              <a:rPr lang="fr-FR" b="1" dirty="0" smtClean="0">
                <a:solidFill>
                  <a:srgbClr val="00B050"/>
                </a:solidFill>
              </a:rPr>
            </a:br>
            <a:r>
              <a:rPr lang="fr-FR" b="1" dirty="0" smtClean="0">
                <a:solidFill>
                  <a:srgbClr val="00B050"/>
                </a:solidFill>
              </a:rPr>
              <a:t>(dominant):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 smtClean="0">
                <a:solidFill>
                  <a:srgbClr val="0A0A0A"/>
                </a:solidFill>
                <a:latin typeface="Google Sans"/>
              </a:rPr>
              <a:t>Il </a:t>
            </a:r>
            <a:r>
              <a:rPr lang="en-US" altLang="en-US" dirty="0" err="1" smtClean="0">
                <a:solidFill>
                  <a:srgbClr val="0A0A0A"/>
                </a:solidFill>
                <a:latin typeface="Google Sans"/>
              </a:rPr>
              <a:t>supporte</a:t>
            </a:r>
            <a:r>
              <a:rPr lang="en-US" altLang="en-US" dirty="0" smtClean="0">
                <a:solidFill>
                  <a:srgbClr val="0A0A0A"/>
                </a:solidFill>
                <a:latin typeface="Google Sans"/>
              </a:rPr>
              <a:t> </a:t>
            </a:r>
            <a:r>
              <a:rPr lang="en-US" altLang="en-US" dirty="0" err="1">
                <a:solidFill>
                  <a:srgbClr val="0A0A0A"/>
                </a:solidFill>
                <a:latin typeface="Google Sans"/>
              </a:rPr>
              <a:t>l'essentiel</a:t>
            </a:r>
            <a:r>
              <a:rPr lang="en-US" altLang="en-US" dirty="0">
                <a:solidFill>
                  <a:srgbClr val="0A0A0A"/>
                </a:solidFill>
                <a:latin typeface="Google Sans"/>
              </a:rPr>
              <a:t> de la charge </a:t>
            </a:r>
            <a:r>
              <a:rPr lang="en-US" altLang="en-US" dirty="0" err="1">
                <a:solidFill>
                  <a:srgbClr val="0A0A0A"/>
                </a:solidFill>
                <a:latin typeface="Google Sans"/>
              </a:rPr>
              <a:t>hospitalière</a:t>
            </a:r>
            <a:r>
              <a:rPr lang="en-US" altLang="en-US" dirty="0">
                <a:solidFill>
                  <a:srgbClr val="0A0A0A"/>
                </a:solidFill>
                <a:latin typeface="Google Sans"/>
              </a:rPr>
              <a:t> et des </a:t>
            </a:r>
            <a:r>
              <a:rPr lang="en-US" altLang="en-US" dirty="0" err="1">
                <a:solidFill>
                  <a:srgbClr val="0A0A0A"/>
                </a:solidFill>
                <a:latin typeface="Google Sans"/>
              </a:rPr>
              <a:t>urgences</a:t>
            </a:r>
            <a:r>
              <a:rPr lang="en-US" altLang="en-US" dirty="0">
                <a:solidFill>
                  <a:srgbClr val="0A0A0A"/>
                </a:solidFill>
                <a:latin typeface="Google Sans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054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>
                <a:solidFill>
                  <a:srgbClr val="FF0000"/>
                </a:solidFill>
              </a:rPr>
              <a:t>S</a:t>
            </a:r>
            <a:r>
              <a:rPr lang="fr-FR" b="1" dirty="0" smtClean="0">
                <a:solidFill>
                  <a:srgbClr val="FF0000"/>
                </a:solidFill>
              </a:rPr>
              <a:t>tructures </a:t>
            </a:r>
            <a:r>
              <a:rPr lang="fr-FR" b="1" dirty="0">
                <a:solidFill>
                  <a:srgbClr val="FF0000"/>
                </a:solidFill>
              </a:rPr>
              <a:t>de santé publique </a:t>
            </a:r>
            <a:r>
              <a:rPr lang="fr-FR" b="1" dirty="0" smtClean="0">
                <a:solidFill>
                  <a:srgbClr val="FF0000"/>
                </a:solidFill>
              </a:rPr>
              <a:t/>
            </a:r>
            <a:br>
              <a:rPr lang="fr-FR" b="1" dirty="0" smtClean="0">
                <a:solidFill>
                  <a:srgbClr val="FF0000"/>
                </a:solidFill>
              </a:rPr>
            </a:br>
            <a:r>
              <a:rPr lang="fr-FR" b="1" dirty="0" smtClean="0">
                <a:solidFill>
                  <a:srgbClr val="FF0000"/>
                </a:solidFill>
              </a:rPr>
              <a:t>(2024-2025</a:t>
            </a:r>
            <a:r>
              <a:rPr lang="fr-FR" b="1" dirty="0">
                <a:solidFill>
                  <a:srgbClr val="FF0000"/>
                </a:solidFill>
              </a:rPr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  <a:defRPr/>
            </a:pPr>
            <a:r>
              <a:rPr lang="fr-FR" sz="3400" dirty="0"/>
              <a:t>Depuis la réorganisation de 2007 supprimant le secteur sanitaire et </a:t>
            </a:r>
            <a:r>
              <a:rPr lang="fr-FR" sz="3400" b="1" dirty="0"/>
              <a:t>individualisant</a:t>
            </a:r>
            <a:r>
              <a:rPr lang="fr-FR" sz="3400" dirty="0"/>
              <a:t> les structures hospitalières du système avec :</a:t>
            </a:r>
          </a:p>
          <a:p>
            <a:pPr lvl="1">
              <a:defRPr/>
            </a:pPr>
            <a:r>
              <a:rPr lang="fr-FR" dirty="0" smtClean="0"/>
              <a:t>Un Établissement Hospitalo-universitaire </a:t>
            </a:r>
            <a:r>
              <a:rPr lang="fr-FR" b="1" dirty="0" smtClean="0">
                <a:solidFill>
                  <a:srgbClr val="FF0000"/>
                </a:solidFill>
              </a:rPr>
              <a:t>(EHU),</a:t>
            </a:r>
          </a:p>
          <a:p>
            <a:pPr lvl="1">
              <a:defRPr/>
            </a:pPr>
            <a:r>
              <a:rPr lang="fr-FR" dirty="0" smtClean="0"/>
              <a:t>Des Centres Hospitalo-universitaires </a:t>
            </a:r>
            <a:r>
              <a:rPr lang="fr-FR" b="1" dirty="0" smtClean="0">
                <a:solidFill>
                  <a:srgbClr val="FF0000"/>
                </a:solidFill>
              </a:rPr>
              <a:t>(CHU), </a:t>
            </a:r>
          </a:p>
          <a:p>
            <a:pPr lvl="1">
              <a:defRPr/>
            </a:pPr>
            <a:r>
              <a:rPr lang="fr-FR" dirty="0" smtClean="0"/>
              <a:t>Des Établissements Hospitaliers Spécialisés </a:t>
            </a:r>
            <a:r>
              <a:rPr lang="fr-FR" b="1" dirty="0" smtClean="0">
                <a:solidFill>
                  <a:srgbClr val="FF0000"/>
                </a:solidFill>
              </a:rPr>
              <a:t>(EHS), </a:t>
            </a:r>
          </a:p>
          <a:p>
            <a:pPr lvl="1">
              <a:defRPr/>
            </a:pPr>
            <a:r>
              <a:rPr lang="fr-FR" dirty="0" smtClean="0"/>
              <a:t>Des Établissements Publiques Hospitaliers </a:t>
            </a:r>
            <a:r>
              <a:rPr lang="fr-FR" b="1" dirty="0" smtClean="0">
                <a:solidFill>
                  <a:srgbClr val="FF0000"/>
                </a:solidFill>
              </a:rPr>
              <a:t>(EPH) </a:t>
            </a:r>
          </a:p>
          <a:p>
            <a:pPr lvl="1">
              <a:defRPr/>
            </a:pPr>
            <a:r>
              <a:rPr lang="fr-FR" dirty="0" smtClean="0"/>
              <a:t>Des Établissements Publics De Santé Et De Proximité </a:t>
            </a:r>
            <a:r>
              <a:rPr lang="fr-FR" b="1" dirty="0" smtClean="0">
                <a:solidFill>
                  <a:srgbClr val="FF0000"/>
                </a:solidFill>
              </a:rPr>
              <a:t>(EPSP),</a:t>
            </a:r>
          </a:p>
          <a:p>
            <a:pPr marL="0" indent="0">
              <a:buNone/>
              <a:defRPr/>
            </a:pPr>
            <a:endParaRPr lang="fr-FR" dirty="0"/>
          </a:p>
          <a:p>
            <a:pPr marL="0" indent="0">
              <a:buNone/>
              <a:defRPr/>
            </a:pPr>
            <a:r>
              <a:rPr lang="fr-FR" dirty="0"/>
              <a:t> </a:t>
            </a:r>
            <a:r>
              <a:rPr lang="fr-FR" sz="3200" b="1" u="sng" dirty="0"/>
              <a:t>Le secteur sanitaire étatique en plein essor et dominant </a:t>
            </a:r>
            <a:endParaRPr lang="fr-FR" sz="3200" b="1" u="sng" dirty="0" smtClean="0"/>
          </a:p>
          <a:p>
            <a:pPr marL="0" indent="0" algn="ctr">
              <a:buNone/>
              <a:defRPr/>
            </a:pPr>
            <a:r>
              <a:rPr lang="fr-FR" dirty="0" smtClean="0">
                <a:solidFill>
                  <a:srgbClr val="FF0000"/>
                </a:solidFill>
              </a:rPr>
              <a:t>Pas </a:t>
            </a:r>
            <a:r>
              <a:rPr lang="fr-FR" dirty="0">
                <a:solidFill>
                  <a:srgbClr val="FF0000"/>
                </a:solidFill>
              </a:rPr>
              <a:t>de  textes  concernant la hiérarchisation  des soins et précisant les relations entre ces différentes structures publiques.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978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>
                <a:solidFill>
                  <a:srgbClr val="FF0000"/>
                </a:solidFill>
              </a:rPr>
              <a:t>Structures de santé publique </a:t>
            </a:r>
            <a:br>
              <a:rPr lang="fr-FR" b="1" dirty="0" smtClean="0">
                <a:solidFill>
                  <a:srgbClr val="FF0000"/>
                </a:solidFill>
              </a:rPr>
            </a:br>
            <a:r>
              <a:rPr lang="fr-FR" b="1" dirty="0" smtClean="0">
                <a:solidFill>
                  <a:srgbClr val="FF0000"/>
                </a:solidFill>
              </a:rPr>
              <a:t>(2024-2025)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89396"/>
            <a:ext cx="10515600" cy="494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46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>
                <a:solidFill>
                  <a:srgbClr val="FF0000"/>
                </a:solidFill>
              </a:rPr>
              <a:t>Ratio par habitants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21110" y="1631734"/>
            <a:ext cx="11149780" cy="5047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b="1" dirty="0">
                <a:solidFill>
                  <a:srgbClr val="FF0000"/>
                </a:solidFill>
                <a:latin typeface="+mn-lt"/>
              </a:rPr>
              <a:t>L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e ratio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médical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moyen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 :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 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1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médecin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pour 560 habitants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 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tous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secteurs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confondus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en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2024-2025, 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 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Ce ratio global cache des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disparités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importantes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selon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le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secteur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et la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spécialité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.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Ratio par </a:t>
            </a:r>
            <a:r>
              <a:rPr kumimoji="0" lang="en-US" altLang="en-US" sz="32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secteur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 </a:t>
            </a:r>
            <a:r>
              <a:rPr kumimoji="0" lang="en-US" altLang="en-US" sz="32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d'activité</a:t>
            </a:r>
            <a:r>
              <a:rPr lang="en-US" altLang="en-US" sz="1400" dirty="0">
                <a:solidFill>
                  <a:srgbClr val="FF0000"/>
                </a:solidFill>
                <a:latin typeface="+mn-lt"/>
              </a:rPr>
              <a:t> </a:t>
            </a:r>
            <a:endParaRPr lang="en-US" altLang="en-US" sz="1400" dirty="0" smtClean="0">
              <a:solidFill>
                <a:srgbClr val="FF0000"/>
              </a:solidFill>
              <a:latin typeface="+mn-lt"/>
            </a:endParaRPr>
          </a:p>
          <a:p>
            <a:pPr lvl="1">
              <a:lnSpc>
                <a:spcPct val="100000"/>
              </a:lnSpc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Secteur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Public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 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1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médecin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pour 2 588 habitants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.  </a:t>
            </a:r>
          </a:p>
          <a:p>
            <a:pPr lvl="1">
              <a:lnSpc>
                <a:spcPct val="100000"/>
              </a:lnSpc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Secteur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Privé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 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1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médecin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pour 2 439 habitants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. </a:t>
            </a:r>
          </a:p>
          <a:p>
            <a:pPr>
              <a:lnSpc>
                <a:spcPct val="100000"/>
              </a:lnSpc>
            </a:pPr>
            <a:r>
              <a:rPr kumimoji="0" lang="en-US" altLang="en-US" sz="32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Spécialisation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 et </a:t>
            </a:r>
            <a:r>
              <a:rPr kumimoji="0" lang="en-US" altLang="en-US" sz="32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normes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 internationals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Médecins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Spécialistes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 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1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spécialiste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pour 1 413 habitants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+mn-lt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Comparaison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OMS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 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L'Algérie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se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situe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au-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dessus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du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seuil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critique de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l’OMS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, qui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préconise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un minimum de 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2,3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personnels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de santé (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médecins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,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infirmiers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, sages-femmes) pour 1 000 habitants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. </a:t>
            </a:r>
            <a:endParaRPr kumimoji="0" lang="en-US" alt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40052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>
                <a:solidFill>
                  <a:srgbClr val="FF0000"/>
                </a:solidFill>
              </a:rPr>
              <a:t>Ratio par habitants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179527"/>
            <a:ext cx="10341077" cy="40626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Disparités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régionales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 (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Densité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médicale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)</a:t>
            </a:r>
            <a:r>
              <a:rPr lang="en-US" altLang="en-US" sz="11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en-US" sz="1100" dirty="0" smtClean="0">
                <a:solidFill>
                  <a:srgbClr val="FF0000"/>
                </a:solidFill>
                <a:latin typeface="+mn-lt"/>
              </a:rPr>
              <a:t>: </a:t>
            </a:r>
            <a:r>
              <a:rPr lang="en-US" altLang="en-US" dirty="0" err="1" smtClean="0">
                <a:solidFill>
                  <a:srgbClr val="0A0A0A"/>
                </a:solidFill>
                <a:latin typeface="+mn-lt"/>
              </a:rPr>
              <a:t>Une</a:t>
            </a:r>
            <a:r>
              <a:rPr lang="en-US" altLang="en-US" dirty="0" smtClean="0">
                <a:solidFill>
                  <a:srgbClr val="0A0A0A"/>
                </a:solidFill>
                <a:latin typeface="+mn-lt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forte concentration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urbaine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.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Zones de forte </a:t>
            </a:r>
            <a:r>
              <a:rPr kumimoji="0" lang="en-US" altLang="en-US" sz="2800" b="1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densité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Alger, Oran et Constantine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affichent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des ratios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bien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plus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favorables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parfois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moins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de 400 habitants par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médecin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) grâce à la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présence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de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nombreux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Centres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Hospitalo-Universitaires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(CHU).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Zones de </a:t>
            </a:r>
            <a:r>
              <a:rPr kumimoji="0" lang="en-US" altLang="en-US" sz="2800" b="1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faible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</a:t>
            </a:r>
            <a:r>
              <a:rPr kumimoji="0" lang="en-US" altLang="en-US" sz="2800" b="1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densité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 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Dans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certaines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wilayas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des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Hauts-Plateaux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et du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Sud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,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ce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ratio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peut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chuter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drastiquement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,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dépassant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parfois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les 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3 000 habitants par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médecin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,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malgré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les efforts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récents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de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déploiement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via le service civil.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+mn-lt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kumimoji="0" lang="en-US" altLang="en-US" sz="32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Indicateurs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 de couverture </a:t>
            </a:r>
            <a:r>
              <a:rPr kumimoji="0" lang="en-US" altLang="en-US" sz="32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complémentaire</a:t>
            </a:r>
            <a:endParaRPr kumimoji="0" lang="en-US" altLang="en-US" sz="14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+mn-lt"/>
            </a:endParaRPr>
          </a:p>
          <a:p>
            <a:pPr marL="457200" lvl="1" indent="0">
              <a:lnSpc>
                <a:spcPct val="100000"/>
              </a:lnSpc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Polycliniques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 1 structure pour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24 000 habitants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.</a:t>
            </a:r>
          </a:p>
          <a:p>
            <a:pPr marL="457200" lvl="1" indent="0">
              <a:lnSpc>
                <a:spcPct val="100000"/>
              </a:lnSpc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Salles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de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soins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 1 structure pour 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6 900 habitants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4513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B050"/>
                </a:solidFill>
              </a:rPr>
              <a:t>Secteur Privé :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242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>
                <a:solidFill>
                  <a:srgbClr val="FF0000"/>
                </a:solidFill>
              </a:rPr>
              <a:t>Secteur Privé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9807"/>
          </a:xfrm>
        </p:spPr>
        <p:txBody>
          <a:bodyPr>
            <a:normAutofit/>
          </a:bodyPr>
          <a:lstStyle/>
          <a:p>
            <a:r>
              <a:rPr lang="fr-FR" dirty="0"/>
              <a:t>Le secteur libéral assure la majorité des </a:t>
            </a:r>
            <a:r>
              <a:rPr lang="fr-FR" b="1" dirty="0">
                <a:solidFill>
                  <a:srgbClr val="FF0000"/>
                </a:solidFill>
              </a:rPr>
              <a:t>consultations de base et spécialisées</a:t>
            </a:r>
            <a:r>
              <a:rPr lang="fr-FR" dirty="0" smtClean="0"/>
              <a:t>.</a:t>
            </a:r>
          </a:p>
          <a:p>
            <a:endParaRPr lang="fr-FR" b="1" u="sng" dirty="0" smtClean="0"/>
          </a:p>
          <a:p>
            <a:endParaRPr lang="fr-FR" b="1" u="sng" dirty="0"/>
          </a:p>
          <a:p>
            <a:endParaRPr lang="fr-FR" b="1" u="sng" dirty="0" smtClean="0"/>
          </a:p>
          <a:p>
            <a:endParaRPr lang="fr-FR" b="1" u="sng" dirty="0" smtClean="0"/>
          </a:p>
          <a:p>
            <a:endParaRPr lang="fr-FR" b="1" u="sng" dirty="0" smtClean="0"/>
          </a:p>
          <a:p>
            <a:endParaRPr lang="fr-FR" b="1" u="sng" dirty="0"/>
          </a:p>
          <a:p>
            <a:r>
              <a:rPr lang="fr-FR" dirty="0" smtClean="0"/>
              <a:t>Ce  </a:t>
            </a:r>
            <a:r>
              <a:rPr lang="fr-FR" dirty="0"/>
              <a:t>secteur privé </a:t>
            </a:r>
            <a:r>
              <a:rPr lang="fr-FR" dirty="0" smtClean="0"/>
              <a:t>en </a:t>
            </a:r>
            <a:r>
              <a:rPr lang="fr-FR" dirty="0"/>
              <a:t>développement</a:t>
            </a:r>
            <a:endParaRPr lang="fr-FR" dirty="0" smtClean="0"/>
          </a:p>
          <a:p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107" y="2684209"/>
            <a:ext cx="7142042" cy="299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615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>
                <a:solidFill>
                  <a:srgbClr val="FF0000"/>
                </a:solidFill>
              </a:rPr>
              <a:t>Établissements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Hospitaliers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Privés</a:t>
            </a:r>
            <a:r>
              <a:rPr lang="en-US" b="1" dirty="0">
                <a:solidFill>
                  <a:srgbClr val="FF0000"/>
                </a:solidFill>
              </a:rPr>
              <a:t> (EHP)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01317"/>
          </a:xfrm>
        </p:spPr>
        <p:txBody>
          <a:bodyPr>
            <a:normAutofit fontScale="85000" lnSpcReduction="20000"/>
          </a:bodyPr>
          <a:lstStyle/>
          <a:p>
            <a:r>
              <a:rPr lang="fr-FR" sz="3300" b="1" dirty="0">
                <a:solidFill>
                  <a:srgbClr val="FF0000"/>
                </a:solidFill>
              </a:rPr>
              <a:t>Capacité d'accueil :</a:t>
            </a:r>
            <a:r>
              <a:rPr lang="fr-FR" sz="3300" dirty="0">
                <a:solidFill>
                  <a:srgbClr val="FF0000"/>
                </a:solidFill>
              </a:rPr>
              <a:t> </a:t>
            </a:r>
            <a:r>
              <a:rPr lang="fr-FR" sz="3300" dirty="0" smtClean="0"/>
              <a:t>environ</a:t>
            </a:r>
            <a:r>
              <a:rPr lang="fr-FR" sz="3300" dirty="0"/>
              <a:t> </a:t>
            </a:r>
            <a:r>
              <a:rPr lang="fr-FR" sz="3300" b="1" dirty="0"/>
              <a:t>8 000 à 10 000 lits</a:t>
            </a:r>
            <a:r>
              <a:rPr lang="fr-FR" sz="3300" dirty="0"/>
              <a:t> à l'échelle nationale, soit un peu plus de 10% de la capacité totale du pays.</a:t>
            </a:r>
          </a:p>
          <a:p>
            <a:endParaRPr lang="fr-FR" sz="3300" b="1" dirty="0" smtClean="0"/>
          </a:p>
          <a:p>
            <a:r>
              <a:rPr lang="fr-FR" sz="3300" b="1" dirty="0" smtClean="0">
                <a:solidFill>
                  <a:srgbClr val="FF0000"/>
                </a:solidFill>
              </a:rPr>
              <a:t>Spécialisation </a:t>
            </a:r>
            <a:r>
              <a:rPr lang="fr-FR" sz="3300" b="1" dirty="0">
                <a:solidFill>
                  <a:srgbClr val="FF0000"/>
                </a:solidFill>
              </a:rPr>
              <a:t>:</a:t>
            </a:r>
            <a:r>
              <a:rPr lang="fr-FR" sz="3300" dirty="0"/>
              <a:t> Le privé est particulièrement dominant dans la </a:t>
            </a:r>
            <a:r>
              <a:rPr lang="fr-FR" sz="3300" b="1" dirty="0"/>
              <a:t>Gynécologie-Obstétrique</a:t>
            </a:r>
            <a:r>
              <a:rPr lang="fr-FR" sz="3300" dirty="0"/>
              <a:t> (accouchements), l'</a:t>
            </a:r>
            <a:r>
              <a:rPr lang="fr-FR" sz="3300" b="1" dirty="0"/>
              <a:t>Ophtalmologie</a:t>
            </a:r>
            <a:r>
              <a:rPr lang="fr-FR" sz="3300" dirty="0"/>
              <a:t> et la </a:t>
            </a:r>
            <a:r>
              <a:rPr lang="fr-FR" sz="3300" b="1" dirty="0"/>
              <a:t>Chirurgie Esthétique</a:t>
            </a:r>
            <a:r>
              <a:rPr lang="fr-FR" sz="3300" dirty="0"/>
              <a:t>.</a:t>
            </a:r>
          </a:p>
          <a:p>
            <a:endParaRPr lang="fr-FR" sz="3300" b="1" dirty="0" smtClean="0"/>
          </a:p>
          <a:p>
            <a:r>
              <a:rPr lang="fr-FR" sz="3300" b="1" dirty="0" smtClean="0">
                <a:solidFill>
                  <a:srgbClr val="FF0000"/>
                </a:solidFill>
              </a:rPr>
              <a:t>Localisation </a:t>
            </a:r>
            <a:r>
              <a:rPr lang="fr-FR" sz="3300" b="1" dirty="0">
                <a:solidFill>
                  <a:srgbClr val="FF0000"/>
                </a:solidFill>
              </a:rPr>
              <a:t>:</a:t>
            </a:r>
            <a:r>
              <a:rPr lang="fr-FR" sz="3300" dirty="0"/>
              <a:t> </a:t>
            </a:r>
            <a:r>
              <a:rPr lang="fr-FR" sz="3300" dirty="0" smtClean="0"/>
              <a:t>+ </a:t>
            </a:r>
            <a:r>
              <a:rPr lang="fr-FR" sz="3300" b="1" dirty="0" smtClean="0"/>
              <a:t>60</a:t>
            </a:r>
            <a:r>
              <a:rPr lang="fr-FR" sz="3300" b="1" dirty="0"/>
              <a:t>%</a:t>
            </a:r>
            <a:r>
              <a:rPr lang="fr-FR" sz="3300" dirty="0"/>
              <a:t> des structures privées sont concentrées dans le Nord du pays et les grandes villes (Alger, Oran, Sétif).</a:t>
            </a:r>
          </a:p>
          <a:p>
            <a:endParaRPr lang="fr-FR" sz="3300" b="1" dirty="0" smtClean="0"/>
          </a:p>
          <a:p>
            <a:r>
              <a:rPr lang="fr-FR" sz="3300" b="1" dirty="0" smtClean="0">
                <a:solidFill>
                  <a:srgbClr val="FF0000"/>
                </a:solidFill>
              </a:rPr>
              <a:t>Réglementation </a:t>
            </a:r>
            <a:r>
              <a:rPr lang="fr-FR" sz="3300" b="1" dirty="0">
                <a:solidFill>
                  <a:srgbClr val="FF0000"/>
                </a:solidFill>
              </a:rPr>
              <a:t>:</a:t>
            </a:r>
            <a:r>
              <a:rPr lang="fr-FR" sz="3300" dirty="0"/>
              <a:t> Depuis 2023, de nouveaux cahiers des charges simplifient l'investissement privé pour encourager la création de "Grands Hôpitaux Privés" pluridisciplinaires.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628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>
                <a:solidFill>
                  <a:srgbClr val="FF0000"/>
                </a:solidFill>
              </a:rPr>
              <a:t>Établissements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Hospitaliers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Privés</a:t>
            </a:r>
            <a:r>
              <a:rPr lang="en-US" b="1" dirty="0" smtClean="0">
                <a:solidFill>
                  <a:srgbClr val="FF0000"/>
                </a:solidFill>
              </a:rPr>
              <a:t> (EHP)</a:t>
            </a:r>
            <a:endParaRPr lang="en-US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351" y="2097683"/>
            <a:ext cx="11557352" cy="366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477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b="1" dirty="0" smtClean="0"/>
              <a:t>Financement</a:t>
            </a:r>
            <a:endParaRPr lang="en-US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Le financement du système de santé en Algérie repose sur un modèle mixte, alliant le </a:t>
            </a:r>
            <a:r>
              <a:rPr lang="fr-FR" b="1" dirty="0" smtClean="0">
                <a:effectLst/>
              </a:rPr>
              <a:t>Budget de l'État</a:t>
            </a:r>
            <a:r>
              <a:rPr lang="fr-FR" dirty="0" smtClean="0"/>
              <a:t> (via la fiscalité) et la </a:t>
            </a:r>
            <a:r>
              <a:rPr lang="fr-FR" b="1" dirty="0" smtClean="0">
                <a:effectLst/>
              </a:rPr>
              <a:t>Sécurité Sociale</a:t>
            </a:r>
            <a:r>
              <a:rPr lang="fr-FR" dirty="0" smtClean="0"/>
              <a:t> (cotisations des travailleurs)</a:t>
            </a:r>
            <a:r>
              <a:rPr lang="fr-FR" dirty="0"/>
              <a:t>, garantissant la gratuité des soins dans le secteur public.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286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Sources </a:t>
            </a:r>
            <a:r>
              <a:rPr lang="en-US" b="1" dirty="0"/>
              <a:t>de </a:t>
            </a:r>
            <a:r>
              <a:rPr lang="en-US" b="1" dirty="0" err="1"/>
              <a:t>financement</a:t>
            </a:r>
            <a:endParaRPr lang="en-US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7747" y="2045110"/>
            <a:ext cx="10651034" cy="4139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12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/>
              <a:t>Budget de la Santé en Algérie 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>(2024-2025</a:t>
            </a:r>
            <a:r>
              <a:rPr lang="fr-FR" b="1" dirty="0"/>
              <a:t>)</a:t>
            </a:r>
            <a:endParaRPr lang="en-US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36955"/>
            <a:ext cx="10515599" cy="4719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514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>
                <a:solidFill>
                  <a:srgbClr val="FF0000"/>
                </a:solidFill>
              </a:rPr>
              <a:t>Évolution et prévisions </a:t>
            </a:r>
            <a:br>
              <a:rPr lang="fr-FR" b="1" dirty="0" smtClean="0">
                <a:solidFill>
                  <a:srgbClr val="FF0000"/>
                </a:solidFill>
              </a:rPr>
            </a:br>
            <a:r>
              <a:rPr lang="fr-FR" b="1" dirty="0" smtClean="0">
                <a:solidFill>
                  <a:srgbClr val="FF0000"/>
                </a:solidFill>
              </a:rPr>
              <a:t>2025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Part du PIB : </a:t>
            </a:r>
            <a:r>
              <a:rPr lang="fr-FR" dirty="0" smtClean="0"/>
              <a:t>L'Algérie consacre environ </a:t>
            </a:r>
            <a:r>
              <a:rPr lang="fr-FR" b="1" dirty="0" smtClean="0">
                <a:solidFill>
                  <a:srgbClr val="FF0000"/>
                </a:solidFill>
              </a:rPr>
              <a:t>6 % </a:t>
            </a:r>
            <a:r>
              <a:rPr lang="fr-FR" dirty="0" smtClean="0"/>
              <a:t>de son PIB à la santé, ce qui est l'un des ratios les plus élevés </a:t>
            </a:r>
            <a:r>
              <a:rPr lang="fr-FR" b="1" dirty="0" smtClean="0">
                <a:solidFill>
                  <a:srgbClr val="FF0000"/>
                </a:solidFill>
              </a:rPr>
              <a:t>d'Afrique.</a:t>
            </a:r>
          </a:p>
          <a:p>
            <a:endParaRPr lang="fr-FR" b="1" dirty="0" smtClean="0">
              <a:solidFill>
                <a:srgbClr val="FF0000"/>
              </a:solidFill>
            </a:endParaRPr>
          </a:p>
          <a:p>
            <a:r>
              <a:rPr lang="fr-FR" b="1" dirty="0" smtClean="0">
                <a:solidFill>
                  <a:srgbClr val="FF0000"/>
                </a:solidFill>
              </a:rPr>
              <a:t>Forfait de la Sécurité Sociale : </a:t>
            </a:r>
            <a:r>
              <a:rPr lang="fr-FR" dirty="0" smtClean="0"/>
              <a:t>La contribution annuelle de la CNAS au financement des hôpitaux publics (</a:t>
            </a:r>
            <a:r>
              <a:rPr lang="fr-FR" b="1" dirty="0" smtClean="0">
                <a:solidFill>
                  <a:srgbClr val="FF0000"/>
                </a:solidFill>
              </a:rPr>
              <a:t>le "forfait hôpital") </a:t>
            </a:r>
            <a:r>
              <a:rPr lang="fr-FR" dirty="0" smtClean="0"/>
              <a:t>a été revue à </a:t>
            </a:r>
            <a:r>
              <a:rPr lang="fr-FR" b="1" dirty="0" smtClean="0">
                <a:solidFill>
                  <a:srgbClr val="FF0000"/>
                </a:solidFill>
              </a:rPr>
              <a:t>la hausse </a:t>
            </a:r>
            <a:r>
              <a:rPr lang="fr-FR" dirty="0" smtClean="0"/>
              <a:t>pour atteindre environ </a:t>
            </a:r>
            <a:r>
              <a:rPr lang="fr-FR" b="1" dirty="0" smtClean="0">
                <a:solidFill>
                  <a:srgbClr val="FF0000"/>
                </a:solidFill>
              </a:rPr>
              <a:t>120 milliards DA </a:t>
            </a:r>
            <a:r>
              <a:rPr lang="fr-FR" dirty="0" smtClean="0"/>
              <a:t>afin de compenser les coûts réels des soins.</a:t>
            </a:r>
          </a:p>
          <a:p>
            <a:endParaRPr lang="fr-FR" b="1" dirty="0" smtClean="0">
              <a:solidFill>
                <a:srgbClr val="FF0000"/>
              </a:solidFill>
            </a:endParaRPr>
          </a:p>
          <a:p>
            <a:r>
              <a:rPr lang="fr-FR" b="1" dirty="0" smtClean="0">
                <a:solidFill>
                  <a:srgbClr val="FF0000"/>
                </a:solidFill>
              </a:rPr>
              <a:t>Priorité 2025 : </a:t>
            </a:r>
            <a:r>
              <a:rPr lang="fr-FR" dirty="0" smtClean="0"/>
              <a:t>Le projet de Loi de Finances 2025 prévoit une rallonge budgétaire pour </a:t>
            </a:r>
            <a:r>
              <a:rPr lang="fr-FR" b="1" dirty="0" smtClean="0">
                <a:solidFill>
                  <a:srgbClr val="FF0000"/>
                </a:solidFill>
              </a:rPr>
              <a:t>la numérisation totale du secteur </a:t>
            </a:r>
            <a:r>
              <a:rPr lang="fr-FR" dirty="0" smtClean="0"/>
              <a:t>(</a:t>
            </a:r>
            <a:r>
              <a:rPr lang="fr-FR" b="1" dirty="0" smtClean="0"/>
              <a:t>Dossier Médical </a:t>
            </a:r>
            <a:r>
              <a:rPr lang="fr-FR" dirty="0" smtClean="0"/>
              <a:t>Partagé) et le renforcement des centres de </a:t>
            </a:r>
            <a:r>
              <a:rPr lang="fr-FR" b="1" dirty="0" smtClean="0"/>
              <a:t>lutte contre le cancer</a:t>
            </a:r>
            <a:r>
              <a:rPr lang="fr-FR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732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 smtClean="0"/>
              <a:t>Accès</a:t>
            </a:r>
            <a:endParaRPr lang="en-US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L'accès aux soins en Algérie repose sur le principe constitutionnel de la </a:t>
            </a:r>
            <a:r>
              <a:rPr lang="fr-FR" b="1" dirty="0" smtClean="0">
                <a:effectLst/>
              </a:rPr>
              <a:t>gratuité</a:t>
            </a:r>
            <a:r>
              <a:rPr lang="fr-FR" dirty="0" smtClean="0"/>
              <a:t> dans le secteur public, mais son effectivité varie selon la zone géographique et la complexité des pathologies</a:t>
            </a:r>
            <a:r>
              <a:rPr lang="fr-F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617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>
                <a:solidFill>
                  <a:srgbClr val="FF0000"/>
                </a:solidFill>
              </a:rPr>
              <a:t>Les piliers de l'accès (Secteur Public)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b="1" dirty="0" smtClean="0"/>
              <a:t>Gratuité totale : </a:t>
            </a:r>
            <a:r>
              <a:rPr lang="fr-FR" dirty="0" smtClean="0"/>
              <a:t>Pour tous les citoyens, incluant les consultations, les hospitalisations, les actes chirurgicaux et les médicaments administrés à l'hôpital.</a:t>
            </a:r>
          </a:p>
          <a:p>
            <a:endParaRPr lang="fr-FR" b="1" dirty="0" smtClean="0"/>
          </a:p>
          <a:p>
            <a:r>
              <a:rPr lang="fr-FR" b="1" dirty="0" smtClean="0"/>
              <a:t>Le Réseau de Proximité : </a:t>
            </a:r>
            <a:r>
              <a:rPr lang="fr-FR" dirty="0" smtClean="0"/>
              <a:t>Avec plus de 6 322 salles de soins et 1 784 polycliniques, l'accès aux soins de base est garanti même dans les zones reculées.</a:t>
            </a:r>
          </a:p>
          <a:p>
            <a:endParaRPr lang="fr-FR" b="1" dirty="0" smtClean="0"/>
          </a:p>
          <a:p>
            <a:r>
              <a:rPr lang="fr-FR" b="1" dirty="0" smtClean="0"/>
              <a:t>Service Civil : </a:t>
            </a:r>
            <a:r>
              <a:rPr lang="fr-FR" dirty="0" smtClean="0"/>
              <a:t>Obligation pour les spécialistes de servir entre 1 et 4 ans dans des zones prioritaires pour compenser le manque de praticiens dans les Hauts-Plateaux et le Sud.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335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b="1" dirty="0" smtClean="0">
                <a:solidFill>
                  <a:srgbClr val="FF0000"/>
                </a:solidFill>
              </a:rPr>
              <a:t>Le rôle de la Sécurité Sociale </a:t>
            </a:r>
            <a:br>
              <a:rPr lang="fr-FR" b="1" dirty="0" smtClean="0">
                <a:solidFill>
                  <a:srgbClr val="FF0000"/>
                </a:solidFill>
              </a:rPr>
            </a:br>
            <a:r>
              <a:rPr lang="fr-FR" b="1" dirty="0" smtClean="0">
                <a:solidFill>
                  <a:srgbClr val="FF0000"/>
                </a:solidFill>
              </a:rPr>
              <a:t>(CNAS / CASNOS)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 smtClean="0"/>
              <a:t>Le système de tiers-payant facilite l'accès aux soins privés et aux médicaments :</a:t>
            </a:r>
          </a:p>
          <a:p>
            <a:endParaRPr lang="fr-FR" b="1" dirty="0" smtClean="0">
              <a:solidFill>
                <a:srgbClr val="FF0000"/>
              </a:solidFill>
            </a:endParaRPr>
          </a:p>
          <a:p>
            <a:r>
              <a:rPr lang="fr-FR" b="1" dirty="0" smtClean="0">
                <a:solidFill>
                  <a:srgbClr val="FF0000"/>
                </a:solidFill>
              </a:rPr>
              <a:t>Carte </a:t>
            </a:r>
            <a:r>
              <a:rPr lang="fr-FR" b="1" dirty="0" err="1" smtClean="0">
                <a:solidFill>
                  <a:srgbClr val="FF0000"/>
                </a:solidFill>
              </a:rPr>
              <a:t>Chifa</a:t>
            </a:r>
            <a:r>
              <a:rPr lang="fr-FR" b="1" dirty="0" smtClean="0">
                <a:solidFill>
                  <a:srgbClr val="FF0000"/>
                </a:solidFill>
              </a:rPr>
              <a:t> : </a:t>
            </a:r>
            <a:r>
              <a:rPr lang="fr-FR" dirty="0" smtClean="0"/>
              <a:t>Permet aux assurés (et ayants droit) d'obtenir gratuitement leurs médicaments en officine (selon une liste de prix de référence).</a:t>
            </a:r>
          </a:p>
          <a:p>
            <a:endParaRPr lang="fr-FR" b="1" dirty="0" smtClean="0">
              <a:solidFill>
                <a:srgbClr val="FF0000"/>
              </a:solidFill>
            </a:endParaRPr>
          </a:p>
          <a:p>
            <a:r>
              <a:rPr lang="fr-FR" b="1" dirty="0" smtClean="0">
                <a:solidFill>
                  <a:srgbClr val="FF0000"/>
                </a:solidFill>
              </a:rPr>
              <a:t>Conventions Public-Privé : </a:t>
            </a:r>
            <a:r>
              <a:rPr lang="fr-FR" dirty="0" smtClean="0"/>
              <a:t>L'État finance via la sécurité sociale des actes coûteux dans le privé (Hémodialyse, Chirurgie cardiaque, Accouchements) pour désengorger les hôpitaux publics.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52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Obstacles et </a:t>
            </a:r>
            <a:r>
              <a:rPr lang="en-US" b="1" dirty="0" err="1">
                <a:solidFill>
                  <a:srgbClr val="FF0000"/>
                </a:solidFill>
              </a:rPr>
              <a:t>Disparités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7379" y="1878329"/>
            <a:ext cx="10361563" cy="486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50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>
                <a:solidFill>
                  <a:srgbClr val="FF0000"/>
                </a:solidFill>
              </a:rPr>
              <a:t>Modernisation </a:t>
            </a:r>
            <a:br>
              <a:rPr lang="fr-FR" b="1" dirty="0" smtClean="0">
                <a:solidFill>
                  <a:srgbClr val="FF0000"/>
                </a:solidFill>
              </a:rPr>
            </a:br>
            <a:r>
              <a:rPr lang="fr-FR" b="1" dirty="0" smtClean="0">
                <a:solidFill>
                  <a:srgbClr val="FF0000"/>
                </a:solidFill>
              </a:rPr>
              <a:t>Vers l'accès numérique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Le ministère a lancé en 2024-2025 plusieurs plateformes pour fluidifier l'accès :</a:t>
            </a:r>
          </a:p>
          <a:p>
            <a:pPr lvl="1"/>
            <a:r>
              <a:rPr lang="fr-FR" sz="2800" b="1" dirty="0" smtClean="0"/>
              <a:t>Dossier Médical Électronique (DME) : </a:t>
            </a:r>
            <a:r>
              <a:rPr lang="fr-FR" sz="2800" dirty="0" smtClean="0"/>
              <a:t>Pour un suivi sans perte de données entre les structures.</a:t>
            </a:r>
          </a:p>
          <a:p>
            <a:pPr lvl="1"/>
            <a:r>
              <a:rPr lang="fr-FR" sz="2800" b="1" dirty="0" smtClean="0"/>
              <a:t>Système de Rendez-vous en ligne : </a:t>
            </a:r>
            <a:r>
              <a:rPr lang="fr-FR" sz="2800" dirty="0" smtClean="0"/>
              <a:t>Expérimenté dans certains EHS pour réduire les files d'attente.</a:t>
            </a:r>
          </a:p>
          <a:p>
            <a:pPr lvl="1"/>
            <a:r>
              <a:rPr lang="fr-FR" sz="2800" b="1" dirty="0" smtClean="0"/>
              <a:t>Télémédecine : </a:t>
            </a:r>
            <a:r>
              <a:rPr lang="fr-FR" sz="2800" dirty="0" smtClean="0"/>
              <a:t>Déployée pour connecter les médecins du Sud aux experts des CHU du Nord pour les diagnostics urgents.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61757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 smtClean="0"/>
              <a:t>Ressources Humaines</a:t>
            </a:r>
            <a:endParaRPr lang="en-US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432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/>
              <a:t>Ressources Humaines </a:t>
            </a:r>
            <a:br>
              <a:rPr lang="fr-FR" b="1" dirty="0" smtClean="0"/>
            </a:br>
            <a:r>
              <a:rPr lang="fr-FR" sz="3200" b="1" dirty="0" smtClean="0"/>
              <a:t>(1962)</a:t>
            </a:r>
            <a:endParaRPr lang="en-US" sz="32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500 médecins (dont 50 % d’algériens) pour une population de 10,5 millions d’habitants.</a:t>
            </a:r>
          </a:p>
          <a:p>
            <a:pPr lvl="1"/>
            <a:r>
              <a:rPr lang="fr-FR" dirty="0" smtClean="0"/>
              <a:t>Une mortalité infantile élevée (180 ‰),</a:t>
            </a:r>
          </a:p>
          <a:p>
            <a:pPr lvl="1"/>
            <a:r>
              <a:rPr lang="fr-FR" dirty="0" smtClean="0"/>
              <a:t>Une espérance de vie qui n’atteignait pas 50 ans</a:t>
            </a:r>
          </a:p>
          <a:p>
            <a:pPr lvl="1"/>
            <a:r>
              <a:rPr lang="fr-FR" dirty="0" smtClean="0"/>
              <a:t>Des maladies transmissibles sévissant à l’état endémique, d’une ampleur sans égale, responsables d’une importante cause de décès et de handicaps.</a:t>
            </a:r>
          </a:p>
          <a:p>
            <a:r>
              <a:rPr lang="fr-FR" dirty="0" smtClean="0"/>
              <a:t>2 objectifs </a:t>
            </a:r>
          </a:p>
          <a:p>
            <a:pPr lvl="1"/>
            <a:r>
              <a:rPr lang="fr-FR" dirty="0" smtClean="0"/>
              <a:t>Lutter contre les maladies transmissibles</a:t>
            </a:r>
          </a:p>
          <a:p>
            <a:pPr lvl="1"/>
            <a:r>
              <a:rPr lang="fr-FR" dirty="0" smtClean="0"/>
              <a:t>Développer l’accès aux soins.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808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/>
              <a:t>Ressources Humaines </a:t>
            </a:r>
            <a:br>
              <a:rPr lang="fr-FR" b="1" dirty="0" smtClean="0"/>
            </a:br>
            <a:r>
              <a:rPr lang="fr-FR" sz="3200" b="1" dirty="0" smtClean="0"/>
              <a:t>(2021-2024)</a:t>
            </a:r>
            <a:endParaRPr lang="en-US" sz="32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Médecins (Généralistes et Spécialistes) : </a:t>
            </a:r>
          </a:p>
          <a:p>
            <a:pPr lvl="1"/>
            <a:r>
              <a:rPr lang="fr-FR" b="1" dirty="0" smtClean="0"/>
              <a:t>+</a:t>
            </a:r>
            <a:r>
              <a:rPr lang="fr-FR" dirty="0" smtClean="0"/>
              <a:t> </a:t>
            </a:r>
            <a:r>
              <a:rPr lang="fr-FR" b="1" dirty="0" smtClean="0"/>
              <a:t>84 000 </a:t>
            </a:r>
            <a:r>
              <a:rPr lang="fr-FR" dirty="0" smtClean="0"/>
              <a:t>médecins en activité au total.</a:t>
            </a:r>
          </a:p>
          <a:p>
            <a:pPr lvl="1"/>
            <a:r>
              <a:rPr lang="fr-FR" b="1" dirty="0" smtClean="0"/>
              <a:t>Cabinets Privés : </a:t>
            </a:r>
            <a:r>
              <a:rPr lang="fr-FR" dirty="0"/>
              <a:t>+</a:t>
            </a:r>
            <a:r>
              <a:rPr lang="fr-FR" dirty="0" smtClean="0"/>
              <a:t> 9 000 cabinets de médecins spécialistes, 7 300 cabinets de généralistes.</a:t>
            </a:r>
          </a:p>
          <a:p>
            <a:pPr lvl="1"/>
            <a:r>
              <a:rPr lang="fr-FR" b="1" dirty="0" smtClean="0"/>
              <a:t>Chirurgiens-dentistes : + </a:t>
            </a:r>
            <a:r>
              <a:rPr lang="fr-FR" dirty="0" smtClean="0"/>
              <a:t>6 500 cabinets de chirurgie dentaire privés.</a:t>
            </a:r>
          </a:p>
          <a:p>
            <a:pPr lvl="1"/>
            <a:r>
              <a:rPr lang="fr-FR" b="1" dirty="0" smtClean="0"/>
              <a:t>Pharmaciens : + </a:t>
            </a:r>
            <a:r>
              <a:rPr lang="fr-FR" dirty="0" smtClean="0"/>
              <a:t>10 000 officines pharmaceutiques, assurant une forte couverture territoriale.</a:t>
            </a:r>
          </a:p>
          <a:p>
            <a:pPr lvl="1"/>
            <a:r>
              <a:rPr lang="fr-FR" b="1" dirty="0" smtClean="0"/>
              <a:t>Formation : </a:t>
            </a:r>
            <a:r>
              <a:rPr lang="fr-FR" dirty="0" smtClean="0"/>
              <a:t>Le nombre de médecins formés annuellement est en hausse, dépassant les 8 000 par an. </a:t>
            </a:r>
          </a:p>
          <a:p>
            <a:r>
              <a:rPr lang="fr-FR" dirty="0" smtClean="0"/>
              <a:t>Le ratio de médecins pour 1 000 habitants est en légère baisse, mais la capacité de formation reste élevée.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245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ctr"/>
            <a:r>
              <a:rPr lang="en-US" altLang="en-US" sz="4000" b="1" dirty="0">
                <a:solidFill>
                  <a:srgbClr val="0A0A0A"/>
                </a:solidFill>
                <a:latin typeface="+mn-lt"/>
              </a:rPr>
              <a:t>P</a:t>
            </a:r>
            <a:r>
              <a:rPr lang="en-US" altLang="en-US" sz="4000" b="1" dirty="0" smtClean="0">
                <a:solidFill>
                  <a:srgbClr val="0A0A0A"/>
                </a:solidFill>
                <a:latin typeface="+mn-lt"/>
              </a:rPr>
              <a:t>ersonnel </a:t>
            </a:r>
            <a:r>
              <a:rPr lang="en-US" altLang="en-US" sz="4000" b="1" dirty="0" err="1">
                <a:solidFill>
                  <a:srgbClr val="0A0A0A"/>
                </a:solidFill>
                <a:latin typeface="+mn-lt"/>
              </a:rPr>
              <a:t>médical</a:t>
            </a:r>
            <a:r>
              <a:rPr lang="en-US" altLang="en-US" sz="4000" b="1" dirty="0">
                <a:solidFill>
                  <a:srgbClr val="0A0A0A"/>
                </a:solidFill>
                <a:latin typeface="+mn-lt"/>
              </a:rPr>
              <a:t> </a:t>
            </a:r>
            <a:r>
              <a:rPr lang="en-US" altLang="en-US" sz="4000" b="1" dirty="0" err="1">
                <a:solidFill>
                  <a:srgbClr val="0A0A0A"/>
                </a:solidFill>
                <a:latin typeface="+mn-lt"/>
              </a:rPr>
              <a:t>en</a:t>
            </a:r>
            <a:r>
              <a:rPr lang="en-US" altLang="en-US" sz="4000" b="1" dirty="0">
                <a:solidFill>
                  <a:srgbClr val="0A0A0A"/>
                </a:solidFill>
                <a:latin typeface="+mn-lt"/>
              </a:rPr>
              <a:t> </a:t>
            </a:r>
            <a:r>
              <a:rPr lang="en-US" altLang="en-US" sz="4000" b="1" dirty="0" err="1">
                <a:solidFill>
                  <a:srgbClr val="0A0A0A"/>
                </a:solidFill>
                <a:latin typeface="+mn-lt"/>
              </a:rPr>
              <a:t>Algérie</a:t>
            </a:r>
            <a:r>
              <a:rPr lang="en-US" altLang="en-US" sz="4000" b="1" dirty="0">
                <a:solidFill>
                  <a:srgbClr val="0A0A0A"/>
                </a:solidFill>
                <a:latin typeface="+mn-lt"/>
              </a:rPr>
              <a:t> </a:t>
            </a:r>
            <a:r>
              <a:rPr lang="en-US" altLang="en-US" sz="4000" b="1" dirty="0" smtClean="0">
                <a:solidFill>
                  <a:srgbClr val="0A0A0A"/>
                </a:solidFill>
                <a:latin typeface="+mn-lt"/>
              </a:rPr>
              <a:t/>
            </a:r>
            <a:br>
              <a:rPr lang="en-US" altLang="en-US" sz="4000" b="1" dirty="0" smtClean="0">
                <a:solidFill>
                  <a:srgbClr val="0A0A0A"/>
                </a:solidFill>
                <a:latin typeface="+mn-lt"/>
              </a:rPr>
            </a:br>
            <a:r>
              <a:rPr lang="en-US" altLang="en-US" sz="4000" b="1" dirty="0" smtClean="0">
                <a:solidFill>
                  <a:srgbClr val="0A0A0A"/>
                </a:solidFill>
                <a:latin typeface="+mn-lt"/>
              </a:rPr>
              <a:t>(2023-2024)</a:t>
            </a:r>
            <a:endParaRPr lang="en-US" sz="4000" dirty="0">
              <a:latin typeface="+mn-lt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74" y="1864328"/>
            <a:ext cx="11502156" cy="402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667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dirty="0" smtClean="0"/>
              <a:t>Profil évolutif des effectifs du </a:t>
            </a:r>
            <a:r>
              <a:rPr lang="fr-FR" dirty="0"/>
              <a:t>personnel administratif, technique et de service dans le </a:t>
            </a:r>
            <a:r>
              <a:rPr lang="fr-FR" dirty="0" smtClean="0"/>
              <a:t>domaine</a:t>
            </a:r>
            <a:r>
              <a:rPr lang="fr-FR" dirty="0"/>
              <a:t> </a:t>
            </a:r>
            <a:r>
              <a:rPr lang="fr-FR" dirty="0" smtClean="0"/>
              <a:t>(1998 - 2023)</a:t>
            </a:r>
            <a:endParaRPr lang="en-US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0088" y="2046775"/>
            <a:ext cx="11311823" cy="3596941"/>
          </a:xfrm>
          <a:prstGeom prst="rect">
            <a:avLst/>
          </a:prstGeom>
        </p:spPr>
      </p:pic>
      <p:sp>
        <p:nvSpPr>
          <p:cNvPr id="6" name="Ellipse 5"/>
          <p:cNvSpPr/>
          <p:nvPr/>
        </p:nvSpPr>
        <p:spPr>
          <a:xfrm>
            <a:off x="8357418" y="2782529"/>
            <a:ext cx="1022555" cy="253672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06477" y="5781369"/>
            <a:ext cx="117790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0" i="0" dirty="0" smtClean="0">
                <a:solidFill>
                  <a:srgbClr val="0A0A0A"/>
                </a:solidFill>
                <a:effectLst/>
                <a:latin typeface="Google Sans"/>
              </a:rPr>
              <a:t>Le personnel de service a connu une baisse, puis une stabilisation. Cela s'explique par l'externalisation de certaines tâches (nettoyage, sécurité, restauration) à des entreprises privées prestataires de services pour le compte des hôpitaux publics.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67982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 smtClean="0"/>
              <a:t>La formation</a:t>
            </a:r>
            <a:endParaRPr lang="en-US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01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/>
              <a:t>La formation</a:t>
            </a:r>
            <a:endParaRPr lang="en-US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fr-FR" sz="2400" b="1" dirty="0" smtClean="0"/>
              <a:t>Croissance : </a:t>
            </a:r>
            <a:r>
              <a:rPr lang="fr-FR" sz="2400" dirty="0" smtClean="0"/>
              <a:t>Progression constante de 42 223 en 1998 à plus de 116 000 en 2023.</a:t>
            </a:r>
          </a:p>
          <a:p>
            <a:endParaRPr lang="fr-FR" sz="2400" b="1" dirty="0" smtClean="0"/>
          </a:p>
          <a:p>
            <a:r>
              <a:rPr lang="fr-FR" sz="2400" b="1" dirty="0" smtClean="0"/>
              <a:t>Formation </a:t>
            </a:r>
            <a:r>
              <a:rPr lang="fr-FR" sz="2400" b="1" dirty="0" smtClean="0"/>
              <a:t>(2025-2026) : </a:t>
            </a:r>
            <a:r>
              <a:rPr lang="fr-FR" sz="2400" dirty="0" smtClean="0"/>
              <a:t>Le MS a ouvert 4 614 postes pour le résidanat = nouveaux spécialistes (une hausse de 14 %).</a:t>
            </a:r>
          </a:p>
          <a:p>
            <a:endParaRPr lang="fr-FR" sz="2400" b="1" dirty="0" smtClean="0"/>
          </a:p>
          <a:p>
            <a:r>
              <a:rPr lang="fr-FR" sz="2400" b="1" dirty="0" smtClean="0"/>
              <a:t>Recrutement </a:t>
            </a:r>
            <a:r>
              <a:rPr lang="fr-FR" sz="2400" b="1" dirty="0" smtClean="0"/>
              <a:t>public : </a:t>
            </a:r>
            <a:r>
              <a:rPr lang="fr-FR" sz="2400" dirty="0" smtClean="0"/>
              <a:t>En octobre 2025, le MS a annoncé l'ouverture de 24 487 nouveaux postes budgétaires.</a:t>
            </a:r>
          </a:p>
          <a:p>
            <a:endParaRPr lang="fr-FR" sz="2400" b="1" dirty="0" smtClean="0"/>
          </a:p>
          <a:p>
            <a:r>
              <a:rPr lang="fr-FR" sz="2400" b="1" dirty="0" smtClean="0"/>
              <a:t>Exode </a:t>
            </a:r>
            <a:r>
              <a:rPr lang="fr-FR" sz="2400" b="1" dirty="0" smtClean="0"/>
              <a:t>: </a:t>
            </a:r>
            <a:r>
              <a:rPr lang="fr-FR" sz="2400" dirty="0" smtClean="0"/>
              <a:t>On estime à environ 15 000 le nombre de médecins formés en Algérie qui exercent actuellement en France et + de 40 000 ont quitté le pays depuis l’indépendance.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7466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>
                <a:solidFill>
                  <a:srgbClr val="FF0000"/>
                </a:solidFill>
              </a:rPr>
              <a:t>Forces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sz="2400" b="1" dirty="0" smtClean="0"/>
              <a:t>Universalité et gratuité des soins </a:t>
            </a:r>
            <a:r>
              <a:rPr lang="fr-FR" sz="2400" dirty="0" smtClean="0"/>
              <a:t>grâce à une solidarité nationale (cotisations) ainsi qu’une bonne continuité des soins).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400" b="1" dirty="0" smtClean="0"/>
              <a:t>Couverture </a:t>
            </a:r>
            <a:r>
              <a:rPr lang="fr-FR" sz="2400" b="1" dirty="0" smtClean="0"/>
              <a:t>géographique homogène </a:t>
            </a:r>
            <a:r>
              <a:rPr lang="fr-FR" sz="2400" dirty="0" smtClean="0"/>
              <a:t>en terme d'infrastructures : structure de santé de proximité (salle de soins, polyclinique, cabinet médical privé…)</a:t>
            </a:r>
          </a:p>
          <a:p>
            <a:pPr marL="457200" indent="-457200">
              <a:buFont typeface="+mj-lt"/>
              <a:buAutoNum type="arabicPeriod"/>
            </a:pPr>
            <a:endParaRPr lang="fr-FR" sz="2400" b="1" dirty="0" smtClean="0"/>
          </a:p>
          <a:p>
            <a:pPr marL="457200" indent="-457200">
              <a:buFont typeface="+mj-lt"/>
              <a:buAutoNum type="arabicPeriod"/>
            </a:pPr>
            <a:r>
              <a:rPr lang="fr-FR" sz="2400" b="1" dirty="0" smtClean="0"/>
              <a:t>Réseau </a:t>
            </a:r>
            <a:r>
              <a:rPr lang="fr-FR" sz="2400" b="1" dirty="0" smtClean="0"/>
              <a:t>d'infrastructures hospitalières </a:t>
            </a:r>
            <a:r>
              <a:rPr lang="fr-FR" sz="2400" dirty="0" smtClean="0"/>
              <a:t>(CHU, EHS, hôpitaux généraux) ayant un nombre de lits suffisant pour répondre à la demande de la population.</a:t>
            </a:r>
          </a:p>
          <a:p>
            <a:pPr marL="457200" indent="-457200">
              <a:buFont typeface="+mj-lt"/>
              <a:buAutoNum type="arabicPeriod"/>
            </a:pPr>
            <a:endParaRPr lang="fr-FR" sz="2400" b="1" dirty="0" smtClean="0"/>
          </a:p>
          <a:p>
            <a:pPr marL="457200" indent="-457200">
              <a:buFont typeface="+mj-lt"/>
              <a:buAutoNum type="arabicPeriod"/>
            </a:pPr>
            <a:r>
              <a:rPr lang="fr-FR" sz="2400" b="1" dirty="0" smtClean="0"/>
              <a:t>Potentiel </a:t>
            </a:r>
            <a:r>
              <a:rPr lang="fr-FR" sz="2400" b="1" dirty="0" smtClean="0"/>
              <a:t>en personnel médical</a:t>
            </a:r>
            <a:r>
              <a:rPr lang="fr-FR" sz="2400" dirty="0" smtClean="0"/>
              <a:t> en nombre suffisant quoique mal réparti.</a:t>
            </a:r>
          </a:p>
          <a:p>
            <a:pPr marL="457200" indent="-457200">
              <a:buFont typeface="+mj-lt"/>
              <a:buAutoNum type="arabicPeriod"/>
            </a:pPr>
            <a:endParaRPr lang="fr-F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fr-FR" sz="2400" b="1" dirty="0" smtClean="0"/>
              <a:t>Programmes de prévention des maladies transmissibles </a:t>
            </a:r>
            <a:r>
              <a:rPr lang="fr-FR" sz="2400" dirty="0" smtClean="0"/>
              <a:t>et de maîtrise de la croissance démographique : amélioration des indicateurs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55044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>
                <a:solidFill>
                  <a:srgbClr val="FF0000"/>
                </a:solidFill>
              </a:rPr>
              <a:t>Faiblesses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b="1" dirty="0" smtClean="0"/>
              <a:t>Surconsommation des prestations et médicaments </a:t>
            </a:r>
            <a:r>
              <a:rPr lang="fr-FR" dirty="0" smtClean="0"/>
              <a:t>(gaspillage) </a:t>
            </a:r>
          </a:p>
          <a:p>
            <a:pPr marL="514350" indent="-514350">
              <a:buFont typeface="+mj-lt"/>
              <a:buAutoNum type="arabicPeriod"/>
            </a:pPr>
            <a:r>
              <a:rPr lang="fr-FR" b="1" dirty="0" smtClean="0"/>
              <a:t>Patients moins responsabilisés </a:t>
            </a:r>
            <a:r>
              <a:rPr lang="fr-FR" dirty="0" smtClean="0"/>
              <a:t>sur la gestion et le contrôle du système</a:t>
            </a:r>
          </a:p>
          <a:p>
            <a:pPr marL="514350" indent="-514350">
              <a:buFont typeface="+mj-lt"/>
              <a:buAutoNum type="arabicPeriod"/>
            </a:pPr>
            <a:r>
              <a:rPr lang="fr-FR" b="1" dirty="0" smtClean="0"/>
              <a:t>Problèmes de gestion et financement </a:t>
            </a:r>
            <a:r>
              <a:rPr lang="fr-FR" dirty="0" smtClean="0"/>
              <a:t>insuffisant </a:t>
            </a:r>
          </a:p>
          <a:p>
            <a:pPr marL="514350" indent="-514350">
              <a:buFont typeface="+mj-lt"/>
              <a:buAutoNum type="arabicPeriod"/>
            </a:pPr>
            <a:r>
              <a:rPr lang="fr-FR" b="1" dirty="0" smtClean="0"/>
              <a:t>Départ des spécialistes </a:t>
            </a:r>
            <a:r>
              <a:rPr lang="fr-FR" dirty="0" smtClean="0"/>
              <a:t>publics, vers un secteur privé en pleine expansion et un potentiel en personnel paramédical en nombre insuffisant et mal réparti. </a:t>
            </a:r>
          </a:p>
          <a:p>
            <a:pPr marL="514350" indent="-514350">
              <a:buFont typeface="+mj-lt"/>
              <a:buAutoNum type="arabicPeriod"/>
            </a:pPr>
            <a:r>
              <a:rPr lang="fr-FR" b="1" dirty="0" smtClean="0"/>
              <a:t>Les EPSP et les EPH peu impliqués dans l'élaboration des programmes de santé</a:t>
            </a:r>
            <a:r>
              <a:rPr lang="fr-FR" dirty="0" smtClean="0"/>
              <a:t>, en raison d'une trop grande centralisation des organes de décision </a:t>
            </a:r>
          </a:p>
          <a:p>
            <a:pPr marL="514350" indent="-514350">
              <a:buFont typeface="+mj-lt"/>
              <a:buAutoNum type="arabicPeriod"/>
            </a:pPr>
            <a:r>
              <a:rPr lang="fr-FR" b="1" dirty="0" smtClean="0"/>
              <a:t>La forme prime sur le fond : </a:t>
            </a:r>
            <a:r>
              <a:rPr lang="fr-FR" dirty="0" smtClean="0"/>
              <a:t>un grand écart existe entre la législation et la réalité. </a:t>
            </a:r>
            <a:endParaRPr lang="fr-FR" dirty="0"/>
          </a:p>
          <a:p>
            <a:pPr marL="514350" indent="-514350">
              <a:buFont typeface="+mj-lt"/>
              <a:buAutoNum type="arabicPeriod"/>
            </a:pPr>
            <a:r>
              <a:rPr lang="fr-FR" b="1" dirty="0" smtClean="0"/>
              <a:t>L’aspect quantitatif prime sur l’aspect qualitatif.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4787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Conclusion 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fr-FR" sz="2400" dirty="0" smtClean="0"/>
              <a:t>Le système de santé algérien </a:t>
            </a:r>
            <a:r>
              <a:rPr lang="fr-FR" sz="2400" dirty="0" smtClean="0"/>
              <a:t>:  </a:t>
            </a:r>
            <a:r>
              <a:rPr lang="fr-FR" sz="2400" dirty="0" smtClean="0"/>
              <a:t>en </a:t>
            </a:r>
            <a:r>
              <a:rPr lang="fr-FR" sz="2400" dirty="0" smtClean="0"/>
              <a:t>progression </a:t>
            </a:r>
            <a:r>
              <a:rPr lang="fr-FR" sz="2400" dirty="0" smtClean="0"/>
              <a:t>constante (des </a:t>
            </a:r>
            <a:r>
              <a:rPr lang="fr-FR" sz="2400" dirty="0" smtClean="0"/>
              <a:t>investissements massifs et une espérance de vie parmi les plus élevées du continent </a:t>
            </a:r>
            <a:r>
              <a:rPr lang="fr-FR" sz="2400" dirty="0" smtClean="0"/>
              <a:t>africain), </a:t>
            </a:r>
            <a:r>
              <a:rPr lang="fr-FR" sz="2400" dirty="0" smtClean="0"/>
              <a:t>se distingue par des résultats sanitaires robustes comparativement aux moyennes régionales.</a:t>
            </a:r>
          </a:p>
          <a:p>
            <a:r>
              <a:rPr lang="fr-FR" sz="2400" b="1" dirty="0" smtClean="0"/>
              <a:t>Espérance </a:t>
            </a:r>
            <a:r>
              <a:rPr lang="fr-FR" sz="2400" b="1" dirty="0" smtClean="0"/>
              <a:t>de vie</a:t>
            </a:r>
            <a:r>
              <a:rPr lang="fr-FR" sz="2400" dirty="0" smtClean="0"/>
              <a:t> de 79,6 ans en moyenne en 2024, contre environ 76,5 ans en 2022. Elle reste largement au-dessus de la moyenne africaine (~60 ans).</a:t>
            </a:r>
          </a:p>
          <a:p>
            <a:endParaRPr lang="fr-FR" sz="2400" b="1" dirty="0" smtClean="0"/>
          </a:p>
          <a:p>
            <a:r>
              <a:rPr lang="fr-FR" sz="2400" b="1" dirty="0" smtClean="0"/>
              <a:t>Mortalité </a:t>
            </a:r>
            <a:r>
              <a:rPr lang="fr-FR" sz="2400" b="1" dirty="0" smtClean="0"/>
              <a:t>infantile : </a:t>
            </a:r>
            <a:r>
              <a:rPr lang="fr-FR" sz="2400" dirty="0" smtClean="0"/>
              <a:t>Le taux stagne autour de 22 ‰ pour les moins de 5 ans (données 2023-2024), reflétant des défis persistants dans la prise en charge périnatale malgré la généralisation des polycliniques.</a:t>
            </a:r>
          </a:p>
          <a:p>
            <a:endParaRPr lang="fr-FR" sz="2400" b="1" dirty="0" smtClean="0"/>
          </a:p>
          <a:p>
            <a:r>
              <a:rPr lang="fr-FR" sz="2400" b="1" dirty="0" smtClean="0"/>
              <a:t>Mortalité </a:t>
            </a:r>
            <a:r>
              <a:rPr lang="fr-FR" sz="2400" b="1" dirty="0" smtClean="0"/>
              <a:t>maternelle : </a:t>
            </a:r>
            <a:r>
              <a:rPr lang="fr-FR" sz="2400" dirty="0" smtClean="0"/>
              <a:t>Bien qu'en baisse, elle reste un défi avec un taux autour de 48,5 pour 100 000 naissances vivantes. </a:t>
            </a:r>
          </a:p>
        </p:txBody>
      </p:sp>
    </p:spTree>
    <p:extLst>
      <p:ext uri="{BB962C8B-B14F-4D97-AF65-F5344CB8AC3E}">
        <p14:creationId xmlns:p14="http://schemas.microsoft.com/office/powerpoint/2010/main" val="2389231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Conclusion 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3300" b="1" dirty="0" smtClean="0">
                <a:solidFill>
                  <a:srgbClr val="FF0000"/>
                </a:solidFill>
              </a:rPr>
              <a:t>Classements Internationaux (2025)</a:t>
            </a:r>
          </a:p>
          <a:p>
            <a:r>
              <a:rPr lang="fr-FR" dirty="0" smtClean="0"/>
              <a:t>Le système algérien est régulièrement cité parmi les plus performants d'Afrique et du monde arabe selon les plateformes spécialisées.</a:t>
            </a:r>
          </a:p>
          <a:p>
            <a:endParaRPr lang="fr-FR" b="1" dirty="0" smtClean="0"/>
          </a:p>
          <a:p>
            <a:r>
              <a:rPr lang="fr-FR" b="1" dirty="0" smtClean="0"/>
              <a:t>Afrique </a:t>
            </a:r>
            <a:r>
              <a:rPr lang="fr-FR" b="1" dirty="0" smtClean="0"/>
              <a:t>: </a:t>
            </a:r>
            <a:r>
              <a:rPr lang="fr-FR" dirty="0" smtClean="0"/>
              <a:t>Classée 5ème parmi les meilleurs systèmes de santé en Afrique en 2025.</a:t>
            </a:r>
          </a:p>
          <a:p>
            <a:endParaRPr lang="fr-FR" b="1" dirty="0" smtClean="0"/>
          </a:p>
          <a:p>
            <a:r>
              <a:rPr lang="fr-FR" b="1" dirty="0" smtClean="0"/>
              <a:t>Monde </a:t>
            </a:r>
            <a:r>
              <a:rPr lang="fr-FR" b="1" dirty="0" smtClean="0"/>
              <a:t>Arabe : </a:t>
            </a:r>
            <a:r>
              <a:rPr lang="fr-FR" dirty="0" smtClean="0"/>
              <a:t>L'Algérie occupe la 9ème place du Top 10 des pays arabes les mieux notés en matière de santé.</a:t>
            </a:r>
          </a:p>
          <a:p>
            <a:endParaRPr lang="fr-FR" b="1" dirty="0" smtClean="0"/>
          </a:p>
          <a:p>
            <a:r>
              <a:rPr lang="fr-FR" b="1" dirty="0" smtClean="0"/>
              <a:t>Niveau </a:t>
            </a:r>
            <a:r>
              <a:rPr lang="fr-FR" b="1" dirty="0" smtClean="0"/>
              <a:t>Global : </a:t>
            </a:r>
            <a:r>
              <a:rPr lang="fr-FR" dirty="0" smtClean="0"/>
              <a:t>Selon l'OMS, l'Algérie se classait historiquement au 81ème rang mondial, mais les rapports récents </a:t>
            </a:r>
            <a:r>
              <a:rPr lang="fr-FR" b="1" u="sng" dirty="0" smtClean="0"/>
              <a:t>de l'ANSS </a:t>
            </a:r>
            <a:r>
              <a:rPr lang="fr-FR" dirty="0" smtClean="0"/>
              <a:t>soulignent une amélioration de la réponse aux besoins de la population grâce à la modernisation du parc hospitalier.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80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fr-FR" dirty="0" smtClean="0"/>
              <a:t>Conclusion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32619" y="1981200"/>
            <a:ext cx="11395587" cy="4472136"/>
          </a:xfrm>
        </p:spPr>
        <p:txBody>
          <a:bodyPr rtlCol="0">
            <a:noAutofit/>
          </a:bodyPr>
          <a:lstStyle/>
          <a:p>
            <a:pPr>
              <a:buNone/>
              <a:defRPr/>
            </a:pPr>
            <a:r>
              <a:rPr lang="fr-FR" dirty="0" smtClean="0"/>
              <a:t> Évolution notable avec des changements survenus dans la santé de la population mais des insuffisances restent combler. </a:t>
            </a:r>
          </a:p>
          <a:p>
            <a:pPr>
              <a:buNone/>
              <a:defRPr/>
            </a:pPr>
            <a:r>
              <a:rPr lang="fr-FR" dirty="0" smtClean="0"/>
              <a:t>Trois objectifs à atteindre:</a:t>
            </a:r>
          </a:p>
          <a:p>
            <a:pPr lvl="1">
              <a:defRPr/>
            </a:pPr>
            <a:r>
              <a:rPr lang="fr-FR" dirty="0" smtClean="0"/>
              <a:t>1/ Élaborer une </a:t>
            </a:r>
            <a:r>
              <a:rPr lang="fr-FR" b="1" dirty="0" smtClean="0"/>
              <a:t>organisation</a:t>
            </a:r>
            <a:r>
              <a:rPr lang="fr-FR" dirty="0" smtClean="0"/>
              <a:t> permettant aux intervenants d’agir  et interagir pour réaliser  des   actions clairement définis pour l’amélioration de la santé de la population;</a:t>
            </a:r>
          </a:p>
          <a:p>
            <a:pPr lvl="1">
              <a:defRPr/>
            </a:pPr>
            <a:r>
              <a:rPr lang="fr-FR" dirty="0" smtClean="0"/>
              <a:t>2/ Mettre en place un </a:t>
            </a:r>
            <a:r>
              <a:rPr lang="fr-FR" b="1" dirty="0" smtClean="0"/>
              <a:t>système d’information </a:t>
            </a:r>
            <a:r>
              <a:rPr lang="fr-FR" dirty="0" smtClean="0"/>
              <a:t>qui soit une véritable aide à la décision.</a:t>
            </a:r>
          </a:p>
          <a:p>
            <a:pPr lvl="1">
              <a:defRPr/>
            </a:pPr>
            <a:r>
              <a:rPr lang="fr-FR" dirty="0" smtClean="0"/>
              <a:t>3/ </a:t>
            </a:r>
            <a:r>
              <a:rPr lang="fr-FR" b="1" dirty="0" smtClean="0"/>
              <a:t>Réglementer</a:t>
            </a:r>
            <a:r>
              <a:rPr lang="fr-FR" dirty="0" smtClean="0"/>
              <a:t>  différentes activités de santé par des textes et  des guides techniques et consensus.</a:t>
            </a:r>
          </a:p>
        </p:txBody>
      </p:sp>
    </p:spTree>
    <p:extLst>
      <p:ext uri="{BB962C8B-B14F-4D97-AF65-F5344CB8AC3E}">
        <p14:creationId xmlns:p14="http://schemas.microsoft.com/office/powerpoint/2010/main" val="171455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3583</Words>
  <Application>Microsoft Office PowerPoint</Application>
  <PresentationFormat>Grand écran</PresentationFormat>
  <Paragraphs>422</Paragraphs>
  <Slides>68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68</vt:i4>
      </vt:variant>
    </vt:vector>
  </HeadingPairs>
  <TitlesOfParts>
    <vt:vector size="75" baseType="lpstr">
      <vt:lpstr>Arial</vt:lpstr>
      <vt:lpstr>Calibri</vt:lpstr>
      <vt:lpstr>Calibri Light</vt:lpstr>
      <vt:lpstr>Century Schoolbook</vt:lpstr>
      <vt:lpstr>Google Sans</vt:lpstr>
      <vt:lpstr>Trebuchet MS</vt:lpstr>
      <vt:lpstr>Thème Office</vt:lpstr>
      <vt:lpstr>Module SSH 1 ère année Médecine</vt:lpstr>
      <vt:lpstr>Objectifs pédagogiques </vt:lpstr>
      <vt:lpstr>Compétences</vt:lpstr>
      <vt:lpstr>Plan </vt:lpstr>
      <vt:lpstr>Historique </vt:lpstr>
      <vt:lpstr>Définitions </vt:lpstr>
      <vt:lpstr>Définitions </vt:lpstr>
      <vt:lpstr>Définitions </vt:lpstr>
      <vt:lpstr>Définitions</vt:lpstr>
      <vt:lpstr>Définitions</vt:lpstr>
      <vt:lpstr>Types des systèmes de santé</vt:lpstr>
      <vt:lpstr>1. Le Modèle Beveridge (Service National de Santé)</vt:lpstr>
      <vt:lpstr>2. Le Modèle Bismarck (Assurance Sociale)</vt:lpstr>
      <vt:lpstr>3. Le Modèle de l'Assurance Nationale (Mixte)</vt:lpstr>
      <vt:lpstr>4. Le Modèle de Paiement Direct (Out-of-Pocket)</vt:lpstr>
      <vt:lpstr>Résumé</vt:lpstr>
      <vt:lpstr>Système de santé selon l’WHO</vt:lpstr>
      <vt:lpstr>Système de santé selon l’WHO</vt:lpstr>
      <vt:lpstr>1. Les 3 Objectifs fondamentaux</vt:lpstr>
      <vt:lpstr>2. Les 4 Fonctions essentielles</vt:lpstr>
      <vt:lpstr>2. Les 4 Fonctions essentielles</vt:lpstr>
      <vt:lpstr>3. Les 6 Piliers (Building Blocks) de l'OMS</vt:lpstr>
      <vt:lpstr>3. Les 6 Piliers (Building Blocks) de l'OMS</vt:lpstr>
      <vt:lpstr>Organisation du   système de santé Algérien</vt:lpstr>
      <vt:lpstr>Présentation PowerPoint</vt:lpstr>
      <vt:lpstr>Présentation PowerPoint</vt:lpstr>
      <vt:lpstr>Introduction </vt:lpstr>
      <vt:lpstr>Organisation et Structure</vt:lpstr>
      <vt:lpstr>Fonctionnement et Financement</vt:lpstr>
      <vt:lpstr>Défis Actuels</vt:lpstr>
      <vt:lpstr>Administration Centrale et service centraux de l’Etat </vt:lpstr>
      <vt:lpstr> Services centraux de l’etat</vt:lpstr>
      <vt:lpstr>Les Directions Générales</vt:lpstr>
      <vt:lpstr>Les Directions Générales(suite)</vt:lpstr>
      <vt:lpstr>Services déconcentrés de l’Etat</vt:lpstr>
      <vt:lpstr>Services décentralisés de l’Etat</vt:lpstr>
      <vt:lpstr>Niveau intermédiaire</vt:lpstr>
      <vt:lpstr>Niveau local </vt:lpstr>
      <vt:lpstr>Secteur Public  (dominant):</vt:lpstr>
      <vt:lpstr>Structures de santé publique  (2024-2025)</vt:lpstr>
      <vt:lpstr>Structures de santé publique  (2024-2025)</vt:lpstr>
      <vt:lpstr>Ratio par habitants</vt:lpstr>
      <vt:lpstr>Ratio par habitants</vt:lpstr>
      <vt:lpstr>Secteur Privé :</vt:lpstr>
      <vt:lpstr>Secteur Privé</vt:lpstr>
      <vt:lpstr>Établissements Hospitaliers Privés (EHP)</vt:lpstr>
      <vt:lpstr>Établissements Hospitaliers Privés (EHP)</vt:lpstr>
      <vt:lpstr>Financement</vt:lpstr>
      <vt:lpstr>Sources de financement</vt:lpstr>
      <vt:lpstr>Budget de la Santé en Algérie  (2024-2025)</vt:lpstr>
      <vt:lpstr>Évolution et prévisions  2025</vt:lpstr>
      <vt:lpstr>Accès</vt:lpstr>
      <vt:lpstr>Les piliers de l'accès (Secteur Public)</vt:lpstr>
      <vt:lpstr>Le rôle de la Sécurité Sociale  (CNAS / CASNOS)</vt:lpstr>
      <vt:lpstr>Obstacles et Disparités</vt:lpstr>
      <vt:lpstr>Modernisation  Vers l'accès numérique</vt:lpstr>
      <vt:lpstr>Ressources Humaines</vt:lpstr>
      <vt:lpstr>Ressources Humaines  (1962)</vt:lpstr>
      <vt:lpstr>Ressources Humaines  (2021-2024)</vt:lpstr>
      <vt:lpstr>Personnel médical en Algérie  (2023-2024)</vt:lpstr>
      <vt:lpstr>Profil évolutif des effectifs du personnel administratif, technique et de service dans le domaine (1998 - 2023)</vt:lpstr>
      <vt:lpstr>La formation</vt:lpstr>
      <vt:lpstr>La formation</vt:lpstr>
      <vt:lpstr>Forces </vt:lpstr>
      <vt:lpstr>Faiblesses </vt:lpstr>
      <vt:lpstr>Conclusion </vt:lpstr>
      <vt:lpstr>Conclusion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ISSAM</dc:creator>
  <cp:lastModifiedBy>ISSAM</cp:lastModifiedBy>
  <cp:revision>15</cp:revision>
  <dcterms:created xsi:type="dcterms:W3CDTF">2026-04-19T05:55:21Z</dcterms:created>
  <dcterms:modified xsi:type="dcterms:W3CDTF">2026-04-26T05:31:47Z</dcterms:modified>
</cp:coreProperties>
</file>