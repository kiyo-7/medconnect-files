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40"/>
  </p:notesMasterIdLst>
  <p:handoutMasterIdLst>
    <p:handoutMasterId r:id="rId41"/>
  </p:handoutMasterIdLst>
  <p:sldIdLst>
    <p:sldId id="405" r:id="rId2"/>
    <p:sldId id="284" r:id="rId3"/>
    <p:sldId id="285" r:id="rId4"/>
    <p:sldId id="324" r:id="rId5"/>
    <p:sldId id="286" r:id="rId6"/>
    <p:sldId id="483" r:id="rId7"/>
    <p:sldId id="452" r:id="rId8"/>
    <p:sldId id="482" r:id="rId9"/>
    <p:sldId id="507" r:id="rId10"/>
    <p:sldId id="454" r:id="rId11"/>
    <p:sldId id="481" r:id="rId12"/>
    <p:sldId id="484" r:id="rId13"/>
    <p:sldId id="485" r:id="rId14"/>
    <p:sldId id="502" r:id="rId15"/>
    <p:sldId id="506" r:id="rId16"/>
    <p:sldId id="505" r:id="rId17"/>
    <p:sldId id="503" r:id="rId18"/>
    <p:sldId id="504" r:id="rId19"/>
    <p:sldId id="501" r:id="rId20"/>
    <p:sldId id="287" r:id="rId21"/>
    <p:sldId id="464" r:id="rId22"/>
    <p:sldId id="487" r:id="rId23"/>
    <p:sldId id="488" r:id="rId24"/>
    <p:sldId id="489" r:id="rId25"/>
    <p:sldId id="490" r:id="rId26"/>
    <p:sldId id="491" r:id="rId27"/>
    <p:sldId id="492" r:id="rId28"/>
    <p:sldId id="493" r:id="rId29"/>
    <p:sldId id="494" r:id="rId30"/>
    <p:sldId id="495" r:id="rId31"/>
    <p:sldId id="496" r:id="rId32"/>
    <p:sldId id="497" r:id="rId33"/>
    <p:sldId id="498" r:id="rId34"/>
    <p:sldId id="499" r:id="rId35"/>
    <p:sldId id="288" r:id="rId36"/>
    <p:sldId id="360" r:id="rId37"/>
    <p:sldId id="500" r:id="rId38"/>
    <p:sldId id="313" r:id="rId39"/>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DD6"/>
    <a:srgbClr val="0069D9"/>
    <a:srgbClr val="D24725"/>
    <a:srgbClr val="C64C2C"/>
    <a:srgbClr val="007742"/>
    <a:srgbClr val="D81E00"/>
    <a:srgbClr val="FFD6A9"/>
    <a:srgbClr val="AB56FF"/>
    <a:srgbClr val="FFD7D6"/>
    <a:srgbClr val="D5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389B32-D725-419B-B877-691421574F8B}">
  <a:tblStyle styleId="{09389B32-D725-419B-B877-691421574F8B}"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1455" autoAdjust="0"/>
  </p:normalViewPr>
  <p:slideViewPr>
    <p:cSldViewPr snapToGrid="0" snapToObjects="1">
      <p:cViewPr>
        <p:scale>
          <a:sx n="80" d="100"/>
          <a:sy n="80" d="100"/>
        </p:scale>
        <p:origin x="2514" y="1044"/>
      </p:cViewPr>
      <p:guideLst/>
    </p:cSldViewPr>
  </p:slideViewPr>
  <p:outlineViewPr>
    <p:cViewPr>
      <p:scale>
        <a:sx n="33" d="100"/>
        <a:sy n="33" d="100"/>
      </p:scale>
      <p:origin x="0" y="-61264"/>
    </p:cViewPr>
  </p:outlineViewPr>
  <p:notesTextViewPr>
    <p:cViewPr>
      <p:scale>
        <a:sx n="1" d="1"/>
        <a:sy n="1" d="1"/>
      </p:scale>
      <p:origin x="0" y="0"/>
    </p:cViewPr>
  </p:notesTextViewPr>
  <p:notesViewPr>
    <p:cSldViewPr snapToGrid="0" snapToObjects="1">
      <p:cViewPr varScale="1">
        <p:scale>
          <a:sx n="75" d="100"/>
          <a:sy n="75" d="100"/>
        </p:scale>
        <p:origin x="2296" y="1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4A85FC-D04F-1249-A490-D748BB869D49}" type="datetimeFigureOut">
              <a:rPr lang="fr-FR" smtClean="0"/>
              <a:t>31/10/2023</a:t>
            </a:fld>
            <a:endParaRPr lang="fr-F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D569A4-AB8A-4F45-9F1C-C91E16013D6B}" type="slidenum">
              <a:rPr lang="fr-FR" smtClean="0"/>
              <a:t>‹N°›</a:t>
            </a:fld>
            <a:endParaRPr lang="fr-FR"/>
          </a:p>
        </p:txBody>
      </p:sp>
    </p:spTree>
    <p:extLst>
      <p:ext uri="{BB962C8B-B14F-4D97-AF65-F5344CB8AC3E}">
        <p14:creationId xmlns:p14="http://schemas.microsoft.com/office/powerpoint/2010/main" val="205227796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1951676528"/>
      </p:ext>
    </p:extLst>
  </p:cSld>
  <p:clrMap bg1="lt1" tx1="dk1" bg2="dk2" tx2="lt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9" name="Shape 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462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lvl="0" indent="-228600">
              <a:buFont typeface="+mj-lt"/>
              <a:buAutoNum type="arabicPeriod"/>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65621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728173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18469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2456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03003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35544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9752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LucidaGrande" charset="0"/>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822284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50581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7361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2820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982064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490088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86726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492256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467948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4784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2856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002613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24369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18404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887008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653680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33980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834968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72753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83463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858441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38617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095220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08087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16401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charset="2"/>
              <a:buNone/>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8457422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0691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194159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0"/>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477642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3" name="Shape 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7328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2"/>
        <p:cNvGrpSpPr/>
        <p:nvPr/>
      </p:nvGrpSpPr>
      <p:grpSpPr>
        <a:xfrm>
          <a:off x="0" y="0"/>
          <a:ext cx="0" cy="0"/>
          <a:chOff x="0" y="0"/>
          <a:chExt cx="0" cy="0"/>
        </a:xfrm>
      </p:grpSpPr>
      <p:cxnSp>
        <p:nvCxnSpPr>
          <p:cNvPr id="23" name="Shape 23"/>
          <p:cNvCxnSpPr/>
          <p:nvPr/>
        </p:nvCxnSpPr>
        <p:spPr>
          <a:xfrm>
            <a:off x="0" y="1131725"/>
            <a:ext cx="1375800" cy="0"/>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817475" y="928766"/>
            <a:ext cx="405899" cy="405899"/>
          </a:xfrm>
          <a:prstGeom prst="ellipse">
            <a:avLst/>
          </a:prstGeom>
          <a:solidFill>
            <a:srgbClr val="007DD6"/>
          </a:solidFill>
          <a:ln>
            <a:noFill/>
          </a:ln>
        </p:spPr>
        <p:txBody>
          <a:bodyPr lIns="91425" tIns="91425" rIns="91425" bIns="91425" anchor="ctr" anchorCtr="0">
            <a:noAutofit/>
          </a:bodyPr>
          <a:lstStyle/>
          <a:p>
            <a:pPr lvl="0" rtl="0">
              <a:spcBef>
                <a:spcPts val="0"/>
              </a:spcBef>
              <a:buNone/>
            </a:pPr>
            <a:endParaRPr/>
          </a:p>
        </p:txBody>
      </p:sp>
      <p:sp>
        <p:nvSpPr>
          <p:cNvPr id="25" name="Shape 25"/>
          <p:cNvSpPr txBox="1">
            <a:spLocks noGrp="1"/>
          </p:cNvSpPr>
          <p:nvPr>
            <p:ph type="title"/>
          </p:nvPr>
        </p:nvSpPr>
        <p:spPr>
          <a:xfrm>
            <a:off x="1381250" y="922668"/>
            <a:ext cx="3878399" cy="435599"/>
          </a:xfrm>
          <a:prstGeom prst="rect">
            <a:avLst/>
          </a:prstGeom>
        </p:spPr>
        <p:txBody>
          <a:bodyPr lIns="91425" tIns="91425" rIns="91425" bIns="91425" anchor="ctr" anchorCtr="0"/>
          <a:lstStyle>
            <a:lvl1pPr rtl="0">
              <a:spcBef>
                <a:spcPts val="0"/>
              </a:spcBef>
              <a:buSzPct val="100000"/>
              <a:buFont typeface="Lora"/>
              <a:buNone/>
              <a:defRPr sz="2000" b="1">
                <a:latin typeface="Lora"/>
                <a:ea typeface="Lora"/>
                <a:cs typeface="Lora"/>
                <a:sym typeface="Lora"/>
              </a:defRPr>
            </a:lvl1pPr>
            <a:lvl2pPr rtl="0">
              <a:spcBef>
                <a:spcPts val="0"/>
              </a:spcBef>
              <a:buSzPct val="100000"/>
              <a:buFont typeface="Lora"/>
              <a:buNone/>
              <a:defRPr sz="2000" b="1">
                <a:highlight>
                  <a:srgbClr val="FFFFFF"/>
                </a:highlight>
                <a:latin typeface="Lora"/>
                <a:ea typeface="Lora"/>
                <a:cs typeface="Lora"/>
                <a:sym typeface="Lora"/>
              </a:defRPr>
            </a:lvl2pPr>
            <a:lvl3pPr rtl="0">
              <a:spcBef>
                <a:spcPts val="0"/>
              </a:spcBef>
              <a:buSzPct val="100000"/>
              <a:buFont typeface="Lora"/>
              <a:buNone/>
              <a:defRPr sz="2000" b="1">
                <a:highlight>
                  <a:srgbClr val="FFFFFF"/>
                </a:highlight>
                <a:latin typeface="Lora"/>
                <a:ea typeface="Lora"/>
                <a:cs typeface="Lora"/>
                <a:sym typeface="Lora"/>
              </a:defRPr>
            </a:lvl3pPr>
            <a:lvl4pPr rtl="0">
              <a:spcBef>
                <a:spcPts val="0"/>
              </a:spcBef>
              <a:buSzPct val="100000"/>
              <a:buFont typeface="Lora"/>
              <a:buNone/>
              <a:defRPr sz="2000" b="1">
                <a:highlight>
                  <a:srgbClr val="FFFFFF"/>
                </a:highlight>
                <a:latin typeface="Lora"/>
                <a:ea typeface="Lora"/>
                <a:cs typeface="Lora"/>
                <a:sym typeface="Lora"/>
              </a:defRPr>
            </a:lvl4pPr>
            <a:lvl5pPr rtl="0">
              <a:spcBef>
                <a:spcPts val="0"/>
              </a:spcBef>
              <a:buSzPct val="100000"/>
              <a:buFont typeface="Lora"/>
              <a:buNone/>
              <a:defRPr sz="2000" b="1">
                <a:highlight>
                  <a:srgbClr val="FFFFFF"/>
                </a:highlight>
                <a:latin typeface="Lora"/>
                <a:ea typeface="Lora"/>
                <a:cs typeface="Lora"/>
                <a:sym typeface="Lora"/>
              </a:defRPr>
            </a:lvl5pPr>
            <a:lvl6pPr rtl="0">
              <a:spcBef>
                <a:spcPts val="0"/>
              </a:spcBef>
              <a:buSzPct val="100000"/>
              <a:buFont typeface="Lora"/>
              <a:buNone/>
              <a:defRPr sz="2000" b="1">
                <a:highlight>
                  <a:srgbClr val="FFFFFF"/>
                </a:highlight>
                <a:latin typeface="Lora"/>
                <a:ea typeface="Lora"/>
                <a:cs typeface="Lora"/>
                <a:sym typeface="Lora"/>
              </a:defRPr>
            </a:lvl6pPr>
            <a:lvl7pPr rtl="0">
              <a:spcBef>
                <a:spcPts val="0"/>
              </a:spcBef>
              <a:buSzPct val="100000"/>
              <a:buFont typeface="Lora"/>
              <a:buNone/>
              <a:defRPr sz="2000" b="1">
                <a:highlight>
                  <a:srgbClr val="FFFFFF"/>
                </a:highlight>
                <a:latin typeface="Lora"/>
                <a:ea typeface="Lora"/>
                <a:cs typeface="Lora"/>
                <a:sym typeface="Lora"/>
              </a:defRPr>
            </a:lvl7pPr>
            <a:lvl8pPr rtl="0">
              <a:spcBef>
                <a:spcPts val="0"/>
              </a:spcBef>
              <a:buSzPct val="100000"/>
              <a:buFont typeface="Lora"/>
              <a:buNone/>
              <a:defRPr sz="2000" b="1">
                <a:highlight>
                  <a:srgbClr val="FFFFFF"/>
                </a:highlight>
                <a:latin typeface="Lora"/>
                <a:ea typeface="Lora"/>
                <a:cs typeface="Lora"/>
                <a:sym typeface="Lora"/>
              </a:defRPr>
            </a:lvl8pPr>
            <a:lvl9pPr rtl="0">
              <a:spcBef>
                <a:spcPts val="0"/>
              </a:spcBef>
              <a:buSzPct val="100000"/>
              <a:buFont typeface="Lora"/>
              <a:buNone/>
              <a:defRPr sz="2000" b="1">
                <a:highlight>
                  <a:srgbClr val="FFFFFF"/>
                </a:highlight>
                <a:latin typeface="Lora"/>
                <a:ea typeface="Lora"/>
                <a:cs typeface="Lora"/>
                <a:sym typeface="Lora"/>
              </a:defRPr>
            </a:lvl9pPr>
          </a:lstStyle>
          <a:p>
            <a:endParaRPr/>
          </a:p>
        </p:txBody>
      </p:sp>
      <p:sp>
        <p:nvSpPr>
          <p:cNvPr id="26" name="Shape 26"/>
          <p:cNvSpPr txBox="1">
            <a:spLocks noGrp="1"/>
          </p:cNvSpPr>
          <p:nvPr>
            <p:ph type="body" idx="1"/>
          </p:nvPr>
        </p:nvSpPr>
        <p:spPr>
          <a:xfrm>
            <a:off x="1381250" y="1616470"/>
            <a:ext cx="6809700" cy="3112200"/>
          </a:xfrm>
          <a:prstGeom prst="rect">
            <a:avLst/>
          </a:prstGeom>
        </p:spPr>
        <p:txBody>
          <a:bodyPr lIns="91425" tIns="91425" rIns="91425" bIns="91425" anchor="t" anchorCtr="0"/>
          <a:lstStyle>
            <a:lvl1pPr rtl="0">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rtl="0">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rtl="0">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rtl="0">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rtl="0">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rtl="0">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rtl="0">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rtl="0">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rtl="0">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cxnSp>
        <p:nvCxnSpPr>
          <p:cNvPr id="27" name="Shape 27"/>
          <p:cNvCxnSpPr/>
          <p:nvPr/>
        </p:nvCxnSpPr>
        <p:spPr>
          <a:xfrm>
            <a:off x="5265650" y="1131725"/>
            <a:ext cx="38783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ompletely blank">
    <p:spTree>
      <p:nvGrpSpPr>
        <p:cNvPr id="1" name="Shape 5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ubtitle">
    <p:spTree>
      <p:nvGrpSpPr>
        <p:cNvPr id="1" name="Shape 11"/>
        <p:cNvGrpSpPr/>
        <p:nvPr/>
      </p:nvGrpSpPr>
      <p:grpSpPr>
        <a:xfrm>
          <a:off x="0" y="0"/>
          <a:ext cx="0" cy="0"/>
          <a:chOff x="0" y="0"/>
          <a:chExt cx="0" cy="0"/>
        </a:xfrm>
      </p:grpSpPr>
      <p:sp>
        <p:nvSpPr>
          <p:cNvPr id="12" name="Shape 12"/>
          <p:cNvSpPr txBox="1">
            <a:spLocks noGrp="1"/>
          </p:cNvSpPr>
          <p:nvPr>
            <p:ph type="subTitle" idx="1"/>
          </p:nvPr>
        </p:nvSpPr>
        <p:spPr>
          <a:xfrm>
            <a:off x="2022300" y="2815923"/>
            <a:ext cx="5591400" cy="784799"/>
          </a:xfrm>
          <a:prstGeom prst="rect">
            <a:avLst/>
          </a:prstGeom>
        </p:spPr>
        <p:txBody>
          <a:bodyPr lIns="91425" tIns="91425" rIns="91425" bIns="91425" anchor="t" anchorCtr="0"/>
          <a:lstStyle>
            <a:lvl1pPr rtl="0">
              <a:spcBef>
                <a:spcPts val="0"/>
              </a:spcBef>
              <a:buClr>
                <a:srgbClr val="000000"/>
              </a:buClr>
              <a:buSzPct val="100000"/>
              <a:buNone/>
              <a:defRPr sz="1400">
                <a:highlight>
                  <a:srgbClr val="FFCD00"/>
                </a:highlight>
              </a:defRPr>
            </a:lvl1pPr>
            <a:lvl2pPr rtl="0">
              <a:spcBef>
                <a:spcPts val="0"/>
              </a:spcBef>
              <a:buClr>
                <a:schemeClr val="dk2"/>
              </a:buClr>
              <a:buSzPct val="100000"/>
              <a:buNone/>
              <a:defRPr sz="1400">
                <a:solidFill>
                  <a:schemeClr val="dk2"/>
                </a:solidFill>
                <a:highlight>
                  <a:srgbClr val="FFCD00"/>
                </a:highlight>
              </a:defRPr>
            </a:lvl2pPr>
            <a:lvl3pPr rtl="0">
              <a:spcBef>
                <a:spcPts val="0"/>
              </a:spcBef>
              <a:buClr>
                <a:schemeClr val="dk2"/>
              </a:buClr>
              <a:buSzPct val="100000"/>
              <a:buNone/>
              <a:defRPr sz="1400">
                <a:solidFill>
                  <a:schemeClr val="dk2"/>
                </a:solidFill>
                <a:highlight>
                  <a:srgbClr val="FFCD00"/>
                </a:highlight>
              </a:defRPr>
            </a:lvl3pPr>
            <a:lvl4pPr rtl="0">
              <a:spcBef>
                <a:spcPts val="0"/>
              </a:spcBef>
              <a:buClr>
                <a:schemeClr val="dk2"/>
              </a:buClr>
              <a:buSzPct val="100000"/>
              <a:buNone/>
              <a:defRPr sz="1400">
                <a:solidFill>
                  <a:schemeClr val="dk2"/>
                </a:solidFill>
                <a:highlight>
                  <a:srgbClr val="FFCD00"/>
                </a:highlight>
              </a:defRPr>
            </a:lvl4pPr>
            <a:lvl5pPr rtl="0">
              <a:spcBef>
                <a:spcPts val="0"/>
              </a:spcBef>
              <a:buClr>
                <a:schemeClr val="dk2"/>
              </a:buClr>
              <a:buSzPct val="100000"/>
              <a:buNone/>
              <a:defRPr sz="1400">
                <a:solidFill>
                  <a:schemeClr val="dk2"/>
                </a:solidFill>
                <a:highlight>
                  <a:srgbClr val="FFCD00"/>
                </a:highlight>
              </a:defRPr>
            </a:lvl5pPr>
            <a:lvl6pPr rtl="0">
              <a:spcBef>
                <a:spcPts val="0"/>
              </a:spcBef>
              <a:buClr>
                <a:schemeClr val="dk2"/>
              </a:buClr>
              <a:buSzPct val="100000"/>
              <a:buNone/>
              <a:defRPr sz="1400">
                <a:solidFill>
                  <a:schemeClr val="dk2"/>
                </a:solidFill>
                <a:highlight>
                  <a:srgbClr val="FFCD00"/>
                </a:highlight>
              </a:defRPr>
            </a:lvl6pPr>
            <a:lvl7pPr rtl="0">
              <a:spcBef>
                <a:spcPts val="0"/>
              </a:spcBef>
              <a:buClr>
                <a:schemeClr val="dk2"/>
              </a:buClr>
              <a:buSzPct val="100000"/>
              <a:buNone/>
              <a:defRPr sz="1400">
                <a:solidFill>
                  <a:schemeClr val="dk2"/>
                </a:solidFill>
                <a:highlight>
                  <a:srgbClr val="FFCD00"/>
                </a:highlight>
              </a:defRPr>
            </a:lvl7pPr>
            <a:lvl8pPr rtl="0">
              <a:spcBef>
                <a:spcPts val="0"/>
              </a:spcBef>
              <a:buClr>
                <a:schemeClr val="dk2"/>
              </a:buClr>
              <a:buSzPct val="100000"/>
              <a:buNone/>
              <a:defRPr sz="1400">
                <a:solidFill>
                  <a:schemeClr val="dk2"/>
                </a:solidFill>
                <a:highlight>
                  <a:srgbClr val="FFCD00"/>
                </a:highlight>
              </a:defRPr>
            </a:lvl8pPr>
            <a:lvl9pPr rtl="0">
              <a:spcBef>
                <a:spcPts val="0"/>
              </a:spcBef>
              <a:buClr>
                <a:schemeClr val="dk2"/>
              </a:buClr>
              <a:buSzPct val="100000"/>
              <a:buNone/>
              <a:defRPr sz="1400">
                <a:solidFill>
                  <a:schemeClr val="dk2"/>
                </a:solidFill>
                <a:highlight>
                  <a:srgbClr val="FFCD00"/>
                </a:highlight>
              </a:defRPr>
            </a:lvl9pPr>
          </a:lstStyle>
          <a:p>
            <a:endParaRPr/>
          </a:p>
        </p:txBody>
      </p:sp>
      <p:cxnSp>
        <p:nvCxnSpPr>
          <p:cNvPr id="13" name="Shape 13"/>
          <p:cNvCxnSpPr/>
          <p:nvPr/>
        </p:nvCxnSpPr>
        <p:spPr>
          <a:xfrm>
            <a:off x="-6025" y="2571761"/>
            <a:ext cx="1984499" cy="0"/>
          </a:xfrm>
          <a:prstGeom prst="straightConnector1">
            <a:avLst/>
          </a:prstGeom>
          <a:noFill/>
          <a:ln w="9525" cap="flat" cmpd="sng">
            <a:solidFill>
              <a:srgbClr val="CCCCCC"/>
            </a:solidFill>
            <a:prstDash val="solid"/>
            <a:round/>
            <a:headEnd type="none" w="lg" len="lg"/>
            <a:tailEnd type="none" w="lg" len="lg"/>
          </a:ln>
        </p:spPr>
      </p:cxnSp>
      <p:sp>
        <p:nvSpPr>
          <p:cNvPr id="14" name="Shape 14"/>
          <p:cNvSpPr/>
          <p:nvPr/>
        </p:nvSpPr>
        <p:spPr>
          <a:xfrm>
            <a:off x="1117950" y="2288250"/>
            <a:ext cx="566999" cy="566999"/>
          </a:xfrm>
          <a:prstGeom prst="ellipse">
            <a:avLst/>
          </a:prstGeom>
          <a:solidFill>
            <a:srgbClr val="007DD6"/>
          </a:solidFill>
          <a:ln>
            <a:noFill/>
          </a:ln>
        </p:spPr>
        <p:txBody>
          <a:bodyPr lIns="91425" tIns="91425" rIns="91425" bIns="91425" anchor="ctr" anchorCtr="0">
            <a:noAutofit/>
          </a:bodyPr>
          <a:lstStyle/>
          <a:p>
            <a:pPr lvl="0" rtl="0">
              <a:spcBef>
                <a:spcPts val="0"/>
              </a:spcBef>
              <a:buNone/>
            </a:pPr>
            <a:endParaRPr/>
          </a:p>
        </p:txBody>
      </p:sp>
      <p:sp>
        <p:nvSpPr>
          <p:cNvPr id="15" name="Shape 15"/>
          <p:cNvSpPr txBox="1">
            <a:spLocks noGrp="1"/>
          </p:cNvSpPr>
          <p:nvPr>
            <p:ph type="ctrTitle"/>
          </p:nvPr>
        </p:nvSpPr>
        <p:spPr>
          <a:xfrm>
            <a:off x="2022225" y="1693523"/>
            <a:ext cx="3787799" cy="1159799"/>
          </a:xfrm>
          <a:prstGeom prst="rect">
            <a:avLst/>
          </a:prstGeom>
        </p:spPr>
        <p:txBody>
          <a:bodyPr lIns="91425" tIns="91425" rIns="91425" bIns="91425" anchor="b" anchorCtr="0"/>
          <a:lstStyle>
            <a:lvl1pPr rtl="0">
              <a:spcBef>
                <a:spcPts val="0"/>
              </a:spcBef>
              <a:buSzPct val="100000"/>
              <a:defRPr sz="3000"/>
            </a:lvl1pPr>
            <a:lvl2pPr rtl="0">
              <a:spcBef>
                <a:spcPts val="0"/>
              </a:spcBef>
              <a:buSzPct val="100000"/>
              <a:defRPr sz="3000"/>
            </a:lvl2pPr>
            <a:lvl3pPr rtl="0">
              <a:spcBef>
                <a:spcPts val="0"/>
              </a:spcBef>
              <a:buSzPct val="100000"/>
              <a:defRPr sz="3000"/>
            </a:lvl3pPr>
            <a:lvl4pPr rtl="0">
              <a:spcBef>
                <a:spcPts val="0"/>
              </a:spcBef>
              <a:buSzPct val="100000"/>
              <a:defRPr sz="3000"/>
            </a:lvl4pPr>
            <a:lvl5pPr rtl="0">
              <a:spcBef>
                <a:spcPts val="0"/>
              </a:spcBef>
              <a:buSzPct val="100000"/>
              <a:defRPr sz="3000"/>
            </a:lvl5pPr>
            <a:lvl6pPr rtl="0">
              <a:spcBef>
                <a:spcPts val="0"/>
              </a:spcBef>
              <a:buSzPct val="100000"/>
              <a:defRPr sz="3000"/>
            </a:lvl6pPr>
            <a:lvl7pPr rtl="0">
              <a:spcBef>
                <a:spcPts val="0"/>
              </a:spcBef>
              <a:buSzPct val="100000"/>
              <a:defRPr sz="3000"/>
            </a:lvl7pPr>
            <a:lvl8pPr rtl="0">
              <a:spcBef>
                <a:spcPts val="0"/>
              </a:spcBef>
              <a:buSzPct val="100000"/>
              <a:defRPr sz="3000"/>
            </a:lvl8pPr>
            <a:lvl9pPr rtl="0">
              <a:spcBef>
                <a:spcPts val="0"/>
              </a:spcBef>
              <a:buSzPct val="100000"/>
              <a:defRPr sz="3000"/>
            </a:lvl9pPr>
          </a:lstStyle>
          <a:p>
            <a:endParaRPr/>
          </a:p>
        </p:txBody>
      </p:sp>
      <p:cxnSp>
        <p:nvCxnSpPr>
          <p:cNvPr id="16" name="Shape 16"/>
          <p:cNvCxnSpPr/>
          <p:nvPr/>
        </p:nvCxnSpPr>
        <p:spPr>
          <a:xfrm>
            <a:off x="5898975" y="2571750"/>
            <a:ext cx="3251099" cy="0"/>
          </a:xfrm>
          <a:prstGeom prst="straightConnector1">
            <a:avLst/>
          </a:prstGeom>
          <a:noFill/>
          <a:ln w="9525" cap="flat" cmpd="sng">
            <a:solidFill>
              <a:srgbClr val="CCCCCC"/>
            </a:solidFill>
            <a:prstDash val="solid"/>
            <a:round/>
            <a:headEnd type="none" w="lg" len="lg"/>
            <a:tailEnd type="none" w="lg" len="lg"/>
          </a:ln>
        </p:spPr>
      </p:cxnSp>
    </p:spTree>
    <p:extLst>
      <p:ext uri="{BB962C8B-B14F-4D97-AF65-F5344CB8AC3E}">
        <p14:creationId xmlns:p14="http://schemas.microsoft.com/office/powerpoint/2010/main" val="1921412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996630" y="2003888"/>
            <a:ext cx="4523699" cy="1159799"/>
          </a:xfrm>
          <a:prstGeom prst="rect">
            <a:avLst/>
          </a:prstGeom>
        </p:spPr>
        <p:txBody>
          <a:bodyPr lIns="91425" tIns="91425" rIns="91425" bIns="91425" anchor="b" anchorCtr="0"/>
          <a:lstStyle>
            <a:lvl1pPr>
              <a:spcBef>
                <a:spcPts val="0"/>
              </a:spcBef>
              <a:buSzPct val="100000"/>
              <a:defRPr sz="3600"/>
            </a:lvl1pPr>
            <a:lvl2pPr>
              <a:spcBef>
                <a:spcPts val="0"/>
              </a:spcBef>
              <a:buSzPct val="100000"/>
              <a:defRPr sz="3600"/>
            </a:lvl2pPr>
            <a:lvl3pPr>
              <a:spcBef>
                <a:spcPts val="0"/>
              </a:spcBef>
              <a:buSzPct val="100000"/>
              <a:defRPr sz="3600"/>
            </a:lvl3pPr>
            <a:lvl4pPr>
              <a:spcBef>
                <a:spcPts val="0"/>
              </a:spcBef>
              <a:buSzPct val="100000"/>
              <a:defRPr sz="3600"/>
            </a:lvl4pPr>
            <a:lvl5pPr>
              <a:spcBef>
                <a:spcPts val="0"/>
              </a:spcBef>
              <a:buSzPct val="100000"/>
              <a:defRPr sz="3600"/>
            </a:lvl5pPr>
            <a:lvl6pPr>
              <a:spcBef>
                <a:spcPts val="0"/>
              </a:spcBef>
              <a:buSzPct val="100000"/>
              <a:defRPr sz="3600"/>
            </a:lvl6pPr>
            <a:lvl7pPr>
              <a:spcBef>
                <a:spcPts val="0"/>
              </a:spcBef>
              <a:buSzPct val="100000"/>
              <a:defRPr sz="3600"/>
            </a:lvl7pPr>
            <a:lvl8pPr>
              <a:spcBef>
                <a:spcPts val="0"/>
              </a:spcBef>
              <a:buSzPct val="100000"/>
              <a:defRPr sz="3600"/>
            </a:lvl8pPr>
            <a:lvl9pPr>
              <a:spcBef>
                <a:spcPts val="0"/>
              </a:spcBef>
              <a:buSzPct val="100000"/>
              <a:defRPr sz="3600"/>
            </a:lvl9pPr>
          </a:lstStyle>
          <a:p>
            <a:endParaRPr/>
          </a:p>
        </p:txBody>
      </p:sp>
      <p:cxnSp>
        <p:nvCxnSpPr>
          <p:cNvPr id="9" name="Shape 9"/>
          <p:cNvCxnSpPr/>
          <p:nvPr/>
        </p:nvCxnSpPr>
        <p:spPr>
          <a:xfrm>
            <a:off x="-6025" y="3676511"/>
            <a:ext cx="9161999" cy="0"/>
          </a:xfrm>
          <a:prstGeom prst="straightConnector1">
            <a:avLst/>
          </a:prstGeom>
          <a:noFill/>
          <a:ln w="9525" cap="flat" cmpd="sng">
            <a:solidFill>
              <a:srgbClr val="000000"/>
            </a:solidFill>
            <a:prstDash val="solid"/>
            <a:round/>
            <a:headEnd type="none" w="lg" len="lg"/>
            <a:tailEnd type="none" w="lg" len="lg"/>
          </a:ln>
        </p:spPr>
      </p:cxnSp>
      <p:sp>
        <p:nvSpPr>
          <p:cNvPr id="10" name="Shape 10"/>
          <p:cNvSpPr/>
          <p:nvPr/>
        </p:nvSpPr>
        <p:spPr>
          <a:xfrm>
            <a:off x="1117950" y="3393000"/>
            <a:ext cx="566999" cy="566999"/>
          </a:xfrm>
          <a:prstGeom prst="ellipse">
            <a:avLst/>
          </a:prstGeom>
          <a:solidFill>
            <a:srgbClr val="007DD6"/>
          </a:solidFill>
          <a:ln>
            <a:noFill/>
          </a:ln>
        </p:spPr>
        <p:txBody>
          <a:bodyPr lIns="91425" tIns="91425" rIns="91425" bIns="91425" anchor="ctr" anchorCtr="0">
            <a:noAutofit/>
          </a:bodyPr>
          <a:lstStyle/>
          <a:p>
            <a:pPr>
              <a:spcBef>
                <a:spcPts val="0"/>
              </a:spcBef>
              <a:buNone/>
            </a:pPr>
            <a:endParaRPr/>
          </a:p>
        </p:txBody>
      </p:sp>
    </p:spTree>
    <p:extLst>
      <p:ext uri="{BB962C8B-B14F-4D97-AF65-F5344CB8AC3E}">
        <p14:creationId xmlns:p14="http://schemas.microsoft.com/office/powerpoint/2010/main" val="1930195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hueOff val="0"/>
            <a:satOff val="0"/>
            <a:lumOff val="0"/>
          </a:schemeClr>
        </a:solidFill>
        <a:effectLst/>
      </p:bgPr>
    </p:bg>
    <p:spTree>
      <p:nvGrpSpPr>
        <p:cNvPr id="1" name="Shape 4"/>
        <p:cNvGrpSpPr/>
        <p:nvPr/>
      </p:nvGrpSpPr>
      <p:grpSpPr>
        <a:xfrm>
          <a:off x="0" y="0"/>
          <a:ext cx="0" cy="0"/>
          <a:chOff x="0" y="0"/>
          <a:chExt cx="0" cy="0"/>
        </a:xfrm>
      </p:grpSpPr>
      <p:sp>
        <p:nvSpPr>
          <p:cNvPr id="5" name="Shape 5"/>
          <p:cNvSpPr txBox="1">
            <a:spLocks noGrp="1"/>
          </p:cNvSpPr>
          <p:nvPr>
            <p:ph type="body" idx="1"/>
          </p:nvPr>
        </p:nvSpPr>
        <p:spPr>
          <a:xfrm>
            <a:off x="1381250" y="1616470"/>
            <a:ext cx="6809700" cy="3112200"/>
          </a:xfrm>
          <a:prstGeom prst="rect">
            <a:avLst/>
          </a:prstGeom>
          <a:noFill/>
          <a:ln>
            <a:noFill/>
          </a:ln>
        </p:spPr>
        <p:txBody>
          <a:bodyPr lIns="91425" tIns="91425" rIns="91425" bIns="91425" anchor="t" anchorCtr="0"/>
          <a:lstStyle>
            <a:lvl1pPr>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sp>
        <p:nvSpPr>
          <p:cNvPr id="6" name="Shape 6"/>
          <p:cNvSpPr txBox="1">
            <a:spLocks noGrp="1"/>
          </p:cNvSpPr>
          <p:nvPr>
            <p:ph type="title"/>
          </p:nvPr>
        </p:nvSpPr>
        <p:spPr>
          <a:xfrm>
            <a:off x="1381250" y="937116"/>
            <a:ext cx="6809700" cy="435599"/>
          </a:xfrm>
          <a:prstGeom prst="rect">
            <a:avLst/>
          </a:prstGeom>
          <a:noFill/>
          <a:ln>
            <a:noFill/>
          </a:ln>
        </p:spPr>
        <p:txBody>
          <a:bodyPr lIns="91425" tIns="91425" rIns="91425" bIns="91425" anchor="ctr" anchorCtr="0"/>
          <a:lstStyle>
            <a:lvl1pPr>
              <a:spcBef>
                <a:spcPts val="0"/>
              </a:spcBef>
              <a:buSzPct val="100000"/>
              <a:buFont typeface="Lora"/>
              <a:buNone/>
              <a:defRPr sz="2000" b="1">
                <a:latin typeface="Lora"/>
                <a:ea typeface="Lora"/>
                <a:cs typeface="Lora"/>
                <a:sym typeface="Lora"/>
              </a:defRPr>
            </a:lvl1pPr>
            <a:lvl2pPr>
              <a:spcBef>
                <a:spcPts val="0"/>
              </a:spcBef>
              <a:buSzPct val="100000"/>
              <a:buFont typeface="Lora"/>
              <a:buNone/>
              <a:defRPr sz="2000" b="1">
                <a:latin typeface="Lora"/>
                <a:ea typeface="Lora"/>
                <a:cs typeface="Lora"/>
                <a:sym typeface="Lora"/>
              </a:defRPr>
            </a:lvl2pPr>
            <a:lvl3pPr>
              <a:spcBef>
                <a:spcPts val="0"/>
              </a:spcBef>
              <a:buSzPct val="100000"/>
              <a:buFont typeface="Lora"/>
              <a:buNone/>
              <a:defRPr sz="2000" b="1">
                <a:latin typeface="Lora"/>
                <a:ea typeface="Lora"/>
                <a:cs typeface="Lora"/>
                <a:sym typeface="Lora"/>
              </a:defRPr>
            </a:lvl3pPr>
            <a:lvl4pPr>
              <a:spcBef>
                <a:spcPts val="0"/>
              </a:spcBef>
              <a:buSzPct val="100000"/>
              <a:buFont typeface="Lora"/>
              <a:buNone/>
              <a:defRPr sz="2000" b="1">
                <a:latin typeface="Lora"/>
                <a:ea typeface="Lora"/>
                <a:cs typeface="Lora"/>
                <a:sym typeface="Lora"/>
              </a:defRPr>
            </a:lvl4pPr>
            <a:lvl5pPr>
              <a:spcBef>
                <a:spcPts val="0"/>
              </a:spcBef>
              <a:buSzPct val="100000"/>
              <a:buFont typeface="Lora"/>
              <a:buNone/>
              <a:defRPr sz="2000" b="1">
                <a:latin typeface="Lora"/>
                <a:ea typeface="Lora"/>
                <a:cs typeface="Lora"/>
                <a:sym typeface="Lora"/>
              </a:defRPr>
            </a:lvl5pPr>
            <a:lvl6pPr>
              <a:spcBef>
                <a:spcPts val="0"/>
              </a:spcBef>
              <a:buSzPct val="100000"/>
              <a:buFont typeface="Lora"/>
              <a:buNone/>
              <a:defRPr sz="2000" b="1">
                <a:latin typeface="Lora"/>
                <a:ea typeface="Lora"/>
                <a:cs typeface="Lora"/>
                <a:sym typeface="Lora"/>
              </a:defRPr>
            </a:lvl6pPr>
            <a:lvl7pPr>
              <a:spcBef>
                <a:spcPts val="0"/>
              </a:spcBef>
              <a:buSzPct val="100000"/>
              <a:buFont typeface="Lora"/>
              <a:buNone/>
              <a:defRPr sz="2000" b="1">
                <a:latin typeface="Lora"/>
                <a:ea typeface="Lora"/>
                <a:cs typeface="Lora"/>
                <a:sym typeface="Lora"/>
              </a:defRPr>
            </a:lvl7pPr>
            <a:lvl8pPr>
              <a:spcBef>
                <a:spcPts val="0"/>
              </a:spcBef>
              <a:buSzPct val="100000"/>
              <a:buFont typeface="Lora"/>
              <a:buNone/>
              <a:defRPr sz="2000" b="1">
                <a:latin typeface="Lora"/>
                <a:ea typeface="Lora"/>
                <a:cs typeface="Lora"/>
                <a:sym typeface="Lora"/>
              </a:defRPr>
            </a:lvl8pPr>
            <a:lvl9pPr>
              <a:spcBef>
                <a:spcPts val="0"/>
              </a:spcBef>
              <a:buSzPct val="100000"/>
              <a:buFont typeface="Lora"/>
              <a:buNone/>
              <a:defRPr sz="2000" b="1">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7" r:id="rId2"/>
    <p:sldLayoutId id="2147483659" r:id="rId3"/>
    <p:sldLayoutId id="2147483661" r:id="rId4"/>
  </p:sldLayoutIdLst>
  <p:hf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9.jpeg"/><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Shape 57"/>
          <p:cNvSpPr txBox="1">
            <a:spLocks noGrp="1"/>
          </p:cNvSpPr>
          <p:nvPr>
            <p:ph type="ctrTitle"/>
          </p:nvPr>
        </p:nvSpPr>
        <p:spPr>
          <a:xfrm>
            <a:off x="1021386" y="1945098"/>
            <a:ext cx="7358701" cy="1015663"/>
          </a:xfrm>
          <a:prstGeom prst="rect">
            <a:avLst/>
          </a:prstGeom>
        </p:spPr>
        <p:txBody>
          <a:bodyPr lIns="91425" tIns="91425" rIns="91425" bIns="91425" anchor="b" anchorCtr="0">
            <a:noAutofit/>
          </a:bodyPr>
          <a:lstStyle/>
          <a:p>
            <a:pPr algn="ctr">
              <a:spcBef>
                <a:spcPts val="0"/>
              </a:spcBef>
              <a:buNone/>
            </a:pPr>
            <a:r>
              <a:rPr lang="fr-FR" sz="2600" dirty="0"/>
              <a:t>Les antiseptiques, désinfectants et stérilisation </a:t>
            </a:r>
            <a:endParaRPr lang="en" sz="2600" dirty="0"/>
          </a:p>
        </p:txBody>
      </p:sp>
      <p:sp>
        <p:nvSpPr>
          <p:cNvPr id="3" name="TextBox 2"/>
          <p:cNvSpPr txBox="1"/>
          <p:nvPr/>
        </p:nvSpPr>
        <p:spPr>
          <a:xfrm>
            <a:off x="1462511" y="165782"/>
            <a:ext cx="6476453" cy="1015663"/>
          </a:xfrm>
          <a:prstGeom prst="rect">
            <a:avLst/>
          </a:prstGeom>
          <a:noFill/>
        </p:spPr>
        <p:txBody>
          <a:bodyPr wrap="none" rtlCol="0">
            <a:spAutoFit/>
          </a:bodyPr>
          <a:lstStyle/>
          <a:p>
            <a:pPr algn="ctr"/>
            <a:r>
              <a:rPr lang="fr-FR" sz="1200" dirty="0">
                <a:latin typeface="Lora" charset="0"/>
                <a:ea typeface="Lora" charset="0"/>
                <a:cs typeface="Lora" charset="0"/>
              </a:rPr>
              <a:t>RÉPUBLIQUE ALGÉRIENNE DÉMOCRATIQUE ET POPULAIRE</a:t>
            </a:r>
          </a:p>
          <a:p>
            <a:pPr algn="ctr"/>
            <a:r>
              <a:rPr lang="fr-FR" sz="1200" dirty="0">
                <a:latin typeface="Lora" charset="0"/>
                <a:ea typeface="Lora" charset="0"/>
                <a:cs typeface="Lora" charset="0"/>
              </a:rPr>
              <a:t>MINISTÈRE DE L’ENSEIGNEMENT SUPÉRIEUR ET DE LA RECHERCHE SCIENTIFIQUE</a:t>
            </a:r>
          </a:p>
          <a:p>
            <a:pPr algn="ctr"/>
            <a:r>
              <a:rPr lang="fr-FR" sz="1200" dirty="0">
                <a:latin typeface="Lora" charset="0"/>
                <a:ea typeface="Lora" charset="0"/>
                <a:cs typeface="Lora" charset="0"/>
              </a:rPr>
              <a:t>UNIVERSITÉ CONSTANTINE 3 – SALAH BOUBNIDER</a:t>
            </a:r>
          </a:p>
          <a:p>
            <a:pPr algn="ctr"/>
            <a:r>
              <a:rPr lang="fr-FR" sz="1200" dirty="0">
                <a:latin typeface="Lora" charset="0"/>
                <a:ea typeface="Lora" charset="0"/>
                <a:cs typeface="Lora" charset="0"/>
              </a:rPr>
              <a:t>FACULTÉ DE MÉDECINE- DR BELKACEM BENSMAIL</a:t>
            </a:r>
          </a:p>
          <a:p>
            <a:pPr algn="ctr"/>
            <a:r>
              <a:rPr lang="fr-FR" sz="1200" dirty="0">
                <a:latin typeface="Lora" charset="0"/>
                <a:ea typeface="Lora" charset="0"/>
                <a:cs typeface="Lora" charset="0"/>
              </a:rPr>
              <a:t>DEPARTEMENT DE PHARMACIE</a:t>
            </a:r>
          </a:p>
        </p:txBody>
      </p:sp>
      <p:sp>
        <p:nvSpPr>
          <p:cNvPr id="23" name="Shape 403"/>
          <p:cNvSpPr/>
          <p:nvPr/>
        </p:nvSpPr>
        <p:spPr>
          <a:xfrm>
            <a:off x="-6226" y="4707750"/>
            <a:ext cx="9150225" cy="435599"/>
          </a:xfrm>
          <a:prstGeom prst="rect">
            <a:avLst/>
          </a:prstGeom>
          <a:solidFill>
            <a:srgbClr val="007DD6"/>
          </a:solidFill>
          <a:ln>
            <a:noFill/>
          </a:ln>
        </p:spPr>
        <p:txBody>
          <a:bodyPr lIns="91425" tIns="91425" rIns="91425" bIns="91425" anchor="ctr" anchorCtr="0">
            <a:noAutofit/>
          </a:bodyPr>
          <a:lstStyle/>
          <a:p>
            <a:pPr>
              <a:spcBef>
                <a:spcPts val="0"/>
              </a:spcBef>
              <a:buNone/>
            </a:pPr>
            <a:endParaRPr dirty="0">
              <a:solidFill>
                <a:srgbClr val="FC6403"/>
              </a:solidFill>
            </a:endParaRPr>
          </a:p>
        </p:txBody>
      </p:sp>
      <p:sp>
        <p:nvSpPr>
          <p:cNvPr id="6" name="TextBox 5"/>
          <p:cNvSpPr txBox="1"/>
          <p:nvPr/>
        </p:nvSpPr>
        <p:spPr>
          <a:xfrm>
            <a:off x="3121620" y="4794744"/>
            <a:ext cx="2419252" cy="261610"/>
          </a:xfrm>
          <a:prstGeom prst="rect">
            <a:avLst/>
          </a:prstGeom>
          <a:noFill/>
        </p:spPr>
        <p:txBody>
          <a:bodyPr wrap="none" rtlCol="0">
            <a:spAutoFit/>
          </a:bodyPr>
          <a:lstStyle/>
          <a:p>
            <a:r>
              <a:rPr lang="fr-FR" sz="1100" dirty="0">
                <a:solidFill>
                  <a:schemeClr val="bg1"/>
                </a:solidFill>
                <a:latin typeface="Lora" charset="0"/>
                <a:ea typeface="Lora" charset="0"/>
                <a:cs typeface="Lora" charset="0"/>
              </a:rPr>
              <a:t>Date de présentation: </a:t>
            </a:r>
            <a:r>
              <a:rPr lang="ar-DZ" sz="1100" dirty="0">
                <a:solidFill>
                  <a:schemeClr val="bg1"/>
                </a:solidFill>
                <a:latin typeface="Lora" charset="0"/>
                <a:ea typeface="Lora" charset="0"/>
                <a:cs typeface="Lora" charset="0"/>
              </a:rPr>
              <a:t>31</a:t>
            </a:r>
            <a:r>
              <a:rPr lang="fr-FR" sz="1100" dirty="0">
                <a:solidFill>
                  <a:schemeClr val="bg1"/>
                </a:solidFill>
                <a:latin typeface="Lora" charset="0"/>
                <a:ea typeface="Lora" charset="0"/>
                <a:cs typeface="Lora" charset="0"/>
              </a:rPr>
              <a:t>/</a:t>
            </a:r>
            <a:r>
              <a:rPr lang="ar-DZ" sz="1100" dirty="0">
                <a:solidFill>
                  <a:schemeClr val="bg1"/>
                </a:solidFill>
                <a:latin typeface="Lora" charset="0"/>
                <a:ea typeface="Lora" charset="0"/>
                <a:cs typeface="Lora" charset="0"/>
              </a:rPr>
              <a:t>10</a:t>
            </a:r>
            <a:r>
              <a:rPr lang="fr-FR" sz="1100" dirty="0">
                <a:solidFill>
                  <a:schemeClr val="bg1"/>
                </a:solidFill>
                <a:latin typeface="Lora" charset="0"/>
                <a:ea typeface="Lora" charset="0"/>
                <a:cs typeface="Lora" charset="0"/>
              </a:rPr>
              <a:t>/202</a:t>
            </a:r>
            <a:r>
              <a:rPr lang="ar-DZ" sz="1100" dirty="0">
                <a:solidFill>
                  <a:schemeClr val="bg1"/>
                </a:solidFill>
                <a:latin typeface="Lora" charset="0"/>
                <a:ea typeface="Lora" charset="0"/>
                <a:cs typeface="Lora" charset="0"/>
              </a:rPr>
              <a:t>3</a:t>
            </a:r>
            <a:endParaRPr lang="fr-FR" sz="1100" dirty="0">
              <a:solidFill>
                <a:schemeClr val="bg1"/>
              </a:solidFill>
              <a:latin typeface="Lora" charset="0"/>
              <a:ea typeface="Lora" charset="0"/>
              <a:cs typeface="Lora" charset="0"/>
            </a:endParaRPr>
          </a:p>
        </p:txBody>
      </p:sp>
      <p:pic>
        <p:nvPicPr>
          <p:cNvPr id="7" name="Image 6"/>
          <p:cNvPicPr>
            <a:picLocks noChangeAspect="1"/>
          </p:cNvPicPr>
          <p:nvPr/>
        </p:nvPicPr>
        <p:blipFill rotWithShape="1">
          <a:blip r:embed="rId3">
            <a:extLst>
              <a:ext uri="{28A0092B-C50C-407E-A947-70E740481C1C}">
                <a14:useLocalDpi xmlns:a14="http://schemas.microsoft.com/office/drawing/2010/main" val="0"/>
              </a:ext>
            </a:extLst>
          </a:blip>
          <a:srcRect l="8638" t="9652" r="14270" b="11069"/>
          <a:stretch/>
        </p:blipFill>
        <p:spPr>
          <a:xfrm>
            <a:off x="163232" y="255836"/>
            <a:ext cx="1255776" cy="1262951"/>
          </a:xfrm>
          <a:prstGeom prst="rect">
            <a:avLst/>
          </a:prstGeom>
        </p:spPr>
      </p:pic>
      <p:pic>
        <p:nvPicPr>
          <p:cNvPr id="10" name="Picture 7">
            <a:extLst>
              <a:ext uri="{FF2B5EF4-FFF2-40B4-BE49-F238E27FC236}">
                <a16:creationId xmlns:a16="http://schemas.microsoft.com/office/drawing/2014/main" id="{27235AF3-994F-4FED-A1F6-93E47D7520ED}"/>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6440" t="13579" r="8726" b="29533"/>
          <a:stretch/>
        </p:blipFill>
        <p:spPr>
          <a:xfrm>
            <a:off x="7498838" y="330635"/>
            <a:ext cx="1538084" cy="1031421"/>
          </a:xfrm>
          <a:prstGeom prst="rect">
            <a:avLst/>
          </a:prstGeom>
        </p:spPr>
      </p:pic>
    </p:spTree>
    <p:extLst>
      <p:ext uri="{BB962C8B-B14F-4D97-AF65-F5344CB8AC3E}">
        <p14:creationId xmlns:p14="http://schemas.microsoft.com/office/powerpoint/2010/main" val="3274103289"/>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Plan</a:t>
            </a:r>
          </a:p>
        </p:txBody>
      </p:sp>
      <p:sp>
        <p:nvSpPr>
          <p:cNvPr id="3" name="Text Placeholder 2"/>
          <p:cNvSpPr>
            <a:spLocks noGrp="1"/>
          </p:cNvSpPr>
          <p:nvPr>
            <p:ph type="body" idx="1"/>
          </p:nvPr>
        </p:nvSpPr>
        <p:spPr>
          <a:xfrm>
            <a:off x="1247138" y="1555510"/>
            <a:ext cx="6809700" cy="2665322"/>
          </a:xfrm>
        </p:spPr>
        <p:txBody>
          <a:bodyPr/>
          <a:lstStyle/>
          <a:p>
            <a:pPr marL="457200" indent="-457200">
              <a:buClr>
                <a:srgbClr val="007DD6"/>
              </a:buClr>
              <a:buFont typeface="+mj-lt"/>
              <a:buAutoNum type="arabicPeriod"/>
            </a:pPr>
            <a:r>
              <a:rPr lang="fr-FR" dirty="0">
                <a:latin typeface="Lora" charset="0"/>
                <a:ea typeface="Lora" charset="0"/>
                <a:cs typeface="Lora" charset="0"/>
              </a:rPr>
              <a:t>Introduction</a:t>
            </a:r>
          </a:p>
          <a:p>
            <a:pPr marL="457200" indent="-457200">
              <a:buClr>
                <a:srgbClr val="007DD6"/>
              </a:buClr>
              <a:buFont typeface="+mj-lt"/>
              <a:buAutoNum type="arabicPeriod"/>
            </a:pPr>
            <a:r>
              <a:rPr lang="fr-FR" dirty="0">
                <a:latin typeface="Lora" charset="0"/>
                <a:ea typeface="Lora" charset="0"/>
                <a:cs typeface="Lora" charset="0"/>
              </a:rPr>
              <a:t>Les désinfectants</a:t>
            </a:r>
          </a:p>
          <a:p>
            <a:pPr marL="457200" indent="-457200">
              <a:buClr>
                <a:srgbClr val="007DD6"/>
              </a:buClr>
              <a:buFont typeface="+mj-lt"/>
              <a:buAutoNum type="arabicPeriod"/>
            </a:pPr>
            <a:r>
              <a:rPr lang="fr-FR" dirty="0">
                <a:latin typeface="Lora" charset="0"/>
                <a:ea typeface="Lora" charset="0"/>
                <a:cs typeface="Lora" charset="0"/>
              </a:rPr>
              <a:t>Les antiseptiques</a:t>
            </a:r>
          </a:p>
          <a:p>
            <a:pPr marL="457200" indent="-457200">
              <a:buClr>
                <a:srgbClr val="007DD6"/>
              </a:buClr>
              <a:buFont typeface="+mj-lt"/>
              <a:buAutoNum type="arabicPeriod"/>
            </a:pPr>
            <a:r>
              <a:rPr lang="fr-FR" dirty="0">
                <a:latin typeface="Lora" charset="0"/>
                <a:ea typeface="Lora" charset="0"/>
                <a:cs typeface="Lora" charset="0"/>
              </a:rPr>
              <a:t>La stérilisation</a:t>
            </a:r>
          </a:p>
          <a:p>
            <a:pPr marL="457200" indent="-457200">
              <a:buClr>
                <a:srgbClr val="007DD6"/>
              </a:buClr>
              <a:buFont typeface="+mj-lt"/>
              <a:buAutoNum type="arabicPeriod"/>
            </a:pPr>
            <a:r>
              <a:rPr lang="fr-FR" dirty="0">
                <a:latin typeface="Lora" charset="0"/>
                <a:ea typeface="Lora" charset="0"/>
                <a:cs typeface="Lora" charset="0"/>
              </a:rPr>
              <a:t>Conclusion</a:t>
            </a:r>
          </a:p>
        </p:txBody>
      </p:sp>
    </p:spTree>
    <p:extLst>
      <p:ext uri="{BB962C8B-B14F-4D97-AF65-F5344CB8AC3E}">
        <p14:creationId xmlns:p14="http://schemas.microsoft.com/office/powerpoint/2010/main" val="68538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a:t>Introduction</a:t>
            </a:r>
          </a:p>
        </p:txBody>
      </p:sp>
      <p:sp>
        <p:nvSpPr>
          <p:cNvPr id="11" name="TextBox 10"/>
          <p:cNvSpPr txBox="1"/>
          <p:nvPr/>
        </p:nvSpPr>
        <p:spPr>
          <a:xfrm>
            <a:off x="1253447" y="2339092"/>
            <a:ext cx="309700"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1</a:t>
            </a:r>
            <a:endParaRPr lang="fr-FR" sz="2000" b="1" dirty="0">
              <a:solidFill>
                <a:schemeClr val="bg1"/>
              </a:solidFill>
              <a:latin typeface="Lora" charset="0"/>
              <a:ea typeface="Lora" charset="0"/>
              <a:cs typeface="Lora" charset="0"/>
            </a:endParaRPr>
          </a:p>
        </p:txBody>
      </p:sp>
      <p:sp>
        <p:nvSpPr>
          <p:cNvPr id="4" name="Oval 3"/>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1</a:t>
            </a:r>
          </a:p>
        </p:txBody>
      </p:sp>
    </p:spTree>
    <p:extLst>
      <p:ext uri="{BB962C8B-B14F-4D97-AF65-F5344CB8AC3E}">
        <p14:creationId xmlns:p14="http://schemas.microsoft.com/office/powerpoint/2010/main" val="2059204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Introduction:</a:t>
            </a:r>
            <a:endParaRPr lang="fr-FR" dirty="0">
              <a:solidFill>
                <a:srgbClr val="007DD6"/>
              </a:solidFill>
            </a:endParaRPr>
          </a:p>
        </p:txBody>
      </p:sp>
      <p:sp>
        <p:nvSpPr>
          <p:cNvPr id="3" name="Text Placeholder 2"/>
          <p:cNvSpPr>
            <a:spLocks noGrp="1"/>
          </p:cNvSpPr>
          <p:nvPr>
            <p:ph type="body" idx="1"/>
          </p:nvPr>
        </p:nvSpPr>
        <p:spPr>
          <a:xfrm>
            <a:off x="353568" y="1358267"/>
            <a:ext cx="8375460" cy="3616069"/>
          </a:xfrm>
        </p:spPr>
        <p:txBody>
          <a:bodyPr/>
          <a:lstStyle/>
          <a:p>
            <a:pPr marL="342900" indent="-342900" algn="just">
              <a:buClr>
                <a:srgbClr val="007DD6"/>
              </a:buClr>
              <a:buFont typeface="Arial" charset="0"/>
              <a:buChar char="•"/>
            </a:pPr>
            <a:r>
              <a:rPr lang="fr-FR" sz="2000" dirty="0">
                <a:latin typeface="Lora" charset="0"/>
                <a:ea typeface="Lora" charset="0"/>
                <a:cs typeface="Lora" charset="0"/>
              </a:rPr>
              <a:t>La distinction entre antiseptiques et désinfectants est liée à la possibilité ou non d’utilisation en usage externe in vivo.</a:t>
            </a:r>
          </a:p>
          <a:p>
            <a:pPr marL="342900" indent="-342900" algn="just">
              <a:buClr>
                <a:srgbClr val="007DD6"/>
              </a:buClr>
              <a:buFont typeface="Arial" charset="0"/>
              <a:buChar char="•"/>
            </a:pPr>
            <a:r>
              <a:rPr lang="fr-FR" sz="2000" dirty="0">
                <a:latin typeface="Lora" charset="0"/>
                <a:ea typeface="Lora" charset="0"/>
                <a:cs typeface="Lora" charset="0"/>
              </a:rPr>
              <a:t>Dans une même famille chimique, peuvent figurer des antiseptiques et des désinfectants ; il peut s’agir parfois des mêmes produits employés à des concentrations différentes dans ces deux utilisations. </a:t>
            </a:r>
          </a:p>
          <a:p>
            <a:pPr marL="342900" indent="-342900" algn="just">
              <a:buClr>
                <a:srgbClr val="007DD6"/>
              </a:buClr>
              <a:buFont typeface="Arial" charset="0"/>
              <a:buChar char="•"/>
            </a:pPr>
            <a:r>
              <a:rPr lang="fr-FR" sz="2000" dirty="0">
                <a:latin typeface="Lora" charset="0"/>
                <a:ea typeface="Lora" charset="0"/>
                <a:cs typeface="Lora" charset="0"/>
              </a:rPr>
              <a:t>Leur activité dépend largement des conditions d’emploi : produit pur ou dilué (les solutions diluées sont instables et doivent être utilisées rapidement) possibilité d’inactivation par les matières organiques, risque d’incompatibilités entre certains produits contre-indiquant leur association.</a:t>
            </a: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2</a:t>
            </a:r>
          </a:p>
        </p:txBody>
      </p:sp>
    </p:spTree>
    <p:extLst>
      <p:ext uri="{BB962C8B-B14F-4D97-AF65-F5344CB8AC3E}">
        <p14:creationId xmlns:p14="http://schemas.microsoft.com/office/powerpoint/2010/main" val="16710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5065" y="1640958"/>
            <a:ext cx="6042988" cy="1159799"/>
          </a:xfrm>
        </p:spPr>
        <p:txBody>
          <a:bodyPr/>
          <a:lstStyle/>
          <a:p>
            <a:pPr>
              <a:buClr>
                <a:srgbClr val="007DD6"/>
              </a:buClr>
            </a:pPr>
            <a:r>
              <a:rPr lang="fr-FR" dirty="0">
                <a:latin typeface="Lora" charset="0"/>
                <a:ea typeface="Lora" charset="0"/>
                <a:cs typeface="Lora" charset="0"/>
              </a:rPr>
              <a:t>Les désinfectants</a:t>
            </a:r>
          </a:p>
        </p:txBody>
      </p:sp>
      <p:sp>
        <p:nvSpPr>
          <p:cNvPr id="11" name="TextBox 10"/>
          <p:cNvSpPr txBox="1"/>
          <p:nvPr/>
        </p:nvSpPr>
        <p:spPr>
          <a:xfrm>
            <a:off x="1229697" y="2339092"/>
            <a:ext cx="348172"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2</a:t>
            </a:r>
            <a:endParaRPr lang="fr-FR" sz="2000" b="1" dirty="0">
              <a:solidFill>
                <a:schemeClr val="bg1"/>
              </a:solidFill>
              <a:latin typeface="Lora" charset="0"/>
              <a:ea typeface="Lora" charset="0"/>
              <a:cs typeface="Lora" charset="0"/>
            </a:endParaRPr>
          </a:p>
        </p:txBody>
      </p:sp>
      <p:sp>
        <p:nvSpPr>
          <p:cNvPr id="5" name="Oval 4"/>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4</a:t>
            </a:r>
          </a:p>
        </p:txBody>
      </p:sp>
      <p:pic>
        <p:nvPicPr>
          <p:cNvPr id="3" name="Image 2" descr="Afficher l’image source">
            <a:extLst>
              <a:ext uri="{FF2B5EF4-FFF2-40B4-BE49-F238E27FC236}">
                <a16:creationId xmlns:a16="http://schemas.microsoft.com/office/drawing/2014/main" id="{9495F033-ECF8-DA04-7B95-875363D2E4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6452" y="816864"/>
            <a:ext cx="3509770" cy="1754885"/>
          </a:xfrm>
          <a:prstGeom prst="rect">
            <a:avLst/>
          </a:prstGeom>
          <a:noFill/>
          <a:ln>
            <a:noFill/>
          </a:ln>
        </p:spPr>
      </p:pic>
      <p:pic>
        <p:nvPicPr>
          <p:cNvPr id="4" name="Image 3" descr="Afficher l’image source">
            <a:extLst>
              <a:ext uri="{FF2B5EF4-FFF2-40B4-BE49-F238E27FC236}">
                <a16:creationId xmlns:a16="http://schemas.microsoft.com/office/drawing/2014/main" id="{C9C9CEC5-37D2-D4DB-BD88-CFBEA9E98C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76452" y="2630121"/>
            <a:ext cx="3509770" cy="2321796"/>
          </a:xfrm>
          <a:prstGeom prst="rect">
            <a:avLst/>
          </a:prstGeom>
          <a:noFill/>
          <a:ln>
            <a:noFill/>
          </a:ln>
        </p:spPr>
      </p:pic>
    </p:spTree>
    <p:extLst>
      <p:ext uri="{BB962C8B-B14F-4D97-AF65-F5344CB8AC3E}">
        <p14:creationId xmlns:p14="http://schemas.microsoft.com/office/powerpoint/2010/main" val="1968403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5446270" cy="435599"/>
          </a:xfrm>
        </p:spPr>
        <p:txBody>
          <a:bodyPr/>
          <a:lstStyle/>
          <a:p>
            <a:pPr>
              <a:buClr>
                <a:srgbClr val="007DD6"/>
              </a:buClr>
            </a:pPr>
            <a:r>
              <a:rPr lang="fr-FR" dirty="0">
                <a:latin typeface="Lora" charset="0"/>
                <a:ea typeface="Lora" charset="0"/>
                <a:cs typeface="Lora" charset="0"/>
              </a:rPr>
              <a:t>DÉCONTAMINATION (pré-désinfection)</a:t>
            </a:r>
          </a:p>
        </p:txBody>
      </p:sp>
      <p:sp>
        <p:nvSpPr>
          <p:cNvPr id="3" name="Text Placeholder 2"/>
          <p:cNvSpPr>
            <a:spLocks noGrp="1"/>
          </p:cNvSpPr>
          <p:nvPr>
            <p:ph type="body" idx="1"/>
          </p:nvPr>
        </p:nvSpPr>
        <p:spPr>
          <a:xfrm>
            <a:off x="524256" y="1392870"/>
            <a:ext cx="8040556" cy="3424494"/>
          </a:xfrm>
        </p:spPr>
        <p:txBody>
          <a:bodyPr/>
          <a:lstStyle/>
          <a:p>
            <a:pPr marL="342900" indent="-342900">
              <a:buClr>
                <a:srgbClr val="007DD6"/>
              </a:buClr>
              <a:buFont typeface="Arial" panose="020B0604020202020204" pitchFamily="34" charset="0"/>
              <a:buChar char="•"/>
            </a:pPr>
            <a:r>
              <a:rPr lang="fr-FR" sz="2000" dirty="0"/>
              <a:t>Définition : </a:t>
            </a:r>
            <a:endParaRPr lang="ar-DZ" sz="2000" dirty="0"/>
          </a:p>
          <a:p>
            <a:pPr marL="342900" indent="-342900">
              <a:buClr>
                <a:srgbClr val="007DD6"/>
              </a:buClr>
              <a:buFont typeface="Arial" panose="020B0604020202020204" pitchFamily="34" charset="0"/>
              <a:buChar char="•"/>
            </a:pPr>
            <a:r>
              <a:rPr lang="fr-FR" sz="2000" dirty="0"/>
              <a:t>Premier traitement à effectuer sur les objets et matériels souillés dans le but de diminuer la population de microorganismes et de faciliter le nettoyage.</a:t>
            </a:r>
            <a:endParaRPr lang="fr-FR" sz="18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5</a:t>
            </a:r>
          </a:p>
        </p:txBody>
      </p:sp>
    </p:spTree>
    <p:extLst>
      <p:ext uri="{BB962C8B-B14F-4D97-AF65-F5344CB8AC3E}">
        <p14:creationId xmlns:p14="http://schemas.microsoft.com/office/powerpoint/2010/main" val="615226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Clr>
                <a:srgbClr val="007DD6"/>
              </a:buClr>
            </a:pPr>
            <a:r>
              <a:rPr lang="fr-FR" dirty="0">
                <a:latin typeface="Lora" charset="0"/>
                <a:ea typeface="Lora" charset="0"/>
                <a:cs typeface="Lora" charset="0"/>
              </a:rPr>
              <a:t>Les désinfectants</a:t>
            </a:r>
          </a:p>
        </p:txBody>
      </p:sp>
      <p:sp>
        <p:nvSpPr>
          <p:cNvPr id="3" name="Text Placeholder 2"/>
          <p:cNvSpPr>
            <a:spLocks noGrp="1"/>
          </p:cNvSpPr>
          <p:nvPr>
            <p:ph type="body" idx="1"/>
          </p:nvPr>
        </p:nvSpPr>
        <p:spPr>
          <a:xfrm>
            <a:off x="524256" y="1392870"/>
            <a:ext cx="8040556" cy="3424494"/>
          </a:xfrm>
        </p:spPr>
        <p:txBody>
          <a:bodyPr/>
          <a:lstStyle/>
          <a:p>
            <a:pPr marL="342900" indent="-342900">
              <a:buClr>
                <a:srgbClr val="007DD6"/>
              </a:buClr>
              <a:buFont typeface="Arial" panose="020B0604020202020204" pitchFamily="34" charset="0"/>
              <a:buChar char="•"/>
            </a:pPr>
            <a:r>
              <a:rPr lang="fr-FR" sz="2000" dirty="0"/>
              <a:t>Définition : </a:t>
            </a:r>
            <a:endParaRPr lang="ar-DZ" sz="2000" dirty="0"/>
          </a:p>
          <a:p>
            <a:pPr marL="342900" indent="-342900">
              <a:buClr>
                <a:srgbClr val="007DD6"/>
              </a:buClr>
              <a:buFont typeface="Arial" panose="020B0604020202020204" pitchFamily="34" charset="0"/>
              <a:buChar char="•"/>
            </a:pPr>
            <a:r>
              <a:rPr lang="fr-FR" sz="2000" dirty="0"/>
              <a:t>Les désinfectants sont des produits d’hygiène permettant d'éliminer ou de tuer les micro-organismes et/ou d'inactiver les virus indésirables portés par des milieux inertes contaminés par action directe.</a:t>
            </a:r>
          </a:p>
          <a:p>
            <a:pPr marL="342900" indent="-342900">
              <a:buClr>
                <a:srgbClr val="007DD6"/>
              </a:buClr>
              <a:buFont typeface="Arial" panose="020B0604020202020204" pitchFamily="34" charset="0"/>
              <a:buChar char="•"/>
            </a:pPr>
            <a:r>
              <a:rPr lang="fr-FR" sz="2000" dirty="0"/>
              <a:t>Le désinfectant doit permettre une réduction d’un inoculum bactérien de 5 log, d’un inoculum de champignon de 4 logs, d’un inoculum viral de 4 logs et d’un inoculum de spores de 5 logs. </a:t>
            </a:r>
          </a:p>
          <a:p>
            <a:pPr marL="285750" indent="-285750">
              <a:buClr>
                <a:srgbClr val="007DD6"/>
              </a:buClr>
              <a:buFont typeface="Arial" panose="020B0604020202020204" pitchFamily="34" charset="0"/>
              <a:buChar char="•"/>
            </a:pPr>
            <a:r>
              <a:rPr lang="fr-FR" sz="1800" kern="1200" dirty="0">
                <a:solidFill>
                  <a:srgbClr val="000000"/>
                </a:solidFill>
                <a:effectLst/>
                <a:latin typeface="Times New Roman" panose="02020603050405020304" pitchFamily="18" charset="0"/>
                <a:ea typeface="+mn-ea"/>
                <a:cs typeface="Arial" panose="020B0604020202020204" pitchFamily="34" charset="0"/>
              </a:rPr>
              <a:t>Ce sont : </a:t>
            </a:r>
            <a:r>
              <a:rPr lang="fr-FR" sz="1800" b="1" kern="1200" dirty="0">
                <a:solidFill>
                  <a:srgbClr val="000000"/>
                </a:solidFill>
                <a:effectLst/>
                <a:latin typeface="Times New Roman" panose="02020603050405020304" pitchFamily="18" charset="0"/>
                <a:ea typeface="+mn-ea"/>
                <a:cs typeface="Arial" panose="020B0604020202020204" pitchFamily="34" charset="0"/>
              </a:rPr>
              <a:t>l’eau de javel, les phénols, oxydants, l’éthanol, les ammoniums quaternaires, les aldéhydes.</a:t>
            </a:r>
            <a:endParaRPr lang="fr-FR" sz="18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5</a:t>
            </a:r>
          </a:p>
        </p:txBody>
      </p:sp>
    </p:spTree>
    <p:extLst>
      <p:ext uri="{BB962C8B-B14F-4D97-AF65-F5344CB8AC3E}">
        <p14:creationId xmlns:p14="http://schemas.microsoft.com/office/powerpoint/2010/main" val="3730498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Clr>
                <a:srgbClr val="007DD6"/>
              </a:buClr>
            </a:pPr>
            <a:r>
              <a:rPr lang="fr-FR" dirty="0">
                <a:latin typeface="Lora" charset="0"/>
                <a:ea typeface="Lora" charset="0"/>
                <a:cs typeface="Lora" charset="0"/>
              </a:rPr>
              <a:t>Les désinfectants</a:t>
            </a:r>
          </a:p>
        </p:txBody>
      </p:sp>
      <p:sp>
        <p:nvSpPr>
          <p:cNvPr id="3" name="Text Placeholder 2"/>
          <p:cNvSpPr>
            <a:spLocks noGrp="1"/>
          </p:cNvSpPr>
          <p:nvPr>
            <p:ph type="body" idx="1"/>
          </p:nvPr>
        </p:nvSpPr>
        <p:spPr>
          <a:xfrm>
            <a:off x="399322" y="1387606"/>
            <a:ext cx="8345356" cy="3605850"/>
          </a:xfrm>
        </p:spPr>
        <p:txBody>
          <a:bodyPr numCol="2"/>
          <a:lstStyle/>
          <a:p>
            <a:pPr marL="285750" indent="-285750">
              <a:buClr>
                <a:srgbClr val="007DD6"/>
              </a:buClr>
              <a:buFont typeface="Arial" panose="020B0604020202020204" pitchFamily="34" charset="0"/>
              <a:buChar char="•"/>
            </a:pPr>
            <a:r>
              <a:rPr lang="fr-FR" sz="1800" b="1" dirty="0">
                <a:effectLst/>
                <a:latin typeface="Calibri" panose="020F0502020204030204" pitchFamily="34" charset="0"/>
                <a:ea typeface="Times New Roman" panose="02020603050405020304" pitchFamily="18" charset="0"/>
                <a:cs typeface="Arial" panose="020B0604020202020204" pitchFamily="34" charset="0"/>
              </a:rPr>
              <a:t> Les qualités requises pour un désinfectant idéal:</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Être à large spectre.</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Être bactéricide.</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Agir rapidement, tout en ayant un effet rémanent voire un effet cumulatif lors de plusieurs applications successives.</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N’être ni irritant, ni toxique (notamment non mutagène /cancérogène /tératogène), ni sensibilisant pour l’homme et les animaux.</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Être compatible avec le matériel .Ne pas avoir d’effet nuisible sur l’environnement. </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Être soluble dans l’eau et les liquides organiques. </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Être peu inhibé par les matières organiques (protéines)/ savon.</a:t>
            </a:r>
          </a:p>
          <a:p>
            <a:pPr marL="285750" indent="-285750">
              <a:buClr>
                <a:srgbClr val="007DD6"/>
              </a:buClr>
              <a:buFont typeface="Arial" panose="020B0604020202020204" pitchFamily="34" charset="0"/>
              <a:buChar char="•"/>
            </a:pPr>
            <a:r>
              <a:rPr lang="fr-FR" sz="1800" dirty="0">
                <a:effectLst/>
                <a:latin typeface="Calibri" panose="020F0502020204030204" pitchFamily="34" charset="0"/>
                <a:ea typeface="Times New Roman" panose="02020603050405020304" pitchFamily="18" charset="0"/>
                <a:cs typeface="Arial" panose="020B0604020202020204" pitchFamily="34" charset="0"/>
              </a:rPr>
              <a:t>Être stable, c’est-à-dire bien se conserver et résister aux facteurs de l’environnement (air, lumière, froid, chaleur). </a:t>
            </a: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5</a:t>
            </a:r>
          </a:p>
        </p:txBody>
      </p:sp>
    </p:spTree>
    <p:extLst>
      <p:ext uri="{BB962C8B-B14F-4D97-AF65-F5344CB8AC3E}">
        <p14:creationId xmlns:p14="http://schemas.microsoft.com/office/powerpoint/2010/main" val="3815189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buClr>
                <a:srgbClr val="007DD6"/>
              </a:buClr>
            </a:pPr>
            <a:r>
              <a:rPr lang="fr-FR" dirty="0">
                <a:latin typeface="Lora" charset="0"/>
                <a:ea typeface="Lora" charset="0"/>
                <a:cs typeface="Lora" charset="0"/>
              </a:rPr>
              <a:t>Les désinfectants</a:t>
            </a:r>
          </a:p>
        </p:txBody>
      </p:sp>
      <p:sp>
        <p:nvSpPr>
          <p:cNvPr id="3" name="Text Placeholder 2"/>
          <p:cNvSpPr>
            <a:spLocks noGrp="1"/>
          </p:cNvSpPr>
          <p:nvPr>
            <p:ph type="body" idx="1"/>
          </p:nvPr>
        </p:nvSpPr>
        <p:spPr>
          <a:xfrm>
            <a:off x="399322" y="1387606"/>
            <a:ext cx="8345356" cy="3172362"/>
          </a:xfrm>
        </p:spPr>
        <p:txBody>
          <a:bodyPr numCol="1"/>
          <a:lstStyle/>
          <a:p>
            <a:pPr marL="285750" indent="-285750">
              <a:buClr>
                <a:srgbClr val="007DD6"/>
              </a:buClr>
              <a:buFont typeface="Arial" panose="020B0604020202020204" pitchFamily="34" charset="0"/>
              <a:buChar char="•"/>
            </a:pPr>
            <a:r>
              <a:rPr lang="fr-FR" sz="1800" b="1" dirty="0">
                <a:effectLst/>
                <a:latin typeface="Lora" pitchFamily="2" charset="0"/>
                <a:ea typeface="Times New Roman" panose="02020603050405020304" pitchFamily="18" charset="0"/>
                <a:cs typeface="Arial" panose="020B0604020202020204" pitchFamily="34" charset="0"/>
              </a:rPr>
              <a:t> NB :</a:t>
            </a:r>
            <a:r>
              <a:rPr lang="fr-FR" sz="1800" dirty="0">
                <a:effectLst/>
                <a:latin typeface="Lora" pitchFamily="2" charset="0"/>
                <a:ea typeface="Times New Roman" panose="02020603050405020304" pitchFamily="18" charset="0"/>
                <a:cs typeface="Arial" panose="020B0604020202020204" pitchFamily="34" charset="0"/>
              </a:rPr>
              <a:t> selon les doses et les conditions d’utilisation, de nombreux produits peuvent être utilisés aussi bien comme désinfectants que comme antiseptiques.</a:t>
            </a:r>
          </a:p>
          <a:p>
            <a:pPr>
              <a:buClr>
                <a:srgbClr val="007DD6"/>
              </a:buClr>
              <a:buNone/>
            </a:pPr>
            <a:endParaRPr lang="fr-FR" sz="1800" dirty="0">
              <a:effectLst/>
              <a:latin typeface="Lora" pitchFamily="2" charset="0"/>
              <a:ea typeface="Times New Roman" panose="02020603050405020304" pitchFamily="18" charset="0"/>
              <a:cs typeface="Arial" panose="020B0604020202020204" pitchFamily="34" charset="0"/>
            </a:endParaRPr>
          </a:p>
          <a:p>
            <a:pPr>
              <a:buClr>
                <a:srgbClr val="007DD6"/>
              </a:buClr>
              <a:buNone/>
            </a:pPr>
            <a:r>
              <a:rPr lang="fr-FR" sz="1800" dirty="0">
                <a:effectLst/>
                <a:latin typeface="Lora" pitchFamily="2" charset="0"/>
                <a:ea typeface="Times New Roman" panose="02020603050405020304" pitchFamily="18" charset="0"/>
                <a:cs typeface="Arial" panose="020B0604020202020204" pitchFamily="34" charset="0"/>
              </a:rPr>
              <a:t>Exemple : </a:t>
            </a:r>
          </a:p>
          <a:p>
            <a:pPr marL="285750" indent="-285750">
              <a:buClr>
                <a:srgbClr val="007DD6"/>
              </a:buClr>
              <a:buFont typeface="Arial" panose="020B0604020202020204" pitchFamily="34" charset="0"/>
              <a:buChar char="•"/>
            </a:pPr>
            <a:r>
              <a:rPr lang="fr-FR" sz="1800" dirty="0">
                <a:effectLst/>
                <a:latin typeface="Lora" pitchFamily="2" charset="0"/>
                <a:ea typeface="Times New Roman" panose="02020603050405020304" pitchFamily="18" charset="0"/>
                <a:cs typeface="Arial" panose="020B0604020202020204" pitchFamily="34" charset="0"/>
              </a:rPr>
              <a:t>Les halogènes chlorés : Jusqu'à un titre de 5 degrés chlorométriques, ils peuvent être utilisés comme antiseptiques de la peau saine, des muqueuses, et pour l'irrigation des plaies. A des titres supérieurs, ils sont irritants pour la peau et sont utilisés comme désinfectants (ex : eau de Javel). </a:t>
            </a:r>
          </a:p>
        </p:txBody>
      </p:sp>
      <p:sp>
        <p:nvSpPr>
          <p:cNvPr id="10" name="TextBox 9"/>
          <p:cNvSpPr txBox="1"/>
          <p:nvPr/>
        </p:nvSpPr>
        <p:spPr>
          <a:xfrm>
            <a:off x="5259649" y="766815"/>
            <a:ext cx="3329547" cy="311706"/>
          </a:xfrm>
          <a:prstGeom prst="rect">
            <a:avLst/>
          </a:prstGeom>
          <a:noFill/>
        </p:spPr>
        <p:txBody>
          <a:bodyPr wrap="square" rtlCol="0">
            <a:spAutoFit/>
          </a:bodyPr>
          <a:lstStyle/>
          <a:p>
            <a:endParaRPr lang="fr-FR"/>
          </a:p>
        </p:txBody>
      </p:sp>
      <p:sp>
        <p:nvSpPr>
          <p:cNvPr id="12" name="Oval 11"/>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latin typeface="Lora" charset="0"/>
                <a:ea typeface="Lora" charset="0"/>
                <a:cs typeface="Lora" charset="0"/>
              </a:rPr>
              <a:t>5</a:t>
            </a:r>
          </a:p>
        </p:txBody>
      </p:sp>
    </p:spTree>
    <p:extLst>
      <p:ext uri="{BB962C8B-B14F-4D97-AF65-F5344CB8AC3E}">
        <p14:creationId xmlns:p14="http://schemas.microsoft.com/office/powerpoint/2010/main" val="819022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32" y="2800757"/>
            <a:ext cx="6042988" cy="781847"/>
          </a:xfrm>
        </p:spPr>
        <p:txBody>
          <a:bodyPr/>
          <a:lstStyle/>
          <a:p>
            <a:pPr>
              <a:buClr>
                <a:srgbClr val="007DD6"/>
              </a:buClr>
            </a:pPr>
            <a:r>
              <a:rPr lang="fr-FR" dirty="0">
                <a:latin typeface="Lora" charset="0"/>
                <a:ea typeface="Lora" charset="0"/>
                <a:cs typeface="Lora" charset="0"/>
              </a:rPr>
              <a:t>Les antiseptiques</a:t>
            </a:r>
          </a:p>
        </p:txBody>
      </p:sp>
      <p:sp>
        <p:nvSpPr>
          <p:cNvPr id="11" name="TextBox 10"/>
          <p:cNvSpPr txBox="1"/>
          <p:nvPr/>
        </p:nvSpPr>
        <p:spPr>
          <a:xfrm>
            <a:off x="1229697" y="2339092"/>
            <a:ext cx="35618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3</a:t>
            </a:r>
            <a:endParaRPr lang="fr-FR" sz="2000" b="1" dirty="0">
              <a:solidFill>
                <a:schemeClr val="bg1"/>
              </a:solidFill>
              <a:latin typeface="Lora" charset="0"/>
              <a:ea typeface="Lora" charset="0"/>
              <a:cs typeface="Lora" charset="0"/>
            </a:endParaRPr>
          </a:p>
        </p:txBody>
      </p:sp>
      <p:sp>
        <p:nvSpPr>
          <p:cNvPr id="5" name="Oval 4"/>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11</a:t>
            </a:r>
          </a:p>
        </p:txBody>
      </p:sp>
      <p:pic>
        <p:nvPicPr>
          <p:cNvPr id="4" name="Image 3">
            <a:extLst>
              <a:ext uri="{FF2B5EF4-FFF2-40B4-BE49-F238E27FC236}">
                <a16:creationId xmlns:a16="http://schemas.microsoft.com/office/drawing/2014/main" id="{AC2BF2B0-0DD2-2B7F-0716-4E9D0B32B5BE}"/>
              </a:ext>
            </a:extLst>
          </p:cNvPr>
          <p:cNvPicPr>
            <a:picLocks noChangeAspect="1"/>
          </p:cNvPicPr>
          <p:nvPr/>
        </p:nvPicPr>
        <p:blipFill rotWithShape="1">
          <a:blip r:embed="rId3"/>
          <a:srcRect l="3587"/>
          <a:stretch/>
        </p:blipFill>
        <p:spPr>
          <a:xfrm>
            <a:off x="1760981" y="280416"/>
            <a:ext cx="3995928" cy="2520341"/>
          </a:xfrm>
          <a:prstGeom prst="rect">
            <a:avLst/>
          </a:prstGeom>
        </p:spPr>
      </p:pic>
      <p:pic>
        <p:nvPicPr>
          <p:cNvPr id="9" name="Image 8">
            <a:extLst>
              <a:ext uri="{FF2B5EF4-FFF2-40B4-BE49-F238E27FC236}">
                <a16:creationId xmlns:a16="http://schemas.microsoft.com/office/drawing/2014/main" id="{3C5ABB76-FAD7-DEC4-E223-F7FC5E1B6E22}"/>
              </a:ext>
            </a:extLst>
          </p:cNvPr>
          <p:cNvPicPr>
            <a:picLocks noChangeAspect="1"/>
          </p:cNvPicPr>
          <p:nvPr/>
        </p:nvPicPr>
        <p:blipFill>
          <a:blip r:embed="rId4"/>
          <a:stretch>
            <a:fillRect/>
          </a:stretch>
        </p:blipFill>
        <p:spPr>
          <a:xfrm>
            <a:off x="5792358" y="279352"/>
            <a:ext cx="3351642" cy="3380166"/>
          </a:xfrm>
          <a:prstGeom prst="rect">
            <a:avLst/>
          </a:prstGeom>
        </p:spPr>
      </p:pic>
    </p:spTree>
    <p:extLst>
      <p:ext uri="{BB962C8B-B14F-4D97-AF65-F5344CB8AC3E}">
        <p14:creationId xmlns:p14="http://schemas.microsoft.com/office/powerpoint/2010/main" val="442678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antiseptiques</a:t>
            </a:r>
          </a:p>
        </p:txBody>
      </p:sp>
      <p:sp>
        <p:nvSpPr>
          <p:cNvPr id="3" name="Text Placeholder 2"/>
          <p:cNvSpPr>
            <a:spLocks noGrp="1"/>
          </p:cNvSpPr>
          <p:nvPr>
            <p:ph type="body" idx="1"/>
          </p:nvPr>
        </p:nvSpPr>
        <p:spPr>
          <a:xfrm>
            <a:off x="292608" y="1463040"/>
            <a:ext cx="8199882" cy="3340608"/>
          </a:xfrm>
        </p:spPr>
        <p:txBody>
          <a:bodyPr/>
          <a:lstStyle/>
          <a:p>
            <a:pPr>
              <a:buClr>
                <a:srgbClr val="007DD6"/>
              </a:buClr>
              <a:buNone/>
            </a:pPr>
            <a:r>
              <a:rPr lang="fr-FR" sz="1800" dirty="0">
                <a:latin typeface="Lora" charset="0"/>
                <a:ea typeface="Lora" charset="0"/>
                <a:cs typeface="Lora" charset="0"/>
              </a:rPr>
              <a:t>Selon la Xe édition de la Pharmacopée française :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Les antiseptiques sont des préparations ayant la propriété d'éliminer ou de tuer les microorganismes et/ou d'inactiver les virus sur des tissus vivants (peau saine, muqueuses, plaies) par action directe.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Les antiseptiques ne sont pas stérilisants, ils réduisent temporairement sur la peau et les muqueuses le nombre de micro-organismes.</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Ce sont des médicaments, fabriqués et contrôlés par des pharmaciens.</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spTree>
    <p:extLst>
      <p:ext uri="{BB962C8B-B14F-4D97-AF65-F5344CB8AC3E}">
        <p14:creationId xmlns:p14="http://schemas.microsoft.com/office/powerpoint/2010/main" val="874288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antiseptiques</a:t>
            </a:r>
          </a:p>
        </p:txBody>
      </p:sp>
      <p:sp>
        <p:nvSpPr>
          <p:cNvPr id="3" name="Text Placeholder 2"/>
          <p:cNvSpPr>
            <a:spLocks noGrp="1"/>
          </p:cNvSpPr>
          <p:nvPr>
            <p:ph type="body" idx="1"/>
          </p:nvPr>
        </p:nvSpPr>
        <p:spPr>
          <a:xfrm>
            <a:off x="292608" y="1463040"/>
            <a:ext cx="8199882" cy="3340608"/>
          </a:xfrm>
        </p:spPr>
        <p:txBody>
          <a:bodyPr numCol="2"/>
          <a:lstStyle/>
          <a:p>
            <a:pPr marL="285750" indent="-285750">
              <a:buClr>
                <a:srgbClr val="007DD6"/>
              </a:buClr>
              <a:buFont typeface="Arial" panose="020B0604020202020204" pitchFamily="34" charset="0"/>
              <a:buChar char="•"/>
            </a:pPr>
            <a:r>
              <a:rPr lang="fr-FR" sz="1800" dirty="0">
                <a:latin typeface="Lora" charset="0"/>
                <a:ea typeface="Lora" charset="0"/>
                <a:cs typeface="Lora" charset="0"/>
              </a:rPr>
              <a:t>Ils ont une activité antibactérienne (agissent au niveau des membranes cytoplasmiques, des systèmes respiratoires ou des protéines structurales), antifongique, antivirale.                                                                             Cependant certains antiseptiques ont une action sélective sur certains microorganismes sans avoir une action sur d’autres ex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Les biguanides : Bactéricides sur les Gram positif et Gram négatif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Activité antifongique sur Candida </a:t>
            </a:r>
            <a:r>
              <a:rPr lang="fr-FR" sz="1800" dirty="0" err="1">
                <a:latin typeface="Lora" charset="0"/>
                <a:ea typeface="Lora" charset="0"/>
                <a:cs typeface="Lora" charset="0"/>
              </a:rPr>
              <a:t>albicans</a:t>
            </a:r>
            <a:endParaRPr lang="fr-FR" sz="1800" dirty="0">
              <a:latin typeface="Lora" charset="0"/>
              <a:ea typeface="Lora" charset="0"/>
              <a:cs typeface="Lora" charset="0"/>
            </a:endParaRPr>
          </a:p>
          <a:p>
            <a:pPr marL="285750" indent="-285750">
              <a:buClr>
                <a:srgbClr val="007DD6"/>
              </a:buClr>
              <a:buFont typeface="Arial" panose="020B0604020202020204" pitchFamily="34" charset="0"/>
              <a:buChar char="•"/>
            </a:pPr>
            <a:r>
              <a:rPr lang="fr-FR" sz="1800" dirty="0">
                <a:latin typeface="Lora" charset="0"/>
                <a:ea typeface="Lora" charset="0"/>
                <a:cs typeface="Lora" charset="0"/>
              </a:rPr>
              <a:t>Peu actif sur les mycobactéries</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Non sporicide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Non virucide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Ce sont : l’Alcool, aldéhyde, ammonium quaternaires, biguanides, halogènes chlorés et iodés, oxydants, </a:t>
            </a:r>
            <a:r>
              <a:rPr lang="fr-FR" sz="1800" dirty="0" err="1">
                <a:latin typeface="Lora" charset="0"/>
                <a:ea typeface="Lora" charset="0"/>
                <a:cs typeface="Lora" charset="0"/>
              </a:rPr>
              <a:t>carbanilides</a:t>
            </a:r>
            <a:r>
              <a:rPr lang="fr-FR" sz="1800" dirty="0">
                <a:latin typeface="Lora" charset="0"/>
                <a:ea typeface="Lora" charset="0"/>
                <a:cs typeface="Lora" charset="0"/>
              </a:rPr>
              <a:t>, colorants.</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spTree>
    <p:extLst>
      <p:ext uri="{BB962C8B-B14F-4D97-AF65-F5344CB8AC3E}">
        <p14:creationId xmlns:p14="http://schemas.microsoft.com/office/powerpoint/2010/main" val="396995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buClr>
                <a:srgbClr val="007DD6"/>
              </a:buClr>
            </a:pPr>
            <a:r>
              <a:rPr lang="fr-FR" dirty="0">
                <a:latin typeface="Lora" charset="0"/>
                <a:ea typeface="Lora" charset="0"/>
                <a:cs typeface="Lora" charset="0"/>
              </a:rPr>
              <a:t>Les antiseptiques</a:t>
            </a:r>
          </a:p>
        </p:txBody>
      </p:sp>
      <p:sp>
        <p:nvSpPr>
          <p:cNvPr id="3" name="Text Placeholder 2"/>
          <p:cNvSpPr>
            <a:spLocks noGrp="1"/>
          </p:cNvSpPr>
          <p:nvPr>
            <p:ph type="body" idx="1"/>
          </p:nvPr>
        </p:nvSpPr>
        <p:spPr>
          <a:xfrm>
            <a:off x="292608" y="1463040"/>
            <a:ext cx="8199882" cy="3340608"/>
          </a:xfrm>
        </p:spPr>
        <p:txBody>
          <a:bodyPr/>
          <a:lstStyle/>
          <a:p>
            <a:pPr>
              <a:buClr>
                <a:srgbClr val="007DD6"/>
              </a:buClr>
              <a:buNone/>
            </a:pPr>
            <a:r>
              <a:rPr lang="fr-FR" sz="1800" dirty="0">
                <a:latin typeface="Lora" charset="0"/>
                <a:ea typeface="Lora" charset="0"/>
                <a:cs typeface="Lora" charset="0"/>
              </a:rPr>
              <a:t>Les qualités requises pour un antiseptique idéal :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Avoir un spectre d’activité le plus large possible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Être le moins possible inhibé par les matières organiques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Agir rapidement </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Permettre une vision correcte du site opératoire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Être stable et Agir longtemps</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Ne pas induire/sélectionner de résistance</a:t>
            </a:r>
          </a:p>
          <a:p>
            <a:pPr marL="285750" indent="-285750">
              <a:buClr>
                <a:srgbClr val="007DD6"/>
              </a:buClr>
              <a:buFont typeface="Arial" panose="020B0604020202020204" pitchFamily="34" charset="0"/>
              <a:buChar char="•"/>
            </a:pPr>
            <a:r>
              <a:rPr lang="fr-FR" sz="1800" dirty="0">
                <a:latin typeface="Lora" charset="0"/>
                <a:ea typeface="Lora" charset="0"/>
                <a:cs typeface="Lora" charset="0"/>
              </a:rPr>
              <a:t>Avoir une bonne tolérance cutanée</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spTree>
    <p:extLst>
      <p:ext uri="{BB962C8B-B14F-4D97-AF65-F5344CB8AC3E}">
        <p14:creationId xmlns:p14="http://schemas.microsoft.com/office/powerpoint/2010/main" val="201346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666502" y="2734634"/>
            <a:ext cx="3806048" cy="284619"/>
          </a:xfrm>
        </p:spPr>
        <p:txBody>
          <a:bodyPr/>
          <a:lstStyle/>
          <a:p>
            <a:pPr>
              <a:lnSpc>
                <a:spcPct val="115000"/>
              </a:lnSpc>
              <a:spcAft>
                <a:spcPts val="1000"/>
              </a:spcAft>
            </a:pPr>
            <a:r>
              <a:rPr lang="fr-FR" sz="1400" kern="1200" dirty="0">
                <a:solidFill>
                  <a:srgbClr val="000000"/>
                </a:solidFill>
                <a:effectLst/>
                <a:latin typeface="Lora" pitchFamily="2" charset="0"/>
                <a:ea typeface="Times New Roman" panose="02020603050405020304" pitchFamily="18" charset="0"/>
                <a:cs typeface="Arial" panose="020B0604020202020204" pitchFamily="34" charset="0"/>
              </a:rPr>
              <a:t>Différents antiseptiques et désinfectants</a:t>
            </a:r>
            <a:endParaRPr lang="fr-FR" sz="1400" dirty="0">
              <a:effectLst/>
              <a:latin typeface="Lora" pitchFamily="2" charset="0"/>
              <a:ea typeface="Times New Roman" panose="02020603050405020304" pitchFamily="18" charset="0"/>
              <a:cs typeface="Arial" panose="020B0604020202020204" pitchFamily="34" charset="0"/>
            </a:endParaRP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graphicFrame>
        <p:nvGraphicFramePr>
          <p:cNvPr id="4" name="Tableau 3">
            <a:extLst>
              <a:ext uri="{FF2B5EF4-FFF2-40B4-BE49-F238E27FC236}">
                <a16:creationId xmlns:a16="http://schemas.microsoft.com/office/drawing/2014/main" id="{7823A3B3-1EED-8934-480C-AFA74E7BF171}"/>
              </a:ext>
            </a:extLst>
          </p:cNvPr>
          <p:cNvGraphicFramePr>
            <a:graphicFrameLocks noGrp="1"/>
          </p:cNvGraphicFramePr>
          <p:nvPr>
            <p:extLst>
              <p:ext uri="{D42A27DB-BD31-4B8C-83A1-F6EECF244321}">
                <p14:modId xmlns:p14="http://schemas.microsoft.com/office/powerpoint/2010/main" val="4017740932"/>
              </p:ext>
            </p:extLst>
          </p:nvPr>
        </p:nvGraphicFramePr>
        <p:xfrm>
          <a:off x="552450" y="616317"/>
          <a:ext cx="8296276" cy="4133409"/>
        </p:xfrm>
        <a:graphic>
          <a:graphicData uri="http://schemas.openxmlformats.org/drawingml/2006/table">
            <a:tbl>
              <a:tblPr firstRow="1" firstCol="1" bandRow="1">
                <a:tableStyleId>{09389B32-D725-419B-B877-691421574F8B}</a:tableStyleId>
              </a:tblPr>
              <a:tblGrid>
                <a:gridCol w="2517273">
                  <a:extLst>
                    <a:ext uri="{9D8B030D-6E8A-4147-A177-3AD203B41FA5}">
                      <a16:colId xmlns:a16="http://schemas.microsoft.com/office/drawing/2014/main" val="70473995"/>
                    </a:ext>
                  </a:extLst>
                </a:gridCol>
                <a:gridCol w="2517273">
                  <a:extLst>
                    <a:ext uri="{9D8B030D-6E8A-4147-A177-3AD203B41FA5}">
                      <a16:colId xmlns:a16="http://schemas.microsoft.com/office/drawing/2014/main" val="3722716745"/>
                    </a:ext>
                  </a:extLst>
                </a:gridCol>
                <a:gridCol w="2442645">
                  <a:extLst>
                    <a:ext uri="{9D8B030D-6E8A-4147-A177-3AD203B41FA5}">
                      <a16:colId xmlns:a16="http://schemas.microsoft.com/office/drawing/2014/main" val="3437944041"/>
                    </a:ext>
                  </a:extLst>
                </a:gridCol>
                <a:gridCol w="819085">
                  <a:extLst>
                    <a:ext uri="{9D8B030D-6E8A-4147-A177-3AD203B41FA5}">
                      <a16:colId xmlns:a16="http://schemas.microsoft.com/office/drawing/2014/main" val="2439343255"/>
                    </a:ext>
                  </a:extLst>
                </a:gridCol>
              </a:tblGrid>
              <a:tr h="391727">
                <a:tc>
                  <a:txBody>
                    <a:bodyPr/>
                    <a:lstStyle/>
                    <a:p>
                      <a:pPr algn="l">
                        <a:lnSpc>
                          <a:spcPct val="115000"/>
                        </a:lnSpc>
                        <a:spcAft>
                          <a:spcPts val="1000"/>
                        </a:spcAft>
                      </a:pPr>
                      <a:r>
                        <a:rPr lang="fr-FR" sz="1200" b="1" dirty="0">
                          <a:effectLst/>
                        </a:rPr>
                        <a:t>Classe</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1200" b="1" dirty="0">
                          <a:effectLst/>
                        </a:rPr>
                        <a:t>Familles</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1200" b="1" dirty="0">
                          <a:effectLst/>
                        </a:rPr>
                        <a:t>Antiseptiques</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1200" b="1" dirty="0">
                          <a:effectLst/>
                        </a:rPr>
                        <a:t>désinfectants</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extLst>
                  <a:ext uri="{0D108BD9-81ED-4DB2-BD59-A6C34878D82A}">
                    <a16:rowId xmlns:a16="http://schemas.microsoft.com/office/drawing/2014/main" val="2686061409"/>
                  </a:ext>
                </a:extLst>
              </a:tr>
              <a:tr h="185202">
                <a:tc rowSpan="4">
                  <a:txBody>
                    <a:bodyPr/>
                    <a:lstStyle/>
                    <a:p>
                      <a:pPr algn="l">
                        <a:lnSpc>
                          <a:spcPct val="115000"/>
                        </a:lnSpc>
                        <a:spcAft>
                          <a:spcPts val="1000"/>
                        </a:spcAft>
                      </a:pPr>
                      <a:r>
                        <a:rPr lang="fr-FR" sz="1200" b="1" dirty="0">
                          <a:effectLst/>
                        </a:rPr>
                        <a:t> </a:t>
                      </a:r>
                    </a:p>
                    <a:p>
                      <a:pPr algn="l">
                        <a:lnSpc>
                          <a:spcPct val="115000"/>
                        </a:lnSpc>
                        <a:spcAft>
                          <a:spcPts val="1000"/>
                        </a:spcAft>
                      </a:pPr>
                      <a:r>
                        <a:rPr lang="fr-FR" sz="1200" b="1" dirty="0">
                          <a:effectLst/>
                        </a:rPr>
                        <a:t> </a:t>
                      </a:r>
                    </a:p>
                    <a:p>
                      <a:pPr algn="l">
                        <a:lnSpc>
                          <a:spcPct val="115000"/>
                        </a:lnSpc>
                        <a:spcAft>
                          <a:spcPts val="1000"/>
                        </a:spcAft>
                      </a:pPr>
                      <a:r>
                        <a:rPr lang="fr-FR" sz="1200" b="1" dirty="0">
                          <a:effectLst/>
                        </a:rPr>
                        <a:t> </a:t>
                      </a:r>
                    </a:p>
                    <a:p>
                      <a:pPr algn="l">
                        <a:lnSpc>
                          <a:spcPct val="115000"/>
                        </a:lnSpc>
                        <a:spcAft>
                          <a:spcPts val="1000"/>
                        </a:spcAft>
                      </a:pPr>
                      <a:r>
                        <a:rPr lang="fr-FR" sz="1200" b="1" dirty="0">
                          <a:effectLst/>
                        </a:rPr>
                        <a:t>Majeurs</a:t>
                      </a:r>
                    </a:p>
                    <a:p>
                      <a:pPr algn="l">
                        <a:lnSpc>
                          <a:spcPct val="115000"/>
                        </a:lnSpc>
                        <a:spcAft>
                          <a:spcPts val="1000"/>
                        </a:spcAft>
                      </a:pPr>
                      <a:r>
                        <a:rPr lang="fr-FR" sz="1200" b="1" dirty="0">
                          <a:effectLst/>
                        </a:rPr>
                        <a:t>(bactéricides à large spectre)</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marR="0" algn="l" rtl="0">
                        <a:lnSpc>
                          <a:spcPct val="115000"/>
                        </a:lnSpc>
                        <a:spcBef>
                          <a:spcPts val="0"/>
                        </a:spcBef>
                        <a:spcAft>
                          <a:spcPts val="1000"/>
                        </a:spcAft>
                        <a:buNone/>
                      </a:pPr>
                      <a:r>
                        <a:rPr lang="fr-FR" sz="1200" b="1" i="0" u="none" strike="noStrike" cap="none" baseline="0">
                          <a:solidFill>
                            <a:schemeClr val="tx1"/>
                          </a:solidFill>
                          <a:effectLst/>
                          <a:latin typeface="+mn-lt"/>
                          <a:ea typeface="+mn-ea"/>
                          <a:cs typeface="+mn-cs"/>
                          <a:sym typeface="Arial"/>
                          <a:rtl val="0"/>
                        </a:rPr>
                        <a:t>Biguanides</a:t>
                      </a:r>
                    </a:p>
                  </a:txBody>
                  <a:tcPr marL="16431" marR="16431" marT="0" marB="0">
                    <a:solidFill>
                      <a:schemeClr val="bg1"/>
                    </a:solidFill>
                  </a:tcPr>
                </a:tc>
                <a:tc gridSpan="2">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Chlorhexidine (</a:t>
                      </a:r>
                      <a:r>
                        <a:rPr lang="fr-FR" sz="1200" b="1" i="0" u="none" strike="noStrike" cap="none" baseline="0" dirty="0" err="1">
                          <a:solidFill>
                            <a:schemeClr val="tx1"/>
                          </a:solidFill>
                          <a:effectLst/>
                          <a:latin typeface="+mn-lt"/>
                          <a:ea typeface="+mn-ea"/>
                          <a:cs typeface="+mn-cs"/>
                          <a:sym typeface="Arial"/>
                          <a:rtl val="0"/>
                        </a:rPr>
                        <a:t>Hibitane</a:t>
                      </a:r>
                      <a:r>
                        <a:rPr lang="fr-FR" sz="1200" b="1" i="0" u="none" strike="noStrike" cap="none" baseline="0" dirty="0">
                          <a:solidFill>
                            <a:schemeClr val="tx1"/>
                          </a:solidFill>
                          <a:effectLst/>
                          <a:latin typeface="+mn-lt"/>
                          <a:ea typeface="+mn-ea"/>
                          <a:cs typeface="+mn-cs"/>
                          <a:sym typeface="Arial"/>
                          <a:rtl val="0"/>
                        </a:rPr>
                        <a:t>, </a:t>
                      </a:r>
                      <a:r>
                        <a:rPr lang="fr-FR" sz="1200" b="1" i="0" u="none" strike="noStrike" cap="none" baseline="0" dirty="0" err="1">
                          <a:solidFill>
                            <a:schemeClr val="tx1"/>
                          </a:solidFill>
                          <a:effectLst/>
                          <a:latin typeface="+mn-lt"/>
                          <a:ea typeface="+mn-ea"/>
                          <a:cs typeface="+mn-cs"/>
                          <a:sym typeface="Arial"/>
                          <a:rtl val="0"/>
                        </a:rPr>
                        <a:t>Hibiscrub</a:t>
                      </a:r>
                      <a:r>
                        <a:rPr lang="fr-FR" sz="1200" b="1" i="0" u="none" strike="noStrike" cap="none" baseline="0" dirty="0">
                          <a:solidFill>
                            <a:schemeClr val="tx1"/>
                          </a:solidFill>
                          <a:effectLst/>
                          <a:latin typeface="+mn-lt"/>
                          <a:ea typeface="+mn-ea"/>
                          <a:cs typeface="+mn-cs"/>
                          <a:sym typeface="Arial"/>
                          <a:rtl val="0"/>
                        </a:rPr>
                        <a:t>)</a:t>
                      </a:r>
                    </a:p>
                  </a:txBody>
                  <a:tcPr marL="16431" marR="16431" marT="0" marB="0">
                    <a:solidFill>
                      <a:schemeClr val="bg1"/>
                    </a:solidFill>
                  </a:tcPr>
                </a:tc>
                <a:tc hMerge="1">
                  <a:txBody>
                    <a:bodyPr/>
                    <a:lstStyle/>
                    <a:p>
                      <a:endParaRPr lang="fr-FR"/>
                    </a:p>
                  </a:txBody>
                  <a:tcPr/>
                </a:tc>
                <a:extLst>
                  <a:ext uri="{0D108BD9-81ED-4DB2-BD59-A6C34878D82A}">
                    <a16:rowId xmlns:a16="http://schemas.microsoft.com/office/drawing/2014/main" val="1618469607"/>
                  </a:ext>
                </a:extLst>
              </a:tr>
              <a:tr h="185202">
                <a:tc vMerge="1">
                  <a:txBody>
                    <a:bodyPr/>
                    <a:lstStyle/>
                    <a:p>
                      <a:endParaRPr lang="fr-FR"/>
                    </a:p>
                  </a:txBody>
                  <a:tcPr/>
                </a:tc>
                <a:tc>
                  <a:txBody>
                    <a:bodyPr/>
                    <a:lstStyle/>
                    <a:p>
                      <a:pPr marR="0" algn="l" rtl="0">
                        <a:lnSpc>
                          <a:spcPct val="115000"/>
                        </a:lnSpc>
                        <a:spcBef>
                          <a:spcPts val="0"/>
                        </a:spcBef>
                        <a:spcAft>
                          <a:spcPts val="1000"/>
                        </a:spcAft>
                        <a:buNone/>
                      </a:pPr>
                      <a:r>
                        <a:rPr lang="fr-FR" sz="1200" b="1" i="0" u="none" strike="noStrike" cap="none" baseline="0">
                          <a:solidFill>
                            <a:schemeClr val="tx1"/>
                          </a:solidFill>
                          <a:effectLst/>
                          <a:latin typeface="+mn-lt"/>
                          <a:ea typeface="+mn-ea"/>
                          <a:cs typeface="+mn-cs"/>
                          <a:sym typeface="Arial"/>
                          <a:rtl val="0"/>
                        </a:rPr>
                        <a:t>Alcools</a:t>
                      </a:r>
                    </a:p>
                  </a:txBody>
                  <a:tcPr marL="16431" marR="16431" marT="0" marB="0">
                    <a:solidFill>
                      <a:schemeClr val="bg1"/>
                    </a:solidFill>
                  </a:tcPr>
                </a:tc>
                <a:tc gridSpan="2">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Alcool éthylique 70% (80°)</a:t>
                      </a:r>
                    </a:p>
                  </a:txBody>
                  <a:tcPr marL="16431" marR="16431" marT="0" marB="0">
                    <a:solidFill>
                      <a:schemeClr val="bg1"/>
                    </a:solidFill>
                  </a:tcPr>
                </a:tc>
                <a:tc hMerge="1">
                  <a:txBody>
                    <a:bodyPr/>
                    <a:lstStyle/>
                    <a:p>
                      <a:endParaRPr lang="fr-FR"/>
                    </a:p>
                  </a:txBody>
                  <a:tcPr/>
                </a:tc>
                <a:extLst>
                  <a:ext uri="{0D108BD9-81ED-4DB2-BD59-A6C34878D82A}">
                    <a16:rowId xmlns:a16="http://schemas.microsoft.com/office/drawing/2014/main" val="729183990"/>
                  </a:ext>
                </a:extLst>
              </a:tr>
              <a:tr h="509777">
                <a:tc vMerge="1">
                  <a:txBody>
                    <a:bodyPr/>
                    <a:lstStyle/>
                    <a:p>
                      <a:endParaRPr lang="fr-FR"/>
                    </a:p>
                  </a:txBody>
                  <a:tcPr/>
                </a:tc>
                <a:tc rowSpan="2">
                  <a:txBody>
                    <a:bodyPr/>
                    <a:lstStyle/>
                    <a:p>
                      <a:pPr marR="0" algn="l" rtl="0">
                        <a:lnSpc>
                          <a:spcPct val="115000"/>
                        </a:lnSpc>
                        <a:spcBef>
                          <a:spcPts val="0"/>
                        </a:spcBef>
                        <a:spcAft>
                          <a:spcPts val="1000"/>
                        </a:spcAft>
                        <a:buNone/>
                      </a:pPr>
                      <a:r>
                        <a:rPr lang="fr-FR" sz="1200" b="1" i="0" u="none" strike="noStrike" cap="none" baseline="0" dirty="0" err="1">
                          <a:solidFill>
                            <a:schemeClr val="tx1"/>
                          </a:solidFill>
                          <a:effectLst/>
                          <a:latin typeface="+mn-lt"/>
                          <a:ea typeface="+mn-ea"/>
                          <a:cs typeface="+mn-cs"/>
                          <a:sym typeface="Arial"/>
                          <a:rtl val="0"/>
                        </a:rPr>
                        <a:t>Halogénes</a:t>
                      </a:r>
                      <a:r>
                        <a:rPr lang="fr-FR" sz="1200" b="1" i="0" u="none" strike="noStrike" cap="none" baseline="0" dirty="0">
                          <a:solidFill>
                            <a:schemeClr val="tx1"/>
                          </a:solidFill>
                          <a:effectLst/>
                          <a:latin typeface="+mn-lt"/>
                          <a:ea typeface="+mn-ea"/>
                          <a:cs typeface="+mn-cs"/>
                          <a:sym typeface="Arial"/>
                          <a:rtl val="0"/>
                        </a:rPr>
                        <a:t> :</a:t>
                      </a:r>
                    </a:p>
                    <a:p>
                      <a:pPr marL="0" marR="0" lvl="0" indent="0" algn="l" rtl="0">
                        <a:lnSpc>
                          <a:spcPct val="115000"/>
                        </a:lnSpc>
                        <a:spcBef>
                          <a:spcPts val="0"/>
                        </a:spcBef>
                        <a:spcAft>
                          <a:spcPts val="1000"/>
                        </a:spcAft>
                        <a:buFont typeface="+mj-lt"/>
                        <a:buNone/>
                      </a:pPr>
                      <a:r>
                        <a:rPr lang="fr-FR" sz="1200" b="1" i="0" u="none" strike="noStrike" cap="none" baseline="0" dirty="0">
                          <a:solidFill>
                            <a:schemeClr val="tx1"/>
                          </a:solidFill>
                          <a:effectLst/>
                          <a:latin typeface="+mn-lt"/>
                          <a:ea typeface="+mn-ea"/>
                          <a:cs typeface="+mn-cs"/>
                          <a:sym typeface="Arial"/>
                          <a:rtl val="0"/>
                        </a:rPr>
                        <a:t>Dérivés chlorés</a:t>
                      </a:r>
                    </a:p>
                    <a:p>
                      <a:pPr marL="0" marR="0" lvl="0" indent="0" algn="l" rtl="0">
                        <a:lnSpc>
                          <a:spcPct val="115000"/>
                        </a:lnSpc>
                        <a:spcBef>
                          <a:spcPts val="0"/>
                        </a:spcBef>
                        <a:spcAft>
                          <a:spcPts val="1000"/>
                        </a:spcAft>
                        <a:buFont typeface="+mj-lt"/>
                        <a:buNone/>
                      </a:pPr>
                      <a:r>
                        <a:rPr lang="fr-FR" sz="1200" b="1" i="0" u="none" strike="noStrike" cap="none" baseline="0" dirty="0">
                          <a:solidFill>
                            <a:schemeClr val="tx1"/>
                          </a:solidFill>
                          <a:effectLst/>
                          <a:latin typeface="+mn-lt"/>
                          <a:ea typeface="+mn-ea"/>
                          <a:cs typeface="+mn-cs"/>
                          <a:sym typeface="Arial"/>
                          <a:rtl val="0"/>
                        </a:rPr>
                        <a:t>Dérivés iodés</a:t>
                      </a:r>
                    </a:p>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 </a:t>
                      </a:r>
                    </a:p>
                  </a:txBody>
                  <a:tcPr marL="16431" marR="16431" marT="0" marB="0">
                    <a:solidFill>
                      <a:schemeClr val="bg1"/>
                    </a:solidFill>
                  </a:tcPr>
                </a:tc>
                <a:tc>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Liqueur de </a:t>
                      </a:r>
                      <a:r>
                        <a:rPr lang="fr-FR" sz="1200" b="1" i="0" u="none" strike="noStrike" cap="none" baseline="0" dirty="0" err="1">
                          <a:solidFill>
                            <a:schemeClr val="tx1"/>
                          </a:solidFill>
                          <a:effectLst/>
                          <a:latin typeface="+mn-lt"/>
                          <a:ea typeface="+mn-ea"/>
                          <a:cs typeface="+mn-cs"/>
                          <a:sym typeface="Arial"/>
                          <a:rtl val="0"/>
                        </a:rPr>
                        <a:t>Labarraque</a:t>
                      </a:r>
                      <a:endParaRPr lang="fr-FR" sz="1200" b="1" i="0" u="none" strike="noStrike" cap="none" baseline="0" dirty="0">
                        <a:solidFill>
                          <a:schemeClr val="tx1"/>
                        </a:solidFill>
                        <a:effectLst/>
                        <a:latin typeface="+mn-lt"/>
                        <a:ea typeface="+mn-ea"/>
                        <a:cs typeface="+mn-cs"/>
                        <a:sym typeface="Arial"/>
                        <a:rtl val="0"/>
                      </a:endParaRPr>
                    </a:p>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Liqueur de Dakin</a:t>
                      </a:r>
                    </a:p>
                  </a:txBody>
                  <a:tcPr marL="16431" marR="16431" marT="0" marB="0">
                    <a:solidFill>
                      <a:schemeClr val="bg1"/>
                    </a:solidFill>
                  </a:tcPr>
                </a:tc>
                <a:tc>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Eau de Javel</a:t>
                      </a:r>
                    </a:p>
                  </a:txBody>
                  <a:tcPr marL="16431" marR="16431" marT="0" marB="0">
                    <a:solidFill>
                      <a:schemeClr val="bg1"/>
                    </a:solidFill>
                  </a:tcPr>
                </a:tc>
                <a:extLst>
                  <a:ext uri="{0D108BD9-81ED-4DB2-BD59-A6C34878D82A}">
                    <a16:rowId xmlns:a16="http://schemas.microsoft.com/office/drawing/2014/main" val="2054115451"/>
                  </a:ext>
                </a:extLst>
              </a:tr>
              <a:tr h="1036723">
                <a:tc vMerge="1">
                  <a:txBody>
                    <a:bodyPr/>
                    <a:lstStyle/>
                    <a:p>
                      <a:endParaRPr lang="fr-FR"/>
                    </a:p>
                  </a:txBody>
                  <a:tcPr/>
                </a:tc>
                <a:tc vMerge="1">
                  <a:txBody>
                    <a:bodyPr/>
                    <a:lstStyle/>
                    <a:p>
                      <a:endParaRPr lang="fr-FR"/>
                    </a:p>
                  </a:txBody>
                  <a:tcPr/>
                </a:tc>
                <a:tc>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Teinture d’iode 5%</a:t>
                      </a:r>
                    </a:p>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Alcool iodé 1%</a:t>
                      </a:r>
                    </a:p>
                    <a:p>
                      <a:pPr marR="0" algn="l" rtl="0">
                        <a:lnSpc>
                          <a:spcPct val="115000"/>
                        </a:lnSpc>
                        <a:spcBef>
                          <a:spcPts val="0"/>
                        </a:spcBef>
                        <a:spcAft>
                          <a:spcPts val="1000"/>
                        </a:spcAft>
                        <a:buNone/>
                      </a:pPr>
                      <a:r>
                        <a:rPr lang="fr-FR" sz="1200" b="1" i="0" u="none" strike="noStrike" cap="none" baseline="0" dirty="0" err="1">
                          <a:solidFill>
                            <a:schemeClr val="tx1"/>
                          </a:solidFill>
                          <a:effectLst/>
                          <a:latin typeface="+mn-lt"/>
                          <a:ea typeface="+mn-ea"/>
                          <a:cs typeface="+mn-cs"/>
                          <a:sym typeface="Arial"/>
                          <a:rtl val="0"/>
                        </a:rPr>
                        <a:t>Polyvinylpyrrolidone</a:t>
                      </a:r>
                      <a:r>
                        <a:rPr lang="fr-FR" sz="1200" b="1" i="0" u="none" strike="noStrike" cap="none" baseline="0" dirty="0">
                          <a:solidFill>
                            <a:schemeClr val="tx1"/>
                          </a:solidFill>
                          <a:effectLst/>
                          <a:latin typeface="+mn-lt"/>
                          <a:ea typeface="+mn-ea"/>
                          <a:cs typeface="+mn-cs"/>
                          <a:sym typeface="Arial"/>
                          <a:rtl val="0"/>
                        </a:rPr>
                        <a:t> iodée = PVPI (bétadine)</a:t>
                      </a:r>
                    </a:p>
                  </a:txBody>
                  <a:tcPr marL="16431" marR="16431" marT="0" marB="0">
                    <a:solidFill>
                      <a:schemeClr val="bg1"/>
                    </a:solidFill>
                  </a:tcPr>
                </a:tc>
                <a:tc>
                  <a:txBody>
                    <a:bodyPr/>
                    <a:lstStyle/>
                    <a:p>
                      <a:pPr algn="l">
                        <a:lnSpc>
                          <a:spcPct val="115000"/>
                        </a:lnSpc>
                        <a:spcAft>
                          <a:spcPts val="1000"/>
                        </a:spcAft>
                      </a:pPr>
                      <a:r>
                        <a:rPr lang="fr-FR" sz="1200" b="1">
                          <a:effectLst/>
                        </a:rPr>
                        <a:t> </a:t>
                      </a:r>
                      <a:endParaRPr lang="fr-FR" sz="12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extLst>
                  <a:ext uri="{0D108BD9-81ED-4DB2-BD59-A6C34878D82A}">
                    <a16:rowId xmlns:a16="http://schemas.microsoft.com/office/drawing/2014/main" val="1551241465"/>
                  </a:ext>
                </a:extLst>
              </a:tr>
              <a:tr h="1158928">
                <a:tc rowSpan="2">
                  <a:txBody>
                    <a:bodyPr/>
                    <a:lstStyle/>
                    <a:p>
                      <a:pPr algn="l">
                        <a:lnSpc>
                          <a:spcPct val="115000"/>
                        </a:lnSpc>
                        <a:spcAft>
                          <a:spcPts val="1000"/>
                        </a:spcAft>
                      </a:pPr>
                      <a:r>
                        <a:rPr lang="fr-FR" sz="1200" b="1" dirty="0">
                          <a:effectLst/>
                        </a:rPr>
                        <a:t> </a:t>
                      </a:r>
                    </a:p>
                    <a:p>
                      <a:pPr algn="l">
                        <a:lnSpc>
                          <a:spcPct val="115000"/>
                        </a:lnSpc>
                        <a:spcAft>
                          <a:spcPts val="1000"/>
                        </a:spcAft>
                      </a:pPr>
                      <a:r>
                        <a:rPr lang="fr-FR" sz="1200" b="1" dirty="0">
                          <a:effectLst/>
                        </a:rPr>
                        <a:t>Intermédiaires</a:t>
                      </a:r>
                    </a:p>
                    <a:p>
                      <a:pPr algn="l">
                        <a:lnSpc>
                          <a:spcPct val="115000"/>
                        </a:lnSpc>
                        <a:spcAft>
                          <a:spcPts val="1000"/>
                        </a:spcAft>
                      </a:pPr>
                      <a:r>
                        <a:rPr lang="fr-FR" sz="1200" b="1" dirty="0">
                          <a:effectLst/>
                        </a:rPr>
                        <a:t>(bactéricides à spectre étroit)</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rowSpan="2">
                  <a:txBody>
                    <a:bodyPr/>
                    <a:lstStyle/>
                    <a:p>
                      <a:pPr algn="l">
                        <a:lnSpc>
                          <a:spcPct val="115000"/>
                        </a:lnSpc>
                        <a:spcAft>
                          <a:spcPts val="1000"/>
                        </a:spcAft>
                      </a:pPr>
                      <a:r>
                        <a:rPr lang="fr-FR" sz="1200" b="1" dirty="0">
                          <a:effectLst/>
                        </a:rPr>
                        <a:t>Agents tensio-actifs</a:t>
                      </a:r>
                    </a:p>
                    <a:p>
                      <a:pPr marL="342900" lvl="0" indent="-342900" algn="l">
                        <a:lnSpc>
                          <a:spcPct val="115000"/>
                        </a:lnSpc>
                        <a:spcAft>
                          <a:spcPts val="1000"/>
                        </a:spcAft>
                        <a:buFont typeface="+mj-lt"/>
                        <a:buAutoNum type="arabicPeriod"/>
                      </a:pPr>
                      <a:r>
                        <a:rPr lang="fr-FR" sz="1200" b="1" dirty="0">
                          <a:effectLst/>
                        </a:rPr>
                        <a:t>Cationiques=</a:t>
                      </a:r>
                      <a:r>
                        <a:rPr lang="fr-FR" sz="1200" b="1" dirty="0" err="1">
                          <a:effectLst/>
                        </a:rPr>
                        <a:t>amonium</a:t>
                      </a:r>
                      <a:r>
                        <a:rPr lang="fr-FR" sz="1200" b="1" dirty="0">
                          <a:effectLst/>
                        </a:rPr>
                        <a:t> quaternaires</a:t>
                      </a:r>
                    </a:p>
                    <a:p>
                      <a:pPr marL="90170" algn="l">
                        <a:lnSpc>
                          <a:spcPct val="115000"/>
                        </a:lnSpc>
                        <a:spcAft>
                          <a:spcPts val="1000"/>
                        </a:spcAft>
                      </a:pPr>
                      <a:r>
                        <a:rPr lang="fr-FR" sz="1200" b="1" dirty="0">
                          <a:effectLst/>
                        </a:rPr>
                        <a:t> </a:t>
                      </a:r>
                    </a:p>
                    <a:p>
                      <a:pPr algn="l">
                        <a:lnSpc>
                          <a:spcPct val="115000"/>
                        </a:lnSpc>
                        <a:spcAft>
                          <a:spcPts val="1000"/>
                        </a:spcAft>
                      </a:pPr>
                      <a:r>
                        <a:rPr lang="fr-FR" sz="1200" b="1" dirty="0">
                          <a:effectLst/>
                        </a:rPr>
                        <a:t>    2-Anioniques</a:t>
                      </a:r>
                      <a:endParaRPr lang="fr-FR" sz="12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2">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Chlorure de </a:t>
                      </a:r>
                      <a:r>
                        <a:rPr lang="fr-FR" sz="1200" b="1" i="0" u="none" strike="noStrike" cap="none" baseline="0" dirty="0" err="1">
                          <a:solidFill>
                            <a:schemeClr val="tx1"/>
                          </a:solidFill>
                          <a:effectLst/>
                          <a:latin typeface="+mn-lt"/>
                          <a:ea typeface="+mn-ea"/>
                          <a:cs typeface="+mn-cs"/>
                          <a:sym typeface="Arial"/>
                          <a:rtl val="0"/>
                        </a:rPr>
                        <a:t>benzalkorium</a:t>
                      </a:r>
                      <a:r>
                        <a:rPr lang="fr-FR" sz="1200" b="1" i="0" u="none" strike="noStrike" cap="none" baseline="0" dirty="0">
                          <a:solidFill>
                            <a:schemeClr val="tx1"/>
                          </a:solidFill>
                          <a:effectLst/>
                          <a:latin typeface="+mn-lt"/>
                          <a:ea typeface="+mn-ea"/>
                          <a:cs typeface="+mn-cs"/>
                          <a:sym typeface="Arial"/>
                          <a:rtl val="0"/>
                        </a:rPr>
                        <a:t> ( </a:t>
                      </a:r>
                      <a:r>
                        <a:rPr lang="fr-FR" sz="1200" b="1" i="0" u="none" strike="noStrike" cap="none" baseline="0" dirty="0" err="1">
                          <a:solidFill>
                            <a:schemeClr val="tx1"/>
                          </a:solidFill>
                          <a:effectLst/>
                          <a:latin typeface="+mn-lt"/>
                          <a:ea typeface="+mn-ea"/>
                          <a:cs typeface="+mn-cs"/>
                          <a:sym typeface="Arial"/>
                          <a:rtl val="0"/>
                        </a:rPr>
                        <a:t>Sterlane</a:t>
                      </a:r>
                      <a:r>
                        <a:rPr lang="fr-FR" sz="1200" b="1" i="0" u="none" strike="noStrike" cap="none" baseline="0" dirty="0">
                          <a:solidFill>
                            <a:schemeClr val="tx1"/>
                          </a:solidFill>
                          <a:effectLst/>
                          <a:latin typeface="+mn-lt"/>
                          <a:ea typeface="+mn-ea"/>
                          <a:cs typeface="+mn-cs"/>
                          <a:sym typeface="Arial"/>
                          <a:rtl val="0"/>
                        </a:rPr>
                        <a:t>)</a:t>
                      </a:r>
                    </a:p>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Bromure de </a:t>
                      </a:r>
                      <a:r>
                        <a:rPr lang="fr-FR" sz="1200" b="1" i="0" u="none" strike="noStrike" cap="none" baseline="0" dirty="0" err="1">
                          <a:solidFill>
                            <a:schemeClr val="tx1"/>
                          </a:solidFill>
                          <a:effectLst/>
                          <a:latin typeface="+mn-lt"/>
                          <a:ea typeface="+mn-ea"/>
                          <a:cs typeface="+mn-cs"/>
                          <a:sym typeface="Arial"/>
                          <a:rtl val="0"/>
                        </a:rPr>
                        <a:t>cethexonium</a:t>
                      </a:r>
                      <a:r>
                        <a:rPr lang="fr-FR" sz="1200" b="1" i="0" u="none" strike="noStrike" cap="none" baseline="0" dirty="0">
                          <a:solidFill>
                            <a:schemeClr val="tx1"/>
                          </a:solidFill>
                          <a:effectLst/>
                          <a:latin typeface="+mn-lt"/>
                          <a:ea typeface="+mn-ea"/>
                          <a:cs typeface="+mn-cs"/>
                          <a:sym typeface="Arial"/>
                          <a:rtl val="0"/>
                        </a:rPr>
                        <a:t> (</a:t>
                      </a:r>
                      <a:r>
                        <a:rPr lang="fr-FR" sz="1200" b="1" i="0" u="none" strike="noStrike" cap="none" baseline="0" dirty="0" err="1">
                          <a:solidFill>
                            <a:schemeClr val="tx1"/>
                          </a:solidFill>
                          <a:effectLst/>
                          <a:latin typeface="+mn-lt"/>
                          <a:ea typeface="+mn-ea"/>
                          <a:cs typeface="+mn-cs"/>
                          <a:sym typeface="Arial"/>
                          <a:rtl val="0"/>
                        </a:rPr>
                        <a:t>Biocidan</a:t>
                      </a:r>
                      <a:r>
                        <a:rPr lang="fr-FR" sz="1200" b="1" i="0" u="none" strike="noStrike" cap="none" baseline="0" dirty="0">
                          <a:solidFill>
                            <a:schemeClr val="tx1"/>
                          </a:solidFill>
                          <a:effectLst/>
                          <a:latin typeface="+mn-lt"/>
                          <a:ea typeface="+mn-ea"/>
                          <a:cs typeface="+mn-cs"/>
                          <a:sym typeface="Arial"/>
                          <a:rtl val="0"/>
                        </a:rPr>
                        <a:t>)</a:t>
                      </a:r>
                    </a:p>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Bromure de </a:t>
                      </a:r>
                      <a:r>
                        <a:rPr lang="fr-FR" sz="1200" b="1" i="0" u="none" strike="noStrike" cap="none" baseline="0" dirty="0" err="1">
                          <a:solidFill>
                            <a:schemeClr val="tx1"/>
                          </a:solidFill>
                          <a:effectLst/>
                          <a:latin typeface="+mn-lt"/>
                          <a:ea typeface="+mn-ea"/>
                          <a:cs typeface="+mn-cs"/>
                          <a:sym typeface="Arial"/>
                          <a:rtl val="0"/>
                        </a:rPr>
                        <a:t>cétrimonium</a:t>
                      </a:r>
                      <a:r>
                        <a:rPr lang="fr-FR" sz="1200" b="1" i="0" u="none" strike="noStrike" cap="none" baseline="0" dirty="0">
                          <a:solidFill>
                            <a:schemeClr val="tx1"/>
                          </a:solidFill>
                          <a:effectLst/>
                          <a:latin typeface="+mn-lt"/>
                          <a:ea typeface="+mn-ea"/>
                          <a:cs typeface="+mn-cs"/>
                          <a:sym typeface="Arial"/>
                          <a:rtl val="0"/>
                        </a:rPr>
                        <a:t> (</a:t>
                      </a:r>
                      <a:r>
                        <a:rPr lang="fr-FR" sz="1200" b="1" i="0" u="none" strike="noStrike" cap="none" baseline="0" dirty="0" err="1">
                          <a:solidFill>
                            <a:schemeClr val="tx1"/>
                          </a:solidFill>
                          <a:effectLst/>
                          <a:latin typeface="+mn-lt"/>
                          <a:ea typeface="+mn-ea"/>
                          <a:cs typeface="+mn-cs"/>
                          <a:sym typeface="Arial"/>
                          <a:rtl val="0"/>
                        </a:rPr>
                        <a:t>Cetavlon</a:t>
                      </a:r>
                      <a:r>
                        <a:rPr lang="fr-FR" sz="1200" b="1" i="0" u="none" strike="noStrike" cap="none" baseline="0" dirty="0">
                          <a:solidFill>
                            <a:schemeClr val="tx1"/>
                          </a:solidFill>
                          <a:effectLst/>
                          <a:latin typeface="+mn-lt"/>
                          <a:ea typeface="+mn-ea"/>
                          <a:cs typeface="+mn-cs"/>
                          <a:sym typeface="Arial"/>
                          <a:rtl val="0"/>
                        </a:rPr>
                        <a:t>)</a:t>
                      </a:r>
                    </a:p>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Chlorure de </a:t>
                      </a:r>
                      <a:r>
                        <a:rPr lang="fr-FR" sz="1200" b="1" i="0" u="none" strike="noStrike" cap="none" baseline="0" dirty="0" err="1">
                          <a:solidFill>
                            <a:schemeClr val="tx1"/>
                          </a:solidFill>
                          <a:effectLst/>
                          <a:latin typeface="+mn-lt"/>
                          <a:ea typeface="+mn-ea"/>
                          <a:cs typeface="+mn-cs"/>
                          <a:sym typeface="Arial"/>
                          <a:rtl val="0"/>
                        </a:rPr>
                        <a:t>cétylpyridinium</a:t>
                      </a:r>
                      <a:endParaRPr lang="fr-FR" sz="1200" b="1" i="0" u="none" strike="noStrike" cap="none" baseline="0" dirty="0">
                        <a:solidFill>
                          <a:schemeClr val="tx1"/>
                        </a:solidFill>
                        <a:effectLst/>
                        <a:latin typeface="+mn-lt"/>
                        <a:ea typeface="+mn-ea"/>
                        <a:cs typeface="+mn-cs"/>
                        <a:sym typeface="Arial"/>
                        <a:rtl val="0"/>
                      </a:endParaRPr>
                    </a:p>
                  </a:txBody>
                  <a:tcPr marL="16431" marR="16431" marT="0" marB="0">
                    <a:solidFill>
                      <a:schemeClr val="bg1"/>
                    </a:solidFill>
                  </a:tcPr>
                </a:tc>
                <a:tc hMerge="1">
                  <a:txBody>
                    <a:bodyPr/>
                    <a:lstStyle/>
                    <a:p>
                      <a:endParaRPr lang="fr-FR"/>
                    </a:p>
                  </a:txBody>
                  <a:tcPr/>
                </a:tc>
                <a:extLst>
                  <a:ext uri="{0D108BD9-81ED-4DB2-BD59-A6C34878D82A}">
                    <a16:rowId xmlns:a16="http://schemas.microsoft.com/office/drawing/2014/main" val="2955952398"/>
                  </a:ext>
                </a:extLst>
              </a:tr>
              <a:tr h="509777">
                <a:tc vMerge="1">
                  <a:txBody>
                    <a:bodyPr/>
                    <a:lstStyle/>
                    <a:p>
                      <a:endParaRPr lang="fr-FR"/>
                    </a:p>
                  </a:txBody>
                  <a:tcPr/>
                </a:tc>
                <a:tc vMerge="1">
                  <a:txBody>
                    <a:bodyPr/>
                    <a:lstStyle/>
                    <a:p>
                      <a:endParaRPr lang="fr-FR"/>
                    </a:p>
                  </a:txBody>
                  <a:tcPr/>
                </a:tc>
                <a:tc gridSpan="2">
                  <a:txBody>
                    <a:bodyPr/>
                    <a:lstStyle/>
                    <a:p>
                      <a:pPr marR="0" algn="l" rtl="0">
                        <a:lnSpc>
                          <a:spcPct val="115000"/>
                        </a:lnSpc>
                        <a:spcBef>
                          <a:spcPts val="0"/>
                        </a:spcBef>
                        <a:spcAft>
                          <a:spcPts val="1000"/>
                        </a:spcAft>
                        <a:buNone/>
                      </a:pPr>
                      <a:r>
                        <a:rPr lang="fr-FR" sz="1200" b="1" i="0" u="none" strike="noStrike" cap="none" baseline="0" dirty="0">
                          <a:solidFill>
                            <a:schemeClr val="tx1"/>
                          </a:solidFill>
                          <a:effectLst/>
                          <a:latin typeface="+mn-lt"/>
                          <a:ea typeface="+mn-ea"/>
                          <a:cs typeface="+mn-cs"/>
                          <a:sym typeface="Arial"/>
                          <a:rtl val="0"/>
                        </a:rPr>
                        <a:t>Savons détergents</a:t>
                      </a:r>
                    </a:p>
                    <a:p>
                      <a:pPr marR="0" algn="l" rtl="0">
                        <a:lnSpc>
                          <a:spcPct val="115000"/>
                        </a:lnSpc>
                        <a:spcBef>
                          <a:spcPts val="0"/>
                        </a:spcBef>
                        <a:spcAft>
                          <a:spcPts val="1000"/>
                        </a:spcAft>
                        <a:buNone/>
                      </a:pPr>
                      <a:r>
                        <a:rPr lang="fr-FR" sz="1200" b="1" i="0" u="none" strike="noStrike" cap="none" baseline="0" dirty="0" err="1">
                          <a:solidFill>
                            <a:schemeClr val="tx1"/>
                          </a:solidFill>
                          <a:effectLst/>
                          <a:latin typeface="+mn-lt"/>
                          <a:ea typeface="+mn-ea"/>
                          <a:cs typeface="+mn-cs"/>
                          <a:sym typeface="Arial"/>
                          <a:rtl val="0"/>
                        </a:rPr>
                        <a:t>Lauryl</a:t>
                      </a:r>
                      <a:r>
                        <a:rPr lang="fr-FR" sz="1200" b="1" i="0" u="none" strike="noStrike" cap="none" baseline="0" dirty="0">
                          <a:solidFill>
                            <a:schemeClr val="tx1"/>
                          </a:solidFill>
                          <a:effectLst/>
                          <a:latin typeface="+mn-lt"/>
                          <a:ea typeface="+mn-ea"/>
                          <a:cs typeface="+mn-cs"/>
                          <a:sym typeface="Arial"/>
                          <a:rtl val="0"/>
                        </a:rPr>
                        <a:t> sulfate de sodium</a:t>
                      </a:r>
                    </a:p>
                  </a:txBody>
                  <a:tcPr marL="16431" marR="16431" marT="0" marB="0">
                    <a:solidFill>
                      <a:schemeClr val="bg1"/>
                    </a:solidFill>
                  </a:tcPr>
                </a:tc>
                <a:tc hMerge="1">
                  <a:txBody>
                    <a:bodyPr/>
                    <a:lstStyle/>
                    <a:p>
                      <a:endParaRPr lang="fr-FR"/>
                    </a:p>
                  </a:txBody>
                  <a:tcPr/>
                </a:tc>
                <a:extLst>
                  <a:ext uri="{0D108BD9-81ED-4DB2-BD59-A6C34878D82A}">
                    <a16:rowId xmlns:a16="http://schemas.microsoft.com/office/drawing/2014/main" val="4008090464"/>
                  </a:ext>
                </a:extLst>
              </a:tr>
            </a:tbl>
          </a:graphicData>
        </a:graphic>
      </p:graphicFrame>
    </p:spTree>
    <p:extLst>
      <p:ext uri="{BB962C8B-B14F-4D97-AF65-F5344CB8AC3E}">
        <p14:creationId xmlns:p14="http://schemas.microsoft.com/office/powerpoint/2010/main" val="3036181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666502" y="2734634"/>
            <a:ext cx="3806048" cy="284619"/>
          </a:xfrm>
        </p:spPr>
        <p:txBody>
          <a:bodyPr/>
          <a:lstStyle/>
          <a:p>
            <a:pPr>
              <a:lnSpc>
                <a:spcPct val="115000"/>
              </a:lnSpc>
              <a:spcAft>
                <a:spcPts val="1000"/>
              </a:spcAft>
            </a:pPr>
            <a:r>
              <a:rPr lang="fr-FR" sz="1400" kern="1200" dirty="0">
                <a:solidFill>
                  <a:srgbClr val="000000"/>
                </a:solidFill>
                <a:effectLst/>
                <a:latin typeface="Lora" pitchFamily="2" charset="0"/>
                <a:ea typeface="Times New Roman" panose="02020603050405020304" pitchFamily="18" charset="0"/>
                <a:cs typeface="Arial" panose="020B0604020202020204" pitchFamily="34" charset="0"/>
              </a:rPr>
              <a:t>Différents antiseptiques et désinfectants</a:t>
            </a:r>
            <a:endParaRPr lang="fr-FR" sz="1400" dirty="0">
              <a:effectLst/>
              <a:latin typeface="Lora" pitchFamily="2" charset="0"/>
              <a:ea typeface="Times New Roman" panose="02020603050405020304" pitchFamily="18" charset="0"/>
              <a:cs typeface="Arial" panose="020B0604020202020204" pitchFamily="34" charset="0"/>
            </a:endParaRP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graphicFrame>
        <p:nvGraphicFramePr>
          <p:cNvPr id="3" name="Tableau 2">
            <a:extLst>
              <a:ext uri="{FF2B5EF4-FFF2-40B4-BE49-F238E27FC236}">
                <a16:creationId xmlns:a16="http://schemas.microsoft.com/office/drawing/2014/main" id="{560BF274-181D-4352-3CA7-0D927F101477}"/>
              </a:ext>
            </a:extLst>
          </p:cNvPr>
          <p:cNvGraphicFramePr>
            <a:graphicFrameLocks noGrp="1"/>
          </p:cNvGraphicFramePr>
          <p:nvPr>
            <p:extLst>
              <p:ext uri="{D42A27DB-BD31-4B8C-83A1-F6EECF244321}">
                <p14:modId xmlns:p14="http://schemas.microsoft.com/office/powerpoint/2010/main" val="220484332"/>
              </p:ext>
            </p:extLst>
          </p:nvPr>
        </p:nvGraphicFramePr>
        <p:xfrm>
          <a:off x="424367" y="466481"/>
          <a:ext cx="8419382" cy="4552442"/>
        </p:xfrm>
        <a:graphic>
          <a:graphicData uri="http://schemas.openxmlformats.org/drawingml/2006/table">
            <a:tbl>
              <a:tblPr firstRow="1" firstCol="1" bandRow="1">
                <a:tableStyleId>{09389B32-D725-419B-B877-691421574F8B}</a:tableStyleId>
              </a:tblPr>
              <a:tblGrid>
                <a:gridCol w="2554626">
                  <a:extLst>
                    <a:ext uri="{9D8B030D-6E8A-4147-A177-3AD203B41FA5}">
                      <a16:colId xmlns:a16="http://schemas.microsoft.com/office/drawing/2014/main" val="687198899"/>
                    </a:ext>
                  </a:extLst>
                </a:gridCol>
                <a:gridCol w="2554626">
                  <a:extLst>
                    <a:ext uri="{9D8B030D-6E8A-4147-A177-3AD203B41FA5}">
                      <a16:colId xmlns:a16="http://schemas.microsoft.com/office/drawing/2014/main" val="4267442430"/>
                    </a:ext>
                  </a:extLst>
                </a:gridCol>
                <a:gridCol w="2478889">
                  <a:extLst>
                    <a:ext uri="{9D8B030D-6E8A-4147-A177-3AD203B41FA5}">
                      <a16:colId xmlns:a16="http://schemas.microsoft.com/office/drawing/2014/main" val="3414183713"/>
                    </a:ext>
                  </a:extLst>
                </a:gridCol>
                <a:gridCol w="245002">
                  <a:extLst>
                    <a:ext uri="{9D8B030D-6E8A-4147-A177-3AD203B41FA5}">
                      <a16:colId xmlns:a16="http://schemas.microsoft.com/office/drawing/2014/main" val="1439994170"/>
                    </a:ext>
                  </a:extLst>
                </a:gridCol>
                <a:gridCol w="245002">
                  <a:extLst>
                    <a:ext uri="{9D8B030D-6E8A-4147-A177-3AD203B41FA5}">
                      <a16:colId xmlns:a16="http://schemas.microsoft.com/office/drawing/2014/main" val="206596163"/>
                    </a:ext>
                  </a:extLst>
                </a:gridCol>
                <a:gridCol w="341237">
                  <a:extLst>
                    <a:ext uri="{9D8B030D-6E8A-4147-A177-3AD203B41FA5}">
                      <a16:colId xmlns:a16="http://schemas.microsoft.com/office/drawing/2014/main" val="249124964"/>
                    </a:ext>
                  </a:extLst>
                </a:gridCol>
              </a:tblGrid>
              <a:tr h="142550">
                <a:tc>
                  <a:txBody>
                    <a:bodyPr/>
                    <a:lstStyle/>
                    <a:p>
                      <a:pPr algn="l">
                        <a:lnSpc>
                          <a:spcPct val="115000"/>
                        </a:lnSpc>
                        <a:spcAft>
                          <a:spcPts val="1000"/>
                        </a:spcAft>
                      </a:pPr>
                      <a:r>
                        <a:rPr lang="fr-FR" sz="900" b="1">
                          <a:effectLst/>
                        </a:rPr>
                        <a:t>Classe</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900" b="1">
                          <a:effectLst/>
                        </a:rPr>
                        <a:t>Familles</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900" b="1">
                          <a:effectLst/>
                        </a:rPr>
                        <a:t>Antiseptiques</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3">
                  <a:txBody>
                    <a:bodyPr/>
                    <a:lstStyle/>
                    <a:p>
                      <a:pPr algn="l">
                        <a:lnSpc>
                          <a:spcPct val="115000"/>
                        </a:lnSpc>
                        <a:spcAft>
                          <a:spcPts val="1000"/>
                        </a:spcAft>
                      </a:pPr>
                      <a:r>
                        <a:rPr lang="fr-FR" sz="900" b="1">
                          <a:effectLst/>
                        </a:rPr>
                        <a:t>désinfectants</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005776601"/>
                  </a:ext>
                </a:extLst>
              </a:tr>
              <a:tr h="429093">
                <a:tc rowSpan="8">
                  <a:txBody>
                    <a:bodyPr/>
                    <a:lstStyle/>
                    <a:p>
                      <a:pPr algn="l">
                        <a:lnSpc>
                          <a:spcPct val="115000"/>
                        </a:lnSpc>
                        <a:spcAft>
                          <a:spcPts val="1000"/>
                        </a:spcAft>
                      </a:pPr>
                      <a:r>
                        <a:rPr lang="fr-FR" sz="900" b="1" dirty="0">
                          <a:effectLst/>
                        </a:rPr>
                        <a:t> </a:t>
                      </a:r>
                    </a:p>
                    <a:p>
                      <a:pPr algn="l">
                        <a:lnSpc>
                          <a:spcPct val="115000"/>
                        </a:lnSpc>
                        <a:spcAft>
                          <a:spcPts val="1000"/>
                        </a:spcAft>
                      </a:pPr>
                      <a:r>
                        <a:rPr lang="fr-FR" sz="900" b="1" dirty="0">
                          <a:effectLst/>
                        </a:rPr>
                        <a:t> </a:t>
                      </a:r>
                    </a:p>
                    <a:p>
                      <a:pPr algn="l">
                        <a:lnSpc>
                          <a:spcPct val="115000"/>
                        </a:lnSpc>
                        <a:spcAft>
                          <a:spcPts val="1000"/>
                        </a:spcAft>
                      </a:pPr>
                      <a:r>
                        <a:rPr lang="fr-FR" sz="900" b="1" dirty="0">
                          <a:effectLst/>
                        </a:rPr>
                        <a:t> </a:t>
                      </a:r>
                    </a:p>
                    <a:p>
                      <a:pPr algn="l">
                        <a:lnSpc>
                          <a:spcPct val="115000"/>
                        </a:lnSpc>
                        <a:spcAft>
                          <a:spcPts val="1000"/>
                        </a:spcAft>
                      </a:pPr>
                      <a:r>
                        <a:rPr lang="fr-FR" sz="900" b="1" dirty="0">
                          <a:effectLst/>
                        </a:rPr>
                        <a:t> </a:t>
                      </a:r>
                    </a:p>
                    <a:p>
                      <a:pPr algn="l">
                        <a:lnSpc>
                          <a:spcPct val="115000"/>
                        </a:lnSpc>
                        <a:spcAft>
                          <a:spcPts val="1000"/>
                        </a:spcAft>
                      </a:pPr>
                      <a:r>
                        <a:rPr lang="fr-FR" sz="900" b="1" dirty="0">
                          <a:effectLst/>
                        </a:rPr>
                        <a:t> </a:t>
                      </a:r>
                    </a:p>
                    <a:p>
                      <a:pPr algn="l">
                        <a:lnSpc>
                          <a:spcPct val="115000"/>
                        </a:lnSpc>
                        <a:spcAft>
                          <a:spcPts val="1000"/>
                        </a:spcAft>
                      </a:pPr>
                      <a:r>
                        <a:rPr lang="fr-FR" sz="900" b="1" dirty="0">
                          <a:effectLst/>
                        </a:rPr>
                        <a:t> </a:t>
                      </a:r>
                    </a:p>
                    <a:p>
                      <a:pPr algn="l">
                        <a:lnSpc>
                          <a:spcPct val="115000"/>
                        </a:lnSpc>
                        <a:spcAft>
                          <a:spcPts val="1000"/>
                        </a:spcAft>
                      </a:pPr>
                      <a:r>
                        <a:rPr lang="fr-FR" sz="900" b="1" dirty="0">
                          <a:effectLst/>
                        </a:rPr>
                        <a:t>Mineurs (bactériostatiques et spectre étroit)</a:t>
                      </a:r>
                    </a:p>
                    <a:p>
                      <a:pPr algn="l">
                        <a:lnSpc>
                          <a:spcPct val="115000"/>
                        </a:lnSpc>
                        <a:spcAft>
                          <a:spcPts val="1000"/>
                        </a:spcAft>
                      </a:pPr>
                      <a:r>
                        <a:rPr lang="fr-FR" sz="900" b="1" dirty="0">
                          <a:effectLst/>
                        </a:rPr>
                        <a:t>et Autres antiseptiques</a:t>
                      </a:r>
                      <a:endParaRPr lang="fr-FR" sz="9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900" b="1">
                          <a:effectLst/>
                        </a:rPr>
                        <a:t> </a:t>
                      </a:r>
                    </a:p>
                    <a:p>
                      <a:pPr algn="l">
                        <a:lnSpc>
                          <a:spcPct val="115000"/>
                        </a:lnSpc>
                        <a:spcAft>
                          <a:spcPts val="1000"/>
                        </a:spcAft>
                      </a:pPr>
                      <a:r>
                        <a:rPr lang="fr-FR" sz="900" b="1">
                          <a:effectLst/>
                        </a:rPr>
                        <a:t>Métaux lourds</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4">
                  <a:txBody>
                    <a:bodyPr/>
                    <a:lstStyle/>
                    <a:p>
                      <a:pPr algn="l">
                        <a:lnSpc>
                          <a:spcPct val="115000"/>
                        </a:lnSpc>
                        <a:spcAft>
                          <a:spcPts val="1000"/>
                        </a:spcAft>
                      </a:pPr>
                      <a:r>
                        <a:rPr lang="fr-FR" sz="900" b="1" dirty="0">
                          <a:effectLst/>
                        </a:rPr>
                        <a:t>Sels de cuivre et de zinc</a:t>
                      </a:r>
                    </a:p>
                    <a:p>
                      <a:pPr algn="l">
                        <a:lnSpc>
                          <a:spcPct val="115000"/>
                        </a:lnSpc>
                        <a:spcAft>
                          <a:spcPts val="1000"/>
                        </a:spcAft>
                      </a:pPr>
                      <a:r>
                        <a:rPr lang="fr-FR" sz="900" b="1" dirty="0">
                          <a:effectLst/>
                        </a:rPr>
                        <a:t>Dérivés de l’argent (surtout le nitrate )</a:t>
                      </a:r>
                    </a:p>
                    <a:p>
                      <a:pPr algn="l">
                        <a:lnSpc>
                          <a:spcPct val="115000"/>
                        </a:lnSpc>
                        <a:spcAft>
                          <a:spcPts val="1000"/>
                        </a:spcAft>
                      </a:pPr>
                      <a:r>
                        <a:rPr lang="fr-FR" sz="900" b="1" dirty="0">
                          <a:effectLst/>
                        </a:rPr>
                        <a:t>Organomercuriels (</a:t>
                      </a:r>
                      <a:r>
                        <a:rPr lang="fr-FR" sz="900" b="1" dirty="0" err="1">
                          <a:effectLst/>
                        </a:rPr>
                        <a:t>Merchurochrome</a:t>
                      </a:r>
                      <a:r>
                        <a:rPr lang="fr-FR" sz="900" b="1" dirty="0">
                          <a:effectLst/>
                        </a:rPr>
                        <a:t>, </a:t>
                      </a:r>
                      <a:r>
                        <a:rPr lang="fr-FR" sz="900" b="1" dirty="0" err="1">
                          <a:effectLst/>
                        </a:rPr>
                        <a:t>Merthiolate</a:t>
                      </a:r>
                      <a:r>
                        <a:rPr lang="fr-FR" sz="900" b="1" dirty="0">
                          <a:effectLst/>
                        </a:rPr>
                        <a:t>, </a:t>
                      </a:r>
                      <a:r>
                        <a:rPr lang="fr-FR" sz="900" b="1" dirty="0" err="1">
                          <a:effectLst/>
                        </a:rPr>
                        <a:t>Merseptyl</a:t>
                      </a:r>
                      <a:r>
                        <a:rPr lang="fr-FR" sz="900" b="1" dirty="0">
                          <a:effectLst/>
                        </a:rPr>
                        <a:t>, </a:t>
                      </a:r>
                      <a:r>
                        <a:rPr lang="fr-FR" sz="900" b="1" dirty="0" err="1">
                          <a:effectLst/>
                        </a:rPr>
                        <a:t>Merfène</a:t>
                      </a:r>
                      <a:r>
                        <a:rPr lang="fr-FR" sz="900" b="1" dirty="0">
                          <a:effectLst/>
                        </a:rPr>
                        <a:t>, </a:t>
                      </a:r>
                      <a:r>
                        <a:rPr lang="fr-FR" sz="900" b="1" dirty="0" err="1">
                          <a:effectLst/>
                        </a:rPr>
                        <a:t>Mercryl</a:t>
                      </a:r>
                      <a:r>
                        <a:rPr lang="fr-FR" sz="900" b="1" dirty="0">
                          <a:effectLst/>
                        </a:rPr>
                        <a:t>).</a:t>
                      </a:r>
                      <a:endParaRPr lang="fr-FR" sz="9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574772771"/>
                  </a:ext>
                </a:extLst>
              </a:tr>
              <a:tr h="240372">
                <a:tc vMerge="1">
                  <a:txBody>
                    <a:bodyPr/>
                    <a:lstStyle/>
                    <a:p>
                      <a:endParaRPr lang="fr-FR"/>
                    </a:p>
                  </a:txBody>
                  <a:tcPr/>
                </a:tc>
                <a:tc>
                  <a:txBody>
                    <a:bodyPr/>
                    <a:lstStyle/>
                    <a:p>
                      <a:pPr algn="l">
                        <a:lnSpc>
                          <a:spcPct val="115000"/>
                        </a:lnSpc>
                        <a:spcAft>
                          <a:spcPts val="1000"/>
                        </a:spcAft>
                      </a:pPr>
                      <a:r>
                        <a:rPr lang="fr-FR" sz="900" b="1">
                          <a:effectLst/>
                        </a:rPr>
                        <a:t> </a:t>
                      </a:r>
                    </a:p>
                    <a:p>
                      <a:pPr algn="l">
                        <a:lnSpc>
                          <a:spcPct val="115000"/>
                        </a:lnSpc>
                        <a:spcAft>
                          <a:spcPts val="1000"/>
                        </a:spcAft>
                      </a:pPr>
                      <a:r>
                        <a:rPr lang="fr-FR" sz="900" b="1">
                          <a:effectLst/>
                        </a:rPr>
                        <a:t>Oxydants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2">
                  <a:txBody>
                    <a:bodyPr/>
                    <a:lstStyle/>
                    <a:p>
                      <a:pPr algn="l">
                        <a:lnSpc>
                          <a:spcPct val="115000"/>
                        </a:lnSpc>
                        <a:spcAft>
                          <a:spcPts val="1000"/>
                        </a:spcAft>
                      </a:pPr>
                      <a:r>
                        <a:rPr lang="fr-FR" sz="900" b="1">
                          <a:effectLst/>
                        </a:rPr>
                        <a:t>Eau oxygénée (10 volumes) </a:t>
                      </a:r>
                    </a:p>
                    <a:p>
                      <a:pPr algn="l">
                        <a:lnSpc>
                          <a:spcPct val="115000"/>
                        </a:lnSpc>
                        <a:spcAft>
                          <a:spcPts val="1000"/>
                        </a:spcAft>
                      </a:pPr>
                      <a:r>
                        <a:rPr lang="fr-FR" sz="900" b="1">
                          <a:effectLst/>
                        </a:rPr>
                        <a:t>Permenganate de potassium 0.01%</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gridSpan="2">
                  <a:txBody>
                    <a:bodyPr/>
                    <a:lstStyle/>
                    <a:p>
                      <a:pPr algn="l">
                        <a:lnSpc>
                          <a:spcPct val="115000"/>
                        </a:lnSpc>
                        <a:spcAft>
                          <a:spcPts val="1000"/>
                        </a:spcAft>
                      </a:pPr>
                      <a:r>
                        <a:rPr lang="fr-FR" sz="900" b="1">
                          <a:effectLst/>
                        </a:rPr>
                        <a:t>Ozone (O3)</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extLst>
                  <a:ext uri="{0D108BD9-81ED-4DB2-BD59-A6C34878D82A}">
                    <a16:rowId xmlns:a16="http://schemas.microsoft.com/office/drawing/2014/main" val="3615340752"/>
                  </a:ext>
                </a:extLst>
              </a:tr>
              <a:tr h="240372">
                <a:tc vMerge="1">
                  <a:txBody>
                    <a:bodyPr/>
                    <a:lstStyle/>
                    <a:p>
                      <a:endParaRPr lang="fr-FR"/>
                    </a:p>
                  </a:txBody>
                  <a:tcPr/>
                </a:tc>
                <a:tc>
                  <a:txBody>
                    <a:bodyPr/>
                    <a:lstStyle/>
                    <a:p>
                      <a:pPr algn="l">
                        <a:lnSpc>
                          <a:spcPct val="115000"/>
                        </a:lnSpc>
                        <a:spcAft>
                          <a:spcPts val="1000"/>
                        </a:spcAft>
                      </a:pPr>
                      <a:r>
                        <a:rPr lang="fr-FR" sz="900" b="1">
                          <a:effectLst/>
                        </a:rPr>
                        <a:t>Carbanilides</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2">
                  <a:txBody>
                    <a:bodyPr/>
                    <a:lstStyle/>
                    <a:p>
                      <a:pPr algn="l">
                        <a:lnSpc>
                          <a:spcPct val="115000"/>
                        </a:lnSpc>
                        <a:spcAft>
                          <a:spcPts val="1000"/>
                        </a:spcAft>
                      </a:pPr>
                      <a:r>
                        <a:rPr lang="fr-FR" sz="900" b="1" dirty="0" err="1">
                          <a:effectLst/>
                        </a:rPr>
                        <a:t>Trichlorocarbanilides</a:t>
                      </a:r>
                      <a:r>
                        <a:rPr lang="fr-FR" sz="900" b="1" dirty="0">
                          <a:effectLst/>
                        </a:rPr>
                        <a:t> </a:t>
                      </a:r>
                    </a:p>
                    <a:p>
                      <a:pPr algn="l">
                        <a:lnSpc>
                          <a:spcPct val="115000"/>
                        </a:lnSpc>
                        <a:spcAft>
                          <a:spcPts val="1000"/>
                        </a:spcAft>
                      </a:pPr>
                      <a:r>
                        <a:rPr lang="fr-FR" sz="900" b="1" dirty="0">
                          <a:effectLst/>
                        </a:rPr>
                        <a:t>(</a:t>
                      </a:r>
                      <a:r>
                        <a:rPr lang="fr-FR" sz="900" b="1" dirty="0" err="1">
                          <a:effectLst/>
                        </a:rPr>
                        <a:t>Septivon</a:t>
                      </a:r>
                      <a:r>
                        <a:rPr lang="fr-FR" sz="900" b="1" dirty="0">
                          <a:effectLst/>
                        </a:rPr>
                        <a:t>, </a:t>
                      </a:r>
                      <a:r>
                        <a:rPr lang="fr-FR" sz="900" b="1" dirty="0" err="1">
                          <a:effectLst/>
                        </a:rPr>
                        <a:t>Solubacter</a:t>
                      </a:r>
                      <a:r>
                        <a:rPr lang="fr-FR" sz="900" b="1" dirty="0">
                          <a:effectLst/>
                        </a:rPr>
                        <a:t> , </a:t>
                      </a:r>
                      <a:r>
                        <a:rPr lang="fr-FR" sz="900" b="1" dirty="0" err="1">
                          <a:effectLst/>
                        </a:rPr>
                        <a:t>Nobacter</a:t>
                      </a:r>
                      <a:r>
                        <a:rPr lang="fr-FR" sz="900" b="1" dirty="0">
                          <a:effectLst/>
                        </a:rPr>
                        <a:t>, </a:t>
                      </a:r>
                      <a:r>
                        <a:rPr lang="fr-FR" sz="900" b="1" dirty="0" err="1">
                          <a:effectLst/>
                        </a:rPr>
                        <a:t>Cusitan</a:t>
                      </a:r>
                      <a:r>
                        <a:rPr lang="fr-FR" sz="900" b="1" dirty="0">
                          <a:effectLst/>
                        </a:rPr>
                        <a:t>) </a:t>
                      </a:r>
                      <a:endParaRPr lang="fr-FR" sz="9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gridSpan="2">
                  <a:txBody>
                    <a:bodyPr/>
                    <a:lstStyle/>
                    <a:p>
                      <a:pPr algn="l">
                        <a:lnSpc>
                          <a:spcPct val="115000"/>
                        </a:lnSpc>
                        <a:spcAft>
                          <a:spcPts val="1000"/>
                        </a:spcAft>
                      </a:pPr>
                      <a:r>
                        <a:rPr lang="fr-FR" sz="900" b="1">
                          <a:effectLst/>
                        </a:rPr>
                        <a:t>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extLst>
                  <a:ext uri="{0D108BD9-81ED-4DB2-BD59-A6C34878D82A}">
                    <a16:rowId xmlns:a16="http://schemas.microsoft.com/office/drawing/2014/main" val="3774751894"/>
                  </a:ext>
                </a:extLst>
              </a:tr>
              <a:tr h="240372">
                <a:tc vMerge="1">
                  <a:txBody>
                    <a:bodyPr/>
                    <a:lstStyle/>
                    <a:p>
                      <a:endParaRPr lang="fr-FR"/>
                    </a:p>
                  </a:txBody>
                  <a:tcPr/>
                </a:tc>
                <a:tc>
                  <a:txBody>
                    <a:bodyPr/>
                    <a:lstStyle/>
                    <a:p>
                      <a:pPr algn="l">
                        <a:lnSpc>
                          <a:spcPct val="115000"/>
                        </a:lnSpc>
                        <a:spcAft>
                          <a:spcPts val="1000"/>
                        </a:spcAft>
                      </a:pPr>
                      <a:r>
                        <a:rPr lang="fr-FR" sz="900" b="1">
                          <a:effectLst/>
                        </a:rPr>
                        <a:t>Amidines et pyrimidines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4">
                  <a:txBody>
                    <a:bodyPr/>
                    <a:lstStyle/>
                    <a:p>
                      <a:pPr algn="l">
                        <a:lnSpc>
                          <a:spcPct val="115000"/>
                        </a:lnSpc>
                        <a:spcAft>
                          <a:spcPts val="1000"/>
                        </a:spcAft>
                      </a:pPr>
                      <a:r>
                        <a:rPr lang="fr-FR" sz="900" b="1">
                          <a:effectLst/>
                        </a:rPr>
                        <a:t>Hexamidine (Hexomédine)</a:t>
                      </a:r>
                    </a:p>
                    <a:p>
                      <a:pPr algn="l">
                        <a:lnSpc>
                          <a:spcPct val="115000"/>
                        </a:lnSpc>
                        <a:spcAft>
                          <a:spcPts val="1000"/>
                        </a:spcAft>
                      </a:pPr>
                      <a:r>
                        <a:rPr lang="fr-FR" sz="900" b="1">
                          <a:effectLst/>
                        </a:rPr>
                        <a:t>Hexétidine (Hextril)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108390600"/>
                  </a:ext>
                </a:extLst>
              </a:tr>
              <a:tr h="429093">
                <a:tc vMerge="1">
                  <a:txBody>
                    <a:bodyPr/>
                    <a:lstStyle/>
                    <a:p>
                      <a:endParaRPr lang="fr-FR"/>
                    </a:p>
                  </a:txBody>
                  <a:tcPr/>
                </a:tc>
                <a:tc>
                  <a:txBody>
                    <a:bodyPr/>
                    <a:lstStyle/>
                    <a:p>
                      <a:pPr algn="l">
                        <a:lnSpc>
                          <a:spcPct val="115000"/>
                        </a:lnSpc>
                        <a:spcAft>
                          <a:spcPts val="1000"/>
                        </a:spcAft>
                      </a:pPr>
                      <a:r>
                        <a:rPr lang="fr-FR" sz="900" b="1">
                          <a:effectLst/>
                        </a:rPr>
                        <a:t> </a:t>
                      </a:r>
                    </a:p>
                    <a:p>
                      <a:pPr algn="l">
                        <a:lnSpc>
                          <a:spcPct val="115000"/>
                        </a:lnSpc>
                        <a:spcAft>
                          <a:spcPts val="1000"/>
                        </a:spcAft>
                      </a:pPr>
                      <a:r>
                        <a:rPr lang="fr-FR" sz="900" b="1">
                          <a:effectLst/>
                        </a:rPr>
                        <a:t> </a:t>
                      </a:r>
                    </a:p>
                    <a:p>
                      <a:pPr algn="l">
                        <a:lnSpc>
                          <a:spcPct val="115000"/>
                        </a:lnSpc>
                        <a:spcAft>
                          <a:spcPts val="1000"/>
                        </a:spcAft>
                      </a:pPr>
                      <a:r>
                        <a:rPr lang="fr-FR" sz="900" b="1">
                          <a:effectLst/>
                        </a:rPr>
                        <a:t>Colorants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3">
                  <a:txBody>
                    <a:bodyPr/>
                    <a:lstStyle/>
                    <a:p>
                      <a:pPr algn="l">
                        <a:lnSpc>
                          <a:spcPct val="115000"/>
                        </a:lnSpc>
                        <a:spcAft>
                          <a:spcPts val="1000"/>
                        </a:spcAft>
                      </a:pPr>
                      <a:r>
                        <a:rPr lang="fr-FR" sz="900" b="1">
                          <a:effectLst/>
                        </a:rPr>
                        <a:t>Dérivés de l’acridine</a:t>
                      </a:r>
                    </a:p>
                    <a:p>
                      <a:pPr algn="l">
                        <a:lnSpc>
                          <a:spcPct val="115000"/>
                        </a:lnSpc>
                        <a:spcAft>
                          <a:spcPts val="1000"/>
                        </a:spcAft>
                      </a:pPr>
                      <a:r>
                        <a:rPr lang="fr-FR" sz="900" b="1">
                          <a:effectLst/>
                        </a:rPr>
                        <a:t>Dérivés du triphénylméthane ( vert malachite , vert brillant , cristal violet , vert de méthyle , fluoresceine , éosine , bleu de méthylène )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tc>
                  <a:txBody>
                    <a:bodyPr/>
                    <a:lstStyle/>
                    <a:p>
                      <a:pPr algn="l">
                        <a:lnSpc>
                          <a:spcPct val="115000"/>
                        </a:lnSpc>
                        <a:spcAft>
                          <a:spcPts val="1000"/>
                        </a:spcAft>
                      </a:pPr>
                      <a:r>
                        <a:rPr lang="fr-FR" sz="900" b="1">
                          <a:effectLst/>
                        </a:rPr>
                        <a:t>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extLst>
                  <a:ext uri="{0D108BD9-81ED-4DB2-BD59-A6C34878D82A}">
                    <a16:rowId xmlns:a16="http://schemas.microsoft.com/office/drawing/2014/main" val="1689920254"/>
                  </a:ext>
                </a:extLst>
              </a:tr>
              <a:tr h="368685">
                <a:tc vMerge="1">
                  <a:txBody>
                    <a:bodyPr/>
                    <a:lstStyle/>
                    <a:p>
                      <a:endParaRPr lang="fr-FR"/>
                    </a:p>
                  </a:txBody>
                  <a:tcPr/>
                </a:tc>
                <a:tc>
                  <a:txBody>
                    <a:bodyPr/>
                    <a:lstStyle/>
                    <a:p>
                      <a:pPr algn="l">
                        <a:lnSpc>
                          <a:spcPct val="115000"/>
                        </a:lnSpc>
                        <a:spcAft>
                          <a:spcPts val="1000"/>
                        </a:spcAft>
                      </a:pPr>
                      <a:r>
                        <a:rPr lang="fr-FR" sz="900" b="1">
                          <a:effectLst/>
                        </a:rPr>
                        <a:t>Aldéhydes</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900" b="1">
                          <a:effectLst/>
                        </a:rPr>
                        <a:t>Noxytioline (Noxyflex)</a:t>
                      </a:r>
                    </a:p>
                    <a:p>
                      <a:pPr algn="l">
                        <a:lnSpc>
                          <a:spcPct val="115000"/>
                        </a:lnSpc>
                        <a:spcAft>
                          <a:spcPts val="1000"/>
                        </a:spcAft>
                      </a:pPr>
                      <a:r>
                        <a:rPr lang="fr-FR" sz="900" b="1">
                          <a:effectLst/>
                        </a:rPr>
                        <a:t>Taurolidine (Tauroline)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3">
                  <a:txBody>
                    <a:bodyPr/>
                    <a:lstStyle/>
                    <a:p>
                      <a:pPr algn="l">
                        <a:lnSpc>
                          <a:spcPct val="115000"/>
                        </a:lnSpc>
                        <a:spcAft>
                          <a:spcPts val="1000"/>
                        </a:spcAft>
                      </a:pPr>
                      <a:r>
                        <a:rPr lang="fr-FR" sz="900" b="1">
                          <a:effectLst/>
                        </a:rPr>
                        <a:t>Formol +++</a:t>
                      </a:r>
                    </a:p>
                    <a:p>
                      <a:pPr algn="l">
                        <a:lnSpc>
                          <a:spcPct val="115000"/>
                        </a:lnSpc>
                        <a:spcAft>
                          <a:spcPts val="1000"/>
                        </a:spcAft>
                      </a:pPr>
                      <a:r>
                        <a:rPr lang="fr-FR" sz="900" b="1">
                          <a:effectLst/>
                        </a:rPr>
                        <a:t>Glutaraldéhyde</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495228049"/>
                  </a:ext>
                </a:extLst>
              </a:tr>
              <a:tr h="94010">
                <a:tc vMerge="1">
                  <a:txBody>
                    <a:bodyPr/>
                    <a:lstStyle/>
                    <a:p>
                      <a:endParaRPr lang="fr-FR"/>
                    </a:p>
                  </a:txBody>
                  <a:tcPr/>
                </a:tc>
                <a:tc>
                  <a:txBody>
                    <a:bodyPr/>
                    <a:lstStyle/>
                    <a:p>
                      <a:pPr algn="l">
                        <a:lnSpc>
                          <a:spcPct val="115000"/>
                        </a:lnSpc>
                        <a:spcAft>
                          <a:spcPts val="1000"/>
                        </a:spcAft>
                      </a:pPr>
                      <a:r>
                        <a:rPr lang="fr-FR" sz="900" b="1" dirty="0">
                          <a:effectLst/>
                        </a:rPr>
                        <a:t>Acides</a:t>
                      </a:r>
                      <a:endParaRPr lang="fr-FR" sz="9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900" b="1">
                          <a:effectLst/>
                        </a:rPr>
                        <a:t>Acides acétique, borique, lactique, benzoique</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3">
                  <a:txBody>
                    <a:bodyPr/>
                    <a:lstStyle/>
                    <a:p>
                      <a:pPr algn="l">
                        <a:lnSpc>
                          <a:spcPct val="115000"/>
                        </a:lnSpc>
                        <a:spcAft>
                          <a:spcPts val="1000"/>
                        </a:spcAft>
                      </a:pPr>
                      <a:r>
                        <a:rPr lang="fr-FR" sz="900" b="1">
                          <a:effectLst/>
                        </a:rPr>
                        <a:t> </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970800635"/>
                  </a:ext>
                </a:extLst>
              </a:tr>
              <a:tr h="368685">
                <a:tc vMerge="1">
                  <a:txBody>
                    <a:bodyPr/>
                    <a:lstStyle/>
                    <a:p>
                      <a:endParaRPr lang="fr-FR"/>
                    </a:p>
                  </a:txBody>
                  <a:tcPr/>
                </a:tc>
                <a:tc>
                  <a:txBody>
                    <a:bodyPr/>
                    <a:lstStyle/>
                    <a:p>
                      <a:pPr algn="l">
                        <a:lnSpc>
                          <a:spcPct val="115000"/>
                        </a:lnSpc>
                        <a:spcAft>
                          <a:spcPts val="1000"/>
                        </a:spcAft>
                      </a:pPr>
                      <a:r>
                        <a:rPr lang="fr-FR" sz="900" b="1" dirty="0">
                          <a:effectLst/>
                        </a:rPr>
                        <a:t>Phénols</a:t>
                      </a:r>
                      <a:endParaRPr lang="fr-FR" sz="9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a:txBody>
                    <a:bodyPr/>
                    <a:lstStyle/>
                    <a:p>
                      <a:pPr algn="l">
                        <a:lnSpc>
                          <a:spcPct val="115000"/>
                        </a:lnSpc>
                        <a:spcAft>
                          <a:spcPts val="1000"/>
                        </a:spcAft>
                      </a:pPr>
                      <a:r>
                        <a:rPr lang="fr-FR" sz="900" b="1">
                          <a:effectLst/>
                        </a:rPr>
                        <a:t>Polyphénols</a:t>
                      </a:r>
                    </a:p>
                    <a:p>
                      <a:pPr algn="l">
                        <a:lnSpc>
                          <a:spcPct val="115000"/>
                        </a:lnSpc>
                        <a:spcAft>
                          <a:spcPts val="1000"/>
                        </a:spcAft>
                      </a:pPr>
                      <a:r>
                        <a:rPr lang="fr-FR" sz="900" b="1">
                          <a:effectLst/>
                        </a:rPr>
                        <a:t>Hexachlorophène (Phisohex, Savogerm).</a:t>
                      </a:r>
                      <a:endParaRPr lang="fr-FR" sz="900" b="1">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gridSpan="3">
                  <a:txBody>
                    <a:bodyPr/>
                    <a:lstStyle/>
                    <a:p>
                      <a:pPr algn="l">
                        <a:lnSpc>
                          <a:spcPct val="115000"/>
                        </a:lnSpc>
                        <a:spcAft>
                          <a:spcPts val="1000"/>
                        </a:spcAft>
                      </a:pPr>
                      <a:r>
                        <a:rPr lang="fr-FR" sz="900" b="1" dirty="0">
                          <a:effectLst/>
                        </a:rPr>
                        <a:t>Acide phénique </a:t>
                      </a:r>
                    </a:p>
                    <a:p>
                      <a:pPr algn="l">
                        <a:lnSpc>
                          <a:spcPct val="115000"/>
                        </a:lnSpc>
                        <a:spcAft>
                          <a:spcPts val="1000"/>
                        </a:spcAft>
                      </a:pPr>
                      <a:r>
                        <a:rPr lang="fr-FR" sz="900" b="1" dirty="0" err="1">
                          <a:effectLst/>
                        </a:rPr>
                        <a:t>Monophénols</a:t>
                      </a:r>
                      <a:endParaRPr lang="fr-FR" sz="900" b="1" dirty="0">
                        <a:effectLst/>
                        <a:latin typeface="Calibri" panose="020F0502020204030204" pitchFamily="34" charset="0"/>
                        <a:ea typeface="Times New Roman" panose="02020603050405020304" pitchFamily="18" charset="0"/>
                        <a:cs typeface="Arial" panose="020B0604020202020204" pitchFamily="34" charset="0"/>
                      </a:endParaRPr>
                    </a:p>
                  </a:txBody>
                  <a:tcPr marL="16431" marR="16431" marT="0" marB="0">
                    <a:solidFill>
                      <a:schemeClr val="bg1"/>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71102991"/>
                  </a:ext>
                </a:extLst>
              </a:tr>
            </a:tbl>
          </a:graphicData>
        </a:graphic>
      </p:graphicFrame>
    </p:spTree>
    <p:extLst>
      <p:ext uri="{BB962C8B-B14F-4D97-AF65-F5344CB8AC3E}">
        <p14:creationId xmlns:p14="http://schemas.microsoft.com/office/powerpoint/2010/main" val="713721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lnSpc>
                <a:spcPct val="115000"/>
              </a:lnSpc>
              <a:spcAft>
                <a:spcPts val="1000"/>
              </a:spcAft>
            </a:pP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2-Spectre d’activité </a:t>
            </a:r>
            <a:r>
              <a:rPr lang="fr-FR" sz="1800" b="1" dirty="0" err="1">
                <a:effectLst/>
                <a:latin typeface="Times New Roman" panose="02020603050405020304" pitchFamily="18" charset="0"/>
                <a:ea typeface="Times New Roman" panose="02020603050405020304" pitchFamily="18" charset="0"/>
                <a:cs typeface="Arial" panose="020B0604020202020204" pitchFamily="34" charset="0"/>
              </a:rPr>
              <a:t>anti-microbienne</a:t>
            </a: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18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3" name="Text Placeholder 2"/>
          <p:cNvSpPr>
            <a:spLocks noGrp="1"/>
          </p:cNvSpPr>
          <p:nvPr>
            <p:ph type="body" idx="1"/>
          </p:nvPr>
        </p:nvSpPr>
        <p:spPr>
          <a:xfrm>
            <a:off x="292608" y="1463040"/>
            <a:ext cx="8199882" cy="3340608"/>
          </a:xfrm>
        </p:spPr>
        <p:txBody>
          <a:bodyPr/>
          <a:lstStyle/>
          <a:p>
            <a:endParaRPr lang="fr-FR" dirty="0"/>
          </a:p>
          <a:p>
            <a:pPr>
              <a:buNone/>
            </a:pPr>
            <a:r>
              <a:rPr lang="fr-FR" sz="1800" dirty="0">
                <a:latin typeface="Lora" pitchFamily="2" charset="0"/>
              </a:rPr>
              <a:t>L’activité des antiseptiques et désinfectants peut s’étendre non seulement aux formes végétatives des bactéries à Gram positif et à Gram négatif, mais également aux spores bactériennes, mycobactéries, cellules fongiques et virus. Ces substances peuvent être bactériostatiques ou bactéricides, sporicides, fongistatiques ou fongicides, virucides enfin.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spTree>
    <p:extLst>
      <p:ext uri="{BB962C8B-B14F-4D97-AF65-F5344CB8AC3E}">
        <p14:creationId xmlns:p14="http://schemas.microsoft.com/office/powerpoint/2010/main" val="3354010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lnSpc>
                <a:spcPct val="115000"/>
              </a:lnSpc>
              <a:spcAft>
                <a:spcPts val="1000"/>
              </a:spcAft>
            </a:pP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2-Spectre d’activité </a:t>
            </a:r>
            <a:r>
              <a:rPr lang="fr-FR" sz="1800" b="1" dirty="0" err="1">
                <a:effectLst/>
                <a:latin typeface="Times New Roman" panose="02020603050405020304" pitchFamily="18" charset="0"/>
                <a:ea typeface="Times New Roman" panose="02020603050405020304" pitchFamily="18" charset="0"/>
                <a:cs typeface="Arial" panose="020B0604020202020204" pitchFamily="34" charset="0"/>
              </a:rPr>
              <a:t>anti-microbienne</a:t>
            </a: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18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3" name="Text Placeholder 2"/>
          <p:cNvSpPr>
            <a:spLocks noGrp="1"/>
          </p:cNvSpPr>
          <p:nvPr>
            <p:ph type="body" idx="1"/>
          </p:nvPr>
        </p:nvSpPr>
        <p:spPr>
          <a:xfrm>
            <a:off x="2554545" y="4677983"/>
            <a:ext cx="3846255" cy="384047"/>
          </a:xfrm>
        </p:spPr>
        <p:txBody>
          <a:bodyPr/>
          <a:lstStyle/>
          <a:p>
            <a:pPr>
              <a:buNone/>
            </a:pPr>
            <a:r>
              <a:rPr lang="fr-FR" sz="1200" dirty="0"/>
              <a:t>Activité létale forte +++, moyenne ++, faible +, nulle 0.</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graphicFrame>
        <p:nvGraphicFramePr>
          <p:cNvPr id="4" name="Tableau 3">
            <a:extLst>
              <a:ext uri="{FF2B5EF4-FFF2-40B4-BE49-F238E27FC236}">
                <a16:creationId xmlns:a16="http://schemas.microsoft.com/office/drawing/2014/main" id="{3A31713A-F3E7-F940-F99D-8D11469CC583}"/>
              </a:ext>
            </a:extLst>
          </p:cNvPr>
          <p:cNvGraphicFramePr>
            <a:graphicFrameLocks noGrp="1"/>
          </p:cNvGraphicFramePr>
          <p:nvPr>
            <p:extLst>
              <p:ext uri="{D42A27DB-BD31-4B8C-83A1-F6EECF244321}">
                <p14:modId xmlns:p14="http://schemas.microsoft.com/office/powerpoint/2010/main" val="2050348939"/>
              </p:ext>
            </p:extLst>
          </p:nvPr>
        </p:nvGraphicFramePr>
        <p:xfrm>
          <a:off x="525539" y="1480302"/>
          <a:ext cx="8097253" cy="3224361"/>
        </p:xfrm>
        <a:graphic>
          <a:graphicData uri="http://schemas.openxmlformats.org/drawingml/2006/table">
            <a:tbl>
              <a:tblPr firstRow="1" firstCol="1" bandRow="1">
                <a:tableStyleId>{5DA37D80-6434-44D0-A028-1B22A696006F}</a:tableStyleId>
              </a:tblPr>
              <a:tblGrid>
                <a:gridCol w="1525190">
                  <a:extLst>
                    <a:ext uri="{9D8B030D-6E8A-4147-A177-3AD203B41FA5}">
                      <a16:colId xmlns:a16="http://schemas.microsoft.com/office/drawing/2014/main" val="3207303757"/>
                    </a:ext>
                  </a:extLst>
                </a:gridCol>
                <a:gridCol w="1074968">
                  <a:extLst>
                    <a:ext uri="{9D8B030D-6E8A-4147-A177-3AD203B41FA5}">
                      <a16:colId xmlns:a16="http://schemas.microsoft.com/office/drawing/2014/main" val="1448741375"/>
                    </a:ext>
                  </a:extLst>
                </a:gridCol>
                <a:gridCol w="1074968">
                  <a:extLst>
                    <a:ext uri="{9D8B030D-6E8A-4147-A177-3AD203B41FA5}">
                      <a16:colId xmlns:a16="http://schemas.microsoft.com/office/drawing/2014/main" val="1568735914"/>
                    </a:ext>
                  </a:extLst>
                </a:gridCol>
                <a:gridCol w="1553857">
                  <a:extLst>
                    <a:ext uri="{9D8B030D-6E8A-4147-A177-3AD203B41FA5}">
                      <a16:colId xmlns:a16="http://schemas.microsoft.com/office/drawing/2014/main" val="3429677130"/>
                    </a:ext>
                  </a:extLst>
                </a:gridCol>
                <a:gridCol w="836368">
                  <a:extLst>
                    <a:ext uri="{9D8B030D-6E8A-4147-A177-3AD203B41FA5}">
                      <a16:colId xmlns:a16="http://schemas.microsoft.com/office/drawing/2014/main" val="570159070"/>
                    </a:ext>
                  </a:extLst>
                </a:gridCol>
                <a:gridCol w="1315256">
                  <a:extLst>
                    <a:ext uri="{9D8B030D-6E8A-4147-A177-3AD203B41FA5}">
                      <a16:colId xmlns:a16="http://schemas.microsoft.com/office/drawing/2014/main" val="1381800870"/>
                    </a:ext>
                  </a:extLst>
                </a:gridCol>
                <a:gridCol w="716646">
                  <a:extLst>
                    <a:ext uri="{9D8B030D-6E8A-4147-A177-3AD203B41FA5}">
                      <a16:colId xmlns:a16="http://schemas.microsoft.com/office/drawing/2014/main" val="875250817"/>
                    </a:ext>
                  </a:extLst>
                </a:gridCol>
              </a:tblGrid>
              <a:tr h="149042">
                <a:tc rowSpan="2">
                  <a:txBody>
                    <a:bodyPr/>
                    <a:lstStyle/>
                    <a:p>
                      <a:pPr>
                        <a:lnSpc>
                          <a:spcPct val="115000"/>
                        </a:lnSpc>
                        <a:spcAft>
                          <a:spcPts val="1000"/>
                        </a:spcAft>
                      </a:pPr>
                      <a:r>
                        <a:rPr lang="fr-FR" sz="1100" b="1">
                          <a:effectLst/>
                        </a:rPr>
                        <a:t> </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gridSpan="2">
                  <a:txBody>
                    <a:bodyPr/>
                    <a:lstStyle/>
                    <a:p>
                      <a:pPr algn="ctr">
                        <a:lnSpc>
                          <a:spcPct val="115000"/>
                        </a:lnSpc>
                        <a:spcAft>
                          <a:spcPts val="1000"/>
                        </a:spcAft>
                      </a:pPr>
                      <a:r>
                        <a:rPr lang="fr-FR" sz="1100" b="1">
                          <a:effectLst/>
                        </a:rPr>
                        <a:t>BACTERIES A GRAM</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hMerge="1">
                  <a:txBody>
                    <a:bodyPr/>
                    <a:lstStyle/>
                    <a:p>
                      <a:endParaRPr lang="fr-FR"/>
                    </a:p>
                  </a:txBody>
                  <a:tcPr/>
                </a:tc>
                <a:tc rowSpan="2">
                  <a:txBody>
                    <a:bodyPr/>
                    <a:lstStyle/>
                    <a:p>
                      <a:pPr algn="ctr">
                        <a:lnSpc>
                          <a:spcPct val="115000"/>
                        </a:lnSpc>
                        <a:spcAft>
                          <a:spcPts val="1000"/>
                        </a:spcAft>
                      </a:pPr>
                      <a:r>
                        <a:rPr lang="fr-FR" sz="1100" b="1">
                          <a:effectLst/>
                        </a:rPr>
                        <a:t>MYCOBACTERIES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rowSpan="2">
                  <a:txBody>
                    <a:bodyPr/>
                    <a:lstStyle/>
                    <a:p>
                      <a:pPr algn="ctr">
                        <a:lnSpc>
                          <a:spcPct val="115000"/>
                        </a:lnSpc>
                        <a:spcAft>
                          <a:spcPts val="1000"/>
                        </a:spcAft>
                      </a:pPr>
                      <a:r>
                        <a:rPr lang="fr-FR" sz="1100" b="1">
                          <a:effectLst/>
                        </a:rPr>
                        <a:t>SPORES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rowSpan="2">
                  <a:txBody>
                    <a:bodyPr/>
                    <a:lstStyle/>
                    <a:p>
                      <a:pPr algn="ctr">
                        <a:lnSpc>
                          <a:spcPct val="115000"/>
                        </a:lnSpc>
                        <a:spcAft>
                          <a:spcPts val="1000"/>
                        </a:spcAft>
                      </a:pPr>
                      <a:r>
                        <a:rPr lang="fr-FR" sz="1100" b="1">
                          <a:effectLst/>
                        </a:rPr>
                        <a:t>CHAMPIGNONS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rowSpan="2">
                  <a:txBody>
                    <a:bodyPr/>
                    <a:lstStyle/>
                    <a:p>
                      <a:pPr algn="ctr">
                        <a:lnSpc>
                          <a:spcPct val="115000"/>
                        </a:lnSpc>
                        <a:spcAft>
                          <a:spcPts val="1000"/>
                        </a:spcAft>
                      </a:pPr>
                      <a:r>
                        <a:rPr lang="fr-FR" sz="1100" b="1">
                          <a:effectLst/>
                        </a:rPr>
                        <a:t>VIRUS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337452005"/>
                  </a:ext>
                </a:extLst>
              </a:tr>
              <a:tr h="155004">
                <a:tc vMerge="1">
                  <a:txBody>
                    <a:bodyPr/>
                    <a:lstStyle/>
                    <a:p>
                      <a:endParaRPr lang="fr-FR"/>
                    </a:p>
                  </a:txBody>
                  <a:tcPr/>
                </a:tc>
                <a:tc>
                  <a:txBody>
                    <a:bodyPr/>
                    <a:lstStyle/>
                    <a:p>
                      <a:pPr algn="ctr">
                        <a:lnSpc>
                          <a:spcPct val="115000"/>
                        </a:lnSpc>
                        <a:spcAft>
                          <a:spcPts val="1000"/>
                        </a:spcAft>
                      </a:pPr>
                      <a:r>
                        <a:rPr lang="fr-FR" sz="1100" b="1">
                          <a:effectLst/>
                        </a:rPr>
                        <a:t>Positif</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Négatif</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61659932"/>
                  </a:ext>
                </a:extLst>
              </a:tr>
              <a:tr h="311092">
                <a:tc>
                  <a:txBody>
                    <a:bodyPr/>
                    <a:lstStyle/>
                    <a:p>
                      <a:pPr>
                        <a:lnSpc>
                          <a:spcPct val="115000"/>
                        </a:lnSpc>
                        <a:spcAft>
                          <a:spcPts val="1000"/>
                        </a:spcAft>
                      </a:pPr>
                      <a:r>
                        <a:rPr lang="fr-FR" sz="1100" b="1">
                          <a:effectLst/>
                        </a:rPr>
                        <a:t>Carbanilides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 </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 </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 </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3247560637"/>
                  </a:ext>
                </a:extLst>
              </a:tr>
              <a:tr h="318680">
                <a:tc>
                  <a:txBody>
                    <a:bodyPr/>
                    <a:lstStyle/>
                    <a:p>
                      <a:pPr>
                        <a:lnSpc>
                          <a:spcPct val="115000"/>
                        </a:lnSpc>
                        <a:spcAft>
                          <a:spcPts val="1000"/>
                        </a:spcAft>
                      </a:pPr>
                      <a:r>
                        <a:rPr lang="fr-FR" sz="1100" b="1">
                          <a:effectLst/>
                        </a:rPr>
                        <a:t>Hexachlorophène</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2354061465"/>
                  </a:ext>
                </a:extLst>
              </a:tr>
              <a:tr h="318680">
                <a:tc>
                  <a:txBody>
                    <a:bodyPr/>
                    <a:lstStyle/>
                    <a:p>
                      <a:pPr>
                        <a:lnSpc>
                          <a:spcPct val="115000"/>
                        </a:lnSpc>
                        <a:spcAft>
                          <a:spcPts val="1000"/>
                        </a:spcAft>
                      </a:pPr>
                      <a:r>
                        <a:rPr lang="fr-FR" sz="1100" b="1">
                          <a:effectLst/>
                        </a:rPr>
                        <a:t>Dérivés mercuriels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dirty="0">
                          <a:effectLst/>
                        </a:rPr>
                        <a:t>0</a:t>
                      </a:r>
                      <a:endParaRPr lang="fr-FR" sz="1100" b="1" dirty="0">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 </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367281918"/>
                  </a:ext>
                </a:extLst>
              </a:tr>
              <a:tr h="318680">
                <a:tc>
                  <a:txBody>
                    <a:bodyPr/>
                    <a:lstStyle/>
                    <a:p>
                      <a:pPr>
                        <a:lnSpc>
                          <a:spcPct val="115000"/>
                        </a:lnSpc>
                        <a:spcAft>
                          <a:spcPts val="1000"/>
                        </a:spcAft>
                      </a:pPr>
                      <a:r>
                        <a:rPr lang="fr-FR" sz="1100" b="1">
                          <a:effectLst/>
                        </a:rPr>
                        <a:t>Ammoniums quaternaires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dirty="0">
                          <a:effectLst/>
                        </a:rPr>
                        <a:t>+/ inactif sur Pseudomonas</a:t>
                      </a:r>
                      <a:endParaRPr lang="fr-FR" sz="1100" b="1" dirty="0">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dirty="0">
                          <a:effectLst/>
                        </a:rPr>
                        <a:t>0</a:t>
                      </a:r>
                      <a:endParaRPr lang="fr-FR" sz="1100" b="1" dirty="0">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1472791964"/>
                  </a:ext>
                </a:extLst>
              </a:tr>
              <a:tr h="311092">
                <a:tc>
                  <a:txBody>
                    <a:bodyPr/>
                    <a:lstStyle/>
                    <a:p>
                      <a:pPr>
                        <a:lnSpc>
                          <a:spcPct val="115000"/>
                        </a:lnSpc>
                        <a:spcAft>
                          <a:spcPts val="1000"/>
                        </a:spcAft>
                      </a:pPr>
                      <a:r>
                        <a:rPr lang="fr-FR" sz="1100" b="1">
                          <a:effectLst/>
                        </a:rPr>
                        <a:t>Chlorhexidine</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3389767901"/>
                  </a:ext>
                </a:extLst>
              </a:tr>
              <a:tr h="311092">
                <a:tc>
                  <a:txBody>
                    <a:bodyPr/>
                    <a:lstStyle/>
                    <a:p>
                      <a:pPr>
                        <a:lnSpc>
                          <a:spcPct val="115000"/>
                        </a:lnSpc>
                        <a:spcAft>
                          <a:spcPts val="1000"/>
                        </a:spcAft>
                      </a:pPr>
                      <a:r>
                        <a:rPr lang="fr-FR" sz="1100" b="1">
                          <a:effectLst/>
                        </a:rPr>
                        <a:t>Alcool à 70°</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dirty="0">
                          <a:effectLst/>
                        </a:rPr>
                        <a:t>+</a:t>
                      </a:r>
                      <a:endParaRPr lang="fr-FR" sz="1100" b="1" dirty="0">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3002136353"/>
                  </a:ext>
                </a:extLst>
              </a:tr>
              <a:tr h="311092">
                <a:tc>
                  <a:txBody>
                    <a:bodyPr/>
                    <a:lstStyle/>
                    <a:p>
                      <a:pPr>
                        <a:lnSpc>
                          <a:spcPct val="115000"/>
                        </a:lnSpc>
                        <a:spcAft>
                          <a:spcPts val="1000"/>
                        </a:spcAft>
                      </a:pPr>
                      <a:r>
                        <a:rPr lang="fr-FR" sz="1100" b="1">
                          <a:effectLst/>
                        </a:rPr>
                        <a:t>Dérivés chlorés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1937841355"/>
                  </a:ext>
                </a:extLst>
              </a:tr>
              <a:tr h="297543">
                <a:tc>
                  <a:txBody>
                    <a:bodyPr/>
                    <a:lstStyle/>
                    <a:p>
                      <a:pPr>
                        <a:lnSpc>
                          <a:spcPct val="115000"/>
                        </a:lnSpc>
                        <a:spcAft>
                          <a:spcPts val="1000"/>
                        </a:spcAft>
                      </a:pPr>
                      <a:r>
                        <a:rPr lang="fr-FR" sz="1100" b="1">
                          <a:effectLst/>
                        </a:rPr>
                        <a:t>Dérivés iodés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206395037"/>
                  </a:ext>
                </a:extLst>
              </a:tr>
              <a:tr h="311092">
                <a:tc>
                  <a:txBody>
                    <a:bodyPr/>
                    <a:lstStyle/>
                    <a:p>
                      <a:pPr>
                        <a:lnSpc>
                          <a:spcPct val="115000"/>
                        </a:lnSpc>
                        <a:spcAft>
                          <a:spcPts val="1000"/>
                        </a:spcAft>
                      </a:pPr>
                      <a:r>
                        <a:rPr lang="fr-FR" sz="1100" b="1">
                          <a:effectLst/>
                        </a:rPr>
                        <a:t>Aldéhydes</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tc>
                <a:tc>
                  <a:txBody>
                    <a:bodyPr/>
                    <a:lstStyle/>
                    <a:p>
                      <a:pPr algn="ctr">
                        <a:lnSpc>
                          <a:spcPct val="115000"/>
                        </a:lnSpc>
                        <a:spcAft>
                          <a:spcPts val="1000"/>
                        </a:spcAft>
                      </a:pPr>
                      <a:r>
                        <a:rPr lang="fr-FR" sz="1100" b="1" dirty="0">
                          <a:effectLst/>
                        </a:rPr>
                        <a:t>+++</a:t>
                      </a:r>
                      <a:endParaRPr lang="fr-FR" sz="1100" b="1" dirty="0">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a:effectLst/>
                        </a:rPr>
                        <a:t>+++</a:t>
                      </a:r>
                      <a:endParaRPr lang="fr-FR" sz="1100" b="1">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tc>
                  <a:txBody>
                    <a:bodyPr/>
                    <a:lstStyle/>
                    <a:p>
                      <a:pPr algn="ctr">
                        <a:lnSpc>
                          <a:spcPct val="115000"/>
                        </a:lnSpc>
                        <a:spcAft>
                          <a:spcPts val="1000"/>
                        </a:spcAft>
                      </a:pPr>
                      <a:r>
                        <a:rPr lang="fr-FR" sz="1100" b="1" dirty="0">
                          <a:effectLst/>
                        </a:rPr>
                        <a:t>++</a:t>
                      </a:r>
                      <a:endParaRPr lang="fr-FR" sz="1100" b="1" dirty="0">
                        <a:effectLst/>
                        <a:latin typeface="Calibri" panose="020F0502020204030204" pitchFamily="34" charset="0"/>
                        <a:ea typeface="Times New Roman" panose="02020603050405020304" pitchFamily="18" charset="0"/>
                        <a:cs typeface="Arial" panose="020B0604020202020204" pitchFamily="34" charset="0"/>
                      </a:endParaRPr>
                    </a:p>
                  </a:txBody>
                  <a:tcPr marL="58533" marR="58533" marT="0" marB="0" anchor="ctr"/>
                </a:tc>
                <a:extLst>
                  <a:ext uri="{0D108BD9-81ED-4DB2-BD59-A6C34878D82A}">
                    <a16:rowId xmlns:a16="http://schemas.microsoft.com/office/drawing/2014/main" val="246509254"/>
                  </a:ext>
                </a:extLst>
              </a:tr>
            </a:tbl>
          </a:graphicData>
        </a:graphic>
      </p:graphicFrame>
    </p:spTree>
    <p:extLst>
      <p:ext uri="{BB962C8B-B14F-4D97-AF65-F5344CB8AC3E}">
        <p14:creationId xmlns:p14="http://schemas.microsoft.com/office/powerpoint/2010/main" val="1069377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776364"/>
            <a:ext cx="7111240" cy="698868"/>
          </a:xfrm>
        </p:spPr>
        <p:txBody>
          <a:bodyPr/>
          <a:lstStyle/>
          <a:p>
            <a:pPr>
              <a:lnSpc>
                <a:spcPct val="115000"/>
              </a:lnSpc>
              <a:spcAft>
                <a:spcPts val="1000"/>
              </a:spcAft>
            </a:pP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Indications thérapeutiques : </a:t>
            </a:r>
            <a:endParaRPr lang="fr-FR" sz="18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3" name="Text Placeholder 2"/>
          <p:cNvSpPr>
            <a:spLocks noGrp="1"/>
          </p:cNvSpPr>
          <p:nvPr>
            <p:ph type="body" idx="1"/>
          </p:nvPr>
        </p:nvSpPr>
        <p:spPr>
          <a:xfrm>
            <a:off x="292608" y="1463040"/>
            <a:ext cx="8199882" cy="3340608"/>
          </a:xfrm>
        </p:spPr>
        <p:txBody>
          <a:bodyPr/>
          <a:lstStyle/>
          <a:p>
            <a:endParaRPr lang="fr-FR" dirty="0"/>
          </a:p>
          <a:p>
            <a:pPr>
              <a:buNone/>
            </a:pPr>
            <a:r>
              <a:rPr lang="fr-FR" sz="1800" dirty="0">
                <a:latin typeface="Lora" pitchFamily="2" charset="0"/>
              </a:rPr>
              <a:t>Le choix des produits doit tenir compte de la nature des tissus concernés, de la localisation anatomique, de l’état sain ou érodé de la surface cutanée ou muqueuse, du degré d’intensité de l’asepsie recherchée.</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spTree>
    <p:extLst>
      <p:ext uri="{BB962C8B-B14F-4D97-AF65-F5344CB8AC3E}">
        <p14:creationId xmlns:p14="http://schemas.microsoft.com/office/powerpoint/2010/main" val="1226585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814896" y="2513587"/>
            <a:ext cx="4244266" cy="299934"/>
          </a:xfrm>
        </p:spPr>
        <p:txBody>
          <a:bodyPr/>
          <a:lstStyle/>
          <a:p>
            <a:pPr>
              <a:buClr>
                <a:srgbClr val="007DD6"/>
              </a:buClr>
            </a:pPr>
            <a:r>
              <a:rPr lang="fr-FR" kern="12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Usage des antiseptiques en pratique : </a:t>
            </a:r>
            <a:endParaRPr lang="fr-FR" dirty="0">
              <a:latin typeface="Lora" charset="0"/>
              <a:ea typeface="Lora" charset="0"/>
              <a:cs typeface="Lora" charset="0"/>
            </a:endParaRP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14</a:t>
            </a:r>
          </a:p>
        </p:txBody>
      </p:sp>
      <p:graphicFrame>
        <p:nvGraphicFramePr>
          <p:cNvPr id="9" name="Tableau 8">
            <a:extLst>
              <a:ext uri="{FF2B5EF4-FFF2-40B4-BE49-F238E27FC236}">
                <a16:creationId xmlns:a16="http://schemas.microsoft.com/office/drawing/2014/main" id="{75FCB849-3486-AEEA-B3DC-039315D5C286}"/>
              </a:ext>
            </a:extLst>
          </p:cNvPr>
          <p:cNvGraphicFramePr>
            <a:graphicFrameLocks noGrp="1"/>
          </p:cNvGraphicFramePr>
          <p:nvPr>
            <p:extLst>
              <p:ext uri="{D42A27DB-BD31-4B8C-83A1-F6EECF244321}">
                <p14:modId xmlns:p14="http://schemas.microsoft.com/office/powerpoint/2010/main" val="1457523306"/>
              </p:ext>
            </p:extLst>
          </p:nvPr>
        </p:nvGraphicFramePr>
        <p:xfrm>
          <a:off x="529397" y="179022"/>
          <a:ext cx="8465593" cy="4785456"/>
        </p:xfrm>
        <a:graphic>
          <a:graphicData uri="http://schemas.openxmlformats.org/drawingml/2006/table">
            <a:tbl>
              <a:tblPr firstRow="1" firstCol="1" bandRow="1">
                <a:tableStyleId>{5DA37D80-6434-44D0-A028-1B22A696006F}</a:tableStyleId>
              </a:tblPr>
              <a:tblGrid>
                <a:gridCol w="1338683">
                  <a:extLst>
                    <a:ext uri="{9D8B030D-6E8A-4147-A177-3AD203B41FA5}">
                      <a16:colId xmlns:a16="http://schemas.microsoft.com/office/drawing/2014/main" val="1443359893"/>
                    </a:ext>
                  </a:extLst>
                </a:gridCol>
                <a:gridCol w="758029">
                  <a:extLst>
                    <a:ext uri="{9D8B030D-6E8A-4147-A177-3AD203B41FA5}">
                      <a16:colId xmlns:a16="http://schemas.microsoft.com/office/drawing/2014/main" val="3289121569"/>
                    </a:ext>
                  </a:extLst>
                </a:gridCol>
                <a:gridCol w="758029">
                  <a:extLst>
                    <a:ext uri="{9D8B030D-6E8A-4147-A177-3AD203B41FA5}">
                      <a16:colId xmlns:a16="http://schemas.microsoft.com/office/drawing/2014/main" val="4137284575"/>
                    </a:ext>
                  </a:extLst>
                </a:gridCol>
                <a:gridCol w="720646">
                  <a:extLst>
                    <a:ext uri="{9D8B030D-6E8A-4147-A177-3AD203B41FA5}">
                      <a16:colId xmlns:a16="http://schemas.microsoft.com/office/drawing/2014/main" val="413577591"/>
                    </a:ext>
                  </a:extLst>
                </a:gridCol>
                <a:gridCol w="871774">
                  <a:extLst>
                    <a:ext uri="{9D8B030D-6E8A-4147-A177-3AD203B41FA5}">
                      <a16:colId xmlns:a16="http://schemas.microsoft.com/office/drawing/2014/main" val="3219815842"/>
                    </a:ext>
                  </a:extLst>
                </a:gridCol>
                <a:gridCol w="871774">
                  <a:extLst>
                    <a:ext uri="{9D8B030D-6E8A-4147-A177-3AD203B41FA5}">
                      <a16:colId xmlns:a16="http://schemas.microsoft.com/office/drawing/2014/main" val="2855501059"/>
                    </a:ext>
                  </a:extLst>
                </a:gridCol>
                <a:gridCol w="720646">
                  <a:extLst>
                    <a:ext uri="{9D8B030D-6E8A-4147-A177-3AD203B41FA5}">
                      <a16:colId xmlns:a16="http://schemas.microsoft.com/office/drawing/2014/main" val="983622520"/>
                    </a:ext>
                  </a:extLst>
                </a:gridCol>
                <a:gridCol w="871774">
                  <a:extLst>
                    <a:ext uri="{9D8B030D-6E8A-4147-A177-3AD203B41FA5}">
                      <a16:colId xmlns:a16="http://schemas.microsoft.com/office/drawing/2014/main" val="1544304179"/>
                    </a:ext>
                  </a:extLst>
                </a:gridCol>
                <a:gridCol w="871774">
                  <a:extLst>
                    <a:ext uri="{9D8B030D-6E8A-4147-A177-3AD203B41FA5}">
                      <a16:colId xmlns:a16="http://schemas.microsoft.com/office/drawing/2014/main" val="66024683"/>
                    </a:ext>
                  </a:extLst>
                </a:gridCol>
                <a:gridCol w="682464">
                  <a:extLst>
                    <a:ext uri="{9D8B030D-6E8A-4147-A177-3AD203B41FA5}">
                      <a16:colId xmlns:a16="http://schemas.microsoft.com/office/drawing/2014/main" val="3878563826"/>
                    </a:ext>
                  </a:extLst>
                </a:gridCol>
              </a:tblGrid>
              <a:tr h="157931">
                <a:tc rowSpan="2">
                  <a:txBody>
                    <a:bodyPr/>
                    <a:lstStyle/>
                    <a:p>
                      <a:pPr algn="l">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gridSpan="5">
                  <a:txBody>
                    <a:bodyPr/>
                    <a:lstStyle/>
                    <a:p>
                      <a:pPr algn="ctr">
                        <a:lnSpc>
                          <a:spcPct val="115000"/>
                        </a:lnSpc>
                        <a:spcAft>
                          <a:spcPts val="1000"/>
                        </a:spcAft>
                      </a:pPr>
                      <a:r>
                        <a:rPr lang="fr-FR" sz="1000" b="1">
                          <a:effectLst/>
                        </a:rPr>
                        <a:t>PEAU</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a:lnSpc>
                          <a:spcPct val="115000"/>
                        </a:lnSpc>
                        <a:spcAft>
                          <a:spcPts val="1000"/>
                        </a:spcAft>
                      </a:pPr>
                      <a:r>
                        <a:rPr lang="fr-FR" sz="1000" b="1">
                          <a:effectLst/>
                        </a:rPr>
                        <a:t>MUQUEUSE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3821936254"/>
                  </a:ext>
                </a:extLst>
              </a:tr>
              <a:tr h="333944">
                <a:tc vMerge="1">
                  <a:txBody>
                    <a:bodyPr/>
                    <a:lstStyle/>
                    <a:p>
                      <a:endParaRPr lang="fr-FR"/>
                    </a:p>
                  </a:txBody>
                  <a:tcPr/>
                </a:tc>
                <a:tc>
                  <a:txBody>
                    <a:bodyPr/>
                    <a:lstStyle/>
                    <a:p>
                      <a:pPr algn="ctr">
                        <a:lnSpc>
                          <a:spcPct val="115000"/>
                        </a:lnSpc>
                        <a:spcAft>
                          <a:spcPts val="1000"/>
                        </a:spcAft>
                      </a:pPr>
                      <a:r>
                        <a:rPr lang="fr-FR" sz="1000" b="1">
                          <a:effectLst/>
                        </a:rPr>
                        <a:t>Mains</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Champ opérât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Plaie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Brulures</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Dermatose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ORL</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Ophtalmologie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l">
                        <a:lnSpc>
                          <a:spcPct val="115000"/>
                        </a:lnSpc>
                        <a:spcAft>
                          <a:spcPts val="1000"/>
                        </a:spcAft>
                      </a:pPr>
                      <a:r>
                        <a:rPr lang="fr-FR" sz="1000" b="1">
                          <a:effectLst/>
                        </a:rPr>
                        <a:t>Gynécologie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Cavités internes</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2859695127"/>
                  </a:ext>
                </a:extLst>
              </a:tr>
              <a:tr h="244679">
                <a:tc>
                  <a:txBody>
                    <a:bodyPr/>
                    <a:lstStyle/>
                    <a:p>
                      <a:pPr algn="l">
                        <a:lnSpc>
                          <a:spcPct val="115000"/>
                        </a:lnSpc>
                        <a:spcAft>
                          <a:spcPts val="1000"/>
                        </a:spcAft>
                      </a:pPr>
                      <a:r>
                        <a:rPr lang="fr-FR" sz="1000" b="1">
                          <a:effectLst/>
                        </a:rPr>
                        <a:t>Alcool éthylique 70%</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515794211"/>
                  </a:ext>
                </a:extLst>
              </a:tr>
              <a:tr h="371024">
                <a:tc>
                  <a:txBody>
                    <a:bodyPr/>
                    <a:lstStyle/>
                    <a:p>
                      <a:pPr algn="l">
                        <a:lnSpc>
                          <a:spcPct val="115000"/>
                        </a:lnSpc>
                        <a:spcAft>
                          <a:spcPts val="1000"/>
                        </a:spcAft>
                      </a:pPr>
                      <a:r>
                        <a:rPr lang="fr-FR" sz="1000" b="1" dirty="0">
                          <a:effectLst/>
                        </a:rPr>
                        <a:t>Liquide de </a:t>
                      </a:r>
                      <a:r>
                        <a:rPr lang="fr-FR" sz="1000" b="1" dirty="0" err="1">
                          <a:effectLst/>
                        </a:rPr>
                        <a:t>Labarraque</a:t>
                      </a:r>
                      <a:r>
                        <a:rPr lang="fr-FR" sz="1000" b="1" dirty="0">
                          <a:effectLst/>
                        </a:rPr>
                        <a:t> ou Dakin</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dirty="0">
                          <a:effectLst/>
                        </a:rPr>
                        <a:t> </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834370756"/>
                  </a:ext>
                </a:extLst>
              </a:tr>
              <a:tr h="244679">
                <a:tc>
                  <a:txBody>
                    <a:bodyPr/>
                    <a:lstStyle/>
                    <a:p>
                      <a:pPr algn="l">
                        <a:lnSpc>
                          <a:spcPct val="115000"/>
                        </a:lnSpc>
                        <a:spcAft>
                          <a:spcPts val="1000"/>
                        </a:spcAft>
                      </a:pPr>
                      <a:r>
                        <a:rPr lang="fr-FR" sz="1000" b="1">
                          <a:effectLst/>
                        </a:rPr>
                        <a:t>Alcool iodé ou teinture d’iode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1944455987"/>
                  </a:ext>
                </a:extLst>
              </a:tr>
              <a:tr h="371024">
                <a:tc>
                  <a:txBody>
                    <a:bodyPr/>
                    <a:lstStyle/>
                    <a:p>
                      <a:pPr algn="l">
                        <a:lnSpc>
                          <a:spcPct val="115000"/>
                        </a:lnSpc>
                        <a:spcAft>
                          <a:spcPts val="1000"/>
                        </a:spcAft>
                      </a:pPr>
                      <a:r>
                        <a:rPr lang="fr-FR" sz="1000" b="1" dirty="0">
                          <a:solidFill>
                            <a:srgbClr val="FF0000"/>
                          </a:solidFill>
                          <a:effectLst/>
                        </a:rPr>
                        <a:t>(Povidone-iodine ) bétadine</a:t>
                      </a:r>
                      <a:endParaRPr lang="fr-FR" sz="1000" b="1"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1760312301"/>
                  </a:ext>
                </a:extLst>
              </a:tr>
              <a:tr h="157931">
                <a:tc>
                  <a:txBody>
                    <a:bodyPr/>
                    <a:lstStyle/>
                    <a:p>
                      <a:pPr algn="l">
                        <a:lnSpc>
                          <a:spcPct val="115000"/>
                        </a:lnSpc>
                        <a:spcAft>
                          <a:spcPts val="1000"/>
                        </a:spcAft>
                      </a:pPr>
                      <a:r>
                        <a:rPr lang="fr-FR" sz="1000" b="1">
                          <a:effectLst/>
                        </a:rPr>
                        <a:t>Eau oxygénée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637258413"/>
                  </a:ext>
                </a:extLst>
              </a:tr>
              <a:tr h="244679">
                <a:tc>
                  <a:txBody>
                    <a:bodyPr/>
                    <a:lstStyle/>
                    <a:p>
                      <a:pPr algn="l">
                        <a:lnSpc>
                          <a:spcPct val="115000"/>
                        </a:lnSpc>
                        <a:spcAft>
                          <a:spcPts val="1000"/>
                        </a:spcAft>
                      </a:pPr>
                      <a:r>
                        <a:rPr lang="fr-FR" sz="1000" b="1" dirty="0" err="1">
                          <a:effectLst/>
                        </a:rPr>
                        <a:t>Permenganate</a:t>
                      </a:r>
                      <a:r>
                        <a:rPr lang="fr-FR" sz="1000" b="1" dirty="0">
                          <a:effectLst/>
                        </a:rPr>
                        <a:t> de potassium</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1271426119"/>
                  </a:ext>
                </a:extLst>
              </a:tr>
              <a:tr h="244679">
                <a:tc>
                  <a:txBody>
                    <a:bodyPr/>
                    <a:lstStyle/>
                    <a:p>
                      <a:pPr algn="l">
                        <a:lnSpc>
                          <a:spcPct val="115000"/>
                        </a:lnSpc>
                        <a:spcAft>
                          <a:spcPts val="1000"/>
                        </a:spcAft>
                      </a:pPr>
                      <a:r>
                        <a:rPr lang="fr-FR" sz="1000" b="1">
                          <a:effectLst/>
                        </a:rPr>
                        <a:t>Sels de cuivre et de zinc</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1511904354"/>
                  </a:ext>
                </a:extLst>
              </a:tr>
              <a:tr h="157931">
                <a:tc>
                  <a:txBody>
                    <a:bodyPr/>
                    <a:lstStyle/>
                    <a:p>
                      <a:pPr algn="l">
                        <a:lnSpc>
                          <a:spcPct val="115000"/>
                        </a:lnSpc>
                        <a:spcAft>
                          <a:spcPts val="1000"/>
                        </a:spcAft>
                      </a:pPr>
                      <a:r>
                        <a:rPr lang="fr-FR" sz="1000" b="1">
                          <a:effectLst/>
                        </a:rPr>
                        <a:t>Sels d’argent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3093226782"/>
                  </a:ext>
                </a:extLst>
              </a:tr>
              <a:tr h="244679">
                <a:tc>
                  <a:txBody>
                    <a:bodyPr/>
                    <a:lstStyle/>
                    <a:p>
                      <a:pPr algn="l">
                        <a:lnSpc>
                          <a:spcPct val="115000"/>
                        </a:lnSpc>
                        <a:spcAft>
                          <a:spcPts val="1000"/>
                        </a:spcAft>
                      </a:pPr>
                      <a:r>
                        <a:rPr lang="fr-FR" sz="1000" b="1">
                          <a:effectLst/>
                        </a:rPr>
                        <a:t>Sels de mercure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42243912"/>
                  </a:ext>
                </a:extLst>
              </a:tr>
              <a:tr h="244679">
                <a:tc>
                  <a:txBody>
                    <a:bodyPr/>
                    <a:lstStyle/>
                    <a:p>
                      <a:pPr algn="l">
                        <a:lnSpc>
                          <a:spcPct val="115000"/>
                        </a:lnSpc>
                        <a:spcAft>
                          <a:spcPts val="1000"/>
                        </a:spcAft>
                      </a:pPr>
                      <a:r>
                        <a:rPr lang="fr-FR" sz="1000" b="1" dirty="0">
                          <a:effectLst/>
                        </a:rPr>
                        <a:t>Ammonium quaternaire</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1745345967"/>
                  </a:ext>
                </a:extLst>
              </a:tr>
              <a:tr h="157931">
                <a:tc>
                  <a:txBody>
                    <a:bodyPr/>
                    <a:lstStyle/>
                    <a:p>
                      <a:pPr algn="l">
                        <a:lnSpc>
                          <a:spcPct val="115000"/>
                        </a:lnSpc>
                        <a:spcAft>
                          <a:spcPts val="1000"/>
                        </a:spcAft>
                      </a:pPr>
                      <a:r>
                        <a:rPr lang="fr-FR" sz="1000" b="1">
                          <a:effectLst/>
                        </a:rPr>
                        <a:t>Savons acides</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552038485"/>
                  </a:ext>
                </a:extLst>
              </a:tr>
              <a:tr h="157931">
                <a:tc>
                  <a:txBody>
                    <a:bodyPr/>
                    <a:lstStyle/>
                    <a:p>
                      <a:pPr algn="l">
                        <a:lnSpc>
                          <a:spcPct val="115000"/>
                        </a:lnSpc>
                        <a:spcAft>
                          <a:spcPts val="1000"/>
                        </a:spcAft>
                      </a:pPr>
                      <a:r>
                        <a:rPr lang="fr-FR" sz="1000" b="1" dirty="0">
                          <a:solidFill>
                            <a:srgbClr val="FF0000"/>
                          </a:solidFill>
                          <a:effectLst/>
                        </a:rPr>
                        <a:t>Chlorhexidine</a:t>
                      </a:r>
                      <a:endParaRPr lang="fr-FR" sz="1000" b="1"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3398541953"/>
                  </a:ext>
                </a:extLst>
              </a:tr>
              <a:tr h="195789">
                <a:tc>
                  <a:txBody>
                    <a:bodyPr/>
                    <a:lstStyle/>
                    <a:p>
                      <a:pPr algn="l">
                        <a:lnSpc>
                          <a:spcPct val="115000"/>
                        </a:lnSpc>
                        <a:spcAft>
                          <a:spcPts val="1000"/>
                        </a:spcAft>
                      </a:pPr>
                      <a:r>
                        <a:rPr lang="fr-FR" sz="1000" b="1">
                          <a:effectLst/>
                        </a:rPr>
                        <a:t>Tricholocarbinilides</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4293966517"/>
                  </a:ext>
                </a:extLst>
              </a:tr>
              <a:tr h="157931">
                <a:tc>
                  <a:txBody>
                    <a:bodyPr/>
                    <a:lstStyle/>
                    <a:p>
                      <a:pPr algn="l">
                        <a:lnSpc>
                          <a:spcPct val="115000"/>
                        </a:lnSpc>
                        <a:spcAft>
                          <a:spcPts val="1000"/>
                        </a:spcAft>
                      </a:pPr>
                      <a:r>
                        <a:rPr lang="fr-FR" sz="1000" b="1">
                          <a:effectLst/>
                        </a:rPr>
                        <a:t>Hexamidine</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2218107905"/>
                  </a:ext>
                </a:extLst>
              </a:tr>
              <a:tr h="157931">
                <a:tc>
                  <a:txBody>
                    <a:bodyPr/>
                    <a:lstStyle/>
                    <a:p>
                      <a:pPr algn="l">
                        <a:lnSpc>
                          <a:spcPct val="115000"/>
                        </a:lnSpc>
                        <a:spcAft>
                          <a:spcPts val="1000"/>
                        </a:spcAft>
                      </a:pPr>
                      <a:r>
                        <a:rPr lang="fr-FR" sz="1000" b="1">
                          <a:effectLst/>
                        </a:rPr>
                        <a:t>Colorants</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2995362154"/>
                  </a:ext>
                </a:extLst>
              </a:tr>
              <a:tr h="371024">
                <a:tc>
                  <a:txBody>
                    <a:bodyPr/>
                    <a:lstStyle/>
                    <a:p>
                      <a:pPr algn="l">
                        <a:lnSpc>
                          <a:spcPct val="115000"/>
                        </a:lnSpc>
                        <a:spcAft>
                          <a:spcPts val="1000"/>
                        </a:spcAft>
                      </a:pPr>
                      <a:r>
                        <a:rPr lang="fr-FR" sz="1000" b="1" dirty="0" err="1">
                          <a:effectLst/>
                        </a:rPr>
                        <a:t>Noxytioline</a:t>
                      </a:r>
                      <a:r>
                        <a:rPr lang="fr-FR" sz="1000" b="1" dirty="0">
                          <a:effectLst/>
                        </a:rPr>
                        <a:t> et </a:t>
                      </a:r>
                      <a:r>
                        <a:rPr lang="fr-FR" sz="1000" b="1" dirty="0" err="1">
                          <a:effectLst/>
                        </a:rPr>
                        <a:t>Taurolidine</a:t>
                      </a:r>
                      <a:r>
                        <a:rPr lang="fr-FR" sz="1000" b="1" dirty="0">
                          <a:effectLst/>
                        </a:rPr>
                        <a:t> (Aldéhydes)</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dirty="0">
                          <a:effectLst/>
                        </a:rPr>
                        <a:t> </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dirty="0">
                          <a:effectLst/>
                        </a:rPr>
                        <a:t> </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a:effectLst/>
                        </a:rPr>
                        <a:t> </a:t>
                      </a:r>
                      <a:endParaRPr lang="fr-FR" sz="1000" b="1">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tc>
                  <a:txBody>
                    <a:bodyPr/>
                    <a:lstStyle/>
                    <a:p>
                      <a:pPr algn="ctr">
                        <a:lnSpc>
                          <a:spcPct val="115000"/>
                        </a:lnSpc>
                        <a:spcAft>
                          <a:spcPts val="1000"/>
                        </a:spcAft>
                      </a:pPr>
                      <a:r>
                        <a:rPr lang="fr-FR" sz="1000" b="1" dirty="0">
                          <a:effectLst/>
                        </a:rPr>
                        <a:t>+</a:t>
                      </a:r>
                      <a:endParaRPr lang="fr-FR" sz="1000" b="1" dirty="0">
                        <a:effectLst/>
                        <a:latin typeface="Calibri" panose="020F0502020204030204" pitchFamily="34" charset="0"/>
                        <a:ea typeface="Times New Roman" panose="02020603050405020304" pitchFamily="18" charset="0"/>
                        <a:cs typeface="Arial" panose="020B0604020202020204" pitchFamily="34" charset="0"/>
                      </a:endParaRPr>
                    </a:p>
                  </a:txBody>
                  <a:tcPr marL="36502" marR="36502" marT="0" marB="0" anchor="ctr"/>
                </a:tc>
                <a:extLst>
                  <a:ext uri="{0D108BD9-81ED-4DB2-BD59-A6C34878D82A}">
                    <a16:rowId xmlns:a16="http://schemas.microsoft.com/office/drawing/2014/main" val="3905275401"/>
                  </a:ext>
                </a:extLst>
              </a:tr>
            </a:tbl>
          </a:graphicData>
        </a:graphic>
      </p:graphicFrame>
    </p:spTree>
    <p:extLst>
      <p:ext uri="{BB962C8B-B14F-4D97-AF65-F5344CB8AC3E}">
        <p14:creationId xmlns:p14="http://schemas.microsoft.com/office/powerpoint/2010/main" val="3457637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2225" y="1693523"/>
            <a:ext cx="5816957" cy="1159799"/>
          </a:xfrm>
        </p:spPr>
        <p:txBody>
          <a:bodyPr/>
          <a:lstStyle/>
          <a:p>
            <a:pPr>
              <a:buClr>
                <a:srgbClr val="007DD6"/>
              </a:buClr>
            </a:pPr>
            <a:r>
              <a:rPr lang="fr-FR" dirty="0">
                <a:latin typeface="Lora" charset="0"/>
                <a:ea typeface="Lora" charset="0"/>
                <a:cs typeface="Lora" charset="0"/>
              </a:rPr>
              <a:t>La stérilisation</a:t>
            </a:r>
          </a:p>
        </p:txBody>
      </p:sp>
      <p:sp>
        <p:nvSpPr>
          <p:cNvPr id="10" name="TextBox 9"/>
          <p:cNvSpPr txBox="1"/>
          <p:nvPr/>
        </p:nvSpPr>
        <p:spPr>
          <a:xfrm>
            <a:off x="1229697" y="2339092"/>
            <a:ext cx="35618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4</a:t>
            </a:r>
            <a:endParaRPr lang="fr-FR" sz="2000" b="1" dirty="0">
              <a:solidFill>
                <a:schemeClr val="bg1"/>
              </a:solidFill>
              <a:latin typeface="Lora" charset="0"/>
              <a:ea typeface="Lora" charset="0"/>
              <a:cs typeface="Lora" charset="0"/>
            </a:endParaRPr>
          </a:p>
        </p:txBody>
      </p:sp>
      <p:sp>
        <p:nvSpPr>
          <p:cNvPr id="6" name="Oval 5"/>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22</a:t>
            </a:r>
          </a:p>
        </p:txBody>
      </p:sp>
      <p:pic>
        <p:nvPicPr>
          <p:cNvPr id="3" name="Image 2">
            <a:extLst>
              <a:ext uri="{FF2B5EF4-FFF2-40B4-BE49-F238E27FC236}">
                <a16:creationId xmlns:a16="http://schemas.microsoft.com/office/drawing/2014/main" id="{12874E87-B197-D321-36F8-45B868EB790F}"/>
              </a:ext>
            </a:extLst>
          </p:cNvPr>
          <p:cNvPicPr>
            <a:picLocks noChangeAspect="1"/>
          </p:cNvPicPr>
          <p:nvPr/>
        </p:nvPicPr>
        <p:blipFill>
          <a:blip r:embed="rId3"/>
          <a:srcRect/>
          <a:stretch>
            <a:fillRect/>
          </a:stretch>
        </p:blipFill>
        <p:spPr bwMode="auto">
          <a:xfrm>
            <a:off x="6244697" y="601478"/>
            <a:ext cx="2016035" cy="1970271"/>
          </a:xfrm>
          <a:prstGeom prst="rect">
            <a:avLst/>
          </a:prstGeom>
          <a:noFill/>
          <a:ln w="9525">
            <a:noFill/>
            <a:miter lim="800000"/>
            <a:headEnd/>
            <a:tailEnd/>
          </a:ln>
        </p:spPr>
      </p:pic>
      <p:pic>
        <p:nvPicPr>
          <p:cNvPr id="4" name="Image 3">
            <a:extLst>
              <a:ext uri="{FF2B5EF4-FFF2-40B4-BE49-F238E27FC236}">
                <a16:creationId xmlns:a16="http://schemas.microsoft.com/office/drawing/2014/main" id="{73695B31-6FB7-CCC3-241E-398C0B96A7CF}"/>
              </a:ext>
            </a:extLst>
          </p:cNvPr>
          <p:cNvPicPr>
            <a:picLocks noChangeAspect="1"/>
          </p:cNvPicPr>
          <p:nvPr/>
        </p:nvPicPr>
        <p:blipFill>
          <a:blip r:embed="rId4" cstate="print"/>
          <a:srcRect/>
          <a:stretch>
            <a:fillRect/>
          </a:stretch>
        </p:blipFill>
        <p:spPr bwMode="auto">
          <a:xfrm>
            <a:off x="5943601" y="2617273"/>
            <a:ext cx="2331922" cy="2442966"/>
          </a:xfrm>
          <a:prstGeom prst="rect">
            <a:avLst/>
          </a:prstGeom>
          <a:noFill/>
          <a:ln w="9525">
            <a:noFill/>
            <a:miter lim="800000"/>
            <a:headEnd/>
            <a:tailEnd/>
          </a:ln>
        </p:spPr>
      </p:pic>
      <p:pic>
        <p:nvPicPr>
          <p:cNvPr id="5" name="Image 4">
            <a:extLst>
              <a:ext uri="{FF2B5EF4-FFF2-40B4-BE49-F238E27FC236}">
                <a16:creationId xmlns:a16="http://schemas.microsoft.com/office/drawing/2014/main" id="{D2B5523D-13B2-2D95-8FA6-39C3D9D0D5A0}"/>
              </a:ext>
            </a:extLst>
          </p:cNvPr>
          <p:cNvPicPr>
            <a:picLocks noChangeAspect="1"/>
          </p:cNvPicPr>
          <p:nvPr/>
        </p:nvPicPr>
        <p:blipFill>
          <a:blip r:embed="rId5"/>
          <a:srcRect/>
          <a:stretch>
            <a:fillRect/>
          </a:stretch>
        </p:blipFill>
        <p:spPr bwMode="auto">
          <a:xfrm>
            <a:off x="3409840" y="2970274"/>
            <a:ext cx="2030824" cy="2135941"/>
          </a:xfrm>
          <a:prstGeom prst="rect">
            <a:avLst/>
          </a:prstGeom>
          <a:noFill/>
          <a:ln w="9525">
            <a:noFill/>
            <a:miter lim="800000"/>
            <a:headEnd/>
            <a:tailEnd/>
          </a:ln>
        </p:spPr>
      </p:pic>
    </p:spTree>
    <p:extLst>
      <p:ext uri="{BB962C8B-B14F-4D97-AF65-F5344CB8AC3E}">
        <p14:creationId xmlns:p14="http://schemas.microsoft.com/office/powerpoint/2010/main" val="651593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334677" y="1605632"/>
            <a:ext cx="8474645" cy="2639264"/>
          </a:xfrm>
        </p:spPr>
        <p:txBody>
          <a:bodyPr/>
          <a:lstStyle/>
          <a:p>
            <a:pPr marL="342900" indent="-342900">
              <a:buClr>
                <a:srgbClr val="007DD6"/>
              </a:buClr>
              <a:buFont typeface="Arial" panose="020B0604020202020204" pitchFamily="34" charset="0"/>
              <a:buChar char="•"/>
            </a:pPr>
            <a:r>
              <a:rPr lang="fr-FR" sz="2000" dirty="0">
                <a:latin typeface="Lora" panose="02000503000000020004"/>
              </a:rPr>
              <a:t>La stérilisation est un niveau de désinfection garantissant la </a:t>
            </a:r>
            <a:r>
              <a:rPr lang="fr-FR" sz="2000" b="1" dirty="0">
                <a:latin typeface="Lora" panose="02000503000000020004"/>
              </a:rPr>
              <a:t>destruction complète</a:t>
            </a:r>
            <a:r>
              <a:rPr lang="fr-FR" sz="2000" dirty="0">
                <a:latin typeface="Lora" panose="02000503000000020004"/>
              </a:rPr>
              <a:t> de tous les microorganismes, y compris les endospores bactériennes présents sur un milieu inerte contaminés. </a:t>
            </a:r>
          </a:p>
          <a:p>
            <a:pPr marL="342900" indent="-342900">
              <a:buClr>
                <a:srgbClr val="007DD6"/>
              </a:buClr>
              <a:buFont typeface="Arial" panose="020B0604020202020204" pitchFamily="34" charset="0"/>
              <a:buChar char="•"/>
            </a:pPr>
            <a:r>
              <a:rPr lang="fr-FR" sz="2000" dirty="0">
                <a:latin typeface="Lora" panose="02000503000000020004"/>
              </a:rPr>
              <a:t>Ce niveau élevé de décontamination nécessite </a:t>
            </a:r>
            <a:r>
              <a:rPr lang="fr-FR" sz="2000" b="1" dirty="0">
                <a:latin typeface="Lora" panose="02000503000000020004"/>
              </a:rPr>
              <a:t>du matériel spécialisé </a:t>
            </a:r>
            <a:r>
              <a:rPr lang="fr-FR" sz="2000" dirty="0">
                <a:latin typeface="Lora" panose="02000503000000020004"/>
              </a:rPr>
              <a:t>et une surveillance vigilante pour être efficace.</a:t>
            </a:r>
          </a:p>
        </p:txBody>
      </p:sp>
    </p:spTree>
    <p:extLst>
      <p:ext uri="{BB962C8B-B14F-4D97-AF65-F5344CB8AC3E}">
        <p14:creationId xmlns:p14="http://schemas.microsoft.com/office/powerpoint/2010/main" val="3809454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2000" dirty="0">
                <a:latin typeface="Lora" panose="02000503000000020004"/>
              </a:rPr>
              <a:t>À la fin de l’opération, on obtient une réduction de l’inoculum de départ de l’ordre de 6 log (plus qu'un germe sur 1 million présent après stérilisation).</a:t>
            </a:r>
          </a:p>
          <a:p>
            <a:pPr marL="342900" indent="-342900">
              <a:buClr>
                <a:srgbClr val="007DD6"/>
              </a:buClr>
              <a:buFont typeface="Arial" panose="020B0604020202020204" pitchFamily="34" charset="0"/>
              <a:buChar char="•"/>
            </a:pPr>
            <a:r>
              <a:rPr lang="fr-FR" sz="2000" dirty="0">
                <a:latin typeface="Lora" panose="02000503000000020004"/>
              </a:rPr>
              <a:t>On peut aussi utiliser certains désinfectants de niveau élevé qui sont sporicides, mais la stérilisation exige alors une durée de traitement ou de contact beaucoup plus longue. </a:t>
            </a:r>
          </a:p>
          <a:p>
            <a:pPr marL="342900" indent="-342900">
              <a:buClr>
                <a:srgbClr val="007DD6"/>
              </a:buClr>
              <a:buFont typeface="Arial" panose="020B0604020202020204" pitchFamily="34" charset="0"/>
              <a:buChar char="•"/>
            </a:pPr>
            <a:r>
              <a:rPr lang="fr-FR" sz="2000" dirty="0">
                <a:latin typeface="Lora" panose="02000503000000020004"/>
              </a:rPr>
              <a:t>La réalisation seule de tests microbiologiques ne permet pas de garantir la stérilité d’un produit. L’assurance de la stérilité passe également par l’application de procédures ainsi que de procédés de lavage/désinfection correctement validés. </a:t>
            </a:r>
          </a:p>
        </p:txBody>
      </p:sp>
    </p:spTree>
    <p:extLst>
      <p:ext uri="{BB962C8B-B14F-4D97-AF65-F5344CB8AC3E}">
        <p14:creationId xmlns:p14="http://schemas.microsoft.com/office/powerpoint/2010/main" val="1320034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2000" dirty="0">
                <a:latin typeface="Lora" panose="02000503000000020004"/>
              </a:rPr>
              <a:t>La désinfection ou la stérilisation de matériel médical propre permet d’éliminer les organismes pathogènes présents et d’éviter leurs transmissions à d’autres malades, au travers d’outils médicaux. Cela a aussi pour but d’éviter la transmission aux professionnels de santé et à l’environnement. </a:t>
            </a:r>
          </a:p>
          <a:p>
            <a:pPr marL="342900" indent="-342900">
              <a:buClr>
                <a:srgbClr val="007DD6"/>
              </a:buClr>
              <a:buFont typeface="Arial" panose="020B0604020202020204" pitchFamily="34" charset="0"/>
              <a:buChar char="•"/>
            </a:pPr>
            <a:r>
              <a:rPr lang="fr-FR" sz="2000" dirty="0">
                <a:latin typeface="Lora" panose="02000503000000020004"/>
              </a:rPr>
              <a:t>La désinfection et la stérilisation sont donc des étapes essentielles à tout programme de biosécurité en cabinet médical. Afin de bien comprendre l’ensemble du processus de décontamination, de nettoyage, de stérilisation et de désinfection, il est important de bien comprendre les mots, et éviter ainsi les quiproquos.</a:t>
            </a:r>
          </a:p>
        </p:txBody>
      </p:sp>
    </p:spTree>
    <p:extLst>
      <p:ext uri="{BB962C8B-B14F-4D97-AF65-F5344CB8AC3E}">
        <p14:creationId xmlns:p14="http://schemas.microsoft.com/office/powerpoint/2010/main" val="1622792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2000" dirty="0">
                <a:latin typeface="Lora" panose="02000503000000020004"/>
              </a:rPr>
              <a:t>Est considéré comme stérile tout appareil, tout dispositif médical, tout instrument médical ou tout consommable médical, libre de tout micro-organismes vivants et virus. Un objet est soit stérile, soit non stérile ; on dit que la définition de stérile est absolue et catégorique. Il est impossible d’être à moitié stérile. On peut donc comprendre que la procédure complète de stérilisation a pour but de venir tuer tous les micro-organismes et toutes les spores bactériennes.</a:t>
            </a:r>
          </a:p>
          <a:p>
            <a:pPr marL="342900" indent="-342900">
              <a:buClr>
                <a:srgbClr val="007DD6"/>
              </a:buClr>
              <a:buFont typeface="Arial" panose="020B0604020202020204" pitchFamily="34" charset="0"/>
              <a:buChar char="•"/>
            </a:pPr>
            <a:endParaRPr lang="fr-FR" sz="2000" dirty="0">
              <a:latin typeface="Lora" panose="02000503000000020004"/>
            </a:endParaRPr>
          </a:p>
        </p:txBody>
      </p:sp>
    </p:spTree>
    <p:extLst>
      <p:ext uri="{BB962C8B-B14F-4D97-AF65-F5344CB8AC3E}">
        <p14:creationId xmlns:p14="http://schemas.microsoft.com/office/powerpoint/2010/main" val="3202759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600" dirty="0">
                <a:latin typeface="Lora" panose="02000503000000020004"/>
              </a:rPr>
              <a:t>La stérilisation des dispositifs médicaux peut se faire au travers de différentes méthodes :</a:t>
            </a:r>
          </a:p>
          <a:p>
            <a:pPr>
              <a:buClr>
                <a:srgbClr val="007DD6"/>
              </a:buClr>
              <a:buNone/>
            </a:pPr>
            <a:r>
              <a:rPr lang="fr-FR" sz="1600" dirty="0">
                <a:latin typeface="Lora" panose="02000503000000020004"/>
              </a:rPr>
              <a:t>•La chaleur </a:t>
            </a:r>
          </a:p>
          <a:p>
            <a:pPr>
              <a:buClr>
                <a:srgbClr val="007DD6"/>
              </a:buClr>
              <a:buNone/>
            </a:pPr>
            <a:r>
              <a:rPr lang="fr-FR" sz="1600" dirty="0">
                <a:latin typeface="Lora" panose="02000503000000020004"/>
              </a:rPr>
              <a:t>•Le gaz d’oxyde d’éthylène,</a:t>
            </a:r>
          </a:p>
          <a:p>
            <a:pPr>
              <a:buClr>
                <a:srgbClr val="007DD6"/>
              </a:buClr>
              <a:buNone/>
            </a:pPr>
            <a:r>
              <a:rPr lang="fr-FR" sz="1600" dirty="0">
                <a:latin typeface="Lora" panose="02000503000000020004"/>
              </a:rPr>
              <a:t>•Le peroxyde d’hydrogène gazeux,</a:t>
            </a:r>
          </a:p>
          <a:p>
            <a:pPr>
              <a:buClr>
                <a:srgbClr val="007DD6"/>
              </a:buClr>
              <a:buNone/>
            </a:pPr>
            <a:r>
              <a:rPr lang="fr-FR" sz="1600" dirty="0">
                <a:latin typeface="Lora" panose="02000503000000020004"/>
              </a:rPr>
              <a:t>• les radiation ionisant et le rayonnement U.V</a:t>
            </a:r>
          </a:p>
          <a:p>
            <a:pPr>
              <a:buClr>
                <a:srgbClr val="007DD6"/>
              </a:buClr>
              <a:buNone/>
            </a:pPr>
            <a:r>
              <a:rPr lang="fr-FR" sz="1600" dirty="0">
                <a:latin typeface="Lora" panose="02000503000000020004"/>
              </a:rPr>
              <a:t>•L’ozone</a:t>
            </a:r>
          </a:p>
          <a:p>
            <a:pPr>
              <a:buClr>
                <a:srgbClr val="007DD6"/>
              </a:buClr>
              <a:buNone/>
            </a:pPr>
            <a:r>
              <a:rPr lang="fr-FR" sz="1600" dirty="0">
                <a:effectLst/>
                <a:latin typeface="Times New Roman" panose="02020603050405020304" pitchFamily="18" charset="0"/>
                <a:ea typeface="Times New Roman" panose="02020603050405020304" pitchFamily="18" charset="0"/>
                <a:cs typeface="Arial" panose="020B0604020202020204" pitchFamily="34" charset="0"/>
              </a:rPr>
              <a:t>Une fois le processus de stérilisation terminée, la probabilité de survie d’un micro-organisme doit être inférieur à un part/ million ; soit 10</a:t>
            </a:r>
            <a:r>
              <a:rPr lang="fr-FR" sz="1600" baseline="30000" dirty="0">
                <a:effectLst/>
                <a:latin typeface="Times New Roman" panose="02020603050405020304" pitchFamily="18" charset="0"/>
                <a:ea typeface="Times New Roman" panose="02020603050405020304" pitchFamily="18" charset="0"/>
                <a:cs typeface="Arial" panose="020B0604020202020204" pitchFamily="34" charset="0"/>
              </a:rPr>
              <a:t>6</a:t>
            </a:r>
            <a:r>
              <a:rPr lang="fr-FR" sz="1600" dirty="0">
                <a:effectLst/>
                <a:latin typeface="Times New Roman" panose="02020603050405020304" pitchFamily="18" charset="0"/>
                <a:ea typeface="Times New Roman" panose="02020603050405020304" pitchFamily="18" charset="0"/>
                <a:cs typeface="Arial" panose="020B0604020202020204" pitchFamily="34" charset="0"/>
              </a:rPr>
              <a:t>. Lorsqu’on atteint ce seuil, on parle alors d’un </a:t>
            </a:r>
            <a:r>
              <a:rPr lang="fr-FR" sz="1600" i="1" dirty="0">
                <a:effectLst/>
                <a:latin typeface="Times New Roman" panose="02020603050405020304" pitchFamily="18" charset="0"/>
                <a:ea typeface="Times New Roman" panose="02020603050405020304" pitchFamily="18" charset="0"/>
                <a:cs typeface="Arial" panose="020B0604020202020204" pitchFamily="34" charset="0"/>
              </a:rPr>
              <a:t>niveau de stérilité assuré</a:t>
            </a:r>
            <a:r>
              <a:rPr lang="fr-FR"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1600" dirty="0">
              <a:effectLst/>
              <a:latin typeface="Calibri" panose="020F050202020403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081938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800" b="1" dirty="0">
                <a:latin typeface="Lora" panose="02000503000000020004"/>
              </a:rPr>
              <a:t>Moyens de stérilisation</a:t>
            </a:r>
          </a:p>
          <a:p>
            <a:pPr marL="342900" indent="-342900">
              <a:buClr>
                <a:srgbClr val="007DD6"/>
              </a:buClr>
              <a:buFont typeface="Arial" panose="020B0604020202020204" pitchFamily="34" charset="0"/>
              <a:buChar char="•"/>
            </a:pPr>
            <a:r>
              <a:rPr lang="fr-FR" sz="1800" b="1" dirty="0">
                <a:latin typeface="Lora" panose="02000503000000020004"/>
              </a:rPr>
              <a:t>  Stérilisation par la chaleur pour les instruments qui résistent à la chaleur</a:t>
            </a:r>
          </a:p>
          <a:p>
            <a:pPr marL="342900" indent="-342900">
              <a:buClr>
                <a:srgbClr val="007DD6"/>
              </a:buClr>
              <a:buFont typeface="Arial" panose="020B0604020202020204" pitchFamily="34" charset="0"/>
              <a:buChar char="•"/>
            </a:pPr>
            <a:r>
              <a:rPr lang="fr-FR" sz="1800" b="1" dirty="0">
                <a:latin typeface="Lora" panose="02000503000000020004"/>
              </a:rPr>
              <a:t>-Stérilisation par la chaleur sèche ; </a:t>
            </a:r>
          </a:p>
          <a:p>
            <a:pPr marL="342900" indent="-342900">
              <a:buClr>
                <a:srgbClr val="007DD6"/>
              </a:buClr>
              <a:buFont typeface="Arial" panose="020B0604020202020204" pitchFamily="34" charset="0"/>
              <a:buChar char="•"/>
            </a:pPr>
            <a:r>
              <a:rPr lang="fr-FR" sz="1800" dirty="0">
                <a:latin typeface="Lora" panose="02000503000000020004"/>
              </a:rPr>
              <a:t>Elle est de moins en moins utilisée : Poupinel.</a:t>
            </a:r>
          </a:p>
          <a:p>
            <a:pPr>
              <a:buClr>
                <a:srgbClr val="007DD6"/>
              </a:buClr>
              <a:buNone/>
            </a:pPr>
            <a:endParaRPr lang="fr-FR" sz="1800" dirty="0">
              <a:latin typeface="Lora" panose="02000503000000020004"/>
            </a:endParaRPr>
          </a:p>
          <a:p>
            <a:pPr marL="342900" indent="-342900">
              <a:buClr>
                <a:srgbClr val="007DD6"/>
              </a:buClr>
              <a:buFont typeface="Arial" panose="020B0604020202020204" pitchFamily="34" charset="0"/>
              <a:buChar char="•"/>
            </a:pPr>
            <a:r>
              <a:rPr lang="fr-FR" sz="1800" dirty="0">
                <a:latin typeface="Lora" panose="02000503000000020004"/>
              </a:rPr>
              <a:t>Appareil peu fiable ne permettant de toute façon que de traiter du verre et du métal qui a disparu ou quasiment en milieu hospitalier.</a:t>
            </a:r>
          </a:p>
          <a:p>
            <a:pPr marL="342900" indent="-342900">
              <a:buClr>
                <a:srgbClr val="007DD6"/>
              </a:buClr>
              <a:buFont typeface="Arial" panose="020B0604020202020204" pitchFamily="34" charset="0"/>
              <a:buChar char="•"/>
            </a:pPr>
            <a:r>
              <a:rPr lang="fr-FR" sz="1800" dirty="0">
                <a:latin typeface="Lora" panose="02000503000000020004"/>
              </a:rPr>
              <a:t>Les températures utilisées doivent être élevées : 180° pendant 1H30.</a:t>
            </a:r>
          </a:p>
          <a:p>
            <a:pPr marL="342900" indent="-342900">
              <a:buClr>
                <a:srgbClr val="007DD6"/>
              </a:buClr>
              <a:buFont typeface="Arial" panose="020B0604020202020204" pitchFamily="34" charset="0"/>
              <a:buChar char="•"/>
            </a:pPr>
            <a:endParaRPr lang="fr-FR" sz="1800" dirty="0">
              <a:latin typeface="Lora" panose="02000503000000020004"/>
            </a:endParaRPr>
          </a:p>
        </p:txBody>
      </p:sp>
    </p:spTree>
    <p:extLst>
      <p:ext uri="{BB962C8B-B14F-4D97-AF65-F5344CB8AC3E}">
        <p14:creationId xmlns:p14="http://schemas.microsoft.com/office/powerpoint/2010/main" val="1553701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800" b="1" dirty="0">
                <a:latin typeface="Lora" panose="02000503000000020004"/>
              </a:rPr>
              <a:t>Stérilisation par la chaleur humide (Autoclave) ;</a:t>
            </a:r>
          </a:p>
          <a:p>
            <a:pPr marL="342900" indent="-342900">
              <a:buClr>
                <a:srgbClr val="007DD6"/>
              </a:buClr>
              <a:buFont typeface="Arial" panose="020B0604020202020204" pitchFamily="34" charset="0"/>
              <a:buChar char="•"/>
            </a:pPr>
            <a:r>
              <a:rPr lang="fr-FR" sz="1800" dirty="0">
                <a:effectLst/>
                <a:latin typeface="Times New Roman" panose="02020603050405020304" pitchFamily="18" charset="0"/>
                <a:ea typeface="Times New Roman" panose="02020603050405020304" pitchFamily="18" charset="0"/>
              </a:rPr>
              <a:t>Le premier </a:t>
            </a:r>
            <a:r>
              <a:rPr lang="fr-FR" sz="1800" b="1" dirty="0">
                <a:effectLst/>
                <a:latin typeface="Times New Roman" panose="02020603050405020304" pitchFamily="18" charset="0"/>
                <a:ea typeface="Times New Roman" panose="02020603050405020304" pitchFamily="18" charset="0"/>
              </a:rPr>
              <a:t>stérilisateur à vapeur</a:t>
            </a:r>
            <a:r>
              <a:rPr lang="fr-FR" sz="1800" dirty="0">
                <a:effectLst/>
                <a:latin typeface="Times New Roman" panose="02020603050405020304" pitchFamily="18" charset="0"/>
                <a:ea typeface="Times New Roman" panose="02020603050405020304" pitchFamily="18" charset="0"/>
              </a:rPr>
              <a:t> à usage </a:t>
            </a:r>
            <a:r>
              <a:rPr lang="fr-FR" sz="1800" b="1" dirty="0">
                <a:effectLst/>
                <a:latin typeface="Times New Roman" panose="02020603050405020304" pitchFamily="18" charset="0"/>
                <a:ea typeface="Times New Roman" panose="02020603050405020304" pitchFamily="18" charset="0"/>
              </a:rPr>
              <a:t>hospitalier</a:t>
            </a:r>
            <a:r>
              <a:rPr lang="fr-FR" sz="1800" dirty="0">
                <a:effectLst/>
                <a:latin typeface="Times New Roman" panose="02020603050405020304" pitchFamily="18" charset="0"/>
                <a:ea typeface="Times New Roman" panose="02020603050405020304" pitchFamily="18" charset="0"/>
              </a:rPr>
              <a:t> a </a:t>
            </a:r>
            <a:r>
              <a:rPr lang="fr-FR" sz="1800" b="1" dirty="0">
                <a:effectLst/>
                <a:latin typeface="Times New Roman" panose="02020603050405020304" pitchFamily="18" charset="0"/>
                <a:ea typeface="Times New Roman" panose="02020603050405020304" pitchFamily="18" charset="0"/>
              </a:rPr>
              <a:t>vu le jour en 1881</a:t>
            </a:r>
            <a:r>
              <a:rPr lang="fr-FR" sz="1800" dirty="0">
                <a:effectLst/>
                <a:latin typeface="Times New Roman" panose="02020603050405020304" pitchFamily="18" charset="0"/>
                <a:ea typeface="Times New Roman" panose="02020603050405020304" pitchFamily="18" charset="0"/>
              </a:rPr>
              <a:t>, il s'agissait alors d'un stérilisateur portable de 6 litres, chauffé à l'alcool.</a:t>
            </a:r>
            <a:br>
              <a:rPr lang="fr-FR" sz="1800" dirty="0">
                <a:effectLst/>
                <a:latin typeface="Times New Roman" panose="02020603050405020304" pitchFamily="18" charset="0"/>
                <a:ea typeface="Times New Roman" panose="02020603050405020304" pitchFamily="18" charset="0"/>
              </a:rPr>
            </a:br>
            <a:r>
              <a:rPr lang="fr-FR" sz="1800" b="1" i="1" dirty="0">
                <a:effectLst/>
                <a:latin typeface="Times New Roman" panose="02020603050405020304" pitchFamily="18" charset="0"/>
                <a:ea typeface="Times New Roman" panose="02020603050405020304" pitchFamily="18" charset="0"/>
              </a:rPr>
              <a:t>La stérilisation par la vapeur d'eau est le procédé de référence pour la stérilisation en milieu hospitalier</a:t>
            </a:r>
            <a:r>
              <a:rPr lang="fr-FR" sz="1800" dirty="0">
                <a:effectLst/>
                <a:latin typeface="Times New Roman" panose="02020603050405020304" pitchFamily="18" charset="0"/>
                <a:ea typeface="Times New Roman" panose="02020603050405020304" pitchFamily="18" charset="0"/>
              </a:rPr>
              <a:t>.</a:t>
            </a:r>
            <a:br>
              <a:rPr lang="fr-FR" sz="1800" dirty="0">
                <a:effectLst/>
                <a:latin typeface="Times New Roman" panose="02020603050405020304" pitchFamily="18" charset="0"/>
                <a:ea typeface="Times New Roman" panose="02020603050405020304" pitchFamily="18" charset="0"/>
              </a:rPr>
            </a:br>
            <a:br>
              <a:rPr lang="fr-FR" sz="1800" dirty="0">
                <a:effectLst/>
                <a:latin typeface="Times New Roman" panose="02020603050405020304" pitchFamily="18" charset="0"/>
                <a:ea typeface="Times New Roman" panose="02020603050405020304" pitchFamily="18" charset="0"/>
              </a:rPr>
            </a:br>
            <a:r>
              <a:rPr lang="fr-FR" sz="1800" b="1" dirty="0">
                <a:effectLst/>
                <a:latin typeface="Times New Roman" panose="02020603050405020304" pitchFamily="18" charset="0"/>
                <a:ea typeface="Times New Roman" panose="02020603050405020304" pitchFamily="18" charset="0"/>
              </a:rPr>
              <a:t>L'autoclave</a:t>
            </a:r>
            <a:r>
              <a:rPr lang="fr-FR" sz="1800" dirty="0">
                <a:effectLst/>
                <a:latin typeface="Times New Roman" panose="02020603050405020304" pitchFamily="18" charset="0"/>
                <a:ea typeface="Times New Roman" panose="02020603050405020304" pitchFamily="18" charset="0"/>
              </a:rPr>
              <a:t> est un appareil à pression de vapeur d'eau.</a:t>
            </a:r>
            <a:br>
              <a:rPr lang="fr-FR" sz="1800" dirty="0">
                <a:effectLst/>
                <a:latin typeface="Times New Roman" panose="02020603050405020304" pitchFamily="18" charset="0"/>
                <a:ea typeface="Times New Roman" panose="02020603050405020304" pitchFamily="18" charset="0"/>
              </a:rPr>
            </a:br>
            <a:r>
              <a:rPr lang="fr-FR" sz="1800" dirty="0">
                <a:effectLst/>
                <a:latin typeface="Times New Roman" panose="02020603050405020304" pitchFamily="18" charset="0"/>
                <a:ea typeface="Times New Roman" panose="02020603050405020304" pitchFamily="18" charset="0"/>
              </a:rPr>
              <a:t>L'action conjuguée de la vapeur d'eau et de la température </a:t>
            </a:r>
            <a:r>
              <a:rPr lang="fr-FR" sz="1800" b="1" i="1" dirty="0">
                <a:effectLst/>
                <a:latin typeface="Times New Roman" panose="02020603050405020304" pitchFamily="18" charset="0"/>
                <a:ea typeface="Times New Roman" panose="02020603050405020304" pitchFamily="18" charset="0"/>
              </a:rPr>
              <a:t>(température supérieure à 120°C) </a:t>
            </a:r>
            <a:r>
              <a:rPr lang="fr-FR" sz="1800" dirty="0">
                <a:effectLst/>
                <a:latin typeface="Times New Roman" panose="02020603050405020304" pitchFamily="18" charset="0"/>
                <a:ea typeface="Times New Roman" panose="02020603050405020304" pitchFamily="18" charset="0"/>
              </a:rPr>
              <a:t>provoque la dénaturation puis la mort des micro-organismes (bactéries, virus,…) présents sur ou dans le matériel (y compris les Agents Toxiques Non Contaminant, ou ATNC, comme le prion, si un cycle spécifique est réalisé).</a:t>
            </a:r>
            <a:endParaRPr lang="fr-FR" sz="1800" dirty="0">
              <a:latin typeface="Lora" panose="02000503000000020004"/>
            </a:endParaRPr>
          </a:p>
        </p:txBody>
      </p:sp>
    </p:spTree>
    <p:extLst>
      <p:ext uri="{BB962C8B-B14F-4D97-AF65-F5344CB8AC3E}">
        <p14:creationId xmlns:p14="http://schemas.microsoft.com/office/powerpoint/2010/main" val="3046289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400" b="1" dirty="0">
                <a:latin typeface="Lora" panose="02000503000000020004"/>
              </a:rPr>
              <a:t>Principes de fonctionnement </a:t>
            </a:r>
          </a:p>
          <a:p>
            <a:pPr marL="342900" indent="-342900">
              <a:buClr>
                <a:srgbClr val="007DD6"/>
              </a:buClr>
              <a:buFont typeface="Arial" panose="020B0604020202020204" pitchFamily="34" charset="0"/>
              <a:buChar char="•"/>
            </a:pPr>
            <a:r>
              <a:rPr lang="fr-FR" sz="1400" dirty="0">
                <a:latin typeface="Lora" panose="02000503000000020004"/>
              </a:rPr>
              <a:t>L'autoclave fonctionne selon un "cycle de stérilisation" qui comporte les étapes suivantes :</a:t>
            </a:r>
          </a:p>
          <a:p>
            <a:pPr marL="342900" indent="-342900">
              <a:buClr>
                <a:srgbClr val="007DD6"/>
              </a:buClr>
              <a:buFont typeface="Arial" panose="020B0604020202020204" pitchFamily="34" charset="0"/>
              <a:buChar char="•"/>
            </a:pPr>
            <a:r>
              <a:rPr lang="fr-FR" sz="1400" dirty="0">
                <a:latin typeface="Lora" panose="02000503000000020004"/>
              </a:rPr>
              <a:t>le préchauffage de l'enceinte et de ses parois, qui évite la condensation de vapeur au niveau de la charge qui sinon risquerait de sortir humide en fin de cycle,</a:t>
            </a:r>
          </a:p>
          <a:p>
            <a:pPr marL="342900" indent="-342900">
              <a:buClr>
                <a:srgbClr val="007DD6"/>
              </a:buClr>
              <a:buFont typeface="Arial" panose="020B0604020202020204" pitchFamily="34" charset="0"/>
              <a:buChar char="•"/>
            </a:pPr>
            <a:r>
              <a:rPr lang="fr-FR" sz="1400" dirty="0">
                <a:latin typeface="Lora" panose="02000503000000020004"/>
              </a:rPr>
              <a:t>la purge de l'appareil et la réalisation du vide pour chasser l'air de l'enceinte (très mauvais conducteur de chaleur) et pour obtenir des vapeurs saturantes,</a:t>
            </a:r>
          </a:p>
          <a:p>
            <a:pPr marL="342900" indent="-342900">
              <a:buClr>
                <a:srgbClr val="007DD6"/>
              </a:buClr>
              <a:buFont typeface="Arial" panose="020B0604020202020204" pitchFamily="34" charset="0"/>
              <a:buChar char="•"/>
            </a:pPr>
            <a:r>
              <a:rPr lang="fr-FR" sz="1400" dirty="0">
                <a:latin typeface="Lora" panose="02000503000000020004"/>
              </a:rPr>
              <a:t>la montée en température et en pression de la vapeur d'eau,</a:t>
            </a:r>
          </a:p>
          <a:p>
            <a:pPr marL="342900" indent="-342900">
              <a:buClr>
                <a:srgbClr val="007DD6"/>
              </a:buClr>
              <a:buFont typeface="Arial" panose="020B0604020202020204" pitchFamily="34" charset="0"/>
              <a:buChar char="•"/>
            </a:pPr>
            <a:r>
              <a:rPr lang="fr-FR" sz="1400" dirty="0">
                <a:latin typeface="Lora" panose="02000503000000020004"/>
              </a:rPr>
              <a:t>la stérilisation qui commence lorsque la température et la pression choisies sont atteintes et s'achève lorsque celles-ci diminuent,</a:t>
            </a:r>
          </a:p>
          <a:p>
            <a:pPr marL="342900" indent="-342900">
              <a:buClr>
                <a:srgbClr val="007DD6"/>
              </a:buClr>
              <a:buFont typeface="Arial" panose="020B0604020202020204" pitchFamily="34" charset="0"/>
              <a:buChar char="•"/>
            </a:pPr>
            <a:r>
              <a:rPr lang="fr-FR" sz="1400" dirty="0">
                <a:latin typeface="Lora" panose="02000503000000020004"/>
              </a:rPr>
              <a:t>le séchage par le vide qui permet d'évacuer la vapeur d'eau,</a:t>
            </a:r>
          </a:p>
          <a:p>
            <a:pPr marL="342900" indent="-342900">
              <a:buClr>
                <a:srgbClr val="007DD6"/>
              </a:buClr>
              <a:buFont typeface="Arial" panose="020B0604020202020204" pitchFamily="34" charset="0"/>
              <a:buChar char="•"/>
            </a:pPr>
            <a:r>
              <a:rPr lang="fr-FR" sz="1400" dirty="0">
                <a:latin typeface="Lora" panose="02000503000000020004"/>
              </a:rPr>
              <a:t>le retour à la pression atmosphérique pour permettre l'ouverture de la porte.</a:t>
            </a:r>
          </a:p>
          <a:p>
            <a:pPr marL="342900" indent="-342900">
              <a:buClr>
                <a:srgbClr val="007DD6"/>
              </a:buClr>
              <a:buFont typeface="Arial" panose="020B0604020202020204" pitchFamily="34" charset="0"/>
              <a:buChar char="•"/>
            </a:pPr>
            <a:r>
              <a:rPr lang="fr-FR" sz="1400" dirty="0">
                <a:latin typeface="Lora" panose="02000503000000020004"/>
              </a:rPr>
              <a:t>En pratique, les temps de stérilisation minimum à respecter sont : 20 min de phase de stérilisation à 121°C ; 15 min à 126°C ; 10 min à 134°C.</a:t>
            </a:r>
          </a:p>
        </p:txBody>
      </p:sp>
    </p:spTree>
    <p:extLst>
      <p:ext uri="{BB962C8B-B14F-4D97-AF65-F5344CB8AC3E}">
        <p14:creationId xmlns:p14="http://schemas.microsoft.com/office/powerpoint/2010/main" val="2520290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400" b="1" dirty="0">
                <a:latin typeface="Lora" panose="02000503000000020004"/>
              </a:rPr>
              <a:t>Un certain nombre d'appareils sont intégrés à l'autoclave :</a:t>
            </a:r>
          </a:p>
          <a:p>
            <a:pPr marL="342900" indent="-342900">
              <a:buClr>
                <a:srgbClr val="007DD6"/>
              </a:buClr>
              <a:buFont typeface="Arial" panose="020B0604020202020204" pitchFamily="34" charset="0"/>
              <a:buChar char="•"/>
            </a:pPr>
            <a:r>
              <a:rPr lang="fr-FR" sz="1400" dirty="0">
                <a:latin typeface="Lora" panose="02000503000000020004"/>
              </a:rPr>
              <a:t>thermomètre (mesure de la température de l'enceinte) : il doit être visible et lisible,</a:t>
            </a:r>
          </a:p>
          <a:p>
            <a:pPr marL="342900" indent="-342900">
              <a:buClr>
                <a:srgbClr val="007DD6"/>
              </a:buClr>
              <a:buFont typeface="Arial" panose="020B0604020202020204" pitchFamily="34" charset="0"/>
              <a:buChar char="•"/>
            </a:pPr>
            <a:r>
              <a:rPr lang="fr-FR" sz="1400" dirty="0">
                <a:latin typeface="Lora" panose="02000503000000020004"/>
              </a:rPr>
              <a:t>manomètre (mesure de la pression dans l'enceinte),</a:t>
            </a:r>
          </a:p>
          <a:p>
            <a:pPr marL="342900" indent="-342900">
              <a:buClr>
                <a:srgbClr val="007DD6"/>
              </a:buClr>
              <a:buFont typeface="Arial" panose="020B0604020202020204" pitchFamily="34" charset="0"/>
              <a:buChar char="•"/>
            </a:pPr>
            <a:r>
              <a:rPr lang="fr-FR" sz="1400" dirty="0">
                <a:latin typeface="Lora" panose="02000503000000020004"/>
              </a:rPr>
              <a:t>régulateur de température, </a:t>
            </a:r>
            <a:r>
              <a:rPr lang="fr-FR" sz="1400" dirty="0" err="1">
                <a:latin typeface="Lora" panose="02000503000000020004"/>
              </a:rPr>
              <a:t>manovacuomètre</a:t>
            </a:r>
            <a:r>
              <a:rPr lang="fr-FR" sz="1400" dirty="0">
                <a:latin typeface="Lora" panose="02000503000000020004"/>
              </a:rPr>
              <a:t> enregistreur : présent sur certains modèles d'autoclave, il enregistre et restitue sous la forme d'un tracé les différentes phases d'un cycle de stérilisation. Il fonctionne de façon électrique ou mécanique.</a:t>
            </a:r>
          </a:p>
          <a:p>
            <a:pPr marL="342900" indent="-342900">
              <a:buClr>
                <a:srgbClr val="007DD6"/>
              </a:buClr>
              <a:buFont typeface="Arial" panose="020B0604020202020204" pitchFamily="34" charset="0"/>
              <a:buChar char="•"/>
            </a:pPr>
            <a:r>
              <a:rPr lang="fr-FR" sz="1400" dirty="0">
                <a:latin typeface="Lora" panose="02000503000000020004"/>
              </a:rPr>
              <a:t>Il existe plusieurs types d'enregistrement :</a:t>
            </a:r>
          </a:p>
          <a:p>
            <a:pPr marL="342900" indent="-342900">
              <a:buClr>
                <a:srgbClr val="007DD6"/>
              </a:buClr>
              <a:buFont typeface="Arial" panose="020B0604020202020204" pitchFamily="34" charset="0"/>
              <a:buChar char="•"/>
            </a:pPr>
            <a:r>
              <a:rPr lang="fr-FR" sz="1400" dirty="0">
                <a:latin typeface="Lora" panose="02000503000000020004"/>
              </a:rPr>
              <a:t>à disque (diagramme circulaire, une voie d'enregistrement : pression)</a:t>
            </a:r>
          </a:p>
          <a:p>
            <a:pPr marL="342900" indent="-342900">
              <a:buClr>
                <a:srgbClr val="007DD6"/>
              </a:buClr>
              <a:buFont typeface="Arial" panose="020B0604020202020204" pitchFamily="34" charset="0"/>
              <a:buChar char="•"/>
            </a:pPr>
            <a:r>
              <a:rPr lang="fr-FR" sz="1400" dirty="0">
                <a:latin typeface="Lora" panose="02000503000000020004"/>
              </a:rPr>
              <a:t>à déroulement linéaire (ticket, deux ou trois voies d'enregistrement : vide, pression, température). De plus, le quadrillage du papier permet le minutage.</a:t>
            </a:r>
          </a:p>
          <a:p>
            <a:pPr marL="342900" indent="-342900">
              <a:buClr>
                <a:srgbClr val="007DD6"/>
              </a:buClr>
              <a:buFont typeface="Arial" panose="020B0604020202020204" pitchFamily="34" charset="0"/>
              <a:buChar char="•"/>
            </a:pPr>
            <a:r>
              <a:rPr lang="fr-FR" sz="1400" dirty="0">
                <a:latin typeface="Lora" panose="02000503000000020004"/>
              </a:rPr>
              <a:t>On doit toujours stériliser à la vapeur d'eau ce qui peut l'être, en particulier : textiles, pansements (tissé et non-tissé), instruments chirurgicaux en acier inox, verrerie, caoutchouc, certains plastiques.</a:t>
            </a:r>
          </a:p>
        </p:txBody>
      </p:sp>
    </p:spTree>
    <p:extLst>
      <p:ext uri="{BB962C8B-B14F-4D97-AF65-F5344CB8AC3E}">
        <p14:creationId xmlns:p14="http://schemas.microsoft.com/office/powerpoint/2010/main" val="731445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400" b="1" dirty="0">
                <a:latin typeface="Lora" panose="02000503000000020004"/>
              </a:rPr>
              <a:t>Inconvénients : </a:t>
            </a:r>
          </a:p>
          <a:p>
            <a:pPr marL="342900" indent="-342900">
              <a:buClr>
                <a:srgbClr val="007DD6"/>
              </a:buClr>
              <a:buFont typeface="Arial" panose="020B0604020202020204" pitchFamily="34" charset="0"/>
              <a:buChar char="•"/>
            </a:pPr>
            <a:r>
              <a:rPr lang="fr-FR" sz="1400" dirty="0">
                <a:latin typeface="Lora" panose="02000503000000020004"/>
              </a:rPr>
              <a:t>Face à la médecine moderne, la stérilisation à la vapeur connaît des limites : de nombreux instruments, souvent coûteux, ne peuvent être stérilisés à l'autoclave, à cause de leur sensibilité à la chaleur.</a:t>
            </a:r>
          </a:p>
          <a:p>
            <a:pPr marL="342900" indent="-342900">
              <a:buClr>
                <a:srgbClr val="007DD6"/>
              </a:buClr>
              <a:buFont typeface="Arial" panose="020B0604020202020204" pitchFamily="34" charset="0"/>
              <a:buChar char="•"/>
            </a:pPr>
            <a:r>
              <a:rPr lang="fr-FR" sz="1400" dirty="0">
                <a:latin typeface="Lora" panose="02000503000000020004"/>
              </a:rPr>
              <a:t> </a:t>
            </a:r>
            <a:r>
              <a:rPr lang="fr-FR" sz="1400" b="1" dirty="0">
                <a:latin typeface="Lora" panose="02000503000000020004"/>
              </a:rPr>
              <a:t>Stérilisation par les gaz ou les radiations ionisantes pour les instruments qui ne résistent pas à la chaleur</a:t>
            </a:r>
          </a:p>
          <a:p>
            <a:pPr marL="342900" indent="-342900">
              <a:buClr>
                <a:srgbClr val="007DD6"/>
              </a:buClr>
              <a:buFont typeface="Arial" panose="020B0604020202020204" pitchFamily="34" charset="0"/>
              <a:buChar char="•"/>
            </a:pPr>
            <a:r>
              <a:rPr lang="fr-FR" sz="1400" b="1" dirty="0">
                <a:latin typeface="Lora" panose="02000503000000020004"/>
              </a:rPr>
              <a:t>La stérilisation par l’oxyde d’éthylène :</a:t>
            </a:r>
            <a:r>
              <a:rPr lang="fr-FR" sz="1400" dirty="0">
                <a:latin typeface="Lora" panose="02000503000000020004"/>
              </a:rPr>
              <a:t> c’est un gaz très utile pour stériliser le matériel médico-chirurgical thermosensible.</a:t>
            </a:r>
          </a:p>
          <a:p>
            <a:pPr marL="342900" indent="-342900">
              <a:buClr>
                <a:srgbClr val="007DD6"/>
              </a:buClr>
              <a:buFont typeface="Arial" panose="020B0604020202020204" pitchFamily="34" charset="0"/>
              <a:buChar char="•"/>
            </a:pPr>
            <a:r>
              <a:rPr lang="fr-FR" sz="1400" dirty="0">
                <a:latin typeface="Lora" panose="02000503000000020004"/>
              </a:rPr>
              <a:t>Malgré un bon compromis entre le coût et la praticabilité. Malgré sa fiabilité (gaz bactéricide, fongicide, virucide et sporicide), cette technique présente un certain nombre d’inconvénients dont son caractère toxique pour le personnel et le malade et ses propriétés inflammables. Les instruments stérilisés par une telle méthode doivent faire l’objet d’une désorption de plusieurs heures, limitant la disponibilité du matériel ainsi traité.</a:t>
            </a:r>
          </a:p>
        </p:txBody>
      </p:sp>
    </p:spTree>
    <p:extLst>
      <p:ext uri="{BB962C8B-B14F-4D97-AF65-F5344CB8AC3E}">
        <p14:creationId xmlns:p14="http://schemas.microsoft.com/office/powerpoint/2010/main" val="3936147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400" dirty="0">
                <a:latin typeface="Lora" panose="02000503000000020004"/>
              </a:rPr>
              <a:t>Le personnel utilisant ce type de matériel doit être particulièrement formé et informé des risques de ce procédé tant pour leur sécurité que pour celle des malades. Seule une installation en stérilisation centrale est autorisée : l'oxyde d'éthylène est un gaz toxique, inodore, dont on ne perçoit pas la présence dans l'air.</a:t>
            </a:r>
          </a:p>
          <a:p>
            <a:pPr marL="342900" indent="-342900">
              <a:buClr>
                <a:srgbClr val="007DD6"/>
              </a:buClr>
              <a:buFont typeface="Arial" panose="020B0604020202020204" pitchFamily="34" charset="0"/>
              <a:buChar char="•"/>
            </a:pPr>
            <a:r>
              <a:rPr lang="fr-FR" sz="1400" dirty="0">
                <a:latin typeface="Lora" panose="02000503000000020004"/>
              </a:rPr>
              <a:t>Il est toxique:</a:t>
            </a:r>
          </a:p>
          <a:p>
            <a:pPr marL="342900" indent="-342900">
              <a:buClr>
                <a:srgbClr val="007DD6"/>
              </a:buClr>
              <a:buFont typeface="Arial" panose="020B0604020202020204" pitchFamily="34" charset="0"/>
              <a:buChar char="•"/>
            </a:pPr>
            <a:r>
              <a:rPr lang="fr-FR" sz="1400" dirty="0">
                <a:latin typeface="Lora" panose="02000503000000020004"/>
              </a:rPr>
              <a:t>par inhalation (irritation respiratoire et dépression du système nerveux central)</a:t>
            </a:r>
          </a:p>
          <a:p>
            <a:pPr marL="342900" indent="-342900">
              <a:buClr>
                <a:srgbClr val="007DD6"/>
              </a:buClr>
              <a:buFont typeface="Arial" panose="020B0604020202020204" pitchFamily="34" charset="0"/>
              <a:buChar char="•"/>
            </a:pPr>
            <a:r>
              <a:rPr lang="fr-FR" sz="1400" dirty="0">
                <a:latin typeface="Lora" panose="02000503000000020004"/>
              </a:rPr>
              <a:t>par contact (réactions irritatives de la peau et des muqueuses)</a:t>
            </a:r>
          </a:p>
          <a:p>
            <a:pPr marL="342900" indent="-342900">
              <a:buClr>
                <a:srgbClr val="007DD6"/>
              </a:buClr>
              <a:buFont typeface="Arial" panose="020B0604020202020204" pitchFamily="34" charset="0"/>
              <a:buChar char="•"/>
            </a:pPr>
            <a:r>
              <a:rPr lang="fr-FR" sz="1400" dirty="0">
                <a:latin typeface="Lora" panose="02000503000000020004"/>
              </a:rPr>
              <a:t>par voie parentérale (phénomènes hémolytiques, sténoses trachéales, collapsus cardio-vasculaires et phénomènes allergiques)</a:t>
            </a:r>
          </a:p>
          <a:p>
            <a:pPr marL="342900" indent="-342900">
              <a:buClr>
                <a:srgbClr val="007DD6"/>
              </a:buClr>
              <a:buFont typeface="Arial" panose="020B0604020202020204" pitchFamily="34" charset="0"/>
              <a:buChar char="•"/>
            </a:pPr>
            <a:r>
              <a:rPr lang="fr-FR" sz="1400" dirty="0">
                <a:latin typeface="Lora" panose="02000503000000020004"/>
              </a:rPr>
              <a:t>par réaction avec différents corps chimiques: produits toxiques.</a:t>
            </a:r>
          </a:p>
        </p:txBody>
      </p:sp>
    </p:spTree>
    <p:extLst>
      <p:ext uri="{BB962C8B-B14F-4D97-AF65-F5344CB8AC3E}">
        <p14:creationId xmlns:p14="http://schemas.microsoft.com/office/powerpoint/2010/main" val="2988276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400" dirty="0">
                <a:latin typeface="Lora" panose="02000503000000020004"/>
              </a:rPr>
              <a:t>La stérilisation à l'oxyde d'éthylène doit être réservée au matériel thermosensible, qui ne peut pas être stérilisé autrement</a:t>
            </a:r>
          </a:p>
          <a:p>
            <a:pPr marL="342900" indent="-342900">
              <a:buClr>
                <a:srgbClr val="007DD6"/>
              </a:buClr>
              <a:buFont typeface="Arial" panose="020B0604020202020204" pitchFamily="34" charset="0"/>
              <a:buChar char="•"/>
            </a:pPr>
            <a:r>
              <a:rPr lang="fr-FR" sz="1400" dirty="0">
                <a:latin typeface="Lora" panose="02000503000000020004"/>
              </a:rPr>
              <a:t>plastiques ne supportant pas la chaleur.</a:t>
            </a:r>
          </a:p>
          <a:p>
            <a:pPr marL="342900" indent="-342900">
              <a:buClr>
                <a:srgbClr val="007DD6"/>
              </a:buClr>
              <a:buFont typeface="Arial" panose="020B0604020202020204" pitchFamily="34" charset="0"/>
              <a:buChar char="•"/>
            </a:pPr>
            <a:r>
              <a:rPr lang="fr-FR" sz="1400" dirty="0">
                <a:latin typeface="Lora" panose="02000503000000020004"/>
              </a:rPr>
              <a:t>instruments à matériaux composites qui seraient détériorés par la stérilisation à la vapeur.</a:t>
            </a:r>
          </a:p>
          <a:p>
            <a:pPr marL="342900" indent="-342900">
              <a:buClr>
                <a:srgbClr val="007DD6"/>
              </a:buClr>
              <a:buFont typeface="Arial" panose="020B0604020202020204" pitchFamily="34" charset="0"/>
              <a:buChar char="•"/>
            </a:pPr>
            <a:r>
              <a:rPr lang="fr-FR" sz="1400" dirty="0">
                <a:latin typeface="Lora" panose="02000503000000020004"/>
              </a:rPr>
              <a:t>matériaux fragiles (photos, effets personnels neufs pour malades en chambre stérile)</a:t>
            </a:r>
          </a:p>
          <a:p>
            <a:pPr marL="342900" indent="-342900">
              <a:buClr>
                <a:srgbClr val="007DD6"/>
              </a:buClr>
              <a:buFont typeface="Arial" panose="020B0604020202020204" pitchFamily="34" charset="0"/>
              <a:buChar char="•"/>
            </a:pPr>
            <a:r>
              <a:rPr lang="fr-FR" sz="1400" b="1" dirty="0">
                <a:latin typeface="Lora" panose="02000503000000020004"/>
              </a:rPr>
              <a:t>La stérilisation par le formaldéhyde gazeux :</a:t>
            </a:r>
            <a:r>
              <a:rPr lang="fr-FR" sz="1400" dirty="0">
                <a:latin typeface="Lora" panose="02000503000000020004"/>
              </a:rPr>
              <a:t> c’est un agent de stérilisation en surface, ne pénétrant pas en profondeur à l’inverse de l’oxyde d’éthylène.</a:t>
            </a:r>
          </a:p>
          <a:p>
            <a:pPr marL="342900" indent="-342900">
              <a:buClr>
                <a:srgbClr val="007DD6"/>
              </a:buClr>
              <a:buFont typeface="Arial" panose="020B0604020202020204" pitchFamily="34" charset="0"/>
              <a:buChar char="•"/>
            </a:pPr>
            <a:r>
              <a:rPr lang="fr-FR" sz="1400" dirty="0">
                <a:latin typeface="Lora" panose="02000503000000020004"/>
              </a:rPr>
              <a:t>Il est de plus corrosif et sa désorption se poursuit après stérilisation.</a:t>
            </a:r>
          </a:p>
          <a:p>
            <a:pPr marL="342900" indent="-342900">
              <a:buClr>
                <a:srgbClr val="007DD6"/>
              </a:buClr>
              <a:buFont typeface="Arial" panose="020B0604020202020204" pitchFamily="34" charset="0"/>
              <a:buChar char="•"/>
            </a:pPr>
            <a:r>
              <a:rPr lang="fr-FR" sz="1400" dirty="0">
                <a:latin typeface="Lora" panose="02000503000000020004"/>
              </a:rPr>
              <a:t>Il faut rappeler à ce propos que l’utilisation de pastilles de </a:t>
            </a:r>
            <a:r>
              <a:rPr lang="fr-FR" sz="1400" dirty="0" err="1">
                <a:latin typeface="Lora" panose="02000503000000020004"/>
              </a:rPr>
              <a:t>trioxyméthylène</a:t>
            </a:r>
            <a:r>
              <a:rPr lang="fr-FR" sz="1400" dirty="0">
                <a:latin typeface="Lora" panose="02000503000000020004"/>
              </a:rPr>
              <a:t> comme moyen de stérilisation doit être bannie car non contrôlable, inefficace et nocive.</a:t>
            </a:r>
          </a:p>
          <a:p>
            <a:pPr marL="342900" indent="-342900">
              <a:buClr>
                <a:srgbClr val="007DD6"/>
              </a:buClr>
              <a:buFont typeface="Arial" panose="020B0604020202020204" pitchFamily="34" charset="0"/>
              <a:buChar char="•"/>
            </a:pPr>
            <a:r>
              <a:rPr lang="fr-FR" sz="1400" b="1" dirty="0">
                <a:latin typeface="Lora" panose="02000503000000020004"/>
              </a:rPr>
              <a:t>La stérilisation par gaz plasma de peroxyde d'hydrogène </a:t>
            </a:r>
            <a:r>
              <a:rPr lang="fr-FR" sz="1400" dirty="0">
                <a:latin typeface="Lora" panose="02000503000000020004"/>
              </a:rPr>
              <a:t>représente très certainement une voie d’avenir très prometteuse dans les techniques de stérilisation des dispositifs médicaux réutilisables et thermosensibles.</a:t>
            </a:r>
          </a:p>
        </p:txBody>
      </p:sp>
    </p:spTree>
    <p:extLst>
      <p:ext uri="{BB962C8B-B14F-4D97-AF65-F5344CB8AC3E}">
        <p14:creationId xmlns:p14="http://schemas.microsoft.com/office/powerpoint/2010/main" val="2255442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342900" indent="-342900">
              <a:buClr>
                <a:srgbClr val="007DD6"/>
              </a:buClr>
              <a:buFont typeface="Arial" panose="020B0604020202020204" pitchFamily="34" charset="0"/>
              <a:buChar char="•"/>
            </a:pPr>
            <a:r>
              <a:rPr lang="fr-FR" sz="1400" b="1" dirty="0">
                <a:latin typeface="Lora" panose="02000503000000020004"/>
              </a:rPr>
              <a:t>Avantage :</a:t>
            </a:r>
          </a:p>
          <a:p>
            <a:pPr marL="342900" indent="-342900">
              <a:buClr>
                <a:srgbClr val="007DD6"/>
              </a:buClr>
              <a:buFont typeface="Arial" panose="020B0604020202020204" pitchFamily="34" charset="0"/>
              <a:buChar char="•"/>
            </a:pPr>
            <a:r>
              <a:rPr lang="fr-FR" sz="1400" dirty="0">
                <a:latin typeface="Lora" panose="02000503000000020004"/>
              </a:rPr>
              <a:t>permet de stériliser à basse température (45°)</a:t>
            </a:r>
          </a:p>
          <a:p>
            <a:pPr marL="342900" indent="-342900">
              <a:buClr>
                <a:srgbClr val="007DD6"/>
              </a:buClr>
              <a:buFont typeface="Arial" panose="020B0604020202020204" pitchFamily="34" charset="0"/>
              <a:buChar char="•"/>
            </a:pPr>
            <a:r>
              <a:rPr lang="fr-FR" sz="1400" dirty="0">
                <a:latin typeface="Lora" panose="02000503000000020004"/>
              </a:rPr>
              <a:t>utilisation simple et non toxique</a:t>
            </a:r>
          </a:p>
          <a:p>
            <a:pPr marL="342900" indent="-342900">
              <a:buClr>
                <a:srgbClr val="007DD6"/>
              </a:buClr>
              <a:buFont typeface="Arial" panose="020B0604020202020204" pitchFamily="34" charset="0"/>
              <a:buChar char="•"/>
            </a:pPr>
            <a:r>
              <a:rPr lang="fr-FR" sz="1400" dirty="0">
                <a:latin typeface="Lora" panose="02000503000000020004"/>
              </a:rPr>
              <a:t>cycle rapide (75 mn)</a:t>
            </a:r>
          </a:p>
          <a:p>
            <a:pPr marL="342900" indent="-342900">
              <a:buClr>
                <a:srgbClr val="007DD6"/>
              </a:buClr>
              <a:buFont typeface="Arial" panose="020B0604020202020204" pitchFamily="34" charset="0"/>
              <a:buChar char="•"/>
            </a:pPr>
            <a:r>
              <a:rPr lang="fr-FR" sz="1400" dirty="0">
                <a:latin typeface="Lora" panose="02000503000000020004"/>
              </a:rPr>
              <a:t>ne nécessite pas de désorption</a:t>
            </a:r>
          </a:p>
          <a:p>
            <a:pPr marL="342900" indent="-342900">
              <a:buClr>
                <a:srgbClr val="007DD6"/>
              </a:buClr>
              <a:buFont typeface="Arial" panose="020B0604020202020204" pitchFamily="34" charset="0"/>
              <a:buChar char="•"/>
            </a:pPr>
            <a:r>
              <a:rPr lang="fr-FR" sz="1400" b="1" dirty="0">
                <a:latin typeface="Lora" panose="02000503000000020004"/>
              </a:rPr>
              <a:t>Inconvénients :</a:t>
            </a:r>
          </a:p>
          <a:p>
            <a:pPr marL="342900" indent="-342900">
              <a:buClr>
                <a:srgbClr val="007DD6"/>
              </a:buClr>
              <a:buFont typeface="Arial" panose="020B0604020202020204" pitchFamily="34" charset="0"/>
              <a:buChar char="•"/>
            </a:pPr>
            <a:r>
              <a:rPr lang="fr-FR" sz="1400" dirty="0">
                <a:latin typeface="Lora" panose="02000503000000020004"/>
              </a:rPr>
              <a:t>coûteux</a:t>
            </a:r>
          </a:p>
          <a:p>
            <a:pPr marL="342900" indent="-342900">
              <a:buClr>
                <a:srgbClr val="007DD6"/>
              </a:buClr>
              <a:buFont typeface="Arial" panose="020B0604020202020204" pitchFamily="34" charset="0"/>
              <a:buChar char="•"/>
            </a:pPr>
            <a:r>
              <a:rPr lang="fr-FR" sz="1400" dirty="0">
                <a:latin typeface="Lora" panose="02000503000000020004"/>
              </a:rPr>
              <a:t>ne permet pas de traiter les objets comportant de la cellulose : les emballages devront être non en papier, mais en matières plastiques ou non tissé.</a:t>
            </a:r>
          </a:p>
          <a:p>
            <a:pPr marL="342900" indent="-342900">
              <a:buClr>
                <a:srgbClr val="007DD6"/>
              </a:buClr>
              <a:buFont typeface="Arial" panose="020B0604020202020204" pitchFamily="34" charset="0"/>
              <a:buChar char="•"/>
            </a:pPr>
            <a:r>
              <a:rPr lang="fr-FR" sz="1400" dirty="0">
                <a:latin typeface="Lora" panose="02000503000000020004"/>
              </a:rPr>
              <a:t>ne permet pas de traiter les instruments de masse importante, ni les liquides</a:t>
            </a:r>
          </a:p>
          <a:p>
            <a:pPr marL="342900" indent="-342900">
              <a:buClr>
                <a:srgbClr val="007DD6"/>
              </a:buClr>
              <a:buFont typeface="Arial" panose="020B0604020202020204" pitchFamily="34" charset="0"/>
              <a:buChar char="•"/>
            </a:pPr>
            <a:r>
              <a:rPr lang="fr-FR" sz="1400" b="1" dirty="0">
                <a:latin typeface="Lora" panose="02000503000000020004"/>
              </a:rPr>
              <a:t>la stérilisation par les radiations ionisantes:</a:t>
            </a:r>
            <a:r>
              <a:rPr lang="fr-FR" sz="1400" dirty="0">
                <a:latin typeface="Lora" panose="02000503000000020004"/>
              </a:rPr>
              <a:t>, en particulier par les rayons gamma, présente de nombreux avantages (utilisation sur du matériel thermosensible, absence de risque d’irradiation résiduelle), mais cette technique n’est pas actuellement utilisée en milieu hospitalier.</a:t>
            </a:r>
          </a:p>
        </p:txBody>
      </p:sp>
    </p:spTree>
    <p:extLst>
      <p:ext uri="{BB962C8B-B14F-4D97-AF65-F5344CB8AC3E}">
        <p14:creationId xmlns:p14="http://schemas.microsoft.com/office/powerpoint/2010/main" val="2501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497036" cy="435599"/>
          </a:xfrm>
        </p:spPr>
        <p:txBody>
          <a:bodyPr/>
          <a:lstStyle/>
          <a:p>
            <a:pPr>
              <a:buClr>
                <a:srgbClr val="007DD6"/>
              </a:buClr>
            </a:pPr>
            <a:r>
              <a:rPr lang="fr-FR" dirty="0">
                <a:latin typeface="Lora" charset="0"/>
                <a:ea typeface="Lora" charset="0"/>
                <a:cs typeface="Lora" charset="0"/>
              </a:rPr>
              <a:t>La stérilisation:</a:t>
            </a:r>
          </a:p>
        </p:txBody>
      </p:sp>
      <p:sp>
        <p:nvSpPr>
          <p:cNvPr id="10" name="Oval 9"/>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26</a:t>
            </a:r>
          </a:p>
        </p:txBody>
      </p:sp>
      <p:sp>
        <p:nvSpPr>
          <p:cNvPr id="3" name="Espace réservé du texte 2"/>
          <p:cNvSpPr>
            <a:spLocks noGrp="1"/>
          </p:cNvSpPr>
          <p:nvPr>
            <p:ph type="body" idx="1"/>
          </p:nvPr>
        </p:nvSpPr>
        <p:spPr>
          <a:xfrm>
            <a:off x="254382" y="1307094"/>
            <a:ext cx="8474645" cy="3519287"/>
          </a:xfrm>
        </p:spPr>
        <p:txBody>
          <a:bodyPr/>
          <a:lstStyle/>
          <a:p>
            <a:pPr marL="285750" indent="-285750">
              <a:buFont typeface="Arial" panose="020B0604020202020204" pitchFamily="34" charset="0"/>
              <a:buChar char="•"/>
            </a:pPr>
            <a:r>
              <a:rPr lang="fr-FR" sz="1800" dirty="0">
                <a:effectLst/>
                <a:latin typeface="Times New Roman" panose="02020603050405020304" pitchFamily="18" charset="0"/>
                <a:ea typeface="Times New Roman" panose="02020603050405020304" pitchFamily="18" charset="0"/>
              </a:rPr>
              <a:t>C'est une installation très lourde, très coûteuse, donc peu répandue.</a:t>
            </a:r>
            <a:br>
              <a:rPr lang="fr-FR" sz="1800" dirty="0">
                <a:effectLst/>
                <a:latin typeface="Times New Roman" panose="02020603050405020304" pitchFamily="18" charset="0"/>
                <a:ea typeface="Times New Roman" panose="02020603050405020304" pitchFamily="18" charset="0"/>
              </a:rPr>
            </a:br>
            <a:r>
              <a:rPr lang="fr-FR" sz="1800" dirty="0">
                <a:effectLst/>
                <a:latin typeface="Times New Roman" panose="02020603050405020304" pitchFamily="18" charset="0"/>
                <a:ea typeface="Times New Roman" panose="02020603050405020304" pitchFamily="18" charset="0"/>
              </a:rPr>
              <a:t>Concerne essentiellement le matériel médico-chirurgical à usage unique</a:t>
            </a:r>
          </a:p>
          <a:p>
            <a:pPr marL="285750" indent="-285750">
              <a:buFont typeface="Arial" panose="020B0604020202020204" pitchFamily="34" charset="0"/>
              <a:buChar char="•"/>
            </a:pPr>
            <a:r>
              <a:rPr lang="fr-FR" sz="18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rPr>
              <a:t> Stérilisation à froid du matériel thermosensible (endoscopes)</a:t>
            </a:r>
            <a:endParaRPr lang="fr-FR" sz="1800" b="1" dirty="0">
              <a:solidFill>
                <a:srgbClr val="4F81BD"/>
              </a:solidFill>
              <a:effectLst/>
              <a:latin typeface="Cambria" panose="020405030504060302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Le Glutaraldéhyde in vitro inactive</a:t>
            </a:r>
            <a:r>
              <a:rPr lang="fr-FR"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herpès et poliovirus en 1 minute</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HIV en 2 minutes</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bactéries en 5 minutes (sauf mycobactéries)</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virus de l'hépatite B en 10 minutes</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champignons en 15 minutes</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BK en 20 minutes</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	spores entre 1 et 10 heures selon fournisseurs et produits.</a:t>
            </a:r>
          </a:p>
          <a:p>
            <a:pPr marL="285750" indent="-285750">
              <a:buFont typeface="Arial" panose="020B0604020202020204" pitchFamily="34" charset="0"/>
              <a:buChar char="•"/>
            </a:pPr>
            <a:r>
              <a:rPr lang="fr-FR" sz="1400" dirty="0">
                <a:effectLst/>
                <a:latin typeface="Lora" pitchFamily="2" charset="0"/>
                <a:ea typeface="Times New Roman" panose="02020603050405020304" pitchFamily="18" charset="0"/>
                <a:cs typeface="Arial" panose="020B0604020202020204" pitchFamily="34" charset="0"/>
              </a:rPr>
              <a:t>Il faut rincer à l'eau stérile immédiatement avant utilisation.</a:t>
            </a:r>
          </a:p>
          <a:p>
            <a:pPr marL="285750" indent="-285750">
              <a:buFont typeface="Arial" panose="020B0604020202020204" pitchFamily="34" charset="0"/>
              <a:buChar char="•"/>
            </a:pPr>
            <a:endParaRPr lang="fr-FR" sz="1400" dirty="0">
              <a:effectLst/>
              <a:latin typeface="Lora" pitchFamily="2"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057911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2225" y="1693523"/>
            <a:ext cx="6495051" cy="1159799"/>
          </a:xfrm>
        </p:spPr>
        <p:txBody>
          <a:bodyPr/>
          <a:lstStyle/>
          <a:p>
            <a:pPr>
              <a:buClr>
                <a:srgbClr val="007DD6"/>
              </a:buClr>
            </a:pPr>
            <a:r>
              <a:rPr lang="fr-FR" dirty="0">
                <a:latin typeface="Lora" charset="0"/>
                <a:ea typeface="Lora" charset="0"/>
                <a:cs typeface="Lora" charset="0"/>
              </a:rPr>
              <a:t>Conclusion</a:t>
            </a:r>
          </a:p>
        </p:txBody>
      </p:sp>
      <p:sp>
        <p:nvSpPr>
          <p:cNvPr id="10" name="TextBox 9"/>
          <p:cNvSpPr txBox="1"/>
          <p:nvPr/>
        </p:nvSpPr>
        <p:spPr>
          <a:xfrm>
            <a:off x="1232899" y="2343895"/>
            <a:ext cx="351378" cy="461665"/>
          </a:xfrm>
          <a:prstGeom prst="rect">
            <a:avLst/>
          </a:prstGeom>
          <a:noFill/>
        </p:spPr>
        <p:txBody>
          <a:bodyPr wrap="none" rtlCol="0">
            <a:spAutoFit/>
          </a:bodyPr>
          <a:lstStyle/>
          <a:p>
            <a:r>
              <a:rPr lang="fr-FR" sz="2400" b="1" dirty="0">
                <a:solidFill>
                  <a:schemeClr val="bg1"/>
                </a:solidFill>
                <a:latin typeface="Lora" charset="0"/>
                <a:ea typeface="Lora" charset="0"/>
                <a:cs typeface="Lora" charset="0"/>
              </a:rPr>
              <a:t>5</a:t>
            </a:r>
            <a:endParaRPr lang="fr-FR" sz="2000" b="1" dirty="0">
              <a:solidFill>
                <a:schemeClr val="bg1"/>
              </a:solidFill>
              <a:latin typeface="Lora" charset="0"/>
              <a:ea typeface="Lora" charset="0"/>
              <a:cs typeface="Lora" charset="0"/>
            </a:endParaRPr>
          </a:p>
        </p:txBody>
      </p:sp>
      <p:sp>
        <p:nvSpPr>
          <p:cNvPr id="7" name="Oval 6"/>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38</a:t>
            </a:r>
          </a:p>
        </p:txBody>
      </p:sp>
    </p:spTree>
    <p:extLst>
      <p:ext uri="{BB962C8B-B14F-4D97-AF65-F5344CB8AC3E}">
        <p14:creationId xmlns:p14="http://schemas.microsoft.com/office/powerpoint/2010/main" val="1752613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834615" cy="435599"/>
          </a:xfrm>
        </p:spPr>
        <p:txBody>
          <a:bodyPr/>
          <a:lstStyle/>
          <a:p>
            <a:r>
              <a:rPr lang="fr-FR" dirty="0">
                <a:latin typeface="Lora" charset="0"/>
                <a:ea typeface="Lora" charset="0"/>
                <a:cs typeface="Lora" charset="0"/>
              </a:rPr>
              <a:t>Conclusion :</a:t>
            </a:r>
            <a:endParaRPr lang="fr-FR" dirty="0">
              <a:solidFill>
                <a:srgbClr val="007DD6"/>
              </a:solidFill>
            </a:endParaRPr>
          </a:p>
        </p:txBody>
      </p:sp>
      <p:sp>
        <p:nvSpPr>
          <p:cNvPr id="3" name="Text Placeholder 2"/>
          <p:cNvSpPr>
            <a:spLocks noGrp="1"/>
          </p:cNvSpPr>
          <p:nvPr>
            <p:ph type="body" idx="1"/>
          </p:nvPr>
        </p:nvSpPr>
        <p:spPr>
          <a:xfrm>
            <a:off x="170688" y="1431419"/>
            <a:ext cx="8814816" cy="3501528"/>
          </a:xfrm>
        </p:spPr>
        <p:txBody>
          <a:bodyPr numCol="2"/>
          <a:lstStyle/>
          <a:p>
            <a:pPr>
              <a:buClr>
                <a:schemeClr val="accent1"/>
              </a:buClr>
              <a:buNone/>
            </a:pPr>
            <a:r>
              <a:rPr lang="fr-FR" sz="1800" i="1" dirty="0"/>
              <a:t>La différence entre la stérilisation et la désinfection, se résume en :</a:t>
            </a:r>
          </a:p>
          <a:p>
            <a:pPr marL="457200" indent="-457200">
              <a:buClr>
                <a:schemeClr val="accent1"/>
              </a:buClr>
              <a:buFont typeface="+mj-lt"/>
              <a:buAutoNum type="arabicPeriod"/>
            </a:pPr>
            <a:r>
              <a:rPr lang="fr-FR" sz="1800" i="1" dirty="0"/>
              <a:t>Stérilisation : Obtenir un niveau de contamination en-dessous de 106 des dispositifs médicaux et assurer la non-recontamination au moyen d’emballage scellés.                          Seul un autoclave est en mesure d’assurer une stérilisation.</a:t>
            </a:r>
          </a:p>
          <a:p>
            <a:pPr marL="457200" indent="-457200">
              <a:buClr>
                <a:schemeClr val="accent1"/>
              </a:buClr>
              <a:buFont typeface="+mj-lt"/>
              <a:buAutoNum type="arabicPeriod"/>
            </a:pPr>
            <a:r>
              <a:rPr lang="fr-FR" sz="1800" i="1" dirty="0"/>
              <a:t>Désinfection : Réduction du nombre de micro-organismes présents au moment de l’opération en fonction des objectifs médicaux.</a:t>
            </a:r>
          </a:p>
          <a:p>
            <a:pPr marL="457200" indent="-457200">
              <a:buClr>
                <a:schemeClr val="accent1"/>
              </a:buClr>
              <a:buFont typeface="+mj-lt"/>
              <a:buAutoNum type="arabicPeriod"/>
            </a:pPr>
            <a:r>
              <a:rPr lang="fr-FR" sz="1800" i="1" dirty="0"/>
              <a:t>La désinfection se distingue généralement de la stérilisation par son manque de pouvoir sporicide. </a:t>
            </a:r>
          </a:p>
          <a:p>
            <a:pPr marL="457200" indent="-457200">
              <a:buClr>
                <a:schemeClr val="accent1"/>
              </a:buClr>
              <a:buFont typeface="+mj-lt"/>
              <a:buAutoNum type="arabicPeriod"/>
            </a:pPr>
            <a:r>
              <a:rPr lang="fr-FR" sz="1800" i="1" dirty="0"/>
              <a:t>La maitrise de  désinfection et de stérilisation est indispensable pour assurer tout programme de biosécurité .</a:t>
            </a:r>
          </a:p>
          <a:p>
            <a:pPr marL="457200" indent="-457200">
              <a:buClr>
                <a:schemeClr val="accent1"/>
              </a:buClr>
              <a:buFont typeface="+mj-lt"/>
              <a:buAutoNum type="arabicPeriod"/>
            </a:pPr>
            <a:endParaRPr lang="fr-FR" sz="1800" i="1" dirty="0"/>
          </a:p>
        </p:txBody>
      </p:sp>
      <p:sp>
        <p:nvSpPr>
          <p:cNvPr id="11" name="Oval 10"/>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39</a:t>
            </a:r>
          </a:p>
        </p:txBody>
      </p:sp>
    </p:spTree>
    <p:extLst>
      <p:ext uri="{BB962C8B-B14F-4D97-AF65-F5344CB8AC3E}">
        <p14:creationId xmlns:p14="http://schemas.microsoft.com/office/powerpoint/2010/main" val="182770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250" y="922668"/>
            <a:ext cx="4834615" cy="435599"/>
          </a:xfrm>
        </p:spPr>
        <p:txBody>
          <a:bodyPr/>
          <a:lstStyle/>
          <a:p>
            <a:r>
              <a:rPr lang="fr-FR" dirty="0">
                <a:latin typeface="Lora" charset="0"/>
                <a:ea typeface="Lora" charset="0"/>
                <a:cs typeface="Lora" charset="0"/>
              </a:rPr>
              <a:t>Conclusion :</a:t>
            </a:r>
            <a:endParaRPr lang="fr-FR" dirty="0">
              <a:solidFill>
                <a:srgbClr val="007DD6"/>
              </a:solidFill>
            </a:endParaRPr>
          </a:p>
        </p:txBody>
      </p:sp>
      <p:sp>
        <p:nvSpPr>
          <p:cNvPr id="11" name="Oval 10"/>
          <p:cNvSpPr>
            <a:spLocks noChangeAspect="1"/>
          </p:cNvSpPr>
          <p:nvPr/>
        </p:nvSpPr>
        <p:spPr>
          <a:xfrm>
            <a:off x="8729028" y="4732020"/>
            <a:ext cx="387540" cy="384048"/>
          </a:xfrm>
          <a:prstGeom prst="ellipse">
            <a:avLst/>
          </a:prstGeom>
          <a:solidFill>
            <a:srgbClr val="007D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dirty="0">
                <a:solidFill>
                  <a:schemeClr val="bg1"/>
                </a:solidFill>
                <a:latin typeface="Lora" charset="0"/>
                <a:ea typeface="Lora" charset="0"/>
                <a:cs typeface="Lora" charset="0"/>
              </a:rPr>
              <a:t>39</a:t>
            </a:r>
          </a:p>
        </p:txBody>
      </p:sp>
      <p:pic>
        <p:nvPicPr>
          <p:cNvPr id="4" name="Picture 2" descr="Différence entre désinfection, décontamination et stérilisation">
            <a:extLst>
              <a:ext uri="{FF2B5EF4-FFF2-40B4-BE49-F238E27FC236}">
                <a16:creationId xmlns:a16="http://schemas.microsoft.com/office/drawing/2014/main" id="{1D7A1DC6-A4EF-3071-4CF6-F8353F7C989A}"/>
              </a:ext>
            </a:extLst>
          </p:cNvPr>
          <p:cNvPicPr>
            <a:picLocks noChangeAspect="1"/>
          </p:cNvPicPr>
          <p:nvPr/>
        </p:nvPicPr>
        <p:blipFill>
          <a:blip r:embed="rId3"/>
          <a:srcRect/>
          <a:stretch>
            <a:fillRect/>
          </a:stretch>
        </p:blipFill>
        <p:spPr bwMode="auto">
          <a:xfrm>
            <a:off x="1922967" y="1484336"/>
            <a:ext cx="4598148" cy="3448611"/>
          </a:xfrm>
          <a:prstGeom prst="rect">
            <a:avLst/>
          </a:prstGeom>
          <a:noFill/>
        </p:spPr>
      </p:pic>
    </p:spTree>
    <p:extLst>
      <p:ext uri="{BB962C8B-B14F-4D97-AF65-F5344CB8AC3E}">
        <p14:creationId xmlns:p14="http://schemas.microsoft.com/office/powerpoint/2010/main" val="3007859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cxnSp>
        <p:nvCxnSpPr>
          <p:cNvPr id="87" name="Shape 87"/>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89" name="Shape 89"/>
          <p:cNvSpPr txBox="1">
            <a:spLocks noGrp="1"/>
          </p:cNvSpPr>
          <p:nvPr>
            <p:ph type="ctrTitle" idx="4294967295"/>
          </p:nvPr>
        </p:nvSpPr>
        <p:spPr>
          <a:xfrm>
            <a:off x="2371625" y="816550"/>
            <a:ext cx="4908000" cy="1159799"/>
          </a:xfrm>
          <a:prstGeom prst="rect">
            <a:avLst/>
          </a:prstGeom>
          <a:noFill/>
          <a:ln>
            <a:noFill/>
          </a:ln>
        </p:spPr>
        <p:txBody>
          <a:bodyPr lIns="91425" tIns="91425" rIns="91425" bIns="91425" anchor="ctr" anchorCtr="0">
            <a:noAutofit/>
          </a:bodyPr>
          <a:lstStyle/>
          <a:p>
            <a:pPr>
              <a:spcBef>
                <a:spcPts val="0"/>
              </a:spcBef>
              <a:buNone/>
            </a:pPr>
            <a:r>
              <a:rPr lang="fr-FR" sz="6000" dirty="0">
                <a:solidFill>
                  <a:srgbClr val="007DD6"/>
                </a:solidFill>
              </a:rPr>
              <a:t>Merci</a:t>
            </a:r>
            <a:r>
              <a:rPr lang="en" sz="6000" dirty="0">
                <a:solidFill>
                  <a:srgbClr val="007DD6"/>
                </a:solidFill>
              </a:rPr>
              <a:t>!</a:t>
            </a:r>
          </a:p>
        </p:txBody>
      </p:sp>
      <p:cxnSp>
        <p:nvCxnSpPr>
          <p:cNvPr id="90" name="Shape 90"/>
          <p:cNvCxnSpPr/>
          <p:nvPr/>
        </p:nvCxnSpPr>
        <p:spPr>
          <a:xfrm>
            <a:off x="4800600" y="1428750"/>
            <a:ext cx="4343300" cy="0"/>
          </a:xfrm>
          <a:prstGeom prst="straightConnector1">
            <a:avLst/>
          </a:prstGeom>
          <a:noFill/>
          <a:ln w="9525" cap="flat" cmpd="sng">
            <a:solidFill>
              <a:srgbClr val="CCCCCC"/>
            </a:solidFill>
            <a:prstDash val="solid"/>
            <a:round/>
            <a:headEnd type="none" w="lg" len="lg"/>
            <a:tailEnd type="none" w="lg" len="lg"/>
          </a:ln>
        </p:spPr>
      </p:cxnSp>
      <p:sp>
        <p:nvSpPr>
          <p:cNvPr id="7" name="Shape 403"/>
          <p:cNvSpPr/>
          <p:nvPr/>
        </p:nvSpPr>
        <p:spPr>
          <a:xfrm>
            <a:off x="-6226" y="4707750"/>
            <a:ext cx="9150225" cy="435599"/>
          </a:xfrm>
          <a:prstGeom prst="rect">
            <a:avLst/>
          </a:prstGeom>
          <a:solidFill>
            <a:srgbClr val="007DD6"/>
          </a:solidFill>
          <a:ln>
            <a:noFill/>
          </a:ln>
        </p:spPr>
        <p:txBody>
          <a:bodyPr lIns="91425" tIns="91425" rIns="91425" bIns="91425" anchor="ctr" anchorCtr="0">
            <a:noAutofit/>
          </a:bodyPr>
          <a:lstStyle/>
          <a:p>
            <a:pPr>
              <a:spcBef>
                <a:spcPts val="0"/>
              </a:spcBef>
              <a:buNone/>
            </a:pPr>
            <a:endParaRPr>
              <a:solidFill>
                <a:srgbClr val="FC6403"/>
              </a:solidFill>
            </a:endParaRPr>
          </a:p>
        </p:txBody>
      </p:sp>
    </p:spTree>
    <p:extLst>
      <p:ext uri="{BB962C8B-B14F-4D97-AF65-F5344CB8AC3E}">
        <p14:creationId xmlns:p14="http://schemas.microsoft.com/office/powerpoint/2010/main" val="97543330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89"/>
                                        </p:tgtEl>
                                        <p:attrNameLst>
                                          <p:attrName>ppt_x</p:attrName>
                                          <p:attrName>ppt_y</p:attrName>
                                        </p:attrNameLst>
                                      </p:cBhvr>
                                    </p:animMotion>
                                    <p:animRot by="1500000">
                                      <p:cBhvr>
                                        <p:cTn id="7" dur="125" fill="hold">
                                          <p:stCondLst>
                                            <p:cond delay="0"/>
                                          </p:stCondLst>
                                        </p:cTn>
                                        <p:tgtEl>
                                          <p:spTgt spid="89"/>
                                        </p:tgtEl>
                                        <p:attrNameLst>
                                          <p:attrName>r</p:attrName>
                                        </p:attrNameLst>
                                      </p:cBhvr>
                                    </p:animRot>
                                    <p:animRot by="-1500000">
                                      <p:cBhvr>
                                        <p:cTn id="8" dur="125" fill="hold">
                                          <p:stCondLst>
                                            <p:cond delay="125"/>
                                          </p:stCondLst>
                                        </p:cTn>
                                        <p:tgtEl>
                                          <p:spTgt spid="89"/>
                                        </p:tgtEl>
                                        <p:attrNameLst>
                                          <p:attrName>r</p:attrName>
                                        </p:attrNameLst>
                                      </p:cBhvr>
                                    </p:animRot>
                                    <p:animRot by="-1500000">
                                      <p:cBhvr>
                                        <p:cTn id="9" dur="125" fill="hold">
                                          <p:stCondLst>
                                            <p:cond delay="250"/>
                                          </p:stCondLst>
                                        </p:cTn>
                                        <p:tgtEl>
                                          <p:spTgt spid="89"/>
                                        </p:tgtEl>
                                        <p:attrNameLst>
                                          <p:attrName>r</p:attrName>
                                        </p:attrNameLst>
                                      </p:cBhvr>
                                    </p:animRot>
                                    <p:animRot by="1500000">
                                      <p:cBhvr>
                                        <p:cTn id="10" dur="125" fill="hold">
                                          <p:stCondLst>
                                            <p:cond delay="375"/>
                                          </p:stCondLst>
                                        </p:cTn>
                                        <p:tgtEl>
                                          <p:spTgt spid="8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Lst>
  </p:timing>
</p:sld>
</file>

<file path=ppt/theme/theme1.xml><?xml version="1.0" encoding="utf-8"?>
<a:theme xmlns:a="http://schemas.openxmlformats.org/drawingml/2006/main" name="Viola template">
  <a:themeElements>
    <a:clrScheme name="Custom 1">
      <a:dk1>
        <a:srgbClr val="000000"/>
      </a:dk1>
      <a:lt1>
        <a:srgbClr val="FFFFFF"/>
      </a:lt1>
      <a:dk2>
        <a:srgbClr val="666666"/>
      </a:dk2>
      <a:lt2>
        <a:srgbClr val="CCCCCC"/>
      </a:lt2>
      <a:accent1>
        <a:srgbClr val="3A81BA"/>
      </a:accent1>
      <a:accent2>
        <a:srgbClr val="0399FC"/>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26360</TotalTime>
  <Words>3111</Words>
  <Application>Microsoft Office PowerPoint</Application>
  <PresentationFormat>Affichage à l'écran (16:9)</PresentationFormat>
  <Paragraphs>549</Paragraphs>
  <Slides>38</Slides>
  <Notes>38</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38</vt:i4>
      </vt:variant>
    </vt:vector>
  </HeadingPairs>
  <TitlesOfParts>
    <vt:vector size="47" baseType="lpstr">
      <vt:lpstr>Arial</vt:lpstr>
      <vt:lpstr>Calibri</vt:lpstr>
      <vt:lpstr>Cambria</vt:lpstr>
      <vt:lpstr>Lora</vt:lpstr>
      <vt:lpstr>LucidaGrande</vt:lpstr>
      <vt:lpstr>Quattrocento Sans</vt:lpstr>
      <vt:lpstr>Times New Roman</vt:lpstr>
      <vt:lpstr>Wingdings</vt:lpstr>
      <vt:lpstr>Viola template</vt:lpstr>
      <vt:lpstr>Les antiseptiques, désinfectants et stérilisation </vt:lpstr>
      <vt:lpstr>Plan</vt:lpstr>
      <vt:lpstr>Introduction</vt:lpstr>
      <vt:lpstr>Introduction:</vt:lpstr>
      <vt:lpstr>Les désinfectants</vt:lpstr>
      <vt:lpstr>DÉCONTAMINATION (pré-désinfection)</vt:lpstr>
      <vt:lpstr>Les désinfectants</vt:lpstr>
      <vt:lpstr>Les désinfectants</vt:lpstr>
      <vt:lpstr>Les désinfectants</vt:lpstr>
      <vt:lpstr>Les antiseptiques</vt:lpstr>
      <vt:lpstr>Les antiseptiques</vt:lpstr>
      <vt:lpstr>Les antiseptiques</vt:lpstr>
      <vt:lpstr>Les antiseptiques</vt:lpstr>
      <vt:lpstr>Différents antiseptiques et désinfectants</vt:lpstr>
      <vt:lpstr>Différents antiseptiques et désinfectants</vt:lpstr>
      <vt:lpstr>2-Spectre d’activité anti-microbienne </vt:lpstr>
      <vt:lpstr>2-Spectre d’activité anti-microbienne </vt:lpstr>
      <vt:lpstr>Indications thérapeutiques : </vt:lpstr>
      <vt:lpstr>Usage des antiseptiques en pratique : </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La stérilisation:</vt:lpstr>
      <vt:lpstr>Conclusion</vt:lpstr>
      <vt:lpstr>Conclusion :</vt:lpstr>
      <vt:lpstr>Conclusion :</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Antiseptique - désinfectant - stérilisation pharmacie 2023</dc:title>
  <dc:creator>Omar K</dc:creator>
  <cp:lastModifiedBy>dell</cp:lastModifiedBy>
  <cp:revision>1575</cp:revision>
  <dcterms:modified xsi:type="dcterms:W3CDTF">2023-10-31T00:28:28Z</dcterms:modified>
</cp:coreProperties>
</file>