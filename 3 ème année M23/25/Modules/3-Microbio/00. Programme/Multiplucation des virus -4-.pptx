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80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6" r:id="rId15"/>
    <p:sldId id="277" r:id="rId16"/>
    <p:sldId id="278" r:id="rId17"/>
    <p:sldId id="27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F7B13C-DB23-4EFA-ABAF-BF22AAFF353F}" type="datetimeFigureOut">
              <a:rPr lang="fr-FR" smtClean="0"/>
              <a:t>06/09/2020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D2D711-61DF-40F9-8AA2-60BFEF16DB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081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8537F-3C7C-4232-9986-ADF7BF60F20E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2698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C2F6A9-CC1B-45A9-BAA8-954D737727FE}" type="slidenum">
              <a:rPr lang="fr-FR"/>
              <a:pPr/>
              <a:t>2</a:t>
            </a:fld>
            <a:endParaRPr lang="fr-FR"/>
          </a:p>
        </p:txBody>
      </p:sp>
      <p:sp>
        <p:nvSpPr>
          <p:cNvPr id="261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881261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1DA68C-F86F-4F79-A446-D23B99FAA3D8}" type="slidenum">
              <a:rPr lang="fr-FR"/>
              <a:pPr/>
              <a:t>3</a:t>
            </a:fld>
            <a:endParaRPr lang="fr-FR"/>
          </a:p>
        </p:txBody>
      </p:sp>
      <p:sp>
        <p:nvSpPr>
          <p:cNvPr id="263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3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391514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61C840-3F13-4064-841D-6130DF30F97B}" type="slidenum">
              <a:rPr lang="fr-FR"/>
              <a:pPr/>
              <a:t>5</a:t>
            </a:fld>
            <a:endParaRPr lang="fr-FR"/>
          </a:p>
        </p:txBody>
      </p:sp>
      <p:sp>
        <p:nvSpPr>
          <p:cNvPr id="264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4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733414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C08A33-3573-4846-89FD-913FD735F21F}" type="slidenum">
              <a:rPr lang="fr-FR"/>
              <a:pPr/>
              <a:t>7</a:t>
            </a:fld>
            <a:endParaRPr lang="fr-FR"/>
          </a:p>
        </p:txBody>
      </p:sp>
      <p:sp>
        <p:nvSpPr>
          <p:cNvPr id="265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5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828102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5B2B38-C505-4B82-89AB-6AB12FBBF521}" type="slidenum">
              <a:rPr lang="fr-FR"/>
              <a:pPr/>
              <a:t>8</a:t>
            </a:fld>
            <a:endParaRPr lang="fr-FR"/>
          </a:p>
        </p:txBody>
      </p:sp>
      <p:sp>
        <p:nvSpPr>
          <p:cNvPr id="267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7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780345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F861B0-3298-4DB9-B374-5E8868D7884E}" type="slidenum">
              <a:rPr lang="fr-FR"/>
              <a:pPr/>
              <a:t>10</a:t>
            </a:fld>
            <a:endParaRPr lang="fr-FR"/>
          </a:p>
        </p:txBody>
      </p:sp>
      <p:sp>
        <p:nvSpPr>
          <p:cNvPr id="268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8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646621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9BFDFC-E2B2-4EE4-87C8-2E1D3BDCDD89}" type="slidenum">
              <a:rPr lang="fr-FR"/>
              <a:pPr/>
              <a:t>11</a:t>
            </a:fld>
            <a:endParaRPr lang="fr-FR"/>
          </a:p>
        </p:txBody>
      </p:sp>
      <p:sp>
        <p:nvSpPr>
          <p:cNvPr id="269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831255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5017C4-1CE4-421E-9586-09AA19666587}" type="slidenum">
              <a:rPr lang="fr-FR"/>
              <a:pPr/>
              <a:t>13</a:t>
            </a:fld>
            <a:endParaRPr lang="fr-FR"/>
          </a:p>
        </p:txBody>
      </p:sp>
      <p:sp>
        <p:nvSpPr>
          <p:cNvPr id="270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0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9387983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B97DE1-20F1-46CB-A802-CF0CD32FD4E3}" type="slidenum">
              <a:rPr lang="fr-FR"/>
              <a:pPr/>
              <a:t>14</a:t>
            </a:fld>
            <a:endParaRPr lang="fr-FR"/>
          </a:p>
        </p:txBody>
      </p:sp>
      <p:sp>
        <p:nvSpPr>
          <p:cNvPr id="275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2240549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D373A4-C575-4F9C-BBAC-8573A253BACA}" type="slidenum">
              <a:rPr lang="fr-FR"/>
              <a:pPr/>
              <a:t>15</a:t>
            </a:fld>
            <a:endParaRPr lang="fr-FR"/>
          </a:p>
        </p:txBody>
      </p:sp>
      <p:sp>
        <p:nvSpPr>
          <p:cNvPr id="272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2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2567877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30959D-A140-4756-9627-51761EE6F187}" type="slidenum">
              <a:rPr lang="fr-FR"/>
              <a:pPr/>
              <a:t>16</a:t>
            </a:fld>
            <a:endParaRPr lang="fr-FR"/>
          </a:p>
        </p:txBody>
      </p:sp>
      <p:sp>
        <p:nvSpPr>
          <p:cNvPr id="273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3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9757086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9B4E36-432E-4329-9BEA-0DE19E74D262}" type="slidenum">
              <a:rPr lang="fr-FR"/>
              <a:pPr/>
              <a:t>17</a:t>
            </a:fld>
            <a:endParaRPr lang="fr-FR"/>
          </a:p>
        </p:txBody>
      </p:sp>
      <p:sp>
        <p:nvSpPr>
          <p:cNvPr id="276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227713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image" Target="../media/image1.png"/><Relationship Id="rId5" Type="http://schemas.openxmlformats.org/officeDocument/2006/relationships/image" Target="../media/image6.jpeg"/><Relationship Id="rId4" Type="http://schemas.openxmlformats.org/officeDocument/2006/relationships/notesSlide" Target="../notesSlides/notesSlide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6" Type="http://schemas.openxmlformats.org/officeDocument/2006/relationships/image" Target="../media/image8.jpeg"/><Relationship Id="rId5" Type="http://schemas.openxmlformats.org/officeDocument/2006/relationships/hyperlink" Target="http://images.google.fr/imgres?imgurl=http://www.medportal.ru/common/hash/4/e/4e5a1cfa-0a8b-4c28-9da2-810c30e67615.jpg&amp;imgrefurl=http://www.medportal.ru/enc/infection/reading/2/&amp;h=130&amp;w=200&amp;sz=8&amp;hl=fr&amp;start=35&amp;tbnid=jpOYTB58-UHw4M:&amp;tbnh=68&amp;tbnw=104&amp;prev=/images?q=orthomixovirus&amp;start=20&amp;gbv=2&amp;ndsp=20&amp;hl=fr&amp;sa=N" TargetMode="Externa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827712" y="1106743"/>
            <a:ext cx="5891022" cy="4304663"/>
          </a:xfrm>
        </p:spPr>
        <p:txBody>
          <a:bodyPr>
            <a:noAutofit/>
          </a:bodyPr>
          <a:lstStyle/>
          <a:p>
            <a:pPr algn="ctr"/>
            <a:endParaRPr lang="fr-FR" sz="2700" dirty="0">
              <a:latin typeface="Algerian" pitchFamily="82" charset="0"/>
            </a:endParaRPr>
          </a:p>
          <a:p>
            <a:pPr algn="ctr"/>
            <a:r>
              <a:rPr lang="fr-FR" sz="4950" dirty="0">
                <a:latin typeface="Algerian" pitchFamily="82" charset="0"/>
              </a:rPr>
              <a:t>Multiplication des virus</a:t>
            </a:r>
          </a:p>
          <a:p>
            <a:pPr algn="ctr"/>
            <a:r>
              <a:rPr lang="fr-FR" sz="4950">
                <a:latin typeface="Algerian" pitchFamily="82" charset="0"/>
              </a:rPr>
              <a:t>Partie </a:t>
            </a:r>
            <a:r>
              <a:rPr lang="fr-FR" sz="4950" smtClean="0">
                <a:latin typeface="Algerian" pitchFamily="82" charset="0"/>
              </a:rPr>
              <a:t>4</a:t>
            </a:r>
            <a:endParaRPr lang="fr-FR" sz="4950" dirty="0">
              <a:latin typeface="Algerian" pitchFamily="82" charset="0"/>
            </a:endParaRPr>
          </a:p>
          <a:p>
            <a:pPr algn="ctr"/>
            <a:r>
              <a:rPr lang="fr-FR" sz="2700" dirty="0">
                <a:latin typeface="Algerian" pitchFamily="82" charset="0"/>
              </a:rPr>
              <a:t>DR. L .BECHIR</a:t>
            </a:r>
          </a:p>
          <a:p>
            <a:pPr algn="ctr"/>
            <a:r>
              <a:rPr lang="fr-FR" sz="2700" dirty="0">
                <a:latin typeface="Algerian" pitchFamily="82" charset="0"/>
              </a:rPr>
              <a:t>Laboratoire de Bactériologie</a:t>
            </a:r>
          </a:p>
          <a:p>
            <a:pPr algn="ctr"/>
            <a:r>
              <a:rPr lang="fr-FR" sz="2700" dirty="0">
                <a:latin typeface="Algerian" pitchFamily="82" charset="0"/>
              </a:rPr>
              <a:t>Faculté de Médecine de CONSTANTINE</a:t>
            </a:r>
          </a:p>
          <a:p>
            <a:pPr algn="ctr"/>
            <a:endParaRPr lang="fr-FR" sz="2700" b="1" dirty="0">
              <a:latin typeface="Algerian" pitchFamily="82" charset="0"/>
            </a:endParaRPr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912645" y="3245645"/>
            <a:ext cx="365522" cy="36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208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71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333376"/>
            <a:ext cx="8229600" cy="6048375"/>
          </a:xfrm>
          <a:solidFill>
            <a:srgbClr val="FFFFCC"/>
          </a:solidFill>
          <a:ln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fr-FR" sz="4000" b="1">
                <a:solidFill>
                  <a:srgbClr val="FF0066"/>
                </a:solidFill>
              </a:rPr>
              <a:t>VIRUS A ARN BICATENAIRE </a:t>
            </a:r>
            <a:r>
              <a:rPr lang="fr-FR" sz="4000">
                <a:solidFill>
                  <a:srgbClr val="FF0066"/>
                </a:solidFill>
              </a:rPr>
              <a:t>(Riovirus)</a:t>
            </a:r>
          </a:p>
          <a:p>
            <a:pPr eaLnBrk="1" hangingPunct="1">
              <a:buClr>
                <a:srgbClr val="0033CC"/>
              </a:buClr>
              <a:buFont typeface="Wingdings" pitchFamily="2" charset="2"/>
              <a:buChar char="§"/>
            </a:pPr>
            <a:r>
              <a:rPr lang="fr-FR" sz="4000"/>
              <a:t>La transcription est asymétrique, un seul des ARN génomique est copié.</a:t>
            </a:r>
          </a:p>
          <a:p>
            <a:pPr eaLnBrk="1" hangingPunct="1">
              <a:buClr>
                <a:srgbClr val="0033CC"/>
              </a:buClr>
              <a:buFont typeface="Wingdings" pitchFamily="2" charset="2"/>
              <a:buChar char="§"/>
            </a:pPr>
            <a:r>
              <a:rPr lang="fr-FR" sz="4000"/>
              <a:t>Il ya production de protéines virales qui vont s’associer en particule et à partir de ce brin est copié le 2</a:t>
            </a:r>
            <a:r>
              <a:rPr lang="fr-FR" sz="4000" baseline="30000"/>
              <a:t>e</a:t>
            </a:r>
            <a:r>
              <a:rPr lang="fr-FR" sz="4000"/>
              <a:t> brin.</a:t>
            </a:r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6" y="318452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41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39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3"/>
          <p:cNvSpPr>
            <a:spLocks noGrp="1" noChangeArrowheads="1"/>
          </p:cNvSpPr>
          <p:nvPr>
            <p:ph idx="1"/>
          </p:nvPr>
        </p:nvSpPr>
        <p:spPr>
          <a:xfrm>
            <a:off x="1847851" y="333376"/>
            <a:ext cx="8569325" cy="6264275"/>
          </a:xfrm>
          <a:solidFill>
            <a:srgbClr val="FFFFCC"/>
          </a:solidFill>
          <a:ln>
            <a:solidFill>
              <a:schemeClr val="tx1"/>
            </a:solidFill>
          </a:ln>
        </p:spPr>
        <p:txBody>
          <a:bodyPr/>
          <a:lstStyle/>
          <a:p>
            <a:pPr eaLnBrk="1" hangingPunct="1">
              <a:buClr>
                <a:srgbClr val="0066FF"/>
              </a:buClr>
              <a:buFont typeface="Wingdings" pitchFamily="2" charset="2"/>
              <a:buChar char="Ø"/>
            </a:pPr>
            <a:r>
              <a:rPr lang="fr-FR" sz="3600"/>
              <a:t> La réplication du génome des virus à ARN est beaucoup moins fidèle que celle du génome des virus à ADN </a:t>
            </a:r>
            <a:r>
              <a:rPr lang="fr-FR" sz="3600">
                <a:solidFill>
                  <a:srgbClr val="FF0066"/>
                </a:solidFill>
              </a:rPr>
              <a:t>(les </a:t>
            </a:r>
            <a:r>
              <a:rPr lang="fr-FR" sz="3600">
                <a:solidFill>
                  <a:srgbClr val="0033CC"/>
                </a:solidFill>
              </a:rPr>
              <a:t>ARN polymérases</a:t>
            </a:r>
            <a:r>
              <a:rPr lang="fr-FR" sz="3600">
                <a:solidFill>
                  <a:srgbClr val="FF0066"/>
                </a:solidFill>
              </a:rPr>
              <a:t> n'ayant pas les mécanismes de détection et correction d'erreurs qu'ont les </a:t>
            </a:r>
            <a:r>
              <a:rPr lang="fr-FR" sz="3600">
                <a:solidFill>
                  <a:srgbClr val="0033CC"/>
                </a:solidFill>
              </a:rPr>
              <a:t>ADN polymérases</a:t>
            </a:r>
            <a:r>
              <a:rPr lang="fr-FR" sz="3600">
                <a:solidFill>
                  <a:srgbClr val="FF0066"/>
                </a:solidFill>
              </a:rPr>
              <a:t> des virus à </a:t>
            </a:r>
            <a:r>
              <a:rPr lang="fr-FR" sz="3600">
                <a:solidFill>
                  <a:srgbClr val="0033CC"/>
                </a:solidFill>
              </a:rPr>
              <a:t>ADN</a:t>
            </a:r>
            <a:r>
              <a:rPr lang="fr-FR" sz="3600">
                <a:solidFill>
                  <a:srgbClr val="FF0066"/>
                </a:solidFill>
              </a:rPr>
              <a:t>).</a:t>
            </a:r>
            <a:r>
              <a:rPr lang="fr-FR" sz="3600"/>
              <a:t> </a:t>
            </a:r>
          </a:p>
          <a:p>
            <a:pPr eaLnBrk="1" hangingPunct="1">
              <a:buClr>
                <a:srgbClr val="0066FF"/>
              </a:buClr>
              <a:buFont typeface="Wingdings" pitchFamily="2" charset="2"/>
              <a:buChar char="Ø"/>
            </a:pPr>
            <a:r>
              <a:rPr lang="fr-FR" sz="3600"/>
              <a:t> Les virus à ARN sont donc sujets à des variations génétiques (</a:t>
            </a:r>
            <a:r>
              <a:rPr lang="fr-FR" sz="3600">
                <a:solidFill>
                  <a:srgbClr val="FF0066"/>
                </a:solidFill>
              </a:rPr>
              <a:t>HIV, virus de l'hépatite C).</a:t>
            </a:r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6" y="318452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37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46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0000FF"/>
                </a:solidFill>
              </a:rPr>
              <a:t>E</a:t>
            </a:r>
            <a:r>
              <a:rPr lang="fr-FR" b="1" dirty="0" smtClean="0">
                <a:solidFill>
                  <a:srgbClr val="0000FF"/>
                </a:solidFill>
              </a:rPr>
              <a:t>)- </a:t>
            </a:r>
            <a:r>
              <a:rPr lang="fr-FR" b="1" u="sng" dirty="0">
                <a:solidFill>
                  <a:srgbClr val="0000FF"/>
                </a:solidFill>
              </a:rPr>
              <a:t>ASSEMBLAGE DES VIRUS</a:t>
            </a:r>
            <a:r>
              <a:rPr lang="fr-FR" b="1" dirty="0">
                <a:solidFill>
                  <a:srgbClr val="0000FF"/>
                </a:solidFill>
              </a:rPr>
              <a:t> :</a:t>
            </a:r>
            <a:r>
              <a:rPr lang="fr-FR" dirty="0">
                <a:solidFill>
                  <a:srgbClr val="0000FF"/>
                </a:solidFill>
              </a:rPr>
              <a:t/>
            </a:r>
            <a:br>
              <a:rPr lang="fr-FR" dirty="0">
                <a:solidFill>
                  <a:srgbClr val="0000FF"/>
                </a:solidFill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466416" y="1484784"/>
            <a:ext cx="6591985" cy="4680520"/>
          </a:xfrm>
        </p:spPr>
        <p:txBody>
          <a:bodyPr>
            <a:noAutofit/>
          </a:bodyPr>
          <a:lstStyle/>
          <a:p>
            <a:r>
              <a:rPr lang="fr-FR" sz="2400" dirty="0"/>
              <a:t>Correspond à l’assemblage des protéines de structure, l’incorporation du génome dans la pro capside, la maturation des protéines par clivage protéolytique ou modification de conformation,  exemples : • clivage de l’hémagglutinine du virus grippal par protéases cellulaires • clivage de la poly protéine du poliovirus par des protéases virales ou cellulaires • clivage des protéines gag et </a:t>
            </a:r>
            <a:r>
              <a:rPr lang="fr-FR" sz="2400" dirty="0" err="1"/>
              <a:t>pol</a:t>
            </a:r>
            <a:r>
              <a:rPr lang="fr-FR" sz="2400" dirty="0"/>
              <a:t> du HIV par protéases virales</a:t>
            </a:r>
          </a:p>
        </p:txBody>
      </p:sp>
      <p:pic>
        <p:nvPicPr>
          <p:cNvPr id="4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1526" y="318452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194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65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5"/>
          <p:cNvSpPr>
            <a:spLocks noChangeArrowheads="1"/>
          </p:cNvSpPr>
          <p:nvPr/>
        </p:nvSpPr>
        <p:spPr bwMode="auto">
          <a:xfrm>
            <a:off x="1992314" y="404813"/>
            <a:ext cx="8135937" cy="5903912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25955" name="Text Box 6"/>
          <p:cNvSpPr txBox="1">
            <a:spLocks noChangeArrowheads="1"/>
          </p:cNvSpPr>
          <p:nvPr/>
        </p:nvSpPr>
        <p:spPr bwMode="auto">
          <a:xfrm>
            <a:off x="1992314" y="365126"/>
            <a:ext cx="8135937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fr-FR" sz="4000" dirty="0">
              <a:solidFill>
                <a:srgbClr val="0000FF"/>
              </a:solidFill>
            </a:endParaRPr>
          </a:p>
          <a:p>
            <a:r>
              <a:rPr lang="fr-FR" sz="4000" dirty="0"/>
              <a:t>  </a:t>
            </a:r>
          </a:p>
          <a:p>
            <a:r>
              <a:rPr lang="fr-FR" sz="4000" dirty="0"/>
              <a:t>   Auto assemblage des composés  fabriqués :</a:t>
            </a:r>
          </a:p>
          <a:p>
            <a:pPr algn="ctr"/>
            <a:r>
              <a:rPr lang="fr-FR" sz="4000" dirty="0">
                <a:solidFill>
                  <a:srgbClr val="0000FF"/>
                </a:solidFill>
              </a:rPr>
              <a:t>Protéines de capside</a:t>
            </a:r>
            <a:r>
              <a:rPr lang="fr-FR" sz="4000" dirty="0"/>
              <a:t>+ </a:t>
            </a:r>
            <a:r>
              <a:rPr lang="fr-FR" sz="4000" dirty="0" err="1">
                <a:solidFill>
                  <a:srgbClr val="0000FF"/>
                </a:solidFill>
              </a:rPr>
              <a:t>A.nucléique</a:t>
            </a:r>
            <a:r>
              <a:rPr lang="fr-FR" sz="4000" dirty="0"/>
              <a:t>  = </a:t>
            </a:r>
            <a:r>
              <a:rPr lang="fr-FR" sz="4000" dirty="0">
                <a:solidFill>
                  <a:srgbClr val="FF3399"/>
                </a:solidFill>
              </a:rPr>
              <a:t>nucléocapside</a:t>
            </a:r>
            <a:r>
              <a:rPr lang="fr-FR" sz="4000" dirty="0"/>
              <a:t>                 </a:t>
            </a:r>
          </a:p>
          <a:p>
            <a:endParaRPr lang="fr-FR" sz="4000" dirty="0"/>
          </a:p>
          <a:p>
            <a:endParaRPr lang="fr-FR" sz="4000" dirty="0"/>
          </a:p>
          <a:p>
            <a:pPr algn="ctr"/>
            <a:r>
              <a:rPr lang="fr-FR" sz="4000" dirty="0">
                <a:solidFill>
                  <a:srgbClr val="FF3399"/>
                </a:solidFill>
              </a:rPr>
              <a:t>Maturation</a:t>
            </a:r>
          </a:p>
        </p:txBody>
      </p:sp>
      <p:sp>
        <p:nvSpPr>
          <p:cNvPr id="125956" name="AutoShape 7"/>
          <p:cNvSpPr>
            <a:spLocks noChangeArrowheads="1"/>
          </p:cNvSpPr>
          <p:nvPr/>
        </p:nvSpPr>
        <p:spPr bwMode="auto">
          <a:xfrm>
            <a:off x="4943476" y="4437064"/>
            <a:ext cx="2232025" cy="288925"/>
          </a:xfrm>
          <a:custGeom>
            <a:avLst/>
            <a:gdLst>
              <a:gd name="T0" fmla="*/ 1674019 w 21600"/>
              <a:gd name="T1" fmla="*/ 0 h 21600"/>
              <a:gd name="T2" fmla="*/ 0 w 21600"/>
              <a:gd name="T3" fmla="*/ 144463 h 21600"/>
              <a:gd name="T4" fmla="*/ 1674019 w 21600"/>
              <a:gd name="T5" fmla="*/ 288925 h 21600"/>
              <a:gd name="T6" fmla="*/ 2232025 w 21600"/>
              <a:gd name="T7" fmla="*/ 144463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6" y="318452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794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75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466416" y="1412776"/>
            <a:ext cx="6591985" cy="3744416"/>
          </a:xfrm>
        </p:spPr>
        <p:txBody>
          <a:bodyPr/>
          <a:lstStyle/>
          <a:p>
            <a:r>
              <a:rPr lang="fr-FR" sz="2400" dirty="0"/>
              <a:t>Maturation des </a:t>
            </a:r>
            <a:r>
              <a:rPr lang="fr-FR" sz="2400" dirty="0" err="1"/>
              <a:t>proteines</a:t>
            </a:r>
            <a:r>
              <a:rPr lang="fr-FR" sz="2400" dirty="0"/>
              <a:t> gag et </a:t>
            </a:r>
            <a:r>
              <a:rPr lang="fr-FR" sz="2400" dirty="0" err="1"/>
              <a:t>pol</a:t>
            </a:r>
            <a:r>
              <a:rPr lang="fr-FR" sz="2400" dirty="0"/>
              <a:t> du HIV</a:t>
            </a:r>
          </a:p>
          <a:p>
            <a:r>
              <a:rPr lang="fr-FR" sz="2400" dirty="0"/>
              <a:t>Les protéases virales sont la cible d’antiviraux =  les </a:t>
            </a:r>
            <a:r>
              <a:rPr lang="fr-FR" sz="2400" dirty="0" err="1"/>
              <a:t>antiprotéases</a:t>
            </a:r>
            <a:r>
              <a:rPr lang="fr-FR" sz="2400" dirty="0"/>
              <a:t> (ex : </a:t>
            </a:r>
            <a:r>
              <a:rPr lang="fr-FR" sz="2400" dirty="0" err="1"/>
              <a:t>Ritonavir</a:t>
            </a:r>
            <a:r>
              <a:rPr lang="fr-FR" sz="2400" dirty="0"/>
              <a:t>,..) </a:t>
            </a:r>
          </a:p>
          <a:p>
            <a:r>
              <a:rPr lang="fr-FR" sz="2400" dirty="0"/>
              <a:t>La protéase du VHC est la cible d’antiviraux: </a:t>
            </a:r>
            <a:r>
              <a:rPr lang="fr-FR" sz="2400" dirty="0" err="1"/>
              <a:t>boceprevir</a:t>
            </a:r>
            <a:r>
              <a:rPr lang="fr-FR" sz="2400" dirty="0"/>
              <a:t>, </a:t>
            </a:r>
            <a:r>
              <a:rPr lang="fr-FR" sz="2400" dirty="0" err="1"/>
              <a:t>telaprevir</a:t>
            </a:r>
            <a:r>
              <a:rPr lang="fr-FR" sz="2400" dirty="0"/>
              <a:t>,..</a:t>
            </a:r>
          </a:p>
          <a:p>
            <a:endParaRPr lang="fr-FR" dirty="0"/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1526" y="318452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57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6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978" name="Picture 4" descr="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424114" y="20638"/>
            <a:ext cx="6840537" cy="683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6979" name="Freeform 5"/>
          <p:cNvSpPr>
            <a:spLocks/>
          </p:cNvSpPr>
          <p:nvPr/>
        </p:nvSpPr>
        <p:spPr bwMode="auto">
          <a:xfrm>
            <a:off x="4724400" y="6046789"/>
            <a:ext cx="1143000" cy="377825"/>
          </a:xfrm>
          <a:custGeom>
            <a:avLst/>
            <a:gdLst>
              <a:gd name="T0" fmla="*/ 0 w 720"/>
              <a:gd name="T1" fmla="*/ 208 h 238"/>
              <a:gd name="T2" fmla="*/ 114 w 720"/>
              <a:gd name="T3" fmla="*/ 238 h 238"/>
              <a:gd name="T4" fmla="*/ 197 w 720"/>
              <a:gd name="T5" fmla="*/ 223 h 238"/>
              <a:gd name="T6" fmla="*/ 243 w 720"/>
              <a:gd name="T7" fmla="*/ 193 h 238"/>
              <a:gd name="T8" fmla="*/ 258 w 720"/>
              <a:gd name="T9" fmla="*/ 170 h 238"/>
              <a:gd name="T10" fmla="*/ 235 w 720"/>
              <a:gd name="T11" fmla="*/ 102 h 238"/>
              <a:gd name="T12" fmla="*/ 212 w 720"/>
              <a:gd name="T13" fmla="*/ 94 h 238"/>
              <a:gd name="T14" fmla="*/ 189 w 720"/>
              <a:gd name="T15" fmla="*/ 102 h 238"/>
              <a:gd name="T16" fmla="*/ 205 w 720"/>
              <a:gd name="T17" fmla="*/ 147 h 238"/>
              <a:gd name="T18" fmla="*/ 212 w 720"/>
              <a:gd name="T19" fmla="*/ 170 h 238"/>
              <a:gd name="T20" fmla="*/ 280 w 720"/>
              <a:gd name="T21" fmla="*/ 193 h 238"/>
              <a:gd name="T22" fmla="*/ 303 w 720"/>
              <a:gd name="T23" fmla="*/ 185 h 238"/>
              <a:gd name="T24" fmla="*/ 326 w 720"/>
              <a:gd name="T25" fmla="*/ 178 h 238"/>
              <a:gd name="T26" fmla="*/ 371 w 720"/>
              <a:gd name="T27" fmla="*/ 162 h 238"/>
              <a:gd name="T28" fmla="*/ 417 w 720"/>
              <a:gd name="T29" fmla="*/ 117 h 238"/>
              <a:gd name="T30" fmla="*/ 349 w 720"/>
              <a:gd name="T31" fmla="*/ 56 h 238"/>
              <a:gd name="T32" fmla="*/ 311 w 720"/>
              <a:gd name="T33" fmla="*/ 64 h 238"/>
              <a:gd name="T34" fmla="*/ 371 w 720"/>
              <a:gd name="T35" fmla="*/ 102 h 238"/>
              <a:gd name="T36" fmla="*/ 402 w 720"/>
              <a:gd name="T37" fmla="*/ 140 h 238"/>
              <a:gd name="T38" fmla="*/ 447 w 720"/>
              <a:gd name="T39" fmla="*/ 155 h 238"/>
              <a:gd name="T40" fmla="*/ 591 w 720"/>
              <a:gd name="T41" fmla="*/ 102 h 238"/>
              <a:gd name="T42" fmla="*/ 614 w 720"/>
              <a:gd name="T43" fmla="*/ 34 h 238"/>
              <a:gd name="T44" fmla="*/ 508 w 720"/>
              <a:gd name="T45" fmla="*/ 26 h 238"/>
              <a:gd name="T46" fmla="*/ 576 w 720"/>
              <a:gd name="T47" fmla="*/ 94 h 238"/>
              <a:gd name="T48" fmla="*/ 720 w 720"/>
              <a:gd name="T49" fmla="*/ 94 h 238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720"/>
              <a:gd name="T76" fmla="*/ 0 h 238"/>
              <a:gd name="T77" fmla="*/ 720 w 720"/>
              <a:gd name="T78" fmla="*/ 238 h 238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720" h="238">
                <a:moveTo>
                  <a:pt x="0" y="208"/>
                </a:moveTo>
                <a:cubicBezTo>
                  <a:pt x="42" y="217"/>
                  <a:pt x="74" y="226"/>
                  <a:pt x="114" y="238"/>
                </a:cubicBezTo>
                <a:cubicBezTo>
                  <a:pt x="133" y="236"/>
                  <a:pt x="175" y="235"/>
                  <a:pt x="197" y="223"/>
                </a:cubicBezTo>
                <a:cubicBezTo>
                  <a:pt x="213" y="214"/>
                  <a:pt x="243" y="193"/>
                  <a:pt x="243" y="193"/>
                </a:cubicBezTo>
                <a:cubicBezTo>
                  <a:pt x="248" y="185"/>
                  <a:pt x="257" y="179"/>
                  <a:pt x="258" y="170"/>
                </a:cubicBezTo>
                <a:cubicBezTo>
                  <a:pt x="258" y="169"/>
                  <a:pt x="236" y="103"/>
                  <a:pt x="235" y="102"/>
                </a:cubicBezTo>
                <a:cubicBezTo>
                  <a:pt x="229" y="96"/>
                  <a:pt x="220" y="97"/>
                  <a:pt x="212" y="94"/>
                </a:cubicBezTo>
                <a:cubicBezTo>
                  <a:pt x="204" y="97"/>
                  <a:pt x="190" y="94"/>
                  <a:pt x="189" y="102"/>
                </a:cubicBezTo>
                <a:cubicBezTo>
                  <a:pt x="187" y="118"/>
                  <a:pt x="200" y="132"/>
                  <a:pt x="205" y="147"/>
                </a:cubicBezTo>
                <a:cubicBezTo>
                  <a:pt x="208" y="155"/>
                  <a:pt x="206" y="164"/>
                  <a:pt x="212" y="170"/>
                </a:cubicBezTo>
                <a:cubicBezTo>
                  <a:pt x="223" y="181"/>
                  <a:pt x="265" y="187"/>
                  <a:pt x="280" y="193"/>
                </a:cubicBezTo>
                <a:cubicBezTo>
                  <a:pt x="288" y="190"/>
                  <a:pt x="295" y="188"/>
                  <a:pt x="303" y="185"/>
                </a:cubicBezTo>
                <a:cubicBezTo>
                  <a:pt x="311" y="183"/>
                  <a:pt x="318" y="181"/>
                  <a:pt x="326" y="178"/>
                </a:cubicBezTo>
                <a:cubicBezTo>
                  <a:pt x="341" y="173"/>
                  <a:pt x="371" y="162"/>
                  <a:pt x="371" y="162"/>
                </a:cubicBezTo>
                <a:cubicBezTo>
                  <a:pt x="397" y="138"/>
                  <a:pt x="405" y="153"/>
                  <a:pt x="417" y="117"/>
                </a:cubicBezTo>
                <a:cubicBezTo>
                  <a:pt x="403" y="66"/>
                  <a:pt x="395" y="73"/>
                  <a:pt x="349" y="56"/>
                </a:cubicBezTo>
                <a:cubicBezTo>
                  <a:pt x="336" y="59"/>
                  <a:pt x="319" y="54"/>
                  <a:pt x="311" y="64"/>
                </a:cubicBezTo>
                <a:cubicBezTo>
                  <a:pt x="296" y="84"/>
                  <a:pt x="365" y="100"/>
                  <a:pt x="371" y="102"/>
                </a:cubicBezTo>
                <a:cubicBezTo>
                  <a:pt x="383" y="113"/>
                  <a:pt x="388" y="131"/>
                  <a:pt x="402" y="140"/>
                </a:cubicBezTo>
                <a:cubicBezTo>
                  <a:pt x="415" y="148"/>
                  <a:pt x="447" y="155"/>
                  <a:pt x="447" y="155"/>
                </a:cubicBezTo>
                <a:cubicBezTo>
                  <a:pt x="498" y="141"/>
                  <a:pt x="541" y="117"/>
                  <a:pt x="591" y="102"/>
                </a:cubicBezTo>
                <a:cubicBezTo>
                  <a:pt x="599" y="79"/>
                  <a:pt x="606" y="57"/>
                  <a:pt x="614" y="34"/>
                </a:cubicBezTo>
                <a:cubicBezTo>
                  <a:pt x="582" y="0"/>
                  <a:pt x="550" y="15"/>
                  <a:pt x="508" y="26"/>
                </a:cubicBezTo>
                <a:cubicBezTo>
                  <a:pt x="518" y="83"/>
                  <a:pt x="525" y="78"/>
                  <a:pt x="576" y="94"/>
                </a:cubicBezTo>
                <a:cubicBezTo>
                  <a:pt x="624" y="126"/>
                  <a:pt x="669" y="94"/>
                  <a:pt x="720" y="94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26980" name="Freeform 6"/>
          <p:cNvSpPr>
            <a:spLocks/>
          </p:cNvSpPr>
          <p:nvPr/>
        </p:nvSpPr>
        <p:spPr bwMode="auto">
          <a:xfrm>
            <a:off x="5527675" y="4038601"/>
            <a:ext cx="293688" cy="371475"/>
          </a:xfrm>
          <a:custGeom>
            <a:avLst/>
            <a:gdLst>
              <a:gd name="T0" fmla="*/ 25 w 185"/>
              <a:gd name="T1" fmla="*/ 215 h 234"/>
              <a:gd name="T2" fmla="*/ 161 w 185"/>
              <a:gd name="T3" fmla="*/ 222 h 234"/>
              <a:gd name="T4" fmla="*/ 176 w 185"/>
              <a:gd name="T5" fmla="*/ 200 h 234"/>
              <a:gd name="T6" fmla="*/ 161 w 185"/>
              <a:gd name="T7" fmla="*/ 154 h 234"/>
              <a:gd name="T8" fmla="*/ 100 w 185"/>
              <a:gd name="T9" fmla="*/ 147 h 234"/>
              <a:gd name="T10" fmla="*/ 17 w 185"/>
              <a:gd name="T11" fmla="*/ 139 h 234"/>
              <a:gd name="T12" fmla="*/ 2 w 185"/>
              <a:gd name="T13" fmla="*/ 162 h 234"/>
              <a:gd name="T14" fmla="*/ 25 w 185"/>
              <a:gd name="T15" fmla="*/ 177 h 234"/>
              <a:gd name="T16" fmla="*/ 70 w 185"/>
              <a:gd name="T17" fmla="*/ 192 h 234"/>
              <a:gd name="T18" fmla="*/ 93 w 185"/>
              <a:gd name="T19" fmla="*/ 200 h 234"/>
              <a:gd name="T20" fmla="*/ 153 w 185"/>
              <a:gd name="T21" fmla="*/ 169 h 234"/>
              <a:gd name="T22" fmla="*/ 161 w 185"/>
              <a:gd name="T23" fmla="*/ 86 h 234"/>
              <a:gd name="T24" fmla="*/ 153 w 185"/>
              <a:gd name="T25" fmla="*/ 63 h 234"/>
              <a:gd name="T26" fmla="*/ 123 w 185"/>
              <a:gd name="T27" fmla="*/ 56 h 234"/>
              <a:gd name="T28" fmla="*/ 47 w 185"/>
              <a:gd name="T29" fmla="*/ 63 h 234"/>
              <a:gd name="T30" fmla="*/ 17 w 185"/>
              <a:gd name="T31" fmla="*/ 71 h 234"/>
              <a:gd name="T32" fmla="*/ 25 w 185"/>
              <a:gd name="T33" fmla="*/ 93 h 234"/>
              <a:gd name="T34" fmla="*/ 55 w 185"/>
              <a:gd name="T35" fmla="*/ 101 h 234"/>
              <a:gd name="T36" fmla="*/ 146 w 185"/>
              <a:gd name="T37" fmla="*/ 78 h 234"/>
              <a:gd name="T38" fmla="*/ 138 w 185"/>
              <a:gd name="T39" fmla="*/ 25 h 234"/>
              <a:gd name="T40" fmla="*/ 115 w 185"/>
              <a:gd name="T41" fmla="*/ 18 h 234"/>
              <a:gd name="T42" fmla="*/ 2 w 185"/>
              <a:gd name="T43" fmla="*/ 10 h 234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185"/>
              <a:gd name="T67" fmla="*/ 0 h 234"/>
              <a:gd name="T68" fmla="*/ 185 w 185"/>
              <a:gd name="T69" fmla="*/ 234 h 234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185" h="234">
                <a:moveTo>
                  <a:pt x="25" y="215"/>
                </a:moveTo>
                <a:cubicBezTo>
                  <a:pt x="71" y="229"/>
                  <a:pt x="115" y="234"/>
                  <a:pt x="161" y="222"/>
                </a:cubicBezTo>
                <a:cubicBezTo>
                  <a:pt x="166" y="215"/>
                  <a:pt x="174" y="209"/>
                  <a:pt x="176" y="200"/>
                </a:cubicBezTo>
                <a:cubicBezTo>
                  <a:pt x="176" y="199"/>
                  <a:pt x="162" y="154"/>
                  <a:pt x="161" y="154"/>
                </a:cubicBezTo>
                <a:cubicBezTo>
                  <a:pt x="142" y="146"/>
                  <a:pt x="120" y="149"/>
                  <a:pt x="100" y="147"/>
                </a:cubicBezTo>
                <a:cubicBezTo>
                  <a:pt x="43" y="127"/>
                  <a:pt x="71" y="128"/>
                  <a:pt x="17" y="139"/>
                </a:cubicBezTo>
                <a:cubicBezTo>
                  <a:pt x="12" y="147"/>
                  <a:pt x="0" y="153"/>
                  <a:pt x="2" y="162"/>
                </a:cubicBezTo>
                <a:cubicBezTo>
                  <a:pt x="4" y="171"/>
                  <a:pt x="17" y="173"/>
                  <a:pt x="25" y="177"/>
                </a:cubicBezTo>
                <a:cubicBezTo>
                  <a:pt x="39" y="183"/>
                  <a:pt x="55" y="187"/>
                  <a:pt x="70" y="192"/>
                </a:cubicBezTo>
                <a:cubicBezTo>
                  <a:pt x="78" y="195"/>
                  <a:pt x="93" y="200"/>
                  <a:pt x="93" y="200"/>
                </a:cubicBezTo>
                <a:cubicBezTo>
                  <a:pt x="111" y="180"/>
                  <a:pt x="128" y="178"/>
                  <a:pt x="153" y="169"/>
                </a:cubicBezTo>
                <a:cubicBezTo>
                  <a:pt x="185" y="139"/>
                  <a:pt x="175" y="128"/>
                  <a:pt x="161" y="86"/>
                </a:cubicBezTo>
                <a:cubicBezTo>
                  <a:pt x="158" y="78"/>
                  <a:pt x="161" y="65"/>
                  <a:pt x="153" y="63"/>
                </a:cubicBezTo>
                <a:cubicBezTo>
                  <a:pt x="143" y="61"/>
                  <a:pt x="133" y="58"/>
                  <a:pt x="123" y="56"/>
                </a:cubicBezTo>
                <a:cubicBezTo>
                  <a:pt x="98" y="58"/>
                  <a:pt x="72" y="59"/>
                  <a:pt x="47" y="63"/>
                </a:cubicBezTo>
                <a:cubicBezTo>
                  <a:pt x="37" y="64"/>
                  <a:pt x="23" y="63"/>
                  <a:pt x="17" y="71"/>
                </a:cubicBezTo>
                <a:cubicBezTo>
                  <a:pt x="12" y="77"/>
                  <a:pt x="19" y="88"/>
                  <a:pt x="25" y="93"/>
                </a:cubicBezTo>
                <a:cubicBezTo>
                  <a:pt x="33" y="99"/>
                  <a:pt x="45" y="98"/>
                  <a:pt x="55" y="101"/>
                </a:cubicBezTo>
                <a:cubicBezTo>
                  <a:pt x="88" y="95"/>
                  <a:pt x="115" y="89"/>
                  <a:pt x="146" y="78"/>
                </a:cubicBezTo>
                <a:cubicBezTo>
                  <a:pt x="143" y="60"/>
                  <a:pt x="146" y="41"/>
                  <a:pt x="138" y="25"/>
                </a:cubicBezTo>
                <a:cubicBezTo>
                  <a:pt x="134" y="18"/>
                  <a:pt x="123" y="21"/>
                  <a:pt x="115" y="18"/>
                </a:cubicBezTo>
                <a:cubicBezTo>
                  <a:pt x="60" y="0"/>
                  <a:pt x="119" y="10"/>
                  <a:pt x="2" y="10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26981" name="Freeform 7"/>
          <p:cNvSpPr>
            <a:spLocks/>
          </p:cNvSpPr>
          <p:nvPr/>
        </p:nvSpPr>
        <p:spPr bwMode="auto">
          <a:xfrm>
            <a:off x="5507039" y="2286000"/>
            <a:ext cx="331787" cy="336550"/>
          </a:xfrm>
          <a:custGeom>
            <a:avLst/>
            <a:gdLst>
              <a:gd name="T0" fmla="*/ 0 w 209"/>
              <a:gd name="T1" fmla="*/ 174 h 212"/>
              <a:gd name="T2" fmla="*/ 128 w 209"/>
              <a:gd name="T3" fmla="*/ 212 h 212"/>
              <a:gd name="T4" fmla="*/ 197 w 209"/>
              <a:gd name="T5" fmla="*/ 174 h 212"/>
              <a:gd name="T6" fmla="*/ 189 w 209"/>
              <a:gd name="T7" fmla="*/ 136 h 212"/>
              <a:gd name="T8" fmla="*/ 166 w 209"/>
              <a:gd name="T9" fmla="*/ 129 h 212"/>
              <a:gd name="T10" fmla="*/ 98 w 209"/>
              <a:gd name="T11" fmla="*/ 106 h 212"/>
              <a:gd name="T12" fmla="*/ 22 w 209"/>
              <a:gd name="T13" fmla="*/ 114 h 212"/>
              <a:gd name="T14" fmla="*/ 91 w 209"/>
              <a:gd name="T15" fmla="*/ 144 h 212"/>
              <a:gd name="T16" fmla="*/ 197 w 209"/>
              <a:gd name="T17" fmla="*/ 121 h 212"/>
              <a:gd name="T18" fmla="*/ 189 w 209"/>
              <a:gd name="T19" fmla="*/ 83 h 212"/>
              <a:gd name="T20" fmla="*/ 182 w 209"/>
              <a:gd name="T21" fmla="*/ 61 h 212"/>
              <a:gd name="T22" fmla="*/ 136 w 209"/>
              <a:gd name="T23" fmla="*/ 45 h 212"/>
              <a:gd name="T24" fmla="*/ 45 w 209"/>
              <a:gd name="T25" fmla="*/ 53 h 212"/>
              <a:gd name="T26" fmla="*/ 22 w 209"/>
              <a:gd name="T27" fmla="*/ 61 h 212"/>
              <a:gd name="T28" fmla="*/ 30 w 209"/>
              <a:gd name="T29" fmla="*/ 83 h 212"/>
              <a:gd name="T30" fmla="*/ 182 w 209"/>
              <a:gd name="T31" fmla="*/ 61 h 212"/>
              <a:gd name="T32" fmla="*/ 106 w 209"/>
              <a:gd name="T33" fmla="*/ 0 h 212"/>
              <a:gd name="T34" fmla="*/ 30 w 209"/>
              <a:gd name="T35" fmla="*/ 8 h 212"/>
              <a:gd name="T36" fmla="*/ 7 w 209"/>
              <a:gd name="T37" fmla="*/ 23 h 21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209"/>
              <a:gd name="T58" fmla="*/ 0 h 212"/>
              <a:gd name="T59" fmla="*/ 209 w 209"/>
              <a:gd name="T60" fmla="*/ 212 h 212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209" h="212">
                <a:moveTo>
                  <a:pt x="0" y="174"/>
                </a:moveTo>
                <a:cubicBezTo>
                  <a:pt x="49" y="181"/>
                  <a:pt x="87" y="184"/>
                  <a:pt x="128" y="212"/>
                </a:cubicBezTo>
                <a:cubicBezTo>
                  <a:pt x="164" y="204"/>
                  <a:pt x="177" y="205"/>
                  <a:pt x="197" y="174"/>
                </a:cubicBezTo>
                <a:cubicBezTo>
                  <a:pt x="194" y="161"/>
                  <a:pt x="196" y="147"/>
                  <a:pt x="189" y="136"/>
                </a:cubicBezTo>
                <a:cubicBezTo>
                  <a:pt x="184" y="129"/>
                  <a:pt x="174" y="132"/>
                  <a:pt x="166" y="129"/>
                </a:cubicBezTo>
                <a:cubicBezTo>
                  <a:pt x="143" y="121"/>
                  <a:pt x="121" y="114"/>
                  <a:pt x="98" y="106"/>
                </a:cubicBezTo>
                <a:cubicBezTo>
                  <a:pt x="73" y="109"/>
                  <a:pt x="45" y="104"/>
                  <a:pt x="22" y="114"/>
                </a:cubicBezTo>
                <a:cubicBezTo>
                  <a:pt x="3" y="122"/>
                  <a:pt x="59" y="133"/>
                  <a:pt x="91" y="144"/>
                </a:cubicBezTo>
                <a:cubicBezTo>
                  <a:pt x="126" y="131"/>
                  <a:pt x="162" y="133"/>
                  <a:pt x="197" y="121"/>
                </a:cubicBezTo>
                <a:cubicBezTo>
                  <a:pt x="209" y="83"/>
                  <a:pt x="207" y="113"/>
                  <a:pt x="189" y="83"/>
                </a:cubicBezTo>
                <a:cubicBezTo>
                  <a:pt x="185" y="76"/>
                  <a:pt x="188" y="65"/>
                  <a:pt x="182" y="61"/>
                </a:cubicBezTo>
                <a:cubicBezTo>
                  <a:pt x="169" y="52"/>
                  <a:pt x="136" y="45"/>
                  <a:pt x="136" y="45"/>
                </a:cubicBezTo>
                <a:cubicBezTo>
                  <a:pt x="106" y="48"/>
                  <a:pt x="75" y="49"/>
                  <a:pt x="45" y="53"/>
                </a:cubicBezTo>
                <a:cubicBezTo>
                  <a:pt x="37" y="54"/>
                  <a:pt x="26" y="54"/>
                  <a:pt x="22" y="61"/>
                </a:cubicBezTo>
                <a:cubicBezTo>
                  <a:pt x="19" y="68"/>
                  <a:pt x="27" y="76"/>
                  <a:pt x="30" y="83"/>
                </a:cubicBezTo>
                <a:cubicBezTo>
                  <a:pt x="86" y="79"/>
                  <a:pt x="130" y="77"/>
                  <a:pt x="182" y="61"/>
                </a:cubicBezTo>
                <a:cubicBezTo>
                  <a:pt x="169" y="10"/>
                  <a:pt x="150" y="16"/>
                  <a:pt x="106" y="0"/>
                </a:cubicBezTo>
                <a:cubicBezTo>
                  <a:pt x="81" y="3"/>
                  <a:pt x="55" y="4"/>
                  <a:pt x="30" y="8"/>
                </a:cubicBezTo>
                <a:cubicBezTo>
                  <a:pt x="4" y="12"/>
                  <a:pt x="7" y="8"/>
                  <a:pt x="7" y="23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26982" name="Freeform 8"/>
          <p:cNvSpPr>
            <a:spLocks/>
          </p:cNvSpPr>
          <p:nvPr/>
        </p:nvSpPr>
        <p:spPr bwMode="auto">
          <a:xfrm>
            <a:off x="5507038" y="541339"/>
            <a:ext cx="323850" cy="327025"/>
          </a:xfrm>
          <a:custGeom>
            <a:avLst/>
            <a:gdLst>
              <a:gd name="T0" fmla="*/ 30 w 204"/>
              <a:gd name="T1" fmla="*/ 182 h 206"/>
              <a:gd name="T2" fmla="*/ 113 w 204"/>
              <a:gd name="T3" fmla="*/ 205 h 206"/>
              <a:gd name="T4" fmla="*/ 204 w 204"/>
              <a:gd name="T5" fmla="*/ 159 h 206"/>
              <a:gd name="T6" fmla="*/ 30 w 204"/>
              <a:gd name="T7" fmla="*/ 129 h 206"/>
              <a:gd name="T8" fmla="*/ 121 w 204"/>
              <a:gd name="T9" fmla="*/ 167 h 206"/>
              <a:gd name="T10" fmla="*/ 182 w 204"/>
              <a:gd name="T11" fmla="*/ 129 h 206"/>
              <a:gd name="T12" fmla="*/ 136 w 204"/>
              <a:gd name="T13" fmla="*/ 53 h 206"/>
              <a:gd name="T14" fmla="*/ 38 w 204"/>
              <a:gd name="T15" fmla="*/ 61 h 206"/>
              <a:gd name="T16" fmla="*/ 15 w 204"/>
              <a:gd name="T17" fmla="*/ 68 h 206"/>
              <a:gd name="T18" fmla="*/ 68 w 204"/>
              <a:gd name="T19" fmla="*/ 106 h 206"/>
              <a:gd name="T20" fmla="*/ 189 w 204"/>
              <a:gd name="T21" fmla="*/ 76 h 206"/>
              <a:gd name="T22" fmla="*/ 174 w 204"/>
              <a:gd name="T23" fmla="*/ 30 h 206"/>
              <a:gd name="T24" fmla="*/ 128 w 204"/>
              <a:gd name="T25" fmla="*/ 0 h 206"/>
              <a:gd name="T26" fmla="*/ 53 w 204"/>
              <a:gd name="T27" fmla="*/ 8 h 20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204"/>
              <a:gd name="T43" fmla="*/ 0 h 206"/>
              <a:gd name="T44" fmla="*/ 204 w 204"/>
              <a:gd name="T45" fmla="*/ 206 h 20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204" h="206">
                <a:moveTo>
                  <a:pt x="30" y="182"/>
                </a:moveTo>
                <a:cubicBezTo>
                  <a:pt x="57" y="191"/>
                  <a:pt x="85" y="198"/>
                  <a:pt x="113" y="205"/>
                </a:cubicBezTo>
                <a:cubicBezTo>
                  <a:pt x="161" y="199"/>
                  <a:pt x="190" y="206"/>
                  <a:pt x="204" y="159"/>
                </a:cubicBezTo>
                <a:cubicBezTo>
                  <a:pt x="181" y="84"/>
                  <a:pt x="99" y="125"/>
                  <a:pt x="30" y="129"/>
                </a:cubicBezTo>
                <a:cubicBezTo>
                  <a:pt x="59" y="148"/>
                  <a:pt x="89" y="156"/>
                  <a:pt x="121" y="167"/>
                </a:cubicBezTo>
                <a:cubicBezTo>
                  <a:pt x="157" y="157"/>
                  <a:pt x="169" y="166"/>
                  <a:pt x="182" y="129"/>
                </a:cubicBezTo>
                <a:cubicBezTo>
                  <a:pt x="175" y="86"/>
                  <a:pt x="177" y="67"/>
                  <a:pt x="136" y="53"/>
                </a:cubicBezTo>
                <a:cubicBezTo>
                  <a:pt x="103" y="56"/>
                  <a:pt x="71" y="57"/>
                  <a:pt x="38" y="61"/>
                </a:cubicBezTo>
                <a:cubicBezTo>
                  <a:pt x="30" y="62"/>
                  <a:pt x="19" y="61"/>
                  <a:pt x="15" y="68"/>
                </a:cubicBezTo>
                <a:cubicBezTo>
                  <a:pt x="0" y="95"/>
                  <a:pt x="56" y="102"/>
                  <a:pt x="68" y="106"/>
                </a:cubicBezTo>
                <a:cubicBezTo>
                  <a:pt x="108" y="94"/>
                  <a:pt x="148" y="86"/>
                  <a:pt x="189" y="76"/>
                </a:cubicBezTo>
                <a:cubicBezTo>
                  <a:pt x="188" y="74"/>
                  <a:pt x="176" y="32"/>
                  <a:pt x="174" y="30"/>
                </a:cubicBezTo>
                <a:cubicBezTo>
                  <a:pt x="161" y="17"/>
                  <a:pt x="128" y="0"/>
                  <a:pt x="128" y="0"/>
                </a:cubicBezTo>
                <a:cubicBezTo>
                  <a:pt x="68" y="9"/>
                  <a:pt x="93" y="8"/>
                  <a:pt x="53" y="8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26983" name="Line 9"/>
          <p:cNvSpPr>
            <a:spLocks noChangeShapeType="1"/>
          </p:cNvSpPr>
          <p:nvPr/>
        </p:nvSpPr>
        <p:spPr bwMode="auto">
          <a:xfrm>
            <a:off x="4008439" y="692150"/>
            <a:ext cx="1512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126984" name="Text Box 10"/>
          <p:cNvSpPr txBox="1">
            <a:spLocks noChangeArrowheads="1"/>
          </p:cNvSpPr>
          <p:nvPr/>
        </p:nvSpPr>
        <p:spPr bwMode="auto">
          <a:xfrm>
            <a:off x="2208214" y="476250"/>
            <a:ext cx="180022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000" b="1"/>
              <a:t>Génome viral</a:t>
            </a:r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6" y="318452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89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27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ext Box 5"/>
          <p:cNvSpPr txBox="1">
            <a:spLocks noChangeArrowheads="1"/>
          </p:cNvSpPr>
          <p:nvPr/>
        </p:nvSpPr>
        <p:spPr bwMode="auto">
          <a:xfrm>
            <a:off x="1774825" y="260351"/>
            <a:ext cx="8642350" cy="649408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3200" b="1" dirty="0">
                <a:solidFill>
                  <a:srgbClr val="0000FF"/>
                </a:solidFill>
              </a:rPr>
              <a:t>F)-</a:t>
            </a:r>
            <a:r>
              <a:rPr lang="fr-FR" sz="3200" b="1" u="sng" dirty="0">
                <a:solidFill>
                  <a:srgbClr val="0000FF"/>
                </a:solidFill>
              </a:rPr>
              <a:t>LIBERATION DES VIRUS</a:t>
            </a:r>
            <a:r>
              <a:rPr lang="fr-FR" sz="3200" b="1" dirty="0">
                <a:solidFill>
                  <a:srgbClr val="0000FF"/>
                </a:solidFill>
              </a:rPr>
              <a:t> :</a:t>
            </a:r>
            <a:endParaRPr lang="fr-FR" sz="3200" dirty="0">
              <a:solidFill>
                <a:srgbClr val="0000FF"/>
              </a:solidFill>
            </a:endParaRPr>
          </a:p>
          <a:p>
            <a:pPr>
              <a:buFontTx/>
              <a:buBlip>
                <a:blip r:embed="rId5"/>
              </a:buBlip>
            </a:pPr>
            <a:r>
              <a:rPr lang="fr-FR" sz="3200" dirty="0">
                <a:solidFill>
                  <a:srgbClr val="0000FF"/>
                </a:solidFill>
              </a:rPr>
              <a:t> Virus nu</a:t>
            </a:r>
            <a:r>
              <a:rPr lang="fr-FR" sz="3200" dirty="0"/>
              <a:t>: Par </a:t>
            </a:r>
            <a:r>
              <a:rPr lang="fr-FR" sz="3200" dirty="0">
                <a:solidFill>
                  <a:srgbClr val="FF3399"/>
                </a:solidFill>
              </a:rPr>
              <a:t>éclatement</a:t>
            </a:r>
            <a:r>
              <a:rPr lang="fr-FR" sz="3200" dirty="0"/>
              <a:t> de la  </a:t>
            </a:r>
          </a:p>
          <a:p>
            <a:r>
              <a:rPr lang="fr-FR" sz="3200" dirty="0"/>
              <a:t>                  cellule.</a:t>
            </a:r>
          </a:p>
          <a:p>
            <a:pPr>
              <a:buFontTx/>
              <a:buBlip>
                <a:blip r:embed="rId5"/>
              </a:buBlip>
            </a:pPr>
            <a:r>
              <a:rPr lang="fr-FR" sz="3200" dirty="0"/>
              <a:t> </a:t>
            </a:r>
            <a:r>
              <a:rPr lang="fr-FR" sz="3200" dirty="0">
                <a:solidFill>
                  <a:srgbClr val="0000FF"/>
                </a:solidFill>
              </a:rPr>
              <a:t>Virus enveloppé:</a:t>
            </a:r>
            <a:r>
              <a:rPr lang="fr-FR" sz="3200" dirty="0"/>
              <a:t> Par </a:t>
            </a:r>
          </a:p>
          <a:p>
            <a:pPr algn="ctr"/>
            <a:r>
              <a:rPr lang="fr-FR" sz="3200" dirty="0">
                <a:solidFill>
                  <a:srgbClr val="FF3399"/>
                </a:solidFill>
              </a:rPr>
              <a:t>    bourgeonnement</a:t>
            </a:r>
            <a:r>
              <a:rPr lang="fr-FR" sz="3200" dirty="0"/>
              <a:t> à travers la membrane cellulaire.</a:t>
            </a:r>
          </a:p>
          <a:p>
            <a:pPr>
              <a:buFontTx/>
              <a:buBlip>
                <a:blip r:embed="rId5"/>
              </a:buBlip>
            </a:pPr>
            <a:r>
              <a:rPr lang="fr-FR" sz="3200" dirty="0"/>
              <a:t> Certains virus s’entourent d’une enveloppe provenant de la </a:t>
            </a:r>
            <a:r>
              <a:rPr lang="fr-FR" sz="3200" dirty="0">
                <a:solidFill>
                  <a:srgbClr val="0033CC"/>
                </a:solidFill>
              </a:rPr>
              <a:t>membrane nucléaire</a:t>
            </a:r>
            <a:r>
              <a:rPr lang="fr-FR" sz="3200" dirty="0"/>
              <a:t> de la cellule infectée </a:t>
            </a:r>
            <a:r>
              <a:rPr lang="fr-FR" sz="3200" dirty="0">
                <a:solidFill>
                  <a:srgbClr val="FF0066"/>
                </a:solidFill>
              </a:rPr>
              <a:t>(</a:t>
            </a:r>
            <a:r>
              <a:rPr lang="fr-FR" sz="3200" dirty="0" err="1">
                <a:solidFill>
                  <a:srgbClr val="FF0066"/>
                </a:solidFill>
              </a:rPr>
              <a:t>Herpesvirus</a:t>
            </a:r>
            <a:r>
              <a:rPr lang="fr-FR" sz="3200" dirty="0">
                <a:solidFill>
                  <a:srgbClr val="FF0066"/>
                </a:solidFill>
              </a:rPr>
              <a:t>)</a:t>
            </a:r>
            <a:r>
              <a:rPr lang="fr-FR" sz="3200" dirty="0"/>
              <a:t>, d’autres </a:t>
            </a:r>
          </a:p>
          <a:p>
            <a:r>
              <a:rPr lang="fr-FR" sz="3200" dirty="0"/>
              <a:t>s’entourent d’une enveloppe provenant de la </a:t>
            </a:r>
            <a:r>
              <a:rPr lang="fr-FR" sz="3200" dirty="0">
                <a:solidFill>
                  <a:srgbClr val="0033CC"/>
                </a:solidFill>
              </a:rPr>
              <a:t>membrane cytoplasmique</a:t>
            </a:r>
            <a:r>
              <a:rPr lang="fr-FR" sz="3200" dirty="0"/>
              <a:t> de la cellule </a:t>
            </a:r>
            <a:r>
              <a:rPr lang="fr-FR" sz="3200" dirty="0">
                <a:solidFill>
                  <a:srgbClr val="FF0066"/>
                </a:solidFill>
              </a:rPr>
              <a:t>(Rétrovirus)</a:t>
            </a:r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6" y="318452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892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55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dirty="0"/>
              <a:t>Bourgeonnement à partir: • de la membrane plasmique (HIV, virus de la  grippe) • de la membrane de l’appareil de Golgi (coronavirus,..) • de la membrane interne du noyau (HSV,..) </a:t>
            </a:r>
          </a:p>
          <a:p>
            <a:r>
              <a:rPr lang="fr-FR" sz="2400" dirty="0"/>
              <a:t>Lyse cellulaire : virus nus</a:t>
            </a:r>
          </a:p>
          <a:p>
            <a:r>
              <a:rPr lang="fr-FR" sz="2400" dirty="0"/>
              <a:t>Libération / v. grippal : Action des antiviraux</a:t>
            </a:r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1526" y="318452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973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11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2351088" y="260350"/>
            <a:ext cx="7345362" cy="1143000"/>
          </a:xfr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fr-FR" b="1" smtClean="0">
                <a:solidFill>
                  <a:schemeClr val="tx1"/>
                </a:solidFill>
              </a:rPr>
              <a:t>LIBERATION DES VIRUS</a:t>
            </a:r>
          </a:p>
        </p:txBody>
      </p:sp>
      <p:pic>
        <p:nvPicPr>
          <p:cNvPr id="130051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703389" y="1628776"/>
            <a:ext cx="8785225" cy="504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0052" name="Line 5"/>
          <p:cNvSpPr>
            <a:spLocks noChangeShapeType="1"/>
          </p:cNvSpPr>
          <p:nvPr/>
        </p:nvSpPr>
        <p:spPr bwMode="auto">
          <a:xfrm>
            <a:off x="1703389" y="1628775"/>
            <a:ext cx="8785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30053" name="Line 6"/>
          <p:cNvSpPr>
            <a:spLocks noChangeShapeType="1"/>
          </p:cNvSpPr>
          <p:nvPr/>
        </p:nvSpPr>
        <p:spPr bwMode="auto">
          <a:xfrm>
            <a:off x="1703388" y="1628776"/>
            <a:ext cx="0" cy="5040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30054" name="Line 7"/>
          <p:cNvSpPr>
            <a:spLocks noChangeShapeType="1"/>
          </p:cNvSpPr>
          <p:nvPr/>
        </p:nvSpPr>
        <p:spPr bwMode="auto">
          <a:xfrm>
            <a:off x="10488613" y="1628776"/>
            <a:ext cx="0" cy="5040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130055" name="Line 8"/>
          <p:cNvSpPr>
            <a:spLocks noChangeShapeType="1"/>
          </p:cNvSpPr>
          <p:nvPr/>
        </p:nvSpPr>
        <p:spPr bwMode="auto">
          <a:xfrm>
            <a:off x="1703389" y="6669088"/>
            <a:ext cx="8785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6" y="318452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278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27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3"/>
          <p:cNvSpPr>
            <a:spLocks noGrp="1" noChangeArrowheads="1"/>
          </p:cNvSpPr>
          <p:nvPr>
            <p:ph idx="1"/>
          </p:nvPr>
        </p:nvSpPr>
        <p:spPr>
          <a:xfrm>
            <a:off x="1992313" y="1125538"/>
            <a:ext cx="8229600" cy="4525962"/>
          </a:xfrm>
          <a:solidFill>
            <a:srgbClr val="FFFFCC"/>
          </a:solidFill>
          <a:ln>
            <a:solidFill>
              <a:schemeClr val="tx1"/>
            </a:solidFill>
          </a:ln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Blip>
                <a:blip r:embed="rId5"/>
              </a:buBlip>
            </a:pPr>
            <a:r>
              <a:rPr lang="fr-FR" sz="4400">
                <a:solidFill>
                  <a:srgbClr val="0000FF"/>
                </a:solidFill>
              </a:rPr>
              <a:t>Virus complets</a:t>
            </a:r>
            <a:r>
              <a:rPr lang="fr-FR" sz="4400"/>
              <a:t>: Une fois a l’extérieur de la cellule, peuvent à leur tours infecter d’autres cellules.</a:t>
            </a:r>
          </a:p>
          <a:p>
            <a:pPr eaLnBrk="1" hangingPunct="1">
              <a:spcBef>
                <a:spcPct val="0"/>
              </a:spcBef>
              <a:buFontTx/>
              <a:buBlip>
                <a:blip r:embed="rId5"/>
              </a:buBlip>
            </a:pPr>
            <a:r>
              <a:rPr lang="fr-FR" sz="4400"/>
              <a:t> Une cellule produit </a:t>
            </a:r>
            <a:r>
              <a:rPr lang="fr-FR" sz="4400">
                <a:solidFill>
                  <a:srgbClr val="FF0066"/>
                </a:solidFill>
              </a:rPr>
              <a:t>100</a:t>
            </a:r>
            <a:r>
              <a:rPr lang="fr-FR" sz="4400">
                <a:solidFill>
                  <a:srgbClr val="FF3399"/>
                </a:solidFill>
              </a:rPr>
              <a:t> </a:t>
            </a:r>
            <a:r>
              <a:rPr lang="fr-FR" sz="4400"/>
              <a:t>à </a:t>
            </a:r>
            <a:r>
              <a:rPr lang="fr-FR" sz="4400">
                <a:solidFill>
                  <a:srgbClr val="FF0066"/>
                </a:solidFill>
              </a:rPr>
              <a:t>1000 virus.</a:t>
            </a:r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6" y="318452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066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10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881158" y="620688"/>
            <a:ext cx="8229600" cy="5768672"/>
          </a:xfrm>
        </p:spPr>
        <p:txBody>
          <a:bodyPr/>
          <a:lstStyle/>
          <a:p>
            <a:endParaRPr lang="fr-FR" dirty="0"/>
          </a:p>
        </p:txBody>
      </p:sp>
      <p:pic>
        <p:nvPicPr>
          <p:cNvPr id="4" name="Image 3" descr="http://www.microbe-edu.org/etudiant/imgviromulti/shema7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81290" y="2071679"/>
            <a:ext cx="5527040" cy="3703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80573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3"/>
          <p:cNvSpPr>
            <a:spLocks noGrp="1" noChangeArrowheads="1"/>
          </p:cNvSpPr>
          <p:nvPr>
            <p:ph idx="1"/>
          </p:nvPr>
        </p:nvSpPr>
        <p:spPr>
          <a:xfrm>
            <a:off x="1774825" y="188914"/>
            <a:ext cx="8642350" cy="6408737"/>
          </a:xfrm>
          <a:solidFill>
            <a:srgbClr val="FFFFCC"/>
          </a:solidFill>
          <a:ln>
            <a:solidFill>
              <a:schemeClr val="tx1"/>
            </a:solidFill>
          </a:ln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fr-FR" sz="3200" b="1" dirty="0">
                <a:solidFill>
                  <a:srgbClr val="FF0066"/>
                </a:solidFill>
              </a:rPr>
              <a:t>LES INTERACTIONS VIRUS-CELLULES </a:t>
            </a:r>
          </a:p>
          <a:p>
            <a:pPr eaLnBrk="1" hangingPunct="1">
              <a:buFontTx/>
              <a:buNone/>
            </a:pPr>
            <a:r>
              <a:rPr lang="fr-FR" sz="3200" b="1" dirty="0">
                <a:solidFill>
                  <a:srgbClr val="FF0066"/>
                </a:solidFill>
              </a:rPr>
              <a:t>1/-</a:t>
            </a:r>
            <a:r>
              <a:rPr lang="fr-FR" sz="3200" b="1" dirty="0"/>
              <a:t> </a:t>
            </a:r>
            <a:r>
              <a:rPr lang="fr-FR" sz="3200" b="1" u="sng" dirty="0">
                <a:solidFill>
                  <a:srgbClr val="FF0066"/>
                </a:solidFill>
              </a:rPr>
              <a:t>Infection lytique productive</a:t>
            </a:r>
            <a:r>
              <a:rPr lang="fr-FR" sz="3200" b="1" dirty="0">
                <a:solidFill>
                  <a:srgbClr val="FF0066"/>
                </a:solidFill>
              </a:rPr>
              <a:t>:</a:t>
            </a:r>
            <a:r>
              <a:rPr lang="fr-FR" sz="3200" dirty="0"/>
              <a:t> La multiplication virale dans la cellule entraine une perturbation des synthèses cellulaires ce qui aboutit à </a:t>
            </a:r>
            <a:r>
              <a:rPr lang="fr-FR" sz="3200" dirty="0">
                <a:solidFill>
                  <a:srgbClr val="FF0066"/>
                </a:solidFill>
              </a:rPr>
              <a:t>sa mort</a:t>
            </a:r>
            <a:r>
              <a:rPr lang="fr-FR" sz="3200" dirty="0">
                <a:solidFill>
                  <a:srgbClr val="FF3399"/>
                </a:solidFill>
              </a:rPr>
              <a:t> </a:t>
            </a:r>
            <a:r>
              <a:rPr lang="fr-FR" sz="3200" dirty="0"/>
              <a:t>ou à une </a:t>
            </a:r>
            <a:r>
              <a:rPr lang="fr-FR" sz="3200" dirty="0">
                <a:solidFill>
                  <a:srgbClr val="FF0066"/>
                </a:solidFill>
              </a:rPr>
              <a:t>altération de ses structures (effet </a:t>
            </a:r>
            <a:r>
              <a:rPr lang="fr-FR" sz="3200" dirty="0" err="1">
                <a:solidFill>
                  <a:srgbClr val="FF0066"/>
                </a:solidFill>
              </a:rPr>
              <a:t>cytopatique</a:t>
            </a:r>
            <a:r>
              <a:rPr lang="fr-FR" sz="3200" dirty="0">
                <a:solidFill>
                  <a:srgbClr val="FF0066"/>
                </a:solidFill>
              </a:rPr>
              <a:t> = ECP)</a:t>
            </a:r>
          </a:p>
          <a:p>
            <a:pPr eaLnBrk="1" hangingPunct="1">
              <a:buFontTx/>
              <a:buNone/>
            </a:pPr>
            <a:endParaRPr lang="fr-FR" sz="3200" dirty="0">
              <a:solidFill>
                <a:srgbClr val="FF0066"/>
              </a:solidFill>
            </a:endParaRPr>
          </a:p>
          <a:p>
            <a:pPr eaLnBrk="1" hangingPunct="1">
              <a:buFontTx/>
              <a:buNone/>
            </a:pPr>
            <a:r>
              <a:rPr lang="fr-FR" sz="3200" b="1" dirty="0">
                <a:solidFill>
                  <a:srgbClr val="FF0066"/>
                </a:solidFill>
              </a:rPr>
              <a:t>2/-</a:t>
            </a:r>
            <a:r>
              <a:rPr lang="fr-FR" sz="3200" b="1" dirty="0"/>
              <a:t> </a:t>
            </a:r>
            <a:r>
              <a:rPr lang="fr-FR" sz="3200" b="1" u="sng" dirty="0">
                <a:solidFill>
                  <a:srgbClr val="FF0066"/>
                </a:solidFill>
              </a:rPr>
              <a:t>Infection tempérée</a:t>
            </a:r>
            <a:r>
              <a:rPr lang="fr-FR" sz="3200" b="1" dirty="0">
                <a:solidFill>
                  <a:srgbClr val="FF0066"/>
                </a:solidFill>
              </a:rPr>
              <a:t>:</a:t>
            </a:r>
            <a:r>
              <a:rPr lang="fr-FR" sz="3200" dirty="0"/>
              <a:t> La cellule </a:t>
            </a:r>
            <a:r>
              <a:rPr lang="fr-FR" sz="3200" dirty="0">
                <a:solidFill>
                  <a:srgbClr val="FF0066"/>
                </a:solidFill>
              </a:rPr>
              <a:t>peut tolérer l’infection,</a:t>
            </a:r>
            <a:r>
              <a:rPr lang="fr-FR" sz="3200" dirty="0">
                <a:solidFill>
                  <a:srgbClr val="FF3399"/>
                </a:solidFill>
              </a:rPr>
              <a:t> </a:t>
            </a:r>
            <a:r>
              <a:rPr lang="fr-FR" sz="3200" dirty="0"/>
              <a:t>le génome viral et celui de la cellule se partagent le potentiel de synthèse. </a:t>
            </a:r>
          </a:p>
          <a:p>
            <a:pPr algn="ctr" eaLnBrk="1" hangingPunct="1">
              <a:buFontTx/>
              <a:buNone/>
            </a:pPr>
            <a:endParaRPr lang="fr-FR" sz="3600" b="1" dirty="0">
              <a:solidFill>
                <a:srgbClr val="FF0066"/>
              </a:solidFill>
            </a:endParaRPr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6" y="318452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753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79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3"/>
          <p:cNvSpPr>
            <a:spLocks noGrp="1" noChangeArrowheads="1"/>
          </p:cNvSpPr>
          <p:nvPr>
            <p:ph idx="1"/>
          </p:nvPr>
        </p:nvSpPr>
        <p:spPr>
          <a:xfrm>
            <a:off x="1919288" y="549276"/>
            <a:ext cx="8291512" cy="5903913"/>
          </a:xfrm>
          <a:solidFill>
            <a:srgbClr val="FFFFCC"/>
          </a:solidFill>
          <a:ln>
            <a:solidFill>
              <a:schemeClr val="tx1"/>
            </a:solidFill>
          </a:ln>
        </p:spPr>
        <p:txBody>
          <a:bodyPr>
            <a:normAutofit fontScale="92500"/>
          </a:bodyPr>
          <a:lstStyle/>
          <a:p>
            <a:pPr eaLnBrk="1" hangingPunct="1">
              <a:spcBef>
                <a:spcPct val="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fr-FR" sz="4000" b="1" dirty="0">
                <a:solidFill>
                  <a:srgbClr val="FF0066"/>
                </a:solidFill>
              </a:rPr>
              <a:t>3/-</a:t>
            </a:r>
            <a:r>
              <a:rPr lang="fr-FR" sz="4000" b="1" dirty="0"/>
              <a:t> </a:t>
            </a:r>
            <a:r>
              <a:rPr lang="fr-FR" sz="4000" b="1" u="sng" dirty="0">
                <a:solidFill>
                  <a:srgbClr val="FF0066"/>
                </a:solidFill>
              </a:rPr>
              <a:t>Infection </a:t>
            </a:r>
            <a:r>
              <a:rPr lang="fr-FR" sz="4000" b="1" u="sng" dirty="0" err="1">
                <a:solidFill>
                  <a:srgbClr val="FF0066"/>
                </a:solidFill>
              </a:rPr>
              <a:t>transformante</a:t>
            </a:r>
            <a:r>
              <a:rPr lang="fr-FR" sz="4000" b="1" dirty="0">
                <a:solidFill>
                  <a:srgbClr val="FF0066"/>
                </a:solidFill>
              </a:rPr>
              <a:t>:</a:t>
            </a:r>
          </a:p>
          <a:p>
            <a:pPr eaLnBrk="1" hangingPunct="1">
              <a:buClr>
                <a:srgbClr val="0033CC"/>
              </a:buClr>
              <a:buFont typeface="Wingdings" pitchFamily="2" charset="2"/>
              <a:buChar char="§"/>
            </a:pPr>
            <a:r>
              <a:rPr lang="fr-FR" sz="4000" dirty="0"/>
              <a:t>Intégration du génome viral dans le génome de cellule parasitée</a:t>
            </a:r>
          </a:p>
          <a:p>
            <a:pPr eaLnBrk="1" hangingPunct="1">
              <a:buClr>
                <a:srgbClr val="0033CC"/>
              </a:buClr>
              <a:buFont typeface="Wingdings" pitchFamily="2" charset="2"/>
              <a:buChar char="§"/>
            </a:pPr>
            <a:r>
              <a:rPr lang="fr-FR" sz="4000" dirty="0"/>
              <a:t>Modification de la cellule peut se </a:t>
            </a:r>
            <a:r>
              <a:rPr lang="fr-FR" sz="4000" dirty="0">
                <a:solidFill>
                  <a:srgbClr val="FF0066"/>
                </a:solidFill>
              </a:rPr>
              <a:t>transformer</a:t>
            </a:r>
            <a:r>
              <a:rPr lang="fr-FR" sz="4000" dirty="0">
                <a:solidFill>
                  <a:srgbClr val="FF3399"/>
                </a:solidFill>
              </a:rPr>
              <a:t> </a:t>
            </a:r>
            <a:r>
              <a:rPr lang="fr-FR" sz="4000" dirty="0"/>
              <a:t>en </a:t>
            </a:r>
            <a:r>
              <a:rPr lang="fr-FR" sz="4000" dirty="0">
                <a:solidFill>
                  <a:srgbClr val="FF0066"/>
                </a:solidFill>
              </a:rPr>
              <a:t>cellule maligne.</a:t>
            </a:r>
          </a:p>
          <a:p>
            <a:pPr eaLnBrk="1" hangingPunct="1">
              <a:spcBef>
                <a:spcPct val="0"/>
              </a:spcBef>
              <a:buClr>
                <a:srgbClr val="0000FF"/>
              </a:buClr>
              <a:buFont typeface="Wingdings" pitchFamily="2" charset="2"/>
              <a:buNone/>
            </a:pPr>
            <a:endParaRPr lang="fr-FR" sz="4000" dirty="0">
              <a:solidFill>
                <a:srgbClr val="FF0066"/>
              </a:solidFill>
            </a:endParaRPr>
          </a:p>
          <a:p>
            <a:pPr eaLnBrk="1" hangingPunct="1">
              <a:spcBef>
                <a:spcPct val="0"/>
              </a:spcBef>
              <a:buClr>
                <a:srgbClr val="0000FF"/>
              </a:buClr>
              <a:buFont typeface="Wingdings" pitchFamily="2" charset="2"/>
              <a:buChar char="Ø"/>
            </a:pPr>
            <a:r>
              <a:rPr lang="fr-FR" sz="4000" dirty="0"/>
              <a:t>Le temps du cycle de multiplication varie de: </a:t>
            </a:r>
            <a:r>
              <a:rPr lang="fr-FR" sz="4000" dirty="0">
                <a:solidFill>
                  <a:srgbClr val="FF0066"/>
                </a:solidFill>
              </a:rPr>
              <a:t>8 h</a:t>
            </a:r>
            <a:r>
              <a:rPr lang="fr-FR" sz="4000" dirty="0"/>
              <a:t> </a:t>
            </a:r>
            <a:r>
              <a:rPr lang="fr-FR" sz="4000" dirty="0">
                <a:solidFill>
                  <a:srgbClr val="0000FF"/>
                </a:solidFill>
              </a:rPr>
              <a:t>(poliovirus)</a:t>
            </a:r>
            <a:r>
              <a:rPr lang="fr-FR" sz="4000" dirty="0"/>
              <a:t> à </a:t>
            </a:r>
            <a:r>
              <a:rPr lang="fr-FR" sz="4000" dirty="0">
                <a:solidFill>
                  <a:srgbClr val="FF0066"/>
                </a:solidFill>
              </a:rPr>
              <a:t>50 h</a:t>
            </a:r>
            <a:r>
              <a:rPr lang="fr-FR" sz="4000" dirty="0"/>
              <a:t> </a:t>
            </a:r>
            <a:r>
              <a:rPr lang="fr-FR" sz="4000" dirty="0">
                <a:solidFill>
                  <a:srgbClr val="0000FF"/>
                </a:solidFill>
              </a:rPr>
              <a:t>(herpes virus)</a:t>
            </a:r>
            <a:endParaRPr lang="fr-FR" sz="4000" dirty="0"/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6" y="318452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90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00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847850" y="274638"/>
            <a:ext cx="8362950" cy="12827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fr-FR" sz="4000">
                <a:solidFill>
                  <a:schemeClr val="accent2"/>
                </a:solidFill>
              </a:rPr>
              <a:t>ECP:</a:t>
            </a:r>
            <a:r>
              <a:rPr lang="fr-FR" sz="4000">
                <a:solidFill>
                  <a:srgbClr val="FF99FF"/>
                </a:solidFill>
              </a:rPr>
              <a:t> </a:t>
            </a:r>
            <a:r>
              <a:rPr lang="fr-FR" sz="4000">
                <a:solidFill>
                  <a:srgbClr val="FF0066"/>
                </a:solidFill>
              </a:rPr>
              <a:t>SYNCYCIUM</a:t>
            </a:r>
            <a:br>
              <a:rPr lang="fr-FR" sz="4000">
                <a:solidFill>
                  <a:srgbClr val="FF0066"/>
                </a:solidFill>
              </a:rPr>
            </a:br>
            <a:r>
              <a:rPr lang="fr-FR" sz="4000">
                <a:solidFill>
                  <a:schemeClr val="accent2"/>
                </a:solidFill>
              </a:rPr>
              <a:t>(virus de la rougeole)</a:t>
            </a:r>
          </a:p>
        </p:txBody>
      </p:sp>
      <p:sp>
        <p:nvSpPr>
          <p:cNvPr id="134147" name="AutoShape 39"/>
          <p:cNvSpPr>
            <a:spLocks noChangeArrowheads="1"/>
          </p:cNvSpPr>
          <p:nvPr/>
        </p:nvSpPr>
        <p:spPr bwMode="auto">
          <a:xfrm>
            <a:off x="4945063" y="4076701"/>
            <a:ext cx="647700" cy="574675"/>
          </a:xfrm>
          <a:prstGeom prst="hexagon">
            <a:avLst>
              <a:gd name="adj" fmla="val 28177"/>
              <a:gd name="vf" fmla="val 115470"/>
            </a:avLst>
          </a:prstGeom>
          <a:solidFill>
            <a:srgbClr val="B2B2B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48" name="Oval 40"/>
          <p:cNvSpPr>
            <a:spLocks noChangeArrowheads="1"/>
          </p:cNvSpPr>
          <p:nvPr/>
        </p:nvSpPr>
        <p:spPr bwMode="auto">
          <a:xfrm>
            <a:off x="5232401" y="4292601"/>
            <a:ext cx="144463" cy="144463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49" name="AutoShape 41"/>
          <p:cNvSpPr>
            <a:spLocks noChangeArrowheads="1"/>
          </p:cNvSpPr>
          <p:nvPr/>
        </p:nvSpPr>
        <p:spPr bwMode="auto">
          <a:xfrm>
            <a:off x="4440238" y="4364039"/>
            <a:ext cx="647700" cy="574675"/>
          </a:xfrm>
          <a:prstGeom prst="hexagon">
            <a:avLst>
              <a:gd name="adj" fmla="val 28177"/>
              <a:gd name="vf" fmla="val 115470"/>
            </a:avLst>
          </a:prstGeom>
          <a:solidFill>
            <a:srgbClr val="B2B2B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50" name="Oval 42"/>
          <p:cNvSpPr>
            <a:spLocks noChangeArrowheads="1"/>
          </p:cNvSpPr>
          <p:nvPr/>
        </p:nvSpPr>
        <p:spPr bwMode="auto">
          <a:xfrm>
            <a:off x="4729163" y="4579938"/>
            <a:ext cx="144462" cy="144462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51" name="AutoShape 43"/>
          <p:cNvSpPr>
            <a:spLocks noChangeArrowheads="1"/>
          </p:cNvSpPr>
          <p:nvPr/>
        </p:nvSpPr>
        <p:spPr bwMode="auto">
          <a:xfrm>
            <a:off x="4440238" y="3211514"/>
            <a:ext cx="647700" cy="574675"/>
          </a:xfrm>
          <a:prstGeom prst="hexagon">
            <a:avLst>
              <a:gd name="adj" fmla="val 28177"/>
              <a:gd name="vf" fmla="val 115470"/>
            </a:avLst>
          </a:prstGeom>
          <a:solidFill>
            <a:srgbClr val="B2B2B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52" name="Oval 44"/>
          <p:cNvSpPr>
            <a:spLocks noChangeArrowheads="1"/>
          </p:cNvSpPr>
          <p:nvPr/>
        </p:nvSpPr>
        <p:spPr bwMode="auto">
          <a:xfrm>
            <a:off x="4729163" y="3427413"/>
            <a:ext cx="144462" cy="144462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53" name="AutoShape 45"/>
          <p:cNvSpPr>
            <a:spLocks noChangeArrowheads="1"/>
          </p:cNvSpPr>
          <p:nvPr/>
        </p:nvSpPr>
        <p:spPr bwMode="auto">
          <a:xfrm>
            <a:off x="6456363" y="3787776"/>
            <a:ext cx="647700" cy="574675"/>
          </a:xfrm>
          <a:prstGeom prst="hexagon">
            <a:avLst>
              <a:gd name="adj" fmla="val 28177"/>
              <a:gd name="vf" fmla="val 115470"/>
            </a:avLst>
          </a:prstGeom>
          <a:solidFill>
            <a:srgbClr val="B2B2B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54" name="Oval 46"/>
          <p:cNvSpPr>
            <a:spLocks noChangeArrowheads="1"/>
          </p:cNvSpPr>
          <p:nvPr/>
        </p:nvSpPr>
        <p:spPr bwMode="auto">
          <a:xfrm>
            <a:off x="6672263" y="4003676"/>
            <a:ext cx="144462" cy="144463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55" name="AutoShape 47"/>
          <p:cNvSpPr>
            <a:spLocks noChangeArrowheads="1"/>
          </p:cNvSpPr>
          <p:nvPr/>
        </p:nvSpPr>
        <p:spPr bwMode="auto">
          <a:xfrm>
            <a:off x="4440238" y="3787776"/>
            <a:ext cx="647700" cy="574675"/>
          </a:xfrm>
          <a:prstGeom prst="hexagon">
            <a:avLst>
              <a:gd name="adj" fmla="val 28177"/>
              <a:gd name="vf" fmla="val 115470"/>
            </a:avLst>
          </a:prstGeom>
          <a:solidFill>
            <a:srgbClr val="B2B2B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56" name="Oval 48"/>
          <p:cNvSpPr>
            <a:spLocks noChangeArrowheads="1"/>
          </p:cNvSpPr>
          <p:nvPr/>
        </p:nvSpPr>
        <p:spPr bwMode="auto">
          <a:xfrm>
            <a:off x="4656138" y="4003676"/>
            <a:ext cx="144462" cy="144463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57" name="AutoShape 49"/>
          <p:cNvSpPr>
            <a:spLocks noChangeArrowheads="1"/>
          </p:cNvSpPr>
          <p:nvPr/>
        </p:nvSpPr>
        <p:spPr bwMode="auto">
          <a:xfrm>
            <a:off x="4440238" y="4940301"/>
            <a:ext cx="647700" cy="574675"/>
          </a:xfrm>
          <a:prstGeom prst="hexagon">
            <a:avLst>
              <a:gd name="adj" fmla="val 28177"/>
              <a:gd name="vf" fmla="val 115470"/>
            </a:avLst>
          </a:prstGeom>
          <a:solidFill>
            <a:srgbClr val="B2B2B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58" name="Oval 50"/>
          <p:cNvSpPr>
            <a:spLocks noChangeArrowheads="1"/>
          </p:cNvSpPr>
          <p:nvPr/>
        </p:nvSpPr>
        <p:spPr bwMode="auto">
          <a:xfrm>
            <a:off x="4729163" y="5084763"/>
            <a:ext cx="144462" cy="144462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59" name="AutoShape 51"/>
          <p:cNvSpPr>
            <a:spLocks noChangeArrowheads="1"/>
          </p:cNvSpPr>
          <p:nvPr/>
        </p:nvSpPr>
        <p:spPr bwMode="auto">
          <a:xfrm>
            <a:off x="4945063" y="4651376"/>
            <a:ext cx="647700" cy="574675"/>
          </a:xfrm>
          <a:prstGeom prst="hexagon">
            <a:avLst>
              <a:gd name="adj" fmla="val 28177"/>
              <a:gd name="vf" fmla="val 115470"/>
            </a:avLst>
          </a:prstGeom>
          <a:solidFill>
            <a:srgbClr val="B2B2B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60" name="Oval 52"/>
          <p:cNvSpPr>
            <a:spLocks noChangeArrowheads="1"/>
          </p:cNvSpPr>
          <p:nvPr/>
        </p:nvSpPr>
        <p:spPr bwMode="auto">
          <a:xfrm>
            <a:off x="5232401" y="4867276"/>
            <a:ext cx="144463" cy="144463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61" name="AutoShape 53"/>
          <p:cNvSpPr>
            <a:spLocks noChangeArrowheads="1"/>
          </p:cNvSpPr>
          <p:nvPr/>
        </p:nvSpPr>
        <p:spPr bwMode="auto">
          <a:xfrm>
            <a:off x="5448300" y="4364039"/>
            <a:ext cx="647700" cy="574675"/>
          </a:xfrm>
          <a:prstGeom prst="hexagon">
            <a:avLst>
              <a:gd name="adj" fmla="val 28177"/>
              <a:gd name="vf" fmla="val 115470"/>
            </a:avLst>
          </a:prstGeom>
          <a:solidFill>
            <a:srgbClr val="B2B2B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62" name="Oval 54"/>
          <p:cNvSpPr>
            <a:spLocks noChangeArrowheads="1"/>
          </p:cNvSpPr>
          <p:nvPr/>
        </p:nvSpPr>
        <p:spPr bwMode="auto">
          <a:xfrm>
            <a:off x="5735638" y="4579938"/>
            <a:ext cx="144462" cy="144462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63" name="AutoShape 55"/>
          <p:cNvSpPr>
            <a:spLocks noChangeArrowheads="1"/>
          </p:cNvSpPr>
          <p:nvPr/>
        </p:nvSpPr>
        <p:spPr bwMode="auto">
          <a:xfrm>
            <a:off x="6456363" y="4364039"/>
            <a:ext cx="647700" cy="574675"/>
          </a:xfrm>
          <a:prstGeom prst="hexagon">
            <a:avLst>
              <a:gd name="adj" fmla="val 28177"/>
              <a:gd name="vf" fmla="val 115470"/>
            </a:avLst>
          </a:prstGeom>
          <a:solidFill>
            <a:srgbClr val="B2B2B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64" name="Oval 56"/>
          <p:cNvSpPr>
            <a:spLocks noChangeArrowheads="1"/>
          </p:cNvSpPr>
          <p:nvPr/>
        </p:nvSpPr>
        <p:spPr bwMode="auto">
          <a:xfrm>
            <a:off x="6745288" y="4579938"/>
            <a:ext cx="144462" cy="144462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65" name="AutoShape 57"/>
          <p:cNvSpPr>
            <a:spLocks noChangeArrowheads="1"/>
          </p:cNvSpPr>
          <p:nvPr/>
        </p:nvSpPr>
        <p:spPr bwMode="auto">
          <a:xfrm>
            <a:off x="6456363" y="4940301"/>
            <a:ext cx="647700" cy="574675"/>
          </a:xfrm>
          <a:prstGeom prst="hexagon">
            <a:avLst>
              <a:gd name="adj" fmla="val 28177"/>
              <a:gd name="vf" fmla="val 115470"/>
            </a:avLst>
          </a:prstGeom>
          <a:solidFill>
            <a:srgbClr val="B2B2B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66" name="Oval 58"/>
          <p:cNvSpPr>
            <a:spLocks noChangeArrowheads="1"/>
          </p:cNvSpPr>
          <p:nvPr/>
        </p:nvSpPr>
        <p:spPr bwMode="auto">
          <a:xfrm>
            <a:off x="6745288" y="5229226"/>
            <a:ext cx="144462" cy="144463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67" name="AutoShape 59"/>
          <p:cNvSpPr>
            <a:spLocks noChangeArrowheads="1"/>
          </p:cNvSpPr>
          <p:nvPr/>
        </p:nvSpPr>
        <p:spPr bwMode="auto">
          <a:xfrm>
            <a:off x="5448300" y="2060576"/>
            <a:ext cx="647700" cy="574675"/>
          </a:xfrm>
          <a:prstGeom prst="hexagon">
            <a:avLst>
              <a:gd name="adj" fmla="val 28177"/>
              <a:gd name="vf" fmla="val 115470"/>
            </a:avLst>
          </a:prstGeom>
          <a:solidFill>
            <a:srgbClr val="B2B2B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68" name="Oval 60"/>
          <p:cNvSpPr>
            <a:spLocks noChangeArrowheads="1"/>
          </p:cNvSpPr>
          <p:nvPr/>
        </p:nvSpPr>
        <p:spPr bwMode="auto">
          <a:xfrm>
            <a:off x="5737226" y="2276476"/>
            <a:ext cx="144463" cy="144463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69" name="AutoShape 61"/>
          <p:cNvSpPr>
            <a:spLocks noChangeArrowheads="1"/>
          </p:cNvSpPr>
          <p:nvPr/>
        </p:nvSpPr>
        <p:spPr bwMode="auto">
          <a:xfrm>
            <a:off x="4945063" y="2347914"/>
            <a:ext cx="647700" cy="574675"/>
          </a:xfrm>
          <a:prstGeom prst="hexagon">
            <a:avLst>
              <a:gd name="adj" fmla="val 28177"/>
              <a:gd name="vf" fmla="val 115470"/>
            </a:avLst>
          </a:prstGeom>
          <a:solidFill>
            <a:srgbClr val="B2B2B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70" name="Oval 62"/>
          <p:cNvSpPr>
            <a:spLocks noChangeArrowheads="1"/>
          </p:cNvSpPr>
          <p:nvPr/>
        </p:nvSpPr>
        <p:spPr bwMode="auto">
          <a:xfrm>
            <a:off x="5232401" y="2563813"/>
            <a:ext cx="144463" cy="144462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71" name="AutoShape 63"/>
          <p:cNvSpPr>
            <a:spLocks noChangeArrowheads="1"/>
          </p:cNvSpPr>
          <p:nvPr/>
        </p:nvSpPr>
        <p:spPr bwMode="auto">
          <a:xfrm>
            <a:off x="4440238" y="2635251"/>
            <a:ext cx="647700" cy="574675"/>
          </a:xfrm>
          <a:prstGeom prst="hexagon">
            <a:avLst>
              <a:gd name="adj" fmla="val 28177"/>
              <a:gd name="vf" fmla="val 115470"/>
            </a:avLst>
          </a:prstGeom>
          <a:solidFill>
            <a:srgbClr val="B2B2B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72" name="Oval 64"/>
          <p:cNvSpPr>
            <a:spLocks noChangeArrowheads="1"/>
          </p:cNvSpPr>
          <p:nvPr/>
        </p:nvSpPr>
        <p:spPr bwMode="auto">
          <a:xfrm>
            <a:off x="4729163" y="2851151"/>
            <a:ext cx="144462" cy="144463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73" name="AutoShape 65"/>
          <p:cNvSpPr>
            <a:spLocks noChangeArrowheads="1"/>
          </p:cNvSpPr>
          <p:nvPr/>
        </p:nvSpPr>
        <p:spPr bwMode="auto">
          <a:xfrm>
            <a:off x="5953125" y="5229226"/>
            <a:ext cx="647700" cy="574675"/>
          </a:xfrm>
          <a:prstGeom prst="hexagon">
            <a:avLst>
              <a:gd name="adj" fmla="val 28177"/>
              <a:gd name="vf" fmla="val 115470"/>
            </a:avLst>
          </a:prstGeom>
          <a:solidFill>
            <a:srgbClr val="B2B2B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74" name="Oval 66"/>
          <p:cNvSpPr>
            <a:spLocks noChangeArrowheads="1"/>
          </p:cNvSpPr>
          <p:nvPr/>
        </p:nvSpPr>
        <p:spPr bwMode="auto">
          <a:xfrm>
            <a:off x="6240463" y="5445126"/>
            <a:ext cx="144462" cy="144463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75" name="AutoShape 67"/>
          <p:cNvSpPr>
            <a:spLocks noChangeArrowheads="1"/>
          </p:cNvSpPr>
          <p:nvPr/>
        </p:nvSpPr>
        <p:spPr bwMode="auto">
          <a:xfrm>
            <a:off x="4945063" y="5229226"/>
            <a:ext cx="647700" cy="574675"/>
          </a:xfrm>
          <a:prstGeom prst="hexagon">
            <a:avLst>
              <a:gd name="adj" fmla="val 28177"/>
              <a:gd name="vf" fmla="val 115470"/>
            </a:avLst>
          </a:prstGeom>
          <a:solidFill>
            <a:srgbClr val="B2B2B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76" name="Oval 68"/>
          <p:cNvSpPr>
            <a:spLocks noChangeArrowheads="1"/>
          </p:cNvSpPr>
          <p:nvPr/>
        </p:nvSpPr>
        <p:spPr bwMode="auto">
          <a:xfrm>
            <a:off x="5232401" y="5445126"/>
            <a:ext cx="144463" cy="144463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77" name="AutoShape 69"/>
          <p:cNvSpPr>
            <a:spLocks noChangeArrowheads="1"/>
          </p:cNvSpPr>
          <p:nvPr/>
        </p:nvSpPr>
        <p:spPr bwMode="auto">
          <a:xfrm>
            <a:off x="5953125" y="4076701"/>
            <a:ext cx="647700" cy="574675"/>
          </a:xfrm>
          <a:prstGeom prst="hexagon">
            <a:avLst>
              <a:gd name="adj" fmla="val 28177"/>
              <a:gd name="vf" fmla="val 115470"/>
            </a:avLst>
          </a:prstGeom>
          <a:solidFill>
            <a:srgbClr val="B2B2B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78" name="Oval 70"/>
          <p:cNvSpPr>
            <a:spLocks noChangeArrowheads="1"/>
          </p:cNvSpPr>
          <p:nvPr/>
        </p:nvSpPr>
        <p:spPr bwMode="auto">
          <a:xfrm>
            <a:off x="6240463" y="4292601"/>
            <a:ext cx="144462" cy="144463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79" name="AutoShape 71"/>
          <p:cNvSpPr>
            <a:spLocks noChangeArrowheads="1"/>
          </p:cNvSpPr>
          <p:nvPr/>
        </p:nvSpPr>
        <p:spPr bwMode="auto">
          <a:xfrm>
            <a:off x="5449888" y="4940301"/>
            <a:ext cx="647700" cy="574675"/>
          </a:xfrm>
          <a:prstGeom prst="hexagon">
            <a:avLst>
              <a:gd name="adj" fmla="val 28177"/>
              <a:gd name="vf" fmla="val 115470"/>
            </a:avLst>
          </a:prstGeom>
          <a:solidFill>
            <a:srgbClr val="B2B2B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80" name="Oval 72"/>
          <p:cNvSpPr>
            <a:spLocks noChangeArrowheads="1"/>
          </p:cNvSpPr>
          <p:nvPr/>
        </p:nvSpPr>
        <p:spPr bwMode="auto">
          <a:xfrm>
            <a:off x="5737226" y="5156201"/>
            <a:ext cx="144463" cy="144463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81" name="AutoShape 73"/>
          <p:cNvSpPr>
            <a:spLocks noChangeArrowheads="1"/>
          </p:cNvSpPr>
          <p:nvPr/>
        </p:nvSpPr>
        <p:spPr bwMode="auto">
          <a:xfrm>
            <a:off x="5953125" y="4652964"/>
            <a:ext cx="647700" cy="574675"/>
          </a:xfrm>
          <a:prstGeom prst="hexagon">
            <a:avLst>
              <a:gd name="adj" fmla="val 28177"/>
              <a:gd name="vf" fmla="val 115470"/>
            </a:avLst>
          </a:prstGeom>
          <a:solidFill>
            <a:srgbClr val="B2B2B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82" name="Oval 74"/>
          <p:cNvSpPr>
            <a:spLocks noChangeArrowheads="1"/>
          </p:cNvSpPr>
          <p:nvPr/>
        </p:nvSpPr>
        <p:spPr bwMode="auto">
          <a:xfrm>
            <a:off x="6240463" y="4868863"/>
            <a:ext cx="144462" cy="144462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83" name="AutoShape 75"/>
          <p:cNvSpPr>
            <a:spLocks noChangeArrowheads="1"/>
          </p:cNvSpPr>
          <p:nvPr/>
        </p:nvSpPr>
        <p:spPr bwMode="auto">
          <a:xfrm>
            <a:off x="5953125" y="2347914"/>
            <a:ext cx="647700" cy="574675"/>
          </a:xfrm>
          <a:prstGeom prst="hexagon">
            <a:avLst>
              <a:gd name="adj" fmla="val 28177"/>
              <a:gd name="vf" fmla="val 115470"/>
            </a:avLst>
          </a:prstGeom>
          <a:solidFill>
            <a:srgbClr val="B2B2B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84" name="AutoShape 76"/>
          <p:cNvSpPr>
            <a:spLocks noChangeArrowheads="1"/>
          </p:cNvSpPr>
          <p:nvPr/>
        </p:nvSpPr>
        <p:spPr bwMode="auto">
          <a:xfrm>
            <a:off x="6456363" y="2636839"/>
            <a:ext cx="647700" cy="574675"/>
          </a:xfrm>
          <a:prstGeom prst="hexagon">
            <a:avLst>
              <a:gd name="adj" fmla="val 28177"/>
              <a:gd name="vf" fmla="val 115470"/>
            </a:avLst>
          </a:prstGeom>
          <a:solidFill>
            <a:srgbClr val="B2B2B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85" name="AutoShape 77"/>
          <p:cNvSpPr>
            <a:spLocks noChangeArrowheads="1"/>
          </p:cNvSpPr>
          <p:nvPr/>
        </p:nvSpPr>
        <p:spPr bwMode="auto">
          <a:xfrm>
            <a:off x="6456363" y="3213101"/>
            <a:ext cx="647700" cy="574675"/>
          </a:xfrm>
          <a:prstGeom prst="hexagon">
            <a:avLst>
              <a:gd name="adj" fmla="val 28177"/>
              <a:gd name="vf" fmla="val 115470"/>
            </a:avLst>
          </a:prstGeom>
          <a:solidFill>
            <a:srgbClr val="B2B2B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86" name="Oval 78"/>
          <p:cNvSpPr>
            <a:spLocks noChangeArrowheads="1"/>
          </p:cNvSpPr>
          <p:nvPr/>
        </p:nvSpPr>
        <p:spPr bwMode="auto">
          <a:xfrm>
            <a:off x="6169026" y="2563813"/>
            <a:ext cx="144463" cy="144462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87" name="Oval 79"/>
          <p:cNvSpPr>
            <a:spLocks noChangeArrowheads="1"/>
          </p:cNvSpPr>
          <p:nvPr/>
        </p:nvSpPr>
        <p:spPr bwMode="auto">
          <a:xfrm>
            <a:off x="6672263" y="2852738"/>
            <a:ext cx="144462" cy="144462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88" name="Oval 80"/>
          <p:cNvSpPr>
            <a:spLocks noChangeArrowheads="1"/>
          </p:cNvSpPr>
          <p:nvPr/>
        </p:nvSpPr>
        <p:spPr bwMode="auto">
          <a:xfrm>
            <a:off x="6745288" y="3429001"/>
            <a:ext cx="144462" cy="144463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89" name="Freeform 81" descr="Papier journal"/>
          <p:cNvSpPr>
            <a:spLocks/>
          </p:cNvSpPr>
          <p:nvPr/>
        </p:nvSpPr>
        <p:spPr bwMode="auto">
          <a:xfrm>
            <a:off x="4872039" y="2492375"/>
            <a:ext cx="1800225" cy="1893888"/>
          </a:xfrm>
          <a:custGeom>
            <a:avLst/>
            <a:gdLst>
              <a:gd name="T0" fmla="*/ 2147483647 w 1089"/>
              <a:gd name="T1" fmla="*/ 2147483647 h 1142"/>
              <a:gd name="T2" fmla="*/ 2147483647 w 1089"/>
              <a:gd name="T3" fmla="*/ 2147483647 h 1142"/>
              <a:gd name="T4" fmla="*/ 2147483647 w 1089"/>
              <a:gd name="T5" fmla="*/ 2147483647 h 1142"/>
              <a:gd name="T6" fmla="*/ 0 w 1089"/>
              <a:gd name="T7" fmla="*/ 2147483647 h 1142"/>
              <a:gd name="T8" fmla="*/ 2147483647 w 1089"/>
              <a:gd name="T9" fmla="*/ 2147483647 h 1142"/>
              <a:gd name="T10" fmla="*/ 2147483647 w 1089"/>
              <a:gd name="T11" fmla="*/ 2147483647 h 1142"/>
              <a:gd name="T12" fmla="*/ 2147483647 w 1089"/>
              <a:gd name="T13" fmla="*/ 2147483647 h 1142"/>
              <a:gd name="T14" fmla="*/ 2147483647 w 1089"/>
              <a:gd name="T15" fmla="*/ 2147483647 h 1142"/>
              <a:gd name="T16" fmla="*/ 2147483647 w 1089"/>
              <a:gd name="T17" fmla="*/ 2147483647 h 1142"/>
              <a:gd name="T18" fmla="*/ 2147483647 w 1089"/>
              <a:gd name="T19" fmla="*/ 2147483647 h 1142"/>
              <a:gd name="T20" fmla="*/ 2147483647 w 1089"/>
              <a:gd name="T21" fmla="*/ 2147483647 h 1142"/>
              <a:gd name="T22" fmla="*/ 2147483647 w 1089"/>
              <a:gd name="T23" fmla="*/ 2147483647 h 1142"/>
              <a:gd name="T24" fmla="*/ 2147483647 w 1089"/>
              <a:gd name="T25" fmla="*/ 2147483647 h 1142"/>
              <a:gd name="T26" fmla="*/ 2147483647 w 1089"/>
              <a:gd name="T27" fmla="*/ 2147483647 h 1142"/>
              <a:gd name="T28" fmla="*/ 2147483647 w 1089"/>
              <a:gd name="T29" fmla="*/ 2147483647 h 1142"/>
              <a:gd name="T30" fmla="*/ 2147483647 w 1089"/>
              <a:gd name="T31" fmla="*/ 2147483647 h 1142"/>
              <a:gd name="T32" fmla="*/ 2147483647 w 1089"/>
              <a:gd name="T33" fmla="*/ 2147483647 h 1142"/>
              <a:gd name="T34" fmla="*/ 2147483647 w 1089"/>
              <a:gd name="T35" fmla="*/ 2147483647 h 1142"/>
              <a:gd name="T36" fmla="*/ 2147483647 w 1089"/>
              <a:gd name="T37" fmla="*/ 2147483647 h 1142"/>
              <a:gd name="T38" fmla="*/ 2147483647 w 1089"/>
              <a:gd name="T39" fmla="*/ 2147483647 h 1142"/>
              <a:gd name="T40" fmla="*/ 2147483647 w 1089"/>
              <a:gd name="T41" fmla="*/ 2147483647 h 1142"/>
              <a:gd name="T42" fmla="*/ 2147483647 w 1089"/>
              <a:gd name="T43" fmla="*/ 2147483647 h 1142"/>
              <a:gd name="T44" fmla="*/ 2147483647 w 1089"/>
              <a:gd name="T45" fmla="*/ 2147483647 h 1142"/>
              <a:gd name="T46" fmla="*/ 2147483647 w 1089"/>
              <a:gd name="T47" fmla="*/ 2147483647 h 1142"/>
              <a:gd name="T48" fmla="*/ 2147483647 w 1089"/>
              <a:gd name="T49" fmla="*/ 2147483647 h 1142"/>
              <a:gd name="T50" fmla="*/ 2147483647 w 1089"/>
              <a:gd name="T51" fmla="*/ 2147483647 h 1142"/>
              <a:gd name="T52" fmla="*/ 2147483647 w 1089"/>
              <a:gd name="T53" fmla="*/ 2147483647 h 1142"/>
              <a:gd name="T54" fmla="*/ 2147483647 w 1089"/>
              <a:gd name="T55" fmla="*/ 2147483647 h 1142"/>
              <a:gd name="T56" fmla="*/ 2147483647 w 1089"/>
              <a:gd name="T57" fmla="*/ 2147483647 h 1142"/>
              <a:gd name="T58" fmla="*/ 2147483647 w 1089"/>
              <a:gd name="T59" fmla="*/ 2147483647 h 1142"/>
              <a:gd name="T60" fmla="*/ 2147483647 w 1089"/>
              <a:gd name="T61" fmla="*/ 2147483647 h 1142"/>
              <a:gd name="T62" fmla="*/ 2147483647 w 1089"/>
              <a:gd name="T63" fmla="*/ 2147483647 h 1142"/>
              <a:gd name="T64" fmla="*/ 2147483647 w 1089"/>
              <a:gd name="T65" fmla="*/ 2147483647 h 1142"/>
              <a:gd name="T66" fmla="*/ 2147483647 w 1089"/>
              <a:gd name="T67" fmla="*/ 2147483647 h 1142"/>
              <a:gd name="T68" fmla="*/ 2147483647 w 1089"/>
              <a:gd name="T69" fmla="*/ 2147483647 h 1142"/>
              <a:gd name="T70" fmla="*/ 2147483647 w 1089"/>
              <a:gd name="T71" fmla="*/ 2147483647 h 1142"/>
              <a:gd name="T72" fmla="*/ 2147483647 w 1089"/>
              <a:gd name="T73" fmla="*/ 2147483647 h 1142"/>
              <a:gd name="T74" fmla="*/ 2147483647 w 1089"/>
              <a:gd name="T75" fmla="*/ 0 h 1142"/>
              <a:gd name="T76" fmla="*/ 2147483647 w 1089"/>
              <a:gd name="T77" fmla="*/ 2147483647 h 1142"/>
              <a:gd name="T78" fmla="*/ 2147483647 w 1089"/>
              <a:gd name="T79" fmla="*/ 2147483647 h 1142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1089"/>
              <a:gd name="T121" fmla="*/ 0 h 1142"/>
              <a:gd name="T122" fmla="*/ 1089 w 1089"/>
              <a:gd name="T123" fmla="*/ 1142 h 1142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1089" h="1142">
                <a:moveTo>
                  <a:pt x="434" y="48"/>
                </a:moveTo>
                <a:cubicBezTo>
                  <a:pt x="422" y="82"/>
                  <a:pt x="414" y="116"/>
                  <a:pt x="403" y="150"/>
                </a:cubicBezTo>
                <a:cubicBezTo>
                  <a:pt x="372" y="247"/>
                  <a:pt x="157" y="227"/>
                  <a:pt x="111" y="229"/>
                </a:cubicBezTo>
                <a:cubicBezTo>
                  <a:pt x="39" y="253"/>
                  <a:pt x="37" y="348"/>
                  <a:pt x="0" y="403"/>
                </a:cubicBezTo>
                <a:cubicBezTo>
                  <a:pt x="16" y="449"/>
                  <a:pt x="30" y="484"/>
                  <a:pt x="71" y="513"/>
                </a:cubicBezTo>
                <a:cubicBezTo>
                  <a:pt x="80" y="539"/>
                  <a:pt x="111" y="584"/>
                  <a:pt x="111" y="584"/>
                </a:cubicBezTo>
                <a:cubicBezTo>
                  <a:pt x="95" y="633"/>
                  <a:pt x="67" y="689"/>
                  <a:pt x="24" y="718"/>
                </a:cubicBezTo>
                <a:cubicBezTo>
                  <a:pt x="11" y="757"/>
                  <a:pt x="11" y="745"/>
                  <a:pt x="24" y="805"/>
                </a:cubicBezTo>
                <a:cubicBezTo>
                  <a:pt x="28" y="823"/>
                  <a:pt x="43" y="884"/>
                  <a:pt x="63" y="900"/>
                </a:cubicBezTo>
                <a:cubicBezTo>
                  <a:pt x="70" y="905"/>
                  <a:pt x="79" y="904"/>
                  <a:pt x="87" y="908"/>
                </a:cubicBezTo>
                <a:cubicBezTo>
                  <a:pt x="104" y="916"/>
                  <a:pt x="117" y="931"/>
                  <a:pt x="134" y="939"/>
                </a:cubicBezTo>
                <a:cubicBezTo>
                  <a:pt x="187" y="962"/>
                  <a:pt x="250" y="952"/>
                  <a:pt x="308" y="955"/>
                </a:cubicBezTo>
                <a:cubicBezTo>
                  <a:pt x="364" y="974"/>
                  <a:pt x="346" y="957"/>
                  <a:pt x="371" y="994"/>
                </a:cubicBezTo>
                <a:cubicBezTo>
                  <a:pt x="390" y="1051"/>
                  <a:pt x="377" y="1028"/>
                  <a:pt x="403" y="1065"/>
                </a:cubicBezTo>
                <a:cubicBezTo>
                  <a:pt x="423" y="1126"/>
                  <a:pt x="394" y="1053"/>
                  <a:pt x="434" y="1105"/>
                </a:cubicBezTo>
                <a:cubicBezTo>
                  <a:pt x="463" y="1142"/>
                  <a:pt x="416" y="1121"/>
                  <a:pt x="466" y="1136"/>
                </a:cubicBezTo>
                <a:cubicBezTo>
                  <a:pt x="513" y="1134"/>
                  <a:pt x="561" y="1135"/>
                  <a:pt x="608" y="1129"/>
                </a:cubicBezTo>
                <a:cubicBezTo>
                  <a:pt x="624" y="1127"/>
                  <a:pt x="639" y="1118"/>
                  <a:pt x="655" y="1113"/>
                </a:cubicBezTo>
                <a:cubicBezTo>
                  <a:pt x="673" y="1107"/>
                  <a:pt x="703" y="1081"/>
                  <a:pt x="703" y="1081"/>
                </a:cubicBezTo>
                <a:cubicBezTo>
                  <a:pt x="723" y="1049"/>
                  <a:pt x="741" y="1019"/>
                  <a:pt x="758" y="986"/>
                </a:cubicBezTo>
                <a:cubicBezTo>
                  <a:pt x="762" y="979"/>
                  <a:pt x="760" y="969"/>
                  <a:pt x="766" y="963"/>
                </a:cubicBezTo>
                <a:cubicBezTo>
                  <a:pt x="772" y="957"/>
                  <a:pt x="781" y="958"/>
                  <a:pt x="789" y="955"/>
                </a:cubicBezTo>
                <a:cubicBezTo>
                  <a:pt x="802" y="958"/>
                  <a:pt x="816" y="960"/>
                  <a:pt x="829" y="963"/>
                </a:cubicBezTo>
                <a:cubicBezTo>
                  <a:pt x="850" y="968"/>
                  <a:pt x="892" y="979"/>
                  <a:pt x="892" y="979"/>
                </a:cubicBezTo>
                <a:cubicBezTo>
                  <a:pt x="899" y="977"/>
                  <a:pt x="939" y="968"/>
                  <a:pt x="947" y="963"/>
                </a:cubicBezTo>
                <a:cubicBezTo>
                  <a:pt x="1029" y="917"/>
                  <a:pt x="964" y="941"/>
                  <a:pt x="1018" y="923"/>
                </a:cubicBezTo>
                <a:cubicBezTo>
                  <a:pt x="1032" y="882"/>
                  <a:pt x="1040" y="907"/>
                  <a:pt x="1066" y="868"/>
                </a:cubicBezTo>
                <a:cubicBezTo>
                  <a:pt x="1073" y="844"/>
                  <a:pt x="1089" y="797"/>
                  <a:pt x="1089" y="797"/>
                </a:cubicBezTo>
                <a:cubicBezTo>
                  <a:pt x="1088" y="792"/>
                  <a:pt x="1080" y="696"/>
                  <a:pt x="1066" y="687"/>
                </a:cubicBezTo>
                <a:cubicBezTo>
                  <a:pt x="1039" y="669"/>
                  <a:pt x="1021" y="651"/>
                  <a:pt x="1002" y="624"/>
                </a:cubicBezTo>
                <a:cubicBezTo>
                  <a:pt x="985" y="573"/>
                  <a:pt x="976" y="530"/>
                  <a:pt x="1026" y="497"/>
                </a:cubicBezTo>
                <a:cubicBezTo>
                  <a:pt x="1063" y="443"/>
                  <a:pt x="1052" y="468"/>
                  <a:pt x="1066" y="426"/>
                </a:cubicBezTo>
                <a:cubicBezTo>
                  <a:pt x="1057" y="354"/>
                  <a:pt x="1042" y="328"/>
                  <a:pt x="1002" y="268"/>
                </a:cubicBezTo>
                <a:cubicBezTo>
                  <a:pt x="997" y="260"/>
                  <a:pt x="992" y="253"/>
                  <a:pt x="987" y="245"/>
                </a:cubicBezTo>
                <a:cubicBezTo>
                  <a:pt x="982" y="238"/>
                  <a:pt x="987" y="222"/>
                  <a:pt x="979" y="221"/>
                </a:cubicBezTo>
                <a:cubicBezTo>
                  <a:pt x="909" y="211"/>
                  <a:pt x="837" y="216"/>
                  <a:pt x="766" y="213"/>
                </a:cubicBezTo>
                <a:cubicBezTo>
                  <a:pt x="755" y="197"/>
                  <a:pt x="740" y="184"/>
                  <a:pt x="734" y="166"/>
                </a:cubicBezTo>
                <a:cubicBezTo>
                  <a:pt x="709" y="93"/>
                  <a:pt x="706" y="29"/>
                  <a:pt x="624" y="0"/>
                </a:cubicBezTo>
                <a:cubicBezTo>
                  <a:pt x="574" y="6"/>
                  <a:pt x="529" y="18"/>
                  <a:pt x="482" y="32"/>
                </a:cubicBezTo>
                <a:cubicBezTo>
                  <a:pt x="466" y="37"/>
                  <a:pt x="434" y="48"/>
                  <a:pt x="434" y="48"/>
                </a:cubicBezTo>
                <a:close/>
              </a:path>
            </a:pathLst>
          </a:custGeom>
          <a:blipFill dpi="0" rotWithShape="1">
            <a:blip r:embed="rId5"/>
            <a:srcRect/>
            <a:tile tx="0" ty="0" sx="100000" sy="100000" flip="none" algn="tl"/>
          </a:blip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90" name="Oval 82"/>
          <p:cNvSpPr>
            <a:spLocks noChangeArrowheads="1"/>
          </p:cNvSpPr>
          <p:nvPr/>
        </p:nvSpPr>
        <p:spPr bwMode="auto">
          <a:xfrm>
            <a:off x="5664201" y="2924176"/>
            <a:ext cx="144463" cy="144463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91" name="Oval 83"/>
          <p:cNvSpPr>
            <a:spLocks noChangeArrowheads="1"/>
          </p:cNvSpPr>
          <p:nvPr/>
        </p:nvSpPr>
        <p:spPr bwMode="auto">
          <a:xfrm>
            <a:off x="5448301" y="2995613"/>
            <a:ext cx="144463" cy="144462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92" name="Oval 84"/>
          <p:cNvSpPr>
            <a:spLocks noChangeArrowheads="1"/>
          </p:cNvSpPr>
          <p:nvPr/>
        </p:nvSpPr>
        <p:spPr bwMode="auto">
          <a:xfrm>
            <a:off x="5232401" y="3140076"/>
            <a:ext cx="144463" cy="144463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93" name="Oval 85"/>
          <p:cNvSpPr>
            <a:spLocks noChangeArrowheads="1"/>
          </p:cNvSpPr>
          <p:nvPr/>
        </p:nvSpPr>
        <p:spPr bwMode="auto">
          <a:xfrm>
            <a:off x="5664201" y="3860801"/>
            <a:ext cx="144463" cy="144463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94" name="Oval 86"/>
          <p:cNvSpPr>
            <a:spLocks noChangeArrowheads="1"/>
          </p:cNvSpPr>
          <p:nvPr/>
        </p:nvSpPr>
        <p:spPr bwMode="auto">
          <a:xfrm>
            <a:off x="5303838" y="3787776"/>
            <a:ext cx="144462" cy="144463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95" name="Oval 87"/>
          <p:cNvSpPr>
            <a:spLocks noChangeArrowheads="1"/>
          </p:cNvSpPr>
          <p:nvPr/>
        </p:nvSpPr>
        <p:spPr bwMode="auto">
          <a:xfrm>
            <a:off x="5953126" y="2924176"/>
            <a:ext cx="144463" cy="144463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96" name="Oval 88"/>
          <p:cNvSpPr>
            <a:spLocks noChangeArrowheads="1"/>
          </p:cNvSpPr>
          <p:nvPr/>
        </p:nvSpPr>
        <p:spPr bwMode="auto">
          <a:xfrm>
            <a:off x="5953126" y="3716338"/>
            <a:ext cx="144463" cy="144462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97" name="Oval 89"/>
          <p:cNvSpPr>
            <a:spLocks noChangeArrowheads="1"/>
          </p:cNvSpPr>
          <p:nvPr/>
        </p:nvSpPr>
        <p:spPr bwMode="auto">
          <a:xfrm>
            <a:off x="5160963" y="3429001"/>
            <a:ext cx="144462" cy="144463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98" name="Oval 90"/>
          <p:cNvSpPr>
            <a:spLocks noChangeArrowheads="1"/>
          </p:cNvSpPr>
          <p:nvPr/>
        </p:nvSpPr>
        <p:spPr bwMode="auto">
          <a:xfrm>
            <a:off x="6169026" y="2995613"/>
            <a:ext cx="144463" cy="144462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199" name="Oval 91"/>
          <p:cNvSpPr>
            <a:spLocks noChangeArrowheads="1"/>
          </p:cNvSpPr>
          <p:nvPr/>
        </p:nvSpPr>
        <p:spPr bwMode="auto">
          <a:xfrm>
            <a:off x="6240463" y="3213101"/>
            <a:ext cx="144462" cy="144463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200" name="Oval 92"/>
          <p:cNvSpPr>
            <a:spLocks noChangeArrowheads="1"/>
          </p:cNvSpPr>
          <p:nvPr/>
        </p:nvSpPr>
        <p:spPr bwMode="auto">
          <a:xfrm>
            <a:off x="6169026" y="3500438"/>
            <a:ext cx="144463" cy="144462"/>
          </a:xfrm>
          <a:prstGeom prst="ellipse">
            <a:avLst/>
          </a:prstGeom>
          <a:solidFill>
            <a:schemeClr val="tx1"/>
          </a:solidFill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201" name="Freeform 93"/>
          <p:cNvSpPr>
            <a:spLocks/>
          </p:cNvSpPr>
          <p:nvPr/>
        </p:nvSpPr>
        <p:spPr bwMode="auto">
          <a:xfrm>
            <a:off x="5376863" y="3213101"/>
            <a:ext cx="381000" cy="379413"/>
          </a:xfrm>
          <a:custGeom>
            <a:avLst/>
            <a:gdLst>
              <a:gd name="T0" fmla="*/ 2147483647 w 240"/>
              <a:gd name="T1" fmla="*/ 0 h 239"/>
              <a:gd name="T2" fmla="*/ 2147483647 w 240"/>
              <a:gd name="T3" fmla="*/ 2147483647 h 239"/>
              <a:gd name="T4" fmla="*/ 2147483647 w 240"/>
              <a:gd name="T5" fmla="*/ 2147483647 h 239"/>
              <a:gd name="T6" fmla="*/ 2147483647 w 240"/>
              <a:gd name="T7" fmla="*/ 2147483647 h 239"/>
              <a:gd name="T8" fmla="*/ 2147483647 w 240"/>
              <a:gd name="T9" fmla="*/ 2147483647 h 239"/>
              <a:gd name="T10" fmla="*/ 2147483647 w 240"/>
              <a:gd name="T11" fmla="*/ 2147483647 h 239"/>
              <a:gd name="T12" fmla="*/ 2147483647 w 240"/>
              <a:gd name="T13" fmla="*/ 2147483647 h 239"/>
              <a:gd name="T14" fmla="*/ 2147483647 w 240"/>
              <a:gd name="T15" fmla="*/ 2147483647 h 239"/>
              <a:gd name="T16" fmla="*/ 2147483647 w 240"/>
              <a:gd name="T17" fmla="*/ 2147483647 h 239"/>
              <a:gd name="T18" fmla="*/ 2147483647 w 240"/>
              <a:gd name="T19" fmla="*/ 2147483647 h 239"/>
              <a:gd name="T20" fmla="*/ 2147483647 w 240"/>
              <a:gd name="T21" fmla="*/ 2147483647 h 239"/>
              <a:gd name="T22" fmla="*/ 2147483647 w 240"/>
              <a:gd name="T23" fmla="*/ 2147483647 h 239"/>
              <a:gd name="T24" fmla="*/ 2147483647 w 240"/>
              <a:gd name="T25" fmla="*/ 0 h 23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"/>
              <a:gd name="T40" fmla="*/ 0 h 239"/>
              <a:gd name="T41" fmla="*/ 240 w 240"/>
              <a:gd name="T42" fmla="*/ 239 h 239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" h="239">
                <a:moveTo>
                  <a:pt x="203" y="0"/>
                </a:moveTo>
                <a:cubicBezTo>
                  <a:pt x="201" y="1"/>
                  <a:pt x="153" y="12"/>
                  <a:pt x="148" y="16"/>
                </a:cubicBezTo>
                <a:cubicBezTo>
                  <a:pt x="96" y="58"/>
                  <a:pt x="168" y="28"/>
                  <a:pt x="109" y="48"/>
                </a:cubicBezTo>
                <a:cubicBezTo>
                  <a:pt x="101" y="56"/>
                  <a:pt x="94" y="65"/>
                  <a:pt x="85" y="71"/>
                </a:cubicBezTo>
                <a:cubicBezTo>
                  <a:pt x="78" y="76"/>
                  <a:pt x="68" y="74"/>
                  <a:pt x="61" y="79"/>
                </a:cubicBezTo>
                <a:cubicBezTo>
                  <a:pt x="52" y="85"/>
                  <a:pt x="46" y="96"/>
                  <a:pt x="38" y="103"/>
                </a:cubicBezTo>
                <a:cubicBezTo>
                  <a:pt x="31" y="109"/>
                  <a:pt x="22" y="114"/>
                  <a:pt x="14" y="119"/>
                </a:cubicBezTo>
                <a:cubicBezTo>
                  <a:pt x="0" y="159"/>
                  <a:pt x="17" y="190"/>
                  <a:pt x="30" y="229"/>
                </a:cubicBezTo>
                <a:cubicBezTo>
                  <a:pt x="33" y="239"/>
                  <a:pt x="51" y="234"/>
                  <a:pt x="61" y="237"/>
                </a:cubicBezTo>
                <a:cubicBezTo>
                  <a:pt x="153" y="225"/>
                  <a:pt x="152" y="229"/>
                  <a:pt x="203" y="150"/>
                </a:cubicBezTo>
                <a:cubicBezTo>
                  <a:pt x="209" y="141"/>
                  <a:pt x="217" y="102"/>
                  <a:pt x="219" y="95"/>
                </a:cubicBezTo>
                <a:cubicBezTo>
                  <a:pt x="224" y="79"/>
                  <a:pt x="235" y="48"/>
                  <a:pt x="235" y="48"/>
                </a:cubicBezTo>
                <a:cubicBezTo>
                  <a:pt x="225" y="0"/>
                  <a:pt x="240" y="12"/>
                  <a:pt x="203" y="0"/>
                </a:cubicBezTo>
                <a:close/>
              </a:path>
            </a:pathLst>
          </a:custGeom>
          <a:solidFill>
            <a:srgbClr val="FFCC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202" name="Freeform 95"/>
          <p:cNvSpPr>
            <a:spLocks/>
          </p:cNvSpPr>
          <p:nvPr/>
        </p:nvSpPr>
        <p:spPr bwMode="auto">
          <a:xfrm>
            <a:off x="6169025" y="3644900"/>
            <a:ext cx="376238" cy="234950"/>
          </a:xfrm>
          <a:custGeom>
            <a:avLst/>
            <a:gdLst>
              <a:gd name="T0" fmla="*/ 2147483647 w 237"/>
              <a:gd name="T1" fmla="*/ 2147483647 h 148"/>
              <a:gd name="T2" fmla="*/ 2147483647 w 237"/>
              <a:gd name="T3" fmla="*/ 2147483647 h 148"/>
              <a:gd name="T4" fmla="*/ 2147483647 w 237"/>
              <a:gd name="T5" fmla="*/ 2147483647 h 148"/>
              <a:gd name="T6" fmla="*/ 2147483647 w 237"/>
              <a:gd name="T7" fmla="*/ 2147483647 h 148"/>
              <a:gd name="T8" fmla="*/ 2147483647 w 237"/>
              <a:gd name="T9" fmla="*/ 2147483647 h 148"/>
              <a:gd name="T10" fmla="*/ 2147483647 w 237"/>
              <a:gd name="T11" fmla="*/ 2147483647 h 148"/>
              <a:gd name="T12" fmla="*/ 2147483647 w 237"/>
              <a:gd name="T13" fmla="*/ 2147483647 h 148"/>
              <a:gd name="T14" fmla="*/ 2147483647 w 237"/>
              <a:gd name="T15" fmla="*/ 2147483647 h 148"/>
              <a:gd name="T16" fmla="*/ 2147483647 w 237"/>
              <a:gd name="T17" fmla="*/ 2147483647 h 14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37"/>
              <a:gd name="T28" fmla="*/ 0 h 148"/>
              <a:gd name="T29" fmla="*/ 237 w 237"/>
              <a:gd name="T30" fmla="*/ 148 h 14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37" h="148">
                <a:moveTo>
                  <a:pt x="156" y="6"/>
                </a:moveTo>
                <a:cubicBezTo>
                  <a:pt x="129" y="10"/>
                  <a:pt x="98" y="5"/>
                  <a:pt x="77" y="22"/>
                </a:cubicBezTo>
                <a:cubicBezTo>
                  <a:pt x="25" y="63"/>
                  <a:pt x="97" y="34"/>
                  <a:pt x="37" y="54"/>
                </a:cubicBezTo>
                <a:cubicBezTo>
                  <a:pt x="25" y="92"/>
                  <a:pt x="0" y="132"/>
                  <a:pt x="53" y="148"/>
                </a:cubicBezTo>
                <a:cubicBezTo>
                  <a:pt x="67" y="147"/>
                  <a:pt x="124" y="146"/>
                  <a:pt x="148" y="133"/>
                </a:cubicBezTo>
                <a:cubicBezTo>
                  <a:pt x="165" y="124"/>
                  <a:pt x="195" y="101"/>
                  <a:pt x="195" y="101"/>
                </a:cubicBezTo>
                <a:cubicBezTo>
                  <a:pt x="223" y="60"/>
                  <a:pt x="237" y="66"/>
                  <a:pt x="219" y="30"/>
                </a:cubicBezTo>
                <a:cubicBezTo>
                  <a:pt x="215" y="21"/>
                  <a:pt x="212" y="9"/>
                  <a:pt x="203" y="6"/>
                </a:cubicBezTo>
                <a:cubicBezTo>
                  <a:pt x="188" y="0"/>
                  <a:pt x="172" y="6"/>
                  <a:pt x="156" y="6"/>
                </a:cubicBezTo>
                <a:close/>
              </a:path>
            </a:pathLst>
          </a:custGeom>
          <a:solidFill>
            <a:srgbClr val="FFCC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sp>
        <p:nvSpPr>
          <p:cNvPr id="134203" name="Freeform 96"/>
          <p:cNvSpPr>
            <a:spLocks/>
          </p:cNvSpPr>
          <p:nvPr/>
        </p:nvSpPr>
        <p:spPr bwMode="auto">
          <a:xfrm>
            <a:off x="5776913" y="3300414"/>
            <a:ext cx="400050" cy="300037"/>
          </a:xfrm>
          <a:custGeom>
            <a:avLst/>
            <a:gdLst>
              <a:gd name="T0" fmla="*/ 2147483647 w 252"/>
              <a:gd name="T1" fmla="*/ 0 h 189"/>
              <a:gd name="T2" fmla="*/ 2147483647 w 252"/>
              <a:gd name="T3" fmla="*/ 2147483647 h 189"/>
              <a:gd name="T4" fmla="*/ 2147483647 w 252"/>
              <a:gd name="T5" fmla="*/ 2147483647 h 189"/>
              <a:gd name="T6" fmla="*/ 2147483647 w 252"/>
              <a:gd name="T7" fmla="*/ 2147483647 h 189"/>
              <a:gd name="T8" fmla="*/ 0 w 252"/>
              <a:gd name="T9" fmla="*/ 2147483647 h 189"/>
              <a:gd name="T10" fmla="*/ 2147483647 w 252"/>
              <a:gd name="T11" fmla="*/ 2147483647 h 189"/>
              <a:gd name="T12" fmla="*/ 2147483647 w 252"/>
              <a:gd name="T13" fmla="*/ 2147483647 h 189"/>
              <a:gd name="T14" fmla="*/ 2147483647 w 252"/>
              <a:gd name="T15" fmla="*/ 2147483647 h 189"/>
              <a:gd name="T16" fmla="*/ 2147483647 w 252"/>
              <a:gd name="T17" fmla="*/ 2147483647 h 189"/>
              <a:gd name="T18" fmla="*/ 2147483647 w 252"/>
              <a:gd name="T19" fmla="*/ 2147483647 h 189"/>
              <a:gd name="T20" fmla="*/ 2147483647 w 252"/>
              <a:gd name="T21" fmla="*/ 2147483647 h 189"/>
              <a:gd name="T22" fmla="*/ 2147483647 w 252"/>
              <a:gd name="T23" fmla="*/ 0 h 18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252"/>
              <a:gd name="T37" fmla="*/ 0 h 189"/>
              <a:gd name="T38" fmla="*/ 252 w 252"/>
              <a:gd name="T39" fmla="*/ 189 h 18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252" h="189">
                <a:moveTo>
                  <a:pt x="181" y="0"/>
                </a:moveTo>
                <a:cubicBezTo>
                  <a:pt x="164" y="2"/>
                  <a:pt x="112" y="3"/>
                  <a:pt x="87" y="16"/>
                </a:cubicBezTo>
                <a:cubicBezTo>
                  <a:pt x="70" y="25"/>
                  <a:pt x="39" y="47"/>
                  <a:pt x="39" y="47"/>
                </a:cubicBezTo>
                <a:cubicBezTo>
                  <a:pt x="11" y="131"/>
                  <a:pt x="54" y="7"/>
                  <a:pt x="16" y="95"/>
                </a:cubicBezTo>
                <a:cubicBezTo>
                  <a:pt x="9" y="110"/>
                  <a:pt x="0" y="142"/>
                  <a:pt x="0" y="142"/>
                </a:cubicBezTo>
                <a:cubicBezTo>
                  <a:pt x="11" y="174"/>
                  <a:pt x="24" y="179"/>
                  <a:pt x="55" y="189"/>
                </a:cubicBezTo>
                <a:cubicBezTo>
                  <a:pt x="81" y="186"/>
                  <a:pt x="108" y="187"/>
                  <a:pt x="134" y="181"/>
                </a:cubicBezTo>
                <a:cubicBezTo>
                  <a:pt x="159" y="175"/>
                  <a:pt x="187" y="151"/>
                  <a:pt x="213" y="142"/>
                </a:cubicBezTo>
                <a:cubicBezTo>
                  <a:pt x="221" y="134"/>
                  <a:pt x="231" y="128"/>
                  <a:pt x="236" y="118"/>
                </a:cubicBezTo>
                <a:cubicBezTo>
                  <a:pt x="244" y="103"/>
                  <a:pt x="252" y="71"/>
                  <a:pt x="252" y="71"/>
                </a:cubicBezTo>
                <a:cubicBezTo>
                  <a:pt x="249" y="58"/>
                  <a:pt x="251" y="43"/>
                  <a:pt x="244" y="31"/>
                </a:cubicBezTo>
                <a:cubicBezTo>
                  <a:pt x="234" y="14"/>
                  <a:pt x="198" y="8"/>
                  <a:pt x="181" y="0"/>
                </a:cubicBezTo>
                <a:close/>
              </a:path>
            </a:pathLst>
          </a:custGeom>
          <a:solidFill>
            <a:srgbClr val="FFCC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pPr algn="ctr"/>
            <a:endParaRPr lang="fr-FR" sz="2400">
              <a:latin typeface="Times New Roman" pitchFamily="18" charset="0"/>
            </a:endParaRPr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6" y="318452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796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26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495550" y="260351"/>
            <a:ext cx="7272338" cy="1368425"/>
          </a:xfrm>
          <a:solidFill>
            <a:schemeClr val="bg1"/>
          </a:solidFill>
          <a:ln w="38100">
            <a:solidFill>
              <a:schemeClr val="tx2"/>
            </a:solidFill>
          </a:ln>
        </p:spPr>
        <p:txBody>
          <a:bodyPr/>
          <a:lstStyle/>
          <a:p>
            <a:pPr eaLnBrk="1" hangingPunct="1"/>
            <a:r>
              <a:rPr lang="fr-FR" sz="4000" b="1">
                <a:solidFill>
                  <a:schemeClr val="hlink"/>
                </a:solidFill>
              </a:rPr>
              <a:t>Effet Cytopatique = </a:t>
            </a:r>
            <a:r>
              <a:rPr lang="fr-FR" sz="4000">
                <a:solidFill>
                  <a:srgbClr val="FF0066"/>
                </a:solidFill>
              </a:rPr>
              <a:t>SYNCYCIUM</a:t>
            </a:r>
            <a:endParaRPr lang="fr-FR" sz="4000" b="1">
              <a:solidFill>
                <a:schemeClr val="hlink"/>
              </a:solidFill>
            </a:endParaRPr>
          </a:p>
        </p:txBody>
      </p:sp>
      <p:pic>
        <p:nvPicPr>
          <p:cNvPr id="135171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71814" y="1916114"/>
            <a:ext cx="5978525" cy="446563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943334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242" name="Picture 4" descr="4e5a1cfa-0a8b-4c28-9da2-810c30e67615">
            <a:hlinkClick r:id="rId5"/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8243" name="Text Box 5"/>
          <p:cNvSpPr txBox="1">
            <a:spLocks noChangeArrowheads="1"/>
          </p:cNvSpPr>
          <p:nvPr/>
        </p:nvSpPr>
        <p:spPr bwMode="auto">
          <a:xfrm>
            <a:off x="2424114" y="2276476"/>
            <a:ext cx="7273925" cy="1774825"/>
          </a:xfrm>
          <a:prstGeom prst="rect">
            <a:avLst/>
          </a:prstGeom>
          <a:noFill/>
          <a:ln w="38100">
            <a:solidFill>
              <a:srgbClr val="FF99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sz="5400" b="1">
                <a:solidFill>
                  <a:srgbClr val="FFCCFF"/>
                </a:solidFill>
              </a:rPr>
              <a:t>MERCI POUR VOTRE ATTENTION</a:t>
            </a:r>
          </a:p>
        </p:txBody>
      </p:sp>
      <p:pic>
        <p:nvPicPr>
          <p:cNvPr id="2" name="Son enregistré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851526" y="318452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992590"/>
      </p:ext>
    </p:ext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6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Brin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25</TotalTime>
  <Words>544</Words>
  <Application>Microsoft Office PowerPoint</Application>
  <PresentationFormat>Grand écran</PresentationFormat>
  <Paragraphs>62</Paragraphs>
  <Slides>17</Slides>
  <Notes>13</Notes>
  <HiddenSlides>0</HiddenSlides>
  <MMClips>15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5" baseType="lpstr">
      <vt:lpstr>Algerian</vt:lpstr>
      <vt:lpstr>Arial</vt:lpstr>
      <vt:lpstr>Calibri</vt:lpstr>
      <vt:lpstr>Century Gothic</vt:lpstr>
      <vt:lpstr>Times New Roman</vt:lpstr>
      <vt:lpstr>Wingdings</vt:lpstr>
      <vt:lpstr>Wingdings 3</vt:lpstr>
      <vt:lpstr>Brin</vt:lpstr>
      <vt:lpstr>Présentation PowerPoint</vt:lpstr>
      <vt:lpstr>Présentation PowerPoint</vt:lpstr>
      <vt:lpstr>Présentation PowerPoint</vt:lpstr>
      <vt:lpstr>E)- ASSEMBLAGE DES VIRUS :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LIBERATION DES VIRUS</vt:lpstr>
      <vt:lpstr>Présentation PowerPoint</vt:lpstr>
      <vt:lpstr>Présentation PowerPoint</vt:lpstr>
      <vt:lpstr>Présentation PowerPoint</vt:lpstr>
      <vt:lpstr>Présentation PowerPoint</vt:lpstr>
      <vt:lpstr>ECP: SYNCYCIUM (virus de la rougeole)</vt:lpstr>
      <vt:lpstr>Effet Cytopatique = SYNCYCIUM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Hello</dc:creator>
  <cp:lastModifiedBy>Hello</cp:lastModifiedBy>
  <cp:revision>3</cp:revision>
  <dcterms:created xsi:type="dcterms:W3CDTF">2020-09-05T23:22:57Z</dcterms:created>
  <dcterms:modified xsi:type="dcterms:W3CDTF">2020-09-05T23:57:32Z</dcterms:modified>
</cp:coreProperties>
</file>