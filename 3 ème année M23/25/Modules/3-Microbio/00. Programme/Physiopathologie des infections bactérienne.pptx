
<file path=[Content_Types].xml><?xml version="1.0" encoding="utf-8"?>
<Types xmlns="http://schemas.openxmlformats.org/package/2006/content-types">
  <Default Extension="png" ContentType="image/png"/>
  <Default Extension="jfif" ContentType="image/jpe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0"/>
  </p:notesMasterIdLst>
  <p:sldIdLst>
    <p:sldId id="256" r:id="rId2"/>
    <p:sldId id="257" r:id="rId3"/>
    <p:sldId id="262" r:id="rId4"/>
    <p:sldId id="380" r:id="rId5"/>
    <p:sldId id="350" r:id="rId6"/>
    <p:sldId id="351" r:id="rId7"/>
    <p:sldId id="352" r:id="rId8"/>
    <p:sldId id="353" r:id="rId9"/>
    <p:sldId id="354"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371" r:id="rId27"/>
    <p:sldId id="372" r:id="rId28"/>
    <p:sldId id="373" r:id="rId29"/>
    <p:sldId id="374" r:id="rId30"/>
    <p:sldId id="375" r:id="rId31"/>
    <p:sldId id="376" r:id="rId32"/>
    <p:sldId id="377" r:id="rId33"/>
    <p:sldId id="378" r:id="rId34"/>
    <p:sldId id="379" r:id="rId35"/>
    <p:sldId id="268" r:id="rId36"/>
    <p:sldId id="263" r:id="rId37"/>
    <p:sldId id="265" r:id="rId38"/>
    <p:sldId id="290" r:id="rId39"/>
    <p:sldId id="312" r:id="rId40"/>
    <p:sldId id="269" r:id="rId41"/>
    <p:sldId id="271" r:id="rId42"/>
    <p:sldId id="324" r:id="rId43"/>
    <p:sldId id="325" r:id="rId44"/>
    <p:sldId id="326" r:id="rId45"/>
    <p:sldId id="323" r:id="rId46"/>
    <p:sldId id="304" r:id="rId47"/>
    <p:sldId id="307" r:id="rId48"/>
    <p:sldId id="342" r:id="rId49"/>
    <p:sldId id="308" r:id="rId50"/>
    <p:sldId id="270" r:id="rId51"/>
    <p:sldId id="258" r:id="rId52"/>
    <p:sldId id="259" r:id="rId53"/>
    <p:sldId id="275" r:id="rId54"/>
    <p:sldId id="322" r:id="rId55"/>
    <p:sldId id="274" r:id="rId56"/>
    <p:sldId id="273" r:id="rId57"/>
    <p:sldId id="276" r:id="rId58"/>
    <p:sldId id="277" r:id="rId59"/>
    <p:sldId id="278" r:id="rId60"/>
    <p:sldId id="313" r:id="rId61"/>
    <p:sldId id="314" r:id="rId62"/>
    <p:sldId id="315" r:id="rId63"/>
    <p:sldId id="317" r:id="rId64"/>
    <p:sldId id="316" r:id="rId65"/>
    <p:sldId id="318" r:id="rId66"/>
    <p:sldId id="272" r:id="rId67"/>
    <p:sldId id="281" r:id="rId68"/>
    <p:sldId id="320" r:id="rId69"/>
    <p:sldId id="319" r:id="rId70"/>
    <p:sldId id="321" r:id="rId71"/>
    <p:sldId id="282" r:id="rId72"/>
    <p:sldId id="336" r:id="rId73"/>
    <p:sldId id="280" r:id="rId74"/>
    <p:sldId id="283" r:id="rId75"/>
    <p:sldId id="337" r:id="rId76"/>
    <p:sldId id="338" r:id="rId77"/>
    <p:sldId id="339" r:id="rId78"/>
    <p:sldId id="284" r:id="rId79"/>
    <p:sldId id="287" r:id="rId80"/>
    <p:sldId id="345" r:id="rId81"/>
    <p:sldId id="346" r:id="rId82"/>
    <p:sldId id="288" r:id="rId83"/>
    <p:sldId id="340" r:id="rId84"/>
    <p:sldId id="341" r:id="rId85"/>
    <p:sldId id="289" r:id="rId86"/>
    <p:sldId id="291" r:id="rId87"/>
    <p:sldId id="347" r:id="rId88"/>
    <p:sldId id="292" r:id="rId89"/>
    <p:sldId id="293" r:id="rId90"/>
    <p:sldId id="294" r:id="rId91"/>
    <p:sldId id="333" r:id="rId92"/>
    <p:sldId id="295" r:id="rId93"/>
    <p:sldId id="327" r:id="rId94"/>
    <p:sldId id="296" r:id="rId95"/>
    <p:sldId id="328" r:id="rId96"/>
    <p:sldId id="329" r:id="rId97"/>
    <p:sldId id="343" r:id="rId98"/>
    <p:sldId id="344" r:id="rId99"/>
    <p:sldId id="330" r:id="rId100"/>
    <p:sldId id="331" r:id="rId101"/>
    <p:sldId id="297" r:id="rId102"/>
    <p:sldId id="298" r:id="rId103"/>
    <p:sldId id="348" r:id="rId104"/>
    <p:sldId id="309" r:id="rId105"/>
    <p:sldId id="334" r:id="rId106"/>
    <p:sldId id="335" r:id="rId107"/>
    <p:sldId id="301" r:id="rId108"/>
    <p:sldId id="310" r:id="rId10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4660"/>
  </p:normalViewPr>
  <p:slideViewPr>
    <p:cSldViewPr snapToGrid="0">
      <p:cViewPr varScale="1">
        <p:scale>
          <a:sx n="69" d="100"/>
          <a:sy n="69" d="100"/>
        </p:scale>
        <p:origin x="3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BE7D0-9F35-4A39-A77E-BBEAF6BD3096}" type="datetimeFigureOut">
              <a:rPr lang="fr-FR" smtClean="0"/>
              <a:t>04/10/2025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12E45-3293-4BE8-830B-CB3C481C7049}" type="slidenum">
              <a:rPr lang="fr-FR" smtClean="0"/>
              <a:t>‹#›</a:t>
            </a:fld>
            <a:endParaRPr lang="fr-FR"/>
          </a:p>
        </p:txBody>
      </p:sp>
    </p:spTree>
    <p:extLst>
      <p:ext uri="{BB962C8B-B14F-4D97-AF65-F5344CB8AC3E}">
        <p14:creationId xmlns:p14="http://schemas.microsoft.com/office/powerpoint/2010/main" val="2516179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kern="1200" dirty="0" smtClean="0">
                <a:solidFill>
                  <a:schemeClr val="tx1"/>
                </a:solidFill>
                <a:effectLst/>
                <a:latin typeface="+mn-lt"/>
                <a:ea typeface="+mn-ea"/>
                <a:cs typeface="+mn-cs"/>
              </a:rPr>
              <a:t>Madame</a:t>
            </a:r>
            <a:r>
              <a:rPr lang="fr-FR" sz="1200" kern="1200" baseline="0" dirty="0" smtClean="0">
                <a:solidFill>
                  <a:schemeClr val="tx1"/>
                </a:solidFill>
                <a:effectLst/>
                <a:latin typeface="+mn-lt"/>
                <a:ea typeface="+mn-ea"/>
                <a:cs typeface="+mn-cs"/>
              </a:rPr>
              <a:t> la présidente , </a:t>
            </a:r>
            <a:r>
              <a:rPr lang="fr-FR" sz="1200" kern="1200" baseline="0" dirty="0" err="1" smtClean="0">
                <a:solidFill>
                  <a:schemeClr val="tx1"/>
                </a:solidFill>
                <a:effectLst/>
                <a:latin typeface="+mn-lt"/>
                <a:ea typeface="+mn-ea"/>
                <a:cs typeface="+mn-cs"/>
              </a:rPr>
              <a:t>honorble</a:t>
            </a:r>
            <a:r>
              <a:rPr lang="fr-FR" sz="1200" kern="1200" baseline="0" dirty="0" smtClean="0">
                <a:solidFill>
                  <a:schemeClr val="tx1"/>
                </a:solidFill>
                <a:effectLst/>
                <a:latin typeface="+mn-lt"/>
                <a:ea typeface="+mn-ea"/>
                <a:cs typeface="+mn-cs"/>
              </a:rPr>
              <a:t> assistante </a:t>
            </a:r>
          </a:p>
          <a:p>
            <a:r>
              <a:rPr lang="fr-FR" sz="1200" kern="1200" dirty="0" smtClean="0">
                <a:solidFill>
                  <a:schemeClr val="tx1"/>
                </a:solidFill>
                <a:effectLst/>
                <a:latin typeface="+mn-lt"/>
                <a:ea typeface="+mn-ea"/>
                <a:cs typeface="+mn-cs"/>
              </a:rPr>
              <a:t>j’ai le plaisir de vous présenter aujourd’hui notre étude intitulée :</a:t>
            </a:r>
            <a:br>
              <a:rPr lang="fr-FR" sz="1200" kern="1200" dirty="0" smtClean="0">
                <a:solidFill>
                  <a:schemeClr val="tx1"/>
                </a:solidFill>
                <a:effectLst/>
                <a:latin typeface="+mn-lt"/>
                <a:ea typeface="+mn-ea"/>
                <a:cs typeface="+mn-cs"/>
              </a:rPr>
            </a:br>
            <a:r>
              <a:rPr lang="fr-FR" sz="1200" b="1" kern="1200" dirty="0" smtClean="0">
                <a:solidFill>
                  <a:schemeClr val="tx1"/>
                </a:solidFill>
                <a:effectLst/>
                <a:latin typeface="+mn-lt"/>
                <a:ea typeface="+mn-ea"/>
                <a:cs typeface="+mn-cs"/>
              </a:rPr>
              <a:t>« Émergence du gène </a:t>
            </a:r>
            <a:r>
              <a:rPr lang="fr-FR" sz="1200" b="1" kern="1200" dirty="0" err="1" smtClean="0">
                <a:solidFill>
                  <a:schemeClr val="tx1"/>
                </a:solidFill>
                <a:effectLst/>
                <a:latin typeface="+mn-lt"/>
                <a:ea typeface="+mn-ea"/>
                <a:cs typeface="+mn-cs"/>
              </a:rPr>
              <a:t>blaND</a:t>
            </a:r>
            <a:r>
              <a:rPr lang="fr-FR" sz="1200" b="1" kern="1200" baseline="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 au CHU de Constantine »</a:t>
            </a:r>
            <a:r>
              <a:rPr lang="fr-FR" sz="1200" kern="1200" dirty="0" smtClean="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2BEF01A0-AC15-403C-BCE6-D12B18DFA2B7}" type="slidenum">
              <a:rPr lang="fr-FR" smtClean="0"/>
              <a:pPr/>
              <a:t>1</a:t>
            </a:fld>
            <a:endParaRPr lang="fr-FR"/>
          </a:p>
        </p:txBody>
      </p:sp>
    </p:spTree>
    <p:extLst>
      <p:ext uri="{BB962C8B-B14F-4D97-AF65-F5344CB8AC3E}">
        <p14:creationId xmlns:p14="http://schemas.microsoft.com/office/powerpoint/2010/main" val="537826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2</a:t>
            </a:fld>
            <a:endParaRPr lang="fr-FR"/>
          </a:p>
        </p:txBody>
      </p:sp>
    </p:spTree>
    <p:extLst>
      <p:ext uri="{BB962C8B-B14F-4D97-AF65-F5344CB8AC3E}">
        <p14:creationId xmlns:p14="http://schemas.microsoft.com/office/powerpoint/2010/main" val="1981911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3</a:t>
            </a:fld>
            <a:endParaRPr lang="fr-FR"/>
          </a:p>
        </p:txBody>
      </p:sp>
    </p:spTree>
    <p:extLst>
      <p:ext uri="{BB962C8B-B14F-4D97-AF65-F5344CB8AC3E}">
        <p14:creationId xmlns:p14="http://schemas.microsoft.com/office/powerpoint/2010/main" val="3063911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4</a:t>
            </a:fld>
            <a:endParaRPr lang="fr-FR"/>
          </a:p>
        </p:txBody>
      </p:sp>
    </p:spTree>
    <p:extLst>
      <p:ext uri="{BB962C8B-B14F-4D97-AF65-F5344CB8AC3E}">
        <p14:creationId xmlns:p14="http://schemas.microsoft.com/office/powerpoint/2010/main" val="2446707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721174B-A23E-49AE-9C73-F2514FD91E81}" type="slidenum">
              <a:rPr lang="fr-FR" smtClean="0"/>
              <a:pPr/>
              <a:t>10</a:t>
            </a:fld>
            <a:endParaRPr lang="fr-FR"/>
          </a:p>
        </p:txBody>
      </p:sp>
    </p:spTree>
    <p:extLst>
      <p:ext uri="{BB962C8B-B14F-4D97-AF65-F5344CB8AC3E}">
        <p14:creationId xmlns:p14="http://schemas.microsoft.com/office/powerpoint/2010/main" val="719879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36</a:t>
            </a:fld>
            <a:endParaRPr lang="fr-FR"/>
          </a:p>
        </p:txBody>
      </p:sp>
    </p:spTree>
    <p:extLst>
      <p:ext uri="{BB962C8B-B14F-4D97-AF65-F5344CB8AC3E}">
        <p14:creationId xmlns:p14="http://schemas.microsoft.com/office/powerpoint/2010/main" val="2905500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37</a:t>
            </a:fld>
            <a:endParaRPr lang="fr-FR"/>
          </a:p>
        </p:txBody>
      </p:sp>
    </p:spTree>
    <p:extLst>
      <p:ext uri="{BB962C8B-B14F-4D97-AF65-F5344CB8AC3E}">
        <p14:creationId xmlns:p14="http://schemas.microsoft.com/office/powerpoint/2010/main" val="267027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41</a:t>
            </a:fld>
            <a:endParaRPr lang="fr-FR"/>
          </a:p>
        </p:txBody>
      </p:sp>
    </p:spTree>
    <p:extLst>
      <p:ext uri="{BB962C8B-B14F-4D97-AF65-F5344CB8AC3E}">
        <p14:creationId xmlns:p14="http://schemas.microsoft.com/office/powerpoint/2010/main" val="989413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42</a:t>
            </a:fld>
            <a:endParaRPr lang="fr-FR"/>
          </a:p>
        </p:txBody>
      </p:sp>
    </p:spTree>
    <p:extLst>
      <p:ext uri="{BB962C8B-B14F-4D97-AF65-F5344CB8AC3E}">
        <p14:creationId xmlns:p14="http://schemas.microsoft.com/office/powerpoint/2010/main" val="3240142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45</a:t>
            </a:fld>
            <a:endParaRPr lang="fr-FR"/>
          </a:p>
        </p:txBody>
      </p:sp>
    </p:spTree>
    <p:extLst>
      <p:ext uri="{BB962C8B-B14F-4D97-AF65-F5344CB8AC3E}">
        <p14:creationId xmlns:p14="http://schemas.microsoft.com/office/powerpoint/2010/main" val="425614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46</a:t>
            </a:fld>
            <a:endParaRPr lang="fr-FR"/>
          </a:p>
        </p:txBody>
      </p:sp>
    </p:spTree>
    <p:extLst>
      <p:ext uri="{BB962C8B-B14F-4D97-AF65-F5344CB8AC3E}">
        <p14:creationId xmlns:p14="http://schemas.microsoft.com/office/powerpoint/2010/main" val="528535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50</a:t>
            </a:fld>
            <a:endParaRPr lang="fr-FR"/>
          </a:p>
        </p:txBody>
      </p:sp>
    </p:spTree>
    <p:extLst>
      <p:ext uri="{BB962C8B-B14F-4D97-AF65-F5344CB8AC3E}">
        <p14:creationId xmlns:p14="http://schemas.microsoft.com/office/powerpoint/2010/main" val="2307428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Les objectifs de cette étude étaient multiples :</a:t>
            </a:r>
          </a:p>
          <a:p>
            <a:pPr lvl="0"/>
            <a:r>
              <a:rPr lang="fr-FR" sz="1200" kern="1200" dirty="0" smtClean="0">
                <a:solidFill>
                  <a:schemeClr val="tx1"/>
                </a:solidFill>
                <a:effectLst/>
                <a:latin typeface="+mn-lt"/>
                <a:ea typeface="+mn-ea"/>
                <a:cs typeface="+mn-cs"/>
              </a:rPr>
              <a:t>Évaluer les </a:t>
            </a:r>
            <a:r>
              <a:rPr lang="fr-FR" sz="1200" b="1" kern="1200" dirty="0" smtClean="0">
                <a:solidFill>
                  <a:schemeClr val="tx1"/>
                </a:solidFill>
                <a:effectLst/>
                <a:latin typeface="+mn-lt"/>
                <a:ea typeface="+mn-ea"/>
                <a:cs typeface="+mn-cs"/>
              </a:rPr>
              <a:t>profils de résistance</a:t>
            </a:r>
            <a:r>
              <a:rPr lang="fr-FR" sz="1200" kern="1200" dirty="0" smtClean="0">
                <a:solidFill>
                  <a:schemeClr val="tx1"/>
                </a:solidFill>
                <a:effectLst/>
                <a:latin typeface="+mn-lt"/>
                <a:ea typeface="+mn-ea"/>
                <a:cs typeface="+mn-cs"/>
              </a:rPr>
              <a:t> des souches par antibiogramme.</a:t>
            </a:r>
          </a:p>
          <a:p>
            <a:pPr lvl="0"/>
            <a:r>
              <a:rPr lang="fr-FR" sz="1200" kern="1200" dirty="0" smtClean="0">
                <a:solidFill>
                  <a:schemeClr val="tx1"/>
                </a:solidFill>
                <a:effectLst/>
                <a:latin typeface="+mn-lt"/>
                <a:ea typeface="+mn-ea"/>
                <a:cs typeface="+mn-cs"/>
              </a:rPr>
              <a:t>Confirmer la </a:t>
            </a:r>
            <a:r>
              <a:rPr lang="fr-FR" sz="1200" b="1" kern="1200" dirty="0" smtClean="0">
                <a:solidFill>
                  <a:schemeClr val="tx1"/>
                </a:solidFill>
                <a:effectLst/>
                <a:latin typeface="+mn-lt"/>
                <a:ea typeface="+mn-ea"/>
                <a:cs typeface="+mn-cs"/>
              </a:rPr>
              <a:t>production de </a:t>
            </a:r>
            <a:r>
              <a:rPr lang="fr-FR" sz="1200" b="1"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par des tests phénotypiques et moléculaires.</a:t>
            </a:r>
          </a:p>
          <a:p>
            <a:pPr lvl="0"/>
            <a:r>
              <a:rPr lang="fr-FR" sz="1200" kern="1200" dirty="0" smtClean="0">
                <a:solidFill>
                  <a:schemeClr val="tx1"/>
                </a:solidFill>
                <a:effectLst/>
                <a:latin typeface="+mn-lt"/>
                <a:ea typeface="+mn-ea"/>
                <a:cs typeface="+mn-cs"/>
              </a:rPr>
              <a:t>Identifier les gènes impliqués, </a:t>
            </a:r>
          </a:p>
          <a:p>
            <a:pPr lvl="0"/>
            <a:r>
              <a:rPr lang="fr-FR" sz="1200" kern="1200" dirty="0" smtClean="0">
                <a:solidFill>
                  <a:schemeClr val="tx1"/>
                </a:solidFill>
                <a:effectLst/>
                <a:latin typeface="+mn-lt"/>
                <a:ea typeface="+mn-ea"/>
                <a:cs typeface="+mn-cs"/>
              </a:rPr>
              <a:t>Établir une </a:t>
            </a:r>
            <a:r>
              <a:rPr lang="fr-FR" sz="1200" b="1" kern="1200" dirty="0" smtClean="0">
                <a:solidFill>
                  <a:schemeClr val="tx1"/>
                </a:solidFill>
                <a:effectLst/>
                <a:latin typeface="+mn-lt"/>
                <a:ea typeface="+mn-ea"/>
                <a:cs typeface="+mn-cs"/>
              </a:rPr>
              <a:t>épidémiologie moléculaire</a:t>
            </a:r>
            <a:r>
              <a:rPr lang="fr-FR" sz="1200" kern="1200" dirty="0" smtClean="0">
                <a:solidFill>
                  <a:schemeClr val="tx1"/>
                </a:solidFill>
                <a:effectLst/>
                <a:latin typeface="+mn-lt"/>
                <a:ea typeface="+mn-ea"/>
                <a:cs typeface="+mn-cs"/>
              </a:rPr>
              <a:t> des isolats.</a:t>
            </a:r>
          </a:p>
          <a:p>
            <a:pPr lvl="0"/>
            <a:r>
              <a:rPr lang="fr-FR" sz="1200" kern="1200" dirty="0" smtClean="0">
                <a:solidFill>
                  <a:schemeClr val="tx1"/>
                </a:solidFill>
                <a:effectLst/>
                <a:latin typeface="+mn-lt"/>
                <a:ea typeface="+mn-ea"/>
                <a:cs typeface="+mn-cs"/>
              </a:rPr>
              <a:t>Et enfin, explorer les </a:t>
            </a:r>
            <a:r>
              <a:rPr lang="fr-FR" sz="1200" b="1" kern="1200" dirty="0" smtClean="0">
                <a:solidFill>
                  <a:schemeClr val="tx1"/>
                </a:solidFill>
                <a:effectLst/>
                <a:latin typeface="+mn-lt"/>
                <a:ea typeface="+mn-ea"/>
                <a:cs typeface="+mn-cs"/>
              </a:rPr>
              <a:t>mécanismes de </a:t>
            </a:r>
            <a:r>
              <a:rPr lang="fr-FR" sz="1200" b="1" kern="1200" dirty="0" err="1" smtClean="0">
                <a:solidFill>
                  <a:schemeClr val="tx1"/>
                </a:solidFill>
                <a:effectLst/>
                <a:latin typeface="+mn-lt"/>
                <a:ea typeface="+mn-ea"/>
                <a:cs typeface="+mn-cs"/>
              </a:rPr>
              <a:t>co</a:t>
            </a:r>
            <a:r>
              <a:rPr lang="fr-FR" sz="1200" b="1" kern="1200" dirty="0" smtClean="0">
                <a:solidFill>
                  <a:schemeClr val="tx1"/>
                </a:solidFill>
                <a:effectLst/>
                <a:latin typeface="+mn-lt"/>
                <a:ea typeface="+mn-ea"/>
                <a:cs typeface="+mn-cs"/>
              </a:rPr>
              <a:t>-résistance</a:t>
            </a:r>
            <a:r>
              <a:rPr lang="fr-FR" sz="1200" kern="1200" dirty="0" smtClean="0">
                <a:solidFill>
                  <a:schemeClr val="tx1"/>
                </a:solidFill>
                <a:effectLst/>
                <a:latin typeface="+mn-lt"/>
                <a:ea typeface="+mn-ea"/>
                <a:cs typeface="+mn-cs"/>
              </a:rPr>
              <a:t>, notamment la présence simultanée de BLSE ou de </a:t>
            </a:r>
            <a:r>
              <a:rPr lang="fr-FR" sz="1200" kern="1200" dirty="0" err="1" smtClean="0">
                <a:solidFill>
                  <a:schemeClr val="tx1"/>
                </a:solidFill>
                <a:effectLst/>
                <a:latin typeface="+mn-lt"/>
                <a:ea typeface="+mn-ea"/>
                <a:cs typeface="+mn-cs"/>
              </a:rPr>
              <a:t>méthylases</a:t>
            </a:r>
            <a:r>
              <a:rPr lang="fr-FR" sz="1200" kern="1200" dirty="0" smtClean="0">
                <a:solidFill>
                  <a:schemeClr val="tx1"/>
                </a:solidFill>
                <a:effectLst/>
                <a:latin typeface="+mn-lt"/>
                <a:ea typeface="+mn-ea"/>
                <a:cs typeface="+mn-cs"/>
              </a:rPr>
              <a:t>.</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51</a:t>
            </a:fld>
            <a:endParaRPr lang="fr-FR"/>
          </a:p>
        </p:txBody>
      </p:sp>
    </p:spTree>
    <p:extLst>
      <p:ext uri="{BB962C8B-B14F-4D97-AF65-F5344CB8AC3E}">
        <p14:creationId xmlns:p14="http://schemas.microsoft.com/office/powerpoint/2010/main" val="3018433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55</a:t>
            </a:fld>
            <a:endParaRPr lang="fr-FR"/>
          </a:p>
        </p:txBody>
      </p:sp>
    </p:spTree>
    <p:extLst>
      <p:ext uri="{BB962C8B-B14F-4D97-AF65-F5344CB8AC3E}">
        <p14:creationId xmlns:p14="http://schemas.microsoft.com/office/powerpoint/2010/main" val="95912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56</a:t>
            </a:fld>
            <a:endParaRPr lang="fr-FR"/>
          </a:p>
        </p:txBody>
      </p:sp>
    </p:spTree>
    <p:extLst>
      <p:ext uri="{BB962C8B-B14F-4D97-AF65-F5344CB8AC3E}">
        <p14:creationId xmlns:p14="http://schemas.microsoft.com/office/powerpoint/2010/main" val="2959550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57</a:t>
            </a:fld>
            <a:endParaRPr lang="fr-FR"/>
          </a:p>
        </p:txBody>
      </p:sp>
    </p:spTree>
    <p:extLst>
      <p:ext uri="{BB962C8B-B14F-4D97-AF65-F5344CB8AC3E}">
        <p14:creationId xmlns:p14="http://schemas.microsoft.com/office/powerpoint/2010/main" val="2526620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Ce travail s’inscrit dans un </a:t>
            </a:r>
            <a:r>
              <a:rPr lang="fr-FR" sz="1200" b="1" kern="1200" dirty="0" smtClean="0">
                <a:solidFill>
                  <a:schemeClr val="tx1"/>
                </a:solidFill>
                <a:effectLst/>
                <a:latin typeface="+mn-lt"/>
                <a:ea typeface="+mn-ea"/>
                <a:cs typeface="+mn-cs"/>
              </a:rPr>
              <a:t>contexte de résistance antimicrobienne en constante progression</a:t>
            </a:r>
            <a:r>
              <a:rPr lang="fr-FR" sz="1200" kern="1200" dirty="0" smtClean="0">
                <a:solidFill>
                  <a:schemeClr val="tx1"/>
                </a:solidFill>
                <a:effectLst/>
                <a:latin typeface="+mn-lt"/>
                <a:ea typeface="+mn-ea"/>
                <a:cs typeface="+mn-cs"/>
              </a:rPr>
              <a:t>, </a:t>
            </a:r>
            <a:r>
              <a:rPr lang="fr-FR" sz="1200" b="1" kern="1200" dirty="0" smtClean="0">
                <a:solidFill>
                  <a:schemeClr val="tx1"/>
                </a:solidFill>
                <a:effectLst/>
                <a:latin typeface="+mn-lt"/>
                <a:ea typeface="+mn-ea"/>
                <a:cs typeface="+mn-cs"/>
              </a:rPr>
              <a:t>notamment</a:t>
            </a:r>
            <a:r>
              <a:rPr lang="fr-FR" sz="1200" kern="1200" dirty="0" smtClean="0">
                <a:solidFill>
                  <a:schemeClr val="tx1"/>
                </a:solidFill>
                <a:effectLst/>
                <a:latin typeface="+mn-lt"/>
                <a:ea typeface="+mn-ea"/>
                <a:cs typeface="+mn-cs"/>
              </a:rPr>
              <a:t> chez les entérobactéries productrices de </a:t>
            </a:r>
            <a:r>
              <a:rPr lang="fr-FR" sz="1200" kern="1200" dirty="0" err="1" smtClean="0">
                <a:solidFill>
                  <a:schemeClr val="tx1"/>
                </a:solidFill>
                <a:effectLst/>
                <a:latin typeface="+mn-lt"/>
                <a:ea typeface="+mn-ea"/>
                <a:cs typeface="+mn-cs"/>
              </a:rPr>
              <a:t>carbapénémases</a:t>
            </a:r>
            <a:r>
              <a:rPr lang="fr-FR" sz="1200" kern="1200" dirty="0" smtClean="0">
                <a:solidFill>
                  <a:schemeClr val="tx1"/>
                </a:solidFill>
                <a:effectLst/>
                <a:latin typeface="+mn-lt"/>
                <a:ea typeface="+mn-ea"/>
                <a:cs typeface="+mn-cs"/>
              </a:rPr>
              <a:t> (EPC). </a:t>
            </a:r>
          </a:p>
          <a:p>
            <a:r>
              <a:rPr lang="fr-FR" sz="1200" kern="1200" dirty="0" smtClean="0">
                <a:solidFill>
                  <a:schemeClr val="tx1"/>
                </a:solidFill>
                <a:effectLst/>
                <a:latin typeface="+mn-lt"/>
                <a:ea typeface="+mn-ea"/>
                <a:cs typeface="+mn-cs"/>
              </a:rPr>
              <a:t>Ces bactéries occupent </a:t>
            </a:r>
            <a:r>
              <a:rPr lang="fr-FR" sz="1200" b="1" kern="1200" dirty="0" smtClean="0">
                <a:solidFill>
                  <a:schemeClr val="tx1"/>
                </a:solidFill>
                <a:effectLst/>
                <a:latin typeface="+mn-lt"/>
                <a:ea typeface="+mn-ea"/>
                <a:cs typeface="+mn-cs"/>
              </a:rPr>
              <a:t>une place centrale dans la pandémie mondiale </a:t>
            </a:r>
            <a:r>
              <a:rPr lang="fr-FR" sz="1200" kern="1200" dirty="0" smtClean="0">
                <a:solidFill>
                  <a:schemeClr val="tx1"/>
                </a:solidFill>
                <a:effectLst/>
                <a:latin typeface="+mn-lt"/>
                <a:ea typeface="+mn-ea"/>
                <a:cs typeface="+mn-cs"/>
              </a:rPr>
              <a:t>de résistance aux antibiotiques. Leur </a:t>
            </a:r>
            <a:r>
              <a:rPr lang="fr-FR" sz="1200" b="1" kern="1200" dirty="0" smtClean="0">
                <a:solidFill>
                  <a:schemeClr val="tx1"/>
                </a:solidFill>
                <a:effectLst/>
                <a:latin typeface="+mn-lt"/>
                <a:ea typeface="+mn-ea"/>
                <a:cs typeface="+mn-cs"/>
              </a:rPr>
              <a:t>dangerosité</a:t>
            </a:r>
            <a:r>
              <a:rPr lang="fr-FR" sz="1200" kern="1200" dirty="0" smtClean="0">
                <a:solidFill>
                  <a:schemeClr val="tx1"/>
                </a:solidFill>
                <a:effectLst/>
                <a:latin typeface="+mn-lt"/>
                <a:ea typeface="+mn-ea"/>
                <a:cs typeface="+mn-cs"/>
              </a:rPr>
              <a:t> réside dans leur </a:t>
            </a:r>
            <a:r>
              <a:rPr lang="fr-FR" sz="1200" b="1" kern="1200" dirty="0" smtClean="0">
                <a:solidFill>
                  <a:schemeClr val="tx1"/>
                </a:solidFill>
                <a:effectLst/>
                <a:latin typeface="+mn-lt"/>
                <a:ea typeface="+mn-ea"/>
                <a:cs typeface="+mn-cs"/>
              </a:rPr>
              <a:t>résistances associées à plusieurs classes d'antibiotiques</a:t>
            </a:r>
            <a:r>
              <a:rPr lang="fr-FR" sz="1200" kern="1200" dirty="0" smtClean="0">
                <a:solidFill>
                  <a:schemeClr val="tx1"/>
                </a:solidFill>
                <a:effectLst/>
                <a:latin typeface="+mn-lt"/>
                <a:ea typeface="+mn-ea"/>
                <a:cs typeface="+mn-cs"/>
              </a:rPr>
              <a:t>, </a:t>
            </a:r>
          </a:p>
          <a:p>
            <a:r>
              <a:rPr lang="fr-FR" sz="1200" b="1" kern="1200" dirty="0" smtClean="0">
                <a:solidFill>
                  <a:schemeClr val="tx1"/>
                </a:solidFill>
                <a:effectLst/>
                <a:latin typeface="+mn-lt"/>
                <a:ea typeface="+mn-ea"/>
                <a:cs typeface="+mn-cs"/>
              </a:rPr>
              <a:t>conduisant</a:t>
            </a:r>
            <a:r>
              <a:rPr lang="fr-FR" sz="1200" kern="1200" dirty="0" smtClean="0">
                <a:solidFill>
                  <a:schemeClr val="tx1"/>
                </a:solidFill>
                <a:effectLst/>
                <a:latin typeface="+mn-lt"/>
                <a:ea typeface="+mn-ea"/>
                <a:cs typeface="+mn-cs"/>
              </a:rPr>
              <a:t> dans certains cas à des souches </a:t>
            </a:r>
            <a:r>
              <a:rPr lang="fr-FR" sz="1200" b="1" kern="1200" dirty="0" err="1" smtClean="0">
                <a:solidFill>
                  <a:schemeClr val="tx1"/>
                </a:solidFill>
                <a:effectLst/>
                <a:latin typeface="+mn-lt"/>
                <a:ea typeface="+mn-ea"/>
                <a:cs typeface="+mn-cs"/>
              </a:rPr>
              <a:t>panrésistantes</a:t>
            </a:r>
            <a:r>
              <a:rPr lang="fr-FR" sz="1200" kern="1200" dirty="0" smtClean="0">
                <a:solidFill>
                  <a:schemeClr val="tx1"/>
                </a:solidFill>
                <a:effectLst/>
                <a:latin typeface="+mn-lt"/>
                <a:ea typeface="+mn-ea"/>
                <a:cs typeface="+mn-cs"/>
              </a:rPr>
              <a:t> , qui </a:t>
            </a:r>
            <a:r>
              <a:rPr lang="fr-FR" sz="1200" b="1" kern="1200" dirty="0" err="1" smtClean="0">
                <a:solidFill>
                  <a:schemeClr val="tx1"/>
                </a:solidFill>
                <a:effectLst/>
                <a:latin typeface="+mn-lt"/>
                <a:ea typeface="+mn-ea"/>
                <a:cs typeface="+mn-cs"/>
              </a:rPr>
              <a:t>ménent</a:t>
            </a:r>
            <a:r>
              <a:rPr lang="fr-FR" sz="1200" kern="1200" dirty="0" smtClean="0">
                <a:solidFill>
                  <a:schemeClr val="tx1"/>
                </a:solidFill>
                <a:effectLst/>
                <a:latin typeface="+mn-lt"/>
                <a:ea typeface="+mn-ea"/>
                <a:cs typeface="+mn-cs"/>
              </a:rPr>
              <a:t> parfois à des </a:t>
            </a:r>
            <a:r>
              <a:rPr lang="fr-FR" sz="1200" b="1" kern="1200" dirty="0" smtClean="0">
                <a:solidFill>
                  <a:schemeClr val="tx1"/>
                </a:solidFill>
                <a:effectLst/>
                <a:latin typeface="+mn-lt"/>
                <a:ea typeface="+mn-ea"/>
                <a:cs typeface="+mn-cs"/>
              </a:rPr>
              <a:t>véritables impasses thérapeutiques</a:t>
            </a:r>
            <a:r>
              <a:rPr lang="fr-FR" sz="1200" kern="1200" dirty="0" smtClean="0">
                <a:solidFill>
                  <a:schemeClr val="tx1"/>
                </a:solidFill>
                <a:effectLst/>
                <a:latin typeface="+mn-lt"/>
                <a:ea typeface="+mn-ea"/>
                <a:cs typeface="+mn-cs"/>
              </a:rPr>
              <a:t>, mettant en péril la prise en charge </a:t>
            </a:r>
            <a:r>
              <a:rPr lang="fr-FR" sz="1200" b="1" kern="1200" dirty="0" smtClean="0">
                <a:solidFill>
                  <a:schemeClr val="tx1"/>
                </a:solidFill>
                <a:effectLst/>
                <a:latin typeface="+mn-lt"/>
                <a:ea typeface="+mn-ea"/>
                <a:cs typeface="+mn-cs"/>
              </a:rPr>
              <a:t>efficace</a:t>
            </a:r>
            <a:r>
              <a:rPr lang="fr-FR" sz="1200" kern="1200" dirty="0" smtClean="0">
                <a:solidFill>
                  <a:schemeClr val="tx1"/>
                </a:solidFill>
                <a:effectLst/>
                <a:latin typeface="+mn-lt"/>
                <a:ea typeface="+mn-ea"/>
                <a:cs typeface="+mn-cs"/>
              </a:rPr>
              <a:t> des infections nosocomiales.</a:t>
            </a:r>
          </a:p>
          <a:p>
            <a:r>
              <a:rPr lang="fr-FR" sz="1200" kern="1200" dirty="0" smtClean="0">
                <a:solidFill>
                  <a:schemeClr val="tx1"/>
                </a:solidFill>
                <a:effectLst/>
                <a:latin typeface="+mn-lt"/>
                <a:ea typeface="+mn-ea"/>
                <a:cs typeface="+mn-cs"/>
              </a:rPr>
              <a:t>Notre objectif principal était de </a:t>
            </a:r>
            <a:r>
              <a:rPr lang="fr-FR" sz="1200" b="1" kern="1200" dirty="0" smtClean="0">
                <a:solidFill>
                  <a:schemeClr val="tx1"/>
                </a:solidFill>
                <a:effectLst/>
                <a:latin typeface="+mn-lt"/>
                <a:ea typeface="+mn-ea"/>
                <a:cs typeface="+mn-cs"/>
              </a:rPr>
              <a:t>caractériser, sur les plans phénotypique et moléculaire, les souches d’EPC isolées au CHU de Constantine</a:t>
            </a:r>
            <a:r>
              <a:rPr lang="fr-FR" sz="1200" kern="1200" dirty="0" smtClean="0">
                <a:solidFill>
                  <a:schemeClr val="tx1"/>
                </a:solidFill>
                <a:effectLst/>
                <a:latin typeface="+mn-lt"/>
                <a:ea typeface="+mn-ea"/>
                <a:cs typeface="+mn-cs"/>
              </a:rPr>
              <a:t>, et d’</a:t>
            </a:r>
            <a:r>
              <a:rPr lang="fr-FR" sz="1200" b="1" kern="1200" dirty="0" smtClean="0">
                <a:solidFill>
                  <a:schemeClr val="tx1"/>
                </a:solidFill>
                <a:effectLst/>
                <a:latin typeface="+mn-lt"/>
                <a:ea typeface="+mn-ea"/>
                <a:cs typeface="+mn-cs"/>
              </a:rPr>
              <a:t>évaluer l’évolution épidémiologique du gène </a:t>
            </a:r>
            <a:r>
              <a:rPr lang="fr-FR" sz="1200" b="1" kern="1200" dirty="0" err="1" smtClean="0">
                <a:solidFill>
                  <a:schemeClr val="tx1"/>
                </a:solidFill>
                <a:effectLst/>
                <a:latin typeface="+mn-lt"/>
                <a:ea typeface="+mn-ea"/>
                <a:cs typeface="+mn-cs"/>
              </a:rPr>
              <a:t>bla</a:t>
            </a:r>
            <a:r>
              <a:rPr lang="fr-FR" sz="1200" b="1" kern="1200" dirty="0" smtClean="0">
                <a:solidFill>
                  <a:schemeClr val="tx1"/>
                </a:solidFill>
                <a:effectLst/>
                <a:latin typeface="+mn-lt"/>
                <a:ea typeface="+mn-ea"/>
                <a:cs typeface="+mn-cs"/>
              </a:rPr>
              <a:t>&lt;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&gt;NDM&lt;/</a:t>
            </a:r>
            <a:r>
              <a:rPr lang="fr-FR" sz="1200" b="1" kern="1200" dirty="0" err="1" smtClean="0">
                <a:solidFill>
                  <a:schemeClr val="tx1"/>
                </a:solidFill>
                <a:effectLst/>
                <a:latin typeface="+mn-lt"/>
                <a:ea typeface="+mn-ea"/>
                <a:cs typeface="+mn-cs"/>
              </a:rPr>
              <a:t>sub</a:t>
            </a:r>
            <a:r>
              <a:rPr lang="fr-FR" sz="1200" b="1" kern="1200" dirty="0" smtClean="0">
                <a:solidFill>
                  <a:schemeClr val="tx1"/>
                </a:solidFill>
                <a:effectLst/>
                <a:latin typeface="+mn-lt"/>
                <a:ea typeface="+mn-ea"/>
                <a:cs typeface="+mn-cs"/>
              </a:rPr>
              <a:t>&gt;</a:t>
            </a:r>
            <a:r>
              <a:rPr lang="fr-FR" sz="1200" kern="1200" dirty="0" smtClean="0">
                <a:solidFill>
                  <a:schemeClr val="tx1"/>
                </a:solidFill>
                <a:effectLst/>
                <a:latin typeface="+mn-lt"/>
                <a:ea typeface="+mn-ea"/>
                <a:cs typeface="+mn-cs"/>
              </a:rPr>
              <a:t>, reconnu comme un marqueur émergent et préoccupant de résistance.</a:t>
            </a:r>
          </a:p>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58</a:t>
            </a:fld>
            <a:endParaRPr lang="fr-FR"/>
          </a:p>
        </p:txBody>
      </p:sp>
    </p:spTree>
    <p:extLst>
      <p:ext uri="{BB962C8B-B14F-4D97-AF65-F5344CB8AC3E}">
        <p14:creationId xmlns:p14="http://schemas.microsoft.com/office/powerpoint/2010/main" val="2267184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59</a:t>
            </a:fld>
            <a:endParaRPr lang="fr-FR"/>
          </a:p>
        </p:txBody>
      </p:sp>
    </p:spTree>
    <p:extLst>
      <p:ext uri="{BB962C8B-B14F-4D97-AF65-F5344CB8AC3E}">
        <p14:creationId xmlns:p14="http://schemas.microsoft.com/office/powerpoint/2010/main" val="2448538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61</a:t>
            </a:fld>
            <a:endParaRPr lang="fr-FR"/>
          </a:p>
        </p:txBody>
      </p:sp>
    </p:spTree>
    <p:extLst>
      <p:ext uri="{BB962C8B-B14F-4D97-AF65-F5344CB8AC3E}">
        <p14:creationId xmlns:p14="http://schemas.microsoft.com/office/powerpoint/2010/main" val="2562886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62</a:t>
            </a:fld>
            <a:endParaRPr lang="fr-FR"/>
          </a:p>
        </p:txBody>
      </p:sp>
    </p:spTree>
    <p:extLst>
      <p:ext uri="{BB962C8B-B14F-4D97-AF65-F5344CB8AC3E}">
        <p14:creationId xmlns:p14="http://schemas.microsoft.com/office/powerpoint/2010/main" val="761073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64</a:t>
            </a:fld>
            <a:endParaRPr lang="fr-FR"/>
          </a:p>
        </p:txBody>
      </p:sp>
    </p:spTree>
    <p:extLst>
      <p:ext uri="{BB962C8B-B14F-4D97-AF65-F5344CB8AC3E}">
        <p14:creationId xmlns:p14="http://schemas.microsoft.com/office/powerpoint/2010/main" val="3431830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68</a:t>
            </a:fld>
            <a:endParaRPr lang="fr-FR"/>
          </a:p>
        </p:txBody>
      </p:sp>
    </p:spTree>
    <p:extLst>
      <p:ext uri="{BB962C8B-B14F-4D97-AF65-F5344CB8AC3E}">
        <p14:creationId xmlns:p14="http://schemas.microsoft.com/office/powerpoint/2010/main" val="1028066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69</a:t>
            </a:fld>
            <a:endParaRPr lang="fr-FR"/>
          </a:p>
        </p:txBody>
      </p:sp>
    </p:spTree>
    <p:extLst>
      <p:ext uri="{BB962C8B-B14F-4D97-AF65-F5344CB8AC3E}">
        <p14:creationId xmlns:p14="http://schemas.microsoft.com/office/powerpoint/2010/main" val="2449229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71</a:t>
            </a:fld>
            <a:endParaRPr lang="fr-FR"/>
          </a:p>
        </p:txBody>
      </p:sp>
    </p:spTree>
    <p:extLst>
      <p:ext uri="{BB962C8B-B14F-4D97-AF65-F5344CB8AC3E}">
        <p14:creationId xmlns:p14="http://schemas.microsoft.com/office/powerpoint/2010/main" val="2655831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74</a:t>
            </a:fld>
            <a:endParaRPr lang="fr-FR"/>
          </a:p>
        </p:txBody>
      </p:sp>
    </p:spTree>
    <p:extLst>
      <p:ext uri="{BB962C8B-B14F-4D97-AF65-F5344CB8AC3E}">
        <p14:creationId xmlns:p14="http://schemas.microsoft.com/office/powerpoint/2010/main" val="122254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75</a:t>
            </a:fld>
            <a:endParaRPr lang="fr-FR"/>
          </a:p>
        </p:txBody>
      </p:sp>
    </p:spTree>
    <p:extLst>
      <p:ext uri="{BB962C8B-B14F-4D97-AF65-F5344CB8AC3E}">
        <p14:creationId xmlns:p14="http://schemas.microsoft.com/office/powerpoint/2010/main" val="21266223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76</a:t>
            </a:fld>
            <a:endParaRPr lang="fr-FR"/>
          </a:p>
        </p:txBody>
      </p:sp>
    </p:spTree>
    <p:extLst>
      <p:ext uri="{BB962C8B-B14F-4D97-AF65-F5344CB8AC3E}">
        <p14:creationId xmlns:p14="http://schemas.microsoft.com/office/powerpoint/2010/main" val="2743158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77</a:t>
            </a:fld>
            <a:endParaRPr lang="fr-FR"/>
          </a:p>
        </p:txBody>
      </p:sp>
    </p:spTree>
    <p:extLst>
      <p:ext uri="{BB962C8B-B14F-4D97-AF65-F5344CB8AC3E}">
        <p14:creationId xmlns:p14="http://schemas.microsoft.com/office/powerpoint/2010/main" val="33533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82</a:t>
            </a:fld>
            <a:endParaRPr lang="fr-FR"/>
          </a:p>
        </p:txBody>
      </p:sp>
    </p:spTree>
    <p:extLst>
      <p:ext uri="{BB962C8B-B14F-4D97-AF65-F5344CB8AC3E}">
        <p14:creationId xmlns:p14="http://schemas.microsoft.com/office/powerpoint/2010/main" val="6284013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83</a:t>
            </a:fld>
            <a:endParaRPr lang="fr-FR"/>
          </a:p>
        </p:txBody>
      </p:sp>
    </p:spTree>
    <p:extLst>
      <p:ext uri="{BB962C8B-B14F-4D97-AF65-F5344CB8AC3E}">
        <p14:creationId xmlns:p14="http://schemas.microsoft.com/office/powerpoint/2010/main" val="1385296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85</a:t>
            </a:fld>
            <a:endParaRPr lang="fr-FR"/>
          </a:p>
        </p:txBody>
      </p:sp>
    </p:spTree>
    <p:extLst>
      <p:ext uri="{BB962C8B-B14F-4D97-AF65-F5344CB8AC3E}">
        <p14:creationId xmlns:p14="http://schemas.microsoft.com/office/powerpoint/2010/main" val="8790946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86</a:t>
            </a:fld>
            <a:endParaRPr lang="fr-FR"/>
          </a:p>
        </p:txBody>
      </p:sp>
    </p:spTree>
    <p:extLst>
      <p:ext uri="{BB962C8B-B14F-4D97-AF65-F5344CB8AC3E}">
        <p14:creationId xmlns:p14="http://schemas.microsoft.com/office/powerpoint/2010/main" val="40190708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88</a:t>
            </a:fld>
            <a:endParaRPr lang="fr-FR"/>
          </a:p>
        </p:txBody>
      </p:sp>
    </p:spTree>
    <p:extLst>
      <p:ext uri="{BB962C8B-B14F-4D97-AF65-F5344CB8AC3E}">
        <p14:creationId xmlns:p14="http://schemas.microsoft.com/office/powerpoint/2010/main" val="139843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89</a:t>
            </a:fld>
            <a:endParaRPr lang="fr-FR"/>
          </a:p>
        </p:txBody>
      </p:sp>
    </p:spTree>
    <p:extLst>
      <p:ext uri="{BB962C8B-B14F-4D97-AF65-F5344CB8AC3E}">
        <p14:creationId xmlns:p14="http://schemas.microsoft.com/office/powerpoint/2010/main" val="1510175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90</a:t>
            </a:fld>
            <a:endParaRPr lang="fr-FR"/>
          </a:p>
        </p:txBody>
      </p:sp>
    </p:spTree>
    <p:extLst>
      <p:ext uri="{BB962C8B-B14F-4D97-AF65-F5344CB8AC3E}">
        <p14:creationId xmlns:p14="http://schemas.microsoft.com/office/powerpoint/2010/main" val="2530070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91</a:t>
            </a:fld>
            <a:endParaRPr lang="fr-FR"/>
          </a:p>
        </p:txBody>
      </p:sp>
    </p:spTree>
    <p:extLst>
      <p:ext uri="{BB962C8B-B14F-4D97-AF65-F5344CB8AC3E}">
        <p14:creationId xmlns:p14="http://schemas.microsoft.com/office/powerpoint/2010/main" val="29241559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92</a:t>
            </a:fld>
            <a:endParaRPr lang="fr-FR"/>
          </a:p>
        </p:txBody>
      </p:sp>
    </p:spTree>
    <p:extLst>
      <p:ext uri="{BB962C8B-B14F-4D97-AF65-F5344CB8AC3E}">
        <p14:creationId xmlns:p14="http://schemas.microsoft.com/office/powerpoint/2010/main" val="1095002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94</a:t>
            </a:fld>
            <a:endParaRPr lang="fr-FR"/>
          </a:p>
        </p:txBody>
      </p:sp>
    </p:spTree>
    <p:extLst>
      <p:ext uri="{BB962C8B-B14F-4D97-AF65-F5344CB8AC3E}">
        <p14:creationId xmlns:p14="http://schemas.microsoft.com/office/powerpoint/2010/main" val="27630766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95</a:t>
            </a:fld>
            <a:endParaRPr lang="fr-FR"/>
          </a:p>
        </p:txBody>
      </p:sp>
    </p:spTree>
    <p:extLst>
      <p:ext uri="{BB962C8B-B14F-4D97-AF65-F5344CB8AC3E}">
        <p14:creationId xmlns:p14="http://schemas.microsoft.com/office/powerpoint/2010/main" val="209058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99</a:t>
            </a:fld>
            <a:endParaRPr lang="fr-FR"/>
          </a:p>
        </p:txBody>
      </p:sp>
    </p:spTree>
    <p:extLst>
      <p:ext uri="{BB962C8B-B14F-4D97-AF65-F5344CB8AC3E}">
        <p14:creationId xmlns:p14="http://schemas.microsoft.com/office/powerpoint/2010/main" val="19157334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101</a:t>
            </a:fld>
            <a:endParaRPr lang="fr-FR"/>
          </a:p>
        </p:txBody>
      </p:sp>
    </p:spTree>
    <p:extLst>
      <p:ext uri="{BB962C8B-B14F-4D97-AF65-F5344CB8AC3E}">
        <p14:creationId xmlns:p14="http://schemas.microsoft.com/office/powerpoint/2010/main" val="9167080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102</a:t>
            </a:fld>
            <a:endParaRPr lang="fr-FR"/>
          </a:p>
        </p:txBody>
      </p:sp>
    </p:spTree>
    <p:extLst>
      <p:ext uri="{BB962C8B-B14F-4D97-AF65-F5344CB8AC3E}">
        <p14:creationId xmlns:p14="http://schemas.microsoft.com/office/powerpoint/2010/main" val="33609779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105</a:t>
            </a:fld>
            <a:endParaRPr lang="fr-FR"/>
          </a:p>
        </p:txBody>
      </p:sp>
    </p:spTree>
    <p:extLst>
      <p:ext uri="{BB962C8B-B14F-4D97-AF65-F5344CB8AC3E}">
        <p14:creationId xmlns:p14="http://schemas.microsoft.com/office/powerpoint/2010/main" val="31786549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106</a:t>
            </a:fld>
            <a:endParaRPr lang="fr-FR"/>
          </a:p>
        </p:txBody>
      </p:sp>
    </p:spTree>
    <p:extLst>
      <p:ext uri="{BB962C8B-B14F-4D97-AF65-F5344CB8AC3E}">
        <p14:creationId xmlns:p14="http://schemas.microsoft.com/office/powerpoint/2010/main" val="6501102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BEF01A0-AC15-403C-BCE6-D12B18DFA2B7}" type="slidenum">
              <a:rPr lang="fr-FR" smtClean="0"/>
              <a:pPr/>
              <a:t>107</a:t>
            </a:fld>
            <a:endParaRPr lang="fr-FR"/>
          </a:p>
        </p:txBody>
      </p:sp>
    </p:spTree>
    <p:extLst>
      <p:ext uri="{BB962C8B-B14F-4D97-AF65-F5344CB8AC3E}">
        <p14:creationId xmlns:p14="http://schemas.microsoft.com/office/powerpoint/2010/main" val="2026127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13E4A5B9-2FEA-4DC9-9BF4-BFC1184063C7}" type="datetimeFigureOut">
              <a:rPr lang="fr-FR" smtClean="0"/>
              <a:t>04/10/2025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2460590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13E4A5B9-2FEA-4DC9-9BF4-BFC1184063C7}" type="datetimeFigureOut">
              <a:rPr lang="fr-FR" smtClean="0"/>
              <a:t>04/10/2025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314304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3E4A5B9-2FEA-4DC9-9BF4-BFC1184063C7}" type="datetimeFigureOut">
              <a:rPr lang="fr-FR" smtClean="0"/>
              <a:t>04/10/2025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3609312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13E4A5B9-2FEA-4DC9-9BF4-BFC1184063C7}" type="datetimeFigureOut">
              <a:rPr lang="fr-FR" smtClean="0"/>
              <a:t>04/10/2025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28214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13E4A5B9-2FEA-4DC9-9BF4-BFC1184063C7}" type="datetimeFigureOut">
              <a:rPr lang="fr-FR" smtClean="0"/>
              <a:t>04/10/2025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651367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13E4A5B9-2FEA-4DC9-9BF4-BFC1184063C7}" type="datetimeFigureOut">
              <a:rPr lang="fr-FR" smtClean="0"/>
              <a:t>04/10/2025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3903794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E4A5B9-2FEA-4DC9-9BF4-BFC1184063C7}" type="datetimeFigureOut">
              <a:rPr lang="fr-FR" smtClean="0"/>
              <a:t>04/10/2025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71624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3E4A5B9-2FEA-4DC9-9BF4-BFC1184063C7}" type="datetimeFigureOut">
              <a:rPr lang="fr-FR" smtClean="0"/>
              <a:t>04/10/2025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562229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3E4A5B9-2FEA-4DC9-9BF4-BFC1184063C7}" type="datetimeFigureOut">
              <a:rPr lang="fr-FR" smtClean="0"/>
              <a:t>04/10/2025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1994878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13E4A5B9-2FEA-4DC9-9BF4-BFC1184063C7}" type="datetimeFigureOut">
              <a:rPr lang="fr-FR" smtClean="0"/>
              <a:t>04/10/2025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3365668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13E4A5B9-2FEA-4DC9-9BF4-BFC1184063C7}" type="datetimeFigureOut">
              <a:rPr lang="fr-FR" smtClean="0"/>
              <a:t>04/10/2025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A0CE67-5356-4217-922F-F97B48C6EE59}" type="slidenum">
              <a:rPr lang="fr-FR" smtClean="0"/>
              <a:t>‹#›</a:t>
            </a:fld>
            <a:endParaRPr lang="fr-FR"/>
          </a:p>
        </p:txBody>
      </p:sp>
    </p:spTree>
    <p:extLst>
      <p:ext uri="{BB962C8B-B14F-4D97-AF65-F5344CB8AC3E}">
        <p14:creationId xmlns:p14="http://schemas.microsoft.com/office/powerpoint/2010/main" val="655523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E4A5B9-2FEA-4DC9-9BF4-BFC1184063C7}" type="datetimeFigureOut">
              <a:rPr lang="fr-FR" smtClean="0"/>
              <a:t>04/10/2025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0CE67-5356-4217-922F-F97B48C6EE59}" type="slidenum">
              <a:rPr lang="fr-FR" smtClean="0"/>
              <a:t>‹#›</a:t>
            </a:fld>
            <a:endParaRPr lang="fr-FR"/>
          </a:p>
        </p:txBody>
      </p:sp>
    </p:spTree>
    <p:extLst>
      <p:ext uri="{BB962C8B-B14F-4D97-AF65-F5344CB8AC3E}">
        <p14:creationId xmlns:p14="http://schemas.microsoft.com/office/powerpoint/2010/main" val="111144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5.jfif"/></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9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ideo" Target="https://www.youtube.com/embed/3f6EOGVL8d4" TargetMode="External"/><Relationship Id="rId5" Type="http://schemas.openxmlformats.org/officeDocument/2006/relationships/image" Target="../media/image73.jpeg"/><Relationship Id="rId4" Type="http://schemas.openxmlformats.org/officeDocument/2006/relationships/image" Target="../media/image1.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ideo" Target="https://www.youtube.com/embed/5byNHasrWis" TargetMode="External"/><Relationship Id="rId5" Type="http://schemas.openxmlformats.org/officeDocument/2006/relationships/image" Target="../media/image74.jpeg"/><Relationship Id="rId4" Type="http://schemas.openxmlformats.org/officeDocument/2006/relationships/image" Target="../media/image1.png"/></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www.google.com/search?q=https://www.pasteur.fr/fr/cours/microbiologie/cellule-bacterienne" TargetMode="External"/><Relationship Id="rId2" Type="http://schemas.openxmlformats.org/officeDocument/2006/relationships/hyperlink" Target="https://biology.com.pk/books/medical-microbiology-for-health-professionals-4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78094"/>
            <a:chOff x="0" y="158495"/>
            <a:chExt cx="12192000" cy="944880"/>
          </a:xfrm>
          <a:solidFill>
            <a:srgbClr val="7030A0"/>
          </a:solidFill>
        </p:grpSpPr>
        <p:sp>
          <p:nvSpPr>
            <p:cNvPr id="3" name="object 3"/>
            <p:cNvSpPr/>
            <p:nvPr/>
          </p:nvSpPr>
          <p:spPr>
            <a:xfrm>
              <a:off x="0" y="158495"/>
              <a:ext cx="12192000" cy="944880"/>
            </a:xfrm>
            <a:custGeom>
              <a:avLst/>
              <a:gdLst/>
              <a:ahLst/>
              <a:cxnLst/>
              <a:rect l="l" t="t" r="r" b="b"/>
              <a:pathLst>
                <a:path w="12192000" h="944880">
                  <a:moveTo>
                    <a:pt x="12192000" y="0"/>
                  </a:moveTo>
                  <a:lnTo>
                    <a:pt x="0" y="0"/>
                  </a:lnTo>
                  <a:lnTo>
                    <a:pt x="0" y="944879"/>
                  </a:lnTo>
                  <a:lnTo>
                    <a:pt x="12192000" y="944879"/>
                  </a:lnTo>
                  <a:lnTo>
                    <a:pt x="12192000" y="0"/>
                  </a:lnTo>
                  <a:close/>
                </a:path>
              </a:pathLst>
            </a:custGeom>
            <a:grpFill/>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lstStyle/>
            <a:p>
              <a:endParaRPr>
                <a:solidFill>
                  <a:srgbClr val="7030A0"/>
                </a:solidFill>
              </a:endParaRPr>
            </a:p>
          </p:txBody>
        </p:sp>
        <p:sp>
          <p:nvSpPr>
            <p:cNvPr id="12" name="object 12"/>
            <p:cNvSpPr/>
            <p:nvPr/>
          </p:nvSpPr>
          <p:spPr>
            <a:xfrm>
              <a:off x="0" y="164401"/>
              <a:ext cx="12192000" cy="9525"/>
            </a:xfrm>
            <a:custGeom>
              <a:avLst/>
              <a:gdLst/>
              <a:ahLst/>
              <a:cxnLst/>
              <a:rect l="l" t="t" r="r" b="b"/>
              <a:pathLst>
                <a:path w="12192000" h="9525">
                  <a:moveTo>
                    <a:pt x="12192000" y="0"/>
                  </a:moveTo>
                  <a:lnTo>
                    <a:pt x="0" y="0"/>
                  </a:lnTo>
                  <a:lnTo>
                    <a:pt x="0" y="9525"/>
                  </a:lnTo>
                  <a:lnTo>
                    <a:pt x="12192000" y="9525"/>
                  </a:lnTo>
                  <a:lnTo>
                    <a:pt x="12192000" y="0"/>
                  </a:lnTo>
                  <a:close/>
                </a:path>
              </a:pathLst>
            </a:custGeom>
            <a:grpFill/>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lstStyle/>
            <a:p>
              <a:endParaRPr>
                <a:solidFill>
                  <a:srgbClr val="7030A0"/>
                </a:solidFill>
              </a:endParaRPr>
            </a:p>
          </p:txBody>
        </p:sp>
      </p:grpSp>
      <p:sp>
        <p:nvSpPr>
          <p:cNvPr id="15" name="object 15"/>
          <p:cNvSpPr txBox="1"/>
          <p:nvPr/>
        </p:nvSpPr>
        <p:spPr>
          <a:xfrm>
            <a:off x="231170" y="2132856"/>
            <a:ext cx="11841493" cy="752129"/>
          </a:xfrm>
          <a:prstGeom prst="rect">
            <a:avLst/>
          </a:prstGeom>
        </p:spPr>
        <p:txBody>
          <a:bodyPr vert="horz" wrap="square" lIns="0" tIns="13335" rIns="0" bIns="0" rtlCol="0">
            <a:spAutoFit/>
          </a:bodyPr>
          <a:lstStyle/>
          <a:p>
            <a:pPr marL="12700" algn="ctr">
              <a:spcBef>
                <a:spcPts val="105"/>
              </a:spcBef>
            </a:pPr>
            <a:r>
              <a:rPr lang="fr-FR" sz="4800" b="1" dirty="0" smtClean="0">
                <a:solidFill>
                  <a:srgbClr val="7030A0"/>
                </a:solidFill>
                <a:latin typeface="Calibri"/>
                <a:cs typeface="Calibri"/>
              </a:rPr>
              <a:t>Physiopathologie des infections bactérienne</a:t>
            </a:r>
            <a:endParaRPr sz="4800" dirty="0">
              <a:solidFill>
                <a:srgbClr val="7030A0"/>
              </a:solidFill>
              <a:latin typeface="Calibri"/>
              <a:cs typeface="Calibri"/>
            </a:endParaRPr>
          </a:p>
        </p:txBody>
      </p:sp>
      <p:sp>
        <p:nvSpPr>
          <p:cNvPr id="16" name="object 16"/>
          <p:cNvSpPr txBox="1"/>
          <p:nvPr/>
        </p:nvSpPr>
        <p:spPr>
          <a:xfrm>
            <a:off x="5332756" y="5078411"/>
            <a:ext cx="3201643" cy="905376"/>
          </a:xfrm>
          <a:prstGeom prst="rect">
            <a:avLst/>
          </a:prstGeom>
        </p:spPr>
        <p:txBody>
          <a:bodyPr vert="horz" wrap="square" lIns="0" tIns="12700" rIns="0" bIns="0" rtlCol="0">
            <a:spAutoFit/>
          </a:bodyPr>
          <a:lstStyle/>
          <a:p>
            <a:r>
              <a:rPr lang="en-US" sz="2000" b="1" dirty="0" smtClean="0">
                <a:solidFill>
                  <a:schemeClr val="bg2">
                    <a:lumMod val="75000"/>
                  </a:schemeClr>
                </a:solidFill>
              </a:rPr>
              <a:t>AIBECHE.MEA</a:t>
            </a:r>
            <a:endParaRPr lang="fr-FR" sz="2000" dirty="0">
              <a:solidFill>
                <a:schemeClr val="bg2">
                  <a:lumMod val="75000"/>
                </a:schemeClr>
              </a:solidFill>
            </a:endParaRPr>
          </a:p>
          <a:p>
            <a:r>
              <a:rPr lang="en-US" sz="2000" b="1" baseline="30000" dirty="0" smtClean="0">
                <a:solidFill>
                  <a:schemeClr val="bg2">
                    <a:lumMod val="75000"/>
                  </a:schemeClr>
                </a:solidFill>
              </a:rPr>
              <a:t>   CHU Constantine</a:t>
            </a:r>
            <a:endParaRPr lang="fr-FR" sz="2000" dirty="0">
              <a:solidFill>
                <a:schemeClr val="bg2">
                  <a:lumMod val="75000"/>
                </a:schemeClr>
              </a:solidFill>
            </a:endParaRPr>
          </a:p>
          <a:p>
            <a:endParaRPr lang="fr-FR" sz="1800" dirty="0"/>
          </a:p>
        </p:txBody>
      </p:sp>
      <p:sp>
        <p:nvSpPr>
          <p:cNvPr id="10" name="object 16"/>
          <p:cNvSpPr txBox="1"/>
          <p:nvPr/>
        </p:nvSpPr>
        <p:spPr>
          <a:xfrm>
            <a:off x="4854762" y="4173035"/>
            <a:ext cx="4806837" cy="905376"/>
          </a:xfrm>
          <a:prstGeom prst="rect">
            <a:avLst/>
          </a:prstGeom>
        </p:spPr>
        <p:txBody>
          <a:bodyPr vert="horz" wrap="square" lIns="0" tIns="12700" rIns="0" bIns="0" rtlCol="0">
            <a:spAutoFit/>
          </a:bodyPr>
          <a:lstStyle/>
          <a:p>
            <a:r>
              <a:rPr lang="fr-FR" sz="2000" b="1" dirty="0" smtClean="0">
                <a:solidFill>
                  <a:schemeClr val="bg2">
                    <a:lumMod val="50000"/>
                  </a:schemeClr>
                </a:solidFill>
              </a:rPr>
              <a:t>Cours de Microbiologie </a:t>
            </a:r>
          </a:p>
          <a:p>
            <a:endParaRPr lang="fr-FR" sz="2000" dirty="0"/>
          </a:p>
          <a:p>
            <a:endParaRPr lang="fr-FR" sz="1800" dirty="0"/>
          </a:p>
        </p:txBody>
      </p:sp>
      <p:sp>
        <p:nvSpPr>
          <p:cNvPr id="11" name="object 16"/>
          <p:cNvSpPr txBox="1"/>
          <p:nvPr/>
        </p:nvSpPr>
        <p:spPr>
          <a:xfrm>
            <a:off x="5097194" y="5983787"/>
            <a:ext cx="2515843" cy="597599"/>
          </a:xfrm>
          <a:prstGeom prst="rect">
            <a:avLst/>
          </a:prstGeom>
        </p:spPr>
        <p:txBody>
          <a:bodyPr vert="horz" wrap="square" lIns="0" tIns="12700" rIns="0" bIns="0" rtlCol="0">
            <a:spAutoFit/>
          </a:bodyPr>
          <a:lstStyle/>
          <a:p>
            <a:r>
              <a:rPr lang="fr-FR" sz="2000" b="1" dirty="0" smtClean="0">
                <a:solidFill>
                  <a:schemeClr val="bg2">
                    <a:lumMod val="75000"/>
                  </a:schemeClr>
                </a:solidFill>
              </a:rPr>
              <a:t>aibeche@yahoo.com</a:t>
            </a:r>
            <a:endParaRPr lang="fr-FR" sz="2000" dirty="0">
              <a:solidFill>
                <a:schemeClr val="bg2">
                  <a:lumMod val="75000"/>
                </a:schemeClr>
              </a:solidFill>
            </a:endParaRPr>
          </a:p>
          <a:p>
            <a:endParaRPr lang="fr-FR" sz="1800" dirty="0"/>
          </a:p>
        </p:txBody>
      </p:sp>
    </p:spTree>
    <p:extLst>
      <p:ext uri="{BB962C8B-B14F-4D97-AF65-F5344CB8AC3E}">
        <p14:creationId xmlns:p14="http://schemas.microsoft.com/office/powerpoint/2010/main" val="40618095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5133340" y="0"/>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dirty="0" smtClean="0">
                <a:solidFill>
                  <a:srgbClr val="FF0000"/>
                </a:solidFill>
              </a:rPr>
              <a:t>PLAN </a:t>
            </a:r>
            <a:endParaRPr sz="3700" dirty="0">
              <a:solidFill>
                <a:srgbClr val="FF0000"/>
              </a:solidFill>
            </a:endParaRPr>
          </a:p>
        </p:txBody>
      </p:sp>
      <p:sp>
        <p:nvSpPr>
          <p:cNvPr id="4" name="object 4"/>
          <p:cNvSpPr txBox="1"/>
          <p:nvPr/>
        </p:nvSpPr>
        <p:spPr>
          <a:xfrm>
            <a:off x="176329" y="593111"/>
            <a:ext cx="12015671" cy="4623060"/>
          </a:xfrm>
          <a:prstGeom prst="rect">
            <a:avLst/>
          </a:prstGeom>
        </p:spPr>
        <p:txBody>
          <a:bodyPr vert="horz" wrap="square" lIns="0" tIns="102870" rIns="0" bIns="0" rtlCol="0">
            <a:spAutoFit/>
          </a:bodyPr>
          <a:lstStyle/>
          <a:p>
            <a:pPr>
              <a:lnSpc>
                <a:spcPct val="100000"/>
              </a:lnSpc>
              <a:spcBef>
                <a:spcPts val="1650"/>
              </a:spcBef>
              <a:buClr>
                <a:srgbClr val="E15322"/>
              </a:buClr>
            </a:pPr>
            <a:r>
              <a:rPr lang="fr-FR" sz="2650" dirty="0" smtClean="0">
                <a:latin typeface="Calibri"/>
                <a:cs typeface="Calibri"/>
              </a:rPr>
              <a:t>      Introduction </a:t>
            </a:r>
          </a:p>
          <a:p>
            <a:pPr marL="514350" indent="-514350">
              <a:lnSpc>
                <a:spcPct val="100000"/>
              </a:lnSpc>
              <a:spcBef>
                <a:spcPts val="1650"/>
              </a:spcBef>
              <a:buClr>
                <a:srgbClr val="E15322"/>
              </a:buClr>
              <a:buFont typeface="+mj-lt"/>
              <a:buAutoNum type="arabicPeriod"/>
            </a:pPr>
            <a:r>
              <a:rPr lang="fr-FR" sz="2400" dirty="0" smtClean="0">
                <a:latin typeface="Calibri"/>
                <a:cs typeface="Calibri"/>
              </a:rPr>
              <a:t>Historique </a:t>
            </a:r>
            <a:endParaRPr lang="fr-FR" sz="2400" dirty="0" smtClean="0">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latin typeface="Calibri"/>
                <a:cs typeface="Calibri"/>
              </a:rPr>
              <a:t>Définitions </a:t>
            </a:r>
            <a:endParaRPr lang="fr-FR" sz="2400" dirty="0" smtClean="0">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latin typeface="Calibri"/>
                <a:cs typeface="Calibri"/>
              </a:rPr>
              <a:t>Le </a:t>
            </a:r>
            <a:r>
              <a:rPr lang="fr-FR" sz="2400" dirty="0" err="1" smtClean="0">
                <a:latin typeface="Calibri"/>
                <a:cs typeface="Calibri"/>
              </a:rPr>
              <a:t>microbiote</a:t>
            </a:r>
            <a:r>
              <a:rPr lang="fr-FR" sz="2400" dirty="0" smtClean="0">
                <a:latin typeface="Calibri"/>
                <a:cs typeface="Calibri"/>
              </a:rPr>
              <a:t> Humain </a:t>
            </a:r>
            <a:endParaRPr lang="fr-FR" sz="2400" dirty="0" smtClean="0">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latin typeface="Calibri"/>
                <a:cs typeface="Calibri"/>
              </a:rPr>
              <a:t>Physiopathologie bactérienne </a:t>
            </a:r>
            <a:endParaRPr lang="fr-FR" sz="2400" dirty="0" smtClean="0">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latin typeface="Calibri"/>
                <a:cs typeface="Calibri"/>
              </a:rPr>
              <a:t>Moyens de défense de l’</a:t>
            </a:r>
            <a:r>
              <a:rPr lang="fr-FR" sz="2400" dirty="0" err="1" smtClean="0">
                <a:latin typeface="Calibri"/>
                <a:cs typeface="Calibri"/>
              </a:rPr>
              <a:t>hote</a:t>
            </a:r>
            <a:r>
              <a:rPr lang="fr-FR" sz="2400" dirty="0" smtClean="0">
                <a:latin typeface="Calibri"/>
                <a:cs typeface="Calibri"/>
              </a:rPr>
              <a:t> contre une infection </a:t>
            </a:r>
            <a:endParaRPr lang="fr-FR" sz="2400" dirty="0" smtClean="0">
              <a:latin typeface="Calibri"/>
              <a:cs typeface="Calibri"/>
            </a:endParaRPr>
          </a:p>
          <a:p>
            <a:pPr marL="514350" indent="-514350">
              <a:lnSpc>
                <a:spcPct val="100000"/>
              </a:lnSpc>
              <a:spcBef>
                <a:spcPts val="1650"/>
              </a:spcBef>
              <a:buClr>
                <a:srgbClr val="E15322"/>
              </a:buClr>
              <a:buFont typeface="+mj-lt"/>
              <a:buAutoNum type="arabicPeriod"/>
            </a:pPr>
            <a:r>
              <a:rPr lang="fr-FR" sz="2400" dirty="0"/>
              <a:t>Stratégies de la bactérie pour échapper aux défenses de l’hôte: Facteurs de </a:t>
            </a:r>
            <a:r>
              <a:rPr lang="fr-FR" sz="2400" dirty="0" smtClean="0"/>
              <a:t>pathogénicité</a:t>
            </a:r>
          </a:p>
          <a:p>
            <a:pPr marL="514350" indent="-514350">
              <a:lnSpc>
                <a:spcPct val="100000"/>
              </a:lnSpc>
              <a:spcBef>
                <a:spcPts val="1650"/>
              </a:spcBef>
              <a:buClr>
                <a:srgbClr val="E15322"/>
              </a:buClr>
              <a:buFont typeface="+mj-lt"/>
              <a:buAutoNum type="arabicPeriod"/>
            </a:pPr>
            <a:r>
              <a:rPr lang="fr-FR" sz="2400" dirty="0" smtClean="0">
                <a:latin typeface="Calibri"/>
                <a:cs typeface="Calibri"/>
              </a:rPr>
              <a:t>Conclusion </a:t>
            </a:r>
            <a:endParaRPr lang="fr-FR" sz="2400" dirty="0" smtClean="0">
              <a:latin typeface="Calibri"/>
              <a:cs typeface="Calibri"/>
            </a:endParaRPr>
          </a:p>
        </p:txBody>
      </p:sp>
    </p:spTree>
    <p:extLst>
      <p:ext uri="{BB962C8B-B14F-4D97-AF65-F5344CB8AC3E}">
        <p14:creationId xmlns:p14="http://schemas.microsoft.com/office/powerpoint/2010/main" val="18569048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43713"/>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dirty="0">
                <a:solidFill>
                  <a:srgbClr val="FF0000"/>
                </a:solidFill>
              </a:rPr>
              <a:t>INTRODUCTION</a:t>
            </a:r>
            <a:endParaRPr sz="3700" dirty="0">
              <a:solidFill>
                <a:srgbClr val="FF0000"/>
              </a:solidFill>
            </a:endParaRPr>
          </a:p>
        </p:txBody>
      </p:sp>
      <p:sp>
        <p:nvSpPr>
          <p:cNvPr id="4" name="object 4"/>
          <p:cNvSpPr txBox="1"/>
          <p:nvPr/>
        </p:nvSpPr>
        <p:spPr>
          <a:xfrm>
            <a:off x="672638" y="1021022"/>
            <a:ext cx="10713720" cy="1614545"/>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La Microbiologie est la science des micro-organismes les plus petits des êtres vivants : elle groupe la </a:t>
            </a:r>
            <a:r>
              <a:rPr lang="fr-FR" sz="2800" b="1" dirty="0" smtClean="0"/>
              <a:t>Bactériologie</a:t>
            </a:r>
            <a:r>
              <a:rPr lang="fr-FR" sz="2800" dirty="0" smtClean="0"/>
              <a:t> et la </a:t>
            </a:r>
            <a:r>
              <a:rPr lang="fr-FR" sz="2800" b="1" dirty="0" smtClean="0"/>
              <a:t>Virologie</a:t>
            </a:r>
            <a:r>
              <a:rPr lang="fr-FR" sz="2800" dirty="0" smtClean="0"/>
              <a:t>. </a:t>
            </a:r>
          </a:p>
          <a:p>
            <a:pPr marL="457200" indent="-457200">
              <a:lnSpc>
                <a:spcPct val="100000"/>
              </a:lnSpc>
              <a:spcBef>
                <a:spcPts val="1650"/>
              </a:spcBef>
              <a:buClr>
                <a:srgbClr val="E15322"/>
              </a:buClr>
              <a:buFont typeface="Arial" panose="020B0604020202020204" pitchFamily="34" charset="0"/>
              <a:buChar char="•"/>
            </a:pPr>
            <a:endParaRPr lang="fr-FR" sz="2800" dirty="0" smtClean="0"/>
          </a:p>
        </p:txBody>
      </p:sp>
      <p:sp>
        <p:nvSpPr>
          <p:cNvPr id="9" name="Espace réservé du contenu 2"/>
          <p:cNvSpPr>
            <a:spLocks noGrp="1"/>
          </p:cNvSpPr>
          <p:nvPr>
            <p:ph idx="1"/>
          </p:nvPr>
        </p:nvSpPr>
        <p:spPr>
          <a:xfrm>
            <a:off x="688340" y="2509705"/>
            <a:ext cx="10515600" cy="4351338"/>
          </a:xfrm>
        </p:spPr>
        <p:txBody>
          <a:bodyPr>
            <a:normAutofit/>
          </a:bodyPr>
          <a:lstStyle/>
          <a:p>
            <a:r>
              <a:rPr lang="fr-FR" sz="2400" dirty="0"/>
              <a:t> </a:t>
            </a:r>
            <a:r>
              <a:rPr lang="fr-FR" dirty="0"/>
              <a:t>Exposition de tout individu aux bactéries est inévitable</a:t>
            </a:r>
          </a:p>
          <a:p>
            <a:r>
              <a:rPr lang="fr-FR" dirty="0"/>
              <a:t>Association constante de bactéries avec la surface du corps: Flore bactérienne normale ( Installation dès naissance )</a:t>
            </a:r>
          </a:p>
          <a:p>
            <a:r>
              <a:rPr lang="fr-FR" dirty="0"/>
              <a:t> Au cours de l’évolution, développement de moyens de défense contre les bactéries</a:t>
            </a:r>
            <a:endParaRPr lang="fr-FR" dirty="0"/>
          </a:p>
        </p:txBody>
      </p:sp>
    </p:spTree>
    <p:extLst>
      <p:ext uri="{BB962C8B-B14F-4D97-AF65-F5344CB8AC3E}">
        <p14:creationId xmlns:p14="http://schemas.microsoft.com/office/powerpoint/2010/main" val="3710072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5133340" y="0"/>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dirty="0" smtClean="0">
                <a:solidFill>
                  <a:srgbClr val="FF0000"/>
                </a:solidFill>
              </a:rPr>
              <a:t>PLAN </a:t>
            </a:r>
            <a:endParaRPr sz="3700" dirty="0">
              <a:solidFill>
                <a:srgbClr val="FF0000"/>
              </a:solidFill>
            </a:endParaRPr>
          </a:p>
        </p:txBody>
      </p:sp>
      <p:sp>
        <p:nvSpPr>
          <p:cNvPr id="4" name="object 4"/>
          <p:cNvSpPr txBox="1"/>
          <p:nvPr/>
        </p:nvSpPr>
        <p:spPr>
          <a:xfrm>
            <a:off x="176329" y="593111"/>
            <a:ext cx="12015671" cy="4623060"/>
          </a:xfrm>
          <a:prstGeom prst="rect">
            <a:avLst/>
          </a:prstGeom>
        </p:spPr>
        <p:txBody>
          <a:bodyPr vert="horz" wrap="square" lIns="0" tIns="102870" rIns="0" bIns="0" rtlCol="0">
            <a:spAutoFit/>
          </a:bodyPr>
          <a:lstStyle/>
          <a:p>
            <a:pPr>
              <a:lnSpc>
                <a:spcPct val="100000"/>
              </a:lnSpc>
              <a:spcBef>
                <a:spcPts val="1650"/>
              </a:spcBef>
              <a:buClr>
                <a:srgbClr val="E15322"/>
              </a:buClr>
            </a:pPr>
            <a:r>
              <a:rPr lang="fr-FR" sz="2650" dirty="0" smtClean="0">
                <a:solidFill>
                  <a:schemeClr val="bg2">
                    <a:lumMod val="50000"/>
                  </a:schemeClr>
                </a:solidFill>
                <a:latin typeface="Calibri"/>
                <a:cs typeface="Calibri"/>
              </a:rPr>
              <a:t>      Introduction </a:t>
            </a:r>
          </a:p>
          <a:p>
            <a:pPr marL="514350" indent="-514350">
              <a:lnSpc>
                <a:spcPct val="100000"/>
              </a:lnSpc>
              <a:spcBef>
                <a:spcPts val="1650"/>
              </a:spcBef>
              <a:buClr>
                <a:srgbClr val="E15322"/>
              </a:buClr>
              <a:buFont typeface="+mj-lt"/>
              <a:buAutoNum type="arabicPeriod"/>
            </a:pPr>
            <a:r>
              <a:rPr lang="fr-FR" sz="2400" dirty="0" smtClean="0">
                <a:solidFill>
                  <a:schemeClr val="bg2">
                    <a:lumMod val="75000"/>
                  </a:schemeClr>
                </a:solidFill>
                <a:latin typeface="Calibri"/>
                <a:cs typeface="Calibri"/>
              </a:rPr>
              <a:t>Historique </a:t>
            </a:r>
            <a:endParaRPr lang="fr-FR" sz="2400" dirty="0" smtClean="0">
              <a:solidFill>
                <a:schemeClr val="bg2">
                  <a:lumMod val="75000"/>
                </a:schemeClr>
              </a:solidFill>
              <a:latin typeface="Calibri"/>
              <a:cs typeface="Calibri"/>
            </a:endParaRPr>
          </a:p>
          <a:p>
            <a:pPr marL="514350" indent="-514350">
              <a:lnSpc>
                <a:spcPct val="100000"/>
              </a:lnSpc>
              <a:spcBef>
                <a:spcPts val="1650"/>
              </a:spcBef>
              <a:buClr>
                <a:srgbClr val="E15322"/>
              </a:buClr>
              <a:buFont typeface="+mj-lt"/>
              <a:buAutoNum type="arabicPeriod"/>
            </a:pPr>
            <a:r>
              <a:rPr lang="fr-FR" sz="2400" dirty="0" err="1" smtClean="0">
                <a:latin typeface="Calibri"/>
                <a:cs typeface="Calibri"/>
              </a:rPr>
              <a:t>Géneralités</a:t>
            </a:r>
            <a:r>
              <a:rPr lang="fr-FR" sz="2400" dirty="0" smtClean="0">
                <a:latin typeface="Calibri"/>
                <a:cs typeface="Calibri"/>
              </a:rPr>
              <a:t> - Définitions </a:t>
            </a:r>
            <a:endParaRPr lang="fr-FR" sz="2400" dirty="0" smtClean="0">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solidFill>
                  <a:schemeClr val="bg2">
                    <a:lumMod val="75000"/>
                  </a:schemeClr>
                </a:solidFill>
                <a:latin typeface="Calibri"/>
                <a:cs typeface="Calibri"/>
              </a:rPr>
              <a:t>Le </a:t>
            </a:r>
            <a:r>
              <a:rPr lang="fr-FR" sz="2400" dirty="0" err="1" smtClean="0">
                <a:solidFill>
                  <a:schemeClr val="bg2">
                    <a:lumMod val="75000"/>
                  </a:schemeClr>
                </a:solidFill>
                <a:latin typeface="Calibri"/>
                <a:cs typeface="Calibri"/>
              </a:rPr>
              <a:t>microbiote</a:t>
            </a:r>
            <a:r>
              <a:rPr lang="fr-FR" sz="2400" dirty="0" smtClean="0">
                <a:solidFill>
                  <a:schemeClr val="bg2">
                    <a:lumMod val="75000"/>
                  </a:schemeClr>
                </a:solidFill>
                <a:latin typeface="Calibri"/>
                <a:cs typeface="Calibri"/>
              </a:rPr>
              <a:t> Humain </a:t>
            </a:r>
            <a:endParaRPr lang="fr-FR" sz="2400" dirty="0" smtClean="0">
              <a:solidFill>
                <a:schemeClr val="bg2">
                  <a:lumMod val="75000"/>
                </a:schemeClr>
              </a:solidFill>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solidFill>
                  <a:schemeClr val="bg2">
                    <a:lumMod val="75000"/>
                  </a:schemeClr>
                </a:solidFill>
                <a:latin typeface="Calibri"/>
                <a:cs typeface="Calibri"/>
              </a:rPr>
              <a:t>Physiopathologie bactérienne </a:t>
            </a:r>
            <a:endParaRPr lang="fr-FR" sz="2400" dirty="0" smtClean="0">
              <a:solidFill>
                <a:schemeClr val="bg2">
                  <a:lumMod val="75000"/>
                </a:schemeClr>
              </a:solidFill>
              <a:latin typeface="Calibri"/>
              <a:cs typeface="Calibri"/>
            </a:endParaRPr>
          </a:p>
          <a:p>
            <a:pPr marL="514350" indent="-514350">
              <a:lnSpc>
                <a:spcPct val="100000"/>
              </a:lnSpc>
              <a:spcBef>
                <a:spcPts val="1650"/>
              </a:spcBef>
              <a:buClr>
                <a:srgbClr val="E15322"/>
              </a:buClr>
              <a:buFont typeface="+mj-lt"/>
              <a:buAutoNum type="arabicPeriod"/>
            </a:pPr>
            <a:r>
              <a:rPr lang="fr-FR" sz="2400" dirty="0" smtClean="0">
                <a:solidFill>
                  <a:schemeClr val="bg2">
                    <a:lumMod val="75000"/>
                  </a:schemeClr>
                </a:solidFill>
                <a:latin typeface="Calibri"/>
                <a:cs typeface="Calibri"/>
              </a:rPr>
              <a:t>Moyens de défense de l’</a:t>
            </a:r>
            <a:r>
              <a:rPr lang="fr-FR" sz="2400" dirty="0" err="1" smtClean="0">
                <a:solidFill>
                  <a:schemeClr val="bg2">
                    <a:lumMod val="75000"/>
                  </a:schemeClr>
                </a:solidFill>
                <a:latin typeface="Calibri"/>
                <a:cs typeface="Calibri"/>
              </a:rPr>
              <a:t>hote</a:t>
            </a:r>
            <a:r>
              <a:rPr lang="fr-FR" sz="2400" dirty="0" smtClean="0">
                <a:solidFill>
                  <a:schemeClr val="bg2">
                    <a:lumMod val="75000"/>
                  </a:schemeClr>
                </a:solidFill>
                <a:latin typeface="Calibri"/>
                <a:cs typeface="Calibri"/>
              </a:rPr>
              <a:t> contre une infection </a:t>
            </a:r>
            <a:endParaRPr lang="fr-FR" sz="2400" dirty="0" smtClean="0">
              <a:solidFill>
                <a:schemeClr val="bg2">
                  <a:lumMod val="75000"/>
                </a:schemeClr>
              </a:solidFill>
              <a:latin typeface="Calibri"/>
              <a:cs typeface="Calibri"/>
            </a:endParaRPr>
          </a:p>
          <a:p>
            <a:pPr marL="514350" indent="-514350">
              <a:lnSpc>
                <a:spcPct val="100000"/>
              </a:lnSpc>
              <a:spcBef>
                <a:spcPts val="1650"/>
              </a:spcBef>
              <a:buClr>
                <a:srgbClr val="E15322"/>
              </a:buClr>
              <a:buFont typeface="+mj-lt"/>
              <a:buAutoNum type="arabicPeriod"/>
            </a:pPr>
            <a:r>
              <a:rPr lang="fr-FR" sz="2400" dirty="0">
                <a:solidFill>
                  <a:schemeClr val="bg2">
                    <a:lumMod val="75000"/>
                  </a:schemeClr>
                </a:solidFill>
              </a:rPr>
              <a:t>Stratégies de la bactérie pour échapper aux défenses de l’hôte: Facteurs de </a:t>
            </a:r>
            <a:r>
              <a:rPr lang="fr-FR" sz="2400" dirty="0" smtClean="0">
                <a:solidFill>
                  <a:schemeClr val="bg2">
                    <a:lumMod val="75000"/>
                  </a:schemeClr>
                </a:solidFill>
              </a:rPr>
              <a:t>pathogénicité</a:t>
            </a:r>
          </a:p>
          <a:p>
            <a:pPr marL="514350" indent="-514350">
              <a:lnSpc>
                <a:spcPct val="100000"/>
              </a:lnSpc>
              <a:spcBef>
                <a:spcPts val="1650"/>
              </a:spcBef>
              <a:buClr>
                <a:srgbClr val="E15322"/>
              </a:buClr>
              <a:buFont typeface="+mj-lt"/>
              <a:buAutoNum type="arabicPeriod"/>
            </a:pPr>
            <a:r>
              <a:rPr lang="fr-FR" sz="2400" dirty="0" smtClean="0">
                <a:solidFill>
                  <a:schemeClr val="bg2">
                    <a:lumMod val="75000"/>
                  </a:schemeClr>
                </a:solidFill>
                <a:latin typeface="Calibri"/>
                <a:cs typeface="Calibri"/>
              </a:rPr>
              <a:t>Conclusion </a:t>
            </a:r>
            <a:endParaRPr lang="fr-FR" sz="2400" dirty="0" smtClean="0">
              <a:solidFill>
                <a:schemeClr val="bg2">
                  <a:lumMod val="75000"/>
                </a:schemeClr>
              </a:solidFill>
              <a:latin typeface="Calibri"/>
              <a:cs typeface="Calibri"/>
            </a:endParaRPr>
          </a:p>
        </p:txBody>
      </p:sp>
    </p:spTree>
    <p:extLst>
      <p:ext uri="{BB962C8B-B14F-4D97-AF65-F5344CB8AC3E}">
        <p14:creationId xmlns:p14="http://schemas.microsoft.com/office/powerpoint/2010/main" val="23306257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8147248" cy="922114"/>
          </a:xfrm>
        </p:spPr>
        <p:txBody>
          <a:bodyPr>
            <a:normAutofit/>
          </a:bodyPr>
          <a:lstStyle/>
          <a:p>
            <a:pPr algn="l"/>
            <a:r>
              <a:rPr lang="fr-FR" sz="3200" b="1" dirty="0"/>
              <a:t>I- Généralités </a:t>
            </a:r>
            <a:r>
              <a:rPr lang="fr-FR" sz="3200" b="1" dirty="0"/>
              <a:t>-Définitions</a:t>
            </a:r>
            <a:endParaRPr lang="fr-FR" sz="3200" dirty="0"/>
          </a:p>
        </p:txBody>
      </p:sp>
      <p:sp>
        <p:nvSpPr>
          <p:cNvPr id="3" name="Espace réservé du contenu 2"/>
          <p:cNvSpPr>
            <a:spLocks noGrp="1"/>
          </p:cNvSpPr>
          <p:nvPr>
            <p:ph idx="1"/>
          </p:nvPr>
        </p:nvSpPr>
        <p:spPr>
          <a:xfrm>
            <a:off x="607971" y="1838162"/>
            <a:ext cx="10290937" cy="4589349"/>
          </a:xfrm>
        </p:spPr>
        <p:txBody>
          <a:bodyPr>
            <a:normAutofit/>
          </a:bodyPr>
          <a:lstStyle/>
          <a:p>
            <a:r>
              <a:rPr lang="fr-FR" sz="2400" b="1" dirty="0">
                <a:solidFill>
                  <a:srgbClr val="FF0000"/>
                </a:solidFill>
                <a:latin typeface="+mj-lt"/>
              </a:rPr>
              <a:t>Saprophytisme</a:t>
            </a:r>
            <a:r>
              <a:rPr lang="fr-FR" sz="2400" b="1" dirty="0">
                <a:solidFill>
                  <a:srgbClr val="C00000"/>
                </a:solidFill>
                <a:latin typeface="+mj-lt"/>
              </a:rPr>
              <a:t>:  </a:t>
            </a:r>
            <a:r>
              <a:rPr lang="fr-FR" sz="2400" b="1" dirty="0">
                <a:latin typeface="+mj-lt"/>
              </a:rPr>
              <a:t>Forme de nutrition permettant à un organisme d’utiliser des matières organiques en décomposition </a:t>
            </a:r>
            <a:r>
              <a:rPr lang="fr-FR" sz="2400" b="1" dirty="0" smtClean="0">
                <a:latin typeface="+mj-lt"/>
              </a:rPr>
              <a:t>.</a:t>
            </a:r>
          </a:p>
          <a:p>
            <a:pPr marL="0" indent="0">
              <a:buNone/>
            </a:pPr>
            <a:endParaRPr lang="fr-FR" sz="2400" b="1" dirty="0">
              <a:latin typeface="+mj-lt"/>
            </a:endParaRPr>
          </a:p>
          <a:p>
            <a:r>
              <a:rPr lang="fr-FR" sz="2400" b="1" dirty="0">
                <a:solidFill>
                  <a:srgbClr val="FF0000"/>
                </a:solidFill>
                <a:latin typeface="+mj-lt"/>
              </a:rPr>
              <a:t>Les </a:t>
            </a:r>
            <a:r>
              <a:rPr lang="fr-FR" sz="2400" b="1" dirty="0">
                <a:solidFill>
                  <a:srgbClr val="FF0000"/>
                </a:solidFill>
                <a:latin typeface="+mj-lt"/>
              </a:rPr>
              <a:t>bactéries saprophytes </a:t>
            </a:r>
            <a:r>
              <a:rPr lang="fr-FR" sz="2400" b="1" dirty="0">
                <a:latin typeface="+mj-lt"/>
              </a:rPr>
              <a:t>sont des </a:t>
            </a:r>
            <a:r>
              <a:rPr lang="fr-FR" sz="2400" dirty="0">
                <a:latin typeface="+mj-lt"/>
              </a:rPr>
              <a:t> </a:t>
            </a:r>
            <a:r>
              <a:rPr lang="fr-FR" sz="2400" b="1" dirty="0">
                <a:latin typeface="+mj-lt"/>
              </a:rPr>
              <a:t>bactéries </a:t>
            </a:r>
            <a:r>
              <a:rPr lang="fr-FR" sz="2400" b="1" dirty="0">
                <a:latin typeface="+mj-lt"/>
              </a:rPr>
              <a:t>de </a:t>
            </a:r>
            <a:r>
              <a:rPr lang="fr-FR" sz="2400" b="1" dirty="0">
                <a:latin typeface="+mj-lt"/>
              </a:rPr>
              <a:t>l’environnement ,elles y vivent et s’y nourrissent (eaux, </a:t>
            </a:r>
            <a:r>
              <a:rPr lang="fr-FR" sz="2400" b="1" dirty="0" err="1">
                <a:latin typeface="+mj-lt"/>
              </a:rPr>
              <a:t>sol,surface</a:t>
            </a:r>
            <a:r>
              <a:rPr lang="fr-FR" sz="2400" b="1" dirty="0">
                <a:latin typeface="+mj-lt"/>
              </a:rPr>
              <a:t>).</a:t>
            </a:r>
          </a:p>
          <a:p>
            <a:pPr marL="0" indent="0">
              <a:buNone/>
            </a:pPr>
            <a:r>
              <a:rPr lang="fr-FR" sz="2400" b="1" dirty="0">
                <a:latin typeface="+mj-lt"/>
              </a:rPr>
              <a:t> </a:t>
            </a:r>
            <a:r>
              <a:rPr lang="fr-FR" sz="2400" b="1" dirty="0">
                <a:latin typeface="+mj-lt"/>
              </a:rPr>
              <a:t>Leur présence dans l’organisme humain est en général transitoire</a:t>
            </a:r>
            <a:r>
              <a:rPr lang="fr-FR" sz="2400" b="1" dirty="0" smtClean="0">
                <a:latin typeface="+mj-lt"/>
              </a:rPr>
              <a:t>.</a:t>
            </a:r>
          </a:p>
          <a:p>
            <a:pPr marL="0" indent="0">
              <a:buNone/>
            </a:pPr>
            <a:endParaRPr lang="fr-FR" sz="2400" b="1" dirty="0">
              <a:latin typeface="+mj-lt"/>
            </a:endParaRPr>
          </a:p>
          <a:p>
            <a:r>
              <a:rPr lang="fr-FR" sz="2400" b="1" dirty="0">
                <a:solidFill>
                  <a:srgbClr val="FF0000"/>
                </a:solidFill>
                <a:latin typeface="+mj-lt"/>
              </a:rPr>
              <a:t>Parasitisme</a:t>
            </a:r>
            <a:r>
              <a:rPr lang="fr-FR" sz="2400" b="1" dirty="0">
                <a:solidFill>
                  <a:srgbClr val="C00000"/>
                </a:solidFill>
                <a:latin typeface="+mj-lt"/>
              </a:rPr>
              <a:t>: </a:t>
            </a:r>
            <a:r>
              <a:rPr lang="fr-FR" sz="2400" b="1" dirty="0">
                <a:latin typeface="+mj-lt"/>
              </a:rPr>
              <a:t>Forme de vie d’un organisme aux </a:t>
            </a:r>
            <a:r>
              <a:rPr lang="fr-FR" sz="2400" b="1" dirty="0">
                <a:solidFill>
                  <a:srgbClr val="00B050"/>
                </a:solidFill>
                <a:latin typeface="+mj-lt"/>
              </a:rPr>
              <a:t>dépend </a:t>
            </a:r>
            <a:r>
              <a:rPr lang="fr-FR" sz="2400" b="1" dirty="0">
                <a:latin typeface="+mj-lt"/>
              </a:rPr>
              <a:t>d’un autre être vivant</a:t>
            </a:r>
          </a:p>
          <a:p>
            <a:pPr marL="0" indent="0">
              <a:buNone/>
            </a:pPr>
            <a:endParaRPr lang="fr-FR" sz="2400" b="1" dirty="0">
              <a:latin typeface="+mj-lt"/>
            </a:endParaRPr>
          </a:p>
          <a:p>
            <a:endParaRPr lang="fr-FR" dirty="0" smtClean="0">
              <a:latin typeface="+mj-lt"/>
            </a:endParaRPr>
          </a:p>
          <a:p>
            <a:endParaRPr lang="fr-FR" dirty="0">
              <a:latin typeface="+mj-lt"/>
            </a:endParaRPr>
          </a:p>
        </p:txBody>
      </p:sp>
      <p:sp>
        <p:nvSpPr>
          <p:cNvPr id="4" name="ZoneTexte 3"/>
          <p:cNvSpPr txBox="1"/>
          <p:nvPr/>
        </p:nvSpPr>
        <p:spPr>
          <a:xfrm>
            <a:off x="3616154" y="1051792"/>
            <a:ext cx="4769704" cy="523220"/>
          </a:xfrm>
          <a:prstGeom prst="rect">
            <a:avLst/>
          </a:prstGeom>
          <a:noFill/>
        </p:spPr>
        <p:txBody>
          <a:bodyPr wrap="none" rtlCol="0">
            <a:spAutoFit/>
          </a:bodyPr>
          <a:lstStyle/>
          <a:p>
            <a:pPr algn="ctr"/>
            <a:r>
              <a:rPr lang="fr-FR" sz="2800" b="1" dirty="0">
                <a:solidFill>
                  <a:srgbClr val="002060"/>
                </a:solidFill>
              </a:rPr>
              <a:t>1.1 Modes </a:t>
            </a:r>
            <a:r>
              <a:rPr lang="fr-FR" sz="2800" b="1" dirty="0">
                <a:solidFill>
                  <a:srgbClr val="002060"/>
                </a:solidFill>
              </a:rPr>
              <a:t>de vie des </a:t>
            </a:r>
            <a:r>
              <a:rPr lang="fr-FR" sz="2800" b="1" dirty="0">
                <a:solidFill>
                  <a:srgbClr val="002060"/>
                </a:solidFill>
              </a:rPr>
              <a:t>bactéries</a:t>
            </a:r>
            <a:endParaRPr lang="fr-FR" sz="2800" b="1" dirty="0">
              <a:solidFill>
                <a:srgbClr val="002060"/>
              </a:solidFill>
            </a:endParaRPr>
          </a:p>
        </p:txBody>
      </p:sp>
    </p:spTree>
    <p:extLst>
      <p:ext uri="{BB962C8B-B14F-4D97-AF65-F5344CB8AC3E}">
        <p14:creationId xmlns:p14="http://schemas.microsoft.com/office/powerpoint/2010/main" val="20187066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34109" y="836713"/>
            <a:ext cx="11499273" cy="5289451"/>
          </a:xfrm>
        </p:spPr>
        <p:txBody>
          <a:bodyPr>
            <a:normAutofit/>
          </a:bodyPr>
          <a:lstStyle/>
          <a:p>
            <a:r>
              <a:rPr lang="fr-FR" sz="2400" b="1" dirty="0">
                <a:solidFill>
                  <a:srgbClr val="FF0000"/>
                </a:solidFill>
                <a:latin typeface="+mj-lt"/>
              </a:rPr>
              <a:t>Commensalisme</a:t>
            </a:r>
            <a:r>
              <a:rPr lang="fr-FR" sz="2400" b="1" dirty="0">
                <a:solidFill>
                  <a:srgbClr val="C00000"/>
                </a:solidFill>
                <a:latin typeface="+mj-lt"/>
              </a:rPr>
              <a:t> </a:t>
            </a:r>
            <a:r>
              <a:rPr lang="fr-FR" sz="2400" b="1" dirty="0">
                <a:latin typeface="+mj-lt"/>
              </a:rPr>
              <a:t>:  ( du latin </a:t>
            </a:r>
            <a:r>
              <a:rPr lang="fr-FR" sz="2400" b="1" i="1" dirty="0">
                <a:latin typeface="+mj-lt"/>
              </a:rPr>
              <a:t>cum:</a:t>
            </a:r>
            <a:r>
              <a:rPr lang="fr-FR" sz="2400" b="1" dirty="0">
                <a:latin typeface="+mj-lt"/>
              </a:rPr>
              <a:t> avec et </a:t>
            </a:r>
            <a:r>
              <a:rPr lang="fr-FR" sz="2400" b="1" i="1" dirty="0" err="1">
                <a:latin typeface="+mj-lt"/>
              </a:rPr>
              <a:t>mensa</a:t>
            </a:r>
            <a:r>
              <a:rPr lang="fr-FR" sz="2400" b="1" dirty="0">
                <a:latin typeface="+mj-lt"/>
              </a:rPr>
              <a:t> : </a:t>
            </a:r>
            <a:r>
              <a:rPr lang="fr-FR" sz="2400" b="1" dirty="0" smtClean="0">
                <a:latin typeface="+mj-lt"/>
              </a:rPr>
              <a:t>table) Type </a:t>
            </a:r>
            <a:r>
              <a:rPr lang="fr-FR" sz="2400" b="1" dirty="0">
                <a:latin typeface="+mj-lt"/>
              </a:rPr>
              <a:t>d’association conduisant deux espèces différentes d’organisme à vivre ensemble, sans que l’une nuise à l’autre, et où parfois l’une des espèces se procure de la nourriture,  une protection ou d’autres avantages.</a:t>
            </a:r>
          </a:p>
          <a:p>
            <a:pPr marL="0" indent="0">
              <a:buNone/>
            </a:pPr>
            <a:r>
              <a:rPr lang="fr-FR" sz="2400" b="1" dirty="0" smtClean="0">
                <a:solidFill>
                  <a:srgbClr val="FF0000"/>
                </a:solidFill>
                <a:latin typeface="+mj-lt"/>
              </a:rPr>
              <a:t>Ex</a:t>
            </a:r>
            <a:r>
              <a:rPr lang="fr-FR" sz="2400" b="1" dirty="0">
                <a:latin typeface="+mj-lt"/>
              </a:rPr>
              <a:t>: L’hôte et le commensal « mange à la même table   » la proximité  des deux permet  au commensal de se nourrir  de substance  capturées et ingérées  par l’hôte et le commensale se voit   souvent offrir  un abri en vivant  sur ou dans l’hôte.</a:t>
            </a:r>
          </a:p>
          <a:p>
            <a:endParaRPr lang="fr-FR" sz="2400" b="1" dirty="0">
              <a:latin typeface="+mj-lt"/>
            </a:endParaRPr>
          </a:p>
          <a:p>
            <a:r>
              <a:rPr lang="fr-FR" sz="2400" b="1" dirty="0">
                <a:solidFill>
                  <a:srgbClr val="FF0000"/>
                </a:solidFill>
                <a:latin typeface="+mj-lt"/>
              </a:rPr>
              <a:t>Bactéries commensales:</a:t>
            </a:r>
            <a:r>
              <a:rPr lang="fr-FR" sz="2400" b="1" dirty="0">
                <a:solidFill>
                  <a:srgbClr val="C00000"/>
                </a:solidFill>
                <a:latin typeface="+mj-lt"/>
              </a:rPr>
              <a:t> </a:t>
            </a:r>
            <a:r>
              <a:rPr lang="fr-FR" sz="2400" b="1" dirty="0">
                <a:latin typeface="+mj-lt"/>
              </a:rPr>
              <a:t>Hôtes physiologiques du corps humain</a:t>
            </a:r>
            <a:r>
              <a:rPr lang="fr-FR" sz="2400" dirty="0">
                <a:latin typeface="+mj-lt"/>
              </a:rPr>
              <a:t>⇒ </a:t>
            </a:r>
            <a:r>
              <a:rPr lang="fr-FR" sz="2400" b="1" dirty="0">
                <a:latin typeface="+mj-lt"/>
              </a:rPr>
              <a:t>Flores commensales</a:t>
            </a:r>
            <a:endParaRPr lang="fr-FR" sz="2400" dirty="0">
              <a:latin typeface="+mj-lt"/>
            </a:endParaRPr>
          </a:p>
          <a:p>
            <a:endParaRPr lang="fr-FR" dirty="0"/>
          </a:p>
        </p:txBody>
      </p:sp>
    </p:spTree>
    <p:extLst>
      <p:ext uri="{BB962C8B-B14F-4D97-AF65-F5344CB8AC3E}">
        <p14:creationId xmlns:p14="http://schemas.microsoft.com/office/powerpoint/2010/main" val="36423478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1745" y="1214423"/>
            <a:ext cx="10040535" cy="4911741"/>
          </a:xfrm>
        </p:spPr>
        <p:txBody>
          <a:bodyPr>
            <a:normAutofit/>
          </a:bodyPr>
          <a:lstStyle/>
          <a:p>
            <a:r>
              <a:rPr lang="fr-FR" sz="2600" b="1" dirty="0">
                <a:solidFill>
                  <a:srgbClr val="FF0000"/>
                </a:solidFill>
                <a:latin typeface="+mj-lt"/>
              </a:rPr>
              <a:t>Pouvoir pathogène ou pathogénicité:</a:t>
            </a:r>
            <a:r>
              <a:rPr lang="fr-FR" sz="2600" b="1" dirty="0">
                <a:latin typeface="+mj-lt"/>
              </a:rPr>
              <a:t> Ensemble des mécanismes conditionnant le type de maladie dépendant d’une bactérie .</a:t>
            </a:r>
          </a:p>
          <a:p>
            <a:endParaRPr lang="fr-FR" sz="2600" b="1" dirty="0">
              <a:latin typeface="+mj-lt"/>
            </a:endParaRPr>
          </a:p>
          <a:p>
            <a:r>
              <a:rPr lang="fr-FR" sz="2600" b="1" dirty="0">
                <a:solidFill>
                  <a:srgbClr val="FF0000"/>
                </a:solidFill>
                <a:latin typeface="+mj-lt"/>
              </a:rPr>
              <a:t>Virulence:  </a:t>
            </a:r>
            <a:r>
              <a:rPr lang="fr-FR" sz="2600" b="1" dirty="0">
                <a:latin typeface="+mj-lt"/>
              </a:rPr>
              <a:t>capacité de la bactérie à déclencher une maladie infectieuse  (</a:t>
            </a:r>
            <a:r>
              <a:rPr lang="fr-FR" sz="2600" b="1" dirty="0">
                <a:solidFill>
                  <a:srgbClr val="FF0000"/>
                </a:solidFill>
                <a:latin typeface="+mj-lt"/>
              </a:rPr>
              <a:t>Notion quantitative</a:t>
            </a:r>
            <a:r>
              <a:rPr lang="fr-FR" sz="2600" b="1" dirty="0">
                <a:latin typeface="+mj-lt"/>
              </a:rPr>
              <a:t>: dose infectieuse)</a:t>
            </a:r>
          </a:p>
          <a:p>
            <a:endParaRPr lang="fr-FR" sz="2600" b="1" dirty="0">
              <a:latin typeface="+mj-lt"/>
            </a:endParaRPr>
          </a:p>
          <a:p>
            <a:r>
              <a:rPr lang="fr-FR" sz="2600" b="1" dirty="0">
                <a:solidFill>
                  <a:srgbClr val="FF0000"/>
                </a:solidFill>
                <a:latin typeface="+mj-lt"/>
              </a:rPr>
              <a:t>Bactéries pathogènes:</a:t>
            </a:r>
            <a:r>
              <a:rPr lang="fr-FR" sz="2600" b="1" dirty="0">
                <a:latin typeface="+mj-lt"/>
              </a:rPr>
              <a:t> Bactéries capables de provoquer une maladie chez un sujet dont les mécanismes de défense sont normaux.</a:t>
            </a:r>
          </a:p>
          <a:p>
            <a:endParaRPr lang="fr-FR" sz="2600" b="1" dirty="0">
              <a:latin typeface="+mj-lt"/>
            </a:endParaRPr>
          </a:p>
          <a:p>
            <a:r>
              <a:rPr lang="fr-FR" sz="2600" b="1" dirty="0">
                <a:solidFill>
                  <a:srgbClr val="FF0000"/>
                </a:solidFill>
                <a:latin typeface="+mj-lt"/>
              </a:rPr>
              <a:t>Bactéries pathogènes opportunistes:</a:t>
            </a:r>
            <a:r>
              <a:rPr lang="fr-FR" sz="2600" b="1" dirty="0">
                <a:latin typeface="+mj-lt"/>
              </a:rPr>
              <a:t> certaines bactéries peuvent devenir pathogènes lorsque les défenses de l’hôte sont affaiblies</a:t>
            </a:r>
            <a:r>
              <a:rPr lang="fr-FR" sz="2000" b="1" dirty="0">
                <a:latin typeface="+mj-lt"/>
              </a:rPr>
              <a:t>.</a:t>
            </a:r>
            <a:endParaRPr lang="fr-FR" sz="2000" dirty="0">
              <a:latin typeface="+mj-lt"/>
            </a:endParaRPr>
          </a:p>
        </p:txBody>
      </p:sp>
      <p:sp>
        <p:nvSpPr>
          <p:cNvPr id="2" name="ZoneTexte 1"/>
          <p:cNvSpPr txBox="1"/>
          <p:nvPr/>
        </p:nvSpPr>
        <p:spPr>
          <a:xfrm>
            <a:off x="1919536" y="260648"/>
            <a:ext cx="8568952" cy="523220"/>
          </a:xfrm>
          <a:prstGeom prst="rect">
            <a:avLst/>
          </a:prstGeom>
          <a:noFill/>
        </p:spPr>
        <p:txBody>
          <a:bodyPr wrap="square" rtlCol="0">
            <a:spAutoFit/>
          </a:bodyPr>
          <a:lstStyle/>
          <a:p>
            <a:r>
              <a:rPr lang="fr-FR" sz="2800" b="1" dirty="0">
                <a:solidFill>
                  <a:srgbClr val="002060"/>
                </a:solidFill>
              </a:rPr>
              <a:t>1. 2-Définition du pouvoir pathogène et de la virulence </a:t>
            </a:r>
            <a:endParaRPr lang="fr-FR" sz="2800" b="1" dirty="0">
              <a:solidFill>
                <a:srgbClr val="002060"/>
              </a:solidFill>
            </a:endParaRPr>
          </a:p>
        </p:txBody>
      </p:sp>
    </p:spTree>
    <p:extLst>
      <p:ext uri="{BB962C8B-B14F-4D97-AF65-F5344CB8AC3E}">
        <p14:creationId xmlns:p14="http://schemas.microsoft.com/office/powerpoint/2010/main" val="516189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19536" y="404664"/>
            <a:ext cx="8291264" cy="595444"/>
          </a:xfrm>
        </p:spPr>
        <p:txBody>
          <a:bodyPr>
            <a:noAutofit/>
          </a:bodyPr>
          <a:lstStyle/>
          <a:p>
            <a:pPr algn="l"/>
            <a:r>
              <a:rPr lang="fr-FR" sz="3200" b="1" dirty="0">
                <a:solidFill>
                  <a:srgbClr val="002060"/>
                </a:solidFill>
              </a:rPr>
              <a:t>Classification des interactions</a:t>
            </a:r>
            <a:br>
              <a:rPr lang="fr-FR" sz="3200" b="1" dirty="0">
                <a:solidFill>
                  <a:srgbClr val="002060"/>
                </a:solidFill>
              </a:rPr>
            </a:br>
            <a:endParaRPr lang="fr-FR" sz="3200" dirty="0">
              <a:solidFill>
                <a:srgbClr val="002060"/>
              </a:solidFill>
            </a:endParaRPr>
          </a:p>
        </p:txBody>
      </p:sp>
      <p:sp>
        <p:nvSpPr>
          <p:cNvPr id="3" name="Espace réservé du contenu 2"/>
          <p:cNvSpPr>
            <a:spLocks noGrp="1"/>
          </p:cNvSpPr>
          <p:nvPr>
            <p:ph idx="1"/>
          </p:nvPr>
        </p:nvSpPr>
        <p:spPr>
          <a:xfrm>
            <a:off x="523412" y="1131296"/>
            <a:ext cx="11012806" cy="4911741"/>
          </a:xfrm>
        </p:spPr>
        <p:txBody>
          <a:bodyPr>
            <a:normAutofit/>
          </a:bodyPr>
          <a:lstStyle/>
          <a:p>
            <a:r>
              <a:rPr lang="fr-FR" sz="2400" dirty="0">
                <a:solidFill>
                  <a:srgbClr val="FF0000"/>
                </a:solidFill>
              </a:rPr>
              <a:t>Transit</a:t>
            </a:r>
            <a:r>
              <a:rPr lang="fr-FR" sz="2400" dirty="0">
                <a:solidFill>
                  <a:srgbClr val="C00000"/>
                </a:solidFill>
              </a:rPr>
              <a:t>:</a:t>
            </a:r>
            <a:r>
              <a:rPr lang="fr-FR" sz="2400" dirty="0"/>
              <a:t> absence d’implantation de bactérie sur hôte</a:t>
            </a:r>
          </a:p>
          <a:p>
            <a:pPr marL="0" indent="0">
              <a:buNone/>
            </a:pPr>
            <a:endParaRPr lang="fr-FR" sz="2400" dirty="0"/>
          </a:p>
          <a:p>
            <a:r>
              <a:rPr lang="fr-FR" sz="2400" dirty="0">
                <a:solidFill>
                  <a:srgbClr val="FF0000"/>
                </a:solidFill>
              </a:rPr>
              <a:t>Colonisation</a:t>
            </a:r>
            <a:r>
              <a:rPr lang="fr-FR" sz="2400" dirty="0">
                <a:solidFill>
                  <a:srgbClr val="C00000"/>
                </a:solidFill>
              </a:rPr>
              <a:t>:</a:t>
            </a:r>
            <a:r>
              <a:rPr lang="fr-FR" sz="2400" dirty="0"/>
              <a:t> présence de bactéries sur le revêtement </a:t>
            </a:r>
            <a:r>
              <a:rPr lang="fr-FR" sz="2400" dirty="0" err="1"/>
              <a:t>cutanéo-muqueux</a:t>
            </a:r>
            <a:r>
              <a:rPr lang="fr-FR" sz="2400" dirty="0"/>
              <a:t> sans provoquer de dommage pour l’hôte.</a:t>
            </a:r>
          </a:p>
          <a:p>
            <a:pPr marL="0" indent="0">
              <a:buNone/>
            </a:pPr>
            <a:endParaRPr lang="fr-FR" sz="2400" dirty="0"/>
          </a:p>
          <a:p>
            <a:r>
              <a:rPr lang="fr-FR" sz="2400" dirty="0">
                <a:solidFill>
                  <a:srgbClr val="FF0000"/>
                </a:solidFill>
              </a:rPr>
              <a:t>Colonisation par bactéries pathogènes: </a:t>
            </a:r>
            <a:r>
              <a:rPr lang="fr-FR" sz="2400" dirty="0"/>
              <a:t>Portage (porteurs sains)</a:t>
            </a:r>
          </a:p>
          <a:p>
            <a:pPr marL="0" indent="0">
              <a:buNone/>
            </a:pPr>
            <a:endParaRPr lang="fr-FR" sz="2400" dirty="0"/>
          </a:p>
          <a:p>
            <a:r>
              <a:rPr lang="fr-FR" sz="2400" dirty="0">
                <a:solidFill>
                  <a:srgbClr val="FF0000"/>
                </a:solidFill>
              </a:rPr>
              <a:t>Maladie infectieuse: </a:t>
            </a:r>
            <a:r>
              <a:rPr lang="fr-FR" sz="2400" dirty="0"/>
              <a:t>Conflit hôte-bactérie aboutissant à des lésions chez hôte infecté </a:t>
            </a:r>
            <a:r>
              <a:rPr lang="fr-FR" sz="2400" dirty="0">
                <a:solidFill>
                  <a:srgbClr val="002060"/>
                </a:solidFill>
              </a:rPr>
              <a:t>(Maladie). </a:t>
            </a:r>
            <a:r>
              <a:rPr lang="fr-FR" sz="2400" dirty="0"/>
              <a:t>Transmission d’un individu à l’autre </a:t>
            </a:r>
            <a:r>
              <a:rPr lang="fr-FR" sz="2400" dirty="0">
                <a:solidFill>
                  <a:srgbClr val="002060"/>
                </a:solidFill>
              </a:rPr>
              <a:t>(Infection).</a:t>
            </a:r>
            <a:endParaRPr lang="fr-FR" sz="2400" dirty="0">
              <a:solidFill>
                <a:srgbClr val="002060"/>
              </a:solidFill>
            </a:endParaRPr>
          </a:p>
        </p:txBody>
      </p:sp>
    </p:spTree>
    <p:extLst>
      <p:ext uri="{BB962C8B-B14F-4D97-AF65-F5344CB8AC3E}">
        <p14:creationId xmlns:p14="http://schemas.microsoft.com/office/powerpoint/2010/main" val="29704820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b="1" dirty="0">
                <a:solidFill>
                  <a:srgbClr val="FF0000"/>
                </a:solidFill>
              </a:rPr>
              <a:t>II. Physiopathologie bactérienne</a:t>
            </a:r>
            <a:endParaRPr lang="fr-FR" sz="3600" b="1" dirty="0">
              <a:solidFill>
                <a:srgbClr val="FF0000"/>
              </a:solidFill>
            </a:endParaRPr>
          </a:p>
        </p:txBody>
      </p:sp>
      <p:sp>
        <p:nvSpPr>
          <p:cNvPr id="3" name="Espace réservé du contenu 2"/>
          <p:cNvSpPr>
            <a:spLocks noGrp="1"/>
          </p:cNvSpPr>
          <p:nvPr>
            <p:ph idx="1"/>
          </p:nvPr>
        </p:nvSpPr>
        <p:spPr>
          <a:xfrm>
            <a:off x="1981200" y="1628801"/>
            <a:ext cx="8435280" cy="4497363"/>
          </a:xfrm>
        </p:spPr>
        <p:txBody>
          <a:bodyPr>
            <a:normAutofit/>
          </a:bodyPr>
          <a:lstStyle/>
          <a:p>
            <a:pPr marL="0" indent="0">
              <a:buNone/>
            </a:pPr>
            <a:r>
              <a:rPr lang="fr-FR" sz="2400" dirty="0"/>
              <a:t>Pour induire une maladie , une bactérie  pathogène doit :</a:t>
            </a:r>
          </a:p>
          <a:p>
            <a:pPr marL="0" indent="0">
              <a:buNone/>
            </a:pPr>
            <a:endParaRPr lang="fr-FR" sz="2400" dirty="0"/>
          </a:p>
          <a:p>
            <a:pPr marL="0" indent="0">
              <a:buNone/>
            </a:pPr>
            <a:r>
              <a:rPr lang="fr-FR" sz="2100" dirty="0"/>
              <a:t>1-Conserver un réservoir ( d’ autres humains, des animaux, environnement)</a:t>
            </a:r>
          </a:p>
          <a:p>
            <a:pPr marL="0" indent="0">
              <a:buNone/>
            </a:pPr>
            <a:r>
              <a:rPr lang="fr-FR" sz="2100" dirty="0"/>
              <a:t>2- Etre transportée vers l’hôte et y entrer</a:t>
            </a:r>
          </a:p>
          <a:p>
            <a:pPr marL="0" indent="0">
              <a:buNone/>
            </a:pPr>
            <a:r>
              <a:rPr lang="fr-FR" sz="2100" dirty="0"/>
              <a:t>3- Adhérer, coloniser et/ou envahir les cellules ou les tissus de l’hôte</a:t>
            </a:r>
          </a:p>
          <a:p>
            <a:pPr marL="0" indent="0">
              <a:buNone/>
            </a:pPr>
            <a:r>
              <a:rPr lang="fr-FR" sz="2100" dirty="0"/>
              <a:t>4- Echapper aux mécanismes de défense de l’hôte</a:t>
            </a:r>
          </a:p>
          <a:p>
            <a:pPr marL="0" indent="0">
              <a:buNone/>
            </a:pPr>
            <a:r>
              <a:rPr lang="fr-FR" sz="2100" dirty="0"/>
              <a:t>5-Se multiplier </a:t>
            </a:r>
          </a:p>
          <a:p>
            <a:pPr marL="0" indent="0">
              <a:buNone/>
            </a:pPr>
            <a:r>
              <a:rPr lang="fr-FR" sz="2100" dirty="0"/>
              <a:t>6- Nuire à l’hôte</a:t>
            </a:r>
          </a:p>
          <a:p>
            <a:pPr marL="0" indent="0">
              <a:buNone/>
            </a:pPr>
            <a:r>
              <a:rPr lang="fr-FR" sz="2100" dirty="0"/>
              <a:t>7-Quitter l’hôte et retourner au réservoir ou atteindre un nouvel hôte</a:t>
            </a:r>
            <a:endParaRPr lang="fr-FR" sz="2100" dirty="0"/>
          </a:p>
        </p:txBody>
      </p:sp>
    </p:spTree>
    <p:extLst>
      <p:ext uri="{BB962C8B-B14F-4D97-AF65-F5344CB8AC3E}">
        <p14:creationId xmlns:p14="http://schemas.microsoft.com/office/powerpoint/2010/main" val="3807554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marL="342900" indent="-342900">
              <a:spcBef>
                <a:spcPct val="20000"/>
              </a:spcBef>
            </a:pPr>
            <a:r>
              <a:rPr lang="fr-FR" sz="2800" b="1" dirty="0">
                <a:solidFill>
                  <a:srgbClr val="FF0000"/>
                </a:solidFill>
                <a:ea typeface="+mn-ea"/>
                <a:cs typeface="+mn-cs"/>
              </a:rPr>
              <a:t>II.1.Différents </a:t>
            </a:r>
            <a:r>
              <a:rPr lang="fr-FR" sz="2800" b="1" dirty="0">
                <a:solidFill>
                  <a:srgbClr val="FF0000"/>
                </a:solidFill>
                <a:ea typeface="+mn-ea"/>
                <a:cs typeface="+mn-cs"/>
              </a:rPr>
              <a:t>modes de transmission</a:t>
            </a:r>
            <a:br>
              <a:rPr lang="fr-FR" sz="2800" b="1" dirty="0">
                <a:solidFill>
                  <a:srgbClr val="FF0000"/>
                </a:solidFill>
                <a:ea typeface="+mn-ea"/>
                <a:cs typeface="+mn-cs"/>
              </a:rPr>
            </a:br>
            <a:endParaRPr lang="fr-FR" sz="2800" b="1" dirty="0">
              <a:solidFill>
                <a:srgbClr val="FF0000"/>
              </a:solidFill>
            </a:endParaRPr>
          </a:p>
        </p:txBody>
      </p:sp>
      <p:sp>
        <p:nvSpPr>
          <p:cNvPr id="3" name="Espace réservé du contenu 2"/>
          <p:cNvSpPr>
            <a:spLocks noGrp="1"/>
          </p:cNvSpPr>
          <p:nvPr>
            <p:ph idx="1"/>
          </p:nvPr>
        </p:nvSpPr>
        <p:spPr>
          <a:xfrm>
            <a:off x="1981200" y="1556793"/>
            <a:ext cx="8507288" cy="4569371"/>
          </a:xfrm>
        </p:spPr>
        <p:txBody>
          <a:bodyPr>
            <a:normAutofit/>
          </a:bodyPr>
          <a:lstStyle/>
          <a:p>
            <a:r>
              <a:rPr lang="fr-FR" sz="2400" dirty="0">
                <a:solidFill>
                  <a:srgbClr val="C00000"/>
                </a:solidFill>
              </a:rPr>
              <a:t> </a:t>
            </a:r>
            <a:r>
              <a:rPr lang="fr-FR" sz="2400" b="1" dirty="0">
                <a:solidFill>
                  <a:srgbClr val="FF0000"/>
                </a:solidFill>
              </a:rPr>
              <a:t>Notion de réservoir de bactéries </a:t>
            </a:r>
            <a:r>
              <a:rPr lang="fr-FR" sz="2400" dirty="0"/>
              <a:t>(</a:t>
            </a:r>
            <a:r>
              <a:rPr lang="fr-FR" sz="2400" dirty="0"/>
              <a:t>homme, animaux, </a:t>
            </a:r>
            <a:r>
              <a:rPr lang="fr-FR" sz="2400" dirty="0"/>
              <a:t>sol</a:t>
            </a:r>
            <a:r>
              <a:rPr lang="fr-FR" sz="2400" dirty="0"/>
              <a:t>): maladie strictement humaine, </a:t>
            </a:r>
            <a:r>
              <a:rPr lang="fr-FR" sz="2400" dirty="0"/>
              <a:t>zoonose,..</a:t>
            </a:r>
          </a:p>
          <a:p>
            <a:pPr marL="0" indent="0">
              <a:buNone/>
            </a:pPr>
            <a:endParaRPr lang="fr-FR" sz="2400" dirty="0"/>
          </a:p>
          <a:p>
            <a:r>
              <a:rPr lang="fr-FR" sz="2400" dirty="0">
                <a:solidFill>
                  <a:srgbClr val="C00000"/>
                </a:solidFill>
              </a:rPr>
              <a:t> </a:t>
            </a:r>
            <a:r>
              <a:rPr lang="fr-FR" sz="2400" b="1" dirty="0">
                <a:solidFill>
                  <a:srgbClr val="FF0000"/>
                </a:solidFill>
              </a:rPr>
              <a:t>Transmission </a:t>
            </a:r>
            <a:r>
              <a:rPr lang="fr-FR" sz="2400" b="1" dirty="0">
                <a:solidFill>
                  <a:srgbClr val="FF0000"/>
                </a:solidFill>
              </a:rPr>
              <a:t>directe</a:t>
            </a:r>
            <a:r>
              <a:rPr lang="fr-FR" sz="2400" b="1" dirty="0"/>
              <a:t>: </a:t>
            </a:r>
            <a:r>
              <a:rPr lang="fr-FR" sz="2400" dirty="0"/>
              <a:t>contamination par contact avec </a:t>
            </a:r>
            <a:r>
              <a:rPr lang="fr-FR" sz="2400" dirty="0"/>
              <a:t>réservoir </a:t>
            </a:r>
            <a:r>
              <a:rPr lang="fr-FR" sz="2400" dirty="0"/>
              <a:t>(contact direct avec individu ou animal </a:t>
            </a:r>
            <a:r>
              <a:rPr lang="fr-FR" sz="2400" dirty="0"/>
              <a:t> infecté)</a:t>
            </a:r>
          </a:p>
          <a:p>
            <a:endParaRPr lang="fr-FR" sz="2400" dirty="0"/>
          </a:p>
          <a:p>
            <a:r>
              <a:rPr lang="fr-FR" sz="2400" b="1" dirty="0">
                <a:solidFill>
                  <a:srgbClr val="FF0000"/>
                </a:solidFill>
              </a:rPr>
              <a:t>Transmission </a:t>
            </a:r>
            <a:r>
              <a:rPr lang="fr-FR" sz="2400" b="1" dirty="0">
                <a:solidFill>
                  <a:srgbClr val="FF0000"/>
                </a:solidFill>
              </a:rPr>
              <a:t>indirecte</a:t>
            </a:r>
            <a:r>
              <a:rPr lang="fr-FR" sz="2400" dirty="0">
                <a:solidFill>
                  <a:srgbClr val="C00000"/>
                </a:solidFill>
              </a:rPr>
              <a:t>:</a:t>
            </a:r>
            <a:r>
              <a:rPr lang="fr-FR" sz="2400" dirty="0"/>
              <a:t>  contamination par </a:t>
            </a:r>
            <a:r>
              <a:rPr lang="fr-FR" sz="2400" dirty="0"/>
              <a:t> intermédiaire </a:t>
            </a:r>
            <a:r>
              <a:rPr lang="fr-FR" sz="2400" dirty="0"/>
              <a:t>d’objet infecté, aliment contaminé, </a:t>
            </a:r>
            <a:r>
              <a:rPr lang="fr-FR" sz="2400" dirty="0"/>
              <a:t>eau</a:t>
            </a:r>
            <a:r>
              <a:rPr lang="fr-FR" sz="2400" dirty="0"/>
              <a:t>,…Notion de survie de bactérie dans </a:t>
            </a:r>
            <a:r>
              <a:rPr lang="fr-FR" sz="2400" dirty="0"/>
              <a:t>environnement pendant </a:t>
            </a:r>
            <a:r>
              <a:rPr lang="fr-FR" sz="2400" dirty="0"/>
              <a:t>un certain délai</a:t>
            </a:r>
            <a:r>
              <a:rPr lang="fr-FR" sz="2400" dirty="0"/>
              <a:t>.</a:t>
            </a:r>
          </a:p>
          <a:p>
            <a:r>
              <a:rPr lang="fr-FR" sz="2400" dirty="0"/>
              <a:t> </a:t>
            </a:r>
            <a:r>
              <a:rPr lang="fr-FR" sz="2400" b="1" dirty="0">
                <a:solidFill>
                  <a:srgbClr val="FF0000"/>
                </a:solidFill>
              </a:rPr>
              <a:t>Transmission horizontale </a:t>
            </a:r>
            <a:r>
              <a:rPr lang="fr-FR" sz="2400" dirty="0">
                <a:solidFill>
                  <a:srgbClr val="C00000"/>
                </a:solidFill>
              </a:rPr>
              <a:t>( </a:t>
            </a:r>
            <a:r>
              <a:rPr lang="fr-FR" sz="2400" dirty="0" err="1">
                <a:solidFill>
                  <a:srgbClr val="C00000"/>
                </a:solidFill>
              </a:rPr>
              <a:t>inter-humaine</a:t>
            </a:r>
            <a:r>
              <a:rPr lang="fr-FR" sz="2400" dirty="0">
                <a:solidFill>
                  <a:srgbClr val="C00000"/>
                </a:solidFill>
              </a:rPr>
              <a:t> ) ou verticale (in-utéro).</a:t>
            </a:r>
            <a:endParaRPr lang="fr-FR" sz="2400" dirty="0">
              <a:solidFill>
                <a:srgbClr val="C00000"/>
              </a:solidFill>
            </a:endParaRPr>
          </a:p>
        </p:txBody>
      </p:sp>
    </p:spTree>
    <p:extLst>
      <p:ext uri="{BB962C8B-B14F-4D97-AF65-F5344CB8AC3E}">
        <p14:creationId xmlns:p14="http://schemas.microsoft.com/office/powerpoint/2010/main" val="33869199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91544" y="274638"/>
            <a:ext cx="8219256" cy="850106"/>
          </a:xfrm>
        </p:spPr>
        <p:txBody>
          <a:bodyPr>
            <a:normAutofit fontScale="90000"/>
          </a:bodyPr>
          <a:lstStyle/>
          <a:p>
            <a:pPr marL="342900" indent="-342900">
              <a:spcBef>
                <a:spcPct val="20000"/>
              </a:spcBef>
            </a:pPr>
            <a:r>
              <a:rPr lang="fr-FR" sz="2800" b="1" dirty="0">
                <a:solidFill>
                  <a:srgbClr val="C00000"/>
                </a:solidFill>
                <a:ea typeface="+mn-ea"/>
                <a:cs typeface="+mn-cs"/>
              </a:rPr>
              <a:t>II.2-Différentes </a:t>
            </a:r>
            <a:r>
              <a:rPr lang="fr-FR" sz="2800" b="1" dirty="0">
                <a:solidFill>
                  <a:srgbClr val="C00000"/>
                </a:solidFill>
                <a:ea typeface="+mn-ea"/>
                <a:cs typeface="+mn-cs"/>
              </a:rPr>
              <a:t>voies de contamination</a:t>
            </a:r>
            <a:br>
              <a:rPr lang="fr-FR" sz="2800" b="1" dirty="0">
                <a:solidFill>
                  <a:srgbClr val="C00000"/>
                </a:solidFill>
                <a:ea typeface="+mn-ea"/>
                <a:cs typeface="+mn-cs"/>
              </a:rPr>
            </a:br>
            <a:r>
              <a:rPr lang="fr-FR" sz="2800" b="1" dirty="0">
                <a:solidFill>
                  <a:srgbClr val="C00000"/>
                </a:solidFill>
                <a:ea typeface="+mn-ea"/>
                <a:cs typeface="+mn-cs"/>
              </a:rPr>
              <a:t>-</a:t>
            </a:r>
            <a:endParaRPr lang="fr-FR" sz="2800" b="1" dirty="0">
              <a:solidFill>
                <a:srgbClr val="C00000"/>
              </a:solidFill>
            </a:endParaRPr>
          </a:p>
        </p:txBody>
      </p:sp>
      <p:sp>
        <p:nvSpPr>
          <p:cNvPr id="3" name="Espace réservé du contenu 2"/>
          <p:cNvSpPr>
            <a:spLocks noGrp="1"/>
          </p:cNvSpPr>
          <p:nvPr>
            <p:ph idx="1"/>
          </p:nvPr>
        </p:nvSpPr>
        <p:spPr>
          <a:xfrm>
            <a:off x="1703512" y="1196753"/>
            <a:ext cx="6048672" cy="4929411"/>
          </a:xfrm>
        </p:spPr>
        <p:txBody>
          <a:bodyPr>
            <a:normAutofit/>
          </a:bodyPr>
          <a:lstStyle/>
          <a:p>
            <a:pPr marL="0" indent="0">
              <a:buNone/>
            </a:pPr>
            <a:r>
              <a:rPr lang="fr-FR" sz="2400" b="1" dirty="0"/>
              <a:t>Porte </a:t>
            </a:r>
            <a:r>
              <a:rPr lang="fr-FR" sz="2400" b="1" dirty="0"/>
              <a:t>d’entrée: contamination possible par</a:t>
            </a:r>
          </a:p>
          <a:p>
            <a:r>
              <a:rPr lang="fr-FR" sz="2200" dirty="0">
                <a:solidFill>
                  <a:srgbClr val="C00000"/>
                </a:solidFill>
              </a:rPr>
              <a:t>Voie </a:t>
            </a:r>
            <a:r>
              <a:rPr lang="fr-FR" sz="2200" dirty="0">
                <a:solidFill>
                  <a:srgbClr val="C00000"/>
                </a:solidFill>
              </a:rPr>
              <a:t>digestive</a:t>
            </a:r>
            <a:r>
              <a:rPr lang="fr-FR" sz="2200" dirty="0"/>
              <a:t>: ingestion d’eau ou aliments </a:t>
            </a:r>
            <a:r>
              <a:rPr lang="fr-FR" sz="2200" dirty="0"/>
              <a:t>contaminés (</a:t>
            </a:r>
            <a:r>
              <a:rPr lang="fr-FR" sz="2200" i="1" dirty="0"/>
              <a:t>Salmonella </a:t>
            </a:r>
            <a:r>
              <a:rPr lang="fr-FR" sz="2200" dirty="0" err="1"/>
              <a:t>Typhi</a:t>
            </a:r>
            <a:r>
              <a:rPr lang="fr-FR" sz="2200" dirty="0"/>
              <a:t>)</a:t>
            </a:r>
            <a:endParaRPr lang="fr-FR" sz="2200" dirty="0"/>
          </a:p>
          <a:p>
            <a:r>
              <a:rPr lang="fr-FR" sz="2200" dirty="0">
                <a:solidFill>
                  <a:srgbClr val="C00000"/>
                </a:solidFill>
              </a:rPr>
              <a:t>Voie </a:t>
            </a:r>
            <a:r>
              <a:rPr lang="fr-FR" sz="2200" dirty="0">
                <a:solidFill>
                  <a:srgbClr val="C00000"/>
                </a:solidFill>
              </a:rPr>
              <a:t>respiratoire</a:t>
            </a:r>
            <a:r>
              <a:rPr lang="fr-FR" sz="2200" dirty="0"/>
              <a:t>: inhalation d’aérosols contaminés </a:t>
            </a:r>
            <a:r>
              <a:rPr lang="fr-FR" sz="2200" dirty="0"/>
              <a:t>(</a:t>
            </a:r>
            <a:r>
              <a:rPr lang="fr-FR" sz="2200" i="1" dirty="0" err="1"/>
              <a:t>L</a:t>
            </a:r>
            <a:r>
              <a:rPr lang="fr-FR" sz="2200" i="1" dirty="0" err="1"/>
              <a:t>e</a:t>
            </a:r>
            <a:r>
              <a:rPr lang="fr-FR" sz="2200" i="1" dirty="0" err="1"/>
              <a:t>gionella</a:t>
            </a:r>
            <a:r>
              <a:rPr lang="fr-FR" sz="2200" i="1" dirty="0"/>
              <a:t> </a:t>
            </a:r>
            <a:r>
              <a:rPr lang="fr-FR" sz="2200" i="1" dirty="0" err="1"/>
              <a:t>pneumophilia</a:t>
            </a:r>
            <a:r>
              <a:rPr lang="fr-FR" sz="2200" i="1" dirty="0"/>
              <a:t> )</a:t>
            </a:r>
          </a:p>
          <a:p>
            <a:r>
              <a:rPr lang="fr-FR" sz="2200" dirty="0">
                <a:solidFill>
                  <a:srgbClr val="C00000"/>
                </a:solidFill>
              </a:rPr>
              <a:t>Voie </a:t>
            </a:r>
            <a:r>
              <a:rPr lang="fr-FR" sz="2200" dirty="0">
                <a:solidFill>
                  <a:srgbClr val="C00000"/>
                </a:solidFill>
              </a:rPr>
              <a:t>cutanée</a:t>
            </a:r>
            <a:r>
              <a:rPr lang="fr-FR" sz="2200" dirty="0"/>
              <a:t>: inoculation par contact (plaie souillée</a:t>
            </a:r>
            <a:r>
              <a:rPr lang="fr-FR" sz="2200" dirty="0"/>
              <a:t>)( </a:t>
            </a:r>
            <a:r>
              <a:rPr lang="fr-FR" sz="2200" i="1" dirty="0"/>
              <a:t>Staphylococcus aureus)</a:t>
            </a:r>
            <a:endParaRPr lang="fr-FR" sz="2200" i="1" dirty="0"/>
          </a:p>
          <a:p>
            <a:r>
              <a:rPr lang="fr-FR" sz="2200" dirty="0">
                <a:solidFill>
                  <a:srgbClr val="C00000"/>
                </a:solidFill>
              </a:rPr>
              <a:t>Voie </a:t>
            </a:r>
            <a:r>
              <a:rPr lang="fr-FR" sz="2200" dirty="0">
                <a:solidFill>
                  <a:srgbClr val="C00000"/>
                </a:solidFill>
              </a:rPr>
              <a:t>transcutanée</a:t>
            </a:r>
            <a:r>
              <a:rPr lang="fr-FR" sz="2200" dirty="0"/>
              <a:t>: piqûre d’insecte vecteur </a:t>
            </a:r>
            <a:r>
              <a:rPr lang="fr-FR" sz="2200" dirty="0"/>
              <a:t>de (bactéries </a:t>
            </a:r>
            <a:r>
              <a:rPr lang="fr-FR" sz="2200" i="1" dirty="0"/>
              <a:t>Yersinia </a:t>
            </a:r>
            <a:r>
              <a:rPr lang="fr-FR" sz="2200" i="1" dirty="0" err="1"/>
              <a:t>pestis</a:t>
            </a:r>
            <a:r>
              <a:rPr lang="fr-FR" sz="2200" dirty="0"/>
              <a:t>)</a:t>
            </a:r>
            <a:endParaRPr lang="fr-FR" sz="2200" dirty="0"/>
          </a:p>
          <a:p>
            <a:r>
              <a:rPr lang="fr-FR" sz="2200" dirty="0">
                <a:solidFill>
                  <a:srgbClr val="C00000"/>
                </a:solidFill>
              </a:rPr>
              <a:t>Voie </a:t>
            </a:r>
            <a:r>
              <a:rPr lang="fr-FR" sz="2200" dirty="0">
                <a:solidFill>
                  <a:srgbClr val="C00000"/>
                </a:solidFill>
              </a:rPr>
              <a:t>sexuelle</a:t>
            </a:r>
            <a:r>
              <a:rPr lang="fr-FR" sz="2200" dirty="0"/>
              <a:t>: </a:t>
            </a:r>
            <a:r>
              <a:rPr lang="fr-FR" sz="2200" dirty="0"/>
              <a:t>Infections </a:t>
            </a:r>
            <a:r>
              <a:rPr lang="fr-FR" sz="2200" dirty="0"/>
              <a:t>sexuellement transmissibles </a:t>
            </a:r>
            <a:r>
              <a:rPr lang="fr-FR" sz="2200" dirty="0"/>
              <a:t> (</a:t>
            </a:r>
            <a:r>
              <a:rPr lang="fr-FR" sz="2200" i="1" dirty="0" err="1"/>
              <a:t>Treponema</a:t>
            </a:r>
            <a:r>
              <a:rPr lang="fr-FR" sz="2200" i="1" dirty="0"/>
              <a:t> pallidum)</a:t>
            </a:r>
          </a:p>
          <a:p>
            <a:r>
              <a:rPr lang="fr-FR" sz="2200" dirty="0">
                <a:solidFill>
                  <a:srgbClr val="C00000"/>
                </a:solidFill>
              </a:rPr>
              <a:t>Voie urinaire: </a:t>
            </a:r>
            <a:r>
              <a:rPr lang="fr-FR" sz="2200" dirty="0"/>
              <a:t>infection par voie ascendante</a:t>
            </a:r>
            <a:endParaRPr lang="fr-FR" sz="2200" dirty="0"/>
          </a:p>
        </p:txBody>
      </p:sp>
      <p:pic>
        <p:nvPicPr>
          <p:cNvPr id="1026" name="Picture 2" descr="C:\Users\Mounira\Pictures\images (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9075" y="2492896"/>
            <a:ext cx="1839548" cy="122413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Mounira\Pictures\2009_07_06_Eau_Robine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54407" y="1052737"/>
            <a:ext cx="1774788" cy="12957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Mounira\Pictures\images (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54408" y="3919146"/>
            <a:ext cx="2117935" cy="144050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65356" y="5346898"/>
            <a:ext cx="2790219" cy="1511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38316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63552" y="548680"/>
            <a:ext cx="8147248" cy="724942"/>
          </a:xfrm>
        </p:spPr>
        <p:txBody>
          <a:bodyPr>
            <a:normAutofit fontScale="90000"/>
          </a:bodyPr>
          <a:lstStyle/>
          <a:p>
            <a:r>
              <a:rPr lang="fr-FR" sz="2800" b="1" dirty="0">
                <a:solidFill>
                  <a:srgbClr val="FF0000"/>
                </a:solidFill>
              </a:rPr>
              <a:t/>
            </a:r>
            <a:br>
              <a:rPr lang="fr-FR" sz="2800" b="1" dirty="0">
                <a:solidFill>
                  <a:srgbClr val="FF0000"/>
                </a:solidFill>
              </a:rPr>
            </a:br>
            <a:r>
              <a:rPr lang="fr-FR" sz="2800" b="1" dirty="0">
                <a:solidFill>
                  <a:srgbClr val="FF0000"/>
                </a:solidFill>
              </a:rPr>
              <a:t>Adhérence et colonisation par la bactéries pathogène</a:t>
            </a:r>
            <a:endParaRPr lang="fr-FR" sz="2800" b="1" dirty="0">
              <a:solidFill>
                <a:srgbClr val="FF0000"/>
              </a:solidFill>
            </a:endParaRPr>
          </a:p>
        </p:txBody>
      </p:sp>
      <p:sp>
        <p:nvSpPr>
          <p:cNvPr id="3" name="Espace réservé du contenu 2"/>
          <p:cNvSpPr>
            <a:spLocks noGrp="1"/>
          </p:cNvSpPr>
          <p:nvPr>
            <p:ph idx="1"/>
          </p:nvPr>
        </p:nvSpPr>
        <p:spPr>
          <a:xfrm>
            <a:off x="1981200" y="1340769"/>
            <a:ext cx="5410944" cy="4785395"/>
          </a:xfrm>
        </p:spPr>
        <p:txBody>
          <a:bodyPr>
            <a:normAutofit/>
          </a:bodyPr>
          <a:lstStyle/>
          <a:p>
            <a:r>
              <a:rPr lang="fr-FR" sz="2200" dirty="0"/>
              <a:t>Après pénétration dans l’hôte , la bactérie pathogène doit être  capable de se fixer  sur les cellules et les tissus de l’hôte  grâce aux </a:t>
            </a:r>
            <a:r>
              <a:rPr lang="fr-FR" sz="2200" dirty="0" err="1"/>
              <a:t>adhésines</a:t>
            </a:r>
            <a:r>
              <a:rPr lang="fr-FR" sz="2200" dirty="0"/>
              <a:t> :</a:t>
            </a:r>
          </a:p>
          <a:p>
            <a:pPr lvl="1">
              <a:buFont typeface="Wingdings" panose="05000000000000000000" pitchFamily="2" charset="2"/>
              <a:buChar char="v"/>
            </a:pPr>
            <a:r>
              <a:rPr lang="fr-FR" sz="2000" dirty="0" err="1"/>
              <a:t>Fimbriae</a:t>
            </a:r>
            <a:r>
              <a:rPr lang="fr-FR" sz="2000" dirty="0"/>
              <a:t> ou </a:t>
            </a:r>
            <a:r>
              <a:rPr lang="fr-FR" sz="2000" dirty="0" err="1"/>
              <a:t>Pili</a:t>
            </a:r>
            <a:r>
              <a:rPr lang="fr-FR" sz="2000" dirty="0"/>
              <a:t> d’origine protéique</a:t>
            </a:r>
          </a:p>
          <a:p>
            <a:pPr lvl="1">
              <a:buFont typeface="Wingdings" panose="05000000000000000000" pitchFamily="2" charset="2"/>
              <a:buChar char="v"/>
            </a:pPr>
            <a:r>
              <a:rPr lang="fr-FR" sz="2000" dirty="0" err="1"/>
              <a:t>Adhésines</a:t>
            </a:r>
            <a:r>
              <a:rPr lang="fr-FR" sz="2000" dirty="0"/>
              <a:t> non </a:t>
            </a:r>
            <a:r>
              <a:rPr lang="fr-FR" sz="2000" dirty="0" err="1"/>
              <a:t>fimbriales</a:t>
            </a:r>
            <a:r>
              <a:rPr lang="fr-FR" sz="2000" dirty="0"/>
              <a:t> ( protéine  de surface  bactérienne)</a:t>
            </a:r>
          </a:p>
          <a:p>
            <a:pPr lvl="1">
              <a:buFont typeface="Wingdings" panose="05000000000000000000" pitchFamily="2" charset="2"/>
              <a:buChar char="v"/>
            </a:pPr>
            <a:r>
              <a:rPr lang="fr-FR" sz="2000" dirty="0"/>
              <a:t>Film ou Slim   de nature polysaccharidique , il permet de faire adhérer les bactéries entre elles  et ainsi d’éviter la phagocytose et  les antibiotiques.</a:t>
            </a:r>
          </a:p>
          <a:p>
            <a:pPr marL="0" indent="0">
              <a:buNone/>
            </a:pPr>
            <a:endParaRPr lang="fr-FR" sz="2400" dirty="0"/>
          </a:p>
          <a:p>
            <a:pPr marL="0" indent="0">
              <a:buNone/>
            </a:pPr>
            <a:endParaRPr lang="fr-FR" sz="2400" dirty="0"/>
          </a:p>
          <a:p>
            <a:pPr marL="0" indent="0">
              <a:buNone/>
            </a:pPr>
            <a:endParaRPr lang="fr-FR" sz="2400" dirty="0"/>
          </a:p>
        </p:txBody>
      </p:sp>
      <p:pic>
        <p:nvPicPr>
          <p:cNvPr id="2050" name="Picture 2" descr="C:\Users\Mounira\Pictures\71240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7956" y="1556792"/>
            <a:ext cx="2010463" cy="158417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p:cNvPicPr/>
          <p:nvPr/>
        </p:nvPicPr>
        <p:blipFill rotWithShape="1">
          <a:blip r:embed="rId3" cstate="print"/>
          <a:srcRect l="64966" t="31817" r="8441" b="44445"/>
          <a:stretch/>
        </p:blipFill>
        <p:spPr bwMode="auto">
          <a:xfrm>
            <a:off x="7927956" y="3284984"/>
            <a:ext cx="2010462" cy="1159768"/>
          </a:xfrm>
          <a:prstGeom prst="rect">
            <a:avLst/>
          </a:prstGeom>
          <a:ln>
            <a:noFill/>
          </a:ln>
          <a:extLst>
            <a:ext uri="{53640926-AAD7-44D8-BBD7-CCE9431645EC}">
              <a14:shadowObscured xmlns:a14="http://schemas.microsoft.com/office/drawing/2010/main"/>
            </a:ext>
          </a:extLst>
        </p:spPr>
      </p:pic>
      <p:pic>
        <p:nvPicPr>
          <p:cNvPr id="6" name="Image 5"/>
          <p:cNvPicPr/>
          <p:nvPr/>
        </p:nvPicPr>
        <p:blipFill rotWithShape="1">
          <a:blip r:embed="rId4" cstate="print"/>
          <a:srcRect l="67109" t="39899" r="8618" b="15152"/>
          <a:stretch/>
        </p:blipFill>
        <p:spPr bwMode="auto">
          <a:xfrm>
            <a:off x="8234687" y="4581128"/>
            <a:ext cx="1397000" cy="1828800"/>
          </a:xfrm>
          <a:prstGeom prst="rect">
            <a:avLst/>
          </a:prstGeom>
          <a:ln>
            <a:noFill/>
          </a:ln>
          <a:extLst>
            <a:ext uri="{53640926-AAD7-44D8-BBD7-CCE9431645EC}">
              <a14:shadowObscured xmlns:a14="http://schemas.microsoft.com/office/drawing/2010/main"/>
            </a:ext>
          </a:extLst>
        </p:spPr>
      </p:pic>
      <p:sp>
        <p:nvSpPr>
          <p:cNvPr id="7" name="ZoneTexte 6"/>
          <p:cNvSpPr txBox="1"/>
          <p:nvPr/>
        </p:nvSpPr>
        <p:spPr>
          <a:xfrm>
            <a:off x="2783632" y="332656"/>
            <a:ext cx="5904656" cy="523220"/>
          </a:xfrm>
          <a:prstGeom prst="rect">
            <a:avLst/>
          </a:prstGeom>
          <a:noFill/>
        </p:spPr>
        <p:txBody>
          <a:bodyPr wrap="square" rtlCol="0">
            <a:spAutoFit/>
          </a:bodyPr>
          <a:lstStyle/>
          <a:p>
            <a:pPr algn="ctr"/>
            <a:r>
              <a:rPr lang="fr-FR" sz="2800" b="1" dirty="0">
                <a:solidFill>
                  <a:srgbClr val="C00000"/>
                </a:solidFill>
              </a:rPr>
              <a:t>III.3- Modalités d’une infection</a:t>
            </a:r>
            <a:endParaRPr lang="fr-FR" sz="2800" b="1" dirty="0">
              <a:solidFill>
                <a:srgbClr val="C00000"/>
              </a:solidFill>
            </a:endParaRPr>
          </a:p>
        </p:txBody>
      </p:sp>
    </p:spTree>
    <p:extLst>
      <p:ext uri="{BB962C8B-B14F-4D97-AF65-F5344CB8AC3E}">
        <p14:creationId xmlns:p14="http://schemas.microsoft.com/office/powerpoint/2010/main" val="8812301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800" b="1" dirty="0">
                <a:solidFill>
                  <a:srgbClr val="FF0000"/>
                </a:solidFill>
              </a:rPr>
              <a:t>Invasion des tissus de l’hôte</a:t>
            </a:r>
            <a:endParaRPr lang="fr-FR" sz="2800" b="1" dirty="0">
              <a:solidFill>
                <a:srgbClr val="FF0000"/>
              </a:solidFill>
            </a:endParaRPr>
          </a:p>
        </p:txBody>
      </p:sp>
      <p:sp>
        <p:nvSpPr>
          <p:cNvPr id="3" name="Espace réservé du contenu 2"/>
          <p:cNvSpPr>
            <a:spLocks noGrp="1"/>
          </p:cNvSpPr>
          <p:nvPr>
            <p:ph idx="1"/>
          </p:nvPr>
        </p:nvSpPr>
        <p:spPr>
          <a:xfrm>
            <a:off x="1981200" y="1628801"/>
            <a:ext cx="8435280" cy="4497363"/>
          </a:xfrm>
        </p:spPr>
        <p:txBody>
          <a:bodyPr>
            <a:normAutofit/>
          </a:bodyPr>
          <a:lstStyle/>
          <a:p>
            <a:r>
              <a:rPr lang="fr-FR" sz="2400" b="1" dirty="0">
                <a:solidFill>
                  <a:srgbClr val="FF0000"/>
                </a:solidFill>
              </a:rPr>
              <a:t>Sécrétion d’enzymes </a:t>
            </a:r>
            <a:r>
              <a:rPr lang="fr-FR" sz="2400" b="1" dirty="0">
                <a:solidFill>
                  <a:srgbClr val="FF0000"/>
                </a:solidFill>
              </a:rPr>
              <a:t>hydrolytiques</a:t>
            </a:r>
            <a:r>
              <a:rPr lang="fr-FR" sz="2400" dirty="0"/>
              <a:t> entrainant la destruction </a:t>
            </a:r>
            <a:r>
              <a:rPr lang="fr-FR" sz="2400" dirty="0"/>
              <a:t>des tissus </a:t>
            </a:r>
            <a:r>
              <a:rPr lang="fr-FR" sz="2400" dirty="0"/>
              <a:t>facilitant  dissémination </a:t>
            </a:r>
            <a:r>
              <a:rPr lang="fr-FR" sz="2400" dirty="0"/>
              <a:t>des </a:t>
            </a:r>
            <a:r>
              <a:rPr lang="fr-FR" sz="2400" dirty="0"/>
              <a:t>bactéries.</a:t>
            </a:r>
          </a:p>
          <a:p>
            <a:pPr marL="0" indent="0">
              <a:buNone/>
            </a:pPr>
            <a:r>
              <a:rPr lang="fr-FR" sz="2400" dirty="0"/>
              <a:t> Ex : </a:t>
            </a:r>
            <a:r>
              <a:rPr lang="fr-FR" sz="2400" dirty="0"/>
              <a:t>protéases, </a:t>
            </a:r>
            <a:r>
              <a:rPr lang="fr-FR" sz="2400" dirty="0" err="1"/>
              <a:t>DNAses</a:t>
            </a:r>
            <a:r>
              <a:rPr lang="fr-FR" sz="2400" dirty="0"/>
              <a:t>, </a:t>
            </a:r>
            <a:r>
              <a:rPr lang="fr-FR" sz="2400" dirty="0" err="1"/>
              <a:t>hyaluronidases</a:t>
            </a:r>
            <a:r>
              <a:rPr lang="fr-FR" sz="2400" dirty="0"/>
              <a:t>, </a:t>
            </a:r>
          </a:p>
          <a:p>
            <a:pPr marL="0" indent="0">
              <a:buNone/>
            </a:pPr>
            <a:r>
              <a:rPr lang="fr-FR" sz="2400" dirty="0"/>
              <a:t>Collagénases</a:t>
            </a:r>
            <a:r>
              <a:rPr lang="fr-FR" sz="2400" dirty="0"/>
              <a:t>, kinases</a:t>
            </a:r>
            <a:r>
              <a:rPr lang="fr-FR" sz="2400" dirty="0"/>
              <a:t>,…</a:t>
            </a:r>
          </a:p>
          <a:p>
            <a:pPr marL="0" indent="0">
              <a:buNone/>
            </a:pPr>
            <a:r>
              <a:rPr lang="fr-FR" sz="2400" dirty="0"/>
              <a:t> Ex  :Bactéries </a:t>
            </a:r>
            <a:r>
              <a:rPr lang="fr-FR" sz="2400" dirty="0"/>
              <a:t>pyogènes +++ </a:t>
            </a:r>
          </a:p>
          <a:p>
            <a:pPr marL="0" indent="0">
              <a:buNone/>
            </a:pPr>
            <a:r>
              <a:rPr lang="fr-FR" sz="2400" i="1" dirty="0"/>
              <a:t>Staphylococcus aureus</a:t>
            </a:r>
            <a:r>
              <a:rPr lang="fr-FR" sz="2400" dirty="0"/>
              <a:t>, </a:t>
            </a:r>
            <a:r>
              <a:rPr lang="fr-FR" sz="2400" i="1" dirty="0"/>
              <a:t>Streptococcus </a:t>
            </a:r>
            <a:r>
              <a:rPr lang="fr-FR" sz="2400" i="1" dirty="0" err="1"/>
              <a:t>pyogenes</a:t>
            </a:r>
            <a:r>
              <a:rPr lang="fr-FR" sz="2400" i="1" dirty="0"/>
              <a:t> </a:t>
            </a:r>
            <a:r>
              <a:rPr lang="fr-FR" sz="2400" dirty="0"/>
              <a:t>ou streptocoque A</a:t>
            </a:r>
          </a:p>
        </p:txBody>
      </p:sp>
    </p:spTree>
    <p:extLst>
      <p:ext uri="{BB962C8B-B14F-4D97-AF65-F5344CB8AC3E}">
        <p14:creationId xmlns:p14="http://schemas.microsoft.com/office/powerpoint/2010/main" val="775613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800" b="1" dirty="0">
                <a:solidFill>
                  <a:srgbClr val="FF0000"/>
                </a:solidFill>
              </a:rPr>
              <a:t>Toxines protéiques bactériennes </a:t>
            </a:r>
            <a:r>
              <a:rPr lang="fr-FR" sz="2800" b="1" dirty="0">
                <a:solidFill>
                  <a:srgbClr val="0070C0"/>
                </a:solidFill>
              </a:rPr>
              <a:t>(Exotoxine)</a:t>
            </a:r>
            <a:endParaRPr lang="fr-FR" sz="2800" b="1" dirty="0">
              <a:solidFill>
                <a:srgbClr val="0070C0"/>
              </a:solidFill>
            </a:endParaRPr>
          </a:p>
        </p:txBody>
      </p:sp>
      <p:sp>
        <p:nvSpPr>
          <p:cNvPr id="3" name="Espace réservé du contenu 2"/>
          <p:cNvSpPr>
            <a:spLocks noGrp="1"/>
          </p:cNvSpPr>
          <p:nvPr>
            <p:ph idx="1"/>
          </p:nvPr>
        </p:nvSpPr>
        <p:spPr>
          <a:xfrm>
            <a:off x="1847528" y="1340768"/>
            <a:ext cx="7488832" cy="5112568"/>
          </a:xfrm>
        </p:spPr>
        <p:txBody>
          <a:bodyPr>
            <a:noAutofit/>
          </a:bodyPr>
          <a:lstStyle/>
          <a:p>
            <a:pPr marL="0" indent="0">
              <a:buNone/>
            </a:pPr>
            <a:r>
              <a:rPr lang="fr-FR" sz="2100" b="1" dirty="0">
                <a:solidFill>
                  <a:srgbClr val="00B050"/>
                </a:solidFill>
              </a:rPr>
              <a:t>Sécrétion </a:t>
            </a:r>
            <a:r>
              <a:rPr lang="fr-FR" sz="2100" b="1" dirty="0">
                <a:solidFill>
                  <a:srgbClr val="00B050"/>
                </a:solidFill>
              </a:rPr>
              <a:t>à l’extérieur de bactérie ⇒⇒⇒⇒ diffusion dans </a:t>
            </a:r>
          </a:p>
          <a:p>
            <a:pPr marL="0" indent="0">
              <a:buNone/>
            </a:pPr>
            <a:r>
              <a:rPr lang="fr-FR" sz="2100" b="1" dirty="0">
                <a:solidFill>
                  <a:srgbClr val="00B050"/>
                </a:solidFill>
              </a:rPr>
              <a:t>organisme : Action à distance</a:t>
            </a:r>
          </a:p>
          <a:p>
            <a:pPr marL="0" indent="0">
              <a:buNone/>
            </a:pPr>
            <a:r>
              <a:rPr lang="fr-FR" sz="2100" dirty="0"/>
              <a:t>– Activité au niveau de cellules cibles</a:t>
            </a:r>
          </a:p>
          <a:p>
            <a:pPr marL="0" indent="0">
              <a:buNone/>
            </a:pPr>
            <a:r>
              <a:rPr lang="fr-FR" sz="2100" dirty="0"/>
              <a:t>– Certaines ont un pouvoir toxique très élevé</a:t>
            </a:r>
          </a:p>
          <a:p>
            <a:pPr marL="0" indent="0">
              <a:buNone/>
            </a:pPr>
            <a:r>
              <a:rPr lang="fr-FR" sz="2100" dirty="0"/>
              <a:t>– Parfois rôle majeur dans l’expression clinique de la </a:t>
            </a:r>
            <a:r>
              <a:rPr lang="fr-FR" sz="2100" dirty="0"/>
              <a:t>maladie </a:t>
            </a:r>
            <a:endParaRPr lang="fr-FR" sz="2100" dirty="0"/>
          </a:p>
          <a:p>
            <a:pPr lvl="1"/>
            <a:r>
              <a:rPr lang="fr-FR" sz="2100" dirty="0"/>
              <a:t>Tétanos     </a:t>
            </a:r>
            <a:r>
              <a:rPr lang="fr-FR" sz="2100" i="1" dirty="0"/>
              <a:t>Clostridium </a:t>
            </a:r>
            <a:r>
              <a:rPr lang="fr-FR" sz="2100" i="1" dirty="0" err="1"/>
              <a:t>tetani</a:t>
            </a:r>
            <a:endParaRPr lang="fr-FR" sz="2100" i="1" dirty="0"/>
          </a:p>
          <a:p>
            <a:pPr lvl="1"/>
            <a:r>
              <a:rPr lang="fr-FR" sz="2100" dirty="0"/>
              <a:t>Diphtérie   </a:t>
            </a:r>
            <a:r>
              <a:rPr lang="fr-FR" sz="2100" i="1" dirty="0" err="1"/>
              <a:t>Corynebacterium</a:t>
            </a:r>
            <a:r>
              <a:rPr lang="fr-FR" sz="2100" i="1" dirty="0"/>
              <a:t> </a:t>
            </a:r>
            <a:r>
              <a:rPr lang="fr-FR" sz="2100" i="1" dirty="0" err="1"/>
              <a:t>diphteriae</a:t>
            </a:r>
            <a:endParaRPr lang="fr-FR" sz="2100" i="1" dirty="0"/>
          </a:p>
          <a:p>
            <a:pPr lvl="1"/>
            <a:r>
              <a:rPr lang="fr-FR" sz="2100" dirty="0"/>
              <a:t>Botulisme  </a:t>
            </a:r>
            <a:r>
              <a:rPr lang="fr-FR" sz="2100" i="1" dirty="0"/>
              <a:t>Clostridium </a:t>
            </a:r>
            <a:r>
              <a:rPr lang="fr-FR" sz="2100" i="1" dirty="0" err="1"/>
              <a:t>botulinum</a:t>
            </a:r>
            <a:endParaRPr lang="fr-FR" sz="2100" i="1" dirty="0"/>
          </a:p>
          <a:p>
            <a:pPr lvl="1"/>
            <a:r>
              <a:rPr lang="fr-FR" sz="2100" dirty="0"/>
              <a:t> Cholera </a:t>
            </a:r>
            <a:r>
              <a:rPr lang="fr-FR" sz="2100" i="1" dirty="0" err="1"/>
              <a:t>Vibrio</a:t>
            </a:r>
            <a:r>
              <a:rPr lang="fr-FR" sz="2100" i="1" dirty="0"/>
              <a:t> </a:t>
            </a:r>
            <a:r>
              <a:rPr lang="fr-FR" sz="2100" i="1" dirty="0" err="1"/>
              <a:t>cholerae</a:t>
            </a:r>
            <a:endParaRPr lang="fr-FR" sz="2100" i="1" dirty="0"/>
          </a:p>
          <a:p>
            <a:pPr marL="0" indent="0">
              <a:buNone/>
            </a:pPr>
            <a:r>
              <a:rPr lang="fr-FR" sz="2100" dirty="0">
                <a:solidFill>
                  <a:prstClr val="black"/>
                </a:solidFill>
              </a:rPr>
              <a:t>3 types suivant structure et mécanisme d’action</a:t>
            </a:r>
          </a:p>
          <a:p>
            <a:pPr marL="900113" indent="-266700">
              <a:buNone/>
            </a:pPr>
            <a:r>
              <a:rPr lang="fr-FR" sz="2100" dirty="0">
                <a:solidFill>
                  <a:prstClr val="black"/>
                </a:solidFill>
              </a:rPr>
              <a:t>a/Toxines </a:t>
            </a:r>
            <a:r>
              <a:rPr lang="fr-FR" sz="2100" dirty="0">
                <a:solidFill>
                  <a:prstClr val="black"/>
                </a:solidFill>
              </a:rPr>
              <a:t>de type A-B</a:t>
            </a:r>
          </a:p>
          <a:p>
            <a:pPr marL="900113" indent="-266700">
              <a:buNone/>
            </a:pPr>
            <a:r>
              <a:rPr lang="fr-FR" sz="2100" dirty="0">
                <a:solidFill>
                  <a:prstClr val="black"/>
                </a:solidFill>
              </a:rPr>
              <a:t> </a:t>
            </a:r>
            <a:r>
              <a:rPr lang="fr-FR" sz="2100" dirty="0">
                <a:solidFill>
                  <a:prstClr val="black"/>
                </a:solidFill>
              </a:rPr>
              <a:t>b/</a:t>
            </a:r>
            <a:r>
              <a:rPr lang="fr-FR" sz="2100" dirty="0" err="1">
                <a:solidFill>
                  <a:prstClr val="black"/>
                </a:solidFill>
              </a:rPr>
              <a:t>Cytolysines</a:t>
            </a:r>
            <a:r>
              <a:rPr lang="fr-FR" sz="2100" dirty="0">
                <a:solidFill>
                  <a:prstClr val="black"/>
                </a:solidFill>
              </a:rPr>
              <a:t> </a:t>
            </a:r>
            <a:r>
              <a:rPr lang="fr-FR" sz="2100" dirty="0">
                <a:solidFill>
                  <a:prstClr val="black"/>
                </a:solidFill>
              </a:rPr>
              <a:t>ou hémolysines</a:t>
            </a:r>
          </a:p>
          <a:p>
            <a:pPr marL="900113" indent="-266700">
              <a:buNone/>
            </a:pPr>
            <a:r>
              <a:rPr lang="fr-FR" sz="2100" dirty="0">
                <a:solidFill>
                  <a:prstClr val="black"/>
                </a:solidFill>
              </a:rPr>
              <a:t> c/</a:t>
            </a:r>
            <a:r>
              <a:rPr lang="fr-FR" sz="2100" dirty="0" err="1">
                <a:solidFill>
                  <a:prstClr val="black"/>
                </a:solidFill>
              </a:rPr>
              <a:t>Superantigènes</a:t>
            </a:r>
            <a:endParaRPr lang="fr-FR" sz="2100" dirty="0">
              <a:solidFill>
                <a:prstClr val="black"/>
              </a:solidFill>
            </a:endParaRPr>
          </a:p>
          <a:p>
            <a:endParaRPr lang="fr-FR" sz="2100" i="1" dirty="0"/>
          </a:p>
        </p:txBody>
      </p:sp>
    </p:spTree>
    <p:extLst>
      <p:ext uri="{BB962C8B-B14F-4D97-AF65-F5344CB8AC3E}">
        <p14:creationId xmlns:p14="http://schemas.microsoft.com/office/powerpoint/2010/main" val="13183770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http://image.slidesharecdn.com/tetanos-130202201240-phpapp02/95/tetanos-1-638.jpg?cb=135983643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849" t="29012" r="15255" b="7953"/>
          <a:stretch/>
        </p:blipFill>
        <p:spPr bwMode="auto">
          <a:xfrm>
            <a:off x="3359697" y="1268760"/>
            <a:ext cx="5742915"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19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19536" y="1268761"/>
            <a:ext cx="8291264" cy="4857403"/>
          </a:xfrm>
        </p:spPr>
        <p:txBody>
          <a:bodyPr>
            <a:normAutofit/>
          </a:bodyPr>
          <a:lstStyle/>
          <a:p>
            <a:pPr marL="0" indent="0">
              <a:buNone/>
            </a:pPr>
            <a:r>
              <a:rPr lang="fr-FR" sz="2400" b="1" dirty="0">
                <a:solidFill>
                  <a:srgbClr val="FF0000"/>
                </a:solidFill>
              </a:rPr>
              <a:t>a/Toxines </a:t>
            </a:r>
            <a:r>
              <a:rPr lang="fr-FR" sz="2400" b="1" dirty="0">
                <a:solidFill>
                  <a:srgbClr val="FF0000"/>
                </a:solidFill>
              </a:rPr>
              <a:t>de type A-B </a:t>
            </a:r>
            <a:r>
              <a:rPr lang="fr-FR" sz="2400" b="1" dirty="0"/>
              <a:t>+++</a:t>
            </a:r>
          </a:p>
          <a:p>
            <a:r>
              <a:rPr lang="fr-FR" sz="2400" dirty="0"/>
              <a:t> </a:t>
            </a:r>
            <a:r>
              <a:rPr lang="fr-FR" sz="2400" dirty="0"/>
              <a:t>Structure: 2 portions</a:t>
            </a:r>
          </a:p>
          <a:p>
            <a:r>
              <a:rPr lang="fr-FR" sz="2400" dirty="0"/>
              <a:t>Portion A: activité enzymatique responsable de toxicité</a:t>
            </a:r>
          </a:p>
          <a:p>
            <a:r>
              <a:rPr lang="fr-FR" sz="2400" dirty="0"/>
              <a:t>Portion B: liaison avec </a:t>
            </a:r>
            <a:r>
              <a:rPr lang="fr-FR" sz="2400" dirty="0"/>
              <a:t>récepteur de </a:t>
            </a:r>
            <a:r>
              <a:rPr lang="fr-FR" sz="2400" dirty="0"/>
              <a:t>cellule </a:t>
            </a:r>
            <a:r>
              <a:rPr lang="fr-FR" sz="2400" dirty="0"/>
              <a:t>cible</a:t>
            </a:r>
            <a:endParaRPr lang="fr-FR" sz="2400" dirty="0"/>
          </a:p>
          <a:p>
            <a:pPr marL="0" indent="0">
              <a:buNone/>
            </a:pPr>
            <a:endParaRPr lang="fr-FR" sz="2400" dirty="0"/>
          </a:p>
        </p:txBody>
      </p:sp>
      <p:pic>
        <p:nvPicPr>
          <p:cNvPr id="4" name="Image 3" descr="C:\Users\Mounira\Pictures\31378_1 (1).gif"/>
          <p:cNvPicPr/>
          <p:nvPr/>
        </p:nvPicPr>
        <p:blipFill rotWithShape="1">
          <a:blip r:embed="rId2" cstate="print">
            <a:extLst>
              <a:ext uri="{28A0092B-C50C-407E-A947-70E740481C1C}">
                <a14:useLocalDpi xmlns:a14="http://schemas.microsoft.com/office/drawing/2010/main" val="0"/>
              </a:ext>
            </a:extLst>
          </a:blip>
          <a:srcRect t="5439" r="1847"/>
          <a:stretch/>
        </p:blipFill>
        <p:spPr bwMode="auto">
          <a:xfrm>
            <a:off x="2495601" y="3645024"/>
            <a:ext cx="3267075" cy="2321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183996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47528" y="836713"/>
            <a:ext cx="8363272" cy="5289451"/>
          </a:xfrm>
        </p:spPr>
        <p:txBody>
          <a:bodyPr>
            <a:normAutofit/>
          </a:bodyPr>
          <a:lstStyle/>
          <a:p>
            <a:pPr marL="0" indent="0">
              <a:buNone/>
            </a:pPr>
            <a:r>
              <a:rPr lang="fr-FR" sz="2600" b="1" dirty="0">
                <a:solidFill>
                  <a:srgbClr val="FF0000"/>
                </a:solidFill>
              </a:rPr>
              <a:t>b/</a:t>
            </a:r>
            <a:r>
              <a:rPr lang="fr-FR" sz="2600" b="1" dirty="0" err="1">
                <a:solidFill>
                  <a:srgbClr val="FF0000"/>
                </a:solidFill>
              </a:rPr>
              <a:t>Cytolysines</a:t>
            </a:r>
            <a:r>
              <a:rPr lang="fr-FR" sz="2600" b="1" dirty="0">
                <a:solidFill>
                  <a:srgbClr val="FF0000"/>
                </a:solidFill>
              </a:rPr>
              <a:t> </a:t>
            </a:r>
            <a:r>
              <a:rPr lang="fr-FR" sz="2600" b="1" dirty="0">
                <a:solidFill>
                  <a:srgbClr val="FF0000"/>
                </a:solidFill>
              </a:rPr>
              <a:t>ou hémolysines</a:t>
            </a:r>
          </a:p>
          <a:p>
            <a:pPr marL="0" indent="0">
              <a:buNone/>
            </a:pPr>
            <a:r>
              <a:rPr lang="fr-FR" sz="2200" dirty="0"/>
              <a:t>Toxines </a:t>
            </a:r>
            <a:r>
              <a:rPr lang="fr-FR" sz="2200" dirty="0"/>
              <a:t>provoquant une rupture membranaire de </a:t>
            </a:r>
            <a:r>
              <a:rPr lang="fr-FR" sz="2200" dirty="0"/>
              <a:t>la </a:t>
            </a:r>
            <a:r>
              <a:rPr lang="fr-FR" sz="2200" dirty="0"/>
              <a:t>cellule </a:t>
            </a:r>
            <a:r>
              <a:rPr lang="fr-FR" sz="2200" dirty="0"/>
              <a:t>cible</a:t>
            </a:r>
          </a:p>
          <a:p>
            <a:pPr marL="0" indent="0">
              <a:buNone/>
            </a:pPr>
            <a:endParaRPr lang="fr-FR" sz="2200" dirty="0"/>
          </a:p>
          <a:p>
            <a:pPr marL="0" indent="0">
              <a:buNone/>
            </a:pPr>
            <a:r>
              <a:rPr lang="fr-FR" sz="2200" dirty="0"/>
              <a:t>2 types:</a:t>
            </a:r>
            <a:endParaRPr lang="fr-FR" sz="2200" dirty="0"/>
          </a:p>
          <a:p>
            <a:pPr marL="0" indent="0">
              <a:buNone/>
            </a:pPr>
            <a:r>
              <a:rPr lang="fr-FR" sz="2200" dirty="0"/>
              <a:t> • </a:t>
            </a:r>
            <a:r>
              <a:rPr lang="fr-FR" sz="2200" b="1" dirty="0">
                <a:solidFill>
                  <a:srgbClr val="0070C0"/>
                </a:solidFill>
              </a:rPr>
              <a:t>Protéine</a:t>
            </a:r>
            <a:r>
              <a:rPr lang="fr-FR" sz="2200" dirty="0"/>
              <a:t> venant s’intégrer </a:t>
            </a:r>
            <a:r>
              <a:rPr lang="fr-FR" sz="2200" dirty="0"/>
              <a:t>dans  la membrane de la </a:t>
            </a:r>
            <a:r>
              <a:rPr lang="fr-FR" sz="2200" dirty="0"/>
              <a:t>cellule </a:t>
            </a:r>
            <a:r>
              <a:rPr lang="fr-FR" sz="2200" dirty="0"/>
              <a:t> provoquant  la   </a:t>
            </a:r>
            <a:r>
              <a:rPr lang="fr-FR" sz="2200" dirty="0"/>
              <a:t>formation de pores </a:t>
            </a:r>
            <a:r>
              <a:rPr lang="fr-FR" sz="2200" dirty="0"/>
              <a:t>membranaires   causant  la lyse cellulaire avec </a:t>
            </a:r>
            <a:r>
              <a:rPr lang="fr-FR" sz="2200" dirty="0"/>
              <a:t>fuite des constituants </a:t>
            </a:r>
            <a:r>
              <a:rPr lang="fr-FR" sz="2200" dirty="0"/>
              <a:t>cellulaires ;</a:t>
            </a:r>
          </a:p>
          <a:p>
            <a:pPr marL="0" indent="0">
              <a:buNone/>
            </a:pPr>
            <a:r>
              <a:rPr lang="fr-FR" sz="2200" b="1" dirty="0">
                <a:solidFill>
                  <a:srgbClr val="00B050"/>
                </a:solidFill>
              </a:rPr>
              <a:t>( ex :</a:t>
            </a:r>
            <a:r>
              <a:rPr lang="fr-FR" sz="2200" b="1" dirty="0" err="1">
                <a:solidFill>
                  <a:srgbClr val="00B050"/>
                </a:solidFill>
              </a:rPr>
              <a:t>Streptolysine</a:t>
            </a:r>
            <a:r>
              <a:rPr lang="fr-FR" sz="2200" b="1" dirty="0">
                <a:solidFill>
                  <a:srgbClr val="00B050"/>
                </a:solidFill>
              </a:rPr>
              <a:t> </a:t>
            </a:r>
            <a:r>
              <a:rPr lang="fr-FR" sz="2200" b="1" dirty="0">
                <a:solidFill>
                  <a:srgbClr val="00B050"/>
                </a:solidFill>
              </a:rPr>
              <a:t>O </a:t>
            </a:r>
            <a:r>
              <a:rPr lang="fr-FR" sz="2200" b="1" dirty="0">
                <a:solidFill>
                  <a:srgbClr val="00B050"/>
                </a:solidFill>
              </a:rPr>
              <a:t>du </a:t>
            </a:r>
            <a:r>
              <a:rPr lang="fr-FR" sz="2200" b="1" dirty="0">
                <a:solidFill>
                  <a:srgbClr val="00B050"/>
                </a:solidFill>
              </a:rPr>
              <a:t>Streptococcus </a:t>
            </a:r>
            <a:r>
              <a:rPr lang="fr-FR" sz="2200" b="1" dirty="0" err="1">
                <a:solidFill>
                  <a:srgbClr val="00B050"/>
                </a:solidFill>
              </a:rPr>
              <a:t>pyogenes</a:t>
            </a:r>
            <a:r>
              <a:rPr lang="fr-FR" sz="2200" b="1" dirty="0">
                <a:solidFill>
                  <a:srgbClr val="00B050"/>
                </a:solidFill>
              </a:rPr>
              <a:t> (</a:t>
            </a:r>
            <a:r>
              <a:rPr lang="fr-FR" sz="2200" b="1" dirty="0" err="1">
                <a:solidFill>
                  <a:srgbClr val="00B050"/>
                </a:solidFill>
              </a:rPr>
              <a:t>Strepto</a:t>
            </a:r>
            <a:r>
              <a:rPr lang="fr-FR" sz="2200" b="1" dirty="0">
                <a:solidFill>
                  <a:srgbClr val="00B050"/>
                </a:solidFill>
              </a:rPr>
              <a:t> A</a:t>
            </a:r>
            <a:r>
              <a:rPr lang="fr-FR" sz="2200" b="1" dirty="0">
                <a:solidFill>
                  <a:srgbClr val="00B050"/>
                </a:solidFill>
              </a:rPr>
              <a:t>)</a:t>
            </a:r>
          </a:p>
          <a:p>
            <a:pPr marL="0" indent="0">
              <a:buNone/>
            </a:pPr>
            <a:endParaRPr lang="fr-FR" sz="2200" b="1" dirty="0">
              <a:solidFill>
                <a:srgbClr val="00B050"/>
              </a:solidFill>
            </a:endParaRPr>
          </a:p>
          <a:p>
            <a:r>
              <a:rPr lang="fr-FR" sz="2200" b="1" dirty="0">
                <a:solidFill>
                  <a:srgbClr val="0070C0"/>
                </a:solidFill>
              </a:rPr>
              <a:t>Enzymes </a:t>
            </a:r>
            <a:r>
              <a:rPr lang="fr-FR" sz="2200" dirty="0"/>
              <a:t>déstabilisant </a:t>
            </a:r>
            <a:r>
              <a:rPr lang="fr-FR" sz="2200" dirty="0"/>
              <a:t>la membrane par action au niveau </a:t>
            </a:r>
          </a:p>
          <a:p>
            <a:pPr marL="0" indent="0">
              <a:buNone/>
            </a:pPr>
            <a:r>
              <a:rPr lang="fr-FR" sz="2200" dirty="0"/>
              <a:t>des phospholipides membranaires: phospholipases </a:t>
            </a:r>
            <a:r>
              <a:rPr lang="fr-FR" sz="2200" dirty="0"/>
              <a:t>ou </a:t>
            </a:r>
            <a:r>
              <a:rPr lang="fr-FR" sz="2200" dirty="0" err="1"/>
              <a:t>lécithinases</a:t>
            </a:r>
            <a:endParaRPr lang="fr-FR" sz="2200" dirty="0"/>
          </a:p>
          <a:p>
            <a:pPr marL="0" indent="0">
              <a:buNone/>
            </a:pPr>
            <a:r>
              <a:rPr lang="fr-FR" sz="2200" dirty="0"/>
              <a:t>  (</a:t>
            </a:r>
            <a:r>
              <a:rPr lang="fr-FR" sz="2200" b="1" dirty="0">
                <a:solidFill>
                  <a:srgbClr val="00B050"/>
                </a:solidFill>
              </a:rPr>
              <a:t>ex Toxine </a:t>
            </a:r>
            <a:r>
              <a:rPr lang="el-GR" sz="2200" b="1" dirty="0">
                <a:solidFill>
                  <a:srgbClr val="00B050"/>
                </a:solidFill>
              </a:rPr>
              <a:t>α </a:t>
            </a:r>
            <a:r>
              <a:rPr lang="fr-FR" sz="2200" b="1" dirty="0">
                <a:solidFill>
                  <a:srgbClr val="00B050"/>
                </a:solidFill>
              </a:rPr>
              <a:t>de </a:t>
            </a:r>
            <a:r>
              <a:rPr lang="fr-FR" sz="2200" b="1" i="1" dirty="0">
                <a:solidFill>
                  <a:srgbClr val="00B050"/>
                </a:solidFill>
              </a:rPr>
              <a:t>Clostridium </a:t>
            </a:r>
            <a:r>
              <a:rPr lang="fr-FR" sz="2200" b="1" i="1" dirty="0">
                <a:solidFill>
                  <a:srgbClr val="00B050"/>
                </a:solidFill>
              </a:rPr>
              <a:t>perfringens </a:t>
            </a:r>
            <a:r>
              <a:rPr lang="fr-FR" sz="2200" b="1" dirty="0">
                <a:solidFill>
                  <a:srgbClr val="00B050"/>
                </a:solidFill>
              </a:rPr>
              <a:t>)</a:t>
            </a:r>
            <a:endParaRPr lang="fr-FR" sz="2200" b="1" dirty="0">
              <a:solidFill>
                <a:srgbClr val="00B050"/>
              </a:solidFill>
            </a:endParaRPr>
          </a:p>
        </p:txBody>
      </p:sp>
    </p:spTree>
    <p:extLst>
      <p:ext uri="{BB962C8B-B14F-4D97-AF65-F5344CB8AC3E}">
        <p14:creationId xmlns:p14="http://schemas.microsoft.com/office/powerpoint/2010/main" val="15119325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19536" y="692697"/>
            <a:ext cx="8280920" cy="5433467"/>
          </a:xfrm>
        </p:spPr>
        <p:txBody>
          <a:bodyPr>
            <a:normAutofit/>
          </a:bodyPr>
          <a:lstStyle/>
          <a:p>
            <a:r>
              <a:rPr lang="fr-FR" sz="2600" b="1" dirty="0" err="1">
                <a:solidFill>
                  <a:srgbClr val="FF0000"/>
                </a:solidFill>
              </a:rPr>
              <a:t>Superantigènes</a:t>
            </a:r>
            <a:endParaRPr lang="fr-FR" sz="2600" b="1" dirty="0">
              <a:solidFill>
                <a:srgbClr val="FF0000"/>
              </a:solidFill>
            </a:endParaRPr>
          </a:p>
          <a:p>
            <a:pPr marL="0" indent="0">
              <a:buNone/>
            </a:pPr>
            <a:r>
              <a:rPr lang="fr-FR" sz="2400" dirty="0"/>
              <a:t>Hyperstimulation </a:t>
            </a:r>
            <a:r>
              <a:rPr lang="fr-FR" sz="2400" dirty="0"/>
              <a:t>des lymphocytes T </a:t>
            </a:r>
            <a:r>
              <a:rPr lang="fr-FR" sz="2400" dirty="0"/>
              <a:t> de type CD4</a:t>
            </a:r>
            <a:r>
              <a:rPr lang="fr-FR" sz="2400" dirty="0"/>
              <a:t>+ (</a:t>
            </a:r>
            <a:r>
              <a:rPr lang="fr-FR" sz="2400" dirty="0" err="1"/>
              <a:t>helper</a:t>
            </a:r>
            <a:r>
              <a:rPr lang="fr-FR" sz="2400" dirty="0"/>
              <a:t>) </a:t>
            </a:r>
          </a:p>
          <a:p>
            <a:pPr marL="0" indent="0">
              <a:buNone/>
            </a:pPr>
            <a:r>
              <a:rPr lang="fr-FR" sz="2400" dirty="0"/>
              <a:t> production  en excès </a:t>
            </a:r>
            <a:r>
              <a:rPr lang="fr-FR" sz="2400" dirty="0"/>
              <a:t>de IL-2 et TNF</a:t>
            </a:r>
            <a:r>
              <a:rPr lang="el-GR" sz="2400" dirty="0"/>
              <a:t>α </a:t>
            </a:r>
            <a:r>
              <a:rPr lang="fr-FR" sz="2400" dirty="0"/>
              <a:t> provoquant une</a:t>
            </a:r>
            <a:r>
              <a:rPr lang="el-GR" sz="2400" dirty="0"/>
              <a:t> </a:t>
            </a:r>
            <a:r>
              <a:rPr lang="fr-FR" sz="2400" dirty="0"/>
              <a:t>réaction inflammatoire </a:t>
            </a:r>
            <a:endParaRPr lang="fr-FR" sz="2400" dirty="0"/>
          </a:p>
          <a:p>
            <a:r>
              <a:rPr lang="fr-FR" sz="2400" dirty="0"/>
              <a:t>Toxine </a:t>
            </a:r>
            <a:r>
              <a:rPr lang="fr-FR" sz="2400" dirty="0"/>
              <a:t>du </a:t>
            </a:r>
            <a:r>
              <a:rPr lang="fr-FR" sz="2400" dirty="0" err="1"/>
              <a:t>Toxic</a:t>
            </a:r>
            <a:r>
              <a:rPr lang="fr-FR" sz="2400" dirty="0"/>
              <a:t> </a:t>
            </a:r>
            <a:r>
              <a:rPr lang="fr-FR" sz="2400" dirty="0" err="1"/>
              <a:t>Shock</a:t>
            </a:r>
            <a:r>
              <a:rPr lang="fr-FR" sz="2400" dirty="0"/>
              <a:t> </a:t>
            </a:r>
            <a:r>
              <a:rPr lang="fr-FR" sz="2400" dirty="0" err="1"/>
              <a:t>Syndrom</a:t>
            </a:r>
            <a:r>
              <a:rPr lang="fr-FR" sz="2400" dirty="0"/>
              <a:t> S. </a:t>
            </a:r>
            <a:r>
              <a:rPr lang="fr-FR" sz="2400" dirty="0"/>
              <a:t>aureus</a:t>
            </a:r>
            <a:endParaRPr lang="fr-FR" sz="2400" dirty="0"/>
          </a:p>
          <a:p>
            <a:r>
              <a:rPr lang="fr-FR" sz="2400" dirty="0"/>
              <a:t>Toxine </a:t>
            </a:r>
            <a:r>
              <a:rPr lang="fr-FR" sz="2400" dirty="0" err="1"/>
              <a:t>pyrogénique</a:t>
            </a:r>
            <a:r>
              <a:rPr lang="fr-FR" sz="2400" dirty="0"/>
              <a:t> streptococcique       Streptocoque A</a:t>
            </a:r>
          </a:p>
        </p:txBody>
      </p:sp>
      <p:pic>
        <p:nvPicPr>
          <p:cNvPr id="4098" name="Picture 2" descr="C:\Users\Mounira\Pictures\90862_174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5600" y="3801428"/>
            <a:ext cx="3024336" cy="2276267"/>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Mounira\Pictures\file_main_image_392_1_scarlatine_392_01_850X560_cache_500x5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8048" y="3650413"/>
            <a:ext cx="2578294" cy="2578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8535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91544" y="274638"/>
            <a:ext cx="8219256" cy="922114"/>
          </a:xfrm>
        </p:spPr>
        <p:txBody>
          <a:bodyPr>
            <a:normAutofit/>
          </a:bodyPr>
          <a:lstStyle/>
          <a:p>
            <a:r>
              <a:rPr lang="fr-FR" sz="2800" b="1" dirty="0">
                <a:solidFill>
                  <a:srgbClr val="0070C0"/>
                </a:solidFill>
              </a:rPr>
              <a:t>Endotoxine </a:t>
            </a:r>
            <a:r>
              <a:rPr lang="fr-FR" sz="2800" b="1" dirty="0">
                <a:solidFill>
                  <a:srgbClr val="FF0000"/>
                </a:solidFill>
              </a:rPr>
              <a:t>de nature LPS</a:t>
            </a:r>
            <a:endParaRPr lang="fr-FR" sz="2800" b="1" dirty="0">
              <a:solidFill>
                <a:srgbClr val="FF0000"/>
              </a:solidFill>
            </a:endParaRPr>
          </a:p>
        </p:txBody>
      </p:sp>
      <p:sp>
        <p:nvSpPr>
          <p:cNvPr id="3" name="Espace réservé du contenu 2"/>
          <p:cNvSpPr>
            <a:spLocks noGrp="1"/>
          </p:cNvSpPr>
          <p:nvPr>
            <p:ph idx="1"/>
          </p:nvPr>
        </p:nvSpPr>
        <p:spPr>
          <a:xfrm>
            <a:off x="1847528" y="1124745"/>
            <a:ext cx="8496944" cy="3195478"/>
          </a:xfrm>
        </p:spPr>
        <p:txBody>
          <a:bodyPr>
            <a:normAutofit/>
          </a:bodyPr>
          <a:lstStyle/>
          <a:p>
            <a:r>
              <a:rPr lang="fr-FR" sz="2200" dirty="0"/>
              <a:t>Les bactéries Gram Négatif ont un </a:t>
            </a:r>
            <a:r>
              <a:rPr lang="fr-FR" sz="2200" b="1" dirty="0">
                <a:solidFill>
                  <a:srgbClr val="FF0000"/>
                </a:solidFill>
              </a:rPr>
              <a:t>LPS</a:t>
            </a:r>
            <a:r>
              <a:rPr lang="fr-FR" sz="2200" b="1" dirty="0"/>
              <a:t> </a:t>
            </a:r>
            <a:r>
              <a:rPr lang="fr-FR" sz="2200" dirty="0"/>
              <a:t>dans la membrane externe de leur paroi, qui dans certaines circonstances , est </a:t>
            </a:r>
            <a:r>
              <a:rPr lang="fr-FR" sz="2200" b="1" dirty="0">
                <a:solidFill>
                  <a:srgbClr val="FF0000"/>
                </a:solidFill>
              </a:rPr>
              <a:t>toxique</a:t>
            </a:r>
            <a:r>
              <a:rPr lang="fr-FR" sz="2200" b="1" dirty="0"/>
              <a:t> </a:t>
            </a:r>
            <a:r>
              <a:rPr lang="fr-FR" sz="2200" dirty="0"/>
              <a:t>pour l’hôtes spécifiques.</a:t>
            </a:r>
          </a:p>
          <a:p>
            <a:pPr marL="0" indent="0">
              <a:buNone/>
            </a:pPr>
            <a:endParaRPr lang="fr-FR" sz="2200" dirty="0"/>
          </a:p>
          <a:p>
            <a:r>
              <a:rPr lang="fr-FR" sz="2200" dirty="0"/>
              <a:t>Ce   LPS est une endotoxine  ( fixé à la bactérie et </a:t>
            </a:r>
            <a:r>
              <a:rPr lang="fr-FR" sz="2200" b="1" dirty="0">
                <a:solidFill>
                  <a:srgbClr val="FF0000"/>
                </a:solidFill>
              </a:rPr>
              <a:t>libéré </a:t>
            </a:r>
            <a:r>
              <a:rPr lang="fr-FR" sz="2200" dirty="0"/>
              <a:t>lorsque celle-ci  </a:t>
            </a:r>
            <a:r>
              <a:rPr lang="fr-FR" sz="2200" b="1" dirty="0">
                <a:solidFill>
                  <a:srgbClr val="FF0000"/>
                </a:solidFill>
              </a:rPr>
              <a:t>se lyse</a:t>
            </a:r>
            <a:r>
              <a:rPr lang="fr-FR" sz="2200" dirty="0"/>
              <a:t>.)</a:t>
            </a:r>
          </a:p>
          <a:p>
            <a:r>
              <a:rPr lang="fr-FR" sz="2200" dirty="0"/>
              <a:t>L’ élément </a:t>
            </a:r>
            <a:r>
              <a:rPr lang="fr-FR" sz="2200" b="1" dirty="0">
                <a:solidFill>
                  <a:srgbClr val="FF0000"/>
                </a:solidFill>
              </a:rPr>
              <a:t>toxique</a:t>
            </a:r>
            <a:r>
              <a:rPr lang="fr-FR" sz="2200" dirty="0"/>
              <a:t> du LPS est le </a:t>
            </a:r>
            <a:r>
              <a:rPr lang="fr-FR" sz="2200" b="1" dirty="0">
                <a:solidFill>
                  <a:srgbClr val="FF0000"/>
                </a:solidFill>
              </a:rPr>
              <a:t>lipide A</a:t>
            </a:r>
            <a:endParaRPr lang="fr-FR" sz="2200" b="1" dirty="0">
              <a:solidFill>
                <a:srgbClr val="FF0000"/>
              </a:solidFill>
            </a:endParaRPr>
          </a:p>
        </p:txBody>
      </p:sp>
      <p:pic>
        <p:nvPicPr>
          <p:cNvPr id="4" name="Picture 2" descr="http://images.slideplayer.fr/1/476607/slides/slide_2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8227" t="11183" b="45161"/>
          <a:stretch/>
        </p:blipFill>
        <p:spPr bwMode="auto">
          <a:xfrm>
            <a:off x="4151784" y="3871214"/>
            <a:ext cx="5040560" cy="2671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4366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130" t="7704" r="7308" b="15625"/>
          <a:stretch/>
        </p:blipFill>
        <p:spPr bwMode="auto">
          <a:xfrm>
            <a:off x="1524000" y="116632"/>
            <a:ext cx="9144000" cy="579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90150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4464" y="1487489"/>
            <a:ext cx="6821487" cy="388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46175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marL="342900" indent="-342900">
              <a:spcBef>
                <a:spcPct val="20000"/>
              </a:spcBef>
            </a:pPr>
            <a:r>
              <a:rPr lang="fr-FR" sz="2500" b="1" dirty="0">
                <a:solidFill>
                  <a:srgbClr val="C00000"/>
                </a:solidFill>
                <a:ea typeface="+mn-ea"/>
                <a:cs typeface="+mn-cs"/>
              </a:rPr>
              <a:t>Etapes </a:t>
            </a:r>
            <a:r>
              <a:rPr lang="fr-FR" sz="2500" b="1" dirty="0">
                <a:solidFill>
                  <a:srgbClr val="C00000"/>
                </a:solidFill>
                <a:ea typeface="+mn-ea"/>
                <a:cs typeface="+mn-cs"/>
              </a:rPr>
              <a:t>du processus infectieux</a:t>
            </a:r>
            <a:br>
              <a:rPr lang="fr-FR" sz="2500" b="1" dirty="0">
                <a:solidFill>
                  <a:srgbClr val="C00000"/>
                </a:solidFill>
                <a:ea typeface="+mn-ea"/>
                <a:cs typeface="+mn-cs"/>
              </a:rPr>
            </a:br>
            <a:endParaRPr lang="fr-FR" sz="2500" b="1" dirty="0">
              <a:solidFill>
                <a:srgbClr val="C00000"/>
              </a:solidFill>
            </a:endParaRPr>
          </a:p>
        </p:txBody>
      </p:sp>
      <p:sp>
        <p:nvSpPr>
          <p:cNvPr id="3" name="Espace réservé du contenu 2"/>
          <p:cNvSpPr>
            <a:spLocks noGrp="1"/>
          </p:cNvSpPr>
          <p:nvPr>
            <p:ph idx="1"/>
          </p:nvPr>
        </p:nvSpPr>
        <p:spPr>
          <a:xfrm>
            <a:off x="1919536" y="1600200"/>
            <a:ext cx="8291264" cy="4925144"/>
          </a:xfrm>
        </p:spPr>
        <p:txBody>
          <a:bodyPr>
            <a:noAutofit/>
          </a:bodyPr>
          <a:lstStyle/>
          <a:p>
            <a:pPr marL="0" indent="0">
              <a:buNone/>
            </a:pPr>
            <a:r>
              <a:rPr lang="fr-FR" sz="2400" dirty="0"/>
              <a:t>1ère </a:t>
            </a:r>
            <a:r>
              <a:rPr lang="fr-FR" sz="2400" dirty="0"/>
              <a:t>étape: Colonisation du revêtement </a:t>
            </a:r>
            <a:r>
              <a:rPr lang="fr-FR" sz="2400" dirty="0" err="1"/>
              <a:t>cutanéo-muqueux</a:t>
            </a:r>
            <a:endParaRPr lang="fr-FR" sz="2400" dirty="0"/>
          </a:p>
          <a:p>
            <a:pPr marL="0" indent="0">
              <a:buNone/>
            </a:pPr>
            <a:r>
              <a:rPr lang="fr-FR" sz="2400" dirty="0"/>
              <a:t>2ème </a:t>
            </a:r>
            <a:r>
              <a:rPr lang="fr-FR" sz="2400" dirty="0"/>
              <a:t>étape: Invasion</a:t>
            </a:r>
          </a:p>
          <a:p>
            <a:pPr marL="0" indent="0">
              <a:buNone/>
            </a:pPr>
            <a:r>
              <a:rPr lang="fr-FR" sz="2400" dirty="0"/>
              <a:t>– Franchissement de barrière </a:t>
            </a:r>
            <a:r>
              <a:rPr lang="fr-FR" sz="2400" dirty="0" err="1"/>
              <a:t>cutanéo-muqueuse</a:t>
            </a:r>
            <a:endParaRPr lang="fr-FR" sz="2400" dirty="0"/>
          </a:p>
          <a:p>
            <a:pPr marL="0" indent="0">
              <a:buNone/>
            </a:pPr>
            <a:r>
              <a:rPr lang="fr-FR" sz="2400" dirty="0"/>
              <a:t>– Inflammation au niveau de porte d’entrée </a:t>
            </a:r>
          </a:p>
          <a:p>
            <a:pPr marL="0" indent="0">
              <a:buNone/>
            </a:pPr>
            <a:r>
              <a:rPr lang="fr-FR" sz="2400" dirty="0"/>
              <a:t>(secondaire à multiplication bactérienne)</a:t>
            </a:r>
          </a:p>
          <a:p>
            <a:pPr marL="0" indent="0">
              <a:buNone/>
            </a:pPr>
            <a:r>
              <a:rPr lang="fr-FR" sz="2400" dirty="0"/>
              <a:t>⇒⇒⇒⇒ Infection </a:t>
            </a:r>
            <a:r>
              <a:rPr lang="fr-FR" sz="2400" dirty="0"/>
              <a:t>localisée +/-</a:t>
            </a:r>
            <a:endParaRPr lang="fr-FR" sz="2400" dirty="0"/>
          </a:p>
          <a:p>
            <a:pPr marL="0" indent="0">
              <a:buNone/>
            </a:pPr>
            <a:r>
              <a:rPr lang="fr-FR" sz="2400" dirty="0"/>
              <a:t>3ème </a:t>
            </a:r>
            <a:r>
              <a:rPr lang="fr-FR" sz="2400" dirty="0"/>
              <a:t>étape: Dissémination de bactérie </a:t>
            </a:r>
            <a:r>
              <a:rPr lang="fr-FR" sz="2400" dirty="0"/>
              <a:t>à partir </a:t>
            </a:r>
            <a:r>
              <a:rPr lang="fr-FR" sz="2400" dirty="0"/>
              <a:t>de porte d’entrée</a:t>
            </a:r>
          </a:p>
          <a:p>
            <a:pPr marL="0" indent="0">
              <a:buNone/>
            </a:pPr>
            <a:r>
              <a:rPr lang="fr-FR" sz="2400" dirty="0"/>
              <a:t>– Dissémination par voie sanguine ou lymphatique</a:t>
            </a:r>
          </a:p>
          <a:p>
            <a:pPr marL="0" indent="0">
              <a:buNone/>
            </a:pPr>
            <a:r>
              <a:rPr lang="fr-FR" sz="2400" dirty="0"/>
              <a:t>– Localisation secondaires: métastases septiques </a:t>
            </a:r>
          </a:p>
          <a:p>
            <a:pPr marL="0" indent="0">
              <a:buNone/>
            </a:pPr>
            <a:r>
              <a:rPr lang="fr-FR" sz="2400" dirty="0"/>
              <a:t>– Sepsis (infection généralisée</a:t>
            </a:r>
            <a:r>
              <a:rPr lang="fr-FR" sz="2400" dirty="0"/>
              <a:t>)</a:t>
            </a:r>
          </a:p>
          <a:p>
            <a:pPr marL="0" indent="0">
              <a:buNone/>
            </a:pPr>
            <a:r>
              <a:rPr lang="fr-FR" sz="2400" dirty="0"/>
              <a:t>-atteinte d’organes secondaires</a:t>
            </a:r>
            <a:endParaRPr lang="fr-FR" sz="2400" dirty="0"/>
          </a:p>
        </p:txBody>
      </p:sp>
    </p:spTree>
    <p:extLst>
      <p:ext uri="{BB962C8B-B14F-4D97-AF65-F5344CB8AC3E}">
        <p14:creationId xmlns:p14="http://schemas.microsoft.com/office/powerpoint/2010/main" val="35303783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88640"/>
            <a:ext cx="8686800" cy="1228998"/>
          </a:xfrm>
        </p:spPr>
        <p:txBody>
          <a:bodyPr>
            <a:noAutofit/>
          </a:bodyPr>
          <a:lstStyle/>
          <a:p>
            <a:pPr algn="l"/>
            <a:r>
              <a:rPr lang="fr-FR" sz="2800" b="1" dirty="0">
                <a:solidFill>
                  <a:srgbClr val="C00000"/>
                </a:solidFill>
              </a:rPr>
              <a:t>III- Moyens de défense de hôte contre l’infection bactérienne</a:t>
            </a:r>
            <a:endParaRPr lang="fr-FR" sz="2800" dirty="0">
              <a:solidFill>
                <a:srgbClr val="C00000"/>
              </a:solidFill>
            </a:endParaRPr>
          </a:p>
        </p:txBody>
      </p:sp>
      <p:sp>
        <p:nvSpPr>
          <p:cNvPr id="3" name="Espace réservé du contenu 2"/>
          <p:cNvSpPr>
            <a:spLocks noGrp="1"/>
          </p:cNvSpPr>
          <p:nvPr>
            <p:ph idx="1"/>
          </p:nvPr>
        </p:nvSpPr>
        <p:spPr>
          <a:xfrm>
            <a:off x="1991544" y="1556793"/>
            <a:ext cx="8472518" cy="4554551"/>
          </a:xfrm>
        </p:spPr>
        <p:txBody>
          <a:bodyPr/>
          <a:lstStyle/>
          <a:p>
            <a:endParaRPr lang="fr-FR" b="1" dirty="0">
              <a:solidFill>
                <a:srgbClr val="C00000"/>
              </a:solidFill>
            </a:endParaRPr>
          </a:p>
          <a:p>
            <a:pPr>
              <a:buNone/>
            </a:pPr>
            <a:r>
              <a:rPr lang="fr-FR" sz="2400" b="1" dirty="0">
                <a:solidFill>
                  <a:srgbClr val="C00000"/>
                </a:solidFill>
              </a:rPr>
              <a:t>III.1- </a:t>
            </a:r>
            <a:r>
              <a:rPr lang="fr-FR" b="1" dirty="0">
                <a:solidFill>
                  <a:srgbClr val="C00000"/>
                </a:solidFill>
              </a:rPr>
              <a:t> </a:t>
            </a:r>
            <a:r>
              <a:rPr lang="fr-FR" sz="2400" b="1" dirty="0">
                <a:solidFill>
                  <a:srgbClr val="C00000"/>
                </a:solidFill>
              </a:rPr>
              <a:t>Immunité  non spécifiques ( </a:t>
            </a:r>
            <a:r>
              <a:rPr lang="fr-FR" sz="2400" b="1" u="sng" dirty="0">
                <a:solidFill>
                  <a:srgbClr val="C00000"/>
                </a:solidFill>
              </a:rPr>
              <a:t>Défense générale</a:t>
            </a:r>
            <a:r>
              <a:rPr lang="fr-FR" sz="2400" b="1" dirty="0">
                <a:solidFill>
                  <a:srgbClr val="C00000"/>
                </a:solidFill>
              </a:rPr>
              <a:t>)</a:t>
            </a:r>
          </a:p>
          <a:p>
            <a:pPr>
              <a:buNone/>
            </a:pPr>
            <a:r>
              <a:rPr lang="fr-FR" sz="2400" b="1" dirty="0"/>
              <a:t>             </a:t>
            </a:r>
            <a:r>
              <a:rPr lang="fr-FR" sz="2400" b="1" dirty="0"/>
              <a:t>A</a:t>
            </a:r>
            <a:r>
              <a:rPr lang="fr-FR" sz="2400" b="1" dirty="0"/>
              <a:t>-Barrières </a:t>
            </a:r>
            <a:r>
              <a:rPr lang="fr-FR" sz="2400" b="1" dirty="0" err="1"/>
              <a:t>cutanéo-muqueuses</a:t>
            </a:r>
            <a:endParaRPr lang="fr-FR" sz="2400" b="1" dirty="0"/>
          </a:p>
          <a:p>
            <a:pPr>
              <a:buNone/>
            </a:pPr>
            <a:r>
              <a:rPr lang="fr-FR" sz="2400" b="1" dirty="0"/>
              <a:t>             B- Réaction inflammatoire ou Immunité innée</a:t>
            </a:r>
          </a:p>
          <a:p>
            <a:pPr>
              <a:buNone/>
            </a:pPr>
            <a:endParaRPr lang="fr-FR" sz="2400" b="1" dirty="0"/>
          </a:p>
          <a:p>
            <a:pPr>
              <a:buNone/>
            </a:pPr>
            <a:endParaRPr lang="fr-FR" sz="2400" b="1" dirty="0"/>
          </a:p>
          <a:p>
            <a:pPr>
              <a:buNone/>
            </a:pPr>
            <a:r>
              <a:rPr lang="fr-FR" sz="2400" b="1" dirty="0">
                <a:solidFill>
                  <a:srgbClr val="C00000"/>
                </a:solidFill>
              </a:rPr>
              <a:t>III.2-Immunité acquise spécifique: </a:t>
            </a:r>
            <a:r>
              <a:rPr lang="fr-FR" sz="2400" b="1" u="sng" dirty="0">
                <a:solidFill>
                  <a:srgbClr val="C00000"/>
                </a:solidFill>
              </a:rPr>
              <a:t>Défense ciblée </a:t>
            </a:r>
            <a:r>
              <a:rPr lang="fr-FR" sz="2400" b="1" dirty="0"/>
              <a:t>sur un type de bactérie: </a:t>
            </a:r>
            <a:r>
              <a:rPr lang="fr-FR" sz="2400" b="1" dirty="0">
                <a:solidFill>
                  <a:srgbClr val="002060"/>
                </a:solidFill>
              </a:rPr>
              <a:t>Immunité acquise spécifique</a:t>
            </a:r>
            <a:endParaRPr lang="fr-FR" sz="2400" dirty="0">
              <a:solidFill>
                <a:srgbClr val="002060"/>
              </a:solidFill>
            </a:endParaRPr>
          </a:p>
        </p:txBody>
      </p:sp>
    </p:spTree>
    <p:extLst>
      <p:ext uri="{BB962C8B-B14F-4D97-AF65-F5344CB8AC3E}">
        <p14:creationId xmlns:p14="http://schemas.microsoft.com/office/powerpoint/2010/main" val="3180572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FR" sz="2800" b="1" dirty="0">
                <a:solidFill>
                  <a:srgbClr val="C00000"/>
                </a:solidFill>
              </a:rPr>
              <a:t>III.1- Immunité non spécifique</a:t>
            </a:r>
            <a:endParaRPr lang="fr-FR" sz="2800" b="1" dirty="0">
              <a:solidFill>
                <a:srgbClr val="C00000"/>
              </a:solidFill>
            </a:endParaRPr>
          </a:p>
        </p:txBody>
      </p:sp>
      <p:sp>
        <p:nvSpPr>
          <p:cNvPr id="3" name="Espace réservé du contenu 2"/>
          <p:cNvSpPr>
            <a:spLocks noGrp="1"/>
          </p:cNvSpPr>
          <p:nvPr>
            <p:ph idx="1"/>
          </p:nvPr>
        </p:nvSpPr>
        <p:spPr/>
        <p:txBody>
          <a:bodyPr>
            <a:normAutofit/>
          </a:bodyPr>
          <a:lstStyle/>
          <a:p>
            <a:pPr algn="ctr">
              <a:buNone/>
            </a:pPr>
            <a:r>
              <a:rPr lang="fr-FR" b="1" dirty="0"/>
              <a:t>A- Barrières cutanéo-muqueuses</a:t>
            </a:r>
          </a:p>
          <a:p>
            <a:pPr>
              <a:buNone/>
            </a:pPr>
            <a:r>
              <a:rPr lang="fr-FR" dirty="0" smtClean="0"/>
              <a:t> </a:t>
            </a:r>
            <a:r>
              <a:rPr lang="fr-FR" sz="2600" b="1" dirty="0"/>
              <a:t>Première ligne de défense</a:t>
            </a:r>
          </a:p>
          <a:p>
            <a:pPr>
              <a:buNone/>
            </a:pPr>
            <a:r>
              <a:rPr lang="fr-FR" sz="2600" dirty="0"/>
              <a:t> </a:t>
            </a:r>
            <a:r>
              <a:rPr lang="fr-FR" sz="2600" b="1" dirty="0"/>
              <a:t>But: Empêcher l’implantation des bactéries. pathogènes</a:t>
            </a:r>
            <a:r>
              <a:rPr lang="fr-FR" sz="2600" dirty="0"/>
              <a:t> </a:t>
            </a:r>
            <a:r>
              <a:rPr lang="fr-FR" sz="2600" b="1" dirty="0"/>
              <a:t>Rôle primordial des épithéliums</a:t>
            </a:r>
          </a:p>
          <a:p>
            <a:pPr>
              <a:buNone/>
            </a:pPr>
            <a:endParaRPr lang="fr-FR" b="1" dirty="0" smtClean="0"/>
          </a:p>
        </p:txBody>
      </p:sp>
      <p:pic>
        <p:nvPicPr>
          <p:cNvPr id="4" name="Image 3"/>
          <p:cNvPicPr/>
          <p:nvPr/>
        </p:nvPicPr>
        <p:blipFill>
          <a:blip r:embed="rId2" cstate="print"/>
          <a:srcRect l="11927" t="40523" r="17478" b="28525"/>
          <a:stretch>
            <a:fillRect/>
          </a:stretch>
        </p:blipFill>
        <p:spPr bwMode="auto">
          <a:xfrm>
            <a:off x="2809852" y="3929066"/>
            <a:ext cx="5429288" cy="1928826"/>
          </a:xfrm>
          <a:prstGeom prst="rect">
            <a:avLst/>
          </a:prstGeom>
          <a:noFill/>
          <a:ln w="9525">
            <a:noFill/>
            <a:miter lim="800000"/>
            <a:headEnd/>
            <a:tailEnd/>
          </a:ln>
        </p:spPr>
      </p:pic>
      <p:sp>
        <p:nvSpPr>
          <p:cNvPr id="5" name="Rectangle 4"/>
          <p:cNvSpPr/>
          <p:nvPr/>
        </p:nvSpPr>
        <p:spPr>
          <a:xfrm>
            <a:off x="8453454" y="4572008"/>
            <a:ext cx="1971502" cy="369332"/>
          </a:xfrm>
          <a:prstGeom prst="rect">
            <a:avLst/>
          </a:prstGeom>
        </p:spPr>
        <p:txBody>
          <a:bodyPr wrap="none">
            <a:spAutoFit/>
          </a:bodyPr>
          <a:lstStyle/>
          <a:p>
            <a:r>
              <a:rPr lang="fr-FR" b="1" dirty="0"/>
              <a:t>Peau / Muqueuses</a:t>
            </a:r>
            <a:endParaRPr lang="fr-FR" dirty="0"/>
          </a:p>
        </p:txBody>
      </p:sp>
    </p:spTree>
    <p:extLst>
      <p:ext uri="{BB962C8B-B14F-4D97-AF65-F5344CB8AC3E}">
        <p14:creationId xmlns:p14="http://schemas.microsoft.com/office/powerpoint/2010/main" val="1729766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81158" y="274638"/>
            <a:ext cx="8329642" cy="796908"/>
          </a:xfrm>
        </p:spPr>
        <p:txBody>
          <a:bodyPr>
            <a:normAutofit/>
          </a:bodyPr>
          <a:lstStyle/>
          <a:p>
            <a:r>
              <a:rPr lang="fr-FR" sz="2800" b="1" dirty="0"/>
              <a:t>Barrière cutanéo-muqueuses</a:t>
            </a:r>
            <a:endParaRPr lang="fr-FR" sz="2800" b="1" dirty="0"/>
          </a:p>
        </p:txBody>
      </p:sp>
      <p:pic>
        <p:nvPicPr>
          <p:cNvPr id="3075" name="Picture 3"/>
          <p:cNvPicPr>
            <a:picLocks noGrp="1" noChangeAspect="1" noChangeArrowheads="1"/>
          </p:cNvPicPr>
          <p:nvPr>
            <p:ph idx="1"/>
          </p:nvPr>
        </p:nvPicPr>
        <p:blipFill>
          <a:blip r:embed="rId2" cstate="print"/>
          <a:srcRect l="7584" t="23045" r="8700" b="15397"/>
          <a:stretch>
            <a:fillRect/>
          </a:stretch>
        </p:blipFill>
        <p:spPr bwMode="auto">
          <a:xfrm>
            <a:off x="2128444" y="2214555"/>
            <a:ext cx="7396581" cy="3846222"/>
          </a:xfrm>
          <a:prstGeom prst="rect">
            <a:avLst/>
          </a:prstGeom>
          <a:noFill/>
          <a:ln w="9525">
            <a:noFill/>
            <a:miter lim="800000"/>
            <a:headEnd/>
            <a:tailEnd/>
          </a:ln>
          <a:effectLst/>
        </p:spPr>
      </p:pic>
      <p:sp>
        <p:nvSpPr>
          <p:cNvPr id="7" name="ZoneTexte 6"/>
          <p:cNvSpPr txBox="1"/>
          <p:nvPr/>
        </p:nvSpPr>
        <p:spPr>
          <a:xfrm>
            <a:off x="7739074" y="6091312"/>
            <a:ext cx="2478760" cy="338554"/>
          </a:xfrm>
          <a:prstGeom prst="rect">
            <a:avLst/>
          </a:prstGeom>
          <a:noFill/>
        </p:spPr>
        <p:txBody>
          <a:bodyPr wrap="square" rtlCol="0">
            <a:spAutoFit/>
          </a:bodyPr>
          <a:lstStyle/>
          <a:p>
            <a:r>
              <a:rPr lang="fr-FR" sz="1600" b="1" dirty="0" err="1"/>
              <a:t>S.Charachon</a:t>
            </a:r>
            <a:r>
              <a:rPr lang="fr-FR" sz="1600" b="1" dirty="0"/>
              <a:t> 2008</a:t>
            </a:r>
            <a:endParaRPr lang="fr-FR" sz="1600" b="1" dirty="0"/>
          </a:p>
        </p:txBody>
      </p:sp>
      <p:sp>
        <p:nvSpPr>
          <p:cNvPr id="8" name="ZoneTexte 7"/>
          <p:cNvSpPr txBox="1"/>
          <p:nvPr/>
        </p:nvSpPr>
        <p:spPr>
          <a:xfrm>
            <a:off x="3524232" y="1214422"/>
            <a:ext cx="5000660" cy="523220"/>
          </a:xfrm>
          <a:prstGeom prst="rect">
            <a:avLst/>
          </a:prstGeom>
          <a:noFill/>
        </p:spPr>
        <p:txBody>
          <a:bodyPr wrap="square" rtlCol="0">
            <a:spAutoFit/>
          </a:bodyPr>
          <a:lstStyle/>
          <a:p>
            <a:pPr marL="457200" indent="-457200" algn="ctr">
              <a:buFont typeface="Wingdings" panose="05000000000000000000" pitchFamily="2" charset="2"/>
              <a:buChar char="§"/>
            </a:pPr>
            <a:r>
              <a:rPr lang="fr-FR" sz="2800" b="1" dirty="0">
                <a:solidFill>
                  <a:srgbClr val="C00000"/>
                </a:solidFill>
              </a:rPr>
              <a:t>Barrière Physique</a:t>
            </a:r>
            <a:endParaRPr lang="fr-FR" sz="2800" b="1" dirty="0">
              <a:solidFill>
                <a:srgbClr val="C00000"/>
              </a:solidFill>
            </a:endParaRPr>
          </a:p>
        </p:txBody>
      </p:sp>
    </p:spTree>
    <p:extLst>
      <p:ext uri="{BB962C8B-B14F-4D97-AF65-F5344CB8AC3E}">
        <p14:creationId xmlns:p14="http://schemas.microsoft.com/office/powerpoint/2010/main" val="4810223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marL="457200" indent="-457200">
              <a:buFont typeface="Wingdings" panose="05000000000000000000" pitchFamily="2" charset="2"/>
              <a:buChar char="§"/>
            </a:pPr>
            <a:r>
              <a:rPr lang="fr-FR" sz="2800" b="1" dirty="0">
                <a:solidFill>
                  <a:srgbClr val="C00000"/>
                </a:solidFill>
              </a:rPr>
              <a:t>Barrière  chimique</a:t>
            </a:r>
            <a:br>
              <a:rPr lang="fr-FR" sz="2800" b="1" dirty="0">
                <a:solidFill>
                  <a:srgbClr val="C00000"/>
                </a:solidFill>
              </a:rPr>
            </a:br>
            <a:endParaRPr lang="fr-FR" sz="2800" dirty="0">
              <a:solidFill>
                <a:srgbClr val="C00000"/>
              </a:solidFill>
            </a:endParaRPr>
          </a:p>
        </p:txBody>
      </p:sp>
      <p:sp>
        <p:nvSpPr>
          <p:cNvPr id="3" name="Espace réservé du contenu 2"/>
          <p:cNvSpPr>
            <a:spLocks noGrp="1"/>
          </p:cNvSpPr>
          <p:nvPr>
            <p:ph idx="1"/>
          </p:nvPr>
        </p:nvSpPr>
        <p:spPr/>
        <p:txBody>
          <a:bodyPr>
            <a:normAutofit lnSpcReduction="10000"/>
          </a:bodyPr>
          <a:lstStyle/>
          <a:p>
            <a:r>
              <a:rPr lang="fr-FR" sz="2200" b="1" dirty="0">
                <a:solidFill>
                  <a:srgbClr val="C00000"/>
                </a:solidFill>
              </a:rPr>
              <a:t>Peau:</a:t>
            </a:r>
          </a:p>
          <a:p>
            <a:pPr>
              <a:buNone/>
            </a:pPr>
            <a:r>
              <a:rPr lang="fr-FR" sz="2200" b="1" dirty="0"/>
              <a:t>-  pH acide et sécheresse</a:t>
            </a:r>
          </a:p>
          <a:p>
            <a:pPr marL="0" indent="0">
              <a:buNone/>
            </a:pPr>
            <a:r>
              <a:rPr lang="fr-FR" sz="2200" b="1" dirty="0"/>
              <a:t> La présence  </a:t>
            </a:r>
            <a:r>
              <a:rPr lang="fr-FR" sz="2200" b="1" dirty="0">
                <a:solidFill>
                  <a:srgbClr val="00B050"/>
                </a:solidFill>
              </a:rPr>
              <a:t>d’acides gras </a:t>
            </a:r>
            <a:r>
              <a:rPr lang="fr-FR" sz="2200" b="1" dirty="0"/>
              <a:t>(lipides toxique et de </a:t>
            </a:r>
            <a:r>
              <a:rPr lang="fr-FR" sz="2200" b="1" dirty="0" err="1"/>
              <a:t>lysosyme</a:t>
            </a:r>
            <a:r>
              <a:rPr lang="fr-FR" sz="2200" b="1" dirty="0"/>
              <a:t> )  dans les </a:t>
            </a:r>
            <a:r>
              <a:rPr lang="fr-FR" sz="2200" b="1" dirty="0">
                <a:solidFill>
                  <a:srgbClr val="00B050"/>
                </a:solidFill>
              </a:rPr>
              <a:t>sécrétions des glandes sébacées et sudoripares </a:t>
            </a:r>
            <a:r>
              <a:rPr lang="fr-FR" sz="2200" b="1" dirty="0"/>
              <a:t>entraîne  l’inhibition de certaines bactéries et de certains champignons</a:t>
            </a:r>
          </a:p>
          <a:p>
            <a:pPr>
              <a:buNone/>
            </a:pPr>
            <a:endParaRPr lang="fr-FR" sz="2200" b="1" dirty="0"/>
          </a:p>
          <a:p>
            <a:pPr>
              <a:buNone/>
            </a:pPr>
            <a:r>
              <a:rPr lang="fr-FR" sz="2200" dirty="0">
                <a:solidFill>
                  <a:srgbClr val="C00000"/>
                </a:solidFill>
              </a:rPr>
              <a:t>• </a:t>
            </a:r>
            <a:r>
              <a:rPr lang="fr-FR" sz="2200" b="1" dirty="0">
                <a:solidFill>
                  <a:srgbClr val="C00000"/>
                </a:solidFill>
              </a:rPr>
              <a:t>Muqueuses:</a:t>
            </a:r>
          </a:p>
          <a:p>
            <a:pPr>
              <a:buNone/>
            </a:pPr>
            <a:r>
              <a:rPr lang="fr-FR" sz="2200" b="1" dirty="0"/>
              <a:t>- pH acide: estomac, urine, vagin</a:t>
            </a:r>
          </a:p>
          <a:p>
            <a:pPr>
              <a:buFontTx/>
              <a:buChar char="-"/>
            </a:pPr>
            <a:r>
              <a:rPr lang="fr-FR" sz="2200" b="1" dirty="0"/>
              <a:t>Sécrétions de produits </a:t>
            </a:r>
            <a:r>
              <a:rPr lang="fr-FR" sz="2200" b="1" dirty="0" err="1"/>
              <a:t>anti-bactériens</a:t>
            </a:r>
            <a:r>
              <a:rPr lang="fr-FR" sz="2200" b="1" dirty="0"/>
              <a:t> dans le mucus: lysozyme, lactoferrine, peptides toxiques ou </a:t>
            </a:r>
            <a:r>
              <a:rPr lang="fr-FR" sz="2200" b="1" dirty="0" err="1"/>
              <a:t>défensines</a:t>
            </a:r>
            <a:r>
              <a:rPr lang="fr-FR" sz="2200" b="1" dirty="0"/>
              <a:t>, </a:t>
            </a:r>
            <a:r>
              <a:rPr lang="fr-FR" sz="2200" b="1" dirty="0" err="1"/>
              <a:t>IgA</a:t>
            </a:r>
            <a:r>
              <a:rPr lang="fr-FR" sz="2200" b="1" dirty="0"/>
              <a:t> sécrétoires.</a:t>
            </a:r>
          </a:p>
          <a:p>
            <a:pPr>
              <a:buFontTx/>
              <a:buChar char="-"/>
            </a:pPr>
            <a:r>
              <a:rPr lang="fr-FR" sz="2200" b="1" dirty="0"/>
              <a:t>Ex: Les sécrétions lacrymales contiennent une enzyme: le </a:t>
            </a:r>
            <a:r>
              <a:rPr lang="fr-FR" sz="2200" b="1" dirty="0" err="1"/>
              <a:t>lysosyme</a:t>
            </a:r>
            <a:r>
              <a:rPr lang="fr-FR" sz="2200" b="1" dirty="0"/>
              <a:t> actif contre  la paroi des Bactéries à Gram positif.</a:t>
            </a:r>
            <a:endParaRPr lang="fr-FR" sz="2200" dirty="0"/>
          </a:p>
        </p:txBody>
      </p:sp>
    </p:spTree>
    <p:extLst>
      <p:ext uri="{BB962C8B-B14F-4D97-AF65-F5344CB8AC3E}">
        <p14:creationId xmlns:p14="http://schemas.microsoft.com/office/powerpoint/2010/main" val="34056389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24232" y="142852"/>
            <a:ext cx="5900750" cy="785818"/>
          </a:xfrm>
        </p:spPr>
        <p:txBody>
          <a:bodyPr>
            <a:normAutofit/>
          </a:bodyPr>
          <a:lstStyle/>
          <a:p>
            <a:pPr marL="457200" indent="-457200">
              <a:buFont typeface="Wingdings" panose="05000000000000000000" pitchFamily="2" charset="2"/>
              <a:buChar char="§"/>
            </a:pPr>
            <a:r>
              <a:rPr lang="fr-FR" sz="2800" b="1" dirty="0">
                <a:solidFill>
                  <a:srgbClr val="C00000"/>
                </a:solidFill>
              </a:rPr>
              <a:t>Barrière biologique </a:t>
            </a:r>
            <a:endParaRPr lang="fr-FR" dirty="0"/>
          </a:p>
        </p:txBody>
      </p:sp>
      <p:pic>
        <p:nvPicPr>
          <p:cNvPr id="4098" name="Picture 2" descr="C:\Users\hp\Pictures\flore_10 (1).jpg"/>
          <p:cNvPicPr>
            <a:picLocks noGrp="1" noChangeAspect="1" noChangeArrowheads="1"/>
          </p:cNvPicPr>
          <p:nvPr>
            <p:ph idx="1"/>
          </p:nvPr>
        </p:nvPicPr>
        <p:blipFill>
          <a:blip r:embed="rId2" cstate="print"/>
          <a:srcRect l="1653" t="9639" r="1074"/>
          <a:stretch>
            <a:fillRect/>
          </a:stretch>
        </p:blipFill>
        <p:spPr bwMode="auto">
          <a:xfrm>
            <a:off x="1881158" y="836713"/>
            <a:ext cx="5799018" cy="5877419"/>
          </a:xfrm>
          <a:prstGeom prst="rect">
            <a:avLst/>
          </a:prstGeom>
          <a:noFill/>
        </p:spPr>
      </p:pic>
      <p:sp>
        <p:nvSpPr>
          <p:cNvPr id="6" name="Rectangle 5"/>
          <p:cNvSpPr/>
          <p:nvPr/>
        </p:nvSpPr>
        <p:spPr>
          <a:xfrm>
            <a:off x="7752184" y="1643050"/>
            <a:ext cx="2664296" cy="2646878"/>
          </a:xfrm>
          <a:prstGeom prst="rect">
            <a:avLst/>
          </a:prstGeom>
        </p:spPr>
        <p:txBody>
          <a:bodyPr wrap="square">
            <a:spAutoFit/>
          </a:bodyPr>
          <a:lstStyle/>
          <a:p>
            <a:pPr>
              <a:buNone/>
            </a:pPr>
            <a:r>
              <a:rPr lang="fr-FR" sz="2000" b="1" dirty="0">
                <a:solidFill>
                  <a:srgbClr val="FF0000"/>
                </a:solidFill>
              </a:rPr>
              <a:t>Flores commensales</a:t>
            </a:r>
          </a:p>
          <a:p>
            <a:r>
              <a:rPr lang="en-US" sz="1600" b="1" dirty="0"/>
              <a:t>Chez </a:t>
            </a:r>
            <a:r>
              <a:rPr lang="en-US" sz="1600" b="1" dirty="0" err="1"/>
              <a:t>l’Homme</a:t>
            </a:r>
            <a:r>
              <a:rPr lang="en-US" sz="1600" b="1" dirty="0"/>
              <a:t> :</a:t>
            </a:r>
          </a:p>
          <a:p>
            <a:endParaRPr lang="en-US" b="1" dirty="0"/>
          </a:p>
          <a:p>
            <a:r>
              <a:rPr lang="en-US" sz="1600" b="1" dirty="0" err="1"/>
              <a:t>Peau</a:t>
            </a:r>
            <a:r>
              <a:rPr lang="en-US" sz="1600" b="1" dirty="0"/>
              <a:t> </a:t>
            </a:r>
            <a:r>
              <a:rPr lang="en-US" sz="1600" dirty="0"/>
              <a:t>:10 </a:t>
            </a:r>
            <a:r>
              <a:rPr lang="en-US" sz="1600" baseline="30000" dirty="0"/>
              <a:t>12    </a:t>
            </a:r>
            <a:r>
              <a:rPr lang="en-US" sz="1600" dirty="0" err="1"/>
              <a:t>Bactéries</a:t>
            </a:r>
            <a:endParaRPr lang="en-US" sz="1600" dirty="0"/>
          </a:p>
          <a:p>
            <a:r>
              <a:rPr lang="en-US" sz="1600" b="1" dirty="0" err="1"/>
              <a:t>Bouche</a:t>
            </a:r>
            <a:r>
              <a:rPr lang="en-US" sz="1600" dirty="0"/>
              <a:t> :10 </a:t>
            </a:r>
            <a:r>
              <a:rPr lang="en-US" sz="1600" baseline="30000" dirty="0"/>
              <a:t>10</a:t>
            </a:r>
            <a:r>
              <a:rPr lang="en-US" sz="1600" dirty="0"/>
              <a:t> </a:t>
            </a:r>
            <a:r>
              <a:rPr lang="en-US" sz="1600" dirty="0" err="1"/>
              <a:t>Bactéries</a:t>
            </a:r>
            <a:endParaRPr lang="en-US" sz="1600" dirty="0"/>
          </a:p>
          <a:p>
            <a:r>
              <a:rPr lang="en-US" sz="1600" dirty="0"/>
              <a:t> </a:t>
            </a:r>
            <a:r>
              <a:rPr lang="en-US" sz="1600" b="1" dirty="0"/>
              <a:t>TD: </a:t>
            </a:r>
            <a:r>
              <a:rPr lang="en-US" sz="1600" dirty="0"/>
              <a:t>10 </a:t>
            </a:r>
            <a:r>
              <a:rPr lang="en-US" sz="1600" baseline="30000" dirty="0"/>
              <a:t>12</a:t>
            </a:r>
            <a:r>
              <a:rPr lang="en-US" sz="1600" dirty="0"/>
              <a:t>  </a:t>
            </a:r>
            <a:r>
              <a:rPr lang="en-US" sz="1600" dirty="0" err="1"/>
              <a:t>organismes</a:t>
            </a:r>
            <a:r>
              <a:rPr lang="en-US" sz="1600" dirty="0"/>
              <a:t> ( </a:t>
            </a:r>
            <a:r>
              <a:rPr lang="en-US" sz="1600" dirty="0" err="1"/>
              <a:t>bactéries</a:t>
            </a:r>
            <a:r>
              <a:rPr lang="en-US" sz="1600" dirty="0"/>
              <a:t> , </a:t>
            </a:r>
            <a:r>
              <a:rPr lang="en-US" sz="1600" dirty="0" err="1"/>
              <a:t>levures</a:t>
            </a:r>
            <a:r>
              <a:rPr lang="en-US" sz="1600" dirty="0"/>
              <a:t> ) par  </a:t>
            </a:r>
            <a:r>
              <a:rPr lang="en-US" sz="1600" dirty="0" err="1"/>
              <a:t>gramme</a:t>
            </a:r>
            <a:r>
              <a:rPr lang="en-US" sz="1600" dirty="0"/>
              <a:t> de </a:t>
            </a:r>
            <a:r>
              <a:rPr lang="en-US" sz="1600" dirty="0" err="1"/>
              <a:t>poids</a:t>
            </a:r>
            <a:r>
              <a:rPr lang="en-US" sz="1600" dirty="0"/>
              <a:t> </a:t>
            </a:r>
            <a:r>
              <a:rPr lang="en-US" sz="1600" dirty="0" err="1"/>
              <a:t>humide</a:t>
            </a:r>
            <a:endParaRPr lang="en-US" sz="1600" dirty="0"/>
          </a:p>
          <a:p>
            <a:r>
              <a:rPr lang="en-US" sz="1600" dirty="0"/>
              <a:t>( 400 </a:t>
            </a:r>
            <a:r>
              <a:rPr lang="en-US" sz="1600" dirty="0" err="1"/>
              <a:t>espèces</a:t>
            </a:r>
            <a:r>
              <a:rPr lang="en-US" sz="1600" dirty="0"/>
              <a:t> </a:t>
            </a:r>
            <a:r>
              <a:rPr lang="en-US" sz="1600" dirty="0" err="1"/>
              <a:t>bactériennes</a:t>
            </a:r>
            <a:r>
              <a:rPr lang="en-US" sz="1600" dirty="0"/>
              <a:t> </a:t>
            </a:r>
            <a:r>
              <a:rPr lang="en-US" sz="1600" dirty="0" err="1"/>
              <a:t>différentes</a:t>
            </a:r>
            <a:r>
              <a:rPr lang="en-US" sz="1600" dirty="0"/>
              <a:t>)</a:t>
            </a:r>
          </a:p>
        </p:txBody>
      </p:sp>
      <p:sp>
        <p:nvSpPr>
          <p:cNvPr id="3" name="ZoneTexte 2"/>
          <p:cNvSpPr txBox="1"/>
          <p:nvPr/>
        </p:nvSpPr>
        <p:spPr>
          <a:xfrm>
            <a:off x="7896200" y="4869161"/>
            <a:ext cx="2664296" cy="1200329"/>
          </a:xfrm>
          <a:prstGeom prst="rect">
            <a:avLst/>
          </a:prstGeom>
          <a:noFill/>
        </p:spPr>
        <p:txBody>
          <a:bodyPr wrap="square" rtlCol="0">
            <a:spAutoFit/>
          </a:bodyPr>
          <a:lstStyle/>
          <a:p>
            <a:r>
              <a:rPr lang="fr-FR" dirty="0"/>
              <a:t>Les bactéries commensales  inhibent la croissance de bactéries pathogènes</a:t>
            </a:r>
            <a:endParaRPr lang="fr-FR" dirty="0"/>
          </a:p>
        </p:txBody>
      </p:sp>
    </p:spTree>
    <p:extLst>
      <p:ext uri="{BB962C8B-B14F-4D97-AF65-F5344CB8AC3E}">
        <p14:creationId xmlns:p14="http://schemas.microsoft.com/office/powerpoint/2010/main" val="6159149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6257940" cy="1011222"/>
          </a:xfrm>
        </p:spPr>
        <p:txBody>
          <a:bodyPr>
            <a:normAutofit/>
          </a:bodyPr>
          <a:lstStyle/>
          <a:p>
            <a:r>
              <a:rPr lang="fr-FR" sz="3200" dirty="0"/>
              <a:t>Flore commensale cutanéo-muqueuse</a:t>
            </a:r>
            <a:endParaRPr lang="fr-FR" sz="3200" dirty="0"/>
          </a:p>
        </p:txBody>
      </p:sp>
      <p:sp>
        <p:nvSpPr>
          <p:cNvPr id="3" name="Espace réservé du contenu 2"/>
          <p:cNvSpPr>
            <a:spLocks noGrp="1"/>
          </p:cNvSpPr>
          <p:nvPr>
            <p:ph idx="1"/>
          </p:nvPr>
        </p:nvSpPr>
        <p:spPr>
          <a:xfrm>
            <a:off x="2024034" y="1428737"/>
            <a:ext cx="4786346" cy="4697427"/>
          </a:xfrm>
        </p:spPr>
        <p:txBody>
          <a:bodyPr>
            <a:normAutofit/>
          </a:bodyPr>
          <a:lstStyle/>
          <a:p>
            <a:r>
              <a:rPr lang="fr-FR" sz="2000" b="1" dirty="0">
                <a:solidFill>
                  <a:srgbClr val="00B050"/>
                </a:solidFill>
              </a:rPr>
              <a:t>Flore commensale cutanée</a:t>
            </a:r>
          </a:p>
          <a:p>
            <a:pPr>
              <a:buNone/>
            </a:pPr>
            <a:r>
              <a:rPr lang="fr-FR" sz="1800" b="1" dirty="0"/>
              <a:t>Colonisation normale de la peau par un  mélange de </a:t>
            </a:r>
            <a:r>
              <a:rPr lang="fr-FR" sz="1800" b="1" dirty="0" err="1"/>
              <a:t>cocci</a:t>
            </a:r>
            <a:r>
              <a:rPr lang="fr-FR" sz="1800" b="1" dirty="0"/>
              <a:t> et bacilles à Gram Positif (</a:t>
            </a:r>
            <a:r>
              <a:rPr lang="fr-FR" sz="1800" b="1" i="1" dirty="0" err="1"/>
              <a:t>Staphylococcus</a:t>
            </a:r>
            <a:r>
              <a:rPr lang="fr-FR" sz="1800" b="1" i="1" dirty="0"/>
              <a:t> </a:t>
            </a:r>
            <a:r>
              <a:rPr lang="fr-FR" sz="1800" b="1" i="1" dirty="0" err="1"/>
              <a:t>epidermidis</a:t>
            </a:r>
            <a:r>
              <a:rPr lang="fr-FR" sz="1800" b="1" i="1" dirty="0"/>
              <a:t> ,</a:t>
            </a:r>
            <a:r>
              <a:rPr lang="fr-FR" sz="1800" b="1" i="1" dirty="0" err="1"/>
              <a:t>Staphylococcus</a:t>
            </a:r>
            <a:r>
              <a:rPr lang="fr-FR" sz="1800" b="1" i="1" dirty="0"/>
              <a:t>  </a:t>
            </a:r>
            <a:r>
              <a:rPr lang="fr-FR" sz="1800" b="1" i="1" dirty="0" err="1"/>
              <a:t>saprophyticus</a:t>
            </a:r>
            <a:r>
              <a:rPr lang="fr-FR" sz="1800" b="1" i="1" dirty="0"/>
              <a:t>, </a:t>
            </a:r>
            <a:r>
              <a:rPr lang="fr-FR" sz="1800" b="1" dirty="0" err="1"/>
              <a:t>Corynébactéries</a:t>
            </a:r>
            <a:r>
              <a:rPr lang="fr-FR" sz="1800" b="1" dirty="0"/>
              <a:t>, </a:t>
            </a:r>
            <a:r>
              <a:rPr lang="fr-FR" sz="1800" b="1" i="1" dirty="0" err="1"/>
              <a:t>Propionibacterium</a:t>
            </a:r>
            <a:r>
              <a:rPr lang="fr-FR" sz="1800" b="1" i="1" dirty="0"/>
              <a:t> </a:t>
            </a:r>
            <a:r>
              <a:rPr lang="fr-FR" sz="1800" b="1" i="1" dirty="0" err="1"/>
              <a:t>acnes</a:t>
            </a:r>
            <a:r>
              <a:rPr lang="fr-FR" sz="1800" b="1" i="1" dirty="0"/>
              <a:t>)</a:t>
            </a:r>
          </a:p>
          <a:p>
            <a:pPr>
              <a:buNone/>
            </a:pPr>
            <a:endParaRPr lang="fr-FR" sz="1800" b="1" i="1" dirty="0"/>
          </a:p>
          <a:p>
            <a:r>
              <a:rPr lang="fr-FR" sz="1800" b="1" dirty="0">
                <a:solidFill>
                  <a:srgbClr val="00B050"/>
                </a:solidFill>
              </a:rPr>
              <a:t>Flore commensale  des muqueuses</a:t>
            </a:r>
          </a:p>
          <a:p>
            <a:pPr>
              <a:buNone/>
            </a:pPr>
            <a:r>
              <a:rPr lang="fr-FR" sz="1800" b="1" dirty="0"/>
              <a:t>Existe au  niveau de toutes muqueuses</a:t>
            </a:r>
          </a:p>
          <a:p>
            <a:pPr>
              <a:buNone/>
            </a:pPr>
            <a:r>
              <a:rPr lang="fr-FR" sz="1800" dirty="0"/>
              <a:t> </a:t>
            </a:r>
            <a:r>
              <a:rPr lang="fr-FR" sz="1800" b="1" dirty="0">
                <a:solidFill>
                  <a:srgbClr val="FF0000"/>
                </a:solidFill>
              </a:rPr>
              <a:t>Sauf:</a:t>
            </a:r>
          </a:p>
          <a:p>
            <a:pPr>
              <a:buNone/>
            </a:pPr>
            <a:r>
              <a:rPr lang="fr-FR" sz="1800" b="1" dirty="0"/>
              <a:t>- </a:t>
            </a:r>
            <a:r>
              <a:rPr lang="fr-FR" sz="1800" b="1" dirty="0">
                <a:solidFill>
                  <a:srgbClr val="FF0000"/>
                </a:solidFill>
              </a:rPr>
              <a:t>Voies respiratoires  basses</a:t>
            </a:r>
          </a:p>
          <a:p>
            <a:pPr>
              <a:buNone/>
            </a:pPr>
            <a:r>
              <a:rPr lang="fr-FR" sz="1800" b="1" dirty="0">
                <a:solidFill>
                  <a:srgbClr val="FF0000"/>
                </a:solidFill>
              </a:rPr>
              <a:t>- Le tractus urinaire</a:t>
            </a:r>
          </a:p>
          <a:p>
            <a:pPr>
              <a:buNone/>
            </a:pPr>
            <a:r>
              <a:rPr lang="fr-FR" sz="1800" b="1" dirty="0">
                <a:solidFill>
                  <a:srgbClr val="FF0000"/>
                </a:solidFill>
              </a:rPr>
              <a:t>- Les Voies géniales hautes: utérus, trompes , les ovaires</a:t>
            </a:r>
            <a:endParaRPr lang="fr-FR" sz="1800" dirty="0">
              <a:solidFill>
                <a:srgbClr val="FF0000"/>
              </a:solidFill>
            </a:endParaRPr>
          </a:p>
        </p:txBody>
      </p:sp>
      <p:pic>
        <p:nvPicPr>
          <p:cNvPr id="5122" name="Picture 2" descr="C:\Users\hp\Pictures\images (1).jpg"/>
          <p:cNvPicPr>
            <a:picLocks noChangeAspect="1" noChangeArrowheads="1"/>
          </p:cNvPicPr>
          <p:nvPr/>
        </p:nvPicPr>
        <p:blipFill>
          <a:blip r:embed="rId2" cstate="print"/>
          <a:srcRect/>
          <a:stretch>
            <a:fillRect/>
          </a:stretch>
        </p:blipFill>
        <p:spPr bwMode="auto">
          <a:xfrm>
            <a:off x="7596199" y="1071546"/>
            <a:ext cx="2524125" cy="1809750"/>
          </a:xfrm>
          <a:prstGeom prst="rect">
            <a:avLst/>
          </a:prstGeom>
          <a:noFill/>
        </p:spPr>
      </p:pic>
      <p:pic>
        <p:nvPicPr>
          <p:cNvPr id="5123" name="Picture 3" descr="C:\Users\hp\Pictures\images (2).jpg"/>
          <p:cNvPicPr>
            <a:picLocks noChangeAspect="1" noChangeArrowheads="1"/>
          </p:cNvPicPr>
          <p:nvPr/>
        </p:nvPicPr>
        <p:blipFill>
          <a:blip r:embed="rId3" cstate="print"/>
          <a:srcRect/>
          <a:stretch>
            <a:fillRect/>
          </a:stretch>
        </p:blipFill>
        <p:spPr bwMode="auto">
          <a:xfrm>
            <a:off x="7667637" y="2928934"/>
            <a:ext cx="2450863" cy="1719262"/>
          </a:xfrm>
          <a:prstGeom prst="rect">
            <a:avLst/>
          </a:prstGeom>
          <a:noFill/>
        </p:spPr>
      </p:pic>
      <p:pic>
        <p:nvPicPr>
          <p:cNvPr id="5125" name="Picture 5" descr="C:\Users\hp\Pictures\311.jpg"/>
          <p:cNvPicPr>
            <a:picLocks noChangeAspect="1" noChangeArrowheads="1"/>
          </p:cNvPicPr>
          <p:nvPr/>
        </p:nvPicPr>
        <p:blipFill>
          <a:blip r:embed="rId4" cstate="print"/>
          <a:srcRect/>
          <a:stretch>
            <a:fillRect/>
          </a:stretch>
        </p:blipFill>
        <p:spPr bwMode="auto">
          <a:xfrm flipH="1">
            <a:off x="7239008" y="4857761"/>
            <a:ext cx="1774856" cy="1711165"/>
          </a:xfrm>
          <a:prstGeom prst="rect">
            <a:avLst/>
          </a:prstGeom>
          <a:noFill/>
        </p:spPr>
      </p:pic>
    </p:spTree>
    <p:extLst>
      <p:ext uri="{BB962C8B-B14F-4D97-AF65-F5344CB8AC3E}">
        <p14:creationId xmlns:p14="http://schemas.microsoft.com/office/powerpoint/2010/main" val="6084129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4" descr="C:\Users\Mounira\Pictures\appareil-respiratoire.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7889" y="692696"/>
            <a:ext cx="4666481" cy="365202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433638" y="4581128"/>
            <a:ext cx="4572000" cy="1311128"/>
          </a:xfrm>
          <a:prstGeom prst="rect">
            <a:avLst/>
          </a:prstGeom>
        </p:spPr>
        <p:txBody>
          <a:bodyPr>
            <a:spAutoFit/>
          </a:bodyPr>
          <a:lstStyle/>
          <a:p>
            <a:pPr marL="342900" indent="-342900">
              <a:spcBef>
                <a:spcPct val="20000"/>
              </a:spcBef>
            </a:pPr>
            <a:r>
              <a:rPr lang="fr-FR" b="1" dirty="0">
                <a:solidFill>
                  <a:srgbClr val="FF0000"/>
                </a:solidFill>
              </a:rPr>
              <a:t>Pas de flore au niveau  des  muqueuses</a:t>
            </a:r>
          </a:p>
          <a:p>
            <a:pPr marL="342900" indent="-342900">
              <a:spcBef>
                <a:spcPct val="20000"/>
              </a:spcBef>
              <a:buFontTx/>
              <a:buChar char="-"/>
            </a:pPr>
            <a:r>
              <a:rPr lang="fr-FR" b="1" dirty="0">
                <a:solidFill>
                  <a:srgbClr val="FF0000"/>
                </a:solidFill>
              </a:rPr>
              <a:t> Des voies </a:t>
            </a:r>
            <a:r>
              <a:rPr lang="fr-FR" b="1" dirty="0">
                <a:solidFill>
                  <a:srgbClr val="FF0000"/>
                </a:solidFill>
              </a:rPr>
              <a:t>respiratoires  </a:t>
            </a:r>
            <a:r>
              <a:rPr lang="fr-FR" b="1" dirty="0">
                <a:solidFill>
                  <a:srgbClr val="FF0000"/>
                </a:solidFill>
              </a:rPr>
              <a:t>basses</a:t>
            </a:r>
            <a:endParaRPr lang="fr-FR" b="1" dirty="0">
              <a:solidFill>
                <a:srgbClr val="FF0000"/>
              </a:solidFill>
            </a:endParaRPr>
          </a:p>
          <a:p>
            <a:pPr marL="342900" indent="-342900">
              <a:spcBef>
                <a:spcPct val="20000"/>
              </a:spcBef>
            </a:pPr>
            <a:r>
              <a:rPr lang="fr-FR" b="1" dirty="0">
                <a:solidFill>
                  <a:srgbClr val="FF0000"/>
                </a:solidFill>
              </a:rPr>
              <a:t>- </a:t>
            </a:r>
            <a:r>
              <a:rPr lang="fr-FR" b="1" dirty="0">
                <a:solidFill>
                  <a:srgbClr val="FF0000"/>
                </a:solidFill>
              </a:rPr>
              <a:t>     Des voies </a:t>
            </a:r>
            <a:r>
              <a:rPr lang="fr-FR" b="1" dirty="0">
                <a:solidFill>
                  <a:srgbClr val="FF0000"/>
                </a:solidFill>
              </a:rPr>
              <a:t>géniales hautes: utérus, trompes , les ovaires</a:t>
            </a:r>
            <a:endParaRPr lang="fr-FR" dirty="0">
              <a:solidFill>
                <a:srgbClr val="FF0000"/>
              </a:solidFill>
            </a:endParaRPr>
          </a:p>
        </p:txBody>
      </p:sp>
    </p:spTree>
    <p:extLst>
      <p:ext uri="{BB962C8B-B14F-4D97-AF65-F5344CB8AC3E}">
        <p14:creationId xmlns:p14="http://schemas.microsoft.com/office/powerpoint/2010/main" val="42470745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rotWithShape="1">
          <a:blip r:embed="rId2" cstate="print"/>
          <a:srcRect l="45691" t="28030" r="8796" b="16667"/>
          <a:stretch/>
        </p:blipFill>
        <p:spPr bwMode="auto">
          <a:xfrm>
            <a:off x="3359697" y="980728"/>
            <a:ext cx="5256584" cy="46805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7319735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03512" y="1556793"/>
            <a:ext cx="8821644" cy="4569371"/>
          </a:xfrm>
        </p:spPr>
        <p:txBody>
          <a:bodyPr>
            <a:normAutofit/>
          </a:bodyPr>
          <a:lstStyle/>
          <a:p>
            <a:r>
              <a:rPr lang="fr-FR" sz="2400" b="1" dirty="0">
                <a:solidFill>
                  <a:srgbClr val="C00000"/>
                </a:solidFill>
              </a:rPr>
              <a:t>Peau saine = Barrage continu infranchissable par les bactéries</a:t>
            </a:r>
            <a:r>
              <a:rPr lang="fr-FR" sz="2400" b="1" dirty="0"/>
              <a:t>!</a:t>
            </a:r>
          </a:p>
          <a:p>
            <a:pPr>
              <a:buNone/>
            </a:pPr>
            <a:r>
              <a:rPr lang="fr-FR" sz="2400" b="1" dirty="0">
                <a:solidFill>
                  <a:srgbClr val="00B050"/>
                </a:solidFill>
              </a:rPr>
              <a:t>Risque d’infection si:</a:t>
            </a:r>
            <a:r>
              <a:rPr lang="fr-FR" sz="2400" dirty="0">
                <a:solidFill>
                  <a:srgbClr val="00B050"/>
                </a:solidFill>
              </a:rPr>
              <a:t> </a:t>
            </a:r>
            <a:endParaRPr lang="fr-FR" sz="2400" b="1" dirty="0">
              <a:solidFill>
                <a:srgbClr val="00B050"/>
              </a:solidFill>
            </a:endParaRPr>
          </a:p>
          <a:p>
            <a:pPr>
              <a:buNone/>
            </a:pPr>
            <a:r>
              <a:rPr lang="fr-FR" sz="2400" dirty="0"/>
              <a:t>-   Lésion cutanée (plaie, brûlure,…)</a:t>
            </a:r>
          </a:p>
          <a:p>
            <a:pPr>
              <a:buFontTx/>
              <a:buChar char="-"/>
            </a:pPr>
            <a:r>
              <a:rPr lang="fr-FR" sz="2400" dirty="0"/>
              <a:t>Introduction de matériel étranger (cathéter)</a:t>
            </a:r>
          </a:p>
          <a:p>
            <a:pPr marL="0" indent="0">
              <a:buNone/>
            </a:pPr>
            <a:endParaRPr lang="fr-FR" sz="2400" dirty="0"/>
          </a:p>
          <a:p>
            <a:r>
              <a:rPr lang="fr-FR" sz="2400" dirty="0"/>
              <a:t> </a:t>
            </a:r>
            <a:r>
              <a:rPr lang="fr-FR" sz="2400" b="1" dirty="0">
                <a:solidFill>
                  <a:srgbClr val="C00000"/>
                </a:solidFill>
              </a:rPr>
              <a:t>Muqueuses = Portes d’entrée plus faciles à franchir que la peau</a:t>
            </a:r>
          </a:p>
          <a:p>
            <a:pPr marL="0" indent="0">
              <a:buNone/>
            </a:pPr>
            <a:r>
              <a:rPr lang="fr-FR" sz="2400" dirty="0"/>
              <a:t> </a:t>
            </a:r>
            <a:r>
              <a:rPr lang="fr-FR" sz="2400" b="1" dirty="0"/>
              <a:t>La plupart des infections spontanées ont pour point de départ  la surface d’une muqueuse.</a:t>
            </a:r>
            <a:endParaRPr lang="fr-FR" sz="2400" dirty="0"/>
          </a:p>
        </p:txBody>
      </p:sp>
    </p:spTree>
    <p:extLst>
      <p:ext uri="{BB962C8B-B14F-4D97-AF65-F5344CB8AC3E}">
        <p14:creationId xmlns:p14="http://schemas.microsoft.com/office/powerpoint/2010/main" val="25858068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marL="342900" indent="-342900">
              <a:spcBef>
                <a:spcPct val="20000"/>
              </a:spcBef>
            </a:pPr>
            <a:r>
              <a:rPr lang="fr-FR" sz="2500" b="1" dirty="0">
                <a:ea typeface="+mn-ea"/>
                <a:cs typeface="+mn-cs"/>
              </a:rPr>
              <a:t>B- La </a:t>
            </a:r>
            <a:r>
              <a:rPr lang="fr-FR" sz="2500" b="1" dirty="0">
                <a:ea typeface="+mn-ea"/>
                <a:cs typeface="+mn-cs"/>
              </a:rPr>
              <a:t>réaction inflammatoire ou Immunité innée</a:t>
            </a:r>
            <a:br>
              <a:rPr lang="fr-FR" sz="2500" b="1" dirty="0">
                <a:ea typeface="+mn-ea"/>
                <a:cs typeface="+mn-cs"/>
              </a:rPr>
            </a:br>
            <a:endParaRPr lang="fr-FR" sz="2500" b="1" dirty="0"/>
          </a:p>
        </p:txBody>
      </p:sp>
      <p:sp>
        <p:nvSpPr>
          <p:cNvPr id="3" name="Espace réservé du contenu 2"/>
          <p:cNvSpPr>
            <a:spLocks noGrp="1"/>
          </p:cNvSpPr>
          <p:nvPr>
            <p:ph idx="1"/>
          </p:nvPr>
        </p:nvSpPr>
        <p:spPr>
          <a:xfrm>
            <a:off x="1919536" y="1628800"/>
            <a:ext cx="8496944" cy="4896544"/>
          </a:xfrm>
        </p:spPr>
        <p:txBody>
          <a:bodyPr>
            <a:normAutofit/>
          </a:bodyPr>
          <a:lstStyle/>
          <a:p>
            <a:pPr lvl="0"/>
            <a:r>
              <a:rPr lang="fr-FR" sz="2600" b="1" dirty="0">
                <a:solidFill>
                  <a:srgbClr val="C00000"/>
                </a:solidFill>
              </a:rPr>
              <a:t>L’immunité innée : 2 ère  ligne de défense </a:t>
            </a:r>
            <a:r>
              <a:rPr lang="fr-FR" sz="2500" dirty="0">
                <a:solidFill>
                  <a:prstClr val="black"/>
                </a:solidFill>
              </a:rPr>
              <a:t>(après entrée de </a:t>
            </a:r>
          </a:p>
          <a:p>
            <a:pPr marL="0" indent="0">
              <a:buNone/>
            </a:pPr>
            <a:r>
              <a:rPr lang="fr-FR" sz="2500" dirty="0">
                <a:solidFill>
                  <a:prstClr val="black"/>
                </a:solidFill>
              </a:rPr>
              <a:t>bactérie dans organisme</a:t>
            </a:r>
            <a:r>
              <a:rPr lang="fr-FR" sz="2500" dirty="0">
                <a:solidFill>
                  <a:prstClr val="black"/>
                </a:solidFill>
              </a:rPr>
              <a:t>)</a:t>
            </a:r>
          </a:p>
          <a:p>
            <a:pPr marL="0" indent="0">
              <a:buNone/>
            </a:pPr>
            <a:endParaRPr lang="fr-FR" sz="2400" dirty="0"/>
          </a:p>
          <a:p>
            <a:pPr lvl="0"/>
            <a:r>
              <a:rPr lang="fr-FR" sz="2500" dirty="0">
                <a:solidFill>
                  <a:prstClr val="black"/>
                </a:solidFill>
              </a:rPr>
              <a:t>But: </a:t>
            </a:r>
            <a:r>
              <a:rPr lang="fr-FR" sz="2500" b="1" dirty="0">
                <a:solidFill>
                  <a:srgbClr val="C00000"/>
                </a:solidFill>
              </a:rPr>
              <a:t>Elimination rapide </a:t>
            </a:r>
            <a:r>
              <a:rPr lang="fr-FR" sz="2500" dirty="0">
                <a:solidFill>
                  <a:prstClr val="black"/>
                </a:solidFill>
              </a:rPr>
              <a:t>de agent pathogène présent </a:t>
            </a:r>
            <a:r>
              <a:rPr lang="fr-FR" sz="2500" dirty="0">
                <a:solidFill>
                  <a:prstClr val="black"/>
                </a:solidFill>
              </a:rPr>
              <a:t>dans </a:t>
            </a:r>
            <a:r>
              <a:rPr lang="fr-FR" sz="2500" dirty="0">
                <a:solidFill>
                  <a:prstClr val="black"/>
                </a:solidFill>
              </a:rPr>
              <a:t>un tissu normalement </a:t>
            </a:r>
            <a:r>
              <a:rPr lang="fr-FR" sz="2500" dirty="0">
                <a:solidFill>
                  <a:prstClr val="black"/>
                </a:solidFill>
              </a:rPr>
              <a:t>stérile.</a:t>
            </a:r>
          </a:p>
          <a:p>
            <a:pPr lvl="0"/>
            <a:r>
              <a:rPr lang="fr-FR" sz="2500" dirty="0">
                <a:solidFill>
                  <a:prstClr val="black"/>
                </a:solidFill>
              </a:rPr>
              <a:t>Réponse </a:t>
            </a:r>
            <a:r>
              <a:rPr lang="fr-FR" sz="2500" b="1" dirty="0">
                <a:solidFill>
                  <a:srgbClr val="C00000"/>
                </a:solidFill>
              </a:rPr>
              <a:t>immédiate</a:t>
            </a:r>
            <a:r>
              <a:rPr lang="fr-FR" sz="2500" dirty="0">
                <a:solidFill>
                  <a:prstClr val="black"/>
                </a:solidFill>
              </a:rPr>
              <a:t> basée sur </a:t>
            </a:r>
            <a:r>
              <a:rPr lang="fr-FR" sz="2500" b="1" dirty="0">
                <a:solidFill>
                  <a:srgbClr val="C00000"/>
                </a:solidFill>
              </a:rPr>
              <a:t>la reconnaissance </a:t>
            </a:r>
            <a:r>
              <a:rPr lang="fr-FR" sz="2500" b="1" dirty="0">
                <a:solidFill>
                  <a:srgbClr val="C00000"/>
                </a:solidFill>
              </a:rPr>
              <a:t>d’antigènes </a:t>
            </a:r>
            <a:r>
              <a:rPr lang="fr-FR" sz="2500" b="1" dirty="0">
                <a:solidFill>
                  <a:srgbClr val="C00000"/>
                </a:solidFill>
              </a:rPr>
              <a:t>bactériens</a:t>
            </a:r>
            <a:r>
              <a:rPr lang="fr-FR" sz="2500" dirty="0">
                <a:solidFill>
                  <a:prstClr val="black"/>
                </a:solidFill>
              </a:rPr>
              <a:t> très </a:t>
            </a:r>
            <a:r>
              <a:rPr lang="fr-FR" sz="2500" dirty="0">
                <a:solidFill>
                  <a:prstClr val="black"/>
                </a:solidFill>
              </a:rPr>
              <a:t>conservés</a:t>
            </a:r>
          </a:p>
          <a:p>
            <a:pPr lvl="0"/>
            <a:r>
              <a:rPr lang="fr-FR" sz="2500" dirty="0">
                <a:solidFill>
                  <a:prstClr val="black"/>
                </a:solidFill>
              </a:rPr>
              <a:t>Effecteurs</a:t>
            </a:r>
            <a:r>
              <a:rPr lang="fr-FR" sz="2500" dirty="0">
                <a:solidFill>
                  <a:prstClr val="black"/>
                </a:solidFill>
              </a:rPr>
              <a:t>: Cellules </a:t>
            </a:r>
            <a:r>
              <a:rPr lang="fr-FR" sz="2500" dirty="0">
                <a:solidFill>
                  <a:prstClr val="black"/>
                </a:solidFill>
              </a:rPr>
              <a:t>phagocytaires (phagocytose) </a:t>
            </a:r>
            <a:r>
              <a:rPr lang="fr-FR" sz="2500" dirty="0">
                <a:solidFill>
                  <a:prstClr val="black"/>
                </a:solidFill>
              </a:rPr>
              <a:t>et protéines </a:t>
            </a:r>
            <a:r>
              <a:rPr lang="fr-FR" sz="2500" dirty="0">
                <a:solidFill>
                  <a:prstClr val="black"/>
                </a:solidFill>
              </a:rPr>
              <a:t>inflammatoires (dans tissus et sang</a:t>
            </a:r>
            <a:r>
              <a:rPr lang="fr-FR" sz="2500" dirty="0">
                <a:solidFill>
                  <a:prstClr val="black"/>
                </a:solidFill>
              </a:rPr>
              <a:t>)</a:t>
            </a:r>
          </a:p>
          <a:p>
            <a:pPr marL="0" indent="0">
              <a:buNone/>
            </a:pPr>
            <a:r>
              <a:rPr lang="fr-FR" sz="2500" dirty="0">
                <a:solidFill>
                  <a:prstClr val="black"/>
                </a:solidFill>
              </a:rPr>
              <a:t>                - Activation </a:t>
            </a:r>
            <a:r>
              <a:rPr lang="fr-FR" sz="2500" dirty="0">
                <a:solidFill>
                  <a:prstClr val="black"/>
                </a:solidFill>
              </a:rPr>
              <a:t>du complément</a:t>
            </a:r>
          </a:p>
          <a:p>
            <a:pPr marL="0" indent="0">
              <a:buNone/>
            </a:pPr>
            <a:r>
              <a:rPr lang="fr-FR" sz="2500" dirty="0">
                <a:solidFill>
                  <a:prstClr val="black"/>
                </a:solidFill>
              </a:rPr>
              <a:t>                - </a:t>
            </a:r>
            <a:r>
              <a:rPr lang="fr-FR" sz="2500" dirty="0">
                <a:solidFill>
                  <a:prstClr val="black"/>
                </a:solidFill>
              </a:rPr>
              <a:t>Cytokines et </a:t>
            </a:r>
            <a:r>
              <a:rPr lang="fr-FR" sz="2500" dirty="0" err="1">
                <a:solidFill>
                  <a:prstClr val="black"/>
                </a:solidFill>
              </a:rPr>
              <a:t>chimiokines</a:t>
            </a:r>
            <a:endParaRPr lang="fr-FR" sz="2500" dirty="0">
              <a:solidFill>
                <a:prstClr val="black"/>
              </a:solidFill>
            </a:endParaRPr>
          </a:p>
          <a:p>
            <a:pPr lvl="0"/>
            <a:endParaRPr lang="fr-FR" sz="2500" dirty="0">
              <a:solidFill>
                <a:prstClr val="black"/>
              </a:solidFill>
            </a:endParaRPr>
          </a:p>
          <a:p>
            <a:pPr lvl="0"/>
            <a:endParaRPr lang="fr-FR" sz="2500" dirty="0">
              <a:solidFill>
                <a:prstClr val="black"/>
              </a:solidFill>
            </a:endParaRPr>
          </a:p>
          <a:p>
            <a:pPr>
              <a:buFontTx/>
              <a:buChar char="-"/>
            </a:pPr>
            <a:endParaRPr lang="fr-FR" sz="2400" u="sng" dirty="0">
              <a:solidFill>
                <a:srgbClr val="C00000"/>
              </a:solidFill>
            </a:endParaRPr>
          </a:p>
          <a:p>
            <a:pPr>
              <a:buFontTx/>
              <a:buChar char="-"/>
            </a:pPr>
            <a:endParaRPr lang="fr-FR" sz="2400" u="sng" dirty="0">
              <a:solidFill>
                <a:srgbClr val="C00000"/>
              </a:solidFill>
            </a:endParaRPr>
          </a:p>
        </p:txBody>
      </p:sp>
    </p:spTree>
    <p:extLst>
      <p:ext uri="{BB962C8B-B14F-4D97-AF65-F5344CB8AC3E}">
        <p14:creationId xmlns:p14="http://schemas.microsoft.com/office/powerpoint/2010/main" val="38790647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03513" y="188640"/>
            <a:ext cx="8856984" cy="5904656"/>
          </a:xfrm>
        </p:spPr>
        <p:txBody>
          <a:bodyPr>
            <a:normAutofit/>
          </a:bodyPr>
          <a:lstStyle/>
          <a:p>
            <a:pPr marL="0" indent="0">
              <a:buNone/>
            </a:pPr>
            <a:r>
              <a:rPr lang="fr-FR" sz="2200" dirty="0">
                <a:solidFill>
                  <a:prstClr val="black"/>
                </a:solidFill>
              </a:rPr>
              <a:t>La réponse  immunitaire innée est induite par un signal </a:t>
            </a:r>
            <a:r>
              <a:rPr lang="fr-FR" sz="2200" b="1" dirty="0">
                <a:solidFill>
                  <a:srgbClr val="FF0000"/>
                </a:solidFill>
              </a:rPr>
              <a:t>Danger</a:t>
            </a:r>
            <a:r>
              <a:rPr lang="fr-FR" sz="2200" dirty="0">
                <a:solidFill>
                  <a:prstClr val="black"/>
                </a:solidFill>
              </a:rPr>
              <a:t>  émis par </a:t>
            </a:r>
            <a:r>
              <a:rPr lang="fr-FR" sz="2200" b="1" dirty="0">
                <a:solidFill>
                  <a:srgbClr val="C00000"/>
                </a:solidFill>
              </a:rPr>
              <a:t>l’</a:t>
            </a:r>
            <a:r>
              <a:rPr lang="fr-FR" sz="2200" b="1" dirty="0" err="1">
                <a:solidFill>
                  <a:srgbClr val="C00000"/>
                </a:solidFill>
              </a:rPr>
              <a:t>intéraction</a:t>
            </a:r>
            <a:r>
              <a:rPr lang="fr-FR" sz="2200" b="1" dirty="0">
                <a:solidFill>
                  <a:srgbClr val="C00000"/>
                </a:solidFill>
              </a:rPr>
              <a:t>  spécifique </a:t>
            </a:r>
            <a:r>
              <a:rPr lang="fr-FR" sz="2200" dirty="0">
                <a:solidFill>
                  <a:prstClr val="black"/>
                </a:solidFill>
              </a:rPr>
              <a:t>entre:</a:t>
            </a:r>
          </a:p>
          <a:p>
            <a:pPr marL="0" indent="0">
              <a:buNone/>
            </a:pPr>
            <a:endParaRPr lang="fr-FR" sz="2200" dirty="0">
              <a:solidFill>
                <a:prstClr val="black"/>
              </a:solidFill>
            </a:endParaRPr>
          </a:p>
          <a:p>
            <a:pPr lvl="0">
              <a:buFont typeface="Wingdings" panose="05000000000000000000" pitchFamily="2" charset="2"/>
              <a:buChar char="v"/>
            </a:pPr>
            <a:r>
              <a:rPr lang="fr-FR" sz="2000" b="1" dirty="0" err="1">
                <a:solidFill>
                  <a:srgbClr val="002060"/>
                </a:solidFill>
              </a:rPr>
              <a:t>PAMPs</a:t>
            </a:r>
            <a:r>
              <a:rPr lang="fr-FR" sz="2000" b="1" dirty="0">
                <a:solidFill>
                  <a:srgbClr val="002060"/>
                </a:solidFill>
              </a:rPr>
              <a:t>  (</a:t>
            </a:r>
            <a:r>
              <a:rPr lang="fr-FR" sz="2000" dirty="0" err="1">
                <a:solidFill>
                  <a:prstClr val="black"/>
                </a:solidFill>
              </a:rPr>
              <a:t>Pathogen-associated</a:t>
            </a:r>
            <a:r>
              <a:rPr lang="fr-FR" sz="2000" dirty="0">
                <a:solidFill>
                  <a:prstClr val="black"/>
                </a:solidFill>
              </a:rPr>
              <a:t> </a:t>
            </a:r>
            <a:r>
              <a:rPr lang="fr-FR" sz="2000" dirty="0" err="1">
                <a:solidFill>
                  <a:prstClr val="black"/>
                </a:solidFill>
              </a:rPr>
              <a:t>molecular</a:t>
            </a:r>
            <a:r>
              <a:rPr lang="fr-FR" sz="2000" dirty="0">
                <a:solidFill>
                  <a:prstClr val="black"/>
                </a:solidFill>
              </a:rPr>
              <a:t> </a:t>
            </a:r>
            <a:r>
              <a:rPr lang="fr-FR" sz="2000" dirty="0">
                <a:solidFill>
                  <a:prstClr val="black"/>
                </a:solidFill>
              </a:rPr>
              <a:t>patterns</a:t>
            </a:r>
            <a:r>
              <a:rPr lang="fr-FR" sz="2000" b="1" dirty="0">
                <a:solidFill>
                  <a:srgbClr val="002060"/>
                </a:solidFill>
              </a:rPr>
              <a:t>)  c’est  une structures microbiennes</a:t>
            </a:r>
            <a:endParaRPr lang="fr-FR" sz="2000" b="1" dirty="0">
              <a:solidFill>
                <a:srgbClr val="002060"/>
              </a:solidFill>
            </a:endParaRPr>
          </a:p>
          <a:p>
            <a:pPr marL="0" indent="0">
              <a:buNone/>
            </a:pPr>
            <a:r>
              <a:rPr lang="fr-FR" sz="2000" dirty="0">
                <a:solidFill>
                  <a:prstClr val="black"/>
                </a:solidFill>
              </a:rPr>
              <a:t> </a:t>
            </a:r>
            <a:r>
              <a:rPr lang="fr-FR" sz="2000" dirty="0">
                <a:solidFill>
                  <a:prstClr val="black"/>
                </a:solidFill>
              </a:rPr>
              <a:t>- </a:t>
            </a:r>
            <a:r>
              <a:rPr lang="fr-FR" sz="2000" dirty="0">
                <a:solidFill>
                  <a:prstClr val="black"/>
                </a:solidFill>
              </a:rPr>
              <a:t>Bactéries à gram négatif: </a:t>
            </a:r>
            <a:r>
              <a:rPr lang="fr-FR" sz="2000" dirty="0" err="1">
                <a:solidFill>
                  <a:prstClr val="black"/>
                </a:solidFill>
              </a:rPr>
              <a:t>lipopolysaccharide</a:t>
            </a:r>
            <a:r>
              <a:rPr lang="fr-FR" sz="2000" dirty="0">
                <a:solidFill>
                  <a:prstClr val="black"/>
                </a:solidFill>
              </a:rPr>
              <a:t> (LPS) (lipide A)</a:t>
            </a:r>
          </a:p>
          <a:p>
            <a:pPr marL="0" indent="0">
              <a:buNone/>
            </a:pPr>
            <a:r>
              <a:rPr lang="fr-FR" sz="2000" dirty="0">
                <a:solidFill>
                  <a:prstClr val="black"/>
                </a:solidFill>
              </a:rPr>
              <a:t> - Bactéries </a:t>
            </a:r>
            <a:r>
              <a:rPr lang="fr-FR" sz="2000" dirty="0">
                <a:solidFill>
                  <a:prstClr val="black"/>
                </a:solidFill>
              </a:rPr>
              <a:t>à gram positif: peptidoglycane, acides </a:t>
            </a:r>
            <a:r>
              <a:rPr lang="fr-FR" sz="2000" dirty="0">
                <a:solidFill>
                  <a:prstClr val="black"/>
                </a:solidFill>
              </a:rPr>
              <a:t> </a:t>
            </a:r>
            <a:r>
              <a:rPr lang="fr-FR" sz="2000" dirty="0" err="1">
                <a:solidFill>
                  <a:prstClr val="black"/>
                </a:solidFill>
              </a:rPr>
              <a:t>lipoteichoïques</a:t>
            </a:r>
            <a:endParaRPr lang="fr-FR" sz="2000" dirty="0">
              <a:solidFill>
                <a:prstClr val="black"/>
              </a:solidFill>
            </a:endParaRPr>
          </a:p>
          <a:p>
            <a:pPr marL="0" indent="0">
              <a:buNone/>
            </a:pPr>
            <a:endParaRPr lang="fr-FR" sz="2000" dirty="0">
              <a:solidFill>
                <a:prstClr val="black"/>
              </a:solidFill>
            </a:endParaRPr>
          </a:p>
          <a:p>
            <a:pPr lvl="0">
              <a:buFont typeface="Wingdings" panose="05000000000000000000" pitchFamily="2" charset="2"/>
              <a:buChar char="v"/>
            </a:pPr>
            <a:r>
              <a:rPr lang="fr-FR" sz="2000" b="1" dirty="0">
                <a:solidFill>
                  <a:srgbClr val="002060"/>
                </a:solidFill>
              </a:rPr>
              <a:t>PRR</a:t>
            </a:r>
            <a:r>
              <a:rPr lang="fr-FR" sz="2000" dirty="0">
                <a:solidFill>
                  <a:prstClr val="black"/>
                </a:solidFill>
              </a:rPr>
              <a:t>( </a:t>
            </a:r>
            <a:r>
              <a:rPr lang="fr-FR" sz="2000" dirty="0">
                <a:solidFill>
                  <a:prstClr val="black"/>
                </a:solidFill>
              </a:rPr>
              <a:t>Pattern-recognition </a:t>
            </a:r>
            <a:r>
              <a:rPr lang="fr-FR" sz="2000" dirty="0" err="1">
                <a:solidFill>
                  <a:prstClr val="black"/>
                </a:solidFill>
              </a:rPr>
              <a:t>receptors</a:t>
            </a:r>
            <a:r>
              <a:rPr lang="fr-FR" sz="2000" dirty="0">
                <a:solidFill>
                  <a:prstClr val="black"/>
                </a:solidFill>
              </a:rPr>
              <a:t> ):  ce trouvant sur </a:t>
            </a:r>
            <a:r>
              <a:rPr lang="fr-FR" sz="2000" b="1" dirty="0">
                <a:solidFill>
                  <a:srgbClr val="002060"/>
                </a:solidFill>
              </a:rPr>
              <a:t>les cellules de l’hôte  comme le </a:t>
            </a:r>
            <a:r>
              <a:rPr lang="fr-FR" sz="2000" b="1" dirty="0" err="1">
                <a:solidFill>
                  <a:srgbClr val="002060"/>
                </a:solidFill>
              </a:rPr>
              <a:t>recepteur</a:t>
            </a:r>
            <a:r>
              <a:rPr lang="fr-FR" sz="2000" b="1" dirty="0">
                <a:solidFill>
                  <a:srgbClr val="002060"/>
                </a:solidFill>
              </a:rPr>
              <a:t> du macrophage CD14</a:t>
            </a:r>
            <a:endParaRPr lang="fr-FR" sz="2000" b="1" dirty="0">
              <a:solidFill>
                <a:srgbClr val="002060"/>
              </a:solidFill>
            </a:endParaRPr>
          </a:p>
          <a:p>
            <a:pPr marL="0" indent="0">
              <a:buNone/>
            </a:pPr>
            <a:endParaRPr lang="fr-FR" dirty="0"/>
          </a:p>
        </p:txBody>
      </p:sp>
      <p:pic>
        <p:nvPicPr>
          <p:cNvPr id="15362" name="Picture 2" descr="C:\Users\Mounira\Pictures\3847_bismuth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08168" y="3501008"/>
            <a:ext cx="3049960" cy="316058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C:\Users\Mounira\Pictures\recepteu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9616" y="3811296"/>
            <a:ext cx="3359274" cy="2850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475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chuv-schema-immunite-inne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3752" y="131034"/>
            <a:ext cx="3375248" cy="6441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2049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xfrm>
            <a:off x="275304" y="2700696"/>
            <a:ext cx="11700386" cy="4351338"/>
          </a:xfrm>
        </p:spPr>
        <p:txBody>
          <a:bodyPr/>
          <a:lstStyle/>
          <a:p>
            <a:pPr eaLnBrk="1" hangingPunct="1"/>
            <a:r>
              <a:rPr lang="fr-FR" altLang="fr-FR" dirty="0"/>
              <a:t>En 1881 , l'équipe de Pasteur met au point le </a:t>
            </a:r>
            <a:r>
              <a:rPr lang="fr-FR" altLang="fr-FR" b="1" dirty="0" smtClean="0">
                <a:solidFill>
                  <a:srgbClr val="FF0000"/>
                </a:solidFill>
              </a:rPr>
              <a:t>vaccin</a:t>
            </a:r>
            <a:r>
              <a:rPr lang="fr-FR" altLang="fr-FR" dirty="0" smtClean="0"/>
              <a:t> </a:t>
            </a:r>
            <a:r>
              <a:rPr lang="fr-FR" altLang="fr-FR" dirty="0"/>
              <a:t>contre le </a:t>
            </a:r>
            <a:r>
              <a:rPr lang="fr-FR" altLang="fr-FR" b="1" dirty="0" smtClean="0">
                <a:solidFill>
                  <a:srgbClr val="FF0000"/>
                </a:solidFill>
              </a:rPr>
              <a:t>charbon </a:t>
            </a:r>
            <a:r>
              <a:rPr lang="fr-FR" altLang="fr-FR" dirty="0" smtClean="0"/>
              <a:t>des </a:t>
            </a:r>
            <a:r>
              <a:rPr lang="fr-FR" altLang="fr-FR" dirty="0"/>
              <a:t>moutons </a:t>
            </a:r>
          </a:p>
          <a:p>
            <a:pPr eaLnBrk="1" hangingPunct="1"/>
            <a:r>
              <a:rPr lang="fr-FR" altLang="fr-FR" dirty="0"/>
              <a:t>En 1888, vaccin contre la </a:t>
            </a:r>
            <a:r>
              <a:rPr lang="fr-FR" altLang="fr-FR" b="1" dirty="0">
                <a:solidFill>
                  <a:srgbClr val="FF0000"/>
                </a:solidFill>
              </a:rPr>
              <a:t>rage</a:t>
            </a:r>
            <a:r>
              <a:rPr lang="fr-FR" altLang="fr-FR" dirty="0"/>
              <a:t> </a:t>
            </a:r>
          </a:p>
        </p:txBody>
      </p:sp>
      <p:pic>
        <p:nvPicPr>
          <p:cNvPr id="14339" name="Picture 4"/>
          <p:cNvPicPr>
            <a:picLocks noGrp="1" noChangeAspect="1" noChangeArrowheads="1"/>
          </p:cNvPicPr>
          <p:nvPr>
            <p:ph type="title"/>
          </p:nvPr>
        </p:nvPicPr>
        <p:blipFill>
          <a:blip r:embed="rId2">
            <a:extLst>
              <a:ext uri="{28A0092B-C50C-407E-A947-70E740481C1C}">
                <a14:useLocalDpi xmlns:a14="http://schemas.microsoft.com/office/drawing/2010/main" val="0"/>
              </a:ext>
            </a:extLst>
          </a:blip>
          <a:srcRect/>
          <a:stretch>
            <a:fillRect/>
          </a:stretch>
        </p:blipFill>
        <p:spPr>
          <a:xfrm>
            <a:off x="689591" y="462116"/>
            <a:ext cx="4105275" cy="1989138"/>
          </a:xfrm>
          <a:noFill/>
        </p:spPr>
      </p:pic>
      <p:sp>
        <p:nvSpPr>
          <p:cNvPr id="14340" name="Rectangle 5"/>
          <p:cNvSpPr>
            <a:spLocks noChangeArrowheads="1"/>
          </p:cNvSpPr>
          <p:nvPr/>
        </p:nvSpPr>
        <p:spPr bwMode="auto">
          <a:xfrm>
            <a:off x="6600825" y="549275"/>
            <a:ext cx="3536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fr-FR" altLang="fr-FR" b="1"/>
              <a:t>Vaccination contre le charbon du mouton</a:t>
            </a:r>
          </a:p>
        </p:txBody>
      </p:sp>
    </p:spTree>
    <p:extLst>
      <p:ext uri="{BB962C8B-B14F-4D97-AF65-F5344CB8AC3E}">
        <p14:creationId xmlns:p14="http://schemas.microsoft.com/office/powerpoint/2010/main" val="17252884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43713"/>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dirty="0">
                <a:solidFill>
                  <a:srgbClr val="FF0000"/>
                </a:solidFill>
              </a:rPr>
              <a:t>INTRODUCTION</a:t>
            </a:r>
            <a:endParaRPr sz="3700" dirty="0">
              <a:solidFill>
                <a:srgbClr val="FF0000"/>
              </a:solidFill>
            </a:endParaRPr>
          </a:p>
        </p:txBody>
      </p:sp>
      <p:sp>
        <p:nvSpPr>
          <p:cNvPr id="4" name="object 4"/>
          <p:cNvSpPr txBox="1"/>
          <p:nvPr/>
        </p:nvSpPr>
        <p:spPr>
          <a:xfrm>
            <a:off x="688340" y="1300131"/>
            <a:ext cx="10713720" cy="1396536"/>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En 1886, </a:t>
            </a:r>
            <a:r>
              <a:rPr lang="fr-FR" sz="2800" b="1" dirty="0" smtClean="0"/>
              <a:t>Haeckel</a:t>
            </a:r>
            <a:r>
              <a:rPr lang="fr-FR" sz="2800" dirty="0" smtClean="0"/>
              <a:t> crée le terme de protistes pour désigner, entre le monde animal et le monde végétal, les êtres unicellulaires et les êtres pluricellulaires sans tissu différencié. </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4607" y="2855534"/>
            <a:ext cx="2746580" cy="3839607"/>
          </a:xfrm>
          <a:prstGeom prst="rect">
            <a:avLst/>
          </a:prstGeom>
        </p:spPr>
      </p:pic>
      <p:sp>
        <p:nvSpPr>
          <p:cNvPr id="6" name="Rectangle 5"/>
          <p:cNvSpPr/>
          <p:nvPr/>
        </p:nvSpPr>
        <p:spPr>
          <a:xfrm>
            <a:off x="688340" y="2924360"/>
            <a:ext cx="4719402" cy="14804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t>The Origine of eucaryote</a:t>
            </a:r>
            <a:endParaRPr lang="fr-FR" sz="3600" b="1" dirty="0"/>
          </a:p>
        </p:txBody>
      </p:sp>
    </p:spTree>
    <p:extLst>
      <p:ext uri="{BB962C8B-B14F-4D97-AF65-F5344CB8AC3E}">
        <p14:creationId xmlns:p14="http://schemas.microsoft.com/office/powerpoint/2010/main" val="40378847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43713"/>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b="1" dirty="0">
                <a:solidFill>
                  <a:srgbClr val="FF0000"/>
                </a:solidFill>
              </a:rPr>
              <a:t>INTRODUCTION</a:t>
            </a:r>
            <a:endParaRPr sz="3700" b="1" dirty="0">
              <a:solidFill>
                <a:srgbClr val="FF0000"/>
              </a:solidFill>
            </a:endParaRPr>
          </a:p>
        </p:txBody>
      </p:sp>
      <p:sp>
        <p:nvSpPr>
          <p:cNvPr id="4" name="object 4"/>
          <p:cNvSpPr txBox="1"/>
          <p:nvPr/>
        </p:nvSpPr>
        <p:spPr>
          <a:xfrm>
            <a:off x="688340" y="1300131"/>
            <a:ext cx="10713720" cy="511679"/>
          </a:xfrm>
          <a:prstGeom prst="rect">
            <a:avLst/>
          </a:prstGeom>
        </p:spPr>
        <p:txBody>
          <a:bodyPr vert="horz" wrap="square" lIns="0" tIns="102870" rIns="0" bIns="0" rtlCol="0">
            <a:spAutoFit/>
          </a:bodyPr>
          <a:lstStyle/>
          <a:p>
            <a:pPr>
              <a:lnSpc>
                <a:spcPct val="100000"/>
              </a:lnSpc>
              <a:spcBef>
                <a:spcPts val="1650"/>
              </a:spcBef>
              <a:buClr>
                <a:srgbClr val="E15322"/>
              </a:buClr>
            </a:pPr>
            <a:endParaRPr sz="2650" dirty="0">
              <a:latin typeface="Calibri"/>
              <a:cs typeface="Calibri"/>
            </a:endParaRPr>
          </a:p>
        </p:txBody>
      </p:sp>
    </p:spTree>
    <p:extLst>
      <p:ext uri="{BB962C8B-B14F-4D97-AF65-F5344CB8AC3E}">
        <p14:creationId xmlns:p14="http://schemas.microsoft.com/office/powerpoint/2010/main" val="35156153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880089487"/>
              </p:ext>
            </p:extLst>
          </p:nvPr>
        </p:nvGraphicFramePr>
        <p:xfrm>
          <a:off x="0" y="138681"/>
          <a:ext cx="12192000" cy="7382376"/>
        </p:xfrm>
        <a:graphic>
          <a:graphicData uri="http://schemas.openxmlformats.org/drawingml/2006/table">
            <a:tbl>
              <a:tblPr/>
              <a:tblGrid>
                <a:gridCol w="4064000">
                  <a:extLst>
                    <a:ext uri="{9D8B030D-6E8A-4147-A177-3AD203B41FA5}">
                      <a16:colId xmlns:a16="http://schemas.microsoft.com/office/drawing/2014/main" val="84974928"/>
                    </a:ext>
                  </a:extLst>
                </a:gridCol>
                <a:gridCol w="4064000">
                  <a:extLst>
                    <a:ext uri="{9D8B030D-6E8A-4147-A177-3AD203B41FA5}">
                      <a16:colId xmlns:a16="http://schemas.microsoft.com/office/drawing/2014/main" val="2476946016"/>
                    </a:ext>
                  </a:extLst>
                </a:gridCol>
                <a:gridCol w="4064000">
                  <a:extLst>
                    <a:ext uri="{9D8B030D-6E8A-4147-A177-3AD203B41FA5}">
                      <a16:colId xmlns:a16="http://schemas.microsoft.com/office/drawing/2014/main" val="2145404308"/>
                    </a:ext>
                  </a:extLst>
                </a:gridCol>
              </a:tblGrid>
              <a:tr h="1085146">
                <a:tc>
                  <a:txBody>
                    <a:bodyPr/>
                    <a:lstStyle/>
                    <a:p>
                      <a:pPr fontAlgn="t"/>
                      <a:r>
                        <a:rPr lang="fr-FR" sz="3200">
                          <a:effectLst/>
                        </a:rPr>
                        <a:t/>
                      </a:r>
                      <a:br>
                        <a:rPr lang="fr-FR" sz="3200">
                          <a:effectLst/>
                        </a:rPr>
                      </a:b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3600" b="1" i="0" u="none" strike="noStrike">
                          <a:solidFill>
                            <a:srgbClr val="000000"/>
                          </a:solidFill>
                          <a:effectLst/>
                          <a:latin typeface="Calibri" panose="020F0502020204030204" pitchFamily="34" charset="0"/>
                        </a:rPr>
                        <a:t>Bacteria</a:t>
                      </a:r>
                      <a:endParaRPr lang="fr-FR" sz="6000">
                        <a:effectLst/>
                      </a:endParaRPr>
                    </a:p>
                  </a:txBody>
                  <a:tcPr marL="47070" marR="47070" marT="31380" marB="31380">
                    <a:lnL>
                      <a:noFill/>
                    </a:lnL>
                    <a:lnR>
                      <a:noFill/>
                    </a:lnR>
                    <a:lnT w="6350" cap="flat" cmpd="sng" algn="ctr">
                      <a:solidFill>
                        <a:srgbClr val="FFFFFF"/>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3600" b="1" i="0" u="none" strike="noStrike" dirty="0" err="1">
                          <a:solidFill>
                            <a:srgbClr val="000000"/>
                          </a:solidFill>
                          <a:effectLst/>
                          <a:latin typeface="Calibri" panose="020F0502020204030204" pitchFamily="34" charset="0"/>
                        </a:rPr>
                        <a:t>Eucarya</a:t>
                      </a:r>
                      <a:endParaRPr lang="fr-FR" sz="6000" dirty="0">
                        <a:effectLst/>
                      </a:endParaRPr>
                    </a:p>
                  </a:txBody>
                  <a:tcPr marL="47070" marR="47070" marT="31380" marB="31380">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extLst>
                  <a:ext uri="{0D108BD9-81ED-4DB2-BD59-A6C34878D82A}">
                    <a16:rowId xmlns:a16="http://schemas.microsoft.com/office/drawing/2014/main" val="3807300225"/>
                  </a:ext>
                </a:extLst>
              </a:tr>
              <a:tr h="575374">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Noyau délimité par une enveloppe</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Non</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tc>
                  <a:txBody>
                    <a:bodyPr/>
                    <a:lstStyle/>
                    <a:p>
                      <a:pPr marR="493395" rtl="0" fontAlgn="t">
                        <a:spcBef>
                          <a:spcPts val="0"/>
                        </a:spcBef>
                        <a:spcAft>
                          <a:spcPts val="0"/>
                        </a:spcAft>
                      </a:pPr>
                      <a:r>
                        <a:rPr lang="fr-FR" sz="2400" b="0" i="0" u="none" strike="noStrike">
                          <a:solidFill>
                            <a:srgbClr val="000000"/>
                          </a:solidFill>
                          <a:effectLst/>
                          <a:latin typeface="Calibri" panose="020F0502020204030204" pitchFamily="34" charset="0"/>
                        </a:rPr>
                        <a:t>Oui</a:t>
                      </a:r>
                      <a:endParaRPr lang="fr-FR" sz="440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extLst>
                  <a:ext uri="{0D108BD9-81ED-4DB2-BD59-A6C34878D82A}">
                    <a16:rowId xmlns:a16="http://schemas.microsoft.com/office/drawing/2014/main" val="1608284363"/>
                  </a:ext>
                </a:extLst>
              </a:tr>
              <a:tr h="425671">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ADN lié à des histones</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Non</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Oui</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val="3529804910"/>
                  </a:ext>
                </a:extLst>
              </a:tr>
              <a:tr h="425671">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Chromosome</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01 circulaire</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tc>
                  <a:txBody>
                    <a:bodyPr/>
                    <a:lstStyle/>
                    <a:p>
                      <a:pPr marR="493395" rtl="0" fontAlgn="t">
                        <a:spcBef>
                          <a:spcPts val="0"/>
                        </a:spcBef>
                        <a:spcAft>
                          <a:spcPts val="0"/>
                        </a:spcAft>
                      </a:pPr>
                      <a:r>
                        <a:rPr lang="fr-FR" sz="2400" b="0" i="0" u="none" strike="noStrike">
                          <a:solidFill>
                            <a:srgbClr val="000000"/>
                          </a:solidFill>
                          <a:effectLst/>
                          <a:latin typeface="Calibri" panose="020F0502020204030204" pitchFamily="34" charset="0"/>
                        </a:rPr>
                        <a:t>&gt; 01 linéaire  </a:t>
                      </a:r>
                      <a:endParaRPr lang="fr-FR" sz="440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extLst>
                  <a:ext uri="{0D108BD9-81ED-4DB2-BD59-A6C34878D82A}">
                    <a16:rowId xmlns:a16="http://schemas.microsoft.com/office/drawing/2014/main" val="1470614143"/>
                  </a:ext>
                </a:extLst>
              </a:tr>
              <a:tr h="425671">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Plasmides</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Nombreux</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tc>
                  <a:txBody>
                    <a:bodyPr/>
                    <a:lstStyle/>
                    <a:p>
                      <a:pPr marR="493395" rtl="0" fontAlgn="t">
                        <a:spcBef>
                          <a:spcPts val="0"/>
                        </a:spcBef>
                        <a:spcAft>
                          <a:spcPts val="0"/>
                        </a:spcAft>
                      </a:pPr>
                      <a:r>
                        <a:rPr lang="fr-FR" sz="2400" b="0" i="0" u="none" strike="noStrike">
                          <a:solidFill>
                            <a:srgbClr val="000000"/>
                          </a:solidFill>
                          <a:effectLst/>
                          <a:latin typeface="Calibri" panose="020F0502020204030204" pitchFamily="34" charset="0"/>
                        </a:rPr>
                        <a:t>Absence</a:t>
                      </a:r>
                      <a:endParaRPr lang="fr-FR" sz="440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val="4141824899"/>
                  </a:ext>
                </a:extLst>
              </a:tr>
              <a:tr h="425671">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Nucléole</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Non</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Oui</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extLst>
                  <a:ext uri="{0D108BD9-81ED-4DB2-BD59-A6C34878D82A}">
                    <a16:rowId xmlns:a16="http://schemas.microsoft.com/office/drawing/2014/main" val="1368336147"/>
                  </a:ext>
                </a:extLst>
              </a:tr>
              <a:tr h="1152328">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Les organites</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Absence</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Mitochondries </a:t>
                      </a:r>
                      <a:endParaRPr lang="fr-FR" sz="4400" dirty="0">
                        <a:effectLst/>
                      </a:endParaRPr>
                    </a:p>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Appareil de Golgi </a:t>
                      </a:r>
                      <a:endParaRPr lang="fr-FR" sz="4400" dirty="0">
                        <a:effectLst/>
                      </a:endParaRPr>
                    </a:p>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Réticulum endoplasmique</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val="1990672720"/>
                  </a:ext>
                </a:extLst>
              </a:tr>
              <a:tr h="425671">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Cytosquelette</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a:solidFill>
                            <a:srgbClr val="000000"/>
                          </a:solidFill>
                          <a:effectLst/>
                          <a:latin typeface="Calibri" panose="020F0502020204030204" pitchFamily="34" charset="0"/>
                        </a:rPr>
                        <a:t>Rudimentaire</a:t>
                      </a:r>
                      <a:endParaRPr lang="fr-FR" sz="440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Oui</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extLst>
                  <a:ext uri="{0D108BD9-81ED-4DB2-BD59-A6C34878D82A}">
                    <a16:rowId xmlns:a16="http://schemas.microsoft.com/office/drawing/2014/main" val="3599777540"/>
                  </a:ext>
                </a:extLst>
              </a:tr>
              <a:tr h="425671">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Respiration</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a:solidFill>
                            <a:srgbClr val="000000"/>
                          </a:solidFill>
                          <a:effectLst/>
                          <a:latin typeface="Calibri" panose="020F0502020204030204" pitchFamily="34" charset="0"/>
                        </a:rPr>
                        <a:t>Membrane  cytoplasmique  </a:t>
                      </a:r>
                      <a:endParaRPr lang="fr-FR" sz="440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Mitochondries  </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val="19728199"/>
                  </a:ext>
                </a:extLst>
              </a:tr>
              <a:tr h="575374">
                <a:tc>
                  <a:txBody>
                    <a:bodyPr/>
                    <a:lstStyle/>
                    <a:p>
                      <a:pPr marR="493395" rtl="0" fontAlgn="t">
                        <a:spcBef>
                          <a:spcPts val="0"/>
                        </a:spcBef>
                        <a:spcAft>
                          <a:spcPts val="0"/>
                        </a:spcAft>
                      </a:pPr>
                      <a:r>
                        <a:rPr lang="fr-FR" sz="1600" b="1" i="0" u="none" strike="noStrike">
                          <a:solidFill>
                            <a:srgbClr val="000000"/>
                          </a:solidFill>
                          <a:effectLst/>
                          <a:latin typeface="Calibri" panose="020F0502020204030204" pitchFamily="34" charset="0"/>
                        </a:rPr>
                        <a:t>Peptidoglycane dans la paroi cellulaire</a:t>
                      </a:r>
                      <a:endParaRPr lang="fr-FR" sz="32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Oui</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tc>
                  <a:txBody>
                    <a:bodyPr/>
                    <a:lstStyle/>
                    <a:p>
                      <a:pPr marR="493395" rtl="0" fontAlgn="t">
                        <a:spcBef>
                          <a:spcPts val="0"/>
                        </a:spcBef>
                        <a:spcAft>
                          <a:spcPts val="0"/>
                        </a:spcAft>
                      </a:pPr>
                      <a:r>
                        <a:rPr lang="fr-FR" sz="2400" b="0" i="0" u="none" strike="noStrike" dirty="0">
                          <a:solidFill>
                            <a:srgbClr val="000000"/>
                          </a:solidFill>
                          <a:effectLst/>
                          <a:latin typeface="Calibri" panose="020F0502020204030204" pitchFamily="34" charset="0"/>
                        </a:rPr>
                        <a:t>Non </a:t>
                      </a:r>
                      <a:endParaRPr lang="fr-FR" sz="44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extLst>
                  <a:ext uri="{0D108BD9-81ED-4DB2-BD59-A6C34878D82A}">
                    <a16:rowId xmlns:a16="http://schemas.microsoft.com/office/drawing/2014/main" val="2384413830"/>
                  </a:ext>
                </a:extLst>
              </a:tr>
              <a:tr h="925842">
                <a:tc>
                  <a:txBody>
                    <a:bodyPr/>
                    <a:lstStyle/>
                    <a:p>
                      <a:pPr marR="493395" rtl="0" fontAlgn="t">
                        <a:spcBef>
                          <a:spcPts val="0"/>
                        </a:spcBef>
                        <a:spcAft>
                          <a:spcPts val="0"/>
                        </a:spcAft>
                      </a:pPr>
                      <a:r>
                        <a:rPr lang="fr-FR" sz="1800" b="1" i="0" u="none" strike="noStrike" dirty="0">
                          <a:solidFill>
                            <a:srgbClr val="000000"/>
                          </a:solidFill>
                          <a:effectLst/>
                          <a:latin typeface="Calibri" panose="020F0502020204030204" pitchFamily="34" charset="0"/>
                        </a:rPr>
                        <a:t>Transport des nutriments et des déchets</a:t>
                      </a:r>
                      <a:endParaRPr lang="fr-FR" sz="3600" dirty="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800" b="0" i="0" u="none" strike="noStrike" dirty="0">
                          <a:solidFill>
                            <a:srgbClr val="000000"/>
                          </a:solidFill>
                          <a:effectLst/>
                          <a:latin typeface="Calibri" panose="020F0502020204030204" pitchFamily="34" charset="0"/>
                        </a:rPr>
                        <a:t>Actif ou facilité</a:t>
                      </a:r>
                      <a:endParaRPr lang="fr-FR" sz="48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tc>
                  <a:txBody>
                    <a:bodyPr/>
                    <a:lstStyle/>
                    <a:p>
                      <a:pPr marR="493395" rtl="0" fontAlgn="t">
                        <a:spcBef>
                          <a:spcPts val="0"/>
                        </a:spcBef>
                        <a:spcAft>
                          <a:spcPts val="0"/>
                        </a:spcAft>
                      </a:pPr>
                      <a:r>
                        <a:rPr lang="fr-FR" sz="2800" b="0" i="0" u="none" strike="noStrike" dirty="0" err="1">
                          <a:solidFill>
                            <a:srgbClr val="000000"/>
                          </a:solidFill>
                          <a:effectLst/>
                          <a:latin typeface="Calibri" panose="020F0502020204030204" pitchFamily="34" charset="0"/>
                        </a:rPr>
                        <a:t>Endo</a:t>
                      </a:r>
                      <a:r>
                        <a:rPr lang="fr-FR" sz="2800" b="0" i="0" u="none" strike="noStrike" dirty="0">
                          <a:solidFill>
                            <a:srgbClr val="000000"/>
                          </a:solidFill>
                          <a:effectLst/>
                          <a:latin typeface="Calibri" panose="020F0502020204030204" pitchFamily="34" charset="0"/>
                        </a:rPr>
                        <a:t> et exocytose  </a:t>
                      </a:r>
                      <a:endParaRPr lang="fr-FR" sz="48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val="1512118793"/>
                  </a:ext>
                </a:extLst>
              </a:tr>
              <a:tr h="486226">
                <a:tc>
                  <a:txBody>
                    <a:bodyPr/>
                    <a:lstStyle/>
                    <a:p>
                      <a:pPr marR="493395" rtl="0" fontAlgn="t">
                        <a:spcBef>
                          <a:spcPts val="0"/>
                        </a:spcBef>
                        <a:spcAft>
                          <a:spcPts val="0"/>
                        </a:spcAft>
                      </a:pPr>
                      <a:r>
                        <a:rPr lang="fr-FR" sz="1800" b="1" i="0" u="none" strike="noStrike">
                          <a:solidFill>
                            <a:srgbClr val="000000"/>
                          </a:solidFill>
                          <a:effectLst/>
                          <a:latin typeface="Calibri" panose="020F0502020204030204" pitchFamily="34" charset="0"/>
                        </a:rPr>
                        <a:t>Taille des ribosomes</a:t>
                      </a:r>
                      <a:endParaRPr lang="fr-FR" sz="3600">
                        <a:effectLst/>
                      </a:endParaRPr>
                    </a:p>
                  </a:txBody>
                  <a:tcPr marL="47070" marR="47070" marT="31380" marB="31380">
                    <a:lnL w="6350" cap="flat" cmpd="sng" algn="ctr">
                      <a:solidFill>
                        <a:srgbClr val="FFFFFF"/>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AD47"/>
                    </a:solidFill>
                  </a:tcPr>
                </a:tc>
                <a:tc>
                  <a:txBody>
                    <a:bodyPr/>
                    <a:lstStyle/>
                    <a:p>
                      <a:pPr marR="493395" rtl="0" fontAlgn="t">
                        <a:spcBef>
                          <a:spcPts val="0"/>
                        </a:spcBef>
                        <a:spcAft>
                          <a:spcPts val="0"/>
                        </a:spcAft>
                      </a:pPr>
                      <a:r>
                        <a:rPr lang="fr-FR" sz="2800" b="0" i="0" u="none" strike="noStrike" dirty="0">
                          <a:solidFill>
                            <a:srgbClr val="000000"/>
                          </a:solidFill>
                          <a:effectLst/>
                          <a:latin typeface="Calibri" panose="020F0502020204030204" pitchFamily="34" charset="0"/>
                        </a:rPr>
                        <a:t>70S</a:t>
                      </a:r>
                      <a:endParaRPr lang="fr-FR" sz="48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tc>
                  <a:txBody>
                    <a:bodyPr/>
                    <a:lstStyle/>
                    <a:p>
                      <a:pPr marR="493395" rtl="0" fontAlgn="t">
                        <a:spcBef>
                          <a:spcPts val="0"/>
                        </a:spcBef>
                        <a:spcAft>
                          <a:spcPts val="0"/>
                        </a:spcAft>
                      </a:pPr>
                      <a:r>
                        <a:rPr lang="fr-FR" sz="2800" b="0" i="0" u="none" strike="noStrike" dirty="0">
                          <a:solidFill>
                            <a:srgbClr val="000000"/>
                          </a:solidFill>
                          <a:effectLst/>
                          <a:latin typeface="Calibri" panose="020F0502020204030204" pitchFamily="34" charset="0"/>
                        </a:rPr>
                        <a:t>80S</a:t>
                      </a:r>
                      <a:endParaRPr lang="fr-FR" sz="4800" dirty="0">
                        <a:effectLst/>
                      </a:endParaRPr>
                    </a:p>
                  </a:txBody>
                  <a:tcPr marL="47070" marR="47070" marT="31380" marB="31380">
                    <a:lnL w="6350" cap="flat" cmpd="sng" algn="ctr">
                      <a:solidFill>
                        <a:srgbClr val="A8D08D"/>
                      </a:solidFill>
                      <a:prstDash val="solid"/>
                      <a:round/>
                      <a:headEnd type="none" w="med" len="med"/>
                      <a:tailEnd type="none" w="med" len="med"/>
                    </a:lnL>
                    <a:lnR w="6350" cap="flat" cmpd="sng" algn="ctr">
                      <a:solidFill>
                        <a:srgbClr val="A8D08D"/>
                      </a:solidFill>
                      <a:prstDash val="solid"/>
                      <a:round/>
                      <a:headEnd type="none" w="med" len="med"/>
                      <a:tailEnd type="none" w="med" len="med"/>
                    </a:lnR>
                    <a:lnT w="6350" cap="flat" cmpd="sng" algn="ctr">
                      <a:solidFill>
                        <a:srgbClr val="A8D08D"/>
                      </a:solidFill>
                      <a:prstDash val="solid"/>
                      <a:round/>
                      <a:headEnd type="none" w="med" len="med"/>
                      <a:tailEnd type="none" w="med" len="med"/>
                    </a:lnT>
                    <a:lnB w="6350" cap="flat" cmpd="sng" algn="ctr">
                      <a:solidFill>
                        <a:srgbClr val="A8D08D"/>
                      </a:solidFill>
                      <a:prstDash val="solid"/>
                      <a:round/>
                      <a:headEnd type="none" w="med" len="med"/>
                      <a:tailEnd type="none" w="med" len="med"/>
                    </a:lnB>
                    <a:solidFill>
                      <a:srgbClr val="C5E0B3"/>
                    </a:solidFill>
                  </a:tcPr>
                </a:tc>
                <a:extLst>
                  <a:ext uri="{0D108BD9-81ED-4DB2-BD59-A6C34878D82A}">
                    <a16:rowId xmlns:a16="http://schemas.microsoft.com/office/drawing/2014/main" val="3175692499"/>
                  </a:ext>
                </a:extLst>
              </a:tr>
            </a:tbl>
          </a:graphicData>
        </a:graphic>
      </p:graphicFrame>
      <p:sp>
        <p:nvSpPr>
          <p:cNvPr id="7" name="Rectangle 2"/>
          <p:cNvSpPr>
            <a:spLocks noChangeArrowheads="1"/>
          </p:cNvSpPr>
          <p:nvPr/>
        </p:nvSpPr>
        <p:spPr bwMode="auto">
          <a:xfrm>
            <a:off x="4592638" y="1102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7003953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51973" y="0"/>
            <a:ext cx="6848475" cy="6210300"/>
          </a:xfrm>
          <a:prstGeom prst="rect">
            <a:avLst/>
          </a:prstGeom>
        </p:spPr>
      </p:pic>
    </p:spTree>
    <p:extLst>
      <p:ext uri="{BB962C8B-B14F-4D97-AF65-F5344CB8AC3E}">
        <p14:creationId xmlns:p14="http://schemas.microsoft.com/office/powerpoint/2010/main" val="17773416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52537" y="304800"/>
            <a:ext cx="9686925" cy="6248400"/>
          </a:xfrm>
          <a:prstGeom prst="rect">
            <a:avLst/>
          </a:prstGeom>
        </p:spPr>
      </p:pic>
    </p:spTree>
    <p:extLst>
      <p:ext uri="{BB962C8B-B14F-4D97-AF65-F5344CB8AC3E}">
        <p14:creationId xmlns:p14="http://schemas.microsoft.com/office/powerpoint/2010/main" val="39468674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43713"/>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b="1" dirty="0" smtClean="0">
                <a:solidFill>
                  <a:srgbClr val="FF0000"/>
                </a:solidFill>
              </a:rPr>
              <a:t>Formes bactériennes </a:t>
            </a:r>
            <a:endParaRPr sz="3700" b="1" dirty="0">
              <a:solidFill>
                <a:srgbClr val="FF0000"/>
              </a:solidFill>
            </a:endParaRPr>
          </a:p>
        </p:txBody>
      </p:sp>
      <p:pic>
        <p:nvPicPr>
          <p:cNvPr id="5" name="Picture 4"/>
          <p:cNvPicPr>
            <a:picLocks noChangeAspect="1"/>
          </p:cNvPicPr>
          <p:nvPr/>
        </p:nvPicPr>
        <p:blipFill>
          <a:blip r:embed="rId4"/>
          <a:stretch>
            <a:fillRect/>
          </a:stretch>
        </p:blipFill>
        <p:spPr>
          <a:xfrm>
            <a:off x="443988" y="1092455"/>
            <a:ext cx="9239250" cy="2352675"/>
          </a:xfrm>
          <a:prstGeom prst="rect">
            <a:avLst/>
          </a:prstGeom>
        </p:spPr>
      </p:pic>
      <p:sp>
        <p:nvSpPr>
          <p:cNvPr id="6" name="object 3"/>
          <p:cNvSpPr txBox="1">
            <a:spLocks/>
          </p:cNvSpPr>
          <p:nvPr/>
        </p:nvSpPr>
        <p:spPr>
          <a:xfrm>
            <a:off x="688340" y="3730319"/>
            <a:ext cx="9443720" cy="593111"/>
          </a:xfrm>
          <a:prstGeom prst="rect">
            <a:avLst/>
          </a:prstGeom>
        </p:spPr>
        <p:txBody>
          <a:bodyPr vert="horz" wrap="square" lIns="0" tIns="7937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nSpc>
                <a:spcPts val="4010"/>
              </a:lnSpc>
              <a:spcBef>
                <a:spcPts val="625"/>
              </a:spcBef>
            </a:pPr>
            <a:r>
              <a:rPr lang="fr-FR" sz="3700" b="1" dirty="0" smtClean="0">
                <a:solidFill>
                  <a:srgbClr val="FF0000"/>
                </a:solidFill>
              </a:rPr>
              <a:t>Association des bactéries </a:t>
            </a:r>
            <a:endParaRPr lang="fr-FR" sz="3700" b="1" dirty="0">
              <a:solidFill>
                <a:srgbClr val="FF0000"/>
              </a:solidFill>
            </a:endParaRPr>
          </a:p>
        </p:txBody>
      </p:sp>
      <p:pic>
        <p:nvPicPr>
          <p:cNvPr id="7" name="Picture 6"/>
          <p:cNvPicPr>
            <a:picLocks noChangeAspect="1"/>
          </p:cNvPicPr>
          <p:nvPr/>
        </p:nvPicPr>
        <p:blipFill>
          <a:blip r:embed="rId5"/>
          <a:stretch>
            <a:fillRect/>
          </a:stretch>
        </p:blipFill>
        <p:spPr>
          <a:xfrm>
            <a:off x="576416" y="4467268"/>
            <a:ext cx="8305800" cy="2124075"/>
          </a:xfrm>
          <a:prstGeom prst="rect">
            <a:avLst/>
          </a:prstGeom>
        </p:spPr>
      </p:pic>
    </p:spTree>
    <p:extLst>
      <p:ext uri="{BB962C8B-B14F-4D97-AF65-F5344CB8AC3E}">
        <p14:creationId xmlns:p14="http://schemas.microsoft.com/office/powerpoint/2010/main" val="20773655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700" b="1" dirty="0" smtClean="0">
                <a:solidFill>
                  <a:srgbClr val="FF0000"/>
                </a:solidFill>
              </a:rPr>
              <a:t>Arrangement bactérien</a:t>
            </a:r>
            <a:endParaRPr sz="37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1581896"/>
            <a:ext cx="11811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2800" dirty="0">
                <a:latin typeface="+mn-lt"/>
              </a:rPr>
              <a:t>Les cellules bactériennes peuvent également être classées en fonction de leur arrangement, ou style de groupement. </a:t>
            </a:r>
            <a:endParaRPr lang="fr-FR" sz="2800" dirty="0" smtClean="0">
              <a:latin typeface="+mn-lt"/>
            </a:endParaRPr>
          </a:p>
          <a:p>
            <a:r>
              <a:rPr lang="fr-FR" sz="2800" dirty="0" smtClean="0">
                <a:latin typeface="+mn-lt"/>
              </a:rPr>
              <a:t>Les principaux facteurs </a:t>
            </a:r>
            <a:r>
              <a:rPr lang="fr-FR" sz="2800" dirty="0">
                <a:latin typeface="+mn-lt"/>
              </a:rPr>
              <a:t>influençant l'arrangement d'un type de cellule particulier sont son </a:t>
            </a:r>
            <a:r>
              <a:rPr lang="fr-FR" sz="2800" b="1" dirty="0">
                <a:latin typeface="+mn-lt"/>
              </a:rPr>
              <a:t>mode de division</a:t>
            </a:r>
            <a:r>
              <a:rPr lang="fr-FR" sz="2800" dirty="0">
                <a:latin typeface="+mn-lt"/>
              </a:rPr>
              <a:t> pendant </a:t>
            </a:r>
            <a:r>
              <a:rPr lang="fr-FR" sz="2800" dirty="0" smtClean="0">
                <a:latin typeface="+mn-lt"/>
              </a:rPr>
              <a:t>la croissance </a:t>
            </a:r>
            <a:r>
              <a:rPr lang="fr-FR" sz="2800" dirty="0">
                <a:latin typeface="+mn-lt"/>
              </a:rPr>
              <a:t>et la façon dont les cellules restent attachées par la suite. </a:t>
            </a:r>
            <a:endParaRPr lang="fr-FR" sz="2800" dirty="0" smtClean="0">
              <a:latin typeface="+mn-lt"/>
            </a:endParaRPr>
          </a:p>
          <a:p>
            <a:r>
              <a:rPr lang="fr-FR" sz="2800" dirty="0" smtClean="0">
                <a:latin typeface="+mn-lt"/>
              </a:rPr>
              <a:t>La </a:t>
            </a:r>
            <a:r>
              <a:rPr lang="fr-FR" sz="2800" dirty="0">
                <a:latin typeface="+mn-lt"/>
              </a:rPr>
              <a:t>plus grande variété d'arrangements se </a:t>
            </a:r>
            <a:r>
              <a:rPr lang="fr-FR" sz="2800" dirty="0" smtClean="0">
                <a:latin typeface="+mn-lt"/>
              </a:rPr>
              <a:t>retrouve dans </a:t>
            </a:r>
            <a:r>
              <a:rPr lang="fr-FR" sz="2800" dirty="0">
                <a:latin typeface="+mn-lt"/>
              </a:rPr>
              <a:t>les </a:t>
            </a:r>
            <a:r>
              <a:rPr lang="fr-FR" sz="2800" b="1" dirty="0" err="1">
                <a:latin typeface="+mn-lt"/>
              </a:rPr>
              <a:t>cocci</a:t>
            </a:r>
            <a:r>
              <a:rPr lang="fr-FR" sz="2800" dirty="0">
                <a:latin typeface="+mn-lt"/>
              </a:rPr>
              <a:t>, qui peuvent être uniques, en paires (</a:t>
            </a:r>
            <a:r>
              <a:rPr lang="fr-FR" sz="2800" b="1" dirty="0">
                <a:latin typeface="+mn-lt"/>
              </a:rPr>
              <a:t>diplocoques</a:t>
            </a:r>
            <a:r>
              <a:rPr lang="fr-FR" sz="2800" dirty="0">
                <a:latin typeface="+mn-lt"/>
              </a:rPr>
              <a:t>), en tétrades (groupes de quatre), en amas irréguliers (comme chez les staphylocoques), ou en groupes de quatre (comme chez les bactéries</a:t>
            </a:r>
            <a:r>
              <a:rPr lang="fr-FR" sz="2800" dirty="0" smtClean="0">
                <a:latin typeface="+mn-lt"/>
              </a:rPr>
              <a:t>). </a:t>
            </a:r>
            <a:endParaRPr lang="fr-FR" sz="2800" dirty="0">
              <a:latin typeface="+mn-lt"/>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88392209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34603"/>
            <a:ext cx="3834063" cy="3101273"/>
          </a:xfrm>
          <a:prstGeom prst="rect">
            <a:avLst/>
          </a:prstGeom>
        </p:spPr>
      </p:pic>
      <p:sp>
        <p:nvSpPr>
          <p:cNvPr id="5" name="Rectangle 4"/>
          <p:cNvSpPr/>
          <p:nvPr/>
        </p:nvSpPr>
        <p:spPr>
          <a:xfrm>
            <a:off x="0" y="3235876"/>
            <a:ext cx="3834063" cy="485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i="1" dirty="0" smtClean="0"/>
              <a:t>(a) : Staphylococcus aureus </a:t>
            </a:r>
          </a:p>
          <a:p>
            <a:pPr algn="ctr"/>
            <a:r>
              <a:rPr lang="fr-FR" dirty="0" smtClean="0"/>
              <a:t>Grappe de raisin </a:t>
            </a:r>
            <a:endParaRPr lang="fr-FR" dirty="0"/>
          </a:p>
        </p:txBody>
      </p:sp>
      <p:pic>
        <p:nvPicPr>
          <p:cNvPr id="6" name="Picture 5"/>
          <p:cNvPicPr>
            <a:picLocks noChangeAspect="1"/>
          </p:cNvPicPr>
          <p:nvPr/>
        </p:nvPicPr>
        <p:blipFill>
          <a:blip r:embed="rId3"/>
          <a:stretch>
            <a:fillRect/>
          </a:stretch>
        </p:blipFill>
        <p:spPr>
          <a:xfrm>
            <a:off x="6083717" y="134603"/>
            <a:ext cx="3814262" cy="2934048"/>
          </a:xfrm>
          <a:prstGeom prst="rect">
            <a:avLst/>
          </a:prstGeom>
        </p:spPr>
      </p:pic>
      <p:sp>
        <p:nvSpPr>
          <p:cNvPr id="7" name="Rectangle 6"/>
          <p:cNvSpPr/>
          <p:nvPr/>
        </p:nvSpPr>
        <p:spPr>
          <a:xfrm>
            <a:off x="6083717" y="3139623"/>
            <a:ext cx="3834063" cy="485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i="1" dirty="0" smtClean="0"/>
              <a:t>(a) : </a:t>
            </a:r>
            <a:r>
              <a:rPr lang="fr-FR" sz="2000" b="1" i="1" dirty="0" err="1" smtClean="0"/>
              <a:t>Legionella</a:t>
            </a:r>
            <a:r>
              <a:rPr lang="fr-FR" sz="2000" b="1" i="1" dirty="0" smtClean="0"/>
              <a:t> </a:t>
            </a:r>
            <a:r>
              <a:rPr lang="fr-FR" sz="2000" b="1" i="1" dirty="0" err="1" smtClean="0"/>
              <a:t>pneumophila</a:t>
            </a:r>
            <a:endParaRPr lang="fr-FR" sz="2000" b="1" i="1" dirty="0" smtClean="0"/>
          </a:p>
          <a:p>
            <a:pPr algn="ctr"/>
            <a:r>
              <a:rPr lang="fr-FR" dirty="0" smtClean="0"/>
              <a:t>Aspect en chainette</a:t>
            </a:r>
            <a:endParaRPr lang="fr-FR" dirty="0"/>
          </a:p>
        </p:txBody>
      </p:sp>
      <p:pic>
        <p:nvPicPr>
          <p:cNvPr id="8" name="Picture 7"/>
          <p:cNvPicPr>
            <a:picLocks noChangeAspect="1"/>
          </p:cNvPicPr>
          <p:nvPr/>
        </p:nvPicPr>
        <p:blipFill>
          <a:blip r:embed="rId4"/>
          <a:stretch>
            <a:fillRect/>
          </a:stretch>
        </p:blipFill>
        <p:spPr>
          <a:xfrm>
            <a:off x="0" y="3886450"/>
            <a:ext cx="3962400" cy="2936591"/>
          </a:xfrm>
          <a:prstGeom prst="rect">
            <a:avLst/>
          </a:prstGeom>
        </p:spPr>
      </p:pic>
      <p:pic>
        <p:nvPicPr>
          <p:cNvPr id="9" name="Picture 8"/>
          <p:cNvPicPr>
            <a:picLocks noChangeAspect="1"/>
          </p:cNvPicPr>
          <p:nvPr/>
        </p:nvPicPr>
        <p:blipFill>
          <a:blip r:embed="rId5"/>
          <a:stretch>
            <a:fillRect/>
          </a:stretch>
        </p:blipFill>
        <p:spPr>
          <a:xfrm>
            <a:off x="6195760" y="3710214"/>
            <a:ext cx="3609975" cy="3147786"/>
          </a:xfrm>
          <a:prstGeom prst="rect">
            <a:avLst/>
          </a:prstGeom>
        </p:spPr>
      </p:pic>
    </p:spTree>
    <p:extLst>
      <p:ext uri="{BB962C8B-B14F-4D97-AF65-F5344CB8AC3E}">
        <p14:creationId xmlns:p14="http://schemas.microsoft.com/office/powerpoint/2010/main" val="11096785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14550"/>
            <a:ext cx="11903242" cy="3831808"/>
          </a:xfrm>
          <a:prstGeom prst="rect">
            <a:avLst/>
          </a:prstGeom>
        </p:spPr>
      </p:pic>
      <p:pic>
        <p:nvPicPr>
          <p:cNvPr id="5" name="Picture 4"/>
          <p:cNvPicPr>
            <a:picLocks noChangeAspect="1"/>
          </p:cNvPicPr>
          <p:nvPr/>
        </p:nvPicPr>
        <p:blipFill>
          <a:blip r:embed="rId3"/>
          <a:stretch>
            <a:fillRect/>
          </a:stretch>
        </p:blipFill>
        <p:spPr>
          <a:xfrm>
            <a:off x="0" y="4027740"/>
            <a:ext cx="5417719" cy="2830260"/>
          </a:xfrm>
          <a:prstGeom prst="rect">
            <a:avLst/>
          </a:prstGeom>
        </p:spPr>
      </p:pic>
    </p:spTree>
    <p:extLst>
      <p:ext uri="{BB962C8B-B14F-4D97-AF65-F5344CB8AC3E}">
        <p14:creationId xmlns:p14="http://schemas.microsoft.com/office/powerpoint/2010/main" val="33661643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4"/>
          <a:stretch>
            <a:fillRect/>
          </a:stretch>
        </p:blipFill>
        <p:spPr>
          <a:xfrm>
            <a:off x="6470399" y="194439"/>
            <a:ext cx="5721600" cy="6222403"/>
          </a:xfrm>
          <a:prstGeom prst="rect">
            <a:avLst/>
          </a:prstGeom>
        </p:spPr>
      </p:pic>
      <p:sp>
        <p:nvSpPr>
          <p:cNvPr id="10" name="Rectangle 9"/>
          <p:cNvSpPr/>
          <p:nvPr/>
        </p:nvSpPr>
        <p:spPr>
          <a:xfrm>
            <a:off x="374399" y="601216"/>
            <a:ext cx="6096000" cy="3416320"/>
          </a:xfrm>
          <a:prstGeom prst="rect">
            <a:avLst/>
          </a:prstGeom>
        </p:spPr>
        <p:txBody>
          <a:bodyPr>
            <a:spAutoFit/>
          </a:bodyPr>
          <a:lstStyle/>
          <a:p>
            <a:r>
              <a:rPr lang="fr-FR" sz="2400" dirty="0"/>
              <a:t>La disposition des bâtonnets est moins variée, car ils ne se divisent que dans un seul plan. Ils se présentent soit </a:t>
            </a:r>
            <a:r>
              <a:rPr lang="fr-FR" sz="2400" dirty="0" smtClean="0"/>
              <a:t>comme cellule </a:t>
            </a:r>
            <a:r>
              <a:rPr lang="fr-FR" sz="2400" dirty="0"/>
              <a:t>unique, soit en paire de cellules dont les extrémités sont attachées (</a:t>
            </a:r>
            <a:r>
              <a:rPr lang="fr-FR" sz="2400" dirty="0" err="1"/>
              <a:t>diplobacilles</a:t>
            </a:r>
            <a:r>
              <a:rPr lang="fr-FR" sz="2400" dirty="0"/>
              <a:t>), soit en chaîne de plusieurs cellules (streptobacilles</a:t>
            </a:r>
            <a:r>
              <a:rPr lang="fr-FR" sz="2400" dirty="0" smtClean="0"/>
              <a:t>).</a:t>
            </a:r>
          </a:p>
          <a:p>
            <a:endParaRPr lang="fr-FR" sz="2400" dirty="0"/>
          </a:p>
          <a:p>
            <a:r>
              <a:rPr lang="fr-FR" sz="2400" dirty="0" smtClean="0"/>
              <a:t>La </a:t>
            </a:r>
            <a:r>
              <a:rPr lang="fr-FR" sz="2400" dirty="0"/>
              <a:t>disposition en palissades </a:t>
            </a:r>
            <a:r>
              <a:rPr lang="fr-FR" sz="2400" dirty="0" smtClean="0"/>
              <a:t>typique </a:t>
            </a:r>
            <a:r>
              <a:rPr lang="fr-FR" sz="2400" dirty="0"/>
              <a:t>des espèces de </a:t>
            </a:r>
            <a:r>
              <a:rPr lang="fr-FR" sz="2400" i="1" dirty="0" err="1" smtClean="0"/>
              <a:t>Corynebacterium</a:t>
            </a:r>
            <a:r>
              <a:rPr lang="fr-FR" sz="2400" i="1" dirty="0" smtClean="0"/>
              <a:t> </a:t>
            </a:r>
            <a:r>
              <a:rPr lang="fr-FR" sz="2400" i="1" dirty="0" err="1" smtClean="0"/>
              <a:t>sp</a:t>
            </a:r>
            <a:r>
              <a:rPr lang="fr-FR" sz="2400" dirty="0" smtClean="0"/>
              <a:t>,</a:t>
            </a:r>
            <a:endParaRPr lang="fr-FR" sz="2400" dirty="0"/>
          </a:p>
        </p:txBody>
      </p:sp>
    </p:spTree>
    <p:extLst>
      <p:ext uri="{BB962C8B-B14F-4D97-AF65-F5344CB8AC3E}">
        <p14:creationId xmlns:p14="http://schemas.microsoft.com/office/powerpoint/2010/main" val="29657010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Taxonomie bactérienne </a:t>
            </a:r>
            <a:endParaRPr sz="36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1797341"/>
            <a:ext cx="120015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fr-FR" sz="2800" dirty="0" smtClean="0">
              <a:latin typeface="+mn-lt"/>
            </a:endParaRPr>
          </a:p>
          <a:p>
            <a:r>
              <a:rPr lang="fr-FR" sz="2800" dirty="0" smtClean="0">
                <a:latin typeface="+mn-lt"/>
              </a:rPr>
              <a:t>Récemment, les techniques de biologie moléculaire ont changé la façon de classer les bactéries. </a:t>
            </a:r>
          </a:p>
          <a:p>
            <a:endParaRPr lang="fr-FR" sz="2800" dirty="0">
              <a:latin typeface="+mn-lt"/>
            </a:endParaRPr>
          </a:p>
          <a:p>
            <a:r>
              <a:rPr lang="fr-FR" sz="2800" dirty="0" smtClean="0">
                <a:latin typeface="+mn-lt"/>
              </a:rPr>
              <a:t>La définition de l’espèce tient compte à la fois des caractères génotypiques et phénotypiques. « L’espèce est constituée d’un groupe de souches </a:t>
            </a:r>
            <a:r>
              <a:rPr lang="fr-FR" sz="2800" dirty="0" err="1" smtClean="0">
                <a:latin typeface="+mn-lt"/>
              </a:rPr>
              <a:t>génomiquement</a:t>
            </a:r>
            <a:r>
              <a:rPr lang="fr-FR" sz="2800" dirty="0" smtClean="0">
                <a:latin typeface="+mn-lt"/>
              </a:rPr>
              <a:t> cohérent et montrant un haut degré de similitudes vis-à-vis de plusieurs caractères indépendants testés au moyen de méthodes standardisées ».</a:t>
            </a:r>
            <a:endParaRPr lang="fr-FR" sz="2800" b="0" dirty="0" smtClean="0">
              <a:effectLst/>
              <a:latin typeface="+mn-lt"/>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9305593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135" y="0"/>
            <a:ext cx="6707329" cy="6858000"/>
          </a:xfrm>
          <a:prstGeom prst="rect">
            <a:avLst/>
          </a:prstGeom>
        </p:spPr>
      </p:pic>
      <p:sp>
        <p:nvSpPr>
          <p:cNvPr id="7" name="Rectangle 6"/>
          <p:cNvSpPr/>
          <p:nvPr/>
        </p:nvSpPr>
        <p:spPr>
          <a:xfrm>
            <a:off x="7000240" y="1374960"/>
            <a:ext cx="4719402" cy="14804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t>Arbre phylogénique </a:t>
            </a:r>
            <a:endParaRPr lang="fr-FR" sz="3600" b="1" dirty="0"/>
          </a:p>
        </p:txBody>
      </p:sp>
    </p:spTree>
    <p:extLst>
      <p:ext uri="{BB962C8B-B14F-4D97-AF65-F5344CB8AC3E}">
        <p14:creationId xmlns:p14="http://schemas.microsoft.com/office/powerpoint/2010/main" val="24866256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sp>
        <p:nvSpPr>
          <p:cNvPr id="3" name="Content Placeholder 2"/>
          <p:cNvSpPr>
            <a:spLocks noGrp="1"/>
          </p:cNvSpPr>
          <p:nvPr>
            <p:ph idx="1"/>
          </p:nvPr>
        </p:nvSpPr>
        <p:spPr/>
        <p:txBody>
          <a:bodyPr/>
          <a:lstStyle/>
          <a:p>
            <a:endParaRPr lang="fr-FR"/>
          </a:p>
        </p:txBody>
      </p:sp>
      <p:pic>
        <p:nvPicPr>
          <p:cNvPr id="4" name="Picture 3"/>
          <p:cNvPicPr>
            <a:picLocks noChangeAspect="1"/>
          </p:cNvPicPr>
          <p:nvPr/>
        </p:nvPicPr>
        <p:blipFill>
          <a:blip r:embed="rId2"/>
          <a:stretch>
            <a:fillRect/>
          </a:stretch>
        </p:blipFill>
        <p:spPr>
          <a:xfrm>
            <a:off x="15506" y="-8744"/>
            <a:ext cx="12176494" cy="6866744"/>
          </a:xfrm>
          <a:prstGeom prst="rect">
            <a:avLst/>
          </a:prstGeom>
        </p:spPr>
      </p:pic>
    </p:spTree>
    <p:extLst>
      <p:ext uri="{BB962C8B-B14F-4D97-AF65-F5344CB8AC3E}">
        <p14:creationId xmlns:p14="http://schemas.microsoft.com/office/powerpoint/2010/main" val="331591965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1399" y="622300"/>
            <a:ext cx="8008471" cy="5105400"/>
          </a:xfrm>
          <a:prstGeom prst="rect">
            <a:avLst/>
          </a:prstGeom>
        </p:spPr>
      </p:pic>
      <p:sp>
        <p:nvSpPr>
          <p:cNvPr id="5" name="Rectangle 4"/>
          <p:cNvSpPr/>
          <p:nvPr/>
        </p:nvSpPr>
        <p:spPr>
          <a:xfrm>
            <a:off x="688340" y="2924360"/>
            <a:ext cx="4719402" cy="14804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t>NGS </a:t>
            </a:r>
            <a:endParaRPr lang="fr-FR" sz="3600" b="1" dirty="0"/>
          </a:p>
        </p:txBody>
      </p:sp>
    </p:spTree>
    <p:extLst>
      <p:ext uri="{BB962C8B-B14F-4D97-AF65-F5344CB8AC3E}">
        <p14:creationId xmlns:p14="http://schemas.microsoft.com/office/powerpoint/2010/main" val="235006454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43713"/>
            <a:ext cx="9443720" cy="593111"/>
          </a:xfrm>
          <a:prstGeom prst="rect">
            <a:avLst/>
          </a:prstGeom>
        </p:spPr>
        <p:txBody>
          <a:bodyPr vert="horz" wrap="square" lIns="0" tIns="79375" rIns="0" bIns="0" rtlCol="0">
            <a:spAutoFit/>
          </a:bodyPr>
          <a:lstStyle/>
          <a:p>
            <a:pPr marL="12700" marR="5080">
              <a:lnSpc>
                <a:spcPts val="4010"/>
              </a:lnSpc>
              <a:spcBef>
                <a:spcPts val="625"/>
              </a:spcBef>
            </a:pPr>
            <a:r>
              <a:rPr lang="fr-FR" sz="3700" b="1" dirty="0" smtClean="0">
                <a:solidFill>
                  <a:srgbClr val="FF0000"/>
                </a:solidFill>
              </a:rPr>
              <a:t>Anatomie fonctionnelle des bactéries </a:t>
            </a:r>
            <a:endParaRPr sz="3700" b="1" dirty="0">
              <a:solidFill>
                <a:srgbClr val="FF0000"/>
              </a:solidFill>
            </a:endParaRPr>
          </a:p>
        </p:txBody>
      </p:sp>
      <p:sp>
        <p:nvSpPr>
          <p:cNvPr id="4" name="object 4"/>
          <p:cNvSpPr txBox="1"/>
          <p:nvPr/>
        </p:nvSpPr>
        <p:spPr>
          <a:xfrm>
            <a:off x="688340" y="1300131"/>
            <a:ext cx="10713720" cy="2694327"/>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La taille des bactéries varie de 0.2 à 10 µm. </a:t>
            </a:r>
          </a:p>
          <a:p>
            <a:pPr marL="457200" indent="-457200">
              <a:lnSpc>
                <a:spcPct val="100000"/>
              </a:lnSpc>
              <a:spcBef>
                <a:spcPts val="1650"/>
              </a:spcBef>
              <a:buClr>
                <a:srgbClr val="E15322"/>
              </a:buClr>
              <a:buFont typeface="Arial" panose="020B0604020202020204" pitchFamily="34" charset="0"/>
              <a:buChar char="•"/>
            </a:pPr>
            <a:r>
              <a:rPr lang="fr-FR" sz="2800" dirty="0" smtClean="0"/>
              <a:t>Visibilité possible au microscope optique ou au microscope électronique . </a:t>
            </a:r>
          </a:p>
          <a:p>
            <a:pPr marL="457200" indent="-457200">
              <a:lnSpc>
                <a:spcPct val="100000"/>
              </a:lnSpc>
              <a:spcBef>
                <a:spcPts val="1650"/>
              </a:spcBef>
              <a:buClr>
                <a:srgbClr val="E15322"/>
              </a:buClr>
              <a:buFont typeface="Arial" panose="020B0604020202020204" pitchFamily="34" charset="0"/>
              <a:buChar char="•"/>
            </a:pPr>
            <a:r>
              <a:rPr lang="fr-FR" sz="2800" dirty="0" smtClean="0"/>
              <a:t>Elles peuvent être distinguées par divers procédés physiques et chimiques et leurs constituants bactériens libérés, étudiés.</a:t>
            </a:r>
            <a:endParaRPr sz="2650" dirty="0">
              <a:latin typeface="Calibri"/>
              <a:cs typeface="Calibri"/>
            </a:endParaRPr>
          </a:p>
        </p:txBody>
      </p:sp>
    </p:spTree>
    <p:extLst>
      <p:ext uri="{BB962C8B-B14F-4D97-AF65-F5344CB8AC3E}">
        <p14:creationId xmlns:p14="http://schemas.microsoft.com/office/powerpoint/2010/main" val="2533806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0665" y="-254775"/>
            <a:ext cx="8681720" cy="1203097"/>
          </a:xfrm>
          <a:prstGeom prst="rect">
            <a:avLst/>
          </a:prstGeom>
        </p:spPr>
        <p:txBody>
          <a:bodyPr vert="horz" wrap="square" lIns="0" tIns="520902" rIns="0" bIns="0" rtlCol="0">
            <a:spAutoFit/>
          </a:bodyPr>
          <a:lstStyle/>
          <a:p>
            <a:pPr algn="ctr">
              <a:lnSpc>
                <a:spcPct val="100000"/>
              </a:lnSpc>
              <a:spcBef>
                <a:spcPts val="100"/>
              </a:spcBef>
            </a:pPr>
            <a:r>
              <a:rPr lang="fr-FR" b="1" dirty="0" smtClean="0">
                <a:solidFill>
                  <a:srgbClr val="FF0000"/>
                </a:solidFill>
              </a:rPr>
              <a:t>Anatomie bactérienne </a:t>
            </a:r>
            <a:endParaRPr b="1" spc="-10" dirty="0">
              <a:solidFill>
                <a:srgbClr val="FF0000"/>
              </a:solidFill>
            </a:endParaRPr>
          </a:p>
        </p:txBody>
      </p:sp>
      <p:sp>
        <p:nvSpPr>
          <p:cNvPr id="3" name="object 3"/>
          <p:cNvSpPr txBox="1"/>
          <p:nvPr/>
        </p:nvSpPr>
        <p:spPr>
          <a:xfrm>
            <a:off x="212663" y="1439944"/>
            <a:ext cx="5303234" cy="313996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vert="horz" wrap="square" lIns="0" tIns="122555" rIns="0" bIns="0" rtlCol="0">
            <a:spAutoFit/>
          </a:bodyPr>
          <a:lstStyle/>
          <a:p>
            <a:r>
              <a:rPr lang="fr-FR" sz="2800" b="1" dirty="0" smtClean="0"/>
              <a:t>STRUCTURES CONSTANTES</a:t>
            </a:r>
            <a:endParaRPr lang="fr-FR" sz="2800" dirty="0" smtClean="0"/>
          </a:p>
          <a:p>
            <a:pPr marL="457200" indent="-457200">
              <a:buFont typeface="Arial" panose="020B0604020202020204" pitchFamily="34" charset="0"/>
              <a:buChar char="•"/>
            </a:pPr>
            <a:r>
              <a:rPr lang="fr-FR" sz="2800" dirty="0" smtClean="0"/>
              <a:t>Matériel nucléaire</a:t>
            </a:r>
          </a:p>
          <a:p>
            <a:pPr marL="457200" indent="-457200">
              <a:buFont typeface="Arial" panose="020B0604020202020204" pitchFamily="34" charset="0"/>
              <a:buChar char="•"/>
            </a:pPr>
            <a:r>
              <a:rPr lang="fr-FR" sz="2800" dirty="0" smtClean="0"/>
              <a:t>Ribosomes</a:t>
            </a:r>
          </a:p>
          <a:p>
            <a:pPr marL="457200" indent="-457200">
              <a:buFont typeface="Arial" panose="020B0604020202020204" pitchFamily="34" charset="0"/>
              <a:buChar char="•"/>
            </a:pPr>
            <a:r>
              <a:rPr lang="fr-FR" sz="2800" dirty="0" smtClean="0"/>
              <a:t>Membrane plasmique</a:t>
            </a:r>
          </a:p>
          <a:p>
            <a:pPr marL="457200" indent="-457200">
              <a:buFont typeface="Arial" panose="020B0604020202020204" pitchFamily="34" charset="0"/>
              <a:buChar char="•"/>
            </a:pPr>
            <a:r>
              <a:rPr lang="fr-FR" sz="2800" dirty="0" smtClean="0"/>
              <a:t>Paroi</a:t>
            </a:r>
          </a:p>
          <a:p>
            <a:endParaRPr lang="fr-FR" sz="2800" dirty="0" smtClean="0"/>
          </a:p>
          <a:p>
            <a:endParaRPr lang="fr-FR" sz="2800" dirty="0" smtClean="0"/>
          </a:p>
        </p:txBody>
      </p:sp>
      <p:sp>
        <p:nvSpPr>
          <p:cNvPr id="4" name="Rectangle 3"/>
          <p:cNvSpPr/>
          <p:nvPr/>
        </p:nvSpPr>
        <p:spPr>
          <a:xfrm>
            <a:off x="6023365" y="3367067"/>
            <a:ext cx="6096000" cy="3108543"/>
          </a:xfrm>
          <a:prstGeom prst="rect">
            <a:avLst/>
          </a:prstGeom>
          <a:solidFill>
            <a:srgbClr val="92D050"/>
          </a:solidFill>
        </p:spPr>
        <p:style>
          <a:lnRef idx="2">
            <a:schemeClr val="accent2">
              <a:shade val="50000"/>
            </a:schemeClr>
          </a:lnRef>
          <a:fillRef idx="1">
            <a:schemeClr val="accent2"/>
          </a:fillRef>
          <a:effectRef idx="0">
            <a:schemeClr val="accent2"/>
          </a:effectRef>
          <a:fontRef idx="minor">
            <a:schemeClr val="lt1"/>
          </a:fontRef>
        </p:style>
        <p:txBody>
          <a:bodyPr>
            <a:spAutoFit/>
          </a:bodyPr>
          <a:lstStyle/>
          <a:p>
            <a:r>
              <a:rPr lang="fr-FR" sz="2800" b="1" dirty="0"/>
              <a:t>STRUCTURES FACULTATIVES</a:t>
            </a:r>
            <a:endParaRPr lang="fr-FR" sz="2800" dirty="0"/>
          </a:p>
          <a:p>
            <a:pPr marL="457200" indent="-457200">
              <a:buFont typeface="Arial" panose="020B0604020202020204" pitchFamily="34" charset="0"/>
              <a:buChar char="•"/>
            </a:pPr>
            <a:r>
              <a:rPr lang="fr-FR" sz="2800" dirty="0"/>
              <a:t>Plasmides</a:t>
            </a:r>
          </a:p>
          <a:p>
            <a:pPr marL="457200" indent="-457200">
              <a:buFont typeface="Arial" panose="020B0604020202020204" pitchFamily="34" charset="0"/>
              <a:buChar char="•"/>
            </a:pPr>
            <a:r>
              <a:rPr lang="fr-FR" sz="2800" dirty="0" err="1"/>
              <a:t>Mésosome</a:t>
            </a:r>
            <a:endParaRPr lang="fr-FR" sz="2800" dirty="0"/>
          </a:p>
          <a:p>
            <a:pPr marL="457200" indent="-457200">
              <a:buFont typeface="Arial" panose="020B0604020202020204" pitchFamily="34" charset="0"/>
              <a:buChar char="•"/>
            </a:pPr>
            <a:r>
              <a:rPr lang="fr-FR" sz="2800" dirty="0"/>
              <a:t>Capsule</a:t>
            </a:r>
          </a:p>
          <a:p>
            <a:pPr marL="457200" indent="-457200">
              <a:buFont typeface="Arial" panose="020B0604020202020204" pitchFamily="34" charset="0"/>
              <a:buChar char="•"/>
            </a:pPr>
            <a:r>
              <a:rPr lang="fr-FR" sz="2800" dirty="0" err="1"/>
              <a:t>Pili</a:t>
            </a:r>
            <a:endParaRPr lang="fr-FR" sz="2800" dirty="0"/>
          </a:p>
          <a:p>
            <a:pPr marL="457200" indent="-457200">
              <a:buFont typeface="Arial" panose="020B0604020202020204" pitchFamily="34" charset="0"/>
              <a:buChar char="•"/>
            </a:pPr>
            <a:r>
              <a:rPr lang="fr-FR" sz="2800" dirty="0"/>
              <a:t>Flagelles</a:t>
            </a:r>
          </a:p>
          <a:p>
            <a:pPr marL="457200" indent="-457200">
              <a:buFont typeface="Arial" panose="020B0604020202020204" pitchFamily="34" charset="0"/>
              <a:buChar char="•"/>
            </a:pPr>
            <a:r>
              <a:rPr lang="fr-FR" sz="2800" dirty="0"/>
              <a:t>Inclusions cytoplasmiques</a:t>
            </a:r>
          </a:p>
        </p:txBody>
      </p:sp>
    </p:spTree>
    <p:extLst>
      <p:ext uri="{BB962C8B-B14F-4D97-AF65-F5344CB8AC3E}">
        <p14:creationId xmlns:p14="http://schemas.microsoft.com/office/powerpoint/2010/main" val="100685214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5116" y="2143117"/>
            <a:ext cx="9512850" cy="751488"/>
          </a:xfrm>
          <a:prstGeom prst="rect">
            <a:avLst/>
          </a:prstGeom>
        </p:spPr>
        <p:txBody>
          <a:bodyPr vert="horz" wrap="square" lIns="0" tIns="12700" rIns="0" bIns="0" rtlCol="0">
            <a:spAutoFit/>
          </a:bodyPr>
          <a:lstStyle/>
          <a:p>
            <a:pPr marL="12700" algn="ctr">
              <a:lnSpc>
                <a:spcPct val="100000"/>
              </a:lnSpc>
              <a:spcBef>
                <a:spcPts val="100"/>
              </a:spcBef>
            </a:pPr>
            <a:r>
              <a:rPr lang="fr-FR" sz="4800" spc="-20" dirty="0">
                <a:solidFill>
                  <a:srgbClr val="FFFFFF"/>
                </a:solidFill>
              </a:rPr>
              <a:t>MATERIEL ET METHODES</a:t>
            </a:r>
            <a:endParaRPr sz="480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7374" y="265470"/>
            <a:ext cx="6858000" cy="6130413"/>
          </a:xfrm>
          <a:prstGeom prst="rect">
            <a:avLst/>
          </a:prstGeom>
        </p:spPr>
      </p:pic>
    </p:spTree>
    <p:extLst>
      <p:ext uri="{BB962C8B-B14F-4D97-AF65-F5344CB8AC3E}">
        <p14:creationId xmlns:p14="http://schemas.microsoft.com/office/powerpoint/2010/main" val="12818760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52537" y="304800"/>
            <a:ext cx="9686925" cy="6248400"/>
          </a:xfrm>
          <a:prstGeom prst="rect">
            <a:avLst/>
          </a:prstGeom>
        </p:spPr>
      </p:pic>
    </p:spTree>
    <p:extLst>
      <p:ext uri="{BB962C8B-B14F-4D97-AF65-F5344CB8AC3E}">
        <p14:creationId xmlns:p14="http://schemas.microsoft.com/office/powerpoint/2010/main" val="25832929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0421" y="609600"/>
            <a:ext cx="11873244" cy="6248400"/>
          </a:xfrm>
          <a:prstGeom prst="rect">
            <a:avLst/>
          </a:prstGeom>
        </p:spPr>
      </p:pic>
    </p:spTree>
    <p:extLst>
      <p:ext uri="{BB962C8B-B14F-4D97-AF65-F5344CB8AC3E}">
        <p14:creationId xmlns:p14="http://schemas.microsoft.com/office/powerpoint/2010/main" val="333415994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4000" b="1" dirty="0" smtClean="0">
                <a:solidFill>
                  <a:srgbClr val="FF0000"/>
                </a:solidFill>
              </a:rPr>
              <a:t>1.Génome bactérien </a:t>
            </a:r>
            <a:endParaRPr sz="4000" b="1" dirty="0">
              <a:solidFill>
                <a:srgbClr val="FF0000"/>
              </a:solidFill>
            </a:endParaRPr>
          </a:p>
        </p:txBody>
      </p:sp>
      <p:sp>
        <p:nvSpPr>
          <p:cNvPr id="4" name="object 4"/>
          <p:cNvSpPr txBox="1"/>
          <p:nvPr/>
        </p:nvSpPr>
        <p:spPr>
          <a:xfrm>
            <a:off x="688340" y="857679"/>
            <a:ext cx="10713720" cy="3561231"/>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ADN </a:t>
            </a:r>
            <a:r>
              <a:rPr lang="fr-FR" sz="2800" dirty="0" err="1" smtClean="0"/>
              <a:t>bicatenaire</a:t>
            </a:r>
            <a:r>
              <a:rPr lang="fr-FR" sz="2800" dirty="0" smtClean="0"/>
              <a:t> (80 %) support de l’information génétique </a:t>
            </a:r>
          </a:p>
          <a:p>
            <a:pPr marL="457200" indent="-457200">
              <a:lnSpc>
                <a:spcPct val="100000"/>
              </a:lnSpc>
              <a:spcBef>
                <a:spcPts val="1650"/>
              </a:spcBef>
              <a:buClr>
                <a:srgbClr val="E15322"/>
              </a:buClr>
              <a:buFont typeface="Arial" panose="020B0604020202020204" pitchFamily="34" charset="0"/>
              <a:buChar char="•"/>
            </a:pPr>
            <a:r>
              <a:rPr lang="fr-FR" sz="2800" dirty="0"/>
              <a:t>L</a:t>
            </a:r>
            <a:r>
              <a:rPr lang="fr-FR" sz="2800" dirty="0" smtClean="0"/>
              <a:t>ibre dans le cytoplasme (absence de membrane nucléaire) </a:t>
            </a:r>
          </a:p>
          <a:p>
            <a:pPr marL="457200" indent="-457200">
              <a:lnSpc>
                <a:spcPct val="100000"/>
              </a:lnSpc>
              <a:spcBef>
                <a:spcPts val="1650"/>
              </a:spcBef>
              <a:buClr>
                <a:srgbClr val="E15322"/>
              </a:buClr>
              <a:buFont typeface="Arial" panose="020B0604020202020204" pitchFamily="34" charset="0"/>
              <a:buChar char="•"/>
            </a:pPr>
            <a:r>
              <a:rPr lang="fr-FR" sz="2800" dirty="0"/>
              <a:t>R</a:t>
            </a:r>
            <a:r>
              <a:rPr lang="fr-FR" sz="2800" dirty="0" smtClean="0"/>
              <a:t>éplication semi-conservative selon le modèle de Watson et Crick précédant la division cellulaire  </a:t>
            </a:r>
          </a:p>
          <a:p>
            <a:pPr marL="457200" indent="-457200">
              <a:lnSpc>
                <a:spcPct val="100000"/>
              </a:lnSpc>
              <a:spcBef>
                <a:spcPts val="1650"/>
              </a:spcBef>
              <a:buClr>
                <a:srgbClr val="E15322"/>
              </a:buClr>
              <a:buFont typeface="Arial" panose="020B0604020202020204" pitchFamily="34" charset="0"/>
              <a:buChar char="•"/>
            </a:pPr>
            <a:r>
              <a:rPr lang="fr-FR" sz="2800" dirty="0"/>
              <a:t>L</a:t>
            </a:r>
            <a:r>
              <a:rPr lang="fr-FR" sz="2800" dirty="0" smtClean="0"/>
              <a:t>ieu de mutations chromosomiques </a:t>
            </a:r>
          </a:p>
          <a:p>
            <a:pPr marL="457200" indent="-457200">
              <a:lnSpc>
                <a:spcPct val="100000"/>
              </a:lnSpc>
              <a:spcBef>
                <a:spcPts val="1650"/>
              </a:spcBef>
              <a:buClr>
                <a:srgbClr val="E15322"/>
              </a:buClr>
              <a:buFont typeface="Arial" panose="020B0604020202020204" pitchFamily="34" charset="0"/>
              <a:buChar char="•"/>
            </a:pPr>
            <a:r>
              <a:rPr lang="fr-FR" sz="2800" dirty="0"/>
              <a:t>S</a:t>
            </a:r>
            <a:r>
              <a:rPr lang="fr-FR" sz="2800" dirty="0" smtClean="0"/>
              <a:t>urenroulé et pelotonné dans le cytoplasme. </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0335" y="2661670"/>
            <a:ext cx="4591664" cy="4073511"/>
          </a:xfrm>
          <a:prstGeom prst="rect">
            <a:avLst/>
          </a:prstGeom>
        </p:spPr>
      </p:pic>
    </p:spTree>
    <p:extLst>
      <p:ext uri="{BB962C8B-B14F-4D97-AF65-F5344CB8AC3E}">
        <p14:creationId xmlns:p14="http://schemas.microsoft.com/office/powerpoint/2010/main" val="251447527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4" name="object 4"/>
          <p:cNvSpPr txBox="1"/>
          <p:nvPr/>
        </p:nvSpPr>
        <p:spPr>
          <a:xfrm>
            <a:off x="688340" y="857679"/>
            <a:ext cx="10713720" cy="4423006"/>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Tx/>
              <a:buChar char="-"/>
            </a:pPr>
            <a:r>
              <a:rPr lang="fr-FR" sz="2800" dirty="0" smtClean="0"/>
              <a:t>Autres constituants : 10 % ARN, 10 % de protéines dont ADN </a:t>
            </a:r>
            <a:r>
              <a:rPr lang="fr-FR" sz="2800" dirty="0" err="1" smtClean="0"/>
              <a:t>gyrases</a:t>
            </a:r>
            <a:r>
              <a:rPr lang="fr-FR" sz="2800" dirty="0" smtClean="0"/>
              <a:t> qui déroulent l’ADN pour permettre l’action des polymérases (ARN polymérases- ADN dépendantes) Appareil nucléaire, </a:t>
            </a:r>
          </a:p>
          <a:p>
            <a:pPr marL="457200" indent="-457200">
              <a:lnSpc>
                <a:spcPct val="100000"/>
              </a:lnSpc>
              <a:spcBef>
                <a:spcPts val="1650"/>
              </a:spcBef>
              <a:buClr>
                <a:srgbClr val="E15322"/>
              </a:buClr>
              <a:buFontTx/>
              <a:buChar char="-"/>
            </a:pPr>
            <a:r>
              <a:rPr lang="fr-FR" sz="2800" dirty="0" smtClean="0"/>
              <a:t>site d’action de certains antibiotiques : </a:t>
            </a:r>
          </a:p>
          <a:p>
            <a:pPr marL="1371600" lvl="2" indent="-457200">
              <a:spcBef>
                <a:spcPts val="1650"/>
              </a:spcBef>
              <a:buClr>
                <a:srgbClr val="E15322"/>
              </a:buClr>
              <a:buFont typeface="Wingdings" panose="05000000000000000000" pitchFamily="2" charset="2"/>
              <a:buChar char="Ø"/>
            </a:pPr>
            <a:r>
              <a:rPr lang="fr-FR" sz="2800" dirty="0" smtClean="0"/>
              <a:t>Quinolones et ADN </a:t>
            </a:r>
            <a:r>
              <a:rPr lang="fr-FR" sz="2800" dirty="0" err="1" smtClean="0"/>
              <a:t>gyrases</a:t>
            </a:r>
            <a:r>
              <a:rPr lang="fr-FR" sz="2800" dirty="0" smtClean="0"/>
              <a:t> </a:t>
            </a:r>
          </a:p>
          <a:p>
            <a:pPr marL="1371600" lvl="2" indent="-457200">
              <a:spcBef>
                <a:spcPts val="1650"/>
              </a:spcBef>
              <a:buClr>
                <a:srgbClr val="E15322"/>
              </a:buClr>
              <a:buFont typeface="Wingdings" panose="05000000000000000000" pitchFamily="2" charset="2"/>
              <a:buChar char="Ø"/>
            </a:pPr>
            <a:r>
              <a:rPr lang="fr-FR" sz="2800" dirty="0" err="1" smtClean="0"/>
              <a:t>Rifamycines</a:t>
            </a:r>
            <a:r>
              <a:rPr lang="fr-FR" sz="2800" dirty="0" smtClean="0"/>
              <a:t> et ARN polymérases </a:t>
            </a:r>
          </a:p>
          <a:p>
            <a:pPr marL="1371600" lvl="2" indent="-457200">
              <a:spcBef>
                <a:spcPts val="1650"/>
              </a:spcBef>
              <a:buClr>
                <a:srgbClr val="E15322"/>
              </a:buClr>
              <a:buFont typeface="Wingdings" panose="05000000000000000000" pitchFamily="2" charset="2"/>
              <a:buChar char="Ø"/>
            </a:pPr>
            <a:r>
              <a:rPr lang="fr-FR" sz="2800" dirty="0" err="1"/>
              <a:t>N</a:t>
            </a:r>
            <a:r>
              <a:rPr lang="fr-FR" sz="2800" dirty="0" err="1" smtClean="0"/>
              <a:t>itro-imidazolés</a:t>
            </a:r>
            <a:r>
              <a:rPr lang="fr-FR" sz="2800" dirty="0" smtClean="0"/>
              <a:t> et fragmentation de l’ADN chez les anaérobies stricts</a:t>
            </a:r>
            <a:endParaRPr sz="2650" dirty="0">
              <a:latin typeface="Calibri"/>
              <a:cs typeface="Calibri"/>
            </a:endParaRPr>
          </a:p>
        </p:txBody>
      </p:sp>
      <p:sp>
        <p:nvSpPr>
          <p:cNvPr id="6" name="object 3"/>
          <p:cNvSpPr txBox="1">
            <a:spLocks/>
          </p:cNvSpPr>
          <p:nvPr/>
        </p:nvSpPr>
        <p:spPr>
          <a:xfrm>
            <a:off x="688340" y="133358"/>
            <a:ext cx="9443720" cy="613822"/>
          </a:xfrm>
          <a:prstGeom prst="rect">
            <a:avLst/>
          </a:prstGeom>
        </p:spPr>
        <p:txBody>
          <a:bodyPr vert="horz" wrap="square" lIns="0" tIns="7937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nSpc>
                <a:spcPts val="4010"/>
              </a:lnSpc>
              <a:spcBef>
                <a:spcPts val="625"/>
              </a:spcBef>
            </a:pPr>
            <a:r>
              <a:rPr lang="fr-FR" sz="4000" b="1" smtClean="0">
                <a:solidFill>
                  <a:srgbClr val="FF0000"/>
                </a:solidFill>
              </a:rPr>
              <a:t>1.Génome bactérien </a:t>
            </a:r>
            <a:endParaRPr lang="fr-FR" sz="4000" b="1" dirty="0">
              <a:solidFill>
                <a:srgbClr val="FF0000"/>
              </a:solidFill>
            </a:endParaRPr>
          </a:p>
        </p:txBody>
      </p:sp>
    </p:spTree>
    <p:extLst>
      <p:ext uri="{BB962C8B-B14F-4D97-AF65-F5344CB8AC3E}">
        <p14:creationId xmlns:p14="http://schemas.microsoft.com/office/powerpoint/2010/main" val="255971862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4000" b="1" dirty="0" smtClean="0">
                <a:solidFill>
                  <a:srgbClr val="FF0000"/>
                </a:solidFill>
              </a:rPr>
              <a:t>2.Cytoplasme </a:t>
            </a:r>
            <a:r>
              <a:rPr lang="fr-FR" sz="4000" b="1" dirty="0" err="1" smtClean="0">
                <a:solidFill>
                  <a:srgbClr val="FF0000"/>
                </a:solidFill>
              </a:rPr>
              <a:t>bacterien</a:t>
            </a:r>
            <a:r>
              <a:rPr lang="fr-FR" sz="4000" b="1" dirty="0" smtClean="0">
                <a:solidFill>
                  <a:srgbClr val="FF0000"/>
                </a:solidFill>
              </a:rPr>
              <a:t> </a:t>
            </a:r>
            <a:endParaRPr sz="4000" b="1" dirty="0">
              <a:solidFill>
                <a:srgbClr val="FF0000"/>
              </a:solidFill>
            </a:endParaRPr>
          </a:p>
        </p:txBody>
      </p:sp>
      <p:sp>
        <p:nvSpPr>
          <p:cNvPr id="4" name="object 4"/>
          <p:cNvSpPr txBox="1"/>
          <p:nvPr/>
        </p:nvSpPr>
        <p:spPr>
          <a:xfrm>
            <a:off x="739139" y="1110974"/>
            <a:ext cx="10713720" cy="3343223"/>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Ne contient pas de mitochondries </a:t>
            </a:r>
          </a:p>
          <a:p>
            <a:pPr marL="457200" indent="-457200">
              <a:lnSpc>
                <a:spcPct val="100000"/>
              </a:lnSpc>
              <a:spcBef>
                <a:spcPts val="1650"/>
              </a:spcBef>
              <a:buClr>
                <a:srgbClr val="E15322"/>
              </a:buClr>
              <a:buFont typeface="Arial" panose="020B0604020202020204" pitchFamily="34" charset="0"/>
              <a:buChar char="•"/>
            </a:pPr>
            <a:r>
              <a:rPr lang="fr-FR" sz="2800" dirty="0" smtClean="0"/>
              <a:t>80 % d’eau </a:t>
            </a:r>
          </a:p>
          <a:p>
            <a:pPr marL="457200" indent="-457200">
              <a:lnSpc>
                <a:spcPct val="100000"/>
              </a:lnSpc>
              <a:spcBef>
                <a:spcPts val="1650"/>
              </a:spcBef>
              <a:buClr>
                <a:srgbClr val="E15322"/>
              </a:buClr>
              <a:buFont typeface="Arial" panose="020B0604020202020204" pitchFamily="34" charset="0"/>
              <a:buChar char="•"/>
            </a:pPr>
            <a:r>
              <a:rPr lang="fr-FR" sz="2800" dirty="0"/>
              <a:t>L</a:t>
            </a:r>
            <a:r>
              <a:rPr lang="fr-FR" sz="2800" dirty="0" smtClean="0"/>
              <a:t>imité par une membrane cytoplasmique </a:t>
            </a:r>
          </a:p>
          <a:p>
            <a:pPr marL="457200" indent="-457200">
              <a:lnSpc>
                <a:spcPct val="100000"/>
              </a:lnSpc>
              <a:spcBef>
                <a:spcPts val="1650"/>
              </a:spcBef>
              <a:buClr>
                <a:srgbClr val="E15322"/>
              </a:buClr>
              <a:buFont typeface="Arial" panose="020B0604020202020204" pitchFamily="34" charset="0"/>
              <a:buChar char="•"/>
            </a:pPr>
            <a:r>
              <a:rPr lang="fr-FR" sz="2800" dirty="0" smtClean="0"/>
              <a:t>Riche en ARN solubles (ARNr, ARNm, </a:t>
            </a:r>
            <a:r>
              <a:rPr lang="fr-FR" sz="2800" dirty="0" err="1" smtClean="0"/>
              <a:t>ARNt</a:t>
            </a:r>
            <a:r>
              <a:rPr lang="fr-FR" sz="2800" dirty="0" smtClean="0"/>
              <a:t>) : ribosomes (15 000 par cellule) ; Ils représentent 40 % du poids sec de la bactérie et 90 % de l’ensemble de l’ARN. </a:t>
            </a:r>
          </a:p>
        </p:txBody>
      </p:sp>
    </p:spTree>
    <p:extLst>
      <p:ext uri="{BB962C8B-B14F-4D97-AF65-F5344CB8AC3E}">
        <p14:creationId xmlns:p14="http://schemas.microsoft.com/office/powerpoint/2010/main" val="340788503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2.Cytoplasme </a:t>
            </a:r>
            <a:r>
              <a:rPr lang="fr-FR" b="1" dirty="0" err="1" smtClean="0">
                <a:solidFill>
                  <a:srgbClr val="FF0000"/>
                </a:solidFill>
              </a:rPr>
              <a:t>bacterien</a:t>
            </a:r>
            <a:r>
              <a:rPr lang="fr-FR" b="1" dirty="0" smtClean="0">
                <a:solidFill>
                  <a:srgbClr val="FF0000"/>
                </a:solidFill>
              </a:rPr>
              <a:t> </a:t>
            </a:r>
            <a:endParaRPr b="1" dirty="0">
              <a:solidFill>
                <a:srgbClr val="FF0000"/>
              </a:solidFill>
            </a:endParaRPr>
          </a:p>
        </p:txBody>
      </p:sp>
      <p:sp>
        <p:nvSpPr>
          <p:cNvPr id="4" name="object 4"/>
          <p:cNvSpPr txBox="1"/>
          <p:nvPr/>
        </p:nvSpPr>
        <p:spPr>
          <a:xfrm>
            <a:off x="739139" y="1504264"/>
            <a:ext cx="10713720" cy="3125215"/>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Les ribosomes sont le site d’action de certains antibiotiques (aminosides, </a:t>
            </a:r>
            <a:r>
              <a:rPr lang="fr-FR" sz="2800" dirty="0" err="1" smtClean="0"/>
              <a:t>phénicolés</a:t>
            </a:r>
            <a:r>
              <a:rPr lang="fr-FR" sz="2800" dirty="0" smtClean="0"/>
              <a:t>, cyclines, macrolides) </a:t>
            </a:r>
          </a:p>
          <a:p>
            <a:pPr marL="457200" indent="-457200">
              <a:lnSpc>
                <a:spcPct val="100000"/>
              </a:lnSpc>
              <a:spcBef>
                <a:spcPts val="1650"/>
              </a:spcBef>
              <a:buClr>
                <a:srgbClr val="E15322"/>
              </a:buClr>
              <a:buFont typeface="Arial" panose="020B0604020202020204" pitchFamily="34" charset="0"/>
              <a:buChar char="•"/>
            </a:pPr>
            <a:endParaRPr lang="fr-FR" sz="2800" dirty="0" smtClean="0"/>
          </a:p>
          <a:p>
            <a:pPr marL="457200" indent="-457200">
              <a:lnSpc>
                <a:spcPct val="100000"/>
              </a:lnSpc>
              <a:spcBef>
                <a:spcPts val="1650"/>
              </a:spcBef>
              <a:buClr>
                <a:srgbClr val="E15322"/>
              </a:buClr>
              <a:buFont typeface="Arial" panose="020B0604020202020204" pitchFamily="34" charset="0"/>
              <a:buChar char="•"/>
            </a:pPr>
            <a:r>
              <a:rPr lang="fr-FR" sz="2800" dirty="0" smtClean="0"/>
              <a:t>Contient également de nombreuses inclusions, vacuoles de lipides, granules de carbone, de phosphate... -pression osmotique interne considérable (5 à 20 atmosphères) </a:t>
            </a:r>
          </a:p>
        </p:txBody>
      </p:sp>
    </p:spTree>
    <p:extLst>
      <p:ext uri="{BB962C8B-B14F-4D97-AF65-F5344CB8AC3E}">
        <p14:creationId xmlns:p14="http://schemas.microsoft.com/office/powerpoint/2010/main" val="250217349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3.Membrane cytoplasmique </a:t>
            </a:r>
            <a:endParaRPr b="1" dirty="0">
              <a:solidFill>
                <a:srgbClr val="FF0000"/>
              </a:solidFill>
            </a:endParaRPr>
          </a:p>
        </p:txBody>
      </p:sp>
      <p:sp>
        <p:nvSpPr>
          <p:cNvPr id="6" name="Rectangle 2"/>
          <p:cNvSpPr>
            <a:spLocks noChangeArrowheads="1"/>
          </p:cNvSpPr>
          <p:nvPr/>
        </p:nvSpPr>
        <p:spPr bwMode="auto">
          <a:xfrm>
            <a:off x="264694" y="1986854"/>
            <a:ext cx="11662610"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 rôle principal de toutes les membranes plasmiques est d'agir comme des</a:t>
            </a:r>
            <a:r>
              <a:rPr kumimoji="0" lang="fr-FR" altLang="fr-FR"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barrières sélectivement perméables : elles permettent à certaines molécules de passer à l'intérieur ou à l'extérieur de la cellule, tout en empêchant le</a:t>
            </a:r>
            <a:r>
              <a:rPr kumimoji="0" lang="fr-FR" altLang="fr-FR"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mouvement d'autres molécules.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Chez les bactéries, les membranes plasmiques jouent également d'autres rôles essentiels. Elles sont le siège de plusieurs</a:t>
            </a:r>
            <a:r>
              <a:rPr kumimoji="0" lang="fr-FR" altLang="fr-FR"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processus métaboliques cruciaux : la respiration, la photosynthèse et la synthèse des lipides et des constituants de la paroi cellulaire.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chemeClr val="tx1"/>
                </a:solidFill>
                <a:effectLst/>
                <a:latin typeface="Arial" panose="020B0604020202020204" pitchFamily="34" charset="0"/>
              </a:rPr>
              <a:t/>
            </a:r>
            <a:br>
              <a:rPr kumimoji="0" lang="fr-FR" altLang="fr-FR" sz="1800" b="0" i="0" u="none" strike="noStrike" cap="none" normalizeH="0" baseline="0" dirty="0" smtClean="0">
                <a:ln>
                  <a:noFill/>
                </a:ln>
                <a:solidFill>
                  <a:schemeClr val="tx1"/>
                </a:solidFill>
                <a:effectLst/>
                <a:latin typeface="Arial" panose="020B0604020202020204" pitchFamily="34" charset="0"/>
              </a:rPr>
            </a:br>
            <a:endParaRPr kumimoji="0" lang="fr-FR" altLang="fr-F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704934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3138" y="185175"/>
            <a:ext cx="11197388" cy="6562868"/>
          </a:xfrm>
          <a:prstGeom prst="rect">
            <a:avLst/>
          </a:prstGeom>
        </p:spPr>
      </p:pic>
    </p:spTree>
    <p:extLst>
      <p:ext uri="{BB962C8B-B14F-4D97-AF65-F5344CB8AC3E}">
        <p14:creationId xmlns:p14="http://schemas.microsoft.com/office/powerpoint/2010/main" val="360986266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3.Membrane cytoplasmique </a:t>
            </a:r>
            <a:endParaRPr b="1" dirty="0">
              <a:solidFill>
                <a:srgbClr val="FF0000"/>
              </a:solidFill>
            </a:endParaRPr>
          </a:p>
        </p:txBody>
      </p:sp>
      <p:sp>
        <p:nvSpPr>
          <p:cNvPr id="4" name="object 4"/>
          <p:cNvSpPr txBox="1"/>
          <p:nvPr/>
        </p:nvSpPr>
        <p:spPr>
          <a:xfrm>
            <a:off x="688340" y="1368956"/>
            <a:ext cx="10713720" cy="3986989"/>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Les membranes plasmiques sont des structures très fines, </a:t>
            </a:r>
            <a:r>
              <a:rPr lang="fr-FR" sz="2800" dirty="0" smtClean="0"/>
              <a:t>qui </a:t>
            </a:r>
            <a:r>
              <a:rPr lang="fr-FR" sz="2800" dirty="0"/>
              <a:t>ressemblent à deux lignes sombres de part et d'autre d'un intérieur clair lorsqu'elles sont observées au microscope électronique à transmission (MET). </a:t>
            </a:r>
            <a:endParaRPr lang="fr-FR" sz="2800" dirty="0" smtClean="0"/>
          </a:p>
          <a:p>
            <a:pPr marL="457200" indent="-457200">
              <a:lnSpc>
                <a:spcPct val="100000"/>
              </a:lnSpc>
              <a:spcBef>
                <a:spcPts val="1650"/>
              </a:spcBef>
              <a:buClr>
                <a:srgbClr val="E15322"/>
              </a:buClr>
              <a:buFont typeface="Arial" panose="020B0604020202020204" pitchFamily="34" charset="0"/>
              <a:buChar char="•"/>
            </a:pPr>
            <a:r>
              <a:rPr lang="fr-FR" sz="2800" dirty="0" smtClean="0"/>
              <a:t>la </a:t>
            </a:r>
            <a:r>
              <a:rPr lang="fr-FR" sz="2800" dirty="0"/>
              <a:t>membrane est composée de deux couches de molécules </a:t>
            </a:r>
            <a:r>
              <a:rPr lang="fr-FR" sz="2800" dirty="0" err="1"/>
              <a:t>lipidiquesdisposées</a:t>
            </a:r>
            <a:r>
              <a:rPr lang="fr-FR" sz="2800" dirty="0"/>
              <a:t> bout à bout </a:t>
            </a:r>
            <a:r>
              <a:rPr lang="fr-FR" sz="2800" dirty="0" smtClean="0"/>
              <a:t>. </a:t>
            </a:r>
          </a:p>
          <a:p>
            <a:pPr marL="457200" indent="-457200">
              <a:lnSpc>
                <a:spcPct val="100000"/>
              </a:lnSpc>
              <a:spcBef>
                <a:spcPts val="1650"/>
              </a:spcBef>
              <a:buClr>
                <a:srgbClr val="E15322"/>
              </a:buClr>
              <a:buFont typeface="Arial" panose="020B0604020202020204" pitchFamily="34" charset="0"/>
              <a:buChar char="•"/>
            </a:pPr>
            <a:r>
              <a:rPr lang="fr-FR" sz="2800" dirty="0" smtClean="0"/>
              <a:t>es </a:t>
            </a:r>
            <a:r>
              <a:rPr lang="fr-FR" sz="2800" dirty="0"/>
              <a:t>membranes bactériennes contiennent à peu près autant de lipides que de protéines. </a:t>
            </a:r>
            <a:endParaRPr lang="fr-FR" sz="2800" dirty="0" smtClean="0"/>
          </a:p>
        </p:txBody>
      </p:sp>
    </p:spTree>
    <p:extLst>
      <p:ext uri="{BB962C8B-B14F-4D97-AF65-F5344CB8AC3E}">
        <p14:creationId xmlns:p14="http://schemas.microsoft.com/office/powerpoint/2010/main" val="185898307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3.Membrane cytoplasmique </a:t>
            </a:r>
            <a:endParaRPr b="1" dirty="0">
              <a:solidFill>
                <a:srgbClr val="FF0000"/>
              </a:solidFill>
            </a:endParaRPr>
          </a:p>
        </p:txBody>
      </p:sp>
      <p:sp>
        <p:nvSpPr>
          <p:cNvPr id="4" name="object 4"/>
          <p:cNvSpPr txBox="1"/>
          <p:nvPr/>
        </p:nvSpPr>
        <p:spPr>
          <a:xfrm>
            <a:off x="688340" y="1368956"/>
            <a:ext cx="10713720" cy="2907206"/>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Le clivage des membranes par gravure à froid, une technique qui </a:t>
            </a:r>
            <a:r>
              <a:rPr lang="fr-FR" sz="2800" dirty="0" err="1"/>
              <a:t>révèleles</a:t>
            </a:r>
            <a:r>
              <a:rPr lang="fr-FR" sz="2800" dirty="0"/>
              <a:t> détails fins, expose les protéines situées dans la bicouche lipidique de la membrane. </a:t>
            </a:r>
            <a:endParaRPr lang="fr-FR" sz="2800" dirty="0" smtClean="0"/>
          </a:p>
          <a:p>
            <a:pPr marL="457200" indent="-457200">
              <a:lnSpc>
                <a:spcPct val="100000"/>
              </a:lnSpc>
              <a:spcBef>
                <a:spcPts val="1650"/>
              </a:spcBef>
              <a:buClr>
                <a:srgbClr val="E15322"/>
              </a:buClr>
              <a:buFont typeface="Arial" panose="020B0604020202020204" pitchFamily="34" charset="0"/>
              <a:buChar char="•"/>
            </a:pPr>
            <a:r>
              <a:rPr lang="fr-FR" sz="2800" dirty="0" smtClean="0"/>
              <a:t>La </a:t>
            </a:r>
            <a:r>
              <a:rPr lang="fr-FR" sz="2800" dirty="0"/>
              <a:t>plupart des lipides associés aux </a:t>
            </a:r>
            <a:r>
              <a:rPr lang="fr-FR" sz="2800" dirty="0" smtClean="0"/>
              <a:t>membranes </a:t>
            </a:r>
            <a:r>
              <a:rPr lang="fr-FR" sz="2800" dirty="0"/>
              <a:t>sont </a:t>
            </a:r>
            <a:r>
              <a:rPr lang="fr-FR" sz="2800" dirty="0" err="1"/>
              <a:t>amphipathiques</a:t>
            </a:r>
            <a:r>
              <a:rPr lang="fr-FR" sz="2800" dirty="0"/>
              <a:t> :ils sont structurellement asymétriques, avec des extrémités polaires et non </a:t>
            </a:r>
            <a:r>
              <a:rPr lang="fr-FR" sz="2800" dirty="0" smtClean="0"/>
              <a:t>polaires. </a:t>
            </a:r>
          </a:p>
        </p:txBody>
      </p:sp>
    </p:spTree>
    <p:extLst>
      <p:ext uri="{BB962C8B-B14F-4D97-AF65-F5344CB8AC3E}">
        <p14:creationId xmlns:p14="http://schemas.microsoft.com/office/powerpoint/2010/main" val="150889209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3138" y="185175"/>
            <a:ext cx="11197388" cy="6562868"/>
          </a:xfrm>
          <a:prstGeom prst="rect">
            <a:avLst/>
          </a:prstGeom>
        </p:spPr>
      </p:pic>
    </p:spTree>
    <p:extLst>
      <p:ext uri="{BB962C8B-B14F-4D97-AF65-F5344CB8AC3E}">
        <p14:creationId xmlns:p14="http://schemas.microsoft.com/office/powerpoint/2010/main" val="354871421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3.Membrane cytoplasmique </a:t>
            </a:r>
            <a:endParaRPr b="1" dirty="0">
              <a:solidFill>
                <a:srgbClr val="FF0000"/>
              </a:solidFill>
            </a:endParaRPr>
          </a:p>
        </p:txBody>
      </p:sp>
      <p:sp>
        <p:nvSpPr>
          <p:cNvPr id="4" name="object 4"/>
          <p:cNvSpPr txBox="1"/>
          <p:nvPr/>
        </p:nvSpPr>
        <p:spPr>
          <a:xfrm>
            <a:off x="688340" y="1368956"/>
            <a:ext cx="10713720" cy="3986989"/>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Les extrémités polaires interagissent avec l'eau et sont hydrophiles ; les extrémités non polaires hydrophobes sont insolubles dans </a:t>
            </a:r>
            <a:r>
              <a:rPr lang="fr-FR" sz="2800" dirty="0" smtClean="0"/>
              <a:t>l'eau et </a:t>
            </a:r>
            <a:r>
              <a:rPr lang="fr-FR" sz="2800" dirty="0"/>
              <a:t>ont tendance à s'associer entre elles. </a:t>
            </a:r>
          </a:p>
          <a:p>
            <a:pPr marL="457200" indent="-457200">
              <a:lnSpc>
                <a:spcPct val="100000"/>
              </a:lnSpc>
              <a:spcBef>
                <a:spcPts val="1650"/>
              </a:spcBef>
              <a:buClr>
                <a:srgbClr val="E15322"/>
              </a:buClr>
              <a:buFont typeface="Arial" panose="020B0604020202020204" pitchFamily="34" charset="0"/>
              <a:buChar char="•"/>
            </a:pPr>
            <a:r>
              <a:rPr lang="fr-FR" sz="2800" dirty="0"/>
              <a:t>Dans les environnements </a:t>
            </a:r>
            <a:r>
              <a:rPr lang="fr-FR" sz="2800" dirty="0" err="1"/>
              <a:t>aqueux,les</a:t>
            </a:r>
            <a:r>
              <a:rPr lang="fr-FR" sz="2800" dirty="0"/>
              <a:t> lipides </a:t>
            </a:r>
            <a:r>
              <a:rPr lang="fr-FR" sz="2800" dirty="0" err="1"/>
              <a:t>amphipathiques</a:t>
            </a:r>
            <a:r>
              <a:rPr lang="fr-FR" sz="2800" dirty="0"/>
              <a:t> interagissent spontanément pour former une bicouche. </a:t>
            </a:r>
            <a:endParaRPr lang="fr-FR" sz="2800" dirty="0" smtClean="0"/>
          </a:p>
          <a:p>
            <a:pPr marL="457200" indent="-457200">
              <a:lnSpc>
                <a:spcPct val="100000"/>
              </a:lnSpc>
              <a:spcBef>
                <a:spcPts val="1650"/>
              </a:spcBef>
              <a:buClr>
                <a:srgbClr val="E15322"/>
              </a:buClr>
              <a:buFont typeface="Arial" panose="020B0604020202020204" pitchFamily="34" charset="0"/>
              <a:buChar char="•"/>
            </a:pPr>
            <a:r>
              <a:rPr lang="fr-FR" sz="2800" dirty="0" smtClean="0"/>
              <a:t>Les surfaces </a:t>
            </a:r>
            <a:r>
              <a:rPr lang="fr-FR" sz="2800" dirty="0"/>
              <a:t>externes de la bicouche sont hydrophiles, tandis que les extrémités hydrophobes sont enfouies à l'intérieur, loin de l'eau </a:t>
            </a:r>
            <a:r>
              <a:rPr lang="fr-FR" sz="2800" dirty="0" smtClean="0"/>
              <a:t>environnante </a:t>
            </a:r>
            <a:endParaRPr lang="fr-FR" sz="2800" dirty="0"/>
          </a:p>
        </p:txBody>
      </p:sp>
    </p:spTree>
    <p:extLst>
      <p:ext uri="{BB962C8B-B14F-4D97-AF65-F5344CB8AC3E}">
        <p14:creationId xmlns:p14="http://schemas.microsoft.com/office/powerpoint/2010/main" val="20018208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62375" y="233362"/>
            <a:ext cx="4667250" cy="6391275"/>
          </a:xfrm>
          <a:prstGeom prst="rect">
            <a:avLst/>
          </a:prstGeom>
        </p:spPr>
      </p:pic>
    </p:spTree>
    <p:extLst>
      <p:ext uri="{BB962C8B-B14F-4D97-AF65-F5344CB8AC3E}">
        <p14:creationId xmlns:p14="http://schemas.microsoft.com/office/powerpoint/2010/main" val="262850471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63084" y="0"/>
            <a:ext cx="8124825" cy="6096000"/>
          </a:xfrm>
          <a:prstGeom prst="rect">
            <a:avLst/>
          </a:prstGeom>
        </p:spPr>
      </p:pic>
    </p:spTree>
    <p:extLst>
      <p:ext uri="{BB962C8B-B14F-4D97-AF65-F5344CB8AC3E}">
        <p14:creationId xmlns:p14="http://schemas.microsoft.com/office/powerpoint/2010/main" val="189587481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252105"/>
            <a:ext cx="7153275" cy="6334125"/>
          </a:xfrm>
          <a:prstGeom prst="rect">
            <a:avLst/>
          </a:prstGeom>
        </p:spPr>
      </p:pic>
    </p:spTree>
    <p:extLst>
      <p:ext uri="{BB962C8B-B14F-4D97-AF65-F5344CB8AC3E}">
        <p14:creationId xmlns:p14="http://schemas.microsoft.com/office/powerpoint/2010/main" val="244785337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3.Membrane cytoplasmique </a:t>
            </a:r>
            <a:endParaRPr b="1" dirty="0">
              <a:solidFill>
                <a:srgbClr val="FF0000"/>
              </a:solidFill>
            </a:endParaRPr>
          </a:p>
        </p:txBody>
      </p:sp>
      <p:sp>
        <p:nvSpPr>
          <p:cNvPr id="4" name="object 4"/>
          <p:cNvSpPr txBox="1"/>
          <p:nvPr/>
        </p:nvSpPr>
        <p:spPr>
          <a:xfrm>
            <a:off x="688340" y="1368956"/>
            <a:ext cx="10713720" cy="3774110"/>
          </a:xfrm>
          <a:prstGeom prst="rect">
            <a:avLst/>
          </a:prstGeom>
        </p:spPr>
        <p:txBody>
          <a:bodyPr vert="horz" wrap="square" lIns="0" tIns="102870" rIns="0" bIns="0" rtlCol="0">
            <a:spAutoFit/>
          </a:bodyPr>
          <a:lstStyle/>
          <a:p>
            <a:pPr>
              <a:lnSpc>
                <a:spcPct val="100000"/>
              </a:lnSpc>
              <a:spcBef>
                <a:spcPts val="1650"/>
              </a:spcBef>
              <a:buClr>
                <a:srgbClr val="E15322"/>
              </a:buClr>
            </a:pPr>
            <a:r>
              <a:rPr lang="fr-FR" sz="2800" b="1" dirty="0" smtClean="0"/>
              <a:t>Fonctions : </a:t>
            </a:r>
          </a:p>
          <a:p>
            <a:pPr>
              <a:lnSpc>
                <a:spcPct val="100000"/>
              </a:lnSpc>
              <a:spcBef>
                <a:spcPts val="1650"/>
              </a:spcBef>
              <a:buClr>
                <a:srgbClr val="E15322"/>
              </a:buClr>
            </a:pPr>
            <a:r>
              <a:rPr lang="fr-FR" sz="2800" dirty="0"/>
              <a:t>Diffusion </a:t>
            </a:r>
            <a:r>
              <a:rPr lang="fr-FR" sz="2800" b="1" dirty="0"/>
              <a:t>Passive</a:t>
            </a:r>
            <a:r>
              <a:rPr lang="fr-FR" sz="2800" dirty="0"/>
              <a:t> : souvent appelée diffusion ou diffusion </a:t>
            </a:r>
            <a:r>
              <a:rPr lang="fr-FR" sz="2800" dirty="0" err="1" smtClean="0"/>
              <a:t>simple,est</a:t>
            </a:r>
            <a:r>
              <a:rPr lang="fr-FR" sz="2800" dirty="0" smtClean="0"/>
              <a:t> </a:t>
            </a:r>
            <a:r>
              <a:rPr lang="fr-FR" sz="2800" dirty="0"/>
              <a:t>le processus par lequel les molécules se déplacent d'une région de concentration plus élevée vers une région de concentration plus </a:t>
            </a:r>
            <a:r>
              <a:rPr lang="fr-FR" sz="2800" dirty="0" smtClean="0"/>
              <a:t>faible.</a:t>
            </a:r>
          </a:p>
          <a:p>
            <a:pPr marL="457200" indent="-457200">
              <a:lnSpc>
                <a:spcPct val="100000"/>
              </a:lnSpc>
              <a:spcBef>
                <a:spcPts val="1650"/>
              </a:spcBef>
              <a:buClr>
                <a:srgbClr val="E15322"/>
              </a:buClr>
              <a:buFont typeface="Arial" panose="020B0604020202020204" pitchFamily="34" charset="0"/>
              <a:buChar char="•"/>
            </a:pPr>
            <a:r>
              <a:rPr lang="fr-FR" sz="2800" dirty="0" smtClean="0"/>
              <a:t>les </a:t>
            </a:r>
            <a:r>
              <a:rPr lang="fr-FR" sz="2800" dirty="0"/>
              <a:t>molécules se déplacent vers le bas du gradient de concentration. </a:t>
            </a:r>
            <a:endParaRPr lang="fr-FR" sz="2800" dirty="0" smtClean="0"/>
          </a:p>
          <a:p>
            <a:pPr marL="457200" indent="-457200">
              <a:lnSpc>
                <a:spcPct val="100000"/>
              </a:lnSpc>
              <a:spcBef>
                <a:spcPts val="1650"/>
              </a:spcBef>
              <a:buClr>
                <a:srgbClr val="E15322"/>
              </a:buClr>
              <a:buFont typeface="Arial" panose="020B0604020202020204" pitchFamily="34" charset="0"/>
              <a:buChar char="•"/>
            </a:pPr>
            <a:r>
              <a:rPr lang="fr-FR" sz="2800" dirty="0" smtClean="0"/>
              <a:t>La </a:t>
            </a:r>
            <a:r>
              <a:rPr lang="fr-FR" sz="2800" dirty="0"/>
              <a:t>vitesse de la diffusion passive dépend de l'importance du gradient de </a:t>
            </a:r>
            <a:r>
              <a:rPr lang="fr-FR" sz="2800" dirty="0" smtClean="0"/>
              <a:t>concentration entre </a:t>
            </a:r>
            <a:r>
              <a:rPr lang="fr-FR" sz="2800" dirty="0"/>
              <a:t>l'extérieur et l'intérieur d'une cellule </a:t>
            </a:r>
          </a:p>
        </p:txBody>
      </p:sp>
    </p:spTree>
    <p:extLst>
      <p:ext uri="{BB962C8B-B14F-4D97-AF65-F5344CB8AC3E}">
        <p14:creationId xmlns:p14="http://schemas.microsoft.com/office/powerpoint/2010/main" val="263169932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3.Membrane cytoplasmique </a:t>
            </a:r>
            <a:endParaRPr b="1" dirty="0">
              <a:solidFill>
                <a:srgbClr val="FF0000"/>
              </a:solidFill>
            </a:endParaRPr>
          </a:p>
        </p:txBody>
      </p:sp>
      <p:sp>
        <p:nvSpPr>
          <p:cNvPr id="4" name="object 4"/>
          <p:cNvSpPr txBox="1"/>
          <p:nvPr/>
        </p:nvSpPr>
        <p:spPr>
          <a:xfrm>
            <a:off x="511876" y="875019"/>
            <a:ext cx="10713720" cy="2476319"/>
          </a:xfrm>
          <a:prstGeom prst="rect">
            <a:avLst/>
          </a:prstGeom>
        </p:spPr>
        <p:txBody>
          <a:bodyPr vert="horz" wrap="square" lIns="0" tIns="102870" rIns="0" bIns="0" rtlCol="0">
            <a:spAutoFit/>
          </a:bodyPr>
          <a:lstStyle/>
          <a:p>
            <a:pPr>
              <a:lnSpc>
                <a:spcPct val="100000"/>
              </a:lnSpc>
              <a:spcBef>
                <a:spcPts val="1650"/>
              </a:spcBef>
              <a:buClr>
                <a:srgbClr val="E15322"/>
              </a:buClr>
            </a:pPr>
            <a:r>
              <a:rPr lang="fr-FR" sz="2800" b="1" dirty="0" smtClean="0"/>
              <a:t>Diffusion facilitée</a:t>
            </a:r>
          </a:p>
          <a:p>
            <a:pPr marL="457200" indent="-457200">
              <a:lnSpc>
                <a:spcPct val="100000"/>
              </a:lnSpc>
              <a:spcBef>
                <a:spcPts val="1650"/>
              </a:spcBef>
              <a:buClr>
                <a:srgbClr val="E15322"/>
              </a:buClr>
              <a:buFont typeface="Arial" panose="020B0604020202020204" pitchFamily="34" charset="0"/>
              <a:buChar char="•"/>
            </a:pPr>
            <a:r>
              <a:rPr lang="fr-FR" sz="2800" dirty="0" smtClean="0"/>
              <a:t>Lors </a:t>
            </a:r>
            <a:r>
              <a:rPr lang="fr-FR" sz="2800" dirty="0"/>
              <a:t>de la diffusion facilitée, les substances se déplacent à travers la membrane </a:t>
            </a:r>
            <a:r>
              <a:rPr lang="fr-FR" sz="2800" dirty="0" smtClean="0"/>
              <a:t>plasmique à l'aide </a:t>
            </a:r>
            <a:r>
              <a:rPr lang="fr-FR" sz="2800" dirty="0"/>
              <a:t>de protéines de transport qui sont soit des canaux, soit des </a:t>
            </a:r>
            <a:r>
              <a:rPr lang="fr-FR" sz="2800" dirty="0" smtClean="0"/>
              <a:t>transporteurs , qui </a:t>
            </a:r>
            <a:r>
              <a:rPr lang="fr-FR" sz="2800" dirty="0"/>
              <a:t>forment des pores dans les membranes à travers lesquels les substances peuvent passer </a:t>
            </a:r>
          </a:p>
        </p:txBody>
      </p:sp>
      <p:pic>
        <p:nvPicPr>
          <p:cNvPr id="5" name="Picture 4"/>
          <p:cNvPicPr>
            <a:picLocks noChangeAspect="1"/>
          </p:cNvPicPr>
          <p:nvPr/>
        </p:nvPicPr>
        <p:blipFill>
          <a:blip r:embed="rId4"/>
          <a:stretch>
            <a:fillRect/>
          </a:stretch>
        </p:blipFill>
        <p:spPr>
          <a:xfrm>
            <a:off x="3143249" y="3479178"/>
            <a:ext cx="5905500" cy="3256004"/>
          </a:xfrm>
          <a:prstGeom prst="rect">
            <a:avLst/>
          </a:prstGeom>
        </p:spPr>
      </p:pic>
    </p:spTree>
    <p:extLst>
      <p:ext uri="{BB962C8B-B14F-4D97-AF65-F5344CB8AC3E}">
        <p14:creationId xmlns:p14="http://schemas.microsoft.com/office/powerpoint/2010/main" val="68998483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479756" y="216818"/>
            <a:ext cx="4943475" cy="6296025"/>
          </a:xfrm>
          <a:prstGeom prst="rect">
            <a:avLst/>
          </a:prstGeom>
        </p:spPr>
      </p:pic>
      <p:sp>
        <p:nvSpPr>
          <p:cNvPr id="5" name="Rectangle 4"/>
          <p:cNvSpPr/>
          <p:nvPr/>
        </p:nvSpPr>
        <p:spPr>
          <a:xfrm>
            <a:off x="112295" y="496851"/>
            <a:ext cx="6096000" cy="923330"/>
          </a:xfrm>
          <a:prstGeom prst="rect">
            <a:avLst/>
          </a:prstGeom>
        </p:spPr>
        <p:txBody>
          <a:bodyPr>
            <a:spAutoFit/>
          </a:bodyPr>
          <a:lstStyle/>
          <a:p>
            <a:r>
              <a:rPr lang="fr-FR" dirty="0"/>
              <a:t>Le transport </a:t>
            </a:r>
            <a:r>
              <a:rPr lang="fr-FR" b="1" dirty="0"/>
              <a:t>actif</a:t>
            </a:r>
            <a:r>
              <a:rPr lang="fr-FR" dirty="0"/>
              <a:t> est le transport de molécules de soluté vers des concentrations plus élevées (c'est-à-dire contre un gradient de concentration).</a:t>
            </a:r>
          </a:p>
        </p:txBody>
      </p:sp>
    </p:spTree>
    <p:extLst>
      <p:ext uri="{BB962C8B-B14F-4D97-AF65-F5344CB8AC3E}">
        <p14:creationId xmlns:p14="http://schemas.microsoft.com/office/powerpoint/2010/main" val="96869734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4.Paroi bactérienne</a:t>
            </a:r>
            <a:endParaRPr b="1" dirty="0">
              <a:solidFill>
                <a:srgbClr val="FF0000"/>
              </a:solidFill>
            </a:endParaRPr>
          </a:p>
        </p:txBody>
      </p:sp>
      <p:sp>
        <p:nvSpPr>
          <p:cNvPr id="4" name="object 4"/>
          <p:cNvSpPr txBox="1"/>
          <p:nvPr/>
        </p:nvSpPr>
        <p:spPr>
          <a:xfrm>
            <a:off x="688340" y="1368956"/>
            <a:ext cx="10713720" cy="5066772"/>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Les bactéries peuvent être divisées en deux groupes distincts, appelés gram positif et gram négatif, selon qu'elles se colorent d'une certaine manière (-positif) ou non (-négatif).</a:t>
            </a:r>
          </a:p>
          <a:p>
            <a:pPr marL="457200" indent="-457200">
              <a:lnSpc>
                <a:spcPct val="100000"/>
              </a:lnSpc>
              <a:spcBef>
                <a:spcPts val="1650"/>
              </a:spcBef>
              <a:buClr>
                <a:srgbClr val="E15322"/>
              </a:buClr>
              <a:buFont typeface="Arial" panose="020B0604020202020204" pitchFamily="34" charset="0"/>
              <a:buChar char="•"/>
            </a:pPr>
            <a:r>
              <a:rPr lang="fr-FR" sz="2800" dirty="0" smtClean="0"/>
              <a:t>Les </a:t>
            </a:r>
            <a:r>
              <a:rPr lang="fr-FR" sz="2800" dirty="0"/>
              <a:t>couches de la paroi cellulaire des bactéries à Gram positif et à Gram négatif sont constituées d'une molécule unique appelée peptidoglycane.</a:t>
            </a:r>
          </a:p>
          <a:p>
            <a:pPr marL="457200" indent="-457200">
              <a:lnSpc>
                <a:spcPct val="100000"/>
              </a:lnSpc>
              <a:spcBef>
                <a:spcPts val="1650"/>
              </a:spcBef>
              <a:buClr>
                <a:srgbClr val="E15322"/>
              </a:buClr>
              <a:buFont typeface="Arial" panose="020B0604020202020204" pitchFamily="34" charset="0"/>
              <a:buChar char="•"/>
            </a:pPr>
            <a:r>
              <a:rPr lang="fr-FR" sz="2800" dirty="0"/>
              <a:t>Dans les cellules à Gram positif, il y a plusieurs couches de peptidoglycane, alors que dans les cellules à Gram négatif, il n'y en a qu'une seule.</a:t>
            </a:r>
          </a:p>
          <a:p>
            <a:pPr>
              <a:lnSpc>
                <a:spcPct val="100000"/>
              </a:lnSpc>
              <a:spcBef>
                <a:spcPts val="1650"/>
              </a:spcBef>
              <a:buClr>
                <a:srgbClr val="E15322"/>
              </a:buClr>
            </a:pPr>
            <a:endParaRPr lang="fr-FR" sz="2800" dirty="0" smtClean="0"/>
          </a:p>
        </p:txBody>
      </p:sp>
    </p:spTree>
    <p:extLst>
      <p:ext uri="{BB962C8B-B14F-4D97-AF65-F5344CB8AC3E}">
        <p14:creationId xmlns:p14="http://schemas.microsoft.com/office/powerpoint/2010/main" val="77270383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306554"/>
            <a:ext cx="12192000" cy="6302793"/>
          </a:xfrm>
          <a:prstGeom prst="rect">
            <a:avLst/>
          </a:prstGeom>
        </p:spPr>
      </p:pic>
    </p:spTree>
    <p:extLst>
      <p:ext uri="{BB962C8B-B14F-4D97-AF65-F5344CB8AC3E}">
        <p14:creationId xmlns:p14="http://schemas.microsoft.com/office/powerpoint/2010/main" val="36292730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90497" y="744946"/>
            <a:ext cx="9096375" cy="5191125"/>
          </a:xfrm>
          <a:prstGeom prst="rect">
            <a:avLst/>
          </a:prstGeom>
        </p:spPr>
      </p:pic>
    </p:spTree>
    <p:extLst>
      <p:ext uri="{BB962C8B-B14F-4D97-AF65-F5344CB8AC3E}">
        <p14:creationId xmlns:p14="http://schemas.microsoft.com/office/powerpoint/2010/main" val="405127109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4.Paroi </a:t>
            </a:r>
            <a:r>
              <a:rPr lang="fr-FR" b="1" dirty="0" err="1" smtClean="0">
                <a:solidFill>
                  <a:srgbClr val="FF0000"/>
                </a:solidFill>
              </a:rPr>
              <a:t>bacterienne</a:t>
            </a:r>
            <a:endParaRPr b="1" dirty="0">
              <a:solidFill>
                <a:srgbClr val="FF0000"/>
              </a:solidFill>
            </a:endParaRPr>
          </a:p>
        </p:txBody>
      </p:sp>
      <p:sp>
        <p:nvSpPr>
          <p:cNvPr id="4" name="object 4"/>
          <p:cNvSpPr txBox="1"/>
          <p:nvPr/>
        </p:nvSpPr>
        <p:spPr>
          <a:xfrm>
            <a:off x="688340" y="1368956"/>
            <a:ext cx="10713720" cy="3986989"/>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La paroi cellulaire est à l'origine d'un certain nombre de caractéristiques bactériennes importantes. En général, elle contribue à</a:t>
            </a:r>
          </a:p>
          <a:p>
            <a:pPr marL="457200" indent="-457200">
              <a:lnSpc>
                <a:spcPct val="100000"/>
              </a:lnSpc>
              <a:spcBef>
                <a:spcPts val="1650"/>
              </a:spcBef>
              <a:buClr>
                <a:srgbClr val="E15322"/>
              </a:buClr>
              <a:buFont typeface="Arial" panose="020B0604020202020204" pitchFamily="34" charset="0"/>
              <a:buChar char="•"/>
            </a:pPr>
            <a:r>
              <a:rPr lang="fr-FR" sz="2800" dirty="0"/>
              <a:t>déterminer la forme d'une bactérie, et elle fournit également le type de support structurel solide nécessaire pour empêcher une bactérie d'éclater ou de s'effondrer en raison de changements de la pression osmotique.</a:t>
            </a:r>
          </a:p>
          <a:p>
            <a:pPr marL="457200" indent="-457200">
              <a:lnSpc>
                <a:spcPct val="100000"/>
              </a:lnSpc>
              <a:spcBef>
                <a:spcPts val="1650"/>
              </a:spcBef>
              <a:buClr>
                <a:srgbClr val="E15322"/>
              </a:buClr>
              <a:buFont typeface="Arial" panose="020B0604020202020204" pitchFamily="34" charset="0"/>
              <a:buChar char="•"/>
            </a:pPr>
            <a:r>
              <a:rPr lang="fr-FR" sz="2800" dirty="0" smtClean="0"/>
              <a:t>Les </a:t>
            </a:r>
            <a:r>
              <a:rPr lang="fr-FR" sz="2800" dirty="0"/>
              <a:t>parois cellulaires de la plupart des bactéries sont relativement rigides grâce à une macromolécule unique </a:t>
            </a:r>
            <a:r>
              <a:rPr lang="fr-FR" sz="2800" dirty="0" smtClean="0"/>
              <a:t>appelé peptidoglycane </a:t>
            </a:r>
            <a:r>
              <a:rPr lang="fr-FR" sz="2800" dirty="0"/>
              <a:t>(PG). </a:t>
            </a:r>
            <a:endParaRPr lang="fr-FR" sz="2800" dirty="0" smtClean="0"/>
          </a:p>
        </p:txBody>
      </p:sp>
    </p:spTree>
    <p:extLst>
      <p:ext uri="{BB962C8B-B14F-4D97-AF65-F5344CB8AC3E}">
        <p14:creationId xmlns:p14="http://schemas.microsoft.com/office/powerpoint/2010/main" val="177698571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4.Paroi </a:t>
            </a:r>
            <a:r>
              <a:rPr lang="fr-FR" b="1" dirty="0" err="1" smtClean="0">
                <a:solidFill>
                  <a:srgbClr val="FF0000"/>
                </a:solidFill>
              </a:rPr>
              <a:t>bacterienne</a:t>
            </a:r>
            <a:endParaRPr b="1" dirty="0">
              <a:solidFill>
                <a:srgbClr val="FF0000"/>
              </a:solidFill>
            </a:endParaRPr>
          </a:p>
        </p:txBody>
      </p:sp>
      <p:sp>
        <p:nvSpPr>
          <p:cNvPr id="4" name="object 4"/>
          <p:cNvSpPr txBox="1"/>
          <p:nvPr/>
        </p:nvSpPr>
        <p:spPr>
          <a:xfrm>
            <a:off x="688340" y="1368956"/>
            <a:ext cx="10713720" cy="3338093"/>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Ce </a:t>
            </a:r>
            <a:r>
              <a:rPr lang="fr-FR" sz="2800" dirty="0"/>
              <a:t>composé est constitué d'une structure répétitive de longues chaînes de </a:t>
            </a:r>
            <a:r>
              <a:rPr lang="fr-FR" sz="2800" dirty="0" err="1"/>
              <a:t>glycanes</a:t>
            </a:r>
            <a:r>
              <a:rPr lang="fr-FR" sz="2800" dirty="0"/>
              <a:t> (sucres) réticulées par de courts peptides (protéines).</a:t>
            </a:r>
          </a:p>
          <a:p>
            <a:pPr marL="457200" indent="-457200">
              <a:lnSpc>
                <a:spcPct val="100000"/>
              </a:lnSpc>
              <a:spcBef>
                <a:spcPts val="1650"/>
              </a:spcBef>
              <a:buClr>
                <a:srgbClr val="E15322"/>
              </a:buClr>
              <a:buFont typeface="Arial" panose="020B0604020202020204" pitchFamily="34" charset="0"/>
              <a:buChar char="•"/>
            </a:pPr>
            <a:r>
              <a:rPr lang="fr-FR" sz="2800" dirty="0"/>
              <a:t>par de courts fragments de peptides (protéines) pour fournir une structure de soutien solide mais flexible </a:t>
            </a:r>
            <a:r>
              <a:rPr lang="fr-FR" sz="2800" dirty="0" smtClean="0"/>
              <a:t>. </a:t>
            </a:r>
            <a:r>
              <a:rPr lang="fr-FR" sz="2800" dirty="0"/>
              <a:t>La quantité et la composition exacte du peptidoglycane varient selon les principaux groupes bactériens.</a:t>
            </a:r>
            <a:endParaRPr lang="fr-FR" sz="2800" dirty="0" smtClean="0"/>
          </a:p>
        </p:txBody>
      </p:sp>
    </p:spTree>
    <p:extLst>
      <p:ext uri="{BB962C8B-B14F-4D97-AF65-F5344CB8AC3E}">
        <p14:creationId xmlns:p14="http://schemas.microsoft.com/office/powerpoint/2010/main" val="345423924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4.Paroi </a:t>
            </a:r>
            <a:r>
              <a:rPr lang="fr-FR" b="1" dirty="0" err="1" smtClean="0">
                <a:solidFill>
                  <a:srgbClr val="FF0000"/>
                </a:solidFill>
              </a:rPr>
              <a:t>bacterienne</a:t>
            </a:r>
            <a:endParaRPr b="1" dirty="0">
              <a:solidFill>
                <a:srgbClr val="FF0000"/>
              </a:solidFill>
            </a:endParaRPr>
          </a:p>
        </p:txBody>
      </p:sp>
      <p:sp>
        <p:nvSpPr>
          <p:cNvPr id="4" name="object 4"/>
          <p:cNvSpPr txBox="1"/>
          <p:nvPr/>
        </p:nvSpPr>
        <p:spPr>
          <a:xfrm>
            <a:off x="688340" y="1513335"/>
            <a:ext cx="10713720" cy="4204997"/>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La majeure partie de la paroi cellulaire des </a:t>
            </a:r>
            <a:r>
              <a:rPr lang="fr-FR" sz="2800" b="1" dirty="0"/>
              <a:t>Gram positifs</a:t>
            </a:r>
            <a:r>
              <a:rPr lang="fr-FR" sz="2800" dirty="0"/>
              <a:t> est constituée d'une gaine épaisse et homogène de peptidoglycane dont l'épaisseur varie de 20 à 80 nm.</a:t>
            </a:r>
          </a:p>
          <a:p>
            <a:pPr marL="457200" indent="-457200">
              <a:lnSpc>
                <a:spcPct val="100000"/>
              </a:lnSpc>
              <a:spcBef>
                <a:spcPts val="1650"/>
              </a:spcBef>
              <a:buClr>
                <a:srgbClr val="E15322"/>
              </a:buClr>
              <a:buFont typeface="Arial" panose="020B0604020202020204" pitchFamily="34" charset="0"/>
              <a:buChar char="•"/>
            </a:pPr>
            <a:r>
              <a:rPr lang="fr-FR" sz="2800" dirty="0" smtClean="0"/>
              <a:t>Elle </a:t>
            </a:r>
            <a:r>
              <a:rPr lang="fr-FR" sz="2800" dirty="0"/>
              <a:t>contient également des polysaccharides acides étroitement liés, notamment l'acide </a:t>
            </a:r>
            <a:r>
              <a:rPr lang="fr-FR" sz="2800" dirty="0" err="1"/>
              <a:t>téichoïque</a:t>
            </a:r>
            <a:r>
              <a:rPr lang="fr-FR" sz="2800" dirty="0"/>
              <a:t> et l'acide </a:t>
            </a:r>
            <a:r>
              <a:rPr lang="fr-FR" sz="2800" dirty="0" err="1"/>
              <a:t>lipotéichoïque</a:t>
            </a:r>
            <a:r>
              <a:rPr lang="fr-FR" sz="2800" dirty="0"/>
              <a:t>.</a:t>
            </a:r>
          </a:p>
          <a:p>
            <a:pPr marL="457200" indent="-457200">
              <a:lnSpc>
                <a:spcPct val="100000"/>
              </a:lnSpc>
              <a:spcBef>
                <a:spcPts val="1650"/>
              </a:spcBef>
              <a:buClr>
                <a:srgbClr val="E15322"/>
              </a:buClr>
              <a:buFont typeface="Arial" panose="020B0604020202020204" pitchFamily="34" charset="0"/>
              <a:buChar char="•"/>
            </a:pPr>
            <a:r>
              <a:rPr lang="fr-FR" sz="2800" dirty="0" smtClean="0"/>
              <a:t>Ces </a:t>
            </a:r>
            <a:r>
              <a:rPr lang="fr-FR" sz="2800" dirty="0"/>
              <a:t>molécules semblent jouer un rôle dans l'entretien et l'élargissement de la paroi cellulaire au cours de la division cellulaire.</a:t>
            </a:r>
          </a:p>
          <a:p>
            <a:pPr marL="457200" indent="-457200">
              <a:lnSpc>
                <a:spcPct val="100000"/>
              </a:lnSpc>
              <a:spcBef>
                <a:spcPts val="1650"/>
              </a:spcBef>
              <a:buClr>
                <a:srgbClr val="E15322"/>
              </a:buClr>
              <a:buFont typeface="Arial" panose="020B0604020202020204" pitchFamily="34" charset="0"/>
              <a:buChar char="•"/>
            </a:pPr>
            <a:r>
              <a:rPr lang="fr-FR" sz="2800" dirty="0"/>
              <a:t>contribuent également à la charge acide de la surface cellulaire.</a:t>
            </a:r>
            <a:endParaRPr lang="fr-FR" sz="2800" dirty="0" smtClean="0"/>
          </a:p>
        </p:txBody>
      </p:sp>
    </p:spTree>
    <p:extLst>
      <p:ext uri="{BB962C8B-B14F-4D97-AF65-F5344CB8AC3E}">
        <p14:creationId xmlns:p14="http://schemas.microsoft.com/office/powerpoint/2010/main" val="134252945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4.Paroi </a:t>
            </a:r>
            <a:r>
              <a:rPr lang="fr-FR" b="1" dirty="0" err="1" smtClean="0">
                <a:solidFill>
                  <a:srgbClr val="FF0000"/>
                </a:solidFill>
              </a:rPr>
              <a:t>bacterienne</a:t>
            </a:r>
            <a:endParaRPr b="1" dirty="0">
              <a:solidFill>
                <a:srgbClr val="FF0000"/>
              </a:solidFill>
            </a:endParaRPr>
          </a:p>
        </p:txBody>
      </p:sp>
      <p:sp>
        <p:nvSpPr>
          <p:cNvPr id="4" name="object 4"/>
          <p:cNvSpPr txBox="1"/>
          <p:nvPr/>
        </p:nvSpPr>
        <p:spPr>
          <a:xfrm>
            <a:off x="688340" y="1513335"/>
            <a:ext cx="10713720" cy="2476319"/>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La paroi cellulaire </a:t>
            </a:r>
            <a:r>
              <a:rPr lang="fr-FR" sz="2800" b="1" dirty="0"/>
              <a:t>des bactéries gram-négatives </a:t>
            </a:r>
            <a:r>
              <a:rPr lang="fr-FR" sz="2800" dirty="0"/>
              <a:t>est constituée d'un seul feuillet mince (1-3 nm) de peptidoglycane. </a:t>
            </a:r>
            <a:endParaRPr lang="fr-FR" sz="2800" dirty="0" smtClean="0"/>
          </a:p>
          <a:p>
            <a:pPr marL="457200" indent="-457200">
              <a:lnSpc>
                <a:spcPct val="100000"/>
              </a:lnSpc>
              <a:spcBef>
                <a:spcPts val="1650"/>
              </a:spcBef>
              <a:buClr>
                <a:srgbClr val="E15322"/>
              </a:buClr>
              <a:buFont typeface="Arial" panose="020B0604020202020204" pitchFamily="34" charset="0"/>
              <a:buChar char="•"/>
            </a:pPr>
            <a:r>
              <a:rPr lang="fr-FR" sz="2800" dirty="0" smtClean="0"/>
              <a:t>Bien </a:t>
            </a:r>
            <a:r>
              <a:rPr lang="fr-FR" sz="2800" dirty="0" err="1" smtClean="0"/>
              <a:t>qui’il</a:t>
            </a:r>
            <a:r>
              <a:rPr lang="fr-FR" sz="2800" dirty="0" smtClean="0"/>
              <a:t> s’agit d’une structure </a:t>
            </a:r>
            <a:r>
              <a:rPr lang="fr-FR" sz="2800" dirty="0"/>
              <a:t>protectrice quelque peu rigide, comme décrit précédemment, sa finesse rend les bactéries gram-négatives plus sensibles à la lyse</a:t>
            </a:r>
            <a:r>
              <a:rPr lang="fr-FR" sz="2800" dirty="0" smtClean="0"/>
              <a:t>.</a:t>
            </a:r>
            <a:endParaRPr lang="fr-FR" sz="2800" dirty="0"/>
          </a:p>
        </p:txBody>
      </p:sp>
    </p:spTree>
    <p:extLst>
      <p:ext uri="{BB962C8B-B14F-4D97-AF65-F5344CB8AC3E}">
        <p14:creationId xmlns:p14="http://schemas.microsoft.com/office/powerpoint/2010/main" val="209333319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22" y="68826"/>
            <a:ext cx="12175777" cy="6789174"/>
          </a:xfrm>
          <a:prstGeom prst="rect">
            <a:avLst/>
          </a:prstGeom>
        </p:spPr>
      </p:pic>
    </p:spTree>
    <p:extLst>
      <p:ext uri="{BB962C8B-B14F-4D97-AF65-F5344CB8AC3E}">
        <p14:creationId xmlns:p14="http://schemas.microsoft.com/office/powerpoint/2010/main" val="43693214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84171" y="0"/>
            <a:ext cx="9410700" cy="2562225"/>
          </a:xfrm>
          <a:prstGeom prst="rect">
            <a:avLst/>
          </a:prstGeom>
        </p:spPr>
      </p:pic>
      <p:pic>
        <p:nvPicPr>
          <p:cNvPr id="5" name="Picture 4"/>
          <p:cNvPicPr>
            <a:picLocks noChangeAspect="1"/>
          </p:cNvPicPr>
          <p:nvPr/>
        </p:nvPicPr>
        <p:blipFill>
          <a:blip r:embed="rId3"/>
          <a:stretch>
            <a:fillRect/>
          </a:stretch>
        </p:blipFill>
        <p:spPr>
          <a:xfrm>
            <a:off x="941284" y="2733368"/>
            <a:ext cx="9896475" cy="4124632"/>
          </a:xfrm>
          <a:prstGeom prst="rect">
            <a:avLst/>
          </a:prstGeom>
        </p:spPr>
      </p:pic>
    </p:spTree>
    <p:extLst>
      <p:ext uri="{BB962C8B-B14F-4D97-AF65-F5344CB8AC3E}">
        <p14:creationId xmlns:p14="http://schemas.microsoft.com/office/powerpoint/2010/main" val="387413374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sp>
        <p:nvSpPr>
          <p:cNvPr id="3" name="Content Placeholder 2"/>
          <p:cNvSpPr>
            <a:spLocks noGrp="1"/>
          </p:cNvSpPr>
          <p:nvPr>
            <p:ph idx="1"/>
          </p:nvPr>
        </p:nvSpPr>
        <p:spPr/>
        <p:txBody>
          <a:bodyPr/>
          <a:lstStyle/>
          <a:p>
            <a:endParaRPr lang="fr-FR"/>
          </a:p>
        </p:txBody>
      </p:sp>
      <p:pic>
        <p:nvPicPr>
          <p:cNvPr id="4" name="Picture 3"/>
          <p:cNvPicPr>
            <a:picLocks noChangeAspect="1"/>
          </p:cNvPicPr>
          <p:nvPr/>
        </p:nvPicPr>
        <p:blipFill>
          <a:blip r:embed="rId2"/>
          <a:stretch>
            <a:fillRect/>
          </a:stretch>
        </p:blipFill>
        <p:spPr>
          <a:xfrm>
            <a:off x="341897" y="177466"/>
            <a:ext cx="11315700" cy="6438900"/>
          </a:xfrm>
          <a:prstGeom prst="rect">
            <a:avLst/>
          </a:prstGeom>
        </p:spPr>
      </p:pic>
    </p:spTree>
    <p:extLst>
      <p:ext uri="{BB962C8B-B14F-4D97-AF65-F5344CB8AC3E}">
        <p14:creationId xmlns:p14="http://schemas.microsoft.com/office/powerpoint/2010/main" val="256524108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47675" y="795337"/>
            <a:ext cx="11296650" cy="5267325"/>
          </a:xfrm>
          <a:prstGeom prst="rect">
            <a:avLst/>
          </a:prstGeom>
        </p:spPr>
      </p:pic>
    </p:spTree>
    <p:extLst>
      <p:ext uri="{BB962C8B-B14F-4D97-AF65-F5344CB8AC3E}">
        <p14:creationId xmlns:p14="http://schemas.microsoft.com/office/powerpoint/2010/main" val="118406439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La membrane externe </a:t>
            </a:r>
            <a:endParaRPr b="1" dirty="0">
              <a:solidFill>
                <a:srgbClr val="FF0000"/>
              </a:solidFill>
            </a:endParaRPr>
          </a:p>
        </p:txBody>
      </p:sp>
      <p:sp>
        <p:nvSpPr>
          <p:cNvPr id="4" name="object 4"/>
          <p:cNvSpPr txBox="1"/>
          <p:nvPr/>
        </p:nvSpPr>
        <p:spPr>
          <a:xfrm>
            <a:off x="688340" y="1032071"/>
            <a:ext cx="11307015" cy="2694327"/>
          </a:xfrm>
          <a:prstGeom prst="rect">
            <a:avLst/>
          </a:prstGeom>
        </p:spPr>
        <p:txBody>
          <a:bodyPr vert="horz" wrap="square" lIns="0" tIns="102870" rIns="0" bIns="0" rtlCol="0">
            <a:spAutoFit/>
          </a:bodyPr>
          <a:lstStyle/>
          <a:p>
            <a:pPr marL="457200" indent="-457200">
              <a:spcBef>
                <a:spcPts val="1650"/>
              </a:spcBef>
              <a:buClr>
                <a:srgbClr val="E15322"/>
              </a:buClr>
              <a:buFont typeface="Arial" panose="020B0604020202020204" pitchFamily="34" charset="0"/>
              <a:buChar char="•"/>
            </a:pPr>
            <a:r>
              <a:rPr lang="fr-FR" sz="2800" dirty="0" smtClean="0"/>
              <a:t>La membrane externe </a:t>
            </a:r>
            <a:r>
              <a:rPr lang="fr-FR" sz="2800" dirty="0"/>
              <a:t>est une bicouche de </a:t>
            </a:r>
            <a:r>
              <a:rPr lang="fr-FR" sz="2800" dirty="0" smtClean="0"/>
              <a:t>phospholipides, appelée </a:t>
            </a:r>
            <a:r>
              <a:rPr lang="fr-FR" sz="2800" dirty="0" err="1"/>
              <a:t>lipopolysaccharide</a:t>
            </a:r>
            <a:r>
              <a:rPr lang="fr-FR" sz="2800" dirty="0"/>
              <a:t> (LPS</a:t>
            </a:r>
            <a:r>
              <a:rPr lang="fr-FR" sz="2800" dirty="0" smtClean="0"/>
              <a:t>)</a:t>
            </a:r>
          </a:p>
          <a:p>
            <a:pPr marL="457200" indent="-457200">
              <a:lnSpc>
                <a:spcPct val="100000"/>
              </a:lnSpc>
              <a:spcBef>
                <a:spcPts val="1650"/>
              </a:spcBef>
              <a:buClr>
                <a:srgbClr val="E15322"/>
              </a:buClr>
              <a:buFont typeface="Arial" panose="020B0604020202020204" pitchFamily="34" charset="0"/>
              <a:buChar char="•"/>
            </a:pPr>
            <a:r>
              <a:rPr lang="fr-FR" sz="2800" dirty="0" smtClean="0"/>
              <a:t>Les </a:t>
            </a:r>
            <a:r>
              <a:rPr lang="fr-FR" sz="2800" dirty="0"/>
              <a:t>chaînes de polysaccharides qui s'étendent à la surface servent de molécules de signalisation et de récepteurs.</a:t>
            </a:r>
          </a:p>
          <a:p>
            <a:pPr marL="457200" indent="-457200">
              <a:lnSpc>
                <a:spcPct val="100000"/>
              </a:lnSpc>
              <a:spcBef>
                <a:spcPts val="1650"/>
              </a:spcBef>
              <a:buClr>
                <a:srgbClr val="E15322"/>
              </a:buClr>
              <a:buFont typeface="Arial" panose="020B0604020202020204" pitchFamily="34" charset="0"/>
              <a:buChar char="•"/>
            </a:pPr>
            <a:r>
              <a:rPr lang="fr-FR" sz="2800" dirty="0" smtClean="0"/>
              <a:t>Porte les sites récepteurs de bactériophages</a:t>
            </a:r>
          </a:p>
        </p:txBody>
      </p:sp>
    </p:spTree>
    <p:extLst>
      <p:ext uri="{BB962C8B-B14F-4D97-AF65-F5344CB8AC3E}">
        <p14:creationId xmlns:p14="http://schemas.microsoft.com/office/powerpoint/2010/main" val="72706248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La membrane externe </a:t>
            </a:r>
            <a:endParaRPr b="1" dirty="0">
              <a:solidFill>
                <a:srgbClr val="FF0000"/>
              </a:solidFill>
            </a:endParaRPr>
          </a:p>
        </p:txBody>
      </p:sp>
      <p:sp>
        <p:nvSpPr>
          <p:cNvPr id="4" name="object 4"/>
          <p:cNvSpPr txBox="1"/>
          <p:nvPr/>
        </p:nvSpPr>
        <p:spPr>
          <a:xfrm>
            <a:off x="688340" y="1032071"/>
            <a:ext cx="11307015" cy="5497659"/>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a:t>La partie </a:t>
            </a:r>
            <a:r>
              <a:rPr lang="fr-FR" sz="2800" b="1" dirty="0"/>
              <a:t>lipidique</a:t>
            </a:r>
            <a:r>
              <a:rPr lang="fr-FR" sz="2800" dirty="0"/>
              <a:t> du LPS est appelée </a:t>
            </a:r>
            <a:r>
              <a:rPr lang="fr-FR" sz="2800" b="1" dirty="0"/>
              <a:t>endotoxine</a:t>
            </a:r>
            <a:r>
              <a:rPr lang="fr-FR" sz="2800" dirty="0"/>
              <a:t> parce qu'elle stimule la fièvre et les réactions de choc dans les infections à Gram négatif telles que la méningite et la fièvre typhoïde.</a:t>
            </a:r>
          </a:p>
          <a:p>
            <a:pPr marL="457200" indent="-457200">
              <a:lnSpc>
                <a:spcPct val="100000"/>
              </a:lnSpc>
              <a:spcBef>
                <a:spcPts val="1650"/>
              </a:spcBef>
              <a:buClr>
                <a:srgbClr val="E15322"/>
              </a:buClr>
              <a:buFont typeface="Arial" panose="020B0604020202020204" pitchFamily="34" charset="0"/>
              <a:buChar char="•"/>
            </a:pPr>
            <a:r>
              <a:rPr lang="fr-FR" sz="2800" b="1" dirty="0"/>
              <a:t>La couche la plus interne </a:t>
            </a:r>
            <a:r>
              <a:rPr lang="fr-FR" sz="2800" dirty="0"/>
              <a:t>de la MO est une couche de phospholipides ancrée par des lipoprotéines à la couche de peptidoglycane.</a:t>
            </a:r>
          </a:p>
          <a:p>
            <a:pPr marL="457200" indent="-457200">
              <a:lnSpc>
                <a:spcPct val="100000"/>
              </a:lnSpc>
              <a:spcBef>
                <a:spcPts val="1650"/>
              </a:spcBef>
              <a:buClr>
                <a:srgbClr val="E15322"/>
              </a:buClr>
              <a:buFont typeface="Arial" panose="020B0604020202020204" pitchFamily="34" charset="0"/>
              <a:buChar char="•"/>
            </a:pPr>
            <a:r>
              <a:rPr lang="fr-FR" sz="2800" dirty="0"/>
              <a:t>La membrane externe sert de tamis en ne laissant pénétrer que des molécules relativement petites , Ces molécules traversent la membrane par des canaux spéciaux , formés par des protéines porines qui recouvrent entièrement la membrane </a:t>
            </a:r>
            <a:r>
              <a:rPr lang="fr-FR" sz="2800" dirty="0" err="1"/>
              <a:t>externe.cteur</a:t>
            </a:r>
            <a:r>
              <a:rPr lang="fr-FR" sz="2800" dirty="0"/>
              <a:t> (protection contre le choc osmotique et confère aux bactéries leur forme particulière). </a:t>
            </a:r>
          </a:p>
          <a:p>
            <a:pPr marL="457200" indent="-457200">
              <a:lnSpc>
                <a:spcPct val="100000"/>
              </a:lnSpc>
              <a:spcBef>
                <a:spcPts val="1650"/>
              </a:spcBef>
              <a:buClr>
                <a:srgbClr val="E15322"/>
              </a:buClr>
              <a:buFont typeface="Arial" panose="020B0604020202020204" pitchFamily="34" charset="0"/>
              <a:buChar char="•"/>
            </a:pPr>
            <a:r>
              <a:rPr lang="fr-FR" sz="2800" dirty="0"/>
              <a:t> Antigénique porte l’antigène « 0 » somatique </a:t>
            </a:r>
          </a:p>
        </p:txBody>
      </p:sp>
    </p:spTree>
    <p:extLst>
      <p:ext uri="{BB962C8B-B14F-4D97-AF65-F5344CB8AC3E}">
        <p14:creationId xmlns:p14="http://schemas.microsoft.com/office/powerpoint/2010/main" val="254718756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09787" y="1028700"/>
            <a:ext cx="7972425" cy="4800600"/>
          </a:xfrm>
          <a:prstGeom prst="rect">
            <a:avLst/>
          </a:prstGeom>
        </p:spPr>
      </p:pic>
    </p:spTree>
    <p:extLst>
      <p:ext uri="{BB962C8B-B14F-4D97-AF65-F5344CB8AC3E}">
        <p14:creationId xmlns:p14="http://schemas.microsoft.com/office/powerpoint/2010/main" val="262206573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4" name="object 4"/>
          <p:cNvSpPr txBox="1"/>
          <p:nvPr/>
        </p:nvSpPr>
        <p:spPr>
          <a:xfrm>
            <a:off x="688339" y="1368956"/>
            <a:ext cx="11307015" cy="2476319"/>
          </a:xfrm>
          <a:prstGeom prst="rect">
            <a:avLst/>
          </a:prstGeom>
        </p:spPr>
        <p:txBody>
          <a:bodyPr vert="horz" wrap="square" lIns="0" tIns="102870" rIns="0" bIns="0" rtlCol="0">
            <a:spAutoFit/>
          </a:bodyPr>
          <a:lstStyle/>
          <a:p>
            <a:pPr marL="457200" indent="-457200">
              <a:lnSpc>
                <a:spcPct val="100000"/>
              </a:lnSpc>
              <a:spcBef>
                <a:spcPts val="1650"/>
              </a:spcBef>
              <a:buClr>
                <a:srgbClr val="E15322"/>
              </a:buClr>
              <a:buFont typeface="Arial" panose="020B0604020202020204" pitchFamily="34" charset="0"/>
              <a:buChar char="•"/>
            </a:pPr>
            <a:r>
              <a:rPr lang="fr-FR" sz="2800" dirty="0" smtClean="0"/>
              <a:t>Le </a:t>
            </a:r>
            <a:r>
              <a:rPr lang="fr-FR" sz="2800" dirty="0" err="1" smtClean="0"/>
              <a:t>Périplasme</a:t>
            </a:r>
            <a:r>
              <a:rPr lang="fr-FR" sz="2800" dirty="0" smtClean="0"/>
              <a:t> : </a:t>
            </a:r>
          </a:p>
          <a:p>
            <a:pPr>
              <a:lnSpc>
                <a:spcPct val="100000"/>
              </a:lnSpc>
              <a:spcBef>
                <a:spcPts val="1650"/>
              </a:spcBef>
              <a:buClr>
                <a:srgbClr val="E15322"/>
              </a:buClr>
            </a:pPr>
            <a:r>
              <a:rPr lang="fr-FR" sz="2800" dirty="0" smtClean="0"/>
              <a:t>On appelle </a:t>
            </a:r>
            <a:r>
              <a:rPr lang="fr-FR" sz="2800" dirty="0" err="1" smtClean="0"/>
              <a:t>périplasme</a:t>
            </a:r>
            <a:r>
              <a:rPr lang="fr-FR" sz="2800" dirty="0" smtClean="0"/>
              <a:t> l’espace situé entre la membrane cytoplasmique et la paroi pour les bactéries à Gram positif et entre la membrane cytoplasmique et la membrane externe chez les bactéries à Gram négatif. Cet espace contient un certain nombre d’enzymes qu’on nomme enzymes </a:t>
            </a:r>
            <a:r>
              <a:rPr lang="fr-FR" sz="2800" dirty="0" err="1" smtClean="0"/>
              <a:t>périplasmiques</a:t>
            </a:r>
            <a:r>
              <a:rPr lang="fr-FR" sz="2800" dirty="0" smtClean="0"/>
              <a:t>.</a:t>
            </a:r>
          </a:p>
        </p:txBody>
      </p:sp>
    </p:spTree>
    <p:extLst>
      <p:ext uri="{BB962C8B-B14F-4D97-AF65-F5344CB8AC3E}">
        <p14:creationId xmlns:p14="http://schemas.microsoft.com/office/powerpoint/2010/main" val="392427772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b="1" dirty="0" smtClean="0">
                <a:solidFill>
                  <a:srgbClr val="FF0000"/>
                </a:solidFill>
              </a:rPr>
              <a:t>Ribosomes</a:t>
            </a:r>
            <a:endParaRPr b="1" dirty="0">
              <a:solidFill>
                <a:srgbClr val="FF0000"/>
              </a:solidFill>
            </a:endParaRPr>
          </a:p>
        </p:txBody>
      </p:sp>
      <p:sp>
        <p:nvSpPr>
          <p:cNvPr id="4" name="object 4"/>
          <p:cNvSpPr txBox="1"/>
          <p:nvPr/>
        </p:nvSpPr>
        <p:spPr>
          <a:xfrm>
            <a:off x="688339" y="1368956"/>
            <a:ext cx="11307015" cy="5505353"/>
          </a:xfrm>
          <a:prstGeom prst="rect">
            <a:avLst/>
          </a:prstGeom>
        </p:spPr>
        <p:txBody>
          <a:bodyPr vert="horz" wrap="square" lIns="0" tIns="102870" rIns="0" bIns="0" rtlCol="0">
            <a:spAutoFit/>
          </a:bodyPr>
          <a:lstStyle/>
          <a:p>
            <a:pPr marL="285750" indent="-285750">
              <a:buFont typeface="Arial" panose="020B0604020202020204" pitchFamily="34" charset="0"/>
              <a:buChar char="•"/>
            </a:pPr>
            <a:r>
              <a:rPr lang="fr-FR" sz="2700" dirty="0">
                <a:cs typeface="Times New Roman" panose="02020603050405020304" pitchFamily="18" charset="0"/>
              </a:rPr>
              <a:t> Ce sont des granulations sphériques de 20 à 30 nm de diamètre à structure  complexe avec 1/3 de protéines et de 2/3 d’ARNr  </a:t>
            </a:r>
            <a:endParaRPr lang="fr-FR" sz="2700" b="0" dirty="0" smtClean="0">
              <a:effectLst/>
              <a:cs typeface="Times New Roman" panose="02020603050405020304" pitchFamily="18" charset="0"/>
            </a:endParaRPr>
          </a:p>
          <a:p>
            <a:pPr marL="285750" indent="-285750">
              <a:buFont typeface="Arial" panose="020B0604020202020204" pitchFamily="34" charset="0"/>
              <a:buChar char="•"/>
            </a:pPr>
            <a:r>
              <a:rPr lang="fr-FR" sz="2700" dirty="0">
                <a:cs typeface="Times New Roman" panose="02020603050405020304" pitchFamily="18" charset="0"/>
              </a:rPr>
              <a:t>        Les ribosomes ont un coefficient de sédimentation de 70S formé de deux sous unité : </a:t>
            </a:r>
            <a:endParaRPr lang="fr-FR" sz="2700" b="0" dirty="0" smtClean="0">
              <a:effectLst/>
              <a:cs typeface="Times New Roman" panose="02020603050405020304" pitchFamily="18" charset="0"/>
            </a:endParaRPr>
          </a:p>
          <a:p>
            <a:r>
              <a:rPr lang="fr-FR" sz="2700" dirty="0" smtClean="0">
                <a:cs typeface="Times New Roman" panose="02020603050405020304" pitchFamily="18" charset="0"/>
              </a:rPr>
              <a:t>  </a:t>
            </a:r>
            <a:r>
              <a:rPr lang="fr-FR" sz="2700" dirty="0">
                <a:cs typeface="Times New Roman" panose="02020603050405020304" pitchFamily="18" charset="0"/>
              </a:rPr>
              <a:t>   </a:t>
            </a:r>
            <a:r>
              <a:rPr lang="fr-FR" sz="2700" dirty="0" smtClean="0">
                <a:cs typeface="Times New Roman" panose="02020603050405020304" pitchFamily="18" charset="0"/>
              </a:rPr>
              <a:t>   </a:t>
            </a:r>
            <a:r>
              <a:rPr lang="fr-FR" sz="2700" dirty="0">
                <a:cs typeface="Times New Roman" panose="02020603050405020304" pitchFamily="18" charset="0"/>
              </a:rPr>
              <a:t> • La S/U 50S : qui contient l’ARN r23 S et 05S et 21 protéines  </a:t>
            </a:r>
            <a:endParaRPr lang="fr-FR" sz="2700" b="0" dirty="0" smtClean="0">
              <a:effectLst/>
              <a:cs typeface="Times New Roman" panose="02020603050405020304" pitchFamily="18" charset="0"/>
            </a:endParaRPr>
          </a:p>
          <a:p>
            <a:pPr lvl="1"/>
            <a:r>
              <a:rPr lang="fr-FR" sz="2700" dirty="0" smtClean="0">
                <a:cs typeface="Times New Roman" panose="02020603050405020304" pitchFamily="18" charset="0"/>
              </a:rPr>
              <a:t>  • </a:t>
            </a:r>
            <a:r>
              <a:rPr lang="fr-FR" sz="2700" dirty="0">
                <a:cs typeface="Times New Roman" panose="02020603050405020304" pitchFamily="18" charset="0"/>
              </a:rPr>
              <a:t>La S/U 30S: qui contient l’ARN r16 S et 31 protéines</a:t>
            </a:r>
            <a:r>
              <a:rPr lang="fr-FR" sz="2700" b="1" dirty="0">
                <a:cs typeface="Times New Roman" panose="02020603050405020304" pitchFamily="18" charset="0"/>
              </a:rPr>
              <a:t> </a:t>
            </a:r>
            <a:endParaRPr lang="fr-FR" sz="2700" b="1" dirty="0" smtClean="0">
              <a:cs typeface="Times New Roman" panose="02020603050405020304" pitchFamily="18" charset="0"/>
            </a:endParaRPr>
          </a:p>
          <a:p>
            <a:pPr lvl="1"/>
            <a:endParaRPr lang="fr-FR" sz="2700" b="0" dirty="0" smtClean="0">
              <a:effectLst/>
              <a:cs typeface="Times New Roman" panose="02020603050405020304" pitchFamily="18" charset="0"/>
            </a:endParaRPr>
          </a:p>
          <a:p>
            <a:pPr fontAlgn="base"/>
            <a:r>
              <a:rPr lang="fr-FR" sz="2700" dirty="0">
                <a:cs typeface="Times New Roman" panose="02020603050405020304" pitchFamily="18" charset="0"/>
              </a:rPr>
              <a:t>Fonction:</a:t>
            </a:r>
          </a:p>
          <a:p>
            <a:pPr marL="285750" indent="-285750">
              <a:buFont typeface="Arial" panose="020B0604020202020204" pitchFamily="34" charset="0"/>
              <a:buChar char="•"/>
            </a:pPr>
            <a:r>
              <a:rPr lang="fr-FR" sz="2700" dirty="0">
                <a:cs typeface="Times New Roman" panose="02020603050405020304" pitchFamily="18" charset="0"/>
              </a:rPr>
              <a:t> Après la transcription du message génétique en ARNm, les ribosomes vont </a:t>
            </a:r>
            <a:r>
              <a:rPr lang="fr-FR" sz="2700" b="1" dirty="0">
                <a:cs typeface="Times New Roman" panose="02020603050405020304" pitchFamily="18" charset="0"/>
              </a:rPr>
              <a:t>les  traduire en acides aminés</a:t>
            </a:r>
            <a:r>
              <a:rPr lang="fr-FR" sz="2700" dirty="0">
                <a:cs typeface="Times New Roman" panose="02020603050405020304" pitchFamily="18" charset="0"/>
              </a:rPr>
              <a:t> qui s’unissent pour donner des protéines structurales et/ou  enzymatiques. </a:t>
            </a:r>
            <a:endParaRPr lang="fr-FR" sz="2700" b="0" dirty="0" smtClean="0">
              <a:effectLst/>
              <a:cs typeface="Times New Roman" panose="02020603050405020304" pitchFamily="18" charset="0"/>
            </a:endParaRPr>
          </a:p>
          <a:p>
            <a:r>
              <a:rPr lang="fr-FR" sz="2700" dirty="0" smtClean="0"/>
              <a:t/>
            </a:r>
            <a:br>
              <a:rPr lang="fr-FR" sz="2700" dirty="0" smtClean="0"/>
            </a:br>
            <a:endParaRPr lang="fr-FR" sz="2700" dirty="0" smtClean="0"/>
          </a:p>
        </p:txBody>
      </p:sp>
    </p:spTree>
    <p:extLst>
      <p:ext uri="{BB962C8B-B14F-4D97-AF65-F5344CB8AC3E}">
        <p14:creationId xmlns:p14="http://schemas.microsoft.com/office/powerpoint/2010/main" val="219471042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1681" y="780298"/>
            <a:ext cx="8191500" cy="4238625"/>
          </a:xfrm>
          <a:prstGeom prst="rect">
            <a:avLst/>
          </a:prstGeom>
        </p:spPr>
      </p:pic>
    </p:spTree>
    <p:extLst>
      <p:ext uri="{BB962C8B-B14F-4D97-AF65-F5344CB8AC3E}">
        <p14:creationId xmlns:p14="http://schemas.microsoft.com/office/powerpoint/2010/main" val="117384160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Capsule </a:t>
            </a:r>
            <a:r>
              <a:rPr lang="fr-FR" sz="3600" b="1" dirty="0" err="1" smtClean="0">
                <a:solidFill>
                  <a:srgbClr val="FF0000"/>
                </a:solidFill>
              </a:rPr>
              <a:t>bacterienne</a:t>
            </a:r>
            <a:r>
              <a:rPr lang="fr-FR" sz="3600" b="1" dirty="0" smtClean="0">
                <a:solidFill>
                  <a:srgbClr val="FF0000"/>
                </a:solidFill>
              </a:rPr>
              <a:t> </a:t>
            </a:r>
            <a:endParaRPr sz="3600" b="1" dirty="0">
              <a:solidFill>
                <a:srgbClr val="FF0000"/>
              </a:solidFill>
            </a:endParaRPr>
          </a:p>
        </p:txBody>
      </p:sp>
      <p:sp>
        <p:nvSpPr>
          <p:cNvPr id="4" name="object 4"/>
          <p:cNvSpPr txBox="1"/>
          <p:nvPr/>
        </p:nvSpPr>
        <p:spPr>
          <a:xfrm>
            <a:off x="574039" y="1051456"/>
            <a:ext cx="11307015" cy="6136295"/>
          </a:xfrm>
          <a:prstGeom prst="rect">
            <a:avLst/>
          </a:prstGeom>
        </p:spPr>
        <p:txBody>
          <a:bodyPr vert="horz" wrap="square" lIns="0" tIns="102870" rIns="0" bIns="0" rtlCol="0">
            <a:spAutoFit/>
          </a:bodyPr>
          <a:lstStyle/>
          <a:p>
            <a:r>
              <a:rPr lang="fr-FR" sz="2800" dirty="0"/>
              <a:t>Élément facultatif qui entoure la paroi avec une forme régulière et bien délimitée  </a:t>
            </a:r>
            <a:endParaRPr lang="fr-FR" sz="2800" b="0" dirty="0" smtClean="0">
              <a:effectLst/>
            </a:endParaRPr>
          </a:p>
          <a:p>
            <a:r>
              <a:rPr lang="fr-FR" sz="2800" b="1" dirty="0"/>
              <a:t>Composition :</a:t>
            </a:r>
            <a:r>
              <a:rPr lang="fr-FR" sz="2800" dirty="0"/>
              <a:t> polymère polysaccharidique, mais peut-être protéique ou  mixte </a:t>
            </a:r>
            <a:endParaRPr lang="fr-FR" sz="2800" b="0" dirty="0" smtClean="0">
              <a:effectLst/>
            </a:endParaRPr>
          </a:p>
          <a:p>
            <a:r>
              <a:rPr lang="fr-FR" sz="2800" dirty="0"/>
              <a:t>MEE  au MO  se par la coloration à l’encre de chine. </a:t>
            </a:r>
            <a:endParaRPr lang="fr-FR" sz="2800" b="0" dirty="0" smtClean="0">
              <a:effectLst/>
            </a:endParaRPr>
          </a:p>
          <a:p>
            <a:r>
              <a:rPr lang="fr-FR" sz="2800" b="1" dirty="0"/>
              <a:t> Fonctions :  </a:t>
            </a:r>
            <a:endParaRPr lang="fr-FR" sz="2800" b="0" dirty="0" smtClean="0">
              <a:effectLst/>
            </a:endParaRPr>
          </a:p>
          <a:p>
            <a:pPr fontAlgn="base"/>
            <a:r>
              <a:rPr lang="fr-FR" sz="2800" dirty="0"/>
              <a:t>protège la bactérie contre la phagocytose  </a:t>
            </a:r>
          </a:p>
          <a:p>
            <a:pPr fontAlgn="base"/>
            <a:r>
              <a:rPr lang="fr-FR" sz="2800" dirty="0"/>
              <a:t>Inhibe l’activité de la voie alterne  </a:t>
            </a:r>
          </a:p>
          <a:p>
            <a:pPr fontAlgn="base"/>
            <a:r>
              <a:rPr lang="fr-FR" sz="2800" dirty="0"/>
              <a:t>Permet l’adhérence aux cellules infectées </a:t>
            </a:r>
          </a:p>
          <a:p>
            <a:pPr fontAlgn="base"/>
            <a:r>
              <a:rPr lang="fr-FR" sz="2800" dirty="0"/>
              <a:t>La capsule est immunogène, elle permet l’élaboration d’anticorps </a:t>
            </a:r>
            <a:r>
              <a:rPr lang="fr-FR" sz="2800" dirty="0" err="1"/>
              <a:t>sp</a:t>
            </a:r>
            <a:r>
              <a:rPr lang="fr-FR" sz="2800" dirty="0"/>
              <a:t> →les </a:t>
            </a:r>
            <a:r>
              <a:rPr lang="fr-FR" sz="2800" dirty="0" err="1"/>
              <a:t>sérotypes</a:t>
            </a:r>
            <a:r>
              <a:rPr lang="fr-FR" sz="2800" dirty="0"/>
              <a:t> pour l’identification </a:t>
            </a:r>
          </a:p>
          <a:p>
            <a:pPr fontAlgn="base"/>
            <a:r>
              <a:rPr lang="fr-FR" sz="2800" dirty="0"/>
              <a:t>La capsule permet aussi la production des vaccins  </a:t>
            </a:r>
          </a:p>
          <a:p>
            <a:r>
              <a:rPr lang="fr-FR" sz="2800" b="0" dirty="0" smtClean="0">
                <a:effectLst/>
              </a:rPr>
              <a:t/>
            </a:r>
            <a:br>
              <a:rPr lang="fr-FR" sz="2800" b="0" dirty="0" smtClean="0">
                <a:effectLst/>
              </a:rPr>
            </a:br>
            <a:endParaRPr lang="fr-FR" sz="2800" dirty="0" smtClean="0"/>
          </a:p>
        </p:txBody>
      </p:sp>
    </p:spTree>
    <p:extLst>
      <p:ext uri="{BB962C8B-B14F-4D97-AF65-F5344CB8AC3E}">
        <p14:creationId xmlns:p14="http://schemas.microsoft.com/office/powerpoint/2010/main" val="281406831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err="1" smtClean="0">
                <a:solidFill>
                  <a:srgbClr val="FF0000"/>
                </a:solidFill>
              </a:rPr>
              <a:t>Slime</a:t>
            </a:r>
            <a:endParaRPr sz="3600" b="1" dirty="0">
              <a:solidFill>
                <a:srgbClr val="FF0000"/>
              </a:solidFill>
            </a:endParaRPr>
          </a:p>
        </p:txBody>
      </p:sp>
      <p:sp>
        <p:nvSpPr>
          <p:cNvPr id="4" name="object 4"/>
          <p:cNvSpPr txBox="1"/>
          <p:nvPr/>
        </p:nvSpPr>
        <p:spPr>
          <a:xfrm>
            <a:off x="688339" y="1368956"/>
            <a:ext cx="11307015" cy="4843634"/>
          </a:xfrm>
          <a:prstGeom prst="rect">
            <a:avLst/>
          </a:prstGeom>
        </p:spPr>
        <p:txBody>
          <a:bodyPr vert="horz" wrap="square" lIns="0" tIns="102870" rIns="0" bIns="0" rtlCol="0">
            <a:spAutoFit/>
          </a:bodyPr>
          <a:lstStyle/>
          <a:p>
            <a:pPr marL="457200" indent="-457200" fontAlgn="base">
              <a:buFont typeface="Arial" panose="020B0604020202020204" pitchFamily="34" charset="0"/>
              <a:buChar char="•"/>
            </a:pPr>
            <a:r>
              <a:rPr lang="fr-FR" sz="2800" dirty="0"/>
              <a:t>La surface des cellules bactériennes est fréquemment exposée à des conditions environnementales sévères. </a:t>
            </a:r>
            <a:endParaRPr lang="fr-FR" sz="2800" dirty="0" smtClean="0"/>
          </a:p>
          <a:p>
            <a:pPr marL="457200" indent="-457200" fontAlgn="base">
              <a:buFont typeface="Arial" panose="020B0604020202020204" pitchFamily="34" charset="0"/>
              <a:buChar char="•"/>
            </a:pPr>
            <a:r>
              <a:rPr lang="fr-FR" sz="2800" dirty="0" smtClean="0"/>
              <a:t>Les </a:t>
            </a:r>
            <a:r>
              <a:rPr lang="fr-FR" sz="2800" dirty="0"/>
              <a:t>cellules </a:t>
            </a:r>
            <a:r>
              <a:rPr lang="fr-FR" sz="2800" dirty="0" smtClean="0"/>
              <a:t>bactériennes se </a:t>
            </a:r>
            <a:r>
              <a:rPr lang="fr-FR" sz="2800" dirty="0"/>
              <a:t>protègent avec une couche S ou un </a:t>
            </a:r>
            <a:r>
              <a:rPr lang="fr-FR" sz="2800" b="1" dirty="0"/>
              <a:t>glycocalyx</a:t>
            </a:r>
            <a:r>
              <a:rPr lang="fr-FR" sz="2800" dirty="0"/>
              <a:t>, ou les deux. </a:t>
            </a:r>
            <a:endParaRPr lang="fr-FR" sz="2800" dirty="0" smtClean="0"/>
          </a:p>
          <a:p>
            <a:pPr marL="457200" indent="-457200" fontAlgn="base">
              <a:buFont typeface="Arial" panose="020B0604020202020204" pitchFamily="34" charset="0"/>
              <a:buChar char="•"/>
            </a:pPr>
            <a:r>
              <a:rPr lang="fr-FR" sz="2800" dirty="0" smtClean="0"/>
              <a:t>milliers </a:t>
            </a:r>
            <a:r>
              <a:rPr lang="fr-FR" sz="2800" dirty="0"/>
              <a:t>de copies d'une seule protéine, reliées entre elles comme de minuscules clôtures à mailles losangiques. </a:t>
            </a:r>
            <a:endParaRPr lang="fr-FR" sz="2800" dirty="0" smtClean="0"/>
          </a:p>
          <a:p>
            <a:pPr marL="457200" indent="-457200" fontAlgn="base">
              <a:buFont typeface="Arial" panose="020B0604020202020204" pitchFamily="34" charset="0"/>
              <a:buChar char="•"/>
            </a:pPr>
            <a:endParaRPr lang="fr-FR" sz="2800" dirty="0" smtClean="0"/>
          </a:p>
          <a:p>
            <a:pPr marL="457200" indent="-457200" fontAlgn="base">
              <a:buFont typeface="Arial" panose="020B0604020202020204" pitchFamily="34" charset="0"/>
              <a:buChar char="•"/>
            </a:pPr>
            <a:r>
              <a:rPr lang="fr-FR" sz="2800" dirty="0" smtClean="0"/>
              <a:t>Elles </a:t>
            </a:r>
            <a:r>
              <a:rPr lang="fr-FR" sz="2800" dirty="0"/>
              <a:t>sont souvent appelées "l'armure" d'une cellule bactérienne </a:t>
            </a:r>
            <a:endParaRPr lang="fr-FR" sz="2800" dirty="0" smtClean="0"/>
          </a:p>
          <a:p>
            <a:pPr marL="457200" indent="-457200" fontAlgn="base">
              <a:buFont typeface="Arial" panose="020B0604020202020204" pitchFamily="34" charset="0"/>
              <a:buChar char="•"/>
            </a:pPr>
            <a:r>
              <a:rPr lang="fr-FR" sz="2800" dirty="0" smtClean="0"/>
              <a:t>Les </a:t>
            </a:r>
            <a:r>
              <a:rPr lang="fr-FR" sz="2800" dirty="0"/>
              <a:t>scientifiques ont mis longtemps à les </a:t>
            </a:r>
            <a:r>
              <a:rPr lang="fr-FR" sz="2800" dirty="0" smtClean="0"/>
              <a:t>découvrir parce </a:t>
            </a:r>
            <a:r>
              <a:rPr lang="fr-FR" sz="2800" dirty="0"/>
              <a:t>que les bactéries ne les produisent que lorsqu'elles se trouvent dans un environnement hostile. </a:t>
            </a:r>
            <a:endParaRPr lang="fr-FR" sz="2800" dirty="0" smtClean="0"/>
          </a:p>
        </p:txBody>
      </p:sp>
      <p:pic>
        <p:nvPicPr>
          <p:cNvPr id="5" name="Picture 4"/>
          <p:cNvPicPr>
            <a:picLocks noChangeAspect="1"/>
          </p:cNvPicPr>
          <p:nvPr/>
        </p:nvPicPr>
        <p:blipFill>
          <a:blip r:embed="rId4"/>
          <a:stretch>
            <a:fillRect/>
          </a:stretch>
        </p:blipFill>
        <p:spPr>
          <a:xfrm>
            <a:off x="622897" y="1876425"/>
            <a:ext cx="11372457" cy="4336165"/>
          </a:xfrm>
          <a:prstGeom prst="rect">
            <a:avLst/>
          </a:prstGeom>
        </p:spPr>
      </p:pic>
    </p:spTree>
    <p:extLst>
      <p:ext uri="{BB962C8B-B14F-4D97-AF65-F5344CB8AC3E}">
        <p14:creationId xmlns:p14="http://schemas.microsoft.com/office/powerpoint/2010/main" val="355267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Le glycocalyx</a:t>
            </a:r>
            <a:endParaRPr sz="3600" b="1" dirty="0">
              <a:solidFill>
                <a:srgbClr val="FF0000"/>
              </a:solidFill>
            </a:endParaRPr>
          </a:p>
        </p:txBody>
      </p:sp>
      <p:sp>
        <p:nvSpPr>
          <p:cNvPr id="4" name="object 4"/>
          <p:cNvSpPr txBox="1"/>
          <p:nvPr/>
        </p:nvSpPr>
        <p:spPr>
          <a:xfrm>
            <a:off x="688339" y="1368956"/>
            <a:ext cx="11307015" cy="4412746"/>
          </a:xfrm>
          <a:prstGeom prst="rect">
            <a:avLst/>
          </a:prstGeom>
        </p:spPr>
        <p:txBody>
          <a:bodyPr vert="horz" wrap="square" lIns="0" tIns="102870" rIns="0" bIns="0" rtlCol="0">
            <a:spAutoFit/>
          </a:bodyPr>
          <a:lstStyle/>
          <a:p>
            <a:pPr marL="457200" indent="-457200">
              <a:buFont typeface="Arial" panose="020B0604020202020204" pitchFamily="34" charset="0"/>
              <a:buChar char="•"/>
            </a:pPr>
            <a:r>
              <a:rPr lang="fr-FR" sz="2800" dirty="0"/>
              <a:t>Le glycocalyx se développe comme un revêtement d'unités répétées de polysaccharides ou de glycoprotéines. </a:t>
            </a:r>
            <a:endParaRPr lang="fr-FR" sz="2800" dirty="0" smtClean="0"/>
          </a:p>
          <a:p>
            <a:pPr marL="457200" indent="-457200">
              <a:buFont typeface="Arial" panose="020B0604020202020204" pitchFamily="34" charset="0"/>
              <a:buChar char="•"/>
            </a:pPr>
            <a:endParaRPr lang="fr-FR" sz="2800" dirty="0" smtClean="0"/>
          </a:p>
          <a:p>
            <a:pPr marL="457200" indent="-457200">
              <a:buFont typeface="Arial" panose="020B0604020202020204" pitchFamily="34" charset="0"/>
              <a:buChar char="•"/>
            </a:pPr>
            <a:r>
              <a:rPr lang="fr-FR" sz="2800" dirty="0" err="1" smtClean="0"/>
              <a:t>Ilprotège</a:t>
            </a:r>
            <a:r>
              <a:rPr lang="fr-FR" sz="2800" dirty="0" smtClean="0"/>
              <a:t> </a:t>
            </a:r>
            <a:r>
              <a:rPr lang="fr-FR" sz="2800" dirty="0"/>
              <a:t>la cellule et, dans certains cas, l'aide à adhérer à son environnement. </a:t>
            </a:r>
            <a:endParaRPr lang="fr-FR" sz="2800" dirty="0" smtClean="0"/>
          </a:p>
          <a:p>
            <a:pPr marL="457200" indent="-457200">
              <a:buFont typeface="Arial" panose="020B0604020202020204" pitchFamily="34" charset="0"/>
              <a:buChar char="•"/>
            </a:pPr>
            <a:r>
              <a:rPr lang="fr-FR" sz="2800" dirty="0" smtClean="0"/>
              <a:t>Les </a:t>
            </a:r>
            <a:r>
              <a:rPr lang="fr-FR" sz="2800" dirty="0" err="1"/>
              <a:t>glycocalyces</a:t>
            </a:r>
            <a:r>
              <a:rPr lang="fr-FR" sz="2800" dirty="0"/>
              <a:t> diffèrent </a:t>
            </a:r>
            <a:r>
              <a:rPr lang="fr-FR" sz="2800" dirty="0" smtClean="0"/>
              <a:t>d'une </a:t>
            </a:r>
            <a:r>
              <a:rPr lang="fr-FR" sz="2800" dirty="0"/>
              <a:t>bactérie à l'autre en termes d'épaisseur, de structure et de composition chimique. </a:t>
            </a:r>
            <a:endParaRPr lang="fr-FR" sz="2800" dirty="0" smtClean="0"/>
          </a:p>
          <a:p>
            <a:pPr marL="457200" indent="-457200">
              <a:buFont typeface="Arial" panose="020B0604020202020204" pitchFamily="34" charset="0"/>
              <a:buChar char="•"/>
            </a:pPr>
            <a:endParaRPr lang="fr-FR" sz="2800" dirty="0" smtClean="0"/>
          </a:p>
          <a:p>
            <a:pPr marL="457200" indent="-457200">
              <a:buFont typeface="Arial" panose="020B0604020202020204" pitchFamily="34" charset="0"/>
              <a:buChar char="•"/>
            </a:pPr>
            <a:r>
              <a:rPr lang="fr-FR" sz="2800" dirty="0" smtClean="0"/>
              <a:t>Certaines </a:t>
            </a:r>
            <a:r>
              <a:rPr lang="fr-FR" sz="2800" dirty="0"/>
              <a:t>bactéries sont recouvertes d'un bouclier lâche appelé couche visqueuse qui peut les protéger contre la perte d'eau et de nutriments. </a:t>
            </a:r>
          </a:p>
        </p:txBody>
      </p:sp>
    </p:spTree>
    <p:extLst>
      <p:ext uri="{BB962C8B-B14F-4D97-AF65-F5344CB8AC3E}">
        <p14:creationId xmlns:p14="http://schemas.microsoft.com/office/powerpoint/2010/main" val="15689535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Le glycocalyx</a:t>
            </a:r>
            <a:endParaRPr sz="3600" b="1" dirty="0">
              <a:solidFill>
                <a:srgbClr val="FF0000"/>
              </a:solidFill>
            </a:endParaRPr>
          </a:p>
        </p:txBody>
      </p:sp>
      <p:sp>
        <p:nvSpPr>
          <p:cNvPr id="4" name="object 4"/>
          <p:cNvSpPr txBox="1"/>
          <p:nvPr/>
        </p:nvSpPr>
        <p:spPr>
          <a:xfrm>
            <a:off x="688339" y="1368956"/>
            <a:ext cx="11307015" cy="2258311"/>
          </a:xfrm>
          <a:prstGeom prst="rect">
            <a:avLst/>
          </a:prstGeom>
        </p:spPr>
        <p:txBody>
          <a:bodyPr vert="horz" wrap="square" lIns="0" tIns="102870" rIns="0" bIns="0" rtlCol="0">
            <a:spAutoFit/>
          </a:bodyPr>
          <a:lstStyle/>
          <a:p>
            <a:pPr marL="457200" indent="-457200">
              <a:buFont typeface="Arial" panose="020B0604020202020204" pitchFamily="34" charset="0"/>
              <a:buChar char="•"/>
            </a:pPr>
            <a:r>
              <a:rPr lang="fr-FR" sz="2800" dirty="0" smtClean="0"/>
              <a:t>Un glycocalyx est appelé capsule lorsqu'il est lié plus étroitement à la cellule que ne l'est la couche visqueuse et qu'il est plus dense et plus épais.</a:t>
            </a:r>
          </a:p>
          <a:p>
            <a:endParaRPr lang="fr-FR" sz="2800" dirty="0" smtClean="0"/>
          </a:p>
          <a:p>
            <a:pPr marL="457200" indent="-457200">
              <a:buFont typeface="Arial" panose="020B0604020202020204" pitchFamily="34" charset="0"/>
              <a:buChar char="•"/>
            </a:pPr>
            <a:r>
              <a:rPr lang="fr-FR" sz="2800" dirty="0" smtClean="0"/>
              <a:t>Les capsules donnent aux colonies un caractère nettement collant (</a:t>
            </a:r>
            <a:r>
              <a:rPr lang="fr-FR" sz="2800" dirty="0" err="1" smtClean="0"/>
              <a:t>mucoïde</a:t>
            </a:r>
            <a:r>
              <a:rPr lang="fr-FR" sz="2800" dirty="0" smtClean="0"/>
              <a:t>) sur la gélose .</a:t>
            </a:r>
          </a:p>
        </p:txBody>
      </p:sp>
      <p:pic>
        <p:nvPicPr>
          <p:cNvPr id="5" name="Picture 4"/>
          <p:cNvPicPr>
            <a:picLocks noChangeAspect="1"/>
          </p:cNvPicPr>
          <p:nvPr/>
        </p:nvPicPr>
        <p:blipFill>
          <a:blip r:embed="rId4"/>
          <a:stretch>
            <a:fillRect/>
          </a:stretch>
        </p:blipFill>
        <p:spPr>
          <a:xfrm>
            <a:off x="924550" y="688014"/>
            <a:ext cx="10342898" cy="5878506"/>
          </a:xfrm>
          <a:prstGeom prst="rect">
            <a:avLst/>
          </a:prstGeom>
        </p:spPr>
      </p:pic>
    </p:spTree>
    <p:extLst>
      <p:ext uri="{BB962C8B-B14F-4D97-AF65-F5344CB8AC3E}">
        <p14:creationId xmlns:p14="http://schemas.microsoft.com/office/powerpoint/2010/main" val="392660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39" y="309881"/>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4000" b="1" dirty="0" smtClean="0">
                <a:solidFill>
                  <a:srgbClr val="FF0000"/>
                </a:solidFill>
              </a:rPr>
              <a:t>Flagelle </a:t>
            </a:r>
            <a:endParaRPr sz="4000" b="1" dirty="0">
              <a:solidFill>
                <a:srgbClr val="FF0000"/>
              </a:solidFill>
            </a:endParaRPr>
          </a:p>
        </p:txBody>
      </p:sp>
      <p:sp>
        <p:nvSpPr>
          <p:cNvPr id="4" name="object 4"/>
          <p:cNvSpPr txBox="1"/>
          <p:nvPr/>
        </p:nvSpPr>
        <p:spPr>
          <a:xfrm>
            <a:off x="688339" y="1368956"/>
            <a:ext cx="11307015" cy="4812856"/>
          </a:xfrm>
          <a:prstGeom prst="rect">
            <a:avLst/>
          </a:prstGeom>
        </p:spPr>
        <p:txBody>
          <a:bodyPr vert="horz" wrap="square" lIns="0" tIns="102870" rIns="0" bIns="0" rtlCol="0">
            <a:spAutoFit/>
          </a:bodyPr>
          <a:lstStyle/>
          <a:p>
            <a:r>
              <a:rPr lang="fr-FR" sz="2800" dirty="0"/>
              <a:t>Ce sont des éléments facultatifs (bacilles++ et exceptionnellement chez les </a:t>
            </a:r>
            <a:r>
              <a:rPr lang="fr-FR" sz="2800" dirty="0" err="1"/>
              <a:t>cocci</a:t>
            </a:r>
            <a:r>
              <a:rPr lang="fr-FR" sz="2800" dirty="0"/>
              <a:t>)</a:t>
            </a:r>
            <a:endParaRPr lang="fr-FR" sz="2800" b="0" dirty="0" smtClean="0">
              <a:effectLst/>
            </a:endParaRPr>
          </a:p>
          <a:p>
            <a:r>
              <a:rPr lang="fr-FR" sz="2800" dirty="0"/>
              <a:t>  Se sont des filaments ondulés sous forme  hélicoïdale.  </a:t>
            </a:r>
            <a:endParaRPr lang="fr-FR" sz="2800" b="0" dirty="0" smtClean="0">
              <a:effectLst/>
            </a:endParaRPr>
          </a:p>
          <a:p>
            <a:r>
              <a:rPr lang="fr-FR" sz="2800" b="1" dirty="0"/>
              <a:t>Composition :</a:t>
            </a:r>
            <a:r>
              <a:rPr lang="fr-FR" sz="2800" dirty="0"/>
              <a:t> le flagelle comprend  </a:t>
            </a:r>
            <a:endParaRPr lang="fr-FR" sz="2800" b="0" dirty="0" smtClean="0">
              <a:effectLst/>
            </a:endParaRPr>
          </a:p>
          <a:p>
            <a:r>
              <a:rPr lang="fr-FR" sz="2800" b="1" dirty="0"/>
              <a:t>Le corps basal :</a:t>
            </a:r>
            <a:r>
              <a:rPr lang="fr-FR" sz="2800" dirty="0"/>
              <a:t> régulateur de mouvements  </a:t>
            </a:r>
            <a:endParaRPr lang="fr-FR" sz="2800" b="0" dirty="0" smtClean="0">
              <a:effectLst/>
            </a:endParaRPr>
          </a:p>
          <a:p>
            <a:r>
              <a:rPr lang="fr-FR" sz="2800" b="1" dirty="0"/>
              <a:t>Le crochet :</a:t>
            </a:r>
            <a:r>
              <a:rPr lang="fr-FR" sz="2800" dirty="0"/>
              <a:t> conduit creux et flexible qui relie le corps basal au filament </a:t>
            </a:r>
            <a:endParaRPr lang="fr-FR" sz="2800" b="0" dirty="0" smtClean="0">
              <a:effectLst/>
            </a:endParaRPr>
          </a:p>
          <a:p>
            <a:r>
              <a:rPr lang="fr-FR" sz="2800" dirty="0"/>
              <a:t> Le filament : est une série d’acides aminés qui donne une protéine dite la </a:t>
            </a:r>
            <a:r>
              <a:rPr lang="fr-FR" sz="2800" b="1" dirty="0" err="1"/>
              <a:t>flagelline</a:t>
            </a:r>
            <a:r>
              <a:rPr lang="fr-FR" sz="2800" b="1" dirty="0"/>
              <a:t> </a:t>
            </a:r>
            <a:endParaRPr lang="fr-FR" sz="2800" b="0" dirty="0" smtClean="0">
              <a:effectLst/>
            </a:endParaRPr>
          </a:p>
          <a:p>
            <a:r>
              <a:rPr lang="fr-FR" sz="2800" dirty="0" smtClean="0"/>
              <a:t/>
            </a:r>
            <a:br>
              <a:rPr lang="fr-FR" sz="2800" dirty="0" smtClean="0"/>
            </a:br>
            <a:endParaRPr lang="fr-FR" sz="5400" dirty="0" smtClean="0"/>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pic>
        <p:nvPicPr>
          <p:cNvPr id="7" name="Picture 6"/>
          <p:cNvPicPr>
            <a:picLocks noChangeAspect="1"/>
          </p:cNvPicPr>
          <p:nvPr/>
        </p:nvPicPr>
        <p:blipFill>
          <a:blip r:embed="rId4"/>
          <a:stretch>
            <a:fillRect/>
          </a:stretch>
        </p:blipFill>
        <p:spPr>
          <a:xfrm>
            <a:off x="688339" y="5544097"/>
            <a:ext cx="9848850" cy="914400"/>
          </a:xfrm>
          <a:prstGeom prst="rect">
            <a:avLst/>
          </a:prstGeom>
        </p:spPr>
      </p:pic>
    </p:spTree>
    <p:extLst>
      <p:ext uri="{BB962C8B-B14F-4D97-AF65-F5344CB8AC3E}">
        <p14:creationId xmlns:p14="http://schemas.microsoft.com/office/powerpoint/2010/main" val="40113061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1018" y="177967"/>
            <a:ext cx="7416900" cy="4185486"/>
          </a:xfrm>
          <a:prstGeom prst="rect">
            <a:avLst/>
          </a:prstGeom>
        </p:spPr>
      </p:pic>
      <p:pic>
        <p:nvPicPr>
          <p:cNvPr id="5" name="Picture 4"/>
          <p:cNvPicPr>
            <a:picLocks noChangeAspect="1"/>
          </p:cNvPicPr>
          <p:nvPr/>
        </p:nvPicPr>
        <p:blipFill>
          <a:blip r:embed="rId3"/>
          <a:stretch>
            <a:fillRect/>
          </a:stretch>
        </p:blipFill>
        <p:spPr>
          <a:xfrm>
            <a:off x="2668754" y="1968416"/>
            <a:ext cx="9324975" cy="5038725"/>
          </a:xfrm>
          <a:prstGeom prst="rect">
            <a:avLst/>
          </a:prstGeom>
        </p:spPr>
      </p:pic>
    </p:spTree>
    <p:extLst>
      <p:ext uri="{BB962C8B-B14F-4D97-AF65-F5344CB8AC3E}">
        <p14:creationId xmlns:p14="http://schemas.microsoft.com/office/powerpoint/2010/main" val="285437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err="1" smtClean="0">
                <a:solidFill>
                  <a:srgbClr val="FF0000"/>
                </a:solidFill>
              </a:rPr>
              <a:t>Fimbrae</a:t>
            </a:r>
            <a:r>
              <a:rPr lang="fr-FR" sz="3600" b="1" dirty="0" smtClean="0">
                <a:solidFill>
                  <a:srgbClr val="FF0000"/>
                </a:solidFill>
              </a:rPr>
              <a:t>/</a:t>
            </a:r>
            <a:r>
              <a:rPr lang="fr-FR" sz="3600" b="1" dirty="0" err="1" smtClean="0">
                <a:solidFill>
                  <a:srgbClr val="FF0000"/>
                </a:solidFill>
              </a:rPr>
              <a:t>Pili</a:t>
            </a:r>
            <a:r>
              <a:rPr lang="fr-FR" sz="3600" b="1" dirty="0" smtClean="0">
                <a:solidFill>
                  <a:srgbClr val="FF0000"/>
                </a:solidFill>
              </a:rPr>
              <a:t> </a:t>
            </a:r>
            <a:endParaRPr sz="3600" b="1" dirty="0">
              <a:solidFill>
                <a:srgbClr val="FF0000"/>
              </a:solidFill>
            </a:endParaRPr>
          </a:p>
        </p:txBody>
      </p:sp>
      <p:sp>
        <p:nvSpPr>
          <p:cNvPr id="4" name="object 4"/>
          <p:cNvSpPr txBox="1"/>
          <p:nvPr/>
        </p:nvSpPr>
        <p:spPr>
          <a:xfrm>
            <a:off x="234680" y="1686716"/>
            <a:ext cx="11722638" cy="2689198"/>
          </a:xfrm>
          <a:prstGeom prst="rect">
            <a:avLst/>
          </a:prstGeom>
        </p:spPr>
        <p:txBody>
          <a:bodyPr vert="horz" wrap="square" lIns="0" tIns="102870" rIns="0" bIns="0" rtlCol="0">
            <a:spAutoFit/>
          </a:bodyPr>
          <a:lstStyle/>
          <a:p>
            <a:pPr marL="457200" indent="-457200">
              <a:buFont typeface="Arial" panose="020B0604020202020204" pitchFamily="34" charset="0"/>
              <a:buChar char="•"/>
            </a:pPr>
            <a:r>
              <a:rPr lang="fr-FR" sz="2800" dirty="0"/>
              <a:t>Les </a:t>
            </a:r>
            <a:r>
              <a:rPr lang="fr-FR" sz="2800" dirty="0" err="1"/>
              <a:t>fimbriae</a:t>
            </a:r>
            <a:r>
              <a:rPr lang="fr-FR" sz="2800" dirty="0"/>
              <a:t> sont de petites fibres ressemblant à des soies qui jaillissent de la surface de nombreuses cellules bactériennes </a:t>
            </a:r>
            <a:r>
              <a:rPr lang="fr-FR" sz="2800" dirty="0" smtClean="0"/>
              <a:t>. </a:t>
            </a:r>
          </a:p>
          <a:p>
            <a:pPr marL="457200" indent="-457200">
              <a:buFont typeface="Arial" panose="020B0604020202020204" pitchFamily="34" charset="0"/>
              <a:buChar char="•"/>
            </a:pPr>
            <a:r>
              <a:rPr lang="fr-FR" sz="2800" dirty="0" smtClean="0"/>
              <a:t>Leur </a:t>
            </a:r>
            <a:r>
              <a:rPr lang="fr-FR" sz="2800" dirty="0"/>
              <a:t>composition exacte varie, mais la plupart d'entre elles contiennent des </a:t>
            </a:r>
            <a:r>
              <a:rPr lang="fr-FR" sz="2800" dirty="0" smtClean="0"/>
              <a:t>protéines.</a:t>
            </a:r>
          </a:p>
          <a:p>
            <a:pPr marL="457200" indent="-457200">
              <a:buFont typeface="Arial" panose="020B0604020202020204" pitchFamily="34" charset="0"/>
              <a:buChar char="•"/>
            </a:pPr>
            <a:r>
              <a:rPr lang="fr-FR" sz="2800" dirty="0" smtClean="0"/>
              <a:t>Les </a:t>
            </a:r>
            <a:r>
              <a:rPr lang="fr-FR" sz="2800" dirty="0" err="1"/>
              <a:t>fimbriae</a:t>
            </a:r>
            <a:r>
              <a:rPr lang="fr-FR" sz="2800" dirty="0"/>
              <a:t> ont une tendance inhérente à se coller les unes aux autres et aux surfaces. </a:t>
            </a:r>
            <a:endParaRPr lang="fr-FR" sz="2800" dirty="0" smtClean="0"/>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98047893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err="1" smtClean="0">
                <a:solidFill>
                  <a:srgbClr val="FF0000"/>
                </a:solidFill>
              </a:rPr>
              <a:t>Fimbrae</a:t>
            </a:r>
            <a:r>
              <a:rPr lang="fr-FR" sz="3600" b="1" dirty="0" smtClean="0">
                <a:solidFill>
                  <a:srgbClr val="FF0000"/>
                </a:solidFill>
              </a:rPr>
              <a:t>/</a:t>
            </a:r>
            <a:r>
              <a:rPr lang="fr-FR" sz="3600" b="1" dirty="0" err="1" smtClean="0">
                <a:solidFill>
                  <a:srgbClr val="FF0000"/>
                </a:solidFill>
              </a:rPr>
              <a:t>Pili</a:t>
            </a:r>
            <a:r>
              <a:rPr lang="fr-FR" sz="3600" b="1" dirty="0" smtClean="0">
                <a:solidFill>
                  <a:srgbClr val="FF0000"/>
                </a:solidFill>
              </a:rPr>
              <a:t> </a:t>
            </a:r>
            <a:endParaRPr sz="3600" b="1" dirty="0">
              <a:solidFill>
                <a:srgbClr val="FF0000"/>
              </a:solidFill>
            </a:endParaRPr>
          </a:p>
        </p:txBody>
      </p:sp>
      <p:sp>
        <p:nvSpPr>
          <p:cNvPr id="4" name="object 4"/>
          <p:cNvSpPr txBox="1"/>
          <p:nvPr/>
        </p:nvSpPr>
        <p:spPr>
          <a:xfrm>
            <a:off x="234680" y="888476"/>
            <a:ext cx="11722638" cy="5705408"/>
          </a:xfrm>
          <a:prstGeom prst="rect">
            <a:avLst/>
          </a:prstGeom>
        </p:spPr>
        <p:txBody>
          <a:bodyPr vert="horz" wrap="square" lIns="0" tIns="102870" rIns="0" bIns="0" rtlCol="0">
            <a:spAutoFit/>
          </a:bodyPr>
          <a:lstStyle/>
          <a:p>
            <a:r>
              <a:rPr lang="fr-FR" sz="2800" dirty="0" smtClean="0"/>
              <a:t>Ils </a:t>
            </a:r>
            <a:r>
              <a:rPr lang="fr-FR" sz="2800" dirty="0"/>
              <a:t>sont en partie responsables de l'accrochage mutuel des cellules qui conduit aux biofilms et autres agrégats épais de cellules à la surface des liquides, ainsi que de la colonisation </a:t>
            </a:r>
            <a:r>
              <a:rPr lang="fr-FR" sz="2800" dirty="0" smtClean="0"/>
              <a:t>microbienne à </a:t>
            </a:r>
            <a:r>
              <a:rPr lang="fr-FR" sz="2800" dirty="0"/>
              <a:t>la surface des liquides et de la colonisation microbienne des solides inanimés tels que les roches et le verre. </a:t>
            </a:r>
            <a:endParaRPr lang="fr-FR" sz="2800" dirty="0" smtClean="0"/>
          </a:p>
          <a:p>
            <a:endParaRPr lang="fr-FR" sz="2800" dirty="0" smtClean="0"/>
          </a:p>
          <a:p>
            <a:r>
              <a:rPr lang="fr-FR" sz="2800" dirty="0" smtClean="0"/>
              <a:t>Certains pathogènes </a:t>
            </a:r>
            <a:r>
              <a:rPr lang="fr-FR" sz="2800" dirty="0"/>
              <a:t>peuvent coloniser et infecter les tissus de l'hôte grâce à l'adhésion étroite entre leurs </a:t>
            </a:r>
            <a:r>
              <a:rPr lang="fr-FR" sz="2800" dirty="0" err="1" smtClean="0"/>
              <a:t>fimbriae</a:t>
            </a:r>
            <a:r>
              <a:rPr lang="fr-FR" sz="2800" dirty="0" smtClean="0"/>
              <a:t> et </a:t>
            </a:r>
            <a:r>
              <a:rPr lang="fr-FR" sz="2800" dirty="0"/>
              <a:t>les cellules </a:t>
            </a:r>
            <a:r>
              <a:rPr lang="fr-FR" sz="2800" dirty="0" smtClean="0"/>
              <a:t>épithéliales.</a:t>
            </a:r>
          </a:p>
          <a:p>
            <a:r>
              <a:rPr lang="fr-FR" sz="2800" dirty="0" smtClean="0"/>
              <a:t> </a:t>
            </a:r>
          </a:p>
          <a:p>
            <a:r>
              <a:rPr lang="fr-FR" sz="2800" dirty="0" smtClean="0"/>
              <a:t>Par </a:t>
            </a:r>
            <a:r>
              <a:rPr lang="fr-FR" sz="2800" dirty="0"/>
              <a:t>exemple, le </a:t>
            </a:r>
            <a:r>
              <a:rPr lang="fr-FR" sz="2800" dirty="0" smtClean="0"/>
              <a:t>gonocoque </a:t>
            </a:r>
            <a:r>
              <a:rPr lang="fr-FR" sz="2800" dirty="0"/>
              <a:t>colonise les voies </a:t>
            </a:r>
            <a:r>
              <a:rPr lang="fr-FR" sz="2800" dirty="0" smtClean="0"/>
              <a:t>génito-urinaires. et </a:t>
            </a:r>
            <a:r>
              <a:rPr lang="fr-FR" sz="2800" i="1" dirty="0"/>
              <a:t>Escherichia coli </a:t>
            </a:r>
            <a:r>
              <a:rPr lang="fr-FR" sz="2800" dirty="0"/>
              <a:t>colonise l'intestin par ce biais</a:t>
            </a:r>
            <a:r>
              <a:rPr lang="fr-FR" sz="2800" dirty="0" smtClean="0"/>
              <a:t>.</a:t>
            </a:r>
          </a:p>
          <a:p>
            <a:endParaRPr lang="fr-FR" sz="2800" dirty="0"/>
          </a:p>
          <a:p>
            <a:r>
              <a:rPr lang="fr-FR" sz="2800" dirty="0" smtClean="0"/>
              <a:t>Les </a:t>
            </a:r>
            <a:r>
              <a:rPr lang="fr-FR" sz="2800" dirty="0"/>
              <a:t>formes mutantes de ces </a:t>
            </a:r>
            <a:r>
              <a:rPr lang="fr-FR" sz="2800" dirty="0" smtClean="0"/>
              <a:t>pathogènes qui </a:t>
            </a:r>
            <a:r>
              <a:rPr lang="fr-FR" sz="2800" dirty="0"/>
              <a:t>n'ont pas de </a:t>
            </a:r>
            <a:r>
              <a:rPr lang="fr-FR" sz="2800" dirty="0" err="1"/>
              <a:t>fimbriae</a:t>
            </a:r>
            <a:r>
              <a:rPr lang="fr-FR" sz="2800" dirty="0"/>
              <a:t> sont incapables de provoquer des infections.</a:t>
            </a:r>
            <a:endParaRPr lang="fr-FR" sz="4800" dirty="0" smtClean="0"/>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76714671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4049" y="689811"/>
            <a:ext cx="11311070" cy="3396163"/>
          </a:xfrm>
          <a:prstGeom prst="rect">
            <a:avLst/>
          </a:prstGeom>
        </p:spPr>
      </p:pic>
      <p:pic>
        <p:nvPicPr>
          <p:cNvPr id="5" name="Picture 4"/>
          <p:cNvPicPr>
            <a:picLocks noChangeAspect="1"/>
          </p:cNvPicPr>
          <p:nvPr/>
        </p:nvPicPr>
        <p:blipFill>
          <a:blip r:embed="rId3"/>
          <a:stretch>
            <a:fillRect/>
          </a:stretch>
        </p:blipFill>
        <p:spPr>
          <a:xfrm>
            <a:off x="1857876" y="4085974"/>
            <a:ext cx="7353300" cy="819150"/>
          </a:xfrm>
          <a:prstGeom prst="rect">
            <a:avLst/>
          </a:prstGeom>
        </p:spPr>
      </p:pic>
    </p:spTree>
    <p:extLst>
      <p:ext uri="{BB962C8B-B14F-4D97-AF65-F5344CB8AC3E}">
        <p14:creationId xmlns:p14="http://schemas.microsoft.com/office/powerpoint/2010/main" val="90713798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65125"/>
            <a:ext cx="6181725" cy="4124325"/>
          </a:xfrm>
          <a:prstGeom prst="rect">
            <a:avLst/>
          </a:prstGeom>
        </p:spPr>
      </p:pic>
      <p:pic>
        <p:nvPicPr>
          <p:cNvPr id="5" name="Picture 4"/>
          <p:cNvPicPr>
            <a:picLocks noChangeAspect="1"/>
          </p:cNvPicPr>
          <p:nvPr/>
        </p:nvPicPr>
        <p:blipFill>
          <a:blip r:embed="rId3"/>
          <a:stretch>
            <a:fillRect/>
          </a:stretch>
        </p:blipFill>
        <p:spPr>
          <a:xfrm>
            <a:off x="6181724" y="1564857"/>
            <a:ext cx="6010275" cy="4562475"/>
          </a:xfrm>
          <a:prstGeom prst="rect">
            <a:avLst/>
          </a:prstGeom>
        </p:spPr>
      </p:pic>
    </p:spTree>
    <p:extLst>
      <p:ext uri="{BB962C8B-B14F-4D97-AF65-F5344CB8AC3E}">
        <p14:creationId xmlns:p14="http://schemas.microsoft.com/office/powerpoint/2010/main" val="399395719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pic>
        <p:nvPicPr>
          <p:cNvPr id="4" name="Picture 3"/>
          <p:cNvPicPr>
            <a:picLocks noChangeAspect="1"/>
          </p:cNvPicPr>
          <p:nvPr/>
        </p:nvPicPr>
        <p:blipFill>
          <a:blip r:embed="rId2"/>
          <a:stretch>
            <a:fillRect/>
          </a:stretch>
        </p:blipFill>
        <p:spPr>
          <a:xfrm>
            <a:off x="112295" y="809625"/>
            <a:ext cx="12079705" cy="5238750"/>
          </a:xfrm>
          <a:prstGeom prst="rect">
            <a:avLst/>
          </a:prstGeom>
        </p:spPr>
      </p:pic>
    </p:spTree>
    <p:extLst>
      <p:ext uri="{BB962C8B-B14F-4D97-AF65-F5344CB8AC3E}">
        <p14:creationId xmlns:p14="http://schemas.microsoft.com/office/powerpoint/2010/main" val="374562426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err="1" smtClean="0">
                <a:solidFill>
                  <a:srgbClr val="FF0000"/>
                </a:solidFill>
              </a:rPr>
              <a:t>Fimbrae</a:t>
            </a:r>
            <a:r>
              <a:rPr lang="fr-FR" sz="3600" b="1" dirty="0" smtClean="0">
                <a:solidFill>
                  <a:srgbClr val="FF0000"/>
                </a:solidFill>
              </a:rPr>
              <a:t>/</a:t>
            </a:r>
            <a:r>
              <a:rPr lang="fr-FR" sz="3600" b="1" dirty="0" err="1" smtClean="0">
                <a:solidFill>
                  <a:srgbClr val="FF0000"/>
                </a:solidFill>
              </a:rPr>
              <a:t>Pili</a:t>
            </a:r>
            <a:r>
              <a:rPr lang="fr-FR" sz="3600" b="1" dirty="0" smtClean="0">
                <a:solidFill>
                  <a:srgbClr val="FF0000"/>
                </a:solidFill>
              </a:rPr>
              <a:t> </a:t>
            </a:r>
            <a:endParaRPr sz="3600" b="1" dirty="0">
              <a:solidFill>
                <a:srgbClr val="FF0000"/>
              </a:solidFill>
            </a:endParaRPr>
          </a:p>
        </p:txBody>
      </p:sp>
      <p:sp>
        <p:nvSpPr>
          <p:cNvPr id="4" name="object 4"/>
          <p:cNvSpPr txBox="1"/>
          <p:nvPr/>
        </p:nvSpPr>
        <p:spPr>
          <a:xfrm>
            <a:off x="234680" y="888476"/>
            <a:ext cx="11722638" cy="4843634"/>
          </a:xfrm>
          <a:prstGeom prst="rect">
            <a:avLst/>
          </a:prstGeom>
        </p:spPr>
        <p:txBody>
          <a:bodyPr vert="horz" wrap="square" lIns="0" tIns="102870" rIns="0" bIns="0" rtlCol="0">
            <a:spAutoFit/>
          </a:bodyPr>
          <a:lstStyle/>
          <a:p>
            <a:pPr marL="457200" indent="-457200">
              <a:buFont typeface="Arial" panose="020B0604020202020204" pitchFamily="34" charset="0"/>
              <a:buChar char="•"/>
            </a:pPr>
            <a:r>
              <a:rPr lang="fr-FR" sz="2800" dirty="0"/>
              <a:t>Un </a:t>
            </a:r>
            <a:r>
              <a:rPr lang="fr-FR" sz="2800" dirty="0" err="1"/>
              <a:t>pilus</a:t>
            </a:r>
            <a:r>
              <a:rPr lang="fr-FR" sz="2800" dirty="0"/>
              <a:t> est une structure tubulaire longue et rigide composée d'une protéine spéciale, la </a:t>
            </a:r>
            <a:r>
              <a:rPr lang="fr-FR" sz="2800" b="1" dirty="0" err="1"/>
              <a:t>piline</a:t>
            </a:r>
            <a:r>
              <a:rPr lang="fr-FR" sz="2800" dirty="0"/>
              <a:t>. </a:t>
            </a:r>
            <a:endParaRPr lang="fr-FR" sz="2800" dirty="0" smtClean="0"/>
          </a:p>
          <a:p>
            <a:pPr marL="457200" indent="-457200">
              <a:buFont typeface="Arial" panose="020B0604020202020204" pitchFamily="34" charset="0"/>
              <a:buChar char="•"/>
            </a:pPr>
            <a:r>
              <a:rPr lang="fr-FR" sz="2800" dirty="0" smtClean="0"/>
              <a:t>Les </a:t>
            </a:r>
            <a:r>
              <a:rPr lang="fr-FR" sz="2800" dirty="0" err="1"/>
              <a:t>pili</a:t>
            </a:r>
            <a:r>
              <a:rPr lang="fr-FR" sz="2800" dirty="0"/>
              <a:t> de </a:t>
            </a:r>
            <a:r>
              <a:rPr lang="fr-FR" sz="2800" dirty="0" smtClean="0"/>
              <a:t>conjugaison sont </a:t>
            </a:r>
            <a:r>
              <a:rPr lang="fr-FR" sz="2800" dirty="0"/>
              <a:t>utilisés dans un processus "d'accouplement" entre cellules appelé conjugaison, qui implique un transfert partiel d'ADN d'une cellule à l'autre </a:t>
            </a:r>
            <a:r>
              <a:rPr lang="fr-FR" sz="2800" dirty="0" smtClean="0"/>
              <a:t>.</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smtClean="0"/>
              <a:t>Un </a:t>
            </a:r>
            <a:r>
              <a:rPr lang="fr-FR" sz="2800" dirty="0" err="1"/>
              <a:t>pilus</a:t>
            </a:r>
            <a:r>
              <a:rPr lang="fr-FR" sz="2800" dirty="0"/>
              <a:t> de conjugaison provenant de la cellule donneuse s'unit à une cellule receveuse, fournissant ainsi une cellule cytoplasmique.</a:t>
            </a:r>
          </a:p>
          <a:p>
            <a:pPr marL="457200" indent="-457200">
              <a:buFont typeface="Arial" panose="020B0604020202020204" pitchFamily="34" charset="0"/>
              <a:buChar char="•"/>
            </a:pPr>
            <a:endParaRPr lang="fr-FR" sz="2800" dirty="0" smtClean="0"/>
          </a:p>
          <a:p>
            <a:pPr marL="457200" indent="-457200">
              <a:buFont typeface="Arial" panose="020B0604020202020204" pitchFamily="34" charset="0"/>
              <a:buChar char="•"/>
            </a:pPr>
            <a:r>
              <a:rPr lang="fr-FR" sz="2800" dirty="0" smtClean="0"/>
              <a:t>cellule </a:t>
            </a:r>
            <a:r>
              <a:rPr lang="fr-FR" sz="2800" dirty="0"/>
              <a:t>réceptrice, fournissant ainsi une connexion cytoplasmique pour effectuer le transfert. </a:t>
            </a:r>
            <a:endParaRPr lang="fr-FR" sz="2800" dirty="0" smtClean="0"/>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79836686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17494" y="1218198"/>
            <a:ext cx="8924925" cy="4229100"/>
          </a:xfrm>
          <a:prstGeom prst="rect">
            <a:avLst/>
          </a:prstGeom>
        </p:spPr>
      </p:pic>
    </p:spTree>
    <p:extLst>
      <p:ext uri="{BB962C8B-B14F-4D97-AF65-F5344CB8AC3E}">
        <p14:creationId xmlns:p14="http://schemas.microsoft.com/office/powerpoint/2010/main" val="313899591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La spore</a:t>
            </a:r>
            <a:endParaRPr sz="36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1611788"/>
            <a:ext cx="11811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8100" algn="l" defTabSz="914400" rtl="0" eaLnBrk="0" fontAlgn="base" latinLnBrk="0" hangingPunct="0">
              <a:lnSpc>
                <a:spcPct val="100000"/>
              </a:lnSpc>
              <a:spcBef>
                <a:spcPct val="0"/>
              </a:spcBef>
              <a:spcAft>
                <a:spcPct val="0"/>
              </a:spcAft>
              <a:buClrTx/>
              <a:buSzTx/>
              <a:buFontTx/>
              <a:buNone/>
              <a:tabLst/>
            </a:pPr>
            <a:r>
              <a:rPr kumimoji="0" lang="fr-FR" altLang="fr-FR" sz="3600" b="0" i="0" u="none" strike="noStrike" cap="none" normalizeH="0" baseline="0" dirty="0" smtClean="0">
                <a:ln>
                  <a:noFill/>
                </a:ln>
                <a:solidFill>
                  <a:srgbClr val="000000"/>
                </a:solidFill>
                <a:effectLst/>
                <a:latin typeface="Calibri" panose="020F0502020204030204" pitchFamily="34" charset="0"/>
                <a:cs typeface="Calibri" panose="020F0502020204030204" pitchFamily="34" charset="0"/>
              </a:rPr>
              <a:t>La spore (Bacillus et Clostridium) : cellule résistante qui vit au ralenti et consomme moins de substances  nutritives</a:t>
            </a:r>
            <a:endParaRPr kumimoji="0" lang="fr-FR" altLang="fr-FR" sz="2000" b="0" i="0" u="none" strike="noStrike" cap="none" normalizeH="0" baseline="0" dirty="0" smtClean="0">
              <a:ln>
                <a:noFill/>
              </a:ln>
              <a:solidFill>
                <a:schemeClr val="tx1"/>
              </a:solidFill>
              <a:effectLst/>
            </a:endParaRPr>
          </a:p>
          <a:p>
            <a:pPr marL="0" marR="0" lvl="0" indent="38100" algn="l" defTabSz="914400" rtl="0" eaLnBrk="0" fontAlgn="base" latinLnBrk="0" hangingPunct="0">
              <a:lnSpc>
                <a:spcPct val="100000"/>
              </a:lnSpc>
              <a:spcBef>
                <a:spcPct val="0"/>
              </a:spcBef>
              <a:spcAft>
                <a:spcPct val="0"/>
              </a:spcAft>
              <a:buClrTx/>
              <a:buSzTx/>
              <a:buFontTx/>
              <a:buNone/>
              <a:tabLst/>
            </a:pPr>
            <a:r>
              <a:rPr kumimoji="0" lang="fr-FR" altLang="fr-FR" sz="3600" b="0" i="0" u="none" strike="noStrike" cap="none" normalizeH="0" baseline="0" dirty="0" smtClean="0">
                <a:ln>
                  <a:noFill/>
                </a:ln>
                <a:solidFill>
                  <a:srgbClr val="000000"/>
                </a:solidFill>
                <a:effectLst/>
                <a:latin typeface="Calibri" panose="020F0502020204030204" pitchFamily="34" charset="0"/>
                <a:cs typeface="Calibri" panose="020F0502020204030204" pitchFamily="34" charset="0"/>
              </a:rPr>
              <a:t>Survit  en manque d’eau et d’éléments nutritifs, et  résiste à des chaleurs de 80°C voir 100°C, aux radiations, aux agents physiques et chimiques</a:t>
            </a:r>
            <a:r>
              <a:rPr kumimoji="0" lang="fr-FR" altLang="fr-FR" sz="2000" b="0" i="0" u="none" strike="noStrike" cap="none" normalizeH="0" baseline="0" dirty="0" smtClean="0">
                <a:ln>
                  <a:noFill/>
                </a:ln>
                <a:solidFill>
                  <a:schemeClr val="tx1"/>
                </a:solidFill>
                <a:effectLst/>
              </a:rPr>
              <a:t>  </a:t>
            </a:r>
            <a:endParaRPr kumimoji="0" lang="fr-FR" altLang="fr-FR" sz="41300" b="0" i="0" u="none" strike="noStrike" cap="none" normalizeH="0" baseline="0" dirty="0" smtClean="0">
              <a:ln>
                <a:noFill/>
              </a:ln>
              <a:solidFill>
                <a:schemeClr val="tx1"/>
              </a:solidFill>
              <a:effectLst/>
              <a:latin typeface="Arial" panose="020B0604020202020204" pitchFamily="34" charset="0"/>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30511255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La spore</a:t>
            </a:r>
            <a:endParaRPr sz="36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1001969"/>
            <a:ext cx="11811000"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fr-FR" altLang="fr-FR" sz="2500" b="1" i="0" u="none" strike="noStrike" cap="none" normalizeH="0" baseline="0" dirty="0" smtClean="0">
                <a:ln>
                  <a:noFill/>
                </a:ln>
                <a:solidFill>
                  <a:srgbClr val="000000"/>
                </a:solidFill>
                <a:effectLst/>
                <a:latin typeface="+mn-lt"/>
                <a:cs typeface="Calibri" panose="020F0502020204030204" pitchFamily="34" charset="0"/>
              </a:rPr>
              <a:t>Composition : </a:t>
            </a:r>
            <a:endParaRPr kumimoji="0" lang="fr-FR" altLang="fr-FR" sz="2500" b="0" i="0" u="none" strike="noStrike" cap="none" normalizeH="0" baseline="0" dirty="0" smtClean="0">
              <a:ln>
                <a:noFill/>
              </a:ln>
              <a:solidFill>
                <a:schemeClr val="tx1"/>
              </a:solidFill>
              <a:effectLst/>
              <a:latin typeface="+mn-lt"/>
            </a:endParaRPr>
          </a:p>
          <a:p>
            <a:pPr lvl="0"/>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La spore est composée de : chromosome, cytoplasme, membrane plasmique </a:t>
            </a:r>
            <a:endParaRPr kumimoji="0" lang="fr-FR" altLang="fr-FR" sz="2500" b="0" i="0" u="none" strike="noStrike" cap="none" normalizeH="0" baseline="0" dirty="0" smtClean="0">
              <a:ln>
                <a:noFill/>
              </a:ln>
              <a:solidFill>
                <a:schemeClr val="tx1"/>
              </a:solidFill>
              <a:effectLst/>
              <a:latin typeface="+mn-lt"/>
            </a:endParaRPr>
          </a:p>
          <a:p>
            <a:pPr lvl="0"/>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En plus on retrouve : </a:t>
            </a:r>
            <a:endParaRPr kumimoji="0" lang="fr-FR" altLang="fr-FR" sz="2500" b="0" i="0" u="none" strike="noStrike" cap="none" normalizeH="0" baseline="0" dirty="0" smtClean="0">
              <a:ln>
                <a:noFill/>
              </a:ln>
              <a:solidFill>
                <a:schemeClr val="tx1"/>
              </a:solidFill>
              <a:effectLst/>
              <a:latin typeface="+mn-lt"/>
            </a:endParaRPr>
          </a:p>
          <a:p>
            <a:pPr lvl="0"/>
            <a:r>
              <a:rPr kumimoji="0" lang="fr-FR" altLang="fr-FR" sz="2500" b="1" i="0" u="none" strike="noStrike" cap="none" normalizeH="0" baseline="0" dirty="0" smtClean="0">
                <a:ln>
                  <a:noFill/>
                </a:ln>
                <a:solidFill>
                  <a:srgbClr val="7030A0"/>
                </a:solidFill>
                <a:effectLst/>
                <a:latin typeface="+mn-lt"/>
                <a:cs typeface="Calibri" panose="020F0502020204030204" pitchFamily="34" charset="0"/>
              </a:rPr>
              <a:t>Le cortex</a:t>
            </a:r>
            <a:r>
              <a:rPr kumimoji="0" lang="fr-FR" altLang="fr-FR" sz="2500" b="0" i="0" u="none" strike="noStrike" cap="none" normalizeH="0" baseline="0" dirty="0" smtClean="0">
                <a:ln>
                  <a:noFill/>
                </a:ln>
                <a:solidFill>
                  <a:srgbClr val="7030A0"/>
                </a:solidFill>
                <a:effectLst/>
                <a:latin typeface="+mn-lt"/>
                <a:cs typeface="Calibri" panose="020F0502020204030204" pitchFamily="34" charset="0"/>
              </a:rPr>
              <a:t> </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contient le peptidoglycane associé à l’acide </a:t>
            </a:r>
            <a:r>
              <a:rPr kumimoji="0" lang="fr-FR" altLang="fr-FR" sz="2500" b="0" i="0" u="none" strike="noStrike" cap="none" normalizeH="0" baseline="0" dirty="0" err="1" smtClean="0">
                <a:ln>
                  <a:noFill/>
                </a:ln>
                <a:solidFill>
                  <a:srgbClr val="000000"/>
                </a:solidFill>
                <a:effectLst/>
                <a:latin typeface="+mn-lt"/>
                <a:cs typeface="Calibri" panose="020F0502020204030204" pitchFamily="34" charset="0"/>
              </a:rPr>
              <a:t>dipicolimique</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 et au calcium  </a:t>
            </a:r>
            <a:endParaRPr kumimoji="0" lang="fr-FR" altLang="fr-FR" sz="2500" b="0" i="0" u="none" strike="noStrike" cap="none" normalizeH="0" baseline="0" dirty="0" smtClean="0">
              <a:ln>
                <a:noFill/>
              </a:ln>
              <a:solidFill>
                <a:schemeClr val="tx1"/>
              </a:solidFill>
              <a:effectLst/>
              <a:latin typeface="+mn-lt"/>
            </a:endParaRPr>
          </a:p>
          <a:p>
            <a:pPr lvl="0"/>
            <a:r>
              <a:rPr kumimoji="0" lang="fr-FR" altLang="fr-FR" sz="2500" b="1" i="0" u="none" strike="noStrike" cap="none" normalizeH="0" baseline="0" dirty="0" smtClean="0">
                <a:ln>
                  <a:noFill/>
                </a:ln>
                <a:solidFill>
                  <a:srgbClr val="7030A0"/>
                </a:solidFill>
                <a:effectLst/>
                <a:latin typeface="+mn-lt"/>
                <a:cs typeface="Calibri" panose="020F0502020204030204" pitchFamily="34" charset="0"/>
              </a:rPr>
              <a:t>Un manteau</a:t>
            </a:r>
            <a:r>
              <a:rPr kumimoji="0" lang="fr-FR" altLang="fr-FR" sz="2500" b="0" i="0" u="none" strike="noStrike" cap="none" normalizeH="0" baseline="0" dirty="0" smtClean="0">
                <a:ln>
                  <a:noFill/>
                </a:ln>
                <a:solidFill>
                  <a:srgbClr val="7030A0"/>
                </a:solidFill>
                <a:effectLst/>
                <a:latin typeface="+mn-lt"/>
                <a:cs typeface="Calibri" panose="020F0502020204030204" pitchFamily="34" charset="0"/>
              </a:rPr>
              <a:t> </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avec deux tuniques </a:t>
            </a:r>
            <a:r>
              <a:rPr kumimoji="0" lang="fr-FR" altLang="fr-FR" sz="2500" b="0" i="0" u="none" strike="noStrike" cap="none" normalizeH="0" baseline="0" dirty="0" smtClean="0">
                <a:ln>
                  <a:noFill/>
                </a:ln>
                <a:solidFill>
                  <a:srgbClr val="7030A0"/>
                </a:solidFill>
                <a:effectLst/>
                <a:latin typeface="+mn-lt"/>
                <a:cs typeface="Calibri" panose="020F0502020204030204" pitchFamily="34" charset="0"/>
              </a:rPr>
              <a:t>la tunique interne </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et </a:t>
            </a:r>
            <a:r>
              <a:rPr kumimoji="0" lang="fr-FR" altLang="fr-FR" sz="2500" b="0" i="0" u="none" strike="noStrike" cap="none" normalizeH="0" baseline="0" dirty="0" smtClean="0">
                <a:ln>
                  <a:noFill/>
                </a:ln>
                <a:solidFill>
                  <a:srgbClr val="7030A0"/>
                </a:solidFill>
                <a:effectLst/>
                <a:latin typeface="+mn-lt"/>
                <a:cs typeface="Calibri" panose="020F0502020204030204" pitchFamily="34" charset="0"/>
              </a:rPr>
              <a:t>externe </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a:t>
            </a:r>
            <a:r>
              <a:rPr kumimoji="0" lang="fr-FR" altLang="fr-FR" sz="2500" b="0" i="0" u="none" strike="noStrike" cap="none" normalizeH="0" baseline="0" dirty="0" smtClean="0">
                <a:ln>
                  <a:noFill/>
                </a:ln>
                <a:solidFill>
                  <a:srgbClr val="7030A0"/>
                </a:solidFill>
                <a:effectLst/>
                <a:latin typeface="+mn-lt"/>
                <a:cs typeface="Calibri" panose="020F0502020204030204" pitchFamily="34" charset="0"/>
              </a:rPr>
              <a:t>l’</a:t>
            </a:r>
            <a:r>
              <a:rPr kumimoji="0" lang="fr-FR" altLang="fr-FR" sz="2500" b="0" i="0" u="none" strike="noStrike" cap="none" normalizeH="0" baseline="0" dirty="0" err="1" smtClean="0">
                <a:ln>
                  <a:noFill/>
                </a:ln>
                <a:solidFill>
                  <a:srgbClr val="7030A0"/>
                </a:solidFill>
                <a:effectLst/>
                <a:latin typeface="+mn-lt"/>
                <a:cs typeface="Calibri" panose="020F0502020204030204" pitchFamily="34" charset="0"/>
              </a:rPr>
              <a:t>exosporium</a:t>
            </a:r>
            <a:r>
              <a:rPr kumimoji="0" lang="fr-FR" altLang="fr-FR" sz="2500" b="0" i="0" u="none" strike="noStrike" cap="none" normalizeH="0" baseline="0" dirty="0" smtClean="0">
                <a:ln>
                  <a:noFill/>
                </a:ln>
                <a:solidFill>
                  <a:srgbClr val="7030A0"/>
                </a:solidFill>
                <a:effectLst/>
                <a:latin typeface="+mn-lt"/>
                <a:cs typeface="Calibri" panose="020F0502020204030204" pitchFamily="34" charset="0"/>
              </a:rPr>
              <a:t>  </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entoure le cortex </a:t>
            </a:r>
            <a:endParaRPr kumimoji="0" lang="fr-FR" altLang="fr-FR" sz="2500" b="0" i="0" u="none" strike="noStrike" cap="none" normalizeH="0" baseline="0" dirty="0" smtClean="0">
              <a:ln>
                <a:noFill/>
              </a:ln>
              <a:solidFill>
                <a:schemeClr val="tx1"/>
              </a:solidFill>
              <a:effectLst/>
              <a:latin typeface="+mn-lt"/>
            </a:endParaRPr>
          </a:p>
          <a:p>
            <a:pPr lvl="0"/>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On parle d’endospore car elle se développe à l’intérieur de la cellule végétative </a:t>
            </a:r>
            <a:endParaRPr kumimoji="0" lang="fr-FR" altLang="fr-FR" sz="2500" b="0" i="0" u="none" strike="noStrike" cap="none" normalizeH="0" baseline="0" dirty="0" smtClean="0">
              <a:ln>
                <a:noFill/>
              </a:ln>
              <a:solidFill>
                <a:schemeClr val="tx1"/>
              </a:solidFill>
              <a:effectLst/>
              <a:latin typeface="+mn-lt"/>
            </a:endParaRPr>
          </a:p>
          <a:p>
            <a:pPr lvl="0"/>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Selon sa position dans la cellule végétative on a : </a:t>
            </a:r>
          </a:p>
          <a:p>
            <a:pPr lvl="0"/>
            <a:endParaRPr kumimoji="0" lang="fr-FR" altLang="fr-FR" sz="2500" b="0" i="0" u="none" strike="noStrike" cap="none" normalizeH="0" baseline="0" dirty="0" smtClean="0">
              <a:ln>
                <a:noFill/>
              </a:ln>
              <a:solidFill>
                <a:srgbClr val="000000"/>
              </a:solidFill>
              <a:effectLst/>
              <a:latin typeface="+mn-lt"/>
              <a:cs typeface="Calibri" panose="020F0502020204030204" pitchFamily="34" charset="0"/>
            </a:endParaRPr>
          </a:p>
          <a:p>
            <a:pPr marL="342900" lvl="0" indent="-342900">
              <a:buFont typeface="Arial" panose="020B0604020202020204" pitchFamily="34" charset="0"/>
              <a:buChar char="•"/>
            </a:pP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 Terminale </a:t>
            </a:r>
          </a:p>
          <a:p>
            <a:pPr marL="342900" lvl="0" indent="-342900">
              <a:buFont typeface="Arial" panose="020B0604020202020204" pitchFamily="34" charset="0"/>
              <a:buChar char="•"/>
            </a:pPr>
            <a:r>
              <a:rPr lang="fr-FR" altLang="fr-FR" sz="2500" dirty="0">
                <a:solidFill>
                  <a:srgbClr val="000000"/>
                </a:solidFill>
                <a:latin typeface="+mn-lt"/>
                <a:cs typeface="Calibri" panose="020F0502020204030204" pitchFamily="34" charset="0"/>
              </a:rPr>
              <a:t> </a:t>
            </a:r>
            <a:r>
              <a:rPr lang="fr-FR" altLang="fr-FR" sz="2500" dirty="0" err="1">
                <a:solidFill>
                  <a:srgbClr val="000000"/>
                </a:solidFill>
                <a:latin typeface="+mn-lt"/>
                <a:cs typeface="Calibri" panose="020F0502020204030204" pitchFamily="34" charset="0"/>
              </a:rPr>
              <a:t>S</a:t>
            </a:r>
            <a:r>
              <a:rPr kumimoji="0" lang="fr-FR" altLang="fr-FR" sz="2500" b="0" i="0" u="none" strike="noStrike" cap="none" normalizeH="0" baseline="0" dirty="0" err="1" smtClean="0">
                <a:ln>
                  <a:noFill/>
                </a:ln>
                <a:solidFill>
                  <a:srgbClr val="000000"/>
                </a:solidFill>
                <a:effectLst/>
                <a:latin typeface="+mn-lt"/>
                <a:cs typeface="Calibri" panose="020F0502020204030204" pitchFamily="34" charset="0"/>
              </a:rPr>
              <a:t>ubterminale</a:t>
            </a:r>
            <a:endParaRPr kumimoji="0" lang="fr-FR" altLang="fr-FR" sz="2500" b="0" i="0" u="none" strike="noStrike" cap="none" normalizeH="0" baseline="0" dirty="0" smtClean="0">
              <a:ln>
                <a:noFill/>
              </a:ln>
              <a:solidFill>
                <a:srgbClr val="000000"/>
              </a:solidFill>
              <a:effectLst/>
              <a:latin typeface="+mn-lt"/>
              <a:cs typeface="Calibri" panose="020F0502020204030204" pitchFamily="34" charset="0"/>
            </a:endParaRPr>
          </a:p>
          <a:p>
            <a:pPr marL="342900" lvl="0" indent="-342900">
              <a:buFont typeface="Arial" panose="020B0604020202020204" pitchFamily="34" charset="0"/>
              <a:buChar char="•"/>
            </a:pPr>
            <a:r>
              <a:rPr lang="fr-FR" altLang="fr-FR" sz="2500" dirty="0">
                <a:solidFill>
                  <a:srgbClr val="000000"/>
                </a:solidFill>
                <a:latin typeface="+mn-lt"/>
                <a:cs typeface="Calibri" panose="020F0502020204030204" pitchFamily="34" charset="0"/>
              </a:rPr>
              <a:t> </a:t>
            </a:r>
            <a:r>
              <a:rPr lang="fr-FR" altLang="fr-FR" sz="2500" dirty="0" smtClean="0">
                <a:solidFill>
                  <a:srgbClr val="000000"/>
                </a:solidFill>
                <a:latin typeface="+mn-lt"/>
                <a:cs typeface="Calibri" panose="020F0502020204030204" pitchFamily="34" charset="0"/>
              </a:rPr>
              <a:t>C</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entrale   </a:t>
            </a:r>
          </a:p>
          <a:p>
            <a:pPr lvl="0" indent="0"/>
            <a:endParaRPr kumimoji="0" lang="fr-FR" altLang="fr-FR" sz="2500" b="0" i="0" u="none" strike="noStrike" cap="none" normalizeH="0" baseline="0" dirty="0" smtClean="0">
              <a:ln>
                <a:noFill/>
              </a:ln>
              <a:solidFill>
                <a:srgbClr val="000000"/>
              </a:solidFill>
              <a:effectLst/>
              <a:latin typeface="+mn-lt"/>
              <a:cs typeface="Calibri" panose="020F0502020204030204" pitchFamily="34" charset="0"/>
            </a:endParaRPr>
          </a:p>
          <a:p>
            <a:pPr marL="342900" lvl="0" indent="-342900">
              <a:buFont typeface="Arial" panose="020B0604020202020204" pitchFamily="34" charset="0"/>
              <a:buChar char="•"/>
            </a:pPr>
            <a:r>
              <a:rPr kumimoji="0" lang="fr-FR" altLang="fr-FR" sz="2500" b="0" i="0" u="sng" strike="noStrike" cap="none" normalizeH="0" baseline="0" dirty="0" smtClean="0">
                <a:ln>
                  <a:noFill/>
                </a:ln>
                <a:solidFill>
                  <a:srgbClr val="000000"/>
                </a:solidFill>
                <a:effectLst/>
                <a:latin typeface="+mn-lt"/>
                <a:cs typeface="Calibri" panose="020F0502020204030204" pitchFamily="34" charset="0"/>
              </a:rPr>
              <a:t>peut-être :</a:t>
            </a:r>
            <a:r>
              <a:rPr kumimoji="0" lang="fr-FR" altLang="fr-FR" sz="2500" b="0" i="0" u="none" strike="noStrike" cap="none" normalizeH="0" baseline="0" dirty="0" smtClean="0">
                <a:ln>
                  <a:noFill/>
                </a:ln>
                <a:solidFill>
                  <a:srgbClr val="000000"/>
                </a:solidFill>
                <a:effectLst/>
                <a:latin typeface="+mn-lt"/>
                <a:cs typeface="Calibri" panose="020F0502020204030204" pitchFamily="34" charset="0"/>
              </a:rPr>
              <a:t> ♦régulière ♦déformante </a:t>
            </a:r>
            <a:r>
              <a:rPr kumimoji="0" lang="fr-FR" altLang="fr-FR" sz="2500" b="0" i="0" u="none" strike="noStrike" cap="none" normalizeH="0" baseline="0" dirty="0" smtClean="0">
                <a:ln>
                  <a:noFill/>
                </a:ln>
                <a:solidFill>
                  <a:schemeClr val="tx1"/>
                </a:solidFill>
                <a:effectLst/>
                <a:latin typeface="+mn-lt"/>
              </a:rPr>
              <a:t> </a:t>
            </a:r>
            <a:endParaRPr lang="fr-FR" altLang="fr-FR" sz="2500" dirty="0">
              <a:latin typeface="+mn-lt"/>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7699904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43062" y="309562"/>
            <a:ext cx="8905875" cy="6238875"/>
          </a:xfrm>
          <a:prstGeom prst="rect">
            <a:avLst/>
          </a:prstGeom>
        </p:spPr>
      </p:pic>
    </p:spTree>
    <p:extLst>
      <p:ext uri="{BB962C8B-B14F-4D97-AF65-F5344CB8AC3E}">
        <p14:creationId xmlns:p14="http://schemas.microsoft.com/office/powerpoint/2010/main" val="77318148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solidFill>
                  <a:srgbClr val="FF0000"/>
                </a:solidFill>
              </a:rPr>
              <a:t>Application</a:t>
            </a:r>
            <a:endParaRPr lang="fr-FR" dirty="0">
              <a:solidFill>
                <a:srgbClr val="FF0000"/>
              </a:solidFill>
            </a:endParaRPr>
          </a:p>
        </p:txBody>
      </p:sp>
      <p:sp>
        <p:nvSpPr>
          <p:cNvPr id="3" name="Content Placeholder 2"/>
          <p:cNvSpPr>
            <a:spLocks noGrp="1"/>
          </p:cNvSpPr>
          <p:nvPr>
            <p:ph idx="1"/>
          </p:nvPr>
        </p:nvSpPr>
        <p:spPr/>
        <p:txBody>
          <a:bodyPr>
            <a:normAutofit/>
          </a:bodyPr>
          <a:lstStyle/>
          <a:p>
            <a:r>
              <a:rPr lang="fr-FR" dirty="0" smtClean="0"/>
              <a:t>Le diagnostic bactérien </a:t>
            </a:r>
          </a:p>
          <a:p>
            <a:r>
              <a:rPr lang="fr-FR" dirty="0" smtClean="0"/>
              <a:t>Taxonomie </a:t>
            </a:r>
          </a:p>
          <a:p>
            <a:r>
              <a:rPr lang="fr-FR" dirty="0" smtClean="0"/>
              <a:t>Industrie Biotechnologique </a:t>
            </a:r>
          </a:p>
          <a:p>
            <a:endParaRPr lang="fr-FR" dirty="0"/>
          </a:p>
        </p:txBody>
      </p:sp>
    </p:spTree>
    <p:extLst>
      <p:ext uri="{BB962C8B-B14F-4D97-AF65-F5344CB8AC3E}">
        <p14:creationId xmlns:p14="http://schemas.microsoft.com/office/powerpoint/2010/main" val="64645020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4"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700" b="1" dirty="0" smtClean="0">
                <a:solidFill>
                  <a:srgbClr val="FF0000"/>
                </a:solidFill>
              </a:rPr>
              <a:t>L’identification bactérienne </a:t>
            </a:r>
            <a:endParaRPr sz="37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1327439"/>
            <a:ext cx="11811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2800" dirty="0" smtClean="0">
                <a:latin typeface="+mn-lt"/>
              </a:rPr>
              <a:t>L’étude de la morphologie des bactéries, se fait au microscope optique, </a:t>
            </a:r>
          </a:p>
          <a:p>
            <a:r>
              <a:rPr lang="fr-FR" sz="2800" dirty="0" smtClean="0">
                <a:latin typeface="+mn-lt"/>
              </a:rPr>
              <a:t>par : L’examen à l’état frais (objectif X 4O) : Il nous renseigne sur : </a:t>
            </a:r>
          </a:p>
          <a:p>
            <a:pPr marL="285750" indent="-285750">
              <a:buFont typeface="Arial" panose="020B0604020202020204" pitchFamily="34" charset="0"/>
              <a:buChar char="•"/>
            </a:pPr>
            <a:r>
              <a:rPr lang="fr-FR" sz="2800" dirty="0" smtClean="0">
                <a:latin typeface="+mn-lt"/>
              </a:rPr>
              <a:t> La mobilité de la bactérie </a:t>
            </a:r>
          </a:p>
          <a:p>
            <a:pPr marL="285750" indent="-285750">
              <a:buFont typeface="Arial" panose="020B0604020202020204" pitchFamily="34" charset="0"/>
              <a:buChar char="•"/>
            </a:pPr>
            <a:r>
              <a:rPr lang="fr-FR" sz="2800" dirty="0" smtClean="0">
                <a:latin typeface="+mn-lt"/>
              </a:rPr>
              <a:t> La forme de la bactérie </a:t>
            </a:r>
          </a:p>
          <a:p>
            <a:pPr marL="285750" indent="-285750">
              <a:buFont typeface="Arial" panose="020B0604020202020204" pitchFamily="34" charset="0"/>
              <a:buChar char="•"/>
            </a:pPr>
            <a:r>
              <a:rPr lang="fr-FR" sz="2800" dirty="0" smtClean="0">
                <a:latin typeface="+mn-lt"/>
              </a:rPr>
              <a:t> La présence des spores (préparation avec l’encre de chine)</a:t>
            </a:r>
          </a:p>
          <a:p>
            <a:endParaRPr lang="fr-FR" sz="2800" dirty="0">
              <a:latin typeface="+mn-lt"/>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3f6EOGVL8d4"/>
          <p:cNvPicPr>
            <a:picLocks noRot="1" noChangeAspect="1"/>
          </p:cNvPicPr>
          <p:nvPr>
            <a:videoFile r:link="rId1"/>
          </p:nvPr>
        </p:nvPicPr>
        <p:blipFill>
          <a:blip r:embed="rId5"/>
          <a:stretch>
            <a:fillRect/>
          </a:stretch>
        </p:blipFill>
        <p:spPr>
          <a:xfrm>
            <a:off x="3505482" y="960166"/>
            <a:ext cx="6626578" cy="5213777"/>
          </a:xfrm>
          <a:prstGeom prst="rect">
            <a:avLst/>
          </a:prstGeom>
        </p:spPr>
      </p:pic>
    </p:spTree>
    <p:extLst>
      <p:ext uri="{BB962C8B-B14F-4D97-AF65-F5344CB8AC3E}">
        <p14:creationId xmlns:p14="http://schemas.microsoft.com/office/powerpoint/2010/main" val="324198062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4"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700" b="1" dirty="0" smtClean="0">
                <a:solidFill>
                  <a:srgbClr val="FF0000"/>
                </a:solidFill>
              </a:rPr>
              <a:t>L’Identification bactérienne </a:t>
            </a:r>
            <a:endParaRPr sz="37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747180"/>
            <a:ext cx="11811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fr-FR" sz="2800" dirty="0">
              <a:latin typeface="+mn-lt"/>
            </a:endParaRPr>
          </a:p>
          <a:p>
            <a:r>
              <a:rPr lang="fr-FR" sz="2800" dirty="0" smtClean="0">
                <a:latin typeface="+mn-lt"/>
              </a:rPr>
              <a:t> L’examen des préparations fixées et colorées (objectif X 1OO) par : </a:t>
            </a:r>
          </a:p>
          <a:p>
            <a:pPr marL="285750" indent="-285750">
              <a:buFont typeface="Arial" panose="020B0604020202020204" pitchFamily="34" charset="0"/>
              <a:buChar char="•"/>
            </a:pPr>
            <a:r>
              <a:rPr lang="fr-FR" sz="2800" dirty="0" smtClean="0">
                <a:latin typeface="+mn-lt"/>
              </a:rPr>
              <a:t> Coloration au bleu de méthylène </a:t>
            </a:r>
          </a:p>
          <a:p>
            <a:pPr marL="285750" indent="-285750">
              <a:buFont typeface="Arial" panose="020B0604020202020204" pitchFamily="34" charset="0"/>
              <a:buChar char="•"/>
            </a:pPr>
            <a:r>
              <a:rPr lang="fr-FR" sz="2800" dirty="0" smtClean="0">
                <a:latin typeface="+mn-lt"/>
              </a:rPr>
              <a:t> Coloration au Gram </a:t>
            </a:r>
          </a:p>
          <a:p>
            <a:pPr marL="285750" indent="-285750">
              <a:buFont typeface="Arial" panose="020B0604020202020204" pitchFamily="34" charset="0"/>
              <a:buChar char="•"/>
            </a:pPr>
            <a:r>
              <a:rPr lang="fr-FR" sz="2800" dirty="0" smtClean="0">
                <a:latin typeface="+mn-lt"/>
              </a:rPr>
              <a:t> Coloration au </a:t>
            </a:r>
            <a:r>
              <a:rPr lang="fr-FR" sz="2800" dirty="0" err="1" smtClean="0">
                <a:latin typeface="+mn-lt"/>
              </a:rPr>
              <a:t>Ziehl</a:t>
            </a:r>
            <a:r>
              <a:rPr lang="fr-FR" sz="2800" dirty="0" smtClean="0">
                <a:latin typeface="+mn-lt"/>
              </a:rPr>
              <a:t> </a:t>
            </a:r>
            <a:r>
              <a:rPr lang="fr-FR" sz="2800" dirty="0" err="1" smtClean="0">
                <a:latin typeface="+mn-lt"/>
              </a:rPr>
              <a:t>Neelsen</a:t>
            </a:r>
            <a:endParaRPr lang="fr-FR" sz="2800" b="0" dirty="0" smtClean="0">
              <a:effectLst/>
              <a:latin typeface="+mn-lt"/>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5byNHasrWis"/>
          <p:cNvPicPr>
            <a:picLocks noRot="1" noChangeAspect="1"/>
          </p:cNvPicPr>
          <p:nvPr>
            <a:videoFile r:link="rId1"/>
          </p:nvPr>
        </p:nvPicPr>
        <p:blipFill>
          <a:blip r:embed="rId5"/>
          <a:stretch>
            <a:fillRect/>
          </a:stretch>
        </p:blipFill>
        <p:spPr>
          <a:xfrm>
            <a:off x="2799823" y="2993949"/>
            <a:ext cx="8877121" cy="3741232"/>
          </a:xfrm>
          <a:prstGeom prst="rect">
            <a:avLst/>
          </a:prstGeom>
        </p:spPr>
      </p:pic>
    </p:spTree>
    <p:extLst>
      <p:ext uri="{BB962C8B-B14F-4D97-AF65-F5344CB8AC3E}">
        <p14:creationId xmlns:p14="http://schemas.microsoft.com/office/powerpoint/2010/main" val="17491207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6735181"/>
            <a:ext cx="12191999" cy="121284"/>
          </a:xfrm>
          <a:prstGeom prst="rect">
            <a:avLst/>
          </a:prstGeom>
        </p:spPr>
      </p:pic>
      <p:sp>
        <p:nvSpPr>
          <p:cNvPr id="3" name="object 3"/>
          <p:cNvSpPr txBox="1">
            <a:spLocks noGrp="1"/>
          </p:cNvSpPr>
          <p:nvPr>
            <p:ph type="title"/>
          </p:nvPr>
        </p:nvSpPr>
        <p:spPr>
          <a:xfrm>
            <a:off x="688340" y="133358"/>
            <a:ext cx="9443720" cy="613822"/>
          </a:xfrm>
          <a:prstGeom prst="rect">
            <a:avLst/>
          </a:prstGeom>
        </p:spPr>
        <p:txBody>
          <a:bodyPr vert="horz" wrap="square" lIns="0" tIns="79375" rIns="0" bIns="0" rtlCol="0">
            <a:spAutoFit/>
          </a:bodyPr>
          <a:lstStyle/>
          <a:p>
            <a:pPr marL="12700" marR="5080">
              <a:lnSpc>
                <a:spcPts val="4010"/>
              </a:lnSpc>
              <a:spcBef>
                <a:spcPts val="625"/>
              </a:spcBef>
            </a:pPr>
            <a:r>
              <a:rPr lang="fr-FR" sz="3600" b="1" dirty="0" smtClean="0">
                <a:solidFill>
                  <a:srgbClr val="FF0000"/>
                </a:solidFill>
              </a:rPr>
              <a:t>Conclusion </a:t>
            </a:r>
            <a:endParaRPr sz="3600" b="1" dirty="0">
              <a:solidFill>
                <a:srgbClr val="FF0000"/>
              </a:solidFill>
            </a:endParaRPr>
          </a:p>
        </p:txBody>
      </p:sp>
      <p:sp>
        <p:nvSpPr>
          <p:cNvPr id="6" name="Rectangle 1"/>
          <p:cNvSpPr>
            <a:spLocks noChangeArrowheads="1"/>
          </p:cNvSpPr>
          <p:nvPr/>
        </p:nvSpPr>
        <p:spPr bwMode="auto">
          <a:xfrm>
            <a:off x="1406524" y="4147314"/>
            <a:ext cx="1947357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8" name="Rectangle 3"/>
          <p:cNvSpPr>
            <a:spLocks noChangeArrowheads="1"/>
          </p:cNvSpPr>
          <p:nvPr/>
        </p:nvSpPr>
        <p:spPr bwMode="auto">
          <a:xfrm>
            <a:off x="190499" y="2536004"/>
            <a:ext cx="118110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81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b="1" dirty="0"/>
              <a:t> </a:t>
            </a:r>
            <a:r>
              <a:rPr lang="fr-FR" dirty="0"/>
              <a:t>L’étude de la structure bactérienne permet la compréhension du diagnostic de base dans un laboratoire de microbiologie médicale, qui est la première étape de la  classification des bactéries </a:t>
            </a:r>
            <a:endParaRPr lang="fr-FR" b="0" dirty="0" smtClean="0">
              <a:effectLst/>
            </a:endParaRPr>
          </a:p>
          <a:p>
            <a:r>
              <a:rPr lang="fr-FR" dirty="0"/>
              <a:t>Cela permet de connaitre la particularité des </a:t>
            </a:r>
            <a:r>
              <a:rPr lang="fr-FR" dirty="0" err="1"/>
              <a:t>Bacteria</a:t>
            </a:r>
            <a:r>
              <a:rPr lang="fr-FR" dirty="0"/>
              <a:t>, et surtout les exceptions dans la  structure bactérienne qui font la curiosité et la complexité de cette discipline, qui a un apport  certain dans la prise en charge des maladies infectieuses.</a:t>
            </a:r>
            <a:endParaRPr lang="fr-FR" b="0" dirty="0" smtClean="0">
              <a:effectLst/>
            </a:endParaRPr>
          </a:p>
          <a:p>
            <a:r>
              <a:rPr lang="fr-FR" dirty="0" smtClean="0"/>
              <a:t/>
            </a:r>
            <a:br>
              <a:rPr lang="fr-FR" dirty="0" smtClean="0"/>
            </a:br>
            <a:endParaRPr lang="fr-FR" sz="2000" b="0" dirty="0" smtClean="0">
              <a:effectLst/>
            </a:endParaRPr>
          </a:p>
        </p:txBody>
      </p:sp>
      <p:sp>
        <p:nvSpPr>
          <p:cNvPr id="9" name="AutoShape 4" descr="Endospore — Wikipédia"/>
          <p:cNvSpPr>
            <a:spLocks noChangeAspect="1" noChangeArrowheads="1"/>
          </p:cNvSpPr>
          <p:nvPr/>
        </p:nvSpPr>
        <p:spPr bwMode="auto">
          <a:xfrm>
            <a:off x="8824913" y="2071630"/>
            <a:ext cx="2095500" cy="14954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3785606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Bibliographie </a:t>
            </a:r>
            <a:endParaRPr lang="fr-FR" dirty="0"/>
          </a:p>
        </p:txBody>
      </p:sp>
      <p:sp>
        <p:nvSpPr>
          <p:cNvPr id="4" name="Rectangle 1"/>
          <p:cNvSpPr>
            <a:spLocks noGrp="1" noChangeArrowheads="1"/>
          </p:cNvSpPr>
          <p:nvPr>
            <p:ph idx="1"/>
          </p:nvPr>
        </p:nvSpPr>
        <p:spPr bwMode="auto">
          <a:xfrm>
            <a:off x="211868" y="1550104"/>
            <a:ext cx="10741572" cy="4504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Prescott </a:t>
            </a: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microbiology</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121</a:t>
            </a:r>
            <a:r>
              <a:rPr lang="fr-FR" altLang="fr-FR" sz="2000" baseline="30000" dirty="0" smtClean="0">
                <a:latin typeface="Times New Roman" panose="02020603050405020304" pitchFamily="18" charset="0"/>
                <a:cs typeface="Times New Roman" panose="02020603050405020304" pitchFamily="18" charset="0"/>
              </a:rPr>
              <a:t>E</a:t>
            </a:r>
            <a:r>
              <a:rPr lang="fr-FR" altLang="fr-FR" sz="2000" dirty="0" smtClean="0">
                <a:latin typeface="Times New Roman" panose="02020603050405020304" pitchFamily="18" charset="0"/>
                <a:cs typeface="Times New Roman" panose="02020603050405020304" pitchFamily="18" charset="0"/>
              </a:rPr>
              <a:t> , 12 Th </a:t>
            </a:r>
            <a:r>
              <a:rPr lang="fr-FR" altLang="fr-FR" sz="2000" dirty="0" err="1" smtClean="0">
                <a:latin typeface="Times New Roman" panose="02020603050405020304" pitchFamily="18" charset="0"/>
                <a:cs typeface="Times New Roman" panose="02020603050405020304" pitchFamily="18" charset="0"/>
              </a:rPr>
              <a:t>edition</a:t>
            </a:r>
            <a:r>
              <a:rPr lang="fr-FR" altLang="fr-FR" sz="2000" dirty="0" smtClean="0">
                <a:latin typeface="Times New Roman" panose="02020603050405020304" pitchFamily="18" charset="0"/>
                <a:cs typeface="Times New Roman" panose="02020603050405020304" pitchFamily="18" charset="0"/>
              </a:rPr>
              <a:t> 2024 </a:t>
            </a:r>
            <a:endPar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Remic</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2024</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Bailey and Scott's Diagnostic Microbiology 15e </a:t>
            </a:r>
            <a:endParaRPr kumimoji="0" lang="fr-FR" altLang="fr-FR" sz="1600" u="none" strike="noStrike" cap="none" normalizeH="0" baseline="0" dirty="0" smtClean="0">
              <a:ln>
                <a:noFill/>
              </a:ln>
              <a:effectLst/>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hlinkClick r:id="rId2"/>
              </a:rPr>
              <a:t>Medical Microbiology for Health Professionals (4th Ed.) by Judy </a:t>
            </a:r>
            <a:r>
              <a:rPr lang="en-US" dirty="0" err="1">
                <a:latin typeface="Times New Roman" panose="02020603050405020304" pitchFamily="18" charset="0"/>
                <a:cs typeface="Times New Roman" panose="02020603050405020304" pitchFamily="18" charset="0"/>
                <a:hlinkClick r:id="rId2"/>
              </a:rPr>
              <a:t>Gnarpe</a:t>
            </a:r>
            <a:endParaRPr 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Hughes D, </a:t>
            </a: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Mader</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A. The Gram-positive </a:t>
            </a: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cell</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a:t>
            </a: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wall</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A structural </a:t>
            </a: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overview</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J Mol </a:t>
            </a:r>
            <a:r>
              <a:rPr kumimoji="0" lang="fr-FR" altLang="fr-FR" sz="2000" u="none" strike="noStrike" cap="none" normalizeH="0" baseline="0" dirty="0" err="1" smtClean="0">
                <a:ln>
                  <a:noFill/>
                </a:ln>
                <a:effectLst/>
                <a:latin typeface="Times New Roman" panose="02020603050405020304" pitchFamily="18" charset="0"/>
                <a:cs typeface="Times New Roman" panose="02020603050405020304" pitchFamily="18" charset="0"/>
              </a:rPr>
              <a:t>Biol</a:t>
            </a: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 2020;432(1):15-28.</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u="none" strike="noStrike" cap="none" normalizeH="0" baseline="0" dirty="0" smtClean="0">
                <a:ln>
                  <a:noFill/>
                </a:ln>
                <a:effectLst/>
                <a:latin typeface="Times New Roman" panose="02020603050405020304" pitchFamily="18" charset="0"/>
                <a:cs typeface="Times New Roman" panose="02020603050405020304" pitchFamily="18" charset="0"/>
              </a:rPr>
              <a:t>Institut Pasteur. La cellule bactérienne : anatomie et fonctions [Internet]. Paris: Institut Pasteur; 2024 [cité le 20 sept 2025]. Disponible sur : </a:t>
            </a:r>
            <a:r>
              <a:rPr kumimoji="0" lang="fr-FR" altLang="fr-FR" sz="1600" u="none" strike="noStrike" cap="none" normalizeH="0" baseline="0" dirty="0" smtClean="0">
                <a:ln>
                  <a:noFill/>
                </a:ln>
                <a:effectLst/>
                <a:latin typeface="Times New Roman" panose="02020603050405020304" pitchFamily="18" charset="0"/>
                <a:cs typeface="Times New Roman" panose="02020603050405020304" pitchFamily="18" charset="0"/>
                <a:hlinkClick r:id="rId3"/>
              </a:rPr>
              <a:t>https://www.pasteur.fr/fr/cours/microbiologie/cellule-bacterienne</a:t>
            </a:r>
            <a:r>
              <a:rPr kumimoji="0" lang="fr-FR" altLang="fr-FR" sz="1600" u="none" strike="noStrike" cap="none" normalizeH="0" baseline="0" dirty="0" smtClean="0">
                <a:ln>
                  <a:noFill/>
                </a:ln>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4803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3967</TotalTime>
  <Words>5831</Words>
  <Application>Microsoft Office PowerPoint</Application>
  <PresentationFormat>Widescreen</PresentationFormat>
  <Paragraphs>582</Paragraphs>
  <Slides>108</Slides>
  <Notes>45</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108</vt:i4>
      </vt:variant>
    </vt:vector>
  </HeadingPairs>
  <TitlesOfParts>
    <vt:vector size="115" baseType="lpstr">
      <vt:lpstr>Arial</vt:lpstr>
      <vt:lpstr>Calibri</vt:lpstr>
      <vt:lpstr>Calibri Light</vt:lpstr>
      <vt:lpstr>Tahoma</vt:lpstr>
      <vt:lpstr>Times New Roman</vt:lpstr>
      <vt:lpstr>Wingdings</vt:lpstr>
      <vt:lpstr>Office Theme</vt:lpstr>
      <vt:lpstr>PowerPoint Presentation</vt:lpstr>
      <vt:lpstr>PLAN </vt:lpstr>
      <vt:lpstr>INTRODUCTION</vt:lpstr>
      <vt:lpstr>PLAN </vt:lpstr>
      <vt:lpstr>I- Généralités -Définitions</vt:lpstr>
      <vt:lpstr>PowerPoint Presentation</vt:lpstr>
      <vt:lpstr>PowerPoint Presentation</vt:lpstr>
      <vt:lpstr>Classification des interactions </vt:lpstr>
      <vt:lpstr>II. Physiopathologie bactérienne</vt:lpstr>
      <vt:lpstr>II.1.Différents modes de transmission </vt:lpstr>
      <vt:lpstr>II.2-Différentes voies de contamination -</vt:lpstr>
      <vt:lpstr> Adhérence et colonisation par la bactéries pathogène</vt:lpstr>
      <vt:lpstr>Invasion des tissus de l’hôte</vt:lpstr>
      <vt:lpstr>Toxines protéiques bactériennes (Exotoxine)</vt:lpstr>
      <vt:lpstr>PowerPoint Presentation</vt:lpstr>
      <vt:lpstr>PowerPoint Presentation</vt:lpstr>
      <vt:lpstr>PowerPoint Presentation</vt:lpstr>
      <vt:lpstr>PowerPoint Presentation</vt:lpstr>
      <vt:lpstr>Endotoxine de nature LPS</vt:lpstr>
      <vt:lpstr>PowerPoint Presentation</vt:lpstr>
      <vt:lpstr>PowerPoint Presentation</vt:lpstr>
      <vt:lpstr>Etapes du processus infectieux </vt:lpstr>
      <vt:lpstr>III- Moyens de défense de hôte contre l’infection bactérienne</vt:lpstr>
      <vt:lpstr>III.1- Immunité non spécifique</vt:lpstr>
      <vt:lpstr>Barrière cutanéo-muqueuses</vt:lpstr>
      <vt:lpstr>Barrière  chimique </vt:lpstr>
      <vt:lpstr>Barrière biologique </vt:lpstr>
      <vt:lpstr>Flore commensale cutanéo-muqueuse</vt:lpstr>
      <vt:lpstr>PowerPoint Presentation</vt:lpstr>
      <vt:lpstr>PowerPoint Presentation</vt:lpstr>
      <vt:lpstr>PowerPoint Presentation</vt:lpstr>
      <vt:lpstr>B- La réaction inflammatoire ou Immunité innée </vt:lpstr>
      <vt:lpstr>PowerPoint Presentation</vt:lpstr>
      <vt:lpstr>PowerPoint Presentation</vt:lpstr>
      <vt:lpstr>PowerPoint Presentation</vt:lpstr>
      <vt:lpstr>INTRODUCTION</vt:lpstr>
      <vt:lpstr>INTRODUCTION</vt:lpstr>
      <vt:lpstr>PowerPoint Presentation</vt:lpstr>
      <vt:lpstr>PowerPoint Presentation</vt:lpstr>
      <vt:lpstr>PowerPoint Presentation</vt:lpstr>
      <vt:lpstr>Formes bactériennes </vt:lpstr>
      <vt:lpstr>Arrangement bactérien</vt:lpstr>
      <vt:lpstr>PowerPoint Presentation</vt:lpstr>
      <vt:lpstr>PowerPoint Presentation</vt:lpstr>
      <vt:lpstr>PowerPoint Presentation</vt:lpstr>
      <vt:lpstr>Taxonomie bactérienne </vt:lpstr>
      <vt:lpstr>PowerPoint Presentation</vt:lpstr>
      <vt:lpstr>PowerPoint Presentation</vt:lpstr>
      <vt:lpstr>PowerPoint Presentation</vt:lpstr>
      <vt:lpstr>Anatomie fonctionnelle des bactéries </vt:lpstr>
      <vt:lpstr>Anatomie bactérienne </vt:lpstr>
      <vt:lpstr>MATERIEL ET METHODES</vt:lpstr>
      <vt:lpstr>PowerPoint Presentation</vt:lpstr>
      <vt:lpstr>PowerPoint Presentation</vt:lpstr>
      <vt:lpstr>1.Génome bactérien </vt:lpstr>
      <vt:lpstr>PowerPoint Presentation</vt:lpstr>
      <vt:lpstr>2.Cytoplasme bacterien </vt:lpstr>
      <vt:lpstr>2.Cytoplasme bacterien </vt:lpstr>
      <vt:lpstr>3.Membrane cytoplasmique </vt:lpstr>
      <vt:lpstr>PowerPoint Presentation</vt:lpstr>
      <vt:lpstr>3.Membrane cytoplasmique </vt:lpstr>
      <vt:lpstr>3.Membrane cytoplasmique </vt:lpstr>
      <vt:lpstr>PowerPoint Presentation</vt:lpstr>
      <vt:lpstr>3.Membrane cytoplasmique </vt:lpstr>
      <vt:lpstr>PowerPoint Presentation</vt:lpstr>
      <vt:lpstr>PowerPoint Presentation</vt:lpstr>
      <vt:lpstr>PowerPoint Presentation</vt:lpstr>
      <vt:lpstr>3.Membrane cytoplasmique </vt:lpstr>
      <vt:lpstr>3.Membrane cytoplasmique </vt:lpstr>
      <vt:lpstr>PowerPoint Presentation</vt:lpstr>
      <vt:lpstr>4.Paroi bactérienne</vt:lpstr>
      <vt:lpstr>PowerPoint Presentation</vt:lpstr>
      <vt:lpstr>PowerPoint Presentation</vt:lpstr>
      <vt:lpstr>4.Paroi bacterienne</vt:lpstr>
      <vt:lpstr>4.Paroi bacterienne</vt:lpstr>
      <vt:lpstr>4.Paroi bacterienne</vt:lpstr>
      <vt:lpstr>4.Paroi bacterienne</vt:lpstr>
      <vt:lpstr>PowerPoint Presentation</vt:lpstr>
      <vt:lpstr>PowerPoint Presentation</vt:lpstr>
      <vt:lpstr>PowerPoint Presentation</vt:lpstr>
      <vt:lpstr>PowerPoint Presentation</vt:lpstr>
      <vt:lpstr>La membrane externe </vt:lpstr>
      <vt:lpstr>La membrane externe </vt:lpstr>
      <vt:lpstr>PowerPoint Presentation</vt:lpstr>
      <vt:lpstr>PowerPoint Presentation</vt:lpstr>
      <vt:lpstr>Ribosomes</vt:lpstr>
      <vt:lpstr>PowerPoint Presentation</vt:lpstr>
      <vt:lpstr>Capsule bacterienne </vt:lpstr>
      <vt:lpstr>Slime</vt:lpstr>
      <vt:lpstr>Le glycocalyx</vt:lpstr>
      <vt:lpstr>Le glycocalyx</vt:lpstr>
      <vt:lpstr>Flagelle </vt:lpstr>
      <vt:lpstr>PowerPoint Presentation</vt:lpstr>
      <vt:lpstr>Fimbrae/Pili </vt:lpstr>
      <vt:lpstr>Fimbrae/Pili </vt:lpstr>
      <vt:lpstr>PowerPoint Presentation</vt:lpstr>
      <vt:lpstr>PowerPoint Presentation</vt:lpstr>
      <vt:lpstr>PowerPoint Presentation</vt:lpstr>
      <vt:lpstr>Fimbrae/Pili </vt:lpstr>
      <vt:lpstr>PowerPoint Presentation</vt:lpstr>
      <vt:lpstr>La spore</vt:lpstr>
      <vt:lpstr>La spore</vt:lpstr>
      <vt:lpstr>PowerPoint Presentation</vt:lpstr>
      <vt:lpstr>Application</vt:lpstr>
      <vt:lpstr>L’identification bactérienne </vt:lpstr>
      <vt:lpstr>L’Identification bactérienne </vt:lpstr>
      <vt:lpstr>Conclusion </vt:lpstr>
      <vt:lpstr>Bibliographie </vt:lpstr>
    </vt:vector>
  </TitlesOfParts>
  <Company>rdkc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Utilisateur Windows</dc:creator>
  <cp:lastModifiedBy>Utilisateur Windows</cp:lastModifiedBy>
  <cp:revision>45</cp:revision>
  <dcterms:created xsi:type="dcterms:W3CDTF">2025-09-18T16:51:46Z</dcterms:created>
  <dcterms:modified xsi:type="dcterms:W3CDTF">2025-10-04T13:50:40Z</dcterms:modified>
</cp:coreProperties>
</file>