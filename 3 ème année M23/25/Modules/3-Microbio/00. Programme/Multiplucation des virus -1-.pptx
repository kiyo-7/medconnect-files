
<file path=[Content_Types].xml><?xml version="1.0" encoding="utf-8"?>
<Types xmlns="http://schemas.openxmlformats.org/package/2006/content-types">
  <Default Extension="png" ContentType="image/png"/>
  <Default Extension="m4a" ContentType="audio/mp4"/>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9"/>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96" d="100"/>
          <a:sy n="96" d="100"/>
        </p:scale>
        <p:origin x="86" y="1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CC5642-11B8-40C6-97C9-60078BA187DA}" type="datetimeFigureOut">
              <a:rPr lang="fr-FR" smtClean="0"/>
              <a:t>06/09/2020</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C9EC53-ACE8-4827-B8D2-5B144CD4291E}" type="slidenum">
              <a:rPr lang="fr-FR" smtClean="0"/>
              <a:t>‹N°›</a:t>
            </a:fld>
            <a:endParaRPr lang="fr-FR"/>
          </a:p>
        </p:txBody>
      </p:sp>
    </p:spTree>
    <p:extLst>
      <p:ext uri="{BB962C8B-B14F-4D97-AF65-F5344CB8AC3E}">
        <p14:creationId xmlns:p14="http://schemas.microsoft.com/office/powerpoint/2010/main" val="3886319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4AA8537F-3C7C-4232-9986-ADF7BF60F20E}" type="slidenum">
              <a:rPr lang="fr-FR" smtClean="0"/>
              <a:pPr/>
              <a:t>1</a:t>
            </a:fld>
            <a:endParaRPr lang="fr-FR"/>
          </a:p>
        </p:txBody>
      </p:sp>
    </p:spTree>
    <p:extLst>
      <p:ext uri="{BB962C8B-B14F-4D97-AF65-F5344CB8AC3E}">
        <p14:creationId xmlns:p14="http://schemas.microsoft.com/office/powerpoint/2010/main" val="11984164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7"/>
          <p:cNvSpPr>
            <a:spLocks noGrp="1" noChangeArrowheads="1"/>
          </p:cNvSpPr>
          <p:nvPr>
            <p:ph type="sldNum" sz="quarter" idx="5"/>
          </p:nvPr>
        </p:nvSpPr>
        <p:spPr>
          <a:noFill/>
        </p:spPr>
        <p:txBody>
          <a:bodyPr/>
          <a:lstStyle/>
          <a:p>
            <a:fld id="{335EAB21-E665-4D26-AC52-CEC434311122}" type="slidenum">
              <a:rPr lang="fr-FR"/>
              <a:pPr/>
              <a:t>7</a:t>
            </a:fld>
            <a:endParaRPr lang="fr-FR"/>
          </a:p>
        </p:txBody>
      </p:sp>
      <p:sp>
        <p:nvSpPr>
          <p:cNvPr id="197635" name="Rectangle 2"/>
          <p:cNvSpPr>
            <a:spLocks noGrp="1" noRot="1" noChangeAspect="1" noChangeArrowheads="1" noTextEdit="1"/>
          </p:cNvSpPr>
          <p:nvPr>
            <p:ph type="sldImg"/>
          </p:nvPr>
        </p:nvSpPr>
        <p:spPr>
          <a:ln/>
        </p:spPr>
      </p:sp>
      <p:sp>
        <p:nvSpPr>
          <p:cNvPr id="197636" name="Rectangle 3"/>
          <p:cNvSpPr>
            <a:spLocks noGrp="1" noChangeArrowheads="1"/>
          </p:cNvSpPr>
          <p:nvPr>
            <p:ph type="body" idx="1"/>
          </p:nvPr>
        </p:nvSpPr>
        <p:spPr>
          <a:noFill/>
          <a:ln/>
        </p:spPr>
        <p:txBody>
          <a:bodyPr/>
          <a:lstStyle/>
          <a:p>
            <a:pPr eaLnBrk="1" hangingPunct="1"/>
            <a:endParaRPr lang="fr-FR" smtClean="0"/>
          </a:p>
        </p:txBody>
      </p:sp>
    </p:spTree>
    <p:extLst>
      <p:ext uri="{BB962C8B-B14F-4D97-AF65-F5344CB8AC3E}">
        <p14:creationId xmlns:p14="http://schemas.microsoft.com/office/powerpoint/2010/main" val="35485021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7"/>
          <p:cNvSpPr>
            <a:spLocks noGrp="1" noChangeArrowheads="1"/>
          </p:cNvSpPr>
          <p:nvPr>
            <p:ph type="sldNum" sz="quarter" idx="5"/>
          </p:nvPr>
        </p:nvSpPr>
        <p:spPr>
          <a:noFill/>
        </p:spPr>
        <p:txBody>
          <a:bodyPr/>
          <a:lstStyle/>
          <a:p>
            <a:fld id="{F96E7FAD-92C8-4ECF-9364-23B32309C24C}" type="slidenum">
              <a:rPr lang="fr-FR"/>
              <a:pPr/>
              <a:t>8</a:t>
            </a:fld>
            <a:endParaRPr lang="fr-FR"/>
          </a:p>
        </p:txBody>
      </p:sp>
      <p:sp>
        <p:nvSpPr>
          <p:cNvPr id="198659" name="Rectangle 2"/>
          <p:cNvSpPr>
            <a:spLocks noGrp="1" noRot="1" noChangeAspect="1" noChangeArrowheads="1" noTextEdit="1"/>
          </p:cNvSpPr>
          <p:nvPr>
            <p:ph type="sldImg"/>
          </p:nvPr>
        </p:nvSpPr>
        <p:spPr>
          <a:ln/>
        </p:spPr>
      </p:sp>
      <p:sp>
        <p:nvSpPr>
          <p:cNvPr id="198660" name="Rectangle 3"/>
          <p:cNvSpPr>
            <a:spLocks noGrp="1" noChangeArrowheads="1"/>
          </p:cNvSpPr>
          <p:nvPr>
            <p:ph type="body" idx="1"/>
          </p:nvPr>
        </p:nvSpPr>
        <p:spPr>
          <a:noFill/>
          <a:ln/>
        </p:spPr>
        <p:txBody>
          <a:bodyPr/>
          <a:lstStyle/>
          <a:p>
            <a:pPr eaLnBrk="1" hangingPunct="1"/>
            <a:endParaRPr lang="fr-FR" smtClean="0"/>
          </a:p>
        </p:txBody>
      </p:sp>
    </p:spTree>
    <p:extLst>
      <p:ext uri="{BB962C8B-B14F-4D97-AF65-F5344CB8AC3E}">
        <p14:creationId xmlns:p14="http://schemas.microsoft.com/office/powerpoint/2010/main" val="2487164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7"/>
          <p:cNvSpPr>
            <a:spLocks noGrp="1" noChangeArrowheads="1"/>
          </p:cNvSpPr>
          <p:nvPr>
            <p:ph type="sldNum" sz="quarter" idx="5"/>
          </p:nvPr>
        </p:nvSpPr>
        <p:spPr>
          <a:noFill/>
        </p:spPr>
        <p:txBody>
          <a:bodyPr/>
          <a:lstStyle/>
          <a:p>
            <a:fld id="{97D35356-246E-464C-AAC6-30C01004C867}" type="slidenum">
              <a:rPr lang="fr-FR"/>
              <a:pPr/>
              <a:t>9</a:t>
            </a:fld>
            <a:endParaRPr lang="fr-FR"/>
          </a:p>
        </p:txBody>
      </p:sp>
      <p:sp>
        <p:nvSpPr>
          <p:cNvPr id="199683" name="Rectangle 2"/>
          <p:cNvSpPr>
            <a:spLocks noGrp="1" noRot="1" noChangeAspect="1" noChangeArrowheads="1" noTextEdit="1"/>
          </p:cNvSpPr>
          <p:nvPr>
            <p:ph type="sldImg"/>
          </p:nvPr>
        </p:nvSpPr>
        <p:spPr>
          <a:ln/>
        </p:spPr>
      </p:sp>
      <p:sp>
        <p:nvSpPr>
          <p:cNvPr id="199684" name="Rectangle 3"/>
          <p:cNvSpPr>
            <a:spLocks noGrp="1" noChangeArrowheads="1"/>
          </p:cNvSpPr>
          <p:nvPr>
            <p:ph type="body" idx="1"/>
          </p:nvPr>
        </p:nvSpPr>
        <p:spPr>
          <a:noFill/>
          <a:ln/>
        </p:spPr>
        <p:txBody>
          <a:bodyPr/>
          <a:lstStyle/>
          <a:p>
            <a:pPr eaLnBrk="1" hangingPunct="1"/>
            <a:endParaRPr lang="fr-FR" smtClean="0"/>
          </a:p>
        </p:txBody>
      </p:sp>
    </p:spTree>
    <p:extLst>
      <p:ext uri="{BB962C8B-B14F-4D97-AF65-F5344CB8AC3E}">
        <p14:creationId xmlns:p14="http://schemas.microsoft.com/office/powerpoint/2010/main" val="2490950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7"/>
          <p:cNvSpPr>
            <a:spLocks noGrp="1" noChangeArrowheads="1"/>
          </p:cNvSpPr>
          <p:nvPr>
            <p:ph type="sldNum" sz="quarter" idx="5"/>
          </p:nvPr>
        </p:nvSpPr>
        <p:spPr>
          <a:noFill/>
        </p:spPr>
        <p:txBody>
          <a:bodyPr/>
          <a:lstStyle/>
          <a:p>
            <a:fld id="{1E71A744-F63E-4DAF-89A9-D264AB2158F4}" type="slidenum">
              <a:rPr lang="fr-FR"/>
              <a:pPr/>
              <a:t>10</a:t>
            </a:fld>
            <a:endParaRPr lang="fr-FR"/>
          </a:p>
        </p:txBody>
      </p:sp>
      <p:sp>
        <p:nvSpPr>
          <p:cNvPr id="200707" name="Rectangle 2"/>
          <p:cNvSpPr>
            <a:spLocks noGrp="1" noRot="1" noChangeAspect="1" noChangeArrowheads="1" noTextEdit="1"/>
          </p:cNvSpPr>
          <p:nvPr>
            <p:ph type="sldImg"/>
          </p:nvPr>
        </p:nvSpPr>
        <p:spPr>
          <a:ln/>
        </p:spPr>
      </p:sp>
      <p:sp>
        <p:nvSpPr>
          <p:cNvPr id="200708" name="Rectangle 3"/>
          <p:cNvSpPr>
            <a:spLocks noGrp="1" noChangeArrowheads="1"/>
          </p:cNvSpPr>
          <p:nvPr>
            <p:ph type="body" idx="1"/>
          </p:nvPr>
        </p:nvSpPr>
        <p:spPr>
          <a:noFill/>
          <a:ln/>
        </p:spPr>
        <p:txBody>
          <a:bodyPr/>
          <a:lstStyle/>
          <a:p>
            <a:pPr eaLnBrk="1" hangingPunct="1"/>
            <a:endParaRPr lang="fr-FR" smtClean="0"/>
          </a:p>
        </p:txBody>
      </p:sp>
    </p:spTree>
    <p:extLst>
      <p:ext uri="{BB962C8B-B14F-4D97-AF65-F5344CB8AC3E}">
        <p14:creationId xmlns:p14="http://schemas.microsoft.com/office/powerpoint/2010/main" val="31040676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7"/>
          <p:cNvSpPr>
            <a:spLocks noGrp="1" noChangeArrowheads="1"/>
          </p:cNvSpPr>
          <p:nvPr>
            <p:ph type="sldNum" sz="quarter" idx="5"/>
          </p:nvPr>
        </p:nvSpPr>
        <p:spPr>
          <a:noFill/>
        </p:spPr>
        <p:txBody>
          <a:bodyPr/>
          <a:lstStyle/>
          <a:p>
            <a:fld id="{B5274304-2B77-46EC-B78C-1A16F17BFEB9}" type="slidenum">
              <a:rPr lang="fr-FR"/>
              <a:pPr/>
              <a:t>11</a:t>
            </a:fld>
            <a:endParaRPr lang="fr-FR"/>
          </a:p>
        </p:txBody>
      </p:sp>
      <p:sp>
        <p:nvSpPr>
          <p:cNvPr id="201731" name="Rectangle 2"/>
          <p:cNvSpPr>
            <a:spLocks noGrp="1" noRot="1" noChangeAspect="1" noChangeArrowheads="1" noTextEdit="1"/>
          </p:cNvSpPr>
          <p:nvPr>
            <p:ph type="sldImg"/>
          </p:nvPr>
        </p:nvSpPr>
        <p:spPr>
          <a:ln/>
        </p:spPr>
      </p:sp>
      <p:sp>
        <p:nvSpPr>
          <p:cNvPr id="201732" name="Rectangle 3"/>
          <p:cNvSpPr>
            <a:spLocks noGrp="1" noChangeArrowheads="1"/>
          </p:cNvSpPr>
          <p:nvPr>
            <p:ph type="body" idx="1"/>
          </p:nvPr>
        </p:nvSpPr>
        <p:spPr>
          <a:noFill/>
          <a:ln/>
        </p:spPr>
        <p:txBody>
          <a:bodyPr/>
          <a:lstStyle/>
          <a:p>
            <a:pPr eaLnBrk="1" hangingPunct="1"/>
            <a:endParaRPr lang="fr-FR" smtClean="0"/>
          </a:p>
        </p:txBody>
      </p:sp>
    </p:spTree>
    <p:extLst>
      <p:ext uri="{BB962C8B-B14F-4D97-AF65-F5344CB8AC3E}">
        <p14:creationId xmlns:p14="http://schemas.microsoft.com/office/powerpoint/2010/main" val="39134396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7"/>
          <p:cNvSpPr>
            <a:spLocks noGrp="1" noChangeArrowheads="1"/>
          </p:cNvSpPr>
          <p:nvPr>
            <p:ph type="sldNum" sz="quarter" idx="5"/>
          </p:nvPr>
        </p:nvSpPr>
        <p:spPr>
          <a:noFill/>
        </p:spPr>
        <p:txBody>
          <a:bodyPr/>
          <a:lstStyle/>
          <a:p>
            <a:fld id="{9CC2A06F-69C2-4A0C-8E33-468F1AD4AA45}" type="slidenum">
              <a:rPr lang="fr-FR"/>
              <a:pPr/>
              <a:t>12</a:t>
            </a:fld>
            <a:endParaRPr lang="fr-FR"/>
          </a:p>
        </p:txBody>
      </p:sp>
      <p:sp>
        <p:nvSpPr>
          <p:cNvPr id="202755" name="Rectangle 2"/>
          <p:cNvSpPr>
            <a:spLocks noGrp="1" noRot="1" noChangeAspect="1" noChangeArrowheads="1" noTextEdit="1"/>
          </p:cNvSpPr>
          <p:nvPr>
            <p:ph type="sldImg"/>
          </p:nvPr>
        </p:nvSpPr>
        <p:spPr>
          <a:ln/>
        </p:spPr>
      </p:sp>
      <p:sp>
        <p:nvSpPr>
          <p:cNvPr id="202756" name="Rectangle 3"/>
          <p:cNvSpPr>
            <a:spLocks noGrp="1" noChangeArrowheads="1"/>
          </p:cNvSpPr>
          <p:nvPr>
            <p:ph type="body" idx="1"/>
          </p:nvPr>
        </p:nvSpPr>
        <p:spPr>
          <a:noFill/>
          <a:ln/>
        </p:spPr>
        <p:txBody>
          <a:bodyPr/>
          <a:lstStyle/>
          <a:p>
            <a:pPr eaLnBrk="1" hangingPunct="1"/>
            <a:endParaRPr lang="fr-FR" smtClean="0"/>
          </a:p>
        </p:txBody>
      </p:sp>
    </p:spTree>
    <p:extLst>
      <p:ext uri="{BB962C8B-B14F-4D97-AF65-F5344CB8AC3E}">
        <p14:creationId xmlns:p14="http://schemas.microsoft.com/office/powerpoint/2010/main" val="42056491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7"/>
          <p:cNvSpPr>
            <a:spLocks noGrp="1" noChangeArrowheads="1"/>
          </p:cNvSpPr>
          <p:nvPr>
            <p:ph type="sldNum" sz="quarter" idx="5"/>
          </p:nvPr>
        </p:nvSpPr>
        <p:spPr>
          <a:noFill/>
        </p:spPr>
        <p:txBody>
          <a:bodyPr/>
          <a:lstStyle/>
          <a:p>
            <a:fld id="{D2621549-5A29-41D6-B306-440102348E43}" type="slidenum">
              <a:rPr lang="fr-FR"/>
              <a:pPr/>
              <a:t>13</a:t>
            </a:fld>
            <a:endParaRPr lang="fr-FR"/>
          </a:p>
        </p:txBody>
      </p:sp>
      <p:sp>
        <p:nvSpPr>
          <p:cNvPr id="203779" name="Rectangle 2"/>
          <p:cNvSpPr>
            <a:spLocks noGrp="1" noRot="1" noChangeAspect="1" noChangeArrowheads="1" noTextEdit="1"/>
          </p:cNvSpPr>
          <p:nvPr>
            <p:ph type="sldImg"/>
          </p:nvPr>
        </p:nvSpPr>
        <p:spPr>
          <a:ln/>
        </p:spPr>
      </p:sp>
      <p:sp>
        <p:nvSpPr>
          <p:cNvPr id="203780" name="Rectangle 3"/>
          <p:cNvSpPr>
            <a:spLocks noGrp="1" noChangeArrowheads="1"/>
          </p:cNvSpPr>
          <p:nvPr>
            <p:ph type="body" idx="1"/>
          </p:nvPr>
        </p:nvSpPr>
        <p:spPr>
          <a:noFill/>
          <a:ln/>
        </p:spPr>
        <p:txBody>
          <a:bodyPr/>
          <a:lstStyle/>
          <a:p>
            <a:pPr eaLnBrk="1" hangingPunct="1"/>
            <a:endParaRPr lang="fr-FR" smtClean="0"/>
          </a:p>
        </p:txBody>
      </p:sp>
    </p:spTree>
    <p:extLst>
      <p:ext uri="{BB962C8B-B14F-4D97-AF65-F5344CB8AC3E}">
        <p14:creationId xmlns:p14="http://schemas.microsoft.com/office/powerpoint/2010/main" val="11501572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7"/>
          <p:cNvSpPr>
            <a:spLocks noGrp="1" noChangeArrowheads="1"/>
          </p:cNvSpPr>
          <p:nvPr>
            <p:ph type="sldNum" sz="quarter" idx="5"/>
          </p:nvPr>
        </p:nvSpPr>
        <p:spPr>
          <a:noFill/>
        </p:spPr>
        <p:txBody>
          <a:bodyPr/>
          <a:lstStyle/>
          <a:p>
            <a:fld id="{F49274CA-5C01-4D36-A8E3-3F442675269A}" type="slidenum">
              <a:rPr lang="fr-FR"/>
              <a:pPr/>
              <a:t>14</a:t>
            </a:fld>
            <a:endParaRPr lang="fr-FR"/>
          </a:p>
        </p:txBody>
      </p:sp>
      <p:sp>
        <p:nvSpPr>
          <p:cNvPr id="204803" name="Rectangle 2"/>
          <p:cNvSpPr>
            <a:spLocks noGrp="1" noRot="1" noChangeAspect="1" noChangeArrowheads="1" noTextEdit="1"/>
          </p:cNvSpPr>
          <p:nvPr>
            <p:ph type="sldImg"/>
          </p:nvPr>
        </p:nvSpPr>
        <p:spPr>
          <a:ln/>
        </p:spPr>
      </p:sp>
      <p:sp>
        <p:nvSpPr>
          <p:cNvPr id="204804" name="Rectangle 3"/>
          <p:cNvSpPr>
            <a:spLocks noGrp="1" noChangeArrowheads="1"/>
          </p:cNvSpPr>
          <p:nvPr>
            <p:ph type="body" idx="1"/>
          </p:nvPr>
        </p:nvSpPr>
        <p:spPr>
          <a:noFill/>
          <a:ln/>
        </p:spPr>
        <p:txBody>
          <a:bodyPr/>
          <a:lstStyle/>
          <a:p>
            <a:pPr eaLnBrk="1" hangingPunct="1"/>
            <a:endParaRPr lang="fr-FR" smtClean="0"/>
          </a:p>
        </p:txBody>
      </p:sp>
    </p:spTree>
    <p:extLst>
      <p:ext uri="{BB962C8B-B14F-4D97-AF65-F5344CB8AC3E}">
        <p14:creationId xmlns:p14="http://schemas.microsoft.com/office/powerpoint/2010/main" val="30700846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7"/>
          <p:cNvSpPr>
            <a:spLocks noGrp="1" noChangeArrowheads="1"/>
          </p:cNvSpPr>
          <p:nvPr>
            <p:ph type="sldNum" sz="quarter" idx="5"/>
          </p:nvPr>
        </p:nvSpPr>
        <p:spPr>
          <a:noFill/>
        </p:spPr>
        <p:txBody>
          <a:bodyPr/>
          <a:lstStyle/>
          <a:p>
            <a:fld id="{60989488-83B3-4729-8309-E22F9EF071CA}" type="slidenum">
              <a:rPr lang="fr-FR"/>
              <a:pPr/>
              <a:t>15</a:t>
            </a:fld>
            <a:endParaRPr lang="fr-FR"/>
          </a:p>
        </p:txBody>
      </p:sp>
      <p:sp>
        <p:nvSpPr>
          <p:cNvPr id="205827" name="Rectangle 2"/>
          <p:cNvSpPr>
            <a:spLocks noGrp="1" noRot="1" noChangeAspect="1" noChangeArrowheads="1" noTextEdit="1"/>
          </p:cNvSpPr>
          <p:nvPr>
            <p:ph type="sldImg"/>
          </p:nvPr>
        </p:nvSpPr>
        <p:spPr>
          <a:ln/>
        </p:spPr>
      </p:sp>
      <p:sp>
        <p:nvSpPr>
          <p:cNvPr id="205828" name="Rectangle 3"/>
          <p:cNvSpPr>
            <a:spLocks noGrp="1" noChangeArrowheads="1"/>
          </p:cNvSpPr>
          <p:nvPr>
            <p:ph type="body" idx="1"/>
          </p:nvPr>
        </p:nvSpPr>
        <p:spPr>
          <a:noFill/>
          <a:ln/>
        </p:spPr>
        <p:txBody>
          <a:bodyPr/>
          <a:lstStyle/>
          <a:p>
            <a:pPr eaLnBrk="1" hangingPunct="1"/>
            <a:endParaRPr lang="fr-FR" smtClean="0"/>
          </a:p>
        </p:txBody>
      </p:sp>
    </p:spTree>
    <p:extLst>
      <p:ext uri="{BB962C8B-B14F-4D97-AF65-F5344CB8AC3E}">
        <p14:creationId xmlns:p14="http://schemas.microsoft.com/office/powerpoint/2010/main" val="2415834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7"/>
          <p:cNvSpPr>
            <a:spLocks noGrp="1" noChangeArrowheads="1"/>
          </p:cNvSpPr>
          <p:nvPr>
            <p:ph type="sldNum" sz="quarter" idx="5"/>
          </p:nvPr>
        </p:nvSpPr>
        <p:spPr>
          <a:noFill/>
        </p:spPr>
        <p:txBody>
          <a:bodyPr/>
          <a:lstStyle/>
          <a:p>
            <a:fld id="{34C0ACB5-561F-44BA-930A-09E7B87D15BF}" type="slidenum">
              <a:rPr lang="fr-FR"/>
              <a:pPr/>
              <a:t>16</a:t>
            </a:fld>
            <a:endParaRPr lang="fr-FR"/>
          </a:p>
        </p:txBody>
      </p:sp>
      <p:sp>
        <p:nvSpPr>
          <p:cNvPr id="206851" name="Rectangle 2"/>
          <p:cNvSpPr>
            <a:spLocks noGrp="1" noRot="1" noChangeAspect="1" noChangeArrowheads="1" noTextEdit="1"/>
          </p:cNvSpPr>
          <p:nvPr>
            <p:ph type="sldImg"/>
          </p:nvPr>
        </p:nvSpPr>
        <p:spPr>
          <a:ln/>
        </p:spPr>
      </p:sp>
      <p:sp>
        <p:nvSpPr>
          <p:cNvPr id="206852" name="Rectangle 3"/>
          <p:cNvSpPr>
            <a:spLocks noGrp="1" noChangeArrowheads="1"/>
          </p:cNvSpPr>
          <p:nvPr>
            <p:ph type="body" idx="1"/>
          </p:nvPr>
        </p:nvSpPr>
        <p:spPr>
          <a:noFill/>
          <a:ln/>
        </p:spPr>
        <p:txBody>
          <a:bodyPr/>
          <a:lstStyle/>
          <a:p>
            <a:pPr eaLnBrk="1" hangingPunct="1"/>
            <a:endParaRPr lang="fr-FR" smtClean="0"/>
          </a:p>
        </p:txBody>
      </p:sp>
    </p:spTree>
    <p:extLst>
      <p:ext uri="{BB962C8B-B14F-4D97-AF65-F5344CB8AC3E}">
        <p14:creationId xmlns:p14="http://schemas.microsoft.com/office/powerpoint/2010/main" val="1996225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7"/>
          <p:cNvSpPr>
            <a:spLocks noGrp="1" noChangeArrowheads="1"/>
          </p:cNvSpPr>
          <p:nvPr>
            <p:ph type="sldNum" sz="quarter" idx="5"/>
          </p:nvPr>
        </p:nvSpPr>
        <p:spPr>
          <a:noFill/>
        </p:spPr>
        <p:txBody>
          <a:bodyPr/>
          <a:lstStyle/>
          <a:p>
            <a:fld id="{CD615DCA-773C-45D1-9D12-AF99ECBF9783}" type="slidenum">
              <a:rPr lang="fr-FR"/>
              <a:pPr/>
              <a:t>17</a:t>
            </a:fld>
            <a:endParaRPr lang="fr-FR"/>
          </a:p>
        </p:txBody>
      </p:sp>
      <p:sp>
        <p:nvSpPr>
          <p:cNvPr id="207875" name="Rectangle 2"/>
          <p:cNvSpPr>
            <a:spLocks noGrp="1" noRot="1" noChangeAspect="1" noChangeArrowheads="1" noTextEdit="1"/>
          </p:cNvSpPr>
          <p:nvPr>
            <p:ph type="sldImg"/>
          </p:nvPr>
        </p:nvSpPr>
        <p:spPr>
          <a:ln/>
        </p:spPr>
      </p:sp>
      <p:sp>
        <p:nvSpPr>
          <p:cNvPr id="207876" name="Rectangle 3"/>
          <p:cNvSpPr>
            <a:spLocks noGrp="1" noChangeArrowheads="1"/>
          </p:cNvSpPr>
          <p:nvPr>
            <p:ph type="body" idx="1"/>
          </p:nvPr>
        </p:nvSpPr>
        <p:spPr>
          <a:noFill/>
          <a:ln/>
        </p:spPr>
        <p:txBody>
          <a:bodyPr/>
          <a:lstStyle/>
          <a:p>
            <a:pPr eaLnBrk="1" hangingPunct="1"/>
            <a:endParaRPr lang="fr-FR" smtClean="0"/>
          </a:p>
        </p:txBody>
      </p:sp>
    </p:spTree>
    <p:extLst>
      <p:ext uri="{BB962C8B-B14F-4D97-AF65-F5344CB8AC3E}">
        <p14:creationId xmlns:p14="http://schemas.microsoft.com/office/powerpoint/2010/main" val="35720840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fr-FR" smtClean="0"/>
              <a:t>Modifiez le style du titre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Modifier le style des sous-titres du masque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‹N°›</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fr-FR" smtClean="0"/>
              <a:t>Modifiez le style du titre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fr-FR" smtClean="0"/>
              <a:t>Modifiez le style du titre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9/6/2020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‹N°›</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9/6/2020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‹N°›</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fr-FR" smtClean="0"/>
              <a:t>Modifiez le style du titre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9/6/2020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‹N°›</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9/6/2020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9/6/2020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fr-FR" smtClean="0"/>
              <a:t>Modifiez le style du titre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5" name="Date Placeholder 4"/>
          <p:cNvSpPr>
            <a:spLocks noGrp="1"/>
          </p:cNvSpPr>
          <p:nvPr>
            <p:ph type="dt" sz="half" idx="10"/>
          </p:nvPr>
        </p:nvSpPr>
        <p:spPr/>
        <p:txBody>
          <a:bodyPr/>
          <a:lstStyle/>
          <a:p>
            <a:fld id="{B61BEF0D-F0BB-DE4B-95CE-6DB70DBA9567}" type="datetimeFigureOut">
              <a:rPr lang="en-US" dirty="0"/>
              <a:pPr/>
              <a:t>9/6/2020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fr-FR" smtClean="0"/>
              <a:t>Modifiez le style du titre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smtClean="0"/>
              <a:t>Cliquez sur l'icône pour ajouter une image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5" name="Date Placeholder 4"/>
          <p:cNvSpPr>
            <a:spLocks noGrp="1"/>
          </p:cNvSpPr>
          <p:nvPr>
            <p:ph type="dt" sz="half" idx="10"/>
          </p:nvPr>
        </p:nvSpPr>
        <p:spPr/>
        <p:txBody>
          <a:bodyPr/>
          <a:lstStyle/>
          <a:p>
            <a:fld id="{B61BEF0D-F0BB-DE4B-95CE-6DB70DBA9567}" type="datetimeFigureOut">
              <a:rPr lang="en-US" dirty="0"/>
              <a:pPr/>
              <a:t>9/6/2020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fr-FR" smtClean="0"/>
              <a:t>Modifiez le style du titre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9/6/2020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‹N°›</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fr-FR" smtClean="0"/>
              <a:t>Modifiez le style du titre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smtClean="0"/>
              <a:t>Modifier les styles du texte du masque</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9/6/2020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‹N°›</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fr-FR" smtClean="0"/>
              <a:t>Modifiez le style du titre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smtClean="0"/>
              <a:t>Modifier les styles du texte du masque</a:t>
            </a:r>
          </a:p>
        </p:txBody>
      </p:sp>
      <p:sp>
        <p:nvSpPr>
          <p:cNvPr id="5" name="Date Placeholder 4"/>
          <p:cNvSpPr>
            <a:spLocks noGrp="1"/>
          </p:cNvSpPr>
          <p:nvPr>
            <p:ph type="dt" sz="half" idx="10"/>
          </p:nvPr>
        </p:nvSpPr>
        <p:spPr/>
        <p:txBody>
          <a:bodyPr/>
          <a:lstStyle/>
          <a:p>
            <a:fld id="{B61BEF0D-F0BB-DE4B-95CE-6DB70DBA9567}" type="datetimeFigureOut">
              <a:rPr lang="en-US" dirty="0"/>
              <a:pPr/>
              <a:t>9/6/2020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fr-FR" smtClean="0"/>
              <a:t>Modifiez le style du titre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smtClean="0"/>
              <a:t>Modifier les styles du texte du masque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smtClean="0"/>
              <a:t>Modifier les styles du texte du masque</a:t>
            </a:r>
          </a:p>
        </p:txBody>
      </p:sp>
      <p:sp>
        <p:nvSpPr>
          <p:cNvPr id="5" name="Date Placeholder 4"/>
          <p:cNvSpPr>
            <a:spLocks noGrp="1"/>
          </p:cNvSpPr>
          <p:nvPr>
            <p:ph type="dt" sz="half" idx="10"/>
          </p:nvPr>
        </p:nvSpPr>
        <p:spPr/>
        <p:txBody>
          <a:bodyPr/>
          <a:lstStyle/>
          <a:p>
            <a:fld id="{B61BEF0D-F0BB-DE4B-95CE-6DB70DBA9567}" type="datetimeFigureOut">
              <a:rPr lang="en-US" dirty="0"/>
              <a:pPr/>
              <a:t>9/6/2020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fr-FR" smtClean="0"/>
              <a:t>Modifiez le style du titre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smtClean="0"/>
              <a:t>Modifier les styles du texte du masque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smtClean="0"/>
              <a:t>Modifier les styles du texte du masque</a:t>
            </a:r>
          </a:p>
        </p:txBody>
      </p:sp>
      <p:sp>
        <p:nvSpPr>
          <p:cNvPr id="5" name="Date Placeholder 4"/>
          <p:cNvSpPr>
            <a:spLocks noGrp="1"/>
          </p:cNvSpPr>
          <p:nvPr>
            <p:ph type="dt" sz="half" idx="10"/>
          </p:nvPr>
        </p:nvSpPr>
        <p:spPr/>
        <p:txBody>
          <a:bodyPr/>
          <a:lstStyle/>
          <a:p>
            <a:fld id="{B61BEF0D-F0BB-DE4B-95CE-6DB70DBA9567}" type="datetimeFigureOut">
              <a:rPr lang="en-US" dirty="0"/>
              <a:pPr/>
              <a:t>9/6/2020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Vertical Text Placeholder 2"/>
          <p:cNvSpPr>
            <a:spLocks noGrp="1"/>
          </p:cNvSpPr>
          <p:nvPr>
            <p:ph type="body" orient="vert" idx="1"/>
          </p:nvPr>
        </p:nvSpPr>
        <p:spPr/>
        <p:txBody>
          <a:bodyPr vert="eaVert" ancho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fr-FR" smtClean="0"/>
              <a:t>Modifiez le style du titre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fr-FR" smtClean="0"/>
              <a:t>Modifiez le style du titre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9/6/2020</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‹N°›</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4a"/><Relationship Id="rId1" Type="http://schemas.microsoft.com/office/2007/relationships/media" Target="../media/media2.m4a"/><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4a"/><Relationship Id="rId1" Type="http://schemas.microsoft.com/office/2007/relationships/media" Target="../media/media3.m4a"/><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4a"/><Relationship Id="rId1" Type="http://schemas.microsoft.com/office/2007/relationships/media" Target="../media/media4.m4a"/><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5.m4a"/><Relationship Id="rId1" Type="http://schemas.microsoft.com/office/2007/relationships/media" Target="../media/media5.m4a"/><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6.m4a"/><Relationship Id="rId1" Type="http://schemas.microsoft.com/office/2007/relationships/media" Target="../media/media6.m4a"/><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7.m4a"/><Relationship Id="rId1" Type="http://schemas.microsoft.com/office/2007/relationships/media" Target="../media/media7.m4a"/><Relationship Id="rId5" Type="http://schemas.openxmlformats.org/officeDocument/2006/relationships/image" Target="../media/image1.png"/><Relationship Id="rId4"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8.m4a"/><Relationship Id="rId1" Type="http://schemas.microsoft.com/office/2007/relationships/media" Target="../media/media8.m4a"/><Relationship Id="rId5" Type="http://schemas.openxmlformats.org/officeDocument/2006/relationships/image" Target="../media/image1.png"/><Relationship Id="rId4"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9.m4a"/><Relationship Id="rId1" Type="http://schemas.microsoft.com/office/2007/relationships/media" Target="../media/media9.m4a"/><Relationship Id="rId5" Type="http://schemas.openxmlformats.org/officeDocument/2006/relationships/image" Target="../media/image1.png"/><Relationship Id="rId4"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0.m4a"/><Relationship Id="rId1" Type="http://schemas.microsoft.com/office/2007/relationships/media" Target="../media/media10.m4a"/><Relationship Id="rId5" Type="http://schemas.openxmlformats.org/officeDocument/2006/relationships/image" Target="../media/image1.png"/><Relationship Id="rId4"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1.m4a"/><Relationship Id="rId1" Type="http://schemas.microsoft.com/office/2007/relationships/media" Target="../media/media11.m4a"/><Relationship Id="rId5" Type="http://schemas.openxmlformats.org/officeDocument/2006/relationships/image" Target="../media/image1.png"/><Relationship Id="rId4"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2.m4a"/><Relationship Id="rId1" Type="http://schemas.microsoft.com/office/2007/relationships/media" Target="../media/media12.m4a"/><Relationship Id="rId5" Type="http://schemas.openxmlformats.org/officeDocument/2006/relationships/image" Target="../media/image1.png"/><Relationship Id="rId4"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3.m4a"/><Relationship Id="rId1" Type="http://schemas.microsoft.com/office/2007/relationships/media" Target="../media/media13.m4a"/><Relationship Id="rId5" Type="http://schemas.openxmlformats.org/officeDocument/2006/relationships/image" Target="../media/image1.png"/><Relationship Id="rId4"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4.m4a"/><Relationship Id="rId1" Type="http://schemas.microsoft.com/office/2007/relationships/media" Target="../media/media14.m4a"/><Relationship Id="rId5" Type="http://schemas.openxmlformats.org/officeDocument/2006/relationships/image" Target="../media/image1.png"/><Relationship Id="rId4"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5.m4a"/><Relationship Id="rId1" Type="http://schemas.microsoft.com/office/2007/relationships/media" Target="../media/media15.m4a"/><Relationship Id="rId5" Type="http://schemas.openxmlformats.org/officeDocument/2006/relationships/image" Target="../media/image1.png"/><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p:cNvSpPr>
            <a:spLocks noGrp="1"/>
          </p:cNvSpPr>
          <p:nvPr>
            <p:ph type="subTitle" idx="1"/>
          </p:nvPr>
        </p:nvSpPr>
        <p:spPr>
          <a:xfrm>
            <a:off x="1738282" y="332656"/>
            <a:ext cx="7854696" cy="5739550"/>
          </a:xfrm>
        </p:spPr>
        <p:txBody>
          <a:bodyPr>
            <a:noAutofit/>
          </a:bodyPr>
          <a:lstStyle/>
          <a:p>
            <a:pPr algn="ctr"/>
            <a:endParaRPr lang="fr-FR" sz="3600" dirty="0">
              <a:latin typeface="Algerian" pitchFamily="82" charset="0"/>
            </a:endParaRPr>
          </a:p>
          <a:p>
            <a:pPr algn="ctr"/>
            <a:r>
              <a:rPr lang="fr-FR" sz="6600" dirty="0">
                <a:latin typeface="Algerian" pitchFamily="82" charset="0"/>
              </a:rPr>
              <a:t>Multiplication des virus</a:t>
            </a:r>
          </a:p>
          <a:p>
            <a:pPr algn="ctr"/>
            <a:r>
              <a:rPr lang="fr-FR" sz="3600" dirty="0">
                <a:latin typeface="Algerian" pitchFamily="82" charset="0"/>
              </a:rPr>
              <a:t>DR</a:t>
            </a:r>
            <a:r>
              <a:rPr lang="fr-FR" sz="3600" dirty="0">
                <a:latin typeface="Algerian" pitchFamily="82" charset="0"/>
              </a:rPr>
              <a:t>. L .BECHIR</a:t>
            </a:r>
          </a:p>
          <a:p>
            <a:pPr algn="ctr"/>
            <a:r>
              <a:rPr lang="fr-FR" sz="3600" dirty="0">
                <a:latin typeface="Algerian" pitchFamily="82" charset="0"/>
              </a:rPr>
              <a:t>Laboratoire de Bactériologie</a:t>
            </a:r>
          </a:p>
          <a:p>
            <a:pPr algn="ctr"/>
            <a:r>
              <a:rPr lang="fr-FR" sz="3600" dirty="0">
                <a:latin typeface="Algerian" pitchFamily="82" charset="0"/>
              </a:rPr>
              <a:t>Faculté de Médecine de CONSTANTINE</a:t>
            </a:r>
          </a:p>
          <a:p>
            <a:pPr algn="ctr"/>
            <a:endParaRPr lang="fr-FR" sz="3600" b="1" dirty="0">
              <a:latin typeface="Algerian" pitchFamily="82" charset="0"/>
            </a:endParaRPr>
          </a:p>
        </p:txBody>
      </p:sp>
      <p:pic>
        <p:nvPicPr>
          <p:cNvPr id="2" name="Son enregistré">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5851526" y="3184526"/>
            <a:ext cx="487363" cy="487363"/>
          </a:xfrm>
          <a:prstGeom prst="rect">
            <a:avLst/>
          </a:prstGeom>
        </p:spPr>
      </p:pic>
    </p:spTree>
    <p:extLst>
      <p:ext uri="{BB962C8B-B14F-4D97-AF65-F5344CB8AC3E}">
        <p14:creationId xmlns:p14="http://schemas.microsoft.com/office/powerpoint/2010/main" val="4259246852"/>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27718" fill="hold"/>
                                        <p:tgtEl>
                                          <p:spTgt spid="2"/>
                                        </p:tgtEl>
                                      </p:cBhvr>
                                    </p:cmd>
                                  </p:childTnLst>
                                </p:cTn>
                              </p:par>
                            </p:childTnLst>
                          </p:cTn>
                        </p:par>
                      </p:childTnLst>
                    </p:cTn>
                  </p:par>
                </p:childTnLst>
              </p:cTn>
              <p:nextCondLst>
                <p:cond evt="onClick" delay="0">
                  <p:tgtEl>
                    <p:spTgt spid="2"/>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469202" y="980728"/>
            <a:ext cx="6589199" cy="924272"/>
          </a:xfrm>
        </p:spPr>
        <p:txBody>
          <a:bodyPr/>
          <a:lstStyle/>
          <a:p>
            <a:r>
              <a:rPr lang="fr-FR" dirty="0" smtClean="0"/>
              <a:t>INTRODUCTION</a:t>
            </a:r>
            <a:endParaRPr lang="fr-FR" dirty="0"/>
          </a:p>
        </p:txBody>
      </p:sp>
      <p:sp>
        <p:nvSpPr>
          <p:cNvPr id="3" name="Espace réservé du contenu 2"/>
          <p:cNvSpPr>
            <a:spLocks noGrp="1"/>
          </p:cNvSpPr>
          <p:nvPr>
            <p:ph idx="1"/>
          </p:nvPr>
        </p:nvSpPr>
        <p:spPr/>
        <p:txBody>
          <a:bodyPr>
            <a:normAutofit/>
          </a:bodyPr>
          <a:lstStyle/>
          <a:p>
            <a:r>
              <a:rPr lang="fr-FR" sz="2400" dirty="0"/>
              <a:t>L’étude des étapes de la multiplication virale est indispensable pour : • comprendre la pathogenèse des infections virales  • mettre au point de nouveaux médicaments antiviraux </a:t>
            </a:r>
          </a:p>
          <a:p>
            <a:r>
              <a:rPr lang="fr-FR" sz="2400" dirty="0"/>
              <a:t>L’étude de la X virale  →  intérêt en sciences fondamentales </a:t>
            </a:r>
          </a:p>
        </p:txBody>
      </p:sp>
      <p:pic>
        <p:nvPicPr>
          <p:cNvPr id="4" name="Son enregistré">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5851526" y="3184526"/>
            <a:ext cx="487363" cy="487363"/>
          </a:xfrm>
          <a:prstGeom prst="rect">
            <a:avLst/>
          </a:prstGeom>
        </p:spPr>
      </p:pic>
    </p:spTree>
    <p:extLst>
      <p:ext uri="{BB962C8B-B14F-4D97-AF65-F5344CB8AC3E}">
        <p14:creationId xmlns:p14="http://schemas.microsoft.com/office/powerpoint/2010/main" val="386122335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21170" fill="hold"/>
                                        <p:tgtEl>
                                          <p:spTgt spid="4"/>
                                        </p:tgtEl>
                                      </p:cBhvr>
                                    </p:cmd>
                                  </p:childTnLst>
                                </p:cTn>
                              </p:par>
                            </p:childTnLst>
                          </p:cTn>
                        </p:par>
                      </p:childTnLst>
                    </p:cTn>
                  </p:par>
                </p:childTnLst>
              </p:cTn>
              <p:nextCondLst>
                <p:cond evt="onClick" delay="0">
                  <p:tgtEl>
                    <p:spTgt spid="4"/>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p:cNvSpPr>
            <a:spLocks noGrp="1"/>
          </p:cNvSpPr>
          <p:nvPr>
            <p:ph type="title"/>
          </p:nvPr>
        </p:nvSpPr>
        <p:spPr>
          <a:xfrm>
            <a:off x="1952596" y="0"/>
            <a:ext cx="8229600" cy="1844824"/>
          </a:xfrm>
        </p:spPr>
        <p:txBody>
          <a:bodyPr>
            <a:normAutofit fontScale="90000"/>
          </a:bodyPr>
          <a:lstStyle/>
          <a:p>
            <a:pPr lvl="0"/>
            <a:r>
              <a:rPr lang="fr-FR" b="1" dirty="0" smtClean="0"/>
              <a:t/>
            </a:r>
            <a:br>
              <a:rPr lang="fr-FR" b="1" dirty="0" smtClean="0"/>
            </a:br>
            <a:r>
              <a:rPr lang="fr-FR" b="1" dirty="0" smtClean="0"/>
              <a:t>1-CONDITIONS NÉCESSAIRES À LA MULTIPLICATION D'UN VIRUS </a:t>
            </a:r>
            <a:r>
              <a:rPr lang="fr-FR" dirty="0" smtClean="0"/>
              <a:t>: </a:t>
            </a:r>
            <a:br>
              <a:rPr lang="fr-FR" dirty="0" smtClean="0"/>
            </a:br>
            <a:endParaRPr lang="fr-FR" dirty="0"/>
          </a:p>
        </p:txBody>
      </p:sp>
      <p:sp>
        <p:nvSpPr>
          <p:cNvPr id="3" name="Espace réservé du contenu 2"/>
          <p:cNvSpPr>
            <a:spLocks noGrp="1"/>
          </p:cNvSpPr>
          <p:nvPr>
            <p:ph idx="1"/>
          </p:nvPr>
        </p:nvSpPr>
        <p:spPr>
          <a:xfrm>
            <a:off x="2999657" y="2170546"/>
            <a:ext cx="7058744" cy="3777622"/>
          </a:xfrm>
        </p:spPr>
        <p:txBody>
          <a:bodyPr>
            <a:normAutofit/>
          </a:bodyPr>
          <a:lstStyle/>
          <a:p>
            <a:pPr lvl="0"/>
            <a:r>
              <a:rPr lang="fr-FR" sz="2000" dirty="0"/>
              <a:t>Leur simplicité extrême </a:t>
            </a:r>
            <a:r>
              <a:rPr lang="fr-FR" sz="2000" b="1" dirty="0"/>
              <a:t>empêche</a:t>
            </a:r>
            <a:r>
              <a:rPr lang="fr-FR" sz="2000" dirty="0"/>
              <a:t> </a:t>
            </a:r>
            <a:r>
              <a:rPr lang="fr-FR" sz="2000" b="1" dirty="0"/>
              <a:t>les virus de se multiplier</a:t>
            </a:r>
            <a:r>
              <a:rPr lang="fr-FR" sz="2000" dirty="0"/>
              <a:t>, du moins par eux-mêmes.</a:t>
            </a:r>
            <a:r>
              <a:rPr lang="fr-FR" sz="2000" b="1" i="1" dirty="0"/>
              <a:t> </a:t>
            </a:r>
            <a:endParaRPr lang="fr-FR" sz="2000" dirty="0"/>
          </a:p>
          <a:p>
            <a:pPr lvl="0"/>
            <a:r>
              <a:rPr lang="fr-FR" sz="2000" dirty="0"/>
              <a:t>Se multiplier pour un être vivant est reproduire un édifice fait d'un enchevêtrement de macromolécules qui est à la fois très complexe et très précis, très organisé. Pour réussir un tel édifice, il faut quatre sortes d'éléments.</a:t>
            </a:r>
          </a:p>
          <a:p>
            <a:pPr lvl="0"/>
            <a:r>
              <a:rPr lang="fr-FR" sz="2000" dirty="0"/>
              <a:t>1) Un plan de travail : c'est l'information génétique. Le virus a cette information dans son génome : c'est la séquence des bases de son génome, DNA ou RNA.</a:t>
            </a:r>
          </a:p>
          <a:p>
            <a:endParaRPr lang="fr-FR" dirty="0"/>
          </a:p>
        </p:txBody>
      </p:sp>
      <p:pic>
        <p:nvPicPr>
          <p:cNvPr id="2" name="Son enregistré">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5851526" y="3184526"/>
            <a:ext cx="487363" cy="487363"/>
          </a:xfrm>
          <a:prstGeom prst="rect">
            <a:avLst/>
          </a:prstGeom>
        </p:spPr>
      </p:pic>
    </p:spTree>
    <p:extLst>
      <p:ext uri="{BB962C8B-B14F-4D97-AF65-F5344CB8AC3E}">
        <p14:creationId xmlns:p14="http://schemas.microsoft.com/office/powerpoint/2010/main" val="62192287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34591" fill="hold"/>
                                        <p:tgtEl>
                                          <p:spTgt spid="2"/>
                                        </p:tgtEl>
                                      </p:cBhvr>
                                    </p:cmd>
                                  </p:childTnLst>
                                </p:cTn>
                              </p:par>
                            </p:childTnLst>
                          </p:cTn>
                        </p:par>
                      </p:childTnLst>
                    </p:cTn>
                  </p:par>
                </p:childTnLst>
              </p:cTn>
              <p:nextCondLst>
                <p:cond evt="onClick" delay="0">
                  <p:tgtEl>
                    <p:spTgt spid="2"/>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466416" y="1340768"/>
            <a:ext cx="6591985" cy="3384376"/>
          </a:xfrm>
        </p:spPr>
        <p:txBody>
          <a:bodyPr/>
          <a:lstStyle/>
          <a:p>
            <a:pPr lvl="0"/>
            <a:r>
              <a:rPr lang="fr-FR" sz="2000" dirty="0"/>
              <a:t>2) La matière première : en biologie, de petites molécules, acides aminés, acides gras, molécules organiques simples, sels minéraux. Le virus qui doit se multiplier n'a pas de réserves de petites molécules. Pas de vacuoles, pas de système digestif, même primitif, qui lui permettrait de puiser ces composants dans le milieu extérieur </a:t>
            </a:r>
          </a:p>
          <a:p>
            <a:endParaRPr lang="fr-FR" dirty="0"/>
          </a:p>
        </p:txBody>
      </p:sp>
      <p:pic>
        <p:nvPicPr>
          <p:cNvPr id="2" name="Son enregistré">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5851526" y="3184526"/>
            <a:ext cx="487363" cy="487363"/>
          </a:xfrm>
          <a:prstGeom prst="rect">
            <a:avLst/>
          </a:prstGeom>
        </p:spPr>
      </p:pic>
    </p:spTree>
    <p:extLst>
      <p:ext uri="{BB962C8B-B14F-4D97-AF65-F5344CB8AC3E}">
        <p14:creationId xmlns:p14="http://schemas.microsoft.com/office/powerpoint/2010/main" val="25453081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18416" fill="hold"/>
                                        <p:tgtEl>
                                          <p:spTgt spid="2"/>
                                        </p:tgtEl>
                                      </p:cBhvr>
                                    </p:cmd>
                                  </p:childTnLst>
                                </p:cTn>
                              </p:par>
                            </p:childTnLst>
                          </p:cTn>
                        </p:par>
                      </p:childTnLst>
                    </p:cTn>
                  </p:par>
                </p:childTnLst>
              </p:cTn>
              <p:nextCondLst>
                <p:cond evt="onClick" delay="0">
                  <p:tgtEl>
                    <p:spTgt spid="2"/>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466416" y="836712"/>
            <a:ext cx="6591985" cy="5074510"/>
          </a:xfrm>
        </p:spPr>
        <p:txBody>
          <a:bodyPr>
            <a:normAutofit/>
          </a:bodyPr>
          <a:lstStyle/>
          <a:p>
            <a:r>
              <a:rPr lang="fr-FR" sz="2000" dirty="0"/>
              <a:t>3) Autre élément manquant au virus : des sources d'énergie. Toute édification consomme de l'énergie. En biologie, c'est très souvent l'énergie libérée par hydrolyse de composés tels que l'ATP. Le virus n'a pas de réserve d'ATP ni les moyens d'en constituer ; il n’a aucune source d’énergie propre. </a:t>
            </a:r>
          </a:p>
          <a:p>
            <a:endParaRPr lang="fr-FR" sz="2000" dirty="0"/>
          </a:p>
          <a:p>
            <a:r>
              <a:rPr lang="fr-FR" sz="2000" dirty="0"/>
              <a:t>4) Enfin, un élément manque encore au virus : l'assemblage des petites molécules en macromolécules exige des </a:t>
            </a:r>
            <a:r>
              <a:rPr lang="fr-FR" sz="2000" dirty="0" err="1"/>
              <a:t>des</a:t>
            </a:r>
            <a:r>
              <a:rPr lang="fr-FR" sz="2000" dirty="0"/>
              <a:t> enzymes. Sans enzymes, les assemblages ne se feraient pas.</a:t>
            </a:r>
          </a:p>
          <a:p>
            <a:endParaRPr lang="fr-FR" dirty="0" smtClean="0"/>
          </a:p>
          <a:p>
            <a:endParaRPr lang="fr-FR" dirty="0"/>
          </a:p>
        </p:txBody>
      </p:sp>
      <p:pic>
        <p:nvPicPr>
          <p:cNvPr id="2" name="Son enregistré">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5851526" y="3184526"/>
            <a:ext cx="487363" cy="487363"/>
          </a:xfrm>
          <a:prstGeom prst="rect">
            <a:avLst/>
          </a:prstGeom>
        </p:spPr>
      </p:pic>
    </p:spTree>
    <p:extLst>
      <p:ext uri="{BB962C8B-B14F-4D97-AF65-F5344CB8AC3E}">
        <p14:creationId xmlns:p14="http://schemas.microsoft.com/office/powerpoint/2010/main" val="207283704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52842" fill="hold"/>
                                        <p:tgtEl>
                                          <p:spTgt spid="2"/>
                                        </p:tgtEl>
                                      </p:cBhvr>
                                    </p:cmd>
                                  </p:childTnLst>
                                </p:cTn>
                              </p:par>
                            </p:childTnLst>
                          </p:cTn>
                        </p:par>
                      </p:childTnLst>
                    </p:cTn>
                  </p:par>
                </p:childTnLst>
              </p:cTn>
              <p:nextCondLst>
                <p:cond evt="onClick" delay="0">
                  <p:tgtEl>
                    <p:spTgt spid="2"/>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lstStyle/>
          <a:p>
            <a:endParaRPr lang="fr-FR" dirty="0" smtClean="0"/>
          </a:p>
          <a:p>
            <a:r>
              <a:rPr lang="fr-FR" sz="2400" dirty="0"/>
              <a:t>Donc, la multiplication d'un virus consiste en l'introduction du génome viral dans </a:t>
            </a:r>
            <a:r>
              <a:rPr lang="fr-FR" sz="2400" b="1" dirty="0"/>
              <a:t>une cellule</a:t>
            </a:r>
            <a:r>
              <a:rPr lang="fr-FR" sz="2400" dirty="0"/>
              <a:t> et </a:t>
            </a:r>
            <a:r>
              <a:rPr lang="fr-FR" sz="2400" b="1" dirty="0"/>
              <a:t>c'est elle qui va fabriquer de nouveaux virus,</a:t>
            </a:r>
            <a:r>
              <a:rPr lang="fr-FR" sz="2400" dirty="0"/>
              <a:t> selon un procédé de biosynthèse que l'on appelle </a:t>
            </a:r>
            <a:r>
              <a:rPr lang="fr-FR" sz="2400" b="1" dirty="0"/>
              <a:t>réplication</a:t>
            </a:r>
            <a:r>
              <a:rPr lang="fr-FR" sz="2400" dirty="0"/>
              <a:t>.</a:t>
            </a:r>
          </a:p>
          <a:p>
            <a:endParaRPr lang="fr-FR" dirty="0"/>
          </a:p>
        </p:txBody>
      </p:sp>
      <p:pic>
        <p:nvPicPr>
          <p:cNvPr id="2" name="Son enregistré">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5851526" y="3184526"/>
            <a:ext cx="487363" cy="487363"/>
          </a:xfrm>
          <a:prstGeom prst="rect">
            <a:avLst/>
          </a:prstGeom>
        </p:spPr>
      </p:pic>
    </p:spTree>
    <p:extLst>
      <p:ext uri="{BB962C8B-B14F-4D97-AF65-F5344CB8AC3E}">
        <p14:creationId xmlns:p14="http://schemas.microsoft.com/office/powerpoint/2010/main" val="4083317902"/>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26464" fill="hold"/>
                                        <p:tgtEl>
                                          <p:spTgt spid="2"/>
                                        </p:tgtEl>
                                      </p:cBhvr>
                                    </p:cmd>
                                  </p:childTnLst>
                                </p:cTn>
                              </p:par>
                            </p:childTnLst>
                          </p:cTn>
                        </p:par>
                      </p:childTnLst>
                    </p:cTn>
                  </p:par>
                </p:childTnLst>
              </p:cTn>
              <p:nextCondLst>
                <p:cond evt="onClick" delay="0">
                  <p:tgtEl>
                    <p:spTgt spid="2"/>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4"/>
          <p:cNvSpPr>
            <a:spLocks noChangeArrowheads="1"/>
          </p:cNvSpPr>
          <p:nvPr/>
        </p:nvSpPr>
        <p:spPr bwMode="auto">
          <a:xfrm>
            <a:off x="1992314" y="404814"/>
            <a:ext cx="8207375" cy="5976937"/>
          </a:xfrm>
          <a:prstGeom prst="rect">
            <a:avLst/>
          </a:prstGeom>
          <a:solidFill>
            <a:srgbClr val="FFFFCC"/>
          </a:solidFill>
          <a:ln w="9525">
            <a:solidFill>
              <a:schemeClr val="tx1"/>
            </a:solidFill>
            <a:miter lim="800000"/>
            <a:headEnd/>
            <a:tailEnd/>
          </a:ln>
        </p:spPr>
        <p:txBody>
          <a:bodyPr wrap="none" anchor="ctr"/>
          <a:lstStyle/>
          <a:p>
            <a:endParaRPr lang="fr-FR"/>
          </a:p>
        </p:txBody>
      </p:sp>
      <p:sp>
        <p:nvSpPr>
          <p:cNvPr id="59395" name="Text Box 5"/>
          <p:cNvSpPr txBox="1">
            <a:spLocks noChangeArrowheads="1"/>
          </p:cNvSpPr>
          <p:nvPr/>
        </p:nvSpPr>
        <p:spPr bwMode="auto">
          <a:xfrm>
            <a:off x="1992314" y="404814"/>
            <a:ext cx="8207375" cy="5139869"/>
          </a:xfrm>
          <a:prstGeom prst="rect">
            <a:avLst/>
          </a:prstGeom>
          <a:noFill/>
          <a:ln w="9525">
            <a:noFill/>
            <a:miter lim="800000"/>
            <a:headEnd/>
            <a:tailEnd/>
          </a:ln>
        </p:spPr>
        <p:txBody>
          <a:bodyPr>
            <a:spAutoFit/>
          </a:bodyPr>
          <a:lstStyle/>
          <a:p>
            <a:pPr>
              <a:buClr>
                <a:srgbClr val="0000FF"/>
              </a:buClr>
              <a:buFont typeface="Arial" charset="0"/>
              <a:buChar char="●"/>
            </a:pPr>
            <a:r>
              <a:rPr lang="fr-FR" sz="4000" dirty="0"/>
              <a:t> </a:t>
            </a:r>
            <a:r>
              <a:rPr lang="fr-FR" sz="3600" dirty="0"/>
              <a:t>Le virus apporte seulement l’information génétique nécessaire à la fabrication de nouveaux virus et détourne les voies métaboliques de la cellule à son profit.</a:t>
            </a:r>
          </a:p>
          <a:p>
            <a:pPr>
              <a:buClr>
                <a:srgbClr val="0000FF"/>
              </a:buClr>
              <a:buFont typeface="Arial" charset="0"/>
              <a:buChar char="●"/>
            </a:pPr>
            <a:r>
              <a:rPr lang="fr-FR" sz="3600" dirty="0"/>
              <a:t> Pour qu’il se multiplie le virus doit infecter une cellule </a:t>
            </a:r>
            <a:r>
              <a:rPr lang="fr-FR" sz="3600" dirty="0">
                <a:solidFill>
                  <a:srgbClr val="FF0066"/>
                </a:solidFill>
              </a:rPr>
              <a:t>(Le spectre d’hôte est défini par l’espèce et le tissu cellulaire infecté)</a:t>
            </a:r>
            <a:endParaRPr lang="fr-FR" sz="3600" dirty="0">
              <a:solidFill>
                <a:srgbClr val="FF0066"/>
              </a:solidFill>
            </a:endParaRPr>
          </a:p>
        </p:txBody>
      </p:sp>
      <p:pic>
        <p:nvPicPr>
          <p:cNvPr id="2" name="Son enregistré">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5851526" y="3184526"/>
            <a:ext cx="487363" cy="487363"/>
          </a:xfrm>
          <a:prstGeom prst="rect">
            <a:avLst/>
          </a:prstGeom>
        </p:spPr>
      </p:pic>
    </p:spTree>
    <p:extLst>
      <p:ext uri="{BB962C8B-B14F-4D97-AF65-F5344CB8AC3E}">
        <p14:creationId xmlns:p14="http://schemas.microsoft.com/office/powerpoint/2010/main" val="186034090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13484" fill="hold"/>
                                        <p:tgtEl>
                                          <p:spTgt spid="2"/>
                                        </p:tgtEl>
                                      </p:cBhvr>
                                    </p:cmd>
                                  </p:childTnLst>
                                </p:cTn>
                              </p:par>
                            </p:childTnLst>
                          </p:cTn>
                        </p:par>
                      </p:childTnLst>
                    </p:cTn>
                  </p:par>
                </p:childTnLst>
              </p:cTn>
              <p:nextCondLst>
                <p:cond evt="onClick" delay="0">
                  <p:tgtEl>
                    <p:spTgt spid="2"/>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2566989" y="260350"/>
            <a:ext cx="7005637" cy="1143000"/>
          </a:xfrm>
          <a:solidFill>
            <a:schemeClr val="bg1"/>
          </a:solidFill>
          <a:ln w="12700">
            <a:solidFill>
              <a:schemeClr val="tx1"/>
            </a:solidFill>
          </a:ln>
        </p:spPr>
        <p:txBody>
          <a:bodyPr/>
          <a:lstStyle/>
          <a:p>
            <a:pPr eaLnBrk="1" hangingPunct="1"/>
            <a:r>
              <a:rPr lang="fr-FR" sz="4800" b="1">
                <a:solidFill>
                  <a:srgbClr val="FF0000"/>
                </a:solidFill>
              </a:rPr>
              <a:t>Le spectre d’hôte</a:t>
            </a:r>
          </a:p>
        </p:txBody>
      </p:sp>
      <p:sp>
        <p:nvSpPr>
          <p:cNvPr id="60419" name="Rectangle 3"/>
          <p:cNvSpPr>
            <a:spLocks noGrp="1" noChangeArrowheads="1"/>
          </p:cNvSpPr>
          <p:nvPr>
            <p:ph idx="1"/>
          </p:nvPr>
        </p:nvSpPr>
        <p:spPr/>
        <p:txBody>
          <a:bodyPr/>
          <a:lstStyle/>
          <a:p>
            <a:pPr eaLnBrk="1" hangingPunct="1"/>
            <a:endParaRPr lang="fr-FR" smtClean="0"/>
          </a:p>
        </p:txBody>
      </p:sp>
      <p:pic>
        <p:nvPicPr>
          <p:cNvPr id="60420" name="Picture 4" descr="spectre%20hote"/>
          <p:cNvPicPr>
            <a:picLocks noChangeAspect="1" noChangeArrowheads="1"/>
          </p:cNvPicPr>
          <p:nvPr/>
        </p:nvPicPr>
        <p:blipFill>
          <a:blip r:embed="rId3"/>
          <a:srcRect/>
          <a:stretch>
            <a:fillRect/>
          </a:stretch>
        </p:blipFill>
        <p:spPr bwMode="auto">
          <a:xfrm>
            <a:off x="1524000" y="1557338"/>
            <a:ext cx="9144000" cy="5300662"/>
          </a:xfrm>
          <a:prstGeom prst="rect">
            <a:avLst/>
          </a:prstGeom>
          <a:noFill/>
          <a:ln w="9525">
            <a:noFill/>
            <a:miter lim="800000"/>
            <a:headEnd/>
            <a:tailEnd/>
          </a:ln>
        </p:spPr>
      </p:pic>
      <p:sp>
        <p:nvSpPr>
          <p:cNvPr id="60421" name="Line 5"/>
          <p:cNvSpPr>
            <a:spLocks noChangeShapeType="1"/>
          </p:cNvSpPr>
          <p:nvPr/>
        </p:nvSpPr>
        <p:spPr bwMode="auto">
          <a:xfrm>
            <a:off x="1703389" y="1628775"/>
            <a:ext cx="8713787" cy="0"/>
          </a:xfrm>
          <a:prstGeom prst="line">
            <a:avLst/>
          </a:prstGeom>
          <a:noFill/>
          <a:ln w="9525">
            <a:solidFill>
              <a:schemeClr val="tx1"/>
            </a:solidFill>
            <a:round/>
            <a:headEnd/>
            <a:tailEnd/>
          </a:ln>
        </p:spPr>
        <p:txBody>
          <a:bodyPr/>
          <a:lstStyle/>
          <a:p>
            <a:endParaRPr lang="fr-FR"/>
          </a:p>
        </p:txBody>
      </p:sp>
      <p:sp>
        <p:nvSpPr>
          <p:cNvPr id="60422" name="Line 6"/>
          <p:cNvSpPr>
            <a:spLocks noChangeShapeType="1"/>
          </p:cNvSpPr>
          <p:nvPr/>
        </p:nvSpPr>
        <p:spPr bwMode="auto">
          <a:xfrm>
            <a:off x="1703388" y="1628776"/>
            <a:ext cx="0" cy="5040313"/>
          </a:xfrm>
          <a:prstGeom prst="line">
            <a:avLst/>
          </a:prstGeom>
          <a:noFill/>
          <a:ln w="9525">
            <a:solidFill>
              <a:schemeClr val="tx1"/>
            </a:solidFill>
            <a:round/>
            <a:headEnd/>
            <a:tailEnd/>
          </a:ln>
        </p:spPr>
        <p:txBody>
          <a:bodyPr/>
          <a:lstStyle/>
          <a:p>
            <a:endParaRPr lang="fr-FR"/>
          </a:p>
        </p:txBody>
      </p:sp>
      <p:sp>
        <p:nvSpPr>
          <p:cNvPr id="60423" name="Line 7"/>
          <p:cNvSpPr>
            <a:spLocks noChangeShapeType="1"/>
          </p:cNvSpPr>
          <p:nvPr/>
        </p:nvSpPr>
        <p:spPr bwMode="auto">
          <a:xfrm>
            <a:off x="10417175" y="1628776"/>
            <a:ext cx="0" cy="5040313"/>
          </a:xfrm>
          <a:prstGeom prst="line">
            <a:avLst/>
          </a:prstGeom>
          <a:noFill/>
          <a:ln w="9525">
            <a:solidFill>
              <a:schemeClr val="tx1"/>
            </a:solidFill>
            <a:round/>
            <a:headEnd/>
            <a:tailEnd/>
          </a:ln>
        </p:spPr>
        <p:txBody>
          <a:bodyPr/>
          <a:lstStyle/>
          <a:p>
            <a:endParaRPr lang="fr-FR"/>
          </a:p>
        </p:txBody>
      </p:sp>
      <p:sp>
        <p:nvSpPr>
          <p:cNvPr id="60424" name="Line 8"/>
          <p:cNvSpPr>
            <a:spLocks noChangeShapeType="1"/>
          </p:cNvSpPr>
          <p:nvPr/>
        </p:nvSpPr>
        <p:spPr bwMode="auto">
          <a:xfrm flipH="1">
            <a:off x="1703389" y="6669088"/>
            <a:ext cx="8713787" cy="0"/>
          </a:xfrm>
          <a:prstGeom prst="line">
            <a:avLst/>
          </a:prstGeom>
          <a:noFill/>
          <a:ln w="9525">
            <a:solidFill>
              <a:schemeClr val="tx1"/>
            </a:solidFill>
            <a:round/>
            <a:headEnd/>
            <a:tailEnd/>
          </a:ln>
        </p:spPr>
        <p:txBody>
          <a:bodyPr/>
          <a:lstStyle/>
          <a:p>
            <a:endParaRPr lang="fr-FR"/>
          </a:p>
        </p:txBody>
      </p:sp>
      <p:sp>
        <p:nvSpPr>
          <p:cNvPr id="9" name="Line 6"/>
          <p:cNvSpPr>
            <a:spLocks noChangeShapeType="1"/>
          </p:cNvSpPr>
          <p:nvPr/>
        </p:nvSpPr>
        <p:spPr bwMode="auto">
          <a:xfrm>
            <a:off x="1703388" y="1571613"/>
            <a:ext cx="0" cy="5040313"/>
          </a:xfrm>
          <a:prstGeom prst="line">
            <a:avLst/>
          </a:prstGeom>
          <a:noFill/>
          <a:ln w="9525">
            <a:solidFill>
              <a:schemeClr val="tx1"/>
            </a:solidFill>
            <a:round/>
            <a:headEnd/>
            <a:tailEnd/>
          </a:ln>
        </p:spPr>
        <p:txBody>
          <a:bodyPr/>
          <a:lstStyle/>
          <a:p>
            <a:endParaRPr lang="fr-FR"/>
          </a:p>
        </p:txBody>
      </p:sp>
    </p:spTree>
    <p:extLst>
      <p:ext uri="{BB962C8B-B14F-4D97-AF65-F5344CB8AC3E}">
        <p14:creationId xmlns:p14="http://schemas.microsoft.com/office/powerpoint/2010/main" val="20713684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ext Box 5"/>
          <p:cNvSpPr txBox="1">
            <a:spLocks noChangeArrowheads="1"/>
          </p:cNvSpPr>
          <p:nvPr/>
        </p:nvSpPr>
        <p:spPr bwMode="auto">
          <a:xfrm>
            <a:off x="1847851" y="260350"/>
            <a:ext cx="8569325" cy="6203950"/>
          </a:xfrm>
          <a:prstGeom prst="rect">
            <a:avLst/>
          </a:prstGeom>
          <a:solidFill>
            <a:srgbClr val="FFFFCC"/>
          </a:solidFill>
          <a:ln w="9525">
            <a:solidFill>
              <a:schemeClr val="tx1"/>
            </a:solidFill>
            <a:miter lim="800000"/>
            <a:headEnd/>
            <a:tailEnd/>
          </a:ln>
        </p:spPr>
        <p:txBody>
          <a:bodyPr>
            <a:spAutoFit/>
          </a:bodyPr>
          <a:lstStyle/>
          <a:p>
            <a:pPr>
              <a:buClr>
                <a:srgbClr val="0000FF"/>
              </a:buClr>
              <a:buFont typeface="Wingdings" pitchFamily="2" charset="2"/>
              <a:buNone/>
            </a:pPr>
            <a:r>
              <a:rPr lang="fr-FR" sz="4000" dirty="0"/>
              <a:t>     </a:t>
            </a:r>
            <a:r>
              <a:rPr lang="fr-FR" sz="3600" dirty="0"/>
              <a:t>Les cellules peuvent être:</a:t>
            </a:r>
          </a:p>
          <a:p>
            <a:pPr>
              <a:buClr>
                <a:srgbClr val="0000FF"/>
              </a:buClr>
              <a:buFont typeface="Wingdings" pitchFamily="2" charset="2"/>
              <a:buChar char="§"/>
            </a:pPr>
            <a:r>
              <a:rPr lang="fr-FR" sz="3600" dirty="0"/>
              <a:t> </a:t>
            </a:r>
            <a:r>
              <a:rPr lang="fr-FR" sz="3600" dirty="0">
                <a:solidFill>
                  <a:srgbClr val="FF0066"/>
                </a:solidFill>
              </a:rPr>
              <a:t>Résistantes.</a:t>
            </a:r>
          </a:p>
          <a:p>
            <a:pPr>
              <a:buClr>
                <a:srgbClr val="0000FF"/>
              </a:buClr>
              <a:buFont typeface="Wingdings" pitchFamily="2" charset="2"/>
              <a:buChar char="§"/>
            </a:pPr>
            <a:r>
              <a:rPr lang="fr-FR" sz="3600" dirty="0">
                <a:solidFill>
                  <a:srgbClr val="FF0066"/>
                </a:solidFill>
              </a:rPr>
              <a:t> Non permissive.</a:t>
            </a:r>
          </a:p>
          <a:p>
            <a:pPr>
              <a:buClr>
                <a:srgbClr val="0000FF"/>
              </a:buClr>
              <a:buFont typeface="Wingdings" pitchFamily="2" charset="2"/>
              <a:buChar char="§"/>
            </a:pPr>
            <a:r>
              <a:rPr lang="fr-FR" sz="3600" dirty="0">
                <a:solidFill>
                  <a:srgbClr val="FF0066"/>
                </a:solidFill>
              </a:rPr>
              <a:t> Permissives:</a:t>
            </a:r>
            <a:r>
              <a:rPr lang="fr-FR" sz="3600" dirty="0"/>
              <a:t> Infection aigue,  latentes, persistante ou </a:t>
            </a:r>
            <a:r>
              <a:rPr lang="fr-FR" sz="3600" dirty="0" err="1"/>
              <a:t>transformante</a:t>
            </a:r>
            <a:r>
              <a:rPr lang="fr-FR" sz="3600" dirty="0"/>
              <a:t>.</a:t>
            </a:r>
            <a:endParaRPr lang="fr-FR" sz="3600" dirty="0"/>
          </a:p>
          <a:p>
            <a:pPr>
              <a:buClr>
                <a:srgbClr val="FF3399"/>
              </a:buClr>
              <a:buFont typeface="Wingdings" pitchFamily="2" charset="2"/>
              <a:buChar char="¥"/>
            </a:pPr>
            <a:r>
              <a:rPr lang="fr-FR" sz="3600" b="1" u="sng" dirty="0">
                <a:solidFill>
                  <a:srgbClr val="0000FF"/>
                </a:solidFill>
              </a:rPr>
              <a:t>Cellules résistantes</a:t>
            </a:r>
            <a:r>
              <a:rPr lang="fr-FR" sz="3600" b="1" dirty="0">
                <a:solidFill>
                  <a:srgbClr val="0000FF"/>
                </a:solidFill>
              </a:rPr>
              <a:t>:</a:t>
            </a:r>
            <a:r>
              <a:rPr lang="fr-FR" sz="3600" b="1" dirty="0"/>
              <a:t> </a:t>
            </a:r>
          </a:p>
          <a:p>
            <a:r>
              <a:rPr lang="fr-FR" sz="3600" b="1" dirty="0"/>
              <a:t>    </a:t>
            </a:r>
            <a:r>
              <a:rPr lang="fr-FR" sz="3600" dirty="0"/>
              <a:t>Cellule dépourvue de récepteurs nécessaires a la </a:t>
            </a:r>
            <a:r>
              <a:rPr lang="fr-FR" sz="3600" u="sng" dirty="0">
                <a:solidFill>
                  <a:srgbClr val="FF0066"/>
                </a:solidFill>
              </a:rPr>
              <a:t>fixation</a:t>
            </a:r>
            <a:r>
              <a:rPr lang="fr-FR" sz="3600" dirty="0"/>
              <a:t> du virus ou d’un facteur nécessaire pour </a:t>
            </a:r>
            <a:r>
              <a:rPr lang="fr-FR" sz="3600" u="sng" dirty="0">
                <a:solidFill>
                  <a:srgbClr val="FF0066"/>
                </a:solidFill>
              </a:rPr>
              <a:t>l’expression d’un gène</a:t>
            </a:r>
            <a:r>
              <a:rPr lang="fr-FR" sz="3600" dirty="0"/>
              <a:t> viral.</a:t>
            </a:r>
          </a:p>
        </p:txBody>
      </p:sp>
      <p:pic>
        <p:nvPicPr>
          <p:cNvPr id="2" name="Son enregistré">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5851526" y="3184526"/>
            <a:ext cx="487363" cy="487363"/>
          </a:xfrm>
          <a:prstGeom prst="rect">
            <a:avLst/>
          </a:prstGeom>
        </p:spPr>
      </p:pic>
    </p:spTree>
    <p:extLst>
      <p:ext uri="{BB962C8B-B14F-4D97-AF65-F5344CB8AC3E}">
        <p14:creationId xmlns:p14="http://schemas.microsoft.com/office/powerpoint/2010/main" val="61871147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67620" fill="hold"/>
                                        <p:tgtEl>
                                          <p:spTgt spid="2"/>
                                        </p:tgtEl>
                                      </p:cBhvr>
                                    </p:cmd>
                                  </p:childTnLst>
                                </p:cTn>
                              </p:par>
                            </p:childTnLst>
                          </p:cTn>
                        </p:par>
                      </p:childTnLst>
                    </p:cTn>
                  </p:par>
                </p:childTnLst>
              </p:cTn>
              <p:nextCondLst>
                <p:cond evt="onClick" delay="0">
                  <p:tgtEl>
                    <p:spTgt spid="2"/>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2279650" y="549275"/>
            <a:ext cx="7570788" cy="1143000"/>
          </a:xfrm>
          <a:solidFill>
            <a:srgbClr val="CCCCFF"/>
          </a:solidFill>
          <a:ln>
            <a:solidFill>
              <a:schemeClr val="tx1"/>
            </a:solidFill>
          </a:ln>
        </p:spPr>
        <p:txBody>
          <a:bodyPr>
            <a:normAutofit fontScale="90000"/>
          </a:bodyPr>
          <a:lstStyle/>
          <a:p>
            <a:pPr eaLnBrk="1" hangingPunct="1"/>
            <a:r>
              <a:rPr lang="fr-FR" sz="4000" b="1"/>
              <a:t>Interactions virus/cellules</a:t>
            </a:r>
            <a:br>
              <a:rPr lang="fr-FR" sz="4000" b="1"/>
            </a:br>
            <a:r>
              <a:rPr lang="fr-FR" sz="4000" b="1"/>
              <a:t>Définitions :</a:t>
            </a:r>
          </a:p>
        </p:txBody>
      </p:sp>
      <p:sp>
        <p:nvSpPr>
          <p:cNvPr id="62467" name="Oval 4"/>
          <p:cNvSpPr>
            <a:spLocks noChangeArrowheads="1"/>
          </p:cNvSpPr>
          <p:nvPr/>
        </p:nvSpPr>
        <p:spPr bwMode="auto">
          <a:xfrm>
            <a:off x="4440239" y="3141664"/>
            <a:ext cx="1296987" cy="1296987"/>
          </a:xfrm>
          <a:prstGeom prst="ellipse">
            <a:avLst/>
          </a:prstGeom>
          <a:solidFill>
            <a:srgbClr val="FF9933"/>
          </a:solidFill>
          <a:ln w="9525">
            <a:solidFill>
              <a:srgbClr val="FF0000"/>
            </a:solidFill>
            <a:round/>
            <a:headEnd/>
            <a:tailEnd/>
          </a:ln>
        </p:spPr>
        <p:txBody>
          <a:bodyPr wrap="none" anchor="ctr"/>
          <a:lstStyle/>
          <a:p>
            <a:endParaRPr lang="fr-FR"/>
          </a:p>
        </p:txBody>
      </p:sp>
      <p:sp>
        <p:nvSpPr>
          <p:cNvPr id="62468" name="AutoShape 5"/>
          <p:cNvSpPr>
            <a:spLocks noChangeArrowheads="1"/>
          </p:cNvSpPr>
          <p:nvPr/>
        </p:nvSpPr>
        <p:spPr bwMode="auto">
          <a:xfrm>
            <a:off x="2566989" y="3357564"/>
            <a:ext cx="719137" cy="769937"/>
          </a:xfrm>
          <a:prstGeom prst="octagon">
            <a:avLst>
              <a:gd name="adj" fmla="val 29287"/>
            </a:avLst>
          </a:prstGeom>
          <a:solidFill>
            <a:srgbClr val="33CCFF"/>
          </a:solidFill>
          <a:ln w="9525">
            <a:solidFill>
              <a:srgbClr val="FF0000"/>
            </a:solidFill>
            <a:miter lim="800000"/>
            <a:headEnd/>
            <a:tailEnd/>
          </a:ln>
        </p:spPr>
        <p:txBody>
          <a:bodyPr wrap="none" anchor="ctr"/>
          <a:lstStyle/>
          <a:p>
            <a:endParaRPr lang="fr-FR"/>
          </a:p>
        </p:txBody>
      </p:sp>
      <p:sp>
        <p:nvSpPr>
          <p:cNvPr id="62469" name="Oval 6"/>
          <p:cNvSpPr>
            <a:spLocks noChangeArrowheads="1"/>
          </p:cNvSpPr>
          <p:nvPr/>
        </p:nvSpPr>
        <p:spPr bwMode="auto">
          <a:xfrm>
            <a:off x="4872038" y="4005263"/>
            <a:ext cx="431800" cy="411162"/>
          </a:xfrm>
          <a:prstGeom prst="ellipse">
            <a:avLst/>
          </a:prstGeom>
          <a:solidFill>
            <a:srgbClr val="CC99FF"/>
          </a:solidFill>
          <a:ln w="9525">
            <a:solidFill>
              <a:schemeClr val="tx1"/>
            </a:solidFill>
            <a:round/>
            <a:headEnd/>
            <a:tailEnd/>
          </a:ln>
        </p:spPr>
        <p:txBody>
          <a:bodyPr wrap="none" anchor="ctr"/>
          <a:lstStyle/>
          <a:p>
            <a:endParaRPr lang="fr-FR"/>
          </a:p>
        </p:txBody>
      </p:sp>
      <p:sp>
        <p:nvSpPr>
          <p:cNvPr id="62470" name="AutoShape 7"/>
          <p:cNvSpPr>
            <a:spLocks noChangeArrowheads="1"/>
          </p:cNvSpPr>
          <p:nvPr/>
        </p:nvSpPr>
        <p:spPr bwMode="auto">
          <a:xfrm>
            <a:off x="3503613" y="3573463"/>
            <a:ext cx="863600" cy="431800"/>
          </a:xfrm>
          <a:prstGeom prst="rightArrow">
            <a:avLst>
              <a:gd name="adj1" fmla="val 50000"/>
              <a:gd name="adj2" fmla="val 50000"/>
            </a:avLst>
          </a:prstGeom>
          <a:solidFill>
            <a:schemeClr val="hlink"/>
          </a:solidFill>
          <a:ln w="9525">
            <a:solidFill>
              <a:schemeClr val="hlink"/>
            </a:solidFill>
            <a:miter lim="800000"/>
            <a:headEnd/>
            <a:tailEnd/>
          </a:ln>
        </p:spPr>
        <p:txBody>
          <a:bodyPr wrap="none" anchor="ctr"/>
          <a:lstStyle/>
          <a:p>
            <a:endParaRPr lang="fr-FR"/>
          </a:p>
        </p:txBody>
      </p:sp>
      <p:sp>
        <p:nvSpPr>
          <p:cNvPr id="62471" name="Text Box 8"/>
          <p:cNvSpPr txBox="1">
            <a:spLocks noChangeArrowheads="1"/>
          </p:cNvSpPr>
          <p:nvPr/>
        </p:nvSpPr>
        <p:spPr bwMode="auto">
          <a:xfrm>
            <a:off x="3359151" y="3357563"/>
            <a:ext cx="1008063" cy="823912"/>
          </a:xfrm>
          <a:prstGeom prst="rect">
            <a:avLst/>
          </a:prstGeom>
          <a:noFill/>
          <a:ln w="9525">
            <a:noFill/>
            <a:miter lim="800000"/>
            <a:headEnd/>
            <a:tailEnd/>
          </a:ln>
        </p:spPr>
        <p:txBody>
          <a:bodyPr>
            <a:spAutoFit/>
          </a:bodyPr>
          <a:lstStyle/>
          <a:p>
            <a:pPr>
              <a:spcBef>
                <a:spcPct val="50000"/>
              </a:spcBef>
            </a:pPr>
            <a:r>
              <a:rPr lang="fr-FR" sz="4800" b="1">
                <a:solidFill>
                  <a:srgbClr val="FF0000"/>
                </a:solidFill>
              </a:rPr>
              <a:t> X</a:t>
            </a:r>
          </a:p>
        </p:txBody>
      </p:sp>
      <p:sp>
        <p:nvSpPr>
          <p:cNvPr id="62472" name="Text Box 9"/>
          <p:cNvSpPr txBox="1">
            <a:spLocks noChangeArrowheads="1"/>
          </p:cNvSpPr>
          <p:nvPr/>
        </p:nvSpPr>
        <p:spPr bwMode="auto">
          <a:xfrm>
            <a:off x="5953125" y="3427413"/>
            <a:ext cx="3671888" cy="588962"/>
          </a:xfrm>
          <a:prstGeom prst="rect">
            <a:avLst/>
          </a:prstGeom>
          <a:solidFill>
            <a:schemeClr val="bg1"/>
          </a:solidFill>
          <a:ln w="9525">
            <a:solidFill>
              <a:schemeClr val="tx1"/>
            </a:solidFill>
            <a:miter lim="800000"/>
            <a:headEnd/>
            <a:tailEnd/>
          </a:ln>
        </p:spPr>
        <p:txBody>
          <a:bodyPr>
            <a:spAutoFit/>
          </a:bodyPr>
          <a:lstStyle/>
          <a:p>
            <a:pPr>
              <a:spcBef>
                <a:spcPct val="50000"/>
              </a:spcBef>
            </a:pPr>
            <a:r>
              <a:rPr lang="fr-FR" sz="3200" b="1"/>
              <a:t>Cellule résistante</a:t>
            </a:r>
          </a:p>
        </p:txBody>
      </p:sp>
      <p:sp>
        <p:nvSpPr>
          <p:cNvPr id="62473" name="Line 10"/>
          <p:cNvSpPr>
            <a:spLocks noChangeShapeType="1"/>
          </p:cNvSpPr>
          <p:nvPr/>
        </p:nvSpPr>
        <p:spPr bwMode="auto">
          <a:xfrm>
            <a:off x="1992313" y="2205038"/>
            <a:ext cx="8064500" cy="0"/>
          </a:xfrm>
          <a:prstGeom prst="line">
            <a:avLst/>
          </a:prstGeom>
          <a:noFill/>
          <a:ln w="9525">
            <a:solidFill>
              <a:schemeClr val="tx1"/>
            </a:solidFill>
            <a:round/>
            <a:headEnd/>
            <a:tailEnd/>
          </a:ln>
        </p:spPr>
        <p:txBody>
          <a:bodyPr/>
          <a:lstStyle/>
          <a:p>
            <a:endParaRPr lang="fr-FR"/>
          </a:p>
        </p:txBody>
      </p:sp>
      <p:sp>
        <p:nvSpPr>
          <p:cNvPr id="62474" name="Line 11"/>
          <p:cNvSpPr>
            <a:spLocks noChangeShapeType="1"/>
          </p:cNvSpPr>
          <p:nvPr/>
        </p:nvSpPr>
        <p:spPr bwMode="auto">
          <a:xfrm>
            <a:off x="1992313" y="2205038"/>
            <a:ext cx="0" cy="3600450"/>
          </a:xfrm>
          <a:prstGeom prst="line">
            <a:avLst/>
          </a:prstGeom>
          <a:noFill/>
          <a:ln w="9525">
            <a:solidFill>
              <a:schemeClr val="tx1"/>
            </a:solidFill>
            <a:round/>
            <a:headEnd/>
            <a:tailEnd/>
          </a:ln>
        </p:spPr>
        <p:txBody>
          <a:bodyPr/>
          <a:lstStyle/>
          <a:p>
            <a:endParaRPr lang="fr-FR"/>
          </a:p>
        </p:txBody>
      </p:sp>
      <p:sp>
        <p:nvSpPr>
          <p:cNvPr id="62475" name="Line 12"/>
          <p:cNvSpPr>
            <a:spLocks noChangeShapeType="1"/>
          </p:cNvSpPr>
          <p:nvPr/>
        </p:nvSpPr>
        <p:spPr bwMode="auto">
          <a:xfrm>
            <a:off x="10056813" y="2205038"/>
            <a:ext cx="0" cy="3600450"/>
          </a:xfrm>
          <a:prstGeom prst="line">
            <a:avLst/>
          </a:prstGeom>
          <a:noFill/>
          <a:ln w="9525">
            <a:solidFill>
              <a:schemeClr val="tx1"/>
            </a:solidFill>
            <a:round/>
            <a:headEnd/>
            <a:tailEnd/>
          </a:ln>
        </p:spPr>
        <p:txBody>
          <a:bodyPr/>
          <a:lstStyle/>
          <a:p>
            <a:endParaRPr lang="fr-FR"/>
          </a:p>
        </p:txBody>
      </p:sp>
      <p:sp>
        <p:nvSpPr>
          <p:cNvPr id="62476" name="Line 13"/>
          <p:cNvSpPr>
            <a:spLocks noChangeShapeType="1"/>
          </p:cNvSpPr>
          <p:nvPr/>
        </p:nvSpPr>
        <p:spPr bwMode="auto">
          <a:xfrm flipH="1">
            <a:off x="1992313" y="5805488"/>
            <a:ext cx="8064500" cy="0"/>
          </a:xfrm>
          <a:prstGeom prst="line">
            <a:avLst/>
          </a:prstGeom>
          <a:noFill/>
          <a:ln w="9525">
            <a:solidFill>
              <a:schemeClr val="tx1"/>
            </a:solidFill>
            <a:round/>
            <a:headEnd/>
            <a:tailEnd/>
          </a:ln>
        </p:spPr>
        <p:txBody>
          <a:bodyPr/>
          <a:lstStyle/>
          <a:p>
            <a:endParaRPr lang="fr-FR"/>
          </a:p>
        </p:txBody>
      </p:sp>
      <p:pic>
        <p:nvPicPr>
          <p:cNvPr id="2" name="Son enregistré">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5851526" y="3184526"/>
            <a:ext cx="487363" cy="487363"/>
          </a:xfrm>
          <a:prstGeom prst="rect">
            <a:avLst/>
          </a:prstGeom>
        </p:spPr>
      </p:pic>
    </p:spTree>
    <p:extLst>
      <p:ext uri="{BB962C8B-B14F-4D97-AF65-F5344CB8AC3E}">
        <p14:creationId xmlns:p14="http://schemas.microsoft.com/office/powerpoint/2010/main" val="189255359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11195" fill="hold"/>
                                        <p:tgtEl>
                                          <p:spTgt spid="2"/>
                                        </p:tgtEl>
                                      </p:cBhvr>
                                    </p:cmd>
                                  </p:childTnLst>
                                </p:cTn>
                              </p:par>
                            </p:childTnLst>
                          </p:cTn>
                        </p:par>
                      </p:childTnLst>
                    </p:cTn>
                  </p:par>
                </p:childTnLst>
              </p:cTn>
              <p:nextCondLst>
                <p:cond evt="onClick" delay="0">
                  <p:tgtEl>
                    <p:spTgt spid="2"/>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 Box 3"/>
          <p:cNvSpPr txBox="1">
            <a:spLocks noChangeArrowheads="1"/>
          </p:cNvSpPr>
          <p:nvPr/>
        </p:nvSpPr>
        <p:spPr bwMode="auto">
          <a:xfrm>
            <a:off x="1774825" y="260350"/>
            <a:ext cx="8642350" cy="5693866"/>
          </a:xfrm>
          <a:prstGeom prst="rect">
            <a:avLst/>
          </a:prstGeom>
          <a:solidFill>
            <a:srgbClr val="FFFFCC"/>
          </a:solidFill>
          <a:ln w="9525">
            <a:solidFill>
              <a:schemeClr val="tx1"/>
            </a:solidFill>
            <a:miter lim="800000"/>
            <a:headEnd/>
            <a:tailEnd/>
          </a:ln>
        </p:spPr>
        <p:txBody>
          <a:bodyPr>
            <a:spAutoFit/>
          </a:bodyPr>
          <a:lstStyle/>
          <a:p>
            <a:pPr>
              <a:buClr>
                <a:srgbClr val="FF3399"/>
              </a:buClr>
              <a:buFont typeface="Wingdings" pitchFamily="2" charset="2"/>
              <a:buNone/>
            </a:pPr>
            <a:endParaRPr lang="fr-FR" sz="4000" b="1" u="sng" dirty="0">
              <a:solidFill>
                <a:srgbClr val="0000FF"/>
              </a:solidFill>
            </a:endParaRPr>
          </a:p>
          <a:p>
            <a:pPr>
              <a:buClr>
                <a:srgbClr val="FF3399"/>
              </a:buClr>
              <a:buFont typeface="Wingdings" pitchFamily="2" charset="2"/>
              <a:buChar char="¥"/>
            </a:pPr>
            <a:r>
              <a:rPr lang="fr-FR" sz="3600" b="1" u="sng" dirty="0">
                <a:solidFill>
                  <a:srgbClr val="0000FF"/>
                </a:solidFill>
              </a:rPr>
              <a:t>Cellules non permissives</a:t>
            </a:r>
            <a:r>
              <a:rPr lang="fr-FR" sz="3600" b="1" dirty="0">
                <a:solidFill>
                  <a:srgbClr val="0000FF"/>
                </a:solidFill>
              </a:rPr>
              <a:t> :</a:t>
            </a:r>
            <a:r>
              <a:rPr lang="fr-FR" sz="3600" b="1" dirty="0"/>
              <a:t> </a:t>
            </a:r>
            <a:r>
              <a:rPr lang="fr-FR" sz="3600" dirty="0"/>
              <a:t>Le virus pénètre dans la cellule mais quelques gènes seulement s’expriment sans aboutir à un cycle complet </a:t>
            </a:r>
            <a:r>
              <a:rPr lang="fr-FR" sz="3600" dirty="0">
                <a:solidFill>
                  <a:srgbClr val="FF0066"/>
                </a:solidFill>
              </a:rPr>
              <a:t>(infection abortive)</a:t>
            </a:r>
          </a:p>
          <a:p>
            <a:pPr>
              <a:buClr>
                <a:srgbClr val="FF3399"/>
              </a:buClr>
              <a:buFont typeface="Wingdings" pitchFamily="2" charset="2"/>
              <a:buNone/>
            </a:pPr>
            <a:r>
              <a:rPr lang="fr-FR" sz="3600" dirty="0"/>
              <a:t>La cellule peut:</a:t>
            </a:r>
          </a:p>
          <a:p>
            <a:pPr>
              <a:buClr>
                <a:srgbClr val="0066FF"/>
              </a:buClr>
              <a:buFont typeface="Wingdings" pitchFamily="2" charset="2"/>
              <a:buChar char="§"/>
            </a:pPr>
            <a:r>
              <a:rPr lang="fr-FR" sz="3600" dirty="0"/>
              <a:t> Soit </a:t>
            </a:r>
            <a:r>
              <a:rPr lang="fr-FR" sz="3600" dirty="0">
                <a:solidFill>
                  <a:srgbClr val="FF0066"/>
                </a:solidFill>
              </a:rPr>
              <a:t>survivre à l’infection sans montrer de trace d’infection</a:t>
            </a:r>
            <a:r>
              <a:rPr lang="fr-FR" sz="3600" dirty="0"/>
              <a:t>.</a:t>
            </a:r>
          </a:p>
          <a:p>
            <a:pPr>
              <a:buClr>
                <a:srgbClr val="0066FF"/>
              </a:buClr>
              <a:buFont typeface="Wingdings" pitchFamily="2" charset="2"/>
              <a:buChar char="§"/>
            </a:pPr>
            <a:r>
              <a:rPr lang="fr-FR" sz="3600" dirty="0"/>
              <a:t> Soit </a:t>
            </a:r>
            <a:r>
              <a:rPr lang="fr-FR" sz="3600" dirty="0">
                <a:solidFill>
                  <a:srgbClr val="FF0066"/>
                </a:solidFill>
              </a:rPr>
              <a:t>mourir sans produire de virions</a:t>
            </a:r>
          </a:p>
        </p:txBody>
      </p:sp>
      <p:pic>
        <p:nvPicPr>
          <p:cNvPr id="2" name="Son enregistré">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5851526" y="3184526"/>
            <a:ext cx="487363" cy="487363"/>
          </a:xfrm>
          <a:prstGeom prst="rect">
            <a:avLst/>
          </a:prstGeom>
        </p:spPr>
      </p:pic>
    </p:spTree>
    <p:extLst>
      <p:ext uri="{BB962C8B-B14F-4D97-AF65-F5344CB8AC3E}">
        <p14:creationId xmlns:p14="http://schemas.microsoft.com/office/powerpoint/2010/main" val="33628806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58670" fill="hold"/>
                                        <p:tgtEl>
                                          <p:spTgt spid="2"/>
                                        </p:tgtEl>
                                      </p:cBhvr>
                                    </p:cmd>
                                  </p:childTnLst>
                                </p:cTn>
                              </p:par>
                            </p:childTnLst>
                          </p:cTn>
                        </p:par>
                      </p:childTnLst>
                    </p:cTn>
                  </p:par>
                </p:childTnLst>
              </p:cTn>
              <p:nextCondLst>
                <p:cond evt="onClick" delay="0">
                  <p:tgtEl>
                    <p:spTgt spid="2"/>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Oval 4"/>
          <p:cNvSpPr>
            <a:spLocks noChangeArrowheads="1"/>
          </p:cNvSpPr>
          <p:nvPr/>
        </p:nvSpPr>
        <p:spPr bwMode="auto">
          <a:xfrm>
            <a:off x="4008438" y="2924175"/>
            <a:ext cx="1511300" cy="1657350"/>
          </a:xfrm>
          <a:prstGeom prst="ellipse">
            <a:avLst/>
          </a:prstGeom>
          <a:solidFill>
            <a:srgbClr val="FF9933"/>
          </a:solidFill>
          <a:ln w="9525">
            <a:solidFill>
              <a:srgbClr val="FF0000"/>
            </a:solidFill>
            <a:round/>
            <a:headEnd/>
            <a:tailEnd/>
          </a:ln>
        </p:spPr>
        <p:txBody>
          <a:bodyPr wrap="none" anchor="ctr"/>
          <a:lstStyle/>
          <a:p>
            <a:endParaRPr lang="fr-FR"/>
          </a:p>
        </p:txBody>
      </p:sp>
      <p:sp>
        <p:nvSpPr>
          <p:cNvPr id="64515" name="AutoShape 5"/>
          <p:cNvSpPr>
            <a:spLocks noChangeArrowheads="1"/>
          </p:cNvSpPr>
          <p:nvPr/>
        </p:nvSpPr>
        <p:spPr bwMode="auto">
          <a:xfrm>
            <a:off x="2063751" y="3500439"/>
            <a:ext cx="792163" cy="769937"/>
          </a:xfrm>
          <a:prstGeom prst="octagon">
            <a:avLst>
              <a:gd name="adj" fmla="val 29287"/>
            </a:avLst>
          </a:prstGeom>
          <a:solidFill>
            <a:srgbClr val="33CCFF"/>
          </a:solidFill>
          <a:ln w="12700">
            <a:solidFill>
              <a:srgbClr val="FF0000"/>
            </a:solidFill>
            <a:miter lim="800000"/>
            <a:headEnd/>
            <a:tailEnd/>
          </a:ln>
        </p:spPr>
        <p:txBody>
          <a:bodyPr wrap="none" anchor="ctr"/>
          <a:lstStyle/>
          <a:p>
            <a:endParaRPr lang="fr-FR"/>
          </a:p>
        </p:txBody>
      </p:sp>
      <p:sp>
        <p:nvSpPr>
          <p:cNvPr id="64516" name="Oval 6"/>
          <p:cNvSpPr>
            <a:spLocks noChangeArrowheads="1"/>
          </p:cNvSpPr>
          <p:nvPr/>
        </p:nvSpPr>
        <p:spPr bwMode="auto">
          <a:xfrm>
            <a:off x="4583114" y="4149726"/>
            <a:ext cx="433387" cy="411163"/>
          </a:xfrm>
          <a:prstGeom prst="ellipse">
            <a:avLst/>
          </a:prstGeom>
          <a:solidFill>
            <a:srgbClr val="CC99FF"/>
          </a:solidFill>
          <a:ln w="9525">
            <a:solidFill>
              <a:schemeClr val="tx1"/>
            </a:solidFill>
            <a:round/>
            <a:headEnd/>
            <a:tailEnd/>
          </a:ln>
        </p:spPr>
        <p:txBody>
          <a:bodyPr wrap="none" anchor="ctr"/>
          <a:lstStyle/>
          <a:p>
            <a:endParaRPr lang="fr-FR"/>
          </a:p>
        </p:txBody>
      </p:sp>
      <p:sp>
        <p:nvSpPr>
          <p:cNvPr id="64517" name="Text Box 7"/>
          <p:cNvSpPr txBox="1">
            <a:spLocks noChangeArrowheads="1"/>
          </p:cNvSpPr>
          <p:nvPr/>
        </p:nvSpPr>
        <p:spPr bwMode="auto">
          <a:xfrm>
            <a:off x="5951538" y="3429000"/>
            <a:ext cx="4248150" cy="1169988"/>
          </a:xfrm>
          <a:prstGeom prst="rect">
            <a:avLst/>
          </a:prstGeom>
          <a:solidFill>
            <a:schemeClr val="bg1"/>
          </a:solidFill>
          <a:ln w="9525">
            <a:solidFill>
              <a:schemeClr val="tx1"/>
            </a:solidFill>
            <a:miter lim="800000"/>
            <a:headEnd/>
            <a:tailEnd/>
          </a:ln>
        </p:spPr>
        <p:txBody>
          <a:bodyPr>
            <a:spAutoFit/>
          </a:bodyPr>
          <a:lstStyle/>
          <a:p>
            <a:pPr algn="ctr">
              <a:spcBef>
                <a:spcPct val="50000"/>
              </a:spcBef>
            </a:pPr>
            <a:r>
              <a:rPr lang="fr-FR" sz="2800" b="1"/>
              <a:t>Cellule non permissive</a:t>
            </a:r>
          </a:p>
          <a:p>
            <a:pPr algn="ctr">
              <a:spcBef>
                <a:spcPct val="50000"/>
              </a:spcBef>
            </a:pPr>
            <a:r>
              <a:rPr lang="fr-FR" sz="2800" b="1">
                <a:solidFill>
                  <a:srgbClr val="0066FF"/>
                </a:solidFill>
              </a:rPr>
              <a:t>Infection abortive</a:t>
            </a:r>
          </a:p>
        </p:txBody>
      </p:sp>
      <p:sp>
        <p:nvSpPr>
          <p:cNvPr id="64518" name="AutoShape 8"/>
          <p:cNvSpPr>
            <a:spLocks noChangeArrowheads="1"/>
          </p:cNvSpPr>
          <p:nvPr/>
        </p:nvSpPr>
        <p:spPr bwMode="auto">
          <a:xfrm>
            <a:off x="3071813" y="3716338"/>
            <a:ext cx="863600" cy="431800"/>
          </a:xfrm>
          <a:prstGeom prst="rightArrow">
            <a:avLst>
              <a:gd name="adj1" fmla="val 50000"/>
              <a:gd name="adj2" fmla="val 50000"/>
            </a:avLst>
          </a:prstGeom>
          <a:solidFill>
            <a:schemeClr val="hlink"/>
          </a:solidFill>
          <a:ln w="9525">
            <a:solidFill>
              <a:schemeClr val="hlink"/>
            </a:solidFill>
            <a:miter lim="800000"/>
            <a:headEnd/>
            <a:tailEnd/>
          </a:ln>
        </p:spPr>
        <p:txBody>
          <a:bodyPr wrap="none" anchor="ctr"/>
          <a:lstStyle/>
          <a:p>
            <a:endParaRPr lang="fr-FR"/>
          </a:p>
        </p:txBody>
      </p:sp>
      <p:sp>
        <p:nvSpPr>
          <p:cNvPr id="64519" name="Text Box 9"/>
          <p:cNvSpPr txBox="1">
            <a:spLocks noChangeArrowheads="1"/>
          </p:cNvSpPr>
          <p:nvPr/>
        </p:nvSpPr>
        <p:spPr bwMode="auto">
          <a:xfrm>
            <a:off x="4367213" y="2924176"/>
            <a:ext cx="1079500" cy="1433513"/>
          </a:xfrm>
          <a:prstGeom prst="rect">
            <a:avLst/>
          </a:prstGeom>
          <a:noFill/>
          <a:ln w="9525">
            <a:noFill/>
            <a:miter lim="800000"/>
            <a:headEnd/>
            <a:tailEnd/>
          </a:ln>
        </p:spPr>
        <p:txBody>
          <a:bodyPr>
            <a:spAutoFit/>
          </a:bodyPr>
          <a:lstStyle/>
          <a:p>
            <a:pPr>
              <a:spcBef>
                <a:spcPct val="50000"/>
              </a:spcBef>
            </a:pPr>
            <a:r>
              <a:rPr lang="fr-FR" sz="8800" b="1">
                <a:solidFill>
                  <a:srgbClr val="FF0000"/>
                </a:solidFill>
              </a:rPr>
              <a:t>X</a:t>
            </a:r>
          </a:p>
        </p:txBody>
      </p:sp>
      <p:sp>
        <p:nvSpPr>
          <p:cNvPr id="64520" name="Rectangle 10"/>
          <p:cNvSpPr>
            <a:spLocks noChangeArrowheads="1"/>
          </p:cNvSpPr>
          <p:nvPr/>
        </p:nvSpPr>
        <p:spPr bwMode="auto">
          <a:xfrm>
            <a:off x="2351089" y="765175"/>
            <a:ext cx="7488237" cy="1143000"/>
          </a:xfrm>
          <a:prstGeom prst="rect">
            <a:avLst/>
          </a:prstGeom>
          <a:solidFill>
            <a:srgbClr val="CCCCFF"/>
          </a:solidFill>
          <a:ln w="9525">
            <a:solidFill>
              <a:schemeClr val="tx1"/>
            </a:solidFill>
            <a:miter lim="800000"/>
            <a:headEnd/>
            <a:tailEnd/>
          </a:ln>
        </p:spPr>
        <p:txBody>
          <a:bodyPr anchor="ctr"/>
          <a:lstStyle/>
          <a:p>
            <a:pPr algn="ctr"/>
            <a:r>
              <a:rPr lang="fr-FR" sz="4000" b="1">
                <a:solidFill>
                  <a:schemeClr val="tx2"/>
                </a:solidFill>
              </a:rPr>
              <a:t>Interactions virus/cellules</a:t>
            </a:r>
            <a:br>
              <a:rPr lang="fr-FR" sz="4000" b="1">
                <a:solidFill>
                  <a:schemeClr val="tx2"/>
                </a:solidFill>
              </a:rPr>
            </a:br>
            <a:r>
              <a:rPr lang="fr-FR" sz="4000" b="1">
                <a:solidFill>
                  <a:schemeClr val="tx2"/>
                </a:solidFill>
              </a:rPr>
              <a:t>Définitions :</a:t>
            </a:r>
          </a:p>
        </p:txBody>
      </p:sp>
      <p:sp>
        <p:nvSpPr>
          <p:cNvPr id="64521" name="Line 11"/>
          <p:cNvSpPr>
            <a:spLocks noChangeShapeType="1"/>
          </p:cNvSpPr>
          <p:nvPr/>
        </p:nvSpPr>
        <p:spPr bwMode="auto">
          <a:xfrm>
            <a:off x="1703388" y="2420938"/>
            <a:ext cx="8640762" cy="0"/>
          </a:xfrm>
          <a:prstGeom prst="line">
            <a:avLst/>
          </a:prstGeom>
          <a:noFill/>
          <a:ln w="9525">
            <a:solidFill>
              <a:schemeClr val="tx1"/>
            </a:solidFill>
            <a:round/>
            <a:headEnd/>
            <a:tailEnd/>
          </a:ln>
        </p:spPr>
        <p:txBody>
          <a:bodyPr/>
          <a:lstStyle/>
          <a:p>
            <a:endParaRPr lang="fr-FR"/>
          </a:p>
        </p:txBody>
      </p:sp>
      <p:sp>
        <p:nvSpPr>
          <p:cNvPr id="64522" name="Line 12"/>
          <p:cNvSpPr>
            <a:spLocks noChangeShapeType="1"/>
          </p:cNvSpPr>
          <p:nvPr/>
        </p:nvSpPr>
        <p:spPr bwMode="auto">
          <a:xfrm>
            <a:off x="1703388" y="2420938"/>
            <a:ext cx="0" cy="3744912"/>
          </a:xfrm>
          <a:prstGeom prst="line">
            <a:avLst/>
          </a:prstGeom>
          <a:noFill/>
          <a:ln w="9525">
            <a:solidFill>
              <a:schemeClr val="tx1"/>
            </a:solidFill>
            <a:round/>
            <a:headEnd/>
            <a:tailEnd/>
          </a:ln>
        </p:spPr>
        <p:txBody>
          <a:bodyPr/>
          <a:lstStyle/>
          <a:p>
            <a:endParaRPr lang="fr-FR"/>
          </a:p>
        </p:txBody>
      </p:sp>
      <p:sp>
        <p:nvSpPr>
          <p:cNvPr id="64523" name="Line 13"/>
          <p:cNvSpPr>
            <a:spLocks noChangeShapeType="1"/>
          </p:cNvSpPr>
          <p:nvPr/>
        </p:nvSpPr>
        <p:spPr bwMode="auto">
          <a:xfrm>
            <a:off x="10344150" y="2420938"/>
            <a:ext cx="0" cy="3744912"/>
          </a:xfrm>
          <a:prstGeom prst="line">
            <a:avLst/>
          </a:prstGeom>
          <a:noFill/>
          <a:ln w="9525">
            <a:solidFill>
              <a:schemeClr val="tx1"/>
            </a:solidFill>
            <a:round/>
            <a:headEnd/>
            <a:tailEnd/>
          </a:ln>
        </p:spPr>
        <p:txBody>
          <a:bodyPr/>
          <a:lstStyle/>
          <a:p>
            <a:endParaRPr lang="fr-FR"/>
          </a:p>
        </p:txBody>
      </p:sp>
      <p:sp>
        <p:nvSpPr>
          <p:cNvPr id="64524" name="Line 14"/>
          <p:cNvSpPr>
            <a:spLocks noChangeShapeType="1"/>
          </p:cNvSpPr>
          <p:nvPr/>
        </p:nvSpPr>
        <p:spPr bwMode="auto">
          <a:xfrm>
            <a:off x="1703388" y="6165850"/>
            <a:ext cx="8640762" cy="0"/>
          </a:xfrm>
          <a:prstGeom prst="line">
            <a:avLst/>
          </a:prstGeom>
          <a:noFill/>
          <a:ln w="9525">
            <a:solidFill>
              <a:schemeClr val="tx1"/>
            </a:solidFill>
            <a:round/>
            <a:headEnd/>
            <a:tailEnd/>
          </a:ln>
        </p:spPr>
        <p:txBody>
          <a:bodyPr/>
          <a:lstStyle/>
          <a:p>
            <a:endParaRPr lang="fr-FR"/>
          </a:p>
        </p:txBody>
      </p:sp>
      <p:sp>
        <p:nvSpPr>
          <p:cNvPr id="64525" name="Text Box 15"/>
          <p:cNvSpPr txBox="1">
            <a:spLocks noChangeArrowheads="1"/>
          </p:cNvSpPr>
          <p:nvPr/>
        </p:nvSpPr>
        <p:spPr bwMode="auto">
          <a:xfrm>
            <a:off x="2351088" y="5373689"/>
            <a:ext cx="5472112" cy="528637"/>
          </a:xfrm>
          <a:prstGeom prst="rect">
            <a:avLst/>
          </a:prstGeom>
          <a:noFill/>
          <a:ln w="9525">
            <a:solidFill>
              <a:schemeClr val="accent2"/>
            </a:solidFill>
            <a:miter lim="800000"/>
            <a:headEnd/>
            <a:tailEnd/>
          </a:ln>
        </p:spPr>
        <p:txBody>
          <a:bodyPr>
            <a:spAutoFit/>
          </a:bodyPr>
          <a:lstStyle/>
          <a:p>
            <a:pPr algn="ctr">
              <a:spcBef>
                <a:spcPct val="50000"/>
              </a:spcBef>
            </a:pPr>
            <a:r>
              <a:rPr lang="fr-FR" sz="2800" b="1">
                <a:solidFill>
                  <a:schemeClr val="accent2"/>
                </a:solidFill>
              </a:rPr>
              <a:t>Cellule redevient normale</a:t>
            </a:r>
          </a:p>
        </p:txBody>
      </p:sp>
      <p:sp>
        <p:nvSpPr>
          <p:cNvPr id="64526" name="Line 16"/>
          <p:cNvSpPr>
            <a:spLocks noChangeShapeType="1"/>
          </p:cNvSpPr>
          <p:nvPr/>
        </p:nvSpPr>
        <p:spPr bwMode="auto">
          <a:xfrm>
            <a:off x="4727575" y="4652963"/>
            <a:ext cx="0" cy="576262"/>
          </a:xfrm>
          <a:prstGeom prst="line">
            <a:avLst/>
          </a:prstGeom>
          <a:noFill/>
          <a:ln w="57150">
            <a:solidFill>
              <a:schemeClr val="tx1"/>
            </a:solidFill>
            <a:round/>
            <a:headEnd/>
            <a:tailEnd type="triangle" w="med" len="med"/>
          </a:ln>
        </p:spPr>
        <p:txBody>
          <a:bodyPr/>
          <a:lstStyle/>
          <a:p>
            <a:endParaRPr lang="fr-FR"/>
          </a:p>
        </p:txBody>
      </p:sp>
    </p:spTree>
    <p:extLst>
      <p:ext uri="{BB962C8B-B14F-4D97-AF65-F5344CB8AC3E}">
        <p14:creationId xmlns:p14="http://schemas.microsoft.com/office/powerpoint/2010/main" val="57619229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3"/>
          <p:cNvSpPr>
            <a:spLocks noGrp="1" noChangeArrowheads="1"/>
          </p:cNvSpPr>
          <p:nvPr>
            <p:ph idx="1"/>
          </p:nvPr>
        </p:nvSpPr>
        <p:spPr>
          <a:xfrm>
            <a:off x="1981200" y="765175"/>
            <a:ext cx="8229600" cy="5360988"/>
          </a:xfrm>
          <a:solidFill>
            <a:srgbClr val="FFFFCC"/>
          </a:solidFill>
        </p:spPr>
        <p:txBody>
          <a:bodyPr/>
          <a:lstStyle/>
          <a:p>
            <a:pPr eaLnBrk="1" hangingPunct="1">
              <a:spcBef>
                <a:spcPct val="0"/>
              </a:spcBef>
              <a:buClr>
                <a:srgbClr val="FF3399"/>
              </a:buClr>
              <a:buFont typeface="Wingdings" pitchFamily="2" charset="2"/>
              <a:buNone/>
            </a:pPr>
            <a:endParaRPr lang="fr-FR" sz="4000" b="1" u="sng" dirty="0">
              <a:solidFill>
                <a:srgbClr val="0000FF"/>
              </a:solidFill>
            </a:endParaRPr>
          </a:p>
          <a:p>
            <a:pPr eaLnBrk="1" hangingPunct="1">
              <a:spcBef>
                <a:spcPct val="0"/>
              </a:spcBef>
              <a:buClr>
                <a:srgbClr val="FF3399"/>
              </a:buClr>
              <a:buFont typeface="Wingdings" pitchFamily="2" charset="2"/>
              <a:buChar char="¥"/>
            </a:pPr>
            <a:r>
              <a:rPr lang="fr-FR" sz="4400" b="1" u="sng" dirty="0">
                <a:solidFill>
                  <a:srgbClr val="0000FF"/>
                </a:solidFill>
              </a:rPr>
              <a:t> Cellule permissive</a:t>
            </a:r>
            <a:r>
              <a:rPr lang="fr-FR" sz="4400" b="1" dirty="0">
                <a:solidFill>
                  <a:srgbClr val="0000FF"/>
                </a:solidFill>
              </a:rPr>
              <a:t> :</a:t>
            </a:r>
            <a:r>
              <a:rPr lang="fr-FR" sz="4400" b="1" dirty="0"/>
              <a:t> </a:t>
            </a:r>
            <a:r>
              <a:rPr lang="fr-FR" sz="4400" dirty="0"/>
              <a:t>L’infection cellulaire aboutie a la formation de nouveaux virus. dans ce cas on peut avoir</a:t>
            </a:r>
            <a:r>
              <a:rPr lang="fr-FR" sz="4400" b="1" dirty="0"/>
              <a:t> : </a:t>
            </a:r>
          </a:p>
          <a:p>
            <a:pPr eaLnBrk="1" hangingPunct="1">
              <a:spcBef>
                <a:spcPct val="0"/>
              </a:spcBef>
              <a:buClr>
                <a:srgbClr val="FF0066"/>
              </a:buClr>
              <a:buFont typeface="Wingdings" pitchFamily="2" charset="2"/>
              <a:buChar char="v"/>
            </a:pPr>
            <a:r>
              <a:rPr lang="fr-FR" sz="4400" dirty="0">
                <a:solidFill>
                  <a:srgbClr val="FF0066"/>
                </a:solidFill>
              </a:rPr>
              <a:t> Une infection aigue.</a:t>
            </a:r>
          </a:p>
          <a:p>
            <a:pPr eaLnBrk="1" hangingPunct="1">
              <a:buFontTx/>
              <a:buNone/>
            </a:pPr>
            <a:endParaRPr lang="fr-FR" sz="4400" dirty="0"/>
          </a:p>
        </p:txBody>
      </p:sp>
      <p:pic>
        <p:nvPicPr>
          <p:cNvPr id="4" name="Son enregistré">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5851526" y="3184526"/>
            <a:ext cx="487363" cy="487363"/>
          </a:xfrm>
          <a:prstGeom prst="rect">
            <a:avLst/>
          </a:prstGeom>
        </p:spPr>
      </p:pic>
    </p:spTree>
    <p:extLst>
      <p:ext uri="{BB962C8B-B14F-4D97-AF65-F5344CB8AC3E}">
        <p14:creationId xmlns:p14="http://schemas.microsoft.com/office/powerpoint/2010/main" val="227579482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46536" fill="hold"/>
                                        <p:tgtEl>
                                          <p:spTgt spid="4"/>
                                        </p:tgtEl>
                                      </p:cBhvr>
                                    </p:cmd>
                                  </p:childTnLst>
                                </p:cTn>
                              </p:par>
                            </p:childTnLst>
                          </p:cTn>
                        </p:par>
                      </p:childTnLst>
                    </p:cTn>
                  </p:par>
                </p:childTnLst>
              </p:cTn>
              <p:nextCondLst>
                <p:cond evt="onClick" delay="0">
                  <p:tgtEl>
                    <p:spTgt spid="4"/>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a:xfrm>
            <a:off x="2279650" y="404813"/>
            <a:ext cx="7488238" cy="1143000"/>
          </a:xfrm>
          <a:solidFill>
            <a:srgbClr val="CCCCFF"/>
          </a:solidFill>
          <a:ln>
            <a:solidFill>
              <a:schemeClr val="tx1"/>
            </a:solidFill>
          </a:ln>
        </p:spPr>
        <p:txBody>
          <a:bodyPr>
            <a:normAutofit fontScale="90000"/>
          </a:bodyPr>
          <a:lstStyle/>
          <a:p>
            <a:pPr eaLnBrk="1" hangingPunct="1"/>
            <a:r>
              <a:rPr lang="fr-FR" sz="4000" b="1"/>
              <a:t>Interactions virus/cellules</a:t>
            </a:r>
            <a:br>
              <a:rPr lang="fr-FR" sz="4000" b="1"/>
            </a:br>
            <a:r>
              <a:rPr lang="fr-FR" sz="4000" b="1"/>
              <a:t>Définitions :</a:t>
            </a:r>
          </a:p>
        </p:txBody>
      </p:sp>
      <p:sp>
        <p:nvSpPr>
          <p:cNvPr id="66563" name="Oval 6"/>
          <p:cNvSpPr>
            <a:spLocks noChangeArrowheads="1"/>
          </p:cNvSpPr>
          <p:nvPr/>
        </p:nvSpPr>
        <p:spPr bwMode="auto">
          <a:xfrm>
            <a:off x="3725864" y="2852738"/>
            <a:ext cx="1412875" cy="1441450"/>
          </a:xfrm>
          <a:prstGeom prst="ellipse">
            <a:avLst/>
          </a:prstGeom>
          <a:solidFill>
            <a:srgbClr val="FF9933"/>
          </a:solidFill>
          <a:ln w="9525">
            <a:solidFill>
              <a:srgbClr val="FF0000"/>
            </a:solidFill>
            <a:round/>
            <a:headEnd/>
            <a:tailEnd/>
          </a:ln>
        </p:spPr>
        <p:txBody>
          <a:bodyPr wrap="none" anchor="ctr"/>
          <a:lstStyle/>
          <a:p>
            <a:endParaRPr lang="fr-FR"/>
          </a:p>
        </p:txBody>
      </p:sp>
      <p:sp>
        <p:nvSpPr>
          <p:cNvPr id="66564" name="AutoShape 9"/>
          <p:cNvSpPr>
            <a:spLocks noChangeArrowheads="1"/>
          </p:cNvSpPr>
          <p:nvPr/>
        </p:nvSpPr>
        <p:spPr bwMode="auto">
          <a:xfrm>
            <a:off x="6024564" y="3357563"/>
            <a:ext cx="720725" cy="792162"/>
          </a:xfrm>
          <a:prstGeom prst="octagon">
            <a:avLst>
              <a:gd name="adj" fmla="val 29287"/>
            </a:avLst>
          </a:prstGeom>
          <a:solidFill>
            <a:srgbClr val="33CCFF"/>
          </a:solidFill>
          <a:ln w="9525">
            <a:solidFill>
              <a:srgbClr val="FF0000"/>
            </a:solidFill>
            <a:miter lim="800000"/>
            <a:headEnd/>
            <a:tailEnd/>
          </a:ln>
        </p:spPr>
        <p:txBody>
          <a:bodyPr wrap="none" anchor="ctr"/>
          <a:lstStyle/>
          <a:p>
            <a:endParaRPr lang="fr-FR"/>
          </a:p>
        </p:txBody>
      </p:sp>
      <p:sp>
        <p:nvSpPr>
          <p:cNvPr id="66565" name="AutoShape 11"/>
          <p:cNvSpPr>
            <a:spLocks noChangeArrowheads="1"/>
          </p:cNvSpPr>
          <p:nvPr/>
        </p:nvSpPr>
        <p:spPr bwMode="auto">
          <a:xfrm>
            <a:off x="1992314" y="3284538"/>
            <a:ext cx="720725" cy="792162"/>
          </a:xfrm>
          <a:prstGeom prst="octagon">
            <a:avLst>
              <a:gd name="adj" fmla="val 29287"/>
            </a:avLst>
          </a:prstGeom>
          <a:solidFill>
            <a:srgbClr val="33CCFF"/>
          </a:solidFill>
          <a:ln w="9525">
            <a:solidFill>
              <a:srgbClr val="FF0000"/>
            </a:solidFill>
            <a:miter lim="800000"/>
            <a:headEnd/>
            <a:tailEnd/>
          </a:ln>
        </p:spPr>
        <p:txBody>
          <a:bodyPr wrap="none" anchor="ctr"/>
          <a:lstStyle/>
          <a:p>
            <a:endParaRPr lang="fr-FR"/>
          </a:p>
        </p:txBody>
      </p:sp>
      <p:sp>
        <p:nvSpPr>
          <p:cNvPr id="66566" name="Oval 13"/>
          <p:cNvSpPr>
            <a:spLocks noChangeArrowheads="1"/>
          </p:cNvSpPr>
          <p:nvPr/>
        </p:nvSpPr>
        <p:spPr bwMode="auto">
          <a:xfrm>
            <a:off x="4278313" y="3751264"/>
            <a:ext cx="450850" cy="522287"/>
          </a:xfrm>
          <a:prstGeom prst="ellipse">
            <a:avLst/>
          </a:prstGeom>
          <a:solidFill>
            <a:srgbClr val="CC99FF"/>
          </a:solidFill>
          <a:ln w="9525">
            <a:solidFill>
              <a:schemeClr val="tx1"/>
            </a:solidFill>
            <a:round/>
            <a:headEnd/>
            <a:tailEnd/>
          </a:ln>
        </p:spPr>
        <p:txBody>
          <a:bodyPr wrap="none" anchor="ctr"/>
          <a:lstStyle/>
          <a:p>
            <a:endParaRPr lang="fr-FR"/>
          </a:p>
        </p:txBody>
      </p:sp>
      <p:sp>
        <p:nvSpPr>
          <p:cNvPr id="66567" name="Text Box 17"/>
          <p:cNvSpPr txBox="1">
            <a:spLocks noChangeArrowheads="1"/>
          </p:cNvSpPr>
          <p:nvPr/>
        </p:nvSpPr>
        <p:spPr bwMode="auto">
          <a:xfrm>
            <a:off x="4008439" y="3141663"/>
            <a:ext cx="1150937" cy="641350"/>
          </a:xfrm>
          <a:prstGeom prst="rect">
            <a:avLst/>
          </a:prstGeom>
          <a:noFill/>
          <a:ln w="9525">
            <a:noFill/>
            <a:miter lim="800000"/>
            <a:headEnd/>
            <a:tailEnd/>
          </a:ln>
        </p:spPr>
        <p:txBody>
          <a:bodyPr>
            <a:spAutoFit/>
          </a:bodyPr>
          <a:lstStyle/>
          <a:p>
            <a:pPr>
              <a:spcBef>
                <a:spcPct val="50000"/>
              </a:spcBef>
            </a:pPr>
            <a:r>
              <a:rPr lang="fr-FR" sz="3600" b="1">
                <a:solidFill>
                  <a:srgbClr val="FF0000"/>
                </a:solidFill>
              </a:rPr>
              <a:t>  </a:t>
            </a:r>
            <a:endParaRPr lang="fr-FR" sz="4000" b="1">
              <a:solidFill>
                <a:srgbClr val="FF0000"/>
              </a:solidFill>
            </a:endParaRPr>
          </a:p>
        </p:txBody>
      </p:sp>
      <p:sp>
        <p:nvSpPr>
          <p:cNvPr id="66568" name="Text Box 22"/>
          <p:cNvSpPr txBox="1">
            <a:spLocks noChangeArrowheads="1"/>
          </p:cNvSpPr>
          <p:nvPr/>
        </p:nvSpPr>
        <p:spPr bwMode="auto">
          <a:xfrm>
            <a:off x="6888164" y="3213101"/>
            <a:ext cx="3476625" cy="1196975"/>
          </a:xfrm>
          <a:prstGeom prst="rect">
            <a:avLst/>
          </a:prstGeom>
          <a:solidFill>
            <a:schemeClr val="bg1"/>
          </a:solidFill>
          <a:ln w="9525">
            <a:solidFill>
              <a:schemeClr val="tx1"/>
            </a:solidFill>
            <a:miter lim="800000"/>
            <a:headEnd/>
            <a:tailEnd/>
          </a:ln>
        </p:spPr>
        <p:txBody>
          <a:bodyPr>
            <a:spAutoFit/>
          </a:bodyPr>
          <a:lstStyle/>
          <a:p>
            <a:pPr algn="ctr"/>
            <a:r>
              <a:rPr lang="fr-FR" sz="2400" b="1"/>
              <a:t>Cellule permissive</a:t>
            </a:r>
          </a:p>
          <a:p>
            <a:pPr algn="ctr"/>
            <a:r>
              <a:rPr lang="fr-FR" sz="2400" b="1">
                <a:solidFill>
                  <a:srgbClr val="0066FF"/>
                </a:solidFill>
              </a:rPr>
              <a:t>Infection productive de virions</a:t>
            </a:r>
          </a:p>
        </p:txBody>
      </p:sp>
      <p:sp>
        <p:nvSpPr>
          <p:cNvPr id="66569" name="AutoShape 24"/>
          <p:cNvSpPr>
            <a:spLocks noChangeArrowheads="1"/>
          </p:cNvSpPr>
          <p:nvPr/>
        </p:nvSpPr>
        <p:spPr bwMode="auto">
          <a:xfrm>
            <a:off x="5303838" y="3500438"/>
            <a:ext cx="647700" cy="520700"/>
          </a:xfrm>
          <a:prstGeom prst="rightArrow">
            <a:avLst>
              <a:gd name="adj1" fmla="val 50000"/>
              <a:gd name="adj2" fmla="val 31098"/>
            </a:avLst>
          </a:prstGeom>
          <a:solidFill>
            <a:schemeClr val="hlink"/>
          </a:solidFill>
          <a:ln w="9525">
            <a:solidFill>
              <a:schemeClr val="hlink"/>
            </a:solidFill>
            <a:miter lim="800000"/>
            <a:headEnd/>
            <a:tailEnd/>
          </a:ln>
        </p:spPr>
        <p:txBody>
          <a:bodyPr wrap="none" anchor="ctr"/>
          <a:lstStyle/>
          <a:p>
            <a:endParaRPr lang="fr-FR"/>
          </a:p>
        </p:txBody>
      </p:sp>
      <p:sp>
        <p:nvSpPr>
          <p:cNvPr id="66570" name="AutoShape 26"/>
          <p:cNvSpPr>
            <a:spLocks noChangeArrowheads="1"/>
          </p:cNvSpPr>
          <p:nvPr/>
        </p:nvSpPr>
        <p:spPr bwMode="auto">
          <a:xfrm>
            <a:off x="2855913" y="3500438"/>
            <a:ext cx="792162" cy="520700"/>
          </a:xfrm>
          <a:prstGeom prst="rightArrow">
            <a:avLst>
              <a:gd name="adj1" fmla="val 50000"/>
              <a:gd name="adj2" fmla="val 38034"/>
            </a:avLst>
          </a:prstGeom>
          <a:solidFill>
            <a:schemeClr val="hlink"/>
          </a:solidFill>
          <a:ln w="9525">
            <a:solidFill>
              <a:schemeClr val="hlink"/>
            </a:solidFill>
            <a:miter lim="800000"/>
            <a:headEnd/>
            <a:tailEnd/>
          </a:ln>
        </p:spPr>
        <p:txBody>
          <a:bodyPr wrap="none" anchor="ctr"/>
          <a:lstStyle/>
          <a:p>
            <a:endParaRPr lang="fr-FR"/>
          </a:p>
        </p:txBody>
      </p:sp>
      <p:sp>
        <p:nvSpPr>
          <p:cNvPr id="66571" name="Line 29"/>
          <p:cNvSpPr>
            <a:spLocks noChangeShapeType="1"/>
          </p:cNvSpPr>
          <p:nvPr/>
        </p:nvSpPr>
        <p:spPr bwMode="auto">
          <a:xfrm>
            <a:off x="1847850" y="1916113"/>
            <a:ext cx="0" cy="3744912"/>
          </a:xfrm>
          <a:prstGeom prst="line">
            <a:avLst/>
          </a:prstGeom>
          <a:noFill/>
          <a:ln w="9525">
            <a:solidFill>
              <a:schemeClr val="tx1"/>
            </a:solidFill>
            <a:round/>
            <a:headEnd/>
            <a:tailEnd/>
          </a:ln>
        </p:spPr>
        <p:txBody>
          <a:bodyPr/>
          <a:lstStyle/>
          <a:p>
            <a:endParaRPr lang="fr-FR"/>
          </a:p>
        </p:txBody>
      </p:sp>
      <p:sp>
        <p:nvSpPr>
          <p:cNvPr id="66572" name="Line 30"/>
          <p:cNvSpPr>
            <a:spLocks noChangeShapeType="1"/>
          </p:cNvSpPr>
          <p:nvPr/>
        </p:nvSpPr>
        <p:spPr bwMode="auto">
          <a:xfrm>
            <a:off x="10488613" y="1916113"/>
            <a:ext cx="0" cy="3744912"/>
          </a:xfrm>
          <a:prstGeom prst="line">
            <a:avLst/>
          </a:prstGeom>
          <a:noFill/>
          <a:ln w="9525">
            <a:solidFill>
              <a:schemeClr val="tx1"/>
            </a:solidFill>
            <a:round/>
            <a:headEnd/>
            <a:tailEnd/>
          </a:ln>
        </p:spPr>
        <p:txBody>
          <a:bodyPr/>
          <a:lstStyle/>
          <a:p>
            <a:endParaRPr lang="fr-FR"/>
          </a:p>
        </p:txBody>
      </p:sp>
      <p:sp>
        <p:nvSpPr>
          <p:cNvPr id="66573" name="Line 31"/>
          <p:cNvSpPr>
            <a:spLocks noChangeShapeType="1"/>
          </p:cNvSpPr>
          <p:nvPr/>
        </p:nvSpPr>
        <p:spPr bwMode="auto">
          <a:xfrm flipH="1">
            <a:off x="1847851" y="5661025"/>
            <a:ext cx="8640763" cy="0"/>
          </a:xfrm>
          <a:prstGeom prst="line">
            <a:avLst/>
          </a:prstGeom>
          <a:noFill/>
          <a:ln w="9525">
            <a:solidFill>
              <a:schemeClr val="tx1"/>
            </a:solidFill>
            <a:round/>
            <a:headEnd/>
            <a:tailEnd/>
          </a:ln>
        </p:spPr>
        <p:txBody>
          <a:bodyPr/>
          <a:lstStyle/>
          <a:p>
            <a:endParaRPr lang="fr-FR"/>
          </a:p>
        </p:txBody>
      </p:sp>
      <p:sp>
        <p:nvSpPr>
          <p:cNvPr id="66574" name="Line 32"/>
          <p:cNvSpPr>
            <a:spLocks noChangeShapeType="1"/>
          </p:cNvSpPr>
          <p:nvPr/>
        </p:nvSpPr>
        <p:spPr bwMode="auto">
          <a:xfrm>
            <a:off x="1847851" y="1916113"/>
            <a:ext cx="8640763" cy="0"/>
          </a:xfrm>
          <a:prstGeom prst="line">
            <a:avLst/>
          </a:prstGeom>
          <a:noFill/>
          <a:ln w="9525">
            <a:solidFill>
              <a:schemeClr val="tx1"/>
            </a:solidFill>
            <a:round/>
            <a:headEnd/>
            <a:tailEnd/>
          </a:ln>
        </p:spPr>
        <p:txBody>
          <a:bodyPr/>
          <a:lstStyle/>
          <a:p>
            <a:endParaRPr lang="fr-FR"/>
          </a:p>
        </p:txBody>
      </p:sp>
      <p:sp>
        <p:nvSpPr>
          <p:cNvPr id="66575" name="Text Box 33"/>
          <p:cNvSpPr txBox="1">
            <a:spLocks noChangeArrowheads="1"/>
          </p:cNvSpPr>
          <p:nvPr/>
        </p:nvSpPr>
        <p:spPr bwMode="auto">
          <a:xfrm>
            <a:off x="3071813" y="5013325"/>
            <a:ext cx="2951162" cy="528638"/>
          </a:xfrm>
          <a:prstGeom prst="rect">
            <a:avLst/>
          </a:prstGeom>
          <a:noFill/>
          <a:ln w="9525">
            <a:solidFill>
              <a:schemeClr val="accent2"/>
            </a:solidFill>
            <a:miter lim="800000"/>
            <a:headEnd/>
            <a:tailEnd/>
          </a:ln>
        </p:spPr>
        <p:txBody>
          <a:bodyPr>
            <a:spAutoFit/>
          </a:bodyPr>
          <a:lstStyle/>
          <a:p>
            <a:pPr algn="ctr">
              <a:spcBef>
                <a:spcPct val="50000"/>
              </a:spcBef>
            </a:pPr>
            <a:r>
              <a:rPr lang="fr-FR" sz="2800" b="1">
                <a:solidFill>
                  <a:schemeClr val="accent2"/>
                </a:solidFill>
              </a:rPr>
              <a:t>Lyse cellulaire</a:t>
            </a:r>
          </a:p>
        </p:txBody>
      </p:sp>
      <p:sp>
        <p:nvSpPr>
          <p:cNvPr id="66576" name="Line 34"/>
          <p:cNvSpPr>
            <a:spLocks noChangeShapeType="1"/>
          </p:cNvSpPr>
          <p:nvPr/>
        </p:nvSpPr>
        <p:spPr bwMode="auto">
          <a:xfrm>
            <a:off x="4295775" y="4365626"/>
            <a:ext cx="0" cy="576263"/>
          </a:xfrm>
          <a:prstGeom prst="line">
            <a:avLst/>
          </a:prstGeom>
          <a:noFill/>
          <a:ln w="57150">
            <a:solidFill>
              <a:schemeClr val="tx1"/>
            </a:solidFill>
            <a:round/>
            <a:headEnd/>
            <a:tailEnd type="triangle" w="med" len="med"/>
          </a:ln>
        </p:spPr>
        <p:txBody>
          <a:bodyPr/>
          <a:lstStyle/>
          <a:p>
            <a:endParaRPr lang="fr-FR"/>
          </a:p>
        </p:txBody>
      </p:sp>
      <p:pic>
        <p:nvPicPr>
          <p:cNvPr id="2" name="Son enregistré">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5851526" y="3184526"/>
            <a:ext cx="487363" cy="487363"/>
          </a:xfrm>
          <a:prstGeom prst="rect">
            <a:avLst/>
          </a:prstGeom>
        </p:spPr>
      </p:pic>
    </p:spTree>
    <p:extLst>
      <p:ext uri="{BB962C8B-B14F-4D97-AF65-F5344CB8AC3E}">
        <p14:creationId xmlns:p14="http://schemas.microsoft.com/office/powerpoint/2010/main" val="124674122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18221" fill="hold"/>
                                        <p:tgtEl>
                                          <p:spTgt spid="2"/>
                                        </p:tgtEl>
                                      </p:cBhvr>
                                    </p:cmd>
                                  </p:childTnLst>
                                </p:cTn>
                              </p:par>
                            </p:childTnLst>
                          </p:cTn>
                        </p:par>
                      </p:childTnLst>
                    </p:cTn>
                  </p:par>
                </p:childTnLst>
              </p:cTn>
              <p:nextCondLst>
                <p:cond evt="onClick" delay="0">
                  <p:tgtEl>
                    <p:spTgt spid="2"/>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4"/>
          <p:cNvSpPr>
            <a:spLocks noChangeArrowheads="1"/>
          </p:cNvSpPr>
          <p:nvPr/>
        </p:nvSpPr>
        <p:spPr bwMode="auto">
          <a:xfrm>
            <a:off x="1992314" y="476250"/>
            <a:ext cx="8207375" cy="5905500"/>
          </a:xfrm>
          <a:prstGeom prst="rect">
            <a:avLst/>
          </a:prstGeom>
          <a:solidFill>
            <a:srgbClr val="FFFFCC"/>
          </a:solidFill>
          <a:ln w="9525">
            <a:solidFill>
              <a:schemeClr val="tx1"/>
            </a:solidFill>
            <a:miter lim="800000"/>
            <a:headEnd/>
            <a:tailEnd/>
          </a:ln>
        </p:spPr>
        <p:txBody>
          <a:bodyPr wrap="none" anchor="ctr"/>
          <a:lstStyle/>
          <a:p>
            <a:endParaRPr lang="fr-FR"/>
          </a:p>
        </p:txBody>
      </p:sp>
      <p:sp>
        <p:nvSpPr>
          <p:cNvPr id="67587" name="Text Box 5"/>
          <p:cNvSpPr txBox="1">
            <a:spLocks noChangeArrowheads="1"/>
          </p:cNvSpPr>
          <p:nvPr/>
        </p:nvSpPr>
        <p:spPr bwMode="auto">
          <a:xfrm>
            <a:off x="1992314" y="476250"/>
            <a:ext cx="8207375" cy="4154984"/>
          </a:xfrm>
          <a:prstGeom prst="rect">
            <a:avLst/>
          </a:prstGeom>
          <a:noFill/>
          <a:ln w="9525">
            <a:noFill/>
            <a:miter lim="800000"/>
            <a:headEnd/>
            <a:tailEnd/>
          </a:ln>
        </p:spPr>
        <p:txBody>
          <a:bodyPr>
            <a:spAutoFit/>
          </a:bodyPr>
          <a:lstStyle/>
          <a:p>
            <a:pPr>
              <a:buClr>
                <a:srgbClr val="FF0066"/>
              </a:buClr>
              <a:buFont typeface="Wingdings" pitchFamily="2" charset="2"/>
              <a:buChar char="v"/>
            </a:pPr>
            <a:r>
              <a:rPr lang="fr-FR" sz="4000" b="1" u="sng">
                <a:solidFill>
                  <a:srgbClr val="FF3399"/>
                </a:solidFill>
              </a:rPr>
              <a:t> </a:t>
            </a:r>
            <a:r>
              <a:rPr lang="fr-FR" sz="4400" b="1" u="sng">
                <a:solidFill>
                  <a:srgbClr val="FF0066"/>
                </a:solidFill>
              </a:rPr>
              <a:t>Des infections latentes</a:t>
            </a:r>
            <a:r>
              <a:rPr lang="fr-FR" sz="4400" b="1">
                <a:solidFill>
                  <a:srgbClr val="FF0066"/>
                </a:solidFill>
              </a:rPr>
              <a:t> : </a:t>
            </a:r>
          </a:p>
          <a:p>
            <a:pPr>
              <a:buClr>
                <a:srgbClr val="FF3399"/>
              </a:buClr>
              <a:buFont typeface="Wingdings" pitchFamily="2" charset="2"/>
              <a:buNone/>
            </a:pPr>
            <a:r>
              <a:rPr lang="fr-FR" sz="4400"/>
              <a:t>   La primo-infection guérit et le virus reste cache, il se réactive lors d’un stimulus. </a:t>
            </a:r>
            <a:r>
              <a:rPr lang="fr-FR" sz="4400" b="1"/>
              <a:t>Exp : </a:t>
            </a:r>
            <a:r>
              <a:rPr lang="fr-FR" sz="4400" b="1">
                <a:solidFill>
                  <a:srgbClr val="FF0066"/>
                </a:solidFill>
              </a:rPr>
              <a:t>Herpes virus</a:t>
            </a:r>
          </a:p>
          <a:p>
            <a:pPr>
              <a:buClr>
                <a:srgbClr val="FF3399"/>
              </a:buClr>
              <a:buFont typeface="Wingdings" pitchFamily="2" charset="2"/>
              <a:buNone/>
            </a:pPr>
            <a:endParaRPr lang="fr-FR" sz="4400"/>
          </a:p>
        </p:txBody>
      </p:sp>
      <p:pic>
        <p:nvPicPr>
          <p:cNvPr id="2" name="Son enregistré">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5851526" y="3184526"/>
            <a:ext cx="487363" cy="487363"/>
          </a:xfrm>
          <a:prstGeom prst="rect">
            <a:avLst/>
          </a:prstGeom>
        </p:spPr>
      </p:pic>
    </p:spTree>
    <p:extLst>
      <p:ext uri="{BB962C8B-B14F-4D97-AF65-F5344CB8AC3E}">
        <p14:creationId xmlns:p14="http://schemas.microsoft.com/office/powerpoint/2010/main" val="4220662999"/>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53548" fill="hold"/>
                                        <p:tgtEl>
                                          <p:spTgt spid="2"/>
                                        </p:tgtEl>
                                      </p:cBhvr>
                                    </p:cmd>
                                  </p:childTnLst>
                                </p:cTn>
                              </p:par>
                            </p:childTnLst>
                          </p:cTn>
                        </p:par>
                      </p:childTnLst>
                    </p:cTn>
                  </p:par>
                </p:childTnLst>
              </p:cTn>
              <p:nextCondLst>
                <p:cond evt="onClick" delay="0">
                  <p:tgtEl>
                    <p:spTgt spid="2"/>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3"/>
          <p:cNvSpPr>
            <a:spLocks noGrp="1" noChangeArrowheads="1"/>
          </p:cNvSpPr>
          <p:nvPr>
            <p:ph idx="1"/>
          </p:nvPr>
        </p:nvSpPr>
        <p:spPr>
          <a:xfrm>
            <a:off x="1981200" y="260351"/>
            <a:ext cx="8229600" cy="6264275"/>
          </a:xfrm>
          <a:solidFill>
            <a:srgbClr val="FFFFCC"/>
          </a:solidFill>
          <a:ln>
            <a:solidFill>
              <a:schemeClr val="tx1"/>
            </a:solidFill>
          </a:ln>
        </p:spPr>
        <p:txBody>
          <a:bodyPr/>
          <a:lstStyle/>
          <a:p>
            <a:pPr eaLnBrk="1" hangingPunct="1">
              <a:buFont typeface="Wingdings" pitchFamily="2" charset="2"/>
              <a:buChar char="v"/>
            </a:pPr>
            <a:r>
              <a:rPr lang="fr-FR" b="1" u="sng" smtClean="0">
                <a:solidFill>
                  <a:srgbClr val="FF0066"/>
                </a:solidFill>
              </a:rPr>
              <a:t> </a:t>
            </a:r>
            <a:r>
              <a:rPr lang="fr-FR" sz="3600" b="1" u="sng">
                <a:solidFill>
                  <a:srgbClr val="FF0066"/>
                </a:solidFill>
              </a:rPr>
              <a:t>Des infection persistante ou transformantes</a:t>
            </a:r>
            <a:r>
              <a:rPr lang="fr-FR" sz="3600" b="1">
                <a:solidFill>
                  <a:srgbClr val="FF0066"/>
                </a:solidFill>
              </a:rPr>
              <a:t>:</a:t>
            </a:r>
            <a:r>
              <a:rPr lang="fr-FR" sz="3600" b="1"/>
              <a:t>    </a:t>
            </a:r>
          </a:p>
          <a:p>
            <a:pPr eaLnBrk="1" hangingPunct="1">
              <a:buFontTx/>
              <a:buNone/>
            </a:pPr>
            <a:r>
              <a:rPr lang="fr-FR" sz="3600"/>
              <a:t>   Lorsque la cellule n’est que transitoirement permissive, ceci abouti à une persistance virale: présence continue du génome viral, avec expression de quelques gènes viraux.</a:t>
            </a:r>
            <a:r>
              <a:rPr lang="fr-FR" sz="3600" b="1"/>
              <a:t> </a:t>
            </a:r>
            <a:r>
              <a:rPr lang="fr-FR" sz="3600"/>
              <a:t>Exp: </a:t>
            </a:r>
            <a:r>
              <a:rPr lang="fr-FR" sz="3600">
                <a:solidFill>
                  <a:srgbClr val="FF0066"/>
                </a:solidFill>
              </a:rPr>
              <a:t>HBV, HBC</a:t>
            </a:r>
            <a:r>
              <a:rPr lang="fr-FR" sz="3600">
                <a:solidFill>
                  <a:srgbClr val="FF3399"/>
                </a:solidFill>
              </a:rPr>
              <a:t>.</a:t>
            </a:r>
            <a:endParaRPr lang="fr-FR" sz="3600"/>
          </a:p>
          <a:p>
            <a:pPr eaLnBrk="1" hangingPunct="1"/>
            <a:endParaRPr lang="fr-FR" sz="3600"/>
          </a:p>
        </p:txBody>
      </p:sp>
      <p:pic>
        <p:nvPicPr>
          <p:cNvPr id="2" name="Son enregistré">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5851526" y="3184526"/>
            <a:ext cx="487363" cy="487363"/>
          </a:xfrm>
          <a:prstGeom prst="rect">
            <a:avLst/>
          </a:prstGeom>
        </p:spPr>
      </p:pic>
    </p:spTree>
    <p:extLst>
      <p:ext uri="{BB962C8B-B14F-4D97-AF65-F5344CB8AC3E}">
        <p14:creationId xmlns:p14="http://schemas.microsoft.com/office/powerpoint/2010/main" val="734789910"/>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75179" fill="hold"/>
                                        <p:tgtEl>
                                          <p:spTgt spid="2"/>
                                        </p:tgtEl>
                                      </p:cBhvr>
                                    </p:cmd>
                                  </p:childTnLst>
                                </p:cTn>
                              </p:par>
                            </p:childTnLst>
                          </p:cTn>
                        </p:par>
                      </p:childTnLst>
                    </p:cTn>
                  </p:par>
                </p:childTnLst>
              </p:cTn>
              <p:nextCondLst>
                <p:cond evt="onClick" delay="0">
                  <p:tgtEl>
                    <p:spTgt spid="2"/>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1919288" y="620713"/>
            <a:ext cx="8229600" cy="1143000"/>
          </a:xfrm>
          <a:solidFill>
            <a:srgbClr val="CCCCFF"/>
          </a:solidFill>
          <a:ln>
            <a:solidFill>
              <a:schemeClr val="tx1"/>
            </a:solidFill>
          </a:ln>
        </p:spPr>
        <p:txBody>
          <a:bodyPr>
            <a:normAutofit fontScale="90000"/>
          </a:bodyPr>
          <a:lstStyle/>
          <a:p>
            <a:pPr eaLnBrk="1" hangingPunct="1"/>
            <a:r>
              <a:rPr lang="fr-FR" sz="4000" b="1"/>
              <a:t>Interactions virus/cellules</a:t>
            </a:r>
            <a:br>
              <a:rPr lang="fr-FR" sz="4000" b="1"/>
            </a:br>
            <a:r>
              <a:rPr lang="fr-FR" sz="4000" b="1"/>
              <a:t>Définitions :</a:t>
            </a:r>
          </a:p>
        </p:txBody>
      </p:sp>
      <p:sp>
        <p:nvSpPr>
          <p:cNvPr id="69635" name="Oval 4"/>
          <p:cNvSpPr>
            <a:spLocks noChangeArrowheads="1"/>
          </p:cNvSpPr>
          <p:nvPr/>
        </p:nvSpPr>
        <p:spPr bwMode="auto">
          <a:xfrm>
            <a:off x="4079876" y="2565401"/>
            <a:ext cx="1274763" cy="1223963"/>
          </a:xfrm>
          <a:prstGeom prst="ellipse">
            <a:avLst/>
          </a:prstGeom>
          <a:solidFill>
            <a:srgbClr val="FF9933"/>
          </a:solidFill>
          <a:ln w="9525">
            <a:solidFill>
              <a:srgbClr val="FF0000"/>
            </a:solidFill>
            <a:round/>
            <a:headEnd/>
            <a:tailEnd/>
          </a:ln>
        </p:spPr>
        <p:txBody>
          <a:bodyPr wrap="none" anchor="ctr"/>
          <a:lstStyle/>
          <a:p>
            <a:endParaRPr lang="fr-FR"/>
          </a:p>
        </p:txBody>
      </p:sp>
      <p:sp>
        <p:nvSpPr>
          <p:cNvPr id="69636" name="AutoShape 5"/>
          <p:cNvSpPr>
            <a:spLocks noChangeArrowheads="1"/>
          </p:cNvSpPr>
          <p:nvPr/>
        </p:nvSpPr>
        <p:spPr bwMode="auto">
          <a:xfrm>
            <a:off x="2135189" y="2997200"/>
            <a:ext cx="720725" cy="698500"/>
          </a:xfrm>
          <a:prstGeom prst="octagon">
            <a:avLst>
              <a:gd name="adj" fmla="val 29287"/>
            </a:avLst>
          </a:prstGeom>
          <a:solidFill>
            <a:srgbClr val="33CCFF"/>
          </a:solidFill>
          <a:ln w="9525">
            <a:solidFill>
              <a:srgbClr val="FF0000"/>
            </a:solidFill>
            <a:miter lim="800000"/>
            <a:headEnd/>
            <a:tailEnd/>
          </a:ln>
        </p:spPr>
        <p:txBody>
          <a:bodyPr wrap="none" anchor="ctr"/>
          <a:lstStyle/>
          <a:p>
            <a:endParaRPr lang="fr-FR"/>
          </a:p>
        </p:txBody>
      </p:sp>
      <p:sp>
        <p:nvSpPr>
          <p:cNvPr id="69637" name="AutoShape 6"/>
          <p:cNvSpPr>
            <a:spLocks noChangeArrowheads="1"/>
          </p:cNvSpPr>
          <p:nvPr/>
        </p:nvSpPr>
        <p:spPr bwMode="auto">
          <a:xfrm>
            <a:off x="3071813" y="3141663"/>
            <a:ext cx="863600" cy="431800"/>
          </a:xfrm>
          <a:prstGeom prst="rightArrow">
            <a:avLst>
              <a:gd name="adj1" fmla="val 50000"/>
              <a:gd name="adj2" fmla="val 50000"/>
            </a:avLst>
          </a:prstGeom>
          <a:solidFill>
            <a:schemeClr val="hlink"/>
          </a:solidFill>
          <a:ln w="9525">
            <a:solidFill>
              <a:schemeClr val="hlink"/>
            </a:solidFill>
            <a:miter lim="800000"/>
            <a:headEnd/>
            <a:tailEnd/>
          </a:ln>
        </p:spPr>
        <p:txBody>
          <a:bodyPr wrap="none" anchor="ctr"/>
          <a:lstStyle/>
          <a:p>
            <a:endParaRPr lang="fr-FR"/>
          </a:p>
        </p:txBody>
      </p:sp>
      <p:sp>
        <p:nvSpPr>
          <p:cNvPr id="69638" name="Oval 7"/>
          <p:cNvSpPr>
            <a:spLocks noChangeArrowheads="1"/>
          </p:cNvSpPr>
          <p:nvPr/>
        </p:nvSpPr>
        <p:spPr bwMode="auto">
          <a:xfrm>
            <a:off x="4583113" y="3429001"/>
            <a:ext cx="360362" cy="339725"/>
          </a:xfrm>
          <a:prstGeom prst="ellipse">
            <a:avLst/>
          </a:prstGeom>
          <a:solidFill>
            <a:srgbClr val="CC99FF"/>
          </a:solidFill>
          <a:ln w="9525">
            <a:solidFill>
              <a:schemeClr val="tx1"/>
            </a:solidFill>
            <a:round/>
            <a:headEnd/>
            <a:tailEnd/>
          </a:ln>
        </p:spPr>
        <p:txBody>
          <a:bodyPr wrap="none" anchor="ctr"/>
          <a:lstStyle/>
          <a:p>
            <a:endParaRPr lang="fr-FR"/>
          </a:p>
        </p:txBody>
      </p:sp>
      <p:sp>
        <p:nvSpPr>
          <p:cNvPr id="69639" name="AutoShape 8"/>
          <p:cNvSpPr>
            <a:spLocks noChangeArrowheads="1"/>
          </p:cNvSpPr>
          <p:nvPr/>
        </p:nvSpPr>
        <p:spPr bwMode="auto">
          <a:xfrm>
            <a:off x="6527801" y="2924176"/>
            <a:ext cx="720725" cy="720725"/>
          </a:xfrm>
          <a:prstGeom prst="octagon">
            <a:avLst>
              <a:gd name="adj" fmla="val 29287"/>
            </a:avLst>
          </a:prstGeom>
          <a:solidFill>
            <a:srgbClr val="33CCFF"/>
          </a:solidFill>
          <a:ln w="9525">
            <a:solidFill>
              <a:srgbClr val="FF0000"/>
            </a:solidFill>
            <a:miter lim="800000"/>
            <a:headEnd/>
            <a:tailEnd/>
          </a:ln>
        </p:spPr>
        <p:txBody>
          <a:bodyPr wrap="none" anchor="ctr"/>
          <a:lstStyle/>
          <a:p>
            <a:endParaRPr lang="fr-FR"/>
          </a:p>
        </p:txBody>
      </p:sp>
      <p:sp>
        <p:nvSpPr>
          <p:cNvPr id="69640" name="AutoShape 9"/>
          <p:cNvSpPr>
            <a:spLocks noChangeArrowheads="1"/>
          </p:cNvSpPr>
          <p:nvPr/>
        </p:nvSpPr>
        <p:spPr bwMode="auto">
          <a:xfrm>
            <a:off x="4656138" y="3573463"/>
            <a:ext cx="215900" cy="215900"/>
          </a:xfrm>
          <a:prstGeom prst="octagon">
            <a:avLst>
              <a:gd name="adj" fmla="val 29287"/>
            </a:avLst>
          </a:prstGeom>
          <a:solidFill>
            <a:srgbClr val="33CCFF"/>
          </a:solidFill>
          <a:ln w="9525">
            <a:solidFill>
              <a:srgbClr val="FF0000"/>
            </a:solidFill>
            <a:miter lim="800000"/>
            <a:headEnd/>
            <a:tailEnd/>
          </a:ln>
        </p:spPr>
        <p:txBody>
          <a:bodyPr wrap="none" anchor="ctr"/>
          <a:lstStyle/>
          <a:p>
            <a:endParaRPr lang="fr-FR"/>
          </a:p>
        </p:txBody>
      </p:sp>
      <p:sp>
        <p:nvSpPr>
          <p:cNvPr id="69641" name="AutoShape 10"/>
          <p:cNvSpPr>
            <a:spLocks noChangeArrowheads="1"/>
          </p:cNvSpPr>
          <p:nvPr/>
        </p:nvSpPr>
        <p:spPr bwMode="auto">
          <a:xfrm>
            <a:off x="5519738" y="3141663"/>
            <a:ext cx="863600" cy="431800"/>
          </a:xfrm>
          <a:prstGeom prst="rightArrow">
            <a:avLst>
              <a:gd name="adj1" fmla="val 50000"/>
              <a:gd name="adj2" fmla="val 50000"/>
            </a:avLst>
          </a:prstGeom>
          <a:solidFill>
            <a:schemeClr val="hlink"/>
          </a:solidFill>
          <a:ln w="9525">
            <a:solidFill>
              <a:schemeClr val="hlink"/>
            </a:solidFill>
            <a:miter lim="800000"/>
            <a:headEnd/>
            <a:tailEnd/>
          </a:ln>
        </p:spPr>
        <p:txBody>
          <a:bodyPr wrap="none" anchor="ctr"/>
          <a:lstStyle/>
          <a:p>
            <a:endParaRPr lang="fr-FR"/>
          </a:p>
        </p:txBody>
      </p:sp>
      <p:sp>
        <p:nvSpPr>
          <p:cNvPr id="69642" name="Text Box 11"/>
          <p:cNvSpPr txBox="1">
            <a:spLocks noChangeArrowheads="1"/>
          </p:cNvSpPr>
          <p:nvPr/>
        </p:nvSpPr>
        <p:spPr bwMode="auto">
          <a:xfrm>
            <a:off x="5519738" y="2924176"/>
            <a:ext cx="2952750" cy="823913"/>
          </a:xfrm>
          <a:prstGeom prst="rect">
            <a:avLst/>
          </a:prstGeom>
          <a:noFill/>
          <a:ln w="9525">
            <a:noFill/>
            <a:miter lim="800000"/>
            <a:headEnd/>
            <a:tailEnd/>
          </a:ln>
        </p:spPr>
        <p:txBody>
          <a:bodyPr>
            <a:spAutoFit/>
          </a:bodyPr>
          <a:lstStyle/>
          <a:p>
            <a:pPr>
              <a:spcBef>
                <a:spcPct val="50000"/>
              </a:spcBef>
            </a:pPr>
            <a:r>
              <a:rPr lang="fr-FR" sz="4800" b="1">
                <a:solidFill>
                  <a:srgbClr val="FF0000"/>
                </a:solidFill>
              </a:rPr>
              <a:t>X    X</a:t>
            </a:r>
          </a:p>
        </p:txBody>
      </p:sp>
      <p:sp>
        <p:nvSpPr>
          <p:cNvPr id="69643" name="Text Box 12"/>
          <p:cNvSpPr txBox="1">
            <a:spLocks noChangeArrowheads="1"/>
          </p:cNvSpPr>
          <p:nvPr/>
        </p:nvSpPr>
        <p:spPr bwMode="auto">
          <a:xfrm>
            <a:off x="7319963" y="3068638"/>
            <a:ext cx="2881312" cy="831850"/>
          </a:xfrm>
          <a:prstGeom prst="rect">
            <a:avLst/>
          </a:prstGeom>
          <a:solidFill>
            <a:srgbClr val="FFFF99"/>
          </a:solidFill>
          <a:ln w="9525">
            <a:solidFill>
              <a:schemeClr val="tx1"/>
            </a:solidFill>
            <a:miter lim="800000"/>
            <a:headEnd/>
            <a:tailEnd/>
          </a:ln>
        </p:spPr>
        <p:txBody>
          <a:bodyPr>
            <a:spAutoFit/>
          </a:bodyPr>
          <a:lstStyle/>
          <a:p>
            <a:pPr algn="ctr"/>
            <a:r>
              <a:rPr lang="fr-FR" sz="2400" b="1">
                <a:solidFill>
                  <a:srgbClr val="0066FF"/>
                </a:solidFill>
              </a:rPr>
              <a:t>Pas de production</a:t>
            </a:r>
          </a:p>
          <a:p>
            <a:pPr algn="ctr"/>
            <a:r>
              <a:rPr lang="fr-FR" sz="2400" b="1">
                <a:solidFill>
                  <a:srgbClr val="0066FF"/>
                </a:solidFill>
              </a:rPr>
              <a:t>de virions</a:t>
            </a:r>
          </a:p>
        </p:txBody>
      </p:sp>
      <p:sp>
        <p:nvSpPr>
          <p:cNvPr id="69644" name="Text Box 13"/>
          <p:cNvSpPr txBox="1">
            <a:spLocks noChangeArrowheads="1"/>
          </p:cNvSpPr>
          <p:nvPr/>
        </p:nvSpPr>
        <p:spPr bwMode="auto">
          <a:xfrm>
            <a:off x="3432175" y="5084763"/>
            <a:ext cx="3240088" cy="831850"/>
          </a:xfrm>
          <a:prstGeom prst="rect">
            <a:avLst/>
          </a:prstGeom>
          <a:solidFill>
            <a:srgbClr val="FFFF99"/>
          </a:solidFill>
          <a:ln w="9525">
            <a:solidFill>
              <a:schemeClr val="tx1"/>
            </a:solidFill>
            <a:miter lim="800000"/>
            <a:headEnd/>
            <a:tailEnd/>
          </a:ln>
        </p:spPr>
        <p:txBody>
          <a:bodyPr>
            <a:spAutoFit/>
          </a:bodyPr>
          <a:lstStyle/>
          <a:p>
            <a:pPr algn="ctr"/>
            <a:r>
              <a:rPr lang="fr-FR" sz="2400" b="1"/>
              <a:t>Infection persistante</a:t>
            </a:r>
          </a:p>
          <a:p>
            <a:pPr algn="ctr"/>
            <a:r>
              <a:rPr lang="fr-FR" sz="2400" b="1"/>
              <a:t>ou transformante</a:t>
            </a:r>
          </a:p>
        </p:txBody>
      </p:sp>
      <p:sp>
        <p:nvSpPr>
          <p:cNvPr id="69645" name="Line 14"/>
          <p:cNvSpPr>
            <a:spLocks noChangeShapeType="1"/>
          </p:cNvSpPr>
          <p:nvPr/>
        </p:nvSpPr>
        <p:spPr bwMode="auto">
          <a:xfrm>
            <a:off x="1919288" y="2060575"/>
            <a:ext cx="8424862" cy="0"/>
          </a:xfrm>
          <a:prstGeom prst="line">
            <a:avLst/>
          </a:prstGeom>
          <a:noFill/>
          <a:ln w="9525">
            <a:solidFill>
              <a:schemeClr val="tx1"/>
            </a:solidFill>
            <a:round/>
            <a:headEnd/>
            <a:tailEnd/>
          </a:ln>
        </p:spPr>
        <p:txBody>
          <a:bodyPr/>
          <a:lstStyle/>
          <a:p>
            <a:endParaRPr lang="fr-FR"/>
          </a:p>
        </p:txBody>
      </p:sp>
      <p:sp>
        <p:nvSpPr>
          <p:cNvPr id="69646" name="Line 15"/>
          <p:cNvSpPr>
            <a:spLocks noChangeShapeType="1"/>
          </p:cNvSpPr>
          <p:nvPr/>
        </p:nvSpPr>
        <p:spPr bwMode="auto">
          <a:xfrm>
            <a:off x="1919288" y="2060575"/>
            <a:ext cx="0" cy="4032250"/>
          </a:xfrm>
          <a:prstGeom prst="line">
            <a:avLst/>
          </a:prstGeom>
          <a:noFill/>
          <a:ln w="9525">
            <a:solidFill>
              <a:schemeClr val="tx1"/>
            </a:solidFill>
            <a:round/>
            <a:headEnd/>
            <a:tailEnd/>
          </a:ln>
        </p:spPr>
        <p:txBody>
          <a:bodyPr/>
          <a:lstStyle/>
          <a:p>
            <a:endParaRPr lang="fr-FR"/>
          </a:p>
        </p:txBody>
      </p:sp>
      <p:sp>
        <p:nvSpPr>
          <p:cNvPr id="69647" name="Line 16"/>
          <p:cNvSpPr>
            <a:spLocks noChangeShapeType="1"/>
          </p:cNvSpPr>
          <p:nvPr/>
        </p:nvSpPr>
        <p:spPr bwMode="auto">
          <a:xfrm>
            <a:off x="10344150" y="2060575"/>
            <a:ext cx="0" cy="4032250"/>
          </a:xfrm>
          <a:prstGeom prst="line">
            <a:avLst/>
          </a:prstGeom>
          <a:noFill/>
          <a:ln w="9525">
            <a:solidFill>
              <a:schemeClr val="tx1"/>
            </a:solidFill>
            <a:round/>
            <a:headEnd/>
            <a:tailEnd/>
          </a:ln>
        </p:spPr>
        <p:txBody>
          <a:bodyPr/>
          <a:lstStyle/>
          <a:p>
            <a:endParaRPr lang="fr-FR"/>
          </a:p>
        </p:txBody>
      </p:sp>
      <p:sp>
        <p:nvSpPr>
          <p:cNvPr id="69648" name="Line 17"/>
          <p:cNvSpPr>
            <a:spLocks noChangeShapeType="1"/>
          </p:cNvSpPr>
          <p:nvPr/>
        </p:nvSpPr>
        <p:spPr bwMode="auto">
          <a:xfrm>
            <a:off x="1919288" y="6092825"/>
            <a:ext cx="8424862" cy="0"/>
          </a:xfrm>
          <a:prstGeom prst="line">
            <a:avLst/>
          </a:prstGeom>
          <a:noFill/>
          <a:ln w="9525">
            <a:solidFill>
              <a:schemeClr val="tx1"/>
            </a:solidFill>
            <a:round/>
            <a:headEnd/>
            <a:tailEnd/>
          </a:ln>
        </p:spPr>
        <p:txBody>
          <a:bodyPr/>
          <a:lstStyle/>
          <a:p>
            <a:endParaRPr lang="fr-FR"/>
          </a:p>
        </p:txBody>
      </p:sp>
      <p:sp>
        <p:nvSpPr>
          <p:cNvPr id="69649" name="Text Box 18"/>
          <p:cNvSpPr txBox="1">
            <a:spLocks noChangeArrowheads="1"/>
          </p:cNvSpPr>
          <p:nvPr/>
        </p:nvSpPr>
        <p:spPr bwMode="auto">
          <a:xfrm>
            <a:off x="2424114" y="4365626"/>
            <a:ext cx="5184775" cy="588963"/>
          </a:xfrm>
          <a:prstGeom prst="rect">
            <a:avLst/>
          </a:prstGeom>
          <a:noFill/>
          <a:ln w="9525">
            <a:solidFill>
              <a:schemeClr val="accent2"/>
            </a:solidFill>
            <a:miter lim="800000"/>
            <a:headEnd/>
            <a:tailEnd/>
          </a:ln>
        </p:spPr>
        <p:txBody>
          <a:bodyPr>
            <a:spAutoFit/>
          </a:bodyPr>
          <a:lstStyle/>
          <a:p>
            <a:pPr algn="ctr">
              <a:spcBef>
                <a:spcPct val="50000"/>
              </a:spcBef>
            </a:pPr>
            <a:r>
              <a:rPr lang="fr-FR" sz="3200" b="1">
                <a:solidFill>
                  <a:schemeClr val="accent2"/>
                </a:solidFill>
              </a:rPr>
              <a:t>¢</a:t>
            </a:r>
            <a:r>
              <a:rPr lang="fr-FR" sz="2800" b="1">
                <a:solidFill>
                  <a:schemeClr val="accent2"/>
                </a:solidFill>
              </a:rPr>
              <a:t> Survie avec modification</a:t>
            </a:r>
          </a:p>
        </p:txBody>
      </p:sp>
      <p:sp>
        <p:nvSpPr>
          <p:cNvPr id="69650" name="Line 19"/>
          <p:cNvSpPr>
            <a:spLocks noChangeShapeType="1"/>
          </p:cNvSpPr>
          <p:nvPr/>
        </p:nvSpPr>
        <p:spPr bwMode="auto">
          <a:xfrm>
            <a:off x="4727575" y="3860801"/>
            <a:ext cx="0" cy="360363"/>
          </a:xfrm>
          <a:prstGeom prst="line">
            <a:avLst/>
          </a:prstGeom>
          <a:noFill/>
          <a:ln w="57150">
            <a:solidFill>
              <a:schemeClr val="tx1"/>
            </a:solidFill>
            <a:round/>
            <a:headEnd/>
            <a:tailEnd type="triangle" w="med" len="med"/>
          </a:ln>
        </p:spPr>
        <p:txBody>
          <a:bodyPr/>
          <a:lstStyle/>
          <a:p>
            <a:endParaRPr lang="fr-FR"/>
          </a:p>
        </p:txBody>
      </p:sp>
      <p:pic>
        <p:nvPicPr>
          <p:cNvPr id="2" name="Son enregistré">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5851526" y="3184526"/>
            <a:ext cx="487363" cy="487363"/>
          </a:xfrm>
          <a:prstGeom prst="rect">
            <a:avLst/>
          </a:prstGeom>
        </p:spPr>
      </p:pic>
    </p:spTree>
    <p:extLst>
      <p:ext uri="{BB962C8B-B14F-4D97-AF65-F5344CB8AC3E}">
        <p14:creationId xmlns:p14="http://schemas.microsoft.com/office/powerpoint/2010/main" val="6125488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39049" fill="hold"/>
                                        <p:tgtEl>
                                          <p:spTgt spid="2"/>
                                        </p:tgtEl>
                                      </p:cBhvr>
                                    </p:cmd>
                                  </p:childTnLst>
                                </p:cTn>
                              </p:par>
                            </p:childTnLst>
                          </p:cTn>
                        </p:par>
                      </p:childTnLst>
                    </p:cTn>
                  </p:par>
                </p:childTnLst>
              </p:cTn>
              <p:nextCondLst>
                <p:cond evt="onClick" delay="0">
                  <p:tgtEl>
                    <p:spTgt spid="2"/>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theme/theme1.xml><?xml version="1.0" encoding="utf-8"?>
<a:theme xmlns:a="http://schemas.openxmlformats.org/drawingml/2006/main" name="Brin">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6</TotalTime>
  <Words>658</Words>
  <Application>Microsoft Office PowerPoint</Application>
  <PresentationFormat>Grand écran</PresentationFormat>
  <Paragraphs>71</Paragraphs>
  <Slides>17</Slides>
  <Notes>12</Notes>
  <HiddenSlides>0</HiddenSlides>
  <MMClips>15</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17</vt:i4>
      </vt:variant>
    </vt:vector>
  </HeadingPairs>
  <TitlesOfParts>
    <vt:vector size="24" baseType="lpstr">
      <vt:lpstr>Algerian</vt:lpstr>
      <vt:lpstr>Arial</vt:lpstr>
      <vt:lpstr>Calibri</vt:lpstr>
      <vt:lpstr>Century Gothic</vt:lpstr>
      <vt:lpstr>Wingdings</vt:lpstr>
      <vt:lpstr>Wingdings 3</vt:lpstr>
      <vt:lpstr>Brin</vt:lpstr>
      <vt:lpstr>Présentation PowerPoint</vt:lpstr>
      <vt:lpstr>INTRODUCTION</vt:lpstr>
      <vt:lpstr> 1-CONDITIONS NÉCESSAIRES À LA MULTIPLICATION D'UN VIRUS :  </vt:lpstr>
      <vt:lpstr>Présentation PowerPoint</vt:lpstr>
      <vt:lpstr>Présentation PowerPoint</vt:lpstr>
      <vt:lpstr>Présentation PowerPoint</vt:lpstr>
      <vt:lpstr>Présentation PowerPoint</vt:lpstr>
      <vt:lpstr>Le spectre d’hôte</vt:lpstr>
      <vt:lpstr>Présentation PowerPoint</vt:lpstr>
      <vt:lpstr>Interactions virus/cellules Définitions :</vt:lpstr>
      <vt:lpstr>Présentation PowerPoint</vt:lpstr>
      <vt:lpstr>Présentation PowerPoint</vt:lpstr>
      <vt:lpstr>Présentation PowerPoint</vt:lpstr>
      <vt:lpstr>Interactions virus/cellules Définitions :</vt:lpstr>
      <vt:lpstr>Présentation PowerPoint</vt:lpstr>
      <vt:lpstr>Présentation PowerPoint</vt:lpstr>
      <vt:lpstr>Interactions virus/cellules Définitions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Hello</dc:creator>
  <cp:lastModifiedBy>Hello</cp:lastModifiedBy>
  <cp:revision>1</cp:revision>
  <dcterms:created xsi:type="dcterms:W3CDTF">2020-09-05T23:22:44Z</dcterms:created>
  <dcterms:modified xsi:type="dcterms:W3CDTF">2020-09-05T23:29:32Z</dcterms:modified>
</cp:coreProperties>
</file>