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63" r:id="rId1"/>
  </p:sldMasterIdLst>
  <p:notesMasterIdLst>
    <p:notesMasterId r:id="rId17"/>
  </p:notesMasterIdLst>
  <p:sldIdLst>
    <p:sldId id="406" r:id="rId2"/>
    <p:sldId id="258" r:id="rId3"/>
    <p:sldId id="346" r:id="rId4"/>
    <p:sldId id="347" r:id="rId5"/>
    <p:sldId id="348" r:id="rId6"/>
    <p:sldId id="317" r:id="rId7"/>
    <p:sldId id="349" r:id="rId8"/>
    <p:sldId id="350" r:id="rId9"/>
    <p:sldId id="351" r:id="rId10"/>
    <p:sldId id="352" r:id="rId11"/>
    <p:sldId id="353" r:id="rId12"/>
    <p:sldId id="354" r:id="rId13"/>
    <p:sldId id="355" r:id="rId14"/>
    <p:sldId id="356" r:id="rId15"/>
    <p:sldId id="35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6" autoAdjust="0"/>
    <p:restoredTop sz="94660"/>
  </p:normalViewPr>
  <p:slideViewPr>
    <p:cSldViewPr>
      <p:cViewPr varScale="1">
        <p:scale>
          <a:sx n="94" d="100"/>
          <a:sy n="94" d="100"/>
        </p:scale>
        <p:origin x="113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733C7-ED66-40D8-A048-9C504F40B4DE}" type="datetimeFigureOut">
              <a:rPr lang="fr-FR" smtClean="0"/>
              <a:pPr/>
              <a:t>06/09/2020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A8537F-3C7C-4232-9986-ADF7BF60F2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8537F-3C7C-4232-9986-ADF7BF60F20E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8384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3949B7-22CA-4AB2-B0CF-096AC72CA1F1}" type="slidenum">
              <a:rPr lang="fr-FR"/>
              <a:pPr/>
              <a:t>3</a:t>
            </a:fld>
            <a:endParaRPr lang="fr-FR"/>
          </a:p>
        </p:txBody>
      </p:sp>
      <p:sp>
        <p:nvSpPr>
          <p:cNvPr id="212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CC1941-5CAB-457F-BC12-16DAD13F15FB}" type="slidenum">
              <a:rPr lang="fr-FR"/>
              <a:pPr/>
              <a:t>4</a:t>
            </a:fld>
            <a:endParaRPr lang="fr-FR"/>
          </a:p>
        </p:txBody>
      </p:sp>
      <p:sp>
        <p:nvSpPr>
          <p:cNvPr id="214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EEB5D3-8889-42D0-9B79-25686F9E23BC}" type="slidenum">
              <a:rPr lang="fr-FR"/>
              <a:pPr/>
              <a:t>5</a:t>
            </a:fld>
            <a:endParaRPr lang="fr-FR"/>
          </a:p>
        </p:txBody>
      </p:sp>
      <p:sp>
        <p:nvSpPr>
          <p:cNvPr id="215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2F755D-7CC3-445C-9147-613D82551EA5}" type="slidenum">
              <a:rPr lang="fr-FR"/>
              <a:pPr/>
              <a:t>7</a:t>
            </a:fld>
            <a:endParaRPr lang="fr-FR"/>
          </a:p>
        </p:txBody>
      </p:sp>
      <p:sp>
        <p:nvSpPr>
          <p:cNvPr id="216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B566D8-B362-45AE-AF40-6B669158E97E}" type="slidenum">
              <a:rPr lang="fr-FR"/>
              <a:pPr/>
              <a:t>8</a:t>
            </a:fld>
            <a:endParaRPr lang="fr-FR"/>
          </a:p>
        </p:txBody>
      </p:sp>
      <p:sp>
        <p:nvSpPr>
          <p:cNvPr id="217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C2183C-68F2-48D5-BABB-6EDED7CF70DC}" type="slidenum">
              <a:rPr lang="fr-FR"/>
              <a:pPr/>
              <a:t>9</a:t>
            </a:fld>
            <a:endParaRPr lang="fr-FR"/>
          </a:p>
        </p:txBody>
      </p:sp>
      <p:sp>
        <p:nvSpPr>
          <p:cNvPr id="218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60C2D5-724F-4400-A82B-DB4264DACE72}" type="slidenum">
              <a:rPr lang="fr-FR"/>
              <a:pPr/>
              <a:t>10</a:t>
            </a:fld>
            <a:endParaRPr lang="fr-FR"/>
          </a:p>
        </p:txBody>
      </p:sp>
      <p:sp>
        <p:nvSpPr>
          <p:cNvPr id="220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B5B8D9B-92EA-4810-AD59-4CA202A3402E}" type="slidenum">
              <a:rPr lang="fr-FR"/>
              <a:pPr/>
              <a:t>11</a:t>
            </a:fld>
            <a:endParaRPr lang="fr-FR"/>
          </a:p>
        </p:txBody>
      </p:sp>
      <p:sp>
        <p:nvSpPr>
          <p:cNvPr id="221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88A0066-9418-4C87-A30B-4A465A541B5C}" type="slidenum">
              <a:rPr lang="fr-FR"/>
              <a:pPr/>
              <a:t>12</a:t>
            </a:fld>
            <a:endParaRPr lang="fr-FR"/>
          </a:p>
        </p:txBody>
      </p:sp>
      <p:sp>
        <p:nvSpPr>
          <p:cNvPr id="222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5B6D80-2E4B-4BB9-916A-B7AED841A0B5}" type="slidenum">
              <a:rPr lang="fr-FR"/>
              <a:pPr/>
              <a:t>13</a:t>
            </a:fld>
            <a:endParaRPr lang="fr-FR"/>
          </a:p>
        </p:txBody>
      </p:sp>
      <p:sp>
        <p:nvSpPr>
          <p:cNvPr id="223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3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446C32-4BB7-44F2-9B66-F3D3EA69D00C}" type="slidenum">
              <a:rPr lang="fr-FR"/>
              <a:pPr/>
              <a:t>14</a:t>
            </a:fld>
            <a:endParaRPr lang="fr-FR"/>
          </a:p>
        </p:txBody>
      </p:sp>
      <p:sp>
        <p:nvSpPr>
          <p:cNvPr id="224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B390C83-9AD3-47DE-B12B-9A28F7B1C6CC}" type="slidenum">
              <a:rPr lang="fr-FR"/>
              <a:pPr/>
              <a:t>15</a:t>
            </a:fld>
            <a:endParaRPr lang="fr-FR"/>
          </a:p>
        </p:txBody>
      </p:sp>
      <p:sp>
        <p:nvSpPr>
          <p:cNvPr id="225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1EE7-5314-4773-B83A-9B20C0579F4E}" type="datetimeFigureOut">
              <a:rPr lang="fr-FR" smtClean="0"/>
              <a:pPr/>
              <a:t>06/09/2020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799C4D78-B96A-452C-92D8-E4C8497ACE8D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1445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1EE7-5314-4773-B83A-9B20C0579F4E}" type="datetimeFigureOut">
              <a:rPr lang="fr-FR" smtClean="0"/>
              <a:pPr/>
              <a:t>06/09/2020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C4D78-B96A-452C-92D8-E4C8497ACE8D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5352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1EE7-5314-4773-B83A-9B20C0579F4E}" type="datetimeFigureOut">
              <a:rPr lang="fr-FR" smtClean="0"/>
              <a:pPr/>
              <a:t>06/09/2020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799C4D78-B96A-452C-92D8-E4C8497ACE8D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9247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1EE7-5314-4773-B83A-9B20C0579F4E}" type="datetimeFigureOut">
              <a:rPr lang="fr-FR" smtClean="0"/>
              <a:pPr/>
              <a:t>06/09/2020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799C4D78-B96A-452C-92D8-E4C8497ACE8D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678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1EE7-5314-4773-B83A-9B20C0579F4E}" type="datetimeFigureOut">
              <a:rPr lang="fr-FR" smtClean="0"/>
              <a:pPr/>
              <a:t>06/09/2020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799C4D78-B96A-452C-92D8-E4C8497ACE8D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2732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1EE7-5314-4773-B83A-9B20C0579F4E}" type="datetimeFigureOut">
              <a:rPr lang="fr-FR" smtClean="0"/>
              <a:pPr/>
              <a:t>06/09/2020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C4D78-B96A-452C-92D8-E4C8497ACE8D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6712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1EE7-5314-4773-B83A-9B20C0579F4E}" type="datetimeFigureOut">
              <a:rPr lang="fr-FR" smtClean="0"/>
              <a:pPr/>
              <a:t>06/09/2020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C4D78-B96A-452C-92D8-E4C8497ACE8D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2925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1EE7-5314-4773-B83A-9B20C0579F4E}" type="datetimeFigureOut">
              <a:rPr lang="fr-FR" smtClean="0"/>
              <a:pPr/>
              <a:t>06/09/2020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C4D78-B96A-452C-92D8-E4C8497ACE8D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4649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1EE7-5314-4773-B83A-9B20C0579F4E}" type="datetimeFigureOut">
              <a:rPr lang="fr-FR" smtClean="0"/>
              <a:pPr/>
              <a:t>06/09/2020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99C4D78-B96A-452C-92D8-E4C8497ACE8D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8832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1EE7-5314-4773-B83A-9B20C0579F4E}" type="datetimeFigureOut">
              <a:rPr lang="fr-FR" smtClean="0"/>
              <a:pPr/>
              <a:t>06/09/2020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799C4D78-B96A-452C-92D8-E4C8497ACE8D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2003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1EE7-5314-4773-B83A-9B20C0579F4E}" type="datetimeFigureOut">
              <a:rPr lang="fr-FR" smtClean="0"/>
              <a:pPr/>
              <a:t>06/09/2020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799C4D78-B96A-452C-92D8-E4C8497ACE8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6591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1EE7-5314-4773-B83A-9B20C0579F4E}" type="datetimeFigureOut">
              <a:rPr lang="fr-FR" smtClean="0"/>
              <a:pPr/>
              <a:t>06/09/2020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99C4D78-B96A-452C-92D8-E4C8497ACE8D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0888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1EE7-5314-4773-B83A-9B20C0579F4E}" type="datetimeFigureOut">
              <a:rPr lang="fr-FR" smtClean="0"/>
              <a:pPr/>
              <a:t>06/09/2020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99C4D78-B96A-452C-92D8-E4C8497ACE8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899857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1EE7-5314-4773-B83A-9B20C0579F4E}" type="datetimeFigureOut">
              <a:rPr lang="fr-FR" smtClean="0"/>
              <a:pPr/>
              <a:t>06/09/2020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99C4D78-B96A-452C-92D8-E4C8497ACE8D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1542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1EE7-5314-4773-B83A-9B20C0579F4E}" type="datetimeFigureOut">
              <a:rPr lang="fr-FR" smtClean="0"/>
              <a:pPr/>
              <a:t>06/09/2020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C4D78-B96A-452C-92D8-E4C8497ACE8D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6314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1EE7-5314-4773-B83A-9B20C0579F4E}" type="datetimeFigureOut">
              <a:rPr lang="fr-FR" smtClean="0"/>
              <a:pPr/>
              <a:t>06/09/2020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C4D78-B96A-452C-92D8-E4C8497ACE8D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3235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48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D1EE7-5314-4773-B83A-9B20C0579F4E}" type="datetimeFigureOut">
              <a:rPr lang="fr-FR" smtClean="0"/>
              <a:pPr/>
              <a:t>06/09/2020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99C4D78-B96A-452C-92D8-E4C8497ACE8D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2898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4" r:id="rId1"/>
    <p:sldLayoutId id="2147484065" r:id="rId2"/>
    <p:sldLayoutId id="2147484066" r:id="rId3"/>
    <p:sldLayoutId id="2147484067" r:id="rId4"/>
    <p:sldLayoutId id="2147484068" r:id="rId5"/>
    <p:sldLayoutId id="2147484069" r:id="rId6"/>
    <p:sldLayoutId id="2147484070" r:id="rId7"/>
    <p:sldLayoutId id="2147484071" r:id="rId8"/>
    <p:sldLayoutId id="2147484072" r:id="rId9"/>
    <p:sldLayoutId id="2147484073" r:id="rId10"/>
    <p:sldLayoutId id="2147484074" r:id="rId11"/>
    <p:sldLayoutId id="2147484075" r:id="rId12"/>
    <p:sldLayoutId id="2147484076" r:id="rId13"/>
    <p:sldLayoutId id="2147484077" r:id="rId14"/>
    <p:sldLayoutId id="2147484078" r:id="rId15"/>
    <p:sldLayoutId id="214748407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03712" y="1106742"/>
            <a:ext cx="5891022" cy="4304663"/>
          </a:xfrm>
        </p:spPr>
        <p:txBody>
          <a:bodyPr>
            <a:noAutofit/>
          </a:bodyPr>
          <a:lstStyle/>
          <a:p>
            <a:pPr algn="ctr"/>
            <a:endParaRPr lang="fr-FR" sz="2700" dirty="0">
              <a:latin typeface="Algerian" pitchFamily="82" charset="0"/>
            </a:endParaRPr>
          </a:p>
          <a:p>
            <a:pPr algn="ctr"/>
            <a:r>
              <a:rPr lang="fr-FR" sz="4950" dirty="0">
                <a:latin typeface="Algerian" pitchFamily="82" charset="0"/>
              </a:rPr>
              <a:t>Multiplication des virus</a:t>
            </a:r>
          </a:p>
          <a:p>
            <a:pPr algn="ctr"/>
            <a:r>
              <a:rPr lang="fr-FR" sz="4950">
                <a:latin typeface="Algerian" pitchFamily="82" charset="0"/>
              </a:rPr>
              <a:t>Partie </a:t>
            </a:r>
            <a:r>
              <a:rPr lang="fr-FR" sz="4950" smtClean="0">
                <a:latin typeface="Algerian" pitchFamily="82" charset="0"/>
              </a:rPr>
              <a:t>2</a:t>
            </a:r>
            <a:endParaRPr lang="fr-FR" sz="4950" dirty="0">
              <a:latin typeface="Algerian" pitchFamily="82" charset="0"/>
            </a:endParaRPr>
          </a:p>
          <a:p>
            <a:pPr algn="ctr"/>
            <a:r>
              <a:rPr lang="fr-FR" sz="2700" dirty="0">
                <a:latin typeface="Algerian" pitchFamily="82" charset="0"/>
              </a:rPr>
              <a:t>DR. L .BECHIR</a:t>
            </a:r>
          </a:p>
          <a:p>
            <a:pPr algn="ctr"/>
            <a:r>
              <a:rPr lang="fr-FR" sz="2700" dirty="0">
                <a:latin typeface="Algerian" pitchFamily="82" charset="0"/>
              </a:rPr>
              <a:t>Laboratoire de Bactériologie</a:t>
            </a:r>
          </a:p>
          <a:p>
            <a:pPr algn="ctr"/>
            <a:r>
              <a:rPr lang="fr-FR" sz="2700" dirty="0">
                <a:latin typeface="Algerian" pitchFamily="82" charset="0"/>
              </a:rPr>
              <a:t>Faculté de Médecine de CONSTANTINE</a:t>
            </a:r>
          </a:p>
          <a:p>
            <a:pPr algn="ctr"/>
            <a:endParaRPr lang="fr-FR" sz="2700" b="1" dirty="0">
              <a:latin typeface="Algerian" pitchFamily="82" charset="0"/>
            </a:endParaRPr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388645" y="3245645"/>
            <a:ext cx="365522" cy="36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84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71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Cycle de </a:t>
            </a:r>
            <a:r>
              <a:rPr lang="fr-FR" dirty="0" err="1" smtClean="0"/>
              <a:t>multuplication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33400" indent="-533400">
              <a:lnSpc>
                <a:spcPct val="90000"/>
              </a:lnSpc>
              <a:buFontTx/>
              <a:buNone/>
            </a:pPr>
            <a:r>
              <a:rPr lang="fr-FR" sz="2800" dirty="0" smtClean="0">
                <a:latin typeface="Comic Sans MS" pitchFamily="66" charset="0"/>
              </a:rPr>
              <a:t>Le cycle de réplication virale se décompose </a:t>
            </a:r>
          </a:p>
          <a:p>
            <a:pPr marL="533400" indent="-533400" algn="ctr">
              <a:lnSpc>
                <a:spcPct val="90000"/>
              </a:lnSpc>
              <a:buFontTx/>
              <a:buNone/>
            </a:pPr>
            <a:r>
              <a:rPr lang="fr-FR" sz="2800" u="sng" dirty="0" smtClean="0">
                <a:solidFill>
                  <a:srgbClr val="003399"/>
                </a:solidFill>
                <a:latin typeface="Comic Sans MS" pitchFamily="66" charset="0"/>
              </a:rPr>
              <a:t>en </a:t>
            </a:r>
            <a:r>
              <a:rPr lang="fr-FR" sz="2800" u="sng" dirty="0" smtClean="0">
                <a:solidFill>
                  <a:srgbClr val="FF0000"/>
                </a:solidFill>
                <a:latin typeface="Comic Sans MS" pitchFamily="66" charset="0"/>
              </a:rPr>
              <a:t>6</a:t>
            </a:r>
            <a:r>
              <a:rPr lang="fr-FR" sz="2800" u="sng" dirty="0" smtClean="0">
                <a:solidFill>
                  <a:srgbClr val="003399"/>
                </a:solidFill>
                <a:latin typeface="Comic Sans MS" pitchFamily="66" charset="0"/>
              </a:rPr>
              <a:t> étapes</a:t>
            </a:r>
            <a:r>
              <a:rPr lang="fr-FR" sz="2800" dirty="0" smtClean="0">
                <a:solidFill>
                  <a:srgbClr val="003399"/>
                </a:solidFill>
                <a:latin typeface="Comic Sans MS" pitchFamily="66" charset="0"/>
              </a:rPr>
              <a:t>:</a:t>
            </a:r>
          </a:p>
          <a:p>
            <a:pPr marL="533400" indent="-533400">
              <a:lnSpc>
                <a:spcPct val="90000"/>
              </a:lnSpc>
              <a:buClr>
                <a:srgbClr val="FF0000"/>
              </a:buClr>
              <a:buFontTx/>
              <a:buAutoNum type="arabicPeriod"/>
            </a:pPr>
            <a:r>
              <a:rPr lang="fr-FR" sz="2800" dirty="0" smtClean="0">
                <a:solidFill>
                  <a:srgbClr val="FF0000"/>
                </a:solidFill>
                <a:latin typeface="Comic Sans MS" pitchFamily="66" charset="0"/>
              </a:rPr>
              <a:t>Attachement:</a:t>
            </a:r>
            <a:r>
              <a:rPr lang="fr-FR" sz="2800" dirty="0" smtClean="0">
                <a:latin typeface="Comic Sans MS" pitchFamily="66" charset="0"/>
              </a:rPr>
              <a:t> du virus sur des récepteurs de la membrane cellulaire</a:t>
            </a:r>
            <a:endParaRPr lang="en-US" sz="2800" dirty="0" smtClean="0">
              <a:latin typeface="Comic Sans MS" pitchFamily="66" charset="0"/>
            </a:endParaRPr>
          </a:p>
          <a:p>
            <a:pPr marL="533400" indent="-533400">
              <a:lnSpc>
                <a:spcPct val="90000"/>
              </a:lnSpc>
              <a:buClr>
                <a:srgbClr val="FF0000"/>
              </a:buClr>
              <a:buFontTx/>
              <a:buAutoNum type="arabicPeriod"/>
            </a:pPr>
            <a:r>
              <a:rPr lang="fr-FR" sz="2800" dirty="0" smtClean="0">
                <a:solidFill>
                  <a:srgbClr val="FF0000"/>
                </a:solidFill>
                <a:latin typeface="Comic Sans MS" pitchFamily="66" charset="0"/>
              </a:rPr>
              <a:t>pénétration:</a:t>
            </a:r>
            <a:r>
              <a:rPr lang="fr-FR" sz="2800" dirty="0" smtClean="0">
                <a:latin typeface="Comic Sans MS" pitchFamily="66" charset="0"/>
              </a:rPr>
              <a:t> </a:t>
            </a:r>
            <a:r>
              <a:rPr lang="fr-FR" sz="2800" dirty="0" err="1" smtClean="0">
                <a:latin typeface="Comic Sans MS" pitchFamily="66" charset="0"/>
              </a:rPr>
              <a:t>endocytose</a:t>
            </a:r>
            <a:r>
              <a:rPr lang="fr-FR" sz="2800" dirty="0" smtClean="0">
                <a:latin typeface="Comic Sans MS" pitchFamily="66" charset="0"/>
              </a:rPr>
              <a:t>, fusion</a:t>
            </a:r>
            <a:endParaRPr lang="en-US" sz="2800" dirty="0" smtClean="0">
              <a:latin typeface="Comic Sans MS" pitchFamily="66" charset="0"/>
            </a:endParaRPr>
          </a:p>
          <a:p>
            <a:pPr marL="533400" indent="-533400">
              <a:lnSpc>
                <a:spcPct val="90000"/>
              </a:lnSpc>
              <a:buClr>
                <a:srgbClr val="FF0000"/>
              </a:buClr>
              <a:buFontTx/>
              <a:buAutoNum type="arabicPeriod"/>
            </a:pPr>
            <a:r>
              <a:rPr lang="fr-FR" sz="2800" dirty="0" smtClean="0">
                <a:solidFill>
                  <a:srgbClr val="FF0000"/>
                </a:solidFill>
                <a:latin typeface="Comic Sans MS" pitchFamily="66" charset="0"/>
              </a:rPr>
              <a:t>Décapsidation:</a:t>
            </a:r>
            <a:r>
              <a:rPr lang="fr-FR" sz="2800" dirty="0" smtClean="0">
                <a:latin typeface="Comic Sans MS" pitchFamily="66" charset="0"/>
              </a:rPr>
              <a:t> et </a:t>
            </a:r>
            <a:r>
              <a:rPr lang="fr-FR" sz="2800" dirty="0" smtClean="0">
                <a:solidFill>
                  <a:srgbClr val="FF0000"/>
                </a:solidFill>
                <a:latin typeface="Comic Sans MS" pitchFamily="66" charset="0"/>
              </a:rPr>
              <a:t>libération du génome</a:t>
            </a:r>
            <a:r>
              <a:rPr lang="fr-FR" sz="2800" dirty="0" smtClean="0">
                <a:latin typeface="Comic Sans MS" pitchFamily="66" charset="0"/>
              </a:rPr>
              <a:t> viral</a:t>
            </a:r>
            <a:endParaRPr lang="en-US" sz="2800" dirty="0" smtClean="0">
              <a:latin typeface="Comic Sans MS" pitchFamily="66" charset="0"/>
            </a:endParaRPr>
          </a:p>
          <a:p>
            <a:pPr marL="533400" indent="-533400">
              <a:lnSpc>
                <a:spcPct val="90000"/>
              </a:lnSpc>
              <a:buClr>
                <a:srgbClr val="FF0000"/>
              </a:buClr>
              <a:buFontTx/>
              <a:buAutoNum type="arabicPeriod"/>
            </a:pPr>
            <a:r>
              <a:rPr lang="fr-FR" sz="2800" dirty="0" smtClean="0">
                <a:solidFill>
                  <a:srgbClr val="FF0000"/>
                </a:solidFill>
                <a:latin typeface="Comic Sans MS" pitchFamily="66" charset="0"/>
              </a:rPr>
              <a:t>réplication:</a:t>
            </a:r>
            <a:r>
              <a:rPr lang="fr-FR" sz="2800" dirty="0" smtClean="0">
                <a:latin typeface="Comic Sans MS" pitchFamily="66" charset="0"/>
              </a:rPr>
              <a:t> transcription et traduction des protéines précoces de régulation; synthèse des acides nucléiques viraux; production des protéines virales tardives structurales</a:t>
            </a:r>
            <a:endParaRPr lang="en-US" sz="2800" dirty="0" smtClean="0">
              <a:latin typeface="Comic Sans MS" pitchFamily="66" charset="0"/>
            </a:endParaRPr>
          </a:p>
          <a:p>
            <a:pPr marL="533400" indent="-533400">
              <a:lnSpc>
                <a:spcPct val="90000"/>
              </a:lnSpc>
              <a:buClr>
                <a:srgbClr val="FF0000"/>
              </a:buClr>
              <a:buFontTx/>
              <a:buAutoNum type="arabicPeriod"/>
            </a:pPr>
            <a:r>
              <a:rPr lang="fr-FR" sz="2800" dirty="0" smtClean="0">
                <a:solidFill>
                  <a:srgbClr val="FF0000"/>
                </a:solidFill>
                <a:latin typeface="Comic Sans MS" pitchFamily="66" charset="0"/>
              </a:rPr>
              <a:t>assemblage</a:t>
            </a:r>
            <a:r>
              <a:rPr lang="fr-FR" sz="2800" dirty="0" smtClean="0">
                <a:latin typeface="Comic Sans MS" pitchFamily="66" charset="0"/>
              </a:rPr>
              <a:t> et </a:t>
            </a:r>
            <a:r>
              <a:rPr lang="fr-FR" sz="2800" dirty="0" smtClean="0">
                <a:solidFill>
                  <a:srgbClr val="FF0000"/>
                </a:solidFill>
                <a:latin typeface="Comic Sans MS" pitchFamily="66" charset="0"/>
              </a:rPr>
              <a:t>maturation</a:t>
            </a:r>
            <a:r>
              <a:rPr lang="fr-FR" sz="2800" dirty="0" smtClean="0">
                <a:latin typeface="Comic Sans MS" pitchFamily="66" charset="0"/>
              </a:rPr>
              <a:t> des nouveaux virus</a:t>
            </a:r>
            <a:endParaRPr lang="en-US" sz="2800" dirty="0" smtClean="0">
              <a:latin typeface="Comic Sans MS" pitchFamily="66" charset="0"/>
            </a:endParaRPr>
          </a:p>
          <a:p>
            <a:pPr marL="533400" indent="-533400">
              <a:lnSpc>
                <a:spcPct val="90000"/>
              </a:lnSpc>
              <a:buClr>
                <a:srgbClr val="FF0000"/>
              </a:buClr>
              <a:buFontTx/>
              <a:buNone/>
            </a:pPr>
            <a:r>
              <a:rPr lang="fr-FR" sz="2800" dirty="0" smtClean="0">
                <a:solidFill>
                  <a:srgbClr val="FF0000"/>
                </a:solidFill>
                <a:latin typeface="Comic Sans MS" pitchFamily="66" charset="0"/>
              </a:rPr>
              <a:t>6.   Libération:</a:t>
            </a:r>
            <a:r>
              <a:rPr lang="fr-FR" sz="2800" dirty="0" smtClean="0">
                <a:latin typeface="Comic Sans MS" pitchFamily="66" charset="0"/>
              </a:rPr>
              <a:t> des virions néoformés</a:t>
            </a:r>
          </a:p>
          <a:p>
            <a:endParaRPr lang="fr-FR" dirty="0"/>
          </a:p>
        </p:txBody>
      </p:sp>
      <p:pic>
        <p:nvPicPr>
          <p:cNvPr id="4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260350"/>
            <a:ext cx="8642350" cy="1143000"/>
          </a:xfrm>
          <a:solidFill>
            <a:srgbClr val="FFFFCC"/>
          </a:solidFill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fr-FR" sz="4000" b="1" smtClean="0"/>
              <a:t>Les différentes étapes du cycle de</a:t>
            </a:r>
            <a:br>
              <a:rPr lang="fr-FR" sz="4000" b="1" smtClean="0"/>
            </a:br>
            <a:r>
              <a:rPr lang="fr-FR" sz="4000" b="1" smtClean="0"/>
              <a:t>réplication</a:t>
            </a:r>
          </a:p>
        </p:txBody>
      </p:sp>
      <p:sp>
        <p:nvSpPr>
          <p:cNvPr id="74755" name="Oval 11"/>
          <p:cNvSpPr>
            <a:spLocks noChangeArrowheads="1"/>
          </p:cNvSpPr>
          <p:nvPr/>
        </p:nvSpPr>
        <p:spPr bwMode="auto">
          <a:xfrm>
            <a:off x="2627313" y="1989138"/>
            <a:ext cx="4176712" cy="3671887"/>
          </a:xfrm>
          <a:prstGeom prst="ellipse">
            <a:avLst/>
          </a:prstGeom>
          <a:solidFill>
            <a:srgbClr val="FF9933"/>
          </a:solidFill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fr-FR">
              <a:solidFill>
                <a:srgbClr val="0066FF"/>
              </a:solidFill>
            </a:endParaRPr>
          </a:p>
        </p:txBody>
      </p:sp>
      <p:sp>
        <p:nvSpPr>
          <p:cNvPr id="74756" name="Oval 12"/>
          <p:cNvSpPr>
            <a:spLocks noChangeArrowheads="1"/>
          </p:cNvSpPr>
          <p:nvPr/>
        </p:nvSpPr>
        <p:spPr bwMode="auto">
          <a:xfrm>
            <a:off x="3851275" y="2205038"/>
            <a:ext cx="1728788" cy="649287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57" name="Oval 13"/>
          <p:cNvSpPr>
            <a:spLocks noChangeArrowheads="1"/>
          </p:cNvSpPr>
          <p:nvPr/>
        </p:nvSpPr>
        <p:spPr bwMode="auto">
          <a:xfrm>
            <a:off x="4211638" y="3429000"/>
            <a:ext cx="627062" cy="647700"/>
          </a:xfrm>
          <a:prstGeom prst="ellipse">
            <a:avLst/>
          </a:prstGeom>
          <a:solidFill>
            <a:srgbClr val="00FFFF"/>
          </a:solidFill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58" name="Rectangle 14"/>
          <p:cNvSpPr>
            <a:spLocks noChangeArrowheads="1"/>
          </p:cNvSpPr>
          <p:nvPr/>
        </p:nvSpPr>
        <p:spPr bwMode="auto">
          <a:xfrm>
            <a:off x="5651500" y="3933825"/>
            <a:ext cx="122238" cy="142875"/>
          </a:xfrm>
          <a:prstGeom prst="rect">
            <a:avLst/>
          </a:prstGeom>
          <a:solidFill>
            <a:srgbClr val="00CC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59" name="Rectangle 15"/>
          <p:cNvSpPr>
            <a:spLocks noChangeArrowheads="1"/>
          </p:cNvSpPr>
          <p:nvPr/>
        </p:nvSpPr>
        <p:spPr bwMode="auto">
          <a:xfrm>
            <a:off x="5435600" y="3933825"/>
            <a:ext cx="120650" cy="144463"/>
          </a:xfrm>
          <a:prstGeom prst="rect">
            <a:avLst/>
          </a:prstGeom>
          <a:solidFill>
            <a:srgbClr val="00CC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60" name="Rectangle 16"/>
          <p:cNvSpPr>
            <a:spLocks noChangeArrowheads="1"/>
          </p:cNvSpPr>
          <p:nvPr/>
        </p:nvSpPr>
        <p:spPr bwMode="auto">
          <a:xfrm>
            <a:off x="5580063" y="3716338"/>
            <a:ext cx="122237" cy="144462"/>
          </a:xfrm>
          <a:prstGeom prst="rect">
            <a:avLst/>
          </a:prstGeom>
          <a:solidFill>
            <a:srgbClr val="00CC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61" name="Rectangle 17"/>
          <p:cNvSpPr>
            <a:spLocks noChangeArrowheads="1"/>
          </p:cNvSpPr>
          <p:nvPr/>
        </p:nvSpPr>
        <p:spPr bwMode="auto">
          <a:xfrm>
            <a:off x="5219700" y="4149725"/>
            <a:ext cx="122238" cy="142875"/>
          </a:xfrm>
          <a:prstGeom prst="rect">
            <a:avLst/>
          </a:prstGeom>
          <a:solidFill>
            <a:srgbClr val="00CC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62" name="Rectangle 18"/>
          <p:cNvSpPr>
            <a:spLocks noChangeArrowheads="1"/>
          </p:cNvSpPr>
          <p:nvPr/>
        </p:nvSpPr>
        <p:spPr bwMode="auto">
          <a:xfrm>
            <a:off x="5219700" y="3933825"/>
            <a:ext cx="120650" cy="144463"/>
          </a:xfrm>
          <a:prstGeom prst="rect">
            <a:avLst/>
          </a:prstGeom>
          <a:solidFill>
            <a:srgbClr val="00CC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63" name="Rectangle 19"/>
          <p:cNvSpPr>
            <a:spLocks noChangeArrowheads="1"/>
          </p:cNvSpPr>
          <p:nvPr/>
        </p:nvSpPr>
        <p:spPr bwMode="auto">
          <a:xfrm>
            <a:off x="5651500" y="4149725"/>
            <a:ext cx="122238" cy="144463"/>
          </a:xfrm>
          <a:prstGeom prst="rect">
            <a:avLst/>
          </a:prstGeom>
          <a:solidFill>
            <a:srgbClr val="00CC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64" name="Rectangle 20"/>
          <p:cNvSpPr>
            <a:spLocks noChangeArrowheads="1"/>
          </p:cNvSpPr>
          <p:nvPr/>
        </p:nvSpPr>
        <p:spPr bwMode="auto">
          <a:xfrm>
            <a:off x="5292725" y="3716338"/>
            <a:ext cx="120650" cy="144462"/>
          </a:xfrm>
          <a:prstGeom prst="rect">
            <a:avLst/>
          </a:prstGeom>
          <a:solidFill>
            <a:srgbClr val="00CC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65" name="Rectangle 21"/>
          <p:cNvSpPr>
            <a:spLocks noChangeArrowheads="1"/>
          </p:cNvSpPr>
          <p:nvPr/>
        </p:nvSpPr>
        <p:spPr bwMode="auto">
          <a:xfrm>
            <a:off x="5435600" y="4149725"/>
            <a:ext cx="120650" cy="142875"/>
          </a:xfrm>
          <a:prstGeom prst="rect">
            <a:avLst/>
          </a:prstGeom>
          <a:solidFill>
            <a:srgbClr val="00CC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66" name="AutoShape 24"/>
          <p:cNvSpPr>
            <a:spLocks noChangeArrowheads="1"/>
          </p:cNvSpPr>
          <p:nvPr/>
        </p:nvSpPr>
        <p:spPr bwMode="auto">
          <a:xfrm>
            <a:off x="5940425" y="3716338"/>
            <a:ext cx="339725" cy="358775"/>
          </a:xfrm>
          <a:prstGeom prst="octagon">
            <a:avLst>
              <a:gd name="adj" fmla="val 29287"/>
            </a:avLst>
          </a:prstGeom>
          <a:solidFill>
            <a:srgbClr val="00CC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67" name="AutoShape 25"/>
          <p:cNvSpPr>
            <a:spLocks noChangeArrowheads="1"/>
          </p:cNvSpPr>
          <p:nvPr/>
        </p:nvSpPr>
        <p:spPr bwMode="auto">
          <a:xfrm>
            <a:off x="6300788" y="3716338"/>
            <a:ext cx="339725" cy="358775"/>
          </a:xfrm>
          <a:prstGeom prst="octagon">
            <a:avLst>
              <a:gd name="adj" fmla="val 29287"/>
            </a:avLst>
          </a:prstGeom>
          <a:solidFill>
            <a:srgbClr val="00CC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68" name="AutoShape 26"/>
          <p:cNvSpPr>
            <a:spLocks noChangeArrowheads="1"/>
          </p:cNvSpPr>
          <p:nvPr/>
        </p:nvSpPr>
        <p:spPr bwMode="auto">
          <a:xfrm>
            <a:off x="5940425" y="4076700"/>
            <a:ext cx="339725" cy="358775"/>
          </a:xfrm>
          <a:prstGeom prst="octagon">
            <a:avLst>
              <a:gd name="adj" fmla="val 29287"/>
            </a:avLst>
          </a:prstGeom>
          <a:solidFill>
            <a:srgbClr val="00CC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69" name="AutoShape 27"/>
          <p:cNvSpPr>
            <a:spLocks noChangeArrowheads="1"/>
          </p:cNvSpPr>
          <p:nvPr/>
        </p:nvSpPr>
        <p:spPr bwMode="auto">
          <a:xfrm>
            <a:off x="6300788" y="4076700"/>
            <a:ext cx="339725" cy="358775"/>
          </a:xfrm>
          <a:prstGeom prst="octagon">
            <a:avLst>
              <a:gd name="adj" fmla="val 29287"/>
            </a:avLst>
          </a:prstGeom>
          <a:solidFill>
            <a:srgbClr val="00CC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70" name="AutoShape 28"/>
          <p:cNvSpPr>
            <a:spLocks noChangeArrowheads="1"/>
          </p:cNvSpPr>
          <p:nvPr/>
        </p:nvSpPr>
        <p:spPr bwMode="auto">
          <a:xfrm>
            <a:off x="6084888" y="4508500"/>
            <a:ext cx="339725" cy="358775"/>
          </a:xfrm>
          <a:prstGeom prst="octagon">
            <a:avLst>
              <a:gd name="adj" fmla="val 29287"/>
            </a:avLst>
          </a:prstGeom>
          <a:solidFill>
            <a:srgbClr val="00CC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71" name="AutoShape 29"/>
          <p:cNvSpPr>
            <a:spLocks noChangeArrowheads="1"/>
          </p:cNvSpPr>
          <p:nvPr/>
        </p:nvSpPr>
        <p:spPr bwMode="auto">
          <a:xfrm>
            <a:off x="6877050" y="4508500"/>
            <a:ext cx="339725" cy="358775"/>
          </a:xfrm>
          <a:prstGeom prst="octagon">
            <a:avLst>
              <a:gd name="adj" fmla="val 29287"/>
            </a:avLst>
          </a:prstGeom>
          <a:solidFill>
            <a:srgbClr val="00CC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72" name="AutoShape 30"/>
          <p:cNvSpPr>
            <a:spLocks noChangeArrowheads="1"/>
          </p:cNvSpPr>
          <p:nvPr/>
        </p:nvSpPr>
        <p:spPr bwMode="auto">
          <a:xfrm>
            <a:off x="7235825" y="4797425"/>
            <a:ext cx="339725" cy="358775"/>
          </a:xfrm>
          <a:prstGeom prst="octagon">
            <a:avLst>
              <a:gd name="adj" fmla="val 29287"/>
            </a:avLst>
          </a:prstGeom>
          <a:solidFill>
            <a:srgbClr val="00CC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73" name="AutoShape 31"/>
          <p:cNvSpPr>
            <a:spLocks noChangeArrowheads="1"/>
          </p:cNvSpPr>
          <p:nvPr/>
        </p:nvSpPr>
        <p:spPr bwMode="auto">
          <a:xfrm>
            <a:off x="7667625" y="4581525"/>
            <a:ext cx="339725" cy="358775"/>
          </a:xfrm>
          <a:prstGeom prst="octagon">
            <a:avLst>
              <a:gd name="adj" fmla="val 29287"/>
            </a:avLst>
          </a:prstGeom>
          <a:solidFill>
            <a:srgbClr val="00CC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74" name="AutoShape 32"/>
          <p:cNvSpPr>
            <a:spLocks noChangeArrowheads="1"/>
          </p:cNvSpPr>
          <p:nvPr/>
        </p:nvSpPr>
        <p:spPr bwMode="auto">
          <a:xfrm>
            <a:off x="8027988" y="5084763"/>
            <a:ext cx="339725" cy="358775"/>
          </a:xfrm>
          <a:prstGeom prst="octagon">
            <a:avLst>
              <a:gd name="adj" fmla="val 29287"/>
            </a:avLst>
          </a:prstGeom>
          <a:solidFill>
            <a:srgbClr val="00CC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75" name="AutoShape 33"/>
          <p:cNvSpPr>
            <a:spLocks noChangeArrowheads="1"/>
          </p:cNvSpPr>
          <p:nvPr/>
        </p:nvSpPr>
        <p:spPr bwMode="auto">
          <a:xfrm>
            <a:off x="7164388" y="5373688"/>
            <a:ext cx="339725" cy="358775"/>
          </a:xfrm>
          <a:prstGeom prst="octagon">
            <a:avLst>
              <a:gd name="adj" fmla="val 29287"/>
            </a:avLst>
          </a:prstGeom>
          <a:solidFill>
            <a:srgbClr val="00CC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76" name="AutoShape 34"/>
          <p:cNvSpPr>
            <a:spLocks noChangeArrowheads="1"/>
          </p:cNvSpPr>
          <p:nvPr/>
        </p:nvSpPr>
        <p:spPr bwMode="auto">
          <a:xfrm>
            <a:off x="7596188" y="5373688"/>
            <a:ext cx="339725" cy="358775"/>
          </a:xfrm>
          <a:prstGeom prst="octagon">
            <a:avLst>
              <a:gd name="adj" fmla="val 29287"/>
            </a:avLst>
          </a:prstGeom>
          <a:solidFill>
            <a:srgbClr val="00CC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77" name="AutoShape 35"/>
          <p:cNvSpPr>
            <a:spLocks noChangeArrowheads="1"/>
          </p:cNvSpPr>
          <p:nvPr/>
        </p:nvSpPr>
        <p:spPr bwMode="auto">
          <a:xfrm>
            <a:off x="6732588" y="5013325"/>
            <a:ext cx="339725" cy="358775"/>
          </a:xfrm>
          <a:prstGeom prst="octagon">
            <a:avLst>
              <a:gd name="adj" fmla="val 29287"/>
            </a:avLst>
          </a:prstGeom>
          <a:solidFill>
            <a:srgbClr val="00CC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78" name="AutoShape 36"/>
          <p:cNvSpPr>
            <a:spLocks noChangeArrowheads="1"/>
          </p:cNvSpPr>
          <p:nvPr/>
        </p:nvSpPr>
        <p:spPr bwMode="auto">
          <a:xfrm>
            <a:off x="4500563" y="3573463"/>
            <a:ext cx="339725" cy="358775"/>
          </a:xfrm>
          <a:prstGeom prst="octagon">
            <a:avLst>
              <a:gd name="adj" fmla="val 29287"/>
            </a:avLst>
          </a:prstGeom>
          <a:solidFill>
            <a:srgbClr val="00CC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79" name="Freeform 40"/>
          <p:cNvSpPr>
            <a:spLocks/>
          </p:cNvSpPr>
          <p:nvPr/>
        </p:nvSpPr>
        <p:spPr bwMode="auto">
          <a:xfrm>
            <a:off x="4643438" y="3716338"/>
            <a:ext cx="565150" cy="193675"/>
          </a:xfrm>
          <a:custGeom>
            <a:avLst/>
            <a:gdLst>
              <a:gd name="T0" fmla="*/ 0 w 356"/>
              <a:gd name="T1" fmla="*/ 16 h 122"/>
              <a:gd name="T2" fmla="*/ 121 w 356"/>
              <a:gd name="T3" fmla="*/ 9 h 122"/>
              <a:gd name="T4" fmla="*/ 167 w 356"/>
              <a:gd name="T5" fmla="*/ 31 h 122"/>
              <a:gd name="T6" fmla="*/ 190 w 356"/>
              <a:gd name="T7" fmla="*/ 100 h 122"/>
              <a:gd name="T8" fmla="*/ 212 w 356"/>
              <a:gd name="T9" fmla="*/ 122 h 122"/>
              <a:gd name="T10" fmla="*/ 296 w 356"/>
              <a:gd name="T11" fmla="*/ 100 h 122"/>
              <a:gd name="T12" fmla="*/ 356 w 356"/>
              <a:gd name="T13" fmla="*/ 77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56"/>
              <a:gd name="T22" fmla="*/ 0 h 122"/>
              <a:gd name="T23" fmla="*/ 356 w 356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56" h="122">
                <a:moveTo>
                  <a:pt x="0" y="16"/>
                </a:moveTo>
                <a:cubicBezTo>
                  <a:pt x="52" y="0"/>
                  <a:pt x="53" y="2"/>
                  <a:pt x="121" y="9"/>
                </a:cubicBezTo>
                <a:cubicBezTo>
                  <a:pt x="136" y="14"/>
                  <a:pt x="156" y="17"/>
                  <a:pt x="167" y="31"/>
                </a:cubicBezTo>
                <a:cubicBezTo>
                  <a:pt x="203" y="76"/>
                  <a:pt x="123" y="33"/>
                  <a:pt x="190" y="100"/>
                </a:cubicBezTo>
                <a:cubicBezTo>
                  <a:pt x="197" y="107"/>
                  <a:pt x="205" y="115"/>
                  <a:pt x="212" y="122"/>
                </a:cubicBezTo>
                <a:cubicBezTo>
                  <a:pt x="242" y="117"/>
                  <a:pt x="267" y="109"/>
                  <a:pt x="296" y="100"/>
                </a:cubicBezTo>
                <a:cubicBezTo>
                  <a:pt x="315" y="79"/>
                  <a:pt x="328" y="77"/>
                  <a:pt x="356" y="77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74780" name="Oval 41"/>
          <p:cNvSpPr>
            <a:spLocks noChangeArrowheads="1"/>
          </p:cNvSpPr>
          <p:nvPr/>
        </p:nvSpPr>
        <p:spPr bwMode="auto">
          <a:xfrm>
            <a:off x="3276600" y="3789363"/>
            <a:ext cx="719138" cy="719137"/>
          </a:xfrm>
          <a:prstGeom prst="ellipse">
            <a:avLst/>
          </a:prstGeom>
          <a:solidFill>
            <a:srgbClr val="00FFFF"/>
          </a:solidFill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fr-FR">
              <a:solidFill>
                <a:srgbClr val="0066FF"/>
              </a:solidFill>
            </a:endParaRPr>
          </a:p>
        </p:txBody>
      </p:sp>
      <p:sp>
        <p:nvSpPr>
          <p:cNvPr id="74781" name="Oval 42"/>
          <p:cNvSpPr>
            <a:spLocks noChangeArrowheads="1"/>
          </p:cNvSpPr>
          <p:nvPr/>
        </p:nvSpPr>
        <p:spPr bwMode="auto">
          <a:xfrm>
            <a:off x="3276600" y="4724400"/>
            <a:ext cx="771525" cy="792163"/>
          </a:xfrm>
          <a:prstGeom prst="ellipse">
            <a:avLst/>
          </a:prstGeom>
          <a:solidFill>
            <a:srgbClr val="FFFFCC"/>
          </a:solidFill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fr-FR">
              <a:solidFill>
                <a:srgbClr val="0066FF"/>
              </a:solidFill>
            </a:endParaRPr>
          </a:p>
        </p:txBody>
      </p:sp>
      <p:sp>
        <p:nvSpPr>
          <p:cNvPr id="74782" name="AutoShape 44"/>
          <p:cNvSpPr>
            <a:spLocks noChangeArrowheads="1"/>
          </p:cNvSpPr>
          <p:nvPr/>
        </p:nvSpPr>
        <p:spPr bwMode="auto">
          <a:xfrm>
            <a:off x="3563938" y="4868863"/>
            <a:ext cx="339725" cy="358775"/>
          </a:xfrm>
          <a:prstGeom prst="octagon">
            <a:avLst>
              <a:gd name="adj" fmla="val 29287"/>
            </a:avLst>
          </a:prstGeom>
          <a:solidFill>
            <a:srgbClr val="00CC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83" name="AutoShape 45"/>
          <p:cNvSpPr>
            <a:spLocks noChangeArrowheads="1"/>
          </p:cNvSpPr>
          <p:nvPr/>
        </p:nvSpPr>
        <p:spPr bwMode="auto">
          <a:xfrm>
            <a:off x="3492500" y="4005263"/>
            <a:ext cx="339725" cy="358775"/>
          </a:xfrm>
          <a:prstGeom prst="octagon">
            <a:avLst>
              <a:gd name="adj" fmla="val 29287"/>
            </a:avLst>
          </a:prstGeom>
          <a:solidFill>
            <a:srgbClr val="00CC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84" name="Line 46"/>
          <p:cNvSpPr>
            <a:spLocks noChangeShapeType="1"/>
          </p:cNvSpPr>
          <p:nvPr/>
        </p:nvSpPr>
        <p:spPr bwMode="auto">
          <a:xfrm>
            <a:off x="4500563" y="4437063"/>
            <a:ext cx="5032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74785" name="Line 47"/>
          <p:cNvSpPr>
            <a:spLocks noChangeShapeType="1"/>
          </p:cNvSpPr>
          <p:nvPr/>
        </p:nvSpPr>
        <p:spPr bwMode="auto">
          <a:xfrm>
            <a:off x="4500563" y="4581525"/>
            <a:ext cx="5032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74786" name="Line 48"/>
          <p:cNvSpPr>
            <a:spLocks noChangeShapeType="1"/>
          </p:cNvSpPr>
          <p:nvPr/>
        </p:nvSpPr>
        <p:spPr bwMode="auto">
          <a:xfrm>
            <a:off x="4500563" y="4724400"/>
            <a:ext cx="5032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74787" name="Line 49"/>
          <p:cNvSpPr>
            <a:spLocks noChangeShapeType="1"/>
          </p:cNvSpPr>
          <p:nvPr/>
        </p:nvSpPr>
        <p:spPr bwMode="auto">
          <a:xfrm>
            <a:off x="4500563" y="4868863"/>
            <a:ext cx="5032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74788" name="Line 50"/>
          <p:cNvSpPr>
            <a:spLocks noChangeShapeType="1"/>
          </p:cNvSpPr>
          <p:nvPr/>
        </p:nvSpPr>
        <p:spPr bwMode="auto">
          <a:xfrm>
            <a:off x="4500563" y="5013325"/>
            <a:ext cx="5032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74789" name="AutoShape 51"/>
          <p:cNvSpPr>
            <a:spLocks noChangeArrowheads="1"/>
          </p:cNvSpPr>
          <p:nvPr/>
        </p:nvSpPr>
        <p:spPr bwMode="auto">
          <a:xfrm>
            <a:off x="1116013" y="3213100"/>
            <a:ext cx="339725" cy="358775"/>
          </a:xfrm>
          <a:prstGeom prst="octagon">
            <a:avLst>
              <a:gd name="adj" fmla="val 29287"/>
            </a:avLst>
          </a:prstGeom>
          <a:solidFill>
            <a:srgbClr val="00CC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90" name="AutoShape 52"/>
          <p:cNvSpPr>
            <a:spLocks noChangeArrowheads="1"/>
          </p:cNvSpPr>
          <p:nvPr/>
        </p:nvSpPr>
        <p:spPr bwMode="auto">
          <a:xfrm>
            <a:off x="1619250" y="3500438"/>
            <a:ext cx="339725" cy="358775"/>
          </a:xfrm>
          <a:prstGeom prst="octagon">
            <a:avLst>
              <a:gd name="adj" fmla="val 29287"/>
            </a:avLst>
          </a:prstGeom>
          <a:solidFill>
            <a:srgbClr val="00CC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91" name="AutoShape 53"/>
          <p:cNvSpPr>
            <a:spLocks noChangeArrowheads="1"/>
          </p:cNvSpPr>
          <p:nvPr/>
        </p:nvSpPr>
        <p:spPr bwMode="auto">
          <a:xfrm>
            <a:off x="2124075" y="3789363"/>
            <a:ext cx="339725" cy="358775"/>
          </a:xfrm>
          <a:prstGeom prst="octagon">
            <a:avLst>
              <a:gd name="adj" fmla="val 29287"/>
            </a:avLst>
          </a:prstGeom>
          <a:solidFill>
            <a:srgbClr val="00CC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92" name="Rectangle 54"/>
          <p:cNvSpPr>
            <a:spLocks noChangeArrowheads="1"/>
          </p:cNvSpPr>
          <p:nvPr/>
        </p:nvSpPr>
        <p:spPr bwMode="auto">
          <a:xfrm>
            <a:off x="2484438" y="3860800"/>
            <a:ext cx="287337" cy="217488"/>
          </a:xfrm>
          <a:prstGeom prst="rect">
            <a:avLst/>
          </a:prstGeom>
          <a:solidFill>
            <a:srgbClr val="FF66CC"/>
          </a:solidFill>
          <a:ln w="9525">
            <a:solidFill>
              <a:srgbClr val="FF66CC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93" name="Text Box 55"/>
          <p:cNvSpPr txBox="1">
            <a:spLocks noChangeArrowheads="1"/>
          </p:cNvSpPr>
          <p:nvPr/>
        </p:nvSpPr>
        <p:spPr bwMode="auto">
          <a:xfrm>
            <a:off x="4859338" y="3068638"/>
            <a:ext cx="1944687" cy="376237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/>
              <a:t>Décapsidation</a:t>
            </a:r>
          </a:p>
        </p:txBody>
      </p:sp>
      <p:sp>
        <p:nvSpPr>
          <p:cNvPr id="74794" name="Text Box 56"/>
          <p:cNvSpPr txBox="1">
            <a:spLocks noChangeArrowheads="1"/>
          </p:cNvSpPr>
          <p:nvPr/>
        </p:nvSpPr>
        <p:spPr bwMode="auto">
          <a:xfrm>
            <a:off x="6804025" y="3644900"/>
            <a:ext cx="1655763" cy="78898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/>
              <a:t>Assemblage</a:t>
            </a:r>
          </a:p>
          <a:p>
            <a:pPr algn="ctr">
              <a:spcBef>
                <a:spcPct val="50000"/>
              </a:spcBef>
            </a:pPr>
            <a:r>
              <a:rPr lang="fr-FR" b="1"/>
              <a:t>Maturation</a:t>
            </a:r>
          </a:p>
        </p:txBody>
      </p:sp>
      <p:sp>
        <p:nvSpPr>
          <p:cNvPr id="74795" name="Text Box 57"/>
          <p:cNvSpPr txBox="1">
            <a:spLocks noChangeArrowheads="1"/>
          </p:cNvSpPr>
          <p:nvPr/>
        </p:nvSpPr>
        <p:spPr bwMode="auto">
          <a:xfrm>
            <a:off x="7164388" y="5876925"/>
            <a:ext cx="1439862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/>
              <a:t>Libération</a:t>
            </a:r>
          </a:p>
        </p:txBody>
      </p:sp>
      <p:sp>
        <p:nvSpPr>
          <p:cNvPr id="74796" name="Text Box 59"/>
          <p:cNvSpPr txBox="1">
            <a:spLocks noChangeArrowheads="1"/>
          </p:cNvSpPr>
          <p:nvPr/>
        </p:nvSpPr>
        <p:spPr bwMode="auto">
          <a:xfrm>
            <a:off x="4140200" y="5229225"/>
            <a:ext cx="1800225" cy="120173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/>
              <a:t>Réplication</a:t>
            </a:r>
          </a:p>
          <a:p>
            <a:pPr algn="ctr">
              <a:spcBef>
                <a:spcPct val="50000"/>
              </a:spcBef>
            </a:pPr>
            <a:r>
              <a:rPr lang="fr-FR" b="1"/>
              <a:t>Transcription</a:t>
            </a:r>
          </a:p>
          <a:p>
            <a:pPr algn="ctr">
              <a:spcBef>
                <a:spcPct val="50000"/>
              </a:spcBef>
            </a:pPr>
            <a:r>
              <a:rPr lang="fr-FR" b="1"/>
              <a:t>Traduction</a:t>
            </a:r>
          </a:p>
        </p:txBody>
      </p:sp>
      <p:sp>
        <p:nvSpPr>
          <p:cNvPr id="74797" name="Text Box 60"/>
          <p:cNvSpPr txBox="1">
            <a:spLocks noChangeArrowheads="1"/>
          </p:cNvSpPr>
          <p:nvPr/>
        </p:nvSpPr>
        <p:spPr bwMode="auto">
          <a:xfrm>
            <a:off x="684213" y="4149725"/>
            <a:ext cx="1943100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/>
              <a:t>Attachement</a:t>
            </a:r>
          </a:p>
        </p:txBody>
      </p:sp>
      <p:sp>
        <p:nvSpPr>
          <p:cNvPr id="74798" name="Rectangle 62"/>
          <p:cNvSpPr>
            <a:spLocks noChangeArrowheads="1"/>
          </p:cNvSpPr>
          <p:nvPr/>
        </p:nvSpPr>
        <p:spPr bwMode="auto">
          <a:xfrm rot="2508028">
            <a:off x="3132138" y="5229225"/>
            <a:ext cx="647700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4799" name="Text Box 64"/>
          <p:cNvSpPr txBox="1">
            <a:spLocks noChangeArrowheads="1"/>
          </p:cNvSpPr>
          <p:nvPr/>
        </p:nvSpPr>
        <p:spPr bwMode="auto">
          <a:xfrm>
            <a:off x="1835150" y="5229225"/>
            <a:ext cx="1727200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/>
              <a:t>Pénétration</a:t>
            </a:r>
            <a:endParaRPr lang="fr-FR"/>
          </a:p>
        </p:txBody>
      </p:sp>
      <p:sp>
        <p:nvSpPr>
          <p:cNvPr id="74800" name="Line 65"/>
          <p:cNvSpPr>
            <a:spLocks noChangeShapeType="1"/>
          </p:cNvSpPr>
          <p:nvPr/>
        </p:nvSpPr>
        <p:spPr bwMode="auto">
          <a:xfrm>
            <a:off x="250825" y="1628775"/>
            <a:ext cx="8642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74801" name="Line 66"/>
          <p:cNvSpPr>
            <a:spLocks noChangeShapeType="1"/>
          </p:cNvSpPr>
          <p:nvPr/>
        </p:nvSpPr>
        <p:spPr bwMode="auto">
          <a:xfrm>
            <a:off x="250825" y="1628775"/>
            <a:ext cx="0" cy="4968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74802" name="Line 67"/>
          <p:cNvSpPr>
            <a:spLocks noChangeShapeType="1"/>
          </p:cNvSpPr>
          <p:nvPr/>
        </p:nvSpPr>
        <p:spPr bwMode="auto">
          <a:xfrm>
            <a:off x="8893175" y="1628775"/>
            <a:ext cx="0" cy="4968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74803" name="Line 68"/>
          <p:cNvSpPr>
            <a:spLocks noChangeShapeType="1"/>
          </p:cNvSpPr>
          <p:nvPr/>
        </p:nvSpPr>
        <p:spPr bwMode="auto">
          <a:xfrm flipH="1">
            <a:off x="250825" y="6597650"/>
            <a:ext cx="8642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78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4"/>
          <p:cNvSpPr>
            <a:spLocks noChangeArrowheads="1"/>
          </p:cNvSpPr>
          <p:nvPr/>
        </p:nvSpPr>
        <p:spPr bwMode="auto">
          <a:xfrm>
            <a:off x="539750" y="476250"/>
            <a:ext cx="8135938" cy="59055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5779" name="Text Box 5"/>
          <p:cNvSpPr txBox="1">
            <a:spLocks noChangeArrowheads="1"/>
          </p:cNvSpPr>
          <p:nvPr/>
        </p:nvSpPr>
        <p:spPr bwMode="auto">
          <a:xfrm>
            <a:off x="684213" y="669925"/>
            <a:ext cx="7848600" cy="496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4000" b="1">
                <a:solidFill>
                  <a:srgbClr val="0000FF"/>
                </a:solidFill>
              </a:rPr>
              <a:t>A)</a:t>
            </a:r>
            <a:r>
              <a:rPr lang="fr-FR" sz="4000" b="1" u="sng">
                <a:solidFill>
                  <a:srgbClr val="0000FF"/>
                </a:solidFill>
              </a:rPr>
              <a:t>ATTACHEMENT</a:t>
            </a:r>
            <a:r>
              <a:rPr lang="fr-FR" sz="4000" b="1">
                <a:solidFill>
                  <a:srgbClr val="0000FF"/>
                </a:solidFill>
              </a:rPr>
              <a:t>: </a:t>
            </a:r>
            <a:r>
              <a:rPr lang="fr-FR" sz="4000">
                <a:solidFill>
                  <a:srgbClr val="FF3399"/>
                </a:solidFill>
              </a:rPr>
              <a:t>Adsorption </a:t>
            </a:r>
          </a:p>
          <a:p>
            <a:r>
              <a:rPr lang="en-US" sz="4000">
                <a:solidFill>
                  <a:srgbClr val="FF3399"/>
                </a:solidFill>
              </a:rPr>
              <a:t>Ø</a:t>
            </a:r>
            <a:r>
              <a:rPr lang="en-US" sz="4000"/>
              <a:t> </a:t>
            </a:r>
            <a:r>
              <a:rPr lang="fr-FR" sz="4000">
                <a:solidFill>
                  <a:srgbClr val="FF3399"/>
                </a:solidFill>
              </a:rPr>
              <a:t>passif </a:t>
            </a:r>
            <a:r>
              <a:rPr lang="fr-FR" sz="4000"/>
              <a:t>(énergie non nécessaire)</a:t>
            </a:r>
          </a:p>
          <a:p>
            <a:pPr>
              <a:buClr>
                <a:srgbClr val="FF3399"/>
              </a:buClr>
              <a:buFont typeface="Arial" charset="0"/>
              <a:buChar char="●"/>
            </a:pPr>
            <a:r>
              <a:rPr lang="fr-FR" sz="4000"/>
              <a:t>Nécessite l’interaction entre :</a:t>
            </a:r>
          </a:p>
          <a:p>
            <a:r>
              <a:rPr lang="fr-FR" sz="4000"/>
              <a:t>   Un </a:t>
            </a:r>
            <a:r>
              <a:rPr lang="fr-FR" sz="4000">
                <a:solidFill>
                  <a:srgbClr val="0000FF"/>
                </a:solidFill>
              </a:rPr>
              <a:t>ligand viral</a:t>
            </a:r>
            <a:r>
              <a:rPr lang="fr-FR" sz="4000"/>
              <a:t> et un </a:t>
            </a:r>
            <a:r>
              <a:rPr lang="fr-FR" sz="4000">
                <a:solidFill>
                  <a:srgbClr val="0000FF"/>
                </a:solidFill>
              </a:rPr>
              <a:t>récepteur</a:t>
            </a:r>
            <a:r>
              <a:rPr lang="fr-FR" sz="4000"/>
              <a:t> spécifique de la membrane </a:t>
            </a:r>
            <a:r>
              <a:rPr lang="fr-FR" sz="4000">
                <a:solidFill>
                  <a:srgbClr val="0000FF"/>
                </a:solidFill>
              </a:rPr>
              <a:t>cellulaire</a:t>
            </a:r>
            <a:r>
              <a:rPr lang="fr-FR" sz="4000"/>
              <a:t>. </a:t>
            </a:r>
          </a:p>
          <a:p>
            <a:pPr>
              <a:buClr>
                <a:srgbClr val="FF3399"/>
              </a:buClr>
              <a:buFont typeface="Arial" charset="0"/>
              <a:buChar char="●"/>
            </a:pPr>
            <a:r>
              <a:rPr lang="fr-FR" sz="4000"/>
              <a:t> Si récepteur absent              </a:t>
            </a:r>
            <a:r>
              <a:rPr lang="fr-FR" sz="4000">
                <a:solidFill>
                  <a:srgbClr val="FF3399"/>
                </a:solidFill>
              </a:rPr>
              <a:t>cellule résistante a l’infection.   </a:t>
            </a:r>
          </a:p>
        </p:txBody>
      </p:sp>
      <p:sp>
        <p:nvSpPr>
          <p:cNvPr id="75780" name="AutoShape 6"/>
          <p:cNvSpPr>
            <a:spLocks noChangeArrowheads="1"/>
          </p:cNvSpPr>
          <p:nvPr/>
        </p:nvSpPr>
        <p:spPr bwMode="auto">
          <a:xfrm>
            <a:off x="5867400" y="4508500"/>
            <a:ext cx="2233613" cy="360363"/>
          </a:xfrm>
          <a:custGeom>
            <a:avLst/>
            <a:gdLst>
              <a:gd name="T0" fmla="*/ 1675210 w 21600"/>
              <a:gd name="T1" fmla="*/ 0 h 21600"/>
              <a:gd name="T2" fmla="*/ 0 w 21600"/>
              <a:gd name="T3" fmla="*/ 180182 h 21600"/>
              <a:gd name="T4" fmla="*/ 1675210 w 21600"/>
              <a:gd name="T5" fmla="*/ 360363 h 21600"/>
              <a:gd name="T6" fmla="*/ 2233613 w 21600"/>
              <a:gd name="T7" fmla="*/ 18018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1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4"/>
          <p:cNvSpPr>
            <a:spLocks noChangeArrowheads="1"/>
          </p:cNvSpPr>
          <p:nvPr/>
        </p:nvSpPr>
        <p:spPr bwMode="auto">
          <a:xfrm>
            <a:off x="395288" y="476250"/>
            <a:ext cx="8424862" cy="59055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6803" name="Text Box 5"/>
          <p:cNvSpPr txBox="1">
            <a:spLocks noChangeArrowheads="1"/>
          </p:cNvSpPr>
          <p:nvPr/>
        </p:nvSpPr>
        <p:spPr bwMode="auto">
          <a:xfrm>
            <a:off x="395288" y="476250"/>
            <a:ext cx="8424862" cy="558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FF3399"/>
              </a:buClr>
              <a:buFont typeface="Wingdings" pitchFamily="2" charset="2"/>
              <a:buChar char="Ø"/>
            </a:pPr>
            <a:r>
              <a:rPr lang="fr-FR" sz="3600" dirty="0"/>
              <a:t> Le ligand des </a:t>
            </a:r>
            <a:r>
              <a:rPr lang="fr-FR" sz="3600" dirty="0">
                <a:solidFill>
                  <a:srgbClr val="FF3399"/>
                </a:solidFill>
              </a:rPr>
              <a:t>virus nu</a:t>
            </a:r>
            <a:r>
              <a:rPr lang="fr-FR" sz="3600" dirty="0"/>
              <a:t> : conformation </a:t>
            </a:r>
          </a:p>
          <a:p>
            <a:pPr>
              <a:buClr>
                <a:srgbClr val="FF3399"/>
              </a:buClr>
              <a:buFont typeface="Wingdings" pitchFamily="2" charset="2"/>
              <a:buNone/>
            </a:pPr>
            <a:r>
              <a:rPr lang="fr-FR" sz="3600" dirty="0"/>
              <a:t>    particulière des </a:t>
            </a:r>
            <a:r>
              <a:rPr lang="fr-FR" sz="3600" dirty="0">
                <a:solidFill>
                  <a:srgbClr val="0000FF"/>
                </a:solidFill>
              </a:rPr>
              <a:t>protéines de capside</a:t>
            </a:r>
            <a:r>
              <a:rPr lang="fr-FR" sz="3600" dirty="0"/>
              <a:t>.</a:t>
            </a:r>
          </a:p>
          <a:p>
            <a:pPr>
              <a:buClr>
                <a:srgbClr val="FF3399"/>
              </a:buClr>
              <a:buFont typeface="Wingdings" pitchFamily="2" charset="2"/>
              <a:buChar char="Ø"/>
            </a:pPr>
            <a:r>
              <a:rPr lang="fr-FR" sz="3600" dirty="0"/>
              <a:t> Pour les </a:t>
            </a:r>
            <a:r>
              <a:rPr lang="fr-FR" sz="3600" dirty="0">
                <a:solidFill>
                  <a:srgbClr val="FF3399"/>
                </a:solidFill>
              </a:rPr>
              <a:t>virus enveloppe</a:t>
            </a:r>
            <a:r>
              <a:rPr lang="fr-FR" sz="3600" dirty="0"/>
              <a:t> :  </a:t>
            </a:r>
          </a:p>
          <a:p>
            <a:pPr>
              <a:buClr>
                <a:srgbClr val="FF3399"/>
              </a:buClr>
              <a:buFont typeface="Wingdings" pitchFamily="2" charset="2"/>
              <a:buNone/>
            </a:pPr>
            <a:r>
              <a:rPr lang="fr-FR" sz="3600" dirty="0">
                <a:solidFill>
                  <a:srgbClr val="0000FF"/>
                </a:solidFill>
              </a:rPr>
              <a:t>         Glycoprotéines d’enveloppe</a:t>
            </a:r>
            <a:r>
              <a:rPr lang="fr-FR" sz="3600" dirty="0"/>
              <a:t>.</a:t>
            </a:r>
          </a:p>
          <a:p>
            <a:pPr>
              <a:buClr>
                <a:srgbClr val="FF3399"/>
              </a:buClr>
              <a:buFont typeface="Wingdings" pitchFamily="2" charset="2"/>
              <a:buChar char="Ø"/>
            </a:pPr>
            <a:r>
              <a:rPr lang="fr-FR" sz="3600" dirty="0"/>
              <a:t> Les structures d’attachement de certains virus sont bien caractérisées: </a:t>
            </a:r>
          </a:p>
          <a:p>
            <a:pPr>
              <a:buClr>
                <a:srgbClr val="FF3399"/>
              </a:buClr>
              <a:buFont typeface="Wingdings" pitchFamily="2" charset="2"/>
              <a:buNone/>
            </a:pPr>
            <a:r>
              <a:rPr lang="fr-FR" sz="3600" dirty="0">
                <a:solidFill>
                  <a:srgbClr val="0000FF"/>
                </a:solidFill>
              </a:rPr>
              <a:t>    Hémagglutinine</a:t>
            </a:r>
            <a:r>
              <a:rPr lang="fr-FR" sz="3600" dirty="0"/>
              <a:t> du </a:t>
            </a:r>
            <a:r>
              <a:rPr lang="fr-FR" sz="3600" dirty="0">
                <a:solidFill>
                  <a:srgbClr val="FF3399"/>
                </a:solidFill>
              </a:rPr>
              <a:t>virus grippal</a:t>
            </a:r>
            <a:r>
              <a:rPr lang="fr-FR" sz="3600" dirty="0"/>
              <a:t>.</a:t>
            </a:r>
          </a:p>
          <a:p>
            <a:pPr>
              <a:buClr>
                <a:srgbClr val="FF3399"/>
              </a:buClr>
              <a:buFont typeface="Wingdings" pitchFamily="2" charset="2"/>
              <a:buChar char="Ø"/>
            </a:pPr>
            <a:r>
              <a:rPr lang="fr-FR" sz="3600" dirty="0"/>
              <a:t> </a:t>
            </a:r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88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942415" y="980728"/>
            <a:ext cx="6591985" cy="4930494"/>
          </a:xfrm>
        </p:spPr>
        <p:txBody>
          <a:bodyPr/>
          <a:lstStyle/>
          <a:p>
            <a:r>
              <a:rPr lang="fr-FR" sz="2400" dirty="0" smtClean="0"/>
              <a:t>Récepteurs de virus spécifiques</a:t>
            </a:r>
          </a:p>
          <a:p>
            <a:r>
              <a:rPr lang="fr-FR" sz="2400" dirty="0" smtClean="0"/>
              <a:t>• molécules CD4 lymphocytes T/gp120 (HIV)</a:t>
            </a:r>
          </a:p>
          <a:p>
            <a:pPr marL="0" indent="0">
              <a:buClr>
                <a:srgbClr val="FF3399"/>
              </a:buClr>
              <a:buNone/>
            </a:pPr>
            <a:r>
              <a:rPr lang="fr-FR" sz="2400" dirty="0" smtClean="0"/>
              <a:t>     • acide sialique (virus </a:t>
            </a:r>
            <a:r>
              <a:rPr lang="fr-FR" sz="2400" dirty="0"/>
              <a:t>influenza) </a:t>
            </a:r>
            <a:endParaRPr lang="fr-FR" sz="2400" dirty="0" smtClean="0"/>
          </a:p>
          <a:p>
            <a:pPr>
              <a:buClr>
                <a:srgbClr val="FF3399"/>
              </a:buClr>
              <a:buFont typeface="Wingdings" pitchFamily="2" charset="2"/>
              <a:buChar char="Ø"/>
            </a:pPr>
            <a:r>
              <a:rPr lang="fr-FR" sz="2400" dirty="0" smtClean="0"/>
              <a:t>Attachement </a:t>
            </a:r>
            <a:r>
              <a:rPr lang="fr-FR" sz="2400" dirty="0"/>
              <a:t>réversible au début puis </a:t>
            </a:r>
          </a:p>
          <a:p>
            <a:pPr>
              <a:buClr>
                <a:srgbClr val="FF3399"/>
              </a:buClr>
              <a:buFont typeface="Wingdings" pitchFamily="2" charset="2"/>
              <a:buNone/>
            </a:pPr>
            <a:r>
              <a:rPr lang="fr-FR" sz="2400" dirty="0"/>
              <a:t>   devient irréversible, il est indépendant    </a:t>
            </a:r>
          </a:p>
          <a:p>
            <a:pPr>
              <a:buClr>
                <a:srgbClr val="FF3399"/>
              </a:buClr>
              <a:buFont typeface="Wingdings" pitchFamily="2" charset="2"/>
              <a:buNone/>
            </a:pPr>
            <a:r>
              <a:rPr lang="fr-FR" sz="2400" dirty="0"/>
              <a:t>       de la température.</a:t>
            </a:r>
          </a:p>
          <a:p>
            <a:endParaRPr lang="fr-FR" dirty="0"/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28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ChangeArrowheads="1"/>
          </p:cNvSpPr>
          <p:nvPr/>
        </p:nvSpPr>
        <p:spPr bwMode="auto">
          <a:xfrm>
            <a:off x="395288" y="404813"/>
            <a:ext cx="8208962" cy="5976937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7827" name="Text Box 5"/>
          <p:cNvSpPr txBox="1">
            <a:spLocks noChangeArrowheads="1"/>
          </p:cNvSpPr>
          <p:nvPr/>
        </p:nvSpPr>
        <p:spPr bwMode="auto">
          <a:xfrm>
            <a:off x="179388" y="165100"/>
            <a:ext cx="8785225" cy="5632311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3600" b="1" dirty="0">
                <a:solidFill>
                  <a:srgbClr val="0000FF"/>
                </a:solidFill>
              </a:rPr>
              <a:t>B)-</a:t>
            </a:r>
            <a:r>
              <a:rPr lang="fr-FR" sz="3600" b="1" u="sng" dirty="0">
                <a:solidFill>
                  <a:srgbClr val="0000FF"/>
                </a:solidFill>
              </a:rPr>
              <a:t>PENETRATION</a:t>
            </a:r>
            <a:r>
              <a:rPr lang="fr-FR" sz="3600" b="1" dirty="0">
                <a:solidFill>
                  <a:srgbClr val="0000FF"/>
                </a:solidFill>
              </a:rPr>
              <a:t> :</a:t>
            </a:r>
            <a:r>
              <a:rPr lang="fr-FR" sz="3600" b="1" dirty="0"/>
              <a:t> </a:t>
            </a:r>
          </a:p>
          <a:p>
            <a:pPr algn="ctr"/>
            <a:r>
              <a:rPr lang="en-US" sz="3600" dirty="0">
                <a:solidFill>
                  <a:srgbClr val="FF3399"/>
                </a:solidFill>
              </a:rPr>
              <a:t>Ø </a:t>
            </a:r>
            <a:r>
              <a:rPr lang="fr-FR" sz="3600" dirty="0">
                <a:solidFill>
                  <a:srgbClr val="FF3399"/>
                </a:solidFill>
              </a:rPr>
              <a:t>actif</a:t>
            </a:r>
            <a:r>
              <a:rPr lang="fr-FR" sz="3600" dirty="0"/>
              <a:t> (nécessite l’énergie) </a:t>
            </a:r>
          </a:p>
          <a:p>
            <a:r>
              <a:rPr lang="fr-FR" sz="3600" dirty="0"/>
              <a:t>       Il diffère selon les virus</a:t>
            </a:r>
          </a:p>
          <a:p>
            <a:pPr algn="ctr">
              <a:buFont typeface="Wingdings" pitchFamily="2" charset="2"/>
              <a:buBlip>
                <a:blip r:embed="rId5"/>
              </a:buBlip>
            </a:pPr>
            <a:r>
              <a:rPr lang="fr-FR" sz="3600" dirty="0">
                <a:solidFill>
                  <a:srgbClr val="0000FF"/>
                </a:solidFill>
              </a:rPr>
              <a:t> </a:t>
            </a:r>
            <a:r>
              <a:rPr lang="fr-FR" sz="3600" u="sng" dirty="0">
                <a:solidFill>
                  <a:srgbClr val="0000FF"/>
                </a:solidFill>
              </a:rPr>
              <a:t>Virus nu</a:t>
            </a:r>
            <a:r>
              <a:rPr lang="fr-FR" sz="3600" dirty="0">
                <a:solidFill>
                  <a:srgbClr val="0000FF"/>
                </a:solidFill>
              </a:rPr>
              <a:t>:</a:t>
            </a:r>
            <a:r>
              <a:rPr lang="fr-FR" sz="3600" dirty="0"/>
              <a:t> </a:t>
            </a:r>
          </a:p>
          <a:p>
            <a:pPr>
              <a:buFont typeface="Wingdings" pitchFamily="2" charset="2"/>
              <a:buNone/>
            </a:pPr>
            <a:r>
              <a:rPr lang="fr-FR" sz="3600" dirty="0">
                <a:solidFill>
                  <a:srgbClr val="FF0066"/>
                </a:solidFill>
              </a:rPr>
              <a:t>a)-</a:t>
            </a:r>
            <a:r>
              <a:rPr lang="fr-FR" sz="3600" dirty="0"/>
              <a:t> Passage a travers la membrane cellulaire </a:t>
            </a:r>
            <a:r>
              <a:rPr lang="fr-FR" sz="3600" dirty="0">
                <a:solidFill>
                  <a:srgbClr val="FF3399"/>
                </a:solidFill>
              </a:rPr>
              <a:t>(translocation).</a:t>
            </a:r>
            <a:r>
              <a:rPr lang="fr-FR" sz="3600" dirty="0"/>
              <a:t> ou </a:t>
            </a:r>
          </a:p>
          <a:p>
            <a:pPr>
              <a:buFont typeface="Wingdings" pitchFamily="2" charset="2"/>
              <a:buNone/>
            </a:pPr>
            <a:r>
              <a:rPr lang="fr-FR" sz="3600" dirty="0">
                <a:solidFill>
                  <a:srgbClr val="FF0066"/>
                </a:solidFill>
              </a:rPr>
              <a:t>b)-</a:t>
            </a:r>
            <a:r>
              <a:rPr lang="fr-FR" sz="3600" dirty="0"/>
              <a:t> </a:t>
            </a:r>
            <a:r>
              <a:rPr lang="fr-FR" sz="3600" dirty="0" err="1">
                <a:solidFill>
                  <a:srgbClr val="FF3399"/>
                </a:solidFill>
              </a:rPr>
              <a:t>Endocytose</a:t>
            </a:r>
            <a:r>
              <a:rPr lang="fr-FR" sz="3600" dirty="0"/>
              <a:t> avec accumulation du virus a l’intérieur de </a:t>
            </a:r>
            <a:r>
              <a:rPr lang="fr-FR" sz="3600" dirty="0">
                <a:solidFill>
                  <a:srgbClr val="FF3399"/>
                </a:solidFill>
              </a:rPr>
              <a:t>vacuoles </a:t>
            </a:r>
            <a:r>
              <a:rPr lang="fr-FR" sz="3600" dirty="0"/>
              <a:t>cytoplasmiques, </a:t>
            </a:r>
            <a:r>
              <a:rPr lang="fr-FR" sz="3600" dirty="0" smtClean="0"/>
              <a:t>une </a:t>
            </a:r>
            <a:r>
              <a:rPr lang="fr-FR" sz="3600" dirty="0"/>
              <a:t>libération de la capside virale dans le cytoplasme de la cellule. </a:t>
            </a:r>
          </a:p>
        </p:txBody>
      </p:sp>
      <p:sp>
        <p:nvSpPr>
          <p:cNvPr id="77828" name="Line 6"/>
          <p:cNvSpPr>
            <a:spLocks noChangeShapeType="1"/>
          </p:cNvSpPr>
          <p:nvPr/>
        </p:nvSpPr>
        <p:spPr bwMode="auto">
          <a:xfrm>
            <a:off x="2339975" y="2133600"/>
            <a:ext cx="720725" cy="0"/>
          </a:xfrm>
          <a:prstGeom prst="line">
            <a:avLst/>
          </a:prstGeom>
          <a:noFill/>
          <a:ln w="76200">
            <a:solidFill>
              <a:srgbClr val="FF33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4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8086725" cy="936625"/>
          </a:xfrm>
          <a:solidFill>
            <a:srgbClr val="FFFF99"/>
          </a:solidFill>
          <a:ln>
            <a:solidFill>
              <a:schemeClr val="tx2"/>
            </a:solidFill>
          </a:ln>
        </p:spPr>
        <p:txBody>
          <a:bodyPr/>
          <a:lstStyle/>
          <a:p>
            <a:pPr eaLnBrk="1" hangingPunct="1"/>
            <a:r>
              <a:rPr lang="fr-FR" smtClean="0"/>
              <a:t>Pénétration et décapsidation</a:t>
            </a:r>
          </a:p>
        </p:txBody>
      </p:sp>
      <p:sp>
        <p:nvSpPr>
          <p:cNvPr id="78851" name="Line 4"/>
          <p:cNvSpPr>
            <a:spLocks noChangeShapeType="1"/>
          </p:cNvSpPr>
          <p:nvPr/>
        </p:nvSpPr>
        <p:spPr bwMode="auto">
          <a:xfrm>
            <a:off x="1116013" y="2852738"/>
            <a:ext cx="7129462" cy="0"/>
          </a:xfrm>
          <a:prstGeom prst="line">
            <a:avLst/>
          </a:prstGeom>
          <a:noFill/>
          <a:ln w="57150">
            <a:solidFill>
              <a:srgbClr val="00CC99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78852" name="Line 5"/>
          <p:cNvSpPr>
            <a:spLocks noChangeShapeType="1"/>
          </p:cNvSpPr>
          <p:nvPr/>
        </p:nvSpPr>
        <p:spPr bwMode="auto">
          <a:xfrm>
            <a:off x="1116013" y="2997200"/>
            <a:ext cx="7129462" cy="0"/>
          </a:xfrm>
          <a:prstGeom prst="line">
            <a:avLst/>
          </a:prstGeom>
          <a:noFill/>
          <a:ln w="57150">
            <a:solidFill>
              <a:srgbClr val="00CC99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78853" name="AutoShape 12"/>
          <p:cNvSpPr>
            <a:spLocks noChangeArrowheads="1"/>
          </p:cNvSpPr>
          <p:nvPr/>
        </p:nvSpPr>
        <p:spPr bwMode="auto">
          <a:xfrm>
            <a:off x="3419475" y="3429000"/>
            <a:ext cx="431800" cy="431800"/>
          </a:xfrm>
          <a:prstGeom prst="octagon">
            <a:avLst>
              <a:gd name="adj" fmla="val 29287"/>
            </a:avLst>
          </a:prstGeom>
          <a:solidFill>
            <a:srgbClr val="B2B2B2"/>
          </a:solidFill>
          <a:ln w="9525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8854" name="Oval 19"/>
          <p:cNvSpPr>
            <a:spLocks noChangeArrowheads="1"/>
          </p:cNvSpPr>
          <p:nvPr/>
        </p:nvSpPr>
        <p:spPr bwMode="auto">
          <a:xfrm>
            <a:off x="6227763" y="3644900"/>
            <a:ext cx="1368425" cy="1347788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CC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8855" name="Oval 20"/>
          <p:cNvSpPr>
            <a:spLocks noChangeArrowheads="1"/>
          </p:cNvSpPr>
          <p:nvPr/>
        </p:nvSpPr>
        <p:spPr bwMode="auto">
          <a:xfrm>
            <a:off x="6443663" y="3860800"/>
            <a:ext cx="914400" cy="9144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CC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8856" name="Oval 22"/>
          <p:cNvSpPr>
            <a:spLocks noChangeArrowheads="1"/>
          </p:cNvSpPr>
          <p:nvPr/>
        </p:nvSpPr>
        <p:spPr bwMode="auto">
          <a:xfrm>
            <a:off x="4284663" y="3716338"/>
            <a:ext cx="1368425" cy="1347787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CC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8857" name="Oval 23"/>
          <p:cNvSpPr>
            <a:spLocks noChangeArrowheads="1"/>
          </p:cNvSpPr>
          <p:nvPr/>
        </p:nvSpPr>
        <p:spPr bwMode="auto">
          <a:xfrm>
            <a:off x="4500563" y="3933825"/>
            <a:ext cx="914400" cy="9144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CC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8858" name="AutoShape 24"/>
          <p:cNvSpPr>
            <a:spLocks noChangeArrowheads="1"/>
          </p:cNvSpPr>
          <p:nvPr/>
        </p:nvSpPr>
        <p:spPr bwMode="auto">
          <a:xfrm>
            <a:off x="4716463" y="4221163"/>
            <a:ext cx="431800" cy="431800"/>
          </a:xfrm>
          <a:prstGeom prst="octagon">
            <a:avLst>
              <a:gd name="adj" fmla="val 29287"/>
            </a:avLst>
          </a:prstGeom>
          <a:solidFill>
            <a:srgbClr val="B2B2B2"/>
          </a:solidFill>
          <a:ln w="9525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8859" name="Oval 25"/>
          <p:cNvSpPr>
            <a:spLocks noChangeArrowheads="1"/>
          </p:cNvSpPr>
          <p:nvPr/>
        </p:nvSpPr>
        <p:spPr bwMode="auto">
          <a:xfrm>
            <a:off x="2627313" y="2781300"/>
            <a:ext cx="1368425" cy="1347788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CC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8860" name="Oval 26"/>
          <p:cNvSpPr>
            <a:spLocks noChangeArrowheads="1"/>
          </p:cNvSpPr>
          <p:nvPr/>
        </p:nvSpPr>
        <p:spPr bwMode="auto">
          <a:xfrm>
            <a:off x="2843213" y="2997200"/>
            <a:ext cx="914400" cy="9144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CC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8861" name="AutoShape 27"/>
          <p:cNvSpPr>
            <a:spLocks noChangeArrowheads="1"/>
          </p:cNvSpPr>
          <p:nvPr/>
        </p:nvSpPr>
        <p:spPr bwMode="auto">
          <a:xfrm>
            <a:off x="3059113" y="3284538"/>
            <a:ext cx="431800" cy="431800"/>
          </a:xfrm>
          <a:prstGeom prst="octagon">
            <a:avLst>
              <a:gd name="adj" fmla="val 29287"/>
            </a:avLst>
          </a:prstGeom>
          <a:solidFill>
            <a:srgbClr val="B2B2B2"/>
          </a:solidFill>
          <a:ln w="9525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8862" name="Rectangle 28"/>
          <p:cNvSpPr>
            <a:spLocks noChangeArrowheads="1"/>
          </p:cNvSpPr>
          <p:nvPr/>
        </p:nvSpPr>
        <p:spPr bwMode="auto">
          <a:xfrm>
            <a:off x="2700338" y="2636838"/>
            <a:ext cx="1295400" cy="50482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8863" name="AutoShape 29"/>
          <p:cNvSpPr>
            <a:spLocks noChangeArrowheads="1"/>
          </p:cNvSpPr>
          <p:nvPr/>
        </p:nvSpPr>
        <p:spPr bwMode="auto">
          <a:xfrm>
            <a:off x="1403350" y="2060575"/>
            <a:ext cx="431800" cy="431800"/>
          </a:xfrm>
          <a:prstGeom prst="octagon">
            <a:avLst>
              <a:gd name="adj" fmla="val 29287"/>
            </a:avLst>
          </a:prstGeom>
          <a:solidFill>
            <a:srgbClr val="B2B2B2"/>
          </a:solidFill>
          <a:ln w="9525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8864" name="Oval 30"/>
          <p:cNvSpPr>
            <a:spLocks noChangeArrowheads="1"/>
          </p:cNvSpPr>
          <p:nvPr/>
        </p:nvSpPr>
        <p:spPr bwMode="auto">
          <a:xfrm>
            <a:off x="1547813" y="2492375"/>
            <a:ext cx="144462" cy="72072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8865" name="Oval 31"/>
          <p:cNvSpPr>
            <a:spLocks noChangeArrowheads="1"/>
          </p:cNvSpPr>
          <p:nvPr/>
        </p:nvSpPr>
        <p:spPr bwMode="auto">
          <a:xfrm>
            <a:off x="2339975" y="3500438"/>
            <a:ext cx="720725" cy="144462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8866" name="Oval 32"/>
          <p:cNvSpPr>
            <a:spLocks noChangeArrowheads="1"/>
          </p:cNvSpPr>
          <p:nvPr/>
        </p:nvSpPr>
        <p:spPr bwMode="auto">
          <a:xfrm rot="-2132260">
            <a:off x="2490788" y="3810000"/>
            <a:ext cx="719137" cy="144463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8867" name="Oval 33"/>
          <p:cNvSpPr>
            <a:spLocks noChangeArrowheads="1"/>
          </p:cNvSpPr>
          <p:nvPr/>
        </p:nvSpPr>
        <p:spPr bwMode="auto">
          <a:xfrm>
            <a:off x="3132138" y="3716338"/>
            <a:ext cx="144462" cy="64928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8868" name="Oval 41"/>
          <p:cNvSpPr>
            <a:spLocks noChangeArrowheads="1"/>
          </p:cNvSpPr>
          <p:nvPr/>
        </p:nvSpPr>
        <p:spPr bwMode="auto">
          <a:xfrm>
            <a:off x="6659563" y="4149725"/>
            <a:ext cx="503237" cy="587375"/>
          </a:xfrm>
          <a:prstGeom prst="ellipse">
            <a:avLst/>
          </a:prstGeom>
          <a:solidFill>
            <a:schemeClr val="bg1"/>
          </a:solidFill>
          <a:ln w="57150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8869" name="Freeform 42"/>
          <p:cNvSpPr>
            <a:spLocks/>
          </p:cNvSpPr>
          <p:nvPr/>
        </p:nvSpPr>
        <p:spPr bwMode="auto">
          <a:xfrm>
            <a:off x="6731000" y="4398963"/>
            <a:ext cx="371475" cy="1262062"/>
          </a:xfrm>
          <a:custGeom>
            <a:avLst/>
            <a:gdLst>
              <a:gd name="T0" fmla="*/ 104 w 234"/>
              <a:gd name="T1" fmla="*/ 0 h 750"/>
              <a:gd name="T2" fmla="*/ 51 w 234"/>
              <a:gd name="T3" fmla="*/ 311 h 750"/>
              <a:gd name="T4" fmla="*/ 29 w 234"/>
              <a:gd name="T5" fmla="*/ 387 h 750"/>
              <a:gd name="T6" fmla="*/ 36 w 234"/>
              <a:gd name="T7" fmla="*/ 523 h 750"/>
              <a:gd name="T8" fmla="*/ 218 w 234"/>
              <a:gd name="T9" fmla="*/ 531 h 750"/>
              <a:gd name="T10" fmla="*/ 233 w 234"/>
              <a:gd name="T11" fmla="*/ 553 h 750"/>
              <a:gd name="T12" fmla="*/ 13 w 234"/>
              <a:gd name="T13" fmla="*/ 621 h 750"/>
              <a:gd name="T14" fmla="*/ 51 w 234"/>
              <a:gd name="T15" fmla="*/ 667 h 750"/>
              <a:gd name="T16" fmla="*/ 211 w 234"/>
              <a:gd name="T17" fmla="*/ 675 h 750"/>
              <a:gd name="T18" fmla="*/ 59 w 234"/>
              <a:gd name="T19" fmla="*/ 750 h 75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34"/>
              <a:gd name="T31" fmla="*/ 0 h 750"/>
              <a:gd name="T32" fmla="*/ 234 w 234"/>
              <a:gd name="T33" fmla="*/ 750 h 75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34" h="750">
                <a:moveTo>
                  <a:pt x="104" y="0"/>
                </a:moveTo>
                <a:cubicBezTo>
                  <a:pt x="133" y="84"/>
                  <a:pt x="93" y="230"/>
                  <a:pt x="51" y="311"/>
                </a:cubicBezTo>
                <a:cubicBezTo>
                  <a:pt x="45" y="337"/>
                  <a:pt x="37" y="361"/>
                  <a:pt x="29" y="387"/>
                </a:cubicBezTo>
                <a:cubicBezTo>
                  <a:pt x="31" y="432"/>
                  <a:pt x="0" y="495"/>
                  <a:pt x="36" y="523"/>
                </a:cubicBezTo>
                <a:cubicBezTo>
                  <a:pt x="84" y="560"/>
                  <a:pt x="158" y="522"/>
                  <a:pt x="218" y="531"/>
                </a:cubicBezTo>
                <a:cubicBezTo>
                  <a:pt x="227" y="532"/>
                  <a:pt x="228" y="546"/>
                  <a:pt x="233" y="553"/>
                </a:cubicBezTo>
                <a:cubicBezTo>
                  <a:pt x="162" y="601"/>
                  <a:pt x="86" y="553"/>
                  <a:pt x="13" y="621"/>
                </a:cubicBezTo>
                <a:cubicBezTo>
                  <a:pt x="4" y="650"/>
                  <a:pt x="19" y="664"/>
                  <a:pt x="51" y="667"/>
                </a:cubicBezTo>
                <a:cubicBezTo>
                  <a:pt x="104" y="672"/>
                  <a:pt x="158" y="672"/>
                  <a:pt x="211" y="675"/>
                </a:cubicBezTo>
                <a:cubicBezTo>
                  <a:pt x="234" y="748"/>
                  <a:pt x="107" y="750"/>
                  <a:pt x="59" y="750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78870" name="Freeform 43"/>
          <p:cNvSpPr>
            <a:spLocks/>
          </p:cNvSpPr>
          <p:nvPr/>
        </p:nvSpPr>
        <p:spPr bwMode="auto">
          <a:xfrm>
            <a:off x="6699250" y="4214813"/>
            <a:ext cx="84138" cy="103187"/>
          </a:xfrm>
          <a:custGeom>
            <a:avLst/>
            <a:gdLst>
              <a:gd name="T0" fmla="*/ 53 w 53"/>
              <a:gd name="T1" fmla="*/ 0 h 61"/>
              <a:gd name="T2" fmla="*/ 0 w 53"/>
              <a:gd name="T3" fmla="*/ 61 h 61"/>
              <a:gd name="T4" fmla="*/ 0 60000 65536"/>
              <a:gd name="T5" fmla="*/ 0 60000 65536"/>
              <a:gd name="T6" fmla="*/ 0 w 53"/>
              <a:gd name="T7" fmla="*/ 0 h 61"/>
              <a:gd name="T8" fmla="*/ 53 w 53"/>
              <a:gd name="T9" fmla="*/ 61 h 6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3" h="61">
                <a:moveTo>
                  <a:pt x="53" y="0"/>
                </a:moveTo>
                <a:cubicBezTo>
                  <a:pt x="19" y="12"/>
                  <a:pt x="0" y="22"/>
                  <a:pt x="0" y="61"/>
                </a:cubicBezTo>
              </a:path>
            </a:pathLst>
          </a:custGeom>
          <a:noFill/>
          <a:ln w="7620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78871" name="Freeform 44"/>
          <p:cNvSpPr>
            <a:spLocks/>
          </p:cNvSpPr>
          <p:nvPr/>
        </p:nvSpPr>
        <p:spPr bwMode="auto">
          <a:xfrm>
            <a:off x="6951663" y="4167188"/>
            <a:ext cx="120650" cy="69850"/>
          </a:xfrm>
          <a:custGeom>
            <a:avLst/>
            <a:gdLst>
              <a:gd name="T0" fmla="*/ 0 w 76"/>
              <a:gd name="T1" fmla="*/ 1 h 33"/>
              <a:gd name="T2" fmla="*/ 61 w 76"/>
              <a:gd name="T3" fmla="*/ 8 h 33"/>
              <a:gd name="T4" fmla="*/ 68 w 76"/>
              <a:gd name="T5" fmla="*/ 31 h 33"/>
              <a:gd name="T6" fmla="*/ 38 w 76"/>
              <a:gd name="T7" fmla="*/ 23 h 33"/>
              <a:gd name="T8" fmla="*/ 0 60000 65536"/>
              <a:gd name="T9" fmla="*/ 0 60000 65536"/>
              <a:gd name="T10" fmla="*/ 0 60000 65536"/>
              <a:gd name="T11" fmla="*/ 0 60000 65536"/>
              <a:gd name="T12" fmla="*/ 0 w 76"/>
              <a:gd name="T13" fmla="*/ 0 h 33"/>
              <a:gd name="T14" fmla="*/ 76 w 76"/>
              <a:gd name="T15" fmla="*/ 33 h 3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6" h="33">
                <a:moveTo>
                  <a:pt x="0" y="1"/>
                </a:moveTo>
                <a:cubicBezTo>
                  <a:pt x="20" y="3"/>
                  <a:pt x="42" y="0"/>
                  <a:pt x="61" y="8"/>
                </a:cubicBezTo>
                <a:cubicBezTo>
                  <a:pt x="68" y="11"/>
                  <a:pt x="76" y="33"/>
                  <a:pt x="68" y="31"/>
                </a:cubicBezTo>
                <a:cubicBezTo>
                  <a:pt x="58" y="28"/>
                  <a:pt x="38" y="23"/>
                  <a:pt x="38" y="23"/>
                </a:cubicBezTo>
              </a:path>
            </a:pathLst>
          </a:custGeom>
          <a:noFill/>
          <a:ln w="7620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78872" name="Freeform 45"/>
          <p:cNvSpPr>
            <a:spLocks/>
          </p:cNvSpPr>
          <p:nvPr/>
        </p:nvSpPr>
        <p:spPr bwMode="auto">
          <a:xfrm>
            <a:off x="7156450" y="4419600"/>
            <a:ext cx="12700" cy="103188"/>
          </a:xfrm>
          <a:custGeom>
            <a:avLst/>
            <a:gdLst>
              <a:gd name="T0" fmla="*/ 0 w 8"/>
              <a:gd name="T1" fmla="*/ 0 h 61"/>
              <a:gd name="T2" fmla="*/ 8 w 8"/>
              <a:gd name="T3" fmla="*/ 38 h 61"/>
              <a:gd name="T4" fmla="*/ 0 w 8"/>
              <a:gd name="T5" fmla="*/ 61 h 61"/>
              <a:gd name="T6" fmla="*/ 0 60000 65536"/>
              <a:gd name="T7" fmla="*/ 0 60000 65536"/>
              <a:gd name="T8" fmla="*/ 0 60000 65536"/>
              <a:gd name="T9" fmla="*/ 0 w 8"/>
              <a:gd name="T10" fmla="*/ 0 h 61"/>
              <a:gd name="T11" fmla="*/ 8 w 8"/>
              <a:gd name="T12" fmla="*/ 61 h 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" h="61">
                <a:moveTo>
                  <a:pt x="0" y="0"/>
                </a:moveTo>
                <a:cubicBezTo>
                  <a:pt x="3" y="13"/>
                  <a:pt x="8" y="25"/>
                  <a:pt x="8" y="38"/>
                </a:cubicBezTo>
                <a:cubicBezTo>
                  <a:pt x="8" y="46"/>
                  <a:pt x="0" y="61"/>
                  <a:pt x="0" y="61"/>
                </a:cubicBezTo>
              </a:path>
            </a:pathLst>
          </a:custGeom>
          <a:noFill/>
          <a:ln w="7620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78873" name="Freeform 46"/>
          <p:cNvSpPr>
            <a:spLocks/>
          </p:cNvSpPr>
          <p:nvPr/>
        </p:nvSpPr>
        <p:spPr bwMode="auto">
          <a:xfrm>
            <a:off x="6662738" y="4468813"/>
            <a:ext cx="28575" cy="101600"/>
          </a:xfrm>
          <a:custGeom>
            <a:avLst/>
            <a:gdLst>
              <a:gd name="T0" fmla="*/ 0 w 18"/>
              <a:gd name="T1" fmla="*/ 0 h 60"/>
              <a:gd name="T2" fmla="*/ 16 w 18"/>
              <a:gd name="T3" fmla="*/ 60 h 60"/>
              <a:gd name="T4" fmla="*/ 0 60000 65536"/>
              <a:gd name="T5" fmla="*/ 0 60000 65536"/>
              <a:gd name="T6" fmla="*/ 0 w 18"/>
              <a:gd name="T7" fmla="*/ 0 h 60"/>
              <a:gd name="T8" fmla="*/ 18 w 18"/>
              <a:gd name="T9" fmla="*/ 60 h 6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8" h="60">
                <a:moveTo>
                  <a:pt x="0" y="0"/>
                </a:moveTo>
                <a:cubicBezTo>
                  <a:pt x="18" y="50"/>
                  <a:pt x="16" y="29"/>
                  <a:pt x="16" y="60"/>
                </a:cubicBezTo>
              </a:path>
            </a:pathLst>
          </a:custGeom>
          <a:noFill/>
          <a:ln w="7620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78874" name="Freeform 47"/>
          <p:cNvSpPr>
            <a:spLocks/>
          </p:cNvSpPr>
          <p:nvPr/>
        </p:nvSpPr>
        <p:spPr bwMode="auto">
          <a:xfrm>
            <a:off x="6746875" y="4645025"/>
            <a:ext cx="73025" cy="69850"/>
          </a:xfrm>
          <a:custGeom>
            <a:avLst/>
            <a:gdLst>
              <a:gd name="T0" fmla="*/ 0 w 46"/>
              <a:gd name="T1" fmla="*/ 0 h 30"/>
              <a:gd name="T2" fmla="*/ 46 w 46"/>
              <a:gd name="T3" fmla="*/ 30 h 30"/>
              <a:gd name="T4" fmla="*/ 0 60000 65536"/>
              <a:gd name="T5" fmla="*/ 0 60000 65536"/>
              <a:gd name="T6" fmla="*/ 0 w 46"/>
              <a:gd name="T7" fmla="*/ 0 h 30"/>
              <a:gd name="T8" fmla="*/ 46 w 46"/>
              <a:gd name="T9" fmla="*/ 30 h 3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6" h="30">
                <a:moveTo>
                  <a:pt x="0" y="0"/>
                </a:moveTo>
                <a:cubicBezTo>
                  <a:pt x="13" y="12"/>
                  <a:pt x="27" y="30"/>
                  <a:pt x="46" y="30"/>
                </a:cubicBezTo>
              </a:path>
            </a:pathLst>
          </a:custGeom>
          <a:noFill/>
          <a:ln w="7620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78875" name="Freeform 48"/>
          <p:cNvSpPr>
            <a:spLocks/>
          </p:cNvSpPr>
          <p:nvPr/>
        </p:nvSpPr>
        <p:spPr bwMode="auto">
          <a:xfrm>
            <a:off x="6975475" y="4664075"/>
            <a:ext cx="76200" cy="74613"/>
          </a:xfrm>
          <a:custGeom>
            <a:avLst/>
            <a:gdLst>
              <a:gd name="T0" fmla="*/ 53 w 60"/>
              <a:gd name="T1" fmla="*/ 3 h 41"/>
              <a:gd name="T2" fmla="*/ 16 w 60"/>
              <a:gd name="T3" fmla="*/ 26 h 41"/>
              <a:gd name="T4" fmla="*/ 0 w 60"/>
              <a:gd name="T5" fmla="*/ 41 h 41"/>
              <a:gd name="T6" fmla="*/ 0 60000 65536"/>
              <a:gd name="T7" fmla="*/ 0 60000 65536"/>
              <a:gd name="T8" fmla="*/ 0 60000 65536"/>
              <a:gd name="T9" fmla="*/ 0 w 60"/>
              <a:gd name="T10" fmla="*/ 0 h 41"/>
              <a:gd name="T11" fmla="*/ 60 w 60"/>
              <a:gd name="T12" fmla="*/ 41 h 4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0" h="41">
                <a:moveTo>
                  <a:pt x="53" y="3"/>
                </a:moveTo>
                <a:cubicBezTo>
                  <a:pt x="18" y="40"/>
                  <a:pt x="60" y="0"/>
                  <a:pt x="16" y="26"/>
                </a:cubicBezTo>
                <a:cubicBezTo>
                  <a:pt x="10" y="30"/>
                  <a:pt x="0" y="41"/>
                  <a:pt x="0" y="41"/>
                </a:cubicBezTo>
              </a:path>
            </a:pathLst>
          </a:custGeom>
          <a:noFill/>
          <a:ln w="7620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78876" name="Oval 49"/>
          <p:cNvSpPr>
            <a:spLocks noChangeArrowheads="1"/>
          </p:cNvSpPr>
          <p:nvPr/>
        </p:nvSpPr>
        <p:spPr bwMode="auto">
          <a:xfrm>
            <a:off x="3995738" y="4437063"/>
            <a:ext cx="720725" cy="144462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8877" name="Oval 50"/>
          <p:cNvSpPr>
            <a:spLocks noChangeArrowheads="1"/>
          </p:cNvSpPr>
          <p:nvPr/>
        </p:nvSpPr>
        <p:spPr bwMode="auto">
          <a:xfrm rot="-2132260">
            <a:off x="4211638" y="4797425"/>
            <a:ext cx="719137" cy="144463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8878" name="Oval 51"/>
          <p:cNvSpPr>
            <a:spLocks noChangeArrowheads="1"/>
          </p:cNvSpPr>
          <p:nvPr/>
        </p:nvSpPr>
        <p:spPr bwMode="auto">
          <a:xfrm rot="-2132260">
            <a:off x="6084888" y="4797425"/>
            <a:ext cx="719137" cy="144463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8879" name="Oval 52"/>
          <p:cNvSpPr>
            <a:spLocks noChangeArrowheads="1"/>
          </p:cNvSpPr>
          <p:nvPr/>
        </p:nvSpPr>
        <p:spPr bwMode="auto">
          <a:xfrm>
            <a:off x="5940425" y="4437063"/>
            <a:ext cx="720725" cy="144462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8880" name="Oval 53"/>
          <p:cNvSpPr>
            <a:spLocks noChangeArrowheads="1"/>
          </p:cNvSpPr>
          <p:nvPr/>
        </p:nvSpPr>
        <p:spPr bwMode="auto">
          <a:xfrm rot="-2041960">
            <a:off x="5076825" y="4581525"/>
            <a:ext cx="152400" cy="6477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8881" name="Oval 54"/>
          <p:cNvSpPr>
            <a:spLocks noChangeArrowheads="1"/>
          </p:cNvSpPr>
          <p:nvPr/>
        </p:nvSpPr>
        <p:spPr bwMode="auto">
          <a:xfrm rot="-2041960">
            <a:off x="7164388" y="4581525"/>
            <a:ext cx="152400" cy="6477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8882" name="Text Box 56"/>
          <p:cNvSpPr txBox="1">
            <a:spLocks noChangeArrowheads="1"/>
          </p:cNvSpPr>
          <p:nvPr/>
        </p:nvSpPr>
        <p:spPr bwMode="auto">
          <a:xfrm>
            <a:off x="3492500" y="1557338"/>
            <a:ext cx="4248150" cy="4667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400" b="1">
                <a:solidFill>
                  <a:srgbClr val="FF0000"/>
                </a:solidFill>
              </a:rPr>
              <a:t>2-</a:t>
            </a:r>
            <a:r>
              <a:rPr lang="fr-FR" sz="2400" b="1">
                <a:solidFill>
                  <a:srgbClr val="0066FF"/>
                </a:solidFill>
              </a:rPr>
              <a:t> Endocytose /pinocytose</a:t>
            </a:r>
          </a:p>
        </p:txBody>
      </p:sp>
      <p:sp>
        <p:nvSpPr>
          <p:cNvPr id="78883" name="Text Box 57"/>
          <p:cNvSpPr txBox="1">
            <a:spLocks noChangeArrowheads="1"/>
          </p:cNvSpPr>
          <p:nvPr/>
        </p:nvSpPr>
        <p:spPr bwMode="auto">
          <a:xfrm>
            <a:off x="1116013" y="5734050"/>
            <a:ext cx="3673475" cy="4667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sz="2400" b="1"/>
              <a:t>Virus non enveloppés</a:t>
            </a:r>
          </a:p>
        </p:txBody>
      </p:sp>
      <p:sp>
        <p:nvSpPr>
          <p:cNvPr id="78884" name="Freeform 65"/>
          <p:cNvSpPr>
            <a:spLocks/>
          </p:cNvSpPr>
          <p:nvPr/>
        </p:nvSpPr>
        <p:spPr bwMode="auto">
          <a:xfrm>
            <a:off x="2682875" y="2992438"/>
            <a:ext cx="142875" cy="160337"/>
          </a:xfrm>
          <a:custGeom>
            <a:avLst/>
            <a:gdLst>
              <a:gd name="T0" fmla="*/ 8 w 90"/>
              <a:gd name="T1" fmla="*/ 2 h 101"/>
              <a:gd name="T2" fmla="*/ 83 w 90"/>
              <a:gd name="T3" fmla="*/ 10 h 101"/>
              <a:gd name="T4" fmla="*/ 76 w 90"/>
              <a:gd name="T5" fmla="*/ 32 h 101"/>
              <a:gd name="T6" fmla="*/ 38 w 90"/>
              <a:gd name="T7" fmla="*/ 63 h 101"/>
              <a:gd name="T8" fmla="*/ 0 w 90"/>
              <a:gd name="T9" fmla="*/ 101 h 10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0"/>
              <a:gd name="T16" fmla="*/ 0 h 101"/>
              <a:gd name="T17" fmla="*/ 90 w 90"/>
              <a:gd name="T18" fmla="*/ 101 h 10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0" h="101">
                <a:moveTo>
                  <a:pt x="8" y="2"/>
                </a:moveTo>
                <a:cubicBezTo>
                  <a:pt x="33" y="5"/>
                  <a:pt x="60" y="0"/>
                  <a:pt x="83" y="10"/>
                </a:cubicBezTo>
                <a:cubicBezTo>
                  <a:pt x="90" y="13"/>
                  <a:pt x="80" y="25"/>
                  <a:pt x="76" y="32"/>
                </a:cubicBezTo>
                <a:cubicBezTo>
                  <a:pt x="68" y="46"/>
                  <a:pt x="51" y="55"/>
                  <a:pt x="38" y="63"/>
                </a:cubicBezTo>
                <a:cubicBezTo>
                  <a:pt x="31" y="83"/>
                  <a:pt x="26" y="101"/>
                  <a:pt x="0" y="101"/>
                </a:cubicBezTo>
              </a:path>
            </a:pathLst>
          </a:custGeom>
          <a:noFill/>
          <a:ln w="57150">
            <a:solidFill>
              <a:srgbClr val="00CC99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78885" name="Freeform 66"/>
          <p:cNvSpPr>
            <a:spLocks/>
          </p:cNvSpPr>
          <p:nvPr/>
        </p:nvSpPr>
        <p:spPr bwMode="auto">
          <a:xfrm>
            <a:off x="3841750" y="2984500"/>
            <a:ext cx="176213" cy="168275"/>
          </a:xfrm>
          <a:custGeom>
            <a:avLst/>
            <a:gdLst>
              <a:gd name="T0" fmla="*/ 111 w 111"/>
              <a:gd name="T1" fmla="*/ 15 h 106"/>
              <a:gd name="T2" fmla="*/ 5 w 111"/>
              <a:gd name="T3" fmla="*/ 7 h 106"/>
              <a:gd name="T4" fmla="*/ 20 w 111"/>
              <a:gd name="T5" fmla="*/ 91 h 106"/>
              <a:gd name="T6" fmla="*/ 66 w 111"/>
              <a:gd name="T7" fmla="*/ 106 h 106"/>
              <a:gd name="T8" fmla="*/ 0 60000 65536"/>
              <a:gd name="T9" fmla="*/ 0 60000 65536"/>
              <a:gd name="T10" fmla="*/ 0 60000 65536"/>
              <a:gd name="T11" fmla="*/ 0 60000 65536"/>
              <a:gd name="T12" fmla="*/ 0 w 111"/>
              <a:gd name="T13" fmla="*/ 0 h 106"/>
              <a:gd name="T14" fmla="*/ 111 w 111"/>
              <a:gd name="T15" fmla="*/ 106 h 10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1" h="106">
                <a:moveTo>
                  <a:pt x="111" y="15"/>
                </a:moveTo>
                <a:cubicBezTo>
                  <a:pt x="65" y="3"/>
                  <a:pt x="56" y="0"/>
                  <a:pt x="5" y="7"/>
                </a:cubicBezTo>
                <a:cubicBezTo>
                  <a:pt x="9" y="35"/>
                  <a:pt x="0" y="71"/>
                  <a:pt x="20" y="91"/>
                </a:cubicBezTo>
                <a:cubicBezTo>
                  <a:pt x="31" y="102"/>
                  <a:pt x="66" y="106"/>
                  <a:pt x="66" y="106"/>
                </a:cubicBezTo>
              </a:path>
            </a:pathLst>
          </a:custGeom>
          <a:noFill/>
          <a:ln w="57150">
            <a:solidFill>
              <a:srgbClr val="00CC99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78886" name="Freeform 67"/>
          <p:cNvSpPr>
            <a:spLocks/>
          </p:cNvSpPr>
          <p:nvPr/>
        </p:nvSpPr>
        <p:spPr bwMode="auto">
          <a:xfrm>
            <a:off x="2700338" y="2852738"/>
            <a:ext cx="373062" cy="287337"/>
          </a:xfrm>
          <a:custGeom>
            <a:avLst/>
            <a:gdLst>
              <a:gd name="T0" fmla="*/ 174 w 235"/>
              <a:gd name="T1" fmla="*/ 226 h 226"/>
              <a:gd name="T2" fmla="*/ 205 w 235"/>
              <a:gd name="T3" fmla="*/ 188 h 226"/>
              <a:gd name="T4" fmla="*/ 235 w 235"/>
              <a:gd name="T5" fmla="*/ 89 h 226"/>
              <a:gd name="T6" fmla="*/ 0 w 235"/>
              <a:gd name="T7" fmla="*/ 13 h 226"/>
              <a:gd name="T8" fmla="*/ 0 60000 65536"/>
              <a:gd name="T9" fmla="*/ 0 60000 65536"/>
              <a:gd name="T10" fmla="*/ 0 60000 65536"/>
              <a:gd name="T11" fmla="*/ 0 60000 65536"/>
              <a:gd name="T12" fmla="*/ 0 w 235"/>
              <a:gd name="T13" fmla="*/ 0 h 226"/>
              <a:gd name="T14" fmla="*/ 235 w 235"/>
              <a:gd name="T15" fmla="*/ 226 h 2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35" h="226">
                <a:moveTo>
                  <a:pt x="174" y="226"/>
                </a:moveTo>
                <a:cubicBezTo>
                  <a:pt x="183" y="212"/>
                  <a:pt x="198" y="203"/>
                  <a:pt x="205" y="188"/>
                </a:cubicBezTo>
                <a:cubicBezTo>
                  <a:pt x="219" y="160"/>
                  <a:pt x="224" y="119"/>
                  <a:pt x="235" y="89"/>
                </a:cubicBezTo>
                <a:cubicBezTo>
                  <a:pt x="174" y="0"/>
                  <a:pt x="103" y="13"/>
                  <a:pt x="0" y="13"/>
                </a:cubicBezTo>
              </a:path>
            </a:pathLst>
          </a:custGeom>
          <a:noFill/>
          <a:ln w="57150">
            <a:solidFill>
              <a:srgbClr val="00CC99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78887" name="Freeform 68"/>
          <p:cNvSpPr>
            <a:spLocks/>
          </p:cNvSpPr>
          <p:nvPr/>
        </p:nvSpPr>
        <p:spPr bwMode="auto">
          <a:xfrm>
            <a:off x="3575050" y="2828925"/>
            <a:ext cx="442913" cy="338138"/>
          </a:xfrm>
          <a:custGeom>
            <a:avLst/>
            <a:gdLst>
              <a:gd name="T0" fmla="*/ 279 w 279"/>
              <a:gd name="T1" fmla="*/ 7 h 213"/>
              <a:gd name="T2" fmla="*/ 37 w 279"/>
              <a:gd name="T3" fmla="*/ 29 h 213"/>
              <a:gd name="T4" fmla="*/ 44 w 279"/>
              <a:gd name="T5" fmla="*/ 181 h 213"/>
              <a:gd name="T6" fmla="*/ 60 w 279"/>
              <a:gd name="T7" fmla="*/ 211 h 213"/>
              <a:gd name="T8" fmla="*/ 0 60000 65536"/>
              <a:gd name="T9" fmla="*/ 0 60000 65536"/>
              <a:gd name="T10" fmla="*/ 0 60000 65536"/>
              <a:gd name="T11" fmla="*/ 0 60000 65536"/>
              <a:gd name="T12" fmla="*/ 0 w 279"/>
              <a:gd name="T13" fmla="*/ 0 h 213"/>
              <a:gd name="T14" fmla="*/ 279 w 279"/>
              <a:gd name="T15" fmla="*/ 213 h 21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79" h="213">
                <a:moveTo>
                  <a:pt x="279" y="7"/>
                </a:moveTo>
                <a:cubicBezTo>
                  <a:pt x="117" y="13"/>
                  <a:pt x="131" y="0"/>
                  <a:pt x="37" y="29"/>
                </a:cubicBezTo>
                <a:cubicBezTo>
                  <a:pt x="0" y="68"/>
                  <a:pt x="18" y="138"/>
                  <a:pt x="44" y="181"/>
                </a:cubicBezTo>
                <a:cubicBezTo>
                  <a:pt x="64" y="213"/>
                  <a:pt x="60" y="179"/>
                  <a:pt x="60" y="211"/>
                </a:cubicBezTo>
              </a:path>
            </a:pathLst>
          </a:custGeom>
          <a:noFill/>
          <a:ln w="57150">
            <a:solidFill>
              <a:srgbClr val="00CC99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78888" name="Line 69"/>
          <p:cNvSpPr>
            <a:spLocks noChangeShapeType="1"/>
          </p:cNvSpPr>
          <p:nvPr/>
        </p:nvSpPr>
        <p:spPr bwMode="auto">
          <a:xfrm>
            <a:off x="611188" y="1412875"/>
            <a:ext cx="8064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78889" name="Line 70"/>
          <p:cNvSpPr>
            <a:spLocks noChangeShapeType="1"/>
          </p:cNvSpPr>
          <p:nvPr/>
        </p:nvSpPr>
        <p:spPr bwMode="auto">
          <a:xfrm flipH="1">
            <a:off x="539750" y="1412875"/>
            <a:ext cx="71438" cy="5111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78890" name="Line 71"/>
          <p:cNvSpPr>
            <a:spLocks noChangeShapeType="1"/>
          </p:cNvSpPr>
          <p:nvPr/>
        </p:nvSpPr>
        <p:spPr bwMode="auto">
          <a:xfrm>
            <a:off x="8675688" y="1412875"/>
            <a:ext cx="0" cy="5111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78891" name="Line 72"/>
          <p:cNvSpPr>
            <a:spLocks noChangeShapeType="1"/>
          </p:cNvSpPr>
          <p:nvPr/>
        </p:nvSpPr>
        <p:spPr bwMode="auto">
          <a:xfrm flipH="1">
            <a:off x="539750" y="6524625"/>
            <a:ext cx="81359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78892" name="AutoShape 73"/>
          <p:cNvSpPr>
            <a:spLocks noChangeArrowheads="1"/>
          </p:cNvSpPr>
          <p:nvPr/>
        </p:nvSpPr>
        <p:spPr bwMode="auto">
          <a:xfrm>
            <a:off x="1331913" y="3284538"/>
            <a:ext cx="431800" cy="431800"/>
          </a:xfrm>
          <a:prstGeom prst="octagon">
            <a:avLst>
              <a:gd name="adj" fmla="val 29287"/>
            </a:avLst>
          </a:prstGeom>
          <a:solidFill>
            <a:srgbClr val="B2B2B2"/>
          </a:solidFill>
          <a:ln w="9525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8893" name="AutoShape 74"/>
          <p:cNvSpPr>
            <a:spLocks noChangeArrowheads="1"/>
          </p:cNvSpPr>
          <p:nvPr/>
        </p:nvSpPr>
        <p:spPr bwMode="auto">
          <a:xfrm>
            <a:off x="4716463" y="2060575"/>
            <a:ext cx="431800" cy="431800"/>
          </a:xfrm>
          <a:prstGeom prst="octagon">
            <a:avLst>
              <a:gd name="adj" fmla="val 29287"/>
            </a:avLst>
          </a:prstGeom>
          <a:solidFill>
            <a:srgbClr val="B2B2B2"/>
          </a:solidFill>
          <a:ln w="9525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8894" name="Oval 75"/>
          <p:cNvSpPr>
            <a:spLocks noChangeArrowheads="1"/>
          </p:cNvSpPr>
          <p:nvPr/>
        </p:nvSpPr>
        <p:spPr bwMode="auto">
          <a:xfrm>
            <a:off x="4860925" y="2492375"/>
            <a:ext cx="144463" cy="72072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8895" name="Text Box 76"/>
          <p:cNvSpPr txBox="1">
            <a:spLocks noChangeArrowheads="1"/>
          </p:cNvSpPr>
          <p:nvPr/>
        </p:nvSpPr>
        <p:spPr bwMode="auto">
          <a:xfrm>
            <a:off x="684213" y="1557338"/>
            <a:ext cx="2663825" cy="4667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400" b="1">
                <a:solidFill>
                  <a:srgbClr val="FF0000"/>
                </a:solidFill>
              </a:rPr>
              <a:t>1-</a:t>
            </a:r>
            <a:r>
              <a:rPr lang="fr-FR" sz="2400" b="1"/>
              <a:t> </a:t>
            </a:r>
            <a:r>
              <a:rPr lang="fr-FR" sz="2400" b="1">
                <a:solidFill>
                  <a:srgbClr val="0066FF"/>
                </a:solidFill>
              </a:rPr>
              <a:t>Translocation</a:t>
            </a:r>
            <a:r>
              <a:rPr lang="fr-FR">
                <a:solidFill>
                  <a:srgbClr val="0066FF"/>
                </a:solidFill>
              </a:rPr>
              <a:t> </a:t>
            </a:r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64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5"/>
          <p:cNvSpPr txBox="1">
            <a:spLocks noChangeArrowheads="1"/>
          </p:cNvSpPr>
          <p:nvPr/>
        </p:nvSpPr>
        <p:spPr bwMode="auto">
          <a:xfrm>
            <a:off x="250825" y="260350"/>
            <a:ext cx="8569325" cy="6197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Blip>
                <a:blip r:embed="rId5"/>
              </a:buBlip>
            </a:pPr>
            <a:r>
              <a:rPr lang="fr-FR" sz="4000">
                <a:solidFill>
                  <a:srgbClr val="0000FF"/>
                </a:solidFill>
              </a:rPr>
              <a:t> </a:t>
            </a:r>
            <a:r>
              <a:rPr lang="fr-FR" sz="4000" u="sng">
                <a:solidFill>
                  <a:srgbClr val="0000FF"/>
                </a:solidFill>
              </a:rPr>
              <a:t>Virus enveloppé</a:t>
            </a:r>
            <a:r>
              <a:rPr lang="fr-FR" sz="4000"/>
              <a:t> : </a:t>
            </a:r>
          </a:p>
          <a:p>
            <a:pPr>
              <a:buClr>
                <a:srgbClr val="FF33CC"/>
              </a:buClr>
              <a:buFont typeface="Arial" charset="0"/>
              <a:buChar char="●"/>
            </a:pPr>
            <a:r>
              <a:rPr lang="fr-FR" sz="4000"/>
              <a:t> Fusion de la membrane cellulaire et de l’enveloppe virale </a:t>
            </a:r>
            <a:endParaRPr lang="fr-FR" sz="4000">
              <a:solidFill>
                <a:srgbClr val="FF0066"/>
              </a:solidFill>
            </a:endParaRPr>
          </a:p>
          <a:p>
            <a:r>
              <a:rPr lang="fr-FR" sz="4000"/>
              <a:t>le virus pénètre sous forme de</a:t>
            </a:r>
            <a:r>
              <a:rPr lang="fr-FR" sz="4000">
                <a:solidFill>
                  <a:srgbClr val="FF0066"/>
                </a:solidFill>
              </a:rPr>
              <a:t> nucléocapside.</a:t>
            </a:r>
          </a:p>
          <a:p>
            <a:pPr>
              <a:buFont typeface="Arial" charset="0"/>
              <a:buChar char="●"/>
            </a:pPr>
            <a:r>
              <a:rPr lang="fr-FR" sz="4000">
                <a:solidFill>
                  <a:srgbClr val="FF3399"/>
                </a:solidFill>
              </a:rPr>
              <a:t> </a:t>
            </a:r>
            <a:r>
              <a:rPr lang="fr-FR" sz="4000"/>
              <a:t>Soit par</a:t>
            </a:r>
            <a:r>
              <a:rPr lang="fr-FR" sz="4000">
                <a:solidFill>
                  <a:srgbClr val="FF3399"/>
                </a:solidFill>
              </a:rPr>
              <a:t> </a:t>
            </a:r>
            <a:r>
              <a:rPr lang="fr-FR" sz="4000">
                <a:solidFill>
                  <a:srgbClr val="FF0066"/>
                </a:solidFill>
              </a:rPr>
              <a:t>Endocytose. (</a:t>
            </a:r>
            <a:r>
              <a:rPr lang="fr-FR" sz="4000"/>
              <a:t>Une acidification du virus au sein de l’endosome est induite par une pompe à protons (ex : protéine M2 pour le virus influenza type A). </a:t>
            </a:r>
            <a:endParaRPr lang="fr-FR" sz="4000">
              <a:solidFill>
                <a:srgbClr val="FF0066"/>
              </a:solidFill>
            </a:endParaRPr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72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1143000"/>
          </a:xfrm>
          <a:solidFill>
            <a:srgbClr val="FFFF99"/>
          </a:solidFill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r>
              <a:rPr lang="fr-FR" b="1" smtClean="0">
                <a:solidFill>
                  <a:schemeClr val="tx1"/>
                </a:solidFill>
              </a:rPr>
              <a:t>Pénétration et décapsidation</a:t>
            </a:r>
          </a:p>
        </p:txBody>
      </p:sp>
      <p:sp>
        <p:nvSpPr>
          <p:cNvPr id="81923" name="Line 4"/>
          <p:cNvSpPr>
            <a:spLocks noChangeShapeType="1"/>
          </p:cNvSpPr>
          <p:nvPr/>
        </p:nvSpPr>
        <p:spPr bwMode="auto">
          <a:xfrm>
            <a:off x="1116013" y="3860800"/>
            <a:ext cx="7272337" cy="0"/>
          </a:xfrm>
          <a:prstGeom prst="line">
            <a:avLst/>
          </a:prstGeom>
          <a:noFill/>
          <a:ln w="57150">
            <a:solidFill>
              <a:srgbClr val="00CC99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1924" name="Line 5"/>
          <p:cNvSpPr>
            <a:spLocks noChangeShapeType="1"/>
          </p:cNvSpPr>
          <p:nvPr/>
        </p:nvSpPr>
        <p:spPr bwMode="auto">
          <a:xfrm>
            <a:off x="1116013" y="4005263"/>
            <a:ext cx="7272337" cy="0"/>
          </a:xfrm>
          <a:prstGeom prst="line">
            <a:avLst/>
          </a:prstGeom>
          <a:noFill/>
          <a:ln w="57150">
            <a:solidFill>
              <a:srgbClr val="00CC99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1925" name="Oval 8"/>
          <p:cNvSpPr>
            <a:spLocks noChangeArrowheads="1"/>
          </p:cNvSpPr>
          <p:nvPr/>
        </p:nvSpPr>
        <p:spPr bwMode="auto">
          <a:xfrm>
            <a:off x="1042988" y="2205038"/>
            <a:ext cx="1368425" cy="1347787"/>
          </a:xfrm>
          <a:prstGeom prst="ellipse">
            <a:avLst/>
          </a:prstGeom>
          <a:solidFill>
            <a:schemeClr val="bg1"/>
          </a:solidFill>
          <a:ln w="57150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1926" name="Oval 11"/>
          <p:cNvSpPr>
            <a:spLocks noChangeArrowheads="1"/>
          </p:cNvSpPr>
          <p:nvPr/>
        </p:nvSpPr>
        <p:spPr bwMode="auto">
          <a:xfrm>
            <a:off x="3708400" y="2708275"/>
            <a:ext cx="1368425" cy="1347788"/>
          </a:xfrm>
          <a:prstGeom prst="ellipse">
            <a:avLst/>
          </a:prstGeom>
          <a:solidFill>
            <a:schemeClr val="bg1"/>
          </a:solidFill>
          <a:ln w="57150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1927" name="Oval 12"/>
          <p:cNvSpPr>
            <a:spLocks noChangeArrowheads="1"/>
          </p:cNvSpPr>
          <p:nvPr/>
        </p:nvSpPr>
        <p:spPr bwMode="auto">
          <a:xfrm>
            <a:off x="3924300" y="2924175"/>
            <a:ext cx="914400" cy="9144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1928" name="Rectangle 13"/>
          <p:cNvSpPr>
            <a:spLocks noChangeArrowheads="1"/>
          </p:cNvSpPr>
          <p:nvPr/>
        </p:nvSpPr>
        <p:spPr bwMode="auto">
          <a:xfrm>
            <a:off x="3779838" y="3716338"/>
            <a:ext cx="1223962" cy="50482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1929" name="Freeform 15"/>
          <p:cNvSpPr>
            <a:spLocks/>
          </p:cNvSpPr>
          <p:nvPr/>
        </p:nvSpPr>
        <p:spPr bwMode="auto">
          <a:xfrm>
            <a:off x="4921250" y="3705225"/>
            <a:ext cx="95250" cy="157163"/>
          </a:xfrm>
          <a:custGeom>
            <a:avLst/>
            <a:gdLst>
              <a:gd name="T0" fmla="*/ 45 w 60"/>
              <a:gd name="T1" fmla="*/ 0 h 99"/>
              <a:gd name="T2" fmla="*/ 0 w 60"/>
              <a:gd name="T3" fmla="*/ 61 h 99"/>
              <a:gd name="T4" fmla="*/ 7 w 60"/>
              <a:gd name="T5" fmla="*/ 84 h 99"/>
              <a:gd name="T6" fmla="*/ 60 w 60"/>
              <a:gd name="T7" fmla="*/ 99 h 99"/>
              <a:gd name="T8" fmla="*/ 0 60000 65536"/>
              <a:gd name="T9" fmla="*/ 0 60000 65536"/>
              <a:gd name="T10" fmla="*/ 0 60000 65536"/>
              <a:gd name="T11" fmla="*/ 0 60000 65536"/>
              <a:gd name="T12" fmla="*/ 0 w 60"/>
              <a:gd name="T13" fmla="*/ 0 h 99"/>
              <a:gd name="T14" fmla="*/ 60 w 60"/>
              <a:gd name="T15" fmla="*/ 99 h 9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" h="99">
                <a:moveTo>
                  <a:pt x="45" y="0"/>
                </a:moveTo>
                <a:cubicBezTo>
                  <a:pt x="19" y="18"/>
                  <a:pt x="17" y="35"/>
                  <a:pt x="0" y="61"/>
                </a:cubicBezTo>
                <a:cubicBezTo>
                  <a:pt x="2" y="69"/>
                  <a:pt x="1" y="78"/>
                  <a:pt x="7" y="84"/>
                </a:cubicBezTo>
                <a:cubicBezTo>
                  <a:pt x="14" y="91"/>
                  <a:pt x="50" y="99"/>
                  <a:pt x="60" y="99"/>
                </a:cubicBezTo>
              </a:path>
            </a:pathLst>
          </a:custGeom>
          <a:noFill/>
          <a:ln w="57150">
            <a:solidFill>
              <a:srgbClr val="B2B2B2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1930" name="Freeform 16"/>
          <p:cNvSpPr>
            <a:spLocks/>
          </p:cNvSpPr>
          <p:nvPr/>
        </p:nvSpPr>
        <p:spPr bwMode="auto">
          <a:xfrm>
            <a:off x="3778250" y="3694113"/>
            <a:ext cx="138113" cy="155575"/>
          </a:xfrm>
          <a:custGeom>
            <a:avLst/>
            <a:gdLst>
              <a:gd name="T0" fmla="*/ 0 w 87"/>
              <a:gd name="T1" fmla="*/ 0 h 98"/>
              <a:gd name="T2" fmla="*/ 45 w 87"/>
              <a:gd name="T3" fmla="*/ 15 h 98"/>
              <a:gd name="T4" fmla="*/ 76 w 87"/>
              <a:gd name="T5" fmla="*/ 53 h 98"/>
              <a:gd name="T6" fmla="*/ 83 w 87"/>
              <a:gd name="T7" fmla="*/ 76 h 98"/>
              <a:gd name="T8" fmla="*/ 60 w 87"/>
              <a:gd name="T9" fmla="*/ 83 h 98"/>
              <a:gd name="T10" fmla="*/ 0 w 87"/>
              <a:gd name="T11" fmla="*/ 98 h 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7"/>
              <a:gd name="T19" fmla="*/ 0 h 98"/>
              <a:gd name="T20" fmla="*/ 87 w 87"/>
              <a:gd name="T21" fmla="*/ 98 h 9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7" h="98">
                <a:moveTo>
                  <a:pt x="0" y="0"/>
                </a:moveTo>
                <a:cubicBezTo>
                  <a:pt x="4" y="1"/>
                  <a:pt x="42" y="12"/>
                  <a:pt x="45" y="15"/>
                </a:cubicBezTo>
                <a:cubicBezTo>
                  <a:pt x="58" y="25"/>
                  <a:pt x="64" y="42"/>
                  <a:pt x="76" y="53"/>
                </a:cubicBezTo>
                <a:cubicBezTo>
                  <a:pt x="78" y="61"/>
                  <a:pt x="87" y="69"/>
                  <a:pt x="83" y="76"/>
                </a:cubicBezTo>
                <a:cubicBezTo>
                  <a:pt x="79" y="83"/>
                  <a:pt x="68" y="80"/>
                  <a:pt x="60" y="83"/>
                </a:cubicBezTo>
                <a:cubicBezTo>
                  <a:pt x="39" y="90"/>
                  <a:pt x="22" y="98"/>
                  <a:pt x="0" y="98"/>
                </a:cubicBezTo>
              </a:path>
            </a:pathLst>
          </a:custGeom>
          <a:noFill/>
          <a:ln w="57150">
            <a:solidFill>
              <a:srgbClr val="B2B2B2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1931" name="Freeform 17"/>
          <p:cNvSpPr>
            <a:spLocks/>
          </p:cNvSpPr>
          <p:nvPr/>
        </p:nvSpPr>
        <p:spPr bwMode="auto">
          <a:xfrm>
            <a:off x="3778250" y="3694113"/>
            <a:ext cx="349250" cy="312737"/>
          </a:xfrm>
          <a:custGeom>
            <a:avLst/>
            <a:gdLst>
              <a:gd name="T0" fmla="*/ 182 w 220"/>
              <a:gd name="T1" fmla="*/ 0 h 197"/>
              <a:gd name="T2" fmla="*/ 220 w 220"/>
              <a:gd name="T3" fmla="*/ 60 h 197"/>
              <a:gd name="T4" fmla="*/ 197 w 220"/>
              <a:gd name="T5" fmla="*/ 121 h 197"/>
              <a:gd name="T6" fmla="*/ 0 w 220"/>
              <a:gd name="T7" fmla="*/ 197 h 197"/>
              <a:gd name="T8" fmla="*/ 0 60000 65536"/>
              <a:gd name="T9" fmla="*/ 0 60000 65536"/>
              <a:gd name="T10" fmla="*/ 0 60000 65536"/>
              <a:gd name="T11" fmla="*/ 0 60000 65536"/>
              <a:gd name="T12" fmla="*/ 0 w 220"/>
              <a:gd name="T13" fmla="*/ 0 h 197"/>
              <a:gd name="T14" fmla="*/ 220 w 220"/>
              <a:gd name="T15" fmla="*/ 197 h 19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0" h="197">
                <a:moveTo>
                  <a:pt x="182" y="0"/>
                </a:moveTo>
                <a:cubicBezTo>
                  <a:pt x="197" y="22"/>
                  <a:pt x="201" y="42"/>
                  <a:pt x="220" y="60"/>
                </a:cubicBezTo>
                <a:cubicBezTo>
                  <a:pt x="215" y="82"/>
                  <a:pt x="215" y="105"/>
                  <a:pt x="197" y="121"/>
                </a:cubicBezTo>
                <a:cubicBezTo>
                  <a:pt x="145" y="166"/>
                  <a:pt x="69" y="197"/>
                  <a:pt x="0" y="197"/>
                </a:cubicBezTo>
              </a:path>
            </a:pathLst>
          </a:custGeom>
          <a:noFill/>
          <a:ln w="57150">
            <a:solidFill>
              <a:srgbClr val="B2B2B2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1932" name="Freeform 19"/>
          <p:cNvSpPr>
            <a:spLocks/>
          </p:cNvSpPr>
          <p:nvPr/>
        </p:nvSpPr>
        <p:spPr bwMode="auto">
          <a:xfrm>
            <a:off x="4656138" y="3681413"/>
            <a:ext cx="349250" cy="325437"/>
          </a:xfrm>
          <a:custGeom>
            <a:avLst/>
            <a:gdLst>
              <a:gd name="T0" fmla="*/ 46 w 220"/>
              <a:gd name="T1" fmla="*/ 0 h 205"/>
              <a:gd name="T2" fmla="*/ 0 w 220"/>
              <a:gd name="T3" fmla="*/ 84 h 205"/>
              <a:gd name="T4" fmla="*/ 15 w 220"/>
              <a:gd name="T5" fmla="*/ 129 h 205"/>
              <a:gd name="T6" fmla="*/ 38 w 220"/>
              <a:gd name="T7" fmla="*/ 137 h 205"/>
              <a:gd name="T8" fmla="*/ 220 w 220"/>
              <a:gd name="T9" fmla="*/ 20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0"/>
              <a:gd name="T16" fmla="*/ 0 h 205"/>
              <a:gd name="T17" fmla="*/ 220 w 220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0" h="205">
                <a:moveTo>
                  <a:pt x="46" y="0"/>
                </a:moveTo>
                <a:cubicBezTo>
                  <a:pt x="32" y="39"/>
                  <a:pt x="28" y="55"/>
                  <a:pt x="0" y="84"/>
                </a:cubicBezTo>
                <a:cubicBezTo>
                  <a:pt x="5" y="99"/>
                  <a:pt x="4" y="118"/>
                  <a:pt x="15" y="129"/>
                </a:cubicBezTo>
                <a:cubicBezTo>
                  <a:pt x="21" y="135"/>
                  <a:pt x="31" y="133"/>
                  <a:pt x="38" y="137"/>
                </a:cubicBezTo>
                <a:cubicBezTo>
                  <a:pt x="94" y="168"/>
                  <a:pt x="153" y="205"/>
                  <a:pt x="220" y="205"/>
                </a:cubicBezTo>
              </a:path>
            </a:pathLst>
          </a:custGeom>
          <a:noFill/>
          <a:ln w="57150">
            <a:solidFill>
              <a:srgbClr val="B2B2B2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1933" name="AutoShape 23"/>
          <p:cNvSpPr>
            <a:spLocks noChangeArrowheads="1"/>
          </p:cNvSpPr>
          <p:nvPr/>
        </p:nvSpPr>
        <p:spPr bwMode="auto">
          <a:xfrm>
            <a:off x="4356100" y="4292600"/>
            <a:ext cx="431800" cy="431800"/>
          </a:xfrm>
          <a:prstGeom prst="octagon">
            <a:avLst>
              <a:gd name="adj" fmla="val 29287"/>
            </a:avLst>
          </a:prstGeom>
          <a:solidFill>
            <a:srgbClr val="B2B2B2"/>
          </a:solidFill>
          <a:ln w="9525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1934" name="AutoShape 24"/>
          <p:cNvSpPr>
            <a:spLocks noChangeArrowheads="1"/>
          </p:cNvSpPr>
          <p:nvPr/>
        </p:nvSpPr>
        <p:spPr bwMode="auto">
          <a:xfrm>
            <a:off x="4140200" y="3141663"/>
            <a:ext cx="431800" cy="431800"/>
          </a:xfrm>
          <a:prstGeom prst="octagon">
            <a:avLst>
              <a:gd name="adj" fmla="val 29287"/>
            </a:avLst>
          </a:prstGeom>
          <a:solidFill>
            <a:srgbClr val="B2B2B2"/>
          </a:solidFill>
          <a:ln w="9525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1935" name="Oval 25"/>
          <p:cNvSpPr>
            <a:spLocks noChangeArrowheads="1"/>
          </p:cNvSpPr>
          <p:nvPr/>
        </p:nvSpPr>
        <p:spPr bwMode="auto">
          <a:xfrm>
            <a:off x="5364163" y="4292600"/>
            <a:ext cx="503237" cy="554038"/>
          </a:xfrm>
          <a:prstGeom prst="ellipse">
            <a:avLst/>
          </a:prstGeom>
          <a:solidFill>
            <a:schemeClr val="bg1"/>
          </a:solidFill>
          <a:ln w="57150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1936" name="Freeform 26"/>
          <p:cNvSpPr>
            <a:spLocks/>
          </p:cNvSpPr>
          <p:nvPr/>
        </p:nvSpPr>
        <p:spPr bwMode="auto">
          <a:xfrm>
            <a:off x="5435600" y="4579938"/>
            <a:ext cx="371475" cy="1190625"/>
          </a:xfrm>
          <a:custGeom>
            <a:avLst/>
            <a:gdLst>
              <a:gd name="T0" fmla="*/ 104 w 234"/>
              <a:gd name="T1" fmla="*/ 0 h 750"/>
              <a:gd name="T2" fmla="*/ 51 w 234"/>
              <a:gd name="T3" fmla="*/ 311 h 750"/>
              <a:gd name="T4" fmla="*/ 29 w 234"/>
              <a:gd name="T5" fmla="*/ 387 h 750"/>
              <a:gd name="T6" fmla="*/ 36 w 234"/>
              <a:gd name="T7" fmla="*/ 523 h 750"/>
              <a:gd name="T8" fmla="*/ 218 w 234"/>
              <a:gd name="T9" fmla="*/ 531 h 750"/>
              <a:gd name="T10" fmla="*/ 233 w 234"/>
              <a:gd name="T11" fmla="*/ 553 h 750"/>
              <a:gd name="T12" fmla="*/ 13 w 234"/>
              <a:gd name="T13" fmla="*/ 621 h 750"/>
              <a:gd name="T14" fmla="*/ 51 w 234"/>
              <a:gd name="T15" fmla="*/ 667 h 750"/>
              <a:gd name="T16" fmla="*/ 211 w 234"/>
              <a:gd name="T17" fmla="*/ 675 h 750"/>
              <a:gd name="T18" fmla="*/ 59 w 234"/>
              <a:gd name="T19" fmla="*/ 750 h 75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34"/>
              <a:gd name="T31" fmla="*/ 0 h 750"/>
              <a:gd name="T32" fmla="*/ 234 w 234"/>
              <a:gd name="T33" fmla="*/ 750 h 75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34" h="750">
                <a:moveTo>
                  <a:pt x="104" y="0"/>
                </a:moveTo>
                <a:cubicBezTo>
                  <a:pt x="133" y="84"/>
                  <a:pt x="93" y="230"/>
                  <a:pt x="51" y="311"/>
                </a:cubicBezTo>
                <a:cubicBezTo>
                  <a:pt x="45" y="337"/>
                  <a:pt x="37" y="361"/>
                  <a:pt x="29" y="387"/>
                </a:cubicBezTo>
                <a:cubicBezTo>
                  <a:pt x="31" y="432"/>
                  <a:pt x="0" y="495"/>
                  <a:pt x="36" y="523"/>
                </a:cubicBezTo>
                <a:cubicBezTo>
                  <a:pt x="84" y="560"/>
                  <a:pt x="158" y="522"/>
                  <a:pt x="218" y="531"/>
                </a:cubicBezTo>
                <a:cubicBezTo>
                  <a:pt x="227" y="532"/>
                  <a:pt x="228" y="546"/>
                  <a:pt x="233" y="553"/>
                </a:cubicBezTo>
                <a:cubicBezTo>
                  <a:pt x="162" y="601"/>
                  <a:pt x="86" y="553"/>
                  <a:pt x="13" y="621"/>
                </a:cubicBezTo>
                <a:cubicBezTo>
                  <a:pt x="4" y="650"/>
                  <a:pt x="19" y="664"/>
                  <a:pt x="51" y="667"/>
                </a:cubicBezTo>
                <a:cubicBezTo>
                  <a:pt x="104" y="672"/>
                  <a:pt x="158" y="672"/>
                  <a:pt x="211" y="675"/>
                </a:cubicBezTo>
                <a:cubicBezTo>
                  <a:pt x="234" y="748"/>
                  <a:pt x="107" y="750"/>
                  <a:pt x="59" y="750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1937" name="Freeform 29"/>
          <p:cNvSpPr>
            <a:spLocks/>
          </p:cNvSpPr>
          <p:nvPr/>
        </p:nvSpPr>
        <p:spPr bwMode="auto">
          <a:xfrm>
            <a:off x="5403850" y="4330700"/>
            <a:ext cx="84138" cy="96838"/>
          </a:xfrm>
          <a:custGeom>
            <a:avLst/>
            <a:gdLst>
              <a:gd name="T0" fmla="*/ 53 w 53"/>
              <a:gd name="T1" fmla="*/ 0 h 61"/>
              <a:gd name="T2" fmla="*/ 0 w 53"/>
              <a:gd name="T3" fmla="*/ 61 h 61"/>
              <a:gd name="T4" fmla="*/ 0 60000 65536"/>
              <a:gd name="T5" fmla="*/ 0 60000 65536"/>
              <a:gd name="T6" fmla="*/ 0 w 53"/>
              <a:gd name="T7" fmla="*/ 0 h 61"/>
              <a:gd name="T8" fmla="*/ 53 w 53"/>
              <a:gd name="T9" fmla="*/ 61 h 6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3" h="61">
                <a:moveTo>
                  <a:pt x="53" y="0"/>
                </a:moveTo>
                <a:cubicBezTo>
                  <a:pt x="19" y="12"/>
                  <a:pt x="0" y="22"/>
                  <a:pt x="0" y="61"/>
                </a:cubicBezTo>
              </a:path>
            </a:pathLst>
          </a:custGeom>
          <a:noFill/>
          <a:ln w="7620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1938" name="Freeform 30"/>
          <p:cNvSpPr>
            <a:spLocks/>
          </p:cNvSpPr>
          <p:nvPr/>
        </p:nvSpPr>
        <p:spPr bwMode="auto">
          <a:xfrm>
            <a:off x="5656263" y="4294188"/>
            <a:ext cx="120650" cy="52387"/>
          </a:xfrm>
          <a:custGeom>
            <a:avLst/>
            <a:gdLst>
              <a:gd name="T0" fmla="*/ 0 w 76"/>
              <a:gd name="T1" fmla="*/ 1 h 33"/>
              <a:gd name="T2" fmla="*/ 61 w 76"/>
              <a:gd name="T3" fmla="*/ 8 h 33"/>
              <a:gd name="T4" fmla="*/ 68 w 76"/>
              <a:gd name="T5" fmla="*/ 31 h 33"/>
              <a:gd name="T6" fmla="*/ 38 w 76"/>
              <a:gd name="T7" fmla="*/ 23 h 33"/>
              <a:gd name="T8" fmla="*/ 0 60000 65536"/>
              <a:gd name="T9" fmla="*/ 0 60000 65536"/>
              <a:gd name="T10" fmla="*/ 0 60000 65536"/>
              <a:gd name="T11" fmla="*/ 0 60000 65536"/>
              <a:gd name="T12" fmla="*/ 0 w 76"/>
              <a:gd name="T13" fmla="*/ 0 h 33"/>
              <a:gd name="T14" fmla="*/ 76 w 76"/>
              <a:gd name="T15" fmla="*/ 33 h 3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6" h="33">
                <a:moveTo>
                  <a:pt x="0" y="1"/>
                </a:moveTo>
                <a:cubicBezTo>
                  <a:pt x="20" y="3"/>
                  <a:pt x="42" y="0"/>
                  <a:pt x="61" y="8"/>
                </a:cubicBezTo>
                <a:cubicBezTo>
                  <a:pt x="68" y="11"/>
                  <a:pt x="76" y="33"/>
                  <a:pt x="68" y="31"/>
                </a:cubicBezTo>
                <a:cubicBezTo>
                  <a:pt x="58" y="28"/>
                  <a:pt x="38" y="23"/>
                  <a:pt x="38" y="23"/>
                </a:cubicBezTo>
              </a:path>
            </a:pathLst>
          </a:custGeom>
          <a:noFill/>
          <a:ln w="7620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1939" name="Freeform 31"/>
          <p:cNvSpPr>
            <a:spLocks/>
          </p:cNvSpPr>
          <p:nvPr/>
        </p:nvSpPr>
        <p:spPr bwMode="auto">
          <a:xfrm>
            <a:off x="5861050" y="4535488"/>
            <a:ext cx="12700" cy="96837"/>
          </a:xfrm>
          <a:custGeom>
            <a:avLst/>
            <a:gdLst>
              <a:gd name="T0" fmla="*/ 0 w 8"/>
              <a:gd name="T1" fmla="*/ 0 h 61"/>
              <a:gd name="T2" fmla="*/ 8 w 8"/>
              <a:gd name="T3" fmla="*/ 38 h 61"/>
              <a:gd name="T4" fmla="*/ 0 w 8"/>
              <a:gd name="T5" fmla="*/ 61 h 61"/>
              <a:gd name="T6" fmla="*/ 0 60000 65536"/>
              <a:gd name="T7" fmla="*/ 0 60000 65536"/>
              <a:gd name="T8" fmla="*/ 0 60000 65536"/>
              <a:gd name="T9" fmla="*/ 0 w 8"/>
              <a:gd name="T10" fmla="*/ 0 h 61"/>
              <a:gd name="T11" fmla="*/ 8 w 8"/>
              <a:gd name="T12" fmla="*/ 61 h 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" h="61">
                <a:moveTo>
                  <a:pt x="0" y="0"/>
                </a:moveTo>
                <a:cubicBezTo>
                  <a:pt x="3" y="13"/>
                  <a:pt x="8" y="25"/>
                  <a:pt x="8" y="38"/>
                </a:cubicBezTo>
                <a:cubicBezTo>
                  <a:pt x="8" y="46"/>
                  <a:pt x="0" y="61"/>
                  <a:pt x="0" y="61"/>
                </a:cubicBezTo>
              </a:path>
            </a:pathLst>
          </a:custGeom>
          <a:noFill/>
          <a:ln w="7620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1940" name="Freeform 33"/>
          <p:cNvSpPr>
            <a:spLocks/>
          </p:cNvSpPr>
          <p:nvPr/>
        </p:nvSpPr>
        <p:spPr bwMode="auto">
          <a:xfrm>
            <a:off x="5367338" y="4584700"/>
            <a:ext cx="28575" cy="95250"/>
          </a:xfrm>
          <a:custGeom>
            <a:avLst/>
            <a:gdLst>
              <a:gd name="T0" fmla="*/ 0 w 18"/>
              <a:gd name="T1" fmla="*/ 0 h 60"/>
              <a:gd name="T2" fmla="*/ 16 w 18"/>
              <a:gd name="T3" fmla="*/ 60 h 60"/>
              <a:gd name="T4" fmla="*/ 0 60000 65536"/>
              <a:gd name="T5" fmla="*/ 0 60000 65536"/>
              <a:gd name="T6" fmla="*/ 0 w 18"/>
              <a:gd name="T7" fmla="*/ 0 h 60"/>
              <a:gd name="T8" fmla="*/ 18 w 18"/>
              <a:gd name="T9" fmla="*/ 60 h 6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8" h="60">
                <a:moveTo>
                  <a:pt x="0" y="0"/>
                </a:moveTo>
                <a:cubicBezTo>
                  <a:pt x="18" y="50"/>
                  <a:pt x="16" y="29"/>
                  <a:pt x="16" y="60"/>
                </a:cubicBezTo>
              </a:path>
            </a:pathLst>
          </a:custGeom>
          <a:noFill/>
          <a:ln w="7620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1941" name="Freeform 36"/>
          <p:cNvSpPr>
            <a:spLocks/>
          </p:cNvSpPr>
          <p:nvPr/>
        </p:nvSpPr>
        <p:spPr bwMode="auto">
          <a:xfrm>
            <a:off x="5451475" y="4776788"/>
            <a:ext cx="73025" cy="47625"/>
          </a:xfrm>
          <a:custGeom>
            <a:avLst/>
            <a:gdLst>
              <a:gd name="T0" fmla="*/ 0 w 46"/>
              <a:gd name="T1" fmla="*/ 0 h 30"/>
              <a:gd name="T2" fmla="*/ 46 w 46"/>
              <a:gd name="T3" fmla="*/ 30 h 30"/>
              <a:gd name="T4" fmla="*/ 0 60000 65536"/>
              <a:gd name="T5" fmla="*/ 0 60000 65536"/>
              <a:gd name="T6" fmla="*/ 0 w 46"/>
              <a:gd name="T7" fmla="*/ 0 h 30"/>
              <a:gd name="T8" fmla="*/ 46 w 46"/>
              <a:gd name="T9" fmla="*/ 30 h 3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6" h="30">
                <a:moveTo>
                  <a:pt x="0" y="0"/>
                </a:moveTo>
                <a:cubicBezTo>
                  <a:pt x="13" y="12"/>
                  <a:pt x="27" y="30"/>
                  <a:pt x="46" y="30"/>
                </a:cubicBezTo>
              </a:path>
            </a:pathLst>
          </a:custGeom>
          <a:noFill/>
          <a:ln w="7620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1942" name="Freeform 37"/>
          <p:cNvSpPr>
            <a:spLocks/>
          </p:cNvSpPr>
          <p:nvPr/>
        </p:nvSpPr>
        <p:spPr bwMode="auto">
          <a:xfrm>
            <a:off x="5680075" y="4778375"/>
            <a:ext cx="76200" cy="69850"/>
          </a:xfrm>
          <a:custGeom>
            <a:avLst/>
            <a:gdLst>
              <a:gd name="T0" fmla="*/ 53 w 60"/>
              <a:gd name="T1" fmla="*/ 3 h 41"/>
              <a:gd name="T2" fmla="*/ 16 w 60"/>
              <a:gd name="T3" fmla="*/ 26 h 41"/>
              <a:gd name="T4" fmla="*/ 0 w 60"/>
              <a:gd name="T5" fmla="*/ 41 h 41"/>
              <a:gd name="T6" fmla="*/ 0 60000 65536"/>
              <a:gd name="T7" fmla="*/ 0 60000 65536"/>
              <a:gd name="T8" fmla="*/ 0 60000 65536"/>
              <a:gd name="T9" fmla="*/ 0 w 60"/>
              <a:gd name="T10" fmla="*/ 0 h 41"/>
              <a:gd name="T11" fmla="*/ 60 w 60"/>
              <a:gd name="T12" fmla="*/ 41 h 4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0" h="41">
                <a:moveTo>
                  <a:pt x="53" y="3"/>
                </a:moveTo>
                <a:cubicBezTo>
                  <a:pt x="18" y="40"/>
                  <a:pt x="60" y="0"/>
                  <a:pt x="16" y="26"/>
                </a:cubicBezTo>
                <a:cubicBezTo>
                  <a:pt x="10" y="30"/>
                  <a:pt x="0" y="41"/>
                  <a:pt x="0" y="41"/>
                </a:cubicBezTo>
              </a:path>
            </a:pathLst>
          </a:custGeom>
          <a:noFill/>
          <a:ln w="7620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1943" name="Text Box 38"/>
          <p:cNvSpPr txBox="1">
            <a:spLocks noChangeArrowheads="1"/>
          </p:cNvSpPr>
          <p:nvPr/>
        </p:nvSpPr>
        <p:spPr bwMode="auto">
          <a:xfrm>
            <a:off x="1258888" y="5876925"/>
            <a:ext cx="3241675" cy="4667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2400" b="1"/>
              <a:t>Virus enveloppés</a:t>
            </a:r>
          </a:p>
        </p:txBody>
      </p:sp>
      <p:sp>
        <p:nvSpPr>
          <p:cNvPr id="81944" name="Text Box 39"/>
          <p:cNvSpPr txBox="1">
            <a:spLocks noChangeArrowheads="1"/>
          </p:cNvSpPr>
          <p:nvPr/>
        </p:nvSpPr>
        <p:spPr bwMode="auto">
          <a:xfrm>
            <a:off x="1042988" y="1628775"/>
            <a:ext cx="1295400" cy="4667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2400" b="1">
                <a:solidFill>
                  <a:srgbClr val="0066FF"/>
                </a:solidFill>
              </a:rPr>
              <a:t>Fusion</a:t>
            </a:r>
          </a:p>
        </p:txBody>
      </p:sp>
      <p:sp>
        <p:nvSpPr>
          <p:cNvPr id="81945" name="Oval 40"/>
          <p:cNvSpPr>
            <a:spLocks noChangeArrowheads="1"/>
          </p:cNvSpPr>
          <p:nvPr/>
        </p:nvSpPr>
        <p:spPr bwMode="auto">
          <a:xfrm>
            <a:off x="1619250" y="3644900"/>
            <a:ext cx="144463" cy="72072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1946" name="Oval 42"/>
          <p:cNvSpPr>
            <a:spLocks noChangeArrowheads="1"/>
          </p:cNvSpPr>
          <p:nvPr/>
        </p:nvSpPr>
        <p:spPr bwMode="auto">
          <a:xfrm>
            <a:off x="1258888" y="2420938"/>
            <a:ext cx="914400" cy="9144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1947" name="AutoShape 43"/>
          <p:cNvSpPr>
            <a:spLocks noChangeArrowheads="1"/>
          </p:cNvSpPr>
          <p:nvPr/>
        </p:nvSpPr>
        <p:spPr bwMode="auto">
          <a:xfrm>
            <a:off x="1547813" y="2636838"/>
            <a:ext cx="431800" cy="431800"/>
          </a:xfrm>
          <a:prstGeom prst="octagon">
            <a:avLst>
              <a:gd name="adj" fmla="val 29287"/>
            </a:avLst>
          </a:prstGeom>
          <a:solidFill>
            <a:srgbClr val="B2B2B2"/>
          </a:solidFill>
          <a:ln w="9525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1948" name="Oval 44"/>
          <p:cNvSpPr>
            <a:spLocks noChangeArrowheads="1"/>
          </p:cNvSpPr>
          <p:nvPr/>
        </p:nvSpPr>
        <p:spPr bwMode="auto">
          <a:xfrm>
            <a:off x="2771775" y="3644900"/>
            <a:ext cx="144463" cy="72072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1949" name="Line 46"/>
          <p:cNvSpPr>
            <a:spLocks noChangeShapeType="1"/>
          </p:cNvSpPr>
          <p:nvPr/>
        </p:nvSpPr>
        <p:spPr bwMode="auto">
          <a:xfrm>
            <a:off x="468313" y="1557338"/>
            <a:ext cx="8207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1950" name="Line 47"/>
          <p:cNvSpPr>
            <a:spLocks noChangeShapeType="1"/>
          </p:cNvSpPr>
          <p:nvPr/>
        </p:nvSpPr>
        <p:spPr bwMode="auto">
          <a:xfrm>
            <a:off x="468313" y="1557338"/>
            <a:ext cx="0" cy="5040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1951" name="Line 48"/>
          <p:cNvSpPr>
            <a:spLocks noChangeShapeType="1"/>
          </p:cNvSpPr>
          <p:nvPr/>
        </p:nvSpPr>
        <p:spPr bwMode="auto">
          <a:xfrm>
            <a:off x="8675688" y="1557338"/>
            <a:ext cx="0" cy="5040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1952" name="Line 49"/>
          <p:cNvSpPr>
            <a:spLocks noChangeShapeType="1"/>
          </p:cNvSpPr>
          <p:nvPr/>
        </p:nvSpPr>
        <p:spPr bwMode="auto">
          <a:xfrm flipH="1">
            <a:off x="468313" y="6597650"/>
            <a:ext cx="8207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1953" name="Oval 50"/>
          <p:cNvSpPr>
            <a:spLocks noChangeArrowheads="1"/>
          </p:cNvSpPr>
          <p:nvPr/>
        </p:nvSpPr>
        <p:spPr bwMode="auto">
          <a:xfrm>
            <a:off x="5940425" y="4005263"/>
            <a:ext cx="2232025" cy="2232025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CC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1954" name="Oval 51"/>
          <p:cNvSpPr>
            <a:spLocks noChangeArrowheads="1"/>
          </p:cNvSpPr>
          <p:nvPr/>
        </p:nvSpPr>
        <p:spPr bwMode="auto">
          <a:xfrm>
            <a:off x="6084888" y="4221163"/>
            <a:ext cx="1943100" cy="1871662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CC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1955" name="Rectangle 53"/>
          <p:cNvSpPr>
            <a:spLocks noChangeArrowheads="1"/>
          </p:cNvSpPr>
          <p:nvPr/>
        </p:nvSpPr>
        <p:spPr bwMode="auto">
          <a:xfrm>
            <a:off x="6804025" y="3573463"/>
            <a:ext cx="720725" cy="79216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1956" name="Freeform 56"/>
          <p:cNvSpPr>
            <a:spLocks/>
          </p:cNvSpPr>
          <p:nvPr/>
        </p:nvSpPr>
        <p:spPr bwMode="auto">
          <a:xfrm>
            <a:off x="7453313" y="4006850"/>
            <a:ext cx="103187" cy="120650"/>
          </a:xfrm>
          <a:custGeom>
            <a:avLst/>
            <a:gdLst>
              <a:gd name="T0" fmla="*/ 49 w 65"/>
              <a:gd name="T1" fmla="*/ 0 h 76"/>
              <a:gd name="T2" fmla="*/ 4 w 65"/>
              <a:gd name="T3" fmla="*/ 15 h 76"/>
              <a:gd name="T4" fmla="*/ 65 w 65"/>
              <a:gd name="T5" fmla="*/ 76 h 76"/>
              <a:gd name="T6" fmla="*/ 0 60000 65536"/>
              <a:gd name="T7" fmla="*/ 0 60000 65536"/>
              <a:gd name="T8" fmla="*/ 0 60000 65536"/>
              <a:gd name="T9" fmla="*/ 0 w 65"/>
              <a:gd name="T10" fmla="*/ 0 h 76"/>
              <a:gd name="T11" fmla="*/ 65 w 65"/>
              <a:gd name="T12" fmla="*/ 76 h 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5" h="76">
                <a:moveTo>
                  <a:pt x="49" y="0"/>
                </a:moveTo>
                <a:cubicBezTo>
                  <a:pt x="34" y="5"/>
                  <a:pt x="0" y="0"/>
                  <a:pt x="4" y="15"/>
                </a:cubicBezTo>
                <a:cubicBezTo>
                  <a:pt x="12" y="44"/>
                  <a:pt x="32" y="76"/>
                  <a:pt x="65" y="76"/>
                </a:cubicBezTo>
              </a:path>
            </a:pathLst>
          </a:custGeom>
          <a:noFill/>
          <a:ln w="57150">
            <a:solidFill>
              <a:srgbClr val="00CC99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1957" name="Oval 59"/>
          <p:cNvSpPr>
            <a:spLocks noChangeArrowheads="1"/>
          </p:cNvSpPr>
          <p:nvPr/>
        </p:nvSpPr>
        <p:spPr bwMode="auto">
          <a:xfrm>
            <a:off x="6443663" y="4437063"/>
            <a:ext cx="1368425" cy="1347787"/>
          </a:xfrm>
          <a:prstGeom prst="ellipse">
            <a:avLst/>
          </a:prstGeom>
          <a:solidFill>
            <a:schemeClr val="bg1"/>
          </a:solidFill>
          <a:ln w="57150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1958" name="Oval 60"/>
          <p:cNvSpPr>
            <a:spLocks noChangeArrowheads="1"/>
          </p:cNvSpPr>
          <p:nvPr/>
        </p:nvSpPr>
        <p:spPr bwMode="auto">
          <a:xfrm>
            <a:off x="6659563" y="4652963"/>
            <a:ext cx="914400" cy="9144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1959" name="AutoShape 61"/>
          <p:cNvSpPr>
            <a:spLocks noChangeArrowheads="1"/>
          </p:cNvSpPr>
          <p:nvPr/>
        </p:nvSpPr>
        <p:spPr bwMode="auto">
          <a:xfrm>
            <a:off x="6877050" y="4868863"/>
            <a:ext cx="431800" cy="431800"/>
          </a:xfrm>
          <a:prstGeom prst="octagon">
            <a:avLst>
              <a:gd name="adj" fmla="val 29287"/>
            </a:avLst>
          </a:prstGeom>
          <a:solidFill>
            <a:srgbClr val="B2B2B2"/>
          </a:solidFill>
          <a:ln w="9525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1960" name="Freeform 62"/>
          <p:cNvSpPr>
            <a:spLocks/>
          </p:cNvSpPr>
          <p:nvPr/>
        </p:nvSpPr>
        <p:spPr bwMode="auto">
          <a:xfrm>
            <a:off x="7248525" y="3822700"/>
            <a:ext cx="295275" cy="520700"/>
          </a:xfrm>
          <a:custGeom>
            <a:avLst/>
            <a:gdLst>
              <a:gd name="T0" fmla="*/ 186 w 186"/>
              <a:gd name="T1" fmla="*/ 17 h 328"/>
              <a:gd name="T2" fmla="*/ 19 w 186"/>
              <a:gd name="T3" fmla="*/ 32 h 328"/>
              <a:gd name="T4" fmla="*/ 87 w 186"/>
              <a:gd name="T5" fmla="*/ 207 h 328"/>
              <a:gd name="T6" fmla="*/ 118 w 186"/>
              <a:gd name="T7" fmla="*/ 245 h 328"/>
              <a:gd name="T8" fmla="*/ 141 w 186"/>
              <a:gd name="T9" fmla="*/ 283 h 328"/>
              <a:gd name="T10" fmla="*/ 178 w 186"/>
              <a:gd name="T11" fmla="*/ 328 h 3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86"/>
              <a:gd name="T19" fmla="*/ 0 h 328"/>
              <a:gd name="T20" fmla="*/ 186 w 186"/>
              <a:gd name="T21" fmla="*/ 328 h 3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86" h="328">
                <a:moveTo>
                  <a:pt x="186" y="17"/>
                </a:moveTo>
                <a:cubicBezTo>
                  <a:pt x="129" y="0"/>
                  <a:pt x="74" y="15"/>
                  <a:pt x="19" y="32"/>
                </a:cubicBezTo>
                <a:cubicBezTo>
                  <a:pt x="0" y="93"/>
                  <a:pt x="35" y="172"/>
                  <a:pt x="87" y="207"/>
                </a:cubicBezTo>
                <a:cubicBezTo>
                  <a:pt x="97" y="220"/>
                  <a:pt x="110" y="231"/>
                  <a:pt x="118" y="245"/>
                </a:cubicBezTo>
                <a:cubicBezTo>
                  <a:pt x="145" y="292"/>
                  <a:pt x="102" y="244"/>
                  <a:pt x="141" y="283"/>
                </a:cubicBezTo>
                <a:cubicBezTo>
                  <a:pt x="151" y="315"/>
                  <a:pt x="158" y="305"/>
                  <a:pt x="178" y="328"/>
                </a:cubicBezTo>
              </a:path>
            </a:pathLst>
          </a:custGeom>
          <a:noFill/>
          <a:ln w="57150">
            <a:solidFill>
              <a:srgbClr val="00CC99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1961" name="Freeform 63"/>
          <p:cNvSpPr>
            <a:spLocks/>
          </p:cNvSpPr>
          <p:nvPr/>
        </p:nvSpPr>
        <p:spPr bwMode="auto">
          <a:xfrm>
            <a:off x="6773863" y="3849688"/>
            <a:ext cx="217487" cy="422275"/>
          </a:xfrm>
          <a:custGeom>
            <a:avLst/>
            <a:gdLst>
              <a:gd name="T0" fmla="*/ 8 w 137"/>
              <a:gd name="T1" fmla="*/ 0 h 266"/>
              <a:gd name="T2" fmla="*/ 114 w 137"/>
              <a:gd name="T3" fmla="*/ 31 h 266"/>
              <a:gd name="T4" fmla="*/ 76 w 137"/>
              <a:gd name="T5" fmla="*/ 212 h 266"/>
              <a:gd name="T6" fmla="*/ 23 w 137"/>
              <a:gd name="T7" fmla="*/ 258 h 266"/>
              <a:gd name="T8" fmla="*/ 0 w 137"/>
              <a:gd name="T9" fmla="*/ 266 h 2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7"/>
              <a:gd name="T16" fmla="*/ 0 h 266"/>
              <a:gd name="T17" fmla="*/ 137 w 137"/>
              <a:gd name="T18" fmla="*/ 266 h 2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7" h="266">
                <a:moveTo>
                  <a:pt x="8" y="0"/>
                </a:moveTo>
                <a:cubicBezTo>
                  <a:pt x="55" y="6"/>
                  <a:pt x="83" y="0"/>
                  <a:pt x="114" y="31"/>
                </a:cubicBezTo>
                <a:cubicBezTo>
                  <a:pt x="137" y="103"/>
                  <a:pt x="114" y="155"/>
                  <a:pt x="76" y="212"/>
                </a:cubicBezTo>
                <a:cubicBezTo>
                  <a:pt x="65" y="229"/>
                  <a:pt x="41" y="249"/>
                  <a:pt x="23" y="258"/>
                </a:cubicBezTo>
                <a:cubicBezTo>
                  <a:pt x="16" y="262"/>
                  <a:pt x="0" y="266"/>
                  <a:pt x="0" y="266"/>
                </a:cubicBezTo>
              </a:path>
            </a:pathLst>
          </a:custGeom>
          <a:noFill/>
          <a:ln w="57150">
            <a:solidFill>
              <a:srgbClr val="00CC99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1962" name="Text Box 64"/>
          <p:cNvSpPr txBox="1">
            <a:spLocks noChangeArrowheads="1"/>
          </p:cNvSpPr>
          <p:nvPr/>
        </p:nvSpPr>
        <p:spPr bwMode="auto">
          <a:xfrm>
            <a:off x="6084888" y="2924175"/>
            <a:ext cx="2160587" cy="4667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2400" b="1">
                <a:solidFill>
                  <a:srgbClr val="0066FF"/>
                </a:solidFill>
              </a:rPr>
              <a:t>Endocytose</a:t>
            </a:r>
          </a:p>
        </p:txBody>
      </p:sp>
      <p:sp>
        <p:nvSpPr>
          <p:cNvPr id="81963" name="Line 65"/>
          <p:cNvSpPr>
            <a:spLocks noChangeShapeType="1"/>
          </p:cNvSpPr>
          <p:nvPr/>
        </p:nvSpPr>
        <p:spPr bwMode="auto">
          <a:xfrm flipH="1">
            <a:off x="5867400" y="6165850"/>
            <a:ext cx="504825" cy="0"/>
          </a:xfrm>
          <a:prstGeom prst="line">
            <a:avLst/>
          </a:prstGeom>
          <a:noFill/>
          <a:ln w="57150">
            <a:solidFill>
              <a:srgbClr val="00CC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81964" name="AutoShape 66"/>
          <p:cNvSpPr>
            <a:spLocks noChangeArrowheads="1"/>
          </p:cNvSpPr>
          <p:nvPr/>
        </p:nvSpPr>
        <p:spPr bwMode="auto">
          <a:xfrm>
            <a:off x="5292725" y="6021388"/>
            <a:ext cx="431800" cy="431800"/>
          </a:xfrm>
          <a:prstGeom prst="octagon">
            <a:avLst>
              <a:gd name="adj" fmla="val 29287"/>
            </a:avLst>
          </a:prstGeom>
          <a:solidFill>
            <a:srgbClr val="B2B2B2"/>
          </a:solidFill>
          <a:ln w="9525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65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1763713" y="188913"/>
            <a:ext cx="5545137" cy="1143000"/>
          </a:xfrm>
          <a:solidFill>
            <a:srgbClr val="FFFF99"/>
          </a:solidFill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r>
              <a:rPr lang="fr-FR" b="1" smtClean="0">
                <a:solidFill>
                  <a:schemeClr val="tx1"/>
                </a:solidFill>
              </a:rPr>
              <a:t>PENETRATION</a:t>
            </a:r>
            <a:r>
              <a:rPr lang="fr-FR" b="1" smtClean="0">
                <a:solidFill>
                  <a:srgbClr val="0000FF"/>
                </a:solidFill>
              </a:rPr>
              <a:t> </a:t>
            </a:r>
          </a:p>
        </p:txBody>
      </p:sp>
      <p:pic>
        <p:nvPicPr>
          <p:cNvPr id="82947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79388" y="1557338"/>
            <a:ext cx="8785225" cy="50450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82948" name="Line 5"/>
          <p:cNvSpPr>
            <a:spLocks noChangeShapeType="1"/>
          </p:cNvSpPr>
          <p:nvPr/>
        </p:nvSpPr>
        <p:spPr bwMode="auto">
          <a:xfrm>
            <a:off x="3635375" y="1557338"/>
            <a:ext cx="0" cy="5040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2949" name="Text Box 6"/>
          <p:cNvSpPr txBox="1">
            <a:spLocks noChangeArrowheads="1"/>
          </p:cNvSpPr>
          <p:nvPr/>
        </p:nvSpPr>
        <p:spPr bwMode="auto">
          <a:xfrm>
            <a:off x="468313" y="1700213"/>
            <a:ext cx="2519362" cy="528637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sz="2800" b="1"/>
              <a:t>Virus nu</a:t>
            </a:r>
          </a:p>
        </p:txBody>
      </p:sp>
      <p:sp>
        <p:nvSpPr>
          <p:cNvPr id="82950" name="Text Box 7"/>
          <p:cNvSpPr txBox="1">
            <a:spLocks noChangeArrowheads="1"/>
          </p:cNvSpPr>
          <p:nvPr/>
        </p:nvSpPr>
        <p:spPr bwMode="auto">
          <a:xfrm>
            <a:off x="5940425" y="1700213"/>
            <a:ext cx="2952750" cy="528637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800" b="1"/>
              <a:t>Virus enveloppé</a:t>
            </a:r>
          </a:p>
        </p:txBody>
      </p:sp>
      <p:sp>
        <p:nvSpPr>
          <p:cNvPr id="82951" name="Line 8"/>
          <p:cNvSpPr>
            <a:spLocks noChangeShapeType="1"/>
          </p:cNvSpPr>
          <p:nvPr/>
        </p:nvSpPr>
        <p:spPr bwMode="auto">
          <a:xfrm>
            <a:off x="468313" y="3284538"/>
            <a:ext cx="10795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2952" name="Line 9"/>
          <p:cNvSpPr>
            <a:spLocks noChangeShapeType="1"/>
          </p:cNvSpPr>
          <p:nvPr/>
        </p:nvSpPr>
        <p:spPr bwMode="auto">
          <a:xfrm>
            <a:off x="2124075" y="3213100"/>
            <a:ext cx="935038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2953" name="Line 10"/>
          <p:cNvSpPr>
            <a:spLocks noChangeShapeType="1"/>
          </p:cNvSpPr>
          <p:nvPr/>
        </p:nvSpPr>
        <p:spPr bwMode="auto">
          <a:xfrm>
            <a:off x="3779838" y="4365625"/>
            <a:ext cx="936625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2954" name="Line 11"/>
          <p:cNvSpPr>
            <a:spLocks noChangeShapeType="1"/>
          </p:cNvSpPr>
          <p:nvPr/>
        </p:nvSpPr>
        <p:spPr bwMode="auto">
          <a:xfrm>
            <a:off x="7451725" y="3068638"/>
            <a:ext cx="1008063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98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4"/>
          <p:cNvSpPr>
            <a:spLocks noChangeArrowheads="1"/>
          </p:cNvSpPr>
          <p:nvPr/>
        </p:nvSpPr>
        <p:spPr bwMode="auto">
          <a:xfrm>
            <a:off x="250825" y="404813"/>
            <a:ext cx="8569325" cy="6119812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3971" name="Text Box 5"/>
          <p:cNvSpPr txBox="1">
            <a:spLocks noChangeArrowheads="1"/>
          </p:cNvSpPr>
          <p:nvPr/>
        </p:nvSpPr>
        <p:spPr bwMode="auto">
          <a:xfrm>
            <a:off x="1042988" y="692150"/>
            <a:ext cx="7561262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4000" b="1" dirty="0">
                <a:solidFill>
                  <a:srgbClr val="0000FF"/>
                </a:solidFill>
              </a:rPr>
              <a:t>C)-</a:t>
            </a:r>
            <a:r>
              <a:rPr lang="fr-FR" sz="4000" b="1" u="sng" dirty="0">
                <a:solidFill>
                  <a:srgbClr val="0000FF"/>
                </a:solidFill>
              </a:rPr>
              <a:t>LA  DECAPSIDATION</a:t>
            </a:r>
            <a:r>
              <a:rPr lang="fr-FR" sz="4000" b="1" dirty="0">
                <a:solidFill>
                  <a:srgbClr val="0000FF"/>
                </a:solidFill>
              </a:rPr>
              <a:t> : </a:t>
            </a:r>
            <a:r>
              <a:rPr lang="fr-FR" sz="4000" dirty="0">
                <a:solidFill>
                  <a:srgbClr val="FF0066"/>
                </a:solidFill>
              </a:rPr>
              <a:t>généralement </a:t>
            </a:r>
            <a:r>
              <a:rPr lang="fr-FR" sz="4000" dirty="0" smtClean="0">
                <a:solidFill>
                  <a:srgbClr val="FF0066"/>
                </a:solidFill>
              </a:rPr>
              <a:t>cytoplasmique</a:t>
            </a:r>
            <a:endParaRPr lang="fr-FR" sz="4000" dirty="0"/>
          </a:p>
          <a:p>
            <a:r>
              <a:rPr lang="fr-FR" sz="4000" dirty="0"/>
              <a:t>Désagrégation de la capside virale (totale ou partielle) grâce à des enzymes cellulaires ou virales                  Libération de l’acide nucléique dans </a:t>
            </a:r>
            <a:r>
              <a:rPr lang="fr-FR" sz="4000" dirty="0" smtClean="0"/>
              <a:t>le cytoplasme</a:t>
            </a:r>
            <a:r>
              <a:rPr lang="fr-FR" sz="4000" dirty="0"/>
              <a:t>.</a:t>
            </a:r>
          </a:p>
        </p:txBody>
      </p:sp>
      <p:sp>
        <p:nvSpPr>
          <p:cNvPr id="83972" name="AutoShape 6"/>
          <p:cNvSpPr>
            <a:spLocks noChangeArrowheads="1"/>
          </p:cNvSpPr>
          <p:nvPr/>
        </p:nvSpPr>
        <p:spPr bwMode="auto">
          <a:xfrm>
            <a:off x="2916238" y="4652963"/>
            <a:ext cx="1944687" cy="288925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144463 h 21600"/>
              <a:gd name="T4" fmla="*/ 1458515 w 21600"/>
              <a:gd name="T5" fmla="*/ 288925 h 21600"/>
              <a:gd name="T6" fmla="*/ 1944687 w 21600"/>
              <a:gd name="T7" fmla="*/ 144463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16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4"/>
          <p:cNvSpPr>
            <a:spLocks noChangeArrowheads="1"/>
          </p:cNvSpPr>
          <p:nvPr/>
        </p:nvSpPr>
        <p:spPr bwMode="auto">
          <a:xfrm>
            <a:off x="468313" y="333375"/>
            <a:ext cx="8207375" cy="59753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4995" name="Text Box 5"/>
          <p:cNvSpPr txBox="1">
            <a:spLocks noChangeArrowheads="1"/>
          </p:cNvSpPr>
          <p:nvPr/>
        </p:nvSpPr>
        <p:spPr bwMode="auto">
          <a:xfrm>
            <a:off x="611188" y="549275"/>
            <a:ext cx="7921625" cy="558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3600" b="1" dirty="0">
                <a:solidFill>
                  <a:srgbClr val="0000FF"/>
                </a:solidFill>
              </a:rPr>
              <a:t>D)- </a:t>
            </a:r>
            <a:r>
              <a:rPr lang="fr-FR" sz="3600" b="1" u="sng" dirty="0">
                <a:solidFill>
                  <a:srgbClr val="0000FF"/>
                </a:solidFill>
              </a:rPr>
              <a:t>LA REPLICATION</a:t>
            </a:r>
            <a:r>
              <a:rPr lang="fr-FR" sz="3600" b="1" dirty="0">
                <a:solidFill>
                  <a:srgbClr val="0000FF"/>
                </a:solidFill>
              </a:rPr>
              <a:t> :</a:t>
            </a:r>
            <a:endParaRPr lang="fr-FR" sz="3600" dirty="0">
              <a:solidFill>
                <a:srgbClr val="0000FF"/>
              </a:solidFill>
            </a:endParaRPr>
          </a:p>
          <a:p>
            <a:r>
              <a:rPr lang="fr-FR" sz="3600" dirty="0"/>
              <a:t>Le virus doit:</a:t>
            </a:r>
          </a:p>
          <a:p>
            <a:pPr>
              <a:buClr>
                <a:srgbClr val="0033CC"/>
              </a:buClr>
              <a:buFont typeface="Wingdings" pitchFamily="2" charset="2"/>
              <a:buChar char="§"/>
            </a:pPr>
            <a:r>
              <a:rPr lang="fr-FR" sz="3600" dirty="0">
                <a:solidFill>
                  <a:srgbClr val="FF0066"/>
                </a:solidFill>
              </a:rPr>
              <a:t> Transcrire </a:t>
            </a:r>
            <a:r>
              <a:rPr lang="fr-FR" sz="3600" dirty="0">
                <a:solidFill>
                  <a:srgbClr val="0033CC"/>
                </a:solidFill>
              </a:rPr>
              <a:t>(fabriquer un ARNm à</a:t>
            </a:r>
          </a:p>
          <a:p>
            <a:pPr>
              <a:buClr>
                <a:srgbClr val="0033CC"/>
              </a:buClr>
              <a:buFont typeface="Wingdings" pitchFamily="2" charset="2"/>
              <a:buNone/>
            </a:pPr>
            <a:r>
              <a:rPr lang="fr-FR" sz="3600" dirty="0">
                <a:solidFill>
                  <a:srgbClr val="0033CC"/>
                </a:solidFill>
              </a:rPr>
              <a:t>                    partir de son génome).</a:t>
            </a:r>
          </a:p>
          <a:p>
            <a:pPr>
              <a:buClr>
                <a:srgbClr val="0033CC"/>
              </a:buClr>
              <a:buFont typeface="Wingdings" pitchFamily="2" charset="2"/>
              <a:buChar char="§"/>
            </a:pPr>
            <a:r>
              <a:rPr lang="fr-FR" sz="3600" dirty="0">
                <a:solidFill>
                  <a:srgbClr val="FF0066"/>
                </a:solidFill>
              </a:rPr>
              <a:t>Traduire son information génétique</a:t>
            </a:r>
            <a:endParaRPr lang="fr-FR" sz="3600" dirty="0"/>
          </a:p>
          <a:p>
            <a:pPr>
              <a:buClr>
                <a:srgbClr val="0033CC"/>
              </a:buClr>
              <a:buFont typeface="Wingdings" pitchFamily="2" charset="2"/>
              <a:buNone/>
            </a:pPr>
            <a:r>
              <a:rPr lang="fr-FR" sz="3600" dirty="0">
                <a:solidFill>
                  <a:srgbClr val="0033CC"/>
                </a:solidFill>
              </a:rPr>
              <a:t>       (fabriquer des protéines virales</a:t>
            </a:r>
          </a:p>
          <a:p>
            <a:pPr>
              <a:buClr>
                <a:srgbClr val="0033CC"/>
              </a:buClr>
              <a:buFont typeface="Wingdings" pitchFamily="2" charset="2"/>
              <a:buNone/>
            </a:pPr>
            <a:r>
              <a:rPr lang="fr-FR" sz="3600" dirty="0">
                <a:solidFill>
                  <a:srgbClr val="0033CC"/>
                </a:solidFill>
              </a:rPr>
              <a:t>          par la machinerie cellulaire)</a:t>
            </a:r>
          </a:p>
          <a:p>
            <a:pPr>
              <a:buClr>
                <a:srgbClr val="0033CC"/>
              </a:buClr>
              <a:buFont typeface="Wingdings" pitchFamily="2" charset="2"/>
              <a:buChar char="§"/>
            </a:pPr>
            <a:r>
              <a:rPr lang="fr-FR" sz="3600" dirty="0">
                <a:solidFill>
                  <a:srgbClr val="FF0066"/>
                </a:solidFill>
              </a:rPr>
              <a:t> Répliquer </a:t>
            </a:r>
            <a:r>
              <a:rPr lang="fr-FR" sz="3600" dirty="0">
                <a:solidFill>
                  <a:srgbClr val="0033CC"/>
                </a:solidFill>
              </a:rPr>
              <a:t>(fabriquer des copies  </a:t>
            </a:r>
          </a:p>
          <a:p>
            <a:pPr>
              <a:buClr>
                <a:srgbClr val="0033CC"/>
              </a:buClr>
              <a:buFont typeface="Wingdings" pitchFamily="2" charset="2"/>
              <a:buNone/>
            </a:pPr>
            <a:r>
              <a:rPr lang="fr-FR" sz="3600" dirty="0">
                <a:solidFill>
                  <a:srgbClr val="0033CC"/>
                </a:solidFill>
              </a:rPr>
              <a:t>     de son génome par la cellule)</a:t>
            </a:r>
            <a:endParaRPr lang="fr-FR" sz="3600" dirty="0"/>
          </a:p>
          <a:p>
            <a:pPr>
              <a:buClr>
                <a:srgbClr val="0033CC"/>
              </a:buClr>
              <a:buFont typeface="Wingdings" pitchFamily="2" charset="2"/>
              <a:buNone/>
            </a:pPr>
            <a:endParaRPr lang="fr-FR" sz="3600" dirty="0"/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60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idx="1"/>
          </p:nvPr>
        </p:nvSpPr>
        <p:spPr>
          <a:xfrm>
            <a:off x="468313" y="908050"/>
            <a:ext cx="8229600" cy="5246688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fr-FR" sz="4000" b="1" smtClean="0">
                <a:solidFill>
                  <a:srgbClr val="FF0066"/>
                </a:solidFill>
              </a:rPr>
              <a:t>Transcription</a:t>
            </a:r>
          </a:p>
        </p:txBody>
      </p:sp>
      <p:sp>
        <p:nvSpPr>
          <p:cNvPr id="86019" name="Line 3"/>
          <p:cNvSpPr>
            <a:spLocks noChangeShapeType="1"/>
          </p:cNvSpPr>
          <p:nvPr/>
        </p:nvSpPr>
        <p:spPr bwMode="auto">
          <a:xfrm>
            <a:off x="1692275" y="3860800"/>
            <a:ext cx="5329238" cy="0"/>
          </a:xfrm>
          <a:prstGeom prst="line">
            <a:avLst/>
          </a:prstGeom>
          <a:noFill/>
          <a:ln w="57150">
            <a:solidFill>
              <a:srgbClr val="00CC99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6020" name="Line 4"/>
          <p:cNvSpPr>
            <a:spLocks noChangeShapeType="1"/>
          </p:cNvSpPr>
          <p:nvPr/>
        </p:nvSpPr>
        <p:spPr bwMode="auto">
          <a:xfrm flipH="1">
            <a:off x="2268538" y="4365625"/>
            <a:ext cx="4751387" cy="0"/>
          </a:xfrm>
          <a:prstGeom prst="line">
            <a:avLst/>
          </a:prstGeom>
          <a:noFill/>
          <a:ln w="57150">
            <a:solidFill>
              <a:srgbClr val="00CC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86021" name="Oval 5"/>
          <p:cNvSpPr>
            <a:spLocks noChangeArrowheads="1"/>
          </p:cNvSpPr>
          <p:nvPr/>
        </p:nvSpPr>
        <p:spPr bwMode="auto">
          <a:xfrm>
            <a:off x="2555875" y="4221163"/>
            <a:ext cx="287338" cy="215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6022" name="Line 6"/>
          <p:cNvSpPr>
            <a:spLocks noChangeShapeType="1"/>
          </p:cNvSpPr>
          <p:nvPr/>
        </p:nvSpPr>
        <p:spPr bwMode="auto">
          <a:xfrm flipV="1">
            <a:off x="2700338" y="4508500"/>
            <a:ext cx="0" cy="358775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86023" name="Text Box 7"/>
          <p:cNvSpPr txBox="1">
            <a:spLocks noChangeArrowheads="1"/>
          </p:cNvSpPr>
          <p:nvPr/>
        </p:nvSpPr>
        <p:spPr bwMode="auto">
          <a:xfrm>
            <a:off x="1908175" y="4941888"/>
            <a:ext cx="2374900" cy="4667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400" b="1"/>
              <a:t>Transcriptase</a:t>
            </a:r>
          </a:p>
        </p:txBody>
      </p:sp>
      <p:sp>
        <p:nvSpPr>
          <p:cNvPr id="86024" name="Text Box 8"/>
          <p:cNvSpPr txBox="1">
            <a:spLocks noChangeArrowheads="1"/>
          </p:cNvSpPr>
          <p:nvPr/>
        </p:nvSpPr>
        <p:spPr bwMode="auto">
          <a:xfrm>
            <a:off x="395288" y="2781300"/>
            <a:ext cx="3132137" cy="4667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sz="2400" b="1">
                <a:solidFill>
                  <a:schemeClr val="accent2"/>
                </a:solidFill>
              </a:rPr>
              <a:t>ADN génomique</a:t>
            </a:r>
          </a:p>
        </p:txBody>
      </p:sp>
      <p:sp>
        <p:nvSpPr>
          <p:cNvPr id="86025" name="Text Box 9"/>
          <p:cNvSpPr txBox="1">
            <a:spLocks noChangeArrowheads="1"/>
          </p:cNvSpPr>
          <p:nvPr/>
        </p:nvSpPr>
        <p:spPr bwMode="auto">
          <a:xfrm>
            <a:off x="6156325" y="4581525"/>
            <a:ext cx="1223963" cy="4667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400" b="1">
                <a:solidFill>
                  <a:schemeClr val="accent2"/>
                </a:solidFill>
              </a:rPr>
              <a:t>ARNm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549275"/>
            <a:ext cx="8229600" cy="5576888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fr-FR" sz="4000" b="1" smtClean="0">
                <a:solidFill>
                  <a:srgbClr val="FF0066"/>
                </a:solidFill>
              </a:rPr>
              <a:t>Traduction</a:t>
            </a:r>
          </a:p>
        </p:txBody>
      </p:sp>
      <p:sp>
        <p:nvSpPr>
          <p:cNvPr id="87043" name="Freeform 3"/>
          <p:cNvSpPr>
            <a:spLocks/>
          </p:cNvSpPr>
          <p:nvPr/>
        </p:nvSpPr>
        <p:spPr bwMode="auto">
          <a:xfrm>
            <a:off x="2693988" y="2909888"/>
            <a:ext cx="5335587" cy="468312"/>
          </a:xfrm>
          <a:custGeom>
            <a:avLst/>
            <a:gdLst>
              <a:gd name="T0" fmla="*/ 61 w 3361"/>
              <a:gd name="T1" fmla="*/ 30 h 295"/>
              <a:gd name="T2" fmla="*/ 189 w 3361"/>
              <a:gd name="T3" fmla="*/ 174 h 295"/>
              <a:gd name="T4" fmla="*/ 303 w 3361"/>
              <a:gd name="T5" fmla="*/ 227 h 295"/>
              <a:gd name="T6" fmla="*/ 402 w 3361"/>
              <a:gd name="T7" fmla="*/ 76 h 295"/>
              <a:gd name="T8" fmla="*/ 462 w 3361"/>
              <a:gd name="T9" fmla="*/ 0 h 295"/>
              <a:gd name="T10" fmla="*/ 523 w 3361"/>
              <a:gd name="T11" fmla="*/ 53 h 295"/>
              <a:gd name="T12" fmla="*/ 637 w 3361"/>
              <a:gd name="T13" fmla="*/ 257 h 295"/>
              <a:gd name="T14" fmla="*/ 735 w 3361"/>
              <a:gd name="T15" fmla="*/ 227 h 295"/>
              <a:gd name="T16" fmla="*/ 834 w 3361"/>
              <a:gd name="T17" fmla="*/ 106 h 295"/>
              <a:gd name="T18" fmla="*/ 962 w 3361"/>
              <a:gd name="T19" fmla="*/ 68 h 295"/>
              <a:gd name="T20" fmla="*/ 1053 w 3361"/>
              <a:gd name="T21" fmla="*/ 250 h 295"/>
              <a:gd name="T22" fmla="*/ 1175 w 3361"/>
              <a:gd name="T23" fmla="*/ 129 h 295"/>
              <a:gd name="T24" fmla="*/ 1326 w 3361"/>
              <a:gd name="T25" fmla="*/ 45 h 295"/>
              <a:gd name="T26" fmla="*/ 1387 w 3361"/>
              <a:gd name="T27" fmla="*/ 151 h 295"/>
              <a:gd name="T28" fmla="*/ 1523 w 3361"/>
              <a:gd name="T29" fmla="*/ 257 h 295"/>
              <a:gd name="T30" fmla="*/ 1637 w 3361"/>
              <a:gd name="T31" fmla="*/ 129 h 295"/>
              <a:gd name="T32" fmla="*/ 1728 w 3361"/>
              <a:gd name="T33" fmla="*/ 53 h 295"/>
              <a:gd name="T34" fmla="*/ 1811 w 3361"/>
              <a:gd name="T35" fmla="*/ 136 h 295"/>
              <a:gd name="T36" fmla="*/ 1925 w 3361"/>
              <a:gd name="T37" fmla="*/ 235 h 295"/>
              <a:gd name="T38" fmla="*/ 1963 w 3361"/>
              <a:gd name="T39" fmla="*/ 197 h 295"/>
              <a:gd name="T40" fmla="*/ 2024 w 3361"/>
              <a:gd name="T41" fmla="*/ 76 h 295"/>
              <a:gd name="T42" fmla="*/ 2077 w 3361"/>
              <a:gd name="T43" fmla="*/ 38 h 295"/>
              <a:gd name="T44" fmla="*/ 2168 w 3361"/>
              <a:gd name="T45" fmla="*/ 76 h 295"/>
              <a:gd name="T46" fmla="*/ 2236 w 3361"/>
              <a:gd name="T47" fmla="*/ 235 h 295"/>
              <a:gd name="T48" fmla="*/ 2365 w 3361"/>
              <a:gd name="T49" fmla="*/ 235 h 295"/>
              <a:gd name="T50" fmla="*/ 2402 w 3361"/>
              <a:gd name="T51" fmla="*/ 166 h 295"/>
              <a:gd name="T52" fmla="*/ 2562 w 3361"/>
              <a:gd name="T53" fmla="*/ 53 h 295"/>
              <a:gd name="T54" fmla="*/ 2698 w 3361"/>
              <a:gd name="T55" fmla="*/ 273 h 295"/>
              <a:gd name="T56" fmla="*/ 2812 w 3361"/>
              <a:gd name="T57" fmla="*/ 15 h 295"/>
              <a:gd name="T58" fmla="*/ 2963 w 3361"/>
              <a:gd name="T59" fmla="*/ 227 h 295"/>
              <a:gd name="T60" fmla="*/ 3024 w 3361"/>
              <a:gd name="T61" fmla="*/ 280 h 295"/>
              <a:gd name="T62" fmla="*/ 3092 w 3361"/>
              <a:gd name="T63" fmla="*/ 250 h 295"/>
              <a:gd name="T64" fmla="*/ 3160 w 3361"/>
              <a:gd name="T65" fmla="*/ 91 h 295"/>
              <a:gd name="T66" fmla="*/ 3213 w 3361"/>
              <a:gd name="T67" fmla="*/ 45 h 295"/>
              <a:gd name="T68" fmla="*/ 3304 w 3361"/>
              <a:gd name="T69" fmla="*/ 91 h 295"/>
              <a:gd name="T70" fmla="*/ 3350 w 3361"/>
              <a:gd name="T71" fmla="*/ 121 h 295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3361"/>
              <a:gd name="T109" fmla="*/ 0 h 295"/>
              <a:gd name="T110" fmla="*/ 3361 w 3361"/>
              <a:gd name="T111" fmla="*/ 295 h 295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T108" t="T109" r="T110" b="T111"/>
            <a:pathLst>
              <a:path w="3361" h="295">
                <a:moveTo>
                  <a:pt x="0" y="136"/>
                </a:moveTo>
                <a:cubicBezTo>
                  <a:pt x="38" y="98"/>
                  <a:pt x="27" y="62"/>
                  <a:pt x="61" y="30"/>
                </a:cubicBezTo>
                <a:cubicBezTo>
                  <a:pt x="101" y="36"/>
                  <a:pt x="124" y="34"/>
                  <a:pt x="152" y="60"/>
                </a:cubicBezTo>
                <a:cubicBezTo>
                  <a:pt x="162" y="94"/>
                  <a:pt x="170" y="143"/>
                  <a:pt x="189" y="174"/>
                </a:cubicBezTo>
                <a:cubicBezTo>
                  <a:pt x="197" y="188"/>
                  <a:pt x="211" y="198"/>
                  <a:pt x="220" y="212"/>
                </a:cubicBezTo>
                <a:cubicBezTo>
                  <a:pt x="233" y="255"/>
                  <a:pt x="268" y="246"/>
                  <a:pt x="303" y="227"/>
                </a:cubicBezTo>
                <a:cubicBezTo>
                  <a:pt x="319" y="218"/>
                  <a:pt x="349" y="197"/>
                  <a:pt x="349" y="197"/>
                </a:cubicBezTo>
                <a:cubicBezTo>
                  <a:pt x="368" y="157"/>
                  <a:pt x="379" y="114"/>
                  <a:pt x="402" y="76"/>
                </a:cubicBezTo>
                <a:cubicBezTo>
                  <a:pt x="438" y="16"/>
                  <a:pt x="394" y="111"/>
                  <a:pt x="432" y="38"/>
                </a:cubicBezTo>
                <a:cubicBezTo>
                  <a:pt x="451" y="1"/>
                  <a:pt x="425" y="25"/>
                  <a:pt x="462" y="0"/>
                </a:cubicBezTo>
                <a:cubicBezTo>
                  <a:pt x="472" y="2"/>
                  <a:pt x="485" y="0"/>
                  <a:pt x="493" y="7"/>
                </a:cubicBezTo>
                <a:cubicBezTo>
                  <a:pt x="507" y="19"/>
                  <a:pt x="523" y="53"/>
                  <a:pt x="523" y="53"/>
                </a:cubicBezTo>
                <a:cubicBezTo>
                  <a:pt x="542" y="116"/>
                  <a:pt x="562" y="180"/>
                  <a:pt x="584" y="242"/>
                </a:cubicBezTo>
                <a:cubicBezTo>
                  <a:pt x="590" y="259"/>
                  <a:pt x="619" y="252"/>
                  <a:pt x="637" y="257"/>
                </a:cubicBezTo>
                <a:cubicBezTo>
                  <a:pt x="681" y="247"/>
                  <a:pt x="660" y="253"/>
                  <a:pt x="712" y="235"/>
                </a:cubicBezTo>
                <a:cubicBezTo>
                  <a:pt x="720" y="232"/>
                  <a:pt x="735" y="227"/>
                  <a:pt x="735" y="227"/>
                </a:cubicBezTo>
                <a:cubicBezTo>
                  <a:pt x="750" y="183"/>
                  <a:pt x="750" y="180"/>
                  <a:pt x="781" y="151"/>
                </a:cubicBezTo>
                <a:cubicBezTo>
                  <a:pt x="792" y="117"/>
                  <a:pt x="805" y="125"/>
                  <a:pt x="834" y="106"/>
                </a:cubicBezTo>
                <a:cubicBezTo>
                  <a:pt x="847" y="64"/>
                  <a:pt x="871" y="59"/>
                  <a:pt x="909" y="45"/>
                </a:cubicBezTo>
                <a:cubicBezTo>
                  <a:pt x="927" y="50"/>
                  <a:pt x="949" y="52"/>
                  <a:pt x="962" y="68"/>
                </a:cubicBezTo>
                <a:cubicBezTo>
                  <a:pt x="967" y="74"/>
                  <a:pt x="966" y="84"/>
                  <a:pt x="970" y="91"/>
                </a:cubicBezTo>
                <a:cubicBezTo>
                  <a:pt x="997" y="144"/>
                  <a:pt x="1002" y="215"/>
                  <a:pt x="1053" y="250"/>
                </a:cubicBezTo>
                <a:cubicBezTo>
                  <a:pt x="1096" y="239"/>
                  <a:pt x="1113" y="234"/>
                  <a:pt x="1137" y="197"/>
                </a:cubicBezTo>
                <a:cubicBezTo>
                  <a:pt x="1145" y="172"/>
                  <a:pt x="1175" y="129"/>
                  <a:pt x="1175" y="129"/>
                </a:cubicBezTo>
                <a:cubicBezTo>
                  <a:pt x="1187" y="90"/>
                  <a:pt x="1216" y="53"/>
                  <a:pt x="1250" y="30"/>
                </a:cubicBezTo>
                <a:cubicBezTo>
                  <a:pt x="1276" y="34"/>
                  <a:pt x="1306" y="29"/>
                  <a:pt x="1326" y="45"/>
                </a:cubicBezTo>
                <a:cubicBezTo>
                  <a:pt x="1339" y="55"/>
                  <a:pt x="1345" y="72"/>
                  <a:pt x="1357" y="83"/>
                </a:cubicBezTo>
                <a:cubicBezTo>
                  <a:pt x="1365" y="109"/>
                  <a:pt x="1372" y="128"/>
                  <a:pt x="1387" y="151"/>
                </a:cubicBezTo>
                <a:cubicBezTo>
                  <a:pt x="1403" y="202"/>
                  <a:pt x="1433" y="246"/>
                  <a:pt x="1485" y="265"/>
                </a:cubicBezTo>
                <a:cubicBezTo>
                  <a:pt x="1498" y="262"/>
                  <a:pt x="1513" y="265"/>
                  <a:pt x="1523" y="257"/>
                </a:cubicBezTo>
                <a:cubicBezTo>
                  <a:pt x="1527" y="254"/>
                  <a:pt x="1560" y="202"/>
                  <a:pt x="1569" y="189"/>
                </a:cubicBezTo>
                <a:cubicBezTo>
                  <a:pt x="1584" y="165"/>
                  <a:pt x="1617" y="148"/>
                  <a:pt x="1637" y="129"/>
                </a:cubicBezTo>
                <a:cubicBezTo>
                  <a:pt x="1640" y="121"/>
                  <a:pt x="1639" y="112"/>
                  <a:pt x="1645" y="106"/>
                </a:cubicBezTo>
                <a:cubicBezTo>
                  <a:pt x="1659" y="92"/>
                  <a:pt x="1707" y="60"/>
                  <a:pt x="1728" y="53"/>
                </a:cubicBezTo>
                <a:cubicBezTo>
                  <a:pt x="1761" y="61"/>
                  <a:pt x="1765" y="69"/>
                  <a:pt x="1789" y="91"/>
                </a:cubicBezTo>
                <a:cubicBezTo>
                  <a:pt x="1814" y="168"/>
                  <a:pt x="1774" y="51"/>
                  <a:pt x="1811" y="136"/>
                </a:cubicBezTo>
                <a:cubicBezTo>
                  <a:pt x="1832" y="185"/>
                  <a:pt x="1830" y="217"/>
                  <a:pt x="1880" y="250"/>
                </a:cubicBezTo>
                <a:cubicBezTo>
                  <a:pt x="1895" y="245"/>
                  <a:pt x="1913" y="245"/>
                  <a:pt x="1925" y="235"/>
                </a:cubicBezTo>
                <a:cubicBezTo>
                  <a:pt x="1932" y="229"/>
                  <a:pt x="1934" y="218"/>
                  <a:pt x="1940" y="212"/>
                </a:cubicBezTo>
                <a:cubicBezTo>
                  <a:pt x="1946" y="206"/>
                  <a:pt x="1955" y="202"/>
                  <a:pt x="1963" y="197"/>
                </a:cubicBezTo>
                <a:cubicBezTo>
                  <a:pt x="1973" y="165"/>
                  <a:pt x="1978" y="137"/>
                  <a:pt x="2001" y="113"/>
                </a:cubicBezTo>
                <a:cubicBezTo>
                  <a:pt x="2021" y="50"/>
                  <a:pt x="1992" y="129"/>
                  <a:pt x="2024" y="76"/>
                </a:cubicBezTo>
                <a:cubicBezTo>
                  <a:pt x="2028" y="69"/>
                  <a:pt x="2025" y="59"/>
                  <a:pt x="2031" y="53"/>
                </a:cubicBezTo>
                <a:cubicBezTo>
                  <a:pt x="2033" y="51"/>
                  <a:pt x="2075" y="39"/>
                  <a:pt x="2077" y="38"/>
                </a:cubicBezTo>
                <a:cubicBezTo>
                  <a:pt x="2130" y="56"/>
                  <a:pt x="2107" y="48"/>
                  <a:pt x="2145" y="60"/>
                </a:cubicBezTo>
                <a:cubicBezTo>
                  <a:pt x="2153" y="65"/>
                  <a:pt x="2162" y="69"/>
                  <a:pt x="2168" y="76"/>
                </a:cubicBezTo>
                <a:cubicBezTo>
                  <a:pt x="2180" y="90"/>
                  <a:pt x="2198" y="121"/>
                  <a:pt x="2198" y="121"/>
                </a:cubicBezTo>
                <a:cubicBezTo>
                  <a:pt x="2204" y="141"/>
                  <a:pt x="2222" y="218"/>
                  <a:pt x="2236" y="235"/>
                </a:cubicBezTo>
                <a:cubicBezTo>
                  <a:pt x="2247" y="249"/>
                  <a:pt x="2265" y="252"/>
                  <a:pt x="2281" y="257"/>
                </a:cubicBezTo>
                <a:cubicBezTo>
                  <a:pt x="2303" y="254"/>
                  <a:pt x="2346" y="259"/>
                  <a:pt x="2365" y="235"/>
                </a:cubicBezTo>
                <a:cubicBezTo>
                  <a:pt x="2370" y="229"/>
                  <a:pt x="2368" y="219"/>
                  <a:pt x="2372" y="212"/>
                </a:cubicBezTo>
                <a:cubicBezTo>
                  <a:pt x="2381" y="196"/>
                  <a:pt x="2392" y="181"/>
                  <a:pt x="2402" y="166"/>
                </a:cubicBezTo>
                <a:cubicBezTo>
                  <a:pt x="2434" y="117"/>
                  <a:pt x="2417" y="65"/>
                  <a:pt x="2471" y="30"/>
                </a:cubicBezTo>
                <a:cubicBezTo>
                  <a:pt x="2504" y="36"/>
                  <a:pt x="2531" y="42"/>
                  <a:pt x="2562" y="53"/>
                </a:cubicBezTo>
                <a:cubicBezTo>
                  <a:pt x="2587" y="91"/>
                  <a:pt x="2618" y="132"/>
                  <a:pt x="2637" y="174"/>
                </a:cubicBezTo>
                <a:cubicBezTo>
                  <a:pt x="2656" y="216"/>
                  <a:pt x="2651" y="257"/>
                  <a:pt x="2698" y="273"/>
                </a:cubicBezTo>
                <a:cubicBezTo>
                  <a:pt x="2716" y="232"/>
                  <a:pt x="2737" y="193"/>
                  <a:pt x="2751" y="151"/>
                </a:cubicBezTo>
                <a:cubicBezTo>
                  <a:pt x="2769" y="98"/>
                  <a:pt x="2747" y="35"/>
                  <a:pt x="2812" y="15"/>
                </a:cubicBezTo>
                <a:cubicBezTo>
                  <a:pt x="2858" y="26"/>
                  <a:pt x="2877" y="36"/>
                  <a:pt x="2903" y="76"/>
                </a:cubicBezTo>
                <a:cubicBezTo>
                  <a:pt x="2923" y="136"/>
                  <a:pt x="2927" y="172"/>
                  <a:pt x="2963" y="227"/>
                </a:cubicBezTo>
                <a:cubicBezTo>
                  <a:pt x="2968" y="235"/>
                  <a:pt x="2970" y="245"/>
                  <a:pt x="2978" y="250"/>
                </a:cubicBezTo>
                <a:cubicBezTo>
                  <a:pt x="2993" y="260"/>
                  <a:pt x="3009" y="270"/>
                  <a:pt x="3024" y="280"/>
                </a:cubicBezTo>
                <a:cubicBezTo>
                  <a:pt x="3032" y="285"/>
                  <a:pt x="3047" y="295"/>
                  <a:pt x="3047" y="295"/>
                </a:cubicBezTo>
                <a:cubicBezTo>
                  <a:pt x="3081" y="284"/>
                  <a:pt x="3077" y="278"/>
                  <a:pt x="3092" y="250"/>
                </a:cubicBezTo>
                <a:cubicBezTo>
                  <a:pt x="3101" y="234"/>
                  <a:pt x="3116" y="221"/>
                  <a:pt x="3122" y="204"/>
                </a:cubicBezTo>
                <a:cubicBezTo>
                  <a:pt x="3135" y="166"/>
                  <a:pt x="3147" y="129"/>
                  <a:pt x="3160" y="91"/>
                </a:cubicBezTo>
                <a:cubicBezTo>
                  <a:pt x="3163" y="83"/>
                  <a:pt x="3161" y="72"/>
                  <a:pt x="3168" y="68"/>
                </a:cubicBezTo>
                <a:cubicBezTo>
                  <a:pt x="3198" y="49"/>
                  <a:pt x="3182" y="56"/>
                  <a:pt x="3213" y="45"/>
                </a:cubicBezTo>
                <a:cubicBezTo>
                  <a:pt x="3228" y="50"/>
                  <a:pt x="3245" y="52"/>
                  <a:pt x="3259" y="60"/>
                </a:cubicBezTo>
                <a:cubicBezTo>
                  <a:pt x="3275" y="69"/>
                  <a:pt x="3291" y="79"/>
                  <a:pt x="3304" y="91"/>
                </a:cubicBezTo>
                <a:cubicBezTo>
                  <a:pt x="3309" y="96"/>
                  <a:pt x="3314" y="102"/>
                  <a:pt x="3320" y="106"/>
                </a:cubicBezTo>
                <a:cubicBezTo>
                  <a:pt x="3361" y="130"/>
                  <a:pt x="3329" y="100"/>
                  <a:pt x="3350" y="121"/>
                </a:cubicBezTo>
              </a:path>
            </a:pathLst>
          </a:custGeom>
          <a:noFill/>
          <a:ln w="57150">
            <a:solidFill>
              <a:srgbClr val="00CC99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7044" name="Oval 4"/>
          <p:cNvSpPr>
            <a:spLocks noChangeArrowheads="1"/>
          </p:cNvSpPr>
          <p:nvPr/>
        </p:nvSpPr>
        <p:spPr bwMode="auto">
          <a:xfrm>
            <a:off x="2916238" y="3282950"/>
            <a:ext cx="503237" cy="4095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7045" name="Oval 5"/>
          <p:cNvSpPr>
            <a:spLocks noChangeArrowheads="1"/>
          </p:cNvSpPr>
          <p:nvPr/>
        </p:nvSpPr>
        <p:spPr bwMode="auto">
          <a:xfrm>
            <a:off x="2989263" y="3140075"/>
            <a:ext cx="287337" cy="1936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7046" name="Oval 6"/>
          <p:cNvSpPr>
            <a:spLocks noChangeArrowheads="1"/>
          </p:cNvSpPr>
          <p:nvPr/>
        </p:nvSpPr>
        <p:spPr bwMode="auto">
          <a:xfrm>
            <a:off x="3492500" y="3282950"/>
            <a:ext cx="503238" cy="4095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7047" name="Oval 7"/>
          <p:cNvSpPr>
            <a:spLocks noChangeArrowheads="1"/>
          </p:cNvSpPr>
          <p:nvPr/>
        </p:nvSpPr>
        <p:spPr bwMode="auto">
          <a:xfrm>
            <a:off x="3565525" y="3138488"/>
            <a:ext cx="287338" cy="1936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7048" name="Oval 8"/>
          <p:cNvSpPr>
            <a:spLocks noChangeArrowheads="1"/>
          </p:cNvSpPr>
          <p:nvPr/>
        </p:nvSpPr>
        <p:spPr bwMode="auto">
          <a:xfrm>
            <a:off x="4211638" y="3284538"/>
            <a:ext cx="503237" cy="4095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7049" name="Oval 9"/>
          <p:cNvSpPr>
            <a:spLocks noChangeArrowheads="1"/>
          </p:cNvSpPr>
          <p:nvPr/>
        </p:nvSpPr>
        <p:spPr bwMode="auto">
          <a:xfrm>
            <a:off x="4284663" y="3140075"/>
            <a:ext cx="287337" cy="1936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7050" name="Oval 10"/>
          <p:cNvSpPr>
            <a:spLocks noChangeArrowheads="1"/>
          </p:cNvSpPr>
          <p:nvPr/>
        </p:nvSpPr>
        <p:spPr bwMode="auto">
          <a:xfrm>
            <a:off x="4859338" y="3284538"/>
            <a:ext cx="503237" cy="4095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7051" name="Oval 11"/>
          <p:cNvSpPr>
            <a:spLocks noChangeArrowheads="1"/>
          </p:cNvSpPr>
          <p:nvPr/>
        </p:nvSpPr>
        <p:spPr bwMode="auto">
          <a:xfrm>
            <a:off x="4932363" y="3140075"/>
            <a:ext cx="287337" cy="1936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7052" name="Rectangle 12"/>
          <p:cNvSpPr>
            <a:spLocks noChangeArrowheads="1"/>
          </p:cNvSpPr>
          <p:nvPr/>
        </p:nvSpPr>
        <p:spPr bwMode="auto">
          <a:xfrm>
            <a:off x="5867400" y="4149725"/>
            <a:ext cx="431800" cy="360363"/>
          </a:xfrm>
          <a:prstGeom prst="rect">
            <a:avLst/>
          </a:prstGeom>
          <a:solidFill>
            <a:srgbClr val="FF0066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7053" name="Oval 13"/>
          <p:cNvSpPr>
            <a:spLocks noChangeArrowheads="1"/>
          </p:cNvSpPr>
          <p:nvPr/>
        </p:nvSpPr>
        <p:spPr bwMode="auto">
          <a:xfrm>
            <a:off x="7524750" y="4075113"/>
            <a:ext cx="503238" cy="431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7054" name="Line 14"/>
          <p:cNvSpPr>
            <a:spLocks noChangeShapeType="1"/>
          </p:cNvSpPr>
          <p:nvPr/>
        </p:nvSpPr>
        <p:spPr bwMode="auto">
          <a:xfrm>
            <a:off x="1979613" y="2995613"/>
            <a:ext cx="7921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87055" name="Text Box 15"/>
          <p:cNvSpPr txBox="1">
            <a:spLocks noChangeArrowheads="1"/>
          </p:cNvSpPr>
          <p:nvPr/>
        </p:nvSpPr>
        <p:spPr bwMode="auto">
          <a:xfrm>
            <a:off x="900113" y="2708275"/>
            <a:ext cx="12969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400" b="1"/>
              <a:t>ARN m</a:t>
            </a:r>
          </a:p>
        </p:txBody>
      </p:sp>
      <p:sp>
        <p:nvSpPr>
          <p:cNvPr id="87056" name="Line 16"/>
          <p:cNvSpPr>
            <a:spLocks noChangeShapeType="1"/>
          </p:cNvSpPr>
          <p:nvPr/>
        </p:nvSpPr>
        <p:spPr bwMode="auto">
          <a:xfrm flipV="1">
            <a:off x="2700338" y="3643313"/>
            <a:ext cx="288925" cy="7207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87057" name="Text Box 17"/>
          <p:cNvSpPr txBox="1">
            <a:spLocks noChangeArrowheads="1"/>
          </p:cNvSpPr>
          <p:nvPr/>
        </p:nvSpPr>
        <p:spPr bwMode="auto">
          <a:xfrm>
            <a:off x="900113" y="4219575"/>
            <a:ext cx="1835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400" b="1"/>
              <a:t>Ribosomes</a:t>
            </a:r>
          </a:p>
        </p:txBody>
      </p:sp>
      <p:sp>
        <p:nvSpPr>
          <p:cNvPr id="87058" name="Text Box 18"/>
          <p:cNvSpPr txBox="1">
            <a:spLocks noChangeArrowheads="1"/>
          </p:cNvSpPr>
          <p:nvPr/>
        </p:nvSpPr>
        <p:spPr bwMode="auto">
          <a:xfrm>
            <a:off x="5867400" y="4868863"/>
            <a:ext cx="2160588" cy="46672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sz="2400" b="1">
                <a:solidFill>
                  <a:schemeClr val="accent2"/>
                </a:solidFill>
              </a:rPr>
              <a:t>protéines</a:t>
            </a:r>
          </a:p>
        </p:txBody>
      </p:sp>
      <p:sp>
        <p:nvSpPr>
          <p:cNvPr id="87059" name="Rectangle 19"/>
          <p:cNvSpPr>
            <a:spLocks noChangeArrowheads="1"/>
          </p:cNvSpPr>
          <p:nvPr/>
        </p:nvSpPr>
        <p:spPr bwMode="auto">
          <a:xfrm>
            <a:off x="5292725" y="4365625"/>
            <a:ext cx="431800" cy="360363"/>
          </a:xfrm>
          <a:prstGeom prst="rect">
            <a:avLst/>
          </a:prstGeom>
          <a:solidFill>
            <a:srgbClr val="FF0066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7060" name="Oval 20"/>
          <p:cNvSpPr>
            <a:spLocks noChangeArrowheads="1"/>
          </p:cNvSpPr>
          <p:nvPr/>
        </p:nvSpPr>
        <p:spPr bwMode="auto">
          <a:xfrm>
            <a:off x="7019925" y="4292600"/>
            <a:ext cx="503238" cy="431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4762</TotalTime>
  <Words>478</Words>
  <Application>Microsoft Office PowerPoint</Application>
  <PresentationFormat>Affichage à l'écran (4:3)</PresentationFormat>
  <Paragraphs>96</Paragraphs>
  <Slides>15</Slides>
  <Notes>13</Notes>
  <HiddenSlides>0</HiddenSlides>
  <MMClips>13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3" baseType="lpstr">
      <vt:lpstr>Algerian</vt:lpstr>
      <vt:lpstr>Arial</vt:lpstr>
      <vt:lpstr>Calibri</vt:lpstr>
      <vt:lpstr>Century Gothic</vt:lpstr>
      <vt:lpstr>Comic Sans MS</vt:lpstr>
      <vt:lpstr>Wingdings</vt:lpstr>
      <vt:lpstr>Wingdings 3</vt:lpstr>
      <vt:lpstr>Brin</vt:lpstr>
      <vt:lpstr>Présentation PowerPoint</vt:lpstr>
      <vt:lpstr>Cycle de multuplication</vt:lpstr>
      <vt:lpstr>Les différentes étapes du cycle de réplication</vt:lpstr>
      <vt:lpstr>Présentation PowerPoint</vt:lpstr>
      <vt:lpstr>Présentation PowerPoint</vt:lpstr>
      <vt:lpstr>Présentation PowerPoint</vt:lpstr>
      <vt:lpstr>Présentation PowerPoint</vt:lpstr>
      <vt:lpstr>Pénétration et décapsidation</vt:lpstr>
      <vt:lpstr>Présentation PowerPoint</vt:lpstr>
      <vt:lpstr>Pénétration et décapsidation</vt:lpstr>
      <vt:lpstr>PENETRATION 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zizou soft</dc:creator>
  <cp:lastModifiedBy>Hello</cp:lastModifiedBy>
  <cp:revision>62</cp:revision>
  <dcterms:created xsi:type="dcterms:W3CDTF">2013-02-27T19:26:50Z</dcterms:created>
  <dcterms:modified xsi:type="dcterms:W3CDTF">2020-09-05T23:54:18Z</dcterms:modified>
</cp:coreProperties>
</file>