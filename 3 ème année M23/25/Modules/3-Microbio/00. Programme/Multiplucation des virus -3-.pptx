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FECBB-D3C5-4BE9-8B12-84861D03EEB0}" type="datetimeFigureOut">
              <a:rPr lang="fr-FR" smtClean="0"/>
              <a:t>06/09/2020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A8B34-C457-4546-B143-3F2F64862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83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8537F-3C7C-4232-9986-ADF7BF60F20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415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76754F-5CB4-411D-A582-B7498ED71B63}" type="slidenum">
              <a:rPr lang="fr-FR"/>
              <a:pPr/>
              <a:t>2</a:t>
            </a:fld>
            <a:endParaRPr lang="fr-FR"/>
          </a:p>
        </p:txBody>
      </p:sp>
      <p:sp>
        <p:nvSpPr>
          <p:cNvPr id="237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72300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7EE098-FA45-491F-95D5-7AF6DC1332CE}" type="slidenum">
              <a:rPr lang="fr-FR"/>
              <a:pPr/>
              <a:t>3</a:t>
            </a:fld>
            <a:endParaRPr lang="fr-FR"/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17148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AD0008-45A4-48F1-9485-E9C7D47C2D19}" type="slidenum">
              <a:rPr lang="fr-FR"/>
              <a:pPr/>
              <a:t>4</a:t>
            </a:fld>
            <a:endParaRPr lang="fr-FR"/>
          </a:p>
        </p:txBody>
      </p:sp>
      <p:sp>
        <p:nvSpPr>
          <p:cNvPr id="239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629099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11E6AB-CD40-4B20-B529-5B4C8B6DD4C3}" type="slidenum">
              <a:rPr lang="fr-FR"/>
              <a:pPr/>
              <a:t>5</a:t>
            </a:fld>
            <a:endParaRPr lang="fr-FR"/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89536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484B7-535B-4E2E-A16A-E97309402BEA}" type="slidenum">
              <a:rPr lang="fr-FR"/>
              <a:pPr/>
              <a:t>6</a:t>
            </a:fld>
            <a:endParaRPr lang="fr-FR"/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19508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7D6939-BBF2-4AB2-B1E4-367888BA0D7A}" type="slidenum">
              <a:rPr lang="fr-FR"/>
              <a:pPr/>
              <a:t>7</a:t>
            </a:fld>
            <a:endParaRPr lang="fr-FR"/>
          </a:p>
        </p:txBody>
      </p:sp>
      <p:sp>
        <p:nvSpPr>
          <p:cNvPr id="249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36516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3FEAA7-D787-4632-A95E-F687B3E4AE6E}" type="slidenum">
              <a:rPr lang="fr-FR"/>
              <a:pPr/>
              <a:t>8</a:t>
            </a:fld>
            <a:endParaRPr lang="fr-FR"/>
          </a:p>
        </p:txBody>
      </p:sp>
      <p:sp>
        <p:nvSpPr>
          <p:cNvPr id="25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06913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6AACA8-AEB2-4EBB-89A0-81BE265B8623}" type="slidenum">
              <a:rPr lang="fr-FR"/>
              <a:pPr/>
              <a:t>9</a:t>
            </a:fld>
            <a:endParaRPr lang="fr-FR"/>
          </a:p>
        </p:txBody>
      </p:sp>
      <p:sp>
        <p:nvSpPr>
          <p:cNvPr id="252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03591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6DC4A1-D541-4916-A931-428765E64EFF}" type="slidenum">
              <a:rPr lang="fr-FR"/>
              <a:pPr/>
              <a:t>10</a:t>
            </a:fld>
            <a:endParaRPr lang="fr-FR"/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35517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A36E14-A5BA-4368-B44A-C10AFC365AF1}" type="slidenum">
              <a:rPr lang="fr-FR"/>
              <a:pPr/>
              <a:t>11</a:t>
            </a:fld>
            <a:endParaRPr lang="fr-FR"/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548725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28103E-CDE7-4CFA-8FCC-C1AD06D1063F}" type="slidenum">
              <a:rPr lang="fr-FR"/>
              <a:pPr/>
              <a:t>13</a:t>
            </a:fld>
            <a:endParaRPr lang="fr-FR"/>
          </a:p>
        </p:txBody>
      </p:sp>
      <p:sp>
        <p:nvSpPr>
          <p:cNvPr id="253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16225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6188D0-1205-448A-B863-8F3AE1E164EE}" type="slidenum">
              <a:rPr lang="fr-FR"/>
              <a:pPr/>
              <a:t>14</a:t>
            </a:fld>
            <a:endParaRPr lang="fr-FR"/>
          </a:p>
        </p:txBody>
      </p:sp>
      <p:sp>
        <p:nvSpPr>
          <p:cNvPr id="254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446154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1AD32D-7BAD-470E-8F3A-692FE8F930A5}" type="slidenum">
              <a:rPr lang="fr-FR"/>
              <a:pPr/>
              <a:t>16</a:t>
            </a:fld>
            <a:endParaRPr lang="fr-FR"/>
          </a:p>
        </p:txBody>
      </p:sp>
      <p:sp>
        <p:nvSpPr>
          <p:cNvPr id="257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4376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63D039-AB0B-4E14-B4CE-E395BA1F8148}" type="slidenum">
              <a:rPr lang="fr-FR"/>
              <a:pPr/>
              <a:t>17</a:t>
            </a:fld>
            <a:endParaRPr lang="fr-FR"/>
          </a:p>
        </p:txBody>
      </p:sp>
      <p:sp>
        <p:nvSpPr>
          <p:cNvPr id="258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35555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7D2B50-2636-4665-AD22-127E132449DC}" type="slidenum">
              <a:rPr lang="fr-FR"/>
              <a:pPr/>
              <a:t>18</a:t>
            </a:fld>
            <a:endParaRPr lang="fr-FR"/>
          </a:p>
        </p:txBody>
      </p:sp>
      <p:sp>
        <p:nvSpPr>
          <p:cNvPr id="259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0898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nv.jussieu.fr/vie/dossiers/SIDA/images/cycle.sw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27712" y="1106743"/>
            <a:ext cx="5891022" cy="4304663"/>
          </a:xfrm>
        </p:spPr>
        <p:txBody>
          <a:bodyPr>
            <a:noAutofit/>
          </a:bodyPr>
          <a:lstStyle/>
          <a:p>
            <a:pPr algn="ctr"/>
            <a:endParaRPr lang="fr-FR" sz="2700" dirty="0">
              <a:latin typeface="Algerian" pitchFamily="82" charset="0"/>
            </a:endParaRPr>
          </a:p>
          <a:p>
            <a:pPr algn="ctr"/>
            <a:r>
              <a:rPr lang="fr-FR" sz="4950" dirty="0">
                <a:latin typeface="Algerian" pitchFamily="82" charset="0"/>
              </a:rPr>
              <a:t>Multiplication des virus</a:t>
            </a:r>
          </a:p>
          <a:p>
            <a:pPr algn="ctr"/>
            <a:r>
              <a:rPr lang="fr-FR" sz="4950" dirty="0">
                <a:latin typeface="Algerian" pitchFamily="82" charset="0"/>
              </a:rPr>
              <a:t>Partie </a:t>
            </a:r>
            <a:r>
              <a:rPr lang="fr-FR" sz="4950" dirty="0" smtClean="0">
                <a:latin typeface="Algerian" pitchFamily="82" charset="0"/>
              </a:rPr>
              <a:t>3</a:t>
            </a:r>
            <a:endParaRPr lang="fr-FR" sz="4950" dirty="0">
              <a:latin typeface="Algerian" pitchFamily="82" charset="0"/>
            </a:endParaRPr>
          </a:p>
          <a:p>
            <a:pPr algn="ctr"/>
            <a:r>
              <a:rPr lang="fr-FR" sz="2700" dirty="0">
                <a:latin typeface="Algerian" pitchFamily="82" charset="0"/>
              </a:rPr>
              <a:t>DR. L .BECHIR</a:t>
            </a:r>
          </a:p>
          <a:p>
            <a:pPr algn="ctr"/>
            <a:r>
              <a:rPr lang="fr-FR" sz="2700" dirty="0">
                <a:latin typeface="Algerian" pitchFamily="82" charset="0"/>
              </a:rPr>
              <a:t>Laboratoire de Bactériologie</a:t>
            </a:r>
          </a:p>
          <a:p>
            <a:pPr algn="ctr"/>
            <a:r>
              <a:rPr lang="fr-FR" sz="2700" dirty="0">
                <a:latin typeface="Algerian" pitchFamily="82" charset="0"/>
              </a:rPr>
              <a:t>Faculté de Médecine de CONSTANTINE</a:t>
            </a:r>
          </a:p>
          <a:p>
            <a:pPr algn="ctr"/>
            <a:endParaRPr lang="fr-FR" sz="2700" b="1" dirty="0">
              <a:latin typeface="Algerian" pitchFamily="82" charset="0"/>
            </a:endParaRP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12645" y="3245645"/>
            <a:ext cx="365522" cy="36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9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71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549275"/>
            <a:ext cx="8229600" cy="5576888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algn="ctr" eaLnBrk="1" hangingPunct="1">
              <a:buFontTx/>
              <a:buNone/>
            </a:pPr>
            <a:r>
              <a:rPr lang="fr-FR" sz="4000" b="1" u="sng">
                <a:solidFill>
                  <a:srgbClr val="0000FF"/>
                </a:solidFill>
              </a:rPr>
              <a:t>VIRUS A   ADN</a:t>
            </a:r>
            <a:r>
              <a:rPr lang="fr-FR" sz="4000"/>
              <a:t> </a:t>
            </a:r>
          </a:p>
          <a:p>
            <a:pPr algn="ctr" eaLnBrk="1" hangingPunct="1">
              <a:buFontTx/>
              <a:buNone/>
            </a:pPr>
            <a:endParaRPr lang="fr-FR" sz="4000"/>
          </a:p>
          <a:p>
            <a:pPr eaLnBrk="1" hangingPunct="1">
              <a:buFontTx/>
              <a:buNone/>
            </a:pPr>
            <a:r>
              <a:rPr lang="fr-FR" sz="4000"/>
              <a:t>   </a:t>
            </a:r>
            <a:r>
              <a:rPr lang="fr-FR" sz="4000" b="1">
                <a:solidFill>
                  <a:srgbClr val="FF0066"/>
                </a:solidFill>
              </a:rPr>
              <a:t>1/-</a:t>
            </a:r>
            <a:r>
              <a:rPr lang="fr-FR" sz="4000"/>
              <a:t> </a:t>
            </a:r>
            <a:r>
              <a:rPr lang="fr-FR" sz="4000" b="1" u="sng">
                <a:solidFill>
                  <a:srgbClr val="FF0066"/>
                </a:solidFill>
              </a:rPr>
              <a:t>Les virus à ADN double brin</a:t>
            </a:r>
            <a:r>
              <a:rPr lang="fr-FR" sz="4000"/>
              <a:t> suivent des </a:t>
            </a:r>
            <a:r>
              <a:rPr lang="fr-FR" sz="4000">
                <a:solidFill>
                  <a:srgbClr val="FF0066"/>
                </a:solidFill>
              </a:rPr>
              <a:t>mécanismes de multiplication qui se rapprochent de ceux observés pour les gènes cellulaires</a:t>
            </a:r>
            <a:r>
              <a:rPr lang="fr-FR" sz="4000"/>
              <a:t> </a:t>
            </a:r>
            <a:r>
              <a:rPr lang="fr-FR" sz="4000">
                <a:solidFill>
                  <a:srgbClr val="0033CC"/>
                </a:solidFill>
              </a:rPr>
              <a:t>(selon un mode semi-conservatif)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9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6"/>
          <p:cNvSpPr txBox="1">
            <a:spLocks noChangeArrowheads="1"/>
          </p:cNvSpPr>
          <p:nvPr/>
        </p:nvSpPr>
        <p:spPr bwMode="auto">
          <a:xfrm>
            <a:off x="1774825" y="188914"/>
            <a:ext cx="8642350" cy="6678751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3600" b="1" u="sng">
                <a:solidFill>
                  <a:srgbClr val="FF0066"/>
                </a:solidFill>
              </a:rPr>
              <a:t>HERPES VIRUS</a:t>
            </a:r>
          </a:p>
          <a:p>
            <a:pPr algn="ctr"/>
            <a:r>
              <a:rPr lang="fr-FR" sz="3600"/>
              <a:t>L’</a:t>
            </a:r>
            <a:r>
              <a:rPr lang="fr-FR" sz="3600">
                <a:solidFill>
                  <a:srgbClr val="FF3399"/>
                </a:solidFill>
              </a:rPr>
              <a:t>ADN</a:t>
            </a:r>
            <a:r>
              <a:rPr lang="fr-FR" sz="3600"/>
              <a:t> viral migre vers le noyau ou la réplication se déroule en </a:t>
            </a:r>
            <a:r>
              <a:rPr lang="fr-FR" sz="3600">
                <a:solidFill>
                  <a:srgbClr val="FF3399"/>
                </a:solidFill>
              </a:rPr>
              <a:t>3 phases</a:t>
            </a:r>
          </a:p>
          <a:p>
            <a:r>
              <a:rPr lang="fr-FR" sz="3600">
                <a:solidFill>
                  <a:srgbClr val="0000FF"/>
                </a:solidFill>
              </a:rPr>
              <a:t>1-</a:t>
            </a:r>
            <a:r>
              <a:rPr lang="fr-FR" sz="3600" u="sng">
                <a:solidFill>
                  <a:srgbClr val="0000FF"/>
                </a:solidFill>
              </a:rPr>
              <a:t> Phase précoce</a:t>
            </a:r>
            <a:r>
              <a:rPr lang="fr-FR" sz="3600">
                <a:solidFill>
                  <a:srgbClr val="0000FF"/>
                </a:solidFill>
              </a:rPr>
              <a:t>:</a:t>
            </a:r>
            <a:r>
              <a:rPr lang="fr-FR" sz="3600"/>
              <a:t> une petite partie du génome est transcrite grâce à une ARN polymérase-ADN dépendante cellulaire en ARNm précoce qui migre dans le cytoplasme pour être traduits en protéines précoces non structurales </a:t>
            </a:r>
            <a:r>
              <a:rPr lang="fr-FR" sz="3600">
                <a:solidFill>
                  <a:srgbClr val="FF0066"/>
                </a:solidFill>
              </a:rPr>
              <a:t>(régulatrices ou en enzymes impliquées dans</a:t>
            </a:r>
            <a:r>
              <a:rPr lang="fr-FR" sz="3200">
                <a:solidFill>
                  <a:srgbClr val="FF0066"/>
                </a:solidFill>
              </a:rPr>
              <a:t> la synthèse de l’ADN) 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1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56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4"/>
          <p:cNvSpPr>
            <a:spLocks noChangeArrowheads="1"/>
          </p:cNvSpPr>
          <p:nvPr/>
        </p:nvSpPr>
        <p:spPr bwMode="auto">
          <a:xfrm>
            <a:off x="1919288" y="260351"/>
            <a:ext cx="8280400" cy="62642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01379" name="Text Box 5"/>
          <p:cNvSpPr txBox="1">
            <a:spLocks noChangeArrowheads="1"/>
          </p:cNvSpPr>
          <p:nvPr/>
        </p:nvSpPr>
        <p:spPr bwMode="auto">
          <a:xfrm>
            <a:off x="1919288" y="260351"/>
            <a:ext cx="8280400" cy="61880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4000" b="1" dirty="0">
                <a:solidFill>
                  <a:srgbClr val="0000FF"/>
                </a:solidFill>
              </a:rPr>
              <a:t>2- </a:t>
            </a:r>
            <a:r>
              <a:rPr lang="fr-FR" sz="4000" b="1" u="sng" dirty="0">
                <a:solidFill>
                  <a:srgbClr val="0000FF"/>
                </a:solidFill>
              </a:rPr>
              <a:t>Réplication</a:t>
            </a:r>
            <a:r>
              <a:rPr lang="fr-FR" sz="4000" b="1" dirty="0">
                <a:solidFill>
                  <a:srgbClr val="0000FF"/>
                </a:solidFill>
              </a:rPr>
              <a:t>:</a:t>
            </a:r>
            <a:r>
              <a:rPr lang="fr-FR" sz="4000" b="1" dirty="0"/>
              <a:t> </a:t>
            </a:r>
            <a:r>
              <a:rPr lang="fr-FR" sz="4000" dirty="0"/>
              <a:t>l’</a:t>
            </a:r>
            <a:r>
              <a:rPr lang="fr-FR" sz="4000" dirty="0">
                <a:solidFill>
                  <a:srgbClr val="FF3399"/>
                </a:solidFill>
              </a:rPr>
              <a:t>ADN</a:t>
            </a:r>
            <a:r>
              <a:rPr lang="fr-FR" sz="4000" dirty="0"/>
              <a:t> viral est dupliqué grâce a une </a:t>
            </a:r>
            <a:r>
              <a:rPr lang="fr-FR" sz="4000" dirty="0">
                <a:solidFill>
                  <a:srgbClr val="FF3399"/>
                </a:solidFill>
              </a:rPr>
              <a:t>ADN polymérase</a:t>
            </a:r>
            <a:r>
              <a:rPr lang="fr-FR" sz="4000" dirty="0"/>
              <a:t> en un grand nombre de copies selon un mode semi-conservatif.</a:t>
            </a:r>
            <a:endParaRPr lang="fr-FR" sz="4000" b="1" u="sng" dirty="0"/>
          </a:p>
          <a:p>
            <a:r>
              <a:rPr lang="fr-FR" sz="4000" b="1" dirty="0">
                <a:solidFill>
                  <a:srgbClr val="0000FF"/>
                </a:solidFill>
              </a:rPr>
              <a:t>3- </a:t>
            </a:r>
            <a:r>
              <a:rPr lang="fr-FR" sz="4000" b="1" u="sng" dirty="0">
                <a:solidFill>
                  <a:srgbClr val="0000FF"/>
                </a:solidFill>
              </a:rPr>
              <a:t>Phase tardive</a:t>
            </a:r>
            <a:r>
              <a:rPr lang="fr-FR" sz="4000" dirty="0">
                <a:solidFill>
                  <a:srgbClr val="0000FF"/>
                </a:solidFill>
              </a:rPr>
              <a:t>:</a:t>
            </a:r>
            <a:r>
              <a:rPr lang="fr-FR" sz="4000" dirty="0"/>
              <a:t> Les </a:t>
            </a:r>
            <a:r>
              <a:rPr lang="fr-FR" sz="4000" dirty="0">
                <a:solidFill>
                  <a:srgbClr val="FF3399"/>
                </a:solidFill>
              </a:rPr>
              <a:t>ADN</a:t>
            </a:r>
            <a:r>
              <a:rPr lang="fr-FR" sz="4000" dirty="0"/>
              <a:t> néoformés servent de matrice pour une 2ème transcription                    synthèse d’</a:t>
            </a:r>
            <a:r>
              <a:rPr lang="fr-FR" sz="4000" dirty="0">
                <a:solidFill>
                  <a:srgbClr val="0000FF"/>
                </a:solidFill>
              </a:rPr>
              <a:t>ARNm</a:t>
            </a:r>
            <a:r>
              <a:rPr lang="fr-FR" sz="4000" dirty="0">
                <a:solidFill>
                  <a:srgbClr val="FF3399"/>
                </a:solidFill>
              </a:rPr>
              <a:t> </a:t>
            </a:r>
            <a:r>
              <a:rPr lang="fr-FR" sz="4000" dirty="0"/>
              <a:t>tardifs traduits en protéines de structure</a:t>
            </a:r>
            <a:r>
              <a:rPr lang="fr-FR" sz="4000" b="1" dirty="0"/>
              <a:t>.</a:t>
            </a:r>
            <a:endParaRPr lang="fr-FR" sz="4000" dirty="0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5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54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6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2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4"/>
          <p:cNvSpPr>
            <a:spLocks noChangeArrowheads="1"/>
          </p:cNvSpPr>
          <p:nvPr/>
        </p:nvSpPr>
        <p:spPr bwMode="auto">
          <a:xfrm>
            <a:off x="2063750" y="404814"/>
            <a:ext cx="8064500" cy="58324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0595" name="Text Box 5"/>
          <p:cNvSpPr txBox="1">
            <a:spLocks noChangeArrowheads="1"/>
          </p:cNvSpPr>
          <p:nvPr/>
        </p:nvSpPr>
        <p:spPr bwMode="auto">
          <a:xfrm>
            <a:off x="2063750" y="404813"/>
            <a:ext cx="80645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4000" b="1" u="sng" dirty="0">
                <a:solidFill>
                  <a:srgbClr val="0000FF"/>
                </a:solidFill>
              </a:rPr>
              <a:t>VIRUS A   ARN</a:t>
            </a:r>
            <a:r>
              <a:rPr lang="fr-FR" sz="4000" b="1" dirty="0">
                <a:solidFill>
                  <a:srgbClr val="0000FF"/>
                </a:solidFill>
              </a:rPr>
              <a:t> </a:t>
            </a:r>
          </a:p>
          <a:p>
            <a:r>
              <a:rPr lang="fr-FR" sz="4000" b="1" dirty="0"/>
              <a:t>        </a:t>
            </a:r>
            <a:r>
              <a:rPr lang="fr-FR" sz="4000" dirty="0"/>
              <a:t>La réplication a lieu dans le </a:t>
            </a:r>
            <a:r>
              <a:rPr lang="fr-FR" sz="4000" dirty="0">
                <a:solidFill>
                  <a:srgbClr val="FF3399"/>
                </a:solidFill>
              </a:rPr>
              <a:t>cytoplasme</a:t>
            </a:r>
            <a:r>
              <a:rPr lang="fr-FR" sz="4000" dirty="0"/>
              <a:t>, on a 3 groupes :</a:t>
            </a:r>
            <a:endParaRPr lang="fr-FR" sz="4000" b="1" dirty="0"/>
          </a:p>
          <a:p>
            <a:pPr>
              <a:buFontTx/>
              <a:buBlip>
                <a:blip r:embed="rId5"/>
              </a:buBlip>
            </a:pPr>
            <a:r>
              <a:rPr lang="fr-FR" sz="4000" b="1" dirty="0">
                <a:solidFill>
                  <a:srgbClr val="FF3399"/>
                </a:solidFill>
              </a:rPr>
              <a:t> Virus dont l’ARN viral est de </a:t>
            </a:r>
          </a:p>
          <a:p>
            <a:r>
              <a:rPr lang="fr-FR" sz="4000" b="1" dirty="0">
                <a:solidFill>
                  <a:srgbClr val="FF3399"/>
                </a:solidFill>
              </a:rPr>
              <a:t>               polarité (+) (5’- 3’):</a:t>
            </a:r>
            <a:r>
              <a:rPr lang="fr-FR" sz="4000" b="1" dirty="0"/>
              <a:t> </a:t>
            </a:r>
          </a:p>
          <a:p>
            <a:r>
              <a:rPr lang="fr-FR" sz="4000" dirty="0"/>
              <a:t>    </a:t>
            </a:r>
            <a:r>
              <a:rPr lang="fr-FR" sz="4000" dirty="0" err="1"/>
              <a:t>C-à-d</a:t>
            </a:r>
            <a:r>
              <a:rPr lang="fr-FR" sz="4000" dirty="0"/>
              <a:t> même sens que l’</a:t>
            </a:r>
            <a:r>
              <a:rPr lang="fr-FR" sz="4000" dirty="0">
                <a:solidFill>
                  <a:srgbClr val="0000FF"/>
                </a:solidFill>
              </a:rPr>
              <a:t>ARNm</a:t>
            </a:r>
            <a:r>
              <a:rPr lang="fr-FR" sz="4000" dirty="0"/>
              <a:t> peut être lu directement par les ribosomes cellulaires.</a:t>
            </a:r>
            <a:endParaRPr lang="fr-FR" sz="4000" b="1" dirty="0"/>
          </a:p>
          <a:p>
            <a:r>
              <a:rPr lang="fr-FR" sz="4000" b="1" dirty="0"/>
              <a:t>  ARN (+)                 Traduction	</a:t>
            </a:r>
          </a:p>
        </p:txBody>
      </p:sp>
      <p:sp>
        <p:nvSpPr>
          <p:cNvPr id="110596" name="AutoShape 6"/>
          <p:cNvSpPr>
            <a:spLocks noChangeArrowheads="1"/>
          </p:cNvSpPr>
          <p:nvPr/>
        </p:nvSpPr>
        <p:spPr bwMode="auto">
          <a:xfrm>
            <a:off x="4511676" y="5516563"/>
            <a:ext cx="2016125" cy="360362"/>
          </a:xfrm>
          <a:custGeom>
            <a:avLst/>
            <a:gdLst>
              <a:gd name="T0" fmla="*/ 1512094 w 21600"/>
              <a:gd name="T1" fmla="*/ 0 h 21600"/>
              <a:gd name="T2" fmla="*/ 0 w 21600"/>
              <a:gd name="T3" fmla="*/ 180181 h 21600"/>
              <a:gd name="T4" fmla="*/ 1512094 w 21600"/>
              <a:gd name="T5" fmla="*/ 360362 h 21600"/>
              <a:gd name="T6" fmla="*/ 2016125 w 21600"/>
              <a:gd name="T7" fmla="*/ 180181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1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5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620714"/>
            <a:ext cx="7726362" cy="936625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fr-FR" smtClean="0"/>
              <a:t>Réplication des virus à </a:t>
            </a:r>
            <a:r>
              <a:rPr lang="fr-FR" smtClean="0">
                <a:solidFill>
                  <a:srgbClr val="FF0000"/>
                </a:solidFill>
              </a:rPr>
              <a:t>ARN +</a:t>
            </a:r>
          </a:p>
        </p:txBody>
      </p:sp>
      <p:sp>
        <p:nvSpPr>
          <p:cNvPr id="111619" name="Freeform 5"/>
          <p:cNvSpPr>
            <a:spLocks/>
          </p:cNvSpPr>
          <p:nvPr/>
        </p:nvSpPr>
        <p:spPr bwMode="auto">
          <a:xfrm>
            <a:off x="3497264" y="2551113"/>
            <a:ext cx="5335587" cy="468312"/>
          </a:xfrm>
          <a:custGeom>
            <a:avLst/>
            <a:gdLst>
              <a:gd name="T0" fmla="*/ 61 w 3361"/>
              <a:gd name="T1" fmla="*/ 30 h 295"/>
              <a:gd name="T2" fmla="*/ 189 w 3361"/>
              <a:gd name="T3" fmla="*/ 174 h 295"/>
              <a:gd name="T4" fmla="*/ 303 w 3361"/>
              <a:gd name="T5" fmla="*/ 227 h 295"/>
              <a:gd name="T6" fmla="*/ 402 w 3361"/>
              <a:gd name="T7" fmla="*/ 76 h 295"/>
              <a:gd name="T8" fmla="*/ 462 w 3361"/>
              <a:gd name="T9" fmla="*/ 0 h 295"/>
              <a:gd name="T10" fmla="*/ 523 w 3361"/>
              <a:gd name="T11" fmla="*/ 53 h 295"/>
              <a:gd name="T12" fmla="*/ 637 w 3361"/>
              <a:gd name="T13" fmla="*/ 257 h 295"/>
              <a:gd name="T14" fmla="*/ 735 w 3361"/>
              <a:gd name="T15" fmla="*/ 227 h 295"/>
              <a:gd name="T16" fmla="*/ 834 w 3361"/>
              <a:gd name="T17" fmla="*/ 106 h 295"/>
              <a:gd name="T18" fmla="*/ 962 w 3361"/>
              <a:gd name="T19" fmla="*/ 68 h 295"/>
              <a:gd name="T20" fmla="*/ 1053 w 3361"/>
              <a:gd name="T21" fmla="*/ 250 h 295"/>
              <a:gd name="T22" fmla="*/ 1175 w 3361"/>
              <a:gd name="T23" fmla="*/ 129 h 295"/>
              <a:gd name="T24" fmla="*/ 1326 w 3361"/>
              <a:gd name="T25" fmla="*/ 45 h 295"/>
              <a:gd name="T26" fmla="*/ 1387 w 3361"/>
              <a:gd name="T27" fmla="*/ 151 h 295"/>
              <a:gd name="T28" fmla="*/ 1523 w 3361"/>
              <a:gd name="T29" fmla="*/ 257 h 295"/>
              <a:gd name="T30" fmla="*/ 1637 w 3361"/>
              <a:gd name="T31" fmla="*/ 129 h 295"/>
              <a:gd name="T32" fmla="*/ 1728 w 3361"/>
              <a:gd name="T33" fmla="*/ 53 h 295"/>
              <a:gd name="T34" fmla="*/ 1811 w 3361"/>
              <a:gd name="T35" fmla="*/ 136 h 295"/>
              <a:gd name="T36" fmla="*/ 1925 w 3361"/>
              <a:gd name="T37" fmla="*/ 235 h 295"/>
              <a:gd name="T38" fmla="*/ 1963 w 3361"/>
              <a:gd name="T39" fmla="*/ 197 h 295"/>
              <a:gd name="T40" fmla="*/ 2024 w 3361"/>
              <a:gd name="T41" fmla="*/ 76 h 295"/>
              <a:gd name="T42" fmla="*/ 2077 w 3361"/>
              <a:gd name="T43" fmla="*/ 38 h 295"/>
              <a:gd name="T44" fmla="*/ 2168 w 3361"/>
              <a:gd name="T45" fmla="*/ 76 h 295"/>
              <a:gd name="T46" fmla="*/ 2236 w 3361"/>
              <a:gd name="T47" fmla="*/ 235 h 295"/>
              <a:gd name="T48" fmla="*/ 2365 w 3361"/>
              <a:gd name="T49" fmla="*/ 235 h 295"/>
              <a:gd name="T50" fmla="*/ 2402 w 3361"/>
              <a:gd name="T51" fmla="*/ 166 h 295"/>
              <a:gd name="T52" fmla="*/ 2562 w 3361"/>
              <a:gd name="T53" fmla="*/ 53 h 295"/>
              <a:gd name="T54" fmla="*/ 2698 w 3361"/>
              <a:gd name="T55" fmla="*/ 273 h 295"/>
              <a:gd name="T56" fmla="*/ 2812 w 3361"/>
              <a:gd name="T57" fmla="*/ 15 h 295"/>
              <a:gd name="T58" fmla="*/ 2963 w 3361"/>
              <a:gd name="T59" fmla="*/ 227 h 295"/>
              <a:gd name="T60" fmla="*/ 3024 w 3361"/>
              <a:gd name="T61" fmla="*/ 280 h 295"/>
              <a:gd name="T62" fmla="*/ 3092 w 3361"/>
              <a:gd name="T63" fmla="*/ 250 h 295"/>
              <a:gd name="T64" fmla="*/ 3160 w 3361"/>
              <a:gd name="T65" fmla="*/ 91 h 295"/>
              <a:gd name="T66" fmla="*/ 3213 w 3361"/>
              <a:gd name="T67" fmla="*/ 45 h 295"/>
              <a:gd name="T68" fmla="*/ 3304 w 3361"/>
              <a:gd name="T69" fmla="*/ 91 h 295"/>
              <a:gd name="T70" fmla="*/ 3350 w 3361"/>
              <a:gd name="T71" fmla="*/ 121 h 29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3361"/>
              <a:gd name="T109" fmla="*/ 0 h 295"/>
              <a:gd name="T110" fmla="*/ 3361 w 3361"/>
              <a:gd name="T111" fmla="*/ 295 h 295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3361" h="295">
                <a:moveTo>
                  <a:pt x="0" y="136"/>
                </a:moveTo>
                <a:cubicBezTo>
                  <a:pt x="38" y="98"/>
                  <a:pt x="27" y="62"/>
                  <a:pt x="61" y="30"/>
                </a:cubicBezTo>
                <a:cubicBezTo>
                  <a:pt x="101" y="36"/>
                  <a:pt x="124" y="34"/>
                  <a:pt x="152" y="60"/>
                </a:cubicBezTo>
                <a:cubicBezTo>
                  <a:pt x="162" y="94"/>
                  <a:pt x="170" y="143"/>
                  <a:pt x="189" y="174"/>
                </a:cubicBezTo>
                <a:cubicBezTo>
                  <a:pt x="197" y="188"/>
                  <a:pt x="211" y="198"/>
                  <a:pt x="220" y="212"/>
                </a:cubicBezTo>
                <a:cubicBezTo>
                  <a:pt x="233" y="255"/>
                  <a:pt x="268" y="246"/>
                  <a:pt x="303" y="227"/>
                </a:cubicBezTo>
                <a:cubicBezTo>
                  <a:pt x="319" y="218"/>
                  <a:pt x="349" y="197"/>
                  <a:pt x="349" y="197"/>
                </a:cubicBezTo>
                <a:cubicBezTo>
                  <a:pt x="368" y="157"/>
                  <a:pt x="379" y="114"/>
                  <a:pt x="402" y="76"/>
                </a:cubicBezTo>
                <a:cubicBezTo>
                  <a:pt x="438" y="16"/>
                  <a:pt x="394" y="111"/>
                  <a:pt x="432" y="38"/>
                </a:cubicBezTo>
                <a:cubicBezTo>
                  <a:pt x="451" y="1"/>
                  <a:pt x="425" y="25"/>
                  <a:pt x="462" y="0"/>
                </a:cubicBezTo>
                <a:cubicBezTo>
                  <a:pt x="472" y="2"/>
                  <a:pt x="485" y="0"/>
                  <a:pt x="493" y="7"/>
                </a:cubicBezTo>
                <a:cubicBezTo>
                  <a:pt x="507" y="19"/>
                  <a:pt x="523" y="53"/>
                  <a:pt x="523" y="53"/>
                </a:cubicBezTo>
                <a:cubicBezTo>
                  <a:pt x="542" y="116"/>
                  <a:pt x="562" y="180"/>
                  <a:pt x="584" y="242"/>
                </a:cubicBezTo>
                <a:cubicBezTo>
                  <a:pt x="590" y="259"/>
                  <a:pt x="619" y="252"/>
                  <a:pt x="637" y="257"/>
                </a:cubicBezTo>
                <a:cubicBezTo>
                  <a:pt x="681" y="247"/>
                  <a:pt x="660" y="253"/>
                  <a:pt x="712" y="235"/>
                </a:cubicBezTo>
                <a:cubicBezTo>
                  <a:pt x="720" y="232"/>
                  <a:pt x="735" y="227"/>
                  <a:pt x="735" y="227"/>
                </a:cubicBezTo>
                <a:cubicBezTo>
                  <a:pt x="750" y="183"/>
                  <a:pt x="750" y="180"/>
                  <a:pt x="781" y="151"/>
                </a:cubicBezTo>
                <a:cubicBezTo>
                  <a:pt x="792" y="117"/>
                  <a:pt x="805" y="125"/>
                  <a:pt x="834" y="106"/>
                </a:cubicBezTo>
                <a:cubicBezTo>
                  <a:pt x="847" y="64"/>
                  <a:pt x="871" y="59"/>
                  <a:pt x="909" y="45"/>
                </a:cubicBezTo>
                <a:cubicBezTo>
                  <a:pt x="927" y="50"/>
                  <a:pt x="949" y="52"/>
                  <a:pt x="962" y="68"/>
                </a:cubicBezTo>
                <a:cubicBezTo>
                  <a:pt x="967" y="74"/>
                  <a:pt x="966" y="84"/>
                  <a:pt x="970" y="91"/>
                </a:cubicBezTo>
                <a:cubicBezTo>
                  <a:pt x="997" y="144"/>
                  <a:pt x="1002" y="215"/>
                  <a:pt x="1053" y="250"/>
                </a:cubicBezTo>
                <a:cubicBezTo>
                  <a:pt x="1096" y="239"/>
                  <a:pt x="1113" y="234"/>
                  <a:pt x="1137" y="197"/>
                </a:cubicBezTo>
                <a:cubicBezTo>
                  <a:pt x="1145" y="172"/>
                  <a:pt x="1175" y="129"/>
                  <a:pt x="1175" y="129"/>
                </a:cubicBezTo>
                <a:cubicBezTo>
                  <a:pt x="1187" y="90"/>
                  <a:pt x="1216" y="53"/>
                  <a:pt x="1250" y="30"/>
                </a:cubicBezTo>
                <a:cubicBezTo>
                  <a:pt x="1276" y="34"/>
                  <a:pt x="1306" y="29"/>
                  <a:pt x="1326" y="45"/>
                </a:cubicBezTo>
                <a:cubicBezTo>
                  <a:pt x="1339" y="55"/>
                  <a:pt x="1345" y="72"/>
                  <a:pt x="1357" y="83"/>
                </a:cubicBezTo>
                <a:cubicBezTo>
                  <a:pt x="1365" y="109"/>
                  <a:pt x="1372" y="128"/>
                  <a:pt x="1387" y="151"/>
                </a:cubicBezTo>
                <a:cubicBezTo>
                  <a:pt x="1403" y="202"/>
                  <a:pt x="1433" y="246"/>
                  <a:pt x="1485" y="265"/>
                </a:cubicBezTo>
                <a:cubicBezTo>
                  <a:pt x="1498" y="262"/>
                  <a:pt x="1513" y="265"/>
                  <a:pt x="1523" y="257"/>
                </a:cubicBezTo>
                <a:cubicBezTo>
                  <a:pt x="1527" y="254"/>
                  <a:pt x="1560" y="202"/>
                  <a:pt x="1569" y="189"/>
                </a:cubicBezTo>
                <a:cubicBezTo>
                  <a:pt x="1584" y="165"/>
                  <a:pt x="1617" y="148"/>
                  <a:pt x="1637" y="129"/>
                </a:cubicBezTo>
                <a:cubicBezTo>
                  <a:pt x="1640" y="121"/>
                  <a:pt x="1639" y="112"/>
                  <a:pt x="1645" y="106"/>
                </a:cubicBezTo>
                <a:cubicBezTo>
                  <a:pt x="1659" y="92"/>
                  <a:pt x="1707" y="60"/>
                  <a:pt x="1728" y="53"/>
                </a:cubicBezTo>
                <a:cubicBezTo>
                  <a:pt x="1761" y="61"/>
                  <a:pt x="1765" y="69"/>
                  <a:pt x="1789" y="91"/>
                </a:cubicBezTo>
                <a:cubicBezTo>
                  <a:pt x="1814" y="168"/>
                  <a:pt x="1774" y="51"/>
                  <a:pt x="1811" y="136"/>
                </a:cubicBezTo>
                <a:cubicBezTo>
                  <a:pt x="1832" y="185"/>
                  <a:pt x="1830" y="217"/>
                  <a:pt x="1880" y="250"/>
                </a:cubicBezTo>
                <a:cubicBezTo>
                  <a:pt x="1895" y="245"/>
                  <a:pt x="1913" y="245"/>
                  <a:pt x="1925" y="235"/>
                </a:cubicBezTo>
                <a:cubicBezTo>
                  <a:pt x="1932" y="229"/>
                  <a:pt x="1934" y="218"/>
                  <a:pt x="1940" y="212"/>
                </a:cubicBezTo>
                <a:cubicBezTo>
                  <a:pt x="1946" y="206"/>
                  <a:pt x="1955" y="202"/>
                  <a:pt x="1963" y="197"/>
                </a:cubicBezTo>
                <a:cubicBezTo>
                  <a:pt x="1973" y="165"/>
                  <a:pt x="1978" y="137"/>
                  <a:pt x="2001" y="113"/>
                </a:cubicBezTo>
                <a:cubicBezTo>
                  <a:pt x="2021" y="50"/>
                  <a:pt x="1992" y="129"/>
                  <a:pt x="2024" y="76"/>
                </a:cubicBezTo>
                <a:cubicBezTo>
                  <a:pt x="2028" y="69"/>
                  <a:pt x="2025" y="59"/>
                  <a:pt x="2031" y="53"/>
                </a:cubicBezTo>
                <a:cubicBezTo>
                  <a:pt x="2033" y="51"/>
                  <a:pt x="2075" y="39"/>
                  <a:pt x="2077" y="38"/>
                </a:cubicBezTo>
                <a:cubicBezTo>
                  <a:pt x="2130" y="56"/>
                  <a:pt x="2107" y="48"/>
                  <a:pt x="2145" y="60"/>
                </a:cubicBezTo>
                <a:cubicBezTo>
                  <a:pt x="2153" y="65"/>
                  <a:pt x="2162" y="69"/>
                  <a:pt x="2168" y="76"/>
                </a:cubicBezTo>
                <a:cubicBezTo>
                  <a:pt x="2180" y="90"/>
                  <a:pt x="2198" y="121"/>
                  <a:pt x="2198" y="121"/>
                </a:cubicBezTo>
                <a:cubicBezTo>
                  <a:pt x="2204" y="141"/>
                  <a:pt x="2222" y="218"/>
                  <a:pt x="2236" y="235"/>
                </a:cubicBezTo>
                <a:cubicBezTo>
                  <a:pt x="2247" y="249"/>
                  <a:pt x="2265" y="252"/>
                  <a:pt x="2281" y="257"/>
                </a:cubicBezTo>
                <a:cubicBezTo>
                  <a:pt x="2303" y="254"/>
                  <a:pt x="2346" y="259"/>
                  <a:pt x="2365" y="235"/>
                </a:cubicBezTo>
                <a:cubicBezTo>
                  <a:pt x="2370" y="229"/>
                  <a:pt x="2368" y="219"/>
                  <a:pt x="2372" y="212"/>
                </a:cubicBezTo>
                <a:cubicBezTo>
                  <a:pt x="2381" y="196"/>
                  <a:pt x="2392" y="181"/>
                  <a:pt x="2402" y="166"/>
                </a:cubicBezTo>
                <a:cubicBezTo>
                  <a:pt x="2434" y="117"/>
                  <a:pt x="2417" y="65"/>
                  <a:pt x="2471" y="30"/>
                </a:cubicBezTo>
                <a:cubicBezTo>
                  <a:pt x="2504" y="36"/>
                  <a:pt x="2531" y="42"/>
                  <a:pt x="2562" y="53"/>
                </a:cubicBezTo>
                <a:cubicBezTo>
                  <a:pt x="2587" y="91"/>
                  <a:pt x="2618" y="132"/>
                  <a:pt x="2637" y="174"/>
                </a:cubicBezTo>
                <a:cubicBezTo>
                  <a:pt x="2656" y="216"/>
                  <a:pt x="2651" y="257"/>
                  <a:pt x="2698" y="273"/>
                </a:cubicBezTo>
                <a:cubicBezTo>
                  <a:pt x="2716" y="232"/>
                  <a:pt x="2737" y="193"/>
                  <a:pt x="2751" y="151"/>
                </a:cubicBezTo>
                <a:cubicBezTo>
                  <a:pt x="2769" y="98"/>
                  <a:pt x="2747" y="35"/>
                  <a:pt x="2812" y="15"/>
                </a:cubicBezTo>
                <a:cubicBezTo>
                  <a:pt x="2858" y="26"/>
                  <a:pt x="2877" y="36"/>
                  <a:pt x="2903" y="76"/>
                </a:cubicBezTo>
                <a:cubicBezTo>
                  <a:pt x="2923" y="136"/>
                  <a:pt x="2927" y="172"/>
                  <a:pt x="2963" y="227"/>
                </a:cubicBezTo>
                <a:cubicBezTo>
                  <a:pt x="2968" y="235"/>
                  <a:pt x="2970" y="245"/>
                  <a:pt x="2978" y="250"/>
                </a:cubicBezTo>
                <a:cubicBezTo>
                  <a:pt x="2993" y="260"/>
                  <a:pt x="3009" y="270"/>
                  <a:pt x="3024" y="280"/>
                </a:cubicBezTo>
                <a:cubicBezTo>
                  <a:pt x="3032" y="285"/>
                  <a:pt x="3047" y="295"/>
                  <a:pt x="3047" y="295"/>
                </a:cubicBezTo>
                <a:cubicBezTo>
                  <a:pt x="3081" y="284"/>
                  <a:pt x="3077" y="278"/>
                  <a:pt x="3092" y="250"/>
                </a:cubicBezTo>
                <a:cubicBezTo>
                  <a:pt x="3101" y="234"/>
                  <a:pt x="3116" y="221"/>
                  <a:pt x="3122" y="204"/>
                </a:cubicBezTo>
                <a:cubicBezTo>
                  <a:pt x="3135" y="166"/>
                  <a:pt x="3147" y="129"/>
                  <a:pt x="3160" y="91"/>
                </a:cubicBezTo>
                <a:cubicBezTo>
                  <a:pt x="3163" y="83"/>
                  <a:pt x="3161" y="72"/>
                  <a:pt x="3168" y="68"/>
                </a:cubicBezTo>
                <a:cubicBezTo>
                  <a:pt x="3198" y="49"/>
                  <a:pt x="3182" y="56"/>
                  <a:pt x="3213" y="45"/>
                </a:cubicBezTo>
                <a:cubicBezTo>
                  <a:pt x="3228" y="50"/>
                  <a:pt x="3245" y="52"/>
                  <a:pt x="3259" y="60"/>
                </a:cubicBezTo>
                <a:cubicBezTo>
                  <a:pt x="3275" y="69"/>
                  <a:pt x="3291" y="79"/>
                  <a:pt x="3304" y="91"/>
                </a:cubicBezTo>
                <a:cubicBezTo>
                  <a:pt x="3309" y="96"/>
                  <a:pt x="3314" y="102"/>
                  <a:pt x="3320" y="106"/>
                </a:cubicBezTo>
                <a:cubicBezTo>
                  <a:pt x="3361" y="130"/>
                  <a:pt x="3329" y="100"/>
                  <a:pt x="3350" y="121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1620" name="Oval 6"/>
          <p:cNvSpPr>
            <a:spLocks noChangeArrowheads="1"/>
          </p:cNvSpPr>
          <p:nvPr/>
        </p:nvSpPr>
        <p:spPr bwMode="auto">
          <a:xfrm>
            <a:off x="3719514" y="2924176"/>
            <a:ext cx="503237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1" name="Oval 7"/>
          <p:cNvSpPr>
            <a:spLocks noChangeArrowheads="1"/>
          </p:cNvSpPr>
          <p:nvPr/>
        </p:nvSpPr>
        <p:spPr bwMode="auto">
          <a:xfrm>
            <a:off x="3792539" y="2781301"/>
            <a:ext cx="287337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2" name="Oval 8"/>
          <p:cNvSpPr>
            <a:spLocks noChangeArrowheads="1"/>
          </p:cNvSpPr>
          <p:nvPr/>
        </p:nvSpPr>
        <p:spPr bwMode="auto">
          <a:xfrm>
            <a:off x="4295775" y="2924176"/>
            <a:ext cx="503238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3" name="Oval 9"/>
          <p:cNvSpPr>
            <a:spLocks noChangeArrowheads="1"/>
          </p:cNvSpPr>
          <p:nvPr/>
        </p:nvSpPr>
        <p:spPr bwMode="auto">
          <a:xfrm>
            <a:off x="4368800" y="2779714"/>
            <a:ext cx="287338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4" name="Oval 10"/>
          <p:cNvSpPr>
            <a:spLocks noChangeArrowheads="1"/>
          </p:cNvSpPr>
          <p:nvPr/>
        </p:nvSpPr>
        <p:spPr bwMode="auto">
          <a:xfrm>
            <a:off x="5014914" y="2925764"/>
            <a:ext cx="503237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5" name="Oval 11"/>
          <p:cNvSpPr>
            <a:spLocks noChangeArrowheads="1"/>
          </p:cNvSpPr>
          <p:nvPr/>
        </p:nvSpPr>
        <p:spPr bwMode="auto">
          <a:xfrm>
            <a:off x="5087939" y="2781301"/>
            <a:ext cx="287337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6" name="Oval 12"/>
          <p:cNvSpPr>
            <a:spLocks noChangeArrowheads="1"/>
          </p:cNvSpPr>
          <p:nvPr/>
        </p:nvSpPr>
        <p:spPr bwMode="auto">
          <a:xfrm>
            <a:off x="5662614" y="2925764"/>
            <a:ext cx="503237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7" name="Oval 13"/>
          <p:cNvSpPr>
            <a:spLocks noChangeArrowheads="1"/>
          </p:cNvSpPr>
          <p:nvPr/>
        </p:nvSpPr>
        <p:spPr bwMode="auto">
          <a:xfrm>
            <a:off x="5735639" y="2781301"/>
            <a:ext cx="287337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8" name="Rectangle 14"/>
          <p:cNvSpPr>
            <a:spLocks noChangeArrowheads="1"/>
          </p:cNvSpPr>
          <p:nvPr/>
        </p:nvSpPr>
        <p:spPr bwMode="auto">
          <a:xfrm>
            <a:off x="6672263" y="3789363"/>
            <a:ext cx="431800" cy="360362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29" name="Rectangle 15"/>
          <p:cNvSpPr>
            <a:spLocks noChangeArrowheads="1"/>
          </p:cNvSpPr>
          <p:nvPr/>
        </p:nvSpPr>
        <p:spPr bwMode="auto">
          <a:xfrm>
            <a:off x="6959600" y="4221163"/>
            <a:ext cx="431800" cy="360362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0" name="Rectangle 16"/>
          <p:cNvSpPr>
            <a:spLocks noChangeArrowheads="1"/>
          </p:cNvSpPr>
          <p:nvPr/>
        </p:nvSpPr>
        <p:spPr bwMode="auto">
          <a:xfrm>
            <a:off x="6383338" y="4221163"/>
            <a:ext cx="431800" cy="360362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1" name="Rectangle 17"/>
          <p:cNvSpPr>
            <a:spLocks noChangeArrowheads="1"/>
          </p:cNvSpPr>
          <p:nvPr/>
        </p:nvSpPr>
        <p:spPr bwMode="auto">
          <a:xfrm>
            <a:off x="6096000" y="4652963"/>
            <a:ext cx="431800" cy="360362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2" name="Rectangle 18"/>
          <p:cNvSpPr>
            <a:spLocks noChangeArrowheads="1"/>
          </p:cNvSpPr>
          <p:nvPr/>
        </p:nvSpPr>
        <p:spPr bwMode="auto">
          <a:xfrm>
            <a:off x="6672263" y="4652963"/>
            <a:ext cx="431800" cy="360362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3" name="Rectangle 19"/>
          <p:cNvSpPr>
            <a:spLocks noChangeArrowheads="1"/>
          </p:cNvSpPr>
          <p:nvPr/>
        </p:nvSpPr>
        <p:spPr bwMode="auto">
          <a:xfrm>
            <a:off x="7248525" y="4652963"/>
            <a:ext cx="431800" cy="360362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4" name="Text Box 20"/>
          <p:cNvSpPr txBox="1">
            <a:spLocks noChangeArrowheads="1"/>
          </p:cNvSpPr>
          <p:nvPr/>
        </p:nvSpPr>
        <p:spPr bwMode="auto">
          <a:xfrm>
            <a:off x="6527800" y="5229226"/>
            <a:ext cx="27368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Protéines virales</a:t>
            </a:r>
          </a:p>
        </p:txBody>
      </p:sp>
      <p:sp>
        <p:nvSpPr>
          <p:cNvPr id="111635" name="Oval 21"/>
          <p:cNvSpPr>
            <a:spLocks noChangeArrowheads="1"/>
          </p:cNvSpPr>
          <p:nvPr/>
        </p:nvSpPr>
        <p:spPr bwMode="auto">
          <a:xfrm>
            <a:off x="8328025" y="3716338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6" name="Oval 22"/>
          <p:cNvSpPr>
            <a:spLocks noChangeArrowheads="1"/>
          </p:cNvSpPr>
          <p:nvPr/>
        </p:nvSpPr>
        <p:spPr bwMode="auto">
          <a:xfrm>
            <a:off x="9048750" y="4581525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7" name="Oval 23"/>
          <p:cNvSpPr>
            <a:spLocks noChangeArrowheads="1"/>
          </p:cNvSpPr>
          <p:nvPr/>
        </p:nvSpPr>
        <p:spPr bwMode="auto">
          <a:xfrm>
            <a:off x="8472489" y="4581525"/>
            <a:ext cx="503237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8" name="Oval 24"/>
          <p:cNvSpPr>
            <a:spLocks noChangeArrowheads="1"/>
          </p:cNvSpPr>
          <p:nvPr/>
        </p:nvSpPr>
        <p:spPr bwMode="auto">
          <a:xfrm>
            <a:off x="7896225" y="4581525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39" name="Oval 25"/>
          <p:cNvSpPr>
            <a:spLocks noChangeArrowheads="1"/>
          </p:cNvSpPr>
          <p:nvPr/>
        </p:nvSpPr>
        <p:spPr bwMode="auto">
          <a:xfrm>
            <a:off x="8112125" y="4149725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40" name="Oval 26"/>
          <p:cNvSpPr>
            <a:spLocks noChangeArrowheads="1"/>
          </p:cNvSpPr>
          <p:nvPr/>
        </p:nvSpPr>
        <p:spPr bwMode="auto">
          <a:xfrm>
            <a:off x="8688389" y="4149725"/>
            <a:ext cx="503237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1641" name="Line 27"/>
          <p:cNvSpPr>
            <a:spLocks noChangeShapeType="1"/>
          </p:cNvSpPr>
          <p:nvPr/>
        </p:nvSpPr>
        <p:spPr bwMode="auto">
          <a:xfrm>
            <a:off x="2782888" y="2636838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1642" name="Text Box 28"/>
          <p:cNvSpPr txBox="1">
            <a:spLocks noChangeArrowheads="1"/>
          </p:cNvSpPr>
          <p:nvPr/>
        </p:nvSpPr>
        <p:spPr bwMode="auto">
          <a:xfrm>
            <a:off x="1703389" y="2349500"/>
            <a:ext cx="12969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ARN +</a:t>
            </a:r>
          </a:p>
        </p:txBody>
      </p:sp>
      <p:sp>
        <p:nvSpPr>
          <p:cNvPr id="111643" name="Line 29"/>
          <p:cNvSpPr>
            <a:spLocks noChangeShapeType="1"/>
          </p:cNvSpPr>
          <p:nvPr/>
        </p:nvSpPr>
        <p:spPr bwMode="auto">
          <a:xfrm flipV="1">
            <a:off x="3503614" y="3284539"/>
            <a:ext cx="288925" cy="720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1644" name="Text Box 31"/>
          <p:cNvSpPr txBox="1">
            <a:spLocks noChangeArrowheads="1"/>
          </p:cNvSpPr>
          <p:nvPr/>
        </p:nvSpPr>
        <p:spPr bwMode="auto">
          <a:xfrm>
            <a:off x="1703388" y="3860800"/>
            <a:ext cx="1835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Ribosomes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8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12096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fr-FR" sz="4000" b="1"/>
              <a:t>Réplication du virus de la </a:t>
            </a:r>
            <a:r>
              <a:rPr lang="fr-FR" sz="4000" b="1">
                <a:solidFill>
                  <a:srgbClr val="FF0000"/>
                </a:solidFill>
              </a:rPr>
              <a:t>poliomyélite</a:t>
            </a:r>
          </a:p>
        </p:txBody>
      </p:sp>
      <p:sp>
        <p:nvSpPr>
          <p:cNvPr id="112643" name="AutoShape 4"/>
          <p:cNvSpPr>
            <a:spLocks noChangeArrowheads="1"/>
          </p:cNvSpPr>
          <p:nvPr/>
        </p:nvSpPr>
        <p:spPr bwMode="auto">
          <a:xfrm>
            <a:off x="3863976" y="1700213"/>
            <a:ext cx="6335713" cy="41767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44" name="AutoShape 5"/>
          <p:cNvSpPr>
            <a:spLocks noChangeArrowheads="1"/>
          </p:cNvSpPr>
          <p:nvPr/>
        </p:nvSpPr>
        <p:spPr bwMode="auto">
          <a:xfrm rot="-5400000">
            <a:off x="2290763" y="4138613"/>
            <a:ext cx="1057275" cy="647700"/>
          </a:xfrm>
          <a:prstGeom prst="hexagon">
            <a:avLst>
              <a:gd name="adj" fmla="val 40809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45" name="Freeform 6"/>
          <p:cNvSpPr>
            <a:spLocks/>
          </p:cNvSpPr>
          <p:nvPr/>
        </p:nvSpPr>
        <p:spPr bwMode="auto">
          <a:xfrm>
            <a:off x="2667001" y="4175125"/>
            <a:ext cx="180975" cy="554038"/>
          </a:xfrm>
          <a:custGeom>
            <a:avLst/>
            <a:gdLst>
              <a:gd name="T0" fmla="*/ 53 w 114"/>
              <a:gd name="T1" fmla="*/ 0 h 349"/>
              <a:gd name="T2" fmla="*/ 30 w 114"/>
              <a:gd name="T3" fmla="*/ 76 h 349"/>
              <a:gd name="T4" fmla="*/ 61 w 114"/>
              <a:gd name="T5" fmla="*/ 83 h 349"/>
              <a:gd name="T6" fmla="*/ 114 w 114"/>
              <a:gd name="T7" fmla="*/ 106 h 349"/>
              <a:gd name="T8" fmla="*/ 38 w 114"/>
              <a:gd name="T9" fmla="*/ 136 h 349"/>
              <a:gd name="T10" fmla="*/ 15 w 114"/>
              <a:gd name="T11" fmla="*/ 151 h 349"/>
              <a:gd name="T12" fmla="*/ 99 w 114"/>
              <a:gd name="T13" fmla="*/ 197 h 349"/>
              <a:gd name="T14" fmla="*/ 114 w 114"/>
              <a:gd name="T15" fmla="*/ 220 h 349"/>
              <a:gd name="T16" fmla="*/ 61 w 114"/>
              <a:gd name="T17" fmla="*/ 265 h 349"/>
              <a:gd name="T18" fmla="*/ 45 w 114"/>
              <a:gd name="T19" fmla="*/ 280 h 349"/>
              <a:gd name="T20" fmla="*/ 23 w 114"/>
              <a:gd name="T21" fmla="*/ 288 h 349"/>
              <a:gd name="T22" fmla="*/ 99 w 114"/>
              <a:gd name="T23" fmla="*/ 333 h 349"/>
              <a:gd name="T24" fmla="*/ 83 w 114"/>
              <a:gd name="T25" fmla="*/ 349 h 3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4"/>
              <a:gd name="T40" fmla="*/ 0 h 349"/>
              <a:gd name="T41" fmla="*/ 114 w 114"/>
              <a:gd name="T42" fmla="*/ 349 h 34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4" h="349">
                <a:moveTo>
                  <a:pt x="53" y="0"/>
                </a:moveTo>
                <a:cubicBezTo>
                  <a:pt x="30" y="15"/>
                  <a:pt x="4" y="45"/>
                  <a:pt x="30" y="76"/>
                </a:cubicBezTo>
                <a:cubicBezTo>
                  <a:pt x="37" y="84"/>
                  <a:pt x="51" y="81"/>
                  <a:pt x="61" y="83"/>
                </a:cubicBezTo>
                <a:cubicBezTo>
                  <a:pt x="92" y="73"/>
                  <a:pt x="103" y="74"/>
                  <a:pt x="114" y="106"/>
                </a:cubicBezTo>
                <a:cubicBezTo>
                  <a:pt x="89" y="122"/>
                  <a:pt x="66" y="127"/>
                  <a:pt x="38" y="136"/>
                </a:cubicBezTo>
                <a:cubicBezTo>
                  <a:pt x="30" y="141"/>
                  <a:pt x="18" y="142"/>
                  <a:pt x="15" y="151"/>
                </a:cubicBezTo>
                <a:cubicBezTo>
                  <a:pt x="0" y="198"/>
                  <a:pt x="82" y="194"/>
                  <a:pt x="99" y="197"/>
                </a:cubicBezTo>
                <a:cubicBezTo>
                  <a:pt x="104" y="205"/>
                  <a:pt x="114" y="211"/>
                  <a:pt x="114" y="220"/>
                </a:cubicBezTo>
                <a:cubicBezTo>
                  <a:pt x="114" y="243"/>
                  <a:pt x="77" y="260"/>
                  <a:pt x="61" y="265"/>
                </a:cubicBezTo>
                <a:cubicBezTo>
                  <a:pt x="56" y="270"/>
                  <a:pt x="51" y="276"/>
                  <a:pt x="45" y="280"/>
                </a:cubicBezTo>
                <a:cubicBezTo>
                  <a:pt x="38" y="284"/>
                  <a:pt x="26" y="281"/>
                  <a:pt x="23" y="288"/>
                </a:cubicBezTo>
                <a:cubicBezTo>
                  <a:pt x="5" y="326"/>
                  <a:pt x="92" y="332"/>
                  <a:pt x="99" y="333"/>
                </a:cubicBezTo>
                <a:cubicBezTo>
                  <a:pt x="94" y="338"/>
                  <a:pt x="83" y="349"/>
                  <a:pt x="83" y="34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46" name="AutoShape 8"/>
          <p:cNvSpPr>
            <a:spLocks noChangeArrowheads="1"/>
          </p:cNvSpPr>
          <p:nvPr/>
        </p:nvSpPr>
        <p:spPr bwMode="auto">
          <a:xfrm rot="-5400000">
            <a:off x="4848225" y="2733675"/>
            <a:ext cx="984250" cy="647700"/>
          </a:xfrm>
          <a:prstGeom prst="hexagon">
            <a:avLst>
              <a:gd name="adj" fmla="val 37990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47" name="Freeform 9"/>
          <p:cNvSpPr>
            <a:spLocks/>
          </p:cNvSpPr>
          <p:nvPr/>
        </p:nvSpPr>
        <p:spPr bwMode="auto">
          <a:xfrm>
            <a:off x="5160964" y="2781300"/>
            <a:ext cx="180975" cy="515938"/>
          </a:xfrm>
          <a:custGeom>
            <a:avLst/>
            <a:gdLst>
              <a:gd name="T0" fmla="*/ 53 w 114"/>
              <a:gd name="T1" fmla="*/ 0 h 349"/>
              <a:gd name="T2" fmla="*/ 30 w 114"/>
              <a:gd name="T3" fmla="*/ 76 h 349"/>
              <a:gd name="T4" fmla="*/ 61 w 114"/>
              <a:gd name="T5" fmla="*/ 83 h 349"/>
              <a:gd name="T6" fmla="*/ 114 w 114"/>
              <a:gd name="T7" fmla="*/ 106 h 349"/>
              <a:gd name="T8" fmla="*/ 38 w 114"/>
              <a:gd name="T9" fmla="*/ 136 h 349"/>
              <a:gd name="T10" fmla="*/ 15 w 114"/>
              <a:gd name="T11" fmla="*/ 151 h 349"/>
              <a:gd name="T12" fmla="*/ 99 w 114"/>
              <a:gd name="T13" fmla="*/ 197 h 349"/>
              <a:gd name="T14" fmla="*/ 114 w 114"/>
              <a:gd name="T15" fmla="*/ 220 h 349"/>
              <a:gd name="T16" fmla="*/ 61 w 114"/>
              <a:gd name="T17" fmla="*/ 265 h 349"/>
              <a:gd name="T18" fmla="*/ 45 w 114"/>
              <a:gd name="T19" fmla="*/ 280 h 349"/>
              <a:gd name="T20" fmla="*/ 23 w 114"/>
              <a:gd name="T21" fmla="*/ 288 h 349"/>
              <a:gd name="T22" fmla="*/ 99 w 114"/>
              <a:gd name="T23" fmla="*/ 333 h 349"/>
              <a:gd name="T24" fmla="*/ 83 w 114"/>
              <a:gd name="T25" fmla="*/ 349 h 3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4"/>
              <a:gd name="T40" fmla="*/ 0 h 349"/>
              <a:gd name="T41" fmla="*/ 114 w 114"/>
              <a:gd name="T42" fmla="*/ 349 h 34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4" h="349">
                <a:moveTo>
                  <a:pt x="53" y="0"/>
                </a:moveTo>
                <a:cubicBezTo>
                  <a:pt x="30" y="15"/>
                  <a:pt x="4" y="45"/>
                  <a:pt x="30" y="76"/>
                </a:cubicBezTo>
                <a:cubicBezTo>
                  <a:pt x="37" y="84"/>
                  <a:pt x="51" y="81"/>
                  <a:pt x="61" y="83"/>
                </a:cubicBezTo>
                <a:cubicBezTo>
                  <a:pt x="92" y="73"/>
                  <a:pt x="103" y="74"/>
                  <a:pt x="114" y="106"/>
                </a:cubicBezTo>
                <a:cubicBezTo>
                  <a:pt x="89" y="122"/>
                  <a:pt x="66" y="127"/>
                  <a:pt x="38" y="136"/>
                </a:cubicBezTo>
                <a:cubicBezTo>
                  <a:pt x="30" y="141"/>
                  <a:pt x="18" y="142"/>
                  <a:pt x="15" y="151"/>
                </a:cubicBezTo>
                <a:cubicBezTo>
                  <a:pt x="0" y="198"/>
                  <a:pt x="82" y="194"/>
                  <a:pt x="99" y="197"/>
                </a:cubicBezTo>
                <a:cubicBezTo>
                  <a:pt x="104" y="205"/>
                  <a:pt x="114" y="211"/>
                  <a:pt x="114" y="220"/>
                </a:cubicBezTo>
                <a:cubicBezTo>
                  <a:pt x="114" y="243"/>
                  <a:pt x="77" y="260"/>
                  <a:pt x="61" y="265"/>
                </a:cubicBezTo>
                <a:cubicBezTo>
                  <a:pt x="56" y="270"/>
                  <a:pt x="51" y="276"/>
                  <a:pt x="45" y="280"/>
                </a:cubicBezTo>
                <a:cubicBezTo>
                  <a:pt x="38" y="284"/>
                  <a:pt x="26" y="281"/>
                  <a:pt x="23" y="288"/>
                </a:cubicBezTo>
                <a:cubicBezTo>
                  <a:pt x="5" y="326"/>
                  <a:pt x="92" y="332"/>
                  <a:pt x="99" y="333"/>
                </a:cubicBezTo>
                <a:cubicBezTo>
                  <a:pt x="94" y="338"/>
                  <a:pt x="83" y="349"/>
                  <a:pt x="83" y="34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48" name="Oval 10"/>
          <p:cNvSpPr>
            <a:spLocks noChangeArrowheads="1"/>
          </p:cNvSpPr>
          <p:nvPr/>
        </p:nvSpPr>
        <p:spPr bwMode="auto">
          <a:xfrm>
            <a:off x="3719514" y="3357564"/>
            <a:ext cx="936625" cy="11525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49" name="Rectangle 11"/>
          <p:cNvSpPr>
            <a:spLocks noChangeArrowheads="1"/>
          </p:cNvSpPr>
          <p:nvPr/>
        </p:nvSpPr>
        <p:spPr bwMode="auto">
          <a:xfrm>
            <a:off x="3719513" y="3500439"/>
            <a:ext cx="215900" cy="8651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50" name="AutoShape 12"/>
          <p:cNvSpPr>
            <a:spLocks noChangeArrowheads="1"/>
          </p:cNvSpPr>
          <p:nvPr/>
        </p:nvSpPr>
        <p:spPr bwMode="auto">
          <a:xfrm rot="-5400000">
            <a:off x="3695700" y="3597275"/>
            <a:ext cx="984250" cy="647700"/>
          </a:xfrm>
          <a:prstGeom prst="hexagon">
            <a:avLst>
              <a:gd name="adj" fmla="val 37990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51" name="Freeform 13"/>
          <p:cNvSpPr>
            <a:spLocks/>
          </p:cNvSpPr>
          <p:nvPr/>
        </p:nvSpPr>
        <p:spPr bwMode="auto">
          <a:xfrm>
            <a:off x="4008439" y="3644900"/>
            <a:ext cx="180975" cy="515938"/>
          </a:xfrm>
          <a:custGeom>
            <a:avLst/>
            <a:gdLst>
              <a:gd name="T0" fmla="*/ 53 w 114"/>
              <a:gd name="T1" fmla="*/ 0 h 349"/>
              <a:gd name="T2" fmla="*/ 30 w 114"/>
              <a:gd name="T3" fmla="*/ 76 h 349"/>
              <a:gd name="T4" fmla="*/ 61 w 114"/>
              <a:gd name="T5" fmla="*/ 83 h 349"/>
              <a:gd name="T6" fmla="*/ 114 w 114"/>
              <a:gd name="T7" fmla="*/ 106 h 349"/>
              <a:gd name="T8" fmla="*/ 38 w 114"/>
              <a:gd name="T9" fmla="*/ 136 h 349"/>
              <a:gd name="T10" fmla="*/ 15 w 114"/>
              <a:gd name="T11" fmla="*/ 151 h 349"/>
              <a:gd name="T12" fmla="*/ 99 w 114"/>
              <a:gd name="T13" fmla="*/ 197 h 349"/>
              <a:gd name="T14" fmla="*/ 114 w 114"/>
              <a:gd name="T15" fmla="*/ 220 h 349"/>
              <a:gd name="T16" fmla="*/ 61 w 114"/>
              <a:gd name="T17" fmla="*/ 265 h 349"/>
              <a:gd name="T18" fmla="*/ 45 w 114"/>
              <a:gd name="T19" fmla="*/ 280 h 349"/>
              <a:gd name="T20" fmla="*/ 23 w 114"/>
              <a:gd name="T21" fmla="*/ 288 h 349"/>
              <a:gd name="T22" fmla="*/ 99 w 114"/>
              <a:gd name="T23" fmla="*/ 333 h 349"/>
              <a:gd name="T24" fmla="*/ 83 w 114"/>
              <a:gd name="T25" fmla="*/ 349 h 3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4"/>
              <a:gd name="T40" fmla="*/ 0 h 349"/>
              <a:gd name="T41" fmla="*/ 114 w 114"/>
              <a:gd name="T42" fmla="*/ 349 h 34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4" h="349">
                <a:moveTo>
                  <a:pt x="53" y="0"/>
                </a:moveTo>
                <a:cubicBezTo>
                  <a:pt x="30" y="15"/>
                  <a:pt x="4" y="45"/>
                  <a:pt x="30" y="76"/>
                </a:cubicBezTo>
                <a:cubicBezTo>
                  <a:pt x="37" y="84"/>
                  <a:pt x="51" y="81"/>
                  <a:pt x="61" y="83"/>
                </a:cubicBezTo>
                <a:cubicBezTo>
                  <a:pt x="92" y="73"/>
                  <a:pt x="103" y="74"/>
                  <a:pt x="114" y="106"/>
                </a:cubicBezTo>
                <a:cubicBezTo>
                  <a:pt x="89" y="122"/>
                  <a:pt x="66" y="127"/>
                  <a:pt x="38" y="136"/>
                </a:cubicBezTo>
                <a:cubicBezTo>
                  <a:pt x="30" y="141"/>
                  <a:pt x="18" y="142"/>
                  <a:pt x="15" y="151"/>
                </a:cubicBezTo>
                <a:cubicBezTo>
                  <a:pt x="0" y="198"/>
                  <a:pt x="82" y="194"/>
                  <a:pt x="99" y="197"/>
                </a:cubicBezTo>
                <a:cubicBezTo>
                  <a:pt x="104" y="205"/>
                  <a:pt x="114" y="211"/>
                  <a:pt x="114" y="220"/>
                </a:cubicBezTo>
                <a:cubicBezTo>
                  <a:pt x="114" y="243"/>
                  <a:pt x="77" y="260"/>
                  <a:pt x="61" y="265"/>
                </a:cubicBezTo>
                <a:cubicBezTo>
                  <a:pt x="56" y="270"/>
                  <a:pt x="51" y="276"/>
                  <a:pt x="45" y="280"/>
                </a:cubicBezTo>
                <a:cubicBezTo>
                  <a:pt x="38" y="284"/>
                  <a:pt x="26" y="281"/>
                  <a:pt x="23" y="288"/>
                </a:cubicBezTo>
                <a:cubicBezTo>
                  <a:pt x="5" y="326"/>
                  <a:pt x="92" y="332"/>
                  <a:pt x="99" y="333"/>
                </a:cubicBezTo>
                <a:cubicBezTo>
                  <a:pt x="94" y="338"/>
                  <a:pt x="83" y="349"/>
                  <a:pt x="83" y="34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52" name="Oval 14"/>
          <p:cNvSpPr>
            <a:spLocks noChangeArrowheads="1"/>
          </p:cNvSpPr>
          <p:nvPr/>
        </p:nvSpPr>
        <p:spPr bwMode="auto">
          <a:xfrm>
            <a:off x="6096001" y="2997201"/>
            <a:ext cx="1152525" cy="11525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53" name="Line 15"/>
          <p:cNvSpPr>
            <a:spLocks noChangeShapeType="1"/>
          </p:cNvSpPr>
          <p:nvPr/>
        </p:nvSpPr>
        <p:spPr bwMode="auto">
          <a:xfrm>
            <a:off x="6672263" y="2852739"/>
            <a:ext cx="0" cy="1728787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54" name="Line 16"/>
          <p:cNvSpPr>
            <a:spLocks noChangeShapeType="1"/>
          </p:cNvSpPr>
          <p:nvPr/>
        </p:nvSpPr>
        <p:spPr bwMode="auto">
          <a:xfrm>
            <a:off x="5808663" y="3500438"/>
            <a:ext cx="1655762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55" name="Line 17"/>
          <p:cNvSpPr>
            <a:spLocks noChangeShapeType="1"/>
          </p:cNvSpPr>
          <p:nvPr/>
        </p:nvSpPr>
        <p:spPr bwMode="auto">
          <a:xfrm flipH="1">
            <a:off x="6096001" y="2852738"/>
            <a:ext cx="1223963" cy="1223962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56" name="Line 18"/>
          <p:cNvSpPr>
            <a:spLocks noChangeShapeType="1"/>
          </p:cNvSpPr>
          <p:nvPr/>
        </p:nvSpPr>
        <p:spPr bwMode="auto">
          <a:xfrm>
            <a:off x="6167438" y="2997201"/>
            <a:ext cx="1008062" cy="1152525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57" name="Text Box 19"/>
          <p:cNvSpPr txBox="1">
            <a:spLocks noChangeArrowheads="1"/>
          </p:cNvSpPr>
          <p:nvPr/>
        </p:nvSpPr>
        <p:spPr bwMode="auto">
          <a:xfrm>
            <a:off x="6240463" y="3357564"/>
            <a:ext cx="863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/>
              <a:t>noyau</a:t>
            </a:r>
          </a:p>
        </p:txBody>
      </p:sp>
      <p:sp>
        <p:nvSpPr>
          <p:cNvPr id="112658" name="Rectangle 20"/>
          <p:cNvSpPr>
            <a:spLocks noChangeArrowheads="1"/>
          </p:cNvSpPr>
          <p:nvPr/>
        </p:nvSpPr>
        <p:spPr bwMode="auto">
          <a:xfrm>
            <a:off x="4079875" y="2060576"/>
            <a:ext cx="215900" cy="144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59" name="Rectangle 21"/>
          <p:cNvSpPr>
            <a:spLocks noChangeArrowheads="1"/>
          </p:cNvSpPr>
          <p:nvPr/>
        </p:nvSpPr>
        <p:spPr bwMode="auto">
          <a:xfrm>
            <a:off x="4079875" y="2276476"/>
            <a:ext cx="215900" cy="144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0" name="Rectangle 22"/>
          <p:cNvSpPr>
            <a:spLocks noChangeArrowheads="1"/>
          </p:cNvSpPr>
          <p:nvPr/>
        </p:nvSpPr>
        <p:spPr bwMode="auto">
          <a:xfrm>
            <a:off x="4440238" y="2060576"/>
            <a:ext cx="215900" cy="144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1" name="Rectangle 23"/>
          <p:cNvSpPr>
            <a:spLocks noChangeArrowheads="1"/>
          </p:cNvSpPr>
          <p:nvPr/>
        </p:nvSpPr>
        <p:spPr bwMode="auto">
          <a:xfrm>
            <a:off x="4440238" y="2349501"/>
            <a:ext cx="215900" cy="144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2" name="Rectangle 24"/>
          <p:cNvSpPr>
            <a:spLocks noChangeArrowheads="1"/>
          </p:cNvSpPr>
          <p:nvPr/>
        </p:nvSpPr>
        <p:spPr bwMode="auto">
          <a:xfrm>
            <a:off x="4224338" y="2565401"/>
            <a:ext cx="215900" cy="144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3" name="Freeform 29"/>
          <p:cNvSpPr>
            <a:spLocks/>
          </p:cNvSpPr>
          <p:nvPr/>
        </p:nvSpPr>
        <p:spPr bwMode="auto">
          <a:xfrm>
            <a:off x="4943476" y="4652963"/>
            <a:ext cx="1031875" cy="228600"/>
          </a:xfrm>
          <a:custGeom>
            <a:avLst/>
            <a:gdLst>
              <a:gd name="T0" fmla="*/ 21 w 650"/>
              <a:gd name="T1" fmla="*/ 60 h 144"/>
              <a:gd name="T2" fmla="*/ 43 w 650"/>
              <a:gd name="T3" fmla="*/ 7 h 144"/>
              <a:gd name="T4" fmla="*/ 81 w 650"/>
              <a:gd name="T5" fmla="*/ 38 h 144"/>
              <a:gd name="T6" fmla="*/ 97 w 650"/>
              <a:gd name="T7" fmla="*/ 83 h 144"/>
              <a:gd name="T8" fmla="*/ 150 w 650"/>
              <a:gd name="T9" fmla="*/ 0 h 144"/>
              <a:gd name="T10" fmla="*/ 180 w 650"/>
              <a:gd name="T11" fmla="*/ 7 h 144"/>
              <a:gd name="T12" fmla="*/ 210 w 650"/>
              <a:gd name="T13" fmla="*/ 91 h 144"/>
              <a:gd name="T14" fmla="*/ 256 w 650"/>
              <a:gd name="T15" fmla="*/ 68 h 144"/>
              <a:gd name="T16" fmla="*/ 286 w 650"/>
              <a:gd name="T17" fmla="*/ 30 h 144"/>
              <a:gd name="T18" fmla="*/ 347 w 650"/>
              <a:gd name="T19" fmla="*/ 106 h 144"/>
              <a:gd name="T20" fmla="*/ 415 w 650"/>
              <a:gd name="T21" fmla="*/ 30 h 144"/>
              <a:gd name="T22" fmla="*/ 438 w 650"/>
              <a:gd name="T23" fmla="*/ 53 h 144"/>
              <a:gd name="T24" fmla="*/ 445 w 650"/>
              <a:gd name="T25" fmla="*/ 83 h 144"/>
              <a:gd name="T26" fmla="*/ 491 w 650"/>
              <a:gd name="T27" fmla="*/ 106 h 144"/>
              <a:gd name="T28" fmla="*/ 521 w 650"/>
              <a:gd name="T29" fmla="*/ 98 h 144"/>
              <a:gd name="T30" fmla="*/ 529 w 650"/>
              <a:gd name="T31" fmla="*/ 75 h 144"/>
              <a:gd name="T32" fmla="*/ 551 w 650"/>
              <a:gd name="T33" fmla="*/ 68 h 144"/>
              <a:gd name="T34" fmla="*/ 612 w 650"/>
              <a:gd name="T35" fmla="*/ 144 h 144"/>
              <a:gd name="T36" fmla="*/ 650 w 650"/>
              <a:gd name="T37" fmla="*/ 136 h 144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50"/>
              <a:gd name="T58" fmla="*/ 0 h 144"/>
              <a:gd name="T59" fmla="*/ 650 w 650"/>
              <a:gd name="T60" fmla="*/ 144 h 144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50" h="144">
                <a:moveTo>
                  <a:pt x="21" y="60"/>
                </a:moveTo>
                <a:cubicBezTo>
                  <a:pt x="35" y="15"/>
                  <a:pt x="0" y="23"/>
                  <a:pt x="43" y="7"/>
                </a:cubicBezTo>
                <a:cubicBezTo>
                  <a:pt x="54" y="14"/>
                  <a:pt x="74" y="25"/>
                  <a:pt x="81" y="38"/>
                </a:cubicBezTo>
                <a:cubicBezTo>
                  <a:pt x="88" y="52"/>
                  <a:pt x="97" y="83"/>
                  <a:pt x="97" y="83"/>
                </a:cubicBezTo>
                <a:cubicBezTo>
                  <a:pt x="132" y="59"/>
                  <a:pt x="126" y="33"/>
                  <a:pt x="150" y="0"/>
                </a:cubicBezTo>
                <a:cubicBezTo>
                  <a:pt x="160" y="2"/>
                  <a:pt x="172" y="1"/>
                  <a:pt x="180" y="7"/>
                </a:cubicBezTo>
                <a:cubicBezTo>
                  <a:pt x="184" y="10"/>
                  <a:pt x="198" y="73"/>
                  <a:pt x="210" y="91"/>
                </a:cubicBezTo>
                <a:cubicBezTo>
                  <a:pt x="224" y="86"/>
                  <a:pt x="246" y="81"/>
                  <a:pt x="256" y="68"/>
                </a:cubicBezTo>
                <a:cubicBezTo>
                  <a:pt x="297" y="16"/>
                  <a:pt x="220" y="73"/>
                  <a:pt x="286" y="30"/>
                </a:cubicBezTo>
                <a:cubicBezTo>
                  <a:pt x="338" y="48"/>
                  <a:pt x="298" y="74"/>
                  <a:pt x="347" y="106"/>
                </a:cubicBezTo>
                <a:cubicBezTo>
                  <a:pt x="379" y="84"/>
                  <a:pt x="381" y="52"/>
                  <a:pt x="415" y="30"/>
                </a:cubicBezTo>
                <a:cubicBezTo>
                  <a:pt x="423" y="38"/>
                  <a:pt x="433" y="44"/>
                  <a:pt x="438" y="53"/>
                </a:cubicBezTo>
                <a:cubicBezTo>
                  <a:pt x="443" y="62"/>
                  <a:pt x="439" y="74"/>
                  <a:pt x="445" y="83"/>
                </a:cubicBezTo>
                <a:cubicBezTo>
                  <a:pt x="453" y="95"/>
                  <a:pt x="479" y="102"/>
                  <a:pt x="491" y="106"/>
                </a:cubicBezTo>
                <a:cubicBezTo>
                  <a:pt x="501" y="103"/>
                  <a:pt x="513" y="105"/>
                  <a:pt x="521" y="98"/>
                </a:cubicBezTo>
                <a:cubicBezTo>
                  <a:pt x="527" y="93"/>
                  <a:pt x="523" y="81"/>
                  <a:pt x="529" y="75"/>
                </a:cubicBezTo>
                <a:cubicBezTo>
                  <a:pt x="534" y="70"/>
                  <a:pt x="544" y="70"/>
                  <a:pt x="551" y="68"/>
                </a:cubicBezTo>
                <a:cubicBezTo>
                  <a:pt x="615" y="87"/>
                  <a:pt x="549" y="122"/>
                  <a:pt x="612" y="144"/>
                </a:cubicBezTo>
                <a:cubicBezTo>
                  <a:pt x="645" y="135"/>
                  <a:pt x="632" y="136"/>
                  <a:pt x="650" y="136"/>
                </a:cubicBez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64" name="Oval 32"/>
          <p:cNvSpPr>
            <a:spLocks noChangeArrowheads="1"/>
          </p:cNvSpPr>
          <p:nvPr/>
        </p:nvSpPr>
        <p:spPr bwMode="auto">
          <a:xfrm>
            <a:off x="4943475" y="4724400"/>
            <a:ext cx="287338" cy="338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5" name="Oval 33"/>
          <p:cNvSpPr>
            <a:spLocks noChangeArrowheads="1"/>
          </p:cNvSpPr>
          <p:nvPr/>
        </p:nvSpPr>
        <p:spPr bwMode="auto">
          <a:xfrm>
            <a:off x="5016501" y="458152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6" name="Oval 34"/>
          <p:cNvSpPr>
            <a:spLocks noChangeArrowheads="1"/>
          </p:cNvSpPr>
          <p:nvPr/>
        </p:nvSpPr>
        <p:spPr bwMode="auto">
          <a:xfrm>
            <a:off x="5232400" y="4724400"/>
            <a:ext cx="287338" cy="338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7" name="Oval 35"/>
          <p:cNvSpPr>
            <a:spLocks noChangeArrowheads="1"/>
          </p:cNvSpPr>
          <p:nvPr/>
        </p:nvSpPr>
        <p:spPr bwMode="auto">
          <a:xfrm>
            <a:off x="5303838" y="4579939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8" name="Oval 36"/>
          <p:cNvSpPr>
            <a:spLocks noChangeArrowheads="1"/>
          </p:cNvSpPr>
          <p:nvPr/>
        </p:nvSpPr>
        <p:spPr bwMode="auto">
          <a:xfrm>
            <a:off x="5519739" y="4797425"/>
            <a:ext cx="287337" cy="338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69" name="Oval 37"/>
          <p:cNvSpPr>
            <a:spLocks noChangeArrowheads="1"/>
          </p:cNvSpPr>
          <p:nvPr/>
        </p:nvSpPr>
        <p:spPr bwMode="auto">
          <a:xfrm>
            <a:off x="5591176" y="4652964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70" name="Freeform 40"/>
          <p:cNvSpPr>
            <a:spLocks/>
          </p:cNvSpPr>
          <p:nvPr/>
        </p:nvSpPr>
        <p:spPr bwMode="auto">
          <a:xfrm>
            <a:off x="5951539" y="4797426"/>
            <a:ext cx="581025" cy="231775"/>
          </a:xfrm>
          <a:custGeom>
            <a:avLst/>
            <a:gdLst>
              <a:gd name="T0" fmla="*/ 1 w 320"/>
              <a:gd name="T1" fmla="*/ 47 h 146"/>
              <a:gd name="T2" fmla="*/ 9 w 320"/>
              <a:gd name="T3" fmla="*/ 17 h 146"/>
              <a:gd name="T4" fmla="*/ 62 w 320"/>
              <a:gd name="T5" fmla="*/ 70 h 146"/>
              <a:gd name="T6" fmla="*/ 130 w 320"/>
              <a:gd name="T7" fmla="*/ 39 h 146"/>
              <a:gd name="T8" fmla="*/ 153 w 320"/>
              <a:gd name="T9" fmla="*/ 55 h 146"/>
              <a:gd name="T10" fmla="*/ 191 w 320"/>
              <a:gd name="T11" fmla="*/ 108 h 146"/>
              <a:gd name="T12" fmla="*/ 259 w 320"/>
              <a:gd name="T13" fmla="*/ 70 h 146"/>
              <a:gd name="T14" fmla="*/ 282 w 320"/>
              <a:gd name="T15" fmla="*/ 77 h 146"/>
              <a:gd name="T16" fmla="*/ 320 w 320"/>
              <a:gd name="T17" fmla="*/ 146 h 14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0"/>
              <a:gd name="T28" fmla="*/ 0 h 146"/>
              <a:gd name="T29" fmla="*/ 320 w 320"/>
              <a:gd name="T30" fmla="*/ 146 h 14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0" h="146">
                <a:moveTo>
                  <a:pt x="1" y="47"/>
                </a:moveTo>
                <a:cubicBezTo>
                  <a:pt x="4" y="37"/>
                  <a:pt x="0" y="22"/>
                  <a:pt x="9" y="17"/>
                </a:cubicBezTo>
                <a:cubicBezTo>
                  <a:pt x="38" y="0"/>
                  <a:pt x="53" y="57"/>
                  <a:pt x="62" y="70"/>
                </a:cubicBezTo>
                <a:cubicBezTo>
                  <a:pt x="87" y="61"/>
                  <a:pt x="105" y="48"/>
                  <a:pt x="130" y="39"/>
                </a:cubicBezTo>
                <a:cubicBezTo>
                  <a:pt x="138" y="44"/>
                  <a:pt x="147" y="48"/>
                  <a:pt x="153" y="55"/>
                </a:cubicBezTo>
                <a:cubicBezTo>
                  <a:pt x="177" y="84"/>
                  <a:pt x="144" y="92"/>
                  <a:pt x="191" y="108"/>
                </a:cubicBezTo>
                <a:cubicBezTo>
                  <a:pt x="215" y="84"/>
                  <a:pt x="227" y="80"/>
                  <a:pt x="259" y="70"/>
                </a:cubicBezTo>
                <a:cubicBezTo>
                  <a:pt x="267" y="72"/>
                  <a:pt x="277" y="71"/>
                  <a:pt x="282" y="77"/>
                </a:cubicBezTo>
                <a:cubicBezTo>
                  <a:pt x="296" y="95"/>
                  <a:pt x="284" y="146"/>
                  <a:pt x="320" y="146"/>
                </a:cubicBez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71" name="Line 51"/>
          <p:cNvSpPr>
            <a:spLocks noChangeShapeType="1"/>
          </p:cNvSpPr>
          <p:nvPr/>
        </p:nvSpPr>
        <p:spPr bwMode="auto">
          <a:xfrm>
            <a:off x="6959600" y="4868863"/>
            <a:ext cx="1727200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72" name="Freeform 52"/>
          <p:cNvSpPr>
            <a:spLocks/>
          </p:cNvSpPr>
          <p:nvPr/>
        </p:nvSpPr>
        <p:spPr bwMode="auto">
          <a:xfrm>
            <a:off x="5951539" y="1773238"/>
            <a:ext cx="1901825" cy="215900"/>
          </a:xfrm>
          <a:custGeom>
            <a:avLst/>
            <a:gdLst>
              <a:gd name="T0" fmla="*/ 0 w 1198"/>
              <a:gd name="T1" fmla="*/ 60 h 136"/>
              <a:gd name="T2" fmla="*/ 76 w 1198"/>
              <a:gd name="T3" fmla="*/ 0 h 136"/>
              <a:gd name="T4" fmla="*/ 122 w 1198"/>
              <a:gd name="T5" fmla="*/ 15 h 136"/>
              <a:gd name="T6" fmla="*/ 137 w 1198"/>
              <a:gd name="T7" fmla="*/ 98 h 136"/>
              <a:gd name="T8" fmla="*/ 182 w 1198"/>
              <a:gd name="T9" fmla="*/ 128 h 136"/>
              <a:gd name="T10" fmla="*/ 243 w 1198"/>
              <a:gd name="T11" fmla="*/ 113 h 136"/>
              <a:gd name="T12" fmla="*/ 273 w 1198"/>
              <a:gd name="T13" fmla="*/ 68 h 136"/>
              <a:gd name="T14" fmla="*/ 288 w 1198"/>
              <a:gd name="T15" fmla="*/ 22 h 136"/>
              <a:gd name="T16" fmla="*/ 311 w 1198"/>
              <a:gd name="T17" fmla="*/ 15 h 136"/>
              <a:gd name="T18" fmla="*/ 372 w 1198"/>
              <a:gd name="T19" fmla="*/ 60 h 136"/>
              <a:gd name="T20" fmla="*/ 432 w 1198"/>
              <a:gd name="T21" fmla="*/ 128 h 136"/>
              <a:gd name="T22" fmla="*/ 448 w 1198"/>
              <a:gd name="T23" fmla="*/ 113 h 136"/>
              <a:gd name="T24" fmla="*/ 478 w 1198"/>
              <a:gd name="T25" fmla="*/ 106 h 136"/>
              <a:gd name="T26" fmla="*/ 493 w 1198"/>
              <a:gd name="T27" fmla="*/ 53 h 136"/>
              <a:gd name="T28" fmla="*/ 531 w 1198"/>
              <a:gd name="T29" fmla="*/ 22 h 136"/>
              <a:gd name="T30" fmla="*/ 584 w 1198"/>
              <a:gd name="T31" fmla="*/ 30 h 136"/>
              <a:gd name="T32" fmla="*/ 614 w 1198"/>
              <a:gd name="T33" fmla="*/ 98 h 136"/>
              <a:gd name="T34" fmla="*/ 682 w 1198"/>
              <a:gd name="T35" fmla="*/ 121 h 136"/>
              <a:gd name="T36" fmla="*/ 728 w 1198"/>
              <a:gd name="T37" fmla="*/ 68 h 136"/>
              <a:gd name="T38" fmla="*/ 804 w 1198"/>
              <a:gd name="T39" fmla="*/ 37 h 136"/>
              <a:gd name="T40" fmla="*/ 842 w 1198"/>
              <a:gd name="T41" fmla="*/ 45 h 136"/>
              <a:gd name="T42" fmla="*/ 864 w 1198"/>
              <a:gd name="T43" fmla="*/ 113 h 136"/>
              <a:gd name="T44" fmla="*/ 902 w 1198"/>
              <a:gd name="T45" fmla="*/ 136 h 136"/>
              <a:gd name="T46" fmla="*/ 955 w 1198"/>
              <a:gd name="T47" fmla="*/ 121 h 136"/>
              <a:gd name="T48" fmla="*/ 963 w 1198"/>
              <a:gd name="T49" fmla="*/ 98 h 136"/>
              <a:gd name="T50" fmla="*/ 993 w 1198"/>
              <a:gd name="T51" fmla="*/ 53 h 136"/>
              <a:gd name="T52" fmla="*/ 1039 w 1198"/>
              <a:gd name="T53" fmla="*/ 37 h 136"/>
              <a:gd name="T54" fmla="*/ 1077 w 1198"/>
              <a:gd name="T55" fmla="*/ 45 h 136"/>
              <a:gd name="T56" fmla="*/ 1122 w 1198"/>
              <a:gd name="T57" fmla="*/ 113 h 136"/>
              <a:gd name="T58" fmla="*/ 1198 w 1198"/>
              <a:gd name="T59" fmla="*/ 136 h 1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198"/>
              <a:gd name="T91" fmla="*/ 0 h 136"/>
              <a:gd name="T92" fmla="*/ 1198 w 1198"/>
              <a:gd name="T93" fmla="*/ 136 h 1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198" h="136">
                <a:moveTo>
                  <a:pt x="0" y="60"/>
                </a:moveTo>
                <a:cubicBezTo>
                  <a:pt x="34" y="11"/>
                  <a:pt x="26" y="15"/>
                  <a:pt x="76" y="0"/>
                </a:cubicBezTo>
                <a:cubicBezTo>
                  <a:pt x="77" y="0"/>
                  <a:pt x="121" y="13"/>
                  <a:pt x="122" y="15"/>
                </a:cubicBezTo>
                <a:cubicBezTo>
                  <a:pt x="133" y="41"/>
                  <a:pt x="117" y="78"/>
                  <a:pt x="137" y="98"/>
                </a:cubicBezTo>
                <a:cubicBezTo>
                  <a:pt x="150" y="111"/>
                  <a:pt x="182" y="128"/>
                  <a:pt x="182" y="128"/>
                </a:cubicBezTo>
                <a:cubicBezTo>
                  <a:pt x="183" y="128"/>
                  <a:pt x="236" y="120"/>
                  <a:pt x="243" y="113"/>
                </a:cubicBezTo>
                <a:cubicBezTo>
                  <a:pt x="256" y="100"/>
                  <a:pt x="263" y="83"/>
                  <a:pt x="273" y="68"/>
                </a:cubicBezTo>
                <a:cubicBezTo>
                  <a:pt x="282" y="55"/>
                  <a:pt x="277" y="33"/>
                  <a:pt x="288" y="22"/>
                </a:cubicBezTo>
                <a:cubicBezTo>
                  <a:pt x="294" y="16"/>
                  <a:pt x="303" y="17"/>
                  <a:pt x="311" y="15"/>
                </a:cubicBezTo>
                <a:cubicBezTo>
                  <a:pt x="347" y="23"/>
                  <a:pt x="352" y="30"/>
                  <a:pt x="372" y="60"/>
                </a:cubicBezTo>
                <a:cubicBezTo>
                  <a:pt x="384" y="100"/>
                  <a:pt x="390" y="115"/>
                  <a:pt x="432" y="128"/>
                </a:cubicBezTo>
                <a:cubicBezTo>
                  <a:pt x="437" y="123"/>
                  <a:pt x="441" y="116"/>
                  <a:pt x="448" y="113"/>
                </a:cubicBezTo>
                <a:cubicBezTo>
                  <a:pt x="457" y="109"/>
                  <a:pt x="470" y="112"/>
                  <a:pt x="478" y="106"/>
                </a:cubicBezTo>
                <a:cubicBezTo>
                  <a:pt x="492" y="94"/>
                  <a:pt x="485" y="69"/>
                  <a:pt x="493" y="53"/>
                </a:cubicBezTo>
                <a:cubicBezTo>
                  <a:pt x="500" y="40"/>
                  <a:pt x="520" y="29"/>
                  <a:pt x="531" y="22"/>
                </a:cubicBezTo>
                <a:cubicBezTo>
                  <a:pt x="549" y="25"/>
                  <a:pt x="568" y="23"/>
                  <a:pt x="584" y="30"/>
                </a:cubicBezTo>
                <a:cubicBezTo>
                  <a:pt x="608" y="41"/>
                  <a:pt x="599" y="83"/>
                  <a:pt x="614" y="98"/>
                </a:cubicBezTo>
                <a:cubicBezTo>
                  <a:pt x="625" y="109"/>
                  <a:pt x="667" y="115"/>
                  <a:pt x="682" y="121"/>
                </a:cubicBezTo>
                <a:cubicBezTo>
                  <a:pt x="732" y="104"/>
                  <a:pt x="706" y="90"/>
                  <a:pt x="728" y="68"/>
                </a:cubicBezTo>
                <a:cubicBezTo>
                  <a:pt x="737" y="59"/>
                  <a:pt x="789" y="42"/>
                  <a:pt x="804" y="37"/>
                </a:cubicBezTo>
                <a:cubicBezTo>
                  <a:pt x="817" y="40"/>
                  <a:pt x="831" y="38"/>
                  <a:pt x="842" y="45"/>
                </a:cubicBezTo>
                <a:cubicBezTo>
                  <a:pt x="847" y="48"/>
                  <a:pt x="859" y="105"/>
                  <a:pt x="864" y="113"/>
                </a:cubicBezTo>
                <a:cubicBezTo>
                  <a:pt x="874" y="129"/>
                  <a:pt x="886" y="130"/>
                  <a:pt x="902" y="136"/>
                </a:cubicBezTo>
                <a:cubicBezTo>
                  <a:pt x="920" y="131"/>
                  <a:pt x="942" y="134"/>
                  <a:pt x="955" y="121"/>
                </a:cubicBezTo>
                <a:cubicBezTo>
                  <a:pt x="961" y="115"/>
                  <a:pt x="959" y="105"/>
                  <a:pt x="963" y="98"/>
                </a:cubicBezTo>
                <a:cubicBezTo>
                  <a:pt x="972" y="82"/>
                  <a:pt x="983" y="68"/>
                  <a:pt x="993" y="53"/>
                </a:cubicBezTo>
                <a:cubicBezTo>
                  <a:pt x="1002" y="39"/>
                  <a:pt x="1039" y="37"/>
                  <a:pt x="1039" y="37"/>
                </a:cubicBezTo>
                <a:cubicBezTo>
                  <a:pt x="1052" y="40"/>
                  <a:pt x="1065" y="39"/>
                  <a:pt x="1077" y="45"/>
                </a:cubicBezTo>
                <a:cubicBezTo>
                  <a:pt x="1106" y="60"/>
                  <a:pt x="1101" y="92"/>
                  <a:pt x="1122" y="113"/>
                </a:cubicBezTo>
                <a:cubicBezTo>
                  <a:pt x="1144" y="135"/>
                  <a:pt x="1170" y="136"/>
                  <a:pt x="1198" y="136"/>
                </a:cubicBez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73" name="Freeform 53"/>
          <p:cNvSpPr>
            <a:spLocks/>
          </p:cNvSpPr>
          <p:nvPr/>
        </p:nvSpPr>
        <p:spPr bwMode="auto">
          <a:xfrm>
            <a:off x="5808664" y="2349500"/>
            <a:ext cx="1901825" cy="215900"/>
          </a:xfrm>
          <a:custGeom>
            <a:avLst/>
            <a:gdLst>
              <a:gd name="T0" fmla="*/ 0 w 1198"/>
              <a:gd name="T1" fmla="*/ 60 h 136"/>
              <a:gd name="T2" fmla="*/ 76 w 1198"/>
              <a:gd name="T3" fmla="*/ 0 h 136"/>
              <a:gd name="T4" fmla="*/ 122 w 1198"/>
              <a:gd name="T5" fmla="*/ 15 h 136"/>
              <a:gd name="T6" fmla="*/ 137 w 1198"/>
              <a:gd name="T7" fmla="*/ 98 h 136"/>
              <a:gd name="T8" fmla="*/ 182 w 1198"/>
              <a:gd name="T9" fmla="*/ 128 h 136"/>
              <a:gd name="T10" fmla="*/ 243 w 1198"/>
              <a:gd name="T11" fmla="*/ 113 h 136"/>
              <a:gd name="T12" fmla="*/ 273 w 1198"/>
              <a:gd name="T13" fmla="*/ 68 h 136"/>
              <a:gd name="T14" fmla="*/ 288 w 1198"/>
              <a:gd name="T15" fmla="*/ 22 h 136"/>
              <a:gd name="T16" fmla="*/ 311 w 1198"/>
              <a:gd name="T17" fmla="*/ 15 h 136"/>
              <a:gd name="T18" fmla="*/ 372 w 1198"/>
              <a:gd name="T19" fmla="*/ 60 h 136"/>
              <a:gd name="T20" fmla="*/ 432 w 1198"/>
              <a:gd name="T21" fmla="*/ 128 h 136"/>
              <a:gd name="T22" fmla="*/ 448 w 1198"/>
              <a:gd name="T23" fmla="*/ 113 h 136"/>
              <a:gd name="T24" fmla="*/ 478 w 1198"/>
              <a:gd name="T25" fmla="*/ 106 h 136"/>
              <a:gd name="T26" fmla="*/ 493 w 1198"/>
              <a:gd name="T27" fmla="*/ 53 h 136"/>
              <a:gd name="T28" fmla="*/ 531 w 1198"/>
              <a:gd name="T29" fmla="*/ 22 h 136"/>
              <a:gd name="T30" fmla="*/ 584 w 1198"/>
              <a:gd name="T31" fmla="*/ 30 h 136"/>
              <a:gd name="T32" fmla="*/ 614 w 1198"/>
              <a:gd name="T33" fmla="*/ 98 h 136"/>
              <a:gd name="T34" fmla="*/ 682 w 1198"/>
              <a:gd name="T35" fmla="*/ 121 h 136"/>
              <a:gd name="T36" fmla="*/ 728 w 1198"/>
              <a:gd name="T37" fmla="*/ 68 h 136"/>
              <a:gd name="T38" fmla="*/ 804 w 1198"/>
              <a:gd name="T39" fmla="*/ 37 h 136"/>
              <a:gd name="T40" fmla="*/ 842 w 1198"/>
              <a:gd name="T41" fmla="*/ 45 h 136"/>
              <a:gd name="T42" fmla="*/ 864 w 1198"/>
              <a:gd name="T43" fmla="*/ 113 h 136"/>
              <a:gd name="T44" fmla="*/ 902 w 1198"/>
              <a:gd name="T45" fmla="*/ 136 h 136"/>
              <a:gd name="T46" fmla="*/ 955 w 1198"/>
              <a:gd name="T47" fmla="*/ 121 h 136"/>
              <a:gd name="T48" fmla="*/ 963 w 1198"/>
              <a:gd name="T49" fmla="*/ 98 h 136"/>
              <a:gd name="T50" fmla="*/ 993 w 1198"/>
              <a:gd name="T51" fmla="*/ 53 h 136"/>
              <a:gd name="T52" fmla="*/ 1039 w 1198"/>
              <a:gd name="T53" fmla="*/ 37 h 136"/>
              <a:gd name="T54" fmla="*/ 1077 w 1198"/>
              <a:gd name="T55" fmla="*/ 45 h 136"/>
              <a:gd name="T56" fmla="*/ 1122 w 1198"/>
              <a:gd name="T57" fmla="*/ 113 h 136"/>
              <a:gd name="T58" fmla="*/ 1198 w 1198"/>
              <a:gd name="T59" fmla="*/ 136 h 1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198"/>
              <a:gd name="T91" fmla="*/ 0 h 136"/>
              <a:gd name="T92" fmla="*/ 1198 w 1198"/>
              <a:gd name="T93" fmla="*/ 136 h 1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198" h="136">
                <a:moveTo>
                  <a:pt x="0" y="60"/>
                </a:moveTo>
                <a:cubicBezTo>
                  <a:pt x="34" y="11"/>
                  <a:pt x="26" y="15"/>
                  <a:pt x="76" y="0"/>
                </a:cubicBezTo>
                <a:cubicBezTo>
                  <a:pt x="77" y="0"/>
                  <a:pt x="121" y="13"/>
                  <a:pt x="122" y="15"/>
                </a:cubicBezTo>
                <a:cubicBezTo>
                  <a:pt x="133" y="41"/>
                  <a:pt x="117" y="78"/>
                  <a:pt x="137" y="98"/>
                </a:cubicBezTo>
                <a:cubicBezTo>
                  <a:pt x="150" y="111"/>
                  <a:pt x="182" y="128"/>
                  <a:pt x="182" y="128"/>
                </a:cubicBezTo>
                <a:cubicBezTo>
                  <a:pt x="183" y="128"/>
                  <a:pt x="236" y="120"/>
                  <a:pt x="243" y="113"/>
                </a:cubicBezTo>
                <a:cubicBezTo>
                  <a:pt x="256" y="100"/>
                  <a:pt x="263" y="83"/>
                  <a:pt x="273" y="68"/>
                </a:cubicBezTo>
                <a:cubicBezTo>
                  <a:pt x="282" y="55"/>
                  <a:pt x="277" y="33"/>
                  <a:pt x="288" y="22"/>
                </a:cubicBezTo>
                <a:cubicBezTo>
                  <a:pt x="294" y="16"/>
                  <a:pt x="303" y="17"/>
                  <a:pt x="311" y="15"/>
                </a:cubicBezTo>
                <a:cubicBezTo>
                  <a:pt x="347" y="23"/>
                  <a:pt x="352" y="30"/>
                  <a:pt x="372" y="60"/>
                </a:cubicBezTo>
                <a:cubicBezTo>
                  <a:pt x="384" y="100"/>
                  <a:pt x="390" y="115"/>
                  <a:pt x="432" y="128"/>
                </a:cubicBezTo>
                <a:cubicBezTo>
                  <a:pt x="437" y="123"/>
                  <a:pt x="441" y="116"/>
                  <a:pt x="448" y="113"/>
                </a:cubicBezTo>
                <a:cubicBezTo>
                  <a:pt x="457" y="109"/>
                  <a:pt x="470" y="112"/>
                  <a:pt x="478" y="106"/>
                </a:cubicBezTo>
                <a:cubicBezTo>
                  <a:pt x="492" y="94"/>
                  <a:pt x="485" y="69"/>
                  <a:pt x="493" y="53"/>
                </a:cubicBezTo>
                <a:cubicBezTo>
                  <a:pt x="500" y="40"/>
                  <a:pt x="520" y="29"/>
                  <a:pt x="531" y="22"/>
                </a:cubicBezTo>
                <a:cubicBezTo>
                  <a:pt x="549" y="25"/>
                  <a:pt x="568" y="23"/>
                  <a:pt x="584" y="30"/>
                </a:cubicBezTo>
                <a:cubicBezTo>
                  <a:pt x="608" y="41"/>
                  <a:pt x="599" y="83"/>
                  <a:pt x="614" y="98"/>
                </a:cubicBezTo>
                <a:cubicBezTo>
                  <a:pt x="625" y="109"/>
                  <a:pt x="667" y="115"/>
                  <a:pt x="682" y="121"/>
                </a:cubicBezTo>
                <a:cubicBezTo>
                  <a:pt x="732" y="104"/>
                  <a:pt x="706" y="90"/>
                  <a:pt x="728" y="68"/>
                </a:cubicBezTo>
                <a:cubicBezTo>
                  <a:pt x="737" y="59"/>
                  <a:pt x="789" y="42"/>
                  <a:pt x="804" y="37"/>
                </a:cubicBezTo>
                <a:cubicBezTo>
                  <a:pt x="817" y="40"/>
                  <a:pt x="831" y="38"/>
                  <a:pt x="842" y="45"/>
                </a:cubicBezTo>
                <a:cubicBezTo>
                  <a:pt x="847" y="48"/>
                  <a:pt x="859" y="105"/>
                  <a:pt x="864" y="113"/>
                </a:cubicBezTo>
                <a:cubicBezTo>
                  <a:pt x="874" y="129"/>
                  <a:pt x="886" y="130"/>
                  <a:pt x="902" y="136"/>
                </a:cubicBezTo>
                <a:cubicBezTo>
                  <a:pt x="920" y="131"/>
                  <a:pt x="942" y="134"/>
                  <a:pt x="955" y="121"/>
                </a:cubicBezTo>
                <a:cubicBezTo>
                  <a:pt x="961" y="115"/>
                  <a:pt x="959" y="105"/>
                  <a:pt x="963" y="98"/>
                </a:cubicBezTo>
                <a:cubicBezTo>
                  <a:pt x="972" y="82"/>
                  <a:pt x="983" y="68"/>
                  <a:pt x="993" y="53"/>
                </a:cubicBezTo>
                <a:cubicBezTo>
                  <a:pt x="1002" y="39"/>
                  <a:pt x="1039" y="37"/>
                  <a:pt x="1039" y="37"/>
                </a:cubicBezTo>
                <a:cubicBezTo>
                  <a:pt x="1052" y="40"/>
                  <a:pt x="1065" y="39"/>
                  <a:pt x="1077" y="45"/>
                </a:cubicBezTo>
                <a:cubicBezTo>
                  <a:pt x="1106" y="60"/>
                  <a:pt x="1101" y="92"/>
                  <a:pt x="1122" y="113"/>
                </a:cubicBezTo>
                <a:cubicBezTo>
                  <a:pt x="1144" y="135"/>
                  <a:pt x="1170" y="136"/>
                  <a:pt x="1198" y="136"/>
                </a:cubicBez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74" name="Freeform 54"/>
          <p:cNvSpPr>
            <a:spLocks/>
          </p:cNvSpPr>
          <p:nvPr/>
        </p:nvSpPr>
        <p:spPr bwMode="auto">
          <a:xfrm>
            <a:off x="5951539" y="2060575"/>
            <a:ext cx="1901825" cy="215900"/>
          </a:xfrm>
          <a:custGeom>
            <a:avLst/>
            <a:gdLst>
              <a:gd name="T0" fmla="*/ 0 w 1198"/>
              <a:gd name="T1" fmla="*/ 60 h 136"/>
              <a:gd name="T2" fmla="*/ 76 w 1198"/>
              <a:gd name="T3" fmla="*/ 0 h 136"/>
              <a:gd name="T4" fmla="*/ 122 w 1198"/>
              <a:gd name="T5" fmla="*/ 15 h 136"/>
              <a:gd name="T6" fmla="*/ 137 w 1198"/>
              <a:gd name="T7" fmla="*/ 98 h 136"/>
              <a:gd name="T8" fmla="*/ 182 w 1198"/>
              <a:gd name="T9" fmla="*/ 128 h 136"/>
              <a:gd name="T10" fmla="*/ 243 w 1198"/>
              <a:gd name="T11" fmla="*/ 113 h 136"/>
              <a:gd name="T12" fmla="*/ 273 w 1198"/>
              <a:gd name="T13" fmla="*/ 68 h 136"/>
              <a:gd name="T14" fmla="*/ 288 w 1198"/>
              <a:gd name="T15" fmla="*/ 22 h 136"/>
              <a:gd name="T16" fmla="*/ 311 w 1198"/>
              <a:gd name="T17" fmla="*/ 15 h 136"/>
              <a:gd name="T18" fmla="*/ 372 w 1198"/>
              <a:gd name="T19" fmla="*/ 60 h 136"/>
              <a:gd name="T20" fmla="*/ 432 w 1198"/>
              <a:gd name="T21" fmla="*/ 128 h 136"/>
              <a:gd name="T22" fmla="*/ 448 w 1198"/>
              <a:gd name="T23" fmla="*/ 113 h 136"/>
              <a:gd name="T24" fmla="*/ 478 w 1198"/>
              <a:gd name="T25" fmla="*/ 106 h 136"/>
              <a:gd name="T26" fmla="*/ 493 w 1198"/>
              <a:gd name="T27" fmla="*/ 53 h 136"/>
              <a:gd name="T28" fmla="*/ 531 w 1198"/>
              <a:gd name="T29" fmla="*/ 22 h 136"/>
              <a:gd name="T30" fmla="*/ 584 w 1198"/>
              <a:gd name="T31" fmla="*/ 30 h 136"/>
              <a:gd name="T32" fmla="*/ 614 w 1198"/>
              <a:gd name="T33" fmla="*/ 98 h 136"/>
              <a:gd name="T34" fmla="*/ 682 w 1198"/>
              <a:gd name="T35" fmla="*/ 121 h 136"/>
              <a:gd name="T36" fmla="*/ 728 w 1198"/>
              <a:gd name="T37" fmla="*/ 68 h 136"/>
              <a:gd name="T38" fmla="*/ 804 w 1198"/>
              <a:gd name="T39" fmla="*/ 37 h 136"/>
              <a:gd name="T40" fmla="*/ 842 w 1198"/>
              <a:gd name="T41" fmla="*/ 45 h 136"/>
              <a:gd name="T42" fmla="*/ 864 w 1198"/>
              <a:gd name="T43" fmla="*/ 113 h 136"/>
              <a:gd name="T44" fmla="*/ 902 w 1198"/>
              <a:gd name="T45" fmla="*/ 136 h 136"/>
              <a:gd name="T46" fmla="*/ 955 w 1198"/>
              <a:gd name="T47" fmla="*/ 121 h 136"/>
              <a:gd name="T48" fmla="*/ 963 w 1198"/>
              <a:gd name="T49" fmla="*/ 98 h 136"/>
              <a:gd name="T50" fmla="*/ 993 w 1198"/>
              <a:gd name="T51" fmla="*/ 53 h 136"/>
              <a:gd name="T52" fmla="*/ 1039 w 1198"/>
              <a:gd name="T53" fmla="*/ 37 h 136"/>
              <a:gd name="T54" fmla="*/ 1077 w 1198"/>
              <a:gd name="T55" fmla="*/ 45 h 136"/>
              <a:gd name="T56" fmla="*/ 1122 w 1198"/>
              <a:gd name="T57" fmla="*/ 113 h 136"/>
              <a:gd name="T58" fmla="*/ 1198 w 1198"/>
              <a:gd name="T59" fmla="*/ 136 h 1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198"/>
              <a:gd name="T91" fmla="*/ 0 h 136"/>
              <a:gd name="T92" fmla="*/ 1198 w 1198"/>
              <a:gd name="T93" fmla="*/ 136 h 1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198" h="136">
                <a:moveTo>
                  <a:pt x="0" y="60"/>
                </a:moveTo>
                <a:cubicBezTo>
                  <a:pt x="34" y="11"/>
                  <a:pt x="26" y="15"/>
                  <a:pt x="76" y="0"/>
                </a:cubicBezTo>
                <a:cubicBezTo>
                  <a:pt x="77" y="0"/>
                  <a:pt x="121" y="13"/>
                  <a:pt x="122" y="15"/>
                </a:cubicBezTo>
                <a:cubicBezTo>
                  <a:pt x="133" y="41"/>
                  <a:pt x="117" y="78"/>
                  <a:pt x="137" y="98"/>
                </a:cubicBezTo>
                <a:cubicBezTo>
                  <a:pt x="150" y="111"/>
                  <a:pt x="182" y="128"/>
                  <a:pt x="182" y="128"/>
                </a:cubicBezTo>
                <a:cubicBezTo>
                  <a:pt x="183" y="128"/>
                  <a:pt x="236" y="120"/>
                  <a:pt x="243" y="113"/>
                </a:cubicBezTo>
                <a:cubicBezTo>
                  <a:pt x="256" y="100"/>
                  <a:pt x="263" y="83"/>
                  <a:pt x="273" y="68"/>
                </a:cubicBezTo>
                <a:cubicBezTo>
                  <a:pt x="282" y="55"/>
                  <a:pt x="277" y="33"/>
                  <a:pt x="288" y="22"/>
                </a:cubicBezTo>
                <a:cubicBezTo>
                  <a:pt x="294" y="16"/>
                  <a:pt x="303" y="17"/>
                  <a:pt x="311" y="15"/>
                </a:cubicBezTo>
                <a:cubicBezTo>
                  <a:pt x="347" y="23"/>
                  <a:pt x="352" y="30"/>
                  <a:pt x="372" y="60"/>
                </a:cubicBezTo>
                <a:cubicBezTo>
                  <a:pt x="384" y="100"/>
                  <a:pt x="390" y="115"/>
                  <a:pt x="432" y="128"/>
                </a:cubicBezTo>
                <a:cubicBezTo>
                  <a:pt x="437" y="123"/>
                  <a:pt x="441" y="116"/>
                  <a:pt x="448" y="113"/>
                </a:cubicBezTo>
                <a:cubicBezTo>
                  <a:pt x="457" y="109"/>
                  <a:pt x="470" y="112"/>
                  <a:pt x="478" y="106"/>
                </a:cubicBezTo>
                <a:cubicBezTo>
                  <a:pt x="492" y="94"/>
                  <a:pt x="485" y="69"/>
                  <a:pt x="493" y="53"/>
                </a:cubicBezTo>
                <a:cubicBezTo>
                  <a:pt x="500" y="40"/>
                  <a:pt x="520" y="29"/>
                  <a:pt x="531" y="22"/>
                </a:cubicBezTo>
                <a:cubicBezTo>
                  <a:pt x="549" y="25"/>
                  <a:pt x="568" y="23"/>
                  <a:pt x="584" y="30"/>
                </a:cubicBezTo>
                <a:cubicBezTo>
                  <a:pt x="608" y="41"/>
                  <a:pt x="599" y="83"/>
                  <a:pt x="614" y="98"/>
                </a:cubicBezTo>
                <a:cubicBezTo>
                  <a:pt x="625" y="109"/>
                  <a:pt x="667" y="115"/>
                  <a:pt x="682" y="121"/>
                </a:cubicBezTo>
                <a:cubicBezTo>
                  <a:pt x="732" y="104"/>
                  <a:pt x="706" y="90"/>
                  <a:pt x="728" y="68"/>
                </a:cubicBezTo>
                <a:cubicBezTo>
                  <a:pt x="737" y="59"/>
                  <a:pt x="789" y="42"/>
                  <a:pt x="804" y="37"/>
                </a:cubicBezTo>
                <a:cubicBezTo>
                  <a:pt x="817" y="40"/>
                  <a:pt x="831" y="38"/>
                  <a:pt x="842" y="45"/>
                </a:cubicBezTo>
                <a:cubicBezTo>
                  <a:pt x="847" y="48"/>
                  <a:pt x="859" y="105"/>
                  <a:pt x="864" y="113"/>
                </a:cubicBezTo>
                <a:cubicBezTo>
                  <a:pt x="874" y="129"/>
                  <a:pt x="886" y="130"/>
                  <a:pt x="902" y="136"/>
                </a:cubicBezTo>
                <a:cubicBezTo>
                  <a:pt x="920" y="131"/>
                  <a:pt x="942" y="134"/>
                  <a:pt x="955" y="121"/>
                </a:cubicBezTo>
                <a:cubicBezTo>
                  <a:pt x="961" y="115"/>
                  <a:pt x="959" y="105"/>
                  <a:pt x="963" y="98"/>
                </a:cubicBezTo>
                <a:cubicBezTo>
                  <a:pt x="972" y="82"/>
                  <a:pt x="983" y="68"/>
                  <a:pt x="993" y="53"/>
                </a:cubicBezTo>
                <a:cubicBezTo>
                  <a:pt x="1002" y="39"/>
                  <a:pt x="1039" y="37"/>
                  <a:pt x="1039" y="37"/>
                </a:cubicBezTo>
                <a:cubicBezTo>
                  <a:pt x="1052" y="40"/>
                  <a:pt x="1065" y="39"/>
                  <a:pt x="1077" y="45"/>
                </a:cubicBezTo>
                <a:cubicBezTo>
                  <a:pt x="1106" y="60"/>
                  <a:pt x="1101" y="92"/>
                  <a:pt x="1122" y="113"/>
                </a:cubicBezTo>
                <a:cubicBezTo>
                  <a:pt x="1144" y="135"/>
                  <a:pt x="1170" y="136"/>
                  <a:pt x="1198" y="136"/>
                </a:cubicBez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75" name="Oval 55"/>
          <p:cNvSpPr>
            <a:spLocks noChangeArrowheads="1"/>
          </p:cNvSpPr>
          <p:nvPr/>
        </p:nvSpPr>
        <p:spPr bwMode="auto">
          <a:xfrm>
            <a:off x="5951539" y="2565400"/>
            <a:ext cx="287337" cy="338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76" name="Oval 56"/>
          <p:cNvSpPr>
            <a:spLocks noChangeArrowheads="1"/>
          </p:cNvSpPr>
          <p:nvPr/>
        </p:nvSpPr>
        <p:spPr bwMode="auto">
          <a:xfrm>
            <a:off x="6022976" y="2420939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77" name="Oval 57"/>
          <p:cNvSpPr>
            <a:spLocks noChangeArrowheads="1"/>
          </p:cNvSpPr>
          <p:nvPr/>
        </p:nvSpPr>
        <p:spPr bwMode="auto">
          <a:xfrm>
            <a:off x="6311900" y="2492375"/>
            <a:ext cx="287338" cy="338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78" name="Oval 58"/>
          <p:cNvSpPr>
            <a:spLocks noChangeArrowheads="1"/>
          </p:cNvSpPr>
          <p:nvPr/>
        </p:nvSpPr>
        <p:spPr bwMode="auto">
          <a:xfrm>
            <a:off x="6383338" y="2347914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79" name="Oval 59"/>
          <p:cNvSpPr>
            <a:spLocks noChangeArrowheads="1"/>
          </p:cNvSpPr>
          <p:nvPr/>
        </p:nvSpPr>
        <p:spPr bwMode="auto">
          <a:xfrm>
            <a:off x="6672264" y="2492375"/>
            <a:ext cx="287337" cy="338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80" name="Oval 60"/>
          <p:cNvSpPr>
            <a:spLocks noChangeArrowheads="1"/>
          </p:cNvSpPr>
          <p:nvPr/>
        </p:nvSpPr>
        <p:spPr bwMode="auto">
          <a:xfrm>
            <a:off x="6743701" y="2347914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681" name="Freeform 61"/>
          <p:cNvSpPr>
            <a:spLocks/>
          </p:cNvSpPr>
          <p:nvPr/>
        </p:nvSpPr>
        <p:spPr bwMode="auto">
          <a:xfrm rot="3308732">
            <a:off x="4017170" y="4860132"/>
            <a:ext cx="925512" cy="79375"/>
          </a:xfrm>
          <a:custGeom>
            <a:avLst/>
            <a:gdLst>
              <a:gd name="T0" fmla="*/ 0 w 1198"/>
              <a:gd name="T1" fmla="*/ 60 h 136"/>
              <a:gd name="T2" fmla="*/ 76 w 1198"/>
              <a:gd name="T3" fmla="*/ 0 h 136"/>
              <a:gd name="T4" fmla="*/ 122 w 1198"/>
              <a:gd name="T5" fmla="*/ 15 h 136"/>
              <a:gd name="T6" fmla="*/ 137 w 1198"/>
              <a:gd name="T7" fmla="*/ 98 h 136"/>
              <a:gd name="T8" fmla="*/ 182 w 1198"/>
              <a:gd name="T9" fmla="*/ 128 h 136"/>
              <a:gd name="T10" fmla="*/ 243 w 1198"/>
              <a:gd name="T11" fmla="*/ 113 h 136"/>
              <a:gd name="T12" fmla="*/ 273 w 1198"/>
              <a:gd name="T13" fmla="*/ 68 h 136"/>
              <a:gd name="T14" fmla="*/ 288 w 1198"/>
              <a:gd name="T15" fmla="*/ 22 h 136"/>
              <a:gd name="T16" fmla="*/ 311 w 1198"/>
              <a:gd name="T17" fmla="*/ 15 h 136"/>
              <a:gd name="T18" fmla="*/ 372 w 1198"/>
              <a:gd name="T19" fmla="*/ 60 h 136"/>
              <a:gd name="T20" fmla="*/ 432 w 1198"/>
              <a:gd name="T21" fmla="*/ 128 h 136"/>
              <a:gd name="T22" fmla="*/ 448 w 1198"/>
              <a:gd name="T23" fmla="*/ 113 h 136"/>
              <a:gd name="T24" fmla="*/ 478 w 1198"/>
              <a:gd name="T25" fmla="*/ 106 h 136"/>
              <a:gd name="T26" fmla="*/ 493 w 1198"/>
              <a:gd name="T27" fmla="*/ 53 h 136"/>
              <a:gd name="T28" fmla="*/ 531 w 1198"/>
              <a:gd name="T29" fmla="*/ 22 h 136"/>
              <a:gd name="T30" fmla="*/ 584 w 1198"/>
              <a:gd name="T31" fmla="*/ 30 h 136"/>
              <a:gd name="T32" fmla="*/ 614 w 1198"/>
              <a:gd name="T33" fmla="*/ 98 h 136"/>
              <a:gd name="T34" fmla="*/ 682 w 1198"/>
              <a:gd name="T35" fmla="*/ 121 h 136"/>
              <a:gd name="T36" fmla="*/ 728 w 1198"/>
              <a:gd name="T37" fmla="*/ 68 h 136"/>
              <a:gd name="T38" fmla="*/ 804 w 1198"/>
              <a:gd name="T39" fmla="*/ 37 h 136"/>
              <a:gd name="T40" fmla="*/ 842 w 1198"/>
              <a:gd name="T41" fmla="*/ 45 h 136"/>
              <a:gd name="T42" fmla="*/ 864 w 1198"/>
              <a:gd name="T43" fmla="*/ 113 h 136"/>
              <a:gd name="T44" fmla="*/ 902 w 1198"/>
              <a:gd name="T45" fmla="*/ 136 h 136"/>
              <a:gd name="T46" fmla="*/ 955 w 1198"/>
              <a:gd name="T47" fmla="*/ 121 h 136"/>
              <a:gd name="T48" fmla="*/ 963 w 1198"/>
              <a:gd name="T49" fmla="*/ 98 h 136"/>
              <a:gd name="T50" fmla="*/ 993 w 1198"/>
              <a:gd name="T51" fmla="*/ 53 h 136"/>
              <a:gd name="T52" fmla="*/ 1039 w 1198"/>
              <a:gd name="T53" fmla="*/ 37 h 136"/>
              <a:gd name="T54" fmla="*/ 1077 w 1198"/>
              <a:gd name="T55" fmla="*/ 45 h 136"/>
              <a:gd name="T56" fmla="*/ 1122 w 1198"/>
              <a:gd name="T57" fmla="*/ 113 h 136"/>
              <a:gd name="T58" fmla="*/ 1198 w 1198"/>
              <a:gd name="T59" fmla="*/ 136 h 1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198"/>
              <a:gd name="T91" fmla="*/ 0 h 136"/>
              <a:gd name="T92" fmla="*/ 1198 w 1198"/>
              <a:gd name="T93" fmla="*/ 136 h 1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198" h="136">
                <a:moveTo>
                  <a:pt x="0" y="60"/>
                </a:moveTo>
                <a:cubicBezTo>
                  <a:pt x="34" y="11"/>
                  <a:pt x="26" y="15"/>
                  <a:pt x="76" y="0"/>
                </a:cubicBezTo>
                <a:cubicBezTo>
                  <a:pt x="77" y="0"/>
                  <a:pt x="121" y="13"/>
                  <a:pt x="122" y="15"/>
                </a:cubicBezTo>
                <a:cubicBezTo>
                  <a:pt x="133" y="41"/>
                  <a:pt x="117" y="78"/>
                  <a:pt x="137" y="98"/>
                </a:cubicBezTo>
                <a:cubicBezTo>
                  <a:pt x="150" y="111"/>
                  <a:pt x="182" y="128"/>
                  <a:pt x="182" y="128"/>
                </a:cubicBezTo>
                <a:cubicBezTo>
                  <a:pt x="183" y="128"/>
                  <a:pt x="236" y="120"/>
                  <a:pt x="243" y="113"/>
                </a:cubicBezTo>
                <a:cubicBezTo>
                  <a:pt x="256" y="100"/>
                  <a:pt x="263" y="83"/>
                  <a:pt x="273" y="68"/>
                </a:cubicBezTo>
                <a:cubicBezTo>
                  <a:pt x="282" y="55"/>
                  <a:pt x="277" y="33"/>
                  <a:pt x="288" y="22"/>
                </a:cubicBezTo>
                <a:cubicBezTo>
                  <a:pt x="294" y="16"/>
                  <a:pt x="303" y="17"/>
                  <a:pt x="311" y="15"/>
                </a:cubicBezTo>
                <a:cubicBezTo>
                  <a:pt x="347" y="23"/>
                  <a:pt x="352" y="30"/>
                  <a:pt x="372" y="60"/>
                </a:cubicBezTo>
                <a:cubicBezTo>
                  <a:pt x="384" y="100"/>
                  <a:pt x="390" y="115"/>
                  <a:pt x="432" y="128"/>
                </a:cubicBezTo>
                <a:cubicBezTo>
                  <a:pt x="437" y="123"/>
                  <a:pt x="441" y="116"/>
                  <a:pt x="448" y="113"/>
                </a:cubicBezTo>
                <a:cubicBezTo>
                  <a:pt x="457" y="109"/>
                  <a:pt x="470" y="112"/>
                  <a:pt x="478" y="106"/>
                </a:cubicBezTo>
                <a:cubicBezTo>
                  <a:pt x="492" y="94"/>
                  <a:pt x="485" y="69"/>
                  <a:pt x="493" y="53"/>
                </a:cubicBezTo>
                <a:cubicBezTo>
                  <a:pt x="500" y="40"/>
                  <a:pt x="520" y="29"/>
                  <a:pt x="531" y="22"/>
                </a:cubicBezTo>
                <a:cubicBezTo>
                  <a:pt x="549" y="25"/>
                  <a:pt x="568" y="23"/>
                  <a:pt x="584" y="30"/>
                </a:cubicBezTo>
                <a:cubicBezTo>
                  <a:pt x="608" y="41"/>
                  <a:pt x="599" y="83"/>
                  <a:pt x="614" y="98"/>
                </a:cubicBezTo>
                <a:cubicBezTo>
                  <a:pt x="625" y="109"/>
                  <a:pt x="667" y="115"/>
                  <a:pt x="682" y="121"/>
                </a:cubicBezTo>
                <a:cubicBezTo>
                  <a:pt x="732" y="104"/>
                  <a:pt x="706" y="90"/>
                  <a:pt x="728" y="68"/>
                </a:cubicBezTo>
                <a:cubicBezTo>
                  <a:pt x="737" y="59"/>
                  <a:pt x="789" y="42"/>
                  <a:pt x="804" y="37"/>
                </a:cubicBezTo>
                <a:cubicBezTo>
                  <a:pt x="817" y="40"/>
                  <a:pt x="831" y="38"/>
                  <a:pt x="842" y="45"/>
                </a:cubicBezTo>
                <a:cubicBezTo>
                  <a:pt x="847" y="48"/>
                  <a:pt x="859" y="105"/>
                  <a:pt x="864" y="113"/>
                </a:cubicBezTo>
                <a:cubicBezTo>
                  <a:pt x="874" y="129"/>
                  <a:pt x="886" y="130"/>
                  <a:pt x="902" y="136"/>
                </a:cubicBezTo>
                <a:cubicBezTo>
                  <a:pt x="920" y="131"/>
                  <a:pt x="942" y="134"/>
                  <a:pt x="955" y="121"/>
                </a:cubicBezTo>
                <a:cubicBezTo>
                  <a:pt x="961" y="115"/>
                  <a:pt x="959" y="105"/>
                  <a:pt x="963" y="98"/>
                </a:cubicBezTo>
                <a:cubicBezTo>
                  <a:pt x="972" y="82"/>
                  <a:pt x="983" y="68"/>
                  <a:pt x="993" y="53"/>
                </a:cubicBezTo>
                <a:cubicBezTo>
                  <a:pt x="1002" y="39"/>
                  <a:pt x="1039" y="37"/>
                  <a:pt x="1039" y="37"/>
                </a:cubicBezTo>
                <a:cubicBezTo>
                  <a:pt x="1052" y="40"/>
                  <a:pt x="1065" y="39"/>
                  <a:pt x="1077" y="45"/>
                </a:cubicBezTo>
                <a:cubicBezTo>
                  <a:pt x="1106" y="60"/>
                  <a:pt x="1101" y="92"/>
                  <a:pt x="1122" y="113"/>
                </a:cubicBezTo>
                <a:cubicBezTo>
                  <a:pt x="1144" y="135"/>
                  <a:pt x="1170" y="136"/>
                  <a:pt x="1198" y="136"/>
                </a:cubicBez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82" name="Text Box 62"/>
          <p:cNvSpPr txBox="1">
            <a:spLocks noChangeArrowheads="1"/>
          </p:cNvSpPr>
          <p:nvPr/>
        </p:nvSpPr>
        <p:spPr bwMode="auto">
          <a:xfrm>
            <a:off x="4079875" y="4797426"/>
            <a:ext cx="503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/>
              <a:t>(+)</a:t>
            </a:r>
          </a:p>
        </p:txBody>
      </p:sp>
      <p:sp>
        <p:nvSpPr>
          <p:cNvPr id="112683" name="Line 64"/>
          <p:cNvSpPr>
            <a:spLocks noChangeShapeType="1"/>
          </p:cNvSpPr>
          <p:nvPr/>
        </p:nvSpPr>
        <p:spPr bwMode="auto">
          <a:xfrm flipH="1">
            <a:off x="5375275" y="2060576"/>
            <a:ext cx="433388" cy="360363"/>
          </a:xfrm>
          <a:prstGeom prst="line">
            <a:avLst/>
          </a:prstGeom>
          <a:noFill/>
          <a:ln w="57150">
            <a:solidFill>
              <a:srgbClr val="FF99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2684" name="Line 67"/>
          <p:cNvSpPr>
            <a:spLocks noChangeShapeType="1"/>
          </p:cNvSpPr>
          <p:nvPr/>
        </p:nvSpPr>
        <p:spPr bwMode="auto">
          <a:xfrm>
            <a:off x="6959600" y="5013325"/>
            <a:ext cx="1728788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85" name="Text Box 68"/>
          <p:cNvSpPr txBox="1">
            <a:spLocks noChangeArrowheads="1"/>
          </p:cNvSpPr>
          <p:nvPr/>
        </p:nvSpPr>
        <p:spPr bwMode="auto">
          <a:xfrm>
            <a:off x="7104063" y="5084764"/>
            <a:ext cx="1225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(-)</a:t>
            </a:r>
          </a:p>
        </p:txBody>
      </p:sp>
      <p:sp>
        <p:nvSpPr>
          <p:cNvPr id="112686" name="Text Box 69"/>
          <p:cNvSpPr txBox="1">
            <a:spLocks noChangeArrowheads="1"/>
          </p:cNvSpPr>
          <p:nvPr/>
        </p:nvSpPr>
        <p:spPr bwMode="auto">
          <a:xfrm>
            <a:off x="7104064" y="4365626"/>
            <a:ext cx="936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(+)</a:t>
            </a:r>
          </a:p>
        </p:txBody>
      </p:sp>
      <p:sp>
        <p:nvSpPr>
          <p:cNvPr id="112687" name="Line 70"/>
          <p:cNvSpPr>
            <a:spLocks noChangeShapeType="1"/>
          </p:cNvSpPr>
          <p:nvPr/>
        </p:nvSpPr>
        <p:spPr bwMode="auto">
          <a:xfrm>
            <a:off x="9912350" y="3068639"/>
            <a:ext cx="0" cy="1368425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88" name="Line 71"/>
          <p:cNvSpPr>
            <a:spLocks noChangeShapeType="1"/>
          </p:cNvSpPr>
          <p:nvPr/>
        </p:nvSpPr>
        <p:spPr bwMode="auto">
          <a:xfrm flipV="1">
            <a:off x="9767888" y="4149725"/>
            <a:ext cx="0" cy="2159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89" name="Line 72"/>
          <p:cNvSpPr>
            <a:spLocks noChangeShapeType="1"/>
          </p:cNvSpPr>
          <p:nvPr/>
        </p:nvSpPr>
        <p:spPr bwMode="auto">
          <a:xfrm flipH="1" flipV="1">
            <a:off x="9191626" y="3573463"/>
            <a:ext cx="576263" cy="576262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2690" name="Line 73"/>
          <p:cNvSpPr>
            <a:spLocks noChangeShapeType="1"/>
          </p:cNvSpPr>
          <p:nvPr/>
        </p:nvSpPr>
        <p:spPr bwMode="auto">
          <a:xfrm flipV="1">
            <a:off x="9767888" y="3860801"/>
            <a:ext cx="0" cy="144463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91" name="Line 74"/>
          <p:cNvSpPr>
            <a:spLocks noChangeShapeType="1"/>
          </p:cNvSpPr>
          <p:nvPr/>
        </p:nvSpPr>
        <p:spPr bwMode="auto">
          <a:xfrm flipH="1" flipV="1">
            <a:off x="9264650" y="3357564"/>
            <a:ext cx="503238" cy="503237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2692" name="Line 75"/>
          <p:cNvSpPr>
            <a:spLocks noChangeShapeType="1"/>
          </p:cNvSpPr>
          <p:nvPr/>
        </p:nvSpPr>
        <p:spPr bwMode="auto">
          <a:xfrm flipV="1">
            <a:off x="9767888" y="3500438"/>
            <a:ext cx="0" cy="2159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93" name="Line 76"/>
          <p:cNvSpPr>
            <a:spLocks noChangeShapeType="1"/>
          </p:cNvSpPr>
          <p:nvPr/>
        </p:nvSpPr>
        <p:spPr bwMode="auto">
          <a:xfrm flipH="1" flipV="1">
            <a:off x="9336088" y="3141663"/>
            <a:ext cx="431800" cy="360362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2694" name="Text Box 77"/>
          <p:cNvSpPr txBox="1">
            <a:spLocks noChangeArrowheads="1"/>
          </p:cNvSpPr>
          <p:nvPr/>
        </p:nvSpPr>
        <p:spPr bwMode="auto">
          <a:xfrm>
            <a:off x="8832851" y="3644901"/>
            <a:ext cx="936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(+)</a:t>
            </a:r>
          </a:p>
        </p:txBody>
      </p:sp>
      <p:sp>
        <p:nvSpPr>
          <p:cNvPr id="112695" name="Text Box 78"/>
          <p:cNvSpPr txBox="1">
            <a:spLocks noChangeArrowheads="1"/>
          </p:cNvSpPr>
          <p:nvPr/>
        </p:nvSpPr>
        <p:spPr bwMode="auto">
          <a:xfrm>
            <a:off x="8832851" y="3213101"/>
            <a:ext cx="936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(+)</a:t>
            </a:r>
          </a:p>
        </p:txBody>
      </p:sp>
      <p:sp>
        <p:nvSpPr>
          <p:cNvPr id="112696" name="Text Box 79"/>
          <p:cNvSpPr txBox="1">
            <a:spLocks noChangeArrowheads="1"/>
          </p:cNvSpPr>
          <p:nvPr/>
        </p:nvSpPr>
        <p:spPr bwMode="auto">
          <a:xfrm>
            <a:off x="8832851" y="2781301"/>
            <a:ext cx="936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(+)</a:t>
            </a:r>
          </a:p>
        </p:txBody>
      </p:sp>
      <p:sp>
        <p:nvSpPr>
          <p:cNvPr id="112697" name="Text Box 80"/>
          <p:cNvSpPr txBox="1">
            <a:spLocks noChangeArrowheads="1"/>
          </p:cNvSpPr>
          <p:nvPr/>
        </p:nvSpPr>
        <p:spPr bwMode="auto">
          <a:xfrm>
            <a:off x="9767888" y="4437064"/>
            <a:ext cx="755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(-)</a:t>
            </a:r>
          </a:p>
        </p:txBody>
      </p:sp>
      <p:sp>
        <p:nvSpPr>
          <p:cNvPr id="112698" name="Line 81"/>
          <p:cNvSpPr>
            <a:spLocks noChangeShapeType="1"/>
          </p:cNvSpPr>
          <p:nvPr/>
        </p:nvSpPr>
        <p:spPr bwMode="auto">
          <a:xfrm flipH="1" flipV="1">
            <a:off x="8472488" y="2205038"/>
            <a:ext cx="576262" cy="360362"/>
          </a:xfrm>
          <a:prstGeom prst="line">
            <a:avLst/>
          </a:prstGeom>
          <a:noFill/>
          <a:ln w="57150">
            <a:solidFill>
              <a:srgbClr val="FF99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2699" name="Text Box 82"/>
          <p:cNvSpPr txBox="1">
            <a:spLocks noChangeArrowheads="1"/>
          </p:cNvSpPr>
          <p:nvPr/>
        </p:nvSpPr>
        <p:spPr bwMode="auto">
          <a:xfrm>
            <a:off x="7751763" y="1773239"/>
            <a:ext cx="1225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(+)</a:t>
            </a:r>
          </a:p>
        </p:txBody>
      </p:sp>
      <p:sp>
        <p:nvSpPr>
          <p:cNvPr id="112700" name="Text Box 83"/>
          <p:cNvSpPr txBox="1">
            <a:spLocks noChangeArrowheads="1"/>
          </p:cNvSpPr>
          <p:nvPr/>
        </p:nvSpPr>
        <p:spPr bwMode="auto">
          <a:xfrm>
            <a:off x="7680325" y="2133601"/>
            <a:ext cx="1225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(+)</a:t>
            </a:r>
          </a:p>
        </p:txBody>
      </p:sp>
      <p:sp>
        <p:nvSpPr>
          <p:cNvPr id="112701" name="Text Box 84"/>
          <p:cNvSpPr txBox="1">
            <a:spLocks noChangeArrowheads="1"/>
          </p:cNvSpPr>
          <p:nvPr/>
        </p:nvSpPr>
        <p:spPr bwMode="auto">
          <a:xfrm>
            <a:off x="7464425" y="2492376"/>
            <a:ext cx="1225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(+)</a:t>
            </a:r>
          </a:p>
        </p:txBody>
      </p:sp>
      <p:sp>
        <p:nvSpPr>
          <p:cNvPr id="112702" name="Oval 85"/>
          <p:cNvSpPr>
            <a:spLocks noChangeArrowheads="1"/>
          </p:cNvSpPr>
          <p:nvPr/>
        </p:nvSpPr>
        <p:spPr bwMode="auto">
          <a:xfrm>
            <a:off x="8543926" y="4797426"/>
            <a:ext cx="144463" cy="2889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703" name="Text Box 86"/>
          <p:cNvSpPr txBox="1">
            <a:spLocks noChangeArrowheads="1"/>
          </p:cNvSpPr>
          <p:nvPr/>
        </p:nvSpPr>
        <p:spPr bwMode="auto">
          <a:xfrm>
            <a:off x="7751764" y="5300663"/>
            <a:ext cx="1800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/>
              <a:t>Replicase</a:t>
            </a:r>
          </a:p>
        </p:txBody>
      </p:sp>
      <p:sp>
        <p:nvSpPr>
          <p:cNvPr id="112704" name="Rectangle 87"/>
          <p:cNvSpPr>
            <a:spLocks noChangeArrowheads="1"/>
          </p:cNvSpPr>
          <p:nvPr/>
        </p:nvSpPr>
        <p:spPr bwMode="auto">
          <a:xfrm>
            <a:off x="5735638" y="5445126"/>
            <a:ext cx="215900" cy="144463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705" name="Rectangle 88"/>
          <p:cNvSpPr>
            <a:spLocks noChangeArrowheads="1"/>
          </p:cNvSpPr>
          <p:nvPr/>
        </p:nvSpPr>
        <p:spPr bwMode="auto">
          <a:xfrm>
            <a:off x="5519738" y="5229226"/>
            <a:ext cx="215900" cy="144463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706" name="Rectangle 89"/>
          <p:cNvSpPr>
            <a:spLocks noChangeArrowheads="1"/>
          </p:cNvSpPr>
          <p:nvPr/>
        </p:nvSpPr>
        <p:spPr bwMode="auto">
          <a:xfrm>
            <a:off x="5375275" y="5516563"/>
            <a:ext cx="215900" cy="144462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707" name="Rectangle 90"/>
          <p:cNvSpPr>
            <a:spLocks noChangeArrowheads="1"/>
          </p:cNvSpPr>
          <p:nvPr/>
        </p:nvSpPr>
        <p:spPr bwMode="auto">
          <a:xfrm>
            <a:off x="5159375" y="5229226"/>
            <a:ext cx="215900" cy="144463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2708" name="Rectangle 91"/>
          <p:cNvSpPr>
            <a:spLocks noChangeArrowheads="1"/>
          </p:cNvSpPr>
          <p:nvPr/>
        </p:nvSpPr>
        <p:spPr bwMode="auto">
          <a:xfrm>
            <a:off x="5087938" y="5516563"/>
            <a:ext cx="215900" cy="144462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5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86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260350"/>
            <a:ext cx="8642350" cy="6408738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Clr>
                <a:srgbClr val="0033CC"/>
              </a:buClr>
              <a:buFont typeface="Wingdings" pitchFamily="2" charset="2"/>
              <a:buChar char="ü"/>
            </a:pPr>
            <a:r>
              <a:rPr lang="fr-FR" sz="3600"/>
              <a:t> Les régions </a:t>
            </a:r>
            <a:r>
              <a:rPr lang="fr-FR" sz="3600">
                <a:solidFill>
                  <a:srgbClr val="FF0066"/>
                </a:solidFill>
              </a:rPr>
              <a:t>P2</a:t>
            </a:r>
            <a:r>
              <a:rPr lang="fr-FR" sz="3600"/>
              <a:t> et </a:t>
            </a:r>
            <a:r>
              <a:rPr lang="fr-FR" sz="3600">
                <a:solidFill>
                  <a:srgbClr val="FF0066"/>
                </a:solidFill>
              </a:rPr>
              <a:t>P3</a:t>
            </a:r>
            <a:r>
              <a:rPr lang="fr-FR" sz="3600"/>
              <a:t> (donne les protéines non structurales dont l’ARN polymérase-ARN dépendante ou réplicase). </a:t>
            </a:r>
          </a:p>
          <a:p>
            <a:pPr eaLnBrk="1" hangingPunct="1"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</a:pPr>
            <a:r>
              <a:rPr lang="fr-FR" sz="3600"/>
              <a:t>La réplicase va synthétiser un brin (-).</a:t>
            </a:r>
          </a:p>
          <a:p>
            <a:pPr eaLnBrk="1" hangingPunct="1"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</a:pPr>
            <a:r>
              <a:rPr lang="fr-FR" sz="3600"/>
              <a:t>Le brin (-) va servir à la synthèse de nouveaux brins (+) toujours grâce à la réplicase.  </a:t>
            </a:r>
          </a:p>
          <a:p>
            <a:pPr eaLnBrk="1" hangingPunct="1"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</a:pPr>
            <a:r>
              <a:rPr lang="fr-FR" sz="3600"/>
              <a:t>Ces nouveaux brins (+) vont être encapsidés afin de former de nouveaux virions.</a:t>
            </a:r>
            <a:br>
              <a:rPr lang="fr-FR" sz="3600"/>
            </a:br>
            <a:endParaRPr lang="fr-FR" sz="3600"/>
          </a:p>
        </p:txBody>
      </p:sp>
    </p:spTree>
    <p:extLst>
      <p:ext uri="{BB962C8B-B14F-4D97-AF65-F5344CB8AC3E}">
        <p14:creationId xmlns:p14="http://schemas.microsoft.com/office/powerpoint/2010/main" val="242923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260350"/>
            <a:ext cx="8713788" cy="6337300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buClr>
                <a:srgbClr val="FF0066"/>
              </a:buClr>
              <a:buFont typeface="Wingdings" pitchFamily="2" charset="2"/>
              <a:buChar char="§"/>
            </a:pPr>
            <a:r>
              <a:rPr lang="fr-FR" sz="3600"/>
              <a:t>Le génome de polarité </a:t>
            </a:r>
            <a:r>
              <a:rPr lang="fr-FR" sz="3600">
                <a:solidFill>
                  <a:srgbClr val="FF0066"/>
                </a:solidFill>
              </a:rPr>
              <a:t>(+)</a:t>
            </a:r>
            <a:r>
              <a:rPr lang="fr-FR" sz="3600"/>
              <a:t> est traduit directement en une grande polyprotéine qui est ensuite clivée pour donner naissance à trois protéines </a:t>
            </a:r>
            <a:r>
              <a:rPr lang="fr-FR" sz="3600">
                <a:solidFill>
                  <a:srgbClr val="FF0066"/>
                </a:solidFill>
              </a:rPr>
              <a:t>P1</a:t>
            </a:r>
            <a:r>
              <a:rPr lang="fr-FR" sz="3600"/>
              <a:t>, </a:t>
            </a:r>
            <a:r>
              <a:rPr lang="fr-FR" sz="3600">
                <a:solidFill>
                  <a:srgbClr val="FF0066"/>
                </a:solidFill>
              </a:rPr>
              <a:t>P2 </a:t>
            </a:r>
            <a:r>
              <a:rPr lang="fr-FR" sz="3600"/>
              <a:t>et </a:t>
            </a:r>
            <a:r>
              <a:rPr lang="fr-FR" sz="3600">
                <a:solidFill>
                  <a:srgbClr val="FF0066"/>
                </a:solidFill>
              </a:rPr>
              <a:t>P3.</a:t>
            </a:r>
            <a:r>
              <a:rPr lang="fr-FR" sz="3600"/>
              <a:t> </a:t>
            </a:r>
          </a:p>
          <a:p>
            <a:pPr eaLnBrk="1" hangingPunct="1">
              <a:buClr>
                <a:srgbClr val="FF0066"/>
              </a:buClr>
              <a:buFont typeface="Wingdings" pitchFamily="2" charset="2"/>
              <a:buChar char="§"/>
            </a:pPr>
            <a:r>
              <a:rPr lang="fr-FR" sz="3600"/>
              <a:t>Maturation de ces protéines virales.</a:t>
            </a:r>
          </a:p>
          <a:p>
            <a:pPr eaLnBrk="1" hangingPunct="1">
              <a:buClr>
                <a:srgbClr val="0033CC"/>
              </a:buClr>
              <a:buFont typeface="Wingdings" pitchFamily="2" charset="2"/>
              <a:buChar char="ü"/>
            </a:pPr>
            <a:r>
              <a:rPr lang="fr-FR" sz="3600"/>
              <a:t> La protéine </a:t>
            </a:r>
            <a:r>
              <a:rPr lang="fr-FR" sz="3600">
                <a:solidFill>
                  <a:srgbClr val="FF0066"/>
                </a:solidFill>
              </a:rPr>
              <a:t>P1</a:t>
            </a:r>
            <a:r>
              <a:rPr lang="fr-FR" sz="3600"/>
              <a:t> (donne les protéines de capside). </a:t>
            </a:r>
          </a:p>
        </p:txBody>
      </p:sp>
    </p:spTree>
    <p:extLst>
      <p:ext uri="{BB962C8B-B14F-4D97-AF65-F5344CB8AC3E}">
        <p14:creationId xmlns:p14="http://schemas.microsoft.com/office/powerpoint/2010/main" val="17165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333376"/>
            <a:ext cx="8713788" cy="6335713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fr-FR" sz="3600" dirty="0"/>
              <a:t>Le mécanisme de la réplication varie selon qu’il s’agit d’un virus à </a:t>
            </a:r>
            <a:r>
              <a:rPr lang="fr-FR" sz="3600" dirty="0">
                <a:solidFill>
                  <a:srgbClr val="FF0066"/>
                </a:solidFill>
              </a:rPr>
              <a:t>ADN</a:t>
            </a:r>
            <a:r>
              <a:rPr lang="fr-FR" sz="3600" dirty="0"/>
              <a:t> ou </a:t>
            </a:r>
            <a:r>
              <a:rPr lang="fr-FR" sz="3600" dirty="0">
                <a:solidFill>
                  <a:srgbClr val="FF0066"/>
                </a:solidFill>
              </a:rPr>
              <a:t>ARN</a:t>
            </a:r>
            <a:r>
              <a:rPr lang="fr-FR" sz="3600" dirty="0">
                <a:solidFill>
                  <a:srgbClr val="0033CC"/>
                </a:solidFill>
              </a:rPr>
              <a:t>.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fr-FR" sz="3600" dirty="0"/>
              <a:t>Seuls les virus à ADN dont la réplication est intranucléaire peuvent utiliser les enzymes cellulaires pour la transcription.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fr-FR" sz="3600" dirty="0"/>
              <a:t>Les autres virus doivent posséder leurs propres enzymes (ex : </a:t>
            </a:r>
            <a:r>
              <a:rPr lang="fr-FR" sz="3600" dirty="0" err="1"/>
              <a:t>poxvirus</a:t>
            </a:r>
            <a:r>
              <a:rPr lang="fr-FR" sz="3600" dirty="0"/>
              <a:t> qui ont une réplication cytoplasmique, virus à ADN).</a:t>
            </a:r>
            <a:br>
              <a:rPr lang="fr-FR" sz="3600" dirty="0"/>
            </a:br>
            <a:endParaRPr lang="fr-FR" sz="3600" dirty="0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2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492168" y="2133600"/>
            <a:ext cx="4541165" cy="377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4019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4"/>
          <p:cNvSpPr>
            <a:spLocks noChangeArrowheads="1"/>
          </p:cNvSpPr>
          <p:nvPr/>
        </p:nvSpPr>
        <p:spPr bwMode="auto">
          <a:xfrm>
            <a:off x="2063750" y="620714"/>
            <a:ext cx="8135938" cy="57610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5715" name="Text Box 5"/>
          <p:cNvSpPr txBox="1">
            <a:spLocks noChangeArrowheads="1"/>
          </p:cNvSpPr>
          <p:nvPr/>
        </p:nvSpPr>
        <p:spPr bwMode="auto">
          <a:xfrm>
            <a:off x="2063750" y="620714"/>
            <a:ext cx="8135938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5"/>
              </a:buBlip>
            </a:pPr>
            <a:r>
              <a:rPr lang="fr-FR" sz="4000" b="1">
                <a:solidFill>
                  <a:srgbClr val="FF3399"/>
                </a:solidFill>
              </a:rPr>
              <a:t> Virus à ARN de polarité (-) :</a:t>
            </a:r>
            <a:r>
              <a:rPr lang="fr-FR" sz="4000" b="1"/>
              <a:t> </a:t>
            </a:r>
            <a:r>
              <a:rPr lang="fr-FR" sz="4000"/>
              <a:t>Le virus possède une transcriptase virale qui permet la synthèse d’un </a:t>
            </a:r>
            <a:r>
              <a:rPr lang="fr-FR" sz="4000">
                <a:solidFill>
                  <a:srgbClr val="FF3399"/>
                </a:solidFill>
              </a:rPr>
              <a:t>ARN (+)</a:t>
            </a:r>
            <a:r>
              <a:rPr lang="fr-FR" sz="4000"/>
              <a:t> seul capable d’être lu par la cellule.</a:t>
            </a:r>
            <a:endParaRPr lang="fr-FR" sz="4000" b="1"/>
          </a:p>
          <a:p>
            <a:r>
              <a:rPr lang="fr-FR" sz="4000" b="1"/>
              <a:t>ARN (-) transcriptase          </a:t>
            </a:r>
          </a:p>
          <a:p>
            <a:r>
              <a:rPr lang="fr-FR" sz="4000" b="1"/>
              <a:t>ARN (+)                  Traduction.</a:t>
            </a:r>
          </a:p>
        </p:txBody>
      </p:sp>
      <p:sp>
        <p:nvSpPr>
          <p:cNvPr id="115716" name="AutoShape 6"/>
          <p:cNvSpPr>
            <a:spLocks noChangeArrowheads="1"/>
          </p:cNvSpPr>
          <p:nvPr/>
        </p:nvSpPr>
        <p:spPr bwMode="auto">
          <a:xfrm>
            <a:off x="7464425" y="3860801"/>
            <a:ext cx="2160588" cy="360363"/>
          </a:xfrm>
          <a:custGeom>
            <a:avLst/>
            <a:gdLst>
              <a:gd name="T0" fmla="*/ 1620441 w 21600"/>
              <a:gd name="T1" fmla="*/ 0 h 21600"/>
              <a:gd name="T2" fmla="*/ 0 w 21600"/>
              <a:gd name="T3" fmla="*/ 180182 h 21600"/>
              <a:gd name="T4" fmla="*/ 1620441 w 21600"/>
              <a:gd name="T5" fmla="*/ 360363 h 21600"/>
              <a:gd name="T6" fmla="*/ 2160588 w 21600"/>
              <a:gd name="T7" fmla="*/ 18018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5717" name="AutoShape 7"/>
          <p:cNvSpPr>
            <a:spLocks noChangeArrowheads="1"/>
          </p:cNvSpPr>
          <p:nvPr/>
        </p:nvSpPr>
        <p:spPr bwMode="auto">
          <a:xfrm>
            <a:off x="4295776" y="4581526"/>
            <a:ext cx="2087563" cy="360363"/>
          </a:xfrm>
          <a:custGeom>
            <a:avLst/>
            <a:gdLst>
              <a:gd name="T0" fmla="*/ 1565672 w 21600"/>
              <a:gd name="T1" fmla="*/ 0 h 21600"/>
              <a:gd name="T2" fmla="*/ 0 w 21600"/>
              <a:gd name="T3" fmla="*/ 180182 h 21600"/>
              <a:gd name="T4" fmla="*/ 1565672 w 21600"/>
              <a:gd name="T5" fmla="*/ 360363 h 21600"/>
              <a:gd name="T6" fmla="*/ 2087563 w 21600"/>
              <a:gd name="T7" fmla="*/ 18018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4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476250"/>
            <a:ext cx="7715250" cy="8509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fr-FR" smtClean="0"/>
              <a:t>Réplication des virus à </a:t>
            </a:r>
            <a:r>
              <a:rPr lang="fr-FR" smtClean="0">
                <a:solidFill>
                  <a:srgbClr val="FF0000"/>
                </a:solidFill>
              </a:rPr>
              <a:t>ARN -</a:t>
            </a:r>
          </a:p>
        </p:txBody>
      </p:sp>
      <p:sp>
        <p:nvSpPr>
          <p:cNvPr id="116739" name="Line 5"/>
          <p:cNvSpPr>
            <a:spLocks noChangeShapeType="1"/>
          </p:cNvSpPr>
          <p:nvPr/>
        </p:nvSpPr>
        <p:spPr bwMode="auto">
          <a:xfrm>
            <a:off x="3216275" y="2492375"/>
            <a:ext cx="5329238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6740" name="Freeform 9"/>
          <p:cNvSpPr>
            <a:spLocks/>
          </p:cNvSpPr>
          <p:nvPr/>
        </p:nvSpPr>
        <p:spPr bwMode="auto">
          <a:xfrm>
            <a:off x="2855914" y="4652963"/>
            <a:ext cx="4179887" cy="360362"/>
          </a:xfrm>
          <a:custGeom>
            <a:avLst/>
            <a:gdLst>
              <a:gd name="T0" fmla="*/ 11 w 2633"/>
              <a:gd name="T1" fmla="*/ 90 h 227"/>
              <a:gd name="T2" fmla="*/ 34 w 2633"/>
              <a:gd name="T3" fmla="*/ 37 h 227"/>
              <a:gd name="T4" fmla="*/ 102 w 2633"/>
              <a:gd name="T5" fmla="*/ 45 h 227"/>
              <a:gd name="T6" fmla="*/ 140 w 2633"/>
              <a:gd name="T7" fmla="*/ 113 h 227"/>
              <a:gd name="T8" fmla="*/ 216 w 2633"/>
              <a:gd name="T9" fmla="*/ 227 h 227"/>
              <a:gd name="T10" fmla="*/ 269 w 2633"/>
              <a:gd name="T11" fmla="*/ 174 h 227"/>
              <a:gd name="T12" fmla="*/ 299 w 2633"/>
              <a:gd name="T13" fmla="*/ 128 h 227"/>
              <a:gd name="T14" fmla="*/ 352 w 2633"/>
              <a:gd name="T15" fmla="*/ 45 h 227"/>
              <a:gd name="T16" fmla="*/ 397 w 2633"/>
              <a:gd name="T17" fmla="*/ 30 h 227"/>
              <a:gd name="T18" fmla="*/ 420 w 2633"/>
              <a:gd name="T19" fmla="*/ 22 h 227"/>
              <a:gd name="T20" fmla="*/ 481 w 2633"/>
              <a:gd name="T21" fmla="*/ 151 h 227"/>
              <a:gd name="T22" fmla="*/ 511 w 2633"/>
              <a:gd name="T23" fmla="*/ 197 h 227"/>
              <a:gd name="T24" fmla="*/ 557 w 2633"/>
              <a:gd name="T25" fmla="*/ 212 h 227"/>
              <a:gd name="T26" fmla="*/ 648 w 2633"/>
              <a:gd name="T27" fmla="*/ 174 h 227"/>
              <a:gd name="T28" fmla="*/ 678 w 2633"/>
              <a:gd name="T29" fmla="*/ 128 h 227"/>
              <a:gd name="T30" fmla="*/ 716 w 2633"/>
              <a:gd name="T31" fmla="*/ 15 h 227"/>
              <a:gd name="T32" fmla="*/ 738 w 2633"/>
              <a:gd name="T33" fmla="*/ 7 h 227"/>
              <a:gd name="T34" fmla="*/ 799 w 2633"/>
              <a:gd name="T35" fmla="*/ 45 h 227"/>
              <a:gd name="T36" fmla="*/ 867 w 2633"/>
              <a:gd name="T37" fmla="*/ 212 h 227"/>
              <a:gd name="T38" fmla="*/ 936 w 2633"/>
              <a:gd name="T39" fmla="*/ 181 h 227"/>
              <a:gd name="T40" fmla="*/ 989 w 2633"/>
              <a:gd name="T41" fmla="*/ 98 h 227"/>
              <a:gd name="T42" fmla="*/ 1072 w 2633"/>
              <a:gd name="T43" fmla="*/ 22 h 227"/>
              <a:gd name="T44" fmla="*/ 1117 w 2633"/>
              <a:gd name="T45" fmla="*/ 37 h 227"/>
              <a:gd name="T46" fmla="*/ 1140 w 2633"/>
              <a:gd name="T47" fmla="*/ 45 h 227"/>
              <a:gd name="T48" fmla="*/ 1178 w 2633"/>
              <a:gd name="T49" fmla="*/ 90 h 227"/>
              <a:gd name="T50" fmla="*/ 1246 w 2633"/>
              <a:gd name="T51" fmla="*/ 219 h 227"/>
              <a:gd name="T52" fmla="*/ 1360 w 2633"/>
              <a:gd name="T53" fmla="*/ 174 h 227"/>
              <a:gd name="T54" fmla="*/ 1390 w 2633"/>
              <a:gd name="T55" fmla="*/ 128 h 227"/>
              <a:gd name="T56" fmla="*/ 1405 w 2633"/>
              <a:gd name="T57" fmla="*/ 60 h 227"/>
              <a:gd name="T58" fmla="*/ 1436 w 2633"/>
              <a:gd name="T59" fmla="*/ 15 h 227"/>
              <a:gd name="T60" fmla="*/ 1519 w 2633"/>
              <a:gd name="T61" fmla="*/ 30 h 227"/>
              <a:gd name="T62" fmla="*/ 1565 w 2633"/>
              <a:gd name="T63" fmla="*/ 113 h 227"/>
              <a:gd name="T64" fmla="*/ 1610 w 2633"/>
              <a:gd name="T65" fmla="*/ 189 h 227"/>
              <a:gd name="T66" fmla="*/ 1701 w 2633"/>
              <a:gd name="T67" fmla="*/ 166 h 227"/>
              <a:gd name="T68" fmla="*/ 1754 w 2633"/>
              <a:gd name="T69" fmla="*/ 106 h 227"/>
              <a:gd name="T70" fmla="*/ 1815 w 2633"/>
              <a:gd name="T71" fmla="*/ 0 h 227"/>
              <a:gd name="T72" fmla="*/ 1868 w 2633"/>
              <a:gd name="T73" fmla="*/ 53 h 227"/>
              <a:gd name="T74" fmla="*/ 1951 w 2633"/>
              <a:gd name="T75" fmla="*/ 197 h 227"/>
              <a:gd name="T76" fmla="*/ 1989 w 2633"/>
              <a:gd name="T77" fmla="*/ 189 h 227"/>
              <a:gd name="T78" fmla="*/ 2034 w 2633"/>
              <a:gd name="T79" fmla="*/ 174 h 227"/>
              <a:gd name="T80" fmla="*/ 2065 w 2633"/>
              <a:gd name="T81" fmla="*/ 98 h 227"/>
              <a:gd name="T82" fmla="*/ 2125 w 2633"/>
              <a:gd name="T83" fmla="*/ 15 h 227"/>
              <a:gd name="T84" fmla="*/ 2171 w 2633"/>
              <a:gd name="T85" fmla="*/ 37 h 227"/>
              <a:gd name="T86" fmla="*/ 2224 w 2633"/>
              <a:gd name="T87" fmla="*/ 174 h 227"/>
              <a:gd name="T88" fmla="*/ 2277 w 2633"/>
              <a:gd name="T89" fmla="*/ 197 h 227"/>
              <a:gd name="T90" fmla="*/ 2330 w 2633"/>
              <a:gd name="T91" fmla="*/ 181 h 227"/>
              <a:gd name="T92" fmla="*/ 2345 w 2633"/>
              <a:gd name="T93" fmla="*/ 121 h 227"/>
              <a:gd name="T94" fmla="*/ 2451 w 2633"/>
              <a:gd name="T95" fmla="*/ 22 h 227"/>
              <a:gd name="T96" fmla="*/ 2497 w 2633"/>
              <a:gd name="T97" fmla="*/ 75 h 227"/>
              <a:gd name="T98" fmla="*/ 2535 w 2633"/>
              <a:gd name="T99" fmla="*/ 189 h 227"/>
              <a:gd name="T100" fmla="*/ 2557 w 2633"/>
              <a:gd name="T101" fmla="*/ 197 h 227"/>
              <a:gd name="T102" fmla="*/ 2603 w 2633"/>
              <a:gd name="T103" fmla="*/ 219 h 227"/>
              <a:gd name="T104" fmla="*/ 2633 w 2633"/>
              <a:gd name="T105" fmla="*/ 212 h 227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2633"/>
              <a:gd name="T160" fmla="*/ 0 h 227"/>
              <a:gd name="T161" fmla="*/ 2633 w 2633"/>
              <a:gd name="T162" fmla="*/ 227 h 227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2633" h="227">
                <a:moveTo>
                  <a:pt x="11" y="90"/>
                </a:moveTo>
                <a:cubicBezTo>
                  <a:pt x="0" y="59"/>
                  <a:pt x="2" y="48"/>
                  <a:pt x="34" y="37"/>
                </a:cubicBezTo>
                <a:cubicBezTo>
                  <a:pt x="57" y="40"/>
                  <a:pt x="82" y="34"/>
                  <a:pt x="102" y="45"/>
                </a:cubicBezTo>
                <a:cubicBezTo>
                  <a:pt x="121" y="55"/>
                  <a:pt x="133" y="92"/>
                  <a:pt x="140" y="113"/>
                </a:cubicBezTo>
                <a:cubicBezTo>
                  <a:pt x="156" y="161"/>
                  <a:pt x="164" y="209"/>
                  <a:pt x="216" y="227"/>
                </a:cubicBezTo>
                <a:cubicBezTo>
                  <a:pt x="249" y="215"/>
                  <a:pt x="253" y="202"/>
                  <a:pt x="269" y="174"/>
                </a:cubicBezTo>
                <a:cubicBezTo>
                  <a:pt x="278" y="158"/>
                  <a:pt x="299" y="128"/>
                  <a:pt x="299" y="128"/>
                </a:cubicBezTo>
                <a:cubicBezTo>
                  <a:pt x="310" y="94"/>
                  <a:pt x="315" y="61"/>
                  <a:pt x="352" y="45"/>
                </a:cubicBezTo>
                <a:cubicBezTo>
                  <a:pt x="366" y="39"/>
                  <a:pt x="382" y="35"/>
                  <a:pt x="397" y="30"/>
                </a:cubicBezTo>
                <a:cubicBezTo>
                  <a:pt x="405" y="27"/>
                  <a:pt x="420" y="22"/>
                  <a:pt x="420" y="22"/>
                </a:cubicBezTo>
                <a:cubicBezTo>
                  <a:pt x="468" y="53"/>
                  <a:pt x="453" y="108"/>
                  <a:pt x="481" y="151"/>
                </a:cubicBezTo>
                <a:cubicBezTo>
                  <a:pt x="491" y="166"/>
                  <a:pt x="501" y="182"/>
                  <a:pt x="511" y="197"/>
                </a:cubicBezTo>
                <a:cubicBezTo>
                  <a:pt x="520" y="211"/>
                  <a:pt x="542" y="207"/>
                  <a:pt x="557" y="212"/>
                </a:cubicBezTo>
                <a:cubicBezTo>
                  <a:pt x="589" y="200"/>
                  <a:pt x="619" y="193"/>
                  <a:pt x="648" y="174"/>
                </a:cubicBezTo>
                <a:cubicBezTo>
                  <a:pt x="658" y="159"/>
                  <a:pt x="672" y="145"/>
                  <a:pt x="678" y="128"/>
                </a:cubicBezTo>
                <a:cubicBezTo>
                  <a:pt x="679" y="125"/>
                  <a:pt x="710" y="21"/>
                  <a:pt x="716" y="15"/>
                </a:cubicBezTo>
                <a:cubicBezTo>
                  <a:pt x="722" y="9"/>
                  <a:pt x="731" y="10"/>
                  <a:pt x="738" y="7"/>
                </a:cubicBezTo>
                <a:cubicBezTo>
                  <a:pt x="769" y="18"/>
                  <a:pt x="780" y="17"/>
                  <a:pt x="799" y="45"/>
                </a:cubicBezTo>
                <a:cubicBezTo>
                  <a:pt x="814" y="102"/>
                  <a:pt x="826" y="169"/>
                  <a:pt x="867" y="212"/>
                </a:cubicBezTo>
                <a:cubicBezTo>
                  <a:pt x="893" y="203"/>
                  <a:pt x="913" y="197"/>
                  <a:pt x="936" y="181"/>
                </a:cubicBezTo>
                <a:cubicBezTo>
                  <a:pt x="951" y="158"/>
                  <a:pt x="969" y="117"/>
                  <a:pt x="989" y="98"/>
                </a:cubicBezTo>
                <a:cubicBezTo>
                  <a:pt x="1005" y="44"/>
                  <a:pt x="1023" y="39"/>
                  <a:pt x="1072" y="22"/>
                </a:cubicBezTo>
                <a:cubicBezTo>
                  <a:pt x="1087" y="27"/>
                  <a:pt x="1102" y="32"/>
                  <a:pt x="1117" y="37"/>
                </a:cubicBezTo>
                <a:cubicBezTo>
                  <a:pt x="1125" y="40"/>
                  <a:pt x="1140" y="45"/>
                  <a:pt x="1140" y="45"/>
                </a:cubicBezTo>
                <a:cubicBezTo>
                  <a:pt x="1156" y="61"/>
                  <a:pt x="1168" y="70"/>
                  <a:pt x="1178" y="90"/>
                </a:cubicBezTo>
                <a:cubicBezTo>
                  <a:pt x="1200" y="132"/>
                  <a:pt x="1196" y="203"/>
                  <a:pt x="1246" y="219"/>
                </a:cubicBezTo>
                <a:cubicBezTo>
                  <a:pt x="1290" y="212"/>
                  <a:pt x="1323" y="198"/>
                  <a:pt x="1360" y="174"/>
                </a:cubicBezTo>
                <a:cubicBezTo>
                  <a:pt x="1370" y="159"/>
                  <a:pt x="1380" y="143"/>
                  <a:pt x="1390" y="128"/>
                </a:cubicBezTo>
                <a:cubicBezTo>
                  <a:pt x="1403" y="109"/>
                  <a:pt x="1394" y="80"/>
                  <a:pt x="1405" y="60"/>
                </a:cubicBezTo>
                <a:cubicBezTo>
                  <a:pt x="1414" y="44"/>
                  <a:pt x="1436" y="15"/>
                  <a:pt x="1436" y="15"/>
                </a:cubicBezTo>
                <a:cubicBezTo>
                  <a:pt x="1440" y="16"/>
                  <a:pt x="1512" y="26"/>
                  <a:pt x="1519" y="30"/>
                </a:cubicBezTo>
                <a:cubicBezTo>
                  <a:pt x="1544" y="45"/>
                  <a:pt x="1543" y="92"/>
                  <a:pt x="1565" y="113"/>
                </a:cubicBezTo>
                <a:cubicBezTo>
                  <a:pt x="1578" y="155"/>
                  <a:pt x="1568" y="174"/>
                  <a:pt x="1610" y="189"/>
                </a:cubicBezTo>
                <a:cubicBezTo>
                  <a:pt x="1641" y="182"/>
                  <a:pt x="1671" y="176"/>
                  <a:pt x="1701" y="166"/>
                </a:cubicBezTo>
                <a:cubicBezTo>
                  <a:pt x="1719" y="146"/>
                  <a:pt x="1738" y="128"/>
                  <a:pt x="1754" y="106"/>
                </a:cubicBezTo>
                <a:cubicBezTo>
                  <a:pt x="1783" y="66"/>
                  <a:pt x="1753" y="19"/>
                  <a:pt x="1815" y="0"/>
                </a:cubicBezTo>
                <a:cubicBezTo>
                  <a:pt x="1839" y="17"/>
                  <a:pt x="1852" y="28"/>
                  <a:pt x="1868" y="53"/>
                </a:cubicBezTo>
                <a:cubicBezTo>
                  <a:pt x="1889" y="119"/>
                  <a:pt x="1880" y="172"/>
                  <a:pt x="1951" y="197"/>
                </a:cubicBezTo>
                <a:cubicBezTo>
                  <a:pt x="1964" y="194"/>
                  <a:pt x="1977" y="192"/>
                  <a:pt x="1989" y="189"/>
                </a:cubicBezTo>
                <a:cubicBezTo>
                  <a:pt x="2004" y="185"/>
                  <a:pt x="2034" y="174"/>
                  <a:pt x="2034" y="174"/>
                </a:cubicBezTo>
                <a:cubicBezTo>
                  <a:pt x="2044" y="146"/>
                  <a:pt x="2049" y="123"/>
                  <a:pt x="2065" y="98"/>
                </a:cubicBezTo>
                <a:cubicBezTo>
                  <a:pt x="2075" y="66"/>
                  <a:pt x="2101" y="39"/>
                  <a:pt x="2125" y="15"/>
                </a:cubicBezTo>
                <a:cubicBezTo>
                  <a:pt x="2140" y="20"/>
                  <a:pt x="2160" y="23"/>
                  <a:pt x="2171" y="37"/>
                </a:cubicBezTo>
                <a:cubicBezTo>
                  <a:pt x="2196" y="68"/>
                  <a:pt x="2191" y="141"/>
                  <a:pt x="2224" y="174"/>
                </a:cubicBezTo>
                <a:cubicBezTo>
                  <a:pt x="2241" y="191"/>
                  <a:pt x="2255" y="191"/>
                  <a:pt x="2277" y="197"/>
                </a:cubicBezTo>
                <a:cubicBezTo>
                  <a:pt x="2278" y="197"/>
                  <a:pt x="2326" y="185"/>
                  <a:pt x="2330" y="181"/>
                </a:cubicBezTo>
                <a:cubicBezTo>
                  <a:pt x="2338" y="174"/>
                  <a:pt x="2344" y="123"/>
                  <a:pt x="2345" y="121"/>
                </a:cubicBezTo>
                <a:cubicBezTo>
                  <a:pt x="2358" y="85"/>
                  <a:pt x="2416" y="35"/>
                  <a:pt x="2451" y="22"/>
                </a:cubicBezTo>
                <a:cubicBezTo>
                  <a:pt x="2486" y="34"/>
                  <a:pt x="2477" y="45"/>
                  <a:pt x="2497" y="75"/>
                </a:cubicBezTo>
                <a:cubicBezTo>
                  <a:pt x="2509" y="113"/>
                  <a:pt x="2522" y="151"/>
                  <a:pt x="2535" y="189"/>
                </a:cubicBezTo>
                <a:cubicBezTo>
                  <a:pt x="2538" y="196"/>
                  <a:pt x="2550" y="194"/>
                  <a:pt x="2557" y="197"/>
                </a:cubicBezTo>
                <a:cubicBezTo>
                  <a:pt x="2574" y="213"/>
                  <a:pt x="2575" y="219"/>
                  <a:pt x="2603" y="219"/>
                </a:cubicBezTo>
                <a:cubicBezTo>
                  <a:pt x="2613" y="219"/>
                  <a:pt x="2633" y="212"/>
                  <a:pt x="2633" y="212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6741" name="Oval 10"/>
          <p:cNvSpPr>
            <a:spLocks noChangeArrowheads="1"/>
          </p:cNvSpPr>
          <p:nvPr/>
        </p:nvSpPr>
        <p:spPr bwMode="auto">
          <a:xfrm>
            <a:off x="2998789" y="4940301"/>
            <a:ext cx="503237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42" name="Oval 11"/>
          <p:cNvSpPr>
            <a:spLocks noChangeArrowheads="1"/>
          </p:cNvSpPr>
          <p:nvPr/>
        </p:nvSpPr>
        <p:spPr bwMode="auto">
          <a:xfrm>
            <a:off x="3071814" y="4797426"/>
            <a:ext cx="287337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43" name="Oval 12"/>
          <p:cNvSpPr>
            <a:spLocks noChangeArrowheads="1"/>
          </p:cNvSpPr>
          <p:nvPr/>
        </p:nvSpPr>
        <p:spPr bwMode="auto">
          <a:xfrm>
            <a:off x="3575050" y="5013326"/>
            <a:ext cx="503238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44" name="Oval 13"/>
          <p:cNvSpPr>
            <a:spLocks noChangeArrowheads="1"/>
          </p:cNvSpPr>
          <p:nvPr/>
        </p:nvSpPr>
        <p:spPr bwMode="auto">
          <a:xfrm>
            <a:off x="3648075" y="4870451"/>
            <a:ext cx="287338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45" name="Oval 14"/>
          <p:cNvSpPr>
            <a:spLocks noChangeArrowheads="1"/>
          </p:cNvSpPr>
          <p:nvPr/>
        </p:nvSpPr>
        <p:spPr bwMode="auto">
          <a:xfrm>
            <a:off x="4079875" y="5013326"/>
            <a:ext cx="503238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46" name="Oval 15"/>
          <p:cNvSpPr>
            <a:spLocks noChangeArrowheads="1"/>
          </p:cNvSpPr>
          <p:nvPr/>
        </p:nvSpPr>
        <p:spPr bwMode="auto">
          <a:xfrm>
            <a:off x="4152900" y="4870451"/>
            <a:ext cx="287338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47" name="Oval 16"/>
          <p:cNvSpPr>
            <a:spLocks noChangeArrowheads="1"/>
          </p:cNvSpPr>
          <p:nvPr/>
        </p:nvSpPr>
        <p:spPr bwMode="auto">
          <a:xfrm>
            <a:off x="4656139" y="5013326"/>
            <a:ext cx="503237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48" name="Oval 17"/>
          <p:cNvSpPr>
            <a:spLocks noChangeArrowheads="1"/>
          </p:cNvSpPr>
          <p:nvPr/>
        </p:nvSpPr>
        <p:spPr bwMode="auto">
          <a:xfrm>
            <a:off x="4729164" y="4870451"/>
            <a:ext cx="287337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49" name="Rectangle 18"/>
          <p:cNvSpPr>
            <a:spLocks noChangeArrowheads="1"/>
          </p:cNvSpPr>
          <p:nvPr/>
        </p:nvSpPr>
        <p:spPr bwMode="auto">
          <a:xfrm>
            <a:off x="7608888" y="4292601"/>
            <a:ext cx="431800" cy="36036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0" name="Rectangle 19"/>
          <p:cNvSpPr>
            <a:spLocks noChangeArrowheads="1"/>
          </p:cNvSpPr>
          <p:nvPr/>
        </p:nvSpPr>
        <p:spPr bwMode="auto">
          <a:xfrm>
            <a:off x="7896225" y="4724401"/>
            <a:ext cx="431800" cy="36036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1" name="Rectangle 20"/>
          <p:cNvSpPr>
            <a:spLocks noChangeArrowheads="1"/>
          </p:cNvSpPr>
          <p:nvPr/>
        </p:nvSpPr>
        <p:spPr bwMode="auto">
          <a:xfrm>
            <a:off x="7319963" y="4724401"/>
            <a:ext cx="431800" cy="36036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2" name="Rectangle 21"/>
          <p:cNvSpPr>
            <a:spLocks noChangeArrowheads="1"/>
          </p:cNvSpPr>
          <p:nvPr/>
        </p:nvSpPr>
        <p:spPr bwMode="auto">
          <a:xfrm>
            <a:off x="7032625" y="5156201"/>
            <a:ext cx="431800" cy="36036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3" name="Rectangle 22"/>
          <p:cNvSpPr>
            <a:spLocks noChangeArrowheads="1"/>
          </p:cNvSpPr>
          <p:nvPr/>
        </p:nvSpPr>
        <p:spPr bwMode="auto">
          <a:xfrm>
            <a:off x="7608888" y="5156201"/>
            <a:ext cx="431800" cy="36036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4" name="Rectangle 23"/>
          <p:cNvSpPr>
            <a:spLocks noChangeArrowheads="1"/>
          </p:cNvSpPr>
          <p:nvPr/>
        </p:nvSpPr>
        <p:spPr bwMode="auto">
          <a:xfrm>
            <a:off x="8185150" y="5156201"/>
            <a:ext cx="431800" cy="36036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5" name="Text Box 24"/>
          <p:cNvSpPr txBox="1">
            <a:spLocks noChangeArrowheads="1"/>
          </p:cNvSpPr>
          <p:nvPr/>
        </p:nvSpPr>
        <p:spPr bwMode="auto">
          <a:xfrm>
            <a:off x="7464425" y="5732464"/>
            <a:ext cx="27368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Protéines virales</a:t>
            </a:r>
          </a:p>
        </p:txBody>
      </p:sp>
      <p:sp>
        <p:nvSpPr>
          <p:cNvPr id="116756" name="Oval 25"/>
          <p:cNvSpPr>
            <a:spLocks noChangeArrowheads="1"/>
          </p:cNvSpPr>
          <p:nvPr/>
        </p:nvSpPr>
        <p:spPr bwMode="auto">
          <a:xfrm>
            <a:off x="9264650" y="4219575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7" name="Oval 26"/>
          <p:cNvSpPr>
            <a:spLocks noChangeArrowheads="1"/>
          </p:cNvSpPr>
          <p:nvPr/>
        </p:nvSpPr>
        <p:spPr bwMode="auto">
          <a:xfrm>
            <a:off x="9985375" y="5084763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8" name="Oval 27"/>
          <p:cNvSpPr>
            <a:spLocks noChangeArrowheads="1"/>
          </p:cNvSpPr>
          <p:nvPr/>
        </p:nvSpPr>
        <p:spPr bwMode="auto">
          <a:xfrm>
            <a:off x="9409114" y="5084763"/>
            <a:ext cx="503237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59" name="Oval 28"/>
          <p:cNvSpPr>
            <a:spLocks noChangeArrowheads="1"/>
          </p:cNvSpPr>
          <p:nvPr/>
        </p:nvSpPr>
        <p:spPr bwMode="auto">
          <a:xfrm>
            <a:off x="8832850" y="5084763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60" name="Oval 29"/>
          <p:cNvSpPr>
            <a:spLocks noChangeArrowheads="1"/>
          </p:cNvSpPr>
          <p:nvPr/>
        </p:nvSpPr>
        <p:spPr bwMode="auto">
          <a:xfrm>
            <a:off x="9048750" y="4652963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61" name="Oval 30"/>
          <p:cNvSpPr>
            <a:spLocks noChangeArrowheads="1"/>
          </p:cNvSpPr>
          <p:nvPr/>
        </p:nvSpPr>
        <p:spPr bwMode="auto">
          <a:xfrm>
            <a:off x="9625014" y="4652963"/>
            <a:ext cx="503237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62" name="Line 31"/>
          <p:cNvSpPr>
            <a:spLocks noChangeShapeType="1"/>
          </p:cNvSpPr>
          <p:nvPr/>
        </p:nvSpPr>
        <p:spPr bwMode="auto">
          <a:xfrm flipH="1">
            <a:off x="4583113" y="2997200"/>
            <a:ext cx="3960812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6763" name="Oval 32"/>
          <p:cNvSpPr>
            <a:spLocks noChangeArrowheads="1"/>
          </p:cNvSpPr>
          <p:nvPr/>
        </p:nvSpPr>
        <p:spPr bwMode="auto">
          <a:xfrm>
            <a:off x="4943475" y="2852738"/>
            <a:ext cx="287338" cy="215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6764" name="Line 33"/>
          <p:cNvSpPr>
            <a:spLocks noChangeShapeType="1"/>
          </p:cNvSpPr>
          <p:nvPr/>
        </p:nvSpPr>
        <p:spPr bwMode="auto">
          <a:xfrm flipV="1">
            <a:off x="5087938" y="3141664"/>
            <a:ext cx="0" cy="358775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6765" name="Text Box 34"/>
          <p:cNvSpPr txBox="1">
            <a:spLocks noChangeArrowheads="1"/>
          </p:cNvSpPr>
          <p:nvPr/>
        </p:nvSpPr>
        <p:spPr bwMode="auto">
          <a:xfrm>
            <a:off x="4008438" y="3573464"/>
            <a:ext cx="2374900" cy="4667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Transcriptase</a:t>
            </a:r>
          </a:p>
        </p:txBody>
      </p:sp>
      <p:sp>
        <p:nvSpPr>
          <p:cNvPr id="116766" name="Text Box 35"/>
          <p:cNvSpPr txBox="1">
            <a:spLocks noChangeArrowheads="1"/>
          </p:cNvSpPr>
          <p:nvPr/>
        </p:nvSpPr>
        <p:spPr bwMode="auto">
          <a:xfrm>
            <a:off x="1919289" y="1700214"/>
            <a:ext cx="3132137" cy="4667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ARN génomique </a:t>
            </a:r>
            <a:r>
              <a:rPr lang="fr-FR" sz="2400" b="1">
                <a:solidFill>
                  <a:srgbClr val="FF0000"/>
                </a:solidFill>
              </a:rPr>
              <a:t>(-)</a:t>
            </a:r>
          </a:p>
        </p:txBody>
      </p:sp>
      <p:sp>
        <p:nvSpPr>
          <p:cNvPr id="116767" name="Text Box 36"/>
          <p:cNvSpPr txBox="1">
            <a:spLocks noChangeArrowheads="1"/>
          </p:cNvSpPr>
          <p:nvPr/>
        </p:nvSpPr>
        <p:spPr bwMode="auto">
          <a:xfrm>
            <a:off x="6672264" y="3213101"/>
            <a:ext cx="3743325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ARN complémentaire </a:t>
            </a:r>
            <a:r>
              <a:rPr lang="fr-FR" sz="2400" b="1">
                <a:solidFill>
                  <a:srgbClr val="FF0000"/>
                </a:solidFill>
              </a:rPr>
              <a:t>(+)</a:t>
            </a:r>
          </a:p>
        </p:txBody>
      </p:sp>
      <p:sp>
        <p:nvSpPr>
          <p:cNvPr id="116768" name="Text Box 37"/>
          <p:cNvSpPr txBox="1">
            <a:spLocks noChangeArrowheads="1"/>
          </p:cNvSpPr>
          <p:nvPr/>
        </p:nvSpPr>
        <p:spPr bwMode="auto">
          <a:xfrm>
            <a:off x="8616950" y="2708276"/>
            <a:ext cx="9350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800" b="1"/>
              <a:t>(+)</a:t>
            </a:r>
          </a:p>
        </p:txBody>
      </p:sp>
      <p:sp>
        <p:nvSpPr>
          <p:cNvPr id="116769" name="Text Box 38"/>
          <p:cNvSpPr txBox="1">
            <a:spLocks noChangeArrowheads="1"/>
          </p:cNvSpPr>
          <p:nvPr/>
        </p:nvSpPr>
        <p:spPr bwMode="auto">
          <a:xfrm>
            <a:off x="2640013" y="2205038"/>
            <a:ext cx="10795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800" b="1"/>
              <a:t>(-)</a:t>
            </a:r>
          </a:p>
        </p:txBody>
      </p:sp>
      <p:sp>
        <p:nvSpPr>
          <p:cNvPr id="116770" name="Line 39"/>
          <p:cNvSpPr>
            <a:spLocks noChangeShapeType="1"/>
          </p:cNvSpPr>
          <p:nvPr/>
        </p:nvSpPr>
        <p:spPr bwMode="auto">
          <a:xfrm flipV="1">
            <a:off x="3143251" y="5373688"/>
            <a:ext cx="73025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6771" name="Text Box 40"/>
          <p:cNvSpPr txBox="1">
            <a:spLocks noChangeArrowheads="1"/>
          </p:cNvSpPr>
          <p:nvPr/>
        </p:nvSpPr>
        <p:spPr bwMode="auto">
          <a:xfrm>
            <a:off x="1919289" y="6021389"/>
            <a:ext cx="2447925" cy="4667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Polyribosomes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7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05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43673" y="476672"/>
            <a:ext cx="6589199" cy="788666"/>
          </a:xfrm>
        </p:spPr>
        <p:txBody>
          <a:bodyPr>
            <a:noAutofit/>
          </a:bodyPr>
          <a:lstStyle/>
          <a:p>
            <a:r>
              <a:rPr lang="fr-FR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MULTIPLICATION DE VIRUS DE LA GRIPPE</a:t>
            </a:r>
          </a:p>
        </p:txBody>
      </p:sp>
      <p:pic>
        <p:nvPicPr>
          <p:cNvPr id="4" name="Picture 4" descr="grippereplic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1412776"/>
            <a:ext cx="7416824" cy="4499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7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88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4"/>
          <p:cNvSpPr>
            <a:spLocks noChangeArrowheads="1"/>
          </p:cNvSpPr>
          <p:nvPr/>
        </p:nvSpPr>
        <p:spPr bwMode="auto">
          <a:xfrm>
            <a:off x="1919288" y="476250"/>
            <a:ext cx="8208962" cy="59055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8787" name="Text Box 5"/>
          <p:cNvSpPr txBox="1">
            <a:spLocks noChangeArrowheads="1"/>
          </p:cNvSpPr>
          <p:nvPr/>
        </p:nvSpPr>
        <p:spPr bwMode="auto">
          <a:xfrm>
            <a:off x="1992314" y="476251"/>
            <a:ext cx="8135937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5"/>
              </a:buBlip>
            </a:pPr>
            <a:r>
              <a:rPr lang="fr-FR" sz="4000" b="1">
                <a:solidFill>
                  <a:srgbClr val="FF3399"/>
                </a:solidFill>
              </a:rPr>
              <a:t> Virus à ARN doit être préalablement transcrit en une copie d’ADN proviral</a:t>
            </a:r>
            <a:r>
              <a:rPr lang="fr-FR" sz="4000" b="1"/>
              <a:t> </a:t>
            </a:r>
            <a:r>
              <a:rPr lang="fr-FR" sz="4000"/>
              <a:t>grâce a une transcriptase inverse, pour se répliquer.</a:t>
            </a:r>
            <a:endParaRPr lang="fr-FR" sz="4000" b="1"/>
          </a:p>
          <a:p>
            <a:r>
              <a:rPr lang="fr-FR" sz="4000" b="1"/>
              <a:t>ARN (TI)               ADN Proviral       ARN(+)                 Traduction</a:t>
            </a:r>
          </a:p>
          <a:p>
            <a:endParaRPr lang="fr-FR" sz="4000"/>
          </a:p>
          <a:p>
            <a:pPr>
              <a:spcBef>
                <a:spcPct val="50000"/>
              </a:spcBef>
            </a:pPr>
            <a:endParaRPr lang="fr-FR"/>
          </a:p>
        </p:txBody>
      </p:sp>
      <p:sp>
        <p:nvSpPr>
          <p:cNvPr id="118788" name="AutoShape 6"/>
          <p:cNvSpPr>
            <a:spLocks noChangeArrowheads="1"/>
          </p:cNvSpPr>
          <p:nvPr/>
        </p:nvSpPr>
        <p:spPr bwMode="auto">
          <a:xfrm>
            <a:off x="4295775" y="3789363"/>
            <a:ext cx="1728788" cy="360362"/>
          </a:xfrm>
          <a:custGeom>
            <a:avLst/>
            <a:gdLst>
              <a:gd name="T0" fmla="*/ 1296591 w 21600"/>
              <a:gd name="T1" fmla="*/ 0 h 21600"/>
              <a:gd name="T2" fmla="*/ 0 w 21600"/>
              <a:gd name="T3" fmla="*/ 180181 h 21600"/>
              <a:gd name="T4" fmla="*/ 1296591 w 21600"/>
              <a:gd name="T5" fmla="*/ 360362 h 21600"/>
              <a:gd name="T6" fmla="*/ 1728788 w 21600"/>
              <a:gd name="T7" fmla="*/ 180181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8789" name="AutoShape 7"/>
          <p:cNvSpPr>
            <a:spLocks noChangeArrowheads="1"/>
          </p:cNvSpPr>
          <p:nvPr/>
        </p:nvSpPr>
        <p:spPr bwMode="auto">
          <a:xfrm>
            <a:off x="4224339" y="4365626"/>
            <a:ext cx="1800225" cy="358775"/>
          </a:xfrm>
          <a:custGeom>
            <a:avLst/>
            <a:gdLst>
              <a:gd name="T0" fmla="*/ 1350169 w 21600"/>
              <a:gd name="T1" fmla="*/ 0 h 21600"/>
              <a:gd name="T2" fmla="*/ 0 w 21600"/>
              <a:gd name="T3" fmla="*/ 179388 h 21600"/>
              <a:gd name="T4" fmla="*/ 1350169 w 21600"/>
              <a:gd name="T5" fmla="*/ 358775 h 21600"/>
              <a:gd name="T6" fmla="*/ 1800225 w 21600"/>
              <a:gd name="T7" fmla="*/ 179388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5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8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Text Box 5"/>
          <p:cNvSpPr>
            <a:spLocks noGrp="1" noChangeArrowheads="1"/>
          </p:cNvSpPr>
          <p:nvPr>
            <p:ph type="title"/>
          </p:nvPr>
        </p:nvSpPr>
        <p:spPr>
          <a:xfrm>
            <a:off x="3287714" y="260350"/>
            <a:ext cx="5699125" cy="706438"/>
          </a:xfrm>
          <a:noFill/>
          <a:ln w="19050">
            <a:solidFill>
              <a:schemeClr val="tx1"/>
            </a:solidFill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fr-FR" b="1"/>
              <a:t>Réplication du </a:t>
            </a:r>
            <a:r>
              <a:rPr lang="fr-FR" b="1">
                <a:solidFill>
                  <a:srgbClr val="FF0000"/>
                </a:solidFill>
              </a:rPr>
              <a:t>VIH</a:t>
            </a:r>
          </a:p>
        </p:txBody>
      </p:sp>
      <p:pic>
        <p:nvPicPr>
          <p:cNvPr id="119810" name="Picture 4" descr="cycle-img">
            <a:hlinkClick r:id="rId3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1847850" y="1052514"/>
            <a:ext cx="8496300" cy="5545137"/>
          </a:xfr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8779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3"/>
          <p:cNvSpPr>
            <a:spLocks noGrp="1" noChangeArrowheads="1"/>
          </p:cNvSpPr>
          <p:nvPr>
            <p:ph idx="1"/>
          </p:nvPr>
        </p:nvSpPr>
        <p:spPr>
          <a:xfrm>
            <a:off x="1703389" y="188914"/>
            <a:ext cx="8785225" cy="6408737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buClr>
                <a:srgbClr val="0033CC"/>
              </a:buClr>
              <a:buFont typeface="Wingdings" pitchFamily="2" charset="2"/>
              <a:buChar char="ü"/>
            </a:pPr>
            <a:r>
              <a:rPr lang="fr-FR" sz="4000" dirty="0"/>
              <a:t> L'</a:t>
            </a:r>
            <a:r>
              <a:rPr lang="fr-FR" sz="4000" dirty="0">
                <a:solidFill>
                  <a:srgbClr val="FF0066"/>
                </a:solidFill>
              </a:rPr>
              <a:t>ARN</a:t>
            </a:r>
            <a:r>
              <a:rPr lang="fr-FR" sz="4000" dirty="0"/>
              <a:t> viral est </a:t>
            </a:r>
            <a:r>
              <a:rPr lang="fr-FR" sz="4000" dirty="0" err="1">
                <a:solidFill>
                  <a:srgbClr val="0033CC"/>
                </a:solidFill>
              </a:rPr>
              <a:t>rétrotranscrit</a:t>
            </a:r>
            <a:r>
              <a:rPr lang="fr-FR" sz="4000" dirty="0">
                <a:solidFill>
                  <a:srgbClr val="0033CC"/>
                </a:solidFill>
              </a:rPr>
              <a:t> </a:t>
            </a:r>
            <a:r>
              <a:rPr lang="fr-FR" sz="4000" dirty="0"/>
              <a:t>dans le cytoplasme en </a:t>
            </a:r>
            <a:r>
              <a:rPr lang="fr-FR" sz="4000" dirty="0">
                <a:solidFill>
                  <a:srgbClr val="FF0066"/>
                </a:solidFill>
              </a:rPr>
              <a:t>ADN </a:t>
            </a:r>
            <a:r>
              <a:rPr lang="fr-FR" sz="4000" dirty="0"/>
              <a:t>par la </a:t>
            </a:r>
            <a:r>
              <a:rPr lang="fr-FR" sz="4000" dirty="0">
                <a:solidFill>
                  <a:srgbClr val="FF0066"/>
                </a:solidFill>
              </a:rPr>
              <a:t>transcriptase inverse virale (TI). </a:t>
            </a:r>
          </a:p>
          <a:p>
            <a:pPr eaLnBrk="1" hangingPunct="1">
              <a:buClr>
                <a:srgbClr val="0033CC"/>
              </a:buClr>
              <a:buFont typeface="Wingdings" pitchFamily="2" charset="2"/>
              <a:buChar char="ü"/>
            </a:pPr>
            <a:r>
              <a:rPr lang="fr-FR" sz="4000" dirty="0"/>
              <a:t> La </a:t>
            </a:r>
            <a:r>
              <a:rPr lang="fr-FR" sz="4000" dirty="0">
                <a:solidFill>
                  <a:srgbClr val="FF0066"/>
                </a:solidFill>
              </a:rPr>
              <a:t>TI dégrade l'ARN</a:t>
            </a:r>
            <a:r>
              <a:rPr lang="fr-FR" sz="4000" dirty="0"/>
              <a:t> viral puis copie l'ADN viral monocaténaire en </a:t>
            </a:r>
            <a:r>
              <a:rPr lang="fr-FR" sz="4000" dirty="0">
                <a:solidFill>
                  <a:srgbClr val="FF0066"/>
                </a:solidFill>
              </a:rPr>
              <a:t>ADN double brin</a:t>
            </a:r>
            <a:r>
              <a:rPr lang="fr-FR" sz="4000" dirty="0"/>
              <a:t> qui </a:t>
            </a:r>
            <a:r>
              <a:rPr lang="fr-FR" sz="4000" dirty="0">
                <a:solidFill>
                  <a:srgbClr val="FF0066"/>
                </a:solidFill>
              </a:rPr>
              <a:t>s’intègre dans le noyau cellulaire,</a:t>
            </a:r>
            <a:r>
              <a:rPr lang="fr-FR" sz="4000" dirty="0"/>
              <a:t> grâce à </a:t>
            </a:r>
            <a:r>
              <a:rPr lang="fr-FR" sz="4000" dirty="0">
                <a:solidFill>
                  <a:srgbClr val="0033CC"/>
                </a:solidFill>
              </a:rPr>
              <a:t>l'</a:t>
            </a:r>
            <a:r>
              <a:rPr lang="fr-FR" sz="4000" dirty="0" err="1">
                <a:solidFill>
                  <a:srgbClr val="0033CC"/>
                </a:solidFill>
              </a:rPr>
              <a:t>intégrase</a:t>
            </a:r>
            <a:r>
              <a:rPr lang="fr-FR" sz="4000" dirty="0">
                <a:solidFill>
                  <a:srgbClr val="0033CC"/>
                </a:solidFill>
              </a:rPr>
              <a:t> virale</a:t>
            </a:r>
            <a:r>
              <a:rPr lang="fr-FR" sz="4000" dirty="0"/>
              <a:t>, </a:t>
            </a:r>
            <a:r>
              <a:rPr lang="fr-FR" sz="4000" dirty="0">
                <a:solidFill>
                  <a:srgbClr val="FF0066"/>
                </a:solidFill>
              </a:rPr>
              <a:t>(ADN </a:t>
            </a:r>
            <a:r>
              <a:rPr lang="fr-FR" sz="4000" dirty="0" err="1">
                <a:solidFill>
                  <a:srgbClr val="FF0066"/>
                </a:solidFill>
              </a:rPr>
              <a:t>proviral</a:t>
            </a:r>
            <a:r>
              <a:rPr lang="fr-FR" sz="4000" dirty="0">
                <a:solidFill>
                  <a:srgbClr val="FF0066"/>
                </a:solidFill>
              </a:rPr>
              <a:t>)</a:t>
            </a:r>
          </a:p>
          <a:p>
            <a:pPr eaLnBrk="1" hangingPunct="1">
              <a:buClr>
                <a:srgbClr val="0033CC"/>
              </a:buClr>
              <a:buFont typeface="Wingdings" pitchFamily="2" charset="2"/>
              <a:buNone/>
            </a:pPr>
            <a:endParaRPr lang="fr-FR" sz="4000" dirty="0">
              <a:solidFill>
                <a:srgbClr val="FF0066"/>
              </a:solidFill>
            </a:endParaRP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7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5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</TotalTime>
  <Words>566</Words>
  <Application>Microsoft Office PowerPoint</Application>
  <PresentationFormat>Grand écran</PresentationFormat>
  <Paragraphs>80</Paragraphs>
  <Slides>18</Slides>
  <Notes>16</Notes>
  <HiddenSlides>0</HiddenSlides>
  <MMClips>14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Algerian</vt:lpstr>
      <vt:lpstr>Arial</vt:lpstr>
      <vt:lpstr>Calibri</vt:lpstr>
      <vt:lpstr>Century Gothic</vt:lpstr>
      <vt:lpstr>Wingdings</vt:lpstr>
      <vt:lpstr>Wingdings 3</vt:lpstr>
      <vt:lpstr>Brin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Réplication des virus à ARN +</vt:lpstr>
      <vt:lpstr>Réplication du virus de la poliomyélite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Réplication des virus à ARN -</vt:lpstr>
      <vt:lpstr>MULTIPLICATION DE VIRUS DE LA GRIPPE</vt:lpstr>
      <vt:lpstr>Présentation PowerPoint</vt:lpstr>
      <vt:lpstr>Réplication du VIH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Hello</dc:creator>
  <cp:lastModifiedBy>Hello</cp:lastModifiedBy>
  <cp:revision>2</cp:revision>
  <dcterms:created xsi:type="dcterms:W3CDTF">2020-09-05T23:47:29Z</dcterms:created>
  <dcterms:modified xsi:type="dcterms:W3CDTF">2020-09-05T23:58:25Z</dcterms:modified>
</cp:coreProperties>
</file>