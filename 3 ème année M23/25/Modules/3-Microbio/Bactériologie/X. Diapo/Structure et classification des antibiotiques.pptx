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41"/>
  </p:notesMasterIdLst>
  <p:handoutMasterIdLst>
    <p:handoutMasterId r:id="rId42"/>
  </p:handoutMasterIdLst>
  <p:sldIdLst>
    <p:sldId id="405" r:id="rId2"/>
    <p:sldId id="284" r:id="rId3"/>
    <p:sldId id="484" r:id="rId4"/>
    <p:sldId id="285" r:id="rId5"/>
    <p:sldId id="324" r:id="rId6"/>
    <p:sldId id="286" r:id="rId7"/>
    <p:sldId id="483" r:id="rId8"/>
    <p:sldId id="454" r:id="rId9"/>
    <p:sldId id="481" r:id="rId10"/>
    <p:sldId id="287" r:id="rId11"/>
    <p:sldId id="496" r:id="rId12"/>
    <p:sldId id="464" r:id="rId13"/>
    <p:sldId id="486" r:id="rId14"/>
    <p:sldId id="494" r:id="rId15"/>
    <p:sldId id="487" r:id="rId16"/>
    <p:sldId id="488" r:id="rId17"/>
    <p:sldId id="495" r:id="rId18"/>
    <p:sldId id="489" r:id="rId19"/>
    <p:sldId id="490" r:id="rId20"/>
    <p:sldId id="491" r:id="rId21"/>
    <p:sldId id="492" r:id="rId22"/>
    <p:sldId id="510" r:id="rId23"/>
    <p:sldId id="493" r:id="rId24"/>
    <p:sldId id="498" r:id="rId25"/>
    <p:sldId id="499" r:id="rId26"/>
    <p:sldId id="501" r:id="rId27"/>
    <p:sldId id="500" r:id="rId28"/>
    <p:sldId id="507" r:id="rId29"/>
    <p:sldId id="508" r:id="rId30"/>
    <p:sldId id="509" r:id="rId31"/>
    <p:sldId id="502" r:id="rId32"/>
    <p:sldId id="503" r:id="rId33"/>
    <p:sldId id="504" r:id="rId34"/>
    <p:sldId id="505" r:id="rId35"/>
    <p:sldId id="506" r:id="rId36"/>
    <p:sldId id="288" r:id="rId37"/>
    <p:sldId id="360" r:id="rId38"/>
    <p:sldId id="485" r:id="rId39"/>
    <p:sldId id="313" r:id="rId40"/>
  </p:sldIdLst>
  <p:sldSz cx="9144000" cy="5143500" type="screen16x9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9D9"/>
    <a:srgbClr val="007DD6"/>
    <a:srgbClr val="D24725"/>
    <a:srgbClr val="C64C2C"/>
    <a:srgbClr val="007742"/>
    <a:srgbClr val="D81E00"/>
    <a:srgbClr val="FFD6A9"/>
    <a:srgbClr val="AB56FF"/>
    <a:srgbClr val="FFD7D6"/>
    <a:srgbClr val="D5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9389B32-D725-419B-B877-691421574F8B}">
  <a:tblStyle styleId="{09389B32-D725-419B-B877-691421574F8B}" styleName="Table_0">
    <a:wholeTbl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1455" autoAdjust="0"/>
  </p:normalViewPr>
  <p:slideViewPr>
    <p:cSldViewPr snapToGrid="0" snapToObjects="1">
      <p:cViewPr varScale="1">
        <p:scale>
          <a:sx n="137" d="100"/>
          <a:sy n="137" d="100"/>
        </p:scale>
        <p:origin x="864" y="114"/>
      </p:cViewPr>
      <p:guideLst/>
    </p:cSldViewPr>
  </p:slideViewPr>
  <p:outlineViewPr>
    <p:cViewPr>
      <p:scale>
        <a:sx n="33" d="100"/>
        <a:sy n="33" d="100"/>
      </p:scale>
      <p:origin x="0" y="-6126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296" y="1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4A85FC-D04F-1249-A490-D748BB869D49}" type="datetimeFigureOut">
              <a:rPr lang="fr-FR" smtClean="0"/>
              <a:t>02/06/2025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569A4-AB8A-4F45-9F1C-C91E16013D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2277962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1676528"/>
      </p:ext>
    </p:extLst>
  </p:cSld>
  <p:clrMap bg1="lt1" tx1="dk1" bg2="dk2" tx2="lt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9" name="Shape 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620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+mj-lt"/>
              <a:buAutoNum type="arabicPeriod"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5621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+mj-lt"/>
              <a:buAutoNum type="arabicPeriod"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615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8173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Grande" charset="0"/>
              <a:buNone/>
              <a:tabLst/>
              <a:defRPr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84695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456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Grande" charset="0"/>
              <a:buNone/>
              <a:tabLst/>
              <a:defRPr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30037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05814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3615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026138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78567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43699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94601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0837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79295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57780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91290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55529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38844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36089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54035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28572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03264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7576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28362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81081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30851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04882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4602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61819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91593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084493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190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08326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/>
            </a:pP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05570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69145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94159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84309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328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hape 23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4" name="Shape 24"/>
          <p:cNvSpPr/>
          <p:nvPr/>
        </p:nvSpPr>
        <p:spPr>
          <a:xfrm>
            <a:off x="817475" y="928766"/>
            <a:ext cx="405899" cy="405899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399" cy="435599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1pPr>
            <a:lvl2pPr rtl="0">
              <a:spcBef>
                <a:spcPts val="0"/>
              </a:spcBef>
              <a:buSzPct val="100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2pPr>
            <a:lvl3pPr rtl="0">
              <a:spcBef>
                <a:spcPts val="0"/>
              </a:spcBef>
              <a:buSzPct val="100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3pPr>
            <a:lvl4pPr rtl="0">
              <a:spcBef>
                <a:spcPts val="0"/>
              </a:spcBef>
              <a:buSzPct val="100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4pPr>
            <a:lvl5pPr rtl="0">
              <a:spcBef>
                <a:spcPts val="0"/>
              </a:spcBef>
              <a:buSzPct val="100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5pPr>
            <a:lvl6pPr rtl="0">
              <a:spcBef>
                <a:spcPts val="0"/>
              </a:spcBef>
              <a:buSzPct val="100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6pPr>
            <a:lvl7pPr rtl="0">
              <a:spcBef>
                <a:spcPts val="0"/>
              </a:spcBef>
              <a:buSzPct val="100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7pPr>
            <a:lvl8pPr rtl="0">
              <a:spcBef>
                <a:spcPts val="0"/>
              </a:spcBef>
              <a:buSzPct val="100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8pPr>
            <a:lvl9pPr rtl="0">
              <a:spcBef>
                <a:spcPts val="0"/>
              </a:spcBef>
              <a:buSzPct val="100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rtl="0">
              <a:spcBef>
                <a:spcPts val="600"/>
              </a:spcBef>
              <a:buClr>
                <a:srgbClr val="FFCD00"/>
              </a:buClr>
              <a:buSzPct val="100000"/>
              <a:buFont typeface="Quattrocento Sans"/>
              <a:buChar char="◉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rtl="0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rtl="0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rtl="0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rtl="0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rtl="0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rtl="0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cxnSp>
        <p:nvCxnSpPr>
          <p:cNvPr id="27" name="Shape 27"/>
          <p:cNvCxnSpPr/>
          <p:nvPr/>
        </p:nvCxnSpPr>
        <p:spPr>
          <a:xfrm>
            <a:off x="5265650" y="1131725"/>
            <a:ext cx="3878399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letely 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7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buClr>
                <a:srgbClr val="000000"/>
              </a:buClr>
              <a:buSzPct val="100000"/>
              <a:buNone/>
              <a:defRPr sz="1400">
                <a:highlight>
                  <a:srgbClr val="FFCD00"/>
                </a:highlight>
              </a:defRPr>
            </a:lvl1pPr>
            <a:lvl2pPr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2pPr>
            <a:lvl3pPr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3pPr>
            <a:lvl4pPr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4pPr>
            <a:lvl5pPr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5pPr>
            <a:lvl6pPr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6pPr>
            <a:lvl7pPr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7pPr>
            <a:lvl8pPr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8pPr>
            <a:lvl9pPr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9pPr>
          </a:lstStyle>
          <a:p>
            <a:endParaRPr/>
          </a:p>
        </p:txBody>
      </p:sp>
      <p:cxnSp>
        <p:nvCxnSpPr>
          <p:cNvPr id="13" name="Shape 13"/>
          <p:cNvCxnSpPr/>
          <p:nvPr/>
        </p:nvCxnSpPr>
        <p:spPr>
          <a:xfrm>
            <a:off x="-6025" y="2571761"/>
            <a:ext cx="1984499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4" name="Shape 14"/>
          <p:cNvSpPr/>
          <p:nvPr/>
        </p:nvSpPr>
        <p:spPr>
          <a:xfrm>
            <a:off x="1117950" y="2288250"/>
            <a:ext cx="566999" cy="566999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799" cy="11597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rtl="0">
              <a:spcBef>
                <a:spcPts val="0"/>
              </a:spcBef>
              <a:buSzPct val="100000"/>
              <a:defRPr sz="3000"/>
            </a:lvl1pPr>
            <a:lvl2pPr rtl="0">
              <a:spcBef>
                <a:spcPts val="0"/>
              </a:spcBef>
              <a:buSzPct val="100000"/>
              <a:defRPr sz="3000"/>
            </a:lvl2pPr>
            <a:lvl3pPr rtl="0">
              <a:spcBef>
                <a:spcPts val="0"/>
              </a:spcBef>
              <a:buSzPct val="100000"/>
              <a:defRPr sz="3000"/>
            </a:lvl3pPr>
            <a:lvl4pPr rtl="0">
              <a:spcBef>
                <a:spcPts val="0"/>
              </a:spcBef>
              <a:buSzPct val="100000"/>
              <a:defRPr sz="3000"/>
            </a:lvl4pPr>
            <a:lvl5pPr rtl="0">
              <a:spcBef>
                <a:spcPts val="0"/>
              </a:spcBef>
              <a:buSzPct val="100000"/>
              <a:defRPr sz="3000"/>
            </a:lvl5pPr>
            <a:lvl6pPr rtl="0">
              <a:spcBef>
                <a:spcPts val="0"/>
              </a:spcBef>
              <a:buSzPct val="100000"/>
              <a:defRPr sz="3000"/>
            </a:lvl6pPr>
            <a:lvl7pPr rtl="0">
              <a:spcBef>
                <a:spcPts val="0"/>
              </a:spcBef>
              <a:buSzPct val="100000"/>
              <a:defRPr sz="3000"/>
            </a:lvl7pPr>
            <a:lvl8pPr rtl="0">
              <a:spcBef>
                <a:spcPts val="0"/>
              </a:spcBef>
              <a:buSzPct val="100000"/>
              <a:defRPr sz="3000"/>
            </a:lvl8pPr>
            <a:lvl9pPr rtl="0">
              <a:spcBef>
                <a:spcPts val="0"/>
              </a:spcBef>
              <a:buSzPct val="100000"/>
              <a:defRPr sz="3000"/>
            </a:lvl9pPr>
          </a:lstStyle>
          <a:p>
            <a:endParaRPr/>
          </a:p>
        </p:txBody>
      </p:sp>
      <p:cxnSp>
        <p:nvCxnSpPr>
          <p:cNvPr id="16" name="Shape 16"/>
          <p:cNvCxnSpPr/>
          <p:nvPr/>
        </p:nvCxnSpPr>
        <p:spPr>
          <a:xfrm>
            <a:off x="5898975" y="2571750"/>
            <a:ext cx="3251099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lg" len="lg"/>
            <a:tailEnd type="none" w="lg" len="lg"/>
          </a:ln>
        </p:spPr>
      </p:cxnSp>
    </p:spTree>
    <p:extLst>
      <p:ext uri="{BB962C8B-B14F-4D97-AF65-F5344CB8AC3E}">
        <p14:creationId xmlns:p14="http://schemas.microsoft.com/office/powerpoint/2010/main" val="1921412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 txBox="1">
            <a:spLocks noGrp="1"/>
          </p:cNvSpPr>
          <p:nvPr>
            <p:ph type="ctrTitle"/>
          </p:nvPr>
        </p:nvSpPr>
        <p:spPr>
          <a:xfrm>
            <a:off x="996630" y="2003888"/>
            <a:ext cx="4523699" cy="11597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buSzPct val="100000"/>
              <a:defRPr sz="3600"/>
            </a:lvl1pPr>
            <a:lvl2pPr>
              <a:spcBef>
                <a:spcPts val="0"/>
              </a:spcBef>
              <a:buSzPct val="100000"/>
              <a:defRPr sz="3600"/>
            </a:lvl2pPr>
            <a:lvl3pPr>
              <a:spcBef>
                <a:spcPts val="0"/>
              </a:spcBef>
              <a:buSzPct val="100000"/>
              <a:defRPr sz="3600"/>
            </a:lvl3pPr>
            <a:lvl4pPr>
              <a:spcBef>
                <a:spcPts val="0"/>
              </a:spcBef>
              <a:buSzPct val="100000"/>
              <a:defRPr sz="3600"/>
            </a:lvl4pPr>
            <a:lvl5pPr>
              <a:spcBef>
                <a:spcPts val="0"/>
              </a:spcBef>
              <a:buSzPct val="100000"/>
              <a:defRPr sz="3600"/>
            </a:lvl5pPr>
            <a:lvl6pPr>
              <a:spcBef>
                <a:spcPts val="0"/>
              </a:spcBef>
              <a:buSzPct val="100000"/>
              <a:defRPr sz="3600"/>
            </a:lvl6pPr>
            <a:lvl7pPr>
              <a:spcBef>
                <a:spcPts val="0"/>
              </a:spcBef>
              <a:buSzPct val="100000"/>
              <a:defRPr sz="3600"/>
            </a:lvl7pPr>
            <a:lvl8pPr>
              <a:spcBef>
                <a:spcPts val="0"/>
              </a:spcBef>
              <a:buSzPct val="100000"/>
              <a:defRPr sz="3600"/>
            </a:lvl8pPr>
            <a:lvl9pPr>
              <a:spcBef>
                <a:spcPts val="0"/>
              </a:spcBef>
              <a:buSzPct val="100000"/>
              <a:defRPr sz="3600"/>
            </a:lvl9pPr>
          </a:lstStyle>
          <a:p>
            <a:endParaRPr/>
          </a:p>
        </p:txBody>
      </p:sp>
      <p:cxnSp>
        <p:nvCxnSpPr>
          <p:cNvPr id="9" name="Shape 9"/>
          <p:cNvCxnSpPr/>
          <p:nvPr/>
        </p:nvCxnSpPr>
        <p:spPr>
          <a:xfrm>
            <a:off x="-6025" y="3676511"/>
            <a:ext cx="9161999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Shape 10"/>
          <p:cNvSpPr/>
          <p:nvPr/>
        </p:nvSpPr>
        <p:spPr>
          <a:xfrm>
            <a:off x="1117950" y="3393000"/>
            <a:ext cx="566999" cy="566999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019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hueOff val="0"/>
            <a:satOff val="0"/>
            <a:lumOff val="0"/>
          </a:schemeClr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600"/>
              </a:spcBef>
              <a:buClr>
                <a:srgbClr val="FFCD00"/>
              </a:buClr>
              <a:buSzPct val="100000"/>
              <a:buFont typeface="Quattrocento Sans"/>
              <a:buChar char="◉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381250" y="937116"/>
            <a:ext cx="6809700" cy="435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1pPr>
            <a:lvl2pPr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2pPr>
            <a:lvl3pPr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3pPr>
            <a:lvl4pPr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4pPr>
            <a:lvl5pPr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5pPr>
            <a:lvl6pPr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6pPr>
            <a:lvl7pPr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7pPr>
            <a:lvl8pPr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8pPr>
            <a:lvl9pPr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7" r:id="rId2"/>
    <p:sldLayoutId id="2147483659" r:id="rId3"/>
    <p:sldLayoutId id="2147483661" r:id="rId4"/>
  </p:sldLayoutIdLst>
  <p:hf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ctrTitle"/>
          </p:nvPr>
        </p:nvSpPr>
        <p:spPr>
          <a:xfrm>
            <a:off x="1021386" y="1945098"/>
            <a:ext cx="7358701" cy="1015663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fr-FR" sz="2600" dirty="0"/>
              <a:t>Classification et mode d’action des antibiotiques</a:t>
            </a:r>
            <a:endParaRPr lang="en" sz="2600" dirty="0"/>
          </a:p>
        </p:txBody>
      </p:sp>
      <p:sp>
        <p:nvSpPr>
          <p:cNvPr id="3" name="TextBox 2"/>
          <p:cNvSpPr txBox="1"/>
          <p:nvPr/>
        </p:nvSpPr>
        <p:spPr>
          <a:xfrm>
            <a:off x="1528234" y="165782"/>
            <a:ext cx="63450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Lora" charset="0"/>
                <a:ea typeface="Lora" charset="0"/>
                <a:cs typeface="Lora" charset="0"/>
              </a:rPr>
              <a:t>RÉPUBLIQUE ALGÉRIENNE DÉMOCRATIQUE ET POPULAIRE</a:t>
            </a:r>
          </a:p>
          <a:p>
            <a:pPr algn="ctr"/>
            <a:r>
              <a:rPr lang="fr-FR" sz="1200" dirty="0">
                <a:latin typeface="Lora" charset="0"/>
                <a:ea typeface="Lora" charset="0"/>
                <a:cs typeface="Lora" charset="0"/>
              </a:rPr>
              <a:t>MINISTÈRE DE L’ENSEIGNEMENT SUPÉRIEUR ET DE LA RECHERCHE SCIENTIFIQUE</a:t>
            </a:r>
          </a:p>
          <a:p>
            <a:pPr algn="ctr"/>
            <a:r>
              <a:rPr lang="fr-FR" sz="1200" dirty="0">
                <a:latin typeface="Lora" charset="0"/>
                <a:ea typeface="Lora" charset="0"/>
                <a:cs typeface="Lora" charset="0"/>
              </a:rPr>
              <a:t>UNIVERSITÉ CONSTANTINE 3 – SALAH BOUBNIDER</a:t>
            </a:r>
          </a:p>
          <a:p>
            <a:pPr algn="ctr"/>
            <a:r>
              <a:rPr lang="fr-FR" sz="1200" dirty="0">
                <a:latin typeface="Lora" charset="0"/>
                <a:ea typeface="Lora" charset="0"/>
                <a:cs typeface="Lora" charset="0"/>
              </a:rPr>
              <a:t>DEPARTEMENT DE MEDECINE</a:t>
            </a:r>
          </a:p>
        </p:txBody>
      </p:sp>
      <p:sp>
        <p:nvSpPr>
          <p:cNvPr id="23" name="Shape 403"/>
          <p:cNvSpPr/>
          <p:nvPr/>
        </p:nvSpPr>
        <p:spPr>
          <a:xfrm>
            <a:off x="-6226" y="4707750"/>
            <a:ext cx="9150225" cy="435599"/>
          </a:xfrm>
          <a:prstGeom prst="rect">
            <a:avLst/>
          </a:prstGeom>
          <a:solidFill>
            <a:srgbClr val="007DD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dirty="0">
              <a:solidFill>
                <a:srgbClr val="FC6403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21620" y="4794744"/>
            <a:ext cx="24849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Date de présentation: 02/06/2025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38" t="9652" r="14270" b="11069"/>
          <a:stretch/>
        </p:blipFill>
        <p:spPr>
          <a:xfrm>
            <a:off x="163232" y="255836"/>
            <a:ext cx="1255776" cy="1262951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27235AF3-994F-4FED-A1F6-93E47D7520E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40" t="13579" r="8726" b="29533"/>
          <a:stretch/>
        </p:blipFill>
        <p:spPr>
          <a:xfrm>
            <a:off x="7498838" y="330635"/>
            <a:ext cx="1538084" cy="1031421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4A860163-B24D-B0B5-2035-59DBA8A0D753}"/>
              </a:ext>
            </a:extLst>
          </p:cNvPr>
          <p:cNvSpPr txBox="1"/>
          <p:nvPr/>
        </p:nvSpPr>
        <p:spPr>
          <a:xfrm>
            <a:off x="1978476" y="4041833"/>
            <a:ext cx="60430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Lora" pitchFamily="2" charset="0"/>
              </a:rPr>
              <a:t>Dr </a:t>
            </a:r>
            <a:r>
              <a:rPr lang="fr-FR" b="1" dirty="0" err="1">
                <a:latin typeface="Lora" pitchFamily="2" charset="0"/>
              </a:rPr>
              <a:t>Kaoueche</a:t>
            </a:r>
            <a:r>
              <a:rPr lang="fr-FR" b="1" dirty="0">
                <a:latin typeface="Lora" pitchFamily="2" charset="0"/>
              </a:rPr>
              <a:t> Omar – Maitre assistant en microbiologie médicale</a:t>
            </a:r>
          </a:p>
        </p:txBody>
      </p:sp>
    </p:spTree>
    <p:extLst>
      <p:ext uri="{BB962C8B-B14F-4D97-AF65-F5344CB8AC3E}">
        <p14:creationId xmlns:p14="http://schemas.microsoft.com/office/powerpoint/2010/main" val="3274103289"/>
      </p:ext>
    </p:extLst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Objectifs pédagogiques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138" y="1555509"/>
            <a:ext cx="6809700" cy="2984685"/>
          </a:xfrm>
        </p:spPr>
        <p:txBody>
          <a:bodyPr/>
          <a:lstStyle/>
          <a:p>
            <a:pPr>
              <a:buClr>
                <a:srgbClr val="007DD6"/>
              </a:buClr>
              <a:buNone/>
            </a:pPr>
            <a:r>
              <a:rPr lang="fr-FR" b="1" dirty="0">
                <a:latin typeface="Lora" pitchFamily="2" charset="0"/>
              </a:rPr>
              <a:t>Ce cours vous permettra de :</a:t>
            </a:r>
            <a:endParaRPr lang="fr-FR" dirty="0">
              <a:latin typeface="Lora" pitchFamily="2" charset="0"/>
              <a:ea typeface="Lora" charset="0"/>
              <a:cs typeface="Lora" charset="0"/>
            </a:endParaRPr>
          </a:p>
          <a:p>
            <a:pPr marL="457200" indent="-4572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latin typeface="Lora" pitchFamily="2" charset="0"/>
                <a:ea typeface="Lora" charset="0"/>
                <a:cs typeface="Lora" charset="0"/>
              </a:rPr>
              <a:t>Définir un antibiotique.</a:t>
            </a:r>
          </a:p>
          <a:p>
            <a:pPr marL="457200" indent="-4572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latin typeface="Lora" pitchFamily="2" charset="0"/>
                <a:ea typeface="Lora" charset="0"/>
                <a:cs typeface="Lora" charset="0"/>
              </a:rPr>
              <a:t>Connaitre les différentes classes d’antibiotiques.</a:t>
            </a:r>
          </a:p>
          <a:p>
            <a:pPr marL="457200" indent="-4572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latin typeface="Lora" pitchFamily="2" charset="0"/>
                <a:ea typeface="Lora" charset="0"/>
                <a:cs typeface="Lora" charset="0"/>
              </a:rPr>
              <a:t>Comprendre les différents mécanismes d’action et leurs relation avec le spectre d’activité de chaque famille.</a:t>
            </a:r>
          </a:p>
          <a:p>
            <a:pPr marL="457200" indent="-4572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latin typeface="Lora" pitchFamily="2" charset="0"/>
                <a:ea typeface="Lora" charset="0"/>
                <a:cs typeface="Lora" charset="0"/>
              </a:rPr>
              <a:t>Nb: les antituberculeux ne sont pas inclus dans ce cours. </a:t>
            </a:r>
          </a:p>
          <a:p>
            <a:pPr marL="457200" indent="-457200">
              <a:buClr>
                <a:srgbClr val="007DD6"/>
              </a:buClr>
              <a:buFont typeface="Arial" panose="020B0604020202020204" pitchFamily="34" charset="0"/>
              <a:buChar char="•"/>
            </a:pPr>
            <a:endParaRPr lang="fr-FR" dirty="0">
              <a:latin typeface="Lora" charset="0"/>
              <a:ea typeface="Lora" charset="0"/>
              <a:cs typeface="Lor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388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138" y="1555510"/>
            <a:ext cx="6809700" cy="2665322"/>
          </a:xfrm>
        </p:spPr>
        <p:txBody>
          <a:bodyPr/>
          <a:lstStyle/>
          <a:p>
            <a:pPr marL="457200" indent="-457200">
              <a:buClr>
                <a:srgbClr val="007DD6"/>
              </a:buClr>
              <a:buFont typeface="+mj-lt"/>
              <a:buAutoNum type="arabicPeriod"/>
            </a:pPr>
            <a:r>
              <a:rPr lang="fr-FR" dirty="0">
                <a:latin typeface="Lora" charset="0"/>
                <a:ea typeface="Lora" charset="0"/>
                <a:cs typeface="Lora" charset="0"/>
              </a:rPr>
              <a:t>Introduction</a:t>
            </a:r>
          </a:p>
          <a:p>
            <a:pPr marL="457200" indent="-457200">
              <a:buClr>
                <a:srgbClr val="007DD6"/>
              </a:buClr>
              <a:buFont typeface="+mj-lt"/>
              <a:buAutoNum type="arabicPeriod"/>
            </a:pPr>
            <a:r>
              <a:rPr lang="fr-FR" dirty="0">
                <a:latin typeface="Lora" charset="0"/>
                <a:ea typeface="Lora" charset="0"/>
                <a:cs typeface="Lora" charset="0"/>
              </a:rPr>
              <a:t>Définition</a:t>
            </a:r>
          </a:p>
          <a:p>
            <a:pPr marL="457200" indent="-457200">
              <a:buClr>
                <a:srgbClr val="007DD6"/>
              </a:buClr>
              <a:buFont typeface="+mj-lt"/>
              <a:buAutoNum type="arabicPeriod"/>
            </a:pPr>
            <a:r>
              <a:rPr lang="fr-FR" dirty="0">
                <a:latin typeface="Lora" charset="0"/>
                <a:ea typeface="Lora" charset="0"/>
                <a:cs typeface="Lora" charset="0"/>
              </a:rPr>
              <a:t>Critères de classification</a:t>
            </a:r>
          </a:p>
          <a:p>
            <a:pPr marL="457200" indent="-457200">
              <a:buClr>
                <a:srgbClr val="007DD6"/>
              </a:buClr>
              <a:buFont typeface="+mj-lt"/>
              <a:buAutoNum type="arabicPeriod"/>
            </a:pPr>
            <a:r>
              <a:rPr lang="fr-FR" dirty="0">
                <a:latin typeface="Lora" charset="0"/>
                <a:ea typeface="Lora" charset="0"/>
                <a:cs typeface="Lora" charset="0"/>
              </a:rPr>
              <a:t>Les différentes classes d’antibiotiques ( selon le mode d’action et la famille).</a:t>
            </a:r>
          </a:p>
          <a:p>
            <a:pPr marL="457200" indent="-457200">
              <a:buClr>
                <a:srgbClr val="007DD6"/>
              </a:buClr>
              <a:buFont typeface="+mj-lt"/>
              <a:buAutoNum type="arabicPeriod"/>
            </a:pPr>
            <a:r>
              <a:rPr lang="fr-FR" dirty="0">
                <a:latin typeface="Lora" charset="0"/>
                <a:ea typeface="Lora" charset="0"/>
                <a:cs typeface="Lora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572903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3447" y="2339092"/>
            <a:ext cx="3097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1</a:t>
            </a:r>
            <a:endParaRPr lang="fr-FR" sz="2000" b="1" dirty="0">
              <a:solidFill>
                <a:schemeClr val="bg1"/>
              </a:solidFill>
              <a:latin typeface="Lora" charset="0"/>
              <a:ea typeface="Lora" charset="0"/>
              <a:cs typeface="Lora" charset="0"/>
            </a:endParaRPr>
          </a:p>
        </p:txBody>
      </p:sp>
      <p:sp>
        <p:nvSpPr>
          <p:cNvPr id="4" name="Oval 3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59204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Introduction:</a:t>
            </a:r>
            <a:endParaRPr lang="fr-FR" dirty="0">
              <a:solidFill>
                <a:srgbClr val="007DD6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568" y="1358267"/>
            <a:ext cx="8375460" cy="3616069"/>
          </a:xfrm>
        </p:spPr>
        <p:txBody>
          <a:bodyPr/>
          <a:lstStyle/>
          <a:p>
            <a:pPr marL="342900" indent="-342900" algn="just">
              <a:buClr>
                <a:srgbClr val="007DD6"/>
              </a:buClr>
              <a:buFont typeface="Arial" charset="0"/>
              <a:buChar char="•"/>
            </a:pPr>
            <a:r>
              <a:rPr lang="fr-FR" sz="2000" dirty="0">
                <a:latin typeface="Lora" charset="0"/>
                <a:ea typeface="Lora" charset="0"/>
                <a:cs typeface="Lora" charset="0"/>
              </a:rPr>
              <a:t>La découverte des antibiotiques est l’une  des grandes « réussites » de la médecine du XXème siècle : jusqu’au XXème siècle, les maladies infectieuses étaient la première cause de mortalité humaine.</a:t>
            </a:r>
          </a:p>
          <a:p>
            <a:pPr marL="342900" indent="-342900" algn="just">
              <a:buClr>
                <a:srgbClr val="007DD6"/>
              </a:buClr>
              <a:buFont typeface="Arial" charset="0"/>
              <a:buChar char="•"/>
            </a:pPr>
            <a:r>
              <a:rPr lang="fr-FR" sz="2000" dirty="0">
                <a:latin typeface="Lora" charset="0"/>
                <a:ea typeface="Lora" charset="0"/>
                <a:cs typeface="Lora" charset="0"/>
              </a:rPr>
              <a:t>L'âge d'or des antibiotiques a duré un demi-siècle mais la situation actuelle inquiète.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9649" y="766815"/>
            <a:ext cx="3329547" cy="31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  <p:sp>
        <p:nvSpPr>
          <p:cNvPr id="12" name="Oval 11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7107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5065" y="1640958"/>
            <a:ext cx="6042988" cy="1159799"/>
          </a:xfrm>
        </p:spPr>
        <p:txBody>
          <a:bodyPr/>
          <a:lstStyle/>
          <a:p>
            <a:pPr>
              <a:buClr>
                <a:srgbClr val="007DD6"/>
              </a:buClr>
            </a:pPr>
            <a:r>
              <a:rPr lang="fr-FR" dirty="0">
                <a:latin typeface="Lora" charset="0"/>
                <a:ea typeface="Lora" charset="0"/>
                <a:cs typeface="Lora" charset="0"/>
              </a:rPr>
              <a:t>Définition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9697" y="2339092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2</a:t>
            </a:r>
            <a:endParaRPr lang="fr-FR" sz="2000" b="1" dirty="0">
              <a:solidFill>
                <a:schemeClr val="bg1"/>
              </a:solidFill>
              <a:latin typeface="Lora" charset="0"/>
              <a:ea typeface="Lora" charset="0"/>
              <a:cs typeface="Lora" charset="0"/>
            </a:endParaRPr>
          </a:p>
        </p:txBody>
      </p:sp>
      <p:sp>
        <p:nvSpPr>
          <p:cNvPr id="5" name="Oval 4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68403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922668"/>
            <a:ext cx="5446270" cy="435599"/>
          </a:xfrm>
        </p:spPr>
        <p:txBody>
          <a:bodyPr/>
          <a:lstStyle/>
          <a:p>
            <a:pPr>
              <a:buClr>
                <a:srgbClr val="007DD6"/>
              </a:buClr>
            </a:pPr>
            <a:r>
              <a:rPr lang="fr-FR" dirty="0">
                <a:latin typeface="Lora" charset="0"/>
                <a:ea typeface="Lora" charset="0"/>
                <a:cs typeface="Lora" charset="0"/>
              </a:rPr>
              <a:t>Définition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4256" y="1392870"/>
            <a:ext cx="8040556" cy="3424494"/>
          </a:xfrm>
        </p:spPr>
        <p:txBody>
          <a:bodyPr/>
          <a:lstStyle/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latin typeface="Lora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L</a:t>
            </a:r>
            <a:r>
              <a:rPr lang="fr-FR" sz="2000" dirty="0">
                <a:effectLst/>
                <a:latin typeface="Lora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es antibiotiques sont des molécules à activité antibactérienne, elles sont soit d’origine synthétique  ou semi-synthétiques (sulfamides, quinolones) ou biologique (βlactamines, aminosides, macrolides, polypeptides).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effectLst/>
                <a:latin typeface="Lora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Elles agissent spécifiquement sur une étape essentielle du métabolisme des bactéries (Synthèses protéiques, synthèse des acides nucléiques, réplication, transcription…) =&gt; </a:t>
            </a:r>
            <a:r>
              <a:rPr lang="fr-FR" sz="2000" b="1" dirty="0">
                <a:solidFill>
                  <a:srgbClr val="0069D9"/>
                </a:solidFill>
                <a:effectLst/>
                <a:latin typeface="Lora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une toxicité sélective</a:t>
            </a:r>
            <a:r>
              <a:rPr lang="fr-FR" sz="2000" dirty="0">
                <a:effectLst/>
                <a:latin typeface="Lora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 directement liée à leur mécanisme d'action, à des concentrations tolérées par l’hôte </a:t>
            </a:r>
            <a:r>
              <a:rPr lang="fr-FR" sz="2000" b="0" i="0" dirty="0">
                <a:solidFill>
                  <a:srgbClr val="000000"/>
                </a:solidFill>
                <a:effectLst/>
                <a:latin typeface="Lora" pitchFamily="2" charset="0"/>
              </a:rPr>
              <a:t>(de l'ordre du mg/L).</a:t>
            </a:r>
            <a:r>
              <a:rPr lang="fr-FR" sz="2000" dirty="0">
                <a:latin typeface="Lora" pitchFamily="2" charset="0"/>
              </a:rPr>
              <a:t> ( contrairement au antiseptiques). </a:t>
            </a:r>
            <a:br>
              <a:rPr lang="fr-FR" sz="1400" dirty="0"/>
            </a:br>
            <a:endParaRPr lang="fr-FR" sz="1800" dirty="0">
              <a:effectLst/>
              <a:latin typeface="Lor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59649" y="766815"/>
            <a:ext cx="3329547" cy="31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  <p:sp>
        <p:nvSpPr>
          <p:cNvPr id="12" name="Oval 11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15226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1315" y="2259046"/>
            <a:ext cx="6042988" cy="621755"/>
          </a:xfrm>
        </p:spPr>
        <p:txBody>
          <a:bodyPr/>
          <a:lstStyle/>
          <a:p>
            <a:pPr>
              <a:buClr>
                <a:srgbClr val="007DD6"/>
              </a:buClr>
            </a:pPr>
            <a:r>
              <a:rPr lang="fr-FR" dirty="0">
                <a:latin typeface="Lora" charset="0"/>
                <a:ea typeface="Lora" charset="0"/>
                <a:cs typeface="Lora" charset="0"/>
              </a:rPr>
              <a:t>Critères de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9697" y="2339092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3</a:t>
            </a:r>
            <a:endParaRPr lang="fr-FR" sz="2000" b="1" dirty="0">
              <a:solidFill>
                <a:schemeClr val="bg1"/>
              </a:solidFill>
              <a:latin typeface="Lora" charset="0"/>
              <a:ea typeface="Lora" charset="0"/>
              <a:cs typeface="Lora" charset="0"/>
            </a:endParaRPr>
          </a:p>
        </p:txBody>
      </p:sp>
      <p:sp>
        <p:nvSpPr>
          <p:cNvPr id="5" name="Oval 4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42678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776364"/>
            <a:ext cx="7111240" cy="698868"/>
          </a:xfrm>
        </p:spPr>
        <p:txBody>
          <a:bodyPr/>
          <a:lstStyle/>
          <a:p>
            <a:pPr>
              <a:buClr>
                <a:srgbClr val="007DD6"/>
              </a:buClr>
            </a:pPr>
            <a:r>
              <a:rPr lang="fr-FR" dirty="0">
                <a:latin typeface="Lora" charset="0"/>
                <a:ea typeface="Lora" charset="0"/>
                <a:cs typeface="Lora" charset="0"/>
              </a:rPr>
              <a:t>Critères de classification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8" y="1463040"/>
            <a:ext cx="8199882" cy="3340608"/>
          </a:xfrm>
        </p:spPr>
        <p:txBody>
          <a:bodyPr/>
          <a:lstStyle/>
          <a:p>
            <a:pPr>
              <a:buClr>
                <a:srgbClr val="007DD6"/>
              </a:buClr>
              <a:buNone/>
            </a:pPr>
            <a:r>
              <a:rPr lang="fr-FR" sz="1800" dirty="0">
                <a:latin typeface="Lora" charset="0"/>
                <a:ea typeface="Lora" charset="0"/>
                <a:cs typeface="Lora" charset="0"/>
              </a:rPr>
              <a:t>Les antibiotiques sont regroupées par famille en fonction de :</a:t>
            </a:r>
          </a:p>
          <a:p>
            <a:pPr marL="285750" indent="-28575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800" b="1" dirty="0">
                <a:latin typeface="Lora" charset="0"/>
                <a:ea typeface="Lora" charset="0"/>
                <a:cs typeface="Lora" charset="0"/>
              </a:rPr>
              <a:t>Leur similitude de structure chimique</a:t>
            </a:r>
            <a:r>
              <a:rPr lang="fr-FR" sz="1800" dirty="0">
                <a:latin typeface="Lora" charset="0"/>
                <a:ea typeface="Lora" charset="0"/>
                <a:cs typeface="Lora" charset="0"/>
              </a:rPr>
              <a:t>. Exemple: la famille des β-lactamines présence du cycle β-lactame.</a:t>
            </a:r>
          </a:p>
          <a:p>
            <a:pPr marL="285750" indent="-28575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800" b="1" dirty="0">
                <a:latin typeface="Lora" charset="0"/>
                <a:ea typeface="Lora" charset="0"/>
                <a:cs typeface="Lora" charset="0"/>
              </a:rPr>
              <a:t>Leur cible et mode d'action : </a:t>
            </a:r>
            <a:r>
              <a:rPr lang="fr-FR" sz="1800" dirty="0">
                <a:latin typeface="Lora" charset="0"/>
                <a:ea typeface="Lora" charset="0"/>
                <a:cs typeface="Lora" charset="0"/>
              </a:rPr>
              <a:t>inhibition de synthèse de la paroi , synthèse protéique ou de synthèse d’acides nucléiques ou action directe sur la membrane bactérienne.  </a:t>
            </a:r>
          </a:p>
          <a:p>
            <a:pPr marL="285750" indent="-28575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800" b="1" dirty="0">
                <a:latin typeface="Lora" charset="0"/>
                <a:ea typeface="Lora" charset="0"/>
                <a:cs typeface="Lora" charset="0"/>
              </a:rPr>
              <a:t>Modalités d'action: </a:t>
            </a:r>
            <a:r>
              <a:rPr lang="fr-FR" sz="1800" dirty="0">
                <a:latin typeface="Lora" charset="0"/>
                <a:ea typeface="Lora" charset="0"/>
                <a:cs typeface="Lora" charset="0"/>
              </a:rPr>
              <a:t>bactériostatique ou bactéricide. </a:t>
            </a:r>
          </a:p>
          <a:p>
            <a:pPr marL="285750" indent="-28575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800" b="1" dirty="0">
                <a:latin typeface="Lora" charset="0"/>
                <a:ea typeface="Lora" charset="0"/>
                <a:cs typeface="Lora" charset="0"/>
              </a:rPr>
              <a:t>Spectre d'activité: </a:t>
            </a:r>
            <a:r>
              <a:rPr lang="fr-FR" sz="1800" dirty="0">
                <a:latin typeface="Lora" charset="0"/>
                <a:ea typeface="Lora" charset="0"/>
                <a:cs typeface="Lora" charset="0"/>
              </a:rPr>
              <a:t>l’ensemble des espèces microbiennes sur lesquelles un antibiotique est actif. C’est une notion théorique qui dépend de la sensibilité naturelle des souches sauvages. </a:t>
            </a:r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74288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2225" y="1693523"/>
            <a:ext cx="5816957" cy="1820954"/>
          </a:xfrm>
        </p:spPr>
        <p:txBody>
          <a:bodyPr/>
          <a:lstStyle/>
          <a:p>
            <a:pPr>
              <a:buClr>
                <a:srgbClr val="007DD6"/>
              </a:buClr>
            </a:pPr>
            <a:r>
              <a:rPr lang="fr-FR" dirty="0">
                <a:latin typeface="Lora" charset="0"/>
                <a:ea typeface="Lora" charset="0"/>
                <a:cs typeface="Lora" charset="0"/>
              </a:rPr>
              <a:t>Les différentes classes d’antibiotiques ( selon le mode d’action et la famille).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9697" y="2339092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4</a:t>
            </a:r>
            <a:endParaRPr lang="fr-FR" sz="2000" b="1" dirty="0">
              <a:solidFill>
                <a:schemeClr val="bg1"/>
              </a:solidFill>
              <a:latin typeface="Lora" charset="0"/>
              <a:ea typeface="Lora" charset="0"/>
              <a:cs typeface="Lora" charset="0"/>
            </a:endParaRPr>
          </a:p>
        </p:txBody>
      </p:sp>
      <p:sp>
        <p:nvSpPr>
          <p:cNvPr id="6" name="Oval 5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51593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229697" y="2339092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4</a:t>
            </a:r>
            <a:endParaRPr lang="fr-FR" sz="2000" b="1" dirty="0">
              <a:solidFill>
                <a:schemeClr val="bg1"/>
              </a:solidFill>
              <a:latin typeface="Lora" charset="0"/>
              <a:ea typeface="Lora" charset="0"/>
              <a:cs typeface="Lora" charset="0"/>
            </a:endParaRPr>
          </a:p>
        </p:txBody>
      </p:sp>
      <p:sp>
        <p:nvSpPr>
          <p:cNvPr id="6" name="Oval 5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8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52F5A451-3430-4865-6D8C-B4329B50F3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6EBD35E-D85B-7604-8C5E-0B9FCB96B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23" y="825139"/>
            <a:ext cx="8338486" cy="379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551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922668"/>
            <a:ext cx="7516260" cy="603982"/>
          </a:xfrm>
        </p:spPr>
        <p:txBody>
          <a:bodyPr/>
          <a:lstStyle/>
          <a:p>
            <a:pPr>
              <a:buClr>
                <a:srgbClr val="007DD6"/>
              </a:buClr>
            </a:pPr>
            <a:r>
              <a:rPr lang="fr-FR" dirty="0">
                <a:latin typeface="Lora" charset="0"/>
                <a:ea typeface="Lora" charset="0"/>
                <a:cs typeface="Lora" charset="0"/>
              </a:rPr>
              <a:t>Les différentes classes d’antibiotiques ( selon le mode d’action et la famille).</a:t>
            </a:r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9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34677" y="1605632"/>
            <a:ext cx="8474645" cy="2639264"/>
          </a:xfrm>
        </p:spPr>
        <p:txBody>
          <a:bodyPr/>
          <a:lstStyle/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latin typeface="Lora" panose="02000503000000020004"/>
              </a:rPr>
              <a:t>I. Antibiotiques inhibant la biosynthèse de la paroi :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latin typeface="Lora" panose="02000503000000020004"/>
              </a:rPr>
              <a:t>Les </a:t>
            </a:r>
            <a:r>
              <a:rPr lang="el-GR" sz="1400" b="1" dirty="0">
                <a:latin typeface="Lora" panose="02000503000000020004"/>
              </a:rPr>
              <a:t>β-</a:t>
            </a:r>
            <a:r>
              <a:rPr lang="fr-FR" sz="1400" b="1" dirty="0">
                <a:latin typeface="Lora" panose="02000503000000020004"/>
              </a:rPr>
              <a:t>lactamines: 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latin typeface="Lora" panose="02000503000000020004"/>
              </a:rPr>
              <a:t>Les BL regroupent de nombreuses molécules qui partagent certaines caractéristiques :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latin typeface="Lora" panose="02000503000000020004"/>
              </a:rPr>
              <a:t>la présence d’un cycle « bêta-</a:t>
            </a:r>
            <a:r>
              <a:rPr lang="fr-FR" sz="1600" dirty="0" err="1">
                <a:latin typeface="Lora" panose="02000503000000020004"/>
              </a:rPr>
              <a:t>lactam</a:t>
            </a:r>
            <a:r>
              <a:rPr lang="fr-FR" sz="1600" dirty="0">
                <a:latin typeface="Lora" panose="02000503000000020004"/>
              </a:rPr>
              <a:t> » dans leur structure moléculaire ;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latin typeface="Lora" panose="02000503000000020004"/>
              </a:rPr>
              <a:t>un mode d’action basé sur l’inhibition de la synthèse du peptidoglycane, principal composant de la paroi bactérienne, grâce à une interaction avec des protéines liant la pénicilline (PLP) ;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latin typeface="Lora" panose="02000503000000020004"/>
              </a:rPr>
              <a:t>une activité bactéricide dite « temps-dépendante », c’est-à-dire dépendant de la durée de contact entre l’antibiotique et sa cible </a:t>
            </a:r>
          </a:p>
        </p:txBody>
      </p:sp>
    </p:spTree>
    <p:extLst>
      <p:ext uri="{BB962C8B-B14F-4D97-AF65-F5344CB8AC3E}">
        <p14:creationId xmlns:p14="http://schemas.microsoft.com/office/powerpoint/2010/main" val="3809454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922668"/>
            <a:ext cx="7516260" cy="603982"/>
          </a:xfrm>
        </p:spPr>
        <p:txBody>
          <a:bodyPr/>
          <a:lstStyle/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2000" b="1" dirty="0">
                <a:latin typeface="Lora" panose="02000503000000020004"/>
              </a:rPr>
              <a:t>I. Antibiotiques inhibant la biosynthèse de la paroi :</a:t>
            </a:r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10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34677" y="1605632"/>
            <a:ext cx="8474645" cy="2639264"/>
          </a:xfrm>
        </p:spPr>
        <p:txBody>
          <a:bodyPr/>
          <a:lstStyle/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latin typeface="Lora" panose="02000503000000020004"/>
              </a:rPr>
              <a:t>Classée en plusieurs groupes dont: 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dirty="0">
                <a:latin typeface="Lora" panose="02000503000000020004"/>
              </a:rPr>
              <a:t>Les pénicillines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dirty="0">
                <a:latin typeface="Lora" panose="02000503000000020004"/>
              </a:rPr>
              <a:t>Les céphalosporines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dirty="0">
                <a:latin typeface="Lora" panose="02000503000000020004"/>
              </a:rPr>
              <a:t>Les carbapénèmes 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dirty="0">
                <a:latin typeface="Lora" panose="02000503000000020004"/>
              </a:rPr>
              <a:t>Les </a:t>
            </a:r>
            <a:r>
              <a:rPr lang="fr-FR" sz="1400" dirty="0" err="1">
                <a:latin typeface="Lora" panose="02000503000000020004"/>
              </a:rPr>
              <a:t>monobactames</a:t>
            </a:r>
            <a:endParaRPr lang="fr-FR" sz="1400" dirty="0">
              <a:latin typeface="Lora" panose="02000503000000020004"/>
            </a:endParaRP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dirty="0">
                <a:latin typeface="Lora" panose="02000503000000020004"/>
              </a:rPr>
              <a:t>Les inhibiteurs de béta-lactamases</a:t>
            </a:r>
            <a:endParaRPr lang="fr-FR" sz="1600" dirty="0">
              <a:latin typeface="Lora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461065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922668"/>
            <a:ext cx="7516260" cy="603982"/>
          </a:xfrm>
        </p:spPr>
        <p:txBody>
          <a:bodyPr/>
          <a:lstStyle/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2000" b="1" dirty="0">
                <a:latin typeface="Lora" panose="02000503000000020004"/>
              </a:rPr>
              <a:t>I. Antibiotiques inhibant la biosynthèse de la paroi :</a:t>
            </a:r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11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34677" y="1605632"/>
            <a:ext cx="8474645" cy="2639264"/>
          </a:xfrm>
        </p:spPr>
        <p:txBody>
          <a:bodyPr/>
          <a:lstStyle/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endParaRPr lang="fr-FR" sz="1600" dirty="0">
              <a:latin typeface="Lora" panose="02000503000000020004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C7D31FE-A99A-9D12-A97D-8186DD5ED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561" y="1518805"/>
            <a:ext cx="3839111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622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922668"/>
            <a:ext cx="7516260" cy="603982"/>
          </a:xfrm>
        </p:spPr>
        <p:txBody>
          <a:bodyPr/>
          <a:lstStyle/>
          <a:p>
            <a:pPr>
              <a:buClr>
                <a:srgbClr val="007DD6"/>
              </a:buClr>
            </a:pPr>
            <a:r>
              <a:rPr lang="fr-FR" dirty="0">
                <a:latin typeface="Lora" charset="0"/>
                <a:ea typeface="Lora" charset="0"/>
                <a:cs typeface="Lora" charset="0"/>
              </a:rPr>
              <a:t>Les différentes classes d’antibiotiques ( selon le mode d’action et la famille).</a:t>
            </a:r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12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34677" y="3616851"/>
            <a:ext cx="8474645" cy="1288918"/>
          </a:xfrm>
        </p:spPr>
        <p:txBody>
          <a:bodyPr/>
          <a:lstStyle/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latin typeface="Lora" panose="02000503000000020004"/>
              </a:rPr>
              <a:t>L’association avec les inhibiteurs de </a:t>
            </a:r>
            <a:r>
              <a:rPr lang="fr-FR" sz="1600" dirty="0" err="1">
                <a:latin typeface="Lora" panose="02000503000000020004"/>
              </a:rPr>
              <a:t>bétalactamase</a:t>
            </a:r>
            <a:r>
              <a:rPr lang="fr-FR" sz="1600" dirty="0">
                <a:latin typeface="Lora" panose="02000503000000020004"/>
              </a:rPr>
              <a:t> permet un élargissement de spectre vis-à-vis les espèces ou souches sécrétrices de béta lactamase. </a:t>
            </a:r>
            <a:r>
              <a:rPr lang="fr-FR" sz="1800" b="0" i="0" dirty="0">
                <a:solidFill>
                  <a:srgbClr val="242021"/>
                </a:solidFill>
                <a:effectLst/>
                <a:latin typeface="StoneSerif"/>
              </a:rPr>
              <a:t>Amoxicilline/</a:t>
            </a:r>
            <a:r>
              <a:rPr lang="fr-FR" sz="1800" b="0" i="0" dirty="0" err="1">
                <a:solidFill>
                  <a:srgbClr val="242021"/>
                </a:solidFill>
                <a:effectLst/>
                <a:latin typeface="StoneSerif"/>
              </a:rPr>
              <a:t>Clavulanate</a:t>
            </a:r>
            <a:r>
              <a:rPr lang="fr-FR" sz="1200" dirty="0"/>
              <a:t> , </a:t>
            </a:r>
            <a:r>
              <a:rPr lang="fr-FR" sz="1800" b="0" i="0" dirty="0" err="1">
                <a:solidFill>
                  <a:srgbClr val="242021"/>
                </a:solidFill>
                <a:effectLst/>
                <a:latin typeface="StoneSerif"/>
              </a:rPr>
              <a:t>Ticarcilline</a:t>
            </a:r>
            <a:r>
              <a:rPr lang="fr-FR" sz="1800" b="0" i="0" dirty="0">
                <a:solidFill>
                  <a:srgbClr val="242021"/>
                </a:solidFill>
                <a:effectLst/>
                <a:latin typeface="StoneSerif"/>
              </a:rPr>
              <a:t>/</a:t>
            </a:r>
            <a:r>
              <a:rPr lang="fr-FR" sz="1800" b="0" i="0" dirty="0" err="1">
                <a:solidFill>
                  <a:srgbClr val="242021"/>
                </a:solidFill>
                <a:effectLst/>
                <a:latin typeface="StoneSerif"/>
              </a:rPr>
              <a:t>Clavulanate</a:t>
            </a:r>
            <a:br>
              <a:rPr lang="fr-FR" sz="1200" dirty="0"/>
            </a:br>
            <a:endParaRPr lang="fr-FR" sz="1600" dirty="0">
              <a:latin typeface="Lora" panose="02000503000000020004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0D92D41-9A24-CC88-E41A-81C82D7FA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432" y="151074"/>
            <a:ext cx="7951133" cy="3357977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B8866F00-82E3-47FB-2801-4C0C90DAB23C}"/>
              </a:ext>
            </a:extLst>
          </p:cNvPr>
          <p:cNvSpPr txBox="1"/>
          <p:nvPr/>
        </p:nvSpPr>
        <p:spPr>
          <a:xfrm>
            <a:off x="1749287" y="1990467"/>
            <a:ext cx="1072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0" i="0" dirty="0">
                <a:solidFill>
                  <a:srgbClr val="242021"/>
                </a:solidFill>
                <a:effectLst/>
                <a:latin typeface="StoneSerif"/>
              </a:rPr>
              <a:t>Amoxicilline</a:t>
            </a:r>
          </a:p>
          <a:p>
            <a:r>
              <a:rPr lang="fr-FR" dirty="0">
                <a:solidFill>
                  <a:srgbClr val="242021"/>
                </a:solidFill>
                <a:latin typeface="StoneSerif"/>
              </a:rPr>
              <a:t>ampicilline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74367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922668"/>
            <a:ext cx="7516260" cy="603982"/>
          </a:xfrm>
        </p:spPr>
        <p:txBody>
          <a:bodyPr/>
          <a:lstStyle/>
          <a:p>
            <a:pPr>
              <a:buClr>
                <a:srgbClr val="007DD6"/>
              </a:buClr>
            </a:pPr>
            <a:r>
              <a:rPr lang="fr-FR" sz="2000" b="1" dirty="0">
                <a:latin typeface="Lora" panose="02000503000000020004"/>
              </a:rPr>
              <a:t>I. Antibiotiques inhibant la biosynthèse de la paroi :</a:t>
            </a:r>
            <a:endParaRPr lang="fr-FR" dirty="0">
              <a:latin typeface="Lora" charset="0"/>
              <a:ea typeface="Lora" charset="0"/>
              <a:cs typeface="Lora" charset="0"/>
            </a:endParaRPr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13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063117" y="3075629"/>
            <a:ext cx="4238045" cy="655720"/>
          </a:xfrm>
        </p:spPr>
        <p:txBody>
          <a:bodyPr/>
          <a:lstStyle/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200" dirty="0">
                <a:latin typeface="Lora" panose="02000503000000020004"/>
              </a:rPr>
              <a:t>5eme  génération </a:t>
            </a:r>
            <a:r>
              <a:rPr lang="fr-FR" sz="1200" dirty="0" err="1">
                <a:latin typeface="Lora" panose="02000503000000020004"/>
              </a:rPr>
              <a:t>Ceftaroline</a:t>
            </a:r>
            <a:r>
              <a:rPr lang="fr-FR" sz="1200" dirty="0">
                <a:latin typeface="Lora" panose="02000503000000020004"/>
              </a:rPr>
              <a:t> et </a:t>
            </a:r>
            <a:r>
              <a:rPr lang="fr-FR" sz="1200" dirty="0" err="1">
                <a:latin typeface="Lora" panose="02000503000000020004"/>
              </a:rPr>
              <a:t>Ceftopibrole</a:t>
            </a:r>
            <a:endParaRPr lang="fr-FR" sz="1200" dirty="0">
              <a:latin typeface="Lora" panose="02000503000000020004"/>
            </a:endParaRP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200" dirty="0">
                <a:latin typeface="Lora" panose="02000503000000020004"/>
              </a:rPr>
              <a:t>Espèces sensibles : Idem C4G + staphylocoques </a:t>
            </a:r>
            <a:r>
              <a:rPr lang="fr-FR" sz="1200" dirty="0" err="1">
                <a:latin typeface="Lora" panose="02000503000000020004"/>
              </a:rPr>
              <a:t>méti</a:t>
            </a:r>
            <a:r>
              <a:rPr lang="fr-FR" sz="1200" dirty="0">
                <a:latin typeface="Lora" panose="02000503000000020004"/>
              </a:rPr>
              <a:t>-R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968C3284-2812-1660-0E22-5C125F35F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157" y="1374117"/>
            <a:ext cx="2517534" cy="351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663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922668"/>
            <a:ext cx="7516260" cy="603982"/>
          </a:xfrm>
        </p:spPr>
        <p:txBody>
          <a:bodyPr/>
          <a:lstStyle/>
          <a:p>
            <a:pPr>
              <a:buClr>
                <a:srgbClr val="007DD6"/>
              </a:buClr>
            </a:pPr>
            <a:r>
              <a:rPr lang="fr-FR" sz="2000" b="1" dirty="0">
                <a:latin typeface="Lora" panose="02000503000000020004"/>
              </a:rPr>
              <a:t>I. Antibiotiques inhibant la biosynthèse de la paroi :</a:t>
            </a:r>
            <a:endParaRPr lang="fr-FR" dirty="0">
              <a:latin typeface="Lora" charset="0"/>
              <a:ea typeface="Lora" charset="0"/>
              <a:cs typeface="Lora" charset="0"/>
            </a:endParaRPr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14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25591" y="4268324"/>
            <a:ext cx="7039181" cy="655720"/>
          </a:xfrm>
        </p:spPr>
        <p:txBody>
          <a:bodyPr/>
          <a:lstStyle/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200" dirty="0">
                <a:latin typeface="Lora" panose="02000503000000020004"/>
              </a:rPr>
              <a:t>5eme  génération </a:t>
            </a:r>
            <a:r>
              <a:rPr lang="fr-FR" sz="1200" dirty="0" err="1">
                <a:latin typeface="Lora" panose="02000503000000020004"/>
              </a:rPr>
              <a:t>Ceftaroline</a:t>
            </a:r>
            <a:r>
              <a:rPr lang="fr-FR" sz="1200" dirty="0">
                <a:latin typeface="Lora" panose="02000503000000020004"/>
              </a:rPr>
              <a:t> et </a:t>
            </a:r>
            <a:r>
              <a:rPr lang="fr-FR" sz="1200" dirty="0" err="1">
                <a:latin typeface="Lora" panose="02000503000000020004"/>
              </a:rPr>
              <a:t>Ceftopibrole</a:t>
            </a:r>
            <a:endParaRPr lang="fr-FR" sz="1200" dirty="0">
              <a:latin typeface="Lora" panose="02000503000000020004"/>
            </a:endParaRPr>
          </a:p>
          <a:p>
            <a:pPr>
              <a:buClr>
                <a:srgbClr val="007DD6"/>
              </a:buClr>
              <a:buNone/>
            </a:pPr>
            <a:r>
              <a:rPr lang="fr-FR" sz="1200" dirty="0">
                <a:latin typeface="Lora" panose="02000503000000020004"/>
              </a:rPr>
              <a:t>Espèces sensibles : Idem C4G + staphylocoques </a:t>
            </a:r>
            <a:r>
              <a:rPr lang="fr-FR" sz="1200" dirty="0" err="1">
                <a:latin typeface="Lora" panose="02000503000000020004"/>
              </a:rPr>
              <a:t>méti</a:t>
            </a:r>
            <a:r>
              <a:rPr lang="fr-FR" sz="1200" dirty="0">
                <a:latin typeface="Lora" panose="02000503000000020004"/>
              </a:rPr>
              <a:t>-R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C9ED1FA-2F9D-97D4-1ABE-606356461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14" y="1502586"/>
            <a:ext cx="7955972" cy="2718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674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922668"/>
            <a:ext cx="7516260" cy="603982"/>
          </a:xfrm>
        </p:spPr>
        <p:txBody>
          <a:bodyPr/>
          <a:lstStyle/>
          <a:p>
            <a:pPr>
              <a:buClr>
                <a:srgbClr val="007DD6"/>
              </a:buClr>
            </a:pPr>
            <a:r>
              <a:rPr lang="fr-FR" sz="2000" b="1" dirty="0">
                <a:latin typeface="Lora" panose="02000503000000020004"/>
              </a:rPr>
              <a:t>I. Antibiotiques inhibant la biosynthèse de la paroi :</a:t>
            </a:r>
            <a:endParaRPr lang="fr-FR" dirty="0">
              <a:latin typeface="Lora" charset="0"/>
              <a:ea typeface="Lora" charset="0"/>
              <a:cs typeface="Lora" charset="0"/>
            </a:endParaRPr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15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81250" y="1526650"/>
            <a:ext cx="7039181" cy="2848648"/>
          </a:xfrm>
        </p:spPr>
        <p:txBody>
          <a:bodyPr/>
          <a:lstStyle/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endParaRPr lang="fr-FR" sz="1200" dirty="0">
              <a:latin typeface="Lora" panose="02000503000000020004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68353C9-3019-F812-2926-BABFFD083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849" y="2276702"/>
            <a:ext cx="8625661" cy="133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51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922668"/>
            <a:ext cx="7516260" cy="603982"/>
          </a:xfrm>
        </p:spPr>
        <p:txBody>
          <a:bodyPr/>
          <a:lstStyle/>
          <a:p>
            <a:pPr>
              <a:buClr>
                <a:srgbClr val="007DD6"/>
              </a:buClr>
            </a:pPr>
            <a:r>
              <a:rPr lang="fr-FR" sz="2000" b="1" dirty="0">
                <a:latin typeface="Lora" panose="02000503000000020004"/>
              </a:rPr>
              <a:t>I. Antibiotiques inhibant la biosynthèse de la paroi :</a:t>
            </a:r>
            <a:endParaRPr lang="fr-FR" dirty="0">
              <a:latin typeface="Lora" charset="0"/>
              <a:ea typeface="Lora" charset="0"/>
              <a:cs typeface="Lora" charset="0"/>
            </a:endParaRPr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16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34677" y="1605632"/>
            <a:ext cx="8474645" cy="2639264"/>
          </a:xfrm>
        </p:spPr>
        <p:txBody>
          <a:bodyPr/>
          <a:lstStyle/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b="1" dirty="0">
                <a:latin typeface="Lora" panose="02000503000000020004"/>
              </a:rPr>
              <a:t>Glycopeptides: (</a:t>
            </a:r>
            <a:r>
              <a:rPr lang="fr-FR" sz="1600" dirty="0">
                <a:latin typeface="Lora" panose="02000503000000020004"/>
              </a:rPr>
              <a:t>vancomycine et </a:t>
            </a:r>
            <a:r>
              <a:rPr lang="fr-FR" sz="1600" dirty="0" err="1">
                <a:latin typeface="Lora" panose="02000503000000020004"/>
              </a:rPr>
              <a:t>teicoplanine</a:t>
            </a:r>
            <a:r>
              <a:rPr lang="fr-FR" sz="1600" dirty="0">
                <a:latin typeface="Lora" panose="02000503000000020004"/>
              </a:rPr>
              <a:t>)</a:t>
            </a:r>
            <a:endParaRPr lang="fr-FR" sz="1600" b="1" dirty="0">
              <a:latin typeface="Lora" panose="02000503000000020004"/>
            </a:endParaRP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latin typeface="Lora" panose="02000503000000020004"/>
              </a:rPr>
              <a:t>Agissent également sur la dernière étape de la synthèse du peptidoglycane en inhibant le fonctionnement de certaines enzymes par encombrement stérique.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latin typeface="Lora" panose="02000503000000020004"/>
              </a:rPr>
              <a:t>Lentement bactéricides 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latin typeface="Lora" panose="02000503000000020004"/>
              </a:rPr>
              <a:t>Actif exclusivement sur les bactéries gram + et sont totalement inactifs sur les grams -, étant trop volumineux pour traverser la membrane externe. Usage hospitalier – traitement des infections sévères à staphylocoques méticilline-résistants et entérocoques)</a:t>
            </a:r>
          </a:p>
        </p:txBody>
      </p:sp>
    </p:spTree>
    <p:extLst>
      <p:ext uri="{BB962C8B-B14F-4D97-AF65-F5344CB8AC3E}">
        <p14:creationId xmlns:p14="http://schemas.microsoft.com/office/powerpoint/2010/main" val="35616602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922668"/>
            <a:ext cx="7516260" cy="603982"/>
          </a:xfrm>
        </p:spPr>
        <p:txBody>
          <a:bodyPr/>
          <a:lstStyle/>
          <a:p>
            <a:pPr>
              <a:buClr>
                <a:srgbClr val="007DD6"/>
              </a:buClr>
            </a:pPr>
            <a:r>
              <a:rPr lang="fr-FR" sz="2000" b="1" dirty="0">
                <a:latin typeface="Lora" panose="02000503000000020004"/>
              </a:rPr>
              <a:t>I. Antibiotiques inhibant la biosynthèse de la paroi :</a:t>
            </a:r>
            <a:endParaRPr lang="fr-FR" dirty="0">
              <a:latin typeface="Lora" charset="0"/>
              <a:ea typeface="Lora" charset="0"/>
              <a:cs typeface="Lora" charset="0"/>
            </a:endParaRPr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17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34677" y="1605632"/>
            <a:ext cx="8474645" cy="3126388"/>
          </a:xfrm>
        </p:spPr>
        <p:txBody>
          <a:bodyPr/>
          <a:lstStyle/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b="1" dirty="0">
                <a:latin typeface="Lora" panose="02000503000000020004"/>
              </a:rPr>
              <a:t>Fosfomycine: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latin typeface="Lora" panose="02000503000000020004"/>
              </a:rPr>
              <a:t>antibiotique naturel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latin typeface="Lora" panose="02000503000000020004"/>
              </a:rPr>
              <a:t>spectre large (gram + et -) et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latin typeface="Lora" panose="02000503000000020004"/>
              </a:rPr>
              <a:t>Cible le début de la synthèse du peptidoglycane.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latin typeface="Lora" panose="02000503000000020004"/>
              </a:rPr>
              <a:t>Lentement bactéricide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latin typeface="Lora" panose="02000503000000020004"/>
              </a:rPr>
              <a:t>La fosfomycine </a:t>
            </a:r>
            <a:r>
              <a:rPr lang="fr-FR" sz="1600" dirty="0" err="1">
                <a:latin typeface="Lora" panose="02000503000000020004"/>
              </a:rPr>
              <a:t>trométamol</a:t>
            </a:r>
            <a:r>
              <a:rPr lang="fr-FR" sz="1600" dirty="0">
                <a:latin typeface="Lora" panose="02000503000000020004"/>
              </a:rPr>
              <a:t> est utilisée par voie orale dans la seule indication du traitement minute de la cystite aiguë non compliquée de la femme.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latin typeface="Lora" panose="02000503000000020004"/>
              </a:rPr>
              <a:t>utilisé par voie intraveineuse notamment dans les infections sévères à Staphylocoques résistant à la méticilline ou à bacilles Gram négatif.</a:t>
            </a:r>
          </a:p>
          <a:p>
            <a:pPr>
              <a:buClr>
                <a:srgbClr val="007DD6"/>
              </a:buClr>
              <a:buNone/>
            </a:pPr>
            <a:endParaRPr lang="fr-FR" sz="1600" dirty="0">
              <a:latin typeface="Lora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478449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922668"/>
            <a:ext cx="7516260" cy="603982"/>
          </a:xfrm>
        </p:spPr>
        <p:txBody>
          <a:bodyPr/>
          <a:lstStyle/>
          <a:p>
            <a:pPr>
              <a:buClr>
                <a:srgbClr val="007DD6"/>
              </a:buClr>
            </a:pPr>
            <a:r>
              <a:rPr lang="fr-FR" sz="1800" dirty="0">
                <a:latin typeface="Lora" pitchFamily="2" charset="0"/>
              </a:rPr>
              <a:t>II. </a:t>
            </a:r>
            <a:r>
              <a:rPr lang="fr-FR" sz="1800" b="1" i="0" dirty="0">
                <a:solidFill>
                  <a:srgbClr val="000000"/>
                </a:solidFill>
                <a:effectLst/>
                <a:latin typeface="Lora" pitchFamily="2" charset="0"/>
              </a:rPr>
              <a:t>Antibiotiques actifs sur les membranes</a:t>
            </a:r>
            <a:r>
              <a:rPr lang="fr-FR" dirty="0">
                <a:latin typeface="Lora" pitchFamily="2" charset="0"/>
              </a:rPr>
              <a:t> :</a:t>
            </a:r>
            <a:endParaRPr lang="fr-FR" dirty="0">
              <a:latin typeface="Lora" pitchFamily="2" charset="0"/>
              <a:ea typeface="Lora" charset="0"/>
              <a:cs typeface="Lora" charset="0"/>
            </a:endParaRPr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18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34677" y="1605632"/>
            <a:ext cx="8474645" cy="3126388"/>
          </a:xfrm>
        </p:spPr>
        <p:txBody>
          <a:bodyPr/>
          <a:lstStyle/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b="1" dirty="0">
                <a:latin typeface="Lora" panose="02000503000000020004"/>
              </a:rPr>
              <a:t>Les </a:t>
            </a:r>
            <a:r>
              <a:rPr lang="fr-FR" sz="1600" b="1" dirty="0" err="1">
                <a:latin typeface="Lora" panose="02000503000000020004"/>
              </a:rPr>
              <a:t>polymyxines</a:t>
            </a:r>
            <a:r>
              <a:rPr lang="fr-FR" sz="1600" b="1" dirty="0">
                <a:latin typeface="Lora" panose="02000503000000020004"/>
              </a:rPr>
              <a:t> : </a:t>
            </a:r>
            <a:r>
              <a:rPr lang="fr-FR" sz="1600" b="1" dirty="0" err="1">
                <a:latin typeface="Lora" panose="02000503000000020004"/>
              </a:rPr>
              <a:t>Polymyxine</a:t>
            </a:r>
            <a:r>
              <a:rPr lang="fr-FR" sz="1600" b="1" dirty="0">
                <a:latin typeface="Lora" panose="02000503000000020004"/>
              </a:rPr>
              <a:t> B et colistine .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latin typeface="Lora" panose="02000503000000020004"/>
              </a:rPr>
              <a:t>sont des antibiotiques polypeptidiques 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latin typeface="Lora" panose="02000503000000020004"/>
              </a:rPr>
              <a:t>sont bactéricides 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latin typeface="Lora" panose="02000503000000020004"/>
              </a:rPr>
              <a:t>agissent sur la membrane cytoplasmique bactérienne 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latin typeface="Lora" panose="02000503000000020004"/>
              </a:rPr>
              <a:t>sont actives sur de nombreux bacilles à Gram négatif 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latin typeface="Lora" panose="02000503000000020004"/>
              </a:rPr>
              <a:t>sont inactives sur les bactéries à Gram positif.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latin typeface="Lora" panose="02000503000000020004"/>
              </a:rPr>
              <a:t>La résistance acquise aux </a:t>
            </a:r>
            <a:r>
              <a:rPr lang="fr-FR" sz="1600" dirty="0" err="1">
                <a:latin typeface="Lora" panose="02000503000000020004"/>
              </a:rPr>
              <a:t>polymyxines</a:t>
            </a:r>
            <a:r>
              <a:rPr lang="fr-FR" sz="1600" dirty="0">
                <a:latin typeface="Lora" panose="02000503000000020004"/>
              </a:rPr>
              <a:t> est limitée.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latin typeface="Lora" panose="02000503000000020004"/>
              </a:rPr>
              <a:t>La résistance croisée avec d’autres antibiotiques n’existe pas.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latin typeface="Lora" panose="02000503000000020004"/>
              </a:rPr>
              <a:t>Spectre: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CCCC329-B4A2-D7EC-C7AF-45B2B1832B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472" t="24065" r="28822" b="34675"/>
          <a:stretch/>
        </p:blipFill>
        <p:spPr>
          <a:xfrm>
            <a:off x="1658679" y="4206816"/>
            <a:ext cx="5022874" cy="60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6657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922668"/>
            <a:ext cx="7516260" cy="603982"/>
          </a:xfrm>
        </p:spPr>
        <p:txBody>
          <a:bodyPr/>
          <a:lstStyle/>
          <a:p>
            <a:pPr>
              <a:buClr>
                <a:srgbClr val="007DD6"/>
              </a:buClr>
            </a:pPr>
            <a:r>
              <a:rPr lang="fr-FR" sz="1800" dirty="0">
                <a:latin typeface="Lora" pitchFamily="2" charset="0"/>
              </a:rPr>
              <a:t>II. </a:t>
            </a:r>
            <a:r>
              <a:rPr lang="fr-FR" sz="1800" b="1" i="0" dirty="0">
                <a:solidFill>
                  <a:srgbClr val="000000"/>
                </a:solidFill>
                <a:effectLst/>
                <a:latin typeface="Lora" pitchFamily="2" charset="0"/>
              </a:rPr>
              <a:t>Antibiotiques actifs sur les membranes</a:t>
            </a:r>
            <a:r>
              <a:rPr lang="fr-FR" dirty="0">
                <a:latin typeface="Lora" pitchFamily="2" charset="0"/>
              </a:rPr>
              <a:t> :</a:t>
            </a:r>
            <a:endParaRPr lang="fr-FR" dirty="0">
              <a:latin typeface="Lora" pitchFamily="2" charset="0"/>
              <a:ea typeface="Lora" charset="0"/>
              <a:cs typeface="Lora" charset="0"/>
            </a:endParaRPr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19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34677" y="1605632"/>
            <a:ext cx="8474645" cy="3126388"/>
          </a:xfrm>
        </p:spPr>
        <p:txBody>
          <a:bodyPr/>
          <a:lstStyle/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b="1" dirty="0" err="1">
                <a:latin typeface="Lora" panose="02000503000000020004"/>
              </a:rPr>
              <a:t>Daptomycine</a:t>
            </a:r>
            <a:r>
              <a:rPr lang="fr-FR" sz="1600" b="1" dirty="0">
                <a:latin typeface="Lora" panose="02000503000000020004"/>
              </a:rPr>
              <a:t>: 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b="1" dirty="0">
                <a:latin typeface="Lora" panose="02000503000000020004"/>
              </a:rPr>
              <a:t>Mode d’action</a:t>
            </a:r>
            <a:r>
              <a:rPr lang="fr-FR" sz="1600" dirty="0">
                <a:latin typeface="Lora" panose="02000503000000020004"/>
              </a:rPr>
              <a:t>: Elle se lie à la membrane cytoplasmique, mécanisme Ca2+-dépendant : oligomérisation dans la membrane conduisant à un efflux de potassium Cela conduit à la mort de la bactérie par dysfonctionnement des voies de synthèse macromoléculaires.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b="1" dirty="0">
                <a:latin typeface="Lora" panose="02000503000000020004"/>
              </a:rPr>
              <a:t>Spectre: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CCCC329-B4A2-D7EC-C7AF-45B2B1832B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562" t="58740" r="28822"/>
          <a:stretch/>
        </p:blipFill>
        <p:spPr>
          <a:xfrm>
            <a:off x="737191" y="3475794"/>
            <a:ext cx="5011479" cy="60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9935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922668"/>
            <a:ext cx="7516260" cy="603982"/>
          </a:xfrm>
        </p:spPr>
        <p:txBody>
          <a:bodyPr/>
          <a:lstStyle/>
          <a:p>
            <a:pPr>
              <a:buClr>
                <a:srgbClr val="007DD6"/>
              </a:buClr>
            </a:pPr>
            <a:r>
              <a:rPr lang="fr-FR" sz="1800" b="1" i="0" dirty="0">
                <a:solidFill>
                  <a:srgbClr val="000000"/>
                </a:solidFill>
                <a:effectLst/>
                <a:latin typeface="TimesNewRomanPS-BoldMT"/>
              </a:rPr>
              <a:t>III. Antibiotiques inhibant la biosynthèse des protéines</a:t>
            </a:r>
            <a:r>
              <a:rPr lang="fr-FR" sz="1600" dirty="0"/>
              <a:t> :</a:t>
            </a:r>
            <a:endParaRPr lang="fr-FR" dirty="0">
              <a:latin typeface="Lora" pitchFamily="2" charset="0"/>
              <a:ea typeface="Lora" charset="0"/>
              <a:cs typeface="Lora" charset="0"/>
            </a:endParaRPr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20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34677" y="1605632"/>
            <a:ext cx="8474645" cy="3126388"/>
          </a:xfrm>
        </p:spPr>
        <p:txBody>
          <a:bodyPr/>
          <a:lstStyle/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200" b="1" dirty="0">
                <a:latin typeface="Lora" panose="02000503000000020004"/>
              </a:rPr>
              <a:t>Les tétracyclines: (la tétracycline ,doxycycline ,</a:t>
            </a:r>
            <a:r>
              <a:rPr lang="fr-FR" sz="1200" b="1" dirty="0" err="1">
                <a:latin typeface="Lora" panose="02000503000000020004"/>
              </a:rPr>
              <a:t>minocycline</a:t>
            </a:r>
            <a:r>
              <a:rPr lang="fr-FR" sz="1200" b="1" dirty="0">
                <a:latin typeface="Lora" panose="02000503000000020004"/>
              </a:rPr>
              <a:t> et </a:t>
            </a:r>
            <a:r>
              <a:rPr lang="fr-FR" sz="1200" b="1" dirty="0" err="1">
                <a:latin typeface="Lora" panose="02000503000000020004"/>
              </a:rPr>
              <a:t>tigécycline</a:t>
            </a:r>
            <a:r>
              <a:rPr lang="fr-FR" sz="1200" b="1" dirty="0">
                <a:latin typeface="Lora" panose="02000503000000020004"/>
              </a:rPr>
              <a:t>):</a:t>
            </a:r>
            <a:endParaRPr lang="fr-FR" sz="1200" dirty="0">
              <a:latin typeface="Lora" panose="02000503000000020004"/>
            </a:endParaRP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200" b="1" dirty="0">
                <a:latin typeface="Lora" panose="02000503000000020004"/>
              </a:rPr>
              <a:t>Structure : </a:t>
            </a:r>
            <a:r>
              <a:rPr lang="fr-FR" sz="1200" dirty="0">
                <a:latin typeface="Lora" panose="02000503000000020004"/>
              </a:rPr>
              <a:t>noyau de quatre cycles portant des substituants. la tétracycline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200" b="1" dirty="0">
                <a:latin typeface="Lora" panose="02000503000000020004"/>
              </a:rPr>
              <a:t>Mécanisme d'action : </a:t>
            </a:r>
            <a:r>
              <a:rPr lang="fr-FR" sz="1200" dirty="0">
                <a:latin typeface="Lora" panose="02000503000000020004"/>
              </a:rPr>
              <a:t>Se fixent sur la petite sous-unité du ribosome (sur l'ARNr 16s) =&gt; inhibe la fixation du complexe acide aminé-</a:t>
            </a:r>
            <a:r>
              <a:rPr lang="fr-FR" sz="1200" dirty="0" err="1">
                <a:latin typeface="Lora" panose="02000503000000020004"/>
              </a:rPr>
              <a:t>ARNt</a:t>
            </a:r>
            <a:r>
              <a:rPr lang="fr-FR" sz="1200" dirty="0">
                <a:latin typeface="Lora" panose="02000503000000020004"/>
              </a:rPr>
              <a:t> sur le site aminé A du ribosome (phase de reconnaissance) ce qui inhibe la synthèse protéique. 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200" b="1" dirty="0">
                <a:latin typeface="Lora" panose="02000503000000020004"/>
              </a:rPr>
              <a:t>Spectre : </a:t>
            </a:r>
            <a:r>
              <a:rPr lang="fr-FR" sz="1200" dirty="0">
                <a:latin typeface="Lora" panose="02000503000000020004"/>
              </a:rPr>
              <a:t>large, sur beaucoup d'espèces gram + et gram -, les mycoplasmes, les chlamydiae.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200" dirty="0">
                <a:latin typeface="Lora" panose="02000503000000020004"/>
              </a:rPr>
              <a:t>Les cyclines sont des antibiotiques bactériostatiques.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200" dirty="0">
                <a:latin typeface="Lora" panose="02000503000000020004"/>
              </a:rPr>
              <a:t>Il en existe plusieurs générations : deuxième génération avec la </a:t>
            </a:r>
            <a:r>
              <a:rPr lang="fr-FR" sz="1200" dirty="0" err="1">
                <a:latin typeface="Lora" panose="02000503000000020004"/>
              </a:rPr>
              <a:t>minocycline</a:t>
            </a:r>
            <a:r>
              <a:rPr lang="fr-FR" sz="1200" dirty="0">
                <a:latin typeface="Lora" panose="02000503000000020004"/>
              </a:rPr>
              <a:t> et la doxycycline ; troisième génération, les </a:t>
            </a:r>
            <a:r>
              <a:rPr lang="fr-FR" sz="1200" dirty="0" err="1">
                <a:latin typeface="Lora" panose="02000503000000020004"/>
              </a:rPr>
              <a:t>glycylcyclines</a:t>
            </a:r>
            <a:r>
              <a:rPr lang="fr-FR" sz="1200" dirty="0">
                <a:latin typeface="Lora" panose="02000503000000020004"/>
              </a:rPr>
              <a:t> avec à ce jour la </a:t>
            </a:r>
            <a:r>
              <a:rPr lang="fr-FR" sz="1200" dirty="0" err="1">
                <a:latin typeface="Lora" panose="02000503000000020004"/>
              </a:rPr>
              <a:t>tigécycline</a:t>
            </a:r>
            <a:r>
              <a:rPr lang="fr-FR" sz="1200" dirty="0">
                <a:latin typeface="Lora" panose="02000503000000020004"/>
              </a:rPr>
              <a:t> commercialisée.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200" dirty="0">
                <a:latin typeface="Lora" panose="02000503000000020004"/>
              </a:rPr>
              <a:t>Ces molécules diffusent très bien dans les tissus.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200" dirty="0">
                <a:latin typeface="Lora" panose="02000503000000020004"/>
              </a:rPr>
              <a:t>Les cyclines sont essentiellement utilisées dans le traitement des infections à bactéries intracellulaires.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200" dirty="0">
                <a:latin typeface="Lora" panose="02000503000000020004"/>
              </a:rPr>
              <a:t>Les cyclines de dernière génération ont un spectre plus large couvrant également des bactéries résistantes</a:t>
            </a:r>
          </a:p>
        </p:txBody>
      </p:sp>
    </p:spTree>
    <p:extLst>
      <p:ext uri="{BB962C8B-B14F-4D97-AF65-F5344CB8AC3E}">
        <p14:creationId xmlns:p14="http://schemas.microsoft.com/office/powerpoint/2010/main" val="8076674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922668"/>
            <a:ext cx="7516260" cy="603982"/>
          </a:xfrm>
        </p:spPr>
        <p:txBody>
          <a:bodyPr/>
          <a:lstStyle/>
          <a:p>
            <a:pPr>
              <a:buClr>
                <a:srgbClr val="007DD6"/>
              </a:buClr>
            </a:pPr>
            <a:r>
              <a:rPr lang="fr-FR" sz="1800" b="1" i="0" dirty="0">
                <a:solidFill>
                  <a:srgbClr val="000000"/>
                </a:solidFill>
                <a:effectLst/>
                <a:latin typeface="TimesNewRomanPS-BoldMT"/>
              </a:rPr>
              <a:t>III. Antibiotiques inhibant la biosynthèse des protéines</a:t>
            </a:r>
            <a:r>
              <a:rPr lang="fr-FR" sz="1600" dirty="0"/>
              <a:t> :</a:t>
            </a:r>
            <a:endParaRPr lang="fr-FR" dirty="0">
              <a:latin typeface="Lora" pitchFamily="2" charset="0"/>
              <a:ea typeface="Lora" charset="0"/>
              <a:cs typeface="Lora" charset="0"/>
            </a:endParaRPr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21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34677" y="1605632"/>
            <a:ext cx="8474645" cy="3126388"/>
          </a:xfrm>
        </p:spPr>
        <p:txBody>
          <a:bodyPr/>
          <a:lstStyle/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latin typeface="Lora" panose="02000503000000020004"/>
              </a:rPr>
              <a:t>Les aminosides: (Amikacine , gentamicine , </a:t>
            </a:r>
            <a:r>
              <a:rPr lang="fr-FR" sz="1400" b="1" dirty="0" err="1">
                <a:latin typeface="Lora" panose="02000503000000020004"/>
              </a:rPr>
              <a:t>Tobramycine</a:t>
            </a:r>
            <a:r>
              <a:rPr lang="fr-FR" sz="1400" b="1" dirty="0">
                <a:latin typeface="Lora" panose="02000503000000020004"/>
              </a:rPr>
              <a:t>, Streptomycine):  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latin typeface="Lora" panose="02000503000000020004"/>
              </a:rPr>
              <a:t>Mécanisme d'action : </a:t>
            </a:r>
            <a:r>
              <a:rPr lang="fr-FR" sz="1400" dirty="0">
                <a:latin typeface="Lora" panose="02000503000000020004"/>
              </a:rPr>
              <a:t>pénétration par transport actif grâce aux enzymes de la respiration bactérienne puis fixation sur l'ARNr 16s de la petite sous-unité et inhibition de la translocation.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dirty="0">
                <a:latin typeface="Lora" panose="02000503000000020004"/>
              </a:rPr>
              <a:t>bactéricides.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dirty="0">
                <a:latin typeface="Lora" panose="02000503000000020004"/>
              </a:rPr>
              <a:t>Spectre : large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endParaRPr lang="fr-FR" sz="1600" dirty="0">
              <a:latin typeface="Lora" panose="02000503000000020004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42E4F95-1608-A44D-89EA-6836526DB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396" y="3124343"/>
            <a:ext cx="5443890" cy="81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92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922668"/>
            <a:ext cx="7516260" cy="603982"/>
          </a:xfrm>
        </p:spPr>
        <p:txBody>
          <a:bodyPr/>
          <a:lstStyle/>
          <a:p>
            <a:pPr>
              <a:buClr>
                <a:srgbClr val="007DD6"/>
              </a:buClr>
            </a:pPr>
            <a:r>
              <a:rPr lang="fr-FR" sz="1800" b="1" i="0" dirty="0">
                <a:solidFill>
                  <a:srgbClr val="000000"/>
                </a:solidFill>
                <a:effectLst/>
                <a:latin typeface="TimesNewRomanPS-BoldMT"/>
              </a:rPr>
              <a:t>III. Antibiotiques inhibant la biosynthèse des protéines</a:t>
            </a:r>
            <a:r>
              <a:rPr lang="fr-FR" sz="1600" dirty="0"/>
              <a:t> :</a:t>
            </a:r>
            <a:endParaRPr lang="fr-FR" dirty="0">
              <a:latin typeface="Lora" pitchFamily="2" charset="0"/>
              <a:ea typeface="Lora" charset="0"/>
              <a:cs typeface="Lora" charset="0"/>
            </a:endParaRPr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22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34677" y="1605632"/>
            <a:ext cx="8474645" cy="3126388"/>
          </a:xfrm>
        </p:spPr>
        <p:txBody>
          <a:bodyPr/>
          <a:lstStyle/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b="1" i="0" dirty="0">
                <a:solidFill>
                  <a:srgbClr val="000000"/>
                </a:solidFill>
                <a:effectLst/>
                <a:latin typeface="Lora" pitchFamily="2" charset="0"/>
              </a:rPr>
              <a:t>Macrolides</a:t>
            </a:r>
            <a:r>
              <a:rPr lang="fr-FR" sz="1400" b="1" dirty="0">
                <a:latin typeface="Lora" pitchFamily="2" charset="0"/>
              </a:rPr>
              <a:t> et apparentés</a:t>
            </a:r>
            <a:r>
              <a:rPr lang="fr-FR" sz="1400" b="1" i="0" dirty="0">
                <a:solidFill>
                  <a:srgbClr val="000000"/>
                </a:solidFill>
                <a:effectLst/>
                <a:latin typeface="Lora" pitchFamily="2" charset="0"/>
              </a:rPr>
              <a:t> (</a:t>
            </a:r>
            <a:r>
              <a:rPr lang="fr-FR" sz="1400" b="1" i="0" dirty="0" err="1">
                <a:solidFill>
                  <a:srgbClr val="000000"/>
                </a:solidFill>
                <a:effectLst/>
                <a:latin typeface="Lora" pitchFamily="2" charset="0"/>
              </a:rPr>
              <a:t>lincosamides</a:t>
            </a:r>
            <a:r>
              <a:rPr lang="fr-FR" sz="1400" b="1" i="0" dirty="0">
                <a:solidFill>
                  <a:srgbClr val="000000"/>
                </a:solidFill>
                <a:effectLst/>
                <a:latin typeface="Lora" pitchFamily="2" charset="0"/>
              </a:rPr>
              <a:t>, </a:t>
            </a:r>
            <a:r>
              <a:rPr lang="fr-FR" sz="1400" b="1" i="0" dirty="0" err="1">
                <a:solidFill>
                  <a:srgbClr val="000000"/>
                </a:solidFill>
                <a:effectLst/>
                <a:latin typeface="Lora" pitchFamily="2" charset="0"/>
              </a:rPr>
              <a:t>streptogramines</a:t>
            </a:r>
            <a:r>
              <a:rPr lang="fr-FR" sz="1400" b="1" i="0" dirty="0">
                <a:solidFill>
                  <a:srgbClr val="000000"/>
                </a:solidFill>
                <a:effectLst/>
                <a:latin typeface="Lora" pitchFamily="2" charset="0"/>
              </a:rPr>
              <a:t>, </a:t>
            </a:r>
            <a:r>
              <a:rPr lang="fr-FR" sz="1400" b="1" i="0" dirty="0" err="1">
                <a:solidFill>
                  <a:srgbClr val="000000"/>
                </a:solidFill>
                <a:effectLst/>
                <a:latin typeface="Lora" pitchFamily="2" charset="0"/>
              </a:rPr>
              <a:t>kétolides</a:t>
            </a:r>
            <a:r>
              <a:rPr lang="fr-FR" sz="1400" b="1" i="0" dirty="0">
                <a:solidFill>
                  <a:srgbClr val="000000"/>
                </a:solidFill>
                <a:effectLst/>
                <a:latin typeface="Lora" pitchFamily="2" charset="0"/>
              </a:rPr>
              <a:t>): 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b="0" i="0" dirty="0">
                <a:solidFill>
                  <a:srgbClr val="000000"/>
                </a:solidFill>
                <a:effectLst/>
                <a:latin typeface="Lora" pitchFamily="2" charset="0"/>
              </a:rPr>
              <a:t>plusieurs groupes avec des structures différentes, mais un mécanisme d'action similaire.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dirty="0">
                <a:latin typeface="Lora" pitchFamily="2" charset="0"/>
              </a:rPr>
              <a:t> </a:t>
            </a:r>
            <a:r>
              <a:rPr lang="fr-FR" sz="1400" b="1" dirty="0">
                <a:latin typeface="Lora" pitchFamily="2" charset="0"/>
              </a:rPr>
              <a:t>Mécanisme d'action : </a:t>
            </a:r>
            <a:r>
              <a:rPr lang="fr-FR" sz="1400" dirty="0">
                <a:latin typeface="Lora" pitchFamily="2" charset="0"/>
              </a:rPr>
              <a:t>fixation sur l'ARNr 23s de la grande sous-unité du ribosome =&gt; inhibition de la phase d'élongation en provoquants des erreurs de lecture par la suite =&gt;  une interruption prématurée de la traduction du polypeptide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dirty="0">
                <a:latin typeface="Lora" pitchFamily="2" charset="0"/>
              </a:rPr>
              <a:t>Ce sont des antibiotiques bactériostatiques. ( les </a:t>
            </a:r>
            <a:r>
              <a:rPr lang="fr-FR" sz="1400" dirty="0" err="1">
                <a:latin typeface="Lora" pitchFamily="2" charset="0"/>
              </a:rPr>
              <a:t>streptogramines</a:t>
            </a:r>
            <a:r>
              <a:rPr lang="fr-FR" sz="1400" dirty="0">
                <a:latin typeface="Lora" pitchFamily="2" charset="0"/>
              </a:rPr>
              <a:t> sont bactéricides par synergie entre les 2 facteurs A et B ).</a:t>
            </a:r>
            <a:br>
              <a:rPr lang="fr-FR" sz="1200" dirty="0"/>
            </a:br>
            <a:endParaRPr lang="fr-FR" sz="1600" dirty="0">
              <a:latin typeface="Lora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2837142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922668"/>
            <a:ext cx="7516260" cy="603982"/>
          </a:xfrm>
        </p:spPr>
        <p:txBody>
          <a:bodyPr/>
          <a:lstStyle/>
          <a:p>
            <a:pPr>
              <a:buClr>
                <a:srgbClr val="007DD6"/>
              </a:buClr>
            </a:pPr>
            <a:r>
              <a:rPr lang="fr-FR" sz="1800" b="1" i="0" dirty="0">
                <a:solidFill>
                  <a:srgbClr val="000000"/>
                </a:solidFill>
                <a:effectLst/>
                <a:latin typeface="TimesNewRomanPS-BoldMT"/>
              </a:rPr>
              <a:t>III. Antibiotiques inhibant la biosynthèse des protéines</a:t>
            </a:r>
            <a:r>
              <a:rPr lang="fr-FR" sz="1600" dirty="0"/>
              <a:t> :</a:t>
            </a:r>
            <a:endParaRPr lang="fr-FR" dirty="0">
              <a:latin typeface="Lora" pitchFamily="2" charset="0"/>
              <a:ea typeface="Lora" charset="0"/>
              <a:cs typeface="Lora" charset="0"/>
            </a:endParaRPr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23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34677" y="1605632"/>
            <a:ext cx="8474645" cy="3126388"/>
          </a:xfrm>
        </p:spPr>
        <p:txBody>
          <a:bodyPr/>
          <a:lstStyle/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br>
              <a:rPr lang="fr-FR" sz="1200" dirty="0"/>
            </a:br>
            <a:endParaRPr lang="fr-FR" sz="1600" dirty="0">
              <a:latin typeface="Lora" panose="02000503000000020004"/>
            </a:endParaRPr>
          </a:p>
        </p:txBody>
      </p:sp>
      <p:pic>
        <p:nvPicPr>
          <p:cNvPr id="4" name="Picture 4" descr="CLAMACRO">
            <a:extLst>
              <a:ext uri="{FF2B5EF4-FFF2-40B4-BE49-F238E27FC236}">
                <a16:creationId xmlns:a16="http://schemas.microsoft.com/office/drawing/2014/main" id="{D71697A7-3110-0D05-8604-C104E3C44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731" y="1605632"/>
            <a:ext cx="6736536" cy="2993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91583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922668"/>
            <a:ext cx="7516260" cy="603982"/>
          </a:xfrm>
        </p:spPr>
        <p:txBody>
          <a:bodyPr/>
          <a:lstStyle/>
          <a:p>
            <a:pPr>
              <a:buClr>
                <a:srgbClr val="007DD6"/>
              </a:buClr>
            </a:pPr>
            <a:r>
              <a:rPr lang="fr-FR" sz="1800" b="1" i="0" dirty="0">
                <a:solidFill>
                  <a:srgbClr val="000000"/>
                </a:solidFill>
                <a:effectLst/>
                <a:latin typeface="TimesNewRomanPS-BoldMT"/>
              </a:rPr>
              <a:t>III. Antibiotiques inhibant la biosynthèse des protéines</a:t>
            </a:r>
            <a:r>
              <a:rPr lang="fr-FR" sz="1600" dirty="0"/>
              <a:t> :</a:t>
            </a:r>
            <a:endParaRPr lang="fr-FR" dirty="0">
              <a:latin typeface="Lora" pitchFamily="2" charset="0"/>
              <a:ea typeface="Lora" charset="0"/>
              <a:cs typeface="Lora" charset="0"/>
            </a:endParaRPr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24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34677" y="1605632"/>
            <a:ext cx="8474645" cy="3126388"/>
          </a:xfrm>
        </p:spPr>
        <p:txBody>
          <a:bodyPr/>
          <a:lstStyle/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endParaRPr lang="fr-FR" sz="1600" dirty="0">
              <a:latin typeface="Lora" panose="02000503000000020004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E820F1E-3D91-1250-3177-FE649B230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61" y="1861226"/>
            <a:ext cx="8864276" cy="26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6148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922668"/>
            <a:ext cx="7516260" cy="603982"/>
          </a:xfrm>
        </p:spPr>
        <p:txBody>
          <a:bodyPr/>
          <a:lstStyle/>
          <a:p>
            <a:pPr>
              <a:buClr>
                <a:srgbClr val="007DD6"/>
              </a:buClr>
            </a:pPr>
            <a:r>
              <a:rPr lang="fr-FR" sz="1800" b="1" i="0" dirty="0">
                <a:solidFill>
                  <a:srgbClr val="000000"/>
                </a:solidFill>
                <a:effectLst/>
                <a:latin typeface="TimesNewRomanPS-BoldMT"/>
              </a:rPr>
              <a:t>III. Antibiotiques inhibant la biosynthèse des protéines</a:t>
            </a:r>
            <a:r>
              <a:rPr lang="fr-FR" sz="1600" dirty="0"/>
              <a:t> :</a:t>
            </a:r>
            <a:endParaRPr lang="fr-FR" dirty="0">
              <a:latin typeface="Lora" pitchFamily="2" charset="0"/>
              <a:ea typeface="Lora" charset="0"/>
              <a:cs typeface="Lora" charset="0"/>
            </a:endParaRPr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25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34677" y="1605632"/>
            <a:ext cx="8474645" cy="3126388"/>
          </a:xfrm>
        </p:spPr>
        <p:txBody>
          <a:bodyPr/>
          <a:lstStyle/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b="1" i="0" dirty="0">
                <a:solidFill>
                  <a:srgbClr val="000000"/>
                </a:solidFill>
                <a:effectLst/>
                <a:latin typeface="Lora" pitchFamily="2" charset="0"/>
              </a:rPr>
              <a:t>Acide fusidique: 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b="1" i="0" dirty="0">
                <a:solidFill>
                  <a:srgbClr val="000000"/>
                </a:solidFill>
                <a:effectLst/>
                <a:latin typeface="Lora" pitchFamily="2" charset="0"/>
              </a:rPr>
              <a:t>Agit en inhibant la synthèse protéique, en se fixant au facteur EF-G d'élongation de la traduction, ce qui empêche la fixation des </a:t>
            </a:r>
            <a:r>
              <a:rPr lang="fr-FR" sz="1400" b="1" i="0" dirty="0" err="1">
                <a:solidFill>
                  <a:srgbClr val="000000"/>
                </a:solidFill>
                <a:effectLst/>
                <a:latin typeface="Lora" pitchFamily="2" charset="0"/>
              </a:rPr>
              <a:t>amino</a:t>
            </a:r>
            <a:r>
              <a:rPr lang="fr-FR" sz="1400" b="1" i="0" dirty="0">
                <a:solidFill>
                  <a:srgbClr val="000000"/>
                </a:solidFill>
                <a:effectLst/>
                <a:latin typeface="Lora" pitchFamily="2" charset="0"/>
              </a:rPr>
              <a:t>-acyl-</a:t>
            </a:r>
            <a:r>
              <a:rPr lang="fr-FR" sz="1400" b="1" i="0" dirty="0" err="1">
                <a:solidFill>
                  <a:srgbClr val="000000"/>
                </a:solidFill>
                <a:effectLst/>
                <a:latin typeface="Lora" pitchFamily="2" charset="0"/>
              </a:rPr>
              <a:t>ARNt</a:t>
            </a:r>
            <a:r>
              <a:rPr lang="fr-FR" sz="1400" b="1" i="0" dirty="0">
                <a:solidFill>
                  <a:srgbClr val="000000"/>
                </a:solidFill>
                <a:effectLst/>
                <a:latin typeface="Lora" pitchFamily="2" charset="0"/>
              </a:rPr>
              <a:t>. 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endParaRPr lang="fr-FR" sz="1400" b="1" i="0" dirty="0">
              <a:solidFill>
                <a:srgbClr val="000000"/>
              </a:solidFill>
              <a:effectLst/>
              <a:latin typeface="Lora" pitchFamily="2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55016C6-C29C-47CF-FDF9-C938E8F9D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61" y="2571750"/>
            <a:ext cx="4290313" cy="50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5133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922668"/>
            <a:ext cx="7516260" cy="603982"/>
          </a:xfrm>
        </p:spPr>
        <p:txBody>
          <a:bodyPr/>
          <a:lstStyle/>
          <a:p>
            <a:pPr>
              <a:buClr>
                <a:srgbClr val="007DD6"/>
              </a:buClr>
            </a:pPr>
            <a:r>
              <a:rPr lang="fr-FR" sz="1800" b="1" i="0" dirty="0">
                <a:solidFill>
                  <a:srgbClr val="000000"/>
                </a:solidFill>
                <a:effectLst/>
                <a:latin typeface="TimesNewRomanPS-BoldMT"/>
              </a:rPr>
              <a:t>III. Antibiotiques inhibant la biosynthèse des protéines</a:t>
            </a:r>
            <a:r>
              <a:rPr lang="fr-FR" sz="1600" dirty="0"/>
              <a:t> :</a:t>
            </a:r>
            <a:endParaRPr lang="fr-FR" dirty="0">
              <a:latin typeface="Lora" pitchFamily="2" charset="0"/>
              <a:ea typeface="Lora" charset="0"/>
              <a:cs typeface="Lora" charset="0"/>
            </a:endParaRPr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26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34677" y="1605632"/>
            <a:ext cx="8474645" cy="3126388"/>
          </a:xfrm>
        </p:spPr>
        <p:txBody>
          <a:bodyPr/>
          <a:lstStyle/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b="1" i="0" dirty="0" err="1">
                <a:solidFill>
                  <a:srgbClr val="000000"/>
                </a:solidFill>
                <a:effectLst/>
                <a:latin typeface="Lora" pitchFamily="2" charset="0"/>
              </a:rPr>
              <a:t>Phénicolés</a:t>
            </a:r>
            <a:r>
              <a:rPr lang="fr-FR" sz="1400" b="1" i="0" dirty="0">
                <a:solidFill>
                  <a:srgbClr val="000000"/>
                </a:solidFill>
                <a:effectLst/>
                <a:latin typeface="Lora" pitchFamily="2" charset="0"/>
              </a:rPr>
              <a:t>: </a:t>
            </a:r>
            <a:r>
              <a:rPr lang="fr-FR" sz="1400" b="1" i="0" dirty="0" err="1">
                <a:solidFill>
                  <a:srgbClr val="000000"/>
                </a:solidFill>
                <a:effectLst/>
                <a:latin typeface="Lora" pitchFamily="2" charset="0"/>
              </a:rPr>
              <a:t>Thiamphénicol</a:t>
            </a:r>
            <a:endParaRPr lang="fr-FR" sz="1400" b="1" i="0" dirty="0">
              <a:solidFill>
                <a:srgbClr val="000000"/>
              </a:solidFill>
              <a:effectLst/>
              <a:latin typeface="Lora" pitchFamily="2" charset="0"/>
            </a:endParaRP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b="1" i="0" dirty="0">
                <a:solidFill>
                  <a:srgbClr val="000000"/>
                </a:solidFill>
                <a:effectLst/>
                <a:latin typeface="Lora" pitchFamily="2" charset="0"/>
              </a:rPr>
              <a:t>Ils se fixent à la sous-unité 50S des ribosomes bactériens Ils inhibent la synthèse des protéines en empêchant la liaison du complexe </a:t>
            </a:r>
            <a:r>
              <a:rPr lang="fr-FR" sz="1400" b="1" i="0" dirty="0" err="1">
                <a:solidFill>
                  <a:srgbClr val="000000"/>
                </a:solidFill>
                <a:effectLst/>
                <a:latin typeface="Lora" pitchFamily="2" charset="0"/>
              </a:rPr>
              <a:t>amino</a:t>
            </a:r>
            <a:r>
              <a:rPr lang="fr-FR" sz="1400" b="1" i="0" dirty="0">
                <a:solidFill>
                  <a:srgbClr val="000000"/>
                </a:solidFill>
                <a:effectLst/>
                <a:latin typeface="Lora" pitchFamily="2" charset="0"/>
              </a:rPr>
              <a:t>-acyl-</a:t>
            </a:r>
            <a:r>
              <a:rPr lang="fr-FR" sz="1400" b="1" i="0" dirty="0" err="1">
                <a:solidFill>
                  <a:srgbClr val="000000"/>
                </a:solidFill>
                <a:effectLst/>
                <a:latin typeface="Lora" pitchFamily="2" charset="0"/>
              </a:rPr>
              <a:t>ARNt</a:t>
            </a:r>
            <a:r>
              <a:rPr lang="fr-FR" sz="1400" b="1" i="0" dirty="0">
                <a:solidFill>
                  <a:srgbClr val="000000"/>
                </a:solidFill>
                <a:effectLst/>
                <a:latin typeface="Lora" pitchFamily="2" charset="0"/>
              </a:rPr>
              <a:t> à son site de fixation, et par conséquent la réaction de transpeptidation.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latin typeface="Lora" pitchFamily="2" charset="0"/>
              </a:rPr>
              <a:t>Spectre:</a:t>
            </a:r>
            <a:endParaRPr lang="fr-FR" sz="1400" b="1" i="0" dirty="0">
              <a:solidFill>
                <a:srgbClr val="000000"/>
              </a:solidFill>
              <a:effectLst/>
              <a:latin typeface="Lora" pitchFamily="2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DC0F070-9895-F126-B8E5-A440A3CF4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986" y="3273138"/>
            <a:ext cx="6804837" cy="84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6517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922668"/>
            <a:ext cx="7516260" cy="603982"/>
          </a:xfrm>
        </p:spPr>
        <p:txBody>
          <a:bodyPr/>
          <a:lstStyle/>
          <a:p>
            <a:pPr>
              <a:buClr>
                <a:srgbClr val="007DD6"/>
              </a:buClr>
            </a:pPr>
            <a:r>
              <a:rPr lang="fr-FR" sz="1800" b="1" i="0" dirty="0">
                <a:solidFill>
                  <a:srgbClr val="000000"/>
                </a:solidFill>
                <a:effectLst/>
                <a:latin typeface="TimesNewRomanPS-BoldMT"/>
              </a:rPr>
              <a:t>III. Antibiotiques inhibant la biosynthèse des protéines</a:t>
            </a:r>
            <a:r>
              <a:rPr lang="fr-FR" sz="1600" dirty="0"/>
              <a:t> :</a:t>
            </a:r>
            <a:endParaRPr lang="fr-FR" dirty="0">
              <a:latin typeface="Lora" pitchFamily="2" charset="0"/>
              <a:ea typeface="Lora" charset="0"/>
              <a:cs typeface="Lora" charset="0"/>
            </a:endParaRPr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27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34677" y="1605632"/>
            <a:ext cx="8474645" cy="3126388"/>
          </a:xfrm>
        </p:spPr>
        <p:txBody>
          <a:bodyPr/>
          <a:lstStyle/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b="1" i="0" dirty="0" err="1">
                <a:solidFill>
                  <a:srgbClr val="000000"/>
                </a:solidFill>
                <a:effectLst/>
                <a:latin typeface="Lora" pitchFamily="2" charset="0"/>
              </a:rPr>
              <a:t>Oxazolidinones</a:t>
            </a:r>
            <a:r>
              <a:rPr lang="fr-FR" sz="1400" b="1" i="0" dirty="0">
                <a:solidFill>
                  <a:srgbClr val="000000"/>
                </a:solidFill>
                <a:effectLst/>
                <a:latin typeface="Lora" pitchFamily="2" charset="0"/>
              </a:rPr>
              <a:t>: </a:t>
            </a:r>
            <a:r>
              <a:rPr lang="fr-FR" sz="1400" b="1" i="0" dirty="0" err="1">
                <a:solidFill>
                  <a:srgbClr val="000000"/>
                </a:solidFill>
                <a:effectLst/>
                <a:latin typeface="Lora" pitchFamily="2" charset="0"/>
              </a:rPr>
              <a:t>Linézolide</a:t>
            </a:r>
            <a:r>
              <a:rPr lang="fr-FR" sz="1400" b="1" dirty="0">
                <a:latin typeface="Lora" pitchFamily="2" charset="0"/>
              </a:rPr>
              <a:t> , </a:t>
            </a:r>
            <a:r>
              <a:rPr lang="fr-FR" sz="1400" b="1" i="0" dirty="0" err="1">
                <a:solidFill>
                  <a:srgbClr val="000000"/>
                </a:solidFill>
                <a:effectLst/>
                <a:latin typeface="Lora" pitchFamily="2" charset="0"/>
              </a:rPr>
              <a:t>Tédizolide</a:t>
            </a:r>
            <a:endParaRPr lang="fr-FR" sz="1400" b="1" i="0" dirty="0">
              <a:solidFill>
                <a:srgbClr val="000000"/>
              </a:solidFill>
              <a:effectLst/>
              <a:latin typeface="Lora" pitchFamily="2" charset="0"/>
            </a:endParaRP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b="1" i="0" dirty="0">
                <a:solidFill>
                  <a:srgbClr val="000000"/>
                </a:solidFill>
                <a:effectLst/>
                <a:latin typeface="Lora" pitchFamily="2" charset="0"/>
              </a:rPr>
              <a:t>Mode d’action: </a:t>
            </a:r>
            <a:r>
              <a:rPr lang="fr-FR" sz="1400" i="0" dirty="0">
                <a:solidFill>
                  <a:srgbClr val="000000"/>
                </a:solidFill>
                <a:effectLst/>
                <a:latin typeface="Lora" pitchFamily="2" charset="0"/>
              </a:rPr>
              <a:t>Ils se fixent directement sur l'ARN 23S de la sous-unité 50S du ribosome bactérien, provoquant une distorsion du site de fixation de la N-</a:t>
            </a:r>
            <a:r>
              <a:rPr lang="fr-FR" sz="1400" i="0" dirty="0" err="1">
                <a:solidFill>
                  <a:srgbClr val="000000"/>
                </a:solidFill>
                <a:effectLst/>
                <a:latin typeface="Lora" pitchFamily="2" charset="0"/>
              </a:rPr>
              <a:t>formyl</a:t>
            </a:r>
            <a:r>
              <a:rPr lang="fr-FR" sz="1400" i="0" dirty="0">
                <a:solidFill>
                  <a:srgbClr val="000000"/>
                </a:solidFill>
                <a:effectLst/>
                <a:latin typeface="Lora" pitchFamily="2" charset="0"/>
              </a:rPr>
              <a:t>-méthionine-</a:t>
            </a:r>
            <a:r>
              <a:rPr lang="fr-FR" sz="1400" i="0" dirty="0" err="1">
                <a:solidFill>
                  <a:srgbClr val="000000"/>
                </a:solidFill>
                <a:effectLst/>
                <a:latin typeface="Lora" pitchFamily="2" charset="0"/>
              </a:rPr>
              <a:t>ARNt</a:t>
            </a:r>
            <a:r>
              <a:rPr lang="fr-FR" sz="1400" i="0" dirty="0">
                <a:solidFill>
                  <a:srgbClr val="000000"/>
                </a:solidFill>
                <a:effectLst/>
                <a:latin typeface="Lora" pitchFamily="2" charset="0"/>
              </a:rPr>
              <a:t>-synthétase et empêchant la formation du complexe d'initiation fonctionnel 70S qui est essentiel à la synthèse des protéines.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latin typeface="Lora" pitchFamily="2" charset="0"/>
              </a:rPr>
              <a:t>Spectre: </a:t>
            </a:r>
            <a:endParaRPr lang="fr-FR" sz="1400" b="1" i="0" dirty="0">
              <a:solidFill>
                <a:srgbClr val="000000"/>
              </a:solidFill>
              <a:effectLst/>
              <a:latin typeface="Lora" pitchFamily="2" charset="0"/>
            </a:endParaRP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endParaRPr lang="fr-FR" sz="1400" b="1" i="0" dirty="0">
              <a:solidFill>
                <a:srgbClr val="000000"/>
              </a:solidFill>
              <a:effectLst/>
              <a:latin typeface="Lora" pitchFamily="2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C1B143B-F011-E058-6669-08195DD6C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18" y="3292396"/>
            <a:ext cx="6313925" cy="51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924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922668"/>
            <a:ext cx="7516260" cy="603982"/>
          </a:xfrm>
        </p:spPr>
        <p:txBody>
          <a:bodyPr/>
          <a:lstStyle/>
          <a:p>
            <a:pPr>
              <a:buClr>
                <a:srgbClr val="007DD6"/>
              </a:buClr>
            </a:pPr>
            <a:r>
              <a:rPr lang="fr-FR" sz="1800" b="1" i="0" dirty="0">
                <a:solidFill>
                  <a:srgbClr val="000000"/>
                </a:solidFill>
                <a:effectLst/>
                <a:latin typeface="TimesNewRomanPS-BoldMT"/>
              </a:rPr>
              <a:t>IV. Antibiotique inhibant la biosynthèse ou les fonctions des acides nucléiques</a:t>
            </a:r>
            <a:r>
              <a:rPr lang="fr-FR" sz="1600" dirty="0"/>
              <a:t> : </a:t>
            </a:r>
            <a:endParaRPr lang="fr-FR" dirty="0">
              <a:latin typeface="Lora" pitchFamily="2" charset="0"/>
              <a:ea typeface="Lora" charset="0"/>
              <a:cs typeface="Lora" charset="0"/>
            </a:endParaRPr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28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34677" y="1605632"/>
            <a:ext cx="8474645" cy="3126388"/>
          </a:xfrm>
        </p:spPr>
        <p:txBody>
          <a:bodyPr/>
          <a:lstStyle/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b="1" i="0" dirty="0">
                <a:solidFill>
                  <a:srgbClr val="000000"/>
                </a:solidFill>
                <a:effectLst/>
                <a:latin typeface="Lora" pitchFamily="2" charset="0"/>
              </a:rPr>
              <a:t>Quinolones et fluoroquinolones</a:t>
            </a:r>
            <a:r>
              <a:rPr lang="fr-FR" sz="1400" dirty="0">
                <a:latin typeface="Lora" pitchFamily="2" charset="0"/>
              </a:rPr>
              <a:t> :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dirty="0">
                <a:latin typeface="Lora" pitchFamily="2" charset="0"/>
              </a:rPr>
              <a:t>On distingue les quinolones bactériostatiques qui sont les moins actives Et les fluoroquinolones, bactéricides et plus actives. 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dirty="0">
                <a:latin typeface="Lora" pitchFamily="2" charset="0"/>
              </a:rPr>
              <a:t>Quinolones : Acide </a:t>
            </a:r>
            <a:r>
              <a:rPr lang="fr-FR" sz="1400" dirty="0" err="1">
                <a:latin typeface="Lora" pitchFamily="2" charset="0"/>
              </a:rPr>
              <a:t>nalidixique</a:t>
            </a:r>
            <a:r>
              <a:rPr lang="fr-FR" sz="1400" dirty="0">
                <a:latin typeface="Lora" pitchFamily="2" charset="0"/>
              </a:rPr>
              <a:t> 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dirty="0">
                <a:latin typeface="Lora" pitchFamily="2" charset="0"/>
              </a:rPr>
              <a:t>fluoroquinolones; </a:t>
            </a:r>
            <a:r>
              <a:rPr lang="fr-FR" sz="1400" dirty="0" err="1">
                <a:latin typeface="Lora" pitchFamily="2" charset="0"/>
              </a:rPr>
              <a:t>Norfloxacine</a:t>
            </a:r>
            <a:r>
              <a:rPr lang="fr-FR" sz="1400" dirty="0">
                <a:latin typeface="Lora" pitchFamily="2" charset="0"/>
              </a:rPr>
              <a:t>, ofloxacine, </a:t>
            </a:r>
            <a:r>
              <a:rPr lang="fr-FR" sz="1400" dirty="0" err="1">
                <a:latin typeface="Lora" pitchFamily="2" charset="0"/>
              </a:rPr>
              <a:t>péfloxacine</a:t>
            </a:r>
            <a:r>
              <a:rPr lang="fr-FR" sz="1400" dirty="0">
                <a:latin typeface="Lora" pitchFamily="2" charset="0"/>
              </a:rPr>
              <a:t>, ciprofloxacine, </a:t>
            </a:r>
            <a:r>
              <a:rPr lang="fr-FR" sz="1400" dirty="0" err="1">
                <a:latin typeface="Lora" pitchFamily="2" charset="0"/>
              </a:rPr>
              <a:t>lévofloxacine</a:t>
            </a:r>
            <a:r>
              <a:rPr lang="fr-FR" sz="1400" dirty="0">
                <a:latin typeface="Lora" pitchFamily="2" charset="0"/>
              </a:rPr>
              <a:t>, </a:t>
            </a:r>
            <a:r>
              <a:rPr lang="fr-FR" sz="1400" dirty="0" err="1">
                <a:latin typeface="Lora" pitchFamily="2" charset="0"/>
              </a:rPr>
              <a:t>moxifloxacine</a:t>
            </a:r>
            <a:r>
              <a:rPr lang="fr-FR" sz="1400" dirty="0">
                <a:latin typeface="Lora" pitchFamily="2" charset="0"/>
              </a:rPr>
              <a:t>, </a:t>
            </a:r>
            <a:r>
              <a:rPr lang="fr-FR" sz="1400" dirty="0" err="1">
                <a:latin typeface="Lora" pitchFamily="2" charset="0"/>
              </a:rPr>
              <a:t>loméfloxacine</a:t>
            </a:r>
            <a:endParaRPr lang="fr-FR" sz="1400" dirty="0">
              <a:latin typeface="Lora" pitchFamily="2" charset="0"/>
            </a:endParaRP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dirty="0">
                <a:latin typeface="Lora" pitchFamily="2" charset="0"/>
              </a:rPr>
              <a:t>Mécanisme d'action : inhibition de l’ ADN gyrase et la Topoisomérase IV =&gt; blocage de réplication de l’ADN.</a:t>
            </a:r>
            <a:br>
              <a:rPr lang="fr-FR" sz="1400" dirty="0">
                <a:latin typeface="Lora" pitchFamily="2" charset="0"/>
              </a:rPr>
            </a:br>
            <a:br>
              <a:rPr lang="fr-FR" sz="1400" dirty="0">
                <a:latin typeface="Lora" pitchFamily="2" charset="0"/>
              </a:rPr>
            </a:br>
            <a:endParaRPr lang="fr-FR" sz="1400" dirty="0"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3761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922668"/>
            <a:ext cx="7516260" cy="603982"/>
          </a:xfrm>
        </p:spPr>
        <p:txBody>
          <a:bodyPr/>
          <a:lstStyle/>
          <a:p>
            <a:pPr>
              <a:buClr>
                <a:srgbClr val="007DD6"/>
              </a:buClr>
            </a:pPr>
            <a:r>
              <a:rPr lang="fr-FR" sz="1800" b="1" i="0" dirty="0">
                <a:solidFill>
                  <a:srgbClr val="000000"/>
                </a:solidFill>
                <a:effectLst/>
                <a:latin typeface="TimesNewRomanPS-BoldMT"/>
              </a:rPr>
              <a:t>IV. Antibiotique inhibant la biosynthèse ou les fonctions des acides nucléiques</a:t>
            </a:r>
            <a:r>
              <a:rPr lang="fr-FR" sz="1600" dirty="0"/>
              <a:t> : </a:t>
            </a:r>
            <a:endParaRPr lang="fr-FR" dirty="0">
              <a:latin typeface="Lora" pitchFamily="2" charset="0"/>
              <a:ea typeface="Lora" charset="0"/>
              <a:cs typeface="Lora" charset="0"/>
            </a:endParaRPr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29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34677" y="1605632"/>
            <a:ext cx="8474645" cy="3126388"/>
          </a:xfrm>
        </p:spPr>
        <p:txBody>
          <a:bodyPr/>
          <a:lstStyle/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br>
              <a:rPr lang="fr-FR" sz="1400" dirty="0">
                <a:latin typeface="Lora" pitchFamily="2" charset="0"/>
              </a:rPr>
            </a:br>
            <a:br>
              <a:rPr lang="fr-FR" sz="1400" dirty="0">
                <a:latin typeface="Lora" pitchFamily="2" charset="0"/>
              </a:rPr>
            </a:br>
            <a:endParaRPr lang="fr-FR" sz="1400" dirty="0">
              <a:latin typeface="Lora" pitchFamily="2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5954772-DA89-913B-6D41-F06936658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82" y="1960040"/>
            <a:ext cx="8892034" cy="198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071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922668"/>
            <a:ext cx="7516260" cy="603982"/>
          </a:xfrm>
        </p:spPr>
        <p:txBody>
          <a:bodyPr/>
          <a:lstStyle/>
          <a:p>
            <a:pPr>
              <a:buClr>
                <a:srgbClr val="007DD6"/>
              </a:buClr>
            </a:pPr>
            <a:r>
              <a:rPr lang="fr-FR" sz="1800" b="1" i="0" dirty="0">
                <a:solidFill>
                  <a:srgbClr val="000000"/>
                </a:solidFill>
                <a:effectLst/>
                <a:latin typeface="TimesNewRomanPS-BoldMT"/>
              </a:rPr>
              <a:t>IV. Antibiotique inhibant la biosynthèse ou les fonctions des acides nucléiques</a:t>
            </a:r>
            <a:r>
              <a:rPr lang="fr-FR" sz="1600" dirty="0"/>
              <a:t> : </a:t>
            </a:r>
            <a:endParaRPr lang="fr-FR" dirty="0">
              <a:latin typeface="Lora" pitchFamily="2" charset="0"/>
              <a:ea typeface="Lora" charset="0"/>
              <a:cs typeface="Lora" charset="0"/>
            </a:endParaRPr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30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34677" y="1605632"/>
            <a:ext cx="8474645" cy="3126388"/>
          </a:xfrm>
        </p:spPr>
        <p:txBody>
          <a:bodyPr/>
          <a:lstStyle/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800" b="1" i="0" dirty="0">
                <a:solidFill>
                  <a:srgbClr val="000000"/>
                </a:solidFill>
                <a:effectLst/>
                <a:latin typeface="TimesNewRomanPS-BoldMT"/>
              </a:rPr>
              <a:t>Sulfamides et triméthoprime</a:t>
            </a:r>
            <a:r>
              <a:rPr lang="fr-FR" sz="1100" dirty="0"/>
              <a:t> :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dirty="0">
                <a:latin typeface="Lora" pitchFamily="2" charset="0"/>
              </a:rPr>
              <a:t>Agissent par inhibition de la synthèse de l'acide </a:t>
            </a:r>
            <a:r>
              <a:rPr lang="fr-FR" sz="1400" dirty="0" err="1">
                <a:latin typeface="Lora" pitchFamily="2" charset="0"/>
              </a:rPr>
              <a:t>tétrahydrofolique</a:t>
            </a:r>
            <a:r>
              <a:rPr lang="fr-FR" sz="1400" dirty="0">
                <a:latin typeface="Lora" pitchFamily="2" charset="0"/>
              </a:rPr>
              <a:t>, cofacteur de la synthèse ultérieure des bases puriques et pyrimidiques 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dirty="0">
                <a:latin typeface="Lora" pitchFamily="2" charset="0"/>
              </a:rPr>
              <a:t>Les sulfamides en tant qu'analogues de l'acide </a:t>
            </a:r>
            <a:r>
              <a:rPr lang="fr-FR" sz="1400" dirty="0" err="1">
                <a:latin typeface="Lora" pitchFamily="2" charset="0"/>
              </a:rPr>
              <a:t>para-aminobenzoïque</a:t>
            </a:r>
            <a:r>
              <a:rPr lang="fr-FR" sz="1400" dirty="0">
                <a:latin typeface="Lora" pitchFamily="2" charset="0"/>
              </a:rPr>
              <a:t> bloquent la synthèse de l'acide </a:t>
            </a:r>
            <a:r>
              <a:rPr lang="fr-FR" sz="1400" dirty="0" err="1">
                <a:latin typeface="Lora" pitchFamily="2" charset="0"/>
              </a:rPr>
              <a:t>dihydroptéroïque</a:t>
            </a:r>
            <a:r>
              <a:rPr lang="fr-FR" sz="1400" dirty="0">
                <a:latin typeface="Lora" pitchFamily="2" charset="0"/>
              </a:rPr>
              <a:t> en inhibant de manière compétitive la </a:t>
            </a:r>
            <a:r>
              <a:rPr lang="fr-FR" sz="1400" dirty="0" err="1">
                <a:latin typeface="Lora" pitchFamily="2" charset="0"/>
              </a:rPr>
              <a:t>dihydroptéroate</a:t>
            </a:r>
            <a:r>
              <a:rPr lang="fr-FR" sz="1400" dirty="0">
                <a:latin typeface="Lora" pitchFamily="2" charset="0"/>
              </a:rPr>
              <a:t>-synthétase Analogue de l'acide </a:t>
            </a:r>
            <a:r>
              <a:rPr lang="fr-FR" sz="1400" dirty="0" err="1">
                <a:latin typeface="Lora" pitchFamily="2" charset="0"/>
              </a:rPr>
              <a:t>dihydrofolique</a:t>
            </a:r>
            <a:r>
              <a:rPr lang="fr-FR" sz="1400" dirty="0">
                <a:latin typeface="Lora" pitchFamily="2" charset="0"/>
              </a:rPr>
              <a:t>,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dirty="0">
                <a:latin typeface="Lora" pitchFamily="2" charset="0"/>
              </a:rPr>
              <a:t>le triméthoprime inhibe spécifiquement la dihydrofolate réductase.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dirty="0">
                <a:latin typeface="Lora" pitchFamily="2" charset="0"/>
              </a:rPr>
              <a:t>Les sulfamides et triméthoprime seules =&gt;  bactériostatiques;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400" dirty="0">
                <a:latin typeface="Lora" pitchFamily="2" charset="0"/>
              </a:rPr>
              <a:t>L’association : cotrimoxazole (Bactrim), =&gt; bactéricide</a:t>
            </a:r>
            <a:br>
              <a:rPr lang="fr-FR" sz="1100" dirty="0"/>
            </a:br>
            <a:br>
              <a:rPr lang="fr-FR" sz="1400" dirty="0">
                <a:latin typeface="Lora" pitchFamily="2" charset="0"/>
              </a:rPr>
            </a:br>
            <a:br>
              <a:rPr lang="fr-FR" sz="1400" dirty="0">
                <a:latin typeface="Lora" pitchFamily="2" charset="0"/>
              </a:rPr>
            </a:br>
            <a:endParaRPr lang="fr-FR" sz="1400" dirty="0"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7571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922668"/>
            <a:ext cx="7516260" cy="603982"/>
          </a:xfrm>
        </p:spPr>
        <p:txBody>
          <a:bodyPr/>
          <a:lstStyle/>
          <a:p>
            <a:pPr>
              <a:buClr>
                <a:srgbClr val="007DD6"/>
              </a:buClr>
            </a:pPr>
            <a:r>
              <a:rPr lang="fr-FR" sz="1800" b="1" i="0" dirty="0">
                <a:solidFill>
                  <a:srgbClr val="000000"/>
                </a:solidFill>
                <a:effectLst/>
                <a:latin typeface="TimesNewRomanPS-BoldMT"/>
              </a:rPr>
              <a:t>IV. Antibiotique inhibant la biosynthèse ou les fonctions des acides nucléiques</a:t>
            </a:r>
            <a:r>
              <a:rPr lang="fr-FR" sz="1600" dirty="0"/>
              <a:t> : </a:t>
            </a:r>
            <a:endParaRPr lang="fr-FR" dirty="0">
              <a:latin typeface="Lora" pitchFamily="2" charset="0"/>
              <a:ea typeface="Lora" charset="0"/>
              <a:cs typeface="Lora" charset="0"/>
            </a:endParaRPr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31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34677" y="1605632"/>
            <a:ext cx="8474645" cy="3126388"/>
          </a:xfrm>
        </p:spPr>
        <p:txBody>
          <a:bodyPr/>
          <a:lstStyle/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800" b="1" i="0" dirty="0" err="1">
                <a:solidFill>
                  <a:srgbClr val="000000"/>
                </a:solidFill>
                <a:effectLst/>
                <a:latin typeface="TimesNewRomanPS-BoldMT"/>
              </a:rPr>
              <a:t>Nitroimidazolés</a:t>
            </a:r>
            <a:r>
              <a:rPr lang="fr-FR" sz="1400" dirty="0"/>
              <a:t> :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latin typeface="Lora" pitchFamily="2" charset="0"/>
              </a:rPr>
              <a:t>Ils sont réduits (NO2 → NH2) par les transporteurs d'électrons intracytoplasmiques des bactéries Ce sont les dérivés intermédiaires de réduction qui sont actifs Ceci explique que seules les bactéries anaérobies et les micro-aérophiles soient sensibles aux nitro-imidazolés Ils entraînent la fragmentation de l'ADN, par un mécanisme encore mal connu (formation de radicaux libres) aboutissant à la mort de la bactérie.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latin typeface="Lora" pitchFamily="2" charset="0"/>
              </a:rPr>
              <a:t>Spectre limité aux anaérobies.</a:t>
            </a:r>
            <a:br>
              <a:rPr lang="fr-FR" sz="1100" dirty="0">
                <a:latin typeface="Linux Libertine G" panose="02000503000000000000" pitchFamily="2" charset="0"/>
                <a:ea typeface="Linux Libertine G" panose="02000503000000000000" pitchFamily="2" charset="0"/>
                <a:cs typeface="Linux Libertine G" panose="02000503000000000000" pitchFamily="2" charset="0"/>
              </a:rPr>
            </a:br>
            <a:br>
              <a:rPr lang="fr-FR" sz="1400" dirty="0">
                <a:latin typeface="Linux Libertine G" panose="02000503000000000000" pitchFamily="2" charset="0"/>
                <a:ea typeface="Linux Libertine G" panose="02000503000000000000" pitchFamily="2" charset="0"/>
                <a:cs typeface="Linux Libertine G" panose="02000503000000000000" pitchFamily="2" charset="0"/>
              </a:rPr>
            </a:br>
            <a:br>
              <a:rPr lang="fr-FR" sz="1400" dirty="0">
                <a:latin typeface="Linux Libertine G" panose="02000503000000000000" pitchFamily="2" charset="0"/>
                <a:ea typeface="Linux Libertine G" panose="02000503000000000000" pitchFamily="2" charset="0"/>
                <a:cs typeface="Linux Libertine G" panose="02000503000000000000" pitchFamily="2" charset="0"/>
              </a:rPr>
            </a:br>
            <a:endParaRPr lang="fr-FR" sz="1400" dirty="0">
              <a:latin typeface="Linux Libertine G" panose="02000503000000000000" pitchFamily="2" charset="0"/>
              <a:ea typeface="Linux Libertine G" panose="02000503000000000000" pitchFamily="2" charset="0"/>
              <a:cs typeface="Linux Libertine G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0136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922668"/>
            <a:ext cx="7516260" cy="603982"/>
          </a:xfrm>
        </p:spPr>
        <p:txBody>
          <a:bodyPr/>
          <a:lstStyle/>
          <a:p>
            <a:pPr>
              <a:buClr>
                <a:srgbClr val="007DD6"/>
              </a:buClr>
            </a:pPr>
            <a:r>
              <a:rPr lang="fr-FR" sz="1800" b="1" i="0" dirty="0">
                <a:solidFill>
                  <a:srgbClr val="000000"/>
                </a:solidFill>
                <a:effectLst/>
                <a:latin typeface="TimesNewRomanPS-BoldMT"/>
              </a:rPr>
              <a:t>IV. Antibiotique inhibant la biosynthèse ou les fonctions des acides nucléiques</a:t>
            </a:r>
            <a:r>
              <a:rPr lang="fr-FR" sz="1600" dirty="0"/>
              <a:t> : </a:t>
            </a:r>
            <a:endParaRPr lang="fr-FR" dirty="0">
              <a:latin typeface="Lora" pitchFamily="2" charset="0"/>
              <a:ea typeface="Lora" charset="0"/>
              <a:cs typeface="Lora" charset="0"/>
            </a:endParaRPr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32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34677" y="1605632"/>
            <a:ext cx="8474645" cy="3126388"/>
          </a:xfrm>
        </p:spPr>
        <p:txBody>
          <a:bodyPr/>
          <a:lstStyle/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800" b="1" i="0" dirty="0">
                <a:solidFill>
                  <a:srgbClr val="000000"/>
                </a:solidFill>
                <a:effectLst/>
                <a:latin typeface="TimesNewRomanPS-BoldMT"/>
              </a:rPr>
              <a:t>Rifampicine</a:t>
            </a:r>
            <a:r>
              <a:rPr lang="fr-FR" sz="1400" dirty="0"/>
              <a:t> :</a:t>
            </a:r>
            <a:br>
              <a:rPr lang="fr-FR" sz="1400" dirty="0"/>
            </a:br>
            <a:r>
              <a:rPr lang="fr-FR" sz="1800" dirty="0">
                <a:latin typeface="Linux Libertine G" panose="02000503000000000000" pitchFamily="2" charset="0"/>
                <a:ea typeface="Linux Libertine G" panose="02000503000000000000" pitchFamily="2" charset="0"/>
                <a:cs typeface="Linux Libertine G" panose="02000503000000000000" pitchFamily="2" charset="0"/>
              </a:rPr>
              <a:t>La rifampicine bloque l'initiation de la transcription de l'ADN en se fixant de façon covalente sur la sous-unité B de l'ARN-polymérase ADN-dépendante bactérienne, enzyme responsable de la transcription =&gt; effet bactéricide.</a:t>
            </a:r>
          </a:p>
          <a:p>
            <a:pPr marL="342900" indent="-342900">
              <a:buClr>
                <a:srgbClr val="007DD6"/>
              </a:buClr>
              <a:buFont typeface="Arial" panose="020B0604020202020204" pitchFamily="34" charset="0"/>
              <a:buChar char="•"/>
            </a:pPr>
            <a:r>
              <a:rPr lang="fr-FR" sz="1800" dirty="0">
                <a:latin typeface="Linux Libertine G" panose="02000503000000000000" pitchFamily="2" charset="0"/>
                <a:ea typeface="Linux Libertine G" panose="02000503000000000000" pitchFamily="2" charset="0"/>
                <a:cs typeface="Linux Libertine G" panose="02000503000000000000" pitchFamily="2" charset="0"/>
              </a:rPr>
              <a:t>Spectre: </a:t>
            </a:r>
            <a:br>
              <a:rPr lang="fr-FR" sz="1800" dirty="0">
                <a:latin typeface="Linux Libertine G" panose="02000503000000000000" pitchFamily="2" charset="0"/>
                <a:ea typeface="Linux Libertine G" panose="02000503000000000000" pitchFamily="2" charset="0"/>
                <a:cs typeface="Linux Libertine G" panose="02000503000000000000" pitchFamily="2" charset="0"/>
              </a:rPr>
            </a:br>
            <a:br>
              <a:rPr lang="fr-FR" sz="1400" dirty="0">
                <a:latin typeface="Linux Libertine G" panose="02000503000000000000" pitchFamily="2" charset="0"/>
                <a:ea typeface="Linux Libertine G" panose="02000503000000000000" pitchFamily="2" charset="0"/>
                <a:cs typeface="Linux Libertine G" panose="02000503000000000000" pitchFamily="2" charset="0"/>
              </a:rPr>
            </a:br>
            <a:br>
              <a:rPr lang="fr-FR" sz="1400" dirty="0">
                <a:latin typeface="Linux Libertine G" panose="02000503000000000000" pitchFamily="2" charset="0"/>
                <a:ea typeface="Linux Libertine G" panose="02000503000000000000" pitchFamily="2" charset="0"/>
                <a:cs typeface="Linux Libertine G" panose="02000503000000000000" pitchFamily="2" charset="0"/>
              </a:rPr>
            </a:br>
            <a:endParaRPr lang="fr-FR" sz="1400" dirty="0">
              <a:latin typeface="Linux Libertine G" panose="02000503000000000000" pitchFamily="2" charset="0"/>
              <a:ea typeface="Linux Libertine G" panose="02000503000000000000" pitchFamily="2" charset="0"/>
              <a:cs typeface="Linux Libertine G" panose="02000503000000000000" pitchFamily="2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B6DBC72-E3F9-22EE-1372-1FD35EC30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150" y="2881001"/>
            <a:ext cx="6033095" cy="68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5136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2225" y="1693523"/>
            <a:ext cx="6495051" cy="1159799"/>
          </a:xfrm>
        </p:spPr>
        <p:txBody>
          <a:bodyPr/>
          <a:lstStyle/>
          <a:p>
            <a:pPr>
              <a:buClr>
                <a:srgbClr val="007DD6"/>
              </a:buClr>
            </a:pPr>
            <a:r>
              <a:rPr lang="fr-FR" dirty="0">
                <a:latin typeface="Lora" charset="0"/>
                <a:ea typeface="Lora" charset="0"/>
                <a:cs typeface="Lora" charset="0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2899" y="2343895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5</a:t>
            </a:r>
            <a:endParaRPr lang="fr-FR" sz="2000" b="1" dirty="0">
              <a:solidFill>
                <a:schemeClr val="bg1"/>
              </a:solidFill>
              <a:latin typeface="Lora" charset="0"/>
              <a:ea typeface="Lora" charset="0"/>
              <a:cs typeface="Lora" charset="0"/>
            </a:endParaRPr>
          </a:p>
        </p:txBody>
      </p:sp>
      <p:sp>
        <p:nvSpPr>
          <p:cNvPr id="7" name="Oval 6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7526137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922668"/>
            <a:ext cx="4834615" cy="435599"/>
          </a:xfrm>
        </p:spPr>
        <p:txBody>
          <a:bodyPr/>
          <a:lstStyle/>
          <a:p>
            <a:r>
              <a:rPr lang="fr-FR" dirty="0">
                <a:latin typeface="Lora" charset="0"/>
                <a:ea typeface="Lora" charset="0"/>
                <a:cs typeface="Lora" charset="0"/>
              </a:rPr>
              <a:t>Conclusion:</a:t>
            </a:r>
            <a:endParaRPr lang="fr-FR" dirty="0">
              <a:solidFill>
                <a:srgbClr val="007DD6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688" y="1431419"/>
            <a:ext cx="8814816" cy="3501528"/>
          </a:xfrm>
        </p:spPr>
        <p:txBody>
          <a:bodyPr numCol="1"/>
          <a:lstStyle/>
          <a:p>
            <a:pPr marL="457200" indent="-4572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fr-FR" sz="1800" dirty="0"/>
              <a:t>L'amélioration de la prescription et  de l’usage rationnel des antibiotiques, en ville comme à l'hôpital est devenue un enjeu majeur tant à l'échelon national et international vu l’augmentation inquiétante des résistances aux antibiotiques. </a:t>
            </a:r>
          </a:p>
        </p:txBody>
      </p:sp>
      <p:sp>
        <p:nvSpPr>
          <p:cNvPr id="11" name="Oval 10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827700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922668"/>
            <a:ext cx="4834615" cy="435599"/>
          </a:xfrm>
        </p:spPr>
        <p:txBody>
          <a:bodyPr/>
          <a:lstStyle/>
          <a:p>
            <a:r>
              <a:rPr lang="fr-FR" dirty="0">
                <a:latin typeface="Lora" charset="0"/>
                <a:ea typeface="Lora" charset="0"/>
                <a:cs typeface="Lora" charset="0"/>
              </a:rPr>
              <a:t>Bibliographie</a:t>
            </a:r>
            <a:endParaRPr lang="fr-FR" dirty="0">
              <a:solidFill>
                <a:srgbClr val="007DD6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688" y="1431419"/>
            <a:ext cx="8814816" cy="3501528"/>
          </a:xfrm>
        </p:spPr>
        <p:txBody>
          <a:bodyPr numCol="1"/>
          <a:lstStyle/>
          <a:p>
            <a:pPr marL="457200" indent="-4572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fr-FR" sz="1400" dirty="0">
                <a:latin typeface="Lora" pitchFamily="2" charset="0"/>
              </a:rPr>
              <a:t>Pharmacie clinique et thérapeutique Elsevier 2019 Béatrice </a:t>
            </a:r>
            <a:r>
              <a:rPr lang="fr-FR" sz="1400" dirty="0" err="1">
                <a:latin typeface="Lora" pitchFamily="2" charset="0"/>
              </a:rPr>
              <a:t>Demoré</a:t>
            </a:r>
            <a:r>
              <a:rPr lang="fr-FR" sz="1400" dirty="0">
                <a:latin typeface="Lora" pitchFamily="2" charset="0"/>
              </a:rPr>
              <a:t> Ch42: Généralités sur les antibiotiques par voie systémique et principes d'utilisation.</a:t>
            </a:r>
          </a:p>
          <a:p>
            <a:pPr marL="457200" indent="-4572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fr-FR" sz="1400" dirty="0">
                <a:latin typeface="Lora" pitchFamily="2" charset="0"/>
              </a:rPr>
              <a:t>Hamon A, Bastides F, Lefort A. Bêtalactamines. EMC - Traité de Médecine Akos 2021;24(1):1-7 [Article 5-0020].</a:t>
            </a:r>
          </a:p>
          <a:p>
            <a:pPr marL="457200" indent="-4572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fr-FR" sz="1400" dirty="0" err="1">
                <a:latin typeface="Lora" pitchFamily="2" charset="0"/>
              </a:rPr>
              <a:t>Gendrin</a:t>
            </a:r>
            <a:r>
              <a:rPr lang="fr-FR" sz="1400" dirty="0">
                <a:latin typeface="Lora" pitchFamily="2" charset="0"/>
              </a:rPr>
              <a:t> V. Fosfomycine. EMC - Maladies infectieuses 2012;9(2):1-4 [Article 8-004-J-30]</a:t>
            </a:r>
          </a:p>
          <a:p>
            <a:pPr marL="457200" indent="-4572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fr-FR" sz="1400" dirty="0">
                <a:latin typeface="Lora" pitchFamily="2" charset="0"/>
              </a:rPr>
              <a:t>Sotto A., Lavigne J.-P. </a:t>
            </a:r>
            <a:r>
              <a:rPr lang="fr-FR" sz="1400" dirty="0" err="1">
                <a:latin typeface="Lora" pitchFamily="2" charset="0"/>
              </a:rPr>
              <a:t>Polymyxines</a:t>
            </a:r>
            <a:r>
              <a:rPr lang="fr-FR" sz="1400" dirty="0">
                <a:latin typeface="Lora" pitchFamily="2" charset="0"/>
              </a:rPr>
              <a:t>. EMC (Elsevier Masson SAS, Paris), Maladies infectieuses, 8-004-J-10, 2007.</a:t>
            </a:r>
          </a:p>
          <a:p>
            <a:pPr marL="457200" indent="-4572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fr-FR" sz="1400" dirty="0" err="1">
                <a:latin typeface="Lora" pitchFamily="2" charset="0"/>
              </a:rPr>
              <a:t>Botelho</a:t>
            </a:r>
            <a:r>
              <a:rPr lang="fr-FR" sz="1400" dirty="0">
                <a:latin typeface="Lora" pitchFamily="2" charset="0"/>
              </a:rPr>
              <a:t>-Nevers E, Gagneux-Brunon A, </a:t>
            </a:r>
            <a:r>
              <a:rPr lang="fr-FR" sz="1400" dirty="0" err="1">
                <a:latin typeface="Lora" pitchFamily="2" charset="0"/>
              </a:rPr>
              <a:t>Lucht</a:t>
            </a:r>
            <a:r>
              <a:rPr lang="fr-FR" sz="1400" dirty="0">
                <a:latin typeface="Lora" pitchFamily="2" charset="0"/>
              </a:rPr>
              <a:t> F. Tétracyclines. EMC - Maladies infectieuses 2016;13(4):1-13 [Article 8-004-E-10]</a:t>
            </a:r>
          </a:p>
        </p:txBody>
      </p:sp>
      <p:sp>
        <p:nvSpPr>
          <p:cNvPr id="11" name="Oval 10"/>
          <p:cNvSpPr>
            <a:spLocks noChangeAspect="1"/>
          </p:cNvSpPr>
          <p:nvPr/>
        </p:nvSpPr>
        <p:spPr>
          <a:xfrm>
            <a:off x="8729028" y="4732020"/>
            <a:ext cx="387540" cy="384048"/>
          </a:xfrm>
          <a:prstGeom prst="ellipse">
            <a:avLst/>
          </a:prstGeom>
          <a:solidFill>
            <a:srgbClr val="007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Lora" charset="0"/>
                <a:ea typeface="Lora" charset="0"/>
                <a:cs typeface="Lora" charset="0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493218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" name="Shape 87"/>
          <p:cNvCxnSpPr/>
          <p:nvPr/>
        </p:nvCxnSpPr>
        <p:spPr>
          <a:xfrm>
            <a:off x="6450" y="1428750"/>
            <a:ext cx="2397299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9" name="Shape 89"/>
          <p:cNvSpPr txBox="1">
            <a:spLocks noGrp="1"/>
          </p:cNvSpPr>
          <p:nvPr>
            <p:ph type="ctrTitle" idx="4294967295"/>
          </p:nvPr>
        </p:nvSpPr>
        <p:spPr>
          <a:xfrm>
            <a:off x="2371625" y="816550"/>
            <a:ext cx="4908000" cy="1159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fr-FR" sz="6000" dirty="0">
                <a:solidFill>
                  <a:srgbClr val="007DD6"/>
                </a:solidFill>
              </a:rPr>
              <a:t>Merci</a:t>
            </a:r>
            <a:r>
              <a:rPr lang="en" sz="6000" dirty="0">
                <a:solidFill>
                  <a:srgbClr val="007DD6"/>
                </a:solidFill>
              </a:rPr>
              <a:t>!</a:t>
            </a:r>
          </a:p>
        </p:txBody>
      </p:sp>
      <p:cxnSp>
        <p:nvCxnSpPr>
          <p:cNvPr id="90" name="Shape 90"/>
          <p:cNvCxnSpPr/>
          <p:nvPr/>
        </p:nvCxnSpPr>
        <p:spPr>
          <a:xfrm>
            <a:off x="4800600" y="1428750"/>
            <a:ext cx="43433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Shape 403"/>
          <p:cNvSpPr/>
          <p:nvPr/>
        </p:nvSpPr>
        <p:spPr>
          <a:xfrm>
            <a:off x="-6226" y="4707750"/>
            <a:ext cx="9150225" cy="435599"/>
          </a:xfrm>
          <a:prstGeom prst="rect">
            <a:avLst/>
          </a:prstGeom>
          <a:solidFill>
            <a:srgbClr val="007DD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>
              <a:solidFill>
                <a:srgbClr val="FC640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5433301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</p:bldLst>
  </p:timing>
</p:sld>
</file>

<file path=ppt/theme/theme1.xml><?xml version="1.0" encoding="utf-8"?>
<a:theme xmlns:a="http://schemas.openxmlformats.org/drawingml/2006/main" name="Viola template">
  <a:themeElements>
    <a:clrScheme name="Custom 1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0399FC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26586</TotalTime>
  <Words>1873</Words>
  <Application>Microsoft Office PowerPoint</Application>
  <PresentationFormat>Affichage à l'écran (16:9)</PresentationFormat>
  <Paragraphs>195</Paragraphs>
  <Slides>39</Slides>
  <Notes>39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39</vt:i4>
      </vt:variant>
    </vt:vector>
  </HeadingPairs>
  <TitlesOfParts>
    <vt:vector size="48" baseType="lpstr">
      <vt:lpstr>Arial</vt:lpstr>
      <vt:lpstr>Linux Libertine G</vt:lpstr>
      <vt:lpstr>Lora</vt:lpstr>
      <vt:lpstr>LucidaGrande</vt:lpstr>
      <vt:lpstr>Quattrocento Sans</vt:lpstr>
      <vt:lpstr>StoneSerif</vt:lpstr>
      <vt:lpstr>TimesNewRomanPS-BoldMT</vt:lpstr>
      <vt:lpstr>Wingdings</vt:lpstr>
      <vt:lpstr>Viola template</vt:lpstr>
      <vt:lpstr>Classification et mode d’action des antibiotiques</vt:lpstr>
      <vt:lpstr>Objectifs pédagogiques</vt:lpstr>
      <vt:lpstr>Plan</vt:lpstr>
      <vt:lpstr>Introduction</vt:lpstr>
      <vt:lpstr>Introduction:</vt:lpstr>
      <vt:lpstr>Définition</vt:lpstr>
      <vt:lpstr>Définition</vt:lpstr>
      <vt:lpstr>Critères de classification</vt:lpstr>
      <vt:lpstr>Critères de classification</vt:lpstr>
      <vt:lpstr>Les différentes classes d’antibiotiques ( selon le mode d’action et la famille).</vt:lpstr>
      <vt:lpstr>Présentation PowerPoint</vt:lpstr>
      <vt:lpstr>Les différentes classes d’antibiotiques ( selon le mode d’action et la famille).</vt:lpstr>
      <vt:lpstr>I. Antibiotiques inhibant la biosynthèse de la paroi :</vt:lpstr>
      <vt:lpstr>I. Antibiotiques inhibant la biosynthèse de la paroi :</vt:lpstr>
      <vt:lpstr>Les différentes classes d’antibiotiques ( selon le mode d’action et la famille).</vt:lpstr>
      <vt:lpstr>I. Antibiotiques inhibant la biosynthèse de la paroi :</vt:lpstr>
      <vt:lpstr>I. Antibiotiques inhibant la biosynthèse de la paroi :</vt:lpstr>
      <vt:lpstr>I. Antibiotiques inhibant la biosynthèse de la paroi :</vt:lpstr>
      <vt:lpstr>I. Antibiotiques inhibant la biosynthèse de la paroi :</vt:lpstr>
      <vt:lpstr>I. Antibiotiques inhibant la biosynthèse de la paroi :</vt:lpstr>
      <vt:lpstr>II. Antibiotiques actifs sur les membranes :</vt:lpstr>
      <vt:lpstr>II. Antibiotiques actifs sur les membranes :</vt:lpstr>
      <vt:lpstr>III. Antibiotiques inhibant la biosynthèse des protéines :</vt:lpstr>
      <vt:lpstr>III. Antibiotiques inhibant la biosynthèse des protéines :</vt:lpstr>
      <vt:lpstr>III. Antibiotiques inhibant la biosynthèse des protéines :</vt:lpstr>
      <vt:lpstr>III. Antibiotiques inhibant la biosynthèse des protéines :</vt:lpstr>
      <vt:lpstr>III. Antibiotiques inhibant la biosynthèse des protéines :</vt:lpstr>
      <vt:lpstr>III. Antibiotiques inhibant la biosynthèse des protéines :</vt:lpstr>
      <vt:lpstr>III. Antibiotiques inhibant la biosynthèse des protéines :</vt:lpstr>
      <vt:lpstr>III. Antibiotiques inhibant la biosynthèse des protéines :</vt:lpstr>
      <vt:lpstr>IV. Antibiotique inhibant la biosynthèse ou les fonctions des acides nucléiques : </vt:lpstr>
      <vt:lpstr>IV. Antibiotique inhibant la biosynthèse ou les fonctions des acides nucléiques : </vt:lpstr>
      <vt:lpstr>IV. Antibiotique inhibant la biosynthèse ou les fonctions des acides nucléiques : </vt:lpstr>
      <vt:lpstr>IV. Antibiotique inhibant la biosynthèse ou les fonctions des acides nucléiques : </vt:lpstr>
      <vt:lpstr>IV. Antibiotique inhibant la biosynthèse ou les fonctions des acides nucléiques : </vt:lpstr>
      <vt:lpstr>Conclusion</vt:lpstr>
      <vt:lpstr>Conclusion:</vt:lpstr>
      <vt:lpstr>Bibliographie</vt:lpstr>
      <vt:lpstr>Merci!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Antiseptique - désinfectant - stérilisation pharmacie 2023</dc:title>
  <dc:creator>Omar K</dc:creator>
  <cp:lastModifiedBy>dell</cp:lastModifiedBy>
  <cp:revision>1589</cp:revision>
  <dcterms:modified xsi:type="dcterms:W3CDTF">2025-06-02T09:41:58Z</dcterms:modified>
</cp:coreProperties>
</file>