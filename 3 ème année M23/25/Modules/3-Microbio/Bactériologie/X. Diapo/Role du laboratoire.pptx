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8" r:id="rId1"/>
  </p:sldMasterIdLst>
  <p:notesMasterIdLst>
    <p:notesMasterId r:id="rId33"/>
  </p:notesMasterIdLst>
  <p:handoutMasterIdLst>
    <p:handoutMasterId r:id="rId34"/>
  </p:handoutMasterIdLst>
  <p:sldIdLst>
    <p:sldId id="405" r:id="rId2"/>
    <p:sldId id="284" r:id="rId3"/>
    <p:sldId id="484" r:id="rId4"/>
    <p:sldId id="285" r:id="rId5"/>
    <p:sldId id="324" r:id="rId6"/>
    <p:sldId id="286" r:id="rId7"/>
    <p:sldId id="483" r:id="rId8"/>
    <p:sldId id="454" r:id="rId9"/>
    <p:sldId id="515" r:id="rId10"/>
    <p:sldId id="511" r:id="rId11"/>
    <p:sldId id="532" r:id="rId12"/>
    <p:sldId id="533" r:id="rId13"/>
    <p:sldId id="512" r:id="rId14"/>
    <p:sldId id="524" r:id="rId15"/>
    <p:sldId id="513" r:id="rId16"/>
    <p:sldId id="525" r:id="rId17"/>
    <p:sldId id="527" r:id="rId18"/>
    <p:sldId id="526" r:id="rId19"/>
    <p:sldId id="528" r:id="rId20"/>
    <p:sldId id="529" r:id="rId21"/>
    <p:sldId id="530" r:id="rId22"/>
    <p:sldId id="531" r:id="rId23"/>
    <p:sldId id="287" r:id="rId24"/>
    <p:sldId id="464" r:id="rId25"/>
    <p:sldId id="520" r:id="rId26"/>
    <p:sldId id="521" r:id="rId27"/>
    <p:sldId id="522" r:id="rId28"/>
    <p:sldId id="523" r:id="rId29"/>
    <p:sldId id="534" r:id="rId30"/>
    <p:sldId id="485" r:id="rId31"/>
    <p:sldId id="313" r:id="rId32"/>
  </p:sldIdLst>
  <p:sldSz cx="9144000" cy="5143500" type="screen16x9"/>
  <p:notesSz cx="6858000" cy="9144000"/>
  <p:defaultTex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9D9"/>
    <a:srgbClr val="007DD6"/>
    <a:srgbClr val="D24725"/>
    <a:srgbClr val="C64C2C"/>
    <a:srgbClr val="007742"/>
    <a:srgbClr val="D81E00"/>
    <a:srgbClr val="FFD6A9"/>
    <a:srgbClr val="AB56FF"/>
    <a:srgbClr val="FFD7D6"/>
    <a:srgbClr val="D5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9389B32-D725-419B-B877-691421574F8B}">
  <a:tblStyle styleId="{09389B32-D725-419B-B877-691421574F8B}" styleName="Table_0">
    <a:wholeTbl>
      <a:tcStyle>
        <a:tcBdr>
          <a:left>
            <a:ln w="9525" cap="flat" cmpd="sng">
              <a:solidFill>
                <a:srgbClr val="000000"/>
              </a:solidFill>
              <a:prstDash val="solid"/>
              <a:round/>
              <a:headEnd type="none" w="med" len="med"/>
              <a:tailEnd type="none" w="med" len="med"/>
            </a:ln>
          </a:left>
          <a:right>
            <a:ln w="9525" cap="flat" cmpd="sng">
              <a:solidFill>
                <a:srgbClr val="000000"/>
              </a:solidFill>
              <a:prstDash val="solid"/>
              <a:round/>
              <a:headEnd type="none" w="med" len="med"/>
              <a:tailEnd type="none" w="med" len="med"/>
            </a:ln>
          </a:right>
          <a:top>
            <a:ln w="9525" cap="flat" cmpd="sng">
              <a:solidFill>
                <a:srgbClr val="000000"/>
              </a:solidFill>
              <a:prstDash val="solid"/>
              <a:round/>
              <a:headEnd type="none" w="med" len="med"/>
              <a:tailEnd type="none" w="med" len="med"/>
            </a:ln>
          </a:top>
          <a:bottom>
            <a:ln w="9525" cap="flat" cmpd="sng">
              <a:solidFill>
                <a:srgbClr val="000000"/>
              </a:solidFill>
              <a:prstDash val="solid"/>
              <a:round/>
              <a:headEnd type="none" w="med" len="med"/>
              <a:tailEnd type="none" w="med" len="med"/>
            </a:ln>
          </a:bottom>
          <a:insideH>
            <a:ln w="9525" cap="flat" cmpd="sng">
              <a:solidFill>
                <a:srgbClr val="000000"/>
              </a:solidFill>
              <a:prstDash val="solid"/>
              <a:round/>
              <a:headEnd type="none" w="med" len="med"/>
              <a:tailEnd type="none" w="med" len="med"/>
            </a:ln>
          </a:insideH>
          <a:insideV>
            <a:ln w="9525" cap="flat" cmpd="sng">
              <a:solidFill>
                <a:srgbClr val="000000"/>
              </a:solidFill>
              <a:prstDash val="solid"/>
              <a:round/>
              <a:headEnd type="none" w="med" len="med"/>
              <a:tailEnd type="none" w="med" len="med"/>
            </a:ln>
          </a:insideV>
        </a:tcBdr>
      </a:tcStyle>
    </a:wholeTbl>
  </a:tblStyle>
  <a:tblStyle styleId="{9DCAF9ED-07DC-4A11-8D7F-57B35C25682E}" styleName="Style moyen 1 - Accentuation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35758FB7-9AC5-4552-8A53-C91805E547FA}" styleName="Style à thème 1 - Accentuation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DA37D80-6434-44D0-A028-1B22A696006F}" styleName="Style léger 3 - Accentuation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1455" autoAdjust="0"/>
  </p:normalViewPr>
  <p:slideViewPr>
    <p:cSldViewPr snapToGrid="0" snapToObjects="1">
      <p:cViewPr varScale="1">
        <p:scale>
          <a:sx n="137" d="100"/>
          <a:sy n="137" d="100"/>
        </p:scale>
        <p:origin x="864" y="114"/>
      </p:cViewPr>
      <p:guideLst/>
    </p:cSldViewPr>
  </p:slideViewPr>
  <p:outlineViewPr>
    <p:cViewPr>
      <p:scale>
        <a:sx n="33" d="100"/>
        <a:sy n="33" d="100"/>
      </p:scale>
      <p:origin x="0" y="-61264"/>
    </p:cViewPr>
  </p:outlineViewPr>
  <p:notesTextViewPr>
    <p:cViewPr>
      <p:scale>
        <a:sx n="1" d="1"/>
        <a:sy n="1" d="1"/>
      </p:scale>
      <p:origin x="0" y="0"/>
    </p:cViewPr>
  </p:notesTextViewPr>
  <p:notesViewPr>
    <p:cSldViewPr snapToGrid="0" snapToObjects="1">
      <p:cViewPr varScale="1">
        <p:scale>
          <a:sx n="75" d="100"/>
          <a:sy n="75" d="100"/>
        </p:scale>
        <p:origin x="2296" y="16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A4A85FC-D04F-1249-A490-D748BB869D49}" type="datetimeFigureOut">
              <a:rPr lang="fr-FR" smtClean="0"/>
              <a:t>02/06/2025</a:t>
            </a:fld>
            <a:endParaRPr lang="fr-F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3D569A4-AB8A-4F45-9F1C-C91E16013D6B}" type="slidenum">
              <a:rPr lang="fr-FR" smtClean="0"/>
              <a:t>‹N°›</a:t>
            </a:fld>
            <a:endParaRPr lang="fr-FR"/>
          </a:p>
        </p:txBody>
      </p:sp>
    </p:spTree>
    <p:extLst>
      <p:ext uri="{BB962C8B-B14F-4D97-AF65-F5344CB8AC3E}">
        <p14:creationId xmlns:p14="http://schemas.microsoft.com/office/powerpoint/2010/main" val="2052277962"/>
      </p:ext>
    </p:extLst>
  </p:cSld>
  <p:clrMap bg1="lt1" tx1="dk1" bg2="lt2" tx2="dk2" accent1="accent1" accent2="accent2" accent3="accent3" accent4="accent4" accent5="accent5" accent6="accent6" hlink="hlink" folHlink="folHlink"/>
  <p:hf hd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1"/>
        <p:cNvGrpSpPr/>
        <p:nvPr/>
      </p:nvGrpSpPr>
      <p:grpSpPr>
        <a:xfrm>
          <a:off x="0" y="0"/>
          <a:ext cx="0" cy="0"/>
          <a:chOff x="0" y="0"/>
          <a:chExt cx="0" cy="0"/>
        </a:xfrm>
      </p:grpSpPr>
      <p:sp>
        <p:nvSpPr>
          <p:cNvPr id="2" name="Shape 2"/>
          <p:cNvSpPr>
            <a:spLocks noGrp="1" noRot="1" noChangeAspect="1"/>
          </p:cNvSpPr>
          <p:nvPr>
            <p:ph type="sldImg" idx="2"/>
          </p:nvPr>
        </p:nvSpPr>
        <p:spPr>
          <a:xfrm>
            <a:off x="381175" y="685800"/>
            <a:ext cx="6096299"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3" name="Shape 3"/>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a:spcBef>
                <a:spcPts val="0"/>
              </a:spcBef>
              <a:defRPr sz="1100"/>
            </a:lvl1pPr>
            <a:lvl2pPr>
              <a:spcBef>
                <a:spcPts val="0"/>
              </a:spcBef>
              <a:defRPr sz="1100"/>
            </a:lvl2pPr>
            <a:lvl3pPr>
              <a:spcBef>
                <a:spcPts val="0"/>
              </a:spcBef>
              <a:defRPr sz="1100"/>
            </a:lvl3pPr>
            <a:lvl4pPr>
              <a:spcBef>
                <a:spcPts val="0"/>
              </a:spcBef>
              <a:defRPr sz="1100"/>
            </a:lvl4pPr>
            <a:lvl5pPr>
              <a:spcBef>
                <a:spcPts val="0"/>
              </a:spcBef>
              <a:defRPr sz="1100"/>
            </a:lvl5pPr>
            <a:lvl6pPr>
              <a:spcBef>
                <a:spcPts val="0"/>
              </a:spcBef>
              <a:defRPr sz="1100"/>
            </a:lvl6pPr>
            <a:lvl7pPr>
              <a:spcBef>
                <a:spcPts val="0"/>
              </a:spcBef>
              <a:defRPr sz="1100"/>
            </a:lvl7pPr>
            <a:lvl8pPr>
              <a:spcBef>
                <a:spcPts val="0"/>
              </a:spcBef>
              <a:defRPr sz="1100"/>
            </a:lvl8pPr>
            <a:lvl9pPr>
              <a:spcBef>
                <a:spcPts val="0"/>
              </a:spcBef>
              <a:defRPr sz="1100"/>
            </a:lvl9pPr>
          </a:lstStyle>
          <a:p>
            <a:endParaRPr/>
          </a:p>
        </p:txBody>
      </p:sp>
    </p:spTree>
    <p:extLst>
      <p:ext uri="{BB962C8B-B14F-4D97-AF65-F5344CB8AC3E}">
        <p14:creationId xmlns:p14="http://schemas.microsoft.com/office/powerpoint/2010/main" val="1951676528"/>
      </p:ext>
    </p:extLst>
  </p:cSld>
  <p:clrMap bg1="lt1" tx1="dk1" bg2="dk2" tx2="lt2" accent1="accent1" accent2="accent2" accent3="accent3" accent4="accent4" accent5="accent5" accent6="accent6" hlink="hlink" folHlink="folHlink"/>
  <p:hf hd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Shape 6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69" name="Shape 69"/>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446204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228600" lvl="0" indent="-228600">
              <a:buFont typeface="+mj-lt"/>
              <a:buAutoNum type="arabicPeriod"/>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7656218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228600" lvl="0" indent="-228600">
              <a:buFont typeface="+mj-lt"/>
              <a:buAutoNum type="arabicPeriod"/>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2236154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7281736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LucidaGrande" charset="0"/>
              <a:buNone/>
              <a:tabLst/>
              <a:defRPr/>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0184695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224567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LucidaGrande" charset="0"/>
              <a:buNone/>
              <a:tabLst/>
              <a:defRPr/>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8030037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0505814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1A0E4-E3B7-F921-3417-52897A6781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67F6D3-4014-B341-AAFF-8AA7D3FDC59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E3C84CA-E73E-56DF-EBC6-89DB090CBA21}"/>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charset="2"/>
              <a:buNone/>
              <a:tabLst/>
              <a:defRPr/>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5677322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14D4C-BB5A-CFE3-7160-37C029F0C0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8C2604-09BB-1D8F-4578-D296BE0F417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A7A1054-35BB-1841-88DB-2A44CB6E1CAE}"/>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charset="2"/>
              <a:buNone/>
              <a:tabLst/>
              <a:defRPr/>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2741555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3660AC-88AE-8FF8-1E96-9B55321874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C17B0D-F334-3D7A-E1A1-EF74EC9E373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B57DD78-408A-A052-68D9-FE03E50666FC}"/>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charset="2"/>
              <a:buNone/>
              <a:tabLst/>
              <a:defRPr/>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9924632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939825-182D-B8C9-2323-854A8B497C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9F64DC-5865-383E-BF51-D974498165A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D2E18B3-8ECC-D369-21A6-4924CAEDB0BC}"/>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charset="2"/>
              <a:buNone/>
              <a:tabLst/>
              <a:defRPr/>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40536361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E504B1-1BB1-C847-4EE4-4D4507EE77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24B874-2563-B7FA-3AB9-00D8751225E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7BAADD5-454B-62DE-FD7B-D3503E3C1940}"/>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charset="2"/>
              <a:buNone/>
              <a:tabLst/>
              <a:defRPr/>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6219147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2DA74-6D05-3369-7232-AA6D6C0745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181302-1F85-47BB-62B1-976C0DDEDC4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362F4BA-5D36-4493-20FE-F02920EB6775}"/>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charset="2"/>
              <a:buNone/>
              <a:tabLst/>
              <a:defRPr/>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40281044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E80787-BAC3-81A5-99A3-AF2E9DC5D6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042B6A-9E00-CACE-DB6E-2BC5A67082D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94DE7B9-42C2-C4C3-2948-E53F158116CE}"/>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charset="2"/>
              <a:buNone/>
              <a:tabLst/>
              <a:defRPr/>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7419304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878F2-D1F6-BFD4-ECAA-AC26FEB2BC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166AC6-0CE1-59E6-AF22-3F9EC46B433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934334F-49E2-6E0C-60BB-06CC83234D30}"/>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charset="2"/>
              <a:buNone/>
              <a:tabLst/>
              <a:defRPr/>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6521895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B31A3-A972-8B43-7900-E9B3829898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548ACD-4F29-3DF8-8BAB-F7871B14F05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9E4792C-15DD-E26C-A9E0-BE18CD692396}"/>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charset="2"/>
              <a:buNone/>
              <a:tabLst/>
              <a:defRPr/>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7211505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84191-23A6-DA3F-CC04-0A42447058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F03EA7-1478-BDF5-AD7A-AC4F4FA15E6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387C7E8-9D23-0329-6F6F-99F729F81193}"/>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charset="2"/>
              <a:buNone/>
              <a:tabLst/>
              <a:defRPr/>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5248250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B39AAC-73F7-55BF-418C-619190679D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324142-11E3-6FED-00C1-235BC43BE32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65E37A9-0879-8B9E-F362-A4664DF75EA6}"/>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charset="2"/>
              <a:buNone/>
              <a:tabLst/>
              <a:defRPr/>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3967069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B47630-DF9C-5BCE-1E50-A77BE26C55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C2FCED-DD51-333B-2100-5AF0424FC79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80727FA-B9E8-9C73-C42C-0E0A3DF92615}"/>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charset="2"/>
              <a:buNone/>
              <a:tabLst/>
              <a:defRPr/>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5254015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1B331-218A-6474-8463-DD16F1A341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C49822-4523-52BB-1245-671A0371AE1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58C007A-7143-5DB3-8390-0583282C5399}"/>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charset="2"/>
              <a:buNone/>
              <a:tabLst/>
              <a:defRPr/>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8148855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C19EA-2722-E894-2948-A3D3FDF4CF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A48C1A-AE14-A24D-011E-7EA2BE5C63E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C01A808-186A-DF7B-7007-A76EA4234D37}"/>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charset="2"/>
              <a:buNone/>
              <a:tabLst/>
              <a:defRPr/>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4188813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100261387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charset="2"/>
              <a:buNone/>
              <a:tabLst/>
              <a:defRPr/>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02436991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85A96-ABDA-0B4A-ADC5-B4F2EFE55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2C8EAF-EE17-A41B-89F0-BEA12A5D7B4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CD294E2-7C91-8951-B57B-ADB3D2B79BD2}"/>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charset="2"/>
              <a:buNone/>
              <a:tabLst/>
              <a:defRPr/>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8453733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9DABA6-7D1E-5423-5351-58AFAC8A6D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2EE13C-E8AA-E80C-2BB5-D00E012C247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7037429-2963-46FC-CB39-28D59DD20965}"/>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charset="2"/>
              <a:buNone/>
              <a:tabLst/>
              <a:defRPr/>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53402058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636CF-1225-B34C-F366-5B5B8FD076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01E44B-D632-A713-4490-0FE7845A7B6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98E24D4-D9A8-D536-3FEC-220590E1F6AE}"/>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charset="2"/>
              <a:buNone/>
              <a:tabLst/>
              <a:defRPr/>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4209584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B5CD5-B480-9C46-B56D-845CF644D7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D39186-02D1-7298-632F-B333BB90FD1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1B49D2A-8F2E-3178-9E9C-4651D41DF7A5}"/>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charset="2"/>
              <a:buNone/>
              <a:tabLst/>
              <a:defRPr/>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65816215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lvl="0"/>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50843099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Shape 9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93" name="Shape 9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173287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Title + 1 column">
    <p:spTree>
      <p:nvGrpSpPr>
        <p:cNvPr id="1" name="Shape 22"/>
        <p:cNvGrpSpPr/>
        <p:nvPr/>
      </p:nvGrpSpPr>
      <p:grpSpPr>
        <a:xfrm>
          <a:off x="0" y="0"/>
          <a:ext cx="0" cy="0"/>
          <a:chOff x="0" y="0"/>
          <a:chExt cx="0" cy="0"/>
        </a:xfrm>
      </p:grpSpPr>
      <p:cxnSp>
        <p:nvCxnSpPr>
          <p:cNvPr id="23" name="Shape 23"/>
          <p:cNvCxnSpPr/>
          <p:nvPr/>
        </p:nvCxnSpPr>
        <p:spPr>
          <a:xfrm>
            <a:off x="0" y="1131725"/>
            <a:ext cx="1375800" cy="0"/>
          </a:xfrm>
          <a:prstGeom prst="straightConnector1">
            <a:avLst/>
          </a:prstGeom>
          <a:noFill/>
          <a:ln w="9525" cap="flat" cmpd="sng">
            <a:solidFill>
              <a:srgbClr val="CCCCCC"/>
            </a:solidFill>
            <a:prstDash val="solid"/>
            <a:round/>
            <a:headEnd type="none" w="lg" len="lg"/>
            <a:tailEnd type="none" w="lg" len="lg"/>
          </a:ln>
        </p:spPr>
      </p:cxnSp>
      <p:sp>
        <p:nvSpPr>
          <p:cNvPr id="24" name="Shape 24"/>
          <p:cNvSpPr/>
          <p:nvPr/>
        </p:nvSpPr>
        <p:spPr>
          <a:xfrm>
            <a:off x="817475" y="928766"/>
            <a:ext cx="405899" cy="405899"/>
          </a:xfrm>
          <a:prstGeom prst="ellipse">
            <a:avLst/>
          </a:prstGeom>
          <a:solidFill>
            <a:srgbClr val="007DD6"/>
          </a:solidFill>
          <a:ln>
            <a:noFill/>
          </a:ln>
        </p:spPr>
        <p:txBody>
          <a:bodyPr lIns="91425" tIns="91425" rIns="91425" bIns="91425" anchor="ctr" anchorCtr="0">
            <a:noAutofit/>
          </a:bodyPr>
          <a:lstStyle/>
          <a:p>
            <a:pPr lvl="0" rtl="0">
              <a:spcBef>
                <a:spcPts val="0"/>
              </a:spcBef>
              <a:buNone/>
            </a:pPr>
            <a:endParaRPr/>
          </a:p>
        </p:txBody>
      </p:sp>
      <p:sp>
        <p:nvSpPr>
          <p:cNvPr id="25" name="Shape 25"/>
          <p:cNvSpPr txBox="1">
            <a:spLocks noGrp="1"/>
          </p:cNvSpPr>
          <p:nvPr>
            <p:ph type="title"/>
          </p:nvPr>
        </p:nvSpPr>
        <p:spPr>
          <a:xfrm>
            <a:off x="1381250" y="922668"/>
            <a:ext cx="3878399" cy="435599"/>
          </a:xfrm>
          <a:prstGeom prst="rect">
            <a:avLst/>
          </a:prstGeom>
        </p:spPr>
        <p:txBody>
          <a:bodyPr lIns="91425" tIns="91425" rIns="91425" bIns="91425" anchor="ctr" anchorCtr="0"/>
          <a:lstStyle>
            <a:lvl1pPr rtl="0">
              <a:spcBef>
                <a:spcPts val="0"/>
              </a:spcBef>
              <a:buSzPct val="100000"/>
              <a:buFont typeface="Lora"/>
              <a:buNone/>
              <a:defRPr sz="2000" b="1">
                <a:latin typeface="Lora"/>
                <a:ea typeface="Lora"/>
                <a:cs typeface="Lora"/>
                <a:sym typeface="Lora"/>
              </a:defRPr>
            </a:lvl1pPr>
            <a:lvl2pPr rtl="0">
              <a:spcBef>
                <a:spcPts val="0"/>
              </a:spcBef>
              <a:buSzPct val="100000"/>
              <a:buFont typeface="Lora"/>
              <a:buNone/>
              <a:defRPr sz="2000" b="1">
                <a:highlight>
                  <a:srgbClr val="FFFFFF"/>
                </a:highlight>
                <a:latin typeface="Lora"/>
                <a:ea typeface="Lora"/>
                <a:cs typeface="Lora"/>
                <a:sym typeface="Lora"/>
              </a:defRPr>
            </a:lvl2pPr>
            <a:lvl3pPr rtl="0">
              <a:spcBef>
                <a:spcPts val="0"/>
              </a:spcBef>
              <a:buSzPct val="100000"/>
              <a:buFont typeface="Lora"/>
              <a:buNone/>
              <a:defRPr sz="2000" b="1">
                <a:highlight>
                  <a:srgbClr val="FFFFFF"/>
                </a:highlight>
                <a:latin typeface="Lora"/>
                <a:ea typeface="Lora"/>
                <a:cs typeface="Lora"/>
                <a:sym typeface="Lora"/>
              </a:defRPr>
            </a:lvl3pPr>
            <a:lvl4pPr rtl="0">
              <a:spcBef>
                <a:spcPts val="0"/>
              </a:spcBef>
              <a:buSzPct val="100000"/>
              <a:buFont typeface="Lora"/>
              <a:buNone/>
              <a:defRPr sz="2000" b="1">
                <a:highlight>
                  <a:srgbClr val="FFFFFF"/>
                </a:highlight>
                <a:latin typeface="Lora"/>
                <a:ea typeface="Lora"/>
                <a:cs typeface="Lora"/>
                <a:sym typeface="Lora"/>
              </a:defRPr>
            </a:lvl4pPr>
            <a:lvl5pPr rtl="0">
              <a:spcBef>
                <a:spcPts val="0"/>
              </a:spcBef>
              <a:buSzPct val="100000"/>
              <a:buFont typeface="Lora"/>
              <a:buNone/>
              <a:defRPr sz="2000" b="1">
                <a:highlight>
                  <a:srgbClr val="FFFFFF"/>
                </a:highlight>
                <a:latin typeface="Lora"/>
                <a:ea typeface="Lora"/>
                <a:cs typeface="Lora"/>
                <a:sym typeface="Lora"/>
              </a:defRPr>
            </a:lvl5pPr>
            <a:lvl6pPr rtl="0">
              <a:spcBef>
                <a:spcPts val="0"/>
              </a:spcBef>
              <a:buSzPct val="100000"/>
              <a:buFont typeface="Lora"/>
              <a:buNone/>
              <a:defRPr sz="2000" b="1">
                <a:highlight>
                  <a:srgbClr val="FFFFFF"/>
                </a:highlight>
                <a:latin typeface="Lora"/>
                <a:ea typeface="Lora"/>
                <a:cs typeface="Lora"/>
                <a:sym typeface="Lora"/>
              </a:defRPr>
            </a:lvl6pPr>
            <a:lvl7pPr rtl="0">
              <a:spcBef>
                <a:spcPts val="0"/>
              </a:spcBef>
              <a:buSzPct val="100000"/>
              <a:buFont typeface="Lora"/>
              <a:buNone/>
              <a:defRPr sz="2000" b="1">
                <a:highlight>
                  <a:srgbClr val="FFFFFF"/>
                </a:highlight>
                <a:latin typeface="Lora"/>
                <a:ea typeface="Lora"/>
                <a:cs typeface="Lora"/>
                <a:sym typeface="Lora"/>
              </a:defRPr>
            </a:lvl7pPr>
            <a:lvl8pPr rtl="0">
              <a:spcBef>
                <a:spcPts val="0"/>
              </a:spcBef>
              <a:buSzPct val="100000"/>
              <a:buFont typeface="Lora"/>
              <a:buNone/>
              <a:defRPr sz="2000" b="1">
                <a:highlight>
                  <a:srgbClr val="FFFFFF"/>
                </a:highlight>
                <a:latin typeface="Lora"/>
                <a:ea typeface="Lora"/>
                <a:cs typeface="Lora"/>
                <a:sym typeface="Lora"/>
              </a:defRPr>
            </a:lvl8pPr>
            <a:lvl9pPr rtl="0">
              <a:spcBef>
                <a:spcPts val="0"/>
              </a:spcBef>
              <a:buSzPct val="100000"/>
              <a:buFont typeface="Lora"/>
              <a:buNone/>
              <a:defRPr sz="2000" b="1">
                <a:highlight>
                  <a:srgbClr val="FFFFFF"/>
                </a:highlight>
                <a:latin typeface="Lora"/>
                <a:ea typeface="Lora"/>
                <a:cs typeface="Lora"/>
                <a:sym typeface="Lora"/>
              </a:defRPr>
            </a:lvl9pPr>
          </a:lstStyle>
          <a:p>
            <a:endParaRPr/>
          </a:p>
        </p:txBody>
      </p:sp>
      <p:sp>
        <p:nvSpPr>
          <p:cNvPr id="26" name="Shape 26"/>
          <p:cNvSpPr txBox="1">
            <a:spLocks noGrp="1"/>
          </p:cNvSpPr>
          <p:nvPr>
            <p:ph type="body" idx="1"/>
          </p:nvPr>
        </p:nvSpPr>
        <p:spPr>
          <a:xfrm>
            <a:off x="1381250" y="1616470"/>
            <a:ext cx="6809700" cy="3112200"/>
          </a:xfrm>
          <a:prstGeom prst="rect">
            <a:avLst/>
          </a:prstGeom>
        </p:spPr>
        <p:txBody>
          <a:bodyPr lIns="91425" tIns="91425" rIns="91425" bIns="91425" anchor="t" anchorCtr="0"/>
          <a:lstStyle>
            <a:lvl1pPr rtl="0">
              <a:spcBef>
                <a:spcPts val="600"/>
              </a:spcBef>
              <a:buClr>
                <a:srgbClr val="FFCD00"/>
              </a:buClr>
              <a:buSzPct val="100000"/>
              <a:buFont typeface="Quattrocento Sans"/>
              <a:buChar char="◉"/>
              <a:defRPr sz="2400">
                <a:latin typeface="Quattrocento Sans"/>
                <a:ea typeface="Quattrocento Sans"/>
                <a:cs typeface="Quattrocento Sans"/>
                <a:sym typeface="Quattrocento Sans"/>
              </a:defRPr>
            </a:lvl1pPr>
            <a:lvl2pPr rtl="0">
              <a:spcBef>
                <a:spcPts val="480"/>
              </a:spcBef>
              <a:buClr>
                <a:srgbClr val="FFCD00"/>
              </a:buClr>
              <a:buSzPct val="100000"/>
              <a:buFont typeface="Quattrocento Sans"/>
              <a:defRPr sz="2000">
                <a:latin typeface="Quattrocento Sans"/>
                <a:ea typeface="Quattrocento Sans"/>
                <a:cs typeface="Quattrocento Sans"/>
                <a:sym typeface="Quattrocento Sans"/>
              </a:defRPr>
            </a:lvl2pPr>
            <a:lvl3pPr rtl="0">
              <a:spcBef>
                <a:spcPts val="480"/>
              </a:spcBef>
              <a:buClr>
                <a:srgbClr val="FFCD00"/>
              </a:buClr>
              <a:buSzPct val="100000"/>
              <a:buFont typeface="Quattrocento Sans"/>
              <a:defRPr sz="2000">
                <a:latin typeface="Quattrocento Sans"/>
                <a:ea typeface="Quattrocento Sans"/>
                <a:cs typeface="Quattrocento Sans"/>
                <a:sym typeface="Quattrocento Sans"/>
              </a:defRPr>
            </a:lvl3pPr>
            <a:lvl4pPr rtl="0">
              <a:spcBef>
                <a:spcPts val="360"/>
              </a:spcBef>
              <a:buClr>
                <a:srgbClr val="FFCD00"/>
              </a:buClr>
              <a:buSzPct val="100000"/>
              <a:buFont typeface="Quattrocento Sans"/>
              <a:defRPr sz="1800">
                <a:latin typeface="Quattrocento Sans"/>
                <a:ea typeface="Quattrocento Sans"/>
                <a:cs typeface="Quattrocento Sans"/>
                <a:sym typeface="Quattrocento Sans"/>
              </a:defRPr>
            </a:lvl4pPr>
            <a:lvl5pPr rtl="0">
              <a:spcBef>
                <a:spcPts val="360"/>
              </a:spcBef>
              <a:buClr>
                <a:srgbClr val="FFCD00"/>
              </a:buClr>
              <a:buSzPct val="100000"/>
              <a:buFont typeface="Quattrocento Sans"/>
              <a:defRPr sz="1800">
                <a:latin typeface="Quattrocento Sans"/>
                <a:ea typeface="Quattrocento Sans"/>
                <a:cs typeface="Quattrocento Sans"/>
                <a:sym typeface="Quattrocento Sans"/>
              </a:defRPr>
            </a:lvl5pPr>
            <a:lvl6pPr rtl="0">
              <a:spcBef>
                <a:spcPts val="360"/>
              </a:spcBef>
              <a:buClr>
                <a:srgbClr val="FFCD00"/>
              </a:buClr>
              <a:buSzPct val="100000"/>
              <a:buFont typeface="Quattrocento Sans"/>
              <a:defRPr sz="1800">
                <a:latin typeface="Quattrocento Sans"/>
                <a:ea typeface="Quattrocento Sans"/>
                <a:cs typeface="Quattrocento Sans"/>
                <a:sym typeface="Quattrocento Sans"/>
              </a:defRPr>
            </a:lvl6pPr>
            <a:lvl7pPr rtl="0">
              <a:spcBef>
                <a:spcPts val="360"/>
              </a:spcBef>
              <a:buClr>
                <a:srgbClr val="FFCD00"/>
              </a:buClr>
              <a:buSzPct val="100000"/>
              <a:buFont typeface="Quattrocento Sans"/>
              <a:defRPr sz="1800">
                <a:latin typeface="Quattrocento Sans"/>
                <a:ea typeface="Quattrocento Sans"/>
                <a:cs typeface="Quattrocento Sans"/>
                <a:sym typeface="Quattrocento Sans"/>
              </a:defRPr>
            </a:lvl7pPr>
            <a:lvl8pPr rtl="0">
              <a:spcBef>
                <a:spcPts val="360"/>
              </a:spcBef>
              <a:buClr>
                <a:srgbClr val="FFCD00"/>
              </a:buClr>
              <a:buSzPct val="100000"/>
              <a:buFont typeface="Quattrocento Sans"/>
              <a:defRPr sz="1800">
                <a:latin typeface="Quattrocento Sans"/>
                <a:ea typeface="Quattrocento Sans"/>
                <a:cs typeface="Quattrocento Sans"/>
                <a:sym typeface="Quattrocento Sans"/>
              </a:defRPr>
            </a:lvl8pPr>
            <a:lvl9pPr rtl="0">
              <a:spcBef>
                <a:spcPts val="360"/>
              </a:spcBef>
              <a:buClr>
                <a:srgbClr val="FFCD00"/>
              </a:buClr>
              <a:buSzPct val="100000"/>
              <a:buFont typeface="Quattrocento Sans"/>
              <a:defRPr sz="1800">
                <a:latin typeface="Quattrocento Sans"/>
                <a:ea typeface="Quattrocento Sans"/>
                <a:cs typeface="Quattrocento Sans"/>
                <a:sym typeface="Quattrocento Sans"/>
              </a:defRPr>
            </a:lvl9pPr>
          </a:lstStyle>
          <a:p>
            <a:endParaRPr/>
          </a:p>
        </p:txBody>
      </p:sp>
      <p:cxnSp>
        <p:nvCxnSpPr>
          <p:cNvPr id="27" name="Shape 27"/>
          <p:cNvCxnSpPr/>
          <p:nvPr/>
        </p:nvCxnSpPr>
        <p:spPr>
          <a:xfrm>
            <a:off x="5265650" y="1131725"/>
            <a:ext cx="3878399" cy="0"/>
          </a:xfrm>
          <a:prstGeom prst="straightConnector1">
            <a:avLst/>
          </a:prstGeom>
          <a:noFill/>
          <a:ln w="9525" cap="flat" cmpd="sng">
            <a:solidFill>
              <a:srgbClr val="CCCCCC"/>
            </a:solidFill>
            <a:prstDash val="solid"/>
            <a:round/>
            <a:headEnd type="none" w="lg" len="lg"/>
            <a:tailEnd type="none" w="lg" len="lg"/>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Completely blank">
    <p:spTree>
      <p:nvGrpSpPr>
        <p:cNvPr id="1" name="Shape 55"/>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Subtitle">
    <p:spTree>
      <p:nvGrpSpPr>
        <p:cNvPr id="1" name="Shape 11"/>
        <p:cNvGrpSpPr/>
        <p:nvPr/>
      </p:nvGrpSpPr>
      <p:grpSpPr>
        <a:xfrm>
          <a:off x="0" y="0"/>
          <a:ext cx="0" cy="0"/>
          <a:chOff x="0" y="0"/>
          <a:chExt cx="0" cy="0"/>
        </a:xfrm>
      </p:grpSpPr>
      <p:sp>
        <p:nvSpPr>
          <p:cNvPr id="12" name="Shape 12"/>
          <p:cNvSpPr txBox="1">
            <a:spLocks noGrp="1"/>
          </p:cNvSpPr>
          <p:nvPr>
            <p:ph type="subTitle" idx="1"/>
          </p:nvPr>
        </p:nvSpPr>
        <p:spPr>
          <a:xfrm>
            <a:off x="2022300" y="2815923"/>
            <a:ext cx="5591400" cy="784799"/>
          </a:xfrm>
          <a:prstGeom prst="rect">
            <a:avLst/>
          </a:prstGeom>
        </p:spPr>
        <p:txBody>
          <a:bodyPr lIns="91425" tIns="91425" rIns="91425" bIns="91425" anchor="t" anchorCtr="0"/>
          <a:lstStyle>
            <a:lvl1pPr rtl="0">
              <a:spcBef>
                <a:spcPts val="0"/>
              </a:spcBef>
              <a:buClr>
                <a:srgbClr val="000000"/>
              </a:buClr>
              <a:buSzPct val="100000"/>
              <a:buNone/>
              <a:defRPr sz="1400">
                <a:highlight>
                  <a:srgbClr val="FFCD00"/>
                </a:highlight>
              </a:defRPr>
            </a:lvl1pPr>
            <a:lvl2pPr rtl="0">
              <a:spcBef>
                <a:spcPts val="0"/>
              </a:spcBef>
              <a:buClr>
                <a:schemeClr val="dk2"/>
              </a:buClr>
              <a:buSzPct val="100000"/>
              <a:buNone/>
              <a:defRPr sz="1400">
                <a:solidFill>
                  <a:schemeClr val="dk2"/>
                </a:solidFill>
                <a:highlight>
                  <a:srgbClr val="FFCD00"/>
                </a:highlight>
              </a:defRPr>
            </a:lvl2pPr>
            <a:lvl3pPr rtl="0">
              <a:spcBef>
                <a:spcPts val="0"/>
              </a:spcBef>
              <a:buClr>
                <a:schemeClr val="dk2"/>
              </a:buClr>
              <a:buSzPct val="100000"/>
              <a:buNone/>
              <a:defRPr sz="1400">
                <a:solidFill>
                  <a:schemeClr val="dk2"/>
                </a:solidFill>
                <a:highlight>
                  <a:srgbClr val="FFCD00"/>
                </a:highlight>
              </a:defRPr>
            </a:lvl3pPr>
            <a:lvl4pPr rtl="0">
              <a:spcBef>
                <a:spcPts val="0"/>
              </a:spcBef>
              <a:buClr>
                <a:schemeClr val="dk2"/>
              </a:buClr>
              <a:buSzPct val="100000"/>
              <a:buNone/>
              <a:defRPr sz="1400">
                <a:solidFill>
                  <a:schemeClr val="dk2"/>
                </a:solidFill>
                <a:highlight>
                  <a:srgbClr val="FFCD00"/>
                </a:highlight>
              </a:defRPr>
            </a:lvl4pPr>
            <a:lvl5pPr rtl="0">
              <a:spcBef>
                <a:spcPts val="0"/>
              </a:spcBef>
              <a:buClr>
                <a:schemeClr val="dk2"/>
              </a:buClr>
              <a:buSzPct val="100000"/>
              <a:buNone/>
              <a:defRPr sz="1400">
                <a:solidFill>
                  <a:schemeClr val="dk2"/>
                </a:solidFill>
                <a:highlight>
                  <a:srgbClr val="FFCD00"/>
                </a:highlight>
              </a:defRPr>
            </a:lvl5pPr>
            <a:lvl6pPr rtl="0">
              <a:spcBef>
                <a:spcPts val="0"/>
              </a:spcBef>
              <a:buClr>
                <a:schemeClr val="dk2"/>
              </a:buClr>
              <a:buSzPct val="100000"/>
              <a:buNone/>
              <a:defRPr sz="1400">
                <a:solidFill>
                  <a:schemeClr val="dk2"/>
                </a:solidFill>
                <a:highlight>
                  <a:srgbClr val="FFCD00"/>
                </a:highlight>
              </a:defRPr>
            </a:lvl6pPr>
            <a:lvl7pPr rtl="0">
              <a:spcBef>
                <a:spcPts val="0"/>
              </a:spcBef>
              <a:buClr>
                <a:schemeClr val="dk2"/>
              </a:buClr>
              <a:buSzPct val="100000"/>
              <a:buNone/>
              <a:defRPr sz="1400">
                <a:solidFill>
                  <a:schemeClr val="dk2"/>
                </a:solidFill>
                <a:highlight>
                  <a:srgbClr val="FFCD00"/>
                </a:highlight>
              </a:defRPr>
            </a:lvl7pPr>
            <a:lvl8pPr rtl="0">
              <a:spcBef>
                <a:spcPts val="0"/>
              </a:spcBef>
              <a:buClr>
                <a:schemeClr val="dk2"/>
              </a:buClr>
              <a:buSzPct val="100000"/>
              <a:buNone/>
              <a:defRPr sz="1400">
                <a:solidFill>
                  <a:schemeClr val="dk2"/>
                </a:solidFill>
                <a:highlight>
                  <a:srgbClr val="FFCD00"/>
                </a:highlight>
              </a:defRPr>
            </a:lvl8pPr>
            <a:lvl9pPr rtl="0">
              <a:spcBef>
                <a:spcPts val="0"/>
              </a:spcBef>
              <a:buClr>
                <a:schemeClr val="dk2"/>
              </a:buClr>
              <a:buSzPct val="100000"/>
              <a:buNone/>
              <a:defRPr sz="1400">
                <a:solidFill>
                  <a:schemeClr val="dk2"/>
                </a:solidFill>
                <a:highlight>
                  <a:srgbClr val="FFCD00"/>
                </a:highlight>
              </a:defRPr>
            </a:lvl9pPr>
          </a:lstStyle>
          <a:p>
            <a:endParaRPr/>
          </a:p>
        </p:txBody>
      </p:sp>
      <p:cxnSp>
        <p:nvCxnSpPr>
          <p:cNvPr id="13" name="Shape 13"/>
          <p:cNvCxnSpPr/>
          <p:nvPr/>
        </p:nvCxnSpPr>
        <p:spPr>
          <a:xfrm>
            <a:off x="-6025" y="2571761"/>
            <a:ext cx="1984499" cy="0"/>
          </a:xfrm>
          <a:prstGeom prst="straightConnector1">
            <a:avLst/>
          </a:prstGeom>
          <a:noFill/>
          <a:ln w="9525" cap="flat" cmpd="sng">
            <a:solidFill>
              <a:srgbClr val="CCCCCC"/>
            </a:solidFill>
            <a:prstDash val="solid"/>
            <a:round/>
            <a:headEnd type="none" w="lg" len="lg"/>
            <a:tailEnd type="none" w="lg" len="lg"/>
          </a:ln>
        </p:spPr>
      </p:cxnSp>
      <p:sp>
        <p:nvSpPr>
          <p:cNvPr id="14" name="Shape 14"/>
          <p:cNvSpPr/>
          <p:nvPr/>
        </p:nvSpPr>
        <p:spPr>
          <a:xfrm>
            <a:off x="1117950" y="2288250"/>
            <a:ext cx="566999" cy="566999"/>
          </a:xfrm>
          <a:prstGeom prst="ellipse">
            <a:avLst/>
          </a:prstGeom>
          <a:solidFill>
            <a:srgbClr val="007DD6"/>
          </a:solidFill>
          <a:ln>
            <a:noFill/>
          </a:ln>
        </p:spPr>
        <p:txBody>
          <a:bodyPr lIns="91425" tIns="91425" rIns="91425" bIns="91425" anchor="ctr" anchorCtr="0">
            <a:noAutofit/>
          </a:bodyPr>
          <a:lstStyle/>
          <a:p>
            <a:pPr lvl="0" rtl="0">
              <a:spcBef>
                <a:spcPts val="0"/>
              </a:spcBef>
              <a:buNone/>
            </a:pPr>
            <a:endParaRPr/>
          </a:p>
        </p:txBody>
      </p:sp>
      <p:sp>
        <p:nvSpPr>
          <p:cNvPr id="15" name="Shape 15"/>
          <p:cNvSpPr txBox="1">
            <a:spLocks noGrp="1"/>
          </p:cNvSpPr>
          <p:nvPr>
            <p:ph type="ctrTitle"/>
          </p:nvPr>
        </p:nvSpPr>
        <p:spPr>
          <a:xfrm>
            <a:off x="2022225" y="1693523"/>
            <a:ext cx="3787799" cy="1159799"/>
          </a:xfrm>
          <a:prstGeom prst="rect">
            <a:avLst/>
          </a:prstGeom>
        </p:spPr>
        <p:txBody>
          <a:bodyPr lIns="91425" tIns="91425" rIns="91425" bIns="91425" anchor="b" anchorCtr="0"/>
          <a:lstStyle>
            <a:lvl1pPr rtl="0">
              <a:spcBef>
                <a:spcPts val="0"/>
              </a:spcBef>
              <a:buSzPct val="100000"/>
              <a:defRPr sz="3000"/>
            </a:lvl1pPr>
            <a:lvl2pPr rtl="0">
              <a:spcBef>
                <a:spcPts val="0"/>
              </a:spcBef>
              <a:buSzPct val="100000"/>
              <a:defRPr sz="3000"/>
            </a:lvl2pPr>
            <a:lvl3pPr rtl="0">
              <a:spcBef>
                <a:spcPts val="0"/>
              </a:spcBef>
              <a:buSzPct val="100000"/>
              <a:defRPr sz="3000"/>
            </a:lvl3pPr>
            <a:lvl4pPr rtl="0">
              <a:spcBef>
                <a:spcPts val="0"/>
              </a:spcBef>
              <a:buSzPct val="100000"/>
              <a:defRPr sz="3000"/>
            </a:lvl4pPr>
            <a:lvl5pPr rtl="0">
              <a:spcBef>
                <a:spcPts val="0"/>
              </a:spcBef>
              <a:buSzPct val="100000"/>
              <a:defRPr sz="3000"/>
            </a:lvl5pPr>
            <a:lvl6pPr rtl="0">
              <a:spcBef>
                <a:spcPts val="0"/>
              </a:spcBef>
              <a:buSzPct val="100000"/>
              <a:defRPr sz="3000"/>
            </a:lvl6pPr>
            <a:lvl7pPr rtl="0">
              <a:spcBef>
                <a:spcPts val="0"/>
              </a:spcBef>
              <a:buSzPct val="100000"/>
              <a:defRPr sz="3000"/>
            </a:lvl7pPr>
            <a:lvl8pPr rtl="0">
              <a:spcBef>
                <a:spcPts val="0"/>
              </a:spcBef>
              <a:buSzPct val="100000"/>
              <a:defRPr sz="3000"/>
            </a:lvl8pPr>
            <a:lvl9pPr rtl="0">
              <a:spcBef>
                <a:spcPts val="0"/>
              </a:spcBef>
              <a:buSzPct val="100000"/>
              <a:defRPr sz="3000"/>
            </a:lvl9pPr>
          </a:lstStyle>
          <a:p>
            <a:endParaRPr/>
          </a:p>
        </p:txBody>
      </p:sp>
      <p:cxnSp>
        <p:nvCxnSpPr>
          <p:cNvPr id="16" name="Shape 16"/>
          <p:cNvCxnSpPr/>
          <p:nvPr/>
        </p:nvCxnSpPr>
        <p:spPr>
          <a:xfrm>
            <a:off x="5898975" y="2571750"/>
            <a:ext cx="3251099" cy="0"/>
          </a:xfrm>
          <a:prstGeom prst="straightConnector1">
            <a:avLst/>
          </a:prstGeom>
          <a:noFill/>
          <a:ln w="9525" cap="flat" cmpd="sng">
            <a:solidFill>
              <a:srgbClr val="CCCCCC"/>
            </a:solidFill>
            <a:prstDash val="solid"/>
            <a:round/>
            <a:headEnd type="none" w="lg" len="lg"/>
            <a:tailEnd type="none" w="lg" len="lg"/>
          </a:ln>
        </p:spPr>
      </p:cxnSp>
    </p:spTree>
    <p:extLst>
      <p:ext uri="{BB962C8B-B14F-4D97-AF65-F5344CB8AC3E}">
        <p14:creationId xmlns:p14="http://schemas.microsoft.com/office/powerpoint/2010/main" val="19214122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cSld name="Title">
    <p:spTree>
      <p:nvGrpSpPr>
        <p:cNvPr id="1" name="Shape 7"/>
        <p:cNvGrpSpPr/>
        <p:nvPr/>
      </p:nvGrpSpPr>
      <p:grpSpPr>
        <a:xfrm>
          <a:off x="0" y="0"/>
          <a:ext cx="0" cy="0"/>
          <a:chOff x="0" y="0"/>
          <a:chExt cx="0" cy="0"/>
        </a:xfrm>
      </p:grpSpPr>
      <p:sp>
        <p:nvSpPr>
          <p:cNvPr id="8" name="Shape 8"/>
          <p:cNvSpPr txBox="1">
            <a:spLocks noGrp="1"/>
          </p:cNvSpPr>
          <p:nvPr>
            <p:ph type="ctrTitle"/>
          </p:nvPr>
        </p:nvSpPr>
        <p:spPr>
          <a:xfrm>
            <a:off x="996630" y="2003888"/>
            <a:ext cx="4523699" cy="1159799"/>
          </a:xfrm>
          <a:prstGeom prst="rect">
            <a:avLst/>
          </a:prstGeom>
        </p:spPr>
        <p:txBody>
          <a:bodyPr lIns="91425" tIns="91425" rIns="91425" bIns="91425" anchor="b" anchorCtr="0"/>
          <a:lstStyle>
            <a:lvl1pPr>
              <a:spcBef>
                <a:spcPts val="0"/>
              </a:spcBef>
              <a:buSzPct val="100000"/>
              <a:defRPr sz="3600"/>
            </a:lvl1pPr>
            <a:lvl2pPr>
              <a:spcBef>
                <a:spcPts val="0"/>
              </a:spcBef>
              <a:buSzPct val="100000"/>
              <a:defRPr sz="3600"/>
            </a:lvl2pPr>
            <a:lvl3pPr>
              <a:spcBef>
                <a:spcPts val="0"/>
              </a:spcBef>
              <a:buSzPct val="100000"/>
              <a:defRPr sz="3600"/>
            </a:lvl3pPr>
            <a:lvl4pPr>
              <a:spcBef>
                <a:spcPts val="0"/>
              </a:spcBef>
              <a:buSzPct val="100000"/>
              <a:defRPr sz="3600"/>
            </a:lvl4pPr>
            <a:lvl5pPr>
              <a:spcBef>
                <a:spcPts val="0"/>
              </a:spcBef>
              <a:buSzPct val="100000"/>
              <a:defRPr sz="3600"/>
            </a:lvl5pPr>
            <a:lvl6pPr>
              <a:spcBef>
                <a:spcPts val="0"/>
              </a:spcBef>
              <a:buSzPct val="100000"/>
              <a:defRPr sz="3600"/>
            </a:lvl6pPr>
            <a:lvl7pPr>
              <a:spcBef>
                <a:spcPts val="0"/>
              </a:spcBef>
              <a:buSzPct val="100000"/>
              <a:defRPr sz="3600"/>
            </a:lvl7pPr>
            <a:lvl8pPr>
              <a:spcBef>
                <a:spcPts val="0"/>
              </a:spcBef>
              <a:buSzPct val="100000"/>
              <a:defRPr sz="3600"/>
            </a:lvl8pPr>
            <a:lvl9pPr>
              <a:spcBef>
                <a:spcPts val="0"/>
              </a:spcBef>
              <a:buSzPct val="100000"/>
              <a:defRPr sz="3600"/>
            </a:lvl9pPr>
          </a:lstStyle>
          <a:p>
            <a:endParaRPr/>
          </a:p>
        </p:txBody>
      </p:sp>
      <p:cxnSp>
        <p:nvCxnSpPr>
          <p:cNvPr id="9" name="Shape 9"/>
          <p:cNvCxnSpPr/>
          <p:nvPr/>
        </p:nvCxnSpPr>
        <p:spPr>
          <a:xfrm>
            <a:off x="-6025" y="3676511"/>
            <a:ext cx="9161999" cy="0"/>
          </a:xfrm>
          <a:prstGeom prst="straightConnector1">
            <a:avLst/>
          </a:prstGeom>
          <a:noFill/>
          <a:ln w="9525" cap="flat" cmpd="sng">
            <a:solidFill>
              <a:srgbClr val="000000"/>
            </a:solidFill>
            <a:prstDash val="solid"/>
            <a:round/>
            <a:headEnd type="none" w="lg" len="lg"/>
            <a:tailEnd type="none" w="lg" len="lg"/>
          </a:ln>
        </p:spPr>
      </p:cxnSp>
      <p:sp>
        <p:nvSpPr>
          <p:cNvPr id="10" name="Shape 10"/>
          <p:cNvSpPr/>
          <p:nvPr/>
        </p:nvSpPr>
        <p:spPr>
          <a:xfrm>
            <a:off x="1117950" y="3393000"/>
            <a:ext cx="566999" cy="566999"/>
          </a:xfrm>
          <a:prstGeom prst="ellipse">
            <a:avLst/>
          </a:prstGeom>
          <a:solidFill>
            <a:srgbClr val="007DD6"/>
          </a:solidFill>
          <a:ln>
            <a:noFill/>
          </a:ln>
        </p:spPr>
        <p:txBody>
          <a:bodyPr lIns="91425" tIns="91425" rIns="91425" bIns="91425" anchor="ctr" anchorCtr="0">
            <a:noAutofit/>
          </a:bodyPr>
          <a:lstStyle/>
          <a:p>
            <a:pPr>
              <a:spcBef>
                <a:spcPts val="0"/>
              </a:spcBef>
              <a:buNone/>
            </a:pPr>
            <a:endParaRPr/>
          </a:p>
        </p:txBody>
      </p:sp>
    </p:spTree>
    <p:extLst>
      <p:ext uri="{BB962C8B-B14F-4D97-AF65-F5344CB8AC3E}">
        <p14:creationId xmlns:p14="http://schemas.microsoft.com/office/powerpoint/2010/main" val="19301958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hueOff val="0"/>
            <a:satOff val="0"/>
            <a:lumOff val="0"/>
          </a:schemeClr>
        </a:solidFill>
        <a:effectLst/>
      </p:bgPr>
    </p:bg>
    <p:spTree>
      <p:nvGrpSpPr>
        <p:cNvPr id="1" name="Shape 4"/>
        <p:cNvGrpSpPr/>
        <p:nvPr/>
      </p:nvGrpSpPr>
      <p:grpSpPr>
        <a:xfrm>
          <a:off x="0" y="0"/>
          <a:ext cx="0" cy="0"/>
          <a:chOff x="0" y="0"/>
          <a:chExt cx="0" cy="0"/>
        </a:xfrm>
      </p:grpSpPr>
      <p:sp>
        <p:nvSpPr>
          <p:cNvPr id="5" name="Shape 5"/>
          <p:cNvSpPr txBox="1">
            <a:spLocks noGrp="1"/>
          </p:cNvSpPr>
          <p:nvPr>
            <p:ph type="body" idx="1"/>
          </p:nvPr>
        </p:nvSpPr>
        <p:spPr>
          <a:xfrm>
            <a:off x="1381250" y="1616470"/>
            <a:ext cx="6809700" cy="3112200"/>
          </a:xfrm>
          <a:prstGeom prst="rect">
            <a:avLst/>
          </a:prstGeom>
          <a:noFill/>
          <a:ln>
            <a:noFill/>
          </a:ln>
        </p:spPr>
        <p:txBody>
          <a:bodyPr lIns="91425" tIns="91425" rIns="91425" bIns="91425" anchor="t" anchorCtr="0"/>
          <a:lstStyle>
            <a:lvl1pPr>
              <a:spcBef>
                <a:spcPts val="600"/>
              </a:spcBef>
              <a:buClr>
                <a:srgbClr val="FFCD00"/>
              </a:buClr>
              <a:buSzPct val="100000"/>
              <a:buFont typeface="Quattrocento Sans"/>
              <a:buChar char="◉"/>
              <a:defRPr sz="2400">
                <a:latin typeface="Quattrocento Sans"/>
                <a:ea typeface="Quattrocento Sans"/>
                <a:cs typeface="Quattrocento Sans"/>
                <a:sym typeface="Quattrocento Sans"/>
              </a:defRPr>
            </a:lvl1pPr>
            <a:lvl2pPr>
              <a:spcBef>
                <a:spcPts val="480"/>
              </a:spcBef>
              <a:buClr>
                <a:srgbClr val="FFCD00"/>
              </a:buClr>
              <a:buSzPct val="100000"/>
              <a:buFont typeface="Quattrocento Sans"/>
              <a:defRPr sz="2000">
                <a:latin typeface="Quattrocento Sans"/>
                <a:ea typeface="Quattrocento Sans"/>
                <a:cs typeface="Quattrocento Sans"/>
                <a:sym typeface="Quattrocento Sans"/>
              </a:defRPr>
            </a:lvl2pPr>
            <a:lvl3pPr>
              <a:spcBef>
                <a:spcPts val="480"/>
              </a:spcBef>
              <a:buClr>
                <a:srgbClr val="FFCD00"/>
              </a:buClr>
              <a:buSzPct val="100000"/>
              <a:buFont typeface="Quattrocento Sans"/>
              <a:defRPr sz="2000">
                <a:latin typeface="Quattrocento Sans"/>
                <a:ea typeface="Quattrocento Sans"/>
                <a:cs typeface="Quattrocento Sans"/>
                <a:sym typeface="Quattrocento Sans"/>
              </a:defRPr>
            </a:lvl3pPr>
            <a:lvl4pPr>
              <a:spcBef>
                <a:spcPts val="360"/>
              </a:spcBef>
              <a:buClr>
                <a:srgbClr val="FFCD00"/>
              </a:buClr>
              <a:buSzPct val="100000"/>
              <a:buFont typeface="Quattrocento Sans"/>
              <a:defRPr sz="1800">
                <a:latin typeface="Quattrocento Sans"/>
                <a:ea typeface="Quattrocento Sans"/>
                <a:cs typeface="Quattrocento Sans"/>
                <a:sym typeface="Quattrocento Sans"/>
              </a:defRPr>
            </a:lvl4pPr>
            <a:lvl5pPr>
              <a:spcBef>
                <a:spcPts val="360"/>
              </a:spcBef>
              <a:buClr>
                <a:srgbClr val="FFCD00"/>
              </a:buClr>
              <a:buSzPct val="100000"/>
              <a:buFont typeface="Quattrocento Sans"/>
              <a:defRPr sz="1800">
                <a:latin typeface="Quattrocento Sans"/>
                <a:ea typeface="Quattrocento Sans"/>
                <a:cs typeface="Quattrocento Sans"/>
                <a:sym typeface="Quattrocento Sans"/>
              </a:defRPr>
            </a:lvl5pPr>
            <a:lvl6pPr>
              <a:spcBef>
                <a:spcPts val="360"/>
              </a:spcBef>
              <a:buClr>
                <a:srgbClr val="FFCD00"/>
              </a:buClr>
              <a:buSzPct val="100000"/>
              <a:buFont typeface="Quattrocento Sans"/>
              <a:defRPr sz="1800">
                <a:latin typeface="Quattrocento Sans"/>
                <a:ea typeface="Quattrocento Sans"/>
                <a:cs typeface="Quattrocento Sans"/>
                <a:sym typeface="Quattrocento Sans"/>
              </a:defRPr>
            </a:lvl6pPr>
            <a:lvl7pPr>
              <a:spcBef>
                <a:spcPts val="360"/>
              </a:spcBef>
              <a:buClr>
                <a:srgbClr val="FFCD00"/>
              </a:buClr>
              <a:buSzPct val="100000"/>
              <a:buFont typeface="Quattrocento Sans"/>
              <a:defRPr sz="1800">
                <a:latin typeface="Quattrocento Sans"/>
                <a:ea typeface="Quattrocento Sans"/>
                <a:cs typeface="Quattrocento Sans"/>
                <a:sym typeface="Quattrocento Sans"/>
              </a:defRPr>
            </a:lvl7pPr>
            <a:lvl8pPr>
              <a:spcBef>
                <a:spcPts val="360"/>
              </a:spcBef>
              <a:buClr>
                <a:srgbClr val="FFCD00"/>
              </a:buClr>
              <a:buSzPct val="100000"/>
              <a:buFont typeface="Quattrocento Sans"/>
              <a:defRPr sz="1800">
                <a:latin typeface="Quattrocento Sans"/>
                <a:ea typeface="Quattrocento Sans"/>
                <a:cs typeface="Quattrocento Sans"/>
                <a:sym typeface="Quattrocento Sans"/>
              </a:defRPr>
            </a:lvl8pPr>
            <a:lvl9pPr>
              <a:spcBef>
                <a:spcPts val="360"/>
              </a:spcBef>
              <a:buClr>
                <a:srgbClr val="FFCD00"/>
              </a:buClr>
              <a:buSzPct val="100000"/>
              <a:buFont typeface="Quattrocento Sans"/>
              <a:defRPr sz="1800">
                <a:latin typeface="Quattrocento Sans"/>
                <a:ea typeface="Quattrocento Sans"/>
                <a:cs typeface="Quattrocento Sans"/>
                <a:sym typeface="Quattrocento Sans"/>
              </a:defRPr>
            </a:lvl9pPr>
          </a:lstStyle>
          <a:p>
            <a:endParaRPr/>
          </a:p>
        </p:txBody>
      </p:sp>
      <p:sp>
        <p:nvSpPr>
          <p:cNvPr id="6" name="Shape 6"/>
          <p:cNvSpPr txBox="1">
            <a:spLocks noGrp="1"/>
          </p:cNvSpPr>
          <p:nvPr>
            <p:ph type="title"/>
          </p:nvPr>
        </p:nvSpPr>
        <p:spPr>
          <a:xfrm>
            <a:off x="1381250" y="937116"/>
            <a:ext cx="6809700" cy="435599"/>
          </a:xfrm>
          <a:prstGeom prst="rect">
            <a:avLst/>
          </a:prstGeom>
          <a:noFill/>
          <a:ln>
            <a:noFill/>
          </a:ln>
        </p:spPr>
        <p:txBody>
          <a:bodyPr lIns="91425" tIns="91425" rIns="91425" bIns="91425" anchor="ctr" anchorCtr="0"/>
          <a:lstStyle>
            <a:lvl1pPr>
              <a:spcBef>
                <a:spcPts val="0"/>
              </a:spcBef>
              <a:buSzPct val="100000"/>
              <a:buFont typeface="Lora"/>
              <a:buNone/>
              <a:defRPr sz="2000" b="1">
                <a:latin typeface="Lora"/>
                <a:ea typeface="Lora"/>
                <a:cs typeface="Lora"/>
                <a:sym typeface="Lora"/>
              </a:defRPr>
            </a:lvl1pPr>
            <a:lvl2pPr>
              <a:spcBef>
                <a:spcPts val="0"/>
              </a:spcBef>
              <a:buSzPct val="100000"/>
              <a:buFont typeface="Lora"/>
              <a:buNone/>
              <a:defRPr sz="2000" b="1">
                <a:latin typeface="Lora"/>
                <a:ea typeface="Lora"/>
                <a:cs typeface="Lora"/>
                <a:sym typeface="Lora"/>
              </a:defRPr>
            </a:lvl2pPr>
            <a:lvl3pPr>
              <a:spcBef>
                <a:spcPts val="0"/>
              </a:spcBef>
              <a:buSzPct val="100000"/>
              <a:buFont typeface="Lora"/>
              <a:buNone/>
              <a:defRPr sz="2000" b="1">
                <a:latin typeface="Lora"/>
                <a:ea typeface="Lora"/>
                <a:cs typeface="Lora"/>
                <a:sym typeface="Lora"/>
              </a:defRPr>
            </a:lvl3pPr>
            <a:lvl4pPr>
              <a:spcBef>
                <a:spcPts val="0"/>
              </a:spcBef>
              <a:buSzPct val="100000"/>
              <a:buFont typeface="Lora"/>
              <a:buNone/>
              <a:defRPr sz="2000" b="1">
                <a:latin typeface="Lora"/>
                <a:ea typeface="Lora"/>
                <a:cs typeface="Lora"/>
                <a:sym typeface="Lora"/>
              </a:defRPr>
            </a:lvl4pPr>
            <a:lvl5pPr>
              <a:spcBef>
                <a:spcPts val="0"/>
              </a:spcBef>
              <a:buSzPct val="100000"/>
              <a:buFont typeface="Lora"/>
              <a:buNone/>
              <a:defRPr sz="2000" b="1">
                <a:latin typeface="Lora"/>
                <a:ea typeface="Lora"/>
                <a:cs typeface="Lora"/>
                <a:sym typeface="Lora"/>
              </a:defRPr>
            </a:lvl5pPr>
            <a:lvl6pPr>
              <a:spcBef>
                <a:spcPts val="0"/>
              </a:spcBef>
              <a:buSzPct val="100000"/>
              <a:buFont typeface="Lora"/>
              <a:buNone/>
              <a:defRPr sz="2000" b="1">
                <a:latin typeface="Lora"/>
                <a:ea typeface="Lora"/>
                <a:cs typeface="Lora"/>
                <a:sym typeface="Lora"/>
              </a:defRPr>
            </a:lvl6pPr>
            <a:lvl7pPr>
              <a:spcBef>
                <a:spcPts val="0"/>
              </a:spcBef>
              <a:buSzPct val="100000"/>
              <a:buFont typeface="Lora"/>
              <a:buNone/>
              <a:defRPr sz="2000" b="1">
                <a:latin typeface="Lora"/>
                <a:ea typeface="Lora"/>
                <a:cs typeface="Lora"/>
                <a:sym typeface="Lora"/>
              </a:defRPr>
            </a:lvl7pPr>
            <a:lvl8pPr>
              <a:spcBef>
                <a:spcPts val="0"/>
              </a:spcBef>
              <a:buSzPct val="100000"/>
              <a:buFont typeface="Lora"/>
              <a:buNone/>
              <a:defRPr sz="2000" b="1">
                <a:latin typeface="Lora"/>
                <a:ea typeface="Lora"/>
                <a:cs typeface="Lora"/>
                <a:sym typeface="Lora"/>
              </a:defRPr>
            </a:lvl8pPr>
            <a:lvl9pPr>
              <a:spcBef>
                <a:spcPts val="0"/>
              </a:spcBef>
              <a:buSzPct val="100000"/>
              <a:buFont typeface="Lora"/>
              <a:buNone/>
              <a:defRPr sz="2000" b="1">
                <a:latin typeface="Lora"/>
                <a:ea typeface="Lora"/>
                <a:cs typeface="Lora"/>
                <a:sym typeface="Lora"/>
              </a:defRPr>
            </a:lvl9pPr>
          </a:lstStyle>
          <a:p>
            <a:endParaRPr/>
          </a:p>
        </p:txBody>
      </p:sp>
    </p:spTree>
  </p:cSld>
  <p:clrMap bg1="lt1" tx1="dk1" bg2="dk2" tx2="lt2" accent1="accent1" accent2="accent2" accent3="accent3" accent4="accent4" accent5="accent5" accent6="accent6" hlink="hlink" folHlink="folHlink"/>
  <p:sldLayoutIdLst>
    <p:sldLayoutId id="2147483651" r:id="rId1"/>
    <p:sldLayoutId id="2147483657" r:id="rId2"/>
    <p:sldLayoutId id="2147483659" r:id="rId3"/>
    <p:sldLayoutId id="2147483661" r:id="rId4"/>
  </p:sldLayoutIdLst>
  <p:hf hdr="0" ftr="0" dt="0"/>
  <p:txStyles>
    <p:title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p:titleStyle>
    <p:body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p:bodyStyle>
    <p:other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4.xml"/><Relationship Id="rId5" Type="http://schemas.microsoft.com/office/2007/relationships/hdphoto" Target="../media/hdphoto1.wdp"/><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2.jp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sp>
        <p:nvSpPr>
          <p:cNvPr id="57" name="Shape 57"/>
          <p:cNvSpPr txBox="1">
            <a:spLocks noGrp="1"/>
          </p:cNvSpPr>
          <p:nvPr>
            <p:ph type="ctrTitle"/>
          </p:nvPr>
        </p:nvSpPr>
        <p:spPr>
          <a:xfrm>
            <a:off x="1021386" y="1945098"/>
            <a:ext cx="7358701" cy="1015663"/>
          </a:xfrm>
          <a:prstGeom prst="rect">
            <a:avLst/>
          </a:prstGeom>
        </p:spPr>
        <p:txBody>
          <a:bodyPr lIns="91425" tIns="91425" rIns="91425" bIns="91425" anchor="b" anchorCtr="0">
            <a:noAutofit/>
          </a:bodyPr>
          <a:lstStyle/>
          <a:p>
            <a:pPr algn="ctr">
              <a:spcBef>
                <a:spcPts val="0"/>
              </a:spcBef>
              <a:buNone/>
            </a:pPr>
            <a:r>
              <a:rPr lang="fr-FR" sz="2600" dirty="0"/>
              <a:t>Antibiotiques : rôle du laboratoire</a:t>
            </a:r>
            <a:endParaRPr lang="en" sz="2600" dirty="0"/>
          </a:p>
        </p:txBody>
      </p:sp>
      <p:sp>
        <p:nvSpPr>
          <p:cNvPr id="3" name="TextBox 2"/>
          <p:cNvSpPr txBox="1"/>
          <p:nvPr/>
        </p:nvSpPr>
        <p:spPr>
          <a:xfrm>
            <a:off x="1528234" y="165782"/>
            <a:ext cx="6345007" cy="830997"/>
          </a:xfrm>
          <a:prstGeom prst="rect">
            <a:avLst/>
          </a:prstGeom>
          <a:noFill/>
        </p:spPr>
        <p:txBody>
          <a:bodyPr wrap="none" rtlCol="0">
            <a:spAutoFit/>
          </a:bodyPr>
          <a:lstStyle/>
          <a:p>
            <a:pPr algn="ctr"/>
            <a:r>
              <a:rPr lang="fr-FR" sz="1200" dirty="0">
                <a:latin typeface="Lora" charset="0"/>
                <a:ea typeface="Lora" charset="0"/>
                <a:cs typeface="Lora" charset="0"/>
              </a:rPr>
              <a:t>RÉPUBLIQUE ALGÉRIENNE DÉMOCRATIQUE ET POPULAIRE</a:t>
            </a:r>
          </a:p>
          <a:p>
            <a:pPr algn="ctr"/>
            <a:r>
              <a:rPr lang="fr-FR" sz="1200" dirty="0">
                <a:latin typeface="Lora" charset="0"/>
                <a:ea typeface="Lora" charset="0"/>
                <a:cs typeface="Lora" charset="0"/>
              </a:rPr>
              <a:t>MINISTÈRE DE L’ENSEIGNEMENT SUPÉRIEUR ET DE LA RECHERCHE SCIENTIFIQUE</a:t>
            </a:r>
          </a:p>
          <a:p>
            <a:pPr algn="ctr"/>
            <a:r>
              <a:rPr lang="fr-FR" sz="1200" dirty="0">
                <a:latin typeface="Lora" charset="0"/>
                <a:ea typeface="Lora" charset="0"/>
                <a:cs typeface="Lora" charset="0"/>
              </a:rPr>
              <a:t>UNIVERSITÉ CONSTANTINE 3 – SALAH BOUBNIDER</a:t>
            </a:r>
          </a:p>
          <a:p>
            <a:pPr algn="ctr"/>
            <a:r>
              <a:rPr lang="fr-FR" sz="1200" dirty="0">
                <a:latin typeface="Lora" charset="0"/>
                <a:ea typeface="Lora" charset="0"/>
                <a:cs typeface="Lora" charset="0"/>
              </a:rPr>
              <a:t>DEPARTEMENT DE MEDECINE</a:t>
            </a:r>
          </a:p>
        </p:txBody>
      </p:sp>
      <p:sp>
        <p:nvSpPr>
          <p:cNvPr id="23" name="Shape 403"/>
          <p:cNvSpPr/>
          <p:nvPr/>
        </p:nvSpPr>
        <p:spPr>
          <a:xfrm>
            <a:off x="-6226" y="4707750"/>
            <a:ext cx="9150225" cy="435599"/>
          </a:xfrm>
          <a:prstGeom prst="rect">
            <a:avLst/>
          </a:prstGeom>
          <a:solidFill>
            <a:srgbClr val="007DD6"/>
          </a:solidFill>
          <a:ln>
            <a:noFill/>
          </a:ln>
        </p:spPr>
        <p:txBody>
          <a:bodyPr lIns="91425" tIns="91425" rIns="91425" bIns="91425" anchor="ctr" anchorCtr="0">
            <a:noAutofit/>
          </a:bodyPr>
          <a:lstStyle/>
          <a:p>
            <a:pPr>
              <a:spcBef>
                <a:spcPts val="0"/>
              </a:spcBef>
              <a:buNone/>
            </a:pPr>
            <a:endParaRPr dirty="0">
              <a:solidFill>
                <a:srgbClr val="FC6403"/>
              </a:solidFill>
            </a:endParaRPr>
          </a:p>
        </p:txBody>
      </p:sp>
      <p:sp>
        <p:nvSpPr>
          <p:cNvPr id="6" name="TextBox 5"/>
          <p:cNvSpPr txBox="1"/>
          <p:nvPr/>
        </p:nvSpPr>
        <p:spPr>
          <a:xfrm>
            <a:off x="3121620" y="4794744"/>
            <a:ext cx="2484976" cy="261610"/>
          </a:xfrm>
          <a:prstGeom prst="rect">
            <a:avLst/>
          </a:prstGeom>
          <a:noFill/>
        </p:spPr>
        <p:txBody>
          <a:bodyPr wrap="none" rtlCol="0">
            <a:spAutoFit/>
          </a:bodyPr>
          <a:lstStyle/>
          <a:p>
            <a:r>
              <a:rPr lang="fr-FR" sz="1100" dirty="0">
                <a:solidFill>
                  <a:schemeClr val="bg1"/>
                </a:solidFill>
                <a:latin typeface="Lora" charset="0"/>
                <a:ea typeface="Lora" charset="0"/>
                <a:cs typeface="Lora" charset="0"/>
              </a:rPr>
              <a:t>Date de présentation: 02/06/2025</a:t>
            </a:r>
          </a:p>
        </p:txBody>
      </p:sp>
      <p:pic>
        <p:nvPicPr>
          <p:cNvPr id="7" name="Image 6"/>
          <p:cNvPicPr>
            <a:picLocks noChangeAspect="1"/>
          </p:cNvPicPr>
          <p:nvPr/>
        </p:nvPicPr>
        <p:blipFill rotWithShape="1">
          <a:blip r:embed="rId3">
            <a:extLst>
              <a:ext uri="{28A0092B-C50C-407E-A947-70E740481C1C}">
                <a14:useLocalDpi xmlns:a14="http://schemas.microsoft.com/office/drawing/2010/main" val="0"/>
              </a:ext>
            </a:extLst>
          </a:blip>
          <a:srcRect l="8638" t="9652" r="14270" b="11069"/>
          <a:stretch/>
        </p:blipFill>
        <p:spPr>
          <a:xfrm>
            <a:off x="163232" y="255836"/>
            <a:ext cx="1255776" cy="1262951"/>
          </a:xfrm>
          <a:prstGeom prst="rect">
            <a:avLst/>
          </a:prstGeom>
        </p:spPr>
      </p:pic>
      <p:pic>
        <p:nvPicPr>
          <p:cNvPr id="10" name="Picture 7">
            <a:extLst>
              <a:ext uri="{FF2B5EF4-FFF2-40B4-BE49-F238E27FC236}">
                <a16:creationId xmlns:a16="http://schemas.microsoft.com/office/drawing/2014/main" id="{27235AF3-994F-4FED-A1F6-93E47D7520ED}"/>
              </a:ext>
            </a:extLst>
          </p:cNvPr>
          <p:cNvPicPr>
            <a:picLocks noChangeAspect="1"/>
          </p:cNvPicPr>
          <p:nvPr/>
        </p:nvPicPr>
        <p:blipFill rotWithShape="1">
          <a:blip r:embed="rId4">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rcRect l="6440" t="13579" r="8726" b="29533"/>
          <a:stretch/>
        </p:blipFill>
        <p:spPr>
          <a:xfrm>
            <a:off x="7498838" y="330635"/>
            <a:ext cx="1538084" cy="1031421"/>
          </a:xfrm>
          <a:prstGeom prst="rect">
            <a:avLst/>
          </a:prstGeom>
        </p:spPr>
      </p:pic>
      <p:sp>
        <p:nvSpPr>
          <p:cNvPr id="2" name="ZoneTexte 1">
            <a:extLst>
              <a:ext uri="{FF2B5EF4-FFF2-40B4-BE49-F238E27FC236}">
                <a16:creationId xmlns:a16="http://schemas.microsoft.com/office/drawing/2014/main" id="{4A860163-B24D-B0B5-2035-59DBA8A0D753}"/>
              </a:ext>
            </a:extLst>
          </p:cNvPr>
          <p:cNvSpPr txBox="1"/>
          <p:nvPr/>
        </p:nvSpPr>
        <p:spPr>
          <a:xfrm>
            <a:off x="1978476" y="4041833"/>
            <a:ext cx="6043019" cy="307777"/>
          </a:xfrm>
          <a:prstGeom prst="rect">
            <a:avLst/>
          </a:prstGeom>
          <a:noFill/>
        </p:spPr>
        <p:txBody>
          <a:bodyPr wrap="square" rtlCol="0">
            <a:spAutoFit/>
          </a:bodyPr>
          <a:lstStyle/>
          <a:p>
            <a:r>
              <a:rPr lang="fr-FR" b="1" dirty="0">
                <a:latin typeface="Lora" pitchFamily="2" charset="0"/>
              </a:rPr>
              <a:t>Dr </a:t>
            </a:r>
            <a:r>
              <a:rPr lang="fr-FR" b="1" dirty="0" err="1">
                <a:latin typeface="Lora" pitchFamily="2" charset="0"/>
              </a:rPr>
              <a:t>Kaoueche</a:t>
            </a:r>
            <a:r>
              <a:rPr lang="fr-FR" b="1" dirty="0">
                <a:latin typeface="Lora" pitchFamily="2" charset="0"/>
              </a:rPr>
              <a:t> Omar – Maitre assistant en microbiologie médicale</a:t>
            </a:r>
          </a:p>
        </p:txBody>
      </p:sp>
    </p:spTree>
    <p:extLst>
      <p:ext uri="{BB962C8B-B14F-4D97-AF65-F5344CB8AC3E}">
        <p14:creationId xmlns:p14="http://schemas.microsoft.com/office/powerpoint/2010/main" val="3274103289"/>
      </p:ext>
    </p:extLst>
  </p:cSld>
  <p:clrMapOvr>
    <a:masterClrMapping/>
  </p:clrMapOvr>
  <p:transition spd="slow">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Objectifs pédagogiques</a:t>
            </a:r>
          </a:p>
        </p:txBody>
      </p:sp>
      <p:sp>
        <p:nvSpPr>
          <p:cNvPr id="3" name="Text Placeholder 2"/>
          <p:cNvSpPr>
            <a:spLocks noGrp="1"/>
          </p:cNvSpPr>
          <p:nvPr>
            <p:ph type="body" idx="1"/>
          </p:nvPr>
        </p:nvSpPr>
        <p:spPr>
          <a:xfrm>
            <a:off x="1247138" y="1555509"/>
            <a:ext cx="6809700" cy="2984685"/>
          </a:xfrm>
        </p:spPr>
        <p:txBody>
          <a:bodyPr/>
          <a:lstStyle/>
          <a:p>
            <a:pPr>
              <a:buClr>
                <a:srgbClr val="007DD6"/>
              </a:buClr>
              <a:buNone/>
            </a:pPr>
            <a:r>
              <a:rPr lang="fr-FR" b="1" dirty="0">
                <a:latin typeface="Lora" pitchFamily="2" charset="0"/>
              </a:rPr>
              <a:t>Ce cours vous permettra de :</a:t>
            </a:r>
            <a:endParaRPr lang="fr-FR" dirty="0">
              <a:latin typeface="Lora" pitchFamily="2" charset="0"/>
              <a:ea typeface="Lora" charset="0"/>
              <a:cs typeface="Lora" charset="0"/>
            </a:endParaRPr>
          </a:p>
          <a:p>
            <a:pPr marL="457200" indent="-457200">
              <a:buClr>
                <a:srgbClr val="007DD6"/>
              </a:buClr>
              <a:buFont typeface="Arial" panose="020B0604020202020204" pitchFamily="34" charset="0"/>
              <a:buChar char="•"/>
            </a:pPr>
            <a:r>
              <a:rPr lang="fr-FR" sz="2000" dirty="0">
                <a:latin typeface="Lora" pitchFamily="2" charset="0"/>
                <a:ea typeface="Lora" charset="0"/>
                <a:cs typeface="Lora" charset="0"/>
              </a:rPr>
              <a:t>Définir la CMI , CMB.</a:t>
            </a:r>
          </a:p>
          <a:p>
            <a:pPr marL="457200" indent="-457200">
              <a:buClr>
                <a:srgbClr val="007DD6"/>
              </a:buClr>
              <a:buFont typeface="Arial" panose="020B0604020202020204" pitchFamily="34" charset="0"/>
              <a:buChar char="•"/>
            </a:pPr>
            <a:r>
              <a:rPr lang="fr-FR" sz="2000" dirty="0">
                <a:latin typeface="Lora" pitchFamily="2" charset="0"/>
                <a:ea typeface="Lora" charset="0"/>
                <a:cs typeface="Lora" charset="0"/>
              </a:rPr>
              <a:t>Connaitre les différents techniques de détection de résistance aux antibiotiques.</a:t>
            </a:r>
          </a:p>
          <a:p>
            <a:pPr marL="457200" indent="-457200">
              <a:buClr>
                <a:srgbClr val="007DD6"/>
              </a:buClr>
              <a:buFont typeface="Arial" panose="020B0604020202020204" pitchFamily="34" charset="0"/>
              <a:buChar char="•"/>
            </a:pPr>
            <a:r>
              <a:rPr lang="fr-FR" sz="2000" dirty="0">
                <a:latin typeface="Lora" pitchFamily="2" charset="0"/>
                <a:ea typeface="Lora" charset="0"/>
                <a:cs typeface="Lora" charset="0"/>
              </a:rPr>
              <a:t>Connaitre les indications , avantages et inconvénients de chaque techniques. </a:t>
            </a:r>
          </a:p>
        </p:txBody>
      </p:sp>
    </p:spTree>
    <p:extLst>
      <p:ext uri="{BB962C8B-B14F-4D97-AF65-F5344CB8AC3E}">
        <p14:creationId xmlns:p14="http://schemas.microsoft.com/office/powerpoint/2010/main" val="685388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Plan</a:t>
            </a:r>
          </a:p>
        </p:txBody>
      </p:sp>
      <p:sp>
        <p:nvSpPr>
          <p:cNvPr id="3" name="Text Placeholder 2"/>
          <p:cNvSpPr>
            <a:spLocks noGrp="1"/>
          </p:cNvSpPr>
          <p:nvPr>
            <p:ph type="body" idx="1"/>
          </p:nvPr>
        </p:nvSpPr>
        <p:spPr>
          <a:xfrm>
            <a:off x="1247138" y="1555510"/>
            <a:ext cx="6809700" cy="2665322"/>
          </a:xfrm>
        </p:spPr>
        <p:txBody>
          <a:bodyPr/>
          <a:lstStyle/>
          <a:p>
            <a:pPr marL="457200" indent="-457200">
              <a:buClr>
                <a:srgbClr val="007DD6"/>
              </a:buClr>
              <a:buFont typeface="+mj-lt"/>
              <a:buAutoNum type="arabicPeriod"/>
            </a:pPr>
            <a:r>
              <a:rPr lang="fr-FR" dirty="0">
                <a:latin typeface="Lora" charset="0"/>
                <a:ea typeface="Lora" charset="0"/>
                <a:cs typeface="Lora" charset="0"/>
              </a:rPr>
              <a:t>Introduction</a:t>
            </a:r>
          </a:p>
          <a:p>
            <a:pPr marL="457200" indent="-457200">
              <a:buClr>
                <a:srgbClr val="007DD6"/>
              </a:buClr>
              <a:buFont typeface="+mj-lt"/>
              <a:buAutoNum type="arabicPeriod"/>
            </a:pPr>
            <a:r>
              <a:rPr lang="fr-FR" dirty="0">
                <a:latin typeface="Lora" charset="0"/>
                <a:ea typeface="Lora" charset="0"/>
                <a:cs typeface="Lora" charset="0"/>
              </a:rPr>
              <a:t>Définitions</a:t>
            </a:r>
          </a:p>
          <a:p>
            <a:pPr marL="457200" indent="-457200">
              <a:buClr>
                <a:srgbClr val="007DD6"/>
              </a:buClr>
              <a:buFont typeface="+mj-lt"/>
              <a:buAutoNum type="arabicPeriod"/>
            </a:pPr>
            <a:r>
              <a:rPr lang="fr-FR" dirty="0">
                <a:latin typeface="Lora" charset="0"/>
                <a:ea typeface="Lora" charset="0"/>
                <a:cs typeface="Lora" charset="0"/>
              </a:rPr>
              <a:t>Méthodes phénotypiques </a:t>
            </a:r>
          </a:p>
          <a:p>
            <a:pPr marL="457200" indent="-457200">
              <a:buClr>
                <a:srgbClr val="007DD6"/>
              </a:buClr>
              <a:buFont typeface="+mj-lt"/>
              <a:buAutoNum type="arabicPeriod"/>
            </a:pPr>
            <a:r>
              <a:rPr lang="fr-FR" dirty="0">
                <a:latin typeface="Lora" charset="0"/>
                <a:ea typeface="Lora" charset="0"/>
                <a:cs typeface="Lora" charset="0"/>
              </a:rPr>
              <a:t>Méthodes génotypiques</a:t>
            </a:r>
          </a:p>
        </p:txBody>
      </p:sp>
    </p:spTree>
    <p:extLst>
      <p:ext uri="{BB962C8B-B14F-4D97-AF65-F5344CB8AC3E}">
        <p14:creationId xmlns:p14="http://schemas.microsoft.com/office/powerpoint/2010/main" val="2572903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fr-FR" dirty="0"/>
              <a:t>Introduction</a:t>
            </a:r>
          </a:p>
        </p:txBody>
      </p:sp>
      <p:sp>
        <p:nvSpPr>
          <p:cNvPr id="11" name="TextBox 10"/>
          <p:cNvSpPr txBox="1"/>
          <p:nvPr/>
        </p:nvSpPr>
        <p:spPr>
          <a:xfrm>
            <a:off x="1253447" y="2339092"/>
            <a:ext cx="309700" cy="461665"/>
          </a:xfrm>
          <a:prstGeom prst="rect">
            <a:avLst/>
          </a:prstGeom>
          <a:noFill/>
        </p:spPr>
        <p:txBody>
          <a:bodyPr wrap="none" rtlCol="0">
            <a:spAutoFit/>
          </a:bodyPr>
          <a:lstStyle/>
          <a:p>
            <a:r>
              <a:rPr lang="fr-FR" sz="2400" b="1" dirty="0">
                <a:solidFill>
                  <a:schemeClr val="bg1"/>
                </a:solidFill>
                <a:latin typeface="Lora" charset="0"/>
                <a:ea typeface="Lora" charset="0"/>
                <a:cs typeface="Lora" charset="0"/>
              </a:rPr>
              <a:t>1</a:t>
            </a:r>
            <a:endParaRPr lang="fr-FR" sz="2000" b="1" dirty="0">
              <a:solidFill>
                <a:schemeClr val="bg1"/>
              </a:solidFill>
              <a:latin typeface="Lora" charset="0"/>
              <a:ea typeface="Lora" charset="0"/>
              <a:cs typeface="Lora" charset="0"/>
            </a:endParaRPr>
          </a:p>
        </p:txBody>
      </p:sp>
      <p:sp>
        <p:nvSpPr>
          <p:cNvPr id="4" name="Oval 3"/>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bg1"/>
                </a:solidFill>
                <a:latin typeface="Lora" charset="0"/>
                <a:ea typeface="Lora" charset="0"/>
                <a:cs typeface="Lora" charset="0"/>
              </a:rPr>
              <a:t>1</a:t>
            </a:r>
          </a:p>
        </p:txBody>
      </p:sp>
    </p:spTree>
    <p:extLst>
      <p:ext uri="{BB962C8B-B14F-4D97-AF65-F5344CB8AC3E}">
        <p14:creationId xmlns:p14="http://schemas.microsoft.com/office/powerpoint/2010/main" val="20592040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Introduction:</a:t>
            </a:r>
            <a:endParaRPr lang="fr-FR" dirty="0">
              <a:solidFill>
                <a:srgbClr val="007DD6"/>
              </a:solidFill>
            </a:endParaRPr>
          </a:p>
        </p:txBody>
      </p:sp>
      <p:sp>
        <p:nvSpPr>
          <p:cNvPr id="3" name="Text Placeholder 2"/>
          <p:cNvSpPr>
            <a:spLocks noGrp="1"/>
          </p:cNvSpPr>
          <p:nvPr>
            <p:ph type="body" idx="1"/>
          </p:nvPr>
        </p:nvSpPr>
        <p:spPr>
          <a:xfrm>
            <a:off x="256032" y="1358267"/>
            <a:ext cx="8472996" cy="3616069"/>
          </a:xfrm>
        </p:spPr>
        <p:txBody>
          <a:bodyPr/>
          <a:lstStyle/>
          <a:p>
            <a:pPr marL="342900" indent="-342900" algn="just">
              <a:buClr>
                <a:srgbClr val="007DD6"/>
              </a:buClr>
              <a:buFont typeface="Arial" charset="0"/>
              <a:buChar char="•"/>
            </a:pPr>
            <a:r>
              <a:rPr lang="fr-FR" sz="2000" dirty="0">
                <a:latin typeface="Lora" charset="0"/>
                <a:ea typeface="Lora" charset="0"/>
                <a:cs typeface="Lora" charset="0"/>
              </a:rPr>
              <a:t>Au laboratoire, l’étude in vitro de la sensibilité aux antibiotiques des isolats cliniques est un enjeu quotidien pour le microbiologiste qui conditionne la mise en place d’une antibiothérapie efficace. </a:t>
            </a:r>
          </a:p>
          <a:p>
            <a:pPr marL="342900" indent="-342900" algn="just">
              <a:buClr>
                <a:srgbClr val="007DD6"/>
              </a:buClr>
              <a:buFont typeface="Arial" charset="0"/>
              <a:buChar char="•"/>
            </a:pPr>
            <a:r>
              <a:rPr lang="fr-FR" sz="2000" dirty="0">
                <a:latin typeface="Lora" charset="0"/>
                <a:ea typeface="Lora" charset="0"/>
                <a:cs typeface="Lora" charset="0"/>
              </a:rPr>
              <a:t>Les antibiotiques testés sont ceux du spectre de sensibilité naturelle pour une espèce bactérienne , L’étude des résistances naturelles et communes à une espèce n’est, en général, pas recherchée.</a:t>
            </a:r>
          </a:p>
        </p:txBody>
      </p:sp>
      <p:sp>
        <p:nvSpPr>
          <p:cNvPr id="10" name="TextBox 9"/>
          <p:cNvSpPr txBox="1"/>
          <p:nvPr/>
        </p:nvSpPr>
        <p:spPr>
          <a:xfrm>
            <a:off x="5259649" y="766815"/>
            <a:ext cx="3329547" cy="311706"/>
          </a:xfrm>
          <a:prstGeom prst="rect">
            <a:avLst/>
          </a:prstGeom>
          <a:noFill/>
        </p:spPr>
        <p:txBody>
          <a:bodyPr wrap="square" rtlCol="0">
            <a:spAutoFit/>
          </a:bodyPr>
          <a:lstStyle/>
          <a:p>
            <a:endParaRPr lang="fr-FR"/>
          </a:p>
        </p:txBody>
      </p:sp>
      <p:sp>
        <p:nvSpPr>
          <p:cNvPr id="12" name="Oval 11"/>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bg1"/>
                </a:solidFill>
                <a:latin typeface="Lora" charset="0"/>
                <a:ea typeface="Lora" charset="0"/>
                <a:cs typeface="Lora" charset="0"/>
              </a:rPr>
              <a:t>2</a:t>
            </a:r>
          </a:p>
        </p:txBody>
      </p:sp>
    </p:spTree>
    <p:extLst>
      <p:ext uri="{BB962C8B-B14F-4D97-AF65-F5344CB8AC3E}">
        <p14:creationId xmlns:p14="http://schemas.microsoft.com/office/powerpoint/2010/main" val="167107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85065" y="1640958"/>
            <a:ext cx="6042988" cy="1159799"/>
          </a:xfrm>
        </p:spPr>
        <p:txBody>
          <a:bodyPr/>
          <a:lstStyle/>
          <a:p>
            <a:pPr>
              <a:buClr>
                <a:srgbClr val="007DD6"/>
              </a:buClr>
            </a:pPr>
            <a:r>
              <a:rPr lang="fr-FR" dirty="0">
                <a:latin typeface="Lora" charset="0"/>
                <a:ea typeface="Lora" charset="0"/>
                <a:cs typeface="Lora" charset="0"/>
              </a:rPr>
              <a:t>Définitions</a:t>
            </a:r>
          </a:p>
        </p:txBody>
      </p:sp>
      <p:sp>
        <p:nvSpPr>
          <p:cNvPr id="11" name="TextBox 10"/>
          <p:cNvSpPr txBox="1"/>
          <p:nvPr/>
        </p:nvSpPr>
        <p:spPr>
          <a:xfrm>
            <a:off x="1229697" y="2339092"/>
            <a:ext cx="348172" cy="461665"/>
          </a:xfrm>
          <a:prstGeom prst="rect">
            <a:avLst/>
          </a:prstGeom>
          <a:noFill/>
        </p:spPr>
        <p:txBody>
          <a:bodyPr wrap="none" rtlCol="0">
            <a:spAutoFit/>
          </a:bodyPr>
          <a:lstStyle/>
          <a:p>
            <a:r>
              <a:rPr lang="fr-FR" sz="2400" b="1" dirty="0">
                <a:solidFill>
                  <a:schemeClr val="bg1"/>
                </a:solidFill>
                <a:latin typeface="Lora" charset="0"/>
                <a:ea typeface="Lora" charset="0"/>
                <a:cs typeface="Lora" charset="0"/>
              </a:rPr>
              <a:t>2</a:t>
            </a:r>
            <a:endParaRPr lang="fr-FR" sz="2000" b="1" dirty="0">
              <a:solidFill>
                <a:schemeClr val="bg1"/>
              </a:solidFill>
              <a:latin typeface="Lora" charset="0"/>
              <a:ea typeface="Lora" charset="0"/>
              <a:cs typeface="Lora" charset="0"/>
            </a:endParaRPr>
          </a:p>
        </p:txBody>
      </p:sp>
      <p:sp>
        <p:nvSpPr>
          <p:cNvPr id="5" name="Oval 4"/>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3</a:t>
            </a:r>
          </a:p>
        </p:txBody>
      </p:sp>
    </p:spTree>
    <p:extLst>
      <p:ext uri="{BB962C8B-B14F-4D97-AF65-F5344CB8AC3E}">
        <p14:creationId xmlns:p14="http://schemas.microsoft.com/office/powerpoint/2010/main" val="19684036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1250" y="922668"/>
            <a:ext cx="5446270" cy="435599"/>
          </a:xfrm>
        </p:spPr>
        <p:txBody>
          <a:bodyPr/>
          <a:lstStyle/>
          <a:p>
            <a:pPr>
              <a:buClr>
                <a:srgbClr val="007DD6"/>
              </a:buClr>
            </a:pPr>
            <a:r>
              <a:rPr lang="fr-FR" dirty="0">
                <a:latin typeface="Lora" charset="0"/>
                <a:ea typeface="Lora" charset="0"/>
                <a:cs typeface="Lora" charset="0"/>
              </a:rPr>
              <a:t>Définitions</a:t>
            </a:r>
          </a:p>
        </p:txBody>
      </p:sp>
      <p:sp>
        <p:nvSpPr>
          <p:cNvPr id="3" name="Text Placeholder 2"/>
          <p:cNvSpPr>
            <a:spLocks noGrp="1"/>
          </p:cNvSpPr>
          <p:nvPr>
            <p:ph type="body" idx="1"/>
          </p:nvPr>
        </p:nvSpPr>
        <p:spPr>
          <a:xfrm>
            <a:off x="524256" y="1392870"/>
            <a:ext cx="8040556" cy="3424494"/>
          </a:xfrm>
        </p:spPr>
        <p:txBody>
          <a:bodyPr/>
          <a:lstStyle/>
          <a:p>
            <a:pPr marL="342900" indent="-342900" algn="just">
              <a:buClr>
                <a:srgbClr val="007DD6"/>
              </a:buClr>
              <a:buFont typeface="Arial" charset="0"/>
              <a:buChar char="•"/>
            </a:pPr>
            <a:r>
              <a:rPr lang="fr-FR" sz="1400" dirty="0">
                <a:effectLst/>
                <a:latin typeface="Lora" pitchFamily="2" charset="0"/>
                <a:ea typeface="Times New Roman" panose="02020603050405020304" pitchFamily="18" charset="0"/>
                <a:cs typeface="Arial" panose="020B0604020202020204" pitchFamily="34" charset="0"/>
              </a:rPr>
              <a:t>Les interactions bactérie/antibiotique dans le temps, en présence de concentrations croissantes d'antibiotique, peuvent se traduire soit par un ralentissement de la croissance bactérienne (bactériostase), soit par un effet létal de l'antibiotique (bactéricidie).</a:t>
            </a:r>
          </a:p>
          <a:p>
            <a:pPr marL="342900" indent="-342900" algn="just">
              <a:buClr>
                <a:srgbClr val="007DD6"/>
              </a:buClr>
              <a:buFont typeface="Arial" charset="0"/>
              <a:buChar char="•"/>
            </a:pPr>
            <a:r>
              <a:rPr lang="fr-FR" sz="1400" dirty="0">
                <a:effectLst/>
                <a:latin typeface="Lora" pitchFamily="2" charset="0"/>
                <a:ea typeface="Times New Roman" panose="02020603050405020304" pitchFamily="18" charset="0"/>
                <a:cs typeface="Arial" panose="020B0604020202020204" pitchFamily="34" charset="0"/>
              </a:rPr>
              <a:t>La bactériostase est quantifiée par la concentration minimale inhibitrice (CMI) et la bactéricidie par la concentration minimale bactéricide (CMB), les deux concentrations étant exprimées en mg/l.</a:t>
            </a:r>
          </a:p>
          <a:p>
            <a:pPr marL="342900" indent="-342900" algn="just">
              <a:buClr>
                <a:srgbClr val="007DD6"/>
              </a:buClr>
              <a:buFont typeface="Arial" charset="0"/>
              <a:buChar char="•"/>
            </a:pPr>
            <a:r>
              <a:rPr lang="fr-FR" sz="1400" dirty="0">
                <a:effectLst/>
                <a:latin typeface="Lora" pitchFamily="2" charset="0"/>
                <a:ea typeface="Times New Roman" panose="02020603050405020304" pitchFamily="18" charset="0"/>
                <a:cs typeface="Arial" panose="020B0604020202020204" pitchFamily="34" charset="0"/>
              </a:rPr>
              <a:t>La CMI est la plus faible concentration d'antibiotique pour laquelle il n'y a pas de croissance visible à l'œil nu, après 16 à 24 heures d'incubation, de la souche bactérienne étudiée.</a:t>
            </a:r>
          </a:p>
          <a:p>
            <a:pPr marL="342900" indent="-342900" algn="just">
              <a:buClr>
                <a:srgbClr val="007DD6"/>
              </a:buClr>
              <a:buFont typeface="Arial" charset="0"/>
              <a:buChar char="•"/>
            </a:pPr>
            <a:r>
              <a:rPr lang="fr-FR" sz="1400" dirty="0">
                <a:effectLst/>
                <a:latin typeface="Lora" pitchFamily="2" charset="0"/>
                <a:ea typeface="Times New Roman" panose="02020603050405020304" pitchFamily="18" charset="0"/>
                <a:cs typeface="Arial" panose="020B0604020202020204" pitchFamily="34" charset="0"/>
              </a:rPr>
              <a:t>La CMB est la plus faible concentration d'antibiotique laissant après 16 à 24 heures d'incubation un pourcentage de survivants ≤ 0,01 % (soit −4 Log10) de l'inoculum de départ. Ce qui correspond à l’élimination de 99,99% des cellules bactériennes.</a:t>
            </a:r>
          </a:p>
          <a:p>
            <a:pPr marL="342900" indent="-342900" algn="just">
              <a:buClr>
                <a:srgbClr val="007DD6"/>
              </a:buClr>
              <a:buFont typeface="Arial" charset="0"/>
              <a:buChar char="•"/>
            </a:pPr>
            <a:r>
              <a:rPr lang="fr-FR" sz="1400" dirty="0">
                <a:effectLst/>
                <a:latin typeface="Lora" pitchFamily="2" charset="0"/>
                <a:ea typeface="Times New Roman" panose="02020603050405020304" pitchFamily="18" charset="0"/>
                <a:cs typeface="Arial" panose="020B0604020202020204" pitchFamily="34" charset="0"/>
              </a:rPr>
              <a:t>Un antibiotique est bactéricide si la CMI et la CMB sont proches.</a:t>
            </a:r>
          </a:p>
        </p:txBody>
      </p:sp>
      <p:sp>
        <p:nvSpPr>
          <p:cNvPr id="10" name="TextBox 9"/>
          <p:cNvSpPr txBox="1"/>
          <p:nvPr/>
        </p:nvSpPr>
        <p:spPr>
          <a:xfrm>
            <a:off x="5259649" y="766815"/>
            <a:ext cx="3329547" cy="311706"/>
          </a:xfrm>
          <a:prstGeom prst="rect">
            <a:avLst/>
          </a:prstGeom>
          <a:noFill/>
        </p:spPr>
        <p:txBody>
          <a:bodyPr wrap="square" rtlCol="0">
            <a:spAutoFit/>
          </a:bodyPr>
          <a:lstStyle/>
          <a:p>
            <a:endParaRPr lang="fr-FR"/>
          </a:p>
        </p:txBody>
      </p:sp>
      <p:sp>
        <p:nvSpPr>
          <p:cNvPr id="12" name="Oval 11"/>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bg1"/>
                </a:solidFill>
                <a:latin typeface="Lora" charset="0"/>
                <a:ea typeface="Lora" charset="0"/>
                <a:cs typeface="Lora" charset="0"/>
              </a:rPr>
              <a:t>4</a:t>
            </a:r>
          </a:p>
        </p:txBody>
      </p:sp>
    </p:spTree>
    <p:extLst>
      <p:ext uri="{BB962C8B-B14F-4D97-AF65-F5344CB8AC3E}">
        <p14:creationId xmlns:p14="http://schemas.microsoft.com/office/powerpoint/2010/main" val="6152268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85885" y="2259046"/>
            <a:ext cx="7363042" cy="630458"/>
          </a:xfrm>
        </p:spPr>
        <p:txBody>
          <a:bodyPr/>
          <a:lstStyle/>
          <a:p>
            <a:pPr>
              <a:buClr>
                <a:srgbClr val="007DD6"/>
              </a:buClr>
            </a:pPr>
            <a:r>
              <a:rPr lang="fr-FR" dirty="0">
                <a:latin typeface="Lora" charset="0"/>
                <a:ea typeface="Lora" charset="0"/>
                <a:cs typeface="Lora" charset="0"/>
              </a:rPr>
              <a:t>Méthodes phénotypiques </a:t>
            </a:r>
          </a:p>
        </p:txBody>
      </p:sp>
      <p:sp>
        <p:nvSpPr>
          <p:cNvPr id="11" name="TextBox 10"/>
          <p:cNvSpPr txBox="1"/>
          <p:nvPr/>
        </p:nvSpPr>
        <p:spPr>
          <a:xfrm>
            <a:off x="1229697" y="2339092"/>
            <a:ext cx="356188" cy="461665"/>
          </a:xfrm>
          <a:prstGeom prst="rect">
            <a:avLst/>
          </a:prstGeom>
          <a:noFill/>
        </p:spPr>
        <p:txBody>
          <a:bodyPr wrap="none" rtlCol="0">
            <a:spAutoFit/>
          </a:bodyPr>
          <a:lstStyle/>
          <a:p>
            <a:r>
              <a:rPr lang="fr-FR" sz="2400" b="1" dirty="0">
                <a:solidFill>
                  <a:schemeClr val="bg1"/>
                </a:solidFill>
                <a:latin typeface="Lora" charset="0"/>
                <a:ea typeface="Lora" charset="0"/>
                <a:cs typeface="Lora" charset="0"/>
              </a:rPr>
              <a:t>3</a:t>
            </a:r>
            <a:endParaRPr lang="fr-FR" sz="2000" b="1" dirty="0">
              <a:solidFill>
                <a:schemeClr val="bg1"/>
              </a:solidFill>
              <a:latin typeface="Lora" charset="0"/>
              <a:ea typeface="Lora" charset="0"/>
              <a:cs typeface="Lora" charset="0"/>
            </a:endParaRPr>
          </a:p>
        </p:txBody>
      </p:sp>
      <p:sp>
        <p:nvSpPr>
          <p:cNvPr id="5" name="Oval 4"/>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5</a:t>
            </a:r>
          </a:p>
        </p:txBody>
      </p:sp>
    </p:spTree>
    <p:extLst>
      <p:ext uri="{BB962C8B-B14F-4D97-AF65-F5344CB8AC3E}">
        <p14:creationId xmlns:p14="http://schemas.microsoft.com/office/powerpoint/2010/main" val="4426785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82975A-AEE3-1B59-D1D1-DF1B963DAF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8E860F-20D8-06BD-08D2-D4B81A90C791}"/>
              </a:ext>
            </a:extLst>
          </p:cNvPr>
          <p:cNvSpPr>
            <a:spLocks noGrp="1"/>
          </p:cNvSpPr>
          <p:nvPr>
            <p:ph type="title"/>
          </p:nvPr>
        </p:nvSpPr>
        <p:spPr>
          <a:xfrm>
            <a:off x="1381250" y="776364"/>
            <a:ext cx="7111240" cy="698868"/>
          </a:xfrm>
        </p:spPr>
        <p:txBody>
          <a:bodyPr/>
          <a:lstStyle/>
          <a:p>
            <a:pPr>
              <a:buClr>
                <a:srgbClr val="007DD6"/>
              </a:buClr>
            </a:pPr>
            <a:r>
              <a:rPr lang="fr-FR" dirty="0">
                <a:latin typeface="Lora" charset="0"/>
                <a:ea typeface="Lora" charset="0"/>
                <a:cs typeface="Lora" charset="0"/>
              </a:rPr>
              <a:t>Méthodes phénotypiques :</a:t>
            </a:r>
          </a:p>
        </p:txBody>
      </p:sp>
      <p:sp>
        <p:nvSpPr>
          <p:cNvPr id="3" name="Text Placeholder 2">
            <a:extLst>
              <a:ext uri="{FF2B5EF4-FFF2-40B4-BE49-F238E27FC236}">
                <a16:creationId xmlns:a16="http://schemas.microsoft.com/office/drawing/2014/main" id="{F24FD9C3-7177-7257-269D-22BC1F5DFA0A}"/>
              </a:ext>
            </a:extLst>
          </p:cNvPr>
          <p:cNvSpPr>
            <a:spLocks noGrp="1"/>
          </p:cNvSpPr>
          <p:nvPr>
            <p:ph type="body" idx="1"/>
          </p:nvPr>
        </p:nvSpPr>
        <p:spPr>
          <a:xfrm>
            <a:off x="292607" y="1377696"/>
            <a:ext cx="8573365" cy="3633216"/>
          </a:xfrm>
        </p:spPr>
        <p:txBody>
          <a:bodyPr/>
          <a:lstStyle/>
          <a:p>
            <a:pPr marL="285750" indent="-285750">
              <a:buClr>
                <a:srgbClr val="007DD6"/>
              </a:buClr>
              <a:buFont typeface="Arial" panose="020B0604020202020204" pitchFamily="34" charset="0"/>
              <a:buChar char="•"/>
            </a:pPr>
            <a:r>
              <a:rPr lang="fr-FR" sz="1700" dirty="0">
                <a:latin typeface="Lora" pitchFamily="2" charset="0"/>
                <a:ea typeface="Lora" charset="0"/>
                <a:cs typeface="Lora" charset="0"/>
              </a:rPr>
              <a:t>L’étude de la sensibilité aux antibiotiques repose sur la détermination des CMI.</a:t>
            </a:r>
          </a:p>
          <a:p>
            <a:pPr marL="285750" indent="-285750">
              <a:buClr>
                <a:srgbClr val="007DD6"/>
              </a:buClr>
              <a:buFont typeface="Arial" panose="020B0604020202020204" pitchFamily="34" charset="0"/>
              <a:buChar char="•"/>
            </a:pPr>
            <a:r>
              <a:rPr lang="fr-FR" sz="1700" dirty="0">
                <a:latin typeface="Lora" pitchFamily="2" charset="0"/>
                <a:ea typeface="Lora" charset="0"/>
                <a:cs typeface="Lora" charset="0"/>
              </a:rPr>
              <a:t>La détermination des CMI se place dans des conditions standardisées identiques à celles du référentiel afin de pouvoir comparer les valeurs obtenues aux valeurs seuils. </a:t>
            </a:r>
          </a:p>
          <a:p>
            <a:pPr marL="285750" indent="-285750">
              <a:buClr>
                <a:srgbClr val="007DD6"/>
              </a:buClr>
              <a:buFont typeface="Arial" panose="020B0604020202020204" pitchFamily="34" charset="0"/>
              <a:buChar char="•"/>
            </a:pPr>
            <a:endParaRPr lang="fr-FR" sz="1700" dirty="0">
              <a:latin typeface="Lora" pitchFamily="2" charset="0"/>
              <a:ea typeface="Lora" charset="0"/>
              <a:cs typeface="Lora" charset="0"/>
            </a:endParaRPr>
          </a:p>
        </p:txBody>
      </p:sp>
      <p:sp>
        <p:nvSpPr>
          <p:cNvPr id="10" name="Oval 9">
            <a:extLst>
              <a:ext uri="{FF2B5EF4-FFF2-40B4-BE49-F238E27FC236}">
                <a16:creationId xmlns:a16="http://schemas.microsoft.com/office/drawing/2014/main" id="{9269AC65-8F53-A1CD-9376-F847B3CE7CD6}"/>
              </a:ext>
            </a:extLst>
          </p:cNvPr>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6</a:t>
            </a:r>
          </a:p>
        </p:txBody>
      </p:sp>
    </p:spTree>
    <p:extLst>
      <p:ext uri="{BB962C8B-B14F-4D97-AF65-F5344CB8AC3E}">
        <p14:creationId xmlns:p14="http://schemas.microsoft.com/office/powerpoint/2010/main" val="1572610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066E3-50F3-CC95-AF1A-366216104F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A0021E-09E9-8159-0C04-2FDD93A5BE94}"/>
              </a:ext>
            </a:extLst>
          </p:cNvPr>
          <p:cNvSpPr>
            <a:spLocks noGrp="1"/>
          </p:cNvSpPr>
          <p:nvPr>
            <p:ph type="title"/>
          </p:nvPr>
        </p:nvSpPr>
        <p:spPr>
          <a:xfrm>
            <a:off x="1381250" y="776364"/>
            <a:ext cx="7111240" cy="698868"/>
          </a:xfrm>
        </p:spPr>
        <p:txBody>
          <a:bodyPr/>
          <a:lstStyle/>
          <a:p>
            <a:pPr>
              <a:buClr>
                <a:srgbClr val="007DD6"/>
              </a:buClr>
            </a:pPr>
            <a:r>
              <a:rPr lang="fr-FR" dirty="0">
                <a:latin typeface="Lora" charset="0"/>
                <a:ea typeface="Lora" charset="0"/>
                <a:cs typeface="Lora" charset="0"/>
              </a:rPr>
              <a:t>Méthodes phénotypiques :</a:t>
            </a:r>
          </a:p>
        </p:txBody>
      </p:sp>
      <p:sp>
        <p:nvSpPr>
          <p:cNvPr id="3" name="Text Placeholder 2">
            <a:extLst>
              <a:ext uri="{FF2B5EF4-FFF2-40B4-BE49-F238E27FC236}">
                <a16:creationId xmlns:a16="http://schemas.microsoft.com/office/drawing/2014/main" id="{0E832D8C-6191-1A10-6813-E3AE6FD3534C}"/>
              </a:ext>
            </a:extLst>
          </p:cNvPr>
          <p:cNvSpPr>
            <a:spLocks noGrp="1"/>
          </p:cNvSpPr>
          <p:nvPr>
            <p:ph type="body" idx="1"/>
          </p:nvPr>
        </p:nvSpPr>
        <p:spPr>
          <a:xfrm>
            <a:off x="292608" y="1463040"/>
            <a:ext cx="8199882" cy="3340608"/>
          </a:xfrm>
        </p:spPr>
        <p:txBody>
          <a:bodyPr/>
          <a:lstStyle/>
          <a:p>
            <a:pPr marL="285750" indent="-285750">
              <a:buClr>
                <a:srgbClr val="007DD6"/>
              </a:buClr>
              <a:buFont typeface="Arial" panose="020B0604020202020204" pitchFamily="34" charset="0"/>
              <a:buChar char="•"/>
            </a:pPr>
            <a:endParaRPr lang="fr-FR" sz="1800" dirty="0">
              <a:latin typeface="Lora" charset="0"/>
              <a:ea typeface="Lora" charset="0"/>
              <a:cs typeface="Lora" charset="0"/>
            </a:endParaRPr>
          </a:p>
        </p:txBody>
      </p:sp>
      <p:sp>
        <p:nvSpPr>
          <p:cNvPr id="10" name="Oval 9">
            <a:extLst>
              <a:ext uri="{FF2B5EF4-FFF2-40B4-BE49-F238E27FC236}">
                <a16:creationId xmlns:a16="http://schemas.microsoft.com/office/drawing/2014/main" id="{078DB8C4-B6CD-2741-A595-9790FDB33449}"/>
              </a:ext>
            </a:extLst>
          </p:cNvPr>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6</a:t>
            </a:r>
          </a:p>
        </p:txBody>
      </p:sp>
      <p:pic>
        <p:nvPicPr>
          <p:cNvPr id="5" name="Image 4">
            <a:extLst>
              <a:ext uri="{FF2B5EF4-FFF2-40B4-BE49-F238E27FC236}">
                <a16:creationId xmlns:a16="http://schemas.microsoft.com/office/drawing/2014/main" id="{6B026A47-9B3E-D031-EA85-7AC64C50DD7D}"/>
              </a:ext>
            </a:extLst>
          </p:cNvPr>
          <p:cNvPicPr>
            <a:picLocks noChangeAspect="1"/>
          </p:cNvPicPr>
          <p:nvPr/>
        </p:nvPicPr>
        <p:blipFill>
          <a:blip r:embed="rId3"/>
          <a:stretch>
            <a:fillRect/>
          </a:stretch>
        </p:blipFill>
        <p:spPr>
          <a:xfrm>
            <a:off x="1144712" y="1410203"/>
            <a:ext cx="5865988" cy="3513841"/>
          </a:xfrm>
          <a:prstGeom prst="rect">
            <a:avLst/>
          </a:prstGeom>
        </p:spPr>
      </p:pic>
    </p:spTree>
    <p:extLst>
      <p:ext uri="{BB962C8B-B14F-4D97-AF65-F5344CB8AC3E}">
        <p14:creationId xmlns:p14="http://schemas.microsoft.com/office/powerpoint/2010/main" val="1421994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57B54C-5A78-2A7B-5D19-B892E8DA8F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EF7C46-F5D3-348A-A0AC-C18898168A53}"/>
              </a:ext>
            </a:extLst>
          </p:cNvPr>
          <p:cNvSpPr>
            <a:spLocks noGrp="1"/>
          </p:cNvSpPr>
          <p:nvPr>
            <p:ph type="title"/>
          </p:nvPr>
        </p:nvSpPr>
        <p:spPr>
          <a:xfrm>
            <a:off x="1381250" y="776364"/>
            <a:ext cx="7111240" cy="698868"/>
          </a:xfrm>
        </p:spPr>
        <p:txBody>
          <a:bodyPr/>
          <a:lstStyle/>
          <a:p>
            <a:pPr>
              <a:buClr>
                <a:srgbClr val="007DD6"/>
              </a:buClr>
            </a:pPr>
            <a:r>
              <a:rPr lang="fr-FR" dirty="0">
                <a:latin typeface="Lora" charset="0"/>
                <a:ea typeface="Lora" charset="0"/>
                <a:cs typeface="Lora" charset="0"/>
              </a:rPr>
              <a:t>Méthodes phénotypiques :</a:t>
            </a:r>
          </a:p>
        </p:txBody>
      </p:sp>
      <p:sp>
        <p:nvSpPr>
          <p:cNvPr id="3" name="Text Placeholder 2">
            <a:extLst>
              <a:ext uri="{FF2B5EF4-FFF2-40B4-BE49-F238E27FC236}">
                <a16:creationId xmlns:a16="http://schemas.microsoft.com/office/drawing/2014/main" id="{9C621CBD-CE02-4BEB-72A5-7253851997C2}"/>
              </a:ext>
            </a:extLst>
          </p:cNvPr>
          <p:cNvSpPr>
            <a:spLocks noGrp="1"/>
          </p:cNvSpPr>
          <p:nvPr>
            <p:ph type="body" idx="1"/>
          </p:nvPr>
        </p:nvSpPr>
        <p:spPr>
          <a:xfrm>
            <a:off x="292608" y="1463040"/>
            <a:ext cx="8199882" cy="3340608"/>
          </a:xfrm>
        </p:spPr>
        <p:txBody>
          <a:bodyPr/>
          <a:lstStyle/>
          <a:p>
            <a:pPr marL="285750" indent="-285750">
              <a:buClr>
                <a:srgbClr val="007DD6"/>
              </a:buClr>
              <a:buFont typeface="Arial" panose="020B0604020202020204" pitchFamily="34" charset="0"/>
              <a:buChar char="•"/>
            </a:pPr>
            <a:r>
              <a:rPr lang="fr-FR" sz="1600" dirty="0">
                <a:latin typeface="Lora" charset="0"/>
                <a:ea typeface="Lora" charset="0"/>
                <a:cs typeface="Lora" charset="0"/>
              </a:rPr>
              <a:t>La réponse au clinicien se fera en termes de probabilités d'activité, l'antibiogramme étant un test de prédiction de succès ou d'échec clinique.</a:t>
            </a:r>
          </a:p>
          <a:p>
            <a:pPr marL="285750" indent="-285750">
              <a:buClr>
                <a:srgbClr val="007DD6"/>
              </a:buClr>
              <a:buFont typeface="Arial" panose="020B0604020202020204" pitchFamily="34" charset="0"/>
              <a:buChar char="•"/>
            </a:pPr>
            <a:r>
              <a:rPr lang="fr-FR" sz="1600" dirty="0">
                <a:latin typeface="Lora" charset="0"/>
                <a:ea typeface="Lora" charset="0"/>
                <a:cs typeface="Lora" charset="0"/>
              </a:rPr>
              <a:t>Les résultats seront rendus au clinicien soit « S » (sensible), « I » (intermédiaire) ou « R » (résistant) :</a:t>
            </a:r>
          </a:p>
          <a:p>
            <a:pPr marL="285750" indent="-285750">
              <a:buClr>
                <a:srgbClr val="007DD6"/>
              </a:buClr>
              <a:buFont typeface="Arial" panose="020B0604020202020204" pitchFamily="34" charset="0"/>
              <a:buChar char="•"/>
            </a:pPr>
            <a:r>
              <a:rPr lang="fr-FR" sz="1600" dirty="0">
                <a:latin typeface="Lora" charset="0"/>
                <a:ea typeface="Lora" charset="0"/>
                <a:cs typeface="Lora" charset="0"/>
              </a:rPr>
              <a:t>le résultat « R » signifie que le risque d'échec thérapeutique est grand quel que soit le traitement </a:t>
            </a:r>
          </a:p>
          <a:p>
            <a:pPr marL="285750" indent="-285750">
              <a:buClr>
                <a:srgbClr val="007DD6"/>
              </a:buClr>
              <a:buFont typeface="Arial" panose="020B0604020202020204" pitchFamily="34" charset="0"/>
              <a:buChar char="•"/>
            </a:pPr>
            <a:r>
              <a:rPr lang="fr-FR" sz="1600" dirty="0">
                <a:latin typeface="Lora" charset="0"/>
                <a:ea typeface="Lora" charset="0"/>
                <a:cs typeface="Lora" charset="0"/>
              </a:rPr>
              <a:t>le résultat « S » signifie qu'il n'y a pas de mécanisme de résistance acquise exprimé in vitro. La probabilité de succès thérapeutique est forte, à condition que les autres paramètres pharmacologiques (diffusion au site de l'infection), toxicologiques et cliniques soient pris en compte ;</a:t>
            </a:r>
          </a:p>
          <a:p>
            <a:pPr marL="285750" indent="-285750">
              <a:buClr>
                <a:srgbClr val="007DD6"/>
              </a:buClr>
              <a:buFont typeface="Arial" panose="020B0604020202020204" pitchFamily="34" charset="0"/>
              <a:buChar char="•"/>
            </a:pPr>
            <a:r>
              <a:rPr lang="fr-FR" sz="1600" dirty="0">
                <a:latin typeface="Lora" charset="0"/>
                <a:ea typeface="Lora" charset="0"/>
                <a:cs typeface="Lora" charset="0"/>
              </a:rPr>
              <a:t>Le résultat « I » correspond à une zone d'incertitude qui ne peut pas prédire du succès ou de l'échec thérapeutique.</a:t>
            </a:r>
          </a:p>
        </p:txBody>
      </p:sp>
      <p:sp>
        <p:nvSpPr>
          <p:cNvPr id="10" name="Oval 9">
            <a:extLst>
              <a:ext uri="{FF2B5EF4-FFF2-40B4-BE49-F238E27FC236}">
                <a16:creationId xmlns:a16="http://schemas.microsoft.com/office/drawing/2014/main" id="{971FA53A-C252-B403-3905-1599BF09C9FD}"/>
              </a:ext>
            </a:extLst>
          </p:cNvPr>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6</a:t>
            </a:r>
          </a:p>
        </p:txBody>
      </p:sp>
    </p:spTree>
    <p:extLst>
      <p:ext uri="{BB962C8B-B14F-4D97-AF65-F5344CB8AC3E}">
        <p14:creationId xmlns:p14="http://schemas.microsoft.com/office/powerpoint/2010/main" val="2009368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903C7-1716-73D5-7772-3EB255BAB5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6BBB40-1B2F-9795-39E3-2BE4D2FEFBB6}"/>
              </a:ext>
            </a:extLst>
          </p:cNvPr>
          <p:cNvSpPr>
            <a:spLocks noGrp="1"/>
          </p:cNvSpPr>
          <p:nvPr>
            <p:ph type="title"/>
          </p:nvPr>
        </p:nvSpPr>
        <p:spPr>
          <a:xfrm>
            <a:off x="1381250" y="776364"/>
            <a:ext cx="7111240" cy="698868"/>
          </a:xfrm>
        </p:spPr>
        <p:txBody>
          <a:bodyPr/>
          <a:lstStyle/>
          <a:p>
            <a:pPr>
              <a:buClr>
                <a:srgbClr val="007DD6"/>
              </a:buClr>
            </a:pPr>
            <a:r>
              <a:rPr lang="fr-FR" dirty="0">
                <a:latin typeface="Lora" charset="0"/>
                <a:ea typeface="Lora" charset="0"/>
                <a:cs typeface="Lora" charset="0"/>
              </a:rPr>
              <a:t>Méthodes phénotypiques :</a:t>
            </a:r>
          </a:p>
        </p:txBody>
      </p:sp>
      <p:sp>
        <p:nvSpPr>
          <p:cNvPr id="3" name="Text Placeholder 2">
            <a:extLst>
              <a:ext uri="{FF2B5EF4-FFF2-40B4-BE49-F238E27FC236}">
                <a16:creationId xmlns:a16="http://schemas.microsoft.com/office/drawing/2014/main" id="{D498A423-2807-9725-AD8C-B88EF6AD2B21}"/>
              </a:ext>
            </a:extLst>
          </p:cNvPr>
          <p:cNvSpPr>
            <a:spLocks noGrp="1"/>
          </p:cNvSpPr>
          <p:nvPr>
            <p:ph type="body" idx="1"/>
          </p:nvPr>
        </p:nvSpPr>
        <p:spPr>
          <a:xfrm>
            <a:off x="117389" y="1463039"/>
            <a:ext cx="3052119" cy="3503785"/>
          </a:xfrm>
        </p:spPr>
        <p:txBody>
          <a:bodyPr/>
          <a:lstStyle/>
          <a:p>
            <a:pPr marL="285750" indent="-285750">
              <a:buClr>
                <a:srgbClr val="007DD6"/>
              </a:buClr>
              <a:buFont typeface="Arial" panose="020B0604020202020204" pitchFamily="34" charset="0"/>
              <a:buChar char="•"/>
            </a:pPr>
            <a:r>
              <a:rPr lang="fr-FR" sz="1600" dirty="0">
                <a:latin typeface="Lora" charset="0"/>
                <a:ea typeface="Lora" charset="0"/>
                <a:cs typeface="Lora" charset="0"/>
              </a:rPr>
              <a:t>Ces catégorisations cliniques sont définies en comparant les résultats de CMI obtenus avec des concentrations critiques définies selon des critères bactériologiques (distribution de CMI), pharmacologiques (pharmacocinétique et pharmacodynamie) et cliniques (réponse clinique et éradication microbiologique).</a:t>
            </a:r>
          </a:p>
          <a:p>
            <a:pPr marL="285750" indent="-285750">
              <a:buClr>
                <a:srgbClr val="007DD6"/>
              </a:buClr>
              <a:buFont typeface="Arial" panose="020B0604020202020204" pitchFamily="34" charset="0"/>
              <a:buChar char="•"/>
            </a:pPr>
            <a:endParaRPr lang="fr-FR" sz="1600" dirty="0">
              <a:latin typeface="Lora" charset="0"/>
              <a:ea typeface="Lora" charset="0"/>
              <a:cs typeface="Lora" charset="0"/>
            </a:endParaRPr>
          </a:p>
        </p:txBody>
      </p:sp>
      <p:sp>
        <p:nvSpPr>
          <p:cNvPr id="10" name="Oval 9">
            <a:extLst>
              <a:ext uri="{FF2B5EF4-FFF2-40B4-BE49-F238E27FC236}">
                <a16:creationId xmlns:a16="http://schemas.microsoft.com/office/drawing/2014/main" id="{F035B1CA-6A9C-9FDF-2168-BB2968653B60}"/>
              </a:ext>
            </a:extLst>
          </p:cNvPr>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6</a:t>
            </a:r>
          </a:p>
        </p:txBody>
      </p:sp>
      <p:pic>
        <p:nvPicPr>
          <p:cNvPr id="5" name="Image 4">
            <a:extLst>
              <a:ext uri="{FF2B5EF4-FFF2-40B4-BE49-F238E27FC236}">
                <a16:creationId xmlns:a16="http://schemas.microsoft.com/office/drawing/2014/main" id="{3AA0F24F-6B8B-880C-AF16-E87E5DD98CDA}"/>
              </a:ext>
            </a:extLst>
          </p:cNvPr>
          <p:cNvPicPr>
            <a:picLocks noChangeAspect="1"/>
          </p:cNvPicPr>
          <p:nvPr/>
        </p:nvPicPr>
        <p:blipFill>
          <a:blip r:embed="rId3"/>
          <a:srcRect l="48589" t="3438" r="4986" b="43076"/>
          <a:stretch/>
        </p:blipFill>
        <p:spPr>
          <a:xfrm rot="16200000">
            <a:off x="4222602" y="216307"/>
            <a:ext cx="3503784" cy="5797548"/>
          </a:xfrm>
          <a:prstGeom prst="rect">
            <a:avLst/>
          </a:prstGeom>
        </p:spPr>
      </p:pic>
    </p:spTree>
    <p:extLst>
      <p:ext uri="{BB962C8B-B14F-4D97-AF65-F5344CB8AC3E}">
        <p14:creationId xmlns:p14="http://schemas.microsoft.com/office/powerpoint/2010/main" val="1951235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4F5202-C491-481B-6F87-954CDCFF6B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BE7F84-E549-A134-D347-4129BEA912C2}"/>
              </a:ext>
            </a:extLst>
          </p:cNvPr>
          <p:cNvSpPr>
            <a:spLocks noGrp="1"/>
          </p:cNvSpPr>
          <p:nvPr>
            <p:ph type="title"/>
          </p:nvPr>
        </p:nvSpPr>
        <p:spPr>
          <a:xfrm>
            <a:off x="1381250" y="776364"/>
            <a:ext cx="7111240" cy="698868"/>
          </a:xfrm>
        </p:spPr>
        <p:txBody>
          <a:bodyPr/>
          <a:lstStyle/>
          <a:p>
            <a:pPr>
              <a:buClr>
                <a:srgbClr val="007DD6"/>
              </a:buClr>
            </a:pPr>
            <a:r>
              <a:rPr lang="fr-FR" dirty="0">
                <a:latin typeface="Lora" charset="0"/>
                <a:ea typeface="Lora" charset="0"/>
                <a:cs typeface="Lora" charset="0"/>
              </a:rPr>
              <a:t>Méthodes phénotypiques :</a:t>
            </a:r>
          </a:p>
        </p:txBody>
      </p:sp>
      <p:sp>
        <p:nvSpPr>
          <p:cNvPr id="3" name="Text Placeholder 2">
            <a:extLst>
              <a:ext uri="{FF2B5EF4-FFF2-40B4-BE49-F238E27FC236}">
                <a16:creationId xmlns:a16="http://schemas.microsoft.com/office/drawing/2014/main" id="{8B3C4BA3-3712-4C4F-1911-7D12040E6C03}"/>
              </a:ext>
            </a:extLst>
          </p:cNvPr>
          <p:cNvSpPr>
            <a:spLocks noGrp="1"/>
          </p:cNvSpPr>
          <p:nvPr>
            <p:ph type="body" idx="1"/>
          </p:nvPr>
        </p:nvSpPr>
        <p:spPr>
          <a:xfrm>
            <a:off x="292608" y="1463040"/>
            <a:ext cx="8199882" cy="3340608"/>
          </a:xfrm>
        </p:spPr>
        <p:txBody>
          <a:bodyPr/>
          <a:lstStyle/>
          <a:p>
            <a:pPr marL="285750" indent="-285750">
              <a:buClr>
                <a:srgbClr val="007DD6"/>
              </a:buClr>
              <a:buFont typeface="Arial" panose="020B0604020202020204" pitchFamily="34" charset="0"/>
              <a:buChar char="•"/>
            </a:pPr>
            <a:r>
              <a:rPr lang="fr-FR" sz="1800" b="1" dirty="0">
                <a:solidFill>
                  <a:srgbClr val="0069D9"/>
                </a:solidFill>
                <a:latin typeface="Lora" charset="0"/>
                <a:ea typeface="Lora" charset="0"/>
                <a:cs typeface="Lora" charset="0"/>
              </a:rPr>
              <a:t>Mesure de CMI en milieu liquide:</a:t>
            </a:r>
          </a:p>
          <a:p>
            <a:pPr marL="285750" indent="-285750">
              <a:buClr>
                <a:srgbClr val="007DD6"/>
              </a:buClr>
              <a:buFont typeface="Arial" panose="020B0604020202020204" pitchFamily="34" charset="0"/>
              <a:buChar char="•"/>
            </a:pPr>
            <a:r>
              <a:rPr lang="fr-FR" sz="1800" dirty="0">
                <a:solidFill>
                  <a:schemeClr val="tx1"/>
                </a:solidFill>
                <a:latin typeface="Lora" charset="0"/>
                <a:ea typeface="Lora" charset="0"/>
                <a:cs typeface="Lora" charset="0"/>
              </a:rPr>
              <a:t>La mesure de la CMI en milieu liquide consiste à mettre en contact une même quantité de bactéries avec des concentrations croissantes d’antibiotiques afin de réaliser une gamme. La première concentration d’antibiotique qui inhibe la croissance bactérienne (absence de trouble) définit la CMI. Cette technique peut être réalisée en </a:t>
            </a:r>
            <a:r>
              <a:rPr lang="fr-FR" sz="1800" dirty="0" err="1">
                <a:solidFill>
                  <a:schemeClr val="tx1"/>
                </a:solidFill>
                <a:latin typeface="Lora" charset="0"/>
                <a:ea typeface="Lora" charset="0"/>
                <a:cs typeface="Lora" charset="0"/>
              </a:rPr>
              <a:t>microdilution</a:t>
            </a:r>
            <a:r>
              <a:rPr lang="fr-FR" sz="1800" dirty="0">
                <a:solidFill>
                  <a:schemeClr val="tx1"/>
                </a:solidFill>
                <a:latin typeface="Lora" charset="0"/>
                <a:ea typeface="Lora" charset="0"/>
                <a:cs typeface="Lora" charset="0"/>
              </a:rPr>
              <a:t> (volume final de 100 ml) ou en </a:t>
            </a:r>
            <a:r>
              <a:rPr lang="fr-FR" sz="1800" dirty="0" err="1">
                <a:solidFill>
                  <a:schemeClr val="tx1"/>
                </a:solidFill>
                <a:latin typeface="Lora" charset="0"/>
                <a:ea typeface="Lora" charset="0"/>
                <a:cs typeface="Lora" charset="0"/>
              </a:rPr>
              <a:t>macrodilution</a:t>
            </a:r>
            <a:r>
              <a:rPr lang="fr-FR" sz="1800" dirty="0">
                <a:solidFill>
                  <a:schemeClr val="tx1"/>
                </a:solidFill>
                <a:latin typeface="Lora" charset="0"/>
                <a:ea typeface="Lora" charset="0"/>
                <a:cs typeface="Lora" charset="0"/>
              </a:rPr>
              <a:t> ( volume de 1ml). </a:t>
            </a:r>
          </a:p>
          <a:p>
            <a:pPr marL="285750" indent="-285750">
              <a:buClr>
                <a:srgbClr val="007DD6"/>
              </a:buClr>
              <a:buFont typeface="Arial" panose="020B0604020202020204" pitchFamily="34" charset="0"/>
              <a:buChar char="•"/>
            </a:pPr>
            <a:endParaRPr lang="fr-FR" sz="1800" dirty="0">
              <a:solidFill>
                <a:schemeClr val="tx1"/>
              </a:solidFill>
              <a:latin typeface="Lora" charset="0"/>
              <a:ea typeface="Lora" charset="0"/>
              <a:cs typeface="Lora" charset="0"/>
            </a:endParaRPr>
          </a:p>
        </p:txBody>
      </p:sp>
      <p:sp>
        <p:nvSpPr>
          <p:cNvPr id="10" name="Oval 9">
            <a:extLst>
              <a:ext uri="{FF2B5EF4-FFF2-40B4-BE49-F238E27FC236}">
                <a16:creationId xmlns:a16="http://schemas.microsoft.com/office/drawing/2014/main" id="{CEC6CF5F-8D15-E99E-4FD8-92FD66FEC4C5}"/>
              </a:ext>
            </a:extLst>
          </p:cNvPr>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6</a:t>
            </a:r>
          </a:p>
        </p:txBody>
      </p:sp>
    </p:spTree>
    <p:extLst>
      <p:ext uri="{BB962C8B-B14F-4D97-AF65-F5344CB8AC3E}">
        <p14:creationId xmlns:p14="http://schemas.microsoft.com/office/powerpoint/2010/main" val="9587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B32DF-5E4B-E95A-989A-D6F1D8E529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BC393D-434C-F8BD-695B-153869921A5E}"/>
              </a:ext>
            </a:extLst>
          </p:cNvPr>
          <p:cNvSpPr>
            <a:spLocks noGrp="1"/>
          </p:cNvSpPr>
          <p:nvPr>
            <p:ph type="title"/>
          </p:nvPr>
        </p:nvSpPr>
        <p:spPr>
          <a:xfrm>
            <a:off x="1381250" y="776364"/>
            <a:ext cx="7111240" cy="698868"/>
          </a:xfrm>
        </p:spPr>
        <p:txBody>
          <a:bodyPr/>
          <a:lstStyle/>
          <a:p>
            <a:pPr>
              <a:buClr>
                <a:srgbClr val="007DD6"/>
              </a:buClr>
            </a:pPr>
            <a:r>
              <a:rPr lang="fr-FR" dirty="0">
                <a:latin typeface="Lora" charset="0"/>
                <a:ea typeface="Lora" charset="0"/>
                <a:cs typeface="Lora" charset="0"/>
              </a:rPr>
              <a:t>Méthodes phénotypiques :</a:t>
            </a:r>
          </a:p>
        </p:txBody>
      </p:sp>
      <p:sp>
        <p:nvSpPr>
          <p:cNvPr id="3" name="Text Placeholder 2">
            <a:extLst>
              <a:ext uri="{FF2B5EF4-FFF2-40B4-BE49-F238E27FC236}">
                <a16:creationId xmlns:a16="http://schemas.microsoft.com/office/drawing/2014/main" id="{2CC7E17D-8315-C250-F084-4E719D4D83B8}"/>
              </a:ext>
            </a:extLst>
          </p:cNvPr>
          <p:cNvSpPr>
            <a:spLocks noGrp="1"/>
          </p:cNvSpPr>
          <p:nvPr>
            <p:ph type="body" idx="1"/>
          </p:nvPr>
        </p:nvSpPr>
        <p:spPr>
          <a:xfrm>
            <a:off x="292608" y="1333294"/>
            <a:ext cx="8199882" cy="3340608"/>
          </a:xfrm>
        </p:spPr>
        <p:txBody>
          <a:bodyPr/>
          <a:lstStyle/>
          <a:p>
            <a:pPr marL="285750" indent="-285750">
              <a:buClr>
                <a:srgbClr val="007DD6"/>
              </a:buClr>
              <a:buFont typeface="Arial" panose="020B0604020202020204" pitchFamily="34" charset="0"/>
              <a:buChar char="•"/>
            </a:pPr>
            <a:r>
              <a:rPr lang="fr-FR" sz="1800" b="1" dirty="0">
                <a:solidFill>
                  <a:srgbClr val="0069D9"/>
                </a:solidFill>
                <a:latin typeface="Lora" charset="0"/>
                <a:ea typeface="Lora" charset="0"/>
                <a:cs typeface="Lora" charset="0"/>
              </a:rPr>
              <a:t>Mesure de CMI en milieu liquide: -Suite-</a:t>
            </a:r>
          </a:p>
          <a:p>
            <a:pPr marL="285750" indent="-285750">
              <a:buClr>
                <a:srgbClr val="007DD6"/>
              </a:buClr>
              <a:buFont typeface="Arial" panose="020B0604020202020204" pitchFamily="34" charset="0"/>
              <a:buChar char="•"/>
            </a:pPr>
            <a:r>
              <a:rPr lang="fr-FR" sz="1800" dirty="0">
                <a:solidFill>
                  <a:schemeClr val="tx1"/>
                </a:solidFill>
                <a:latin typeface="Lora" charset="0"/>
                <a:ea typeface="Lora" charset="0"/>
                <a:cs typeface="Lora" charset="0"/>
              </a:rPr>
              <a:t>La mesure de la CMI en milieu liquide consiste à mettre en contact une même quantité de bactéries avec des concentrations croissantes d’antibiotiques afin de réaliser une gamme. La première concentration d’antibiotique qui inhibe la croissance bactérienne (absence de trouble) définit la CMI. Cette technique peut être réalisée en </a:t>
            </a:r>
            <a:r>
              <a:rPr lang="fr-FR" sz="1800" dirty="0" err="1">
                <a:solidFill>
                  <a:schemeClr val="tx1"/>
                </a:solidFill>
                <a:latin typeface="Lora" charset="0"/>
                <a:ea typeface="Lora" charset="0"/>
                <a:cs typeface="Lora" charset="0"/>
              </a:rPr>
              <a:t>microdilution</a:t>
            </a:r>
            <a:r>
              <a:rPr lang="fr-FR" sz="1800" dirty="0">
                <a:solidFill>
                  <a:schemeClr val="tx1"/>
                </a:solidFill>
                <a:latin typeface="Lora" charset="0"/>
                <a:ea typeface="Lora" charset="0"/>
                <a:cs typeface="Lora" charset="0"/>
              </a:rPr>
              <a:t> (volume final de 100 ml) ou en </a:t>
            </a:r>
            <a:r>
              <a:rPr lang="fr-FR" sz="1800" dirty="0" err="1">
                <a:solidFill>
                  <a:schemeClr val="tx1"/>
                </a:solidFill>
                <a:latin typeface="Lora" charset="0"/>
                <a:ea typeface="Lora" charset="0"/>
                <a:cs typeface="Lora" charset="0"/>
              </a:rPr>
              <a:t>macrodilution</a:t>
            </a:r>
            <a:r>
              <a:rPr lang="fr-FR" sz="1800" dirty="0">
                <a:solidFill>
                  <a:schemeClr val="tx1"/>
                </a:solidFill>
                <a:latin typeface="Lora" charset="0"/>
                <a:ea typeface="Lora" charset="0"/>
                <a:cs typeface="Lora" charset="0"/>
              </a:rPr>
              <a:t> ( volume de 1ml). </a:t>
            </a:r>
          </a:p>
          <a:p>
            <a:pPr marL="285750" indent="-285750">
              <a:buClr>
                <a:srgbClr val="007DD6"/>
              </a:buClr>
              <a:buFont typeface="Arial" panose="020B0604020202020204" pitchFamily="34" charset="0"/>
              <a:buChar char="•"/>
            </a:pPr>
            <a:endParaRPr lang="fr-FR" sz="1800" dirty="0">
              <a:solidFill>
                <a:schemeClr val="tx1"/>
              </a:solidFill>
              <a:latin typeface="Lora" charset="0"/>
              <a:ea typeface="Lora" charset="0"/>
              <a:cs typeface="Lora" charset="0"/>
            </a:endParaRPr>
          </a:p>
        </p:txBody>
      </p:sp>
      <p:sp>
        <p:nvSpPr>
          <p:cNvPr id="10" name="Oval 9">
            <a:extLst>
              <a:ext uri="{FF2B5EF4-FFF2-40B4-BE49-F238E27FC236}">
                <a16:creationId xmlns:a16="http://schemas.microsoft.com/office/drawing/2014/main" id="{B17E5A09-E619-70A2-49BC-8DA62BF0C742}"/>
              </a:ext>
            </a:extLst>
          </p:cNvPr>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6</a:t>
            </a:r>
          </a:p>
        </p:txBody>
      </p:sp>
      <p:pic>
        <p:nvPicPr>
          <p:cNvPr id="5" name="Image 4">
            <a:extLst>
              <a:ext uri="{FF2B5EF4-FFF2-40B4-BE49-F238E27FC236}">
                <a16:creationId xmlns:a16="http://schemas.microsoft.com/office/drawing/2014/main" id="{3A7E617D-024E-1720-E115-578FEC8609FC}"/>
              </a:ext>
            </a:extLst>
          </p:cNvPr>
          <p:cNvPicPr>
            <a:picLocks noChangeAspect="1"/>
          </p:cNvPicPr>
          <p:nvPr/>
        </p:nvPicPr>
        <p:blipFill>
          <a:blip r:embed="rId3"/>
          <a:stretch>
            <a:fillRect/>
          </a:stretch>
        </p:blipFill>
        <p:spPr>
          <a:xfrm>
            <a:off x="651510" y="3513738"/>
            <a:ext cx="7440063" cy="1543265"/>
          </a:xfrm>
          <a:prstGeom prst="rect">
            <a:avLst/>
          </a:prstGeom>
        </p:spPr>
      </p:pic>
    </p:spTree>
    <p:extLst>
      <p:ext uri="{BB962C8B-B14F-4D97-AF65-F5344CB8AC3E}">
        <p14:creationId xmlns:p14="http://schemas.microsoft.com/office/powerpoint/2010/main" val="752047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DAE39-19F0-0FA7-C59F-FF96F9F498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DD9836-240B-5B8B-890E-1E60D21F175A}"/>
              </a:ext>
            </a:extLst>
          </p:cNvPr>
          <p:cNvSpPr>
            <a:spLocks noGrp="1"/>
          </p:cNvSpPr>
          <p:nvPr>
            <p:ph type="title"/>
          </p:nvPr>
        </p:nvSpPr>
        <p:spPr>
          <a:xfrm>
            <a:off x="1381250" y="776364"/>
            <a:ext cx="7111240" cy="698868"/>
          </a:xfrm>
        </p:spPr>
        <p:txBody>
          <a:bodyPr/>
          <a:lstStyle/>
          <a:p>
            <a:pPr>
              <a:buClr>
                <a:srgbClr val="007DD6"/>
              </a:buClr>
            </a:pPr>
            <a:r>
              <a:rPr lang="fr-FR" dirty="0">
                <a:latin typeface="Lora" charset="0"/>
                <a:ea typeface="Lora" charset="0"/>
                <a:cs typeface="Lora" charset="0"/>
              </a:rPr>
              <a:t>Méthodes phénotypiques :</a:t>
            </a:r>
          </a:p>
        </p:txBody>
      </p:sp>
      <p:sp>
        <p:nvSpPr>
          <p:cNvPr id="3" name="Text Placeholder 2">
            <a:extLst>
              <a:ext uri="{FF2B5EF4-FFF2-40B4-BE49-F238E27FC236}">
                <a16:creationId xmlns:a16="http://schemas.microsoft.com/office/drawing/2014/main" id="{7D6AC1AF-FA4C-6F6D-C206-4623FE7E4E8D}"/>
              </a:ext>
            </a:extLst>
          </p:cNvPr>
          <p:cNvSpPr>
            <a:spLocks noGrp="1"/>
          </p:cNvSpPr>
          <p:nvPr>
            <p:ph type="body" idx="1"/>
          </p:nvPr>
        </p:nvSpPr>
        <p:spPr>
          <a:xfrm>
            <a:off x="243183" y="1463040"/>
            <a:ext cx="5348251" cy="3498198"/>
          </a:xfrm>
        </p:spPr>
        <p:txBody>
          <a:bodyPr/>
          <a:lstStyle/>
          <a:p>
            <a:pPr marL="285750" indent="-285750">
              <a:buClr>
                <a:srgbClr val="007DD6"/>
              </a:buClr>
              <a:buFont typeface="Arial" panose="020B0604020202020204" pitchFamily="34" charset="0"/>
              <a:buChar char="•"/>
            </a:pPr>
            <a:r>
              <a:rPr lang="fr-FR" sz="1600" b="1" dirty="0">
                <a:solidFill>
                  <a:srgbClr val="0069D9"/>
                </a:solidFill>
                <a:latin typeface="Lora" charset="0"/>
                <a:ea typeface="Lora" charset="0"/>
                <a:cs typeface="Lora" charset="0"/>
              </a:rPr>
              <a:t>Mesure de CMI en milieu solide:</a:t>
            </a:r>
          </a:p>
          <a:p>
            <a:pPr marL="285750" indent="-285750">
              <a:buClr>
                <a:srgbClr val="007DD6"/>
              </a:buClr>
              <a:buFont typeface="Arial" panose="020B0604020202020204" pitchFamily="34" charset="0"/>
              <a:buChar char="•"/>
            </a:pPr>
            <a:r>
              <a:rPr lang="fr-FR" sz="1600" dirty="0">
                <a:solidFill>
                  <a:schemeClr val="tx1"/>
                </a:solidFill>
                <a:latin typeface="Lora" charset="0"/>
                <a:ea typeface="Lora" charset="0"/>
                <a:cs typeface="Lora" charset="0"/>
              </a:rPr>
              <a:t>Deux méthodes existent afin de mesurer la CMI en milieu solide: </a:t>
            </a:r>
          </a:p>
          <a:p>
            <a:pPr marL="285750" indent="-285750">
              <a:buClr>
                <a:srgbClr val="007DD6"/>
              </a:buClr>
              <a:buFont typeface="Arial" panose="020B0604020202020204" pitchFamily="34" charset="0"/>
              <a:buChar char="•"/>
            </a:pPr>
            <a:r>
              <a:rPr lang="fr-FR" sz="1600" b="1" dirty="0">
                <a:solidFill>
                  <a:schemeClr val="tx1"/>
                </a:solidFill>
                <a:latin typeface="Lora" charset="0"/>
                <a:ea typeface="Lora" charset="0"/>
                <a:cs typeface="Lora" charset="0"/>
              </a:rPr>
              <a:t>La première: </a:t>
            </a:r>
            <a:r>
              <a:rPr lang="fr-FR" sz="1600" dirty="0">
                <a:solidFill>
                  <a:schemeClr val="tx1"/>
                </a:solidFill>
                <a:latin typeface="Lora" charset="0"/>
                <a:ea typeface="Lora" charset="0"/>
                <a:cs typeface="Lora" charset="0"/>
              </a:rPr>
              <a:t>consiste à incorporer l’antibiotique à une concentration donnée directement dans la gélose et de réaliser une gamme de concentrations sur plusieurs géloses. Les souches bactériennes peuvent alors être inoculées en spot standardisé  sur les différentes géloses de la gamme.</a:t>
            </a:r>
          </a:p>
          <a:p>
            <a:pPr marL="285750" indent="-285750">
              <a:buClr>
                <a:srgbClr val="007DD6"/>
              </a:buClr>
              <a:buFont typeface="Arial" panose="020B0604020202020204" pitchFamily="34" charset="0"/>
              <a:buChar char="•"/>
            </a:pPr>
            <a:r>
              <a:rPr lang="fr-FR" sz="1600" dirty="0">
                <a:solidFill>
                  <a:schemeClr val="tx1"/>
                </a:solidFill>
                <a:latin typeface="Lora" charset="0"/>
                <a:ea typeface="Lora" charset="0"/>
                <a:cs typeface="Lora" charset="0"/>
              </a:rPr>
              <a:t>L’absence de croissance bactérienne à une concentration donnée d’antibiotique correspond à la CMI.</a:t>
            </a:r>
          </a:p>
        </p:txBody>
      </p:sp>
      <p:sp>
        <p:nvSpPr>
          <p:cNvPr id="10" name="Oval 9">
            <a:extLst>
              <a:ext uri="{FF2B5EF4-FFF2-40B4-BE49-F238E27FC236}">
                <a16:creationId xmlns:a16="http://schemas.microsoft.com/office/drawing/2014/main" id="{5804AD76-D7B0-3502-322C-38DB5D95FE9C}"/>
              </a:ext>
            </a:extLst>
          </p:cNvPr>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6</a:t>
            </a:r>
          </a:p>
        </p:txBody>
      </p:sp>
      <p:pic>
        <p:nvPicPr>
          <p:cNvPr id="7" name="Image 6">
            <a:extLst>
              <a:ext uri="{FF2B5EF4-FFF2-40B4-BE49-F238E27FC236}">
                <a16:creationId xmlns:a16="http://schemas.microsoft.com/office/drawing/2014/main" id="{6E26CFF5-FCC3-B4A8-622E-E3EAA6D70E23}"/>
              </a:ext>
            </a:extLst>
          </p:cNvPr>
          <p:cNvPicPr>
            <a:picLocks noChangeAspect="1"/>
          </p:cNvPicPr>
          <p:nvPr/>
        </p:nvPicPr>
        <p:blipFill>
          <a:blip r:embed="rId3"/>
          <a:stretch>
            <a:fillRect/>
          </a:stretch>
        </p:blipFill>
        <p:spPr>
          <a:xfrm>
            <a:off x="5690511" y="1719941"/>
            <a:ext cx="3038517" cy="2984396"/>
          </a:xfrm>
          <a:prstGeom prst="rect">
            <a:avLst/>
          </a:prstGeom>
        </p:spPr>
      </p:pic>
    </p:spTree>
    <p:extLst>
      <p:ext uri="{BB962C8B-B14F-4D97-AF65-F5344CB8AC3E}">
        <p14:creationId xmlns:p14="http://schemas.microsoft.com/office/powerpoint/2010/main" val="1398562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E13C2-66BF-9C66-9BB5-0ECF106F17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F68FCA-6103-F99D-803F-156D7F009321}"/>
              </a:ext>
            </a:extLst>
          </p:cNvPr>
          <p:cNvSpPr>
            <a:spLocks noGrp="1"/>
          </p:cNvSpPr>
          <p:nvPr>
            <p:ph type="title"/>
          </p:nvPr>
        </p:nvSpPr>
        <p:spPr>
          <a:xfrm>
            <a:off x="1381250" y="776364"/>
            <a:ext cx="7111240" cy="698868"/>
          </a:xfrm>
        </p:spPr>
        <p:txBody>
          <a:bodyPr/>
          <a:lstStyle/>
          <a:p>
            <a:pPr>
              <a:buClr>
                <a:srgbClr val="007DD6"/>
              </a:buClr>
            </a:pPr>
            <a:r>
              <a:rPr lang="fr-FR" dirty="0">
                <a:latin typeface="Lora" charset="0"/>
                <a:ea typeface="Lora" charset="0"/>
                <a:cs typeface="Lora" charset="0"/>
              </a:rPr>
              <a:t>Méthodes phénotypiques :</a:t>
            </a:r>
          </a:p>
        </p:txBody>
      </p:sp>
      <p:sp>
        <p:nvSpPr>
          <p:cNvPr id="3" name="Text Placeholder 2">
            <a:extLst>
              <a:ext uri="{FF2B5EF4-FFF2-40B4-BE49-F238E27FC236}">
                <a16:creationId xmlns:a16="http://schemas.microsoft.com/office/drawing/2014/main" id="{55BE228A-E605-5034-F909-C6B95A630D23}"/>
              </a:ext>
            </a:extLst>
          </p:cNvPr>
          <p:cNvSpPr>
            <a:spLocks noGrp="1"/>
          </p:cNvSpPr>
          <p:nvPr>
            <p:ph type="body" idx="1"/>
          </p:nvPr>
        </p:nvSpPr>
        <p:spPr>
          <a:xfrm>
            <a:off x="113435" y="1450683"/>
            <a:ext cx="5904306" cy="3504376"/>
          </a:xfrm>
        </p:spPr>
        <p:txBody>
          <a:bodyPr/>
          <a:lstStyle/>
          <a:p>
            <a:pPr marL="285750" indent="-285750">
              <a:buClr>
                <a:srgbClr val="007DD6"/>
              </a:buClr>
              <a:buFont typeface="Arial" panose="020B0604020202020204" pitchFamily="34" charset="0"/>
              <a:buChar char="•"/>
            </a:pPr>
            <a:r>
              <a:rPr lang="fr-FR" sz="1800" b="1" dirty="0">
                <a:solidFill>
                  <a:srgbClr val="0069D9"/>
                </a:solidFill>
                <a:latin typeface="Lora" charset="0"/>
                <a:ea typeface="Lora" charset="0"/>
                <a:cs typeface="Lora" charset="0"/>
              </a:rPr>
              <a:t>Mesure de CMI en milieu solide:</a:t>
            </a:r>
          </a:p>
          <a:p>
            <a:pPr marL="285750" indent="-285750">
              <a:buClr>
                <a:srgbClr val="007DD6"/>
              </a:buClr>
              <a:buFont typeface="Arial" panose="020B0604020202020204" pitchFamily="34" charset="0"/>
              <a:buChar char="•"/>
            </a:pPr>
            <a:r>
              <a:rPr lang="fr-FR" sz="1800" dirty="0">
                <a:solidFill>
                  <a:schemeClr val="tx1"/>
                </a:solidFill>
                <a:latin typeface="Lora" charset="0"/>
                <a:ea typeface="Lora" charset="0"/>
                <a:cs typeface="Lora" charset="0"/>
              </a:rPr>
              <a:t>La deuxième méthode appelée </a:t>
            </a:r>
            <a:r>
              <a:rPr lang="fr-FR" sz="1800" dirty="0" err="1">
                <a:solidFill>
                  <a:schemeClr val="tx1"/>
                </a:solidFill>
                <a:latin typeface="Lora" charset="0"/>
                <a:ea typeface="Lora" charset="0"/>
                <a:cs typeface="Lora" charset="0"/>
              </a:rPr>
              <a:t>epsilométrie</a:t>
            </a:r>
            <a:r>
              <a:rPr lang="fr-FR" sz="1800" dirty="0">
                <a:solidFill>
                  <a:schemeClr val="tx1"/>
                </a:solidFill>
                <a:latin typeface="Lora" charset="0"/>
                <a:ea typeface="Lora" charset="0"/>
                <a:cs typeface="Lora" charset="0"/>
              </a:rPr>
              <a:t> repose sur l’utilisation de bandelettes imprégnées d’un gradient croissant de concentrations d’antibiotique. Le dépôt de ces bandelettes sur une gélose préalablement ensemencée avec une suspension standardisée bactérienne (0,5 </a:t>
            </a:r>
            <a:r>
              <a:rPr lang="fr-FR" sz="1800" dirty="0" err="1">
                <a:solidFill>
                  <a:schemeClr val="tx1"/>
                </a:solidFill>
                <a:latin typeface="Lora" charset="0"/>
                <a:ea typeface="Lora" charset="0"/>
                <a:cs typeface="Lora" charset="0"/>
              </a:rPr>
              <a:t>McFarland</a:t>
            </a:r>
            <a:r>
              <a:rPr lang="fr-FR" sz="1800" dirty="0">
                <a:solidFill>
                  <a:schemeClr val="tx1"/>
                </a:solidFill>
                <a:latin typeface="Lora" charset="0"/>
                <a:ea typeface="Lora" charset="0"/>
                <a:cs typeface="Lora" charset="0"/>
              </a:rPr>
              <a:t>) permet de mettre en évidence une zone d’inhibition ellipsoïdale. À sa base, la valeur de la CMI est visualisée après 18 à 24 heures d’incubation.</a:t>
            </a:r>
          </a:p>
          <a:p>
            <a:pPr marL="285750" indent="-285750">
              <a:buClr>
                <a:srgbClr val="007DD6"/>
              </a:buClr>
              <a:buFont typeface="Arial" panose="020B0604020202020204" pitchFamily="34" charset="0"/>
              <a:buChar char="•"/>
            </a:pPr>
            <a:endParaRPr lang="fr-FR" sz="1800" b="1" dirty="0">
              <a:solidFill>
                <a:srgbClr val="0069D9"/>
              </a:solidFill>
              <a:latin typeface="Lora" charset="0"/>
              <a:ea typeface="Lora" charset="0"/>
              <a:cs typeface="Lora" charset="0"/>
            </a:endParaRPr>
          </a:p>
        </p:txBody>
      </p:sp>
      <p:sp>
        <p:nvSpPr>
          <p:cNvPr id="10" name="Oval 9">
            <a:extLst>
              <a:ext uri="{FF2B5EF4-FFF2-40B4-BE49-F238E27FC236}">
                <a16:creationId xmlns:a16="http://schemas.microsoft.com/office/drawing/2014/main" id="{893384DC-E872-E501-4BA0-0C5A87CCA408}"/>
              </a:ext>
            </a:extLst>
          </p:cNvPr>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6</a:t>
            </a:r>
          </a:p>
        </p:txBody>
      </p:sp>
      <p:pic>
        <p:nvPicPr>
          <p:cNvPr id="8" name="Image 7">
            <a:extLst>
              <a:ext uri="{FF2B5EF4-FFF2-40B4-BE49-F238E27FC236}">
                <a16:creationId xmlns:a16="http://schemas.microsoft.com/office/drawing/2014/main" id="{1E7D7641-7A46-008F-6874-048AAE925334}"/>
              </a:ext>
            </a:extLst>
          </p:cNvPr>
          <p:cNvPicPr>
            <a:picLocks noChangeAspect="1"/>
          </p:cNvPicPr>
          <p:nvPr/>
        </p:nvPicPr>
        <p:blipFill>
          <a:blip r:embed="rId3"/>
          <a:stretch>
            <a:fillRect/>
          </a:stretch>
        </p:blipFill>
        <p:spPr>
          <a:xfrm>
            <a:off x="6076222" y="1506774"/>
            <a:ext cx="2652806" cy="3392194"/>
          </a:xfrm>
          <a:prstGeom prst="rect">
            <a:avLst/>
          </a:prstGeom>
        </p:spPr>
      </p:pic>
    </p:spTree>
    <p:extLst>
      <p:ext uri="{BB962C8B-B14F-4D97-AF65-F5344CB8AC3E}">
        <p14:creationId xmlns:p14="http://schemas.microsoft.com/office/powerpoint/2010/main" val="4074206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24E68-95F8-8C0D-EC31-7E6ED815D2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16EE67-D519-1775-1813-B5BED1B6E818}"/>
              </a:ext>
            </a:extLst>
          </p:cNvPr>
          <p:cNvSpPr>
            <a:spLocks noGrp="1"/>
          </p:cNvSpPr>
          <p:nvPr>
            <p:ph type="title"/>
          </p:nvPr>
        </p:nvSpPr>
        <p:spPr>
          <a:xfrm>
            <a:off x="1381250" y="776364"/>
            <a:ext cx="7111240" cy="698868"/>
          </a:xfrm>
        </p:spPr>
        <p:txBody>
          <a:bodyPr/>
          <a:lstStyle/>
          <a:p>
            <a:pPr>
              <a:buClr>
                <a:srgbClr val="007DD6"/>
              </a:buClr>
            </a:pPr>
            <a:r>
              <a:rPr lang="fr-FR" dirty="0">
                <a:latin typeface="Lora" charset="0"/>
                <a:ea typeface="Lora" charset="0"/>
                <a:cs typeface="Lora" charset="0"/>
              </a:rPr>
              <a:t>Méthodes phénotypiques :</a:t>
            </a:r>
          </a:p>
        </p:txBody>
      </p:sp>
      <p:sp>
        <p:nvSpPr>
          <p:cNvPr id="3" name="Text Placeholder 2">
            <a:extLst>
              <a:ext uri="{FF2B5EF4-FFF2-40B4-BE49-F238E27FC236}">
                <a16:creationId xmlns:a16="http://schemas.microsoft.com/office/drawing/2014/main" id="{DC7D06F2-C03E-0F5C-0555-B899C1565A67}"/>
              </a:ext>
            </a:extLst>
          </p:cNvPr>
          <p:cNvSpPr>
            <a:spLocks noGrp="1"/>
          </p:cNvSpPr>
          <p:nvPr>
            <p:ph type="body" idx="1"/>
          </p:nvPr>
        </p:nvSpPr>
        <p:spPr>
          <a:xfrm>
            <a:off x="113435" y="1450683"/>
            <a:ext cx="5904306" cy="3504376"/>
          </a:xfrm>
        </p:spPr>
        <p:txBody>
          <a:bodyPr/>
          <a:lstStyle/>
          <a:p>
            <a:pPr marL="285750" indent="-285750">
              <a:buClr>
                <a:srgbClr val="007DD6"/>
              </a:buClr>
              <a:buFont typeface="Arial" panose="020B0604020202020204" pitchFamily="34" charset="0"/>
              <a:buChar char="•"/>
            </a:pPr>
            <a:r>
              <a:rPr lang="fr-FR" sz="1800" b="1" dirty="0">
                <a:solidFill>
                  <a:srgbClr val="0069D9"/>
                </a:solidFill>
                <a:latin typeface="Lora" charset="0"/>
                <a:ea typeface="Lora" charset="0"/>
                <a:cs typeface="Lora" charset="0"/>
              </a:rPr>
              <a:t>Mesure de CMI en milieu solide:</a:t>
            </a:r>
          </a:p>
          <a:p>
            <a:pPr marL="285750" indent="-285750">
              <a:buClr>
                <a:srgbClr val="007DD6"/>
              </a:buClr>
              <a:buFont typeface="Arial" panose="020B0604020202020204" pitchFamily="34" charset="0"/>
              <a:buChar char="•"/>
            </a:pPr>
            <a:endParaRPr lang="fr-FR" sz="1800" b="1" dirty="0">
              <a:solidFill>
                <a:srgbClr val="0069D9"/>
              </a:solidFill>
              <a:latin typeface="Lora" charset="0"/>
              <a:ea typeface="Lora" charset="0"/>
              <a:cs typeface="Lora" charset="0"/>
            </a:endParaRPr>
          </a:p>
        </p:txBody>
      </p:sp>
      <p:sp>
        <p:nvSpPr>
          <p:cNvPr id="10" name="Oval 9">
            <a:extLst>
              <a:ext uri="{FF2B5EF4-FFF2-40B4-BE49-F238E27FC236}">
                <a16:creationId xmlns:a16="http://schemas.microsoft.com/office/drawing/2014/main" id="{CA19CA1C-EDC6-5810-8934-FE09B7D3F91D}"/>
              </a:ext>
            </a:extLst>
          </p:cNvPr>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6</a:t>
            </a:r>
          </a:p>
        </p:txBody>
      </p:sp>
      <p:pic>
        <p:nvPicPr>
          <p:cNvPr id="5" name="Image 4">
            <a:extLst>
              <a:ext uri="{FF2B5EF4-FFF2-40B4-BE49-F238E27FC236}">
                <a16:creationId xmlns:a16="http://schemas.microsoft.com/office/drawing/2014/main" id="{CCD7DA6B-EA75-1044-F707-D67BA2E0371D}"/>
              </a:ext>
            </a:extLst>
          </p:cNvPr>
          <p:cNvPicPr>
            <a:picLocks noChangeAspect="1"/>
          </p:cNvPicPr>
          <p:nvPr/>
        </p:nvPicPr>
        <p:blipFill>
          <a:blip r:embed="rId3"/>
          <a:stretch>
            <a:fillRect/>
          </a:stretch>
        </p:blipFill>
        <p:spPr>
          <a:xfrm>
            <a:off x="2872948" y="1850958"/>
            <a:ext cx="3597476" cy="3194200"/>
          </a:xfrm>
          <a:prstGeom prst="rect">
            <a:avLst/>
          </a:prstGeom>
        </p:spPr>
      </p:pic>
    </p:spTree>
    <p:extLst>
      <p:ext uri="{BB962C8B-B14F-4D97-AF65-F5344CB8AC3E}">
        <p14:creationId xmlns:p14="http://schemas.microsoft.com/office/powerpoint/2010/main" val="3793185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2CAE03-BB1F-A399-7B0F-DE09372C4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323F54-F362-99E3-7BC3-2EE05F523349}"/>
              </a:ext>
            </a:extLst>
          </p:cNvPr>
          <p:cNvSpPr>
            <a:spLocks noGrp="1"/>
          </p:cNvSpPr>
          <p:nvPr>
            <p:ph type="title"/>
          </p:nvPr>
        </p:nvSpPr>
        <p:spPr>
          <a:xfrm>
            <a:off x="1381250" y="776364"/>
            <a:ext cx="7111240" cy="698868"/>
          </a:xfrm>
        </p:spPr>
        <p:txBody>
          <a:bodyPr/>
          <a:lstStyle/>
          <a:p>
            <a:pPr>
              <a:buClr>
                <a:srgbClr val="007DD6"/>
              </a:buClr>
            </a:pPr>
            <a:r>
              <a:rPr lang="fr-FR" dirty="0">
                <a:latin typeface="Lora" charset="0"/>
                <a:ea typeface="Lora" charset="0"/>
                <a:cs typeface="Lora" charset="0"/>
              </a:rPr>
              <a:t>Méthodes phénotypiques :</a:t>
            </a:r>
          </a:p>
        </p:txBody>
      </p:sp>
      <p:sp>
        <p:nvSpPr>
          <p:cNvPr id="3" name="Text Placeholder 2">
            <a:extLst>
              <a:ext uri="{FF2B5EF4-FFF2-40B4-BE49-F238E27FC236}">
                <a16:creationId xmlns:a16="http://schemas.microsoft.com/office/drawing/2014/main" id="{3553FD4D-1187-7840-A6ED-7928234F6464}"/>
              </a:ext>
            </a:extLst>
          </p:cNvPr>
          <p:cNvSpPr>
            <a:spLocks noGrp="1"/>
          </p:cNvSpPr>
          <p:nvPr>
            <p:ph type="body" idx="1"/>
          </p:nvPr>
        </p:nvSpPr>
        <p:spPr>
          <a:xfrm>
            <a:off x="292608" y="1463040"/>
            <a:ext cx="8542388" cy="3340608"/>
          </a:xfrm>
        </p:spPr>
        <p:txBody>
          <a:bodyPr/>
          <a:lstStyle/>
          <a:p>
            <a:pPr marL="285750" indent="-285750">
              <a:buClr>
                <a:srgbClr val="007DD6"/>
              </a:buClr>
              <a:buFont typeface="Arial" panose="020B0604020202020204" pitchFamily="34" charset="0"/>
              <a:buChar char="•"/>
            </a:pPr>
            <a:r>
              <a:rPr lang="fr-FR" sz="1800" b="1" dirty="0">
                <a:solidFill>
                  <a:srgbClr val="0069D9"/>
                </a:solidFill>
                <a:latin typeface="Lora" charset="0"/>
                <a:ea typeface="Lora" charset="0"/>
                <a:cs typeface="Lora" charset="0"/>
              </a:rPr>
              <a:t>Antibiogramme en diffusion =&gt; estimation de CMI</a:t>
            </a:r>
          </a:p>
          <a:p>
            <a:pPr marL="285750" indent="-285750">
              <a:buClr>
                <a:srgbClr val="007DD6"/>
              </a:buClr>
              <a:buFont typeface="Arial" panose="020B0604020202020204" pitchFamily="34" charset="0"/>
              <a:buChar char="•"/>
            </a:pPr>
            <a:r>
              <a:rPr lang="fr-FR" sz="1800" dirty="0">
                <a:solidFill>
                  <a:schemeClr val="tx1"/>
                </a:solidFill>
                <a:latin typeface="Lora" charset="0"/>
                <a:ea typeface="Lora" charset="0"/>
                <a:cs typeface="Lora" charset="0"/>
              </a:rPr>
              <a:t>En pratique, la détermination de la CMI pour un grand nombre d’antibiotiques est fastidieuse et la réalisation d’un antibiogramme en diffusion lui est préférée. </a:t>
            </a:r>
          </a:p>
          <a:p>
            <a:pPr marL="285750" indent="-285750">
              <a:buClr>
                <a:srgbClr val="007DD6"/>
              </a:buClr>
              <a:buFont typeface="Arial" panose="020B0604020202020204" pitchFamily="34" charset="0"/>
              <a:buChar char="•"/>
            </a:pPr>
            <a:r>
              <a:rPr lang="fr-FR" sz="1800" dirty="0">
                <a:solidFill>
                  <a:schemeClr val="tx1"/>
                </a:solidFill>
                <a:latin typeface="Lora" charset="0"/>
                <a:ea typeface="Lora" charset="0"/>
                <a:cs typeface="Lora" charset="0"/>
              </a:rPr>
              <a:t>Cette technique repose sur l’utilisation de disques imprégnés d’une quantité standardisée d’antibiotique qui sont déposés sur un tapis bactérien calibré. Au contact de la gélose, les antibiotiques contenus dans le disque diffusent dans le milieu, ce qui permet, après 24 heures d’incubation, la visualisation ou non d’une zone d’inhibition permettant de mettre en évidence l’effet antibiotique. La corrélation entre la zone d’inhibition (diamètre) et les CMI permet de déterminer des valeurs seuils afin des catégoriser les isolats dans les trois catégories. </a:t>
            </a:r>
          </a:p>
        </p:txBody>
      </p:sp>
      <p:sp>
        <p:nvSpPr>
          <p:cNvPr id="10" name="Oval 9">
            <a:extLst>
              <a:ext uri="{FF2B5EF4-FFF2-40B4-BE49-F238E27FC236}">
                <a16:creationId xmlns:a16="http://schemas.microsoft.com/office/drawing/2014/main" id="{FDF42BC1-5D4B-9616-3886-C3B0219D5696}"/>
              </a:ext>
            </a:extLst>
          </p:cNvPr>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6</a:t>
            </a:r>
          </a:p>
        </p:txBody>
      </p:sp>
    </p:spTree>
    <p:extLst>
      <p:ext uri="{BB962C8B-B14F-4D97-AF65-F5344CB8AC3E}">
        <p14:creationId xmlns:p14="http://schemas.microsoft.com/office/powerpoint/2010/main" val="2611973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B5CDB2-6360-6FDF-D363-4842B29F9F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A9815F-B456-3B78-7ED0-5634DD43A3B0}"/>
              </a:ext>
            </a:extLst>
          </p:cNvPr>
          <p:cNvSpPr>
            <a:spLocks noGrp="1"/>
          </p:cNvSpPr>
          <p:nvPr>
            <p:ph type="title"/>
          </p:nvPr>
        </p:nvSpPr>
        <p:spPr>
          <a:xfrm>
            <a:off x="1381250" y="776364"/>
            <a:ext cx="7111240" cy="698868"/>
          </a:xfrm>
        </p:spPr>
        <p:txBody>
          <a:bodyPr/>
          <a:lstStyle/>
          <a:p>
            <a:pPr>
              <a:buClr>
                <a:srgbClr val="007DD6"/>
              </a:buClr>
            </a:pPr>
            <a:r>
              <a:rPr lang="fr-FR" dirty="0">
                <a:latin typeface="Lora" charset="0"/>
                <a:ea typeface="Lora" charset="0"/>
                <a:cs typeface="Lora" charset="0"/>
              </a:rPr>
              <a:t>Méthodes phénotypiques :</a:t>
            </a:r>
          </a:p>
        </p:txBody>
      </p:sp>
      <p:sp>
        <p:nvSpPr>
          <p:cNvPr id="3" name="Text Placeholder 2">
            <a:extLst>
              <a:ext uri="{FF2B5EF4-FFF2-40B4-BE49-F238E27FC236}">
                <a16:creationId xmlns:a16="http://schemas.microsoft.com/office/drawing/2014/main" id="{B8069786-BEC8-6BE6-53E2-662785ED1982}"/>
              </a:ext>
            </a:extLst>
          </p:cNvPr>
          <p:cNvSpPr>
            <a:spLocks noGrp="1"/>
          </p:cNvSpPr>
          <p:nvPr>
            <p:ph type="body" idx="1"/>
          </p:nvPr>
        </p:nvSpPr>
        <p:spPr>
          <a:xfrm>
            <a:off x="292608" y="1463040"/>
            <a:ext cx="8542388" cy="3340608"/>
          </a:xfrm>
        </p:spPr>
        <p:txBody>
          <a:bodyPr/>
          <a:lstStyle/>
          <a:p>
            <a:pPr marL="285750" indent="-285750">
              <a:buClr>
                <a:srgbClr val="007DD6"/>
              </a:buClr>
              <a:buFont typeface="Arial" panose="020B0604020202020204" pitchFamily="34" charset="0"/>
              <a:buChar char="•"/>
            </a:pPr>
            <a:r>
              <a:rPr lang="fr-FR" sz="1800" b="1" dirty="0">
                <a:solidFill>
                  <a:srgbClr val="0069D9"/>
                </a:solidFill>
                <a:latin typeface="Lora" charset="0"/>
                <a:ea typeface="Lora" charset="0"/>
                <a:cs typeface="Lora" charset="0"/>
              </a:rPr>
              <a:t>Antibiogramme en diffusion -estimation de CMI-</a:t>
            </a:r>
          </a:p>
          <a:p>
            <a:pPr marL="285750" indent="-285750">
              <a:buClr>
                <a:srgbClr val="007DD6"/>
              </a:buClr>
              <a:buFont typeface="Arial" panose="020B0604020202020204" pitchFamily="34" charset="0"/>
              <a:buChar char="•"/>
            </a:pPr>
            <a:r>
              <a:rPr lang="fr-FR" sz="1800" dirty="0">
                <a:solidFill>
                  <a:schemeClr val="tx1"/>
                </a:solidFill>
                <a:latin typeface="Lora" charset="0"/>
                <a:ea typeface="Lora" charset="0"/>
                <a:cs typeface="Lora" charset="0"/>
              </a:rPr>
              <a:t>Cette technique possède des avantages en termes de rapidité et de coût tout en permettant de mettre en évidence des mécanismes de résistance complexes. </a:t>
            </a:r>
          </a:p>
          <a:p>
            <a:pPr marL="285750" indent="-285750">
              <a:buClr>
                <a:srgbClr val="007DD6"/>
              </a:buClr>
              <a:buFont typeface="Arial" panose="020B0604020202020204" pitchFamily="34" charset="0"/>
              <a:buChar char="•"/>
            </a:pPr>
            <a:r>
              <a:rPr lang="fr-FR" sz="1800" dirty="0">
                <a:solidFill>
                  <a:schemeClr val="tx1"/>
                </a:solidFill>
                <a:latin typeface="Lora" charset="0"/>
                <a:ea typeface="Lora" charset="0"/>
                <a:cs typeface="Lora" charset="0"/>
              </a:rPr>
              <a:t>Cependant, certains antibiotiques ont une mauvaise reproductibilité avec cette technique et doivent être testés en </a:t>
            </a:r>
            <a:r>
              <a:rPr lang="fr-FR" sz="1800" dirty="0" err="1">
                <a:solidFill>
                  <a:schemeClr val="tx1"/>
                </a:solidFill>
                <a:latin typeface="Lora" charset="0"/>
                <a:ea typeface="Lora" charset="0"/>
                <a:cs typeface="Lora" charset="0"/>
              </a:rPr>
              <a:t>microdilution</a:t>
            </a:r>
            <a:r>
              <a:rPr lang="fr-FR" sz="1800" dirty="0">
                <a:solidFill>
                  <a:schemeClr val="tx1"/>
                </a:solidFill>
                <a:latin typeface="Lora" charset="0"/>
                <a:ea typeface="Lora" charset="0"/>
                <a:cs typeface="Lora" charset="0"/>
              </a:rPr>
              <a:t> (exemple : colistine et vancomycine ).</a:t>
            </a:r>
            <a:br>
              <a:rPr lang="fr-FR" sz="1800" dirty="0">
                <a:solidFill>
                  <a:schemeClr val="tx1"/>
                </a:solidFill>
                <a:latin typeface="Lora" charset="0"/>
                <a:ea typeface="Lora" charset="0"/>
                <a:cs typeface="Lora" charset="0"/>
              </a:rPr>
            </a:br>
            <a:endParaRPr lang="fr-FR" sz="1800" dirty="0">
              <a:solidFill>
                <a:schemeClr val="tx1"/>
              </a:solidFill>
              <a:latin typeface="Lora" charset="0"/>
              <a:ea typeface="Lora" charset="0"/>
              <a:cs typeface="Lora" charset="0"/>
            </a:endParaRPr>
          </a:p>
        </p:txBody>
      </p:sp>
      <p:sp>
        <p:nvSpPr>
          <p:cNvPr id="10" name="Oval 9">
            <a:extLst>
              <a:ext uri="{FF2B5EF4-FFF2-40B4-BE49-F238E27FC236}">
                <a16:creationId xmlns:a16="http://schemas.microsoft.com/office/drawing/2014/main" id="{01EE12F1-6B6A-E26C-CB87-B23929700957}"/>
              </a:ext>
            </a:extLst>
          </p:cNvPr>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6</a:t>
            </a:r>
          </a:p>
        </p:txBody>
      </p:sp>
    </p:spTree>
    <p:extLst>
      <p:ext uri="{BB962C8B-B14F-4D97-AF65-F5344CB8AC3E}">
        <p14:creationId xmlns:p14="http://schemas.microsoft.com/office/powerpoint/2010/main" val="3927833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55D62-146E-7ED6-80E2-260CCCD823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E6A3FD-0482-6784-D405-0FAF4C1E2BAF}"/>
              </a:ext>
            </a:extLst>
          </p:cNvPr>
          <p:cNvSpPr>
            <a:spLocks noGrp="1"/>
          </p:cNvSpPr>
          <p:nvPr>
            <p:ph type="title"/>
          </p:nvPr>
        </p:nvSpPr>
        <p:spPr>
          <a:xfrm>
            <a:off x="1381250" y="776364"/>
            <a:ext cx="7111240" cy="698868"/>
          </a:xfrm>
        </p:spPr>
        <p:txBody>
          <a:bodyPr/>
          <a:lstStyle/>
          <a:p>
            <a:pPr>
              <a:buClr>
                <a:srgbClr val="007DD6"/>
              </a:buClr>
            </a:pPr>
            <a:r>
              <a:rPr lang="fr-FR" dirty="0">
                <a:latin typeface="Lora" charset="0"/>
                <a:ea typeface="Lora" charset="0"/>
                <a:cs typeface="Lora" charset="0"/>
              </a:rPr>
              <a:t>Méthodes phénotypiques :</a:t>
            </a:r>
          </a:p>
        </p:txBody>
      </p:sp>
      <p:sp>
        <p:nvSpPr>
          <p:cNvPr id="3" name="Text Placeholder 2">
            <a:extLst>
              <a:ext uri="{FF2B5EF4-FFF2-40B4-BE49-F238E27FC236}">
                <a16:creationId xmlns:a16="http://schemas.microsoft.com/office/drawing/2014/main" id="{F724E83B-869F-CE32-130F-8A0CAF7BCBAF}"/>
              </a:ext>
            </a:extLst>
          </p:cNvPr>
          <p:cNvSpPr>
            <a:spLocks noGrp="1"/>
          </p:cNvSpPr>
          <p:nvPr>
            <p:ph type="body" idx="1"/>
          </p:nvPr>
        </p:nvSpPr>
        <p:spPr>
          <a:xfrm>
            <a:off x="292608" y="1463040"/>
            <a:ext cx="8542388" cy="3340608"/>
          </a:xfrm>
        </p:spPr>
        <p:txBody>
          <a:bodyPr/>
          <a:lstStyle/>
          <a:p>
            <a:pPr marL="285750" indent="-285750">
              <a:buClr>
                <a:srgbClr val="007DD6"/>
              </a:buClr>
              <a:buFont typeface="Arial" panose="020B0604020202020204" pitchFamily="34" charset="0"/>
              <a:buChar char="•"/>
            </a:pPr>
            <a:r>
              <a:rPr lang="fr-FR" sz="1800" b="1" dirty="0">
                <a:solidFill>
                  <a:srgbClr val="0069D9"/>
                </a:solidFill>
                <a:latin typeface="Lora" charset="0"/>
                <a:ea typeface="Lora" charset="0"/>
                <a:cs typeface="Lora" charset="0"/>
              </a:rPr>
              <a:t>Antibiogramme en diffusion -estimation de CMI-</a:t>
            </a:r>
          </a:p>
          <a:p>
            <a:pPr marL="285750" indent="-285750">
              <a:buClr>
                <a:srgbClr val="007DD6"/>
              </a:buClr>
              <a:buFont typeface="Arial" panose="020B0604020202020204" pitchFamily="34" charset="0"/>
              <a:buChar char="•"/>
            </a:pPr>
            <a:r>
              <a:rPr lang="fr-FR" sz="1800" b="1" dirty="0">
                <a:solidFill>
                  <a:srgbClr val="0069D9"/>
                </a:solidFill>
                <a:latin typeface="Lora" charset="0"/>
                <a:ea typeface="Lora" charset="0"/>
                <a:cs typeface="Lora" charset="0"/>
              </a:rPr>
              <a:t> </a:t>
            </a:r>
          </a:p>
        </p:txBody>
      </p:sp>
      <p:sp>
        <p:nvSpPr>
          <p:cNvPr id="10" name="Oval 9">
            <a:extLst>
              <a:ext uri="{FF2B5EF4-FFF2-40B4-BE49-F238E27FC236}">
                <a16:creationId xmlns:a16="http://schemas.microsoft.com/office/drawing/2014/main" id="{DF25AB32-7513-DF7F-F604-A8E41CE393DA}"/>
              </a:ext>
            </a:extLst>
          </p:cNvPr>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6</a:t>
            </a:r>
          </a:p>
        </p:txBody>
      </p:sp>
      <p:pic>
        <p:nvPicPr>
          <p:cNvPr id="5" name="Image 4">
            <a:extLst>
              <a:ext uri="{FF2B5EF4-FFF2-40B4-BE49-F238E27FC236}">
                <a16:creationId xmlns:a16="http://schemas.microsoft.com/office/drawing/2014/main" id="{288E5301-A91F-3348-87DE-75F3477D1DA8}"/>
              </a:ext>
            </a:extLst>
          </p:cNvPr>
          <p:cNvPicPr>
            <a:picLocks noChangeAspect="1"/>
          </p:cNvPicPr>
          <p:nvPr/>
        </p:nvPicPr>
        <p:blipFill>
          <a:blip r:embed="rId3"/>
          <a:stretch>
            <a:fillRect/>
          </a:stretch>
        </p:blipFill>
        <p:spPr>
          <a:xfrm>
            <a:off x="195296" y="2161908"/>
            <a:ext cx="4741574" cy="2382023"/>
          </a:xfrm>
          <a:prstGeom prst="rect">
            <a:avLst/>
          </a:prstGeom>
        </p:spPr>
      </p:pic>
      <p:pic>
        <p:nvPicPr>
          <p:cNvPr id="6" name="Image 5">
            <a:extLst>
              <a:ext uri="{FF2B5EF4-FFF2-40B4-BE49-F238E27FC236}">
                <a16:creationId xmlns:a16="http://schemas.microsoft.com/office/drawing/2014/main" id="{5BD4E6FE-7A6C-31D9-954D-77CEE9E176D6}"/>
              </a:ext>
            </a:extLst>
          </p:cNvPr>
          <p:cNvPicPr>
            <a:picLocks noChangeAspect="1"/>
          </p:cNvPicPr>
          <p:nvPr/>
        </p:nvPicPr>
        <p:blipFill>
          <a:blip r:embed="rId4"/>
          <a:stretch>
            <a:fillRect/>
          </a:stretch>
        </p:blipFill>
        <p:spPr>
          <a:xfrm>
            <a:off x="5241429" y="2161908"/>
            <a:ext cx="2541883" cy="2514600"/>
          </a:xfrm>
          <a:prstGeom prst="rect">
            <a:avLst/>
          </a:prstGeom>
        </p:spPr>
      </p:pic>
    </p:spTree>
    <p:extLst>
      <p:ext uri="{BB962C8B-B14F-4D97-AF65-F5344CB8AC3E}">
        <p14:creationId xmlns:p14="http://schemas.microsoft.com/office/powerpoint/2010/main" val="22207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97E06-C6D9-D60B-E80A-F5A8681162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4F50A1-AF82-B62A-677A-70BA2E5251CA}"/>
              </a:ext>
            </a:extLst>
          </p:cNvPr>
          <p:cNvSpPr>
            <a:spLocks noGrp="1"/>
          </p:cNvSpPr>
          <p:nvPr>
            <p:ph type="title"/>
          </p:nvPr>
        </p:nvSpPr>
        <p:spPr>
          <a:xfrm>
            <a:off x="1381250" y="776364"/>
            <a:ext cx="7111240" cy="698868"/>
          </a:xfrm>
        </p:spPr>
        <p:txBody>
          <a:bodyPr/>
          <a:lstStyle/>
          <a:p>
            <a:pPr>
              <a:buClr>
                <a:srgbClr val="007DD6"/>
              </a:buClr>
            </a:pPr>
            <a:r>
              <a:rPr lang="fr-FR" dirty="0">
                <a:latin typeface="Lora" charset="0"/>
                <a:ea typeface="Lora" charset="0"/>
                <a:cs typeface="Lora" charset="0"/>
              </a:rPr>
              <a:t>Méthodes phénotypiques :</a:t>
            </a:r>
          </a:p>
        </p:txBody>
      </p:sp>
      <p:sp>
        <p:nvSpPr>
          <p:cNvPr id="3" name="Text Placeholder 2">
            <a:extLst>
              <a:ext uri="{FF2B5EF4-FFF2-40B4-BE49-F238E27FC236}">
                <a16:creationId xmlns:a16="http://schemas.microsoft.com/office/drawing/2014/main" id="{5EF37244-8368-85E3-F61D-3CE9B0AEB41B}"/>
              </a:ext>
            </a:extLst>
          </p:cNvPr>
          <p:cNvSpPr>
            <a:spLocks noGrp="1"/>
          </p:cNvSpPr>
          <p:nvPr>
            <p:ph type="body" idx="1"/>
          </p:nvPr>
        </p:nvSpPr>
        <p:spPr>
          <a:xfrm>
            <a:off x="292608" y="1463040"/>
            <a:ext cx="8542388" cy="3340608"/>
          </a:xfrm>
        </p:spPr>
        <p:txBody>
          <a:bodyPr/>
          <a:lstStyle/>
          <a:p>
            <a:pPr marL="285750" indent="-285750">
              <a:buClr>
                <a:srgbClr val="007DD6"/>
              </a:buClr>
              <a:buFont typeface="Arial" panose="020B0604020202020204" pitchFamily="34" charset="0"/>
              <a:buChar char="•"/>
            </a:pPr>
            <a:r>
              <a:rPr lang="fr-FR" sz="1800" b="1" dirty="0">
                <a:solidFill>
                  <a:srgbClr val="0069D9"/>
                </a:solidFill>
                <a:latin typeface="Lora" charset="0"/>
                <a:ea typeface="Lora" charset="0"/>
                <a:cs typeface="Lora" charset="0"/>
              </a:rPr>
              <a:t>Méthodes automatisés:</a:t>
            </a:r>
            <a:r>
              <a:rPr lang="fr-FR" sz="1800" dirty="0">
                <a:solidFill>
                  <a:schemeClr val="tx1"/>
                </a:solidFill>
                <a:latin typeface="Lora" charset="0"/>
                <a:ea typeface="Lora" charset="0"/>
                <a:cs typeface="Lora" charset="0"/>
              </a:rPr>
              <a:t> </a:t>
            </a:r>
          </a:p>
          <a:p>
            <a:pPr marL="285750" indent="-285750">
              <a:buClr>
                <a:srgbClr val="007DD6"/>
              </a:buClr>
              <a:buFont typeface="Arial" panose="020B0604020202020204" pitchFamily="34" charset="0"/>
              <a:buChar char="•"/>
            </a:pPr>
            <a:r>
              <a:rPr lang="fr-FR" sz="1800" dirty="0">
                <a:solidFill>
                  <a:schemeClr val="tx1"/>
                </a:solidFill>
                <a:latin typeface="Lora" charset="0"/>
                <a:ea typeface="Lora" charset="0"/>
                <a:cs typeface="Lora" charset="0"/>
              </a:rPr>
              <a:t>Pour être compatible avec la pratique hospitalière, des méthodes automatisées ou semi-automatisées ont été développées.</a:t>
            </a:r>
          </a:p>
          <a:p>
            <a:pPr marL="285750" indent="-285750">
              <a:buClr>
                <a:srgbClr val="007DD6"/>
              </a:buClr>
              <a:buFont typeface="Arial" panose="020B0604020202020204" pitchFamily="34" charset="0"/>
              <a:buChar char="•"/>
            </a:pPr>
            <a:r>
              <a:rPr lang="fr-FR" sz="1800" dirty="0">
                <a:solidFill>
                  <a:schemeClr val="tx1"/>
                </a:solidFill>
                <a:latin typeface="Lora" charset="0"/>
                <a:ea typeface="Lora" charset="0"/>
                <a:cs typeface="Lora" charset="0"/>
              </a:rPr>
              <a:t>Plusieurs automates proposent une lecture automatisée adaptée au milieu liquide.</a:t>
            </a:r>
          </a:p>
          <a:p>
            <a:pPr marL="285750" indent="-285750">
              <a:buClr>
                <a:srgbClr val="007DD6"/>
              </a:buClr>
              <a:buFont typeface="Arial" panose="020B0604020202020204" pitchFamily="34" charset="0"/>
              <a:buChar char="•"/>
            </a:pPr>
            <a:r>
              <a:rPr lang="fr-FR" sz="1800" dirty="0">
                <a:solidFill>
                  <a:schemeClr val="tx1"/>
                </a:solidFill>
                <a:latin typeface="Lora" charset="0"/>
                <a:ea typeface="Lora" charset="0"/>
                <a:cs typeface="Lora" charset="0"/>
              </a:rPr>
              <a:t>Des plaques en </a:t>
            </a:r>
            <a:r>
              <a:rPr lang="fr-FR" sz="1800" dirty="0" err="1">
                <a:solidFill>
                  <a:schemeClr val="tx1"/>
                </a:solidFill>
                <a:latin typeface="Lora" charset="0"/>
                <a:ea typeface="Lora" charset="0"/>
                <a:cs typeface="Lora" charset="0"/>
              </a:rPr>
              <a:t>micropuits</a:t>
            </a:r>
            <a:r>
              <a:rPr lang="fr-FR" sz="1800" dirty="0">
                <a:solidFill>
                  <a:schemeClr val="tx1"/>
                </a:solidFill>
                <a:latin typeface="Lora" charset="0"/>
                <a:ea typeface="Lora" charset="0"/>
                <a:cs typeface="Lora" charset="0"/>
              </a:rPr>
              <a:t> contenant plusieurs gammes d’antibiotiques sont inoculées avec une concentration bactérienne standardisée. Après une incubation réduite (4–16 h), la lecture spectrophotométrique ou turbidimétrique est réalisée, permettant de fournir une valeur de CMI proche des techniques conventionnelles.</a:t>
            </a:r>
          </a:p>
        </p:txBody>
      </p:sp>
      <p:sp>
        <p:nvSpPr>
          <p:cNvPr id="10" name="Oval 9">
            <a:extLst>
              <a:ext uri="{FF2B5EF4-FFF2-40B4-BE49-F238E27FC236}">
                <a16:creationId xmlns:a16="http://schemas.microsoft.com/office/drawing/2014/main" id="{CFB4FBB9-5327-07A4-A974-D259C5CF4361}"/>
              </a:ext>
            </a:extLst>
          </p:cNvPr>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6</a:t>
            </a:r>
          </a:p>
        </p:txBody>
      </p:sp>
    </p:spTree>
    <p:extLst>
      <p:ext uri="{BB962C8B-B14F-4D97-AF65-F5344CB8AC3E}">
        <p14:creationId xmlns:p14="http://schemas.microsoft.com/office/powerpoint/2010/main" val="2548452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3C786-CD02-CD84-B340-86799A5ADC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DD0F8B-9BA0-0D68-7844-66A3336C418A}"/>
              </a:ext>
            </a:extLst>
          </p:cNvPr>
          <p:cNvSpPr>
            <a:spLocks noGrp="1"/>
          </p:cNvSpPr>
          <p:nvPr>
            <p:ph type="title"/>
          </p:nvPr>
        </p:nvSpPr>
        <p:spPr>
          <a:xfrm>
            <a:off x="1381250" y="776364"/>
            <a:ext cx="7111240" cy="698868"/>
          </a:xfrm>
        </p:spPr>
        <p:txBody>
          <a:bodyPr/>
          <a:lstStyle/>
          <a:p>
            <a:pPr>
              <a:buClr>
                <a:srgbClr val="007DD6"/>
              </a:buClr>
            </a:pPr>
            <a:r>
              <a:rPr lang="fr-FR" dirty="0">
                <a:latin typeface="Lora" charset="0"/>
                <a:ea typeface="Lora" charset="0"/>
                <a:cs typeface="Lora" charset="0"/>
              </a:rPr>
              <a:t>Méthodes phénotypiques :</a:t>
            </a:r>
          </a:p>
        </p:txBody>
      </p:sp>
      <p:sp>
        <p:nvSpPr>
          <p:cNvPr id="3" name="Text Placeholder 2">
            <a:extLst>
              <a:ext uri="{FF2B5EF4-FFF2-40B4-BE49-F238E27FC236}">
                <a16:creationId xmlns:a16="http://schemas.microsoft.com/office/drawing/2014/main" id="{2F4D897D-F7BE-FBF3-6A21-62BD6EF6AD0B}"/>
              </a:ext>
            </a:extLst>
          </p:cNvPr>
          <p:cNvSpPr>
            <a:spLocks noGrp="1"/>
          </p:cNvSpPr>
          <p:nvPr>
            <p:ph type="body" idx="1"/>
          </p:nvPr>
        </p:nvSpPr>
        <p:spPr>
          <a:xfrm>
            <a:off x="292608" y="1463040"/>
            <a:ext cx="8542388" cy="3340608"/>
          </a:xfrm>
        </p:spPr>
        <p:txBody>
          <a:bodyPr/>
          <a:lstStyle/>
          <a:p>
            <a:pPr marL="285750" indent="-285750">
              <a:buClr>
                <a:srgbClr val="007DD6"/>
              </a:buClr>
              <a:buFont typeface="Arial" panose="020B0604020202020204" pitchFamily="34" charset="0"/>
              <a:buChar char="•"/>
            </a:pPr>
            <a:r>
              <a:rPr lang="fr-FR" sz="1800" b="1" dirty="0">
                <a:solidFill>
                  <a:srgbClr val="0069D9"/>
                </a:solidFill>
                <a:latin typeface="Lora" charset="0"/>
                <a:ea typeface="Lora" charset="0"/>
                <a:cs typeface="Lora" charset="0"/>
              </a:rPr>
              <a:t>Méthodes automatisés:</a:t>
            </a:r>
            <a:r>
              <a:rPr lang="fr-FR" sz="1800" dirty="0">
                <a:solidFill>
                  <a:schemeClr val="tx1"/>
                </a:solidFill>
                <a:latin typeface="Lora" charset="0"/>
                <a:ea typeface="Lora" charset="0"/>
                <a:cs typeface="Lora" charset="0"/>
              </a:rPr>
              <a:t> </a:t>
            </a:r>
          </a:p>
        </p:txBody>
      </p:sp>
      <p:sp>
        <p:nvSpPr>
          <p:cNvPr id="10" name="Oval 9">
            <a:extLst>
              <a:ext uri="{FF2B5EF4-FFF2-40B4-BE49-F238E27FC236}">
                <a16:creationId xmlns:a16="http://schemas.microsoft.com/office/drawing/2014/main" id="{8E2B6F99-243C-1143-DE8F-133D8D7754F1}"/>
              </a:ext>
            </a:extLst>
          </p:cNvPr>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6</a:t>
            </a:r>
          </a:p>
        </p:txBody>
      </p:sp>
      <p:pic>
        <p:nvPicPr>
          <p:cNvPr id="5" name="Image 4">
            <a:extLst>
              <a:ext uri="{FF2B5EF4-FFF2-40B4-BE49-F238E27FC236}">
                <a16:creationId xmlns:a16="http://schemas.microsoft.com/office/drawing/2014/main" id="{1B72EBA1-C681-6663-0ACC-445B45B69C2F}"/>
              </a:ext>
            </a:extLst>
          </p:cNvPr>
          <p:cNvPicPr>
            <a:picLocks noChangeAspect="1"/>
          </p:cNvPicPr>
          <p:nvPr/>
        </p:nvPicPr>
        <p:blipFill>
          <a:blip r:embed="rId3"/>
          <a:stretch>
            <a:fillRect/>
          </a:stretch>
        </p:blipFill>
        <p:spPr>
          <a:xfrm>
            <a:off x="756855" y="1888071"/>
            <a:ext cx="3419729" cy="2915577"/>
          </a:xfrm>
          <a:prstGeom prst="rect">
            <a:avLst/>
          </a:prstGeom>
        </p:spPr>
      </p:pic>
      <p:pic>
        <p:nvPicPr>
          <p:cNvPr id="7" name="Image 6">
            <a:extLst>
              <a:ext uri="{FF2B5EF4-FFF2-40B4-BE49-F238E27FC236}">
                <a16:creationId xmlns:a16="http://schemas.microsoft.com/office/drawing/2014/main" id="{6BF2B5F1-A1D3-C05A-7B98-95D465FE76E1}"/>
              </a:ext>
            </a:extLst>
          </p:cNvPr>
          <p:cNvPicPr>
            <a:picLocks noChangeAspect="1"/>
          </p:cNvPicPr>
          <p:nvPr/>
        </p:nvPicPr>
        <p:blipFill>
          <a:blip r:embed="rId4"/>
          <a:stretch>
            <a:fillRect/>
          </a:stretch>
        </p:blipFill>
        <p:spPr>
          <a:xfrm>
            <a:off x="4328236" y="1987723"/>
            <a:ext cx="4355108" cy="2815925"/>
          </a:xfrm>
          <a:prstGeom prst="rect">
            <a:avLst/>
          </a:prstGeom>
        </p:spPr>
      </p:pic>
    </p:spTree>
    <p:extLst>
      <p:ext uri="{BB962C8B-B14F-4D97-AF65-F5344CB8AC3E}">
        <p14:creationId xmlns:p14="http://schemas.microsoft.com/office/powerpoint/2010/main" val="2671125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34417" y="2276990"/>
            <a:ext cx="6597519" cy="589519"/>
          </a:xfrm>
        </p:spPr>
        <p:txBody>
          <a:bodyPr/>
          <a:lstStyle/>
          <a:p>
            <a:pPr>
              <a:buClr>
                <a:srgbClr val="007DD6"/>
              </a:buClr>
            </a:pPr>
            <a:r>
              <a:rPr lang="fr-FR" dirty="0">
                <a:latin typeface="Lora" charset="0"/>
                <a:ea typeface="Lora" charset="0"/>
                <a:cs typeface="Lora" charset="0"/>
              </a:rPr>
              <a:t>Méthodes génotypiques</a:t>
            </a:r>
          </a:p>
        </p:txBody>
      </p:sp>
      <p:sp>
        <p:nvSpPr>
          <p:cNvPr id="10" name="TextBox 9"/>
          <p:cNvSpPr txBox="1"/>
          <p:nvPr/>
        </p:nvSpPr>
        <p:spPr>
          <a:xfrm>
            <a:off x="1229697" y="2339092"/>
            <a:ext cx="356188" cy="461665"/>
          </a:xfrm>
          <a:prstGeom prst="rect">
            <a:avLst/>
          </a:prstGeom>
          <a:noFill/>
        </p:spPr>
        <p:txBody>
          <a:bodyPr wrap="none" rtlCol="0">
            <a:spAutoFit/>
          </a:bodyPr>
          <a:lstStyle/>
          <a:p>
            <a:r>
              <a:rPr lang="fr-FR" sz="2400" b="1" dirty="0">
                <a:solidFill>
                  <a:schemeClr val="bg1"/>
                </a:solidFill>
                <a:latin typeface="Lora" charset="0"/>
                <a:ea typeface="Lora" charset="0"/>
                <a:cs typeface="Lora" charset="0"/>
              </a:rPr>
              <a:t>4</a:t>
            </a:r>
            <a:endParaRPr lang="fr-FR" sz="2000" b="1" dirty="0">
              <a:solidFill>
                <a:schemeClr val="bg1"/>
              </a:solidFill>
              <a:latin typeface="Lora" charset="0"/>
              <a:ea typeface="Lora" charset="0"/>
              <a:cs typeface="Lora" charset="0"/>
            </a:endParaRPr>
          </a:p>
        </p:txBody>
      </p:sp>
      <p:sp>
        <p:nvSpPr>
          <p:cNvPr id="6" name="Oval 5"/>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7</a:t>
            </a:r>
          </a:p>
        </p:txBody>
      </p:sp>
    </p:spTree>
    <p:extLst>
      <p:ext uri="{BB962C8B-B14F-4D97-AF65-F5344CB8AC3E}">
        <p14:creationId xmlns:p14="http://schemas.microsoft.com/office/powerpoint/2010/main" val="6515932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1250" y="922668"/>
            <a:ext cx="7516260" cy="603982"/>
          </a:xfrm>
        </p:spPr>
        <p:txBody>
          <a:bodyPr/>
          <a:lstStyle/>
          <a:p>
            <a:pPr>
              <a:buClr>
                <a:srgbClr val="007DD6"/>
              </a:buClr>
            </a:pPr>
            <a:r>
              <a:rPr lang="fr-FR" dirty="0">
                <a:latin typeface="Lora" charset="0"/>
                <a:ea typeface="Lora" charset="0"/>
                <a:cs typeface="Lora" charset="0"/>
              </a:rPr>
              <a:t>Méthodes génotypiques</a:t>
            </a:r>
          </a:p>
        </p:txBody>
      </p:sp>
      <p:sp>
        <p:nvSpPr>
          <p:cNvPr id="10" name="Oval 9"/>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9</a:t>
            </a:r>
          </a:p>
        </p:txBody>
      </p:sp>
      <p:sp>
        <p:nvSpPr>
          <p:cNvPr id="3" name="Espace réservé du texte 2"/>
          <p:cNvSpPr>
            <a:spLocks noGrp="1"/>
          </p:cNvSpPr>
          <p:nvPr>
            <p:ph type="body" idx="1"/>
          </p:nvPr>
        </p:nvSpPr>
        <p:spPr>
          <a:xfrm>
            <a:off x="334677" y="1526650"/>
            <a:ext cx="8474645" cy="3205370"/>
          </a:xfrm>
        </p:spPr>
        <p:txBody>
          <a:bodyPr/>
          <a:lstStyle/>
          <a:p>
            <a:pPr marL="342900" indent="-342900">
              <a:buClr>
                <a:srgbClr val="007DD6"/>
              </a:buClr>
              <a:buFont typeface="Arial" panose="020B0604020202020204" pitchFamily="34" charset="0"/>
              <a:buChar char="•"/>
            </a:pPr>
            <a:r>
              <a:rPr lang="fr-FR" sz="1500" b="1" dirty="0">
                <a:solidFill>
                  <a:srgbClr val="0069D9"/>
                </a:solidFill>
                <a:latin typeface="Lora" panose="02000503000000020004"/>
              </a:rPr>
              <a:t>Principe de détection:</a:t>
            </a:r>
          </a:p>
          <a:p>
            <a:pPr marL="342900" indent="-342900">
              <a:buClr>
                <a:srgbClr val="007DD6"/>
              </a:buClr>
              <a:buFont typeface="Arial" panose="020B0604020202020204" pitchFamily="34" charset="0"/>
              <a:buChar char="•"/>
            </a:pPr>
            <a:r>
              <a:rPr lang="fr-FR" sz="1500" dirty="0">
                <a:latin typeface="Lora" panose="02000503000000020004"/>
              </a:rPr>
              <a:t>Dans certaines situations, des techniques génotypiques sont réalisées pour compléter ou remplacer les méthodes phénotypiques quand elles ne sont pas réalisables ou peu performantes (bactéries à croissance lente ou non cultivables sur milieux usuels).</a:t>
            </a:r>
          </a:p>
          <a:p>
            <a:pPr marL="342900" indent="-342900">
              <a:buClr>
                <a:srgbClr val="007DD6"/>
              </a:buClr>
              <a:buFont typeface="Arial" panose="020B0604020202020204" pitchFamily="34" charset="0"/>
              <a:buChar char="•"/>
            </a:pPr>
            <a:r>
              <a:rPr lang="fr-FR" sz="1500" dirty="0">
                <a:latin typeface="Lora" panose="02000503000000020004"/>
              </a:rPr>
              <a:t>Ces techniques reposent sur la mise en évidence des acides nucléiques bactériens pour identifier des gènes de résistance ou la présence de mutations.</a:t>
            </a:r>
          </a:p>
        </p:txBody>
      </p:sp>
    </p:spTree>
    <p:extLst>
      <p:ext uri="{BB962C8B-B14F-4D97-AF65-F5344CB8AC3E}">
        <p14:creationId xmlns:p14="http://schemas.microsoft.com/office/powerpoint/2010/main" val="38094542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B756C-4566-2E84-8E99-78F610C5AD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194C79-7D30-790E-C62B-D3DB3765F42A}"/>
              </a:ext>
            </a:extLst>
          </p:cNvPr>
          <p:cNvSpPr>
            <a:spLocks noGrp="1"/>
          </p:cNvSpPr>
          <p:nvPr>
            <p:ph type="title"/>
          </p:nvPr>
        </p:nvSpPr>
        <p:spPr>
          <a:xfrm>
            <a:off x="1381250" y="922668"/>
            <a:ext cx="7516260" cy="603982"/>
          </a:xfrm>
        </p:spPr>
        <p:txBody>
          <a:bodyPr/>
          <a:lstStyle/>
          <a:p>
            <a:pPr>
              <a:buClr>
                <a:srgbClr val="007DD6"/>
              </a:buClr>
            </a:pPr>
            <a:r>
              <a:rPr lang="fr-FR" dirty="0">
                <a:latin typeface="Lora" charset="0"/>
                <a:ea typeface="Lora" charset="0"/>
                <a:cs typeface="Lora" charset="0"/>
              </a:rPr>
              <a:t>Méthodes génotypiques</a:t>
            </a:r>
          </a:p>
        </p:txBody>
      </p:sp>
      <p:sp>
        <p:nvSpPr>
          <p:cNvPr id="10" name="Oval 9">
            <a:extLst>
              <a:ext uri="{FF2B5EF4-FFF2-40B4-BE49-F238E27FC236}">
                <a16:creationId xmlns:a16="http://schemas.microsoft.com/office/drawing/2014/main" id="{14005BB5-9B9A-DCFE-D701-B42A0544A06D}"/>
              </a:ext>
            </a:extLst>
          </p:cNvPr>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9</a:t>
            </a:r>
          </a:p>
        </p:txBody>
      </p:sp>
      <p:sp>
        <p:nvSpPr>
          <p:cNvPr id="3" name="Espace réservé du texte 2">
            <a:extLst>
              <a:ext uri="{FF2B5EF4-FFF2-40B4-BE49-F238E27FC236}">
                <a16:creationId xmlns:a16="http://schemas.microsoft.com/office/drawing/2014/main" id="{5A3F52DC-28B2-3456-CB05-EA291DA31E8C}"/>
              </a:ext>
            </a:extLst>
          </p:cNvPr>
          <p:cNvSpPr>
            <a:spLocks noGrp="1"/>
          </p:cNvSpPr>
          <p:nvPr>
            <p:ph type="body" idx="1"/>
          </p:nvPr>
        </p:nvSpPr>
        <p:spPr>
          <a:xfrm>
            <a:off x="334677" y="1538842"/>
            <a:ext cx="8474645" cy="3205370"/>
          </a:xfrm>
        </p:spPr>
        <p:txBody>
          <a:bodyPr/>
          <a:lstStyle/>
          <a:p>
            <a:pPr marL="342900" indent="-342900">
              <a:buClr>
                <a:srgbClr val="007DD6"/>
              </a:buClr>
              <a:buFont typeface="Arial" panose="020B0604020202020204" pitchFamily="34" charset="0"/>
              <a:buChar char="•"/>
            </a:pPr>
            <a:r>
              <a:rPr lang="fr-FR" sz="1500" b="1" dirty="0">
                <a:solidFill>
                  <a:srgbClr val="0069D9"/>
                </a:solidFill>
                <a:latin typeface="Lora" panose="02000503000000020004"/>
              </a:rPr>
              <a:t>Les </a:t>
            </a:r>
            <a:r>
              <a:rPr lang="fr-FR" sz="1500" b="1" dirty="0" err="1">
                <a:solidFill>
                  <a:srgbClr val="0069D9"/>
                </a:solidFill>
                <a:latin typeface="Lora" panose="02000503000000020004"/>
              </a:rPr>
              <a:t>PCRs</a:t>
            </a:r>
            <a:r>
              <a:rPr lang="fr-FR" sz="1500" b="1" dirty="0">
                <a:solidFill>
                  <a:srgbClr val="0069D9"/>
                </a:solidFill>
                <a:latin typeface="Lora" panose="02000503000000020004"/>
              </a:rPr>
              <a:t> (spécifiques) : </a:t>
            </a:r>
          </a:p>
          <a:p>
            <a:pPr marL="342900" indent="-342900">
              <a:buClr>
                <a:srgbClr val="007DD6"/>
              </a:buClr>
              <a:buFont typeface="Arial" panose="020B0604020202020204" pitchFamily="34" charset="0"/>
              <a:buChar char="•"/>
            </a:pPr>
            <a:r>
              <a:rPr lang="fr-FR" sz="1500" dirty="0">
                <a:latin typeface="Lora" panose="02000503000000020004"/>
              </a:rPr>
              <a:t>La cible correspond en général à un gène de résistance ou à une région de forte incidence de mutation. </a:t>
            </a:r>
          </a:p>
          <a:p>
            <a:pPr marL="342900" indent="-342900">
              <a:buClr>
                <a:srgbClr val="007DD6"/>
              </a:buClr>
              <a:buFont typeface="Arial" panose="020B0604020202020204" pitchFamily="34" charset="0"/>
              <a:buChar char="•"/>
            </a:pPr>
            <a:r>
              <a:rPr lang="fr-FR" sz="1500" dirty="0">
                <a:latin typeface="Lora" panose="02000503000000020004"/>
              </a:rPr>
              <a:t>La résistance recherchée doit être stéréotypée et ne peut concerner qu’un nombre restreint de gènes. </a:t>
            </a:r>
          </a:p>
          <a:p>
            <a:pPr marL="342900" indent="-342900">
              <a:buClr>
                <a:srgbClr val="007DD6"/>
              </a:buClr>
              <a:buFont typeface="Arial" panose="020B0604020202020204" pitchFamily="34" charset="0"/>
              <a:buChar char="•"/>
            </a:pPr>
            <a:r>
              <a:rPr lang="fr-FR" sz="1500" dirty="0">
                <a:latin typeface="Lora" panose="02000503000000020004"/>
              </a:rPr>
              <a:t>Cette technique peut fournir un résultat rapide à partir d’un prélèvement ou d’une souche bactérienne. </a:t>
            </a:r>
          </a:p>
          <a:p>
            <a:pPr marL="342900" indent="-342900">
              <a:buClr>
                <a:srgbClr val="007DD6"/>
              </a:buClr>
              <a:buFont typeface="Arial" panose="020B0604020202020204" pitchFamily="34" charset="0"/>
              <a:buChar char="•"/>
            </a:pPr>
            <a:r>
              <a:rPr lang="fr-FR" sz="1500" dirty="0">
                <a:latin typeface="Lora" panose="02000503000000020004"/>
              </a:rPr>
              <a:t>Cette technique est intéressante quand elle fournit une information capable de modifier l’antibiothérapie de façon précoce avant l’obtention de l’antibiogramme par les méthodes conventionnelles.</a:t>
            </a:r>
          </a:p>
        </p:txBody>
      </p:sp>
    </p:spTree>
    <p:extLst>
      <p:ext uri="{BB962C8B-B14F-4D97-AF65-F5344CB8AC3E}">
        <p14:creationId xmlns:p14="http://schemas.microsoft.com/office/powerpoint/2010/main" val="18681546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ABF06-9DCF-7F2E-1ED3-8AF8D99184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C62A80-A7A3-31FA-B638-1DF42D81D2C2}"/>
              </a:ext>
            </a:extLst>
          </p:cNvPr>
          <p:cNvSpPr>
            <a:spLocks noGrp="1"/>
          </p:cNvSpPr>
          <p:nvPr>
            <p:ph type="title"/>
          </p:nvPr>
        </p:nvSpPr>
        <p:spPr>
          <a:xfrm>
            <a:off x="1381250" y="922668"/>
            <a:ext cx="7516260" cy="603982"/>
          </a:xfrm>
        </p:spPr>
        <p:txBody>
          <a:bodyPr/>
          <a:lstStyle/>
          <a:p>
            <a:pPr>
              <a:buClr>
                <a:srgbClr val="007DD6"/>
              </a:buClr>
            </a:pPr>
            <a:r>
              <a:rPr lang="fr-FR" dirty="0">
                <a:latin typeface="Lora" charset="0"/>
                <a:ea typeface="Lora" charset="0"/>
                <a:cs typeface="Lora" charset="0"/>
              </a:rPr>
              <a:t>Méthodes génotypiques</a:t>
            </a:r>
          </a:p>
        </p:txBody>
      </p:sp>
      <p:sp>
        <p:nvSpPr>
          <p:cNvPr id="10" name="Oval 9">
            <a:extLst>
              <a:ext uri="{FF2B5EF4-FFF2-40B4-BE49-F238E27FC236}">
                <a16:creationId xmlns:a16="http://schemas.microsoft.com/office/drawing/2014/main" id="{10A90984-DE02-4470-F4C4-A9BE0AC6DC9E}"/>
              </a:ext>
            </a:extLst>
          </p:cNvPr>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9</a:t>
            </a:r>
          </a:p>
        </p:txBody>
      </p:sp>
      <p:sp>
        <p:nvSpPr>
          <p:cNvPr id="3" name="Espace réservé du texte 2">
            <a:extLst>
              <a:ext uri="{FF2B5EF4-FFF2-40B4-BE49-F238E27FC236}">
                <a16:creationId xmlns:a16="http://schemas.microsoft.com/office/drawing/2014/main" id="{F156DC72-FE0E-C422-14DB-6E31BAC75878}"/>
              </a:ext>
            </a:extLst>
          </p:cNvPr>
          <p:cNvSpPr>
            <a:spLocks noGrp="1"/>
          </p:cNvSpPr>
          <p:nvPr>
            <p:ph type="body" idx="1"/>
          </p:nvPr>
        </p:nvSpPr>
        <p:spPr>
          <a:xfrm>
            <a:off x="334677" y="1526650"/>
            <a:ext cx="8474645" cy="3205370"/>
          </a:xfrm>
        </p:spPr>
        <p:txBody>
          <a:bodyPr/>
          <a:lstStyle/>
          <a:p>
            <a:pPr marL="342900" indent="-342900">
              <a:buClr>
                <a:srgbClr val="007DD6"/>
              </a:buClr>
              <a:buFont typeface="Arial" panose="020B0604020202020204" pitchFamily="34" charset="0"/>
              <a:buChar char="•"/>
            </a:pPr>
            <a:r>
              <a:rPr lang="fr-FR" sz="1500" b="1" dirty="0">
                <a:solidFill>
                  <a:srgbClr val="0069D9"/>
                </a:solidFill>
                <a:latin typeface="Lora" panose="02000503000000020004"/>
              </a:rPr>
              <a:t>Les </a:t>
            </a:r>
            <a:r>
              <a:rPr lang="fr-FR" sz="1500" b="1" dirty="0" err="1">
                <a:solidFill>
                  <a:srgbClr val="0069D9"/>
                </a:solidFill>
                <a:latin typeface="Lora" panose="02000503000000020004"/>
              </a:rPr>
              <a:t>PCRs</a:t>
            </a:r>
            <a:r>
              <a:rPr lang="fr-FR" sz="1500" b="1" dirty="0">
                <a:solidFill>
                  <a:srgbClr val="0069D9"/>
                </a:solidFill>
                <a:latin typeface="Lora" panose="02000503000000020004"/>
              </a:rPr>
              <a:t> (spécifiques) –suite-: </a:t>
            </a:r>
          </a:p>
          <a:p>
            <a:pPr marL="342900" indent="-342900">
              <a:buClr>
                <a:srgbClr val="007DD6"/>
              </a:buClr>
              <a:buFont typeface="Arial" panose="020B0604020202020204" pitchFamily="34" charset="0"/>
              <a:buChar char="•"/>
            </a:pPr>
            <a:r>
              <a:rPr lang="fr-FR" sz="1500" b="1" dirty="0" err="1">
                <a:latin typeface="Lora" panose="02000503000000020004"/>
              </a:rPr>
              <a:t>Exp</a:t>
            </a:r>
            <a:r>
              <a:rPr lang="fr-FR" sz="1500" b="1" dirty="0">
                <a:latin typeface="Lora" panose="02000503000000020004"/>
              </a:rPr>
              <a:t> 01 </a:t>
            </a:r>
            <a:r>
              <a:rPr lang="fr-FR" sz="1500" dirty="0">
                <a:latin typeface="Lora" panose="02000503000000020004"/>
              </a:rPr>
              <a:t>: Dans le cas de S. aureus, la résistance à la méticilline peut être recherchée par l’amplification du gène </a:t>
            </a:r>
            <a:r>
              <a:rPr lang="fr-FR" sz="1500" dirty="0" err="1">
                <a:latin typeface="Lora" panose="02000503000000020004"/>
              </a:rPr>
              <a:t>mecA</a:t>
            </a:r>
            <a:r>
              <a:rPr lang="fr-FR" sz="1500" dirty="0">
                <a:latin typeface="Lora" panose="02000503000000020004"/>
              </a:rPr>
              <a:t> encodant la PLP-2a.</a:t>
            </a:r>
          </a:p>
          <a:p>
            <a:pPr marL="342900" indent="-342900">
              <a:buClr>
                <a:srgbClr val="007DD6"/>
              </a:buClr>
              <a:buFont typeface="Arial" panose="020B0604020202020204" pitchFamily="34" charset="0"/>
              <a:buChar char="•"/>
            </a:pPr>
            <a:r>
              <a:rPr lang="fr-FR" sz="1500" dirty="0">
                <a:latin typeface="Lora" panose="02000503000000020004"/>
              </a:rPr>
              <a:t>Ce qui permet de diminuer les coûts de santé globaux associés à une antibiothérapie à large spectre.</a:t>
            </a:r>
          </a:p>
          <a:p>
            <a:pPr marL="342900" indent="-342900">
              <a:buClr>
                <a:srgbClr val="007DD6"/>
              </a:buClr>
              <a:buFont typeface="Arial" panose="020B0604020202020204" pitchFamily="34" charset="0"/>
              <a:buChar char="•"/>
            </a:pPr>
            <a:r>
              <a:rPr lang="fr-FR" sz="1500" b="1" dirty="0" err="1">
                <a:latin typeface="Lora" panose="02000503000000020004"/>
              </a:rPr>
              <a:t>Exp</a:t>
            </a:r>
            <a:r>
              <a:rPr lang="fr-FR" sz="1500" b="1" dirty="0">
                <a:latin typeface="Lora" panose="02000503000000020004"/>
              </a:rPr>
              <a:t> 02: </a:t>
            </a:r>
            <a:r>
              <a:rPr lang="fr-FR" sz="1500" dirty="0">
                <a:latin typeface="Lora" panose="02000503000000020004"/>
              </a:rPr>
              <a:t>La culture des mycobactéries comme M. </a:t>
            </a:r>
            <a:r>
              <a:rPr lang="fr-FR" sz="1500" dirty="0" err="1">
                <a:latin typeface="Lora" panose="02000503000000020004"/>
              </a:rPr>
              <a:t>tuberculosis</a:t>
            </a:r>
            <a:r>
              <a:rPr lang="fr-FR" sz="1500" dirty="0">
                <a:latin typeface="Lora" panose="02000503000000020004"/>
              </a:rPr>
              <a:t> est longue, ce qui ralentit l’obtention d’un antibiogramme. </a:t>
            </a:r>
          </a:p>
          <a:p>
            <a:pPr marL="342900" indent="-342900">
              <a:buClr>
                <a:srgbClr val="007DD6"/>
              </a:buClr>
              <a:buFont typeface="Arial" panose="020B0604020202020204" pitchFamily="34" charset="0"/>
              <a:buChar char="•"/>
            </a:pPr>
            <a:r>
              <a:rPr lang="fr-FR" sz="1500" dirty="0">
                <a:latin typeface="Lora" panose="02000503000000020004"/>
              </a:rPr>
              <a:t>Possibilité de chercher le gène </a:t>
            </a:r>
            <a:r>
              <a:rPr lang="fr-FR" sz="1500" dirty="0" err="1">
                <a:latin typeface="Lora" panose="02000503000000020004"/>
              </a:rPr>
              <a:t>rpoB</a:t>
            </a:r>
            <a:r>
              <a:rPr lang="fr-FR" sz="1500" dirty="0">
                <a:latin typeface="Lora" panose="02000503000000020004"/>
              </a:rPr>
              <a:t>, où survient l’essentiel des mutations de résistance à la rifampicine , et la recherche de survenue de mutations sur les gènes </a:t>
            </a:r>
            <a:r>
              <a:rPr lang="fr-FR" sz="1500" dirty="0" err="1">
                <a:latin typeface="Lora" panose="02000503000000020004"/>
              </a:rPr>
              <a:t>inhA</a:t>
            </a:r>
            <a:r>
              <a:rPr lang="fr-FR" sz="1500" dirty="0">
                <a:latin typeface="Lora" panose="02000503000000020004"/>
              </a:rPr>
              <a:t> et </a:t>
            </a:r>
            <a:r>
              <a:rPr lang="fr-FR" sz="1500" dirty="0" err="1">
                <a:latin typeface="Lora" panose="02000503000000020004"/>
              </a:rPr>
              <a:t>katG</a:t>
            </a:r>
            <a:r>
              <a:rPr lang="fr-FR" sz="1500" dirty="0">
                <a:latin typeface="Lora" panose="02000503000000020004"/>
              </a:rPr>
              <a:t> afin de détecter la résistance à l’isoniazide.</a:t>
            </a:r>
          </a:p>
        </p:txBody>
      </p:sp>
    </p:spTree>
    <p:extLst>
      <p:ext uri="{BB962C8B-B14F-4D97-AF65-F5344CB8AC3E}">
        <p14:creationId xmlns:p14="http://schemas.microsoft.com/office/powerpoint/2010/main" val="9689745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FC9CA-9AF3-2969-3808-9E3EE8E077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90C7A6-E340-DF0F-6F92-7751B960300F}"/>
              </a:ext>
            </a:extLst>
          </p:cNvPr>
          <p:cNvSpPr>
            <a:spLocks noGrp="1"/>
          </p:cNvSpPr>
          <p:nvPr>
            <p:ph type="title"/>
          </p:nvPr>
        </p:nvSpPr>
        <p:spPr>
          <a:xfrm>
            <a:off x="1381250" y="922668"/>
            <a:ext cx="7516260" cy="603982"/>
          </a:xfrm>
        </p:spPr>
        <p:txBody>
          <a:bodyPr/>
          <a:lstStyle/>
          <a:p>
            <a:pPr>
              <a:buClr>
                <a:srgbClr val="007DD6"/>
              </a:buClr>
            </a:pPr>
            <a:r>
              <a:rPr lang="fr-FR" dirty="0">
                <a:latin typeface="Lora" charset="0"/>
                <a:ea typeface="Lora" charset="0"/>
                <a:cs typeface="Lora" charset="0"/>
              </a:rPr>
              <a:t>Méthodes génotypiques</a:t>
            </a:r>
          </a:p>
        </p:txBody>
      </p:sp>
      <p:sp>
        <p:nvSpPr>
          <p:cNvPr id="10" name="Oval 9">
            <a:extLst>
              <a:ext uri="{FF2B5EF4-FFF2-40B4-BE49-F238E27FC236}">
                <a16:creationId xmlns:a16="http://schemas.microsoft.com/office/drawing/2014/main" id="{C1B6B21D-6806-703C-C1B4-7948DC1ADF5B}"/>
              </a:ext>
            </a:extLst>
          </p:cNvPr>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9</a:t>
            </a:r>
          </a:p>
        </p:txBody>
      </p:sp>
      <p:sp>
        <p:nvSpPr>
          <p:cNvPr id="3" name="Espace réservé du texte 2">
            <a:extLst>
              <a:ext uri="{FF2B5EF4-FFF2-40B4-BE49-F238E27FC236}">
                <a16:creationId xmlns:a16="http://schemas.microsoft.com/office/drawing/2014/main" id="{FC6B11FD-2645-9905-6967-EA52946FF478}"/>
              </a:ext>
            </a:extLst>
          </p:cNvPr>
          <p:cNvSpPr>
            <a:spLocks noGrp="1"/>
          </p:cNvSpPr>
          <p:nvPr>
            <p:ph type="body" idx="1"/>
          </p:nvPr>
        </p:nvSpPr>
        <p:spPr>
          <a:xfrm>
            <a:off x="334677" y="1526650"/>
            <a:ext cx="8474645" cy="3205370"/>
          </a:xfrm>
        </p:spPr>
        <p:txBody>
          <a:bodyPr/>
          <a:lstStyle/>
          <a:p>
            <a:pPr marL="342900" indent="-342900">
              <a:buClr>
                <a:srgbClr val="007DD6"/>
              </a:buClr>
              <a:buFont typeface="Arial" panose="020B0604020202020204" pitchFamily="34" charset="0"/>
              <a:buChar char="•"/>
            </a:pPr>
            <a:r>
              <a:rPr lang="fr-FR" sz="1500" b="1" dirty="0">
                <a:solidFill>
                  <a:srgbClr val="0069D9"/>
                </a:solidFill>
                <a:latin typeface="Lora" panose="02000503000000020004"/>
              </a:rPr>
              <a:t>Les Kits syndromique:</a:t>
            </a:r>
          </a:p>
          <a:p>
            <a:pPr marL="342900" indent="-342900">
              <a:buClr>
                <a:srgbClr val="007DD6"/>
              </a:buClr>
              <a:buFont typeface="Arial" panose="020B0604020202020204" pitchFamily="34" charset="0"/>
              <a:buChar char="•"/>
            </a:pPr>
            <a:r>
              <a:rPr lang="fr-FR" sz="1500" dirty="0">
                <a:solidFill>
                  <a:schemeClr val="tx1"/>
                </a:solidFill>
                <a:latin typeface="Lora" panose="02000503000000020004"/>
              </a:rPr>
              <a:t>Avec les bons résultats des PCR spécifiques et le progrès technologique, des panels de PCR pour un grand nombre de pathogènes (bactéries, virus, champignons ou parasites) ont été développés à visée diagnostique.</a:t>
            </a:r>
          </a:p>
          <a:p>
            <a:pPr marL="342900" indent="-342900">
              <a:buClr>
                <a:srgbClr val="007DD6"/>
              </a:buClr>
              <a:buFont typeface="Arial" panose="020B0604020202020204" pitchFamily="34" charset="0"/>
              <a:buChar char="•"/>
            </a:pPr>
            <a:r>
              <a:rPr lang="fr-FR" sz="1500" dirty="0">
                <a:solidFill>
                  <a:schemeClr val="tx1"/>
                </a:solidFill>
                <a:latin typeface="Lora" panose="02000503000000020004"/>
              </a:rPr>
              <a:t>Des gènes de résistance bactériens ont également été inclus dans ces panels et permettent la mise en évidence d’un SARM, d’une entérobactérie productrice de BLSE (E-BLSE) et/ou d’une EPC. </a:t>
            </a:r>
          </a:p>
          <a:p>
            <a:pPr marL="342900" indent="-342900">
              <a:buClr>
                <a:srgbClr val="007DD6"/>
              </a:buClr>
              <a:buFont typeface="Arial" panose="020B0604020202020204" pitchFamily="34" charset="0"/>
              <a:buChar char="•"/>
            </a:pPr>
            <a:r>
              <a:rPr lang="fr-FR" sz="1500" b="1" dirty="0">
                <a:solidFill>
                  <a:schemeClr val="tx1"/>
                </a:solidFill>
                <a:latin typeface="Lora" panose="02000503000000020004"/>
              </a:rPr>
              <a:t>Limitations:  </a:t>
            </a:r>
          </a:p>
          <a:p>
            <a:pPr marL="342900" indent="-342900">
              <a:buClr>
                <a:srgbClr val="007DD6"/>
              </a:buClr>
              <a:buFont typeface="Arial" panose="020B0604020202020204" pitchFamily="34" charset="0"/>
              <a:buChar char="•"/>
            </a:pPr>
            <a:r>
              <a:rPr lang="fr-FR" sz="1500" dirty="0">
                <a:solidFill>
                  <a:schemeClr val="tx1"/>
                </a:solidFill>
                <a:latin typeface="Lora" panose="02000503000000020004"/>
              </a:rPr>
              <a:t>Certaines bactéries ne sont pas incluses dans ces panels. ( d’où l’</a:t>
            </a:r>
            <a:r>
              <a:rPr lang="fr-FR" sz="1500" dirty="0" err="1">
                <a:solidFill>
                  <a:schemeClr val="tx1"/>
                </a:solidFill>
                <a:latin typeface="Lora" panose="02000503000000020004"/>
              </a:rPr>
              <a:t>interet</a:t>
            </a:r>
            <a:r>
              <a:rPr lang="fr-FR" sz="1500" dirty="0">
                <a:solidFill>
                  <a:schemeClr val="tx1"/>
                </a:solidFill>
                <a:latin typeface="Lora" panose="02000503000000020004"/>
              </a:rPr>
              <a:t> de la culture) </a:t>
            </a:r>
          </a:p>
          <a:p>
            <a:pPr marL="342900" indent="-342900">
              <a:buClr>
                <a:srgbClr val="007DD6"/>
              </a:buClr>
              <a:buFont typeface="Arial" panose="020B0604020202020204" pitchFamily="34" charset="0"/>
              <a:buChar char="•"/>
            </a:pPr>
            <a:r>
              <a:rPr lang="fr-FR" sz="1500" dirty="0">
                <a:solidFill>
                  <a:schemeClr val="tx1"/>
                </a:solidFill>
                <a:latin typeface="Lora" panose="02000503000000020004"/>
              </a:rPr>
              <a:t>Ne permettent pas de prévoir l’ensemble des phénotypes de résistance comme la surproduction des </a:t>
            </a:r>
            <a:r>
              <a:rPr lang="fr-FR" sz="1500" dirty="0" err="1">
                <a:solidFill>
                  <a:schemeClr val="tx1"/>
                </a:solidFill>
                <a:latin typeface="Lora" panose="02000503000000020004"/>
              </a:rPr>
              <a:t>céphalosporinases</a:t>
            </a:r>
            <a:r>
              <a:rPr lang="fr-FR" sz="1500" dirty="0">
                <a:solidFill>
                  <a:schemeClr val="tx1"/>
                </a:solidFill>
                <a:latin typeface="Lora" panose="02000503000000020004"/>
              </a:rPr>
              <a:t> de type </a:t>
            </a:r>
            <a:r>
              <a:rPr lang="fr-FR" sz="1500" dirty="0" err="1">
                <a:solidFill>
                  <a:schemeClr val="tx1"/>
                </a:solidFill>
                <a:latin typeface="Lora" panose="02000503000000020004"/>
              </a:rPr>
              <a:t>AmpC</a:t>
            </a:r>
            <a:r>
              <a:rPr lang="fr-FR" sz="1500" dirty="0">
                <a:solidFill>
                  <a:schemeClr val="tx1"/>
                </a:solidFill>
                <a:latin typeface="Lora" panose="02000503000000020004"/>
              </a:rPr>
              <a:t> par exemple ( le niveau d’expression des gènes).  </a:t>
            </a:r>
          </a:p>
        </p:txBody>
      </p:sp>
    </p:spTree>
    <p:extLst>
      <p:ext uri="{BB962C8B-B14F-4D97-AF65-F5344CB8AC3E}">
        <p14:creationId xmlns:p14="http://schemas.microsoft.com/office/powerpoint/2010/main" val="23610334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25598D-672D-367B-67BA-D3B4FB0F07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EB02EC-013B-C65B-A2DB-0BD13785DA99}"/>
              </a:ext>
            </a:extLst>
          </p:cNvPr>
          <p:cNvSpPr>
            <a:spLocks noGrp="1"/>
          </p:cNvSpPr>
          <p:nvPr>
            <p:ph type="title"/>
          </p:nvPr>
        </p:nvSpPr>
        <p:spPr>
          <a:xfrm>
            <a:off x="1381250" y="922668"/>
            <a:ext cx="7516260" cy="603982"/>
          </a:xfrm>
        </p:spPr>
        <p:txBody>
          <a:bodyPr/>
          <a:lstStyle/>
          <a:p>
            <a:pPr>
              <a:buClr>
                <a:srgbClr val="007DD6"/>
              </a:buClr>
            </a:pPr>
            <a:r>
              <a:rPr lang="fr-FR" dirty="0">
                <a:latin typeface="Lora" charset="0"/>
                <a:ea typeface="Lora" charset="0"/>
                <a:cs typeface="Lora" charset="0"/>
              </a:rPr>
              <a:t>Méthodes génotypiques</a:t>
            </a:r>
          </a:p>
        </p:txBody>
      </p:sp>
      <p:sp>
        <p:nvSpPr>
          <p:cNvPr id="10" name="Oval 9">
            <a:extLst>
              <a:ext uri="{FF2B5EF4-FFF2-40B4-BE49-F238E27FC236}">
                <a16:creationId xmlns:a16="http://schemas.microsoft.com/office/drawing/2014/main" id="{28FFFFA9-8E58-4BB6-6483-2D44E01801D3}"/>
              </a:ext>
            </a:extLst>
          </p:cNvPr>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9</a:t>
            </a:r>
          </a:p>
        </p:txBody>
      </p:sp>
      <p:sp>
        <p:nvSpPr>
          <p:cNvPr id="3" name="Espace réservé du texte 2">
            <a:extLst>
              <a:ext uri="{FF2B5EF4-FFF2-40B4-BE49-F238E27FC236}">
                <a16:creationId xmlns:a16="http://schemas.microsoft.com/office/drawing/2014/main" id="{4A4C6C5F-37BC-BDD5-1AA6-4B464B2B74CC}"/>
              </a:ext>
            </a:extLst>
          </p:cNvPr>
          <p:cNvSpPr>
            <a:spLocks noGrp="1"/>
          </p:cNvSpPr>
          <p:nvPr>
            <p:ph type="body" idx="1"/>
          </p:nvPr>
        </p:nvSpPr>
        <p:spPr>
          <a:xfrm>
            <a:off x="191207" y="1335217"/>
            <a:ext cx="8761585" cy="3589418"/>
          </a:xfrm>
        </p:spPr>
        <p:txBody>
          <a:bodyPr/>
          <a:lstStyle/>
          <a:p>
            <a:pPr marL="342900" indent="-342900">
              <a:buClr>
                <a:srgbClr val="007DD6"/>
              </a:buClr>
              <a:buFont typeface="Arial" panose="020B0604020202020204" pitchFamily="34" charset="0"/>
              <a:buChar char="•"/>
            </a:pPr>
            <a:r>
              <a:rPr lang="fr-FR" sz="1500" b="1" dirty="0">
                <a:solidFill>
                  <a:srgbClr val="0069D9"/>
                </a:solidFill>
                <a:latin typeface="Lora" panose="02000503000000020004"/>
              </a:rPr>
              <a:t>Séquençage de nouvelle génération (NGS):</a:t>
            </a:r>
          </a:p>
          <a:p>
            <a:pPr marL="342900" indent="-342900">
              <a:buClr>
                <a:srgbClr val="007DD6"/>
              </a:buClr>
              <a:buFont typeface="Arial" panose="020B0604020202020204" pitchFamily="34" charset="0"/>
              <a:buChar char="•"/>
            </a:pPr>
            <a:r>
              <a:rPr lang="fr-FR" sz="1500" dirty="0">
                <a:solidFill>
                  <a:schemeClr val="tx1"/>
                </a:solidFill>
                <a:latin typeface="Lora" panose="02000503000000020004"/>
              </a:rPr>
              <a:t>Permet la mise en évidence de l’ensemble des gènes de résistance présents au sein d’une souche bactérienne aussi appelée « </a:t>
            </a:r>
            <a:r>
              <a:rPr lang="fr-FR" sz="1500" dirty="0" err="1">
                <a:solidFill>
                  <a:schemeClr val="tx1"/>
                </a:solidFill>
                <a:latin typeface="Lora" panose="02000503000000020004"/>
              </a:rPr>
              <a:t>résistome</a:t>
            </a:r>
            <a:r>
              <a:rPr lang="fr-FR" sz="1500" dirty="0">
                <a:solidFill>
                  <a:schemeClr val="tx1"/>
                </a:solidFill>
                <a:latin typeface="Lora" panose="02000503000000020004"/>
              </a:rPr>
              <a:t> ».</a:t>
            </a:r>
          </a:p>
          <a:p>
            <a:pPr marL="342900" indent="-342900">
              <a:buClr>
                <a:srgbClr val="007DD6"/>
              </a:buClr>
              <a:buFont typeface="Arial" panose="020B0604020202020204" pitchFamily="34" charset="0"/>
              <a:buChar char="•"/>
            </a:pPr>
            <a:r>
              <a:rPr lang="fr-FR" sz="1500" dirty="0">
                <a:solidFill>
                  <a:schemeClr val="tx1"/>
                </a:solidFill>
                <a:latin typeface="Lora" panose="02000503000000020004"/>
              </a:rPr>
              <a:t>Avec le NGS, l’ensemble des éléments génétiques de résistance est recherché, contrairement aux méthodes simplex ou multiplex.</a:t>
            </a:r>
          </a:p>
          <a:p>
            <a:pPr marL="342900" indent="-342900">
              <a:buClr>
                <a:srgbClr val="007DD6"/>
              </a:buClr>
              <a:buFont typeface="Arial" panose="020B0604020202020204" pitchFamily="34" charset="0"/>
              <a:buChar char="•"/>
            </a:pPr>
            <a:r>
              <a:rPr lang="fr-FR" sz="1500" dirty="0">
                <a:solidFill>
                  <a:schemeClr val="tx1"/>
                </a:solidFill>
                <a:latin typeface="Lora" panose="02000503000000020004"/>
              </a:rPr>
              <a:t>Cette approche montre de très bons résultats pour la majorité des bactéries d’intérêt médical.</a:t>
            </a:r>
          </a:p>
          <a:p>
            <a:pPr marL="342900" indent="-342900">
              <a:buClr>
                <a:srgbClr val="007DD6"/>
              </a:buClr>
              <a:buFont typeface="Arial" panose="020B0604020202020204" pitchFamily="34" charset="0"/>
              <a:buChar char="•"/>
            </a:pPr>
            <a:r>
              <a:rPr lang="fr-FR" sz="1500" b="1" dirty="0">
                <a:solidFill>
                  <a:schemeClr val="tx1"/>
                </a:solidFill>
                <a:latin typeface="Lora" panose="02000503000000020004"/>
              </a:rPr>
              <a:t>Limitation: </a:t>
            </a:r>
          </a:p>
          <a:p>
            <a:pPr marL="342900" indent="-342900">
              <a:buClr>
                <a:srgbClr val="007DD6"/>
              </a:buClr>
              <a:buFont typeface="Arial" panose="020B0604020202020204" pitchFamily="34" charset="0"/>
              <a:buChar char="•"/>
            </a:pPr>
            <a:r>
              <a:rPr lang="fr-FR" sz="1500" dirty="0">
                <a:solidFill>
                  <a:schemeClr val="tx1"/>
                </a:solidFill>
                <a:latin typeface="Lora" panose="02000503000000020004"/>
              </a:rPr>
              <a:t>L’incapacité de déterminé le niveau d’</a:t>
            </a:r>
            <a:r>
              <a:rPr lang="fr-FR" sz="1500" dirty="0" err="1">
                <a:solidFill>
                  <a:schemeClr val="tx1"/>
                </a:solidFill>
                <a:latin typeface="Lora" panose="02000503000000020004"/>
              </a:rPr>
              <a:t>xpression</a:t>
            </a:r>
            <a:r>
              <a:rPr lang="fr-FR" sz="1500" dirty="0">
                <a:solidFill>
                  <a:schemeClr val="tx1"/>
                </a:solidFill>
                <a:latin typeface="Lora" panose="02000503000000020004"/>
              </a:rPr>
              <a:t> des gènes  </a:t>
            </a:r>
            <a:r>
              <a:rPr lang="fr-FR" sz="1500" dirty="0" err="1">
                <a:solidFill>
                  <a:schemeClr val="tx1"/>
                </a:solidFill>
                <a:latin typeface="Lora" panose="02000503000000020004"/>
              </a:rPr>
              <a:t>exp</a:t>
            </a:r>
            <a:r>
              <a:rPr lang="fr-FR" sz="1500" dirty="0">
                <a:solidFill>
                  <a:schemeClr val="tx1"/>
                </a:solidFill>
                <a:latin typeface="Lora" panose="02000503000000020004"/>
              </a:rPr>
              <a:t> : la </a:t>
            </a:r>
            <a:r>
              <a:rPr lang="fr-FR" sz="1500" dirty="0" err="1">
                <a:solidFill>
                  <a:schemeClr val="tx1"/>
                </a:solidFill>
                <a:latin typeface="Lora" panose="02000503000000020004"/>
              </a:rPr>
              <a:t>céphalosporinase</a:t>
            </a:r>
            <a:r>
              <a:rPr lang="fr-FR" sz="1500" dirty="0">
                <a:solidFill>
                  <a:schemeClr val="tx1"/>
                </a:solidFill>
                <a:latin typeface="Lora" panose="02000503000000020004"/>
              </a:rPr>
              <a:t> chromosomique </a:t>
            </a:r>
            <a:r>
              <a:rPr lang="fr-FR" sz="1500" dirty="0" err="1">
                <a:solidFill>
                  <a:schemeClr val="tx1"/>
                </a:solidFill>
                <a:latin typeface="Lora" panose="02000503000000020004"/>
              </a:rPr>
              <a:t>AmpC</a:t>
            </a:r>
            <a:r>
              <a:rPr lang="fr-FR" sz="1500" dirty="0">
                <a:solidFill>
                  <a:schemeClr val="tx1"/>
                </a:solidFill>
                <a:latin typeface="Lora" panose="02000503000000020004"/>
              </a:rPr>
              <a:t> chez les Entérobactéries.</a:t>
            </a:r>
          </a:p>
          <a:p>
            <a:pPr marL="342900" indent="-342900">
              <a:buClr>
                <a:srgbClr val="007DD6"/>
              </a:buClr>
              <a:buFont typeface="Arial" panose="020B0604020202020204" pitchFamily="34" charset="0"/>
              <a:buChar char="•"/>
            </a:pPr>
            <a:r>
              <a:rPr lang="fr-FR" sz="1500" dirty="0">
                <a:solidFill>
                  <a:schemeClr val="tx1"/>
                </a:solidFill>
                <a:latin typeface="Lora" panose="02000503000000020004"/>
              </a:rPr>
              <a:t>Le cout élevé. </a:t>
            </a:r>
          </a:p>
          <a:p>
            <a:pPr marL="342900" indent="-342900">
              <a:buClr>
                <a:srgbClr val="007DD6"/>
              </a:buClr>
              <a:buFont typeface="Arial" panose="020B0604020202020204" pitchFamily="34" charset="0"/>
              <a:buChar char="•"/>
            </a:pPr>
            <a:r>
              <a:rPr lang="fr-FR" sz="1500" dirty="0">
                <a:solidFill>
                  <a:schemeClr val="tx1"/>
                </a:solidFill>
                <a:latin typeface="Lora" panose="02000503000000020004"/>
              </a:rPr>
              <a:t>La nécessité de maitrise des outils bio-informatique ( interprétation délicate des données de séquençage).   </a:t>
            </a:r>
          </a:p>
          <a:p>
            <a:pPr marL="342900" indent="-342900">
              <a:buClr>
                <a:srgbClr val="007DD6"/>
              </a:buClr>
              <a:buFont typeface="Arial" panose="020B0604020202020204" pitchFamily="34" charset="0"/>
              <a:buChar char="•"/>
            </a:pPr>
            <a:endParaRPr lang="fr-FR" sz="1500" dirty="0">
              <a:solidFill>
                <a:schemeClr val="tx1"/>
              </a:solidFill>
              <a:latin typeface="Lora" panose="02000503000000020004"/>
            </a:endParaRPr>
          </a:p>
        </p:txBody>
      </p:sp>
    </p:spTree>
    <p:extLst>
      <p:ext uri="{BB962C8B-B14F-4D97-AF65-F5344CB8AC3E}">
        <p14:creationId xmlns:p14="http://schemas.microsoft.com/office/powerpoint/2010/main" val="25212176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CC7BF7-2911-CE44-9CF2-CD087EE363D6}"/>
              </a:ext>
            </a:extLst>
          </p:cNvPr>
          <p:cNvSpPr>
            <a:spLocks noGrp="1"/>
          </p:cNvSpPr>
          <p:nvPr>
            <p:ph type="title"/>
          </p:nvPr>
        </p:nvSpPr>
        <p:spPr>
          <a:xfrm>
            <a:off x="1381250" y="922668"/>
            <a:ext cx="7027523" cy="435599"/>
          </a:xfrm>
        </p:spPr>
        <p:txBody>
          <a:bodyPr/>
          <a:lstStyle/>
          <a:p>
            <a:r>
              <a:rPr lang="fr-FR" dirty="0" err="1"/>
              <a:t>Role</a:t>
            </a:r>
            <a:r>
              <a:rPr lang="fr-FR" dirty="0"/>
              <a:t> du laboratoire : épidémiologie des </a:t>
            </a:r>
            <a:r>
              <a:rPr lang="fr-FR" dirty="0" err="1"/>
              <a:t>anti-biorésistances</a:t>
            </a:r>
            <a:endParaRPr lang="fr-FR" dirty="0"/>
          </a:p>
        </p:txBody>
      </p:sp>
      <p:sp>
        <p:nvSpPr>
          <p:cNvPr id="3" name="Espace réservé du texte 2">
            <a:extLst>
              <a:ext uri="{FF2B5EF4-FFF2-40B4-BE49-F238E27FC236}">
                <a16:creationId xmlns:a16="http://schemas.microsoft.com/office/drawing/2014/main" id="{7C98B194-48DB-AA65-A49A-D0E6F08E4FF6}"/>
              </a:ext>
            </a:extLst>
          </p:cNvPr>
          <p:cNvSpPr>
            <a:spLocks noGrp="1"/>
          </p:cNvSpPr>
          <p:nvPr>
            <p:ph type="body" idx="1"/>
          </p:nvPr>
        </p:nvSpPr>
        <p:spPr/>
        <p:txBody>
          <a:bodyPr/>
          <a:lstStyle/>
          <a:p>
            <a:pPr marL="342900" indent="-342900">
              <a:buFont typeface="Arial" panose="020B0604020202020204" pitchFamily="34" charset="0"/>
              <a:buChar char="•"/>
            </a:pPr>
            <a:r>
              <a:rPr lang="fr-FR" dirty="0"/>
              <a:t>Réseau AARN ( en Algérie).</a:t>
            </a:r>
          </a:p>
        </p:txBody>
      </p:sp>
    </p:spTree>
    <p:extLst>
      <p:ext uri="{BB962C8B-B14F-4D97-AF65-F5344CB8AC3E}">
        <p14:creationId xmlns:p14="http://schemas.microsoft.com/office/powerpoint/2010/main" val="15359754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1250" y="922668"/>
            <a:ext cx="4834615" cy="435599"/>
          </a:xfrm>
        </p:spPr>
        <p:txBody>
          <a:bodyPr/>
          <a:lstStyle/>
          <a:p>
            <a:r>
              <a:rPr lang="fr-FR" dirty="0">
                <a:latin typeface="Lora" charset="0"/>
                <a:ea typeface="Lora" charset="0"/>
                <a:cs typeface="Lora" charset="0"/>
              </a:rPr>
              <a:t>Bibliographie</a:t>
            </a:r>
            <a:endParaRPr lang="fr-FR" dirty="0">
              <a:solidFill>
                <a:srgbClr val="007DD6"/>
              </a:solidFill>
            </a:endParaRPr>
          </a:p>
        </p:txBody>
      </p:sp>
      <p:sp>
        <p:nvSpPr>
          <p:cNvPr id="3" name="Text Placeholder 2"/>
          <p:cNvSpPr>
            <a:spLocks noGrp="1"/>
          </p:cNvSpPr>
          <p:nvPr>
            <p:ph type="body" idx="1"/>
          </p:nvPr>
        </p:nvSpPr>
        <p:spPr>
          <a:xfrm>
            <a:off x="170688" y="1431419"/>
            <a:ext cx="8814816" cy="3501528"/>
          </a:xfrm>
        </p:spPr>
        <p:txBody>
          <a:bodyPr numCol="1"/>
          <a:lstStyle/>
          <a:p>
            <a:pPr marL="457200" indent="-457200">
              <a:buClr>
                <a:schemeClr val="accent1"/>
              </a:buClr>
              <a:buFont typeface="Arial" panose="020B0604020202020204" pitchFamily="34" charset="0"/>
              <a:buChar char="•"/>
            </a:pPr>
            <a:r>
              <a:rPr lang="fr-FR" sz="1400" dirty="0">
                <a:latin typeface="Lora" pitchFamily="2" charset="0"/>
              </a:rPr>
              <a:t>Penven M, </a:t>
            </a:r>
            <a:r>
              <a:rPr lang="fr-FR" sz="1400" dirty="0" err="1">
                <a:latin typeface="Lora" pitchFamily="2" charset="0"/>
              </a:rPr>
              <a:t>Cattoir</a:t>
            </a:r>
            <a:r>
              <a:rPr lang="fr-FR" sz="1400" dirty="0">
                <a:latin typeface="Lora" pitchFamily="2" charset="0"/>
              </a:rPr>
              <a:t> V. Résistance bactérienne aux antibiotiques : définitions, mécanismes et évolution. EMC - Maladies infectieuses </a:t>
            </a:r>
            <a:r>
              <a:rPr lang="fr-FR" sz="1400" b="1" dirty="0">
                <a:latin typeface="Lora" pitchFamily="2" charset="0"/>
              </a:rPr>
              <a:t>2022</a:t>
            </a:r>
            <a:r>
              <a:rPr lang="fr-FR" sz="1400" dirty="0">
                <a:latin typeface="Lora" pitchFamily="2" charset="0"/>
              </a:rPr>
              <a:t>;39(4):1-17 [Article 8-006-N-10].</a:t>
            </a:r>
          </a:p>
          <a:p>
            <a:pPr marL="457200" indent="-457200">
              <a:buClr>
                <a:schemeClr val="accent1"/>
              </a:buClr>
              <a:buFont typeface="Arial" panose="020B0604020202020204" pitchFamily="34" charset="0"/>
              <a:buChar char="•"/>
            </a:pPr>
            <a:r>
              <a:rPr lang="fr-FR" sz="1400" dirty="0">
                <a:latin typeface="Lora" pitchFamily="2" charset="0"/>
              </a:rPr>
              <a:t>Pharmacie clinique et thérapeutique Elsevier </a:t>
            </a:r>
            <a:r>
              <a:rPr lang="fr-FR" sz="1400" b="1" dirty="0">
                <a:latin typeface="Lora" pitchFamily="2" charset="0"/>
              </a:rPr>
              <a:t>2019</a:t>
            </a:r>
            <a:r>
              <a:rPr lang="fr-FR" sz="1400" dirty="0">
                <a:latin typeface="Lora" pitchFamily="2" charset="0"/>
              </a:rPr>
              <a:t> Béatrice </a:t>
            </a:r>
            <a:r>
              <a:rPr lang="fr-FR" sz="1400" dirty="0" err="1">
                <a:latin typeface="Lora" pitchFamily="2" charset="0"/>
              </a:rPr>
              <a:t>Demoré</a:t>
            </a:r>
            <a:r>
              <a:rPr lang="fr-FR" sz="1400" dirty="0">
                <a:latin typeface="Lora" pitchFamily="2" charset="0"/>
              </a:rPr>
              <a:t> Ch42: Généralités sur les antibiotiques par voie systémique et principes d'utilisation.</a:t>
            </a:r>
          </a:p>
          <a:p>
            <a:pPr marL="457200" indent="-457200">
              <a:buClr>
                <a:schemeClr val="accent1"/>
              </a:buClr>
              <a:buFont typeface="Arial" panose="020B0604020202020204" pitchFamily="34" charset="0"/>
              <a:buChar char="•"/>
            </a:pPr>
            <a:endParaRPr lang="fr-FR" sz="1400" dirty="0">
              <a:latin typeface="Lora" pitchFamily="2" charset="0"/>
            </a:endParaRPr>
          </a:p>
        </p:txBody>
      </p:sp>
      <p:sp>
        <p:nvSpPr>
          <p:cNvPr id="11" name="Oval 10"/>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35</a:t>
            </a:r>
          </a:p>
        </p:txBody>
      </p:sp>
    </p:spTree>
    <p:extLst>
      <p:ext uri="{BB962C8B-B14F-4D97-AF65-F5344CB8AC3E}">
        <p14:creationId xmlns:p14="http://schemas.microsoft.com/office/powerpoint/2010/main" val="1493218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cxnSp>
        <p:nvCxnSpPr>
          <p:cNvPr id="87" name="Shape 87"/>
          <p:cNvCxnSpPr/>
          <p:nvPr/>
        </p:nvCxnSpPr>
        <p:spPr>
          <a:xfrm>
            <a:off x="6450" y="1428750"/>
            <a:ext cx="2397299" cy="0"/>
          </a:xfrm>
          <a:prstGeom prst="straightConnector1">
            <a:avLst/>
          </a:prstGeom>
          <a:noFill/>
          <a:ln w="9525" cap="flat" cmpd="sng">
            <a:solidFill>
              <a:srgbClr val="CCCCCC"/>
            </a:solidFill>
            <a:prstDash val="solid"/>
            <a:round/>
            <a:headEnd type="none" w="lg" len="lg"/>
            <a:tailEnd type="none" w="lg" len="lg"/>
          </a:ln>
        </p:spPr>
      </p:cxnSp>
      <p:sp>
        <p:nvSpPr>
          <p:cNvPr id="89" name="Shape 89"/>
          <p:cNvSpPr txBox="1">
            <a:spLocks noGrp="1"/>
          </p:cNvSpPr>
          <p:nvPr>
            <p:ph type="ctrTitle" idx="4294967295"/>
          </p:nvPr>
        </p:nvSpPr>
        <p:spPr>
          <a:xfrm>
            <a:off x="2371625" y="816550"/>
            <a:ext cx="4908000" cy="1159799"/>
          </a:xfrm>
          <a:prstGeom prst="rect">
            <a:avLst/>
          </a:prstGeom>
          <a:noFill/>
          <a:ln>
            <a:noFill/>
          </a:ln>
        </p:spPr>
        <p:txBody>
          <a:bodyPr lIns="91425" tIns="91425" rIns="91425" bIns="91425" anchor="ctr" anchorCtr="0">
            <a:noAutofit/>
          </a:bodyPr>
          <a:lstStyle/>
          <a:p>
            <a:pPr>
              <a:spcBef>
                <a:spcPts val="0"/>
              </a:spcBef>
              <a:buNone/>
            </a:pPr>
            <a:r>
              <a:rPr lang="fr-FR" sz="6000" dirty="0">
                <a:solidFill>
                  <a:srgbClr val="007DD6"/>
                </a:solidFill>
              </a:rPr>
              <a:t>Merci</a:t>
            </a:r>
            <a:r>
              <a:rPr lang="en" sz="6000" dirty="0">
                <a:solidFill>
                  <a:srgbClr val="007DD6"/>
                </a:solidFill>
              </a:rPr>
              <a:t>!</a:t>
            </a:r>
          </a:p>
        </p:txBody>
      </p:sp>
      <p:cxnSp>
        <p:nvCxnSpPr>
          <p:cNvPr id="90" name="Shape 90"/>
          <p:cNvCxnSpPr/>
          <p:nvPr/>
        </p:nvCxnSpPr>
        <p:spPr>
          <a:xfrm>
            <a:off x="4800600" y="1428750"/>
            <a:ext cx="4343300" cy="0"/>
          </a:xfrm>
          <a:prstGeom prst="straightConnector1">
            <a:avLst/>
          </a:prstGeom>
          <a:noFill/>
          <a:ln w="9525" cap="flat" cmpd="sng">
            <a:solidFill>
              <a:srgbClr val="CCCCCC"/>
            </a:solidFill>
            <a:prstDash val="solid"/>
            <a:round/>
            <a:headEnd type="none" w="lg" len="lg"/>
            <a:tailEnd type="none" w="lg" len="lg"/>
          </a:ln>
        </p:spPr>
      </p:cxnSp>
      <p:sp>
        <p:nvSpPr>
          <p:cNvPr id="7" name="Shape 403"/>
          <p:cNvSpPr/>
          <p:nvPr/>
        </p:nvSpPr>
        <p:spPr>
          <a:xfrm>
            <a:off x="-6226" y="4707750"/>
            <a:ext cx="9150225" cy="435599"/>
          </a:xfrm>
          <a:prstGeom prst="rect">
            <a:avLst/>
          </a:prstGeom>
          <a:solidFill>
            <a:srgbClr val="007DD6"/>
          </a:solidFill>
          <a:ln>
            <a:noFill/>
          </a:ln>
        </p:spPr>
        <p:txBody>
          <a:bodyPr lIns="91425" tIns="91425" rIns="91425" bIns="91425" anchor="ctr" anchorCtr="0">
            <a:noAutofit/>
          </a:bodyPr>
          <a:lstStyle/>
          <a:p>
            <a:pPr>
              <a:spcBef>
                <a:spcPts val="0"/>
              </a:spcBef>
              <a:buNone/>
            </a:pPr>
            <a:endParaRPr>
              <a:solidFill>
                <a:srgbClr val="FC6403"/>
              </a:solidFill>
            </a:endParaRPr>
          </a:p>
        </p:txBody>
      </p:sp>
    </p:spTree>
    <p:extLst>
      <p:ext uri="{BB962C8B-B14F-4D97-AF65-F5344CB8AC3E}">
        <p14:creationId xmlns:p14="http://schemas.microsoft.com/office/powerpoint/2010/main" val="975433301"/>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4" presetClass="emph" presetSubtype="0" fill="hold" grpId="0" nodeType="clickEffect">
                                  <p:stCondLst>
                                    <p:cond delay="0"/>
                                  </p:stCondLst>
                                  <p:iterate type="lt">
                                    <p:tmPct val="10000"/>
                                  </p:iterate>
                                  <p:childTnLst>
                                    <p:animMotion origin="layout" path="M 0.0 0.0 L 0.0 -0.07213" pathEditMode="relative" ptsTypes="">
                                      <p:cBhvr>
                                        <p:cTn id="6" dur="250" accel="50000" decel="50000" autoRev="1" fill="hold">
                                          <p:stCondLst>
                                            <p:cond delay="0"/>
                                          </p:stCondLst>
                                        </p:cTn>
                                        <p:tgtEl>
                                          <p:spTgt spid="89"/>
                                        </p:tgtEl>
                                        <p:attrNameLst>
                                          <p:attrName>ppt_x</p:attrName>
                                          <p:attrName>ppt_y</p:attrName>
                                        </p:attrNameLst>
                                      </p:cBhvr>
                                    </p:animMotion>
                                    <p:animRot by="1500000">
                                      <p:cBhvr>
                                        <p:cTn id="7" dur="125" fill="hold">
                                          <p:stCondLst>
                                            <p:cond delay="0"/>
                                          </p:stCondLst>
                                        </p:cTn>
                                        <p:tgtEl>
                                          <p:spTgt spid="89"/>
                                        </p:tgtEl>
                                        <p:attrNameLst>
                                          <p:attrName>r</p:attrName>
                                        </p:attrNameLst>
                                      </p:cBhvr>
                                    </p:animRot>
                                    <p:animRot by="-1500000">
                                      <p:cBhvr>
                                        <p:cTn id="8" dur="125" fill="hold">
                                          <p:stCondLst>
                                            <p:cond delay="125"/>
                                          </p:stCondLst>
                                        </p:cTn>
                                        <p:tgtEl>
                                          <p:spTgt spid="89"/>
                                        </p:tgtEl>
                                        <p:attrNameLst>
                                          <p:attrName>r</p:attrName>
                                        </p:attrNameLst>
                                      </p:cBhvr>
                                    </p:animRot>
                                    <p:animRot by="-1500000">
                                      <p:cBhvr>
                                        <p:cTn id="9" dur="125" fill="hold">
                                          <p:stCondLst>
                                            <p:cond delay="250"/>
                                          </p:stCondLst>
                                        </p:cTn>
                                        <p:tgtEl>
                                          <p:spTgt spid="89"/>
                                        </p:tgtEl>
                                        <p:attrNameLst>
                                          <p:attrName>r</p:attrName>
                                        </p:attrNameLst>
                                      </p:cBhvr>
                                    </p:animRot>
                                    <p:animRot by="1500000">
                                      <p:cBhvr>
                                        <p:cTn id="10" dur="125" fill="hold">
                                          <p:stCondLst>
                                            <p:cond delay="375"/>
                                          </p:stCondLst>
                                        </p:cTn>
                                        <p:tgtEl>
                                          <p:spTgt spid="89"/>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 grpId="0"/>
    </p:bldLst>
  </p:timing>
</p:sld>
</file>

<file path=ppt/theme/theme1.xml><?xml version="1.0" encoding="utf-8"?>
<a:theme xmlns:a="http://schemas.openxmlformats.org/drawingml/2006/main" name="Viola template">
  <a:themeElements>
    <a:clrScheme name="Custom 1">
      <a:dk1>
        <a:srgbClr val="000000"/>
      </a:dk1>
      <a:lt1>
        <a:srgbClr val="FFFFFF"/>
      </a:lt1>
      <a:dk2>
        <a:srgbClr val="666666"/>
      </a:dk2>
      <a:lt2>
        <a:srgbClr val="CCCCCC"/>
      </a:lt2>
      <a:accent1>
        <a:srgbClr val="3A81BA"/>
      </a:accent1>
      <a:accent2>
        <a:srgbClr val="0399FC"/>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27031</TotalTime>
  <Words>1753</Words>
  <Application>Microsoft Office PowerPoint</Application>
  <PresentationFormat>Affichage à l'écran (16:9)</PresentationFormat>
  <Paragraphs>144</Paragraphs>
  <Slides>31</Slides>
  <Notes>30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31</vt:i4>
      </vt:variant>
    </vt:vector>
  </HeadingPairs>
  <TitlesOfParts>
    <vt:vector size="37" baseType="lpstr">
      <vt:lpstr>Arial</vt:lpstr>
      <vt:lpstr>Lora</vt:lpstr>
      <vt:lpstr>LucidaGrande</vt:lpstr>
      <vt:lpstr>Quattrocento Sans</vt:lpstr>
      <vt:lpstr>Wingdings</vt:lpstr>
      <vt:lpstr>Viola template</vt:lpstr>
      <vt:lpstr>Antibiotiques : rôle du laboratoire</vt:lpstr>
      <vt:lpstr>Objectifs pédagogiques</vt:lpstr>
      <vt:lpstr>Plan</vt:lpstr>
      <vt:lpstr>Introduction</vt:lpstr>
      <vt:lpstr>Introduction:</vt:lpstr>
      <vt:lpstr>Définitions</vt:lpstr>
      <vt:lpstr>Définitions</vt:lpstr>
      <vt:lpstr>Méthodes phénotypiques </vt:lpstr>
      <vt:lpstr>Méthodes phénotypiques :</vt:lpstr>
      <vt:lpstr>Méthodes phénotypiques :</vt:lpstr>
      <vt:lpstr>Méthodes phénotypiques :</vt:lpstr>
      <vt:lpstr>Méthodes phénotypiques :</vt:lpstr>
      <vt:lpstr>Méthodes phénotypiques :</vt:lpstr>
      <vt:lpstr>Méthodes phénotypiques :</vt:lpstr>
      <vt:lpstr>Méthodes phénotypiques :</vt:lpstr>
      <vt:lpstr>Méthodes phénotypiques :</vt:lpstr>
      <vt:lpstr>Méthodes phénotypiques :</vt:lpstr>
      <vt:lpstr>Méthodes phénotypiques :</vt:lpstr>
      <vt:lpstr>Méthodes phénotypiques :</vt:lpstr>
      <vt:lpstr>Méthodes phénotypiques :</vt:lpstr>
      <vt:lpstr>Méthodes phénotypiques :</vt:lpstr>
      <vt:lpstr>Méthodes phénotypiques :</vt:lpstr>
      <vt:lpstr>Méthodes génotypiques</vt:lpstr>
      <vt:lpstr>Méthodes génotypiques</vt:lpstr>
      <vt:lpstr>Méthodes génotypiques</vt:lpstr>
      <vt:lpstr>Méthodes génotypiques</vt:lpstr>
      <vt:lpstr>Méthodes génotypiques</vt:lpstr>
      <vt:lpstr>Méthodes génotypiques</vt:lpstr>
      <vt:lpstr>Role du laboratoire : épidémiologie des anti-biorésistances</vt:lpstr>
      <vt:lpstr>Bibliographie</vt:lpstr>
      <vt:lpstr>Merci!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Antiseptique - désinfectant - stérilisation pharmacie 2023</dc:title>
  <dc:creator>Omar K</dc:creator>
  <cp:lastModifiedBy>dell</cp:lastModifiedBy>
  <cp:revision>1633</cp:revision>
  <dcterms:modified xsi:type="dcterms:W3CDTF">2025-06-02T09:42:54Z</dcterms:modified>
</cp:coreProperties>
</file>