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8" r:id="rId1"/>
  </p:sldMasterIdLst>
  <p:notesMasterIdLst>
    <p:notesMasterId r:id="rId34"/>
  </p:notesMasterIdLst>
  <p:handoutMasterIdLst>
    <p:handoutMasterId r:id="rId35"/>
  </p:handoutMasterIdLst>
  <p:sldIdLst>
    <p:sldId id="405" r:id="rId2"/>
    <p:sldId id="284" r:id="rId3"/>
    <p:sldId id="484" r:id="rId4"/>
    <p:sldId id="285" r:id="rId5"/>
    <p:sldId id="324" r:id="rId6"/>
    <p:sldId id="286" r:id="rId7"/>
    <p:sldId id="483" r:id="rId8"/>
    <p:sldId id="454" r:id="rId9"/>
    <p:sldId id="515" r:id="rId10"/>
    <p:sldId id="511" r:id="rId11"/>
    <p:sldId id="512" r:id="rId12"/>
    <p:sldId id="513" r:id="rId13"/>
    <p:sldId id="514" r:id="rId14"/>
    <p:sldId id="527" r:id="rId15"/>
    <p:sldId id="528" r:id="rId16"/>
    <p:sldId id="516" r:id="rId17"/>
    <p:sldId id="517" r:id="rId18"/>
    <p:sldId id="481" r:id="rId19"/>
    <p:sldId id="522" r:id="rId20"/>
    <p:sldId id="523" r:id="rId21"/>
    <p:sldId id="524" r:id="rId22"/>
    <p:sldId id="526" r:id="rId23"/>
    <p:sldId id="529" r:id="rId24"/>
    <p:sldId id="287" r:id="rId25"/>
    <p:sldId id="464" r:id="rId26"/>
    <p:sldId id="520" r:id="rId27"/>
    <p:sldId id="521" r:id="rId28"/>
    <p:sldId id="518" r:id="rId29"/>
    <p:sldId id="360" r:id="rId30"/>
    <p:sldId id="519" r:id="rId31"/>
    <p:sldId id="485" r:id="rId32"/>
    <p:sldId id="313" r:id="rId33"/>
  </p:sldIdLst>
  <p:sldSz cx="9144000" cy="5143500" type="screen16x9"/>
  <p:notesSz cx="6858000" cy="9144000"/>
  <p:defaultTextStyle>
    <a:defPPr marR="0" algn="l" rtl="0">
      <a:lnSpc>
        <a:spcPct val="100000"/>
      </a:lnSpc>
      <a:spcBef>
        <a:spcPts val="0"/>
      </a:spcBef>
      <a:spcAft>
        <a:spcPts val="0"/>
      </a:spcAft>
    </a:defPPr>
    <a:lvl1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1pPr>
    <a:lvl2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2pPr>
    <a:lvl3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3pPr>
    <a:lvl4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4pPr>
    <a:lvl5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5pPr>
    <a:lvl6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6pPr>
    <a:lvl7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7pPr>
    <a:lvl8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8pPr>
    <a:lvl9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9D9"/>
    <a:srgbClr val="007DD6"/>
    <a:srgbClr val="D24725"/>
    <a:srgbClr val="C64C2C"/>
    <a:srgbClr val="007742"/>
    <a:srgbClr val="D81E00"/>
    <a:srgbClr val="FFD6A9"/>
    <a:srgbClr val="AB56FF"/>
    <a:srgbClr val="FFD7D6"/>
    <a:srgbClr val="D5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9389B32-D725-419B-B877-691421574F8B}">
  <a:tblStyle styleId="{09389B32-D725-419B-B877-691421574F8B}" styleName="Table_0">
    <a:wholeTbl>
      <a:tcStyle>
        <a:tcBdr>
          <a:left>
            <a:ln w="9525" cap="flat" cmpd="sng">
              <a:solidFill>
                <a:srgbClr val="000000"/>
              </a:solidFill>
              <a:prstDash val="solid"/>
              <a:round/>
              <a:headEnd type="none" w="med" len="med"/>
              <a:tailEnd type="none" w="med" len="med"/>
            </a:ln>
          </a:left>
          <a:right>
            <a:ln w="9525" cap="flat" cmpd="sng">
              <a:solidFill>
                <a:srgbClr val="000000"/>
              </a:solidFill>
              <a:prstDash val="solid"/>
              <a:round/>
              <a:headEnd type="none" w="med" len="med"/>
              <a:tailEnd type="none" w="med" len="med"/>
            </a:ln>
          </a:right>
          <a:top>
            <a:ln w="9525" cap="flat" cmpd="sng">
              <a:solidFill>
                <a:srgbClr val="000000"/>
              </a:solidFill>
              <a:prstDash val="solid"/>
              <a:round/>
              <a:headEnd type="none" w="med" len="med"/>
              <a:tailEnd type="none" w="med" len="med"/>
            </a:ln>
          </a:top>
          <a:bottom>
            <a:ln w="9525" cap="flat" cmpd="sng">
              <a:solidFill>
                <a:srgbClr val="000000"/>
              </a:solidFill>
              <a:prstDash val="solid"/>
              <a:round/>
              <a:headEnd type="none" w="med" len="med"/>
              <a:tailEnd type="none" w="med" len="med"/>
            </a:ln>
          </a:bottom>
          <a:insideH>
            <a:ln w="9525" cap="flat" cmpd="sng">
              <a:solidFill>
                <a:srgbClr val="000000"/>
              </a:solidFill>
              <a:prstDash val="solid"/>
              <a:round/>
              <a:headEnd type="none" w="med" len="med"/>
              <a:tailEnd type="none" w="med" len="med"/>
            </a:ln>
          </a:insideH>
          <a:insideV>
            <a:ln w="9525" cap="flat" cmpd="sng">
              <a:solidFill>
                <a:srgbClr val="000000"/>
              </a:solidFill>
              <a:prstDash val="solid"/>
              <a:round/>
              <a:headEnd type="none" w="med" len="med"/>
              <a:tailEnd type="none" w="med" len="med"/>
            </a:ln>
          </a:insideV>
        </a:tcBdr>
      </a:tcStyle>
    </a:wholeTbl>
  </a:tblStyle>
  <a:tblStyle styleId="{9DCAF9ED-07DC-4A11-8D7F-57B35C25682E}" styleName="Style moyen 1 - Accentuation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35758FB7-9AC5-4552-8A53-C91805E547FA}" styleName="Style à thème 1 - Accentuation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5DA37D80-6434-44D0-A028-1B22A696006F}" styleName="Style léger 3 - Accentuation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08"/>
    <p:restoredTop sz="91455" autoAdjust="0"/>
  </p:normalViewPr>
  <p:slideViewPr>
    <p:cSldViewPr snapToGrid="0" snapToObjects="1">
      <p:cViewPr varScale="1">
        <p:scale>
          <a:sx n="137" d="100"/>
          <a:sy n="137" d="100"/>
        </p:scale>
        <p:origin x="864" y="114"/>
      </p:cViewPr>
      <p:guideLst/>
    </p:cSldViewPr>
  </p:slideViewPr>
  <p:outlineViewPr>
    <p:cViewPr>
      <p:scale>
        <a:sx n="33" d="100"/>
        <a:sy n="33" d="100"/>
      </p:scale>
      <p:origin x="0" y="-61264"/>
    </p:cViewPr>
  </p:outlineViewPr>
  <p:notesTextViewPr>
    <p:cViewPr>
      <p:scale>
        <a:sx n="1" d="1"/>
        <a:sy n="1" d="1"/>
      </p:scale>
      <p:origin x="0" y="0"/>
    </p:cViewPr>
  </p:notesTextViewPr>
  <p:notesViewPr>
    <p:cSldViewPr snapToGrid="0" snapToObjects="1">
      <p:cViewPr varScale="1">
        <p:scale>
          <a:sx n="75" d="100"/>
          <a:sy n="75" d="100"/>
        </p:scale>
        <p:origin x="2296" y="16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handoutMaster" Target="handoutMasters/handoutMaster1.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A4A85FC-D04F-1249-A490-D748BB869D49}" type="datetimeFigureOut">
              <a:rPr lang="fr-FR" smtClean="0"/>
              <a:t>02/06/2025</a:t>
            </a:fld>
            <a:endParaRPr lang="fr-FR"/>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3D569A4-AB8A-4F45-9F1C-C91E16013D6B}" type="slidenum">
              <a:rPr lang="fr-FR" smtClean="0"/>
              <a:t>‹N°›</a:t>
            </a:fld>
            <a:endParaRPr lang="fr-FR"/>
          </a:p>
        </p:txBody>
      </p:sp>
    </p:spTree>
    <p:extLst>
      <p:ext uri="{BB962C8B-B14F-4D97-AF65-F5344CB8AC3E}">
        <p14:creationId xmlns:p14="http://schemas.microsoft.com/office/powerpoint/2010/main" val="2052277962"/>
      </p:ext>
    </p:extLst>
  </p:cSld>
  <p:clrMap bg1="lt1" tx1="dk1" bg2="lt2" tx2="dk2" accent1="accent1" accent2="accent2" accent3="accent3" accent4="accent4" accent5="accent5" accent6="accent6" hlink="hlink" folHlink="folHlink"/>
  <p:hf hd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1"/>
        <p:cNvGrpSpPr/>
        <p:nvPr/>
      </p:nvGrpSpPr>
      <p:grpSpPr>
        <a:xfrm>
          <a:off x="0" y="0"/>
          <a:ext cx="0" cy="0"/>
          <a:chOff x="0" y="0"/>
          <a:chExt cx="0" cy="0"/>
        </a:xfrm>
      </p:grpSpPr>
      <p:sp>
        <p:nvSpPr>
          <p:cNvPr id="2" name="Shape 2"/>
          <p:cNvSpPr>
            <a:spLocks noGrp="1" noRot="1" noChangeAspect="1"/>
          </p:cNvSpPr>
          <p:nvPr>
            <p:ph type="sldImg" idx="2"/>
          </p:nvPr>
        </p:nvSpPr>
        <p:spPr>
          <a:xfrm>
            <a:off x="381175" y="685800"/>
            <a:ext cx="6096299"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3" name="Shape 3"/>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lstStyle>
            <a:lvl1pPr>
              <a:spcBef>
                <a:spcPts val="0"/>
              </a:spcBef>
              <a:defRPr sz="1100"/>
            </a:lvl1pPr>
            <a:lvl2pPr>
              <a:spcBef>
                <a:spcPts val="0"/>
              </a:spcBef>
              <a:defRPr sz="1100"/>
            </a:lvl2pPr>
            <a:lvl3pPr>
              <a:spcBef>
                <a:spcPts val="0"/>
              </a:spcBef>
              <a:defRPr sz="1100"/>
            </a:lvl3pPr>
            <a:lvl4pPr>
              <a:spcBef>
                <a:spcPts val="0"/>
              </a:spcBef>
              <a:defRPr sz="1100"/>
            </a:lvl4pPr>
            <a:lvl5pPr>
              <a:spcBef>
                <a:spcPts val="0"/>
              </a:spcBef>
              <a:defRPr sz="1100"/>
            </a:lvl5pPr>
            <a:lvl6pPr>
              <a:spcBef>
                <a:spcPts val="0"/>
              </a:spcBef>
              <a:defRPr sz="1100"/>
            </a:lvl6pPr>
            <a:lvl7pPr>
              <a:spcBef>
                <a:spcPts val="0"/>
              </a:spcBef>
              <a:defRPr sz="1100"/>
            </a:lvl7pPr>
            <a:lvl8pPr>
              <a:spcBef>
                <a:spcPts val="0"/>
              </a:spcBef>
              <a:defRPr sz="1100"/>
            </a:lvl8pPr>
            <a:lvl9pPr>
              <a:spcBef>
                <a:spcPts val="0"/>
              </a:spcBef>
              <a:defRPr sz="1100"/>
            </a:lvl9pPr>
          </a:lstStyle>
          <a:p>
            <a:endParaRPr/>
          </a:p>
        </p:txBody>
      </p:sp>
    </p:spTree>
    <p:extLst>
      <p:ext uri="{BB962C8B-B14F-4D97-AF65-F5344CB8AC3E}">
        <p14:creationId xmlns:p14="http://schemas.microsoft.com/office/powerpoint/2010/main" val="1951676528"/>
      </p:ext>
    </p:extLst>
  </p:cSld>
  <p:clrMap bg1="lt1" tx1="dk1" bg2="dk2" tx2="lt2" accent1="accent1" accent2="accent2" accent3="accent3" accent4="accent4" accent5="accent5" accent6="accent6" hlink="hlink" folHlink="folHlink"/>
  <p:hf hdr="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Shape 68"/>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69" name="Shape 69"/>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endParaRPr lang="en-US" sz="110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24462042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228600" lvl="0" indent="-228600">
              <a:buFont typeface="+mj-lt"/>
              <a:buAutoNum type="arabicPeriod"/>
            </a:pPr>
            <a:endParaRPr lang="en-US" sz="110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17656218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228600" lvl="0" indent="-228600">
              <a:buFont typeface="+mj-lt"/>
              <a:buAutoNum type="arabicPeriod"/>
            </a:pPr>
            <a:endParaRPr lang="en-US" sz="110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122361541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fr-FR" dirty="0"/>
          </a:p>
        </p:txBody>
      </p:sp>
    </p:spTree>
    <p:extLst>
      <p:ext uri="{BB962C8B-B14F-4D97-AF65-F5344CB8AC3E}">
        <p14:creationId xmlns:p14="http://schemas.microsoft.com/office/powerpoint/2010/main" val="72817362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LucidaGrande" charset="0"/>
              <a:buNone/>
              <a:tabLst/>
              <a:defRPr/>
            </a:pPr>
            <a:endParaRPr lang="en-US" sz="110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101846956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sz="110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22245674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LucidaGrande" charset="0"/>
              <a:buNone/>
              <a:tabLst/>
              <a:defRPr/>
            </a:pPr>
            <a:endParaRPr lang="en-US" sz="110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280300374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sz="110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205058148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91A0E4-E3B7-F921-3417-52897A6781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F67F6D3-4014-B341-AAFF-8AA7D3FDC59C}"/>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DE3C84CA-E73E-56DF-EBC6-89DB090CBA21}"/>
              </a:ext>
            </a:extLst>
          </p:cNvPr>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Wingdings" charset="2"/>
              <a:buNone/>
              <a:tabLst/>
              <a:defRPr/>
            </a:pPr>
            <a:endParaRPr lang="en-US" sz="110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56773227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314D4C-BB5A-CFE3-7160-37C029F0C0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58C2604-09BB-1D8F-4578-D296BE0F4177}"/>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0A7A1054-35BB-1841-88DB-2A44CB6E1CAE}"/>
              </a:ext>
            </a:extLst>
          </p:cNvPr>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Wingdings" charset="2"/>
              <a:buNone/>
              <a:tabLst/>
              <a:defRPr/>
            </a:pPr>
            <a:endParaRPr lang="en-US" sz="110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127415557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E504B1-1BB1-C847-4EE4-4D4507EE77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24B874-2563-B7FA-3AB9-00D8751225E4}"/>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A7BAADD5-454B-62DE-FD7B-D3503E3C1940}"/>
              </a:ext>
            </a:extLst>
          </p:cNvPr>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Wingdings" charset="2"/>
              <a:buNone/>
              <a:tabLst/>
              <a:defRPr/>
            </a:pPr>
            <a:endParaRPr lang="en-US" sz="110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362191472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E80787-BAC3-81A5-99A3-AF2E9DC5D6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042B6A-9E00-CACE-DB6E-2BC5A67082D6}"/>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194DE7B9-42C2-C4C3-2948-E53F158116CE}"/>
              </a:ext>
            </a:extLst>
          </p:cNvPr>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Wingdings" charset="2"/>
              <a:buNone/>
              <a:tabLst/>
              <a:defRPr/>
            </a:pPr>
            <a:endParaRPr lang="en-US" sz="110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274193044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D5B1DD-2FC6-6151-5463-68A2FEF888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91E8A5C-D14F-18EF-7D91-392F70886446}"/>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0D611CE6-6A2C-F268-FDBD-8BAC99EBC4D8}"/>
              </a:ext>
            </a:extLst>
          </p:cNvPr>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Wingdings" charset="2"/>
              <a:buNone/>
              <a:tabLst/>
              <a:defRPr/>
            </a:pPr>
            <a:endParaRPr lang="en-US" sz="110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205802180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B88D35-C404-8FED-509C-931C6177B19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996647-55D1-2BA6-B51D-FD7E47B208AD}"/>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9441D39C-64D7-0C6D-B6FB-3C2FD0108947}"/>
              </a:ext>
            </a:extLst>
          </p:cNvPr>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Wingdings" charset="2"/>
              <a:buNone/>
              <a:tabLst/>
              <a:defRPr/>
            </a:pPr>
            <a:endParaRPr lang="en-US" sz="110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170890458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E706F2-2AD4-CF89-05DA-217FD8B061B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25A20E-D3A3-21C6-3F46-147734EEAF3C}"/>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6DF347DB-5D0F-9269-8765-F2B9F932250B}"/>
              </a:ext>
            </a:extLst>
          </p:cNvPr>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Wingdings" charset="2"/>
              <a:buNone/>
              <a:tabLst/>
              <a:defRPr/>
            </a:pPr>
            <a:endParaRPr lang="en-US" sz="110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220523223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9CA682-4E88-DC18-D174-6AD696063AD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574EF8A-2829-B7C1-6A90-78155FF9DDA8}"/>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202F6534-511A-16C8-0D2D-C7E1224F89D6}"/>
              </a:ext>
            </a:extLst>
          </p:cNvPr>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Wingdings" charset="2"/>
              <a:buNone/>
              <a:tabLst/>
              <a:defRPr/>
            </a:pPr>
            <a:endParaRPr lang="en-US" sz="110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149124256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AC3D9E-9012-A06B-B287-9FA4B54CD01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FE6569-3A5B-DFA3-F746-8634536A022A}"/>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4B992F33-3EAA-1BB0-0345-D3D98E3CE8E1}"/>
              </a:ext>
            </a:extLst>
          </p:cNvPr>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Wingdings" charset="2"/>
              <a:buNone/>
              <a:tabLst/>
              <a:defRPr/>
            </a:pPr>
            <a:endParaRPr lang="en-US" sz="110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115628290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Wingdings" charset="2"/>
              <a:buNone/>
              <a:tabLst/>
              <a:defRPr/>
            </a:pPr>
            <a:endParaRPr lang="en-US" sz="110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11736152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9BF53E-3D9C-4E5D-046B-4A518499C8F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E664B33-AC0F-BE3A-4541-374B2BF3C325}"/>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DA00B1A8-12D5-D0DF-1298-53E2C51CEBA3}"/>
              </a:ext>
            </a:extLst>
          </p:cNvPr>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Wingdings" charset="2"/>
              <a:buNone/>
              <a:tabLst/>
              <a:defRPr/>
            </a:pPr>
            <a:endParaRPr lang="en-US" sz="110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350150686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203AEA-5FC8-050C-2C1D-88540DA8FE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BBA66E8-040B-3868-8A0D-CAFED7DE42B2}"/>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F1B6534D-3DB7-B829-0225-A9B7E0968F6F}"/>
              </a:ext>
            </a:extLst>
          </p:cNvPr>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Wingdings" charset="2"/>
              <a:buNone/>
              <a:tabLst/>
              <a:defRPr/>
            </a:pPr>
            <a:endParaRPr lang="en-US" sz="110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9123798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4EDA7A-245A-213E-03DC-7F1D1D7C41A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E9C9E62-81B9-E3BB-A11F-19542D157531}"/>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7AD3349B-F983-34D0-4BF1-C2EBE82FF3AB}"/>
              </a:ext>
            </a:extLst>
          </p:cNvPr>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Wingdings" charset="2"/>
              <a:buNone/>
              <a:tabLst/>
              <a:defRPr/>
            </a:pPr>
            <a:endParaRPr lang="en-US" sz="110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263919855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4AF9C6-6496-9CA6-38BC-958C8583287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9728733-9E18-87BA-A36E-2270EF2F1FF4}"/>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64B1F82E-0B4F-6F92-2CFB-AF2BA7B5DAB0}"/>
              </a:ext>
            </a:extLst>
          </p:cNvPr>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Wingdings" charset="2"/>
              <a:buNone/>
              <a:tabLst/>
              <a:defRPr/>
            </a:pPr>
            <a:endParaRPr lang="en-US" sz="110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231002410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23F944-A02E-8F82-AD71-0E63E73831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F25E2E-524D-920F-E69E-DA26618522A5}"/>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1087DA28-848F-C2D1-ACB0-EDEE16DCE856}"/>
              </a:ext>
            </a:extLst>
          </p:cNvPr>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Wingdings" charset="2"/>
              <a:buNone/>
              <a:tabLst/>
              <a:defRPr/>
            </a:pPr>
            <a:endParaRPr lang="en-US" sz="110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378246449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fr-FR" dirty="0"/>
          </a:p>
        </p:txBody>
      </p:sp>
    </p:spTree>
    <p:extLst>
      <p:ext uri="{BB962C8B-B14F-4D97-AF65-F5344CB8AC3E}">
        <p14:creationId xmlns:p14="http://schemas.microsoft.com/office/powerpoint/2010/main" val="100261387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Wingdings" charset="2"/>
              <a:buNone/>
              <a:tabLst/>
              <a:defRPr/>
            </a:pPr>
            <a:endParaRPr lang="en-US" sz="110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202436991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685A96-ABDA-0B4A-ADC5-B4F2EFE55E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2C8EAF-EE17-A41B-89F0-BEA12A5D7B48}"/>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6CD294E2-7C91-8951-B57B-ADB3D2B79BD2}"/>
              </a:ext>
            </a:extLst>
          </p:cNvPr>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Wingdings" charset="2"/>
              <a:buNone/>
              <a:tabLst/>
              <a:defRPr/>
            </a:pPr>
            <a:endParaRPr lang="en-US" sz="110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284537335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9DABA6-7D1E-5423-5351-58AFAC8A6D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A2EE13C-E8AA-E80C-2BB5-D00E012C2473}"/>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97037429-2963-46FC-CB39-28D59DD20965}"/>
              </a:ext>
            </a:extLst>
          </p:cNvPr>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Wingdings" charset="2"/>
              <a:buNone/>
              <a:tabLst/>
              <a:defRPr/>
            </a:pPr>
            <a:endParaRPr lang="en-US" sz="110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353402058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E39C15-5A82-CC26-84E7-A512308698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B66B67-8119-7F72-D55E-68CF2DDB4309}"/>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D408ACAB-42C2-29FA-6E63-FCF8F65C3C0E}"/>
              </a:ext>
            </a:extLst>
          </p:cNvPr>
          <p:cNvSpPr>
            <a:spLocks noGrp="1"/>
          </p:cNvSpPr>
          <p:nvPr>
            <p:ph type="body" idx="1"/>
          </p:nvPr>
        </p:nvSpPr>
        <p:spPr/>
        <p:txBody>
          <a:bodyPr/>
          <a:lstStyle/>
          <a:p>
            <a:endParaRPr lang="en-US" sz="110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38354036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lvl="0"/>
            <a:endParaRPr lang="en-US" sz="110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101941597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AB7055-D3DD-DBF2-40D1-EDFF971839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81A6730-0901-F806-9876-2700EECE73C2}"/>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DCEA16C4-1403-5766-C80B-06848DD4D1C2}"/>
              </a:ext>
            </a:extLst>
          </p:cNvPr>
          <p:cNvSpPr>
            <a:spLocks noGrp="1"/>
          </p:cNvSpPr>
          <p:nvPr>
            <p:ph type="body" idx="1"/>
          </p:nvPr>
        </p:nvSpPr>
        <p:spPr/>
        <p:txBody>
          <a:bodyPr/>
          <a:lstStyle/>
          <a:p>
            <a:pPr lvl="0"/>
            <a:endParaRPr lang="en-US" sz="110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160453642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lvl="0"/>
            <a:endParaRPr lang="en-US" sz="110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250843099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Shape 9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93" name="Shape 93"/>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endParaRPr lang="en-US" sz="110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21732870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x">
  <p:cSld name="Title + 1 column">
    <p:spTree>
      <p:nvGrpSpPr>
        <p:cNvPr id="1" name="Shape 22"/>
        <p:cNvGrpSpPr/>
        <p:nvPr/>
      </p:nvGrpSpPr>
      <p:grpSpPr>
        <a:xfrm>
          <a:off x="0" y="0"/>
          <a:ext cx="0" cy="0"/>
          <a:chOff x="0" y="0"/>
          <a:chExt cx="0" cy="0"/>
        </a:xfrm>
      </p:grpSpPr>
      <p:cxnSp>
        <p:nvCxnSpPr>
          <p:cNvPr id="23" name="Shape 23"/>
          <p:cNvCxnSpPr/>
          <p:nvPr/>
        </p:nvCxnSpPr>
        <p:spPr>
          <a:xfrm>
            <a:off x="0" y="1131725"/>
            <a:ext cx="1375800" cy="0"/>
          </a:xfrm>
          <a:prstGeom prst="straightConnector1">
            <a:avLst/>
          </a:prstGeom>
          <a:noFill/>
          <a:ln w="9525" cap="flat" cmpd="sng">
            <a:solidFill>
              <a:srgbClr val="CCCCCC"/>
            </a:solidFill>
            <a:prstDash val="solid"/>
            <a:round/>
            <a:headEnd type="none" w="lg" len="lg"/>
            <a:tailEnd type="none" w="lg" len="lg"/>
          </a:ln>
        </p:spPr>
      </p:cxnSp>
      <p:sp>
        <p:nvSpPr>
          <p:cNvPr id="24" name="Shape 24"/>
          <p:cNvSpPr/>
          <p:nvPr/>
        </p:nvSpPr>
        <p:spPr>
          <a:xfrm>
            <a:off x="817475" y="928766"/>
            <a:ext cx="405899" cy="405899"/>
          </a:xfrm>
          <a:prstGeom prst="ellipse">
            <a:avLst/>
          </a:prstGeom>
          <a:solidFill>
            <a:srgbClr val="007DD6"/>
          </a:solidFill>
          <a:ln>
            <a:noFill/>
          </a:ln>
        </p:spPr>
        <p:txBody>
          <a:bodyPr lIns="91425" tIns="91425" rIns="91425" bIns="91425" anchor="ctr" anchorCtr="0">
            <a:noAutofit/>
          </a:bodyPr>
          <a:lstStyle/>
          <a:p>
            <a:pPr lvl="0" rtl="0">
              <a:spcBef>
                <a:spcPts val="0"/>
              </a:spcBef>
              <a:buNone/>
            </a:pPr>
            <a:endParaRPr/>
          </a:p>
        </p:txBody>
      </p:sp>
      <p:sp>
        <p:nvSpPr>
          <p:cNvPr id="25" name="Shape 25"/>
          <p:cNvSpPr txBox="1">
            <a:spLocks noGrp="1"/>
          </p:cNvSpPr>
          <p:nvPr>
            <p:ph type="title"/>
          </p:nvPr>
        </p:nvSpPr>
        <p:spPr>
          <a:xfrm>
            <a:off x="1381250" y="922668"/>
            <a:ext cx="3878399" cy="435599"/>
          </a:xfrm>
          <a:prstGeom prst="rect">
            <a:avLst/>
          </a:prstGeom>
        </p:spPr>
        <p:txBody>
          <a:bodyPr lIns="91425" tIns="91425" rIns="91425" bIns="91425" anchor="ctr" anchorCtr="0"/>
          <a:lstStyle>
            <a:lvl1pPr rtl="0">
              <a:spcBef>
                <a:spcPts val="0"/>
              </a:spcBef>
              <a:buSzPct val="100000"/>
              <a:buFont typeface="Lora"/>
              <a:buNone/>
              <a:defRPr sz="2000" b="1">
                <a:latin typeface="Lora"/>
                <a:ea typeface="Lora"/>
                <a:cs typeface="Lora"/>
                <a:sym typeface="Lora"/>
              </a:defRPr>
            </a:lvl1pPr>
            <a:lvl2pPr rtl="0">
              <a:spcBef>
                <a:spcPts val="0"/>
              </a:spcBef>
              <a:buSzPct val="100000"/>
              <a:buFont typeface="Lora"/>
              <a:buNone/>
              <a:defRPr sz="2000" b="1">
                <a:highlight>
                  <a:srgbClr val="FFFFFF"/>
                </a:highlight>
                <a:latin typeface="Lora"/>
                <a:ea typeface="Lora"/>
                <a:cs typeface="Lora"/>
                <a:sym typeface="Lora"/>
              </a:defRPr>
            </a:lvl2pPr>
            <a:lvl3pPr rtl="0">
              <a:spcBef>
                <a:spcPts val="0"/>
              </a:spcBef>
              <a:buSzPct val="100000"/>
              <a:buFont typeface="Lora"/>
              <a:buNone/>
              <a:defRPr sz="2000" b="1">
                <a:highlight>
                  <a:srgbClr val="FFFFFF"/>
                </a:highlight>
                <a:latin typeface="Lora"/>
                <a:ea typeface="Lora"/>
                <a:cs typeface="Lora"/>
                <a:sym typeface="Lora"/>
              </a:defRPr>
            </a:lvl3pPr>
            <a:lvl4pPr rtl="0">
              <a:spcBef>
                <a:spcPts val="0"/>
              </a:spcBef>
              <a:buSzPct val="100000"/>
              <a:buFont typeface="Lora"/>
              <a:buNone/>
              <a:defRPr sz="2000" b="1">
                <a:highlight>
                  <a:srgbClr val="FFFFFF"/>
                </a:highlight>
                <a:latin typeface="Lora"/>
                <a:ea typeface="Lora"/>
                <a:cs typeface="Lora"/>
                <a:sym typeface="Lora"/>
              </a:defRPr>
            </a:lvl4pPr>
            <a:lvl5pPr rtl="0">
              <a:spcBef>
                <a:spcPts val="0"/>
              </a:spcBef>
              <a:buSzPct val="100000"/>
              <a:buFont typeface="Lora"/>
              <a:buNone/>
              <a:defRPr sz="2000" b="1">
                <a:highlight>
                  <a:srgbClr val="FFFFFF"/>
                </a:highlight>
                <a:latin typeface="Lora"/>
                <a:ea typeface="Lora"/>
                <a:cs typeface="Lora"/>
                <a:sym typeface="Lora"/>
              </a:defRPr>
            </a:lvl5pPr>
            <a:lvl6pPr rtl="0">
              <a:spcBef>
                <a:spcPts val="0"/>
              </a:spcBef>
              <a:buSzPct val="100000"/>
              <a:buFont typeface="Lora"/>
              <a:buNone/>
              <a:defRPr sz="2000" b="1">
                <a:highlight>
                  <a:srgbClr val="FFFFFF"/>
                </a:highlight>
                <a:latin typeface="Lora"/>
                <a:ea typeface="Lora"/>
                <a:cs typeface="Lora"/>
                <a:sym typeface="Lora"/>
              </a:defRPr>
            </a:lvl6pPr>
            <a:lvl7pPr rtl="0">
              <a:spcBef>
                <a:spcPts val="0"/>
              </a:spcBef>
              <a:buSzPct val="100000"/>
              <a:buFont typeface="Lora"/>
              <a:buNone/>
              <a:defRPr sz="2000" b="1">
                <a:highlight>
                  <a:srgbClr val="FFFFFF"/>
                </a:highlight>
                <a:latin typeface="Lora"/>
                <a:ea typeface="Lora"/>
                <a:cs typeface="Lora"/>
                <a:sym typeface="Lora"/>
              </a:defRPr>
            </a:lvl7pPr>
            <a:lvl8pPr rtl="0">
              <a:spcBef>
                <a:spcPts val="0"/>
              </a:spcBef>
              <a:buSzPct val="100000"/>
              <a:buFont typeface="Lora"/>
              <a:buNone/>
              <a:defRPr sz="2000" b="1">
                <a:highlight>
                  <a:srgbClr val="FFFFFF"/>
                </a:highlight>
                <a:latin typeface="Lora"/>
                <a:ea typeface="Lora"/>
                <a:cs typeface="Lora"/>
                <a:sym typeface="Lora"/>
              </a:defRPr>
            </a:lvl8pPr>
            <a:lvl9pPr rtl="0">
              <a:spcBef>
                <a:spcPts val="0"/>
              </a:spcBef>
              <a:buSzPct val="100000"/>
              <a:buFont typeface="Lora"/>
              <a:buNone/>
              <a:defRPr sz="2000" b="1">
                <a:highlight>
                  <a:srgbClr val="FFFFFF"/>
                </a:highlight>
                <a:latin typeface="Lora"/>
                <a:ea typeface="Lora"/>
                <a:cs typeface="Lora"/>
                <a:sym typeface="Lora"/>
              </a:defRPr>
            </a:lvl9pPr>
          </a:lstStyle>
          <a:p>
            <a:endParaRPr/>
          </a:p>
        </p:txBody>
      </p:sp>
      <p:sp>
        <p:nvSpPr>
          <p:cNvPr id="26" name="Shape 26"/>
          <p:cNvSpPr txBox="1">
            <a:spLocks noGrp="1"/>
          </p:cNvSpPr>
          <p:nvPr>
            <p:ph type="body" idx="1"/>
          </p:nvPr>
        </p:nvSpPr>
        <p:spPr>
          <a:xfrm>
            <a:off x="1381250" y="1616470"/>
            <a:ext cx="6809700" cy="3112200"/>
          </a:xfrm>
          <a:prstGeom prst="rect">
            <a:avLst/>
          </a:prstGeom>
        </p:spPr>
        <p:txBody>
          <a:bodyPr lIns="91425" tIns="91425" rIns="91425" bIns="91425" anchor="t" anchorCtr="0"/>
          <a:lstStyle>
            <a:lvl1pPr rtl="0">
              <a:spcBef>
                <a:spcPts val="600"/>
              </a:spcBef>
              <a:buClr>
                <a:srgbClr val="FFCD00"/>
              </a:buClr>
              <a:buSzPct val="100000"/>
              <a:buFont typeface="Quattrocento Sans"/>
              <a:buChar char="◉"/>
              <a:defRPr sz="2400">
                <a:latin typeface="Quattrocento Sans"/>
                <a:ea typeface="Quattrocento Sans"/>
                <a:cs typeface="Quattrocento Sans"/>
                <a:sym typeface="Quattrocento Sans"/>
              </a:defRPr>
            </a:lvl1pPr>
            <a:lvl2pPr rtl="0">
              <a:spcBef>
                <a:spcPts val="480"/>
              </a:spcBef>
              <a:buClr>
                <a:srgbClr val="FFCD00"/>
              </a:buClr>
              <a:buSzPct val="100000"/>
              <a:buFont typeface="Quattrocento Sans"/>
              <a:defRPr sz="2000">
                <a:latin typeface="Quattrocento Sans"/>
                <a:ea typeface="Quattrocento Sans"/>
                <a:cs typeface="Quattrocento Sans"/>
                <a:sym typeface="Quattrocento Sans"/>
              </a:defRPr>
            </a:lvl2pPr>
            <a:lvl3pPr rtl="0">
              <a:spcBef>
                <a:spcPts val="480"/>
              </a:spcBef>
              <a:buClr>
                <a:srgbClr val="FFCD00"/>
              </a:buClr>
              <a:buSzPct val="100000"/>
              <a:buFont typeface="Quattrocento Sans"/>
              <a:defRPr sz="2000">
                <a:latin typeface="Quattrocento Sans"/>
                <a:ea typeface="Quattrocento Sans"/>
                <a:cs typeface="Quattrocento Sans"/>
                <a:sym typeface="Quattrocento Sans"/>
              </a:defRPr>
            </a:lvl3pPr>
            <a:lvl4pPr rtl="0">
              <a:spcBef>
                <a:spcPts val="360"/>
              </a:spcBef>
              <a:buClr>
                <a:srgbClr val="FFCD00"/>
              </a:buClr>
              <a:buSzPct val="100000"/>
              <a:buFont typeface="Quattrocento Sans"/>
              <a:defRPr sz="1800">
                <a:latin typeface="Quattrocento Sans"/>
                <a:ea typeface="Quattrocento Sans"/>
                <a:cs typeface="Quattrocento Sans"/>
                <a:sym typeface="Quattrocento Sans"/>
              </a:defRPr>
            </a:lvl4pPr>
            <a:lvl5pPr rtl="0">
              <a:spcBef>
                <a:spcPts val="360"/>
              </a:spcBef>
              <a:buClr>
                <a:srgbClr val="FFCD00"/>
              </a:buClr>
              <a:buSzPct val="100000"/>
              <a:buFont typeface="Quattrocento Sans"/>
              <a:defRPr sz="1800">
                <a:latin typeface="Quattrocento Sans"/>
                <a:ea typeface="Quattrocento Sans"/>
                <a:cs typeface="Quattrocento Sans"/>
                <a:sym typeface="Quattrocento Sans"/>
              </a:defRPr>
            </a:lvl5pPr>
            <a:lvl6pPr rtl="0">
              <a:spcBef>
                <a:spcPts val="360"/>
              </a:spcBef>
              <a:buClr>
                <a:srgbClr val="FFCD00"/>
              </a:buClr>
              <a:buSzPct val="100000"/>
              <a:buFont typeface="Quattrocento Sans"/>
              <a:defRPr sz="1800">
                <a:latin typeface="Quattrocento Sans"/>
                <a:ea typeface="Quattrocento Sans"/>
                <a:cs typeface="Quattrocento Sans"/>
                <a:sym typeface="Quattrocento Sans"/>
              </a:defRPr>
            </a:lvl6pPr>
            <a:lvl7pPr rtl="0">
              <a:spcBef>
                <a:spcPts val="360"/>
              </a:spcBef>
              <a:buClr>
                <a:srgbClr val="FFCD00"/>
              </a:buClr>
              <a:buSzPct val="100000"/>
              <a:buFont typeface="Quattrocento Sans"/>
              <a:defRPr sz="1800">
                <a:latin typeface="Quattrocento Sans"/>
                <a:ea typeface="Quattrocento Sans"/>
                <a:cs typeface="Quattrocento Sans"/>
                <a:sym typeface="Quattrocento Sans"/>
              </a:defRPr>
            </a:lvl7pPr>
            <a:lvl8pPr rtl="0">
              <a:spcBef>
                <a:spcPts val="360"/>
              </a:spcBef>
              <a:buClr>
                <a:srgbClr val="FFCD00"/>
              </a:buClr>
              <a:buSzPct val="100000"/>
              <a:buFont typeface="Quattrocento Sans"/>
              <a:defRPr sz="1800">
                <a:latin typeface="Quattrocento Sans"/>
                <a:ea typeface="Quattrocento Sans"/>
                <a:cs typeface="Quattrocento Sans"/>
                <a:sym typeface="Quattrocento Sans"/>
              </a:defRPr>
            </a:lvl8pPr>
            <a:lvl9pPr rtl="0">
              <a:spcBef>
                <a:spcPts val="360"/>
              </a:spcBef>
              <a:buClr>
                <a:srgbClr val="FFCD00"/>
              </a:buClr>
              <a:buSzPct val="100000"/>
              <a:buFont typeface="Quattrocento Sans"/>
              <a:defRPr sz="1800">
                <a:latin typeface="Quattrocento Sans"/>
                <a:ea typeface="Quattrocento Sans"/>
                <a:cs typeface="Quattrocento Sans"/>
                <a:sym typeface="Quattrocento Sans"/>
              </a:defRPr>
            </a:lvl9pPr>
          </a:lstStyle>
          <a:p>
            <a:endParaRPr/>
          </a:p>
        </p:txBody>
      </p:sp>
      <p:cxnSp>
        <p:nvCxnSpPr>
          <p:cNvPr id="27" name="Shape 27"/>
          <p:cNvCxnSpPr/>
          <p:nvPr/>
        </p:nvCxnSpPr>
        <p:spPr>
          <a:xfrm>
            <a:off x="5265650" y="1131725"/>
            <a:ext cx="3878399" cy="0"/>
          </a:xfrm>
          <a:prstGeom prst="straightConnector1">
            <a:avLst/>
          </a:prstGeom>
          <a:noFill/>
          <a:ln w="9525" cap="flat" cmpd="sng">
            <a:solidFill>
              <a:srgbClr val="CCCCCC"/>
            </a:solidFill>
            <a:prstDash val="solid"/>
            <a:round/>
            <a:headEnd type="none" w="lg" len="lg"/>
            <a:tailEnd type="none" w="lg" len="lg"/>
          </a:ln>
        </p:spPr>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Completely blank">
    <p:spTree>
      <p:nvGrpSpPr>
        <p:cNvPr id="1" name="Shape 55"/>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Subtitle">
    <p:spTree>
      <p:nvGrpSpPr>
        <p:cNvPr id="1" name="Shape 11"/>
        <p:cNvGrpSpPr/>
        <p:nvPr/>
      </p:nvGrpSpPr>
      <p:grpSpPr>
        <a:xfrm>
          <a:off x="0" y="0"/>
          <a:ext cx="0" cy="0"/>
          <a:chOff x="0" y="0"/>
          <a:chExt cx="0" cy="0"/>
        </a:xfrm>
      </p:grpSpPr>
      <p:sp>
        <p:nvSpPr>
          <p:cNvPr id="12" name="Shape 12"/>
          <p:cNvSpPr txBox="1">
            <a:spLocks noGrp="1"/>
          </p:cNvSpPr>
          <p:nvPr>
            <p:ph type="subTitle" idx="1"/>
          </p:nvPr>
        </p:nvSpPr>
        <p:spPr>
          <a:xfrm>
            <a:off x="2022300" y="2815923"/>
            <a:ext cx="5591400" cy="784799"/>
          </a:xfrm>
          <a:prstGeom prst="rect">
            <a:avLst/>
          </a:prstGeom>
        </p:spPr>
        <p:txBody>
          <a:bodyPr lIns="91425" tIns="91425" rIns="91425" bIns="91425" anchor="t" anchorCtr="0"/>
          <a:lstStyle>
            <a:lvl1pPr rtl="0">
              <a:spcBef>
                <a:spcPts val="0"/>
              </a:spcBef>
              <a:buClr>
                <a:srgbClr val="000000"/>
              </a:buClr>
              <a:buSzPct val="100000"/>
              <a:buNone/>
              <a:defRPr sz="1400">
                <a:highlight>
                  <a:srgbClr val="FFCD00"/>
                </a:highlight>
              </a:defRPr>
            </a:lvl1pPr>
            <a:lvl2pPr rtl="0">
              <a:spcBef>
                <a:spcPts val="0"/>
              </a:spcBef>
              <a:buClr>
                <a:schemeClr val="dk2"/>
              </a:buClr>
              <a:buSzPct val="100000"/>
              <a:buNone/>
              <a:defRPr sz="1400">
                <a:solidFill>
                  <a:schemeClr val="dk2"/>
                </a:solidFill>
                <a:highlight>
                  <a:srgbClr val="FFCD00"/>
                </a:highlight>
              </a:defRPr>
            </a:lvl2pPr>
            <a:lvl3pPr rtl="0">
              <a:spcBef>
                <a:spcPts val="0"/>
              </a:spcBef>
              <a:buClr>
                <a:schemeClr val="dk2"/>
              </a:buClr>
              <a:buSzPct val="100000"/>
              <a:buNone/>
              <a:defRPr sz="1400">
                <a:solidFill>
                  <a:schemeClr val="dk2"/>
                </a:solidFill>
                <a:highlight>
                  <a:srgbClr val="FFCD00"/>
                </a:highlight>
              </a:defRPr>
            </a:lvl3pPr>
            <a:lvl4pPr rtl="0">
              <a:spcBef>
                <a:spcPts val="0"/>
              </a:spcBef>
              <a:buClr>
                <a:schemeClr val="dk2"/>
              </a:buClr>
              <a:buSzPct val="100000"/>
              <a:buNone/>
              <a:defRPr sz="1400">
                <a:solidFill>
                  <a:schemeClr val="dk2"/>
                </a:solidFill>
                <a:highlight>
                  <a:srgbClr val="FFCD00"/>
                </a:highlight>
              </a:defRPr>
            </a:lvl4pPr>
            <a:lvl5pPr rtl="0">
              <a:spcBef>
                <a:spcPts val="0"/>
              </a:spcBef>
              <a:buClr>
                <a:schemeClr val="dk2"/>
              </a:buClr>
              <a:buSzPct val="100000"/>
              <a:buNone/>
              <a:defRPr sz="1400">
                <a:solidFill>
                  <a:schemeClr val="dk2"/>
                </a:solidFill>
                <a:highlight>
                  <a:srgbClr val="FFCD00"/>
                </a:highlight>
              </a:defRPr>
            </a:lvl5pPr>
            <a:lvl6pPr rtl="0">
              <a:spcBef>
                <a:spcPts val="0"/>
              </a:spcBef>
              <a:buClr>
                <a:schemeClr val="dk2"/>
              </a:buClr>
              <a:buSzPct val="100000"/>
              <a:buNone/>
              <a:defRPr sz="1400">
                <a:solidFill>
                  <a:schemeClr val="dk2"/>
                </a:solidFill>
                <a:highlight>
                  <a:srgbClr val="FFCD00"/>
                </a:highlight>
              </a:defRPr>
            </a:lvl6pPr>
            <a:lvl7pPr rtl="0">
              <a:spcBef>
                <a:spcPts val="0"/>
              </a:spcBef>
              <a:buClr>
                <a:schemeClr val="dk2"/>
              </a:buClr>
              <a:buSzPct val="100000"/>
              <a:buNone/>
              <a:defRPr sz="1400">
                <a:solidFill>
                  <a:schemeClr val="dk2"/>
                </a:solidFill>
                <a:highlight>
                  <a:srgbClr val="FFCD00"/>
                </a:highlight>
              </a:defRPr>
            </a:lvl7pPr>
            <a:lvl8pPr rtl="0">
              <a:spcBef>
                <a:spcPts val="0"/>
              </a:spcBef>
              <a:buClr>
                <a:schemeClr val="dk2"/>
              </a:buClr>
              <a:buSzPct val="100000"/>
              <a:buNone/>
              <a:defRPr sz="1400">
                <a:solidFill>
                  <a:schemeClr val="dk2"/>
                </a:solidFill>
                <a:highlight>
                  <a:srgbClr val="FFCD00"/>
                </a:highlight>
              </a:defRPr>
            </a:lvl8pPr>
            <a:lvl9pPr rtl="0">
              <a:spcBef>
                <a:spcPts val="0"/>
              </a:spcBef>
              <a:buClr>
                <a:schemeClr val="dk2"/>
              </a:buClr>
              <a:buSzPct val="100000"/>
              <a:buNone/>
              <a:defRPr sz="1400">
                <a:solidFill>
                  <a:schemeClr val="dk2"/>
                </a:solidFill>
                <a:highlight>
                  <a:srgbClr val="FFCD00"/>
                </a:highlight>
              </a:defRPr>
            </a:lvl9pPr>
          </a:lstStyle>
          <a:p>
            <a:endParaRPr/>
          </a:p>
        </p:txBody>
      </p:sp>
      <p:cxnSp>
        <p:nvCxnSpPr>
          <p:cNvPr id="13" name="Shape 13"/>
          <p:cNvCxnSpPr/>
          <p:nvPr/>
        </p:nvCxnSpPr>
        <p:spPr>
          <a:xfrm>
            <a:off x="-6025" y="2571761"/>
            <a:ext cx="1984499" cy="0"/>
          </a:xfrm>
          <a:prstGeom prst="straightConnector1">
            <a:avLst/>
          </a:prstGeom>
          <a:noFill/>
          <a:ln w="9525" cap="flat" cmpd="sng">
            <a:solidFill>
              <a:srgbClr val="CCCCCC"/>
            </a:solidFill>
            <a:prstDash val="solid"/>
            <a:round/>
            <a:headEnd type="none" w="lg" len="lg"/>
            <a:tailEnd type="none" w="lg" len="lg"/>
          </a:ln>
        </p:spPr>
      </p:cxnSp>
      <p:sp>
        <p:nvSpPr>
          <p:cNvPr id="14" name="Shape 14"/>
          <p:cNvSpPr/>
          <p:nvPr/>
        </p:nvSpPr>
        <p:spPr>
          <a:xfrm>
            <a:off x="1117950" y="2288250"/>
            <a:ext cx="566999" cy="566999"/>
          </a:xfrm>
          <a:prstGeom prst="ellipse">
            <a:avLst/>
          </a:prstGeom>
          <a:solidFill>
            <a:srgbClr val="007DD6"/>
          </a:solidFill>
          <a:ln>
            <a:noFill/>
          </a:ln>
        </p:spPr>
        <p:txBody>
          <a:bodyPr lIns="91425" tIns="91425" rIns="91425" bIns="91425" anchor="ctr" anchorCtr="0">
            <a:noAutofit/>
          </a:bodyPr>
          <a:lstStyle/>
          <a:p>
            <a:pPr lvl="0" rtl="0">
              <a:spcBef>
                <a:spcPts val="0"/>
              </a:spcBef>
              <a:buNone/>
            </a:pPr>
            <a:endParaRPr/>
          </a:p>
        </p:txBody>
      </p:sp>
      <p:sp>
        <p:nvSpPr>
          <p:cNvPr id="15" name="Shape 15"/>
          <p:cNvSpPr txBox="1">
            <a:spLocks noGrp="1"/>
          </p:cNvSpPr>
          <p:nvPr>
            <p:ph type="ctrTitle"/>
          </p:nvPr>
        </p:nvSpPr>
        <p:spPr>
          <a:xfrm>
            <a:off x="2022225" y="1693523"/>
            <a:ext cx="3787799" cy="1159799"/>
          </a:xfrm>
          <a:prstGeom prst="rect">
            <a:avLst/>
          </a:prstGeom>
        </p:spPr>
        <p:txBody>
          <a:bodyPr lIns="91425" tIns="91425" rIns="91425" bIns="91425" anchor="b" anchorCtr="0"/>
          <a:lstStyle>
            <a:lvl1pPr rtl="0">
              <a:spcBef>
                <a:spcPts val="0"/>
              </a:spcBef>
              <a:buSzPct val="100000"/>
              <a:defRPr sz="3000"/>
            </a:lvl1pPr>
            <a:lvl2pPr rtl="0">
              <a:spcBef>
                <a:spcPts val="0"/>
              </a:spcBef>
              <a:buSzPct val="100000"/>
              <a:defRPr sz="3000"/>
            </a:lvl2pPr>
            <a:lvl3pPr rtl="0">
              <a:spcBef>
                <a:spcPts val="0"/>
              </a:spcBef>
              <a:buSzPct val="100000"/>
              <a:defRPr sz="3000"/>
            </a:lvl3pPr>
            <a:lvl4pPr rtl="0">
              <a:spcBef>
                <a:spcPts val="0"/>
              </a:spcBef>
              <a:buSzPct val="100000"/>
              <a:defRPr sz="3000"/>
            </a:lvl4pPr>
            <a:lvl5pPr rtl="0">
              <a:spcBef>
                <a:spcPts val="0"/>
              </a:spcBef>
              <a:buSzPct val="100000"/>
              <a:defRPr sz="3000"/>
            </a:lvl5pPr>
            <a:lvl6pPr rtl="0">
              <a:spcBef>
                <a:spcPts val="0"/>
              </a:spcBef>
              <a:buSzPct val="100000"/>
              <a:defRPr sz="3000"/>
            </a:lvl6pPr>
            <a:lvl7pPr rtl="0">
              <a:spcBef>
                <a:spcPts val="0"/>
              </a:spcBef>
              <a:buSzPct val="100000"/>
              <a:defRPr sz="3000"/>
            </a:lvl7pPr>
            <a:lvl8pPr rtl="0">
              <a:spcBef>
                <a:spcPts val="0"/>
              </a:spcBef>
              <a:buSzPct val="100000"/>
              <a:defRPr sz="3000"/>
            </a:lvl8pPr>
            <a:lvl9pPr rtl="0">
              <a:spcBef>
                <a:spcPts val="0"/>
              </a:spcBef>
              <a:buSzPct val="100000"/>
              <a:defRPr sz="3000"/>
            </a:lvl9pPr>
          </a:lstStyle>
          <a:p>
            <a:endParaRPr/>
          </a:p>
        </p:txBody>
      </p:sp>
      <p:cxnSp>
        <p:nvCxnSpPr>
          <p:cNvPr id="16" name="Shape 16"/>
          <p:cNvCxnSpPr/>
          <p:nvPr/>
        </p:nvCxnSpPr>
        <p:spPr>
          <a:xfrm>
            <a:off x="5898975" y="2571750"/>
            <a:ext cx="3251099" cy="0"/>
          </a:xfrm>
          <a:prstGeom prst="straightConnector1">
            <a:avLst/>
          </a:prstGeom>
          <a:noFill/>
          <a:ln w="9525" cap="flat" cmpd="sng">
            <a:solidFill>
              <a:srgbClr val="CCCCCC"/>
            </a:solidFill>
            <a:prstDash val="solid"/>
            <a:round/>
            <a:headEnd type="none" w="lg" len="lg"/>
            <a:tailEnd type="none" w="lg" len="lg"/>
          </a:ln>
        </p:spPr>
      </p:cxnSp>
    </p:spTree>
    <p:extLst>
      <p:ext uri="{BB962C8B-B14F-4D97-AF65-F5344CB8AC3E}">
        <p14:creationId xmlns:p14="http://schemas.microsoft.com/office/powerpoint/2010/main" val="19214122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cSld name="Title">
    <p:spTree>
      <p:nvGrpSpPr>
        <p:cNvPr id="1" name="Shape 7"/>
        <p:cNvGrpSpPr/>
        <p:nvPr/>
      </p:nvGrpSpPr>
      <p:grpSpPr>
        <a:xfrm>
          <a:off x="0" y="0"/>
          <a:ext cx="0" cy="0"/>
          <a:chOff x="0" y="0"/>
          <a:chExt cx="0" cy="0"/>
        </a:xfrm>
      </p:grpSpPr>
      <p:sp>
        <p:nvSpPr>
          <p:cNvPr id="8" name="Shape 8"/>
          <p:cNvSpPr txBox="1">
            <a:spLocks noGrp="1"/>
          </p:cNvSpPr>
          <p:nvPr>
            <p:ph type="ctrTitle"/>
          </p:nvPr>
        </p:nvSpPr>
        <p:spPr>
          <a:xfrm>
            <a:off x="996630" y="2003888"/>
            <a:ext cx="4523699" cy="1159799"/>
          </a:xfrm>
          <a:prstGeom prst="rect">
            <a:avLst/>
          </a:prstGeom>
        </p:spPr>
        <p:txBody>
          <a:bodyPr lIns="91425" tIns="91425" rIns="91425" bIns="91425" anchor="b" anchorCtr="0"/>
          <a:lstStyle>
            <a:lvl1pPr>
              <a:spcBef>
                <a:spcPts val="0"/>
              </a:spcBef>
              <a:buSzPct val="100000"/>
              <a:defRPr sz="3600"/>
            </a:lvl1pPr>
            <a:lvl2pPr>
              <a:spcBef>
                <a:spcPts val="0"/>
              </a:spcBef>
              <a:buSzPct val="100000"/>
              <a:defRPr sz="3600"/>
            </a:lvl2pPr>
            <a:lvl3pPr>
              <a:spcBef>
                <a:spcPts val="0"/>
              </a:spcBef>
              <a:buSzPct val="100000"/>
              <a:defRPr sz="3600"/>
            </a:lvl3pPr>
            <a:lvl4pPr>
              <a:spcBef>
                <a:spcPts val="0"/>
              </a:spcBef>
              <a:buSzPct val="100000"/>
              <a:defRPr sz="3600"/>
            </a:lvl4pPr>
            <a:lvl5pPr>
              <a:spcBef>
                <a:spcPts val="0"/>
              </a:spcBef>
              <a:buSzPct val="100000"/>
              <a:defRPr sz="3600"/>
            </a:lvl5pPr>
            <a:lvl6pPr>
              <a:spcBef>
                <a:spcPts val="0"/>
              </a:spcBef>
              <a:buSzPct val="100000"/>
              <a:defRPr sz="3600"/>
            </a:lvl6pPr>
            <a:lvl7pPr>
              <a:spcBef>
                <a:spcPts val="0"/>
              </a:spcBef>
              <a:buSzPct val="100000"/>
              <a:defRPr sz="3600"/>
            </a:lvl7pPr>
            <a:lvl8pPr>
              <a:spcBef>
                <a:spcPts val="0"/>
              </a:spcBef>
              <a:buSzPct val="100000"/>
              <a:defRPr sz="3600"/>
            </a:lvl8pPr>
            <a:lvl9pPr>
              <a:spcBef>
                <a:spcPts val="0"/>
              </a:spcBef>
              <a:buSzPct val="100000"/>
              <a:defRPr sz="3600"/>
            </a:lvl9pPr>
          </a:lstStyle>
          <a:p>
            <a:endParaRPr/>
          </a:p>
        </p:txBody>
      </p:sp>
      <p:cxnSp>
        <p:nvCxnSpPr>
          <p:cNvPr id="9" name="Shape 9"/>
          <p:cNvCxnSpPr/>
          <p:nvPr/>
        </p:nvCxnSpPr>
        <p:spPr>
          <a:xfrm>
            <a:off x="-6025" y="3676511"/>
            <a:ext cx="9161999" cy="0"/>
          </a:xfrm>
          <a:prstGeom prst="straightConnector1">
            <a:avLst/>
          </a:prstGeom>
          <a:noFill/>
          <a:ln w="9525" cap="flat" cmpd="sng">
            <a:solidFill>
              <a:srgbClr val="000000"/>
            </a:solidFill>
            <a:prstDash val="solid"/>
            <a:round/>
            <a:headEnd type="none" w="lg" len="lg"/>
            <a:tailEnd type="none" w="lg" len="lg"/>
          </a:ln>
        </p:spPr>
      </p:cxnSp>
      <p:sp>
        <p:nvSpPr>
          <p:cNvPr id="10" name="Shape 10"/>
          <p:cNvSpPr/>
          <p:nvPr/>
        </p:nvSpPr>
        <p:spPr>
          <a:xfrm>
            <a:off x="1117950" y="3393000"/>
            <a:ext cx="566999" cy="566999"/>
          </a:xfrm>
          <a:prstGeom prst="ellipse">
            <a:avLst/>
          </a:prstGeom>
          <a:solidFill>
            <a:srgbClr val="007DD6"/>
          </a:solidFill>
          <a:ln>
            <a:noFill/>
          </a:ln>
        </p:spPr>
        <p:txBody>
          <a:bodyPr lIns="91425" tIns="91425" rIns="91425" bIns="91425" anchor="ctr" anchorCtr="0">
            <a:noAutofit/>
          </a:bodyPr>
          <a:lstStyle/>
          <a:p>
            <a:pPr>
              <a:spcBef>
                <a:spcPts val="0"/>
              </a:spcBef>
              <a:buNone/>
            </a:pPr>
            <a:endParaRPr/>
          </a:p>
        </p:txBody>
      </p:sp>
    </p:spTree>
    <p:extLst>
      <p:ext uri="{BB962C8B-B14F-4D97-AF65-F5344CB8AC3E}">
        <p14:creationId xmlns:p14="http://schemas.microsoft.com/office/powerpoint/2010/main" val="19301958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hueOff val="0"/>
            <a:satOff val="0"/>
            <a:lumOff val="0"/>
          </a:schemeClr>
        </a:solidFill>
        <a:effectLst/>
      </p:bgPr>
    </p:bg>
    <p:spTree>
      <p:nvGrpSpPr>
        <p:cNvPr id="1" name="Shape 4"/>
        <p:cNvGrpSpPr/>
        <p:nvPr/>
      </p:nvGrpSpPr>
      <p:grpSpPr>
        <a:xfrm>
          <a:off x="0" y="0"/>
          <a:ext cx="0" cy="0"/>
          <a:chOff x="0" y="0"/>
          <a:chExt cx="0" cy="0"/>
        </a:xfrm>
      </p:grpSpPr>
      <p:sp>
        <p:nvSpPr>
          <p:cNvPr id="5" name="Shape 5"/>
          <p:cNvSpPr txBox="1">
            <a:spLocks noGrp="1"/>
          </p:cNvSpPr>
          <p:nvPr>
            <p:ph type="body" idx="1"/>
          </p:nvPr>
        </p:nvSpPr>
        <p:spPr>
          <a:xfrm>
            <a:off x="1381250" y="1616470"/>
            <a:ext cx="6809700" cy="3112200"/>
          </a:xfrm>
          <a:prstGeom prst="rect">
            <a:avLst/>
          </a:prstGeom>
          <a:noFill/>
          <a:ln>
            <a:noFill/>
          </a:ln>
        </p:spPr>
        <p:txBody>
          <a:bodyPr lIns="91425" tIns="91425" rIns="91425" bIns="91425" anchor="t" anchorCtr="0"/>
          <a:lstStyle>
            <a:lvl1pPr>
              <a:spcBef>
                <a:spcPts val="600"/>
              </a:spcBef>
              <a:buClr>
                <a:srgbClr val="FFCD00"/>
              </a:buClr>
              <a:buSzPct val="100000"/>
              <a:buFont typeface="Quattrocento Sans"/>
              <a:buChar char="◉"/>
              <a:defRPr sz="2400">
                <a:latin typeface="Quattrocento Sans"/>
                <a:ea typeface="Quattrocento Sans"/>
                <a:cs typeface="Quattrocento Sans"/>
                <a:sym typeface="Quattrocento Sans"/>
              </a:defRPr>
            </a:lvl1pPr>
            <a:lvl2pPr>
              <a:spcBef>
                <a:spcPts val="480"/>
              </a:spcBef>
              <a:buClr>
                <a:srgbClr val="FFCD00"/>
              </a:buClr>
              <a:buSzPct val="100000"/>
              <a:buFont typeface="Quattrocento Sans"/>
              <a:defRPr sz="2000">
                <a:latin typeface="Quattrocento Sans"/>
                <a:ea typeface="Quattrocento Sans"/>
                <a:cs typeface="Quattrocento Sans"/>
                <a:sym typeface="Quattrocento Sans"/>
              </a:defRPr>
            </a:lvl2pPr>
            <a:lvl3pPr>
              <a:spcBef>
                <a:spcPts val="480"/>
              </a:spcBef>
              <a:buClr>
                <a:srgbClr val="FFCD00"/>
              </a:buClr>
              <a:buSzPct val="100000"/>
              <a:buFont typeface="Quattrocento Sans"/>
              <a:defRPr sz="2000">
                <a:latin typeface="Quattrocento Sans"/>
                <a:ea typeface="Quattrocento Sans"/>
                <a:cs typeface="Quattrocento Sans"/>
                <a:sym typeface="Quattrocento Sans"/>
              </a:defRPr>
            </a:lvl3pPr>
            <a:lvl4pPr>
              <a:spcBef>
                <a:spcPts val="360"/>
              </a:spcBef>
              <a:buClr>
                <a:srgbClr val="FFCD00"/>
              </a:buClr>
              <a:buSzPct val="100000"/>
              <a:buFont typeface="Quattrocento Sans"/>
              <a:defRPr sz="1800">
                <a:latin typeface="Quattrocento Sans"/>
                <a:ea typeface="Quattrocento Sans"/>
                <a:cs typeface="Quattrocento Sans"/>
                <a:sym typeface="Quattrocento Sans"/>
              </a:defRPr>
            </a:lvl4pPr>
            <a:lvl5pPr>
              <a:spcBef>
                <a:spcPts val="360"/>
              </a:spcBef>
              <a:buClr>
                <a:srgbClr val="FFCD00"/>
              </a:buClr>
              <a:buSzPct val="100000"/>
              <a:buFont typeface="Quattrocento Sans"/>
              <a:defRPr sz="1800">
                <a:latin typeface="Quattrocento Sans"/>
                <a:ea typeface="Quattrocento Sans"/>
                <a:cs typeface="Quattrocento Sans"/>
                <a:sym typeface="Quattrocento Sans"/>
              </a:defRPr>
            </a:lvl5pPr>
            <a:lvl6pPr>
              <a:spcBef>
                <a:spcPts val="360"/>
              </a:spcBef>
              <a:buClr>
                <a:srgbClr val="FFCD00"/>
              </a:buClr>
              <a:buSzPct val="100000"/>
              <a:buFont typeface="Quattrocento Sans"/>
              <a:defRPr sz="1800">
                <a:latin typeface="Quattrocento Sans"/>
                <a:ea typeface="Quattrocento Sans"/>
                <a:cs typeface="Quattrocento Sans"/>
                <a:sym typeface="Quattrocento Sans"/>
              </a:defRPr>
            </a:lvl6pPr>
            <a:lvl7pPr>
              <a:spcBef>
                <a:spcPts val="360"/>
              </a:spcBef>
              <a:buClr>
                <a:srgbClr val="FFCD00"/>
              </a:buClr>
              <a:buSzPct val="100000"/>
              <a:buFont typeface="Quattrocento Sans"/>
              <a:defRPr sz="1800">
                <a:latin typeface="Quattrocento Sans"/>
                <a:ea typeface="Quattrocento Sans"/>
                <a:cs typeface="Quattrocento Sans"/>
                <a:sym typeface="Quattrocento Sans"/>
              </a:defRPr>
            </a:lvl7pPr>
            <a:lvl8pPr>
              <a:spcBef>
                <a:spcPts val="360"/>
              </a:spcBef>
              <a:buClr>
                <a:srgbClr val="FFCD00"/>
              </a:buClr>
              <a:buSzPct val="100000"/>
              <a:buFont typeface="Quattrocento Sans"/>
              <a:defRPr sz="1800">
                <a:latin typeface="Quattrocento Sans"/>
                <a:ea typeface="Quattrocento Sans"/>
                <a:cs typeface="Quattrocento Sans"/>
                <a:sym typeface="Quattrocento Sans"/>
              </a:defRPr>
            </a:lvl8pPr>
            <a:lvl9pPr>
              <a:spcBef>
                <a:spcPts val="360"/>
              </a:spcBef>
              <a:buClr>
                <a:srgbClr val="FFCD00"/>
              </a:buClr>
              <a:buSzPct val="100000"/>
              <a:buFont typeface="Quattrocento Sans"/>
              <a:defRPr sz="1800">
                <a:latin typeface="Quattrocento Sans"/>
                <a:ea typeface="Quattrocento Sans"/>
                <a:cs typeface="Quattrocento Sans"/>
                <a:sym typeface="Quattrocento Sans"/>
              </a:defRPr>
            </a:lvl9pPr>
          </a:lstStyle>
          <a:p>
            <a:endParaRPr/>
          </a:p>
        </p:txBody>
      </p:sp>
      <p:sp>
        <p:nvSpPr>
          <p:cNvPr id="6" name="Shape 6"/>
          <p:cNvSpPr txBox="1">
            <a:spLocks noGrp="1"/>
          </p:cNvSpPr>
          <p:nvPr>
            <p:ph type="title"/>
          </p:nvPr>
        </p:nvSpPr>
        <p:spPr>
          <a:xfrm>
            <a:off x="1381250" y="937116"/>
            <a:ext cx="6809700" cy="435599"/>
          </a:xfrm>
          <a:prstGeom prst="rect">
            <a:avLst/>
          </a:prstGeom>
          <a:noFill/>
          <a:ln>
            <a:noFill/>
          </a:ln>
        </p:spPr>
        <p:txBody>
          <a:bodyPr lIns="91425" tIns="91425" rIns="91425" bIns="91425" anchor="ctr" anchorCtr="0"/>
          <a:lstStyle>
            <a:lvl1pPr>
              <a:spcBef>
                <a:spcPts val="0"/>
              </a:spcBef>
              <a:buSzPct val="100000"/>
              <a:buFont typeface="Lora"/>
              <a:buNone/>
              <a:defRPr sz="2000" b="1">
                <a:latin typeface="Lora"/>
                <a:ea typeface="Lora"/>
                <a:cs typeface="Lora"/>
                <a:sym typeface="Lora"/>
              </a:defRPr>
            </a:lvl1pPr>
            <a:lvl2pPr>
              <a:spcBef>
                <a:spcPts val="0"/>
              </a:spcBef>
              <a:buSzPct val="100000"/>
              <a:buFont typeface="Lora"/>
              <a:buNone/>
              <a:defRPr sz="2000" b="1">
                <a:latin typeface="Lora"/>
                <a:ea typeface="Lora"/>
                <a:cs typeface="Lora"/>
                <a:sym typeface="Lora"/>
              </a:defRPr>
            </a:lvl2pPr>
            <a:lvl3pPr>
              <a:spcBef>
                <a:spcPts val="0"/>
              </a:spcBef>
              <a:buSzPct val="100000"/>
              <a:buFont typeface="Lora"/>
              <a:buNone/>
              <a:defRPr sz="2000" b="1">
                <a:latin typeface="Lora"/>
                <a:ea typeface="Lora"/>
                <a:cs typeface="Lora"/>
                <a:sym typeface="Lora"/>
              </a:defRPr>
            </a:lvl3pPr>
            <a:lvl4pPr>
              <a:spcBef>
                <a:spcPts val="0"/>
              </a:spcBef>
              <a:buSzPct val="100000"/>
              <a:buFont typeface="Lora"/>
              <a:buNone/>
              <a:defRPr sz="2000" b="1">
                <a:latin typeface="Lora"/>
                <a:ea typeface="Lora"/>
                <a:cs typeface="Lora"/>
                <a:sym typeface="Lora"/>
              </a:defRPr>
            </a:lvl4pPr>
            <a:lvl5pPr>
              <a:spcBef>
                <a:spcPts val="0"/>
              </a:spcBef>
              <a:buSzPct val="100000"/>
              <a:buFont typeface="Lora"/>
              <a:buNone/>
              <a:defRPr sz="2000" b="1">
                <a:latin typeface="Lora"/>
                <a:ea typeface="Lora"/>
                <a:cs typeface="Lora"/>
                <a:sym typeface="Lora"/>
              </a:defRPr>
            </a:lvl5pPr>
            <a:lvl6pPr>
              <a:spcBef>
                <a:spcPts val="0"/>
              </a:spcBef>
              <a:buSzPct val="100000"/>
              <a:buFont typeface="Lora"/>
              <a:buNone/>
              <a:defRPr sz="2000" b="1">
                <a:latin typeface="Lora"/>
                <a:ea typeface="Lora"/>
                <a:cs typeface="Lora"/>
                <a:sym typeface="Lora"/>
              </a:defRPr>
            </a:lvl6pPr>
            <a:lvl7pPr>
              <a:spcBef>
                <a:spcPts val="0"/>
              </a:spcBef>
              <a:buSzPct val="100000"/>
              <a:buFont typeface="Lora"/>
              <a:buNone/>
              <a:defRPr sz="2000" b="1">
                <a:latin typeface="Lora"/>
                <a:ea typeface="Lora"/>
                <a:cs typeface="Lora"/>
                <a:sym typeface="Lora"/>
              </a:defRPr>
            </a:lvl7pPr>
            <a:lvl8pPr>
              <a:spcBef>
                <a:spcPts val="0"/>
              </a:spcBef>
              <a:buSzPct val="100000"/>
              <a:buFont typeface="Lora"/>
              <a:buNone/>
              <a:defRPr sz="2000" b="1">
                <a:latin typeface="Lora"/>
                <a:ea typeface="Lora"/>
                <a:cs typeface="Lora"/>
                <a:sym typeface="Lora"/>
              </a:defRPr>
            </a:lvl8pPr>
            <a:lvl9pPr>
              <a:spcBef>
                <a:spcPts val="0"/>
              </a:spcBef>
              <a:buSzPct val="100000"/>
              <a:buFont typeface="Lora"/>
              <a:buNone/>
              <a:defRPr sz="2000" b="1">
                <a:latin typeface="Lora"/>
                <a:ea typeface="Lora"/>
                <a:cs typeface="Lora"/>
                <a:sym typeface="Lora"/>
              </a:defRPr>
            </a:lvl9pPr>
          </a:lstStyle>
          <a:p>
            <a:endParaRPr/>
          </a:p>
        </p:txBody>
      </p:sp>
    </p:spTree>
  </p:cSld>
  <p:clrMap bg1="lt1" tx1="dk1" bg2="dk2" tx2="lt2" accent1="accent1" accent2="accent2" accent3="accent3" accent4="accent4" accent5="accent5" accent6="accent6" hlink="hlink" folHlink="folHlink"/>
  <p:sldLayoutIdLst>
    <p:sldLayoutId id="2147483651" r:id="rId1"/>
    <p:sldLayoutId id="2147483657" r:id="rId2"/>
    <p:sldLayoutId id="2147483659" r:id="rId3"/>
    <p:sldLayoutId id="2147483661" r:id="rId4"/>
  </p:sldLayoutIdLst>
  <p:hf hdr="0" ftr="0" dt="0"/>
  <p:txStyles>
    <p:titleStyle>
      <a:defPPr marR="0" algn="l" rtl="0">
        <a:lnSpc>
          <a:spcPct val="100000"/>
        </a:lnSpc>
        <a:spcBef>
          <a:spcPts val="0"/>
        </a:spcBef>
        <a:spcAft>
          <a:spcPts val="0"/>
        </a:spcAft>
      </a:defPPr>
      <a:lvl1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1pPr>
    </p:titleStyle>
    <p:bodyStyle>
      <a:defPPr marR="0" algn="l" rtl="0">
        <a:lnSpc>
          <a:spcPct val="100000"/>
        </a:lnSpc>
        <a:spcBef>
          <a:spcPts val="0"/>
        </a:spcBef>
        <a:spcAft>
          <a:spcPts val="0"/>
        </a:spcAft>
      </a:defPPr>
      <a:lvl1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1pPr>
      <a:lvl2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2pPr>
      <a:lvl3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3pPr>
      <a:lvl4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4pPr>
      <a:lvl5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5pPr>
      <a:lvl6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6pPr>
      <a:lvl7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7pPr>
      <a:lvl8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8pPr>
      <a:lvl9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9pPr>
    </p:bodyStyle>
    <p:otherStyle>
      <a:defPPr marR="0" algn="l" rtl="0">
        <a:lnSpc>
          <a:spcPct val="100000"/>
        </a:lnSpc>
        <a:spcBef>
          <a:spcPts val="0"/>
        </a:spcBef>
        <a:spcAft>
          <a:spcPts val="0"/>
        </a:spcAft>
      </a:defPPr>
      <a:lvl1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1pPr>
      <a:lvl2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2pPr>
      <a:lvl3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3pPr>
      <a:lvl4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4pPr>
      <a:lvl5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5pPr>
      <a:lvl6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6pPr>
      <a:lvl7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7pPr>
      <a:lvl8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8pPr>
      <a:lvl9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4.xml"/><Relationship Id="rId5" Type="http://schemas.microsoft.com/office/2007/relationships/hdphoto" Target="../media/hdphoto1.wdp"/><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2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6"/>
        <p:cNvGrpSpPr/>
        <p:nvPr/>
      </p:nvGrpSpPr>
      <p:grpSpPr>
        <a:xfrm>
          <a:off x="0" y="0"/>
          <a:ext cx="0" cy="0"/>
          <a:chOff x="0" y="0"/>
          <a:chExt cx="0" cy="0"/>
        </a:xfrm>
      </p:grpSpPr>
      <p:sp>
        <p:nvSpPr>
          <p:cNvPr id="57" name="Shape 57"/>
          <p:cNvSpPr txBox="1">
            <a:spLocks noGrp="1"/>
          </p:cNvSpPr>
          <p:nvPr>
            <p:ph type="ctrTitle"/>
          </p:nvPr>
        </p:nvSpPr>
        <p:spPr>
          <a:xfrm>
            <a:off x="1021386" y="1945098"/>
            <a:ext cx="7358701" cy="1015663"/>
          </a:xfrm>
          <a:prstGeom prst="rect">
            <a:avLst/>
          </a:prstGeom>
        </p:spPr>
        <p:txBody>
          <a:bodyPr lIns="91425" tIns="91425" rIns="91425" bIns="91425" anchor="b" anchorCtr="0">
            <a:noAutofit/>
          </a:bodyPr>
          <a:lstStyle/>
          <a:p>
            <a:pPr algn="ctr">
              <a:spcBef>
                <a:spcPts val="0"/>
              </a:spcBef>
              <a:buNone/>
            </a:pPr>
            <a:r>
              <a:rPr lang="fr-FR" sz="2600" dirty="0"/>
              <a:t>La résistance aux antibiotiques</a:t>
            </a:r>
            <a:endParaRPr lang="en" sz="2600" dirty="0"/>
          </a:p>
        </p:txBody>
      </p:sp>
      <p:sp>
        <p:nvSpPr>
          <p:cNvPr id="3" name="TextBox 2"/>
          <p:cNvSpPr txBox="1"/>
          <p:nvPr/>
        </p:nvSpPr>
        <p:spPr>
          <a:xfrm>
            <a:off x="1528234" y="165782"/>
            <a:ext cx="6345007" cy="830997"/>
          </a:xfrm>
          <a:prstGeom prst="rect">
            <a:avLst/>
          </a:prstGeom>
          <a:noFill/>
        </p:spPr>
        <p:txBody>
          <a:bodyPr wrap="none" rtlCol="0">
            <a:spAutoFit/>
          </a:bodyPr>
          <a:lstStyle/>
          <a:p>
            <a:pPr algn="ctr"/>
            <a:r>
              <a:rPr lang="fr-FR" sz="1200" dirty="0">
                <a:latin typeface="Lora" charset="0"/>
                <a:ea typeface="Lora" charset="0"/>
                <a:cs typeface="Lora" charset="0"/>
              </a:rPr>
              <a:t>RÉPUBLIQUE ALGÉRIENNE DÉMOCRATIQUE ET POPULAIRE</a:t>
            </a:r>
          </a:p>
          <a:p>
            <a:pPr algn="ctr"/>
            <a:r>
              <a:rPr lang="fr-FR" sz="1200" dirty="0">
                <a:latin typeface="Lora" charset="0"/>
                <a:ea typeface="Lora" charset="0"/>
                <a:cs typeface="Lora" charset="0"/>
              </a:rPr>
              <a:t>MINISTÈRE DE L’ENSEIGNEMENT SUPÉRIEUR ET DE LA RECHERCHE SCIENTIFIQUE</a:t>
            </a:r>
          </a:p>
          <a:p>
            <a:pPr algn="ctr"/>
            <a:r>
              <a:rPr lang="fr-FR" sz="1200" dirty="0">
                <a:latin typeface="Lora" charset="0"/>
                <a:ea typeface="Lora" charset="0"/>
                <a:cs typeface="Lora" charset="0"/>
              </a:rPr>
              <a:t>UNIVERSITÉ CONSTANTINE 3 – SALAH BOUBNIDER</a:t>
            </a:r>
          </a:p>
          <a:p>
            <a:pPr algn="ctr"/>
            <a:r>
              <a:rPr lang="fr-FR" sz="1200" dirty="0">
                <a:latin typeface="Lora" charset="0"/>
                <a:ea typeface="Lora" charset="0"/>
                <a:cs typeface="Lora" charset="0"/>
              </a:rPr>
              <a:t>DEPARTEMENT DE MEDECINE</a:t>
            </a:r>
          </a:p>
        </p:txBody>
      </p:sp>
      <p:sp>
        <p:nvSpPr>
          <p:cNvPr id="23" name="Shape 403"/>
          <p:cNvSpPr/>
          <p:nvPr/>
        </p:nvSpPr>
        <p:spPr>
          <a:xfrm>
            <a:off x="-6226" y="4707750"/>
            <a:ext cx="9150225" cy="435599"/>
          </a:xfrm>
          <a:prstGeom prst="rect">
            <a:avLst/>
          </a:prstGeom>
          <a:solidFill>
            <a:srgbClr val="007DD6"/>
          </a:solidFill>
          <a:ln>
            <a:noFill/>
          </a:ln>
        </p:spPr>
        <p:txBody>
          <a:bodyPr lIns="91425" tIns="91425" rIns="91425" bIns="91425" anchor="ctr" anchorCtr="0">
            <a:noAutofit/>
          </a:bodyPr>
          <a:lstStyle/>
          <a:p>
            <a:pPr>
              <a:spcBef>
                <a:spcPts val="0"/>
              </a:spcBef>
              <a:buNone/>
            </a:pPr>
            <a:endParaRPr dirty="0">
              <a:solidFill>
                <a:srgbClr val="FC6403"/>
              </a:solidFill>
            </a:endParaRPr>
          </a:p>
        </p:txBody>
      </p:sp>
      <p:sp>
        <p:nvSpPr>
          <p:cNvPr id="6" name="TextBox 5"/>
          <p:cNvSpPr txBox="1"/>
          <p:nvPr/>
        </p:nvSpPr>
        <p:spPr>
          <a:xfrm>
            <a:off x="3121620" y="4794744"/>
            <a:ext cx="2484976" cy="261610"/>
          </a:xfrm>
          <a:prstGeom prst="rect">
            <a:avLst/>
          </a:prstGeom>
          <a:noFill/>
        </p:spPr>
        <p:txBody>
          <a:bodyPr wrap="none" rtlCol="0">
            <a:spAutoFit/>
          </a:bodyPr>
          <a:lstStyle/>
          <a:p>
            <a:r>
              <a:rPr lang="fr-FR" sz="1100" dirty="0">
                <a:solidFill>
                  <a:schemeClr val="bg1"/>
                </a:solidFill>
                <a:latin typeface="Lora" charset="0"/>
                <a:ea typeface="Lora" charset="0"/>
                <a:cs typeface="Lora" charset="0"/>
              </a:rPr>
              <a:t>Date de présentation: 02/06/2025</a:t>
            </a:r>
          </a:p>
        </p:txBody>
      </p:sp>
      <p:pic>
        <p:nvPicPr>
          <p:cNvPr id="7" name="Image 6"/>
          <p:cNvPicPr>
            <a:picLocks noChangeAspect="1"/>
          </p:cNvPicPr>
          <p:nvPr/>
        </p:nvPicPr>
        <p:blipFill rotWithShape="1">
          <a:blip r:embed="rId3">
            <a:extLst>
              <a:ext uri="{28A0092B-C50C-407E-A947-70E740481C1C}">
                <a14:useLocalDpi xmlns:a14="http://schemas.microsoft.com/office/drawing/2010/main" val="0"/>
              </a:ext>
            </a:extLst>
          </a:blip>
          <a:srcRect l="8638" t="9652" r="14270" b="11069"/>
          <a:stretch/>
        </p:blipFill>
        <p:spPr>
          <a:xfrm>
            <a:off x="163232" y="255836"/>
            <a:ext cx="1255776" cy="1262951"/>
          </a:xfrm>
          <a:prstGeom prst="rect">
            <a:avLst/>
          </a:prstGeom>
        </p:spPr>
      </p:pic>
      <p:pic>
        <p:nvPicPr>
          <p:cNvPr id="10" name="Picture 7">
            <a:extLst>
              <a:ext uri="{FF2B5EF4-FFF2-40B4-BE49-F238E27FC236}">
                <a16:creationId xmlns:a16="http://schemas.microsoft.com/office/drawing/2014/main" id="{27235AF3-994F-4FED-A1F6-93E47D7520ED}"/>
              </a:ext>
            </a:extLst>
          </p:cNvPr>
          <p:cNvPicPr>
            <a:picLocks noChangeAspect="1"/>
          </p:cNvPicPr>
          <p:nvPr/>
        </p:nvPicPr>
        <p:blipFill rotWithShape="1">
          <a:blip r:embed="rId4">
            <a:extLst>
              <a:ext uri="{BEBA8EAE-BF5A-486C-A8C5-ECC9F3942E4B}">
                <a14:imgProps xmlns:a14="http://schemas.microsoft.com/office/drawing/2010/main">
                  <a14:imgLayer r:embed="rId5">
                    <a14:imgEffect>
                      <a14:backgroundRemoval t="10000" b="90000" l="10000" r="90000"/>
                    </a14:imgEffect>
                  </a14:imgLayer>
                </a14:imgProps>
              </a:ext>
              <a:ext uri="{28A0092B-C50C-407E-A947-70E740481C1C}">
                <a14:useLocalDpi xmlns:a14="http://schemas.microsoft.com/office/drawing/2010/main" val="0"/>
              </a:ext>
            </a:extLst>
          </a:blip>
          <a:srcRect l="6440" t="13579" r="8726" b="29533"/>
          <a:stretch/>
        </p:blipFill>
        <p:spPr>
          <a:xfrm>
            <a:off x="7498838" y="330635"/>
            <a:ext cx="1538084" cy="1031421"/>
          </a:xfrm>
          <a:prstGeom prst="rect">
            <a:avLst/>
          </a:prstGeom>
        </p:spPr>
      </p:pic>
      <p:sp>
        <p:nvSpPr>
          <p:cNvPr id="2" name="ZoneTexte 1">
            <a:extLst>
              <a:ext uri="{FF2B5EF4-FFF2-40B4-BE49-F238E27FC236}">
                <a16:creationId xmlns:a16="http://schemas.microsoft.com/office/drawing/2014/main" id="{4A860163-B24D-B0B5-2035-59DBA8A0D753}"/>
              </a:ext>
            </a:extLst>
          </p:cNvPr>
          <p:cNvSpPr txBox="1"/>
          <p:nvPr/>
        </p:nvSpPr>
        <p:spPr>
          <a:xfrm>
            <a:off x="1978476" y="4041833"/>
            <a:ext cx="6043019" cy="307777"/>
          </a:xfrm>
          <a:prstGeom prst="rect">
            <a:avLst/>
          </a:prstGeom>
          <a:noFill/>
        </p:spPr>
        <p:txBody>
          <a:bodyPr wrap="square" rtlCol="0">
            <a:spAutoFit/>
          </a:bodyPr>
          <a:lstStyle/>
          <a:p>
            <a:r>
              <a:rPr lang="fr-FR" b="1" dirty="0">
                <a:latin typeface="Lora" pitchFamily="2" charset="0"/>
              </a:rPr>
              <a:t>Dr </a:t>
            </a:r>
            <a:r>
              <a:rPr lang="fr-FR" b="1" dirty="0" err="1">
                <a:latin typeface="Lora" pitchFamily="2" charset="0"/>
              </a:rPr>
              <a:t>Kaoueche</a:t>
            </a:r>
            <a:r>
              <a:rPr lang="fr-FR" b="1" dirty="0">
                <a:latin typeface="Lora" pitchFamily="2" charset="0"/>
              </a:rPr>
              <a:t> Omar – Maitre assistant en microbiologie médicale</a:t>
            </a:r>
          </a:p>
        </p:txBody>
      </p:sp>
    </p:spTree>
    <p:extLst>
      <p:ext uri="{BB962C8B-B14F-4D97-AF65-F5344CB8AC3E}">
        <p14:creationId xmlns:p14="http://schemas.microsoft.com/office/powerpoint/2010/main" val="3274103289"/>
      </p:ext>
    </p:extLst>
  </p:cSld>
  <p:clrMapOvr>
    <a:masterClrMapping/>
  </p:clrMapOvr>
  <p:transition spd="slow">
    <p:cut/>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dirty="0"/>
              <a:t>Objectifs pédagogiques</a:t>
            </a:r>
          </a:p>
        </p:txBody>
      </p:sp>
      <p:sp>
        <p:nvSpPr>
          <p:cNvPr id="3" name="Text Placeholder 2"/>
          <p:cNvSpPr>
            <a:spLocks noGrp="1"/>
          </p:cNvSpPr>
          <p:nvPr>
            <p:ph type="body" idx="1"/>
          </p:nvPr>
        </p:nvSpPr>
        <p:spPr>
          <a:xfrm>
            <a:off x="1247138" y="1555509"/>
            <a:ext cx="6809700" cy="2984685"/>
          </a:xfrm>
        </p:spPr>
        <p:txBody>
          <a:bodyPr/>
          <a:lstStyle/>
          <a:p>
            <a:pPr>
              <a:buClr>
                <a:srgbClr val="007DD6"/>
              </a:buClr>
              <a:buNone/>
            </a:pPr>
            <a:r>
              <a:rPr lang="fr-FR" b="1" dirty="0">
                <a:latin typeface="Lora" pitchFamily="2" charset="0"/>
              </a:rPr>
              <a:t>Ce cours vous permettra de :</a:t>
            </a:r>
            <a:endParaRPr lang="fr-FR" dirty="0">
              <a:latin typeface="Lora" pitchFamily="2" charset="0"/>
              <a:ea typeface="Lora" charset="0"/>
              <a:cs typeface="Lora" charset="0"/>
            </a:endParaRPr>
          </a:p>
          <a:p>
            <a:pPr marL="457200" indent="-457200">
              <a:buClr>
                <a:srgbClr val="007DD6"/>
              </a:buClr>
              <a:buFont typeface="Arial" panose="020B0604020202020204" pitchFamily="34" charset="0"/>
              <a:buChar char="•"/>
            </a:pPr>
            <a:r>
              <a:rPr lang="fr-FR" sz="2000" dirty="0">
                <a:latin typeface="Lora" pitchFamily="2" charset="0"/>
                <a:ea typeface="Lora" charset="0"/>
                <a:cs typeface="Lora" charset="0"/>
              </a:rPr>
              <a:t>Définir la résistance aux antibiotiques.</a:t>
            </a:r>
          </a:p>
          <a:p>
            <a:pPr marL="457200" indent="-457200">
              <a:buClr>
                <a:srgbClr val="007DD6"/>
              </a:buClr>
              <a:buFont typeface="Arial" panose="020B0604020202020204" pitchFamily="34" charset="0"/>
              <a:buChar char="•"/>
            </a:pPr>
            <a:r>
              <a:rPr lang="fr-FR" sz="2000" dirty="0">
                <a:latin typeface="Lora" pitchFamily="2" charset="0"/>
                <a:ea typeface="Lora" charset="0"/>
                <a:cs typeface="Lora" charset="0"/>
              </a:rPr>
              <a:t>Connaitre les différents types de résistances.</a:t>
            </a:r>
          </a:p>
          <a:p>
            <a:pPr marL="457200" indent="-457200">
              <a:buClr>
                <a:srgbClr val="007DD6"/>
              </a:buClr>
              <a:buFont typeface="Arial" panose="020B0604020202020204" pitchFamily="34" charset="0"/>
              <a:buChar char="•"/>
            </a:pPr>
            <a:r>
              <a:rPr lang="fr-FR" sz="2000" dirty="0">
                <a:latin typeface="Lora" pitchFamily="2" charset="0"/>
                <a:ea typeface="Lora" charset="0"/>
                <a:cs typeface="Lora" charset="0"/>
              </a:rPr>
              <a:t>Comprendre les différents mécanismes de résistance.</a:t>
            </a:r>
          </a:p>
          <a:p>
            <a:pPr marL="457200" indent="-457200">
              <a:buClr>
                <a:srgbClr val="007DD6"/>
              </a:buClr>
              <a:buFont typeface="Arial" panose="020B0604020202020204" pitchFamily="34" charset="0"/>
              <a:buChar char="•"/>
            </a:pPr>
            <a:r>
              <a:rPr lang="fr-FR" sz="2000" dirty="0">
                <a:latin typeface="Lora" pitchFamily="2" charset="0"/>
                <a:ea typeface="Lora" charset="0"/>
                <a:cs typeface="Lora" charset="0"/>
              </a:rPr>
              <a:t>Connaitre les différents supports génétiques de résistance. </a:t>
            </a:r>
          </a:p>
        </p:txBody>
      </p:sp>
    </p:spTree>
    <p:extLst>
      <p:ext uri="{BB962C8B-B14F-4D97-AF65-F5344CB8AC3E}">
        <p14:creationId xmlns:p14="http://schemas.microsoft.com/office/powerpoint/2010/main" val="6853882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dirty="0"/>
              <a:t>Plan</a:t>
            </a:r>
          </a:p>
        </p:txBody>
      </p:sp>
      <p:sp>
        <p:nvSpPr>
          <p:cNvPr id="3" name="Text Placeholder 2"/>
          <p:cNvSpPr>
            <a:spLocks noGrp="1"/>
          </p:cNvSpPr>
          <p:nvPr>
            <p:ph type="body" idx="1"/>
          </p:nvPr>
        </p:nvSpPr>
        <p:spPr>
          <a:xfrm>
            <a:off x="1247138" y="1555510"/>
            <a:ext cx="6809700" cy="2665322"/>
          </a:xfrm>
        </p:spPr>
        <p:txBody>
          <a:bodyPr/>
          <a:lstStyle/>
          <a:p>
            <a:pPr marL="457200" indent="-457200">
              <a:buClr>
                <a:srgbClr val="007DD6"/>
              </a:buClr>
              <a:buFont typeface="+mj-lt"/>
              <a:buAutoNum type="arabicPeriod"/>
            </a:pPr>
            <a:r>
              <a:rPr lang="fr-FR" dirty="0">
                <a:latin typeface="Lora" charset="0"/>
                <a:ea typeface="Lora" charset="0"/>
                <a:cs typeface="Lora" charset="0"/>
              </a:rPr>
              <a:t>Introduction</a:t>
            </a:r>
          </a:p>
          <a:p>
            <a:pPr marL="457200" indent="-457200">
              <a:buClr>
                <a:srgbClr val="007DD6"/>
              </a:buClr>
              <a:buFont typeface="+mj-lt"/>
              <a:buAutoNum type="arabicPeriod"/>
            </a:pPr>
            <a:r>
              <a:rPr lang="fr-FR" dirty="0">
                <a:latin typeface="Lora" charset="0"/>
                <a:ea typeface="Lora" charset="0"/>
                <a:cs typeface="Lora" charset="0"/>
              </a:rPr>
              <a:t>Définitions</a:t>
            </a:r>
          </a:p>
          <a:p>
            <a:pPr marL="457200" indent="-457200">
              <a:buClr>
                <a:srgbClr val="007DD6"/>
              </a:buClr>
              <a:buFont typeface="+mj-lt"/>
              <a:buAutoNum type="arabicPeriod"/>
            </a:pPr>
            <a:r>
              <a:rPr lang="fr-FR" dirty="0">
                <a:latin typeface="Lora" charset="0"/>
                <a:ea typeface="Lora" charset="0"/>
                <a:cs typeface="Lora" charset="0"/>
              </a:rPr>
              <a:t>Les différents mécanismes de résistance</a:t>
            </a:r>
          </a:p>
          <a:p>
            <a:pPr marL="457200" indent="-457200">
              <a:buClr>
                <a:srgbClr val="007DD6"/>
              </a:buClr>
              <a:buFont typeface="+mj-lt"/>
              <a:buAutoNum type="arabicPeriod"/>
            </a:pPr>
            <a:r>
              <a:rPr lang="fr-FR" dirty="0">
                <a:latin typeface="Lora" charset="0"/>
                <a:ea typeface="Lora" charset="0"/>
                <a:cs typeface="Lora" charset="0"/>
              </a:rPr>
              <a:t>Support génétique de la résistance</a:t>
            </a:r>
          </a:p>
          <a:p>
            <a:pPr marL="457200" indent="-457200">
              <a:buClr>
                <a:srgbClr val="007DD6"/>
              </a:buClr>
              <a:buFont typeface="+mj-lt"/>
              <a:buAutoNum type="arabicPeriod"/>
            </a:pPr>
            <a:r>
              <a:rPr lang="fr-FR" dirty="0">
                <a:latin typeface="Lora" charset="0"/>
                <a:ea typeface="Lora" charset="0"/>
                <a:cs typeface="Lora" charset="0"/>
              </a:rPr>
              <a:t>Conclusion</a:t>
            </a:r>
          </a:p>
        </p:txBody>
      </p:sp>
    </p:spTree>
    <p:extLst>
      <p:ext uri="{BB962C8B-B14F-4D97-AF65-F5344CB8AC3E}">
        <p14:creationId xmlns:p14="http://schemas.microsoft.com/office/powerpoint/2010/main" val="25729034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fr-FR" dirty="0"/>
              <a:t>Introduction</a:t>
            </a:r>
          </a:p>
        </p:txBody>
      </p:sp>
      <p:sp>
        <p:nvSpPr>
          <p:cNvPr id="11" name="TextBox 10"/>
          <p:cNvSpPr txBox="1"/>
          <p:nvPr/>
        </p:nvSpPr>
        <p:spPr>
          <a:xfrm>
            <a:off x="1253447" y="2339092"/>
            <a:ext cx="309700" cy="461665"/>
          </a:xfrm>
          <a:prstGeom prst="rect">
            <a:avLst/>
          </a:prstGeom>
          <a:noFill/>
        </p:spPr>
        <p:txBody>
          <a:bodyPr wrap="none" rtlCol="0">
            <a:spAutoFit/>
          </a:bodyPr>
          <a:lstStyle/>
          <a:p>
            <a:r>
              <a:rPr lang="fr-FR" sz="2400" b="1" dirty="0">
                <a:solidFill>
                  <a:schemeClr val="bg1"/>
                </a:solidFill>
                <a:latin typeface="Lora" charset="0"/>
                <a:ea typeface="Lora" charset="0"/>
                <a:cs typeface="Lora" charset="0"/>
              </a:rPr>
              <a:t>1</a:t>
            </a:r>
            <a:endParaRPr lang="fr-FR" sz="2000" b="1" dirty="0">
              <a:solidFill>
                <a:schemeClr val="bg1"/>
              </a:solidFill>
              <a:latin typeface="Lora" charset="0"/>
              <a:ea typeface="Lora" charset="0"/>
              <a:cs typeface="Lora" charset="0"/>
            </a:endParaRPr>
          </a:p>
        </p:txBody>
      </p:sp>
      <p:sp>
        <p:nvSpPr>
          <p:cNvPr id="4" name="Oval 3"/>
          <p:cNvSpPr>
            <a:spLocks noChangeAspect="1"/>
          </p:cNvSpPr>
          <p:nvPr/>
        </p:nvSpPr>
        <p:spPr>
          <a:xfrm>
            <a:off x="8729028" y="4732020"/>
            <a:ext cx="387540" cy="384048"/>
          </a:xfrm>
          <a:prstGeom prst="ellipse">
            <a:avLst/>
          </a:prstGeom>
          <a:solidFill>
            <a:srgbClr val="007D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solidFill>
                  <a:schemeClr val="bg1"/>
                </a:solidFill>
                <a:latin typeface="Lora" charset="0"/>
                <a:ea typeface="Lora" charset="0"/>
                <a:cs typeface="Lora" charset="0"/>
              </a:rPr>
              <a:t>1</a:t>
            </a:r>
          </a:p>
        </p:txBody>
      </p:sp>
    </p:spTree>
    <p:extLst>
      <p:ext uri="{BB962C8B-B14F-4D97-AF65-F5344CB8AC3E}">
        <p14:creationId xmlns:p14="http://schemas.microsoft.com/office/powerpoint/2010/main" val="20592040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dirty="0"/>
              <a:t>Introduction:</a:t>
            </a:r>
            <a:endParaRPr lang="fr-FR" dirty="0">
              <a:solidFill>
                <a:srgbClr val="007DD6"/>
              </a:solidFill>
            </a:endParaRPr>
          </a:p>
        </p:txBody>
      </p:sp>
      <p:sp>
        <p:nvSpPr>
          <p:cNvPr id="3" name="Text Placeholder 2"/>
          <p:cNvSpPr>
            <a:spLocks noGrp="1"/>
          </p:cNvSpPr>
          <p:nvPr>
            <p:ph type="body" idx="1"/>
          </p:nvPr>
        </p:nvSpPr>
        <p:spPr>
          <a:xfrm>
            <a:off x="256032" y="1358267"/>
            <a:ext cx="8472996" cy="3616069"/>
          </a:xfrm>
        </p:spPr>
        <p:txBody>
          <a:bodyPr/>
          <a:lstStyle/>
          <a:p>
            <a:pPr marL="342900" indent="-342900" algn="just">
              <a:buClr>
                <a:srgbClr val="007DD6"/>
              </a:buClr>
              <a:buFont typeface="Arial" charset="0"/>
              <a:buChar char="•"/>
            </a:pPr>
            <a:r>
              <a:rPr lang="fr-FR" sz="1800" dirty="0">
                <a:latin typeface="Lora" charset="0"/>
                <a:ea typeface="Lora" charset="0"/>
                <a:cs typeface="Lora" charset="0"/>
              </a:rPr>
              <a:t>La résistance bactérienne aux antibiotiques est un enjeu majeur de santé publique lié à des échecs thérapeutiques et causant 700 000 morts chaque année à travers le monde.</a:t>
            </a:r>
          </a:p>
          <a:p>
            <a:pPr marL="342900" indent="-342900" algn="just">
              <a:buClr>
                <a:srgbClr val="007DD6"/>
              </a:buClr>
              <a:buFont typeface="Arial" charset="0"/>
              <a:buChar char="•"/>
            </a:pPr>
            <a:r>
              <a:rPr lang="fr-FR" sz="1800" dirty="0">
                <a:latin typeface="Lora" charset="0"/>
                <a:ea typeface="Lora" charset="0"/>
                <a:cs typeface="Lora" charset="0"/>
              </a:rPr>
              <a:t>Pour exercer son action, un antibiotique doit atteindre et se lier à sa cible afin d’inhiber la multiplication bactérienne appelée « bactériostase » ou d’induire la destruction bactérienne appelée « bactéricidie ». </a:t>
            </a:r>
          </a:p>
          <a:p>
            <a:pPr marL="342900" indent="-342900" algn="just">
              <a:buClr>
                <a:srgbClr val="007DD6"/>
              </a:buClr>
              <a:buFont typeface="Arial" charset="0"/>
              <a:buChar char="•"/>
            </a:pPr>
            <a:r>
              <a:rPr lang="fr-FR" sz="1800" dirty="0">
                <a:latin typeface="Lora" charset="0"/>
                <a:ea typeface="Lora" charset="0"/>
                <a:cs typeface="Lora" charset="0"/>
              </a:rPr>
              <a:t>Pour contrecarrer ces effets antibactériens, les bactéries adoptent des mécanismes de résistance variés et adaptés à chaque famille d’antibiotiques. </a:t>
            </a:r>
          </a:p>
          <a:p>
            <a:pPr marL="342900" indent="-342900" algn="just">
              <a:buClr>
                <a:srgbClr val="007DD6"/>
              </a:buClr>
              <a:buFont typeface="Arial" charset="0"/>
              <a:buChar char="•"/>
            </a:pPr>
            <a:r>
              <a:rPr lang="fr-FR" sz="1800" dirty="0">
                <a:latin typeface="Lora" charset="0"/>
                <a:ea typeface="Lora" charset="0"/>
                <a:cs typeface="Lora" charset="0"/>
              </a:rPr>
              <a:t>Ces mécanismes peuvent être regroupés en quatre catégories principales : l’inactivation enzymatique, la modification de la cible, l’efflux actif et l’imperméabilité.</a:t>
            </a:r>
          </a:p>
        </p:txBody>
      </p:sp>
      <p:sp>
        <p:nvSpPr>
          <p:cNvPr id="10" name="TextBox 9"/>
          <p:cNvSpPr txBox="1"/>
          <p:nvPr/>
        </p:nvSpPr>
        <p:spPr>
          <a:xfrm>
            <a:off x="5259649" y="766815"/>
            <a:ext cx="3329547" cy="311706"/>
          </a:xfrm>
          <a:prstGeom prst="rect">
            <a:avLst/>
          </a:prstGeom>
          <a:noFill/>
        </p:spPr>
        <p:txBody>
          <a:bodyPr wrap="square" rtlCol="0">
            <a:spAutoFit/>
          </a:bodyPr>
          <a:lstStyle/>
          <a:p>
            <a:endParaRPr lang="fr-FR"/>
          </a:p>
        </p:txBody>
      </p:sp>
      <p:sp>
        <p:nvSpPr>
          <p:cNvPr id="12" name="Oval 11"/>
          <p:cNvSpPr>
            <a:spLocks noChangeAspect="1"/>
          </p:cNvSpPr>
          <p:nvPr/>
        </p:nvSpPr>
        <p:spPr>
          <a:xfrm>
            <a:off x="8729028" y="4732020"/>
            <a:ext cx="387540" cy="384048"/>
          </a:xfrm>
          <a:prstGeom prst="ellipse">
            <a:avLst/>
          </a:prstGeom>
          <a:solidFill>
            <a:srgbClr val="007D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solidFill>
                  <a:schemeClr val="bg1"/>
                </a:solidFill>
                <a:latin typeface="Lora" charset="0"/>
                <a:ea typeface="Lora" charset="0"/>
                <a:cs typeface="Lora" charset="0"/>
              </a:rPr>
              <a:t>2</a:t>
            </a:r>
          </a:p>
        </p:txBody>
      </p:sp>
    </p:spTree>
    <p:extLst>
      <p:ext uri="{BB962C8B-B14F-4D97-AF65-F5344CB8AC3E}">
        <p14:creationId xmlns:p14="http://schemas.microsoft.com/office/powerpoint/2010/main" val="1671077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885065" y="1640958"/>
            <a:ext cx="6042988" cy="1159799"/>
          </a:xfrm>
        </p:spPr>
        <p:txBody>
          <a:bodyPr/>
          <a:lstStyle/>
          <a:p>
            <a:pPr>
              <a:buClr>
                <a:srgbClr val="007DD6"/>
              </a:buClr>
            </a:pPr>
            <a:r>
              <a:rPr lang="fr-FR" dirty="0">
                <a:latin typeface="Lora" charset="0"/>
                <a:ea typeface="Lora" charset="0"/>
                <a:cs typeface="Lora" charset="0"/>
              </a:rPr>
              <a:t>Définition</a:t>
            </a:r>
          </a:p>
        </p:txBody>
      </p:sp>
      <p:sp>
        <p:nvSpPr>
          <p:cNvPr id="11" name="TextBox 10"/>
          <p:cNvSpPr txBox="1"/>
          <p:nvPr/>
        </p:nvSpPr>
        <p:spPr>
          <a:xfrm>
            <a:off x="1229697" y="2339092"/>
            <a:ext cx="348172" cy="461665"/>
          </a:xfrm>
          <a:prstGeom prst="rect">
            <a:avLst/>
          </a:prstGeom>
          <a:noFill/>
        </p:spPr>
        <p:txBody>
          <a:bodyPr wrap="none" rtlCol="0">
            <a:spAutoFit/>
          </a:bodyPr>
          <a:lstStyle/>
          <a:p>
            <a:r>
              <a:rPr lang="fr-FR" sz="2400" b="1" dirty="0">
                <a:solidFill>
                  <a:schemeClr val="bg1"/>
                </a:solidFill>
                <a:latin typeface="Lora" charset="0"/>
                <a:ea typeface="Lora" charset="0"/>
                <a:cs typeface="Lora" charset="0"/>
              </a:rPr>
              <a:t>2</a:t>
            </a:r>
            <a:endParaRPr lang="fr-FR" sz="2000" b="1" dirty="0">
              <a:solidFill>
                <a:schemeClr val="bg1"/>
              </a:solidFill>
              <a:latin typeface="Lora" charset="0"/>
              <a:ea typeface="Lora" charset="0"/>
              <a:cs typeface="Lora" charset="0"/>
            </a:endParaRPr>
          </a:p>
        </p:txBody>
      </p:sp>
      <p:sp>
        <p:nvSpPr>
          <p:cNvPr id="5" name="Oval 4"/>
          <p:cNvSpPr>
            <a:spLocks noChangeAspect="1"/>
          </p:cNvSpPr>
          <p:nvPr/>
        </p:nvSpPr>
        <p:spPr>
          <a:xfrm>
            <a:off x="8729028" y="4732020"/>
            <a:ext cx="387540" cy="384048"/>
          </a:xfrm>
          <a:prstGeom prst="ellipse">
            <a:avLst/>
          </a:prstGeom>
          <a:solidFill>
            <a:srgbClr val="007DD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fr-FR" dirty="0">
                <a:solidFill>
                  <a:schemeClr val="bg1"/>
                </a:solidFill>
                <a:latin typeface="Lora" charset="0"/>
                <a:ea typeface="Lora" charset="0"/>
                <a:cs typeface="Lora" charset="0"/>
              </a:rPr>
              <a:t>3</a:t>
            </a:r>
          </a:p>
        </p:txBody>
      </p:sp>
    </p:spTree>
    <p:extLst>
      <p:ext uri="{BB962C8B-B14F-4D97-AF65-F5344CB8AC3E}">
        <p14:creationId xmlns:p14="http://schemas.microsoft.com/office/powerpoint/2010/main" val="19684036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81250" y="922668"/>
            <a:ext cx="5446270" cy="435599"/>
          </a:xfrm>
        </p:spPr>
        <p:txBody>
          <a:bodyPr/>
          <a:lstStyle/>
          <a:p>
            <a:pPr>
              <a:buClr>
                <a:srgbClr val="007DD6"/>
              </a:buClr>
            </a:pPr>
            <a:r>
              <a:rPr lang="fr-FR" dirty="0">
                <a:latin typeface="Lora" charset="0"/>
                <a:ea typeface="Lora" charset="0"/>
                <a:cs typeface="Lora" charset="0"/>
              </a:rPr>
              <a:t>Définition</a:t>
            </a:r>
          </a:p>
        </p:txBody>
      </p:sp>
      <p:sp>
        <p:nvSpPr>
          <p:cNvPr id="3" name="Text Placeholder 2"/>
          <p:cNvSpPr>
            <a:spLocks noGrp="1"/>
          </p:cNvSpPr>
          <p:nvPr>
            <p:ph type="body" idx="1"/>
          </p:nvPr>
        </p:nvSpPr>
        <p:spPr>
          <a:xfrm>
            <a:off x="524256" y="1392870"/>
            <a:ext cx="8040556" cy="3424494"/>
          </a:xfrm>
        </p:spPr>
        <p:txBody>
          <a:bodyPr/>
          <a:lstStyle/>
          <a:p>
            <a:pPr marL="342900" indent="-342900" algn="just">
              <a:buClr>
                <a:srgbClr val="007DD6"/>
              </a:buClr>
              <a:buFont typeface="Arial" charset="0"/>
              <a:buChar char="•"/>
            </a:pPr>
            <a:r>
              <a:rPr lang="fr-FR" sz="1600" b="1" dirty="0">
                <a:latin typeface="Lora" charset="0"/>
              </a:rPr>
              <a:t>La résistance naturelle : </a:t>
            </a:r>
            <a:r>
              <a:rPr lang="fr-FR" sz="1600" dirty="0">
                <a:latin typeface="Lora" charset="0"/>
              </a:rPr>
              <a:t>Les bactéries peuvent être résistantes aux antibiotiques de façon naturelle, c’est-à-dire sans modification de leurs génomes. </a:t>
            </a:r>
          </a:p>
          <a:p>
            <a:pPr marL="342900" indent="-342900" algn="just">
              <a:buClr>
                <a:srgbClr val="007DD6"/>
              </a:buClr>
              <a:buFont typeface="Arial" charset="0"/>
              <a:buChar char="•"/>
            </a:pPr>
            <a:r>
              <a:rPr lang="fr-FR" sz="1600" dirty="0">
                <a:latin typeface="Lora" charset="0"/>
              </a:rPr>
              <a:t>Toutes les souches d’une même espèce partagent alors cette résistance.</a:t>
            </a:r>
          </a:p>
          <a:p>
            <a:pPr marL="342900" indent="-342900" algn="just">
              <a:buClr>
                <a:srgbClr val="007DD6"/>
              </a:buClr>
              <a:buFont typeface="Arial" charset="0"/>
              <a:buChar char="•"/>
            </a:pPr>
            <a:r>
              <a:rPr lang="fr-FR" sz="1600" dirty="0">
                <a:latin typeface="Lora" charset="0"/>
              </a:rPr>
              <a:t>Par exemple, les mycoplasmes sont des organismes dépourvus de paroi et donc naturellement résistants aux antibiotiques qui la ciblent comme les b-lactamines ou les glycopeptides. </a:t>
            </a:r>
          </a:p>
          <a:p>
            <a:pPr marL="342900" indent="-342900" algn="just">
              <a:buClr>
                <a:srgbClr val="007DD6"/>
              </a:buClr>
              <a:buFont typeface="Arial" charset="0"/>
              <a:buChar char="•"/>
            </a:pPr>
            <a:r>
              <a:rPr lang="fr-FR" sz="1600" b="1" dirty="0">
                <a:latin typeface="Lora" charset="0"/>
              </a:rPr>
              <a:t>La résistance acquise: </a:t>
            </a:r>
            <a:r>
              <a:rPr lang="fr-FR" sz="1600" dirty="0">
                <a:latin typeface="Lora" charset="0"/>
              </a:rPr>
              <a:t> correspond à une modification du génome bactérien survenant au sein d’une souche bactérienne et qui entraîne une protection face à un antibiotique. </a:t>
            </a:r>
          </a:p>
          <a:p>
            <a:pPr marL="342900" indent="-342900" algn="just">
              <a:buClr>
                <a:srgbClr val="007DD6"/>
              </a:buClr>
              <a:buFont typeface="Arial" charset="0"/>
              <a:buChar char="•"/>
            </a:pPr>
            <a:r>
              <a:rPr lang="fr-FR" sz="1600" dirty="0">
                <a:latin typeface="Lora" charset="0"/>
              </a:rPr>
              <a:t>La modification du génome survient par mutation chromosomique ou par l’acquisition de gènes portés par des éléments génétiques mobiles</a:t>
            </a:r>
            <a:r>
              <a:rPr lang="fr-FR" sz="1100" dirty="0">
                <a:latin typeface="Lora" charset="0"/>
              </a:rPr>
              <a:t>.</a:t>
            </a:r>
            <a:endParaRPr lang="fr-FR" sz="1400" dirty="0">
              <a:effectLst/>
              <a:latin typeface="Lora" pitchFamily="2" charset="0"/>
              <a:ea typeface="Times New Roman" panose="02020603050405020304" pitchFamily="18" charset="0"/>
              <a:cs typeface="Arial" panose="020B0604020202020204" pitchFamily="34" charset="0"/>
            </a:endParaRPr>
          </a:p>
        </p:txBody>
      </p:sp>
      <p:sp>
        <p:nvSpPr>
          <p:cNvPr id="10" name="TextBox 9"/>
          <p:cNvSpPr txBox="1"/>
          <p:nvPr/>
        </p:nvSpPr>
        <p:spPr>
          <a:xfrm>
            <a:off x="5259649" y="766815"/>
            <a:ext cx="3329547" cy="311706"/>
          </a:xfrm>
          <a:prstGeom prst="rect">
            <a:avLst/>
          </a:prstGeom>
          <a:noFill/>
        </p:spPr>
        <p:txBody>
          <a:bodyPr wrap="square" rtlCol="0">
            <a:spAutoFit/>
          </a:bodyPr>
          <a:lstStyle/>
          <a:p>
            <a:endParaRPr lang="fr-FR"/>
          </a:p>
        </p:txBody>
      </p:sp>
      <p:sp>
        <p:nvSpPr>
          <p:cNvPr id="12" name="Oval 11"/>
          <p:cNvSpPr>
            <a:spLocks noChangeAspect="1"/>
          </p:cNvSpPr>
          <p:nvPr/>
        </p:nvSpPr>
        <p:spPr>
          <a:xfrm>
            <a:off x="8729028" y="4732020"/>
            <a:ext cx="387540" cy="384048"/>
          </a:xfrm>
          <a:prstGeom prst="ellipse">
            <a:avLst/>
          </a:prstGeom>
          <a:solidFill>
            <a:srgbClr val="007D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solidFill>
                  <a:schemeClr val="bg1"/>
                </a:solidFill>
                <a:latin typeface="Lora" charset="0"/>
                <a:ea typeface="Lora" charset="0"/>
                <a:cs typeface="Lora" charset="0"/>
              </a:rPr>
              <a:t>4</a:t>
            </a:r>
          </a:p>
        </p:txBody>
      </p:sp>
    </p:spTree>
    <p:extLst>
      <p:ext uri="{BB962C8B-B14F-4D97-AF65-F5344CB8AC3E}">
        <p14:creationId xmlns:p14="http://schemas.microsoft.com/office/powerpoint/2010/main" val="6152268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85885" y="2259046"/>
            <a:ext cx="7363042" cy="984026"/>
          </a:xfrm>
        </p:spPr>
        <p:txBody>
          <a:bodyPr/>
          <a:lstStyle/>
          <a:p>
            <a:pPr>
              <a:buClr>
                <a:srgbClr val="007DD6"/>
              </a:buClr>
            </a:pPr>
            <a:r>
              <a:rPr lang="fr-FR" dirty="0">
                <a:latin typeface="Lora" charset="0"/>
                <a:ea typeface="Lora" charset="0"/>
                <a:cs typeface="Lora" charset="0"/>
              </a:rPr>
              <a:t>Les différents mécanismes de résistance</a:t>
            </a:r>
          </a:p>
        </p:txBody>
      </p:sp>
      <p:sp>
        <p:nvSpPr>
          <p:cNvPr id="11" name="TextBox 10"/>
          <p:cNvSpPr txBox="1"/>
          <p:nvPr/>
        </p:nvSpPr>
        <p:spPr>
          <a:xfrm>
            <a:off x="1229697" y="2339092"/>
            <a:ext cx="356188" cy="461665"/>
          </a:xfrm>
          <a:prstGeom prst="rect">
            <a:avLst/>
          </a:prstGeom>
          <a:noFill/>
        </p:spPr>
        <p:txBody>
          <a:bodyPr wrap="none" rtlCol="0">
            <a:spAutoFit/>
          </a:bodyPr>
          <a:lstStyle/>
          <a:p>
            <a:r>
              <a:rPr lang="fr-FR" sz="2400" b="1" dirty="0">
                <a:solidFill>
                  <a:schemeClr val="bg1"/>
                </a:solidFill>
                <a:latin typeface="Lora" charset="0"/>
                <a:ea typeface="Lora" charset="0"/>
                <a:cs typeface="Lora" charset="0"/>
              </a:rPr>
              <a:t>3</a:t>
            </a:r>
            <a:endParaRPr lang="fr-FR" sz="2000" b="1" dirty="0">
              <a:solidFill>
                <a:schemeClr val="bg1"/>
              </a:solidFill>
              <a:latin typeface="Lora" charset="0"/>
              <a:ea typeface="Lora" charset="0"/>
              <a:cs typeface="Lora" charset="0"/>
            </a:endParaRPr>
          </a:p>
        </p:txBody>
      </p:sp>
      <p:sp>
        <p:nvSpPr>
          <p:cNvPr id="5" name="Oval 4"/>
          <p:cNvSpPr>
            <a:spLocks noChangeAspect="1"/>
          </p:cNvSpPr>
          <p:nvPr/>
        </p:nvSpPr>
        <p:spPr>
          <a:xfrm>
            <a:off x="8729028" y="4732020"/>
            <a:ext cx="387540" cy="384048"/>
          </a:xfrm>
          <a:prstGeom prst="ellipse">
            <a:avLst/>
          </a:prstGeom>
          <a:solidFill>
            <a:srgbClr val="007DD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fr-FR" dirty="0">
                <a:solidFill>
                  <a:schemeClr val="bg1"/>
                </a:solidFill>
                <a:latin typeface="Lora" charset="0"/>
                <a:ea typeface="Lora" charset="0"/>
                <a:cs typeface="Lora" charset="0"/>
              </a:rPr>
              <a:t>5</a:t>
            </a:r>
          </a:p>
        </p:txBody>
      </p:sp>
    </p:spTree>
    <p:extLst>
      <p:ext uri="{BB962C8B-B14F-4D97-AF65-F5344CB8AC3E}">
        <p14:creationId xmlns:p14="http://schemas.microsoft.com/office/powerpoint/2010/main" val="4426785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82975A-AEE3-1B59-D1D1-DF1B963DAF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8E860F-20D8-06BD-08D2-D4B81A90C791}"/>
              </a:ext>
            </a:extLst>
          </p:cNvPr>
          <p:cNvSpPr>
            <a:spLocks noGrp="1"/>
          </p:cNvSpPr>
          <p:nvPr>
            <p:ph type="title"/>
          </p:nvPr>
        </p:nvSpPr>
        <p:spPr>
          <a:xfrm>
            <a:off x="1381250" y="776364"/>
            <a:ext cx="7111240" cy="698868"/>
          </a:xfrm>
        </p:spPr>
        <p:txBody>
          <a:bodyPr/>
          <a:lstStyle/>
          <a:p>
            <a:pPr>
              <a:buClr>
                <a:srgbClr val="007DD6"/>
              </a:buClr>
            </a:pPr>
            <a:r>
              <a:rPr lang="fr-FR" dirty="0">
                <a:latin typeface="Lora" charset="0"/>
                <a:ea typeface="Lora" charset="0"/>
                <a:cs typeface="Lora" charset="0"/>
              </a:rPr>
              <a:t>Les différents mécanismes de résistance</a:t>
            </a:r>
          </a:p>
        </p:txBody>
      </p:sp>
      <p:sp>
        <p:nvSpPr>
          <p:cNvPr id="3" name="Text Placeholder 2">
            <a:extLst>
              <a:ext uri="{FF2B5EF4-FFF2-40B4-BE49-F238E27FC236}">
                <a16:creationId xmlns:a16="http://schemas.microsoft.com/office/drawing/2014/main" id="{F24FD9C3-7177-7257-269D-22BC1F5DFA0A}"/>
              </a:ext>
            </a:extLst>
          </p:cNvPr>
          <p:cNvSpPr>
            <a:spLocks noGrp="1"/>
          </p:cNvSpPr>
          <p:nvPr>
            <p:ph type="body" idx="1"/>
          </p:nvPr>
        </p:nvSpPr>
        <p:spPr>
          <a:xfrm>
            <a:off x="292607" y="1377696"/>
            <a:ext cx="8517163" cy="3738372"/>
          </a:xfrm>
        </p:spPr>
        <p:txBody>
          <a:bodyPr/>
          <a:lstStyle/>
          <a:p>
            <a:pPr marL="342900" indent="-342900">
              <a:buClr>
                <a:srgbClr val="007DD6"/>
              </a:buClr>
              <a:buFont typeface="+mj-lt"/>
              <a:buAutoNum type="arabicPeriod"/>
            </a:pPr>
            <a:r>
              <a:rPr lang="fr-FR" sz="1700" b="1" dirty="0">
                <a:solidFill>
                  <a:srgbClr val="0069D9"/>
                </a:solidFill>
                <a:latin typeface="Lora" pitchFamily="2" charset="0"/>
                <a:ea typeface="Lora" charset="0"/>
                <a:cs typeface="Lora" charset="0"/>
              </a:rPr>
              <a:t>Inactivation enzymatique de l’antibiotique:</a:t>
            </a:r>
          </a:p>
          <a:p>
            <a:pPr marL="285750" indent="-285750">
              <a:buClr>
                <a:srgbClr val="007DD6"/>
              </a:buClr>
              <a:buFont typeface="Arial" panose="020B0604020202020204" pitchFamily="34" charset="0"/>
              <a:buChar char="•"/>
            </a:pPr>
            <a:r>
              <a:rPr lang="fr-FR" sz="1700" dirty="0">
                <a:latin typeface="Lora" pitchFamily="2" charset="0"/>
                <a:ea typeface="Lora" charset="0"/>
                <a:cs typeface="Lora" charset="0"/>
              </a:rPr>
              <a:t>Pour échapper à l’action des antibiotiques, un des moyens les plus fréquents et les plus efficaces pour les bactéries consiste à le détruire par hydrolyse ou à le modifier.</a:t>
            </a:r>
          </a:p>
          <a:p>
            <a:pPr marL="285750" indent="-285750">
              <a:buClr>
                <a:srgbClr val="007DD6"/>
              </a:buClr>
              <a:buFont typeface="Arial" panose="020B0604020202020204" pitchFamily="34" charset="0"/>
              <a:buChar char="•"/>
            </a:pPr>
            <a:r>
              <a:rPr lang="fr-FR" sz="1700" b="1" dirty="0">
                <a:solidFill>
                  <a:srgbClr val="0069D9"/>
                </a:solidFill>
                <a:latin typeface="Lora" pitchFamily="2" charset="0"/>
                <a:ea typeface="Lora" charset="0"/>
                <a:cs typeface="Lora" charset="0"/>
              </a:rPr>
              <a:t>Inactivation enzymatique par hydrolyse de l’antibiotique:</a:t>
            </a:r>
          </a:p>
          <a:p>
            <a:pPr marL="285750" indent="-285750">
              <a:buClr>
                <a:srgbClr val="007DD6"/>
              </a:buClr>
              <a:buFont typeface="Arial" panose="020B0604020202020204" pitchFamily="34" charset="0"/>
              <a:buChar char="•"/>
            </a:pPr>
            <a:r>
              <a:rPr lang="fr-FR" sz="1700" dirty="0">
                <a:latin typeface="Lora" pitchFamily="2" charset="0"/>
                <a:ea typeface="Lora" charset="0"/>
                <a:cs typeface="Lora" charset="0"/>
              </a:rPr>
              <a:t>Certains antibiotiques possèdent des fonctions chimiques fragiles vis-à-vis des hydrolases, Parmi les hydrolases, on retrouve:</a:t>
            </a:r>
          </a:p>
          <a:p>
            <a:pPr marL="285750" indent="-285750">
              <a:buClr>
                <a:srgbClr val="007DD6"/>
              </a:buClr>
              <a:buFont typeface="Arial" panose="020B0604020202020204" pitchFamily="34" charset="0"/>
              <a:buChar char="•"/>
            </a:pPr>
            <a:r>
              <a:rPr lang="fr-FR" sz="1700" b="1" u="sng" dirty="0">
                <a:solidFill>
                  <a:srgbClr val="0069D9"/>
                </a:solidFill>
                <a:latin typeface="Lora" pitchFamily="2" charset="0"/>
                <a:ea typeface="Lora" charset="0"/>
                <a:cs typeface="Lora" charset="0"/>
              </a:rPr>
              <a:t>Les </a:t>
            </a:r>
            <a:r>
              <a:rPr lang="el-GR" sz="1700" b="1" u="sng" dirty="0">
                <a:solidFill>
                  <a:srgbClr val="0069D9"/>
                </a:solidFill>
                <a:latin typeface="Lora" pitchFamily="2" charset="0"/>
                <a:ea typeface="Lora" charset="0"/>
                <a:cs typeface="Times New Roman" panose="02020603050405020304" pitchFamily="18" charset="0"/>
              </a:rPr>
              <a:t>β</a:t>
            </a:r>
            <a:r>
              <a:rPr lang="fr-FR" sz="1700" b="1" u="sng" dirty="0">
                <a:solidFill>
                  <a:srgbClr val="0069D9"/>
                </a:solidFill>
                <a:latin typeface="Lora" pitchFamily="2" charset="0"/>
                <a:ea typeface="Lora" charset="0"/>
                <a:cs typeface="Lora" charset="0"/>
              </a:rPr>
              <a:t>-lactamases </a:t>
            </a:r>
            <a:r>
              <a:rPr lang="fr-FR" sz="1700" dirty="0">
                <a:latin typeface="Lora" pitchFamily="2" charset="0"/>
                <a:ea typeface="Lora" charset="0"/>
                <a:cs typeface="Lora" charset="0"/>
              </a:rPr>
              <a:t>qui sont d’une importance majeure, car elles sont la première cause de résistance aux </a:t>
            </a:r>
            <a:r>
              <a:rPr lang="el-GR" sz="1700" dirty="0">
                <a:latin typeface="Lora" pitchFamily="2" charset="0"/>
                <a:ea typeface="Lora" charset="0"/>
                <a:cs typeface="Times New Roman" panose="02020603050405020304" pitchFamily="18" charset="0"/>
              </a:rPr>
              <a:t>β</a:t>
            </a:r>
            <a:r>
              <a:rPr lang="fr-FR" sz="1700" dirty="0">
                <a:latin typeface="Lora" pitchFamily="2" charset="0"/>
                <a:ea typeface="Lora" charset="0"/>
                <a:cs typeface="Lora" charset="0"/>
              </a:rPr>
              <a:t>-lactamines chez les bacilles à Gram négatif. </a:t>
            </a:r>
          </a:p>
          <a:p>
            <a:pPr marL="285750" indent="-285750">
              <a:buClr>
                <a:srgbClr val="007DD6"/>
              </a:buClr>
              <a:buFont typeface="Arial" panose="020B0604020202020204" pitchFamily="34" charset="0"/>
              <a:buChar char="•"/>
            </a:pPr>
            <a:r>
              <a:rPr lang="fr-FR" sz="1700" dirty="0">
                <a:latin typeface="Lora" pitchFamily="2" charset="0"/>
                <a:ea typeface="Lora" charset="0"/>
                <a:cs typeface="Lora" charset="0"/>
              </a:rPr>
              <a:t>Ces enzymes ont été décrites au début des années 1940, chez des bactéries pathogènes comme Staphylococcus aureus et Escherichia coli, ce qui souligne leur importance médicale. </a:t>
            </a:r>
          </a:p>
        </p:txBody>
      </p:sp>
      <p:sp>
        <p:nvSpPr>
          <p:cNvPr id="10" name="Oval 9">
            <a:extLst>
              <a:ext uri="{FF2B5EF4-FFF2-40B4-BE49-F238E27FC236}">
                <a16:creationId xmlns:a16="http://schemas.microsoft.com/office/drawing/2014/main" id="{9269AC65-8F53-A1CD-9376-F847B3CE7CD6}"/>
              </a:ext>
            </a:extLst>
          </p:cNvPr>
          <p:cNvSpPr>
            <a:spLocks noChangeAspect="1"/>
          </p:cNvSpPr>
          <p:nvPr/>
        </p:nvSpPr>
        <p:spPr>
          <a:xfrm>
            <a:off x="8729028" y="4732020"/>
            <a:ext cx="387540" cy="384048"/>
          </a:xfrm>
          <a:prstGeom prst="ellipse">
            <a:avLst/>
          </a:prstGeom>
          <a:solidFill>
            <a:srgbClr val="007DD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fr-FR" dirty="0">
                <a:solidFill>
                  <a:schemeClr val="bg1"/>
                </a:solidFill>
                <a:latin typeface="Lora" charset="0"/>
                <a:ea typeface="Lora" charset="0"/>
                <a:cs typeface="Lora" charset="0"/>
              </a:rPr>
              <a:t>6</a:t>
            </a:r>
          </a:p>
        </p:txBody>
      </p:sp>
    </p:spTree>
    <p:extLst>
      <p:ext uri="{BB962C8B-B14F-4D97-AF65-F5344CB8AC3E}">
        <p14:creationId xmlns:p14="http://schemas.microsoft.com/office/powerpoint/2010/main" val="15726104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A066E3-50F3-CC95-AF1A-366216104F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A0021E-09E9-8159-0C04-2FDD93A5BE94}"/>
              </a:ext>
            </a:extLst>
          </p:cNvPr>
          <p:cNvSpPr>
            <a:spLocks noGrp="1"/>
          </p:cNvSpPr>
          <p:nvPr>
            <p:ph type="title"/>
          </p:nvPr>
        </p:nvSpPr>
        <p:spPr>
          <a:xfrm>
            <a:off x="1381250" y="776364"/>
            <a:ext cx="7111240" cy="698868"/>
          </a:xfrm>
        </p:spPr>
        <p:txBody>
          <a:bodyPr/>
          <a:lstStyle/>
          <a:p>
            <a:pPr>
              <a:buClr>
                <a:srgbClr val="007DD6"/>
              </a:buClr>
            </a:pPr>
            <a:r>
              <a:rPr lang="fr-FR" dirty="0">
                <a:latin typeface="Lora" charset="0"/>
                <a:ea typeface="Lora" charset="0"/>
                <a:cs typeface="Lora" charset="0"/>
              </a:rPr>
              <a:t>Les différents mécanismes de résistance</a:t>
            </a:r>
          </a:p>
        </p:txBody>
      </p:sp>
      <p:sp>
        <p:nvSpPr>
          <p:cNvPr id="3" name="Text Placeholder 2">
            <a:extLst>
              <a:ext uri="{FF2B5EF4-FFF2-40B4-BE49-F238E27FC236}">
                <a16:creationId xmlns:a16="http://schemas.microsoft.com/office/drawing/2014/main" id="{0E832D8C-6191-1A10-6813-E3AE6FD3534C}"/>
              </a:ext>
            </a:extLst>
          </p:cNvPr>
          <p:cNvSpPr>
            <a:spLocks noGrp="1"/>
          </p:cNvSpPr>
          <p:nvPr>
            <p:ph type="body" idx="1"/>
          </p:nvPr>
        </p:nvSpPr>
        <p:spPr>
          <a:xfrm>
            <a:off x="292608" y="1463040"/>
            <a:ext cx="8199882" cy="3340608"/>
          </a:xfrm>
        </p:spPr>
        <p:txBody>
          <a:bodyPr/>
          <a:lstStyle/>
          <a:p>
            <a:pPr marL="285750" indent="-285750">
              <a:buClr>
                <a:srgbClr val="007DD6"/>
              </a:buClr>
              <a:buFont typeface="Arial" panose="020B0604020202020204" pitchFamily="34" charset="0"/>
              <a:buChar char="•"/>
            </a:pPr>
            <a:r>
              <a:rPr lang="fr-FR" sz="1800" dirty="0">
                <a:latin typeface="Lora" pitchFamily="2" charset="0"/>
                <a:ea typeface="Lora" charset="0"/>
                <a:cs typeface="Lora" charset="0"/>
              </a:rPr>
              <a:t>plus de 7000 </a:t>
            </a:r>
            <a:r>
              <a:rPr lang="el-GR" sz="1800" dirty="0">
                <a:latin typeface="Lora" pitchFamily="2" charset="0"/>
                <a:ea typeface="Lora" charset="0"/>
                <a:cs typeface="Times New Roman" panose="02020603050405020304" pitchFamily="18" charset="0"/>
              </a:rPr>
              <a:t>β</a:t>
            </a:r>
            <a:r>
              <a:rPr lang="fr-FR" sz="1800" dirty="0">
                <a:latin typeface="Lora" pitchFamily="2" charset="0"/>
                <a:ea typeface="Lora" charset="0"/>
                <a:cs typeface="Lora" charset="0"/>
              </a:rPr>
              <a:t>-lactamases acquises ont été décrites à ce jour . </a:t>
            </a:r>
            <a:r>
              <a:rPr lang="fr-FR" sz="1800" dirty="0">
                <a:latin typeface="Lora" charset="0"/>
                <a:ea typeface="Lora" charset="0"/>
                <a:cs typeface="Lora" charset="0"/>
              </a:rPr>
              <a:t>Cette diversité est corrélée à des profils hydrolytiques différents qui conditionnent le phénotype de résistance aux antibiotiques. </a:t>
            </a:r>
          </a:p>
          <a:p>
            <a:pPr marL="285750" indent="-285750">
              <a:buClr>
                <a:srgbClr val="007DD6"/>
              </a:buClr>
              <a:buFont typeface="Arial" panose="020B0604020202020204" pitchFamily="34" charset="0"/>
              <a:buChar char="•"/>
            </a:pPr>
            <a:r>
              <a:rPr lang="fr-FR" sz="1800" dirty="0">
                <a:latin typeface="Lora" charset="0"/>
                <a:ea typeface="Lora" charset="0"/>
                <a:cs typeface="Lora" charset="0"/>
              </a:rPr>
              <a:t>Les </a:t>
            </a:r>
            <a:r>
              <a:rPr lang="el-GR" sz="1800" dirty="0">
                <a:latin typeface="Times New Roman" panose="02020603050405020304" pitchFamily="18" charset="0"/>
                <a:ea typeface="Lora" charset="0"/>
                <a:cs typeface="Times New Roman" panose="02020603050405020304" pitchFamily="18" charset="0"/>
              </a:rPr>
              <a:t>β</a:t>
            </a:r>
            <a:r>
              <a:rPr lang="fr-FR" sz="1800" dirty="0">
                <a:latin typeface="Lora" charset="0"/>
                <a:ea typeface="Lora" charset="0"/>
                <a:cs typeface="Lora" charset="0"/>
              </a:rPr>
              <a:t>-lactamases ciblent le noyau </a:t>
            </a:r>
            <a:r>
              <a:rPr lang="el-GR" sz="1800" dirty="0">
                <a:latin typeface="Times New Roman" panose="02020603050405020304" pitchFamily="18" charset="0"/>
                <a:ea typeface="Lora" charset="0"/>
                <a:cs typeface="Times New Roman" panose="02020603050405020304" pitchFamily="18" charset="0"/>
              </a:rPr>
              <a:t>β</a:t>
            </a:r>
            <a:r>
              <a:rPr lang="fr-FR" sz="1800" dirty="0">
                <a:latin typeface="Lora" charset="0"/>
                <a:ea typeface="Lora" charset="0"/>
                <a:cs typeface="Lora" charset="0"/>
              </a:rPr>
              <a:t>-lactame, clé pour l’activité des β-lactamines, L’ouverture de ce cycle induit l’inactivation de la molécule.</a:t>
            </a:r>
          </a:p>
          <a:p>
            <a:pPr marL="285750" indent="-285750">
              <a:buClr>
                <a:srgbClr val="007DD6"/>
              </a:buClr>
              <a:buFont typeface="Arial" panose="020B0604020202020204" pitchFamily="34" charset="0"/>
              <a:buChar char="•"/>
            </a:pPr>
            <a:r>
              <a:rPr lang="fr-FR" sz="1800" dirty="0">
                <a:latin typeface="Lora" charset="0"/>
                <a:ea typeface="Lora" charset="0"/>
                <a:cs typeface="Lora" charset="0"/>
              </a:rPr>
              <a:t> </a:t>
            </a:r>
            <a:r>
              <a:rPr lang="fr-FR" sz="1800" b="1" u="sng" dirty="0">
                <a:solidFill>
                  <a:srgbClr val="0069D9"/>
                </a:solidFill>
                <a:latin typeface="Lora" charset="0"/>
                <a:ea typeface="Lora" charset="0"/>
                <a:cs typeface="Lora" charset="0"/>
              </a:rPr>
              <a:t>les </a:t>
            </a:r>
            <a:r>
              <a:rPr lang="fr-FR" sz="1800" b="1" u="sng" dirty="0" err="1">
                <a:solidFill>
                  <a:srgbClr val="0069D9"/>
                </a:solidFill>
                <a:latin typeface="Lora" charset="0"/>
                <a:ea typeface="Lora" charset="0"/>
                <a:cs typeface="Lora" charset="0"/>
              </a:rPr>
              <a:t>époxydases</a:t>
            </a:r>
            <a:r>
              <a:rPr lang="fr-FR" sz="1800" b="1" u="sng" dirty="0">
                <a:solidFill>
                  <a:srgbClr val="0069D9"/>
                </a:solidFill>
                <a:latin typeface="Lora" charset="0"/>
                <a:ea typeface="Lora" charset="0"/>
                <a:cs typeface="Lora" charset="0"/>
              </a:rPr>
              <a:t> </a:t>
            </a:r>
            <a:r>
              <a:rPr lang="fr-FR" sz="1800" dirty="0">
                <a:latin typeface="Lora" charset="0"/>
                <a:ea typeface="Lora" charset="0"/>
                <a:cs typeface="Lora" charset="0"/>
              </a:rPr>
              <a:t>(comme </a:t>
            </a:r>
            <a:r>
              <a:rPr lang="fr-FR" sz="1800" dirty="0" err="1">
                <a:latin typeface="Lora" charset="0"/>
                <a:ea typeface="Lora" charset="0"/>
                <a:cs typeface="Lora" charset="0"/>
              </a:rPr>
              <a:t>FosB</a:t>
            </a:r>
            <a:r>
              <a:rPr lang="fr-FR" sz="1800" dirty="0">
                <a:latin typeface="Lora" charset="0"/>
                <a:ea typeface="Lora" charset="0"/>
                <a:cs typeface="Lora" charset="0"/>
              </a:rPr>
              <a:t>, </a:t>
            </a:r>
            <a:r>
              <a:rPr lang="fr-FR" sz="1800" dirty="0" err="1">
                <a:latin typeface="Lora" charset="0"/>
                <a:ea typeface="Lora" charset="0"/>
                <a:cs typeface="Lora" charset="0"/>
              </a:rPr>
              <a:t>FosC</a:t>
            </a:r>
            <a:r>
              <a:rPr lang="fr-FR" sz="1800" dirty="0">
                <a:latin typeface="Lora" charset="0"/>
                <a:ea typeface="Lora" charset="0"/>
                <a:cs typeface="Lora" charset="0"/>
              </a:rPr>
              <a:t> et </a:t>
            </a:r>
            <a:r>
              <a:rPr lang="fr-FR" sz="1800" dirty="0" err="1">
                <a:latin typeface="Lora" charset="0"/>
                <a:ea typeface="Lora" charset="0"/>
                <a:cs typeface="Lora" charset="0"/>
              </a:rPr>
              <a:t>FosX</a:t>
            </a:r>
            <a:r>
              <a:rPr lang="fr-FR" sz="1800" dirty="0">
                <a:latin typeface="Lora" charset="0"/>
                <a:ea typeface="Lora" charset="0"/>
                <a:cs typeface="Lora" charset="0"/>
              </a:rPr>
              <a:t>) inactivent la fosfomycine par ouverture de son cycle époxyde.</a:t>
            </a:r>
          </a:p>
        </p:txBody>
      </p:sp>
      <p:sp>
        <p:nvSpPr>
          <p:cNvPr id="10" name="Oval 9">
            <a:extLst>
              <a:ext uri="{FF2B5EF4-FFF2-40B4-BE49-F238E27FC236}">
                <a16:creationId xmlns:a16="http://schemas.microsoft.com/office/drawing/2014/main" id="{078DB8C4-B6CD-2741-A595-9790FDB33449}"/>
              </a:ext>
            </a:extLst>
          </p:cNvPr>
          <p:cNvSpPr>
            <a:spLocks noChangeAspect="1"/>
          </p:cNvSpPr>
          <p:nvPr/>
        </p:nvSpPr>
        <p:spPr>
          <a:xfrm>
            <a:off x="8729028" y="4732020"/>
            <a:ext cx="387540" cy="384048"/>
          </a:xfrm>
          <a:prstGeom prst="ellipse">
            <a:avLst/>
          </a:prstGeom>
          <a:solidFill>
            <a:srgbClr val="007DD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fr-FR" dirty="0">
                <a:solidFill>
                  <a:schemeClr val="bg1"/>
                </a:solidFill>
                <a:latin typeface="Lora" charset="0"/>
                <a:ea typeface="Lora" charset="0"/>
                <a:cs typeface="Lora" charset="0"/>
              </a:rPr>
              <a:t>6</a:t>
            </a:r>
          </a:p>
        </p:txBody>
      </p:sp>
    </p:spTree>
    <p:extLst>
      <p:ext uri="{BB962C8B-B14F-4D97-AF65-F5344CB8AC3E}">
        <p14:creationId xmlns:p14="http://schemas.microsoft.com/office/powerpoint/2010/main" val="14219946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4F5202-C491-481B-6F87-954CDCFF6B9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3BE7F84-E549-A134-D347-4129BEA912C2}"/>
              </a:ext>
            </a:extLst>
          </p:cNvPr>
          <p:cNvSpPr>
            <a:spLocks noGrp="1"/>
          </p:cNvSpPr>
          <p:nvPr>
            <p:ph type="title"/>
          </p:nvPr>
        </p:nvSpPr>
        <p:spPr>
          <a:xfrm>
            <a:off x="1381250" y="776364"/>
            <a:ext cx="7111240" cy="698868"/>
          </a:xfrm>
        </p:spPr>
        <p:txBody>
          <a:bodyPr/>
          <a:lstStyle/>
          <a:p>
            <a:pPr>
              <a:buClr>
                <a:srgbClr val="007DD6"/>
              </a:buClr>
            </a:pPr>
            <a:r>
              <a:rPr lang="fr-FR" dirty="0">
                <a:latin typeface="Lora" charset="0"/>
                <a:ea typeface="Lora" charset="0"/>
                <a:cs typeface="Lora" charset="0"/>
              </a:rPr>
              <a:t>Les différents mécanismes de résistance</a:t>
            </a:r>
          </a:p>
        </p:txBody>
      </p:sp>
      <p:sp>
        <p:nvSpPr>
          <p:cNvPr id="3" name="Text Placeholder 2">
            <a:extLst>
              <a:ext uri="{FF2B5EF4-FFF2-40B4-BE49-F238E27FC236}">
                <a16:creationId xmlns:a16="http://schemas.microsoft.com/office/drawing/2014/main" id="{8B3C4BA3-3712-4C4F-1911-7D12040E6C03}"/>
              </a:ext>
            </a:extLst>
          </p:cNvPr>
          <p:cNvSpPr>
            <a:spLocks noGrp="1"/>
          </p:cNvSpPr>
          <p:nvPr>
            <p:ph type="body" idx="1"/>
          </p:nvPr>
        </p:nvSpPr>
        <p:spPr>
          <a:xfrm>
            <a:off x="292608" y="1463040"/>
            <a:ext cx="8199882" cy="3340608"/>
          </a:xfrm>
        </p:spPr>
        <p:txBody>
          <a:bodyPr/>
          <a:lstStyle/>
          <a:p>
            <a:pPr marL="285750" indent="-285750">
              <a:buClr>
                <a:srgbClr val="007DD6"/>
              </a:buClr>
              <a:buFont typeface="Arial" panose="020B0604020202020204" pitchFamily="34" charset="0"/>
              <a:buChar char="•"/>
            </a:pPr>
            <a:r>
              <a:rPr lang="fr-FR" sz="1800" b="1" dirty="0">
                <a:solidFill>
                  <a:srgbClr val="0069D9"/>
                </a:solidFill>
                <a:latin typeface="Lora" charset="0"/>
                <a:ea typeface="Lora" charset="0"/>
                <a:cs typeface="Lora" charset="0"/>
              </a:rPr>
              <a:t>Inactivation enzymatique par addition d’un groupement chimique:</a:t>
            </a:r>
          </a:p>
          <a:p>
            <a:pPr marL="285750" indent="-285750">
              <a:buClr>
                <a:srgbClr val="007DD6"/>
              </a:buClr>
              <a:buFont typeface="Arial" panose="020B0604020202020204" pitchFamily="34" charset="0"/>
              <a:buChar char="•"/>
            </a:pPr>
            <a:r>
              <a:rPr lang="fr-FR" sz="1800" dirty="0">
                <a:latin typeface="Lora" charset="0"/>
                <a:ea typeface="Lora" charset="0"/>
                <a:cs typeface="Lora" charset="0"/>
              </a:rPr>
              <a:t>La deuxième stratégie adoptée pour inactiver un antibiotique est d’y adjoindre un groupement chimique. </a:t>
            </a:r>
          </a:p>
          <a:p>
            <a:pPr marL="285750" indent="-285750">
              <a:buClr>
                <a:srgbClr val="007DD6"/>
              </a:buClr>
              <a:buFont typeface="Arial" panose="020B0604020202020204" pitchFamily="34" charset="0"/>
              <a:buChar char="•"/>
            </a:pPr>
            <a:r>
              <a:rPr lang="fr-FR" sz="1800" dirty="0">
                <a:latin typeface="Lora" charset="0"/>
                <a:ea typeface="Lora" charset="0"/>
                <a:cs typeface="Lora" charset="0"/>
              </a:rPr>
              <a:t>L’antibiotique modifié devient ainsi incapable de reconnaître sa cible et d’exercer son action. </a:t>
            </a:r>
          </a:p>
          <a:p>
            <a:pPr marL="285750" indent="-285750">
              <a:buClr>
                <a:srgbClr val="007DD6"/>
              </a:buClr>
              <a:buFont typeface="Arial" panose="020B0604020202020204" pitchFamily="34" charset="0"/>
              <a:buChar char="•"/>
            </a:pPr>
            <a:r>
              <a:rPr lang="fr-FR" sz="1800" dirty="0">
                <a:latin typeface="Lora" charset="0"/>
                <a:ea typeface="Lora" charset="0"/>
                <a:cs typeface="Lora" charset="0"/>
              </a:rPr>
              <a:t>Ces enzymes modificatrices ciblent des antibiotiques à action intracellulaire. Ces protéines sont nommées en fonction du groupement qu’elles apportent, parmi lesquelles on retrouve les </a:t>
            </a:r>
            <a:r>
              <a:rPr lang="fr-FR" sz="1800" dirty="0" err="1">
                <a:latin typeface="Lora" charset="0"/>
                <a:ea typeface="Lora" charset="0"/>
                <a:cs typeface="Lora" charset="0"/>
              </a:rPr>
              <a:t>acétyl</a:t>
            </a:r>
            <a:r>
              <a:rPr lang="fr-FR" sz="1800" dirty="0">
                <a:latin typeface="Lora" charset="0"/>
                <a:ea typeface="Lora" charset="0"/>
                <a:cs typeface="Lora" charset="0"/>
              </a:rPr>
              <a:t>-, les </a:t>
            </a:r>
            <a:r>
              <a:rPr lang="fr-FR" sz="1800" dirty="0" err="1">
                <a:latin typeface="Lora" charset="0"/>
                <a:ea typeface="Lora" charset="0"/>
                <a:cs typeface="Lora" charset="0"/>
              </a:rPr>
              <a:t>phospho</a:t>
            </a:r>
            <a:r>
              <a:rPr lang="fr-FR" sz="1800" dirty="0">
                <a:latin typeface="Lora" charset="0"/>
                <a:ea typeface="Lora" charset="0"/>
                <a:cs typeface="Lora" charset="0"/>
              </a:rPr>
              <a:t>-, les </a:t>
            </a:r>
            <a:r>
              <a:rPr lang="fr-FR" sz="1800" dirty="0" err="1">
                <a:latin typeface="Lora" charset="0"/>
                <a:ea typeface="Lora" charset="0"/>
                <a:cs typeface="Lora" charset="0"/>
              </a:rPr>
              <a:t>nucléotidyl</a:t>
            </a:r>
            <a:r>
              <a:rPr lang="fr-FR" sz="1800" dirty="0">
                <a:latin typeface="Lora" charset="0"/>
                <a:ea typeface="Lora" charset="0"/>
                <a:cs typeface="Lora" charset="0"/>
              </a:rPr>
              <a:t>-, les thiol-, les </a:t>
            </a:r>
            <a:r>
              <a:rPr lang="fr-FR" sz="1800" dirty="0" err="1">
                <a:latin typeface="Lora" charset="0"/>
                <a:ea typeface="Lora" charset="0"/>
                <a:cs typeface="Lora" charset="0"/>
              </a:rPr>
              <a:t>ribosyl</a:t>
            </a:r>
            <a:r>
              <a:rPr lang="fr-FR" sz="1800" dirty="0">
                <a:latin typeface="Lora" charset="0"/>
                <a:ea typeface="Lora" charset="0"/>
                <a:cs typeface="Lora" charset="0"/>
              </a:rPr>
              <a:t>- et les glycosyltransférases.</a:t>
            </a:r>
          </a:p>
        </p:txBody>
      </p:sp>
      <p:sp>
        <p:nvSpPr>
          <p:cNvPr id="10" name="Oval 9">
            <a:extLst>
              <a:ext uri="{FF2B5EF4-FFF2-40B4-BE49-F238E27FC236}">
                <a16:creationId xmlns:a16="http://schemas.microsoft.com/office/drawing/2014/main" id="{CEC6CF5F-8D15-E99E-4FD8-92FD66FEC4C5}"/>
              </a:ext>
            </a:extLst>
          </p:cNvPr>
          <p:cNvSpPr>
            <a:spLocks noChangeAspect="1"/>
          </p:cNvSpPr>
          <p:nvPr/>
        </p:nvSpPr>
        <p:spPr>
          <a:xfrm>
            <a:off x="8729028" y="4732020"/>
            <a:ext cx="387540" cy="384048"/>
          </a:xfrm>
          <a:prstGeom prst="ellipse">
            <a:avLst/>
          </a:prstGeom>
          <a:solidFill>
            <a:srgbClr val="007DD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fr-FR" dirty="0">
                <a:solidFill>
                  <a:schemeClr val="bg1"/>
                </a:solidFill>
                <a:latin typeface="Lora" charset="0"/>
                <a:ea typeface="Lora" charset="0"/>
                <a:cs typeface="Lora" charset="0"/>
              </a:rPr>
              <a:t>6</a:t>
            </a:r>
          </a:p>
        </p:txBody>
      </p:sp>
    </p:spTree>
    <p:extLst>
      <p:ext uri="{BB962C8B-B14F-4D97-AF65-F5344CB8AC3E}">
        <p14:creationId xmlns:p14="http://schemas.microsoft.com/office/powerpoint/2010/main" val="95878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DDAE39-19F0-0FA7-C59F-FF96F9F4989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DD9836-240B-5B8B-890E-1E60D21F175A}"/>
              </a:ext>
            </a:extLst>
          </p:cNvPr>
          <p:cNvSpPr>
            <a:spLocks noGrp="1"/>
          </p:cNvSpPr>
          <p:nvPr>
            <p:ph type="title"/>
          </p:nvPr>
        </p:nvSpPr>
        <p:spPr>
          <a:xfrm>
            <a:off x="1381250" y="776364"/>
            <a:ext cx="7111240" cy="698868"/>
          </a:xfrm>
        </p:spPr>
        <p:txBody>
          <a:bodyPr/>
          <a:lstStyle/>
          <a:p>
            <a:pPr>
              <a:buClr>
                <a:srgbClr val="007DD6"/>
              </a:buClr>
            </a:pPr>
            <a:r>
              <a:rPr lang="fr-FR" dirty="0">
                <a:latin typeface="Lora" charset="0"/>
                <a:ea typeface="Lora" charset="0"/>
                <a:cs typeface="Lora" charset="0"/>
              </a:rPr>
              <a:t>Les différents mécanismes de résistance</a:t>
            </a:r>
          </a:p>
        </p:txBody>
      </p:sp>
      <p:sp>
        <p:nvSpPr>
          <p:cNvPr id="3" name="Text Placeholder 2">
            <a:extLst>
              <a:ext uri="{FF2B5EF4-FFF2-40B4-BE49-F238E27FC236}">
                <a16:creationId xmlns:a16="http://schemas.microsoft.com/office/drawing/2014/main" id="{7D6AC1AF-FA4C-6F6D-C206-4623FE7E4E8D}"/>
              </a:ext>
            </a:extLst>
          </p:cNvPr>
          <p:cNvSpPr>
            <a:spLocks noGrp="1"/>
          </p:cNvSpPr>
          <p:nvPr>
            <p:ph type="body" idx="1"/>
          </p:nvPr>
        </p:nvSpPr>
        <p:spPr>
          <a:xfrm>
            <a:off x="292608" y="1463040"/>
            <a:ext cx="8542388" cy="3340608"/>
          </a:xfrm>
        </p:spPr>
        <p:txBody>
          <a:bodyPr/>
          <a:lstStyle/>
          <a:p>
            <a:pPr marL="285750" indent="-285750">
              <a:buClr>
                <a:srgbClr val="007DD6"/>
              </a:buClr>
              <a:buFont typeface="Arial" panose="020B0604020202020204" pitchFamily="34" charset="0"/>
              <a:buChar char="•"/>
            </a:pPr>
            <a:r>
              <a:rPr lang="fr-FR" sz="1800" b="1" dirty="0">
                <a:solidFill>
                  <a:srgbClr val="0069D9"/>
                </a:solidFill>
                <a:latin typeface="Lora" charset="0"/>
                <a:ea typeface="Lora" charset="0"/>
                <a:cs typeface="Lora" charset="0"/>
              </a:rPr>
              <a:t>Inactivation enzymatique par addition d’un groupement chimique:- suite-</a:t>
            </a:r>
          </a:p>
          <a:p>
            <a:pPr marL="285750" indent="-285750">
              <a:buClr>
                <a:srgbClr val="007DD6"/>
              </a:buClr>
              <a:buFont typeface="Arial" panose="020B0604020202020204" pitchFamily="34" charset="0"/>
              <a:buChar char="•"/>
            </a:pPr>
            <a:r>
              <a:rPr lang="fr-FR" sz="1800" dirty="0">
                <a:latin typeface="Lora" charset="0"/>
                <a:ea typeface="Lora" charset="0"/>
                <a:cs typeface="Lora" charset="0"/>
              </a:rPr>
              <a:t>La résistance aux aminosides est largement médiée par ce type d’enzymes.</a:t>
            </a:r>
            <a:endParaRPr lang="fr-FR" sz="1800" dirty="0">
              <a:solidFill>
                <a:schemeClr val="tx1"/>
              </a:solidFill>
              <a:latin typeface="Lora" charset="0"/>
              <a:ea typeface="Lora" charset="0"/>
              <a:cs typeface="Lora" charset="0"/>
            </a:endParaRPr>
          </a:p>
          <a:p>
            <a:pPr marL="285750" indent="-285750">
              <a:buClr>
                <a:srgbClr val="007DD6"/>
              </a:buClr>
              <a:buFont typeface="Arial" panose="020B0604020202020204" pitchFamily="34" charset="0"/>
              <a:buChar char="•"/>
            </a:pPr>
            <a:r>
              <a:rPr lang="fr-FR" sz="1800" dirty="0">
                <a:solidFill>
                  <a:schemeClr val="tx1"/>
                </a:solidFill>
                <a:latin typeface="Lora" charset="0"/>
                <a:ea typeface="Lora" charset="0"/>
                <a:cs typeface="Lora" charset="0"/>
              </a:rPr>
              <a:t>La modification structurelle des aminosides empêche leur fixation à la sous-unité ribosomale 30S. Il existe trois types d’enzymes : les O-phosphotransférases (APH), les </a:t>
            </a:r>
            <a:r>
              <a:rPr lang="fr-FR" sz="1800" dirty="0" err="1">
                <a:solidFill>
                  <a:schemeClr val="tx1"/>
                </a:solidFill>
                <a:latin typeface="Lora" charset="0"/>
                <a:ea typeface="Lora" charset="0"/>
                <a:cs typeface="Lora" charset="0"/>
              </a:rPr>
              <a:t>Onucléotidyltransférases</a:t>
            </a:r>
            <a:r>
              <a:rPr lang="fr-FR" sz="1800" dirty="0">
                <a:solidFill>
                  <a:schemeClr val="tx1"/>
                </a:solidFill>
                <a:latin typeface="Lora" charset="0"/>
                <a:ea typeface="Lora" charset="0"/>
                <a:cs typeface="Lora" charset="0"/>
              </a:rPr>
              <a:t> (ANT) et les N-acétyltransférases (AAC). Chacune de ces enzymes cible des éléments chimiques différents. Une enzyme peut modifier un aminoside à un site précis qui peut être absent sur un autre aminoside qui va conserver son activité.</a:t>
            </a:r>
          </a:p>
        </p:txBody>
      </p:sp>
      <p:sp>
        <p:nvSpPr>
          <p:cNvPr id="10" name="Oval 9">
            <a:extLst>
              <a:ext uri="{FF2B5EF4-FFF2-40B4-BE49-F238E27FC236}">
                <a16:creationId xmlns:a16="http://schemas.microsoft.com/office/drawing/2014/main" id="{5804AD76-D7B0-3502-322C-38DB5D95FE9C}"/>
              </a:ext>
            </a:extLst>
          </p:cNvPr>
          <p:cNvSpPr>
            <a:spLocks noChangeAspect="1"/>
          </p:cNvSpPr>
          <p:nvPr/>
        </p:nvSpPr>
        <p:spPr>
          <a:xfrm>
            <a:off x="8729028" y="4732020"/>
            <a:ext cx="387540" cy="384048"/>
          </a:xfrm>
          <a:prstGeom prst="ellipse">
            <a:avLst/>
          </a:prstGeom>
          <a:solidFill>
            <a:srgbClr val="007DD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fr-FR" dirty="0">
                <a:solidFill>
                  <a:schemeClr val="bg1"/>
                </a:solidFill>
                <a:latin typeface="Lora" charset="0"/>
                <a:ea typeface="Lora" charset="0"/>
                <a:cs typeface="Lora" charset="0"/>
              </a:rPr>
              <a:t>6</a:t>
            </a:r>
          </a:p>
        </p:txBody>
      </p:sp>
    </p:spTree>
    <p:extLst>
      <p:ext uri="{BB962C8B-B14F-4D97-AF65-F5344CB8AC3E}">
        <p14:creationId xmlns:p14="http://schemas.microsoft.com/office/powerpoint/2010/main" val="13985629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82E1E5-CCFB-04F9-EBB6-C6C92F3414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C71F62A-E30E-FF2C-94BE-6405194AEA2D}"/>
              </a:ext>
            </a:extLst>
          </p:cNvPr>
          <p:cNvSpPr>
            <a:spLocks noGrp="1"/>
          </p:cNvSpPr>
          <p:nvPr>
            <p:ph type="title"/>
          </p:nvPr>
        </p:nvSpPr>
        <p:spPr>
          <a:xfrm>
            <a:off x="1381250" y="776364"/>
            <a:ext cx="7111240" cy="698868"/>
          </a:xfrm>
        </p:spPr>
        <p:txBody>
          <a:bodyPr/>
          <a:lstStyle/>
          <a:p>
            <a:pPr>
              <a:buClr>
                <a:srgbClr val="007DD6"/>
              </a:buClr>
            </a:pPr>
            <a:r>
              <a:rPr lang="fr-FR" dirty="0">
                <a:latin typeface="Lora" charset="0"/>
                <a:ea typeface="Lora" charset="0"/>
                <a:cs typeface="Lora" charset="0"/>
              </a:rPr>
              <a:t>Les différents mécanismes de résistance</a:t>
            </a:r>
          </a:p>
        </p:txBody>
      </p:sp>
      <p:sp>
        <p:nvSpPr>
          <p:cNvPr id="3" name="Text Placeholder 2">
            <a:extLst>
              <a:ext uri="{FF2B5EF4-FFF2-40B4-BE49-F238E27FC236}">
                <a16:creationId xmlns:a16="http://schemas.microsoft.com/office/drawing/2014/main" id="{3CBF5F6B-F8E7-ABAA-07EF-BE54DB755707}"/>
              </a:ext>
            </a:extLst>
          </p:cNvPr>
          <p:cNvSpPr>
            <a:spLocks noGrp="1"/>
          </p:cNvSpPr>
          <p:nvPr>
            <p:ph type="body" idx="1"/>
          </p:nvPr>
        </p:nvSpPr>
        <p:spPr>
          <a:xfrm>
            <a:off x="292608" y="1463040"/>
            <a:ext cx="8199882" cy="3340608"/>
          </a:xfrm>
        </p:spPr>
        <p:txBody>
          <a:bodyPr/>
          <a:lstStyle/>
          <a:p>
            <a:pPr>
              <a:buClr>
                <a:srgbClr val="007DD6"/>
              </a:buClr>
              <a:buNone/>
            </a:pPr>
            <a:r>
              <a:rPr lang="fr-FR" sz="1800" b="1" dirty="0">
                <a:solidFill>
                  <a:srgbClr val="0069D9"/>
                </a:solidFill>
                <a:latin typeface="Lora" charset="0"/>
                <a:ea typeface="Lora" charset="0"/>
                <a:cs typeface="Lora" charset="0"/>
              </a:rPr>
              <a:t>  2. Modification de la cible:</a:t>
            </a:r>
          </a:p>
          <a:p>
            <a:pPr marL="285750" indent="-285750">
              <a:buClr>
                <a:srgbClr val="007DD6"/>
              </a:buClr>
              <a:buFont typeface="Arial" panose="020B0604020202020204" pitchFamily="34" charset="0"/>
              <a:buChar char="•"/>
            </a:pPr>
            <a:r>
              <a:rPr lang="fr-FR" sz="1800" dirty="0">
                <a:solidFill>
                  <a:schemeClr val="tx1"/>
                </a:solidFill>
                <a:latin typeface="Lora" charset="0"/>
                <a:ea typeface="Lora" charset="0"/>
                <a:cs typeface="Lora" charset="0"/>
              </a:rPr>
              <a:t>L’effet d’un antibiotique est conditionné par sa capacité à se lier à sa cible. Lorsque celle-ci est modifiée, l’antibiotique devient incapable de s’y fixer par diminution d’affinité. </a:t>
            </a:r>
          </a:p>
          <a:p>
            <a:pPr marL="285750" indent="-285750">
              <a:buClr>
                <a:srgbClr val="007DD6"/>
              </a:buClr>
              <a:buFont typeface="Arial" panose="020B0604020202020204" pitchFamily="34" charset="0"/>
              <a:buChar char="•"/>
            </a:pPr>
            <a:r>
              <a:rPr lang="fr-FR" sz="1800" dirty="0">
                <a:solidFill>
                  <a:schemeClr val="tx1"/>
                </a:solidFill>
                <a:latin typeface="Lora" charset="0"/>
                <a:ea typeface="Lora" charset="0"/>
                <a:cs typeface="Lora" charset="0"/>
              </a:rPr>
              <a:t>La mutation des gènes chromosomiques qui codent pour les cibles des antibiotiques est un mécanisme fréquent qui concerne diverses classes d’antibiotiques (pénicillines, quinolones, macrolides, </a:t>
            </a:r>
            <a:r>
              <a:rPr lang="fr-FR" sz="1800" dirty="0" err="1">
                <a:solidFill>
                  <a:schemeClr val="tx1"/>
                </a:solidFill>
                <a:latin typeface="Lora" charset="0"/>
                <a:ea typeface="Lora" charset="0"/>
                <a:cs typeface="Lora" charset="0"/>
              </a:rPr>
              <a:t>oxazolidinones</a:t>
            </a:r>
            <a:r>
              <a:rPr lang="fr-FR" sz="1800" dirty="0">
                <a:solidFill>
                  <a:schemeClr val="tx1"/>
                </a:solidFill>
                <a:latin typeface="Lora" charset="0"/>
                <a:ea typeface="Lora" charset="0"/>
                <a:cs typeface="Lora" charset="0"/>
              </a:rPr>
              <a:t>).</a:t>
            </a:r>
          </a:p>
          <a:p>
            <a:pPr marL="285750" indent="-285750">
              <a:buClr>
                <a:srgbClr val="007DD6"/>
              </a:buClr>
              <a:buFont typeface="Arial" panose="020B0604020202020204" pitchFamily="34" charset="0"/>
              <a:buChar char="•"/>
            </a:pPr>
            <a:r>
              <a:rPr lang="fr-FR" sz="1800" dirty="0" err="1">
                <a:solidFill>
                  <a:schemeClr val="tx1"/>
                </a:solidFill>
                <a:latin typeface="Lora" charset="0"/>
                <a:ea typeface="Lora" charset="0"/>
                <a:cs typeface="Lora" charset="0"/>
              </a:rPr>
              <a:t>Exp</a:t>
            </a:r>
            <a:r>
              <a:rPr lang="fr-FR" sz="1800" dirty="0">
                <a:solidFill>
                  <a:schemeClr val="tx1"/>
                </a:solidFill>
                <a:latin typeface="Lora" charset="0"/>
                <a:ea typeface="Lora" charset="0"/>
                <a:cs typeface="Lora" charset="0"/>
              </a:rPr>
              <a:t> : La résistance aux quinolones survient principalement par mutations des gènes </a:t>
            </a:r>
            <a:r>
              <a:rPr lang="fr-FR" sz="1800" dirty="0" err="1">
                <a:solidFill>
                  <a:schemeClr val="tx1"/>
                </a:solidFill>
                <a:latin typeface="Lora" charset="0"/>
                <a:ea typeface="Lora" charset="0"/>
                <a:cs typeface="Lora" charset="0"/>
              </a:rPr>
              <a:t>gyrA</a:t>
            </a:r>
            <a:r>
              <a:rPr lang="fr-FR" sz="1800" dirty="0">
                <a:solidFill>
                  <a:schemeClr val="tx1"/>
                </a:solidFill>
                <a:latin typeface="Lora" charset="0"/>
                <a:ea typeface="Lora" charset="0"/>
                <a:cs typeface="Lora" charset="0"/>
              </a:rPr>
              <a:t>, </a:t>
            </a:r>
            <a:r>
              <a:rPr lang="fr-FR" sz="1800" dirty="0" err="1">
                <a:solidFill>
                  <a:schemeClr val="tx1"/>
                </a:solidFill>
                <a:latin typeface="Lora" charset="0"/>
                <a:ea typeface="Lora" charset="0"/>
                <a:cs typeface="Lora" charset="0"/>
              </a:rPr>
              <a:t>gyrB</a:t>
            </a:r>
            <a:r>
              <a:rPr lang="fr-FR" sz="1800" dirty="0">
                <a:solidFill>
                  <a:schemeClr val="tx1"/>
                </a:solidFill>
                <a:latin typeface="Lora" charset="0"/>
                <a:ea typeface="Lora" charset="0"/>
                <a:cs typeface="Lora" charset="0"/>
              </a:rPr>
              <a:t>, </a:t>
            </a:r>
            <a:r>
              <a:rPr lang="fr-FR" sz="1800" dirty="0" err="1">
                <a:solidFill>
                  <a:schemeClr val="tx1"/>
                </a:solidFill>
                <a:latin typeface="Lora" charset="0"/>
                <a:ea typeface="Lora" charset="0"/>
                <a:cs typeface="Lora" charset="0"/>
              </a:rPr>
              <a:t>parC</a:t>
            </a:r>
            <a:r>
              <a:rPr lang="fr-FR" sz="1800" dirty="0">
                <a:solidFill>
                  <a:schemeClr val="tx1"/>
                </a:solidFill>
                <a:latin typeface="Lora" charset="0"/>
                <a:ea typeface="Lora" charset="0"/>
                <a:cs typeface="Lora" charset="0"/>
              </a:rPr>
              <a:t> et </a:t>
            </a:r>
            <a:r>
              <a:rPr lang="fr-FR" sz="1800" dirty="0" err="1">
                <a:solidFill>
                  <a:schemeClr val="tx1"/>
                </a:solidFill>
                <a:latin typeface="Lora" charset="0"/>
                <a:ea typeface="Lora" charset="0"/>
                <a:cs typeface="Lora" charset="0"/>
              </a:rPr>
              <a:t>parE</a:t>
            </a:r>
            <a:r>
              <a:rPr lang="fr-FR" sz="1800" dirty="0">
                <a:solidFill>
                  <a:schemeClr val="tx1"/>
                </a:solidFill>
                <a:latin typeface="Lora" charset="0"/>
                <a:ea typeface="Lora" charset="0"/>
                <a:cs typeface="Lora" charset="0"/>
              </a:rPr>
              <a:t> qui codent pour les sous-unités des </a:t>
            </a:r>
            <a:r>
              <a:rPr lang="fr-FR" sz="1800" dirty="0" err="1">
                <a:solidFill>
                  <a:schemeClr val="tx1"/>
                </a:solidFill>
                <a:latin typeface="Lora" charset="0"/>
                <a:ea typeface="Lora" charset="0"/>
                <a:cs typeface="Lora" charset="0"/>
              </a:rPr>
              <a:t>topo-isomérases</a:t>
            </a:r>
            <a:r>
              <a:rPr lang="fr-FR" sz="1800" dirty="0">
                <a:solidFill>
                  <a:schemeClr val="tx1"/>
                </a:solidFill>
                <a:latin typeface="Lora" charset="0"/>
                <a:ea typeface="Lora" charset="0"/>
                <a:cs typeface="Lora" charset="0"/>
              </a:rPr>
              <a:t>, cibles des quinolones.</a:t>
            </a:r>
          </a:p>
          <a:p>
            <a:pPr marL="285750" indent="-285750">
              <a:buClr>
                <a:srgbClr val="007DD6"/>
              </a:buClr>
              <a:buFont typeface="Arial" panose="020B0604020202020204" pitchFamily="34" charset="0"/>
              <a:buChar char="•"/>
            </a:pPr>
            <a:endParaRPr lang="fr-FR" sz="1800" dirty="0">
              <a:solidFill>
                <a:schemeClr val="tx1"/>
              </a:solidFill>
              <a:latin typeface="Lora" charset="0"/>
              <a:ea typeface="Lora" charset="0"/>
              <a:cs typeface="Lora" charset="0"/>
            </a:endParaRPr>
          </a:p>
        </p:txBody>
      </p:sp>
      <p:sp>
        <p:nvSpPr>
          <p:cNvPr id="10" name="Oval 9">
            <a:extLst>
              <a:ext uri="{FF2B5EF4-FFF2-40B4-BE49-F238E27FC236}">
                <a16:creationId xmlns:a16="http://schemas.microsoft.com/office/drawing/2014/main" id="{07CD62A2-F00B-0330-B003-1E7478F4C85E}"/>
              </a:ext>
            </a:extLst>
          </p:cNvPr>
          <p:cNvSpPr>
            <a:spLocks noChangeAspect="1"/>
          </p:cNvSpPr>
          <p:nvPr/>
        </p:nvSpPr>
        <p:spPr>
          <a:xfrm>
            <a:off x="8729028" y="4732020"/>
            <a:ext cx="387540" cy="384048"/>
          </a:xfrm>
          <a:prstGeom prst="ellipse">
            <a:avLst/>
          </a:prstGeom>
          <a:solidFill>
            <a:srgbClr val="007DD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fr-FR" dirty="0">
                <a:solidFill>
                  <a:schemeClr val="bg1"/>
                </a:solidFill>
                <a:latin typeface="Lora" charset="0"/>
                <a:ea typeface="Lora" charset="0"/>
                <a:cs typeface="Lora" charset="0"/>
              </a:rPr>
              <a:t>6</a:t>
            </a:r>
          </a:p>
        </p:txBody>
      </p:sp>
    </p:spTree>
    <p:extLst>
      <p:ext uri="{BB962C8B-B14F-4D97-AF65-F5344CB8AC3E}">
        <p14:creationId xmlns:p14="http://schemas.microsoft.com/office/powerpoint/2010/main" val="37261647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childTnLst>
                                </p:cTn>
                              </p:par>
                              <p:par>
                                <p:cTn id="12" presetID="1" presetClass="entr" presetSubtype="0" fill="hold" nodeType="withEffect">
                                  <p:stCondLst>
                                    <p:cond delay="0"/>
                                  </p:stCondLst>
                                  <p:childTnLst>
                                    <p:set>
                                      <p:cBhvr>
                                        <p:cTn id="13" dur="1" fill="hold">
                                          <p:stCondLst>
                                            <p:cond delay="0"/>
                                          </p:stCondLst>
                                        </p:cTn>
                                        <p:tgtEl>
                                          <p:spTgt spid="3">
                                            <p:txEl>
                                              <p:pRg st="2" end="2"/>
                                            </p:txEl>
                                          </p:spTgt>
                                        </p:tgtEl>
                                        <p:attrNameLst>
                                          <p:attrName>style.visibility</p:attrName>
                                        </p:attrNameLst>
                                      </p:cBhvr>
                                      <p:to>
                                        <p:strVal val="visible"/>
                                      </p:to>
                                    </p:set>
                                  </p:childTnLst>
                                </p:cTn>
                              </p:par>
                              <p:par>
                                <p:cTn id="14" presetID="1" presetClass="entr" presetSubtype="0" fill="hold"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8F699B-7B28-E1BD-B8A4-CEED1E179F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8D41C9-C1C7-4202-BAAF-97C19AB70F1D}"/>
              </a:ext>
            </a:extLst>
          </p:cNvPr>
          <p:cNvSpPr>
            <a:spLocks noGrp="1"/>
          </p:cNvSpPr>
          <p:nvPr>
            <p:ph type="title"/>
          </p:nvPr>
        </p:nvSpPr>
        <p:spPr>
          <a:xfrm>
            <a:off x="1381250" y="776364"/>
            <a:ext cx="7111240" cy="698868"/>
          </a:xfrm>
        </p:spPr>
        <p:txBody>
          <a:bodyPr/>
          <a:lstStyle/>
          <a:p>
            <a:pPr>
              <a:buClr>
                <a:srgbClr val="007DD6"/>
              </a:buClr>
            </a:pPr>
            <a:r>
              <a:rPr lang="fr-FR" dirty="0">
                <a:latin typeface="Lora" charset="0"/>
                <a:ea typeface="Lora" charset="0"/>
                <a:cs typeface="Lora" charset="0"/>
              </a:rPr>
              <a:t>Les différents mécanismes de résistance</a:t>
            </a:r>
          </a:p>
        </p:txBody>
      </p:sp>
      <p:sp>
        <p:nvSpPr>
          <p:cNvPr id="3" name="Text Placeholder 2">
            <a:extLst>
              <a:ext uri="{FF2B5EF4-FFF2-40B4-BE49-F238E27FC236}">
                <a16:creationId xmlns:a16="http://schemas.microsoft.com/office/drawing/2014/main" id="{A3F9AB57-CF26-355C-8E33-E9F56C371814}"/>
              </a:ext>
            </a:extLst>
          </p:cNvPr>
          <p:cNvSpPr>
            <a:spLocks noGrp="1"/>
          </p:cNvSpPr>
          <p:nvPr>
            <p:ph type="body" idx="1"/>
          </p:nvPr>
        </p:nvSpPr>
        <p:spPr>
          <a:xfrm>
            <a:off x="292608" y="1463040"/>
            <a:ext cx="8199882" cy="3340608"/>
          </a:xfrm>
        </p:spPr>
        <p:txBody>
          <a:bodyPr/>
          <a:lstStyle/>
          <a:p>
            <a:pPr>
              <a:buClr>
                <a:srgbClr val="007DD6"/>
              </a:buClr>
              <a:buNone/>
            </a:pPr>
            <a:r>
              <a:rPr lang="fr-FR" sz="1800" b="1" dirty="0">
                <a:solidFill>
                  <a:srgbClr val="0069D9"/>
                </a:solidFill>
                <a:latin typeface="Lora" charset="0"/>
                <a:ea typeface="Lora" charset="0"/>
                <a:cs typeface="Lora" charset="0"/>
              </a:rPr>
              <a:t>  2. Modification de la cible - suite- : </a:t>
            </a:r>
          </a:p>
          <a:p>
            <a:pPr marL="285750" indent="-285750">
              <a:buClr>
                <a:srgbClr val="007DD6"/>
              </a:buClr>
              <a:buFont typeface="Arial" panose="020B0604020202020204" pitchFamily="34" charset="0"/>
              <a:buChar char="•"/>
            </a:pPr>
            <a:r>
              <a:rPr lang="fr-FR" sz="1800" dirty="0">
                <a:solidFill>
                  <a:schemeClr val="tx1"/>
                </a:solidFill>
                <a:latin typeface="Lora" charset="0"/>
                <a:ea typeface="Lora" charset="0"/>
                <a:cs typeface="Lora" charset="0"/>
              </a:rPr>
              <a:t>Un enzyme peut entraîner une modification conformationnelle de la cible par adjonction d’un groupement chimique. La cible modifiée devient alors insensible à l’antibiotique qui ne peut s’y fixer et exercer son action. La résistance aux macrolides survient souvent par ce mécanisme où des méthyltransférases catalysent l’adjonction d’un radical méthyl sur l’ARN ribosomal 23S.</a:t>
            </a:r>
          </a:p>
        </p:txBody>
      </p:sp>
      <p:sp>
        <p:nvSpPr>
          <p:cNvPr id="10" name="Oval 9">
            <a:extLst>
              <a:ext uri="{FF2B5EF4-FFF2-40B4-BE49-F238E27FC236}">
                <a16:creationId xmlns:a16="http://schemas.microsoft.com/office/drawing/2014/main" id="{D7EAAC83-63D9-B42D-94AD-A124C01C3B98}"/>
              </a:ext>
            </a:extLst>
          </p:cNvPr>
          <p:cNvSpPr>
            <a:spLocks noChangeAspect="1"/>
          </p:cNvSpPr>
          <p:nvPr/>
        </p:nvSpPr>
        <p:spPr>
          <a:xfrm>
            <a:off x="8729028" y="4732020"/>
            <a:ext cx="387540" cy="384048"/>
          </a:xfrm>
          <a:prstGeom prst="ellipse">
            <a:avLst/>
          </a:prstGeom>
          <a:solidFill>
            <a:srgbClr val="007DD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fr-FR" dirty="0">
                <a:solidFill>
                  <a:schemeClr val="bg1"/>
                </a:solidFill>
                <a:latin typeface="Lora" charset="0"/>
                <a:ea typeface="Lora" charset="0"/>
                <a:cs typeface="Lora" charset="0"/>
              </a:rPr>
              <a:t>6</a:t>
            </a:r>
          </a:p>
        </p:txBody>
      </p:sp>
    </p:spTree>
    <p:extLst>
      <p:ext uri="{BB962C8B-B14F-4D97-AF65-F5344CB8AC3E}">
        <p14:creationId xmlns:p14="http://schemas.microsoft.com/office/powerpoint/2010/main" val="28284829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EC6B23-0553-90FF-35CA-C815CF6E5D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17BD01-0035-86D0-90BB-375EE533F4F6}"/>
              </a:ext>
            </a:extLst>
          </p:cNvPr>
          <p:cNvSpPr>
            <a:spLocks noGrp="1"/>
          </p:cNvSpPr>
          <p:nvPr>
            <p:ph type="title"/>
          </p:nvPr>
        </p:nvSpPr>
        <p:spPr>
          <a:xfrm>
            <a:off x="1381250" y="776364"/>
            <a:ext cx="7111240" cy="698868"/>
          </a:xfrm>
        </p:spPr>
        <p:txBody>
          <a:bodyPr/>
          <a:lstStyle/>
          <a:p>
            <a:pPr>
              <a:buClr>
                <a:srgbClr val="007DD6"/>
              </a:buClr>
            </a:pPr>
            <a:r>
              <a:rPr lang="fr-FR" dirty="0">
                <a:latin typeface="Lora" charset="0"/>
                <a:ea typeface="Lora" charset="0"/>
                <a:cs typeface="Lora" charset="0"/>
              </a:rPr>
              <a:t>Les différents mécanismes de résistance</a:t>
            </a:r>
          </a:p>
        </p:txBody>
      </p:sp>
      <p:sp>
        <p:nvSpPr>
          <p:cNvPr id="3" name="Text Placeholder 2">
            <a:extLst>
              <a:ext uri="{FF2B5EF4-FFF2-40B4-BE49-F238E27FC236}">
                <a16:creationId xmlns:a16="http://schemas.microsoft.com/office/drawing/2014/main" id="{BCAB3558-2D6D-5998-7DAE-664A106B6CFA}"/>
              </a:ext>
            </a:extLst>
          </p:cNvPr>
          <p:cNvSpPr>
            <a:spLocks noGrp="1"/>
          </p:cNvSpPr>
          <p:nvPr>
            <p:ph type="body" idx="1"/>
          </p:nvPr>
        </p:nvSpPr>
        <p:spPr>
          <a:xfrm>
            <a:off x="292608" y="1463040"/>
            <a:ext cx="8199882" cy="3340608"/>
          </a:xfrm>
        </p:spPr>
        <p:txBody>
          <a:bodyPr/>
          <a:lstStyle/>
          <a:p>
            <a:pPr>
              <a:buClr>
                <a:srgbClr val="007DD6"/>
              </a:buClr>
              <a:buNone/>
            </a:pPr>
            <a:r>
              <a:rPr lang="fr-FR" sz="1800" b="1" dirty="0">
                <a:solidFill>
                  <a:srgbClr val="0069D9"/>
                </a:solidFill>
                <a:latin typeface="Lora" charset="0"/>
                <a:ea typeface="Lora" charset="0"/>
                <a:cs typeface="Lora" charset="0"/>
              </a:rPr>
              <a:t>  2. Modification de la cible - suite- : </a:t>
            </a:r>
          </a:p>
          <a:p>
            <a:pPr marL="285750" indent="-285750">
              <a:buClr>
                <a:srgbClr val="007DD6"/>
              </a:buClr>
              <a:buFont typeface="Arial" panose="020B0604020202020204" pitchFamily="34" charset="0"/>
              <a:buChar char="•"/>
            </a:pPr>
            <a:r>
              <a:rPr lang="fr-FR" sz="1800" dirty="0">
                <a:solidFill>
                  <a:schemeClr val="tx1"/>
                </a:solidFill>
                <a:latin typeface="Lora" charset="0"/>
                <a:ea typeface="Lora" charset="0"/>
                <a:cs typeface="Lora" charset="0"/>
              </a:rPr>
              <a:t>L’acquisition d’un gène de résistance peut conduire au remplacement de la cible d’un antibiotique. La protéine encodée par le gène de résistance est insensible à l’antibiotique, mais tout aussi fonctionnelle au niveau physiologique. Un des exemples bien établis est la résistance à la méticilline chez S. aureus. Comme chez les autres bactéries, les </a:t>
            </a:r>
            <a:r>
              <a:rPr lang="el-GR" sz="1800" dirty="0">
                <a:solidFill>
                  <a:schemeClr val="tx1"/>
                </a:solidFill>
                <a:latin typeface="Times New Roman" panose="02020603050405020304" pitchFamily="18" charset="0"/>
                <a:ea typeface="Lora" charset="0"/>
                <a:cs typeface="Times New Roman" panose="02020603050405020304" pitchFamily="18" charset="0"/>
              </a:rPr>
              <a:t>β</a:t>
            </a:r>
            <a:r>
              <a:rPr lang="fr-FR" sz="1800" dirty="0">
                <a:solidFill>
                  <a:schemeClr val="tx1"/>
                </a:solidFill>
                <a:latin typeface="Lora" charset="0"/>
                <a:ea typeface="Lora" charset="0"/>
                <a:cs typeface="Lora" charset="0"/>
              </a:rPr>
              <a:t>-lactamines (dont la méticilline) ciblent les PLP de S. aureus et altèrent la synthèse du peptidoglycane. Les staphylocoques peuvent acquérir des PLP exogènes de moindre affinité pour la méticilline dont la principale est la PLP2a codée par le gène </a:t>
            </a:r>
            <a:r>
              <a:rPr lang="fr-FR" sz="1800" dirty="0" err="1">
                <a:solidFill>
                  <a:schemeClr val="tx1"/>
                </a:solidFill>
                <a:latin typeface="Lora" charset="0"/>
                <a:ea typeface="Lora" charset="0"/>
                <a:cs typeface="Lora" charset="0"/>
              </a:rPr>
              <a:t>mecA</a:t>
            </a:r>
            <a:r>
              <a:rPr lang="fr-FR" sz="1800" dirty="0">
                <a:solidFill>
                  <a:schemeClr val="tx1"/>
                </a:solidFill>
                <a:latin typeface="Lora" charset="0"/>
                <a:ea typeface="Lora" charset="0"/>
                <a:cs typeface="Lora" charset="0"/>
              </a:rPr>
              <a:t>.</a:t>
            </a:r>
          </a:p>
        </p:txBody>
      </p:sp>
      <p:sp>
        <p:nvSpPr>
          <p:cNvPr id="10" name="Oval 9">
            <a:extLst>
              <a:ext uri="{FF2B5EF4-FFF2-40B4-BE49-F238E27FC236}">
                <a16:creationId xmlns:a16="http://schemas.microsoft.com/office/drawing/2014/main" id="{FD125CA1-26E6-63DC-CF31-D11CC12308C5}"/>
              </a:ext>
            </a:extLst>
          </p:cNvPr>
          <p:cNvSpPr>
            <a:spLocks noChangeAspect="1"/>
          </p:cNvSpPr>
          <p:nvPr/>
        </p:nvSpPr>
        <p:spPr>
          <a:xfrm>
            <a:off x="8729028" y="4732020"/>
            <a:ext cx="387540" cy="384048"/>
          </a:xfrm>
          <a:prstGeom prst="ellipse">
            <a:avLst/>
          </a:prstGeom>
          <a:solidFill>
            <a:srgbClr val="007DD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fr-FR" dirty="0">
                <a:solidFill>
                  <a:schemeClr val="bg1"/>
                </a:solidFill>
                <a:latin typeface="Lora" charset="0"/>
                <a:ea typeface="Lora" charset="0"/>
                <a:cs typeface="Lora" charset="0"/>
              </a:rPr>
              <a:t>6</a:t>
            </a:r>
          </a:p>
        </p:txBody>
      </p:sp>
    </p:spTree>
    <p:extLst>
      <p:ext uri="{BB962C8B-B14F-4D97-AF65-F5344CB8AC3E}">
        <p14:creationId xmlns:p14="http://schemas.microsoft.com/office/powerpoint/2010/main" val="19600884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296200-0C2E-3B7C-0C54-B0E95D39E8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2AF6A2A-FC72-25CE-A6DD-A2EA079283E8}"/>
              </a:ext>
            </a:extLst>
          </p:cNvPr>
          <p:cNvSpPr>
            <a:spLocks noGrp="1"/>
          </p:cNvSpPr>
          <p:nvPr>
            <p:ph type="title"/>
          </p:nvPr>
        </p:nvSpPr>
        <p:spPr>
          <a:xfrm>
            <a:off x="1381250" y="776364"/>
            <a:ext cx="7111240" cy="698868"/>
          </a:xfrm>
        </p:spPr>
        <p:txBody>
          <a:bodyPr/>
          <a:lstStyle/>
          <a:p>
            <a:pPr>
              <a:buClr>
                <a:srgbClr val="007DD6"/>
              </a:buClr>
            </a:pPr>
            <a:r>
              <a:rPr lang="fr-FR" dirty="0">
                <a:latin typeface="Lora" charset="0"/>
                <a:ea typeface="Lora" charset="0"/>
                <a:cs typeface="Lora" charset="0"/>
              </a:rPr>
              <a:t>Les différents mécanismes de résistance</a:t>
            </a:r>
          </a:p>
        </p:txBody>
      </p:sp>
      <p:sp>
        <p:nvSpPr>
          <p:cNvPr id="3" name="Text Placeholder 2">
            <a:extLst>
              <a:ext uri="{FF2B5EF4-FFF2-40B4-BE49-F238E27FC236}">
                <a16:creationId xmlns:a16="http://schemas.microsoft.com/office/drawing/2014/main" id="{502AC039-EE60-26B7-3DF2-BF2014CAC798}"/>
              </a:ext>
            </a:extLst>
          </p:cNvPr>
          <p:cNvSpPr>
            <a:spLocks noGrp="1"/>
          </p:cNvSpPr>
          <p:nvPr>
            <p:ph type="body" idx="1"/>
          </p:nvPr>
        </p:nvSpPr>
        <p:spPr>
          <a:xfrm>
            <a:off x="292608" y="1463040"/>
            <a:ext cx="8199882" cy="3340608"/>
          </a:xfrm>
        </p:spPr>
        <p:txBody>
          <a:bodyPr/>
          <a:lstStyle/>
          <a:p>
            <a:pPr>
              <a:buClr>
                <a:srgbClr val="007DD6"/>
              </a:buClr>
              <a:buNone/>
            </a:pPr>
            <a:r>
              <a:rPr lang="fr-FR" sz="1800" b="1" dirty="0">
                <a:solidFill>
                  <a:srgbClr val="0069D9"/>
                </a:solidFill>
                <a:latin typeface="Lora" charset="0"/>
                <a:ea typeface="Lora" charset="0"/>
                <a:cs typeface="Lora" charset="0"/>
              </a:rPr>
              <a:t>3. Efflux actif</a:t>
            </a:r>
          </a:p>
          <a:p>
            <a:pPr marL="285750" indent="-285750">
              <a:buClr>
                <a:srgbClr val="007DD6"/>
              </a:buClr>
              <a:buFont typeface="Arial" panose="020B0604020202020204" pitchFamily="34" charset="0"/>
              <a:buChar char="•"/>
            </a:pPr>
            <a:r>
              <a:rPr lang="fr-FR" sz="1800" dirty="0">
                <a:solidFill>
                  <a:schemeClr val="tx1"/>
                </a:solidFill>
                <a:latin typeface="Lora" charset="0"/>
                <a:ea typeface="Lora" charset="0"/>
                <a:cs typeface="Lora" charset="0"/>
              </a:rPr>
              <a:t>Un des mécanismes de résistance aux antibiotiques consiste à expulser la molécule dans le milieu extérieur pour diminuer sa concentration intracellulaire. Les protéines capables d’extruder les antibiotiques sont appelées « pompes d’efflux ».</a:t>
            </a:r>
          </a:p>
          <a:p>
            <a:pPr marL="285750" indent="-285750">
              <a:buClr>
                <a:srgbClr val="007DD6"/>
              </a:buClr>
              <a:buFont typeface="Arial" panose="020B0604020202020204" pitchFamily="34" charset="0"/>
              <a:buChar char="•"/>
            </a:pPr>
            <a:r>
              <a:rPr lang="fr-FR" sz="1800" dirty="0" err="1">
                <a:solidFill>
                  <a:schemeClr val="tx1"/>
                </a:solidFill>
                <a:latin typeface="Lora" charset="0"/>
                <a:ea typeface="Lora" charset="0"/>
                <a:cs typeface="Lora" charset="0"/>
              </a:rPr>
              <a:t>Exp</a:t>
            </a:r>
            <a:r>
              <a:rPr lang="fr-FR" sz="1800" dirty="0">
                <a:solidFill>
                  <a:schemeClr val="tx1"/>
                </a:solidFill>
                <a:latin typeface="Lora" charset="0"/>
                <a:ea typeface="Lora" charset="0"/>
                <a:cs typeface="Lora" charset="0"/>
              </a:rPr>
              <a:t> : le système </a:t>
            </a:r>
            <a:r>
              <a:rPr lang="fr-FR" sz="1800" dirty="0" err="1">
                <a:solidFill>
                  <a:schemeClr val="tx1"/>
                </a:solidFill>
                <a:latin typeface="Lora" charset="0"/>
                <a:ea typeface="Lora" charset="0"/>
                <a:cs typeface="Lora" charset="0"/>
              </a:rPr>
              <a:t>MexAB-OprM</a:t>
            </a:r>
            <a:r>
              <a:rPr lang="fr-FR" sz="1800" dirty="0">
                <a:solidFill>
                  <a:schemeClr val="tx1"/>
                </a:solidFill>
                <a:latin typeface="Lora" charset="0"/>
                <a:ea typeface="Lora" charset="0"/>
                <a:cs typeface="Lora" charset="0"/>
              </a:rPr>
              <a:t> de Pseudomonas </a:t>
            </a:r>
            <a:r>
              <a:rPr lang="fr-FR" sz="1800" dirty="0" err="1">
                <a:solidFill>
                  <a:schemeClr val="tx1"/>
                </a:solidFill>
                <a:latin typeface="Lora" charset="0"/>
                <a:ea typeface="Lora" charset="0"/>
                <a:cs typeface="Lora" charset="0"/>
              </a:rPr>
              <a:t>aeruginosa</a:t>
            </a:r>
            <a:r>
              <a:rPr lang="fr-FR" sz="1800" dirty="0">
                <a:solidFill>
                  <a:schemeClr val="tx1"/>
                </a:solidFill>
                <a:latin typeface="Lora" charset="0"/>
                <a:ea typeface="Lora" charset="0"/>
                <a:cs typeface="Lora" charset="0"/>
              </a:rPr>
              <a:t> qui confère une résistance croisée aux </a:t>
            </a:r>
            <a:r>
              <a:rPr lang="el-GR" sz="1800" dirty="0">
                <a:solidFill>
                  <a:schemeClr val="tx1"/>
                </a:solidFill>
                <a:latin typeface="Times New Roman" panose="02020603050405020304" pitchFamily="18" charset="0"/>
                <a:ea typeface="Lora" charset="0"/>
                <a:cs typeface="Times New Roman" panose="02020603050405020304" pitchFamily="18" charset="0"/>
              </a:rPr>
              <a:t>β</a:t>
            </a:r>
            <a:r>
              <a:rPr lang="fr-FR" sz="1800" dirty="0">
                <a:solidFill>
                  <a:schemeClr val="tx1"/>
                </a:solidFill>
                <a:latin typeface="Lora" charset="0"/>
                <a:ea typeface="Lora" charset="0"/>
                <a:cs typeface="Lora" charset="0"/>
              </a:rPr>
              <a:t>-lactamines (à l’exception de l’</a:t>
            </a:r>
            <a:r>
              <a:rPr lang="fr-FR" sz="1800" dirty="0" err="1">
                <a:solidFill>
                  <a:schemeClr val="tx1"/>
                </a:solidFill>
                <a:latin typeface="Lora" charset="0"/>
                <a:ea typeface="Lora" charset="0"/>
                <a:cs typeface="Lora" charset="0"/>
              </a:rPr>
              <a:t>imipénème</a:t>
            </a:r>
            <a:r>
              <a:rPr lang="fr-FR" sz="1800" dirty="0">
                <a:solidFill>
                  <a:schemeClr val="tx1"/>
                </a:solidFill>
                <a:latin typeface="Lora" charset="0"/>
                <a:ea typeface="Lora" charset="0"/>
                <a:cs typeface="Lora" charset="0"/>
              </a:rPr>
              <a:t>), aux aminosides, au chloramphénicol, aux tétracyclines et aux fluoroquinolones.</a:t>
            </a:r>
          </a:p>
        </p:txBody>
      </p:sp>
      <p:sp>
        <p:nvSpPr>
          <p:cNvPr id="10" name="Oval 9">
            <a:extLst>
              <a:ext uri="{FF2B5EF4-FFF2-40B4-BE49-F238E27FC236}">
                <a16:creationId xmlns:a16="http://schemas.microsoft.com/office/drawing/2014/main" id="{24458925-9495-9271-B58B-916E982A0000}"/>
              </a:ext>
            </a:extLst>
          </p:cNvPr>
          <p:cNvSpPr>
            <a:spLocks noChangeAspect="1"/>
          </p:cNvSpPr>
          <p:nvPr/>
        </p:nvSpPr>
        <p:spPr>
          <a:xfrm>
            <a:off x="8729028" y="4732020"/>
            <a:ext cx="387540" cy="384048"/>
          </a:xfrm>
          <a:prstGeom prst="ellipse">
            <a:avLst/>
          </a:prstGeom>
          <a:solidFill>
            <a:srgbClr val="007DD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fr-FR" dirty="0">
                <a:solidFill>
                  <a:schemeClr val="bg1"/>
                </a:solidFill>
                <a:latin typeface="Lora" charset="0"/>
                <a:ea typeface="Lora" charset="0"/>
                <a:cs typeface="Lora" charset="0"/>
              </a:rPr>
              <a:t>6</a:t>
            </a:r>
          </a:p>
        </p:txBody>
      </p:sp>
    </p:spTree>
    <p:extLst>
      <p:ext uri="{BB962C8B-B14F-4D97-AF65-F5344CB8AC3E}">
        <p14:creationId xmlns:p14="http://schemas.microsoft.com/office/powerpoint/2010/main" val="26637047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E5B9B2-E0BD-37B8-4532-1BC88312EF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B193A9A-1E70-1F77-B26E-55CCEEB9BE3D}"/>
              </a:ext>
            </a:extLst>
          </p:cNvPr>
          <p:cNvSpPr>
            <a:spLocks noGrp="1"/>
          </p:cNvSpPr>
          <p:nvPr>
            <p:ph type="title"/>
          </p:nvPr>
        </p:nvSpPr>
        <p:spPr>
          <a:xfrm>
            <a:off x="1381250" y="776364"/>
            <a:ext cx="7111240" cy="698868"/>
          </a:xfrm>
        </p:spPr>
        <p:txBody>
          <a:bodyPr/>
          <a:lstStyle/>
          <a:p>
            <a:pPr>
              <a:buClr>
                <a:srgbClr val="007DD6"/>
              </a:buClr>
            </a:pPr>
            <a:r>
              <a:rPr lang="fr-FR" dirty="0">
                <a:latin typeface="Lora" charset="0"/>
                <a:ea typeface="Lora" charset="0"/>
                <a:cs typeface="Lora" charset="0"/>
              </a:rPr>
              <a:t>Les différents mécanismes de résistance</a:t>
            </a:r>
          </a:p>
        </p:txBody>
      </p:sp>
      <p:sp>
        <p:nvSpPr>
          <p:cNvPr id="3" name="Text Placeholder 2">
            <a:extLst>
              <a:ext uri="{FF2B5EF4-FFF2-40B4-BE49-F238E27FC236}">
                <a16:creationId xmlns:a16="http://schemas.microsoft.com/office/drawing/2014/main" id="{79264EE6-AD5F-61E8-2646-CE6B7D06B6D6}"/>
              </a:ext>
            </a:extLst>
          </p:cNvPr>
          <p:cNvSpPr>
            <a:spLocks noGrp="1"/>
          </p:cNvSpPr>
          <p:nvPr>
            <p:ph type="body" idx="1"/>
          </p:nvPr>
        </p:nvSpPr>
        <p:spPr>
          <a:xfrm>
            <a:off x="121920" y="1267968"/>
            <a:ext cx="8802624" cy="3694176"/>
          </a:xfrm>
        </p:spPr>
        <p:txBody>
          <a:bodyPr/>
          <a:lstStyle/>
          <a:p>
            <a:pPr>
              <a:buClr>
                <a:srgbClr val="007DD6"/>
              </a:buClr>
              <a:buNone/>
            </a:pPr>
            <a:r>
              <a:rPr lang="fr-FR" sz="1800" b="1" dirty="0">
                <a:solidFill>
                  <a:srgbClr val="0069D9"/>
                </a:solidFill>
                <a:latin typeface="Lora" charset="0"/>
                <a:ea typeface="Lora" charset="0"/>
                <a:cs typeface="Lora" charset="0"/>
              </a:rPr>
              <a:t>4. Imperméabilité</a:t>
            </a:r>
          </a:p>
          <a:p>
            <a:pPr marL="285750" indent="-285750">
              <a:buClr>
                <a:srgbClr val="007DD6"/>
              </a:buClr>
              <a:buFont typeface="Arial" panose="020B0604020202020204" pitchFamily="34" charset="0"/>
              <a:buChar char="•"/>
            </a:pPr>
            <a:r>
              <a:rPr lang="fr-FR" sz="1800" dirty="0">
                <a:solidFill>
                  <a:schemeClr val="tx1"/>
                </a:solidFill>
                <a:latin typeface="Lora" charset="0"/>
                <a:ea typeface="Lora" charset="0"/>
                <a:cs typeface="Lora" charset="0"/>
              </a:rPr>
              <a:t>Souvent associée à l’efflux actif, l’imperméabilité induit une diminution de la concentration intracellulaire de l’antibiotique.</a:t>
            </a:r>
          </a:p>
          <a:p>
            <a:pPr marL="285750" indent="-285750">
              <a:buClr>
                <a:srgbClr val="007DD6"/>
              </a:buClr>
              <a:buFont typeface="Arial" panose="020B0604020202020204" pitchFamily="34" charset="0"/>
              <a:buChar char="•"/>
            </a:pPr>
            <a:r>
              <a:rPr lang="fr-FR" sz="1800" dirty="0">
                <a:solidFill>
                  <a:schemeClr val="tx1"/>
                </a:solidFill>
                <a:latin typeface="Lora" charset="0"/>
                <a:ea typeface="Lora" charset="0"/>
                <a:cs typeface="Lora" charset="0"/>
              </a:rPr>
              <a:t>De nombreux antibiotiques traversent la membrane externe des bacilles à Gram négatif par diffusion passive en traversant des porines. </a:t>
            </a:r>
          </a:p>
          <a:p>
            <a:pPr marL="285750" indent="-285750">
              <a:buClr>
                <a:srgbClr val="007DD6"/>
              </a:buClr>
              <a:buFont typeface="Arial" panose="020B0604020202020204" pitchFamily="34" charset="0"/>
              <a:buChar char="•"/>
            </a:pPr>
            <a:r>
              <a:rPr lang="fr-FR" sz="1800" dirty="0">
                <a:solidFill>
                  <a:schemeClr val="tx1"/>
                </a:solidFill>
                <a:latin typeface="Lora" charset="0"/>
                <a:ea typeface="Lora" charset="0"/>
                <a:cs typeface="Lora" charset="0"/>
              </a:rPr>
              <a:t>Les modifications qualitatives et/ou quantitatives de ces protéines impactent l’entrée de ces molécules et donc leur concentration périplasmique. </a:t>
            </a:r>
          </a:p>
          <a:p>
            <a:pPr marL="285750" indent="-285750">
              <a:buClr>
                <a:srgbClr val="007DD6"/>
              </a:buClr>
              <a:buFont typeface="Arial" panose="020B0604020202020204" pitchFamily="34" charset="0"/>
              <a:buChar char="•"/>
            </a:pPr>
            <a:r>
              <a:rPr lang="fr-FR" sz="1800" dirty="0">
                <a:solidFill>
                  <a:schemeClr val="tx1"/>
                </a:solidFill>
                <a:latin typeface="Lora" charset="0"/>
                <a:ea typeface="Lora" charset="0"/>
                <a:cs typeface="Lora" charset="0"/>
              </a:rPr>
              <a:t>Un des exemples bien établis est la résistance de P. </a:t>
            </a:r>
            <a:r>
              <a:rPr lang="fr-FR" sz="1800" dirty="0" err="1">
                <a:solidFill>
                  <a:schemeClr val="tx1"/>
                </a:solidFill>
                <a:latin typeface="Lora" charset="0"/>
                <a:ea typeface="Lora" charset="0"/>
                <a:cs typeface="Lora" charset="0"/>
              </a:rPr>
              <a:t>aeruginosa</a:t>
            </a:r>
            <a:r>
              <a:rPr lang="fr-FR" sz="1800" dirty="0">
                <a:solidFill>
                  <a:schemeClr val="tx1"/>
                </a:solidFill>
                <a:latin typeface="Lora" charset="0"/>
                <a:ea typeface="Lora" charset="0"/>
                <a:cs typeface="Lora" charset="0"/>
              </a:rPr>
              <a:t> aux carbapénèmes. En effet, les carbapénèmes traversent la membrane externe par l’intermédiaire de la porine </a:t>
            </a:r>
            <a:r>
              <a:rPr lang="fr-FR" sz="1800" dirty="0" err="1">
                <a:solidFill>
                  <a:schemeClr val="tx1"/>
                </a:solidFill>
                <a:latin typeface="Lora" charset="0"/>
                <a:ea typeface="Lora" charset="0"/>
                <a:cs typeface="Lora" charset="0"/>
              </a:rPr>
              <a:t>OprD</a:t>
            </a:r>
            <a:r>
              <a:rPr lang="fr-FR" sz="1800" dirty="0">
                <a:solidFill>
                  <a:schemeClr val="tx1"/>
                </a:solidFill>
                <a:latin typeface="Lora" charset="0"/>
                <a:ea typeface="Lora" charset="0"/>
                <a:cs typeface="Lora" charset="0"/>
              </a:rPr>
              <a:t>. L’altération ou la perte de cette porine prive les carbapénèmes de leur porte d’entrée et confère une résistance isolée à ces antibiotiques.</a:t>
            </a:r>
          </a:p>
        </p:txBody>
      </p:sp>
      <p:sp>
        <p:nvSpPr>
          <p:cNvPr id="10" name="Oval 9">
            <a:extLst>
              <a:ext uri="{FF2B5EF4-FFF2-40B4-BE49-F238E27FC236}">
                <a16:creationId xmlns:a16="http://schemas.microsoft.com/office/drawing/2014/main" id="{229664A0-9441-9CBB-7B90-57CAECAD4C15}"/>
              </a:ext>
            </a:extLst>
          </p:cNvPr>
          <p:cNvSpPr>
            <a:spLocks noChangeAspect="1"/>
          </p:cNvSpPr>
          <p:nvPr/>
        </p:nvSpPr>
        <p:spPr>
          <a:xfrm>
            <a:off x="8729028" y="4732020"/>
            <a:ext cx="387540" cy="384048"/>
          </a:xfrm>
          <a:prstGeom prst="ellipse">
            <a:avLst/>
          </a:prstGeom>
          <a:solidFill>
            <a:srgbClr val="007DD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fr-FR" dirty="0">
                <a:solidFill>
                  <a:schemeClr val="bg1"/>
                </a:solidFill>
                <a:latin typeface="Lora" charset="0"/>
                <a:ea typeface="Lora" charset="0"/>
                <a:cs typeface="Lora" charset="0"/>
              </a:rPr>
              <a:t>6</a:t>
            </a:r>
          </a:p>
        </p:txBody>
      </p:sp>
    </p:spTree>
    <p:extLst>
      <p:ext uri="{BB962C8B-B14F-4D97-AF65-F5344CB8AC3E}">
        <p14:creationId xmlns:p14="http://schemas.microsoft.com/office/powerpoint/2010/main" val="34255634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81250" y="776364"/>
            <a:ext cx="7111240" cy="698868"/>
          </a:xfrm>
        </p:spPr>
        <p:txBody>
          <a:bodyPr/>
          <a:lstStyle/>
          <a:p>
            <a:pPr>
              <a:buClr>
                <a:srgbClr val="007DD6"/>
              </a:buClr>
            </a:pPr>
            <a:r>
              <a:rPr lang="fr-FR" dirty="0">
                <a:latin typeface="Lora" charset="0"/>
                <a:ea typeface="Lora" charset="0"/>
                <a:cs typeface="Lora" charset="0"/>
              </a:rPr>
              <a:t>Les différents mécanismes de résistance</a:t>
            </a:r>
          </a:p>
        </p:txBody>
      </p:sp>
      <p:sp>
        <p:nvSpPr>
          <p:cNvPr id="10" name="Oval 9"/>
          <p:cNvSpPr>
            <a:spLocks noChangeAspect="1"/>
          </p:cNvSpPr>
          <p:nvPr/>
        </p:nvSpPr>
        <p:spPr>
          <a:xfrm>
            <a:off x="8729028" y="4732020"/>
            <a:ext cx="387540" cy="384048"/>
          </a:xfrm>
          <a:prstGeom prst="ellipse">
            <a:avLst/>
          </a:prstGeom>
          <a:solidFill>
            <a:srgbClr val="007DD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fr-FR" dirty="0">
                <a:solidFill>
                  <a:schemeClr val="bg1"/>
                </a:solidFill>
                <a:latin typeface="Lora" charset="0"/>
                <a:ea typeface="Lora" charset="0"/>
                <a:cs typeface="Lora" charset="0"/>
              </a:rPr>
              <a:t>6</a:t>
            </a:r>
          </a:p>
        </p:txBody>
      </p:sp>
      <p:pic>
        <p:nvPicPr>
          <p:cNvPr id="5" name="Image 4">
            <a:extLst>
              <a:ext uri="{FF2B5EF4-FFF2-40B4-BE49-F238E27FC236}">
                <a16:creationId xmlns:a16="http://schemas.microsoft.com/office/drawing/2014/main" id="{893BEF2F-02CE-7AD6-C7B2-156053DF3610}"/>
              </a:ext>
            </a:extLst>
          </p:cNvPr>
          <p:cNvPicPr>
            <a:picLocks noChangeAspect="1"/>
          </p:cNvPicPr>
          <p:nvPr/>
        </p:nvPicPr>
        <p:blipFill>
          <a:blip r:embed="rId3"/>
          <a:srcRect l="10325" r="3200" b="2437"/>
          <a:stretch/>
        </p:blipFill>
        <p:spPr>
          <a:xfrm>
            <a:off x="618363" y="16344"/>
            <a:ext cx="7907274" cy="4653192"/>
          </a:xfrm>
          <a:prstGeom prst="rect">
            <a:avLst/>
          </a:prstGeom>
        </p:spPr>
      </p:pic>
      <p:sp>
        <p:nvSpPr>
          <p:cNvPr id="6" name="ZoneTexte 5">
            <a:extLst>
              <a:ext uri="{FF2B5EF4-FFF2-40B4-BE49-F238E27FC236}">
                <a16:creationId xmlns:a16="http://schemas.microsoft.com/office/drawing/2014/main" id="{A033D917-AA70-CA48-E5B4-F4D18CA7E548}"/>
              </a:ext>
            </a:extLst>
          </p:cNvPr>
          <p:cNvSpPr txBox="1"/>
          <p:nvPr/>
        </p:nvSpPr>
        <p:spPr>
          <a:xfrm>
            <a:off x="2230246" y="4593336"/>
            <a:ext cx="5413248" cy="584775"/>
          </a:xfrm>
          <a:prstGeom prst="rect">
            <a:avLst/>
          </a:prstGeom>
          <a:noFill/>
        </p:spPr>
        <p:txBody>
          <a:bodyPr wrap="square" rtlCol="0">
            <a:spAutoFit/>
          </a:bodyPr>
          <a:lstStyle/>
          <a:p>
            <a:r>
              <a:rPr lang="fr-FR" sz="1800" b="0" i="0" dirty="0">
                <a:solidFill>
                  <a:srgbClr val="242021"/>
                </a:solidFill>
                <a:effectLst/>
                <a:latin typeface="StoneSans"/>
              </a:rPr>
              <a:t>Principaux mécanismes de résistances aux antibiotiques </a:t>
            </a:r>
            <a:br>
              <a:rPr lang="fr-FR" dirty="0"/>
            </a:br>
            <a:endParaRPr lang="fr-FR" dirty="0"/>
          </a:p>
        </p:txBody>
      </p:sp>
    </p:spTree>
    <p:extLst>
      <p:ext uri="{BB962C8B-B14F-4D97-AF65-F5344CB8AC3E}">
        <p14:creationId xmlns:p14="http://schemas.microsoft.com/office/powerpoint/2010/main" val="87428861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D31098-8FAF-9451-3BD6-7F2DE9882E5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09F8BB-C8E9-6389-BA0F-D83002563CBE}"/>
              </a:ext>
            </a:extLst>
          </p:cNvPr>
          <p:cNvSpPr>
            <a:spLocks noGrp="1"/>
          </p:cNvSpPr>
          <p:nvPr>
            <p:ph type="title"/>
          </p:nvPr>
        </p:nvSpPr>
        <p:spPr>
          <a:xfrm>
            <a:off x="1381250" y="776364"/>
            <a:ext cx="7111240" cy="698868"/>
          </a:xfrm>
        </p:spPr>
        <p:txBody>
          <a:bodyPr/>
          <a:lstStyle/>
          <a:p>
            <a:pPr>
              <a:buClr>
                <a:srgbClr val="007DD6"/>
              </a:buClr>
            </a:pPr>
            <a:r>
              <a:rPr lang="fr-FR" dirty="0">
                <a:latin typeface="Lora" charset="0"/>
                <a:ea typeface="Lora" charset="0"/>
                <a:cs typeface="Lora" charset="0"/>
              </a:rPr>
              <a:t>Les différents mécanismes de résistance</a:t>
            </a:r>
          </a:p>
        </p:txBody>
      </p:sp>
      <p:sp>
        <p:nvSpPr>
          <p:cNvPr id="10" name="Oval 9">
            <a:extLst>
              <a:ext uri="{FF2B5EF4-FFF2-40B4-BE49-F238E27FC236}">
                <a16:creationId xmlns:a16="http://schemas.microsoft.com/office/drawing/2014/main" id="{CEFA9543-ED05-8033-ACCD-24C790475B21}"/>
              </a:ext>
            </a:extLst>
          </p:cNvPr>
          <p:cNvSpPr>
            <a:spLocks noChangeAspect="1"/>
          </p:cNvSpPr>
          <p:nvPr/>
        </p:nvSpPr>
        <p:spPr>
          <a:xfrm>
            <a:off x="8729028" y="4732020"/>
            <a:ext cx="387540" cy="384048"/>
          </a:xfrm>
          <a:prstGeom prst="ellipse">
            <a:avLst/>
          </a:prstGeom>
          <a:solidFill>
            <a:srgbClr val="007DD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fr-FR" dirty="0">
                <a:solidFill>
                  <a:schemeClr val="bg1"/>
                </a:solidFill>
                <a:latin typeface="Lora" charset="0"/>
                <a:ea typeface="Lora" charset="0"/>
                <a:cs typeface="Lora" charset="0"/>
              </a:rPr>
              <a:t>6</a:t>
            </a:r>
          </a:p>
        </p:txBody>
      </p:sp>
      <p:pic>
        <p:nvPicPr>
          <p:cNvPr id="4" name="Image 3">
            <a:extLst>
              <a:ext uri="{FF2B5EF4-FFF2-40B4-BE49-F238E27FC236}">
                <a16:creationId xmlns:a16="http://schemas.microsoft.com/office/drawing/2014/main" id="{074DC7F7-4A00-E667-987A-9B4B1F09CD6E}"/>
              </a:ext>
            </a:extLst>
          </p:cNvPr>
          <p:cNvPicPr>
            <a:picLocks noChangeAspect="1"/>
          </p:cNvPicPr>
          <p:nvPr/>
        </p:nvPicPr>
        <p:blipFill>
          <a:blip r:embed="rId3"/>
          <a:srcRect b="8632"/>
          <a:stretch/>
        </p:blipFill>
        <p:spPr>
          <a:xfrm>
            <a:off x="851280" y="1312286"/>
            <a:ext cx="7441439" cy="3419734"/>
          </a:xfrm>
          <a:prstGeom prst="rect">
            <a:avLst/>
          </a:prstGeom>
        </p:spPr>
      </p:pic>
    </p:spTree>
    <p:extLst>
      <p:ext uri="{BB962C8B-B14F-4D97-AF65-F5344CB8AC3E}">
        <p14:creationId xmlns:p14="http://schemas.microsoft.com/office/powerpoint/2010/main" val="407475752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CA119E-B22E-CD11-8163-CB62D4390E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72D096-DEBD-B48E-4367-81B3736113B1}"/>
              </a:ext>
            </a:extLst>
          </p:cNvPr>
          <p:cNvSpPr>
            <a:spLocks noGrp="1"/>
          </p:cNvSpPr>
          <p:nvPr>
            <p:ph type="title"/>
          </p:nvPr>
        </p:nvSpPr>
        <p:spPr>
          <a:xfrm>
            <a:off x="1381250" y="776364"/>
            <a:ext cx="7111240" cy="698868"/>
          </a:xfrm>
        </p:spPr>
        <p:txBody>
          <a:bodyPr/>
          <a:lstStyle/>
          <a:p>
            <a:pPr>
              <a:buClr>
                <a:srgbClr val="007DD6"/>
              </a:buClr>
            </a:pPr>
            <a:r>
              <a:rPr lang="fr-FR" dirty="0">
                <a:latin typeface="Lora" charset="0"/>
                <a:ea typeface="Lora" charset="0"/>
                <a:cs typeface="Lora" charset="0"/>
              </a:rPr>
              <a:t>Les différents mécanismes de résistance</a:t>
            </a:r>
          </a:p>
        </p:txBody>
      </p:sp>
      <p:sp>
        <p:nvSpPr>
          <p:cNvPr id="10" name="Oval 9">
            <a:extLst>
              <a:ext uri="{FF2B5EF4-FFF2-40B4-BE49-F238E27FC236}">
                <a16:creationId xmlns:a16="http://schemas.microsoft.com/office/drawing/2014/main" id="{3B311537-FF11-5E5E-59BD-BD558F9DFCDC}"/>
              </a:ext>
            </a:extLst>
          </p:cNvPr>
          <p:cNvSpPr>
            <a:spLocks noChangeAspect="1"/>
          </p:cNvSpPr>
          <p:nvPr/>
        </p:nvSpPr>
        <p:spPr>
          <a:xfrm>
            <a:off x="8729028" y="4732020"/>
            <a:ext cx="387540" cy="384048"/>
          </a:xfrm>
          <a:prstGeom prst="ellipse">
            <a:avLst/>
          </a:prstGeom>
          <a:solidFill>
            <a:srgbClr val="007DD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fr-FR" dirty="0">
                <a:solidFill>
                  <a:schemeClr val="bg1"/>
                </a:solidFill>
                <a:latin typeface="Lora" charset="0"/>
                <a:ea typeface="Lora" charset="0"/>
                <a:cs typeface="Lora" charset="0"/>
              </a:rPr>
              <a:t>6</a:t>
            </a:r>
          </a:p>
        </p:txBody>
      </p:sp>
      <p:pic>
        <p:nvPicPr>
          <p:cNvPr id="5" name="Image 4">
            <a:extLst>
              <a:ext uri="{FF2B5EF4-FFF2-40B4-BE49-F238E27FC236}">
                <a16:creationId xmlns:a16="http://schemas.microsoft.com/office/drawing/2014/main" id="{FB3FEBDD-B07D-08F0-2EFF-0573533A67F7}"/>
              </a:ext>
            </a:extLst>
          </p:cNvPr>
          <p:cNvPicPr>
            <a:picLocks noChangeAspect="1"/>
          </p:cNvPicPr>
          <p:nvPr/>
        </p:nvPicPr>
        <p:blipFill>
          <a:blip r:embed="rId3"/>
          <a:srcRect l="-1190" t="1730" r="11116" b="-1730"/>
          <a:stretch/>
        </p:blipFill>
        <p:spPr>
          <a:xfrm>
            <a:off x="447465" y="1528039"/>
            <a:ext cx="8236458" cy="3509514"/>
          </a:xfrm>
          <a:prstGeom prst="rect">
            <a:avLst/>
          </a:prstGeom>
        </p:spPr>
      </p:pic>
      <p:pic>
        <p:nvPicPr>
          <p:cNvPr id="7" name="Image 6">
            <a:extLst>
              <a:ext uri="{FF2B5EF4-FFF2-40B4-BE49-F238E27FC236}">
                <a16:creationId xmlns:a16="http://schemas.microsoft.com/office/drawing/2014/main" id="{D91FF2C4-BEFE-93A5-A43F-99E4C86D33D5}"/>
              </a:ext>
            </a:extLst>
          </p:cNvPr>
          <p:cNvPicPr>
            <a:picLocks noChangeAspect="1"/>
          </p:cNvPicPr>
          <p:nvPr/>
        </p:nvPicPr>
        <p:blipFill>
          <a:blip r:embed="rId4"/>
          <a:srcRect r="5035"/>
          <a:stretch/>
        </p:blipFill>
        <p:spPr>
          <a:xfrm>
            <a:off x="561253" y="1287154"/>
            <a:ext cx="8122670" cy="239703"/>
          </a:xfrm>
          <a:prstGeom prst="rect">
            <a:avLst/>
          </a:prstGeom>
        </p:spPr>
      </p:pic>
    </p:spTree>
    <p:extLst>
      <p:ext uri="{BB962C8B-B14F-4D97-AF65-F5344CB8AC3E}">
        <p14:creationId xmlns:p14="http://schemas.microsoft.com/office/powerpoint/2010/main" val="33709980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676FF2-6D2A-603F-A6BD-F5A2E00D62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B773693-5B83-639B-FB73-135494EBC8B7}"/>
              </a:ext>
            </a:extLst>
          </p:cNvPr>
          <p:cNvSpPr>
            <a:spLocks noGrp="1"/>
          </p:cNvSpPr>
          <p:nvPr>
            <p:ph type="title"/>
          </p:nvPr>
        </p:nvSpPr>
        <p:spPr>
          <a:xfrm>
            <a:off x="1381250" y="776364"/>
            <a:ext cx="7111240" cy="698868"/>
          </a:xfrm>
        </p:spPr>
        <p:txBody>
          <a:bodyPr/>
          <a:lstStyle/>
          <a:p>
            <a:pPr>
              <a:buClr>
                <a:srgbClr val="007DD6"/>
              </a:buClr>
            </a:pPr>
            <a:r>
              <a:rPr lang="fr-FR" dirty="0">
                <a:latin typeface="Lora" charset="0"/>
                <a:ea typeface="Lora" charset="0"/>
                <a:cs typeface="Lora" charset="0"/>
              </a:rPr>
              <a:t>Les différents mécanismes de résistance</a:t>
            </a:r>
          </a:p>
        </p:txBody>
      </p:sp>
      <p:sp>
        <p:nvSpPr>
          <p:cNvPr id="10" name="Oval 9">
            <a:extLst>
              <a:ext uri="{FF2B5EF4-FFF2-40B4-BE49-F238E27FC236}">
                <a16:creationId xmlns:a16="http://schemas.microsoft.com/office/drawing/2014/main" id="{3C29C7CA-BCED-6670-EF33-85C800B0F068}"/>
              </a:ext>
            </a:extLst>
          </p:cNvPr>
          <p:cNvSpPr>
            <a:spLocks noChangeAspect="1"/>
          </p:cNvSpPr>
          <p:nvPr/>
        </p:nvSpPr>
        <p:spPr>
          <a:xfrm>
            <a:off x="8729028" y="4732020"/>
            <a:ext cx="387540" cy="384048"/>
          </a:xfrm>
          <a:prstGeom prst="ellipse">
            <a:avLst/>
          </a:prstGeom>
          <a:solidFill>
            <a:srgbClr val="007DD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fr-FR" dirty="0">
                <a:solidFill>
                  <a:schemeClr val="bg1"/>
                </a:solidFill>
                <a:latin typeface="Lora" charset="0"/>
                <a:ea typeface="Lora" charset="0"/>
                <a:cs typeface="Lora" charset="0"/>
              </a:rPr>
              <a:t>6</a:t>
            </a:r>
          </a:p>
        </p:txBody>
      </p:sp>
      <p:pic>
        <p:nvPicPr>
          <p:cNvPr id="5" name="Image 4">
            <a:extLst>
              <a:ext uri="{FF2B5EF4-FFF2-40B4-BE49-F238E27FC236}">
                <a16:creationId xmlns:a16="http://schemas.microsoft.com/office/drawing/2014/main" id="{5C0D1BD2-CB16-03BA-45DB-F0FD6174F1D6}"/>
              </a:ext>
            </a:extLst>
          </p:cNvPr>
          <p:cNvPicPr>
            <a:picLocks noChangeAspect="1"/>
          </p:cNvPicPr>
          <p:nvPr/>
        </p:nvPicPr>
        <p:blipFill>
          <a:blip r:embed="rId3"/>
          <a:srcRect r="7125"/>
          <a:stretch/>
        </p:blipFill>
        <p:spPr>
          <a:xfrm>
            <a:off x="689070" y="1499616"/>
            <a:ext cx="7765860" cy="3528252"/>
          </a:xfrm>
          <a:prstGeom prst="rect">
            <a:avLst/>
          </a:prstGeom>
        </p:spPr>
      </p:pic>
      <p:pic>
        <p:nvPicPr>
          <p:cNvPr id="6" name="Image 5">
            <a:extLst>
              <a:ext uri="{FF2B5EF4-FFF2-40B4-BE49-F238E27FC236}">
                <a16:creationId xmlns:a16="http://schemas.microsoft.com/office/drawing/2014/main" id="{E38FD30C-0AEB-ED3A-7575-1236E7F20DC5}"/>
              </a:ext>
            </a:extLst>
          </p:cNvPr>
          <p:cNvPicPr>
            <a:picLocks noChangeAspect="1"/>
          </p:cNvPicPr>
          <p:nvPr/>
        </p:nvPicPr>
        <p:blipFill>
          <a:blip r:embed="rId4"/>
          <a:srcRect r="5035"/>
          <a:stretch/>
        </p:blipFill>
        <p:spPr>
          <a:xfrm>
            <a:off x="689070" y="1287154"/>
            <a:ext cx="7765860" cy="239703"/>
          </a:xfrm>
          <a:prstGeom prst="rect">
            <a:avLst/>
          </a:prstGeom>
        </p:spPr>
      </p:pic>
    </p:spTree>
    <p:extLst>
      <p:ext uri="{BB962C8B-B14F-4D97-AF65-F5344CB8AC3E}">
        <p14:creationId xmlns:p14="http://schemas.microsoft.com/office/powerpoint/2010/main" val="268017493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E0034D-B62D-CCF8-C691-122993F1DE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A64598E-0036-4C80-3794-351A351FEEB8}"/>
              </a:ext>
            </a:extLst>
          </p:cNvPr>
          <p:cNvSpPr>
            <a:spLocks noGrp="1"/>
          </p:cNvSpPr>
          <p:nvPr>
            <p:ph type="title"/>
          </p:nvPr>
        </p:nvSpPr>
        <p:spPr>
          <a:xfrm>
            <a:off x="1381250" y="776364"/>
            <a:ext cx="7111240" cy="698868"/>
          </a:xfrm>
        </p:spPr>
        <p:txBody>
          <a:bodyPr/>
          <a:lstStyle/>
          <a:p>
            <a:pPr>
              <a:buClr>
                <a:srgbClr val="007DD6"/>
              </a:buClr>
            </a:pPr>
            <a:r>
              <a:rPr lang="fr-FR" dirty="0">
                <a:latin typeface="Lora" charset="0"/>
                <a:ea typeface="Lora" charset="0"/>
                <a:cs typeface="Lora" charset="0"/>
              </a:rPr>
              <a:t>Les différents mécanismes de résistance</a:t>
            </a:r>
          </a:p>
        </p:txBody>
      </p:sp>
      <p:sp>
        <p:nvSpPr>
          <p:cNvPr id="10" name="Oval 9">
            <a:extLst>
              <a:ext uri="{FF2B5EF4-FFF2-40B4-BE49-F238E27FC236}">
                <a16:creationId xmlns:a16="http://schemas.microsoft.com/office/drawing/2014/main" id="{7D57A06F-E5C5-08E8-C188-70588100BC9D}"/>
              </a:ext>
            </a:extLst>
          </p:cNvPr>
          <p:cNvSpPr>
            <a:spLocks noChangeAspect="1"/>
          </p:cNvSpPr>
          <p:nvPr/>
        </p:nvSpPr>
        <p:spPr>
          <a:xfrm>
            <a:off x="8729028" y="4732020"/>
            <a:ext cx="387540" cy="384048"/>
          </a:xfrm>
          <a:prstGeom prst="ellipse">
            <a:avLst/>
          </a:prstGeom>
          <a:solidFill>
            <a:srgbClr val="007DD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fr-FR" dirty="0">
                <a:solidFill>
                  <a:schemeClr val="bg1"/>
                </a:solidFill>
                <a:latin typeface="Lora" charset="0"/>
                <a:ea typeface="Lora" charset="0"/>
                <a:cs typeface="Lora" charset="0"/>
              </a:rPr>
              <a:t>6</a:t>
            </a:r>
          </a:p>
        </p:txBody>
      </p:sp>
      <p:pic>
        <p:nvPicPr>
          <p:cNvPr id="4" name="Image 3">
            <a:extLst>
              <a:ext uri="{FF2B5EF4-FFF2-40B4-BE49-F238E27FC236}">
                <a16:creationId xmlns:a16="http://schemas.microsoft.com/office/drawing/2014/main" id="{3CED6DBD-AD5F-50A2-840A-004C71F2515D}"/>
              </a:ext>
            </a:extLst>
          </p:cNvPr>
          <p:cNvPicPr>
            <a:picLocks noChangeAspect="1"/>
          </p:cNvPicPr>
          <p:nvPr/>
        </p:nvPicPr>
        <p:blipFill>
          <a:blip r:embed="rId3"/>
          <a:stretch>
            <a:fillRect/>
          </a:stretch>
        </p:blipFill>
        <p:spPr>
          <a:xfrm>
            <a:off x="326600" y="1750279"/>
            <a:ext cx="8490799" cy="2616857"/>
          </a:xfrm>
          <a:prstGeom prst="rect">
            <a:avLst/>
          </a:prstGeom>
        </p:spPr>
      </p:pic>
      <p:pic>
        <p:nvPicPr>
          <p:cNvPr id="7" name="Image 6">
            <a:extLst>
              <a:ext uri="{FF2B5EF4-FFF2-40B4-BE49-F238E27FC236}">
                <a16:creationId xmlns:a16="http://schemas.microsoft.com/office/drawing/2014/main" id="{3198D58F-50BF-FBDC-14DF-0E94557A9600}"/>
              </a:ext>
            </a:extLst>
          </p:cNvPr>
          <p:cNvPicPr>
            <a:picLocks noChangeAspect="1"/>
          </p:cNvPicPr>
          <p:nvPr/>
        </p:nvPicPr>
        <p:blipFill>
          <a:blip r:embed="rId4"/>
          <a:stretch>
            <a:fillRect/>
          </a:stretch>
        </p:blipFill>
        <p:spPr>
          <a:xfrm>
            <a:off x="370549" y="2901522"/>
            <a:ext cx="1035085" cy="220373"/>
          </a:xfrm>
          <a:prstGeom prst="rect">
            <a:avLst/>
          </a:prstGeom>
        </p:spPr>
      </p:pic>
    </p:spTree>
    <p:extLst>
      <p:ext uri="{BB962C8B-B14F-4D97-AF65-F5344CB8AC3E}">
        <p14:creationId xmlns:p14="http://schemas.microsoft.com/office/powerpoint/2010/main" val="69591365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1C5D9C-B923-8CF9-CE3F-667656C0A4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CCEC9D8-3F22-7D8F-9442-0B1FB931B5A7}"/>
              </a:ext>
            </a:extLst>
          </p:cNvPr>
          <p:cNvSpPr>
            <a:spLocks noGrp="1"/>
          </p:cNvSpPr>
          <p:nvPr>
            <p:ph type="title"/>
          </p:nvPr>
        </p:nvSpPr>
        <p:spPr>
          <a:xfrm>
            <a:off x="183324" y="1674056"/>
            <a:ext cx="2096580" cy="1795386"/>
          </a:xfrm>
        </p:spPr>
        <p:txBody>
          <a:bodyPr/>
          <a:lstStyle/>
          <a:p>
            <a:pPr>
              <a:buClr>
                <a:srgbClr val="007DD6"/>
              </a:buClr>
            </a:pPr>
            <a:r>
              <a:rPr lang="fr-FR" dirty="0">
                <a:latin typeface="Lora" charset="0"/>
                <a:ea typeface="Lora" charset="0"/>
                <a:cs typeface="Lora" charset="0"/>
              </a:rPr>
              <a:t>Principaux mécanismes de résistance par famille/genre bactérien</a:t>
            </a:r>
          </a:p>
        </p:txBody>
      </p:sp>
      <p:sp>
        <p:nvSpPr>
          <p:cNvPr id="10" name="Oval 9">
            <a:extLst>
              <a:ext uri="{FF2B5EF4-FFF2-40B4-BE49-F238E27FC236}">
                <a16:creationId xmlns:a16="http://schemas.microsoft.com/office/drawing/2014/main" id="{BBCD4E42-D2EE-5CD7-4DAF-54D6F5D89585}"/>
              </a:ext>
            </a:extLst>
          </p:cNvPr>
          <p:cNvSpPr>
            <a:spLocks noChangeAspect="1"/>
          </p:cNvSpPr>
          <p:nvPr/>
        </p:nvSpPr>
        <p:spPr>
          <a:xfrm>
            <a:off x="8729028" y="4732020"/>
            <a:ext cx="387540" cy="384048"/>
          </a:xfrm>
          <a:prstGeom prst="ellipse">
            <a:avLst/>
          </a:prstGeom>
          <a:solidFill>
            <a:srgbClr val="007DD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fr-FR" dirty="0">
                <a:solidFill>
                  <a:schemeClr val="bg1"/>
                </a:solidFill>
                <a:latin typeface="Lora" charset="0"/>
                <a:ea typeface="Lora" charset="0"/>
                <a:cs typeface="Lora" charset="0"/>
              </a:rPr>
              <a:t>6</a:t>
            </a:r>
          </a:p>
        </p:txBody>
      </p:sp>
      <p:pic>
        <p:nvPicPr>
          <p:cNvPr id="5" name="Image 4">
            <a:extLst>
              <a:ext uri="{FF2B5EF4-FFF2-40B4-BE49-F238E27FC236}">
                <a16:creationId xmlns:a16="http://schemas.microsoft.com/office/drawing/2014/main" id="{866A4ACE-25D4-D572-33DC-6F3742477563}"/>
              </a:ext>
            </a:extLst>
          </p:cNvPr>
          <p:cNvPicPr>
            <a:picLocks noChangeAspect="1"/>
          </p:cNvPicPr>
          <p:nvPr/>
        </p:nvPicPr>
        <p:blipFill>
          <a:blip r:embed="rId3"/>
          <a:srcRect r="21530"/>
          <a:stretch/>
        </p:blipFill>
        <p:spPr>
          <a:xfrm>
            <a:off x="2506610" y="119889"/>
            <a:ext cx="5734738" cy="4903719"/>
          </a:xfrm>
          <a:prstGeom prst="rect">
            <a:avLst/>
          </a:prstGeom>
        </p:spPr>
      </p:pic>
      <p:sp>
        <p:nvSpPr>
          <p:cNvPr id="8" name="Rectangle 7">
            <a:extLst>
              <a:ext uri="{FF2B5EF4-FFF2-40B4-BE49-F238E27FC236}">
                <a16:creationId xmlns:a16="http://schemas.microsoft.com/office/drawing/2014/main" id="{610316F1-9CE4-06F8-39C4-283BD9B9DD51}"/>
              </a:ext>
            </a:extLst>
          </p:cNvPr>
          <p:cNvSpPr/>
          <p:nvPr/>
        </p:nvSpPr>
        <p:spPr>
          <a:xfrm>
            <a:off x="3682825" y="454047"/>
            <a:ext cx="2907161" cy="23333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Rectangle 8">
            <a:extLst>
              <a:ext uri="{FF2B5EF4-FFF2-40B4-BE49-F238E27FC236}">
                <a16:creationId xmlns:a16="http://schemas.microsoft.com/office/drawing/2014/main" id="{F687E051-B712-284B-DD70-9190AE850113}"/>
              </a:ext>
            </a:extLst>
          </p:cNvPr>
          <p:cNvSpPr/>
          <p:nvPr/>
        </p:nvSpPr>
        <p:spPr>
          <a:xfrm>
            <a:off x="3739581" y="1387365"/>
            <a:ext cx="4080116" cy="460354"/>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Rectangle 10">
            <a:extLst>
              <a:ext uri="{FF2B5EF4-FFF2-40B4-BE49-F238E27FC236}">
                <a16:creationId xmlns:a16="http://schemas.microsoft.com/office/drawing/2014/main" id="{DBB94450-4298-5357-E82D-FECA9BA2DA22}"/>
              </a:ext>
            </a:extLst>
          </p:cNvPr>
          <p:cNvSpPr/>
          <p:nvPr/>
        </p:nvSpPr>
        <p:spPr>
          <a:xfrm>
            <a:off x="3739581" y="2427890"/>
            <a:ext cx="4010747" cy="210038"/>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Rectangle 11">
            <a:extLst>
              <a:ext uri="{FF2B5EF4-FFF2-40B4-BE49-F238E27FC236}">
                <a16:creationId xmlns:a16="http://schemas.microsoft.com/office/drawing/2014/main" id="{5EF581C5-9F8C-038E-6170-523437CF972A}"/>
              </a:ext>
            </a:extLst>
          </p:cNvPr>
          <p:cNvSpPr/>
          <p:nvPr/>
        </p:nvSpPr>
        <p:spPr>
          <a:xfrm>
            <a:off x="3739580" y="4351283"/>
            <a:ext cx="4010747" cy="210038"/>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Rectangle 12">
            <a:extLst>
              <a:ext uri="{FF2B5EF4-FFF2-40B4-BE49-F238E27FC236}">
                <a16:creationId xmlns:a16="http://schemas.microsoft.com/office/drawing/2014/main" id="{4954E78C-ACDD-8B2D-530C-14D97D944E28}"/>
              </a:ext>
            </a:extLst>
          </p:cNvPr>
          <p:cNvSpPr/>
          <p:nvPr/>
        </p:nvSpPr>
        <p:spPr>
          <a:xfrm>
            <a:off x="3739579" y="4569561"/>
            <a:ext cx="4010747" cy="210038"/>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130773115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034417" y="2276990"/>
            <a:ext cx="6597519" cy="589519"/>
          </a:xfrm>
        </p:spPr>
        <p:txBody>
          <a:bodyPr/>
          <a:lstStyle/>
          <a:p>
            <a:pPr>
              <a:buClr>
                <a:srgbClr val="007DD6"/>
              </a:buClr>
            </a:pPr>
            <a:r>
              <a:rPr lang="fr-FR" dirty="0">
                <a:latin typeface="Lora" charset="0"/>
                <a:ea typeface="Lora" charset="0"/>
                <a:cs typeface="Lora" charset="0"/>
              </a:rPr>
              <a:t>Support génétique de la résistance</a:t>
            </a:r>
          </a:p>
        </p:txBody>
      </p:sp>
      <p:sp>
        <p:nvSpPr>
          <p:cNvPr id="10" name="TextBox 9"/>
          <p:cNvSpPr txBox="1"/>
          <p:nvPr/>
        </p:nvSpPr>
        <p:spPr>
          <a:xfrm>
            <a:off x="1229697" y="2339092"/>
            <a:ext cx="356188" cy="461665"/>
          </a:xfrm>
          <a:prstGeom prst="rect">
            <a:avLst/>
          </a:prstGeom>
          <a:noFill/>
        </p:spPr>
        <p:txBody>
          <a:bodyPr wrap="none" rtlCol="0">
            <a:spAutoFit/>
          </a:bodyPr>
          <a:lstStyle/>
          <a:p>
            <a:r>
              <a:rPr lang="fr-FR" sz="2400" b="1" dirty="0">
                <a:solidFill>
                  <a:schemeClr val="bg1"/>
                </a:solidFill>
                <a:latin typeface="Lora" charset="0"/>
                <a:ea typeface="Lora" charset="0"/>
                <a:cs typeface="Lora" charset="0"/>
              </a:rPr>
              <a:t>4</a:t>
            </a:r>
            <a:endParaRPr lang="fr-FR" sz="2000" b="1" dirty="0">
              <a:solidFill>
                <a:schemeClr val="bg1"/>
              </a:solidFill>
              <a:latin typeface="Lora" charset="0"/>
              <a:ea typeface="Lora" charset="0"/>
              <a:cs typeface="Lora" charset="0"/>
            </a:endParaRPr>
          </a:p>
        </p:txBody>
      </p:sp>
      <p:sp>
        <p:nvSpPr>
          <p:cNvPr id="6" name="Oval 5"/>
          <p:cNvSpPr>
            <a:spLocks noChangeAspect="1"/>
          </p:cNvSpPr>
          <p:nvPr/>
        </p:nvSpPr>
        <p:spPr>
          <a:xfrm>
            <a:off x="8729028" y="4732020"/>
            <a:ext cx="387540" cy="384048"/>
          </a:xfrm>
          <a:prstGeom prst="ellipse">
            <a:avLst/>
          </a:prstGeom>
          <a:solidFill>
            <a:srgbClr val="007DD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fr-FR" dirty="0">
                <a:solidFill>
                  <a:schemeClr val="bg1"/>
                </a:solidFill>
                <a:latin typeface="Lora" charset="0"/>
                <a:ea typeface="Lora" charset="0"/>
                <a:cs typeface="Lora" charset="0"/>
              </a:rPr>
              <a:t>7</a:t>
            </a:r>
          </a:p>
        </p:txBody>
      </p:sp>
    </p:spTree>
    <p:extLst>
      <p:ext uri="{BB962C8B-B14F-4D97-AF65-F5344CB8AC3E}">
        <p14:creationId xmlns:p14="http://schemas.microsoft.com/office/powerpoint/2010/main" val="65159322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81250" y="922668"/>
            <a:ext cx="7516260" cy="603982"/>
          </a:xfrm>
        </p:spPr>
        <p:txBody>
          <a:bodyPr/>
          <a:lstStyle/>
          <a:p>
            <a:pPr>
              <a:buClr>
                <a:srgbClr val="007DD6"/>
              </a:buClr>
            </a:pPr>
            <a:r>
              <a:rPr lang="fr-FR" dirty="0">
                <a:latin typeface="Lora" charset="0"/>
                <a:ea typeface="Lora" charset="0"/>
                <a:cs typeface="Lora" charset="0"/>
              </a:rPr>
              <a:t>Support génétique de la résistance</a:t>
            </a:r>
          </a:p>
        </p:txBody>
      </p:sp>
      <p:sp>
        <p:nvSpPr>
          <p:cNvPr id="10" name="Oval 9"/>
          <p:cNvSpPr>
            <a:spLocks noChangeAspect="1"/>
          </p:cNvSpPr>
          <p:nvPr/>
        </p:nvSpPr>
        <p:spPr>
          <a:xfrm>
            <a:off x="8729028" y="4732020"/>
            <a:ext cx="387540" cy="384048"/>
          </a:xfrm>
          <a:prstGeom prst="ellipse">
            <a:avLst/>
          </a:prstGeom>
          <a:solidFill>
            <a:srgbClr val="007DD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fr-FR" dirty="0">
                <a:solidFill>
                  <a:schemeClr val="bg1"/>
                </a:solidFill>
                <a:latin typeface="Lora" charset="0"/>
                <a:ea typeface="Lora" charset="0"/>
                <a:cs typeface="Lora" charset="0"/>
              </a:rPr>
              <a:t>9</a:t>
            </a:r>
          </a:p>
        </p:txBody>
      </p:sp>
      <mc:AlternateContent xmlns:mc="http://schemas.openxmlformats.org/markup-compatibility/2006" xmlns:a14="http://schemas.microsoft.com/office/drawing/2010/main">
        <mc:Choice Requires="a14">
          <p:sp>
            <p:nvSpPr>
              <p:cNvPr id="3" name="Espace réservé du texte 2"/>
              <p:cNvSpPr>
                <a:spLocks noGrp="1"/>
              </p:cNvSpPr>
              <p:nvPr>
                <p:ph type="body" idx="1"/>
              </p:nvPr>
            </p:nvSpPr>
            <p:spPr>
              <a:xfrm>
                <a:off x="334677" y="1526650"/>
                <a:ext cx="8474645" cy="3205370"/>
              </a:xfrm>
            </p:spPr>
            <p:txBody>
              <a:bodyPr/>
              <a:lstStyle/>
              <a:p>
                <a:pPr marL="342900" indent="-342900">
                  <a:buClr>
                    <a:srgbClr val="007DD6"/>
                  </a:buClr>
                  <a:buFont typeface="Arial" panose="020B0604020202020204" pitchFamily="34" charset="0"/>
                  <a:buChar char="•"/>
                </a:pPr>
                <a:r>
                  <a:rPr lang="fr-FR" sz="1500" dirty="0">
                    <a:latin typeface="Lora" panose="02000503000000020004"/>
                  </a:rPr>
                  <a:t>La résistance survient par deux mécanismes génétiques principaux : la mutation ou l’acquisition de gènes transférables portés par des éléments génétiques mobiles.</a:t>
                </a:r>
              </a:p>
              <a:p>
                <a:pPr marL="342900" indent="-342900">
                  <a:buClr>
                    <a:srgbClr val="007DD6"/>
                  </a:buClr>
                  <a:buFont typeface="Arial" panose="020B0604020202020204" pitchFamily="34" charset="0"/>
                  <a:buChar char="•"/>
                </a:pPr>
                <a:r>
                  <a:rPr lang="fr-FR" sz="1500" b="1" dirty="0">
                    <a:solidFill>
                      <a:srgbClr val="0069D9"/>
                    </a:solidFill>
                    <a:latin typeface="Lora" panose="02000503000000020004"/>
                  </a:rPr>
                  <a:t>1. Mutation: </a:t>
                </a:r>
                <a:r>
                  <a:rPr lang="fr-FR" sz="1500" dirty="0">
                    <a:latin typeface="Lora" panose="02000503000000020004"/>
                  </a:rPr>
                  <a:t>La mutagénèse peut être spontanée ou induite par des agents mutagènes.</a:t>
                </a:r>
              </a:p>
              <a:p>
                <a:pPr marL="342900" indent="-342900">
                  <a:buClr>
                    <a:srgbClr val="007DD6"/>
                  </a:buClr>
                  <a:buFont typeface="Arial" panose="020B0604020202020204" pitchFamily="34" charset="0"/>
                  <a:buChar char="•"/>
                </a:pPr>
                <a:r>
                  <a:rPr lang="fr-FR" sz="1500" dirty="0">
                    <a:latin typeface="Lora" panose="02000503000000020004"/>
                  </a:rPr>
                  <a:t> C’est par exemple un mécanisme majeur de résistance chez Mycobacterium </a:t>
                </a:r>
                <a:r>
                  <a:rPr lang="fr-FR" sz="1500" dirty="0" err="1">
                    <a:latin typeface="Lora" panose="02000503000000020004"/>
                  </a:rPr>
                  <a:t>tuberculosis</a:t>
                </a:r>
                <a:r>
                  <a:rPr lang="fr-FR" sz="1500" dirty="0">
                    <a:latin typeface="Lora" panose="02000503000000020004"/>
                  </a:rPr>
                  <a:t> et Helicobacter pylori. </a:t>
                </a:r>
              </a:p>
              <a:p>
                <a:pPr marL="342900" indent="-342900">
                  <a:buClr>
                    <a:srgbClr val="007DD6"/>
                  </a:buClr>
                  <a:buFont typeface="Arial" panose="020B0604020202020204" pitchFamily="34" charset="0"/>
                  <a:buChar char="•"/>
                </a:pPr>
                <a:r>
                  <a:rPr lang="fr-FR" sz="1500" dirty="0">
                    <a:latin typeface="Lora" panose="02000503000000020004"/>
                  </a:rPr>
                  <a:t>Le taux de mutations permet d’évaluer le risque d’émergence de la résistance au cours d’un traitement par antibiotique. Ce taux est caractérisé par la fréquence in vitro d’apparition spontanée d’un mutant résistant à une concentration donnée d’antibiotique. Par exemple, chez M. </a:t>
                </a:r>
                <a:r>
                  <a:rPr lang="fr-FR" sz="1500" dirty="0" err="1">
                    <a:latin typeface="Lora" panose="02000503000000020004"/>
                  </a:rPr>
                  <a:t>tuberculosis</a:t>
                </a:r>
                <a:r>
                  <a:rPr lang="fr-FR" sz="1500" dirty="0">
                    <a:latin typeface="Lora" panose="02000503000000020004"/>
                  </a:rPr>
                  <a:t> la résistance par mutation à l’isoniazide et à la rifampicine survient à une fréquence d’environ </a:t>
                </a:r>
                <a14:m>
                  <m:oMath xmlns:m="http://schemas.openxmlformats.org/officeDocument/2006/math">
                    <m:sSup>
                      <m:sSupPr>
                        <m:ctrlPr>
                          <a:rPr lang="fr-FR" sz="1500" i="1" smtClean="0">
                            <a:latin typeface="Cambria Math" panose="02040503050406030204" pitchFamily="18" charset="0"/>
                          </a:rPr>
                        </m:ctrlPr>
                      </m:sSupPr>
                      <m:e>
                        <m:r>
                          <a:rPr lang="fr-FR" sz="1500" b="0" i="1" smtClean="0">
                            <a:latin typeface="Cambria Math" panose="02040503050406030204" pitchFamily="18" charset="0"/>
                          </a:rPr>
                          <m:t>10</m:t>
                        </m:r>
                      </m:e>
                      <m:sup>
                        <m:r>
                          <a:rPr lang="fr-FR" sz="1500" b="0" i="1" smtClean="0">
                            <a:latin typeface="Cambria Math" panose="02040503050406030204" pitchFamily="18" charset="0"/>
                          </a:rPr>
                          <m:t>−6</m:t>
                        </m:r>
                      </m:sup>
                    </m:sSup>
                  </m:oMath>
                </a14:m>
                <a:r>
                  <a:rPr lang="fr-FR" sz="1500" dirty="0">
                    <a:latin typeface="Lora" panose="02000503000000020004"/>
                  </a:rPr>
                  <a:t> et </a:t>
                </a:r>
                <a14:m>
                  <m:oMath xmlns:m="http://schemas.openxmlformats.org/officeDocument/2006/math">
                    <m:sSup>
                      <m:sSupPr>
                        <m:ctrlPr>
                          <a:rPr lang="fr-FR" sz="1500" i="1" smtClean="0">
                            <a:latin typeface="Cambria Math" panose="02040503050406030204" pitchFamily="18" charset="0"/>
                          </a:rPr>
                        </m:ctrlPr>
                      </m:sSupPr>
                      <m:e>
                        <m:r>
                          <a:rPr lang="fr-FR" sz="1500" b="0" i="1" smtClean="0">
                            <a:latin typeface="Cambria Math" panose="02040503050406030204" pitchFamily="18" charset="0"/>
                          </a:rPr>
                          <m:t>10</m:t>
                        </m:r>
                      </m:e>
                      <m:sup>
                        <m:r>
                          <a:rPr lang="fr-FR" sz="1500" b="0" i="1" smtClean="0">
                            <a:latin typeface="Cambria Math" panose="02040503050406030204" pitchFamily="18" charset="0"/>
                          </a:rPr>
                          <m:t>−8</m:t>
                        </m:r>
                      </m:sup>
                    </m:sSup>
                  </m:oMath>
                </a14:m>
                <a:r>
                  <a:rPr lang="fr-FR" sz="1500" dirty="0">
                    <a:latin typeface="Lora" panose="02000503000000020004"/>
                  </a:rPr>
                  <a:t>, respectivement.</a:t>
                </a:r>
              </a:p>
              <a:p>
                <a:pPr marL="342900" indent="-342900">
                  <a:buClr>
                    <a:srgbClr val="007DD6"/>
                  </a:buClr>
                  <a:buFont typeface="Arial" panose="020B0604020202020204" pitchFamily="34" charset="0"/>
                  <a:buChar char="•"/>
                </a:pPr>
                <a:r>
                  <a:rPr lang="fr-FR" sz="1500" dirty="0">
                    <a:latin typeface="Lora" panose="02000503000000020004"/>
                  </a:rPr>
                  <a:t>L’association de ces deux molécules au cours d’un traitement conduit en théorie à une diminution de la fréquence de mutation à </a:t>
                </a:r>
                <a14:m>
                  <m:oMath xmlns:m="http://schemas.openxmlformats.org/officeDocument/2006/math">
                    <m:sSup>
                      <m:sSupPr>
                        <m:ctrlPr>
                          <a:rPr lang="fr-FR" sz="1500" i="1" smtClean="0">
                            <a:latin typeface="Cambria Math" panose="02040503050406030204" pitchFamily="18" charset="0"/>
                          </a:rPr>
                        </m:ctrlPr>
                      </m:sSupPr>
                      <m:e>
                        <m:r>
                          <a:rPr lang="fr-FR" sz="1500" b="0" i="1" smtClean="0">
                            <a:latin typeface="Cambria Math" panose="02040503050406030204" pitchFamily="18" charset="0"/>
                          </a:rPr>
                          <m:t>10</m:t>
                        </m:r>
                      </m:e>
                      <m:sup>
                        <m:r>
                          <a:rPr lang="fr-FR" sz="1500" b="0" i="1" smtClean="0">
                            <a:latin typeface="Cambria Math" panose="02040503050406030204" pitchFamily="18" charset="0"/>
                          </a:rPr>
                          <m:t>−14</m:t>
                        </m:r>
                      </m:sup>
                    </m:sSup>
                  </m:oMath>
                </a14:m>
                <a:r>
                  <a:rPr lang="fr-FR" sz="1500" dirty="0">
                    <a:latin typeface="Lora" panose="02000503000000020004"/>
                  </a:rPr>
                  <a:t>.</a:t>
                </a:r>
              </a:p>
            </p:txBody>
          </p:sp>
        </mc:Choice>
        <mc:Fallback xmlns="">
          <p:sp>
            <p:nvSpPr>
              <p:cNvPr id="3" name="Espace réservé du texte 2"/>
              <p:cNvSpPr>
                <a:spLocks noGrp="1" noRot="1" noChangeAspect="1" noMove="1" noResize="1" noEditPoints="1" noAdjustHandles="1" noChangeArrowheads="1" noChangeShapeType="1" noTextEdit="1"/>
              </p:cNvSpPr>
              <p:nvPr>
                <p:ph type="body" idx="1"/>
              </p:nvPr>
            </p:nvSpPr>
            <p:spPr>
              <a:xfrm>
                <a:off x="334677" y="1526650"/>
                <a:ext cx="8474645" cy="3205370"/>
              </a:xfrm>
              <a:blipFill>
                <a:blip r:embed="rId3"/>
                <a:stretch>
                  <a:fillRect l="-216" b="-1521"/>
                </a:stretch>
              </a:blipFill>
            </p:spPr>
            <p:txBody>
              <a:bodyPr/>
              <a:lstStyle/>
              <a:p>
                <a:r>
                  <a:rPr lang="fr-FR">
                    <a:noFill/>
                  </a:rPr>
                  <a:t> </a:t>
                </a:r>
              </a:p>
            </p:txBody>
          </p:sp>
        </mc:Fallback>
      </mc:AlternateContent>
    </p:spTree>
    <p:extLst>
      <p:ext uri="{BB962C8B-B14F-4D97-AF65-F5344CB8AC3E}">
        <p14:creationId xmlns:p14="http://schemas.microsoft.com/office/powerpoint/2010/main" val="380945427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4B756C-4566-2E84-8E99-78F610C5AD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A194C79-7D30-790E-C62B-D3DB3765F42A}"/>
              </a:ext>
            </a:extLst>
          </p:cNvPr>
          <p:cNvSpPr>
            <a:spLocks noGrp="1"/>
          </p:cNvSpPr>
          <p:nvPr>
            <p:ph type="title"/>
          </p:nvPr>
        </p:nvSpPr>
        <p:spPr>
          <a:xfrm>
            <a:off x="1381250" y="922668"/>
            <a:ext cx="7516260" cy="603982"/>
          </a:xfrm>
        </p:spPr>
        <p:txBody>
          <a:bodyPr/>
          <a:lstStyle/>
          <a:p>
            <a:pPr>
              <a:buClr>
                <a:srgbClr val="007DD6"/>
              </a:buClr>
            </a:pPr>
            <a:r>
              <a:rPr lang="fr-FR" dirty="0">
                <a:latin typeface="Lora" charset="0"/>
                <a:ea typeface="Lora" charset="0"/>
                <a:cs typeface="Lora" charset="0"/>
              </a:rPr>
              <a:t>Support génétique de la résistance</a:t>
            </a:r>
          </a:p>
        </p:txBody>
      </p:sp>
      <p:sp>
        <p:nvSpPr>
          <p:cNvPr id="10" name="Oval 9">
            <a:extLst>
              <a:ext uri="{FF2B5EF4-FFF2-40B4-BE49-F238E27FC236}">
                <a16:creationId xmlns:a16="http://schemas.microsoft.com/office/drawing/2014/main" id="{14005BB5-9B9A-DCFE-D701-B42A0544A06D}"/>
              </a:ext>
            </a:extLst>
          </p:cNvPr>
          <p:cNvSpPr>
            <a:spLocks noChangeAspect="1"/>
          </p:cNvSpPr>
          <p:nvPr/>
        </p:nvSpPr>
        <p:spPr>
          <a:xfrm>
            <a:off x="8729028" y="4732020"/>
            <a:ext cx="387540" cy="384048"/>
          </a:xfrm>
          <a:prstGeom prst="ellipse">
            <a:avLst/>
          </a:prstGeom>
          <a:solidFill>
            <a:srgbClr val="007DD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fr-FR" dirty="0">
                <a:solidFill>
                  <a:schemeClr val="bg1"/>
                </a:solidFill>
                <a:latin typeface="Lora" charset="0"/>
                <a:ea typeface="Lora" charset="0"/>
                <a:cs typeface="Lora" charset="0"/>
              </a:rPr>
              <a:t>9</a:t>
            </a:r>
          </a:p>
        </p:txBody>
      </p:sp>
      <p:sp>
        <p:nvSpPr>
          <p:cNvPr id="3" name="Espace réservé du texte 2">
            <a:extLst>
              <a:ext uri="{FF2B5EF4-FFF2-40B4-BE49-F238E27FC236}">
                <a16:creationId xmlns:a16="http://schemas.microsoft.com/office/drawing/2014/main" id="{5A3F52DC-28B2-3456-CB05-EA291DA31E8C}"/>
              </a:ext>
            </a:extLst>
          </p:cNvPr>
          <p:cNvSpPr>
            <a:spLocks noGrp="1"/>
          </p:cNvSpPr>
          <p:nvPr>
            <p:ph type="body" idx="1"/>
          </p:nvPr>
        </p:nvSpPr>
        <p:spPr>
          <a:xfrm>
            <a:off x="334677" y="1526650"/>
            <a:ext cx="8474645" cy="3205370"/>
          </a:xfrm>
        </p:spPr>
        <p:txBody>
          <a:bodyPr/>
          <a:lstStyle/>
          <a:p>
            <a:pPr marL="342900" indent="-342900">
              <a:buClr>
                <a:srgbClr val="007DD6"/>
              </a:buClr>
              <a:buFont typeface="Arial" panose="020B0604020202020204" pitchFamily="34" charset="0"/>
              <a:buChar char="•"/>
            </a:pPr>
            <a:r>
              <a:rPr lang="fr-FR" sz="1500" b="1" dirty="0">
                <a:solidFill>
                  <a:srgbClr val="0069D9"/>
                </a:solidFill>
                <a:latin typeface="Lora" panose="02000503000000020004"/>
              </a:rPr>
              <a:t>2.Acquisition de gènes:</a:t>
            </a:r>
          </a:p>
          <a:p>
            <a:pPr marL="342900" indent="-342900">
              <a:buClr>
                <a:srgbClr val="007DD6"/>
              </a:buClr>
              <a:buFont typeface="Arial" panose="020B0604020202020204" pitchFamily="34" charset="0"/>
              <a:buChar char="•"/>
            </a:pPr>
            <a:r>
              <a:rPr lang="fr-FR" sz="1500" dirty="0">
                <a:latin typeface="Lora" panose="02000503000000020004"/>
              </a:rPr>
              <a:t>Le deuxième moyen pour une bactérie d’évoluer et d’augmenter son patrimoine génétique consiste à incorporer de l’ADN exogène à partir de son environnement. Trois mécanismes d’acquisition génique se distinguent en fonction du mécanisme de transfert horizontal : la conjugaison, la transformation et la transduction</a:t>
            </a:r>
          </a:p>
          <a:p>
            <a:pPr marL="342900" indent="-342900">
              <a:buClr>
                <a:srgbClr val="007DD6"/>
              </a:buClr>
              <a:buFont typeface="Arial" panose="020B0604020202020204" pitchFamily="34" charset="0"/>
              <a:buChar char="•"/>
            </a:pPr>
            <a:r>
              <a:rPr lang="fr-FR" sz="1500" dirty="0">
                <a:latin typeface="Lora" panose="02000503000000020004"/>
              </a:rPr>
              <a:t>La conjugaison est considérée comme le mécanisme principal d’acquisition de gènes de résistance.</a:t>
            </a:r>
          </a:p>
          <a:p>
            <a:pPr marL="342900" indent="-342900">
              <a:buClr>
                <a:srgbClr val="007DD6"/>
              </a:buClr>
              <a:buFont typeface="Arial" panose="020B0604020202020204" pitchFamily="34" charset="0"/>
              <a:buChar char="•"/>
            </a:pPr>
            <a:r>
              <a:rPr lang="fr-FR" sz="1500" b="1" dirty="0">
                <a:solidFill>
                  <a:srgbClr val="0069D9"/>
                </a:solidFill>
                <a:latin typeface="Lora" panose="02000503000000020004"/>
              </a:rPr>
              <a:t>2.a Conjugaison</a:t>
            </a:r>
            <a:r>
              <a:rPr lang="fr-FR" sz="1500" b="1" dirty="0">
                <a:latin typeface="Lora" panose="02000503000000020004"/>
              </a:rPr>
              <a:t>: </a:t>
            </a:r>
            <a:r>
              <a:rPr lang="fr-FR" sz="1500" dirty="0">
                <a:latin typeface="Lora" panose="02000503000000020004"/>
              </a:rPr>
              <a:t>La conjugaison correspond à l’échange de matériel génétique d’une bactérie à une autre par contact direct. (via les pili sexuels).</a:t>
            </a:r>
          </a:p>
          <a:p>
            <a:pPr marL="342900" indent="-342900">
              <a:buClr>
                <a:srgbClr val="007DD6"/>
              </a:buClr>
              <a:buFont typeface="Arial" panose="020B0604020202020204" pitchFamily="34" charset="0"/>
              <a:buChar char="•"/>
            </a:pPr>
            <a:r>
              <a:rPr lang="fr-FR" sz="1500" dirty="0">
                <a:latin typeface="Lora" panose="02000503000000020004"/>
              </a:rPr>
              <a:t>Les plasmides conjugatifs sont des éléments-clés dans la diffusion de la résistance, notamment chez les bactéries à Gram négatif.</a:t>
            </a:r>
          </a:p>
        </p:txBody>
      </p:sp>
    </p:spTree>
    <p:extLst>
      <p:ext uri="{BB962C8B-B14F-4D97-AF65-F5344CB8AC3E}">
        <p14:creationId xmlns:p14="http://schemas.microsoft.com/office/powerpoint/2010/main" val="186815467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6ABF06-9DCF-7F2E-1ED3-8AF8D99184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AC62A80-A7A3-31FA-B638-1DF42D81D2C2}"/>
              </a:ext>
            </a:extLst>
          </p:cNvPr>
          <p:cNvSpPr>
            <a:spLocks noGrp="1"/>
          </p:cNvSpPr>
          <p:nvPr>
            <p:ph type="title"/>
          </p:nvPr>
        </p:nvSpPr>
        <p:spPr>
          <a:xfrm>
            <a:off x="1381250" y="922668"/>
            <a:ext cx="7516260" cy="603982"/>
          </a:xfrm>
        </p:spPr>
        <p:txBody>
          <a:bodyPr/>
          <a:lstStyle/>
          <a:p>
            <a:pPr>
              <a:buClr>
                <a:srgbClr val="007DD6"/>
              </a:buClr>
            </a:pPr>
            <a:r>
              <a:rPr lang="fr-FR" dirty="0">
                <a:latin typeface="Lora" charset="0"/>
                <a:ea typeface="Lora" charset="0"/>
                <a:cs typeface="Lora" charset="0"/>
              </a:rPr>
              <a:t>Support génétique de la résistance</a:t>
            </a:r>
          </a:p>
        </p:txBody>
      </p:sp>
      <p:sp>
        <p:nvSpPr>
          <p:cNvPr id="10" name="Oval 9">
            <a:extLst>
              <a:ext uri="{FF2B5EF4-FFF2-40B4-BE49-F238E27FC236}">
                <a16:creationId xmlns:a16="http://schemas.microsoft.com/office/drawing/2014/main" id="{10A90984-DE02-4470-F4C4-A9BE0AC6DC9E}"/>
              </a:ext>
            </a:extLst>
          </p:cNvPr>
          <p:cNvSpPr>
            <a:spLocks noChangeAspect="1"/>
          </p:cNvSpPr>
          <p:nvPr/>
        </p:nvSpPr>
        <p:spPr>
          <a:xfrm>
            <a:off x="8729028" y="4732020"/>
            <a:ext cx="387540" cy="384048"/>
          </a:xfrm>
          <a:prstGeom prst="ellipse">
            <a:avLst/>
          </a:prstGeom>
          <a:solidFill>
            <a:srgbClr val="007DD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fr-FR" dirty="0">
                <a:solidFill>
                  <a:schemeClr val="bg1"/>
                </a:solidFill>
                <a:latin typeface="Lora" charset="0"/>
                <a:ea typeface="Lora" charset="0"/>
                <a:cs typeface="Lora" charset="0"/>
              </a:rPr>
              <a:t>9</a:t>
            </a:r>
          </a:p>
        </p:txBody>
      </p:sp>
      <p:sp>
        <p:nvSpPr>
          <p:cNvPr id="3" name="Espace réservé du texte 2">
            <a:extLst>
              <a:ext uri="{FF2B5EF4-FFF2-40B4-BE49-F238E27FC236}">
                <a16:creationId xmlns:a16="http://schemas.microsoft.com/office/drawing/2014/main" id="{F156DC72-FE0E-C422-14DB-6E31BAC75878}"/>
              </a:ext>
            </a:extLst>
          </p:cNvPr>
          <p:cNvSpPr>
            <a:spLocks noGrp="1"/>
          </p:cNvSpPr>
          <p:nvPr>
            <p:ph type="body" idx="1"/>
          </p:nvPr>
        </p:nvSpPr>
        <p:spPr>
          <a:xfrm>
            <a:off x="334677" y="1526650"/>
            <a:ext cx="8474645" cy="3205370"/>
          </a:xfrm>
        </p:spPr>
        <p:txBody>
          <a:bodyPr/>
          <a:lstStyle/>
          <a:p>
            <a:pPr marL="342900" indent="-342900">
              <a:buClr>
                <a:srgbClr val="007DD6"/>
              </a:buClr>
              <a:buFont typeface="Arial" panose="020B0604020202020204" pitchFamily="34" charset="0"/>
              <a:buChar char="•"/>
            </a:pPr>
            <a:r>
              <a:rPr lang="fr-FR" sz="1500" b="1" dirty="0">
                <a:solidFill>
                  <a:srgbClr val="0069D9"/>
                </a:solidFill>
                <a:latin typeface="Lora" panose="02000503000000020004"/>
              </a:rPr>
              <a:t>2.b Transformation : </a:t>
            </a:r>
            <a:r>
              <a:rPr lang="fr-FR" sz="1500" dirty="0">
                <a:solidFill>
                  <a:schemeClr val="tx1"/>
                </a:solidFill>
                <a:latin typeface="Lora" panose="02000503000000020004"/>
              </a:rPr>
              <a:t>La transformation correspond à l’intégration d’un fragment d’ADN environnemental dans le génome bactérien ou l’échange par recombinaison. L’information génétique peut être sous forme de plasmide ou d’un brin d’ADN chromosomique issu d’une bactérie lysée. Les bactéries douées de transformation sont dites « naturellement compétentes » comme Streptococcus </a:t>
            </a:r>
            <a:r>
              <a:rPr lang="fr-FR" sz="1500" dirty="0" err="1">
                <a:solidFill>
                  <a:schemeClr val="tx1"/>
                </a:solidFill>
                <a:latin typeface="Lora" panose="02000503000000020004"/>
              </a:rPr>
              <a:t>pneumoniae</a:t>
            </a:r>
            <a:r>
              <a:rPr lang="fr-FR" sz="1500" dirty="0">
                <a:solidFill>
                  <a:schemeClr val="tx1"/>
                </a:solidFill>
                <a:latin typeface="Lora" panose="02000503000000020004"/>
              </a:rPr>
              <a:t>.</a:t>
            </a:r>
          </a:p>
          <a:p>
            <a:pPr marL="342900" indent="-342900">
              <a:buClr>
                <a:srgbClr val="007DD6"/>
              </a:buClr>
              <a:buFont typeface="Arial" panose="020B0604020202020204" pitchFamily="34" charset="0"/>
              <a:buChar char="•"/>
            </a:pPr>
            <a:r>
              <a:rPr lang="fr-FR" sz="1500" dirty="0">
                <a:solidFill>
                  <a:schemeClr val="tx1"/>
                </a:solidFill>
                <a:latin typeface="Lora" panose="02000503000000020004"/>
              </a:rPr>
              <a:t>Des fragments de gènes environnementaux issus d’espèces commensales de streptocoques de l’oropharynx peuvent être intégrés dans le génome bactérien à la place d’une séquence homologue par recombinaison. C’est le cas des gènes encodant les PLP qui peuvent s’intégrer et former des PLP composites également appelées « PLP mosaïques ». Ces PLP composites sont responsables de la sensibilité diminuée à la pénicilline chez S. </a:t>
            </a:r>
            <a:r>
              <a:rPr lang="fr-FR" sz="1500" dirty="0" err="1">
                <a:solidFill>
                  <a:schemeClr val="tx1"/>
                </a:solidFill>
                <a:latin typeface="Lora" panose="02000503000000020004"/>
              </a:rPr>
              <a:t>pneumoniae</a:t>
            </a:r>
            <a:r>
              <a:rPr lang="fr-FR" sz="1500" dirty="0">
                <a:solidFill>
                  <a:schemeClr val="tx1"/>
                </a:solidFill>
                <a:latin typeface="Lora" panose="02000503000000020004"/>
              </a:rPr>
              <a:t>.</a:t>
            </a:r>
          </a:p>
        </p:txBody>
      </p:sp>
    </p:spTree>
    <p:extLst>
      <p:ext uri="{BB962C8B-B14F-4D97-AF65-F5344CB8AC3E}">
        <p14:creationId xmlns:p14="http://schemas.microsoft.com/office/powerpoint/2010/main" val="96897450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7D13CB-5638-7C95-5D97-8502E38860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9590AAC-4DDE-540B-0228-53D9471F17E8}"/>
              </a:ext>
            </a:extLst>
          </p:cNvPr>
          <p:cNvSpPr>
            <a:spLocks noGrp="1"/>
          </p:cNvSpPr>
          <p:nvPr>
            <p:ph type="ctrTitle"/>
          </p:nvPr>
        </p:nvSpPr>
        <p:spPr>
          <a:xfrm>
            <a:off x="2022225" y="1693523"/>
            <a:ext cx="6495051" cy="1159799"/>
          </a:xfrm>
        </p:spPr>
        <p:txBody>
          <a:bodyPr/>
          <a:lstStyle/>
          <a:p>
            <a:pPr>
              <a:buClr>
                <a:srgbClr val="007DD6"/>
              </a:buClr>
            </a:pPr>
            <a:r>
              <a:rPr lang="fr-FR" dirty="0">
                <a:latin typeface="Lora" charset="0"/>
                <a:ea typeface="Lora" charset="0"/>
                <a:cs typeface="Lora" charset="0"/>
              </a:rPr>
              <a:t>Conclusion</a:t>
            </a:r>
          </a:p>
        </p:txBody>
      </p:sp>
      <p:sp>
        <p:nvSpPr>
          <p:cNvPr id="10" name="TextBox 9">
            <a:extLst>
              <a:ext uri="{FF2B5EF4-FFF2-40B4-BE49-F238E27FC236}">
                <a16:creationId xmlns:a16="http://schemas.microsoft.com/office/drawing/2014/main" id="{201B574F-A5E3-241D-7121-C1008D98C275}"/>
              </a:ext>
            </a:extLst>
          </p:cNvPr>
          <p:cNvSpPr txBox="1"/>
          <p:nvPr/>
        </p:nvSpPr>
        <p:spPr>
          <a:xfrm>
            <a:off x="1232899" y="2343895"/>
            <a:ext cx="351378" cy="461665"/>
          </a:xfrm>
          <a:prstGeom prst="rect">
            <a:avLst/>
          </a:prstGeom>
          <a:noFill/>
        </p:spPr>
        <p:txBody>
          <a:bodyPr wrap="none" rtlCol="0">
            <a:spAutoFit/>
          </a:bodyPr>
          <a:lstStyle/>
          <a:p>
            <a:r>
              <a:rPr lang="fr-FR" sz="2400" b="1" dirty="0">
                <a:solidFill>
                  <a:schemeClr val="bg1"/>
                </a:solidFill>
                <a:latin typeface="Lora" charset="0"/>
                <a:ea typeface="Lora" charset="0"/>
                <a:cs typeface="Lora" charset="0"/>
              </a:rPr>
              <a:t>5</a:t>
            </a:r>
            <a:endParaRPr lang="fr-FR" sz="2000" b="1" dirty="0">
              <a:solidFill>
                <a:schemeClr val="bg1"/>
              </a:solidFill>
              <a:latin typeface="Lora" charset="0"/>
              <a:ea typeface="Lora" charset="0"/>
              <a:cs typeface="Lora" charset="0"/>
            </a:endParaRPr>
          </a:p>
        </p:txBody>
      </p:sp>
      <p:sp>
        <p:nvSpPr>
          <p:cNvPr id="7" name="Oval 6">
            <a:extLst>
              <a:ext uri="{FF2B5EF4-FFF2-40B4-BE49-F238E27FC236}">
                <a16:creationId xmlns:a16="http://schemas.microsoft.com/office/drawing/2014/main" id="{54F51CF3-846E-1E4E-EA9E-B33A307D693F}"/>
              </a:ext>
            </a:extLst>
          </p:cNvPr>
          <p:cNvSpPr>
            <a:spLocks noChangeAspect="1"/>
          </p:cNvSpPr>
          <p:nvPr/>
        </p:nvSpPr>
        <p:spPr>
          <a:xfrm>
            <a:off x="8729028" y="4732020"/>
            <a:ext cx="387540" cy="384048"/>
          </a:xfrm>
          <a:prstGeom prst="ellipse">
            <a:avLst/>
          </a:prstGeom>
          <a:solidFill>
            <a:srgbClr val="007DD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fr-FR" dirty="0">
                <a:solidFill>
                  <a:schemeClr val="bg1"/>
                </a:solidFill>
                <a:latin typeface="Lora" charset="0"/>
                <a:ea typeface="Lora" charset="0"/>
                <a:cs typeface="Lora" charset="0"/>
              </a:rPr>
              <a:t>33</a:t>
            </a:r>
          </a:p>
        </p:txBody>
      </p:sp>
    </p:spTree>
    <p:extLst>
      <p:ext uri="{BB962C8B-B14F-4D97-AF65-F5344CB8AC3E}">
        <p14:creationId xmlns:p14="http://schemas.microsoft.com/office/powerpoint/2010/main" val="195321872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81250" y="922668"/>
            <a:ext cx="4834615" cy="435599"/>
          </a:xfrm>
        </p:spPr>
        <p:txBody>
          <a:bodyPr/>
          <a:lstStyle/>
          <a:p>
            <a:r>
              <a:rPr lang="fr-FR" dirty="0">
                <a:latin typeface="Lora" charset="0"/>
                <a:ea typeface="Lora" charset="0"/>
                <a:cs typeface="Lora" charset="0"/>
              </a:rPr>
              <a:t>Conclusion:</a:t>
            </a:r>
            <a:endParaRPr lang="fr-FR" dirty="0">
              <a:solidFill>
                <a:srgbClr val="007DD6"/>
              </a:solidFill>
            </a:endParaRPr>
          </a:p>
        </p:txBody>
      </p:sp>
      <p:sp>
        <p:nvSpPr>
          <p:cNvPr id="3" name="Text Placeholder 2"/>
          <p:cNvSpPr>
            <a:spLocks noGrp="1"/>
          </p:cNvSpPr>
          <p:nvPr>
            <p:ph type="body" idx="1"/>
          </p:nvPr>
        </p:nvSpPr>
        <p:spPr>
          <a:xfrm>
            <a:off x="170688" y="1431419"/>
            <a:ext cx="8814816" cy="3501528"/>
          </a:xfrm>
        </p:spPr>
        <p:txBody>
          <a:bodyPr numCol="1"/>
          <a:lstStyle/>
          <a:p>
            <a:pPr marL="457200" indent="-457200">
              <a:buClr>
                <a:schemeClr val="accent1"/>
              </a:buClr>
              <a:buFont typeface="Arial" panose="020B0604020202020204" pitchFamily="34" charset="0"/>
              <a:buChar char="•"/>
            </a:pPr>
            <a:r>
              <a:rPr lang="fr-FR" sz="1800" dirty="0">
                <a:latin typeface="Lora" pitchFamily="2" charset="0"/>
              </a:rPr>
              <a:t>La résistance aux antibiotiques est un enjeu de santé publique contemporain qui ne cesse de gagner en importance du fait de l’émergence de bactéries toujours plus résistantes. Pour les combattre, de nouvelles molécules ont été développées et ont systématiquement été succédées par la mise en évidence d’isolats résistants.</a:t>
            </a:r>
          </a:p>
          <a:p>
            <a:pPr marL="457200" indent="-457200">
              <a:buClr>
                <a:schemeClr val="accent1"/>
              </a:buClr>
              <a:buFont typeface="Arial" panose="020B0604020202020204" pitchFamily="34" charset="0"/>
              <a:buChar char="•"/>
            </a:pPr>
            <a:r>
              <a:rPr lang="fr-FR" sz="1800" dirty="0">
                <a:latin typeface="Lora" pitchFamily="2" charset="0"/>
              </a:rPr>
              <a:t>les bactéries ont toujours réussi à s’adapter par des mécanismes complexes et variés pour empêcher ou perturber la liaison de l’antibiotique à sa cible. </a:t>
            </a:r>
          </a:p>
          <a:p>
            <a:pPr marL="457200" indent="-457200">
              <a:buClr>
                <a:schemeClr val="accent1"/>
              </a:buClr>
              <a:buFont typeface="Arial" panose="020B0604020202020204" pitchFamily="34" charset="0"/>
              <a:buChar char="•"/>
            </a:pPr>
            <a:r>
              <a:rPr lang="fr-FR" sz="1800" dirty="0">
                <a:latin typeface="Lora" pitchFamily="2" charset="0"/>
              </a:rPr>
              <a:t>Certains isolats sont particulièrement surveillés comme les souches d’E-BLSE ( entérobactéries sécrétrices de béta-lactamase à spectre élargi) , d’EPC (entérobactéries sécrétrices de </a:t>
            </a:r>
            <a:r>
              <a:rPr lang="fr-FR" sz="1800" dirty="0" err="1">
                <a:latin typeface="Lora" pitchFamily="2" charset="0"/>
              </a:rPr>
              <a:t>carbapénémases</a:t>
            </a:r>
            <a:r>
              <a:rPr lang="fr-FR" sz="1800" dirty="0">
                <a:latin typeface="Lora" pitchFamily="2" charset="0"/>
              </a:rPr>
              <a:t>), de SARM (Staphylococcus aureus résistant à la méticilline) ou d’ERV ( entérocoque résistant à la vancomycine) . </a:t>
            </a:r>
          </a:p>
        </p:txBody>
      </p:sp>
      <p:sp>
        <p:nvSpPr>
          <p:cNvPr id="11" name="Oval 10"/>
          <p:cNvSpPr>
            <a:spLocks noChangeAspect="1"/>
          </p:cNvSpPr>
          <p:nvPr/>
        </p:nvSpPr>
        <p:spPr>
          <a:xfrm>
            <a:off x="8729028" y="4732020"/>
            <a:ext cx="387540" cy="384048"/>
          </a:xfrm>
          <a:prstGeom prst="ellipse">
            <a:avLst/>
          </a:prstGeom>
          <a:solidFill>
            <a:srgbClr val="007DD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fr-FR" dirty="0">
                <a:solidFill>
                  <a:schemeClr val="bg1"/>
                </a:solidFill>
                <a:latin typeface="Lora" charset="0"/>
                <a:ea typeface="Lora" charset="0"/>
                <a:cs typeface="Lora" charset="0"/>
              </a:rPr>
              <a:t>34</a:t>
            </a:r>
          </a:p>
        </p:txBody>
      </p:sp>
    </p:spTree>
    <p:extLst>
      <p:ext uri="{BB962C8B-B14F-4D97-AF65-F5344CB8AC3E}">
        <p14:creationId xmlns:p14="http://schemas.microsoft.com/office/powerpoint/2010/main" val="18277001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77D702-FA00-7D53-CBBE-99E10C33F48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8E0FE5-7BA3-628A-E461-F3F157205535}"/>
              </a:ext>
            </a:extLst>
          </p:cNvPr>
          <p:cNvSpPr>
            <a:spLocks noGrp="1"/>
          </p:cNvSpPr>
          <p:nvPr>
            <p:ph type="title"/>
          </p:nvPr>
        </p:nvSpPr>
        <p:spPr>
          <a:xfrm>
            <a:off x="1381250" y="922668"/>
            <a:ext cx="4834615" cy="435599"/>
          </a:xfrm>
        </p:spPr>
        <p:txBody>
          <a:bodyPr/>
          <a:lstStyle/>
          <a:p>
            <a:r>
              <a:rPr lang="fr-FR" dirty="0">
                <a:latin typeface="Lora" charset="0"/>
                <a:ea typeface="Lora" charset="0"/>
                <a:cs typeface="Lora" charset="0"/>
              </a:rPr>
              <a:t>Conclusion:</a:t>
            </a:r>
            <a:endParaRPr lang="fr-FR" dirty="0">
              <a:solidFill>
                <a:srgbClr val="007DD6"/>
              </a:solidFill>
            </a:endParaRPr>
          </a:p>
        </p:txBody>
      </p:sp>
      <p:sp>
        <p:nvSpPr>
          <p:cNvPr id="3" name="Text Placeholder 2">
            <a:extLst>
              <a:ext uri="{FF2B5EF4-FFF2-40B4-BE49-F238E27FC236}">
                <a16:creationId xmlns:a16="http://schemas.microsoft.com/office/drawing/2014/main" id="{6CBE797F-35A3-BCD4-E03D-5758B2AF91ED}"/>
              </a:ext>
            </a:extLst>
          </p:cNvPr>
          <p:cNvSpPr>
            <a:spLocks noGrp="1"/>
          </p:cNvSpPr>
          <p:nvPr>
            <p:ph type="body" idx="1"/>
          </p:nvPr>
        </p:nvSpPr>
        <p:spPr>
          <a:xfrm>
            <a:off x="170688" y="1431419"/>
            <a:ext cx="8814816" cy="3501528"/>
          </a:xfrm>
        </p:spPr>
        <p:txBody>
          <a:bodyPr numCol="1"/>
          <a:lstStyle/>
          <a:p>
            <a:pPr marL="457200" indent="-457200">
              <a:buClr>
                <a:schemeClr val="accent1"/>
              </a:buClr>
              <a:buFont typeface="Arial" panose="020B0604020202020204" pitchFamily="34" charset="0"/>
              <a:buChar char="•"/>
            </a:pPr>
            <a:r>
              <a:rPr lang="fr-FR" sz="1800" dirty="0">
                <a:latin typeface="Lora" pitchFamily="2" charset="0"/>
              </a:rPr>
              <a:t>Les bactéries comme les autres agents infectieux ne peuvent se cantonner aux frontières et il convient d’entreprendre des actions à l’échelle mondiale pour limiter leur diffusion. Différentes stratégies peuvent être proposées et reposent en général sur le bon usage des antibiotiques « l’</a:t>
            </a:r>
            <a:r>
              <a:rPr lang="fr-FR" sz="1800" dirty="0" err="1">
                <a:latin typeface="Lora" pitchFamily="2" charset="0"/>
              </a:rPr>
              <a:t>antimicrobial</a:t>
            </a:r>
            <a:r>
              <a:rPr lang="fr-FR" sz="1800" dirty="0">
                <a:latin typeface="Lora" pitchFamily="2" charset="0"/>
              </a:rPr>
              <a:t> </a:t>
            </a:r>
            <a:r>
              <a:rPr lang="fr-FR" sz="1800" dirty="0" err="1">
                <a:latin typeface="Lora" pitchFamily="2" charset="0"/>
              </a:rPr>
              <a:t>stewardship</a:t>
            </a:r>
            <a:r>
              <a:rPr lang="fr-FR" sz="1800" dirty="0">
                <a:latin typeface="Lora" pitchFamily="2" charset="0"/>
              </a:rPr>
              <a:t> » et l’amélioration de l’hygiène. L’antibiothérapie doit être évitée au maximum et restreinte aux molécules ayant le spectre le plus étroit possible</a:t>
            </a:r>
          </a:p>
          <a:p>
            <a:pPr marL="457200" indent="-457200">
              <a:buClr>
                <a:schemeClr val="accent1"/>
              </a:buClr>
              <a:buFont typeface="Arial" panose="020B0604020202020204" pitchFamily="34" charset="0"/>
              <a:buChar char="•"/>
            </a:pPr>
            <a:r>
              <a:rPr lang="fr-FR" sz="1800" dirty="0">
                <a:latin typeface="Lora" pitchFamily="2" charset="0"/>
              </a:rPr>
              <a:t>Dans une approche de santé globale, la veille antibiotique doit également concerner les espèces animales et leurs environnements associés qui permettent la circulation de bactéries résistantes de l’animal à l’homme et inversement. </a:t>
            </a:r>
          </a:p>
        </p:txBody>
      </p:sp>
      <p:sp>
        <p:nvSpPr>
          <p:cNvPr id="11" name="Oval 10">
            <a:extLst>
              <a:ext uri="{FF2B5EF4-FFF2-40B4-BE49-F238E27FC236}">
                <a16:creationId xmlns:a16="http://schemas.microsoft.com/office/drawing/2014/main" id="{024FB119-B62D-69C7-1B53-2C51BA0D9C1A}"/>
              </a:ext>
            </a:extLst>
          </p:cNvPr>
          <p:cNvSpPr>
            <a:spLocks noChangeAspect="1"/>
          </p:cNvSpPr>
          <p:nvPr/>
        </p:nvSpPr>
        <p:spPr>
          <a:xfrm>
            <a:off x="8729028" y="4732020"/>
            <a:ext cx="387540" cy="384048"/>
          </a:xfrm>
          <a:prstGeom prst="ellipse">
            <a:avLst/>
          </a:prstGeom>
          <a:solidFill>
            <a:srgbClr val="007DD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fr-FR" dirty="0">
                <a:solidFill>
                  <a:schemeClr val="bg1"/>
                </a:solidFill>
                <a:latin typeface="Lora" charset="0"/>
                <a:ea typeface="Lora" charset="0"/>
                <a:cs typeface="Lora" charset="0"/>
              </a:rPr>
              <a:t>34</a:t>
            </a:r>
          </a:p>
        </p:txBody>
      </p:sp>
    </p:spTree>
    <p:extLst>
      <p:ext uri="{BB962C8B-B14F-4D97-AF65-F5344CB8AC3E}">
        <p14:creationId xmlns:p14="http://schemas.microsoft.com/office/powerpoint/2010/main" val="2082052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81250" y="922668"/>
            <a:ext cx="4834615" cy="435599"/>
          </a:xfrm>
        </p:spPr>
        <p:txBody>
          <a:bodyPr/>
          <a:lstStyle/>
          <a:p>
            <a:r>
              <a:rPr lang="fr-FR" dirty="0">
                <a:latin typeface="Lora" charset="0"/>
                <a:ea typeface="Lora" charset="0"/>
                <a:cs typeface="Lora" charset="0"/>
              </a:rPr>
              <a:t>Bibliographie</a:t>
            </a:r>
            <a:endParaRPr lang="fr-FR" dirty="0">
              <a:solidFill>
                <a:srgbClr val="007DD6"/>
              </a:solidFill>
            </a:endParaRPr>
          </a:p>
        </p:txBody>
      </p:sp>
      <p:sp>
        <p:nvSpPr>
          <p:cNvPr id="3" name="Text Placeholder 2"/>
          <p:cNvSpPr>
            <a:spLocks noGrp="1"/>
          </p:cNvSpPr>
          <p:nvPr>
            <p:ph type="body" idx="1"/>
          </p:nvPr>
        </p:nvSpPr>
        <p:spPr>
          <a:xfrm>
            <a:off x="170688" y="1431419"/>
            <a:ext cx="8814816" cy="3501528"/>
          </a:xfrm>
        </p:spPr>
        <p:txBody>
          <a:bodyPr numCol="1"/>
          <a:lstStyle/>
          <a:p>
            <a:pPr marL="457200" indent="-457200">
              <a:buClr>
                <a:schemeClr val="accent1"/>
              </a:buClr>
              <a:buFont typeface="Arial" panose="020B0604020202020204" pitchFamily="34" charset="0"/>
              <a:buChar char="•"/>
            </a:pPr>
            <a:r>
              <a:rPr lang="fr-FR" sz="1400" dirty="0">
                <a:latin typeface="Lora" pitchFamily="2" charset="0"/>
              </a:rPr>
              <a:t>Penven M, </a:t>
            </a:r>
            <a:r>
              <a:rPr lang="fr-FR" sz="1400" dirty="0" err="1">
                <a:latin typeface="Lora" pitchFamily="2" charset="0"/>
              </a:rPr>
              <a:t>Cattoir</a:t>
            </a:r>
            <a:r>
              <a:rPr lang="fr-FR" sz="1400" dirty="0">
                <a:latin typeface="Lora" pitchFamily="2" charset="0"/>
              </a:rPr>
              <a:t> V. Résistance bactérienne aux antibiotiques : définitions, mécanismes et évolution. EMC - Maladies infectieuses </a:t>
            </a:r>
            <a:r>
              <a:rPr lang="fr-FR" sz="1400" b="1" dirty="0">
                <a:latin typeface="Lora" pitchFamily="2" charset="0"/>
              </a:rPr>
              <a:t>2022</a:t>
            </a:r>
            <a:r>
              <a:rPr lang="fr-FR" sz="1400" dirty="0">
                <a:latin typeface="Lora" pitchFamily="2" charset="0"/>
              </a:rPr>
              <a:t>;39(4):1-17 [Article 8-006-N-10].</a:t>
            </a:r>
          </a:p>
          <a:p>
            <a:pPr marL="457200" indent="-457200">
              <a:buClr>
                <a:schemeClr val="accent1"/>
              </a:buClr>
              <a:buFont typeface="Arial" panose="020B0604020202020204" pitchFamily="34" charset="0"/>
              <a:buChar char="•"/>
            </a:pPr>
            <a:r>
              <a:rPr lang="fr-FR" sz="1400" dirty="0">
                <a:latin typeface="Lora" pitchFamily="2" charset="0"/>
              </a:rPr>
              <a:t>Pharmacie clinique et thérapeutique Elsevier </a:t>
            </a:r>
            <a:r>
              <a:rPr lang="fr-FR" sz="1400" b="1" dirty="0">
                <a:latin typeface="Lora" pitchFamily="2" charset="0"/>
              </a:rPr>
              <a:t>2019</a:t>
            </a:r>
            <a:r>
              <a:rPr lang="fr-FR" sz="1400" dirty="0">
                <a:latin typeface="Lora" pitchFamily="2" charset="0"/>
              </a:rPr>
              <a:t> Béatrice </a:t>
            </a:r>
            <a:r>
              <a:rPr lang="fr-FR" sz="1400" dirty="0" err="1">
                <a:latin typeface="Lora" pitchFamily="2" charset="0"/>
              </a:rPr>
              <a:t>Demoré</a:t>
            </a:r>
            <a:r>
              <a:rPr lang="fr-FR" sz="1400" dirty="0">
                <a:latin typeface="Lora" pitchFamily="2" charset="0"/>
              </a:rPr>
              <a:t> Ch42: Généralités sur les antibiotiques par voie systémique et principes d'utilisation.</a:t>
            </a:r>
          </a:p>
          <a:p>
            <a:pPr marL="457200" indent="-457200">
              <a:buClr>
                <a:schemeClr val="accent1"/>
              </a:buClr>
              <a:buFont typeface="Arial" panose="020B0604020202020204" pitchFamily="34" charset="0"/>
              <a:buChar char="•"/>
            </a:pPr>
            <a:endParaRPr lang="fr-FR" sz="1400" dirty="0">
              <a:latin typeface="Lora" pitchFamily="2" charset="0"/>
            </a:endParaRPr>
          </a:p>
        </p:txBody>
      </p:sp>
      <p:sp>
        <p:nvSpPr>
          <p:cNvPr id="11" name="Oval 10"/>
          <p:cNvSpPr>
            <a:spLocks noChangeAspect="1"/>
          </p:cNvSpPr>
          <p:nvPr/>
        </p:nvSpPr>
        <p:spPr>
          <a:xfrm>
            <a:off x="8729028" y="4732020"/>
            <a:ext cx="387540" cy="384048"/>
          </a:xfrm>
          <a:prstGeom prst="ellipse">
            <a:avLst/>
          </a:prstGeom>
          <a:solidFill>
            <a:srgbClr val="007DD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fr-FR" dirty="0">
                <a:solidFill>
                  <a:schemeClr val="bg1"/>
                </a:solidFill>
                <a:latin typeface="Lora" charset="0"/>
                <a:ea typeface="Lora" charset="0"/>
                <a:cs typeface="Lora" charset="0"/>
              </a:rPr>
              <a:t>35</a:t>
            </a:r>
          </a:p>
        </p:txBody>
      </p:sp>
    </p:spTree>
    <p:extLst>
      <p:ext uri="{BB962C8B-B14F-4D97-AF65-F5344CB8AC3E}">
        <p14:creationId xmlns:p14="http://schemas.microsoft.com/office/powerpoint/2010/main" val="14932189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cxnSp>
        <p:nvCxnSpPr>
          <p:cNvPr id="87" name="Shape 87"/>
          <p:cNvCxnSpPr/>
          <p:nvPr/>
        </p:nvCxnSpPr>
        <p:spPr>
          <a:xfrm>
            <a:off x="6450" y="1428750"/>
            <a:ext cx="2397299" cy="0"/>
          </a:xfrm>
          <a:prstGeom prst="straightConnector1">
            <a:avLst/>
          </a:prstGeom>
          <a:noFill/>
          <a:ln w="9525" cap="flat" cmpd="sng">
            <a:solidFill>
              <a:srgbClr val="CCCCCC"/>
            </a:solidFill>
            <a:prstDash val="solid"/>
            <a:round/>
            <a:headEnd type="none" w="lg" len="lg"/>
            <a:tailEnd type="none" w="lg" len="lg"/>
          </a:ln>
        </p:spPr>
      </p:cxnSp>
      <p:sp>
        <p:nvSpPr>
          <p:cNvPr id="89" name="Shape 89"/>
          <p:cNvSpPr txBox="1">
            <a:spLocks noGrp="1"/>
          </p:cNvSpPr>
          <p:nvPr>
            <p:ph type="ctrTitle" idx="4294967295"/>
          </p:nvPr>
        </p:nvSpPr>
        <p:spPr>
          <a:xfrm>
            <a:off x="2371625" y="816550"/>
            <a:ext cx="4908000" cy="1159799"/>
          </a:xfrm>
          <a:prstGeom prst="rect">
            <a:avLst/>
          </a:prstGeom>
          <a:noFill/>
          <a:ln>
            <a:noFill/>
          </a:ln>
        </p:spPr>
        <p:txBody>
          <a:bodyPr lIns="91425" tIns="91425" rIns="91425" bIns="91425" anchor="ctr" anchorCtr="0">
            <a:noAutofit/>
          </a:bodyPr>
          <a:lstStyle/>
          <a:p>
            <a:pPr>
              <a:spcBef>
                <a:spcPts val="0"/>
              </a:spcBef>
              <a:buNone/>
            </a:pPr>
            <a:r>
              <a:rPr lang="fr-FR" sz="6000" dirty="0">
                <a:solidFill>
                  <a:srgbClr val="007DD6"/>
                </a:solidFill>
              </a:rPr>
              <a:t>Merci</a:t>
            </a:r>
            <a:r>
              <a:rPr lang="en" sz="6000" dirty="0">
                <a:solidFill>
                  <a:srgbClr val="007DD6"/>
                </a:solidFill>
              </a:rPr>
              <a:t>!</a:t>
            </a:r>
          </a:p>
        </p:txBody>
      </p:sp>
      <p:cxnSp>
        <p:nvCxnSpPr>
          <p:cNvPr id="90" name="Shape 90"/>
          <p:cNvCxnSpPr/>
          <p:nvPr/>
        </p:nvCxnSpPr>
        <p:spPr>
          <a:xfrm>
            <a:off x="4800600" y="1428750"/>
            <a:ext cx="4343300" cy="0"/>
          </a:xfrm>
          <a:prstGeom prst="straightConnector1">
            <a:avLst/>
          </a:prstGeom>
          <a:noFill/>
          <a:ln w="9525" cap="flat" cmpd="sng">
            <a:solidFill>
              <a:srgbClr val="CCCCCC"/>
            </a:solidFill>
            <a:prstDash val="solid"/>
            <a:round/>
            <a:headEnd type="none" w="lg" len="lg"/>
            <a:tailEnd type="none" w="lg" len="lg"/>
          </a:ln>
        </p:spPr>
      </p:cxnSp>
      <p:sp>
        <p:nvSpPr>
          <p:cNvPr id="7" name="Shape 403"/>
          <p:cNvSpPr/>
          <p:nvPr/>
        </p:nvSpPr>
        <p:spPr>
          <a:xfrm>
            <a:off x="-6226" y="4707750"/>
            <a:ext cx="9150225" cy="435599"/>
          </a:xfrm>
          <a:prstGeom prst="rect">
            <a:avLst/>
          </a:prstGeom>
          <a:solidFill>
            <a:srgbClr val="007DD6"/>
          </a:solidFill>
          <a:ln>
            <a:noFill/>
          </a:ln>
        </p:spPr>
        <p:txBody>
          <a:bodyPr lIns="91425" tIns="91425" rIns="91425" bIns="91425" anchor="ctr" anchorCtr="0">
            <a:noAutofit/>
          </a:bodyPr>
          <a:lstStyle/>
          <a:p>
            <a:pPr>
              <a:spcBef>
                <a:spcPts val="0"/>
              </a:spcBef>
              <a:buNone/>
            </a:pPr>
            <a:endParaRPr>
              <a:solidFill>
                <a:srgbClr val="FC6403"/>
              </a:solidFill>
            </a:endParaRPr>
          </a:p>
        </p:txBody>
      </p:sp>
    </p:spTree>
    <p:extLst>
      <p:ext uri="{BB962C8B-B14F-4D97-AF65-F5344CB8AC3E}">
        <p14:creationId xmlns:p14="http://schemas.microsoft.com/office/powerpoint/2010/main" val="975433301"/>
      </p:ext>
    </p:extLst>
  </p:cSld>
  <p:clrMapOvr>
    <a:masterClrMapping/>
  </p:clrMapOvr>
  <p:transition spd="slow">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4" presetClass="emph" presetSubtype="0" fill="hold" grpId="0" nodeType="clickEffect">
                                  <p:stCondLst>
                                    <p:cond delay="0"/>
                                  </p:stCondLst>
                                  <p:iterate type="lt">
                                    <p:tmPct val="10000"/>
                                  </p:iterate>
                                  <p:childTnLst>
                                    <p:animMotion origin="layout" path="M 0.0 0.0 L 0.0 -0.07213" pathEditMode="relative" ptsTypes="">
                                      <p:cBhvr>
                                        <p:cTn id="6" dur="250" accel="50000" decel="50000" autoRev="1" fill="hold">
                                          <p:stCondLst>
                                            <p:cond delay="0"/>
                                          </p:stCondLst>
                                        </p:cTn>
                                        <p:tgtEl>
                                          <p:spTgt spid="89"/>
                                        </p:tgtEl>
                                        <p:attrNameLst>
                                          <p:attrName>ppt_x</p:attrName>
                                          <p:attrName>ppt_y</p:attrName>
                                        </p:attrNameLst>
                                      </p:cBhvr>
                                    </p:animMotion>
                                    <p:animRot by="1500000">
                                      <p:cBhvr>
                                        <p:cTn id="7" dur="125" fill="hold">
                                          <p:stCondLst>
                                            <p:cond delay="0"/>
                                          </p:stCondLst>
                                        </p:cTn>
                                        <p:tgtEl>
                                          <p:spTgt spid="89"/>
                                        </p:tgtEl>
                                        <p:attrNameLst>
                                          <p:attrName>r</p:attrName>
                                        </p:attrNameLst>
                                      </p:cBhvr>
                                    </p:animRot>
                                    <p:animRot by="-1500000">
                                      <p:cBhvr>
                                        <p:cTn id="8" dur="125" fill="hold">
                                          <p:stCondLst>
                                            <p:cond delay="125"/>
                                          </p:stCondLst>
                                        </p:cTn>
                                        <p:tgtEl>
                                          <p:spTgt spid="89"/>
                                        </p:tgtEl>
                                        <p:attrNameLst>
                                          <p:attrName>r</p:attrName>
                                        </p:attrNameLst>
                                      </p:cBhvr>
                                    </p:animRot>
                                    <p:animRot by="-1500000">
                                      <p:cBhvr>
                                        <p:cTn id="9" dur="125" fill="hold">
                                          <p:stCondLst>
                                            <p:cond delay="250"/>
                                          </p:stCondLst>
                                        </p:cTn>
                                        <p:tgtEl>
                                          <p:spTgt spid="89"/>
                                        </p:tgtEl>
                                        <p:attrNameLst>
                                          <p:attrName>r</p:attrName>
                                        </p:attrNameLst>
                                      </p:cBhvr>
                                    </p:animRot>
                                    <p:animRot by="1500000">
                                      <p:cBhvr>
                                        <p:cTn id="10" dur="125" fill="hold">
                                          <p:stCondLst>
                                            <p:cond delay="375"/>
                                          </p:stCondLst>
                                        </p:cTn>
                                        <p:tgtEl>
                                          <p:spTgt spid="89"/>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 grpId="0"/>
    </p:bldLst>
  </p:timing>
</p:sld>
</file>

<file path=ppt/theme/theme1.xml><?xml version="1.0" encoding="utf-8"?>
<a:theme xmlns:a="http://schemas.openxmlformats.org/drawingml/2006/main" name="Viola template">
  <a:themeElements>
    <a:clrScheme name="Custom 1">
      <a:dk1>
        <a:srgbClr val="000000"/>
      </a:dk1>
      <a:lt1>
        <a:srgbClr val="FFFFFF"/>
      </a:lt1>
      <a:dk2>
        <a:srgbClr val="666666"/>
      </a:dk2>
      <a:lt2>
        <a:srgbClr val="CCCCCC"/>
      </a:lt2>
      <a:accent1>
        <a:srgbClr val="3A81BA"/>
      </a:accent1>
      <a:accent2>
        <a:srgbClr val="0399FC"/>
      </a:accent2>
      <a:accent3>
        <a:srgbClr val="8BAB42"/>
      </a:accent3>
      <a:accent4>
        <a:srgbClr val="57A7B5"/>
      </a:accent4>
      <a:accent5>
        <a:srgbClr val="8B81D2"/>
      </a:accent5>
      <a:accent6>
        <a:srgbClr val="963334"/>
      </a:accent6>
      <a:hlink>
        <a:srgbClr val="1155CC"/>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26805</TotalTime>
  <Words>1950</Words>
  <Application>Microsoft Office PowerPoint</Application>
  <PresentationFormat>Affichage à l'écran (16:9)</PresentationFormat>
  <Paragraphs>142</Paragraphs>
  <Slides>32</Slides>
  <Notes>32</Notes>
  <HiddenSlides>0</HiddenSlides>
  <MMClips>0</MMClips>
  <ScaleCrop>false</ScaleCrop>
  <HeadingPairs>
    <vt:vector size="6" baseType="variant">
      <vt:variant>
        <vt:lpstr>Polices utilisées</vt:lpstr>
      </vt:variant>
      <vt:variant>
        <vt:i4>8</vt:i4>
      </vt:variant>
      <vt:variant>
        <vt:lpstr>Thème</vt:lpstr>
      </vt:variant>
      <vt:variant>
        <vt:i4>1</vt:i4>
      </vt:variant>
      <vt:variant>
        <vt:lpstr>Titres des diapositives</vt:lpstr>
      </vt:variant>
      <vt:variant>
        <vt:i4>32</vt:i4>
      </vt:variant>
    </vt:vector>
  </HeadingPairs>
  <TitlesOfParts>
    <vt:vector size="41" baseType="lpstr">
      <vt:lpstr>Arial</vt:lpstr>
      <vt:lpstr>Cambria Math</vt:lpstr>
      <vt:lpstr>Lora</vt:lpstr>
      <vt:lpstr>LucidaGrande</vt:lpstr>
      <vt:lpstr>Quattrocento Sans</vt:lpstr>
      <vt:lpstr>StoneSans</vt:lpstr>
      <vt:lpstr>Times New Roman</vt:lpstr>
      <vt:lpstr>Wingdings</vt:lpstr>
      <vt:lpstr>Viola template</vt:lpstr>
      <vt:lpstr>La résistance aux antibiotiques</vt:lpstr>
      <vt:lpstr>Objectifs pédagogiques</vt:lpstr>
      <vt:lpstr>Plan</vt:lpstr>
      <vt:lpstr>Introduction</vt:lpstr>
      <vt:lpstr>Introduction:</vt:lpstr>
      <vt:lpstr>Définition</vt:lpstr>
      <vt:lpstr>Définition</vt:lpstr>
      <vt:lpstr>Les différents mécanismes de résistance</vt:lpstr>
      <vt:lpstr>Les différents mécanismes de résistance</vt:lpstr>
      <vt:lpstr>Les différents mécanismes de résistance</vt:lpstr>
      <vt:lpstr>Les différents mécanismes de résistance</vt:lpstr>
      <vt:lpstr>Les différents mécanismes de résistance</vt:lpstr>
      <vt:lpstr>Les différents mécanismes de résistance</vt:lpstr>
      <vt:lpstr>Les différents mécanismes de résistance</vt:lpstr>
      <vt:lpstr>Les différents mécanismes de résistance</vt:lpstr>
      <vt:lpstr>Les différents mécanismes de résistance</vt:lpstr>
      <vt:lpstr>Les différents mécanismes de résistance</vt:lpstr>
      <vt:lpstr>Les différents mécanismes de résistance</vt:lpstr>
      <vt:lpstr>Les différents mécanismes de résistance</vt:lpstr>
      <vt:lpstr>Les différents mécanismes de résistance</vt:lpstr>
      <vt:lpstr>Les différents mécanismes de résistance</vt:lpstr>
      <vt:lpstr>Les différents mécanismes de résistance</vt:lpstr>
      <vt:lpstr>Principaux mécanismes de résistance par famille/genre bactérien</vt:lpstr>
      <vt:lpstr>Support génétique de la résistance</vt:lpstr>
      <vt:lpstr>Support génétique de la résistance</vt:lpstr>
      <vt:lpstr>Support génétique de la résistance</vt:lpstr>
      <vt:lpstr>Support génétique de la résistance</vt:lpstr>
      <vt:lpstr>Conclusion</vt:lpstr>
      <vt:lpstr>Conclusion:</vt:lpstr>
      <vt:lpstr>Conclusion:</vt:lpstr>
      <vt:lpstr>Bibliographie</vt:lpstr>
      <vt:lpstr>Merci!</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Antiseptique - désinfectant - stérilisation pharmacie 2023</dc:title>
  <dc:creator>Omar K</dc:creator>
  <cp:lastModifiedBy>dell</cp:lastModifiedBy>
  <cp:revision>1620</cp:revision>
  <dcterms:modified xsi:type="dcterms:W3CDTF">2025-06-02T09:42:25Z</dcterms:modified>
</cp:coreProperties>
</file>