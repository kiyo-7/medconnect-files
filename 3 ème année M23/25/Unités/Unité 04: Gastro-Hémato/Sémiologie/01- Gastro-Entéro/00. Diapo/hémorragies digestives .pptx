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93" r:id="rId2"/>
    <p:sldId id="257" r:id="rId3"/>
    <p:sldId id="256" r:id="rId4"/>
    <p:sldId id="258" r:id="rId5"/>
    <p:sldId id="291" r:id="rId6"/>
    <p:sldId id="259" r:id="rId7"/>
    <p:sldId id="261" r:id="rId8"/>
    <p:sldId id="260" r:id="rId9"/>
    <p:sldId id="262" r:id="rId10"/>
    <p:sldId id="268" r:id="rId11"/>
    <p:sldId id="263" r:id="rId12"/>
    <p:sldId id="264" r:id="rId13"/>
    <p:sldId id="266" r:id="rId14"/>
    <p:sldId id="267" r:id="rId15"/>
    <p:sldId id="299" r:id="rId16"/>
    <p:sldId id="269" r:id="rId17"/>
    <p:sldId id="270" r:id="rId18"/>
    <p:sldId id="271" r:id="rId19"/>
    <p:sldId id="272" r:id="rId20"/>
    <p:sldId id="275" r:id="rId21"/>
    <p:sldId id="274" r:id="rId22"/>
    <p:sldId id="276" r:id="rId23"/>
    <p:sldId id="278" r:id="rId24"/>
    <p:sldId id="277" r:id="rId25"/>
    <p:sldId id="297" r:id="rId26"/>
    <p:sldId id="280" r:id="rId27"/>
    <p:sldId id="279" r:id="rId28"/>
    <p:sldId id="281" r:id="rId29"/>
    <p:sldId id="282" r:id="rId30"/>
    <p:sldId id="283" r:id="rId31"/>
    <p:sldId id="285" r:id="rId32"/>
    <p:sldId id="284" r:id="rId33"/>
    <p:sldId id="286" r:id="rId34"/>
    <p:sldId id="287" r:id="rId35"/>
    <p:sldId id="289" r:id="rId36"/>
    <p:sldId id="298" r:id="rId37"/>
    <p:sldId id="300"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02" autoAdjust="0"/>
  </p:normalViewPr>
  <p:slideViewPr>
    <p:cSldViewPr snapToGrid="0">
      <p:cViewPr varScale="1">
        <p:scale>
          <a:sx n="57" d="100"/>
          <a:sy n="57" d="100"/>
        </p:scale>
        <p:origin x="11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167EB-C3A8-4F12-9E48-3F50261435E1}" type="datetimeFigureOut">
              <a:rPr lang="fr-FR" smtClean="0"/>
              <a:t>23/04/2026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7AC0A-9FEE-4CBE-B860-992C89531FEE}" type="slidenum">
              <a:rPr lang="fr-FR" smtClean="0"/>
              <a:t>‹#›</a:t>
            </a:fld>
            <a:endParaRPr lang="fr-FR"/>
          </a:p>
        </p:txBody>
      </p:sp>
    </p:spTree>
    <p:extLst>
      <p:ext uri="{BB962C8B-B14F-4D97-AF65-F5344CB8AC3E}">
        <p14:creationId xmlns:p14="http://schemas.microsoft.com/office/powerpoint/2010/main" val="4191611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 cours d’aujourd’hui est très important car l’hémorragie digestive représente une urgence vitale fréquente en pratique médicale. </a:t>
            </a:r>
          </a:p>
          <a:p>
            <a:r>
              <a:rPr lang="fr-FR" dirty="0"/>
              <a:t>En tant que futurs médecins, il est essentiel de savoir reconnaître et prendre en charge correctement les situations d’urgence, car une prise en charge </a:t>
            </a:r>
            <a:r>
              <a:rPr lang="fr-FR" b="1" dirty="0"/>
              <a:t>inadaptée peut entraîner le décès du patient</a:t>
            </a:r>
            <a:r>
              <a:rPr lang="fr-FR" dirty="0"/>
              <a:t> ou laisser des séquelles graves et invalidantes. </a:t>
            </a:r>
          </a:p>
          <a:p>
            <a:r>
              <a:rPr lang="fr-FR" dirty="0"/>
              <a:t>À l’inverse, dans les situations non urgentes, dites « froides », le médecin </a:t>
            </a:r>
            <a:r>
              <a:rPr lang="fr-FR" b="1" dirty="0"/>
              <a:t>dispose de plus de temps </a:t>
            </a:r>
            <a:r>
              <a:rPr lang="fr-FR" dirty="0"/>
              <a:t>pour évaluer le patient et l’orienter si nécessaire vers un confrère.</a:t>
            </a:r>
          </a:p>
          <a:p>
            <a:endParaRPr lang="fr-FR" dirty="0"/>
          </a:p>
          <a:p>
            <a:r>
              <a:rPr lang="fr-FR" dirty="0"/>
              <a:t>L’hémorragie digestive constitue une urgence à la fois médicale et chirurgicale, car elle nécessite d’abord un traitement médical initial, et en cas d’échec de celui-ci, un recours à la chirurgie </a:t>
            </a:r>
            <a:r>
              <a:rPr lang="fr-FR" b="1" dirty="0"/>
              <a:t>devient indispensable.</a:t>
            </a:r>
          </a:p>
          <a:p>
            <a:endParaRPr lang="fr-FR" b="1" dirty="0"/>
          </a:p>
          <a:p>
            <a:r>
              <a:rPr lang="fr-FR" dirty="0"/>
              <a:t>La gravité d’une hémorragie digestive dépend essentiellement de son abondance. </a:t>
            </a:r>
            <a:endParaRPr lang="fr-FR" b="1"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a:t>
            </a:fld>
            <a:endParaRPr lang="fr-FR"/>
          </a:p>
        </p:txBody>
      </p:sp>
    </p:spTree>
    <p:extLst>
      <p:ext uri="{BB962C8B-B14F-4D97-AF65-F5344CB8AC3E}">
        <p14:creationId xmlns:p14="http://schemas.microsoft.com/office/powerpoint/2010/main" val="1673074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 tube digestif est un ensemble d’organes creux qui s’étend de la bouche jusqu’à l’anus et dont la fonction principale est d’assurer la digestion des aliments.</a:t>
            </a:r>
          </a:p>
          <a:p>
            <a:r>
              <a:rPr lang="fr-FR" dirty="0"/>
              <a:t>Il comprend </a:t>
            </a:r>
            <a:r>
              <a:rPr lang="fr-FR" b="1" dirty="0"/>
              <a:t>successivement </a:t>
            </a:r>
            <a:r>
              <a:rPr lang="fr-FR" dirty="0"/>
              <a:t>la bouche, le pharynx, l’œsophage, l’estomac, l’intestin grêle et le côlon, auxquels s’ajoutent les structures terminales comme le rectum et l’anus.</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a:t>
            </a:fld>
            <a:endParaRPr lang="fr-FR"/>
          </a:p>
        </p:txBody>
      </p:sp>
    </p:spTree>
    <p:extLst>
      <p:ext uri="{BB962C8B-B14F-4D97-AF65-F5344CB8AC3E}">
        <p14:creationId xmlns:p14="http://schemas.microsoft.com/office/powerpoint/2010/main" val="473010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L’hémorragie fait suite à une effraction vasculaire </a:t>
            </a:r>
            <a:r>
              <a:rPr lang="fr-FR" b="1" dirty="0"/>
              <a:t>soit d’origine </a:t>
            </a:r>
            <a:r>
              <a:rPr lang="fr-FR" dirty="0"/>
              <a:t>:</a:t>
            </a:r>
          </a:p>
          <a:p>
            <a:endParaRPr lang="ar-DZ" dirty="0"/>
          </a:p>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4</a:t>
            </a:fld>
            <a:endParaRPr lang="fr-FR"/>
          </a:p>
        </p:txBody>
      </p:sp>
    </p:spTree>
    <p:extLst>
      <p:ext uri="{BB962C8B-B14F-4D97-AF65-F5344CB8AC3E}">
        <p14:creationId xmlns:p14="http://schemas.microsoft.com/office/powerpoint/2010/main" val="750759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L’hémorragie fait suite à une effraction vasculaire </a:t>
            </a:r>
            <a:r>
              <a:rPr lang="fr-FR" b="1" dirty="0"/>
              <a:t>soit d’origine </a:t>
            </a:r>
            <a:r>
              <a:rPr lang="fr-FR" dirty="0"/>
              <a:t>:</a:t>
            </a:r>
          </a:p>
          <a:p>
            <a:endParaRPr lang="ar-DZ" dirty="0"/>
          </a:p>
          <a:p>
            <a:r>
              <a:rPr lang="fr-FR" dirty="0"/>
              <a:t>La paroi de l’estomac est constituée de quatre tuniques histologiques principales, organisées de l’intérieur vers l’extérieur:</a:t>
            </a:r>
          </a:p>
          <a:p>
            <a:pPr marL="171450" indent="-171450">
              <a:buFont typeface="Arial" panose="020B0604020202020204" pitchFamily="34" charset="0"/>
              <a:buChar char="•"/>
            </a:pPr>
            <a:r>
              <a:rPr lang="fr-FR" b="1" dirty="0"/>
              <a:t>Muqueuse</a:t>
            </a:r>
            <a:r>
              <a:rPr lang="fr-FR" dirty="0"/>
              <a:t> : épithélium glandulaire + chorion + </a:t>
            </a:r>
            <a:r>
              <a:rPr lang="fr-FR" dirty="0" err="1"/>
              <a:t>muscularis</a:t>
            </a:r>
            <a:r>
              <a:rPr lang="fr-FR" dirty="0"/>
              <a:t> </a:t>
            </a:r>
            <a:r>
              <a:rPr lang="fr-FR" dirty="0" err="1"/>
              <a:t>mucosae</a:t>
            </a:r>
            <a:r>
              <a:rPr lang="fr-FR" dirty="0"/>
              <a:t> → sécrétion (mucus, </a:t>
            </a:r>
            <a:r>
              <a:rPr lang="fr-FR" dirty="0" err="1"/>
              <a:t>HCl</a:t>
            </a:r>
            <a:r>
              <a:rPr lang="fr-FR" dirty="0"/>
              <a:t>, enzymes) </a:t>
            </a:r>
          </a:p>
          <a:p>
            <a:pPr marL="171450" indent="-171450">
              <a:buFont typeface="Arial" panose="020B0604020202020204" pitchFamily="34" charset="0"/>
              <a:buChar char="•"/>
            </a:pPr>
            <a:r>
              <a:rPr lang="fr-FR" b="1" dirty="0"/>
              <a:t>Sous-muqueuse</a:t>
            </a:r>
            <a:r>
              <a:rPr lang="fr-FR" dirty="0"/>
              <a:t> : tissu conjonctif riche en vaisseaux, lymphatiques et plexus de Meissner </a:t>
            </a:r>
          </a:p>
          <a:p>
            <a:pPr marL="171450" indent="-171450">
              <a:buFont typeface="Arial" panose="020B0604020202020204" pitchFamily="34" charset="0"/>
              <a:buChar char="•"/>
            </a:pPr>
            <a:r>
              <a:rPr lang="fr-FR" b="1" dirty="0"/>
              <a:t>Musculeuse</a:t>
            </a:r>
            <a:r>
              <a:rPr lang="fr-FR" dirty="0"/>
              <a:t> : 3 couches de muscles lisses (oblique, circulaire, longitudinale) → motricité et brassage </a:t>
            </a:r>
          </a:p>
          <a:p>
            <a:pPr marL="171450" indent="-171450">
              <a:buFont typeface="Arial" panose="020B0604020202020204" pitchFamily="34" charset="0"/>
              <a:buChar char="•"/>
            </a:pPr>
            <a:r>
              <a:rPr lang="fr-FR" b="1" dirty="0"/>
              <a:t>Séreuse</a:t>
            </a:r>
            <a:r>
              <a:rPr lang="fr-FR" dirty="0"/>
              <a:t> : péritoine viscéral → protection et glissement de l’estomac</a:t>
            </a:r>
            <a:endParaRPr lang="fr-FR" b="0" dirty="0"/>
          </a:p>
          <a:p>
            <a:endParaRPr lang="fr-FR" b="0" dirty="0"/>
          </a:p>
          <a:p>
            <a:endParaRPr lang="fr-FR" b="0" dirty="0"/>
          </a:p>
          <a:p>
            <a:r>
              <a:rPr lang="fr-FR" b="1" dirty="0"/>
              <a:t>Érosion</a:t>
            </a:r>
            <a:r>
              <a:rPr lang="fr-FR" dirty="0"/>
              <a:t> : superficielle, limitée à la muqueuse </a:t>
            </a:r>
          </a:p>
          <a:p>
            <a:r>
              <a:rPr lang="fr-FR" b="1" dirty="0"/>
              <a:t>Ulcère</a:t>
            </a:r>
            <a:r>
              <a:rPr lang="fr-FR" dirty="0"/>
              <a:t> : profond, avec destruction tissulaire plus importante dépassant la muqueuse</a:t>
            </a:r>
          </a:p>
          <a:p>
            <a:r>
              <a:rPr lang="fr-FR" b="1" dirty="0"/>
              <a:t>les vaisseaux (dont les artères)</a:t>
            </a:r>
            <a:r>
              <a:rPr lang="fr-FR" dirty="0"/>
              <a:t> cheminent surtout dans la </a:t>
            </a:r>
            <a:r>
              <a:rPr lang="fr-FR" b="1" dirty="0"/>
              <a:t>sous-muqueuse</a:t>
            </a:r>
            <a:r>
              <a:rPr lang="fr-FR" dirty="0"/>
              <a:t>.</a:t>
            </a:r>
          </a:p>
          <a:p>
            <a:endParaRPr lang="fr-FR" b="0" dirty="0"/>
          </a:p>
          <a:p>
            <a:r>
              <a:rPr lang="fr-FR" b="1" dirty="0"/>
              <a:t>La veine porte est une grosse veine </a:t>
            </a:r>
            <a:r>
              <a:rPr lang="fr-FR" dirty="0"/>
              <a:t>qui transporte le sang provenant des organes digestifs vers le foie.</a:t>
            </a:r>
            <a:endParaRPr lang="fr-FR" b="0" dirty="0"/>
          </a:p>
          <a:p>
            <a:r>
              <a:rPr lang="fr-FR" b="0" dirty="0"/>
              <a:t>Les varices œsophagiennes sont des dilatations anormales, permanentes et tortueuses des veines sous-muqueuses de l’œsophage, secondaires à une hypertension portale</a:t>
            </a:r>
            <a:r>
              <a:rPr lang="fr-FR" dirty="0"/>
              <a:t>.</a:t>
            </a:r>
          </a:p>
          <a:p>
            <a:pPr marL="0" indent="0">
              <a:buFontTx/>
              <a:buNone/>
            </a:pPr>
            <a:r>
              <a:rPr lang="fr-FR" dirty="0"/>
              <a:t>- L’augmentation de la pression dans le système porte (&gt; 10–12 </a:t>
            </a:r>
            <a:r>
              <a:rPr lang="fr-FR" dirty="0" err="1"/>
              <a:t>mmHg</a:t>
            </a:r>
            <a:r>
              <a:rPr lang="fr-FR" dirty="0"/>
              <a:t> seuil à partir duquel apparaissent les varices) </a:t>
            </a:r>
          </a:p>
          <a:p>
            <a:r>
              <a:rPr lang="fr-FR" dirty="0"/>
              <a:t>- Le sang cherche à contourner l’obstacle hépatique :</a:t>
            </a:r>
            <a:r>
              <a:rPr lang="ar-DZ" dirty="0"/>
              <a:t> </a:t>
            </a:r>
            <a:r>
              <a:rPr lang="fr-FR" dirty="0"/>
              <a:t>mise en jeu de circuits de dérivation (shunts porto-caves), au niveau œsophagien : anastomose entre veine gastrique gauche (porte) et veines œsophagiennes (système cave)</a:t>
            </a:r>
          </a:p>
          <a:p>
            <a:r>
              <a:rPr lang="fr-FR" dirty="0"/>
              <a:t>- Sous l’effet du flux et de la pression :dilatation progressive des veines sous-muqueuses et formation de </a:t>
            </a:r>
            <a:r>
              <a:rPr lang="fr-FR" b="0" dirty="0"/>
              <a:t>varices œsophagiennes</a:t>
            </a:r>
          </a:p>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5</a:t>
            </a:fld>
            <a:endParaRPr lang="fr-FR"/>
          </a:p>
        </p:txBody>
      </p:sp>
    </p:spTree>
    <p:extLst>
      <p:ext uri="{BB962C8B-B14F-4D97-AF65-F5344CB8AC3E}">
        <p14:creationId xmlns:p14="http://schemas.microsoft.com/office/powerpoint/2010/main" val="1753955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a:t>Les circonstances de découverte d’une hémorragie digestive sont de deux types : </a:t>
            </a:r>
          </a:p>
          <a:p>
            <a:pPr marL="171450" indent="-171450">
              <a:buFont typeface="Arial" panose="020B0604020202020204" pitchFamily="34" charset="0"/>
              <a:buChar char="•"/>
            </a:pPr>
            <a:r>
              <a:rPr lang="fr-FR" dirty="0"/>
              <a:t>soit elle est objectivée directement lorsqu’il s’agit d’une hémorragie extériorisée</a:t>
            </a:r>
          </a:p>
          <a:p>
            <a:pPr marL="171450" indent="-171450">
              <a:buFont typeface="Arial" panose="020B0604020202020204" pitchFamily="34" charset="0"/>
              <a:buChar char="•"/>
            </a:pPr>
            <a:r>
              <a:rPr lang="fr-FR" dirty="0"/>
              <a:t>soit elle est suspectée devant des arguments indirects en cas d’hémorragie occulte.</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6</a:t>
            </a:fld>
            <a:endParaRPr lang="fr-FR"/>
          </a:p>
        </p:txBody>
      </p:sp>
    </p:spTree>
    <p:extLst>
      <p:ext uri="{BB962C8B-B14F-4D97-AF65-F5344CB8AC3E}">
        <p14:creationId xmlns:p14="http://schemas.microsoft.com/office/powerpoint/2010/main" val="3979954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a:t>L’hémorragie digestive non extériorisée, appelée aussi saignement occulte, correspond à une perte de sang au niveau du tube digestif qui n’est pas visible cliniquement (absence d’hématémèse ou de méléna). </a:t>
            </a:r>
          </a:p>
          <a:p>
            <a:pPr marL="0" indent="0">
              <a:buFontTx/>
              <a:buNone/>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Peut se manifeste par deux tableaux </a:t>
            </a:r>
            <a:r>
              <a:rPr lang="fr-FR" b="1" dirty="0"/>
              <a:t>selon l’abondance </a:t>
            </a:r>
            <a:r>
              <a:rPr lang="fr-FR" dirty="0"/>
              <a:t>et la durée du saignement.</a:t>
            </a:r>
          </a:p>
          <a:p>
            <a:pPr marL="0" indent="0">
              <a:buFontTx/>
              <a:buNone/>
            </a:pPr>
            <a:endParaRPr lang="fr-FR" dirty="0"/>
          </a:p>
          <a:p>
            <a:pPr marL="0" indent="0">
              <a:buFontTx/>
              <a:buNone/>
            </a:pPr>
            <a:r>
              <a:rPr lang="fr-FR" dirty="0"/>
              <a:t>Dans un premier cas, il s’agit d’un tableau d’anémie aiguë. </a:t>
            </a:r>
          </a:p>
          <a:p>
            <a:pPr marL="0" indent="0">
              <a:buFontTx/>
              <a:buNone/>
            </a:pPr>
            <a:r>
              <a:rPr lang="fr-FR" dirty="0"/>
              <a:t>Cela survient lorsque l’hémorragie est abondante mais que le sang n’est pas immédiatement extériorisé. </a:t>
            </a:r>
          </a:p>
          <a:p>
            <a:pPr marL="0" indent="0">
              <a:buFontTx/>
              <a:buNone/>
            </a:pPr>
            <a:r>
              <a:rPr lang="fr-FR" dirty="0"/>
              <a:t>Le patient peut alors présenter un état de choc hypovolémique lié à la diminution brutale du volume sanguin.</a:t>
            </a:r>
          </a:p>
          <a:p>
            <a:pPr marL="0" indent="0">
              <a:buFontTx/>
              <a:buNone/>
            </a:pPr>
            <a:endParaRPr lang="fr-FR" dirty="0"/>
          </a:p>
          <a:p>
            <a:pPr marL="0" indent="0">
              <a:buFontTx/>
              <a:buNone/>
            </a:pPr>
            <a:r>
              <a:rPr lang="fr-FR" dirty="0"/>
              <a:t>Dans un deuxième cas, il s’agit d’un </a:t>
            </a:r>
            <a:r>
              <a:rPr lang="fr-FR" b="0" dirty="0"/>
              <a:t>tableau d’anémie chronique ferriprive. </a:t>
            </a:r>
          </a:p>
          <a:p>
            <a:pPr marL="0" indent="0">
              <a:buFontTx/>
              <a:buNone/>
            </a:pPr>
            <a:r>
              <a:rPr lang="fr-FR" dirty="0"/>
              <a:t>Ici, le saignement est de faible abondance mais persistant dans le temps, sans extériorisation visible. </a:t>
            </a:r>
          </a:p>
          <a:p>
            <a:pPr marL="0" indent="0">
              <a:buFontTx/>
              <a:buNone/>
            </a:pPr>
            <a:r>
              <a:rPr lang="fr-FR" dirty="0"/>
              <a:t>Cette perte chronique de fer entraîne progressivement une anémie.</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7</a:t>
            </a:fld>
            <a:endParaRPr lang="fr-FR"/>
          </a:p>
        </p:txBody>
      </p:sp>
    </p:spTree>
    <p:extLst>
      <p:ext uri="{BB962C8B-B14F-4D97-AF65-F5344CB8AC3E}">
        <p14:creationId xmlns:p14="http://schemas.microsoft.com/office/powerpoint/2010/main" val="3289881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b="0" dirty="0"/>
              <a:t>Sang spumeux: sang aéré, mousseux, souvent mélangé à de l’air → typique d’une origine respiratoire (ex : hémoptysie) </a:t>
            </a:r>
          </a:p>
          <a:p>
            <a:pPr marL="0" indent="0">
              <a:buFontTx/>
              <a:buNone/>
            </a:pPr>
            <a:r>
              <a:rPr lang="fr-FR" b="0" dirty="0"/>
              <a:t>Sang non spumeux : sang homogène, sans bulles → typique d’une origine digestive (ex : hématémèse)</a:t>
            </a:r>
          </a:p>
          <a:p>
            <a:pPr marL="0" indent="0">
              <a:buFontTx/>
              <a:buNone/>
            </a:pPr>
            <a:endParaRPr lang="fr-FR" b="0" dirty="0"/>
          </a:p>
          <a:p>
            <a:pPr marL="0" indent="0">
              <a:buFontTx/>
              <a:buNone/>
            </a:pPr>
            <a:r>
              <a:rPr lang="fr-FR" b="0" dirty="0"/>
              <a:t>L’angle de Treitz (ou angle </a:t>
            </a:r>
            <a:r>
              <a:rPr lang="fr-FR" b="1" dirty="0" err="1"/>
              <a:t>duodéno-jéjunal</a:t>
            </a:r>
            <a:r>
              <a:rPr lang="fr-FR" b="0" dirty="0"/>
              <a:t>) est la zone de transition entre le duodénum (D4) et le jéjunum, située dans la partie supérieure gauche de l’abdomen.</a:t>
            </a:r>
          </a:p>
          <a:p>
            <a:r>
              <a:rPr lang="fr-FR" b="0" dirty="0"/>
              <a:t>C’est un angle fixe où :</a:t>
            </a:r>
          </a:p>
          <a:p>
            <a:r>
              <a:rPr lang="fr-FR" b="0" dirty="0"/>
              <a:t>- le duodénum ascendant (D4) devient jéjunum </a:t>
            </a:r>
          </a:p>
          <a:p>
            <a:r>
              <a:rPr lang="fr-FR" b="0" dirty="0"/>
              <a:t>- maintenu par le ligament de Treitz (muscle suspenseur du duodénum)</a:t>
            </a:r>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8</a:t>
            </a:fld>
            <a:endParaRPr lang="fr-FR"/>
          </a:p>
        </p:txBody>
      </p:sp>
    </p:spTree>
    <p:extLst>
      <p:ext uri="{BB962C8B-B14F-4D97-AF65-F5344CB8AC3E}">
        <p14:creationId xmlns:p14="http://schemas.microsoft.com/office/powerpoint/2010/main" val="899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Les deux peuvent coexister car ils proviennent souvent d’une </a:t>
            </a:r>
            <a:endParaRPr lang="fr-FR" b="0" dirty="0"/>
          </a:p>
          <a:p>
            <a:r>
              <a:rPr lang="fr-FR" dirty="0"/>
              <a:t>Lors d’un saignement au niveau de l’œsophage, de l’estomac ou du duodénum :</a:t>
            </a:r>
          </a:p>
          <a:p>
            <a:r>
              <a:rPr lang="fr-FR" b="0" dirty="0"/>
              <a:t>- Une partie du sang est vomie</a:t>
            </a:r>
            <a:br>
              <a:rPr lang="fr-FR" b="0" dirty="0"/>
            </a:br>
            <a:r>
              <a:rPr lang="fr-FR" b="0" dirty="0"/>
              <a:t>- donne une hématémèse</a:t>
            </a:r>
          </a:p>
          <a:p>
            <a:r>
              <a:rPr lang="fr-FR" b="0" dirty="0"/>
              <a:t>- Une autre partie du sang descend dans le tube digestif</a:t>
            </a:r>
            <a:br>
              <a:rPr lang="fr-FR" b="0" dirty="0"/>
            </a:br>
            <a:r>
              <a:rPr lang="fr-FR" b="0" dirty="0"/>
              <a:t>- elle est digérée par les sucs digestifs</a:t>
            </a:r>
          </a:p>
          <a:p>
            <a:r>
              <a:rPr lang="fr-FR" b="0" dirty="0"/>
              <a:t>- Ce sang digéré devient noir</a:t>
            </a:r>
            <a:br>
              <a:rPr lang="fr-FR" b="0" dirty="0"/>
            </a:br>
            <a:r>
              <a:rPr lang="fr-FR" b="0" dirty="0"/>
              <a:t>- éliminé dans les selles sous forme de méléna</a:t>
            </a:r>
          </a:p>
          <a:p>
            <a:endParaRPr lang="fr-FR" b="0" dirty="0"/>
          </a:p>
          <a:p>
            <a:endParaRPr lang="fr-FR" b="0" dirty="0"/>
          </a:p>
          <a:p>
            <a:r>
              <a:rPr lang="fr-FR" b="1" dirty="0"/>
              <a:t>Cas habituel (saignement modéré)</a:t>
            </a:r>
          </a:p>
          <a:p>
            <a:r>
              <a:rPr lang="fr-FR" b="0" dirty="0"/>
              <a:t>Le sang reste longtemps dans l’intestin </a:t>
            </a:r>
          </a:p>
          <a:p>
            <a:r>
              <a:rPr lang="fr-FR" b="0" dirty="0"/>
              <a:t>Il est digéré par les enzymes et bactéries</a:t>
            </a:r>
            <a:br>
              <a:rPr lang="fr-FR" b="0" dirty="0"/>
            </a:br>
            <a:r>
              <a:rPr lang="fr-FR" b="0" dirty="0"/>
              <a:t>devient noir, goudronneux → méléna </a:t>
            </a:r>
          </a:p>
          <a:p>
            <a:br>
              <a:rPr lang="fr-FR" dirty="0"/>
            </a:br>
            <a:r>
              <a:rPr lang="fr-FR" b="1" dirty="0"/>
              <a:t>Cas d’hémorragie massive</a:t>
            </a:r>
          </a:p>
          <a:p>
            <a:r>
              <a:rPr lang="fr-FR" b="0" dirty="0"/>
              <a:t>Volume sanguin très important </a:t>
            </a:r>
          </a:p>
          <a:p>
            <a:r>
              <a:rPr lang="fr-FR" b="0" dirty="0"/>
              <a:t>Effet « chasse d’eau » dans l’intestin </a:t>
            </a:r>
          </a:p>
          <a:p>
            <a:r>
              <a:rPr lang="fr-FR" b="0" dirty="0"/>
              <a:t>Accélération du transit intestinal </a:t>
            </a:r>
          </a:p>
          <a:p>
            <a:r>
              <a:rPr lang="fr-FR" b="0" dirty="0"/>
              <a:t>le sang : n’a pas le temps d’être digéré ,reste rouge</a:t>
            </a:r>
          </a:p>
          <a:p>
            <a:r>
              <a:rPr lang="fr-FR" dirty="0"/>
              <a:t>En cas d’hémorragie digestive haute massive, </a:t>
            </a:r>
            <a:r>
              <a:rPr lang="fr-FR" b="1" dirty="0"/>
              <a:t>le transit rapide empêche </a:t>
            </a:r>
            <a:r>
              <a:rPr lang="fr-FR" dirty="0"/>
              <a:t>la digestion du sang, qui est alors extériorisé sous forme de rectorragie.</a:t>
            </a:r>
            <a:endParaRPr lang="fr-FR" b="0" dirty="0"/>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9</a:t>
            </a:fld>
            <a:endParaRPr lang="fr-FR"/>
          </a:p>
        </p:txBody>
      </p:sp>
    </p:spTree>
    <p:extLst>
      <p:ext uri="{BB962C8B-B14F-4D97-AF65-F5344CB8AC3E}">
        <p14:creationId xmlns:p14="http://schemas.microsoft.com/office/powerpoint/2010/main" val="851784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En fonction de l’abondance On distingue :</a:t>
            </a:r>
          </a:p>
          <a:p>
            <a:endParaRPr lang="fr-FR" dirty="0"/>
          </a:p>
          <a:p>
            <a:r>
              <a:rPr lang="fr-FR" b="0" dirty="0"/>
              <a:t>Le sang extériorisé ne reflète pas la perte réelle</a:t>
            </a:r>
          </a:p>
          <a:p>
            <a:r>
              <a:rPr lang="fr-FR" b="0" dirty="0"/>
              <a:t>Une partie du sang reste dans le tube digestif </a:t>
            </a:r>
          </a:p>
          <a:p>
            <a:r>
              <a:rPr lang="fr-FR" b="0" dirty="0"/>
              <a:t>Donc ce que tu vois (hématémèse, méléna, rectorragie) est souvent sous-estimé</a:t>
            </a:r>
          </a:p>
          <a:p>
            <a:endParaRPr lang="fr-FR" dirty="0"/>
          </a:p>
          <a:p>
            <a:endParaRPr lang="fr-FR" dirty="0"/>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10</a:t>
            </a:fld>
            <a:endParaRPr lang="fr-FR"/>
          </a:p>
        </p:txBody>
      </p:sp>
    </p:spTree>
    <p:extLst>
      <p:ext uri="{BB962C8B-B14F-4D97-AF65-F5344CB8AC3E}">
        <p14:creationId xmlns:p14="http://schemas.microsoft.com/office/powerpoint/2010/main" val="790440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b="0" dirty="0"/>
              <a:t>l’épistaxis correspond à un saignement de nez, peut être antérieur ou postérieur</a:t>
            </a:r>
          </a:p>
          <a:p>
            <a:pPr marL="0" indent="0">
              <a:buFontTx/>
              <a:buNone/>
            </a:pPr>
            <a:endParaRPr lang="fr-FR" b="0" dirty="0"/>
          </a:p>
          <a:p>
            <a:pPr marL="0" indent="0">
              <a:buFontTx/>
              <a:buNone/>
            </a:pPr>
            <a:r>
              <a:rPr lang="fr-FR" b="0" dirty="0"/>
              <a:t>L’</a:t>
            </a:r>
            <a:r>
              <a:rPr lang="fr-FR" b="0" dirty="0" err="1"/>
              <a:t>hémosialémèse</a:t>
            </a:r>
            <a:r>
              <a:rPr lang="fr-FR" b="0" dirty="0"/>
              <a:t> correspond à l’émission de salive mêlée de sang par la bouche, provenant des voies aériennes supérieures (oropharynx, cavité buccale, nasopharynx ou voies respiratoires supérieures).</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11</a:t>
            </a:fld>
            <a:endParaRPr lang="fr-FR"/>
          </a:p>
        </p:txBody>
      </p:sp>
    </p:spTree>
    <p:extLst>
      <p:ext uri="{BB962C8B-B14F-4D97-AF65-F5344CB8AC3E}">
        <p14:creationId xmlns:p14="http://schemas.microsoft.com/office/powerpoint/2010/main" val="4093360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a:t>Lors de la mise en place d’une </a:t>
            </a:r>
            <a:r>
              <a:rPr lang="fr-FR" b="0" dirty="0"/>
              <a:t>sonde naso-gastrique</a:t>
            </a:r>
            <a:r>
              <a:rPr lang="fr-FR" dirty="0"/>
              <a:t>, son extrémité doit progresser selon le trajet suivant : Nez → nasopharynx → oropharynx → œsophage → estomac</a:t>
            </a:r>
          </a:p>
          <a:p>
            <a:pPr marL="0" indent="0">
              <a:buFontTx/>
              <a:buNone/>
            </a:pPr>
            <a:r>
              <a:rPr lang="fr-FR" b="0" dirty="0"/>
              <a:t>L’extrémité de la sonde doit se situer dans l’estomac (généralement dans l’antre gastrique).</a:t>
            </a:r>
          </a:p>
          <a:p>
            <a:pPr marL="0" indent="0">
              <a:buFontTx/>
              <a:buNone/>
            </a:pPr>
            <a:r>
              <a:rPr lang="fr-FR" b="0" dirty="0"/>
              <a:t>C’est la première portion du duodénum, juste après le pylore de l’estomac</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12</a:t>
            </a:fld>
            <a:endParaRPr lang="fr-FR"/>
          </a:p>
        </p:txBody>
      </p:sp>
    </p:spTree>
    <p:extLst>
      <p:ext uri="{BB962C8B-B14F-4D97-AF65-F5344CB8AC3E}">
        <p14:creationId xmlns:p14="http://schemas.microsoft.com/office/powerpoint/2010/main" val="2888875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1" dirty="0"/>
              <a:t>Ulcération gastrique (érosion)</a:t>
            </a:r>
          </a:p>
          <a:p>
            <a:r>
              <a:rPr lang="fr-FR" b="0" dirty="0"/>
              <a:t>Lésion superficielle de la muqueuse</a:t>
            </a:r>
          </a:p>
          <a:p>
            <a:r>
              <a:rPr lang="fr-FR" b="0" dirty="0"/>
              <a:t>Atteint uniquement l’épithélium ou la muqueuse superficielle </a:t>
            </a:r>
          </a:p>
          <a:p>
            <a:r>
              <a:rPr lang="fr-FR" b="0" dirty="0"/>
              <a:t>Ne dépasse pas la musculaire muqueuse </a:t>
            </a:r>
          </a:p>
          <a:p>
            <a:endParaRPr lang="fr-FR" b="0" dirty="0"/>
          </a:p>
          <a:p>
            <a:r>
              <a:rPr lang="fr-FR" b="1" dirty="0"/>
              <a:t>Ulcère gastrique</a:t>
            </a:r>
          </a:p>
          <a:p>
            <a:r>
              <a:rPr lang="fr-FR" b="0" dirty="0"/>
              <a:t>Lésion profonde, </a:t>
            </a:r>
            <a:r>
              <a:rPr lang="fr-FR" b="0" dirty="0" err="1"/>
              <a:t>creusante</a:t>
            </a:r>
            <a:endParaRPr lang="fr-FR" b="0" dirty="0"/>
          </a:p>
          <a:p>
            <a:r>
              <a:rPr lang="fr-FR" b="0" dirty="0"/>
              <a:t>Dépasse la musculaire muqueuse </a:t>
            </a:r>
          </a:p>
          <a:p>
            <a:r>
              <a:rPr lang="fr-FR" b="0" dirty="0"/>
              <a:t>Peut atteindre : </a:t>
            </a:r>
          </a:p>
          <a:p>
            <a:pPr lvl="1"/>
            <a:r>
              <a:rPr lang="fr-FR" b="0" dirty="0"/>
              <a:t>sous-muqueuse </a:t>
            </a:r>
          </a:p>
          <a:p>
            <a:pPr lvl="1"/>
            <a:r>
              <a:rPr lang="fr-FR" b="0" dirty="0"/>
              <a:t>voire musculeuse</a:t>
            </a:r>
          </a:p>
          <a:p>
            <a:endParaRPr lang="fr-FR" b="0" dirty="0"/>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13</a:t>
            </a:fld>
            <a:endParaRPr lang="fr-FR"/>
          </a:p>
        </p:txBody>
      </p:sp>
    </p:spTree>
    <p:extLst>
      <p:ext uri="{BB962C8B-B14F-4D97-AF65-F5344CB8AC3E}">
        <p14:creationId xmlns:p14="http://schemas.microsoft.com/office/powerpoint/2010/main" val="4126045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0" dirty="0"/>
              <a:t>Il s’agit d’une artère sous-muqueuse de calibre anormalement large et superficiel qui :</a:t>
            </a:r>
          </a:p>
          <a:p>
            <a:r>
              <a:rPr lang="fr-FR" b="0" dirty="0"/>
              <a:t>traverse la muqueuse </a:t>
            </a:r>
          </a:p>
          <a:p>
            <a:r>
              <a:rPr lang="fr-FR" b="0" dirty="0"/>
              <a:t>s’expose à la lumière digestive </a:t>
            </a:r>
          </a:p>
          <a:p>
            <a:r>
              <a:rPr lang="fr-FR" b="0" dirty="0"/>
              <a:t>provoque une hémorragie brutale </a:t>
            </a:r>
          </a:p>
          <a:p>
            <a:r>
              <a:rPr lang="fr-FR" b="0" dirty="0"/>
              <a:t>Donc ce n’est pas un ulcère classique creusant, mais une malformation vasculaire exposée.</a:t>
            </a:r>
          </a:p>
          <a:p>
            <a:pPr marL="0" indent="0">
              <a:buFontTx/>
              <a:buNone/>
            </a:pPr>
            <a:endParaRPr lang="fr-FR" b="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t>Le reflux gastro-œsophagien (RGO) provoque une œsophagite parce que le contenu acide de l’estomac remonte de façon répétée dans l’œsophage, qui </a:t>
            </a:r>
            <a:r>
              <a:rPr lang="fr-FR" b="1" dirty="0"/>
              <a:t>n’est pas adapté pour résister à cette acidité.</a:t>
            </a:r>
          </a:p>
          <a:p>
            <a:pPr marL="0" indent="0">
              <a:buFontTx/>
              <a:buNone/>
            </a:pPr>
            <a:endParaRPr lang="fr-FR" b="1" dirty="0"/>
          </a:p>
          <a:p>
            <a:pPr marL="0" indent="0">
              <a:buFontTx/>
              <a:buNone/>
            </a:pPr>
            <a:endParaRPr lang="fr-FR" b="0" dirty="0"/>
          </a:p>
          <a:p>
            <a:pPr marL="0" indent="0">
              <a:buFontTx/>
              <a:buNone/>
            </a:pPr>
            <a:r>
              <a:rPr lang="fr-FR" b="0" dirty="0"/>
              <a:t>Les </a:t>
            </a:r>
            <a:r>
              <a:rPr lang="fr-FR" b="0" dirty="0" err="1"/>
              <a:t>angiodysplasies</a:t>
            </a:r>
            <a:r>
              <a:rPr lang="fr-FR" b="0" dirty="0"/>
              <a:t> sont des malformations vasculaires acquises, correspondant à des dilatations anormales des petits vaisseaux de la muqueuse et de la sous-muqueuse digestive, responsables de saignements digestifs.</a:t>
            </a:r>
          </a:p>
          <a:p>
            <a:pPr marL="0" indent="0">
              <a:buFontTx/>
              <a:buNone/>
            </a:pPr>
            <a:endParaRPr lang="fr-FR" b="0" dirty="0"/>
          </a:p>
          <a:p>
            <a:pPr marL="0" indent="0">
              <a:buFontTx/>
              <a:buNone/>
            </a:pPr>
            <a:r>
              <a:rPr lang="fr-FR" b="0" dirty="0"/>
              <a:t>L’</a:t>
            </a:r>
            <a:r>
              <a:rPr lang="fr-FR" b="0" dirty="0" err="1"/>
              <a:t>hémobilie</a:t>
            </a:r>
            <a:r>
              <a:rPr lang="fr-FR" b="0" dirty="0"/>
              <a:t> est la présence de sang dans les voies biliaires (canaux biliaires intra- ou extra-hépatiques), responsable d’une hémorragie digestive d’origine biliaire.</a:t>
            </a:r>
          </a:p>
          <a:p>
            <a:pPr marL="0" indent="0">
              <a:buFontTx/>
              <a:buNone/>
            </a:pPr>
            <a:r>
              <a:rPr lang="fr-FR" b="0" dirty="0"/>
              <a:t>L’</a:t>
            </a:r>
            <a:r>
              <a:rPr lang="fr-FR" b="0" dirty="0" err="1"/>
              <a:t>hémobilie</a:t>
            </a:r>
            <a:r>
              <a:rPr lang="fr-FR" b="0" dirty="0"/>
              <a:t> peut provoquer une hématémèse</a:t>
            </a:r>
            <a:r>
              <a:rPr lang="fr-FR" dirty="0"/>
              <a:t>, car le sang des voies biliaires peut atteindre l’estomac et être vomi.</a:t>
            </a:r>
          </a:p>
          <a:p>
            <a:pPr marL="0" indent="0">
              <a:buFontTx/>
              <a:buNone/>
            </a:pPr>
            <a:r>
              <a:rPr lang="fr-FR" b="0" dirty="0"/>
              <a:t>Chemin du sang: voies biliaires → cholédoque, puis passage par la papille de Vater, arrivée dans le duodénum, remontée vers l’estomac</a:t>
            </a:r>
          </a:p>
          <a:p>
            <a:pPr marL="0" indent="0">
              <a:buFontTx/>
              <a:buNone/>
            </a:pPr>
            <a:endParaRPr lang="fr-FR" b="0" dirty="0"/>
          </a:p>
          <a:p>
            <a:pPr marL="0" indent="0">
              <a:buFontTx/>
              <a:buNone/>
            </a:pPr>
            <a:r>
              <a:rPr lang="fr-FR" b="0" dirty="0"/>
              <a:t>La </a:t>
            </a:r>
            <a:r>
              <a:rPr lang="fr-FR" b="0" dirty="0" err="1"/>
              <a:t>wirsungorragie</a:t>
            </a:r>
            <a:r>
              <a:rPr lang="fr-FR" b="0" dirty="0"/>
              <a:t> correspond à un saignement dans le canal de Wirsung (canal pancréatique principal) avec écoulement de sang dans le duodénum par la papille de Vater.</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14</a:t>
            </a:fld>
            <a:endParaRPr lang="fr-FR"/>
          </a:p>
        </p:txBody>
      </p:sp>
    </p:spTree>
    <p:extLst>
      <p:ext uri="{BB962C8B-B14F-4D97-AF65-F5344CB8AC3E}">
        <p14:creationId xmlns:p14="http://schemas.microsoft.com/office/powerpoint/2010/main" val="2218130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b="0" dirty="0"/>
              <a:t>Le mésocolon est un repli du péritoine qui fixe une partie du côlon à la paroi abdominale postérieure et permet le passage des vaisseaux, nerfs et lymphatiques.</a:t>
            </a:r>
          </a:p>
          <a:p>
            <a:pPr marL="0" indent="0">
              <a:buFontTx/>
              <a:buNone/>
            </a:pPr>
            <a:r>
              <a:rPr lang="fr-FR" b="0" dirty="0"/>
              <a:t>Selon le segment du côlon :</a:t>
            </a:r>
          </a:p>
          <a:p>
            <a:pPr marL="171450" indent="-171450">
              <a:buFontTx/>
              <a:buChar char="-"/>
            </a:pPr>
            <a:r>
              <a:rPr lang="fr-FR" b="0" dirty="0"/>
              <a:t>Mésocolon transverse: Relie le côlon transverse à la paroi postérieure, Très mobile</a:t>
            </a:r>
          </a:p>
          <a:p>
            <a:pPr marL="171450" indent="-171450">
              <a:buFontTx/>
              <a:buChar char="-"/>
            </a:pPr>
            <a:r>
              <a:rPr lang="fr-FR" b="0" dirty="0"/>
              <a:t>Mésocolon sigmoïde: Relie le côlon sigmoïde au pelvis, Très important en chirurgie (volvulus)</a:t>
            </a:r>
          </a:p>
          <a:p>
            <a:pPr marL="171450" indent="-171450">
              <a:buFontTx/>
              <a:buChar char="-"/>
            </a:pPr>
            <a:endParaRPr lang="fr-FR" b="0" dirty="0"/>
          </a:p>
          <a:p>
            <a:pPr marL="0" indent="0">
              <a:buFontTx/>
              <a:buNone/>
            </a:pPr>
            <a:r>
              <a:rPr lang="fr-FR" b="0" dirty="0"/>
              <a:t>Le reflux gastro-œsophagien (RGO) provoque une œsophagite parce que le contenu acide de l’estomac remonte de façon répétée dans l’œsophage, qui n’est pas adapté pour résister à cette acidité.</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15</a:t>
            </a:fld>
            <a:endParaRPr lang="fr-FR"/>
          </a:p>
        </p:txBody>
      </p:sp>
    </p:spTree>
    <p:extLst>
      <p:ext uri="{BB962C8B-B14F-4D97-AF65-F5344CB8AC3E}">
        <p14:creationId xmlns:p14="http://schemas.microsoft.com/office/powerpoint/2010/main" val="4033848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16</a:t>
            </a:fld>
            <a:endParaRPr lang="fr-FR"/>
          </a:p>
        </p:txBody>
      </p:sp>
    </p:spTree>
    <p:extLst>
      <p:ext uri="{BB962C8B-B14F-4D97-AF65-F5344CB8AC3E}">
        <p14:creationId xmlns:p14="http://schemas.microsoft.com/office/powerpoint/2010/main" val="374220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err="1"/>
              <a:t>églisse</a:t>
            </a:r>
            <a:r>
              <a:rPr lang="fr-FR" dirty="0"/>
              <a:t> type bonbon” sous forme rouleaux, bâtons, goût spécial</a:t>
            </a:r>
            <a:endParaRPr lang="fr-FR" b="0" dirty="0"/>
          </a:p>
          <a:p>
            <a:pPr marL="0" indent="0">
              <a:buFontTx/>
              <a:buNone/>
            </a:pPr>
            <a:endParaRPr lang="fr-FR" b="0" dirty="0"/>
          </a:p>
          <a:p>
            <a:pPr marL="0" indent="0">
              <a:buFontTx/>
              <a:buNone/>
            </a:pPr>
            <a:r>
              <a:rPr lang="fr-FR" b="0" dirty="0"/>
              <a:t>très fétide (odeur forte, “caractéristique” de sang digéré</a:t>
            </a:r>
          </a:p>
          <a:p>
            <a:r>
              <a:rPr lang="fr-FR" dirty="0"/>
              <a:t>Le sang reste longtemps dans l’intestin </a:t>
            </a:r>
          </a:p>
          <a:p>
            <a:r>
              <a:rPr lang="fr-FR" dirty="0"/>
              <a:t>Il est digéré par : bactéries, enzymes</a:t>
            </a:r>
            <a:br>
              <a:rPr lang="fr-FR" dirty="0"/>
            </a:br>
            <a:r>
              <a:rPr lang="fr-FR" dirty="0"/>
              <a:t>formation </a:t>
            </a:r>
            <a:r>
              <a:rPr lang="fr-FR" b="0" dirty="0"/>
              <a:t>d’hématine (responsable de l’odeur + couleur noire)  Donc ici :</a:t>
            </a:r>
          </a:p>
          <a:p>
            <a:r>
              <a:rPr lang="fr-FR" b="0" dirty="0"/>
              <a:t>Si l’odeur n’est pas fétide, il ne s’agit probablement pas de sang digéré (donc pas de méléna)</a:t>
            </a:r>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17</a:t>
            </a:fld>
            <a:endParaRPr lang="fr-FR"/>
          </a:p>
        </p:txBody>
      </p:sp>
    </p:spTree>
    <p:extLst>
      <p:ext uri="{BB962C8B-B14F-4D97-AF65-F5344CB8AC3E}">
        <p14:creationId xmlns:p14="http://schemas.microsoft.com/office/powerpoint/2010/main" val="4280161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18</a:t>
            </a:fld>
            <a:endParaRPr lang="fr-FR"/>
          </a:p>
        </p:txBody>
      </p:sp>
    </p:spTree>
    <p:extLst>
      <p:ext uri="{BB962C8B-B14F-4D97-AF65-F5344CB8AC3E}">
        <p14:creationId xmlns:p14="http://schemas.microsoft.com/office/powerpoint/2010/main" val="2673594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b="0" dirty="0"/>
              <a:t>C’est une petite poche (diverticule vrai) située sur l’iléon terminal, contenant toutes les couches de la paroi intestinale.</a:t>
            </a:r>
          </a:p>
          <a:p>
            <a:pPr marL="0" indent="0">
              <a:buFontTx/>
              <a:buNone/>
            </a:pPr>
            <a:endParaRPr lang="fr-FR" b="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C’est une maladie </a:t>
            </a:r>
            <a:r>
              <a:rPr lang="fr-FR" b="0" dirty="0"/>
              <a:t>génétique Autosomique dominante, Gènes impliqués : souvent ENG, ACVRL1, entraînant : Malformations des petits vaisseaux (télangiectasies) Paroi fragile → saignements faciles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t>Maladie génétique caractérisée par des télangiectasies responsables de saignements répétés, notamment épistaxis et hémorragies digestives.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t>La colite ischémique est une souffrance du côlon due à une diminution transitoire ou prolongée de l’apport sanguin.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colite ischémique provoque une hémorragie digestive basse par nécrose muqueuse et ulcérations entraînant la rupture des petits vaisseaux du côlon.</a:t>
            </a: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19</a:t>
            </a:fld>
            <a:endParaRPr lang="fr-FR"/>
          </a:p>
        </p:txBody>
      </p:sp>
    </p:spTree>
    <p:extLst>
      <p:ext uri="{BB962C8B-B14F-4D97-AF65-F5344CB8AC3E}">
        <p14:creationId xmlns:p14="http://schemas.microsoft.com/office/powerpoint/2010/main" val="3494341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20</a:t>
            </a:fld>
            <a:endParaRPr lang="fr-FR"/>
          </a:p>
        </p:txBody>
      </p:sp>
    </p:spTree>
    <p:extLst>
      <p:ext uri="{BB962C8B-B14F-4D97-AF65-F5344CB8AC3E}">
        <p14:creationId xmlns:p14="http://schemas.microsoft.com/office/powerpoint/2010/main" val="770245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21</a:t>
            </a:fld>
            <a:endParaRPr lang="fr-FR"/>
          </a:p>
        </p:txBody>
      </p:sp>
    </p:spTree>
    <p:extLst>
      <p:ext uri="{BB962C8B-B14F-4D97-AF65-F5344CB8AC3E}">
        <p14:creationId xmlns:p14="http://schemas.microsoft.com/office/powerpoint/2010/main" val="1637383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22</a:t>
            </a:fld>
            <a:endParaRPr lang="fr-FR"/>
          </a:p>
        </p:txBody>
      </p:sp>
    </p:spTree>
    <p:extLst>
      <p:ext uri="{BB962C8B-B14F-4D97-AF65-F5344CB8AC3E}">
        <p14:creationId xmlns:p14="http://schemas.microsoft.com/office/powerpoint/2010/main" val="492783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b="0" dirty="0"/>
              <a:t>La fissure anale est une petite déchirure longitudinale de la muqueuse du canal anal, douleur très intense à la défécation, saignement rouge vif en petite quantité</a:t>
            </a:r>
          </a:p>
          <a:p>
            <a:pPr marL="0" indent="0">
              <a:buFontTx/>
              <a:buNone/>
            </a:pPr>
            <a:endParaRPr lang="fr-FR" b="0" dirty="0"/>
          </a:p>
          <a:p>
            <a:r>
              <a:rPr lang="fr-FR" b="0" dirty="0"/>
              <a:t>La fistule anale est un trajet anormal qui relie le canal anal à la peau périnéale (ou parfois à un autre organe), souvent complication d’un abcès anal; Écoulement chronique de pus ou sécrétions, orifice externe visible sur la peau</a:t>
            </a:r>
          </a:p>
          <a:p>
            <a:pPr marL="0" indent="0">
              <a:buFontTx/>
              <a:buNone/>
            </a:pPr>
            <a:endParaRPr lang="fr-FR" b="0" dirty="0"/>
          </a:p>
          <a:p>
            <a:pPr marL="0" indent="0">
              <a:buFontTx/>
              <a:buNone/>
            </a:pPr>
            <a:r>
              <a:rPr lang="fr-FR" b="0" dirty="0"/>
              <a:t>Les hémorroïdes sont des dilatations pathologiques des plexus veineux hémorroïdaires du canal anal.</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23</a:t>
            </a:fld>
            <a:endParaRPr lang="fr-FR"/>
          </a:p>
        </p:txBody>
      </p:sp>
    </p:spTree>
    <p:extLst>
      <p:ext uri="{BB962C8B-B14F-4D97-AF65-F5344CB8AC3E}">
        <p14:creationId xmlns:p14="http://schemas.microsoft.com/office/powerpoint/2010/main" val="2238859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24</a:t>
            </a:fld>
            <a:endParaRPr lang="fr-FR"/>
          </a:p>
        </p:txBody>
      </p:sp>
    </p:spTree>
    <p:extLst>
      <p:ext uri="{BB962C8B-B14F-4D97-AF65-F5344CB8AC3E}">
        <p14:creationId xmlns:p14="http://schemas.microsoft.com/office/powerpoint/2010/main" val="304679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0" dirty="0"/>
              <a:t>tube souple (endoscope) introduit par la bouche, permet de voir des lésions (ulcère, œsophagite, tumeur) et de faire des biopsies</a:t>
            </a:r>
          </a:p>
          <a:p>
            <a:endParaRPr lang="fr-FR" b="0" dirty="0"/>
          </a:p>
          <a:p>
            <a:r>
              <a:rPr lang="fr-FR" b="0" dirty="0"/>
              <a:t>canal anal: c’est le segment terminal du tube digestif, situé entre le rectum et l’anus, longueur : environ 3–4 cm</a:t>
            </a:r>
          </a:p>
          <a:p>
            <a:pPr marL="0" indent="0">
              <a:buFontTx/>
              <a:buNone/>
            </a:pPr>
            <a:endParaRPr lang="fr-FR" b="0" dirty="0"/>
          </a:p>
          <a:p>
            <a:pPr marL="0" indent="0">
              <a:buFontTx/>
              <a:buNone/>
            </a:pPr>
            <a:r>
              <a:rPr lang="fr-FR" b="0" dirty="0"/>
              <a:t>Anus: c’est l’orifice externe du canal anal</a:t>
            </a:r>
          </a:p>
          <a:p>
            <a:pPr marL="0" indent="0">
              <a:buFontTx/>
              <a:buNone/>
            </a:pPr>
            <a:endParaRPr lang="fr-FR" b="0" dirty="0"/>
          </a:p>
          <a:p>
            <a:pPr marL="0" indent="0">
              <a:buFontTx/>
              <a:buNone/>
            </a:pPr>
            <a:r>
              <a:rPr lang="fr-FR" b="0" dirty="0"/>
              <a:t>L’anuscopie est un examen médical simple qui permet de visualiser directement le canal anal et la partie basse du rectum à l’aide d’un petit tube appelé </a:t>
            </a:r>
            <a:r>
              <a:rPr lang="fr-FR" b="0" dirty="0" err="1"/>
              <a:t>anoscope</a:t>
            </a:r>
            <a:r>
              <a:rPr lang="fr-FR" b="0" dirty="0"/>
              <a:t>.</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25</a:t>
            </a:fld>
            <a:endParaRPr lang="fr-FR"/>
          </a:p>
        </p:txBody>
      </p:sp>
    </p:spTree>
    <p:extLst>
      <p:ext uri="{BB962C8B-B14F-4D97-AF65-F5344CB8AC3E}">
        <p14:creationId xmlns:p14="http://schemas.microsoft.com/office/powerpoint/2010/main" val="3119410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0" dirty="0"/>
              <a:t>La fibroscopie digestive haute (ou gastroscopie) est un examen qui permet d’explorer la partie haute du tube digestif :</a:t>
            </a:r>
          </a:p>
          <a:p>
            <a:r>
              <a:rPr lang="fr-FR" dirty="0"/>
              <a:t>La </a:t>
            </a:r>
            <a:r>
              <a:rPr lang="fr-FR" b="1" dirty="0"/>
              <a:t>coloscopie</a:t>
            </a:r>
            <a:r>
              <a:rPr lang="fr-FR" dirty="0"/>
              <a:t> est un examen qui explore </a:t>
            </a:r>
            <a:r>
              <a:rPr lang="fr-FR" b="1" dirty="0"/>
              <a:t>tout le côlon</a:t>
            </a:r>
            <a:r>
              <a:rPr lang="fr-FR" dirty="0"/>
              <a:t> (gros intestin), parfois jusqu’à l’iléon terminal.</a:t>
            </a:r>
          </a:p>
          <a:p>
            <a:endParaRPr lang="fr-FR" b="0" dirty="0"/>
          </a:p>
          <a:p>
            <a:r>
              <a:rPr lang="fr-FR" dirty="0"/>
              <a:t>C’est une version plus courte de la coloscopie.</a:t>
            </a:r>
          </a:p>
          <a:p>
            <a:endParaRPr lang="fr-FR" b="0" dirty="0"/>
          </a:p>
          <a:p>
            <a:r>
              <a:rPr lang="fr-FR" dirty="0"/>
              <a:t>Réalisée avec un petit tube rigide (anuscopie)</a:t>
            </a: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26</a:t>
            </a:fld>
            <a:endParaRPr lang="fr-FR"/>
          </a:p>
        </p:txBody>
      </p:sp>
    </p:spTree>
    <p:extLst>
      <p:ext uri="{BB962C8B-B14F-4D97-AF65-F5344CB8AC3E}">
        <p14:creationId xmlns:p14="http://schemas.microsoft.com/office/powerpoint/2010/main" val="544701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1" dirty="0"/>
              <a:t>Artériographie </a:t>
            </a:r>
          </a:p>
          <a:p>
            <a:r>
              <a:rPr lang="fr-FR" dirty="0"/>
              <a:t>Examen invasif consistant à injecter un produit de contraste dans les artères digestives </a:t>
            </a:r>
          </a:p>
          <a:p>
            <a:r>
              <a:rPr lang="fr-FR" dirty="0"/>
              <a:t>Permet de visualiser :</a:t>
            </a:r>
          </a:p>
          <a:p>
            <a:pPr marL="171450" indent="-171450">
              <a:buFont typeface="Arial" panose="020B0604020202020204" pitchFamily="34" charset="0"/>
              <a:buChar char="•"/>
            </a:pPr>
            <a:r>
              <a:rPr lang="fr-FR" b="0" dirty="0"/>
              <a:t>malformations vasculaires </a:t>
            </a:r>
          </a:p>
          <a:p>
            <a:pPr marL="171450" indent="-171450">
              <a:buFont typeface="Arial" panose="020B0604020202020204" pitchFamily="34" charset="0"/>
              <a:buChar char="•"/>
            </a:pPr>
            <a:r>
              <a:rPr lang="fr-FR" b="0" dirty="0" err="1"/>
              <a:t>angiodysplasies</a:t>
            </a:r>
            <a:r>
              <a:rPr lang="fr-FR" b="0" dirty="0"/>
              <a:t> </a:t>
            </a:r>
          </a:p>
          <a:p>
            <a:pPr marL="171450" indent="-171450">
              <a:buFont typeface="Arial" panose="020B0604020202020204" pitchFamily="34" charset="0"/>
              <a:buChar char="•"/>
            </a:pPr>
            <a:r>
              <a:rPr lang="fr-FR" b="0" dirty="0"/>
              <a:t>saignement actif (extravasation)</a:t>
            </a:r>
          </a:p>
          <a:p>
            <a:pPr marL="171450" indent="-171450">
              <a:buFont typeface="Arial" panose="020B0604020202020204" pitchFamily="34" charset="0"/>
              <a:buChar char="•"/>
            </a:pPr>
            <a:endParaRPr lang="fr-FR" b="0" dirty="0"/>
          </a:p>
          <a:p>
            <a:pPr marL="0" indent="0">
              <a:buFont typeface="Arial" panose="020B0604020202020204" pitchFamily="34" charset="0"/>
              <a:buNone/>
            </a:pPr>
            <a:endParaRPr lang="fr-FR" b="0" dirty="0"/>
          </a:p>
          <a:p>
            <a:r>
              <a:rPr lang="fr-FR" b="1" dirty="0"/>
              <a:t>Colo-scanner: </a:t>
            </a:r>
            <a:r>
              <a:rPr lang="fr-FR" dirty="0"/>
              <a:t>Exploration du côlon (alternative à coloscopie parfois) </a:t>
            </a:r>
          </a:p>
          <a:p>
            <a:endParaRPr lang="fr-FR" b="1" dirty="0"/>
          </a:p>
          <a:p>
            <a:r>
              <a:rPr lang="fr-FR" b="1" dirty="0"/>
              <a:t>Entéro-scanner: </a:t>
            </a:r>
            <a:r>
              <a:rPr lang="fr-FR" dirty="0"/>
              <a:t>Spécifique de la grêle</a:t>
            </a:r>
          </a:p>
          <a:p>
            <a:endParaRPr lang="fr-FR" dirty="0"/>
          </a:p>
          <a:p>
            <a:r>
              <a:rPr lang="fr-FR" dirty="0"/>
              <a:t>Capsule contenant une caméra avalée par le patient, explore tout le </a:t>
            </a:r>
            <a:r>
              <a:rPr lang="fr-FR" b="0" dirty="0"/>
              <a:t>grêle</a:t>
            </a:r>
            <a:r>
              <a:rPr lang="fr-FR" dirty="0"/>
              <a:t> (zone difficile d’accès)</a:t>
            </a:r>
          </a:p>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27</a:t>
            </a:fld>
            <a:endParaRPr lang="fr-FR"/>
          </a:p>
        </p:txBody>
      </p:sp>
    </p:spTree>
    <p:extLst>
      <p:ext uri="{BB962C8B-B14F-4D97-AF65-F5344CB8AC3E}">
        <p14:creationId xmlns:p14="http://schemas.microsoft.com/office/powerpoint/2010/main" val="2214607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28</a:t>
            </a:fld>
            <a:endParaRPr lang="fr-FR"/>
          </a:p>
        </p:txBody>
      </p:sp>
    </p:spTree>
    <p:extLst>
      <p:ext uri="{BB962C8B-B14F-4D97-AF65-F5344CB8AC3E}">
        <p14:creationId xmlns:p14="http://schemas.microsoft.com/office/powerpoint/2010/main" val="29703491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29</a:t>
            </a:fld>
            <a:endParaRPr lang="fr-FR"/>
          </a:p>
        </p:txBody>
      </p:sp>
    </p:spTree>
    <p:extLst>
      <p:ext uri="{BB962C8B-B14F-4D97-AF65-F5344CB8AC3E}">
        <p14:creationId xmlns:p14="http://schemas.microsoft.com/office/powerpoint/2010/main" val="6671176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b="0" dirty="0"/>
              <a:t>Améliorer temporairement la perfusion des organes vitaux, en mettant le patient allongé avec les jambes surélevées :le sang des membres inférieurs est </a:t>
            </a:r>
            <a:r>
              <a:rPr lang="fr-FR" b="1" dirty="0"/>
              <a:t>redirigé</a:t>
            </a:r>
            <a:r>
              <a:rPr lang="fr-FR" b="0" dirty="0"/>
              <a:t> vers le cœur→ ↑ retour veineux→ ↑ débit cardiaque→ meilleure perfusion cérébrale et coronaire</a:t>
            </a:r>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30</a:t>
            </a:fld>
            <a:endParaRPr lang="fr-FR"/>
          </a:p>
        </p:txBody>
      </p:sp>
    </p:spTree>
    <p:extLst>
      <p:ext uri="{BB962C8B-B14F-4D97-AF65-F5344CB8AC3E}">
        <p14:creationId xmlns:p14="http://schemas.microsoft.com/office/powerpoint/2010/main" val="28510954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31</a:t>
            </a:fld>
            <a:endParaRPr lang="fr-FR"/>
          </a:p>
        </p:txBody>
      </p:sp>
    </p:spTree>
    <p:extLst>
      <p:ext uri="{BB962C8B-B14F-4D97-AF65-F5344CB8AC3E}">
        <p14:creationId xmlns:p14="http://schemas.microsoft.com/office/powerpoint/2010/main" val="20071065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32</a:t>
            </a:fld>
            <a:endParaRPr lang="fr-FR"/>
          </a:p>
        </p:txBody>
      </p:sp>
    </p:spTree>
    <p:extLst>
      <p:ext uri="{BB962C8B-B14F-4D97-AF65-F5344CB8AC3E}">
        <p14:creationId xmlns:p14="http://schemas.microsoft.com/office/powerpoint/2010/main" val="42696011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a:t>Lors d’une hémorragie digestive visualisée à l’endoscopie, on peut</a:t>
            </a:r>
            <a:r>
              <a:rPr lang="fr-FR" b="0" dirty="0"/>
              <a:t> traiter directement la source du saignement pendant l’examen </a:t>
            </a:r>
            <a:r>
              <a:rPr lang="fr-FR" dirty="0"/>
              <a:t>(on parle de geste “per-endoscopique”).</a:t>
            </a:r>
          </a:p>
          <a:p>
            <a:pPr marL="171450" indent="-171450">
              <a:buFontTx/>
              <a:buChar char="-"/>
            </a:pPr>
            <a:r>
              <a:rPr lang="fr-FR" b="0" dirty="0"/>
              <a:t>On injecte de l’adrénaline autour ou dans la lésion qui saigne :vasoconstriction (rétrécit les vaisseaux)</a:t>
            </a:r>
          </a:p>
          <a:p>
            <a:pPr marL="171450" indent="-171450">
              <a:buFontTx/>
              <a:buChar char="-"/>
            </a:pPr>
            <a:r>
              <a:rPr lang="fr-FR" dirty="0"/>
              <a:t>Ligature des varices œsophagiennes: on place des élastiques autour des varices pour les étrangler.</a:t>
            </a:r>
          </a:p>
          <a:p>
            <a:r>
              <a:rPr lang="fr-FR" dirty="0"/>
              <a:t>- Pose de clips endoscopiques: petits clips métalliques posés directement sur le vaisseau qui saigne.</a:t>
            </a:r>
          </a:p>
          <a:p>
            <a:r>
              <a:rPr lang="fr-FR" dirty="0"/>
              <a:t>* compression mécanique du vaisseau </a:t>
            </a:r>
          </a:p>
          <a:p>
            <a:pPr marL="171450" indent="-171450">
              <a:buFont typeface="Arial" panose="020B0604020202020204" pitchFamily="34" charset="0"/>
              <a:buChar char="•"/>
            </a:pPr>
            <a:r>
              <a:rPr lang="fr-FR" dirty="0"/>
              <a:t>fermeture de la lésion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 </a:t>
            </a:r>
            <a:r>
              <a:rPr lang="fr-FR" b="0" dirty="0"/>
              <a:t>Coagulation au plasma argon (APC): utilise un gaz (argon) ionisé pour coaguler sans contact direct.</a:t>
            </a:r>
          </a:p>
          <a:p>
            <a:pPr marL="0" indent="0">
              <a:buFont typeface="Arial" panose="020B0604020202020204" pitchFamily="34" charset="0"/>
              <a:buNone/>
            </a:pPr>
            <a:endParaRPr lang="fr-FR" dirty="0"/>
          </a:p>
          <a:p>
            <a:pPr marL="171450" indent="-171450">
              <a:buFontTx/>
              <a:buChar char="-"/>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33</a:t>
            </a:fld>
            <a:endParaRPr lang="fr-FR"/>
          </a:p>
        </p:txBody>
      </p:sp>
    </p:spTree>
    <p:extLst>
      <p:ext uri="{BB962C8B-B14F-4D97-AF65-F5344CB8AC3E}">
        <p14:creationId xmlns:p14="http://schemas.microsoft.com/office/powerpoint/2010/main" val="34602673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34</a:t>
            </a:fld>
            <a:endParaRPr lang="fr-FR"/>
          </a:p>
        </p:txBody>
      </p:sp>
    </p:spTree>
    <p:extLst>
      <p:ext uri="{BB962C8B-B14F-4D97-AF65-F5344CB8AC3E}">
        <p14:creationId xmlns:p14="http://schemas.microsoft.com/office/powerpoint/2010/main" val="2737840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r>
              <a:rPr lang="fr-FR" dirty="0"/>
              <a:t>des demandes transfusionnelles itératives conduisent à l’épuisement des stocks d’une banque de sang</a:t>
            </a:r>
            <a:endParaRPr lang="fr-FR" b="0" dirty="0"/>
          </a:p>
        </p:txBody>
      </p:sp>
      <p:sp>
        <p:nvSpPr>
          <p:cNvPr id="4" name="Espace réservé du numéro de diapositive 3"/>
          <p:cNvSpPr>
            <a:spLocks noGrp="1"/>
          </p:cNvSpPr>
          <p:nvPr>
            <p:ph type="sldNum" sz="quarter" idx="5"/>
          </p:nvPr>
        </p:nvSpPr>
        <p:spPr/>
        <p:txBody>
          <a:bodyPr/>
          <a:lstStyle/>
          <a:p>
            <a:fld id="{3DC7AC0A-9FEE-4CBE-B860-992C89531FEE}" type="slidenum">
              <a:rPr lang="fr-FR" smtClean="0"/>
              <a:t>35</a:t>
            </a:fld>
            <a:endParaRPr lang="fr-FR"/>
          </a:p>
        </p:txBody>
      </p:sp>
    </p:spTree>
    <p:extLst>
      <p:ext uri="{BB962C8B-B14F-4D97-AF65-F5344CB8AC3E}">
        <p14:creationId xmlns:p14="http://schemas.microsoft.com/office/powerpoint/2010/main" val="225094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69448D-1428-6124-F98C-AD94BC10259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DBD61D8-79CA-0E64-678A-9DBF46A6E8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B44BC9B-F3F2-8C9D-F478-956C6FB595A5}"/>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AC9914EB-6EC5-F179-31E7-2B811362C2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D3FFF8E-D7A4-B546-9A7C-52BB943F20D6}"/>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2115910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C43B72-3BCD-227C-EC21-C7519EA913A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0BD8F9-6AC7-EFF3-698B-4BE3739AD41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E9CBC67-E134-805D-F450-FD983EBF3B4A}"/>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75A0A4B5-5C3E-739E-4E06-07077FFBB7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0FB190E-F33A-0BCB-98FB-8D6F12BBB616}"/>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36046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0C374A-7E18-6A0C-532C-68BFB681933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3CB882D-5B4E-717A-7859-A65179CC51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139D438-7647-450F-C8FE-C05B9ABE97C5}"/>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8637419D-07AB-4C10-F338-453E888F57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51BD738-3A57-F265-90B2-C3B88B0A0BC0}"/>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2518840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49D315-6C43-F91F-5592-DC60CCE6BE4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92050A9-3994-FA72-7711-EEF99E4FD7F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FF6AC62-06E0-97BC-A440-D39AC6C5B17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4FF1AE7-F339-7BC6-B8FB-074BC6BF8C3C}"/>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6" name="Espace réservé du pied de page 5">
            <a:extLst>
              <a:ext uri="{FF2B5EF4-FFF2-40B4-BE49-F238E27FC236}">
                <a16:creationId xmlns:a16="http://schemas.microsoft.com/office/drawing/2014/main" id="{9ADA00B2-D38C-ADF9-20BA-EBA491A52F5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8328BFC-10E3-2429-2062-2D3AD6721096}"/>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2476533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D8F07D-D06C-6AD2-4024-7787B7DA064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D701D3C-5C78-0ADC-5F1B-FB921ED143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0FFD4E4-B6A7-50FB-FBA0-698C5196ED7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F270845-4D8A-9260-1CBD-64B15D27EF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02F31F7-5419-8148-91F7-50F1529BA95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6BDE66-296A-458D-3EA2-C39DE433AE43}"/>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8" name="Espace réservé du pied de page 7">
            <a:extLst>
              <a:ext uri="{FF2B5EF4-FFF2-40B4-BE49-F238E27FC236}">
                <a16:creationId xmlns:a16="http://schemas.microsoft.com/office/drawing/2014/main" id="{5E41798D-0CEF-3B4E-734F-60E4CA71211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B1BF4BE-0A47-54E4-7542-351583FC66AB}"/>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690643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458E4-F3A9-EDF0-7C67-CAF24DF5F03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B7F9C28-3D22-F797-BD35-FD6BA66DDA71}"/>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4" name="Espace réservé du pied de page 3">
            <a:extLst>
              <a:ext uri="{FF2B5EF4-FFF2-40B4-BE49-F238E27FC236}">
                <a16:creationId xmlns:a16="http://schemas.microsoft.com/office/drawing/2014/main" id="{20EBEAB4-B295-C520-B638-141AFF528F1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3C5CC56-E083-C6FE-7C76-EDC12CF07C59}"/>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310999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94AC295-DEBC-9807-CB35-BC1246A5DF14}"/>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3" name="Espace réservé du pied de page 2">
            <a:extLst>
              <a:ext uri="{FF2B5EF4-FFF2-40B4-BE49-F238E27FC236}">
                <a16:creationId xmlns:a16="http://schemas.microsoft.com/office/drawing/2014/main" id="{E06567D6-D050-FF67-98D0-A5047CF5FCA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EF028D8-27E5-F26C-9DA8-757D16FAD7BF}"/>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1761783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9C76B5-1193-B4F3-AC6F-EF5D4D31552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517C4B2-5E01-AA14-F368-9A001E4FE9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1C51B47-3A20-435E-8B59-524E1E4B0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1D0FE9A-19B8-C80C-26E0-E978AC6F55AC}"/>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6" name="Espace réservé du pied de page 5">
            <a:extLst>
              <a:ext uri="{FF2B5EF4-FFF2-40B4-BE49-F238E27FC236}">
                <a16:creationId xmlns:a16="http://schemas.microsoft.com/office/drawing/2014/main" id="{3E406EF6-EE36-40F6-F58F-3A0CC032B1F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A56A9F7-E447-6C6A-58E6-02E5F148C100}"/>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5366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426D51-07FF-A337-95AF-42503BDF19B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5238502-EDAD-E4C6-47E5-D70FEACE67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6260609-8819-22F6-2611-AF6C06EDF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8932E6C-36F3-CAED-4290-BD8BD4BC883D}"/>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6" name="Espace réservé du pied de page 5">
            <a:extLst>
              <a:ext uri="{FF2B5EF4-FFF2-40B4-BE49-F238E27FC236}">
                <a16:creationId xmlns:a16="http://schemas.microsoft.com/office/drawing/2014/main" id="{0CB410C9-EE96-871D-B39E-77C49C3E304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E255B43-FEF7-760F-142D-2ED659C4F0F7}"/>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1479270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78FE4-6A7D-7249-E909-5B2728DD768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8EAF089-5245-6622-15A7-D6B93683CCE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DE3211-38F0-EAE9-C5CB-65C932D30D3B}"/>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EE451661-5E71-A050-5B02-E12134CB403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FD5A78D-D385-59B0-9FA7-CD6B4EAC7BB6}"/>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1235721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DA7502B-3A08-3A77-FEBF-42923D40C0B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BF2A119-2B8B-85CD-9907-22EA982C5F9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28B0771-17F9-A4EE-5C8F-8BB1B231F3B1}"/>
              </a:ext>
            </a:extLst>
          </p:cNvPr>
          <p:cNvSpPr>
            <a:spLocks noGrp="1"/>
          </p:cNvSpPr>
          <p:nvPr>
            <p:ph type="dt" sz="half" idx="10"/>
          </p:nvPr>
        </p:nvSpPr>
        <p:spPr/>
        <p:txBody>
          <a:body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DEF1B68F-175E-DD61-09FB-D843B72FAD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E5014FA-7F30-E581-B2FE-80FB22B22B68}"/>
              </a:ext>
            </a:extLst>
          </p:cNvPr>
          <p:cNvSpPr>
            <a:spLocks noGrp="1"/>
          </p:cNvSpPr>
          <p:nvPr>
            <p:ph type="sldNum" sz="quarter" idx="12"/>
          </p:nvPr>
        </p:nvSpPr>
        <p:spPr/>
        <p:txBody>
          <a:bodyPr/>
          <a:lstStyle/>
          <a:p>
            <a:fld id="{1A33EF26-4E06-452B-AAED-2B81CA23BEBE}" type="slidenum">
              <a:rPr lang="fr-FR" smtClean="0"/>
              <a:t>‹#›</a:t>
            </a:fld>
            <a:endParaRPr lang="fr-FR"/>
          </a:p>
        </p:txBody>
      </p:sp>
    </p:spTree>
    <p:extLst>
      <p:ext uri="{BB962C8B-B14F-4D97-AF65-F5344CB8AC3E}">
        <p14:creationId xmlns:p14="http://schemas.microsoft.com/office/powerpoint/2010/main" val="179618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F958FCA-ED14-4B95-FA75-4927A8D39B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F82D5A8-7211-3249-DAE4-E10C32347D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44ACACC-AE7C-A8FF-C256-20AEEFBF1E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943479-FACE-4955-907F-05AF32B5747D}" type="datetimeFigureOut">
              <a:rPr lang="fr-FR" smtClean="0"/>
              <a:t>23/04/2026</a:t>
            </a:fld>
            <a:endParaRPr lang="fr-FR"/>
          </a:p>
        </p:txBody>
      </p:sp>
      <p:sp>
        <p:nvSpPr>
          <p:cNvPr id="5" name="Espace réservé du pied de page 4">
            <a:extLst>
              <a:ext uri="{FF2B5EF4-FFF2-40B4-BE49-F238E27FC236}">
                <a16:creationId xmlns:a16="http://schemas.microsoft.com/office/drawing/2014/main" id="{ABF41E20-274E-3424-0D0B-B5D10747BB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DF4982B-E99D-74D8-4E80-A5897A47A7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33EF26-4E06-452B-AAED-2B81CA23BEBE}" type="slidenum">
              <a:rPr lang="fr-FR" smtClean="0"/>
              <a:t>‹#›</a:t>
            </a:fld>
            <a:endParaRPr lang="fr-FR"/>
          </a:p>
        </p:txBody>
      </p:sp>
    </p:spTree>
    <p:extLst>
      <p:ext uri="{BB962C8B-B14F-4D97-AF65-F5344CB8AC3E}">
        <p14:creationId xmlns:p14="http://schemas.microsoft.com/office/powerpoint/2010/main" val="110268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svg" /><Relationship Id="rId5" Type="http://schemas.openxmlformats.org/officeDocument/2006/relationships/image" Target="../media/image4.png"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2.xml" /><Relationship Id="rId1" Type="http://schemas.openxmlformats.org/officeDocument/2006/relationships/slideLayout" Target="../slideLayouts/slideLayout2.xml" /><Relationship Id="rId6" Type="http://schemas.openxmlformats.org/officeDocument/2006/relationships/image" Target="../media/image9.png" /><Relationship Id="rId5" Type="http://schemas.openxmlformats.org/officeDocument/2006/relationships/image" Target="../media/image8.png" /><Relationship Id="rId4" Type="http://schemas.microsoft.com/office/2007/relationships/hdphoto" Target="../media/hdphoto1.wdp"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8" Type="http://schemas.openxmlformats.org/officeDocument/2006/relationships/image" Target="../media/image15.png" /><Relationship Id="rId3" Type="http://schemas.openxmlformats.org/officeDocument/2006/relationships/image" Target="../media/image10.png" /><Relationship Id="rId7" Type="http://schemas.openxmlformats.org/officeDocument/2006/relationships/image" Target="../media/image14.png"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13.png" /><Relationship Id="rId5" Type="http://schemas.openxmlformats.org/officeDocument/2006/relationships/image" Target="../media/image12.png" /><Relationship Id="rId4" Type="http://schemas.openxmlformats.org/officeDocument/2006/relationships/image" Target="../media/image11.png"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7.xml" /><Relationship Id="rId1" Type="http://schemas.openxmlformats.org/officeDocument/2006/relationships/slideLayout" Target="../slideLayouts/slideLayout2.xml" /><Relationship Id="rId4" Type="http://schemas.openxmlformats.org/officeDocument/2006/relationships/image" Target="../media/image17.png"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11.xml" /><Relationship Id="rId1" Type="http://schemas.openxmlformats.org/officeDocument/2006/relationships/slideLayout" Target="../slideLayouts/slideLayout2.xml" /><Relationship Id="rId4" Type="http://schemas.openxmlformats.org/officeDocument/2006/relationships/image" Target="../media/image20.png" /></Relationships>
</file>

<file path=ppt/slides/_rels/slide13.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12.xml" /><Relationship Id="rId1" Type="http://schemas.openxmlformats.org/officeDocument/2006/relationships/slideLayout" Target="../slideLayouts/slideLayout2.xml" /><Relationship Id="rId5" Type="http://schemas.openxmlformats.org/officeDocument/2006/relationships/image" Target="../media/image23.png" /><Relationship Id="rId4" Type="http://schemas.openxmlformats.org/officeDocument/2006/relationships/image" Target="../media/image22.png" /></Relationships>
</file>

<file path=ppt/slides/_rels/slide14.xml.rels><?xml version="1.0" encoding="UTF-8" standalone="yes"?>
<Relationships xmlns="http://schemas.openxmlformats.org/package/2006/relationships"><Relationship Id="rId8" Type="http://schemas.openxmlformats.org/officeDocument/2006/relationships/image" Target="../media/image29.png" /><Relationship Id="rId3" Type="http://schemas.openxmlformats.org/officeDocument/2006/relationships/image" Target="../media/image24.png" /><Relationship Id="rId7" Type="http://schemas.openxmlformats.org/officeDocument/2006/relationships/image" Target="../media/image28.png" /><Relationship Id="rId2" Type="http://schemas.openxmlformats.org/officeDocument/2006/relationships/notesSlide" Target="../notesSlides/notesSlide13.xml" /><Relationship Id="rId1" Type="http://schemas.openxmlformats.org/officeDocument/2006/relationships/slideLayout" Target="../slideLayouts/slideLayout2.xml" /><Relationship Id="rId6" Type="http://schemas.openxmlformats.org/officeDocument/2006/relationships/image" Target="../media/image27.png" /><Relationship Id="rId5" Type="http://schemas.openxmlformats.org/officeDocument/2006/relationships/image" Target="../media/image26.png" /><Relationship Id="rId4" Type="http://schemas.openxmlformats.org/officeDocument/2006/relationships/image" Target="../media/image25.png" /></Relationships>
</file>

<file path=ppt/slides/_rels/slide15.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31.png" /></Relationships>
</file>

<file path=ppt/slides/_rels/slide16.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16.xml" /><Relationship Id="rId1" Type="http://schemas.openxmlformats.org/officeDocument/2006/relationships/slideLayout" Target="../slideLayouts/slideLayout2.xml" /><Relationship Id="rId5" Type="http://schemas.openxmlformats.org/officeDocument/2006/relationships/image" Target="../media/image34.png" /><Relationship Id="rId4" Type="http://schemas.openxmlformats.org/officeDocument/2006/relationships/image" Target="../media/image33.png"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notesSlide" Target="../notesSlides/notesSlide18.xml" /><Relationship Id="rId1" Type="http://schemas.openxmlformats.org/officeDocument/2006/relationships/slideLayout" Target="../slideLayouts/slideLayout2.xml" /><Relationship Id="rId6" Type="http://schemas.openxmlformats.org/officeDocument/2006/relationships/image" Target="../media/image38.png" /><Relationship Id="rId5" Type="http://schemas.openxmlformats.org/officeDocument/2006/relationships/image" Target="../media/image37.png" /><Relationship Id="rId4" Type="http://schemas.openxmlformats.org/officeDocument/2006/relationships/image" Target="../media/image36.png" /></Relationships>
</file>

<file path=ppt/slides/_rels/slide20.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41.png" /><Relationship Id="rId7" Type="http://schemas.openxmlformats.org/officeDocument/2006/relationships/image" Target="../media/image45.png" /><Relationship Id="rId2" Type="http://schemas.openxmlformats.org/officeDocument/2006/relationships/notesSlide" Target="../notesSlides/notesSlide23.xml" /><Relationship Id="rId1" Type="http://schemas.openxmlformats.org/officeDocument/2006/relationships/slideLayout" Target="../slideLayouts/slideLayout2.xml" /><Relationship Id="rId6" Type="http://schemas.openxmlformats.org/officeDocument/2006/relationships/image" Target="../media/image44.png" /><Relationship Id="rId5" Type="http://schemas.openxmlformats.org/officeDocument/2006/relationships/image" Target="../media/image43.png" /><Relationship Id="rId4" Type="http://schemas.openxmlformats.org/officeDocument/2006/relationships/image" Target="../media/image42.png"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notesSlide" Target="../notesSlides/notesSlide25.xml" /><Relationship Id="rId1" Type="http://schemas.openxmlformats.org/officeDocument/2006/relationships/slideLayout" Target="../slideLayouts/slideLayout2.xml" /><Relationship Id="rId4" Type="http://schemas.openxmlformats.org/officeDocument/2006/relationships/image" Target="../media/image47.png" /></Relationships>
</file>

<file path=ppt/slides/_rels/slide27.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notesSlide" Target="../notesSlides/notesSlide29.xml" /><Relationship Id="rId1" Type="http://schemas.openxmlformats.org/officeDocument/2006/relationships/slideLayout" Target="../slideLayouts/slideLayout2.xml" /><Relationship Id="rId4" Type="http://schemas.openxmlformats.org/officeDocument/2006/relationships/image" Target="../media/image50.png"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51.png" /><Relationship Id="rId2" Type="http://schemas.openxmlformats.org/officeDocument/2006/relationships/notesSlide" Target="../notesSlides/notesSlide32.xml" /><Relationship Id="rId1" Type="http://schemas.openxmlformats.org/officeDocument/2006/relationships/slideLayout" Target="../slideLayouts/slideLayout2.xml" /><Relationship Id="rId5" Type="http://schemas.openxmlformats.org/officeDocument/2006/relationships/image" Target="../media/image53.png" /><Relationship Id="rId4" Type="http://schemas.openxmlformats.org/officeDocument/2006/relationships/image" Target="../media/image52.png"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3" Type="http://schemas.openxmlformats.org/officeDocument/2006/relationships/image" Target="../media/image55.png" /><Relationship Id="rId7" Type="http://schemas.openxmlformats.org/officeDocument/2006/relationships/image" Target="../media/image59.png" /><Relationship Id="rId2" Type="http://schemas.openxmlformats.org/officeDocument/2006/relationships/image" Target="../media/image54.png" /><Relationship Id="rId1" Type="http://schemas.openxmlformats.org/officeDocument/2006/relationships/slideLayout" Target="../slideLayouts/slideLayout2.xml" /><Relationship Id="rId6" Type="http://schemas.openxmlformats.org/officeDocument/2006/relationships/image" Target="../media/image58.png" /><Relationship Id="rId5" Type="http://schemas.openxmlformats.org/officeDocument/2006/relationships/image" Target="../media/image57.png" /><Relationship Id="rId4" Type="http://schemas.openxmlformats.org/officeDocument/2006/relationships/image" Target="../media/image56.png" /></Relationships>
</file>

<file path=ppt/slides/_rels/slide37.xml.rels><?xml version="1.0" encoding="UTF-8" standalone="yes"?>
<Relationships xmlns="http://schemas.openxmlformats.org/package/2006/relationships"><Relationship Id="rId2" Type="http://schemas.openxmlformats.org/officeDocument/2006/relationships/image" Target="../media/image60.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4364" y="3512925"/>
            <a:ext cx="3760328" cy="4089165"/>
          </a:xfrm>
          <a:custGeom>
            <a:avLst/>
            <a:gdLst/>
            <a:ahLst/>
            <a:cxnLst/>
            <a:rect l="l" t="t" r="r" b="b"/>
            <a:pathLst>
              <a:path w="5640492" h="6133747">
                <a:moveTo>
                  <a:pt x="0" y="0"/>
                </a:moveTo>
                <a:lnTo>
                  <a:pt x="5640492" y="0"/>
                </a:lnTo>
                <a:lnTo>
                  <a:pt x="5640492" y="6133747"/>
                </a:lnTo>
                <a:lnTo>
                  <a:pt x="0" y="6133747"/>
                </a:lnTo>
                <a:lnTo>
                  <a:pt x="0" y="0"/>
                </a:lnTo>
                <a:close/>
              </a:path>
            </a:pathLst>
          </a:custGeom>
          <a:blipFill>
            <a:blip r:embed="rId2"/>
            <a:stretch>
              <a:fillRect/>
            </a:stretch>
          </a:blipFill>
        </p:spPr>
        <p:txBody>
          <a:bodyPr/>
          <a:lstStyle/>
          <a:p>
            <a:endParaRPr lang="fr-FR"/>
          </a:p>
        </p:txBody>
      </p:sp>
      <p:sp>
        <p:nvSpPr>
          <p:cNvPr id="3" name="Freeform 3"/>
          <p:cNvSpPr/>
          <p:nvPr/>
        </p:nvSpPr>
        <p:spPr>
          <a:xfrm>
            <a:off x="9267737" y="-706577"/>
            <a:ext cx="2699853" cy="3027746"/>
          </a:xfrm>
          <a:custGeom>
            <a:avLst/>
            <a:gdLst/>
            <a:ahLst/>
            <a:cxnLst/>
            <a:rect l="l" t="t" r="r" b="b"/>
            <a:pathLst>
              <a:path w="4049780" h="5248095">
                <a:moveTo>
                  <a:pt x="0" y="0"/>
                </a:moveTo>
                <a:lnTo>
                  <a:pt x="4049780" y="0"/>
                </a:lnTo>
                <a:lnTo>
                  <a:pt x="4049780" y="5248095"/>
                </a:lnTo>
                <a:lnTo>
                  <a:pt x="0" y="5248095"/>
                </a:lnTo>
                <a:lnTo>
                  <a:pt x="0" y="0"/>
                </a:lnTo>
                <a:close/>
              </a:path>
            </a:pathLst>
          </a:custGeom>
          <a:blipFill>
            <a:blip r:embed="rId3"/>
            <a:stretch>
              <a:fillRect/>
            </a:stretch>
          </a:blipFill>
        </p:spPr>
        <p:txBody>
          <a:bodyPr/>
          <a:lstStyle/>
          <a:p>
            <a:endParaRPr lang="fr-FR"/>
          </a:p>
        </p:txBody>
      </p:sp>
      <p:sp>
        <p:nvSpPr>
          <p:cNvPr id="4" name="TextBox 4"/>
          <p:cNvSpPr txBox="1"/>
          <p:nvPr/>
        </p:nvSpPr>
        <p:spPr>
          <a:xfrm>
            <a:off x="931978" y="2099268"/>
            <a:ext cx="10328042" cy="1413657"/>
          </a:xfrm>
          <a:prstGeom prst="rect">
            <a:avLst/>
          </a:prstGeom>
        </p:spPr>
        <p:txBody>
          <a:bodyPr wrap="square" lIns="0" tIns="0" rIns="0" bIns="0" rtlCol="0" anchor="t">
            <a:spAutoFit/>
          </a:bodyPr>
          <a:lstStyle/>
          <a:p>
            <a:pPr algn="ctr">
              <a:lnSpc>
                <a:spcPts val="11553"/>
              </a:lnSpc>
            </a:pPr>
            <a:r>
              <a:rPr lang="en-US" sz="8800" b="1" dirty="0" err="1">
                <a:solidFill>
                  <a:srgbClr val="50260E"/>
                </a:solidFill>
                <a:latin typeface="Sceageus"/>
                <a:ea typeface="Sceageus"/>
                <a:cs typeface="Sceageus"/>
                <a:sym typeface="Sceageus"/>
              </a:rPr>
              <a:t>Hémorragie</a:t>
            </a:r>
            <a:r>
              <a:rPr lang="en-US" sz="8800" b="1" dirty="0">
                <a:solidFill>
                  <a:srgbClr val="50260E"/>
                </a:solidFill>
                <a:latin typeface="Sceageus"/>
                <a:ea typeface="Sceageus"/>
                <a:cs typeface="Sceageus"/>
                <a:sym typeface="Sceageus"/>
              </a:rPr>
              <a:t> digestive</a:t>
            </a:r>
          </a:p>
        </p:txBody>
      </p:sp>
      <p:sp>
        <p:nvSpPr>
          <p:cNvPr id="5" name="Freeform 5"/>
          <p:cNvSpPr/>
          <p:nvPr/>
        </p:nvSpPr>
        <p:spPr>
          <a:xfrm>
            <a:off x="9626035" y="1963966"/>
            <a:ext cx="4129801" cy="5460190"/>
          </a:xfrm>
          <a:custGeom>
            <a:avLst/>
            <a:gdLst/>
            <a:ahLst/>
            <a:cxnLst/>
            <a:rect l="l" t="t" r="r" b="b"/>
            <a:pathLst>
              <a:path w="7311691" h="8190285">
                <a:moveTo>
                  <a:pt x="0" y="0"/>
                </a:moveTo>
                <a:lnTo>
                  <a:pt x="7311691" y="0"/>
                </a:lnTo>
                <a:lnTo>
                  <a:pt x="7311691" y="8190285"/>
                </a:lnTo>
                <a:lnTo>
                  <a:pt x="0" y="81902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6534560">
            <a:off x="4261256" y="-1857388"/>
            <a:ext cx="3169429" cy="3065791"/>
          </a:xfrm>
          <a:custGeom>
            <a:avLst/>
            <a:gdLst/>
            <a:ahLst/>
            <a:cxnLst/>
            <a:rect l="l" t="t" r="r" b="b"/>
            <a:pathLst>
              <a:path w="4754143" h="4598686">
                <a:moveTo>
                  <a:pt x="0" y="0"/>
                </a:moveTo>
                <a:lnTo>
                  <a:pt x="4754143" y="0"/>
                </a:lnTo>
                <a:lnTo>
                  <a:pt x="4754143" y="4598686"/>
                </a:lnTo>
                <a:lnTo>
                  <a:pt x="0" y="4598686"/>
                </a:lnTo>
                <a:lnTo>
                  <a:pt x="0" y="0"/>
                </a:lnTo>
                <a:close/>
              </a:path>
            </a:pathLst>
          </a:custGeom>
          <a:blipFill>
            <a:blip r:embed="rId5">
              <a:alphaModFix amt="34000"/>
            </a:blip>
            <a:stretch>
              <a:fillRect/>
            </a:stretch>
          </a:blipFill>
        </p:spPr>
        <p:txBody>
          <a:bodyPr/>
          <a:lstStyle/>
          <a:p>
            <a:endParaRPr lang="fr-FR"/>
          </a:p>
        </p:txBody>
      </p:sp>
      <p:sp>
        <p:nvSpPr>
          <p:cNvPr id="7" name="Freeform 7"/>
          <p:cNvSpPr/>
          <p:nvPr/>
        </p:nvSpPr>
        <p:spPr>
          <a:xfrm>
            <a:off x="-1384136" y="-1568733"/>
            <a:ext cx="4139873" cy="4079656"/>
          </a:xfrm>
          <a:custGeom>
            <a:avLst/>
            <a:gdLst/>
            <a:ahLst/>
            <a:cxnLst/>
            <a:rect l="l" t="t" r="r" b="b"/>
            <a:pathLst>
              <a:path w="6209809" h="6119484">
                <a:moveTo>
                  <a:pt x="0" y="0"/>
                </a:moveTo>
                <a:lnTo>
                  <a:pt x="6209808" y="0"/>
                </a:lnTo>
                <a:lnTo>
                  <a:pt x="6209808" y="6119484"/>
                </a:lnTo>
                <a:lnTo>
                  <a:pt x="0" y="61194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fr-FR"/>
          </a:p>
        </p:txBody>
      </p:sp>
      <p:sp>
        <p:nvSpPr>
          <p:cNvPr id="8" name="Freeform 8"/>
          <p:cNvSpPr/>
          <p:nvPr/>
        </p:nvSpPr>
        <p:spPr>
          <a:xfrm>
            <a:off x="3786076" y="5684183"/>
            <a:ext cx="2059894" cy="2743200"/>
          </a:xfrm>
          <a:custGeom>
            <a:avLst/>
            <a:gdLst/>
            <a:ahLst/>
            <a:cxnLst/>
            <a:rect l="l" t="t" r="r" b="b"/>
            <a:pathLst>
              <a:path w="3089841" h="4114800">
                <a:moveTo>
                  <a:pt x="0" y="0"/>
                </a:moveTo>
                <a:lnTo>
                  <a:pt x="3089841" y="0"/>
                </a:lnTo>
                <a:lnTo>
                  <a:pt x="3089841" y="4114800"/>
                </a:lnTo>
                <a:lnTo>
                  <a:pt x="0" y="4114800"/>
                </a:lnTo>
                <a:lnTo>
                  <a:pt x="0" y="0"/>
                </a:lnTo>
                <a:close/>
              </a:path>
            </a:pathLst>
          </a:custGeom>
          <a:blipFill>
            <a:blip>
              <a:alphaModFix amt="49000"/>
              <a:extLst>
                <a:ext uri="{96DAC541-7B7A-43D3-8B79-37D633B846F1}">
                  <asvg:svgBlip xmlns:asvg="http://schemas.microsoft.com/office/drawing/2016/SVG/main" r:embed="rId7"/>
                </a:ext>
              </a:extLst>
            </a:blip>
            <a:stretch>
              <a:fillRect/>
            </a:stretch>
          </a:blipFill>
        </p:spPr>
        <p:txBody>
          <a:bodyPr/>
          <a:lstStyle/>
          <a:p>
            <a:endParaRPr lang="fr-FR"/>
          </a:p>
        </p:txBody>
      </p:sp>
      <p:sp>
        <p:nvSpPr>
          <p:cNvPr id="9" name="TextBox 9"/>
          <p:cNvSpPr txBox="1"/>
          <p:nvPr/>
        </p:nvSpPr>
        <p:spPr>
          <a:xfrm>
            <a:off x="3195914" y="4273144"/>
            <a:ext cx="5886265" cy="650819"/>
          </a:xfrm>
          <a:prstGeom prst="rect">
            <a:avLst/>
          </a:prstGeom>
        </p:spPr>
        <p:txBody>
          <a:bodyPr lIns="0" tIns="0" rIns="0" bIns="0" rtlCol="0" anchor="t">
            <a:spAutoFit/>
          </a:bodyPr>
          <a:lstStyle/>
          <a:p>
            <a:pPr algn="ctr">
              <a:lnSpc>
                <a:spcPts val="5740"/>
              </a:lnSpc>
            </a:pPr>
            <a:r>
              <a:rPr lang="en-US" sz="2800" b="1" spc="45" dirty="0">
                <a:solidFill>
                  <a:srgbClr val="50260E"/>
                </a:solidFill>
                <a:latin typeface="Roboto Bold"/>
                <a:ea typeface="Roboto Bold"/>
                <a:cs typeface="Roboto Bold"/>
                <a:sym typeface="Roboto Bold"/>
              </a:rPr>
              <a:t>Dr BACHA Imane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Introduction</a:t>
            </a:r>
            <a:r>
              <a:rPr lang="fr-FR" dirty="0"/>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lstStyle/>
          <a:p>
            <a:r>
              <a:rPr lang="fr-FR" dirty="0"/>
              <a:t>Une hémorragie digestive est une urgence médicale voir médico-chirurgicale</a:t>
            </a:r>
            <a:r>
              <a:rPr lang="fr-FR" dirty="0">
                <a:latin typeface="Calibri" panose="020F0502020204030204" pitchFamily="34" charset="0"/>
                <a:cs typeface="Calibri" panose="020F0502020204030204" pitchFamily="34" charset="0"/>
              </a:rPr>
              <a:t>.</a:t>
            </a:r>
            <a:r>
              <a:rPr lang="fr-FR" dirty="0"/>
              <a:t> </a:t>
            </a:r>
          </a:p>
          <a:p>
            <a:endParaRPr lang="fr-FR" dirty="0"/>
          </a:p>
          <a:p>
            <a:r>
              <a:rPr lang="fr-FR" dirty="0"/>
              <a:t>Si l’hémorragie est abondante elle peut mettre en jeu rapidement le pronostic vital</a:t>
            </a:r>
            <a:r>
              <a:rPr lang="fr-FR" dirty="0">
                <a:latin typeface="Calibri" panose="020F0502020204030204" pitchFamily="34" charset="0"/>
                <a:cs typeface="Calibri" panose="020F0502020204030204" pitchFamily="34" charset="0"/>
              </a:rPr>
              <a:t>.</a:t>
            </a:r>
            <a:r>
              <a:rPr lang="fr-FR" dirty="0"/>
              <a:t> </a:t>
            </a:r>
          </a:p>
          <a:p>
            <a:pPr marL="0" indent="0">
              <a:buNone/>
            </a:pPr>
            <a:endParaRPr lang="fr-FR" dirty="0"/>
          </a:p>
          <a:p>
            <a:r>
              <a:rPr lang="fr-FR" dirty="0"/>
              <a:t>Les hémorragies digestives hautes (</a:t>
            </a:r>
            <a:r>
              <a:rPr lang="fr-FR" dirty="0" err="1"/>
              <a:t>oeso</a:t>
            </a:r>
            <a:r>
              <a:rPr lang="fr-FR" dirty="0"/>
              <a:t>-gastro-duodénales) sont les plus fréquentes</a:t>
            </a:r>
            <a:r>
              <a:rPr lang="fr-FR" dirty="0">
                <a:latin typeface="Calibri" panose="020F0502020204030204" pitchFamily="34" charset="0"/>
                <a:cs typeface="Calibri" panose="020F0502020204030204" pitchFamily="34" charset="0"/>
              </a:rPr>
              <a:t>.</a:t>
            </a:r>
            <a:r>
              <a:rPr lang="fr-FR" dirty="0"/>
              <a:t> </a:t>
            </a:r>
          </a:p>
          <a:p>
            <a:endParaRPr lang="fr-FR" dirty="0"/>
          </a:p>
        </p:txBody>
      </p:sp>
    </p:spTree>
    <p:extLst>
      <p:ext uri="{BB962C8B-B14F-4D97-AF65-F5344CB8AC3E}">
        <p14:creationId xmlns:p14="http://schemas.microsoft.com/office/powerpoint/2010/main" val="3209179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Définition</a:t>
            </a:r>
            <a:r>
              <a:rPr lang="fr-FR" dirty="0"/>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r>
              <a:rPr lang="fr-FR" dirty="0"/>
              <a:t>Le rejet par la bouche ou par l’anus de sang provenant d’un point quelconque du tube digestif. </a:t>
            </a:r>
          </a:p>
          <a:p>
            <a:endParaRPr lang="fr-FR" dirty="0"/>
          </a:p>
          <a:p>
            <a:r>
              <a:rPr lang="fr-FR" dirty="0"/>
              <a:t>Elle regroupe:</a:t>
            </a:r>
          </a:p>
          <a:p>
            <a:endParaRPr lang="fr-FR" dirty="0"/>
          </a:p>
          <a:p>
            <a:pPr lvl="1">
              <a:buFont typeface="Courier New" panose="02070309020205020404" pitchFamily="49" charset="0"/>
              <a:buChar char="o"/>
            </a:pPr>
            <a:r>
              <a:rPr lang="fr-FR" b="1" dirty="0"/>
              <a:t>Hématémèse</a:t>
            </a:r>
            <a:r>
              <a:rPr lang="fr-FR" dirty="0"/>
              <a:t>: est un rejet par la bouche du sang.</a:t>
            </a:r>
          </a:p>
          <a:p>
            <a:pPr lvl="1">
              <a:buFont typeface="Courier New" panose="02070309020205020404" pitchFamily="49" charset="0"/>
              <a:buChar char="o"/>
            </a:pPr>
            <a:endParaRPr lang="fr-FR" dirty="0"/>
          </a:p>
          <a:p>
            <a:pPr lvl="1">
              <a:buFont typeface="Courier New" panose="02070309020205020404" pitchFamily="49" charset="0"/>
              <a:buChar char="o"/>
            </a:pPr>
            <a:r>
              <a:rPr lang="fr-FR" b="1" dirty="0"/>
              <a:t>Méléna</a:t>
            </a:r>
            <a:r>
              <a:rPr lang="fr-FR" dirty="0"/>
              <a:t>: l’émission par l’anus de sang </a:t>
            </a:r>
            <a:r>
              <a:rPr lang="fr-FR" u="sng" dirty="0">
                <a:solidFill>
                  <a:srgbClr val="FF0000"/>
                </a:solidFill>
                <a:effectLst>
                  <a:outerShdw blurRad="38100" dist="38100" dir="2700000" algn="tl">
                    <a:srgbClr val="000000">
                      <a:alpha val="43137"/>
                    </a:srgbClr>
                  </a:outerShdw>
                </a:effectLst>
              </a:rPr>
              <a:t>noir</a:t>
            </a:r>
            <a:r>
              <a:rPr lang="fr-FR" dirty="0"/>
              <a:t> digéré.</a:t>
            </a:r>
          </a:p>
          <a:p>
            <a:pPr lvl="1">
              <a:buFont typeface="Courier New" panose="02070309020205020404" pitchFamily="49" charset="0"/>
              <a:buChar char="o"/>
            </a:pPr>
            <a:endParaRPr lang="fr-FR" dirty="0"/>
          </a:p>
          <a:p>
            <a:pPr lvl="1">
              <a:buFont typeface="Courier New" panose="02070309020205020404" pitchFamily="49" charset="0"/>
              <a:buChar char="o"/>
            </a:pPr>
            <a:r>
              <a:rPr lang="fr-FR" b="1" dirty="0"/>
              <a:t>Rectorragies</a:t>
            </a:r>
            <a:r>
              <a:rPr lang="fr-FR" dirty="0"/>
              <a:t>: l’émission par l’anus de sang </a:t>
            </a:r>
            <a:r>
              <a:rPr lang="fr-FR" dirty="0">
                <a:solidFill>
                  <a:srgbClr val="FF0000"/>
                </a:solidFill>
                <a:effectLst>
                  <a:outerShdw blurRad="38100" dist="38100" dir="2700000" algn="tl">
                    <a:srgbClr val="000000">
                      <a:alpha val="43137"/>
                    </a:srgbClr>
                  </a:outerShdw>
                </a:effectLst>
              </a:rPr>
              <a:t>rouge</a:t>
            </a:r>
            <a:r>
              <a:rPr lang="fr-FR" dirty="0"/>
              <a:t>.</a:t>
            </a:r>
            <a:r>
              <a:rPr lang="fr-FR" dirty="0">
                <a:solidFill>
                  <a:srgbClr val="FF0000"/>
                </a:solidFill>
              </a:rPr>
              <a:t> </a:t>
            </a:r>
          </a:p>
          <a:p>
            <a:pPr marL="457200" lvl="1" indent="0">
              <a:buNone/>
            </a:pPr>
            <a:endParaRPr lang="fr-FR" dirty="0"/>
          </a:p>
        </p:txBody>
      </p:sp>
      <p:pic>
        <p:nvPicPr>
          <p:cNvPr id="4" name="Image 3">
            <a:extLst>
              <a:ext uri="{FF2B5EF4-FFF2-40B4-BE49-F238E27FC236}">
                <a16:creationId xmlns:a16="http://schemas.microsoft.com/office/drawing/2014/main" id="{168DB023-1B0C-A93E-B2EA-FDEAB619EA0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34425" t="17420" r="34829" b="9931"/>
          <a:stretch>
            <a:fillRect/>
          </a:stretch>
        </p:blipFill>
        <p:spPr>
          <a:xfrm>
            <a:off x="10079293" y="1028700"/>
            <a:ext cx="1873045" cy="5148263"/>
          </a:xfrm>
          <a:prstGeom prst="rect">
            <a:avLst/>
          </a:prstGeom>
        </p:spPr>
      </p:pic>
      <p:pic>
        <p:nvPicPr>
          <p:cNvPr id="5" name="Image 4">
            <a:extLst>
              <a:ext uri="{FF2B5EF4-FFF2-40B4-BE49-F238E27FC236}">
                <a16:creationId xmlns:a16="http://schemas.microsoft.com/office/drawing/2014/main" id="{AE687023-A2A8-65C2-1F7A-D2282B585E3E}"/>
              </a:ext>
            </a:extLst>
          </p:cNvPr>
          <p:cNvPicPr>
            <a:picLocks noChangeAspect="1"/>
          </p:cNvPicPr>
          <p:nvPr/>
        </p:nvPicPr>
        <p:blipFill>
          <a:blip r:embed="rId5"/>
          <a:stretch>
            <a:fillRect/>
          </a:stretch>
        </p:blipFill>
        <p:spPr>
          <a:xfrm>
            <a:off x="8020050" y="3210719"/>
            <a:ext cx="1828800" cy="1581150"/>
          </a:xfrm>
          <a:prstGeom prst="rect">
            <a:avLst/>
          </a:prstGeom>
        </p:spPr>
      </p:pic>
      <p:pic>
        <p:nvPicPr>
          <p:cNvPr id="6" name="Image 5">
            <a:extLst>
              <a:ext uri="{FF2B5EF4-FFF2-40B4-BE49-F238E27FC236}">
                <a16:creationId xmlns:a16="http://schemas.microsoft.com/office/drawing/2014/main" id="{D20A8159-843C-DEA3-541C-4836CA56BA66}"/>
              </a:ext>
            </a:extLst>
          </p:cNvPr>
          <p:cNvPicPr>
            <a:picLocks noChangeAspect="1"/>
          </p:cNvPicPr>
          <p:nvPr/>
        </p:nvPicPr>
        <p:blipFill>
          <a:blip r:embed="rId6"/>
          <a:srcRect t="12162" b="21171"/>
          <a:stretch>
            <a:fillRect/>
          </a:stretch>
        </p:blipFill>
        <p:spPr>
          <a:xfrm>
            <a:off x="8020050" y="4911725"/>
            <a:ext cx="1828800" cy="1581150"/>
          </a:xfrm>
          <a:prstGeom prst="rect">
            <a:avLst/>
          </a:prstGeom>
        </p:spPr>
      </p:pic>
    </p:spTree>
    <p:extLst>
      <p:ext uri="{BB962C8B-B14F-4D97-AF65-F5344CB8AC3E}">
        <p14:creationId xmlns:p14="http://schemas.microsoft.com/office/powerpoint/2010/main" val="357908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Mécanisme</a:t>
            </a:r>
            <a:r>
              <a:rPr lang="fr-FR" dirty="0"/>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lstStyle/>
          <a:p>
            <a:r>
              <a:rPr lang="fr-FR" dirty="0"/>
              <a:t>L’hémorragie fait suite à une effraction vasculaire :</a:t>
            </a:r>
          </a:p>
          <a:p>
            <a:endParaRPr lang="fr-FR" dirty="0"/>
          </a:p>
          <a:p>
            <a:pPr lvl="1">
              <a:buFont typeface="Courier New" panose="02070309020205020404" pitchFamily="49" charset="0"/>
              <a:buChar char="o"/>
            </a:pPr>
            <a:r>
              <a:rPr lang="fr-FR" b="1" dirty="0"/>
              <a:t>Artérielle</a:t>
            </a:r>
            <a:r>
              <a:rPr lang="fr-FR" dirty="0"/>
              <a:t> (ulcère). </a:t>
            </a:r>
          </a:p>
          <a:p>
            <a:pPr lvl="1">
              <a:buFont typeface="Courier New" panose="02070309020205020404" pitchFamily="49" charset="0"/>
              <a:buChar char="o"/>
            </a:pPr>
            <a:endParaRPr lang="fr-FR" dirty="0"/>
          </a:p>
          <a:p>
            <a:pPr lvl="1">
              <a:buFont typeface="Courier New" panose="02070309020205020404" pitchFamily="49" charset="0"/>
              <a:buChar char="o"/>
            </a:pPr>
            <a:endParaRPr lang="fr-FR" dirty="0"/>
          </a:p>
          <a:p>
            <a:pPr lvl="1">
              <a:buFont typeface="Courier New" panose="02070309020205020404" pitchFamily="49" charset="0"/>
              <a:buChar char="o"/>
            </a:pPr>
            <a:r>
              <a:rPr lang="fr-FR" b="1" dirty="0"/>
              <a:t>Veineuse</a:t>
            </a:r>
            <a:r>
              <a:rPr lang="fr-FR" dirty="0"/>
              <a:t> (rupture de varices œsophagiennes).</a:t>
            </a:r>
          </a:p>
          <a:p>
            <a:pPr lvl="1">
              <a:buFont typeface="Courier New" panose="02070309020205020404" pitchFamily="49" charset="0"/>
              <a:buChar char="o"/>
            </a:pPr>
            <a:endParaRPr lang="fr-FR" dirty="0"/>
          </a:p>
          <a:p>
            <a:pPr lvl="1">
              <a:buFont typeface="Courier New" panose="02070309020205020404" pitchFamily="49" charset="0"/>
              <a:buChar char="o"/>
            </a:pPr>
            <a:endParaRPr lang="fr-FR" dirty="0"/>
          </a:p>
          <a:p>
            <a:pPr lvl="1">
              <a:buFont typeface="Courier New" panose="02070309020205020404" pitchFamily="49" charset="0"/>
              <a:buChar char="o"/>
            </a:pPr>
            <a:r>
              <a:rPr lang="fr-FR" dirty="0"/>
              <a:t>Rarement </a:t>
            </a:r>
            <a:r>
              <a:rPr lang="fr-FR" b="1" dirty="0"/>
              <a:t>capillaire</a:t>
            </a:r>
            <a:r>
              <a:rPr lang="fr-FR" dirty="0"/>
              <a:t>: saignement en nappe de la muqueuse gastrique « pleurant le sang» (la gastrite hémorragique).</a:t>
            </a:r>
          </a:p>
        </p:txBody>
      </p:sp>
    </p:spTree>
    <p:extLst>
      <p:ext uri="{BB962C8B-B14F-4D97-AF65-F5344CB8AC3E}">
        <p14:creationId xmlns:p14="http://schemas.microsoft.com/office/powerpoint/2010/main" val="474914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Mécanisme</a:t>
            </a:r>
            <a:r>
              <a:rPr lang="fr-FR" dirty="0"/>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lstStyle/>
          <a:p>
            <a:endParaRPr lang="fr-FR" dirty="0"/>
          </a:p>
        </p:txBody>
      </p:sp>
      <p:pic>
        <p:nvPicPr>
          <p:cNvPr id="5" name="Image 4">
            <a:extLst>
              <a:ext uri="{FF2B5EF4-FFF2-40B4-BE49-F238E27FC236}">
                <a16:creationId xmlns:a16="http://schemas.microsoft.com/office/drawing/2014/main" id="{642FF3F3-6C07-FD07-90C7-713631855315}"/>
              </a:ext>
            </a:extLst>
          </p:cNvPr>
          <p:cNvPicPr>
            <a:picLocks noChangeAspect="1"/>
          </p:cNvPicPr>
          <p:nvPr/>
        </p:nvPicPr>
        <p:blipFill>
          <a:blip r:embed="rId3"/>
          <a:stretch>
            <a:fillRect/>
          </a:stretch>
        </p:blipFill>
        <p:spPr>
          <a:xfrm>
            <a:off x="743257" y="1867206"/>
            <a:ext cx="2968113" cy="2103215"/>
          </a:xfrm>
          <a:prstGeom prst="rect">
            <a:avLst/>
          </a:prstGeom>
        </p:spPr>
      </p:pic>
      <p:pic>
        <p:nvPicPr>
          <p:cNvPr id="6" name="Image 5">
            <a:extLst>
              <a:ext uri="{FF2B5EF4-FFF2-40B4-BE49-F238E27FC236}">
                <a16:creationId xmlns:a16="http://schemas.microsoft.com/office/drawing/2014/main" id="{1961E2CC-3AAF-10D4-02FF-3EA489A6B327}"/>
              </a:ext>
            </a:extLst>
          </p:cNvPr>
          <p:cNvPicPr>
            <a:picLocks noChangeAspect="1"/>
          </p:cNvPicPr>
          <p:nvPr/>
        </p:nvPicPr>
        <p:blipFill>
          <a:blip r:embed="rId4"/>
          <a:srcRect l="67087"/>
          <a:stretch>
            <a:fillRect/>
          </a:stretch>
        </p:blipFill>
        <p:spPr>
          <a:xfrm>
            <a:off x="4454692" y="3928840"/>
            <a:ext cx="3202592" cy="2248123"/>
          </a:xfrm>
          <a:prstGeom prst="rect">
            <a:avLst/>
          </a:prstGeom>
        </p:spPr>
      </p:pic>
      <p:pic>
        <p:nvPicPr>
          <p:cNvPr id="7" name="Image 6">
            <a:extLst>
              <a:ext uri="{FF2B5EF4-FFF2-40B4-BE49-F238E27FC236}">
                <a16:creationId xmlns:a16="http://schemas.microsoft.com/office/drawing/2014/main" id="{6F78AC6F-0452-AAA2-D1C6-DE850C5F1AD7}"/>
              </a:ext>
            </a:extLst>
          </p:cNvPr>
          <p:cNvPicPr>
            <a:picLocks noChangeAspect="1"/>
          </p:cNvPicPr>
          <p:nvPr/>
        </p:nvPicPr>
        <p:blipFill>
          <a:blip r:embed="rId4"/>
          <a:srcRect r="67944"/>
          <a:stretch>
            <a:fillRect/>
          </a:stretch>
        </p:blipFill>
        <p:spPr>
          <a:xfrm>
            <a:off x="4457489" y="1825625"/>
            <a:ext cx="3122567" cy="2186377"/>
          </a:xfrm>
          <a:prstGeom prst="rect">
            <a:avLst/>
          </a:prstGeom>
        </p:spPr>
      </p:pic>
      <p:pic>
        <p:nvPicPr>
          <p:cNvPr id="10" name="Image 9">
            <a:extLst>
              <a:ext uri="{FF2B5EF4-FFF2-40B4-BE49-F238E27FC236}">
                <a16:creationId xmlns:a16="http://schemas.microsoft.com/office/drawing/2014/main" id="{5842BF16-150E-B094-B48C-EE4B556F8BFA}"/>
              </a:ext>
            </a:extLst>
          </p:cNvPr>
          <p:cNvPicPr>
            <a:picLocks noChangeAspect="1"/>
          </p:cNvPicPr>
          <p:nvPr/>
        </p:nvPicPr>
        <p:blipFill>
          <a:blip r:embed="rId5"/>
          <a:stretch>
            <a:fillRect/>
          </a:stretch>
        </p:blipFill>
        <p:spPr>
          <a:xfrm>
            <a:off x="12192000" y="-84778"/>
            <a:ext cx="3471863" cy="3305175"/>
          </a:xfrm>
          <a:prstGeom prst="rect">
            <a:avLst/>
          </a:prstGeom>
        </p:spPr>
      </p:pic>
      <p:pic>
        <p:nvPicPr>
          <p:cNvPr id="11" name="Image 10">
            <a:extLst>
              <a:ext uri="{FF2B5EF4-FFF2-40B4-BE49-F238E27FC236}">
                <a16:creationId xmlns:a16="http://schemas.microsoft.com/office/drawing/2014/main" id="{3E16A593-2C4A-8603-84F1-134F80CFB793}"/>
              </a:ext>
            </a:extLst>
          </p:cNvPr>
          <p:cNvPicPr>
            <a:picLocks noChangeAspect="1"/>
          </p:cNvPicPr>
          <p:nvPr/>
        </p:nvPicPr>
        <p:blipFill>
          <a:blip r:embed="rId6"/>
          <a:stretch>
            <a:fillRect/>
          </a:stretch>
        </p:blipFill>
        <p:spPr>
          <a:xfrm>
            <a:off x="12426079" y="2277269"/>
            <a:ext cx="2876550" cy="4552950"/>
          </a:xfrm>
          <a:prstGeom prst="rect">
            <a:avLst/>
          </a:prstGeom>
        </p:spPr>
      </p:pic>
      <p:pic>
        <p:nvPicPr>
          <p:cNvPr id="12" name="Image 11">
            <a:extLst>
              <a:ext uri="{FF2B5EF4-FFF2-40B4-BE49-F238E27FC236}">
                <a16:creationId xmlns:a16="http://schemas.microsoft.com/office/drawing/2014/main" id="{5F7F5BD5-6FA3-43FC-C472-B2DB599E0382}"/>
              </a:ext>
            </a:extLst>
          </p:cNvPr>
          <p:cNvPicPr>
            <a:picLocks noChangeAspect="1"/>
          </p:cNvPicPr>
          <p:nvPr/>
        </p:nvPicPr>
        <p:blipFill>
          <a:blip r:embed="rId7"/>
          <a:stretch>
            <a:fillRect/>
          </a:stretch>
        </p:blipFill>
        <p:spPr>
          <a:xfrm>
            <a:off x="8030344" y="1825625"/>
            <a:ext cx="3027624" cy="4351338"/>
          </a:xfrm>
          <a:prstGeom prst="rect">
            <a:avLst/>
          </a:prstGeom>
        </p:spPr>
      </p:pic>
      <p:pic>
        <p:nvPicPr>
          <p:cNvPr id="14" name="Image 13">
            <a:extLst>
              <a:ext uri="{FF2B5EF4-FFF2-40B4-BE49-F238E27FC236}">
                <a16:creationId xmlns:a16="http://schemas.microsoft.com/office/drawing/2014/main" id="{7A85BFBA-5DFD-F6AB-E143-17F5AFE5771C}"/>
              </a:ext>
            </a:extLst>
          </p:cNvPr>
          <p:cNvPicPr>
            <a:picLocks noChangeAspect="1"/>
          </p:cNvPicPr>
          <p:nvPr/>
        </p:nvPicPr>
        <p:blipFill>
          <a:blip r:embed="rId8"/>
          <a:srcRect l="50000"/>
          <a:stretch>
            <a:fillRect/>
          </a:stretch>
        </p:blipFill>
        <p:spPr>
          <a:xfrm>
            <a:off x="835143" y="4012002"/>
            <a:ext cx="2873429" cy="2164961"/>
          </a:xfrm>
          <a:prstGeom prst="rect">
            <a:avLst/>
          </a:prstGeom>
        </p:spPr>
      </p:pic>
    </p:spTree>
    <p:extLst>
      <p:ext uri="{BB962C8B-B14F-4D97-AF65-F5344CB8AC3E}">
        <p14:creationId xmlns:p14="http://schemas.microsoft.com/office/powerpoint/2010/main" val="368299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Circonstances de découvertes </a:t>
            </a:r>
            <a:endParaRPr lang="fr-FR" dirty="0">
              <a:solidFill>
                <a:srgbClr val="FF0000"/>
              </a:solidFill>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lstStyle/>
          <a:p>
            <a:pPr marL="0" indent="0">
              <a:buNone/>
            </a:pPr>
            <a:r>
              <a:rPr lang="fr-FR" b="1" dirty="0"/>
              <a:t>1-  Hémorragie extériorisée </a:t>
            </a:r>
            <a:r>
              <a:rPr lang="fr-FR" dirty="0"/>
              <a:t>(haute ou basse)</a:t>
            </a:r>
          </a:p>
          <a:p>
            <a:pPr marL="0" indent="0">
              <a:buNone/>
            </a:pPr>
            <a:endParaRPr lang="fr-FR" dirty="0"/>
          </a:p>
          <a:p>
            <a:r>
              <a:rPr lang="fr-FR" dirty="0"/>
              <a:t>Objectivée par le patient, son entourage ou le médecin.</a:t>
            </a:r>
          </a:p>
          <a:p>
            <a:endParaRPr lang="fr-FR" dirty="0"/>
          </a:p>
          <a:p>
            <a:r>
              <a:rPr lang="fr-FR" dirty="0"/>
              <a:t>Directement ou suite à la mise en place :</a:t>
            </a:r>
            <a:endParaRPr lang="ar-DZ" dirty="0"/>
          </a:p>
          <a:p>
            <a:endParaRPr lang="ar-DZ" dirty="0"/>
          </a:p>
          <a:p>
            <a:pPr lvl="1">
              <a:buFont typeface="Courier New" panose="02070309020205020404" pitchFamily="49" charset="0"/>
              <a:buChar char="o"/>
            </a:pPr>
            <a:r>
              <a:rPr lang="fr-FR" dirty="0"/>
              <a:t>D’une sonde naso-gastrique. </a:t>
            </a:r>
            <a:endParaRPr lang="ar-DZ" dirty="0"/>
          </a:p>
          <a:p>
            <a:pPr lvl="1">
              <a:buFont typeface="Courier New" panose="02070309020205020404" pitchFamily="49" charset="0"/>
              <a:buChar char="o"/>
            </a:pPr>
            <a:r>
              <a:rPr lang="fr-FR" dirty="0"/>
              <a:t>D’un toucher rectal. </a:t>
            </a:r>
          </a:p>
        </p:txBody>
      </p:sp>
    </p:spTree>
    <p:extLst>
      <p:ext uri="{BB962C8B-B14F-4D97-AF65-F5344CB8AC3E}">
        <p14:creationId xmlns:p14="http://schemas.microsoft.com/office/powerpoint/2010/main" val="2062250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Circonstances de découvertes</a:t>
            </a:r>
            <a:endParaRPr lang="fr-FR" dirty="0">
              <a:solidFill>
                <a:srgbClr val="FF0000"/>
              </a:solidFill>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2-  Hémorragie non extériorisée (saignement occulte) :</a:t>
            </a:r>
          </a:p>
          <a:p>
            <a:endParaRPr lang="fr-FR" b="1" dirty="0"/>
          </a:p>
          <a:p>
            <a:r>
              <a:rPr lang="fr-FR" b="1" dirty="0"/>
              <a:t>Tableau d’anémie aigue </a:t>
            </a:r>
            <a:r>
              <a:rPr lang="fr-FR" dirty="0"/>
              <a:t>: lorsque l’hémorragie est abondante sans extériorisation immédiate du sang avec un état de choc hypovolémique : hypotension artérielle avec pincement de la différentielle, tachycardie, froideur des extrémités, dyspnée, sueurs, marbrures…</a:t>
            </a:r>
          </a:p>
          <a:p>
            <a:r>
              <a:rPr lang="fr-FR" b="1" dirty="0"/>
              <a:t>Tableau d’anémie chronique ferriprive</a:t>
            </a:r>
            <a:r>
              <a:rPr lang="fr-FR" dirty="0"/>
              <a:t>: hémorragie de faible abondance continue mais non extériorisée : asthénie, pâleur </a:t>
            </a:r>
            <a:r>
              <a:rPr lang="fr-FR" dirty="0" err="1"/>
              <a:t>cutané-muqueuse</a:t>
            </a:r>
            <a:r>
              <a:rPr lang="fr-FR" dirty="0"/>
              <a:t>, dyspnée, vertiges, palpitations…</a:t>
            </a:r>
          </a:p>
        </p:txBody>
      </p:sp>
    </p:spTree>
    <p:extLst>
      <p:ext uri="{BB962C8B-B14F-4D97-AF65-F5344CB8AC3E}">
        <p14:creationId xmlns:p14="http://schemas.microsoft.com/office/powerpoint/2010/main" val="362865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pPr marL="0" indent="0">
              <a:buNone/>
            </a:pPr>
            <a:r>
              <a:rPr lang="fr-FR" b="1" dirty="0"/>
              <a:t>Définition :</a:t>
            </a:r>
          </a:p>
          <a:p>
            <a:pPr marL="0" indent="0">
              <a:buNone/>
            </a:pPr>
            <a:endParaRPr lang="fr-FR" b="1" dirty="0"/>
          </a:p>
          <a:p>
            <a:pPr marL="0" indent="0">
              <a:buNone/>
            </a:pPr>
            <a:r>
              <a:rPr lang="fr-FR" dirty="0"/>
              <a:t>C’est le rejet par la bouche, lors d’un effort de vomissement, de sang rouge non spumeux ou noirâtre, mêlé ou non à des débris alimentaires.</a:t>
            </a:r>
          </a:p>
          <a:p>
            <a:pPr marL="0" indent="0">
              <a:buNone/>
            </a:pPr>
            <a:endParaRPr lang="fr-FR" dirty="0"/>
          </a:p>
          <a:p>
            <a:pPr marL="0" indent="0">
              <a:buNone/>
            </a:pPr>
            <a:r>
              <a:rPr lang="fr-FR" dirty="0"/>
              <a:t>Provenant de l’étage sus-mésocolique (en amont de l’angle de Treitz) :</a:t>
            </a:r>
          </a:p>
          <a:p>
            <a:pPr marL="0" indent="0">
              <a:buNone/>
            </a:pPr>
            <a:r>
              <a:rPr lang="fr-FR" dirty="0"/>
              <a:t> </a:t>
            </a:r>
          </a:p>
          <a:p>
            <a:pPr lvl="1"/>
            <a:r>
              <a:rPr lang="fr-FR" dirty="0"/>
              <a:t>Œsophage.</a:t>
            </a:r>
          </a:p>
          <a:p>
            <a:pPr lvl="1"/>
            <a:r>
              <a:rPr lang="fr-FR" dirty="0"/>
              <a:t>Estomac.</a:t>
            </a:r>
          </a:p>
          <a:p>
            <a:pPr lvl="1"/>
            <a:r>
              <a:rPr lang="fr-FR" dirty="0"/>
              <a:t>Duodénum.</a:t>
            </a:r>
          </a:p>
        </p:txBody>
      </p:sp>
      <p:pic>
        <p:nvPicPr>
          <p:cNvPr id="4" name="Image 3">
            <a:extLst>
              <a:ext uri="{FF2B5EF4-FFF2-40B4-BE49-F238E27FC236}">
                <a16:creationId xmlns:a16="http://schemas.microsoft.com/office/drawing/2014/main" id="{7B81D23D-9C6F-8D89-E0B1-E51839F9983C}"/>
              </a:ext>
            </a:extLst>
          </p:cNvPr>
          <p:cNvPicPr>
            <a:picLocks noChangeAspect="1"/>
          </p:cNvPicPr>
          <p:nvPr/>
        </p:nvPicPr>
        <p:blipFill>
          <a:blip r:embed="rId3"/>
          <a:stretch>
            <a:fillRect/>
          </a:stretch>
        </p:blipFill>
        <p:spPr>
          <a:xfrm>
            <a:off x="4750593" y="4392171"/>
            <a:ext cx="4265816" cy="2465829"/>
          </a:xfrm>
          <a:prstGeom prst="rect">
            <a:avLst/>
          </a:prstGeom>
        </p:spPr>
      </p:pic>
      <p:pic>
        <p:nvPicPr>
          <p:cNvPr id="5" name="Image 4">
            <a:extLst>
              <a:ext uri="{FF2B5EF4-FFF2-40B4-BE49-F238E27FC236}">
                <a16:creationId xmlns:a16="http://schemas.microsoft.com/office/drawing/2014/main" id="{56356B95-5C8B-1F1B-2671-AFB518A60A51}"/>
              </a:ext>
            </a:extLst>
          </p:cNvPr>
          <p:cNvPicPr>
            <a:picLocks noChangeAspect="1"/>
          </p:cNvPicPr>
          <p:nvPr/>
        </p:nvPicPr>
        <p:blipFill>
          <a:blip r:embed="rId4"/>
          <a:srcRect l="21555" t="19778" r="19778" b="11778"/>
          <a:stretch>
            <a:fillRect/>
          </a:stretch>
        </p:blipFill>
        <p:spPr>
          <a:xfrm>
            <a:off x="9379743" y="681037"/>
            <a:ext cx="1257300" cy="1466849"/>
          </a:xfrm>
          <a:prstGeom prst="rect">
            <a:avLst/>
          </a:prstGeom>
        </p:spPr>
      </p:pic>
    </p:spTree>
    <p:extLst>
      <p:ext uri="{BB962C8B-B14F-4D97-AF65-F5344CB8AC3E}">
        <p14:creationId xmlns:p14="http://schemas.microsoft.com/office/powerpoint/2010/main" val="66984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endParaRPr lang="fr-FR" dirty="0"/>
          </a:p>
          <a:p>
            <a:r>
              <a:rPr lang="fr-FR" dirty="0"/>
              <a:t>Une hématémèse peut s’accompagner de :</a:t>
            </a:r>
          </a:p>
          <a:p>
            <a:endParaRPr lang="fr-FR" dirty="0"/>
          </a:p>
          <a:p>
            <a:pPr lvl="1">
              <a:buFont typeface="Courier New" panose="02070309020205020404" pitchFamily="49" charset="0"/>
              <a:buChar char="o"/>
            </a:pPr>
            <a:r>
              <a:rPr lang="fr-FR" b="1" dirty="0"/>
              <a:t>Méléna: </a:t>
            </a:r>
            <a:r>
              <a:rPr lang="fr-FR" dirty="0"/>
              <a:t>parfois on constate la survenue de mélénas 24 à 48 h après arrêt des hématémèses qui sont ainsi évacués par voie basse.</a:t>
            </a:r>
          </a:p>
          <a:p>
            <a:pPr marL="457200" lvl="1" indent="0">
              <a:buNone/>
            </a:pPr>
            <a:endParaRPr lang="fr-FR" dirty="0"/>
          </a:p>
          <a:p>
            <a:pPr lvl="1">
              <a:buFont typeface="Courier New" panose="02070309020205020404" pitchFamily="49" charset="0"/>
              <a:buChar char="o"/>
            </a:pPr>
            <a:r>
              <a:rPr lang="fr-FR" dirty="0"/>
              <a:t>Exceptionnellement une</a:t>
            </a:r>
            <a:r>
              <a:rPr lang="fr-FR" b="1" dirty="0"/>
              <a:t> rectorragie</a:t>
            </a:r>
            <a:r>
              <a:rPr lang="fr-FR" dirty="0"/>
              <a:t>: lorsque l’hématémèse est très abondante.</a:t>
            </a:r>
          </a:p>
        </p:txBody>
      </p:sp>
    </p:spTree>
    <p:extLst>
      <p:ext uri="{BB962C8B-B14F-4D97-AF65-F5344CB8AC3E}">
        <p14:creationId xmlns:p14="http://schemas.microsoft.com/office/powerpoint/2010/main" val="262374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a:bodyPr>
          <a:lstStyle/>
          <a:p>
            <a:r>
              <a:rPr lang="fr-FR" dirty="0"/>
              <a:t>En fonction de l’abondance :</a:t>
            </a:r>
          </a:p>
          <a:p>
            <a:pPr lvl="1">
              <a:buFont typeface="Courier New" panose="02070309020205020404" pitchFamily="49" charset="0"/>
              <a:buChar char="o"/>
            </a:pPr>
            <a:r>
              <a:rPr lang="fr-FR" b="1" dirty="0"/>
              <a:t>Hémorragie de faible abondance </a:t>
            </a:r>
            <a:r>
              <a:rPr lang="fr-FR" dirty="0"/>
              <a:t>: quelques stries de </a:t>
            </a:r>
            <a:r>
              <a:rPr lang="fr-FR" dirty="0">
                <a:latin typeface="Arial" panose="020B0604020202020204" pitchFamily="34" charset="0"/>
                <a:cs typeface="Arial" panose="020B0604020202020204" pitchFamily="34" charset="0"/>
              </a:rPr>
              <a:t>→ </a:t>
            </a:r>
            <a:r>
              <a:rPr lang="fr-FR" dirty="0"/>
              <a:t>sang sans retentissement.</a:t>
            </a:r>
          </a:p>
          <a:p>
            <a:pPr lvl="1">
              <a:buFont typeface="Courier New" panose="02070309020205020404" pitchFamily="49" charset="0"/>
              <a:buChar char="o"/>
            </a:pPr>
            <a:r>
              <a:rPr lang="fr-FR" b="1" dirty="0"/>
              <a:t>Hémorragie de moyenne abondance </a:t>
            </a:r>
            <a:r>
              <a:rPr lang="fr-FR" dirty="0"/>
              <a:t>: 300 et 400 ml et &lt; à un litre.</a:t>
            </a:r>
          </a:p>
          <a:p>
            <a:pPr lvl="1">
              <a:buFont typeface="Courier New" panose="02070309020205020404" pitchFamily="49" charset="0"/>
              <a:buChar char="o"/>
            </a:pPr>
            <a:r>
              <a:rPr lang="fr-FR" b="1" dirty="0"/>
              <a:t>Hémorragie de grande abondance </a:t>
            </a:r>
            <a:r>
              <a:rPr lang="fr-FR" dirty="0"/>
              <a:t>: ≥ à un litre </a:t>
            </a:r>
            <a:r>
              <a:rPr lang="fr-FR" dirty="0">
                <a:latin typeface="Arial" panose="020B0604020202020204" pitchFamily="34" charset="0"/>
                <a:cs typeface="Arial" panose="020B0604020202020204" pitchFamily="34" charset="0"/>
              </a:rPr>
              <a:t>→ </a:t>
            </a:r>
            <a:r>
              <a:rPr lang="fr-FR" dirty="0">
                <a:cs typeface="Arial" panose="020B0604020202020204" pitchFamily="34" charset="0"/>
              </a:rPr>
              <a:t>t</a:t>
            </a:r>
            <a:r>
              <a:rPr lang="fr-FR" dirty="0"/>
              <a:t>ableau de choc hémorragique.</a:t>
            </a:r>
          </a:p>
          <a:p>
            <a:pPr marL="0" indent="0">
              <a:buNone/>
            </a:pPr>
            <a:endParaRPr lang="fr-FR" dirty="0"/>
          </a:p>
          <a:p>
            <a:r>
              <a:rPr lang="fr-FR" dirty="0"/>
              <a:t>En pratique l’abondance est difficile à apprécier.</a:t>
            </a:r>
          </a:p>
          <a:p>
            <a:endParaRPr lang="fr-FR" dirty="0"/>
          </a:p>
          <a:p>
            <a:r>
              <a:rPr lang="fr-FR" dirty="0"/>
              <a:t>L’appréciation objective de la quantité de sang perdu :</a:t>
            </a:r>
          </a:p>
          <a:p>
            <a:pPr lvl="1">
              <a:buFont typeface="Courier New" panose="02070309020205020404" pitchFamily="49" charset="0"/>
              <a:buChar char="o"/>
            </a:pPr>
            <a:r>
              <a:rPr lang="fr-FR" dirty="0"/>
              <a:t>La quantité extériorisée n’est pas un bon critère (subjectivité)</a:t>
            </a:r>
          </a:p>
          <a:p>
            <a:pPr lvl="1">
              <a:buFont typeface="Courier New" panose="02070309020205020404" pitchFamily="49" charset="0"/>
              <a:buChar char="o"/>
            </a:pPr>
            <a:r>
              <a:rPr lang="fr-FR" dirty="0"/>
              <a:t>Le retentissement clinique est un bon critère +++</a:t>
            </a:r>
          </a:p>
        </p:txBody>
      </p:sp>
    </p:spTree>
    <p:extLst>
      <p:ext uri="{BB962C8B-B14F-4D97-AF65-F5344CB8AC3E}">
        <p14:creationId xmlns:p14="http://schemas.microsoft.com/office/powerpoint/2010/main" val="3437815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Diagnostique différentiel :</a:t>
            </a:r>
          </a:p>
          <a:p>
            <a:pPr marL="0" indent="0">
              <a:buNone/>
            </a:pPr>
            <a:endParaRPr lang="fr-FR" dirty="0"/>
          </a:p>
          <a:p>
            <a:r>
              <a:rPr lang="fr-FR" b="1" dirty="0"/>
              <a:t>Hémoptysie</a:t>
            </a:r>
            <a:r>
              <a:rPr lang="fr-FR" dirty="0"/>
              <a:t> : c’est le rejet de sang rouge vif, spumeux, aéré, lors de quintes de toux.</a:t>
            </a:r>
          </a:p>
          <a:p>
            <a:r>
              <a:rPr lang="fr-FR" b="1" dirty="0"/>
              <a:t>Epistaxis</a:t>
            </a:r>
            <a:r>
              <a:rPr lang="fr-FR" dirty="0"/>
              <a:t> : postérieure déglutie ultérieurement rejetée, c’est un saignement d’origine nasal.</a:t>
            </a:r>
          </a:p>
          <a:p>
            <a:r>
              <a:rPr lang="fr-FR" b="1" dirty="0"/>
              <a:t>Hémosialémèse </a:t>
            </a:r>
            <a:r>
              <a:rPr lang="fr-FR" dirty="0"/>
              <a:t>: sang mêlé à la salive provenant des gencives (gingivorragies) ou du pharynx.</a:t>
            </a:r>
          </a:p>
          <a:p>
            <a:r>
              <a:rPr lang="fr-FR" b="1" dirty="0"/>
              <a:t>Vomissements teintés : </a:t>
            </a:r>
            <a:endParaRPr lang="fr-FR" dirty="0"/>
          </a:p>
          <a:p>
            <a:pPr lvl="1">
              <a:buFont typeface="Courier New" panose="02070309020205020404" pitchFamily="49" charset="0"/>
              <a:buChar char="o"/>
            </a:pPr>
            <a:r>
              <a:rPr lang="fr-FR" dirty="0"/>
              <a:t>Médicaments (Rifampicine).</a:t>
            </a:r>
          </a:p>
          <a:p>
            <a:pPr lvl="1">
              <a:buFont typeface="Courier New" panose="02070309020205020404" pitchFamily="49" charset="0"/>
              <a:buChar char="o"/>
            </a:pPr>
            <a:r>
              <a:rPr lang="fr-FR" dirty="0"/>
              <a:t>Aliments ou boissons (Betterave ou le vin).</a:t>
            </a:r>
          </a:p>
        </p:txBody>
      </p:sp>
      <p:pic>
        <p:nvPicPr>
          <p:cNvPr id="4" name="Image 3">
            <a:extLst>
              <a:ext uri="{FF2B5EF4-FFF2-40B4-BE49-F238E27FC236}">
                <a16:creationId xmlns:a16="http://schemas.microsoft.com/office/drawing/2014/main" id="{B46DD2E4-7F2A-1A04-0CC2-6F4E952887D7}"/>
              </a:ext>
            </a:extLst>
          </p:cNvPr>
          <p:cNvPicPr>
            <a:picLocks noChangeAspect="1"/>
          </p:cNvPicPr>
          <p:nvPr/>
        </p:nvPicPr>
        <p:blipFill>
          <a:blip r:embed="rId3"/>
          <a:stretch>
            <a:fillRect/>
          </a:stretch>
        </p:blipFill>
        <p:spPr>
          <a:xfrm>
            <a:off x="9367520" y="4743674"/>
            <a:ext cx="2824480" cy="2114325"/>
          </a:xfrm>
          <a:prstGeom prst="rect">
            <a:avLst/>
          </a:prstGeom>
        </p:spPr>
      </p:pic>
    </p:spTree>
    <p:extLst>
      <p:ext uri="{BB962C8B-B14F-4D97-AF65-F5344CB8AC3E}">
        <p14:creationId xmlns:p14="http://schemas.microsoft.com/office/powerpoint/2010/main" val="3219699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FD8D5E1C-7177-7489-12F0-7B870DE8BE0F}"/>
              </a:ext>
            </a:extLst>
          </p:cNvPr>
          <p:cNvPicPr>
            <a:picLocks noChangeAspect="1"/>
          </p:cNvPicPr>
          <p:nvPr/>
        </p:nvPicPr>
        <p:blipFill>
          <a:blip r:embed="rId3"/>
          <a:srcRect r="8024"/>
          <a:stretch>
            <a:fillRect/>
          </a:stretch>
        </p:blipFill>
        <p:spPr>
          <a:xfrm>
            <a:off x="10038080" y="4399281"/>
            <a:ext cx="2153920" cy="2458719"/>
          </a:xfrm>
          <a:prstGeom prst="rect">
            <a:avLst/>
          </a:prstGeom>
        </p:spPr>
      </p:pic>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Diagnostique différentiel :</a:t>
            </a:r>
          </a:p>
          <a:p>
            <a:pPr marL="0" indent="0">
              <a:buNone/>
            </a:pPr>
            <a:endParaRPr lang="fr-FR" dirty="0"/>
          </a:p>
          <a:p>
            <a:r>
              <a:rPr lang="fr-FR" dirty="0"/>
              <a:t>En cas d’incertitude diagnostique ou de trouble de la conscience, une </a:t>
            </a:r>
            <a:r>
              <a:rPr lang="fr-FR" u="sng" dirty="0">
                <a:solidFill>
                  <a:srgbClr val="FF0000"/>
                </a:solidFill>
                <a:effectLst>
                  <a:outerShdw blurRad="38100" dist="38100" dir="2700000" algn="tl">
                    <a:srgbClr val="000000">
                      <a:alpha val="43137"/>
                    </a:srgbClr>
                  </a:outerShdw>
                </a:effectLst>
              </a:rPr>
              <a:t>SNG</a:t>
            </a:r>
            <a:r>
              <a:rPr lang="fr-FR" dirty="0"/>
              <a:t> peut permettre de confirmer la présence de sang dans l’estomac et d’en apprécier la couleur (rouge vif : saignement actif) </a:t>
            </a:r>
          </a:p>
          <a:p>
            <a:endParaRPr lang="fr-FR" dirty="0"/>
          </a:p>
          <a:p>
            <a:r>
              <a:rPr lang="fr-FR" dirty="0"/>
              <a:t>Cependant l’absence de sang dans la sonde gastrique n’élimine pas formellement une hémorragie digestive haute post-bulbaire.</a:t>
            </a:r>
          </a:p>
        </p:txBody>
      </p:sp>
      <p:pic>
        <p:nvPicPr>
          <p:cNvPr id="5" name="Image 4">
            <a:extLst>
              <a:ext uri="{FF2B5EF4-FFF2-40B4-BE49-F238E27FC236}">
                <a16:creationId xmlns:a16="http://schemas.microsoft.com/office/drawing/2014/main" id="{2EF34840-4D79-2A0C-C37D-E58B732907D0}"/>
              </a:ext>
            </a:extLst>
          </p:cNvPr>
          <p:cNvPicPr>
            <a:picLocks noChangeAspect="1"/>
          </p:cNvPicPr>
          <p:nvPr/>
        </p:nvPicPr>
        <p:blipFill>
          <a:blip r:embed="rId4"/>
          <a:srcRect l="13382" r="20966"/>
          <a:stretch>
            <a:fillRect/>
          </a:stretch>
        </p:blipFill>
        <p:spPr>
          <a:xfrm>
            <a:off x="9195716" y="142241"/>
            <a:ext cx="2996284" cy="2458719"/>
          </a:xfrm>
          <a:prstGeom prst="rect">
            <a:avLst/>
          </a:prstGeom>
        </p:spPr>
      </p:pic>
    </p:spTree>
    <p:extLst>
      <p:ext uri="{BB962C8B-B14F-4D97-AF65-F5344CB8AC3E}">
        <p14:creationId xmlns:p14="http://schemas.microsoft.com/office/powerpoint/2010/main" val="111722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Étiologies:</a:t>
            </a:r>
          </a:p>
          <a:p>
            <a:pPr marL="0" indent="0">
              <a:buNone/>
            </a:pPr>
            <a:endParaRPr lang="fr-FR" dirty="0"/>
          </a:p>
          <a:p>
            <a:r>
              <a:rPr lang="fr-FR" dirty="0"/>
              <a:t>Maladie ulcéreuse gastroduodénale.</a:t>
            </a:r>
          </a:p>
          <a:p>
            <a:endParaRPr lang="fr-FR" dirty="0"/>
          </a:p>
          <a:p>
            <a:r>
              <a:rPr lang="fr-FR" dirty="0"/>
              <a:t>Rupture de varices œsophagiennes au cours d’un syndrome d’HTP.</a:t>
            </a:r>
          </a:p>
          <a:p>
            <a:endParaRPr lang="fr-FR" dirty="0"/>
          </a:p>
          <a:p>
            <a:r>
              <a:rPr lang="fr-FR" dirty="0"/>
              <a:t>Ulcérations aigues post-médicamenteuses ou post-stress. </a:t>
            </a:r>
          </a:p>
          <a:p>
            <a:endParaRPr lang="fr-FR" dirty="0"/>
          </a:p>
          <a:p>
            <a:r>
              <a:rPr lang="fr-FR" dirty="0"/>
              <a:t>Syndrome de Mallory-Weiss : déchirure de la muqueuse à la jonction </a:t>
            </a:r>
            <a:r>
              <a:rPr lang="fr-FR" dirty="0" err="1"/>
              <a:t>oeso</a:t>
            </a:r>
            <a:r>
              <a:rPr lang="fr-FR" dirty="0"/>
              <a:t>-gastriques suite à des efforts de vomissements répétés.</a:t>
            </a:r>
          </a:p>
        </p:txBody>
      </p:sp>
      <p:pic>
        <p:nvPicPr>
          <p:cNvPr id="4" name="Image 3">
            <a:extLst>
              <a:ext uri="{FF2B5EF4-FFF2-40B4-BE49-F238E27FC236}">
                <a16:creationId xmlns:a16="http://schemas.microsoft.com/office/drawing/2014/main" id="{F478DA17-EE1F-7FA5-4C3E-1FF89B5C584D}"/>
              </a:ext>
            </a:extLst>
          </p:cNvPr>
          <p:cNvPicPr>
            <a:picLocks noChangeAspect="1"/>
          </p:cNvPicPr>
          <p:nvPr/>
        </p:nvPicPr>
        <p:blipFill>
          <a:blip r:embed="rId3"/>
          <a:stretch>
            <a:fillRect/>
          </a:stretch>
        </p:blipFill>
        <p:spPr>
          <a:xfrm>
            <a:off x="12330112" y="3776663"/>
            <a:ext cx="2628900" cy="2400300"/>
          </a:xfrm>
          <a:prstGeom prst="rect">
            <a:avLst/>
          </a:prstGeom>
        </p:spPr>
      </p:pic>
      <p:pic>
        <p:nvPicPr>
          <p:cNvPr id="6" name="Image 5">
            <a:extLst>
              <a:ext uri="{FF2B5EF4-FFF2-40B4-BE49-F238E27FC236}">
                <a16:creationId xmlns:a16="http://schemas.microsoft.com/office/drawing/2014/main" id="{E4DE02A5-F260-A634-36A4-0D18AF37C960}"/>
              </a:ext>
            </a:extLst>
          </p:cNvPr>
          <p:cNvPicPr>
            <a:picLocks noChangeAspect="1"/>
          </p:cNvPicPr>
          <p:nvPr/>
        </p:nvPicPr>
        <p:blipFill>
          <a:blip r:embed="rId4"/>
          <a:stretch>
            <a:fillRect/>
          </a:stretch>
        </p:blipFill>
        <p:spPr>
          <a:xfrm>
            <a:off x="10267950" y="19050"/>
            <a:ext cx="1924050" cy="2371725"/>
          </a:xfrm>
          <a:prstGeom prst="rect">
            <a:avLst/>
          </a:prstGeom>
        </p:spPr>
      </p:pic>
      <p:pic>
        <p:nvPicPr>
          <p:cNvPr id="7" name="Image 6">
            <a:extLst>
              <a:ext uri="{FF2B5EF4-FFF2-40B4-BE49-F238E27FC236}">
                <a16:creationId xmlns:a16="http://schemas.microsoft.com/office/drawing/2014/main" id="{599DD434-A3C7-F769-794E-36F18E25CBD2}"/>
              </a:ext>
            </a:extLst>
          </p:cNvPr>
          <p:cNvPicPr>
            <a:picLocks noChangeAspect="1"/>
          </p:cNvPicPr>
          <p:nvPr/>
        </p:nvPicPr>
        <p:blipFill>
          <a:blip r:embed="rId5"/>
          <a:srcRect l="51950" b="12612"/>
          <a:stretch>
            <a:fillRect/>
          </a:stretch>
        </p:blipFill>
        <p:spPr>
          <a:xfrm>
            <a:off x="8536781" y="1360646"/>
            <a:ext cx="1924050" cy="2107565"/>
          </a:xfrm>
          <a:prstGeom prst="rect">
            <a:avLst/>
          </a:prstGeom>
        </p:spPr>
      </p:pic>
    </p:spTree>
    <p:extLst>
      <p:ext uri="{BB962C8B-B14F-4D97-AF65-F5344CB8AC3E}">
        <p14:creationId xmlns:p14="http://schemas.microsoft.com/office/powerpoint/2010/main" val="415933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hématémèse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85000" lnSpcReduction="20000"/>
          </a:bodyPr>
          <a:lstStyle/>
          <a:p>
            <a:pPr marL="0" indent="0">
              <a:buNone/>
            </a:pPr>
            <a:r>
              <a:rPr lang="fr-FR" b="1" dirty="0"/>
              <a:t>Étiologies:</a:t>
            </a:r>
          </a:p>
          <a:p>
            <a:pPr marL="0" indent="0">
              <a:buNone/>
            </a:pPr>
            <a:endParaRPr lang="fr-FR" dirty="0"/>
          </a:p>
          <a:p>
            <a:r>
              <a:rPr lang="fr-FR" dirty="0"/>
              <a:t>Œsophagites et ulcères de l’</a:t>
            </a:r>
            <a:r>
              <a:rPr lang="fr-FR" dirty="0" err="1"/>
              <a:t>oesophage</a:t>
            </a:r>
            <a:r>
              <a:rPr lang="fr-FR" dirty="0"/>
              <a:t> d’étiologies diverses : surtout RGO</a:t>
            </a:r>
          </a:p>
          <a:p>
            <a:endParaRPr lang="fr-FR" dirty="0"/>
          </a:p>
          <a:p>
            <a:r>
              <a:rPr lang="fr-FR" dirty="0"/>
              <a:t>Tumeurs </a:t>
            </a:r>
            <a:r>
              <a:rPr lang="fr-FR" dirty="0" err="1"/>
              <a:t>oeso</a:t>
            </a:r>
            <a:r>
              <a:rPr lang="fr-FR" dirty="0"/>
              <a:t>-gastro-duodénales bénignes ou malignes</a:t>
            </a:r>
          </a:p>
          <a:p>
            <a:endParaRPr lang="fr-FR" dirty="0"/>
          </a:p>
          <a:p>
            <a:r>
              <a:rPr lang="fr-FR" dirty="0"/>
              <a:t>Causes rares : </a:t>
            </a:r>
          </a:p>
          <a:p>
            <a:pPr lvl="1">
              <a:buFont typeface="Courier New" panose="02070309020205020404" pitchFamily="49" charset="0"/>
              <a:buChar char="o"/>
            </a:pPr>
            <a:r>
              <a:rPr lang="fr-FR" dirty="0"/>
              <a:t>Ulcère simplex de Dieulafoy (perte de substance muqueuse érodant une artériole de la sous muqueuse)</a:t>
            </a:r>
          </a:p>
          <a:p>
            <a:pPr lvl="1">
              <a:buFont typeface="Courier New" panose="02070309020205020404" pitchFamily="49" charset="0"/>
              <a:buChar char="o"/>
            </a:pPr>
            <a:r>
              <a:rPr lang="fr-FR" dirty="0"/>
              <a:t>Angiodysplasies</a:t>
            </a:r>
          </a:p>
          <a:p>
            <a:pPr lvl="1">
              <a:buFont typeface="Courier New" panose="02070309020205020404" pitchFamily="49" charset="0"/>
              <a:buChar char="o"/>
            </a:pPr>
            <a:r>
              <a:rPr lang="fr-FR" dirty="0" err="1"/>
              <a:t>Hémobilie</a:t>
            </a:r>
            <a:endParaRPr lang="fr-FR" dirty="0"/>
          </a:p>
          <a:p>
            <a:pPr lvl="1">
              <a:buFont typeface="Courier New" panose="02070309020205020404" pitchFamily="49" charset="0"/>
              <a:buChar char="o"/>
            </a:pPr>
            <a:r>
              <a:rPr lang="fr-FR" dirty="0"/>
              <a:t>wirsungorragies.</a:t>
            </a:r>
          </a:p>
        </p:txBody>
      </p:sp>
      <p:pic>
        <p:nvPicPr>
          <p:cNvPr id="5" name="Image 4">
            <a:extLst>
              <a:ext uri="{FF2B5EF4-FFF2-40B4-BE49-F238E27FC236}">
                <a16:creationId xmlns:a16="http://schemas.microsoft.com/office/drawing/2014/main" id="{6FE723A1-9605-948A-5F78-A62AA559C34D}"/>
              </a:ext>
            </a:extLst>
          </p:cNvPr>
          <p:cNvPicPr>
            <a:picLocks noChangeAspect="1"/>
          </p:cNvPicPr>
          <p:nvPr/>
        </p:nvPicPr>
        <p:blipFill>
          <a:blip r:embed="rId3"/>
          <a:stretch>
            <a:fillRect/>
          </a:stretch>
        </p:blipFill>
        <p:spPr>
          <a:xfrm>
            <a:off x="12330112" y="542925"/>
            <a:ext cx="2466975" cy="1847850"/>
          </a:xfrm>
          <a:prstGeom prst="rect">
            <a:avLst/>
          </a:prstGeom>
        </p:spPr>
      </p:pic>
      <p:pic>
        <p:nvPicPr>
          <p:cNvPr id="6" name="Image 5">
            <a:extLst>
              <a:ext uri="{FF2B5EF4-FFF2-40B4-BE49-F238E27FC236}">
                <a16:creationId xmlns:a16="http://schemas.microsoft.com/office/drawing/2014/main" id="{25EBDF0B-3F18-50A4-473E-106532C3D917}"/>
              </a:ext>
            </a:extLst>
          </p:cNvPr>
          <p:cNvPicPr>
            <a:picLocks noChangeAspect="1"/>
          </p:cNvPicPr>
          <p:nvPr/>
        </p:nvPicPr>
        <p:blipFill>
          <a:blip r:embed="rId4"/>
          <a:stretch>
            <a:fillRect/>
          </a:stretch>
        </p:blipFill>
        <p:spPr>
          <a:xfrm>
            <a:off x="9725025" y="427831"/>
            <a:ext cx="2466975" cy="1847850"/>
          </a:xfrm>
          <a:prstGeom prst="rect">
            <a:avLst/>
          </a:prstGeom>
        </p:spPr>
      </p:pic>
      <p:pic>
        <p:nvPicPr>
          <p:cNvPr id="8" name="Image 7">
            <a:extLst>
              <a:ext uri="{FF2B5EF4-FFF2-40B4-BE49-F238E27FC236}">
                <a16:creationId xmlns:a16="http://schemas.microsoft.com/office/drawing/2014/main" id="{38738700-7D92-1D65-D30F-17D3E4E34084}"/>
              </a:ext>
            </a:extLst>
          </p:cNvPr>
          <p:cNvPicPr>
            <a:picLocks noChangeAspect="1"/>
          </p:cNvPicPr>
          <p:nvPr/>
        </p:nvPicPr>
        <p:blipFill>
          <a:blip r:embed="rId5"/>
          <a:stretch>
            <a:fillRect/>
          </a:stretch>
        </p:blipFill>
        <p:spPr>
          <a:xfrm>
            <a:off x="9725024" y="2990850"/>
            <a:ext cx="2466975" cy="1453357"/>
          </a:xfrm>
          <a:prstGeom prst="rect">
            <a:avLst/>
          </a:prstGeom>
        </p:spPr>
      </p:pic>
      <p:pic>
        <p:nvPicPr>
          <p:cNvPr id="9" name="Image 8">
            <a:extLst>
              <a:ext uri="{FF2B5EF4-FFF2-40B4-BE49-F238E27FC236}">
                <a16:creationId xmlns:a16="http://schemas.microsoft.com/office/drawing/2014/main" id="{C850E870-E472-DA5D-7073-7B06BFF7EEA2}"/>
              </a:ext>
            </a:extLst>
          </p:cNvPr>
          <p:cNvPicPr>
            <a:picLocks noChangeAspect="1"/>
          </p:cNvPicPr>
          <p:nvPr/>
        </p:nvPicPr>
        <p:blipFill>
          <a:blip r:embed="rId6"/>
          <a:srcRect l="10546" t="-2459" r="9454" b="2459"/>
          <a:stretch>
            <a:fillRect/>
          </a:stretch>
        </p:blipFill>
        <p:spPr>
          <a:xfrm>
            <a:off x="3752850" y="5029200"/>
            <a:ext cx="2095500" cy="1785939"/>
          </a:xfrm>
          <a:prstGeom prst="rect">
            <a:avLst/>
          </a:prstGeom>
        </p:spPr>
      </p:pic>
      <p:pic>
        <p:nvPicPr>
          <p:cNvPr id="10" name="Image 9">
            <a:extLst>
              <a:ext uri="{FF2B5EF4-FFF2-40B4-BE49-F238E27FC236}">
                <a16:creationId xmlns:a16="http://schemas.microsoft.com/office/drawing/2014/main" id="{B77AD22E-FCF0-18E8-311D-B893BF7002D1}"/>
              </a:ext>
            </a:extLst>
          </p:cNvPr>
          <p:cNvPicPr>
            <a:picLocks noChangeAspect="1"/>
          </p:cNvPicPr>
          <p:nvPr/>
        </p:nvPicPr>
        <p:blipFill>
          <a:blip r:embed="rId7"/>
          <a:srcRect l="18782" t="13611" r="14620" b="11944"/>
          <a:stretch>
            <a:fillRect/>
          </a:stretch>
        </p:blipFill>
        <p:spPr>
          <a:xfrm>
            <a:off x="5848350" y="5072062"/>
            <a:ext cx="1943015" cy="1743076"/>
          </a:xfrm>
          <a:prstGeom prst="rect">
            <a:avLst/>
          </a:prstGeom>
        </p:spPr>
      </p:pic>
      <p:pic>
        <p:nvPicPr>
          <p:cNvPr id="12" name="Image 11">
            <a:extLst>
              <a:ext uri="{FF2B5EF4-FFF2-40B4-BE49-F238E27FC236}">
                <a16:creationId xmlns:a16="http://schemas.microsoft.com/office/drawing/2014/main" id="{C1B1E9A9-E5CF-5A75-24A6-09610FD0EAFE}"/>
              </a:ext>
            </a:extLst>
          </p:cNvPr>
          <p:cNvPicPr>
            <a:picLocks noChangeAspect="1"/>
          </p:cNvPicPr>
          <p:nvPr/>
        </p:nvPicPr>
        <p:blipFill>
          <a:blip r:embed="rId8"/>
          <a:stretch>
            <a:fillRect/>
          </a:stretch>
        </p:blipFill>
        <p:spPr>
          <a:xfrm>
            <a:off x="7791365" y="5029200"/>
            <a:ext cx="4400633" cy="1785938"/>
          </a:xfrm>
          <a:prstGeom prst="rect">
            <a:avLst/>
          </a:prstGeom>
        </p:spPr>
      </p:pic>
    </p:spTree>
    <p:extLst>
      <p:ext uri="{BB962C8B-B14F-4D97-AF65-F5344CB8AC3E}">
        <p14:creationId xmlns:p14="http://schemas.microsoft.com/office/powerpoint/2010/main" val="2350623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méléna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Définition :</a:t>
            </a:r>
          </a:p>
          <a:p>
            <a:pPr marL="0" indent="0">
              <a:buNone/>
            </a:pPr>
            <a:endParaRPr lang="fr-FR" b="1" dirty="0"/>
          </a:p>
          <a:p>
            <a:r>
              <a:rPr lang="fr-FR" dirty="0"/>
              <a:t>C’est l’émission par l’anus de sang digéré sous forme de selles noirâtres,  goudrons nauséabonds. </a:t>
            </a:r>
          </a:p>
          <a:p>
            <a:pPr marL="0" indent="0">
              <a:buNone/>
            </a:pPr>
            <a:endParaRPr lang="fr-FR" dirty="0"/>
          </a:p>
          <a:p>
            <a:r>
              <a:rPr lang="fr-FR" dirty="0"/>
              <a:t>Dues à des lésions digestives :</a:t>
            </a:r>
          </a:p>
          <a:p>
            <a:endParaRPr lang="fr-FR" dirty="0"/>
          </a:p>
          <a:p>
            <a:pPr lvl="1">
              <a:buFont typeface="Courier New" panose="02070309020205020404" pitchFamily="49" charset="0"/>
              <a:buChar char="o"/>
            </a:pPr>
            <a:r>
              <a:rPr lang="fr-FR" dirty="0"/>
              <a:t>Sus-mésocolique: œsophage, estomac ou le duodénum.</a:t>
            </a:r>
          </a:p>
          <a:p>
            <a:pPr marL="457200" lvl="1" indent="0">
              <a:buNone/>
            </a:pPr>
            <a:endParaRPr lang="fr-FR" dirty="0"/>
          </a:p>
          <a:p>
            <a:pPr lvl="1">
              <a:buFont typeface="Courier New" panose="02070309020205020404" pitchFamily="49" charset="0"/>
              <a:buChar char="o"/>
            </a:pPr>
            <a:r>
              <a:rPr lang="fr-FR" dirty="0"/>
              <a:t>Sous-mésocolique: jéjunum, l’iléon, le colon droit et la partie droite du colon transverse.</a:t>
            </a:r>
          </a:p>
          <a:p>
            <a:pPr lvl="1">
              <a:buFont typeface="Courier New" panose="02070309020205020404" pitchFamily="49" charset="0"/>
              <a:buChar char="o"/>
            </a:pPr>
            <a:endParaRPr lang="fr-FR" dirty="0"/>
          </a:p>
          <a:p>
            <a:pPr marL="0" indent="0">
              <a:buNone/>
            </a:pPr>
            <a:endParaRPr lang="fr-FR" dirty="0"/>
          </a:p>
        </p:txBody>
      </p:sp>
      <p:pic>
        <p:nvPicPr>
          <p:cNvPr id="6" name="Image 5">
            <a:extLst>
              <a:ext uri="{FF2B5EF4-FFF2-40B4-BE49-F238E27FC236}">
                <a16:creationId xmlns:a16="http://schemas.microsoft.com/office/drawing/2014/main" id="{201027EF-65C4-5A67-ABC9-B4BF7C978673}"/>
              </a:ext>
            </a:extLst>
          </p:cNvPr>
          <p:cNvPicPr>
            <a:picLocks noChangeAspect="1"/>
          </p:cNvPicPr>
          <p:nvPr/>
        </p:nvPicPr>
        <p:blipFill>
          <a:blip r:embed="rId3"/>
          <a:stretch>
            <a:fillRect/>
          </a:stretch>
        </p:blipFill>
        <p:spPr>
          <a:xfrm>
            <a:off x="10458450" y="3350156"/>
            <a:ext cx="1733550" cy="3507844"/>
          </a:xfrm>
          <a:prstGeom prst="rect">
            <a:avLst/>
          </a:prstGeom>
        </p:spPr>
      </p:pic>
      <p:pic>
        <p:nvPicPr>
          <p:cNvPr id="4" name="Image 3">
            <a:extLst>
              <a:ext uri="{FF2B5EF4-FFF2-40B4-BE49-F238E27FC236}">
                <a16:creationId xmlns:a16="http://schemas.microsoft.com/office/drawing/2014/main" id="{0A4BE3FB-D9F6-AC4D-FEDC-D107B1064B92}"/>
              </a:ext>
            </a:extLst>
          </p:cNvPr>
          <p:cNvPicPr>
            <a:picLocks noChangeAspect="1"/>
          </p:cNvPicPr>
          <p:nvPr/>
        </p:nvPicPr>
        <p:blipFill>
          <a:blip r:embed="rId4"/>
          <a:stretch>
            <a:fillRect/>
          </a:stretch>
        </p:blipFill>
        <p:spPr>
          <a:xfrm>
            <a:off x="8169597" y="365124"/>
            <a:ext cx="2145978" cy="2389839"/>
          </a:xfrm>
          <a:prstGeom prst="rect">
            <a:avLst/>
          </a:prstGeom>
        </p:spPr>
      </p:pic>
    </p:spTree>
    <p:extLst>
      <p:ext uri="{BB962C8B-B14F-4D97-AF65-F5344CB8AC3E}">
        <p14:creationId xmlns:p14="http://schemas.microsoft.com/office/powerpoint/2010/main" val="2182717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méléna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Définition :</a:t>
            </a:r>
          </a:p>
          <a:p>
            <a:pPr marL="0" indent="0">
              <a:buNone/>
            </a:pPr>
            <a:endParaRPr lang="fr-FR" dirty="0"/>
          </a:p>
          <a:p>
            <a:r>
              <a:rPr lang="fr-FR" dirty="0"/>
              <a:t>En fonction de l’abondance du saignement on distingue méléna de: </a:t>
            </a:r>
          </a:p>
          <a:p>
            <a:endParaRPr lang="fr-FR" dirty="0"/>
          </a:p>
          <a:p>
            <a:pPr lvl="1">
              <a:buFont typeface="Courier New" panose="02070309020205020404" pitchFamily="49" charset="0"/>
              <a:buChar char="o"/>
            </a:pPr>
            <a:r>
              <a:rPr lang="fr-FR" dirty="0"/>
              <a:t>Grande abondance.</a:t>
            </a:r>
          </a:p>
          <a:p>
            <a:pPr lvl="1">
              <a:buFont typeface="Courier New" panose="02070309020205020404" pitchFamily="49" charset="0"/>
              <a:buChar char="o"/>
            </a:pPr>
            <a:endParaRPr lang="fr-FR" dirty="0"/>
          </a:p>
          <a:p>
            <a:pPr lvl="1">
              <a:buFont typeface="Courier New" panose="02070309020205020404" pitchFamily="49" charset="0"/>
              <a:buChar char="o"/>
            </a:pPr>
            <a:r>
              <a:rPr lang="fr-FR" dirty="0"/>
              <a:t>Moyenne abondance.</a:t>
            </a:r>
          </a:p>
          <a:p>
            <a:pPr lvl="1">
              <a:buFont typeface="Courier New" panose="02070309020205020404" pitchFamily="49" charset="0"/>
              <a:buChar char="o"/>
            </a:pPr>
            <a:endParaRPr lang="fr-FR" dirty="0"/>
          </a:p>
          <a:p>
            <a:pPr lvl="1">
              <a:buFont typeface="Courier New" panose="02070309020205020404" pitchFamily="49" charset="0"/>
              <a:buChar char="o"/>
            </a:pPr>
            <a:r>
              <a:rPr lang="fr-FR" dirty="0"/>
              <a:t>Petite abondance.</a:t>
            </a:r>
          </a:p>
        </p:txBody>
      </p:sp>
      <p:pic>
        <p:nvPicPr>
          <p:cNvPr id="4" name="Image 3">
            <a:extLst>
              <a:ext uri="{FF2B5EF4-FFF2-40B4-BE49-F238E27FC236}">
                <a16:creationId xmlns:a16="http://schemas.microsoft.com/office/drawing/2014/main" id="{0A4BE3FB-D9F6-AC4D-FEDC-D107B1064B92}"/>
              </a:ext>
            </a:extLst>
          </p:cNvPr>
          <p:cNvPicPr>
            <a:picLocks noChangeAspect="1"/>
          </p:cNvPicPr>
          <p:nvPr/>
        </p:nvPicPr>
        <p:blipFill>
          <a:blip r:embed="rId3"/>
          <a:stretch>
            <a:fillRect/>
          </a:stretch>
        </p:blipFill>
        <p:spPr>
          <a:xfrm>
            <a:off x="9896797" y="0"/>
            <a:ext cx="2145978" cy="2389839"/>
          </a:xfrm>
          <a:prstGeom prst="rect">
            <a:avLst/>
          </a:prstGeom>
        </p:spPr>
      </p:pic>
    </p:spTree>
    <p:extLst>
      <p:ext uri="{BB962C8B-B14F-4D97-AF65-F5344CB8AC3E}">
        <p14:creationId xmlns:p14="http://schemas.microsoft.com/office/powerpoint/2010/main" val="510359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méléna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Diagnostique différentiel :</a:t>
            </a:r>
          </a:p>
          <a:p>
            <a:pPr marL="0" indent="0">
              <a:buNone/>
            </a:pPr>
            <a:endParaRPr lang="fr-FR" b="1" dirty="0"/>
          </a:p>
          <a:p>
            <a:r>
              <a:rPr lang="fr-FR" dirty="0"/>
              <a:t>Aliments : épinards, betterave, réglisse.</a:t>
            </a:r>
          </a:p>
          <a:p>
            <a:endParaRPr lang="fr-FR" dirty="0"/>
          </a:p>
          <a:p>
            <a:r>
              <a:rPr lang="fr-FR" dirty="0"/>
              <a:t>Médicaments : à base de fer, de charbon.</a:t>
            </a:r>
          </a:p>
          <a:p>
            <a:endParaRPr lang="fr-FR" dirty="0"/>
          </a:p>
          <a:p>
            <a:pPr marL="0" indent="0">
              <a:buNone/>
            </a:pPr>
            <a:r>
              <a:rPr lang="fr-FR" dirty="0"/>
              <a:t>Dans ces deux cas l’odeur des selles n’est pas </a:t>
            </a:r>
            <a:r>
              <a:rPr lang="fr-FR" u="sng" dirty="0">
                <a:solidFill>
                  <a:srgbClr val="FF0000"/>
                </a:solidFill>
                <a:effectLst>
                  <a:outerShdw blurRad="38100" dist="38100" dir="2700000" algn="tl">
                    <a:srgbClr val="000000">
                      <a:alpha val="43137"/>
                    </a:srgbClr>
                  </a:outerShdw>
                </a:effectLst>
              </a:rPr>
              <a:t>fétide</a:t>
            </a:r>
            <a:r>
              <a:rPr lang="fr-FR" dirty="0"/>
              <a:t> et si l’on délaye la selle dans de l’eau cette dernière ne devient pas </a:t>
            </a:r>
            <a:r>
              <a:rPr lang="fr-FR" u="sng" dirty="0">
                <a:solidFill>
                  <a:srgbClr val="FF0000"/>
                </a:solidFill>
                <a:effectLst>
                  <a:outerShdw blurRad="38100" dist="38100" dir="2700000" algn="tl">
                    <a:srgbClr val="000000">
                      <a:alpha val="43137"/>
                    </a:srgbClr>
                  </a:outerShdw>
                </a:effectLst>
              </a:rPr>
              <a:t>rouge </a:t>
            </a:r>
            <a:r>
              <a:rPr lang="fr-FR" dirty="0"/>
              <a:t>comme au cours du méléna.</a:t>
            </a:r>
          </a:p>
        </p:txBody>
      </p:sp>
      <p:pic>
        <p:nvPicPr>
          <p:cNvPr id="4" name="Image 3">
            <a:extLst>
              <a:ext uri="{FF2B5EF4-FFF2-40B4-BE49-F238E27FC236}">
                <a16:creationId xmlns:a16="http://schemas.microsoft.com/office/drawing/2014/main" id="{D9881EE5-1F00-F6C2-F1AD-1407AEDCD4F1}"/>
              </a:ext>
            </a:extLst>
          </p:cNvPr>
          <p:cNvPicPr>
            <a:picLocks noChangeAspect="1"/>
          </p:cNvPicPr>
          <p:nvPr/>
        </p:nvPicPr>
        <p:blipFill>
          <a:blip r:embed="rId3"/>
          <a:stretch>
            <a:fillRect/>
          </a:stretch>
        </p:blipFill>
        <p:spPr>
          <a:xfrm>
            <a:off x="10048875" y="0"/>
            <a:ext cx="2143125" cy="2143125"/>
          </a:xfrm>
          <a:prstGeom prst="rect">
            <a:avLst/>
          </a:prstGeom>
        </p:spPr>
      </p:pic>
      <p:pic>
        <p:nvPicPr>
          <p:cNvPr id="5" name="Image 4">
            <a:extLst>
              <a:ext uri="{FF2B5EF4-FFF2-40B4-BE49-F238E27FC236}">
                <a16:creationId xmlns:a16="http://schemas.microsoft.com/office/drawing/2014/main" id="{4EDD37E3-50D9-3CD5-7565-9B449D249FC9}"/>
              </a:ext>
            </a:extLst>
          </p:cNvPr>
          <p:cNvPicPr>
            <a:picLocks noChangeAspect="1"/>
          </p:cNvPicPr>
          <p:nvPr/>
        </p:nvPicPr>
        <p:blipFill>
          <a:blip r:embed="rId4"/>
          <a:stretch>
            <a:fillRect/>
          </a:stretch>
        </p:blipFill>
        <p:spPr>
          <a:xfrm>
            <a:off x="7753350" y="152400"/>
            <a:ext cx="2295525" cy="1990725"/>
          </a:xfrm>
          <a:prstGeom prst="rect">
            <a:avLst/>
          </a:prstGeom>
        </p:spPr>
      </p:pic>
      <p:pic>
        <p:nvPicPr>
          <p:cNvPr id="6" name="Image 5">
            <a:extLst>
              <a:ext uri="{FF2B5EF4-FFF2-40B4-BE49-F238E27FC236}">
                <a16:creationId xmlns:a16="http://schemas.microsoft.com/office/drawing/2014/main" id="{1DA85FE3-1251-6F83-D3C3-47031D5DCE6E}"/>
              </a:ext>
            </a:extLst>
          </p:cNvPr>
          <p:cNvPicPr>
            <a:picLocks noChangeAspect="1"/>
          </p:cNvPicPr>
          <p:nvPr/>
        </p:nvPicPr>
        <p:blipFill>
          <a:blip r:embed="rId5"/>
          <a:stretch>
            <a:fillRect/>
          </a:stretch>
        </p:blipFill>
        <p:spPr>
          <a:xfrm>
            <a:off x="8753475" y="2119589"/>
            <a:ext cx="2590800" cy="1762125"/>
          </a:xfrm>
          <a:prstGeom prst="rect">
            <a:avLst/>
          </a:prstGeom>
        </p:spPr>
      </p:pic>
    </p:spTree>
    <p:extLst>
      <p:ext uri="{BB962C8B-B14F-4D97-AF65-F5344CB8AC3E}">
        <p14:creationId xmlns:p14="http://schemas.microsoft.com/office/powerpoint/2010/main" val="873361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méléna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Étiologies:</a:t>
            </a:r>
          </a:p>
          <a:p>
            <a:pPr marL="0" indent="0">
              <a:buNone/>
            </a:pPr>
            <a:endParaRPr lang="fr-FR" b="1" dirty="0"/>
          </a:p>
          <a:p>
            <a:pPr marL="0" indent="0">
              <a:buNone/>
            </a:pPr>
            <a:r>
              <a:rPr lang="fr-FR" u="sng" dirty="0"/>
              <a:t>Causes sus-mésocoliques </a:t>
            </a:r>
            <a:r>
              <a:rPr lang="fr-FR" dirty="0"/>
              <a:t>: revoir les causes des hématémèses. </a:t>
            </a:r>
          </a:p>
          <a:p>
            <a:endParaRPr lang="fr-FR" dirty="0"/>
          </a:p>
          <a:p>
            <a:r>
              <a:rPr lang="fr-FR" dirty="0"/>
              <a:t>NB : lorsqu’il y a un doute diagnostic entre l’origine sus ou sous- mésocolique du méléna, la mise en place d’une sonde naso-gastrique peut orienter le diagnostic.</a:t>
            </a:r>
          </a:p>
        </p:txBody>
      </p:sp>
    </p:spTree>
    <p:extLst>
      <p:ext uri="{BB962C8B-B14F-4D97-AF65-F5344CB8AC3E}">
        <p14:creationId xmlns:p14="http://schemas.microsoft.com/office/powerpoint/2010/main" val="2182305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méléna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Étiologies:</a:t>
            </a:r>
          </a:p>
          <a:p>
            <a:pPr marL="0" indent="0">
              <a:buNone/>
            </a:pPr>
            <a:endParaRPr lang="fr-FR" b="1" dirty="0"/>
          </a:p>
          <a:p>
            <a:pPr marL="0" indent="0">
              <a:buNone/>
            </a:pPr>
            <a:r>
              <a:rPr lang="fr-FR" u="sng" dirty="0"/>
              <a:t>Causes sous-mésocoliques </a:t>
            </a:r>
            <a:r>
              <a:rPr lang="fr-FR" dirty="0"/>
              <a:t>:</a:t>
            </a:r>
          </a:p>
          <a:p>
            <a:pPr marL="0" indent="0">
              <a:buNone/>
            </a:pPr>
            <a:endParaRPr lang="fr-FR" dirty="0"/>
          </a:p>
          <a:p>
            <a:r>
              <a:rPr lang="fr-FR" b="1" dirty="0"/>
              <a:t>Causes coliques </a:t>
            </a:r>
            <a:r>
              <a:rPr lang="fr-FR" dirty="0"/>
              <a:t>: diverticulose colique, </a:t>
            </a:r>
            <a:r>
              <a:rPr lang="fr-FR" dirty="0" err="1"/>
              <a:t>angiodysplasies</a:t>
            </a:r>
            <a:r>
              <a:rPr lang="fr-FR" dirty="0"/>
              <a:t>, cancer du colon, colites inflammatoires (RCH, maladie de </a:t>
            </a:r>
            <a:r>
              <a:rPr lang="fr-FR" dirty="0" err="1"/>
              <a:t>Crohn</a:t>
            </a:r>
            <a:r>
              <a:rPr lang="fr-FR" dirty="0"/>
              <a:t>), colite ischémique, colites iatrogènes (radique, AINS), colites infectieuses (tuberculose).</a:t>
            </a:r>
          </a:p>
          <a:p>
            <a:endParaRPr lang="fr-FR" dirty="0"/>
          </a:p>
          <a:p>
            <a:r>
              <a:rPr lang="fr-FR" b="1" dirty="0"/>
              <a:t>Causes grêliques </a:t>
            </a:r>
            <a:r>
              <a:rPr lang="fr-FR" dirty="0"/>
              <a:t>(rares) : diverticule de Meckel, tumeurs (lymphomes, adénocarcinomes, </a:t>
            </a:r>
            <a:r>
              <a:rPr lang="fr-FR" dirty="0" err="1"/>
              <a:t>leiomyosarcomes</a:t>
            </a:r>
            <a:r>
              <a:rPr lang="fr-FR" dirty="0"/>
              <a:t>), maladie de Rendu-Osler.</a:t>
            </a:r>
          </a:p>
        </p:txBody>
      </p:sp>
      <p:pic>
        <p:nvPicPr>
          <p:cNvPr id="4" name="Image 3">
            <a:extLst>
              <a:ext uri="{FF2B5EF4-FFF2-40B4-BE49-F238E27FC236}">
                <a16:creationId xmlns:a16="http://schemas.microsoft.com/office/drawing/2014/main" id="{6CB013EA-BC85-6432-D7AC-8C7BFD90E15A}"/>
              </a:ext>
            </a:extLst>
          </p:cNvPr>
          <p:cNvPicPr>
            <a:picLocks noChangeAspect="1"/>
          </p:cNvPicPr>
          <p:nvPr/>
        </p:nvPicPr>
        <p:blipFill>
          <a:blip r:embed="rId3"/>
          <a:stretch>
            <a:fillRect/>
          </a:stretch>
        </p:blipFill>
        <p:spPr>
          <a:xfrm>
            <a:off x="7331798" y="1581150"/>
            <a:ext cx="2466975" cy="1847850"/>
          </a:xfrm>
          <a:prstGeom prst="rect">
            <a:avLst/>
          </a:prstGeom>
        </p:spPr>
      </p:pic>
      <p:pic>
        <p:nvPicPr>
          <p:cNvPr id="5" name="Image 4">
            <a:extLst>
              <a:ext uri="{FF2B5EF4-FFF2-40B4-BE49-F238E27FC236}">
                <a16:creationId xmlns:a16="http://schemas.microsoft.com/office/drawing/2014/main" id="{C24D4ED4-5AC5-097A-589F-382514EAA9DD}"/>
              </a:ext>
            </a:extLst>
          </p:cNvPr>
          <p:cNvPicPr>
            <a:picLocks noChangeAspect="1"/>
          </p:cNvPicPr>
          <p:nvPr/>
        </p:nvPicPr>
        <p:blipFill>
          <a:blip r:embed="rId4"/>
          <a:srcRect l="36236" t="6723" r="7157" b="21330"/>
          <a:stretch>
            <a:fillRect/>
          </a:stretch>
        </p:blipFill>
        <p:spPr>
          <a:xfrm>
            <a:off x="10145157" y="16197"/>
            <a:ext cx="1758978" cy="3412803"/>
          </a:xfrm>
          <a:prstGeom prst="rect">
            <a:avLst/>
          </a:prstGeom>
        </p:spPr>
      </p:pic>
      <p:pic>
        <p:nvPicPr>
          <p:cNvPr id="6" name="Image 5">
            <a:extLst>
              <a:ext uri="{FF2B5EF4-FFF2-40B4-BE49-F238E27FC236}">
                <a16:creationId xmlns:a16="http://schemas.microsoft.com/office/drawing/2014/main" id="{017CE638-436A-DDBA-A655-05555D842279}"/>
              </a:ext>
            </a:extLst>
          </p:cNvPr>
          <p:cNvPicPr>
            <a:picLocks noChangeAspect="1"/>
          </p:cNvPicPr>
          <p:nvPr/>
        </p:nvPicPr>
        <p:blipFill>
          <a:blip r:embed="rId5"/>
          <a:stretch>
            <a:fillRect/>
          </a:stretch>
        </p:blipFill>
        <p:spPr>
          <a:xfrm>
            <a:off x="8026400" y="4719768"/>
            <a:ext cx="1422400" cy="1971675"/>
          </a:xfrm>
          <a:prstGeom prst="rect">
            <a:avLst/>
          </a:prstGeom>
        </p:spPr>
      </p:pic>
      <p:pic>
        <p:nvPicPr>
          <p:cNvPr id="7" name="Image 6">
            <a:extLst>
              <a:ext uri="{FF2B5EF4-FFF2-40B4-BE49-F238E27FC236}">
                <a16:creationId xmlns:a16="http://schemas.microsoft.com/office/drawing/2014/main" id="{B90B5270-E4A9-C2C8-0148-CC352FB815CE}"/>
              </a:ext>
            </a:extLst>
          </p:cNvPr>
          <p:cNvPicPr>
            <a:picLocks noChangeAspect="1"/>
          </p:cNvPicPr>
          <p:nvPr/>
        </p:nvPicPr>
        <p:blipFill>
          <a:blip r:embed="rId6"/>
          <a:stretch>
            <a:fillRect/>
          </a:stretch>
        </p:blipFill>
        <p:spPr>
          <a:xfrm>
            <a:off x="4667443" y="1581150"/>
            <a:ext cx="2664355" cy="1847850"/>
          </a:xfrm>
          <a:prstGeom prst="rect">
            <a:avLst/>
          </a:prstGeom>
        </p:spPr>
      </p:pic>
    </p:spTree>
    <p:extLst>
      <p:ext uri="{BB962C8B-B14F-4D97-AF65-F5344CB8AC3E}">
        <p14:creationId xmlns:p14="http://schemas.microsoft.com/office/powerpoint/2010/main" val="627910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rectorragie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Définition :</a:t>
            </a:r>
          </a:p>
          <a:p>
            <a:pPr marL="0" indent="0">
              <a:buNone/>
            </a:pPr>
            <a:endParaRPr lang="fr-FR" b="1" dirty="0"/>
          </a:p>
          <a:p>
            <a:r>
              <a:rPr lang="fr-FR" dirty="0"/>
              <a:t>C’est l’émission par l’anus de sang rouge vif (non digéré) pouvant précéder, accompagner ou succéder à la selle. </a:t>
            </a:r>
          </a:p>
          <a:p>
            <a:endParaRPr lang="fr-FR" dirty="0"/>
          </a:p>
          <a:p>
            <a:r>
              <a:rPr lang="fr-FR" dirty="0"/>
              <a:t>Ce saignement oriente vers une pathologie de l’anus, du rectum, du colon gauche ou de la partie gauche du transverse. </a:t>
            </a:r>
          </a:p>
          <a:p>
            <a:endParaRPr lang="fr-FR" dirty="0"/>
          </a:p>
          <a:p>
            <a:r>
              <a:rPr lang="fr-FR" dirty="0"/>
              <a:t>Une origine sus-mésocolique est possible surtout si le saignement est de grande abondance mais cela est exceptionnel. </a:t>
            </a:r>
          </a:p>
        </p:txBody>
      </p:sp>
      <p:pic>
        <p:nvPicPr>
          <p:cNvPr id="4" name="Image 3">
            <a:extLst>
              <a:ext uri="{FF2B5EF4-FFF2-40B4-BE49-F238E27FC236}">
                <a16:creationId xmlns:a16="http://schemas.microsoft.com/office/drawing/2014/main" id="{FFFC255E-4E90-D24A-E3FF-BBB4617811B3}"/>
              </a:ext>
            </a:extLst>
          </p:cNvPr>
          <p:cNvPicPr>
            <a:picLocks noChangeAspect="1"/>
          </p:cNvPicPr>
          <p:nvPr/>
        </p:nvPicPr>
        <p:blipFill>
          <a:blip r:embed="rId3"/>
          <a:stretch>
            <a:fillRect/>
          </a:stretch>
        </p:blipFill>
        <p:spPr>
          <a:xfrm>
            <a:off x="8554761" y="0"/>
            <a:ext cx="3637239" cy="2303585"/>
          </a:xfrm>
          <a:prstGeom prst="rect">
            <a:avLst/>
          </a:prstGeom>
        </p:spPr>
      </p:pic>
    </p:spTree>
    <p:extLst>
      <p:ext uri="{BB962C8B-B14F-4D97-AF65-F5344CB8AC3E}">
        <p14:creationId xmlns:p14="http://schemas.microsoft.com/office/powerpoint/2010/main" val="3221989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rectorragie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Définition :</a:t>
            </a:r>
          </a:p>
          <a:p>
            <a:pPr marL="0" indent="0">
              <a:buNone/>
            </a:pPr>
            <a:endParaRPr lang="fr-FR" b="1" dirty="0"/>
          </a:p>
          <a:p>
            <a:r>
              <a:rPr lang="fr-FR" dirty="0"/>
              <a:t>Plusieurs présentations cliniques peuvent se rencontrer : </a:t>
            </a:r>
          </a:p>
          <a:p>
            <a:endParaRPr lang="fr-FR" dirty="0"/>
          </a:p>
          <a:p>
            <a:pPr lvl="1">
              <a:buFont typeface="Courier New" panose="02070309020205020404" pitchFamily="49" charset="0"/>
              <a:buChar char="o"/>
            </a:pPr>
            <a:r>
              <a:rPr lang="fr-FR" dirty="0"/>
              <a:t>Les hémorragies de sang rouge pur.</a:t>
            </a:r>
          </a:p>
          <a:p>
            <a:pPr lvl="1">
              <a:buFont typeface="Courier New" panose="02070309020205020404" pitchFamily="49" charset="0"/>
              <a:buChar char="o"/>
            </a:pPr>
            <a:endParaRPr lang="fr-FR" dirty="0"/>
          </a:p>
          <a:p>
            <a:pPr lvl="1">
              <a:buFont typeface="Courier New" panose="02070309020205020404" pitchFamily="49" charset="0"/>
              <a:buChar char="o"/>
            </a:pPr>
            <a:r>
              <a:rPr lang="fr-FR" dirty="0"/>
              <a:t>Les rectorragies terminales (en fin de selles) ou d’essuyage, évocatrices d’une pathologie anale.</a:t>
            </a:r>
          </a:p>
          <a:p>
            <a:pPr lvl="1">
              <a:buFont typeface="Courier New" panose="02070309020205020404" pitchFamily="49" charset="0"/>
              <a:buChar char="o"/>
            </a:pPr>
            <a:endParaRPr lang="fr-FR" dirty="0"/>
          </a:p>
          <a:p>
            <a:pPr lvl="1">
              <a:buFont typeface="Courier New" panose="02070309020205020404" pitchFamily="49" charset="0"/>
              <a:buChar char="o"/>
            </a:pPr>
            <a:r>
              <a:rPr lang="fr-FR" dirty="0"/>
              <a:t>Les diarrhées sanglantes ou glaire-sanglantes.</a:t>
            </a:r>
            <a:endParaRPr lang="fr-FR" b="1" dirty="0"/>
          </a:p>
        </p:txBody>
      </p:sp>
    </p:spTree>
    <p:extLst>
      <p:ext uri="{BB962C8B-B14F-4D97-AF65-F5344CB8AC3E}">
        <p14:creationId xmlns:p14="http://schemas.microsoft.com/office/powerpoint/2010/main" val="1844010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rectorragie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Diagnostique différentiel :</a:t>
            </a:r>
          </a:p>
          <a:p>
            <a:pPr marL="0" indent="0">
              <a:buNone/>
            </a:pPr>
            <a:endParaRPr lang="fr-FR" b="1" dirty="0"/>
          </a:p>
          <a:p>
            <a:r>
              <a:rPr lang="fr-FR" dirty="0"/>
              <a:t>Aliments qui peuvent teintés les selles en rouge : betterave.</a:t>
            </a:r>
          </a:p>
          <a:p>
            <a:endParaRPr lang="fr-FR" dirty="0"/>
          </a:p>
          <a:p>
            <a:r>
              <a:rPr lang="fr-FR" dirty="0"/>
              <a:t>Origine extradigestive du saignement : </a:t>
            </a:r>
          </a:p>
          <a:p>
            <a:endParaRPr lang="fr-FR" dirty="0"/>
          </a:p>
          <a:p>
            <a:pPr lvl="1">
              <a:buFont typeface="Courier New" panose="02070309020205020404" pitchFamily="49" charset="0"/>
              <a:buChar char="o"/>
            </a:pPr>
            <a:r>
              <a:rPr lang="fr-FR" dirty="0"/>
              <a:t>Métrorragies. </a:t>
            </a:r>
          </a:p>
          <a:p>
            <a:pPr lvl="1">
              <a:buFont typeface="Courier New" panose="02070309020205020404" pitchFamily="49" charset="0"/>
              <a:buChar char="o"/>
            </a:pPr>
            <a:r>
              <a:rPr lang="fr-FR" dirty="0"/>
              <a:t>Hématurie.</a:t>
            </a:r>
            <a:endParaRPr lang="fr-FR" b="1" dirty="0"/>
          </a:p>
        </p:txBody>
      </p:sp>
    </p:spTree>
    <p:extLst>
      <p:ext uri="{BB962C8B-B14F-4D97-AF65-F5344CB8AC3E}">
        <p14:creationId xmlns:p14="http://schemas.microsoft.com/office/powerpoint/2010/main" val="1348441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rectorragie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Examen proctologique: </a:t>
            </a:r>
          </a:p>
          <a:p>
            <a:pPr marL="0" indent="0">
              <a:buNone/>
            </a:pPr>
            <a:endParaRPr lang="fr-FR" b="1" dirty="0"/>
          </a:p>
          <a:p>
            <a:r>
              <a:rPr lang="fr-FR" dirty="0"/>
              <a:t>Temps primordial de l’examen après en avoir expliqué l’intérêt au patient comprend l’examen de la marge anale et le toucher rectal : </a:t>
            </a:r>
          </a:p>
          <a:p>
            <a:endParaRPr lang="fr-FR" dirty="0"/>
          </a:p>
          <a:p>
            <a:pPr lvl="1">
              <a:buFont typeface="Courier New" panose="02070309020205020404" pitchFamily="49" charset="0"/>
              <a:buChar char="o"/>
            </a:pPr>
            <a:r>
              <a:rPr lang="fr-FR" dirty="0"/>
              <a:t>Fissure</a:t>
            </a:r>
          </a:p>
          <a:p>
            <a:pPr lvl="1">
              <a:buFont typeface="Courier New" panose="02070309020205020404" pitchFamily="49" charset="0"/>
              <a:buChar char="o"/>
            </a:pPr>
            <a:r>
              <a:rPr lang="fr-FR" dirty="0"/>
              <a:t>Fistule</a:t>
            </a:r>
          </a:p>
          <a:p>
            <a:pPr lvl="1">
              <a:buFont typeface="Courier New" panose="02070309020205020404" pitchFamily="49" charset="0"/>
              <a:buChar char="o"/>
            </a:pPr>
            <a:r>
              <a:rPr lang="fr-FR" dirty="0"/>
              <a:t>Hémorroïdes</a:t>
            </a:r>
          </a:p>
          <a:p>
            <a:pPr lvl="1">
              <a:buFont typeface="Courier New" panose="02070309020205020404" pitchFamily="49" charset="0"/>
              <a:buChar char="o"/>
            </a:pPr>
            <a:r>
              <a:rPr lang="fr-FR" dirty="0"/>
              <a:t>Masse rectale</a:t>
            </a:r>
          </a:p>
        </p:txBody>
      </p:sp>
      <p:pic>
        <p:nvPicPr>
          <p:cNvPr id="4" name="Image 3">
            <a:extLst>
              <a:ext uri="{FF2B5EF4-FFF2-40B4-BE49-F238E27FC236}">
                <a16:creationId xmlns:a16="http://schemas.microsoft.com/office/drawing/2014/main" id="{D12FC37B-18FE-C7E8-F449-E93C13CBA3FF}"/>
              </a:ext>
            </a:extLst>
          </p:cNvPr>
          <p:cNvPicPr>
            <a:picLocks noChangeAspect="1"/>
          </p:cNvPicPr>
          <p:nvPr/>
        </p:nvPicPr>
        <p:blipFill>
          <a:blip r:embed="rId3"/>
          <a:stretch>
            <a:fillRect/>
          </a:stretch>
        </p:blipFill>
        <p:spPr>
          <a:xfrm>
            <a:off x="6715286" y="4001294"/>
            <a:ext cx="4495800" cy="2343150"/>
          </a:xfrm>
          <a:prstGeom prst="rect">
            <a:avLst/>
          </a:prstGeom>
        </p:spPr>
      </p:pic>
    </p:spTree>
    <p:extLst>
      <p:ext uri="{BB962C8B-B14F-4D97-AF65-F5344CB8AC3E}">
        <p14:creationId xmlns:p14="http://schemas.microsoft.com/office/powerpoint/2010/main" val="1222459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Diagnostique positif </a:t>
            </a:r>
            <a:r>
              <a:rPr lang="fr-FR" dirty="0">
                <a:solidFill>
                  <a:schemeClr val="accent1"/>
                </a:solidFill>
                <a:latin typeface="+mn-lt"/>
                <a:cs typeface="Arial" panose="020B0604020202020204" pitchFamily="34" charset="0"/>
              </a:rPr>
              <a:t>→ rectorragie  </a:t>
            </a:r>
            <a:r>
              <a:rPr lang="fr-FR" dirty="0">
                <a:solidFill>
                  <a:schemeClr val="accent1"/>
                </a:solidFill>
                <a:latin typeface="+mn-lt"/>
              </a:rPr>
              <a:t> </a:t>
            </a: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92500" lnSpcReduction="10000"/>
          </a:bodyPr>
          <a:lstStyle/>
          <a:p>
            <a:pPr marL="0" indent="0">
              <a:buNone/>
            </a:pPr>
            <a:r>
              <a:rPr lang="fr-FR" b="1" dirty="0"/>
              <a:t>Étiologie :</a:t>
            </a:r>
          </a:p>
          <a:p>
            <a:pPr marL="0" indent="0">
              <a:buNone/>
            </a:pPr>
            <a:endParaRPr lang="fr-FR" b="1" dirty="0"/>
          </a:p>
          <a:p>
            <a:r>
              <a:rPr lang="fr-FR" dirty="0"/>
              <a:t>Causes </a:t>
            </a:r>
            <a:r>
              <a:rPr lang="fr-FR" dirty="0" err="1"/>
              <a:t>ano-rectales</a:t>
            </a:r>
            <a:r>
              <a:rPr lang="fr-FR" dirty="0"/>
              <a:t> : </a:t>
            </a:r>
          </a:p>
          <a:p>
            <a:pPr lvl="1">
              <a:buFont typeface="Courier New" panose="02070309020205020404" pitchFamily="49" charset="0"/>
              <a:buChar char="o"/>
            </a:pPr>
            <a:r>
              <a:rPr lang="fr-FR" dirty="0"/>
              <a:t>Hémorroïdes</a:t>
            </a:r>
          </a:p>
          <a:p>
            <a:pPr lvl="1">
              <a:buFont typeface="Courier New" panose="02070309020205020404" pitchFamily="49" charset="0"/>
              <a:buChar char="o"/>
            </a:pPr>
            <a:r>
              <a:rPr lang="fr-FR" dirty="0"/>
              <a:t>Fissure anale</a:t>
            </a:r>
          </a:p>
          <a:p>
            <a:pPr lvl="1">
              <a:buFont typeface="Courier New" panose="02070309020205020404" pitchFamily="49" charset="0"/>
              <a:buChar char="o"/>
            </a:pPr>
            <a:r>
              <a:rPr lang="fr-FR" dirty="0"/>
              <a:t>Causes tumorales (cancer du rectum, carcinome de l’anus) </a:t>
            </a:r>
          </a:p>
          <a:p>
            <a:pPr lvl="1">
              <a:buFont typeface="Courier New" panose="02070309020205020404" pitchFamily="49" charset="0"/>
              <a:buChar char="o"/>
            </a:pPr>
            <a:r>
              <a:rPr lang="fr-FR" dirty="0"/>
              <a:t>Les ulcérations thermométriques sont devenues plus rares.</a:t>
            </a:r>
          </a:p>
          <a:p>
            <a:pPr marL="0" indent="0">
              <a:buNone/>
            </a:pPr>
            <a:endParaRPr lang="fr-FR" dirty="0"/>
          </a:p>
          <a:p>
            <a:r>
              <a:rPr lang="fr-FR" dirty="0"/>
              <a:t>Causes coliques : </a:t>
            </a:r>
          </a:p>
          <a:p>
            <a:pPr lvl="1">
              <a:buFont typeface="Courier New" panose="02070309020205020404" pitchFamily="49" charset="0"/>
              <a:buChar char="o"/>
            </a:pPr>
            <a:r>
              <a:rPr lang="fr-FR" dirty="0"/>
              <a:t>Rectites inflammatoires (MICI)  </a:t>
            </a:r>
          </a:p>
          <a:p>
            <a:pPr lvl="1">
              <a:buFont typeface="Courier New" panose="02070309020205020404" pitchFamily="49" charset="0"/>
              <a:buChar char="o"/>
            </a:pPr>
            <a:r>
              <a:rPr lang="fr-FR" dirty="0"/>
              <a:t>Infectieuses (amibiase).</a:t>
            </a:r>
            <a:endParaRPr lang="fr-FR" b="1" dirty="0"/>
          </a:p>
        </p:txBody>
      </p:sp>
      <p:pic>
        <p:nvPicPr>
          <p:cNvPr id="4" name="Image 3">
            <a:extLst>
              <a:ext uri="{FF2B5EF4-FFF2-40B4-BE49-F238E27FC236}">
                <a16:creationId xmlns:a16="http://schemas.microsoft.com/office/drawing/2014/main" id="{C60586D9-302E-1C48-15B5-244E43D2F812}"/>
              </a:ext>
            </a:extLst>
          </p:cNvPr>
          <p:cNvPicPr>
            <a:picLocks noChangeAspect="1"/>
          </p:cNvPicPr>
          <p:nvPr/>
        </p:nvPicPr>
        <p:blipFill>
          <a:blip r:embed="rId3"/>
          <a:stretch>
            <a:fillRect/>
          </a:stretch>
        </p:blipFill>
        <p:spPr>
          <a:xfrm>
            <a:off x="10527223" y="-40535"/>
            <a:ext cx="1653153" cy="2238375"/>
          </a:xfrm>
          <a:prstGeom prst="rect">
            <a:avLst/>
          </a:prstGeom>
        </p:spPr>
      </p:pic>
      <p:pic>
        <p:nvPicPr>
          <p:cNvPr id="5" name="Image 4">
            <a:extLst>
              <a:ext uri="{FF2B5EF4-FFF2-40B4-BE49-F238E27FC236}">
                <a16:creationId xmlns:a16="http://schemas.microsoft.com/office/drawing/2014/main" id="{1DC969D8-DF32-99F0-A503-2A3A30517325}"/>
              </a:ext>
            </a:extLst>
          </p:cNvPr>
          <p:cNvPicPr>
            <a:picLocks noChangeAspect="1"/>
          </p:cNvPicPr>
          <p:nvPr/>
        </p:nvPicPr>
        <p:blipFill>
          <a:blip r:embed="rId4"/>
          <a:srcRect l="11950" t="5568" r="9848" b="9321"/>
          <a:stretch>
            <a:fillRect/>
          </a:stretch>
        </p:blipFill>
        <p:spPr>
          <a:xfrm>
            <a:off x="8632555" y="0"/>
            <a:ext cx="1906291" cy="2238375"/>
          </a:xfrm>
          <a:prstGeom prst="rect">
            <a:avLst/>
          </a:prstGeom>
        </p:spPr>
      </p:pic>
      <p:pic>
        <p:nvPicPr>
          <p:cNvPr id="6" name="Image 5">
            <a:extLst>
              <a:ext uri="{FF2B5EF4-FFF2-40B4-BE49-F238E27FC236}">
                <a16:creationId xmlns:a16="http://schemas.microsoft.com/office/drawing/2014/main" id="{9563B404-E087-2DDF-C911-768EFAFABAEE}"/>
              </a:ext>
            </a:extLst>
          </p:cNvPr>
          <p:cNvPicPr>
            <a:picLocks noChangeAspect="1"/>
          </p:cNvPicPr>
          <p:nvPr/>
        </p:nvPicPr>
        <p:blipFill>
          <a:blip r:embed="rId5"/>
          <a:stretch>
            <a:fillRect/>
          </a:stretch>
        </p:blipFill>
        <p:spPr>
          <a:xfrm>
            <a:off x="9705975" y="2197840"/>
            <a:ext cx="2486025" cy="1838325"/>
          </a:xfrm>
          <a:prstGeom prst="rect">
            <a:avLst/>
          </a:prstGeom>
        </p:spPr>
      </p:pic>
      <p:pic>
        <p:nvPicPr>
          <p:cNvPr id="7" name="Image 6">
            <a:extLst>
              <a:ext uri="{FF2B5EF4-FFF2-40B4-BE49-F238E27FC236}">
                <a16:creationId xmlns:a16="http://schemas.microsoft.com/office/drawing/2014/main" id="{EB2FA828-E12E-6D0C-C310-B71C577D55B4}"/>
              </a:ext>
            </a:extLst>
          </p:cNvPr>
          <p:cNvPicPr>
            <a:picLocks noChangeAspect="1"/>
          </p:cNvPicPr>
          <p:nvPr/>
        </p:nvPicPr>
        <p:blipFill>
          <a:blip r:embed="rId6"/>
          <a:stretch>
            <a:fillRect/>
          </a:stretch>
        </p:blipFill>
        <p:spPr>
          <a:xfrm>
            <a:off x="9877425" y="4036165"/>
            <a:ext cx="2314575" cy="1971675"/>
          </a:xfrm>
          <a:prstGeom prst="rect">
            <a:avLst/>
          </a:prstGeom>
        </p:spPr>
      </p:pic>
      <p:pic>
        <p:nvPicPr>
          <p:cNvPr id="8" name="Image 7">
            <a:extLst>
              <a:ext uri="{FF2B5EF4-FFF2-40B4-BE49-F238E27FC236}">
                <a16:creationId xmlns:a16="http://schemas.microsoft.com/office/drawing/2014/main" id="{AE4F9B39-FD20-78B5-1FF7-E5778E8E5101}"/>
              </a:ext>
            </a:extLst>
          </p:cNvPr>
          <p:cNvPicPr>
            <a:picLocks noChangeAspect="1"/>
          </p:cNvPicPr>
          <p:nvPr/>
        </p:nvPicPr>
        <p:blipFill>
          <a:blip r:embed="rId7"/>
          <a:stretch>
            <a:fillRect/>
          </a:stretch>
        </p:blipFill>
        <p:spPr>
          <a:xfrm>
            <a:off x="7384780" y="4720378"/>
            <a:ext cx="2495550" cy="1828800"/>
          </a:xfrm>
          <a:prstGeom prst="rect">
            <a:avLst/>
          </a:prstGeom>
        </p:spPr>
      </p:pic>
    </p:spTree>
    <p:extLst>
      <p:ext uri="{BB962C8B-B14F-4D97-AF65-F5344CB8AC3E}">
        <p14:creationId xmlns:p14="http://schemas.microsoft.com/office/powerpoint/2010/main" val="3338716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Exploration des hémorragies digestives</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Endoscopie digestive : </a:t>
            </a:r>
          </a:p>
          <a:p>
            <a:pPr marL="0" indent="0">
              <a:buNone/>
            </a:pPr>
            <a:endParaRPr lang="fr-FR" dirty="0"/>
          </a:p>
          <a:p>
            <a:pPr marL="0" indent="0">
              <a:buNone/>
            </a:pPr>
            <a:r>
              <a:rPr lang="fr-FR" dirty="0"/>
              <a:t>Examen essentiel dont l’objectif  :</a:t>
            </a:r>
          </a:p>
          <a:p>
            <a:pPr marL="0" indent="0">
              <a:buNone/>
            </a:pPr>
            <a:endParaRPr lang="fr-FR" dirty="0"/>
          </a:p>
          <a:p>
            <a:pPr lvl="1"/>
            <a:r>
              <a:rPr lang="fr-FR" dirty="0"/>
              <a:t>Permet d’établir un diagnostic lésionnel (type et siège des lésions).</a:t>
            </a:r>
          </a:p>
          <a:p>
            <a:pPr lvl="1"/>
            <a:r>
              <a:rPr lang="fr-FR" dirty="0"/>
              <a:t>Pratiquer un prélèvement (Biopsie).</a:t>
            </a:r>
          </a:p>
          <a:p>
            <a:pPr lvl="1"/>
            <a:r>
              <a:rPr lang="fr-FR" dirty="0"/>
              <a:t>Un lavage ou un geste d’hémostase peuvent être réalisés.</a:t>
            </a:r>
          </a:p>
          <a:p>
            <a:pPr lvl="1"/>
            <a:r>
              <a:rPr lang="fr-FR" dirty="0"/>
              <a:t>Permet d’évaluer le risque de récidive.</a:t>
            </a:r>
          </a:p>
        </p:txBody>
      </p:sp>
    </p:spTree>
    <p:extLst>
      <p:ext uri="{BB962C8B-B14F-4D97-AF65-F5344CB8AC3E}">
        <p14:creationId xmlns:p14="http://schemas.microsoft.com/office/powerpoint/2010/main" val="4263701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2DDF145-EE85-A52F-9779-5FEF8B365059}"/>
              </a:ext>
            </a:extLst>
          </p:cNvPr>
          <p:cNvPicPr>
            <a:picLocks noChangeAspect="1"/>
          </p:cNvPicPr>
          <p:nvPr/>
        </p:nvPicPr>
        <p:blipFill>
          <a:blip r:embed="rId3"/>
          <a:srcRect l="5591" b="15558"/>
          <a:stretch>
            <a:fillRect/>
          </a:stretch>
        </p:blipFill>
        <p:spPr>
          <a:xfrm>
            <a:off x="8050602" y="828137"/>
            <a:ext cx="4108329" cy="2777705"/>
          </a:xfrm>
          <a:prstGeom prst="rect">
            <a:avLst/>
          </a:prstGeom>
        </p:spPr>
      </p:pic>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Exploration des hémorragies digestives</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pPr marL="0" indent="0">
              <a:buNone/>
            </a:pPr>
            <a:r>
              <a:rPr lang="fr-FR" b="1" dirty="0"/>
              <a:t>Endoscopie digestive : </a:t>
            </a:r>
          </a:p>
          <a:p>
            <a:pPr marL="0" indent="0">
              <a:buNone/>
            </a:pPr>
            <a:endParaRPr lang="fr-FR" dirty="0"/>
          </a:p>
          <a:p>
            <a:pPr marL="0" indent="0">
              <a:buNone/>
            </a:pPr>
            <a:r>
              <a:rPr lang="fr-FR" dirty="0"/>
              <a:t>En fonction du tableau clinique</a:t>
            </a:r>
            <a:r>
              <a:rPr lang="ar-DZ" dirty="0"/>
              <a:t> </a:t>
            </a:r>
            <a:r>
              <a:rPr lang="fr-FR" dirty="0"/>
              <a:t>on demandera</a:t>
            </a:r>
            <a:r>
              <a:rPr lang="ar-DZ" dirty="0"/>
              <a:t> </a:t>
            </a:r>
            <a:r>
              <a:rPr lang="fr-FR" dirty="0"/>
              <a:t>:</a:t>
            </a:r>
          </a:p>
          <a:p>
            <a:pPr marL="0" indent="0">
              <a:buNone/>
            </a:pPr>
            <a:endParaRPr lang="fr-FR" dirty="0"/>
          </a:p>
          <a:p>
            <a:pPr lvl="1"/>
            <a:r>
              <a:rPr lang="fr-FR" dirty="0"/>
              <a:t>FOGD: examen clef devant l’hématémèse ou le </a:t>
            </a:r>
            <a:r>
              <a:rPr lang="fr-FR" dirty="0" err="1"/>
              <a:t>melena</a:t>
            </a:r>
            <a:r>
              <a:rPr lang="fr-FR" dirty="0"/>
              <a:t>.</a:t>
            </a:r>
          </a:p>
          <a:p>
            <a:pPr lvl="1"/>
            <a:endParaRPr lang="fr-FR" dirty="0"/>
          </a:p>
          <a:p>
            <a:pPr lvl="1"/>
            <a:r>
              <a:rPr lang="fr-FR" dirty="0"/>
              <a:t>Colonoscopie : examen du colon jusqu’au cæcum et les 1er cm de l’iléon</a:t>
            </a:r>
          </a:p>
          <a:p>
            <a:pPr lvl="1"/>
            <a:endParaRPr lang="fr-FR" dirty="0"/>
          </a:p>
          <a:p>
            <a:pPr lvl="1"/>
            <a:r>
              <a:rPr lang="fr-FR" dirty="0"/>
              <a:t>Recto-</a:t>
            </a:r>
            <a:r>
              <a:rPr lang="fr-FR" dirty="0" err="1"/>
              <a:t>sigmoїdoscopie</a:t>
            </a:r>
            <a:endParaRPr lang="fr-FR" dirty="0"/>
          </a:p>
          <a:p>
            <a:pPr lvl="1"/>
            <a:endParaRPr lang="fr-FR" dirty="0"/>
          </a:p>
          <a:p>
            <a:pPr lvl="1"/>
            <a:r>
              <a:rPr lang="fr-FR" dirty="0"/>
              <a:t>Anuscopie.</a:t>
            </a:r>
          </a:p>
        </p:txBody>
      </p:sp>
      <p:pic>
        <p:nvPicPr>
          <p:cNvPr id="7" name="Image 6">
            <a:extLst>
              <a:ext uri="{FF2B5EF4-FFF2-40B4-BE49-F238E27FC236}">
                <a16:creationId xmlns:a16="http://schemas.microsoft.com/office/drawing/2014/main" id="{0E1A77D5-50D0-CA45-F6BC-E15A5B0CDF57}"/>
              </a:ext>
            </a:extLst>
          </p:cNvPr>
          <p:cNvPicPr>
            <a:picLocks noChangeAspect="1"/>
          </p:cNvPicPr>
          <p:nvPr/>
        </p:nvPicPr>
        <p:blipFill>
          <a:blip r:embed="rId4"/>
          <a:stretch>
            <a:fillRect/>
          </a:stretch>
        </p:blipFill>
        <p:spPr>
          <a:xfrm>
            <a:off x="9282022" y="4773548"/>
            <a:ext cx="2909977" cy="2084451"/>
          </a:xfrm>
          <a:prstGeom prst="rect">
            <a:avLst/>
          </a:prstGeom>
        </p:spPr>
      </p:pic>
    </p:spTree>
    <p:extLst>
      <p:ext uri="{BB962C8B-B14F-4D97-AF65-F5344CB8AC3E}">
        <p14:creationId xmlns:p14="http://schemas.microsoft.com/office/powerpoint/2010/main" val="1797184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Exploration des hémorragies digestives</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endParaRPr lang="fr-FR" b="1" dirty="0"/>
          </a:p>
          <a:p>
            <a:r>
              <a:rPr lang="fr-FR" b="1" dirty="0"/>
              <a:t>Artériographie (malformations vasculaires, </a:t>
            </a:r>
            <a:r>
              <a:rPr lang="fr-FR" b="1" dirty="0" err="1"/>
              <a:t>angiodysplasies</a:t>
            </a:r>
            <a:r>
              <a:rPr lang="fr-FR" b="1" dirty="0"/>
              <a:t>)</a:t>
            </a:r>
          </a:p>
          <a:p>
            <a:endParaRPr lang="fr-FR" b="1" dirty="0"/>
          </a:p>
          <a:p>
            <a:r>
              <a:rPr lang="fr-FR" b="1" dirty="0"/>
              <a:t>Scanner abdomino-pelvien, colo-scanner </a:t>
            </a:r>
          </a:p>
          <a:p>
            <a:endParaRPr lang="fr-FR" b="1" dirty="0"/>
          </a:p>
          <a:p>
            <a:r>
              <a:rPr lang="fr-FR" b="1" dirty="0"/>
              <a:t>Entéro-scanner et l’entéro-IRM.</a:t>
            </a:r>
          </a:p>
          <a:p>
            <a:endParaRPr lang="fr-FR" b="1" dirty="0"/>
          </a:p>
          <a:p>
            <a:r>
              <a:rPr lang="fr-FR" b="1" dirty="0"/>
              <a:t>Vidéo-capsule (exploration grêlique).</a:t>
            </a:r>
          </a:p>
        </p:txBody>
      </p:sp>
      <p:pic>
        <p:nvPicPr>
          <p:cNvPr id="4" name="Image 3">
            <a:extLst>
              <a:ext uri="{FF2B5EF4-FFF2-40B4-BE49-F238E27FC236}">
                <a16:creationId xmlns:a16="http://schemas.microsoft.com/office/drawing/2014/main" id="{0E931AD5-E168-CB77-A1F5-9790876AC5EC}"/>
              </a:ext>
            </a:extLst>
          </p:cNvPr>
          <p:cNvPicPr>
            <a:picLocks noChangeAspect="1"/>
          </p:cNvPicPr>
          <p:nvPr/>
        </p:nvPicPr>
        <p:blipFill>
          <a:blip r:embed="rId3"/>
          <a:stretch>
            <a:fillRect/>
          </a:stretch>
        </p:blipFill>
        <p:spPr>
          <a:xfrm>
            <a:off x="6803496" y="4540250"/>
            <a:ext cx="2581275" cy="1771650"/>
          </a:xfrm>
          <a:prstGeom prst="rect">
            <a:avLst/>
          </a:prstGeom>
        </p:spPr>
      </p:pic>
    </p:spTree>
    <p:extLst>
      <p:ext uri="{BB962C8B-B14F-4D97-AF65-F5344CB8AC3E}">
        <p14:creationId xmlns:p14="http://schemas.microsoft.com/office/powerpoint/2010/main" val="4241253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A/Hospitalisation:</a:t>
            </a:r>
          </a:p>
          <a:p>
            <a:pPr marL="0" indent="0">
              <a:buNone/>
            </a:pPr>
            <a:endParaRPr lang="fr-FR" b="1" dirty="0"/>
          </a:p>
          <a:p>
            <a:r>
              <a:rPr lang="fr-FR" dirty="0"/>
              <a:t>Systématique pour surveillance en milieu hospitalier spécialisé car le risque de récidive hémorragique est imprévisible même pour une hémorragie initialement de faible abondance</a:t>
            </a:r>
            <a:r>
              <a:rPr lang="fr-FR" dirty="0">
                <a:latin typeface="Calibri" panose="020F0502020204030204" pitchFamily="34" charset="0"/>
                <a:cs typeface="Calibri" panose="020F0502020204030204" pitchFamily="34" charset="0"/>
              </a:rPr>
              <a:t>.</a:t>
            </a:r>
            <a:endParaRPr lang="fr-FR" dirty="0"/>
          </a:p>
          <a:p>
            <a:endParaRPr lang="fr-FR" dirty="0"/>
          </a:p>
          <a:p>
            <a:r>
              <a:rPr lang="fr-FR" dirty="0"/>
              <a:t>Les rectorragies minimes sans retentissement hémodynamique d’origine proctologique seront traitées en ambulatoire</a:t>
            </a:r>
            <a:r>
              <a:rPr lang="fr-FR" dirty="0">
                <a:latin typeface="Calibri" panose="020F0502020204030204" pitchFamily="34" charset="0"/>
                <a:cs typeface="Calibri" panose="020F0502020204030204" pitchFamily="34" charset="0"/>
              </a:rPr>
              <a:t>.</a:t>
            </a:r>
            <a:endParaRPr lang="fr-FR" dirty="0"/>
          </a:p>
        </p:txBody>
      </p:sp>
    </p:spTree>
    <p:extLst>
      <p:ext uri="{BB962C8B-B14F-4D97-AF65-F5344CB8AC3E}">
        <p14:creationId xmlns:p14="http://schemas.microsoft.com/office/powerpoint/2010/main" val="1768491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pPr marL="0" indent="0">
              <a:buNone/>
            </a:pPr>
            <a:r>
              <a:rPr lang="fr-FR" b="1" dirty="0"/>
              <a:t>B/ Examen du malade : </a:t>
            </a:r>
          </a:p>
          <a:p>
            <a:pPr marL="0" indent="0">
              <a:buNone/>
            </a:pPr>
            <a:endParaRPr lang="fr-FR" b="1" dirty="0"/>
          </a:p>
          <a:p>
            <a:r>
              <a:rPr lang="fr-FR" dirty="0"/>
              <a:t>Rechercher signes de gravité : </a:t>
            </a:r>
          </a:p>
          <a:p>
            <a:pPr lvl="1">
              <a:buFont typeface="Courier New" panose="02070309020205020404" pitchFamily="49" charset="0"/>
              <a:buChar char="o"/>
            </a:pPr>
            <a:r>
              <a:rPr lang="fr-FR" dirty="0"/>
              <a:t>Choc : hypotension, tachycardie, pouls filant, froideur des extrémités, soif, marbrures, oligurie. </a:t>
            </a:r>
          </a:p>
          <a:p>
            <a:pPr lvl="1">
              <a:buFont typeface="Courier New" panose="02070309020205020404" pitchFamily="49" charset="0"/>
              <a:buChar char="o"/>
            </a:pPr>
            <a:r>
              <a:rPr lang="fr-FR" dirty="0"/>
              <a:t>Altération de conscience.</a:t>
            </a:r>
          </a:p>
          <a:p>
            <a:pPr lvl="1">
              <a:buFont typeface="Courier New" panose="02070309020205020404" pitchFamily="49" charset="0"/>
              <a:buChar char="o"/>
            </a:pPr>
            <a:endParaRPr lang="fr-FR" dirty="0"/>
          </a:p>
          <a:p>
            <a:r>
              <a:rPr lang="fr-FR" dirty="0"/>
              <a:t>Interrogatoire rapide : </a:t>
            </a:r>
          </a:p>
          <a:p>
            <a:pPr lvl="1">
              <a:buFont typeface="Courier New" panose="02070309020205020404" pitchFamily="49" charset="0"/>
              <a:buChar char="o"/>
            </a:pPr>
            <a:r>
              <a:rPr lang="fr-FR" dirty="0"/>
              <a:t>Hématémèse, méléna, rectorragies </a:t>
            </a:r>
          </a:p>
          <a:p>
            <a:pPr lvl="1">
              <a:buFont typeface="Courier New" panose="02070309020205020404" pitchFamily="49" charset="0"/>
              <a:buChar char="o"/>
            </a:pPr>
            <a:r>
              <a:rPr lang="fr-FR" dirty="0"/>
              <a:t>ATCD (ulcère, cirrhose…) </a:t>
            </a:r>
          </a:p>
          <a:p>
            <a:pPr lvl="1">
              <a:buFont typeface="Courier New" panose="02070309020205020404" pitchFamily="49" charset="0"/>
              <a:buChar char="o"/>
            </a:pPr>
            <a:r>
              <a:rPr lang="fr-FR" dirty="0"/>
              <a:t>Médicaments (AINS, anticoagulants) </a:t>
            </a:r>
          </a:p>
        </p:txBody>
      </p:sp>
    </p:spTree>
    <p:extLst>
      <p:ext uri="{BB962C8B-B14F-4D97-AF65-F5344CB8AC3E}">
        <p14:creationId xmlns:p14="http://schemas.microsoft.com/office/powerpoint/2010/main" val="3588202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fontScale="85000" lnSpcReduction="20000"/>
          </a:bodyPr>
          <a:lstStyle/>
          <a:p>
            <a:pPr marL="0" indent="0">
              <a:buNone/>
            </a:pPr>
            <a:r>
              <a:rPr lang="fr-FR" b="1" dirty="0"/>
              <a:t>C/ Le traitement d’un éventuel choc hypovolémique est la priorité:</a:t>
            </a:r>
          </a:p>
          <a:p>
            <a:pPr marL="0" indent="0">
              <a:buNone/>
            </a:pPr>
            <a:endParaRPr lang="fr-FR" b="1" dirty="0"/>
          </a:p>
          <a:p>
            <a:r>
              <a:rPr lang="fr-FR" dirty="0"/>
              <a:t>Monitorage (TA, FC, </a:t>
            </a:r>
            <a:r>
              <a:rPr lang="fr-FR" dirty="0" err="1"/>
              <a:t>SpO</a:t>
            </a:r>
            <a:r>
              <a:rPr lang="fr-FR" dirty="0"/>
              <a:t>₂). </a:t>
            </a:r>
          </a:p>
          <a:p>
            <a:r>
              <a:rPr lang="fr-FR" dirty="0"/>
              <a:t>Position allongée, tête basse avec surélévation des membres inférieurs</a:t>
            </a:r>
          </a:p>
          <a:p>
            <a:r>
              <a:rPr lang="fr-FR" dirty="0"/>
              <a:t>Mise en condition : 2 voies veineuses de gros calibre.</a:t>
            </a:r>
          </a:p>
          <a:p>
            <a:r>
              <a:rPr lang="fr-FR" dirty="0"/>
              <a:t>Remplissage : Cristalloïdes (</a:t>
            </a:r>
            <a:r>
              <a:rPr lang="fr-FR" dirty="0" err="1"/>
              <a:t>NaCl</a:t>
            </a:r>
            <a:r>
              <a:rPr lang="fr-FR" dirty="0"/>
              <a:t> 0,9%), </a:t>
            </a:r>
            <a:r>
              <a:rPr lang="fr-FR" dirty="0" err="1"/>
              <a:t>colloide</a:t>
            </a:r>
            <a:r>
              <a:rPr lang="fr-FR" dirty="0"/>
              <a:t> (</a:t>
            </a:r>
            <a:r>
              <a:rPr lang="fr-FR" dirty="0" err="1"/>
              <a:t>plasmgèl</a:t>
            </a:r>
            <a:r>
              <a:rPr lang="fr-FR" dirty="0"/>
              <a:t>).</a:t>
            </a:r>
          </a:p>
          <a:p>
            <a:r>
              <a:rPr lang="fr-FR" dirty="0"/>
              <a:t>Transfusion si besoin : </a:t>
            </a:r>
          </a:p>
          <a:p>
            <a:pPr lvl="1">
              <a:buFont typeface="Courier New" panose="02070309020205020404" pitchFamily="49" charset="0"/>
              <a:buChar char="o"/>
            </a:pPr>
            <a:r>
              <a:rPr lang="fr-FR" dirty="0"/>
              <a:t>Hb &lt; 7–8 g/dL.</a:t>
            </a:r>
          </a:p>
          <a:p>
            <a:pPr lvl="1">
              <a:buFont typeface="Courier New" panose="02070309020205020404" pitchFamily="49" charset="0"/>
              <a:buChar char="o"/>
            </a:pPr>
            <a:r>
              <a:rPr lang="fr-FR" dirty="0"/>
              <a:t>Hb &lt; 10 g/d l si maladies graves associées (cardiopathie ischémique) .</a:t>
            </a:r>
          </a:p>
          <a:p>
            <a:r>
              <a:rPr lang="fr-FR" dirty="0"/>
              <a:t>Oxygène si nécessaire</a:t>
            </a:r>
          </a:p>
          <a:p>
            <a:r>
              <a:rPr lang="fr-FR" dirty="0"/>
              <a:t>Si hémorragie d’origine haute, mise en place d’une sonde gastrique (lavage gastrique)</a:t>
            </a:r>
          </a:p>
        </p:txBody>
      </p:sp>
      <p:pic>
        <p:nvPicPr>
          <p:cNvPr id="5" name="Image 4">
            <a:extLst>
              <a:ext uri="{FF2B5EF4-FFF2-40B4-BE49-F238E27FC236}">
                <a16:creationId xmlns:a16="http://schemas.microsoft.com/office/drawing/2014/main" id="{58825F7E-4F97-0F7E-693B-1889603EC147}"/>
              </a:ext>
            </a:extLst>
          </p:cNvPr>
          <p:cNvPicPr>
            <a:picLocks noChangeAspect="1"/>
          </p:cNvPicPr>
          <p:nvPr/>
        </p:nvPicPr>
        <p:blipFill>
          <a:blip r:embed="rId3"/>
          <a:srcRect l="38923" t="6278" r="7317" b="10846"/>
          <a:stretch>
            <a:fillRect/>
          </a:stretch>
        </p:blipFill>
        <p:spPr>
          <a:xfrm>
            <a:off x="9743090" y="4214566"/>
            <a:ext cx="2448910" cy="2643433"/>
          </a:xfrm>
          <a:prstGeom prst="rect">
            <a:avLst/>
          </a:prstGeom>
        </p:spPr>
      </p:pic>
      <p:pic>
        <p:nvPicPr>
          <p:cNvPr id="4" name="Image 3">
            <a:extLst>
              <a:ext uri="{FF2B5EF4-FFF2-40B4-BE49-F238E27FC236}">
                <a16:creationId xmlns:a16="http://schemas.microsoft.com/office/drawing/2014/main" id="{4309D803-5CB6-96BD-DCF0-76E1F37D8F85}"/>
              </a:ext>
            </a:extLst>
          </p:cNvPr>
          <p:cNvPicPr>
            <a:picLocks noChangeAspect="1"/>
          </p:cNvPicPr>
          <p:nvPr/>
        </p:nvPicPr>
        <p:blipFill>
          <a:blip r:embed="rId4"/>
          <a:srcRect t="22490" b="28085"/>
          <a:stretch>
            <a:fillRect/>
          </a:stretch>
        </p:blipFill>
        <p:spPr>
          <a:xfrm>
            <a:off x="9743090" y="365125"/>
            <a:ext cx="2275840" cy="3714505"/>
          </a:xfrm>
          <a:prstGeom prst="rect">
            <a:avLst/>
          </a:prstGeom>
        </p:spPr>
      </p:pic>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Tree>
    <p:extLst>
      <p:ext uri="{BB962C8B-B14F-4D97-AF65-F5344CB8AC3E}">
        <p14:creationId xmlns:p14="http://schemas.microsoft.com/office/powerpoint/2010/main" val="3457185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pPr marL="0" indent="0">
              <a:buNone/>
            </a:pPr>
            <a:r>
              <a:rPr lang="fr-FR" b="1" dirty="0"/>
              <a:t>D/Bilan : </a:t>
            </a:r>
          </a:p>
          <a:p>
            <a:pPr marL="0" indent="0">
              <a:buNone/>
            </a:pPr>
            <a:endParaRPr lang="fr-FR" b="1" dirty="0"/>
          </a:p>
          <a:p>
            <a:pPr lvl="1"/>
            <a:r>
              <a:rPr lang="fr-FR" dirty="0"/>
              <a:t>Groupage rhésus.</a:t>
            </a:r>
          </a:p>
          <a:p>
            <a:pPr lvl="1"/>
            <a:endParaRPr lang="fr-FR" dirty="0"/>
          </a:p>
          <a:p>
            <a:pPr lvl="1"/>
            <a:r>
              <a:rPr lang="fr-FR" dirty="0"/>
              <a:t>FNS.</a:t>
            </a:r>
          </a:p>
          <a:p>
            <a:pPr lvl="1"/>
            <a:endParaRPr lang="fr-FR" dirty="0"/>
          </a:p>
          <a:p>
            <a:pPr lvl="1"/>
            <a:r>
              <a:rPr lang="fr-FR" dirty="0"/>
              <a:t>TP,INR, TCA.</a:t>
            </a:r>
          </a:p>
          <a:p>
            <a:pPr marL="457200" lvl="1" indent="0">
              <a:buNone/>
            </a:pPr>
            <a:endParaRPr lang="fr-FR" dirty="0"/>
          </a:p>
          <a:p>
            <a:pPr lvl="1"/>
            <a:r>
              <a:rPr lang="fr-FR" dirty="0"/>
              <a:t>Bilan rénal.</a:t>
            </a:r>
          </a:p>
          <a:p>
            <a:pPr marL="457200" lvl="1" indent="0">
              <a:buNone/>
            </a:pPr>
            <a:endParaRPr lang="fr-FR" dirty="0"/>
          </a:p>
          <a:p>
            <a:pPr lvl="1"/>
            <a:r>
              <a:rPr lang="fr-FR" dirty="0"/>
              <a:t>Bilan hépatique.</a:t>
            </a:r>
          </a:p>
          <a:p>
            <a:pPr lvl="1"/>
            <a:endParaRPr lang="fr-FR" dirty="0"/>
          </a:p>
        </p:txBody>
      </p:sp>
    </p:spTree>
    <p:extLst>
      <p:ext uri="{BB962C8B-B14F-4D97-AF65-F5344CB8AC3E}">
        <p14:creationId xmlns:p14="http://schemas.microsoft.com/office/powerpoint/2010/main" val="3936810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E/Surveillance :</a:t>
            </a:r>
          </a:p>
          <a:p>
            <a:pPr marL="0" indent="0">
              <a:buNone/>
            </a:pPr>
            <a:endParaRPr lang="fr-FR" b="1" dirty="0"/>
          </a:p>
          <a:p>
            <a:pPr marL="0" indent="0">
              <a:buNone/>
            </a:pPr>
            <a:r>
              <a:rPr lang="fr-FR" dirty="0"/>
              <a:t>A la phase initiale de l’hémorragie, l’importance du saignement est jugée sur : </a:t>
            </a:r>
          </a:p>
          <a:p>
            <a:pPr marL="0" indent="0">
              <a:buNone/>
            </a:pPr>
            <a:endParaRPr lang="fr-FR" dirty="0"/>
          </a:p>
          <a:p>
            <a:pPr lvl="1"/>
            <a:r>
              <a:rPr lang="fr-FR" dirty="0"/>
              <a:t>les signes cliniques : fréquence cardiaque, tension artérielle, pâleur, chaleur des téguments, état de conscience, diurèse </a:t>
            </a:r>
          </a:p>
          <a:p>
            <a:pPr lvl="1"/>
            <a:r>
              <a:rPr lang="fr-FR" dirty="0"/>
              <a:t>Les signes biologiques : le taux d’hématocrite, hémoglobine sanguine, bilan rénal ; qui seront réévalués à intervalle régulier jusqu’à l’amélioration de l’état du patient</a:t>
            </a:r>
          </a:p>
        </p:txBody>
      </p:sp>
    </p:spTree>
    <p:extLst>
      <p:ext uri="{BB962C8B-B14F-4D97-AF65-F5344CB8AC3E}">
        <p14:creationId xmlns:p14="http://schemas.microsoft.com/office/powerpoint/2010/main" val="1873743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F/ L’endoscopie : </a:t>
            </a:r>
          </a:p>
          <a:p>
            <a:pPr marL="0" indent="0">
              <a:buNone/>
            </a:pPr>
            <a:endParaRPr lang="fr-FR" b="1" dirty="0"/>
          </a:p>
          <a:p>
            <a:r>
              <a:rPr lang="fr-FR" dirty="0"/>
              <a:t>Après avoir réanimé le patient, les explorations dont l’endoscopie ne sera pratiquée que si l’état hémodynamique du patient le permet.</a:t>
            </a:r>
          </a:p>
          <a:p>
            <a:r>
              <a:rPr lang="fr-FR" dirty="0"/>
              <a:t>Identifier l’origine.</a:t>
            </a:r>
          </a:p>
          <a:p>
            <a:r>
              <a:rPr lang="fr-FR" dirty="0"/>
              <a:t>Un geste hémostatique pourra être effectuer en per endoscopie: sclérose du saignement, injection d’adrénaline, ligature de varices œsophagiennes, pose de clips ou coagulation au plasma argon.</a:t>
            </a:r>
          </a:p>
        </p:txBody>
      </p:sp>
      <p:pic>
        <p:nvPicPr>
          <p:cNvPr id="5" name="Image 4">
            <a:extLst>
              <a:ext uri="{FF2B5EF4-FFF2-40B4-BE49-F238E27FC236}">
                <a16:creationId xmlns:a16="http://schemas.microsoft.com/office/drawing/2014/main" id="{F9CF816E-9AEF-4C09-A40A-99EB3F0DB12F}"/>
              </a:ext>
            </a:extLst>
          </p:cNvPr>
          <p:cNvPicPr>
            <a:picLocks noChangeAspect="1"/>
          </p:cNvPicPr>
          <p:nvPr/>
        </p:nvPicPr>
        <p:blipFill>
          <a:blip r:embed="rId3"/>
          <a:srcRect l="42508" t="5324" b="5324"/>
          <a:stretch>
            <a:fillRect/>
          </a:stretch>
        </p:blipFill>
        <p:spPr>
          <a:xfrm>
            <a:off x="9267092" y="0"/>
            <a:ext cx="2924908" cy="2908726"/>
          </a:xfrm>
          <a:prstGeom prst="rect">
            <a:avLst/>
          </a:prstGeom>
        </p:spPr>
      </p:pic>
      <p:pic>
        <p:nvPicPr>
          <p:cNvPr id="6" name="Image 5">
            <a:extLst>
              <a:ext uri="{FF2B5EF4-FFF2-40B4-BE49-F238E27FC236}">
                <a16:creationId xmlns:a16="http://schemas.microsoft.com/office/drawing/2014/main" id="{67617387-2D81-DE47-4BDE-BBB4F378588B}"/>
              </a:ext>
            </a:extLst>
          </p:cNvPr>
          <p:cNvPicPr>
            <a:picLocks noChangeAspect="1"/>
          </p:cNvPicPr>
          <p:nvPr/>
        </p:nvPicPr>
        <p:blipFill>
          <a:blip r:embed="rId4"/>
          <a:stretch>
            <a:fillRect/>
          </a:stretch>
        </p:blipFill>
        <p:spPr>
          <a:xfrm>
            <a:off x="7625395" y="5416062"/>
            <a:ext cx="2157513" cy="1441938"/>
          </a:xfrm>
          <a:prstGeom prst="rect">
            <a:avLst/>
          </a:prstGeom>
        </p:spPr>
      </p:pic>
      <p:pic>
        <p:nvPicPr>
          <p:cNvPr id="7" name="Image 6">
            <a:extLst>
              <a:ext uri="{FF2B5EF4-FFF2-40B4-BE49-F238E27FC236}">
                <a16:creationId xmlns:a16="http://schemas.microsoft.com/office/drawing/2014/main" id="{BB22A43D-CE7E-6020-BDF7-B838D958B73E}"/>
              </a:ext>
            </a:extLst>
          </p:cNvPr>
          <p:cNvPicPr>
            <a:picLocks noChangeAspect="1"/>
          </p:cNvPicPr>
          <p:nvPr/>
        </p:nvPicPr>
        <p:blipFill>
          <a:blip r:embed="rId5"/>
          <a:stretch>
            <a:fillRect/>
          </a:stretch>
        </p:blipFill>
        <p:spPr>
          <a:xfrm>
            <a:off x="3607544" y="5443538"/>
            <a:ext cx="1828800" cy="1414462"/>
          </a:xfrm>
          <a:prstGeom prst="rect">
            <a:avLst/>
          </a:prstGeom>
        </p:spPr>
      </p:pic>
    </p:spTree>
    <p:extLst>
      <p:ext uri="{BB962C8B-B14F-4D97-AF65-F5344CB8AC3E}">
        <p14:creationId xmlns:p14="http://schemas.microsoft.com/office/powerpoint/2010/main" val="3355431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a:bodyPr>
          <a:lstStyle/>
          <a:p>
            <a:pPr marL="0" indent="0">
              <a:buNone/>
            </a:pPr>
            <a:r>
              <a:rPr lang="fr-FR" b="1" dirty="0"/>
              <a:t>G/ traitement spécifique selon la cause </a:t>
            </a:r>
          </a:p>
          <a:p>
            <a:pPr marL="0" indent="0">
              <a:buNone/>
            </a:pPr>
            <a:endParaRPr lang="fr-FR" b="1" dirty="0"/>
          </a:p>
          <a:p>
            <a:r>
              <a:rPr lang="fr-FR" dirty="0"/>
              <a:t>Ulcère → IPP IV.</a:t>
            </a:r>
          </a:p>
          <a:p>
            <a:endParaRPr lang="fr-FR" dirty="0"/>
          </a:p>
          <a:p>
            <a:r>
              <a:rPr lang="fr-FR" dirty="0"/>
              <a:t>Varices → vasoactifs + ligature.</a:t>
            </a:r>
          </a:p>
          <a:p>
            <a:endParaRPr lang="fr-FR" dirty="0"/>
          </a:p>
          <a:p>
            <a:r>
              <a:rPr lang="fr-FR" dirty="0"/>
              <a:t>Trouble coagulation → correction (vit K, plasma…).</a:t>
            </a:r>
          </a:p>
        </p:txBody>
      </p:sp>
    </p:spTree>
    <p:extLst>
      <p:ext uri="{BB962C8B-B14F-4D97-AF65-F5344CB8AC3E}">
        <p14:creationId xmlns:p14="http://schemas.microsoft.com/office/powerpoint/2010/main" val="935853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3D0D8-B1A2-BD69-1C0C-8CFCC695DAA8}"/>
              </a:ext>
            </a:extLst>
          </p:cNvPr>
          <p:cNvSpPr>
            <a:spLocks noGrp="1"/>
          </p:cNvSpPr>
          <p:nvPr>
            <p:ph type="title"/>
          </p:nvPr>
        </p:nvSpPr>
        <p:spPr/>
        <p:txBody>
          <a:bodyPr/>
          <a:lstStyle/>
          <a:p>
            <a:r>
              <a:rPr lang="fr-FR" b="1" dirty="0">
                <a:solidFill>
                  <a:srgbClr val="FF0000"/>
                </a:solidFill>
              </a:rPr>
              <a:t>CAT devant une hémorragie digestive</a:t>
            </a:r>
            <a:endParaRPr lang="fr-FR" dirty="0">
              <a:solidFill>
                <a:srgbClr val="FF0000"/>
              </a:solidFill>
              <a:latin typeface="+mn-lt"/>
            </a:endParaRPr>
          </a:p>
        </p:txBody>
      </p:sp>
      <p:sp>
        <p:nvSpPr>
          <p:cNvPr id="3" name="Espace réservé du contenu 2">
            <a:extLst>
              <a:ext uri="{FF2B5EF4-FFF2-40B4-BE49-F238E27FC236}">
                <a16:creationId xmlns:a16="http://schemas.microsoft.com/office/drawing/2014/main" id="{DA6C7D2C-3F04-F0B0-1588-A5B60F3B67DB}"/>
              </a:ext>
            </a:extLst>
          </p:cNvPr>
          <p:cNvSpPr>
            <a:spLocks noGrp="1"/>
          </p:cNvSpPr>
          <p:nvPr>
            <p:ph idx="1"/>
          </p:nvPr>
        </p:nvSpPr>
        <p:spPr/>
        <p:txBody>
          <a:bodyPr>
            <a:normAutofit lnSpcReduction="10000"/>
          </a:bodyPr>
          <a:lstStyle/>
          <a:p>
            <a:pPr marL="0" indent="0">
              <a:buNone/>
            </a:pPr>
            <a:r>
              <a:rPr lang="fr-FR" b="1" dirty="0"/>
              <a:t>G/ traitement spécifique selon la cause </a:t>
            </a:r>
          </a:p>
          <a:p>
            <a:pPr marL="0" indent="0">
              <a:buNone/>
            </a:pPr>
            <a:endParaRPr lang="fr-FR" b="1" dirty="0"/>
          </a:p>
          <a:p>
            <a:pPr marL="0" indent="0">
              <a:buNone/>
            </a:pPr>
            <a:r>
              <a:rPr lang="fr-FR" dirty="0"/>
              <a:t>Si échec : traitement chirurgical pour suture de l’ulcère. </a:t>
            </a:r>
          </a:p>
          <a:p>
            <a:pPr marL="0" indent="0">
              <a:buNone/>
            </a:pPr>
            <a:endParaRPr lang="fr-FR" dirty="0"/>
          </a:p>
          <a:p>
            <a:pPr marL="0" indent="0">
              <a:buNone/>
            </a:pPr>
            <a:r>
              <a:rPr lang="fr-FR" dirty="0"/>
              <a:t>Les indications chirurgicales sont très rares : </a:t>
            </a:r>
          </a:p>
          <a:p>
            <a:pPr marL="0" indent="0">
              <a:buNone/>
            </a:pPr>
            <a:endParaRPr lang="fr-FR" dirty="0"/>
          </a:p>
          <a:p>
            <a:pPr lvl="1">
              <a:tabLst>
                <a:tab pos="4214813" algn="l"/>
              </a:tabLst>
            </a:pPr>
            <a:r>
              <a:rPr lang="fr-FR" dirty="0"/>
              <a:t>Hémorragies cataclysmiques (état hémodynamique non contrôlé malgré les transfusions sanguines sous pression).</a:t>
            </a:r>
          </a:p>
          <a:p>
            <a:pPr lvl="1"/>
            <a:r>
              <a:rPr lang="fr-FR" dirty="0"/>
              <a:t>Récidive ou persistance de l’hémorragie, malgré le traitement précédent avec nécessité de transfusions multiples.</a:t>
            </a:r>
          </a:p>
        </p:txBody>
      </p:sp>
    </p:spTree>
    <p:extLst>
      <p:ext uri="{BB962C8B-B14F-4D97-AF65-F5344CB8AC3E}">
        <p14:creationId xmlns:p14="http://schemas.microsoft.com/office/powerpoint/2010/main" val="15401794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F60AAD-ADC2-F5D7-0A08-0AC9FE1A5D89}"/>
              </a:ext>
            </a:extLst>
          </p:cNvPr>
          <p:cNvSpPr>
            <a:spLocks noGrp="1"/>
          </p:cNvSpPr>
          <p:nvPr>
            <p:ph type="title"/>
          </p:nvPr>
        </p:nvSpPr>
        <p:spPr/>
        <p:txBody>
          <a:bodyPr/>
          <a:lstStyle/>
          <a:p>
            <a:r>
              <a:rPr lang="fr-FR" b="1" dirty="0">
                <a:solidFill>
                  <a:srgbClr val="FF0000"/>
                </a:solidFill>
              </a:rPr>
              <a:t>            Conclusion </a:t>
            </a:r>
          </a:p>
        </p:txBody>
      </p:sp>
      <p:sp>
        <p:nvSpPr>
          <p:cNvPr id="3" name="Espace réservé du contenu 2">
            <a:extLst>
              <a:ext uri="{FF2B5EF4-FFF2-40B4-BE49-F238E27FC236}">
                <a16:creationId xmlns:a16="http://schemas.microsoft.com/office/drawing/2014/main" id="{24316148-CEF8-FB85-4578-171094AF75D1}"/>
              </a:ext>
            </a:extLst>
          </p:cNvPr>
          <p:cNvSpPr>
            <a:spLocks noGrp="1"/>
          </p:cNvSpPr>
          <p:nvPr>
            <p:ph idx="1"/>
          </p:nvPr>
        </p:nvSpPr>
        <p:spPr/>
        <p:txBody>
          <a:bodyPr/>
          <a:lstStyle/>
          <a:p>
            <a:endParaRPr lang="fr-FR" dirty="0"/>
          </a:p>
          <a:p>
            <a:endParaRPr lang="fr-FR" dirty="0"/>
          </a:p>
          <a:p>
            <a:r>
              <a:rPr lang="fr-FR" dirty="0"/>
              <a:t>Les hémorragies digestives sont un symptôme alarmant pour le patient et son entourage, elles relèvent d’une prise en charge urgente et rigoureuse car elles peuvent mettre en jeu le pronostic vital.</a:t>
            </a:r>
          </a:p>
          <a:p>
            <a:pPr marL="0" indent="0">
              <a:buNone/>
            </a:pPr>
            <a:endParaRPr lang="fr-FR" dirty="0"/>
          </a:p>
          <a:p>
            <a:r>
              <a:rPr lang="fr-FR" dirty="0"/>
              <a:t>Secondairement les explorations seront effectuées pour rechercher et traiter l’étiologie et éviter les récidives.</a:t>
            </a:r>
          </a:p>
          <a:p>
            <a:endParaRPr lang="fr-FR" dirty="0"/>
          </a:p>
        </p:txBody>
      </p:sp>
      <p:pic>
        <p:nvPicPr>
          <p:cNvPr id="4" name="Image 3">
            <a:extLst>
              <a:ext uri="{FF2B5EF4-FFF2-40B4-BE49-F238E27FC236}">
                <a16:creationId xmlns:a16="http://schemas.microsoft.com/office/drawing/2014/main" id="{B4446DBC-BFEE-BC4C-9D5D-BB60448348E3}"/>
              </a:ext>
            </a:extLst>
          </p:cNvPr>
          <p:cNvPicPr>
            <a:picLocks noChangeAspect="1"/>
          </p:cNvPicPr>
          <p:nvPr/>
        </p:nvPicPr>
        <p:blipFill>
          <a:blip r:embed="rId2"/>
          <a:stretch>
            <a:fillRect/>
          </a:stretch>
        </p:blipFill>
        <p:spPr>
          <a:xfrm>
            <a:off x="-285155" y="-1001605"/>
            <a:ext cx="3090940" cy="3365284"/>
          </a:xfrm>
          <a:prstGeom prst="rect">
            <a:avLst/>
          </a:prstGeom>
        </p:spPr>
      </p:pic>
      <p:pic>
        <p:nvPicPr>
          <p:cNvPr id="5" name="Image 4">
            <a:extLst>
              <a:ext uri="{FF2B5EF4-FFF2-40B4-BE49-F238E27FC236}">
                <a16:creationId xmlns:a16="http://schemas.microsoft.com/office/drawing/2014/main" id="{E991C9FA-3315-01C6-FDB7-CF3CA7DEF910}"/>
              </a:ext>
            </a:extLst>
          </p:cNvPr>
          <p:cNvPicPr>
            <a:picLocks noChangeAspect="1"/>
          </p:cNvPicPr>
          <p:nvPr/>
        </p:nvPicPr>
        <p:blipFill>
          <a:blip r:embed="rId3"/>
          <a:stretch>
            <a:fillRect/>
          </a:stretch>
        </p:blipFill>
        <p:spPr>
          <a:xfrm>
            <a:off x="-2045673" y="2748940"/>
            <a:ext cx="3164098" cy="4109060"/>
          </a:xfrm>
          <a:prstGeom prst="rect">
            <a:avLst/>
          </a:prstGeom>
        </p:spPr>
      </p:pic>
      <p:pic>
        <p:nvPicPr>
          <p:cNvPr id="6" name="Image 5">
            <a:extLst>
              <a:ext uri="{FF2B5EF4-FFF2-40B4-BE49-F238E27FC236}">
                <a16:creationId xmlns:a16="http://schemas.microsoft.com/office/drawing/2014/main" id="{0086D792-AA62-3BC6-C19F-F04FD35D67C7}"/>
              </a:ext>
            </a:extLst>
          </p:cNvPr>
          <p:cNvPicPr>
            <a:picLocks noChangeAspect="1"/>
          </p:cNvPicPr>
          <p:nvPr/>
        </p:nvPicPr>
        <p:blipFill>
          <a:blip r:embed="rId4"/>
          <a:stretch>
            <a:fillRect/>
          </a:stretch>
        </p:blipFill>
        <p:spPr>
          <a:xfrm>
            <a:off x="6096000" y="-227131"/>
            <a:ext cx="2060627" cy="2743438"/>
          </a:xfrm>
          <a:prstGeom prst="rect">
            <a:avLst/>
          </a:prstGeom>
        </p:spPr>
      </p:pic>
      <p:pic>
        <p:nvPicPr>
          <p:cNvPr id="7" name="Image 6">
            <a:extLst>
              <a:ext uri="{FF2B5EF4-FFF2-40B4-BE49-F238E27FC236}">
                <a16:creationId xmlns:a16="http://schemas.microsoft.com/office/drawing/2014/main" id="{9CD110EC-2721-D925-A77E-5C53A1199463}"/>
              </a:ext>
            </a:extLst>
          </p:cNvPr>
          <p:cNvPicPr>
            <a:picLocks noChangeAspect="1"/>
          </p:cNvPicPr>
          <p:nvPr/>
        </p:nvPicPr>
        <p:blipFill>
          <a:blip r:embed="rId5"/>
          <a:stretch>
            <a:fillRect/>
          </a:stretch>
        </p:blipFill>
        <p:spPr>
          <a:xfrm>
            <a:off x="10366091" y="-3656131"/>
            <a:ext cx="2534217" cy="6858000"/>
          </a:xfrm>
          <a:prstGeom prst="rect">
            <a:avLst/>
          </a:prstGeom>
        </p:spPr>
      </p:pic>
      <p:pic>
        <p:nvPicPr>
          <p:cNvPr id="8" name="Image 7">
            <a:extLst>
              <a:ext uri="{FF2B5EF4-FFF2-40B4-BE49-F238E27FC236}">
                <a16:creationId xmlns:a16="http://schemas.microsoft.com/office/drawing/2014/main" id="{388DC4CD-6A39-6C99-435C-31360F6C0691}"/>
              </a:ext>
            </a:extLst>
          </p:cNvPr>
          <p:cNvPicPr>
            <a:picLocks noChangeAspect="1"/>
          </p:cNvPicPr>
          <p:nvPr/>
        </p:nvPicPr>
        <p:blipFill>
          <a:blip r:embed="rId6"/>
          <a:stretch>
            <a:fillRect/>
          </a:stretch>
        </p:blipFill>
        <p:spPr>
          <a:xfrm>
            <a:off x="4044062" y="5385610"/>
            <a:ext cx="4139543" cy="4078577"/>
          </a:xfrm>
          <a:prstGeom prst="rect">
            <a:avLst/>
          </a:prstGeom>
        </p:spPr>
      </p:pic>
      <p:pic>
        <p:nvPicPr>
          <p:cNvPr id="9" name="Image 8">
            <a:extLst>
              <a:ext uri="{FF2B5EF4-FFF2-40B4-BE49-F238E27FC236}">
                <a16:creationId xmlns:a16="http://schemas.microsoft.com/office/drawing/2014/main" id="{0BF434A1-B3CF-92E2-163A-25DA4D7EF7A0}"/>
              </a:ext>
            </a:extLst>
          </p:cNvPr>
          <p:cNvPicPr>
            <a:picLocks noChangeAspect="1"/>
          </p:cNvPicPr>
          <p:nvPr/>
        </p:nvPicPr>
        <p:blipFill>
          <a:blip r:embed="rId7"/>
          <a:stretch>
            <a:fillRect/>
          </a:stretch>
        </p:blipFill>
        <p:spPr>
          <a:xfrm>
            <a:off x="8780993" y="5076496"/>
            <a:ext cx="3170195" cy="1782785"/>
          </a:xfrm>
          <a:prstGeom prst="rect">
            <a:avLst/>
          </a:prstGeom>
        </p:spPr>
      </p:pic>
    </p:spTree>
    <p:extLst>
      <p:ext uri="{BB962C8B-B14F-4D97-AF65-F5344CB8AC3E}">
        <p14:creationId xmlns:p14="http://schemas.microsoft.com/office/powerpoint/2010/main" val="76967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B20745-447D-835E-303A-A8373DDD97C5}"/>
              </a:ext>
            </a:extLst>
          </p:cNvPr>
          <p:cNvSpPr/>
          <p:nvPr/>
        </p:nvSpPr>
        <p:spPr>
          <a:xfrm>
            <a:off x="0" y="0"/>
            <a:ext cx="12192000" cy="6858000"/>
          </a:xfrm>
          <a:prstGeom prst="rect">
            <a:avLst/>
          </a:prstGeom>
          <a:solidFill>
            <a:srgbClr val="F5F5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3B8B0A5D-0390-B691-184B-E86196440452}"/>
              </a:ext>
            </a:extLst>
          </p:cNvPr>
          <p:cNvPicPr>
            <a:picLocks noChangeAspect="1"/>
          </p:cNvPicPr>
          <p:nvPr/>
        </p:nvPicPr>
        <p:blipFill>
          <a:blip r:embed="rId2"/>
          <a:stretch>
            <a:fillRect/>
          </a:stretch>
        </p:blipFill>
        <p:spPr>
          <a:xfrm>
            <a:off x="1219200" y="2033587"/>
            <a:ext cx="9753600" cy="2790825"/>
          </a:xfrm>
          <a:prstGeom prst="rect">
            <a:avLst/>
          </a:prstGeom>
        </p:spPr>
      </p:pic>
    </p:spTree>
    <p:extLst>
      <p:ext uri="{BB962C8B-B14F-4D97-AF65-F5344CB8AC3E}">
        <p14:creationId xmlns:p14="http://schemas.microsoft.com/office/powerpoint/2010/main" val="426601658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991</TotalTime>
  <Words>3763</Words>
  <Application>Microsoft Office PowerPoint</Application>
  <PresentationFormat>Widescreen</PresentationFormat>
  <Paragraphs>502</Paragraphs>
  <Slides>37</Slides>
  <Notes>34</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Thème Office</vt:lpstr>
      <vt:lpstr>PowerPoint Presentation</vt:lpstr>
      <vt:lpstr>Introduction  </vt:lpstr>
      <vt:lpstr>Définition </vt:lpstr>
      <vt:lpstr>Mécanisme  </vt:lpstr>
      <vt:lpstr>Mécanisme  </vt:lpstr>
      <vt:lpstr>Circonstances de découvertes </vt:lpstr>
      <vt:lpstr>Circonstances de découvertes</vt:lpstr>
      <vt:lpstr>Diagnostique positif → hématémèse  </vt:lpstr>
      <vt:lpstr>Diagnostique positif → hématémèse  </vt:lpstr>
      <vt:lpstr>Diagnostique positif → hématémèse  </vt:lpstr>
      <vt:lpstr>Diagnostique positif → hématémèse  </vt:lpstr>
      <vt:lpstr>Diagnostique positif → hématémèse  </vt:lpstr>
      <vt:lpstr>Diagnostique positif → hématémèse  </vt:lpstr>
      <vt:lpstr>Diagnostique positif → hématémèse  </vt:lpstr>
      <vt:lpstr>Diagnostique positif → méléna  </vt:lpstr>
      <vt:lpstr>Diagnostique positif → méléna  </vt:lpstr>
      <vt:lpstr>Diagnostique positif → méléna  </vt:lpstr>
      <vt:lpstr>Diagnostique positif → méléna  </vt:lpstr>
      <vt:lpstr>Diagnostique positif → méléna  </vt:lpstr>
      <vt:lpstr>Diagnostique positif → rectorragie   </vt:lpstr>
      <vt:lpstr>Diagnostique positif → rectorragie   </vt:lpstr>
      <vt:lpstr>Diagnostique positif → rectorragie   </vt:lpstr>
      <vt:lpstr>Diagnostique positif → rectorragie   </vt:lpstr>
      <vt:lpstr>Diagnostique positif → rectorragie   </vt:lpstr>
      <vt:lpstr>Exploration des hémorragies digestives</vt:lpstr>
      <vt:lpstr>Exploration des hémorragies digestives</vt:lpstr>
      <vt:lpstr>Exploration des hémorragies digestives</vt:lpstr>
      <vt:lpstr>CAT devant une hémorragie digestive</vt:lpstr>
      <vt:lpstr>CAT devant une hémorragie digestive</vt:lpstr>
      <vt:lpstr>CAT devant une hémorragie digestive</vt:lpstr>
      <vt:lpstr>CAT devant une hémorragie digestive</vt:lpstr>
      <vt:lpstr>CAT devant une hémorragie digestive</vt:lpstr>
      <vt:lpstr>CAT devant une hémorragie digestive</vt:lpstr>
      <vt:lpstr>CAT devant une hémorragie digestive</vt:lpstr>
      <vt:lpstr>CAT devant une hémorragie digestive</vt:lpstr>
      <vt:lpstr>            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imane bacha</dc:creator>
  <cp:lastModifiedBy>azeddinebacha03@gmail.com</cp:lastModifiedBy>
  <cp:revision>15</cp:revision>
  <dcterms:created xsi:type="dcterms:W3CDTF">2026-04-14T08:56:30Z</dcterms:created>
  <dcterms:modified xsi:type="dcterms:W3CDTF">2026-04-23T11:08:42Z</dcterms:modified>
</cp:coreProperties>
</file>