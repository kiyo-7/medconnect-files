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4" r:id="rId1"/>
  </p:sldMasterIdLst>
  <p:sldIdLst>
    <p:sldId id="256" r:id="rId2"/>
    <p:sldId id="296" r:id="rId3"/>
    <p:sldId id="297" r:id="rId4"/>
    <p:sldId id="258" r:id="rId5"/>
    <p:sldId id="259" r:id="rId6"/>
    <p:sldId id="283" r:id="rId7"/>
    <p:sldId id="284" r:id="rId8"/>
    <p:sldId id="261" r:id="rId9"/>
    <p:sldId id="262" r:id="rId10"/>
    <p:sldId id="285" r:id="rId11"/>
    <p:sldId id="288" r:id="rId12"/>
    <p:sldId id="286" r:id="rId13"/>
    <p:sldId id="263" r:id="rId14"/>
    <p:sldId id="266" r:id="rId15"/>
    <p:sldId id="268" r:id="rId16"/>
    <p:sldId id="287" r:id="rId17"/>
    <p:sldId id="271" r:id="rId18"/>
    <p:sldId id="272" r:id="rId19"/>
    <p:sldId id="289" r:id="rId20"/>
    <p:sldId id="273" r:id="rId21"/>
    <p:sldId id="274" r:id="rId22"/>
    <p:sldId id="290" r:id="rId23"/>
    <p:sldId id="275" r:id="rId24"/>
    <p:sldId id="291" r:id="rId25"/>
    <p:sldId id="276" r:id="rId26"/>
    <p:sldId id="277" r:id="rId27"/>
    <p:sldId id="295" r:id="rId28"/>
    <p:sldId id="298" r:id="rId29"/>
    <p:sldId id="278" r:id="rId3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B359-282D-4893-962A-B4349DAAACCC}" type="datetimeFigureOut">
              <a:rPr lang="fr-FR" smtClean="0"/>
              <a:t>24/01/2026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056DA-A7E1-4E50-89BC-B0C5B447320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8592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B359-282D-4893-962A-B4349DAAACCC}" type="datetimeFigureOut">
              <a:rPr lang="fr-FR" smtClean="0"/>
              <a:t>24/01/2026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056DA-A7E1-4E50-89BC-B0C5B447320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5457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B359-282D-4893-962A-B4349DAAACCC}" type="datetimeFigureOut">
              <a:rPr lang="fr-FR" smtClean="0"/>
              <a:t>24/01/2026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056DA-A7E1-4E50-89BC-B0C5B447320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9517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B359-282D-4893-962A-B4349DAAACCC}" type="datetimeFigureOut">
              <a:rPr lang="fr-FR" smtClean="0"/>
              <a:t>24/01/2026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056DA-A7E1-4E50-89BC-B0C5B447320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5266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B359-282D-4893-962A-B4349DAAACCC}" type="datetimeFigureOut">
              <a:rPr lang="fr-FR" smtClean="0"/>
              <a:t>24/01/2026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056DA-A7E1-4E50-89BC-B0C5B447320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80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B359-282D-4893-962A-B4349DAAACCC}" type="datetimeFigureOut">
              <a:rPr lang="fr-FR" smtClean="0"/>
              <a:t>24/01/2026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056DA-A7E1-4E50-89BC-B0C5B447320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3246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B359-282D-4893-962A-B4349DAAACCC}" type="datetimeFigureOut">
              <a:rPr lang="fr-FR" smtClean="0"/>
              <a:t>24/01/2026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056DA-A7E1-4E50-89BC-B0C5B447320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1916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B359-282D-4893-962A-B4349DAAACCC}" type="datetimeFigureOut">
              <a:rPr lang="fr-FR" smtClean="0"/>
              <a:t>24/01/2026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056DA-A7E1-4E50-89BC-B0C5B447320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9572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B359-282D-4893-962A-B4349DAAACCC}" type="datetimeFigureOut">
              <a:rPr lang="fr-FR" smtClean="0"/>
              <a:t>24/01/2026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056DA-A7E1-4E50-89BC-B0C5B447320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7389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B359-282D-4893-962A-B4349DAAACCC}" type="datetimeFigureOut">
              <a:rPr lang="fr-FR" smtClean="0"/>
              <a:t>24/01/2026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056DA-A7E1-4E50-89BC-B0C5B447320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4567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B359-282D-4893-962A-B4349DAAACCC}" type="datetimeFigureOut">
              <a:rPr lang="fr-FR" smtClean="0"/>
              <a:t>24/01/2026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056DA-A7E1-4E50-89BC-B0C5B447320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13515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B359-282D-4893-962A-B4349DAAACCC}" type="datetimeFigureOut">
              <a:rPr lang="fr-FR" smtClean="0"/>
              <a:t>24/01/2026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056DA-A7E1-4E50-89BC-B0C5B4473203}" type="slidenum">
              <a:rPr lang="fr-FR" smtClean="0"/>
              <a:t>‹N°›</a:t>
            </a:fld>
            <a:endParaRPr lang="fr-FR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838703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B359-282D-4893-962A-B4349DAAACCC}" type="datetimeFigureOut">
              <a:rPr lang="fr-FR" smtClean="0"/>
              <a:t>24/01/2026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056DA-A7E1-4E50-89BC-B0C5B447320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04852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B359-282D-4893-962A-B4349DAAACCC}" type="datetimeFigureOut">
              <a:rPr lang="fr-FR" smtClean="0"/>
              <a:t>24/01/2026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056DA-A7E1-4E50-89BC-B0C5B447320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25890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B359-282D-4893-962A-B4349DAAACCC}" type="datetimeFigureOut">
              <a:rPr lang="fr-FR" smtClean="0"/>
              <a:t>24/01/2026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056DA-A7E1-4E50-89BC-B0C5B447320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24580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B359-282D-4893-962A-B4349DAAACCC}" type="datetimeFigureOut">
              <a:rPr lang="fr-FR" smtClean="0"/>
              <a:t>24/01/2026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056DA-A7E1-4E50-89BC-B0C5B447320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446353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B359-282D-4893-962A-B4349DAAACCC}" type="datetimeFigureOut">
              <a:rPr lang="fr-FR" smtClean="0"/>
              <a:t>24/01/2026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056DA-A7E1-4E50-89BC-B0C5B447320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9920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8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78ABB359-282D-4893-962A-B4349DAAACCC}" type="datetimeFigureOut">
              <a:rPr lang="fr-FR" smtClean="0"/>
              <a:t>24/01/2026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0C7056DA-A7E1-4E50-89BC-B0C5B447320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9022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5" r:id="rId1"/>
    <p:sldLayoutId id="2147483926" r:id="rId2"/>
    <p:sldLayoutId id="2147483927" r:id="rId3"/>
    <p:sldLayoutId id="2147483928" r:id="rId4"/>
    <p:sldLayoutId id="2147483929" r:id="rId5"/>
    <p:sldLayoutId id="2147483930" r:id="rId6"/>
    <p:sldLayoutId id="2147483931" r:id="rId7"/>
    <p:sldLayoutId id="2147483932" r:id="rId8"/>
    <p:sldLayoutId id="2147483933" r:id="rId9"/>
    <p:sldLayoutId id="2147483934" r:id="rId10"/>
    <p:sldLayoutId id="2147483935" r:id="rId11"/>
    <p:sldLayoutId id="2147483936" r:id="rId12"/>
    <p:sldLayoutId id="2147483937" r:id="rId13"/>
    <p:sldLayoutId id="2147483938" r:id="rId14"/>
    <p:sldLayoutId id="2147483939" r:id="rId15"/>
    <p:sldLayoutId id="2147483940" r:id="rId16"/>
    <p:sldLayoutId id="2147483941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file:///C:\Users\pc\Desktop\fonctions_cognitives.pdf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751012" y="1397726"/>
            <a:ext cx="8689976" cy="2262603"/>
          </a:xfrm>
        </p:spPr>
        <p:txBody>
          <a:bodyPr/>
          <a:lstStyle/>
          <a:p>
            <a:r>
              <a:rPr lang="fr-FR" i="1" u="sng" dirty="0" smtClean="0">
                <a:solidFill>
                  <a:schemeClr val="accent1">
                    <a:lumMod val="75000"/>
                  </a:schemeClr>
                </a:solidFill>
              </a:rPr>
              <a:t>Examen des fonctions </a:t>
            </a:r>
            <a:r>
              <a:rPr lang="fr-FR" i="1" u="sng" dirty="0" err="1" smtClean="0">
                <a:solidFill>
                  <a:schemeClr val="accent1">
                    <a:lumMod val="75000"/>
                  </a:schemeClr>
                </a:solidFill>
              </a:rPr>
              <a:t>superieurs</a:t>
            </a:r>
            <a:endParaRPr lang="fr-FR" i="1" u="sng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 rotWithShape="1">
          <a:blip r:embed="rId2"/>
          <a:srcRect l="60138" t="32678" r="5224" b="37857"/>
          <a:stretch/>
        </p:blipFill>
        <p:spPr>
          <a:xfrm>
            <a:off x="2782389" y="3886200"/>
            <a:ext cx="6583680" cy="2762794"/>
          </a:xfrm>
          <a:prstGeom prst="rect">
            <a:avLst/>
          </a:prstGeom>
        </p:spPr>
      </p:pic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fr-FR" sz="2800" dirty="0">
              <a:solidFill>
                <a:schemeClr val="tx1"/>
              </a:solidFill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2547257" y="666206"/>
            <a:ext cx="658368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chemeClr val="accent1">
                    <a:lumMod val="75000"/>
                  </a:schemeClr>
                </a:solidFill>
              </a:rPr>
              <a:t>Faculté de Médecine Université Constantine 3</a:t>
            </a:r>
          </a:p>
          <a:p>
            <a:pPr algn="ctr"/>
            <a:r>
              <a:rPr lang="fr-FR" b="1" dirty="0" smtClean="0">
                <a:solidFill>
                  <a:schemeClr val="accent1">
                    <a:lumMod val="75000"/>
                  </a:schemeClr>
                </a:solidFill>
              </a:rPr>
              <a:t> Service de Médecine Interne- CHU Dr </a:t>
            </a:r>
            <a:r>
              <a:rPr lang="fr-FR" b="1" dirty="0" err="1" smtClean="0">
                <a:solidFill>
                  <a:schemeClr val="accent1">
                    <a:lumMod val="75000"/>
                  </a:schemeClr>
                </a:solidFill>
              </a:rPr>
              <a:t>Benbadis</a:t>
            </a:r>
            <a:r>
              <a:rPr lang="fr-FR" b="1" dirty="0" smtClean="0">
                <a:solidFill>
                  <a:schemeClr val="accent1">
                    <a:lumMod val="75000"/>
                  </a:schemeClr>
                </a:solidFill>
              </a:rPr>
              <a:t> Constantine </a:t>
            </a:r>
          </a:p>
          <a:p>
            <a:pPr algn="ctr"/>
            <a:r>
              <a:rPr lang="fr-FR" b="1" dirty="0" smtClean="0">
                <a:solidFill>
                  <a:schemeClr val="accent1">
                    <a:lumMod val="75000"/>
                  </a:schemeClr>
                </a:solidFill>
              </a:rPr>
              <a:t>Module de sémiologie médicale</a:t>
            </a:r>
          </a:p>
          <a:p>
            <a:pPr algn="ctr"/>
            <a:r>
              <a:rPr lang="fr-FR" b="1" dirty="0" smtClean="0">
                <a:solidFill>
                  <a:schemeClr val="accent1">
                    <a:lumMod val="75000"/>
                  </a:schemeClr>
                </a:solidFill>
              </a:rPr>
              <a:t>2025-2026</a:t>
            </a:r>
            <a:endParaRPr lang="fr-FR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lang="fr-FR" b="1" dirty="0" smtClean="0">
                <a:solidFill>
                  <a:schemeClr val="accent1">
                    <a:lumMod val="75000"/>
                  </a:schemeClr>
                </a:solidFill>
              </a:rPr>
              <a:t>Dr. N. IDRI</a:t>
            </a:r>
          </a:p>
          <a:p>
            <a:pPr algn="ctr"/>
            <a:endParaRPr lang="fr-FR" b="1" dirty="0" smtClean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86804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fr-FR" b="1" u="sng" dirty="0" smtClean="0"/>
              <a:t/>
            </a:r>
            <a:br>
              <a:rPr lang="fr-FR" b="1" u="sng" dirty="0" smtClean="0"/>
            </a:br>
            <a:r>
              <a:rPr lang="fr-FR" sz="4900" b="1" u="sng" dirty="0" smtClean="0"/>
              <a:t>Objectifs </a:t>
            </a:r>
            <a:r>
              <a:rPr lang="fr-FR" sz="4900" b="1" u="sng" dirty="0"/>
              <a:t>pédagogique :</a:t>
            </a:r>
            <a:r>
              <a:rPr lang="fr-FR" sz="4900" dirty="0"/>
              <a:t/>
            </a:r>
            <a:br>
              <a:rPr lang="fr-FR" sz="4900" dirty="0"/>
            </a:br>
            <a:endParaRPr lang="fr-FR" sz="49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lvl="0"/>
            <a:r>
              <a:rPr lang="fr-FR" sz="24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Reconnaitre les fonctions supérieures</a:t>
            </a:r>
          </a:p>
          <a:p>
            <a:pPr lvl="0"/>
            <a:r>
              <a:rPr lang="fr-FR" sz="24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Identifier les troubles du langage</a:t>
            </a:r>
          </a:p>
          <a:p>
            <a:pPr lvl="0"/>
            <a:r>
              <a:rPr lang="fr-FR" sz="24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Evaluer l’état de la mémoire</a:t>
            </a:r>
          </a:p>
          <a:p>
            <a:pPr lvl="0"/>
            <a:r>
              <a:rPr lang="fr-FR" sz="24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Evaluer l’attention et les fonctions exécutives</a:t>
            </a:r>
          </a:p>
          <a:p>
            <a:pPr lvl="0"/>
            <a:r>
              <a:rPr lang="fr-FR" sz="24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Reconnaitre les troubles cognitives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55782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3775" y="1"/>
            <a:ext cx="10364451" cy="2214694"/>
          </a:xfrm>
        </p:spPr>
        <p:txBody>
          <a:bodyPr>
            <a:normAutofit/>
          </a:bodyPr>
          <a:lstStyle/>
          <a:p>
            <a:pPr lvl="0"/>
            <a:r>
              <a:rPr lang="fr-FR" sz="4400" b="1" u="sng" dirty="0"/>
              <a:t>Plan du cours :  </a:t>
            </a:r>
            <a:endParaRPr lang="fr-FR" sz="44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3"/>
          </p:nvPr>
        </p:nvSpPr>
        <p:spPr>
          <a:xfrm>
            <a:off x="913774" y="1763486"/>
            <a:ext cx="10363826" cy="4027713"/>
          </a:xfrm>
        </p:spPr>
        <p:txBody>
          <a:bodyPr>
            <a:noAutofit/>
          </a:bodyPr>
          <a:lstStyle/>
          <a:p>
            <a:pPr marL="514350" lvl="0" indent="-514350">
              <a:buFont typeface="+mj-lt"/>
              <a:buAutoNum type="romanUcPeriod"/>
            </a:pPr>
            <a:r>
              <a:rPr lang="fr-FR" cap="none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Iintroduction</a:t>
            </a:r>
            <a:r>
              <a:rPr lang="fr-FR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/définition </a:t>
            </a:r>
          </a:p>
          <a:p>
            <a:pPr marL="514350" lvl="0" indent="-514350">
              <a:buFont typeface="+mj-lt"/>
              <a:buAutoNum type="romanUcPeriod"/>
            </a:pPr>
            <a:r>
              <a:rPr lang="fr-FR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Examen des fonctions cognitives </a:t>
            </a:r>
          </a:p>
          <a:p>
            <a:pPr marL="0" indent="0">
              <a:buNone/>
            </a:pPr>
            <a:r>
              <a:rPr lang="fr-FR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      A/ </a:t>
            </a:r>
            <a:r>
              <a:rPr lang="fr-FR" cap="none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evaluation</a:t>
            </a:r>
            <a:r>
              <a:rPr lang="fr-FR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 des fonctions instrumentales </a:t>
            </a:r>
          </a:p>
          <a:p>
            <a:pPr marL="0" indent="0">
              <a:buNone/>
            </a:pPr>
            <a:r>
              <a:rPr lang="fr-FR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       1) Le langage  </a:t>
            </a:r>
          </a:p>
          <a:p>
            <a:pPr marL="0" indent="0">
              <a:buNone/>
            </a:pPr>
            <a:r>
              <a:rPr lang="fr-FR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        2) Les praxies </a:t>
            </a:r>
          </a:p>
          <a:p>
            <a:pPr marL="0" indent="0">
              <a:buNone/>
            </a:pPr>
            <a:r>
              <a:rPr lang="fr-FR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        3) Les gnosies </a:t>
            </a:r>
          </a:p>
          <a:p>
            <a:pPr marL="0" indent="0">
              <a:buNone/>
            </a:pPr>
            <a:r>
              <a:rPr lang="fr-FR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        4) Les fonctions </a:t>
            </a:r>
            <a:r>
              <a:rPr lang="fr-FR" cap="none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visuo</a:t>
            </a:r>
            <a:r>
              <a:rPr lang="fr-FR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-spatiales  </a:t>
            </a:r>
          </a:p>
          <a:p>
            <a:pPr marL="0" indent="0">
              <a:buNone/>
            </a:pPr>
            <a:r>
              <a:rPr lang="fr-FR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       B/ </a:t>
            </a:r>
            <a:r>
              <a:rPr lang="fr-FR" cap="none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evaluation</a:t>
            </a:r>
            <a:r>
              <a:rPr lang="fr-FR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 de la mémoire  </a:t>
            </a:r>
          </a:p>
          <a:p>
            <a:pPr marL="0" indent="0">
              <a:buNone/>
            </a:pPr>
            <a:r>
              <a:rPr lang="fr-FR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       C/ </a:t>
            </a:r>
            <a:r>
              <a:rPr lang="fr-FR" cap="none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evaluation</a:t>
            </a:r>
            <a:r>
              <a:rPr lang="fr-FR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 de l’attention </a:t>
            </a:r>
          </a:p>
          <a:p>
            <a:pPr marL="0" indent="0">
              <a:buNone/>
            </a:pPr>
            <a:r>
              <a:rPr lang="fr-FR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       D/</a:t>
            </a:r>
            <a:r>
              <a:rPr lang="fr-FR" cap="none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evaluation</a:t>
            </a:r>
            <a:r>
              <a:rPr lang="fr-FR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 des fonctions exécutives  </a:t>
            </a:r>
            <a:endParaRPr lang="fr-FR" cap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20532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857250" lvl="0" indent="-857250">
              <a:buFont typeface="+mj-lt"/>
              <a:buAutoNum type="romanUcPeriod"/>
            </a:pPr>
            <a:r>
              <a:rPr lang="fr-FR" sz="4400" b="1" u="sng" dirty="0"/>
              <a:t>Introduction/définition :</a:t>
            </a:r>
            <a:r>
              <a:rPr lang="fr-FR" sz="4400" dirty="0"/>
              <a:t/>
            </a:r>
            <a:br>
              <a:rPr lang="fr-FR" sz="4400" dirty="0"/>
            </a:br>
            <a:endParaRPr lang="fr-FR" sz="44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85000" lnSpcReduction="10000"/>
          </a:bodyPr>
          <a:lstStyle/>
          <a:p>
            <a:r>
              <a:rPr lang="fr-FR" sz="28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Cognition vient du mot latin </a:t>
            </a:r>
            <a:r>
              <a:rPr lang="fr-FR" sz="2800" cap="none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cognitio</a:t>
            </a:r>
            <a:r>
              <a:rPr lang="fr-FR" sz="28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 = connaissance, action d’apprendre. </a:t>
            </a:r>
          </a:p>
          <a:p>
            <a:r>
              <a:rPr lang="fr-FR" sz="28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Les fonctions supérieurs ou cognitives sont définit par l’ensemble des processus mentaux qui se rapportent à la fonction de connaissance</a:t>
            </a:r>
            <a:r>
              <a:rPr lang="fr-FR" sz="2800" cap="none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fr-FR" sz="2800" cap="none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8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Elle mettent en jeu la mémoire, le langage, le raisonnement, l’apprentissage, la résolution de problèmes, la prise de décision, la perception et l’attention</a:t>
            </a:r>
          </a:p>
          <a:p>
            <a:endParaRPr lang="fr-FR" cap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4193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857250" indent="-857250">
              <a:buFont typeface="+mj-lt"/>
              <a:buAutoNum type="romanUcPeriod"/>
            </a:pPr>
            <a:r>
              <a:rPr lang="fr-FR" sz="4400" b="1" u="sng" dirty="0"/>
              <a:t>Introduction/définition :</a:t>
            </a:r>
            <a:r>
              <a:rPr lang="fr-FR" sz="4400" dirty="0"/>
              <a:t/>
            </a:r>
            <a:br>
              <a:rPr lang="fr-FR" sz="4400" dirty="0"/>
            </a:br>
            <a:endParaRPr lang="fr-FR" sz="44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3"/>
          </p:nvPr>
        </p:nvSpPr>
        <p:spPr/>
        <p:txBody>
          <a:bodyPr>
            <a:noAutofit/>
          </a:bodyPr>
          <a:lstStyle/>
          <a:p>
            <a:r>
              <a:rPr lang="fr-FR" sz="28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Ces fonctions permettent à l’être</a:t>
            </a:r>
          </a:p>
          <a:p>
            <a:pPr marL="0" indent="0">
              <a:buNone/>
            </a:pPr>
            <a:r>
              <a:rPr lang="fr-FR" sz="28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humain de recevoir les informations</a:t>
            </a:r>
          </a:p>
          <a:p>
            <a:pPr marL="0" indent="0">
              <a:buNone/>
            </a:pPr>
            <a:r>
              <a:rPr lang="fr-FR" sz="28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 sur son environnement, les traite, </a:t>
            </a:r>
          </a:p>
          <a:p>
            <a:pPr marL="0" indent="0">
              <a:buNone/>
            </a:pPr>
            <a:r>
              <a:rPr lang="fr-FR" sz="28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les manipule, les communique et </a:t>
            </a:r>
          </a:p>
          <a:p>
            <a:pPr marL="0" indent="0">
              <a:buNone/>
            </a:pPr>
            <a:r>
              <a:rPr lang="fr-FR" sz="28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s’en sert pour agir.</a:t>
            </a:r>
          </a:p>
          <a:p>
            <a:endParaRPr lang="fr-FR" sz="2800" cap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2"/>
          <a:srcRect l="67301" t="33840" r="13221" b="34375"/>
          <a:stretch/>
        </p:blipFill>
        <p:spPr>
          <a:xfrm>
            <a:off x="7145383" y="2367092"/>
            <a:ext cx="3805646" cy="3424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006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857250" indent="-857250">
              <a:buFont typeface="+mj-lt"/>
              <a:buAutoNum type="romanUcPeriod"/>
            </a:pPr>
            <a:r>
              <a:rPr lang="fr-FR" sz="4400" b="1" u="sng" dirty="0"/>
              <a:t>Introduction/définition :</a:t>
            </a:r>
            <a:r>
              <a:rPr lang="fr-FR" sz="4400" dirty="0"/>
              <a:t/>
            </a:r>
            <a:br>
              <a:rPr lang="fr-FR" sz="4400" dirty="0"/>
            </a:br>
            <a:endParaRPr lang="fr-FR" sz="44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fr-FR" sz="2800" cap="none" dirty="0">
                <a:latin typeface="Arial" panose="020B0604020202020204" pitchFamily="34" charset="0"/>
                <a:cs typeface="Arial" panose="020B0604020202020204" pitchFamily="34" charset="0"/>
              </a:rPr>
              <a:t>Les fonctions cognitives sont sous-tendues par les structures hémisphériques corticales et sous-corticales. </a:t>
            </a:r>
            <a:endParaRPr lang="fr-FR" sz="2800" cap="none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8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Il existe </a:t>
            </a:r>
            <a:r>
              <a:rPr lang="fr-FR" sz="2800" cap="none" dirty="0">
                <a:latin typeface="Arial" panose="020B0604020202020204" pitchFamily="34" charset="0"/>
                <a:cs typeface="Arial" panose="020B0604020202020204" pitchFamily="34" charset="0"/>
              </a:rPr>
              <a:t>une asymétrie fonctionnelle des deux hémisphères ainsi que, chez le droitier, le rôle dominant de l'hémisphère gauche pour le langage et de l'hémisphère droit pour l'exploration spatiale.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13639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 smtClean="0"/>
              <a:t>II.  Examen </a:t>
            </a:r>
            <a:r>
              <a:rPr lang="fr-FR" b="1" u="sng" dirty="0"/>
              <a:t>des fonctions cognitives :</a:t>
            </a:r>
            <a:r>
              <a:rPr lang="fr-FR" dirty="0"/>
              <a:t/>
            </a:r>
            <a:br>
              <a:rPr lang="fr-FR" dirty="0"/>
            </a:b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sz="quarter" idx="13"/>
          </p:nvPr>
        </p:nvPicPr>
        <p:blipFill rotWithShape="1">
          <a:blip r:embed="rId2"/>
          <a:srcRect l="11251" t="21116" r="29553" b="14241"/>
          <a:stretch/>
        </p:blipFill>
        <p:spPr>
          <a:xfrm>
            <a:off x="1476103" y="1894114"/>
            <a:ext cx="9170125" cy="4715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672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 smtClean="0"/>
              <a:t>II.   Examen </a:t>
            </a:r>
            <a:r>
              <a:rPr lang="fr-FR" b="1" u="sng" dirty="0"/>
              <a:t>des fonctions cognitives :</a:t>
            </a:r>
            <a:r>
              <a:rPr lang="fr-FR" dirty="0"/>
              <a:t/>
            </a:r>
            <a:br>
              <a:rPr lang="fr-FR" dirty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fr-FR" sz="28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L’analyse de ces grandes fonctions : </a:t>
            </a:r>
            <a:r>
              <a:rPr lang="fr-FR" sz="2800" b="1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MMSE</a:t>
            </a:r>
            <a:r>
              <a:rPr lang="fr-FR" sz="28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 (mini-mental state </a:t>
            </a:r>
            <a:r>
              <a:rPr lang="fr-FR" sz="2800" cap="none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examination</a:t>
            </a:r>
            <a:r>
              <a:rPr lang="fr-FR" sz="28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),</a:t>
            </a:r>
          </a:p>
          <a:p>
            <a:r>
              <a:rPr lang="fr-FR" sz="2800" cap="none" dirty="0"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fr-FR" sz="28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n test rapide : </a:t>
            </a:r>
            <a:r>
              <a:rPr lang="fr-FR" sz="2800" b="1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dépistage</a:t>
            </a:r>
            <a:r>
              <a:rPr lang="fr-FR" sz="28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 d’un dysfonctionnement cognitif ou une démence et pour </a:t>
            </a:r>
            <a:r>
              <a:rPr lang="fr-FR" sz="2800" b="1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suivre</a:t>
            </a:r>
            <a:r>
              <a:rPr lang="fr-FR" sz="28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 leur évolution.</a:t>
            </a:r>
          </a:p>
          <a:p>
            <a:r>
              <a:rPr lang="fr-FR" sz="28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L’ existence d’un trouble implique un bilan neuropsychologique plus approfondie.</a:t>
            </a:r>
          </a:p>
          <a:p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4084538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/>
              <a:t>II.   Examen des fonctions cognitives :</a:t>
            </a:r>
            <a:r>
              <a:rPr lang="fr-FR" dirty="0"/>
              <a:t/>
            </a:r>
            <a:br>
              <a:rPr lang="fr-FR" dirty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994519"/>
          </a:xfrm>
        </p:spPr>
        <p:txBody>
          <a:bodyPr>
            <a:normAutofit fontScale="85000" lnSpcReduction="20000"/>
          </a:bodyPr>
          <a:lstStyle/>
          <a:p>
            <a:r>
              <a:rPr lang="fr-FR" sz="30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L'examen des fonctions cognitives nécessite une bonne coopération du patient : cela implique que la vigilance soit préservée, que la compréhension orale ne soit pas trop perturbée et qu'il n'y ait pas d'opposition ou de troubles comportementaux trop importants.</a:t>
            </a:r>
          </a:p>
          <a:p>
            <a:endParaRPr lang="fr-FR" sz="3000" cap="none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30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On peut avoir les troubles d'une seule fonction cognitive ou à l’extrême plusieurs fonctions cognitives sont atteintes ,c’est le cas des syndromes confusionnels et démentiels.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01816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/>
              <a:t>II.   Examen des fonctions cognitives :</a:t>
            </a:r>
            <a:r>
              <a:rPr lang="fr-FR" dirty="0"/>
              <a:t/>
            </a:r>
            <a:br>
              <a:rPr lang="fr-FR" dirty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3"/>
          </p:nvPr>
        </p:nvSpPr>
        <p:spPr>
          <a:xfrm>
            <a:off x="913775" y="1815738"/>
            <a:ext cx="10363826" cy="397546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2600" b="1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A/ </a:t>
            </a:r>
            <a:r>
              <a:rPr lang="fr-FR" sz="2600" b="1" cap="none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fr-FR" sz="2600" b="1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valuation des fonctions instrumentales </a:t>
            </a:r>
          </a:p>
          <a:p>
            <a:endParaRPr lang="fr-FR" sz="2600" b="1" cap="none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sz="2600" b="1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B/ Evaluation de la mémoire </a:t>
            </a:r>
            <a:endParaRPr lang="fr-FR" sz="2600" cap="none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2600" b="1" cap="none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sz="2600" b="1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C/ </a:t>
            </a:r>
            <a:r>
              <a:rPr lang="fr-FR" sz="2600" b="1" cap="none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fr-FR" sz="2600" b="1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valuation de l’attention </a:t>
            </a:r>
          </a:p>
          <a:p>
            <a:pPr marL="0" indent="0">
              <a:buNone/>
            </a:pPr>
            <a:endParaRPr lang="fr-FR" sz="2600" b="1" cap="none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sz="2600" b="1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D/ </a:t>
            </a:r>
            <a:r>
              <a:rPr lang="fr-FR" sz="2600" b="1" cap="none" dirty="0">
                <a:latin typeface="Arial" panose="020B0604020202020204" pitchFamily="34" charset="0"/>
                <a:cs typeface="Arial" panose="020B0604020202020204" pitchFamily="34" charset="0"/>
              </a:rPr>
              <a:t>Evaluation </a:t>
            </a:r>
            <a:r>
              <a:rPr lang="fr-FR" sz="2600" b="1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des fonctions exécutives</a:t>
            </a:r>
            <a:r>
              <a:rPr lang="fr-FR" sz="2600" b="1" cap="none" smtClean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fr-FR" sz="2600" cap="none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sz="26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fr-FR" sz="2600" cap="none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fr-FR" sz="2600" cap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9913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4400" b="1" u="sng" dirty="0"/>
              <a:t>II.   Examen des fonctions cognitives :</a:t>
            </a:r>
            <a:r>
              <a:rPr lang="fr-FR" sz="4400" dirty="0"/>
              <a:t/>
            </a:r>
            <a:br>
              <a:rPr lang="fr-FR" sz="4400" dirty="0"/>
            </a:br>
            <a:r>
              <a:rPr lang="fr-FR" b="1" u="sng" cap="none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A/ Evaluation des fonctions instrumentales :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sz="quarter" idx="13"/>
          </p:nvPr>
        </p:nvPicPr>
        <p:blipFill rotWithShape="1">
          <a:blip r:embed="rId2"/>
          <a:srcRect l="12591" t="21011" r="73272" b="15128"/>
          <a:stretch/>
        </p:blipFill>
        <p:spPr>
          <a:xfrm>
            <a:off x="1267096" y="2214694"/>
            <a:ext cx="3017521" cy="4491037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5954" y="2312125"/>
            <a:ext cx="5486400" cy="4393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750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4000" b="1" u="sng" dirty="0"/>
              <a:t>II.   Examen des fonctions cognitives </a:t>
            </a:r>
            <a:r>
              <a:rPr lang="fr-FR" sz="4000" b="1" u="sng" dirty="0" smtClean="0"/>
              <a:t>:</a:t>
            </a:r>
            <a:r>
              <a:rPr lang="fr-FR" sz="4000" dirty="0"/>
              <a:t/>
            </a:r>
            <a:br>
              <a:rPr lang="fr-FR" sz="4000" dirty="0"/>
            </a:br>
            <a:r>
              <a:rPr lang="fr-FR" sz="3200" b="1" u="sng" cap="none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fr-FR" sz="3200" b="1" u="sng" cap="none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/ Evaluation des fonctions instrumentales </a:t>
            </a:r>
            <a:r>
              <a:rPr lang="fr-FR" sz="3200" b="1" u="sng" cap="none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br>
              <a:rPr lang="fr-FR" sz="3200" b="1" u="sng" cap="none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b="1" cap="none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fr-FR" b="1" cap="none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2800" b="1" cap="none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1) Le langage :</a:t>
            </a:r>
            <a:r>
              <a:rPr lang="fr-FR" sz="2800" cap="none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3"/>
          </p:nvPr>
        </p:nvSpPr>
        <p:spPr>
          <a:xfrm>
            <a:off x="678643" y="2118897"/>
            <a:ext cx="10363826" cy="4347217"/>
          </a:xfrm>
        </p:spPr>
        <p:txBody>
          <a:bodyPr>
            <a:normAutofit fontScale="85000" lnSpcReduction="20000"/>
          </a:bodyPr>
          <a:lstStyle/>
          <a:p>
            <a:pPr algn="ctr">
              <a:buFont typeface="Wingdings" panose="05000000000000000000" pitchFamily="2" charset="2"/>
              <a:buChar char="Ø"/>
            </a:pPr>
            <a:endParaRPr lang="fr-FR" sz="2600" b="1" cap="none" dirty="0" smtClean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buFont typeface="Wingdings" panose="05000000000000000000" pitchFamily="2" charset="2"/>
              <a:buChar char="Ø"/>
            </a:pPr>
            <a:r>
              <a:rPr lang="fr-FR" sz="2600" b="1" cap="none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600" b="1" cap="none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Langage oral :</a:t>
            </a:r>
            <a:endParaRPr lang="fr-FR" sz="2600" cap="none" dirty="0" smtClean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buFont typeface="Wingdings" panose="05000000000000000000" pitchFamily="2" charset="2"/>
              <a:buChar char="Ø"/>
            </a:pPr>
            <a:r>
              <a:rPr lang="fr-FR" sz="2600" b="1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 Expression :</a:t>
            </a:r>
            <a:r>
              <a:rPr lang="fr-FR" sz="26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0"/>
            <a:r>
              <a:rPr lang="fr-FR" sz="26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Langage spontané : nom, profession, </a:t>
            </a:r>
          </a:p>
          <a:p>
            <a:pPr lvl="0"/>
            <a:r>
              <a:rPr lang="fr-FR" sz="26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Répétition de mots, de phrases  </a:t>
            </a:r>
          </a:p>
          <a:p>
            <a:pPr lvl="0"/>
            <a:r>
              <a:rPr lang="fr-FR" sz="26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Formulation de séries : mois de l’année…</a:t>
            </a:r>
          </a:p>
          <a:p>
            <a:pPr lvl="0"/>
            <a:r>
              <a:rPr lang="fr-FR" sz="26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Dénomination d’objet ou d’images. </a:t>
            </a:r>
          </a:p>
          <a:p>
            <a:pPr lvl="0"/>
            <a:r>
              <a:rPr lang="fr-FR" sz="26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Description d’une image complexe.</a:t>
            </a:r>
          </a:p>
          <a:p>
            <a:pPr lvl="0"/>
            <a:r>
              <a:rPr lang="fr-FR" sz="26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Récit d’une histoire simple.</a:t>
            </a:r>
          </a:p>
          <a:p>
            <a:endParaRPr lang="fr-FR" cap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ZoneTexte 14"/>
          <p:cNvSpPr txBox="1"/>
          <p:nvPr/>
        </p:nvSpPr>
        <p:spPr>
          <a:xfrm>
            <a:off x="7280366" y="3095898"/>
            <a:ext cx="491163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fr-FR" sz="2000" b="1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Compréhension :</a:t>
            </a:r>
            <a:r>
              <a:rPr lang="fr-FR" sz="20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0"/>
            <a:endParaRPr lang="fr-FR" sz="2000" cap="none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fr-FR" sz="20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Désignation d’objets, d’images. </a:t>
            </a:r>
          </a:p>
          <a:p>
            <a:pPr lvl="0"/>
            <a:endParaRPr lang="fr-FR" sz="2000" cap="none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fr-FR" sz="20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Exécution d’ordres simples (ouvrez les yeux, fermez la bouche).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fr-FR" sz="2000" cap="none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fr-FR" sz="20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Exécution d’ordres complexes (main droite sur oreille gauche</a:t>
            </a:r>
            <a:r>
              <a:rPr lang="fr-FR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). </a:t>
            </a:r>
          </a:p>
          <a:p>
            <a:endParaRPr lang="fr-FR" cap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7683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4400" b="1" u="sng" dirty="0"/>
              <a:t>II.   Examen des fonctions cognitives :</a:t>
            </a:r>
            <a:r>
              <a:rPr lang="fr-FR" sz="4400" dirty="0"/>
              <a:t/>
            </a:r>
            <a:br>
              <a:rPr lang="fr-FR" sz="4400" dirty="0"/>
            </a:br>
            <a:r>
              <a:rPr lang="fr-FR" b="1" u="sng" cap="none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A/ Evaluation des fonctions instrumentales </a:t>
            </a:r>
            <a:r>
              <a:rPr lang="fr-FR" b="1" u="sng" cap="none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br>
              <a:rPr lang="fr-FR" b="1" u="sng" cap="none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b="1" cap="none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fr-FR" b="1" cap="none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3200" b="1" cap="none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1) Le langage :</a:t>
            </a:r>
            <a:r>
              <a:rPr lang="fr-FR" sz="3200" cap="none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/>
              <a:t/>
            </a:r>
            <a:br>
              <a:rPr lang="fr-FR" dirty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4203525"/>
          </a:xfrm>
        </p:spPr>
        <p:txBody>
          <a:bodyPr>
            <a:normAutofit/>
          </a:bodyPr>
          <a:lstStyle/>
          <a:p>
            <a:pPr lvl="0" algn="ctr">
              <a:buFont typeface="Wingdings" panose="05000000000000000000" pitchFamily="2" charset="2"/>
              <a:buChar char="Ø"/>
            </a:pPr>
            <a:r>
              <a:rPr lang="fr-FR" sz="2400" b="1" cap="none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Langage écrit </a:t>
            </a:r>
            <a:r>
              <a:rPr lang="fr-FR" sz="2400" cap="none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fr-FR" sz="2400" b="1" cap="none" dirty="0">
                <a:latin typeface="Arial" panose="020B0604020202020204" pitchFamily="34" charset="0"/>
                <a:cs typeface="Arial" panose="020B0604020202020204" pitchFamily="34" charset="0"/>
              </a:rPr>
              <a:t>Lecture :</a:t>
            </a:r>
            <a:r>
              <a:rPr lang="fr-FR" sz="2400" cap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fr-FR" sz="2400" cap="none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fr-FR" sz="24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dentification </a:t>
            </a:r>
            <a:r>
              <a:rPr lang="fr-FR" sz="2400" cap="none" dirty="0">
                <a:latin typeface="Arial" panose="020B0604020202020204" pitchFamily="34" charset="0"/>
                <a:cs typeface="Arial" panose="020B0604020202020204" pitchFamily="34" charset="0"/>
              </a:rPr>
              <a:t>de lettres, syllabes, mots </a:t>
            </a:r>
          </a:p>
          <a:p>
            <a:r>
              <a:rPr lang="fr-FR" sz="2400" cap="none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fr-FR" sz="24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ecture </a:t>
            </a:r>
            <a:r>
              <a:rPr lang="fr-FR" sz="2400" cap="none" dirty="0">
                <a:latin typeface="Arial" panose="020B0604020202020204" pitchFamily="34" charset="0"/>
                <a:cs typeface="Arial" panose="020B0604020202020204" pitchFamily="34" charset="0"/>
              </a:rPr>
              <a:t>à voix haute.</a:t>
            </a:r>
          </a:p>
          <a:p>
            <a:r>
              <a:rPr lang="fr-FR" sz="24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Exécution </a:t>
            </a:r>
            <a:r>
              <a:rPr lang="fr-FR" sz="2400" cap="none" dirty="0">
                <a:latin typeface="Arial" panose="020B0604020202020204" pitchFamily="34" charset="0"/>
                <a:cs typeface="Arial" panose="020B0604020202020204" pitchFamily="34" charset="0"/>
              </a:rPr>
              <a:t>d’ordre écrit. </a:t>
            </a:r>
          </a:p>
          <a:p>
            <a:r>
              <a:rPr lang="fr-FR" sz="24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Correspondance </a:t>
            </a:r>
            <a:r>
              <a:rPr lang="fr-FR" sz="2400" cap="none" dirty="0">
                <a:latin typeface="Arial" panose="020B0604020202020204" pitchFamily="34" charset="0"/>
                <a:cs typeface="Arial" panose="020B0604020202020204" pitchFamily="34" charset="0"/>
              </a:rPr>
              <a:t>de phrases écrites et d’action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fr-FR" sz="2400" b="1" cap="none" dirty="0">
                <a:latin typeface="Arial" panose="020B0604020202020204" pitchFamily="34" charset="0"/>
                <a:cs typeface="Arial" panose="020B0604020202020204" pitchFamily="34" charset="0"/>
              </a:rPr>
              <a:t>Ecriture : </a:t>
            </a:r>
            <a:r>
              <a:rPr lang="fr-FR" sz="2400" cap="none" dirty="0">
                <a:latin typeface="Arial" panose="020B0604020202020204" pitchFamily="34" charset="0"/>
                <a:cs typeface="Arial" panose="020B0604020202020204" pitchFamily="34" charset="0"/>
              </a:rPr>
              <a:t>spontanée, dictée, copiée.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48119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4400" b="1" u="sng" dirty="0"/>
              <a:t>II.   Examen des fonctions cognitives :</a:t>
            </a:r>
            <a:r>
              <a:rPr lang="fr-FR" sz="4400" dirty="0"/>
              <a:t/>
            </a:r>
            <a:br>
              <a:rPr lang="fr-FR" sz="4400" dirty="0"/>
            </a:br>
            <a:r>
              <a:rPr lang="fr-FR" b="1" u="sng" cap="none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A/ Evaluation des fonctions instrumentales :</a:t>
            </a:r>
            <a:br>
              <a:rPr lang="fr-FR" b="1" u="sng" cap="none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b="1" cap="none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fr-FR" b="1" cap="none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3200" b="1" cap="none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1) Le langage :</a:t>
            </a:r>
            <a:r>
              <a:rPr lang="fr-FR" sz="3200" cap="none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/>
              <a:t/>
            </a:r>
            <a:br>
              <a:rPr lang="fr-FR" dirty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4216588"/>
          </a:xfrm>
        </p:spPr>
        <p:txBody>
          <a:bodyPr>
            <a:normAutofit fontScale="77500" lnSpcReduction="20000"/>
          </a:bodyPr>
          <a:lstStyle/>
          <a:p>
            <a:pPr lvl="0" algn="ctr">
              <a:buFont typeface="Wingdings" panose="05000000000000000000" pitchFamily="2" charset="2"/>
              <a:buChar char="Ø"/>
            </a:pPr>
            <a:r>
              <a:rPr lang="fr-FR" sz="3000" b="1" cap="none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Les principaux troubles du langage :</a:t>
            </a:r>
            <a:endParaRPr lang="fr-FR" sz="3000" cap="none" dirty="0" smtClean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buFont typeface="Wingdings" panose="05000000000000000000" pitchFamily="2" charset="2"/>
              <a:buChar char="Ø"/>
            </a:pPr>
            <a:r>
              <a:rPr lang="fr-FR" sz="2800" b="1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 L’aphasie</a:t>
            </a:r>
            <a:r>
              <a:rPr lang="fr-FR" sz="28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 : trouble de l’expression et de la compréhension du langage secondaire à une lésion cérébrale focale en dehors de tout état démentiel, déficit sensoriel ou anomalies de l’appareil phonatoire.</a:t>
            </a:r>
          </a:p>
          <a:p>
            <a:pPr lvl="0"/>
            <a:r>
              <a:rPr lang="fr-FR" sz="2800" b="1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Aphasie de </a:t>
            </a:r>
            <a:r>
              <a:rPr lang="fr-FR" sz="2800" b="1" cap="none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fr-FR" sz="2800" b="1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ernicke</a:t>
            </a:r>
            <a:r>
              <a:rPr lang="fr-FR" sz="28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 : aphasie </a:t>
            </a:r>
            <a:r>
              <a:rPr lang="fr-FR" sz="2800" b="1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sensorielle </a:t>
            </a:r>
            <a:r>
              <a:rPr lang="fr-FR" sz="28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: Le langage spontané est abondant (</a:t>
            </a:r>
            <a:r>
              <a:rPr lang="fr-FR" sz="2800" cap="none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paraphrasies</a:t>
            </a:r>
            <a:r>
              <a:rPr lang="fr-FR" sz="28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 sémantiques, néologismes), La </a:t>
            </a:r>
            <a:r>
              <a:rPr lang="fr-FR" sz="2800" b="1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compréhension est totalement perturbée</a:t>
            </a:r>
            <a:r>
              <a:rPr lang="fr-FR" sz="28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, le malade n'a pas conscience de son trouble (anosognosie). « Ne comprend pas mais parle». </a:t>
            </a:r>
            <a:endParaRPr lang="fr-FR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fr-FR" sz="2800" b="1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Aphasie de </a:t>
            </a:r>
            <a:r>
              <a:rPr lang="fr-FR" sz="2800" b="1" cap="none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fr-FR" sz="2800" b="1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roca</a:t>
            </a:r>
            <a:r>
              <a:rPr lang="fr-FR" sz="28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 : aphasie</a:t>
            </a:r>
            <a:r>
              <a:rPr lang="fr-FR" sz="2800" b="1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 motrice, </a:t>
            </a:r>
            <a:r>
              <a:rPr lang="fr-FR" sz="28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c’est un trouble de l’expression, Le malade parle peu, avec hésitation, le langage spontané est pauvre. Le malade est conscient de son trouble.</a:t>
            </a:r>
            <a:r>
              <a:rPr lang="fr-FR" sz="2800" dirty="0" smtClean="0"/>
              <a:t> «</a:t>
            </a:r>
            <a:r>
              <a:rPr lang="fr-FR" sz="28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Ne parle pas mais comprend». </a:t>
            </a:r>
          </a:p>
          <a:p>
            <a:endParaRPr lang="fr-FR" sz="2800" dirty="0" smtClean="0"/>
          </a:p>
          <a:p>
            <a:pPr lvl="0"/>
            <a:endParaRPr lang="fr-FR" sz="2800" cap="none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fr-FR" cap="none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fr-FR" cap="none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cap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3285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4400" b="1" u="sng" dirty="0"/>
              <a:t>II.   Examen des fonctions cognitives :</a:t>
            </a:r>
            <a:r>
              <a:rPr lang="fr-FR" sz="4400" dirty="0"/>
              <a:t/>
            </a:r>
            <a:br>
              <a:rPr lang="fr-FR" sz="4400" dirty="0"/>
            </a:br>
            <a:r>
              <a:rPr lang="fr-FR" b="1" u="sng" cap="none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A/ Evaluation des fonctions instrumentales :</a:t>
            </a:r>
            <a:br>
              <a:rPr lang="fr-FR" b="1" u="sng" cap="none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b="1" cap="none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fr-FR" b="1" cap="none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3200" b="1" cap="none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2) Les praxies :</a:t>
            </a:r>
            <a:r>
              <a:rPr lang="fr-FR" sz="3200" cap="none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4203525"/>
          </a:xfrm>
        </p:spPr>
        <p:txBody>
          <a:bodyPr>
            <a:normAutofit fontScale="6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sz="3400" b="1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les praxies</a:t>
            </a:r>
            <a:r>
              <a:rPr lang="fr-FR" sz="34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 sont les fonctions qui régulent l'exécution des gestes à un niveau élaboré. Pour l’évaluer :</a:t>
            </a:r>
          </a:p>
          <a:p>
            <a:pPr marL="0" indent="0">
              <a:buNone/>
            </a:pPr>
            <a:r>
              <a:rPr lang="fr-FR" sz="34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- Demandez au patient d’exécuter une tache donnée, </a:t>
            </a:r>
          </a:p>
          <a:p>
            <a:pPr marL="0" indent="0">
              <a:buNone/>
            </a:pPr>
            <a:r>
              <a:rPr lang="fr-FR" sz="34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- Demandez le de reproduire votre propre mouvement,</a:t>
            </a:r>
          </a:p>
          <a:p>
            <a:pPr marL="0" indent="0">
              <a:buNone/>
            </a:pPr>
            <a:r>
              <a:rPr lang="fr-FR" sz="34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- Donnez-lui un objet ( par exemple  un stylo) demandez-lui d’en mimer l’usage,</a:t>
            </a:r>
          </a:p>
          <a:p>
            <a:pPr>
              <a:buFontTx/>
              <a:buChar char="-"/>
            </a:pPr>
            <a:r>
              <a:rPr lang="fr-FR" sz="34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On peut ensuite se livrer à une évaluation d’une série plus complexe.</a:t>
            </a:r>
          </a:p>
          <a:p>
            <a:pPr marL="0" indent="0">
              <a:buNone/>
            </a:pPr>
            <a:endParaRPr lang="fr-FR" sz="3400" cap="none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fr-FR" sz="3400" b="1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L’apraxie</a:t>
            </a:r>
            <a:r>
              <a:rPr lang="fr-FR" sz="34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 : un </a:t>
            </a:r>
            <a:r>
              <a:rPr lang="fr-FR" sz="3400" cap="none" dirty="0">
                <a:latin typeface="Arial" panose="020B0604020202020204" pitchFamily="34" charset="0"/>
                <a:cs typeface="Arial" panose="020B0604020202020204" pitchFamily="34" charset="0"/>
              </a:rPr>
              <a:t>trouble de la réalisation du geste en l'absence de déficit sensitivomoteur, de trouble de la coordination, de trouble de la compréhension ou de la reconnaissance, et de déficit intellectuel important</a:t>
            </a:r>
            <a:r>
              <a:rPr lang="fr-FR" sz="2400" cap="none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fr-FR" sz="24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</a:p>
        </p:txBody>
      </p:sp>
    </p:spTree>
    <p:extLst>
      <p:ext uri="{BB962C8B-B14F-4D97-AF65-F5344CB8AC3E}">
        <p14:creationId xmlns:p14="http://schemas.microsoft.com/office/powerpoint/2010/main" val="39940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4400" b="1" u="sng" dirty="0"/>
              <a:t>II.   Examen des fonctions cognitives :</a:t>
            </a:r>
            <a:r>
              <a:rPr lang="fr-FR" sz="4400" dirty="0"/>
              <a:t/>
            </a:r>
            <a:br>
              <a:rPr lang="fr-FR" sz="4400" dirty="0"/>
            </a:br>
            <a:r>
              <a:rPr lang="fr-FR" b="1" u="sng" cap="none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A/ Evaluation des fonctions instrumentales :</a:t>
            </a:r>
            <a:br>
              <a:rPr lang="fr-FR" b="1" u="sng" cap="none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b="1" cap="none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fr-FR" b="1" cap="none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3200" b="1" cap="none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3) Les gnosies </a:t>
            </a:r>
            <a:r>
              <a:rPr lang="fr-FR" sz="3200" b="1" cap="none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fr-FR" sz="3200" cap="none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/>
              <a:t/>
            </a:r>
            <a:br>
              <a:rPr lang="fr-FR" dirty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4242714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800" b="1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Les </a:t>
            </a:r>
            <a:r>
              <a:rPr lang="fr-FR" sz="2800" b="1" cap="none" dirty="0">
                <a:latin typeface="Arial" panose="020B0604020202020204" pitchFamily="34" charset="0"/>
                <a:cs typeface="Arial" panose="020B0604020202020204" pitchFamily="34" charset="0"/>
              </a:rPr>
              <a:t>gnosies</a:t>
            </a:r>
            <a:r>
              <a:rPr lang="fr-FR" sz="2800" cap="none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fr-FR" sz="28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réfèrent </a:t>
            </a:r>
            <a:r>
              <a:rPr lang="fr-FR" sz="2800" cap="none" dirty="0">
                <a:latin typeface="Arial" panose="020B0604020202020204" pitchFamily="34" charset="0"/>
                <a:cs typeface="Arial" panose="020B0604020202020204" pitchFamily="34" charset="0"/>
              </a:rPr>
              <a:t>à la capacité à percevoir un objet grâce à nos différents sens, puis à le reconnaître, on distingue </a:t>
            </a:r>
            <a:r>
              <a:rPr lang="fr-FR" sz="28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endParaRPr lang="fr-FR" sz="2800" cap="non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fr-FR" sz="2800" cap="none" dirty="0">
                <a:latin typeface="Arial" panose="020B0604020202020204" pitchFamily="34" charset="0"/>
                <a:cs typeface="Arial" panose="020B0604020202020204" pitchFamily="34" charset="0"/>
              </a:rPr>
              <a:t>Les gnosies visuelles : reconnaissances des objets, des visages, des lettres.</a:t>
            </a:r>
          </a:p>
          <a:p>
            <a:pPr lvl="0"/>
            <a:r>
              <a:rPr lang="fr-FR" sz="2800" cap="none" dirty="0">
                <a:latin typeface="Arial" panose="020B0604020202020204" pitchFamily="34" charset="0"/>
                <a:cs typeface="Arial" panose="020B0604020202020204" pitchFamily="34" charset="0"/>
              </a:rPr>
              <a:t>Les gnosies auditives : reconnaissances des sons, bruits, </a:t>
            </a:r>
            <a:r>
              <a:rPr lang="fr-FR" sz="28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musique,</a:t>
            </a:r>
            <a:endParaRPr lang="fr-FR" sz="2800" cap="non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fr-FR" sz="2800" cap="none" dirty="0">
                <a:latin typeface="Arial" panose="020B0604020202020204" pitchFamily="34" charset="0"/>
                <a:cs typeface="Arial" panose="020B0604020202020204" pitchFamily="34" charset="0"/>
              </a:rPr>
              <a:t>Les gnosies tactiles : reconnaissances des objets : texture, taille, poids,</a:t>
            </a:r>
          </a:p>
          <a:p>
            <a:pPr lvl="0"/>
            <a:r>
              <a:rPr lang="fr-FR" sz="2800" cap="none" dirty="0">
                <a:latin typeface="Arial" panose="020B0604020202020204" pitchFamily="34" charset="0"/>
                <a:cs typeface="Arial" panose="020B0604020202020204" pitchFamily="34" charset="0"/>
              </a:rPr>
              <a:t>Les gnosies olfactives et gustatives, qui impliquent l’odorat et le goût. </a:t>
            </a:r>
          </a:p>
          <a:p>
            <a:pPr lvl="0"/>
            <a:r>
              <a:rPr lang="fr-FR" sz="2800" cap="none" dirty="0">
                <a:latin typeface="Arial" panose="020B0604020202020204" pitchFamily="34" charset="0"/>
                <a:cs typeface="Arial" panose="020B0604020202020204" pitchFamily="34" charset="0"/>
              </a:rPr>
              <a:t>Le schéma corporel, c’est à dire la représentation mentale du corps dans son ensemble, ainsi que ses différentes parties</a:t>
            </a:r>
          </a:p>
          <a:p>
            <a:pPr marL="0" indent="0">
              <a:buNone/>
            </a:pPr>
            <a:r>
              <a:rPr lang="fr-FR" dirty="0"/>
              <a:t> 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41822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4400" b="1" u="sng" dirty="0"/>
              <a:t>II.   Examen des fonctions cognitives :</a:t>
            </a:r>
            <a:r>
              <a:rPr lang="fr-FR" sz="4400" dirty="0"/>
              <a:t/>
            </a:r>
            <a:br>
              <a:rPr lang="fr-FR" sz="4400" dirty="0"/>
            </a:br>
            <a:r>
              <a:rPr lang="fr-FR" b="1" u="sng" cap="none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A/ Evaluation des fonctions instrumentales :</a:t>
            </a:r>
            <a:br>
              <a:rPr lang="fr-FR" b="1" u="sng" cap="none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b="1" cap="none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fr-FR" b="1" cap="none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3200" b="1" cap="none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3) Les gnosies :</a:t>
            </a:r>
            <a:r>
              <a:rPr lang="fr-FR" sz="3200" cap="none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/>
              <a:t/>
            </a:r>
            <a:br>
              <a:rPr lang="fr-FR" dirty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916142"/>
          </a:xfrm>
        </p:spPr>
        <p:txBody>
          <a:bodyPr>
            <a:normAutofit fontScale="85000" lnSpcReduction="10000"/>
          </a:bodyPr>
          <a:lstStyle/>
          <a:p>
            <a:pPr lvl="0">
              <a:buFont typeface="Wingdings" panose="05000000000000000000" pitchFamily="2" charset="2"/>
              <a:buChar char="Ø"/>
            </a:pPr>
            <a:r>
              <a:rPr lang="fr-FR" sz="2600" b="1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 Les agnosies</a:t>
            </a:r>
            <a:r>
              <a:rPr lang="fr-FR" sz="26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 sont des troubles de la reconnaissance des objets connus et familiers survenant pour une modalité sensorielle donnée en l’absence de troubles visuels, auditifs ou sensitifs élémentaires, exemples :</a:t>
            </a:r>
          </a:p>
          <a:p>
            <a:pPr lvl="0">
              <a:buFont typeface="Wingdings" panose="05000000000000000000" pitchFamily="2" charset="2"/>
              <a:buChar char="Ø"/>
            </a:pPr>
            <a:endParaRPr lang="fr-FR" sz="2600" cap="none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fr-FR" sz="26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Agnosie visuelle : agnosie des visages (prosopagnosie), </a:t>
            </a:r>
          </a:p>
          <a:p>
            <a:pPr lvl="0"/>
            <a:r>
              <a:rPr lang="fr-FR" sz="26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Agnosie des couleurs (</a:t>
            </a:r>
            <a:r>
              <a:rPr lang="fr-FR" sz="2600" cap="none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achromatognosie</a:t>
            </a:r>
            <a:r>
              <a:rPr lang="fr-FR" sz="26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). </a:t>
            </a:r>
          </a:p>
          <a:p>
            <a:pPr lvl="0"/>
            <a:r>
              <a:rPr lang="fr-FR" sz="26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Agnosie auditive ( </a:t>
            </a:r>
            <a:r>
              <a:rPr lang="fr-FR" sz="2600" cap="none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phonagnosie</a:t>
            </a:r>
            <a:r>
              <a:rPr lang="fr-FR" sz="26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), </a:t>
            </a:r>
          </a:p>
          <a:p>
            <a:pPr lvl="0"/>
            <a:r>
              <a:rPr lang="fr-FR" sz="2600" cap="none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Autotopoagnosie</a:t>
            </a:r>
            <a:r>
              <a:rPr lang="fr-FR" sz="26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: affecte la capacité à reconnaitre les parties de son corps.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1714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4400" b="1" u="sng" dirty="0"/>
              <a:t>II.   Examen des fonctions cognitives :</a:t>
            </a:r>
            <a:r>
              <a:rPr lang="fr-FR" sz="4400" dirty="0"/>
              <a:t/>
            </a:r>
            <a:br>
              <a:rPr lang="fr-FR" sz="4400" dirty="0"/>
            </a:br>
            <a:r>
              <a:rPr lang="fr-FR" b="1" u="sng" cap="none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A/ Evaluation des fonctions instrumentales :</a:t>
            </a:r>
            <a:br>
              <a:rPr lang="fr-FR" b="1" u="sng" cap="none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b="1" cap="none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fr-FR" b="1" cap="none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3200" b="1" cap="none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fr-FR" sz="3200" b="1" u="sng" cap="none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fr-FR" sz="3200" b="1" u="sng" cap="none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les fonctions </a:t>
            </a:r>
            <a:r>
              <a:rPr lang="fr-FR" sz="3200" b="1" u="sng" cap="none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visuo</a:t>
            </a:r>
            <a:r>
              <a:rPr lang="fr-FR" sz="3200" b="1" u="sng" cap="none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-spatiales : </a:t>
            </a:r>
            <a:r>
              <a:rPr lang="fr-FR" sz="3200" cap="none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fr-FR" sz="3200" cap="none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3200" b="1" cap="none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fr-FR" sz="28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L’analyse visuelle et spatiale nous permettent de: </a:t>
            </a:r>
          </a:p>
          <a:p>
            <a:r>
              <a:rPr lang="fr-FR" sz="28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800" cap="none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fr-FR" sz="28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’orienter dans l’espace </a:t>
            </a:r>
          </a:p>
          <a:p>
            <a:r>
              <a:rPr lang="fr-FR" sz="2800" cap="none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fr-FR" sz="28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ien percevoir les objets qui nous entourent selon leur orientation (gauche-droite, vertical, horizontal, …),  ou leur distance (par rapport à nous ou à un autre objet).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14958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/>
              <a:t>II.   Examen des fonctions cognitives :</a:t>
            </a:r>
            <a:r>
              <a:rPr lang="fr-FR" dirty="0"/>
              <a:t/>
            </a:r>
            <a:br>
              <a:rPr lang="fr-FR" dirty="0"/>
            </a:br>
            <a:r>
              <a:rPr lang="fr-FR" b="1" u="sng" cap="none" dirty="0">
                <a:solidFill>
                  <a:schemeClr val="accent1">
                    <a:lumMod val="75000"/>
                  </a:schemeClr>
                </a:solidFill>
              </a:rPr>
              <a:t>B/Evaluation de la mémoire</a:t>
            </a:r>
            <a:r>
              <a:rPr lang="fr-FR" b="1" cap="none" dirty="0">
                <a:solidFill>
                  <a:schemeClr val="accent1">
                    <a:lumMod val="75000"/>
                  </a:schemeClr>
                </a:solidFill>
              </a:rPr>
              <a:t> :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sz="quarter" idx="13"/>
          </p:nvPr>
        </p:nvPicPr>
        <p:blipFill rotWithShape="1">
          <a:blip r:embed="rId2"/>
          <a:srcRect l="40849" t="20906" r="44138" b="15259"/>
          <a:stretch/>
        </p:blipFill>
        <p:spPr>
          <a:xfrm>
            <a:off x="913775" y="2214694"/>
            <a:ext cx="2665448" cy="4159980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2214694"/>
            <a:ext cx="4994366" cy="4159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257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/>
              <a:t>II.   Examen des fonctions cognitives :</a:t>
            </a:r>
            <a:r>
              <a:rPr lang="fr-FR" dirty="0"/>
              <a:t/>
            </a:r>
            <a:br>
              <a:rPr lang="fr-FR" dirty="0"/>
            </a:br>
            <a:r>
              <a:rPr lang="fr-FR" b="1" u="sng" cap="none" dirty="0" smtClean="0">
                <a:solidFill>
                  <a:schemeClr val="accent1">
                    <a:lumMod val="75000"/>
                  </a:schemeClr>
                </a:solidFill>
              </a:rPr>
              <a:t>B/</a:t>
            </a:r>
            <a:r>
              <a:rPr lang="fr-FR" b="1" u="sng" cap="none" dirty="0">
                <a:solidFill>
                  <a:schemeClr val="accent1">
                    <a:lumMod val="75000"/>
                  </a:schemeClr>
                </a:solidFill>
              </a:rPr>
              <a:t>E</a:t>
            </a:r>
            <a:r>
              <a:rPr lang="fr-FR" b="1" u="sng" cap="none" dirty="0" smtClean="0">
                <a:solidFill>
                  <a:schemeClr val="accent1">
                    <a:lumMod val="75000"/>
                  </a:schemeClr>
                </a:solidFill>
              </a:rPr>
              <a:t>valuation de la mémoire</a:t>
            </a:r>
            <a:r>
              <a:rPr lang="fr-FR" b="1" cap="none" dirty="0" smtClean="0">
                <a:solidFill>
                  <a:schemeClr val="accent1">
                    <a:lumMod val="75000"/>
                  </a:schemeClr>
                </a:solidFill>
              </a:rPr>
              <a:t> :</a:t>
            </a:r>
            <a:r>
              <a:rPr lang="fr-FR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fr-FR" dirty="0"/>
              <a:t/>
            </a:r>
            <a:br>
              <a:rPr lang="fr-FR" dirty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903079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sz="28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 La mémoire est un processus d’enregistrement de l’information, on distingue :</a:t>
            </a:r>
          </a:p>
          <a:p>
            <a:pPr lvl="0"/>
            <a:r>
              <a:rPr lang="fr-FR" sz="2800" b="1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La mémoire récente ou à court terme</a:t>
            </a:r>
            <a:r>
              <a:rPr lang="fr-FR" sz="28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 porte sur les minutes, des heures ou des jours, évaluer en demandant au patient les événements du jour. </a:t>
            </a:r>
          </a:p>
          <a:p>
            <a:pPr lvl="0"/>
            <a:r>
              <a:rPr lang="fr-FR" sz="2800" b="1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La mémoire lointaine ou à long terme</a:t>
            </a:r>
            <a:r>
              <a:rPr lang="fr-FR" sz="28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 porte sur des années, évaluée en demandant les dates d’anniversaires, de numéro de sécurité sociale, écoles, emplois,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66322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/>
              <a:t>II.   Examen des fonctions cognitives :</a:t>
            </a:r>
            <a:r>
              <a:rPr lang="fr-FR" dirty="0"/>
              <a:t/>
            </a:r>
            <a:br>
              <a:rPr lang="fr-FR" dirty="0"/>
            </a:br>
            <a:r>
              <a:rPr lang="fr-FR" b="1" u="sng" cap="none" dirty="0">
                <a:solidFill>
                  <a:schemeClr val="accent1">
                    <a:lumMod val="75000"/>
                  </a:schemeClr>
                </a:solidFill>
              </a:rPr>
              <a:t>B/Evaluation de la mémoire</a:t>
            </a:r>
            <a:r>
              <a:rPr lang="fr-FR" b="1" cap="none" dirty="0">
                <a:solidFill>
                  <a:schemeClr val="accent1">
                    <a:lumMod val="75000"/>
                  </a:schemeClr>
                </a:solidFill>
              </a:rPr>
              <a:t> :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942268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sz="26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Les principaux troubles de mémoire :</a:t>
            </a:r>
          </a:p>
          <a:p>
            <a:pPr lvl="0"/>
            <a:r>
              <a:rPr lang="fr-FR" sz="2600" b="1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Amnésie antérograde</a:t>
            </a:r>
            <a:r>
              <a:rPr lang="fr-FR" sz="26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: impossibilité de fixation de souvenirs nouveaux alors que les données de l’enfance sont conservées, accompagnée de désorientation temporo-spatiale et anosognosie (méconnaissance du trouble), vue au cours de la démence et le délire. </a:t>
            </a:r>
          </a:p>
          <a:p>
            <a:pPr lvl="0"/>
            <a:r>
              <a:rPr lang="fr-FR" sz="2600" b="1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Amnésie rétrograde:</a:t>
            </a:r>
            <a:r>
              <a:rPr lang="fr-FR" sz="26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 oubli pourtant sur les événements du patients qui précèdent l’épisode pathologique, vue au cours des stades avancés de la démence. </a:t>
            </a:r>
          </a:p>
          <a:p>
            <a:pPr lvl="0"/>
            <a:r>
              <a:rPr lang="fr-FR" sz="2600" b="1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Amnésie lacunaire:</a:t>
            </a:r>
            <a:r>
              <a:rPr lang="fr-FR" sz="26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 amnésie focale dans les souvenirs du patient, vue au cours des traumatismes crâniens ( trou de mémoire).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27513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/>
              <a:t>II.   Examen des fonctions cognitives :</a:t>
            </a:r>
            <a:r>
              <a:rPr lang="fr-FR" dirty="0"/>
              <a:t/>
            </a:r>
            <a:br>
              <a:rPr lang="fr-FR" dirty="0"/>
            </a:br>
            <a:r>
              <a:rPr lang="fr-FR" sz="3200" b="1" u="sng" cap="none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C/ Evaluation de l’attention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sz="quarter" idx="13"/>
          </p:nvPr>
        </p:nvPicPr>
        <p:blipFill rotWithShape="1">
          <a:blip r:embed="rId2"/>
          <a:srcRect l="26753" t="20328" r="58134" b="14241"/>
          <a:stretch/>
        </p:blipFill>
        <p:spPr>
          <a:xfrm>
            <a:off x="913775" y="2214694"/>
            <a:ext cx="2939143" cy="4140925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1562" y="2084066"/>
            <a:ext cx="5502049" cy="414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581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/>
              <a:t>II.   Examen des fonctions cognitives :</a:t>
            </a:r>
            <a:r>
              <a:rPr lang="fr-FR" dirty="0"/>
              <a:t/>
            </a:r>
            <a:br>
              <a:rPr lang="fr-FR" dirty="0"/>
            </a:br>
            <a:r>
              <a:rPr lang="fr-FR" sz="3200" b="1" u="sng" cap="none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C/ Evaluation de </a:t>
            </a:r>
            <a:r>
              <a:rPr lang="fr-FR" sz="3200" b="1" u="sng" cap="none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l’attention</a:t>
            </a:r>
            <a:endParaRPr lang="fr-FR" sz="3200" u="sng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4308028"/>
          </a:xfrm>
        </p:spPr>
        <p:txBody>
          <a:bodyPr>
            <a:normAutofit fontScale="550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sz="40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  l’attention se rapporte à la capacité d’être réceptif à son environnement. On peut identifier plusieurs types dont :</a:t>
            </a:r>
          </a:p>
          <a:p>
            <a:pPr lvl="0"/>
            <a:r>
              <a:rPr lang="fr-FR" sz="4000" b="1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L’attention sélective</a:t>
            </a:r>
            <a:r>
              <a:rPr lang="fr-FR" sz="40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 qui permet de concentrer son attention sur quelque chose ou une idée tout en ignorant les distractions présentes dans l’environnement.</a:t>
            </a:r>
          </a:p>
          <a:p>
            <a:pPr lvl="0"/>
            <a:r>
              <a:rPr lang="fr-FR" sz="4000" b="1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L’attention soutenue</a:t>
            </a:r>
            <a:r>
              <a:rPr lang="fr-FR" sz="40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, une forme d’attention qui nous autorise à maintenir notre concentration sur quelque chose pendant une durée déterminée.</a:t>
            </a:r>
          </a:p>
          <a:p>
            <a:pPr lvl="0"/>
            <a:r>
              <a:rPr lang="fr-FR" sz="4000" b="1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L’attention partagée </a:t>
            </a:r>
            <a:r>
              <a:rPr lang="fr-FR" sz="40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qui fait référence à la capacité à accomplir deux tâches simultanément ou de porter une attention simultanée à plusieurs éléments d’une même tâche.</a:t>
            </a:r>
          </a:p>
          <a:p>
            <a:pPr lvl="0"/>
            <a:r>
              <a:rPr lang="fr-FR" sz="4000" b="1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L’attention alternée</a:t>
            </a:r>
            <a:r>
              <a:rPr lang="fr-FR" sz="40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 quand il s’agit de se focaliser de manière alternée sur différents éléments de l’environnement.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35730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/>
              <a:t>II.   Examen des fonctions cognitives :</a:t>
            </a:r>
            <a:r>
              <a:rPr lang="fr-FR" dirty="0"/>
              <a:t/>
            </a:r>
            <a:br>
              <a:rPr lang="fr-FR" dirty="0"/>
            </a:br>
            <a:r>
              <a:rPr lang="fr-FR" b="1" u="sng" cap="none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D/ Evaluation des fonctions exécutives</a:t>
            </a:r>
            <a:r>
              <a:rPr lang="fr-FR" cap="none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: 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sz="quarter" idx="13"/>
          </p:nvPr>
        </p:nvPicPr>
        <p:blipFill rotWithShape="1">
          <a:blip r:embed="rId2"/>
          <a:srcRect l="55453" t="20870" r="29692" b="14488"/>
          <a:stretch/>
        </p:blipFill>
        <p:spPr>
          <a:xfrm>
            <a:off x="913775" y="2366963"/>
            <a:ext cx="2664823" cy="4321220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4492" y="2366963"/>
            <a:ext cx="5129485" cy="4321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646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/>
              <a:t>II.   Examen des fonctions cognitives :</a:t>
            </a:r>
            <a:r>
              <a:rPr lang="fr-FR" dirty="0"/>
              <a:t/>
            </a:r>
            <a:br>
              <a:rPr lang="fr-FR" dirty="0"/>
            </a:br>
            <a:r>
              <a:rPr lang="fr-FR" sz="3200" b="1" u="sng" cap="none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D/ Evaluation </a:t>
            </a:r>
            <a:r>
              <a:rPr lang="fr-FR" sz="3200" b="1" u="sng" cap="none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 fonctions exécutives</a:t>
            </a:r>
            <a:r>
              <a:rPr lang="fr-FR" sz="3200" cap="none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: </a:t>
            </a:r>
            <a:endParaRPr lang="fr-FR" sz="3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fr-FR" sz="2400" cap="none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fr-FR" sz="24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es fonctions exécutives : désignent un ensemble de processus cognitifs plus complexes nous permettant de nous adapter à des situations nouvelles ou complexes.</a:t>
            </a:r>
          </a:p>
          <a:p>
            <a:r>
              <a:rPr lang="fr-FR" sz="24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 Elles ont pour objectif de coordonner efficacement les autres fonctions cognitives, un peu comme un rôle de chef d’orchestre</a:t>
            </a:r>
          </a:p>
          <a:p>
            <a:r>
              <a:rPr lang="fr-FR" sz="24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Elles sont essentielles pour déduire, planifier, initier, coordonner et raisonner.   </a:t>
            </a:r>
          </a:p>
          <a:p>
            <a:pPr marL="0" indent="0">
              <a:buNone/>
            </a:pPr>
            <a:endParaRPr lang="fr-FR" sz="2400" cap="none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06905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/>
              <a:t>II.   Examen des fonctions cognitives :</a:t>
            </a:r>
            <a:r>
              <a:rPr lang="fr-FR" dirty="0"/>
              <a:t/>
            </a:r>
            <a:br>
              <a:rPr lang="fr-FR" dirty="0"/>
            </a:br>
            <a:r>
              <a:rPr lang="fr-FR" b="1" u="sng" cap="none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D/ Evaluation des fonctions exécutives</a:t>
            </a:r>
            <a:r>
              <a:rPr lang="fr-FR" cap="none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: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3"/>
          </p:nvPr>
        </p:nvSpPr>
        <p:spPr>
          <a:xfrm>
            <a:off x="913774" y="2214694"/>
            <a:ext cx="11182432" cy="4643306"/>
          </a:xfrm>
        </p:spPr>
        <p:txBody>
          <a:bodyPr>
            <a:normAutofit fontScale="25000" lnSpcReduction="20000"/>
          </a:bodyPr>
          <a:lstStyle/>
          <a:p>
            <a:pPr lvl="0"/>
            <a:endParaRPr lang="fr-FR" sz="2800" cap="none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fr-FR" sz="8000" cap="none" dirty="0">
                <a:latin typeface="Arial" panose="020B0604020202020204" pitchFamily="34" charset="0"/>
                <a:cs typeface="Arial" panose="020B0604020202020204" pitchFamily="34" charset="0"/>
              </a:rPr>
              <a:t>Parmi les différentes composantes des fonctions </a:t>
            </a:r>
            <a:r>
              <a:rPr lang="fr-FR" sz="80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exécutives :</a:t>
            </a:r>
          </a:p>
          <a:p>
            <a:pPr lvl="0"/>
            <a:r>
              <a:rPr lang="fr-FR" sz="80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La </a:t>
            </a:r>
            <a:r>
              <a:rPr lang="fr-FR" sz="8000" b="1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planification</a:t>
            </a:r>
            <a:r>
              <a:rPr lang="fr-FR" sz="80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, c’est-à-dire la capacité à établir des objectifs, à concevoir des plans d’action par étapes pour les atteindre et à choisir le plus approprié en anticipant les conséquences.</a:t>
            </a:r>
          </a:p>
          <a:p>
            <a:pPr lvl="0"/>
            <a:r>
              <a:rPr lang="fr-FR" sz="80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L’</a:t>
            </a:r>
            <a:r>
              <a:rPr lang="fr-FR" sz="8000" b="1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analyse</a:t>
            </a:r>
            <a:r>
              <a:rPr lang="fr-FR" sz="80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, qui est l’aptitude à comparer des résultats, à élaborer des conclusions, et à établir des relations abstraites.</a:t>
            </a:r>
          </a:p>
          <a:p>
            <a:pPr lvl="0"/>
            <a:r>
              <a:rPr lang="fr-FR" sz="80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La </a:t>
            </a:r>
            <a:r>
              <a:rPr lang="fr-FR" sz="8000" b="1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flexibilité</a:t>
            </a:r>
            <a:r>
              <a:rPr lang="fr-FR" sz="80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, qui permet de s’adapter et de changer d’approche en fonction des circonstances.</a:t>
            </a:r>
          </a:p>
          <a:p>
            <a:pPr lvl="0"/>
            <a:r>
              <a:rPr lang="fr-FR" sz="80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L’</a:t>
            </a:r>
            <a:r>
              <a:rPr lang="fr-FR" sz="8000" b="1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inhibition</a:t>
            </a:r>
            <a:r>
              <a:rPr lang="fr-FR" sz="80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, qui est la faculté d’ignorer les impulsions ou les informations secondaires, tant internes qu’externes, lors de l’exécution d’une tâche.</a:t>
            </a:r>
          </a:p>
          <a:p>
            <a:pPr lvl="0"/>
            <a:r>
              <a:rPr lang="fr-FR" sz="80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La </a:t>
            </a:r>
            <a:r>
              <a:rPr lang="fr-FR" sz="8000" b="1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prise de décisions</a:t>
            </a:r>
            <a:r>
              <a:rPr lang="fr-FR" sz="80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, grâce à laquelle nous pouvons choisir de manière appropriée après avoir évalué différentes options disponibles, en tenant compte de leurs résultats et conséquences possibles.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10687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 rotWithShape="1">
          <a:blip r:embed="rId2"/>
          <a:srcRect l="29653" t="7767" r="30790" b="10625"/>
          <a:stretch/>
        </p:blipFill>
        <p:spPr>
          <a:xfrm>
            <a:off x="913774" y="313509"/>
            <a:ext cx="5669906" cy="6348548"/>
          </a:xfrm>
          <a:prstGeom prst="rect">
            <a:avLst/>
          </a:prstGeom>
        </p:spPr>
      </p:pic>
      <p:sp>
        <p:nvSpPr>
          <p:cNvPr id="10" name="Espace réservé du contenu 9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11" name="ZoneTexte 10"/>
          <p:cNvSpPr txBox="1"/>
          <p:nvPr/>
        </p:nvSpPr>
        <p:spPr>
          <a:xfrm>
            <a:off x="6988629" y="2808514"/>
            <a:ext cx="401029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MMSE</a:t>
            </a:r>
            <a:r>
              <a:rPr lang="fr-FR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 (mini-mental state </a:t>
            </a:r>
            <a:r>
              <a:rPr lang="fr-FR" cap="none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examination</a:t>
            </a:r>
            <a:r>
              <a:rPr lang="fr-FR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),</a:t>
            </a:r>
          </a:p>
          <a:p>
            <a:r>
              <a:rPr lang="fr-FR" dirty="0" smtClean="0"/>
              <a:t>Le </a:t>
            </a:r>
            <a:r>
              <a:rPr lang="fr-FR" dirty="0"/>
              <a:t>score final sur 30 points est interprété selon la sévérité des troubles suggérés : 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fr-FR" b="1" dirty="0"/>
              <a:t>27 - 30 :</a:t>
            </a:r>
            <a:r>
              <a:rPr lang="fr-FR" dirty="0"/>
              <a:t> Résultat normal (ou troubles très légers).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fr-FR" b="1" dirty="0"/>
              <a:t>21 - 26 :</a:t>
            </a:r>
            <a:r>
              <a:rPr lang="fr-FR" dirty="0"/>
              <a:t> Troubles cognitifs légers (évocateurs d'un début de démence).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fr-FR" b="1" dirty="0"/>
              <a:t>11 - 20 :</a:t>
            </a:r>
            <a:r>
              <a:rPr lang="fr-FR" dirty="0"/>
              <a:t> Atteinte modérée.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fr-FR" b="1" dirty="0"/>
              <a:t>0 - 10 :</a:t>
            </a:r>
            <a:r>
              <a:rPr lang="fr-FR" dirty="0"/>
              <a:t> Atteinte sévère. </a:t>
            </a:r>
          </a:p>
        </p:txBody>
      </p:sp>
    </p:spTree>
    <p:extLst>
      <p:ext uri="{BB962C8B-B14F-4D97-AF65-F5344CB8AC3E}">
        <p14:creationId xmlns:p14="http://schemas.microsoft.com/office/powerpoint/2010/main" val="1382055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i="1" u="sng" dirty="0"/>
              <a:t>Bibliographie :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FR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- J </a:t>
            </a:r>
            <a:r>
              <a:rPr lang="fr-FR" cap="none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alastair</a:t>
            </a:r>
            <a:r>
              <a:rPr lang="fr-FR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cap="none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innes</a:t>
            </a:r>
            <a:r>
              <a:rPr lang="fr-FR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FR" cap="none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anna</a:t>
            </a:r>
            <a:r>
              <a:rPr lang="fr-FR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 R </a:t>
            </a:r>
            <a:r>
              <a:rPr lang="fr-FR" cap="none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dover</a:t>
            </a:r>
            <a:r>
              <a:rPr lang="fr-FR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, karen </a:t>
            </a:r>
            <a:r>
              <a:rPr lang="fr-FR" cap="none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fairhurst</a:t>
            </a:r>
            <a:r>
              <a:rPr lang="fr-FR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fr-FR" cap="none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Macleod’s</a:t>
            </a:r>
            <a:r>
              <a:rPr lang="fr-FR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 examen clinique et sémiologie : </a:t>
            </a:r>
            <a:r>
              <a:rPr lang="fr-FR" cap="none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elservier</a:t>
            </a:r>
            <a:r>
              <a:rPr lang="fr-FR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cap="none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masson</a:t>
            </a:r>
            <a:r>
              <a:rPr lang="fr-FR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 SAS ; 2019.</a:t>
            </a:r>
          </a:p>
          <a:p>
            <a:pPr marL="0" indent="0">
              <a:buNone/>
            </a:pPr>
            <a:r>
              <a:rPr lang="fr-FR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- Mieux comprendre les fonctions cognitives, rédaction collaborative entre : l’équipe du c’</a:t>
            </a:r>
            <a:r>
              <a:rPr lang="fr-FR" cap="none" dirty="0" err="1" smtClean="0">
                <a:latin typeface="Arial" panose="020B0604020202020204" pitchFamily="34" charset="0"/>
                <a:cs typeface="Arial" panose="020B0604020202020204" pitchFamily="34" charset="0"/>
              </a:rPr>
              <a:t>jaad</a:t>
            </a:r>
            <a:r>
              <a:rPr lang="fr-FR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fr-FR" cap="none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ghu</a:t>
            </a:r>
            <a:r>
              <a:rPr lang="fr-FR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 paris psychiatrie et neurosciences), le c2rb (</a:t>
            </a:r>
            <a:r>
              <a:rPr lang="fr-FR" cap="none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ch</a:t>
            </a:r>
            <a:r>
              <a:rPr lang="fr-FR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 la chartreuse, </a:t>
            </a:r>
            <a:r>
              <a:rPr lang="fr-FR" cap="none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dijon</a:t>
            </a:r>
            <a:r>
              <a:rPr lang="fr-FR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) et le </a:t>
            </a:r>
            <a:r>
              <a:rPr lang="fr-FR" cap="none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chru</a:t>
            </a:r>
            <a:r>
              <a:rPr lang="fr-FR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fr-FR" cap="none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strasbourg</a:t>
            </a:r>
            <a:r>
              <a:rPr lang="fr-FR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, réalisé en 2024, </a:t>
            </a:r>
            <a:r>
              <a:rPr lang="fr-FR" cap="none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batcognition.Pdf</a:t>
            </a:r>
            <a:r>
              <a:rPr lang="fr-FR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buNone/>
            </a:pPr>
            <a:r>
              <a:rPr lang="fr-FR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fr-FR" cap="none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laura</a:t>
            </a:r>
            <a:r>
              <a:rPr lang="fr-FR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 bon, </a:t>
            </a:r>
            <a:r>
              <a:rPr lang="fr-FR" cap="none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amélie</a:t>
            </a:r>
            <a:r>
              <a:rPr lang="fr-FR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cap="none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pavard</a:t>
            </a:r>
            <a:r>
              <a:rPr lang="fr-FR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, évaluation des fonctions </a:t>
            </a:r>
            <a:r>
              <a:rPr lang="fr-FR" cap="none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cognitives,mars</a:t>
            </a:r>
            <a:r>
              <a:rPr lang="fr-FR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 2022, </a:t>
            </a:r>
            <a:r>
              <a:rPr lang="fr-FR" cap="none" dirty="0" err="1" smtClean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fonctions_cognitives.Pdf</a:t>
            </a:r>
            <a:endParaRPr lang="fr-FR" cap="none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- Olivier </a:t>
            </a:r>
            <a:r>
              <a:rPr lang="en-US" cap="none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godefroy</a:t>
            </a:r>
            <a:r>
              <a:rPr lang="en-US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US" cap="none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mathieu</a:t>
            </a:r>
            <a:r>
              <a:rPr lang="en-US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cap="none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ceccald</a:t>
            </a:r>
            <a:r>
              <a:rPr lang="fr-FR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: cen-neurologie.Frla-semiologie-neurologique-et-ses-bases-anatomofonctionnelles/chapitre-10-semiologie-des-fonctions-cognitives-et-du-comportement</a:t>
            </a:r>
            <a:endParaRPr lang="fr-FR" cap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06869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fr-FR" sz="6000" b="1" i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MERCI POUR VOTRE ATTENTION </a:t>
            </a:r>
            <a:endParaRPr lang="fr-FR" sz="6000" b="1" i="1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50141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onds dans l’eau">
  <a:themeElements>
    <a:clrScheme name="Ronds dans l’eau">
      <a:dk1>
        <a:sysClr val="windowText" lastClr="000000"/>
      </a:dk1>
      <a:lt1>
        <a:sysClr val="window" lastClr="FFFFFF"/>
      </a:lt1>
      <a:dk2>
        <a:srgbClr val="27537E"/>
      </a:dk2>
      <a:lt2>
        <a:srgbClr val="AABED7"/>
      </a:lt2>
      <a:accent1>
        <a:srgbClr val="E34B7A"/>
      </a:accent1>
      <a:accent2>
        <a:srgbClr val="AC339A"/>
      </a:accent2>
      <a:accent3>
        <a:srgbClr val="6953B7"/>
      </a:accent3>
      <a:accent4>
        <a:srgbClr val="1D7EAB"/>
      </a:accent4>
      <a:accent5>
        <a:srgbClr val="43AFD6"/>
      </a:accent5>
      <a:accent6>
        <a:srgbClr val="DE85E1"/>
      </a:accent6>
      <a:hlink>
        <a:srgbClr val="ED87A6"/>
      </a:hlink>
      <a:folHlink>
        <a:srgbClr val="C99EAC"/>
      </a:folHlink>
    </a:clrScheme>
    <a:fontScheme name="Ronds dans l’eau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onds dans l’eau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8000"/>
                <a:shade val="100000"/>
                <a:hueMod val="136000"/>
                <a:satMod val="160000"/>
                <a:lumMod val="105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C71B277C-C29A-4BA0-A7BA-43502DF21AB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TM04033925[[fn=Ronds dans l’eau]]</Template>
  <TotalTime>6489</TotalTime>
  <Words>1080</Words>
  <Application>Microsoft Office PowerPoint</Application>
  <PresentationFormat>Grand écran</PresentationFormat>
  <Paragraphs>158</Paragraphs>
  <Slides>29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29</vt:i4>
      </vt:variant>
    </vt:vector>
  </HeadingPairs>
  <TitlesOfParts>
    <vt:vector size="33" baseType="lpstr">
      <vt:lpstr>Arial</vt:lpstr>
      <vt:lpstr>Tw Cen MT</vt:lpstr>
      <vt:lpstr>Wingdings</vt:lpstr>
      <vt:lpstr>Ronds dans l’eau</vt:lpstr>
      <vt:lpstr>Examen des fonctions superieurs</vt:lpstr>
      <vt:lpstr> Objectifs pédagogique : </vt:lpstr>
      <vt:lpstr>Plan du cours :  </vt:lpstr>
      <vt:lpstr>Introduction/définition : </vt:lpstr>
      <vt:lpstr>Introduction/définition : </vt:lpstr>
      <vt:lpstr>Introduction/définition : </vt:lpstr>
      <vt:lpstr>II.  Examen des fonctions cognitives : </vt:lpstr>
      <vt:lpstr>II.   Examen des fonctions cognitives : </vt:lpstr>
      <vt:lpstr>II.   Examen des fonctions cognitives : </vt:lpstr>
      <vt:lpstr>II.   Examen des fonctions cognitives : </vt:lpstr>
      <vt:lpstr>II.   Examen des fonctions cognitives : A/ Evaluation des fonctions instrumentales :</vt:lpstr>
      <vt:lpstr>II.   Examen des fonctions cognitives : A/ Evaluation des fonctions instrumentales :  1) Le langage : </vt:lpstr>
      <vt:lpstr>II.   Examen des fonctions cognitives : A/ Evaluation des fonctions instrumentales :  1) Le langage :  </vt:lpstr>
      <vt:lpstr>II.   Examen des fonctions cognitives : A/ Evaluation des fonctions instrumentales :  1) Le langage :  </vt:lpstr>
      <vt:lpstr>II.   Examen des fonctions cognitives : A/ Evaluation des fonctions instrumentales :  2) Les praxies : </vt:lpstr>
      <vt:lpstr>II.   Examen des fonctions cognitives : A/ Evaluation des fonctions instrumentales :  3) Les gnosies :  </vt:lpstr>
      <vt:lpstr>II.   Examen des fonctions cognitives : A/ Evaluation des fonctions instrumentales :  3) Les gnosies :  </vt:lpstr>
      <vt:lpstr>II.   Examen des fonctions cognitives : A/ Evaluation des fonctions instrumentales :  4) les fonctions visuo-spatiales :   </vt:lpstr>
      <vt:lpstr>II.   Examen des fonctions cognitives : B/Evaluation de la mémoire :</vt:lpstr>
      <vt:lpstr>II.   Examen des fonctions cognitives : B/Evaluation de la mémoire :  </vt:lpstr>
      <vt:lpstr>II.   Examen des fonctions cognitives : B/Evaluation de la mémoire :</vt:lpstr>
      <vt:lpstr>II.   Examen des fonctions cognitives : C/ Evaluation de l’attention</vt:lpstr>
      <vt:lpstr>II.   Examen des fonctions cognitives : C/ Evaluation de l’attention</vt:lpstr>
      <vt:lpstr>II.   Examen des fonctions cognitives : D/ Evaluation des fonctions exécutives : </vt:lpstr>
      <vt:lpstr>II.   Examen des fonctions cognitives : D/ Evaluation des fonctions exécutives : </vt:lpstr>
      <vt:lpstr>II.   Examen des fonctions cognitives : D/ Evaluation des fonctions exécutives : </vt:lpstr>
      <vt:lpstr>Présentation PowerPoint</vt:lpstr>
      <vt:lpstr>Bibliographie :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Examen des fonctions superieurs</dc:title>
  <dc:creator>pc</dc:creator>
  <cp:lastModifiedBy>pc</cp:lastModifiedBy>
  <cp:revision>37</cp:revision>
  <dcterms:created xsi:type="dcterms:W3CDTF">2026-01-17T05:57:57Z</dcterms:created>
  <dcterms:modified xsi:type="dcterms:W3CDTF">2026-01-24T10:19:30Z</dcterms:modified>
</cp:coreProperties>
</file>