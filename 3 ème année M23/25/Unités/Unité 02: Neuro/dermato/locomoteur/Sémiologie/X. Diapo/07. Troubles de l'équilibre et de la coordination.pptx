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85" r:id="rId5"/>
    <p:sldId id="286" r:id="rId6"/>
    <p:sldId id="260" r:id="rId7"/>
    <p:sldId id="261" r:id="rId8"/>
    <p:sldId id="287" r:id="rId9"/>
    <p:sldId id="262" r:id="rId10"/>
    <p:sldId id="263" r:id="rId11"/>
    <p:sldId id="288" r:id="rId12"/>
    <p:sldId id="289" r:id="rId13"/>
    <p:sldId id="264" r:id="rId14"/>
    <p:sldId id="290" r:id="rId15"/>
    <p:sldId id="291" r:id="rId16"/>
    <p:sldId id="265" r:id="rId17"/>
    <p:sldId id="292" r:id="rId18"/>
    <p:sldId id="266" r:id="rId19"/>
    <p:sldId id="267" r:id="rId20"/>
    <p:sldId id="268" r:id="rId21"/>
    <p:sldId id="269" r:id="rId22"/>
    <p:sldId id="270" r:id="rId23"/>
    <p:sldId id="271" r:id="rId24"/>
    <p:sldId id="272" r:id="rId25"/>
    <p:sldId id="293" r:id="rId26"/>
    <p:sldId id="273" r:id="rId27"/>
    <p:sldId id="274" r:id="rId28"/>
    <p:sldId id="275" r:id="rId29"/>
    <p:sldId id="276" r:id="rId30"/>
    <p:sldId id="277" r:id="rId31"/>
    <p:sldId id="295" r:id="rId32"/>
    <p:sldId id="278" r:id="rId33"/>
    <p:sldId id="279" r:id="rId34"/>
    <p:sldId id="280" r:id="rId35"/>
    <p:sldId id="281" r:id="rId36"/>
    <p:sldId id="282" r:id="rId37"/>
    <p:sldId id="283" r:id="rId38"/>
    <p:sldId id="284" r:id="rId3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9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B689B8-A079-4F52-A57D-F454D7BB91C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1BDA55B-8E19-4849-B22E-BE99F8ACDA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A5E061A-2526-45E1-B580-FF94B2877B52}"/>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5" name="Espace réservé du pied de page 4">
            <a:extLst>
              <a:ext uri="{FF2B5EF4-FFF2-40B4-BE49-F238E27FC236}">
                <a16:creationId xmlns:a16="http://schemas.microsoft.com/office/drawing/2014/main" id="{FFD4CC83-FE8E-49C0-BF3E-26BE6D9C843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C2AB308-10B3-42B7-8DC0-59532CC30474}"/>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2881830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7EA494-2D91-4470-AEAC-82C4B107ECC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DE0CA5E-9922-406C-B639-A068F2AFFB8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88D29EF-192C-4E62-8F1B-542D3D4B2321}"/>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5" name="Espace réservé du pied de page 4">
            <a:extLst>
              <a:ext uri="{FF2B5EF4-FFF2-40B4-BE49-F238E27FC236}">
                <a16:creationId xmlns:a16="http://schemas.microsoft.com/office/drawing/2014/main" id="{6F3F857C-034B-4044-8D59-6BF3A0E8C8E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0B7B1BC-8315-4627-BE6D-66925A9E24A7}"/>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3768445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237F3B-852C-46B0-BC2B-8C229C0B376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BBFE530-8A73-4C9D-9D1A-7977C3C306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751A7A1-8B5F-4A8E-A78C-F13CE2689D45}"/>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5" name="Espace réservé du pied de page 4">
            <a:extLst>
              <a:ext uri="{FF2B5EF4-FFF2-40B4-BE49-F238E27FC236}">
                <a16:creationId xmlns:a16="http://schemas.microsoft.com/office/drawing/2014/main" id="{DB5DB8C7-E46B-4F42-A773-BDE9A42BE80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557EF7-45CF-4958-9082-4DFAA8FD6B31}"/>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844933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15A20D-AC1A-444D-9FF8-6DFF0306160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4F625DA-CB30-454F-8B4C-28A51B39F0E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B49DC56-1FDC-452B-8EC5-A523D5F9600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D65B8E5-C1E2-451A-B686-C48314153E88}"/>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6" name="Espace réservé du pied de page 5">
            <a:extLst>
              <a:ext uri="{FF2B5EF4-FFF2-40B4-BE49-F238E27FC236}">
                <a16:creationId xmlns:a16="http://schemas.microsoft.com/office/drawing/2014/main" id="{E116269E-D6EA-4A9A-A01E-C99791220A1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1B43B3C-898E-4C5B-BB7D-085ED10249EF}"/>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131283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8D4110-CAD3-45F1-A7EF-4E566C6F41B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C96DCCD-503D-4E61-8071-BF686EB5EA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A291535-F7DE-4A7D-9EA2-ED4CD359781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1080A5C-8CAC-464E-BE88-6782D6A01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922A2A0-0447-4CF0-8CC2-DA3FAEB9C60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A94ED30-BF16-4E0D-A108-0277A3EBEC54}"/>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8" name="Espace réservé du pied de page 7">
            <a:extLst>
              <a:ext uri="{FF2B5EF4-FFF2-40B4-BE49-F238E27FC236}">
                <a16:creationId xmlns:a16="http://schemas.microsoft.com/office/drawing/2014/main" id="{500BE8EF-D312-471F-B7D1-46D94F9E34A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E1CA3F5-D797-43E0-B0C4-F86952E65246}"/>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3823964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E43246-9802-4644-8385-E117D80E9B9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25C0CC1-3E81-46E0-A671-892652BB7E73}"/>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4" name="Espace réservé du pied de page 3">
            <a:extLst>
              <a:ext uri="{FF2B5EF4-FFF2-40B4-BE49-F238E27FC236}">
                <a16:creationId xmlns:a16="http://schemas.microsoft.com/office/drawing/2014/main" id="{A14CAC3B-5804-4E00-AFC9-37E6A215660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A73201B0-0298-4670-804E-3E202712D1D1}"/>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1130945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AA55A03-AE06-4413-81D0-B7F6022530D7}"/>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3" name="Espace réservé du pied de page 2">
            <a:extLst>
              <a:ext uri="{FF2B5EF4-FFF2-40B4-BE49-F238E27FC236}">
                <a16:creationId xmlns:a16="http://schemas.microsoft.com/office/drawing/2014/main" id="{A23A8E37-F59E-4123-93B5-83BEBC40A4C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920F033-69CA-4D60-A648-528B3EF14D3D}"/>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4147162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3AE271-AAB4-4581-BA14-FD69D5C2CD9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8AF9C2C-B11A-4327-9D9D-44DB14C083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671BC26-B5B3-4AD2-B0E0-8B4E8D005D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C045A7F-A930-4AA8-8279-385AE4F6E1FD}"/>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6" name="Espace réservé du pied de page 5">
            <a:extLst>
              <a:ext uri="{FF2B5EF4-FFF2-40B4-BE49-F238E27FC236}">
                <a16:creationId xmlns:a16="http://schemas.microsoft.com/office/drawing/2014/main" id="{BAC448D8-A0F6-4F60-B2D8-C3AC9FB4411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003B39F-F68E-499B-906B-68BBA0DC2F71}"/>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2545425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3FCF6C-98E2-4217-9AD7-9188D624E91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4E2A02C-781E-4BF2-B609-D7F8E5C5D6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BFDABF8-A08B-451F-B38D-933944545A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983E06-ECCD-40FB-8411-FEA2AE0A5DBE}"/>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6" name="Espace réservé du pied de page 5">
            <a:extLst>
              <a:ext uri="{FF2B5EF4-FFF2-40B4-BE49-F238E27FC236}">
                <a16:creationId xmlns:a16="http://schemas.microsoft.com/office/drawing/2014/main" id="{551FC7E5-1625-4F6A-AE7D-1C9C6201F3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DE8A20C-8C3F-40EF-8FB0-E52109E2D6B4}"/>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49908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A6EB44-0436-465C-8D2D-E1283571EE9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2A55E65-27F0-42D5-B71C-076D2E1410D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574B03F-DE9F-41B0-A526-F3B1848CB2FB}"/>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5" name="Espace réservé du pied de page 4">
            <a:extLst>
              <a:ext uri="{FF2B5EF4-FFF2-40B4-BE49-F238E27FC236}">
                <a16:creationId xmlns:a16="http://schemas.microsoft.com/office/drawing/2014/main" id="{93887073-0A8B-4DA9-BFF4-D3043433D1D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0AC806F-8126-486B-A3A3-C92FDBFDFC07}"/>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1606262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2863539-CBF4-4AB0-B642-F6EE79BAC3B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A24DBBB-90B3-485F-AF18-ADA66E3D746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B39B803-A8CA-4507-A16C-9624B90BB9BF}"/>
              </a:ext>
            </a:extLst>
          </p:cNvPr>
          <p:cNvSpPr>
            <a:spLocks noGrp="1"/>
          </p:cNvSpPr>
          <p:nvPr>
            <p:ph type="dt" sz="half" idx="10"/>
          </p:nvPr>
        </p:nvSpPr>
        <p:spPr/>
        <p:txBody>
          <a:bodyPr/>
          <a:lstStyle/>
          <a:p>
            <a:fld id="{FF0360FA-EC3D-456C-9AB0-75DBE93D1470}" type="datetimeFigureOut">
              <a:rPr lang="fr-FR" smtClean="0"/>
              <a:t>14/01/2026</a:t>
            </a:fld>
            <a:endParaRPr lang="fr-FR"/>
          </a:p>
        </p:txBody>
      </p:sp>
      <p:sp>
        <p:nvSpPr>
          <p:cNvPr id="5" name="Espace réservé du pied de page 4">
            <a:extLst>
              <a:ext uri="{FF2B5EF4-FFF2-40B4-BE49-F238E27FC236}">
                <a16:creationId xmlns:a16="http://schemas.microsoft.com/office/drawing/2014/main" id="{1EDBEB33-4392-4944-993E-2E054E4500E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5F607A9-4EB9-417E-9561-381A8A2146F4}"/>
              </a:ext>
            </a:extLst>
          </p:cNvPr>
          <p:cNvSpPr>
            <a:spLocks noGrp="1"/>
          </p:cNvSpPr>
          <p:nvPr>
            <p:ph type="sldNum" sz="quarter" idx="12"/>
          </p:nvPr>
        </p:nvSpPr>
        <p:spPr/>
        <p:txBody>
          <a:bodyPr/>
          <a:lstStyle/>
          <a:p>
            <a:fld id="{57826528-1E9B-4B2E-8B9F-BC133BDC0C3E}" type="slidenum">
              <a:rPr lang="fr-FR" smtClean="0"/>
              <a:t>‹#›</a:t>
            </a:fld>
            <a:endParaRPr lang="fr-FR"/>
          </a:p>
        </p:txBody>
      </p:sp>
    </p:spTree>
    <p:extLst>
      <p:ext uri="{BB962C8B-B14F-4D97-AF65-F5344CB8AC3E}">
        <p14:creationId xmlns:p14="http://schemas.microsoft.com/office/powerpoint/2010/main" val="1597582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43635D9-3902-499B-B516-DD4230A101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85C81F3-92E3-4E61-B0F3-E0D898A93B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0E7A684-DD11-480B-A3E5-EE0944B368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0360FA-EC3D-456C-9AB0-75DBE93D1470}" type="datetimeFigureOut">
              <a:rPr lang="fr-FR" smtClean="0"/>
              <a:t>14/01/2026</a:t>
            </a:fld>
            <a:endParaRPr lang="fr-FR"/>
          </a:p>
        </p:txBody>
      </p:sp>
      <p:sp>
        <p:nvSpPr>
          <p:cNvPr id="5" name="Espace réservé du pied de page 4">
            <a:extLst>
              <a:ext uri="{FF2B5EF4-FFF2-40B4-BE49-F238E27FC236}">
                <a16:creationId xmlns:a16="http://schemas.microsoft.com/office/drawing/2014/main" id="{3D473CEE-C76F-4A3C-9674-F4AF7F8D0E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0261895-50C4-48C6-A0DB-488995BE54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826528-1E9B-4B2E-8B9F-BC133BDC0C3E}" type="slidenum">
              <a:rPr lang="fr-FR" smtClean="0"/>
              <a:t>‹#›</a:t>
            </a:fld>
            <a:endParaRPr lang="fr-FR"/>
          </a:p>
        </p:txBody>
      </p:sp>
    </p:spTree>
    <p:extLst>
      <p:ext uri="{BB962C8B-B14F-4D97-AF65-F5344CB8AC3E}">
        <p14:creationId xmlns:p14="http://schemas.microsoft.com/office/powerpoint/2010/main" val="610221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image" Target="../media/image11.jpeg" /><Relationship Id="rId1" Type="http://schemas.openxmlformats.org/officeDocument/2006/relationships/slideLayout" Target="../slideLayouts/slideLayout2.xml" /><Relationship Id="rId4" Type="http://schemas.openxmlformats.org/officeDocument/2006/relationships/image" Target="../media/image13.jpeg" /></Relationships>
</file>

<file path=ppt/slides/_rels/slide16.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19.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E39BD6-1A6D-4DF1-84A7-4D5C34695620}"/>
              </a:ext>
            </a:extLst>
          </p:cNvPr>
          <p:cNvSpPr>
            <a:spLocks noGrp="1"/>
          </p:cNvSpPr>
          <p:nvPr>
            <p:ph type="ctrTitle"/>
          </p:nvPr>
        </p:nvSpPr>
        <p:spPr>
          <a:xfrm>
            <a:off x="1581150" y="3171825"/>
            <a:ext cx="9029700" cy="1309130"/>
          </a:xfrm>
          <a:solidFill>
            <a:schemeClr val="accent4">
              <a:lumMod val="20000"/>
              <a:lumOff val="80000"/>
            </a:schemeClr>
          </a:solidFill>
          <a:ln>
            <a:solidFill>
              <a:schemeClr val="accent1"/>
            </a:solidFill>
          </a:ln>
        </p:spPr>
        <p:txBody>
          <a:bodyPr>
            <a:normAutofit fontScale="90000"/>
          </a:bodyPr>
          <a:lstStyle/>
          <a:p>
            <a:pPr marL="0" marR="0" algn="l">
              <a:lnSpc>
                <a:spcPct val="107000"/>
              </a:lnSpc>
              <a:spcBef>
                <a:spcPts val="0"/>
              </a:spcBef>
              <a:spcAft>
                <a:spcPts val="0"/>
              </a:spcAft>
            </a:pPr>
            <a:r>
              <a:rPr lang="fr-FR" sz="1800" b="1" dirty="0">
                <a:effectLst/>
                <a:latin typeface="Times New Roman" panose="02020603050405020304" pitchFamily="18" charset="0"/>
                <a:ea typeface="Calibri" panose="020F0502020204030204" pitchFamily="34" charset="0"/>
                <a:cs typeface="Arial" panose="020B0604020202020204" pitchFamily="34" charset="0"/>
              </a:rPr>
              <a:t>Cours : </a:t>
            </a:r>
            <a:r>
              <a:rPr lang="fr-FR" sz="1800" b="1" dirty="0">
                <a:latin typeface="Times New Roman" panose="02020603050405020304" pitchFamily="18" charset="0"/>
                <a:ea typeface="Calibri" panose="020F0502020204030204" pitchFamily="34" charset="0"/>
                <a:cs typeface="Arial" panose="020B0604020202020204" pitchFamily="34" charset="0"/>
              </a:rPr>
              <a:t>sémiologie neurologique</a:t>
            </a:r>
            <a:br>
              <a:rPr lang="fr-FR" sz="1800" dirty="0">
                <a:effectLst/>
                <a:latin typeface="Calibri" panose="020F0502020204030204" pitchFamily="34" charset="0"/>
                <a:ea typeface="Calibri" panose="020F0502020204030204" pitchFamily="34" charset="0"/>
                <a:cs typeface="Arial" panose="020B0604020202020204" pitchFamily="34" charset="0"/>
              </a:rPr>
            </a:br>
            <a:r>
              <a:rPr lang="fr-FR" sz="1800" b="1" u="none" strike="noStrike" dirty="0">
                <a:effectLst/>
                <a:latin typeface="Times New Roman" panose="02020603050405020304" pitchFamily="18" charset="0"/>
                <a:ea typeface="Calibri" panose="020F0502020204030204" pitchFamily="34" charset="0"/>
                <a:cs typeface="Arial" panose="020B0604020202020204" pitchFamily="34" charset="0"/>
              </a:rPr>
              <a:t> </a:t>
            </a:r>
            <a:br>
              <a:rPr lang="fr-FR" sz="1800" dirty="0">
                <a:effectLst/>
                <a:latin typeface="Calibri" panose="020F0502020204030204" pitchFamily="34" charset="0"/>
                <a:ea typeface="Calibri" panose="020F0502020204030204" pitchFamily="34" charset="0"/>
                <a:cs typeface="Arial" panose="020B0604020202020204" pitchFamily="34" charset="0"/>
              </a:rPr>
            </a:b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36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L</a:t>
            </a:r>
            <a:r>
              <a:rPr lang="fr-FR" sz="3600"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es </a:t>
            </a:r>
            <a:r>
              <a:rPr lang="fr-FR" sz="36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troubles de l’équilibre et la coordination</a:t>
            </a:r>
            <a:r>
              <a:rPr lang="fr-FR" sz="3600"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 </a:t>
            </a:r>
            <a:br>
              <a:rPr lang="fr-FR" sz="3600"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br>
            <a:br>
              <a:rPr lang="fr-FR" sz="1800" dirty="0">
                <a:effectLst/>
                <a:latin typeface="Calibri" panose="020F0502020204030204" pitchFamily="34" charset="0"/>
                <a:ea typeface="Calibri" panose="020F0502020204030204" pitchFamily="34" charset="0"/>
                <a:cs typeface="Arial" panose="020B0604020202020204" pitchFamily="34" charset="0"/>
              </a:rPr>
            </a:br>
            <a:r>
              <a:rPr lang="fr-FR" sz="1800" b="1" u="none" strike="noStrike" dirty="0">
                <a:effectLst/>
                <a:latin typeface="Times New Roman" panose="02020603050405020304" pitchFamily="18" charset="0"/>
                <a:ea typeface="Calibri" panose="020F0502020204030204" pitchFamily="34" charset="0"/>
                <a:cs typeface="Arial" panose="020B0604020202020204" pitchFamily="34" charset="0"/>
              </a:rPr>
              <a:t> </a:t>
            </a:r>
            <a:endParaRPr lang="fr-FR" dirty="0"/>
          </a:p>
        </p:txBody>
      </p:sp>
      <p:sp>
        <p:nvSpPr>
          <p:cNvPr id="3" name="Sous-titre 2">
            <a:extLst>
              <a:ext uri="{FF2B5EF4-FFF2-40B4-BE49-F238E27FC236}">
                <a16:creationId xmlns:a16="http://schemas.microsoft.com/office/drawing/2014/main" id="{E674F02F-4AF1-41A7-93BD-F417CD238334}"/>
              </a:ext>
            </a:extLst>
          </p:cNvPr>
          <p:cNvSpPr>
            <a:spLocks noGrp="1"/>
          </p:cNvSpPr>
          <p:nvPr>
            <p:ph type="subTitle" idx="1"/>
          </p:nvPr>
        </p:nvSpPr>
        <p:spPr>
          <a:xfrm>
            <a:off x="1871664" y="4480955"/>
            <a:ext cx="9029700" cy="723309"/>
          </a:xfrm>
        </p:spPr>
        <p:txBody>
          <a:bodyPr>
            <a:normAutofit/>
          </a:bodyPr>
          <a:lstStyle/>
          <a:p>
            <a:pPr algn="l"/>
            <a:r>
              <a:rPr lang="fr-FR" sz="1800" b="1"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a:t>
            </a:r>
            <a:r>
              <a:rPr lang="fr-FR" sz="2000" b="1"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Dr Yazid Chettibi</a:t>
            </a:r>
            <a:br>
              <a:rPr lang="fr-FR" sz="1800" b="1"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fr-FR" sz="1800" b="1" dirty="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fr-FR" sz="1800" b="1"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Maitre-assistant en Médecine Interne- HMRUC</a:t>
            </a:r>
            <a:endParaRPr lang="fr-FR" b="1" dirty="0">
              <a:solidFill>
                <a:schemeClr val="tx1"/>
              </a:solidFill>
            </a:endParaRPr>
          </a:p>
        </p:txBody>
      </p:sp>
      <p:sp>
        <p:nvSpPr>
          <p:cNvPr id="4" name="ZoneTexte 3">
            <a:extLst>
              <a:ext uri="{FF2B5EF4-FFF2-40B4-BE49-F238E27FC236}">
                <a16:creationId xmlns:a16="http://schemas.microsoft.com/office/drawing/2014/main" id="{0B20F8E0-89DA-41F9-8339-76E6021C9D44}"/>
              </a:ext>
            </a:extLst>
          </p:cNvPr>
          <p:cNvSpPr txBox="1"/>
          <p:nvPr/>
        </p:nvSpPr>
        <p:spPr>
          <a:xfrm>
            <a:off x="5543550" y="5554916"/>
            <a:ext cx="2028825" cy="400110"/>
          </a:xfrm>
          <a:prstGeom prst="rect">
            <a:avLst/>
          </a:prstGeom>
          <a:noFill/>
        </p:spPr>
        <p:txBody>
          <a:bodyPr wrap="square" rtlCol="0">
            <a:spAutoFit/>
          </a:bodyPr>
          <a:lstStyle/>
          <a:p>
            <a:r>
              <a:rPr lang="fr-FR" sz="2000" b="1" dirty="0">
                <a:latin typeface="Times New Roman" panose="02020603050405020304" pitchFamily="18" charset="0"/>
                <a:ea typeface="Calibri" panose="020F0502020204030204" pitchFamily="34" charset="0"/>
                <a:cs typeface="Arial" panose="020B0604020202020204" pitchFamily="34" charset="0"/>
              </a:rPr>
              <a:t>202</a:t>
            </a:r>
            <a:r>
              <a:rPr lang="ar-SA" sz="2000" b="1" dirty="0">
                <a:latin typeface="Times New Roman" panose="02020603050405020304" pitchFamily="18" charset="0"/>
                <a:ea typeface="Calibri" panose="020F0502020204030204" pitchFamily="34" charset="0"/>
                <a:cs typeface="Arial" panose="020B0604020202020204" pitchFamily="34" charset="0"/>
              </a:rPr>
              <a:t>4</a:t>
            </a:r>
            <a:r>
              <a:rPr lang="fr-FR" sz="2000" b="1" dirty="0">
                <a:latin typeface="Times New Roman" panose="02020603050405020304" pitchFamily="18" charset="0"/>
                <a:ea typeface="Calibri" panose="020F0502020204030204" pitchFamily="34" charset="0"/>
                <a:cs typeface="Arial" panose="020B0604020202020204" pitchFamily="34" charset="0"/>
              </a:rPr>
              <a:t>-202</a:t>
            </a:r>
            <a:r>
              <a:rPr lang="ar-SA" sz="2000" b="1" dirty="0">
                <a:latin typeface="Times New Roman" panose="02020603050405020304" pitchFamily="18" charset="0"/>
                <a:ea typeface="Calibri" panose="020F0502020204030204" pitchFamily="34" charset="0"/>
                <a:cs typeface="Arial" panose="020B0604020202020204" pitchFamily="34" charset="0"/>
              </a:rPr>
              <a:t>5</a:t>
            </a:r>
            <a:endParaRPr lang="fr-FR" sz="2000" b="1" dirty="0">
              <a:latin typeface="Times New Roman" panose="02020603050405020304" pitchFamily="18" charset="0"/>
              <a:ea typeface="Calibri" panose="020F0502020204030204" pitchFamily="34" charset="0"/>
              <a:cs typeface="Arial" panose="020B0604020202020204" pitchFamily="34" charset="0"/>
            </a:endParaRPr>
          </a:p>
        </p:txBody>
      </p:sp>
      <p:pic>
        <p:nvPicPr>
          <p:cNvPr id="6" name="Image 5">
            <a:extLst>
              <a:ext uri="{FF2B5EF4-FFF2-40B4-BE49-F238E27FC236}">
                <a16:creationId xmlns:a16="http://schemas.microsoft.com/office/drawing/2014/main" id="{6C23AB83-900B-4AD8-91C8-AEC788615242}"/>
              </a:ext>
            </a:extLst>
          </p:cNvPr>
          <p:cNvPicPr>
            <a:picLocks noChangeAspect="1"/>
          </p:cNvPicPr>
          <p:nvPr/>
        </p:nvPicPr>
        <p:blipFill>
          <a:blip r:embed="rId2"/>
          <a:stretch>
            <a:fillRect/>
          </a:stretch>
        </p:blipFill>
        <p:spPr>
          <a:xfrm>
            <a:off x="8459237" y="131415"/>
            <a:ext cx="3331675" cy="1126283"/>
          </a:xfrm>
          <a:prstGeom prst="rect">
            <a:avLst/>
          </a:prstGeom>
        </p:spPr>
      </p:pic>
      <p:sp>
        <p:nvSpPr>
          <p:cNvPr id="8" name="ZoneTexte 7">
            <a:extLst>
              <a:ext uri="{FF2B5EF4-FFF2-40B4-BE49-F238E27FC236}">
                <a16:creationId xmlns:a16="http://schemas.microsoft.com/office/drawing/2014/main" id="{6AAE1049-3965-4F7B-8CB8-D54EEBDE1C66}"/>
              </a:ext>
            </a:extLst>
          </p:cNvPr>
          <p:cNvSpPr txBox="1"/>
          <p:nvPr/>
        </p:nvSpPr>
        <p:spPr>
          <a:xfrm>
            <a:off x="1360885" y="385702"/>
            <a:ext cx="6093618" cy="1200329"/>
          </a:xfrm>
          <a:prstGeom prst="rect">
            <a:avLst/>
          </a:prstGeom>
          <a:noFill/>
        </p:spPr>
        <p:txBody>
          <a:bodyPr wrap="square">
            <a:spAutoFit/>
          </a:bodyPr>
          <a:lstStyle/>
          <a:p>
            <a:r>
              <a:rPr lang="fr-FR" sz="1800" b="1" i="0" u="none" strike="noStrike" baseline="0" dirty="0">
                <a:solidFill>
                  <a:srgbClr val="000000"/>
                </a:solidFill>
                <a:latin typeface="Calibri" panose="020F0502020204030204" pitchFamily="34" charset="0"/>
              </a:rPr>
              <a:t>Université Constantine 3. </a:t>
            </a:r>
          </a:p>
          <a:p>
            <a:r>
              <a:rPr lang="fr-FR" sz="1800" b="1" i="0" u="none" strike="noStrike" baseline="0" dirty="0">
                <a:solidFill>
                  <a:srgbClr val="000000"/>
                </a:solidFill>
                <a:latin typeface="Calibri" panose="020F0502020204030204" pitchFamily="34" charset="0"/>
              </a:rPr>
              <a:t>Faculté de médecine. </a:t>
            </a:r>
          </a:p>
          <a:p>
            <a:r>
              <a:rPr lang="fr-FR" sz="1800" b="1" i="0" u="none" strike="noStrike" baseline="0" dirty="0">
                <a:solidFill>
                  <a:srgbClr val="000000"/>
                </a:solidFill>
                <a:latin typeface="Calibri" panose="020F0502020204030204" pitchFamily="34" charset="0"/>
              </a:rPr>
              <a:t>Département de Médecine.</a:t>
            </a:r>
          </a:p>
          <a:p>
            <a:r>
              <a:rPr lang="fr-FR" sz="1800" b="1" i="0" u="none" strike="noStrike" baseline="0" dirty="0">
                <a:solidFill>
                  <a:srgbClr val="000000"/>
                </a:solidFill>
                <a:latin typeface="Calibri" panose="020F0502020204030204" pitchFamily="34" charset="0"/>
              </a:rPr>
              <a:t> Enseignement de 3</a:t>
            </a:r>
            <a:r>
              <a:rPr lang="fr-FR" sz="800" b="1" i="0" u="none" strike="noStrike" baseline="0" dirty="0">
                <a:solidFill>
                  <a:srgbClr val="000000"/>
                </a:solidFill>
                <a:latin typeface="Calibri" panose="020F0502020204030204" pitchFamily="34" charset="0"/>
              </a:rPr>
              <a:t>ème </a:t>
            </a:r>
            <a:r>
              <a:rPr lang="fr-FR" sz="1800" b="1" i="0" u="none" strike="noStrike" baseline="0" dirty="0">
                <a:solidFill>
                  <a:srgbClr val="000000"/>
                </a:solidFill>
                <a:latin typeface="Calibri" panose="020F0502020204030204" pitchFamily="34" charset="0"/>
              </a:rPr>
              <a:t>année. </a:t>
            </a:r>
            <a:endParaRPr lang="fr-FR" dirty="0"/>
          </a:p>
        </p:txBody>
      </p:sp>
    </p:spTree>
    <p:extLst>
      <p:ext uri="{BB962C8B-B14F-4D97-AF65-F5344CB8AC3E}">
        <p14:creationId xmlns:p14="http://schemas.microsoft.com/office/powerpoint/2010/main" val="2306110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F3473C-8B5D-44DF-B45F-EC0AEB5865D7}"/>
              </a:ext>
            </a:extLst>
          </p:cNvPr>
          <p:cNvSpPr>
            <a:spLocks noGrp="1"/>
          </p:cNvSpPr>
          <p:nvPr>
            <p:ph type="title"/>
          </p:nvPr>
        </p:nvSpPr>
        <p:spPr>
          <a:xfrm>
            <a:off x="838200" y="365125"/>
            <a:ext cx="10515600" cy="1120775"/>
          </a:xfrm>
          <a:solidFill>
            <a:schemeClr val="accent5">
              <a:lumMod val="20000"/>
              <a:lumOff val="80000"/>
            </a:schemeClr>
          </a:solidFill>
        </p:spPr>
        <p:txBody>
          <a:bodyPr/>
          <a:lstStyle/>
          <a:p>
            <a:r>
              <a:rPr lang="fr-FR" dirty="0"/>
              <a:t>Plan: </a:t>
            </a:r>
          </a:p>
        </p:txBody>
      </p:sp>
      <p:sp>
        <p:nvSpPr>
          <p:cNvPr id="3" name="Espace réservé du contenu 2">
            <a:extLst>
              <a:ext uri="{FF2B5EF4-FFF2-40B4-BE49-F238E27FC236}">
                <a16:creationId xmlns:a16="http://schemas.microsoft.com/office/drawing/2014/main" id="{BBFC283F-535B-4AA0-BEAD-889725D87253}"/>
              </a:ext>
            </a:extLst>
          </p:cNvPr>
          <p:cNvSpPr>
            <a:spLocks noGrp="1"/>
          </p:cNvSpPr>
          <p:nvPr>
            <p:ph idx="1"/>
          </p:nvPr>
        </p:nvSpPr>
        <p:spPr>
          <a:xfrm>
            <a:off x="838200" y="1825625"/>
            <a:ext cx="6505575" cy="4351338"/>
          </a:xfrm>
        </p:spPr>
        <p:txBody>
          <a:bodyPr>
            <a:normAutofit/>
          </a:bodyPr>
          <a:lstStyle/>
          <a:p>
            <a:pPr marL="342900" marR="0" lvl="0" indent="-342900" rtl="0">
              <a:lnSpc>
                <a:spcPct val="107000"/>
              </a:lnSpc>
              <a:spcBef>
                <a:spcPts val="0"/>
              </a:spcBef>
              <a:spcAft>
                <a:spcPts val="0"/>
              </a:spcAft>
              <a:buFont typeface="+mj-lt"/>
              <a:buAutoNum type="romanUcPeriod"/>
            </a:pPr>
            <a:r>
              <a:rPr lang="fr-FR" sz="2400" dirty="0">
                <a:effectLst/>
                <a:latin typeface="Calibri" panose="020F0502020204030204" pitchFamily="34" charset="0"/>
                <a:ea typeface="Calibri" panose="020F0502020204030204" pitchFamily="34" charset="0"/>
                <a:cs typeface="Arial" panose="020B0604020202020204" pitchFamily="34" charset="0"/>
              </a:rPr>
              <a:t>Introduction</a:t>
            </a:r>
          </a:p>
          <a:p>
            <a:pPr marL="342900" marR="0" lvl="0" indent="-342900">
              <a:lnSpc>
                <a:spcPct val="107000"/>
              </a:lnSpc>
              <a:spcBef>
                <a:spcPts val="0"/>
              </a:spcBef>
              <a:spcAft>
                <a:spcPts val="0"/>
              </a:spcAft>
              <a:buFont typeface="+mj-lt"/>
              <a:buAutoNum type="romanUcPeriod"/>
            </a:pPr>
            <a:r>
              <a:rPr lang="fr-FR" sz="2400" dirty="0">
                <a:effectLst/>
                <a:latin typeface="Calibri" panose="020F0502020204030204" pitchFamily="34" charset="0"/>
                <a:ea typeface="Calibri" panose="020F0502020204030204" pitchFamily="34" charset="0"/>
                <a:cs typeface="Arial" panose="020B0604020202020204" pitchFamily="34" charset="0"/>
              </a:rPr>
              <a:t>Le syndrome cérébelleux</a:t>
            </a:r>
          </a:p>
          <a:p>
            <a:pPr marL="800100" lvl="1" indent="-342900">
              <a:lnSpc>
                <a:spcPct val="107000"/>
              </a:lnSpc>
              <a:spcBef>
                <a:spcPts val="0"/>
              </a:spcBef>
              <a:buFont typeface="+mj-lt"/>
              <a:buAutoNum type="alphaLcParenR"/>
            </a:pPr>
            <a:r>
              <a:rPr lang="fr-FR" sz="2000" dirty="0">
                <a:effectLst/>
                <a:latin typeface="Calibri" panose="020F0502020204030204" pitchFamily="34" charset="0"/>
                <a:ea typeface="Calibri" panose="020F0502020204030204" pitchFamily="34" charset="0"/>
                <a:cs typeface="Arial" panose="020B0604020202020204" pitchFamily="34" charset="0"/>
              </a:rPr>
              <a:t>Symptômes</a:t>
            </a:r>
          </a:p>
          <a:p>
            <a:pPr marL="800100" lvl="1" indent="-342900">
              <a:lnSpc>
                <a:spcPct val="107000"/>
              </a:lnSpc>
              <a:spcBef>
                <a:spcPts val="0"/>
              </a:spcBef>
              <a:buFont typeface="+mj-lt"/>
              <a:buAutoNum type="alphaLcParenR"/>
            </a:pPr>
            <a:r>
              <a:rPr lang="fr-FR" sz="2000" dirty="0">
                <a:effectLst/>
                <a:latin typeface="Calibri" panose="020F0502020204030204" pitchFamily="34" charset="0"/>
                <a:ea typeface="Calibri" panose="020F0502020204030204" pitchFamily="34" charset="0"/>
                <a:cs typeface="Arial" panose="020B0604020202020204" pitchFamily="34" charset="0"/>
              </a:rPr>
              <a:t>Signes cliniques</a:t>
            </a:r>
          </a:p>
          <a:p>
            <a:pPr marL="800100" lvl="1" indent="-342900">
              <a:lnSpc>
                <a:spcPct val="107000"/>
              </a:lnSpc>
              <a:spcBef>
                <a:spcPts val="0"/>
              </a:spcBef>
              <a:buFont typeface="+mj-lt"/>
              <a:buAutoNum type="alphaLcParenR"/>
            </a:pPr>
            <a:r>
              <a:rPr lang="fr-FR" sz="2000" dirty="0">
                <a:effectLst/>
                <a:latin typeface="Calibri" panose="020F0502020204030204" pitchFamily="34" charset="0"/>
                <a:ea typeface="Calibri" panose="020F0502020204030204" pitchFamily="34" charset="0"/>
                <a:cs typeface="Arial" panose="020B0604020202020204" pitchFamily="34" charset="0"/>
              </a:rPr>
              <a:t>Diagnostic différentiel</a:t>
            </a:r>
          </a:p>
          <a:p>
            <a:pPr marL="800100" lvl="1" indent="-342900">
              <a:lnSpc>
                <a:spcPct val="107000"/>
              </a:lnSpc>
              <a:spcBef>
                <a:spcPts val="0"/>
              </a:spcBef>
              <a:buFont typeface="+mj-lt"/>
              <a:buAutoNum type="alphaLcParenR"/>
            </a:pPr>
            <a:r>
              <a:rPr lang="fr-FR" sz="2000" dirty="0">
                <a:effectLst/>
                <a:latin typeface="Calibri" panose="020F0502020204030204" pitchFamily="34" charset="0"/>
                <a:ea typeface="Calibri" panose="020F0502020204030204" pitchFamily="34" charset="0"/>
                <a:cs typeface="Arial" panose="020B0604020202020204" pitchFamily="34" charset="0"/>
              </a:rPr>
              <a:t>Diagnostic topographique</a:t>
            </a:r>
          </a:p>
          <a:p>
            <a:pPr marL="0" marR="0" lvl="0" indent="0">
              <a:lnSpc>
                <a:spcPct val="107000"/>
              </a:lnSpc>
              <a:spcBef>
                <a:spcPts val="0"/>
              </a:spcBef>
              <a:spcAft>
                <a:spcPts val="0"/>
              </a:spcAft>
              <a:buNone/>
            </a:pPr>
            <a:r>
              <a:rPr lang="fr-FR" sz="2400" dirty="0">
                <a:effectLst/>
                <a:latin typeface="Calibri" panose="020F0502020204030204" pitchFamily="34" charset="0"/>
                <a:ea typeface="Calibri" panose="020F0502020204030204" pitchFamily="34" charset="0"/>
                <a:cs typeface="Arial" panose="020B0604020202020204" pitchFamily="34" charset="0"/>
              </a:rPr>
              <a:t>III. Le syndrome vestibulaire</a:t>
            </a:r>
          </a:p>
          <a:p>
            <a:pPr marL="800100" lvl="1" indent="-342900">
              <a:lnSpc>
                <a:spcPct val="107000"/>
              </a:lnSpc>
              <a:spcBef>
                <a:spcPts val="0"/>
              </a:spcBef>
              <a:buSzPts val="1600"/>
              <a:buFont typeface="+mj-lt"/>
              <a:buAutoNum type="alphaLcParenR"/>
            </a:pPr>
            <a:r>
              <a:rPr lang="fr-FR" sz="2000" dirty="0">
                <a:effectLst/>
                <a:latin typeface="Calibri" panose="020F0502020204030204" pitchFamily="34" charset="0"/>
                <a:ea typeface="Calibri" panose="020F0502020204030204" pitchFamily="34" charset="0"/>
                <a:cs typeface="Arial" panose="020B0604020202020204" pitchFamily="34" charset="0"/>
              </a:rPr>
              <a:t>Symptômes</a:t>
            </a:r>
          </a:p>
          <a:p>
            <a:pPr marL="800100" lvl="1" indent="-342900">
              <a:lnSpc>
                <a:spcPct val="107000"/>
              </a:lnSpc>
              <a:spcBef>
                <a:spcPts val="0"/>
              </a:spcBef>
              <a:buSzPts val="1600"/>
              <a:buFont typeface="+mj-lt"/>
              <a:buAutoNum type="alphaLcParenR"/>
            </a:pPr>
            <a:r>
              <a:rPr lang="fr-FR" sz="2000" dirty="0">
                <a:effectLst/>
                <a:latin typeface="Calibri" panose="020F0502020204030204" pitchFamily="34" charset="0"/>
                <a:ea typeface="Calibri" panose="020F0502020204030204" pitchFamily="34" charset="0"/>
                <a:cs typeface="Arial" panose="020B0604020202020204" pitchFamily="34" charset="0"/>
              </a:rPr>
              <a:t>Signes cliniques</a:t>
            </a:r>
          </a:p>
          <a:p>
            <a:pPr marL="800100" lvl="1" indent="-342900">
              <a:lnSpc>
                <a:spcPct val="107000"/>
              </a:lnSpc>
              <a:spcBef>
                <a:spcPts val="0"/>
              </a:spcBef>
              <a:buSzPts val="1600"/>
              <a:buFont typeface="+mj-lt"/>
              <a:buAutoNum type="alphaLcParenR"/>
            </a:pPr>
            <a:r>
              <a:rPr lang="fr-FR" sz="2000" dirty="0">
                <a:effectLst/>
                <a:latin typeface="Calibri" panose="020F0502020204030204" pitchFamily="34" charset="0"/>
                <a:ea typeface="Calibri" panose="020F0502020204030204" pitchFamily="34" charset="0"/>
                <a:cs typeface="Arial" panose="020B0604020202020204" pitchFamily="34" charset="0"/>
              </a:rPr>
              <a:t>Examens complémentaires</a:t>
            </a:r>
          </a:p>
          <a:p>
            <a:pPr marL="800100" lvl="1" indent="-342900">
              <a:lnSpc>
                <a:spcPct val="107000"/>
              </a:lnSpc>
              <a:spcBef>
                <a:spcPts val="0"/>
              </a:spcBef>
              <a:buSzPts val="1600"/>
              <a:buFont typeface="+mj-lt"/>
              <a:buAutoNum type="alphaLcParenR"/>
            </a:pPr>
            <a:r>
              <a:rPr lang="fr-FR" sz="2000" dirty="0">
                <a:effectLst/>
                <a:latin typeface="Calibri" panose="020F0502020204030204" pitchFamily="34" charset="0"/>
                <a:ea typeface="Calibri" panose="020F0502020204030204" pitchFamily="34" charset="0"/>
                <a:cs typeface="Arial" panose="020B0604020202020204" pitchFamily="34" charset="0"/>
              </a:rPr>
              <a:t>Diagnostic différentiel</a:t>
            </a:r>
          </a:p>
          <a:p>
            <a:pPr marL="800100" lvl="1" indent="-342900">
              <a:lnSpc>
                <a:spcPct val="107000"/>
              </a:lnSpc>
              <a:spcBef>
                <a:spcPts val="0"/>
              </a:spcBef>
              <a:spcAft>
                <a:spcPts val="800"/>
              </a:spcAft>
              <a:buSzPts val="1600"/>
              <a:buFont typeface="+mj-lt"/>
              <a:buAutoNum type="alphaLcParenR"/>
            </a:pPr>
            <a:r>
              <a:rPr lang="fr-FR" sz="2000" dirty="0">
                <a:effectLst/>
                <a:latin typeface="Calibri" panose="020F0502020204030204" pitchFamily="34" charset="0"/>
                <a:ea typeface="Calibri" panose="020F0502020204030204" pitchFamily="34" charset="0"/>
                <a:cs typeface="Arial" panose="020B0604020202020204" pitchFamily="34" charset="0"/>
              </a:rPr>
              <a:t>Formes topographiques</a:t>
            </a:r>
          </a:p>
          <a:p>
            <a:endParaRPr lang="fr-FR" dirty="0"/>
          </a:p>
        </p:txBody>
      </p:sp>
    </p:spTree>
    <p:extLst>
      <p:ext uri="{BB962C8B-B14F-4D97-AF65-F5344CB8AC3E}">
        <p14:creationId xmlns:p14="http://schemas.microsoft.com/office/powerpoint/2010/main" val="2816012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AB8455-4EEC-4FEB-96E7-2EE5C6170941}"/>
              </a:ext>
            </a:extLst>
          </p:cNvPr>
          <p:cNvSpPr>
            <a:spLocks noGrp="1"/>
          </p:cNvSpPr>
          <p:nvPr>
            <p:ph type="title"/>
          </p:nvPr>
        </p:nvSpPr>
        <p:spPr>
          <a:xfrm>
            <a:off x="838200" y="365126"/>
            <a:ext cx="10515600" cy="920750"/>
          </a:xfrm>
          <a:solidFill>
            <a:schemeClr val="accent5">
              <a:lumMod val="20000"/>
              <a:lumOff val="80000"/>
            </a:schemeClr>
          </a:solidFill>
        </p:spPr>
        <p:txBody>
          <a:bodyPr>
            <a:normAutofit/>
          </a:bodyPr>
          <a:lstStyle/>
          <a:p>
            <a:r>
              <a:rPr lang="fr-FR" sz="4000" b="1" u="sng" dirty="0">
                <a:effectLst/>
                <a:latin typeface="Calibri" panose="020F0502020204030204" pitchFamily="34" charset="0"/>
                <a:ea typeface="Calibri" panose="020F0502020204030204" pitchFamily="34" charset="0"/>
                <a:cs typeface="Arial" panose="020B0604020202020204" pitchFamily="34" charset="0"/>
              </a:rPr>
              <a:t>Introduction : </a:t>
            </a:r>
            <a:endParaRPr lang="fr-FR" sz="8000" dirty="0"/>
          </a:p>
        </p:txBody>
      </p:sp>
      <p:sp>
        <p:nvSpPr>
          <p:cNvPr id="3" name="Espace réservé du contenu 2">
            <a:extLst>
              <a:ext uri="{FF2B5EF4-FFF2-40B4-BE49-F238E27FC236}">
                <a16:creationId xmlns:a16="http://schemas.microsoft.com/office/drawing/2014/main" id="{9DD2CEB0-453B-453D-8E5A-B4C34AB24B32}"/>
              </a:ext>
            </a:extLst>
          </p:cNvPr>
          <p:cNvSpPr>
            <a:spLocks noGrp="1"/>
          </p:cNvSpPr>
          <p:nvPr>
            <p:ph idx="1"/>
          </p:nvPr>
        </p:nvSpPr>
        <p:spPr>
          <a:xfrm>
            <a:off x="838200" y="1443039"/>
            <a:ext cx="6162675" cy="3757611"/>
          </a:xfrm>
        </p:spPr>
        <p:txBody>
          <a:bodyPr>
            <a:normAutofit/>
          </a:bodyPr>
          <a:lstStyle/>
          <a:p>
            <a:pPr marL="0" marR="0" indent="0" algn="just">
              <a:lnSpc>
                <a:spcPct val="107000"/>
              </a:lnSpc>
              <a:spcBef>
                <a:spcPts val="0"/>
              </a:spcBef>
              <a:spcAft>
                <a:spcPts val="800"/>
              </a:spcAft>
              <a:buNone/>
            </a:pPr>
            <a:r>
              <a:rPr lang="fr-FR" sz="1800" dirty="0">
                <a:latin typeface="Calibri" panose="020F0502020204030204" pitchFamily="34" charset="0"/>
                <a:ea typeface="Calibri" panose="020F0502020204030204" pitchFamily="34" charset="0"/>
                <a:cs typeface="Arial" panose="020B0604020202020204" pitchFamily="34" charset="0"/>
              </a:rPr>
              <a:t>  </a:t>
            </a: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3200" b="1" dirty="0">
                <a:effectLst/>
                <a:latin typeface="Calibri" panose="020F0502020204030204" pitchFamily="34" charset="0"/>
                <a:ea typeface="Calibri" panose="020F0502020204030204" pitchFamily="34" charset="0"/>
                <a:cs typeface="Arial" panose="020B0604020202020204" pitchFamily="34" charset="0"/>
              </a:rPr>
              <a:t>La coordination: </a:t>
            </a:r>
          </a:p>
          <a:p>
            <a:pPr marL="0" marR="0" indent="0" algn="just">
              <a:lnSpc>
                <a:spcPct val="107000"/>
              </a:lnSpc>
              <a:spcBef>
                <a:spcPts val="0"/>
              </a:spcBef>
              <a:spcAft>
                <a:spcPts val="800"/>
              </a:spcAft>
              <a:buNone/>
            </a:pPr>
            <a:endParaRPr lang="fr-FR" sz="3200" dirty="0">
              <a:latin typeface="Calibri" panose="020F0502020204030204" pitchFamily="34" charset="0"/>
              <a:ea typeface="Calibri" panose="020F0502020204030204" pitchFamily="34" charset="0"/>
              <a:cs typeface="Arial" panose="020B0604020202020204" pitchFamily="34" charset="0"/>
            </a:endParaRPr>
          </a:p>
          <a:p>
            <a:pPr marL="0" marR="0" indent="0" algn="just">
              <a:lnSpc>
                <a:spcPct val="107000"/>
              </a:lnSpc>
              <a:spcBef>
                <a:spcPts val="0"/>
              </a:spcBef>
              <a:spcAft>
                <a:spcPts val="800"/>
              </a:spcAft>
              <a:buNone/>
            </a:pPr>
            <a:r>
              <a:rPr lang="fr-FR" sz="3200" dirty="0">
                <a:effectLst/>
                <a:latin typeface="Calibri" panose="020F0502020204030204" pitchFamily="34" charset="0"/>
                <a:ea typeface="Calibri" panose="020F0502020204030204" pitchFamily="34" charset="0"/>
                <a:cs typeface="Arial" panose="020B0604020202020204" pitchFamily="34" charset="0"/>
              </a:rPr>
              <a:t> est la combinaison des contractions musculaires selon un ordre précis nécessaire pour atteindre un but défini.</a:t>
            </a:r>
          </a:p>
          <a:p>
            <a:pPr marL="0" marR="0" indent="0" algn="just">
              <a:lnSpc>
                <a:spcPct val="107000"/>
              </a:lnSpc>
              <a:spcBef>
                <a:spcPts val="0"/>
              </a:spcBef>
              <a:spcAft>
                <a:spcPts val="800"/>
              </a:spcAft>
              <a:buNone/>
            </a:pPr>
            <a:endParaRPr lang="fr-FR"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Picture 2" descr="Troubles de l'équilibre | Cabinet de kinésithérapie Denis Bellaiche PARIS 15">
            <a:extLst>
              <a:ext uri="{FF2B5EF4-FFF2-40B4-BE49-F238E27FC236}">
                <a16:creationId xmlns:a16="http://schemas.microsoft.com/office/drawing/2014/main" id="{9680682C-2041-451D-94DC-7EBA7603CF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0913" y="1285875"/>
            <a:ext cx="4486275" cy="5049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774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2762250-45DF-44C8-B45A-5B4C3F46258F}"/>
              </a:ext>
            </a:extLst>
          </p:cNvPr>
          <p:cNvSpPr>
            <a:spLocks noGrp="1"/>
          </p:cNvSpPr>
          <p:nvPr>
            <p:ph idx="1"/>
          </p:nvPr>
        </p:nvSpPr>
        <p:spPr/>
        <p:txBody>
          <a:bodyPr/>
          <a:lstStyle/>
          <a:p>
            <a:pPr marR="0" algn="just">
              <a:lnSpc>
                <a:spcPct val="107000"/>
              </a:lnSpc>
              <a:spcBef>
                <a:spcPts val="0"/>
              </a:spcBef>
              <a:spcAft>
                <a:spcPts val="800"/>
              </a:spcAft>
              <a:buFont typeface="Wingdings" panose="05000000000000000000" pitchFamily="2" charset="2"/>
              <a:buChar char="q"/>
            </a:pPr>
            <a:r>
              <a:rPr lang="fr-FR" dirty="0">
                <a:effectLst/>
                <a:latin typeface="Calibri" panose="020F0502020204030204" pitchFamily="34" charset="0"/>
                <a:ea typeface="Calibri" panose="020F0502020204030204" pitchFamily="34" charset="0"/>
                <a:cs typeface="Arial" panose="020B0604020202020204" pitchFamily="34" charset="0"/>
              </a:rPr>
              <a:t>Le cervelet joue un rôle important dans le contrôle et la régulation des fonctions motrices (mouvement, posture et équilibre), de ce fait, une atteinte de cervelet lui-même ou affectant les voies cérébelleuses définissent </a:t>
            </a:r>
            <a:r>
              <a:rPr lang="fr-FR" b="1" dirty="0">
                <a:effectLst/>
                <a:latin typeface="Calibri" panose="020F0502020204030204" pitchFamily="34" charset="0"/>
                <a:ea typeface="Calibri" panose="020F0502020204030204" pitchFamily="34" charset="0"/>
                <a:cs typeface="Arial" panose="020B0604020202020204" pitchFamily="34" charset="0"/>
              </a:rPr>
              <a:t>un syndrome cérébelleux</a:t>
            </a:r>
            <a:r>
              <a:rPr lang="fr-FR" dirty="0">
                <a:effectLst/>
                <a:latin typeface="Calibri" panose="020F0502020204030204" pitchFamily="34" charset="0"/>
                <a:ea typeface="Calibri" panose="020F0502020204030204" pitchFamily="34" charset="0"/>
                <a:cs typeface="Arial" panose="020B0604020202020204" pitchFamily="34" charset="0"/>
              </a:rPr>
              <a:t>.</a:t>
            </a:r>
          </a:p>
          <a:p>
            <a:pPr marL="0" marR="0" indent="0" algn="just">
              <a:lnSpc>
                <a:spcPct val="107000"/>
              </a:lnSpc>
              <a:spcBef>
                <a:spcPts val="0"/>
              </a:spcBef>
              <a:spcAft>
                <a:spcPts val="800"/>
              </a:spcAft>
              <a:buNone/>
            </a:pPr>
            <a:endParaRPr lang="fr-FR" dirty="0">
              <a:effectLst/>
              <a:latin typeface="Calibri" panose="020F0502020204030204" pitchFamily="34" charset="0"/>
              <a:ea typeface="Calibri" panose="020F0502020204030204" pitchFamily="34" charset="0"/>
              <a:cs typeface="Arial" panose="020B0604020202020204" pitchFamily="34" charset="0"/>
            </a:endParaRPr>
          </a:p>
          <a:p>
            <a:pPr marR="0" algn="just">
              <a:lnSpc>
                <a:spcPct val="107000"/>
              </a:lnSpc>
              <a:spcBef>
                <a:spcPts val="0"/>
              </a:spcBef>
              <a:spcAft>
                <a:spcPts val="800"/>
              </a:spcAft>
              <a:buFont typeface="Wingdings" panose="05000000000000000000" pitchFamily="2" charset="2"/>
              <a:buChar char="q"/>
            </a:pPr>
            <a:r>
              <a:rPr lang="fr-FR" dirty="0">
                <a:effectLst/>
                <a:latin typeface="Calibri" panose="020F0502020204030204" pitchFamily="34" charset="0"/>
                <a:ea typeface="Calibri" panose="020F0502020204030204" pitchFamily="34" charset="0"/>
                <a:cs typeface="Arial" panose="020B0604020202020204" pitchFamily="34" charset="0"/>
              </a:rPr>
              <a:t>   Le système vestibulaire a pour fonction de maintenir l’axe de corps ainsi que la stabilité oculaire pendant les mouvements. Son atteinte définit </a:t>
            </a:r>
            <a:r>
              <a:rPr lang="fr-FR" b="1" dirty="0">
                <a:effectLst/>
                <a:latin typeface="Calibri" panose="020F0502020204030204" pitchFamily="34" charset="0"/>
                <a:ea typeface="Calibri" panose="020F0502020204030204" pitchFamily="34" charset="0"/>
                <a:cs typeface="Arial" panose="020B0604020202020204" pitchFamily="34" charset="0"/>
              </a:rPr>
              <a:t>le syndrome vestibulaire</a:t>
            </a:r>
            <a:r>
              <a:rPr lang="fr-FR" dirty="0">
                <a:effectLst/>
                <a:latin typeface="Calibri" panose="020F0502020204030204" pitchFamily="34" charset="0"/>
                <a:ea typeface="Calibri" panose="020F0502020204030204" pitchFamily="34" charset="0"/>
                <a:cs typeface="Arial" panose="020B0604020202020204" pitchFamily="34" charset="0"/>
              </a:rPr>
              <a:t>.</a:t>
            </a:r>
            <a:endParaRPr lang="fr-FR" sz="4000" dirty="0"/>
          </a:p>
          <a:p>
            <a:endParaRPr lang="fr-FR" dirty="0"/>
          </a:p>
        </p:txBody>
      </p:sp>
      <p:sp>
        <p:nvSpPr>
          <p:cNvPr id="4" name="Titre 1">
            <a:extLst>
              <a:ext uri="{FF2B5EF4-FFF2-40B4-BE49-F238E27FC236}">
                <a16:creationId xmlns:a16="http://schemas.microsoft.com/office/drawing/2014/main" id="{6672B1BF-1E4A-4010-BDED-C531E2600F4C}"/>
              </a:ext>
            </a:extLst>
          </p:cNvPr>
          <p:cNvSpPr>
            <a:spLocks noGrp="1"/>
          </p:cNvSpPr>
          <p:nvPr>
            <p:ph type="title"/>
          </p:nvPr>
        </p:nvSpPr>
        <p:spPr>
          <a:xfrm>
            <a:off x="838200" y="365126"/>
            <a:ext cx="10515600" cy="749300"/>
          </a:xfrm>
          <a:solidFill>
            <a:schemeClr val="accent5">
              <a:lumMod val="20000"/>
              <a:lumOff val="80000"/>
            </a:schemeClr>
          </a:solidFill>
        </p:spPr>
        <p:txBody>
          <a:bodyPr>
            <a:normAutofit/>
          </a:bodyPr>
          <a:lstStyle/>
          <a:p>
            <a:r>
              <a:rPr lang="fr-FR" sz="4000" b="1" u="sng" dirty="0">
                <a:effectLst/>
                <a:latin typeface="Calibri" panose="020F0502020204030204" pitchFamily="34" charset="0"/>
                <a:ea typeface="Calibri" panose="020F0502020204030204" pitchFamily="34" charset="0"/>
                <a:cs typeface="Arial" panose="020B0604020202020204" pitchFamily="34" charset="0"/>
              </a:rPr>
              <a:t>Introduction : </a:t>
            </a:r>
            <a:endParaRPr lang="fr-FR" sz="8000" dirty="0"/>
          </a:p>
        </p:txBody>
      </p:sp>
    </p:spTree>
    <p:extLst>
      <p:ext uri="{BB962C8B-B14F-4D97-AF65-F5344CB8AC3E}">
        <p14:creationId xmlns:p14="http://schemas.microsoft.com/office/powerpoint/2010/main" val="619296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BB67E5A-7DD7-41F6-B0E1-1DF04E042F7A}"/>
              </a:ext>
            </a:extLst>
          </p:cNvPr>
          <p:cNvSpPr>
            <a:spLocks noGrp="1"/>
          </p:cNvSpPr>
          <p:nvPr>
            <p:ph idx="1"/>
          </p:nvPr>
        </p:nvSpPr>
        <p:spPr>
          <a:xfrm>
            <a:off x="838200" y="742950"/>
            <a:ext cx="10515600" cy="5434013"/>
          </a:xfrm>
        </p:spPr>
        <p:txBody>
          <a:bodyPr>
            <a:normAutofit/>
          </a:bodyPr>
          <a:lstStyle/>
          <a:p>
            <a:pPr marL="0" indent="0" algn="ctr">
              <a:buNone/>
            </a:pPr>
            <a:r>
              <a:rPr lang="fr-FR" sz="3600" b="1" dirty="0"/>
              <a:t>Le syndrome cérébelleux</a:t>
            </a:r>
          </a:p>
        </p:txBody>
      </p:sp>
      <p:pic>
        <p:nvPicPr>
          <p:cNvPr id="3074" name="Picture 2" descr="Cervelet : anatomie, fonctions et troubles associés - Neuromedia">
            <a:extLst>
              <a:ext uri="{FF2B5EF4-FFF2-40B4-BE49-F238E27FC236}">
                <a16:creationId xmlns:a16="http://schemas.microsoft.com/office/drawing/2014/main" id="{2213A023-4618-4C67-840D-27246305B5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7975" y="1866899"/>
            <a:ext cx="4829175" cy="39338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ervelet : anatomie, fonctions et troubles associés - Neuromedia">
            <a:extLst>
              <a:ext uri="{FF2B5EF4-FFF2-40B4-BE49-F238E27FC236}">
                <a16:creationId xmlns:a16="http://schemas.microsoft.com/office/drawing/2014/main" id="{E1A11E03-2A4C-413E-A954-54F0BB6D3F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699" y="1757363"/>
            <a:ext cx="3357563"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409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35973B-853C-4EA2-8E7E-27A868029107}"/>
              </a:ext>
            </a:extLst>
          </p:cNvPr>
          <p:cNvSpPr>
            <a:spLocks noGrp="1"/>
          </p:cNvSpPr>
          <p:nvPr>
            <p:ph type="title"/>
          </p:nvPr>
        </p:nvSpPr>
        <p:spPr>
          <a:solidFill>
            <a:schemeClr val="accent4">
              <a:lumMod val="20000"/>
              <a:lumOff val="80000"/>
            </a:schemeClr>
          </a:solidFill>
        </p:spPr>
        <p:txBody>
          <a:bodyPr/>
          <a:lstStyle/>
          <a:p>
            <a:r>
              <a:rPr lang="fr-FR" sz="4400" b="1" u="sng" dirty="0">
                <a:effectLst/>
                <a:latin typeface="Calibri" panose="020F0502020204030204" pitchFamily="34" charset="0"/>
                <a:ea typeface="Calibri" panose="020F0502020204030204" pitchFamily="34" charset="0"/>
                <a:cs typeface="Arial" panose="020B0604020202020204" pitchFamily="34" charset="0"/>
              </a:rPr>
              <a:t>Le syndrome cérébelleux :</a:t>
            </a:r>
            <a:endParaRPr lang="fr-FR" dirty="0"/>
          </a:p>
        </p:txBody>
      </p:sp>
      <p:sp>
        <p:nvSpPr>
          <p:cNvPr id="3" name="Espace réservé du contenu 2">
            <a:extLst>
              <a:ext uri="{FF2B5EF4-FFF2-40B4-BE49-F238E27FC236}">
                <a16:creationId xmlns:a16="http://schemas.microsoft.com/office/drawing/2014/main" id="{EF60E41F-04E8-40E0-BEB9-0AD62992F0DE}"/>
              </a:ext>
            </a:extLst>
          </p:cNvPr>
          <p:cNvSpPr>
            <a:spLocks noGrp="1"/>
          </p:cNvSpPr>
          <p:nvPr>
            <p:ph idx="1"/>
          </p:nvPr>
        </p:nvSpPr>
        <p:spPr/>
        <p:txBody>
          <a:bodyPr/>
          <a:lstStyle/>
          <a:p>
            <a:pPr marL="0" marR="0" lvl="0" indent="0" rtl="0">
              <a:lnSpc>
                <a:spcPct val="107000"/>
              </a:lnSpc>
              <a:spcBef>
                <a:spcPts val="0"/>
              </a:spcBef>
              <a:spcAft>
                <a:spcPts val="0"/>
              </a:spcAft>
              <a:buSzPts val="1600"/>
              <a:buNone/>
            </a:pPr>
            <a:endParaRPr lang="fr-FR"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mj-lt"/>
              <a:buAutoNum type="alphaUcPeriod"/>
            </a:pPr>
            <a:r>
              <a:rPr lang="fr-FR" b="1" u="sng" dirty="0">
                <a:effectLst/>
                <a:latin typeface="Calibri" panose="020F0502020204030204" pitchFamily="34" charset="0"/>
                <a:ea typeface="Calibri" panose="020F0502020204030204" pitchFamily="34" charset="0"/>
                <a:cs typeface="Arial" panose="020B0604020202020204" pitchFamily="34" charset="0"/>
              </a:rPr>
              <a:t>Symptômes :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800100" lvl="1" indent="-342900">
              <a:lnSpc>
                <a:spcPct val="107000"/>
              </a:lnSpc>
              <a:spcBef>
                <a:spcPts val="0"/>
              </a:spcBef>
              <a:buFont typeface="Symbol" panose="05050102010706020507" pitchFamily="18" charset="2"/>
              <a:buChar char=""/>
            </a:pPr>
            <a:r>
              <a:rPr lang="fr-FR" sz="2000" dirty="0">
                <a:effectLst/>
                <a:latin typeface="Calibri" panose="020F0502020204030204" pitchFamily="34" charset="0"/>
                <a:ea typeface="Calibri" panose="020F0502020204030204" pitchFamily="34" charset="0"/>
                <a:cs typeface="Arial" panose="020B0604020202020204" pitchFamily="34" charset="0"/>
              </a:rPr>
              <a:t>Troubles de la marche et de l'équilibre.</a:t>
            </a:r>
          </a:p>
          <a:p>
            <a:pPr marL="800100" lvl="1" indent="-342900">
              <a:lnSpc>
                <a:spcPct val="107000"/>
              </a:lnSpc>
              <a:spcBef>
                <a:spcPts val="0"/>
              </a:spcBef>
              <a:buFont typeface="Symbol" panose="05050102010706020507" pitchFamily="18" charset="2"/>
              <a:buChar char=""/>
            </a:pPr>
            <a:r>
              <a:rPr lang="fr-FR" sz="2000" dirty="0">
                <a:effectLst/>
                <a:latin typeface="Calibri" panose="020F0502020204030204" pitchFamily="34" charset="0"/>
                <a:ea typeface="Calibri" panose="020F0502020204030204" pitchFamily="34" charset="0"/>
                <a:cs typeface="Arial" panose="020B0604020202020204" pitchFamily="34" charset="0"/>
              </a:rPr>
              <a:t>Maladresse dans les mouvements rapides</a:t>
            </a:r>
          </a:p>
          <a:p>
            <a:pPr marL="800100" lvl="1" indent="-342900">
              <a:lnSpc>
                <a:spcPct val="107000"/>
              </a:lnSpc>
              <a:spcBef>
                <a:spcPts val="0"/>
              </a:spcBef>
              <a:buFont typeface="Symbol" panose="05050102010706020507" pitchFamily="18" charset="2"/>
              <a:buChar char=""/>
            </a:pPr>
            <a:r>
              <a:rPr lang="fr-FR" sz="2000" dirty="0">
                <a:effectLst/>
                <a:latin typeface="Calibri" panose="020F0502020204030204" pitchFamily="34" charset="0"/>
                <a:ea typeface="Calibri" panose="020F0502020204030204" pitchFamily="34" charset="0"/>
                <a:cs typeface="Arial" panose="020B0604020202020204" pitchFamily="34" charset="0"/>
              </a:rPr>
              <a:t>Dysarthrie</a:t>
            </a:r>
          </a:p>
          <a:p>
            <a:pPr marL="800100" lvl="1" indent="-342900">
              <a:lnSpc>
                <a:spcPct val="107000"/>
              </a:lnSpc>
              <a:spcBef>
                <a:spcPts val="0"/>
              </a:spcBef>
              <a:buFont typeface="Symbol" panose="05050102010706020507" pitchFamily="18" charset="2"/>
              <a:buChar char=""/>
            </a:pPr>
            <a:endParaRPr lang="fr-FR" sz="2000" dirty="0">
              <a:latin typeface="Calibri" panose="020F0502020204030204" pitchFamily="34" charset="0"/>
              <a:ea typeface="Calibri" panose="020F0502020204030204" pitchFamily="34" charset="0"/>
              <a:cs typeface="Arial" panose="020B0604020202020204" pitchFamily="34" charset="0"/>
            </a:endParaRPr>
          </a:p>
          <a:p>
            <a:pPr marL="457200" lvl="1" indent="0">
              <a:lnSpc>
                <a:spcPct val="107000"/>
              </a:lnSpc>
              <a:spcBef>
                <a:spcPts val="0"/>
              </a:spcBef>
              <a:buNone/>
            </a:pP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mj-lt"/>
              <a:buAutoNum type="alphaUcPeriod"/>
            </a:pPr>
            <a:r>
              <a:rPr lang="fr-FR" b="1" u="sng" dirty="0">
                <a:effectLst/>
                <a:latin typeface="Calibri" panose="020F0502020204030204" pitchFamily="34" charset="0"/>
                <a:ea typeface="Calibri" panose="020F0502020204030204" pitchFamily="34" charset="0"/>
                <a:cs typeface="Arial" panose="020B0604020202020204" pitchFamily="34" charset="0"/>
              </a:rPr>
              <a:t>Signes cliniques :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800100" lvl="1" indent="-342900">
              <a:lnSpc>
                <a:spcPct val="107000"/>
              </a:lnSpc>
              <a:spcBef>
                <a:spcPts val="0"/>
              </a:spcBef>
              <a:buFont typeface="Symbol" panose="05050102010706020507" pitchFamily="18" charset="2"/>
              <a:buChar char=""/>
            </a:pPr>
            <a:r>
              <a:rPr lang="fr-FR" sz="2000" dirty="0">
                <a:effectLst/>
                <a:latin typeface="Calibri" panose="020F0502020204030204" pitchFamily="34" charset="0"/>
                <a:ea typeface="Calibri" panose="020F0502020204030204" pitchFamily="34" charset="0"/>
                <a:cs typeface="Arial" panose="020B0604020202020204" pitchFamily="34" charset="0"/>
              </a:rPr>
              <a:t>Incoordination cérébelleuse (ataxie cérébelleuse)</a:t>
            </a:r>
          </a:p>
          <a:p>
            <a:pPr marL="800100" lvl="1" indent="-342900">
              <a:lnSpc>
                <a:spcPct val="107000"/>
              </a:lnSpc>
              <a:spcBef>
                <a:spcPts val="0"/>
              </a:spcBef>
              <a:buFont typeface="Symbol" panose="05050102010706020507" pitchFamily="18" charset="2"/>
              <a:buChar char=""/>
            </a:pPr>
            <a:r>
              <a:rPr lang="fr-FR" sz="2000" dirty="0">
                <a:effectLst/>
                <a:latin typeface="Calibri" panose="020F0502020204030204" pitchFamily="34" charset="0"/>
                <a:ea typeface="Calibri" panose="020F0502020204030204" pitchFamily="34" charset="0"/>
                <a:cs typeface="Arial" panose="020B0604020202020204" pitchFamily="34" charset="0"/>
              </a:rPr>
              <a:t>Hypotonie </a:t>
            </a:r>
          </a:p>
          <a:p>
            <a:pPr marL="800100" lvl="1" indent="-342900">
              <a:lnSpc>
                <a:spcPct val="107000"/>
              </a:lnSpc>
              <a:spcBef>
                <a:spcPts val="0"/>
              </a:spcBef>
              <a:spcAft>
                <a:spcPts val="800"/>
              </a:spcAft>
              <a:buFont typeface="Symbol" panose="05050102010706020507" pitchFamily="18" charset="2"/>
              <a:buChar char=""/>
            </a:pPr>
            <a:r>
              <a:rPr lang="fr-FR" sz="2000" dirty="0">
                <a:effectLst/>
                <a:latin typeface="Calibri" panose="020F0502020204030204" pitchFamily="34" charset="0"/>
                <a:ea typeface="Calibri" panose="020F0502020204030204" pitchFamily="34" charset="0"/>
                <a:cs typeface="Arial" panose="020B0604020202020204" pitchFamily="34" charset="0"/>
              </a:rPr>
              <a:t>Tremblement</a:t>
            </a:r>
          </a:p>
          <a:p>
            <a:endParaRPr lang="fr-FR" dirty="0"/>
          </a:p>
        </p:txBody>
      </p:sp>
    </p:spTree>
    <p:extLst>
      <p:ext uri="{BB962C8B-B14F-4D97-AF65-F5344CB8AC3E}">
        <p14:creationId xmlns:p14="http://schemas.microsoft.com/office/powerpoint/2010/main" val="1613645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5DEE69-94F4-4F5A-BF4F-6788AAA932EF}"/>
              </a:ext>
            </a:extLst>
          </p:cNvPr>
          <p:cNvSpPr>
            <a:spLocks noGrp="1"/>
          </p:cNvSpPr>
          <p:nvPr>
            <p:ph type="title"/>
          </p:nvPr>
        </p:nvSpPr>
        <p:spPr>
          <a:xfrm>
            <a:off x="838200" y="365126"/>
            <a:ext cx="10515600" cy="1035050"/>
          </a:xfrm>
          <a:solidFill>
            <a:schemeClr val="accent4">
              <a:lumMod val="20000"/>
              <a:lumOff val="80000"/>
            </a:schemeClr>
          </a:solidFill>
        </p:spPr>
        <p:txBody>
          <a:bodyPr>
            <a:normAutofit/>
          </a:bodyPr>
          <a:lstStyle/>
          <a:p>
            <a:r>
              <a:rPr lang="fr-FR" sz="4000" b="1" u="sng" dirty="0">
                <a:effectLst/>
                <a:latin typeface="Calibri" panose="020F0502020204030204" pitchFamily="34" charset="0"/>
                <a:ea typeface="Calibri" panose="020F0502020204030204" pitchFamily="34" charset="0"/>
                <a:cs typeface="Arial" panose="020B0604020202020204" pitchFamily="34" charset="0"/>
              </a:rPr>
              <a:t>Ataxie cérébelleuse : </a:t>
            </a:r>
            <a:endParaRPr lang="fr-FR" sz="8000" dirty="0"/>
          </a:p>
        </p:txBody>
      </p:sp>
      <p:sp>
        <p:nvSpPr>
          <p:cNvPr id="3" name="Espace réservé du contenu 2">
            <a:extLst>
              <a:ext uri="{FF2B5EF4-FFF2-40B4-BE49-F238E27FC236}">
                <a16:creationId xmlns:a16="http://schemas.microsoft.com/office/drawing/2014/main" id="{6A8FE4AA-1AD3-4C8C-9385-093B3DBCC8EF}"/>
              </a:ext>
            </a:extLst>
          </p:cNvPr>
          <p:cNvSpPr>
            <a:spLocks noGrp="1"/>
          </p:cNvSpPr>
          <p:nvPr>
            <p:ph idx="1"/>
          </p:nvPr>
        </p:nvSpPr>
        <p:spPr>
          <a:xfrm>
            <a:off x="838200" y="1825624"/>
            <a:ext cx="5762625" cy="4667249"/>
          </a:xfrm>
        </p:spPr>
        <p:txBody>
          <a:bodyPr>
            <a:normAutofit/>
          </a:bodyPr>
          <a:lstStyle/>
          <a:p>
            <a:pPr marL="0" indent="0">
              <a:buNone/>
            </a:pPr>
            <a:r>
              <a:rPr lang="fr-FR" sz="4000" b="1" dirty="0">
                <a:effectLst/>
                <a:latin typeface="Calibri" panose="020F0502020204030204" pitchFamily="34" charset="0"/>
                <a:ea typeface="Calibri" panose="020F0502020204030204" pitchFamily="34" charset="0"/>
                <a:cs typeface="Arial" panose="020B0604020202020204" pitchFamily="34" charset="0"/>
              </a:rPr>
              <a:t>       Ataxie statique : </a:t>
            </a:r>
          </a:p>
          <a:p>
            <a:pPr>
              <a:buFont typeface="Wingdings" panose="05000000000000000000" pitchFamily="2" charset="2"/>
              <a:buChar char="v"/>
            </a:pPr>
            <a:endParaRPr lang="fr-FR" sz="2400" b="1" dirty="0">
              <a:latin typeface="Calibri" panose="020F0502020204030204" pitchFamily="34" charset="0"/>
              <a:ea typeface="Calibri" panose="020F0502020204030204" pitchFamily="34" charset="0"/>
              <a:cs typeface="Arial" panose="020B0604020202020204" pitchFamily="34" charset="0"/>
            </a:endParaRPr>
          </a:p>
          <a:p>
            <a:pPr>
              <a:buFont typeface="Wingdings" panose="05000000000000000000" pitchFamily="2" charset="2"/>
              <a:buChar char="v"/>
            </a:pPr>
            <a:endParaRPr lang="fr-FR" sz="2400" b="1"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r>
              <a:rPr lang="fr-FR" sz="2400" dirty="0">
                <a:effectLst/>
                <a:latin typeface="Calibri" panose="020F0502020204030204" pitchFamily="34" charset="0"/>
                <a:ea typeface="Calibri" panose="020F0502020204030204" pitchFamily="34" charset="0"/>
                <a:cs typeface="Arial" panose="020B0604020202020204" pitchFamily="34" charset="0"/>
              </a:rPr>
              <a:t>  la </a:t>
            </a:r>
            <a:r>
              <a:rPr lang="fr-FR" sz="2400" b="1" dirty="0">
                <a:effectLst/>
                <a:latin typeface="Calibri" panose="020F0502020204030204" pitchFamily="34" charset="0"/>
                <a:ea typeface="Calibri" panose="020F0502020204030204" pitchFamily="34" charset="0"/>
                <a:cs typeface="Arial" panose="020B0604020202020204" pitchFamily="34" charset="0"/>
              </a:rPr>
              <a:t>station debout </a:t>
            </a:r>
            <a:r>
              <a:rPr lang="fr-FR" sz="2400" dirty="0">
                <a:effectLst/>
                <a:latin typeface="Calibri" panose="020F0502020204030204" pitchFamily="34" charset="0"/>
                <a:ea typeface="Calibri" panose="020F0502020204030204" pitchFamily="34" charset="0"/>
                <a:cs typeface="Arial" panose="020B0604020202020204" pitchFamily="34" charset="0"/>
              </a:rPr>
              <a:t>et de </a:t>
            </a:r>
            <a:r>
              <a:rPr lang="fr-FR" sz="2400" b="1" dirty="0">
                <a:effectLst/>
                <a:latin typeface="Calibri" panose="020F0502020204030204" pitchFamily="34" charset="0"/>
                <a:ea typeface="Calibri" panose="020F0502020204030204" pitchFamily="34" charset="0"/>
                <a:cs typeface="Arial" panose="020B0604020202020204" pitchFamily="34" charset="0"/>
              </a:rPr>
              <a:t>la marche </a:t>
            </a:r>
            <a:r>
              <a:rPr lang="fr-FR" sz="2400" dirty="0">
                <a:effectLst/>
                <a:latin typeface="Calibri" panose="020F0502020204030204" pitchFamily="34" charset="0"/>
                <a:ea typeface="Calibri" panose="020F0502020204030204" pitchFamily="34" charset="0"/>
                <a:cs typeface="Arial" panose="020B0604020202020204" pitchFamily="34" charset="0"/>
              </a:rPr>
              <a:t>sont donc caractérisés par la présence d'une ataxie.</a:t>
            </a:r>
          </a:p>
          <a:p>
            <a:pPr marL="0" indent="0">
              <a:buNone/>
            </a:pPr>
            <a:endParaRPr lang="fr-FR" sz="24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122" name="Picture 2" descr="Syndromes cérébelleux : des outils à effet immédiat - ScienceDirect">
            <a:extLst>
              <a:ext uri="{FF2B5EF4-FFF2-40B4-BE49-F238E27FC236}">
                <a16:creationId xmlns:a16="http://schemas.microsoft.com/office/drawing/2014/main" id="{25E4B7BB-5E14-468F-836C-CA41F3DC84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9549" y="1825623"/>
            <a:ext cx="3686175" cy="4160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558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5DEE69-94F4-4F5A-BF4F-6788AAA932EF}"/>
              </a:ext>
            </a:extLst>
          </p:cNvPr>
          <p:cNvSpPr>
            <a:spLocks noGrp="1"/>
          </p:cNvSpPr>
          <p:nvPr>
            <p:ph type="title"/>
          </p:nvPr>
        </p:nvSpPr>
        <p:spPr>
          <a:xfrm>
            <a:off x="838200" y="365126"/>
            <a:ext cx="10515600" cy="1035050"/>
          </a:xfrm>
          <a:solidFill>
            <a:schemeClr val="accent4">
              <a:lumMod val="20000"/>
              <a:lumOff val="80000"/>
            </a:schemeClr>
          </a:solidFill>
        </p:spPr>
        <p:txBody>
          <a:bodyPr>
            <a:normAutofit/>
          </a:bodyPr>
          <a:lstStyle/>
          <a:p>
            <a:r>
              <a:rPr lang="fr-FR" sz="4000" b="1" u="sng" dirty="0">
                <a:effectLst/>
                <a:latin typeface="Calibri" panose="020F0502020204030204" pitchFamily="34" charset="0"/>
                <a:ea typeface="Calibri" panose="020F0502020204030204" pitchFamily="34" charset="0"/>
                <a:cs typeface="Arial" panose="020B0604020202020204" pitchFamily="34" charset="0"/>
              </a:rPr>
              <a:t>Ataxie cérébelleuse : </a:t>
            </a:r>
            <a:endParaRPr lang="fr-FR" sz="8000" dirty="0"/>
          </a:p>
        </p:txBody>
      </p:sp>
      <p:sp>
        <p:nvSpPr>
          <p:cNvPr id="3" name="Espace réservé du contenu 2">
            <a:extLst>
              <a:ext uri="{FF2B5EF4-FFF2-40B4-BE49-F238E27FC236}">
                <a16:creationId xmlns:a16="http://schemas.microsoft.com/office/drawing/2014/main" id="{6A8FE4AA-1AD3-4C8C-9385-093B3DBCC8EF}"/>
              </a:ext>
            </a:extLst>
          </p:cNvPr>
          <p:cNvSpPr>
            <a:spLocks noGrp="1"/>
          </p:cNvSpPr>
          <p:nvPr>
            <p:ph idx="1"/>
          </p:nvPr>
        </p:nvSpPr>
        <p:spPr>
          <a:xfrm>
            <a:off x="838200" y="1571626"/>
            <a:ext cx="10515600" cy="4921248"/>
          </a:xfrm>
        </p:spPr>
        <p:txBody>
          <a:bodyPr>
            <a:normAutofit lnSpcReduction="10000"/>
          </a:bodyPr>
          <a:lstStyle/>
          <a:p>
            <a:pPr marL="0" indent="0">
              <a:buNone/>
            </a:pPr>
            <a:r>
              <a:rPr lang="fr-FR" b="1" dirty="0">
                <a:effectLst/>
                <a:latin typeface="Calibri" panose="020F0502020204030204" pitchFamily="34" charset="0"/>
                <a:ea typeface="Calibri" panose="020F0502020204030204" pitchFamily="34" charset="0"/>
                <a:cs typeface="Arial" panose="020B0604020202020204" pitchFamily="34" charset="0"/>
              </a:rPr>
              <a:t>La station debout: </a:t>
            </a:r>
          </a:p>
          <a:p>
            <a:pPr marL="0" indent="0">
              <a:buNone/>
            </a:pPr>
            <a:endParaRPr lang="fr-FR" sz="2400" b="1" dirty="0">
              <a:effectLst/>
              <a:latin typeface="Calibri" panose="020F0502020204030204" pitchFamily="34" charset="0"/>
              <a:ea typeface="Calibri" panose="020F0502020204030204" pitchFamily="34" charset="0"/>
              <a:cs typeface="Arial" panose="020B0604020202020204" pitchFamily="34" charset="0"/>
            </a:endParaRPr>
          </a:p>
          <a:p>
            <a:pPr>
              <a:buFont typeface="Wingdings" panose="05000000000000000000" pitchFamily="2" charset="2"/>
              <a:buChar char="q"/>
            </a:pPr>
            <a:r>
              <a:rPr lang="fr-FR" sz="2400" b="1" dirty="0">
                <a:latin typeface="Calibri" panose="020F0502020204030204" pitchFamily="34" charset="0"/>
                <a:ea typeface="Calibri" panose="020F0502020204030204" pitchFamily="34" charset="0"/>
                <a:cs typeface="Arial" panose="020B0604020202020204" pitchFamily="34" charset="0"/>
              </a:rPr>
              <a:t>  </a:t>
            </a:r>
            <a:r>
              <a:rPr lang="fr-FR" sz="2400" dirty="0">
                <a:effectLst/>
                <a:latin typeface="Calibri" panose="020F0502020204030204" pitchFamily="34" charset="0"/>
                <a:ea typeface="Calibri" panose="020F0502020204030204" pitchFamily="34" charset="0"/>
                <a:cs typeface="Arial" panose="020B0604020202020204" pitchFamily="34" charset="0"/>
              </a:rPr>
              <a:t> immobile est difficile, faite d'oscillations brusques, irrégulières</a:t>
            </a:r>
          </a:p>
          <a:p>
            <a:pPr>
              <a:buFont typeface="Wingdings" panose="05000000000000000000" pitchFamily="2" charset="2"/>
              <a:buChar char="q"/>
            </a:pPr>
            <a:r>
              <a:rPr lang="fr-FR" sz="2400" dirty="0">
                <a:effectLst/>
                <a:latin typeface="Calibri" panose="020F0502020204030204" pitchFamily="34" charset="0"/>
                <a:ea typeface="Calibri" panose="020F0502020204030204" pitchFamily="34" charset="0"/>
                <a:cs typeface="Arial" panose="020B0604020202020204" pitchFamily="34" charset="0"/>
              </a:rPr>
              <a:t> </a:t>
            </a:r>
            <a:r>
              <a:rPr lang="fr-FR" sz="2400" dirty="0">
                <a:latin typeface="Calibri" panose="020F0502020204030204" pitchFamily="34" charset="0"/>
                <a:ea typeface="Calibri" panose="020F0502020204030204" pitchFamily="34" charset="0"/>
                <a:cs typeface="Arial" panose="020B0604020202020204" pitchFamily="34" charset="0"/>
              </a:rPr>
              <a:t>  </a:t>
            </a:r>
            <a:r>
              <a:rPr lang="fr-FR" sz="2400" dirty="0">
                <a:effectLst/>
                <a:latin typeface="Calibri" panose="020F0502020204030204" pitchFamily="34" charset="0"/>
                <a:ea typeface="Calibri" panose="020F0502020204030204" pitchFamily="34" charset="0"/>
                <a:cs typeface="Arial" panose="020B0604020202020204" pitchFamily="34" charset="0"/>
              </a:rPr>
              <a:t>le patient doit écarter les jambes pour maintenir l'équilibre (</a:t>
            </a:r>
            <a:r>
              <a:rPr lang="fr-FR" sz="2400" b="1" dirty="0">
                <a:effectLst/>
                <a:latin typeface="Calibri" panose="020F0502020204030204" pitchFamily="34" charset="0"/>
                <a:ea typeface="Calibri" panose="020F0502020204030204" pitchFamily="34" charset="0"/>
                <a:cs typeface="Arial" panose="020B0604020202020204" pitchFamily="34" charset="0"/>
              </a:rPr>
              <a:t>élargissement du polygone de sustentation</a:t>
            </a:r>
            <a:r>
              <a:rPr lang="fr-FR" sz="2400" dirty="0">
                <a:effectLst/>
                <a:latin typeface="Calibri" panose="020F0502020204030204" pitchFamily="34" charset="0"/>
                <a:ea typeface="Calibri" panose="020F0502020204030204" pitchFamily="34" charset="0"/>
                <a:cs typeface="Arial" panose="020B0604020202020204" pitchFamily="34" charset="0"/>
              </a:rPr>
              <a:t>).</a:t>
            </a:r>
          </a:p>
          <a:p>
            <a:pPr>
              <a:buFont typeface="Wingdings" panose="05000000000000000000" pitchFamily="2" charset="2"/>
              <a:buChar char="q"/>
            </a:pPr>
            <a:r>
              <a:rPr lang="fr-FR" sz="2400" dirty="0">
                <a:latin typeface="Calibri" panose="020F0502020204030204" pitchFamily="34" charset="0"/>
                <a:ea typeface="Calibri" panose="020F0502020204030204" pitchFamily="34" charset="0"/>
                <a:cs typeface="Arial" panose="020B0604020202020204" pitchFamily="34" charset="0"/>
              </a:rPr>
              <a:t>    </a:t>
            </a:r>
            <a:r>
              <a:rPr lang="fr-FR" sz="2400" dirty="0">
                <a:effectLst/>
                <a:latin typeface="Calibri" panose="020F0502020204030204" pitchFamily="34" charset="0"/>
                <a:ea typeface="Calibri" panose="020F0502020204030204" pitchFamily="34" charset="0"/>
                <a:cs typeface="Arial" panose="020B0604020202020204" pitchFamily="34" charset="0"/>
              </a:rPr>
              <a:t>Au minimum on peut observer des mises en tension rapides et régulières du tendon du jambier antérieur, bien visible sur la face antérieure de la cheville (</a:t>
            </a:r>
            <a:r>
              <a:rPr lang="fr-FR" sz="2400" b="1" dirty="0">
                <a:effectLst/>
                <a:latin typeface="Calibri" panose="020F0502020204030204" pitchFamily="34" charset="0"/>
                <a:ea typeface="Calibri" panose="020F0502020204030204" pitchFamily="34" charset="0"/>
                <a:cs typeface="Arial" panose="020B0604020202020204" pitchFamily="34" charset="0"/>
              </a:rPr>
              <a:t>danse des tendons</a:t>
            </a:r>
            <a:r>
              <a:rPr lang="fr-FR" sz="2400" dirty="0">
                <a:effectLst/>
                <a:latin typeface="Calibri" panose="020F0502020204030204" pitchFamily="34" charset="0"/>
                <a:ea typeface="Calibri" panose="020F0502020204030204" pitchFamily="34" charset="0"/>
                <a:cs typeface="Arial" panose="020B0604020202020204" pitchFamily="34" charset="0"/>
              </a:rPr>
              <a:t>). </a:t>
            </a:r>
          </a:p>
          <a:p>
            <a:pPr>
              <a:buFont typeface="Wingdings" panose="05000000000000000000" pitchFamily="2" charset="2"/>
              <a:buChar char="q"/>
            </a:pPr>
            <a:r>
              <a:rPr lang="fr-FR" sz="2400" dirty="0">
                <a:effectLst/>
                <a:latin typeface="Calibri" panose="020F0502020204030204" pitchFamily="34" charset="0"/>
                <a:ea typeface="Calibri" panose="020F0502020204030204" pitchFamily="34" charset="0"/>
                <a:cs typeface="Arial" panose="020B0604020202020204" pitchFamily="34" charset="0"/>
              </a:rPr>
              <a:t>    Ces difficultés sont accrues si l'on demande au sujet de prendre appui sur un seul pied ou bien après une poussée d'avant en arrière. </a:t>
            </a:r>
          </a:p>
          <a:p>
            <a:pPr marL="0" indent="0">
              <a:buNone/>
            </a:pP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a:buFont typeface="Wingdings" panose="05000000000000000000" pitchFamily="2" charset="2"/>
              <a:buChar char="q"/>
            </a:pPr>
            <a:r>
              <a:rPr lang="fr-FR" sz="2400" dirty="0">
                <a:effectLst/>
                <a:latin typeface="Calibri" panose="020F0502020204030204" pitchFamily="34" charset="0"/>
                <a:ea typeface="Calibri" panose="020F0502020204030204" pitchFamily="34" charset="0"/>
                <a:cs typeface="Arial" panose="020B0604020202020204" pitchFamily="34" charset="0"/>
              </a:rPr>
              <a:t>    Enfin ces troubles </a:t>
            </a:r>
            <a:r>
              <a:rPr lang="fr-FR" sz="2400" b="1" dirty="0">
                <a:effectLst/>
                <a:latin typeface="Calibri" panose="020F0502020204030204" pitchFamily="34" charset="0"/>
                <a:ea typeface="Calibri" panose="020F0502020204030204" pitchFamily="34" charset="0"/>
                <a:cs typeface="Arial" panose="020B0604020202020204" pitchFamily="34" charset="0"/>
              </a:rPr>
              <a:t>ne</a:t>
            </a:r>
            <a:r>
              <a:rPr lang="fr-FR" sz="2400" dirty="0">
                <a:effectLst/>
                <a:latin typeface="Calibri" panose="020F0502020204030204" pitchFamily="34" charset="0"/>
                <a:ea typeface="Calibri" panose="020F0502020204030204" pitchFamily="34" charset="0"/>
                <a:cs typeface="Arial" panose="020B0604020202020204" pitchFamily="34" charset="0"/>
              </a:rPr>
              <a:t> sont </a:t>
            </a:r>
            <a:r>
              <a:rPr lang="fr-FR" sz="2400" b="1" dirty="0">
                <a:effectLst/>
                <a:latin typeface="Calibri" panose="020F0502020204030204" pitchFamily="34" charset="0"/>
                <a:ea typeface="Calibri" panose="020F0502020204030204" pitchFamily="34" charset="0"/>
                <a:cs typeface="Arial" panose="020B0604020202020204" pitchFamily="34" charset="0"/>
              </a:rPr>
              <a:t>pas aggravés </a:t>
            </a:r>
            <a:r>
              <a:rPr lang="fr-FR" sz="2400" dirty="0">
                <a:effectLst/>
                <a:latin typeface="Calibri" panose="020F0502020204030204" pitchFamily="34" charset="0"/>
                <a:ea typeface="Calibri" panose="020F0502020204030204" pitchFamily="34" charset="0"/>
                <a:cs typeface="Arial" panose="020B0604020202020204" pitchFamily="34" charset="0"/>
              </a:rPr>
              <a:t>par </a:t>
            </a:r>
            <a:r>
              <a:rPr lang="fr-FR" sz="2400" b="1" dirty="0">
                <a:effectLst/>
                <a:latin typeface="Calibri" panose="020F0502020204030204" pitchFamily="34" charset="0"/>
                <a:ea typeface="Calibri" panose="020F0502020204030204" pitchFamily="34" charset="0"/>
                <a:cs typeface="Arial" panose="020B0604020202020204" pitchFamily="34" charset="0"/>
              </a:rPr>
              <a:t>l'occlusion des yeux</a:t>
            </a:r>
            <a:r>
              <a:rPr lang="fr-FR" sz="2400" dirty="0">
                <a:effectLst/>
                <a:latin typeface="Calibri" panose="020F0502020204030204" pitchFamily="34" charset="0"/>
                <a:ea typeface="Calibri" panose="020F0502020204030204" pitchFamily="34" charset="0"/>
                <a:cs typeface="Arial" panose="020B0604020202020204" pitchFamily="34" charset="0"/>
              </a:rPr>
              <a:t>.</a:t>
            </a:r>
          </a:p>
          <a:p>
            <a:endParaRPr lang="fr-FR" dirty="0"/>
          </a:p>
        </p:txBody>
      </p:sp>
    </p:spTree>
    <p:extLst>
      <p:ext uri="{BB962C8B-B14F-4D97-AF65-F5344CB8AC3E}">
        <p14:creationId xmlns:p14="http://schemas.microsoft.com/office/powerpoint/2010/main" val="279505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6DCCA7D-88FB-4176-BC51-734A651B1FC4}"/>
              </a:ext>
            </a:extLst>
          </p:cNvPr>
          <p:cNvSpPr>
            <a:spLocks noGrp="1"/>
          </p:cNvSpPr>
          <p:nvPr>
            <p:ph idx="1"/>
          </p:nvPr>
        </p:nvSpPr>
        <p:spPr/>
        <p:txBody>
          <a:bodyPr>
            <a:normAutofit fontScale="92500"/>
          </a:bodyPr>
          <a:lstStyle/>
          <a:p>
            <a:pPr marL="0" marR="0" lvl="0" indent="0" algn="just" rtl="0">
              <a:lnSpc>
                <a:spcPct val="107000"/>
              </a:lnSpc>
              <a:spcBef>
                <a:spcPts val="0"/>
              </a:spcBef>
              <a:spcAft>
                <a:spcPts val="80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 </a:t>
            </a:r>
            <a:r>
              <a:rPr lang="fr-FR" sz="3000" b="1" dirty="0">
                <a:effectLst/>
                <a:latin typeface="Calibri" panose="020F0502020204030204" pitchFamily="34" charset="0"/>
                <a:ea typeface="Calibri" panose="020F0502020204030204" pitchFamily="34" charset="0"/>
                <a:cs typeface="Arial" panose="020B0604020202020204" pitchFamily="34" charset="0"/>
              </a:rPr>
              <a:t>La marche: </a:t>
            </a:r>
          </a:p>
          <a:p>
            <a:pPr marR="0" lvl="0" algn="just" rtl="0">
              <a:lnSpc>
                <a:spcPct val="107000"/>
              </a:lnSpc>
              <a:spcBef>
                <a:spcPts val="0"/>
              </a:spcBef>
              <a:spcAft>
                <a:spcPts val="800"/>
              </a:spcAft>
              <a:buFont typeface="Wingdings" panose="05000000000000000000" pitchFamily="2" charset="2"/>
              <a:buChar char="q"/>
            </a:pPr>
            <a:r>
              <a:rPr lang="fr-FR" sz="2400" dirty="0">
                <a:effectLst/>
                <a:latin typeface="Calibri" panose="020F0502020204030204" pitchFamily="34" charset="0"/>
                <a:ea typeface="Calibri" panose="020F0502020204030204" pitchFamily="34" charset="0"/>
                <a:cs typeface="Arial" panose="020B0604020202020204" pitchFamily="34" charset="0"/>
              </a:rPr>
              <a:t> est elle aussi perturbée. </a:t>
            </a:r>
          </a:p>
          <a:p>
            <a:pPr marR="0" lvl="0" algn="just" rtl="0">
              <a:lnSpc>
                <a:spcPct val="107000"/>
              </a:lnSpc>
              <a:spcBef>
                <a:spcPts val="0"/>
              </a:spcBef>
              <a:spcAft>
                <a:spcPts val="800"/>
              </a:spcAft>
              <a:buFont typeface="Wingdings" panose="05000000000000000000" pitchFamily="2" charset="2"/>
              <a:buChar char="q"/>
            </a:pPr>
            <a:r>
              <a:rPr lang="fr-FR" sz="2400" dirty="0">
                <a:effectLst/>
                <a:latin typeface="Calibri" panose="020F0502020204030204" pitchFamily="34" charset="0"/>
                <a:ea typeface="Calibri" panose="020F0502020204030204" pitchFamily="34" charset="0"/>
                <a:cs typeface="Arial" panose="020B0604020202020204" pitchFamily="34" charset="0"/>
              </a:rPr>
              <a:t>  Elle est faite d'embardées d'un cote ou de l'autre, elle est dite </a:t>
            </a:r>
            <a:r>
              <a:rPr lang="fr-FR" sz="2400" dirty="0">
                <a:effectLst/>
                <a:latin typeface="Cambria Math" panose="02040503050406030204" pitchFamily="18" charset="0"/>
                <a:ea typeface="Calibri" panose="020F0502020204030204" pitchFamily="34" charset="0"/>
                <a:cs typeface="Cambria Math" panose="02040503050406030204" pitchFamily="18" charset="0"/>
              </a:rPr>
              <a:t>« </a:t>
            </a:r>
            <a:r>
              <a:rPr lang="fr-FR" sz="2400" dirty="0" err="1">
                <a:effectLst/>
                <a:latin typeface="Calibri" panose="020F0502020204030204" pitchFamily="34" charset="0"/>
                <a:ea typeface="Calibri" panose="020F0502020204030204" pitchFamily="34" charset="0"/>
                <a:cs typeface="Arial" panose="020B0604020202020204" pitchFamily="34" charset="0"/>
              </a:rPr>
              <a:t>festonnante</a:t>
            </a:r>
            <a:r>
              <a:rPr lang="fr-FR" sz="2400" dirty="0">
                <a:effectLst/>
                <a:latin typeface="Calibri" panose="020F0502020204030204" pitchFamily="34" charset="0"/>
                <a:ea typeface="Calibri" panose="020F0502020204030204" pitchFamily="34" charset="0"/>
                <a:cs typeface="Arial" panose="020B0604020202020204" pitchFamily="34" charset="0"/>
              </a:rPr>
              <a:t> », le malade élargit son polygone de sustentation, les bras écartés pour obtenir plus d'équilibre. </a:t>
            </a:r>
          </a:p>
          <a:p>
            <a:pPr marR="0" lvl="0" algn="just" rtl="0">
              <a:lnSpc>
                <a:spcPct val="107000"/>
              </a:lnSpc>
              <a:spcBef>
                <a:spcPts val="0"/>
              </a:spcBef>
              <a:spcAft>
                <a:spcPts val="800"/>
              </a:spcAft>
              <a:buFont typeface="Wingdings" panose="05000000000000000000" pitchFamily="2" charset="2"/>
              <a:buChar char="q"/>
            </a:pPr>
            <a:r>
              <a:rPr lang="fr-FR" sz="2400" dirty="0">
                <a:effectLst/>
                <a:latin typeface="Calibri" panose="020F0502020204030204" pitchFamily="34" charset="0"/>
                <a:ea typeface="Calibri" panose="020F0502020204030204" pitchFamily="34" charset="0"/>
                <a:cs typeface="Arial" panose="020B0604020202020204" pitchFamily="34" charset="0"/>
              </a:rPr>
              <a:t>   On la qualifie parfois de démarches </a:t>
            </a:r>
            <a:r>
              <a:rPr lang="fr-FR" sz="2400" dirty="0">
                <a:effectLst/>
                <a:latin typeface="Cambria Math" panose="02040503050406030204" pitchFamily="18" charset="0"/>
                <a:ea typeface="Calibri" panose="020F0502020204030204" pitchFamily="34" charset="0"/>
                <a:cs typeface="Cambria Math" panose="02040503050406030204" pitchFamily="18" charset="0"/>
              </a:rPr>
              <a:t>« </a:t>
            </a:r>
            <a:r>
              <a:rPr lang="fr-FR" sz="2400" b="1" dirty="0">
                <a:effectLst/>
                <a:latin typeface="Calibri" panose="020F0502020204030204" pitchFamily="34" charset="0"/>
                <a:ea typeface="Calibri" panose="020F0502020204030204" pitchFamily="34" charset="0"/>
                <a:cs typeface="Arial" panose="020B0604020202020204" pitchFamily="34" charset="0"/>
              </a:rPr>
              <a:t>pseudo-ébrieuse</a:t>
            </a:r>
            <a:r>
              <a:rPr lang="fr-FR" sz="2400" dirty="0">
                <a:effectLst/>
                <a:latin typeface="Calibri" panose="020F0502020204030204" pitchFamily="34" charset="0"/>
                <a:ea typeface="Calibri" panose="020F0502020204030204" pitchFamily="34" charset="0"/>
                <a:cs typeface="Arial" panose="020B0604020202020204" pitchFamily="34" charset="0"/>
              </a:rPr>
              <a:t> »: Les pas sont irréguliers, les mouvements des membres inférieurs sont décomposés : élévation excessive des genoux. </a:t>
            </a:r>
          </a:p>
          <a:p>
            <a:pPr marR="0" lvl="0" algn="just" rtl="0">
              <a:lnSpc>
                <a:spcPct val="107000"/>
              </a:lnSpc>
              <a:spcBef>
                <a:spcPts val="0"/>
              </a:spcBef>
              <a:spcAft>
                <a:spcPts val="800"/>
              </a:spcAft>
              <a:buFont typeface="Wingdings" panose="05000000000000000000" pitchFamily="2" charset="2"/>
              <a:buChar char="q"/>
            </a:pPr>
            <a:r>
              <a:rPr lang="fr-FR" sz="2400" dirty="0">
                <a:effectLst/>
                <a:latin typeface="Calibri" panose="020F0502020204030204" pitchFamily="34" charset="0"/>
                <a:ea typeface="Calibri" panose="020F0502020204030204" pitchFamily="34" charset="0"/>
                <a:cs typeface="Arial" panose="020B0604020202020204" pitchFamily="34" charset="0"/>
              </a:rPr>
              <a:t>   Dans les syndromes plus modérés, les altérations de la marche peuvent être mises en évidence à la marche rapide et à l'exécution d'ordres rapides tels :  avancez, reculez, tournez….</a:t>
            </a:r>
          </a:p>
          <a:p>
            <a:endParaRPr lang="fr-FR" dirty="0"/>
          </a:p>
        </p:txBody>
      </p:sp>
      <p:sp>
        <p:nvSpPr>
          <p:cNvPr id="4" name="Titre 1">
            <a:extLst>
              <a:ext uri="{FF2B5EF4-FFF2-40B4-BE49-F238E27FC236}">
                <a16:creationId xmlns:a16="http://schemas.microsoft.com/office/drawing/2014/main" id="{C9E958EF-AA99-4BD8-8909-D0FFEF38A236}"/>
              </a:ext>
            </a:extLst>
          </p:cNvPr>
          <p:cNvSpPr>
            <a:spLocks noGrp="1"/>
          </p:cNvSpPr>
          <p:nvPr>
            <p:ph type="title"/>
          </p:nvPr>
        </p:nvSpPr>
        <p:spPr>
          <a:xfrm>
            <a:off x="838200" y="365125"/>
            <a:ext cx="10515600" cy="1325563"/>
          </a:xfrm>
          <a:solidFill>
            <a:schemeClr val="accent4">
              <a:lumMod val="20000"/>
              <a:lumOff val="80000"/>
            </a:schemeClr>
          </a:solidFill>
        </p:spPr>
        <p:txBody>
          <a:bodyPr>
            <a:normAutofit/>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Ataxie cérébelleuse : </a:t>
            </a:r>
            <a:endParaRPr lang="fr-FR" sz="6000" dirty="0"/>
          </a:p>
        </p:txBody>
      </p:sp>
    </p:spTree>
    <p:extLst>
      <p:ext uri="{BB962C8B-B14F-4D97-AF65-F5344CB8AC3E}">
        <p14:creationId xmlns:p14="http://schemas.microsoft.com/office/powerpoint/2010/main" val="1150703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7CC7A3B-3DF7-401C-B3F3-34DCBBAB1C71}"/>
              </a:ext>
            </a:extLst>
          </p:cNvPr>
          <p:cNvSpPr>
            <a:spLocks noGrp="1"/>
          </p:cNvSpPr>
          <p:nvPr>
            <p:ph idx="1"/>
          </p:nvPr>
        </p:nvSpPr>
        <p:spPr>
          <a:xfrm>
            <a:off x="838200" y="1825625"/>
            <a:ext cx="6662738" cy="4351338"/>
          </a:xfrm>
        </p:spPr>
        <p:txBody>
          <a:bodyPr/>
          <a:lstStyle/>
          <a:p>
            <a:pPr marL="0" marR="0" lvl="0" indent="0" algn="just" rtl="0">
              <a:lnSpc>
                <a:spcPct val="107000"/>
              </a:lnSpc>
              <a:spcBef>
                <a:spcPts val="0"/>
              </a:spcBef>
              <a:spcAft>
                <a:spcPts val="0"/>
              </a:spcAft>
              <a:buNone/>
            </a:pPr>
            <a:r>
              <a:rPr lang="fr-FR" sz="3200" b="1" dirty="0">
                <a:effectLst/>
                <a:latin typeface="Calibri" panose="020F0502020204030204" pitchFamily="34" charset="0"/>
                <a:ea typeface="Calibri" panose="020F0502020204030204" pitchFamily="34" charset="0"/>
                <a:cs typeface="Arial" panose="020B0604020202020204" pitchFamily="34" charset="0"/>
              </a:rPr>
              <a:t>Ataxie cinétique : </a:t>
            </a:r>
          </a:p>
          <a:p>
            <a:pPr marL="342900" marR="0" lvl="0" indent="-342900" algn="just" rtl="0">
              <a:lnSpc>
                <a:spcPct val="107000"/>
              </a:lnSpc>
              <a:spcBef>
                <a:spcPts val="0"/>
              </a:spcBef>
              <a:spcAft>
                <a:spcPts val="0"/>
              </a:spcAft>
              <a:buFont typeface="Wingdings" panose="05000000000000000000" pitchFamily="2" charset="2"/>
              <a:buChar char=""/>
            </a:pPr>
            <a:endParaRPr lang="fr-FR" sz="2400" b="1" dirty="0">
              <a:latin typeface="Calibri" panose="020F0502020204030204" pitchFamily="34" charset="0"/>
              <a:ea typeface="Calibri" panose="020F0502020204030204" pitchFamily="34" charset="0"/>
              <a:cs typeface="Arial" panose="020B0604020202020204" pitchFamily="34" charset="0"/>
            </a:endParaRPr>
          </a:p>
          <a:p>
            <a:pPr marL="342900" marR="0" lvl="0" indent="-342900" algn="just" rtl="0">
              <a:lnSpc>
                <a:spcPct val="107000"/>
              </a:lnSpc>
              <a:spcBef>
                <a:spcPts val="0"/>
              </a:spcBef>
              <a:spcAft>
                <a:spcPts val="0"/>
              </a:spcAft>
              <a:buFont typeface="Wingdings" panose="05000000000000000000" pitchFamily="2" charset="2"/>
              <a:buChar char=""/>
            </a:pPr>
            <a:endParaRPr lang="fr-FR" sz="2400" b="1"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gn="just" rtl="0">
              <a:lnSpc>
                <a:spcPct val="107000"/>
              </a:lnSpc>
              <a:spcBef>
                <a:spcPts val="0"/>
              </a:spcBef>
              <a:spcAft>
                <a:spcPts val="0"/>
              </a:spcAft>
              <a:buNone/>
            </a:pPr>
            <a:r>
              <a:rPr lang="fr-FR" sz="2400" dirty="0">
                <a:effectLst/>
                <a:latin typeface="Calibri" panose="020F0502020204030204" pitchFamily="34" charset="0"/>
                <a:ea typeface="Calibri" panose="020F0502020204030204" pitchFamily="34" charset="0"/>
                <a:cs typeface="Arial" panose="020B0604020202020204" pitchFamily="34" charset="0"/>
              </a:rPr>
              <a:t>Troubles de l'exécution du mouvement finalisé </a:t>
            </a:r>
          </a:p>
          <a:p>
            <a:pPr marL="0" marR="0" lvl="0" indent="0" algn="just" rtl="0">
              <a:lnSpc>
                <a:spcPct val="107000"/>
              </a:lnSpc>
              <a:spcBef>
                <a:spcPts val="0"/>
              </a:spcBef>
              <a:spcAft>
                <a:spcPts val="0"/>
              </a:spcAft>
              <a:buNone/>
            </a:pP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fr-FR" dirty="0"/>
          </a:p>
        </p:txBody>
      </p:sp>
      <p:sp>
        <p:nvSpPr>
          <p:cNvPr id="4" name="Titre 1">
            <a:extLst>
              <a:ext uri="{FF2B5EF4-FFF2-40B4-BE49-F238E27FC236}">
                <a16:creationId xmlns:a16="http://schemas.microsoft.com/office/drawing/2014/main" id="{A36FACC8-3137-4BF5-B4B1-A15F781E1260}"/>
              </a:ext>
            </a:extLst>
          </p:cNvPr>
          <p:cNvSpPr>
            <a:spLocks noGrp="1"/>
          </p:cNvSpPr>
          <p:nvPr>
            <p:ph type="title"/>
          </p:nvPr>
        </p:nvSpPr>
        <p:spPr>
          <a:xfrm>
            <a:off x="838200" y="365125"/>
            <a:ext cx="10515600" cy="1325563"/>
          </a:xfrm>
          <a:solidFill>
            <a:schemeClr val="accent4">
              <a:lumMod val="20000"/>
              <a:lumOff val="80000"/>
            </a:schemeClr>
          </a:solidFill>
        </p:spPr>
        <p:txBody>
          <a:bodyPr>
            <a:normAutofit/>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Ataxie cérébelleuse : </a:t>
            </a:r>
            <a:endParaRPr lang="fr-FR" sz="6000" dirty="0"/>
          </a:p>
        </p:txBody>
      </p:sp>
      <p:pic>
        <p:nvPicPr>
          <p:cNvPr id="6146" name="Picture 2" descr="Clinical flow-chart of Ataxia | Download Scientific Diagram">
            <a:extLst>
              <a:ext uri="{FF2B5EF4-FFF2-40B4-BE49-F238E27FC236}">
                <a16:creationId xmlns:a16="http://schemas.microsoft.com/office/drawing/2014/main" id="{8DDA7C83-DAAE-4D0A-BF30-B397187EC9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5375" y="3771900"/>
            <a:ext cx="3048000" cy="30861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Module de sémiologie : sémiologie neurologique, le 9 juin 2020">
            <a:extLst>
              <a:ext uri="{FF2B5EF4-FFF2-40B4-BE49-F238E27FC236}">
                <a16:creationId xmlns:a16="http://schemas.microsoft.com/office/drawing/2014/main" id="{98C4CB5E-03B0-4975-8265-2F855A82FD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0263" y="4186238"/>
            <a:ext cx="4600575" cy="1871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430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7CC7A3B-3DF7-401C-B3F3-34DCBBAB1C71}"/>
              </a:ext>
            </a:extLst>
          </p:cNvPr>
          <p:cNvSpPr>
            <a:spLocks noGrp="1"/>
          </p:cNvSpPr>
          <p:nvPr>
            <p:ph idx="1"/>
          </p:nvPr>
        </p:nvSpPr>
        <p:spPr/>
        <p:txBody>
          <a:bodyPr/>
          <a:lstStyle/>
          <a:p>
            <a:pPr marL="0" marR="0" lvl="0" indent="0" algn="just" rtl="0">
              <a:lnSpc>
                <a:spcPct val="107000"/>
              </a:lnSpc>
              <a:spcBef>
                <a:spcPts val="0"/>
              </a:spcBef>
              <a:spcAft>
                <a:spcPts val="0"/>
              </a:spcAft>
              <a:buNone/>
            </a:pP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gn="just">
              <a:lnSpc>
                <a:spcPct val="107000"/>
              </a:lnSpc>
              <a:spcBef>
                <a:spcPts val="0"/>
              </a:spcBef>
              <a:spcAft>
                <a:spcPts val="80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Hypermétrie :  </a:t>
            </a:r>
            <a:r>
              <a:rPr lang="fr-FR" sz="2400" dirty="0">
                <a:effectLst/>
                <a:latin typeface="Calibri" panose="020F0502020204030204" pitchFamily="34" charset="0"/>
                <a:ea typeface="Calibri" panose="020F0502020204030204" pitchFamily="34" charset="0"/>
                <a:cs typeface="Arial" panose="020B0604020202020204" pitchFamily="34" charset="0"/>
              </a:rPr>
              <a:t>C'est, avec l'ataxie, le signe cérébelleux majeur. </a:t>
            </a:r>
          </a:p>
          <a:p>
            <a:pPr marL="342900" marR="0" lvl="0" indent="-342900" algn="just">
              <a:lnSpc>
                <a:spcPct val="107000"/>
              </a:lnSpc>
              <a:spcBef>
                <a:spcPts val="0"/>
              </a:spcBef>
              <a:spcAft>
                <a:spcPts val="800"/>
              </a:spcAft>
              <a:buFont typeface="Wingdings" panose="05000000000000000000" pitchFamily="2" charset="2"/>
              <a:buChar char=""/>
            </a:pPr>
            <a:r>
              <a:rPr lang="fr-FR" sz="2400" dirty="0">
                <a:effectLst/>
                <a:latin typeface="Calibri" panose="020F0502020204030204" pitchFamily="34" charset="0"/>
                <a:ea typeface="Calibri" panose="020F0502020204030204" pitchFamily="34" charset="0"/>
                <a:cs typeface="Arial" panose="020B0604020202020204" pitchFamily="34" charset="0"/>
              </a:rPr>
              <a:t>Elle est recherchée lors des manœuvres doigt-nez (ou doigt/lobule de l'oreille) et talon/genou, sur le malade allongé. </a:t>
            </a:r>
          </a:p>
          <a:p>
            <a:pPr marL="342900" marR="0" lvl="0" indent="-342900" algn="just">
              <a:lnSpc>
                <a:spcPct val="107000"/>
              </a:lnSpc>
              <a:spcBef>
                <a:spcPts val="0"/>
              </a:spcBef>
              <a:spcAft>
                <a:spcPts val="800"/>
              </a:spcAft>
              <a:buFont typeface="Wingdings" panose="05000000000000000000" pitchFamily="2" charset="2"/>
              <a:buChar char=""/>
            </a:pPr>
            <a:r>
              <a:rPr lang="fr-FR" sz="2400" dirty="0">
                <a:effectLst/>
                <a:latin typeface="Calibri" panose="020F0502020204030204" pitchFamily="34" charset="0"/>
                <a:ea typeface="Calibri" panose="020F0502020204030204" pitchFamily="34" charset="0"/>
                <a:cs typeface="Arial" panose="020B0604020202020204" pitchFamily="34" charset="0"/>
              </a:rPr>
              <a:t>La consigne doit être d'exécuter le mouvement le plus rapide possible. </a:t>
            </a:r>
          </a:p>
          <a:p>
            <a:pPr marL="342900" marR="0" lvl="0" indent="-342900" algn="just">
              <a:lnSpc>
                <a:spcPct val="107000"/>
              </a:lnSpc>
              <a:spcBef>
                <a:spcPts val="0"/>
              </a:spcBef>
              <a:spcAft>
                <a:spcPts val="800"/>
              </a:spcAft>
              <a:buFont typeface="Wingdings" panose="05000000000000000000" pitchFamily="2" charset="2"/>
              <a:buChar char=""/>
            </a:pPr>
            <a:r>
              <a:rPr lang="fr-FR" sz="2400" dirty="0">
                <a:effectLst/>
                <a:latin typeface="Calibri" panose="020F0502020204030204" pitchFamily="34" charset="0"/>
                <a:ea typeface="Calibri" panose="020F0502020204030204" pitchFamily="34" charset="0"/>
                <a:cs typeface="Arial" panose="020B0604020202020204" pitchFamily="34" charset="0"/>
              </a:rPr>
              <a:t>Le malade dépasse le but à atteindre puis y revient. Il n'y a parfois qu'un discret « crochetage » en fin de mouvement. Lorsque le talon descend le long de la crête tibiale de la jambe opposée, c'est en zigzagant.</a:t>
            </a:r>
          </a:p>
          <a:p>
            <a:endParaRPr lang="fr-FR" dirty="0"/>
          </a:p>
        </p:txBody>
      </p:sp>
      <p:sp>
        <p:nvSpPr>
          <p:cNvPr id="4" name="Titre 1">
            <a:extLst>
              <a:ext uri="{FF2B5EF4-FFF2-40B4-BE49-F238E27FC236}">
                <a16:creationId xmlns:a16="http://schemas.microsoft.com/office/drawing/2014/main" id="{A36FACC8-3137-4BF5-B4B1-A15F781E1260}"/>
              </a:ext>
            </a:extLst>
          </p:cNvPr>
          <p:cNvSpPr>
            <a:spLocks noGrp="1"/>
          </p:cNvSpPr>
          <p:nvPr>
            <p:ph type="title"/>
          </p:nvPr>
        </p:nvSpPr>
        <p:spPr>
          <a:xfrm>
            <a:off x="838200" y="365125"/>
            <a:ext cx="10515600" cy="1325563"/>
          </a:xfrm>
          <a:solidFill>
            <a:schemeClr val="accent4">
              <a:lumMod val="20000"/>
              <a:lumOff val="80000"/>
            </a:schemeClr>
          </a:solidFill>
        </p:spPr>
        <p:txBody>
          <a:bodyPr>
            <a:normAutofit/>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Ataxie cérébelleuse : </a:t>
            </a:r>
            <a:endParaRPr lang="fr-FR" sz="6000" dirty="0"/>
          </a:p>
        </p:txBody>
      </p:sp>
    </p:spTree>
    <p:extLst>
      <p:ext uri="{BB962C8B-B14F-4D97-AF65-F5344CB8AC3E}">
        <p14:creationId xmlns:p14="http://schemas.microsoft.com/office/powerpoint/2010/main" val="3855052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7E348C-44FC-492E-A482-B004F7083248}"/>
              </a:ext>
            </a:extLst>
          </p:cNvPr>
          <p:cNvSpPr>
            <a:spLocks noGrp="1"/>
          </p:cNvSpPr>
          <p:nvPr>
            <p:ph type="title"/>
          </p:nvPr>
        </p:nvSpPr>
        <p:spPr/>
        <p:txBody>
          <a:bodyPr/>
          <a:lstStyle/>
          <a:p>
            <a:r>
              <a:rPr lang="fr-FR" sz="4400" b="1" dirty="0">
                <a:effectLst/>
                <a:latin typeface="Calibri" panose="020F0502020204030204" pitchFamily="34" charset="0"/>
                <a:ea typeface="Calibri" panose="020F0502020204030204" pitchFamily="34" charset="0"/>
                <a:cs typeface="Arial" panose="020B0604020202020204" pitchFamily="34" charset="0"/>
              </a:rPr>
              <a:t>Hypermétrie :</a:t>
            </a:r>
            <a:endParaRPr lang="fr-FR" dirty="0"/>
          </a:p>
        </p:txBody>
      </p:sp>
      <p:pic>
        <p:nvPicPr>
          <p:cNvPr id="7170" name="Picture 2" descr="Coordination | Medicine Key">
            <a:extLst>
              <a:ext uri="{FF2B5EF4-FFF2-40B4-BE49-F238E27FC236}">
                <a16:creationId xmlns:a16="http://schemas.microsoft.com/office/drawing/2014/main" id="{046E3267-1BDB-444A-B4A3-09122254B54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7342" y="2293621"/>
            <a:ext cx="3900446" cy="272129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Coordination | Medicine Key">
            <a:extLst>
              <a:ext uri="{FF2B5EF4-FFF2-40B4-BE49-F238E27FC236}">
                <a16:creationId xmlns:a16="http://schemas.microsoft.com/office/drawing/2014/main" id="{42B3F2AD-4F9E-4BD0-9F19-D9AA5B638C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7163" y="2058829"/>
            <a:ext cx="3409950" cy="319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817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0C6D5C5-2BF8-4815-9D36-BC1A6144B102}"/>
              </a:ext>
            </a:extLst>
          </p:cNvPr>
          <p:cNvSpPr>
            <a:spLocks noGrp="1"/>
          </p:cNvSpPr>
          <p:nvPr>
            <p:ph idx="1"/>
          </p:nvPr>
        </p:nvSpPr>
        <p:spPr>
          <a:xfrm>
            <a:off x="838200" y="1825625"/>
            <a:ext cx="4976813" cy="4351338"/>
          </a:xfrm>
        </p:spPr>
        <p:txBody>
          <a:bodyPr/>
          <a:lstStyle/>
          <a:p>
            <a:pPr marL="0" marR="0" lvl="0" indent="0" algn="just" rtl="0">
              <a:lnSpc>
                <a:spcPct val="107000"/>
              </a:lnSpc>
              <a:spcBef>
                <a:spcPts val="0"/>
              </a:spcBef>
              <a:spcAft>
                <a:spcPts val="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L'asynergie </a:t>
            </a:r>
            <a:r>
              <a:rPr lang="fr-FR" sz="2400" dirty="0">
                <a:effectLst/>
                <a:latin typeface="Calibri" panose="020F0502020204030204" pitchFamily="34" charset="0"/>
                <a:ea typeface="Calibri" panose="020F0502020204030204" pitchFamily="34" charset="0"/>
                <a:cs typeface="Arial" panose="020B0604020202020204" pitchFamily="34" charset="0"/>
              </a:rPr>
              <a:t>: </a:t>
            </a:r>
          </a:p>
          <a:p>
            <a:pPr marL="0" marR="0" lvl="0" indent="0" algn="just" rtl="0">
              <a:lnSpc>
                <a:spcPct val="107000"/>
              </a:lnSpc>
              <a:spcBef>
                <a:spcPts val="0"/>
              </a:spcBef>
              <a:spcAft>
                <a:spcPts val="0"/>
              </a:spcAft>
              <a:buNone/>
            </a:pPr>
            <a:endParaRPr lang="fr-FR" sz="2400" dirty="0">
              <a:latin typeface="Calibri" panose="020F0502020204030204" pitchFamily="34" charset="0"/>
              <a:ea typeface="Calibri" panose="020F0502020204030204" pitchFamily="34" charset="0"/>
              <a:cs typeface="Arial" panose="020B0604020202020204" pitchFamily="34" charset="0"/>
            </a:endParaRPr>
          </a:p>
          <a:p>
            <a:pPr marL="0" marR="0" lvl="0" indent="0" algn="just" rtl="0">
              <a:lnSpc>
                <a:spcPct val="107000"/>
              </a:lnSpc>
              <a:spcBef>
                <a:spcPts val="0"/>
              </a:spcBef>
              <a:spcAft>
                <a:spcPts val="0"/>
              </a:spcAft>
              <a:buNone/>
            </a:pPr>
            <a:r>
              <a:rPr lang="fr-FR" sz="2400" dirty="0">
                <a:effectLst/>
                <a:latin typeface="Calibri" panose="020F0502020204030204" pitchFamily="34" charset="0"/>
                <a:ea typeface="Calibri" panose="020F0502020204030204" pitchFamily="34" charset="0"/>
                <a:cs typeface="Arial" panose="020B0604020202020204" pitchFamily="34" charset="0"/>
              </a:rPr>
              <a:t>trouble de l’enchainement des différentes composantes du mouvements dont la conséquence est la décomposition du mouvement, </a:t>
            </a:r>
          </a:p>
          <a:p>
            <a:pPr marL="0" marR="0" lvl="0" indent="0" algn="just" rtl="0">
              <a:lnSpc>
                <a:spcPct val="107000"/>
              </a:lnSpc>
              <a:spcBef>
                <a:spcPts val="0"/>
              </a:spcBef>
              <a:spcAft>
                <a:spcPts val="0"/>
              </a:spcAft>
              <a:buNone/>
            </a:pPr>
            <a:endParaRPr lang="fr-FR" sz="2400" dirty="0">
              <a:latin typeface="Calibri" panose="020F0502020204030204" pitchFamily="34" charset="0"/>
              <a:ea typeface="Calibri" panose="020F0502020204030204" pitchFamily="34" charset="0"/>
              <a:cs typeface="Arial" panose="020B0604020202020204" pitchFamily="34" charset="0"/>
            </a:endParaRPr>
          </a:p>
          <a:p>
            <a:pPr marL="0" marR="0" lvl="0" indent="0" algn="just" rtl="0">
              <a:lnSpc>
                <a:spcPct val="107000"/>
              </a:lnSpc>
              <a:spcBef>
                <a:spcPts val="0"/>
              </a:spcBef>
              <a:spcAft>
                <a:spcPts val="0"/>
              </a:spcAft>
              <a:buNone/>
            </a:pP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gn="just" rtl="0">
              <a:lnSpc>
                <a:spcPct val="107000"/>
              </a:lnSpc>
              <a:spcBef>
                <a:spcPts val="0"/>
              </a:spcBef>
              <a:spcAft>
                <a:spcPts val="0"/>
              </a:spcAft>
              <a:buNone/>
            </a:pPr>
            <a:endParaRPr lang="fr-FR" sz="2400" dirty="0">
              <a:latin typeface="Calibri" panose="020F0502020204030204" pitchFamily="34" charset="0"/>
              <a:ea typeface="Calibri" panose="020F0502020204030204" pitchFamily="34" charset="0"/>
              <a:cs typeface="Arial" panose="020B0604020202020204" pitchFamily="34" charset="0"/>
            </a:endParaRPr>
          </a:p>
          <a:p>
            <a:pPr marL="0" marR="0" lvl="0" indent="0" algn="just" rtl="0">
              <a:lnSpc>
                <a:spcPct val="107000"/>
              </a:lnSpc>
              <a:spcBef>
                <a:spcPts val="0"/>
              </a:spcBef>
              <a:spcAft>
                <a:spcPts val="0"/>
              </a:spcAft>
              <a:buNone/>
            </a:pP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fr-FR" dirty="0"/>
          </a:p>
        </p:txBody>
      </p:sp>
      <p:sp>
        <p:nvSpPr>
          <p:cNvPr id="4" name="Titre 1">
            <a:extLst>
              <a:ext uri="{FF2B5EF4-FFF2-40B4-BE49-F238E27FC236}">
                <a16:creationId xmlns:a16="http://schemas.microsoft.com/office/drawing/2014/main" id="{5C86DAAB-C8EE-4205-861F-00AE1BAEF7F4}"/>
              </a:ext>
            </a:extLst>
          </p:cNvPr>
          <p:cNvSpPr>
            <a:spLocks noGrp="1"/>
          </p:cNvSpPr>
          <p:nvPr>
            <p:ph type="title"/>
          </p:nvPr>
        </p:nvSpPr>
        <p:spPr>
          <a:xfrm>
            <a:off x="838200" y="365125"/>
            <a:ext cx="10515600" cy="1325563"/>
          </a:xfrm>
          <a:solidFill>
            <a:schemeClr val="accent4">
              <a:lumMod val="20000"/>
              <a:lumOff val="80000"/>
            </a:schemeClr>
          </a:solidFill>
        </p:spPr>
        <p:txBody>
          <a:bodyPr>
            <a:normAutofit/>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Ataxie cérébelleuse : </a:t>
            </a:r>
            <a:endParaRPr lang="fr-FR" sz="6000" dirty="0"/>
          </a:p>
        </p:txBody>
      </p:sp>
      <p:pic>
        <p:nvPicPr>
          <p:cNvPr id="8194" name="Picture 2" descr="Asynergie | Pour la Science">
            <a:extLst>
              <a:ext uri="{FF2B5EF4-FFF2-40B4-BE49-F238E27FC236}">
                <a16:creationId xmlns:a16="http://schemas.microsoft.com/office/drawing/2014/main" id="{E4129B17-1339-4CAF-897B-F3CDD25D58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2438" y="2081213"/>
            <a:ext cx="3281362" cy="3648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019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0C6D5C5-2BF8-4815-9D36-BC1A6144B102}"/>
              </a:ext>
            </a:extLst>
          </p:cNvPr>
          <p:cNvSpPr>
            <a:spLocks noGrp="1"/>
          </p:cNvSpPr>
          <p:nvPr>
            <p:ph idx="1"/>
          </p:nvPr>
        </p:nvSpPr>
        <p:spPr/>
        <p:txBody>
          <a:bodyPr>
            <a:normAutofit/>
          </a:bodyPr>
          <a:lstStyle/>
          <a:p>
            <a:pPr marL="0" marR="0" lvl="0" indent="0" algn="just" rtl="0">
              <a:lnSpc>
                <a:spcPct val="107000"/>
              </a:lnSpc>
              <a:spcBef>
                <a:spcPts val="0"/>
              </a:spcBef>
              <a:spcAft>
                <a:spcPts val="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L'asynergie </a:t>
            </a:r>
            <a:r>
              <a:rPr lang="fr-FR" sz="2400" dirty="0">
                <a:effectLst/>
                <a:latin typeface="Calibri" panose="020F0502020204030204" pitchFamily="34" charset="0"/>
                <a:ea typeface="Calibri" panose="020F0502020204030204" pitchFamily="34" charset="0"/>
                <a:cs typeface="Arial" panose="020B0604020202020204" pitchFamily="34" charset="0"/>
              </a:rPr>
              <a:t>: </a:t>
            </a:r>
          </a:p>
          <a:p>
            <a:pPr marL="0" marR="0" lvl="0" indent="0" algn="just" rtl="0">
              <a:lnSpc>
                <a:spcPct val="107000"/>
              </a:lnSpc>
              <a:spcBef>
                <a:spcPts val="0"/>
              </a:spcBef>
              <a:spcAft>
                <a:spcPts val="0"/>
              </a:spcAft>
              <a:buNone/>
            </a:pPr>
            <a:r>
              <a:rPr lang="fr-FR" sz="2400" dirty="0">
                <a:effectLst/>
                <a:latin typeface="Calibri" panose="020F0502020204030204" pitchFamily="34" charset="0"/>
                <a:ea typeface="Calibri" panose="020F0502020204030204" pitchFamily="34" charset="0"/>
                <a:cs typeface="Arial" panose="020B0604020202020204" pitchFamily="34" charset="0"/>
              </a:rPr>
              <a:t>elle   est démontrée par les manœuvres suivantes :</a:t>
            </a:r>
          </a:p>
          <a:p>
            <a:pPr marL="0" marR="0" lvl="0" indent="0" algn="just" rtl="0">
              <a:lnSpc>
                <a:spcPct val="107000"/>
              </a:lnSpc>
              <a:spcBef>
                <a:spcPts val="0"/>
              </a:spcBef>
              <a:spcAft>
                <a:spcPts val="0"/>
              </a:spcAft>
              <a:buNone/>
            </a:pP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0"/>
              </a:spcAft>
              <a:buFont typeface="Courier New" panose="02070309020205020404" pitchFamily="49" charset="0"/>
              <a:buChar char="o"/>
            </a:pPr>
            <a:r>
              <a:rPr lang="fr-FR" sz="2400" dirty="0">
                <a:effectLst/>
                <a:latin typeface="Calibri" panose="020F0502020204030204" pitchFamily="34" charset="0"/>
                <a:ea typeface="Calibri" panose="020F0502020204030204" pitchFamily="34" charset="0"/>
                <a:cs typeface="Arial" panose="020B0604020202020204" pitchFamily="34" charset="0"/>
              </a:rPr>
              <a:t>Flexion combinée de la cuisse et du tronc : on demande au sujet allongé, bras croisés de s'asseoir, il ne peut le faire, car ses membres inférieurs restent fixés sur le plan du lit ; il ne peut s'asseoir que lorsqu'on maintient ses membres inférieurs soulevés.</a:t>
            </a:r>
          </a:p>
          <a:p>
            <a:pPr marL="342900" marR="0" lvl="0" indent="-342900" algn="just">
              <a:lnSpc>
                <a:spcPct val="107000"/>
              </a:lnSpc>
              <a:spcBef>
                <a:spcPts val="0"/>
              </a:spcBef>
              <a:spcAft>
                <a:spcPts val="0"/>
              </a:spcAft>
              <a:buFont typeface="Courier New" panose="02070309020205020404" pitchFamily="49" charset="0"/>
              <a:buChar char="o"/>
            </a:pPr>
            <a:r>
              <a:rPr lang="fr-FR" sz="2400" dirty="0">
                <a:effectLst/>
                <a:latin typeface="Calibri" panose="020F0502020204030204" pitchFamily="34" charset="0"/>
                <a:ea typeface="Calibri" panose="020F0502020204030204" pitchFamily="34" charset="0"/>
                <a:cs typeface="Arial" panose="020B0604020202020204" pitchFamily="34" charset="0"/>
              </a:rPr>
              <a:t>Lors de l'accroupissement : le sujet ne décolle pas ses talons du sol.</a:t>
            </a:r>
          </a:p>
          <a:p>
            <a:pPr marL="342900" marR="0" lvl="0" indent="-342900" algn="just">
              <a:lnSpc>
                <a:spcPct val="107000"/>
              </a:lnSpc>
              <a:spcBef>
                <a:spcPts val="0"/>
              </a:spcBef>
              <a:spcAft>
                <a:spcPts val="0"/>
              </a:spcAft>
              <a:buFont typeface="Courier New" panose="02070309020205020404" pitchFamily="49" charset="0"/>
              <a:buChar char="o"/>
            </a:pPr>
            <a:r>
              <a:rPr lang="fr-FR" sz="2400" dirty="0">
                <a:effectLst/>
                <a:latin typeface="Calibri" panose="020F0502020204030204" pitchFamily="34" charset="0"/>
                <a:ea typeface="Calibri" panose="020F0502020204030204" pitchFamily="34" charset="0"/>
                <a:cs typeface="Arial" panose="020B0604020202020204" pitchFamily="34" charset="0"/>
              </a:rPr>
              <a:t>Lors de l'inclinaison latérale du tronc, les pieds écartés, le sujet ne soulève pas le talon du côté opposé au déplacement.</a:t>
            </a:r>
          </a:p>
          <a:p>
            <a:endParaRPr lang="fr-FR" dirty="0"/>
          </a:p>
        </p:txBody>
      </p:sp>
      <p:sp>
        <p:nvSpPr>
          <p:cNvPr id="4" name="Titre 1">
            <a:extLst>
              <a:ext uri="{FF2B5EF4-FFF2-40B4-BE49-F238E27FC236}">
                <a16:creationId xmlns:a16="http://schemas.microsoft.com/office/drawing/2014/main" id="{5C86DAAB-C8EE-4205-861F-00AE1BAEF7F4}"/>
              </a:ext>
            </a:extLst>
          </p:cNvPr>
          <p:cNvSpPr>
            <a:spLocks noGrp="1"/>
          </p:cNvSpPr>
          <p:nvPr>
            <p:ph type="title"/>
          </p:nvPr>
        </p:nvSpPr>
        <p:spPr>
          <a:xfrm>
            <a:off x="838200" y="365125"/>
            <a:ext cx="10515600" cy="1325563"/>
          </a:xfrm>
          <a:solidFill>
            <a:schemeClr val="accent4">
              <a:lumMod val="20000"/>
              <a:lumOff val="80000"/>
            </a:schemeClr>
          </a:solidFill>
        </p:spPr>
        <p:txBody>
          <a:bodyPr>
            <a:normAutofit/>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Ataxie cérébelleuse : </a:t>
            </a:r>
            <a:endParaRPr lang="fr-FR" sz="6000" dirty="0"/>
          </a:p>
        </p:txBody>
      </p:sp>
    </p:spTree>
    <p:extLst>
      <p:ext uri="{BB962C8B-B14F-4D97-AF65-F5344CB8AC3E}">
        <p14:creationId xmlns:p14="http://schemas.microsoft.com/office/powerpoint/2010/main" val="1742183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D567F2-A690-4DB9-BD5B-73981AFF8733}"/>
              </a:ext>
            </a:extLst>
          </p:cNvPr>
          <p:cNvSpPr>
            <a:spLocks noGrp="1"/>
          </p:cNvSpPr>
          <p:nvPr>
            <p:ph type="title"/>
          </p:nvPr>
        </p:nvSpPr>
        <p:spPr>
          <a:xfrm>
            <a:off x="838200" y="365126"/>
            <a:ext cx="10515600" cy="877888"/>
          </a:xfrm>
          <a:solidFill>
            <a:schemeClr val="accent4">
              <a:lumMod val="20000"/>
              <a:lumOff val="80000"/>
            </a:schemeClr>
          </a:solidFill>
        </p:spPr>
        <p:txBody>
          <a:bodyPr/>
          <a:lstStyle/>
          <a:p>
            <a:r>
              <a:rPr lang="fr-FR" dirty="0"/>
              <a:t>asynergie</a:t>
            </a:r>
          </a:p>
        </p:txBody>
      </p:sp>
      <p:pic>
        <p:nvPicPr>
          <p:cNvPr id="9218" name="Picture 2" descr="La thérapie médicale et chirurgicale . Fig. 19.-^flexion combinée de la  cuisse et le tronc dans l'hémiplégie gauche (Babinski) (168).. Fig.  20.-l'hémiplégie gauche muscle platysma sign in Photo Stock - Alamy">
            <a:extLst>
              <a:ext uri="{FF2B5EF4-FFF2-40B4-BE49-F238E27FC236}">
                <a16:creationId xmlns:a16="http://schemas.microsoft.com/office/drawing/2014/main" id="{B6DFFA5E-EAEC-4725-8943-444FE955CB6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8175" y="1986360"/>
            <a:ext cx="3862388" cy="214709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Video 6 : Dysdiadochokinesia / Asynergie - YouTube">
            <a:extLst>
              <a:ext uri="{FF2B5EF4-FFF2-40B4-BE49-F238E27FC236}">
                <a16:creationId xmlns:a16="http://schemas.microsoft.com/office/drawing/2014/main" id="{FBE88E36-6A7B-4BA1-A84B-D462595877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0838" y="1986359"/>
            <a:ext cx="3971925" cy="2147093"/>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LA COLONNE VERTÉBRALE - Sur le chemin du sourire">
            <a:extLst>
              <a:ext uri="{FF2B5EF4-FFF2-40B4-BE49-F238E27FC236}">
                <a16:creationId xmlns:a16="http://schemas.microsoft.com/office/drawing/2014/main" id="{65459BB0-04BA-4D22-965A-44B71A7C52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4133452"/>
            <a:ext cx="2200275"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85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2C3C68D-FF76-4084-93FB-28465382D8F1}"/>
              </a:ext>
            </a:extLst>
          </p:cNvPr>
          <p:cNvSpPr>
            <a:spLocks noGrp="1"/>
          </p:cNvSpPr>
          <p:nvPr>
            <p:ph idx="1"/>
          </p:nvPr>
        </p:nvSpPr>
        <p:spPr>
          <a:xfrm>
            <a:off x="838200" y="1825625"/>
            <a:ext cx="6319838" cy="4351338"/>
          </a:xfrm>
        </p:spPr>
        <p:txBody>
          <a:bodyPr>
            <a:normAutofit/>
          </a:bodyPr>
          <a:lstStyle/>
          <a:p>
            <a:pPr marL="342900" marR="0" lvl="0" indent="-342900" algn="just" rtl="0">
              <a:lnSpc>
                <a:spcPct val="107000"/>
              </a:lnSpc>
              <a:spcBef>
                <a:spcPts val="0"/>
              </a:spcBef>
              <a:spcAft>
                <a:spcPts val="0"/>
              </a:spcAft>
              <a:buFont typeface="Wingdings" panose="05000000000000000000" pitchFamily="2" charset="2"/>
              <a:buChar char=""/>
            </a:pPr>
            <a:r>
              <a:rPr lang="fr-FR" sz="2400" b="1" dirty="0">
                <a:effectLst/>
                <a:latin typeface="Calibri" panose="020F0502020204030204" pitchFamily="34" charset="0"/>
                <a:ea typeface="Calibri" panose="020F0502020204030204" pitchFamily="34" charset="0"/>
                <a:cs typeface="Arial" panose="020B0604020202020204" pitchFamily="34" charset="0"/>
              </a:rPr>
              <a:t>L'adiadococinésie :</a:t>
            </a:r>
            <a:r>
              <a:rPr lang="fr-FR" sz="2400" dirty="0">
                <a:effectLst/>
                <a:latin typeface="Calibri" panose="020F0502020204030204" pitchFamily="34" charset="0"/>
                <a:ea typeface="Calibri" panose="020F0502020204030204" pitchFamily="34" charset="0"/>
                <a:cs typeface="Arial" panose="020B0604020202020204" pitchFamily="34" charset="0"/>
              </a:rPr>
              <a:t> </a:t>
            </a:r>
          </a:p>
          <a:p>
            <a:pPr marL="0" marR="0" lvl="0" indent="0" algn="just" rtl="0">
              <a:lnSpc>
                <a:spcPct val="107000"/>
              </a:lnSpc>
              <a:spcBef>
                <a:spcPts val="0"/>
              </a:spcBef>
              <a:spcAft>
                <a:spcPts val="0"/>
              </a:spcAft>
              <a:buNone/>
            </a:pPr>
            <a:r>
              <a:rPr lang="fr-FR" sz="2400" dirty="0">
                <a:latin typeface="Calibri" panose="020F0502020204030204" pitchFamily="34" charset="0"/>
                <a:ea typeface="Calibri" panose="020F0502020204030204" pitchFamily="34" charset="0"/>
                <a:cs typeface="Arial" panose="020B0604020202020204" pitchFamily="34" charset="0"/>
              </a:rPr>
              <a:t>  </a:t>
            </a:r>
            <a:r>
              <a:rPr lang="fr-FR" sz="2400" dirty="0">
                <a:effectLst/>
                <a:latin typeface="Calibri" panose="020F0502020204030204" pitchFamily="34" charset="0"/>
                <a:ea typeface="Calibri" panose="020F0502020204030204" pitchFamily="34" charset="0"/>
                <a:cs typeface="Arial" panose="020B0604020202020204" pitchFamily="34" charset="0"/>
              </a:rPr>
              <a:t>est la difficulté ou l'impossibilité d'exécuter les mouvements alternatifs rapides : épreuve de marionnettes (pronation, supination rapidement alternées) ou retourner les mains sur les cuisses ou battre la mesure avec les pieds : le mouvement est de plus en plus maladroit et irrégulier.</a:t>
            </a:r>
          </a:p>
          <a:p>
            <a:pPr marL="0" indent="0">
              <a:buNone/>
            </a:pPr>
            <a:endParaRPr lang="fr-FR" dirty="0"/>
          </a:p>
        </p:txBody>
      </p:sp>
      <p:sp>
        <p:nvSpPr>
          <p:cNvPr id="4" name="Titre 1">
            <a:extLst>
              <a:ext uri="{FF2B5EF4-FFF2-40B4-BE49-F238E27FC236}">
                <a16:creationId xmlns:a16="http://schemas.microsoft.com/office/drawing/2014/main" id="{FFBC6306-C60D-4A76-93DB-F67EBB530122}"/>
              </a:ext>
            </a:extLst>
          </p:cNvPr>
          <p:cNvSpPr>
            <a:spLocks noGrp="1"/>
          </p:cNvSpPr>
          <p:nvPr>
            <p:ph type="title"/>
          </p:nvPr>
        </p:nvSpPr>
        <p:spPr>
          <a:xfrm>
            <a:off x="838200" y="365125"/>
            <a:ext cx="10515600" cy="1325563"/>
          </a:xfrm>
          <a:solidFill>
            <a:schemeClr val="accent4">
              <a:lumMod val="20000"/>
              <a:lumOff val="80000"/>
            </a:schemeClr>
          </a:solidFill>
        </p:spPr>
        <p:txBody>
          <a:bodyPr>
            <a:normAutofit/>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Ataxie cérébelleuse : </a:t>
            </a:r>
            <a:endParaRPr lang="fr-FR" sz="6000" dirty="0"/>
          </a:p>
        </p:txBody>
      </p:sp>
      <p:pic>
        <p:nvPicPr>
          <p:cNvPr id="10242" name="Picture 2" descr="Concours épreuve de Français humour marionnette - YouTube">
            <a:extLst>
              <a:ext uri="{FF2B5EF4-FFF2-40B4-BE49-F238E27FC236}">
                <a16:creationId xmlns:a16="http://schemas.microsoft.com/office/drawing/2014/main" id="{F8161EE4-2107-4F6C-BDB0-9BBF6C4A5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149" y="2271713"/>
            <a:ext cx="3471863" cy="3500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340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2C3C68D-FF76-4084-93FB-28465382D8F1}"/>
              </a:ext>
            </a:extLst>
          </p:cNvPr>
          <p:cNvSpPr>
            <a:spLocks noGrp="1"/>
          </p:cNvSpPr>
          <p:nvPr>
            <p:ph idx="1"/>
          </p:nvPr>
        </p:nvSpPr>
        <p:spPr>
          <a:xfrm>
            <a:off x="838200" y="1825625"/>
            <a:ext cx="10515600" cy="2974975"/>
          </a:xfrm>
        </p:spPr>
        <p:txBody>
          <a:bodyPr>
            <a:normAutofit/>
          </a:bodyPr>
          <a:lstStyle/>
          <a:p>
            <a:pPr marL="342900" marR="0" lvl="0" indent="-342900" algn="just" rtl="0">
              <a:lnSpc>
                <a:spcPct val="107000"/>
              </a:lnSpc>
              <a:spcBef>
                <a:spcPts val="0"/>
              </a:spcBef>
              <a:spcAft>
                <a:spcPts val="0"/>
              </a:spcAft>
              <a:buFont typeface="Wingdings" panose="05000000000000000000" pitchFamily="2" charset="2"/>
              <a:buChar char=""/>
            </a:pPr>
            <a:endParaRPr lang="fr-FR" sz="2400" b="1"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gn="just">
              <a:lnSpc>
                <a:spcPct val="107000"/>
              </a:lnSpc>
              <a:spcBef>
                <a:spcPts val="0"/>
              </a:spcBef>
              <a:spcAft>
                <a:spcPts val="80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  La dyschronométrie</a:t>
            </a:r>
            <a:r>
              <a:rPr lang="fr-FR" sz="2400" dirty="0">
                <a:effectLst/>
                <a:latin typeface="Calibri" panose="020F0502020204030204" pitchFamily="34" charset="0"/>
                <a:ea typeface="Calibri" panose="020F0502020204030204" pitchFamily="34" charset="0"/>
                <a:cs typeface="Arial" panose="020B0604020202020204" pitchFamily="34" charset="0"/>
              </a:rPr>
              <a:t> : </a:t>
            </a:r>
          </a:p>
          <a:p>
            <a:pPr marL="342900" marR="0" lvl="0" indent="-342900" algn="just">
              <a:lnSpc>
                <a:spcPct val="107000"/>
              </a:lnSpc>
              <a:spcBef>
                <a:spcPts val="0"/>
              </a:spcBef>
              <a:spcAft>
                <a:spcPts val="800"/>
              </a:spcAft>
              <a:buFont typeface="Wingdings" panose="05000000000000000000" pitchFamily="2" charset="2"/>
              <a:buChar char=""/>
            </a:pPr>
            <a:endParaRPr lang="fr-FR" sz="2400" dirty="0">
              <a:latin typeface="Calibri" panose="020F0502020204030204" pitchFamily="34" charset="0"/>
              <a:ea typeface="Calibri" panose="020F0502020204030204" pitchFamily="34" charset="0"/>
              <a:cs typeface="Arial" panose="020B0604020202020204" pitchFamily="34" charset="0"/>
            </a:endParaRPr>
          </a:p>
          <a:p>
            <a:pPr marL="0" marR="0" lvl="0" indent="0" algn="just">
              <a:lnSpc>
                <a:spcPct val="107000"/>
              </a:lnSpc>
              <a:spcBef>
                <a:spcPts val="0"/>
              </a:spcBef>
              <a:spcAft>
                <a:spcPts val="800"/>
              </a:spcAft>
              <a:buNone/>
            </a:pPr>
            <a:r>
              <a:rPr lang="fr-FR" sz="2400" dirty="0">
                <a:effectLst/>
                <a:latin typeface="Calibri" panose="020F0502020204030204" pitchFamily="34" charset="0"/>
                <a:ea typeface="Calibri" panose="020F0502020204030204" pitchFamily="34" charset="0"/>
                <a:cs typeface="Arial" panose="020B0604020202020204" pitchFamily="34" charset="0"/>
              </a:rPr>
              <a:t>est le retard au déclenchement du mouvement et à son arrêt.</a:t>
            </a:r>
          </a:p>
          <a:p>
            <a:pPr marL="0" indent="0">
              <a:buNone/>
            </a:pPr>
            <a:endParaRPr lang="fr-FR" dirty="0"/>
          </a:p>
        </p:txBody>
      </p:sp>
      <p:sp>
        <p:nvSpPr>
          <p:cNvPr id="4" name="Titre 1">
            <a:extLst>
              <a:ext uri="{FF2B5EF4-FFF2-40B4-BE49-F238E27FC236}">
                <a16:creationId xmlns:a16="http://schemas.microsoft.com/office/drawing/2014/main" id="{FFBC6306-C60D-4A76-93DB-F67EBB530122}"/>
              </a:ext>
            </a:extLst>
          </p:cNvPr>
          <p:cNvSpPr>
            <a:spLocks noGrp="1"/>
          </p:cNvSpPr>
          <p:nvPr>
            <p:ph type="title"/>
          </p:nvPr>
        </p:nvSpPr>
        <p:spPr>
          <a:xfrm>
            <a:off x="838200" y="365125"/>
            <a:ext cx="10515600" cy="1325563"/>
          </a:xfrm>
          <a:solidFill>
            <a:schemeClr val="accent4">
              <a:lumMod val="20000"/>
              <a:lumOff val="80000"/>
            </a:schemeClr>
          </a:solidFill>
        </p:spPr>
        <p:txBody>
          <a:bodyPr>
            <a:normAutofit/>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Ataxie cérébelleuse : </a:t>
            </a:r>
            <a:endParaRPr lang="fr-FR" sz="6000" dirty="0"/>
          </a:p>
        </p:txBody>
      </p:sp>
    </p:spTree>
    <p:extLst>
      <p:ext uri="{BB962C8B-B14F-4D97-AF65-F5344CB8AC3E}">
        <p14:creationId xmlns:p14="http://schemas.microsoft.com/office/powerpoint/2010/main" val="2649347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1A1B8DA-DDF6-45AA-B9BE-DE85E68AA9E8}"/>
              </a:ext>
            </a:extLst>
          </p:cNvPr>
          <p:cNvSpPr>
            <a:spLocks noGrp="1"/>
          </p:cNvSpPr>
          <p:nvPr>
            <p:ph idx="1"/>
          </p:nvPr>
        </p:nvSpPr>
        <p:spPr/>
        <p:txBody>
          <a:bodyPr/>
          <a:lstStyle/>
          <a:p>
            <a:pPr marL="342900" marR="0" lvl="0" indent="-342900" algn="just" rtl="0">
              <a:lnSpc>
                <a:spcPct val="107000"/>
              </a:lnSpc>
              <a:spcBef>
                <a:spcPts val="0"/>
              </a:spcBef>
              <a:spcAft>
                <a:spcPts val="0"/>
              </a:spcAft>
              <a:buFont typeface="Wingdings" panose="05000000000000000000" pitchFamily="2" charset="2"/>
              <a:buChar char=""/>
            </a:pPr>
            <a:r>
              <a:rPr lang="fr-FR" sz="2800" b="1" dirty="0">
                <a:effectLst/>
                <a:latin typeface="Calibri" panose="020F0502020204030204" pitchFamily="34" charset="0"/>
                <a:ea typeface="Calibri" panose="020F0502020204030204" pitchFamily="34" charset="0"/>
                <a:cs typeface="Arial" panose="020B0604020202020204" pitchFamily="34" charset="0"/>
              </a:rPr>
              <a:t>Troubles de la parole et de l'écriture :</a:t>
            </a:r>
          </a:p>
          <a:p>
            <a:pPr marL="0" marR="0" lvl="0" indent="0" algn="just" rtl="0">
              <a:lnSpc>
                <a:spcPct val="107000"/>
              </a:lnSpc>
              <a:spcBef>
                <a:spcPts val="0"/>
              </a:spcBef>
              <a:spcAft>
                <a:spcPts val="0"/>
              </a:spcAft>
              <a:buNone/>
            </a:pPr>
            <a:endParaRPr lang="fr-FR"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0"/>
              </a:spcAft>
              <a:buFont typeface="Calibri" panose="020F0502020204030204" pitchFamily="34" charset="0"/>
              <a:buChar char="-"/>
            </a:pPr>
            <a:r>
              <a:rPr lang="fr-FR" sz="2800" b="1" dirty="0">
                <a:effectLst/>
                <a:latin typeface="Calibri" panose="020F0502020204030204" pitchFamily="34" charset="0"/>
                <a:ea typeface="Calibri" panose="020F0502020204030204" pitchFamily="34" charset="0"/>
                <a:cs typeface="Arial" panose="020B0604020202020204" pitchFamily="34" charset="0"/>
              </a:rPr>
              <a:t>Dysarthrie cérébelleuse</a:t>
            </a:r>
            <a:r>
              <a:rPr lang="fr-FR" sz="2800" dirty="0">
                <a:effectLst/>
                <a:latin typeface="Calibri" panose="020F0502020204030204" pitchFamily="34" charset="0"/>
                <a:ea typeface="Calibri" panose="020F0502020204030204" pitchFamily="34" charset="0"/>
                <a:cs typeface="Arial" panose="020B0604020202020204" pitchFamily="34" charset="0"/>
              </a:rPr>
              <a:t> : est la conséquence de l’incoordination des muscles impliqués dans la phonation, la parole est typiquement scandée et explosive.</a:t>
            </a:r>
          </a:p>
          <a:p>
            <a:pPr marL="342900" marR="0" lvl="0" indent="-342900" algn="just">
              <a:lnSpc>
                <a:spcPct val="107000"/>
              </a:lnSpc>
              <a:spcBef>
                <a:spcPts val="0"/>
              </a:spcBef>
              <a:spcAft>
                <a:spcPts val="0"/>
              </a:spcAft>
              <a:buFont typeface="Calibri" panose="020F0502020204030204" pitchFamily="34" charset="0"/>
              <a:buChar char="-"/>
            </a:pPr>
            <a:r>
              <a:rPr lang="fr-FR" sz="2800" dirty="0">
                <a:effectLst/>
                <a:latin typeface="Calibri" panose="020F0502020204030204" pitchFamily="34" charset="0"/>
                <a:ea typeface="Calibri" panose="020F0502020204030204" pitchFamily="34" charset="0"/>
                <a:cs typeface="Arial" panose="020B0604020202020204" pitchFamily="34" charset="0"/>
              </a:rPr>
              <a:t>Lors de l'écriture, les lettres sont démesurées inégales et espacées.</a:t>
            </a:r>
          </a:p>
          <a:p>
            <a:pPr marL="914400" marR="0" algn="just">
              <a:lnSpc>
                <a:spcPct val="107000"/>
              </a:lnSpc>
              <a:spcBef>
                <a:spcPts val="0"/>
              </a:spcBef>
              <a:spcAft>
                <a:spcPts val="800"/>
              </a:spcAft>
            </a:pPr>
            <a:r>
              <a:rPr lang="fr-FR" sz="2800" dirty="0">
                <a:effectLst/>
                <a:latin typeface="Calibri" panose="020F0502020204030204" pitchFamily="34" charset="0"/>
                <a:ea typeface="Calibri" panose="020F0502020204030204" pitchFamily="34" charset="0"/>
                <a:cs typeface="Arial" panose="020B0604020202020204" pitchFamily="34" charset="0"/>
              </a:rPr>
              <a:t>Ils résultent de l'hypermétrie et de l'hypotonie.</a:t>
            </a:r>
          </a:p>
          <a:p>
            <a:endParaRPr lang="fr-FR" dirty="0"/>
          </a:p>
        </p:txBody>
      </p:sp>
      <p:sp>
        <p:nvSpPr>
          <p:cNvPr id="4" name="Titre 1">
            <a:extLst>
              <a:ext uri="{FF2B5EF4-FFF2-40B4-BE49-F238E27FC236}">
                <a16:creationId xmlns:a16="http://schemas.microsoft.com/office/drawing/2014/main" id="{45E7BA3A-73E3-49C7-9A0C-B0EB494D171E}"/>
              </a:ext>
            </a:extLst>
          </p:cNvPr>
          <p:cNvSpPr>
            <a:spLocks noGrp="1"/>
          </p:cNvSpPr>
          <p:nvPr>
            <p:ph type="title"/>
          </p:nvPr>
        </p:nvSpPr>
        <p:spPr>
          <a:xfrm>
            <a:off x="838200" y="365125"/>
            <a:ext cx="10515600" cy="1325563"/>
          </a:xfrm>
          <a:solidFill>
            <a:schemeClr val="accent4">
              <a:lumMod val="20000"/>
              <a:lumOff val="80000"/>
            </a:schemeClr>
          </a:solidFill>
        </p:spPr>
        <p:txBody>
          <a:bodyPr>
            <a:normAutofit/>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Ataxie cérébelleuse : </a:t>
            </a:r>
            <a:endParaRPr lang="fr-FR" sz="6000" dirty="0"/>
          </a:p>
        </p:txBody>
      </p:sp>
    </p:spTree>
    <p:extLst>
      <p:ext uri="{BB962C8B-B14F-4D97-AF65-F5344CB8AC3E}">
        <p14:creationId xmlns:p14="http://schemas.microsoft.com/office/powerpoint/2010/main" val="2548405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782A03-C989-429E-B6CC-89BEB90B2F9C}"/>
              </a:ext>
            </a:extLst>
          </p:cNvPr>
          <p:cNvSpPr>
            <a:spLocks noGrp="1"/>
          </p:cNvSpPr>
          <p:nvPr>
            <p:ph type="title"/>
          </p:nvPr>
        </p:nvSpPr>
        <p:spPr>
          <a:solidFill>
            <a:schemeClr val="accent4">
              <a:lumMod val="20000"/>
              <a:lumOff val="80000"/>
            </a:schemeClr>
          </a:solidFill>
        </p:spPr>
        <p:txBody>
          <a:bodyPr>
            <a:normAutofit/>
          </a:bodyPr>
          <a:lstStyle/>
          <a:p>
            <a:r>
              <a:rPr lang="fr-FR" sz="4000" b="1" u="sng" dirty="0">
                <a:effectLst/>
                <a:latin typeface="Calibri" panose="020F0502020204030204" pitchFamily="34" charset="0"/>
                <a:ea typeface="Calibri" panose="020F0502020204030204" pitchFamily="34" charset="0"/>
                <a:cs typeface="Arial" panose="020B0604020202020204" pitchFamily="34" charset="0"/>
              </a:rPr>
              <a:t>Hypotonie : </a:t>
            </a:r>
            <a:endParaRPr lang="fr-FR" sz="8000" dirty="0"/>
          </a:p>
        </p:txBody>
      </p:sp>
      <p:sp>
        <p:nvSpPr>
          <p:cNvPr id="3" name="Espace réservé du contenu 2">
            <a:extLst>
              <a:ext uri="{FF2B5EF4-FFF2-40B4-BE49-F238E27FC236}">
                <a16:creationId xmlns:a16="http://schemas.microsoft.com/office/drawing/2014/main" id="{D1C647CD-C25D-4301-BA21-25639C919928}"/>
              </a:ext>
            </a:extLst>
          </p:cNvPr>
          <p:cNvSpPr>
            <a:spLocks noGrp="1"/>
          </p:cNvSpPr>
          <p:nvPr>
            <p:ph idx="1"/>
          </p:nvPr>
        </p:nvSpPr>
        <p:spPr/>
        <p:txBody>
          <a:bodyPr/>
          <a:lstStyle/>
          <a:p>
            <a:pPr marL="0" marR="0" algn="just">
              <a:lnSpc>
                <a:spcPct val="107000"/>
              </a:lnSpc>
              <a:spcBef>
                <a:spcPts val="0"/>
              </a:spcBef>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2400" dirty="0">
                <a:effectLst/>
                <a:latin typeface="Calibri" panose="020F0502020204030204" pitchFamily="34" charset="0"/>
                <a:ea typeface="Calibri" panose="020F0502020204030204" pitchFamily="34" charset="0"/>
                <a:cs typeface="Arial" panose="020B0604020202020204" pitchFamily="34" charset="0"/>
              </a:rPr>
              <a:t>L'amplitude des mouvements imprimés aux membres par l'examinateur est augmentée : au niveau des mains, lorsqu'on imprime des mouvements de rotation alternatifs sur le tronc du malade, au niveau des pieds, sur le malade allongé.</a:t>
            </a:r>
          </a:p>
          <a:p>
            <a:pPr marL="0" marR="0" algn="just">
              <a:lnSpc>
                <a:spcPct val="107000"/>
              </a:lnSpc>
              <a:spcBef>
                <a:spcPts val="0"/>
              </a:spcBef>
              <a:spcAft>
                <a:spcPts val="800"/>
              </a:spcAft>
            </a:pPr>
            <a:r>
              <a:rPr lang="fr-FR" sz="2400" dirty="0">
                <a:effectLst/>
                <a:latin typeface="Calibri" panose="020F0502020204030204" pitchFamily="34" charset="0"/>
                <a:ea typeface="Calibri" panose="020F0502020204030204" pitchFamily="34" charset="0"/>
                <a:cs typeface="Arial" panose="020B0604020202020204" pitchFamily="34" charset="0"/>
              </a:rPr>
              <a:t>  Les réflexes rotuliens peuvent être pendulaires (sur le malade assis, jambes pendantes, après percussion du tendon rotulien, la jambe oscille comme un pendule).</a:t>
            </a:r>
            <a:endParaRPr lang="fr-FR" sz="3600" dirty="0"/>
          </a:p>
        </p:txBody>
      </p:sp>
    </p:spTree>
    <p:extLst>
      <p:ext uri="{BB962C8B-B14F-4D97-AF65-F5344CB8AC3E}">
        <p14:creationId xmlns:p14="http://schemas.microsoft.com/office/powerpoint/2010/main" val="2303297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29D524-AA0C-4A01-BCFB-957DEC2283F2}"/>
              </a:ext>
            </a:extLst>
          </p:cNvPr>
          <p:cNvSpPr>
            <a:spLocks noGrp="1"/>
          </p:cNvSpPr>
          <p:nvPr>
            <p:ph type="title"/>
          </p:nvPr>
        </p:nvSpPr>
        <p:spPr>
          <a:solidFill>
            <a:schemeClr val="accent4">
              <a:lumMod val="20000"/>
              <a:lumOff val="80000"/>
            </a:schemeClr>
          </a:solidFill>
        </p:spPr>
        <p:txBody>
          <a:bodyPr>
            <a:normAutofit/>
          </a:bodyPr>
          <a:lstStyle/>
          <a:p>
            <a:r>
              <a:rPr lang="fr-FR" sz="3200" b="1" u="sng" dirty="0">
                <a:effectLst/>
                <a:latin typeface="Calibri" panose="020F0502020204030204" pitchFamily="34" charset="0"/>
                <a:ea typeface="Calibri" panose="020F0502020204030204" pitchFamily="34" charset="0"/>
                <a:cs typeface="Arial" panose="020B0604020202020204" pitchFamily="34" charset="0"/>
              </a:rPr>
              <a:t>Le tremblement cérébelleux</a:t>
            </a:r>
            <a:r>
              <a:rPr lang="fr-FR" sz="3200" b="1" dirty="0">
                <a:effectLst/>
                <a:latin typeface="Calibri" panose="020F0502020204030204" pitchFamily="34" charset="0"/>
                <a:ea typeface="Calibri" panose="020F0502020204030204" pitchFamily="34" charset="0"/>
                <a:cs typeface="Arial" panose="020B0604020202020204" pitchFamily="34" charset="0"/>
              </a:rPr>
              <a:t> </a:t>
            </a:r>
            <a:r>
              <a:rPr lang="fr-FR" sz="3200" dirty="0">
                <a:effectLst/>
                <a:latin typeface="Calibri" panose="020F0502020204030204" pitchFamily="34" charset="0"/>
                <a:ea typeface="Calibri" panose="020F0502020204030204" pitchFamily="34" charset="0"/>
                <a:cs typeface="Arial" panose="020B0604020202020204" pitchFamily="34" charset="0"/>
              </a:rPr>
              <a:t>: </a:t>
            </a:r>
            <a:endParaRPr lang="fr-FR" sz="6600" dirty="0"/>
          </a:p>
        </p:txBody>
      </p:sp>
      <p:sp>
        <p:nvSpPr>
          <p:cNvPr id="3" name="Espace réservé du contenu 2">
            <a:extLst>
              <a:ext uri="{FF2B5EF4-FFF2-40B4-BE49-F238E27FC236}">
                <a16:creationId xmlns:a16="http://schemas.microsoft.com/office/drawing/2014/main" id="{A3BCD802-7E03-40B6-9D8B-983C0F041711}"/>
              </a:ext>
            </a:extLst>
          </p:cNvPr>
          <p:cNvSpPr>
            <a:spLocks noGrp="1"/>
          </p:cNvSpPr>
          <p:nvPr>
            <p:ph idx="1"/>
          </p:nvPr>
        </p:nvSpPr>
        <p:spPr/>
        <p:txBody>
          <a:bodyPr>
            <a:normAutofit/>
          </a:bodyPr>
          <a:lstStyle/>
          <a:p>
            <a:pPr marL="228600" marR="0" algn="just">
              <a:lnSpc>
                <a:spcPct val="107000"/>
              </a:lnSpc>
              <a:spcBef>
                <a:spcPts val="0"/>
              </a:spcBef>
              <a:spcAft>
                <a:spcPts val="0"/>
              </a:spcAft>
            </a:pPr>
            <a:r>
              <a:rPr lang="fr-FR" sz="2400" dirty="0">
                <a:effectLst/>
                <a:latin typeface="Calibri" panose="020F0502020204030204" pitchFamily="34" charset="0"/>
                <a:ea typeface="Calibri" panose="020F0502020204030204" pitchFamily="34" charset="0"/>
                <a:cs typeface="Arial" panose="020B0604020202020204" pitchFamily="34" charset="0"/>
              </a:rPr>
              <a:t> C’est un</a:t>
            </a:r>
            <a:r>
              <a:rPr lang="fr-FR" sz="2400" u="sng" dirty="0">
                <a:effectLst/>
                <a:latin typeface="Calibri" panose="020F0502020204030204" pitchFamily="34" charset="0"/>
                <a:ea typeface="Calibri" panose="020F0502020204030204" pitchFamily="34" charset="0"/>
                <a:cs typeface="Arial" panose="020B0604020202020204" pitchFamily="34" charset="0"/>
              </a:rPr>
              <a:t> tremblement intentionnel</a:t>
            </a:r>
            <a:r>
              <a:rPr lang="fr-FR" sz="2400" i="1" dirty="0">
                <a:effectLst/>
                <a:latin typeface="Calibri" panose="020F0502020204030204" pitchFamily="34" charset="0"/>
                <a:ea typeface="Calibri" panose="020F0502020204030204" pitchFamily="34" charset="0"/>
                <a:cs typeface="Arial" panose="020B0604020202020204" pitchFamily="34" charset="0"/>
              </a:rPr>
              <a:t> </a:t>
            </a:r>
            <a:r>
              <a:rPr lang="fr-FR" sz="2400" dirty="0">
                <a:effectLst/>
                <a:latin typeface="Calibri" panose="020F0502020204030204" pitchFamily="34" charset="0"/>
                <a:ea typeface="Calibri" panose="020F0502020204030204" pitchFamily="34" charset="0"/>
                <a:cs typeface="Arial" panose="020B0604020202020204" pitchFamily="34" charset="0"/>
              </a:rPr>
              <a:t>de grande amplitude, qui commence avec le mouvement et s'exagère lors de son exécution, il est augmenté par les émotions. </a:t>
            </a:r>
          </a:p>
          <a:p>
            <a:pPr marL="228600" marR="0" algn="just">
              <a:lnSpc>
                <a:spcPct val="107000"/>
              </a:lnSpc>
              <a:spcBef>
                <a:spcPts val="0"/>
              </a:spcBef>
              <a:spcAft>
                <a:spcPts val="0"/>
              </a:spcAft>
            </a:pPr>
            <a:endParaRPr lang="fr-FR" sz="2400" dirty="0">
              <a:latin typeface="Calibri" panose="020F0502020204030204" pitchFamily="34" charset="0"/>
              <a:ea typeface="Calibri" panose="020F0502020204030204" pitchFamily="34" charset="0"/>
              <a:cs typeface="Arial" panose="020B0604020202020204" pitchFamily="34" charset="0"/>
            </a:endParaRPr>
          </a:p>
          <a:p>
            <a:pPr marL="0" marR="0" indent="0" algn="just">
              <a:lnSpc>
                <a:spcPct val="107000"/>
              </a:lnSpc>
              <a:spcBef>
                <a:spcPts val="0"/>
              </a:spcBef>
              <a:spcAft>
                <a:spcPts val="0"/>
              </a:spcAft>
              <a:buNone/>
            </a:pP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228600" marR="0" algn="just">
              <a:lnSpc>
                <a:spcPct val="107000"/>
              </a:lnSpc>
              <a:spcBef>
                <a:spcPts val="0"/>
              </a:spcBef>
              <a:spcAft>
                <a:spcPts val="800"/>
              </a:spcAft>
            </a:pPr>
            <a:r>
              <a:rPr lang="fr-FR" sz="2400" dirty="0">
                <a:effectLst/>
                <a:latin typeface="Calibri" panose="020F0502020204030204" pitchFamily="34" charset="0"/>
                <a:ea typeface="Calibri" panose="020F0502020204030204" pitchFamily="34" charset="0"/>
                <a:cs typeface="Arial" panose="020B0604020202020204" pitchFamily="34" charset="0"/>
              </a:rPr>
              <a:t>  Il peut être associé à un </a:t>
            </a:r>
            <a:r>
              <a:rPr lang="fr-FR" sz="2400" u="sng" dirty="0">
                <a:effectLst/>
                <a:latin typeface="Calibri" panose="020F0502020204030204" pitchFamily="34" charset="0"/>
                <a:ea typeface="Calibri" panose="020F0502020204030204" pitchFamily="34" charset="0"/>
                <a:cs typeface="Arial" panose="020B0604020202020204" pitchFamily="34" charset="0"/>
              </a:rPr>
              <a:t>tremblement d'attitude</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228600" marR="0" algn="just">
              <a:lnSpc>
                <a:spcPct val="107000"/>
              </a:lnSpc>
              <a:spcBef>
                <a:spcPts val="0"/>
              </a:spcBef>
              <a:spcAft>
                <a:spcPts val="800"/>
              </a:spcAft>
            </a:pPr>
            <a:endParaRPr lang="fr-FR" sz="2400" i="1" dirty="0">
              <a:latin typeface="Calibri" panose="020F0502020204030204" pitchFamily="34" charset="0"/>
              <a:ea typeface="Calibri" panose="020F0502020204030204" pitchFamily="34" charset="0"/>
              <a:cs typeface="Arial" panose="020B0604020202020204" pitchFamily="34" charset="0"/>
            </a:endParaRPr>
          </a:p>
          <a:p>
            <a:pPr marL="228600" marR="0" algn="just">
              <a:lnSpc>
                <a:spcPct val="107000"/>
              </a:lnSpc>
              <a:spcBef>
                <a:spcPts val="0"/>
              </a:spcBef>
              <a:spcAft>
                <a:spcPts val="800"/>
              </a:spcAft>
            </a:pPr>
            <a:endParaRPr lang="fr-FR" sz="2400" i="1" dirty="0">
              <a:effectLst/>
              <a:latin typeface="Calibri" panose="020F0502020204030204" pitchFamily="34" charset="0"/>
              <a:ea typeface="Calibri" panose="020F0502020204030204" pitchFamily="34" charset="0"/>
              <a:cs typeface="Arial" panose="020B0604020202020204" pitchFamily="34" charset="0"/>
            </a:endParaRPr>
          </a:p>
          <a:p>
            <a:pPr marL="228600" marR="0" algn="just">
              <a:lnSpc>
                <a:spcPct val="107000"/>
              </a:lnSpc>
              <a:spcBef>
                <a:spcPts val="0"/>
              </a:spcBef>
              <a:spcAft>
                <a:spcPts val="800"/>
              </a:spcAft>
            </a:pPr>
            <a:r>
              <a:rPr lang="fr-FR" sz="2400" i="1" dirty="0">
                <a:effectLst/>
                <a:latin typeface="Calibri" panose="020F0502020204030204" pitchFamily="34" charset="0"/>
                <a:ea typeface="Calibri" panose="020F0502020204030204" pitchFamily="34" charset="0"/>
                <a:cs typeface="Arial" panose="020B0604020202020204" pitchFamily="34" charset="0"/>
              </a:rPr>
              <a:t> </a:t>
            </a:r>
            <a:r>
              <a:rPr lang="fr-FR" sz="2400" dirty="0">
                <a:effectLst/>
                <a:latin typeface="Calibri" panose="020F0502020204030204" pitchFamily="34" charset="0"/>
                <a:ea typeface="Calibri" panose="020F0502020204030204" pitchFamily="34" charset="0"/>
                <a:cs typeface="Arial" panose="020B0604020202020204" pitchFamily="34" charset="0"/>
              </a:rPr>
              <a:t>ce tremblement cérébelleux disparaît au repos.</a:t>
            </a:r>
            <a:endParaRPr lang="fr-FR" sz="3600" dirty="0"/>
          </a:p>
        </p:txBody>
      </p:sp>
    </p:spTree>
    <p:extLst>
      <p:ext uri="{BB962C8B-B14F-4D97-AF65-F5344CB8AC3E}">
        <p14:creationId xmlns:p14="http://schemas.microsoft.com/office/powerpoint/2010/main" val="1145449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9E06E6-D90B-439E-BA39-9D9597C62640}"/>
              </a:ext>
            </a:extLst>
          </p:cNvPr>
          <p:cNvSpPr>
            <a:spLocks noGrp="1"/>
          </p:cNvSpPr>
          <p:nvPr>
            <p:ph type="title"/>
          </p:nvPr>
        </p:nvSpPr>
        <p:spPr>
          <a:solidFill>
            <a:schemeClr val="accent3">
              <a:lumMod val="20000"/>
              <a:lumOff val="80000"/>
            </a:schemeClr>
          </a:solidFill>
        </p:spPr>
        <p:txBody>
          <a:bodyPr>
            <a:normAutofit/>
          </a:bodyPr>
          <a:lstStyle/>
          <a:p>
            <a:r>
              <a:rPr lang="fr-FR" sz="3600" b="1" u="sng" dirty="0">
                <a:effectLst/>
                <a:latin typeface="Calibri" panose="020F0502020204030204" pitchFamily="34" charset="0"/>
                <a:ea typeface="Calibri" panose="020F0502020204030204" pitchFamily="34" charset="0"/>
                <a:cs typeface="Arial" panose="020B0604020202020204" pitchFamily="34" charset="0"/>
              </a:rPr>
              <a:t>Diagnostic différentiel </a:t>
            </a:r>
            <a:endParaRPr lang="fr-FR" sz="7200" dirty="0"/>
          </a:p>
        </p:txBody>
      </p:sp>
      <p:sp>
        <p:nvSpPr>
          <p:cNvPr id="3" name="Espace réservé du contenu 2">
            <a:extLst>
              <a:ext uri="{FF2B5EF4-FFF2-40B4-BE49-F238E27FC236}">
                <a16:creationId xmlns:a16="http://schemas.microsoft.com/office/drawing/2014/main" id="{06DF940E-47D1-4512-B73D-2DA86BF82CA1}"/>
              </a:ext>
            </a:extLst>
          </p:cNvPr>
          <p:cNvSpPr>
            <a:spLocks noGrp="1"/>
          </p:cNvSpPr>
          <p:nvPr>
            <p:ph idx="1"/>
          </p:nvPr>
        </p:nvSpPr>
        <p:spPr/>
        <p:txBody>
          <a:bodyPr/>
          <a:lstStyle/>
          <a:p>
            <a:pPr marL="0" marR="0" lvl="0" indent="0" rtl="0">
              <a:lnSpc>
                <a:spcPct val="107000"/>
              </a:lnSpc>
              <a:spcBef>
                <a:spcPts val="0"/>
              </a:spcBef>
              <a:spcAft>
                <a:spcPts val="0"/>
              </a:spcAft>
              <a:buSzPts val="1600"/>
              <a:buNone/>
            </a:pPr>
            <a:r>
              <a:rPr lang="fr-FR" sz="3600" u="none" strike="noStrike" dirty="0">
                <a:effectLst/>
                <a:uFill>
                  <a:solidFill>
                    <a:srgbClr val="000000"/>
                  </a:solidFill>
                </a:uFill>
                <a:latin typeface="Calibri" panose="020F0502020204030204" pitchFamily="34" charset="0"/>
                <a:ea typeface="Calibri" panose="020F0502020204030204" pitchFamily="34" charset="0"/>
                <a:cs typeface="Arial" panose="020B0604020202020204" pitchFamily="34" charset="0"/>
              </a:rPr>
              <a:t> </a:t>
            </a:r>
            <a:r>
              <a:rPr lang="fr-FR" sz="3200" u="none" strike="noStrike" dirty="0">
                <a:effectLst/>
                <a:uFill>
                  <a:solidFill>
                    <a:srgbClr val="000000"/>
                  </a:solidFill>
                </a:uFill>
                <a:latin typeface="Calibri" panose="020F0502020204030204" pitchFamily="34" charset="0"/>
                <a:ea typeface="Calibri" panose="020F0502020204030204" pitchFamily="34" charset="0"/>
                <a:cs typeface="Arial" panose="020B0604020202020204" pitchFamily="34" charset="0"/>
              </a:rPr>
              <a:t>les ataxies qui peuvent mimer une ataxie cérébelleuse :</a:t>
            </a:r>
          </a:p>
          <a:p>
            <a:pPr marL="0" marR="0" lvl="0" indent="0" rtl="0">
              <a:lnSpc>
                <a:spcPct val="107000"/>
              </a:lnSpc>
              <a:spcBef>
                <a:spcPts val="0"/>
              </a:spcBef>
              <a:spcAft>
                <a:spcPts val="0"/>
              </a:spcAft>
              <a:buSzPts val="1600"/>
              <a:buNone/>
            </a:pPr>
            <a:endParaRPr lang="fr-FR" sz="3200" u="none" strike="noStrike" dirty="0">
              <a:effectLst/>
              <a:uFill>
                <a:solidFill>
                  <a:srgbClr val="000000"/>
                </a:solidFill>
              </a:uFill>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0"/>
              </a:spcAft>
              <a:buFont typeface="Wingdings" panose="05000000000000000000" pitchFamily="2" charset="2"/>
              <a:buChar char="q"/>
            </a:pPr>
            <a:r>
              <a:rPr lang="fr-FR" sz="3200" dirty="0">
                <a:effectLst/>
                <a:latin typeface="Calibri" panose="020F0502020204030204" pitchFamily="34" charset="0"/>
                <a:ea typeface="Calibri" panose="020F0502020204030204" pitchFamily="34" charset="0"/>
                <a:cs typeface="Arial" panose="020B0604020202020204" pitchFamily="34" charset="0"/>
              </a:rPr>
              <a:t> L'ataxie proprioceptive (démarche </a:t>
            </a:r>
            <a:r>
              <a:rPr lang="fr-FR" sz="3200" dirty="0" err="1">
                <a:effectLst/>
                <a:latin typeface="Calibri" panose="020F0502020204030204" pitchFamily="34" charset="0"/>
                <a:ea typeface="Calibri" panose="020F0502020204030204" pitchFamily="34" charset="0"/>
                <a:cs typeface="Arial" panose="020B0604020202020204" pitchFamily="34" charset="0"/>
              </a:rPr>
              <a:t>talonnante</a:t>
            </a:r>
            <a:r>
              <a:rPr lang="fr-FR" sz="3200" dirty="0">
                <a:effectLst/>
                <a:latin typeface="Calibri" panose="020F0502020204030204" pitchFamily="34" charset="0"/>
                <a:ea typeface="Calibri" panose="020F0502020204030204" pitchFamily="34" charset="0"/>
                <a:cs typeface="Arial" panose="020B0604020202020204" pitchFamily="34" charset="0"/>
              </a:rPr>
              <a:t>),</a:t>
            </a:r>
          </a:p>
          <a:p>
            <a:pPr marL="0" marR="0" lvl="0" indent="0">
              <a:lnSpc>
                <a:spcPct val="107000"/>
              </a:lnSpc>
              <a:spcBef>
                <a:spcPts val="0"/>
              </a:spcBef>
              <a:spcAft>
                <a:spcPts val="0"/>
              </a:spcAft>
              <a:buNone/>
            </a:pP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0"/>
              </a:spcBef>
              <a:buFont typeface="Wingdings" panose="05000000000000000000" pitchFamily="2" charset="2"/>
              <a:buChar char="q"/>
            </a:pPr>
            <a:r>
              <a:rPr lang="fr-FR" sz="3200" dirty="0">
                <a:effectLst/>
                <a:latin typeface="Calibri" panose="020F0502020204030204" pitchFamily="34" charset="0"/>
                <a:ea typeface="Calibri" panose="020F0502020204030204" pitchFamily="34" charset="0"/>
                <a:cs typeface="Arial" panose="020B0604020202020204" pitchFamily="34" charset="0"/>
              </a:rPr>
              <a:t> L’ataxie vestibulaire</a:t>
            </a:r>
          </a:p>
          <a:p>
            <a:pPr marL="0" indent="0">
              <a:lnSpc>
                <a:spcPct val="107000"/>
              </a:lnSpc>
              <a:spcBef>
                <a:spcPts val="0"/>
              </a:spcBef>
              <a:buNone/>
            </a:pP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Font typeface="Wingdings" panose="05000000000000000000" pitchFamily="2" charset="2"/>
              <a:buChar char="q"/>
            </a:pPr>
            <a:r>
              <a:rPr lang="fr-FR" sz="3200" dirty="0">
                <a:effectLst/>
                <a:latin typeface="Calibri" panose="020F0502020204030204" pitchFamily="34" charset="0"/>
                <a:ea typeface="Calibri" panose="020F0502020204030204" pitchFamily="34" charset="0"/>
                <a:cs typeface="Arial" panose="020B0604020202020204" pitchFamily="34" charset="0"/>
              </a:rPr>
              <a:t> L’ataxie frontale.</a:t>
            </a:r>
          </a:p>
          <a:p>
            <a:endParaRPr lang="fr-FR" dirty="0"/>
          </a:p>
        </p:txBody>
      </p:sp>
    </p:spTree>
    <p:extLst>
      <p:ext uri="{BB962C8B-B14F-4D97-AF65-F5344CB8AC3E}">
        <p14:creationId xmlns:p14="http://schemas.microsoft.com/office/powerpoint/2010/main" val="509956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D35BBE-A8E4-4AA0-BAC2-3B878475A3DD}"/>
              </a:ext>
            </a:extLst>
          </p:cNvPr>
          <p:cNvSpPr>
            <a:spLocks noGrp="1"/>
          </p:cNvSpPr>
          <p:nvPr>
            <p:ph type="title"/>
          </p:nvPr>
        </p:nvSpPr>
        <p:spPr>
          <a:solidFill>
            <a:schemeClr val="accent6">
              <a:lumMod val="20000"/>
              <a:lumOff val="80000"/>
            </a:schemeClr>
          </a:solidFill>
        </p:spPr>
        <p:txBody>
          <a:bodyPr>
            <a:normAutofit/>
          </a:bodyPr>
          <a:lstStyle/>
          <a:p>
            <a:r>
              <a:rPr lang="fr-FR" sz="3200" b="1" u="sng" strike="noStrike" dirty="0">
                <a:effectLst/>
                <a:uFill>
                  <a:solidFill>
                    <a:srgbClr val="000000"/>
                  </a:solidFill>
                </a:uFill>
                <a:latin typeface="Calibri" panose="020F0502020204030204" pitchFamily="34" charset="0"/>
                <a:ea typeface="Calibri" panose="020F0502020204030204" pitchFamily="34" charset="0"/>
                <a:cs typeface="Arial" panose="020B0604020202020204" pitchFamily="34" charset="0"/>
              </a:rPr>
              <a:t>Diagnostic topographique : </a:t>
            </a:r>
            <a:endParaRPr lang="fr-FR" sz="6600" dirty="0"/>
          </a:p>
        </p:txBody>
      </p:sp>
      <p:sp>
        <p:nvSpPr>
          <p:cNvPr id="3" name="Espace réservé du contenu 2">
            <a:extLst>
              <a:ext uri="{FF2B5EF4-FFF2-40B4-BE49-F238E27FC236}">
                <a16:creationId xmlns:a16="http://schemas.microsoft.com/office/drawing/2014/main" id="{BDEF596A-E6C0-4418-979B-25E131D1D7D9}"/>
              </a:ext>
            </a:extLst>
          </p:cNvPr>
          <p:cNvSpPr>
            <a:spLocks noGrp="1"/>
          </p:cNvSpPr>
          <p:nvPr>
            <p:ph idx="1"/>
          </p:nvPr>
        </p:nvSpPr>
        <p:spPr/>
        <p:txBody>
          <a:bodyPr/>
          <a:lstStyle/>
          <a:p>
            <a:pPr marL="914400" marR="0">
              <a:lnSpc>
                <a:spcPct val="107000"/>
              </a:lnSpc>
              <a:spcBef>
                <a:spcPts val="0"/>
              </a:spcBef>
              <a:spcAft>
                <a:spcPts val="0"/>
              </a:spcAft>
            </a:pPr>
            <a:r>
              <a:rPr lang="fr-FR" b="1" u="sng" dirty="0">
                <a:effectLst/>
                <a:latin typeface="Calibri" panose="020F0502020204030204" pitchFamily="34" charset="0"/>
                <a:ea typeface="Calibri" panose="020F0502020204030204" pitchFamily="34" charset="0"/>
                <a:cs typeface="Arial" panose="020B0604020202020204" pitchFamily="34" charset="0"/>
              </a:rPr>
              <a:t>1. Syndrome cérébelleux statique </a:t>
            </a:r>
            <a:r>
              <a:rPr lang="fr-FR" dirty="0">
                <a:effectLst/>
                <a:latin typeface="Calibri" panose="020F0502020204030204" pitchFamily="34" charset="0"/>
                <a:ea typeface="Calibri" panose="020F0502020204030204" pitchFamily="34" charset="0"/>
                <a:cs typeface="Arial" panose="020B0604020202020204" pitchFamily="34" charset="0"/>
              </a:rPr>
              <a:t>: </a:t>
            </a:r>
            <a:r>
              <a:rPr lang="fr-FR" b="1" dirty="0">
                <a:effectLst/>
                <a:latin typeface="Calibri" panose="020F0502020204030204" pitchFamily="34" charset="0"/>
                <a:ea typeface="Calibri" panose="020F0502020204030204" pitchFamily="34" charset="0"/>
                <a:cs typeface="Arial" panose="020B0604020202020204" pitchFamily="34" charset="0"/>
              </a:rPr>
              <a:t> </a:t>
            </a:r>
            <a:r>
              <a:rPr lang="fr-FR" dirty="0">
                <a:effectLst/>
                <a:latin typeface="Calibri" panose="020F0502020204030204" pitchFamily="34" charset="0"/>
                <a:ea typeface="Calibri" panose="020F0502020204030204" pitchFamily="34" charset="0"/>
                <a:cs typeface="Arial" panose="020B0604020202020204" pitchFamily="34" charset="0"/>
              </a:rPr>
              <a:t>se résumant à l'ataxie cérébelleuse dominant au tronc avec tremblement de chef (tremblement de la tête). Il est dû à une atteinte prédominante du vermis cérébelleux.</a:t>
            </a:r>
          </a:p>
          <a:p>
            <a:pPr marL="685800" marR="0" indent="0">
              <a:lnSpc>
                <a:spcPct val="107000"/>
              </a:lnSpc>
              <a:spcBef>
                <a:spcPts val="0"/>
              </a:spcBef>
              <a:spcAft>
                <a:spcPts val="0"/>
              </a:spcAft>
              <a:buNone/>
            </a:pPr>
            <a:r>
              <a:rPr lang="fr-FR" b="1" u="none" strike="noStrike" dirty="0">
                <a:effectLst/>
                <a:latin typeface="Calibri" panose="020F0502020204030204" pitchFamily="34" charset="0"/>
                <a:ea typeface="Calibri" panose="020F0502020204030204" pitchFamily="34" charset="0"/>
                <a:cs typeface="Arial" panose="020B0604020202020204" pitchFamily="34" charset="0"/>
              </a:rPr>
              <a:t>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914400" marR="0">
              <a:lnSpc>
                <a:spcPct val="107000"/>
              </a:lnSpc>
              <a:spcBef>
                <a:spcPts val="0"/>
              </a:spcBef>
              <a:spcAft>
                <a:spcPts val="800"/>
              </a:spcAft>
            </a:pPr>
            <a:r>
              <a:rPr lang="fr-FR" b="1" u="sng" dirty="0">
                <a:effectLst/>
                <a:latin typeface="Calibri" panose="020F0502020204030204" pitchFamily="34" charset="0"/>
                <a:ea typeface="Calibri" panose="020F0502020204030204" pitchFamily="34" charset="0"/>
                <a:cs typeface="Arial" panose="020B0604020202020204" pitchFamily="34" charset="0"/>
              </a:rPr>
              <a:t>2. Syndrome cérébelleux cinétique </a:t>
            </a:r>
            <a:r>
              <a:rPr lang="fr-FR" b="1" dirty="0">
                <a:effectLst/>
                <a:latin typeface="Calibri" panose="020F0502020204030204" pitchFamily="34" charset="0"/>
                <a:ea typeface="Calibri" panose="020F0502020204030204" pitchFamily="34" charset="0"/>
                <a:cs typeface="Arial" panose="020B0604020202020204" pitchFamily="34" charset="0"/>
              </a:rPr>
              <a:t>:</a:t>
            </a:r>
            <a:r>
              <a:rPr lang="fr-FR" dirty="0">
                <a:effectLst/>
                <a:latin typeface="Calibri" panose="020F0502020204030204" pitchFamily="34" charset="0"/>
                <a:ea typeface="Calibri" panose="020F0502020204030204" pitchFamily="34" charset="0"/>
                <a:cs typeface="Arial" panose="020B0604020202020204" pitchFamily="34" charset="0"/>
              </a:rPr>
              <a:t> dominé par l'hypermétrie, démarche ébrieuse : il est dû principalement à une atteinte des hémisphères cérébelleux et/ou du pédoncule cérébelleux supérieur.</a:t>
            </a:r>
          </a:p>
          <a:p>
            <a:endParaRPr lang="fr-FR" dirty="0"/>
          </a:p>
        </p:txBody>
      </p:sp>
    </p:spTree>
    <p:extLst>
      <p:ext uri="{BB962C8B-B14F-4D97-AF65-F5344CB8AC3E}">
        <p14:creationId xmlns:p14="http://schemas.microsoft.com/office/powerpoint/2010/main" val="396733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FC070A5-DD0F-4968-B4F8-7F2E9B58FC43}"/>
              </a:ext>
            </a:extLst>
          </p:cNvPr>
          <p:cNvSpPr>
            <a:spLocks noGrp="1"/>
          </p:cNvSpPr>
          <p:nvPr>
            <p:ph idx="1"/>
          </p:nvPr>
        </p:nvSpPr>
        <p:spPr/>
        <p:txBody>
          <a:bodyPr/>
          <a:lstStyle/>
          <a:p>
            <a:pPr marL="0" indent="0" algn="ctr">
              <a:buNone/>
            </a:pPr>
            <a:endParaRPr lang="fr-FR" sz="4400" b="1" u="sng" dirty="0">
              <a:latin typeface="Calibri" panose="020F0502020204030204" pitchFamily="34" charset="0"/>
              <a:ea typeface="Calibri" panose="020F0502020204030204" pitchFamily="34" charset="0"/>
              <a:cs typeface="Arial" panose="020B0604020202020204" pitchFamily="34" charset="0"/>
            </a:endParaRPr>
          </a:p>
          <a:p>
            <a:pPr marL="0" indent="0" algn="ctr">
              <a:buNone/>
            </a:pPr>
            <a:endParaRPr lang="fr-FR" sz="4400" b="1" u="sng" dirty="0">
              <a:effectLst/>
              <a:latin typeface="Calibri" panose="020F0502020204030204" pitchFamily="34" charset="0"/>
              <a:ea typeface="Calibri" panose="020F0502020204030204" pitchFamily="34" charset="0"/>
              <a:cs typeface="Arial" panose="020B0604020202020204" pitchFamily="34" charset="0"/>
            </a:endParaRPr>
          </a:p>
          <a:p>
            <a:pPr marL="0" indent="0" algn="ctr">
              <a:buNone/>
            </a:pPr>
            <a:r>
              <a:rPr lang="fr-FR" sz="4400" b="1" u="sng" dirty="0">
                <a:effectLst/>
                <a:latin typeface="Calibri" panose="020F0502020204030204" pitchFamily="34" charset="0"/>
                <a:ea typeface="Calibri" panose="020F0502020204030204" pitchFamily="34" charset="0"/>
                <a:cs typeface="Arial" panose="020B0604020202020204" pitchFamily="34" charset="0"/>
              </a:rPr>
              <a:t>Le syndrome vestibulaire : </a:t>
            </a:r>
            <a:endParaRPr lang="fr-FR" sz="4400"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2910319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AEB542-7815-46D4-A2EC-D86AC3DD1506}"/>
              </a:ext>
            </a:extLst>
          </p:cNvPr>
          <p:cNvSpPr>
            <a:spLocks noGrp="1"/>
          </p:cNvSpPr>
          <p:nvPr>
            <p:ph type="title"/>
          </p:nvPr>
        </p:nvSpPr>
        <p:spPr>
          <a:solidFill>
            <a:schemeClr val="accent4">
              <a:lumMod val="20000"/>
              <a:lumOff val="80000"/>
            </a:schemeClr>
          </a:solidFill>
        </p:spPr>
        <p:txBody>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Le syndrome vestibulaire :</a:t>
            </a:r>
            <a:endParaRPr lang="fr-FR" dirty="0"/>
          </a:p>
        </p:txBody>
      </p:sp>
      <p:sp>
        <p:nvSpPr>
          <p:cNvPr id="3" name="Espace réservé du contenu 2">
            <a:extLst>
              <a:ext uri="{FF2B5EF4-FFF2-40B4-BE49-F238E27FC236}">
                <a16:creationId xmlns:a16="http://schemas.microsoft.com/office/drawing/2014/main" id="{9E57F655-8A93-4231-A0AE-F944DBD268A9}"/>
              </a:ext>
            </a:extLst>
          </p:cNvPr>
          <p:cNvSpPr>
            <a:spLocks noGrp="1"/>
          </p:cNvSpPr>
          <p:nvPr>
            <p:ph idx="1"/>
          </p:nvPr>
        </p:nvSpPr>
        <p:spPr/>
        <p:txBody>
          <a:bodyPr>
            <a:normAutofit fontScale="92500" lnSpcReduction="10000"/>
          </a:bodyPr>
          <a:lstStyle/>
          <a:p>
            <a:pPr marL="0" marR="0" indent="0">
              <a:lnSpc>
                <a:spcPct val="107000"/>
              </a:lnSpc>
              <a:spcBef>
                <a:spcPts val="0"/>
              </a:spcBef>
              <a:spcAft>
                <a:spcPts val="800"/>
              </a:spcAft>
              <a:buNone/>
            </a:pPr>
            <a:r>
              <a:rPr lang="fr-FR" sz="2400" dirty="0">
                <a:effectLst/>
                <a:latin typeface="Calibri" panose="020F0502020204030204" pitchFamily="34" charset="0"/>
                <a:ea typeface="Calibri" panose="020F0502020204030204" pitchFamily="34" charset="0"/>
                <a:cs typeface="Arial" panose="020B0604020202020204" pitchFamily="34" charset="0"/>
              </a:rPr>
              <a:t>Le système vestibulaire comprend trois éléments :</a:t>
            </a:r>
          </a:p>
          <a:p>
            <a:pPr marL="342900" marR="0" lvl="0" indent="-342900" algn="just">
              <a:lnSpc>
                <a:spcPct val="107000"/>
              </a:lnSpc>
              <a:spcBef>
                <a:spcPts val="0"/>
              </a:spcBef>
              <a:spcAft>
                <a:spcPts val="800"/>
              </a:spcAft>
              <a:buSzPts val="1000"/>
              <a:buFont typeface="Wingdings" panose="05000000000000000000" pitchFamily="2" charset="2"/>
              <a:buChar char=""/>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Le </a:t>
            </a:r>
            <a:r>
              <a:rPr lang="fr-FR" sz="2400" b="1" dirty="0">
                <a:effectLst/>
                <a:latin typeface="Calibri" panose="020F0502020204030204" pitchFamily="34" charset="0"/>
                <a:ea typeface="Calibri" panose="020F0502020204030204" pitchFamily="34" charset="0"/>
                <a:cs typeface="Arial" panose="020B0604020202020204" pitchFamily="34" charset="0"/>
              </a:rPr>
              <a:t>vestibule</a:t>
            </a:r>
            <a:r>
              <a:rPr lang="fr-FR" sz="2400" dirty="0">
                <a:effectLst/>
                <a:latin typeface="Calibri" panose="020F0502020204030204" pitchFamily="34" charset="0"/>
                <a:ea typeface="Calibri" panose="020F0502020204030204" pitchFamily="34" charset="0"/>
                <a:cs typeface="Arial" panose="020B0604020202020204" pitchFamily="34" charset="0"/>
              </a:rPr>
              <a:t>, appareil récepteur situé, avec la cochlée, dans le labyrinthe. </a:t>
            </a:r>
          </a:p>
          <a:p>
            <a:pPr marL="342900" marR="0" lvl="0" indent="-342900" algn="just">
              <a:lnSpc>
                <a:spcPct val="107000"/>
              </a:lnSpc>
              <a:spcBef>
                <a:spcPts val="0"/>
              </a:spcBef>
              <a:spcAft>
                <a:spcPts val="800"/>
              </a:spcAft>
              <a:buSzPts val="1000"/>
              <a:buFont typeface="Wingdings" panose="05000000000000000000" pitchFamily="2" charset="2"/>
              <a:buChar char=""/>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Les canaux semi circulaires au nombre de trois, contiennent un liquide endolymphatique, contenant lui-même des otolithes dont le déplacement va stimuler les cellules sensorielles, à l'origine du nerf vestibulaire.</a:t>
            </a:r>
          </a:p>
          <a:p>
            <a:pPr marL="342900" marR="0" lvl="0" indent="-342900" algn="just">
              <a:lnSpc>
                <a:spcPct val="107000"/>
              </a:lnSpc>
              <a:spcBef>
                <a:spcPts val="0"/>
              </a:spcBef>
              <a:spcAft>
                <a:spcPts val="800"/>
              </a:spcAft>
              <a:buSzPts val="1000"/>
              <a:buFont typeface="Wingdings" panose="05000000000000000000" pitchFamily="2" charset="2"/>
              <a:buChar char=""/>
              <a:tabLst>
                <a:tab pos="457200" algn="l"/>
              </a:tabLst>
            </a:pPr>
            <a:r>
              <a:rPr lang="fr-FR" sz="2400" b="1" dirty="0">
                <a:effectLst/>
                <a:latin typeface="Calibri" panose="020F0502020204030204" pitchFamily="34" charset="0"/>
                <a:ea typeface="Calibri" panose="020F0502020204030204" pitchFamily="34" charset="0"/>
                <a:cs typeface="Arial" panose="020B0604020202020204" pitchFamily="34" charset="0"/>
              </a:rPr>
              <a:t>Le nerf vestibulaire </a:t>
            </a:r>
            <a:r>
              <a:rPr lang="fr-FR" sz="2400" dirty="0">
                <a:effectLst/>
                <a:latin typeface="Calibri" panose="020F0502020204030204" pitchFamily="34" charset="0"/>
                <a:ea typeface="Calibri" panose="020F0502020204030204" pitchFamily="34" charset="0"/>
                <a:cs typeface="Arial" panose="020B0604020202020204" pitchFamily="34" charset="0"/>
              </a:rPr>
              <a:t>chemine avec le nerf cochléaire dans le conduit auditif interne.</a:t>
            </a:r>
          </a:p>
          <a:p>
            <a:pPr marL="342900" marR="0" lvl="0" indent="-342900" algn="just">
              <a:lnSpc>
                <a:spcPct val="107000"/>
              </a:lnSpc>
              <a:spcBef>
                <a:spcPts val="0"/>
              </a:spcBef>
              <a:spcAft>
                <a:spcPts val="800"/>
              </a:spcAft>
              <a:buSzPts val="1000"/>
              <a:buFont typeface="Wingdings" panose="05000000000000000000" pitchFamily="2" charset="2"/>
              <a:buChar char=""/>
              <a:tabLst>
                <a:tab pos="457200" algn="l"/>
              </a:tabLst>
            </a:pPr>
            <a:r>
              <a:rPr lang="fr-FR" sz="2400" b="1" dirty="0">
                <a:effectLst/>
                <a:latin typeface="Calibri" panose="020F0502020204030204" pitchFamily="34" charset="0"/>
                <a:ea typeface="Calibri" panose="020F0502020204030204" pitchFamily="34" charset="0"/>
                <a:cs typeface="Arial" panose="020B0604020202020204" pitchFamily="34" charset="0"/>
              </a:rPr>
              <a:t>Les noyaux vestibulaires du tronc cérébral</a:t>
            </a:r>
            <a:r>
              <a:rPr lang="fr-FR" sz="2400" dirty="0">
                <a:effectLst/>
                <a:latin typeface="Calibri" panose="020F0502020204030204" pitchFamily="34" charset="0"/>
                <a:ea typeface="Calibri" panose="020F0502020204030204" pitchFamily="34" charset="0"/>
                <a:cs typeface="Arial" panose="020B0604020202020204" pitchFamily="34" charset="0"/>
              </a:rPr>
              <a:t>, en connexion avec le vermis cérébelleux, la moelle cervicale, la réticulée du tronc cérébral, les noyaux oculomoteurs et le cortex cérébral.</a:t>
            </a:r>
          </a:p>
          <a:p>
            <a:pPr marL="0" marR="0" algn="just">
              <a:lnSpc>
                <a:spcPct val="107000"/>
              </a:lnSpc>
              <a:spcBef>
                <a:spcPts val="0"/>
              </a:spcBef>
              <a:spcAft>
                <a:spcPts val="800"/>
              </a:spcAft>
            </a:pPr>
            <a:r>
              <a:rPr lang="fr-FR" sz="2400" dirty="0">
                <a:effectLst/>
                <a:latin typeface="Calibri" panose="020F0502020204030204" pitchFamily="34" charset="0"/>
                <a:ea typeface="Calibri" panose="020F0502020204030204" pitchFamily="34" charset="0"/>
                <a:cs typeface="Arial" panose="020B0604020202020204" pitchFamily="34" charset="0"/>
              </a:rPr>
              <a:t>L'appareil vestibulaire a pour fonction de maintenir l'équilibre de l'axe du corps et de maintenir la stabilité oculaire pendant le mouvement.</a:t>
            </a:r>
          </a:p>
        </p:txBody>
      </p:sp>
    </p:spTree>
    <p:extLst>
      <p:ext uri="{BB962C8B-B14F-4D97-AF65-F5344CB8AC3E}">
        <p14:creationId xmlns:p14="http://schemas.microsoft.com/office/powerpoint/2010/main" val="4041870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4DE012-E1C2-4EA9-98A3-3A36D340D590}"/>
              </a:ext>
            </a:extLst>
          </p:cNvPr>
          <p:cNvSpPr>
            <a:spLocks noGrp="1"/>
          </p:cNvSpPr>
          <p:nvPr>
            <p:ph type="title"/>
          </p:nvPr>
        </p:nvSpPr>
        <p:spPr>
          <a:xfrm>
            <a:off x="838200" y="365125"/>
            <a:ext cx="10515600" cy="1006475"/>
          </a:xfrm>
          <a:solidFill>
            <a:schemeClr val="accent4">
              <a:lumMod val="20000"/>
              <a:lumOff val="80000"/>
            </a:schemeClr>
          </a:solidFill>
        </p:spPr>
        <p:txBody>
          <a:bodyPr/>
          <a:lstStyle/>
          <a:p>
            <a:r>
              <a:rPr lang="fr-FR" dirty="0"/>
              <a:t>Système vestibulaire</a:t>
            </a:r>
          </a:p>
        </p:txBody>
      </p:sp>
      <p:pic>
        <p:nvPicPr>
          <p:cNvPr id="11266" name="Picture 2" descr="Les mécanismes sous-jacents au mouvement : le système vestibulaire |  valdemarne.fr">
            <a:extLst>
              <a:ext uri="{FF2B5EF4-FFF2-40B4-BE49-F238E27FC236}">
                <a16:creationId xmlns:a16="http://schemas.microsoft.com/office/drawing/2014/main" id="{1B656962-DA9C-4AB5-8248-0C054A6F02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5269" y="1371599"/>
            <a:ext cx="5229225" cy="5121275"/>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Les fonctions du système vestibulaire et l'oreille interne">
            <a:extLst>
              <a:ext uri="{FF2B5EF4-FFF2-40B4-BE49-F238E27FC236}">
                <a16:creationId xmlns:a16="http://schemas.microsoft.com/office/drawing/2014/main" id="{9C74FF51-C524-43E4-8CCE-CDACFCA428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0813" y="1371599"/>
            <a:ext cx="5229225" cy="5014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915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33F89BC-A507-42B1-B339-C523D07C669B}"/>
              </a:ext>
            </a:extLst>
          </p:cNvPr>
          <p:cNvSpPr>
            <a:spLocks noGrp="1"/>
          </p:cNvSpPr>
          <p:nvPr>
            <p:ph idx="1"/>
          </p:nvPr>
        </p:nvSpPr>
        <p:spPr/>
        <p:txBody>
          <a:bodyPr/>
          <a:lstStyle/>
          <a:p>
            <a:pPr>
              <a:buFont typeface="Wingdings" panose="05000000000000000000" pitchFamily="2" charset="2"/>
              <a:buChar char="q"/>
            </a:pPr>
            <a:r>
              <a:rPr lang="fr-FR" sz="2400" dirty="0">
                <a:effectLst/>
                <a:latin typeface="Calibri" panose="020F0502020204030204" pitchFamily="34" charset="0"/>
                <a:ea typeface="Calibri" panose="020F0502020204030204" pitchFamily="34" charset="0"/>
                <a:cs typeface="Arial" panose="020B0604020202020204" pitchFamily="34" charset="0"/>
              </a:rPr>
              <a:t>   Dans le labyrinthe et le conduit auditif interne, les structures vestibulaires et cochléaires ont des rapports anatomiques intimes. </a:t>
            </a:r>
          </a:p>
          <a:p>
            <a:pPr marL="0" indent="0">
              <a:buNone/>
            </a:pP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a:buFont typeface="Wingdings" panose="05000000000000000000" pitchFamily="2" charset="2"/>
              <a:buChar char="q"/>
            </a:pPr>
            <a:r>
              <a:rPr lang="fr-FR" sz="2400" dirty="0">
                <a:latin typeface="Calibri" panose="020F0502020204030204" pitchFamily="34" charset="0"/>
                <a:ea typeface="Calibri" panose="020F0502020204030204" pitchFamily="34" charset="0"/>
                <a:cs typeface="Arial" panose="020B0604020202020204" pitchFamily="34" charset="0"/>
              </a:rPr>
              <a:t>  </a:t>
            </a:r>
            <a:r>
              <a:rPr lang="fr-FR" sz="2400" dirty="0">
                <a:effectLst/>
                <a:latin typeface="Calibri" panose="020F0502020204030204" pitchFamily="34" charset="0"/>
                <a:ea typeface="Calibri" panose="020F0502020204030204" pitchFamily="34" charset="0"/>
                <a:cs typeface="Arial" panose="020B0604020202020204" pitchFamily="34" charset="0"/>
              </a:rPr>
              <a:t>De sorte que lors d'une atteinte périphérique (labyrinthe ou nerf </a:t>
            </a:r>
            <a:r>
              <a:rPr lang="fr-FR" sz="2400" dirty="0" err="1">
                <a:effectLst/>
                <a:latin typeface="Calibri" panose="020F0502020204030204" pitchFamily="34" charset="0"/>
                <a:ea typeface="Calibri" panose="020F0502020204030204" pitchFamily="34" charset="0"/>
                <a:cs typeface="Arial" panose="020B0604020202020204" pitchFamily="34" charset="0"/>
              </a:rPr>
              <a:t>cochléo</a:t>
            </a:r>
            <a:r>
              <a:rPr lang="fr-FR" sz="2400" dirty="0">
                <a:effectLst/>
                <a:latin typeface="Calibri" panose="020F0502020204030204" pitchFamily="34" charset="0"/>
                <a:ea typeface="Calibri" panose="020F0502020204030204" pitchFamily="34" charset="0"/>
                <a:cs typeface="Arial" panose="020B0604020202020204" pitchFamily="34" charset="0"/>
              </a:rPr>
              <a:t>-vestibulaire), il y aura le plus souvent (mais pas toujours) association de signes cochléaires et vestibulaires.</a:t>
            </a:r>
          </a:p>
          <a:p>
            <a:pPr>
              <a:buFont typeface="Wingdings" panose="05000000000000000000" pitchFamily="2" charset="2"/>
              <a:buChar char="q"/>
            </a:pPr>
            <a:endParaRPr lang="fr-FR" sz="2400" dirty="0">
              <a:latin typeface="Calibri" panose="020F0502020204030204" pitchFamily="34" charset="0"/>
              <a:ea typeface="Calibri" panose="020F0502020204030204" pitchFamily="34" charset="0"/>
              <a:cs typeface="Arial" panose="020B0604020202020204" pitchFamily="34" charset="0"/>
            </a:endParaRPr>
          </a:p>
          <a:p>
            <a:pPr>
              <a:buFont typeface="Wingdings" panose="05000000000000000000" pitchFamily="2" charset="2"/>
              <a:buChar char="q"/>
            </a:pPr>
            <a:r>
              <a:rPr lang="fr-FR" sz="2400" dirty="0">
                <a:effectLst/>
                <a:latin typeface="Calibri" panose="020F0502020204030204" pitchFamily="34" charset="0"/>
                <a:ea typeface="Calibri" panose="020F0502020204030204" pitchFamily="34" charset="0"/>
                <a:cs typeface="Arial" panose="020B0604020202020204" pitchFamily="34" charset="0"/>
              </a:rPr>
              <a:t> Inversement, dans les atteintes centrales (noyaux et voies vestibulaires), l'atteinte est dissociée, avec seulement des signes vestibulaires (sans signes cochléaires).</a:t>
            </a:r>
          </a:p>
          <a:p>
            <a:endParaRPr lang="fr-FR" dirty="0"/>
          </a:p>
        </p:txBody>
      </p:sp>
      <p:sp>
        <p:nvSpPr>
          <p:cNvPr id="4" name="Titre 1">
            <a:extLst>
              <a:ext uri="{FF2B5EF4-FFF2-40B4-BE49-F238E27FC236}">
                <a16:creationId xmlns:a16="http://schemas.microsoft.com/office/drawing/2014/main" id="{6D1CC4EA-DD71-4E58-A47D-B19F1B8C6794}"/>
              </a:ext>
            </a:extLst>
          </p:cNvPr>
          <p:cNvSpPr>
            <a:spLocks noGrp="1"/>
          </p:cNvSpPr>
          <p:nvPr>
            <p:ph type="title"/>
          </p:nvPr>
        </p:nvSpPr>
        <p:spPr>
          <a:xfrm>
            <a:off x="838200" y="365125"/>
            <a:ext cx="10515600" cy="1325563"/>
          </a:xfrm>
          <a:solidFill>
            <a:schemeClr val="accent4">
              <a:lumMod val="20000"/>
              <a:lumOff val="80000"/>
            </a:schemeClr>
          </a:solidFill>
        </p:spPr>
        <p:txBody>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Le syndrome vestibulaire :</a:t>
            </a:r>
            <a:endParaRPr lang="fr-FR" dirty="0"/>
          </a:p>
        </p:txBody>
      </p:sp>
    </p:spTree>
    <p:extLst>
      <p:ext uri="{BB962C8B-B14F-4D97-AF65-F5344CB8AC3E}">
        <p14:creationId xmlns:p14="http://schemas.microsoft.com/office/powerpoint/2010/main" val="56053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82488A6-5CD0-4EE9-9904-A63EB667DC32}"/>
              </a:ext>
            </a:extLst>
          </p:cNvPr>
          <p:cNvSpPr>
            <a:spLocks noGrp="1"/>
          </p:cNvSpPr>
          <p:nvPr>
            <p:ph idx="1"/>
          </p:nvPr>
        </p:nvSpPr>
        <p:spPr/>
        <p:txBody>
          <a:bodyPr/>
          <a:lstStyle/>
          <a:p>
            <a:pPr marL="0" indent="0">
              <a:buNone/>
            </a:pPr>
            <a:r>
              <a:rPr lang="fr-FR" sz="2400" b="1" u="sng" dirty="0">
                <a:effectLst/>
                <a:latin typeface="Calibri" panose="020F0502020204030204" pitchFamily="34" charset="0"/>
                <a:ea typeface="Calibri" panose="020F0502020204030204" pitchFamily="34" charset="0"/>
                <a:cs typeface="Arial" panose="020B0604020202020204" pitchFamily="34" charset="0"/>
              </a:rPr>
              <a:t>Symptômes : </a:t>
            </a:r>
          </a:p>
          <a:p>
            <a:pPr marL="0" indent="0">
              <a:buNone/>
            </a:pP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0" marR="0" indent="0" algn="just">
              <a:lnSpc>
                <a:spcPct val="107000"/>
              </a:lnSpc>
              <a:spcBef>
                <a:spcPts val="0"/>
              </a:spcBef>
              <a:spcAft>
                <a:spcPts val="80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1. Vertiges :</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07000"/>
              </a:lnSpc>
              <a:spcBef>
                <a:spcPts val="0"/>
              </a:spcBef>
              <a:spcAft>
                <a:spcPts val="800"/>
              </a:spcAft>
            </a:pPr>
            <a:r>
              <a:rPr lang="fr-FR" sz="2400" dirty="0">
                <a:effectLst/>
                <a:latin typeface="Calibri" panose="020F0502020204030204" pitchFamily="34" charset="0"/>
                <a:ea typeface="Calibri" panose="020F0502020204030204" pitchFamily="34" charset="0"/>
                <a:cs typeface="Arial" panose="020B0604020202020204" pitchFamily="34" charset="0"/>
              </a:rPr>
              <a:t>  C'est le maître symptôme du syndrome vestibulaire. Il se définit par </a:t>
            </a:r>
            <a:r>
              <a:rPr lang="fr-FR" sz="2400" b="1" dirty="0">
                <a:effectLst/>
                <a:latin typeface="Calibri" panose="020F0502020204030204" pitchFamily="34" charset="0"/>
                <a:ea typeface="Calibri" panose="020F0502020204030204" pitchFamily="34" charset="0"/>
                <a:cs typeface="Arial" panose="020B0604020202020204" pitchFamily="34" charset="0"/>
              </a:rPr>
              <a:t>une illusion de déplacement</a:t>
            </a:r>
            <a:r>
              <a:rPr lang="fr-FR" sz="2400" dirty="0">
                <a:effectLst/>
                <a:latin typeface="Calibri" panose="020F0502020204030204" pitchFamily="34" charset="0"/>
                <a:ea typeface="Calibri" panose="020F0502020204030204" pitchFamily="34" charset="0"/>
                <a:cs typeface="Arial" panose="020B0604020202020204" pitchFamily="34" charset="0"/>
              </a:rPr>
              <a:t> du sujet par rapport aux objets environnants ou des objets environnants par rapport au sujet. C'est typiquement une sensation de </a:t>
            </a:r>
            <a:r>
              <a:rPr lang="fr-FR" sz="2400" b="1" dirty="0">
                <a:effectLst/>
                <a:latin typeface="Calibri" panose="020F0502020204030204" pitchFamily="34" charset="0"/>
                <a:ea typeface="Calibri" panose="020F0502020204030204" pitchFamily="34" charset="0"/>
                <a:cs typeface="Arial" panose="020B0604020202020204" pitchFamily="34" charset="0"/>
              </a:rPr>
              <a:t>rotation</a:t>
            </a:r>
            <a:r>
              <a:rPr lang="fr-FR" sz="2400" dirty="0">
                <a:effectLst/>
                <a:latin typeface="Calibri" panose="020F0502020204030204" pitchFamily="34" charset="0"/>
                <a:ea typeface="Calibri" panose="020F0502020204030204" pitchFamily="34" charset="0"/>
                <a:cs typeface="Arial" panose="020B0604020202020204" pitchFamily="34" charset="0"/>
              </a:rPr>
              <a:t>. </a:t>
            </a:r>
          </a:p>
          <a:p>
            <a:pPr marL="0" marR="0" indent="0" algn="just">
              <a:lnSpc>
                <a:spcPct val="107000"/>
              </a:lnSpc>
              <a:spcBef>
                <a:spcPts val="0"/>
              </a:spcBef>
              <a:spcAft>
                <a:spcPts val="800"/>
              </a:spcAft>
              <a:buNone/>
            </a:pPr>
            <a:r>
              <a:rPr lang="fr-FR" sz="2400" dirty="0">
                <a:effectLst/>
                <a:latin typeface="Calibri" panose="020F0502020204030204" pitchFamily="34" charset="0"/>
                <a:ea typeface="Calibri" panose="020F0502020204030204" pitchFamily="34" charset="0"/>
                <a:cs typeface="Arial" panose="020B0604020202020204" pitchFamily="34" charset="0"/>
              </a:rPr>
              <a:t> </a:t>
            </a:r>
            <a:br>
              <a:rPr lang="fr-FR" sz="2400" dirty="0">
                <a:effectLst/>
                <a:latin typeface="Calibri" panose="020F0502020204030204" pitchFamily="34" charset="0"/>
                <a:ea typeface="Calibri" panose="020F0502020204030204" pitchFamily="34" charset="0"/>
                <a:cs typeface="Arial" panose="020B0604020202020204" pitchFamily="34" charset="0"/>
              </a:rPr>
            </a:br>
            <a:r>
              <a:rPr lang="fr-FR" sz="2400" dirty="0">
                <a:effectLst/>
                <a:latin typeface="Calibri" panose="020F0502020204030204" pitchFamily="34" charset="0"/>
                <a:ea typeface="Calibri" panose="020F0502020204030204" pitchFamily="34" charset="0"/>
                <a:cs typeface="Arial" panose="020B0604020202020204" pitchFamily="34" charset="0"/>
              </a:rPr>
              <a:t>Lors de vertige intense, il existe des </a:t>
            </a:r>
            <a:r>
              <a:rPr lang="fr-FR" sz="2400" b="1" dirty="0">
                <a:effectLst/>
                <a:latin typeface="Calibri" panose="020F0502020204030204" pitchFamily="34" charset="0"/>
                <a:ea typeface="Calibri" panose="020F0502020204030204" pitchFamily="34" charset="0"/>
                <a:cs typeface="Arial" panose="020B0604020202020204" pitchFamily="34" charset="0"/>
              </a:rPr>
              <a:t>signes végétatifs</a:t>
            </a:r>
            <a:r>
              <a:rPr lang="fr-FR" sz="2400" dirty="0">
                <a:effectLst/>
                <a:latin typeface="Calibri" panose="020F0502020204030204" pitchFamily="34" charset="0"/>
                <a:ea typeface="Calibri" panose="020F0502020204030204" pitchFamily="34" charset="0"/>
                <a:cs typeface="Arial" panose="020B0604020202020204" pitchFamily="34" charset="0"/>
              </a:rPr>
              <a:t> d'accompagnement : nausées, vomissements, pâleur, sueurs, ralentissement du pouls. </a:t>
            </a:r>
          </a:p>
          <a:p>
            <a:pPr marL="0" indent="0">
              <a:buNone/>
            </a:pPr>
            <a:endParaRPr lang="fr-FR" dirty="0"/>
          </a:p>
        </p:txBody>
      </p:sp>
      <p:sp>
        <p:nvSpPr>
          <p:cNvPr id="4" name="Titre 1">
            <a:extLst>
              <a:ext uri="{FF2B5EF4-FFF2-40B4-BE49-F238E27FC236}">
                <a16:creationId xmlns:a16="http://schemas.microsoft.com/office/drawing/2014/main" id="{1EDA380D-2A16-45F8-A9BC-20D77672E7C4}"/>
              </a:ext>
            </a:extLst>
          </p:cNvPr>
          <p:cNvSpPr>
            <a:spLocks noGrp="1"/>
          </p:cNvSpPr>
          <p:nvPr>
            <p:ph type="title"/>
          </p:nvPr>
        </p:nvSpPr>
        <p:spPr>
          <a:xfrm>
            <a:off x="838200" y="365125"/>
            <a:ext cx="10515600" cy="1325563"/>
          </a:xfrm>
          <a:solidFill>
            <a:schemeClr val="accent4">
              <a:lumMod val="20000"/>
              <a:lumOff val="80000"/>
            </a:schemeClr>
          </a:solidFill>
        </p:spPr>
        <p:txBody>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Le syndrome vestibulaire :</a:t>
            </a:r>
            <a:endParaRPr lang="fr-FR" dirty="0"/>
          </a:p>
        </p:txBody>
      </p:sp>
    </p:spTree>
    <p:extLst>
      <p:ext uri="{BB962C8B-B14F-4D97-AF65-F5344CB8AC3E}">
        <p14:creationId xmlns:p14="http://schemas.microsoft.com/office/powerpoint/2010/main" val="1372661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6BD0D56-9623-4009-B01F-02F4445C0251}"/>
              </a:ext>
            </a:extLst>
          </p:cNvPr>
          <p:cNvSpPr>
            <a:spLocks noGrp="1"/>
          </p:cNvSpPr>
          <p:nvPr>
            <p:ph idx="1"/>
          </p:nvPr>
        </p:nvSpPr>
        <p:spPr/>
        <p:txBody>
          <a:bodyPr/>
          <a:lstStyle/>
          <a:p>
            <a:pPr marL="0" marR="0" indent="0" algn="just">
              <a:lnSpc>
                <a:spcPct val="107000"/>
              </a:lnSpc>
              <a:spcBef>
                <a:spcPts val="0"/>
              </a:spcBef>
              <a:spcAft>
                <a:spcPts val="800"/>
              </a:spcAft>
              <a:buNone/>
            </a:pPr>
            <a:r>
              <a:rPr lang="fr-FR" b="1" dirty="0">
                <a:effectLst/>
                <a:latin typeface="Calibri" panose="020F0502020204030204" pitchFamily="34" charset="0"/>
                <a:ea typeface="Calibri" panose="020F0502020204030204" pitchFamily="34" charset="0"/>
                <a:cs typeface="Arial" panose="020B0604020202020204" pitchFamily="34" charset="0"/>
              </a:rPr>
              <a:t>2. Troubles de l'équilibre et de la marche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R="0" lvl="0" algn="just">
              <a:lnSpc>
                <a:spcPct val="107000"/>
              </a:lnSpc>
              <a:spcBef>
                <a:spcPts val="0"/>
              </a:spcBef>
              <a:spcAft>
                <a:spcPts val="800"/>
              </a:spcAft>
              <a:buSzPts val="1000"/>
              <a:buFont typeface="Wingdings" panose="05000000000000000000" pitchFamily="2" charset="2"/>
              <a:buChar char="q"/>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  Un déséquilibre à la marche peut dominer la symptomatologie, le vertige stricto sensu étant au second plan ou absent. </a:t>
            </a:r>
          </a:p>
          <a:p>
            <a:pPr marR="0" lvl="0" algn="just">
              <a:lnSpc>
                <a:spcPct val="107000"/>
              </a:lnSpc>
              <a:spcBef>
                <a:spcPts val="0"/>
              </a:spcBef>
              <a:spcAft>
                <a:spcPts val="800"/>
              </a:spcAft>
              <a:buSzPts val="1000"/>
              <a:buFont typeface="Wingdings" panose="05000000000000000000" pitchFamily="2" charset="2"/>
              <a:buChar char="q"/>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Le malade peut décrire des embardées latérales, toujours du même côté, lors de la marche.</a:t>
            </a:r>
          </a:p>
          <a:p>
            <a:pPr marR="0" lvl="0" algn="just">
              <a:lnSpc>
                <a:spcPct val="107000"/>
              </a:lnSpc>
              <a:spcBef>
                <a:spcPts val="0"/>
              </a:spcBef>
              <a:spcAft>
                <a:spcPts val="800"/>
              </a:spcAft>
              <a:buSzPts val="1000"/>
              <a:buFont typeface="Wingdings" panose="05000000000000000000" pitchFamily="2" charset="2"/>
              <a:buChar char="q"/>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 Il peut aussi ne s'agir que d'une simple instabilité.</a:t>
            </a:r>
          </a:p>
          <a:p>
            <a:pPr marL="0" marR="0" lvl="0" indent="0" algn="just">
              <a:lnSpc>
                <a:spcPct val="107000"/>
              </a:lnSpc>
              <a:spcBef>
                <a:spcPts val="0"/>
              </a:spcBef>
              <a:spcAft>
                <a:spcPts val="800"/>
              </a:spcAft>
              <a:buSzPts val="1000"/>
              <a:buNone/>
              <a:tabLst>
                <a:tab pos="457200" algn="l"/>
              </a:tabLst>
            </a:pP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R="0" lvl="0" algn="just">
              <a:lnSpc>
                <a:spcPct val="107000"/>
              </a:lnSpc>
              <a:spcBef>
                <a:spcPts val="0"/>
              </a:spcBef>
              <a:spcAft>
                <a:spcPts val="800"/>
              </a:spcAft>
              <a:buSzPts val="1000"/>
              <a:buFont typeface="Wingdings" panose="05000000000000000000" pitchFamily="2" charset="2"/>
              <a:buChar char="q"/>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Dans les vertiges intenses, la station debout est impossible.</a:t>
            </a:r>
          </a:p>
          <a:p>
            <a:endParaRPr lang="fr-FR" dirty="0"/>
          </a:p>
        </p:txBody>
      </p:sp>
      <p:sp>
        <p:nvSpPr>
          <p:cNvPr id="4" name="Titre 1">
            <a:extLst>
              <a:ext uri="{FF2B5EF4-FFF2-40B4-BE49-F238E27FC236}">
                <a16:creationId xmlns:a16="http://schemas.microsoft.com/office/drawing/2014/main" id="{36D7EE0B-2EF4-4980-9B91-83A81688173D}"/>
              </a:ext>
            </a:extLst>
          </p:cNvPr>
          <p:cNvSpPr>
            <a:spLocks noGrp="1"/>
          </p:cNvSpPr>
          <p:nvPr>
            <p:ph type="title"/>
          </p:nvPr>
        </p:nvSpPr>
        <p:spPr>
          <a:xfrm>
            <a:off x="838200" y="365125"/>
            <a:ext cx="10515600" cy="1325563"/>
          </a:xfrm>
          <a:solidFill>
            <a:schemeClr val="accent4">
              <a:lumMod val="20000"/>
              <a:lumOff val="80000"/>
            </a:schemeClr>
          </a:solidFill>
        </p:spPr>
        <p:txBody>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Le syndrome vestibulaire :</a:t>
            </a:r>
            <a:endParaRPr lang="fr-FR" dirty="0"/>
          </a:p>
        </p:txBody>
      </p:sp>
    </p:spTree>
    <p:extLst>
      <p:ext uri="{BB962C8B-B14F-4D97-AF65-F5344CB8AC3E}">
        <p14:creationId xmlns:p14="http://schemas.microsoft.com/office/powerpoint/2010/main" val="3698086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3D18EC4-03B3-4910-BD21-33A28BD779F7}"/>
              </a:ext>
            </a:extLst>
          </p:cNvPr>
          <p:cNvSpPr>
            <a:spLocks noGrp="1"/>
          </p:cNvSpPr>
          <p:nvPr>
            <p:ph idx="1"/>
          </p:nvPr>
        </p:nvSpPr>
        <p:spPr>
          <a:xfrm>
            <a:off x="838200" y="1825625"/>
            <a:ext cx="10515600" cy="4667250"/>
          </a:xfrm>
        </p:spPr>
        <p:txBody>
          <a:bodyPr>
            <a:normAutofit fontScale="92500"/>
          </a:bodyPr>
          <a:lstStyle/>
          <a:p>
            <a:pPr marL="0" indent="0">
              <a:buNone/>
            </a:pPr>
            <a:r>
              <a:rPr lang="fr-FR" b="1" u="sng" dirty="0">
                <a:effectLst/>
                <a:latin typeface="Calibri" panose="020F0502020204030204" pitchFamily="34" charset="0"/>
                <a:ea typeface="Calibri" panose="020F0502020204030204" pitchFamily="34" charset="0"/>
                <a:cs typeface="Arial" panose="020B0604020202020204" pitchFamily="34" charset="0"/>
              </a:rPr>
              <a:t>Signes cliniques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0" marR="0" indent="0" algn="just">
              <a:lnSpc>
                <a:spcPct val="107000"/>
              </a:lnSpc>
              <a:spcBef>
                <a:spcPts val="0"/>
              </a:spcBef>
              <a:spcAft>
                <a:spcPts val="80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 1. Nystagmus : </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R="0" lvl="0" algn="just">
              <a:lnSpc>
                <a:spcPct val="107000"/>
              </a:lnSpc>
              <a:spcBef>
                <a:spcPts val="0"/>
              </a:spcBef>
              <a:spcAft>
                <a:spcPts val="800"/>
              </a:spcAft>
              <a:buSzPts val="1000"/>
              <a:buFont typeface="Wingdings" panose="05000000000000000000" pitchFamily="2" charset="2"/>
              <a:buChar char="q"/>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C'est un mouvement involontaire, rythmique et conjugué des yeux, fait de deux secousses inégales, l'une lente et l'autre rapide, cette dernière définissant arbitrairement le sens du nystagmus.</a:t>
            </a:r>
          </a:p>
          <a:p>
            <a:pPr marR="0" lvl="0" algn="just">
              <a:lnSpc>
                <a:spcPct val="107000"/>
              </a:lnSpc>
              <a:spcBef>
                <a:spcPts val="0"/>
              </a:spcBef>
              <a:spcAft>
                <a:spcPts val="800"/>
              </a:spcAft>
              <a:buSzPts val="1000"/>
              <a:buFont typeface="Wingdings" panose="05000000000000000000" pitchFamily="2" charset="2"/>
              <a:buChar char="q"/>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Le plus souvent, il n'apparaît que lors de la poursuite oculaire. </a:t>
            </a:r>
          </a:p>
          <a:p>
            <a:pPr marR="0" lvl="0" algn="just">
              <a:lnSpc>
                <a:spcPct val="107000"/>
              </a:lnSpc>
              <a:spcBef>
                <a:spcPts val="0"/>
              </a:spcBef>
              <a:spcAft>
                <a:spcPts val="800"/>
              </a:spcAft>
              <a:buSzPts val="1000"/>
              <a:buFont typeface="Wingdings" panose="05000000000000000000" pitchFamily="2" charset="2"/>
              <a:buChar char="q"/>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Quelques secousses </a:t>
            </a:r>
            <a:r>
              <a:rPr lang="fr-FR" sz="2400" dirty="0" err="1">
                <a:effectLst/>
                <a:latin typeface="Calibri" panose="020F0502020204030204" pitchFamily="34" charset="0"/>
                <a:ea typeface="Calibri" panose="020F0502020204030204" pitchFamily="34" charset="0"/>
                <a:cs typeface="Arial" panose="020B0604020202020204" pitchFamily="34" charset="0"/>
              </a:rPr>
              <a:t>nystagmiques</a:t>
            </a:r>
            <a:r>
              <a:rPr lang="fr-FR" sz="2400" dirty="0">
                <a:effectLst/>
                <a:latin typeface="Calibri" panose="020F0502020204030204" pitchFamily="34" charset="0"/>
                <a:ea typeface="Calibri" panose="020F0502020204030204" pitchFamily="34" charset="0"/>
                <a:cs typeface="Arial" panose="020B0604020202020204" pitchFamily="34" charset="0"/>
              </a:rPr>
              <a:t> rapidement épuisables n'apparaissant que dans les regards extrêmes n'ont pas de valeur séméiologique.</a:t>
            </a:r>
          </a:p>
          <a:p>
            <a:pPr marR="0" lvl="0" algn="just">
              <a:lnSpc>
                <a:spcPct val="107000"/>
              </a:lnSpc>
              <a:spcBef>
                <a:spcPts val="0"/>
              </a:spcBef>
              <a:spcAft>
                <a:spcPts val="800"/>
              </a:spcAft>
              <a:buSzPts val="1000"/>
              <a:buFont typeface="Wingdings" panose="05000000000000000000" pitchFamily="2" charset="2"/>
              <a:buChar char="q"/>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Le nystagmus peut être horizontal, </a:t>
            </a:r>
            <a:r>
              <a:rPr lang="fr-FR" sz="2400" dirty="0" err="1">
                <a:effectLst/>
                <a:latin typeface="Calibri" panose="020F0502020204030204" pitchFamily="34" charset="0"/>
                <a:ea typeface="Calibri" panose="020F0502020204030204" pitchFamily="34" charset="0"/>
                <a:cs typeface="Arial" panose="020B0604020202020204" pitchFamily="34" charset="0"/>
              </a:rPr>
              <a:t>horizonto</a:t>
            </a:r>
            <a:r>
              <a:rPr lang="fr-FR" sz="2400" dirty="0">
                <a:effectLst/>
                <a:latin typeface="Calibri" panose="020F0502020204030204" pitchFamily="34" charset="0"/>
                <a:ea typeface="Calibri" panose="020F0502020204030204" pitchFamily="34" charset="0"/>
                <a:cs typeface="Arial" panose="020B0604020202020204" pitchFamily="34" charset="0"/>
              </a:rPr>
              <a:t>-rotatoire, rotatoire, vertical ou multiple.</a:t>
            </a:r>
          </a:p>
          <a:p>
            <a:pPr marR="0" lvl="0" algn="just">
              <a:lnSpc>
                <a:spcPct val="107000"/>
              </a:lnSpc>
              <a:spcBef>
                <a:spcPts val="0"/>
              </a:spcBef>
              <a:spcAft>
                <a:spcPts val="800"/>
              </a:spcAft>
              <a:buSzPts val="1000"/>
              <a:buFont typeface="Wingdings" panose="05000000000000000000" pitchFamily="2" charset="2"/>
              <a:buChar char="q"/>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Plus rarement, il existe dans le regard de face (nystagmus spontané ou axial) ou lors de certaines positions de la tête (nystagmus de position).</a:t>
            </a:r>
          </a:p>
          <a:p>
            <a:pPr marL="0" indent="0">
              <a:buNone/>
            </a:pPr>
            <a:endParaRPr lang="fr-FR" dirty="0"/>
          </a:p>
        </p:txBody>
      </p:sp>
      <p:sp>
        <p:nvSpPr>
          <p:cNvPr id="4" name="Titre 1">
            <a:extLst>
              <a:ext uri="{FF2B5EF4-FFF2-40B4-BE49-F238E27FC236}">
                <a16:creationId xmlns:a16="http://schemas.microsoft.com/office/drawing/2014/main" id="{BEAC675E-6EE0-427D-A29D-4774954E97C7}"/>
              </a:ext>
            </a:extLst>
          </p:cNvPr>
          <p:cNvSpPr>
            <a:spLocks noGrp="1"/>
          </p:cNvSpPr>
          <p:nvPr>
            <p:ph type="title"/>
          </p:nvPr>
        </p:nvSpPr>
        <p:spPr>
          <a:xfrm>
            <a:off x="838200" y="365125"/>
            <a:ext cx="10515600" cy="1325563"/>
          </a:xfrm>
          <a:solidFill>
            <a:schemeClr val="accent4">
              <a:lumMod val="20000"/>
              <a:lumOff val="80000"/>
            </a:schemeClr>
          </a:solidFill>
        </p:spPr>
        <p:txBody>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Le syndrome vestibulaire :</a:t>
            </a:r>
            <a:endParaRPr lang="fr-FR" dirty="0"/>
          </a:p>
        </p:txBody>
      </p:sp>
    </p:spTree>
    <p:extLst>
      <p:ext uri="{BB962C8B-B14F-4D97-AF65-F5344CB8AC3E}">
        <p14:creationId xmlns:p14="http://schemas.microsoft.com/office/powerpoint/2010/main" val="591572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00DC172-5F36-477E-B3D5-9401877C9F01}"/>
              </a:ext>
            </a:extLst>
          </p:cNvPr>
          <p:cNvSpPr>
            <a:spLocks noGrp="1"/>
          </p:cNvSpPr>
          <p:nvPr>
            <p:ph idx="1"/>
          </p:nvPr>
        </p:nvSpPr>
        <p:spPr>
          <a:xfrm>
            <a:off x="838201" y="1825625"/>
            <a:ext cx="6634162" cy="4667250"/>
          </a:xfrm>
        </p:spPr>
        <p:txBody>
          <a:bodyPr>
            <a:normAutofit fontScale="92500"/>
          </a:bodyPr>
          <a:lstStyle/>
          <a:p>
            <a:pPr marL="0" marR="0" indent="0" algn="just">
              <a:lnSpc>
                <a:spcPct val="107000"/>
              </a:lnSpc>
              <a:spcBef>
                <a:spcPts val="0"/>
              </a:spcBef>
              <a:spcAft>
                <a:spcPts val="800"/>
              </a:spcAft>
              <a:buNone/>
            </a:pPr>
            <a:r>
              <a:rPr lang="fr-FR" b="1" dirty="0">
                <a:effectLst/>
                <a:latin typeface="Calibri" panose="020F0502020204030204" pitchFamily="34" charset="0"/>
                <a:ea typeface="Calibri" panose="020F0502020204030204" pitchFamily="34" charset="0"/>
                <a:cs typeface="Arial" panose="020B0604020202020204" pitchFamily="34" charset="0"/>
              </a:rPr>
              <a:t>2. Les troubles de l'équilibre et de la marche : ataxie vestibulaire</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b="1" dirty="0">
                <a:effectLst/>
                <a:latin typeface="Calibri" panose="020F0502020204030204" pitchFamily="34" charset="0"/>
                <a:ea typeface="Calibri" panose="020F0502020204030204" pitchFamily="34" charset="0"/>
                <a:cs typeface="Arial" panose="020B0604020202020204" pitchFamily="34" charset="0"/>
              </a:rPr>
              <a:t>Troubles de l'équilibre :</a:t>
            </a:r>
            <a:endParaRPr lang="fr-FR"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07000"/>
              </a:lnSpc>
              <a:spcBef>
                <a:spcPts val="0"/>
              </a:spcBef>
              <a:spcAft>
                <a:spcPts val="800"/>
              </a:spcAft>
              <a:buSzPts val="1000"/>
              <a:buFont typeface="Courier New" panose="02070309020205020404" pitchFamily="49" charset="0"/>
              <a:buChar char="o"/>
              <a:tabLst>
                <a:tab pos="914400" algn="l"/>
              </a:tabLst>
            </a:pPr>
            <a:r>
              <a:rPr lang="fr-FR" sz="2000" dirty="0">
                <a:effectLst/>
                <a:latin typeface="Calibri" panose="020F0502020204030204" pitchFamily="34" charset="0"/>
                <a:ea typeface="Calibri" panose="020F0502020204030204" pitchFamily="34" charset="0"/>
                <a:cs typeface="Times New Roman" panose="02020603050405020304" pitchFamily="18" charset="0"/>
              </a:rPr>
              <a:t>Lors de la station debout, pieds joints, apparaît une inclinaison latérale, lente de l'axe du corps après quelques secondes d'occlusion des yeux. </a:t>
            </a:r>
          </a:p>
          <a:p>
            <a:pPr marL="742950" marR="0" lvl="1" indent="-285750" algn="just">
              <a:lnSpc>
                <a:spcPct val="107000"/>
              </a:lnSpc>
              <a:spcBef>
                <a:spcPts val="0"/>
              </a:spcBef>
              <a:spcAft>
                <a:spcPts val="800"/>
              </a:spcAft>
              <a:buSzPts val="1000"/>
              <a:buFont typeface="Courier New" panose="02070309020205020404" pitchFamily="49" charset="0"/>
              <a:buChar char="o"/>
              <a:tabLst>
                <a:tab pos="914400" algn="l"/>
              </a:tabLst>
            </a:pPr>
            <a:r>
              <a:rPr lang="fr-FR" sz="2000" dirty="0">
                <a:effectLst/>
                <a:latin typeface="Calibri" panose="020F0502020204030204" pitchFamily="34" charset="0"/>
                <a:ea typeface="Calibri" panose="020F0502020204030204" pitchFamily="34" charset="0"/>
                <a:cs typeface="Times New Roman" panose="02020603050405020304" pitchFamily="18" charset="0"/>
              </a:rPr>
              <a:t>Cette déviation se fait toujours dans le même sens (le coté atteint): C'est le </a:t>
            </a:r>
            <a:r>
              <a:rPr lang="fr-FR" sz="2000" b="1" dirty="0">
                <a:effectLst/>
                <a:latin typeface="Calibri" panose="020F0502020204030204" pitchFamily="34" charset="0"/>
                <a:ea typeface="Calibri" panose="020F0502020204030204" pitchFamily="34" charset="0"/>
                <a:cs typeface="Times New Roman" panose="02020603050405020304" pitchFamily="18" charset="0"/>
              </a:rPr>
              <a:t>signe de Romberg labyrinthique</a:t>
            </a:r>
            <a:r>
              <a:rPr lang="fr-FR" sz="2000" dirty="0">
                <a:effectLst/>
                <a:latin typeface="Calibri" panose="020F0502020204030204" pitchFamily="34" charset="0"/>
                <a:ea typeface="Calibri" panose="020F0502020204030204" pitchFamily="34" charset="0"/>
                <a:cs typeface="Times New Roman" panose="02020603050405020304" pitchFamily="18" charset="0"/>
              </a:rPr>
              <a:t> (à distinguer du signe de Romberg proprioceptif)</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lvl="1" indent="0" algn="just">
              <a:lnSpc>
                <a:spcPct val="107000"/>
              </a:lnSpc>
              <a:spcBef>
                <a:spcPts val="0"/>
              </a:spcBef>
              <a:spcAft>
                <a:spcPts val="800"/>
              </a:spcAft>
              <a:buSzPts val="1000"/>
              <a:buNone/>
              <a:tabLst>
                <a:tab pos="914400" algn="l"/>
              </a:tabLst>
            </a:pP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800"/>
              </a:spcAft>
              <a:buSzPts val="1000"/>
              <a:buFont typeface="Courier New" panose="02070309020205020404" pitchFamily="49" charset="0"/>
              <a:buChar char="o"/>
              <a:tabLst>
                <a:tab pos="914400" algn="l"/>
              </a:tabLst>
            </a:pPr>
            <a:r>
              <a:rPr lang="fr-FR" sz="2000" dirty="0">
                <a:effectLst/>
                <a:latin typeface="Calibri" panose="020F0502020204030204" pitchFamily="34" charset="0"/>
                <a:ea typeface="Calibri" panose="020F0502020204030204" pitchFamily="34" charset="0"/>
                <a:cs typeface="Times New Roman" panose="02020603050405020304" pitchFamily="18" charset="0"/>
              </a:rPr>
              <a:t>Dans les syndromes vestibulaires intenses, la station debout est impossible.</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Titre 1">
            <a:extLst>
              <a:ext uri="{FF2B5EF4-FFF2-40B4-BE49-F238E27FC236}">
                <a16:creationId xmlns:a16="http://schemas.microsoft.com/office/drawing/2014/main" id="{AF405A88-B900-4DCB-98FA-C0673A1DFA68}"/>
              </a:ext>
            </a:extLst>
          </p:cNvPr>
          <p:cNvSpPr>
            <a:spLocks noGrp="1"/>
          </p:cNvSpPr>
          <p:nvPr>
            <p:ph type="title"/>
          </p:nvPr>
        </p:nvSpPr>
        <p:spPr>
          <a:xfrm>
            <a:off x="838200" y="365125"/>
            <a:ext cx="10515600" cy="1325563"/>
          </a:xfrm>
          <a:solidFill>
            <a:schemeClr val="accent4">
              <a:lumMod val="20000"/>
              <a:lumOff val="80000"/>
            </a:schemeClr>
          </a:solidFill>
        </p:spPr>
        <p:txBody>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Le syndrome vestibulaire :</a:t>
            </a:r>
            <a:endParaRPr lang="fr-FR" dirty="0"/>
          </a:p>
        </p:txBody>
      </p:sp>
      <p:pic>
        <p:nvPicPr>
          <p:cNvPr id="5" name="Picture 4" descr="Assistant médical">
            <a:extLst>
              <a:ext uri="{FF2B5EF4-FFF2-40B4-BE49-F238E27FC236}">
                <a16:creationId xmlns:a16="http://schemas.microsoft.com/office/drawing/2014/main" id="{7A7050CE-83C2-42DC-9DCA-A34280EE7D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9562" y="1825625"/>
            <a:ext cx="4067175"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7638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00DC172-5F36-477E-B3D5-9401877C9F01}"/>
              </a:ext>
            </a:extLst>
          </p:cNvPr>
          <p:cNvSpPr>
            <a:spLocks noGrp="1"/>
          </p:cNvSpPr>
          <p:nvPr>
            <p:ph idx="1"/>
          </p:nvPr>
        </p:nvSpPr>
        <p:spPr>
          <a:xfrm>
            <a:off x="838200" y="1825625"/>
            <a:ext cx="6234113" cy="4351338"/>
          </a:xfrm>
        </p:spPr>
        <p:txBody>
          <a:bodyPr/>
          <a:lstStyle/>
          <a:p>
            <a:pPr marL="0" marR="0" indent="0" algn="just">
              <a:lnSpc>
                <a:spcPct val="107000"/>
              </a:lnSpc>
              <a:spcBef>
                <a:spcPts val="0"/>
              </a:spcBef>
              <a:spcAft>
                <a:spcPts val="800"/>
              </a:spcAft>
              <a:buNone/>
            </a:pPr>
            <a:r>
              <a:rPr lang="fr-FR" b="1" dirty="0">
                <a:effectLst/>
                <a:latin typeface="Calibri" panose="020F0502020204030204" pitchFamily="34" charset="0"/>
                <a:ea typeface="Calibri" panose="020F0502020204030204" pitchFamily="34" charset="0"/>
                <a:cs typeface="Arial" panose="020B0604020202020204" pitchFamily="34" charset="0"/>
              </a:rPr>
              <a:t>2. Les troubles de l'équilibre et de la marche : ataxie vestibulaire</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b="1" dirty="0">
                <a:effectLst/>
                <a:latin typeface="Calibri" panose="020F0502020204030204" pitchFamily="34" charset="0"/>
                <a:ea typeface="Calibri" panose="020F0502020204030204" pitchFamily="34" charset="0"/>
                <a:cs typeface="Arial" panose="020B0604020202020204" pitchFamily="34" charset="0"/>
              </a:rPr>
              <a:t>Troubles de l'équilibre :</a:t>
            </a:r>
            <a:endParaRPr lang="fr-FR"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07000"/>
              </a:lnSpc>
              <a:spcBef>
                <a:spcPts val="0"/>
              </a:spcBef>
              <a:spcAft>
                <a:spcPts val="800"/>
              </a:spcAft>
              <a:buSzPts val="1000"/>
              <a:buFont typeface="Courier New" panose="02070309020205020404" pitchFamily="49" charset="0"/>
              <a:buChar char="o"/>
              <a:tabLst>
                <a:tab pos="914400" algn="l"/>
              </a:tabLst>
            </a:pPr>
            <a:r>
              <a:rPr lang="fr-FR" sz="2000" dirty="0">
                <a:effectLst/>
                <a:latin typeface="Calibri" panose="020F0502020204030204" pitchFamily="34" charset="0"/>
                <a:ea typeface="Calibri" panose="020F0502020204030204" pitchFamily="34" charset="0"/>
                <a:cs typeface="Times New Roman" panose="02020603050405020304" pitchFamily="18" charset="0"/>
              </a:rPr>
              <a:t>Lors de la manœuvre précédente, ou sur le malade assis mais sans appui dorsal, les bras sont tendus en avant, les index pointés face à ceux de l'examinateur. </a:t>
            </a:r>
          </a:p>
          <a:p>
            <a:pPr marL="742950" marR="0" lvl="1" indent="-285750" algn="just">
              <a:lnSpc>
                <a:spcPct val="107000"/>
              </a:lnSpc>
              <a:spcBef>
                <a:spcPts val="0"/>
              </a:spcBef>
              <a:spcAft>
                <a:spcPts val="800"/>
              </a:spcAft>
              <a:buSzPts val="1000"/>
              <a:buFont typeface="Courier New" panose="02070309020205020404" pitchFamily="49" charset="0"/>
              <a:buChar char="o"/>
              <a:tabLst>
                <a:tab pos="914400" algn="l"/>
              </a:tabLst>
            </a:pPr>
            <a:r>
              <a:rPr lang="fr-FR" sz="2000" dirty="0">
                <a:effectLst/>
                <a:latin typeface="Calibri" panose="020F0502020204030204" pitchFamily="34" charset="0"/>
                <a:ea typeface="Calibri" panose="020F0502020204030204" pitchFamily="34" charset="0"/>
                <a:cs typeface="Times New Roman" panose="02020603050405020304" pitchFamily="18" charset="0"/>
              </a:rPr>
              <a:t>A l'occlusion de yeux, apparaît une </a:t>
            </a:r>
            <a:r>
              <a:rPr lang="fr-FR" sz="2000" b="1" dirty="0">
                <a:effectLst/>
                <a:latin typeface="Calibri" panose="020F0502020204030204" pitchFamily="34" charset="0"/>
                <a:ea typeface="Calibri" panose="020F0502020204030204" pitchFamily="34" charset="0"/>
                <a:cs typeface="Times New Roman" panose="02020603050405020304" pitchFamily="18" charset="0"/>
              </a:rPr>
              <a:t>déviation des index</a:t>
            </a:r>
            <a:r>
              <a:rPr lang="fr-FR" sz="2000" dirty="0">
                <a:effectLst/>
                <a:latin typeface="Calibri" panose="020F0502020204030204" pitchFamily="34" charset="0"/>
                <a:ea typeface="Calibri" panose="020F0502020204030204" pitchFamily="34" charset="0"/>
                <a:cs typeface="Times New Roman" panose="02020603050405020304" pitchFamily="18" charset="0"/>
              </a:rPr>
              <a:t> qui se fait dans un plan horizontal, du même côté que le signe de Romberg.</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fr-FR" dirty="0"/>
          </a:p>
        </p:txBody>
      </p:sp>
      <p:sp>
        <p:nvSpPr>
          <p:cNvPr id="4" name="Titre 1">
            <a:extLst>
              <a:ext uri="{FF2B5EF4-FFF2-40B4-BE49-F238E27FC236}">
                <a16:creationId xmlns:a16="http://schemas.microsoft.com/office/drawing/2014/main" id="{AF405A88-B900-4DCB-98FA-C0673A1DFA68}"/>
              </a:ext>
            </a:extLst>
          </p:cNvPr>
          <p:cNvSpPr>
            <a:spLocks noGrp="1"/>
          </p:cNvSpPr>
          <p:nvPr>
            <p:ph type="title"/>
          </p:nvPr>
        </p:nvSpPr>
        <p:spPr>
          <a:xfrm>
            <a:off x="838200" y="365125"/>
            <a:ext cx="10515600" cy="1325563"/>
          </a:xfrm>
          <a:solidFill>
            <a:schemeClr val="accent4">
              <a:lumMod val="20000"/>
              <a:lumOff val="80000"/>
            </a:schemeClr>
          </a:solidFill>
        </p:spPr>
        <p:txBody>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Le syndrome vestibulaire :</a:t>
            </a:r>
            <a:endParaRPr lang="fr-FR" dirty="0"/>
          </a:p>
        </p:txBody>
      </p:sp>
      <p:pic>
        <p:nvPicPr>
          <p:cNvPr id="5" name="Picture 2" descr="LE TEST DE ROMBERG POSTURAL - Le blog de la Posturopathie">
            <a:extLst>
              <a:ext uri="{FF2B5EF4-FFF2-40B4-BE49-F238E27FC236}">
                <a16:creationId xmlns:a16="http://schemas.microsoft.com/office/drawing/2014/main" id="{4EC894B0-9167-4DAF-8C1F-3C832A95B9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0961" y="1825624"/>
            <a:ext cx="4067175" cy="4475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841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00DC172-5F36-477E-B3D5-9401877C9F01}"/>
              </a:ext>
            </a:extLst>
          </p:cNvPr>
          <p:cNvSpPr>
            <a:spLocks noGrp="1"/>
          </p:cNvSpPr>
          <p:nvPr>
            <p:ph idx="1"/>
          </p:nvPr>
        </p:nvSpPr>
        <p:spPr/>
        <p:txBody>
          <a:bodyPr/>
          <a:lstStyle/>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400" b="1" dirty="0">
                <a:effectLst/>
                <a:latin typeface="Calibri" panose="020F0502020204030204" pitchFamily="34" charset="0"/>
                <a:ea typeface="Calibri" panose="020F0502020204030204" pitchFamily="34" charset="0"/>
                <a:cs typeface="Arial" panose="020B0604020202020204" pitchFamily="34" charset="0"/>
              </a:rPr>
              <a:t>Troubles de la marche :</a:t>
            </a:r>
            <a:endParaRPr lang="fr-FR" sz="18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07000"/>
              </a:lnSpc>
              <a:spcBef>
                <a:spcPts val="0"/>
              </a:spcBef>
              <a:spcAft>
                <a:spcPts val="800"/>
              </a:spcAft>
              <a:buSzPts val="1000"/>
              <a:buFont typeface="Courier New" panose="02070309020205020404" pitchFamily="49" charset="0"/>
              <a:buChar char="o"/>
              <a:tabLst>
                <a:tab pos="914400" algn="l"/>
              </a:tabLst>
            </a:pPr>
            <a:r>
              <a:rPr lang="fr-FR" dirty="0">
                <a:effectLst/>
                <a:latin typeface="Calibri" panose="020F0502020204030204" pitchFamily="34" charset="0"/>
                <a:ea typeface="Calibri" panose="020F0502020204030204" pitchFamily="34" charset="0"/>
                <a:cs typeface="Times New Roman" panose="02020603050405020304" pitchFamily="18" charset="0"/>
              </a:rPr>
              <a:t>La démarche est ébrieuse, marquée par des pulsions latérales, ou embardées.</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800"/>
              </a:spcAft>
              <a:buSzPts val="1000"/>
              <a:buFont typeface="Courier New" panose="02070309020205020404" pitchFamily="49" charset="0"/>
              <a:buChar char="o"/>
              <a:tabLst>
                <a:tab pos="914400" algn="l"/>
              </a:tabLst>
            </a:pPr>
            <a:r>
              <a:rPr lang="fr-FR" dirty="0">
                <a:effectLst/>
                <a:latin typeface="Calibri" panose="020F0502020204030204" pitchFamily="34" charset="0"/>
                <a:ea typeface="Calibri" panose="020F0502020204030204" pitchFamily="34" charset="0"/>
                <a:cs typeface="Times New Roman" panose="02020603050405020304" pitchFamily="18" charset="0"/>
              </a:rPr>
              <a:t>La marche aveugle (trois pas en avant et trois pas en arrière les yeux fermés) peut se faire « en étoile »</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800"/>
              </a:spcAft>
              <a:buSzPts val="1000"/>
              <a:buFont typeface="Courier New" panose="02070309020205020404" pitchFamily="49" charset="0"/>
              <a:buChar char="o"/>
              <a:tabLst>
                <a:tab pos="914400" algn="l"/>
              </a:tabLst>
            </a:pPr>
            <a:r>
              <a:rPr lang="fr-FR" dirty="0">
                <a:effectLst/>
                <a:latin typeface="Calibri" panose="020F0502020204030204" pitchFamily="34" charset="0"/>
                <a:ea typeface="Calibri" panose="020F0502020204030204" pitchFamily="34" charset="0"/>
                <a:cs typeface="Times New Roman" panose="02020603050405020304" pitchFamily="18" charset="0"/>
              </a:rPr>
              <a:t>Dans les syndromes vestibulaires intenses, la marche est bien évidemment impossible, comme la station debout.</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Titre 1">
            <a:extLst>
              <a:ext uri="{FF2B5EF4-FFF2-40B4-BE49-F238E27FC236}">
                <a16:creationId xmlns:a16="http://schemas.microsoft.com/office/drawing/2014/main" id="{AF405A88-B900-4DCB-98FA-C0673A1DFA68}"/>
              </a:ext>
            </a:extLst>
          </p:cNvPr>
          <p:cNvSpPr>
            <a:spLocks noGrp="1"/>
          </p:cNvSpPr>
          <p:nvPr>
            <p:ph type="title"/>
          </p:nvPr>
        </p:nvSpPr>
        <p:spPr>
          <a:xfrm>
            <a:off x="838200" y="365125"/>
            <a:ext cx="10515600" cy="1325563"/>
          </a:xfrm>
          <a:solidFill>
            <a:schemeClr val="accent4">
              <a:lumMod val="20000"/>
              <a:lumOff val="80000"/>
            </a:schemeClr>
          </a:solidFill>
        </p:spPr>
        <p:txBody>
          <a:bodyPr/>
          <a:lstStyle/>
          <a:p>
            <a:r>
              <a:rPr lang="fr-FR" sz="2800" b="1" u="sng" dirty="0">
                <a:effectLst/>
                <a:latin typeface="Calibri" panose="020F0502020204030204" pitchFamily="34" charset="0"/>
                <a:ea typeface="Calibri" panose="020F0502020204030204" pitchFamily="34" charset="0"/>
                <a:cs typeface="Arial" panose="020B0604020202020204" pitchFamily="34" charset="0"/>
              </a:rPr>
              <a:t>Le syndrome vestibulaire :</a:t>
            </a:r>
            <a:endParaRPr lang="fr-FR" dirty="0"/>
          </a:p>
        </p:txBody>
      </p:sp>
    </p:spTree>
    <p:extLst>
      <p:ext uri="{BB962C8B-B14F-4D97-AF65-F5344CB8AC3E}">
        <p14:creationId xmlns:p14="http://schemas.microsoft.com/office/powerpoint/2010/main" val="1987632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00DC172-5F36-477E-B3D5-9401877C9F01}"/>
              </a:ext>
            </a:extLst>
          </p:cNvPr>
          <p:cNvSpPr>
            <a:spLocks noGrp="1"/>
          </p:cNvSpPr>
          <p:nvPr>
            <p:ph idx="1"/>
          </p:nvPr>
        </p:nvSpPr>
        <p:spPr>
          <a:xfrm>
            <a:off x="838200" y="1825625"/>
            <a:ext cx="10515600" cy="4903788"/>
          </a:xfrm>
        </p:spPr>
        <p:txBody>
          <a:bodyPr>
            <a:normAutofit lnSpcReduction="10000"/>
          </a:bodyPr>
          <a:lstStyle/>
          <a:p>
            <a:pPr marL="0" marR="0" indent="0" algn="just">
              <a:lnSpc>
                <a:spcPct val="107000"/>
              </a:lnSpc>
              <a:spcBef>
                <a:spcPts val="0"/>
              </a:spcBef>
              <a:spcAft>
                <a:spcPts val="80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1. Epreuves vestibulaires</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R="0" algn="just">
              <a:lnSpc>
                <a:spcPct val="107000"/>
              </a:lnSpc>
              <a:spcBef>
                <a:spcPts val="0"/>
              </a:spcBef>
              <a:spcAft>
                <a:spcPts val="800"/>
              </a:spcAft>
              <a:buFont typeface="Wingdings" panose="05000000000000000000" pitchFamily="2" charset="2"/>
              <a:buChar char="q"/>
            </a:pP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2400" dirty="0">
                <a:effectLst/>
                <a:latin typeface="Calibri" panose="020F0502020204030204" pitchFamily="34" charset="0"/>
                <a:ea typeface="Calibri" panose="020F0502020204030204" pitchFamily="34" charset="0"/>
                <a:cs typeface="Arial" panose="020B0604020202020204" pitchFamily="34" charset="0"/>
              </a:rPr>
              <a:t>L'épreuve la plus courante est une stimulation calorique qui vise à exciter les canaux semi circulaires et à analyser le nystagmus oculaire et les déviations des membres ainsi provoquées.  </a:t>
            </a:r>
          </a:p>
          <a:p>
            <a:pPr marR="0" algn="just">
              <a:lnSpc>
                <a:spcPct val="107000"/>
              </a:lnSpc>
              <a:spcBef>
                <a:spcPts val="0"/>
              </a:spcBef>
              <a:spcAft>
                <a:spcPts val="800"/>
              </a:spcAft>
              <a:buFont typeface="Wingdings" panose="05000000000000000000" pitchFamily="2" charset="2"/>
              <a:buChar char="q"/>
            </a:pPr>
            <a:r>
              <a:rPr lang="fr-FR" sz="2400" dirty="0">
                <a:latin typeface="Calibri" panose="020F0502020204030204" pitchFamily="34" charset="0"/>
                <a:ea typeface="Calibri" panose="020F0502020204030204" pitchFamily="34" charset="0"/>
                <a:cs typeface="Arial" panose="020B0604020202020204" pitchFamily="34" charset="0"/>
              </a:rPr>
              <a:t>  </a:t>
            </a:r>
            <a:r>
              <a:rPr lang="fr-FR" sz="2400" dirty="0">
                <a:effectLst/>
                <a:latin typeface="Calibri" panose="020F0502020204030204" pitchFamily="34" charset="0"/>
                <a:ea typeface="Calibri" panose="020F0502020204030204" pitchFamily="34" charset="0"/>
                <a:cs typeface="Arial" panose="020B0604020202020204" pitchFamily="34" charset="0"/>
              </a:rPr>
              <a:t> L'électro-nystagmographie : enregistrement des différents types de nystagmus, spontanés ou provoqués.</a:t>
            </a:r>
          </a:p>
          <a:p>
            <a:pPr marL="0" marR="0" algn="just">
              <a:lnSpc>
                <a:spcPct val="107000"/>
              </a:lnSpc>
              <a:spcBef>
                <a:spcPts val="0"/>
              </a:spcBef>
              <a:spcAft>
                <a:spcPts val="800"/>
              </a:spcAft>
            </a:pPr>
            <a:endParaRPr lang="fr-FR" sz="1800" dirty="0">
              <a:latin typeface="Calibri" panose="020F0502020204030204" pitchFamily="34" charset="0"/>
              <a:ea typeface="Calibri" panose="020F0502020204030204" pitchFamily="34" charset="0"/>
              <a:cs typeface="Arial" panose="020B0604020202020204" pitchFamily="34" charset="0"/>
            </a:endParaRPr>
          </a:p>
          <a:p>
            <a:pPr marL="0" marR="0" indent="0" algn="just">
              <a:lnSpc>
                <a:spcPct val="107000"/>
              </a:lnSpc>
              <a:spcBef>
                <a:spcPts val="0"/>
              </a:spcBef>
              <a:spcAft>
                <a:spcPts val="800"/>
              </a:spcAft>
              <a:buNone/>
            </a:pPr>
            <a:endParaRPr lang="fr-FR" sz="1800" dirty="0">
              <a:effectLst/>
              <a:latin typeface="Calibri" panose="020F0502020204030204" pitchFamily="34" charset="0"/>
              <a:ea typeface="Calibri" panose="020F0502020204030204" pitchFamily="34" charset="0"/>
              <a:cs typeface="Arial" panose="020B0604020202020204" pitchFamily="34" charset="0"/>
            </a:endParaRPr>
          </a:p>
          <a:p>
            <a:pPr marL="0" marR="0" indent="0" algn="just">
              <a:lnSpc>
                <a:spcPct val="107000"/>
              </a:lnSpc>
              <a:spcBef>
                <a:spcPts val="0"/>
              </a:spcBef>
              <a:spcAft>
                <a:spcPts val="80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2. D'autres examens complémentaires </a:t>
            </a:r>
            <a:r>
              <a:rPr lang="fr-FR" sz="2400" dirty="0">
                <a:effectLst/>
                <a:latin typeface="Calibri" panose="020F0502020204030204" pitchFamily="34" charset="0"/>
                <a:ea typeface="Calibri" panose="020F0502020204030204" pitchFamily="34" charset="0"/>
                <a:cs typeface="Arial" panose="020B0604020202020204" pitchFamily="34" charset="0"/>
              </a:rPr>
              <a:t>peuvent être réalisés, selon les cas :</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Audiogramme et potentiels évoqués auditifs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Imagerie des conduits auditifs internes et du tronc cérébral</a:t>
            </a:r>
          </a:p>
          <a:p>
            <a:endParaRPr lang="fr-FR" dirty="0"/>
          </a:p>
        </p:txBody>
      </p:sp>
      <p:sp>
        <p:nvSpPr>
          <p:cNvPr id="4" name="Titre 1">
            <a:extLst>
              <a:ext uri="{FF2B5EF4-FFF2-40B4-BE49-F238E27FC236}">
                <a16:creationId xmlns:a16="http://schemas.microsoft.com/office/drawing/2014/main" id="{AF405A88-B900-4DCB-98FA-C0673A1DFA68}"/>
              </a:ext>
            </a:extLst>
          </p:cNvPr>
          <p:cNvSpPr>
            <a:spLocks noGrp="1"/>
          </p:cNvSpPr>
          <p:nvPr>
            <p:ph type="title"/>
          </p:nvPr>
        </p:nvSpPr>
        <p:spPr>
          <a:xfrm>
            <a:off x="838200" y="365125"/>
            <a:ext cx="10515600" cy="1325563"/>
          </a:xfrm>
          <a:solidFill>
            <a:schemeClr val="accent5">
              <a:lumMod val="20000"/>
              <a:lumOff val="80000"/>
            </a:schemeClr>
          </a:solidFill>
        </p:spPr>
        <p:txBody>
          <a:bodyPr>
            <a:normAutofit/>
          </a:bodyPr>
          <a:lstStyle/>
          <a:p>
            <a:r>
              <a:rPr lang="fr-FR" sz="3200" b="1" u="sng" dirty="0">
                <a:effectLst/>
                <a:latin typeface="Calibri" panose="020F0502020204030204" pitchFamily="34" charset="0"/>
                <a:ea typeface="Calibri" panose="020F0502020204030204" pitchFamily="34" charset="0"/>
                <a:cs typeface="Arial" panose="020B0604020202020204" pitchFamily="34" charset="0"/>
              </a:rPr>
              <a:t>Examens complémentaires :</a:t>
            </a:r>
            <a:endParaRPr lang="fr-FR" sz="6600" dirty="0"/>
          </a:p>
        </p:txBody>
      </p:sp>
    </p:spTree>
    <p:extLst>
      <p:ext uri="{BB962C8B-B14F-4D97-AF65-F5344CB8AC3E}">
        <p14:creationId xmlns:p14="http://schemas.microsoft.com/office/powerpoint/2010/main" val="1043422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026B45-9C77-4576-8A1B-F92746F7899F}"/>
              </a:ext>
            </a:extLst>
          </p:cNvPr>
          <p:cNvSpPr>
            <a:spLocks noGrp="1"/>
          </p:cNvSpPr>
          <p:nvPr>
            <p:ph type="title"/>
          </p:nvPr>
        </p:nvSpPr>
        <p:spPr>
          <a:solidFill>
            <a:schemeClr val="accent6">
              <a:lumMod val="20000"/>
              <a:lumOff val="80000"/>
            </a:schemeClr>
          </a:solidFill>
        </p:spPr>
        <p:txBody>
          <a:bodyPr>
            <a:normAutofit/>
          </a:bodyPr>
          <a:lstStyle/>
          <a:p>
            <a:r>
              <a:rPr lang="fr-FR" sz="4000" b="1" u="sng" dirty="0">
                <a:effectLst/>
                <a:latin typeface="Calibri" panose="020F0502020204030204" pitchFamily="34" charset="0"/>
                <a:ea typeface="Calibri" panose="020F0502020204030204" pitchFamily="34" charset="0"/>
                <a:cs typeface="Arial" panose="020B0604020202020204" pitchFamily="34" charset="0"/>
              </a:rPr>
              <a:t>Diagnostic différentiel :</a:t>
            </a:r>
            <a:endParaRPr lang="fr-FR" sz="8000" dirty="0"/>
          </a:p>
        </p:txBody>
      </p:sp>
      <p:sp>
        <p:nvSpPr>
          <p:cNvPr id="3" name="Espace réservé du contenu 2">
            <a:extLst>
              <a:ext uri="{FF2B5EF4-FFF2-40B4-BE49-F238E27FC236}">
                <a16:creationId xmlns:a16="http://schemas.microsoft.com/office/drawing/2014/main" id="{F8DF5E64-4CFA-4200-B096-EAAE468054AA}"/>
              </a:ext>
            </a:extLst>
          </p:cNvPr>
          <p:cNvSpPr>
            <a:spLocks noGrp="1"/>
          </p:cNvSpPr>
          <p:nvPr>
            <p:ph idx="1"/>
          </p:nvPr>
        </p:nvSpPr>
        <p:spPr/>
        <p:txBody>
          <a:bodyPr>
            <a:normAutofit fontScale="85000" lnSpcReduction="20000"/>
          </a:bodyPr>
          <a:lstStyle/>
          <a:p>
            <a:pPr marL="0" marR="0" indent="0" algn="just">
              <a:lnSpc>
                <a:spcPct val="107000"/>
              </a:lnSpc>
              <a:spcBef>
                <a:spcPts val="0"/>
              </a:spcBef>
              <a:spcAft>
                <a:spcPts val="800"/>
              </a:spcAft>
              <a:buNone/>
            </a:pPr>
            <a:r>
              <a:rPr lang="fr-FR" sz="2600" b="1" dirty="0">
                <a:effectLst/>
                <a:latin typeface="Calibri" panose="020F0502020204030204" pitchFamily="34" charset="0"/>
                <a:ea typeface="Calibri" panose="020F0502020204030204" pitchFamily="34" charset="0"/>
                <a:cs typeface="Arial" panose="020B0604020202020204" pitchFamily="34" charset="0"/>
              </a:rPr>
              <a:t>1. Les « faux vertiges »</a:t>
            </a:r>
            <a:endParaRPr lang="fr-FR" sz="26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07000"/>
              </a:lnSpc>
              <a:spcBef>
                <a:spcPts val="0"/>
              </a:spcBef>
              <a:spcAft>
                <a:spcPts val="800"/>
              </a:spcAft>
            </a:pPr>
            <a:r>
              <a:rPr lang="fr-FR" sz="2600" dirty="0">
                <a:effectLst/>
                <a:latin typeface="Calibri" panose="020F0502020204030204" pitchFamily="34" charset="0"/>
                <a:ea typeface="Calibri" panose="020F0502020204030204" pitchFamily="34" charset="0"/>
                <a:cs typeface="Arial" panose="020B0604020202020204" pitchFamily="34" charset="0"/>
              </a:rPr>
              <a:t>La moitié environ des malades consultant pour « vertiges » n'ont pas de lésion vestibulaire. </a:t>
            </a:r>
          </a:p>
          <a:p>
            <a:pPr marL="0" marR="0" algn="just">
              <a:lnSpc>
                <a:spcPct val="107000"/>
              </a:lnSpc>
              <a:spcBef>
                <a:spcPts val="0"/>
              </a:spcBef>
              <a:spcAft>
                <a:spcPts val="800"/>
              </a:spcAft>
            </a:pPr>
            <a:r>
              <a:rPr lang="fr-FR" sz="2600" dirty="0">
                <a:effectLst/>
                <a:latin typeface="Calibri" panose="020F0502020204030204" pitchFamily="34" charset="0"/>
                <a:ea typeface="Calibri" panose="020F0502020204030204" pitchFamily="34" charset="0"/>
                <a:cs typeface="Arial" panose="020B0604020202020204" pitchFamily="34" charset="0"/>
              </a:rPr>
              <a:t>De nombreuses manifestations d'ordre anxieux et névrotique, sont dénommées « vertiges » : peur de tomber, peur du vide, impression de « tête vide » … Elles sont parfois liées à la présence de la foule ou ressenties dans des espaces étendus : agoraphobie. </a:t>
            </a:r>
          </a:p>
          <a:p>
            <a:pPr marL="0" marR="0" algn="just">
              <a:lnSpc>
                <a:spcPct val="107000"/>
              </a:lnSpc>
              <a:spcBef>
                <a:spcPts val="0"/>
              </a:spcBef>
              <a:spcAft>
                <a:spcPts val="800"/>
              </a:spcAft>
            </a:pPr>
            <a:r>
              <a:rPr lang="fr-FR" sz="2600" dirty="0">
                <a:effectLst/>
                <a:latin typeface="Calibri" panose="020F0502020204030204" pitchFamily="34" charset="0"/>
                <a:ea typeface="Calibri" panose="020F0502020204030204" pitchFamily="34" charset="0"/>
                <a:cs typeface="Arial" panose="020B0604020202020204" pitchFamily="34" charset="0"/>
              </a:rPr>
              <a:t>Les pertes de connaissance incomplètes (lipothymies), certains troubles visuels ou encore des troubles de l'équilibre, non vestibulaires (cérébelleux par exemple) sont souvent qualifiés de « vertiges ».</a:t>
            </a:r>
          </a:p>
          <a:p>
            <a:pPr marL="0" marR="0" algn="just">
              <a:lnSpc>
                <a:spcPct val="107000"/>
              </a:lnSpc>
              <a:spcBef>
                <a:spcPts val="0"/>
              </a:spcBef>
              <a:spcAft>
                <a:spcPts val="800"/>
              </a:spcAft>
            </a:pPr>
            <a:r>
              <a:rPr lang="fr-FR" sz="2600" dirty="0">
                <a:effectLst/>
                <a:latin typeface="Calibri" panose="020F0502020204030204" pitchFamily="34" charset="0"/>
                <a:ea typeface="Calibri" panose="020F0502020204030204" pitchFamily="34" charset="0"/>
                <a:cs typeface="Arial" panose="020B0604020202020204" pitchFamily="34" charset="0"/>
              </a:rPr>
              <a:t> Dans toutes ces situations, manque la notion essentielle de déplacement, ou à défaut la notion de déclenchement par les mouvements de la tête. </a:t>
            </a:r>
          </a:p>
          <a:p>
            <a:pPr marL="0" marR="0" algn="just">
              <a:lnSpc>
                <a:spcPct val="107000"/>
              </a:lnSpc>
              <a:spcBef>
                <a:spcPts val="0"/>
              </a:spcBef>
              <a:spcAft>
                <a:spcPts val="800"/>
              </a:spcAft>
            </a:pPr>
            <a:r>
              <a:rPr lang="fr-FR" sz="2600" dirty="0">
                <a:effectLst/>
                <a:latin typeface="Calibri" panose="020F0502020204030204" pitchFamily="34" charset="0"/>
                <a:ea typeface="Calibri" panose="020F0502020204030204" pitchFamily="34" charset="0"/>
                <a:cs typeface="Arial" panose="020B0604020202020204" pitchFamily="34" charset="0"/>
              </a:rPr>
              <a:t>Manquent également les signes vestibulaires, en particulier le nystagmus.</a:t>
            </a:r>
          </a:p>
          <a:p>
            <a:endParaRPr lang="fr-FR" dirty="0"/>
          </a:p>
        </p:txBody>
      </p:sp>
    </p:spTree>
    <p:extLst>
      <p:ext uri="{BB962C8B-B14F-4D97-AF65-F5344CB8AC3E}">
        <p14:creationId xmlns:p14="http://schemas.microsoft.com/office/powerpoint/2010/main" val="4041099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F1AFE95-759D-41DF-BE3D-38309D0C4819}"/>
              </a:ext>
            </a:extLst>
          </p:cNvPr>
          <p:cNvSpPr>
            <a:spLocks noGrp="1"/>
          </p:cNvSpPr>
          <p:nvPr>
            <p:ph idx="1"/>
          </p:nvPr>
        </p:nvSpPr>
        <p:spPr>
          <a:xfrm>
            <a:off x="838200" y="1825624"/>
            <a:ext cx="10515600" cy="4918075"/>
          </a:xfrm>
        </p:spPr>
        <p:txBody>
          <a:bodyPr>
            <a:normAutofit fontScale="92500"/>
          </a:bodyPr>
          <a:lstStyle/>
          <a:p>
            <a:pPr marL="0" marR="0" indent="0" algn="just">
              <a:lnSpc>
                <a:spcPct val="107000"/>
              </a:lnSpc>
              <a:spcBef>
                <a:spcPts val="0"/>
              </a:spcBef>
              <a:spcAft>
                <a:spcPts val="80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2. Les ataxies non vestibulaires</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400" b="1" dirty="0">
                <a:effectLst/>
                <a:latin typeface="Calibri" panose="020F0502020204030204" pitchFamily="34" charset="0"/>
                <a:ea typeface="Calibri" panose="020F0502020204030204" pitchFamily="34" charset="0"/>
                <a:cs typeface="Arial" panose="020B0604020202020204" pitchFamily="34" charset="0"/>
              </a:rPr>
              <a:t>Ataxie cérébelleuse: </a:t>
            </a:r>
            <a:r>
              <a:rPr lang="fr-FR" sz="2400" dirty="0">
                <a:effectLst/>
                <a:latin typeface="Calibri" panose="020F0502020204030204" pitchFamily="34" charset="0"/>
                <a:ea typeface="Calibri" panose="020F0502020204030204" pitchFamily="34" charset="0"/>
                <a:cs typeface="Arial" panose="020B0604020202020204" pitchFamily="34" charset="0"/>
              </a:rPr>
              <a:t>Un nystagmus s'observe parfois au cours du syndrome cérébelleux, mais il n'y a pas au cours du syndrome vestibulaire d'élargissement du polygone de sustentation, ni d'hypermétrie.</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400" b="1" dirty="0">
                <a:effectLst/>
                <a:latin typeface="Calibri" panose="020F0502020204030204" pitchFamily="34" charset="0"/>
                <a:ea typeface="Calibri" panose="020F0502020204030204" pitchFamily="34" charset="0"/>
                <a:cs typeface="Arial" panose="020B0604020202020204" pitchFamily="34" charset="0"/>
              </a:rPr>
              <a:t>L'ataxie proprioceptive:  </a:t>
            </a:r>
            <a:r>
              <a:rPr lang="fr-FR" sz="2400" dirty="0">
                <a:effectLst/>
                <a:latin typeface="Calibri" panose="020F0502020204030204" pitchFamily="34" charset="0"/>
                <a:ea typeface="Calibri" panose="020F0502020204030204" pitchFamily="34" charset="0"/>
                <a:cs typeface="Arial" panose="020B0604020202020204" pitchFamily="34" charset="0"/>
              </a:rPr>
              <a:t>est en fait bien différente. Il n'y a ni vertige, ni nystagmus. Le signe de Romberg proprioceptif comporte des oscillations en tous sens de l'axe du corps lors de l'occlusion des yeux, alors que le signe de Romberg labyrinthique comporte une inclinaison latérale lente et progressive après l'occlusion des yeux. En outre, l'ataxie proprioceptive s'accompagne généralement de troubles sensitifs profonds objectifs.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400" b="1" dirty="0">
                <a:effectLst/>
                <a:latin typeface="Calibri" panose="020F0502020204030204" pitchFamily="34" charset="0"/>
                <a:ea typeface="Calibri" panose="020F0502020204030204" pitchFamily="34" charset="0"/>
                <a:cs typeface="Arial" panose="020B0604020202020204" pitchFamily="34" charset="0"/>
              </a:rPr>
              <a:t>L'ataxie frontale:  </a:t>
            </a:r>
            <a:r>
              <a:rPr lang="fr-FR" sz="2400" dirty="0">
                <a:effectLst/>
                <a:latin typeface="Calibri" panose="020F0502020204030204" pitchFamily="34" charset="0"/>
                <a:ea typeface="Calibri" panose="020F0502020204030204" pitchFamily="34" charset="0"/>
                <a:cs typeface="Arial" panose="020B0604020202020204" pitchFamily="34" charset="0"/>
              </a:rPr>
              <a:t>se manifeste surtout par des rétropulsions.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400" dirty="0">
                <a:effectLst/>
                <a:latin typeface="Calibri" panose="020F0502020204030204" pitchFamily="34" charset="0"/>
                <a:ea typeface="Calibri" panose="020F0502020204030204" pitchFamily="34" charset="0"/>
                <a:cs typeface="Arial" panose="020B0604020202020204" pitchFamily="34" charset="0"/>
              </a:rPr>
              <a:t>Les ataxies hystériques, spectaculaires, s'inscrivent dans un contexte psychologique souvent évident.</a:t>
            </a:r>
          </a:p>
          <a:p>
            <a:pPr marL="0" indent="0">
              <a:buNone/>
            </a:pPr>
            <a:endParaRPr lang="fr-FR" dirty="0"/>
          </a:p>
        </p:txBody>
      </p:sp>
      <p:sp>
        <p:nvSpPr>
          <p:cNvPr id="4" name="Titre 1">
            <a:extLst>
              <a:ext uri="{FF2B5EF4-FFF2-40B4-BE49-F238E27FC236}">
                <a16:creationId xmlns:a16="http://schemas.microsoft.com/office/drawing/2014/main" id="{9B21C1F7-04AB-42A6-988D-938437FA9C88}"/>
              </a:ext>
            </a:extLst>
          </p:cNvPr>
          <p:cNvSpPr>
            <a:spLocks noGrp="1"/>
          </p:cNvSpPr>
          <p:nvPr>
            <p:ph type="title"/>
          </p:nvPr>
        </p:nvSpPr>
        <p:spPr>
          <a:xfrm>
            <a:off x="838200" y="365125"/>
            <a:ext cx="10515600" cy="1325563"/>
          </a:xfrm>
          <a:solidFill>
            <a:schemeClr val="accent6">
              <a:lumMod val="20000"/>
              <a:lumOff val="80000"/>
            </a:schemeClr>
          </a:solidFill>
        </p:spPr>
        <p:txBody>
          <a:bodyPr>
            <a:normAutofit/>
          </a:bodyPr>
          <a:lstStyle/>
          <a:p>
            <a:r>
              <a:rPr lang="fr-FR" sz="4000" b="1" u="sng" dirty="0">
                <a:effectLst/>
                <a:latin typeface="Calibri" panose="020F0502020204030204" pitchFamily="34" charset="0"/>
                <a:ea typeface="Calibri" panose="020F0502020204030204" pitchFamily="34" charset="0"/>
                <a:cs typeface="Arial" panose="020B0604020202020204" pitchFamily="34" charset="0"/>
              </a:rPr>
              <a:t>Diagnostic différentiel :</a:t>
            </a:r>
            <a:endParaRPr lang="fr-FR" sz="8000" dirty="0"/>
          </a:p>
        </p:txBody>
      </p:sp>
    </p:spTree>
    <p:extLst>
      <p:ext uri="{BB962C8B-B14F-4D97-AF65-F5344CB8AC3E}">
        <p14:creationId xmlns:p14="http://schemas.microsoft.com/office/powerpoint/2010/main" val="34153340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796FB8-62F6-4AF3-86C7-9FA9446D50C7}"/>
              </a:ext>
            </a:extLst>
          </p:cNvPr>
          <p:cNvSpPr>
            <a:spLocks noGrp="1"/>
          </p:cNvSpPr>
          <p:nvPr>
            <p:ph type="title"/>
          </p:nvPr>
        </p:nvSpPr>
        <p:spPr>
          <a:solidFill>
            <a:schemeClr val="accent4">
              <a:lumMod val="20000"/>
              <a:lumOff val="80000"/>
            </a:schemeClr>
          </a:solidFill>
        </p:spPr>
        <p:txBody>
          <a:bodyPr>
            <a:normAutofit/>
          </a:bodyPr>
          <a:lstStyle/>
          <a:p>
            <a:r>
              <a:rPr lang="fr-FR" sz="3600" b="1" u="sng" dirty="0">
                <a:effectLst/>
                <a:latin typeface="Calibri" panose="020F0502020204030204" pitchFamily="34" charset="0"/>
                <a:ea typeface="Calibri" panose="020F0502020204030204" pitchFamily="34" charset="0"/>
                <a:cs typeface="Arial" panose="020B0604020202020204" pitchFamily="34" charset="0"/>
              </a:rPr>
              <a:t>Formes topographiques :</a:t>
            </a:r>
            <a:endParaRPr lang="fr-FR" sz="7200" dirty="0"/>
          </a:p>
        </p:txBody>
      </p:sp>
      <p:sp>
        <p:nvSpPr>
          <p:cNvPr id="3" name="Espace réservé du contenu 2">
            <a:extLst>
              <a:ext uri="{FF2B5EF4-FFF2-40B4-BE49-F238E27FC236}">
                <a16:creationId xmlns:a16="http://schemas.microsoft.com/office/drawing/2014/main" id="{E42AB45B-CB87-4C69-B979-C82B0206A9F2}"/>
              </a:ext>
            </a:extLst>
          </p:cNvPr>
          <p:cNvSpPr>
            <a:spLocks noGrp="1"/>
          </p:cNvSpPr>
          <p:nvPr>
            <p:ph idx="1"/>
          </p:nvPr>
        </p:nvSpPr>
        <p:spPr/>
        <p:txBody>
          <a:bodyPr/>
          <a:lstStyle/>
          <a:p>
            <a:pPr marL="0" marR="0" indent="0" algn="just">
              <a:lnSpc>
                <a:spcPct val="107000"/>
              </a:lnSpc>
              <a:spcBef>
                <a:spcPts val="0"/>
              </a:spcBef>
              <a:spcAft>
                <a:spcPts val="80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1. Syndrome vestibulaire périphérique:</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dirty="0">
                <a:effectLst/>
                <a:latin typeface="Calibri" panose="020F0502020204030204" pitchFamily="34" charset="0"/>
                <a:ea typeface="Calibri" panose="020F0502020204030204" pitchFamily="34" charset="0"/>
                <a:cs typeface="Arial" panose="020B0604020202020204" pitchFamily="34" charset="0"/>
              </a:rPr>
              <a:t>Grande crise rotatoire, clouant le malade au lit, avec vomissements et anxiété</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dirty="0">
                <a:effectLst/>
                <a:latin typeface="Calibri" panose="020F0502020204030204" pitchFamily="34" charset="0"/>
                <a:ea typeface="Calibri" panose="020F0502020204030204" pitchFamily="34" charset="0"/>
                <a:cs typeface="Arial" panose="020B0604020202020204" pitchFamily="34" charset="0"/>
              </a:rPr>
              <a:t>Séméiologie cochléaire souvent présente : acouphènes (bourdonnements d'oreilles), hypoacousie.</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dirty="0">
                <a:effectLst/>
                <a:latin typeface="Calibri" panose="020F0502020204030204" pitchFamily="34" charset="0"/>
                <a:ea typeface="Calibri" panose="020F0502020204030204" pitchFamily="34" charset="0"/>
                <a:cs typeface="Arial" panose="020B0604020202020204" pitchFamily="34" charset="0"/>
              </a:rPr>
              <a:t>Le signe de Romberg labyrinthique, la déviation des index, les latéropulsions à la marche, se font du côté lésé, du même côté que la secousse lente du nystagmus. C'est pourquoi le syndrome vestibulaire est dit « harmonieux ».</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dirty="0">
                <a:effectLst/>
                <a:latin typeface="Calibri" panose="020F0502020204030204" pitchFamily="34" charset="0"/>
                <a:ea typeface="Calibri" panose="020F0502020204030204" pitchFamily="34" charset="0"/>
                <a:cs typeface="Arial" panose="020B0604020202020204" pitchFamily="34" charset="0"/>
              </a:rPr>
              <a:t>Les épreuves vestibulaires montrent, en règle générale, et schématiquement, une hypo voire une inexcitabilité.</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dirty="0">
                <a:effectLst/>
                <a:latin typeface="Calibri" panose="020F0502020204030204" pitchFamily="34" charset="0"/>
                <a:ea typeface="Calibri" panose="020F0502020204030204" pitchFamily="34" charset="0"/>
                <a:cs typeface="Arial" panose="020B0604020202020204" pitchFamily="34" charset="0"/>
              </a:rPr>
              <a:t>L'audiogramme où les potentiels évoqués auditifs peuvent être perturbés.</a:t>
            </a:r>
          </a:p>
          <a:p>
            <a:pPr marL="0" indent="0">
              <a:buNone/>
            </a:pPr>
            <a:endParaRPr lang="fr-FR" dirty="0"/>
          </a:p>
        </p:txBody>
      </p:sp>
    </p:spTree>
    <p:extLst>
      <p:ext uri="{BB962C8B-B14F-4D97-AF65-F5344CB8AC3E}">
        <p14:creationId xmlns:p14="http://schemas.microsoft.com/office/powerpoint/2010/main" val="9800788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5C6A9F2-9A55-4759-89EF-A4D4A3899901}"/>
              </a:ext>
            </a:extLst>
          </p:cNvPr>
          <p:cNvSpPr>
            <a:spLocks noGrp="1"/>
          </p:cNvSpPr>
          <p:nvPr>
            <p:ph idx="1"/>
          </p:nvPr>
        </p:nvSpPr>
        <p:spPr/>
        <p:txBody>
          <a:bodyPr/>
          <a:lstStyle/>
          <a:p>
            <a:pPr marL="0" marR="0" indent="0" algn="just">
              <a:lnSpc>
                <a:spcPct val="107000"/>
              </a:lnSpc>
              <a:spcBef>
                <a:spcPts val="0"/>
              </a:spcBef>
              <a:spcAft>
                <a:spcPts val="800"/>
              </a:spcAft>
              <a:buNone/>
            </a:pPr>
            <a:r>
              <a:rPr lang="fr-FR" sz="2400" b="1" dirty="0">
                <a:effectLst/>
                <a:latin typeface="Calibri" panose="020F0502020204030204" pitchFamily="34" charset="0"/>
                <a:ea typeface="Calibri" panose="020F0502020204030204" pitchFamily="34" charset="0"/>
                <a:cs typeface="Arial" panose="020B0604020202020204" pitchFamily="34" charset="0"/>
              </a:rPr>
              <a:t>2. Syndrome vestibulaire central:</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dirty="0">
                <a:effectLst/>
                <a:latin typeface="Calibri" panose="020F0502020204030204" pitchFamily="34" charset="0"/>
                <a:ea typeface="Calibri" panose="020F0502020204030204" pitchFamily="34" charset="0"/>
                <a:cs typeface="Arial" panose="020B0604020202020204" pitchFamily="34" charset="0"/>
              </a:rPr>
              <a:t>Les troubles de l'équilibre sont au premier plan par rapport aux vertiges, modérés ou absents.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dirty="0">
                <a:effectLst/>
                <a:latin typeface="Calibri" panose="020F0502020204030204" pitchFamily="34" charset="0"/>
                <a:ea typeface="Calibri" panose="020F0502020204030204" pitchFamily="34" charset="0"/>
                <a:cs typeface="Arial" panose="020B0604020202020204" pitchFamily="34" charset="0"/>
              </a:rPr>
              <a:t> Il y a cependant des exceptions, et certains syndromes vestibulaires centraux comportent un grand vertige.</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dirty="0">
                <a:effectLst/>
                <a:latin typeface="Calibri" panose="020F0502020204030204" pitchFamily="34" charset="0"/>
                <a:ea typeface="Calibri" panose="020F0502020204030204" pitchFamily="34" charset="0"/>
                <a:cs typeface="Arial" panose="020B0604020202020204" pitchFamily="34" charset="0"/>
              </a:rPr>
              <a:t>En contraste avec la discrétion du vertige, le nystagmus est volontiers franc, et parfois localisateur : rotatoire (lésion bulbaire) ou vertical (lésion mésencéphalique). Les autres anomalies d'examen (signe de Romberg, déviation des index) sont absentes ou non systématisées. Le syndrome est dit « </a:t>
            </a:r>
            <a:r>
              <a:rPr lang="fr-FR" sz="2000" dirty="0" err="1">
                <a:effectLst/>
                <a:latin typeface="Calibri" panose="020F0502020204030204" pitchFamily="34" charset="0"/>
                <a:ea typeface="Calibri" panose="020F0502020204030204" pitchFamily="34" charset="0"/>
                <a:cs typeface="Arial" panose="020B0604020202020204" pitchFamily="34" charset="0"/>
              </a:rPr>
              <a:t>dysharmonieux</a:t>
            </a:r>
            <a:r>
              <a:rPr lang="fr-FR" sz="2000" dirty="0">
                <a:effectLst/>
                <a:latin typeface="Calibri" panose="020F0502020204030204" pitchFamily="34" charset="0"/>
                <a:ea typeface="Calibri" panose="020F0502020204030204" pitchFamily="34" charset="0"/>
                <a:cs typeface="Arial" panose="020B0604020202020204" pitchFamily="34" charset="0"/>
              </a:rPr>
              <a:t> ».</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dirty="0">
                <a:effectLst/>
                <a:latin typeface="Calibri" panose="020F0502020204030204" pitchFamily="34" charset="0"/>
                <a:ea typeface="Calibri" panose="020F0502020204030204" pitchFamily="34" charset="0"/>
                <a:cs typeface="Arial" panose="020B0604020202020204" pitchFamily="34" charset="0"/>
              </a:rPr>
              <a:t>Il n'existe habituellement pas de signes cochléaires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fr-FR" sz="2000" dirty="0">
                <a:effectLst/>
                <a:latin typeface="Calibri" panose="020F0502020204030204" pitchFamily="34" charset="0"/>
                <a:ea typeface="Calibri" panose="020F0502020204030204" pitchFamily="34" charset="0"/>
                <a:cs typeface="Arial" panose="020B0604020202020204" pitchFamily="34" charset="0"/>
              </a:rPr>
              <a:t>Il existe fréquemment de signes neurologiques associés d'atteinte du tronc cérébral.</a:t>
            </a:r>
          </a:p>
          <a:p>
            <a:pPr marL="0" indent="0">
              <a:buNone/>
            </a:pPr>
            <a:endParaRPr lang="fr-FR" dirty="0"/>
          </a:p>
        </p:txBody>
      </p:sp>
      <p:sp>
        <p:nvSpPr>
          <p:cNvPr id="4" name="Titre 1">
            <a:extLst>
              <a:ext uri="{FF2B5EF4-FFF2-40B4-BE49-F238E27FC236}">
                <a16:creationId xmlns:a16="http://schemas.microsoft.com/office/drawing/2014/main" id="{8A961C14-D027-42D0-9FB2-96981E66B22C}"/>
              </a:ext>
            </a:extLst>
          </p:cNvPr>
          <p:cNvSpPr>
            <a:spLocks noGrp="1"/>
          </p:cNvSpPr>
          <p:nvPr>
            <p:ph type="title"/>
          </p:nvPr>
        </p:nvSpPr>
        <p:spPr>
          <a:xfrm>
            <a:off x="838200" y="365125"/>
            <a:ext cx="10515600" cy="1325563"/>
          </a:xfrm>
          <a:solidFill>
            <a:schemeClr val="accent4">
              <a:lumMod val="20000"/>
              <a:lumOff val="80000"/>
            </a:schemeClr>
          </a:solidFill>
        </p:spPr>
        <p:txBody>
          <a:bodyPr>
            <a:normAutofit/>
          </a:bodyPr>
          <a:lstStyle/>
          <a:p>
            <a:r>
              <a:rPr lang="fr-FR" sz="3600" b="1" u="sng" dirty="0">
                <a:effectLst/>
                <a:latin typeface="Calibri" panose="020F0502020204030204" pitchFamily="34" charset="0"/>
                <a:ea typeface="Calibri" panose="020F0502020204030204" pitchFamily="34" charset="0"/>
                <a:cs typeface="Arial" panose="020B0604020202020204" pitchFamily="34" charset="0"/>
              </a:rPr>
              <a:t>Formes topographiques :</a:t>
            </a:r>
            <a:endParaRPr lang="fr-FR" sz="7200" dirty="0"/>
          </a:p>
        </p:txBody>
      </p:sp>
    </p:spTree>
    <p:extLst>
      <p:ext uri="{BB962C8B-B14F-4D97-AF65-F5344CB8AC3E}">
        <p14:creationId xmlns:p14="http://schemas.microsoft.com/office/powerpoint/2010/main" val="4092695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J Porto-Novo - Merci pour votre aimable attention | Facebook">
            <a:extLst>
              <a:ext uri="{FF2B5EF4-FFF2-40B4-BE49-F238E27FC236}">
                <a16:creationId xmlns:a16="http://schemas.microsoft.com/office/drawing/2014/main" id="{3BB6C9C9-2FEF-4184-812E-FBD876CAF6D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71650" y="1027906"/>
            <a:ext cx="8986838" cy="4802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46584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1086</TotalTime>
  <Words>2323</Words>
  <Application>Microsoft Office PowerPoint</Application>
  <PresentationFormat>شاشة عريضة</PresentationFormat>
  <Paragraphs>216</Paragraphs>
  <Slides>38</Slides>
  <Notes>0</Notes>
  <HiddenSlides>0</HiddenSlides>
  <MMClips>0</MMClips>
  <ScaleCrop>false</ScaleCrop>
  <HeadingPairs>
    <vt:vector size="4" baseType="variant">
      <vt:variant>
        <vt:lpstr>نسق</vt:lpstr>
      </vt:variant>
      <vt:variant>
        <vt:i4>1</vt:i4>
      </vt:variant>
      <vt:variant>
        <vt:lpstr>عناوين الشرائح</vt:lpstr>
      </vt:variant>
      <vt:variant>
        <vt:i4>38</vt:i4>
      </vt:variant>
    </vt:vector>
  </HeadingPairs>
  <TitlesOfParts>
    <vt:vector size="39" baseType="lpstr">
      <vt:lpstr>Thème Office</vt:lpstr>
      <vt:lpstr>Cours : sémiologie neurologique                Les troubles de l’équilibre et la coordination    </vt:lpstr>
      <vt:lpstr>Plan: </vt:lpstr>
      <vt:lpstr>Introduction : </vt:lpstr>
      <vt:lpstr>Introduction : </vt:lpstr>
      <vt:lpstr>عرض تقديمي في PowerPoint</vt:lpstr>
      <vt:lpstr>Le syndrome cérébelleux :</vt:lpstr>
      <vt:lpstr>Ataxie cérébelleuse : </vt:lpstr>
      <vt:lpstr>Ataxie cérébelleuse : </vt:lpstr>
      <vt:lpstr>Ataxie cérébelleuse : </vt:lpstr>
      <vt:lpstr>Ataxie cérébelleuse : </vt:lpstr>
      <vt:lpstr>Ataxie cérébelleuse : </vt:lpstr>
      <vt:lpstr>Hypermétrie :</vt:lpstr>
      <vt:lpstr>Ataxie cérébelleuse : </vt:lpstr>
      <vt:lpstr>Ataxie cérébelleuse : </vt:lpstr>
      <vt:lpstr>asynergie</vt:lpstr>
      <vt:lpstr>Ataxie cérébelleuse : </vt:lpstr>
      <vt:lpstr>Ataxie cérébelleuse : </vt:lpstr>
      <vt:lpstr>Ataxie cérébelleuse : </vt:lpstr>
      <vt:lpstr>Hypotonie : </vt:lpstr>
      <vt:lpstr>Le tremblement cérébelleux : </vt:lpstr>
      <vt:lpstr>Diagnostic différentiel </vt:lpstr>
      <vt:lpstr>Diagnostic topographique : </vt:lpstr>
      <vt:lpstr>عرض تقديمي في PowerPoint</vt:lpstr>
      <vt:lpstr>Le syndrome vestibulaire :</vt:lpstr>
      <vt:lpstr>Système vestibulaire</vt:lpstr>
      <vt:lpstr>Le syndrome vestibulaire :</vt:lpstr>
      <vt:lpstr>Le syndrome vestibulaire :</vt:lpstr>
      <vt:lpstr>Le syndrome vestibulaire :</vt:lpstr>
      <vt:lpstr>Le syndrome vestibulaire :</vt:lpstr>
      <vt:lpstr>Le syndrome vestibulaire :</vt:lpstr>
      <vt:lpstr>Le syndrome vestibulaire :</vt:lpstr>
      <vt:lpstr>Le syndrome vestibulaire :</vt:lpstr>
      <vt:lpstr>Examens complémentaires :</vt:lpstr>
      <vt:lpstr>Diagnostic différentiel :</vt:lpstr>
      <vt:lpstr>Diagnostic différentiel :</vt:lpstr>
      <vt:lpstr>Formes topographiques :</vt:lpstr>
      <vt:lpstr>Formes topographiques :</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 sémiologie neurologique                Les troubles de l’équilibre et la coordination    </dc:title>
  <dc:creator>yazid chettibi</dc:creator>
  <cp:lastModifiedBy>radiachamstelli@gmail.com</cp:lastModifiedBy>
  <cp:revision>24</cp:revision>
  <dcterms:created xsi:type="dcterms:W3CDTF">2024-01-16T04:13:04Z</dcterms:created>
  <dcterms:modified xsi:type="dcterms:W3CDTF">2026-01-14T14:56:52Z</dcterms:modified>
</cp:coreProperties>
</file>