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317" r:id="rId2"/>
    <p:sldId id="261" r:id="rId3"/>
    <p:sldId id="262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7" r:id="rId12"/>
    <p:sldId id="285" r:id="rId13"/>
    <p:sldId id="286" r:id="rId14"/>
    <p:sldId id="288" r:id="rId15"/>
    <p:sldId id="291" r:id="rId16"/>
    <p:sldId id="289" r:id="rId17"/>
    <p:sldId id="294" r:id="rId18"/>
    <p:sldId id="290" r:id="rId19"/>
    <p:sldId id="263" r:id="rId20"/>
    <p:sldId id="264" r:id="rId21"/>
    <p:sldId id="266" r:id="rId22"/>
    <p:sldId id="265" r:id="rId23"/>
    <p:sldId id="293" r:id="rId24"/>
    <p:sldId id="295" r:id="rId25"/>
    <p:sldId id="267" r:id="rId26"/>
    <p:sldId id="268" r:id="rId27"/>
    <p:sldId id="269" r:id="rId28"/>
    <p:sldId id="270" r:id="rId29"/>
    <p:sldId id="271" r:id="rId30"/>
    <p:sldId id="272" r:id="rId31"/>
    <p:sldId id="292" r:id="rId32"/>
    <p:sldId id="273" r:id="rId33"/>
    <p:sldId id="296" r:id="rId34"/>
    <p:sldId id="297" r:id="rId35"/>
    <p:sldId id="298" r:id="rId36"/>
    <p:sldId id="319" r:id="rId37"/>
    <p:sldId id="300" r:id="rId38"/>
    <p:sldId id="301" r:id="rId39"/>
    <p:sldId id="318" r:id="rId40"/>
    <p:sldId id="302" r:id="rId41"/>
    <p:sldId id="303" r:id="rId42"/>
    <p:sldId id="299" r:id="rId43"/>
    <p:sldId id="304" r:id="rId44"/>
    <p:sldId id="320" r:id="rId45"/>
    <p:sldId id="321" r:id="rId46"/>
    <p:sldId id="305" r:id="rId47"/>
    <p:sldId id="306" r:id="rId48"/>
    <p:sldId id="309" r:id="rId49"/>
    <p:sldId id="307" r:id="rId50"/>
    <p:sldId id="308" r:id="rId51"/>
    <p:sldId id="314" r:id="rId52"/>
    <p:sldId id="325" r:id="rId53"/>
    <p:sldId id="326" r:id="rId54"/>
    <p:sldId id="327" r:id="rId55"/>
    <p:sldId id="328" r:id="rId56"/>
    <p:sldId id="329" r:id="rId57"/>
    <p:sldId id="330" r:id="rId58"/>
    <p:sldId id="331" r:id="rId59"/>
    <p:sldId id="316" r:id="rId6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715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96D63-8FF8-477D-92F6-6FEA1D730598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902C2-45A3-4AF5-B695-4056FA7A91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4325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atome d’hydrogène H est constitué d’un proton et d’un électron, mais pas de neutron.</a:t>
            </a:r>
            <a:br>
              <a:rPr lang="fr-FR" dirty="0"/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on enlève l’électron à cet atome, il va devenir un ion avec une charge positive puisqu’on lui a enlevé une charge négative, donc H</a:t>
            </a:r>
            <a:r>
              <a:rPr lang="fr-FR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fr-FR" dirty="0"/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comme on lui a enlevé l’électron il ne reste plus que… le proton !</a:t>
            </a:r>
            <a:br>
              <a:rPr lang="fr-FR" dirty="0"/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fr-FR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correspond donc bien à un proton, ce pourquoi on parle de proton H</a:t>
            </a:r>
            <a:r>
              <a:rPr lang="fr-FR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1902C2-45A3-4AF5-B695-4056FA7A912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0433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22/01/2026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22/01/2026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22/01/2026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22/01/2026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26.jpeg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</p:txBody>
      </p:sp>
      <p:pic>
        <p:nvPicPr>
          <p:cNvPr id="2050" name="Picture 2" descr="Modifier le texte en bas à droite de la diapositive pour remplacer 'SYLVAIN MARTINEZ IHA LAVERAN' par 'Pr Bouhouf Atef'.">
            <a:extLst>
              <a:ext uri="{FF2B5EF4-FFF2-40B4-BE49-F238E27FC236}">
                <a16:creationId xmlns:a16="http://schemas.microsoft.com/office/drawing/2014/main" id="{AD826D3B-5202-50D4-057F-3A55DD03E26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2" b="22342"/>
          <a:stretch>
            <a:fillRect/>
          </a:stretch>
        </p:blipFill>
        <p:spPr bwMode="auto">
          <a:xfrm>
            <a:off x="20" y="1282"/>
            <a:ext cx="9143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2ED9B54-D2BE-F94C-EE9C-A6B3B421DEF3}"/>
              </a:ext>
            </a:extLst>
          </p:cNvPr>
          <p:cNvSpPr txBox="1"/>
          <p:nvPr/>
        </p:nvSpPr>
        <p:spPr>
          <a:xfrm>
            <a:off x="6228184" y="5589240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Pr BOUHOUF ATEF</a:t>
            </a:r>
          </a:p>
        </p:txBody>
      </p:sp>
    </p:spTree>
    <p:extLst>
      <p:ext uri="{BB962C8B-B14F-4D97-AF65-F5344CB8AC3E}">
        <p14:creationId xmlns:p14="http://schemas.microsoft.com/office/powerpoint/2010/main" val="3663788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FR" noProof="0" dirty="0"/>
              <a:t>Chaque jour </a:t>
            </a:r>
          </a:p>
          <a:p>
            <a:pPr>
              <a:buNone/>
            </a:pPr>
            <a:endParaRPr lang="fr-FR" noProof="0" dirty="0"/>
          </a:p>
          <a:p>
            <a:pPr>
              <a:buNone/>
            </a:pPr>
            <a:r>
              <a:rPr lang="fr-FR" noProof="0" dirty="0"/>
              <a:t> L'alimentation        </a:t>
            </a:r>
          </a:p>
          <a:p>
            <a:pPr>
              <a:buNone/>
            </a:pPr>
            <a:r>
              <a:rPr lang="fr-FR" noProof="0" dirty="0"/>
              <a:t>              +                          15 à 25000 mEq  H</a:t>
            </a:r>
            <a:r>
              <a:rPr lang="fr-FR" baseline="30000" noProof="0" dirty="0"/>
              <a:t>+</a:t>
            </a:r>
          </a:p>
          <a:p>
            <a:pPr>
              <a:buNone/>
            </a:pPr>
            <a:r>
              <a:rPr lang="fr-FR" noProof="0" dirty="0"/>
              <a:t> ∑ métabolismes          </a:t>
            </a:r>
          </a:p>
          <a:p>
            <a:pPr>
              <a:buNone/>
            </a:pPr>
            <a:endParaRPr lang="fr-FR" noProof="0" dirty="0"/>
          </a:p>
        </p:txBody>
      </p:sp>
      <p:sp>
        <p:nvSpPr>
          <p:cNvPr id="5" name="Accolade fermante 4"/>
          <p:cNvSpPr/>
          <p:nvPr>
            <p:custDataLst>
              <p:tags r:id="rId2"/>
            </p:custDataLst>
          </p:nvPr>
        </p:nvSpPr>
        <p:spPr>
          <a:xfrm>
            <a:off x="3286116" y="2857496"/>
            <a:ext cx="428628" cy="1714512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lstStyle/>
          <a:p>
            <a:pPr>
              <a:buNone/>
            </a:pPr>
            <a:r>
              <a:rPr lang="fr-FR" noProof="0" dirty="0"/>
              <a:t>       L’EAB est assuré par </a:t>
            </a:r>
          </a:p>
          <a:p>
            <a:endParaRPr lang="fr-FR" noProof="0" dirty="0"/>
          </a:p>
          <a:p>
            <a:r>
              <a:rPr lang="fr-FR" noProof="0" dirty="0"/>
              <a:t>le maintient en permanence d’un bilan nul entre la formation de  protons H</a:t>
            </a:r>
            <a:r>
              <a:rPr lang="fr-FR" baseline="30000" noProof="0" dirty="0"/>
              <a:t>+</a:t>
            </a:r>
            <a:r>
              <a:rPr lang="fr-FR" noProof="0" dirty="0"/>
              <a:t> et leur élimination.</a:t>
            </a:r>
          </a:p>
          <a:p>
            <a:r>
              <a:rPr lang="fr-FR" noProof="0" dirty="0"/>
              <a:t>Formation H</a:t>
            </a:r>
            <a:r>
              <a:rPr lang="fr-FR" baseline="30000" noProof="0" dirty="0"/>
              <a:t>+</a:t>
            </a:r>
            <a:r>
              <a:rPr lang="fr-FR" noProof="0" dirty="0"/>
              <a:t> – Elimination H</a:t>
            </a:r>
            <a:r>
              <a:rPr lang="fr-FR" baseline="30000" noProof="0" dirty="0"/>
              <a:t>+</a:t>
            </a:r>
            <a:r>
              <a:rPr lang="fr-FR" noProof="0" dirty="0"/>
              <a:t> = 0</a:t>
            </a:r>
          </a:p>
          <a:p>
            <a:endParaRPr lang="fr-FR" noProof="0" dirty="0"/>
          </a:p>
          <a:p>
            <a:endParaRPr lang="fr-FR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E4BFBE9-F792-2581-FE4F-FBE8AD1BE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Rappel physiologique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86F954-B83D-0002-8FAB-05D2044432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noProof="0" dirty="0"/>
              <a:t>Atome d’hydrogène H est constitué d’un proton et d’un électron, mais pas de neutron.</a:t>
            </a:r>
            <a:br>
              <a:rPr lang="fr-FR" noProof="0" dirty="0"/>
            </a:br>
            <a:r>
              <a:rPr lang="fr-FR" noProof="0" dirty="0"/>
              <a:t>Si on enlève l’électron :</a:t>
            </a:r>
          </a:p>
          <a:p>
            <a:r>
              <a:rPr lang="fr-FR" noProof="0" dirty="0"/>
              <a:t>Il va devenir un ion avec une charge positive, donc H</a:t>
            </a:r>
            <a:r>
              <a:rPr lang="fr-FR" baseline="30000" noProof="0" dirty="0"/>
              <a:t>+</a:t>
            </a:r>
            <a:r>
              <a:rPr lang="fr-FR" noProof="0" dirty="0"/>
              <a:t>.</a:t>
            </a:r>
          </a:p>
          <a:p>
            <a:r>
              <a:rPr lang="fr-FR" noProof="0" dirty="0"/>
              <a:t>Il ne reste plus que le proton, ce pourquoi on parle de proton H</a:t>
            </a:r>
            <a:r>
              <a:rPr lang="fr-FR" baseline="30000" noProof="0" dirty="0"/>
              <a:t>+</a:t>
            </a:r>
            <a:r>
              <a:rPr lang="fr-FR" noProof="0" dirty="0"/>
              <a:t>.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73FE080D-6B55-0954-96ED-F41CB5C40E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fr-FR" noProof="0" dirty="0"/>
          </a:p>
        </p:txBody>
      </p:sp>
      <p:pic>
        <p:nvPicPr>
          <p:cNvPr id="1026" name="Picture 2" descr="Protons, Neutrons, Electrons for Hydrogen (H and H+, H-)">
            <a:extLst>
              <a:ext uri="{FF2B5EF4-FFF2-40B4-BE49-F238E27FC236}">
                <a16:creationId xmlns:a16="http://schemas.microsoft.com/office/drawing/2014/main" id="{1199CB30-D056-22F5-096E-8CD7AAA77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600199"/>
            <a:ext cx="4085494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887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EC04B5-6B50-FDC7-EB23-70D9400F3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Rappel physiologique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3BF7B2-1636-166A-7515-7E6C42735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pic>
        <p:nvPicPr>
          <p:cNvPr id="5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69491041-1C56-5A46-8FE3-29B6D4EF4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508919"/>
            <a:ext cx="8147248" cy="1632049"/>
          </a:xfrm>
          <a:prstGeom prst="rect">
            <a:avLst/>
          </a:prstGeom>
        </p:spPr>
      </p:pic>
      <p:pic>
        <p:nvPicPr>
          <p:cNvPr id="6" name="Image 5" descr="Une image contenant capture d’écran, texte, conception&#10;&#10;Le contenu généré par l’IA peut être incorrect.">
            <a:extLst>
              <a:ext uri="{FF2B5EF4-FFF2-40B4-BE49-F238E27FC236}">
                <a16:creationId xmlns:a16="http://schemas.microsoft.com/office/drawing/2014/main" id="{BDDDB232-2B94-06C3-260C-BCB4DD556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88" y="3892026"/>
            <a:ext cx="2867425" cy="1524213"/>
          </a:xfrm>
          <a:prstGeom prst="rect">
            <a:avLst/>
          </a:prstGeom>
        </p:spPr>
      </p:pic>
      <p:pic>
        <p:nvPicPr>
          <p:cNvPr id="8" name="Image 7" descr="Une image contenant texte, Police, blanc, logo&#10;&#10;Le contenu généré par l’IA peut être incorrect.">
            <a:extLst>
              <a:ext uri="{FF2B5EF4-FFF2-40B4-BE49-F238E27FC236}">
                <a16:creationId xmlns:a16="http://schemas.microsoft.com/office/drawing/2014/main" id="{BF32E66B-21CC-2E20-BF91-9EF58416A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6336" y="5257800"/>
            <a:ext cx="981212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77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C5AAD0-8241-BABA-12E1-556025E4D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Rappel physiologique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DAA7DB-EE8D-8E3E-DC73-837725F00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pic>
        <p:nvPicPr>
          <p:cNvPr id="5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0214FA3B-0BEC-C6CD-167E-9733D482B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0111"/>
            <a:ext cx="8087854" cy="1666327"/>
          </a:xfrm>
          <a:prstGeom prst="rect">
            <a:avLst/>
          </a:prstGeom>
        </p:spPr>
      </p:pic>
      <p:pic>
        <p:nvPicPr>
          <p:cNvPr id="6" name="Image 5" descr="Une image contenant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4DAC93FA-A13A-D9B1-3006-9887780FD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840" y="3266527"/>
            <a:ext cx="2648320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560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B88F61-813C-4CA3-B029-D6F3E87FE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Rappel physiologique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EA6C72-3A60-35B2-1F7D-AD527B1A9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fr-FR" sz="2400" noProof="0" dirty="0"/>
              <a:t>A chaque acide est associé une base (et donc à chaque base est associé un acide).</a:t>
            </a:r>
          </a:p>
          <a:p>
            <a:pPr fontAlgn="base"/>
            <a:r>
              <a:rPr lang="fr-FR" sz="2400" noProof="0" dirty="0"/>
              <a:t>le couple acide/base : </a:t>
            </a:r>
            <a:r>
              <a:rPr lang="fr-FR" sz="2400" b="1" u="sng" noProof="0" dirty="0"/>
              <a:t>l’acide et la base sont séparés par un /, l’acide est toujours à gauche et la base est toujours à droite.</a:t>
            </a:r>
          </a:p>
          <a:p>
            <a:pPr fontAlgn="base"/>
            <a:endParaRPr lang="fr-FR" sz="2400" b="1" u="sng" noProof="0" dirty="0"/>
          </a:p>
          <a:p>
            <a:pPr fontAlgn="base"/>
            <a:endParaRPr lang="fr-FR" sz="2400" b="1" u="sng" noProof="0" dirty="0"/>
          </a:p>
          <a:p>
            <a:pPr fontAlgn="base"/>
            <a:r>
              <a:rPr lang="fr-FR" sz="2400" noProof="0" dirty="0"/>
              <a:t>Un acide et sa base vont donc s’échanger 1 proton H</a:t>
            </a:r>
            <a:r>
              <a:rPr lang="fr-FR" sz="2400" baseline="30000" noProof="0" dirty="0"/>
              <a:t>+</a:t>
            </a:r>
            <a:r>
              <a:rPr lang="fr-FR" sz="2400" noProof="0" dirty="0"/>
              <a:t> selon l’équation suivante :</a:t>
            </a:r>
          </a:p>
          <a:p>
            <a:endParaRPr lang="fr-FR" noProof="0" dirty="0"/>
          </a:p>
        </p:txBody>
      </p:sp>
      <p:pic>
        <p:nvPicPr>
          <p:cNvPr id="5" name="Image 4" descr="Une image contenant texte, Polic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FD217E4E-1D0A-C93F-9E95-7114F39A7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4654773"/>
            <a:ext cx="3672408" cy="1471389"/>
          </a:xfrm>
          <a:prstGeom prst="rect">
            <a:avLst/>
          </a:prstGeom>
        </p:spPr>
      </p:pic>
      <p:pic>
        <p:nvPicPr>
          <p:cNvPr id="7" name="Image 6" descr="Une image contenant texte, Police, blanc, conception&#10;&#10;Le contenu généré par l’IA peut être incorrect.">
            <a:extLst>
              <a:ext uri="{FF2B5EF4-FFF2-40B4-BE49-F238E27FC236}">
                <a16:creationId xmlns:a16="http://schemas.microsoft.com/office/drawing/2014/main" id="{FD47BFE5-64AE-8B89-1478-827B4C3BC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3240543"/>
            <a:ext cx="3240360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878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877456-50F4-53B7-3F93-B2AB91743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Rappel physiologique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42B506-4A65-08E9-CE67-21D1424F1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pic>
        <p:nvPicPr>
          <p:cNvPr id="5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6B2F3BC2-81E6-15A4-4DD0-0550F9066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09" y="3861048"/>
            <a:ext cx="7973538" cy="1766855"/>
          </a:xfrm>
          <a:prstGeom prst="rect">
            <a:avLst/>
          </a:prstGeom>
        </p:spPr>
      </p:pic>
      <p:pic>
        <p:nvPicPr>
          <p:cNvPr id="7" name="Image 6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9E41483E-5FF8-7F80-539C-68354071E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8" y="1605280"/>
            <a:ext cx="8097380" cy="19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316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92F61C-5FB3-4F16-1969-E2626B34E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Rappel physiologique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0BC101-44CD-CD41-D8BF-94D99DFE3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pic>
        <p:nvPicPr>
          <p:cNvPr id="5" name="Image 4" descr="Une image contenant texte, capture d’écran, Police, Rectangle&#10;&#10;Le contenu généré par l’IA peut être incorrect.">
            <a:extLst>
              <a:ext uri="{FF2B5EF4-FFF2-40B4-BE49-F238E27FC236}">
                <a16:creationId xmlns:a16="http://schemas.microsoft.com/office/drawing/2014/main" id="{DE49312E-882A-3B2F-7650-13F701B04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28" y="4214284"/>
            <a:ext cx="8021169" cy="1590979"/>
          </a:xfrm>
          <a:prstGeom prst="rect">
            <a:avLst/>
          </a:prstGeom>
        </p:spPr>
      </p:pic>
      <p:pic>
        <p:nvPicPr>
          <p:cNvPr id="7" name="Image 6" descr="Une image contenant texte, capture d’écran, Police, algèbre&#10;&#10;Le contenu généré par l’IA peut être incorrect.">
            <a:extLst>
              <a:ext uri="{FF2B5EF4-FFF2-40B4-BE49-F238E27FC236}">
                <a16:creationId xmlns:a16="http://schemas.microsoft.com/office/drawing/2014/main" id="{A05B9F0E-E5B4-6BAC-1878-8A7E2785B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28" y="1600200"/>
            <a:ext cx="8030696" cy="197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44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8BCD14-A1AE-2F51-637F-52197E502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Cas particulier : les ampholytes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9CD2B1-8F15-62BF-12D9-11D884DC2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endParaRPr lang="fr-FR" sz="2400" noProof="0" dirty="0"/>
          </a:p>
          <a:p>
            <a:pPr marL="0" indent="0" fontAlgn="base">
              <a:buNone/>
            </a:pPr>
            <a:endParaRPr lang="fr-FR" sz="2400" dirty="0"/>
          </a:p>
          <a:p>
            <a:pPr marL="0" indent="0" fontAlgn="base">
              <a:buNone/>
            </a:pPr>
            <a:endParaRPr lang="fr-FR" sz="2400" noProof="0" dirty="0"/>
          </a:p>
          <a:p>
            <a:pPr marL="0" indent="0" fontAlgn="base">
              <a:buNone/>
            </a:pPr>
            <a:endParaRPr lang="fr-FR" sz="2400" noProof="0" dirty="0"/>
          </a:p>
          <a:p>
            <a:pPr marL="0" indent="0" fontAlgn="base">
              <a:buNone/>
            </a:pPr>
            <a:r>
              <a:rPr lang="fr-FR" sz="2400" noProof="0" dirty="0"/>
              <a:t>Exemple : </a:t>
            </a:r>
            <a:br>
              <a:rPr lang="fr-FR" sz="2400" noProof="0" dirty="0"/>
            </a:br>
            <a:r>
              <a:rPr lang="fr-FR" sz="2400" noProof="0" dirty="0"/>
              <a:t>H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O est acide du couple H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O/HO</a:t>
            </a:r>
            <a:r>
              <a:rPr lang="fr-FR" sz="2400" baseline="30000" noProof="0" dirty="0"/>
              <a:t>–</a:t>
            </a:r>
            <a:r>
              <a:rPr lang="fr-FR" sz="2400" noProof="0" dirty="0"/>
              <a:t> : H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O → HO</a:t>
            </a:r>
            <a:r>
              <a:rPr lang="fr-FR" sz="2400" baseline="30000" noProof="0" dirty="0"/>
              <a:t>–</a:t>
            </a:r>
            <a:r>
              <a:rPr lang="fr-FR" sz="2400" noProof="0" dirty="0"/>
              <a:t> + H</a:t>
            </a:r>
            <a:r>
              <a:rPr lang="fr-FR" sz="2400" baseline="30000" noProof="0" dirty="0"/>
              <a:t>+</a:t>
            </a:r>
            <a:br>
              <a:rPr lang="fr-FR" sz="2400" noProof="0" dirty="0"/>
            </a:br>
            <a:r>
              <a:rPr lang="fr-FR" sz="2400" noProof="0" dirty="0"/>
              <a:t>et la base du couple H</a:t>
            </a:r>
            <a:r>
              <a:rPr lang="fr-FR" sz="2400" baseline="-25000" noProof="0" dirty="0"/>
              <a:t>3</a:t>
            </a:r>
            <a:r>
              <a:rPr lang="fr-FR" sz="2400" noProof="0" dirty="0"/>
              <a:t>O</a:t>
            </a:r>
            <a:r>
              <a:rPr lang="fr-FR" sz="2400" baseline="30000" noProof="0" dirty="0"/>
              <a:t>+</a:t>
            </a:r>
            <a:r>
              <a:rPr lang="fr-FR" sz="2400" noProof="0" dirty="0"/>
              <a:t>/H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O : H</a:t>
            </a:r>
            <a:r>
              <a:rPr lang="fr-FR" sz="2400" baseline="-25000" noProof="0" dirty="0"/>
              <a:t>3</a:t>
            </a:r>
            <a:r>
              <a:rPr lang="fr-FR" sz="2400" noProof="0" dirty="0"/>
              <a:t>O</a:t>
            </a:r>
            <a:r>
              <a:rPr lang="fr-FR" sz="2400" baseline="30000" noProof="0" dirty="0"/>
              <a:t>+</a:t>
            </a:r>
            <a:r>
              <a:rPr lang="fr-FR" sz="2400" noProof="0" dirty="0"/>
              <a:t> → H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O + H</a:t>
            </a:r>
            <a:r>
              <a:rPr lang="fr-FR" sz="2400" baseline="30000" noProof="0" dirty="0"/>
              <a:t>+</a:t>
            </a:r>
            <a:endParaRPr lang="fr-FR" sz="2400" noProof="0" dirty="0"/>
          </a:p>
          <a:p>
            <a:pPr marL="0" indent="0" fontAlgn="base">
              <a:buNone/>
            </a:pPr>
            <a:r>
              <a:rPr lang="fr-FR" sz="2400" noProof="0" dirty="0"/>
              <a:t>2/ l’ion hydrogénocarbonate HCO</a:t>
            </a:r>
            <a:r>
              <a:rPr lang="fr-FR" sz="2400" baseline="-25000" noProof="0" dirty="0"/>
              <a:t>3</a:t>
            </a:r>
            <a:r>
              <a:rPr lang="fr-FR" sz="2400" baseline="30000" noProof="0" dirty="0"/>
              <a:t>–</a:t>
            </a:r>
            <a:r>
              <a:rPr lang="fr-FR" sz="2400" noProof="0" dirty="0"/>
              <a:t> qui est l’acide dans le couple HCO</a:t>
            </a:r>
            <a:r>
              <a:rPr lang="fr-FR" sz="2400" baseline="-25000" noProof="0" dirty="0"/>
              <a:t>3</a:t>
            </a:r>
            <a:r>
              <a:rPr lang="fr-FR" sz="2400" baseline="30000" noProof="0" dirty="0"/>
              <a:t>–</a:t>
            </a:r>
            <a:r>
              <a:rPr lang="fr-FR" sz="2400" noProof="0" dirty="0"/>
              <a:t>/CO</a:t>
            </a:r>
            <a:r>
              <a:rPr lang="fr-FR" sz="2400" baseline="-25000" noProof="0" dirty="0"/>
              <a:t>3</a:t>
            </a:r>
            <a:r>
              <a:rPr lang="fr-FR" sz="2400" baseline="30000" noProof="0" dirty="0"/>
              <a:t>2- </a:t>
            </a:r>
            <a:r>
              <a:rPr lang="fr-FR" sz="2400" noProof="0" dirty="0"/>
              <a:t>:</a:t>
            </a:r>
            <a:r>
              <a:rPr lang="fr-FR" sz="2400" baseline="30000" noProof="0" dirty="0"/>
              <a:t> </a:t>
            </a:r>
            <a:r>
              <a:rPr lang="fr-FR" sz="2400" noProof="0" dirty="0"/>
              <a:t>HCO</a:t>
            </a:r>
            <a:r>
              <a:rPr lang="fr-FR" sz="2400" baseline="-25000" noProof="0" dirty="0"/>
              <a:t>3</a:t>
            </a:r>
            <a:r>
              <a:rPr lang="fr-FR" sz="2400" baseline="30000" noProof="0" dirty="0"/>
              <a:t>–</a:t>
            </a:r>
            <a:r>
              <a:rPr lang="fr-FR" sz="2400" noProof="0" dirty="0"/>
              <a:t> → CO</a:t>
            </a:r>
            <a:r>
              <a:rPr lang="fr-FR" sz="2400" baseline="-25000" noProof="0" dirty="0"/>
              <a:t>3</a:t>
            </a:r>
            <a:r>
              <a:rPr lang="fr-FR" sz="2400" baseline="30000" noProof="0" dirty="0"/>
              <a:t>2-</a:t>
            </a:r>
            <a:r>
              <a:rPr lang="fr-FR" sz="2400" noProof="0" dirty="0"/>
              <a:t> + H</a:t>
            </a:r>
            <a:r>
              <a:rPr lang="fr-FR" sz="2400" baseline="30000" noProof="0" dirty="0"/>
              <a:t>+ </a:t>
            </a:r>
          </a:p>
          <a:p>
            <a:pPr marL="0" indent="0" fontAlgn="base">
              <a:buNone/>
            </a:pPr>
            <a:r>
              <a:rPr lang="fr-FR" sz="2400" noProof="0" dirty="0"/>
              <a:t>et la base dans le couple H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CO</a:t>
            </a:r>
            <a:r>
              <a:rPr lang="fr-FR" sz="2400" baseline="-25000" noProof="0" dirty="0"/>
              <a:t>3</a:t>
            </a:r>
            <a:r>
              <a:rPr lang="fr-FR" sz="2400" noProof="0" dirty="0"/>
              <a:t>/HCO</a:t>
            </a:r>
            <a:r>
              <a:rPr lang="fr-FR" sz="2400" baseline="-25000" noProof="0" dirty="0"/>
              <a:t>3</a:t>
            </a:r>
            <a:r>
              <a:rPr lang="fr-FR" sz="2400" baseline="30000" noProof="0" dirty="0"/>
              <a:t>– </a:t>
            </a:r>
            <a:r>
              <a:rPr lang="fr-FR" sz="2400" noProof="0" dirty="0"/>
              <a:t>: H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CO</a:t>
            </a:r>
            <a:r>
              <a:rPr lang="fr-FR" sz="2400" baseline="-25000" noProof="0" dirty="0"/>
              <a:t>3</a:t>
            </a:r>
            <a:r>
              <a:rPr lang="fr-FR" sz="2400" noProof="0" dirty="0"/>
              <a:t> → HCO</a:t>
            </a:r>
            <a:r>
              <a:rPr lang="fr-FR" sz="2400" baseline="-25000" noProof="0" dirty="0"/>
              <a:t>3</a:t>
            </a:r>
            <a:r>
              <a:rPr lang="fr-FR" sz="2400" baseline="30000" noProof="0" dirty="0"/>
              <a:t>–</a:t>
            </a:r>
            <a:r>
              <a:rPr lang="fr-FR" sz="2400" noProof="0" dirty="0"/>
              <a:t> + H</a:t>
            </a:r>
            <a:r>
              <a:rPr lang="fr-FR" sz="2400" baseline="30000" noProof="0" dirty="0"/>
              <a:t>+</a:t>
            </a:r>
            <a:endParaRPr lang="fr-FR" sz="2400" noProof="0" dirty="0"/>
          </a:p>
          <a:p>
            <a:pPr marL="0" indent="0" fontAlgn="base">
              <a:buNone/>
            </a:pPr>
            <a:endParaRPr lang="fr-FR" noProof="0" dirty="0"/>
          </a:p>
        </p:txBody>
      </p:sp>
      <p:pic>
        <p:nvPicPr>
          <p:cNvPr id="5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4487A1DC-1605-09BB-6F9E-EF56BD75D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3608"/>
            <a:ext cx="8135485" cy="151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453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E9F979-892B-7F6F-30BA-7B358DC8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Rappel physiologique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1131DB-7584-038C-6A68-BBBC13F16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pic>
        <p:nvPicPr>
          <p:cNvPr id="5" name="Image 4" descr="Une image contenant Police, écriture manuscrite, texte, typographie&#10;&#10;Le contenu généré par l’IA peut être incorrect.">
            <a:extLst>
              <a:ext uri="{FF2B5EF4-FFF2-40B4-BE49-F238E27FC236}">
                <a16:creationId xmlns:a16="http://schemas.microsoft.com/office/drawing/2014/main" id="{E5EA56AD-CEFD-05EA-C676-F6AB4D462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67" y="2852936"/>
            <a:ext cx="6870865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562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99ADA1-F3C2-FD40-76FD-D513CF8BA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Rappel physiologique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ABF1BE-9E1F-0967-BCD1-8FF5816CF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noProof="0" dirty="0"/>
              <a:t>Constante d’acidité : Ka, elle est sans unité. </a:t>
            </a:r>
          </a:p>
          <a:p>
            <a:pPr marL="0" indent="0">
              <a:buNone/>
            </a:pPr>
            <a:r>
              <a:rPr lang="fr-FR" sz="2400" noProof="0" dirty="0"/>
              <a:t>Une autre constante : le </a:t>
            </a:r>
            <a:r>
              <a:rPr lang="fr-FR" sz="2400" noProof="0" dirty="0" err="1"/>
              <a:t>pKa</a:t>
            </a:r>
            <a:r>
              <a:rPr lang="fr-FR" sz="2400" noProof="0" dirty="0"/>
              <a:t>, qui est également sans unité.</a:t>
            </a:r>
          </a:p>
        </p:txBody>
      </p:sp>
      <p:pic>
        <p:nvPicPr>
          <p:cNvPr id="5" name="Image 4" descr="Une image contenant texte, Police, ligne, Graphique&#10;&#10;Le contenu généré par l’IA peut être incorrect.">
            <a:extLst>
              <a:ext uri="{FF2B5EF4-FFF2-40B4-BE49-F238E27FC236}">
                <a16:creationId xmlns:a16="http://schemas.microsoft.com/office/drawing/2014/main" id="{EC6AF8A2-67BA-D7CC-405E-6E37D47C5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21" y="3068960"/>
            <a:ext cx="3145717" cy="1107460"/>
          </a:xfrm>
          <a:prstGeom prst="rect">
            <a:avLst/>
          </a:prstGeom>
        </p:spPr>
      </p:pic>
      <p:pic>
        <p:nvPicPr>
          <p:cNvPr id="7" name="Image 6" descr="Une image contenant texte, Police, conception, Graphique&#10;&#10;Le contenu généré par l’IA peut être incorrect.">
            <a:extLst>
              <a:ext uri="{FF2B5EF4-FFF2-40B4-BE49-F238E27FC236}">
                <a16:creationId xmlns:a16="http://schemas.microsoft.com/office/drawing/2014/main" id="{DA500B1A-8037-5792-FFB8-3A1F8AE8C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21" y="5196225"/>
            <a:ext cx="3145717" cy="929938"/>
          </a:xfrm>
          <a:prstGeom prst="rect">
            <a:avLst/>
          </a:prstGeom>
        </p:spPr>
      </p:pic>
      <p:sp>
        <p:nvSpPr>
          <p:cNvPr id="4" name="Flèche : bas 3">
            <a:extLst>
              <a:ext uri="{FF2B5EF4-FFF2-40B4-BE49-F238E27FC236}">
                <a16:creationId xmlns:a16="http://schemas.microsoft.com/office/drawing/2014/main" id="{DAE2F801-67FF-F2FC-9AF0-48328125AF9E}"/>
              </a:ext>
            </a:extLst>
          </p:cNvPr>
          <p:cNvSpPr/>
          <p:nvPr/>
        </p:nvSpPr>
        <p:spPr>
          <a:xfrm>
            <a:off x="1835696" y="4293096"/>
            <a:ext cx="504056" cy="79208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9" name="Image 8" descr="Une image contenant Police, texte, Graphique, logo&#10;&#10;Le contenu généré par l’IA peut être incorrect.">
            <a:extLst>
              <a:ext uri="{FF2B5EF4-FFF2-40B4-BE49-F238E27FC236}">
                <a16:creationId xmlns:a16="http://schemas.microsoft.com/office/drawing/2014/main" id="{0D79BDE4-60B8-87D2-2E42-A62E2A646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262" y="3068960"/>
            <a:ext cx="3145717" cy="1107460"/>
          </a:xfrm>
          <a:prstGeom prst="rect">
            <a:avLst/>
          </a:prstGeom>
        </p:spPr>
      </p:pic>
      <p:pic>
        <p:nvPicPr>
          <p:cNvPr id="11" name="Image 10" descr="Une image contenant Police, écriture manuscrite, texte, calligraphie&#10;&#10;Le contenu généré par l’IA peut être incorrect.">
            <a:extLst>
              <a:ext uri="{FF2B5EF4-FFF2-40B4-BE49-F238E27FC236}">
                <a16:creationId xmlns:a16="http://schemas.microsoft.com/office/drawing/2014/main" id="{18FF3C63-00A0-F6C0-4F95-A5B21C06A6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9262" y="5196225"/>
            <a:ext cx="3145717" cy="929938"/>
          </a:xfrm>
          <a:prstGeom prst="rect">
            <a:avLst/>
          </a:prstGeom>
        </p:spPr>
      </p:pic>
      <p:sp>
        <p:nvSpPr>
          <p:cNvPr id="6" name="Flèche : bas 5">
            <a:extLst>
              <a:ext uri="{FF2B5EF4-FFF2-40B4-BE49-F238E27FC236}">
                <a16:creationId xmlns:a16="http://schemas.microsoft.com/office/drawing/2014/main" id="{06643EF5-05EF-E9AD-5EEF-7680B3BD111A}"/>
              </a:ext>
            </a:extLst>
          </p:cNvPr>
          <p:cNvSpPr/>
          <p:nvPr/>
        </p:nvSpPr>
        <p:spPr>
          <a:xfrm>
            <a:off x="6370092" y="4293096"/>
            <a:ext cx="504056" cy="79208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82454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9ED0D3-F961-C14F-E6E7-F2781B871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Rappel physiologique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F0DD0F6A-E500-8DFE-AD7A-CE44DD4855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8291" y="2395481"/>
            <a:ext cx="566977" cy="838317"/>
          </a:xfrm>
          <a:prstGeom prst="rect">
            <a:avLst/>
          </a:prstGeom>
        </p:spPr>
      </p:pic>
      <p:pic>
        <p:nvPicPr>
          <p:cNvPr id="5" name="Image 4" descr="Une image contenant Police, typographie, blanc, calligraphie&#10;&#10;Le contenu généré par l’IA peut être incorrect.">
            <a:extLst>
              <a:ext uri="{FF2B5EF4-FFF2-40B4-BE49-F238E27FC236}">
                <a16:creationId xmlns:a16="http://schemas.microsoft.com/office/drawing/2014/main" id="{158AF899-96AE-85EC-F5C1-B7305C251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400" y="3218512"/>
            <a:ext cx="6249272" cy="838317"/>
          </a:xfrm>
          <a:prstGeom prst="rect">
            <a:avLst/>
          </a:prstGeom>
        </p:spPr>
      </p:pic>
      <p:pic>
        <p:nvPicPr>
          <p:cNvPr id="7" name="Image 6" descr="Une image contenant Police, typographie, blanc, texte&#10;&#10;Le contenu généré par l’IA peut être incorrect.">
            <a:extLst>
              <a:ext uri="{FF2B5EF4-FFF2-40B4-BE49-F238E27FC236}">
                <a16:creationId xmlns:a16="http://schemas.microsoft.com/office/drawing/2014/main" id="{DAFC2E6B-BCEB-9619-28D3-FA4A5744F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548" y="4980749"/>
            <a:ext cx="6249272" cy="743054"/>
          </a:xfrm>
          <a:prstGeom prst="rect">
            <a:avLst/>
          </a:prstGeom>
        </p:spPr>
      </p:pic>
      <p:pic>
        <p:nvPicPr>
          <p:cNvPr id="13" name="Image 12" descr="Une image contenant Police, écriture manuscrite, typographie, blanc&#10;&#10;Le contenu généré par l’IA peut être incorrect.">
            <a:extLst>
              <a:ext uri="{FF2B5EF4-FFF2-40B4-BE49-F238E27FC236}">
                <a16:creationId xmlns:a16="http://schemas.microsoft.com/office/drawing/2014/main" id="{E094163A-CA5F-6398-FE5F-9947A86E3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400" y="1550751"/>
            <a:ext cx="6249272" cy="838317"/>
          </a:xfrm>
          <a:prstGeom prst="rect">
            <a:avLst/>
          </a:prstGeom>
        </p:spPr>
      </p:pic>
      <p:sp>
        <p:nvSpPr>
          <p:cNvPr id="8" name="Flèche : bas 7">
            <a:extLst>
              <a:ext uri="{FF2B5EF4-FFF2-40B4-BE49-F238E27FC236}">
                <a16:creationId xmlns:a16="http://schemas.microsoft.com/office/drawing/2014/main" id="{07F995DF-C8A0-4B6A-5117-A2D4629EBBB0}"/>
              </a:ext>
            </a:extLst>
          </p:cNvPr>
          <p:cNvSpPr/>
          <p:nvPr/>
        </p:nvSpPr>
        <p:spPr>
          <a:xfrm>
            <a:off x="4078290" y="4122745"/>
            <a:ext cx="566977" cy="79208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95431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6FD83F-9A61-60D7-13A3-5012E45B4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Rappel physiologique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414512-774A-8344-7C36-1BA805F6B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pic>
        <p:nvPicPr>
          <p:cNvPr id="5" name="Image 4" descr="Une image contenant texte, Police, écriture manuscrite, Graphique&#10;&#10;Le contenu généré par l’IA peut être incorrect.">
            <a:extLst>
              <a:ext uri="{FF2B5EF4-FFF2-40B4-BE49-F238E27FC236}">
                <a16:creationId xmlns:a16="http://schemas.microsoft.com/office/drawing/2014/main" id="{2504B39C-F291-9A57-AF3F-B4AA5E46E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1571844"/>
          </a:xfrm>
          <a:prstGeom prst="rect">
            <a:avLst/>
          </a:prstGeom>
        </p:spPr>
      </p:pic>
      <p:pic>
        <p:nvPicPr>
          <p:cNvPr id="7" name="Image 6" descr="Une image contenant texte, Police, écriture manuscrite, Graphique&#10;&#10;Le contenu généré par l’IA peut être incorrect.">
            <a:extLst>
              <a:ext uri="{FF2B5EF4-FFF2-40B4-BE49-F238E27FC236}">
                <a16:creationId xmlns:a16="http://schemas.microsoft.com/office/drawing/2014/main" id="{266BDA6C-BD85-8004-8A98-48658B672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24" y="4555188"/>
            <a:ext cx="8229600" cy="1600423"/>
          </a:xfrm>
          <a:prstGeom prst="rect">
            <a:avLst/>
          </a:prstGeom>
        </p:spPr>
      </p:pic>
      <p:pic>
        <p:nvPicPr>
          <p:cNvPr id="4" name="Espace réservé du contenu 5">
            <a:extLst>
              <a:ext uri="{FF2B5EF4-FFF2-40B4-BE49-F238E27FC236}">
                <a16:creationId xmlns:a16="http://schemas.microsoft.com/office/drawing/2014/main" id="{AF9262E1-60EF-ED4E-BFE2-9DB31EFFF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11" y="3354606"/>
            <a:ext cx="566977" cy="101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63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F26E23-EA48-C690-9824-23C91077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noProof="0" dirty="0"/>
              <a:t>Équation de Henderson-</a:t>
            </a:r>
            <a:r>
              <a:rPr lang="fr-FR" noProof="0" dirty="0" err="1"/>
              <a:t>Hasselbalch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C41622-B614-F0E1-85FA-9E9F72AA2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noProof="0" dirty="0"/>
              <a:t>L'équation de Henderson-</a:t>
            </a:r>
            <a:r>
              <a:rPr lang="fr-FR" sz="2400" noProof="0" dirty="0" err="1"/>
              <a:t>Hasselbalch</a:t>
            </a:r>
            <a:r>
              <a:rPr lang="fr-FR" sz="2400" noProof="0" dirty="0"/>
              <a:t> permet de calculer le pH sanguin à partir des concentrations en ion bicarbonate (HCO</a:t>
            </a:r>
            <a:r>
              <a:rPr lang="fr-FR" sz="2400" baseline="-25000" noProof="0" dirty="0"/>
              <a:t>3</a:t>
            </a:r>
            <a:r>
              <a:rPr lang="fr-FR" sz="2400" baseline="30000" noProof="0" dirty="0"/>
              <a:t>−</a:t>
            </a:r>
            <a:r>
              <a:rPr lang="fr-FR" sz="2400" noProof="0" dirty="0"/>
              <a:t>) et en acide carbonique (H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CO</a:t>
            </a:r>
            <a:r>
              <a:rPr lang="fr-FR" sz="2400" baseline="-25000" noProof="0" dirty="0"/>
              <a:t>3</a:t>
            </a:r>
            <a:r>
              <a:rPr lang="fr-FR" sz="2400" noProof="0" dirty="0"/>
              <a:t>), à partir de la réaction acido-basique réversible indiquée ci-dessous :</a:t>
            </a:r>
          </a:p>
        </p:txBody>
      </p:sp>
      <p:pic>
        <p:nvPicPr>
          <p:cNvPr id="4110" name="Picture 14" descr="Anhydrase carbonique : définition et explications">
            <a:extLst>
              <a:ext uri="{FF2B5EF4-FFF2-40B4-BE49-F238E27FC236}">
                <a16:creationId xmlns:a16="http://schemas.microsoft.com/office/drawing/2014/main" id="{41B2621A-3E53-526D-2D07-7DC974ED5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429000"/>
            <a:ext cx="5976664" cy="1631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707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AFD8B9-0B7F-8315-7D7B-041A2FB73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noProof="0" dirty="0"/>
              <a:t>Équation de Henderson-</a:t>
            </a:r>
            <a:r>
              <a:rPr lang="fr-FR" noProof="0" dirty="0" err="1"/>
              <a:t>Hasselbalch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02E46C-1F9B-02E9-8990-DF335EAEF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noProof="0" dirty="0"/>
              <a:t>Le principal système tampon acido-basique dans un organisme est représenté par le couple acide carbonique/bicarbonate.</a:t>
            </a:r>
          </a:p>
          <a:p>
            <a:r>
              <a:rPr lang="fr-FR" sz="2400" noProof="0" dirty="0"/>
              <a:t>L'équation de Henderson-</a:t>
            </a:r>
            <a:r>
              <a:rPr lang="fr-FR" sz="2400" noProof="0" dirty="0" err="1"/>
              <a:t>Hasselbalch</a:t>
            </a:r>
            <a:r>
              <a:rPr lang="fr-FR" sz="2400" noProof="0" dirty="0"/>
              <a:t>, avec comme </a:t>
            </a:r>
            <a:r>
              <a:rPr lang="fr-FR" sz="2400" noProof="0" dirty="0" err="1"/>
              <a:t>p</a:t>
            </a:r>
            <a:r>
              <a:rPr lang="fr-FR" sz="2400" i="1" noProof="0" dirty="0" err="1"/>
              <a:t>K</a:t>
            </a:r>
            <a:r>
              <a:rPr lang="fr-FR" sz="2400" baseline="-25000" noProof="0" dirty="0" err="1"/>
              <a:t>a</a:t>
            </a:r>
            <a:r>
              <a:rPr lang="fr-FR" sz="2400" noProof="0" dirty="0"/>
              <a:t> celui de l'acide carbonique devient :  </a:t>
            </a:r>
          </a:p>
        </p:txBody>
      </p:sp>
      <p:pic>
        <p:nvPicPr>
          <p:cNvPr id="2050" name="Picture 2" descr="Équation de Henderson-Hasselbalch – Assistant INHALO">
            <a:extLst>
              <a:ext uri="{FF2B5EF4-FFF2-40B4-BE49-F238E27FC236}">
                <a16:creationId xmlns:a16="http://schemas.microsoft.com/office/drawing/2014/main" id="{6A403F27-FE45-7521-C87E-E49CA39F8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789040"/>
            <a:ext cx="5760640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3362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94CA4F-5B77-78C7-413F-1A4671F7A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noProof="0" dirty="0"/>
              <a:t>Équation de Henderson-</a:t>
            </a:r>
            <a:r>
              <a:rPr lang="fr-FR" noProof="0" dirty="0" err="1"/>
              <a:t>Hasselbalch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D0D065-A239-CE4F-DDCD-AEB6F31AE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noProof="0" dirty="0"/>
              <a:t>Loi de Henry: la quantité de gaz dissous dans un liquide est proportionnelle à la pression partielle du gaz et à son coefficient de solubilité (a).</a:t>
            </a:r>
          </a:p>
          <a:p>
            <a:pPr marL="0" indent="0">
              <a:buNone/>
            </a:pPr>
            <a:endParaRPr lang="fr-FR" sz="2400" noProof="0" dirty="0"/>
          </a:p>
          <a:p>
            <a:pPr marL="0" indent="0">
              <a:buNone/>
            </a:pPr>
            <a:r>
              <a:rPr lang="fr-FR" sz="2400" noProof="0" dirty="0"/>
              <a:t>Dans le sang artériel :</a:t>
            </a:r>
          </a:p>
          <a:p>
            <a:r>
              <a:rPr lang="fr-FR" sz="2400" noProof="0" dirty="0"/>
              <a:t>[H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CO</a:t>
            </a:r>
            <a:r>
              <a:rPr lang="fr-FR" sz="2400" baseline="-25000" noProof="0" dirty="0"/>
              <a:t>3</a:t>
            </a:r>
            <a:r>
              <a:rPr lang="fr-FR" sz="2400" baseline="30000" noProof="0" dirty="0"/>
              <a:t>-</a:t>
            </a:r>
            <a:r>
              <a:rPr lang="fr-FR" sz="2400" noProof="0" dirty="0"/>
              <a:t>] correspond à la concentration de CO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 dissous.</a:t>
            </a:r>
          </a:p>
          <a:p>
            <a:r>
              <a:rPr lang="fr-FR" sz="2400" noProof="0" dirty="0"/>
              <a:t>[CO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] dissous est proportionnel à la PaCO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(pression partielle artérielle de CO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).</a:t>
            </a:r>
          </a:p>
          <a:p>
            <a:r>
              <a:rPr lang="fr-FR" sz="2400" dirty="0"/>
              <a:t>[H</a:t>
            </a:r>
            <a:r>
              <a:rPr lang="fr-FR" sz="2400" baseline="-25000" dirty="0"/>
              <a:t>2</a:t>
            </a:r>
            <a:r>
              <a:rPr lang="fr-FR" sz="2400" dirty="0"/>
              <a:t>CO</a:t>
            </a:r>
            <a:r>
              <a:rPr lang="fr-FR" sz="2400" baseline="-25000" dirty="0"/>
              <a:t>3</a:t>
            </a:r>
            <a:r>
              <a:rPr lang="fr-FR" sz="2400" baseline="30000" dirty="0"/>
              <a:t>-</a:t>
            </a:r>
            <a:r>
              <a:rPr lang="fr-FR" sz="2400" dirty="0"/>
              <a:t>] = a PCO</a:t>
            </a:r>
            <a:r>
              <a:rPr lang="fr-FR" sz="2400" baseline="-25000" dirty="0"/>
              <a:t>2</a:t>
            </a:r>
            <a:r>
              <a:rPr lang="fr-FR" sz="2400" dirty="0"/>
              <a:t> = 0,03 PCO</a:t>
            </a:r>
            <a:r>
              <a:rPr lang="fr-FR" sz="2400" baseline="-25000" dirty="0"/>
              <a:t>2</a:t>
            </a:r>
          </a:p>
          <a:p>
            <a:pPr marL="0" indent="0">
              <a:buNone/>
            </a:pPr>
            <a:r>
              <a:rPr lang="fr-FR" sz="2400" noProof="0" dirty="0"/>
              <a:t>  </a:t>
            </a:r>
          </a:p>
          <a:p>
            <a:pPr marL="0" indent="0">
              <a:buNone/>
            </a:pPr>
            <a:endParaRPr lang="fr-FR" sz="2400" noProof="0" dirty="0"/>
          </a:p>
        </p:txBody>
      </p:sp>
    </p:spTree>
    <p:extLst>
      <p:ext uri="{BB962C8B-B14F-4D97-AF65-F5344CB8AC3E}">
        <p14:creationId xmlns:p14="http://schemas.microsoft.com/office/powerpoint/2010/main" val="1355133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05DD7-E40C-B216-F64E-EDFCAB711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noProof="0" dirty="0"/>
              <a:t>Équation de Henderson-</a:t>
            </a:r>
            <a:r>
              <a:rPr lang="fr-FR" noProof="0" dirty="0" err="1"/>
              <a:t>Hasselbalch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B6A1EF-8AC2-DEE3-E20D-54BE2F40A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noProof="0" dirty="0"/>
              <a:t>L’équation de </a:t>
            </a:r>
            <a:r>
              <a:rPr lang="fr-FR" sz="2400" noProof="0" dirty="0" err="1"/>
              <a:t>Hendersen-Hasselbalch</a:t>
            </a:r>
            <a:r>
              <a:rPr lang="fr-FR" sz="2400" noProof="0" dirty="0"/>
              <a:t> est :</a:t>
            </a:r>
          </a:p>
          <a:p>
            <a:pPr marL="0" indent="0">
              <a:buNone/>
            </a:pPr>
            <a:endParaRPr lang="fr-FR" noProof="0" dirty="0"/>
          </a:p>
          <a:p>
            <a:pPr marL="0" indent="0">
              <a:buNone/>
            </a:pPr>
            <a:endParaRPr lang="fr-FR" noProof="0" dirty="0"/>
          </a:p>
          <a:p>
            <a:pPr marL="0" indent="0">
              <a:buNone/>
            </a:pPr>
            <a:endParaRPr lang="fr-FR" noProof="0" dirty="0"/>
          </a:p>
          <a:p>
            <a:r>
              <a:rPr lang="fr-FR" sz="2400" noProof="0" dirty="0"/>
              <a:t>La valeur normale du pH artériel est de 7,40 ± 0,02 c’est à dire compris entre 7,38 et 7,42. </a:t>
            </a:r>
          </a:p>
          <a:p>
            <a:endParaRPr lang="fr-FR" sz="2400" b="1" noProof="0" dirty="0"/>
          </a:p>
          <a:p>
            <a:endParaRPr lang="fr-FR" noProof="0" dirty="0"/>
          </a:p>
        </p:txBody>
      </p:sp>
      <p:pic>
        <p:nvPicPr>
          <p:cNvPr id="3074" name="Picture 2" descr="Henderson Hasselbalch Ecuacion">
            <a:extLst>
              <a:ext uri="{FF2B5EF4-FFF2-40B4-BE49-F238E27FC236}">
                <a16:creationId xmlns:a16="http://schemas.microsoft.com/office/drawing/2014/main" id="{4C7E81F3-0130-56E8-205F-7CA811375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132856"/>
            <a:ext cx="3672408" cy="1175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D0EC1DE-1756-DD4F-6199-7C360B1D9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2348880"/>
            <a:ext cx="2126388" cy="7437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6CF9B92-9FAB-B8AE-1558-EC77E08CB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053" y="2348880"/>
            <a:ext cx="2859110" cy="74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6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fr-FR" sz="2400" noProof="0" dirty="0"/>
          </a:p>
          <a:p>
            <a:pPr marL="0" indent="0">
              <a:buNone/>
            </a:pPr>
            <a:r>
              <a:rPr lang="fr-FR" sz="2400" noProof="0" dirty="0"/>
              <a:t>L’adaptation de l’organisme aux changements de pH dépend de trois mécanismes:</a:t>
            </a:r>
          </a:p>
          <a:p>
            <a:endParaRPr lang="fr-FR" sz="2400" noProof="0" dirty="0"/>
          </a:p>
          <a:p>
            <a:pPr>
              <a:buNone/>
            </a:pPr>
            <a:r>
              <a:rPr lang="fr-FR" sz="2400" noProof="0" dirty="0"/>
              <a:t>– les systèmes tampons, d’action instantanée</a:t>
            </a:r>
          </a:p>
          <a:p>
            <a:pPr>
              <a:buNone/>
            </a:pPr>
            <a:r>
              <a:rPr lang="fr-FR" sz="2400" noProof="0" dirty="0"/>
              <a:t>– la ventilation, d’action rapide</a:t>
            </a:r>
          </a:p>
          <a:p>
            <a:pPr>
              <a:buNone/>
            </a:pPr>
            <a:r>
              <a:rPr lang="fr-FR" sz="2400" noProof="0" dirty="0"/>
              <a:t>– la régulation rénale , d’action lente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Systèmes tampons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fr-FR" sz="2400" noProof="0" dirty="0"/>
              <a:t>Mécanismes de défense permettant de limiter les variations de pH.</a:t>
            </a:r>
          </a:p>
          <a:p>
            <a:r>
              <a:rPr lang="fr-FR" sz="2400" noProof="0" dirty="0"/>
              <a:t>Le tampon comme son nom l’indique n’empêche pas le changement de pH mais il en limite l’amplitude. </a:t>
            </a:r>
          </a:p>
          <a:p>
            <a:r>
              <a:rPr lang="fr-FR" sz="2400" noProof="0" dirty="0"/>
              <a:t>La plupart des tampons de l’organisme ont comme fonctions de fixer des ions H+.</a:t>
            </a:r>
          </a:p>
          <a:p>
            <a:r>
              <a:rPr lang="fr-FR" sz="2400" noProof="0" dirty="0"/>
              <a:t>Les tampons sont: intracellulaires et extracellulaires.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3711526"/>
              </p:ext>
            </p:extLst>
          </p:nvPr>
        </p:nvGraphicFramePr>
        <p:xfrm>
          <a:off x="125173" y="1772816"/>
          <a:ext cx="8893653" cy="28803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964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4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4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447">
                <a:tc>
                  <a:txBody>
                    <a:bodyPr/>
                    <a:lstStyle/>
                    <a:p>
                      <a:pPr algn="ctr"/>
                      <a:r>
                        <a:rPr lang="fr-FR" sz="1800" b="1" kern="1200" baseline="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Secteur </a:t>
                      </a:r>
                      <a:r>
                        <a:rPr lang="fr-FR" noProof="0" dirty="0"/>
                        <a:t>extracellulaire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kern="1200" baseline="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Secteur intracellulaire</a:t>
                      </a:r>
                      <a:endParaRPr lang="fr-FR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baseline="0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Urine</a:t>
                      </a:r>
                      <a:endParaRPr lang="fr-FR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7873">
                <a:tc>
                  <a:txBody>
                    <a:bodyPr/>
                    <a:lstStyle/>
                    <a:p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fr-FR" sz="1800" kern="1200" baseline="-25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</a:t>
                      </a:r>
                      <a:r>
                        <a:rPr lang="fr-FR" sz="1800" kern="1200" baseline="-25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fr-FR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HCO</a:t>
                      </a:r>
                      <a:r>
                        <a:rPr lang="fr-FR" sz="1800" kern="1200" baseline="30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fr-FR" sz="1800" kern="1200" baseline="-25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endParaRPr lang="fr-FR" sz="18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H2PO</a:t>
                      </a:r>
                      <a:r>
                        <a:rPr lang="fr-FR" sz="1800" kern="1200" baseline="-25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/HPO</a:t>
                      </a:r>
                      <a:r>
                        <a:rPr lang="fr-FR" sz="1800" kern="1200" baseline="30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  <a:r>
                        <a:rPr lang="fr-FR" sz="1800" kern="1200" baseline="-25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  <a:p>
                      <a:endParaRPr lang="fr-FR" sz="18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fr-FR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Protéine/</a:t>
                      </a:r>
                      <a:r>
                        <a:rPr lang="fr-FR" sz="1800" kern="1200" baseline="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protéinate</a:t>
                      </a:r>
                      <a:endParaRPr lang="fr-FR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Protéine/</a:t>
                      </a:r>
                      <a:r>
                        <a:rPr lang="fr-FR" sz="1800" kern="1200" baseline="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protéinate</a:t>
                      </a:r>
                      <a:endParaRPr lang="fr-FR" sz="18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fr-FR" sz="18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H2PO</a:t>
                      </a:r>
                      <a:r>
                        <a:rPr lang="fr-FR" sz="1800" kern="1200" baseline="-25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/HPO</a:t>
                      </a:r>
                      <a:r>
                        <a:rPr lang="fr-FR" sz="1800" kern="1200" baseline="30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  <a:r>
                        <a:rPr lang="fr-FR" sz="1800" kern="1200" baseline="-25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  <a:p>
                      <a:endParaRPr lang="fr-FR" sz="18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fr-FR" sz="1800" kern="1200" baseline="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Hb</a:t>
                      </a:r>
                      <a:r>
                        <a:rPr lang="fr-FR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fr-FR" sz="1800" kern="1200" baseline="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hémoglobinate</a:t>
                      </a:r>
                      <a:endParaRPr lang="fr-FR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fr-FR" sz="1800" kern="1200" baseline="-25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</a:t>
                      </a:r>
                      <a:r>
                        <a:rPr lang="fr-FR" sz="1800" kern="1200" baseline="-25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fr-FR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HCO</a:t>
                      </a:r>
                      <a:r>
                        <a:rPr lang="fr-FR" sz="1800" kern="1200" baseline="30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fr-FR" sz="1800" kern="1200" baseline="-25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sz="18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fr-FR" sz="18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H2PO</a:t>
                      </a:r>
                      <a:r>
                        <a:rPr lang="fr-FR" sz="1800" kern="1200" baseline="-25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/HPO</a:t>
                      </a:r>
                      <a:r>
                        <a:rPr lang="fr-FR" sz="1800" kern="1200" baseline="30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  <a:r>
                        <a:rPr lang="fr-FR" sz="1800" kern="1200" baseline="-25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fr-FR" sz="18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fr-FR" sz="18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NH</a:t>
                      </a:r>
                      <a:r>
                        <a:rPr lang="fr-FR" sz="1800" kern="1200" baseline="-25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fr-FR" sz="18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/NH</a:t>
                      </a:r>
                      <a:r>
                        <a:rPr lang="fr-FR" sz="1800" kern="1200" baseline="30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fr-FR" sz="1800" kern="1200" baseline="-250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fr-FR" sz="18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F678D8C-61A5-A6E5-0CFB-6023D3815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172"/>
            <a:ext cx="9108504" cy="683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98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7EA7BB-6C4F-A548-871D-A166652D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Systèmes tampon plasmatiques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0E8A1C-9F8F-366D-9D53-6B7D2C591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FR" sz="2400" noProof="0" dirty="0"/>
          </a:p>
          <a:p>
            <a:endParaRPr lang="fr-FR" sz="2400" dirty="0"/>
          </a:p>
          <a:p>
            <a:r>
              <a:rPr lang="fr-FR" sz="2400" noProof="0" dirty="0"/>
              <a:t>Bicarbonates/acide carbonique : HCO</a:t>
            </a:r>
            <a:r>
              <a:rPr lang="fr-FR" sz="2400" baseline="-25000" noProof="0" dirty="0"/>
              <a:t>3</a:t>
            </a:r>
            <a:r>
              <a:rPr lang="fr-FR" sz="2400" baseline="30000" noProof="0" dirty="0"/>
              <a:t>-</a:t>
            </a:r>
            <a:r>
              <a:rPr lang="fr-FR" sz="2400" noProof="0" dirty="0"/>
              <a:t>/CO</a:t>
            </a:r>
            <a:r>
              <a:rPr lang="fr-FR" sz="2400" baseline="-25000" noProof="0" dirty="0"/>
              <a:t>2 </a:t>
            </a:r>
            <a:r>
              <a:rPr lang="fr-FR" sz="2400" noProof="0" dirty="0"/>
              <a:t>: 25 à30 </a:t>
            </a:r>
            <a:r>
              <a:rPr lang="fr-FR" sz="2400" noProof="0" dirty="0" err="1"/>
              <a:t>mmol</a:t>
            </a:r>
            <a:r>
              <a:rPr lang="fr-FR" sz="2400" noProof="0" dirty="0"/>
              <a:t>/l.</a:t>
            </a:r>
          </a:p>
          <a:p>
            <a:r>
              <a:rPr lang="fr-FR" sz="2400" noProof="0" dirty="0"/>
              <a:t>Protéines/</a:t>
            </a:r>
            <a:r>
              <a:rPr lang="fr-FR" sz="2400" noProof="0" dirty="0" err="1"/>
              <a:t>Protéinates</a:t>
            </a:r>
            <a:r>
              <a:rPr lang="fr-FR" sz="2400" noProof="0" dirty="0"/>
              <a:t>: 75 g/l surtout résidus des AA basiques.</a:t>
            </a:r>
          </a:p>
          <a:p>
            <a:r>
              <a:rPr lang="fr-FR" sz="2400" noProof="0" dirty="0"/>
              <a:t>Phosphates :# 1 </a:t>
            </a:r>
            <a:r>
              <a:rPr lang="fr-FR" sz="2400" noProof="0" dirty="0" err="1"/>
              <a:t>mmol</a:t>
            </a:r>
            <a:r>
              <a:rPr lang="fr-FR" sz="2400" noProof="0" dirty="0"/>
              <a:t>/l : PO</a:t>
            </a:r>
            <a:r>
              <a:rPr lang="fr-FR" sz="2400" baseline="-25000" noProof="0" dirty="0"/>
              <a:t>4</a:t>
            </a:r>
            <a:r>
              <a:rPr lang="fr-FR" sz="2400" noProof="0" dirty="0"/>
              <a:t>HNa</a:t>
            </a:r>
            <a:r>
              <a:rPr lang="fr-FR" sz="2400" baseline="-25000" noProof="0" dirty="0"/>
              <a:t>2 </a:t>
            </a:r>
            <a:r>
              <a:rPr lang="fr-FR" sz="2400" noProof="0" dirty="0"/>
              <a:t>85 % / PO</a:t>
            </a:r>
            <a:r>
              <a:rPr lang="fr-FR" sz="2400" baseline="-25000" noProof="0" dirty="0"/>
              <a:t>4</a:t>
            </a:r>
            <a:r>
              <a:rPr lang="fr-FR" sz="2400" noProof="0" dirty="0"/>
              <a:t>H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Na 15 %</a:t>
            </a:r>
          </a:p>
        </p:txBody>
      </p:sp>
    </p:spTree>
    <p:extLst>
      <p:ext uri="{BB962C8B-B14F-4D97-AF65-F5344CB8AC3E}">
        <p14:creationId xmlns:p14="http://schemas.microsoft.com/office/powerpoint/2010/main" val="4134004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Tampon H</a:t>
            </a:r>
            <a:r>
              <a:rPr lang="fr-FR" baseline="-25000" noProof="0" dirty="0"/>
              <a:t>2</a:t>
            </a:r>
            <a:r>
              <a:rPr lang="fr-FR" noProof="0" dirty="0"/>
              <a:t>CO</a:t>
            </a:r>
            <a:r>
              <a:rPr lang="fr-FR" baseline="-25000" noProof="0" dirty="0"/>
              <a:t>3</a:t>
            </a:r>
            <a:r>
              <a:rPr lang="fr-FR" noProof="0" dirty="0"/>
              <a:t>/HCO</a:t>
            </a:r>
            <a:r>
              <a:rPr lang="fr-FR" baseline="-25000" noProof="0" dirty="0"/>
              <a:t>3</a:t>
            </a:r>
            <a:r>
              <a:rPr lang="fr-FR" baseline="30000" noProof="0" dirty="0"/>
              <a:t>-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2500"/>
          </a:bodyPr>
          <a:lstStyle/>
          <a:p>
            <a:r>
              <a:rPr lang="fr-FR" sz="2600" b="1" noProof="0" dirty="0"/>
              <a:t>le plus important des systèmes tampons</a:t>
            </a:r>
          </a:p>
          <a:p>
            <a:r>
              <a:rPr lang="fr-FR" sz="2600" noProof="0" dirty="0"/>
              <a:t>Système très efficace : il ne se sature pas</a:t>
            </a:r>
          </a:p>
          <a:p>
            <a:endParaRPr lang="fr-FR" sz="2600" noProof="0" dirty="0"/>
          </a:p>
          <a:p>
            <a:r>
              <a:rPr lang="fr-FR" sz="2600" noProof="0" dirty="0"/>
              <a:t>Système ouvert: </a:t>
            </a:r>
          </a:p>
          <a:p>
            <a:endParaRPr lang="fr-FR" sz="2600" noProof="0" dirty="0"/>
          </a:p>
          <a:p>
            <a:endParaRPr lang="fr-FR" sz="2600" noProof="0" dirty="0"/>
          </a:p>
          <a:p>
            <a:r>
              <a:rPr lang="fr-FR" sz="2600" noProof="0" dirty="0"/>
              <a:t> Les HCO</a:t>
            </a:r>
            <a:r>
              <a:rPr lang="fr-FR" sz="2600" baseline="30000" noProof="0" dirty="0"/>
              <a:t>-</a:t>
            </a:r>
            <a:r>
              <a:rPr lang="fr-FR" sz="2600" baseline="-25000" noProof="0" dirty="0"/>
              <a:t>3</a:t>
            </a:r>
            <a:r>
              <a:rPr lang="fr-FR" sz="2600" noProof="0" dirty="0"/>
              <a:t> plasmatiques sont ainsi disponibles pour tamponner les excès d’ions H</a:t>
            </a:r>
            <a:r>
              <a:rPr lang="fr-FR" sz="2600" baseline="30000" noProof="0" dirty="0"/>
              <a:t> +</a:t>
            </a:r>
            <a:r>
              <a:rPr lang="fr-FR" sz="2600" noProof="0" dirty="0"/>
              <a:t> d’origine métabolique.</a:t>
            </a:r>
          </a:p>
          <a:p>
            <a:r>
              <a:rPr lang="fr-FR" sz="2600" noProof="0" dirty="0"/>
              <a:t>Système en interaction avec le système </a:t>
            </a:r>
            <a:r>
              <a:rPr lang="fr-FR" sz="2600" noProof="0" dirty="0" err="1"/>
              <a:t>Hb</a:t>
            </a:r>
            <a:r>
              <a:rPr lang="fr-FR" sz="2600" noProof="0" dirty="0"/>
              <a:t>/</a:t>
            </a:r>
            <a:r>
              <a:rPr lang="fr-FR" sz="2600" noProof="0" dirty="0" err="1"/>
              <a:t>Hémoglobinate</a:t>
            </a:r>
            <a:r>
              <a:rPr lang="fr-FR" sz="2600" noProof="0" dirty="0"/>
              <a:t>.</a:t>
            </a:r>
          </a:p>
          <a:p>
            <a:r>
              <a:rPr lang="fr-FR" sz="2600" noProof="0" dirty="0"/>
              <a:t> Système contrôlé par le poumon et le rein.</a:t>
            </a:r>
          </a:p>
          <a:p>
            <a:endParaRPr lang="fr-FR" b="1" noProof="0" dirty="0"/>
          </a:p>
          <a:p>
            <a:endParaRPr lang="fr-FR" noProof="0" dirty="0"/>
          </a:p>
        </p:txBody>
      </p:sp>
      <p:sp>
        <p:nvSpPr>
          <p:cNvPr id="8" name="Flèche courbée vers le haut 7"/>
          <p:cNvSpPr/>
          <p:nvPr>
            <p:custDataLst>
              <p:tags r:id="rId3"/>
            </p:custDataLst>
          </p:nvPr>
        </p:nvSpPr>
        <p:spPr>
          <a:xfrm>
            <a:off x="3059832" y="3085122"/>
            <a:ext cx="714380" cy="28575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solidFill>
                <a:schemeClr val="tx1"/>
              </a:solidFill>
            </a:endParaRPr>
          </a:p>
        </p:txBody>
      </p:sp>
      <p:pic>
        <p:nvPicPr>
          <p:cNvPr id="4" name="Picture 14" descr="Anhydrase carbonique : définition et explications">
            <a:extLst>
              <a:ext uri="{FF2B5EF4-FFF2-40B4-BE49-F238E27FC236}">
                <a16:creationId xmlns:a16="http://schemas.microsoft.com/office/drawing/2014/main" id="{D63CB249-A934-092B-B377-504DEC5A6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410560"/>
            <a:ext cx="5220072" cy="648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Grp="1" noChangeAspect="1" noChangeArrowheads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0" y="1214422"/>
            <a:ext cx="9143999" cy="5643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noProof="0" dirty="0"/>
              <a:t>Formes de transport du CO2 sanguin</a:t>
            </a:r>
          </a:p>
          <a:p>
            <a:pPr>
              <a:buNone/>
            </a:pPr>
            <a:endParaRPr lang="fr-FR" sz="2400" noProof="0" dirty="0"/>
          </a:p>
          <a:p>
            <a:pPr>
              <a:buNone/>
            </a:pPr>
            <a:r>
              <a:rPr lang="fr-FR" sz="2400" noProof="0" dirty="0"/>
              <a:t>1. Dissous ( 5% )</a:t>
            </a:r>
          </a:p>
          <a:p>
            <a:pPr marL="0" indent="0">
              <a:buNone/>
            </a:pPr>
            <a:r>
              <a:rPr lang="fr-FR" sz="2400" noProof="0" dirty="0"/>
              <a:t>CO2 + H2O &lt;===&gt; H2CO3</a:t>
            </a:r>
          </a:p>
          <a:p>
            <a:pPr>
              <a:buNone/>
            </a:pPr>
            <a:endParaRPr lang="fr-FR" sz="2400" noProof="0" dirty="0"/>
          </a:p>
          <a:p>
            <a:pPr>
              <a:buNone/>
            </a:pPr>
            <a:r>
              <a:rPr lang="fr-FR" sz="2400" noProof="0" dirty="0"/>
              <a:t>2. Sous forme de carbamate ( 5% )</a:t>
            </a:r>
          </a:p>
          <a:p>
            <a:pPr marL="0" indent="0">
              <a:buNone/>
            </a:pPr>
            <a:r>
              <a:rPr lang="fr-FR" sz="2400" noProof="0" dirty="0"/>
              <a:t>R-NH2 + CO2 &lt;===&gt; R-NH-COOH</a:t>
            </a:r>
          </a:p>
          <a:p>
            <a:pPr marL="0" indent="0">
              <a:buNone/>
            </a:pPr>
            <a:endParaRPr lang="fr-FR" sz="2400" noProof="0" dirty="0"/>
          </a:p>
          <a:p>
            <a:pPr marL="0" indent="0">
              <a:buNone/>
            </a:pPr>
            <a:r>
              <a:rPr lang="fr-FR" sz="2400" noProof="0" dirty="0"/>
              <a:t>3. Sous forme de bicarbonate ( 90% 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Tampon </a:t>
            </a:r>
            <a:r>
              <a:rPr lang="fr-FR" noProof="0" dirty="0" err="1"/>
              <a:t>Hb</a:t>
            </a:r>
            <a:r>
              <a:rPr lang="fr-FR" noProof="0" dirty="0"/>
              <a:t>/</a:t>
            </a:r>
            <a:r>
              <a:rPr lang="fr-FR" noProof="0" dirty="0" err="1"/>
              <a:t>Hémoglobinate</a:t>
            </a:r>
            <a:endParaRPr lang="fr-FR" noProof="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417638"/>
            <a:ext cx="8229600" cy="4891682"/>
          </a:xfrm>
        </p:spPr>
        <p:txBody>
          <a:bodyPr>
            <a:normAutofit fontScale="55000" lnSpcReduction="20000"/>
          </a:bodyPr>
          <a:lstStyle/>
          <a:p>
            <a:r>
              <a:rPr lang="fr-FR" sz="4400" noProof="0" dirty="0"/>
              <a:t>Système plus actif et + important quantitativement que les protéines.</a:t>
            </a:r>
          </a:p>
          <a:p>
            <a:r>
              <a:rPr lang="fr-FR" sz="4400" noProof="0" dirty="0"/>
              <a:t>Rôle tampon de l’hémoglobine :</a:t>
            </a:r>
          </a:p>
          <a:p>
            <a:pPr>
              <a:buNone/>
            </a:pPr>
            <a:endParaRPr lang="fr-FR" sz="3800" noProof="0" dirty="0"/>
          </a:p>
          <a:p>
            <a:pPr marL="514350" indent="-514350">
              <a:buAutoNum type="arabicParenR"/>
            </a:pPr>
            <a:r>
              <a:rPr lang="fr-FR" sz="4400" noProof="0" dirty="0"/>
              <a:t>Fixation de CO</a:t>
            </a:r>
            <a:r>
              <a:rPr lang="fr-FR" sz="4400" baseline="-25000" noProof="0" dirty="0"/>
              <a:t>2  </a:t>
            </a:r>
            <a:r>
              <a:rPr lang="fr-FR" sz="4400" noProof="0" dirty="0" err="1"/>
              <a:t>Hb</a:t>
            </a:r>
            <a:r>
              <a:rPr lang="fr-FR" sz="4400" noProof="0" dirty="0"/>
              <a:t> </a:t>
            </a:r>
            <a:r>
              <a:rPr lang="fr-FR" sz="4400" noProof="0" dirty="0" err="1"/>
              <a:t>carbaminée</a:t>
            </a:r>
            <a:r>
              <a:rPr lang="fr-FR" sz="4400" noProof="0" dirty="0"/>
              <a:t> :</a:t>
            </a:r>
          </a:p>
          <a:p>
            <a:pPr marL="514350" indent="-514350">
              <a:buAutoNum type="arabicParenR"/>
            </a:pPr>
            <a:endParaRPr lang="fr-FR" sz="3800" noProof="0" dirty="0"/>
          </a:p>
          <a:p>
            <a:pPr marL="0" indent="0">
              <a:buNone/>
            </a:pPr>
            <a:r>
              <a:rPr lang="fr-FR" sz="3800" noProof="0" dirty="0"/>
              <a:t>           </a:t>
            </a:r>
            <a:r>
              <a:rPr lang="fr-FR" sz="4400" noProof="0" dirty="0"/>
              <a:t>Hb-NH2 + CO2                                </a:t>
            </a:r>
            <a:r>
              <a:rPr lang="fr-FR" sz="4400" noProof="0" dirty="0" err="1"/>
              <a:t>Hb</a:t>
            </a:r>
            <a:r>
              <a:rPr lang="fr-FR" sz="4400" noProof="0" dirty="0"/>
              <a:t>-NH-COO- + H+</a:t>
            </a:r>
          </a:p>
          <a:p>
            <a:pPr>
              <a:buNone/>
            </a:pPr>
            <a:endParaRPr lang="fr-FR" sz="3800" baseline="30000" noProof="0" dirty="0"/>
          </a:p>
          <a:p>
            <a:pPr>
              <a:buNone/>
            </a:pPr>
            <a:endParaRPr lang="fr-FR" sz="3800" noProof="0" dirty="0"/>
          </a:p>
          <a:p>
            <a:pPr>
              <a:buNone/>
            </a:pPr>
            <a:r>
              <a:rPr lang="fr-FR" sz="3800" noProof="0" dirty="0"/>
              <a:t>2</a:t>
            </a:r>
            <a:r>
              <a:rPr lang="fr-FR" sz="4400" noProof="0" dirty="0"/>
              <a:t>) Réactivité du groupement imidazole de l’histidine:</a:t>
            </a:r>
          </a:p>
          <a:p>
            <a:pPr>
              <a:buNone/>
            </a:pPr>
            <a:endParaRPr lang="fr-FR" sz="4400" noProof="0" dirty="0"/>
          </a:p>
          <a:p>
            <a:r>
              <a:rPr lang="fr-FR" sz="4400" noProof="0" dirty="0" err="1"/>
              <a:t>HbH</a:t>
            </a:r>
            <a:r>
              <a:rPr lang="fr-FR" sz="4400" noProof="0" dirty="0"/>
              <a:t>                </a:t>
            </a:r>
            <a:r>
              <a:rPr lang="fr-FR" sz="4400" noProof="0" dirty="0" err="1"/>
              <a:t>Hb</a:t>
            </a:r>
            <a:r>
              <a:rPr lang="fr-FR" sz="4400" baseline="30000" noProof="0" dirty="0"/>
              <a:t>-</a:t>
            </a:r>
            <a:r>
              <a:rPr lang="fr-FR" sz="4400" noProof="0" dirty="0"/>
              <a:t> + H</a:t>
            </a:r>
            <a:r>
              <a:rPr lang="fr-FR" sz="4400" baseline="30000" noProof="0" dirty="0"/>
              <a:t>+                            </a:t>
            </a:r>
            <a:r>
              <a:rPr lang="fr-FR" sz="4400" noProof="0" dirty="0"/>
              <a:t>              </a:t>
            </a:r>
            <a:r>
              <a:rPr lang="fr-FR" sz="4400" noProof="0" dirty="0" err="1"/>
              <a:t>pK</a:t>
            </a:r>
            <a:r>
              <a:rPr lang="fr-FR" sz="4400" noProof="0" dirty="0"/>
              <a:t>= 7,83</a:t>
            </a:r>
          </a:p>
          <a:p>
            <a:endParaRPr lang="fr-FR" sz="3800" noProof="0" dirty="0"/>
          </a:p>
          <a:p>
            <a:r>
              <a:rPr lang="fr-FR" sz="4400" noProof="0" dirty="0"/>
              <a:t>HbO2H               HbO</a:t>
            </a:r>
            <a:r>
              <a:rPr lang="fr-FR" sz="4400" baseline="30000" noProof="0" dirty="0"/>
              <a:t>-</a:t>
            </a:r>
            <a:r>
              <a:rPr lang="fr-FR" sz="4400" baseline="-25000" noProof="0" dirty="0"/>
              <a:t>2</a:t>
            </a:r>
            <a:r>
              <a:rPr lang="fr-FR" sz="4400" noProof="0" dirty="0"/>
              <a:t>  + H</a:t>
            </a:r>
            <a:r>
              <a:rPr lang="fr-FR" sz="4400" baseline="30000" noProof="0" dirty="0"/>
              <a:t>+                                   </a:t>
            </a:r>
            <a:r>
              <a:rPr lang="fr-FR" sz="4400" noProof="0" dirty="0" err="1"/>
              <a:t>pK</a:t>
            </a:r>
            <a:r>
              <a:rPr lang="fr-FR" sz="4400" noProof="0" dirty="0"/>
              <a:t>= 6,60</a:t>
            </a:r>
          </a:p>
          <a:p>
            <a:pPr marL="0" indent="0">
              <a:buNone/>
            </a:pPr>
            <a:endParaRPr lang="fr-FR" noProof="0" dirty="0"/>
          </a:p>
        </p:txBody>
      </p:sp>
      <p:cxnSp>
        <p:nvCxnSpPr>
          <p:cNvPr id="10" name="Connecteur droit avec flèche 9"/>
          <p:cNvCxnSpPr/>
          <p:nvPr>
            <p:custDataLst>
              <p:tags r:id="rId3"/>
            </p:custDataLst>
          </p:nvPr>
        </p:nvCxnSpPr>
        <p:spPr>
          <a:xfrm>
            <a:off x="1619672" y="5229200"/>
            <a:ext cx="785818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/>
          <p:nvPr>
            <p:custDataLst>
              <p:tags r:id="rId4"/>
            </p:custDataLst>
          </p:nvPr>
        </p:nvCxnSpPr>
        <p:spPr>
          <a:xfrm>
            <a:off x="1915159" y="5947263"/>
            <a:ext cx="785818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ECBA9FE6-A604-D80C-31BA-05902EEEDD49}"/>
              </a:ext>
            </a:extLst>
          </p:cNvPr>
          <p:cNvCxnSpPr>
            <a:cxnSpLocks/>
          </p:cNvCxnSpPr>
          <p:nvPr/>
        </p:nvCxnSpPr>
        <p:spPr>
          <a:xfrm>
            <a:off x="3131840" y="3645024"/>
            <a:ext cx="194421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B1CC828-62DD-8BFF-5D9E-A0AF282D92B7}"/>
              </a:ext>
            </a:extLst>
          </p:cNvPr>
          <p:cNvSpPr/>
          <p:nvPr/>
        </p:nvSpPr>
        <p:spPr>
          <a:xfrm>
            <a:off x="1115616" y="3421598"/>
            <a:ext cx="6408712" cy="3425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214282" y="285728"/>
            <a:ext cx="8715436" cy="635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La régulation respiratoire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417638"/>
            <a:ext cx="8229600" cy="4891682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fr-FR" sz="2400" noProof="0" dirty="0"/>
              <a:t>                     Variation du pH sanguin</a:t>
            </a:r>
          </a:p>
          <a:p>
            <a:pPr>
              <a:buNone/>
            </a:pPr>
            <a:endParaRPr lang="fr-FR" sz="2200" noProof="0" dirty="0"/>
          </a:p>
          <a:p>
            <a:pPr algn="ctr">
              <a:buNone/>
            </a:pPr>
            <a:r>
              <a:rPr lang="fr-FR" sz="2200" noProof="0" dirty="0"/>
              <a:t>                     </a:t>
            </a:r>
            <a:r>
              <a:rPr lang="fr-FR" sz="2400" noProof="0" dirty="0"/>
              <a:t>Variation du pH du LCR</a:t>
            </a:r>
          </a:p>
          <a:p>
            <a:pPr>
              <a:buNone/>
            </a:pPr>
            <a:endParaRPr lang="fr-FR" sz="2200" noProof="0" dirty="0"/>
          </a:p>
          <a:p>
            <a:pPr algn="ctr">
              <a:buNone/>
            </a:pPr>
            <a:r>
              <a:rPr lang="fr-FR" sz="2400" noProof="0" dirty="0"/>
              <a:t>PCO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 </a:t>
            </a:r>
            <a:r>
              <a:rPr lang="fr-FR" sz="2200" noProof="0" dirty="0"/>
              <a:t>         </a:t>
            </a:r>
            <a:r>
              <a:rPr lang="fr-FR" sz="2400" noProof="0" dirty="0"/>
              <a:t>Chémorécepteurs centraux</a:t>
            </a:r>
          </a:p>
          <a:p>
            <a:pPr algn="ctr">
              <a:buNone/>
            </a:pPr>
            <a:r>
              <a:rPr lang="fr-FR" sz="2400" noProof="0" dirty="0"/>
              <a:t>                      (centre respiratoire bulbaire)</a:t>
            </a:r>
          </a:p>
          <a:p>
            <a:pPr>
              <a:buNone/>
            </a:pPr>
            <a:endParaRPr lang="fr-FR" sz="2200" noProof="0" dirty="0"/>
          </a:p>
          <a:p>
            <a:pPr algn="ctr">
              <a:buNone/>
            </a:pPr>
            <a:r>
              <a:rPr lang="fr-FR" sz="2200" noProof="0" dirty="0"/>
              <a:t>                  </a:t>
            </a:r>
            <a:r>
              <a:rPr lang="fr-FR" sz="2400" noProof="0" dirty="0"/>
              <a:t>Modification de la fréquence et de l’amplitude respiratoire</a:t>
            </a:r>
          </a:p>
          <a:p>
            <a:endParaRPr lang="fr-FR" sz="1800" noProof="0" dirty="0"/>
          </a:p>
          <a:p>
            <a:pPr marL="0" indent="0">
              <a:buNone/>
            </a:pPr>
            <a:r>
              <a:rPr lang="fr-FR" sz="2400" noProof="0" dirty="0"/>
              <a:t>Sensibilité aussi à la PO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 (Chémorécepteurs carotidiens et aortiques)</a:t>
            </a:r>
          </a:p>
          <a:p>
            <a:endParaRPr lang="fr-FR" sz="1800" noProof="0" dirty="0"/>
          </a:p>
        </p:txBody>
      </p:sp>
      <p:sp>
        <p:nvSpPr>
          <p:cNvPr id="4" name="Flèche vers le bas 3"/>
          <p:cNvSpPr/>
          <p:nvPr>
            <p:custDataLst>
              <p:tags r:id="rId3"/>
            </p:custDataLst>
          </p:nvPr>
        </p:nvSpPr>
        <p:spPr>
          <a:xfrm>
            <a:off x="4894766" y="1750509"/>
            <a:ext cx="290882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Flèche vers le bas 4"/>
          <p:cNvSpPr/>
          <p:nvPr>
            <p:custDataLst>
              <p:tags r:id="rId4"/>
            </p:custDataLst>
          </p:nvPr>
        </p:nvSpPr>
        <p:spPr>
          <a:xfrm>
            <a:off x="4894766" y="2532173"/>
            <a:ext cx="290882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Flèche vers le bas 5"/>
          <p:cNvSpPr/>
          <p:nvPr>
            <p:custDataLst>
              <p:tags r:id="rId5"/>
            </p:custDataLst>
          </p:nvPr>
        </p:nvSpPr>
        <p:spPr>
          <a:xfrm>
            <a:off x="4899557" y="3701071"/>
            <a:ext cx="290882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Flèche courbée vers la gauche 6"/>
          <p:cNvSpPr/>
          <p:nvPr>
            <p:custDataLst>
              <p:tags r:id="rId6"/>
            </p:custDataLst>
          </p:nvPr>
        </p:nvSpPr>
        <p:spPr>
          <a:xfrm>
            <a:off x="3131840" y="3032239"/>
            <a:ext cx="231454" cy="78752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3076E4-F161-32CA-74CD-652358BFB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1981A6-E1BC-1132-A646-671D298F9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</p:txBody>
      </p:sp>
      <p:pic>
        <p:nvPicPr>
          <p:cNvPr id="5" name="Image 4" descr="Une image contenant texte, capture d’écra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5ECA1512-BEA5-65B4-FBE5-8283BE93D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7" y="1211496"/>
            <a:ext cx="8615666" cy="492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330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Régulation rénale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fr-FR" sz="2400" noProof="0" dirty="0"/>
              <a:t>Système + lent mais + durable que le poumon</a:t>
            </a:r>
          </a:p>
          <a:p>
            <a:r>
              <a:rPr lang="fr-FR" sz="2400" noProof="0" dirty="0"/>
              <a:t> Rôle d’économiseurs de bases :</a:t>
            </a:r>
          </a:p>
          <a:p>
            <a:pPr>
              <a:buNone/>
            </a:pPr>
            <a:r>
              <a:rPr lang="fr-FR" sz="2400" noProof="0" dirty="0"/>
              <a:t>- Excrétion d’acides libres: H</a:t>
            </a:r>
            <a:r>
              <a:rPr lang="fr-FR" sz="2400" baseline="30000" noProof="0" dirty="0"/>
              <a:t>+</a:t>
            </a:r>
            <a:r>
              <a:rPr lang="fr-FR" sz="2400" noProof="0" dirty="0"/>
              <a:t>, acide urique, corps cétoniques</a:t>
            </a:r>
          </a:p>
          <a:p>
            <a:pPr>
              <a:buNone/>
            </a:pPr>
            <a:r>
              <a:rPr lang="fr-FR" sz="2400" noProof="0" dirty="0"/>
              <a:t>- Action sur le tampon H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PO</a:t>
            </a:r>
            <a:r>
              <a:rPr lang="fr-FR" sz="2400" baseline="30000" noProof="0" dirty="0"/>
              <a:t>-</a:t>
            </a:r>
            <a:r>
              <a:rPr lang="fr-FR" sz="2400" baseline="-25000" noProof="0" dirty="0"/>
              <a:t>4</a:t>
            </a:r>
            <a:r>
              <a:rPr lang="fr-FR" sz="2400" noProof="0" dirty="0"/>
              <a:t>/HPO</a:t>
            </a:r>
            <a:r>
              <a:rPr lang="fr-FR" sz="2400" baseline="30000" noProof="0" dirty="0"/>
              <a:t>-2</a:t>
            </a:r>
            <a:r>
              <a:rPr lang="fr-FR" sz="2400" baseline="-25000" noProof="0" dirty="0"/>
              <a:t>4</a:t>
            </a:r>
          </a:p>
          <a:p>
            <a:pPr>
              <a:buNone/>
            </a:pPr>
            <a:r>
              <a:rPr lang="fr-FR" sz="2400" noProof="0" dirty="0"/>
              <a:t>- Production rénale de NH</a:t>
            </a:r>
            <a:r>
              <a:rPr lang="fr-FR" sz="2400" baseline="30000" noProof="0" dirty="0"/>
              <a:t>+</a:t>
            </a:r>
            <a:r>
              <a:rPr lang="fr-FR" sz="2400" baseline="-25000" noProof="0" dirty="0"/>
              <a:t>4</a:t>
            </a:r>
          </a:p>
          <a:p>
            <a:pPr>
              <a:buNone/>
            </a:pPr>
            <a:endParaRPr lang="fr-FR" sz="1800" noProof="0" dirty="0"/>
          </a:p>
          <a:p>
            <a:pPr algn="ctr">
              <a:buNone/>
            </a:pPr>
            <a:r>
              <a:rPr lang="fr-FR" sz="2400" noProof="0" dirty="0"/>
              <a:t>Variation du pH</a:t>
            </a:r>
          </a:p>
          <a:p>
            <a:pPr algn="ctr">
              <a:buNone/>
            </a:pPr>
            <a:endParaRPr lang="fr-FR" sz="1800" noProof="0" dirty="0"/>
          </a:p>
          <a:p>
            <a:pPr>
              <a:buNone/>
            </a:pPr>
            <a:r>
              <a:rPr lang="fr-FR" sz="1800" noProof="0" dirty="0"/>
              <a:t>     </a:t>
            </a:r>
          </a:p>
          <a:p>
            <a:pPr>
              <a:buNone/>
            </a:pPr>
            <a:r>
              <a:rPr lang="fr-FR" sz="2400" noProof="0" dirty="0"/>
              <a:t>   Excrétion des HCO</a:t>
            </a:r>
            <a:r>
              <a:rPr lang="fr-FR" sz="2400" baseline="30000" noProof="0" dirty="0"/>
              <a:t>-</a:t>
            </a:r>
            <a:r>
              <a:rPr lang="fr-FR" sz="2400" baseline="-25000" noProof="0" dirty="0"/>
              <a:t>3</a:t>
            </a:r>
            <a:r>
              <a:rPr lang="fr-FR" sz="2400" noProof="0" dirty="0"/>
              <a:t>                                          Excrétion des H</a:t>
            </a:r>
            <a:r>
              <a:rPr lang="fr-FR" sz="2400" baseline="30000" noProof="0" dirty="0"/>
              <a:t>+</a:t>
            </a:r>
          </a:p>
          <a:p>
            <a:pPr>
              <a:buNone/>
            </a:pPr>
            <a:r>
              <a:rPr lang="fr-FR" sz="2400" noProof="0" dirty="0"/>
              <a:t>   Réabsorption des HCO</a:t>
            </a:r>
            <a:r>
              <a:rPr lang="fr-FR" sz="2400" baseline="30000" noProof="0" dirty="0"/>
              <a:t>-</a:t>
            </a:r>
            <a:r>
              <a:rPr lang="fr-FR" sz="2400" baseline="-25000" noProof="0" dirty="0"/>
              <a:t>3</a:t>
            </a:r>
            <a:r>
              <a:rPr lang="fr-FR" sz="2400" noProof="0" dirty="0"/>
              <a:t> filtrés                       Régénération HCO</a:t>
            </a:r>
            <a:r>
              <a:rPr lang="fr-FR" sz="2400" baseline="-25000" noProof="0" dirty="0"/>
              <a:t>3</a:t>
            </a:r>
            <a:r>
              <a:rPr lang="fr-FR" sz="2400" baseline="30000" noProof="0" dirty="0"/>
              <a:t>-</a:t>
            </a:r>
          </a:p>
          <a:p>
            <a:pPr>
              <a:buNone/>
            </a:pPr>
            <a:endParaRPr lang="fr-FR" sz="1800" noProof="0" dirty="0"/>
          </a:p>
          <a:p>
            <a:pPr algn="ctr">
              <a:buNone/>
            </a:pPr>
            <a:endParaRPr lang="fr-FR" sz="1800" noProof="0" dirty="0"/>
          </a:p>
          <a:p>
            <a:pPr algn="ctr">
              <a:buNone/>
            </a:pPr>
            <a:endParaRPr lang="fr-FR" sz="1800" noProof="0" dirty="0"/>
          </a:p>
          <a:p>
            <a:pPr algn="ctr">
              <a:buNone/>
            </a:pPr>
            <a:endParaRPr lang="fr-FR" sz="1800" noProof="0" dirty="0"/>
          </a:p>
          <a:p>
            <a:pPr algn="ctr">
              <a:buNone/>
            </a:pPr>
            <a:endParaRPr lang="fr-FR" sz="1800" noProof="0" dirty="0"/>
          </a:p>
          <a:p>
            <a:pPr algn="ctr">
              <a:buNone/>
            </a:pPr>
            <a:endParaRPr lang="fr-FR" sz="1800" noProof="0" dirty="0"/>
          </a:p>
          <a:p>
            <a:pPr algn="ctr">
              <a:buNone/>
            </a:pPr>
            <a:endParaRPr lang="fr-FR" sz="1800" noProof="0" dirty="0"/>
          </a:p>
        </p:txBody>
      </p:sp>
      <p:cxnSp>
        <p:nvCxnSpPr>
          <p:cNvPr id="5" name="Connecteur droit avec flèche 4"/>
          <p:cNvCxnSpPr>
            <a:cxnSpLocks/>
          </p:cNvCxnSpPr>
          <p:nvPr>
            <p:custDataLst>
              <p:tags r:id="rId3"/>
            </p:custDataLst>
          </p:nvPr>
        </p:nvCxnSpPr>
        <p:spPr>
          <a:xfrm flipH="1">
            <a:off x="2555776" y="4575731"/>
            <a:ext cx="2014841" cy="5814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4573384" y="4562592"/>
            <a:ext cx="1942832" cy="6952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88C85C-25CF-E4FB-0290-186A515A6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22" y="3752849"/>
            <a:ext cx="4210045" cy="2452687"/>
          </a:xfrm>
        </p:spPr>
        <p:txBody>
          <a:bodyPr anchor="ctr">
            <a:normAutofit/>
          </a:bodyPr>
          <a:lstStyle/>
          <a:p>
            <a:pPr algn="l"/>
            <a:r>
              <a:rPr lang="fr-FR" sz="2400" noProof="0" dirty="0"/>
              <a:t>Tube contourné proximal : </a:t>
            </a:r>
            <a:br>
              <a:rPr lang="fr-FR" sz="2400" noProof="0" dirty="0"/>
            </a:br>
            <a:r>
              <a:rPr lang="fr-FR" sz="2400" noProof="0" dirty="0"/>
              <a:t>90% des bicarbonates filtrés sont réabsorbés. </a:t>
            </a:r>
            <a:br>
              <a:rPr lang="fr-FR" sz="2400" noProof="0" dirty="0"/>
            </a:br>
            <a:r>
              <a:rPr lang="fr-FR" sz="2400" noProof="0" dirty="0"/>
              <a:t>fonction de la PCO</a:t>
            </a:r>
            <a:r>
              <a:rPr lang="fr-FR" sz="2400" baseline="-25000" noProof="0" dirty="0"/>
              <a:t>2</a:t>
            </a:r>
            <a:br>
              <a:rPr lang="fr-FR" sz="2400" baseline="-25000" noProof="0" dirty="0"/>
            </a:br>
            <a:endParaRPr lang="fr-FR" sz="2400" noProof="0" dirty="0"/>
          </a:p>
        </p:txBody>
      </p:sp>
      <p:pic>
        <p:nvPicPr>
          <p:cNvPr id="5" name="Image 4" descr="Une image contenant texte, diagramme, ligne, Parallèle&#10;&#10;Le contenu généré par l’IA peut être incorrect.">
            <a:extLst>
              <a:ext uri="{FF2B5EF4-FFF2-40B4-BE49-F238E27FC236}">
                <a16:creationId xmlns:a16="http://schemas.microsoft.com/office/drawing/2014/main" id="{A484173D-63F0-8138-DE48-D6FF7C6804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40" b="18213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6662E4-F080-8A58-0DF0-933900AF0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3710614"/>
            <a:ext cx="4210046" cy="24949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600" noProof="0" dirty="0"/>
          </a:p>
          <a:p>
            <a:pPr marL="0" indent="0">
              <a:buNone/>
            </a:pPr>
            <a:endParaRPr lang="fr-FR" sz="1600" noProof="0" dirty="0"/>
          </a:p>
          <a:p>
            <a:pPr marL="0" indent="0">
              <a:buNone/>
            </a:pPr>
            <a:endParaRPr lang="fr-FR" sz="1600" noProof="0" dirty="0"/>
          </a:p>
          <a:p>
            <a:pPr marL="0" indent="0">
              <a:buNone/>
            </a:pPr>
            <a:endParaRPr lang="fr-FR" sz="1600" noProof="0" dirty="0"/>
          </a:p>
          <a:p>
            <a:pPr marL="0" indent="0">
              <a:buNone/>
            </a:pPr>
            <a:r>
              <a:rPr lang="fr-FR" sz="1600" noProof="0" dirty="0"/>
              <a:t>                                                                                                                                         </a:t>
            </a: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C499F20F-7432-F6DF-FE10-4E65F1D9F268}"/>
              </a:ext>
            </a:extLst>
          </p:cNvPr>
          <p:cNvSpPr txBox="1">
            <a:spLocks/>
          </p:cNvSpPr>
          <p:nvPr/>
        </p:nvSpPr>
        <p:spPr>
          <a:xfrm>
            <a:off x="4572000" y="3710613"/>
            <a:ext cx="4210045" cy="2670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2900" noProof="0" dirty="0"/>
              <a:t>Tube contourné distal</a:t>
            </a:r>
          </a:p>
          <a:p>
            <a:pPr algn="l"/>
            <a:r>
              <a:rPr lang="fr-FR" sz="2900" noProof="0" dirty="0"/>
              <a:t>Elimination d’ions H</a:t>
            </a:r>
            <a:r>
              <a:rPr lang="fr-FR" sz="2900" baseline="30000" noProof="0" dirty="0"/>
              <a:t>+</a:t>
            </a:r>
            <a:r>
              <a:rPr lang="fr-FR" sz="2900" noProof="0" dirty="0"/>
              <a:t> :</a:t>
            </a:r>
          </a:p>
          <a:p>
            <a:pPr algn="l"/>
            <a:r>
              <a:rPr lang="fr-FR" sz="2900" noProof="0" dirty="0"/>
              <a:t>Phosphates monoacides</a:t>
            </a:r>
          </a:p>
          <a:p>
            <a:pPr algn="l"/>
            <a:r>
              <a:rPr lang="fr-FR" sz="3200" noProof="0" dirty="0"/>
              <a:t>                </a:t>
            </a:r>
            <a:r>
              <a:rPr lang="fr-FR" sz="2900" noProof="0" dirty="0"/>
              <a:t>Phosphates Diacides</a:t>
            </a:r>
          </a:p>
          <a:p>
            <a:pPr algn="l"/>
            <a:r>
              <a:rPr lang="fr-FR" sz="2900" noProof="0" dirty="0"/>
              <a:t>NH</a:t>
            </a:r>
            <a:r>
              <a:rPr lang="fr-FR" sz="2900" baseline="-25000" noProof="0" dirty="0"/>
              <a:t>3</a:t>
            </a:r>
            <a:r>
              <a:rPr lang="fr-FR" sz="2900" noProof="0" dirty="0"/>
              <a:t>                  NH</a:t>
            </a:r>
            <a:r>
              <a:rPr lang="fr-FR" sz="2900" baseline="30000" noProof="0" dirty="0"/>
              <a:t>+</a:t>
            </a:r>
            <a:r>
              <a:rPr lang="fr-FR" sz="2900" baseline="-25000" noProof="0" dirty="0"/>
              <a:t>4</a:t>
            </a:r>
          </a:p>
          <a:p>
            <a:pPr algn="l"/>
            <a:endParaRPr lang="fr-FR" sz="3200" baseline="-25000" noProof="0" dirty="0"/>
          </a:p>
          <a:p>
            <a:pPr algn="l"/>
            <a:endParaRPr lang="fr-FR" sz="3200" baseline="-25000" noProof="0" dirty="0"/>
          </a:p>
          <a:p>
            <a:pPr algn="l"/>
            <a:r>
              <a:rPr lang="fr-FR" sz="3200" baseline="-25000" noProof="0" dirty="0"/>
              <a:t> </a:t>
            </a:r>
            <a:br>
              <a:rPr lang="fr-FR" sz="3200" baseline="-25000" noProof="0" dirty="0"/>
            </a:br>
            <a:r>
              <a:rPr lang="fr-FR" sz="3200" baseline="-25000" noProof="0" dirty="0"/>
              <a:t>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fr-FR" sz="3100" noProof="0" dirty="0"/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77C75F6E-76A1-C772-7570-3E0F010A6BBC}"/>
              </a:ext>
            </a:extLst>
          </p:cNvPr>
          <p:cNvSpPr/>
          <p:nvPr/>
        </p:nvSpPr>
        <p:spPr>
          <a:xfrm>
            <a:off x="4716016" y="4798550"/>
            <a:ext cx="978408" cy="1595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F5EB72EC-C2EC-5828-A348-17DCDC61FAD1}"/>
              </a:ext>
            </a:extLst>
          </p:cNvPr>
          <p:cNvSpPr/>
          <p:nvPr/>
        </p:nvSpPr>
        <p:spPr>
          <a:xfrm>
            <a:off x="5292080" y="5084524"/>
            <a:ext cx="978408" cy="1595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4BDD168-1472-0EA8-A615-53C9C79B821B}"/>
              </a:ext>
            </a:extLst>
          </p:cNvPr>
          <p:cNvSpPr txBox="1"/>
          <p:nvPr/>
        </p:nvSpPr>
        <p:spPr>
          <a:xfrm>
            <a:off x="4571999" y="5284722"/>
            <a:ext cx="4210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fr-FR" sz="2400" noProof="0" dirty="0"/>
              <a:t>1Na</a:t>
            </a:r>
            <a:r>
              <a:rPr lang="fr-FR" sz="2400" baseline="30000" noProof="0" dirty="0"/>
              <a:t>+</a:t>
            </a:r>
            <a:r>
              <a:rPr lang="fr-FR" sz="2400" noProof="0" dirty="0"/>
              <a:t> réabsorbé contre 1 H</a:t>
            </a:r>
            <a:r>
              <a:rPr lang="fr-FR" sz="2400" baseline="30000" noProof="0" dirty="0"/>
              <a:t>+</a:t>
            </a:r>
            <a:r>
              <a:rPr lang="fr-FR" sz="2400" noProof="0" dirty="0"/>
              <a:t> ou 1 K</a:t>
            </a:r>
            <a:r>
              <a:rPr lang="fr-FR" sz="2400" baseline="30000" noProof="0" dirty="0"/>
              <a:t>+ </a:t>
            </a:r>
            <a:r>
              <a:rPr lang="fr-FR" sz="2400" noProof="0" dirty="0"/>
              <a:t>(Interaction entre l’EAB et le métabolisme du potassium).</a:t>
            </a:r>
            <a:endParaRPr lang="fr-FR" sz="2400" baseline="30000" noProof="0" dirty="0"/>
          </a:p>
        </p:txBody>
      </p:sp>
    </p:spTree>
    <p:extLst>
      <p:ext uri="{BB962C8B-B14F-4D97-AF65-F5344CB8AC3E}">
        <p14:creationId xmlns:p14="http://schemas.microsoft.com/office/powerpoint/2010/main" val="36510007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7E806E6-8A31-EBC9-29F7-17B1768C3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br>
              <a:rPr lang="fr-FR" sz="42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fr-FR" sz="4200" b="1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EVALUATION DE L’EQUILIBRE ACIDE BASE </a:t>
            </a:r>
            <a:br>
              <a:rPr lang="fr-FR" sz="42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fr-FR" sz="4200" kern="1200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FE22C8-41BF-33A6-8BA5-9FFE8945D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fr-FR" sz="2400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fr-FR" sz="2400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63848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10CDCFB-1F2B-9EB1-C2B6-155E7BF26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br>
              <a:rPr lang="fr-FR" sz="42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fr-FR" sz="4200" b="1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A. Gaz du sang : </a:t>
            </a:r>
            <a:br>
              <a:rPr lang="fr-FR" sz="42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fr-FR" sz="4200" kern="1200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5FCF7FF-4675-65E1-F9E9-25F0824DB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fr-FR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97239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4A28C-E442-B71D-B2C0-4F1A2A10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66BC0F-FC48-EFD2-88E2-988A313E4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r>
              <a:rPr lang="fr-FR" sz="4900" dirty="0"/>
              <a:t>Indications de la gazométrie</a:t>
            </a:r>
            <a:br>
              <a:rPr lang="fr-FR" sz="4900" dirty="0"/>
            </a:br>
            <a:br>
              <a:rPr lang="fr-FR" sz="4900" noProof="0" dirty="0"/>
            </a:br>
            <a:endParaRPr lang="fr-FR" sz="4900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AB8F3C-B66B-63F9-FBDF-14D38D1CC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FR" sz="2400" noProof="0" dirty="0"/>
          </a:p>
          <a:p>
            <a:r>
              <a:rPr lang="fr-FR" sz="2400" noProof="0" dirty="0"/>
              <a:t>Dyspnée.</a:t>
            </a:r>
          </a:p>
          <a:p>
            <a:r>
              <a:rPr lang="fr-FR" sz="2400" noProof="0" dirty="0"/>
              <a:t>Suspicion de pathologie pulmonaire </a:t>
            </a:r>
            <a:r>
              <a:rPr lang="fr-FR" sz="2400" noProof="0" dirty="0" err="1"/>
              <a:t>hypoxémiante</a:t>
            </a:r>
            <a:r>
              <a:rPr lang="fr-FR" sz="2400" noProof="0" dirty="0"/>
              <a:t>.</a:t>
            </a:r>
          </a:p>
          <a:p>
            <a:r>
              <a:rPr lang="fr-FR" sz="2400" noProof="0" dirty="0"/>
              <a:t>Suspicion clinique de déséquilibre acido-basique.</a:t>
            </a:r>
          </a:p>
          <a:p>
            <a:r>
              <a:rPr lang="fr-FR" sz="2400" noProof="0" dirty="0"/>
              <a:t>Insuffisance rénale aigue sévère.</a:t>
            </a:r>
          </a:p>
          <a:p>
            <a:r>
              <a:rPr lang="fr-FR" sz="2400" noProof="0" dirty="0"/>
              <a:t>Etat de choc.</a:t>
            </a:r>
          </a:p>
        </p:txBody>
      </p:sp>
    </p:spTree>
    <p:extLst>
      <p:ext uri="{BB962C8B-B14F-4D97-AF65-F5344CB8AC3E}">
        <p14:creationId xmlns:p14="http://schemas.microsoft.com/office/powerpoint/2010/main" val="23303776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0C330D-9B5E-6BAA-32CB-8E2F0981B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Réalisation te</a:t>
            </a:r>
            <a:r>
              <a:rPr lang="fr-FR" noProof="0" dirty="0" err="1"/>
              <a:t>chnique</a:t>
            </a:r>
            <a:r>
              <a:rPr lang="fr-FR" noProof="0" dirty="0"/>
              <a:t> </a:t>
            </a:r>
            <a:r>
              <a:rPr lang="fr-FR" dirty="0"/>
              <a:t>de la gazométrie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AB8506-B43D-0566-6943-04A4358C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noProof="0" dirty="0"/>
              <a:t>Sang prélevé sans air dans une seringue héparinée.</a:t>
            </a:r>
          </a:p>
          <a:p>
            <a:r>
              <a:rPr lang="fr-FR" sz="2400" noProof="0" dirty="0"/>
              <a:t>Dans une artère plutôt qu’une veine pour mesurer le pH. extracellulaire (le plus commun l’artère radiale au poignet).</a:t>
            </a:r>
          </a:p>
          <a:p>
            <a:r>
              <a:rPr lang="fr-FR" sz="2400" noProof="0" dirty="0"/>
              <a:t>Mesure de la pression partielle en O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 et en CO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 total, à partir duquel est calculée la </a:t>
            </a:r>
            <a:r>
              <a:rPr lang="fr-FR" sz="2400" noProof="0" dirty="0" err="1"/>
              <a:t>bicarbonatémie</a:t>
            </a:r>
            <a:r>
              <a:rPr lang="fr-FR" sz="2400" noProof="0" dirty="0"/>
              <a:t> (HCO</a:t>
            </a:r>
            <a:r>
              <a:rPr lang="fr-FR" sz="2400" baseline="-25000" noProof="0" dirty="0"/>
              <a:t>3</a:t>
            </a:r>
            <a:r>
              <a:rPr lang="fr-FR" sz="2400" baseline="30000" noProof="0" dirty="0"/>
              <a:t>–</a:t>
            </a:r>
            <a:r>
              <a:rPr lang="fr-FR" sz="2400" noProof="0" dirty="0"/>
              <a:t>).</a:t>
            </a:r>
          </a:p>
          <a:p>
            <a:endParaRPr lang="fr-FR" sz="2400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EE22F9D-7AC3-1D52-B238-B202792D4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4221088"/>
            <a:ext cx="7704856" cy="144016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DE87BC3-90A2-C991-5143-B318D68CD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3863180"/>
            <a:ext cx="4584879" cy="35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1203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BB5D36F-41D6-E9E9-1F76-E82A021B4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42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Interprétation de la gazométrie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B19A9A-0745-A5CA-4E4D-1016BB950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fr-FR" sz="2400" b="1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fr-FR" sz="2400" kern="12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42559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565FC-B6ED-D166-DD6B-536136287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FC0F54-D678-4393-7724-85A1FE96E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1. Acidose ou alcalose ?</a:t>
            </a:r>
            <a:br>
              <a:rPr lang="fr-FR" b="1" dirty="0"/>
            </a:b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08F5D9-A0C2-4E11-1CFD-F03F42F26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FR" sz="2400" noProof="0" dirty="0"/>
          </a:p>
          <a:p>
            <a:r>
              <a:rPr lang="fr-FR" sz="2400" noProof="0" dirty="0" err="1"/>
              <a:t>Acidémie</a:t>
            </a:r>
            <a:r>
              <a:rPr lang="fr-FR" sz="2400" noProof="0" dirty="0"/>
              <a:t> (ou acidose décompensée) : pH artériel &lt; 7,38 ou pH veineux &lt; 7,32.</a:t>
            </a:r>
          </a:p>
          <a:p>
            <a:r>
              <a:rPr lang="fr-FR" sz="2400" noProof="0" dirty="0" err="1"/>
              <a:t>Alcalémie</a:t>
            </a:r>
            <a:r>
              <a:rPr lang="fr-FR" sz="2400" noProof="0" dirty="0"/>
              <a:t> (ou alcalose décompensée) : pH artériel &gt; 7,42 ou pH veineux &gt; 7,38.</a:t>
            </a:r>
          </a:p>
          <a:p>
            <a:r>
              <a:rPr lang="fr-FR" sz="2400" noProof="0" dirty="0"/>
              <a:t>Une anomalie du pH n’est pas nécessaire pour diagnostiquer un trouble acidobasique. Par exemple, une </a:t>
            </a:r>
            <a:r>
              <a:rPr lang="fr-FR" sz="2400" noProof="0" dirty="0" err="1"/>
              <a:t>bicarbonatémie</a:t>
            </a:r>
            <a:r>
              <a:rPr lang="fr-FR" sz="2400" noProof="0" dirty="0"/>
              <a:t> basse avec un pH normal peut correspondre à une acidose métabolique associée à une alcalose respiratoire.</a:t>
            </a:r>
          </a:p>
          <a:p>
            <a:endParaRPr lang="fr-FR" sz="2600" b="1" noProof="0" dirty="0"/>
          </a:p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505081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A3E287-AEF6-A916-C3E6-7F64A994D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2. Métabolique ou respiratoire ?</a:t>
            </a:r>
            <a:br>
              <a:rPr lang="fr-FR" b="1" dirty="0"/>
            </a:b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688887-2E4C-E930-0C9C-16DF3CC00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FR" sz="2400" noProof="0" dirty="0"/>
          </a:p>
          <a:p>
            <a:endParaRPr lang="fr-FR" sz="2400" dirty="0"/>
          </a:p>
          <a:p>
            <a:r>
              <a:rPr lang="fr-FR" sz="2400" noProof="0" dirty="0"/>
              <a:t>Anomalies primitives de la PCO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 : </a:t>
            </a:r>
          </a:p>
          <a:p>
            <a:pPr marL="0" indent="0">
              <a:buNone/>
            </a:pPr>
            <a:r>
              <a:rPr lang="fr-FR" sz="2400" noProof="0" dirty="0"/>
              <a:t>Acidose (PCO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 élevée) ou Alcalose (PCO</a:t>
            </a:r>
            <a:r>
              <a:rPr lang="fr-FR" sz="2400" baseline="-25000" noProof="0" dirty="0"/>
              <a:t>2</a:t>
            </a:r>
            <a:r>
              <a:rPr lang="fr-FR" sz="2400" noProof="0" dirty="0"/>
              <a:t> basse) dites « respiratoires ».</a:t>
            </a:r>
          </a:p>
          <a:p>
            <a:pPr marL="0" indent="0">
              <a:buNone/>
            </a:pPr>
            <a:endParaRPr lang="fr-FR" sz="2400" noProof="0" dirty="0"/>
          </a:p>
          <a:p>
            <a:r>
              <a:rPr lang="fr-FR" sz="2400" noProof="0" dirty="0"/>
              <a:t>Anomalies primitives de HCO</a:t>
            </a:r>
            <a:r>
              <a:rPr lang="fr-FR" sz="2400" baseline="-25000" noProof="0" dirty="0"/>
              <a:t>3</a:t>
            </a:r>
            <a:r>
              <a:rPr lang="fr-FR" sz="2400" baseline="30000" noProof="0" dirty="0"/>
              <a:t>–</a:t>
            </a:r>
            <a:r>
              <a:rPr lang="fr-FR" sz="2400" noProof="0" dirty="0"/>
              <a:t> : </a:t>
            </a:r>
          </a:p>
          <a:p>
            <a:pPr marL="0" indent="0">
              <a:buNone/>
            </a:pPr>
            <a:r>
              <a:rPr lang="fr-FR" sz="2400" noProof="0" dirty="0"/>
              <a:t>Acidose ([HCO</a:t>
            </a:r>
            <a:r>
              <a:rPr lang="fr-FR" sz="2400" baseline="-25000" noProof="0" dirty="0"/>
              <a:t>3</a:t>
            </a:r>
            <a:r>
              <a:rPr lang="fr-FR" sz="2400" baseline="30000" noProof="0" dirty="0"/>
              <a:t>–</a:t>
            </a:r>
            <a:r>
              <a:rPr lang="fr-FR" sz="2400" noProof="0" dirty="0"/>
              <a:t>] basse) ou alcalose ([HCO</a:t>
            </a:r>
            <a:r>
              <a:rPr lang="fr-FR" sz="2400" baseline="-25000" noProof="0" dirty="0"/>
              <a:t>3</a:t>
            </a:r>
            <a:r>
              <a:rPr lang="fr-FR" sz="2400" baseline="30000" noProof="0" dirty="0"/>
              <a:t>–</a:t>
            </a:r>
            <a:r>
              <a:rPr lang="fr-FR" sz="2400" noProof="0" dirty="0"/>
              <a:t>] élevée) dites « métaboliques ».</a:t>
            </a:r>
          </a:p>
        </p:txBody>
      </p:sp>
    </p:spTree>
    <p:extLst>
      <p:ext uri="{BB962C8B-B14F-4D97-AF65-F5344CB8AC3E}">
        <p14:creationId xmlns:p14="http://schemas.microsoft.com/office/powerpoint/2010/main" val="33254211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783387-0E40-BE14-8258-37E01AEBB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3. Réponses compensatrices rénales ou respiratoires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10D264-C612-4B2E-D0B1-EACA8E253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FR" dirty="0"/>
              <a:t>Le pH dépend du rapport HCO</a:t>
            </a:r>
            <a:r>
              <a:rPr lang="fr-FR" baseline="-25000" dirty="0"/>
              <a:t>3</a:t>
            </a:r>
            <a:r>
              <a:rPr lang="fr-FR" baseline="30000" dirty="0"/>
              <a:t>–</a:t>
            </a:r>
            <a:r>
              <a:rPr lang="fr-FR" dirty="0"/>
              <a:t>/PCO</a:t>
            </a:r>
            <a:r>
              <a:rPr lang="fr-FR" baseline="-25000" dirty="0"/>
              <a:t>2</a:t>
            </a:r>
            <a:r>
              <a:rPr lang="fr-FR" dirty="0"/>
              <a:t> :</a:t>
            </a:r>
          </a:p>
          <a:p>
            <a:r>
              <a:rPr lang="fr-FR" dirty="0">
                <a:sym typeface="Wingdings" panose="05000000000000000000" pitchFamily="2" charset="2"/>
              </a:rPr>
              <a:t> </a:t>
            </a:r>
            <a:r>
              <a:rPr lang="fr-FR" dirty="0"/>
              <a:t>HCO</a:t>
            </a:r>
            <a:r>
              <a:rPr lang="fr-FR" baseline="-25000" dirty="0"/>
              <a:t>3</a:t>
            </a:r>
            <a:r>
              <a:rPr lang="fr-FR" baseline="30000" dirty="0"/>
              <a:t>–</a:t>
            </a:r>
            <a:r>
              <a:rPr lang="fr-FR" dirty="0"/>
              <a:t> si acidose métabolique  </a:t>
            </a:r>
            <a:r>
              <a:rPr lang="fr-FR" dirty="0">
                <a:sym typeface="Wingdings" panose="05000000000000000000" pitchFamily="2" charset="2"/>
              </a:rPr>
              <a:t></a:t>
            </a:r>
            <a:r>
              <a:rPr lang="fr-FR" dirty="0"/>
              <a:t>  hyperventilation compensatrice avec diminution parallèle de la PCO</a:t>
            </a:r>
            <a:r>
              <a:rPr lang="fr-FR" baseline="-25000" dirty="0"/>
              <a:t>2</a:t>
            </a:r>
            <a:r>
              <a:rPr lang="fr-FR" dirty="0"/>
              <a:t>.</a:t>
            </a:r>
          </a:p>
          <a:p>
            <a:r>
              <a:rPr lang="fr-FR" dirty="0">
                <a:sym typeface="Wingdings" panose="05000000000000000000" pitchFamily="2" charset="2"/>
              </a:rPr>
              <a:t></a:t>
            </a:r>
            <a:r>
              <a:rPr lang="fr-FR" dirty="0"/>
              <a:t> PCO2 si acidose respiratoire chronique (&gt; 24-48 h) </a:t>
            </a:r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/>
              <a:t>génération compensatrice de HCO</a:t>
            </a:r>
            <a:r>
              <a:rPr lang="fr-FR" baseline="-25000" dirty="0"/>
              <a:t>3</a:t>
            </a:r>
            <a:r>
              <a:rPr lang="fr-FR" baseline="30000" dirty="0"/>
              <a:t>–</a:t>
            </a:r>
            <a:r>
              <a:rPr lang="fr-FR" dirty="0"/>
              <a:t> par le rein ;</a:t>
            </a:r>
          </a:p>
          <a:p>
            <a:r>
              <a:rPr lang="fr-FR" dirty="0">
                <a:sym typeface="Wingdings" panose="05000000000000000000" pitchFamily="2" charset="2"/>
              </a:rPr>
              <a:t></a:t>
            </a:r>
            <a:r>
              <a:rPr lang="fr-FR" dirty="0"/>
              <a:t> HCO</a:t>
            </a:r>
            <a:r>
              <a:rPr lang="fr-FR" baseline="-25000" dirty="0"/>
              <a:t>3</a:t>
            </a:r>
            <a:r>
              <a:rPr lang="fr-FR" baseline="30000" dirty="0"/>
              <a:t>–</a:t>
            </a:r>
            <a:r>
              <a:rPr lang="fr-FR" dirty="0"/>
              <a:t> si alcalose métabolique </a:t>
            </a:r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/>
              <a:t>hypoventilation compensatrice avec augmentation de la PCO</a:t>
            </a:r>
            <a:r>
              <a:rPr lang="fr-FR" baseline="-25000" dirty="0"/>
              <a:t>2</a:t>
            </a:r>
            <a:r>
              <a:rPr lang="fr-FR" dirty="0"/>
              <a:t> ;</a:t>
            </a:r>
          </a:p>
          <a:p>
            <a:r>
              <a:rPr lang="fr-FR" dirty="0">
                <a:sym typeface="Wingdings" panose="05000000000000000000" pitchFamily="2" charset="2"/>
              </a:rPr>
              <a:t> </a:t>
            </a:r>
            <a:r>
              <a:rPr lang="fr-FR" dirty="0"/>
              <a:t>PCO</a:t>
            </a:r>
            <a:r>
              <a:rPr lang="fr-FR" baseline="-25000" dirty="0"/>
              <a:t>2</a:t>
            </a:r>
            <a:r>
              <a:rPr lang="fr-FR" dirty="0"/>
              <a:t> si alcalose respiratoire </a:t>
            </a:r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/>
              <a:t>diminution compensatrice parallèle de HCO</a:t>
            </a:r>
            <a:r>
              <a:rPr lang="fr-FR" baseline="-25000" dirty="0"/>
              <a:t>3</a:t>
            </a:r>
            <a:r>
              <a:rPr lang="fr-FR" baseline="30000" dirty="0"/>
              <a:t>–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44522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D097B2-00B5-642E-D7BB-E4E7E0C9B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noProof="0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036482AB-C3FD-9BC3-3397-550DFEEB31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9712" y="1950667"/>
            <a:ext cx="5316058" cy="54222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EDE7BD4-E0CD-C726-EC08-FDE675BAD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098" y="2794981"/>
            <a:ext cx="6825803" cy="297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411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A71B0-D054-B4BF-0360-C7F26A000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B8501C-37AF-E040-6464-658F370B20F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 kern="12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Types de déséquilibres acido</a:t>
            </a:r>
            <a:br>
              <a:rPr lang="en-US" sz="4200" kern="12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200" kern="12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basiques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3A0ED1C-AF49-9107-3844-26E303496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3827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E7C0-4E56-469C-1CBE-7530DEA92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8F00BE-51F6-4BF5-90F9-7D969081722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 Acidose métabolique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3971EE-9BD1-039D-8B89-EE04B561B289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b="1" dirty="0"/>
              <a:t>Première étape : affirmer l’acidose métabolique</a:t>
            </a:r>
          </a:p>
          <a:p>
            <a:pPr marL="0" indent="0">
              <a:buNone/>
            </a:pPr>
            <a:endParaRPr lang="fr-FR" sz="2400" b="1" dirty="0"/>
          </a:p>
          <a:p>
            <a:r>
              <a:rPr lang="fr-FR" sz="2400" dirty="0"/>
              <a:t>Acidose = pH sanguin artériel &lt; 7,38 (ou veineux &lt; 7,32)</a:t>
            </a:r>
          </a:p>
          <a:p>
            <a:r>
              <a:rPr lang="fr-FR" sz="2400" dirty="0"/>
              <a:t>Métabolique = HCO</a:t>
            </a:r>
            <a:r>
              <a:rPr lang="fr-FR" sz="2400" baseline="-25000" dirty="0"/>
              <a:t>3</a:t>
            </a:r>
            <a:r>
              <a:rPr lang="fr-FR" sz="2400" baseline="30000" dirty="0"/>
              <a:t>–</a:t>
            </a:r>
            <a:r>
              <a:rPr lang="fr-FR" sz="2400" dirty="0"/>
              <a:t> &lt; 22 </a:t>
            </a:r>
            <a:r>
              <a:rPr lang="fr-FR" sz="2400" dirty="0" err="1"/>
              <a:t>mmol</a:t>
            </a:r>
            <a:r>
              <a:rPr lang="fr-FR" sz="2400" dirty="0"/>
              <a:t>/L (baisse secondaire de PCO</a:t>
            </a:r>
            <a:r>
              <a:rPr lang="fr-FR" sz="2400" baseline="-25000" dirty="0"/>
              <a:t>2 </a:t>
            </a:r>
            <a:r>
              <a:rPr lang="fr-FR" sz="2400" dirty="0"/>
              <a:t>par compensation ventilatoire).</a:t>
            </a:r>
          </a:p>
          <a:p>
            <a:pPr marL="0" indent="0">
              <a:buNone/>
            </a:pPr>
            <a:endParaRPr lang="fr-FR" sz="2400" noProof="0" dirty="0"/>
          </a:p>
        </p:txBody>
      </p:sp>
    </p:spTree>
    <p:extLst>
      <p:ext uri="{BB962C8B-B14F-4D97-AF65-F5344CB8AC3E}">
        <p14:creationId xmlns:p14="http://schemas.microsoft.com/office/powerpoint/2010/main" val="41670434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1597C-6664-F023-EB9B-38726F2F8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D572D2-2B9C-85EB-A557-E6E6E85305B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 Acidose métabolique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B287B8-9209-578E-1156-6D08E147981D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b="1" dirty="0"/>
              <a:t>Deuxième étape : caractériser si l’acidose métabolique est simple, mixte ou complexe</a:t>
            </a:r>
          </a:p>
          <a:p>
            <a:r>
              <a:rPr lang="fr-FR" sz="2400" dirty="0"/>
              <a:t>en cas d’acidose métabolique simple, la baisse de la [HCO</a:t>
            </a:r>
            <a:r>
              <a:rPr lang="fr-FR" sz="2400" baseline="-25000" dirty="0"/>
              <a:t>3</a:t>
            </a:r>
            <a:r>
              <a:rPr lang="fr-FR" sz="2400" baseline="30000" dirty="0"/>
              <a:t>–</a:t>
            </a:r>
            <a:r>
              <a:rPr lang="fr-FR" sz="2400" dirty="0"/>
              <a:t>] entraine une baisse prévisible de PaCO</a:t>
            </a:r>
            <a:r>
              <a:rPr lang="fr-FR" sz="2400" baseline="-25000" dirty="0"/>
              <a:t>2</a:t>
            </a:r>
            <a:r>
              <a:rPr lang="fr-FR" sz="2400" dirty="0"/>
              <a:t> estimée par la formule de Winter :</a:t>
            </a:r>
          </a:p>
          <a:p>
            <a:pPr marL="0" indent="0">
              <a:buNone/>
            </a:pPr>
            <a:r>
              <a:rPr lang="fr-FR" sz="2400" dirty="0"/>
              <a:t>                           PaCO</a:t>
            </a:r>
            <a:r>
              <a:rPr lang="fr-FR" sz="2400" baseline="-25000" dirty="0"/>
              <a:t>2</a:t>
            </a:r>
            <a:r>
              <a:rPr lang="fr-FR" sz="2400" dirty="0"/>
              <a:t> (</a:t>
            </a:r>
            <a:r>
              <a:rPr lang="fr-FR" sz="2400" dirty="0" err="1"/>
              <a:t>mmHg</a:t>
            </a:r>
            <a:r>
              <a:rPr lang="fr-FR" sz="2400" dirty="0"/>
              <a:t>) attendue = 1,5 × [HCO</a:t>
            </a:r>
            <a:r>
              <a:rPr lang="fr-FR" sz="2400" baseline="-25000" dirty="0"/>
              <a:t>3</a:t>
            </a:r>
            <a:r>
              <a:rPr lang="fr-FR" sz="2400" baseline="30000" dirty="0"/>
              <a:t>–</a:t>
            </a:r>
            <a:r>
              <a:rPr lang="fr-FR" sz="2400" dirty="0"/>
              <a:t>] + 8 ± 2</a:t>
            </a:r>
            <a:endParaRPr lang="fr-FR" sz="2400" b="1" dirty="0"/>
          </a:p>
          <a:p>
            <a:endParaRPr lang="fr-FR" sz="2400" dirty="0"/>
          </a:p>
          <a:p>
            <a:r>
              <a:rPr lang="fr-FR" sz="2400" dirty="0"/>
              <a:t>Mixte : PaCO</a:t>
            </a:r>
            <a:r>
              <a:rPr lang="fr-FR" sz="2400" baseline="-25000" dirty="0"/>
              <a:t>2</a:t>
            </a:r>
            <a:r>
              <a:rPr lang="fr-FR" sz="2400" dirty="0"/>
              <a:t> &gt; PaCO</a:t>
            </a:r>
            <a:r>
              <a:rPr lang="fr-FR" sz="2400" baseline="-25000" dirty="0"/>
              <a:t>2</a:t>
            </a:r>
            <a:r>
              <a:rPr lang="fr-FR" sz="2400" dirty="0"/>
              <a:t> attendue = acidose métabolique + acidose respiratoire. </a:t>
            </a:r>
          </a:p>
          <a:p>
            <a:r>
              <a:rPr lang="fr-FR" sz="2400" dirty="0"/>
              <a:t>Complexe : PaCO</a:t>
            </a:r>
            <a:r>
              <a:rPr lang="fr-FR" sz="2400" baseline="-25000" dirty="0"/>
              <a:t>2</a:t>
            </a:r>
            <a:r>
              <a:rPr lang="fr-FR" sz="2400" dirty="0"/>
              <a:t> &lt; PaCO</a:t>
            </a:r>
            <a:r>
              <a:rPr lang="fr-FR" sz="2400" baseline="-25000" dirty="0"/>
              <a:t>2</a:t>
            </a:r>
            <a:r>
              <a:rPr lang="fr-FR" sz="2400" dirty="0"/>
              <a:t> attendue = acidose métabolique + alcalose respiratoire.</a:t>
            </a:r>
            <a:endParaRPr lang="fr-FR" sz="24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69CF04-1807-5D7A-3C73-CECA295286A7}"/>
              </a:ext>
            </a:extLst>
          </p:cNvPr>
          <p:cNvSpPr/>
          <p:nvPr/>
        </p:nvSpPr>
        <p:spPr>
          <a:xfrm>
            <a:off x="2336696" y="3559552"/>
            <a:ext cx="6048672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30153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4215A1-2AFB-6D66-5A8C-76792EFB4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Acidose métabolique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C28C35-4D76-CA4B-7819-DB0D5AD0E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dirty="0"/>
              <a:t>Troisième étape : déterminer le trou anionique plasmatique </a:t>
            </a:r>
          </a:p>
          <a:p>
            <a:r>
              <a:rPr lang="fr-FR" sz="2400" dirty="0"/>
              <a:t>Selon le principe de l’électroneutralité dans le plasma, la somme des concentrations des anions (charges négatives) = somme des concentrations des cations (charges positives).</a:t>
            </a:r>
          </a:p>
          <a:p>
            <a:r>
              <a:rPr lang="fr-FR" sz="2400" dirty="0"/>
              <a:t>Il existe une différence appelée trou anionique (TA), reflet des anions </a:t>
            </a:r>
            <a:r>
              <a:rPr lang="fr-FR" sz="2400" dirty="0" err="1"/>
              <a:t>indosés</a:t>
            </a:r>
            <a:r>
              <a:rPr lang="fr-FR" sz="2400" dirty="0"/>
              <a:t>, peut être calcule au lit du patient selon la formule :</a:t>
            </a:r>
          </a:p>
          <a:p>
            <a:pPr marL="0" indent="0">
              <a:buNone/>
            </a:pPr>
            <a:r>
              <a:rPr lang="fr-FR" sz="2400" dirty="0"/>
              <a:t>               TA (mEq/L) = Na</a:t>
            </a:r>
            <a:r>
              <a:rPr lang="fr-FR" sz="2400" baseline="30000" dirty="0"/>
              <a:t>+</a:t>
            </a:r>
            <a:r>
              <a:rPr lang="fr-FR" sz="2400" dirty="0"/>
              <a:t> – (Cl– + HCO-3) = 12 ± 2 mEq/L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Ou          TA (mEq/L) = (Na</a:t>
            </a:r>
            <a:r>
              <a:rPr lang="fr-FR" sz="2400" baseline="30000" dirty="0"/>
              <a:t>+</a:t>
            </a:r>
            <a:r>
              <a:rPr lang="fr-FR" sz="2400" dirty="0"/>
              <a:t>+ K</a:t>
            </a:r>
            <a:r>
              <a:rPr lang="fr-FR" sz="2400" baseline="30000" dirty="0"/>
              <a:t>+</a:t>
            </a:r>
            <a:r>
              <a:rPr lang="fr-FR" sz="2400" dirty="0"/>
              <a:t>) – (Cl– + HCO-3) = 16 ± 4 mEq/L  </a:t>
            </a:r>
          </a:p>
        </p:txBody>
      </p:sp>
    </p:spTree>
    <p:extLst>
      <p:ext uri="{BB962C8B-B14F-4D97-AF65-F5344CB8AC3E}">
        <p14:creationId xmlns:p14="http://schemas.microsoft.com/office/powerpoint/2010/main" val="40403687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CE426D-D10C-E39D-2FBD-D83542564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F8811D-44CE-C862-0BB5-062CE34EA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784" y="3933056"/>
            <a:ext cx="2520280" cy="280831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fr-FR" dirty="0"/>
              <a:t>Acidose (TA</a:t>
            </a:r>
            <a:r>
              <a:rPr lang="fr-FR" b="1" dirty="0"/>
              <a:t> normal) </a:t>
            </a:r>
          </a:p>
          <a:p>
            <a:pPr marL="0" indent="0">
              <a:buNone/>
            </a:pPr>
            <a:r>
              <a:rPr lang="fr-FR" dirty="0"/>
              <a:t>Perte HCO</a:t>
            </a:r>
            <a:r>
              <a:rPr lang="fr-FR" baseline="-25000" dirty="0"/>
              <a:t>3</a:t>
            </a:r>
            <a:r>
              <a:rPr lang="fr-FR" baseline="30000" dirty="0"/>
              <a:t>–</a:t>
            </a:r>
            <a:r>
              <a:rPr lang="fr-FR" dirty="0"/>
              <a:t>  </a:t>
            </a:r>
            <a:r>
              <a:rPr lang="fr-FR" dirty="0">
                <a:sym typeface="Wingdings" panose="05000000000000000000" pitchFamily="2" charset="2"/>
              </a:rPr>
              <a:t></a:t>
            </a:r>
            <a:r>
              <a:rPr lang="fr-FR" dirty="0"/>
              <a:t> baisse du HCO</a:t>
            </a:r>
            <a:r>
              <a:rPr lang="fr-FR" baseline="-25000" dirty="0"/>
              <a:t>3</a:t>
            </a:r>
            <a:r>
              <a:rPr lang="fr-FR" baseline="30000" dirty="0"/>
              <a:t>–</a:t>
            </a:r>
            <a:r>
              <a:rPr lang="fr-FR" dirty="0"/>
              <a:t> compensée par une augmentation proportionnelle du Cl</a:t>
            </a:r>
            <a:r>
              <a:rPr lang="fr-FR" baseline="30000" dirty="0"/>
              <a:t>–</a:t>
            </a:r>
            <a:r>
              <a:rPr lang="fr-FR" dirty="0"/>
              <a:t> (gain d’</a:t>
            </a:r>
            <a:r>
              <a:rPr lang="fr-FR" dirty="0" err="1"/>
              <a:t>HCl</a:t>
            </a:r>
            <a:r>
              <a:rPr lang="fr-FR" dirty="0"/>
              <a:t>) </a:t>
            </a:r>
            <a:r>
              <a:rPr lang="fr-FR" dirty="0">
                <a:sym typeface="Wingdings" panose="05000000000000000000" pitchFamily="2" charset="2"/>
              </a:rPr>
              <a:t></a:t>
            </a:r>
            <a:r>
              <a:rPr lang="fr-FR" dirty="0"/>
              <a:t> </a:t>
            </a:r>
            <a:r>
              <a:rPr lang="fr-FR" b="1" dirty="0"/>
              <a:t>acidose métabolique </a:t>
            </a:r>
            <a:r>
              <a:rPr lang="fr-FR" b="1" dirty="0" err="1"/>
              <a:t>hyperchlorémique</a:t>
            </a:r>
            <a:r>
              <a:rPr lang="fr-FR" dirty="0"/>
              <a:t>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F0B885A-0BB9-28DD-E995-D1086A86C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789040"/>
          </a:xfrm>
          <a:prstGeom prst="rect">
            <a:avLst/>
          </a:prstGeo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21721654-E50E-08DD-6D1C-B407D3B88E0C}"/>
              </a:ext>
            </a:extLst>
          </p:cNvPr>
          <p:cNvSpPr txBox="1">
            <a:spLocks/>
          </p:cNvSpPr>
          <p:nvPr/>
        </p:nvSpPr>
        <p:spPr>
          <a:xfrm>
            <a:off x="5796136" y="3657704"/>
            <a:ext cx="2890664" cy="28083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dirty="0"/>
              <a:t>Acidose (</a:t>
            </a:r>
            <a:r>
              <a:rPr lang="fr-FR" sz="2000" b="1" dirty="0"/>
              <a:t>TA &gt; 20 </a:t>
            </a:r>
            <a:r>
              <a:rPr lang="fr-FR" sz="2000" b="1" dirty="0" err="1"/>
              <a:t>mmol</a:t>
            </a:r>
            <a:r>
              <a:rPr lang="fr-FR" sz="2000" b="1" dirty="0"/>
              <a:t>/L) </a:t>
            </a:r>
            <a:r>
              <a:rPr lang="fr-FR" sz="2000" dirty="0"/>
              <a:t>: addition d’H</a:t>
            </a:r>
            <a:r>
              <a:rPr lang="fr-FR" sz="2000" baseline="30000" dirty="0"/>
              <a:t>+</a:t>
            </a:r>
            <a:r>
              <a:rPr lang="fr-FR" sz="2000" dirty="0"/>
              <a:t> associe a un anion </a:t>
            </a:r>
            <a:r>
              <a:rPr lang="fr-FR" sz="2000" dirty="0" err="1"/>
              <a:t>indosé</a:t>
            </a:r>
            <a:r>
              <a:rPr lang="fr-FR" sz="2000" dirty="0"/>
              <a:t> (gain d’AH).</a:t>
            </a:r>
          </a:p>
          <a:p>
            <a:pPr marL="0" indent="0">
              <a:buNone/>
            </a:pPr>
            <a:r>
              <a:rPr lang="fr-FR" sz="2000" dirty="0"/>
              <a:t> </a:t>
            </a:r>
            <a:r>
              <a:rPr lang="fr-FR" sz="2000" dirty="0">
                <a:sym typeface="Wingdings" panose="05000000000000000000" pitchFamily="2" charset="2"/>
              </a:rPr>
              <a:t> </a:t>
            </a:r>
            <a:r>
              <a:rPr lang="fr-FR" sz="2000" dirty="0"/>
              <a:t>Baisse de [HCO</a:t>
            </a:r>
            <a:r>
              <a:rPr lang="fr-FR" sz="2000" baseline="-25000" dirty="0"/>
              <a:t>3</a:t>
            </a:r>
            <a:r>
              <a:rPr lang="fr-FR" sz="2000" baseline="30000" dirty="0"/>
              <a:t>–</a:t>
            </a:r>
            <a:r>
              <a:rPr lang="fr-FR" sz="2000" dirty="0"/>
              <a:t>] remplacée par un anion non mesuré.</a:t>
            </a:r>
          </a:p>
        </p:txBody>
      </p:sp>
    </p:spTree>
    <p:extLst>
      <p:ext uri="{BB962C8B-B14F-4D97-AF65-F5344CB8AC3E}">
        <p14:creationId xmlns:p14="http://schemas.microsoft.com/office/powerpoint/2010/main" val="20841429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FF1E3-12F6-92E1-7518-80A4FBEA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br>
              <a:rPr lang="fr-FR" sz="2700" dirty="0"/>
            </a:br>
            <a:r>
              <a:rPr lang="fr-FR" sz="2700" dirty="0"/>
              <a:t>En cas d’acidose a TA plasmatique normal, la réponse rénale peut être évaluée par le calcul du trou anionique urinaire.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C6A105-338A-3299-BADC-0F2F85981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FR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08CF787-3056-1D85-93EC-D7B2E23EB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590005"/>
            <a:ext cx="8229600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9624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65CE92-F57F-4C63-57A5-13582E4C11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"/>
          <a:stretch>
            <a:fillRect/>
          </a:stretch>
        </p:blipFill>
        <p:spPr bwMode="auto">
          <a:xfrm>
            <a:off x="20" y="1282"/>
            <a:ext cx="9143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6575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B5D72A-08F2-7E02-D016-D5ACCACC7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La démarche diagnostique globale devant une acidose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507F99-85BE-C814-9D5B-37C9A8C23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B81C05A-C283-1142-69EC-36E1D3B71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600200"/>
            <a:ext cx="8314522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6063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781774-D36C-588B-F4D7-9706FF776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Acidose respiratoire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3E72D7-1190-4FF5-F03B-28F76EF78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Acidose </a:t>
            </a:r>
            <a:r>
              <a:rPr lang="fr-FR" dirty="0"/>
              <a:t>: pH artériel &lt; 7,38 ou pH veineux &lt; 7,32</a:t>
            </a:r>
          </a:p>
          <a:p>
            <a:r>
              <a:rPr lang="fr-FR" b="1" dirty="0"/>
              <a:t>Respiratoire </a:t>
            </a:r>
            <a:r>
              <a:rPr lang="fr-FR" dirty="0"/>
              <a:t>: </a:t>
            </a:r>
            <a:r>
              <a:rPr lang="fr-FR" dirty="0">
                <a:sym typeface="Wingdings" panose="05000000000000000000" pitchFamily="2" charset="2"/>
              </a:rPr>
              <a:t></a:t>
            </a:r>
            <a:r>
              <a:rPr lang="fr-FR" dirty="0"/>
              <a:t> pCO2 &gt; 44 </a:t>
            </a:r>
            <a:r>
              <a:rPr lang="fr-FR" dirty="0" err="1"/>
              <a:t>mmHg</a:t>
            </a:r>
            <a:endParaRPr lang="fr-FR" dirty="0"/>
          </a:p>
          <a:p>
            <a:r>
              <a:rPr lang="fr-FR" dirty="0"/>
              <a:t>± </a:t>
            </a:r>
            <a:r>
              <a:rPr lang="fr-FR" b="1" dirty="0"/>
              <a:t>Compensation rénale </a:t>
            </a:r>
            <a:r>
              <a:rPr lang="fr-FR" dirty="0"/>
              <a:t>en 24 à 48h : augmentation secondaire des bicarbonates</a:t>
            </a:r>
          </a:p>
        </p:txBody>
      </p:sp>
    </p:spTree>
    <p:extLst>
      <p:ext uri="{BB962C8B-B14F-4D97-AF65-F5344CB8AC3E}">
        <p14:creationId xmlns:p14="http://schemas.microsoft.com/office/powerpoint/2010/main" val="17811389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81622E-7B08-BAA5-5128-346E20F2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Mécanisme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666AC2-7BC8-2D0C-E899-818FEE5C3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1" dirty="0"/>
              <a:t>Hypoventilation alvéolaire </a:t>
            </a:r>
            <a:r>
              <a:rPr lang="fr-FR" sz="2400" dirty="0"/>
              <a:t>avec défaillance de la pompe ventilatoire : sans anomalie initiale des échanges gazeux pulmonaire, gradient alvéolo-artériel en O2 normal (échanges gazeux normaux)</a:t>
            </a:r>
          </a:p>
          <a:p>
            <a:endParaRPr lang="fr-FR" sz="2400" b="1" dirty="0"/>
          </a:p>
          <a:p>
            <a:r>
              <a:rPr lang="fr-FR" sz="2400" b="1" dirty="0"/>
              <a:t>Hypoventilation alvéolaire </a:t>
            </a:r>
            <a:r>
              <a:rPr lang="fr-FR" sz="2400" dirty="0"/>
              <a:t>avec </a:t>
            </a:r>
            <a:r>
              <a:rPr lang="fr-FR" sz="2400" dirty="0">
                <a:sym typeface="Wingdings" panose="05000000000000000000" pitchFamily="2" charset="2"/>
              </a:rPr>
              <a:t></a:t>
            </a:r>
            <a:r>
              <a:rPr lang="fr-FR" sz="2400" dirty="0"/>
              <a:t> des résistances ventilatoires : </a:t>
            </a:r>
            <a:r>
              <a:rPr lang="fr-FR" sz="2400" dirty="0">
                <a:sym typeface="Wingdings" panose="05000000000000000000" pitchFamily="2" charset="2"/>
              </a:rPr>
              <a:t></a:t>
            </a:r>
            <a:r>
              <a:rPr lang="fr-FR" sz="2400" dirty="0"/>
              <a:t> gradient alvéolo-artériel en O</a:t>
            </a:r>
            <a:r>
              <a:rPr lang="fr-FR" sz="2400" baseline="-25000" dirty="0"/>
              <a:t>2</a:t>
            </a:r>
            <a:r>
              <a:rPr lang="fr-FR" sz="2400" dirty="0"/>
              <a:t>.</a:t>
            </a:r>
          </a:p>
          <a:p>
            <a:endParaRPr lang="fr-FR" sz="2400" b="1" dirty="0"/>
          </a:p>
          <a:p>
            <a:r>
              <a:rPr lang="fr-FR" sz="2400" b="1" dirty="0"/>
              <a:t>Forme mixte : </a:t>
            </a:r>
            <a:r>
              <a:rPr lang="fr-FR" sz="2400" dirty="0"/>
              <a:t>insuffisance respiratoire bronchopulmonaire avec capacité d’adaptation neuromusculaire dépassée.</a:t>
            </a:r>
          </a:p>
        </p:txBody>
      </p:sp>
    </p:spTree>
    <p:extLst>
      <p:ext uri="{BB962C8B-B14F-4D97-AF65-F5344CB8AC3E}">
        <p14:creationId xmlns:p14="http://schemas.microsoft.com/office/powerpoint/2010/main" val="13798725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A7992D-F091-9B4E-C267-AD5BB6D8C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Etiologies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FF487B-D3B8-3B33-5CBB-0D1C34D33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E00C3C8-28B9-BE9D-A3CC-C3B3BAC28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1"/>
            <a:ext cx="8229600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762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998B4-0E0C-95F6-4402-E85855A3B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ALCALOSE MÉTABOLIQUE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A83636-7408-4497-1185-27366C8B6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FR" sz="2400" dirty="0"/>
          </a:p>
          <a:p>
            <a:r>
              <a:rPr lang="fr-FR" sz="2400" dirty="0"/>
              <a:t>Alcalose (pH artériel &gt; 7,42) </a:t>
            </a:r>
          </a:p>
          <a:p>
            <a:r>
              <a:rPr lang="fr-FR" sz="2400" dirty="0"/>
              <a:t>Métabolique (bicarbonates &gt; 27 </a:t>
            </a:r>
            <a:r>
              <a:rPr lang="fr-FR" sz="2400" dirty="0" err="1"/>
              <a:t>mmol</a:t>
            </a:r>
            <a:r>
              <a:rPr lang="fr-FR" sz="2400" dirty="0"/>
              <a:t>/L) ± </a:t>
            </a:r>
            <a:r>
              <a:rPr lang="fr-FR" sz="2400" dirty="0">
                <a:sym typeface="Wingdings" panose="05000000000000000000" pitchFamily="2" charset="2"/>
              </a:rPr>
              <a:t></a:t>
            </a:r>
            <a:r>
              <a:rPr lang="fr-FR" sz="2400" dirty="0"/>
              <a:t> PCO</a:t>
            </a:r>
            <a:r>
              <a:rPr lang="fr-FR" sz="2400" baseline="-25000" dirty="0"/>
              <a:t>2</a:t>
            </a:r>
            <a:r>
              <a:rPr lang="fr-FR" sz="2400" dirty="0"/>
              <a:t> compensatoire</a:t>
            </a:r>
          </a:p>
          <a:p>
            <a:pPr marL="0" indent="0">
              <a:buNone/>
            </a:pPr>
            <a:r>
              <a:rPr lang="fr-FR" sz="2400" b="1" dirty="0"/>
              <a:t>                        </a:t>
            </a:r>
            <a:r>
              <a:rPr lang="el-GR" sz="2400" b="1" dirty="0"/>
              <a:t>Δ</a:t>
            </a:r>
            <a:r>
              <a:rPr lang="fr-FR" sz="2400" b="1" dirty="0"/>
              <a:t>pCO2 = 0,75 x </a:t>
            </a:r>
            <a:r>
              <a:rPr lang="el-GR" sz="2400" b="1" dirty="0"/>
              <a:t>Δ</a:t>
            </a:r>
            <a:r>
              <a:rPr lang="fr-FR" sz="2400" b="1" dirty="0"/>
              <a:t>HCO3</a:t>
            </a:r>
            <a:r>
              <a:rPr lang="fr-FR" sz="2400" dirty="0"/>
              <a:t>-</a:t>
            </a:r>
          </a:p>
          <a:p>
            <a:r>
              <a:rPr lang="fr-FR" sz="2400" dirty="0"/>
              <a:t>En cas de pCO2 plus basse ou plus élevée que la valeur calculée : suspecter un désordre </a:t>
            </a:r>
            <a:r>
              <a:rPr lang="fr-FR" sz="2400" dirty="0" err="1"/>
              <a:t>acido</a:t>
            </a:r>
            <a:r>
              <a:rPr lang="fr-FR" sz="2400" dirty="0"/>
              <a:t>- basique complexe (alcalose ou acidose respiratoire associée)</a:t>
            </a:r>
          </a:p>
        </p:txBody>
      </p:sp>
    </p:spTree>
    <p:extLst>
      <p:ext uri="{BB962C8B-B14F-4D97-AF65-F5344CB8AC3E}">
        <p14:creationId xmlns:p14="http://schemas.microsoft.com/office/powerpoint/2010/main" val="4776217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458911-E834-028A-8677-32811E88B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Mécanisme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07D234-AAEA-7353-657D-48CC7BB8A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68858CA-3152-B4D2-4FA6-9BB9CE661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1"/>
            <a:ext cx="8363272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823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B34B6-316A-4519-FE3D-1D3FA0870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Etiologies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DC2096-818A-A27A-1EE1-2AD006CA9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FEEE60D-E439-4A83-F91C-DC3FAA114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1"/>
            <a:ext cx="8229600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35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B1DF2F-B12A-D005-AB97-3F60BFDCB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ALCALOSE RESPIRATOIRE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EED26F-FA9D-F1DD-E7A9-E65643AFF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sz="2400" dirty="0"/>
              <a:t>Alcalose (pH &gt; 7,42) liée à une </a:t>
            </a:r>
            <a:r>
              <a:rPr lang="fr-FR" sz="2400" b="1" dirty="0"/>
              <a:t>hyperventilation alvéolaire </a:t>
            </a:r>
            <a:r>
              <a:rPr lang="fr-FR" sz="2400" dirty="0"/>
              <a:t>avec hypocapnie.</a:t>
            </a:r>
          </a:p>
          <a:p>
            <a:endParaRPr lang="fr-FR" sz="2400" dirty="0"/>
          </a:p>
          <a:p>
            <a:r>
              <a:rPr lang="fr-FR" sz="2400" dirty="0"/>
              <a:t>Compensation métabolique généralement retardée.</a:t>
            </a:r>
          </a:p>
        </p:txBody>
      </p:sp>
    </p:spTree>
    <p:extLst>
      <p:ext uri="{BB962C8B-B14F-4D97-AF65-F5344CB8AC3E}">
        <p14:creationId xmlns:p14="http://schemas.microsoft.com/office/powerpoint/2010/main" val="24766163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BDA6A0-B0C9-4CDA-EB71-7A205DE1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Etiologies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7B8B7B-DD8C-C71A-B015-F3298E759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11CF69F-842E-B44A-F89E-2F56567B1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199"/>
            <a:ext cx="822960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4283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E2EC52-7607-6E17-2319-5640C72E3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39AC8D-C9D9-6649-B9D9-625738CF9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6BA3836-F9A2-2AA3-3A60-8E3269022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558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2729</TotalTime>
  <Words>1866</Words>
  <Application>Microsoft Office PowerPoint</Application>
  <PresentationFormat>Affichage à l'écran (4:3)</PresentationFormat>
  <Paragraphs>254</Paragraphs>
  <Slides>59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59</vt:i4>
      </vt:variant>
    </vt:vector>
  </HeadingPairs>
  <TitlesOfParts>
    <vt:vector size="64" baseType="lpstr">
      <vt:lpstr>Aptos</vt:lpstr>
      <vt:lpstr>Arial</vt:lpstr>
      <vt:lpstr>Calibri</vt:lpstr>
      <vt:lpstr>Wingdings</vt:lpstr>
      <vt:lpstr>Thème Office</vt:lpstr>
      <vt:lpstr>Présentation PowerPoint</vt:lpstr>
      <vt:lpstr>Présentation PowerPoint</vt:lpstr>
      <vt:lpstr>Présentation PowerPoint</vt:lpstr>
      <vt:lpstr>Rappel physiologique</vt:lpstr>
      <vt:lpstr>Rappel physiologique</vt:lpstr>
      <vt:lpstr>Rappel physiologique</vt:lpstr>
      <vt:lpstr>Rappel physiologique</vt:lpstr>
      <vt:lpstr>Rappel physiologique</vt:lpstr>
      <vt:lpstr>Rappel physiologique</vt:lpstr>
      <vt:lpstr>Cas particulier : les ampholytes</vt:lpstr>
      <vt:lpstr>Rappel physiologique</vt:lpstr>
      <vt:lpstr>Rappel physiologique</vt:lpstr>
      <vt:lpstr>Rappel physiologique</vt:lpstr>
      <vt:lpstr>Rappel physiologique</vt:lpstr>
      <vt:lpstr>Équation de Henderson-Hasselbalch</vt:lpstr>
      <vt:lpstr>Équation de Henderson-Hasselbalch</vt:lpstr>
      <vt:lpstr>Équation de Henderson-Hasselbalch</vt:lpstr>
      <vt:lpstr>Équation de Henderson-Hasselbalch</vt:lpstr>
      <vt:lpstr>Présentation PowerPoint</vt:lpstr>
      <vt:lpstr>Présentation PowerPoint</vt:lpstr>
      <vt:lpstr>Systèmes tampons</vt:lpstr>
      <vt:lpstr>Présentation PowerPoint</vt:lpstr>
      <vt:lpstr>Présentation PowerPoint</vt:lpstr>
      <vt:lpstr>Systèmes tampon plasmatiques</vt:lpstr>
      <vt:lpstr>Tampon H2CO3/HCO3-</vt:lpstr>
      <vt:lpstr>Présentation PowerPoint</vt:lpstr>
      <vt:lpstr>Présentation PowerPoint</vt:lpstr>
      <vt:lpstr>Tampon Hb/Hémoglobinate</vt:lpstr>
      <vt:lpstr>Présentation PowerPoint</vt:lpstr>
      <vt:lpstr>La régulation respiratoire</vt:lpstr>
      <vt:lpstr>Présentation PowerPoint</vt:lpstr>
      <vt:lpstr>Régulation rénale</vt:lpstr>
      <vt:lpstr>Tube contourné proximal :  90% des bicarbonates filtrés sont réabsorbés.  fonction de la PCO2 </vt:lpstr>
      <vt:lpstr> EVALUATION DE L’EQUILIBRE ACIDE BASE  </vt:lpstr>
      <vt:lpstr> A. Gaz du sang :  </vt:lpstr>
      <vt:lpstr>  Indications de la gazométrie  </vt:lpstr>
      <vt:lpstr>Réalisation technique de la gazométrie</vt:lpstr>
      <vt:lpstr>Interprétation de la gazométrie</vt:lpstr>
      <vt:lpstr>1. Acidose ou alcalose ? </vt:lpstr>
      <vt:lpstr>2. Métabolique ou respiratoire ? </vt:lpstr>
      <vt:lpstr>3. Réponses compensatrices rénales ou respiratoires </vt:lpstr>
      <vt:lpstr>Présentation PowerPoint</vt:lpstr>
      <vt:lpstr>Types de déséquilibres acido basiques</vt:lpstr>
      <vt:lpstr> Acidose métabolique</vt:lpstr>
      <vt:lpstr> Acidose métabolique</vt:lpstr>
      <vt:lpstr>Acidose métabolique</vt:lpstr>
      <vt:lpstr>Présentation PowerPoint</vt:lpstr>
      <vt:lpstr> En cas d’acidose a TA plasmatique normal, la réponse rénale peut être évaluée par le calcul du trou anionique urinaire. </vt:lpstr>
      <vt:lpstr>Présentation PowerPoint</vt:lpstr>
      <vt:lpstr>La démarche diagnostique globale devant une acidose</vt:lpstr>
      <vt:lpstr>Acidose respiratoire</vt:lpstr>
      <vt:lpstr>Mécanisme</vt:lpstr>
      <vt:lpstr>Etiologies</vt:lpstr>
      <vt:lpstr>ALCALOSE MÉTABOLIQUE</vt:lpstr>
      <vt:lpstr>Mécanisme</vt:lpstr>
      <vt:lpstr>Etiologies</vt:lpstr>
      <vt:lpstr>ALCALOSE RESPIRATOIRE</vt:lpstr>
      <vt:lpstr>Etiologies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Ahmed</dc:creator>
  <cp:lastModifiedBy>atef bouhouf</cp:lastModifiedBy>
  <cp:revision>184</cp:revision>
  <dcterms:created xsi:type="dcterms:W3CDTF">2018-12-10T19:08:18Z</dcterms:created>
  <dcterms:modified xsi:type="dcterms:W3CDTF">2026-01-22T10:36:37Z</dcterms:modified>
</cp:coreProperties>
</file>